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comment1.xml" ContentType="application/vnd.openxmlformats-officedocument.presentationml.comments+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64"/>
  </p:notesMasterIdLst>
  <p:sldIdLst>
    <p:sldId id="256" r:id="rId3"/>
    <p:sldId id="493" r:id="rId4"/>
    <p:sldId id="257" r:id="rId5"/>
    <p:sldId id="259" r:id="rId6"/>
    <p:sldId id="258" r:id="rId7"/>
    <p:sldId id="492" r:id="rId8"/>
    <p:sldId id="267" r:id="rId9"/>
    <p:sldId id="268" r:id="rId10"/>
    <p:sldId id="316" r:id="rId11"/>
    <p:sldId id="320" r:id="rId12"/>
    <p:sldId id="260" r:id="rId13"/>
    <p:sldId id="495" r:id="rId14"/>
    <p:sldId id="261" r:id="rId15"/>
    <p:sldId id="496" r:id="rId16"/>
    <p:sldId id="262" r:id="rId17"/>
    <p:sldId id="498" r:id="rId18"/>
    <p:sldId id="263" r:id="rId19"/>
    <p:sldId id="499" r:id="rId20"/>
    <p:sldId id="264" r:id="rId21"/>
    <p:sldId id="500" r:id="rId22"/>
    <p:sldId id="265" r:id="rId23"/>
    <p:sldId id="501" r:id="rId24"/>
    <p:sldId id="266" r:id="rId25"/>
    <p:sldId id="321" r:id="rId26"/>
    <p:sldId id="322" r:id="rId27"/>
    <p:sldId id="502" r:id="rId28"/>
    <p:sldId id="323" r:id="rId29"/>
    <p:sldId id="324" r:id="rId30"/>
    <p:sldId id="489" r:id="rId31"/>
    <p:sldId id="490" r:id="rId32"/>
    <p:sldId id="340" r:id="rId33"/>
    <p:sldId id="338" r:id="rId34"/>
    <p:sldId id="325" r:id="rId35"/>
    <p:sldId id="326" r:id="rId36"/>
    <p:sldId id="335" r:id="rId37"/>
    <p:sldId id="336" r:id="rId38"/>
    <p:sldId id="503" r:id="rId39"/>
    <p:sldId id="505" r:id="rId40"/>
    <p:sldId id="506" r:id="rId41"/>
    <p:sldId id="513" r:id="rId42"/>
    <p:sldId id="328" r:id="rId43"/>
    <p:sldId id="333" r:id="rId44"/>
    <p:sldId id="334" r:id="rId45"/>
    <p:sldId id="507" r:id="rId46"/>
    <p:sldId id="508" r:id="rId47"/>
    <p:sldId id="509" r:id="rId48"/>
    <p:sldId id="510" r:id="rId49"/>
    <p:sldId id="329" r:id="rId50"/>
    <p:sldId id="330" r:id="rId51"/>
    <p:sldId id="331" r:id="rId52"/>
    <p:sldId id="332" r:id="rId53"/>
    <p:sldId id="491" r:id="rId54"/>
    <p:sldId id="494" r:id="rId55"/>
    <p:sldId id="497" r:id="rId56"/>
    <p:sldId id="511" r:id="rId57"/>
    <p:sldId id="512" r:id="rId58"/>
    <p:sldId id="533" r:id="rId59"/>
    <p:sldId id="666" r:id="rId60"/>
    <p:sldId id="669" r:id="rId61"/>
    <p:sldId id="657" r:id="rId62"/>
    <p:sldId id="658" r:id="rId63"/>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aela" initials="M" lastIdx="1" clrIdx="0">
    <p:extLst>
      <p:ext uri="{19B8F6BF-5375-455C-9EA6-DF929625EA0E}">
        <p15:presenceInfo xmlns:p15="http://schemas.microsoft.com/office/powerpoint/2012/main" userId="S::michaela@mta.ac.il::23ebe2fb-b024-4028-83aa-e649a720087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FAE8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884" autoAdjust="0"/>
    <p:restoredTop sz="94660"/>
  </p:normalViewPr>
  <p:slideViewPr>
    <p:cSldViewPr snapToGrid="0">
      <p:cViewPr varScale="1">
        <p:scale>
          <a:sx n="70" d="100"/>
          <a:sy n="70" d="100"/>
        </p:scale>
        <p:origin x="48"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08-17T00:31:06.422" idx="1">
    <p:pos x="10" y="10"/>
    <p:text/>
    <p:extLst>
      <p:ext uri="{C676402C-5697-4E1C-873F-D02D1690AC5C}">
        <p15:threadingInfo xmlns:p15="http://schemas.microsoft.com/office/powerpoint/2012/main" timeZoneBias="-1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l">
              <a:defRPr sz="1200"/>
            </a:lvl1pPr>
          </a:lstStyle>
          <a:p>
            <a:endParaRPr lang="en-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r">
              <a:defRPr sz="1200"/>
            </a:lvl1pPr>
          </a:lstStyle>
          <a:p>
            <a:fld id="{9B992C45-7907-4AEE-98DA-55003B1D213F}" type="datetimeFigureOut">
              <a:rPr lang="en-IL" smtClean="0"/>
              <a:t>19/01/2026</a:t>
            </a:fld>
            <a:endParaRPr lang="en-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en-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l">
              <a:defRPr sz="1200"/>
            </a:lvl1pPr>
          </a:lstStyle>
          <a:p>
            <a:endParaRPr lang="en-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r">
              <a:defRPr sz="1200"/>
            </a:lvl1pPr>
          </a:lstStyle>
          <a:p>
            <a:fld id="{C9915AA4-322C-4891-9149-6614A09A8A63}" type="slidenum">
              <a:rPr lang="en-IL" smtClean="0"/>
              <a:t>‹#›</a:t>
            </a:fld>
            <a:endParaRPr lang="en-IL"/>
          </a:p>
        </p:txBody>
      </p:sp>
    </p:spTree>
    <p:extLst>
      <p:ext uri="{BB962C8B-B14F-4D97-AF65-F5344CB8AC3E}">
        <p14:creationId xmlns:p14="http://schemas.microsoft.com/office/powerpoint/2010/main" val="3217866355"/>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17BB39F0-368F-4D24-B4FA-2BF3501F2C64}" type="slidenum">
              <a:rPr kumimoji="0" lang="he-IL" sz="1200" b="0" i="0" u="none" strike="noStrike" kern="1200" cap="none" spc="0" normalizeH="0" baseline="0" noProof="0" smtClean="0">
                <a:ln>
                  <a:noFill/>
                </a:ln>
                <a:solidFill>
                  <a:prstClr val="black"/>
                </a:solidFill>
                <a:effectLst/>
                <a:uLnTx/>
                <a:uFillTx/>
                <a:latin typeface="Calibri"/>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60</a:t>
            </a:fld>
            <a:endParaRPr kumimoji="0" lang="he-IL" sz="1200" b="0" i="0" u="none" strike="noStrike" kern="1200" cap="none" spc="0" normalizeH="0" baseline="0" noProof="0">
              <a:ln>
                <a:noFill/>
              </a:ln>
              <a:solidFill>
                <a:prstClr val="black"/>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20230032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6FC96-2AE0-5FF7-9342-147FB5B57E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6E9CE3-F4CC-8E16-C8A5-42D905613C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E2BD50-16C2-E542-0E2D-02B02DB5CB7E}"/>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9F953B1B-EF1E-EEA2-0EEF-95B43D8DE11B}"/>
              </a:ext>
            </a:extLst>
          </p:cNvPr>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17BB39F0-368F-4D24-B4FA-2BF3501F2C64}" type="slidenum">
              <a:rPr kumimoji="0" lang="he-IL" sz="1200" b="0" i="0" u="none" strike="noStrike" kern="1200" cap="none" spc="0" normalizeH="0" baseline="0" noProof="0" smtClean="0">
                <a:ln>
                  <a:noFill/>
                </a:ln>
                <a:solidFill>
                  <a:prstClr val="black"/>
                </a:solidFill>
                <a:effectLst/>
                <a:uLnTx/>
                <a:uFillTx/>
                <a:latin typeface="Calibri"/>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61</a:t>
            </a:fld>
            <a:endParaRPr kumimoji="0" lang="he-IL" sz="1200" b="0" i="0" u="none" strike="noStrike" kern="1200" cap="none" spc="0" normalizeH="0" baseline="0" noProof="0">
              <a:ln>
                <a:noFill/>
              </a:ln>
              <a:solidFill>
                <a:prstClr val="black"/>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9457360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6524A-8B4D-7F6F-7B17-9DD5368135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0F424990-FDD0-A0A2-B546-21E008B6BA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29A9BB09-9286-4807-CD18-D022BA473AD9}"/>
              </a:ext>
            </a:extLst>
          </p:cNvPr>
          <p:cNvSpPr>
            <a:spLocks noGrp="1"/>
          </p:cNvSpPr>
          <p:nvPr>
            <p:ph type="dt" sz="half" idx="10"/>
          </p:nvPr>
        </p:nvSpPr>
        <p:spPr/>
        <p:txBody>
          <a:bodyPr/>
          <a:lstStyle/>
          <a:p>
            <a:fld id="{113C9907-95C5-45AC-8CEE-5D00E6BA1E49}" type="datetimeFigureOut">
              <a:rPr lang="en-IL" smtClean="0"/>
              <a:t>19/01/2026</a:t>
            </a:fld>
            <a:endParaRPr lang="en-IL"/>
          </a:p>
        </p:txBody>
      </p:sp>
      <p:sp>
        <p:nvSpPr>
          <p:cNvPr id="5" name="Footer Placeholder 4">
            <a:extLst>
              <a:ext uri="{FF2B5EF4-FFF2-40B4-BE49-F238E27FC236}">
                <a16:creationId xmlns:a16="http://schemas.microsoft.com/office/drawing/2014/main" id="{84CC9736-A969-A6A1-6E88-CB0F4619BF1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7FF3204A-0879-4462-1FFF-F21EA7682698}"/>
              </a:ext>
            </a:extLst>
          </p:cNvPr>
          <p:cNvSpPr>
            <a:spLocks noGrp="1"/>
          </p:cNvSpPr>
          <p:nvPr>
            <p:ph type="sldNum" sz="quarter" idx="12"/>
          </p:nvPr>
        </p:nvSpPr>
        <p:spPr/>
        <p:txBody>
          <a:bodyPr/>
          <a:lstStyle/>
          <a:p>
            <a:fld id="{3CC167D2-45E9-4C5E-BA16-DDA5B0E25ACC}" type="slidenum">
              <a:rPr lang="en-IL" smtClean="0"/>
              <a:t>‹#›</a:t>
            </a:fld>
            <a:endParaRPr lang="en-IL"/>
          </a:p>
        </p:txBody>
      </p:sp>
    </p:spTree>
    <p:extLst>
      <p:ext uri="{BB962C8B-B14F-4D97-AF65-F5344CB8AC3E}">
        <p14:creationId xmlns:p14="http://schemas.microsoft.com/office/powerpoint/2010/main" val="21842355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9B081-1861-9006-CE2B-369E0E333735}"/>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F97B373D-72C2-7998-A7B3-A3445CE0A2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F3A0044A-7946-2CB2-6119-554936B1BA0F}"/>
              </a:ext>
            </a:extLst>
          </p:cNvPr>
          <p:cNvSpPr>
            <a:spLocks noGrp="1"/>
          </p:cNvSpPr>
          <p:nvPr>
            <p:ph type="dt" sz="half" idx="10"/>
          </p:nvPr>
        </p:nvSpPr>
        <p:spPr/>
        <p:txBody>
          <a:bodyPr/>
          <a:lstStyle/>
          <a:p>
            <a:fld id="{113C9907-95C5-45AC-8CEE-5D00E6BA1E49}" type="datetimeFigureOut">
              <a:rPr lang="en-IL" smtClean="0"/>
              <a:t>19/01/2026</a:t>
            </a:fld>
            <a:endParaRPr lang="en-IL"/>
          </a:p>
        </p:txBody>
      </p:sp>
      <p:sp>
        <p:nvSpPr>
          <p:cNvPr id="5" name="Footer Placeholder 4">
            <a:extLst>
              <a:ext uri="{FF2B5EF4-FFF2-40B4-BE49-F238E27FC236}">
                <a16:creationId xmlns:a16="http://schemas.microsoft.com/office/drawing/2014/main" id="{89B54BCB-D276-EEBD-375C-59067B0FBD6E}"/>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793359AE-4E0F-F8D3-5AC6-BCFE306E6B8A}"/>
              </a:ext>
            </a:extLst>
          </p:cNvPr>
          <p:cNvSpPr>
            <a:spLocks noGrp="1"/>
          </p:cNvSpPr>
          <p:nvPr>
            <p:ph type="sldNum" sz="quarter" idx="12"/>
          </p:nvPr>
        </p:nvSpPr>
        <p:spPr/>
        <p:txBody>
          <a:bodyPr/>
          <a:lstStyle/>
          <a:p>
            <a:fld id="{3CC167D2-45E9-4C5E-BA16-DDA5B0E25ACC}" type="slidenum">
              <a:rPr lang="en-IL" smtClean="0"/>
              <a:t>‹#›</a:t>
            </a:fld>
            <a:endParaRPr lang="en-IL"/>
          </a:p>
        </p:txBody>
      </p:sp>
    </p:spTree>
    <p:extLst>
      <p:ext uri="{BB962C8B-B14F-4D97-AF65-F5344CB8AC3E}">
        <p14:creationId xmlns:p14="http://schemas.microsoft.com/office/powerpoint/2010/main" val="3546695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946A8-2526-71F7-320E-6A496BBDE5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5941207D-9751-C321-6381-7891B2901AB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1E10A2-4AA4-FC8C-B207-86DDC5EBEE19}"/>
              </a:ext>
            </a:extLst>
          </p:cNvPr>
          <p:cNvSpPr>
            <a:spLocks noGrp="1"/>
          </p:cNvSpPr>
          <p:nvPr>
            <p:ph type="dt" sz="half" idx="10"/>
          </p:nvPr>
        </p:nvSpPr>
        <p:spPr/>
        <p:txBody>
          <a:bodyPr/>
          <a:lstStyle/>
          <a:p>
            <a:fld id="{113C9907-95C5-45AC-8CEE-5D00E6BA1E49}" type="datetimeFigureOut">
              <a:rPr lang="en-IL" smtClean="0"/>
              <a:t>19/01/2026</a:t>
            </a:fld>
            <a:endParaRPr lang="en-IL"/>
          </a:p>
        </p:txBody>
      </p:sp>
      <p:sp>
        <p:nvSpPr>
          <p:cNvPr id="5" name="Footer Placeholder 4">
            <a:extLst>
              <a:ext uri="{FF2B5EF4-FFF2-40B4-BE49-F238E27FC236}">
                <a16:creationId xmlns:a16="http://schemas.microsoft.com/office/drawing/2014/main" id="{C30A01F6-E99F-2439-3A0A-AC15A5C14A0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B7C1E94-C780-5335-13AC-C470DD986D73}"/>
              </a:ext>
            </a:extLst>
          </p:cNvPr>
          <p:cNvSpPr>
            <a:spLocks noGrp="1"/>
          </p:cNvSpPr>
          <p:nvPr>
            <p:ph type="sldNum" sz="quarter" idx="12"/>
          </p:nvPr>
        </p:nvSpPr>
        <p:spPr/>
        <p:txBody>
          <a:bodyPr/>
          <a:lstStyle/>
          <a:p>
            <a:fld id="{3CC167D2-45E9-4C5E-BA16-DDA5B0E25ACC}" type="slidenum">
              <a:rPr lang="en-IL" smtClean="0"/>
              <a:t>‹#›</a:t>
            </a:fld>
            <a:endParaRPr lang="en-IL"/>
          </a:p>
        </p:txBody>
      </p:sp>
    </p:spTree>
    <p:extLst>
      <p:ext uri="{BB962C8B-B14F-4D97-AF65-F5344CB8AC3E}">
        <p14:creationId xmlns:p14="http://schemas.microsoft.com/office/powerpoint/2010/main" val="9937316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90BF8-0831-1545-7323-17C60D4F8231}"/>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80AE2963-6199-80D7-B91E-B7FEB98ED16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6445563A-503C-7E70-1801-37B8570DA5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400CA834-52E5-53F0-52DB-F43BD1A08A7D}"/>
              </a:ext>
            </a:extLst>
          </p:cNvPr>
          <p:cNvSpPr>
            <a:spLocks noGrp="1"/>
          </p:cNvSpPr>
          <p:nvPr>
            <p:ph type="dt" sz="half" idx="10"/>
          </p:nvPr>
        </p:nvSpPr>
        <p:spPr/>
        <p:txBody>
          <a:bodyPr/>
          <a:lstStyle/>
          <a:p>
            <a:fld id="{113C9907-95C5-45AC-8CEE-5D00E6BA1E49}" type="datetimeFigureOut">
              <a:rPr lang="en-IL" smtClean="0"/>
              <a:t>19/01/2026</a:t>
            </a:fld>
            <a:endParaRPr lang="en-IL"/>
          </a:p>
        </p:txBody>
      </p:sp>
      <p:sp>
        <p:nvSpPr>
          <p:cNvPr id="6" name="Footer Placeholder 5">
            <a:extLst>
              <a:ext uri="{FF2B5EF4-FFF2-40B4-BE49-F238E27FC236}">
                <a16:creationId xmlns:a16="http://schemas.microsoft.com/office/drawing/2014/main" id="{BFD6BFDC-14DB-91E0-B24F-9C6F5E3432F1}"/>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95032A17-065B-537E-E81D-C05B95C03035}"/>
              </a:ext>
            </a:extLst>
          </p:cNvPr>
          <p:cNvSpPr>
            <a:spLocks noGrp="1"/>
          </p:cNvSpPr>
          <p:nvPr>
            <p:ph type="sldNum" sz="quarter" idx="12"/>
          </p:nvPr>
        </p:nvSpPr>
        <p:spPr/>
        <p:txBody>
          <a:bodyPr/>
          <a:lstStyle/>
          <a:p>
            <a:fld id="{3CC167D2-45E9-4C5E-BA16-DDA5B0E25ACC}" type="slidenum">
              <a:rPr lang="en-IL" smtClean="0"/>
              <a:t>‹#›</a:t>
            </a:fld>
            <a:endParaRPr lang="en-IL"/>
          </a:p>
        </p:txBody>
      </p:sp>
    </p:spTree>
    <p:extLst>
      <p:ext uri="{BB962C8B-B14F-4D97-AF65-F5344CB8AC3E}">
        <p14:creationId xmlns:p14="http://schemas.microsoft.com/office/powerpoint/2010/main" val="9065839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BF23B-0546-0F84-0F4C-0864827AB7AB}"/>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69C0E9B4-7D12-C358-A312-67DC518A05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26CAC65-9686-9B85-3620-587F78305C2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7B7347E6-4C89-89A4-C061-F3681F826E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6F8B79-C0B4-FE29-2064-A2E2A3E714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6F236FBC-37A2-36F0-4967-62A664584527}"/>
              </a:ext>
            </a:extLst>
          </p:cNvPr>
          <p:cNvSpPr>
            <a:spLocks noGrp="1"/>
          </p:cNvSpPr>
          <p:nvPr>
            <p:ph type="dt" sz="half" idx="10"/>
          </p:nvPr>
        </p:nvSpPr>
        <p:spPr/>
        <p:txBody>
          <a:bodyPr/>
          <a:lstStyle/>
          <a:p>
            <a:fld id="{113C9907-95C5-45AC-8CEE-5D00E6BA1E49}" type="datetimeFigureOut">
              <a:rPr lang="en-IL" smtClean="0"/>
              <a:t>19/01/2026</a:t>
            </a:fld>
            <a:endParaRPr lang="en-IL"/>
          </a:p>
        </p:txBody>
      </p:sp>
      <p:sp>
        <p:nvSpPr>
          <p:cNvPr id="8" name="Footer Placeholder 7">
            <a:extLst>
              <a:ext uri="{FF2B5EF4-FFF2-40B4-BE49-F238E27FC236}">
                <a16:creationId xmlns:a16="http://schemas.microsoft.com/office/drawing/2014/main" id="{7625C6DB-9197-8125-1132-1378456823FF}"/>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0F98F332-CE67-4A2B-660A-6ACDCDCE80AE}"/>
              </a:ext>
            </a:extLst>
          </p:cNvPr>
          <p:cNvSpPr>
            <a:spLocks noGrp="1"/>
          </p:cNvSpPr>
          <p:nvPr>
            <p:ph type="sldNum" sz="quarter" idx="12"/>
          </p:nvPr>
        </p:nvSpPr>
        <p:spPr/>
        <p:txBody>
          <a:bodyPr/>
          <a:lstStyle/>
          <a:p>
            <a:fld id="{3CC167D2-45E9-4C5E-BA16-DDA5B0E25ACC}" type="slidenum">
              <a:rPr lang="en-IL" smtClean="0"/>
              <a:t>‹#›</a:t>
            </a:fld>
            <a:endParaRPr lang="en-IL"/>
          </a:p>
        </p:txBody>
      </p:sp>
    </p:spTree>
    <p:extLst>
      <p:ext uri="{BB962C8B-B14F-4D97-AF65-F5344CB8AC3E}">
        <p14:creationId xmlns:p14="http://schemas.microsoft.com/office/powerpoint/2010/main" val="9633895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BA658-6C43-9493-26D2-09C54176EF91}"/>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1DBADFD8-26E3-DC3F-9E3E-58B7984D0D7F}"/>
              </a:ext>
            </a:extLst>
          </p:cNvPr>
          <p:cNvSpPr>
            <a:spLocks noGrp="1"/>
          </p:cNvSpPr>
          <p:nvPr>
            <p:ph type="dt" sz="half" idx="10"/>
          </p:nvPr>
        </p:nvSpPr>
        <p:spPr/>
        <p:txBody>
          <a:bodyPr/>
          <a:lstStyle/>
          <a:p>
            <a:fld id="{113C9907-95C5-45AC-8CEE-5D00E6BA1E49}" type="datetimeFigureOut">
              <a:rPr lang="en-IL" smtClean="0"/>
              <a:t>19/01/2026</a:t>
            </a:fld>
            <a:endParaRPr lang="en-IL"/>
          </a:p>
        </p:txBody>
      </p:sp>
      <p:sp>
        <p:nvSpPr>
          <p:cNvPr id="4" name="Footer Placeholder 3">
            <a:extLst>
              <a:ext uri="{FF2B5EF4-FFF2-40B4-BE49-F238E27FC236}">
                <a16:creationId xmlns:a16="http://schemas.microsoft.com/office/drawing/2014/main" id="{6A2E0731-00D8-51DC-D547-4927AB6E1D01}"/>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4BBF6018-49A2-E543-F68B-975365B393D4}"/>
              </a:ext>
            </a:extLst>
          </p:cNvPr>
          <p:cNvSpPr>
            <a:spLocks noGrp="1"/>
          </p:cNvSpPr>
          <p:nvPr>
            <p:ph type="sldNum" sz="quarter" idx="12"/>
          </p:nvPr>
        </p:nvSpPr>
        <p:spPr/>
        <p:txBody>
          <a:bodyPr/>
          <a:lstStyle/>
          <a:p>
            <a:fld id="{3CC167D2-45E9-4C5E-BA16-DDA5B0E25ACC}" type="slidenum">
              <a:rPr lang="en-IL" smtClean="0"/>
              <a:t>‹#›</a:t>
            </a:fld>
            <a:endParaRPr lang="en-IL"/>
          </a:p>
        </p:txBody>
      </p:sp>
    </p:spTree>
    <p:extLst>
      <p:ext uri="{BB962C8B-B14F-4D97-AF65-F5344CB8AC3E}">
        <p14:creationId xmlns:p14="http://schemas.microsoft.com/office/powerpoint/2010/main" val="3395894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2125F5-E27F-2006-D555-64508267E4B8}"/>
              </a:ext>
            </a:extLst>
          </p:cNvPr>
          <p:cNvSpPr>
            <a:spLocks noGrp="1"/>
          </p:cNvSpPr>
          <p:nvPr>
            <p:ph type="dt" sz="half" idx="10"/>
          </p:nvPr>
        </p:nvSpPr>
        <p:spPr/>
        <p:txBody>
          <a:bodyPr/>
          <a:lstStyle/>
          <a:p>
            <a:fld id="{113C9907-95C5-45AC-8CEE-5D00E6BA1E49}" type="datetimeFigureOut">
              <a:rPr lang="en-IL" smtClean="0"/>
              <a:t>19/01/2026</a:t>
            </a:fld>
            <a:endParaRPr lang="en-IL"/>
          </a:p>
        </p:txBody>
      </p:sp>
      <p:sp>
        <p:nvSpPr>
          <p:cNvPr id="3" name="Footer Placeholder 2">
            <a:extLst>
              <a:ext uri="{FF2B5EF4-FFF2-40B4-BE49-F238E27FC236}">
                <a16:creationId xmlns:a16="http://schemas.microsoft.com/office/drawing/2014/main" id="{5DD5C000-2808-2BB1-5085-1A6E4BDB63CC}"/>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59181A67-A8C4-6EBF-173F-C07B371C29B9}"/>
              </a:ext>
            </a:extLst>
          </p:cNvPr>
          <p:cNvSpPr>
            <a:spLocks noGrp="1"/>
          </p:cNvSpPr>
          <p:nvPr>
            <p:ph type="sldNum" sz="quarter" idx="12"/>
          </p:nvPr>
        </p:nvSpPr>
        <p:spPr/>
        <p:txBody>
          <a:bodyPr/>
          <a:lstStyle/>
          <a:p>
            <a:fld id="{3CC167D2-45E9-4C5E-BA16-DDA5B0E25ACC}" type="slidenum">
              <a:rPr lang="en-IL" smtClean="0"/>
              <a:t>‹#›</a:t>
            </a:fld>
            <a:endParaRPr lang="en-IL"/>
          </a:p>
        </p:txBody>
      </p:sp>
    </p:spTree>
    <p:extLst>
      <p:ext uri="{BB962C8B-B14F-4D97-AF65-F5344CB8AC3E}">
        <p14:creationId xmlns:p14="http://schemas.microsoft.com/office/powerpoint/2010/main" val="9689589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E08A4-540B-0000-1482-8DDA620A2C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7179683C-2320-118A-980E-DD1B4627A83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5192B62E-0A41-3F28-A6C9-75D83241F3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E50C7E-C8F4-DD44-EB7D-9FE2DFF6ECA0}"/>
              </a:ext>
            </a:extLst>
          </p:cNvPr>
          <p:cNvSpPr>
            <a:spLocks noGrp="1"/>
          </p:cNvSpPr>
          <p:nvPr>
            <p:ph type="dt" sz="half" idx="10"/>
          </p:nvPr>
        </p:nvSpPr>
        <p:spPr/>
        <p:txBody>
          <a:bodyPr/>
          <a:lstStyle/>
          <a:p>
            <a:fld id="{113C9907-95C5-45AC-8CEE-5D00E6BA1E49}" type="datetimeFigureOut">
              <a:rPr lang="en-IL" smtClean="0"/>
              <a:t>19/01/2026</a:t>
            </a:fld>
            <a:endParaRPr lang="en-IL"/>
          </a:p>
        </p:txBody>
      </p:sp>
      <p:sp>
        <p:nvSpPr>
          <p:cNvPr id="6" name="Footer Placeholder 5">
            <a:extLst>
              <a:ext uri="{FF2B5EF4-FFF2-40B4-BE49-F238E27FC236}">
                <a16:creationId xmlns:a16="http://schemas.microsoft.com/office/drawing/2014/main" id="{C62B9A5A-7090-13EA-D84B-0ABDA7A1C85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4847C335-78B4-338F-E768-E4BA2009BEA1}"/>
              </a:ext>
            </a:extLst>
          </p:cNvPr>
          <p:cNvSpPr>
            <a:spLocks noGrp="1"/>
          </p:cNvSpPr>
          <p:nvPr>
            <p:ph type="sldNum" sz="quarter" idx="12"/>
          </p:nvPr>
        </p:nvSpPr>
        <p:spPr/>
        <p:txBody>
          <a:bodyPr/>
          <a:lstStyle/>
          <a:p>
            <a:fld id="{3CC167D2-45E9-4C5E-BA16-DDA5B0E25ACC}" type="slidenum">
              <a:rPr lang="en-IL" smtClean="0"/>
              <a:t>‹#›</a:t>
            </a:fld>
            <a:endParaRPr lang="en-IL"/>
          </a:p>
        </p:txBody>
      </p:sp>
    </p:spTree>
    <p:extLst>
      <p:ext uri="{BB962C8B-B14F-4D97-AF65-F5344CB8AC3E}">
        <p14:creationId xmlns:p14="http://schemas.microsoft.com/office/powerpoint/2010/main" val="29847856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C69D2-C94B-EB2E-CACA-2775FAE1E8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D8E2FE16-7ECC-78A0-2176-6BF33A3C20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92538E34-DF19-89A2-D758-E6DDB65443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13A6AC-693D-C523-47FF-ACCEEF14493F}"/>
              </a:ext>
            </a:extLst>
          </p:cNvPr>
          <p:cNvSpPr>
            <a:spLocks noGrp="1"/>
          </p:cNvSpPr>
          <p:nvPr>
            <p:ph type="dt" sz="half" idx="10"/>
          </p:nvPr>
        </p:nvSpPr>
        <p:spPr/>
        <p:txBody>
          <a:bodyPr/>
          <a:lstStyle/>
          <a:p>
            <a:fld id="{113C9907-95C5-45AC-8CEE-5D00E6BA1E49}" type="datetimeFigureOut">
              <a:rPr lang="en-IL" smtClean="0"/>
              <a:t>19/01/2026</a:t>
            </a:fld>
            <a:endParaRPr lang="en-IL"/>
          </a:p>
        </p:txBody>
      </p:sp>
      <p:sp>
        <p:nvSpPr>
          <p:cNvPr id="6" name="Footer Placeholder 5">
            <a:extLst>
              <a:ext uri="{FF2B5EF4-FFF2-40B4-BE49-F238E27FC236}">
                <a16:creationId xmlns:a16="http://schemas.microsoft.com/office/drawing/2014/main" id="{3ED58080-9354-D9CE-2575-71724F4AACAB}"/>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40F0CFD6-3C59-E02D-AF86-A21F439A5370}"/>
              </a:ext>
            </a:extLst>
          </p:cNvPr>
          <p:cNvSpPr>
            <a:spLocks noGrp="1"/>
          </p:cNvSpPr>
          <p:nvPr>
            <p:ph type="sldNum" sz="quarter" idx="12"/>
          </p:nvPr>
        </p:nvSpPr>
        <p:spPr/>
        <p:txBody>
          <a:bodyPr/>
          <a:lstStyle/>
          <a:p>
            <a:fld id="{3CC167D2-45E9-4C5E-BA16-DDA5B0E25ACC}" type="slidenum">
              <a:rPr lang="en-IL" smtClean="0"/>
              <a:t>‹#›</a:t>
            </a:fld>
            <a:endParaRPr lang="en-IL"/>
          </a:p>
        </p:txBody>
      </p:sp>
    </p:spTree>
    <p:extLst>
      <p:ext uri="{BB962C8B-B14F-4D97-AF65-F5344CB8AC3E}">
        <p14:creationId xmlns:p14="http://schemas.microsoft.com/office/powerpoint/2010/main" val="4189563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16ADF-97F2-EB0D-E187-05732E1CF578}"/>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E302AAE-7FAC-21BE-442E-56CD31D6020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86760511-5C7A-81C1-A5AD-3AECDEDD2CF7}"/>
              </a:ext>
            </a:extLst>
          </p:cNvPr>
          <p:cNvSpPr>
            <a:spLocks noGrp="1"/>
          </p:cNvSpPr>
          <p:nvPr>
            <p:ph type="dt" sz="half" idx="10"/>
          </p:nvPr>
        </p:nvSpPr>
        <p:spPr/>
        <p:txBody>
          <a:bodyPr/>
          <a:lstStyle/>
          <a:p>
            <a:fld id="{113C9907-95C5-45AC-8CEE-5D00E6BA1E49}" type="datetimeFigureOut">
              <a:rPr lang="en-IL" smtClean="0"/>
              <a:t>19/01/2026</a:t>
            </a:fld>
            <a:endParaRPr lang="en-IL"/>
          </a:p>
        </p:txBody>
      </p:sp>
      <p:sp>
        <p:nvSpPr>
          <p:cNvPr id="5" name="Footer Placeholder 4">
            <a:extLst>
              <a:ext uri="{FF2B5EF4-FFF2-40B4-BE49-F238E27FC236}">
                <a16:creationId xmlns:a16="http://schemas.microsoft.com/office/drawing/2014/main" id="{99088679-43B0-3CC8-AE52-7FA77EEA032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0A5FEF10-44F7-A67F-88BB-23793B8C9B36}"/>
              </a:ext>
            </a:extLst>
          </p:cNvPr>
          <p:cNvSpPr>
            <a:spLocks noGrp="1"/>
          </p:cNvSpPr>
          <p:nvPr>
            <p:ph type="sldNum" sz="quarter" idx="12"/>
          </p:nvPr>
        </p:nvSpPr>
        <p:spPr/>
        <p:txBody>
          <a:bodyPr/>
          <a:lstStyle/>
          <a:p>
            <a:fld id="{3CC167D2-45E9-4C5E-BA16-DDA5B0E25ACC}" type="slidenum">
              <a:rPr lang="en-IL" smtClean="0"/>
              <a:t>‹#›</a:t>
            </a:fld>
            <a:endParaRPr lang="en-IL"/>
          </a:p>
        </p:txBody>
      </p:sp>
    </p:spTree>
    <p:extLst>
      <p:ext uri="{BB962C8B-B14F-4D97-AF65-F5344CB8AC3E}">
        <p14:creationId xmlns:p14="http://schemas.microsoft.com/office/powerpoint/2010/main" val="25742696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85D957E-7AF5-9C26-FBE9-41EB82FA625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EC3FF0AB-0A0D-470F-6E20-726DCF894C1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2463B92C-9F34-2757-D30B-0AB397B4452D}"/>
              </a:ext>
            </a:extLst>
          </p:cNvPr>
          <p:cNvSpPr>
            <a:spLocks noGrp="1"/>
          </p:cNvSpPr>
          <p:nvPr>
            <p:ph type="dt" sz="half" idx="10"/>
          </p:nvPr>
        </p:nvSpPr>
        <p:spPr/>
        <p:txBody>
          <a:bodyPr/>
          <a:lstStyle/>
          <a:p>
            <a:fld id="{113C9907-95C5-45AC-8CEE-5D00E6BA1E49}" type="datetimeFigureOut">
              <a:rPr lang="en-IL" smtClean="0"/>
              <a:t>19/01/2026</a:t>
            </a:fld>
            <a:endParaRPr lang="en-IL"/>
          </a:p>
        </p:txBody>
      </p:sp>
      <p:sp>
        <p:nvSpPr>
          <p:cNvPr id="5" name="Footer Placeholder 4">
            <a:extLst>
              <a:ext uri="{FF2B5EF4-FFF2-40B4-BE49-F238E27FC236}">
                <a16:creationId xmlns:a16="http://schemas.microsoft.com/office/drawing/2014/main" id="{8B724EF7-A75E-8374-395C-03B074BFFB9A}"/>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9FBF1897-E4A4-D905-8F44-AAA8E83B370C}"/>
              </a:ext>
            </a:extLst>
          </p:cNvPr>
          <p:cNvSpPr>
            <a:spLocks noGrp="1"/>
          </p:cNvSpPr>
          <p:nvPr>
            <p:ph type="sldNum" sz="quarter" idx="12"/>
          </p:nvPr>
        </p:nvSpPr>
        <p:spPr/>
        <p:txBody>
          <a:bodyPr/>
          <a:lstStyle/>
          <a:p>
            <a:fld id="{3CC167D2-45E9-4C5E-BA16-DDA5B0E25ACC}" type="slidenum">
              <a:rPr lang="en-IL" smtClean="0"/>
              <a:t>‹#›</a:t>
            </a:fld>
            <a:endParaRPr lang="en-IL"/>
          </a:p>
        </p:txBody>
      </p:sp>
    </p:spTree>
    <p:extLst>
      <p:ext uri="{BB962C8B-B14F-4D97-AF65-F5344CB8AC3E}">
        <p14:creationId xmlns:p14="http://schemas.microsoft.com/office/powerpoint/2010/main" val="36643419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45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BD63ADB2-549C-471E-98AA-59C7554501CD}" type="datetime8">
              <a:rPr lang="he-IL" smtClean="0">
                <a:solidFill>
                  <a:prstClr val="black">
                    <a:tint val="75000"/>
                  </a:prstClr>
                </a:solidFill>
              </a:rPr>
              <a:pPr/>
              <a:t>19 ינואר 26</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r>
              <a:rPr lang="he-IL">
                <a:solidFill>
                  <a:prstClr val="black">
                    <a:tint val="75000"/>
                  </a:prstClr>
                </a:solidFill>
              </a:rPr>
              <a:t>מבוא למיקרו כלכלה - תרגיל מספר 3</a:t>
            </a:r>
          </a:p>
        </p:txBody>
      </p:sp>
      <p:sp>
        <p:nvSpPr>
          <p:cNvPr id="6" name="מציין מיקום של מספר שקופית 5"/>
          <p:cNvSpPr>
            <a:spLocks noGrp="1"/>
          </p:cNvSpPr>
          <p:nvPr>
            <p:ph type="sldNum" sz="quarter" idx="12"/>
          </p:nvPr>
        </p:nvSpPr>
        <p:spPr/>
        <p:txBody>
          <a:bodyPr/>
          <a:lstStyle/>
          <a:p>
            <a:fld id="{D69A981F-4466-4789-9E41-1885E502A96E}"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40371003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6227D276-C1CE-44AE-9407-7BB248D90435}" type="datetime8">
              <a:rPr lang="he-IL" smtClean="0">
                <a:solidFill>
                  <a:prstClr val="black">
                    <a:tint val="75000"/>
                  </a:prstClr>
                </a:solidFill>
              </a:rPr>
              <a:pPr/>
              <a:t>19 ינואר 26</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r>
              <a:rPr lang="he-IL">
                <a:solidFill>
                  <a:prstClr val="black">
                    <a:tint val="75000"/>
                  </a:prstClr>
                </a:solidFill>
              </a:rPr>
              <a:t>מבוא למיקרו כלכלה - תרגיל מספר 3</a:t>
            </a:r>
          </a:p>
        </p:txBody>
      </p:sp>
      <p:sp>
        <p:nvSpPr>
          <p:cNvPr id="6" name="מציין מיקום של מספר שקופית 5"/>
          <p:cNvSpPr>
            <a:spLocks noGrp="1"/>
          </p:cNvSpPr>
          <p:nvPr>
            <p:ph type="sldNum" sz="quarter" idx="12"/>
          </p:nvPr>
        </p:nvSpPr>
        <p:spPr/>
        <p:txBody>
          <a:bodyPr/>
          <a:lstStyle/>
          <a:p>
            <a:fld id="{D69A981F-4466-4789-9E41-1885E502A96E}"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7303806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1" y="1709740"/>
            <a:ext cx="10515600" cy="2852737"/>
          </a:xfrm>
        </p:spPr>
        <p:txBody>
          <a:bodyPr anchor="b"/>
          <a:lstStyle>
            <a:lvl1pPr>
              <a:defRPr sz="45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p:cNvSpPr>
            <a:spLocks noGrp="1"/>
          </p:cNvSpPr>
          <p:nvPr>
            <p:ph type="dt" sz="half" idx="10"/>
          </p:nvPr>
        </p:nvSpPr>
        <p:spPr/>
        <p:txBody>
          <a:bodyPr/>
          <a:lstStyle/>
          <a:p>
            <a:fld id="{E42DDC0C-714C-4E85-8A3C-72FEDD7FEFC2}" type="datetime8">
              <a:rPr lang="he-IL" smtClean="0">
                <a:solidFill>
                  <a:prstClr val="black">
                    <a:tint val="75000"/>
                  </a:prstClr>
                </a:solidFill>
              </a:rPr>
              <a:pPr/>
              <a:t>19 ינואר 26</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r>
              <a:rPr lang="he-IL">
                <a:solidFill>
                  <a:prstClr val="black">
                    <a:tint val="75000"/>
                  </a:prstClr>
                </a:solidFill>
              </a:rPr>
              <a:t>מבוא למיקרו כלכלה - תרגיל מספר 3</a:t>
            </a:r>
          </a:p>
        </p:txBody>
      </p:sp>
      <p:sp>
        <p:nvSpPr>
          <p:cNvPr id="6" name="מציין מיקום של מספר שקופית 5"/>
          <p:cNvSpPr>
            <a:spLocks noGrp="1"/>
          </p:cNvSpPr>
          <p:nvPr>
            <p:ph type="sldNum" sz="quarter" idx="12"/>
          </p:nvPr>
        </p:nvSpPr>
        <p:spPr/>
        <p:txBody>
          <a:bodyPr/>
          <a:lstStyle/>
          <a:p>
            <a:fld id="{D69A981F-4466-4789-9E41-1885E502A96E}"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944870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A60BFC7E-6000-4B1C-86AE-EA2606FBE17B}" type="datetime8">
              <a:rPr lang="he-IL" smtClean="0">
                <a:solidFill>
                  <a:prstClr val="black">
                    <a:tint val="75000"/>
                  </a:prstClr>
                </a:solidFill>
              </a:rPr>
              <a:pPr/>
              <a:t>19 ינואר 26</a:t>
            </a:fld>
            <a:endParaRPr lang="he-IL">
              <a:solidFill>
                <a:prstClr val="black">
                  <a:tint val="75000"/>
                </a:prstClr>
              </a:solidFill>
            </a:endParaRPr>
          </a:p>
        </p:txBody>
      </p:sp>
      <p:sp>
        <p:nvSpPr>
          <p:cNvPr id="6" name="מציין מיקום של כותרת תחתונה 5"/>
          <p:cNvSpPr>
            <a:spLocks noGrp="1"/>
          </p:cNvSpPr>
          <p:nvPr>
            <p:ph type="ftr" sz="quarter" idx="11"/>
          </p:nvPr>
        </p:nvSpPr>
        <p:spPr/>
        <p:txBody>
          <a:bodyPr/>
          <a:lstStyle/>
          <a:p>
            <a:r>
              <a:rPr lang="he-IL">
                <a:solidFill>
                  <a:prstClr val="black">
                    <a:tint val="75000"/>
                  </a:prstClr>
                </a:solidFill>
              </a:rPr>
              <a:t>מבוא למיקרו כלכלה - תרגיל מספר 3</a:t>
            </a:r>
          </a:p>
        </p:txBody>
      </p:sp>
      <p:sp>
        <p:nvSpPr>
          <p:cNvPr id="7" name="מציין מיקום של מספר שקופית 6"/>
          <p:cNvSpPr>
            <a:spLocks noGrp="1"/>
          </p:cNvSpPr>
          <p:nvPr>
            <p:ph type="sldNum" sz="quarter" idx="12"/>
          </p:nvPr>
        </p:nvSpPr>
        <p:spPr/>
        <p:txBody>
          <a:bodyPr/>
          <a:lstStyle/>
          <a:p>
            <a:fld id="{D69A981F-4466-4789-9E41-1885E502A96E}"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5819882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7"/>
            <a:ext cx="105156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he-IL"/>
              <a:t>לחץ כדי לערוך סגנונות טקסט של תבנית בסיס</a:t>
            </a:r>
          </a:p>
        </p:txBody>
      </p:sp>
      <p:sp>
        <p:nvSpPr>
          <p:cNvPr id="4" name="מציין מיקום תוכן 3"/>
          <p:cNvSpPr>
            <a:spLocks noGrp="1"/>
          </p:cNvSpPr>
          <p:nvPr>
            <p:ph sz="half" idx="2"/>
          </p:nvPr>
        </p:nvSpPr>
        <p:spPr>
          <a:xfrm>
            <a:off x="839789"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he-IL"/>
              <a:t>לחץ כדי לערוך סגנונות טקסט של תבנית בסיס</a:t>
            </a:r>
          </a:p>
        </p:txBody>
      </p:sp>
      <p:sp>
        <p:nvSpPr>
          <p:cNvPr id="6" name="מציין מיקום תוכן 5"/>
          <p:cNvSpPr>
            <a:spLocks noGrp="1"/>
          </p:cNvSpPr>
          <p:nvPr>
            <p:ph sz="quarter" idx="4"/>
          </p:nvPr>
        </p:nvSpPr>
        <p:spPr>
          <a:xfrm>
            <a:off x="6172201"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03616D32-024A-4CF4-97B9-6DB74994F35C}" type="datetime8">
              <a:rPr lang="he-IL" smtClean="0">
                <a:solidFill>
                  <a:prstClr val="black">
                    <a:tint val="75000"/>
                  </a:prstClr>
                </a:solidFill>
              </a:rPr>
              <a:pPr/>
              <a:t>19 ינואר 26</a:t>
            </a:fld>
            <a:endParaRPr lang="he-IL">
              <a:solidFill>
                <a:prstClr val="black">
                  <a:tint val="75000"/>
                </a:prstClr>
              </a:solidFill>
            </a:endParaRPr>
          </a:p>
        </p:txBody>
      </p:sp>
      <p:sp>
        <p:nvSpPr>
          <p:cNvPr id="8" name="מציין מיקום של כותרת תחתונה 7"/>
          <p:cNvSpPr>
            <a:spLocks noGrp="1"/>
          </p:cNvSpPr>
          <p:nvPr>
            <p:ph type="ftr" sz="quarter" idx="11"/>
          </p:nvPr>
        </p:nvSpPr>
        <p:spPr/>
        <p:txBody>
          <a:bodyPr/>
          <a:lstStyle/>
          <a:p>
            <a:r>
              <a:rPr lang="he-IL">
                <a:solidFill>
                  <a:prstClr val="black">
                    <a:tint val="75000"/>
                  </a:prstClr>
                </a:solidFill>
              </a:rPr>
              <a:t>מבוא למיקרו כלכלה - תרגיל מספר 3</a:t>
            </a:r>
          </a:p>
        </p:txBody>
      </p:sp>
      <p:sp>
        <p:nvSpPr>
          <p:cNvPr id="9" name="מציין מיקום של מספר שקופית 8"/>
          <p:cNvSpPr>
            <a:spLocks noGrp="1"/>
          </p:cNvSpPr>
          <p:nvPr>
            <p:ph type="sldNum" sz="quarter" idx="12"/>
          </p:nvPr>
        </p:nvSpPr>
        <p:spPr/>
        <p:txBody>
          <a:bodyPr/>
          <a:lstStyle/>
          <a:p>
            <a:fld id="{D69A981F-4466-4789-9E41-1885E502A96E}"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20034516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5E5B0718-B773-4EFF-B082-0F8AC0A7B64C}" type="datetime8">
              <a:rPr lang="he-IL" smtClean="0">
                <a:solidFill>
                  <a:prstClr val="black">
                    <a:tint val="75000"/>
                  </a:prstClr>
                </a:solidFill>
              </a:rPr>
              <a:pPr/>
              <a:t>19 ינואר 26</a:t>
            </a:fld>
            <a:endParaRPr lang="he-IL">
              <a:solidFill>
                <a:prstClr val="black">
                  <a:tint val="75000"/>
                </a:prstClr>
              </a:solidFill>
            </a:endParaRPr>
          </a:p>
        </p:txBody>
      </p:sp>
      <p:sp>
        <p:nvSpPr>
          <p:cNvPr id="4" name="מציין מיקום של כותרת תחתונה 3"/>
          <p:cNvSpPr>
            <a:spLocks noGrp="1"/>
          </p:cNvSpPr>
          <p:nvPr>
            <p:ph type="ftr" sz="quarter" idx="11"/>
          </p:nvPr>
        </p:nvSpPr>
        <p:spPr/>
        <p:txBody>
          <a:bodyPr/>
          <a:lstStyle/>
          <a:p>
            <a:r>
              <a:rPr lang="he-IL">
                <a:solidFill>
                  <a:prstClr val="black">
                    <a:tint val="75000"/>
                  </a:prstClr>
                </a:solidFill>
              </a:rPr>
              <a:t>מבוא למיקרו כלכלה - תרגיל מספר 3</a:t>
            </a:r>
          </a:p>
        </p:txBody>
      </p:sp>
      <p:sp>
        <p:nvSpPr>
          <p:cNvPr id="5" name="מציין מיקום של מספר שקופית 4"/>
          <p:cNvSpPr>
            <a:spLocks noGrp="1"/>
          </p:cNvSpPr>
          <p:nvPr>
            <p:ph type="sldNum" sz="quarter" idx="12"/>
          </p:nvPr>
        </p:nvSpPr>
        <p:spPr/>
        <p:txBody>
          <a:bodyPr/>
          <a:lstStyle/>
          <a:p>
            <a:fld id="{D69A981F-4466-4789-9E41-1885E502A96E}"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914464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3884F8D1-CB33-4926-BD79-4D6661DBE602}" type="datetime8">
              <a:rPr lang="he-IL" smtClean="0">
                <a:solidFill>
                  <a:prstClr val="black">
                    <a:tint val="75000"/>
                  </a:prstClr>
                </a:solidFill>
              </a:rPr>
              <a:pPr/>
              <a:t>19 ינואר 26</a:t>
            </a:fld>
            <a:endParaRPr lang="he-IL">
              <a:solidFill>
                <a:prstClr val="black">
                  <a:tint val="75000"/>
                </a:prstClr>
              </a:solidFill>
            </a:endParaRPr>
          </a:p>
        </p:txBody>
      </p:sp>
      <p:sp>
        <p:nvSpPr>
          <p:cNvPr id="3" name="מציין מיקום של כותרת תחתונה 2"/>
          <p:cNvSpPr>
            <a:spLocks noGrp="1"/>
          </p:cNvSpPr>
          <p:nvPr>
            <p:ph type="ftr" sz="quarter" idx="11"/>
          </p:nvPr>
        </p:nvSpPr>
        <p:spPr/>
        <p:txBody>
          <a:bodyPr/>
          <a:lstStyle/>
          <a:p>
            <a:r>
              <a:rPr lang="he-IL">
                <a:solidFill>
                  <a:prstClr val="black">
                    <a:tint val="75000"/>
                  </a:prstClr>
                </a:solidFill>
              </a:rPr>
              <a:t>מבוא למיקרו כלכלה - תרגיל מספר 3</a:t>
            </a:r>
          </a:p>
        </p:txBody>
      </p:sp>
      <p:sp>
        <p:nvSpPr>
          <p:cNvPr id="4" name="מציין מיקום של מספר שקופית 3"/>
          <p:cNvSpPr>
            <a:spLocks noGrp="1"/>
          </p:cNvSpPr>
          <p:nvPr>
            <p:ph type="sldNum" sz="quarter" idx="12"/>
          </p:nvPr>
        </p:nvSpPr>
        <p:spPr/>
        <p:txBody>
          <a:bodyPr/>
          <a:lstStyle/>
          <a:p>
            <a:fld id="{D69A981F-4466-4789-9E41-1885E502A96E}"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7110162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2400"/>
            </a:lvl1pPr>
          </a:lstStyle>
          <a:p>
            <a:r>
              <a:rPr lang="he-IL"/>
              <a:t>לחץ כדי לערוך סגנון כותרת של תבנית בסיס</a:t>
            </a:r>
          </a:p>
        </p:txBody>
      </p:sp>
      <p:sp>
        <p:nvSpPr>
          <p:cNvPr id="3" name="מציין מיקום תוכן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he-IL"/>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0BD12668-8C9D-4C74-BA54-EF9A469A4BEF}" type="datetime8">
              <a:rPr lang="he-IL" smtClean="0">
                <a:solidFill>
                  <a:prstClr val="black">
                    <a:tint val="75000"/>
                  </a:prstClr>
                </a:solidFill>
              </a:rPr>
              <a:pPr/>
              <a:t>19 ינואר 26</a:t>
            </a:fld>
            <a:endParaRPr lang="he-IL">
              <a:solidFill>
                <a:prstClr val="black">
                  <a:tint val="75000"/>
                </a:prstClr>
              </a:solidFill>
            </a:endParaRPr>
          </a:p>
        </p:txBody>
      </p:sp>
      <p:sp>
        <p:nvSpPr>
          <p:cNvPr id="6" name="מציין מיקום של כותרת תחתונה 5"/>
          <p:cNvSpPr>
            <a:spLocks noGrp="1"/>
          </p:cNvSpPr>
          <p:nvPr>
            <p:ph type="ftr" sz="quarter" idx="11"/>
          </p:nvPr>
        </p:nvSpPr>
        <p:spPr/>
        <p:txBody>
          <a:bodyPr/>
          <a:lstStyle/>
          <a:p>
            <a:r>
              <a:rPr lang="he-IL">
                <a:solidFill>
                  <a:prstClr val="black">
                    <a:tint val="75000"/>
                  </a:prstClr>
                </a:solidFill>
              </a:rPr>
              <a:t>מבוא למיקרו כלכלה - תרגיל מספר 3</a:t>
            </a:r>
          </a:p>
        </p:txBody>
      </p:sp>
      <p:sp>
        <p:nvSpPr>
          <p:cNvPr id="7" name="מציין מיקום של מספר שקופית 6"/>
          <p:cNvSpPr>
            <a:spLocks noGrp="1"/>
          </p:cNvSpPr>
          <p:nvPr>
            <p:ph type="sldNum" sz="quarter" idx="12"/>
          </p:nvPr>
        </p:nvSpPr>
        <p:spPr/>
        <p:txBody>
          <a:bodyPr/>
          <a:lstStyle/>
          <a:p>
            <a:fld id="{D69A981F-4466-4789-9E41-1885E502A96E}"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1801655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24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he-IL"/>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9CFDE785-C760-4A26-8E03-922F2A988802}" type="datetime8">
              <a:rPr lang="he-IL" smtClean="0">
                <a:solidFill>
                  <a:prstClr val="black">
                    <a:tint val="75000"/>
                  </a:prstClr>
                </a:solidFill>
              </a:rPr>
              <a:pPr/>
              <a:t>19 ינואר 26</a:t>
            </a:fld>
            <a:endParaRPr lang="he-IL">
              <a:solidFill>
                <a:prstClr val="black">
                  <a:tint val="75000"/>
                </a:prstClr>
              </a:solidFill>
            </a:endParaRPr>
          </a:p>
        </p:txBody>
      </p:sp>
      <p:sp>
        <p:nvSpPr>
          <p:cNvPr id="6" name="מציין מיקום של כותרת תחתונה 5"/>
          <p:cNvSpPr>
            <a:spLocks noGrp="1"/>
          </p:cNvSpPr>
          <p:nvPr>
            <p:ph type="ftr" sz="quarter" idx="11"/>
          </p:nvPr>
        </p:nvSpPr>
        <p:spPr/>
        <p:txBody>
          <a:bodyPr/>
          <a:lstStyle/>
          <a:p>
            <a:r>
              <a:rPr lang="he-IL">
                <a:solidFill>
                  <a:prstClr val="black">
                    <a:tint val="75000"/>
                  </a:prstClr>
                </a:solidFill>
              </a:rPr>
              <a:t>מבוא למיקרו כלכלה - תרגיל מספר 3</a:t>
            </a:r>
          </a:p>
        </p:txBody>
      </p:sp>
      <p:sp>
        <p:nvSpPr>
          <p:cNvPr id="7" name="מציין מיקום של מספר שקופית 6"/>
          <p:cNvSpPr>
            <a:spLocks noGrp="1"/>
          </p:cNvSpPr>
          <p:nvPr>
            <p:ph type="sldNum" sz="quarter" idx="12"/>
          </p:nvPr>
        </p:nvSpPr>
        <p:spPr/>
        <p:txBody>
          <a:bodyPr/>
          <a:lstStyle/>
          <a:p>
            <a:fld id="{D69A981F-4466-4789-9E41-1885E502A96E}"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22858001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FBDE67C0-E35E-45D0-8F91-2AF46F2D1038}" type="datetime8">
              <a:rPr lang="he-IL" smtClean="0">
                <a:solidFill>
                  <a:prstClr val="black">
                    <a:tint val="75000"/>
                  </a:prstClr>
                </a:solidFill>
              </a:rPr>
              <a:pPr/>
              <a:t>19 ינואר 26</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r>
              <a:rPr lang="he-IL">
                <a:solidFill>
                  <a:prstClr val="black">
                    <a:tint val="75000"/>
                  </a:prstClr>
                </a:solidFill>
              </a:rPr>
              <a:t>מבוא למיקרו כלכלה - תרגיל מספר 3</a:t>
            </a:r>
          </a:p>
        </p:txBody>
      </p:sp>
      <p:sp>
        <p:nvSpPr>
          <p:cNvPr id="6" name="מציין מיקום של מספר שקופית 5"/>
          <p:cNvSpPr>
            <a:spLocks noGrp="1"/>
          </p:cNvSpPr>
          <p:nvPr>
            <p:ph type="sldNum" sz="quarter" idx="12"/>
          </p:nvPr>
        </p:nvSpPr>
        <p:spPr/>
        <p:txBody>
          <a:bodyPr/>
          <a:lstStyle/>
          <a:p>
            <a:fld id="{D69A981F-4466-4789-9E41-1885E502A96E}"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7469399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1" y="365125"/>
            <a:ext cx="2628900"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838201"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E722089D-B839-4F18-AAC3-322C856013B3}" type="datetime8">
              <a:rPr lang="he-IL" smtClean="0">
                <a:solidFill>
                  <a:prstClr val="black">
                    <a:tint val="75000"/>
                  </a:prstClr>
                </a:solidFill>
              </a:rPr>
              <a:pPr/>
              <a:t>19 ינואר 26</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r>
              <a:rPr lang="he-IL">
                <a:solidFill>
                  <a:prstClr val="black">
                    <a:tint val="75000"/>
                  </a:prstClr>
                </a:solidFill>
              </a:rPr>
              <a:t>מבוא למיקרו כלכלה - תרגיל מספר 3</a:t>
            </a:r>
          </a:p>
        </p:txBody>
      </p:sp>
      <p:sp>
        <p:nvSpPr>
          <p:cNvPr id="6" name="מציין מיקום של מספר שקופית 5"/>
          <p:cNvSpPr>
            <a:spLocks noGrp="1"/>
          </p:cNvSpPr>
          <p:nvPr>
            <p:ph type="sldNum" sz="quarter" idx="12"/>
          </p:nvPr>
        </p:nvSpPr>
        <p:spPr/>
        <p:txBody>
          <a:bodyPr/>
          <a:lstStyle/>
          <a:p>
            <a:fld id="{D69A981F-4466-4789-9E41-1885E502A96E}"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1440280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004AE8-8DC7-F891-E3C3-E8AA3CC0B0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67E40853-DBE0-9E13-C5F1-CD8C86ABE9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74E974B8-7F8E-244E-493D-4B09731001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3C9907-95C5-45AC-8CEE-5D00E6BA1E49}" type="datetimeFigureOut">
              <a:rPr lang="en-IL" smtClean="0"/>
              <a:t>19/01/2026</a:t>
            </a:fld>
            <a:endParaRPr lang="en-IL"/>
          </a:p>
        </p:txBody>
      </p:sp>
      <p:sp>
        <p:nvSpPr>
          <p:cNvPr id="5" name="Footer Placeholder 4">
            <a:extLst>
              <a:ext uri="{FF2B5EF4-FFF2-40B4-BE49-F238E27FC236}">
                <a16:creationId xmlns:a16="http://schemas.microsoft.com/office/drawing/2014/main" id="{F7DD092B-1910-97E0-9705-7B4245DB45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L"/>
          </a:p>
        </p:txBody>
      </p:sp>
      <p:sp>
        <p:nvSpPr>
          <p:cNvPr id="6" name="Slide Number Placeholder 5">
            <a:extLst>
              <a:ext uri="{FF2B5EF4-FFF2-40B4-BE49-F238E27FC236}">
                <a16:creationId xmlns:a16="http://schemas.microsoft.com/office/drawing/2014/main" id="{6E7D8EA4-BD66-A438-92A0-57B75EDFCE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C167D2-45E9-4C5E-BA16-DDA5B0E25ACC}" type="slidenum">
              <a:rPr lang="en-IL" smtClean="0"/>
              <a:t>‹#›</a:t>
            </a:fld>
            <a:endParaRPr lang="en-IL"/>
          </a:p>
        </p:txBody>
      </p:sp>
    </p:spTree>
    <p:extLst>
      <p:ext uri="{BB962C8B-B14F-4D97-AF65-F5344CB8AC3E}">
        <p14:creationId xmlns:p14="http://schemas.microsoft.com/office/powerpoint/2010/main" val="2476429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7"/>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8610600" y="6356352"/>
            <a:ext cx="2743200" cy="365125"/>
          </a:xfrm>
          <a:prstGeom prst="rect">
            <a:avLst/>
          </a:prstGeom>
        </p:spPr>
        <p:txBody>
          <a:bodyPr vert="horz" lIns="91440" tIns="45720" rIns="91440" bIns="45720" rtlCol="1" anchor="ctr"/>
          <a:lstStyle>
            <a:lvl1pPr algn="r">
              <a:defRPr sz="900">
                <a:solidFill>
                  <a:schemeClr val="tx1">
                    <a:tint val="75000"/>
                  </a:schemeClr>
                </a:solidFill>
              </a:defRPr>
            </a:lvl1pPr>
          </a:lstStyle>
          <a:p>
            <a:pPr rtl="1"/>
            <a:fld id="{271F62C9-42C0-4FB4-A6FF-20ECDB8EE4D9}" type="datetime8">
              <a:rPr lang="he-IL" smtClean="0">
                <a:solidFill>
                  <a:prstClr val="black">
                    <a:tint val="75000"/>
                  </a:prstClr>
                </a:solidFill>
              </a:rPr>
              <a:pPr rtl="1"/>
              <a:t>19 ינואר 26</a:t>
            </a:fld>
            <a:endParaRPr lang="he-IL">
              <a:solidFill>
                <a:prstClr val="black">
                  <a:tint val="75000"/>
                </a:prstClr>
              </a:solidFill>
            </a:endParaRPr>
          </a:p>
        </p:txBody>
      </p:sp>
      <p:sp>
        <p:nvSpPr>
          <p:cNvPr id="5" name="מציין מיקום של כותרת תחתונה 4"/>
          <p:cNvSpPr>
            <a:spLocks noGrp="1"/>
          </p:cNvSpPr>
          <p:nvPr>
            <p:ph type="ftr" sz="quarter" idx="3"/>
          </p:nvPr>
        </p:nvSpPr>
        <p:spPr>
          <a:xfrm>
            <a:off x="4038600" y="6356352"/>
            <a:ext cx="4114800" cy="365125"/>
          </a:xfrm>
          <a:prstGeom prst="rect">
            <a:avLst/>
          </a:prstGeom>
        </p:spPr>
        <p:txBody>
          <a:bodyPr vert="horz" lIns="91440" tIns="45720" rIns="91440" bIns="45720" rtlCol="1" anchor="ctr"/>
          <a:lstStyle>
            <a:lvl1pPr algn="ctr">
              <a:defRPr sz="900">
                <a:solidFill>
                  <a:schemeClr val="tx1">
                    <a:tint val="75000"/>
                  </a:schemeClr>
                </a:solidFill>
              </a:defRPr>
            </a:lvl1pPr>
          </a:lstStyle>
          <a:p>
            <a:pPr rtl="1"/>
            <a:r>
              <a:rPr lang="he-IL">
                <a:solidFill>
                  <a:prstClr val="black">
                    <a:tint val="75000"/>
                  </a:prstClr>
                </a:solidFill>
              </a:rPr>
              <a:t>מבוא למיקרו כלכלה - תרגיל מספר 3</a:t>
            </a:r>
          </a:p>
        </p:txBody>
      </p:sp>
      <p:sp>
        <p:nvSpPr>
          <p:cNvPr id="6" name="מציין מיקום של מספר שקופית 5"/>
          <p:cNvSpPr>
            <a:spLocks noGrp="1"/>
          </p:cNvSpPr>
          <p:nvPr>
            <p:ph type="sldNum" sz="quarter" idx="4"/>
          </p:nvPr>
        </p:nvSpPr>
        <p:spPr>
          <a:xfrm>
            <a:off x="838200" y="6356352"/>
            <a:ext cx="2743200" cy="365125"/>
          </a:xfrm>
          <a:prstGeom prst="rect">
            <a:avLst/>
          </a:prstGeom>
        </p:spPr>
        <p:txBody>
          <a:bodyPr vert="horz" lIns="91440" tIns="45720" rIns="91440" bIns="45720" rtlCol="1" anchor="ctr"/>
          <a:lstStyle>
            <a:lvl1pPr algn="l">
              <a:defRPr sz="900">
                <a:solidFill>
                  <a:schemeClr val="tx1">
                    <a:tint val="75000"/>
                  </a:schemeClr>
                </a:solidFill>
              </a:defRPr>
            </a:lvl1pPr>
          </a:lstStyle>
          <a:p>
            <a:pPr rtl="1"/>
            <a:fld id="{D69A981F-4466-4789-9E41-1885E502A96E}" type="slidenum">
              <a:rPr lang="he-IL" smtClean="0">
                <a:solidFill>
                  <a:prstClr val="black">
                    <a:tint val="75000"/>
                  </a:prstClr>
                </a:solidFill>
              </a:rPr>
              <a:pPr rtl="1"/>
              <a:t>‹#›</a:t>
            </a:fld>
            <a:endParaRPr lang="he-IL">
              <a:solidFill>
                <a:prstClr val="black">
                  <a:tint val="75000"/>
                </a:prstClr>
              </a:solidFill>
            </a:endParaRPr>
          </a:p>
        </p:txBody>
      </p:sp>
    </p:spTree>
    <p:extLst>
      <p:ext uri="{BB962C8B-B14F-4D97-AF65-F5344CB8AC3E}">
        <p14:creationId xmlns:p14="http://schemas.microsoft.com/office/powerpoint/2010/main" val="27133078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r" defTabSz="685800" rtl="1"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r" defTabSz="685800" rtl="1"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r" defTabSz="685800" rtl="1"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r" defTabSz="685800" rtl="1"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he-IL"/>
      </a:defPPr>
      <a:lvl1pPr marL="0" algn="r" defTabSz="685800" rtl="1" eaLnBrk="1" latinLnBrk="0" hangingPunct="1">
        <a:defRPr sz="1350" kern="1200">
          <a:solidFill>
            <a:schemeClr val="tx1"/>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comments" Target="../comments/comment1.xml"/></Relationships>
</file>

<file path=ppt/slides/_rels/slide46.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3B2B4-E5B2-3CC6-0539-4B79591273DC}"/>
              </a:ext>
            </a:extLst>
          </p:cNvPr>
          <p:cNvSpPr>
            <a:spLocks noGrp="1"/>
          </p:cNvSpPr>
          <p:nvPr>
            <p:ph type="ctrTitle"/>
          </p:nvPr>
        </p:nvSpPr>
        <p:spPr>
          <a:xfrm>
            <a:off x="1465277" y="2917607"/>
            <a:ext cx="9144000" cy="1243332"/>
          </a:xfrm>
        </p:spPr>
        <p:txBody>
          <a:bodyPr>
            <a:normAutofit fontScale="90000"/>
          </a:bodyPr>
          <a:lstStyle/>
          <a:p>
            <a:pPr>
              <a:lnSpc>
                <a:spcPct val="150000"/>
              </a:lnSpc>
            </a:pPr>
            <a:br>
              <a:rPr lang="he-IL" dirty="0"/>
            </a:br>
            <a:r>
              <a:rPr lang="he-IL" sz="5300" dirty="0"/>
              <a:t>פתרון שאלות מבחינה 18.1.22 סמס א' מועד א’</a:t>
            </a:r>
            <a:br>
              <a:rPr lang="en-IL" sz="7300" dirty="0"/>
            </a:br>
            <a:r>
              <a:rPr lang="en-US" dirty="0"/>
              <a:t>+ </a:t>
            </a:r>
            <a:r>
              <a:rPr lang="he-IL" dirty="0"/>
              <a:t>שאלות נוספות</a:t>
            </a:r>
            <a:endParaRPr lang="en-IL" dirty="0"/>
          </a:p>
        </p:txBody>
      </p:sp>
      <p:sp>
        <p:nvSpPr>
          <p:cNvPr id="3" name="Subtitle 2">
            <a:extLst>
              <a:ext uri="{FF2B5EF4-FFF2-40B4-BE49-F238E27FC236}">
                <a16:creationId xmlns:a16="http://schemas.microsoft.com/office/drawing/2014/main" id="{572E67AD-00BC-217F-80C8-BBB36EEF41BA}"/>
              </a:ext>
            </a:extLst>
          </p:cNvPr>
          <p:cNvSpPr>
            <a:spLocks noGrp="1"/>
          </p:cNvSpPr>
          <p:nvPr>
            <p:ph type="subTitle" idx="1"/>
          </p:nvPr>
        </p:nvSpPr>
        <p:spPr>
          <a:xfrm>
            <a:off x="1465277" y="4160939"/>
            <a:ext cx="9144000" cy="702578"/>
          </a:xfrm>
        </p:spPr>
        <p:txBody>
          <a:bodyPr/>
          <a:lstStyle/>
          <a:p>
            <a:pPr rtl="1"/>
            <a:r>
              <a:rPr lang="he-IL" dirty="0"/>
              <a:t>מבוא למיקרו כלכלה</a:t>
            </a:r>
            <a:endParaRPr lang="en-IL" dirty="0"/>
          </a:p>
        </p:txBody>
      </p:sp>
      <p:sp>
        <p:nvSpPr>
          <p:cNvPr id="4" name="Subtitle 2">
            <a:extLst>
              <a:ext uri="{FF2B5EF4-FFF2-40B4-BE49-F238E27FC236}">
                <a16:creationId xmlns:a16="http://schemas.microsoft.com/office/drawing/2014/main" id="{C0E20A7D-C39E-74A8-7E73-A7118AFA594A}"/>
              </a:ext>
            </a:extLst>
          </p:cNvPr>
          <p:cNvSpPr txBox="1">
            <a:spLocks/>
          </p:cNvSpPr>
          <p:nvPr/>
        </p:nvSpPr>
        <p:spPr>
          <a:xfrm>
            <a:off x="1524000" y="5404271"/>
            <a:ext cx="9144000" cy="702578"/>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rtl="1"/>
            <a:r>
              <a:rPr lang="he-IL" dirty="0"/>
              <a:t>עורכת המצגת: מיכאלה משקוביץ'</a:t>
            </a:r>
            <a:br>
              <a:rPr lang="en-US" dirty="0"/>
            </a:br>
            <a:endParaRPr lang="en-IL" dirty="0"/>
          </a:p>
        </p:txBody>
      </p:sp>
    </p:spTree>
    <p:extLst>
      <p:ext uri="{BB962C8B-B14F-4D97-AF65-F5344CB8AC3E}">
        <p14:creationId xmlns:p14="http://schemas.microsoft.com/office/powerpoint/2010/main" val="5177146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86CFC-21FB-6BDA-BA4E-162AB7AF68F4}"/>
              </a:ext>
            </a:extLst>
          </p:cNvPr>
          <p:cNvSpPr>
            <a:spLocks noGrp="1"/>
          </p:cNvSpPr>
          <p:nvPr>
            <p:ph type="title"/>
          </p:nvPr>
        </p:nvSpPr>
        <p:spPr>
          <a:xfrm>
            <a:off x="10452682" y="79899"/>
            <a:ext cx="1647738" cy="633165"/>
          </a:xfrm>
        </p:spPr>
        <p:txBody>
          <a:bodyPr>
            <a:normAutofit/>
          </a:bodyPr>
          <a:lstStyle/>
          <a:p>
            <a:pPr algn="r" rtl="1"/>
            <a:r>
              <a:rPr lang="he-IL" sz="3200" dirty="0"/>
              <a:t>שאלה 20 </a:t>
            </a:r>
            <a:endParaRPr lang="en-IL" sz="3200" dirty="0"/>
          </a:p>
        </p:txBody>
      </p:sp>
      <p:sp>
        <p:nvSpPr>
          <p:cNvPr id="5" name="TextBox 4">
            <a:extLst>
              <a:ext uri="{FF2B5EF4-FFF2-40B4-BE49-F238E27FC236}">
                <a16:creationId xmlns:a16="http://schemas.microsoft.com/office/drawing/2014/main" id="{85958B51-5284-67B9-7EAF-F65DCAE71E98}"/>
              </a:ext>
            </a:extLst>
          </p:cNvPr>
          <p:cNvSpPr txBox="1"/>
          <p:nvPr/>
        </p:nvSpPr>
        <p:spPr>
          <a:xfrm>
            <a:off x="3167270" y="201269"/>
            <a:ext cx="7285412" cy="887744"/>
          </a:xfrm>
          <a:prstGeom prst="rect">
            <a:avLst/>
          </a:prstGeom>
          <a:noFill/>
        </p:spPr>
        <p:txBody>
          <a:bodyPr wrap="square">
            <a:spAutoFit/>
          </a:bodyPr>
          <a:lstStyle/>
          <a:p>
            <a:pPr algn="r" rtl="1">
              <a:lnSpc>
                <a:spcPct val="150000"/>
              </a:lnSpc>
            </a:pPr>
            <a:r>
              <a:rPr lang="he-IL" sz="1800" b="1" dirty="0">
                <a:effectLst/>
                <a:latin typeface="Courier New" panose="02070309020205020404" pitchFamily="49" charset="0"/>
                <a:ea typeface="Times New Roman" panose="02020603050405020304" pitchFamily="18" charset="0"/>
                <a:cs typeface="Arial" panose="020B0604020202020204" pitchFamily="34" charset="0"/>
              </a:rPr>
              <a:t>בענף מסוים ירד מחיר המוצר ב 10%, וכתוצאה מכך גדל הפדיון (הכנסת היצרנים) ב 2% </a:t>
            </a:r>
            <a:r>
              <a:rPr lang="he-IL" b="1" dirty="0">
                <a:latin typeface="Courier New" panose="02070309020205020404" pitchFamily="49" charset="0"/>
                <a:ea typeface="Times New Roman" panose="02020603050405020304" pitchFamily="18" charset="0"/>
              </a:rPr>
              <a:t>בלב</a:t>
            </a:r>
            <a:r>
              <a:rPr lang="he-IL" b="1" dirty="0">
                <a:latin typeface="Courier New" panose="02070309020205020404" pitchFamily="49" charset="0"/>
                <a:ea typeface="Times New Roman" panose="02020603050405020304" pitchFamily="18" charset="0"/>
                <a:cs typeface="Arial" panose="020B0604020202020204" pitchFamily="34" charset="0"/>
              </a:rPr>
              <a:t>ד </a:t>
            </a:r>
            <a:r>
              <a:rPr lang="he-IL" b="1" dirty="0">
                <a:solidFill>
                  <a:srgbClr val="C00000"/>
                </a:solidFill>
                <a:latin typeface="Courier New" panose="02070309020205020404" pitchFamily="49" charset="0"/>
                <a:ea typeface="Times New Roman" panose="02020603050405020304" pitchFamily="18" charset="0"/>
              </a:rPr>
              <a:t>משיפור טכנולוגי</a:t>
            </a:r>
            <a:r>
              <a:rPr lang="he-IL" sz="1800" b="1" dirty="0">
                <a:effectLst/>
                <a:latin typeface="Courier New" panose="02070309020205020404" pitchFamily="49" charset="0"/>
                <a:ea typeface="Times New Roman" panose="02020603050405020304" pitchFamily="18" charset="0"/>
                <a:cs typeface="Arial" panose="020B0604020202020204" pitchFamily="34" charset="0"/>
              </a:rPr>
              <a:t>. מכך ניתן להסיק כי:</a:t>
            </a:r>
            <a:endParaRPr lang="en-IL" sz="1200" dirty="0">
              <a:effectLst/>
              <a:latin typeface="Courier New" panose="02070309020205020404" pitchFamily="49" charset="0"/>
              <a:ea typeface="Times New Roman" panose="02020603050405020304" pitchFamily="18" charset="0"/>
              <a:cs typeface="Miriam" panose="020B0502050101010101" pitchFamily="34" charset="-79"/>
            </a:endParaRPr>
          </a:p>
        </p:txBody>
      </p:sp>
      <p:sp>
        <p:nvSpPr>
          <p:cNvPr id="7" name="TextBox 6">
            <a:extLst>
              <a:ext uri="{FF2B5EF4-FFF2-40B4-BE49-F238E27FC236}">
                <a16:creationId xmlns:a16="http://schemas.microsoft.com/office/drawing/2014/main" id="{E957C55C-F6BA-608C-DF2B-3A633E567A8E}"/>
              </a:ext>
            </a:extLst>
          </p:cNvPr>
          <p:cNvSpPr txBox="1"/>
          <p:nvPr/>
        </p:nvSpPr>
        <p:spPr>
          <a:xfrm>
            <a:off x="5075583" y="2609999"/>
            <a:ext cx="6841264" cy="2345001"/>
          </a:xfrm>
          <a:prstGeom prst="rect">
            <a:avLst/>
          </a:prstGeom>
          <a:noFill/>
        </p:spPr>
        <p:txBody>
          <a:bodyPr wrap="square">
            <a:spAutoFit/>
          </a:bodyPr>
          <a:lstStyle/>
          <a:p>
            <a:pPr marL="342900" lvl="0" indent="-342900" algn="r" rtl="1">
              <a:lnSpc>
                <a:spcPct val="150000"/>
              </a:lnSpc>
              <a:buFont typeface="+mj-lt"/>
              <a:buAutoNum type="arabicPeriod"/>
            </a:pPr>
            <a:r>
              <a:rPr lang="he-IL" sz="2000" dirty="0">
                <a:latin typeface="Times New Roman" panose="02020603050405020304" pitchFamily="18" charset="0"/>
                <a:ea typeface="Times New Roman" panose="02020603050405020304" pitchFamily="18" charset="0"/>
              </a:rPr>
              <a:t>המוצר בהכרח נורמאלי.</a:t>
            </a:r>
            <a:endParaRPr lang="en-IL" sz="2000" dirty="0">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2000" dirty="0">
                <a:latin typeface="Times New Roman" panose="02020603050405020304" pitchFamily="18" charset="0"/>
                <a:ea typeface="Times New Roman" panose="02020603050405020304" pitchFamily="18" charset="0"/>
              </a:rPr>
              <a:t>גמישות הביקוש למוצר בהכרח קטנה מ- 1 בערך מוחלט.</a:t>
            </a:r>
            <a:endParaRPr lang="en-IL" sz="2000" dirty="0">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2000" dirty="0">
                <a:latin typeface="Times New Roman" panose="02020603050405020304" pitchFamily="18" charset="0"/>
                <a:ea typeface="Times New Roman" panose="02020603050405020304" pitchFamily="18" charset="0"/>
              </a:rPr>
              <a:t>יתכן שגמישות הביקוש למוצר שווה ל- 1 בערך מוחלט.</a:t>
            </a:r>
            <a:endParaRPr lang="en-IL" sz="2000" dirty="0">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2000" dirty="0">
                <a:effectLst/>
                <a:latin typeface="Times New Roman" panose="02020603050405020304" pitchFamily="18" charset="0"/>
                <a:ea typeface="Times New Roman" panose="02020603050405020304" pitchFamily="18" charset="0"/>
                <a:cs typeface="Arial" panose="020B0604020202020204" pitchFamily="34" charset="0"/>
              </a:rPr>
              <a:t>גמישות הביקוש למוצר בהכרח גדולה מ- 1 בערך מוחלט.</a:t>
            </a:r>
            <a:endParaRPr lang="en-IL" sz="20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2000" dirty="0">
                <a:effectLst/>
                <a:latin typeface="Times New Roman" panose="02020603050405020304" pitchFamily="18" charset="0"/>
                <a:ea typeface="Times New Roman" panose="02020603050405020304" pitchFamily="18" charset="0"/>
                <a:cs typeface="Arial" panose="020B0604020202020204" pitchFamily="34" charset="0"/>
              </a:rPr>
              <a:t>כל התשובות האחרות לא נכונות.</a:t>
            </a:r>
            <a:endParaRPr lang="en-IL"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151634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86CFC-21FB-6BDA-BA4E-162AB7AF68F4}"/>
              </a:ext>
            </a:extLst>
          </p:cNvPr>
          <p:cNvSpPr>
            <a:spLocks noGrp="1"/>
          </p:cNvSpPr>
          <p:nvPr>
            <p:ph type="title"/>
          </p:nvPr>
        </p:nvSpPr>
        <p:spPr>
          <a:xfrm>
            <a:off x="10452682" y="79899"/>
            <a:ext cx="1647738" cy="633165"/>
          </a:xfrm>
        </p:spPr>
        <p:txBody>
          <a:bodyPr>
            <a:normAutofit/>
          </a:bodyPr>
          <a:lstStyle/>
          <a:p>
            <a:pPr algn="r" rtl="1"/>
            <a:r>
              <a:rPr lang="he-IL" sz="3200" dirty="0"/>
              <a:t>שאלה 20 </a:t>
            </a:r>
            <a:endParaRPr lang="en-IL" sz="3200" dirty="0"/>
          </a:p>
        </p:txBody>
      </p:sp>
      <p:sp>
        <p:nvSpPr>
          <p:cNvPr id="5" name="TextBox 4">
            <a:extLst>
              <a:ext uri="{FF2B5EF4-FFF2-40B4-BE49-F238E27FC236}">
                <a16:creationId xmlns:a16="http://schemas.microsoft.com/office/drawing/2014/main" id="{85958B51-5284-67B9-7EAF-F65DCAE71E98}"/>
              </a:ext>
            </a:extLst>
          </p:cNvPr>
          <p:cNvSpPr txBox="1"/>
          <p:nvPr/>
        </p:nvSpPr>
        <p:spPr>
          <a:xfrm>
            <a:off x="3528439" y="192441"/>
            <a:ext cx="6782559" cy="887744"/>
          </a:xfrm>
          <a:prstGeom prst="rect">
            <a:avLst/>
          </a:prstGeom>
          <a:noFill/>
        </p:spPr>
        <p:txBody>
          <a:bodyPr wrap="square">
            <a:spAutoFit/>
          </a:bodyPr>
          <a:lstStyle/>
          <a:p>
            <a:pPr algn="r" rtl="1">
              <a:lnSpc>
                <a:spcPct val="150000"/>
              </a:lnSpc>
            </a:pPr>
            <a:r>
              <a:rPr lang="he-IL" sz="1800" b="1" dirty="0">
                <a:effectLst/>
                <a:latin typeface="Courier New" panose="02070309020205020404" pitchFamily="49" charset="0"/>
                <a:ea typeface="Times New Roman" panose="02020603050405020304" pitchFamily="18" charset="0"/>
                <a:cs typeface="Arial" panose="020B0604020202020204" pitchFamily="34" charset="0"/>
              </a:rPr>
              <a:t>בענף מסוים ירד מחיר המוצר ב 10%, וכתוצאה מכך גדל הפדיון (הכנסת היצרנים) ב 2% </a:t>
            </a:r>
            <a:r>
              <a:rPr lang="he-IL" b="1" dirty="0">
                <a:latin typeface="Courier New" panose="02070309020205020404" pitchFamily="49" charset="0"/>
                <a:ea typeface="Times New Roman" panose="02020603050405020304" pitchFamily="18" charset="0"/>
              </a:rPr>
              <a:t>בלב</a:t>
            </a:r>
            <a:r>
              <a:rPr lang="he-IL" b="1" dirty="0">
                <a:latin typeface="Courier New" panose="02070309020205020404" pitchFamily="49" charset="0"/>
                <a:ea typeface="Times New Roman" panose="02020603050405020304" pitchFamily="18" charset="0"/>
                <a:cs typeface="Arial" panose="020B0604020202020204" pitchFamily="34" charset="0"/>
              </a:rPr>
              <a:t>ד </a:t>
            </a:r>
            <a:r>
              <a:rPr lang="he-IL" b="1" dirty="0">
                <a:solidFill>
                  <a:srgbClr val="C00000"/>
                </a:solidFill>
                <a:latin typeface="Courier New" panose="02070309020205020404" pitchFamily="49" charset="0"/>
                <a:ea typeface="Times New Roman" panose="02020603050405020304" pitchFamily="18" charset="0"/>
              </a:rPr>
              <a:t>משיפור טכנולוגי</a:t>
            </a:r>
            <a:r>
              <a:rPr lang="he-IL" sz="1800" b="1" dirty="0">
                <a:effectLst/>
                <a:latin typeface="Courier New" panose="02070309020205020404" pitchFamily="49" charset="0"/>
                <a:ea typeface="Times New Roman" panose="02020603050405020304" pitchFamily="18" charset="0"/>
                <a:cs typeface="Arial" panose="020B0604020202020204" pitchFamily="34" charset="0"/>
              </a:rPr>
              <a:t>. מכך ניתן להסיק כי:</a:t>
            </a:r>
            <a:endParaRPr lang="en-IL" sz="1200" dirty="0">
              <a:effectLst/>
              <a:latin typeface="Courier New" panose="02070309020205020404" pitchFamily="49" charset="0"/>
              <a:ea typeface="Times New Roman" panose="02020603050405020304" pitchFamily="18" charset="0"/>
              <a:cs typeface="Miriam" panose="020B0502050101010101" pitchFamily="34" charset="-79"/>
            </a:endParaRPr>
          </a:p>
        </p:txBody>
      </p:sp>
      <p:sp>
        <p:nvSpPr>
          <p:cNvPr id="7" name="TextBox 6">
            <a:extLst>
              <a:ext uri="{FF2B5EF4-FFF2-40B4-BE49-F238E27FC236}">
                <a16:creationId xmlns:a16="http://schemas.microsoft.com/office/drawing/2014/main" id="{E957C55C-F6BA-608C-DF2B-3A633E567A8E}"/>
              </a:ext>
            </a:extLst>
          </p:cNvPr>
          <p:cNvSpPr txBox="1"/>
          <p:nvPr/>
        </p:nvSpPr>
        <p:spPr>
          <a:xfrm>
            <a:off x="5832437" y="1467910"/>
            <a:ext cx="6126480" cy="2119747"/>
          </a:xfrm>
          <a:prstGeom prst="rect">
            <a:avLst/>
          </a:prstGeom>
          <a:noFill/>
        </p:spPr>
        <p:txBody>
          <a:bodyPr wrap="square">
            <a:spAutoFit/>
          </a:bodyPr>
          <a:lstStyle/>
          <a:p>
            <a:pPr marL="342900" lvl="0" indent="-342900" algn="r" rtl="1">
              <a:lnSpc>
                <a:spcPct val="150000"/>
              </a:lnSpc>
              <a:buFont typeface="+mj-lt"/>
              <a:buAutoNum type="arabicPeriod"/>
            </a:pPr>
            <a:r>
              <a:rPr lang="he-IL" dirty="0">
                <a:latin typeface="Times New Roman" panose="02020603050405020304" pitchFamily="18" charset="0"/>
                <a:ea typeface="Times New Roman" panose="02020603050405020304" pitchFamily="18" charset="0"/>
              </a:rPr>
              <a:t>המוצר בהכרח נורמאלי.</a:t>
            </a:r>
            <a:endParaRPr lang="en-IL" dirty="0">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dirty="0">
                <a:latin typeface="Times New Roman" panose="02020603050405020304" pitchFamily="18" charset="0"/>
                <a:ea typeface="Times New Roman" panose="02020603050405020304" pitchFamily="18" charset="0"/>
              </a:rPr>
              <a:t>גמישות הביקוש למוצר בהכרח קטנה מ- 1 בערך מוחלט.</a:t>
            </a:r>
            <a:endParaRPr lang="en-IL" dirty="0">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dirty="0">
                <a:latin typeface="Times New Roman" panose="02020603050405020304" pitchFamily="18" charset="0"/>
                <a:ea typeface="Times New Roman" panose="02020603050405020304" pitchFamily="18" charset="0"/>
              </a:rPr>
              <a:t>יתכן שגמישות הביקוש למוצר שווה ל- 1 בערך מוחלט.</a:t>
            </a:r>
            <a:endParaRPr lang="en-IL" dirty="0">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גמישות הביקוש למוצר בהכרח גדולה מ- 1 בערך מוחלט.</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כל התשובות האחרות לא נכונות.</a:t>
            </a:r>
            <a:endParaRPr lang="en-IL" sz="1800" dirty="0">
              <a:effectLst/>
              <a:latin typeface="Times New Roman" panose="02020603050405020304" pitchFamily="18" charset="0"/>
              <a:ea typeface="Times New Roman" panose="02020603050405020304" pitchFamily="18" charset="0"/>
            </a:endParaRPr>
          </a:p>
        </p:txBody>
      </p:sp>
      <p:cxnSp>
        <p:nvCxnSpPr>
          <p:cNvPr id="8" name="מחבר ישר 42">
            <a:extLst>
              <a:ext uri="{FF2B5EF4-FFF2-40B4-BE49-F238E27FC236}">
                <a16:creationId xmlns:a16="http://schemas.microsoft.com/office/drawing/2014/main" id="{90427E92-A63A-8354-0703-166D00D07BB5}"/>
              </a:ext>
            </a:extLst>
          </p:cNvPr>
          <p:cNvCxnSpPr>
            <a:cxnSpLocks/>
          </p:cNvCxnSpPr>
          <p:nvPr/>
        </p:nvCxnSpPr>
        <p:spPr>
          <a:xfrm flipH="1">
            <a:off x="1100348" y="1552199"/>
            <a:ext cx="1438" cy="2805594"/>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מחבר ישר 54">
            <a:extLst>
              <a:ext uri="{FF2B5EF4-FFF2-40B4-BE49-F238E27FC236}">
                <a16:creationId xmlns:a16="http://schemas.microsoft.com/office/drawing/2014/main" id="{B63A9B23-0636-D37A-0E2F-7EB8F3C84BE8}"/>
              </a:ext>
            </a:extLst>
          </p:cNvPr>
          <p:cNvCxnSpPr>
            <a:cxnSpLocks/>
          </p:cNvCxnSpPr>
          <p:nvPr/>
        </p:nvCxnSpPr>
        <p:spPr>
          <a:xfrm>
            <a:off x="1101141" y="4356999"/>
            <a:ext cx="1801914" cy="0"/>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FB06A52-626C-44F4-51B5-A54FA4CF18FB}"/>
              </a:ext>
            </a:extLst>
          </p:cNvPr>
          <p:cNvSpPr txBox="1"/>
          <p:nvPr/>
        </p:nvSpPr>
        <p:spPr>
          <a:xfrm>
            <a:off x="3188281" y="4473666"/>
            <a:ext cx="340158" cy="369332"/>
          </a:xfrm>
          <a:prstGeom prst="rect">
            <a:avLst/>
          </a:prstGeom>
          <a:noFill/>
        </p:spPr>
        <p:txBody>
          <a:bodyPr wrap="none" rtlCol="0">
            <a:spAutoFit/>
          </a:bodyPr>
          <a:lstStyle/>
          <a:p>
            <a:r>
              <a:rPr lang="en-US" dirty="0"/>
              <a:t>Q</a:t>
            </a:r>
          </a:p>
        </p:txBody>
      </p:sp>
      <p:sp>
        <p:nvSpPr>
          <p:cNvPr id="11" name="TextBox 10">
            <a:extLst>
              <a:ext uri="{FF2B5EF4-FFF2-40B4-BE49-F238E27FC236}">
                <a16:creationId xmlns:a16="http://schemas.microsoft.com/office/drawing/2014/main" id="{2BA95A1D-673B-536E-C9AC-FBF55CD991F8}"/>
              </a:ext>
            </a:extLst>
          </p:cNvPr>
          <p:cNvSpPr txBox="1"/>
          <p:nvPr/>
        </p:nvSpPr>
        <p:spPr>
          <a:xfrm>
            <a:off x="948704" y="1126351"/>
            <a:ext cx="303288" cy="369332"/>
          </a:xfrm>
          <a:prstGeom prst="rect">
            <a:avLst/>
          </a:prstGeom>
          <a:noFill/>
        </p:spPr>
        <p:txBody>
          <a:bodyPr wrap="none" rtlCol="0">
            <a:spAutoFit/>
          </a:bodyPr>
          <a:lstStyle/>
          <a:p>
            <a:r>
              <a:rPr lang="en-US" dirty="0"/>
              <a:t>P</a:t>
            </a:r>
          </a:p>
        </p:txBody>
      </p:sp>
      <p:cxnSp>
        <p:nvCxnSpPr>
          <p:cNvPr id="12" name="Straight Connector 11">
            <a:extLst>
              <a:ext uri="{FF2B5EF4-FFF2-40B4-BE49-F238E27FC236}">
                <a16:creationId xmlns:a16="http://schemas.microsoft.com/office/drawing/2014/main" id="{9C8CA807-0774-1165-7A82-25C254E21646}"/>
              </a:ext>
            </a:extLst>
          </p:cNvPr>
          <p:cNvCxnSpPr>
            <a:cxnSpLocks/>
          </p:cNvCxnSpPr>
          <p:nvPr/>
        </p:nvCxnSpPr>
        <p:spPr>
          <a:xfrm flipV="1">
            <a:off x="1100348" y="1340074"/>
            <a:ext cx="2103339" cy="2163211"/>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3" name="Arc 12">
            <a:extLst>
              <a:ext uri="{FF2B5EF4-FFF2-40B4-BE49-F238E27FC236}">
                <a16:creationId xmlns:a16="http://schemas.microsoft.com/office/drawing/2014/main" id="{D0534EDF-779F-4912-5C25-A11D93131F28}"/>
              </a:ext>
            </a:extLst>
          </p:cNvPr>
          <p:cNvSpPr/>
          <p:nvPr/>
        </p:nvSpPr>
        <p:spPr>
          <a:xfrm rot="12206007">
            <a:off x="1662306" y="-1214966"/>
            <a:ext cx="5323993" cy="5421298"/>
          </a:xfrm>
          <a:prstGeom prst="arc">
            <a:avLst>
              <a:gd name="adj1" fmla="val 16200000"/>
              <a:gd name="adj2" fmla="val 2013298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CC0A8C8D-F768-6A07-24F7-5BED1794ACEB}"/>
              </a:ext>
            </a:extLst>
          </p:cNvPr>
          <p:cNvCxnSpPr>
            <a:cxnSpLocks/>
          </p:cNvCxnSpPr>
          <p:nvPr/>
        </p:nvCxnSpPr>
        <p:spPr>
          <a:xfrm flipH="1">
            <a:off x="1100348" y="2685806"/>
            <a:ext cx="832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A828532-C390-511F-9A04-FC4F75F73E74}"/>
              </a:ext>
            </a:extLst>
          </p:cNvPr>
          <p:cNvCxnSpPr>
            <a:cxnSpLocks/>
          </p:cNvCxnSpPr>
          <p:nvPr/>
        </p:nvCxnSpPr>
        <p:spPr>
          <a:xfrm flipH="1">
            <a:off x="1932568" y="2685807"/>
            <a:ext cx="864" cy="16711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CC5A961-4B8B-72A3-488C-5769C180DFCD}"/>
              </a:ext>
            </a:extLst>
          </p:cNvPr>
          <p:cNvCxnSpPr>
            <a:cxnSpLocks/>
          </p:cNvCxnSpPr>
          <p:nvPr/>
        </p:nvCxnSpPr>
        <p:spPr>
          <a:xfrm flipV="1">
            <a:off x="1516702" y="1836394"/>
            <a:ext cx="2014015" cy="1880614"/>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56A5CED-A624-8474-C7F6-424495D20CC2}"/>
              </a:ext>
            </a:extLst>
          </p:cNvPr>
          <p:cNvCxnSpPr>
            <a:cxnSpLocks/>
          </p:cNvCxnSpPr>
          <p:nvPr/>
        </p:nvCxnSpPr>
        <p:spPr>
          <a:xfrm flipH="1">
            <a:off x="1100348" y="3137571"/>
            <a:ext cx="1089456"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D7718E9-8897-BE39-A6FE-D24ACF963F2F}"/>
              </a:ext>
            </a:extLst>
          </p:cNvPr>
          <p:cNvCxnSpPr>
            <a:cxnSpLocks/>
          </p:cNvCxnSpPr>
          <p:nvPr/>
        </p:nvCxnSpPr>
        <p:spPr>
          <a:xfrm>
            <a:off x="2185769" y="3137571"/>
            <a:ext cx="0" cy="1219428"/>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A4043F3F-5D9F-B03E-3275-B0BABE58B9D6}"/>
              </a:ext>
            </a:extLst>
          </p:cNvPr>
          <p:cNvSpPr txBox="1"/>
          <p:nvPr/>
        </p:nvSpPr>
        <p:spPr>
          <a:xfrm>
            <a:off x="3354319" y="3832974"/>
            <a:ext cx="1419298" cy="369332"/>
          </a:xfrm>
          <a:prstGeom prst="rect">
            <a:avLst/>
          </a:prstGeom>
          <a:noFill/>
        </p:spPr>
        <p:txBody>
          <a:bodyPr wrap="square" rtlCol="0">
            <a:spAutoFit/>
          </a:bodyPr>
          <a:lstStyle/>
          <a:p>
            <a:r>
              <a:rPr lang="en-US" dirty="0"/>
              <a:t>D</a:t>
            </a:r>
            <a:r>
              <a:rPr lang="en-US" sz="1200" dirty="0"/>
              <a:t>0</a:t>
            </a:r>
            <a:endParaRPr lang="en-US" dirty="0"/>
          </a:p>
        </p:txBody>
      </p:sp>
      <p:sp>
        <p:nvSpPr>
          <p:cNvPr id="30" name="TextBox 29">
            <a:extLst>
              <a:ext uri="{FF2B5EF4-FFF2-40B4-BE49-F238E27FC236}">
                <a16:creationId xmlns:a16="http://schemas.microsoft.com/office/drawing/2014/main" id="{0B241571-8DFD-3D90-AA18-8E1EA7EF57A9}"/>
              </a:ext>
            </a:extLst>
          </p:cNvPr>
          <p:cNvSpPr txBox="1"/>
          <p:nvPr/>
        </p:nvSpPr>
        <p:spPr>
          <a:xfrm>
            <a:off x="3097321" y="981886"/>
            <a:ext cx="431118" cy="369332"/>
          </a:xfrm>
          <a:prstGeom prst="rect">
            <a:avLst/>
          </a:prstGeom>
          <a:noFill/>
        </p:spPr>
        <p:txBody>
          <a:bodyPr wrap="square" rtlCol="0">
            <a:spAutoFit/>
          </a:bodyPr>
          <a:lstStyle/>
          <a:p>
            <a:r>
              <a:rPr lang="en-US" dirty="0"/>
              <a:t>S</a:t>
            </a:r>
            <a:r>
              <a:rPr lang="en-US" sz="1200" dirty="0"/>
              <a:t>0</a:t>
            </a:r>
            <a:endParaRPr lang="en-US" dirty="0"/>
          </a:p>
        </p:txBody>
      </p:sp>
      <p:sp>
        <p:nvSpPr>
          <p:cNvPr id="32" name="Oval 31">
            <a:extLst>
              <a:ext uri="{FF2B5EF4-FFF2-40B4-BE49-F238E27FC236}">
                <a16:creationId xmlns:a16="http://schemas.microsoft.com/office/drawing/2014/main" id="{88C13A0B-50B9-9EAF-E796-EF3C0BD0CC2A}"/>
              </a:ext>
            </a:extLst>
          </p:cNvPr>
          <p:cNvSpPr/>
          <p:nvPr/>
        </p:nvSpPr>
        <p:spPr>
          <a:xfrm>
            <a:off x="1718246" y="2527784"/>
            <a:ext cx="372096" cy="3420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3" name="Oval 32">
            <a:extLst>
              <a:ext uri="{FF2B5EF4-FFF2-40B4-BE49-F238E27FC236}">
                <a16:creationId xmlns:a16="http://schemas.microsoft.com/office/drawing/2014/main" id="{470F73F1-50C2-2A1B-104B-6CAA78591D9A}"/>
              </a:ext>
            </a:extLst>
          </p:cNvPr>
          <p:cNvSpPr/>
          <p:nvPr/>
        </p:nvSpPr>
        <p:spPr>
          <a:xfrm>
            <a:off x="1969352" y="2966444"/>
            <a:ext cx="372096" cy="342005"/>
          </a:xfrm>
          <a:prstGeom prst="ellipse">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4" name="TextBox 33">
            <a:extLst>
              <a:ext uri="{FF2B5EF4-FFF2-40B4-BE49-F238E27FC236}">
                <a16:creationId xmlns:a16="http://schemas.microsoft.com/office/drawing/2014/main" id="{F885B326-50F7-07E4-81EE-780036F177DB}"/>
              </a:ext>
            </a:extLst>
          </p:cNvPr>
          <p:cNvSpPr txBox="1"/>
          <p:nvPr/>
        </p:nvSpPr>
        <p:spPr>
          <a:xfrm>
            <a:off x="5386351" y="5189778"/>
            <a:ext cx="1870679" cy="830997"/>
          </a:xfrm>
          <a:prstGeom prst="rect">
            <a:avLst/>
          </a:prstGeom>
          <a:solidFill>
            <a:schemeClr val="accent2">
              <a:lumMod val="20000"/>
              <a:lumOff val="80000"/>
            </a:schemeClr>
          </a:solidFill>
        </p:spPr>
        <p:txBody>
          <a:bodyPr wrap="square" rtlCol="0">
            <a:spAutoFit/>
          </a:bodyPr>
          <a:lstStyle/>
          <a:p>
            <a:pPr algn="ctr"/>
            <a:r>
              <a:rPr lang="en-US" sz="4400" dirty="0"/>
              <a:t> </a:t>
            </a:r>
            <a:r>
              <a:rPr lang="he-IL" sz="4400" dirty="0"/>
              <a:t>)</a:t>
            </a:r>
            <a:r>
              <a:rPr lang="en-US" sz="4800" dirty="0">
                <a:solidFill>
                  <a:srgbClr val="002060"/>
                </a:solidFill>
              </a:rPr>
              <a:t>P</a:t>
            </a:r>
            <a:r>
              <a:rPr lang="en-US" sz="4400" dirty="0"/>
              <a:t> </a:t>
            </a:r>
            <a:r>
              <a:rPr lang="he-IL" sz="4400" dirty="0"/>
              <a:t>*</a:t>
            </a:r>
            <a:r>
              <a:rPr lang="en-US" sz="4400" dirty="0"/>
              <a:t> </a:t>
            </a:r>
            <a:r>
              <a:rPr lang="en-US" sz="4400" dirty="0">
                <a:solidFill>
                  <a:schemeClr val="accent4">
                    <a:lumMod val="75000"/>
                  </a:schemeClr>
                </a:solidFill>
              </a:rPr>
              <a:t>Q</a:t>
            </a:r>
            <a:r>
              <a:rPr lang="he-IL" sz="4400" dirty="0"/>
              <a:t>(</a:t>
            </a:r>
            <a:endParaRPr lang="en-IL" dirty="0"/>
          </a:p>
        </p:txBody>
      </p:sp>
      <p:sp>
        <p:nvSpPr>
          <p:cNvPr id="35" name="TextBox 34">
            <a:extLst>
              <a:ext uri="{FF2B5EF4-FFF2-40B4-BE49-F238E27FC236}">
                <a16:creationId xmlns:a16="http://schemas.microsoft.com/office/drawing/2014/main" id="{4959B9D9-9AD1-BB96-0F23-E15858CAAC7B}"/>
              </a:ext>
            </a:extLst>
          </p:cNvPr>
          <p:cNvSpPr txBox="1"/>
          <p:nvPr/>
        </p:nvSpPr>
        <p:spPr>
          <a:xfrm>
            <a:off x="3475844" y="1593745"/>
            <a:ext cx="431118" cy="369332"/>
          </a:xfrm>
          <a:prstGeom prst="rect">
            <a:avLst/>
          </a:prstGeom>
          <a:noFill/>
        </p:spPr>
        <p:txBody>
          <a:bodyPr wrap="square" rtlCol="0">
            <a:spAutoFit/>
          </a:bodyPr>
          <a:lstStyle/>
          <a:p>
            <a:r>
              <a:rPr lang="en-US" dirty="0"/>
              <a:t>S</a:t>
            </a:r>
            <a:r>
              <a:rPr lang="en-US" sz="1200" dirty="0"/>
              <a:t>1</a:t>
            </a:r>
            <a:endParaRPr lang="en-US" dirty="0"/>
          </a:p>
        </p:txBody>
      </p:sp>
      <p:sp>
        <p:nvSpPr>
          <p:cNvPr id="36" name="Arrow: Down 35">
            <a:extLst>
              <a:ext uri="{FF2B5EF4-FFF2-40B4-BE49-F238E27FC236}">
                <a16:creationId xmlns:a16="http://schemas.microsoft.com/office/drawing/2014/main" id="{0FD88E4E-CE40-23E5-7237-A79B90F6D7E8}"/>
              </a:ext>
            </a:extLst>
          </p:cNvPr>
          <p:cNvSpPr/>
          <p:nvPr/>
        </p:nvSpPr>
        <p:spPr>
          <a:xfrm>
            <a:off x="5386351" y="4240575"/>
            <a:ext cx="1419298" cy="9152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-10</a:t>
            </a:r>
            <a:r>
              <a:rPr lang="he-IL" b="1" dirty="0"/>
              <a:t>%</a:t>
            </a:r>
            <a:endParaRPr lang="en-IL" b="1" dirty="0"/>
          </a:p>
        </p:txBody>
      </p:sp>
      <p:sp>
        <p:nvSpPr>
          <p:cNvPr id="37" name="Arrow: Up 36">
            <a:extLst>
              <a:ext uri="{FF2B5EF4-FFF2-40B4-BE49-F238E27FC236}">
                <a16:creationId xmlns:a16="http://schemas.microsoft.com/office/drawing/2014/main" id="{17DE3968-C3C2-66D0-924B-603BABA77D7F}"/>
              </a:ext>
            </a:extLst>
          </p:cNvPr>
          <p:cNvSpPr/>
          <p:nvPr/>
        </p:nvSpPr>
        <p:spPr>
          <a:xfrm>
            <a:off x="7110106" y="4222242"/>
            <a:ext cx="1944307" cy="195939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e-IL" dirty="0"/>
              <a:t>סה''כ הוצאת צרכנים עולה ב2%</a:t>
            </a:r>
            <a:endParaRPr lang="en-IL" dirty="0"/>
          </a:p>
        </p:txBody>
      </p:sp>
      <p:sp>
        <p:nvSpPr>
          <p:cNvPr id="38" name="TextBox 37">
            <a:extLst>
              <a:ext uri="{FF2B5EF4-FFF2-40B4-BE49-F238E27FC236}">
                <a16:creationId xmlns:a16="http://schemas.microsoft.com/office/drawing/2014/main" id="{631EB668-0659-1102-D847-058C10E9CEE6}"/>
              </a:ext>
            </a:extLst>
          </p:cNvPr>
          <p:cNvSpPr txBox="1"/>
          <p:nvPr/>
        </p:nvSpPr>
        <p:spPr>
          <a:xfrm>
            <a:off x="9358870" y="4658332"/>
            <a:ext cx="2176638" cy="923330"/>
          </a:xfrm>
          <a:prstGeom prst="rect">
            <a:avLst/>
          </a:prstGeom>
          <a:solidFill>
            <a:schemeClr val="accent4">
              <a:lumMod val="20000"/>
              <a:lumOff val="80000"/>
            </a:schemeClr>
          </a:solidFill>
        </p:spPr>
        <p:txBody>
          <a:bodyPr wrap="square" rtlCol="0">
            <a:spAutoFit/>
          </a:bodyPr>
          <a:lstStyle/>
          <a:p>
            <a:pPr algn="r"/>
            <a:r>
              <a:rPr lang="en-US" dirty="0"/>
              <a:t>P.N</a:t>
            </a:r>
          </a:p>
          <a:p>
            <a:pPr algn="r"/>
            <a:r>
              <a:rPr lang="he-IL" dirty="0"/>
              <a:t>נסיק שהכמות עלתה ביותר מ-10%</a:t>
            </a:r>
            <a:endParaRPr lang="en-IL" dirty="0"/>
          </a:p>
        </p:txBody>
      </p:sp>
      <p:sp>
        <p:nvSpPr>
          <p:cNvPr id="3" name="Rectangle 2">
            <a:extLst>
              <a:ext uri="{FF2B5EF4-FFF2-40B4-BE49-F238E27FC236}">
                <a16:creationId xmlns:a16="http://schemas.microsoft.com/office/drawing/2014/main" id="{3535652F-F536-7BF4-B11B-1A9BFB9D32D5}"/>
              </a:ext>
            </a:extLst>
          </p:cNvPr>
          <p:cNvSpPr/>
          <p:nvPr/>
        </p:nvSpPr>
        <p:spPr>
          <a:xfrm>
            <a:off x="5832437" y="2685806"/>
            <a:ext cx="6126480" cy="45176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1539298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circle(in)">
                                      <p:cBhvr>
                                        <p:cTn id="37" dur="2000"/>
                                        <p:tgtEl>
                                          <p:spTgt spid="33"/>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17"/>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18"/>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35"/>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4"/>
                                        </p:tgtEl>
                                        <p:attrNameLst>
                                          <p:attrName>style.visibility</p:attrName>
                                        </p:attrNameLst>
                                      </p:cBhvr>
                                      <p:to>
                                        <p:strVal val="visible"/>
                                      </p:to>
                                    </p:set>
                                    <p:animEffect transition="in" filter="fade">
                                      <p:cBhvr>
                                        <p:cTn id="50" dur="500"/>
                                        <p:tgtEl>
                                          <p:spTgt spid="34"/>
                                        </p:tgtEl>
                                      </p:cBhvr>
                                    </p:animEffect>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36"/>
                                        </p:tgtEl>
                                        <p:attrNameLst>
                                          <p:attrName>style.visibility</p:attrName>
                                        </p:attrNameLst>
                                      </p:cBhvr>
                                      <p:to>
                                        <p:strVal val="visible"/>
                                      </p:to>
                                    </p:set>
                                    <p:animEffect transition="in" filter="fade">
                                      <p:cBhvr>
                                        <p:cTn id="55" dur="1000"/>
                                        <p:tgtEl>
                                          <p:spTgt spid="36"/>
                                        </p:tgtEl>
                                      </p:cBhvr>
                                    </p:animEffect>
                                    <p:anim calcmode="lin" valueType="num">
                                      <p:cBhvr>
                                        <p:cTn id="56" dur="1000" fill="hold"/>
                                        <p:tgtEl>
                                          <p:spTgt spid="36"/>
                                        </p:tgtEl>
                                        <p:attrNameLst>
                                          <p:attrName>ppt_x</p:attrName>
                                        </p:attrNameLst>
                                      </p:cBhvr>
                                      <p:tavLst>
                                        <p:tav tm="0">
                                          <p:val>
                                            <p:strVal val="#ppt_x"/>
                                          </p:val>
                                        </p:tav>
                                        <p:tav tm="100000">
                                          <p:val>
                                            <p:strVal val="#ppt_x"/>
                                          </p:val>
                                        </p:tav>
                                      </p:tavLst>
                                    </p:anim>
                                    <p:anim calcmode="lin" valueType="num">
                                      <p:cBhvr>
                                        <p:cTn id="57"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37"/>
                                        </p:tgtEl>
                                        <p:attrNameLst>
                                          <p:attrName>style.visibility</p:attrName>
                                        </p:attrNameLst>
                                      </p:cBhvr>
                                      <p:to>
                                        <p:strVal val="visible"/>
                                      </p:to>
                                    </p:set>
                                    <p:anim calcmode="lin" valueType="num">
                                      <p:cBhvr additive="base">
                                        <p:cTn id="62" dur="500" fill="hold"/>
                                        <p:tgtEl>
                                          <p:spTgt spid="37"/>
                                        </p:tgtEl>
                                        <p:attrNameLst>
                                          <p:attrName>ppt_x</p:attrName>
                                        </p:attrNameLst>
                                      </p:cBhvr>
                                      <p:tavLst>
                                        <p:tav tm="0">
                                          <p:val>
                                            <p:strVal val="#ppt_x"/>
                                          </p:val>
                                        </p:tav>
                                        <p:tav tm="100000">
                                          <p:val>
                                            <p:strVal val="#ppt_x"/>
                                          </p:val>
                                        </p:tav>
                                      </p:tavLst>
                                    </p:anim>
                                    <p:anim calcmode="lin" valueType="num">
                                      <p:cBhvr additive="base">
                                        <p:cTn id="63"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38"/>
                                        </p:tgtEl>
                                        <p:attrNameLst>
                                          <p:attrName>style.visibility</p:attrName>
                                        </p:attrNameLst>
                                      </p:cBhvr>
                                      <p:to>
                                        <p:strVal val="visible"/>
                                      </p:to>
                                    </p:set>
                                    <p:animEffect transition="in" filter="fade">
                                      <p:cBhvr>
                                        <p:cTn id="68" dur="500"/>
                                        <p:tgtEl>
                                          <p:spTgt spid="38"/>
                                        </p:tgtEl>
                                      </p:cBhvr>
                                    </p:animEffect>
                                  </p:childTnLst>
                                </p:cTn>
                              </p:par>
                            </p:childTnLst>
                          </p:cTn>
                        </p:par>
                      </p:childTnLst>
                    </p:cTn>
                  </p:par>
                  <p:par>
                    <p:cTn id="69" fill="hold">
                      <p:stCondLst>
                        <p:cond delay="indefinite"/>
                      </p:stCondLst>
                      <p:childTnLst>
                        <p:par>
                          <p:cTn id="70" fill="hold">
                            <p:stCondLst>
                              <p:cond delay="0"/>
                            </p:stCondLst>
                            <p:childTnLst>
                              <p:par>
                                <p:cTn id="71" presetID="16" presetClass="entr" presetSubtype="21" fill="hold" grpId="0" nodeType="clickEffect">
                                  <p:stCondLst>
                                    <p:cond delay="0"/>
                                  </p:stCondLst>
                                  <p:childTnLst>
                                    <p:set>
                                      <p:cBhvr>
                                        <p:cTn id="72" dur="1" fill="hold">
                                          <p:stCondLst>
                                            <p:cond delay="0"/>
                                          </p:stCondLst>
                                        </p:cTn>
                                        <p:tgtEl>
                                          <p:spTgt spid="3"/>
                                        </p:tgtEl>
                                        <p:attrNameLst>
                                          <p:attrName>style.visibility</p:attrName>
                                        </p:attrNameLst>
                                      </p:cBhvr>
                                      <p:to>
                                        <p:strVal val="visible"/>
                                      </p:to>
                                    </p:set>
                                    <p:animEffect transition="in" filter="barn(inVertical)">
                                      <p:cBhvr>
                                        <p:cTn id="7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3" grpId="0" animBg="1"/>
      <p:bldP spid="23" grpId="0"/>
      <p:bldP spid="30" grpId="0"/>
      <p:bldP spid="32" grpId="0" animBg="1"/>
      <p:bldP spid="33" grpId="0" animBg="1"/>
      <p:bldP spid="34" grpId="0" animBg="1"/>
      <p:bldP spid="35" grpId="0"/>
      <p:bldP spid="36" grpId="0" animBg="1"/>
      <p:bldP spid="37" grpId="0" animBg="1"/>
      <p:bldP spid="38" grpId="0" animBg="1"/>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86CFC-21FB-6BDA-BA4E-162AB7AF68F4}"/>
              </a:ext>
            </a:extLst>
          </p:cNvPr>
          <p:cNvSpPr>
            <a:spLocks noGrp="1"/>
          </p:cNvSpPr>
          <p:nvPr>
            <p:ph type="title"/>
          </p:nvPr>
        </p:nvSpPr>
        <p:spPr>
          <a:xfrm>
            <a:off x="10452682" y="79899"/>
            <a:ext cx="1647738" cy="633165"/>
          </a:xfrm>
        </p:spPr>
        <p:txBody>
          <a:bodyPr>
            <a:normAutofit/>
          </a:bodyPr>
          <a:lstStyle/>
          <a:p>
            <a:pPr algn="r" rtl="1"/>
            <a:r>
              <a:rPr lang="he-IL" sz="3200" dirty="0"/>
              <a:t>שאלה 19 </a:t>
            </a:r>
            <a:endParaRPr lang="en-IL" sz="3200" dirty="0"/>
          </a:p>
        </p:txBody>
      </p:sp>
      <p:sp>
        <p:nvSpPr>
          <p:cNvPr id="3" name="TextBox 2">
            <a:extLst>
              <a:ext uri="{FF2B5EF4-FFF2-40B4-BE49-F238E27FC236}">
                <a16:creationId xmlns:a16="http://schemas.microsoft.com/office/drawing/2014/main" id="{B8E25F37-9782-DAB7-A036-79BD106F3BBC}"/>
              </a:ext>
            </a:extLst>
          </p:cNvPr>
          <p:cNvSpPr txBox="1"/>
          <p:nvPr/>
        </p:nvSpPr>
        <p:spPr>
          <a:xfrm>
            <a:off x="5710966" y="713064"/>
            <a:ext cx="6283618" cy="2432845"/>
          </a:xfrm>
          <a:prstGeom prst="rect">
            <a:avLst/>
          </a:prstGeom>
          <a:noFill/>
        </p:spPr>
        <p:txBody>
          <a:bodyPr wrap="square">
            <a:spAutoFit/>
          </a:bodyPr>
          <a:lstStyle/>
          <a:p>
            <a:pPr algn="r" rtl="1">
              <a:lnSpc>
                <a:spcPct val="150000"/>
              </a:lnSpc>
              <a:spcAft>
                <a:spcPts val="800"/>
              </a:spcAft>
            </a:pPr>
            <a:r>
              <a:rPr lang="he-IL" sz="1800" b="1" dirty="0">
                <a:effectLst/>
                <a:latin typeface="Calibri" panose="020F0502020204030204" pitchFamily="34" charset="0"/>
                <a:ea typeface="Times New Roman" panose="02020603050405020304" pitchFamily="18" charset="0"/>
                <a:cs typeface="Arial" panose="020B0604020202020204" pitchFamily="34" charset="0"/>
              </a:rPr>
              <a:t>השוק למוצר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הוא תחרותי וסגור. </a:t>
            </a:r>
            <a:endParaRPr lang="en-IL" sz="1800" dirty="0">
              <a:effectLst/>
              <a:latin typeface="Calibri" panose="020F0502020204030204" pitchFamily="34" charset="0"/>
              <a:ea typeface="Calibri" panose="020F0502020204030204" pitchFamily="34" charset="0"/>
              <a:cs typeface="Arial" panose="020B0604020202020204" pitchFamily="34" charset="0"/>
            </a:endParaRPr>
          </a:p>
          <a:p>
            <a:pPr algn="r" rtl="1">
              <a:lnSpc>
                <a:spcPct val="150000"/>
              </a:lnSpc>
              <a:spcAft>
                <a:spcPts val="800"/>
              </a:spcAft>
            </a:pPr>
            <a:r>
              <a:rPr lang="he-IL" sz="1800" b="1" dirty="0">
                <a:effectLst/>
                <a:latin typeface="Calibri" panose="020F0502020204030204" pitchFamily="34" charset="0"/>
                <a:ea typeface="Times New Roman" panose="02020603050405020304" pitchFamily="18" charset="0"/>
                <a:cs typeface="Arial" panose="020B0604020202020204" pitchFamily="34" charset="0"/>
              </a:rPr>
              <a:t>הביקוש למוצר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נתון על ידי הקשר </a:t>
            </a:r>
            <a:r>
              <a:rPr lang="en-US" sz="1800" b="1" dirty="0">
                <a:effectLst/>
                <a:latin typeface="Arial" panose="020B0604020202020204" pitchFamily="34" charset="0"/>
                <a:ea typeface="Times New Roman" panose="02020603050405020304" pitchFamily="18" charset="0"/>
                <a:cs typeface="Arial" panose="020B0604020202020204" pitchFamily="34" charset="0"/>
              </a:rPr>
              <a:t>P=100-1/2X</a:t>
            </a:r>
            <a:r>
              <a:rPr lang="he-IL" sz="1800" b="1" dirty="0">
                <a:effectLst/>
                <a:latin typeface="Calibri" panose="020F0502020204030204" pitchFamily="34" charset="0"/>
                <a:ea typeface="Times New Roman" panose="02020603050405020304" pitchFamily="18" charset="0"/>
                <a:cs typeface="Arial" panose="020B0604020202020204" pitchFamily="34" charset="0"/>
              </a:rPr>
              <a:t>  </a:t>
            </a:r>
            <a:endParaRPr lang="en-IL" sz="1800" dirty="0">
              <a:effectLst/>
              <a:latin typeface="Calibri" panose="020F0502020204030204" pitchFamily="34" charset="0"/>
              <a:ea typeface="Calibri" panose="020F0502020204030204" pitchFamily="34" charset="0"/>
              <a:cs typeface="Arial" panose="020B0604020202020204" pitchFamily="34" charset="0"/>
            </a:endParaRPr>
          </a:p>
          <a:p>
            <a:pPr algn="r" rtl="1">
              <a:lnSpc>
                <a:spcPct val="150000"/>
              </a:lnSpc>
              <a:spcAft>
                <a:spcPts val="800"/>
              </a:spcAft>
            </a:pPr>
            <a:r>
              <a:rPr lang="he-IL" sz="1800" b="1" dirty="0">
                <a:effectLst/>
                <a:latin typeface="Calibri" panose="020F0502020204030204" pitchFamily="34" charset="0"/>
                <a:ea typeface="Times New Roman" panose="02020603050405020304" pitchFamily="18" charset="0"/>
                <a:cs typeface="Arial" panose="020B0604020202020204" pitchFamily="34" charset="0"/>
              </a:rPr>
              <a:t>ההיצע למוצר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נתון על ידי הקשר </a:t>
            </a:r>
            <a:r>
              <a:rPr lang="en-US" sz="1800" b="1" dirty="0">
                <a:effectLst/>
                <a:latin typeface="Arial" panose="020B0604020202020204" pitchFamily="34" charset="0"/>
                <a:ea typeface="Times New Roman" panose="02020603050405020304" pitchFamily="18" charset="0"/>
                <a:cs typeface="Arial" panose="020B0604020202020204" pitchFamily="34" charset="0"/>
              </a:rPr>
              <a:t>P=20+1/2X </a:t>
            </a:r>
            <a:r>
              <a:rPr lang="he-IL" sz="1800" b="1" dirty="0">
                <a:effectLst/>
                <a:latin typeface="Calibri" panose="020F0502020204030204" pitchFamily="34" charset="0"/>
                <a:ea typeface="Times New Roman" panose="02020603050405020304" pitchFamily="18" charset="0"/>
                <a:cs typeface="Arial" panose="020B0604020202020204" pitchFamily="34" charset="0"/>
              </a:rPr>
              <a:t>.</a:t>
            </a:r>
            <a:endParaRPr lang="en-IL" sz="1800" dirty="0">
              <a:effectLst/>
              <a:latin typeface="Calibri" panose="020F0502020204030204" pitchFamily="34" charset="0"/>
              <a:ea typeface="Calibri" panose="020F0502020204030204" pitchFamily="34" charset="0"/>
              <a:cs typeface="Arial" panose="020B0604020202020204" pitchFamily="34" charset="0"/>
            </a:endParaRPr>
          </a:p>
          <a:p>
            <a:pPr algn="r" rtl="1">
              <a:lnSpc>
                <a:spcPct val="150000"/>
              </a:lnSpc>
              <a:spcAft>
                <a:spcPts val="800"/>
              </a:spcAft>
            </a:pPr>
            <a:r>
              <a:rPr lang="he-IL" sz="1800" b="1" dirty="0">
                <a:effectLst/>
                <a:latin typeface="Calibri" panose="020F0502020204030204" pitchFamily="34" charset="0"/>
                <a:ea typeface="Times New Roman" panose="02020603050405020304" pitchFamily="18" charset="0"/>
                <a:cs typeface="Arial" panose="020B0604020202020204" pitchFamily="34" charset="0"/>
              </a:rPr>
              <a:t>במצב המוצא אין מיסים. כעת הממשלה מחליטה להטיל על היצרנים מס של 10 ₪ על כל יחידה מיוצרת ונמכרת. כתוצאה מעליית המס:</a:t>
            </a:r>
            <a:endParaRPr lang="en-IL"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TextBox 3">
            <a:extLst>
              <a:ext uri="{FF2B5EF4-FFF2-40B4-BE49-F238E27FC236}">
                <a16:creationId xmlns:a16="http://schemas.microsoft.com/office/drawing/2014/main" id="{587A9FBA-6D48-44AD-23F7-0338D5013B1C}"/>
              </a:ext>
            </a:extLst>
          </p:cNvPr>
          <p:cNvSpPr txBox="1"/>
          <p:nvPr/>
        </p:nvSpPr>
        <p:spPr>
          <a:xfrm>
            <a:off x="5789535" y="3553620"/>
            <a:ext cx="6126480" cy="2119747"/>
          </a:xfrm>
          <a:prstGeom prst="rect">
            <a:avLst/>
          </a:prstGeom>
          <a:noFill/>
        </p:spPr>
        <p:txBody>
          <a:bodyPr wrap="square">
            <a:spAutoFit/>
          </a:bodyPr>
          <a:lstStyle/>
          <a:p>
            <a:pPr marL="342900" lvl="0" indent="-342900" algn="r" rtl="1">
              <a:lnSpc>
                <a:spcPct val="150000"/>
              </a:lnSpc>
              <a:buFont typeface="+mj-lt"/>
              <a:buAutoNum type="arabicPeriod"/>
            </a:pP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התפוקה תרד ב- 10 יחידות. </a:t>
            </a:r>
            <a:endParaRPr lang="en-IL" sz="1800" b="1"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המחיר לצרכן יעלה ב- 5 ₪ </a:t>
            </a:r>
            <a:endParaRPr lang="en-IL" sz="1800" b="1"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המחיר ליצרן ירד ב 5 ₪ </a:t>
            </a:r>
            <a:endParaRPr lang="en-IL" sz="1800" b="1"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הכנסות הממשלה ממיסים הם 700 ₪ </a:t>
            </a:r>
          </a:p>
          <a:p>
            <a:pPr marL="342900" lvl="0" indent="-342900" algn="r" rtl="1">
              <a:lnSpc>
                <a:spcPct val="150000"/>
              </a:lnSpc>
              <a:buFont typeface="+mj-lt"/>
              <a:buAutoNum type="arabicPeriod"/>
            </a:pP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כל התשובות האחרות </a:t>
            </a:r>
            <a:r>
              <a:rPr lang="he-IL" sz="1800" b="1" u="sng" dirty="0">
                <a:effectLst/>
                <a:latin typeface="Times New Roman" panose="02020603050405020304" pitchFamily="18" charset="0"/>
                <a:ea typeface="Times New Roman" panose="02020603050405020304" pitchFamily="18" charset="0"/>
                <a:cs typeface="Arial" panose="020B0604020202020204" pitchFamily="34" charset="0"/>
              </a:rPr>
              <a:t>נכונות</a:t>
            </a: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a:t>
            </a:r>
            <a:endParaRPr lang="en-IL" sz="18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085322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86CFC-21FB-6BDA-BA4E-162AB7AF68F4}"/>
              </a:ext>
            </a:extLst>
          </p:cNvPr>
          <p:cNvSpPr>
            <a:spLocks noGrp="1"/>
          </p:cNvSpPr>
          <p:nvPr>
            <p:ph type="title"/>
          </p:nvPr>
        </p:nvSpPr>
        <p:spPr>
          <a:xfrm>
            <a:off x="10452682" y="79899"/>
            <a:ext cx="1647738" cy="633165"/>
          </a:xfrm>
        </p:spPr>
        <p:txBody>
          <a:bodyPr>
            <a:normAutofit/>
          </a:bodyPr>
          <a:lstStyle/>
          <a:p>
            <a:pPr algn="r" rtl="1"/>
            <a:r>
              <a:rPr lang="he-IL" sz="3200" dirty="0"/>
              <a:t>שאלה 19 </a:t>
            </a:r>
            <a:endParaRPr lang="en-IL" sz="3200" dirty="0"/>
          </a:p>
        </p:txBody>
      </p:sp>
      <p:sp>
        <p:nvSpPr>
          <p:cNvPr id="5" name="TextBox 4">
            <a:extLst>
              <a:ext uri="{FF2B5EF4-FFF2-40B4-BE49-F238E27FC236}">
                <a16:creationId xmlns:a16="http://schemas.microsoft.com/office/drawing/2014/main" id="{85958B51-5284-67B9-7EAF-F65DCAE71E98}"/>
              </a:ext>
            </a:extLst>
          </p:cNvPr>
          <p:cNvSpPr txBox="1"/>
          <p:nvPr/>
        </p:nvSpPr>
        <p:spPr>
          <a:xfrm>
            <a:off x="5710966" y="713064"/>
            <a:ext cx="6283618" cy="2432845"/>
          </a:xfrm>
          <a:prstGeom prst="rect">
            <a:avLst/>
          </a:prstGeom>
          <a:noFill/>
        </p:spPr>
        <p:txBody>
          <a:bodyPr wrap="square">
            <a:spAutoFit/>
          </a:bodyPr>
          <a:lstStyle/>
          <a:p>
            <a:pPr algn="r" rtl="1">
              <a:lnSpc>
                <a:spcPct val="150000"/>
              </a:lnSpc>
              <a:spcAft>
                <a:spcPts val="800"/>
              </a:spcAft>
            </a:pPr>
            <a:r>
              <a:rPr lang="he-IL" sz="1800" b="1" dirty="0">
                <a:effectLst/>
                <a:latin typeface="Calibri" panose="020F0502020204030204" pitchFamily="34" charset="0"/>
                <a:ea typeface="Times New Roman" panose="02020603050405020304" pitchFamily="18" charset="0"/>
                <a:cs typeface="Arial" panose="020B0604020202020204" pitchFamily="34" charset="0"/>
              </a:rPr>
              <a:t>השוק למוצר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הוא תחרותי וסגור. </a:t>
            </a:r>
            <a:endParaRPr lang="en-IL" sz="1800" dirty="0">
              <a:effectLst/>
              <a:latin typeface="Calibri" panose="020F0502020204030204" pitchFamily="34" charset="0"/>
              <a:ea typeface="Calibri" panose="020F0502020204030204" pitchFamily="34" charset="0"/>
              <a:cs typeface="Arial" panose="020B0604020202020204" pitchFamily="34" charset="0"/>
            </a:endParaRPr>
          </a:p>
          <a:p>
            <a:pPr algn="r" rtl="1">
              <a:lnSpc>
                <a:spcPct val="150000"/>
              </a:lnSpc>
              <a:spcAft>
                <a:spcPts val="800"/>
              </a:spcAft>
            </a:pPr>
            <a:r>
              <a:rPr lang="he-IL" sz="1800" b="1" dirty="0">
                <a:effectLst/>
                <a:latin typeface="Calibri" panose="020F0502020204030204" pitchFamily="34" charset="0"/>
                <a:ea typeface="Times New Roman" panose="02020603050405020304" pitchFamily="18" charset="0"/>
                <a:cs typeface="Arial" panose="020B0604020202020204" pitchFamily="34" charset="0"/>
              </a:rPr>
              <a:t>הביקוש למוצר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נתון על ידי הקשר </a:t>
            </a:r>
            <a:r>
              <a:rPr lang="en-US" sz="1800" b="1" dirty="0">
                <a:effectLst/>
                <a:latin typeface="Arial" panose="020B0604020202020204" pitchFamily="34" charset="0"/>
                <a:ea typeface="Times New Roman" panose="02020603050405020304" pitchFamily="18" charset="0"/>
                <a:cs typeface="Arial" panose="020B0604020202020204" pitchFamily="34" charset="0"/>
              </a:rPr>
              <a:t>P=100-1/2X</a:t>
            </a:r>
            <a:r>
              <a:rPr lang="he-IL" sz="1800" b="1" dirty="0">
                <a:effectLst/>
                <a:latin typeface="Calibri" panose="020F0502020204030204" pitchFamily="34" charset="0"/>
                <a:ea typeface="Times New Roman" panose="02020603050405020304" pitchFamily="18" charset="0"/>
                <a:cs typeface="Arial" panose="020B0604020202020204" pitchFamily="34" charset="0"/>
              </a:rPr>
              <a:t>  </a:t>
            </a:r>
            <a:endParaRPr lang="en-IL" sz="1800" dirty="0">
              <a:effectLst/>
              <a:latin typeface="Calibri" panose="020F0502020204030204" pitchFamily="34" charset="0"/>
              <a:ea typeface="Calibri" panose="020F0502020204030204" pitchFamily="34" charset="0"/>
              <a:cs typeface="Arial" panose="020B0604020202020204" pitchFamily="34" charset="0"/>
            </a:endParaRPr>
          </a:p>
          <a:p>
            <a:pPr algn="r" rtl="1">
              <a:lnSpc>
                <a:spcPct val="150000"/>
              </a:lnSpc>
              <a:spcAft>
                <a:spcPts val="800"/>
              </a:spcAft>
            </a:pPr>
            <a:r>
              <a:rPr lang="he-IL" sz="1800" b="1" dirty="0">
                <a:effectLst/>
                <a:latin typeface="Calibri" panose="020F0502020204030204" pitchFamily="34" charset="0"/>
                <a:ea typeface="Times New Roman" panose="02020603050405020304" pitchFamily="18" charset="0"/>
                <a:cs typeface="Arial" panose="020B0604020202020204" pitchFamily="34" charset="0"/>
              </a:rPr>
              <a:t>ההיצע למוצר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נתון על ידי הקשר </a:t>
            </a:r>
            <a:r>
              <a:rPr lang="en-US" sz="1800" b="1" dirty="0">
                <a:effectLst/>
                <a:latin typeface="Arial" panose="020B0604020202020204" pitchFamily="34" charset="0"/>
                <a:ea typeface="Times New Roman" panose="02020603050405020304" pitchFamily="18" charset="0"/>
                <a:cs typeface="Arial" panose="020B0604020202020204" pitchFamily="34" charset="0"/>
              </a:rPr>
              <a:t>P=20+1/2X </a:t>
            </a:r>
            <a:r>
              <a:rPr lang="he-IL" sz="1800" b="1" dirty="0">
                <a:effectLst/>
                <a:latin typeface="Calibri" panose="020F0502020204030204" pitchFamily="34" charset="0"/>
                <a:ea typeface="Times New Roman" panose="02020603050405020304" pitchFamily="18" charset="0"/>
                <a:cs typeface="Arial" panose="020B0604020202020204" pitchFamily="34" charset="0"/>
              </a:rPr>
              <a:t>.</a:t>
            </a:r>
            <a:endParaRPr lang="en-IL" sz="1800" dirty="0">
              <a:effectLst/>
              <a:latin typeface="Calibri" panose="020F0502020204030204" pitchFamily="34" charset="0"/>
              <a:ea typeface="Calibri" panose="020F0502020204030204" pitchFamily="34" charset="0"/>
              <a:cs typeface="Arial" panose="020B0604020202020204" pitchFamily="34" charset="0"/>
            </a:endParaRPr>
          </a:p>
          <a:p>
            <a:pPr algn="r" rtl="1">
              <a:lnSpc>
                <a:spcPct val="150000"/>
              </a:lnSpc>
              <a:spcAft>
                <a:spcPts val="800"/>
              </a:spcAft>
            </a:pPr>
            <a:r>
              <a:rPr lang="he-IL" sz="1800" b="1" dirty="0">
                <a:effectLst/>
                <a:latin typeface="Calibri" panose="020F0502020204030204" pitchFamily="34" charset="0"/>
                <a:ea typeface="Times New Roman" panose="02020603050405020304" pitchFamily="18" charset="0"/>
                <a:cs typeface="Arial" panose="020B0604020202020204" pitchFamily="34" charset="0"/>
              </a:rPr>
              <a:t>במצב המוצא אין מיסים. כעת הממשלה מחליטה להטיל על היצרנים מס של 10 ₪ על כל יחידה מיוצרת ונמכרת. כתוצאה מעליית המס:</a:t>
            </a:r>
            <a:endParaRPr lang="en-IL"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E957C55C-F6BA-608C-DF2B-3A633E567A8E}"/>
              </a:ext>
            </a:extLst>
          </p:cNvPr>
          <p:cNvSpPr txBox="1"/>
          <p:nvPr/>
        </p:nvSpPr>
        <p:spPr>
          <a:xfrm>
            <a:off x="5789535" y="3553620"/>
            <a:ext cx="6126480" cy="2119747"/>
          </a:xfrm>
          <a:prstGeom prst="rect">
            <a:avLst/>
          </a:prstGeom>
          <a:noFill/>
        </p:spPr>
        <p:txBody>
          <a:bodyPr wrap="square">
            <a:spAutoFit/>
          </a:bodyPr>
          <a:lstStyle/>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התפוקה תרד ב- 10 יחידות. </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המחיר לצרכן יעלה ב- 5 ₪ </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המחיר ליצרן ירד ב 5 ₪ </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הכנסות הממשלה ממיסים הם 700 ₪ </a:t>
            </a: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כל התשובות האחרות </a:t>
            </a:r>
            <a:r>
              <a:rPr lang="he-IL" sz="1800" u="sng" dirty="0">
                <a:effectLst/>
                <a:latin typeface="Times New Roman" panose="02020603050405020304" pitchFamily="18" charset="0"/>
                <a:ea typeface="Times New Roman" panose="02020603050405020304" pitchFamily="18" charset="0"/>
                <a:cs typeface="Arial" panose="020B0604020202020204" pitchFamily="34" charset="0"/>
              </a:rPr>
              <a:t>נכונות</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a:t>
            </a:r>
            <a:endParaRPr lang="en-IL" sz="1800" dirty="0">
              <a:effectLst/>
              <a:latin typeface="Times New Roman" panose="02020603050405020304" pitchFamily="18" charset="0"/>
              <a:ea typeface="Times New Roman" panose="02020603050405020304" pitchFamily="18" charset="0"/>
            </a:endParaRPr>
          </a:p>
        </p:txBody>
      </p:sp>
      <p:sp>
        <p:nvSpPr>
          <p:cNvPr id="3" name="TextBox 2">
            <a:extLst>
              <a:ext uri="{FF2B5EF4-FFF2-40B4-BE49-F238E27FC236}">
                <a16:creationId xmlns:a16="http://schemas.microsoft.com/office/drawing/2014/main" id="{A65DC860-16F3-08E9-5FD7-5A7529592A82}"/>
              </a:ext>
            </a:extLst>
          </p:cNvPr>
          <p:cNvSpPr txBox="1"/>
          <p:nvPr/>
        </p:nvSpPr>
        <p:spPr>
          <a:xfrm>
            <a:off x="4141797" y="305353"/>
            <a:ext cx="1647738" cy="369332"/>
          </a:xfrm>
          <a:prstGeom prst="rect">
            <a:avLst/>
          </a:prstGeom>
          <a:solidFill>
            <a:schemeClr val="bg1">
              <a:lumMod val="95000"/>
            </a:schemeClr>
          </a:solidFill>
        </p:spPr>
        <p:txBody>
          <a:bodyPr wrap="square" rtlCol="0">
            <a:spAutoFit/>
          </a:bodyPr>
          <a:lstStyle/>
          <a:p>
            <a:pPr algn="r" rtl="1"/>
            <a:r>
              <a:rPr lang="he-IL" dirty="0"/>
              <a:t>במצב המוצא:</a:t>
            </a:r>
            <a:endParaRPr lang="en-IL" dirty="0"/>
          </a:p>
        </p:txBody>
      </p:sp>
      <p:sp>
        <p:nvSpPr>
          <p:cNvPr id="6" name="TextBox 5">
            <a:extLst>
              <a:ext uri="{FF2B5EF4-FFF2-40B4-BE49-F238E27FC236}">
                <a16:creationId xmlns:a16="http://schemas.microsoft.com/office/drawing/2014/main" id="{AA763035-CB9F-33C3-1CC8-AA2C82D28363}"/>
              </a:ext>
            </a:extLst>
          </p:cNvPr>
          <p:cNvSpPr txBox="1"/>
          <p:nvPr/>
        </p:nvSpPr>
        <p:spPr>
          <a:xfrm>
            <a:off x="970671" y="305353"/>
            <a:ext cx="2397696" cy="400110"/>
          </a:xfrm>
          <a:prstGeom prst="rect">
            <a:avLst/>
          </a:prstGeom>
          <a:solidFill>
            <a:schemeClr val="bg1">
              <a:lumMod val="95000"/>
            </a:schemeClr>
          </a:solidFill>
        </p:spPr>
        <p:txBody>
          <a:bodyPr wrap="square" rtlCol="0">
            <a:spAutoFit/>
          </a:bodyPr>
          <a:lstStyle/>
          <a:p>
            <a:pPr algn="r" rtl="1"/>
            <a:r>
              <a:rPr lang="en-US" sz="2000" dirty="0"/>
              <a:t>P=100-0.5X =20+0.5X</a:t>
            </a:r>
            <a:endParaRPr lang="en-IL" sz="2000" dirty="0"/>
          </a:p>
        </p:txBody>
      </p:sp>
      <p:sp>
        <p:nvSpPr>
          <p:cNvPr id="8" name="TextBox 7">
            <a:extLst>
              <a:ext uri="{FF2B5EF4-FFF2-40B4-BE49-F238E27FC236}">
                <a16:creationId xmlns:a16="http://schemas.microsoft.com/office/drawing/2014/main" id="{0F98AFFB-7408-FBC2-38B0-FB30C4FBC9B6}"/>
              </a:ext>
            </a:extLst>
          </p:cNvPr>
          <p:cNvSpPr txBox="1"/>
          <p:nvPr/>
        </p:nvSpPr>
        <p:spPr>
          <a:xfrm>
            <a:off x="3957392" y="1744820"/>
            <a:ext cx="1647738" cy="369332"/>
          </a:xfrm>
          <a:prstGeom prst="rect">
            <a:avLst/>
          </a:prstGeom>
          <a:solidFill>
            <a:srgbClr val="FAE8FC"/>
          </a:solidFill>
        </p:spPr>
        <p:txBody>
          <a:bodyPr wrap="square" rtlCol="0">
            <a:spAutoFit/>
          </a:bodyPr>
          <a:lstStyle/>
          <a:p>
            <a:pPr algn="r" rtl="1"/>
            <a:r>
              <a:rPr lang="he-IL" dirty="0"/>
              <a:t>במצב החדש:</a:t>
            </a:r>
            <a:endParaRPr lang="en-IL" dirty="0"/>
          </a:p>
        </p:txBody>
      </p:sp>
      <p:sp>
        <p:nvSpPr>
          <p:cNvPr id="11" name="TextBox 10">
            <a:extLst>
              <a:ext uri="{FF2B5EF4-FFF2-40B4-BE49-F238E27FC236}">
                <a16:creationId xmlns:a16="http://schemas.microsoft.com/office/drawing/2014/main" id="{4FCFBAFF-ED9B-554C-68D0-A47DB5E00155}"/>
              </a:ext>
            </a:extLst>
          </p:cNvPr>
          <p:cNvSpPr txBox="1"/>
          <p:nvPr/>
        </p:nvSpPr>
        <p:spPr>
          <a:xfrm>
            <a:off x="980050" y="1032184"/>
            <a:ext cx="2397696" cy="400110"/>
          </a:xfrm>
          <a:prstGeom prst="rect">
            <a:avLst/>
          </a:prstGeom>
          <a:solidFill>
            <a:schemeClr val="bg1">
              <a:lumMod val="95000"/>
            </a:schemeClr>
          </a:solidFill>
        </p:spPr>
        <p:txBody>
          <a:bodyPr wrap="square" rtlCol="0">
            <a:spAutoFit/>
          </a:bodyPr>
          <a:lstStyle/>
          <a:p>
            <a:pPr algn="r" rtl="1"/>
            <a:r>
              <a:rPr lang="en-US" sz="2000" dirty="0"/>
              <a:t>80 =X, P=60</a:t>
            </a:r>
            <a:endParaRPr lang="en-IL" sz="2000" dirty="0"/>
          </a:p>
        </p:txBody>
      </p:sp>
      <p:sp>
        <p:nvSpPr>
          <p:cNvPr id="12" name="TextBox 11">
            <a:extLst>
              <a:ext uri="{FF2B5EF4-FFF2-40B4-BE49-F238E27FC236}">
                <a16:creationId xmlns:a16="http://schemas.microsoft.com/office/drawing/2014/main" id="{BF085725-A87C-547B-3DA8-93D90C5FFE9C}"/>
              </a:ext>
            </a:extLst>
          </p:cNvPr>
          <p:cNvSpPr txBox="1"/>
          <p:nvPr/>
        </p:nvSpPr>
        <p:spPr>
          <a:xfrm>
            <a:off x="943123" y="1691447"/>
            <a:ext cx="2397696" cy="400110"/>
          </a:xfrm>
          <a:prstGeom prst="rect">
            <a:avLst/>
          </a:prstGeom>
          <a:solidFill>
            <a:srgbClr val="FAE8FC"/>
          </a:solidFill>
        </p:spPr>
        <p:txBody>
          <a:bodyPr wrap="square" rtlCol="0">
            <a:spAutoFit/>
          </a:bodyPr>
          <a:lstStyle/>
          <a:p>
            <a:pPr algn="r" rtl="1"/>
            <a:r>
              <a:rPr lang="en-US" sz="2000" dirty="0"/>
              <a:t>P=100-0.5X =</a:t>
            </a:r>
            <a:r>
              <a:rPr lang="en-US" sz="2000" b="1" dirty="0">
                <a:solidFill>
                  <a:srgbClr val="C00000"/>
                </a:solidFill>
              </a:rPr>
              <a:t>30</a:t>
            </a:r>
            <a:r>
              <a:rPr lang="en-US" sz="2000" dirty="0"/>
              <a:t>+0.5X</a:t>
            </a:r>
            <a:endParaRPr lang="en-IL" sz="2000" dirty="0"/>
          </a:p>
        </p:txBody>
      </p:sp>
      <p:sp>
        <p:nvSpPr>
          <p:cNvPr id="13" name="TextBox 12">
            <a:extLst>
              <a:ext uri="{FF2B5EF4-FFF2-40B4-BE49-F238E27FC236}">
                <a16:creationId xmlns:a16="http://schemas.microsoft.com/office/drawing/2014/main" id="{2C59E0A1-462F-69CF-6620-331772E46737}"/>
              </a:ext>
            </a:extLst>
          </p:cNvPr>
          <p:cNvSpPr txBox="1"/>
          <p:nvPr/>
        </p:nvSpPr>
        <p:spPr>
          <a:xfrm>
            <a:off x="1619250" y="2306838"/>
            <a:ext cx="1045441" cy="400110"/>
          </a:xfrm>
          <a:prstGeom prst="rect">
            <a:avLst/>
          </a:prstGeom>
          <a:solidFill>
            <a:srgbClr val="FAE8FC"/>
          </a:solidFill>
        </p:spPr>
        <p:txBody>
          <a:bodyPr wrap="square" rtlCol="0">
            <a:spAutoFit/>
          </a:bodyPr>
          <a:lstStyle/>
          <a:p>
            <a:pPr algn="r" rtl="1"/>
            <a:r>
              <a:rPr lang="en-US" sz="2000" dirty="0"/>
              <a:t>70 =X</a:t>
            </a:r>
            <a:endParaRPr lang="en-IL" sz="2000" dirty="0"/>
          </a:p>
        </p:txBody>
      </p:sp>
      <p:sp>
        <p:nvSpPr>
          <p:cNvPr id="14" name="TextBox 13">
            <a:extLst>
              <a:ext uri="{FF2B5EF4-FFF2-40B4-BE49-F238E27FC236}">
                <a16:creationId xmlns:a16="http://schemas.microsoft.com/office/drawing/2014/main" id="{82FEE862-5BAA-CE77-2AF4-947D28E4FA7F}"/>
              </a:ext>
            </a:extLst>
          </p:cNvPr>
          <p:cNvSpPr txBox="1"/>
          <p:nvPr/>
        </p:nvSpPr>
        <p:spPr>
          <a:xfrm>
            <a:off x="943123" y="2979189"/>
            <a:ext cx="1903987" cy="707886"/>
          </a:xfrm>
          <a:prstGeom prst="rect">
            <a:avLst/>
          </a:prstGeom>
          <a:solidFill>
            <a:srgbClr val="FAE8FC"/>
          </a:solidFill>
        </p:spPr>
        <p:txBody>
          <a:bodyPr wrap="square" rtlCol="0">
            <a:spAutoFit/>
          </a:bodyPr>
          <a:lstStyle/>
          <a:p>
            <a:pPr algn="l"/>
            <a:r>
              <a:rPr lang="en-US" sz="2000" dirty="0"/>
              <a:t>P</a:t>
            </a:r>
            <a:r>
              <a:rPr lang="he-IL" sz="2000" dirty="0"/>
              <a:t>צרכן</a:t>
            </a:r>
            <a:r>
              <a:rPr lang="en-US" sz="2000" dirty="0"/>
              <a:t>=100-0.5X =100-35</a:t>
            </a:r>
            <a:r>
              <a:rPr lang="en-US" sz="2000" b="1" dirty="0"/>
              <a:t>=65</a:t>
            </a:r>
            <a:endParaRPr lang="en-IL" sz="2000" dirty="0"/>
          </a:p>
        </p:txBody>
      </p:sp>
      <p:sp>
        <p:nvSpPr>
          <p:cNvPr id="15" name="TextBox 14">
            <a:extLst>
              <a:ext uri="{FF2B5EF4-FFF2-40B4-BE49-F238E27FC236}">
                <a16:creationId xmlns:a16="http://schemas.microsoft.com/office/drawing/2014/main" id="{A2C0E29F-4527-E9FC-F29D-CCC69482E2F6}"/>
              </a:ext>
            </a:extLst>
          </p:cNvPr>
          <p:cNvSpPr txBox="1"/>
          <p:nvPr/>
        </p:nvSpPr>
        <p:spPr>
          <a:xfrm>
            <a:off x="5605130" y="3884486"/>
            <a:ext cx="1686432" cy="400110"/>
          </a:xfrm>
          <a:prstGeom prst="rect">
            <a:avLst/>
          </a:prstGeom>
          <a:solidFill>
            <a:srgbClr val="FAE8FC"/>
          </a:solidFill>
        </p:spPr>
        <p:txBody>
          <a:bodyPr wrap="square" rtlCol="0">
            <a:spAutoFit/>
          </a:bodyPr>
          <a:lstStyle/>
          <a:p>
            <a:pPr algn="r" rtl="1"/>
            <a:r>
              <a:rPr lang="he-IL" sz="2000" dirty="0"/>
              <a:t>דרך נוספת:</a:t>
            </a:r>
            <a:endParaRPr lang="en-IL" sz="2000" dirty="0"/>
          </a:p>
        </p:txBody>
      </p:sp>
      <p:sp>
        <p:nvSpPr>
          <p:cNvPr id="16" name="TextBox 15">
            <a:extLst>
              <a:ext uri="{FF2B5EF4-FFF2-40B4-BE49-F238E27FC236}">
                <a16:creationId xmlns:a16="http://schemas.microsoft.com/office/drawing/2014/main" id="{C27D0D4F-3944-3001-A9DE-A58E64CEE693}"/>
              </a:ext>
            </a:extLst>
          </p:cNvPr>
          <p:cNvSpPr txBox="1"/>
          <p:nvPr/>
        </p:nvSpPr>
        <p:spPr>
          <a:xfrm>
            <a:off x="3582413" y="2950437"/>
            <a:ext cx="1903987" cy="707886"/>
          </a:xfrm>
          <a:prstGeom prst="rect">
            <a:avLst/>
          </a:prstGeom>
          <a:solidFill>
            <a:srgbClr val="FAE8FC"/>
          </a:solidFill>
        </p:spPr>
        <p:txBody>
          <a:bodyPr wrap="square" rtlCol="0">
            <a:spAutoFit/>
          </a:bodyPr>
          <a:lstStyle/>
          <a:p>
            <a:r>
              <a:rPr lang="en-US" sz="2000" dirty="0"/>
              <a:t>P</a:t>
            </a:r>
            <a:r>
              <a:rPr lang="he-IL" sz="2000" dirty="0"/>
              <a:t>יצרן</a:t>
            </a:r>
            <a:r>
              <a:rPr lang="en-US" sz="2000" dirty="0"/>
              <a:t>= 20+0.5X =</a:t>
            </a:r>
            <a:endParaRPr lang="he-IL" sz="2000" dirty="0"/>
          </a:p>
          <a:p>
            <a:r>
              <a:rPr lang="en-US" sz="2000" dirty="0"/>
              <a:t>P</a:t>
            </a:r>
            <a:r>
              <a:rPr lang="he-IL" sz="2000" dirty="0"/>
              <a:t>יצרן</a:t>
            </a:r>
            <a:r>
              <a:rPr lang="en-US" sz="2000" dirty="0"/>
              <a:t>= 20+35</a:t>
            </a:r>
            <a:r>
              <a:rPr lang="en-US" sz="2000" b="1" dirty="0"/>
              <a:t>=55</a:t>
            </a:r>
            <a:endParaRPr lang="en-IL" sz="2000" dirty="0"/>
          </a:p>
        </p:txBody>
      </p:sp>
      <p:sp>
        <p:nvSpPr>
          <p:cNvPr id="17" name="TextBox 16">
            <a:extLst>
              <a:ext uri="{FF2B5EF4-FFF2-40B4-BE49-F238E27FC236}">
                <a16:creationId xmlns:a16="http://schemas.microsoft.com/office/drawing/2014/main" id="{D95F1472-DFF4-305A-CF70-13FF11E46016}"/>
              </a:ext>
            </a:extLst>
          </p:cNvPr>
          <p:cNvSpPr txBox="1"/>
          <p:nvPr/>
        </p:nvSpPr>
        <p:spPr>
          <a:xfrm>
            <a:off x="3582412" y="3884486"/>
            <a:ext cx="1903987" cy="707886"/>
          </a:xfrm>
          <a:prstGeom prst="rect">
            <a:avLst/>
          </a:prstGeom>
          <a:solidFill>
            <a:srgbClr val="FAE8FC"/>
          </a:solidFill>
        </p:spPr>
        <p:txBody>
          <a:bodyPr wrap="square" rtlCol="0">
            <a:spAutoFit/>
          </a:bodyPr>
          <a:lstStyle/>
          <a:p>
            <a:r>
              <a:rPr lang="en-US" sz="2000" dirty="0"/>
              <a:t>P</a:t>
            </a:r>
            <a:r>
              <a:rPr lang="he-IL" sz="2000" dirty="0"/>
              <a:t>יצרן</a:t>
            </a:r>
            <a:r>
              <a:rPr lang="en-US" sz="2000" dirty="0"/>
              <a:t>= P</a:t>
            </a:r>
            <a:r>
              <a:rPr lang="he-IL" sz="2000" dirty="0"/>
              <a:t>צרכן</a:t>
            </a:r>
            <a:r>
              <a:rPr lang="en-US" sz="2000" dirty="0"/>
              <a:t> - t</a:t>
            </a:r>
            <a:endParaRPr lang="he-IL" sz="2000" dirty="0"/>
          </a:p>
          <a:p>
            <a:r>
              <a:rPr lang="en-US" sz="2000" dirty="0"/>
              <a:t>P</a:t>
            </a:r>
            <a:r>
              <a:rPr lang="he-IL" sz="2000" dirty="0"/>
              <a:t>יצרן</a:t>
            </a:r>
            <a:r>
              <a:rPr lang="en-US" sz="2000" dirty="0"/>
              <a:t>= 65-10</a:t>
            </a:r>
            <a:r>
              <a:rPr lang="en-US" sz="2000" b="1" dirty="0"/>
              <a:t>=55</a:t>
            </a:r>
            <a:endParaRPr lang="en-IL" sz="2000" dirty="0"/>
          </a:p>
        </p:txBody>
      </p:sp>
      <p:sp>
        <p:nvSpPr>
          <p:cNvPr id="4" name="Rectangle 3">
            <a:extLst>
              <a:ext uri="{FF2B5EF4-FFF2-40B4-BE49-F238E27FC236}">
                <a16:creationId xmlns:a16="http://schemas.microsoft.com/office/drawing/2014/main" id="{4ACE3F5C-B7A0-833D-268F-21E448F01829}"/>
              </a:ext>
            </a:extLst>
          </p:cNvPr>
          <p:cNvSpPr/>
          <p:nvPr/>
        </p:nvSpPr>
        <p:spPr>
          <a:xfrm>
            <a:off x="8494643" y="5221602"/>
            <a:ext cx="3421372" cy="45176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2183158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1" fill="hold" grpId="0" nodeType="clickEffect">
                                  <p:stCondLst>
                                    <p:cond delay="0"/>
                                  </p:stCondLst>
                                  <p:childTnLst>
                                    <p:set>
                                      <p:cBhvr>
                                        <p:cTn id="56" dur="1" fill="hold">
                                          <p:stCondLst>
                                            <p:cond delay="0"/>
                                          </p:stCondLst>
                                        </p:cTn>
                                        <p:tgtEl>
                                          <p:spTgt spid="4"/>
                                        </p:tgtEl>
                                        <p:attrNameLst>
                                          <p:attrName>style.visibility</p:attrName>
                                        </p:attrNameLst>
                                      </p:cBhvr>
                                      <p:to>
                                        <p:strVal val="visible"/>
                                      </p:to>
                                    </p:set>
                                    <p:animEffect transition="in" filter="barn(inVertical)">
                                      <p:cBhvr>
                                        <p:cTn id="5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8" grpId="0" animBg="1"/>
      <p:bldP spid="11" grpId="0" animBg="1"/>
      <p:bldP spid="12" grpId="0" animBg="1"/>
      <p:bldP spid="13" grpId="0" animBg="1"/>
      <p:bldP spid="14" grpId="0" animBg="1"/>
      <p:bldP spid="15" grpId="0" animBg="1"/>
      <p:bldP spid="16" grpId="0" animBg="1"/>
      <p:bldP spid="17" grpId="0" animBg="1"/>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86CFC-21FB-6BDA-BA4E-162AB7AF68F4}"/>
              </a:ext>
            </a:extLst>
          </p:cNvPr>
          <p:cNvSpPr>
            <a:spLocks noGrp="1"/>
          </p:cNvSpPr>
          <p:nvPr>
            <p:ph type="title"/>
          </p:nvPr>
        </p:nvSpPr>
        <p:spPr>
          <a:xfrm>
            <a:off x="10452682" y="79899"/>
            <a:ext cx="1647738" cy="633165"/>
          </a:xfrm>
        </p:spPr>
        <p:txBody>
          <a:bodyPr>
            <a:normAutofit/>
          </a:bodyPr>
          <a:lstStyle/>
          <a:p>
            <a:pPr algn="r" rtl="1"/>
            <a:r>
              <a:rPr lang="he-IL" sz="3200" dirty="0"/>
              <a:t>שאלה 18 </a:t>
            </a:r>
            <a:endParaRPr lang="en-IL" sz="3200" dirty="0"/>
          </a:p>
        </p:txBody>
      </p:sp>
      <p:sp>
        <p:nvSpPr>
          <p:cNvPr id="5" name="TextBox 4">
            <a:extLst>
              <a:ext uri="{FF2B5EF4-FFF2-40B4-BE49-F238E27FC236}">
                <a16:creationId xmlns:a16="http://schemas.microsoft.com/office/drawing/2014/main" id="{85958B51-5284-67B9-7EAF-F65DCAE71E98}"/>
              </a:ext>
            </a:extLst>
          </p:cNvPr>
          <p:cNvSpPr txBox="1"/>
          <p:nvPr/>
        </p:nvSpPr>
        <p:spPr>
          <a:xfrm>
            <a:off x="4284132" y="174765"/>
            <a:ext cx="6168550" cy="1887696"/>
          </a:xfrm>
          <a:prstGeom prst="rect">
            <a:avLst/>
          </a:prstGeom>
          <a:noFill/>
        </p:spPr>
        <p:txBody>
          <a:bodyPr wrap="square">
            <a:spAutoFit/>
          </a:bodyPr>
          <a:lstStyle/>
          <a:p>
            <a:pPr algn="r" rtl="1">
              <a:spcAft>
                <a:spcPts val="800"/>
              </a:spcAft>
            </a:pPr>
            <a:r>
              <a:rPr lang="he-IL" sz="1800" dirty="0">
                <a:effectLst/>
                <a:latin typeface="Calibri" panose="020F0502020204030204" pitchFamily="34" charset="0"/>
                <a:ea typeface="Times New Roman" panose="02020603050405020304" pitchFamily="18" charset="0"/>
                <a:cs typeface="Arial" panose="020B0604020202020204" pitchFamily="34" charset="0"/>
              </a:rPr>
              <a:t>השוק למוצר </a:t>
            </a:r>
            <a:r>
              <a:rPr lang="en-US" sz="1800" dirty="0">
                <a:effectLst/>
                <a:latin typeface="Arial" panose="020B0604020202020204" pitchFamily="34" charset="0"/>
                <a:ea typeface="Times New Roman" panose="02020603050405020304" pitchFamily="18" charset="0"/>
                <a:cs typeface="Arial" panose="020B0604020202020204" pitchFamily="34" charset="0"/>
              </a:rPr>
              <a:t>X</a:t>
            </a:r>
            <a:r>
              <a:rPr lang="he-IL" sz="1800" dirty="0">
                <a:effectLst/>
                <a:latin typeface="Calibri" panose="020F0502020204030204" pitchFamily="34" charset="0"/>
                <a:ea typeface="Times New Roman" panose="02020603050405020304" pitchFamily="18" charset="0"/>
                <a:cs typeface="Arial" panose="020B0604020202020204" pitchFamily="34" charset="0"/>
              </a:rPr>
              <a:t> תחרותי. בשוק למוצר </a:t>
            </a:r>
            <a:r>
              <a:rPr lang="en-US" sz="1800" dirty="0">
                <a:effectLst/>
                <a:latin typeface="Arial" panose="020B0604020202020204" pitchFamily="34" charset="0"/>
                <a:ea typeface="Times New Roman" panose="02020603050405020304" pitchFamily="18" charset="0"/>
                <a:cs typeface="Arial" panose="020B0604020202020204" pitchFamily="34" charset="0"/>
              </a:rPr>
              <a:t>X</a:t>
            </a:r>
            <a:r>
              <a:rPr lang="he-IL" sz="1800" dirty="0">
                <a:effectLst/>
                <a:latin typeface="Calibri" panose="020F0502020204030204" pitchFamily="34" charset="0"/>
                <a:ea typeface="Times New Roman" panose="02020603050405020304" pitchFamily="18" charset="0"/>
                <a:cs typeface="Arial" panose="020B0604020202020204" pitchFamily="34" charset="0"/>
              </a:rPr>
              <a:t> יש שני סוגים של יצרנים:</a:t>
            </a:r>
            <a:endParaRPr lang="en-IL" sz="1800" dirty="0">
              <a:effectLst/>
              <a:latin typeface="Calibri" panose="020F0502020204030204" pitchFamily="34" charset="0"/>
              <a:ea typeface="Calibri" panose="020F0502020204030204" pitchFamily="34" charset="0"/>
              <a:cs typeface="Arial" panose="020B0604020202020204" pitchFamily="34" charset="0"/>
            </a:endParaRPr>
          </a:p>
          <a:p>
            <a:pPr algn="r" rtl="1">
              <a:spcAft>
                <a:spcPts val="800"/>
              </a:spcAft>
            </a:pPr>
            <a:r>
              <a:rPr lang="he-IL" sz="1800" dirty="0">
                <a:effectLst/>
                <a:latin typeface="Calibri" panose="020F0502020204030204" pitchFamily="34" charset="0"/>
                <a:ea typeface="Times New Roman" panose="02020603050405020304" pitchFamily="18" charset="0"/>
                <a:cs typeface="Arial" panose="020B0604020202020204" pitchFamily="34" charset="0"/>
              </a:rPr>
              <a:t> יצרנים שמשתמשים בחומר גלם </a:t>
            </a:r>
            <a:r>
              <a:rPr lang="en-US" sz="1800" dirty="0">
                <a:effectLst/>
                <a:latin typeface="Arial" panose="020B0604020202020204" pitchFamily="34" charset="0"/>
                <a:ea typeface="Times New Roman" panose="02020603050405020304" pitchFamily="18" charset="0"/>
                <a:cs typeface="Arial" panose="020B0604020202020204" pitchFamily="34" charset="0"/>
              </a:rPr>
              <a:t>A</a:t>
            </a:r>
            <a:r>
              <a:rPr lang="he-IL" sz="1800" dirty="0">
                <a:effectLst/>
                <a:latin typeface="Calibri" panose="020F0502020204030204" pitchFamily="34" charset="0"/>
                <a:ea typeface="Times New Roman" panose="02020603050405020304" pitchFamily="18" charset="0"/>
                <a:cs typeface="Arial" panose="020B0604020202020204" pitchFamily="34" charset="0"/>
              </a:rPr>
              <a:t> ,</a:t>
            </a:r>
            <a:endParaRPr lang="en-IL" sz="1800" dirty="0">
              <a:effectLst/>
              <a:latin typeface="Calibri" panose="020F0502020204030204" pitchFamily="34" charset="0"/>
              <a:ea typeface="Calibri" panose="020F0502020204030204" pitchFamily="34" charset="0"/>
              <a:cs typeface="Arial" panose="020B0604020202020204" pitchFamily="34" charset="0"/>
            </a:endParaRPr>
          </a:p>
          <a:p>
            <a:pPr algn="r" rtl="1">
              <a:spcAft>
                <a:spcPts val="800"/>
              </a:spcAft>
            </a:pPr>
            <a:r>
              <a:rPr lang="he-IL" sz="1800" dirty="0">
                <a:effectLst/>
                <a:latin typeface="Calibri" panose="020F0502020204030204" pitchFamily="34" charset="0"/>
                <a:ea typeface="Times New Roman" panose="02020603050405020304" pitchFamily="18" charset="0"/>
                <a:cs typeface="Arial" panose="020B0604020202020204" pitchFamily="34" charset="0"/>
              </a:rPr>
              <a:t>ויצרנים שמשתמשים בחומר גלם </a:t>
            </a:r>
            <a:r>
              <a:rPr lang="en-US" sz="1800" dirty="0">
                <a:effectLst/>
                <a:latin typeface="Arial" panose="020B0604020202020204" pitchFamily="34" charset="0"/>
                <a:ea typeface="Times New Roman" panose="02020603050405020304" pitchFamily="18" charset="0"/>
                <a:cs typeface="Arial" panose="020B0604020202020204" pitchFamily="34" charset="0"/>
              </a:rPr>
              <a:t>B</a:t>
            </a:r>
            <a:r>
              <a:rPr lang="he-IL" sz="1800" dirty="0">
                <a:effectLst/>
                <a:latin typeface="Calibri" panose="020F0502020204030204" pitchFamily="34" charset="0"/>
                <a:ea typeface="Times New Roman" panose="02020603050405020304" pitchFamily="18" charset="0"/>
                <a:cs typeface="Arial" panose="020B0604020202020204" pitchFamily="34" charset="0"/>
              </a:rPr>
              <a:t>. </a:t>
            </a:r>
            <a:endParaRPr lang="en-IL" sz="1800" dirty="0">
              <a:effectLst/>
              <a:latin typeface="Calibri" panose="020F0502020204030204" pitchFamily="34" charset="0"/>
              <a:ea typeface="Calibri" panose="020F0502020204030204" pitchFamily="34" charset="0"/>
              <a:cs typeface="Arial" panose="020B0604020202020204" pitchFamily="34" charset="0"/>
            </a:endParaRPr>
          </a:p>
          <a:p>
            <a:pPr algn="r" rtl="1">
              <a:spcAft>
                <a:spcPts val="800"/>
              </a:spcAft>
            </a:pPr>
            <a:r>
              <a:rPr lang="he-IL" sz="1800" dirty="0">
                <a:effectLst/>
                <a:latin typeface="Calibri" panose="020F0502020204030204" pitchFamily="34" charset="0"/>
                <a:ea typeface="Times New Roman" panose="02020603050405020304" pitchFamily="18" charset="0"/>
                <a:cs typeface="Arial" panose="020B0604020202020204" pitchFamily="34" charset="0"/>
              </a:rPr>
              <a:t>עקומת הביקוש למוצר </a:t>
            </a:r>
            <a:r>
              <a:rPr lang="en-US" sz="1800" dirty="0">
                <a:effectLst/>
                <a:latin typeface="Arial" panose="020B0604020202020204" pitchFamily="34" charset="0"/>
                <a:ea typeface="Times New Roman" panose="02020603050405020304" pitchFamily="18" charset="0"/>
                <a:cs typeface="Arial" panose="020B0604020202020204" pitchFamily="34" charset="0"/>
              </a:rPr>
              <a:t>X</a:t>
            </a:r>
            <a:r>
              <a:rPr lang="he-IL" sz="1800" dirty="0">
                <a:effectLst/>
                <a:latin typeface="Calibri" panose="020F0502020204030204" pitchFamily="34" charset="0"/>
                <a:ea typeface="Times New Roman" panose="02020603050405020304" pitchFamily="18" charset="0"/>
                <a:cs typeface="Arial" panose="020B0604020202020204" pitchFamily="34" charset="0"/>
              </a:rPr>
              <a:t> יורדת משמאל לימין.</a:t>
            </a:r>
            <a:endParaRPr lang="en-IL" sz="1800" dirty="0">
              <a:effectLst/>
              <a:latin typeface="Calibri" panose="020F0502020204030204" pitchFamily="34" charset="0"/>
              <a:ea typeface="Calibri" panose="020F0502020204030204" pitchFamily="34" charset="0"/>
              <a:cs typeface="Arial" panose="020B0604020202020204" pitchFamily="34" charset="0"/>
            </a:endParaRPr>
          </a:p>
          <a:p>
            <a:pPr algn="r" rtl="1">
              <a:spcAft>
                <a:spcPts val="800"/>
              </a:spcAft>
            </a:pPr>
            <a:r>
              <a:rPr lang="he-IL" sz="1800" b="1" dirty="0">
                <a:effectLst/>
                <a:latin typeface="Calibri" panose="020F0502020204030204" pitchFamily="34" charset="0"/>
                <a:ea typeface="Times New Roman" panose="02020603050405020304" pitchFamily="18" charset="0"/>
                <a:cs typeface="Arial" panose="020B0604020202020204" pitchFamily="34" charset="0"/>
              </a:rPr>
              <a:t>חומר גלם </a:t>
            </a:r>
            <a:r>
              <a:rPr lang="en-US" sz="1800" b="1" dirty="0">
                <a:effectLst/>
                <a:latin typeface="Arial" panose="020B0604020202020204" pitchFamily="34" charset="0"/>
                <a:ea typeface="Times New Roman" panose="02020603050405020304" pitchFamily="18" charset="0"/>
                <a:cs typeface="Arial" panose="020B0604020202020204" pitchFamily="34" charset="0"/>
              </a:rPr>
              <a:t>A</a:t>
            </a:r>
            <a:r>
              <a:rPr lang="he-IL" sz="1800" b="1" dirty="0">
                <a:effectLst/>
                <a:latin typeface="Calibri" panose="020F0502020204030204" pitchFamily="34" charset="0"/>
                <a:ea typeface="Times New Roman" panose="02020603050405020304" pitchFamily="18" charset="0"/>
                <a:cs typeface="Arial" panose="020B0604020202020204" pitchFamily="34" charset="0"/>
              </a:rPr>
              <a:t> הוזל, ומחירו של חומר גלם </a:t>
            </a:r>
            <a:r>
              <a:rPr lang="en-US" sz="1800" b="1" dirty="0">
                <a:effectLst/>
                <a:latin typeface="Arial" panose="020B0604020202020204" pitchFamily="34" charset="0"/>
                <a:ea typeface="Times New Roman" panose="02020603050405020304" pitchFamily="18" charset="0"/>
                <a:cs typeface="Arial" panose="020B0604020202020204" pitchFamily="34" charset="0"/>
              </a:rPr>
              <a:t>B</a:t>
            </a:r>
            <a:r>
              <a:rPr lang="he-IL" sz="1800" b="1" dirty="0">
                <a:effectLst/>
                <a:latin typeface="Calibri" panose="020F0502020204030204" pitchFamily="34" charset="0"/>
                <a:ea typeface="Times New Roman" panose="02020603050405020304" pitchFamily="18" charset="0"/>
                <a:cs typeface="Arial" panose="020B0604020202020204" pitchFamily="34" charset="0"/>
              </a:rPr>
              <a:t> נותר ללא שינוי. </a:t>
            </a:r>
            <a:endParaRPr lang="en-IL"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E957C55C-F6BA-608C-DF2B-3A633E567A8E}"/>
              </a:ext>
            </a:extLst>
          </p:cNvPr>
          <p:cNvSpPr txBox="1"/>
          <p:nvPr/>
        </p:nvSpPr>
        <p:spPr>
          <a:xfrm>
            <a:off x="275152" y="2609999"/>
            <a:ext cx="11641695" cy="3366243"/>
          </a:xfrm>
          <a:prstGeom prst="rect">
            <a:avLst/>
          </a:prstGeom>
          <a:noFill/>
        </p:spPr>
        <p:txBody>
          <a:bodyPr wrap="square">
            <a:spAutoFit/>
          </a:bodyPr>
          <a:lstStyle/>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אם גמישות הביקוש למוצר </a:t>
            </a:r>
            <a:r>
              <a:rPr lang="en-US" sz="1800" dirty="0">
                <a:effectLst/>
                <a:latin typeface="Arial" panose="020B0604020202020204" pitchFamily="34" charset="0"/>
                <a:ea typeface="Times New Roman" panose="02020603050405020304" pitchFamily="18" charset="0"/>
              </a:rPr>
              <a:t>X</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ביחס למחיר </a:t>
            </a:r>
            <a:r>
              <a:rPr lang="en-US" sz="1800" dirty="0" err="1">
                <a:effectLst/>
                <a:latin typeface="Arial" panose="020B0604020202020204" pitchFamily="34" charset="0"/>
                <a:ea typeface="Times New Roman" panose="02020603050405020304" pitchFamily="18" charset="0"/>
              </a:rPr>
              <a:t>Px</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היא גדולה מ-1 בערך המוחלט, אז הפדיון (הכנסתם) של היצרנים המשתמשים בחומר גלם </a:t>
            </a:r>
            <a:r>
              <a:rPr lang="en-US" sz="1800" dirty="0">
                <a:effectLst/>
                <a:latin typeface="Arial" panose="020B0604020202020204" pitchFamily="34" charset="0"/>
                <a:ea typeface="Times New Roman" panose="02020603050405020304" pitchFamily="18" charset="0"/>
              </a:rPr>
              <a:t>A</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בהכרח עלה ביותר מהירידה בפדיון (הכנסתם) של היצרנים המשתמשים בחומר גלם </a:t>
            </a:r>
            <a:r>
              <a:rPr lang="en-US" sz="1800" dirty="0">
                <a:effectLst/>
                <a:latin typeface="Arial" panose="020B0604020202020204" pitchFamily="34" charset="0"/>
                <a:ea typeface="Times New Roman" panose="02020603050405020304" pitchFamily="18" charset="0"/>
              </a:rPr>
              <a:t>B</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אם גמישות הביקוש למוצר </a:t>
            </a:r>
            <a:r>
              <a:rPr lang="en-US" sz="1800" dirty="0">
                <a:effectLst/>
                <a:latin typeface="Arial" panose="020B0604020202020204" pitchFamily="34" charset="0"/>
                <a:ea typeface="Times New Roman" panose="02020603050405020304" pitchFamily="18" charset="0"/>
              </a:rPr>
              <a:t>X</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ביחס למחיר </a:t>
            </a:r>
            <a:r>
              <a:rPr lang="en-US" sz="1800" dirty="0" err="1">
                <a:effectLst/>
                <a:latin typeface="Arial" panose="020B0604020202020204" pitchFamily="34" charset="0"/>
                <a:ea typeface="Times New Roman" panose="02020603050405020304" pitchFamily="18" charset="0"/>
              </a:rPr>
              <a:t>Px</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היא קטנה מ-1 בערך המוחלט אז הפדיון (הכנסתם) של היצרנים המשתמשים בחומר גלם </a:t>
            </a:r>
            <a:r>
              <a:rPr lang="en-US" sz="1800" dirty="0">
                <a:effectLst/>
                <a:latin typeface="Arial" panose="020B0604020202020204" pitchFamily="34" charset="0"/>
                <a:ea typeface="Times New Roman" panose="02020603050405020304" pitchFamily="18" charset="0"/>
              </a:rPr>
              <a:t>A</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בהכרח ירד.</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אם גמישות הביקוש למוצר </a:t>
            </a:r>
            <a:r>
              <a:rPr lang="en-US" sz="1800" dirty="0">
                <a:effectLst/>
                <a:latin typeface="Arial" panose="020B0604020202020204" pitchFamily="34" charset="0"/>
                <a:ea typeface="Times New Roman" panose="02020603050405020304" pitchFamily="18" charset="0"/>
              </a:rPr>
              <a:t>X</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ביחס למחיר </a:t>
            </a:r>
            <a:r>
              <a:rPr lang="en-US" sz="1800" dirty="0" err="1">
                <a:effectLst/>
                <a:latin typeface="Arial" panose="020B0604020202020204" pitchFamily="34" charset="0"/>
                <a:ea typeface="Times New Roman" panose="02020603050405020304" pitchFamily="18" charset="0"/>
              </a:rPr>
              <a:t>Px</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בערך המוחלט היא אחד, אז הפדיון של (הכנסת) היצרנים המשתמשים בחומר גלם </a:t>
            </a:r>
            <a:r>
              <a:rPr lang="en-US" sz="1800" dirty="0">
                <a:effectLst/>
                <a:latin typeface="Arial" panose="020B0604020202020204" pitchFamily="34" charset="0"/>
                <a:ea typeface="Times New Roman" panose="02020603050405020304" pitchFamily="18" charset="0"/>
              </a:rPr>
              <a:t>A</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לא השתנה.</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הפדיון (הכנסתם) של יצרנים המשתמשים בחומר גלם </a:t>
            </a:r>
            <a:r>
              <a:rPr lang="en-US" sz="1800" dirty="0">
                <a:effectLst/>
                <a:latin typeface="Arial" panose="020B0604020202020204" pitchFamily="34" charset="0"/>
                <a:ea typeface="Times New Roman" panose="02020603050405020304" pitchFamily="18" charset="0"/>
              </a:rPr>
              <a:t>B</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עלה.</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כל התשובות האחרות לא נכונות.</a:t>
            </a:r>
            <a:endParaRPr lang="en-IL"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799076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86CFC-21FB-6BDA-BA4E-162AB7AF68F4}"/>
              </a:ext>
            </a:extLst>
          </p:cNvPr>
          <p:cNvSpPr>
            <a:spLocks noGrp="1"/>
          </p:cNvSpPr>
          <p:nvPr>
            <p:ph type="title"/>
          </p:nvPr>
        </p:nvSpPr>
        <p:spPr>
          <a:xfrm>
            <a:off x="10452682" y="79899"/>
            <a:ext cx="1647738" cy="633165"/>
          </a:xfrm>
        </p:spPr>
        <p:txBody>
          <a:bodyPr>
            <a:normAutofit/>
          </a:bodyPr>
          <a:lstStyle/>
          <a:p>
            <a:pPr algn="r" rtl="1"/>
            <a:r>
              <a:rPr lang="he-IL" sz="3200" dirty="0"/>
              <a:t>שאלה 18 </a:t>
            </a:r>
            <a:endParaRPr lang="en-IL" sz="3200" dirty="0"/>
          </a:p>
        </p:txBody>
      </p:sp>
      <p:sp>
        <p:nvSpPr>
          <p:cNvPr id="5" name="TextBox 4">
            <a:extLst>
              <a:ext uri="{FF2B5EF4-FFF2-40B4-BE49-F238E27FC236}">
                <a16:creationId xmlns:a16="http://schemas.microsoft.com/office/drawing/2014/main" id="{85958B51-5284-67B9-7EAF-F65DCAE71E98}"/>
              </a:ext>
            </a:extLst>
          </p:cNvPr>
          <p:cNvSpPr txBox="1"/>
          <p:nvPr/>
        </p:nvSpPr>
        <p:spPr>
          <a:xfrm>
            <a:off x="3981157" y="47823"/>
            <a:ext cx="6533600" cy="1128514"/>
          </a:xfrm>
          <a:prstGeom prst="rect">
            <a:avLst/>
          </a:prstGeom>
          <a:noFill/>
        </p:spPr>
        <p:txBody>
          <a:bodyPr wrap="square">
            <a:spAutoFit/>
          </a:bodyPr>
          <a:lstStyle/>
          <a:p>
            <a:pPr algn="r" rtl="1">
              <a:spcAft>
                <a:spcPts val="800"/>
              </a:spcAft>
            </a:pPr>
            <a:r>
              <a:rPr lang="he-IL" sz="1800" dirty="0">
                <a:effectLst/>
                <a:latin typeface="Calibri" panose="020F0502020204030204" pitchFamily="34" charset="0"/>
                <a:ea typeface="Times New Roman" panose="02020603050405020304" pitchFamily="18" charset="0"/>
                <a:cs typeface="Arial" panose="020B0604020202020204" pitchFamily="34" charset="0"/>
              </a:rPr>
              <a:t>השוק למוצר </a:t>
            </a:r>
            <a:r>
              <a:rPr lang="en-US" sz="1800" dirty="0">
                <a:effectLst/>
                <a:latin typeface="Arial" panose="020B0604020202020204" pitchFamily="34" charset="0"/>
                <a:ea typeface="Times New Roman" panose="02020603050405020304" pitchFamily="18" charset="0"/>
                <a:cs typeface="Arial" panose="020B0604020202020204" pitchFamily="34" charset="0"/>
              </a:rPr>
              <a:t>X</a:t>
            </a:r>
            <a:r>
              <a:rPr lang="he-IL" sz="1800" dirty="0">
                <a:effectLst/>
                <a:latin typeface="Calibri" panose="020F0502020204030204" pitchFamily="34" charset="0"/>
                <a:ea typeface="Times New Roman" panose="02020603050405020304" pitchFamily="18" charset="0"/>
                <a:cs typeface="Arial" panose="020B0604020202020204" pitchFamily="34" charset="0"/>
              </a:rPr>
              <a:t> תחרותי. בשוק למוצר </a:t>
            </a:r>
            <a:r>
              <a:rPr lang="en-US" sz="1800" dirty="0">
                <a:effectLst/>
                <a:latin typeface="Arial" panose="020B0604020202020204" pitchFamily="34" charset="0"/>
                <a:ea typeface="Times New Roman" panose="02020603050405020304" pitchFamily="18" charset="0"/>
                <a:cs typeface="Arial" panose="020B0604020202020204" pitchFamily="34" charset="0"/>
              </a:rPr>
              <a:t>X</a:t>
            </a:r>
            <a:r>
              <a:rPr lang="he-IL" sz="1800" dirty="0">
                <a:effectLst/>
                <a:latin typeface="Calibri" panose="020F0502020204030204" pitchFamily="34" charset="0"/>
                <a:ea typeface="Times New Roman" panose="02020603050405020304" pitchFamily="18" charset="0"/>
                <a:cs typeface="Arial" panose="020B0604020202020204" pitchFamily="34" charset="0"/>
              </a:rPr>
              <a:t> יש שני סוגים של יצרנים:</a:t>
            </a:r>
            <a:endParaRPr lang="en-IL" sz="1800" dirty="0">
              <a:effectLst/>
              <a:latin typeface="Calibri" panose="020F0502020204030204" pitchFamily="34" charset="0"/>
              <a:ea typeface="Calibri" panose="020F0502020204030204" pitchFamily="34" charset="0"/>
              <a:cs typeface="Arial" panose="020B0604020202020204" pitchFamily="34" charset="0"/>
            </a:endParaRPr>
          </a:p>
          <a:p>
            <a:pPr algn="r" rtl="1">
              <a:spcAft>
                <a:spcPts val="800"/>
              </a:spcAft>
            </a:pPr>
            <a:r>
              <a:rPr lang="he-IL" sz="1800" dirty="0">
                <a:effectLst/>
                <a:latin typeface="Calibri" panose="020F0502020204030204" pitchFamily="34" charset="0"/>
                <a:ea typeface="Times New Roman" panose="02020603050405020304" pitchFamily="18" charset="0"/>
                <a:cs typeface="Arial" panose="020B0604020202020204" pitchFamily="34" charset="0"/>
              </a:rPr>
              <a:t> יצרנים שמשתמשים בחומר גלם </a:t>
            </a:r>
            <a:r>
              <a:rPr lang="en-US" sz="1800" dirty="0">
                <a:effectLst/>
                <a:latin typeface="Arial" panose="020B0604020202020204" pitchFamily="34" charset="0"/>
                <a:ea typeface="Times New Roman" panose="02020603050405020304" pitchFamily="18" charset="0"/>
                <a:cs typeface="Arial" panose="020B0604020202020204" pitchFamily="34" charset="0"/>
              </a:rPr>
              <a:t>A</a:t>
            </a:r>
            <a:r>
              <a:rPr lang="he-IL" sz="1800" dirty="0">
                <a:effectLst/>
                <a:latin typeface="Calibri" panose="020F0502020204030204" pitchFamily="34" charset="0"/>
                <a:ea typeface="Times New Roman" panose="02020603050405020304" pitchFamily="18" charset="0"/>
                <a:cs typeface="Arial" panose="020B0604020202020204" pitchFamily="34" charset="0"/>
              </a:rPr>
              <a:t> ,</a:t>
            </a:r>
            <a:r>
              <a:rPr lang="en-US" sz="1800" dirty="0">
                <a:effectLst/>
                <a:latin typeface="Calibri" panose="020F0502020204030204" pitchFamily="34" charset="0"/>
                <a:ea typeface="Times New Roman" panose="02020603050405020304" pitchFamily="18" charset="0"/>
                <a:cs typeface="Arial" panose="020B0604020202020204" pitchFamily="34" charset="0"/>
              </a:rPr>
              <a:t> </a:t>
            </a:r>
            <a:r>
              <a:rPr lang="he-IL" sz="1800" dirty="0">
                <a:effectLst/>
                <a:latin typeface="Calibri" panose="020F0502020204030204" pitchFamily="34" charset="0"/>
                <a:ea typeface="Times New Roman" panose="02020603050405020304" pitchFamily="18" charset="0"/>
                <a:cs typeface="Arial" panose="020B0604020202020204" pitchFamily="34" charset="0"/>
              </a:rPr>
              <a:t>ויצרנים שמשתמשים בחומר גלם </a:t>
            </a:r>
            <a:r>
              <a:rPr lang="en-US" sz="1800" dirty="0">
                <a:effectLst/>
                <a:latin typeface="Arial" panose="020B0604020202020204" pitchFamily="34" charset="0"/>
                <a:ea typeface="Times New Roman" panose="02020603050405020304" pitchFamily="18" charset="0"/>
                <a:cs typeface="Arial" panose="020B0604020202020204" pitchFamily="34" charset="0"/>
              </a:rPr>
              <a:t>B</a:t>
            </a:r>
            <a:r>
              <a:rPr lang="he-IL" sz="1800" dirty="0">
                <a:effectLst/>
                <a:latin typeface="Calibri" panose="020F0502020204030204" pitchFamily="34" charset="0"/>
                <a:ea typeface="Times New Roman" panose="02020603050405020304" pitchFamily="18" charset="0"/>
                <a:cs typeface="Arial" panose="020B0604020202020204" pitchFamily="34" charset="0"/>
              </a:rPr>
              <a:t>. </a:t>
            </a:r>
            <a:endParaRPr lang="en-IL" sz="1800" dirty="0">
              <a:effectLst/>
              <a:latin typeface="Calibri" panose="020F0502020204030204" pitchFamily="34" charset="0"/>
              <a:ea typeface="Calibri" panose="020F0502020204030204" pitchFamily="34" charset="0"/>
              <a:cs typeface="Arial" panose="020B0604020202020204" pitchFamily="34" charset="0"/>
            </a:endParaRPr>
          </a:p>
          <a:p>
            <a:pPr algn="r" rtl="1">
              <a:spcAft>
                <a:spcPts val="800"/>
              </a:spcAft>
            </a:pPr>
            <a:r>
              <a:rPr lang="he-IL" sz="1800" b="1" dirty="0">
                <a:effectLst/>
                <a:latin typeface="Calibri" panose="020F0502020204030204" pitchFamily="34" charset="0"/>
                <a:ea typeface="Times New Roman" panose="02020603050405020304" pitchFamily="18" charset="0"/>
                <a:cs typeface="Arial" panose="020B0604020202020204" pitchFamily="34" charset="0"/>
              </a:rPr>
              <a:t>חומר גלם </a:t>
            </a:r>
            <a:r>
              <a:rPr lang="en-US" sz="1800" b="1" dirty="0">
                <a:effectLst/>
                <a:latin typeface="Arial" panose="020B0604020202020204" pitchFamily="34" charset="0"/>
                <a:ea typeface="Times New Roman" panose="02020603050405020304" pitchFamily="18" charset="0"/>
                <a:cs typeface="Arial" panose="020B0604020202020204" pitchFamily="34" charset="0"/>
              </a:rPr>
              <a:t>A</a:t>
            </a:r>
            <a:r>
              <a:rPr lang="he-IL" sz="1800" b="1" dirty="0">
                <a:effectLst/>
                <a:latin typeface="Calibri" panose="020F0502020204030204" pitchFamily="34" charset="0"/>
                <a:ea typeface="Times New Roman" panose="02020603050405020304" pitchFamily="18" charset="0"/>
                <a:cs typeface="Arial" panose="020B0604020202020204" pitchFamily="34" charset="0"/>
              </a:rPr>
              <a:t> הוזל, ומחירו של חומר גלם </a:t>
            </a:r>
            <a:r>
              <a:rPr lang="en-US" sz="1800" b="1" dirty="0">
                <a:effectLst/>
                <a:latin typeface="Arial" panose="020B0604020202020204" pitchFamily="34" charset="0"/>
                <a:ea typeface="Times New Roman" panose="02020603050405020304" pitchFamily="18" charset="0"/>
                <a:cs typeface="Arial" panose="020B0604020202020204" pitchFamily="34" charset="0"/>
              </a:rPr>
              <a:t>B</a:t>
            </a:r>
            <a:r>
              <a:rPr lang="he-IL" sz="1800" b="1" dirty="0">
                <a:effectLst/>
                <a:latin typeface="Calibri" panose="020F0502020204030204" pitchFamily="34" charset="0"/>
                <a:ea typeface="Times New Roman" panose="02020603050405020304" pitchFamily="18" charset="0"/>
                <a:cs typeface="Arial" panose="020B0604020202020204" pitchFamily="34" charset="0"/>
              </a:rPr>
              <a:t> נותר ללא שינוי. </a:t>
            </a:r>
            <a:endParaRPr lang="en-IL"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E957C55C-F6BA-608C-DF2B-3A633E567A8E}"/>
              </a:ext>
            </a:extLst>
          </p:cNvPr>
          <p:cNvSpPr txBox="1"/>
          <p:nvPr/>
        </p:nvSpPr>
        <p:spPr>
          <a:xfrm>
            <a:off x="275152" y="5052806"/>
            <a:ext cx="11641695" cy="1704249"/>
          </a:xfrm>
          <a:prstGeom prst="rect">
            <a:avLst/>
          </a:prstGeom>
          <a:noFill/>
        </p:spPr>
        <p:txBody>
          <a:bodyPr wrap="square">
            <a:spAutoFit/>
          </a:bodyPr>
          <a:lstStyle/>
          <a:p>
            <a:pPr marL="342900" lvl="0" indent="-342900" algn="r" rtl="1">
              <a:lnSpc>
                <a:spcPct val="150000"/>
              </a:lnSpc>
              <a:buFont typeface="+mj-lt"/>
              <a:buAutoNum type="arabicPeriod"/>
            </a:pP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אם גמישות הביקוש למוצר </a:t>
            </a:r>
            <a:r>
              <a:rPr lang="en-US" sz="1800" b="1" dirty="0">
                <a:effectLst/>
                <a:latin typeface="Arial" panose="020B0604020202020204" pitchFamily="34" charset="0"/>
                <a:ea typeface="Times New Roman" panose="02020603050405020304" pitchFamily="18" charset="0"/>
              </a:rPr>
              <a:t>X</a:t>
            </a: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 ביחס למחיר </a:t>
            </a:r>
            <a:r>
              <a:rPr lang="en-US" sz="1800" b="1" dirty="0" err="1">
                <a:effectLst/>
                <a:latin typeface="Arial" panose="020B0604020202020204" pitchFamily="34" charset="0"/>
                <a:ea typeface="Times New Roman" panose="02020603050405020304" pitchFamily="18" charset="0"/>
              </a:rPr>
              <a:t>Px</a:t>
            </a: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 היא גדולה מ-1 בערך המוחלט, אז הפדיון (הכנסתם) של היצרנים המשתמשים בחומר גלם </a:t>
            </a:r>
            <a:r>
              <a:rPr lang="en-US" sz="1800" b="1" dirty="0">
                <a:effectLst/>
                <a:latin typeface="Arial" panose="020B0604020202020204" pitchFamily="34" charset="0"/>
                <a:ea typeface="Times New Roman" panose="02020603050405020304" pitchFamily="18" charset="0"/>
              </a:rPr>
              <a:t>A</a:t>
            </a: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 בהכרח עלה ביותר מהירידה בפדיון (הכנסתם) של היצרנים המשתמשים בחומר גלם </a:t>
            </a:r>
            <a:r>
              <a:rPr lang="en-US" sz="1800" b="1" dirty="0">
                <a:effectLst/>
                <a:latin typeface="Arial" panose="020B0604020202020204" pitchFamily="34" charset="0"/>
                <a:ea typeface="Times New Roman" panose="02020603050405020304" pitchFamily="18" charset="0"/>
              </a:rPr>
              <a:t>B</a:t>
            </a: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a:t>
            </a:r>
            <a:endParaRPr lang="en-IL" sz="1800" b="1"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אם גמישות הביקוש למוצר </a:t>
            </a:r>
            <a:r>
              <a:rPr lang="en-US" sz="1800" dirty="0">
                <a:effectLst/>
                <a:latin typeface="Arial" panose="020B0604020202020204" pitchFamily="34" charset="0"/>
                <a:ea typeface="Times New Roman" panose="02020603050405020304" pitchFamily="18" charset="0"/>
              </a:rPr>
              <a:t>X</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ביחס למחיר </a:t>
            </a:r>
            <a:r>
              <a:rPr lang="en-US" sz="1800" dirty="0" err="1">
                <a:effectLst/>
                <a:latin typeface="Arial" panose="020B0604020202020204" pitchFamily="34" charset="0"/>
                <a:ea typeface="Times New Roman" panose="02020603050405020304" pitchFamily="18" charset="0"/>
              </a:rPr>
              <a:t>Px</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היא קטנה מ-1 בערך המוחלט אז הפדיון (הכנסתם) של היצרנים המשתמשים בחומר גלם </a:t>
            </a:r>
            <a:r>
              <a:rPr lang="en-US" sz="1800" dirty="0">
                <a:effectLst/>
                <a:latin typeface="Arial" panose="020B0604020202020204" pitchFamily="34" charset="0"/>
                <a:ea typeface="Times New Roman" panose="02020603050405020304" pitchFamily="18" charset="0"/>
              </a:rPr>
              <a:t>A</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בהכרח ירד.</a:t>
            </a:r>
            <a:endParaRPr lang="en-IL" sz="1800" dirty="0">
              <a:effectLst/>
              <a:latin typeface="Times New Roman" panose="02020603050405020304" pitchFamily="18" charset="0"/>
              <a:ea typeface="Times New Roman" panose="02020603050405020304" pitchFamily="18" charset="0"/>
            </a:endParaRPr>
          </a:p>
        </p:txBody>
      </p:sp>
      <p:cxnSp>
        <p:nvCxnSpPr>
          <p:cNvPr id="6" name="מחבר ישר 42">
            <a:extLst>
              <a:ext uri="{FF2B5EF4-FFF2-40B4-BE49-F238E27FC236}">
                <a16:creationId xmlns:a16="http://schemas.microsoft.com/office/drawing/2014/main" id="{471D490B-ADE7-CBA1-1493-E892A4A32717}"/>
              </a:ext>
            </a:extLst>
          </p:cNvPr>
          <p:cNvCxnSpPr>
            <a:cxnSpLocks/>
          </p:cNvCxnSpPr>
          <p:nvPr/>
        </p:nvCxnSpPr>
        <p:spPr>
          <a:xfrm flipH="1">
            <a:off x="701575" y="2082719"/>
            <a:ext cx="1438" cy="2805594"/>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מחבר ישר 54">
            <a:extLst>
              <a:ext uri="{FF2B5EF4-FFF2-40B4-BE49-F238E27FC236}">
                <a16:creationId xmlns:a16="http://schemas.microsoft.com/office/drawing/2014/main" id="{AB8BE3D6-2D34-C129-B89D-21911819483A}"/>
              </a:ext>
            </a:extLst>
          </p:cNvPr>
          <p:cNvCxnSpPr>
            <a:cxnSpLocks/>
          </p:cNvCxnSpPr>
          <p:nvPr/>
        </p:nvCxnSpPr>
        <p:spPr>
          <a:xfrm>
            <a:off x="702368" y="4887519"/>
            <a:ext cx="1801914" cy="0"/>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249205F-3CCA-0722-3197-E866D90E2474}"/>
              </a:ext>
            </a:extLst>
          </p:cNvPr>
          <p:cNvSpPr txBox="1"/>
          <p:nvPr/>
        </p:nvSpPr>
        <p:spPr>
          <a:xfrm>
            <a:off x="2434209" y="4807863"/>
            <a:ext cx="285226" cy="369327"/>
          </a:xfrm>
          <a:prstGeom prst="rect">
            <a:avLst/>
          </a:prstGeom>
          <a:noFill/>
        </p:spPr>
        <p:txBody>
          <a:bodyPr wrap="square" rtlCol="0">
            <a:spAutoFit/>
          </a:bodyPr>
          <a:lstStyle/>
          <a:p>
            <a:r>
              <a:rPr lang="en-US" dirty="0"/>
              <a:t>Q</a:t>
            </a:r>
          </a:p>
        </p:txBody>
      </p:sp>
      <p:sp>
        <p:nvSpPr>
          <p:cNvPr id="10" name="TextBox 9">
            <a:extLst>
              <a:ext uri="{FF2B5EF4-FFF2-40B4-BE49-F238E27FC236}">
                <a16:creationId xmlns:a16="http://schemas.microsoft.com/office/drawing/2014/main" id="{537E9686-EA8E-800E-7352-66507595D395}"/>
              </a:ext>
            </a:extLst>
          </p:cNvPr>
          <p:cNvSpPr txBox="1"/>
          <p:nvPr/>
        </p:nvSpPr>
        <p:spPr>
          <a:xfrm>
            <a:off x="549931" y="1656871"/>
            <a:ext cx="303288" cy="369332"/>
          </a:xfrm>
          <a:prstGeom prst="rect">
            <a:avLst/>
          </a:prstGeom>
          <a:noFill/>
        </p:spPr>
        <p:txBody>
          <a:bodyPr wrap="none" rtlCol="0">
            <a:spAutoFit/>
          </a:bodyPr>
          <a:lstStyle/>
          <a:p>
            <a:r>
              <a:rPr lang="en-US" dirty="0"/>
              <a:t>P</a:t>
            </a:r>
          </a:p>
        </p:txBody>
      </p:sp>
      <p:cxnSp>
        <p:nvCxnSpPr>
          <p:cNvPr id="11" name="מחבר ישר 42">
            <a:extLst>
              <a:ext uri="{FF2B5EF4-FFF2-40B4-BE49-F238E27FC236}">
                <a16:creationId xmlns:a16="http://schemas.microsoft.com/office/drawing/2014/main" id="{B5BB1853-3178-B5DC-FC0B-C54A4F9E0B1F}"/>
              </a:ext>
            </a:extLst>
          </p:cNvPr>
          <p:cNvCxnSpPr>
            <a:cxnSpLocks/>
          </p:cNvCxnSpPr>
          <p:nvPr/>
        </p:nvCxnSpPr>
        <p:spPr>
          <a:xfrm flipH="1">
            <a:off x="2789508" y="2026203"/>
            <a:ext cx="1438" cy="2805594"/>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מחבר ישר 54">
            <a:extLst>
              <a:ext uri="{FF2B5EF4-FFF2-40B4-BE49-F238E27FC236}">
                <a16:creationId xmlns:a16="http://schemas.microsoft.com/office/drawing/2014/main" id="{9B9E2C5C-0CAA-264E-6220-C230E5E88950}"/>
              </a:ext>
            </a:extLst>
          </p:cNvPr>
          <p:cNvCxnSpPr>
            <a:cxnSpLocks/>
          </p:cNvCxnSpPr>
          <p:nvPr/>
        </p:nvCxnSpPr>
        <p:spPr>
          <a:xfrm>
            <a:off x="2790301" y="4831003"/>
            <a:ext cx="1801914" cy="0"/>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F2CB31E-2F89-5B3A-CA0E-830EE2EF2E49}"/>
              </a:ext>
            </a:extLst>
          </p:cNvPr>
          <p:cNvSpPr txBox="1"/>
          <p:nvPr/>
        </p:nvSpPr>
        <p:spPr>
          <a:xfrm>
            <a:off x="4453974" y="4785497"/>
            <a:ext cx="340158" cy="369332"/>
          </a:xfrm>
          <a:prstGeom prst="rect">
            <a:avLst/>
          </a:prstGeom>
          <a:noFill/>
        </p:spPr>
        <p:txBody>
          <a:bodyPr wrap="none" rtlCol="0">
            <a:spAutoFit/>
          </a:bodyPr>
          <a:lstStyle/>
          <a:p>
            <a:r>
              <a:rPr lang="en-US" dirty="0"/>
              <a:t>Q</a:t>
            </a:r>
          </a:p>
        </p:txBody>
      </p:sp>
      <p:sp>
        <p:nvSpPr>
          <p:cNvPr id="14" name="TextBox 13">
            <a:extLst>
              <a:ext uri="{FF2B5EF4-FFF2-40B4-BE49-F238E27FC236}">
                <a16:creationId xmlns:a16="http://schemas.microsoft.com/office/drawing/2014/main" id="{E194E24F-7FCF-78D9-91DD-52E91CE28BFF}"/>
              </a:ext>
            </a:extLst>
          </p:cNvPr>
          <p:cNvSpPr txBox="1"/>
          <p:nvPr/>
        </p:nvSpPr>
        <p:spPr>
          <a:xfrm>
            <a:off x="2637864" y="1600355"/>
            <a:ext cx="303288" cy="369332"/>
          </a:xfrm>
          <a:prstGeom prst="rect">
            <a:avLst/>
          </a:prstGeom>
          <a:noFill/>
        </p:spPr>
        <p:txBody>
          <a:bodyPr wrap="none" rtlCol="0">
            <a:spAutoFit/>
          </a:bodyPr>
          <a:lstStyle/>
          <a:p>
            <a:r>
              <a:rPr lang="en-US" dirty="0"/>
              <a:t>P</a:t>
            </a:r>
          </a:p>
        </p:txBody>
      </p:sp>
      <p:cxnSp>
        <p:nvCxnSpPr>
          <p:cNvPr id="15" name="מחבר ישר 42">
            <a:extLst>
              <a:ext uri="{FF2B5EF4-FFF2-40B4-BE49-F238E27FC236}">
                <a16:creationId xmlns:a16="http://schemas.microsoft.com/office/drawing/2014/main" id="{0BD0E01E-B022-13EB-9933-CD3FFEB4CADC}"/>
              </a:ext>
            </a:extLst>
          </p:cNvPr>
          <p:cNvCxnSpPr>
            <a:cxnSpLocks/>
          </p:cNvCxnSpPr>
          <p:nvPr/>
        </p:nvCxnSpPr>
        <p:spPr>
          <a:xfrm flipH="1">
            <a:off x="5172470" y="1969687"/>
            <a:ext cx="1438" cy="2805594"/>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מחבר ישר 54">
            <a:extLst>
              <a:ext uri="{FF2B5EF4-FFF2-40B4-BE49-F238E27FC236}">
                <a16:creationId xmlns:a16="http://schemas.microsoft.com/office/drawing/2014/main" id="{29E2CF65-911E-F256-8A4A-AEF50293418E}"/>
              </a:ext>
            </a:extLst>
          </p:cNvPr>
          <p:cNvCxnSpPr>
            <a:cxnSpLocks/>
          </p:cNvCxnSpPr>
          <p:nvPr/>
        </p:nvCxnSpPr>
        <p:spPr>
          <a:xfrm>
            <a:off x="5173263" y="4774487"/>
            <a:ext cx="1801914" cy="0"/>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16BEDA0A-CBF0-3D13-073E-24AA5C614E86}"/>
              </a:ext>
            </a:extLst>
          </p:cNvPr>
          <p:cNvSpPr txBox="1"/>
          <p:nvPr/>
        </p:nvSpPr>
        <p:spPr>
          <a:xfrm>
            <a:off x="7049981" y="4645544"/>
            <a:ext cx="340158" cy="369332"/>
          </a:xfrm>
          <a:prstGeom prst="rect">
            <a:avLst/>
          </a:prstGeom>
          <a:noFill/>
        </p:spPr>
        <p:txBody>
          <a:bodyPr wrap="none" rtlCol="0">
            <a:spAutoFit/>
          </a:bodyPr>
          <a:lstStyle/>
          <a:p>
            <a:r>
              <a:rPr lang="en-US" dirty="0"/>
              <a:t>Q</a:t>
            </a:r>
          </a:p>
        </p:txBody>
      </p:sp>
      <p:sp>
        <p:nvSpPr>
          <p:cNvPr id="18" name="TextBox 17">
            <a:extLst>
              <a:ext uri="{FF2B5EF4-FFF2-40B4-BE49-F238E27FC236}">
                <a16:creationId xmlns:a16="http://schemas.microsoft.com/office/drawing/2014/main" id="{4BB94253-6421-99FB-CDBD-831CCA88A494}"/>
              </a:ext>
            </a:extLst>
          </p:cNvPr>
          <p:cNvSpPr txBox="1"/>
          <p:nvPr/>
        </p:nvSpPr>
        <p:spPr>
          <a:xfrm>
            <a:off x="5020826" y="1543839"/>
            <a:ext cx="303288" cy="369332"/>
          </a:xfrm>
          <a:prstGeom prst="rect">
            <a:avLst/>
          </a:prstGeom>
          <a:noFill/>
        </p:spPr>
        <p:txBody>
          <a:bodyPr wrap="none" rtlCol="0">
            <a:spAutoFit/>
          </a:bodyPr>
          <a:lstStyle/>
          <a:p>
            <a:r>
              <a:rPr lang="en-US" dirty="0"/>
              <a:t>P</a:t>
            </a:r>
          </a:p>
        </p:txBody>
      </p:sp>
      <p:cxnSp>
        <p:nvCxnSpPr>
          <p:cNvPr id="19" name="Straight Connector 18">
            <a:extLst>
              <a:ext uri="{FF2B5EF4-FFF2-40B4-BE49-F238E27FC236}">
                <a16:creationId xmlns:a16="http://schemas.microsoft.com/office/drawing/2014/main" id="{FFB5EB2C-7985-29D2-8DAF-9CBD89BB2F77}"/>
              </a:ext>
            </a:extLst>
          </p:cNvPr>
          <p:cNvCxnSpPr/>
          <p:nvPr/>
        </p:nvCxnSpPr>
        <p:spPr>
          <a:xfrm flipV="1">
            <a:off x="994264" y="2082719"/>
            <a:ext cx="998290" cy="2426518"/>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A1D8A6C-9E29-B504-255C-27CE883C5B3B}"/>
              </a:ext>
            </a:extLst>
          </p:cNvPr>
          <p:cNvCxnSpPr/>
          <p:nvPr/>
        </p:nvCxnSpPr>
        <p:spPr>
          <a:xfrm flipV="1">
            <a:off x="3133624" y="2026203"/>
            <a:ext cx="998290" cy="242651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CD38D07-A6AA-4A0D-331E-1D721B15C25E}"/>
              </a:ext>
            </a:extLst>
          </p:cNvPr>
          <p:cNvCxnSpPr>
            <a:cxnSpLocks/>
          </p:cNvCxnSpPr>
          <p:nvPr/>
        </p:nvCxnSpPr>
        <p:spPr>
          <a:xfrm flipV="1">
            <a:off x="5497222" y="2158828"/>
            <a:ext cx="2103339" cy="2163211"/>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22" name="Arc 21">
            <a:extLst>
              <a:ext uri="{FF2B5EF4-FFF2-40B4-BE49-F238E27FC236}">
                <a16:creationId xmlns:a16="http://schemas.microsoft.com/office/drawing/2014/main" id="{14D47BD8-0B6A-E8BF-F56A-CA3462E04D89}"/>
              </a:ext>
            </a:extLst>
          </p:cNvPr>
          <p:cNvSpPr/>
          <p:nvPr/>
        </p:nvSpPr>
        <p:spPr>
          <a:xfrm rot="12206007">
            <a:off x="5734428" y="-797478"/>
            <a:ext cx="5323993" cy="5421298"/>
          </a:xfrm>
          <a:prstGeom prst="arc">
            <a:avLst>
              <a:gd name="adj1" fmla="val 16200000"/>
              <a:gd name="adj2" fmla="val 2013298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3" name="Straight Connector 22">
            <a:extLst>
              <a:ext uri="{FF2B5EF4-FFF2-40B4-BE49-F238E27FC236}">
                <a16:creationId xmlns:a16="http://schemas.microsoft.com/office/drawing/2014/main" id="{C5CEEE25-3149-1E17-D341-47EDF7C6E002}"/>
              </a:ext>
            </a:extLst>
          </p:cNvPr>
          <p:cNvCxnSpPr/>
          <p:nvPr/>
        </p:nvCxnSpPr>
        <p:spPr>
          <a:xfrm>
            <a:off x="1374544" y="3571915"/>
            <a:ext cx="0" cy="1310716"/>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EF69D04-DFC0-859D-3C51-8B3F61AE7FB0}"/>
              </a:ext>
            </a:extLst>
          </p:cNvPr>
          <p:cNvCxnSpPr/>
          <p:nvPr/>
        </p:nvCxnSpPr>
        <p:spPr>
          <a:xfrm>
            <a:off x="3506983" y="3505156"/>
            <a:ext cx="0" cy="1310716"/>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8E30A85-4B4A-BAA8-CBAC-C6EE13186CF9}"/>
              </a:ext>
            </a:extLst>
          </p:cNvPr>
          <p:cNvCxnSpPr>
            <a:cxnSpLocks/>
          </p:cNvCxnSpPr>
          <p:nvPr/>
        </p:nvCxnSpPr>
        <p:spPr>
          <a:xfrm>
            <a:off x="6266035" y="3520287"/>
            <a:ext cx="0" cy="125420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01EEB95C-DC16-91A4-A00E-399BA3EF4DD5}"/>
              </a:ext>
            </a:extLst>
          </p:cNvPr>
          <p:cNvSpPr txBox="1"/>
          <p:nvPr/>
        </p:nvSpPr>
        <p:spPr>
          <a:xfrm>
            <a:off x="941328" y="796956"/>
            <a:ext cx="1419298" cy="923330"/>
          </a:xfrm>
          <a:prstGeom prst="rect">
            <a:avLst/>
          </a:prstGeom>
          <a:solidFill>
            <a:schemeClr val="accent2">
              <a:lumMod val="20000"/>
              <a:lumOff val="80000"/>
            </a:schemeClr>
          </a:solidFill>
        </p:spPr>
        <p:txBody>
          <a:bodyPr wrap="square" rtlCol="0">
            <a:spAutoFit/>
          </a:bodyPr>
          <a:lstStyle/>
          <a:p>
            <a:pPr algn="ctr" rtl="1"/>
            <a:r>
              <a:rPr lang="he-IL" dirty="0"/>
              <a:t>יצרני א'- משתמשים </a:t>
            </a:r>
            <a:r>
              <a:rPr lang="en-US" dirty="0"/>
              <a:t>  </a:t>
            </a:r>
            <a:r>
              <a:rPr lang="he-IL" dirty="0"/>
              <a:t>בחומר גלם</a:t>
            </a:r>
            <a:r>
              <a:rPr lang="en-US" dirty="0"/>
              <a:t>A </a:t>
            </a:r>
          </a:p>
        </p:txBody>
      </p:sp>
      <p:sp>
        <p:nvSpPr>
          <p:cNvPr id="27" name="TextBox 26">
            <a:extLst>
              <a:ext uri="{FF2B5EF4-FFF2-40B4-BE49-F238E27FC236}">
                <a16:creationId xmlns:a16="http://schemas.microsoft.com/office/drawing/2014/main" id="{6A1BD69F-FCF0-5705-326D-B905A73D4BC3}"/>
              </a:ext>
            </a:extLst>
          </p:cNvPr>
          <p:cNvSpPr txBox="1"/>
          <p:nvPr/>
        </p:nvSpPr>
        <p:spPr>
          <a:xfrm>
            <a:off x="3053068" y="913732"/>
            <a:ext cx="1419298" cy="923330"/>
          </a:xfrm>
          <a:prstGeom prst="rect">
            <a:avLst/>
          </a:prstGeom>
          <a:solidFill>
            <a:schemeClr val="bg1">
              <a:lumMod val="95000"/>
            </a:schemeClr>
          </a:solidFill>
        </p:spPr>
        <p:txBody>
          <a:bodyPr wrap="square" rtlCol="0">
            <a:spAutoFit/>
          </a:bodyPr>
          <a:lstStyle/>
          <a:p>
            <a:pPr algn="r" rtl="1"/>
            <a:r>
              <a:rPr lang="he-IL" dirty="0"/>
              <a:t>יצרני ב’</a:t>
            </a:r>
            <a:r>
              <a:rPr lang="en-US" dirty="0"/>
              <a:t> </a:t>
            </a:r>
            <a:r>
              <a:rPr lang="he-IL" dirty="0"/>
              <a:t>משתמשים בחומר גלם </a:t>
            </a:r>
            <a:r>
              <a:rPr lang="en-US" dirty="0"/>
              <a:t>B</a:t>
            </a:r>
          </a:p>
        </p:txBody>
      </p:sp>
      <p:sp>
        <p:nvSpPr>
          <p:cNvPr id="28" name="TextBox 27">
            <a:extLst>
              <a:ext uri="{FF2B5EF4-FFF2-40B4-BE49-F238E27FC236}">
                <a16:creationId xmlns:a16="http://schemas.microsoft.com/office/drawing/2014/main" id="{B836FF3D-2C2A-E9B4-2F26-95677E5A6116}"/>
              </a:ext>
            </a:extLst>
          </p:cNvPr>
          <p:cNvSpPr txBox="1"/>
          <p:nvPr/>
        </p:nvSpPr>
        <p:spPr>
          <a:xfrm>
            <a:off x="5942552" y="1636497"/>
            <a:ext cx="929326" cy="369332"/>
          </a:xfrm>
          <a:prstGeom prst="rect">
            <a:avLst/>
          </a:prstGeom>
          <a:solidFill>
            <a:schemeClr val="accent2">
              <a:lumMod val="20000"/>
              <a:lumOff val="80000"/>
            </a:schemeClr>
          </a:solidFill>
        </p:spPr>
        <p:txBody>
          <a:bodyPr wrap="square" rtlCol="0">
            <a:spAutoFit/>
          </a:bodyPr>
          <a:lstStyle/>
          <a:p>
            <a:pPr algn="r" rtl="1"/>
            <a:r>
              <a:rPr lang="he-IL" dirty="0"/>
              <a:t>מצרפי</a:t>
            </a:r>
            <a:endParaRPr lang="en-US" dirty="0"/>
          </a:p>
        </p:txBody>
      </p:sp>
      <p:sp>
        <p:nvSpPr>
          <p:cNvPr id="29" name="Oval 28">
            <a:extLst>
              <a:ext uri="{FF2B5EF4-FFF2-40B4-BE49-F238E27FC236}">
                <a16:creationId xmlns:a16="http://schemas.microsoft.com/office/drawing/2014/main" id="{69E6EBFE-5E40-D355-6969-79B8C161D4EB}"/>
              </a:ext>
            </a:extLst>
          </p:cNvPr>
          <p:cNvSpPr/>
          <p:nvPr/>
        </p:nvSpPr>
        <p:spPr>
          <a:xfrm>
            <a:off x="6139589" y="3372484"/>
            <a:ext cx="372096" cy="342005"/>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cxnSp>
        <p:nvCxnSpPr>
          <p:cNvPr id="30" name="Straight Connector 29">
            <a:extLst>
              <a:ext uri="{FF2B5EF4-FFF2-40B4-BE49-F238E27FC236}">
                <a16:creationId xmlns:a16="http://schemas.microsoft.com/office/drawing/2014/main" id="{768658EC-AF93-B4EE-ECD5-0A03DD1E2595}"/>
              </a:ext>
            </a:extLst>
          </p:cNvPr>
          <p:cNvCxnSpPr/>
          <p:nvPr/>
        </p:nvCxnSpPr>
        <p:spPr>
          <a:xfrm flipV="1">
            <a:off x="708708" y="1766019"/>
            <a:ext cx="998290" cy="2426518"/>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8C1BA8B-69EC-CAD3-0A76-6AC777CC7DE8}"/>
              </a:ext>
            </a:extLst>
          </p:cNvPr>
          <p:cNvCxnSpPr>
            <a:cxnSpLocks/>
          </p:cNvCxnSpPr>
          <p:nvPr/>
        </p:nvCxnSpPr>
        <p:spPr>
          <a:xfrm flipV="1">
            <a:off x="5416467" y="2082719"/>
            <a:ext cx="1824023" cy="1880614"/>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F2E9CA07-9D7B-AEAF-F6F1-1C98D375F813}"/>
              </a:ext>
            </a:extLst>
          </p:cNvPr>
          <p:cNvSpPr/>
          <p:nvPr/>
        </p:nvSpPr>
        <p:spPr>
          <a:xfrm>
            <a:off x="5860519" y="3077241"/>
            <a:ext cx="372096" cy="342005"/>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cxnSp>
        <p:nvCxnSpPr>
          <p:cNvPr id="33" name="Straight Connector 32">
            <a:extLst>
              <a:ext uri="{FF2B5EF4-FFF2-40B4-BE49-F238E27FC236}">
                <a16:creationId xmlns:a16="http://schemas.microsoft.com/office/drawing/2014/main" id="{463AA22B-9990-74DD-F2E7-508514F0EA47}"/>
              </a:ext>
            </a:extLst>
          </p:cNvPr>
          <p:cNvCxnSpPr>
            <a:cxnSpLocks/>
          </p:cNvCxnSpPr>
          <p:nvPr/>
        </p:nvCxnSpPr>
        <p:spPr>
          <a:xfrm flipH="1" flipV="1">
            <a:off x="701575" y="3232756"/>
            <a:ext cx="5214279" cy="18448"/>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5C657FF-618C-AA4D-DD14-A4ADD4895B65}"/>
              </a:ext>
            </a:extLst>
          </p:cNvPr>
          <p:cNvCxnSpPr>
            <a:cxnSpLocks/>
          </p:cNvCxnSpPr>
          <p:nvPr/>
        </p:nvCxnSpPr>
        <p:spPr>
          <a:xfrm>
            <a:off x="6045547" y="3372484"/>
            <a:ext cx="9856" cy="1402003"/>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16C33FC-C0E0-A521-C587-BF344E9EFDF6}"/>
              </a:ext>
            </a:extLst>
          </p:cNvPr>
          <p:cNvCxnSpPr>
            <a:cxnSpLocks/>
          </p:cNvCxnSpPr>
          <p:nvPr/>
        </p:nvCxnSpPr>
        <p:spPr>
          <a:xfrm flipH="1">
            <a:off x="3662585" y="3248243"/>
            <a:ext cx="1463" cy="1581967"/>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4005516C-40FA-C884-744D-F46D9E73F70A}"/>
              </a:ext>
            </a:extLst>
          </p:cNvPr>
          <p:cNvSpPr/>
          <p:nvPr/>
        </p:nvSpPr>
        <p:spPr>
          <a:xfrm>
            <a:off x="3319906" y="3372485"/>
            <a:ext cx="269761" cy="257002"/>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7" name="Oval 36">
            <a:extLst>
              <a:ext uri="{FF2B5EF4-FFF2-40B4-BE49-F238E27FC236}">
                <a16:creationId xmlns:a16="http://schemas.microsoft.com/office/drawing/2014/main" id="{EC6FBF95-9238-293A-CA8D-9A73CC8C9CF9}"/>
              </a:ext>
            </a:extLst>
          </p:cNvPr>
          <p:cNvSpPr/>
          <p:nvPr/>
        </p:nvSpPr>
        <p:spPr>
          <a:xfrm>
            <a:off x="3526442" y="3082347"/>
            <a:ext cx="342040" cy="257003"/>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cxnSp>
        <p:nvCxnSpPr>
          <p:cNvPr id="38" name="Straight Connector 37">
            <a:extLst>
              <a:ext uri="{FF2B5EF4-FFF2-40B4-BE49-F238E27FC236}">
                <a16:creationId xmlns:a16="http://schemas.microsoft.com/office/drawing/2014/main" id="{B32A4DF5-E306-3743-A286-26E4654E5E3C}"/>
              </a:ext>
            </a:extLst>
          </p:cNvPr>
          <p:cNvCxnSpPr>
            <a:cxnSpLocks/>
          </p:cNvCxnSpPr>
          <p:nvPr/>
        </p:nvCxnSpPr>
        <p:spPr>
          <a:xfrm flipH="1">
            <a:off x="1088771" y="3326735"/>
            <a:ext cx="24292" cy="1569476"/>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64B1D889-8A1E-31A0-9F60-A62725226DFB}"/>
              </a:ext>
            </a:extLst>
          </p:cNvPr>
          <p:cNvSpPr txBox="1"/>
          <p:nvPr/>
        </p:nvSpPr>
        <p:spPr>
          <a:xfrm>
            <a:off x="7427915" y="1165702"/>
            <a:ext cx="4203473" cy="369332"/>
          </a:xfrm>
          <a:prstGeom prst="rect">
            <a:avLst/>
          </a:prstGeom>
          <a:noFill/>
        </p:spPr>
        <p:txBody>
          <a:bodyPr wrap="square">
            <a:spAutoFit/>
          </a:bodyPr>
          <a:lstStyle/>
          <a:p>
            <a:pPr algn="r" rtl="1">
              <a:spcAft>
                <a:spcPts val="800"/>
              </a:spcAft>
            </a:pPr>
            <a:r>
              <a:rPr lang="he-IL" sz="1800" dirty="0">
                <a:effectLst/>
                <a:latin typeface="Calibri" panose="020F0502020204030204" pitchFamily="34" charset="0"/>
                <a:ea typeface="Times New Roman" panose="02020603050405020304" pitchFamily="18" charset="0"/>
                <a:cs typeface="Arial" panose="020B0604020202020204" pitchFamily="34" charset="0"/>
              </a:rPr>
              <a:t>עקומת הביקוש למוצר </a:t>
            </a:r>
            <a:r>
              <a:rPr lang="en-US" sz="1800" dirty="0">
                <a:effectLst/>
                <a:latin typeface="Arial" panose="020B0604020202020204" pitchFamily="34" charset="0"/>
                <a:ea typeface="Times New Roman" panose="02020603050405020304" pitchFamily="18" charset="0"/>
                <a:cs typeface="Arial" panose="020B0604020202020204" pitchFamily="34" charset="0"/>
              </a:rPr>
              <a:t>X</a:t>
            </a:r>
            <a:r>
              <a:rPr lang="he-IL" sz="1800" dirty="0">
                <a:effectLst/>
                <a:latin typeface="Calibri" panose="020F0502020204030204" pitchFamily="34" charset="0"/>
                <a:ea typeface="Times New Roman" panose="02020603050405020304" pitchFamily="18" charset="0"/>
                <a:cs typeface="Arial" panose="020B0604020202020204" pitchFamily="34" charset="0"/>
              </a:rPr>
              <a:t> יורדת משמאל לימין.</a:t>
            </a:r>
            <a:endParaRPr lang="en-IL" sz="1800" dirty="0">
              <a:effectLst/>
              <a:latin typeface="Calibri" panose="020F0502020204030204" pitchFamily="34" charset="0"/>
              <a:ea typeface="Calibri" panose="020F0502020204030204" pitchFamily="34" charset="0"/>
              <a:cs typeface="Arial" panose="020B0604020202020204" pitchFamily="34" charset="0"/>
            </a:endParaRPr>
          </a:p>
        </p:txBody>
      </p:sp>
      <p:cxnSp>
        <p:nvCxnSpPr>
          <p:cNvPr id="40" name="Straight Connector 39">
            <a:extLst>
              <a:ext uri="{FF2B5EF4-FFF2-40B4-BE49-F238E27FC236}">
                <a16:creationId xmlns:a16="http://schemas.microsoft.com/office/drawing/2014/main" id="{14305ADA-4169-25E8-5782-ACDD3CA499A7}"/>
              </a:ext>
            </a:extLst>
          </p:cNvPr>
          <p:cNvCxnSpPr>
            <a:cxnSpLocks/>
            <a:stCxn id="29" idx="2"/>
          </p:cNvCxnSpPr>
          <p:nvPr/>
        </p:nvCxnSpPr>
        <p:spPr>
          <a:xfrm flipH="1" flipV="1">
            <a:off x="702368" y="3542824"/>
            <a:ext cx="5437221" cy="663"/>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FD891E29-1751-B531-7239-3B92294FA7F4}"/>
              </a:ext>
            </a:extLst>
          </p:cNvPr>
          <p:cNvSpPr txBox="1"/>
          <p:nvPr/>
        </p:nvSpPr>
        <p:spPr>
          <a:xfrm>
            <a:off x="1648491" y="1683212"/>
            <a:ext cx="431118" cy="400110"/>
          </a:xfrm>
          <a:prstGeom prst="rect">
            <a:avLst/>
          </a:prstGeom>
          <a:noFill/>
        </p:spPr>
        <p:txBody>
          <a:bodyPr wrap="square" rtlCol="0">
            <a:spAutoFit/>
          </a:bodyPr>
          <a:lstStyle/>
          <a:p>
            <a:r>
              <a:rPr lang="en-US" sz="2000" b="1" dirty="0">
                <a:solidFill>
                  <a:schemeClr val="accent1"/>
                </a:solidFill>
              </a:rPr>
              <a:t>S</a:t>
            </a:r>
            <a:r>
              <a:rPr lang="en-US" sz="1400" b="1" dirty="0">
                <a:solidFill>
                  <a:schemeClr val="accent1"/>
                </a:solidFill>
              </a:rPr>
              <a:t>0</a:t>
            </a:r>
            <a:endParaRPr lang="en-US" sz="2000" b="1" dirty="0">
              <a:solidFill>
                <a:schemeClr val="accent1"/>
              </a:solidFill>
            </a:endParaRPr>
          </a:p>
        </p:txBody>
      </p:sp>
      <p:sp>
        <p:nvSpPr>
          <p:cNvPr id="42" name="TextBox 41">
            <a:extLst>
              <a:ext uri="{FF2B5EF4-FFF2-40B4-BE49-F238E27FC236}">
                <a16:creationId xmlns:a16="http://schemas.microsoft.com/office/drawing/2014/main" id="{C7B5BBE2-7B84-DF84-8613-7AD215E7AA06}"/>
              </a:ext>
            </a:extLst>
          </p:cNvPr>
          <p:cNvSpPr txBox="1"/>
          <p:nvPr/>
        </p:nvSpPr>
        <p:spPr>
          <a:xfrm>
            <a:off x="1970239" y="1985521"/>
            <a:ext cx="431118" cy="400110"/>
          </a:xfrm>
          <a:prstGeom prst="rect">
            <a:avLst/>
          </a:prstGeom>
          <a:noFill/>
        </p:spPr>
        <p:txBody>
          <a:bodyPr wrap="square" rtlCol="0">
            <a:spAutoFit/>
          </a:bodyPr>
          <a:lstStyle/>
          <a:p>
            <a:r>
              <a:rPr lang="en-US" sz="2000" b="1" dirty="0">
                <a:solidFill>
                  <a:srgbClr val="C00000"/>
                </a:solidFill>
              </a:rPr>
              <a:t>S</a:t>
            </a:r>
            <a:r>
              <a:rPr lang="en-US" sz="1400" b="1" dirty="0">
                <a:solidFill>
                  <a:srgbClr val="C00000"/>
                </a:solidFill>
              </a:rPr>
              <a:t>1</a:t>
            </a:r>
            <a:endParaRPr lang="en-US" sz="2000" b="1" dirty="0">
              <a:solidFill>
                <a:srgbClr val="C00000"/>
              </a:solidFill>
            </a:endParaRPr>
          </a:p>
        </p:txBody>
      </p:sp>
      <p:sp>
        <p:nvSpPr>
          <p:cNvPr id="43" name="TextBox 42">
            <a:extLst>
              <a:ext uri="{FF2B5EF4-FFF2-40B4-BE49-F238E27FC236}">
                <a16:creationId xmlns:a16="http://schemas.microsoft.com/office/drawing/2014/main" id="{81ED9671-1001-4BAC-C35E-47973501C463}"/>
              </a:ext>
            </a:extLst>
          </p:cNvPr>
          <p:cNvSpPr txBox="1"/>
          <p:nvPr/>
        </p:nvSpPr>
        <p:spPr>
          <a:xfrm>
            <a:off x="7261451" y="1683212"/>
            <a:ext cx="431118" cy="400110"/>
          </a:xfrm>
          <a:prstGeom prst="rect">
            <a:avLst/>
          </a:prstGeom>
          <a:noFill/>
        </p:spPr>
        <p:txBody>
          <a:bodyPr wrap="square" rtlCol="0">
            <a:spAutoFit/>
          </a:bodyPr>
          <a:lstStyle/>
          <a:p>
            <a:r>
              <a:rPr lang="en-US" sz="2000" b="1" dirty="0">
                <a:solidFill>
                  <a:schemeClr val="accent1"/>
                </a:solidFill>
              </a:rPr>
              <a:t>S</a:t>
            </a:r>
            <a:r>
              <a:rPr lang="en-US" sz="1400" b="1" dirty="0">
                <a:solidFill>
                  <a:schemeClr val="accent1"/>
                </a:solidFill>
              </a:rPr>
              <a:t>0</a:t>
            </a:r>
            <a:endParaRPr lang="en-US" sz="2000" b="1" dirty="0">
              <a:solidFill>
                <a:schemeClr val="accent1"/>
              </a:solidFill>
            </a:endParaRPr>
          </a:p>
        </p:txBody>
      </p:sp>
      <p:sp>
        <p:nvSpPr>
          <p:cNvPr id="44" name="TextBox 43">
            <a:extLst>
              <a:ext uri="{FF2B5EF4-FFF2-40B4-BE49-F238E27FC236}">
                <a16:creationId xmlns:a16="http://schemas.microsoft.com/office/drawing/2014/main" id="{55B59AD2-A765-9E76-9F34-E9EEBC37D946}"/>
              </a:ext>
            </a:extLst>
          </p:cNvPr>
          <p:cNvSpPr txBox="1"/>
          <p:nvPr/>
        </p:nvSpPr>
        <p:spPr>
          <a:xfrm>
            <a:off x="7583199" y="1985521"/>
            <a:ext cx="431118" cy="400110"/>
          </a:xfrm>
          <a:prstGeom prst="rect">
            <a:avLst/>
          </a:prstGeom>
          <a:noFill/>
        </p:spPr>
        <p:txBody>
          <a:bodyPr wrap="square" rtlCol="0">
            <a:spAutoFit/>
          </a:bodyPr>
          <a:lstStyle/>
          <a:p>
            <a:r>
              <a:rPr lang="en-US" sz="2000" b="1" dirty="0">
                <a:solidFill>
                  <a:srgbClr val="C00000"/>
                </a:solidFill>
              </a:rPr>
              <a:t>S</a:t>
            </a:r>
            <a:r>
              <a:rPr lang="en-US" sz="1400" b="1" dirty="0">
                <a:solidFill>
                  <a:srgbClr val="C00000"/>
                </a:solidFill>
              </a:rPr>
              <a:t>1</a:t>
            </a:r>
            <a:endParaRPr lang="en-US" sz="2000" b="1" dirty="0">
              <a:solidFill>
                <a:srgbClr val="C00000"/>
              </a:solidFill>
            </a:endParaRPr>
          </a:p>
        </p:txBody>
      </p:sp>
      <p:sp>
        <p:nvSpPr>
          <p:cNvPr id="49" name="TextBox 48">
            <a:extLst>
              <a:ext uri="{FF2B5EF4-FFF2-40B4-BE49-F238E27FC236}">
                <a16:creationId xmlns:a16="http://schemas.microsoft.com/office/drawing/2014/main" id="{1EA75898-B5B6-34AC-5126-AB754589540C}"/>
              </a:ext>
            </a:extLst>
          </p:cNvPr>
          <p:cNvSpPr txBox="1"/>
          <p:nvPr/>
        </p:nvSpPr>
        <p:spPr>
          <a:xfrm>
            <a:off x="5749103" y="4804553"/>
            <a:ext cx="432935" cy="369332"/>
          </a:xfrm>
          <a:prstGeom prst="rect">
            <a:avLst/>
          </a:prstGeom>
          <a:noFill/>
        </p:spPr>
        <p:txBody>
          <a:bodyPr wrap="square" rtlCol="0">
            <a:spAutoFit/>
          </a:bodyPr>
          <a:lstStyle/>
          <a:p>
            <a:r>
              <a:rPr lang="en-US" b="1" dirty="0">
                <a:solidFill>
                  <a:schemeClr val="accent1"/>
                </a:solidFill>
              </a:rPr>
              <a:t>Q</a:t>
            </a:r>
            <a:r>
              <a:rPr lang="en-US" sz="1200" b="1" dirty="0">
                <a:solidFill>
                  <a:schemeClr val="accent1"/>
                </a:solidFill>
              </a:rPr>
              <a:t>0</a:t>
            </a:r>
            <a:endParaRPr lang="en-US" b="1" dirty="0">
              <a:solidFill>
                <a:schemeClr val="accent1"/>
              </a:solidFill>
            </a:endParaRPr>
          </a:p>
        </p:txBody>
      </p:sp>
      <p:sp>
        <p:nvSpPr>
          <p:cNvPr id="50" name="TextBox 49">
            <a:extLst>
              <a:ext uri="{FF2B5EF4-FFF2-40B4-BE49-F238E27FC236}">
                <a16:creationId xmlns:a16="http://schemas.microsoft.com/office/drawing/2014/main" id="{5BA48096-A6DF-A28D-21AF-CE96221482C9}"/>
              </a:ext>
            </a:extLst>
          </p:cNvPr>
          <p:cNvSpPr txBox="1"/>
          <p:nvPr/>
        </p:nvSpPr>
        <p:spPr>
          <a:xfrm>
            <a:off x="317879" y="3043349"/>
            <a:ext cx="432935" cy="369332"/>
          </a:xfrm>
          <a:prstGeom prst="rect">
            <a:avLst/>
          </a:prstGeom>
          <a:noFill/>
        </p:spPr>
        <p:txBody>
          <a:bodyPr wrap="square" rtlCol="0">
            <a:spAutoFit/>
          </a:bodyPr>
          <a:lstStyle/>
          <a:p>
            <a:r>
              <a:rPr lang="en-US" b="1" dirty="0">
                <a:solidFill>
                  <a:schemeClr val="accent1"/>
                </a:solidFill>
              </a:rPr>
              <a:t>P</a:t>
            </a:r>
            <a:r>
              <a:rPr lang="en-US" sz="1200" b="1" dirty="0">
                <a:solidFill>
                  <a:schemeClr val="accent1"/>
                </a:solidFill>
              </a:rPr>
              <a:t>0</a:t>
            </a:r>
            <a:endParaRPr lang="en-US" b="1" dirty="0">
              <a:solidFill>
                <a:schemeClr val="accent1"/>
              </a:solidFill>
            </a:endParaRPr>
          </a:p>
        </p:txBody>
      </p:sp>
      <p:sp>
        <p:nvSpPr>
          <p:cNvPr id="51" name="TextBox 50">
            <a:extLst>
              <a:ext uri="{FF2B5EF4-FFF2-40B4-BE49-F238E27FC236}">
                <a16:creationId xmlns:a16="http://schemas.microsoft.com/office/drawing/2014/main" id="{EAA6D26E-9EDE-1FDB-49F6-8E9F5168F73A}"/>
              </a:ext>
            </a:extLst>
          </p:cNvPr>
          <p:cNvSpPr txBox="1"/>
          <p:nvPr/>
        </p:nvSpPr>
        <p:spPr>
          <a:xfrm>
            <a:off x="6109169" y="4816310"/>
            <a:ext cx="432935" cy="369332"/>
          </a:xfrm>
          <a:prstGeom prst="rect">
            <a:avLst/>
          </a:prstGeom>
          <a:noFill/>
        </p:spPr>
        <p:txBody>
          <a:bodyPr wrap="square" rtlCol="0">
            <a:spAutoFit/>
          </a:bodyPr>
          <a:lstStyle/>
          <a:p>
            <a:r>
              <a:rPr lang="en-US" b="1" dirty="0">
                <a:solidFill>
                  <a:srgbClr val="C00000"/>
                </a:solidFill>
              </a:rPr>
              <a:t>Q</a:t>
            </a:r>
            <a:r>
              <a:rPr lang="en-US" sz="1200" b="1" dirty="0">
                <a:solidFill>
                  <a:srgbClr val="C00000"/>
                </a:solidFill>
              </a:rPr>
              <a:t>1</a:t>
            </a:r>
            <a:endParaRPr lang="en-US" b="1" dirty="0">
              <a:solidFill>
                <a:srgbClr val="C00000"/>
              </a:solidFill>
            </a:endParaRPr>
          </a:p>
        </p:txBody>
      </p:sp>
      <p:sp>
        <p:nvSpPr>
          <p:cNvPr id="52" name="TextBox 51">
            <a:extLst>
              <a:ext uri="{FF2B5EF4-FFF2-40B4-BE49-F238E27FC236}">
                <a16:creationId xmlns:a16="http://schemas.microsoft.com/office/drawing/2014/main" id="{8F697C03-F346-39FC-4B3B-B2EDFD6DF321}"/>
              </a:ext>
            </a:extLst>
          </p:cNvPr>
          <p:cNvSpPr txBox="1"/>
          <p:nvPr/>
        </p:nvSpPr>
        <p:spPr>
          <a:xfrm>
            <a:off x="296432" y="3387249"/>
            <a:ext cx="432935" cy="369332"/>
          </a:xfrm>
          <a:prstGeom prst="rect">
            <a:avLst/>
          </a:prstGeom>
          <a:noFill/>
        </p:spPr>
        <p:txBody>
          <a:bodyPr wrap="square" rtlCol="0">
            <a:spAutoFit/>
          </a:bodyPr>
          <a:lstStyle/>
          <a:p>
            <a:r>
              <a:rPr lang="en-US" b="1" dirty="0">
                <a:solidFill>
                  <a:srgbClr val="C00000"/>
                </a:solidFill>
              </a:rPr>
              <a:t>P</a:t>
            </a:r>
            <a:r>
              <a:rPr lang="en-US" sz="1200" b="1" dirty="0">
                <a:solidFill>
                  <a:srgbClr val="C00000"/>
                </a:solidFill>
              </a:rPr>
              <a:t>1</a:t>
            </a:r>
            <a:endParaRPr lang="en-US" b="1" dirty="0">
              <a:solidFill>
                <a:srgbClr val="C00000"/>
              </a:solidFill>
            </a:endParaRPr>
          </a:p>
        </p:txBody>
      </p:sp>
      <p:sp>
        <p:nvSpPr>
          <p:cNvPr id="53" name="Oval 52">
            <a:extLst>
              <a:ext uri="{FF2B5EF4-FFF2-40B4-BE49-F238E27FC236}">
                <a16:creationId xmlns:a16="http://schemas.microsoft.com/office/drawing/2014/main" id="{FA172304-318D-A61D-E8D9-E03CCE0039B7}"/>
              </a:ext>
            </a:extLst>
          </p:cNvPr>
          <p:cNvSpPr/>
          <p:nvPr/>
        </p:nvSpPr>
        <p:spPr>
          <a:xfrm>
            <a:off x="1182874" y="3341841"/>
            <a:ext cx="372096" cy="342005"/>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54" name="Oval 53">
            <a:extLst>
              <a:ext uri="{FF2B5EF4-FFF2-40B4-BE49-F238E27FC236}">
                <a16:creationId xmlns:a16="http://schemas.microsoft.com/office/drawing/2014/main" id="{F4FA58F1-3E7D-0DE7-6446-9A1B55498AB1}"/>
              </a:ext>
            </a:extLst>
          </p:cNvPr>
          <p:cNvSpPr/>
          <p:nvPr/>
        </p:nvSpPr>
        <p:spPr>
          <a:xfrm>
            <a:off x="903804" y="3046598"/>
            <a:ext cx="372096" cy="342005"/>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 name="TextBox 2">
            <a:extLst>
              <a:ext uri="{FF2B5EF4-FFF2-40B4-BE49-F238E27FC236}">
                <a16:creationId xmlns:a16="http://schemas.microsoft.com/office/drawing/2014/main" id="{DA542C85-7A6B-9561-F7D5-5B3F8CBE5A2E}"/>
              </a:ext>
            </a:extLst>
          </p:cNvPr>
          <p:cNvSpPr txBox="1"/>
          <p:nvPr/>
        </p:nvSpPr>
        <p:spPr>
          <a:xfrm>
            <a:off x="8346615" y="1656871"/>
            <a:ext cx="3523555" cy="3058338"/>
          </a:xfrm>
          <a:prstGeom prst="rect">
            <a:avLst/>
          </a:prstGeom>
          <a:solidFill>
            <a:schemeClr val="bg1">
              <a:lumMod val="95000"/>
            </a:schemeClr>
          </a:solidFill>
        </p:spPr>
        <p:txBody>
          <a:bodyPr wrap="square" rtlCol="0">
            <a:spAutoFit/>
          </a:bodyPr>
          <a:lstStyle/>
          <a:p>
            <a:pPr algn="r" rtl="1">
              <a:lnSpc>
                <a:spcPct val="150000"/>
              </a:lnSpc>
            </a:pPr>
            <a:r>
              <a:rPr lang="he-IL" dirty="0"/>
              <a:t>הסבר: </a:t>
            </a:r>
            <a:br>
              <a:rPr lang="en-US" dirty="0"/>
            </a:br>
            <a:r>
              <a:rPr lang="he-IL" sz="1400" b="1" dirty="0">
                <a:solidFill>
                  <a:schemeClr val="tx2"/>
                </a:solidFill>
              </a:rPr>
              <a:t>תשובה 1 נכונה כיוון שאם הביקוש הינו גמיש (גמישות גדולה מ-1 בערך מוחלט) נוכל להסיק שבשוק המצרפי הוצאות הצרכנים עלו (הכמות עלתה ביותר מאשר שהמחיר ירד), לכן סה''כ פדיון כל היצרנים עלה, אז אם פדיון יצרני ב' ירד (המחיר ירד ולכן מייצרים פחות) אז בהכרח שפדיון יצרני א' עלה ובסכום גדול יותר מירידת הפדיון של יצרני ב'</a:t>
            </a:r>
            <a:endParaRPr lang="en-IL" sz="1400" b="1" dirty="0">
              <a:solidFill>
                <a:schemeClr val="tx2"/>
              </a:solidFill>
            </a:endParaRPr>
          </a:p>
        </p:txBody>
      </p:sp>
      <p:sp>
        <p:nvSpPr>
          <p:cNvPr id="4" name="TextBox 3">
            <a:extLst>
              <a:ext uri="{FF2B5EF4-FFF2-40B4-BE49-F238E27FC236}">
                <a16:creationId xmlns:a16="http://schemas.microsoft.com/office/drawing/2014/main" id="{FB7AE95D-EFA3-DE62-C111-100A578AD522}"/>
              </a:ext>
            </a:extLst>
          </p:cNvPr>
          <p:cNvSpPr txBox="1"/>
          <p:nvPr/>
        </p:nvSpPr>
        <p:spPr>
          <a:xfrm>
            <a:off x="119270" y="6305901"/>
            <a:ext cx="9062210" cy="463075"/>
          </a:xfrm>
          <a:prstGeom prst="rect">
            <a:avLst/>
          </a:prstGeom>
          <a:solidFill>
            <a:schemeClr val="bg1">
              <a:lumMod val="95000"/>
            </a:schemeClr>
          </a:solidFill>
        </p:spPr>
        <p:txBody>
          <a:bodyPr wrap="square" rtlCol="0">
            <a:spAutoFit/>
          </a:bodyPr>
          <a:lstStyle/>
          <a:p>
            <a:pPr algn="r" rtl="1">
              <a:lnSpc>
                <a:spcPct val="150000"/>
              </a:lnSpc>
            </a:pPr>
            <a:r>
              <a:rPr lang="he-IL" dirty="0"/>
              <a:t>2</a:t>
            </a:r>
            <a:r>
              <a:rPr lang="he-IL" sz="1600" dirty="0"/>
              <a:t>- לא בהכרח, הפדיון הכולל ירד, פדיון של יצני ב' ירד, אז הפדיון של יצרני א' או ירד, או לא השתנה או עלה במעט</a:t>
            </a:r>
            <a:endParaRPr lang="en-IL" sz="1200" b="1" dirty="0">
              <a:solidFill>
                <a:schemeClr val="tx2"/>
              </a:solidFill>
            </a:endParaRPr>
          </a:p>
        </p:txBody>
      </p:sp>
    </p:spTree>
    <p:extLst>
      <p:ext uri="{BB962C8B-B14F-4D97-AF65-F5344CB8AC3E}">
        <p14:creationId xmlns:p14="http://schemas.microsoft.com/office/powerpoint/2010/main" val="3549673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barn(inVertical)">
                                      <p:cBhvr>
                                        <p:cTn id="13" dur="500"/>
                                        <p:tgtEl>
                                          <p:spTgt spid="19"/>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42"/>
                                        </p:tgtEl>
                                        <p:attrNameLst>
                                          <p:attrName>style.visibility</p:attrName>
                                        </p:attrNameLst>
                                      </p:cBhvr>
                                      <p:to>
                                        <p:strVal val="visible"/>
                                      </p:to>
                                    </p:set>
                                    <p:animEffect transition="in" filter="barn(inVertical)">
                                      <p:cBhvr>
                                        <p:cTn id="16" dur="500"/>
                                        <p:tgtEl>
                                          <p:spTgt spid="42"/>
                                        </p:tgtEl>
                                      </p:cBhvr>
                                    </p:animEffect>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circle(in)">
                                      <p:cBhvr>
                                        <p:cTn id="21" dur="2000"/>
                                        <p:tgtEl>
                                          <p:spTgt spid="21"/>
                                        </p:tgtEl>
                                      </p:cBhvr>
                                    </p:animEffect>
                                  </p:childTnLst>
                                </p:cTn>
                              </p:par>
                              <p:par>
                                <p:cTn id="22" presetID="6" presetClass="entr" presetSubtype="16" fill="hold" grpId="0" nodeType="withEffect">
                                  <p:stCondLst>
                                    <p:cond delay="0"/>
                                  </p:stCondLst>
                                  <p:childTnLst>
                                    <p:set>
                                      <p:cBhvr>
                                        <p:cTn id="23" dur="1" fill="hold">
                                          <p:stCondLst>
                                            <p:cond delay="0"/>
                                          </p:stCondLst>
                                        </p:cTn>
                                        <p:tgtEl>
                                          <p:spTgt spid="44"/>
                                        </p:tgtEl>
                                        <p:attrNameLst>
                                          <p:attrName>style.visibility</p:attrName>
                                        </p:attrNameLst>
                                      </p:cBhvr>
                                      <p:to>
                                        <p:strVal val="visible"/>
                                      </p:to>
                                    </p:set>
                                    <p:animEffect transition="in" filter="circle(in)">
                                      <p:cBhvr>
                                        <p:cTn id="24" dur="2000"/>
                                        <p:tgtEl>
                                          <p:spTgt spid="44"/>
                                        </p:tgtEl>
                                      </p:cBhvr>
                                    </p:animEffect>
                                  </p:childTnLst>
                                </p:cTn>
                              </p:par>
                            </p:childTnLst>
                          </p:cTn>
                        </p:par>
                      </p:childTnLst>
                    </p:cTn>
                  </p:par>
                  <p:par>
                    <p:cTn id="25" fill="hold">
                      <p:stCondLst>
                        <p:cond delay="indefinite"/>
                      </p:stCondLst>
                      <p:childTnLst>
                        <p:par>
                          <p:cTn id="26" fill="hold">
                            <p:stCondLst>
                              <p:cond delay="0"/>
                            </p:stCondLst>
                            <p:childTnLst>
                              <p:par>
                                <p:cTn id="27" presetID="6" presetClass="entr" presetSubtype="16" fill="hold" grpId="0" nodeType="click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circle(in)">
                                      <p:cBhvr>
                                        <p:cTn id="29" dur="2000"/>
                                        <p:tgtEl>
                                          <p:spTgt spid="29"/>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40"/>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25"/>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49"/>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50"/>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51"/>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52"/>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36"/>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24"/>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6" presetClass="entr" presetSubtype="16" fill="hold" grpId="0" nodeType="clickEffect">
                                  <p:stCondLst>
                                    <p:cond delay="0"/>
                                  </p:stCondLst>
                                  <p:childTnLst>
                                    <p:set>
                                      <p:cBhvr>
                                        <p:cTn id="53" dur="1" fill="hold">
                                          <p:stCondLst>
                                            <p:cond delay="0"/>
                                          </p:stCondLst>
                                        </p:cTn>
                                        <p:tgtEl>
                                          <p:spTgt spid="53"/>
                                        </p:tgtEl>
                                        <p:attrNameLst>
                                          <p:attrName>style.visibility</p:attrName>
                                        </p:attrNameLst>
                                      </p:cBhvr>
                                      <p:to>
                                        <p:strVal val="visible"/>
                                      </p:to>
                                    </p:set>
                                    <p:animEffect transition="in" filter="circle(in)">
                                      <p:cBhvr>
                                        <p:cTn id="54" dur="2000"/>
                                        <p:tgtEl>
                                          <p:spTgt spid="53"/>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6" grpId="0" animBg="1"/>
      <p:bldP spid="41" grpId="0"/>
      <p:bldP spid="42" grpId="0"/>
      <p:bldP spid="43" grpId="0"/>
      <p:bldP spid="44" grpId="0"/>
      <p:bldP spid="49" grpId="0"/>
      <p:bldP spid="50" grpId="0"/>
      <p:bldP spid="51" grpId="0"/>
      <p:bldP spid="52" grpId="0"/>
      <p:bldP spid="5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86CFC-21FB-6BDA-BA4E-162AB7AF68F4}"/>
              </a:ext>
            </a:extLst>
          </p:cNvPr>
          <p:cNvSpPr>
            <a:spLocks noGrp="1"/>
          </p:cNvSpPr>
          <p:nvPr>
            <p:ph type="title"/>
          </p:nvPr>
        </p:nvSpPr>
        <p:spPr>
          <a:xfrm>
            <a:off x="10452682" y="79899"/>
            <a:ext cx="1647738" cy="633165"/>
          </a:xfrm>
        </p:spPr>
        <p:txBody>
          <a:bodyPr>
            <a:normAutofit/>
          </a:bodyPr>
          <a:lstStyle/>
          <a:p>
            <a:pPr algn="r" rtl="1"/>
            <a:r>
              <a:rPr lang="he-IL" sz="3200" dirty="0"/>
              <a:t>שאלה 17 </a:t>
            </a:r>
            <a:endParaRPr lang="en-IL" sz="3200" dirty="0"/>
          </a:p>
        </p:txBody>
      </p:sp>
      <p:sp>
        <p:nvSpPr>
          <p:cNvPr id="5" name="TextBox 4">
            <a:extLst>
              <a:ext uri="{FF2B5EF4-FFF2-40B4-BE49-F238E27FC236}">
                <a16:creationId xmlns:a16="http://schemas.microsoft.com/office/drawing/2014/main" id="{85958B51-5284-67B9-7EAF-F65DCAE71E98}"/>
              </a:ext>
            </a:extLst>
          </p:cNvPr>
          <p:cNvSpPr txBox="1"/>
          <p:nvPr/>
        </p:nvSpPr>
        <p:spPr>
          <a:xfrm>
            <a:off x="5826034" y="713064"/>
            <a:ext cx="6168550" cy="1709571"/>
          </a:xfrm>
          <a:prstGeom prst="rect">
            <a:avLst/>
          </a:prstGeom>
          <a:noFill/>
        </p:spPr>
        <p:txBody>
          <a:bodyPr wrap="square">
            <a:spAutoFit/>
          </a:bodyPr>
          <a:lstStyle/>
          <a:p>
            <a:pPr algn="r" rtl="1">
              <a:lnSpc>
                <a:spcPct val="150000"/>
              </a:lnSpc>
              <a:spcAft>
                <a:spcPts val="800"/>
              </a:spcAft>
            </a:pPr>
            <a:r>
              <a:rPr lang="he-IL" sz="1800" b="1" dirty="0">
                <a:effectLst/>
                <a:latin typeface="Calibri" panose="020F0502020204030204" pitchFamily="34" charset="0"/>
                <a:ea typeface="Times New Roman" panose="02020603050405020304" pitchFamily="18" charset="0"/>
                <a:cs typeface="Arial" panose="020B0604020202020204" pitchFamily="34" charset="0"/>
              </a:rPr>
              <a:t>במשק קטארגט ישנם 100 עובדים, כאשר כל העובדים במשק מייצרים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הם מסוגלים לייצר ביחד 100 יחידות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ידוע כי לאחר פתיחת המשק למסחר בינלאומי, המשק יכול לצרוך לכל היותר 100 יחידות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לאור זאת:</a:t>
            </a:r>
            <a:endParaRPr lang="en-IL"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E957C55C-F6BA-608C-DF2B-3A633E567A8E}"/>
              </a:ext>
            </a:extLst>
          </p:cNvPr>
          <p:cNvSpPr txBox="1"/>
          <p:nvPr/>
        </p:nvSpPr>
        <p:spPr>
          <a:xfrm>
            <a:off x="275152" y="2615023"/>
            <a:ext cx="11641695" cy="2119747"/>
          </a:xfrm>
          <a:prstGeom prst="rect">
            <a:avLst/>
          </a:prstGeom>
          <a:noFill/>
        </p:spPr>
        <p:txBody>
          <a:bodyPr wrap="square">
            <a:spAutoFit/>
          </a:bodyPr>
          <a:lstStyle/>
          <a:p>
            <a:pPr marL="342900" indent="-342900" algn="r" rtl="1">
              <a:lnSpc>
                <a:spcPct val="150000"/>
              </a:lnSpc>
              <a:buFont typeface="+mj-lt"/>
              <a:buAutoNum type="arabicPeriod"/>
            </a:pPr>
            <a:r>
              <a:rPr lang="he-IL" dirty="0">
                <a:latin typeface="Times New Roman" panose="02020603050405020304" pitchFamily="18" charset="0"/>
                <a:ea typeface="Times New Roman" panose="02020603050405020304" pitchFamily="18" charset="0"/>
              </a:rPr>
              <a:t>העלות האלטרנטיבית השולית לייצור </a:t>
            </a:r>
            <a:r>
              <a:rPr lang="en-US" dirty="0">
                <a:latin typeface="Arial" panose="020B0604020202020204" pitchFamily="34" charset="0"/>
                <a:ea typeface="Times New Roman" panose="02020603050405020304" pitchFamily="18" charset="0"/>
              </a:rPr>
              <a:t>X</a:t>
            </a:r>
            <a:r>
              <a:rPr lang="he-IL" dirty="0">
                <a:latin typeface="Times New Roman" panose="02020603050405020304" pitchFamily="18" charset="0"/>
                <a:ea typeface="Times New Roman" panose="02020603050405020304" pitchFamily="18" charset="0"/>
              </a:rPr>
              <a:t> שווה ליחס המחירים העולמי.</a:t>
            </a:r>
            <a:endParaRPr lang="en-IL" dirty="0">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העלות האלטרנטיבית השולית לייצור </a:t>
            </a:r>
            <a:r>
              <a:rPr lang="en-US" sz="1800" dirty="0">
                <a:effectLst/>
                <a:latin typeface="Arial" panose="020B0604020202020204" pitchFamily="34" charset="0"/>
                <a:ea typeface="Times New Roman" panose="02020603050405020304" pitchFamily="18" charset="0"/>
              </a:rPr>
              <a:t>X</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נמוכה מיחס המחירים העולמי.</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העלות האלטרנטיבית השולית לייצור </a:t>
            </a:r>
            <a:r>
              <a:rPr lang="en-US" sz="1800" dirty="0">
                <a:effectLst/>
                <a:latin typeface="Arial" panose="020B0604020202020204" pitchFamily="34" charset="0"/>
                <a:ea typeface="Times New Roman" panose="02020603050405020304" pitchFamily="18" charset="0"/>
              </a:rPr>
              <a:t>X</a:t>
            </a:r>
            <a:r>
              <a:rPr lang="he-IL" sz="1800" dirty="0">
                <a:effectLst/>
                <a:latin typeface="Arial" panose="020B0604020202020204" pitchFamily="34" charset="0"/>
                <a:ea typeface="Times New Roman" panose="02020603050405020304" pitchFamily="18" charset="0"/>
              </a:rPr>
              <a:t> </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גבוהה מיחס המחירים העולמי.</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לא יתכן שהמשק לא יכול לצרוך יותר מ- 100 יחידות </a:t>
            </a:r>
            <a:r>
              <a:rPr lang="en-US" sz="1800" dirty="0">
                <a:effectLst/>
                <a:latin typeface="Arial" panose="020B0604020202020204" pitchFamily="34" charset="0"/>
                <a:ea typeface="Times New Roman" panose="02020603050405020304" pitchFamily="18" charset="0"/>
              </a:rPr>
              <a:t>X</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כאשר נפתח למסחר.</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כל התשובות האחרות לא נכונות.</a:t>
            </a:r>
            <a:endParaRPr lang="en-IL"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360231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8400" y="76200"/>
            <a:ext cx="7772400" cy="1143000"/>
          </a:xfrm>
        </p:spPr>
        <p:txBody>
          <a:bodyPr/>
          <a:lstStyle/>
          <a:p>
            <a:pPr algn="ctr"/>
            <a:r>
              <a:rPr lang="he-IL" dirty="0"/>
              <a:t>מסחר בינלאומי</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285326" y="4557823"/>
                <a:ext cx="9236114" cy="1638300"/>
              </a:xfrm>
            </p:spPr>
            <p:txBody>
              <a:bodyPr>
                <a:noAutofit/>
              </a:bodyPr>
              <a:lstStyle/>
              <a:p>
                <a:pPr marL="457200" indent="-457200">
                  <a:lnSpc>
                    <a:spcPct val="150000"/>
                  </a:lnSpc>
                  <a:buAutoNum type="arabicPeriod"/>
                </a:pPr>
                <a:r>
                  <a:rPr lang="he-IL" sz="2000" u="sng" dirty="0">
                    <a:latin typeface="David" pitchFamily="34" charset="-79"/>
                    <a:cs typeface="David" pitchFamily="34" charset="-79"/>
                  </a:rPr>
                  <a:t>במידה והעלות האלט' השולית לייצור מוצר</a:t>
                </a:r>
                <a:r>
                  <a:rPr lang="en-US" sz="2000" u="sng" dirty="0">
                    <a:latin typeface="David" pitchFamily="34" charset="-79"/>
                    <a:cs typeface="David" pitchFamily="34" charset="-79"/>
                  </a:rPr>
                  <a:t>X</a:t>
                </a:r>
                <a:r>
                  <a:rPr lang="he-IL" sz="2000" u="sng" dirty="0">
                    <a:latin typeface="David" pitchFamily="34" charset="-79"/>
                    <a:cs typeface="David" pitchFamily="34" charset="-79"/>
                  </a:rPr>
                  <a:t> (</a:t>
                </a:r>
                <a14:m>
                  <m:oMath xmlns:m="http://schemas.openxmlformats.org/officeDocument/2006/math">
                    <m:r>
                      <m:rPr>
                        <m:sty m:val="p"/>
                      </m:rPr>
                      <a:rPr lang="en-US" sz="2000" u="sng">
                        <a:solidFill>
                          <a:srgbClr val="4F81BD">
                            <a:lumMod val="75000"/>
                          </a:srgbClr>
                        </a:solidFill>
                        <a:latin typeface="Cambria Math" panose="02040503050406030204" pitchFamily="18" charset="0"/>
                      </a:rPr>
                      <m:t>MC</m:t>
                    </m:r>
                    <m:r>
                      <m:rPr>
                        <m:sty m:val="p"/>
                      </m:rPr>
                      <a:rPr lang="he-IL" sz="2000" u="sng">
                        <a:solidFill>
                          <a:srgbClr val="4F81BD">
                            <a:lumMod val="75000"/>
                          </a:srgbClr>
                        </a:solidFill>
                        <a:latin typeface="Cambria Math"/>
                      </a:rPr>
                      <m:t>x</m:t>
                    </m:r>
                  </m:oMath>
                </a14:m>
                <a:r>
                  <a:rPr lang="he-IL" sz="2000" u="sng" dirty="0">
                    <a:latin typeface="David" pitchFamily="34" charset="-79"/>
                    <a:cs typeface="David" pitchFamily="34" charset="-79"/>
                  </a:rPr>
                  <a:t>)</a:t>
                </a:r>
                <a:r>
                  <a:rPr lang="en-US" sz="2000" u="sng" dirty="0">
                    <a:latin typeface="David" pitchFamily="34" charset="-79"/>
                    <a:cs typeface="David" pitchFamily="34" charset="-79"/>
                  </a:rPr>
                  <a:t> </a:t>
                </a:r>
                <a:r>
                  <a:rPr lang="he-IL" sz="2000" b="1" u="sng" dirty="0">
                    <a:latin typeface="David" pitchFamily="34" charset="-79"/>
                    <a:cs typeface="David" pitchFamily="34" charset="-79"/>
                  </a:rPr>
                  <a:t>נמוכה יותר </a:t>
                </a:r>
                <a:r>
                  <a:rPr lang="he-IL" sz="2000" u="sng" dirty="0">
                    <a:latin typeface="David" pitchFamily="34" charset="-79"/>
                    <a:cs typeface="David" pitchFamily="34" charset="-79"/>
                  </a:rPr>
                  <a:t>מ</a:t>
                </a:r>
                <a:r>
                  <a:rPr lang="en-US" sz="2000" u="sng" dirty="0">
                    <a:latin typeface="David" pitchFamily="34" charset="-79"/>
                    <a:cs typeface="David" pitchFamily="34" charset="-79"/>
                  </a:rPr>
                  <a:t> </a:t>
                </a:r>
                <a14:m>
                  <m:oMath xmlns:m="http://schemas.openxmlformats.org/officeDocument/2006/math">
                    <m:r>
                      <m:rPr>
                        <m:sty m:val="p"/>
                      </m:rPr>
                      <a:rPr lang="he-IL" sz="2000" u="sng">
                        <a:solidFill>
                          <a:srgbClr val="4F81BD">
                            <a:lumMod val="75000"/>
                          </a:srgbClr>
                        </a:solidFill>
                        <a:latin typeface="Cambria Math"/>
                      </a:rPr>
                      <m:t>Px</m:t>
                    </m:r>
                    <m:r>
                      <a:rPr lang="he-IL" sz="2000" i="1" u="sng">
                        <a:solidFill>
                          <a:srgbClr val="4F81BD">
                            <a:lumMod val="75000"/>
                          </a:srgbClr>
                        </a:solidFill>
                        <a:latin typeface="Cambria Math"/>
                      </a:rPr>
                      <m:t> </m:t>
                    </m:r>
                  </m:oMath>
                </a14:m>
                <a:r>
                  <a:rPr lang="en-US" sz="2000" u="sng" dirty="0">
                    <a:latin typeface="David" pitchFamily="34" charset="-79"/>
                    <a:cs typeface="David" pitchFamily="34" charset="-79"/>
                  </a:rPr>
                  <a:t>-</a:t>
                </a:r>
                <a:r>
                  <a:rPr lang="he-IL" sz="2000" u="sng" dirty="0">
                    <a:latin typeface="David" pitchFamily="34" charset="-79"/>
                    <a:cs typeface="David" pitchFamily="34" charset="-79"/>
                  </a:rPr>
                  <a:t> (</a:t>
                </a:r>
                <a14:m>
                  <m:oMath xmlns:m="http://schemas.openxmlformats.org/officeDocument/2006/math">
                    <m:r>
                      <m:rPr>
                        <m:nor/>
                      </m:rPr>
                      <a:rPr lang="en-US" sz="2000" u="sng" dirty="0">
                        <a:latin typeface="David" pitchFamily="34" charset="-79"/>
                        <a:cs typeface="David" pitchFamily="34" charset="-79"/>
                      </a:rPr>
                      <m:t>X</m:t>
                    </m:r>
                    <m:r>
                      <m:rPr>
                        <m:nor/>
                      </m:rPr>
                      <a:rPr lang="he-IL" sz="2000" u="sng" dirty="0">
                        <a:latin typeface="David" pitchFamily="34" charset="-79"/>
                        <a:cs typeface="David" pitchFamily="34" charset="-79"/>
                      </a:rPr>
                      <m:t>מחיר יחידת </m:t>
                    </m:r>
                  </m:oMath>
                </a14:m>
                <a:r>
                  <a:rPr lang="he-IL" sz="2000" u="sng" dirty="0">
                    <a:latin typeface="David" pitchFamily="34" charset="-79"/>
                    <a:cs typeface="David" pitchFamily="34" charset="-79"/>
                  </a:rPr>
                  <a:t>)</a:t>
                </a:r>
                <a:r>
                  <a:rPr lang="he-IL" sz="2000" dirty="0">
                    <a:latin typeface="David" pitchFamily="34" charset="-79"/>
                    <a:cs typeface="David" pitchFamily="34" charset="-79"/>
                  </a:rPr>
                  <a:t>, אז המשמעות היא ש</a:t>
                </a:r>
                <a:r>
                  <a:rPr lang="he-IL" sz="2000" b="1" dirty="0">
                    <a:latin typeface="David" pitchFamily="34" charset="-79"/>
                    <a:cs typeface="David" pitchFamily="34" charset="-79"/>
                  </a:rPr>
                  <a:t>זול יותר לייצר את מוצר </a:t>
                </a:r>
                <a:r>
                  <a:rPr lang="en-US" sz="2000" b="1" dirty="0">
                    <a:latin typeface="David" pitchFamily="34" charset="-79"/>
                    <a:cs typeface="David" pitchFamily="34" charset="-79"/>
                  </a:rPr>
                  <a:t>X</a:t>
                </a:r>
                <a:r>
                  <a:rPr lang="he-IL" sz="2000" b="1" dirty="0">
                    <a:latin typeface="David" pitchFamily="34" charset="-79"/>
                    <a:cs typeface="David" pitchFamily="34" charset="-79"/>
                  </a:rPr>
                  <a:t> במשק עצמו </a:t>
                </a:r>
                <a:r>
                  <a:rPr lang="he-IL" sz="2000" dirty="0">
                    <a:latin typeface="David" pitchFamily="34" charset="-79"/>
                    <a:cs typeface="David" pitchFamily="34" charset="-79"/>
                  </a:rPr>
                  <a:t>ולא לייבא אותו מהמדינה השנייה, לכן </a:t>
                </a:r>
                <a:r>
                  <a:rPr lang="he-IL" sz="2000" u="sng" dirty="0">
                    <a:latin typeface="David" pitchFamily="34" charset="-79"/>
                    <a:cs typeface="David" pitchFamily="34" charset="-79"/>
                  </a:rPr>
                  <a:t>עדיף למשק לייצר את המוצר </a:t>
                </a:r>
                <a:r>
                  <a:rPr lang="en-US" sz="2000" u="sng" dirty="0">
                    <a:latin typeface="David" pitchFamily="34" charset="-79"/>
                    <a:cs typeface="David" pitchFamily="34" charset="-79"/>
                  </a:rPr>
                  <a:t>X</a:t>
                </a:r>
                <a:r>
                  <a:rPr lang="he-IL" sz="2000" u="sng" dirty="0">
                    <a:latin typeface="David" pitchFamily="34" charset="-79"/>
                    <a:cs typeface="David" pitchFamily="34" charset="-79"/>
                  </a:rPr>
                  <a:t> בלבד</a:t>
                </a:r>
                <a:r>
                  <a:rPr lang="he-IL" sz="2000" dirty="0">
                    <a:latin typeface="David" pitchFamily="34" charset="-79"/>
                    <a:cs typeface="David" pitchFamily="34" charset="-79"/>
                  </a:rPr>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285326" y="4557823"/>
                <a:ext cx="9236114" cy="1638300"/>
              </a:xfrm>
              <a:blipFill>
                <a:blip r:embed="rId2"/>
                <a:stretch>
                  <a:fillRect r="-462"/>
                </a:stretch>
              </a:blipFill>
            </p:spPr>
            <p:txBody>
              <a:bodyPr/>
              <a:lstStyle/>
              <a:p>
                <a:r>
                  <a:rPr lang="en-IL">
                    <a:noFill/>
                  </a:rPr>
                  <a:t> </a:t>
                </a:r>
              </a:p>
            </p:txBody>
          </p:sp>
        </mc:Fallback>
      </mc:AlternateContent>
      <p:sp>
        <p:nvSpPr>
          <p:cNvPr id="4" name="Slide Number Placeholder 3"/>
          <p:cNvSpPr>
            <a:spLocks noGrp="1"/>
          </p:cNvSpPr>
          <p:nvPr>
            <p:ph type="sldNum" sz="quarter" idx="12"/>
          </p:nvPr>
        </p:nvSpPr>
        <p:spPr/>
        <p:txBody>
          <a:bodyPr/>
          <a:lstStyle/>
          <a:p>
            <a:fld id="{0A24AF92-42DA-4C17-AB33-95A624A1878D}" type="slidenum">
              <a:rPr lang="en-US">
                <a:solidFill>
                  <a:prstClr val="black">
                    <a:tint val="75000"/>
                  </a:prstClr>
                </a:solidFill>
                <a:latin typeface="Calibri" panose="020F0502020204030204"/>
              </a:rPr>
              <a:pPr/>
              <a:t>9</a:t>
            </a:fld>
            <a:endParaRPr lang="en-US">
              <a:solidFill>
                <a:prstClr val="black">
                  <a:tint val="75000"/>
                </a:prstClr>
              </a:solidFill>
              <a:latin typeface="Calibri" panose="020F0502020204030204"/>
            </a:endParaRPr>
          </a:p>
        </p:txBody>
      </p:sp>
      <p:sp>
        <p:nvSpPr>
          <p:cNvPr id="5" name="Rectangle 4"/>
          <p:cNvSpPr/>
          <p:nvPr/>
        </p:nvSpPr>
        <p:spPr>
          <a:xfrm>
            <a:off x="5029200" y="1447801"/>
            <a:ext cx="5416868" cy="461665"/>
          </a:xfrm>
          <a:prstGeom prst="rect">
            <a:avLst/>
          </a:prstGeom>
          <a:solidFill>
            <a:schemeClr val="accent1">
              <a:lumMod val="20000"/>
              <a:lumOff val="80000"/>
            </a:schemeClr>
          </a:solidFill>
        </p:spPr>
        <p:txBody>
          <a:bodyPr wrap="none">
            <a:spAutoFit/>
          </a:bodyPr>
          <a:lstStyle/>
          <a:p>
            <a:r>
              <a:rPr lang="he-IL" sz="2400" i="1" dirty="0">
                <a:solidFill>
                  <a:prstClr val="black"/>
                </a:solidFill>
                <a:latin typeface="David" pitchFamily="34" charset="-79"/>
                <a:cs typeface="David" pitchFamily="34" charset="-79"/>
              </a:rPr>
              <a:t>אז כיצד נבחר את נקודת הייצור הטובה ביותר?</a:t>
            </a:r>
            <a:r>
              <a:rPr lang="en-US" sz="2400" i="1" dirty="0">
                <a:solidFill>
                  <a:prstClr val="black"/>
                </a:solidFill>
                <a:latin typeface="David" pitchFamily="34" charset="-79"/>
                <a:cs typeface="David" pitchFamily="34" charset="-79"/>
              </a:rPr>
              <a:t> </a:t>
            </a:r>
            <a:endParaRPr lang="en-US" sz="2400" i="1" dirty="0">
              <a:solidFill>
                <a:prstClr val="black"/>
              </a:solidFill>
              <a:latin typeface="Calibri" panose="020F0502020204030204"/>
            </a:endParaRPr>
          </a:p>
        </p:txBody>
      </p:sp>
      <mc:AlternateContent xmlns:mc="http://schemas.openxmlformats.org/markup-compatibility/2006" xmlns:a14="http://schemas.microsoft.com/office/drawing/2010/main">
        <mc:Choice Requires="a14">
          <p:sp>
            <p:nvSpPr>
              <p:cNvPr id="6" name="Rectangle 5"/>
              <p:cNvSpPr/>
              <p:nvPr/>
            </p:nvSpPr>
            <p:spPr>
              <a:xfrm>
                <a:off x="4191000" y="2138065"/>
                <a:ext cx="6019800" cy="923330"/>
              </a:xfrm>
              <a:prstGeom prst="rect">
                <a:avLst/>
              </a:prstGeom>
            </p:spPr>
            <p:txBody>
              <a:bodyPr wrap="square">
                <a:spAutoFit/>
              </a:bodyPr>
              <a:lstStyle/>
              <a:p>
                <a:pPr algn="r" rtl="1">
                  <a:lnSpc>
                    <a:spcPct val="150000"/>
                  </a:lnSpc>
                </a:pPr>
                <a:r>
                  <a:rPr lang="he-IL" dirty="0">
                    <a:solidFill>
                      <a:prstClr val="black"/>
                    </a:solidFill>
                    <a:latin typeface="David" pitchFamily="34" charset="-79"/>
                    <a:cs typeface="David" pitchFamily="34" charset="-79"/>
                  </a:rPr>
                  <a:t>נקודת הייצור תלויה הן ב-</a:t>
                </a:r>
                <a:r>
                  <a:rPr lang="he-IL" dirty="0">
                    <a:solidFill>
                      <a:srgbClr val="4F81BD">
                        <a:lumMod val="75000"/>
                      </a:srgbClr>
                    </a:solidFill>
                    <a:latin typeface="Calibri" panose="020F0502020204030204"/>
                    <a:cs typeface="Arial" panose="020B0604020202020204" pitchFamily="34" charset="0"/>
                  </a:rPr>
                  <a:t> </a:t>
                </a:r>
                <a14:m>
                  <m:oMath xmlns:m="http://schemas.openxmlformats.org/officeDocument/2006/math">
                    <m:r>
                      <m:rPr>
                        <m:sty m:val="p"/>
                      </m:rPr>
                      <a:rPr lang="he-IL">
                        <a:solidFill>
                          <a:srgbClr val="4F81BD">
                            <a:lumMod val="75000"/>
                          </a:srgbClr>
                        </a:solidFill>
                        <a:latin typeface="Cambria Math"/>
                      </a:rPr>
                      <m:t>Px</m:t>
                    </m:r>
                  </m:oMath>
                </a14:m>
                <a:r>
                  <a:rPr lang="he-IL" dirty="0">
                    <a:solidFill>
                      <a:prstClr val="black"/>
                    </a:solidFill>
                    <a:latin typeface="David" pitchFamily="34" charset="-79"/>
                    <a:cs typeface="David" pitchFamily="34" charset="-79"/>
                  </a:rPr>
                  <a:t> (מחיר יחידת </a:t>
                </a:r>
                <a:r>
                  <a:rPr lang="en-US" dirty="0">
                    <a:solidFill>
                      <a:prstClr val="black"/>
                    </a:solidFill>
                    <a:latin typeface="David" pitchFamily="34" charset="-79"/>
                    <a:cs typeface="David" pitchFamily="34" charset="-79"/>
                  </a:rPr>
                  <a:t>X</a:t>
                </a:r>
                <a:r>
                  <a:rPr lang="he-IL" dirty="0">
                    <a:solidFill>
                      <a:prstClr val="black"/>
                    </a:solidFill>
                    <a:latin typeface="David" pitchFamily="34" charset="-79"/>
                    <a:cs typeface="David" pitchFamily="34" charset="-79"/>
                  </a:rPr>
                  <a:t> במונחי </a:t>
                </a:r>
                <a:r>
                  <a:rPr lang="en-US" dirty="0">
                    <a:solidFill>
                      <a:prstClr val="black"/>
                    </a:solidFill>
                    <a:latin typeface="David" pitchFamily="34" charset="-79"/>
                    <a:cs typeface="David" pitchFamily="34" charset="-79"/>
                  </a:rPr>
                  <a:t>Y</a:t>
                </a:r>
                <a:r>
                  <a:rPr lang="he-IL" dirty="0">
                    <a:solidFill>
                      <a:prstClr val="black"/>
                    </a:solidFill>
                    <a:latin typeface="David" pitchFamily="34" charset="-79"/>
                    <a:cs typeface="David" pitchFamily="34" charset="-79"/>
                  </a:rPr>
                  <a:t>) והן בעלויות האלט' השוליות לייצור מוצר </a:t>
                </a:r>
                <a:r>
                  <a:rPr lang="en-US" dirty="0">
                    <a:solidFill>
                      <a:prstClr val="black"/>
                    </a:solidFill>
                    <a:latin typeface="David" pitchFamily="34" charset="-79"/>
                    <a:cs typeface="David" pitchFamily="34" charset="-79"/>
                  </a:rPr>
                  <a:t>X</a:t>
                </a:r>
                <a:r>
                  <a:rPr lang="he-IL" dirty="0">
                    <a:solidFill>
                      <a:prstClr val="black"/>
                    </a:solidFill>
                    <a:latin typeface="David" pitchFamily="34" charset="-79"/>
                    <a:cs typeface="David" pitchFamily="34" charset="-79"/>
                  </a:rPr>
                  <a:t> במשק. </a:t>
                </a:r>
              </a:p>
            </p:txBody>
          </p:sp>
        </mc:Choice>
        <mc:Fallback xmlns="">
          <p:sp>
            <p:nvSpPr>
              <p:cNvPr id="6" name="Rectangle 5"/>
              <p:cNvSpPr>
                <a:spLocks noRot="1" noChangeAspect="1" noMove="1" noResize="1" noEditPoints="1" noAdjustHandles="1" noChangeArrowheads="1" noChangeShapeType="1" noTextEdit="1"/>
              </p:cNvSpPr>
              <p:nvPr/>
            </p:nvSpPr>
            <p:spPr>
              <a:xfrm>
                <a:off x="4191000" y="2138065"/>
                <a:ext cx="6019800" cy="923330"/>
              </a:xfrm>
              <a:prstGeom prst="rect">
                <a:avLst/>
              </a:prstGeom>
              <a:blipFill>
                <a:blip r:embed="rId3"/>
                <a:stretch>
                  <a:fillRect r="-811" b="-5960"/>
                </a:stretch>
              </a:blipFill>
            </p:spPr>
            <p:txBody>
              <a:bodyPr/>
              <a:lstStyle/>
              <a:p>
                <a:r>
                  <a:rPr lang="en-IL">
                    <a:noFill/>
                  </a:rPr>
                  <a:t> </a:t>
                </a:r>
              </a:p>
            </p:txBody>
          </p:sp>
        </mc:Fallback>
      </mc:AlternateContent>
      <p:sp>
        <p:nvSpPr>
          <p:cNvPr id="7" name="Rectangle 6"/>
          <p:cNvSpPr/>
          <p:nvPr/>
        </p:nvSpPr>
        <p:spPr>
          <a:xfrm>
            <a:off x="7972314" y="3966036"/>
            <a:ext cx="2473754" cy="473206"/>
          </a:xfrm>
          <a:prstGeom prst="rect">
            <a:avLst/>
          </a:prstGeom>
        </p:spPr>
        <p:txBody>
          <a:bodyPr wrap="none">
            <a:spAutoFit/>
          </a:bodyPr>
          <a:lstStyle/>
          <a:p>
            <a:pPr algn="r" rtl="1">
              <a:lnSpc>
                <a:spcPct val="150000"/>
              </a:lnSpc>
            </a:pPr>
            <a:r>
              <a:rPr lang="he-IL" b="1" u="sng" dirty="0">
                <a:solidFill>
                  <a:prstClr val="black"/>
                </a:solidFill>
                <a:latin typeface="David" pitchFamily="34" charset="-79"/>
                <a:cs typeface="David" pitchFamily="34" charset="-79"/>
              </a:rPr>
              <a:t>בעקומת תמורה ליניארית</a:t>
            </a:r>
            <a:r>
              <a:rPr lang="he-IL" dirty="0">
                <a:solidFill>
                  <a:prstClr val="black"/>
                </a:solidFill>
                <a:latin typeface="David" pitchFamily="34" charset="-79"/>
                <a:cs typeface="David" pitchFamily="34" charset="-79"/>
              </a:rPr>
              <a:t>:</a:t>
            </a:r>
            <a:r>
              <a:rPr lang="en-US" dirty="0">
                <a:solidFill>
                  <a:prstClr val="black"/>
                </a:solidFill>
                <a:latin typeface="David" pitchFamily="34" charset="-79"/>
                <a:cs typeface="David" pitchFamily="34" charset="-79"/>
              </a:rPr>
              <a:t> </a:t>
            </a:r>
            <a:endParaRPr lang="he-IL" dirty="0">
              <a:solidFill>
                <a:prstClr val="black"/>
              </a:solidFill>
              <a:latin typeface="David" pitchFamily="34" charset="-79"/>
              <a:cs typeface="David" pitchFamily="34" charset="-79"/>
            </a:endParaRPr>
          </a:p>
        </p:txBody>
      </p:sp>
      <p:cxnSp>
        <p:nvCxnSpPr>
          <p:cNvPr id="9" name="Straight Arrow Connector 8"/>
          <p:cNvCxnSpPr/>
          <p:nvPr/>
        </p:nvCxnSpPr>
        <p:spPr>
          <a:xfrm flipH="1" flipV="1">
            <a:off x="2127504" y="1219200"/>
            <a:ext cx="2512" cy="27610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2112432" y="3980260"/>
            <a:ext cx="29929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1898904" y="838200"/>
            <a:ext cx="614440" cy="369332"/>
          </a:xfrm>
          <a:prstGeom prst="rect">
            <a:avLst/>
          </a:prstGeom>
          <a:noFill/>
        </p:spPr>
        <p:txBody>
          <a:bodyPr wrap="square" rtlCol="0">
            <a:spAutoFit/>
          </a:bodyPr>
          <a:lstStyle/>
          <a:p>
            <a:r>
              <a:rPr lang="en-US" dirty="0">
                <a:solidFill>
                  <a:prstClr val="black"/>
                </a:solidFill>
                <a:latin typeface="Calibri" panose="020F0502020204030204"/>
              </a:rPr>
              <a:t>Y</a:t>
            </a:r>
          </a:p>
        </p:txBody>
      </p:sp>
      <p:sp>
        <p:nvSpPr>
          <p:cNvPr id="17" name="TextBox 16"/>
          <p:cNvSpPr txBox="1"/>
          <p:nvPr/>
        </p:nvSpPr>
        <p:spPr>
          <a:xfrm>
            <a:off x="3563505" y="4076336"/>
            <a:ext cx="779895" cy="369332"/>
          </a:xfrm>
          <a:prstGeom prst="rect">
            <a:avLst/>
          </a:prstGeom>
          <a:noFill/>
        </p:spPr>
        <p:txBody>
          <a:bodyPr wrap="square" rtlCol="0">
            <a:spAutoFit/>
          </a:bodyPr>
          <a:lstStyle/>
          <a:p>
            <a:r>
              <a:rPr lang="en-US" dirty="0" err="1">
                <a:solidFill>
                  <a:prstClr val="black"/>
                </a:solidFill>
                <a:latin typeface="Calibri" panose="020F0502020204030204"/>
              </a:rPr>
              <a:t>Xmax</a:t>
            </a:r>
            <a:endParaRPr lang="en-US" dirty="0">
              <a:solidFill>
                <a:prstClr val="black"/>
              </a:solidFill>
              <a:latin typeface="Calibri" panose="020F0502020204030204"/>
            </a:endParaRPr>
          </a:p>
        </p:txBody>
      </p:sp>
      <p:cxnSp>
        <p:nvCxnSpPr>
          <p:cNvPr id="19" name="Straight Connector 18"/>
          <p:cNvCxnSpPr/>
          <p:nvPr/>
        </p:nvCxnSpPr>
        <p:spPr>
          <a:xfrm>
            <a:off x="2147367" y="2138066"/>
            <a:ext cx="1620428" cy="184219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rot="2979222">
            <a:off x="2057924" y="2719332"/>
            <a:ext cx="1410408" cy="646331"/>
          </a:xfrm>
          <a:prstGeom prst="rect">
            <a:avLst/>
          </a:prstGeom>
          <a:noFill/>
        </p:spPr>
        <p:txBody>
          <a:bodyPr wrap="square" rtlCol="0">
            <a:spAutoFit/>
          </a:bodyPr>
          <a:lstStyle/>
          <a:p>
            <a:r>
              <a:rPr lang="he-IL" dirty="0">
                <a:solidFill>
                  <a:srgbClr val="C00000"/>
                </a:solidFill>
                <a:latin typeface="Calibri" panose="020F0502020204030204"/>
                <a:cs typeface="Arial" panose="020B0604020202020204" pitchFamily="34" charset="0"/>
              </a:rPr>
              <a:t>עקומת התמורה</a:t>
            </a:r>
            <a:endParaRPr lang="en-US" dirty="0">
              <a:solidFill>
                <a:srgbClr val="C00000"/>
              </a:solidFill>
              <a:latin typeface="Calibri" panose="020F0502020204030204"/>
            </a:endParaRPr>
          </a:p>
        </p:txBody>
      </p:sp>
      <mc:AlternateContent xmlns:mc="http://schemas.openxmlformats.org/markup-compatibility/2006" xmlns:a14="http://schemas.microsoft.com/office/drawing/2010/main">
        <mc:Choice Requires="a14">
          <p:sp>
            <p:nvSpPr>
              <p:cNvPr id="21" name="מלבן 18"/>
              <p:cNvSpPr/>
              <p:nvPr/>
            </p:nvSpPr>
            <p:spPr>
              <a:xfrm>
                <a:off x="5732819" y="3197662"/>
                <a:ext cx="1999265" cy="959173"/>
              </a:xfrm>
              <a:prstGeom prst="rect">
                <a:avLst/>
              </a:prstGeom>
            </p:spPr>
            <p:txBody>
              <a:bodyPr wrap="none">
                <a:spAutoFit/>
              </a:bodyPr>
              <a:lstStyle/>
              <a:p>
                <a:r>
                  <a:rPr lang="en-US" sz="3600" b="1" dirty="0" err="1">
                    <a:solidFill>
                      <a:srgbClr val="4F81BD">
                        <a:lumMod val="75000"/>
                      </a:srgbClr>
                    </a:solidFill>
                    <a:latin typeface="Calibri" panose="020F0502020204030204"/>
                  </a:rPr>
                  <a:t>MCx</a:t>
                </a:r>
                <a:r>
                  <a:rPr lang="en-US" sz="3600" b="1" dirty="0">
                    <a:solidFill>
                      <a:srgbClr val="4F81BD">
                        <a:lumMod val="75000"/>
                      </a:srgbClr>
                    </a:solidFill>
                    <a:latin typeface="Calibri" panose="020F0502020204030204"/>
                  </a:rPr>
                  <a:t>  &lt; </a:t>
                </a:r>
                <a14:m>
                  <m:oMath xmlns:m="http://schemas.openxmlformats.org/officeDocument/2006/math">
                    <m:f>
                      <m:fPr>
                        <m:ctrlPr>
                          <a:rPr lang="en-US" sz="3600" b="1" i="1">
                            <a:solidFill>
                              <a:srgbClr val="4F81BD">
                                <a:lumMod val="75000"/>
                              </a:srgbClr>
                            </a:solidFill>
                            <a:latin typeface="Cambria Math" panose="02040503050406030204" pitchFamily="18" charset="0"/>
                          </a:rPr>
                        </m:ctrlPr>
                      </m:fPr>
                      <m:num>
                        <m:r>
                          <a:rPr lang="he-IL" sz="3600" b="1" i="1">
                            <a:solidFill>
                              <a:srgbClr val="4F81BD">
                                <a:lumMod val="75000"/>
                              </a:srgbClr>
                            </a:solidFill>
                            <a:latin typeface="Cambria Math"/>
                          </a:rPr>
                          <m:t>𝐏𝐱</m:t>
                        </m:r>
                      </m:num>
                      <m:den>
                        <m:r>
                          <a:rPr lang="he-IL" sz="3600" b="1" i="1">
                            <a:solidFill>
                              <a:srgbClr val="4F81BD">
                                <a:lumMod val="75000"/>
                              </a:srgbClr>
                            </a:solidFill>
                            <a:latin typeface="Cambria Math"/>
                          </a:rPr>
                          <m:t>𝐏</m:t>
                        </m:r>
                        <m:r>
                          <a:rPr lang="en-US" sz="3600" b="1" i="1">
                            <a:solidFill>
                              <a:srgbClr val="4F81BD">
                                <a:lumMod val="75000"/>
                              </a:srgbClr>
                            </a:solidFill>
                            <a:latin typeface="Cambria Math" panose="02040503050406030204" pitchFamily="18" charset="0"/>
                          </a:rPr>
                          <m:t>𝒚</m:t>
                        </m:r>
                      </m:den>
                    </m:f>
                  </m:oMath>
                </a14:m>
                <a:endParaRPr lang="he-IL" sz="3600" b="1" dirty="0">
                  <a:solidFill>
                    <a:srgbClr val="4F81BD">
                      <a:lumMod val="75000"/>
                    </a:srgbClr>
                  </a:solidFill>
                  <a:latin typeface="Calibri" panose="020F0502020204030204"/>
                  <a:cs typeface="Arial" panose="020B0604020202020204" pitchFamily="34" charset="0"/>
                </a:endParaRPr>
              </a:p>
            </p:txBody>
          </p:sp>
        </mc:Choice>
        <mc:Fallback xmlns="">
          <p:sp>
            <p:nvSpPr>
              <p:cNvPr id="21" name="מלבן 18"/>
              <p:cNvSpPr>
                <a:spLocks noRot="1" noChangeAspect="1" noMove="1" noResize="1" noEditPoints="1" noAdjustHandles="1" noChangeArrowheads="1" noChangeShapeType="1" noTextEdit="1"/>
              </p:cNvSpPr>
              <p:nvPr/>
            </p:nvSpPr>
            <p:spPr>
              <a:xfrm>
                <a:off x="5732819" y="3197662"/>
                <a:ext cx="1999265" cy="959173"/>
              </a:xfrm>
              <a:prstGeom prst="rect">
                <a:avLst/>
              </a:prstGeom>
              <a:blipFill>
                <a:blip r:embed="rId4"/>
                <a:stretch>
                  <a:fillRect l="-9146" b="-4459"/>
                </a:stretch>
              </a:blipFill>
            </p:spPr>
            <p:txBody>
              <a:bodyPr/>
              <a:lstStyle/>
              <a:p>
                <a:r>
                  <a:rPr lang="en-IL">
                    <a:noFill/>
                  </a:rPr>
                  <a:t> </a:t>
                </a:r>
              </a:p>
            </p:txBody>
          </p:sp>
        </mc:Fallback>
      </mc:AlternateContent>
      <p:cxnSp>
        <p:nvCxnSpPr>
          <p:cNvPr id="22" name="Straight Connector 21"/>
          <p:cNvCxnSpPr/>
          <p:nvPr/>
        </p:nvCxnSpPr>
        <p:spPr>
          <a:xfrm>
            <a:off x="2132830" y="1456386"/>
            <a:ext cx="1636692" cy="2523875"/>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rot="3246395">
            <a:off x="2525530" y="2187544"/>
            <a:ext cx="1410408" cy="584775"/>
          </a:xfrm>
          <a:prstGeom prst="rect">
            <a:avLst/>
          </a:prstGeom>
          <a:noFill/>
        </p:spPr>
        <p:txBody>
          <a:bodyPr wrap="square" rtlCol="0">
            <a:spAutoFit/>
          </a:bodyPr>
          <a:lstStyle/>
          <a:p>
            <a:r>
              <a:rPr lang="he-IL" sz="1600" dirty="0">
                <a:solidFill>
                  <a:srgbClr val="7030A0"/>
                </a:solidFill>
                <a:latin typeface="Calibri" panose="020F0502020204030204"/>
                <a:cs typeface="Arial" panose="020B0604020202020204" pitchFamily="34" charset="0"/>
              </a:rPr>
              <a:t>גבול אפשרויות הצריכה החדש</a:t>
            </a:r>
            <a:endParaRPr lang="en-US" sz="1600" dirty="0">
              <a:solidFill>
                <a:srgbClr val="7030A0"/>
              </a:solidFill>
              <a:latin typeface="Calibri" panose="020F0502020204030204"/>
            </a:endParaRPr>
          </a:p>
        </p:txBody>
      </p:sp>
      <p:sp>
        <p:nvSpPr>
          <p:cNvPr id="28" name="Oval 27"/>
          <p:cNvSpPr/>
          <p:nvPr/>
        </p:nvSpPr>
        <p:spPr>
          <a:xfrm>
            <a:off x="3646683" y="3804727"/>
            <a:ext cx="224043" cy="25178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solidFill>
                <a:prstClr val="black"/>
              </a:solidFill>
              <a:latin typeface="Calibri" panose="020F0502020204030204"/>
            </a:endParaRPr>
          </a:p>
        </p:txBody>
      </p:sp>
      <p:sp>
        <p:nvSpPr>
          <p:cNvPr id="18" name="TextBox 17">
            <a:extLst>
              <a:ext uri="{FF2B5EF4-FFF2-40B4-BE49-F238E27FC236}">
                <a16:creationId xmlns:a16="http://schemas.microsoft.com/office/drawing/2014/main" id="{74F58CB7-47B6-4788-A5E8-779C11D1F56C}"/>
              </a:ext>
            </a:extLst>
          </p:cNvPr>
          <p:cNvSpPr txBox="1"/>
          <p:nvPr/>
        </p:nvSpPr>
        <p:spPr>
          <a:xfrm>
            <a:off x="5118379" y="3759372"/>
            <a:ext cx="614440" cy="369332"/>
          </a:xfrm>
          <a:prstGeom prst="rect">
            <a:avLst/>
          </a:prstGeom>
          <a:noFill/>
        </p:spPr>
        <p:txBody>
          <a:bodyPr wrap="square" rtlCol="0">
            <a:spAutoFit/>
          </a:bodyPr>
          <a:lstStyle/>
          <a:p>
            <a:r>
              <a:rPr lang="en-US" dirty="0">
                <a:solidFill>
                  <a:prstClr val="black"/>
                </a:solidFill>
                <a:latin typeface="Calibri" panose="020F0502020204030204"/>
              </a:rPr>
              <a:t>X</a:t>
            </a:r>
          </a:p>
        </p:txBody>
      </p:sp>
    </p:spTree>
    <p:extLst>
      <p:ext uri="{BB962C8B-B14F-4D97-AF65-F5344CB8AC3E}">
        <p14:creationId xmlns:p14="http://schemas.microsoft.com/office/powerpoint/2010/main" val="2440953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arn(inVertical)">
                                      <p:cBhvr>
                                        <p:cTn id="33" dur="5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500"/>
                                        <p:tgtEl>
                                          <p:spTgt spid="18"/>
                                        </p:tgtEl>
                                      </p:cBhvr>
                                    </p:animEffect>
                                  </p:childTnLst>
                                </p:cTn>
                              </p:par>
                              <p:par>
                                <p:cTn id="37" presetID="16" presetClass="entr" presetSubtype="21"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barn(inVertical)">
                                      <p:cBhvr>
                                        <p:cTn id="39" dur="500"/>
                                        <p:tgtEl>
                                          <p:spTgt spid="20"/>
                                        </p:tgtEl>
                                      </p:cBhvr>
                                    </p:animEffect>
                                  </p:childTnLst>
                                </p:cTn>
                              </p:par>
                            </p:childTnLst>
                          </p:cTn>
                        </p:par>
                      </p:childTnLst>
                    </p:cTn>
                  </p:par>
                  <p:par>
                    <p:cTn id="40" fill="hold">
                      <p:stCondLst>
                        <p:cond delay="indefinite"/>
                      </p:stCondLst>
                      <p:childTnLst>
                        <p:par>
                          <p:cTn id="41" fill="hold">
                            <p:stCondLst>
                              <p:cond delay="0"/>
                            </p:stCondLst>
                            <p:childTnLst>
                              <p:par>
                                <p:cTn id="42" presetID="16" presetClass="entr" presetSubtype="21" fill="hold" grpId="0" nodeType="click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barn(inVertical)">
                                      <p:cBhvr>
                                        <p:cTn id="44" dur="500"/>
                                        <p:tgtEl>
                                          <p:spTgt spid="21"/>
                                        </p:tgtEl>
                                      </p:cBhvr>
                                    </p:animEffect>
                                  </p:childTnLst>
                                </p:cTn>
                              </p:par>
                            </p:childTnLst>
                          </p:cTn>
                        </p:par>
                      </p:childTnLst>
                    </p:cTn>
                  </p:par>
                  <p:par>
                    <p:cTn id="45" fill="hold">
                      <p:stCondLst>
                        <p:cond delay="indefinite"/>
                      </p:stCondLst>
                      <p:childTnLst>
                        <p:par>
                          <p:cTn id="46" fill="hold">
                            <p:stCondLst>
                              <p:cond delay="0"/>
                            </p:stCondLst>
                            <p:childTnLst>
                              <p:par>
                                <p:cTn id="47" presetID="26" presetClass="entr" presetSubtype="0" fill="hold" grpId="0" nodeType="click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wipe(down)">
                                      <p:cBhvr>
                                        <p:cTn id="49" dur="580">
                                          <p:stCondLst>
                                            <p:cond delay="0"/>
                                          </p:stCondLst>
                                        </p:cTn>
                                        <p:tgtEl>
                                          <p:spTgt spid="28"/>
                                        </p:tgtEl>
                                      </p:cBhvr>
                                    </p:animEffect>
                                    <p:anim calcmode="lin" valueType="num">
                                      <p:cBhvr>
                                        <p:cTn id="50" dur="1822" tmFilter="0,0; 0.14,0.36; 0.43,0.73; 0.71,0.91; 1.0,1.0">
                                          <p:stCondLst>
                                            <p:cond delay="0"/>
                                          </p:stCondLst>
                                        </p:cTn>
                                        <p:tgtEl>
                                          <p:spTgt spid="28"/>
                                        </p:tgtEl>
                                        <p:attrNameLst>
                                          <p:attrName>ppt_x</p:attrName>
                                        </p:attrNameLst>
                                      </p:cBhvr>
                                      <p:tavLst>
                                        <p:tav tm="0">
                                          <p:val>
                                            <p:strVal val="#ppt_x-0.25"/>
                                          </p:val>
                                        </p:tav>
                                        <p:tav tm="100000">
                                          <p:val>
                                            <p:strVal val="#ppt_x"/>
                                          </p:val>
                                        </p:tav>
                                      </p:tavLst>
                                    </p:anim>
                                    <p:anim calcmode="lin" valueType="num">
                                      <p:cBhvr>
                                        <p:cTn id="51" dur="664" tmFilter="0.0,0.0; 0.25,0.07; 0.50,0.2; 0.75,0.467; 1.0,1.0">
                                          <p:stCondLst>
                                            <p:cond delay="0"/>
                                          </p:stCondLst>
                                        </p:cTn>
                                        <p:tgtEl>
                                          <p:spTgt spid="28"/>
                                        </p:tgtEl>
                                        <p:attrNameLst>
                                          <p:attrName>ppt_y</p:attrName>
                                        </p:attrNameLst>
                                      </p:cBhvr>
                                      <p:tavLst>
                                        <p:tav tm="0" fmla="#ppt_y-sin(pi*$)/3">
                                          <p:val>
                                            <p:fltVal val="0.5"/>
                                          </p:val>
                                        </p:tav>
                                        <p:tav tm="100000">
                                          <p:val>
                                            <p:fltVal val="1"/>
                                          </p:val>
                                        </p:tav>
                                      </p:tavLst>
                                    </p:anim>
                                    <p:anim calcmode="lin" valueType="num">
                                      <p:cBhvr>
                                        <p:cTn id="52" dur="664" tmFilter="0, 0; 0.125,0.2665; 0.25,0.4; 0.375,0.465; 0.5,0.5;  0.625,0.535; 0.75,0.6; 0.875,0.7335; 1,1">
                                          <p:stCondLst>
                                            <p:cond delay="664"/>
                                          </p:stCondLst>
                                        </p:cTn>
                                        <p:tgtEl>
                                          <p:spTgt spid="28"/>
                                        </p:tgtEl>
                                        <p:attrNameLst>
                                          <p:attrName>ppt_y</p:attrName>
                                        </p:attrNameLst>
                                      </p:cBhvr>
                                      <p:tavLst>
                                        <p:tav tm="0" fmla="#ppt_y-sin(pi*$)/9">
                                          <p:val>
                                            <p:fltVal val="0"/>
                                          </p:val>
                                        </p:tav>
                                        <p:tav tm="100000">
                                          <p:val>
                                            <p:fltVal val="1"/>
                                          </p:val>
                                        </p:tav>
                                      </p:tavLst>
                                    </p:anim>
                                    <p:anim calcmode="lin" valueType="num">
                                      <p:cBhvr>
                                        <p:cTn id="53" dur="332" tmFilter="0, 0; 0.125,0.2665; 0.25,0.4; 0.375,0.465; 0.5,0.5;  0.625,0.535; 0.75,0.6; 0.875,0.7335; 1,1">
                                          <p:stCondLst>
                                            <p:cond delay="1324"/>
                                          </p:stCondLst>
                                        </p:cTn>
                                        <p:tgtEl>
                                          <p:spTgt spid="28"/>
                                        </p:tgtEl>
                                        <p:attrNameLst>
                                          <p:attrName>ppt_y</p:attrName>
                                        </p:attrNameLst>
                                      </p:cBhvr>
                                      <p:tavLst>
                                        <p:tav tm="0" fmla="#ppt_y-sin(pi*$)/27">
                                          <p:val>
                                            <p:fltVal val="0"/>
                                          </p:val>
                                        </p:tav>
                                        <p:tav tm="100000">
                                          <p:val>
                                            <p:fltVal val="1"/>
                                          </p:val>
                                        </p:tav>
                                      </p:tavLst>
                                    </p:anim>
                                    <p:anim calcmode="lin" valueType="num">
                                      <p:cBhvr>
                                        <p:cTn id="54" dur="164" tmFilter="0, 0; 0.125,0.2665; 0.25,0.4; 0.375,0.465; 0.5,0.5;  0.625,0.535; 0.75,0.6; 0.875,0.7335; 1,1">
                                          <p:stCondLst>
                                            <p:cond delay="1656"/>
                                          </p:stCondLst>
                                        </p:cTn>
                                        <p:tgtEl>
                                          <p:spTgt spid="28"/>
                                        </p:tgtEl>
                                        <p:attrNameLst>
                                          <p:attrName>ppt_y</p:attrName>
                                        </p:attrNameLst>
                                      </p:cBhvr>
                                      <p:tavLst>
                                        <p:tav tm="0" fmla="#ppt_y-sin(pi*$)/81">
                                          <p:val>
                                            <p:fltVal val="0"/>
                                          </p:val>
                                        </p:tav>
                                        <p:tav tm="100000">
                                          <p:val>
                                            <p:fltVal val="1"/>
                                          </p:val>
                                        </p:tav>
                                      </p:tavLst>
                                    </p:anim>
                                    <p:animScale>
                                      <p:cBhvr>
                                        <p:cTn id="55" dur="26">
                                          <p:stCondLst>
                                            <p:cond delay="650"/>
                                          </p:stCondLst>
                                        </p:cTn>
                                        <p:tgtEl>
                                          <p:spTgt spid="28"/>
                                        </p:tgtEl>
                                      </p:cBhvr>
                                      <p:to x="100000" y="60000"/>
                                    </p:animScale>
                                    <p:animScale>
                                      <p:cBhvr>
                                        <p:cTn id="56" dur="166" decel="50000">
                                          <p:stCondLst>
                                            <p:cond delay="676"/>
                                          </p:stCondLst>
                                        </p:cTn>
                                        <p:tgtEl>
                                          <p:spTgt spid="28"/>
                                        </p:tgtEl>
                                      </p:cBhvr>
                                      <p:to x="100000" y="100000"/>
                                    </p:animScale>
                                    <p:animScale>
                                      <p:cBhvr>
                                        <p:cTn id="57" dur="26">
                                          <p:stCondLst>
                                            <p:cond delay="1312"/>
                                          </p:stCondLst>
                                        </p:cTn>
                                        <p:tgtEl>
                                          <p:spTgt spid="28"/>
                                        </p:tgtEl>
                                      </p:cBhvr>
                                      <p:to x="100000" y="80000"/>
                                    </p:animScale>
                                    <p:animScale>
                                      <p:cBhvr>
                                        <p:cTn id="58" dur="166" decel="50000">
                                          <p:stCondLst>
                                            <p:cond delay="1338"/>
                                          </p:stCondLst>
                                        </p:cTn>
                                        <p:tgtEl>
                                          <p:spTgt spid="28"/>
                                        </p:tgtEl>
                                      </p:cBhvr>
                                      <p:to x="100000" y="100000"/>
                                    </p:animScale>
                                    <p:animScale>
                                      <p:cBhvr>
                                        <p:cTn id="59" dur="26">
                                          <p:stCondLst>
                                            <p:cond delay="1642"/>
                                          </p:stCondLst>
                                        </p:cTn>
                                        <p:tgtEl>
                                          <p:spTgt spid="28"/>
                                        </p:tgtEl>
                                      </p:cBhvr>
                                      <p:to x="100000" y="90000"/>
                                    </p:animScale>
                                    <p:animScale>
                                      <p:cBhvr>
                                        <p:cTn id="60" dur="166" decel="50000">
                                          <p:stCondLst>
                                            <p:cond delay="1668"/>
                                          </p:stCondLst>
                                        </p:cTn>
                                        <p:tgtEl>
                                          <p:spTgt spid="28"/>
                                        </p:tgtEl>
                                      </p:cBhvr>
                                      <p:to x="100000" y="100000"/>
                                    </p:animScale>
                                    <p:animScale>
                                      <p:cBhvr>
                                        <p:cTn id="61" dur="26">
                                          <p:stCondLst>
                                            <p:cond delay="1808"/>
                                          </p:stCondLst>
                                        </p:cTn>
                                        <p:tgtEl>
                                          <p:spTgt spid="28"/>
                                        </p:tgtEl>
                                      </p:cBhvr>
                                      <p:to x="100000" y="95000"/>
                                    </p:animScale>
                                    <p:animScale>
                                      <p:cBhvr>
                                        <p:cTn id="62" dur="166" decel="50000">
                                          <p:stCondLst>
                                            <p:cond delay="1834"/>
                                          </p:stCondLst>
                                        </p:cTn>
                                        <p:tgtEl>
                                          <p:spTgt spid="28"/>
                                        </p:tgtEl>
                                      </p:cBhvr>
                                      <p:to x="100000" y="100000"/>
                                    </p:animScale>
                                  </p:childTnLst>
                                </p:cTn>
                              </p:par>
                              <p:par>
                                <p:cTn id="63" presetID="10" presetClass="entr" presetSubtype="0" fill="hold" grpId="0" nodeType="withEffect">
                                  <p:stCondLst>
                                    <p:cond delay="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500"/>
                                        <p:tgtEl>
                                          <p:spTgt spid="17"/>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3">
                                            <p:txEl>
                                              <p:pRg st="0" end="0"/>
                                            </p:txEl>
                                          </p:spTgt>
                                        </p:tgtEl>
                                        <p:attrNameLst>
                                          <p:attrName>style.visibility</p:attrName>
                                        </p:attrNameLst>
                                      </p:cBhvr>
                                      <p:to>
                                        <p:strVal val="visible"/>
                                      </p:to>
                                    </p:set>
                                    <p:animEffect transition="in" filter="fade">
                                      <p:cBhvr>
                                        <p:cTn id="70" dur="500"/>
                                        <p:tgtEl>
                                          <p:spTgt spid="3">
                                            <p:txEl>
                                              <p:pRg st="0" end="0"/>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16" presetClass="entr" presetSubtype="21" fill="hold" nodeType="clickEffect">
                                  <p:stCondLst>
                                    <p:cond delay="0"/>
                                  </p:stCondLst>
                                  <p:childTnLst>
                                    <p:set>
                                      <p:cBhvr>
                                        <p:cTn id="74" dur="1" fill="hold">
                                          <p:stCondLst>
                                            <p:cond delay="0"/>
                                          </p:stCondLst>
                                        </p:cTn>
                                        <p:tgtEl>
                                          <p:spTgt spid="22"/>
                                        </p:tgtEl>
                                        <p:attrNameLst>
                                          <p:attrName>style.visibility</p:attrName>
                                        </p:attrNameLst>
                                      </p:cBhvr>
                                      <p:to>
                                        <p:strVal val="visible"/>
                                      </p:to>
                                    </p:set>
                                    <p:animEffect transition="in" filter="barn(inVertical)">
                                      <p:cBhvr>
                                        <p:cTn id="75" dur="500"/>
                                        <p:tgtEl>
                                          <p:spTgt spid="22"/>
                                        </p:tgtEl>
                                      </p:cBhvr>
                                    </p:animEffect>
                                  </p:childTnLst>
                                </p:cTn>
                              </p:par>
                              <p:par>
                                <p:cTn id="76" presetID="16" presetClass="entr" presetSubtype="21" fill="hold" grpId="0" nodeType="withEffect">
                                  <p:stCondLst>
                                    <p:cond delay="0"/>
                                  </p:stCondLst>
                                  <p:childTnLst>
                                    <p:set>
                                      <p:cBhvr>
                                        <p:cTn id="77" dur="1" fill="hold">
                                          <p:stCondLst>
                                            <p:cond delay="0"/>
                                          </p:stCondLst>
                                        </p:cTn>
                                        <p:tgtEl>
                                          <p:spTgt spid="23"/>
                                        </p:tgtEl>
                                        <p:attrNameLst>
                                          <p:attrName>style.visibility</p:attrName>
                                        </p:attrNameLst>
                                      </p:cBhvr>
                                      <p:to>
                                        <p:strVal val="visible"/>
                                      </p:to>
                                    </p:set>
                                    <p:animEffect transition="in" filter="barn(inVertical)">
                                      <p:cBhvr>
                                        <p:cTn id="7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6" grpId="0"/>
      <p:bldP spid="7" grpId="0"/>
      <p:bldP spid="16" grpId="0"/>
      <p:bldP spid="17" grpId="0"/>
      <p:bldP spid="20" grpId="0"/>
      <p:bldP spid="21" grpId="0"/>
      <p:bldP spid="23" grpId="0"/>
      <p:bldP spid="28" grpId="0" animBg="1"/>
      <p:bldP spid="1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8400" y="76200"/>
            <a:ext cx="7772400" cy="1143000"/>
          </a:xfrm>
        </p:spPr>
        <p:txBody>
          <a:bodyPr/>
          <a:lstStyle/>
          <a:p>
            <a:pPr algn="ctr"/>
            <a:r>
              <a:rPr lang="he-IL" dirty="0"/>
              <a:t>מסחר בינלאומי</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241581" y="4390700"/>
                <a:ext cx="8787490" cy="1638300"/>
              </a:xfrm>
            </p:spPr>
            <p:txBody>
              <a:bodyPr>
                <a:noAutofit/>
              </a:bodyPr>
              <a:lstStyle/>
              <a:p>
                <a:pPr marL="0" indent="0">
                  <a:lnSpc>
                    <a:spcPct val="150000"/>
                  </a:lnSpc>
                  <a:buNone/>
                </a:pPr>
                <a:r>
                  <a:rPr lang="he-IL" sz="1800" u="sng" dirty="0">
                    <a:latin typeface="David" pitchFamily="34" charset="-79"/>
                    <a:cs typeface="David" pitchFamily="34" charset="-79"/>
                  </a:rPr>
                  <a:t>2</a:t>
                </a:r>
                <a:r>
                  <a:rPr lang="he-IL" sz="2000" u="sng" dirty="0">
                    <a:latin typeface="David" pitchFamily="34" charset="-79"/>
                    <a:cs typeface="David" pitchFamily="34" charset="-79"/>
                  </a:rPr>
                  <a:t>. במידה והעלות האלט' השולית לייצור מוצר </a:t>
                </a:r>
                <a:r>
                  <a:rPr lang="en-US" sz="2000" u="sng" dirty="0">
                    <a:latin typeface="David" pitchFamily="34" charset="-79"/>
                    <a:cs typeface="David" pitchFamily="34" charset="-79"/>
                  </a:rPr>
                  <a:t>X</a:t>
                </a:r>
                <a:r>
                  <a:rPr lang="he-IL" sz="2000" u="sng" dirty="0">
                    <a:latin typeface="David" pitchFamily="34" charset="-79"/>
                    <a:cs typeface="David" pitchFamily="34" charset="-79"/>
                  </a:rPr>
                  <a:t> (</a:t>
                </a:r>
                <a:r>
                  <a:rPr lang="en-US" sz="2000" u="sng" dirty="0" err="1">
                    <a:solidFill>
                      <a:srgbClr val="4F81BD">
                        <a:lumMod val="75000"/>
                      </a:srgbClr>
                    </a:solidFill>
                  </a:rPr>
                  <a:t>MCx</a:t>
                </a:r>
                <a:r>
                  <a:rPr lang="he-IL" sz="2000" u="sng" dirty="0">
                    <a:latin typeface="David" pitchFamily="34" charset="-79"/>
                    <a:cs typeface="David" pitchFamily="34" charset="-79"/>
                  </a:rPr>
                  <a:t>) </a:t>
                </a:r>
                <a:r>
                  <a:rPr lang="he-IL" sz="2000" b="1" u="sng" dirty="0">
                    <a:latin typeface="David" pitchFamily="34" charset="-79"/>
                    <a:cs typeface="David" pitchFamily="34" charset="-79"/>
                  </a:rPr>
                  <a:t>גבוהה יותר </a:t>
                </a:r>
                <a:r>
                  <a:rPr lang="he-IL" sz="2000" u="sng" dirty="0">
                    <a:latin typeface="David" pitchFamily="34" charset="-79"/>
                    <a:cs typeface="David" pitchFamily="34" charset="-79"/>
                  </a:rPr>
                  <a:t>מ-</a:t>
                </a:r>
                <a:r>
                  <a:rPr lang="he-IL" sz="2000" u="sng" dirty="0">
                    <a:solidFill>
                      <a:srgbClr val="4F81BD">
                        <a:lumMod val="75000"/>
                      </a:srgbClr>
                    </a:solidFill>
                  </a:rPr>
                  <a:t> </a:t>
                </a:r>
                <a14:m>
                  <m:oMath xmlns:m="http://schemas.openxmlformats.org/officeDocument/2006/math">
                    <m:r>
                      <m:rPr>
                        <m:sty m:val="p"/>
                      </m:rPr>
                      <a:rPr lang="he-IL" sz="2000" u="sng">
                        <a:solidFill>
                          <a:srgbClr val="4F81BD">
                            <a:lumMod val="75000"/>
                          </a:srgbClr>
                        </a:solidFill>
                        <a:latin typeface="Cambria Math"/>
                      </a:rPr>
                      <m:t>Px</m:t>
                    </m:r>
                  </m:oMath>
                </a14:m>
                <a:r>
                  <a:rPr lang="he-IL" sz="2000" dirty="0">
                    <a:latin typeface="David" pitchFamily="34" charset="-79"/>
                    <a:cs typeface="David" pitchFamily="34" charset="-79"/>
                  </a:rPr>
                  <a:t>, אז המשמעות היא שיקר יותר לייצר את מוצר </a:t>
                </a:r>
                <a:r>
                  <a:rPr lang="en-US" sz="2000" dirty="0">
                    <a:latin typeface="David" pitchFamily="34" charset="-79"/>
                    <a:cs typeface="David" pitchFamily="34" charset="-79"/>
                  </a:rPr>
                  <a:t>X</a:t>
                </a:r>
                <a:r>
                  <a:rPr lang="he-IL" sz="2000" dirty="0">
                    <a:latin typeface="David" pitchFamily="34" charset="-79"/>
                    <a:cs typeface="David" pitchFamily="34" charset="-79"/>
                  </a:rPr>
                  <a:t> במשק עצמו ולכן </a:t>
                </a:r>
                <a:r>
                  <a:rPr lang="he-IL" sz="2000" u="sng" dirty="0">
                    <a:latin typeface="David" pitchFamily="34" charset="-79"/>
                    <a:cs typeface="David" pitchFamily="34" charset="-79"/>
                  </a:rPr>
                  <a:t>עדיף לייבא אותו מהמדינה השנייה</a:t>
                </a:r>
                <a:r>
                  <a:rPr lang="he-IL" sz="2000" dirty="0">
                    <a:latin typeface="David" pitchFamily="34" charset="-79"/>
                    <a:cs typeface="David" pitchFamily="34" charset="-79"/>
                  </a:rPr>
                  <a:t>, כלומר עדיף ל</a:t>
                </a:r>
                <a:r>
                  <a:rPr lang="he-IL" sz="2000" u="sng" dirty="0">
                    <a:latin typeface="David" pitchFamily="34" charset="-79"/>
                    <a:cs typeface="David" pitchFamily="34" charset="-79"/>
                  </a:rPr>
                  <a:t>משק לייצר את </a:t>
                </a:r>
                <a:r>
                  <a:rPr lang="he-IL" sz="2000" b="1" u="sng" dirty="0">
                    <a:latin typeface="David" pitchFamily="34" charset="-79"/>
                    <a:cs typeface="David" pitchFamily="34" charset="-79"/>
                  </a:rPr>
                  <a:t>מוצר </a:t>
                </a:r>
                <a:r>
                  <a:rPr lang="en-US" sz="2000" b="1" u="sng" dirty="0">
                    <a:latin typeface="David" pitchFamily="34" charset="-79"/>
                    <a:cs typeface="David" pitchFamily="34" charset="-79"/>
                  </a:rPr>
                  <a:t>Y</a:t>
                </a:r>
                <a:r>
                  <a:rPr lang="he-IL" sz="2000" b="1" u="sng" dirty="0">
                    <a:latin typeface="David" pitchFamily="34" charset="-79"/>
                    <a:cs typeface="David" pitchFamily="34" charset="-79"/>
                  </a:rPr>
                  <a:t> בלבד</a:t>
                </a:r>
                <a:r>
                  <a:rPr lang="he-IL" sz="2000" u="sng" dirty="0">
                    <a:latin typeface="David" pitchFamily="34" charset="-79"/>
                    <a:cs typeface="David" pitchFamily="34" charset="-79"/>
                  </a:rPr>
                  <a:t>. </a:t>
                </a:r>
                <a:endParaRPr lang="he-IL" sz="1800" u="sng" dirty="0">
                  <a:latin typeface="David" pitchFamily="34" charset="-79"/>
                  <a:cs typeface="David" pitchFamily="34" charset="-79"/>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241581" y="4390700"/>
                <a:ext cx="8787490" cy="1638300"/>
              </a:xfrm>
              <a:blipFill>
                <a:blip r:embed="rId2"/>
                <a:stretch>
                  <a:fillRect l="-625" r="-694"/>
                </a:stretch>
              </a:blipFill>
            </p:spPr>
            <p:txBody>
              <a:bodyPr/>
              <a:lstStyle/>
              <a:p>
                <a:r>
                  <a:rPr lang="en-IL">
                    <a:noFill/>
                  </a:rPr>
                  <a:t> </a:t>
                </a:r>
              </a:p>
            </p:txBody>
          </p:sp>
        </mc:Fallback>
      </mc:AlternateContent>
      <p:sp>
        <p:nvSpPr>
          <p:cNvPr id="4" name="Slide Number Placeholder 3"/>
          <p:cNvSpPr>
            <a:spLocks noGrp="1"/>
          </p:cNvSpPr>
          <p:nvPr>
            <p:ph type="sldNum" sz="quarter" idx="12"/>
          </p:nvPr>
        </p:nvSpPr>
        <p:spPr/>
        <p:txBody>
          <a:bodyPr/>
          <a:lstStyle/>
          <a:p>
            <a:fld id="{0A24AF92-42DA-4C17-AB33-95A624A1878D}" type="slidenum">
              <a:rPr lang="en-US">
                <a:solidFill>
                  <a:prstClr val="black">
                    <a:tint val="75000"/>
                  </a:prstClr>
                </a:solidFill>
                <a:latin typeface="Calibri" panose="020F0502020204030204"/>
              </a:rPr>
              <a:pPr/>
              <a:t>10</a:t>
            </a:fld>
            <a:endParaRPr lang="en-US">
              <a:solidFill>
                <a:prstClr val="black">
                  <a:tint val="75000"/>
                </a:prstClr>
              </a:solidFill>
              <a:latin typeface="Calibri" panose="020F0502020204030204"/>
            </a:endParaRPr>
          </a:p>
        </p:txBody>
      </p:sp>
      <p:sp>
        <p:nvSpPr>
          <p:cNvPr id="5" name="Rectangle 4"/>
          <p:cNvSpPr/>
          <p:nvPr/>
        </p:nvSpPr>
        <p:spPr>
          <a:xfrm>
            <a:off x="5029200" y="1447801"/>
            <a:ext cx="5416868" cy="461665"/>
          </a:xfrm>
          <a:prstGeom prst="rect">
            <a:avLst/>
          </a:prstGeom>
          <a:solidFill>
            <a:schemeClr val="accent1">
              <a:lumMod val="20000"/>
              <a:lumOff val="80000"/>
            </a:schemeClr>
          </a:solidFill>
        </p:spPr>
        <p:txBody>
          <a:bodyPr wrap="none">
            <a:spAutoFit/>
          </a:bodyPr>
          <a:lstStyle/>
          <a:p>
            <a:r>
              <a:rPr lang="he-IL" sz="2400" i="1" dirty="0">
                <a:solidFill>
                  <a:prstClr val="black"/>
                </a:solidFill>
                <a:latin typeface="David" pitchFamily="34" charset="-79"/>
                <a:cs typeface="David" pitchFamily="34" charset="-79"/>
              </a:rPr>
              <a:t>אז כיצד נבחר את נקודת הייצור הטובה ביותר?</a:t>
            </a:r>
            <a:r>
              <a:rPr lang="en-US" sz="2400" i="1" dirty="0">
                <a:solidFill>
                  <a:prstClr val="black"/>
                </a:solidFill>
                <a:latin typeface="David" pitchFamily="34" charset="-79"/>
                <a:cs typeface="David" pitchFamily="34" charset="-79"/>
              </a:rPr>
              <a:t> </a:t>
            </a:r>
            <a:endParaRPr lang="en-US" sz="2400" i="1" dirty="0">
              <a:solidFill>
                <a:prstClr val="black"/>
              </a:solidFill>
              <a:latin typeface="Calibri" panose="020F0502020204030204"/>
            </a:endParaRPr>
          </a:p>
        </p:txBody>
      </p:sp>
      <p:sp>
        <p:nvSpPr>
          <p:cNvPr id="6" name="Rectangle 5"/>
          <p:cNvSpPr/>
          <p:nvPr/>
        </p:nvSpPr>
        <p:spPr>
          <a:xfrm>
            <a:off x="4190999" y="2138065"/>
            <a:ext cx="6725529" cy="923330"/>
          </a:xfrm>
          <a:prstGeom prst="rect">
            <a:avLst/>
          </a:prstGeom>
        </p:spPr>
        <p:txBody>
          <a:bodyPr wrap="square">
            <a:spAutoFit/>
          </a:bodyPr>
          <a:lstStyle/>
          <a:p>
            <a:pPr algn="r" rtl="1">
              <a:lnSpc>
                <a:spcPct val="150000"/>
              </a:lnSpc>
            </a:pPr>
            <a:r>
              <a:rPr lang="he-IL" dirty="0">
                <a:solidFill>
                  <a:prstClr val="black"/>
                </a:solidFill>
                <a:latin typeface="David" pitchFamily="34" charset="-79"/>
                <a:cs typeface="David" pitchFamily="34" charset="-79"/>
              </a:rPr>
              <a:t>נקודת הייצור תלויה הן ביחס המחירים העולמי והן בעלויות האלט' השוליות לייצור מוצר </a:t>
            </a:r>
            <a:r>
              <a:rPr lang="en-US" dirty="0">
                <a:solidFill>
                  <a:prstClr val="black"/>
                </a:solidFill>
                <a:latin typeface="David" pitchFamily="34" charset="-79"/>
                <a:cs typeface="David" pitchFamily="34" charset="-79"/>
              </a:rPr>
              <a:t>X</a:t>
            </a:r>
            <a:r>
              <a:rPr lang="he-IL" dirty="0">
                <a:solidFill>
                  <a:prstClr val="black"/>
                </a:solidFill>
                <a:latin typeface="David" pitchFamily="34" charset="-79"/>
                <a:cs typeface="David" pitchFamily="34" charset="-79"/>
              </a:rPr>
              <a:t> במשק. </a:t>
            </a:r>
          </a:p>
        </p:txBody>
      </p:sp>
      <p:sp>
        <p:nvSpPr>
          <p:cNvPr id="7" name="Rectangle 6"/>
          <p:cNvSpPr/>
          <p:nvPr/>
        </p:nvSpPr>
        <p:spPr>
          <a:xfrm>
            <a:off x="7848600" y="3472429"/>
            <a:ext cx="2473754" cy="473206"/>
          </a:xfrm>
          <a:prstGeom prst="rect">
            <a:avLst/>
          </a:prstGeom>
        </p:spPr>
        <p:txBody>
          <a:bodyPr wrap="none">
            <a:spAutoFit/>
          </a:bodyPr>
          <a:lstStyle/>
          <a:p>
            <a:pPr algn="r" rtl="1">
              <a:lnSpc>
                <a:spcPct val="150000"/>
              </a:lnSpc>
            </a:pPr>
            <a:r>
              <a:rPr lang="he-IL" b="1" u="sng" dirty="0">
                <a:solidFill>
                  <a:prstClr val="black"/>
                </a:solidFill>
                <a:latin typeface="David" pitchFamily="34" charset="-79"/>
                <a:cs typeface="David" pitchFamily="34" charset="-79"/>
              </a:rPr>
              <a:t>בעקומת תמורה ליניארית</a:t>
            </a:r>
            <a:r>
              <a:rPr lang="he-IL" dirty="0">
                <a:solidFill>
                  <a:prstClr val="black"/>
                </a:solidFill>
                <a:latin typeface="David" pitchFamily="34" charset="-79"/>
                <a:cs typeface="David" pitchFamily="34" charset="-79"/>
              </a:rPr>
              <a:t>:</a:t>
            </a:r>
            <a:r>
              <a:rPr lang="en-US" dirty="0">
                <a:solidFill>
                  <a:prstClr val="black"/>
                </a:solidFill>
                <a:latin typeface="David" pitchFamily="34" charset="-79"/>
                <a:cs typeface="David" pitchFamily="34" charset="-79"/>
              </a:rPr>
              <a:t> </a:t>
            </a:r>
            <a:endParaRPr lang="he-IL" dirty="0">
              <a:solidFill>
                <a:prstClr val="black"/>
              </a:solidFill>
              <a:latin typeface="David" pitchFamily="34" charset="-79"/>
              <a:cs typeface="David" pitchFamily="34" charset="-79"/>
            </a:endParaRPr>
          </a:p>
        </p:txBody>
      </p:sp>
      <p:cxnSp>
        <p:nvCxnSpPr>
          <p:cNvPr id="9" name="Straight Arrow Connector 8"/>
          <p:cNvCxnSpPr/>
          <p:nvPr/>
        </p:nvCxnSpPr>
        <p:spPr>
          <a:xfrm flipH="1" flipV="1">
            <a:off x="2127504" y="1219200"/>
            <a:ext cx="2512" cy="27610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2112432" y="3980260"/>
            <a:ext cx="29929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1898904" y="838200"/>
            <a:ext cx="614440" cy="369332"/>
          </a:xfrm>
          <a:prstGeom prst="rect">
            <a:avLst/>
          </a:prstGeom>
          <a:noFill/>
        </p:spPr>
        <p:txBody>
          <a:bodyPr wrap="square" rtlCol="0">
            <a:spAutoFit/>
          </a:bodyPr>
          <a:lstStyle/>
          <a:p>
            <a:r>
              <a:rPr lang="en-US" dirty="0">
                <a:solidFill>
                  <a:prstClr val="black"/>
                </a:solidFill>
                <a:latin typeface="Calibri" panose="020F0502020204030204"/>
              </a:rPr>
              <a:t>Y</a:t>
            </a:r>
          </a:p>
        </p:txBody>
      </p:sp>
      <p:sp>
        <p:nvSpPr>
          <p:cNvPr id="17" name="TextBox 16"/>
          <p:cNvSpPr txBox="1"/>
          <p:nvPr/>
        </p:nvSpPr>
        <p:spPr>
          <a:xfrm>
            <a:off x="5108214" y="3871849"/>
            <a:ext cx="614440" cy="369332"/>
          </a:xfrm>
          <a:prstGeom prst="rect">
            <a:avLst/>
          </a:prstGeom>
          <a:noFill/>
        </p:spPr>
        <p:txBody>
          <a:bodyPr wrap="square" rtlCol="0">
            <a:spAutoFit/>
          </a:bodyPr>
          <a:lstStyle/>
          <a:p>
            <a:r>
              <a:rPr lang="en-US" dirty="0">
                <a:solidFill>
                  <a:prstClr val="black"/>
                </a:solidFill>
                <a:latin typeface="Calibri" panose="020F0502020204030204"/>
              </a:rPr>
              <a:t>X</a:t>
            </a:r>
          </a:p>
        </p:txBody>
      </p:sp>
      <p:cxnSp>
        <p:nvCxnSpPr>
          <p:cNvPr id="19" name="Straight Connector 18"/>
          <p:cNvCxnSpPr/>
          <p:nvPr/>
        </p:nvCxnSpPr>
        <p:spPr>
          <a:xfrm>
            <a:off x="2147367" y="2138066"/>
            <a:ext cx="1620428" cy="184219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rot="2979222">
            <a:off x="2239229" y="2980025"/>
            <a:ext cx="1410408" cy="646331"/>
          </a:xfrm>
          <a:prstGeom prst="rect">
            <a:avLst/>
          </a:prstGeom>
          <a:noFill/>
        </p:spPr>
        <p:txBody>
          <a:bodyPr wrap="square" rtlCol="0">
            <a:spAutoFit/>
          </a:bodyPr>
          <a:lstStyle/>
          <a:p>
            <a:r>
              <a:rPr lang="he-IL" dirty="0">
                <a:solidFill>
                  <a:srgbClr val="C00000"/>
                </a:solidFill>
                <a:latin typeface="Calibri" panose="020F0502020204030204"/>
                <a:cs typeface="Arial" panose="020B0604020202020204" pitchFamily="34" charset="0"/>
              </a:rPr>
              <a:t>עקומת התמורה</a:t>
            </a:r>
            <a:endParaRPr lang="en-US" dirty="0">
              <a:solidFill>
                <a:srgbClr val="C00000"/>
              </a:solidFill>
              <a:latin typeface="Calibri" panose="020F0502020204030204"/>
            </a:endParaRPr>
          </a:p>
        </p:txBody>
      </p:sp>
      <mc:AlternateContent xmlns:mc="http://schemas.openxmlformats.org/markup-compatibility/2006" xmlns:a14="http://schemas.microsoft.com/office/drawing/2010/main">
        <mc:Choice Requires="a14">
          <p:sp>
            <p:nvSpPr>
              <p:cNvPr id="21" name="מלבן 18"/>
              <p:cNvSpPr/>
              <p:nvPr/>
            </p:nvSpPr>
            <p:spPr>
              <a:xfrm>
                <a:off x="5297121" y="2948518"/>
                <a:ext cx="3129292" cy="959173"/>
              </a:xfrm>
              <a:prstGeom prst="rect">
                <a:avLst/>
              </a:prstGeom>
            </p:spPr>
            <p:txBody>
              <a:bodyPr wrap="square">
                <a:spAutoFit/>
              </a:bodyPr>
              <a:lstStyle/>
              <a:p>
                <a:r>
                  <a:rPr lang="en-US" sz="3600" dirty="0" err="1">
                    <a:solidFill>
                      <a:srgbClr val="4F81BD">
                        <a:lumMod val="75000"/>
                      </a:srgbClr>
                    </a:solidFill>
                    <a:latin typeface="Calibri" panose="020F0502020204030204"/>
                  </a:rPr>
                  <a:t>MCx</a:t>
                </a:r>
                <a:r>
                  <a:rPr lang="en-US" sz="3600" dirty="0">
                    <a:solidFill>
                      <a:srgbClr val="4F81BD">
                        <a:lumMod val="75000"/>
                      </a:srgbClr>
                    </a:solidFill>
                    <a:latin typeface="Calibri" panose="020F0502020204030204"/>
                  </a:rPr>
                  <a:t>  </a:t>
                </a:r>
                <a:r>
                  <a:rPr lang="he-IL" sz="3600" dirty="0">
                    <a:solidFill>
                      <a:srgbClr val="4F81BD">
                        <a:lumMod val="75000"/>
                      </a:srgbClr>
                    </a:solidFill>
                    <a:latin typeface="Calibri" panose="020F0502020204030204"/>
                    <a:cs typeface="Arial" panose="020B0604020202020204" pitchFamily="34" charset="0"/>
                  </a:rPr>
                  <a:t>&lt;</a:t>
                </a:r>
                <a:r>
                  <a:rPr lang="en-US" sz="3600" dirty="0">
                    <a:solidFill>
                      <a:srgbClr val="4F81BD">
                        <a:lumMod val="75000"/>
                      </a:srgbClr>
                    </a:solidFill>
                    <a:latin typeface="Calibri" panose="020F0502020204030204"/>
                    <a:cs typeface="Arial" panose="020B0604020202020204" pitchFamily="34" charset="0"/>
                  </a:rPr>
                  <a:t> </a:t>
                </a:r>
                <a14:m>
                  <m:oMath xmlns:m="http://schemas.openxmlformats.org/officeDocument/2006/math">
                    <m:f>
                      <m:fPr>
                        <m:ctrlPr>
                          <a:rPr lang="en-US" sz="3600" b="1" i="1">
                            <a:solidFill>
                              <a:srgbClr val="4F81BD">
                                <a:lumMod val="75000"/>
                              </a:srgbClr>
                            </a:solidFill>
                            <a:latin typeface="Cambria Math" panose="02040503050406030204" pitchFamily="18" charset="0"/>
                          </a:rPr>
                        </m:ctrlPr>
                      </m:fPr>
                      <m:num>
                        <m:r>
                          <a:rPr lang="he-IL" sz="3600" b="1" i="1">
                            <a:solidFill>
                              <a:srgbClr val="4F81BD">
                                <a:lumMod val="75000"/>
                              </a:srgbClr>
                            </a:solidFill>
                            <a:latin typeface="Cambria Math"/>
                          </a:rPr>
                          <m:t>𝐏𝐱</m:t>
                        </m:r>
                      </m:num>
                      <m:den>
                        <m:r>
                          <a:rPr lang="he-IL" sz="3600" b="1" i="1">
                            <a:solidFill>
                              <a:srgbClr val="4F81BD">
                                <a:lumMod val="75000"/>
                              </a:srgbClr>
                            </a:solidFill>
                            <a:latin typeface="Cambria Math"/>
                          </a:rPr>
                          <m:t>𝐏</m:t>
                        </m:r>
                        <m:r>
                          <a:rPr lang="en-US" sz="3600" b="1" i="1">
                            <a:solidFill>
                              <a:srgbClr val="4F81BD">
                                <a:lumMod val="75000"/>
                              </a:srgbClr>
                            </a:solidFill>
                            <a:latin typeface="Cambria Math" panose="02040503050406030204" pitchFamily="18" charset="0"/>
                          </a:rPr>
                          <m:t>𝒚</m:t>
                        </m:r>
                      </m:den>
                    </m:f>
                  </m:oMath>
                </a14:m>
                <a:endParaRPr lang="he-IL" sz="3600" dirty="0">
                  <a:solidFill>
                    <a:srgbClr val="4F81BD">
                      <a:lumMod val="75000"/>
                    </a:srgbClr>
                  </a:solidFill>
                  <a:latin typeface="Calibri" panose="020F0502020204030204"/>
                  <a:cs typeface="Arial" panose="020B0604020202020204" pitchFamily="34" charset="0"/>
                </a:endParaRPr>
              </a:p>
            </p:txBody>
          </p:sp>
        </mc:Choice>
        <mc:Fallback xmlns="">
          <p:sp>
            <p:nvSpPr>
              <p:cNvPr id="21" name="מלבן 18"/>
              <p:cNvSpPr>
                <a:spLocks noRot="1" noChangeAspect="1" noMove="1" noResize="1" noEditPoints="1" noAdjustHandles="1" noChangeArrowheads="1" noChangeShapeType="1" noTextEdit="1"/>
              </p:cNvSpPr>
              <p:nvPr/>
            </p:nvSpPr>
            <p:spPr>
              <a:xfrm>
                <a:off x="5297121" y="2948518"/>
                <a:ext cx="3129292" cy="959173"/>
              </a:xfrm>
              <a:prstGeom prst="rect">
                <a:avLst/>
              </a:prstGeom>
              <a:blipFill>
                <a:blip r:embed="rId3"/>
                <a:stretch>
                  <a:fillRect l="-6043" b="-4459"/>
                </a:stretch>
              </a:blipFill>
            </p:spPr>
            <p:txBody>
              <a:bodyPr/>
              <a:lstStyle/>
              <a:p>
                <a:r>
                  <a:rPr lang="en-IL">
                    <a:noFill/>
                  </a:rPr>
                  <a:t> </a:t>
                </a:r>
              </a:p>
            </p:txBody>
          </p:sp>
        </mc:Fallback>
      </mc:AlternateContent>
      <p:cxnSp>
        <p:nvCxnSpPr>
          <p:cNvPr id="22" name="Straight Connector 21"/>
          <p:cNvCxnSpPr/>
          <p:nvPr/>
        </p:nvCxnSpPr>
        <p:spPr>
          <a:xfrm>
            <a:off x="2132830" y="2138066"/>
            <a:ext cx="2394758" cy="1842195"/>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rot="2406920">
            <a:off x="3121761" y="2837557"/>
            <a:ext cx="1410408" cy="584775"/>
          </a:xfrm>
          <a:prstGeom prst="rect">
            <a:avLst/>
          </a:prstGeom>
          <a:noFill/>
        </p:spPr>
        <p:txBody>
          <a:bodyPr wrap="square" rtlCol="0">
            <a:spAutoFit/>
          </a:bodyPr>
          <a:lstStyle/>
          <a:p>
            <a:r>
              <a:rPr lang="he-IL" sz="1600" dirty="0">
                <a:solidFill>
                  <a:srgbClr val="7030A0"/>
                </a:solidFill>
                <a:latin typeface="Calibri" panose="020F0502020204030204"/>
                <a:cs typeface="Arial" panose="020B0604020202020204" pitchFamily="34" charset="0"/>
              </a:rPr>
              <a:t>גבול אפשרויות הצריכה החדש</a:t>
            </a:r>
            <a:endParaRPr lang="en-US" sz="1600" dirty="0">
              <a:solidFill>
                <a:srgbClr val="7030A0"/>
              </a:solidFill>
              <a:latin typeface="Calibri" panose="020F0502020204030204"/>
            </a:endParaRPr>
          </a:p>
        </p:txBody>
      </p:sp>
      <p:sp>
        <p:nvSpPr>
          <p:cNvPr id="28" name="Oval 27"/>
          <p:cNvSpPr/>
          <p:nvPr/>
        </p:nvSpPr>
        <p:spPr>
          <a:xfrm>
            <a:off x="2000410" y="2012170"/>
            <a:ext cx="224043" cy="25178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solidFill>
                <a:prstClr val="black"/>
              </a:solidFill>
              <a:latin typeface="Calibri" panose="020F0502020204030204"/>
            </a:endParaRPr>
          </a:p>
        </p:txBody>
      </p:sp>
      <p:sp>
        <p:nvSpPr>
          <p:cNvPr id="24" name="TextBox 23">
            <a:extLst>
              <a:ext uri="{FF2B5EF4-FFF2-40B4-BE49-F238E27FC236}">
                <a16:creationId xmlns:a16="http://schemas.microsoft.com/office/drawing/2014/main" id="{3955E676-924F-4014-8592-31FDB2228B17}"/>
              </a:ext>
            </a:extLst>
          </p:cNvPr>
          <p:cNvSpPr txBox="1"/>
          <p:nvPr/>
        </p:nvSpPr>
        <p:spPr>
          <a:xfrm>
            <a:off x="1474421" y="2055005"/>
            <a:ext cx="730206" cy="369332"/>
          </a:xfrm>
          <a:prstGeom prst="rect">
            <a:avLst/>
          </a:prstGeom>
          <a:noFill/>
        </p:spPr>
        <p:txBody>
          <a:bodyPr wrap="square" rtlCol="0">
            <a:spAutoFit/>
          </a:bodyPr>
          <a:lstStyle/>
          <a:p>
            <a:r>
              <a:rPr lang="en-US" dirty="0" err="1">
                <a:solidFill>
                  <a:prstClr val="black"/>
                </a:solidFill>
                <a:latin typeface="Calibri" panose="020F0502020204030204"/>
              </a:rPr>
              <a:t>Ymax</a:t>
            </a:r>
            <a:endParaRPr lang="en-US" dirty="0">
              <a:solidFill>
                <a:prstClr val="black"/>
              </a:solidFill>
              <a:latin typeface="Calibri" panose="020F0502020204030204"/>
            </a:endParaRPr>
          </a:p>
        </p:txBody>
      </p:sp>
    </p:spTree>
    <p:extLst>
      <p:ext uri="{BB962C8B-B14F-4D97-AF65-F5344CB8AC3E}">
        <p14:creationId xmlns:p14="http://schemas.microsoft.com/office/powerpoint/2010/main" val="4140597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barn(inVertical)">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26"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wipe(down)">
                                      <p:cBhvr>
                                        <p:cTn id="17" dur="580">
                                          <p:stCondLst>
                                            <p:cond delay="0"/>
                                          </p:stCondLst>
                                        </p:cTn>
                                        <p:tgtEl>
                                          <p:spTgt spid="28"/>
                                        </p:tgtEl>
                                      </p:cBhvr>
                                    </p:animEffect>
                                    <p:anim calcmode="lin" valueType="num">
                                      <p:cBhvr>
                                        <p:cTn id="18" dur="1822" tmFilter="0,0; 0.14,0.36; 0.43,0.73; 0.71,0.91; 1.0,1.0">
                                          <p:stCondLst>
                                            <p:cond delay="0"/>
                                          </p:stCondLst>
                                        </p:cTn>
                                        <p:tgtEl>
                                          <p:spTgt spid="28"/>
                                        </p:tgtEl>
                                        <p:attrNameLst>
                                          <p:attrName>ppt_x</p:attrName>
                                        </p:attrNameLst>
                                      </p:cBhvr>
                                      <p:tavLst>
                                        <p:tav tm="0">
                                          <p:val>
                                            <p:strVal val="#ppt_x-0.25"/>
                                          </p:val>
                                        </p:tav>
                                        <p:tav tm="100000">
                                          <p:val>
                                            <p:strVal val="#ppt_x"/>
                                          </p:val>
                                        </p:tav>
                                      </p:tavLst>
                                    </p:anim>
                                    <p:anim calcmode="lin" valueType="num">
                                      <p:cBhvr>
                                        <p:cTn id="19" dur="664" tmFilter="0.0,0.0; 0.25,0.07; 0.50,0.2; 0.75,0.467; 1.0,1.0">
                                          <p:stCondLst>
                                            <p:cond delay="0"/>
                                          </p:stCondLst>
                                        </p:cTn>
                                        <p:tgtEl>
                                          <p:spTgt spid="28"/>
                                        </p:tgtEl>
                                        <p:attrNameLst>
                                          <p:attrName>ppt_y</p:attrName>
                                        </p:attrNameLst>
                                      </p:cBhvr>
                                      <p:tavLst>
                                        <p:tav tm="0" fmla="#ppt_y-sin(pi*$)/3">
                                          <p:val>
                                            <p:fltVal val="0.5"/>
                                          </p:val>
                                        </p:tav>
                                        <p:tav tm="100000">
                                          <p:val>
                                            <p:fltVal val="1"/>
                                          </p:val>
                                        </p:tav>
                                      </p:tavLst>
                                    </p:anim>
                                    <p:anim calcmode="lin" valueType="num">
                                      <p:cBhvr>
                                        <p:cTn id="20" dur="664" tmFilter="0, 0; 0.125,0.2665; 0.25,0.4; 0.375,0.465; 0.5,0.5;  0.625,0.535; 0.75,0.6; 0.875,0.7335; 1,1">
                                          <p:stCondLst>
                                            <p:cond delay="664"/>
                                          </p:stCondLst>
                                        </p:cTn>
                                        <p:tgtEl>
                                          <p:spTgt spid="28"/>
                                        </p:tgtEl>
                                        <p:attrNameLst>
                                          <p:attrName>ppt_y</p:attrName>
                                        </p:attrNameLst>
                                      </p:cBhvr>
                                      <p:tavLst>
                                        <p:tav tm="0" fmla="#ppt_y-sin(pi*$)/9">
                                          <p:val>
                                            <p:fltVal val="0"/>
                                          </p:val>
                                        </p:tav>
                                        <p:tav tm="100000">
                                          <p:val>
                                            <p:fltVal val="1"/>
                                          </p:val>
                                        </p:tav>
                                      </p:tavLst>
                                    </p:anim>
                                    <p:anim calcmode="lin" valueType="num">
                                      <p:cBhvr>
                                        <p:cTn id="21" dur="332" tmFilter="0, 0; 0.125,0.2665; 0.25,0.4; 0.375,0.465; 0.5,0.5;  0.625,0.535; 0.75,0.6; 0.875,0.7335; 1,1">
                                          <p:stCondLst>
                                            <p:cond delay="1324"/>
                                          </p:stCondLst>
                                        </p:cTn>
                                        <p:tgtEl>
                                          <p:spTgt spid="28"/>
                                        </p:tgtEl>
                                        <p:attrNameLst>
                                          <p:attrName>ppt_y</p:attrName>
                                        </p:attrNameLst>
                                      </p:cBhvr>
                                      <p:tavLst>
                                        <p:tav tm="0" fmla="#ppt_y-sin(pi*$)/27">
                                          <p:val>
                                            <p:fltVal val="0"/>
                                          </p:val>
                                        </p:tav>
                                        <p:tav tm="100000">
                                          <p:val>
                                            <p:fltVal val="1"/>
                                          </p:val>
                                        </p:tav>
                                      </p:tavLst>
                                    </p:anim>
                                    <p:anim calcmode="lin" valueType="num">
                                      <p:cBhvr>
                                        <p:cTn id="22" dur="164" tmFilter="0, 0; 0.125,0.2665; 0.25,0.4; 0.375,0.465; 0.5,0.5;  0.625,0.535; 0.75,0.6; 0.875,0.7335; 1,1">
                                          <p:stCondLst>
                                            <p:cond delay="1656"/>
                                          </p:stCondLst>
                                        </p:cTn>
                                        <p:tgtEl>
                                          <p:spTgt spid="28"/>
                                        </p:tgtEl>
                                        <p:attrNameLst>
                                          <p:attrName>ppt_y</p:attrName>
                                        </p:attrNameLst>
                                      </p:cBhvr>
                                      <p:tavLst>
                                        <p:tav tm="0" fmla="#ppt_y-sin(pi*$)/81">
                                          <p:val>
                                            <p:fltVal val="0"/>
                                          </p:val>
                                        </p:tav>
                                        <p:tav tm="100000">
                                          <p:val>
                                            <p:fltVal val="1"/>
                                          </p:val>
                                        </p:tav>
                                      </p:tavLst>
                                    </p:anim>
                                    <p:animScale>
                                      <p:cBhvr>
                                        <p:cTn id="23" dur="26">
                                          <p:stCondLst>
                                            <p:cond delay="650"/>
                                          </p:stCondLst>
                                        </p:cTn>
                                        <p:tgtEl>
                                          <p:spTgt spid="28"/>
                                        </p:tgtEl>
                                      </p:cBhvr>
                                      <p:to x="100000" y="60000"/>
                                    </p:animScale>
                                    <p:animScale>
                                      <p:cBhvr>
                                        <p:cTn id="24" dur="166" decel="50000">
                                          <p:stCondLst>
                                            <p:cond delay="676"/>
                                          </p:stCondLst>
                                        </p:cTn>
                                        <p:tgtEl>
                                          <p:spTgt spid="28"/>
                                        </p:tgtEl>
                                      </p:cBhvr>
                                      <p:to x="100000" y="100000"/>
                                    </p:animScale>
                                    <p:animScale>
                                      <p:cBhvr>
                                        <p:cTn id="25" dur="26">
                                          <p:stCondLst>
                                            <p:cond delay="1312"/>
                                          </p:stCondLst>
                                        </p:cTn>
                                        <p:tgtEl>
                                          <p:spTgt spid="28"/>
                                        </p:tgtEl>
                                      </p:cBhvr>
                                      <p:to x="100000" y="80000"/>
                                    </p:animScale>
                                    <p:animScale>
                                      <p:cBhvr>
                                        <p:cTn id="26" dur="166" decel="50000">
                                          <p:stCondLst>
                                            <p:cond delay="1338"/>
                                          </p:stCondLst>
                                        </p:cTn>
                                        <p:tgtEl>
                                          <p:spTgt spid="28"/>
                                        </p:tgtEl>
                                      </p:cBhvr>
                                      <p:to x="100000" y="100000"/>
                                    </p:animScale>
                                    <p:animScale>
                                      <p:cBhvr>
                                        <p:cTn id="27" dur="26">
                                          <p:stCondLst>
                                            <p:cond delay="1642"/>
                                          </p:stCondLst>
                                        </p:cTn>
                                        <p:tgtEl>
                                          <p:spTgt spid="28"/>
                                        </p:tgtEl>
                                      </p:cBhvr>
                                      <p:to x="100000" y="90000"/>
                                    </p:animScale>
                                    <p:animScale>
                                      <p:cBhvr>
                                        <p:cTn id="28" dur="166" decel="50000">
                                          <p:stCondLst>
                                            <p:cond delay="1668"/>
                                          </p:stCondLst>
                                        </p:cTn>
                                        <p:tgtEl>
                                          <p:spTgt spid="28"/>
                                        </p:tgtEl>
                                      </p:cBhvr>
                                      <p:to x="100000" y="100000"/>
                                    </p:animScale>
                                    <p:animScale>
                                      <p:cBhvr>
                                        <p:cTn id="29" dur="26">
                                          <p:stCondLst>
                                            <p:cond delay="1808"/>
                                          </p:stCondLst>
                                        </p:cTn>
                                        <p:tgtEl>
                                          <p:spTgt spid="28"/>
                                        </p:tgtEl>
                                      </p:cBhvr>
                                      <p:to x="100000" y="95000"/>
                                    </p:animScale>
                                    <p:animScale>
                                      <p:cBhvr>
                                        <p:cTn id="30" dur="166" decel="50000">
                                          <p:stCondLst>
                                            <p:cond delay="1834"/>
                                          </p:stCondLst>
                                        </p:cTn>
                                        <p:tgtEl>
                                          <p:spTgt spid="28"/>
                                        </p:tgtEl>
                                      </p:cBhvr>
                                      <p:to x="100000" y="100000"/>
                                    </p:animScale>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barn(inVertical)">
                                      <p:cBhvr>
                                        <p:cTn id="35" dur="500"/>
                                        <p:tgtEl>
                                          <p:spTgt spid="22"/>
                                        </p:tgtEl>
                                      </p:cBhvr>
                                    </p:animEffect>
                                  </p:childTnLst>
                                </p:cTn>
                              </p:par>
                              <p:par>
                                <p:cTn id="36" presetID="16" presetClass="entr" presetSubtype="21" fill="hold" grpId="0" nodeType="with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barn(inVertical)">
                                      <p:cBhvr>
                                        <p:cTn id="3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1" grpId="0"/>
      <p:bldP spid="23" grpId="0"/>
      <p:bldP spid="2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86CFC-21FB-6BDA-BA4E-162AB7AF68F4}"/>
              </a:ext>
            </a:extLst>
          </p:cNvPr>
          <p:cNvSpPr>
            <a:spLocks noGrp="1"/>
          </p:cNvSpPr>
          <p:nvPr>
            <p:ph type="title"/>
          </p:nvPr>
        </p:nvSpPr>
        <p:spPr>
          <a:xfrm>
            <a:off x="10452682" y="79899"/>
            <a:ext cx="1647738" cy="633165"/>
          </a:xfrm>
        </p:spPr>
        <p:txBody>
          <a:bodyPr>
            <a:normAutofit/>
          </a:bodyPr>
          <a:lstStyle/>
          <a:p>
            <a:pPr algn="r" rtl="1"/>
            <a:r>
              <a:rPr lang="he-IL" sz="3200" dirty="0"/>
              <a:t>שאלה 17 </a:t>
            </a:r>
            <a:endParaRPr lang="en-IL" sz="3200" dirty="0"/>
          </a:p>
        </p:txBody>
      </p:sp>
      <p:sp>
        <p:nvSpPr>
          <p:cNvPr id="5" name="TextBox 4">
            <a:extLst>
              <a:ext uri="{FF2B5EF4-FFF2-40B4-BE49-F238E27FC236}">
                <a16:creationId xmlns:a16="http://schemas.microsoft.com/office/drawing/2014/main" id="{85958B51-5284-67B9-7EAF-F65DCAE71E98}"/>
              </a:ext>
            </a:extLst>
          </p:cNvPr>
          <p:cNvSpPr txBox="1"/>
          <p:nvPr/>
        </p:nvSpPr>
        <p:spPr>
          <a:xfrm>
            <a:off x="5826034" y="713064"/>
            <a:ext cx="6168550" cy="1709571"/>
          </a:xfrm>
          <a:prstGeom prst="rect">
            <a:avLst/>
          </a:prstGeom>
          <a:noFill/>
        </p:spPr>
        <p:txBody>
          <a:bodyPr wrap="square">
            <a:spAutoFit/>
          </a:bodyPr>
          <a:lstStyle/>
          <a:p>
            <a:pPr algn="r" rtl="1">
              <a:lnSpc>
                <a:spcPct val="150000"/>
              </a:lnSpc>
              <a:spcAft>
                <a:spcPts val="800"/>
              </a:spcAft>
            </a:pPr>
            <a:r>
              <a:rPr lang="he-IL" sz="1800" b="1" dirty="0">
                <a:effectLst/>
                <a:latin typeface="Calibri" panose="020F0502020204030204" pitchFamily="34" charset="0"/>
                <a:ea typeface="Times New Roman" panose="02020603050405020304" pitchFamily="18" charset="0"/>
                <a:cs typeface="Arial" panose="020B0604020202020204" pitchFamily="34" charset="0"/>
              </a:rPr>
              <a:t>במשק קטארגט ישנם 100 עובדים, כאשר כל העובדים במשק מייצרים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הם מסוגלים לייצר ביחד 100 יחידות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ידוע כי לאחר פתיחת המשק למסחר בינלאומי, המשק יכול לצרוך לכל היותר 100 יחידות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לאור זאת:</a:t>
            </a:r>
            <a:endParaRPr lang="en-IL"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E957C55C-F6BA-608C-DF2B-3A633E567A8E}"/>
              </a:ext>
            </a:extLst>
          </p:cNvPr>
          <p:cNvSpPr txBox="1"/>
          <p:nvPr/>
        </p:nvSpPr>
        <p:spPr>
          <a:xfrm>
            <a:off x="4754880" y="2615023"/>
            <a:ext cx="7161967" cy="2119747"/>
          </a:xfrm>
          <a:prstGeom prst="rect">
            <a:avLst/>
          </a:prstGeom>
          <a:noFill/>
        </p:spPr>
        <p:txBody>
          <a:bodyPr wrap="square">
            <a:spAutoFit/>
          </a:bodyPr>
          <a:lstStyle/>
          <a:p>
            <a:pPr marL="342900" indent="-342900" algn="r" rtl="1">
              <a:lnSpc>
                <a:spcPct val="150000"/>
              </a:lnSpc>
              <a:buFont typeface="+mj-lt"/>
              <a:buAutoNum type="arabicPeriod"/>
            </a:pPr>
            <a:r>
              <a:rPr lang="he-IL" dirty="0">
                <a:latin typeface="Times New Roman" panose="02020603050405020304" pitchFamily="18" charset="0"/>
                <a:ea typeface="Times New Roman" panose="02020603050405020304" pitchFamily="18" charset="0"/>
              </a:rPr>
              <a:t>העלות האלטרנטיבית השולית לייצור </a:t>
            </a:r>
            <a:r>
              <a:rPr lang="en-US" dirty="0">
                <a:latin typeface="Arial" panose="020B0604020202020204" pitchFamily="34" charset="0"/>
                <a:ea typeface="Times New Roman" panose="02020603050405020304" pitchFamily="18" charset="0"/>
              </a:rPr>
              <a:t>X</a:t>
            </a:r>
            <a:r>
              <a:rPr lang="he-IL" dirty="0">
                <a:latin typeface="Times New Roman" panose="02020603050405020304" pitchFamily="18" charset="0"/>
                <a:ea typeface="Times New Roman" panose="02020603050405020304" pitchFamily="18" charset="0"/>
              </a:rPr>
              <a:t> שווה למחיר של </a:t>
            </a:r>
            <a:r>
              <a:rPr lang="en-US" dirty="0">
                <a:latin typeface="Times New Roman" panose="02020603050405020304" pitchFamily="18" charset="0"/>
                <a:ea typeface="Times New Roman" panose="02020603050405020304" pitchFamily="18" charset="0"/>
              </a:rPr>
              <a:t>X</a:t>
            </a:r>
            <a:r>
              <a:rPr lang="he-IL" dirty="0">
                <a:latin typeface="Times New Roman" panose="02020603050405020304" pitchFamily="18" charset="0"/>
                <a:ea typeface="Times New Roman" panose="02020603050405020304" pitchFamily="18" charset="0"/>
              </a:rPr>
              <a:t> במסחר. </a:t>
            </a:r>
            <a:endParaRPr lang="en-IL" dirty="0">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העלות האלטרנטיבית השולית לייצור </a:t>
            </a:r>
            <a:r>
              <a:rPr lang="en-US" sz="1800" dirty="0">
                <a:effectLst/>
                <a:latin typeface="Arial" panose="020B0604020202020204" pitchFamily="34" charset="0"/>
                <a:ea typeface="Times New Roman" panose="02020603050405020304" pitchFamily="18" charset="0"/>
              </a:rPr>
              <a:t>X</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נמוכה מהמחיר של </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X</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במסחר.</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העלות האלטרנטיבית השולית לייצור </a:t>
            </a:r>
            <a:r>
              <a:rPr lang="en-US" sz="1800" dirty="0">
                <a:effectLst/>
                <a:latin typeface="Arial" panose="020B0604020202020204" pitchFamily="34" charset="0"/>
                <a:ea typeface="Times New Roman" panose="02020603050405020304" pitchFamily="18" charset="0"/>
              </a:rPr>
              <a:t>X</a:t>
            </a:r>
            <a:r>
              <a:rPr lang="he-IL" sz="1800" dirty="0">
                <a:effectLst/>
                <a:latin typeface="Arial" panose="020B0604020202020204" pitchFamily="34" charset="0"/>
                <a:ea typeface="Times New Roman" panose="02020603050405020304" pitchFamily="18" charset="0"/>
              </a:rPr>
              <a:t> </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גבוהה מהמחיר של </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X</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במסחר.</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לא יתכן שהמשק לא יכול לצרוך יותר מ- 100 יחידות </a:t>
            </a:r>
            <a:r>
              <a:rPr lang="en-US" sz="1800" dirty="0">
                <a:effectLst/>
                <a:latin typeface="Arial" panose="020B0604020202020204" pitchFamily="34" charset="0"/>
                <a:ea typeface="Times New Roman" panose="02020603050405020304" pitchFamily="18" charset="0"/>
              </a:rPr>
              <a:t>X</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כאשר נפתח למסחר.</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כל התשובות האחרות לא נכונות.</a:t>
            </a:r>
            <a:endParaRPr lang="en-IL" sz="1800" dirty="0">
              <a:effectLst/>
              <a:latin typeface="Times New Roman" panose="02020603050405020304" pitchFamily="18" charset="0"/>
              <a:ea typeface="Times New Roman" panose="02020603050405020304" pitchFamily="18" charset="0"/>
            </a:endParaRPr>
          </a:p>
        </p:txBody>
      </p:sp>
      <p:cxnSp>
        <p:nvCxnSpPr>
          <p:cNvPr id="6" name="מחבר ישר 42">
            <a:extLst>
              <a:ext uri="{FF2B5EF4-FFF2-40B4-BE49-F238E27FC236}">
                <a16:creationId xmlns:a16="http://schemas.microsoft.com/office/drawing/2014/main" id="{F2E1322F-4AD1-52FC-1742-C2F3F686A74A}"/>
              </a:ext>
            </a:extLst>
          </p:cNvPr>
          <p:cNvCxnSpPr>
            <a:cxnSpLocks/>
          </p:cNvCxnSpPr>
          <p:nvPr/>
        </p:nvCxnSpPr>
        <p:spPr>
          <a:xfrm flipH="1">
            <a:off x="840394" y="1346647"/>
            <a:ext cx="2030" cy="4225084"/>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8" name="Object 2">
            <a:extLst>
              <a:ext uri="{FF2B5EF4-FFF2-40B4-BE49-F238E27FC236}">
                <a16:creationId xmlns:a16="http://schemas.microsoft.com/office/drawing/2014/main" id="{D7FED0EE-A871-1176-D4C7-FA5BD96E78E3}"/>
              </a:ext>
            </a:extLst>
          </p:cNvPr>
          <p:cNvGraphicFramePr>
            <a:graphicFrameLocks noChangeAspect="1"/>
          </p:cNvGraphicFramePr>
          <p:nvPr>
            <p:extLst>
              <p:ext uri="{D42A27DB-BD31-4B8C-83A1-F6EECF244321}">
                <p14:modId xmlns:p14="http://schemas.microsoft.com/office/powerpoint/2010/main" val="3575425555"/>
              </p:ext>
            </p:extLst>
          </p:nvPr>
        </p:nvGraphicFramePr>
        <p:xfrm>
          <a:off x="354392" y="1098124"/>
          <a:ext cx="366712" cy="497046"/>
        </p:xfrm>
        <a:graphic>
          <a:graphicData uri="http://schemas.openxmlformats.org/presentationml/2006/ole">
            <mc:AlternateContent xmlns:mc="http://schemas.openxmlformats.org/markup-compatibility/2006">
              <mc:Choice xmlns:v="urn:schemas-microsoft-com:vml" Requires="v">
                <p:oleObj name="Equation" r:id="rId2" imgW="139680" imgH="164880" progId="Equation.DSMT4">
                  <p:embed/>
                </p:oleObj>
              </mc:Choice>
              <mc:Fallback>
                <p:oleObj name="Equation" r:id="rId2" imgW="139680" imgH="164880" progId="Equation.DSMT4">
                  <p:embed/>
                  <p:pic>
                    <p:nvPicPr>
                      <p:cNvPr id="8" name="Object 2">
                        <a:extLst>
                          <a:ext uri="{FF2B5EF4-FFF2-40B4-BE49-F238E27FC236}">
                            <a16:creationId xmlns:a16="http://schemas.microsoft.com/office/drawing/2014/main" id="{563DF8DD-F036-4F51-88E6-EABDF6477A23}"/>
                          </a:ext>
                        </a:extLst>
                      </p:cNvPr>
                      <p:cNvPicPr>
                        <a:picLocks noChangeAspect="1" noChangeArrowheads="1"/>
                      </p:cNvPicPr>
                      <p:nvPr/>
                    </p:nvPicPr>
                    <p:blipFill>
                      <a:blip r:embed="rId3"/>
                      <a:srcRect/>
                      <a:stretch>
                        <a:fillRect/>
                      </a:stretch>
                    </p:blipFill>
                    <p:spPr bwMode="auto">
                      <a:xfrm>
                        <a:off x="354392" y="1098124"/>
                        <a:ext cx="366712" cy="497046"/>
                      </a:xfrm>
                      <a:prstGeom prst="rect">
                        <a:avLst/>
                      </a:prstGeom>
                      <a:noFill/>
                      <a:ln>
                        <a:noFill/>
                      </a:ln>
                    </p:spPr>
                  </p:pic>
                </p:oleObj>
              </mc:Fallback>
            </mc:AlternateContent>
          </a:graphicData>
        </a:graphic>
      </p:graphicFrame>
      <p:cxnSp>
        <p:nvCxnSpPr>
          <p:cNvPr id="9" name="מחבר ישר 54">
            <a:extLst>
              <a:ext uri="{FF2B5EF4-FFF2-40B4-BE49-F238E27FC236}">
                <a16:creationId xmlns:a16="http://schemas.microsoft.com/office/drawing/2014/main" id="{7B81C076-6E87-1C29-7190-41F8C4C52C5B}"/>
              </a:ext>
            </a:extLst>
          </p:cNvPr>
          <p:cNvCxnSpPr/>
          <p:nvPr/>
        </p:nvCxnSpPr>
        <p:spPr>
          <a:xfrm>
            <a:off x="839199" y="5579239"/>
            <a:ext cx="3677454" cy="1588"/>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מחבר ישר 94">
            <a:extLst>
              <a:ext uri="{FF2B5EF4-FFF2-40B4-BE49-F238E27FC236}">
                <a16:creationId xmlns:a16="http://schemas.microsoft.com/office/drawing/2014/main" id="{E228B728-8DA3-0243-8452-AD78FBF52AF1}"/>
              </a:ext>
            </a:extLst>
          </p:cNvPr>
          <p:cNvCxnSpPr>
            <a:cxnSpLocks/>
          </p:cNvCxnSpPr>
          <p:nvPr/>
        </p:nvCxnSpPr>
        <p:spPr>
          <a:xfrm>
            <a:off x="842424" y="3277772"/>
            <a:ext cx="2752331" cy="2310563"/>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07637077-5A85-CF40-91B8-F18DE1D5BA6B}"/>
              </a:ext>
            </a:extLst>
          </p:cNvPr>
          <p:cNvSpPr/>
          <p:nvPr/>
        </p:nvSpPr>
        <p:spPr>
          <a:xfrm>
            <a:off x="3456642" y="5425279"/>
            <a:ext cx="276225" cy="30792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1" anchor="ctr"/>
          <a:lstStyle/>
          <a:p>
            <a:pPr algn="ctr"/>
            <a:r>
              <a:rPr lang="en-US" dirty="0"/>
              <a:t>A</a:t>
            </a:r>
            <a:endParaRPr lang="he-IL" dirty="0"/>
          </a:p>
        </p:txBody>
      </p:sp>
      <p:sp>
        <p:nvSpPr>
          <p:cNvPr id="12" name="TextBox 11">
            <a:extLst>
              <a:ext uri="{FF2B5EF4-FFF2-40B4-BE49-F238E27FC236}">
                <a16:creationId xmlns:a16="http://schemas.microsoft.com/office/drawing/2014/main" id="{D3343D7A-B91F-1E84-22CA-CEF51CE1CC0B}"/>
              </a:ext>
            </a:extLst>
          </p:cNvPr>
          <p:cNvSpPr txBox="1"/>
          <p:nvPr/>
        </p:nvSpPr>
        <p:spPr>
          <a:xfrm>
            <a:off x="4729971" y="5588335"/>
            <a:ext cx="520118" cy="523220"/>
          </a:xfrm>
          <a:prstGeom prst="rect">
            <a:avLst/>
          </a:prstGeom>
          <a:noFill/>
        </p:spPr>
        <p:txBody>
          <a:bodyPr wrap="square" rtlCol="0">
            <a:spAutoFit/>
          </a:bodyPr>
          <a:lstStyle/>
          <a:p>
            <a:r>
              <a:rPr lang="en-US" sz="2800" dirty="0"/>
              <a:t>X</a:t>
            </a:r>
          </a:p>
        </p:txBody>
      </p:sp>
      <p:cxnSp>
        <p:nvCxnSpPr>
          <p:cNvPr id="13" name="מחבר ישר 94">
            <a:extLst>
              <a:ext uri="{FF2B5EF4-FFF2-40B4-BE49-F238E27FC236}">
                <a16:creationId xmlns:a16="http://schemas.microsoft.com/office/drawing/2014/main" id="{8C30FFB5-987E-8A1C-6D04-8A4DFB40A530}"/>
              </a:ext>
            </a:extLst>
          </p:cNvPr>
          <p:cNvCxnSpPr>
            <a:cxnSpLocks/>
          </p:cNvCxnSpPr>
          <p:nvPr/>
        </p:nvCxnSpPr>
        <p:spPr>
          <a:xfrm>
            <a:off x="848623" y="1815509"/>
            <a:ext cx="2746132" cy="3756222"/>
          </a:xfrm>
          <a:prstGeom prst="line">
            <a:avLst/>
          </a:prstGeom>
          <a:ln w="41275">
            <a:solidFill>
              <a:srgbClr val="FF00FF"/>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4D3E00C-BE04-5969-A3FA-F0B8B7765F88}"/>
              </a:ext>
            </a:extLst>
          </p:cNvPr>
          <p:cNvSpPr txBox="1"/>
          <p:nvPr/>
        </p:nvSpPr>
        <p:spPr>
          <a:xfrm>
            <a:off x="2111436" y="3367179"/>
            <a:ext cx="1552375" cy="646331"/>
          </a:xfrm>
          <a:prstGeom prst="rect">
            <a:avLst/>
          </a:prstGeom>
          <a:noFill/>
        </p:spPr>
        <p:txBody>
          <a:bodyPr wrap="square" rtlCol="0">
            <a:spAutoFit/>
          </a:bodyPr>
          <a:lstStyle/>
          <a:p>
            <a:pPr algn="r" rtl="1"/>
            <a:r>
              <a:rPr lang="he-IL" dirty="0">
                <a:solidFill>
                  <a:srgbClr val="FF00FF"/>
                </a:solidFill>
              </a:rPr>
              <a:t>גבול אפשרויות הצריכה</a:t>
            </a:r>
            <a:endParaRPr lang="en-IL" dirty="0">
              <a:solidFill>
                <a:srgbClr val="FF00FF"/>
              </a:solidFill>
            </a:endParaRPr>
          </a:p>
        </p:txBody>
      </p:sp>
      <p:sp>
        <p:nvSpPr>
          <p:cNvPr id="17" name="TextBox 16">
            <a:extLst>
              <a:ext uri="{FF2B5EF4-FFF2-40B4-BE49-F238E27FC236}">
                <a16:creationId xmlns:a16="http://schemas.microsoft.com/office/drawing/2014/main" id="{323918F6-034C-8E30-9AAD-A3FB4E561557}"/>
              </a:ext>
            </a:extLst>
          </p:cNvPr>
          <p:cNvSpPr txBox="1"/>
          <p:nvPr/>
        </p:nvSpPr>
        <p:spPr>
          <a:xfrm>
            <a:off x="3180223" y="5893336"/>
            <a:ext cx="941612" cy="369332"/>
          </a:xfrm>
          <a:prstGeom prst="rect">
            <a:avLst/>
          </a:prstGeom>
          <a:noFill/>
        </p:spPr>
        <p:txBody>
          <a:bodyPr wrap="square" rtlCol="0">
            <a:spAutoFit/>
          </a:bodyPr>
          <a:lstStyle/>
          <a:p>
            <a:r>
              <a:rPr lang="he-IL" dirty="0"/>
              <a:t>(100,0)</a:t>
            </a:r>
            <a:endParaRPr lang="en-IL" dirty="0"/>
          </a:p>
        </p:txBody>
      </p:sp>
      <p:sp>
        <p:nvSpPr>
          <p:cNvPr id="4" name="Rectangle 3">
            <a:extLst>
              <a:ext uri="{FF2B5EF4-FFF2-40B4-BE49-F238E27FC236}">
                <a16:creationId xmlns:a16="http://schemas.microsoft.com/office/drawing/2014/main" id="{FDA1DD27-C6E4-4252-A345-13E34C8C0F05}"/>
              </a:ext>
            </a:extLst>
          </p:cNvPr>
          <p:cNvSpPr/>
          <p:nvPr/>
        </p:nvSpPr>
        <p:spPr>
          <a:xfrm>
            <a:off x="5250089" y="2615023"/>
            <a:ext cx="6744495" cy="81397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mc:AlternateContent xmlns:mc="http://schemas.openxmlformats.org/markup-compatibility/2006" xmlns:a14="http://schemas.microsoft.com/office/drawing/2010/main">
        <mc:Choice Requires="a14">
          <p:sp>
            <p:nvSpPr>
              <p:cNvPr id="14" name="מלבן 18">
                <a:extLst>
                  <a:ext uri="{FF2B5EF4-FFF2-40B4-BE49-F238E27FC236}">
                    <a16:creationId xmlns:a16="http://schemas.microsoft.com/office/drawing/2014/main" id="{EDFA908D-0D00-E9D0-AC8E-4BAA55E30D81}"/>
                  </a:ext>
                </a:extLst>
              </p:cNvPr>
              <p:cNvSpPr/>
              <p:nvPr/>
            </p:nvSpPr>
            <p:spPr>
              <a:xfrm>
                <a:off x="2740687" y="1020009"/>
                <a:ext cx="1996059" cy="959173"/>
              </a:xfrm>
              <a:prstGeom prst="rect">
                <a:avLst/>
              </a:prstGeom>
            </p:spPr>
            <p:txBody>
              <a:bodyPr wrap="none">
                <a:spAutoFit/>
              </a:bodyPr>
              <a:lstStyle/>
              <a:p>
                <a:r>
                  <a:rPr lang="en-US" sz="3600" b="1" dirty="0">
                    <a:solidFill>
                      <a:srgbClr val="4F81BD">
                        <a:lumMod val="75000"/>
                      </a:srgbClr>
                    </a:solidFill>
                    <a:latin typeface="Calibri" panose="020F0502020204030204"/>
                  </a:rPr>
                  <a:t>MCx  &lt;</a:t>
                </a:r>
                <a14:m>
                  <m:oMath xmlns:m="http://schemas.openxmlformats.org/officeDocument/2006/math">
                    <m:r>
                      <a:rPr lang="en-US" sz="3600" b="1" i="0" smtClean="0">
                        <a:solidFill>
                          <a:srgbClr val="4F81BD">
                            <a:lumMod val="75000"/>
                          </a:srgbClr>
                        </a:solidFill>
                        <a:latin typeface="Cambria Math" panose="02040503050406030204" pitchFamily="18" charset="0"/>
                      </a:rPr>
                      <m:t> </m:t>
                    </m:r>
                    <m:f>
                      <m:fPr>
                        <m:ctrlPr>
                          <a:rPr lang="en-US" sz="3600" b="1" i="1" smtClean="0">
                            <a:solidFill>
                              <a:srgbClr val="4F81BD">
                                <a:lumMod val="75000"/>
                              </a:srgbClr>
                            </a:solidFill>
                            <a:latin typeface="Cambria Math" panose="02040503050406030204" pitchFamily="18" charset="0"/>
                          </a:rPr>
                        </m:ctrlPr>
                      </m:fPr>
                      <m:num>
                        <m:r>
                          <a:rPr lang="he-IL" sz="3600" b="1" i="1">
                            <a:solidFill>
                              <a:srgbClr val="4F81BD">
                                <a:lumMod val="75000"/>
                              </a:srgbClr>
                            </a:solidFill>
                            <a:latin typeface="Cambria Math"/>
                          </a:rPr>
                          <m:t>𝐏𝐱</m:t>
                        </m:r>
                      </m:num>
                      <m:den>
                        <m:r>
                          <a:rPr lang="he-IL" sz="3600" b="1" i="1">
                            <a:solidFill>
                              <a:srgbClr val="4F81BD">
                                <a:lumMod val="75000"/>
                              </a:srgbClr>
                            </a:solidFill>
                            <a:latin typeface="Cambria Math"/>
                          </a:rPr>
                          <m:t>𝐏</m:t>
                        </m:r>
                        <m:r>
                          <a:rPr lang="en-US" sz="3600" b="1" i="1" smtClean="0">
                            <a:solidFill>
                              <a:srgbClr val="4F81BD">
                                <a:lumMod val="75000"/>
                              </a:srgbClr>
                            </a:solidFill>
                            <a:latin typeface="Cambria Math" panose="02040503050406030204" pitchFamily="18" charset="0"/>
                          </a:rPr>
                          <m:t>𝒚</m:t>
                        </m:r>
                      </m:den>
                    </m:f>
                  </m:oMath>
                </a14:m>
                <a:endParaRPr lang="he-IL" sz="3600" b="1" dirty="0">
                  <a:solidFill>
                    <a:srgbClr val="4F81BD">
                      <a:lumMod val="75000"/>
                    </a:srgbClr>
                  </a:solidFill>
                  <a:latin typeface="Calibri" panose="020F0502020204030204"/>
                  <a:cs typeface="Arial" panose="020B0604020202020204" pitchFamily="34" charset="0"/>
                </a:endParaRPr>
              </a:p>
            </p:txBody>
          </p:sp>
        </mc:Choice>
        <mc:Fallback xmlns="">
          <p:sp>
            <p:nvSpPr>
              <p:cNvPr id="14" name="מלבן 18">
                <a:extLst>
                  <a:ext uri="{FF2B5EF4-FFF2-40B4-BE49-F238E27FC236}">
                    <a16:creationId xmlns:a16="http://schemas.microsoft.com/office/drawing/2014/main" id="{EDFA908D-0D00-E9D0-AC8E-4BAA55E30D81}"/>
                  </a:ext>
                </a:extLst>
              </p:cNvPr>
              <p:cNvSpPr>
                <a:spLocks noRot="1" noChangeAspect="1" noMove="1" noResize="1" noEditPoints="1" noAdjustHandles="1" noChangeArrowheads="1" noChangeShapeType="1" noTextEdit="1"/>
              </p:cNvSpPr>
              <p:nvPr/>
            </p:nvSpPr>
            <p:spPr>
              <a:xfrm>
                <a:off x="2740687" y="1020009"/>
                <a:ext cx="1996059" cy="959173"/>
              </a:xfrm>
              <a:prstGeom prst="rect">
                <a:avLst/>
              </a:prstGeom>
              <a:blipFill>
                <a:blip r:embed="rId4"/>
                <a:stretch>
                  <a:fillRect l="-9480" b="-3797"/>
                </a:stretch>
              </a:blipFill>
            </p:spPr>
            <p:txBody>
              <a:bodyPr/>
              <a:lstStyle/>
              <a:p>
                <a:r>
                  <a:rPr lang="en-IL">
                    <a:noFill/>
                  </a:rPr>
                  <a:t> </a:t>
                </a:r>
              </a:p>
            </p:txBody>
          </p:sp>
        </mc:Fallback>
      </mc:AlternateContent>
    </p:spTree>
    <p:extLst>
      <p:ext uri="{BB962C8B-B14F-4D97-AF65-F5344CB8AC3E}">
        <p14:creationId xmlns:p14="http://schemas.microsoft.com/office/powerpoint/2010/main" val="1033312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par>
                                <p:cTn id="8" presetID="14" presetClass="entr" presetSubtype="1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randombar(horizontal)">
                                      <p:cBhvr>
                                        <p:cTn id="10" dur="500"/>
                                        <p:tgtEl>
                                          <p:spTgt spid="9"/>
                                        </p:tgtEl>
                                      </p:cBhvr>
                                    </p:animEffect>
                                  </p:childTnLst>
                                </p:cTn>
                              </p:par>
                              <p:par>
                                <p:cTn id="11" presetID="14" presetClass="entr" presetSubtype="1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randombar(horizontal)">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barn(inVertical)">
                                      <p:cBhvr>
                                        <p:cTn id="29" dur="50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barn(inVertical)">
                                      <p:cBhvr>
                                        <p:cTn id="3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4" grpId="0" animBg="1"/>
      <p:bldP spid="1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86CFC-21FB-6BDA-BA4E-162AB7AF68F4}"/>
              </a:ext>
            </a:extLst>
          </p:cNvPr>
          <p:cNvSpPr>
            <a:spLocks noGrp="1"/>
          </p:cNvSpPr>
          <p:nvPr>
            <p:ph type="title"/>
          </p:nvPr>
        </p:nvSpPr>
        <p:spPr>
          <a:xfrm>
            <a:off x="10452682" y="79899"/>
            <a:ext cx="1647738" cy="633165"/>
          </a:xfrm>
        </p:spPr>
        <p:txBody>
          <a:bodyPr>
            <a:normAutofit/>
          </a:bodyPr>
          <a:lstStyle/>
          <a:p>
            <a:pPr algn="r" rtl="1"/>
            <a:r>
              <a:rPr lang="he-IL" sz="3200" dirty="0"/>
              <a:t>שאלה 16 </a:t>
            </a:r>
            <a:endParaRPr lang="en-IL" sz="3200" dirty="0"/>
          </a:p>
        </p:txBody>
      </p:sp>
      <p:sp>
        <p:nvSpPr>
          <p:cNvPr id="5" name="TextBox 4">
            <a:extLst>
              <a:ext uri="{FF2B5EF4-FFF2-40B4-BE49-F238E27FC236}">
                <a16:creationId xmlns:a16="http://schemas.microsoft.com/office/drawing/2014/main" id="{85958B51-5284-67B9-7EAF-F65DCAE71E98}"/>
              </a:ext>
            </a:extLst>
          </p:cNvPr>
          <p:cNvSpPr txBox="1"/>
          <p:nvPr/>
        </p:nvSpPr>
        <p:spPr>
          <a:xfrm>
            <a:off x="1775791" y="713064"/>
            <a:ext cx="10218793" cy="1704249"/>
          </a:xfrm>
          <a:prstGeom prst="rect">
            <a:avLst/>
          </a:prstGeom>
          <a:noFill/>
        </p:spPr>
        <p:txBody>
          <a:bodyPr wrap="square">
            <a:spAutoFit/>
          </a:bodyPr>
          <a:lstStyle/>
          <a:p>
            <a:pPr indent="-228600" algn="r" rtl="1">
              <a:lnSpc>
                <a:spcPct val="150000"/>
              </a:lnSpc>
              <a:tabLst>
                <a:tab pos="-228600" algn="l"/>
              </a:tabLst>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בענף השוקולד קיימת תחרות משוכללת ועקומת הביקוש וההיצע רגילות. בענף זה קרו שני שינויים</a:t>
            </a: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a:t>
            </a:r>
            <a:endParaRPr lang="en-IL" sz="1800" dirty="0">
              <a:effectLst/>
              <a:latin typeface="Times New Roman" panose="02020603050405020304" pitchFamily="18" charset="0"/>
              <a:ea typeface="Times New Roman" panose="02020603050405020304" pitchFamily="18" charset="0"/>
            </a:endParaRPr>
          </a:p>
          <a:p>
            <a:pPr indent="-228600" algn="r" rtl="1">
              <a:lnSpc>
                <a:spcPct val="150000"/>
              </a:lnSpc>
              <a:tabLst>
                <a:tab pos="-228600" algn="l"/>
              </a:tabLst>
            </a:pP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1. נכנסו יצרנים חדשים לענף המוכנים לייצר 100 יחידות שוקולד בכל רמת מחיר.</a:t>
            </a:r>
            <a:endParaRPr lang="en-IL" sz="1800" dirty="0">
              <a:effectLst/>
              <a:latin typeface="Times New Roman" panose="02020603050405020304" pitchFamily="18" charset="0"/>
              <a:ea typeface="Times New Roman" panose="02020603050405020304" pitchFamily="18" charset="0"/>
            </a:endParaRPr>
          </a:p>
          <a:p>
            <a:pPr indent="-228600" algn="r" rtl="1">
              <a:lnSpc>
                <a:spcPct val="150000"/>
              </a:lnSpc>
              <a:tabLst>
                <a:tab pos="-228600" algn="l"/>
              </a:tabLst>
            </a:pP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2. הכנסת צרכני השוקולד עלתה.</a:t>
            </a:r>
            <a:endParaRPr lang="en-IL" sz="1800" dirty="0">
              <a:effectLst/>
              <a:latin typeface="Times New Roman" panose="02020603050405020304" pitchFamily="18" charset="0"/>
              <a:ea typeface="Times New Roman" panose="02020603050405020304" pitchFamily="18" charset="0"/>
            </a:endParaRPr>
          </a:p>
          <a:p>
            <a:pPr indent="-228600" algn="r" rtl="1">
              <a:lnSpc>
                <a:spcPct val="150000"/>
              </a:lnSpc>
              <a:tabLst>
                <a:tab pos="-228600" algn="l"/>
              </a:tabLst>
            </a:pP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כתוצאה משני שינויים אלו, הכמות הנמכרת משוקולד גדלה ב- 80 יחידות. מנתונים אלה ניתן להגיד כי:</a:t>
            </a:r>
            <a:endParaRPr lang="en-IL" sz="1800"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E957C55C-F6BA-608C-DF2B-3A633E567A8E}"/>
              </a:ext>
            </a:extLst>
          </p:cNvPr>
          <p:cNvSpPr txBox="1"/>
          <p:nvPr/>
        </p:nvSpPr>
        <p:spPr>
          <a:xfrm>
            <a:off x="7148945" y="2598397"/>
            <a:ext cx="4845639" cy="2119747"/>
          </a:xfrm>
          <a:prstGeom prst="rect">
            <a:avLst/>
          </a:prstGeom>
          <a:noFill/>
        </p:spPr>
        <p:txBody>
          <a:bodyPr wrap="square">
            <a:spAutoFit/>
          </a:bodyPr>
          <a:lstStyle/>
          <a:p>
            <a:pPr marL="514350" indent="-514350" algn="r" rtl="1" eaLnBrk="0" fontAlgn="base" hangingPunct="0">
              <a:lnSpc>
                <a:spcPct val="150000"/>
              </a:lnSpc>
              <a:spcBef>
                <a:spcPct val="0"/>
              </a:spcBef>
              <a:spcAft>
                <a:spcPct val="0"/>
              </a:spcAft>
              <a:buAutoNum type="arabicPeriod"/>
            </a:pPr>
            <a:r>
              <a:rPr kumimoji="0" lang="he-IL" altLang="en-IL" b="0" i="0" u="none" strike="noStrike" cap="none" normalizeH="0" baseline="0" dirty="0">
                <a:ln>
                  <a:noFill/>
                </a:ln>
                <a:solidFill>
                  <a:schemeClr val="tx1"/>
                </a:solidFill>
                <a:effectLst/>
                <a:latin typeface="David" panose="020E0502060401010101" pitchFamily="34" charset="-79"/>
                <a:ea typeface="Times New Roman" panose="02020603050405020304" pitchFamily="18" charset="0"/>
              </a:rPr>
              <a:t>שוקולד מוצר משלים עבור הצרכנים.</a:t>
            </a:r>
          </a:p>
          <a:p>
            <a:pPr marL="457200" indent="-457200" algn="r" rtl="1" eaLnBrk="0" fontAlgn="base" hangingPunct="0">
              <a:lnSpc>
                <a:spcPct val="150000"/>
              </a:lnSpc>
              <a:spcBef>
                <a:spcPct val="0"/>
              </a:spcBef>
              <a:spcAft>
                <a:spcPct val="0"/>
              </a:spcAft>
              <a:buAutoNum type="arabicPeriod"/>
            </a:pPr>
            <a:r>
              <a:rPr lang="he-IL" altLang="en-IL" dirty="0">
                <a:latin typeface="David" panose="020E0502060401010101" pitchFamily="34" charset="-79"/>
              </a:rPr>
              <a:t>ייתכן כי </a:t>
            </a:r>
            <a:r>
              <a:rPr kumimoji="0" lang="he-IL" altLang="en-IL" i="0" u="none" strike="noStrike" cap="none" normalizeH="0" baseline="0" dirty="0">
                <a:ln>
                  <a:noFill/>
                </a:ln>
                <a:solidFill>
                  <a:schemeClr val="tx1"/>
                </a:solidFill>
                <a:effectLst/>
                <a:latin typeface="David" panose="020E0502060401010101" pitchFamily="34" charset="-79"/>
                <a:ea typeface="Times New Roman" panose="02020603050405020304" pitchFamily="18" charset="0"/>
              </a:rPr>
              <a:t>שוקולד מוצר נורמאלי עבור הצרכנים.</a:t>
            </a:r>
            <a:endParaRPr lang="he-IL" altLang="en-IL" dirty="0"/>
          </a:p>
          <a:p>
            <a:pPr marL="457200" indent="-457200" algn="r" rtl="1" eaLnBrk="0" fontAlgn="base" hangingPunct="0">
              <a:lnSpc>
                <a:spcPct val="150000"/>
              </a:lnSpc>
              <a:spcBef>
                <a:spcPct val="0"/>
              </a:spcBef>
              <a:spcAft>
                <a:spcPct val="0"/>
              </a:spcAft>
              <a:buAutoNum type="arabicPeriod"/>
            </a:pPr>
            <a:r>
              <a:rPr kumimoji="0" lang="he-IL" altLang="en-IL" b="0" i="0" u="none" strike="noStrike" cap="none" normalizeH="0" baseline="0" dirty="0">
                <a:ln>
                  <a:noFill/>
                </a:ln>
                <a:solidFill>
                  <a:schemeClr val="tx1"/>
                </a:solidFill>
                <a:effectLst/>
                <a:latin typeface="David" panose="020E0502060401010101" pitchFamily="34" charset="-79"/>
                <a:ea typeface="Times New Roman" panose="02020603050405020304" pitchFamily="18" charset="0"/>
              </a:rPr>
              <a:t>שוקולד מוצר נחות עבור הצרכנים.</a:t>
            </a:r>
            <a:endParaRPr lang="he-IL" altLang="en-IL" dirty="0"/>
          </a:p>
          <a:p>
            <a:pPr marL="457200" indent="-457200" algn="r" rtl="1" eaLnBrk="0" fontAlgn="base" hangingPunct="0">
              <a:lnSpc>
                <a:spcPct val="150000"/>
              </a:lnSpc>
              <a:spcBef>
                <a:spcPct val="0"/>
              </a:spcBef>
              <a:spcAft>
                <a:spcPct val="0"/>
              </a:spcAft>
              <a:buAutoNum type="arabicPeriod"/>
            </a:pPr>
            <a:r>
              <a:rPr kumimoji="0" lang="he-IL" altLang="en-IL" b="0" i="0" u="none" strike="noStrike" cap="none" normalizeH="0" baseline="0" dirty="0">
                <a:ln>
                  <a:noFill/>
                </a:ln>
                <a:solidFill>
                  <a:schemeClr val="tx1"/>
                </a:solidFill>
                <a:effectLst/>
                <a:latin typeface="David" panose="020E0502060401010101" pitchFamily="34" charset="-79"/>
                <a:ea typeface="Times New Roman" panose="02020603050405020304" pitchFamily="18" charset="0"/>
              </a:rPr>
              <a:t>שוקולד מוצר ניטראלי עבור הצרכנים.</a:t>
            </a:r>
            <a:endParaRPr lang="he-IL" altLang="en-IL" dirty="0"/>
          </a:p>
          <a:p>
            <a:pPr marL="457200" indent="-457200" algn="r" rtl="1" eaLnBrk="0" fontAlgn="base" hangingPunct="0">
              <a:lnSpc>
                <a:spcPct val="150000"/>
              </a:lnSpc>
              <a:spcBef>
                <a:spcPct val="0"/>
              </a:spcBef>
              <a:spcAft>
                <a:spcPct val="0"/>
              </a:spcAft>
              <a:buAutoNum type="arabicPeriod"/>
            </a:pPr>
            <a:r>
              <a:rPr kumimoji="0" lang="he-IL" altLang="en-IL" b="0" i="0" u="none" strike="noStrike" cap="none" normalizeH="0" baseline="0" dirty="0">
                <a:ln>
                  <a:noFill/>
                </a:ln>
                <a:solidFill>
                  <a:schemeClr val="tx1"/>
                </a:solidFill>
                <a:effectLst/>
                <a:latin typeface="David" panose="020E0502060401010101" pitchFamily="34" charset="-79"/>
                <a:ea typeface="Times New Roman" panose="02020603050405020304" pitchFamily="18" charset="0"/>
              </a:rPr>
              <a:t>כל התשובות האחרות לא נכונות.</a:t>
            </a:r>
            <a:endParaRPr kumimoji="0" lang="he-IL" altLang="en-IL"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588629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86CFC-21FB-6BDA-BA4E-162AB7AF68F4}"/>
              </a:ext>
            </a:extLst>
          </p:cNvPr>
          <p:cNvSpPr>
            <a:spLocks noGrp="1"/>
          </p:cNvSpPr>
          <p:nvPr>
            <p:ph type="title"/>
          </p:nvPr>
        </p:nvSpPr>
        <p:spPr>
          <a:xfrm>
            <a:off x="10452682" y="79899"/>
            <a:ext cx="1647738" cy="633165"/>
          </a:xfrm>
        </p:spPr>
        <p:txBody>
          <a:bodyPr>
            <a:normAutofit/>
          </a:bodyPr>
          <a:lstStyle/>
          <a:p>
            <a:pPr algn="r" rtl="1"/>
            <a:r>
              <a:rPr lang="he-IL" sz="3200" dirty="0"/>
              <a:t>שאלה 16 </a:t>
            </a:r>
            <a:endParaRPr lang="en-IL" sz="3200" dirty="0"/>
          </a:p>
        </p:txBody>
      </p:sp>
      <p:sp>
        <p:nvSpPr>
          <p:cNvPr id="5" name="TextBox 4">
            <a:extLst>
              <a:ext uri="{FF2B5EF4-FFF2-40B4-BE49-F238E27FC236}">
                <a16:creationId xmlns:a16="http://schemas.microsoft.com/office/drawing/2014/main" id="{85958B51-5284-67B9-7EAF-F65DCAE71E98}"/>
              </a:ext>
            </a:extLst>
          </p:cNvPr>
          <p:cNvSpPr txBox="1"/>
          <p:nvPr/>
        </p:nvSpPr>
        <p:spPr>
          <a:xfrm>
            <a:off x="618978" y="178492"/>
            <a:ext cx="9673415" cy="1704249"/>
          </a:xfrm>
          <a:prstGeom prst="rect">
            <a:avLst/>
          </a:prstGeom>
          <a:noFill/>
        </p:spPr>
        <p:txBody>
          <a:bodyPr wrap="square">
            <a:spAutoFit/>
          </a:bodyPr>
          <a:lstStyle/>
          <a:p>
            <a:pPr indent="-228600" algn="r" rtl="1">
              <a:lnSpc>
                <a:spcPct val="150000"/>
              </a:lnSpc>
              <a:tabLst>
                <a:tab pos="-228600" algn="l"/>
              </a:tabLst>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בענף השוקולד קיימת תחרות משוכללת ועקומת הביקוש וההיצע רגילות. בענף זה קרו שני שינויים</a:t>
            </a: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a:t>
            </a:r>
            <a:endParaRPr lang="en-IL" sz="1800" dirty="0">
              <a:effectLst/>
              <a:latin typeface="Times New Roman" panose="02020603050405020304" pitchFamily="18" charset="0"/>
              <a:ea typeface="Times New Roman" panose="02020603050405020304" pitchFamily="18" charset="0"/>
            </a:endParaRPr>
          </a:p>
          <a:p>
            <a:pPr indent="-228600" algn="r" rtl="1">
              <a:lnSpc>
                <a:spcPct val="150000"/>
              </a:lnSpc>
              <a:tabLst>
                <a:tab pos="-228600" algn="l"/>
              </a:tabLst>
            </a:pP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1. נכנסו יצרנים חדשים לענף המוכנים לייצר 100 יחידות שוקולד בכל רמת מחיר.</a:t>
            </a:r>
            <a:endParaRPr lang="en-IL" sz="1800" dirty="0">
              <a:effectLst/>
              <a:latin typeface="Times New Roman" panose="02020603050405020304" pitchFamily="18" charset="0"/>
              <a:ea typeface="Times New Roman" panose="02020603050405020304" pitchFamily="18" charset="0"/>
            </a:endParaRPr>
          </a:p>
          <a:p>
            <a:pPr indent="-228600" algn="r" rtl="1">
              <a:lnSpc>
                <a:spcPct val="150000"/>
              </a:lnSpc>
              <a:tabLst>
                <a:tab pos="-228600" algn="l"/>
              </a:tabLst>
            </a:pP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2. בהכנסת צרכני השוקולד עלתה.</a:t>
            </a:r>
            <a:endParaRPr lang="en-IL" sz="1800" dirty="0">
              <a:effectLst/>
              <a:latin typeface="Times New Roman" panose="02020603050405020304" pitchFamily="18" charset="0"/>
              <a:ea typeface="Times New Roman" panose="02020603050405020304" pitchFamily="18" charset="0"/>
            </a:endParaRPr>
          </a:p>
          <a:p>
            <a:pPr indent="-228600" algn="r" rtl="1">
              <a:lnSpc>
                <a:spcPct val="150000"/>
              </a:lnSpc>
              <a:tabLst>
                <a:tab pos="-228600" algn="l"/>
              </a:tabLst>
            </a:pP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כתוצאה משני שינויים אלו, הכמות הנמכרת משוקולד גדלה ב- 80 יחידות. מנתונים אלה ניתן להגיד כי:</a:t>
            </a:r>
            <a:endParaRPr lang="en-IL" sz="1800" dirty="0">
              <a:effectLst/>
              <a:latin typeface="Times New Roman" panose="02020603050405020304" pitchFamily="18" charset="0"/>
              <a:ea typeface="Times New Roman" panose="02020603050405020304" pitchFamily="18" charset="0"/>
            </a:endParaRPr>
          </a:p>
        </p:txBody>
      </p:sp>
      <p:sp>
        <p:nvSpPr>
          <p:cNvPr id="4" name="Rectangle 2">
            <a:extLst>
              <a:ext uri="{FF2B5EF4-FFF2-40B4-BE49-F238E27FC236}">
                <a16:creationId xmlns:a16="http://schemas.microsoft.com/office/drawing/2014/main" id="{0877A2EB-BB61-AC43-DB02-1C298FCEA851}"/>
              </a:ext>
            </a:extLst>
          </p:cNvPr>
          <p:cNvSpPr>
            <a:spLocks noChangeArrowheads="1"/>
          </p:cNvSpPr>
          <p:nvPr/>
        </p:nvSpPr>
        <p:spPr bwMode="auto">
          <a:xfrm>
            <a:off x="7282040" y="2363067"/>
            <a:ext cx="4532812" cy="2131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indent="-514350" algn="r" rtl="1" eaLnBrk="0" fontAlgn="base" hangingPunct="0">
              <a:lnSpc>
                <a:spcPct val="150000"/>
              </a:lnSpc>
              <a:spcBef>
                <a:spcPct val="0"/>
              </a:spcBef>
              <a:spcAft>
                <a:spcPct val="0"/>
              </a:spcAft>
              <a:buAutoNum type="arabicPeriod"/>
            </a:pPr>
            <a:r>
              <a:rPr kumimoji="0" lang="he-IL" altLang="en-IL" b="0" i="0" u="none" strike="noStrike" cap="none" normalizeH="0" baseline="0" dirty="0">
                <a:ln>
                  <a:noFill/>
                </a:ln>
                <a:solidFill>
                  <a:schemeClr val="tx1"/>
                </a:solidFill>
                <a:effectLst/>
                <a:latin typeface="David" panose="020E0502060401010101" pitchFamily="34" charset="-79"/>
                <a:ea typeface="Times New Roman" panose="02020603050405020304" pitchFamily="18" charset="0"/>
                <a:cs typeface="David" panose="020E0502060401010101" pitchFamily="34" charset="-79"/>
              </a:rPr>
              <a:t>שוקולד מוצר משלים עבור הצרכנים.</a:t>
            </a:r>
          </a:p>
          <a:p>
            <a:pPr marL="457200" indent="-457200" algn="r" rtl="1" eaLnBrk="0" fontAlgn="base" hangingPunct="0">
              <a:lnSpc>
                <a:spcPct val="150000"/>
              </a:lnSpc>
              <a:spcBef>
                <a:spcPct val="0"/>
              </a:spcBef>
              <a:spcAft>
                <a:spcPct val="0"/>
              </a:spcAft>
              <a:buAutoNum type="arabicPeriod"/>
            </a:pPr>
            <a:r>
              <a:rPr lang="he-IL" altLang="en-IL" dirty="0">
                <a:latin typeface="David" panose="020E0502060401010101" pitchFamily="34" charset="-79"/>
                <a:cs typeface="David" panose="020E0502060401010101" pitchFamily="34" charset="-79"/>
              </a:rPr>
              <a:t>ייתכן כי </a:t>
            </a:r>
            <a:r>
              <a:rPr kumimoji="0" lang="he-IL" altLang="en-IL" i="0" u="none" strike="noStrike" cap="none" normalizeH="0" baseline="0" dirty="0">
                <a:ln>
                  <a:noFill/>
                </a:ln>
                <a:solidFill>
                  <a:schemeClr val="tx1"/>
                </a:solidFill>
                <a:effectLst/>
                <a:latin typeface="David" panose="020E0502060401010101" pitchFamily="34" charset="-79"/>
                <a:ea typeface="Times New Roman" panose="02020603050405020304" pitchFamily="18" charset="0"/>
                <a:cs typeface="David" panose="020E0502060401010101" pitchFamily="34" charset="-79"/>
              </a:rPr>
              <a:t>שוקולד מוצר נורמאלי עבור הצרכנים.</a:t>
            </a:r>
            <a:endParaRPr lang="he-IL" altLang="en-IL" dirty="0"/>
          </a:p>
          <a:p>
            <a:pPr marL="457200" indent="-457200" algn="r" rtl="1" eaLnBrk="0" fontAlgn="base" hangingPunct="0">
              <a:lnSpc>
                <a:spcPct val="150000"/>
              </a:lnSpc>
              <a:spcBef>
                <a:spcPct val="0"/>
              </a:spcBef>
              <a:spcAft>
                <a:spcPct val="0"/>
              </a:spcAft>
              <a:buAutoNum type="arabicPeriod"/>
            </a:pPr>
            <a:r>
              <a:rPr kumimoji="0" lang="he-IL" altLang="en-IL" b="0" i="0" u="none" strike="noStrike" cap="none" normalizeH="0" baseline="0" dirty="0">
                <a:ln>
                  <a:noFill/>
                </a:ln>
                <a:solidFill>
                  <a:schemeClr val="tx1"/>
                </a:solidFill>
                <a:effectLst/>
                <a:latin typeface="David" panose="020E0502060401010101" pitchFamily="34" charset="-79"/>
                <a:ea typeface="Times New Roman" panose="02020603050405020304" pitchFamily="18" charset="0"/>
                <a:cs typeface="David" panose="020E0502060401010101" pitchFamily="34" charset="-79"/>
              </a:rPr>
              <a:t>שוקולד מוצר נחות עבור הצרכנים.</a:t>
            </a:r>
            <a:endParaRPr lang="he-IL" altLang="en-IL" dirty="0"/>
          </a:p>
          <a:p>
            <a:pPr marL="457200" indent="-457200" algn="r" rtl="1" eaLnBrk="0" fontAlgn="base" hangingPunct="0">
              <a:lnSpc>
                <a:spcPct val="150000"/>
              </a:lnSpc>
              <a:spcBef>
                <a:spcPct val="0"/>
              </a:spcBef>
              <a:spcAft>
                <a:spcPct val="0"/>
              </a:spcAft>
              <a:buAutoNum type="arabicPeriod"/>
            </a:pPr>
            <a:r>
              <a:rPr kumimoji="0" lang="he-IL" altLang="en-IL" b="0" i="0" u="none" strike="noStrike" cap="none" normalizeH="0" baseline="0" dirty="0">
                <a:ln>
                  <a:noFill/>
                </a:ln>
                <a:solidFill>
                  <a:schemeClr val="tx1"/>
                </a:solidFill>
                <a:effectLst/>
                <a:latin typeface="David" panose="020E0502060401010101" pitchFamily="34" charset="-79"/>
                <a:ea typeface="Times New Roman" panose="02020603050405020304" pitchFamily="18" charset="0"/>
                <a:cs typeface="David" panose="020E0502060401010101" pitchFamily="34" charset="-79"/>
              </a:rPr>
              <a:t>שוקולד מוצר ניטראלי עבור הצרכנים.</a:t>
            </a:r>
            <a:endParaRPr lang="he-IL" altLang="en-IL" dirty="0"/>
          </a:p>
          <a:p>
            <a:pPr marL="457200" indent="-457200" algn="r" rtl="1" eaLnBrk="0" fontAlgn="base" hangingPunct="0">
              <a:lnSpc>
                <a:spcPct val="150000"/>
              </a:lnSpc>
              <a:spcBef>
                <a:spcPct val="0"/>
              </a:spcBef>
              <a:spcAft>
                <a:spcPct val="0"/>
              </a:spcAft>
              <a:buAutoNum type="arabicPeriod"/>
            </a:pPr>
            <a:r>
              <a:rPr kumimoji="0" lang="he-IL" altLang="en-IL" b="0" i="0" u="none" strike="noStrike" cap="none" normalizeH="0" baseline="0" dirty="0">
                <a:ln>
                  <a:noFill/>
                </a:ln>
                <a:solidFill>
                  <a:schemeClr val="tx1"/>
                </a:solidFill>
                <a:effectLst/>
                <a:latin typeface="David" panose="020E0502060401010101" pitchFamily="34" charset="-79"/>
                <a:ea typeface="Times New Roman" panose="02020603050405020304" pitchFamily="18" charset="0"/>
                <a:cs typeface="David" panose="020E0502060401010101" pitchFamily="34" charset="-79"/>
              </a:rPr>
              <a:t>כל התשובות האחרות לא נכונות.</a:t>
            </a:r>
            <a:endParaRPr kumimoji="0" lang="he-IL" altLang="en-IL"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cxnSp>
        <p:nvCxnSpPr>
          <p:cNvPr id="8" name="מחבר ישר 42">
            <a:extLst>
              <a:ext uri="{FF2B5EF4-FFF2-40B4-BE49-F238E27FC236}">
                <a16:creationId xmlns:a16="http://schemas.microsoft.com/office/drawing/2014/main" id="{272E9EF6-2196-5D6C-4EE2-310587334003}"/>
              </a:ext>
            </a:extLst>
          </p:cNvPr>
          <p:cNvCxnSpPr>
            <a:cxnSpLocks/>
          </p:cNvCxnSpPr>
          <p:nvPr/>
        </p:nvCxnSpPr>
        <p:spPr>
          <a:xfrm flipH="1">
            <a:off x="1216893" y="2921684"/>
            <a:ext cx="1438" cy="2805594"/>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מחבר ישר 54">
            <a:extLst>
              <a:ext uri="{FF2B5EF4-FFF2-40B4-BE49-F238E27FC236}">
                <a16:creationId xmlns:a16="http://schemas.microsoft.com/office/drawing/2014/main" id="{22535EE5-3681-2BB4-C83D-56B8EBDC9737}"/>
              </a:ext>
            </a:extLst>
          </p:cNvPr>
          <p:cNvCxnSpPr>
            <a:cxnSpLocks/>
          </p:cNvCxnSpPr>
          <p:nvPr/>
        </p:nvCxnSpPr>
        <p:spPr>
          <a:xfrm>
            <a:off x="1217686" y="5726484"/>
            <a:ext cx="3078273" cy="30959"/>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D89EFD6-CF19-2D70-4DDE-D0E075C814DD}"/>
              </a:ext>
            </a:extLst>
          </p:cNvPr>
          <p:cNvCxnSpPr>
            <a:cxnSpLocks/>
          </p:cNvCxnSpPr>
          <p:nvPr/>
        </p:nvCxnSpPr>
        <p:spPr>
          <a:xfrm flipV="1">
            <a:off x="1541645" y="3110825"/>
            <a:ext cx="2103339" cy="2163211"/>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EA201335-A0EB-7A44-2659-A68CFE46E910}"/>
              </a:ext>
            </a:extLst>
          </p:cNvPr>
          <p:cNvSpPr/>
          <p:nvPr/>
        </p:nvSpPr>
        <p:spPr>
          <a:xfrm>
            <a:off x="2323750" y="4182596"/>
            <a:ext cx="308232" cy="2837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cxnSp>
        <p:nvCxnSpPr>
          <p:cNvPr id="12" name="Straight Connector 11">
            <a:extLst>
              <a:ext uri="{FF2B5EF4-FFF2-40B4-BE49-F238E27FC236}">
                <a16:creationId xmlns:a16="http://schemas.microsoft.com/office/drawing/2014/main" id="{FEDF473B-98D4-73D6-077F-9B5032C8F64E}"/>
              </a:ext>
            </a:extLst>
          </p:cNvPr>
          <p:cNvCxnSpPr>
            <a:cxnSpLocks/>
          </p:cNvCxnSpPr>
          <p:nvPr/>
        </p:nvCxnSpPr>
        <p:spPr>
          <a:xfrm flipH="1" flipV="1">
            <a:off x="3250483" y="4370282"/>
            <a:ext cx="15678" cy="1356202"/>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557ACE7-5144-0A58-B3BD-03A7CF2C655E}"/>
              </a:ext>
            </a:extLst>
          </p:cNvPr>
          <p:cNvCxnSpPr>
            <a:cxnSpLocks/>
          </p:cNvCxnSpPr>
          <p:nvPr/>
        </p:nvCxnSpPr>
        <p:spPr>
          <a:xfrm flipH="1" flipV="1">
            <a:off x="1326268" y="4306575"/>
            <a:ext cx="1093021"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3157EF4-A258-9C00-2608-B004F66D02D7}"/>
              </a:ext>
            </a:extLst>
          </p:cNvPr>
          <p:cNvCxnSpPr>
            <a:cxnSpLocks/>
          </p:cNvCxnSpPr>
          <p:nvPr/>
        </p:nvCxnSpPr>
        <p:spPr>
          <a:xfrm>
            <a:off x="2463664" y="4377096"/>
            <a:ext cx="0" cy="1310716"/>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9F74CE9-7467-02CB-3041-488F91FACA1A}"/>
              </a:ext>
            </a:extLst>
          </p:cNvPr>
          <p:cNvSpPr txBox="1"/>
          <p:nvPr/>
        </p:nvSpPr>
        <p:spPr>
          <a:xfrm>
            <a:off x="2580899" y="4075075"/>
            <a:ext cx="569387" cy="369332"/>
          </a:xfrm>
          <a:prstGeom prst="rect">
            <a:avLst/>
          </a:prstGeom>
          <a:noFill/>
        </p:spPr>
        <p:txBody>
          <a:bodyPr wrap="none" rtlCol="0">
            <a:spAutoFit/>
          </a:bodyPr>
          <a:lstStyle/>
          <a:p>
            <a:r>
              <a:rPr lang="he-IL" dirty="0"/>
              <a:t>100</a:t>
            </a:r>
            <a:endParaRPr lang="en-US" dirty="0"/>
          </a:p>
        </p:txBody>
      </p:sp>
      <p:sp>
        <p:nvSpPr>
          <p:cNvPr id="16" name="TextBox 15">
            <a:extLst>
              <a:ext uri="{FF2B5EF4-FFF2-40B4-BE49-F238E27FC236}">
                <a16:creationId xmlns:a16="http://schemas.microsoft.com/office/drawing/2014/main" id="{190E1C39-33DB-D02A-F00D-43042C21890B}"/>
              </a:ext>
            </a:extLst>
          </p:cNvPr>
          <p:cNvSpPr txBox="1"/>
          <p:nvPr/>
        </p:nvSpPr>
        <p:spPr>
          <a:xfrm>
            <a:off x="795658" y="4152302"/>
            <a:ext cx="441146" cy="369332"/>
          </a:xfrm>
          <a:prstGeom prst="rect">
            <a:avLst/>
          </a:prstGeom>
          <a:noFill/>
        </p:spPr>
        <p:txBody>
          <a:bodyPr wrap="none" rtlCol="0">
            <a:spAutoFit/>
          </a:bodyPr>
          <a:lstStyle/>
          <a:p>
            <a:r>
              <a:rPr lang="he-IL" dirty="0"/>
              <a:t>10</a:t>
            </a:r>
            <a:endParaRPr lang="en-US" dirty="0"/>
          </a:p>
        </p:txBody>
      </p:sp>
      <p:cxnSp>
        <p:nvCxnSpPr>
          <p:cNvPr id="17" name="Straight Connector 16">
            <a:extLst>
              <a:ext uri="{FF2B5EF4-FFF2-40B4-BE49-F238E27FC236}">
                <a16:creationId xmlns:a16="http://schemas.microsoft.com/office/drawing/2014/main" id="{82A64A63-E864-018B-DB7C-215674173F65}"/>
              </a:ext>
            </a:extLst>
          </p:cNvPr>
          <p:cNvCxnSpPr>
            <a:cxnSpLocks/>
          </p:cNvCxnSpPr>
          <p:nvPr/>
        </p:nvCxnSpPr>
        <p:spPr>
          <a:xfrm flipH="1" flipV="1">
            <a:off x="1368537" y="3110033"/>
            <a:ext cx="2190255" cy="2409923"/>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BCB06F2C-68AD-B763-06B4-7B14ED95FD49}"/>
              </a:ext>
            </a:extLst>
          </p:cNvPr>
          <p:cNvSpPr txBox="1"/>
          <p:nvPr/>
        </p:nvSpPr>
        <p:spPr>
          <a:xfrm>
            <a:off x="3644984" y="2860903"/>
            <a:ext cx="290464" cy="369332"/>
          </a:xfrm>
          <a:prstGeom prst="rect">
            <a:avLst/>
          </a:prstGeom>
          <a:noFill/>
        </p:spPr>
        <p:txBody>
          <a:bodyPr wrap="none" rtlCol="0">
            <a:spAutoFit/>
          </a:bodyPr>
          <a:lstStyle/>
          <a:p>
            <a:r>
              <a:rPr lang="en-US" dirty="0"/>
              <a:t>S</a:t>
            </a:r>
          </a:p>
        </p:txBody>
      </p:sp>
      <p:sp>
        <p:nvSpPr>
          <p:cNvPr id="19" name="TextBox 18">
            <a:extLst>
              <a:ext uri="{FF2B5EF4-FFF2-40B4-BE49-F238E27FC236}">
                <a16:creationId xmlns:a16="http://schemas.microsoft.com/office/drawing/2014/main" id="{F3DE5DA3-AAB2-6248-837B-3D826F67A5B4}"/>
              </a:ext>
            </a:extLst>
          </p:cNvPr>
          <p:cNvSpPr txBox="1"/>
          <p:nvPr/>
        </p:nvSpPr>
        <p:spPr>
          <a:xfrm>
            <a:off x="3423885" y="5438554"/>
            <a:ext cx="426720" cy="400110"/>
          </a:xfrm>
          <a:prstGeom prst="rect">
            <a:avLst/>
          </a:prstGeom>
          <a:noFill/>
        </p:spPr>
        <p:txBody>
          <a:bodyPr wrap="none" rtlCol="0">
            <a:spAutoFit/>
          </a:bodyPr>
          <a:lstStyle/>
          <a:p>
            <a:r>
              <a:rPr lang="en-US" sz="2000" dirty="0"/>
              <a:t>D</a:t>
            </a:r>
            <a:r>
              <a:rPr lang="he-IL" sz="1200" dirty="0"/>
              <a:t>0</a:t>
            </a:r>
            <a:endParaRPr lang="en-US" dirty="0"/>
          </a:p>
        </p:txBody>
      </p:sp>
      <p:cxnSp>
        <p:nvCxnSpPr>
          <p:cNvPr id="20" name="Straight Connector 19">
            <a:extLst>
              <a:ext uri="{FF2B5EF4-FFF2-40B4-BE49-F238E27FC236}">
                <a16:creationId xmlns:a16="http://schemas.microsoft.com/office/drawing/2014/main" id="{8D0F36BA-0CF3-4286-72EB-793F90D7E6AE}"/>
              </a:ext>
            </a:extLst>
          </p:cNvPr>
          <p:cNvCxnSpPr>
            <a:cxnSpLocks/>
          </p:cNvCxnSpPr>
          <p:nvPr/>
        </p:nvCxnSpPr>
        <p:spPr>
          <a:xfrm>
            <a:off x="2598834" y="4384175"/>
            <a:ext cx="667327" cy="23478"/>
          </a:xfrm>
          <a:prstGeom prst="line">
            <a:avLst/>
          </a:prstGeom>
          <a:ln w="28575">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29C372D-F38A-5C21-01D1-09313B0D92F2}"/>
              </a:ext>
            </a:extLst>
          </p:cNvPr>
          <p:cNvCxnSpPr>
            <a:cxnSpLocks/>
          </p:cNvCxnSpPr>
          <p:nvPr/>
        </p:nvCxnSpPr>
        <p:spPr>
          <a:xfrm flipH="1" flipV="1">
            <a:off x="1642879" y="3098384"/>
            <a:ext cx="2190255" cy="2409923"/>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EA034A0D-DE13-DAD5-3E74-D147BBD5388C}"/>
              </a:ext>
            </a:extLst>
          </p:cNvPr>
          <p:cNvSpPr/>
          <p:nvPr/>
        </p:nvSpPr>
        <p:spPr>
          <a:xfrm>
            <a:off x="2707802" y="4641517"/>
            <a:ext cx="308232" cy="283769"/>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B</a:t>
            </a:r>
          </a:p>
        </p:txBody>
      </p:sp>
      <p:sp>
        <p:nvSpPr>
          <p:cNvPr id="23" name="TextBox 22">
            <a:extLst>
              <a:ext uri="{FF2B5EF4-FFF2-40B4-BE49-F238E27FC236}">
                <a16:creationId xmlns:a16="http://schemas.microsoft.com/office/drawing/2014/main" id="{E9313EAA-F085-6A87-7484-961CF05CA348}"/>
              </a:ext>
            </a:extLst>
          </p:cNvPr>
          <p:cNvSpPr txBox="1"/>
          <p:nvPr/>
        </p:nvSpPr>
        <p:spPr>
          <a:xfrm>
            <a:off x="3840385" y="5388111"/>
            <a:ext cx="455574" cy="369332"/>
          </a:xfrm>
          <a:prstGeom prst="rect">
            <a:avLst/>
          </a:prstGeom>
          <a:noFill/>
        </p:spPr>
        <p:txBody>
          <a:bodyPr wrap="none" rtlCol="0">
            <a:spAutoFit/>
          </a:bodyPr>
          <a:lstStyle/>
          <a:p>
            <a:r>
              <a:rPr lang="en-US" dirty="0"/>
              <a:t>D</a:t>
            </a:r>
            <a:r>
              <a:rPr lang="he-IL" dirty="0"/>
              <a:t>1</a:t>
            </a:r>
            <a:endParaRPr lang="en-US" dirty="0"/>
          </a:p>
        </p:txBody>
      </p:sp>
      <p:cxnSp>
        <p:nvCxnSpPr>
          <p:cNvPr id="24" name="Straight Connector 23">
            <a:extLst>
              <a:ext uri="{FF2B5EF4-FFF2-40B4-BE49-F238E27FC236}">
                <a16:creationId xmlns:a16="http://schemas.microsoft.com/office/drawing/2014/main" id="{5EBE875E-A653-7AB5-E3F1-2B5C7D3CA5DB}"/>
              </a:ext>
            </a:extLst>
          </p:cNvPr>
          <p:cNvCxnSpPr>
            <a:cxnSpLocks/>
          </p:cNvCxnSpPr>
          <p:nvPr/>
        </p:nvCxnSpPr>
        <p:spPr>
          <a:xfrm flipV="1">
            <a:off x="2312076" y="3726800"/>
            <a:ext cx="1584353" cy="1651952"/>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D51ACA9-5FBF-0C49-B8F9-C247663956B4}"/>
              </a:ext>
            </a:extLst>
          </p:cNvPr>
          <p:cNvSpPr txBox="1"/>
          <p:nvPr/>
        </p:nvSpPr>
        <p:spPr>
          <a:xfrm>
            <a:off x="3706991" y="3359714"/>
            <a:ext cx="431118" cy="400110"/>
          </a:xfrm>
          <a:prstGeom prst="rect">
            <a:avLst/>
          </a:prstGeom>
          <a:noFill/>
        </p:spPr>
        <p:txBody>
          <a:bodyPr wrap="square" rtlCol="0">
            <a:spAutoFit/>
          </a:bodyPr>
          <a:lstStyle/>
          <a:p>
            <a:r>
              <a:rPr lang="en-US" sz="2000" b="1" dirty="0">
                <a:solidFill>
                  <a:srgbClr val="C00000"/>
                </a:solidFill>
              </a:rPr>
              <a:t>S</a:t>
            </a:r>
            <a:r>
              <a:rPr lang="en-US" sz="1400" b="1" dirty="0">
                <a:solidFill>
                  <a:srgbClr val="C00000"/>
                </a:solidFill>
              </a:rPr>
              <a:t>1</a:t>
            </a:r>
            <a:endParaRPr lang="en-US" sz="2000" b="1" dirty="0">
              <a:solidFill>
                <a:srgbClr val="C00000"/>
              </a:solidFill>
            </a:endParaRPr>
          </a:p>
        </p:txBody>
      </p:sp>
      <p:sp>
        <p:nvSpPr>
          <p:cNvPr id="37" name="Oval 36">
            <a:extLst>
              <a:ext uri="{FF2B5EF4-FFF2-40B4-BE49-F238E27FC236}">
                <a16:creationId xmlns:a16="http://schemas.microsoft.com/office/drawing/2014/main" id="{770A1E71-9C26-1F55-00DF-CF1A2E766AE8}"/>
              </a:ext>
            </a:extLst>
          </p:cNvPr>
          <p:cNvSpPr/>
          <p:nvPr/>
        </p:nvSpPr>
        <p:spPr>
          <a:xfrm>
            <a:off x="2872381" y="4484763"/>
            <a:ext cx="308232" cy="283769"/>
          </a:xfrm>
          <a:prstGeom prst="ellipse">
            <a:avLst/>
          </a:prstGeom>
          <a:solidFill>
            <a:schemeClr val="accent6"/>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C</a:t>
            </a:r>
          </a:p>
        </p:txBody>
      </p:sp>
      <p:sp>
        <p:nvSpPr>
          <p:cNvPr id="38" name="TextBox 37">
            <a:extLst>
              <a:ext uri="{FF2B5EF4-FFF2-40B4-BE49-F238E27FC236}">
                <a16:creationId xmlns:a16="http://schemas.microsoft.com/office/drawing/2014/main" id="{CE42EB97-3221-661C-8A86-4C5F77E73FB0}"/>
              </a:ext>
            </a:extLst>
          </p:cNvPr>
          <p:cNvSpPr txBox="1"/>
          <p:nvPr/>
        </p:nvSpPr>
        <p:spPr>
          <a:xfrm flipH="1">
            <a:off x="4435873" y="5687812"/>
            <a:ext cx="249455" cy="369332"/>
          </a:xfrm>
          <a:prstGeom prst="rect">
            <a:avLst/>
          </a:prstGeom>
          <a:noFill/>
        </p:spPr>
        <p:txBody>
          <a:bodyPr wrap="square" rtlCol="0">
            <a:spAutoFit/>
          </a:bodyPr>
          <a:lstStyle/>
          <a:p>
            <a:r>
              <a:rPr lang="en-US" dirty="0"/>
              <a:t>Q</a:t>
            </a:r>
          </a:p>
        </p:txBody>
      </p:sp>
      <p:sp>
        <p:nvSpPr>
          <p:cNvPr id="39" name="TextBox 38">
            <a:extLst>
              <a:ext uri="{FF2B5EF4-FFF2-40B4-BE49-F238E27FC236}">
                <a16:creationId xmlns:a16="http://schemas.microsoft.com/office/drawing/2014/main" id="{C4D8240D-907A-09CB-D0D0-4CBE52691A31}"/>
              </a:ext>
            </a:extLst>
          </p:cNvPr>
          <p:cNvSpPr txBox="1"/>
          <p:nvPr/>
        </p:nvSpPr>
        <p:spPr>
          <a:xfrm flipH="1">
            <a:off x="873650" y="2648189"/>
            <a:ext cx="265252" cy="369332"/>
          </a:xfrm>
          <a:prstGeom prst="rect">
            <a:avLst/>
          </a:prstGeom>
          <a:noFill/>
        </p:spPr>
        <p:txBody>
          <a:bodyPr wrap="square" rtlCol="0">
            <a:spAutoFit/>
          </a:bodyPr>
          <a:lstStyle/>
          <a:p>
            <a:r>
              <a:rPr lang="en-US" dirty="0"/>
              <a:t>P</a:t>
            </a:r>
          </a:p>
        </p:txBody>
      </p:sp>
      <p:sp>
        <p:nvSpPr>
          <p:cNvPr id="3" name="Rectangle 2">
            <a:extLst>
              <a:ext uri="{FF2B5EF4-FFF2-40B4-BE49-F238E27FC236}">
                <a16:creationId xmlns:a16="http://schemas.microsoft.com/office/drawing/2014/main" id="{7824E733-AAD2-4920-6427-F19A51C34588}"/>
              </a:ext>
            </a:extLst>
          </p:cNvPr>
          <p:cNvSpPr/>
          <p:nvPr/>
        </p:nvSpPr>
        <p:spPr>
          <a:xfrm>
            <a:off x="7116417" y="2844337"/>
            <a:ext cx="4798654" cy="38589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01E4BB9C-BADA-C7AA-4069-20C9875F7856}"/>
              </a:ext>
            </a:extLst>
          </p:cNvPr>
          <p:cNvSpPr txBox="1"/>
          <p:nvPr/>
        </p:nvSpPr>
        <p:spPr>
          <a:xfrm>
            <a:off x="7398357" y="4717991"/>
            <a:ext cx="3533775" cy="1709571"/>
          </a:xfrm>
          <a:prstGeom prst="rect">
            <a:avLst/>
          </a:prstGeom>
          <a:solidFill>
            <a:schemeClr val="bg1">
              <a:lumMod val="85000"/>
            </a:schemeClr>
          </a:solidFill>
        </p:spPr>
        <p:txBody>
          <a:bodyPr wrap="square" rtlCol="0">
            <a:spAutoFit/>
          </a:bodyPr>
          <a:lstStyle/>
          <a:p>
            <a:pPr algn="r" rtl="1">
              <a:lnSpc>
                <a:spcPct val="150000"/>
              </a:lnSpc>
            </a:pPr>
            <a:r>
              <a:rPr lang="he-IL" dirty="0"/>
              <a:t>ייתכן ששוקולד הוא נורמאלי,</a:t>
            </a:r>
            <a:br>
              <a:rPr lang="en-US" dirty="0"/>
            </a:br>
            <a:r>
              <a:rPr lang="he-IL" dirty="0"/>
              <a:t> ייתכן שהוא נחות וייתכן שהוא נייטרלי</a:t>
            </a:r>
            <a:br>
              <a:rPr lang="en-US" dirty="0"/>
            </a:br>
            <a:r>
              <a:rPr lang="he-IL" dirty="0"/>
              <a:t>נקודת שיווי משקל החדשה תהיה בכמות שגדולה מ- </a:t>
            </a:r>
            <a:r>
              <a:rPr lang="en-US" dirty="0"/>
              <a:t>A</a:t>
            </a:r>
            <a:r>
              <a:rPr lang="he-IL" dirty="0"/>
              <a:t> אך קטנה מ-</a:t>
            </a:r>
            <a:r>
              <a:rPr lang="en-US" dirty="0"/>
              <a:t>A</a:t>
            </a:r>
            <a:r>
              <a:rPr lang="he-IL" dirty="0"/>
              <a:t>'</a:t>
            </a:r>
            <a:endParaRPr lang="en-IL" dirty="0"/>
          </a:p>
        </p:txBody>
      </p:sp>
      <p:sp>
        <p:nvSpPr>
          <p:cNvPr id="7" name="Oval 6">
            <a:extLst>
              <a:ext uri="{FF2B5EF4-FFF2-40B4-BE49-F238E27FC236}">
                <a16:creationId xmlns:a16="http://schemas.microsoft.com/office/drawing/2014/main" id="{97F99297-EB0E-DB3D-943E-FFBB27AE4395}"/>
              </a:ext>
            </a:extLst>
          </p:cNvPr>
          <p:cNvSpPr/>
          <p:nvPr/>
        </p:nvSpPr>
        <p:spPr>
          <a:xfrm rot="169878">
            <a:off x="3152730" y="4247339"/>
            <a:ext cx="512606" cy="283769"/>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r>
              <a:rPr lang="he-IL" dirty="0"/>
              <a:t>'</a:t>
            </a:r>
            <a:endParaRPr lang="en-US" dirty="0"/>
          </a:p>
        </p:txBody>
      </p:sp>
    </p:spTree>
    <p:extLst>
      <p:ext uri="{BB962C8B-B14F-4D97-AF65-F5344CB8AC3E}">
        <p14:creationId xmlns:p14="http://schemas.microsoft.com/office/powerpoint/2010/main" val="1268195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arn(inVertical)">
                                      <p:cBhvr>
                                        <p:cTn id="7" dur="500"/>
                                        <p:tgtEl>
                                          <p:spTgt spid="24"/>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barn(inVertical)">
                                      <p:cBhvr>
                                        <p:cTn id="10" dur="5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grpId="0" nodeType="clickEffect">
                                  <p:stCondLst>
                                    <p:cond delay="0"/>
                                  </p:stCondLst>
                                  <p:childTnLst>
                                    <p:set>
                                      <p:cBhvr>
                                        <p:cTn id="40" dur="1" fill="hold">
                                          <p:stCondLst>
                                            <p:cond delay="0"/>
                                          </p:stCondLst>
                                        </p:cTn>
                                        <p:tgtEl>
                                          <p:spTgt spid="3"/>
                                        </p:tgtEl>
                                        <p:attrNameLst>
                                          <p:attrName>style.visibility</p:attrName>
                                        </p:attrNameLst>
                                      </p:cBhvr>
                                      <p:to>
                                        <p:strVal val="visible"/>
                                      </p:to>
                                    </p:set>
                                    <p:animEffect transition="in" filter="barn(inVertical)">
                                      <p:cBhvr>
                                        <p:cTn id="41" dur="500"/>
                                        <p:tgtEl>
                                          <p:spTgt spid="3"/>
                                        </p:tgtEl>
                                      </p:cBhvr>
                                    </p:animEffect>
                                  </p:childTnLst>
                                </p:cTn>
                              </p:par>
                            </p:childTnLst>
                          </p:cTn>
                        </p:par>
                      </p:childTnLst>
                    </p:cTn>
                  </p:par>
                  <p:par>
                    <p:cTn id="42" fill="hold">
                      <p:stCondLst>
                        <p:cond delay="indefinite"/>
                      </p:stCondLst>
                      <p:childTnLst>
                        <p:par>
                          <p:cTn id="43" fill="hold">
                            <p:stCondLst>
                              <p:cond delay="0"/>
                            </p:stCondLst>
                            <p:childTnLst>
                              <p:par>
                                <p:cTn id="44" presetID="14" presetClass="entr" presetSubtype="10" fill="hold" grpId="0" nodeType="click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randombar(horizontal)">
                                      <p:cBhvr>
                                        <p:cTn id="46" dur="500"/>
                                        <p:tgtEl>
                                          <p:spTgt spid="7"/>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6"/>
                                        </p:tgtEl>
                                        <p:attrNameLst>
                                          <p:attrName>style.visibility</p:attrName>
                                        </p:attrNameLst>
                                      </p:cBhvr>
                                      <p:to>
                                        <p:strVal val="visible"/>
                                      </p:to>
                                    </p:set>
                                    <p:animEffect transition="in" filter="fade">
                                      <p:cBhvr>
                                        <p:cTn id="5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2" grpId="0" animBg="1"/>
      <p:bldP spid="23" grpId="0"/>
      <p:bldP spid="25" grpId="0"/>
      <p:bldP spid="37" grpId="0" animBg="1"/>
      <p:bldP spid="3" grpId="0" animBg="1"/>
      <p:bldP spid="6" grpId="0" animBg="1"/>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86CFC-21FB-6BDA-BA4E-162AB7AF68F4}"/>
              </a:ext>
            </a:extLst>
          </p:cNvPr>
          <p:cNvSpPr>
            <a:spLocks noGrp="1"/>
          </p:cNvSpPr>
          <p:nvPr>
            <p:ph type="title"/>
          </p:nvPr>
        </p:nvSpPr>
        <p:spPr>
          <a:xfrm>
            <a:off x="10452682" y="79899"/>
            <a:ext cx="1647738" cy="633165"/>
          </a:xfrm>
        </p:spPr>
        <p:txBody>
          <a:bodyPr>
            <a:normAutofit/>
          </a:bodyPr>
          <a:lstStyle/>
          <a:p>
            <a:pPr algn="r" rtl="1"/>
            <a:r>
              <a:rPr lang="he-IL" sz="3200" dirty="0"/>
              <a:t>שאלה 15 </a:t>
            </a:r>
            <a:endParaRPr lang="en-IL" sz="3200" dirty="0"/>
          </a:p>
        </p:txBody>
      </p:sp>
      <p:sp>
        <p:nvSpPr>
          <p:cNvPr id="3" name="TextBox 2">
            <a:extLst>
              <a:ext uri="{FF2B5EF4-FFF2-40B4-BE49-F238E27FC236}">
                <a16:creationId xmlns:a16="http://schemas.microsoft.com/office/drawing/2014/main" id="{D17306B7-BE43-7B6C-694B-CD3EE7F5CD8C}"/>
              </a:ext>
            </a:extLst>
          </p:cNvPr>
          <p:cNvSpPr txBox="1"/>
          <p:nvPr/>
        </p:nvSpPr>
        <p:spPr>
          <a:xfrm>
            <a:off x="1267097" y="713064"/>
            <a:ext cx="10727487" cy="1288751"/>
          </a:xfrm>
          <a:prstGeom prst="rect">
            <a:avLst/>
          </a:prstGeom>
          <a:noFill/>
        </p:spPr>
        <p:txBody>
          <a:bodyPr wrap="square">
            <a:spAutoFit/>
          </a:bodyPr>
          <a:lstStyle/>
          <a:p>
            <a:pPr indent="-228600" algn="r" rtl="1">
              <a:lnSpc>
                <a:spcPct val="150000"/>
              </a:lnSpc>
              <a:tabLst>
                <a:tab pos="-228600" algn="l"/>
              </a:tabLst>
            </a:pPr>
            <a:r>
              <a:rPr lang="he-IL" sz="1800" b="1" dirty="0">
                <a:effectLst/>
                <a:ea typeface="Calibri" panose="020F0502020204030204" pitchFamily="34" charset="0"/>
                <a:cs typeface="Arial" panose="020B0604020202020204" pitchFamily="34" charset="0"/>
              </a:rPr>
              <a:t>עקומת ההיצע בשוק מוצר</a:t>
            </a:r>
            <a:r>
              <a:rPr lang="en-US" sz="1800" b="1" dirty="0">
                <a:effectLst/>
                <a:latin typeface="Arial" panose="020B0604020202020204" pitchFamily="34" charset="0"/>
                <a:ea typeface="Calibri" panose="020F0502020204030204" pitchFamily="34" charset="0"/>
              </a:rPr>
              <a:t> X </a:t>
            </a:r>
            <a:r>
              <a:rPr lang="he-IL" sz="1800" b="1" dirty="0">
                <a:effectLst/>
                <a:ea typeface="Calibri" panose="020F0502020204030204" pitchFamily="34" charset="0"/>
                <a:cs typeface="Arial" panose="020B0604020202020204" pitchFamily="34" charset="0"/>
              </a:rPr>
              <a:t>היא </a:t>
            </a:r>
            <a:r>
              <a:rPr lang="en-US" sz="1800" b="1" dirty="0">
                <a:effectLst/>
                <a:latin typeface="Arial" panose="020B0604020202020204" pitchFamily="34" charset="0"/>
                <a:ea typeface="Calibri" panose="020F0502020204030204" pitchFamily="34" charset="0"/>
              </a:rPr>
              <a:t>Q=20P</a:t>
            </a:r>
            <a:r>
              <a:rPr lang="he-IL" sz="1800" b="1" dirty="0">
                <a:effectLst/>
                <a:latin typeface="Arial" panose="020B0604020202020204" pitchFamily="34" charset="0"/>
                <a:ea typeface="Calibri" panose="020F0502020204030204" pitchFamily="34" charset="0"/>
              </a:rPr>
              <a:t> </a:t>
            </a:r>
            <a:r>
              <a:rPr lang="he-IL" sz="1800" b="1" dirty="0">
                <a:effectLst/>
                <a:ea typeface="Calibri" panose="020F0502020204030204" pitchFamily="34" charset="0"/>
                <a:cs typeface="Arial" panose="020B0604020202020204" pitchFamily="34" charset="0"/>
              </a:rPr>
              <a:t>והצרכנים מעוניינים להוציא סכום קבוע של 8,000 ש"ח לרכישת המוצר ללא תלות במחירו. הממשלה הטילה על היצרנים מס בסכום קבוע ליחידה </a:t>
            </a:r>
            <a:r>
              <a:rPr lang="he-IL" sz="1800" b="1" dirty="0">
                <a:solidFill>
                  <a:schemeClr val="accent2">
                    <a:lumMod val="75000"/>
                  </a:schemeClr>
                </a:solidFill>
                <a:effectLst/>
                <a:ea typeface="Calibri" panose="020F0502020204030204" pitchFamily="34" charset="0"/>
                <a:cs typeface="Arial" panose="020B0604020202020204" pitchFamily="34" charset="0"/>
              </a:rPr>
              <a:t>וידוע שלאחר הטלת המס המחיר שמשלם הצרכן עבור כל יחידה עלה ב- 10 ש"ח. </a:t>
            </a:r>
            <a:r>
              <a:rPr lang="he-IL" sz="1800" b="1" dirty="0">
                <a:effectLst/>
                <a:ea typeface="Calibri" panose="020F0502020204030204" pitchFamily="34" charset="0"/>
                <a:cs typeface="Arial" panose="020B0604020202020204" pitchFamily="34" charset="0"/>
              </a:rPr>
              <a:t>מכאן הכנסות הממשלה ממיסים תהינה (עגלו למספר הקרוב ביותר):</a:t>
            </a:r>
            <a:endParaRPr lang="en-IL" sz="1800" dirty="0">
              <a:effectLst/>
              <a:latin typeface="Times New Roman" panose="02020603050405020304" pitchFamily="18" charset="0"/>
              <a:ea typeface="Times New Roman" panose="02020603050405020304" pitchFamily="18" charset="0"/>
            </a:endParaRPr>
          </a:p>
        </p:txBody>
      </p:sp>
      <p:sp>
        <p:nvSpPr>
          <p:cNvPr id="4" name="Rectangle 2">
            <a:extLst>
              <a:ext uri="{FF2B5EF4-FFF2-40B4-BE49-F238E27FC236}">
                <a16:creationId xmlns:a16="http://schemas.microsoft.com/office/drawing/2014/main" id="{EEBB10E4-4262-1912-B591-E81E317EE21C}"/>
              </a:ext>
            </a:extLst>
          </p:cNvPr>
          <p:cNvSpPr>
            <a:spLocks noChangeArrowheads="1"/>
          </p:cNvSpPr>
          <p:nvPr/>
        </p:nvSpPr>
        <p:spPr bwMode="auto">
          <a:xfrm>
            <a:off x="10332720" y="2791721"/>
            <a:ext cx="1397726" cy="2131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4,444</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4,000</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3,565</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8,000</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5,356</a:t>
            </a:r>
            <a:endParaRPr lang="en-IL" sz="1800" dirty="0">
              <a:effectLst/>
              <a:latin typeface="Times New Roman" panose="02020603050405020304" pitchFamily="18" charset="0"/>
              <a:ea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C929961-805E-CBFC-7352-5D6133503EE3}"/>
                  </a:ext>
                </a:extLst>
              </p:cNvPr>
              <p:cNvSpPr txBox="1"/>
              <p:nvPr/>
            </p:nvSpPr>
            <p:spPr>
              <a:xfrm>
                <a:off x="7977929" y="242578"/>
                <a:ext cx="1333849" cy="612732"/>
              </a:xfrm>
              <a:prstGeom prst="rect">
                <a:avLst/>
              </a:prstGeom>
              <a:solidFill>
                <a:schemeClr val="accent4">
                  <a:lumMod val="20000"/>
                  <a:lumOff val="80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800" i="1" dirty="0" smtClean="0">
                              <a:latin typeface="Cambria Math" panose="02040503050406030204" pitchFamily="18" charset="0"/>
                            </a:rPr>
                          </m:ctrlPr>
                        </m:fPr>
                        <m:num>
                          <m:r>
                            <a:rPr lang="en-US" sz="1800" b="0" i="1" dirty="0" smtClean="0">
                              <a:latin typeface="Cambria Math" panose="02040503050406030204" pitchFamily="18" charset="0"/>
                            </a:rPr>
                            <m:t>𝑄</m:t>
                          </m:r>
                        </m:num>
                        <m:den>
                          <m:r>
                            <a:rPr lang="en-US" sz="1800" b="0" i="1" dirty="0" smtClean="0">
                              <a:latin typeface="Cambria Math" panose="02040503050406030204" pitchFamily="18" charset="0"/>
                            </a:rPr>
                            <m:t>20</m:t>
                          </m:r>
                        </m:den>
                      </m:f>
                      <m:r>
                        <a:rPr lang="en-US" sz="1800" b="0" i="1" dirty="0" smtClean="0">
                          <a:latin typeface="Cambria Math" panose="02040503050406030204" pitchFamily="18" charset="0"/>
                        </a:rPr>
                        <m:t>=</m:t>
                      </m:r>
                      <m:r>
                        <a:rPr lang="en-US" sz="1800" i="1" dirty="0" smtClean="0">
                          <a:latin typeface="Cambria Math" panose="02040503050406030204" pitchFamily="18" charset="0"/>
                        </a:rPr>
                        <m:t>𝑃</m:t>
                      </m:r>
                      <m:r>
                        <a:rPr lang="he-IL" sz="1800" i="1" dirty="0" smtClean="0">
                          <a:latin typeface="Cambria Math" panose="02040503050406030204" pitchFamily="18" charset="0"/>
                        </a:rPr>
                        <m:t>יצרן</m:t>
                      </m:r>
                    </m:oMath>
                  </m:oMathPara>
                </a14:m>
                <a:endParaRPr lang="en-IL" dirty="0"/>
              </a:p>
            </p:txBody>
          </p:sp>
        </mc:Choice>
        <mc:Fallback xmlns="">
          <p:sp>
            <p:nvSpPr>
              <p:cNvPr id="6" name="TextBox 5">
                <a:extLst>
                  <a:ext uri="{FF2B5EF4-FFF2-40B4-BE49-F238E27FC236}">
                    <a16:creationId xmlns:a16="http://schemas.microsoft.com/office/drawing/2014/main" id="{BC929961-805E-CBFC-7352-5D6133503EE3}"/>
                  </a:ext>
                </a:extLst>
              </p:cNvPr>
              <p:cNvSpPr txBox="1">
                <a:spLocks noRot="1" noChangeAspect="1" noMove="1" noResize="1" noEditPoints="1" noAdjustHandles="1" noChangeArrowheads="1" noChangeShapeType="1" noTextEdit="1"/>
              </p:cNvSpPr>
              <p:nvPr/>
            </p:nvSpPr>
            <p:spPr>
              <a:xfrm>
                <a:off x="7977929" y="242578"/>
                <a:ext cx="1333849" cy="612732"/>
              </a:xfrm>
              <a:prstGeom prst="rect">
                <a:avLst/>
              </a:prstGeom>
              <a:blipFill>
                <a:blip r:embed="rId2"/>
                <a:stretch>
                  <a:fillRect/>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B25100D-1141-5A1C-E856-A03860FFE53F}"/>
                  </a:ext>
                </a:extLst>
              </p:cNvPr>
              <p:cNvSpPr txBox="1"/>
              <p:nvPr/>
            </p:nvSpPr>
            <p:spPr>
              <a:xfrm>
                <a:off x="3286383" y="201348"/>
                <a:ext cx="1647739" cy="653962"/>
              </a:xfrm>
              <a:prstGeom prst="rect">
                <a:avLst/>
              </a:prstGeom>
              <a:solidFill>
                <a:schemeClr val="accent4">
                  <a:lumMod val="20000"/>
                  <a:lumOff val="80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800" i="1" dirty="0" smtClean="0">
                              <a:latin typeface="Cambria Math" panose="02040503050406030204" pitchFamily="18" charset="0"/>
                            </a:rPr>
                          </m:ctrlPr>
                        </m:fPr>
                        <m:num>
                          <m:r>
                            <a:rPr lang="he-IL" sz="1800" b="0" i="1" dirty="0" smtClean="0">
                              <a:latin typeface="Cambria Math" panose="02040503050406030204" pitchFamily="18" charset="0"/>
                            </a:rPr>
                            <m:t>8000</m:t>
                          </m:r>
                        </m:num>
                        <m:den>
                          <m:r>
                            <a:rPr lang="en-US" i="1" dirty="0">
                              <a:latin typeface="Cambria Math" panose="02040503050406030204" pitchFamily="18" charset="0"/>
                            </a:rPr>
                            <m:t>𝑄</m:t>
                          </m:r>
                        </m:den>
                      </m:f>
                      <m:r>
                        <a:rPr lang="en-US" sz="1800" b="0" i="1" dirty="0" smtClean="0">
                          <a:latin typeface="Cambria Math" panose="02040503050406030204" pitchFamily="18" charset="0"/>
                        </a:rPr>
                        <m:t>=</m:t>
                      </m:r>
                      <m:r>
                        <a:rPr lang="en-US" sz="1800" i="1" dirty="0" smtClean="0">
                          <a:latin typeface="Cambria Math" panose="02040503050406030204" pitchFamily="18" charset="0"/>
                        </a:rPr>
                        <m:t>𝑃</m:t>
                      </m:r>
                      <m:r>
                        <a:rPr lang="he-IL" sz="1800" b="0" i="1" dirty="0" smtClean="0">
                          <a:latin typeface="Cambria Math" panose="02040503050406030204" pitchFamily="18" charset="0"/>
                        </a:rPr>
                        <m:t>צרכן</m:t>
                      </m:r>
                    </m:oMath>
                  </m:oMathPara>
                </a14:m>
                <a:endParaRPr lang="en-IL" dirty="0"/>
              </a:p>
            </p:txBody>
          </p:sp>
        </mc:Choice>
        <mc:Fallback xmlns="">
          <p:sp>
            <p:nvSpPr>
              <p:cNvPr id="8" name="TextBox 7">
                <a:extLst>
                  <a:ext uri="{FF2B5EF4-FFF2-40B4-BE49-F238E27FC236}">
                    <a16:creationId xmlns:a16="http://schemas.microsoft.com/office/drawing/2014/main" id="{EB25100D-1141-5A1C-E856-A03860FFE53F}"/>
                  </a:ext>
                </a:extLst>
              </p:cNvPr>
              <p:cNvSpPr txBox="1">
                <a:spLocks noRot="1" noChangeAspect="1" noMove="1" noResize="1" noEditPoints="1" noAdjustHandles="1" noChangeArrowheads="1" noChangeShapeType="1" noTextEdit="1"/>
              </p:cNvSpPr>
              <p:nvPr/>
            </p:nvSpPr>
            <p:spPr>
              <a:xfrm>
                <a:off x="3286383" y="201348"/>
                <a:ext cx="1647739" cy="653962"/>
              </a:xfrm>
              <a:prstGeom prst="rect">
                <a:avLst/>
              </a:prstGeom>
              <a:blipFill>
                <a:blip r:embed="rId3"/>
                <a:stretch>
                  <a:fillRect/>
                </a:stretch>
              </a:blipFill>
            </p:spPr>
            <p:txBody>
              <a:bodyPr/>
              <a:lstStyle/>
              <a:p>
                <a:r>
                  <a:rPr lang="en-IL">
                    <a:noFill/>
                  </a:rPr>
                  <a:t> </a:t>
                </a:r>
              </a:p>
            </p:txBody>
          </p:sp>
        </mc:Fallback>
      </mc:AlternateContent>
    </p:spTree>
    <p:extLst>
      <p:ext uri="{BB962C8B-B14F-4D97-AF65-F5344CB8AC3E}">
        <p14:creationId xmlns:p14="http://schemas.microsoft.com/office/powerpoint/2010/main" val="30341003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86CFC-21FB-6BDA-BA4E-162AB7AF68F4}"/>
              </a:ext>
            </a:extLst>
          </p:cNvPr>
          <p:cNvSpPr>
            <a:spLocks noGrp="1"/>
          </p:cNvSpPr>
          <p:nvPr>
            <p:ph type="title"/>
          </p:nvPr>
        </p:nvSpPr>
        <p:spPr>
          <a:xfrm>
            <a:off x="10452682" y="79899"/>
            <a:ext cx="1647738" cy="633165"/>
          </a:xfrm>
        </p:spPr>
        <p:txBody>
          <a:bodyPr>
            <a:normAutofit/>
          </a:bodyPr>
          <a:lstStyle/>
          <a:p>
            <a:pPr algn="r" rtl="1"/>
            <a:r>
              <a:rPr lang="he-IL" sz="3200" dirty="0"/>
              <a:t>שאלה 15 </a:t>
            </a:r>
            <a:endParaRPr lang="en-IL" sz="3200" dirty="0"/>
          </a:p>
        </p:txBody>
      </p:sp>
      <p:sp>
        <p:nvSpPr>
          <p:cNvPr id="5" name="TextBox 4">
            <a:extLst>
              <a:ext uri="{FF2B5EF4-FFF2-40B4-BE49-F238E27FC236}">
                <a16:creationId xmlns:a16="http://schemas.microsoft.com/office/drawing/2014/main" id="{85958B51-5284-67B9-7EAF-F65DCAE71E98}"/>
              </a:ext>
            </a:extLst>
          </p:cNvPr>
          <p:cNvSpPr txBox="1"/>
          <p:nvPr/>
        </p:nvSpPr>
        <p:spPr>
          <a:xfrm>
            <a:off x="1267097" y="713064"/>
            <a:ext cx="10727487" cy="1288751"/>
          </a:xfrm>
          <a:prstGeom prst="rect">
            <a:avLst/>
          </a:prstGeom>
          <a:noFill/>
        </p:spPr>
        <p:txBody>
          <a:bodyPr wrap="square">
            <a:spAutoFit/>
          </a:bodyPr>
          <a:lstStyle/>
          <a:p>
            <a:pPr indent="-228600" algn="r" rtl="1">
              <a:lnSpc>
                <a:spcPct val="150000"/>
              </a:lnSpc>
              <a:tabLst>
                <a:tab pos="-228600" algn="l"/>
              </a:tabLst>
            </a:pPr>
            <a:r>
              <a:rPr lang="he-IL" sz="1800" b="1" dirty="0">
                <a:effectLst/>
                <a:ea typeface="Calibri" panose="020F0502020204030204" pitchFamily="34" charset="0"/>
                <a:cs typeface="Arial" panose="020B0604020202020204" pitchFamily="34" charset="0"/>
              </a:rPr>
              <a:t>עקומת ההיצע בשוק מוצר</a:t>
            </a:r>
            <a:r>
              <a:rPr lang="en-US" sz="1800" b="1" dirty="0">
                <a:effectLst/>
                <a:latin typeface="Arial" panose="020B0604020202020204" pitchFamily="34" charset="0"/>
                <a:ea typeface="Calibri" panose="020F0502020204030204" pitchFamily="34" charset="0"/>
              </a:rPr>
              <a:t> X </a:t>
            </a:r>
            <a:r>
              <a:rPr lang="he-IL" sz="1800" b="1" dirty="0">
                <a:effectLst/>
                <a:ea typeface="Calibri" panose="020F0502020204030204" pitchFamily="34" charset="0"/>
                <a:cs typeface="Arial" panose="020B0604020202020204" pitchFamily="34" charset="0"/>
              </a:rPr>
              <a:t>היא </a:t>
            </a:r>
            <a:r>
              <a:rPr lang="en-US" sz="1800" b="1" dirty="0">
                <a:effectLst/>
                <a:latin typeface="Arial" panose="020B0604020202020204" pitchFamily="34" charset="0"/>
                <a:ea typeface="Calibri" panose="020F0502020204030204" pitchFamily="34" charset="0"/>
              </a:rPr>
              <a:t>Q=20P</a:t>
            </a:r>
            <a:r>
              <a:rPr lang="he-IL" sz="1800" b="1" dirty="0">
                <a:effectLst/>
                <a:latin typeface="Arial" panose="020B0604020202020204" pitchFamily="34" charset="0"/>
                <a:ea typeface="Calibri" panose="020F0502020204030204" pitchFamily="34" charset="0"/>
              </a:rPr>
              <a:t> </a:t>
            </a:r>
            <a:r>
              <a:rPr lang="he-IL" sz="1800" b="1" dirty="0">
                <a:effectLst/>
                <a:ea typeface="Calibri" panose="020F0502020204030204" pitchFamily="34" charset="0"/>
                <a:cs typeface="Arial" panose="020B0604020202020204" pitchFamily="34" charset="0"/>
              </a:rPr>
              <a:t>והצרכנים מעוניינים להוציא סכום קבוע של 8,000 ש"ח לרכישת המוצר ללא תלות במחירו. הממשלה הטילה על היצרנים מס בסכום קבוע ליחידה </a:t>
            </a:r>
            <a:r>
              <a:rPr lang="he-IL" sz="1800" b="1" dirty="0">
                <a:solidFill>
                  <a:schemeClr val="accent2">
                    <a:lumMod val="75000"/>
                  </a:schemeClr>
                </a:solidFill>
                <a:effectLst/>
                <a:ea typeface="Calibri" panose="020F0502020204030204" pitchFamily="34" charset="0"/>
                <a:cs typeface="Arial" panose="020B0604020202020204" pitchFamily="34" charset="0"/>
              </a:rPr>
              <a:t>וידוע שלאחר הטלת המס המחיר שמשלם הצרכן עבור כל יחידה עלה ב- 10 ש"ח. </a:t>
            </a:r>
            <a:r>
              <a:rPr lang="he-IL" sz="1800" b="1" dirty="0">
                <a:effectLst/>
                <a:ea typeface="Calibri" panose="020F0502020204030204" pitchFamily="34" charset="0"/>
                <a:cs typeface="Arial" panose="020B0604020202020204" pitchFamily="34" charset="0"/>
              </a:rPr>
              <a:t>מכאן הכנסות הממשלה ממיסים תהינה (עגלו למספר הקרוב ביותר):</a:t>
            </a:r>
            <a:endParaRPr lang="en-IL" sz="1800" dirty="0">
              <a:effectLst/>
              <a:latin typeface="Times New Roman" panose="02020603050405020304" pitchFamily="18" charset="0"/>
              <a:ea typeface="Times New Roman" panose="02020603050405020304" pitchFamily="18" charset="0"/>
            </a:endParaRPr>
          </a:p>
        </p:txBody>
      </p:sp>
      <p:sp>
        <p:nvSpPr>
          <p:cNvPr id="4" name="Rectangle 2">
            <a:extLst>
              <a:ext uri="{FF2B5EF4-FFF2-40B4-BE49-F238E27FC236}">
                <a16:creationId xmlns:a16="http://schemas.microsoft.com/office/drawing/2014/main" id="{0877A2EB-BB61-AC43-DB02-1C298FCEA851}"/>
              </a:ext>
            </a:extLst>
          </p:cNvPr>
          <p:cNvSpPr>
            <a:spLocks noChangeArrowheads="1"/>
          </p:cNvSpPr>
          <p:nvPr/>
        </p:nvSpPr>
        <p:spPr bwMode="auto">
          <a:xfrm>
            <a:off x="10332720" y="2791721"/>
            <a:ext cx="1397726" cy="2131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4,444</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4,000</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3,565</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8,000</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5,356</a:t>
            </a:r>
            <a:endParaRPr lang="en-IL" sz="1800" dirty="0">
              <a:effectLst/>
              <a:latin typeface="Times New Roman" panose="02020603050405020304" pitchFamily="18" charset="0"/>
              <a:ea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7E2AB21-41A0-59BB-E649-DFA476F8132E}"/>
                  </a:ext>
                </a:extLst>
              </p:cNvPr>
              <p:cNvSpPr txBox="1"/>
              <p:nvPr/>
            </p:nvSpPr>
            <p:spPr>
              <a:xfrm>
                <a:off x="3790798" y="5415718"/>
                <a:ext cx="3072890" cy="1015663"/>
              </a:xfrm>
              <a:prstGeom prst="rect">
                <a:avLst/>
              </a:prstGeom>
              <a:solidFill>
                <a:srgbClr val="FAE8FC"/>
              </a:solidFill>
            </p:spPr>
            <p:txBody>
              <a:bodyPr wrap="square" rtlCol="0">
                <a:spAutoFit/>
              </a:bodyPr>
              <a:lstStyle/>
              <a:p>
                <a:pPr>
                  <a:lnSpc>
                    <a:spcPct val="150000"/>
                  </a:lnSpc>
                </a:pPr>
                <a:r>
                  <a:rPr lang="en-US" sz="2000" dirty="0"/>
                  <a:t>P</a:t>
                </a:r>
                <a:r>
                  <a:rPr lang="he-IL" sz="2000" dirty="0"/>
                  <a:t>צרכן</a:t>
                </a:r>
                <a:r>
                  <a:rPr lang="en-US" sz="2000" dirty="0"/>
                  <a:t> - P</a:t>
                </a:r>
                <a:r>
                  <a:rPr lang="he-IL" sz="2000" dirty="0"/>
                  <a:t>יצרן</a:t>
                </a:r>
                <a:r>
                  <a:rPr lang="en-US" sz="2000" dirty="0"/>
                  <a:t> = t</a:t>
                </a:r>
                <a:endParaRPr lang="he-IL" sz="2000" dirty="0"/>
              </a:p>
              <a:p>
                <a:pPr>
                  <a:lnSpc>
                    <a:spcPct val="150000"/>
                  </a:lnSpc>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3</m:t>
                      </m:r>
                      <m:r>
                        <a:rPr lang="en-US" sz="2000" b="0" i="1" dirty="0" smtClean="0">
                          <a:latin typeface="Cambria Math" panose="02040503050406030204" pitchFamily="18" charset="0"/>
                        </a:rPr>
                        <m:t>0</m:t>
                      </m:r>
                      <m:r>
                        <a:rPr lang="en-US" sz="2000" b="0" i="1" dirty="0" smtClean="0">
                          <a:latin typeface="Cambria Math" panose="02040503050406030204" pitchFamily="18" charset="0"/>
                        </a:rPr>
                        <m:t>−</m:t>
                      </m:r>
                      <m:r>
                        <a:rPr lang="en-US" sz="2000" b="0" i="1" dirty="0" smtClean="0">
                          <a:latin typeface="Cambria Math" panose="02040503050406030204" pitchFamily="18" charset="0"/>
                        </a:rPr>
                        <m:t>13</m:t>
                      </m:r>
                      <m:r>
                        <a:rPr lang="en-US" sz="2000" b="0" i="1" dirty="0" smtClean="0">
                          <a:latin typeface="Cambria Math" panose="02040503050406030204" pitchFamily="18" charset="0"/>
                        </a:rPr>
                        <m:t>.</m:t>
                      </m:r>
                      <m:r>
                        <a:rPr lang="en-US" sz="2000" b="0" i="1" dirty="0" smtClean="0">
                          <a:latin typeface="Cambria Math" panose="02040503050406030204" pitchFamily="18" charset="0"/>
                        </a:rPr>
                        <m:t>33</m:t>
                      </m:r>
                      <m:r>
                        <a:rPr lang="en-US" sz="2000" b="0" i="1" dirty="0" smtClean="0">
                          <a:latin typeface="Cambria Math" panose="02040503050406030204" pitchFamily="18" charset="0"/>
                        </a:rPr>
                        <m:t>=</m:t>
                      </m:r>
                      <m:r>
                        <a:rPr lang="en-US" sz="2000" b="0" i="1" dirty="0" smtClean="0">
                          <a:latin typeface="Cambria Math" panose="02040503050406030204" pitchFamily="18" charset="0"/>
                        </a:rPr>
                        <m:t>16</m:t>
                      </m:r>
                      <m:r>
                        <a:rPr lang="en-US" sz="2000" b="0" i="1" dirty="0" smtClean="0">
                          <a:latin typeface="Cambria Math" panose="02040503050406030204" pitchFamily="18" charset="0"/>
                        </a:rPr>
                        <m:t>.</m:t>
                      </m:r>
                      <m:r>
                        <a:rPr lang="en-US" sz="2000" b="0" i="1" dirty="0" smtClean="0">
                          <a:latin typeface="Cambria Math" panose="02040503050406030204" pitchFamily="18" charset="0"/>
                        </a:rPr>
                        <m:t>667</m:t>
                      </m:r>
                      <m:r>
                        <a:rPr lang="en-US" sz="2000" b="0" i="1" dirty="0" smtClean="0">
                          <a:latin typeface="Cambria Math" panose="02040503050406030204" pitchFamily="18" charset="0"/>
                        </a:rPr>
                        <m:t>=</m:t>
                      </m:r>
                      <m:r>
                        <a:rPr lang="en-US" sz="2000" b="0" i="1" dirty="0" smtClean="0">
                          <a:latin typeface="Cambria Math" panose="02040503050406030204" pitchFamily="18" charset="0"/>
                        </a:rPr>
                        <m:t>𝑡</m:t>
                      </m:r>
                    </m:oMath>
                  </m:oMathPara>
                </a14:m>
                <a:endParaRPr lang="en-IL" sz="2000" dirty="0"/>
              </a:p>
            </p:txBody>
          </p:sp>
        </mc:Choice>
        <mc:Fallback xmlns="">
          <p:sp>
            <p:nvSpPr>
              <p:cNvPr id="6" name="TextBox 5">
                <a:extLst>
                  <a:ext uri="{FF2B5EF4-FFF2-40B4-BE49-F238E27FC236}">
                    <a16:creationId xmlns:a16="http://schemas.microsoft.com/office/drawing/2014/main" id="{67E2AB21-41A0-59BB-E649-DFA476F8132E}"/>
                  </a:ext>
                </a:extLst>
              </p:cNvPr>
              <p:cNvSpPr txBox="1">
                <a:spLocks noRot="1" noChangeAspect="1" noMove="1" noResize="1" noEditPoints="1" noAdjustHandles="1" noChangeArrowheads="1" noChangeShapeType="1" noTextEdit="1"/>
              </p:cNvSpPr>
              <p:nvPr/>
            </p:nvSpPr>
            <p:spPr>
              <a:xfrm>
                <a:off x="3790798" y="5415718"/>
                <a:ext cx="3072890" cy="1015663"/>
              </a:xfrm>
              <a:prstGeom prst="rect">
                <a:avLst/>
              </a:prstGeom>
              <a:blipFill>
                <a:blip r:embed="rId2"/>
                <a:stretch>
                  <a:fillRect l="-2183"/>
                </a:stretch>
              </a:blipFill>
            </p:spPr>
            <p:txBody>
              <a:bodyPr/>
              <a:lstStyle/>
              <a:p>
                <a:r>
                  <a:rPr lang="en-IL">
                    <a:noFill/>
                  </a:rPr>
                  <a:t> </a:t>
                </a:r>
              </a:p>
            </p:txBody>
          </p:sp>
        </mc:Fallback>
      </mc:AlternateContent>
      <p:sp>
        <p:nvSpPr>
          <p:cNvPr id="3" name="TextBox 2">
            <a:extLst>
              <a:ext uri="{FF2B5EF4-FFF2-40B4-BE49-F238E27FC236}">
                <a16:creationId xmlns:a16="http://schemas.microsoft.com/office/drawing/2014/main" id="{821D8518-AA6F-A8E2-D622-B8DD3BAA6AF9}"/>
              </a:ext>
            </a:extLst>
          </p:cNvPr>
          <p:cNvSpPr txBox="1"/>
          <p:nvPr/>
        </p:nvSpPr>
        <p:spPr>
          <a:xfrm>
            <a:off x="6630840" y="2330056"/>
            <a:ext cx="3446585" cy="923330"/>
          </a:xfrm>
          <a:prstGeom prst="rect">
            <a:avLst/>
          </a:prstGeom>
          <a:solidFill>
            <a:schemeClr val="tx2">
              <a:lumMod val="20000"/>
              <a:lumOff val="80000"/>
            </a:schemeClr>
          </a:solidFill>
        </p:spPr>
        <p:txBody>
          <a:bodyPr wrap="square" rtlCol="0">
            <a:spAutoFit/>
          </a:bodyPr>
          <a:lstStyle/>
          <a:p>
            <a:pPr algn="r" rtl="1"/>
            <a:r>
              <a:rPr lang="he-IL" dirty="0"/>
              <a:t>תקבולי/הכנסות ממשלה ממיסים=</a:t>
            </a:r>
          </a:p>
          <a:p>
            <a:pPr algn="r" rtl="1"/>
            <a:endParaRPr lang="he-IL" dirty="0"/>
          </a:p>
          <a:p>
            <a:pPr algn="r" rtl="1"/>
            <a:r>
              <a:rPr lang="he-IL" dirty="0"/>
              <a:t>(גובה המס ליחידה)* (מספר יחידות)</a:t>
            </a:r>
            <a:endParaRPr lang="en-IL"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602150F-87DB-0D8E-DB52-CCE44E2B0953}"/>
                  </a:ext>
                </a:extLst>
              </p:cNvPr>
              <p:cNvSpPr txBox="1"/>
              <p:nvPr/>
            </p:nvSpPr>
            <p:spPr>
              <a:xfrm>
                <a:off x="7797428" y="150840"/>
                <a:ext cx="1333849" cy="612732"/>
              </a:xfrm>
              <a:prstGeom prst="rect">
                <a:avLst/>
              </a:prstGeom>
              <a:solidFill>
                <a:schemeClr val="accent4">
                  <a:lumMod val="20000"/>
                  <a:lumOff val="80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800" b="1" i="1" dirty="0" smtClean="0">
                              <a:solidFill>
                                <a:schemeClr val="accent4">
                                  <a:lumMod val="50000"/>
                                </a:schemeClr>
                              </a:solidFill>
                              <a:latin typeface="Cambria Math" panose="02040503050406030204" pitchFamily="18" charset="0"/>
                            </a:rPr>
                          </m:ctrlPr>
                        </m:fPr>
                        <m:num>
                          <m:r>
                            <a:rPr lang="en-US" sz="1800" b="1" i="1" dirty="0" smtClean="0">
                              <a:solidFill>
                                <a:schemeClr val="accent4">
                                  <a:lumMod val="50000"/>
                                </a:schemeClr>
                              </a:solidFill>
                              <a:latin typeface="Cambria Math" panose="02040503050406030204" pitchFamily="18" charset="0"/>
                            </a:rPr>
                            <m:t>𝑸</m:t>
                          </m:r>
                        </m:num>
                        <m:den>
                          <m:r>
                            <a:rPr lang="en-US" sz="1800" b="1" i="1" dirty="0" smtClean="0">
                              <a:solidFill>
                                <a:schemeClr val="accent4">
                                  <a:lumMod val="50000"/>
                                </a:schemeClr>
                              </a:solidFill>
                              <a:latin typeface="Cambria Math" panose="02040503050406030204" pitchFamily="18" charset="0"/>
                            </a:rPr>
                            <m:t>𝟐𝟎</m:t>
                          </m:r>
                        </m:den>
                      </m:f>
                      <m:r>
                        <a:rPr lang="en-US" sz="1800" b="0" i="1" dirty="0" smtClean="0">
                          <a:latin typeface="Cambria Math" panose="02040503050406030204" pitchFamily="18" charset="0"/>
                        </a:rPr>
                        <m:t>=</m:t>
                      </m:r>
                      <m:r>
                        <a:rPr lang="en-US" sz="1800" i="1" dirty="0" smtClean="0">
                          <a:latin typeface="Cambria Math" panose="02040503050406030204" pitchFamily="18" charset="0"/>
                        </a:rPr>
                        <m:t>𝑃</m:t>
                      </m:r>
                      <m:r>
                        <a:rPr lang="he-IL" sz="1800" i="1" dirty="0" smtClean="0">
                          <a:latin typeface="Cambria Math" panose="02040503050406030204" pitchFamily="18" charset="0"/>
                        </a:rPr>
                        <m:t>יצרן</m:t>
                      </m:r>
                    </m:oMath>
                  </m:oMathPara>
                </a14:m>
                <a:endParaRPr lang="en-IL" dirty="0"/>
              </a:p>
            </p:txBody>
          </p:sp>
        </mc:Choice>
        <mc:Fallback xmlns="">
          <p:sp>
            <p:nvSpPr>
              <p:cNvPr id="8" name="TextBox 7">
                <a:extLst>
                  <a:ext uri="{FF2B5EF4-FFF2-40B4-BE49-F238E27FC236}">
                    <a16:creationId xmlns:a16="http://schemas.microsoft.com/office/drawing/2014/main" id="{C602150F-87DB-0D8E-DB52-CCE44E2B0953}"/>
                  </a:ext>
                </a:extLst>
              </p:cNvPr>
              <p:cNvSpPr txBox="1">
                <a:spLocks noRot="1" noChangeAspect="1" noMove="1" noResize="1" noEditPoints="1" noAdjustHandles="1" noChangeArrowheads="1" noChangeShapeType="1" noTextEdit="1"/>
              </p:cNvSpPr>
              <p:nvPr/>
            </p:nvSpPr>
            <p:spPr>
              <a:xfrm>
                <a:off x="7797428" y="150840"/>
                <a:ext cx="1333849" cy="612732"/>
              </a:xfrm>
              <a:prstGeom prst="rect">
                <a:avLst/>
              </a:prstGeom>
              <a:blipFill>
                <a:blip r:embed="rId3"/>
                <a:stretch>
                  <a:fillRect/>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938AA58-DF5C-1C01-7993-20BE5E61C5B7}"/>
                  </a:ext>
                </a:extLst>
              </p:cNvPr>
              <p:cNvSpPr txBox="1"/>
              <p:nvPr/>
            </p:nvSpPr>
            <p:spPr>
              <a:xfrm>
                <a:off x="3286383" y="201348"/>
                <a:ext cx="1647739" cy="653962"/>
              </a:xfrm>
              <a:prstGeom prst="rect">
                <a:avLst/>
              </a:prstGeom>
              <a:solidFill>
                <a:schemeClr val="accent4">
                  <a:lumMod val="20000"/>
                  <a:lumOff val="80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800" i="1" dirty="0" smtClean="0">
                              <a:latin typeface="Cambria Math" panose="02040503050406030204" pitchFamily="18" charset="0"/>
                            </a:rPr>
                          </m:ctrlPr>
                        </m:fPr>
                        <m:num>
                          <m:r>
                            <a:rPr lang="he-IL" sz="1800" b="0" i="1" dirty="0" smtClean="0">
                              <a:latin typeface="Cambria Math" panose="02040503050406030204" pitchFamily="18" charset="0"/>
                            </a:rPr>
                            <m:t>8000</m:t>
                          </m:r>
                        </m:num>
                        <m:den>
                          <m:r>
                            <a:rPr lang="en-US" i="1" dirty="0">
                              <a:latin typeface="Cambria Math" panose="02040503050406030204" pitchFamily="18" charset="0"/>
                            </a:rPr>
                            <m:t>𝑄</m:t>
                          </m:r>
                        </m:den>
                      </m:f>
                      <m:r>
                        <a:rPr lang="en-US" sz="1800" b="0" i="1" dirty="0" smtClean="0">
                          <a:latin typeface="Cambria Math" panose="02040503050406030204" pitchFamily="18" charset="0"/>
                        </a:rPr>
                        <m:t>=</m:t>
                      </m:r>
                      <m:r>
                        <a:rPr lang="en-US" sz="1800" i="1" dirty="0" smtClean="0">
                          <a:latin typeface="Cambria Math" panose="02040503050406030204" pitchFamily="18" charset="0"/>
                        </a:rPr>
                        <m:t>𝑃</m:t>
                      </m:r>
                      <m:r>
                        <a:rPr lang="he-IL" sz="1800" b="0" i="1" dirty="0" smtClean="0">
                          <a:latin typeface="Cambria Math" panose="02040503050406030204" pitchFamily="18" charset="0"/>
                        </a:rPr>
                        <m:t>צרכן</m:t>
                      </m:r>
                    </m:oMath>
                  </m:oMathPara>
                </a14:m>
                <a:endParaRPr lang="en-IL" dirty="0"/>
              </a:p>
            </p:txBody>
          </p:sp>
        </mc:Choice>
        <mc:Fallback xmlns="">
          <p:sp>
            <p:nvSpPr>
              <p:cNvPr id="9" name="TextBox 8">
                <a:extLst>
                  <a:ext uri="{FF2B5EF4-FFF2-40B4-BE49-F238E27FC236}">
                    <a16:creationId xmlns:a16="http://schemas.microsoft.com/office/drawing/2014/main" id="{F938AA58-DF5C-1C01-7993-20BE5E61C5B7}"/>
                  </a:ext>
                </a:extLst>
              </p:cNvPr>
              <p:cNvSpPr txBox="1">
                <a:spLocks noRot="1" noChangeAspect="1" noMove="1" noResize="1" noEditPoints="1" noAdjustHandles="1" noChangeArrowheads="1" noChangeShapeType="1" noTextEdit="1"/>
              </p:cNvSpPr>
              <p:nvPr/>
            </p:nvSpPr>
            <p:spPr>
              <a:xfrm>
                <a:off x="3286383" y="201348"/>
                <a:ext cx="1647739" cy="653962"/>
              </a:xfrm>
              <a:prstGeom prst="rect">
                <a:avLst/>
              </a:prstGeom>
              <a:blipFill>
                <a:blip r:embed="rId4"/>
                <a:stretch>
                  <a:fillRect/>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323001C-73DD-4C09-0A88-123395E66A56}"/>
                  </a:ext>
                </a:extLst>
              </p:cNvPr>
              <p:cNvSpPr txBox="1"/>
              <p:nvPr/>
            </p:nvSpPr>
            <p:spPr>
              <a:xfrm>
                <a:off x="975888" y="3995858"/>
                <a:ext cx="2310495" cy="546816"/>
              </a:xfrm>
              <a:prstGeom prst="rect">
                <a:avLst/>
              </a:prstGeom>
              <a:solidFill>
                <a:srgbClr val="FAE8FC"/>
              </a:solidFill>
              <a:ln>
                <a:solidFill>
                  <a:srgbClr val="C00000"/>
                </a:solidFill>
              </a:ln>
            </p:spPr>
            <p:txBody>
              <a:bodyPr wrap="square" rtlCol="0">
                <a:spAutoFit/>
              </a:bodyPr>
              <a:lstStyle/>
              <a:p>
                <a:pPr>
                  <a:lnSpc>
                    <a:spcPct val="150000"/>
                  </a:lnSpc>
                </a:pPr>
                <a14:m>
                  <m:oMath xmlns:m="http://schemas.openxmlformats.org/officeDocument/2006/math">
                    <m:r>
                      <a:rPr lang="en-US" sz="2000" i="1" dirty="0" smtClean="0">
                        <a:latin typeface="Cambria Math" panose="02040503050406030204" pitchFamily="18" charset="0"/>
                      </a:rPr>
                      <m:t>𝑃</m:t>
                    </m:r>
                    <m:r>
                      <a:rPr lang="he-IL" sz="2000" b="0" i="1" dirty="0" smtClean="0">
                        <a:latin typeface="Cambria Math" panose="02040503050406030204" pitchFamily="18" charset="0"/>
                      </a:rPr>
                      <m:t>צרכן</m:t>
                    </m:r>
                  </m:oMath>
                </a14:m>
                <a:r>
                  <a:rPr lang="en-US" sz="2000" dirty="0"/>
                  <a:t>1=20+</a:t>
                </a:r>
                <a:r>
                  <a:rPr lang="en-US" sz="2000" b="1" dirty="0">
                    <a:solidFill>
                      <a:schemeClr val="accent2">
                        <a:lumMod val="75000"/>
                      </a:schemeClr>
                    </a:solidFill>
                  </a:rPr>
                  <a:t>10</a:t>
                </a:r>
                <a:r>
                  <a:rPr lang="en-US" sz="2000" dirty="0"/>
                  <a:t>=30</a:t>
                </a:r>
                <a:endParaRPr lang="en-IL" sz="2000" dirty="0"/>
              </a:p>
            </p:txBody>
          </p:sp>
        </mc:Choice>
        <mc:Fallback xmlns="">
          <p:sp>
            <p:nvSpPr>
              <p:cNvPr id="10" name="TextBox 9">
                <a:extLst>
                  <a:ext uri="{FF2B5EF4-FFF2-40B4-BE49-F238E27FC236}">
                    <a16:creationId xmlns:a16="http://schemas.microsoft.com/office/drawing/2014/main" id="{F323001C-73DD-4C09-0A88-123395E66A56}"/>
                  </a:ext>
                </a:extLst>
              </p:cNvPr>
              <p:cNvSpPr txBox="1">
                <a:spLocks noRot="1" noChangeAspect="1" noMove="1" noResize="1" noEditPoints="1" noAdjustHandles="1" noChangeArrowheads="1" noChangeShapeType="1" noTextEdit="1"/>
              </p:cNvSpPr>
              <p:nvPr/>
            </p:nvSpPr>
            <p:spPr>
              <a:xfrm>
                <a:off x="975888" y="3995858"/>
                <a:ext cx="2310495" cy="546816"/>
              </a:xfrm>
              <a:prstGeom prst="rect">
                <a:avLst/>
              </a:prstGeom>
              <a:blipFill>
                <a:blip r:embed="rId5"/>
                <a:stretch>
                  <a:fillRect b="-17391"/>
                </a:stretch>
              </a:blipFill>
              <a:ln>
                <a:solidFill>
                  <a:srgbClr val="C00000"/>
                </a:solidFill>
              </a:ln>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5C34FB1-D8F1-39FD-3535-CF31F67DF696}"/>
                  </a:ext>
                </a:extLst>
              </p:cNvPr>
              <p:cNvSpPr txBox="1"/>
              <p:nvPr/>
            </p:nvSpPr>
            <p:spPr>
              <a:xfrm>
                <a:off x="872187" y="4727543"/>
                <a:ext cx="2642764" cy="1440331"/>
              </a:xfrm>
              <a:prstGeom prst="rect">
                <a:avLst/>
              </a:prstGeom>
              <a:solidFill>
                <a:schemeClr val="accent4">
                  <a:lumMod val="20000"/>
                  <a:lumOff val="80000"/>
                </a:schemeClr>
              </a:solidFill>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f>
                        <m:fPr>
                          <m:ctrlPr>
                            <a:rPr lang="en-US" sz="2000" i="1" dirty="0" smtClean="0">
                              <a:latin typeface="Cambria Math" panose="02040503050406030204" pitchFamily="18" charset="0"/>
                            </a:rPr>
                          </m:ctrlPr>
                        </m:fPr>
                        <m:num>
                          <m:r>
                            <a:rPr lang="he-IL" sz="2000" b="0" i="1" dirty="0" smtClean="0">
                              <a:latin typeface="Cambria Math" panose="02040503050406030204" pitchFamily="18" charset="0"/>
                            </a:rPr>
                            <m:t>8000</m:t>
                          </m:r>
                        </m:num>
                        <m:den>
                          <m:r>
                            <a:rPr lang="en-US" sz="2000" i="1" dirty="0">
                              <a:latin typeface="Cambria Math" panose="02040503050406030204" pitchFamily="18" charset="0"/>
                            </a:rPr>
                            <m:t>𝑄</m:t>
                          </m:r>
                        </m:den>
                      </m:f>
                      <m:r>
                        <a:rPr lang="en-US" sz="2000" b="0" i="1" dirty="0" smtClean="0">
                          <a:latin typeface="Cambria Math" panose="02040503050406030204" pitchFamily="18" charset="0"/>
                        </a:rPr>
                        <m:t>=</m:t>
                      </m:r>
                      <m:r>
                        <a:rPr lang="en-US" sz="2000" b="0" i="1" dirty="0" smtClean="0">
                          <a:latin typeface="Cambria Math" panose="02040503050406030204" pitchFamily="18" charset="0"/>
                        </a:rPr>
                        <m:t>30</m:t>
                      </m:r>
                      <m:r>
                        <a:rPr lang="en-US" sz="2000" b="0" i="1" dirty="0" smtClean="0">
                          <a:latin typeface="Cambria Math" panose="02040503050406030204" pitchFamily="18" charset="0"/>
                        </a:rPr>
                        <m:t>=</m:t>
                      </m:r>
                      <m:r>
                        <a:rPr lang="en-US" sz="2000" i="1" dirty="0" smtClean="0">
                          <a:latin typeface="Cambria Math" panose="02040503050406030204" pitchFamily="18" charset="0"/>
                        </a:rPr>
                        <m:t>𝑃</m:t>
                      </m:r>
                      <m:r>
                        <a:rPr lang="he-IL" sz="2000" b="0" i="1" dirty="0" smtClean="0">
                          <a:latin typeface="Cambria Math" panose="02040503050406030204" pitchFamily="18" charset="0"/>
                        </a:rPr>
                        <m:t>צרכן</m:t>
                      </m:r>
                    </m:oMath>
                  </m:oMathPara>
                </a14:m>
                <a:endParaRPr lang="en-US" sz="2000" b="0" dirty="0"/>
              </a:p>
              <a:p>
                <a:pPr>
                  <a:lnSpc>
                    <a:spcPct val="150000"/>
                  </a:lnSpc>
                </a:pPr>
                <a:r>
                  <a:rPr lang="en-US" sz="2000" dirty="0">
                    <a:sym typeface="Wingdings" panose="05000000000000000000" pitchFamily="2" charset="2"/>
                  </a:rPr>
                  <a:t> Q1=266.667</a:t>
                </a:r>
                <a:endParaRPr lang="en-IL" sz="2000" dirty="0"/>
              </a:p>
            </p:txBody>
          </p:sp>
        </mc:Choice>
        <mc:Fallback xmlns="">
          <p:sp>
            <p:nvSpPr>
              <p:cNvPr id="11" name="TextBox 10">
                <a:extLst>
                  <a:ext uri="{FF2B5EF4-FFF2-40B4-BE49-F238E27FC236}">
                    <a16:creationId xmlns:a16="http://schemas.microsoft.com/office/drawing/2014/main" id="{55C34FB1-D8F1-39FD-3535-CF31F67DF696}"/>
                  </a:ext>
                </a:extLst>
              </p:cNvPr>
              <p:cNvSpPr txBox="1">
                <a:spLocks noRot="1" noChangeAspect="1" noMove="1" noResize="1" noEditPoints="1" noAdjustHandles="1" noChangeArrowheads="1" noChangeShapeType="1" noTextEdit="1"/>
              </p:cNvSpPr>
              <p:nvPr/>
            </p:nvSpPr>
            <p:spPr>
              <a:xfrm>
                <a:off x="872187" y="4727543"/>
                <a:ext cx="2642764" cy="1440331"/>
              </a:xfrm>
              <a:prstGeom prst="rect">
                <a:avLst/>
              </a:prstGeom>
              <a:blipFill>
                <a:blip r:embed="rId6"/>
                <a:stretch>
                  <a:fillRect l="-2304" b="-6780"/>
                </a:stretch>
              </a:blipFill>
            </p:spPr>
            <p:txBody>
              <a:bodyPr/>
              <a:lstStyle/>
              <a:p>
                <a:r>
                  <a:rPr lang="en-IL">
                    <a:noFill/>
                  </a:rPr>
                  <a:t> </a:t>
                </a:r>
              </a:p>
            </p:txBody>
          </p:sp>
        </mc:Fallback>
      </mc:AlternateContent>
      <p:sp>
        <p:nvSpPr>
          <p:cNvPr id="12" name="TextBox 11">
            <a:extLst>
              <a:ext uri="{FF2B5EF4-FFF2-40B4-BE49-F238E27FC236}">
                <a16:creationId xmlns:a16="http://schemas.microsoft.com/office/drawing/2014/main" id="{F5F88B6D-68E4-B002-D87E-3E8F6301AAC5}"/>
              </a:ext>
            </a:extLst>
          </p:cNvPr>
          <p:cNvSpPr txBox="1"/>
          <p:nvPr/>
        </p:nvSpPr>
        <p:spPr>
          <a:xfrm>
            <a:off x="4448262" y="2296531"/>
            <a:ext cx="1647738" cy="369332"/>
          </a:xfrm>
          <a:prstGeom prst="rect">
            <a:avLst/>
          </a:prstGeom>
          <a:solidFill>
            <a:schemeClr val="bg1">
              <a:lumMod val="95000"/>
            </a:schemeClr>
          </a:solidFill>
        </p:spPr>
        <p:txBody>
          <a:bodyPr wrap="square" rtlCol="0">
            <a:spAutoFit/>
          </a:bodyPr>
          <a:lstStyle/>
          <a:p>
            <a:pPr algn="r" rtl="1"/>
            <a:r>
              <a:rPr lang="he-IL" dirty="0"/>
              <a:t>במצב המוצא:</a:t>
            </a:r>
            <a:endParaRPr lang="en-IL" dirty="0"/>
          </a:p>
        </p:txBody>
      </p:sp>
      <p:sp>
        <p:nvSpPr>
          <p:cNvPr id="13" name="TextBox 12">
            <a:extLst>
              <a:ext uri="{FF2B5EF4-FFF2-40B4-BE49-F238E27FC236}">
                <a16:creationId xmlns:a16="http://schemas.microsoft.com/office/drawing/2014/main" id="{6A56D01A-817D-B0B7-9751-1007723CA4A9}"/>
              </a:ext>
            </a:extLst>
          </p:cNvPr>
          <p:cNvSpPr txBox="1"/>
          <p:nvPr/>
        </p:nvSpPr>
        <p:spPr>
          <a:xfrm>
            <a:off x="803011" y="2207332"/>
            <a:ext cx="2446445" cy="1538883"/>
          </a:xfrm>
          <a:prstGeom prst="rect">
            <a:avLst/>
          </a:prstGeom>
          <a:solidFill>
            <a:schemeClr val="bg1">
              <a:lumMod val="95000"/>
            </a:schemeClr>
          </a:solidFill>
        </p:spPr>
        <p:txBody>
          <a:bodyPr wrap="square" rtlCol="0">
            <a:spAutoFit/>
          </a:bodyPr>
          <a:lstStyle/>
          <a:p>
            <a:pPr rtl="1"/>
            <a:r>
              <a:rPr lang="en-US" sz="2000" dirty="0"/>
              <a:t>P*Q=8000 </a:t>
            </a:r>
            <a:r>
              <a:rPr lang="en-US" sz="2000" dirty="0">
                <a:sym typeface="Wingdings" panose="05000000000000000000" pitchFamily="2" charset="2"/>
              </a:rPr>
              <a:t> P*(20P)=8000 </a:t>
            </a:r>
          </a:p>
          <a:p>
            <a:pPr rtl="1"/>
            <a:endParaRPr lang="en-US" sz="1100" dirty="0">
              <a:sym typeface="Wingdings" panose="05000000000000000000" pitchFamily="2" charset="2"/>
            </a:endParaRPr>
          </a:p>
          <a:p>
            <a:pPr rtl="1"/>
            <a:r>
              <a:rPr lang="en-US" sz="2000" dirty="0">
                <a:sym typeface="Wingdings" panose="05000000000000000000" pitchFamily="2" charset="2"/>
              </a:rPr>
              <a:t>P</a:t>
            </a:r>
            <a:r>
              <a:rPr lang="en-US" sz="1600" dirty="0">
                <a:sym typeface="Wingdings" panose="05000000000000000000" pitchFamily="2" charset="2"/>
              </a:rPr>
              <a:t>0</a:t>
            </a:r>
            <a:r>
              <a:rPr lang="en-US" sz="2000" dirty="0">
                <a:sym typeface="Wingdings" panose="05000000000000000000" pitchFamily="2" charset="2"/>
              </a:rPr>
              <a:t>=20</a:t>
            </a:r>
          </a:p>
          <a:p>
            <a:pPr algn="l"/>
            <a:r>
              <a:rPr lang="en-US" sz="2000" dirty="0">
                <a:sym typeface="Wingdings" panose="05000000000000000000" pitchFamily="2" charset="2"/>
              </a:rPr>
              <a:t>Q</a:t>
            </a:r>
            <a:r>
              <a:rPr lang="en-US" sz="1600" dirty="0">
                <a:sym typeface="Wingdings" panose="05000000000000000000" pitchFamily="2" charset="2"/>
              </a:rPr>
              <a:t>0</a:t>
            </a:r>
            <a:r>
              <a:rPr lang="en-US" sz="2000" dirty="0">
                <a:sym typeface="Wingdings" panose="05000000000000000000" pitchFamily="2" charset="2"/>
              </a:rPr>
              <a:t>=400</a:t>
            </a:r>
            <a:endParaRPr lang="en-IL" sz="2000" dirty="0"/>
          </a:p>
        </p:txBody>
      </p:sp>
      <p:sp>
        <p:nvSpPr>
          <p:cNvPr id="14" name="TextBox 13">
            <a:extLst>
              <a:ext uri="{FF2B5EF4-FFF2-40B4-BE49-F238E27FC236}">
                <a16:creationId xmlns:a16="http://schemas.microsoft.com/office/drawing/2014/main" id="{0DE5ED5C-FF28-544F-2C30-BA066E304BBB}"/>
              </a:ext>
            </a:extLst>
          </p:cNvPr>
          <p:cNvSpPr txBox="1"/>
          <p:nvPr/>
        </p:nvSpPr>
        <p:spPr>
          <a:xfrm>
            <a:off x="4319481" y="3697501"/>
            <a:ext cx="1647738" cy="369332"/>
          </a:xfrm>
          <a:prstGeom prst="rect">
            <a:avLst/>
          </a:prstGeom>
          <a:solidFill>
            <a:srgbClr val="FAE8FC"/>
          </a:solidFill>
        </p:spPr>
        <p:txBody>
          <a:bodyPr wrap="square" rtlCol="0">
            <a:spAutoFit/>
          </a:bodyPr>
          <a:lstStyle/>
          <a:p>
            <a:pPr algn="r" rtl="1"/>
            <a:r>
              <a:rPr lang="he-IL" dirty="0"/>
              <a:t>במצב החדש:</a:t>
            </a:r>
            <a:endParaRPr lang="en-IL" dirty="0"/>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3DCCEA5-D0B3-941A-D429-119EEE618A84}"/>
                  </a:ext>
                </a:extLst>
              </p:cNvPr>
              <p:cNvSpPr txBox="1"/>
              <p:nvPr/>
            </p:nvSpPr>
            <p:spPr>
              <a:xfrm>
                <a:off x="3790798" y="4727543"/>
                <a:ext cx="2870227" cy="612732"/>
              </a:xfrm>
              <a:prstGeom prst="rect">
                <a:avLst/>
              </a:prstGeom>
              <a:solidFill>
                <a:schemeClr val="accent4">
                  <a:lumMod val="20000"/>
                  <a:lumOff val="80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800" b="1" i="1" dirty="0" smtClean="0">
                              <a:solidFill>
                                <a:schemeClr val="accent4">
                                  <a:lumMod val="50000"/>
                                </a:schemeClr>
                              </a:solidFill>
                              <a:latin typeface="Cambria Math" panose="02040503050406030204" pitchFamily="18" charset="0"/>
                            </a:rPr>
                          </m:ctrlPr>
                        </m:fPr>
                        <m:num>
                          <m:r>
                            <a:rPr lang="en-US" sz="1800" b="1" i="1" dirty="0" smtClean="0">
                              <a:solidFill>
                                <a:schemeClr val="accent4">
                                  <a:lumMod val="50000"/>
                                </a:schemeClr>
                              </a:solidFill>
                              <a:latin typeface="Cambria Math" panose="02040503050406030204" pitchFamily="18" charset="0"/>
                            </a:rPr>
                            <m:t>𝟐𝟔𝟔</m:t>
                          </m:r>
                          <m:r>
                            <a:rPr lang="en-US" sz="1800" b="1" i="1" dirty="0" smtClean="0">
                              <a:solidFill>
                                <a:schemeClr val="accent4">
                                  <a:lumMod val="50000"/>
                                </a:schemeClr>
                              </a:solidFill>
                              <a:latin typeface="Cambria Math" panose="02040503050406030204" pitchFamily="18" charset="0"/>
                            </a:rPr>
                            <m:t>.</m:t>
                          </m:r>
                          <m:r>
                            <a:rPr lang="en-US" sz="1800" b="1" i="1" dirty="0" smtClean="0">
                              <a:solidFill>
                                <a:schemeClr val="accent4">
                                  <a:lumMod val="50000"/>
                                </a:schemeClr>
                              </a:solidFill>
                              <a:latin typeface="Cambria Math" panose="02040503050406030204" pitchFamily="18" charset="0"/>
                            </a:rPr>
                            <m:t>𝟔𝟔𝟕</m:t>
                          </m:r>
                        </m:num>
                        <m:den>
                          <m:r>
                            <a:rPr lang="en-US" sz="1800" b="1" i="1" dirty="0" smtClean="0">
                              <a:solidFill>
                                <a:schemeClr val="accent4">
                                  <a:lumMod val="50000"/>
                                </a:schemeClr>
                              </a:solidFill>
                              <a:latin typeface="Cambria Math" panose="02040503050406030204" pitchFamily="18" charset="0"/>
                            </a:rPr>
                            <m:t>𝟐𝟎</m:t>
                          </m:r>
                        </m:den>
                      </m:f>
                      <m:r>
                        <a:rPr lang="en-US" sz="1800" b="0" i="1" dirty="0" smtClean="0">
                          <a:latin typeface="Cambria Math" panose="02040503050406030204" pitchFamily="18" charset="0"/>
                        </a:rPr>
                        <m:t>=</m:t>
                      </m:r>
                      <m:r>
                        <a:rPr lang="en-US" sz="1800" b="0" i="1" dirty="0" smtClean="0">
                          <a:latin typeface="Cambria Math" panose="02040503050406030204" pitchFamily="18" charset="0"/>
                        </a:rPr>
                        <m:t>13</m:t>
                      </m:r>
                      <m:r>
                        <a:rPr lang="en-US" sz="1800" b="0" i="1" dirty="0" smtClean="0">
                          <a:latin typeface="Cambria Math" panose="02040503050406030204" pitchFamily="18" charset="0"/>
                        </a:rPr>
                        <m:t>.</m:t>
                      </m:r>
                      <m:r>
                        <a:rPr lang="en-US" sz="1800" b="0" i="1" dirty="0" smtClean="0">
                          <a:latin typeface="Cambria Math" panose="02040503050406030204" pitchFamily="18" charset="0"/>
                        </a:rPr>
                        <m:t>33</m:t>
                      </m:r>
                      <m:r>
                        <a:rPr lang="en-US" sz="1800" b="0" i="1" dirty="0" smtClean="0">
                          <a:latin typeface="Cambria Math" panose="02040503050406030204" pitchFamily="18" charset="0"/>
                        </a:rPr>
                        <m:t>=</m:t>
                      </m:r>
                      <m:r>
                        <a:rPr lang="en-US" sz="1800" i="1" dirty="0" smtClean="0">
                          <a:latin typeface="Cambria Math" panose="02040503050406030204" pitchFamily="18" charset="0"/>
                        </a:rPr>
                        <m:t>𝑃</m:t>
                      </m:r>
                      <m:r>
                        <a:rPr lang="he-IL" sz="1800" i="1" dirty="0" smtClean="0">
                          <a:latin typeface="Cambria Math" panose="02040503050406030204" pitchFamily="18" charset="0"/>
                        </a:rPr>
                        <m:t>יצרן</m:t>
                      </m:r>
                    </m:oMath>
                  </m:oMathPara>
                </a14:m>
                <a:endParaRPr lang="en-IL" dirty="0"/>
              </a:p>
            </p:txBody>
          </p:sp>
        </mc:Choice>
        <mc:Fallback xmlns="">
          <p:sp>
            <p:nvSpPr>
              <p:cNvPr id="18" name="TextBox 17">
                <a:extLst>
                  <a:ext uri="{FF2B5EF4-FFF2-40B4-BE49-F238E27FC236}">
                    <a16:creationId xmlns:a16="http://schemas.microsoft.com/office/drawing/2014/main" id="{33DCCEA5-D0B3-941A-D429-119EEE618A84}"/>
                  </a:ext>
                </a:extLst>
              </p:cNvPr>
              <p:cNvSpPr txBox="1">
                <a:spLocks noRot="1" noChangeAspect="1" noMove="1" noResize="1" noEditPoints="1" noAdjustHandles="1" noChangeArrowheads="1" noChangeShapeType="1" noTextEdit="1"/>
              </p:cNvSpPr>
              <p:nvPr/>
            </p:nvSpPr>
            <p:spPr>
              <a:xfrm>
                <a:off x="3790798" y="4727543"/>
                <a:ext cx="2870227" cy="612732"/>
              </a:xfrm>
              <a:prstGeom prst="rect">
                <a:avLst/>
              </a:prstGeom>
              <a:blipFill>
                <a:blip r:embed="rId7"/>
                <a:stretch>
                  <a:fillRect/>
                </a:stretch>
              </a:blipFill>
            </p:spPr>
            <p:txBody>
              <a:bodyPr/>
              <a:lstStyle/>
              <a:p>
                <a:r>
                  <a:rPr lang="en-IL">
                    <a:noFill/>
                  </a:rPr>
                  <a:t> </a:t>
                </a:r>
              </a:p>
            </p:txBody>
          </p:sp>
        </mc:Fallback>
      </mc:AlternateContent>
      <p:sp>
        <p:nvSpPr>
          <p:cNvPr id="19" name="TextBox 18">
            <a:extLst>
              <a:ext uri="{FF2B5EF4-FFF2-40B4-BE49-F238E27FC236}">
                <a16:creationId xmlns:a16="http://schemas.microsoft.com/office/drawing/2014/main" id="{025A74BB-C92A-3F8A-2D6C-A013B8EC941B}"/>
              </a:ext>
            </a:extLst>
          </p:cNvPr>
          <p:cNvSpPr txBox="1"/>
          <p:nvPr/>
        </p:nvSpPr>
        <p:spPr>
          <a:xfrm>
            <a:off x="6568059" y="3429000"/>
            <a:ext cx="3446585" cy="646331"/>
          </a:xfrm>
          <a:prstGeom prst="rect">
            <a:avLst/>
          </a:prstGeom>
          <a:solidFill>
            <a:schemeClr val="tx2">
              <a:lumMod val="20000"/>
              <a:lumOff val="80000"/>
            </a:schemeClr>
          </a:solidFill>
        </p:spPr>
        <p:txBody>
          <a:bodyPr wrap="square" rtlCol="0">
            <a:spAutoFit/>
          </a:bodyPr>
          <a:lstStyle/>
          <a:p>
            <a:pPr algn="r" rtl="1"/>
            <a:r>
              <a:rPr lang="en-US" dirty="0"/>
              <a:t>266.667*16.667=</a:t>
            </a:r>
            <a:r>
              <a:rPr lang="en-US" b="1" dirty="0"/>
              <a:t>4,444</a:t>
            </a:r>
            <a:r>
              <a:rPr lang="he-IL" dirty="0"/>
              <a:t>=</a:t>
            </a:r>
          </a:p>
          <a:p>
            <a:pPr algn="r" rtl="1"/>
            <a:r>
              <a:rPr lang="en-US" dirty="0"/>
              <a:t>	  </a:t>
            </a:r>
            <a:r>
              <a:rPr lang="he-IL" dirty="0"/>
              <a:t>(</a:t>
            </a:r>
            <a:r>
              <a:rPr lang="en-US" dirty="0"/>
              <a:t>t</a:t>
            </a:r>
            <a:r>
              <a:rPr lang="he-IL" dirty="0"/>
              <a:t>)* (</a:t>
            </a:r>
            <a:r>
              <a:rPr lang="en-US" dirty="0">
                <a:sym typeface="Wingdings" panose="05000000000000000000" pitchFamily="2" charset="2"/>
              </a:rPr>
              <a:t>Q1</a:t>
            </a:r>
            <a:r>
              <a:rPr lang="he-IL" dirty="0"/>
              <a:t>)</a:t>
            </a:r>
            <a:r>
              <a:rPr lang="en-US" dirty="0"/>
              <a:t>=</a:t>
            </a:r>
            <a:endParaRPr lang="en-IL" dirty="0"/>
          </a:p>
        </p:txBody>
      </p:sp>
      <p:sp>
        <p:nvSpPr>
          <p:cNvPr id="7" name="Rectangle 6">
            <a:extLst>
              <a:ext uri="{FF2B5EF4-FFF2-40B4-BE49-F238E27FC236}">
                <a16:creationId xmlns:a16="http://schemas.microsoft.com/office/drawing/2014/main" id="{884C92BD-BC24-A1D2-2D07-5AE34AFD6A6D}"/>
              </a:ext>
            </a:extLst>
          </p:cNvPr>
          <p:cNvSpPr/>
          <p:nvPr/>
        </p:nvSpPr>
        <p:spPr>
          <a:xfrm>
            <a:off x="10517345" y="2844338"/>
            <a:ext cx="1397726" cy="3732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3478292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fade">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circle(in)">
                                      <p:cBhvr>
                                        <p:cTn id="42" dur="20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31"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 calcmode="lin" valueType="num">
                                      <p:cBhvr>
                                        <p:cTn id="47" dur="1000" fill="hold"/>
                                        <p:tgtEl>
                                          <p:spTgt spid="19"/>
                                        </p:tgtEl>
                                        <p:attrNameLst>
                                          <p:attrName>ppt_w</p:attrName>
                                        </p:attrNameLst>
                                      </p:cBhvr>
                                      <p:tavLst>
                                        <p:tav tm="0">
                                          <p:val>
                                            <p:fltVal val="0"/>
                                          </p:val>
                                        </p:tav>
                                        <p:tav tm="100000">
                                          <p:val>
                                            <p:strVal val="#ppt_w"/>
                                          </p:val>
                                        </p:tav>
                                      </p:tavLst>
                                    </p:anim>
                                    <p:anim calcmode="lin" valueType="num">
                                      <p:cBhvr>
                                        <p:cTn id="48" dur="1000" fill="hold"/>
                                        <p:tgtEl>
                                          <p:spTgt spid="19"/>
                                        </p:tgtEl>
                                        <p:attrNameLst>
                                          <p:attrName>ppt_h</p:attrName>
                                        </p:attrNameLst>
                                      </p:cBhvr>
                                      <p:tavLst>
                                        <p:tav tm="0">
                                          <p:val>
                                            <p:fltVal val="0"/>
                                          </p:val>
                                        </p:tav>
                                        <p:tav tm="100000">
                                          <p:val>
                                            <p:strVal val="#ppt_h"/>
                                          </p:val>
                                        </p:tav>
                                      </p:tavLst>
                                    </p:anim>
                                    <p:anim calcmode="lin" valueType="num">
                                      <p:cBhvr>
                                        <p:cTn id="49" dur="1000" fill="hold"/>
                                        <p:tgtEl>
                                          <p:spTgt spid="19"/>
                                        </p:tgtEl>
                                        <p:attrNameLst>
                                          <p:attrName>style.rotation</p:attrName>
                                        </p:attrNameLst>
                                      </p:cBhvr>
                                      <p:tavLst>
                                        <p:tav tm="0">
                                          <p:val>
                                            <p:fltVal val="90"/>
                                          </p:val>
                                        </p:tav>
                                        <p:tav tm="100000">
                                          <p:val>
                                            <p:fltVal val="0"/>
                                          </p:val>
                                        </p:tav>
                                      </p:tavLst>
                                    </p:anim>
                                    <p:animEffect transition="in" filter="fade">
                                      <p:cBhvr>
                                        <p:cTn id="50" dur="1000"/>
                                        <p:tgtEl>
                                          <p:spTgt spid="19"/>
                                        </p:tgtEl>
                                      </p:cBhvr>
                                    </p:animEffect>
                                  </p:childTnLst>
                                </p:cTn>
                              </p:par>
                            </p:childTnLst>
                          </p:cTn>
                        </p:par>
                      </p:childTnLst>
                    </p:cTn>
                  </p:par>
                  <p:par>
                    <p:cTn id="51" fill="hold">
                      <p:stCondLst>
                        <p:cond delay="indefinite"/>
                      </p:stCondLst>
                      <p:childTnLst>
                        <p:par>
                          <p:cTn id="52" fill="hold">
                            <p:stCondLst>
                              <p:cond delay="0"/>
                            </p:stCondLst>
                            <p:childTnLst>
                              <p:par>
                                <p:cTn id="53" presetID="16" presetClass="entr" presetSubtype="21" fill="hold" grpId="0" nodeType="clickEffect">
                                  <p:stCondLst>
                                    <p:cond delay="0"/>
                                  </p:stCondLst>
                                  <p:childTnLst>
                                    <p:set>
                                      <p:cBhvr>
                                        <p:cTn id="54" dur="1" fill="hold">
                                          <p:stCondLst>
                                            <p:cond delay="0"/>
                                          </p:stCondLst>
                                        </p:cTn>
                                        <p:tgtEl>
                                          <p:spTgt spid="7"/>
                                        </p:tgtEl>
                                        <p:attrNameLst>
                                          <p:attrName>style.visibility</p:attrName>
                                        </p:attrNameLst>
                                      </p:cBhvr>
                                      <p:to>
                                        <p:strVal val="visible"/>
                                      </p:to>
                                    </p:set>
                                    <p:animEffect transition="in" filter="barn(inVertical)">
                                      <p:cBhvr>
                                        <p:cTn id="5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animBg="1"/>
      <p:bldP spid="10" grpId="0" animBg="1"/>
      <p:bldP spid="11" grpId="0" animBg="1"/>
      <p:bldP spid="12" grpId="0" animBg="1"/>
      <p:bldP spid="13" grpId="0" animBg="1"/>
      <p:bldP spid="14" grpId="0" animBg="1"/>
      <p:bldP spid="18" grpId="0" animBg="1"/>
      <p:bldP spid="19" grpId="0" animBg="1"/>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86CFC-21FB-6BDA-BA4E-162AB7AF68F4}"/>
              </a:ext>
            </a:extLst>
          </p:cNvPr>
          <p:cNvSpPr>
            <a:spLocks noGrp="1"/>
          </p:cNvSpPr>
          <p:nvPr>
            <p:ph type="title"/>
          </p:nvPr>
        </p:nvSpPr>
        <p:spPr>
          <a:xfrm>
            <a:off x="10452682" y="79899"/>
            <a:ext cx="1647738" cy="633165"/>
          </a:xfrm>
        </p:spPr>
        <p:txBody>
          <a:bodyPr>
            <a:normAutofit/>
          </a:bodyPr>
          <a:lstStyle/>
          <a:p>
            <a:pPr algn="r" rtl="1"/>
            <a:r>
              <a:rPr lang="he-IL" sz="3200" dirty="0"/>
              <a:t>שאלה 14 </a:t>
            </a:r>
            <a:endParaRPr lang="en-IL" sz="3200" dirty="0"/>
          </a:p>
        </p:txBody>
      </p:sp>
      <p:sp>
        <p:nvSpPr>
          <p:cNvPr id="5" name="TextBox 4">
            <a:extLst>
              <a:ext uri="{FF2B5EF4-FFF2-40B4-BE49-F238E27FC236}">
                <a16:creationId xmlns:a16="http://schemas.microsoft.com/office/drawing/2014/main" id="{85958B51-5284-67B9-7EAF-F65DCAE71E98}"/>
              </a:ext>
            </a:extLst>
          </p:cNvPr>
          <p:cNvSpPr txBox="1"/>
          <p:nvPr/>
        </p:nvSpPr>
        <p:spPr>
          <a:xfrm>
            <a:off x="1775791" y="713064"/>
            <a:ext cx="10218793" cy="1288751"/>
          </a:xfrm>
          <a:prstGeom prst="rect">
            <a:avLst/>
          </a:prstGeom>
          <a:noFill/>
        </p:spPr>
        <p:txBody>
          <a:bodyPr wrap="square">
            <a:spAutoFit/>
          </a:bodyPr>
          <a:lstStyle/>
          <a:p>
            <a:pPr indent="-228600" algn="r" rtl="1">
              <a:lnSpc>
                <a:spcPct val="150000"/>
              </a:lnSpc>
              <a:tabLst>
                <a:tab pos="-228600" algn="l"/>
              </a:tabLst>
            </a:pP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שוק הבננות הינו שוק תחרותי. ידוע כי עקומת הביקוש לבננות הינה </a:t>
            </a:r>
            <a:r>
              <a:rPr lang="en-US" sz="1800" b="1" dirty="0">
                <a:effectLst/>
                <a:latin typeface="Arial" panose="020B0604020202020204" pitchFamily="34" charset="0"/>
                <a:ea typeface="Times New Roman" panose="02020603050405020304" pitchFamily="18" charset="0"/>
              </a:rPr>
              <a:t>P=100-Q</a:t>
            </a: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 ועקומת ההיצע הינה </a:t>
            </a:r>
            <a:r>
              <a:rPr lang="en-US" sz="1800" b="1" dirty="0">
                <a:effectLst/>
                <a:latin typeface="Arial" panose="020B0604020202020204" pitchFamily="34" charset="0"/>
                <a:ea typeface="Times New Roman" panose="02020603050405020304" pitchFamily="18" charset="0"/>
              </a:rPr>
              <a:t>P=Q</a:t>
            </a: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 ידוע כי בעקבות הטלת מס על כל יחידה מיוצרת וכתוצאה מגידול בהכנסת הצרכנים, הוצאת הצרכנים על בננות עלתה. לאור זאת ניתן להסיק כי:</a:t>
            </a:r>
            <a:endParaRPr lang="en-IL" sz="1800" dirty="0">
              <a:effectLst/>
              <a:latin typeface="Times New Roman" panose="02020603050405020304" pitchFamily="18" charset="0"/>
              <a:ea typeface="Times New Roman" panose="02020603050405020304" pitchFamily="18" charset="0"/>
            </a:endParaRPr>
          </a:p>
        </p:txBody>
      </p:sp>
      <p:sp>
        <p:nvSpPr>
          <p:cNvPr id="3" name="Rectangle 2">
            <a:extLst>
              <a:ext uri="{FF2B5EF4-FFF2-40B4-BE49-F238E27FC236}">
                <a16:creationId xmlns:a16="http://schemas.microsoft.com/office/drawing/2014/main" id="{FA7BEA87-79CE-CB18-F309-E2B81E893DB0}"/>
              </a:ext>
            </a:extLst>
          </p:cNvPr>
          <p:cNvSpPr>
            <a:spLocks noChangeArrowheads="1"/>
          </p:cNvSpPr>
          <p:nvPr/>
        </p:nvSpPr>
        <p:spPr bwMode="auto">
          <a:xfrm>
            <a:off x="7343333" y="2386552"/>
            <a:ext cx="4499653" cy="1704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r" rtl="1">
              <a:lnSpc>
                <a:spcPct val="150000"/>
              </a:lnSpc>
              <a:buFont typeface="+mj-lt"/>
              <a:buAutoNum type="arabicPeriod"/>
            </a:pPr>
            <a:r>
              <a:rPr lang="he-IL" dirty="0">
                <a:effectLst/>
                <a:latin typeface="Times New Roman" panose="02020603050405020304" pitchFamily="18" charset="0"/>
                <a:ea typeface="Times New Roman" panose="02020603050405020304" pitchFamily="18" charset="0"/>
                <a:cs typeface="Arial" panose="020B0604020202020204" pitchFamily="34" charset="0"/>
              </a:rPr>
              <a:t>רווחי היצרנים עלו.</a:t>
            </a:r>
            <a:endParaRPr lang="en-IL"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עודף הצרכן עלה.</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רווחי היצרנים בהכרח ירדו.</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כל התשובות האחרות לא נכונות.</a:t>
            </a:r>
            <a:endParaRPr lang="en-IL" sz="1800" dirty="0">
              <a:effectLst/>
              <a:latin typeface="Times New Roman" panose="02020603050405020304" pitchFamily="18" charset="0"/>
              <a:ea typeface="Times New Roman" panose="02020603050405020304" pitchFamily="18" charset="0"/>
            </a:endParaRPr>
          </a:p>
        </p:txBody>
      </p:sp>
      <p:sp>
        <p:nvSpPr>
          <p:cNvPr id="4" name="TextBox 3">
            <a:extLst>
              <a:ext uri="{FF2B5EF4-FFF2-40B4-BE49-F238E27FC236}">
                <a16:creationId xmlns:a16="http://schemas.microsoft.com/office/drawing/2014/main" id="{C31AACBE-F82D-C2A1-3D67-B0FF184382F7}"/>
              </a:ext>
            </a:extLst>
          </p:cNvPr>
          <p:cNvSpPr txBox="1"/>
          <p:nvPr/>
        </p:nvSpPr>
        <p:spPr>
          <a:xfrm>
            <a:off x="7455875" y="4246661"/>
            <a:ext cx="4387111" cy="457754"/>
          </a:xfrm>
          <a:prstGeom prst="rect">
            <a:avLst/>
          </a:prstGeom>
          <a:noFill/>
        </p:spPr>
        <p:txBody>
          <a:bodyPr wrap="square">
            <a:spAutoFit/>
          </a:bodyPr>
          <a:lstStyle/>
          <a:p>
            <a:pPr lvl="0" algn="r" rtl="1">
              <a:lnSpc>
                <a:spcPct val="150000"/>
              </a:lnSpc>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5.  המחיר לצרכן בהכרח יעלה</a:t>
            </a: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a:t>
            </a:r>
            <a:endParaRPr lang="en-IL" sz="18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0699763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86CFC-21FB-6BDA-BA4E-162AB7AF68F4}"/>
              </a:ext>
            </a:extLst>
          </p:cNvPr>
          <p:cNvSpPr>
            <a:spLocks noGrp="1"/>
          </p:cNvSpPr>
          <p:nvPr>
            <p:ph type="title"/>
          </p:nvPr>
        </p:nvSpPr>
        <p:spPr>
          <a:xfrm>
            <a:off x="10452682" y="79899"/>
            <a:ext cx="1647738" cy="633165"/>
          </a:xfrm>
        </p:spPr>
        <p:txBody>
          <a:bodyPr>
            <a:normAutofit/>
          </a:bodyPr>
          <a:lstStyle/>
          <a:p>
            <a:pPr algn="r" rtl="1"/>
            <a:r>
              <a:rPr lang="he-IL" sz="3200" dirty="0"/>
              <a:t>שאלה 14 </a:t>
            </a:r>
            <a:endParaRPr lang="en-IL" sz="3200" dirty="0"/>
          </a:p>
        </p:txBody>
      </p:sp>
      <p:sp>
        <p:nvSpPr>
          <p:cNvPr id="5" name="TextBox 4">
            <a:extLst>
              <a:ext uri="{FF2B5EF4-FFF2-40B4-BE49-F238E27FC236}">
                <a16:creationId xmlns:a16="http://schemas.microsoft.com/office/drawing/2014/main" id="{85958B51-5284-67B9-7EAF-F65DCAE71E98}"/>
              </a:ext>
            </a:extLst>
          </p:cNvPr>
          <p:cNvSpPr txBox="1"/>
          <p:nvPr/>
        </p:nvSpPr>
        <p:spPr>
          <a:xfrm>
            <a:off x="1267097" y="713064"/>
            <a:ext cx="10727487" cy="1288751"/>
          </a:xfrm>
          <a:prstGeom prst="rect">
            <a:avLst/>
          </a:prstGeom>
          <a:noFill/>
        </p:spPr>
        <p:txBody>
          <a:bodyPr wrap="square">
            <a:spAutoFit/>
          </a:bodyPr>
          <a:lstStyle/>
          <a:p>
            <a:pPr indent="-228600" algn="r" rtl="1">
              <a:lnSpc>
                <a:spcPct val="150000"/>
              </a:lnSpc>
              <a:tabLst>
                <a:tab pos="-228600" algn="l"/>
              </a:tabLst>
            </a:pP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שוק הבננות הינו שוק תחרותי. ידוע כי עקומת הביקוש לבננות הינה </a:t>
            </a:r>
            <a:r>
              <a:rPr lang="en-US" sz="1800" b="1" dirty="0">
                <a:effectLst/>
                <a:latin typeface="Arial" panose="020B0604020202020204" pitchFamily="34" charset="0"/>
                <a:ea typeface="Times New Roman" panose="02020603050405020304" pitchFamily="18" charset="0"/>
              </a:rPr>
              <a:t>P=100-Q</a:t>
            </a: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 ועקומת ההיצע הינה </a:t>
            </a:r>
            <a:r>
              <a:rPr lang="en-US" sz="1800" b="1" dirty="0">
                <a:effectLst/>
                <a:latin typeface="Arial" panose="020B0604020202020204" pitchFamily="34" charset="0"/>
                <a:ea typeface="Times New Roman" panose="02020603050405020304" pitchFamily="18" charset="0"/>
              </a:rPr>
              <a:t>P=Q</a:t>
            </a: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 ידוע כי בעקבות הטלת מס על כל יחידה מיוצרת וכתוצאה מגידול בהכנסת הצרכנים, הוצאת הצרכנים על בננות עלתה. לאור זאת ניתן להסיק כי:</a:t>
            </a:r>
            <a:endParaRPr lang="en-IL" sz="1800" dirty="0">
              <a:effectLst/>
              <a:latin typeface="Times New Roman" panose="02020603050405020304" pitchFamily="18" charset="0"/>
              <a:ea typeface="Times New Roman" panose="02020603050405020304" pitchFamily="18" charset="0"/>
            </a:endParaRPr>
          </a:p>
        </p:txBody>
      </p:sp>
      <p:sp>
        <p:nvSpPr>
          <p:cNvPr id="4" name="Rectangle 2">
            <a:extLst>
              <a:ext uri="{FF2B5EF4-FFF2-40B4-BE49-F238E27FC236}">
                <a16:creationId xmlns:a16="http://schemas.microsoft.com/office/drawing/2014/main" id="{0877A2EB-BB61-AC43-DB02-1C298FCEA851}"/>
              </a:ext>
            </a:extLst>
          </p:cNvPr>
          <p:cNvSpPr>
            <a:spLocks noChangeArrowheads="1"/>
          </p:cNvSpPr>
          <p:nvPr/>
        </p:nvSpPr>
        <p:spPr bwMode="auto">
          <a:xfrm>
            <a:off x="7343333" y="2386552"/>
            <a:ext cx="4499653" cy="1704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r" rtl="1">
              <a:lnSpc>
                <a:spcPct val="150000"/>
              </a:lnSpc>
              <a:buFont typeface="+mj-lt"/>
              <a:buAutoNum type="arabicPeriod"/>
            </a:pPr>
            <a:r>
              <a:rPr lang="he-IL" dirty="0">
                <a:effectLst/>
                <a:latin typeface="Times New Roman" panose="02020603050405020304" pitchFamily="18" charset="0"/>
                <a:ea typeface="Times New Roman" panose="02020603050405020304" pitchFamily="18" charset="0"/>
                <a:cs typeface="Arial" panose="020B0604020202020204" pitchFamily="34" charset="0"/>
              </a:rPr>
              <a:t>רווחי היצרנים עלו.</a:t>
            </a:r>
            <a:endParaRPr lang="en-IL"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עודף הצרכן עלה.</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רווחי היצרנים בהכרח ירדו.</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כל התשובות האחרות לא נכונות.</a:t>
            </a:r>
            <a:endParaRPr lang="en-IL" sz="1800" dirty="0">
              <a:effectLst/>
              <a:latin typeface="Times New Roman" panose="02020603050405020304" pitchFamily="18" charset="0"/>
              <a:ea typeface="Times New Roman" panose="02020603050405020304" pitchFamily="18" charset="0"/>
            </a:endParaRPr>
          </a:p>
        </p:txBody>
      </p:sp>
      <p:sp>
        <p:nvSpPr>
          <p:cNvPr id="6" name="TextBox 5">
            <a:extLst>
              <a:ext uri="{FF2B5EF4-FFF2-40B4-BE49-F238E27FC236}">
                <a16:creationId xmlns:a16="http://schemas.microsoft.com/office/drawing/2014/main" id="{BB6CA9F0-C11D-8890-078A-DE061318F5F0}"/>
              </a:ext>
            </a:extLst>
          </p:cNvPr>
          <p:cNvSpPr txBox="1"/>
          <p:nvPr/>
        </p:nvSpPr>
        <p:spPr>
          <a:xfrm>
            <a:off x="8439325" y="4179221"/>
            <a:ext cx="3403661" cy="457754"/>
          </a:xfrm>
          <a:prstGeom prst="rect">
            <a:avLst/>
          </a:prstGeom>
          <a:noFill/>
        </p:spPr>
        <p:txBody>
          <a:bodyPr wrap="square">
            <a:spAutoFit/>
          </a:bodyPr>
          <a:lstStyle/>
          <a:p>
            <a:pPr lvl="0" algn="r" rtl="1">
              <a:lnSpc>
                <a:spcPct val="150000"/>
              </a:lnSpc>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5.  המחיר לצרכן בהכרח יעלה</a:t>
            </a: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a:t>
            </a:r>
            <a:endParaRPr lang="en-IL" sz="1800" b="1" dirty="0">
              <a:effectLst/>
              <a:latin typeface="Times New Roman" panose="02020603050405020304" pitchFamily="18" charset="0"/>
              <a:ea typeface="Times New Roman" panose="02020603050405020304" pitchFamily="18" charset="0"/>
            </a:endParaRPr>
          </a:p>
        </p:txBody>
      </p:sp>
      <p:cxnSp>
        <p:nvCxnSpPr>
          <p:cNvPr id="7" name="מחבר ישר 42">
            <a:extLst>
              <a:ext uri="{FF2B5EF4-FFF2-40B4-BE49-F238E27FC236}">
                <a16:creationId xmlns:a16="http://schemas.microsoft.com/office/drawing/2014/main" id="{EE076F59-CF3A-5858-379B-ED61362E68F8}"/>
              </a:ext>
            </a:extLst>
          </p:cNvPr>
          <p:cNvCxnSpPr>
            <a:cxnSpLocks/>
          </p:cNvCxnSpPr>
          <p:nvPr/>
        </p:nvCxnSpPr>
        <p:spPr>
          <a:xfrm>
            <a:off x="1846067" y="2634980"/>
            <a:ext cx="0" cy="3079089"/>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מחבר ישר 54">
            <a:extLst>
              <a:ext uri="{FF2B5EF4-FFF2-40B4-BE49-F238E27FC236}">
                <a16:creationId xmlns:a16="http://schemas.microsoft.com/office/drawing/2014/main" id="{2C6119B3-7D0D-5AF2-10C4-2B99D0763D3F}"/>
              </a:ext>
            </a:extLst>
          </p:cNvPr>
          <p:cNvCxnSpPr>
            <a:cxnSpLocks/>
          </p:cNvCxnSpPr>
          <p:nvPr/>
        </p:nvCxnSpPr>
        <p:spPr>
          <a:xfrm>
            <a:off x="1846860" y="5713275"/>
            <a:ext cx="3078273" cy="30959"/>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75DE46C-8E74-9F99-AFC8-9776D6947915}"/>
              </a:ext>
            </a:extLst>
          </p:cNvPr>
          <p:cNvCxnSpPr>
            <a:cxnSpLocks/>
          </p:cNvCxnSpPr>
          <p:nvPr/>
        </p:nvCxnSpPr>
        <p:spPr>
          <a:xfrm flipV="1">
            <a:off x="2170819" y="3097616"/>
            <a:ext cx="2103339" cy="2163211"/>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661B825C-26D9-DC33-891A-5C196C515DC8}"/>
              </a:ext>
            </a:extLst>
          </p:cNvPr>
          <p:cNvSpPr/>
          <p:nvPr/>
        </p:nvSpPr>
        <p:spPr>
          <a:xfrm>
            <a:off x="2952924" y="4169387"/>
            <a:ext cx="308232" cy="2837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cxnSp>
        <p:nvCxnSpPr>
          <p:cNvPr id="11" name="Straight Connector 10">
            <a:extLst>
              <a:ext uri="{FF2B5EF4-FFF2-40B4-BE49-F238E27FC236}">
                <a16:creationId xmlns:a16="http://schemas.microsoft.com/office/drawing/2014/main" id="{30E51B47-0143-B4B6-98AD-44E821CDEC49}"/>
              </a:ext>
            </a:extLst>
          </p:cNvPr>
          <p:cNvCxnSpPr>
            <a:cxnSpLocks/>
            <a:endCxn id="13" idx="3"/>
          </p:cNvCxnSpPr>
          <p:nvPr/>
        </p:nvCxnSpPr>
        <p:spPr>
          <a:xfrm flipH="1">
            <a:off x="1843536" y="4323759"/>
            <a:ext cx="124930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9416D05-C1D9-CD8C-0703-B075B48AB350}"/>
              </a:ext>
            </a:extLst>
          </p:cNvPr>
          <p:cNvCxnSpPr>
            <a:cxnSpLocks/>
          </p:cNvCxnSpPr>
          <p:nvPr/>
        </p:nvCxnSpPr>
        <p:spPr>
          <a:xfrm>
            <a:off x="3092838" y="4363887"/>
            <a:ext cx="0" cy="1310716"/>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AB121AB-E0FF-CAED-3274-E271FF990AAC}"/>
              </a:ext>
            </a:extLst>
          </p:cNvPr>
          <p:cNvSpPr txBox="1"/>
          <p:nvPr/>
        </p:nvSpPr>
        <p:spPr>
          <a:xfrm>
            <a:off x="1424832" y="4139093"/>
            <a:ext cx="418704" cy="369332"/>
          </a:xfrm>
          <a:prstGeom prst="rect">
            <a:avLst/>
          </a:prstGeom>
          <a:noFill/>
        </p:spPr>
        <p:txBody>
          <a:bodyPr wrap="none" rtlCol="0">
            <a:spAutoFit/>
          </a:bodyPr>
          <a:lstStyle/>
          <a:p>
            <a:r>
              <a:rPr lang="en-US" dirty="0"/>
              <a:t>50</a:t>
            </a:r>
          </a:p>
        </p:txBody>
      </p:sp>
      <p:cxnSp>
        <p:nvCxnSpPr>
          <p:cNvPr id="14" name="Straight Connector 13">
            <a:extLst>
              <a:ext uri="{FF2B5EF4-FFF2-40B4-BE49-F238E27FC236}">
                <a16:creationId xmlns:a16="http://schemas.microsoft.com/office/drawing/2014/main" id="{60B2F479-C44A-53E2-2779-15EB6643D49F}"/>
              </a:ext>
            </a:extLst>
          </p:cNvPr>
          <p:cNvCxnSpPr>
            <a:cxnSpLocks/>
          </p:cNvCxnSpPr>
          <p:nvPr/>
        </p:nvCxnSpPr>
        <p:spPr>
          <a:xfrm flipH="1" flipV="1">
            <a:off x="1843536" y="3004312"/>
            <a:ext cx="2344430" cy="250243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03B4A590-DDA7-8569-3450-2B72750AF507}"/>
              </a:ext>
            </a:extLst>
          </p:cNvPr>
          <p:cNvSpPr txBox="1"/>
          <p:nvPr/>
        </p:nvSpPr>
        <p:spPr>
          <a:xfrm>
            <a:off x="4274158" y="2847694"/>
            <a:ext cx="290464" cy="369332"/>
          </a:xfrm>
          <a:prstGeom prst="rect">
            <a:avLst/>
          </a:prstGeom>
          <a:noFill/>
        </p:spPr>
        <p:txBody>
          <a:bodyPr wrap="none" rtlCol="0">
            <a:spAutoFit/>
          </a:bodyPr>
          <a:lstStyle/>
          <a:p>
            <a:r>
              <a:rPr lang="en-US" dirty="0"/>
              <a:t>S</a:t>
            </a:r>
          </a:p>
        </p:txBody>
      </p:sp>
      <p:sp>
        <p:nvSpPr>
          <p:cNvPr id="16" name="TextBox 15">
            <a:extLst>
              <a:ext uri="{FF2B5EF4-FFF2-40B4-BE49-F238E27FC236}">
                <a16:creationId xmlns:a16="http://schemas.microsoft.com/office/drawing/2014/main" id="{D6313642-2FDA-E580-2E1F-2878782B9B52}"/>
              </a:ext>
            </a:extLst>
          </p:cNvPr>
          <p:cNvSpPr txBox="1"/>
          <p:nvPr/>
        </p:nvSpPr>
        <p:spPr>
          <a:xfrm>
            <a:off x="4053059" y="5425345"/>
            <a:ext cx="426720" cy="400110"/>
          </a:xfrm>
          <a:prstGeom prst="rect">
            <a:avLst/>
          </a:prstGeom>
          <a:noFill/>
        </p:spPr>
        <p:txBody>
          <a:bodyPr wrap="none" rtlCol="0">
            <a:spAutoFit/>
          </a:bodyPr>
          <a:lstStyle/>
          <a:p>
            <a:r>
              <a:rPr lang="en-US" sz="2000" dirty="0"/>
              <a:t>D</a:t>
            </a:r>
            <a:r>
              <a:rPr lang="he-IL" sz="1200" dirty="0"/>
              <a:t>0</a:t>
            </a:r>
            <a:endParaRPr lang="en-US" dirty="0"/>
          </a:p>
        </p:txBody>
      </p:sp>
      <p:sp>
        <p:nvSpPr>
          <p:cNvPr id="17" name="TextBox 16">
            <a:extLst>
              <a:ext uri="{FF2B5EF4-FFF2-40B4-BE49-F238E27FC236}">
                <a16:creationId xmlns:a16="http://schemas.microsoft.com/office/drawing/2014/main" id="{65222603-8176-9AB2-6532-B743E61AFD05}"/>
              </a:ext>
            </a:extLst>
          </p:cNvPr>
          <p:cNvSpPr txBox="1"/>
          <p:nvPr/>
        </p:nvSpPr>
        <p:spPr>
          <a:xfrm flipH="1">
            <a:off x="4721434" y="5788090"/>
            <a:ext cx="249455" cy="369332"/>
          </a:xfrm>
          <a:prstGeom prst="rect">
            <a:avLst/>
          </a:prstGeom>
          <a:noFill/>
        </p:spPr>
        <p:txBody>
          <a:bodyPr wrap="square" rtlCol="0">
            <a:spAutoFit/>
          </a:bodyPr>
          <a:lstStyle/>
          <a:p>
            <a:r>
              <a:rPr lang="en-US" dirty="0"/>
              <a:t>Q</a:t>
            </a:r>
          </a:p>
        </p:txBody>
      </p:sp>
      <p:sp>
        <p:nvSpPr>
          <p:cNvPr id="18" name="TextBox 17">
            <a:extLst>
              <a:ext uri="{FF2B5EF4-FFF2-40B4-BE49-F238E27FC236}">
                <a16:creationId xmlns:a16="http://schemas.microsoft.com/office/drawing/2014/main" id="{BE1EE412-2AC9-9145-7F78-431F3D409F7C}"/>
              </a:ext>
            </a:extLst>
          </p:cNvPr>
          <p:cNvSpPr txBox="1"/>
          <p:nvPr/>
        </p:nvSpPr>
        <p:spPr>
          <a:xfrm flipH="1">
            <a:off x="1502824" y="2634980"/>
            <a:ext cx="265252" cy="369332"/>
          </a:xfrm>
          <a:prstGeom prst="rect">
            <a:avLst/>
          </a:prstGeom>
          <a:noFill/>
        </p:spPr>
        <p:txBody>
          <a:bodyPr wrap="square" rtlCol="0">
            <a:spAutoFit/>
          </a:bodyPr>
          <a:lstStyle/>
          <a:p>
            <a:r>
              <a:rPr lang="en-US" dirty="0"/>
              <a:t>P</a:t>
            </a:r>
          </a:p>
        </p:txBody>
      </p:sp>
      <p:sp>
        <p:nvSpPr>
          <p:cNvPr id="21" name="TextBox 20">
            <a:extLst>
              <a:ext uri="{FF2B5EF4-FFF2-40B4-BE49-F238E27FC236}">
                <a16:creationId xmlns:a16="http://schemas.microsoft.com/office/drawing/2014/main" id="{05C03F2A-5EA7-BD9F-7087-984CE8BE9F06}"/>
              </a:ext>
            </a:extLst>
          </p:cNvPr>
          <p:cNvSpPr txBox="1"/>
          <p:nvPr/>
        </p:nvSpPr>
        <p:spPr>
          <a:xfrm>
            <a:off x="2883486" y="5768613"/>
            <a:ext cx="418704" cy="369332"/>
          </a:xfrm>
          <a:prstGeom prst="rect">
            <a:avLst/>
          </a:prstGeom>
          <a:noFill/>
        </p:spPr>
        <p:txBody>
          <a:bodyPr wrap="none" rtlCol="0">
            <a:spAutoFit/>
          </a:bodyPr>
          <a:lstStyle/>
          <a:p>
            <a:r>
              <a:rPr lang="en-US" dirty="0"/>
              <a:t>50</a:t>
            </a:r>
          </a:p>
        </p:txBody>
      </p:sp>
      <p:sp>
        <p:nvSpPr>
          <p:cNvPr id="22" name="TextBox 21">
            <a:extLst>
              <a:ext uri="{FF2B5EF4-FFF2-40B4-BE49-F238E27FC236}">
                <a16:creationId xmlns:a16="http://schemas.microsoft.com/office/drawing/2014/main" id="{9A234D88-90A8-2E63-66C0-77CF25E417FE}"/>
              </a:ext>
            </a:extLst>
          </p:cNvPr>
          <p:cNvSpPr txBox="1"/>
          <p:nvPr/>
        </p:nvSpPr>
        <p:spPr>
          <a:xfrm>
            <a:off x="7242323" y="1794666"/>
            <a:ext cx="1647738" cy="369332"/>
          </a:xfrm>
          <a:prstGeom prst="rect">
            <a:avLst/>
          </a:prstGeom>
          <a:solidFill>
            <a:schemeClr val="bg1">
              <a:lumMod val="95000"/>
            </a:schemeClr>
          </a:solidFill>
        </p:spPr>
        <p:txBody>
          <a:bodyPr wrap="square" rtlCol="0">
            <a:spAutoFit/>
          </a:bodyPr>
          <a:lstStyle/>
          <a:p>
            <a:pPr algn="r" rtl="1"/>
            <a:r>
              <a:rPr lang="he-IL" dirty="0"/>
              <a:t>במצב המוצא:</a:t>
            </a:r>
            <a:endParaRPr lang="en-IL" dirty="0"/>
          </a:p>
        </p:txBody>
      </p:sp>
      <p:sp>
        <p:nvSpPr>
          <p:cNvPr id="23" name="TextBox 22">
            <a:extLst>
              <a:ext uri="{FF2B5EF4-FFF2-40B4-BE49-F238E27FC236}">
                <a16:creationId xmlns:a16="http://schemas.microsoft.com/office/drawing/2014/main" id="{CD914F10-1F8F-F3A4-9A01-562A632C48E1}"/>
              </a:ext>
            </a:extLst>
          </p:cNvPr>
          <p:cNvSpPr txBox="1"/>
          <p:nvPr/>
        </p:nvSpPr>
        <p:spPr>
          <a:xfrm>
            <a:off x="4680250" y="1794666"/>
            <a:ext cx="2446445" cy="707886"/>
          </a:xfrm>
          <a:prstGeom prst="rect">
            <a:avLst/>
          </a:prstGeom>
          <a:solidFill>
            <a:schemeClr val="bg1">
              <a:lumMod val="95000"/>
            </a:schemeClr>
          </a:solidFill>
        </p:spPr>
        <p:txBody>
          <a:bodyPr wrap="square" rtlCol="0">
            <a:spAutoFit/>
          </a:bodyPr>
          <a:lstStyle/>
          <a:p>
            <a:pPr rtl="1"/>
            <a:r>
              <a:rPr lang="en-US" sz="2000" dirty="0"/>
              <a:t>P=Q=100-Q </a:t>
            </a:r>
            <a:r>
              <a:rPr lang="en-US" sz="2000" dirty="0">
                <a:sym typeface="Wingdings" panose="05000000000000000000" pitchFamily="2" charset="2"/>
              </a:rPr>
              <a:t></a:t>
            </a:r>
          </a:p>
          <a:p>
            <a:pPr rtl="1"/>
            <a:r>
              <a:rPr lang="en-US" sz="2000" dirty="0">
                <a:sym typeface="Wingdings" panose="05000000000000000000" pitchFamily="2" charset="2"/>
              </a:rPr>
              <a:t>Q=P=50</a:t>
            </a:r>
          </a:p>
        </p:txBody>
      </p:sp>
      <p:cxnSp>
        <p:nvCxnSpPr>
          <p:cNvPr id="24" name="Straight Connector 23">
            <a:extLst>
              <a:ext uri="{FF2B5EF4-FFF2-40B4-BE49-F238E27FC236}">
                <a16:creationId xmlns:a16="http://schemas.microsoft.com/office/drawing/2014/main" id="{4D1197F1-A089-53CD-859E-61DE07645950}"/>
              </a:ext>
            </a:extLst>
          </p:cNvPr>
          <p:cNvCxnSpPr>
            <a:cxnSpLocks/>
          </p:cNvCxnSpPr>
          <p:nvPr/>
        </p:nvCxnSpPr>
        <p:spPr>
          <a:xfrm flipV="1">
            <a:off x="2066913" y="2814178"/>
            <a:ext cx="1986146" cy="2042008"/>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664CD45-CA0A-9792-3625-41B79BBD4629}"/>
              </a:ext>
            </a:extLst>
          </p:cNvPr>
          <p:cNvCxnSpPr>
            <a:cxnSpLocks/>
          </p:cNvCxnSpPr>
          <p:nvPr/>
        </p:nvCxnSpPr>
        <p:spPr>
          <a:xfrm flipH="1">
            <a:off x="1768076" y="4023076"/>
            <a:ext cx="1089456"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836B95-8B8A-F6A2-5C81-44FCB3A0EAF5}"/>
              </a:ext>
            </a:extLst>
          </p:cNvPr>
          <p:cNvCxnSpPr>
            <a:cxnSpLocks/>
          </p:cNvCxnSpPr>
          <p:nvPr/>
        </p:nvCxnSpPr>
        <p:spPr>
          <a:xfrm>
            <a:off x="2855999" y="4041399"/>
            <a:ext cx="0" cy="1702835"/>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F688F98A-5406-E515-E80C-DDF48FBB7596}"/>
              </a:ext>
            </a:extLst>
          </p:cNvPr>
          <p:cNvSpPr txBox="1"/>
          <p:nvPr/>
        </p:nvSpPr>
        <p:spPr>
          <a:xfrm>
            <a:off x="3998186" y="2571529"/>
            <a:ext cx="431118" cy="369332"/>
          </a:xfrm>
          <a:prstGeom prst="rect">
            <a:avLst/>
          </a:prstGeom>
          <a:noFill/>
        </p:spPr>
        <p:txBody>
          <a:bodyPr wrap="square" rtlCol="0">
            <a:spAutoFit/>
          </a:bodyPr>
          <a:lstStyle/>
          <a:p>
            <a:r>
              <a:rPr lang="en-US" dirty="0"/>
              <a:t>S</a:t>
            </a:r>
            <a:r>
              <a:rPr lang="en-US" sz="1200" dirty="0"/>
              <a:t>1</a:t>
            </a:r>
            <a:endParaRPr lang="en-US" dirty="0"/>
          </a:p>
        </p:txBody>
      </p:sp>
      <p:sp>
        <p:nvSpPr>
          <p:cNvPr id="30" name="Oval 29">
            <a:extLst>
              <a:ext uri="{FF2B5EF4-FFF2-40B4-BE49-F238E27FC236}">
                <a16:creationId xmlns:a16="http://schemas.microsoft.com/office/drawing/2014/main" id="{C9BAB1AC-00EC-BB28-397A-B816A6860D07}"/>
              </a:ext>
            </a:extLst>
          </p:cNvPr>
          <p:cNvSpPr/>
          <p:nvPr/>
        </p:nvSpPr>
        <p:spPr>
          <a:xfrm>
            <a:off x="2661111" y="3934249"/>
            <a:ext cx="308232" cy="283769"/>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AF8C0CDC-DA53-ACCF-62C7-49D690F2FBCD}"/>
                  </a:ext>
                </a:extLst>
              </p:cNvPr>
              <p:cNvSpPr txBox="1"/>
              <p:nvPr/>
            </p:nvSpPr>
            <p:spPr>
              <a:xfrm>
                <a:off x="1039771" y="3706782"/>
                <a:ext cx="754305" cy="454933"/>
              </a:xfrm>
              <a:prstGeom prst="rect">
                <a:avLst/>
              </a:prstGeom>
              <a:solidFill>
                <a:schemeClr val="accent2">
                  <a:lumMod val="20000"/>
                  <a:lumOff val="80000"/>
                </a:schemeClr>
              </a:solidFill>
              <a:ln>
                <a:solidFill>
                  <a:schemeClr val="bg1"/>
                </a:solidFill>
              </a:ln>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r>
                        <a:rPr lang="en-US" sz="1400" i="1" dirty="0" smtClean="0">
                          <a:latin typeface="Cambria Math" panose="02040503050406030204" pitchFamily="18" charset="0"/>
                        </a:rPr>
                        <m:t>𝑃</m:t>
                      </m:r>
                      <m:r>
                        <a:rPr lang="he-IL" sz="1400" b="0" i="1" dirty="0" smtClean="0">
                          <a:latin typeface="Cambria Math" panose="02040503050406030204" pitchFamily="18" charset="0"/>
                        </a:rPr>
                        <m:t>צרכן</m:t>
                      </m:r>
                    </m:oMath>
                  </m:oMathPara>
                </a14:m>
                <a:endParaRPr lang="en-IL" sz="1400" dirty="0"/>
              </a:p>
            </p:txBody>
          </p:sp>
        </mc:Choice>
        <mc:Fallback xmlns="">
          <p:sp>
            <p:nvSpPr>
              <p:cNvPr id="31" name="TextBox 30">
                <a:extLst>
                  <a:ext uri="{FF2B5EF4-FFF2-40B4-BE49-F238E27FC236}">
                    <a16:creationId xmlns:a16="http://schemas.microsoft.com/office/drawing/2014/main" id="{AF8C0CDC-DA53-ACCF-62C7-49D690F2FBCD}"/>
                  </a:ext>
                </a:extLst>
              </p:cNvPr>
              <p:cNvSpPr txBox="1">
                <a:spLocks noRot="1" noChangeAspect="1" noMove="1" noResize="1" noEditPoints="1" noAdjustHandles="1" noChangeArrowheads="1" noChangeShapeType="1" noTextEdit="1"/>
              </p:cNvSpPr>
              <p:nvPr/>
            </p:nvSpPr>
            <p:spPr>
              <a:xfrm>
                <a:off x="1039771" y="3706782"/>
                <a:ext cx="754305" cy="454933"/>
              </a:xfrm>
              <a:prstGeom prst="rect">
                <a:avLst/>
              </a:prstGeom>
              <a:blipFill>
                <a:blip r:embed="rId2"/>
                <a:stretch>
                  <a:fillRect/>
                </a:stretch>
              </a:blipFill>
              <a:ln>
                <a:solidFill>
                  <a:schemeClr val="bg1"/>
                </a:solidFill>
              </a:ln>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6BFEBEEE-6EA3-DE53-1298-6CDCC89D634B}"/>
                  </a:ext>
                </a:extLst>
              </p:cNvPr>
              <p:cNvSpPr txBox="1"/>
              <p:nvPr/>
            </p:nvSpPr>
            <p:spPr>
              <a:xfrm>
                <a:off x="1168807" y="4501636"/>
                <a:ext cx="565025" cy="403124"/>
              </a:xfrm>
              <a:prstGeom prst="rect">
                <a:avLst/>
              </a:prstGeom>
              <a:solidFill>
                <a:schemeClr val="accent4">
                  <a:lumMod val="20000"/>
                  <a:lumOff val="80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dirty="0" smtClean="0">
                          <a:latin typeface="Cambria Math" panose="02040503050406030204" pitchFamily="18" charset="0"/>
                        </a:rPr>
                        <m:t>𝑃</m:t>
                      </m:r>
                      <m:r>
                        <a:rPr lang="he-IL" sz="1800" i="1" dirty="0" smtClean="0">
                          <a:latin typeface="Cambria Math" panose="02040503050406030204" pitchFamily="18" charset="0"/>
                        </a:rPr>
                        <m:t>יצרן</m:t>
                      </m:r>
                    </m:oMath>
                  </m:oMathPara>
                </a14:m>
                <a:endParaRPr lang="en-IL" dirty="0"/>
              </a:p>
            </p:txBody>
          </p:sp>
        </mc:Choice>
        <mc:Fallback xmlns="">
          <p:sp>
            <p:nvSpPr>
              <p:cNvPr id="32" name="TextBox 31">
                <a:extLst>
                  <a:ext uri="{FF2B5EF4-FFF2-40B4-BE49-F238E27FC236}">
                    <a16:creationId xmlns:a16="http://schemas.microsoft.com/office/drawing/2014/main" id="{6BFEBEEE-6EA3-DE53-1298-6CDCC89D634B}"/>
                  </a:ext>
                </a:extLst>
              </p:cNvPr>
              <p:cNvSpPr txBox="1">
                <a:spLocks noRot="1" noChangeAspect="1" noMove="1" noResize="1" noEditPoints="1" noAdjustHandles="1" noChangeArrowheads="1" noChangeShapeType="1" noTextEdit="1"/>
              </p:cNvSpPr>
              <p:nvPr/>
            </p:nvSpPr>
            <p:spPr>
              <a:xfrm>
                <a:off x="1168807" y="4501636"/>
                <a:ext cx="565025" cy="403124"/>
              </a:xfrm>
              <a:prstGeom prst="rect">
                <a:avLst/>
              </a:prstGeom>
              <a:blipFill>
                <a:blip r:embed="rId3"/>
                <a:stretch>
                  <a:fillRect r="-26087" b="-20896"/>
                </a:stretch>
              </a:blipFill>
            </p:spPr>
            <p:txBody>
              <a:bodyPr/>
              <a:lstStyle/>
              <a:p>
                <a:r>
                  <a:rPr lang="en-IL">
                    <a:noFill/>
                  </a:rPr>
                  <a:t> </a:t>
                </a:r>
              </a:p>
            </p:txBody>
          </p:sp>
        </mc:Fallback>
      </mc:AlternateContent>
      <p:cxnSp>
        <p:nvCxnSpPr>
          <p:cNvPr id="33" name="Straight Connector 32">
            <a:extLst>
              <a:ext uri="{FF2B5EF4-FFF2-40B4-BE49-F238E27FC236}">
                <a16:creationId xmlns:a16="http://schemas.microsoft.com/office/drawing/2014/main" id="{8AB43F17-8282-741C-8340-BF1A43CF0715}"/>
              </a:ext>
            </a:extLst>
          </p:cNvPr>
          <p:cNvCxnSpPr>
            <a:cxnSpLocks/>
          </p:cNvCxnSpPr>
          <p:nvPr/>
        </p:nvCxnSpPr>
        <p:spPr>
          <a:xfrm flipH="1">
            <a:off x="1843536" y="4586537"/>
            <a:ext cx="1012463"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35" name="Rectangle: Rounded Corners 34">
            <a:extLst>
              <a:ext uri="{FF2B5EF4-FFF2-40B4-BE49-F238E27FC236}">
                <a16:creationId xmlns:a16="http://schemas.microsoft.com/office/drawing/2014/main" id="{B67E9984-3347-F110-EBAD-E14F71FA87A2}"/>
              </a:ext>
            </a:extLst>
          </p:cNvPr>
          <p:cNvSpPr/>
          <p:nvPr/>
        </p:nvSpPr>
        <p:spPr>
          <a:xfrm>
            <a:off x="8439325" y="4179221"/>
            <a:ext cx="3403661" cy="551548"/>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 name="TextBox 2">
            <a:extLst>
              <a:ext uri="{FF2B5EF4-FFF2-40B4-BE49-F238E27FC236}">
                <a16:creationId xmlns:a16="http://schemas.microsoft.com/office/drawing/2014/main" id="{F5192A29-B5A4-1198-2F74-6CBBAA833454}"/>
              </a:ext>
            </a:extLst>
          </p:cNvPr>
          <p:cNvSpPr txBox="1"/>
          <p:nvPr/>
        </p:nvSpPr>
        <p:spPr>
          <a:xfrm>
            <a:off x="5005780" y="2847694"/>
            <a:ext cx="3415219" cy="3416320"/>
          </a:xfrm>
          <a:prstGeom prst="rect">
            <a:avLst/>
          </a:prstGeom>
          <a:solidFill>
            <a:schemeClr val="accent2">
              <a:lumMod val="20000"/>
              <a:lumOff val="80000"/>
            </a:schemeClr>
          </a:solidFill>
        </p:spPr>
        <p:txBody>
          <a:bodyPr wrap="square" rtlCol="0">
            <a:spAutoFit/>
          </a:bodyPr>
          <a:lstStyle/>
          <a:p>
            <a:pPr algn="r" rtl="1"/>
            <a:r>
              <a:rPr lang="he-IL" dirty="0"/>
              <a:t>הסבר:</a:t>
            </a:r>
          </a:p>
          <a:p>
            <a:pPr marL="285750" indent="-285750" algn="r" rtl="1">
              <a:buFont typeface="Arial" panose="020B0604020202020204" pitchFamily="34" charset="0"/>
              <a:buChar char="•"/>
            </a:pPr>
            <a:r>
              <a:rPr lang="he-IL" dirty="0"/>
              <a:t>אם המוצר ניטראלי, המחיר לצרכן יעלה מ</a:t>
            </a:r>
            <a:r>
              <a:rPr lang="en-US" dirty="0"/>
              <a:t>Pa</a:t>
            </a:r>
            <a:r>
              <a:rPr lang="he-IL" dirty="0"/>
              <a:t> ל-</a:t>
            </a:r>
            <a:r>
              <a:rPr lang="en-US" dirty="0"/>
              <a:t>P</a:t>
            </a:r>
            <a:r>
              <a:rPr lang="en-US" sz="1600" b="1" dirty="0">
                <a:solidFill>
                  <a:srgbClr val="C00000"/>
                </a:solidFill>
              </a:rPr>
              <a:t>B</a:t>
            </a:r>
            <a:r>
              <a:rPr lang="en-US" dirty="0"/>
              <a:t> </a:t>
            </a:r>
            <a:br>
              <a:rPr lang="en-US" dirty="0"/>
            </a:br>
            <a:endParaRPr lang="en-US" dirty="0"/>
          </a:p>
          <a:p>
            <a:pPr marL="285750" indent="-285750" algn="r" rtl="1">
              <a:buFont typeface="Arial" panose="020B0604020202020204" pitchFamily="34" charset="0"/>
              <a:buChar char="•"/>
            </a:pPr>
            <a:r>
              <a:rPr lang="he-IL" dirty="0"/>
              <a:t>אם המוצר נורמלי- המחיר לצרכן יעלה עוד ויהיה גבוה מ-</a:t>
            </a:r>
            <a:r>
              <a:rPr lang="en-US" dirty="0"/>
              <a:t> P</a:t>
            </a:r>
            <a:r>
              <a:rPr lang="en-US" b="1" dirty="0">
                <a:solidFill>
                  <a:srgbClr val="C00000"/>
                </a:solidFill>
              </a:rPr>
              <a:t>B</a:t>
            </a:r>
            <a:br>
              <a:rPr lang="en-US" b="1" dirty="0">
                <a:solidFill>
                  <a:srgbClr val="C00000"/>
                </a:solidFill>
              </a:rPr>
            </a:br>
            <a:endParaRPr lang="he-IL" b="1" dirty="0">
              <a:solidFill>
                <a:srgbClr val="C00000"/>
              </a:solidFill>
            </a:endParaRPr>
          </a:p>
          <a:p>
            <a:pPr marL="285750" indent="-285750" algn="r" rtl="1">
              <a:buFont typeface="Arial" panose="020B0604020202020204" pitchFamily="34" charset="0"/>
              <a:buChar char="•"/>
            </a:pPr>
            <a:r>
              <a:rPr lang="he-IL" dirty="0"/>
              <a:t>גם אם המוצר נחות, המחיר לצרכן חייב לעלות (ביחס ל</a:t>
            </a:r>
            <a:r>
              <a:rPr lang="en-US" dirty="0"/>
              <a:t>PA</a:t>
            </a:r>
            <a:r>
              <a:rPr lang="he-IL" dirty="0"/>
              <a:t>) כך שהנתון ''הוצאת הצרכנים על בננות עלתה'' יתקיים שכן הכמות ירדה אז המחיר יעלה. </a:t>
            </a:r>
            <a:endParaRPr lang="en-IL" dirty="0"/>
          </a:p>
        </p:txBody>
      </p:sp>
      <p:sp>
        <p:nvSpPr>
          <p:cNvPr id="19" name="TextBox 18">
            <a:extLst>
              <a:ext uri="{FF2B5EF4-FFF2-40B4-BE49-F238E27FC236}">
                <a16:creationId xmlns:a16="http://schemas.microsoft.com/office/drawing/2014/main" id="{17EED8DC-CE83-D647-FA8E-3D31BFAAF3A7}"/>
              </a:ext>
            </a:extLst>
          </p:cNvPr>
          <p:cNvSpPr txBox="1"/>
          <p:nvPr/>
        </p:nvSpPr>
        <p:spPr>
          <a:xfrm>
            <a:off x="8501646" y="5238379"/>
            <a:ext cx="3415219" cy="923330"/>
          </a:xfrm>
          <a:prstGeom prst="rect">
            <a:avLst/>
          </a:prstGeom>
          <a:solidFill>
            <a:schemeClr val="accent2">
              <a:lumMod val="20000"/>
              <a:lumOff val="80000"/>
            </a:schemeClr>
          </a:solidFill>
        </p:spPr>
        <p:txBody>
          <a:bodyPr wrap="square" rtlCol="0">
            <a:spAutoFit/>
          </a:bodyPr>
          <a:lstStyle/>
          <a:p>
            <a:pPr algn="r" rtl="1"/>
            <a:r>
              <a:rPr lang="he-IL" dirty="0"/>
              <a:t>כמו כן, לא ניתן לקבוע באופן חד משמעי מה יקרה לעודף הצרכנים ולעודף היצרנים</a:t>
            </a:r>
            <a:endParaRPr lang="en-IL" dirty="0"/>
          </a:p>
        </p:txBody>
      </p:sp>
    </p:spTree>
    <p:extLst>
      <p:ext uri="{BB962C8B-B14F-4D97-AF65-F5344CB8AC3E}">
        <p14:creationId xmlns:p14="http://schemas.microsoft.com/office/powerpoint/2010/main" val="1037546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arn(inVertical)">
                                      <p:cBhvr>
                                        <p:cTn id="17" dur="500"/>
                                        <p:tgtEl>
                                          <p:spTgt spid="11"/>
                                        </p:tgtEl>
                                      </p:cBhvr>
                                    </p:animEffect>
                                  </p:childTnLst>
                                </p:cTn>
                              </p:par>
                              <p:par>
                                <p:cTn id="18" presetID="16" presetClass="entr" presetSubtype="21"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barn(inVertical)">
                                      <p:cBhvr>
                                        <p:cTn id="20" dur="500"/>
                                        <p:tgtEl>
                                          <p:spTgt spid="12"/>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barn(inVertical)">
                                      <p:cBhvr>
                                        <p:cTn id="23" dur="500"/>
                                        <p:tgtEl>
                                          <p:spTgt spid="10"/>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barn(inVertical)">
                                      <p:cBhvr>
                                        <p:cTn id="26" dur="500"/>
                                        <p:tgtEl>
                                          <p:spTgt spid="13"/>
                                        </p:tgtEl>
                                      </p:cBhvr>
                                    </p:animEffect>
                                  </p:childTnLst>
                                </p:cTn>
                              </p:par>
                              <p:par>
                                <p:cTn id="27" presetID="16" presetClass="entr" presetSubtype="21"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barn(inVertical)">
                                      <p:cBhvr>
                                        <p:cTn id="29" dur="500"/>
                                        <p:tgtEl>
                                          <p:spTgt spid="21"/>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24"/>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25"/>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26"/>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27"/>
                                        </p:tgtEl>
                                        <p:attrNameLst>
                                          <p:attrName>style.visibility</p:attrName>
                                        </p:attrNameLst>
                                      </p:cBhvr>
                                      <p:to>
                                        <p:strVal val="visible"/>
                                      </p:to>
                                    </p:set>
                                  </p:childTnLst>
                                </p:cTn>
                              </p:par>
                              <p:par>
                                <p:cTn id="42" presetID="16" presetClass="entr" presetSubtype="21" fill="hold" grpId="0" nodeType="withEffect">
                                  <p:stCondLst>
                                    <p:cond delay="0"/>
                                  </p:stCondLst>
                                  <p:childTnLst>
                                    <p:set>
                                      <p:cBhvr>
                                        <p:cTn id="43" dur="1" fill="hold">
                                          <p:stCondLst>
                                            <p:cond delay="0"/>
                                          </p:stCondLst>
                                        </p:cTn>
                                        <p:tgtEl>
                                          <p:spTgt spid="30"/>
                                        </p:tgtEl>
                                        <p:attrNameLst>
                                          <p:attrName>style.visibility</p:attrName>
                                        </p:attrNameLst>
                                      </p:cBhvr>
                                      <p:to>
                                        <p:strVal val="visible"/>
                                      </p:to>
                                    </p:set>
                                    <p:animEffect transition="in" filter="barn(inVertical)">
                                      <p:cBhvr>
                                        <p:cTn id="44" dur="500"/>
                                        <p:tgtEl>
                                          <p:spTgt spid="30"/>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500"/>
                                        <p:tgtEl>
                                          <p:spTgt spid="31"/>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2"/>
                                        </p:tgtEl>
                                        <p:attrNameLst>
                                          <p:attrName>style.visibility</p:attrName>
                                        </p:attrNameLst>
                                      </p:cBhvr>
                                      <p:to>
                                        <p:strVal val="visible"/>
                                      </p:to>
                                    </p:set>
                                    <p:animEffect transition="in" filter="fade">
                                      <p:cBhvr>
                                        <p:cTn id="54" dur="500"/>
                                        <p:tgtEl>
                                          <p:spTgt spid="32"/>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5"/>
                                        </p:tgtEl>
                                        <p:attrNameLst>
                                          <p:attrName>style.visibility</p:attrName>
                                        </p:attrNameLst>
                                      </p:cBhvr>
                                      <p:to>
                                        <p:strVal val="visible"/>
                                      </p:to>
                                    </p:set>
                                    <p:animEffect transition="in" filter="fade">
                                      <p:cBhvr>
                                        <p:cTn id="63" dur="1000"/>
                                        <p:tgtEl>
                                          <p:spTgt spid="35"/>
                                        </p:tgtEl>
                                      </p:cBhvr>
                                    </p:animEffect>
                                    <p:anim calcmode="lin" valueType="num">
                                      <p:cBhvr>
                                        <p:cTn id="64" dur="1000" fill="hold"/>
                                        <p:tgtEl>
                                          <p:spTgt spid="35"/>
                                        </p:tgtEl>
                                        <p:attrNameLst>
                                          <p:attrName>ppt_x</p:attrName>
                                        </p:attrNameLst>
                                      </p:cBhvr>
                                      <p:tavLst>
                                        <p:tav tm="0">
                                          <p:val>
                                            <p:strVal val="#ppt_x"/>
                                          </p:val>
                                        </p:tav>
                                        <p:tav tm="100000">
                                          <p:val>
                                            <p:strVal val="#ppt_x"/>
                                          </p:val>
                                        </p:tav>
                                      </p:tavLst>
                                    </p:anim>
                                    <p:anim calcmode="lin" valueType="num">
                                      <p:cBhvr>
                                        <p:cTn id="65"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3"/>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p:bldP spid="21" grpId="0"/>
      <p:bldP spid="22" grpId="0" animBg="1"/>
      <p:bldP spid="23" grpId="0" animBg="1"/>
      <p:bldP spid="27" grpId="0"/>
      <p:bldP spid="30" grpId="0" animBg="1"/>
      <p:bldP spid="31" grpId="0" animBg="1"/>
      <p:bldP spid="32" grpId="0" animBg="1"/>
      <p:bldP spid="35" grpId="0" animBg="1"/>
      <p:bldP spid="3" grpId="0" animBg="1"/>
      <p:bldP spid="1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86CFC-21FB-6BDA-BA4E-162AB7AF68F4}"/>
              </a:ext>
            </a:extLst>
          </p:cNvPr>
          <p:cNvSpPr>
            <a:spLocks noGrp="1"/>
          </p:cNvSpPr>
          <p:nvPr>
            <p:ph type="title"/>
          </p:nvPr>
        </p:nvSpPr>
        <p:spPr>
          <a:xfrm>
            <a:off x="10452682" y="79899"/>
            <a:ext cx="1647738" cy="633165"/>
          </a:xfrm>
        </p:spPr>
        <p:txBody>
          <a:bodyPr>
            <a:normAutofit/>
          </a:bodyPr>
          <a:lstStyle/>
          <a:p>
            <a:pPr algn="r" rtl="1"/>
            <a:r>
              <a:rPr lang="he-IL" sz="3200" dirty="0"/>
              <a:t>שאלה 13 </a:t>
            </a:r>
            <a:endParaRPr lang="en-IL" sz="3200" dirty="0"/>
          </a:p>
        </p:txBody>
      </p:sp>
      <p:sp>
        <p:nvSpPr>
          <p:cNvPr id="6" name="TextBox 5">
            <a:extLst>
              <a:ext uri="{FF2B5EF4-FFF2-40B4-BE49-F238E27FC236}">
                <a16:creationId xmlns:a16="http://schemas.microsoft.com/office/drawing/2014/main" id="{07ABF466-7D17-BD3B-E74A-023612C0747D}"/>
              </a:ext>
            </a:extLst>
          </p:cNvPr>
          <p:cNvSpPr txBox="1"/>
          <p:nvPr/>
        </p:nvSpPr>
        <p:spPr>
          <a:xfrm>
            <a:off x="1267097" y="713064"/>
            <a:ext cx="10727487" cy="1288751"/>
          </a:xfrm>
          <a:prstGeom prst="rect">
            <a:avLst/>
          </a:prstGeom>
          <a:noFill/>
        </p:spPr>
        <p:txBody>
          <a:bodyPr wrap="square">
            <a:spAutoFit/>
          </a:bodyPr>
          <a:lstStyle/>
          <a:p>
            <a:pPr indent="-228600" algn="r" rtl="1">
              <a:lnSpc>
                <a:spcPct val="150000"/>
              </a:lnSpc>
              <a:tabLst>
                <a:tab pos="-228600" algn="l"/>
              </a:tabLst>
            </a:pP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השוק למוצר </a:t>
            </a:r>
            <a:r>
              <a:rPr lang="en-US" sz="1800" b="1" dirty="0">
                <a:effectLst/>
                <a:latin typeface="Arial" panose="020B0604020202020204" pitchFamily="34" charset="0"/>
                <a:ea typeface="Times New Roman" panose="02020603050405020304" pitchFamily="18" charset="0"/>
              </a:rPr>
              <a:t>X</a:t>
            </a: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 תחרותי. בשוק למוצר </a:t>
            </a:r>
            <a:r>
              <a:rPr lang="en-US" sz="1800" b="1" dirty="0">
                <a:effectLst/>
                <a:latin typeface="Arial" panose="020B0604020202020204" pitchFamily="34" charset="0"/>
                <a:ea typeface="Times New Roman" panose="02020603050405020304" pitchFamily="18" charset="0"/>
              </a:rPr>
              <a:t>X</a:t>
            </a: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 קיימים 100 יצרנים זהים ו- 100 צרכנים זהים, בשיווי המשקל במשק נמכרים 100 יחידות ממוצר </a:t>
            </a:r>
            <a:r>
              <a:rPr lang="en-US" sz="1800" b="1" dirty="0">
                <a:effectLst/>
                <a:latin typeface="Arial" panose="020B0604020202020204" pitchFamily="34" charset="0"/>
                <a:ea typeface="Times New Roman" panose="02020603050405020304" pitchFamily="18" charset="0"/>
              </a:rPr>
              <a:t>X</a:t>
            </a: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 כך שכל צרכן מקבל יחידה אחת מהמוצר וכל יצרן מייצר יחידה אחת. לשוק הצטרפה קבוצה של יצרנים המוכנים לייצר ביחד 100 יחידות בכל רמת מחיר, בנוסף כמות הצרכנים הזהים הוכפלה. כתוצאה מכך:</a:t>
            </a:r>
            <a:endParaRPr lang="en-IL" sz="1800" dirty="0">
              <a:effectLst/>
              <a:latin typeface="Times New Roman" panose="02020603050405020304" pitchFamily="18" charset="0"/>
              <a:ea typeface="Times New Roman" panose="02020603050405020304" pitchFamily="18" charset="0"/>
            </a:endParaRPr>
          </a:p>
        </p:txBody>
      </p:sp>
      <p:sp>
        <p:nvSpPr>
          <p:cNvPr id="7" name="Rectangle 2">
            <a:extLst>
              <a:ext uri="{FF2B5EF4-FFF2-40B4-BE49-F238E27FC236}">
                <a16:creationId xmlns:a16="http://schemas.microsoft.com/office/drawing/2014/main" id="{13EC44ED-BE4C-E044-3E51-1277648E0ABF}"/>
              </a:ext>
            </a:extLst>
          </p:cNvPr>
          <p:cNvSpPr>
            <a:spLocks noChangeArrowheads="1"/>
          </p:cNvSpPr>
          <p:nvPr/>
        </p:nvSpPr>
        <p:spPr bwMode="auto">
          <a:xfrm>
            <a:off x="5500468" y="2797781"/>
            <a:ext cx="6229978" cy="21197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הכמות המיוצרת גדלה והמחיר לא השתנה</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רווחי היצרנים הישנים השתנו.</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מחיר שווי המשקל עלה</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לא ניתן לדעת מה יקרה לכמות המיוצרת בשיווי משקל</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כל התשובות האחרות לא נכונות.</a:t>
            </a:r>
            <a:endParaRPr lang="en-IL"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9853404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86CFC-21FB-6BDA-BA4E-162AB7AF68F4}"/>
              </a:ext>
            </a:extLst>
          </p:cNvPr>
          <p:cNvSpPr>
            <a:spLocks noGrp="1"/>
          </p:cNvSpPr>
          <p:nvPr>
            <p:ph type="title"/>
          </p:nvPr>
        </p:nvSpPr>
        <p:spPr>
          <a:xfrm>
            <a:off x="10452682" y="79899"/>
            <a:ext cx="1647738" cy="633165"/>
          </a:xfrm>
        </p:spPr>
        <p:txBody>
          <a:bodyPr>
            <a:normAutofit/>
          </a:bodyPr>
          <a:lstStyle/>
          <a:p>
            <a:pPr algn="r" rtl="1"/>
            <a:r>
              <a:rPr lang="he-IL" sz="3200" dirty="0"/>
              <a:t>שאלה 13 </a:t>
            </a:r>
            <a:endParaRPr lang="en-IL" sz="3200" dirty="0"/>
          </a:p>
        </p:txBody>
      </p:sp>
      <p:sp>
        <p:nvSpPr>
          <p:cNvPr id="5" name="TextBox 4">
            <a:extLst>
              <a:ext uri="{FF2B5EF4-FFF2-40B4-BE49-F238E27FC236}">
                <a16:creationId xmlns:a16="http://schemas.microsoft.com/office/drawing/2014/main" id="{85958B51-5284-67B9-7EAF-F65DCAE71E98}"/>
              </a:ext>
            </a:extLst>
          </p:cNvPr>
          <p:cNvSpPr txBox="1"/>
          <p:nvPr/>
        </p:nvSpPr>
        <p:spPr>
          <a:xfrm>
            <a:off x="1267097" y="713064"/>
            <a:ext cx="10727487" cy="1288751"/>
          </a:xfrm>
          <a:prstGeom prst="rect">
            <a:avLst/>
          </a:prstGeom>
          <a:noFill/>
        </p:spPr>
        <p:txBody>
          <a:bodyPr wrap="square">
            <a:spAutoFit/>
          </a:bodyPr>
          <a:lstStyle/>
          <a:p>
            <a:pPr indent="-228600" algn="r" rtl="1">
              <a:lnSpc>
                <a:spcPct val="150000"/>
              </a:lnSpc>
              <a:tabLst>
                <a:tab pos="-228600" algn="l"/>
              </a:tabLst>
            </a:pP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השוק למוצר </a:t>
            </a:r>
            <a:r>
              <a:rPr lang="en-US" sz="1800" b="1" dirty="0">
                <a:effectLst/>
                <a:latin typeface="Arial" panose="020B0604020202020204" pitchFamily="34" charset="0"/>
                <a:ea typeface="Times New Roman" panose="02020603050405020304" pitchFamily="18" charset="0"/>
              </a:rPr>
              <a:t>X</a:t>
            </a: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 תחרותי. בשוק למוצר </a:t>
            </a:r>
            <a:r>
              <a:rPr lang="en-US" sz="1800" b="1" dirty="0">
                <a:effectLst/>
                <a:latin typeface="Arial" panose="020B0604020202020204" pitchFamily="34" charset="0"/>
                <a:ea typeface="Times New Roman" panose="02020603050405020304" pitchFamily="18" charset="0"/>
              </a:rPr>
              <a:t>X</a:t>
            </a: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 קיימים 100 יצרנים זהים ו- 100 צרכנים זהים, בשיווי המשקל במשק נמכרים 100 יחידות ממוצר </a:t>
            </a:r>
            <a:r>
              <a:rPr lang="en-US" sz="1800" b="1" dirty="0">
                <a:effectLst/>
                <a:latin typeface="Arial" panose="020B0604020202020204" pitchFamily="34" charset="0"/>
                <a:ea typeface="Times New Roman" panose="02020603050405020304" pitchFamily="18" charset="0"/>
              </a:rPr>
              <a:t>X</a:t>
            </a: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 כך שכל צרכן מקבל יחידה אחת מהמוצר וכל יצרן מייצר יחידה אחת. לשוק הצטרפה קבוצה של יצרנים המוכנים לייצר ביחד 100 יחידות בכל רמת מחיר, בנוסף כמות הצרכנים הזהים הוכפלה. כתוצאה מכך:</a:t>
            </a:r>
            <a:endParaRPr lang="en-IL" sz="1800" dirty="0">
              <a:effectLst/>
              <a:latin typeface="Times New Roman" panose="02020603050405020304" pitchFamily="18" charset="0"/>
              <a:ea typeface="Times New Roman" panose="02020603050405020304" pitchFamily="18" charset="0"/>
            </a:endParaRPr>
          </a:p>
        </p:txBody>
      </p:sp>
      <p:sp>
        <p:nvSpPr>
          <p:cNvPr id="4" name="Rectangle 2">
            <a:extLst>
              <a:ext uri="{FF2B5EF4-FFF2-40B4-BE49-F238E27FC236}">
                <a16:creationId xmlns:a16="http://schemas.microsoft.com/office/drawing/2014/main" id="{0877A2EB-BB61-AC43-DB02-1C298FCEA851}"/>
              </a:ext>
            </a:extLst>
          </p:cNvPr>
          <p:cNvSpPr>
            <a:spLocks noChangeArrowheads="1"/>
          </p:cNvSpPr>
          <p:nvPr/>
        </p:nvSpPr>
        <p:spPr bwMode="auto">
          <a:xfrm>
            <a:off x="5500468" y="2797781"/>
            <a:ext cx="6229978" cy="21197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הכמות המיוצרת גדלה והמחיר לא השתנה</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רווחי היצרנים הישנים השתנו.</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מחיר שווי המשקל עלה</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לא ניתן לדעת מה יקרה לכמות המיוצרת בשיווי משקל</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כל התשובות האחרות לא נכונות.</a:t>
            </a:r>
            <a:endParaRPr lang="en-IL" sz="1800" dirty="0">
              <a:effectLst/>
              <a:latin typeface="Times New Roman" panose="02020603050405020304" pitchFamily="18" charset="0"/>
              <a:ea typeface="Times New Roman" panose="02020603050405020304" pitchFamily="18" charset="0"/>
            </a:endParaRPr>
          </a:p>
        </p:txBody>
      </p:sp>
      <p:cxnSp>
        <p:nvCxnSpPr>
          <p:cNvPr id="7" name="מחבר ישר 42">
            <a:extLst>
              <a:ext uri="{FF2B5EF4-FFF2-40B4-BE49-F238E27FC236}">
                <a16:creationId xmlns:a16="http://schemas.microsoft.com/office/drawing/2014/main" id="{B4DC80EB-8922-47CF-60A9-5F00610E416F}"/>
              </a:ext>
            </a:extLst>
          </p:cNvPr>
          <p:cNvCxnSpPr>
            <a:cxnSpLocks/>
          </p:cNvCxnSpPr>
          <p:nvPr/>
        </p:nvCxnSpPr>
        <p:spPr>
          <a:xfrm flipH="1">
            <a:off x="1846067" y="2908475"/>
            <a:ext cx="1438" cy="2805594"/>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מחבר ישר 54">
            <a:extLst>
              <a:ext uri="{FF2B5EF4-FFF2-40B4-BE49-F238E27FC236}">
                <a16:creationId xmlns:a16="http://schemas.microsoft.com/office/drawing/2014/main" id="{3E05CE99-59A4-DDCF-05C6-C1667B6CEF9C}"/>
              </a:ext>
            </a:extLst>
          </p:cNvPr>
          <p:cNvCxnSpPr>
            <a:cxnSpLocks/>
          </p:cNvCxnSpPr>
          <p:nvPr/>
        </p:nvCxnSpPr>
        <p:spPr>
          <a:xfrm>
            <a:off x="1846860" y="5713275"/>
            <a:ext cx="3078273" cy="30959"/>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A299D2B-9D14-6DD8-1DC8-280773E5D04C}"/>
              </a:ext>
            </a:extLst>
          </p:cNvPr>
          <p:cNvCxnSpPr>
            <a:cxnSpLocks/>
          </p:cNvCxnSpPr>
          <p:nvPr/>
        </p:nvCxnSpPr>
        <p:spPr>
          <a:xfrm flipV="1">
            <a:off x="2170819" y="3097616"/>
            <a:ext cx="2103339" cy="2163211"/>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5E8D87DF-9027-B8B5-0E6D-D7670813A5BA}"/>
              </a:ext>
            </a:extLst>
          </p:cNvPr>
          <p:cNvSpPr/>
          <p:nvPr/>
        </p:nvSpPr>
        <p:spPr>
          <a:xfrm>
            <a:off x="2952924" y="4169387"/>
            <a:ext cx="308232" cy="2837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cxnSp>
        <p:nvCxnSpPr>
          <p:cNvPr id="11" name="Straight Connector 10">
            <a:extLst>
              <a:ext uri="{FF2B5EF4-FFF2-40B4-BE49-F238E27FC236}">
                <a16:creationId xmlns:a16="http://schemas.microsoft.com/office/drawing/2014/main" id="{4C8B8FB9-3B93-A4A0-3928-D2008C6A9979}"/>
              </a:ext>
            </a:extLst>
          </p:cNvPr>
          <p:cNvCxnSpPr>
            <a:cxnSpLocks/>
          </p:cNvCxnSpPr>
          <p:nvPr/>
        </p:nvCxnSpPr>
        <p:spPr>
          <a:xfrm flipH="1" flipV="1">
            <a:off x="1997711" y="3096824"/>
            <a:ext cx="2190255" cy="2409923"/>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85EB7E1-648C-F854-2A75-CADCC43DA5F2}"/>
              </a:ext>
            </a:extLst>
          </p:cNvPr>
          <p:cNvSpPr txBox="1"/>
          <p:nvPr/>
        </p:nvSpPr>
        <p:spPr>
          <a:xfrm>
            <a:off x="4274158" y="2847694"/>
            <a:ext cx="290464" cy="369332"/>
          </a:xfrm>
          <a:prstGeom prst="rect">
            <a:avLst/>
          </a:prstGeom>
          <a:noFill/>
        </p:spPr>
        <p:txBody>
          <a:bodyPr wrap="none" rtlCol="0">
            <a:spAutoFit/>
          </a:bodyPr>
          <a:lstStyle/>
          <a:p>
            <a:r>
              <a:rPr lang="en-US" dirty="0"/>
              <a:t>S</a:t>
            </a:r>
          </a:p>
        </p:txBody>
      </p:sp>
      <p:sp>
        <p:nvSpPr>
          <p:cNvPr id="13" name="TextBox 12">
            <a:extLst>
              <a:ext uri="{FF2B5EF4-FFF2-40B4-BE49-F238E27FC236}">
                <a16:creationId xmlns:a16="http://schemas.microsoft.com/office/drawing/2014/main" id="{B9DBB907-A0E6-58F6-1D69-5DD1FE34A464}"/>
              </a:ext>
            </a:extLst>
          </p:cNvPr>
          <p:cNvSpPr txBox="1"/>
          <p:nvPr/>
        </p:nvSpPr>
        <p:spPr>
          <a:xfrm>
            <a:off x="4053059" y="5425345"/>
            <a:ext cx="426720" cy="400110"/>
          </a:xfrm>
          <a:prstGeom prst="rect">
            <a:avLst/>
          </a:prstGeom>
          <a:noFill/>
        </p:spPr>
        <p:txBody>
          <a:bodyPr wrap="none" rtlCol="0">
            <a:spAutoFit/>
          </a:bodyPr>
          <a:lstStyle/>
          <a:p>
            <a:r>
              <a:rPr lang="en-US" sz="2000" dirty="0"/>
              <a:t>D</a:t>
            </a:r>
            <a:r>
              <a:rPr lang="he-IL" sz="1200" dirty="0"/>
              <a:t>0</a:t>
            </a:r>
            <a:endParaRPr lang="en-US" dirty="0"/>
          </a:p>
        </p:txBody>
      </p:sp>
      <p:sp>
        <p:nvSpPr>
          <p:cNvPr id="14" name="TextBox 13">
            <a:extLst>
              <a:ext uri="{FF2B5EF4-FFF2-40B4-BE49-F238E27FC236}">
                <a16:creationId xmlns:a16="http://schemas.microsoft.com/office/drawing/2014/main" id="{3B13845D-3719-8295-168A-6BC0A2FDFA90}"/>
              </a:ext>
            </a:extLst>
          </p:cNvPr>
          <p:cNvSpPr txBox="1"/>
          <p:nvPr/>
        </p:nvSpPr>
        <p:spPr>
          <a:xfrm flipH="1">
            <a:off x="5065047" y="5674603"/>
            <a:ext cx="249455" cy="369332"/>
          </a:xfrm>
          <a:prstGeom prst="rect">
            <a:avLst/>
          </a:prstGeom>
          <a:noFill/>
        </p:spPr>
        <p:txBody>
          <a:bodyPr wrap="square" rtlCol="0">
            <a:spAutoFit/>
          </a:bodyPr>
          <a:lstStyle/>
          <a:p>
            <a:r>
              <a:rPr lang="en-US" dirty="0"/>
              <a:t>Q</a:t>
            </a:r>
          </a:p>
        </p:txBody>
      </p:sp>
      <p:sp>
        <p:nvSpPr>
          <p:cNvPr id="15" name="TextBox 14">
            <a:extLst>
              <a:ext uri="{FF2B5EF4-FFF2-40B4-BE49-F238E27FC236}">
                <a16:creationId xmlns:a16="http://schemas.microsoft.com/office/drawing/2014/main" id="{6B161821-BDEE-D6E3-7E66-7F26D08B9894}"/>
              </a:ext>
            </a:extLst>
          </p:cNvPr>
          <p:cNvSpPr txBox="1"/>
          <p:nvPr/>
        </p:nvSpPr>
        <p:spPr>
          <a:xfrm flipH="1">
            <a:off x="1502824" y="2634980"/>
            <a:ext cx="265252" cy="369332"/>
          </a:xfrm>
          <a:prstGeom prst="rect">
            <a:avLst/>
          </a:prstGeom>
          <a:noFill/>
        </p:spPr>
        <p:txBody>
          <a:bodyPr wrap="square" rtlCol="0">
            <a:spAutoFit/>
          </a:bodyPr>
          <a:lstStyle/>
          <a:p>
            <a:r>
              <a:rPr lang="en-US" dirty="0"/>
              <a:t>P</a:t>
            </a:r>
          </a:p>
        </p:txBody>
      </p:sp>
      <p:cxnSp>
        <p:nvCxnSpPr>
          <p:cNvPr id="16" name="Straight Connector 15">
            <a:extLst>
              <a:ext uri="{FF2B5EF4-FFF2-40B4-BE49-F238E27FC236}">
                <a16:creationId xmlns:a16="http://schemas.microsoft.com/office/drawing/2014/main" id="{BD56D84A-8FBF-7885-B5FB-1B5E26789C65}"/>
              </a:ext>
            </a:extLst>
          </p:cNvPr>
          <p:cNvCxnSpPr>
            <a:cxnSpLocks/>
          </p:cNvCxnSpPr>
          <p:nvPr/>
        </p:nvCxnSpPr>
        <p:spPr>
          <a:xfrm flipV="1">
            <a:off x="2883255" y="3259430"/>
            <a:ext cx="1986146" cy="2042008"/>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7D7A40A-F0DA-1838-025D-D5209C300B23}"/>
              </a:ext>
            </a:extLst>
          </p:cNvPr>
          <p:cNvCxnSpPr>
            <a:cxnSpLocks/>
            <a:endCxn id="21" idx="3"/>
          </p:cNvCxnSpPr>
          <p:nvPr/>
        </p:nvCxnSpPr>
        <p:spPr>
          <a:xfrm flipH="1">
            <a:off x="1819492" y="4301785"/>
            <a:ext cx="1271865" cy="21974"/>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5AC4928-5D5A-12E6-267F-CF68B7D62A09}"/>
              </a:ext>
            </a:extLst>
          </p:cNvPr>
          <p:cNvCxnSpPr>
            <a:cxnSpLocks/>
          </p:cNvCxnSpPr>
          <p:nvPr/>
        </p:nvCxnSpPr>
        <p:spPr>
          <a:xfrm>
            <a:off x="3905250" y="4341100"/>
            <a:ext cx="0" cy="1418932"/>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73FAB76-68E1-3440-8116-67D84D2C4EA3}"/>
              </a:ext>
            </a:extLst>
          </p:cNvPr>
          <p:cNvSpPr txBox="1"/>
          <p:nvPr/>
        </p:nvSpPr>
        <p:spPr>
          <a:xfrm>
            <a:off x="4778886" y="2950857"/>
            <a:ext cx="431118" cy="369332"/>
          </a:xfrm>
          <a:prstGeom prst="rect">
            <a:avLst/>
          </a:prstGeom>
          <a:noFill/>
        </p:spPr>
        <p:txBody>
          <a:bodyPr wrap="square" rtlCol="0">
            <a:spAutoFit/>
          </a:bodyPr>
          <a:lstStyle/>
          <a:p>
            <a:r>
              <a:rPr lang="en-US" dirty="0"/>
              <a:t>S</a:t>
            </a:r>
            <a:r>
              <a:rPr lang="en-US" sz="1200" dirty="0"/>
              <a:t>1</a:t>
            </a:r>
            <a:endParaRPr lang="en-US" dirty="0"/>
          </a:p>
        </p:txBody>
      </p:sp>
      <p:sp>
        <p:nvSpPr>
          <p:cNvPr id="20" name="Oval 19">
            <a:extLst>
              <a:ext uri="{FF2B5EF4-FFF2-40B4-BE49-F238E27FC236}">
                <a16:creationId xmlns:a16="http://schemas.microsoft.com/office/drawing/2014/main" id="{33880818-9003-54BB-DB9C-1D1A2280D25E}"/>
              </a:ext>
            </a:extLst>
          </p:cNvPr>
          <p:cNvSpPr/>
          <p:nvPr/>
        </p:nvSpPr>
        <p:spPr>
          <a:xfrm>
            <a:off x="3776536" y="4181874"/>
            <a:ext cx="411429" cy="283769"/>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21" name="TextBox 20">
            <a:extLst>
              <a:ext uri="{FF2B5EF4-FFF2-40B4-BE49-F238E27FC236}">
                <a16:creationId xmlns:a16="http://schemas.microsoft.com/office/drawing/2014/main" id="{3D8322E6-2C3C-445A-9EAC-F23598F51DCF}"/>
              </a:ext>
            </a:extLst>
          </p:cNvPr>
          <p:cNvSpPr txBox="1"/>
          <p:nvPr/>
        </p:nvSpPr>
        <p:spPr>
          <a:xfrm>
            <a:off x="1424832" y="4139093"/>
            <a:ext cx="394660" cy="369332"/>
          </a:xfrm>
          <a:prstGeom prst="rect">
            <a:avLst/>
          </a:prstGeom>
          <a:noFill/>
        </p:spPr>
        <p:txBody>
          <a:bodyPr wrap="none" rtlCol="0">
            <a:spAutoFit/>
          </a:bodyPr>
          <a:lstStyle/>
          <a:p>
            <a:r>
              <a:rPr lang="en-US" dirty="0"/>
              <a:t>P</a:t>
            </a:r>
            <a:r>
              <a:rPr lang="en-US" sz="1200" dirty="0"/>
              <a:t>0</a:t>
            </a:r>
            <a:endParaRPr lang="en-US" dirty="0"/>
          </a:p>
        </p:txBody>
      </p:sp>
      <p:sp>
        <p:nvSpPr>
          <p:cNvPr id="22" name="TextBox 21">
            <a:extLst>
              <a:ext uri="{FF2B5EF4-FFF2-40B4-BE49-F238E27FC236}">
                <a16:creationId xmlns:a16="http://schemas.microsoft.com/office/drawing/2014/main" id="{CE34D745-B4B6-5917-DE37-6AAEBA45825A}"/>
              </a:ext>
            </a:extLst>
          </p:cNvPr>
          <p:cNvSpPr txBox="1"/>
          <p:nvPr/>
        </p:nvSpPr>
        <p:spPr>
          <a:xfrm>
            <a:off x="2792124" y="5760032"/>
            <a:ext cx="535724" cy="369332"/>
          </a:xfrm>
          <a:prstGeom prst="rect">
            <a:avLst/>
          </a:prstGeom>
          <a:noFill/>
        </p:spPr>
        <p:txBody>
          <a:bodyPr wrap="none" rtlCol="0">
            <a:spAutoFit/>
          </a:bodyPr>
          <a:lstStyle/>
          <a:p>
            <a:r>
              <a:rPr lang="en-US" dirty="0"/>
              <a:t>100</a:t>
            </a:r>
          </a:p>
        </p:txBody>
      </p:sp>
      <p:cxnSp>
        <p:nvCxnSpPr>
          <p:cNvPr id="23" name="Straight Connector 22">
            <a:extLst>
              <a:ext uri="{FF2B5EF4-FFF2-40B4-BE49-F238E27FC236}">
                <a16:creationId xmlns:a16="http://schemas.microsoft.com/office/drawing/2014/main" id="{A0A1C56A-DD12-28FF-E348-2406A7E56A94}"/>
              </a:ext>
            </a:extLst>
          </p:cNvPr>
          <p:cNvCxnSpPr>
            <a:cxnSpLocks/>
          </p:cNvCxnSpPr>
          <p:nvPr/>
        </p:nvCxnSpPr>
        <p:spPr>
          <a:xfrm>
            <a:off x="3092838" y="4409409"/>
            <a:ext cx="14202" cy="1265194"/>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D158B625-DEA4-E0C1-6D68-BF535B61CB1E}"/>
              </a:ext>
            </a:extLst>
          </p:cNvPr>
          <p:cNvCxnSpPr>
            <a:stCxn id="10" idx="6"/>
          </p:cNvCxnSpPr>
          <p:nvPr/>
        </p:nvCxnSpPr>
        <p:spPr>
          <a:xfrm>
            <a:off x="3261156" y="4311272"/>
            <a:ext cx="644094" cy="12487"/>
          </a:xfrm>
          <a:prstGeom prst="straightConnector1">
            <a:avLst/>
          </a:prstGeom>
          <a:ln w="38100">
            <a:solidFill>
              <a:schemeClr val="accent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FA9898C8-8B23-0E51-7DEA-27D240A6EA1D}"/>
              </a:ext>
            </a:extLst>
          </p:cNvPr>
          <p:cNvSpPr txBox="1"/>
          <p:nvPr/>
        </p:nvSpPr>
        <p:spPr>
          <a:xfrm flipH="1">
            <a:off x="3295654" y="3951212"/>
            <a:ext cx="564002" cy="338554"/>
          </a:xfrm>
          <a:prstGeom prst="rect">
            <a:avLst/>
          </a:prstGeom>
          <a:noFill/>
        </p:spPr>
        <p:txBody>
          <a:bodyPr wrap="square" rtlCol="0">
            <a:spAutoFit/>
          </a:bodyPr>
          <a:lstStyle/>
          <a:p>
            <a:r>
              <a:rPr lang="he-IL" sz="1600" b="1" dirty="0">
                <a:solidFill>
                  <a:schemeClr val="accent2">
                    <a:lumMod val="75000"/>
                  </a:schemeClr>
                </a:solidFill>
              </a:rPr>
              <a:t>100</a:t>
            </a:r>
            <a:endParaRPr lang="en-US" sz="1600" b="1" dirty="0">
              <a:solidFill>
                <a:schemeClr val="accent2">
                  <a:lumMod val="75000"/>
                </a:schemeClr>
              </a:solidFill>
            </a:endParaRPr>
          </a:p>
        </p:txBody>
      </p:sp>
      <p:cxnSp>
        <p:nvCxnSpPr>
          <p:cNvPr id="32" name="Straight Connector 31">
            <a:extLst>
              <a:ext uri="{FF2B5EF4-FFF2-40B4-BE49-F238E27FC236}">
                <a16:creationId xmlns:a16="http://schemas.microsoft.com/office/drawing/2014/main" id="{2C3A51FA-D203-87A9-9626-76B2D6C10856}"/>
              </a:ext>
            </a:extLst>
          </p:cNvPr>
          <p:cNvCxnSpPr>
            <a:cxnSpLocks/>
          </p:cNvCxnSpPr>
          <p:nvPr/>
        </p:nvCxnSpPr>
        <p:spPr>
          <a:xfrm flipH="1" flipV="1">
            <a:off x="2792124" y="3152416"/>
            <a:ext cx="2190255" cy="2409923"/>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80B599BD-85FA-BFE0-F691-1B0118E1E7E3}"/>
              </a:ext>
            </a:extLst>
          </p:cNvPr>
          <p:cNvSpPr txBox="1"/>
          <p:nvPr/>
        </p:nvSpPr>
        <p:spPr>
          <a:xfrm>
            <a:off x="4847472" y="5480937"/>
            <a:ext cx="426720" cy="400110"/>
          </a:xfrm>
          <a:prstGeom prst="rect">
            <a:avLst/>
          </a:prstGeom>
          <a:noFill/>
        </p:spPr>
        <p:txBody>
          <a:bodyPr wrap="none" rtlCol="0">
            <a:spAutoFit/>
          </a:bodyPr>
          <a:lstStyle/>
          <a:p>
            <a:r>
              <a:rPr lang="en-US" sz="2000" dirty="0">
                <a:solidFill>
                  <a:srgbClr val="7030A0"/>
                </a:solidFill>
              </a:rPr>
              <a:t>D</a:t>
            </a:r>
            <a:r>
              <a:rPr lang="en-US" sz="1200" dirty="0">
                <a:solidFill>
                  <a:srgbClr val="7030A0"/>
                </a:solidFill>
              </a:rPr>
              <a:t>1</a:t>
            </a:r>
            <a:endParaRPr lang="en-US" dirty="0">
              <a:solidFill>
                <a:srgbClr val="7030A0"/>
              </a:solidFill>
            </a:endParaRPr>
          </a:p>
        </p:txBody>
      </p:sp>
      <p:sp>
        <p:nvSpPr>
          <p:cNvPr id="3" name="Rectangle: Rounded Corners 2">
            <a:extLst>
              <a:ext uri="{FF2B5EF4-FFF2-40B4-BE49-F238E27FC236}">
                <a16:creationId xmlns:a16="http://schemas.microsoft.com/office/drawing/2014/main" id="{1D526AAA-410D-13B8-6EAE-B38C8BC3697B}"/>
              </a:ext>
            </a:extLst>
          </p:cNvPr>
          <p:cNvSpPr/>
          <p:nvPr/>
        </p:nvSpPr>
        <p:spPr>
          <a:xfrm>
            <a:off x="7210425" y="2794680"/>
            <a:ext cx="4520021" cy="46475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402448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barn(inVertical)">
                                      <p:cBhvr>
                                        <p:cTn id="13" dur="500"/>
                                        <p:tgtEl>
                                          <p:spTgt spid="12"/>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barn(inVertical)">
                                      <p:cBhvr>
                                        <p:cTn id="16" dur="500"/>
                                        <p:tgtEl>
                                          <p:spTgt spid="13"/>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barn(inVertical)">
                                      <p:cBhvr>
                                        <p:cTn id="19" dur="500"/>
                                        <p:tgtEl>
                                          <p:spTgt spid="10"/>
                                        </p:tgtEl>
                                      </p:cBhvr>
                                    </p:animEffect>
                                  </p:childTnLst>
                                </p:cTn>
                              </p:par>
                              <p:par>
                                <p:cTn id="20" presetID="16" presetClass="entr" presetSubtype="21"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barn(inVertical)">
                                      <p:cBhvr>
                                        <p:cTn id="22" dur="500"/>
                                        <p:tgtEl>
                                          <p:spTgt spid="17"/>
                                        </p:tgtEl>
                                      </p:cBhvr>
                                    </p:animEffect>
                                  </p:childTnLst>
                                </p:cTn>
                              </p:par>
                              <p:par>
                                <p:cTn id="23" presetID="16" presetClass="entr" presetSubtype="21" fill="hold" nodeType="with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barn(inVertical)">
                                      <p:cBhvr>
                                        <p:cTn id="25" dur="500"/>
                                        <p:tgtEl>
                                          <p:spTgt spid="23"/>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barn(inVertical)">
                                      <p:cBhvr>
                                        <p:cTn id="28" dur="500"/>
                                        <p:tgtEl>
                                          <p:spTgt spid="22"/>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barn(inVertical)">
                                      <p:cBhvr>
                                        <p:cTn id="31" dur="500"/>
                                        <p:tgtEl>
                                          <p:spTgt spid="21"/>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nodeType="click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barn(inVertical)">
                                      <p:cBhvr>
                                        <p:cTn id="36" dur="500"/>
                                        <p:tgtEl>
                                          <p:spTgt spid="29"/>
                                        </p:tgtEl>
                                      </p:cBhvr>
                                    </p:animEffect>
                                  </p:childTnLst>
                                </p:cTn>
                              </p:par>
                              <p:par>
                                <p:cTn id="37" presetID="16" presetClass="entr" presetSubtype="21"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barn(inVertical)">
                                      <p:cBhvr>
                                        <p:cTn id="39" dur="500"/>
                                        <p:tgtEl>
                                          <p:spTgt spid="30"/>
                                        </p:tgtEl>
                                      </p:cBhvr>
                                    </p:animEffect>
                                  </p:childTnLst>
                                </p:cTn>
                              </p:par>
                            </p:childTnLst>
                          </p:cTn>
                        </p:par>
                      </p:childTnLst>
                    </p:cTn>
                  </p:par>
                  <p:par>
                    <p:cTn id="40" fill="hold">
                      <p:stCondLst>
                        <p:cond delay="indefinite"/>
                      </p:stCondLst>
                      <p:childTnLst>
                        <p:par>
                          <p:cTn id="41" fill="hold">
                            <p:stCondLst>
                              <p:cond delay="0"/>
                            </p:stCondLst>
                            <p:childTnLst>
                              <p:par>
                                <p:cTn id="42" presetID="16" presetClass="entr" presetSubtype="21" fill="hold" nodeType="click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barn(inVertical)">
                                      <p:cBhvr>
                                        <p:cTn id="44" dur="500"/>
                                        <p:tgtEl>
                                          <p:spTgt spid="16"/>
                                        </p:tgtEl>
                                      </p:cBhvr>
                                    </p:animEffect>
                                  </p:childTnLst>
                                </p:cTn>
                              </p:par>
                              <p:par>
                                <p:cTn id="45" presetID="16" presetClass="entr" presetSubtype="21"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barn(inVertical)">
                                      <p:cBhvr>
                                        <p:cTn id="47" dur="500"/>
                                        <p:tgtEl>
                                          <p:spTgt spid="20"/>
                                        </p:tgtEl>
                                      </p:cBhvr>
                                    </p:animEffect>
                                  </p:childTnLst>
                                </p:cTn>
                              </p:par>
                              <p:par>
                                <p:cTn id="48" presetID="16" presetClass="entr" presetSubtype="21" fill="hold"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barn(inVertical)">
                                      <p:cBhvr>
                                        <p:cTn id="50" dur="500"/>
                                        <p:tgtEl>
                                          <p:spTgt spid="18"/>
                                        </p:tgtEl>
                                      </p:cBhvr>
                                    </p:animEffect>
                                  </p:childTnLst>
                                </p:cTn>
                              </p:par>
                              <p:par>
                                <p:cTn id="51" presetID="16" presetClass="entr" presetSubtype="21" fill="hold" nodeType="with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barn(inVertical)">
                                      <p:cBhvr>
                                        <p:cTn id="53" dur="500"/>
                                        <p:tgtEl>
                                          <p:spTgt spid="32"/>
                                        </p:tgtEl>
                                      </p:cBhvr>
                                    </p:animEffect>
                                  </p:childTnLst>
                                </p:cTn>
                              </p:par>
                              <p:par>
                                <p:cTn id="54" presetID="16" presetClass="entr" presetSubtype="21" fill="hold" grpId="0" nodeType="withEffect">
                                  <p:stCondLst>
                                    <p:cond delay="0"/>
                                  </p:stCondLst>
                                  <p:childTnLst>
                                    <p:set>
                                      <p:cBhvr>
                                        <p:cTn id="55" dur="1" fill="hold">
                                          <p:stCondLst>
                                            <p:cond delay="0"/>
                                          </p:stCondLst>
                                        </p:cTn>
                                        <p:tgtEl>
                                          <p:spTgt spid="33"/>
                                        </p:tgtEl>
                                        <p:attrNameLst>
                                          <p:attrName>style.visibility</p:attrName>
                                        </p:attrNameLst>
                                      </p:cBhvr>
                                      <p:to>
                                        <p:strVal val="visible"/>
                                      </p:to>
                                    </p:set>
                                    <p:animEffect transition="in" filter="barn(inVertical)">
                                      <p:cBhvr>
                                        <p:cTn id="56" dur="500"/>
                                        <p:tgtEl>
                                          <p:spTgt spid="33"/>
                                        </p:tgtEl>
                                      </p:cBhvr>
                                    </p:animEffect>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3"/>
                                        </p:tgtEl>
                                        <p:attrNameLst>
                                          <p:attrName>style.visibility</p:attrName>
                                        </p:attrNameLst>
                                      </p:cBhvr>
                                      <p:to>
                                        <p:strVal val="visible"/>
                                      </p:to>
                                    </p:set>
                                    <p:animEffect transition="in" filter="fade">
                                      <p:cBhvr>
                                        <p:cTn id="61" dur="1000"/>
                                        <p:tgtEl>
                                          <p:spTgt spid="3"/>
                                        </p:tgtEl>
                                      </p:cBhvr>
                                    </p:animEffect>
                                    <p:anim calcmode="lin" valueType="num">
                                      <p:cBhvr>
                                        <p:cTn id="62" dur="1000" fill="hold"/>
                                        <p:tgtEl>
                                          <p:spTgt spid="3"/>
                                        </p:tgtEl>
                                        <p:attrNameLst>
                                          <p:attrName>ppt_x</p:attrName>
                                        </p:attrNameLst>
                                      </p:cBhvr>
                                      <p:tavLst>
                                        <p:tav tm="0">
                                          <p:val>
                                            <p:strVal val="#ppt_x"/>
                                          </p:val>
                                        </p:tav>
                                        <p:tav tm="100000">
                                          <p:val>
                                            <p:strVal val="#ppt_x"/>
                                          </p:val>
                                        </p:tav>
                                      </p:tavLst>
                                    </p:anim>
                                    <p:anim calcmode="lin" valueType="num">
                                      <p:cBhvr>
                                        <p:cTn id="6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p:bldP spid="13" grpId="0"/>
      <p:bldP spid="20" grpId="0" animBg="1"/>
      <p:bldP spid="21" grpId="0"/>
      <p:bldP spid="22" grpId="0"/>
      <p:bldP spid="30" grpId="0"/>
      <p:bldP spid="33" grpId="0"/>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86CFC-21FB-6BDA-BA4E-162AB7AF68F4}"/>
              </a:ext>
            </a:extLst>
          </p:cNvPr>
          <p:cNvSpPr>
            <a:spLocks noGrp="1"/>
          </p:cNvSpPr>
          <p:nvPr>
            <p:ph type="title"/>
          </p:nvPr>
        </p:nvSpPr>
        <p:spPr>
          <a:xfrm>
            <a:off x="10452682" y="79899"/>
            <a:ext cx="1647738" cy="633165"/>
          </a:xfrm>
        </p:spPr>
        <p:txBody>
          <a:bodyPr>
            <a:normAutofit/>
          </a:bodyPr>
          <a:lstStyle/>
          <a:p>
            <a:pPr algn="r" rtl="1"/>
            <a:r>
              <a:rPr lang="he-IL" sz="3200" dirty="0"/>
              <a:t>שאלה 12 </a:t>
            </a:r>
            <a:endParaRPr lang="en-IL" sz="3200" dirty="0"/>
          </a:p>
        </p:txBody>
      </p:sp>
      <p:sp>
        <p:nvSpPr>
          <p:cNvPr id="3" name="TextBox 2">
            <a:extLst>
              <a:ext uri="{FF2B5EF4-FFF2-40B4-BE49-F238E27FC236}">
                <a16:creationId xmlns:a16="http://schemas.microsoft.com/office/drawing/2014/main" id="{A3C54DC9-80F6-EFB4-A502-324FCA03439E}"/>
              </a:ext>
            </a:extLst>
          </p:cNvPr>
          <p:cNvSpPr txBox="1"/>
          <p:nvPr/>
        </p:nvSpPr>
        <p:spPr>
          <a:xfrm>
            <a:off x="1279848" y="636538"/>
            <a:ext cx="10727487" cy="873252"/>
          </a:xfrm>
          <a:prstGeom prst="rect">
            <a:avLst/>
          </a:prstGeom>
          <a:noFill/>
        </p:spPr>
        <p:txBody>
          <a:bodyPr wrap="square">
            <a:spAutoFit/>
          </a:bodyPr>
          <a:lstStyle/>
          <a:p>
            <a:pPr indent="-228600" algn="r" rtl="1">
              <a:lnSpc>
                <a:spcPct val="150000"/>
              </a:lnSpc>
              <a:tabLst>
                <a:tab pos="-228600" algn="l"/>
              </a:tabLst>
            </a:pP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משקאות הדיאט ומשקאות מסוכרים הם מוצרים תחליפיים. ידוע כי עקומת הביקוש למשקאות מסוכרים קשיחה. מה יקרה בשיווי משקל בשווקים אלו כתוצאה מהטלת מס על יצרני משקאות מסוכרים?</a:t>
            </a:r>
            <a:endParaRPr lang="en-IL" sz="1800" dirty="0">
              <a:effectLst/>
              <a:latin typeface="Times New Roman" panose="02020603050405020304" pitchFamily="18" charset="0"/>
              <a:ea typeface="Times New Roman" panose="02020603050405020304" pitchFamily="18" charset="0"/>
            </a:endParaRPr>
          </a:p>
        </p:txBody>
      </p:sp>
      <p:sp>
        <p:nvSpPr>
          <p:cNvPr id="4" name="Rectangle 2">
            <a:extLst>
              <a:ext uri="{FF2B5EF4-FFF2-40B4-BE49-F238E27FC236}">
                <a16:creationId xmlns:a16="http://schemas.microsoft.com/office/drawing/2014/main" id="{79A261EC-EBB4-DD43-9D69-C175AD8B522E}"/>
              </a:ext>
            </a:extLst>
          </p:cNvPr>
          <p:cNvSpPr>
            <a:spLocks noChangeArrowheads="1"/>
          </p:cNvSpPr>
          <p:nvPr/>
        </p:nvSpPr>
        <p:spPr bwMode="auto">
          <a:xfrm>
            <a:off x="5609491" y="1953628"/>
            <a:ext cx="6177225" cy="2950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r" rtl="1">
              <a:lnSpc>
                <a:spcPct val="150000"/>
              </a:lnSpc>
              <a:buFont typeface="+mj-lt"/>
              <a:buAutoNum type="arabicPeriod"/>
            </a:pPr>
            <a:r>
              <a:rPr lang="he-IL" dirty="0">
                <a:latin typeface="Times New Roman" panose="02020603050405020304" pitchFamily="18" charset="0"/>
                <a:ea typeface="Times New Roman" panose="02020603050405020304" pitchFamily="18" charset="0"/>
              </a:rPr>
              <a:t>הכנסות היצרנים בשני השווקים תעלנה.</a:t>
            </a:r>
            <a:endParaRPr lang="en-IL" dirty="0">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הוצאות הצרכנים בשני השווקים תעלנה.</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אם עקומת הביקוש למשקאות הדיאט יחידתית לא יהיו שינוי בהוצאות הצרכנים על משקאות אלו.</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אם יחול גם שיפור טכנולוגי במשקאות מסוכרים יתכן שלא יחול שינוי בנקודת שיווי המשקל בשוק זה.</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כל התשובות האחרות לא נכונות.</a:t>
            </a:r>
            <a:endParaRPr lang="en-IL"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8125355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86CFC-21FB-6BDA-BA4E-162AB7AF68F4}"/>
              </a:ext>
            </a:extLst>
          </p:cNvPr>
          <p:cNvSpPr>
            <a:spLocks noGrp="1"/>
          </p:cNvSpPr>
          <p:nvPr>
            <p:ph type="title"/>
          </p:nvPr>
        </p:nvSpPr>
        <p:spPr>
          <a:xfrm>
            <a:off x="10452682" y="79899"/>
            <a:ext cx="1647738" cy="633165"/>
          </a:xfrm>
        </p:spPr>
        <p:txBody>
          <a:bodyPr>
            <a:normAutofit/>
          </a:bodyPr>
          <a:lstStyle/>
          <a:p>
            <a:pPr algn="r" rtl="1"/>
            <a:r>
              <a:rPr lang="he-IL" sz="3200" dirty="0"/>
              <a:t>שאלה 12 </a:t>
            </a:r>
            <a:endParaRPr lang="en-IL" sz="3200" dirty="0"/>
          </a:p>
        </p:txBody>
      </p:sp>
      <p:sp>
        <p:nvSpPr>
          <p:cNvPr id="5" name="TextBox 4">
            <a:extLst>
              <a:ext uri="{FF2B5EF4-FFF2-40B4-BE49-F238E27FC236}">
                <a16:creationId xmlns:a16="http://schemas.microsoft.com/office/drawing/2014/main" id="{85958B51-5284-67B9-7EAF-F65DCAE71E98}"/>
              </a:ext>
            </a:extLst>
          </p:cNvPr>
          <p:cNvSpPr txBox="1"/>
          <p:nvPr/>
        </p:nvSpPr>
        <p:spPr>
          <a:xfrm>
            <a:off x="1279848" y="636538"/>
            <a:ext cx="10727487" cy="873252"/>
          </a:xfrm>
          <a:prstGeom prst="rect">
            <a:avLst/>
          </a:prstGeom>
          <a:noFill/>
        </p:spPr>
        <p:txBody>
          <a:bodyPr wrap="square">
            <a:spAutoFit/>
          </a:bodyPr>
          <a:lstStyle/>
          <a:p>
            <a:pPr indent="-228600" algn="r" rtl="1">
              <a:lnSpc>
                <a:spcPct val="150000"/>
              </a:lnSpc>
              <a:tabLst>
                <a:tab pos="-228600" algn="l"/>
              </a:tabLst>
            </a:pP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משקאות הדיאט ומשקאות מסוכרים הם מוצרים תחליפיים. ידוע כי עקומת הביקוש למשקאות מסוכרים קשיחה. מה יקרה בשיווי משקל בשווקים אלו כתוצאה מהטלת מס על יצרני משקאות מסוכרים?</a:t>
            </a:r>
            <a:endParaRPr lang="en-IL" sz="1800" dirty="0">
              <a:effectLst/>
              <a:latin typeface="Times New Roman" panose="02020603050405020304" pitchFamily="18" charset="0"/>
              <a:ea typeface="Times New Roman" panose="02020603050405020304" pitchFamily="18" charset="0"/>
            </a:endParaRPr>
          </a:p>
        </p:txBody>
      </p:sp>
      <p:sp>
        <p:nvSpPr>
          <p:cNvPr id="4" name="Rectangle 2">
            <a:extLst>
              <a:ext uri="{FF2B5EF4-FFF2-40B4-BE49-F238E27FC236}">
                <a16:creationId xmlns:a16="http://schemas.microsoft.com/office/drawing/2014/main" id="{0877A2EB-BB61-AC43-DB02-1C298FCEA851}"/>
              </a:ext>
            </a:extLst>
          </p:cNvPr>
          <p:cNvSpPr>
            <a:spLocks noChangeArrowheads="1"/>
          </p:cNvSpPr>
          <p:nvPr/>
        </p:nvSpPr>
        <p:spPr bwMode="auto">
          <a:xfrm>
            <a:off x="5609491" y="1953628"/>
            <a:ext cx="6177225" cy="2950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r" rtl="1">
              <a:lnSpc>
                <a:spcPct val="150000"/>
              </a:lnSpc>
              <a:buFont typeface="+mj-lt"/>
              <a:buAutoNum type="arabicPeriod"/>
            </a:pPr>
            <a:r>
              <a:rPr lang="he-IL" dirty="0">
                <a:latin typeface="Times New Roman" panose="02020603050405020304" pitchFamily="18" charset="0"/>
                <a:ea typeface="Times New Roman" panose="02020603050405020304" pitchFamily="18" charset="0"/>
              </a:rPr>
              <a:t>הכנסות היצרנים בשני השווקים תעלנה.</a:t>
            </a:r>
            <a:endParaRPr lang="en-IL" dirty="0">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הוצאות הצרכנים בשני השווקים תעלנה.</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אם עקומת הביקוש למשקאות הדיאט יחידתית לא יהיו שינוי בהוצאות הצרכנים על משקאות אלו.</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אם יחול גם שיפור טכנולוגי במשקאות מסוכרים יתכן שלא יחול שינוי בנקודת שיווי המשקל בשוק זה.</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כל התשובות האחרות לא נכונות.</a:t>
            </a:r>
            <a:endParaRPr lang="en-IL" sz="1800" dirty="0">
              <a:effectLst/>
              <a:latin typeface="Times New Roman" panose="02020603050405020304" pitchFamily="18" charset="0"/>
              <a:ea typeface="Times New Roman" panose="02020603050405020304" pitchFamily="18" charset="0"/>
            </a:endParaRPr>
          </a:p>
        </p:txBody>
      </p:sp>
      <p:cxnSp>
        <p:nvCxnSpPr>
          <p:cNvPr id="7" name="Straight Connector 6">
            <a:extLst>
              <a:ext uri="{FF2B5EF4-FFF2-40B4-BE49-F238E27FC236}">
                <a16:creationId xmlns:a16="http://schemas.microsoft.com/office/drawing/2014/main" id="{DCCD4A89-D61F-5C4F-A276-97DDDB3A2B79}"/>
              </a:ext>
            </a:extLst>
          </p:cNvPr>
          <p:cNvCxnSpPr/>
          <p:nvPr/>
        </p:nvCxnSpPr>
        <p:spPr>
          <a:xfrm>
            <a:off x="1127760" y="4003040"/>
            <a:ext cx="1645920" cy="17272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ABD2B95-743B-70CC-18A9-6A9E695E9F79}"/>
              </a:ext>
            </a:extLst>
          </p:cNvPr>
          <p:cNvCxnSpPr/>
          <p:nvPr/>
        </p:nvCxnSpPr>
        <p:spPr>
          <a:xfrm flipH="1">
            <a:off x="955040" y="5892800"/>
            <a:ext cx="1971040" cy="0"/>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4A6328D-5A5A-DD81-7303-80D973D3536E}"/>
              </a:ext>
            </a:extLst>
          </p:cNvPr>
          <p:cNvCxnSpPr/>
          <p:nvPr/>
        </p:nvCxnSpPr>
        <p:spPr>
          <a:xfrm flipH="1">
            <a:off x="1127760" y="4003040"/>
            <a:ext cx="1727200" cy="16560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7">
            <a:extLst>
              <a:ext uri="{FF2B5EF4-FFF2-40B4-BE49-F238E27FC236}">
                <a16:creationId xmlns:a16="http://schemas.microsoft.com/office/drawing/2014/main" id="{95913A21-50C5-2BEE-2B88-AF2EE84EF97C}"/>
              </a:ext>
            </a:extLst>
          </p:cNvPr>
          <p:cNvSpPr/>
          <p:nvPr/>
        </p:nvSpPr>
        <p:spPr>
          <a:xfrm>
            <a:off x="1081592" y="1106494"/>
            <a:ext cx="2629034" cy="408621"/>
          </a:xfrm>
          <a:prstGeom prst="roundRect">
            <a:avLst>
              <a:gd name="adj" fmla="val 50000"/>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e-IL" dirty="0"/>
              <a:t>תחליפיים</a:t>
            </a:r>
            <a:endParaRPr lang="en-US" dirty="0"/>
          </a:p>
        </p:txBody>
      </p:sp>
      <p:sp>
        <p:nvSpPr>
          <p:cNvPr id="11" name="TextBox 10">
            <a:extLst>
              <a:ext uri="{FF2B5EF4-FFF2-40B4-BE49-F238E27FC236}">
                <a16:creationId xmlns:a16="http://schemas.microsoft.com/office/drawing/2014/main" id="{DD79B2BA-7987-2FF6-49E2-D562202BBF41}"/>
              </a:ext>
            </a:extLst>
          </p:cNvPr>
          <p:cNvSpPr txBox="1"/>
          <p:nvPr/>
        </p:nvSpPr>
        <p:spPr>
          <a:xfrm>
            <a:off x="833120" y="3730506"/>
            <a:ext cx="680720" cy="369332"/>
          </a:xfrm>
          <a:prstGeom prst="rect">
            <a:avLst/>
          </a:prstGeom>
          <a:noFill/>
        </p:spPr>
        <p:txBody>
          <a:bodyPr wrap="square" rtlCol="0">
            <a:spAutoFit/>
          </a:bodyPr>
          <a:lstStyle/>
          <a:p>
            <a:r>
              <a:rPr lang="en-US" dirty="0"/>
              <a:t>D0</a:t>
            </a:r>
          </a:p>
        </p:txBody>
      </p:sp>
      <p:sp>
        <p:nvSpPr>
          <p:cNvPr id="12" name="TextBox 11">
            <a:extLst>
              <a:ext uri="{FF2B5EF4-FFF2-40B4-BE49-F238E27FC236}">
                <a16:creationId xmlns:a16="http://schemas.microsoft.com/office/drawing/2014/main" id="{7552EFEC-4987-C510-0F40-35B1DFCC4ED2}"/>
              </a:ext>
            </a:extLst>
          </p:cNvPr>
          <p:cNvSpPr txBox="1"/>
          <p:nvPr/>
        </p:nvSpPr>
        <p:spPr>
          <a:xfrm>
            <a:off x="2733287" y="3808214"/>
            <a:ext cx="680720" cy="369332"/>
          </a:xfrm>
          <a:prstGeom prst="rect">
            <a:avLst/>
          </a:prstGeom>
          <a:noFill/>
        </p:spPr>
        <p:txBody>
          <a:bodyPr wrap="square" rtlCol="0">
            <a:spAutoFit/>
          </a:bodyPr>
          <a:lstStyle/>
          <a:p>
            <a:r>
              <a:rPr lang="en-US" dirty="0"/>
              <a:t>S0</a:t>
            </a:r>
          </a:p>
        </p:txBody>
      </p:sp>
      <p:cxnSp>
        <p:nvCxnSpPr>
          <p:cNvPr id="13" name="Straight Connector 12">
            <a:extLst>
              <a:ext uri="{FF2B5EF4-FFF2-40B4-BE49-F238E27FC236}">
                <a16:creationId xmlns:a16="http://schemas.microsoft.com/office/drawing/2014/main" id="{CE026102-E56F-FB8C-BF3D-2A9F2422212F}"/>
              </a:ext>
            </a:extLst>
          </p:cNvPr>
          <p:cNvCxnSpPr/>
          <p:nvPr/>
        </p:nvCxnSpPr>
        <p:spPr>
          <a:xfrm>
            <a:off x="1950720" y="4866640"/>
            <a:ext cx="20320" cy="102616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474CCD5-80DD-32A6-ADA7-9DBCB18DE53B}"/>
              </a:ext>
            </a:extLst>
          </p:cNvPr>
          <p:cNvCxnSpPr/>
          <p:nvPr/>
        </p:nvCxnSpPr>
        <p:spPr>
          <a:xfrm flipH="1">
            <a:off x="944880" y="4831080"/>
            <a:ext cx="995680"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5E9EDC3-2B0F-F6A3-ED48-B64E6A2ADF67}"/>
              </a:ext>
            </a:extLst>
          </p:cNvPr>
          <p:cNvSpPr txBox="1"/>
          <p:nvPr/>
        </p:nvSpPr>
        <p:spPr>
          <a:xfrm>
            <a:off x="1768696" y="6084275"/>
            <a:ext cx="680720" cy="369332"/>
          </a:xfrm>
          <a:prstGeom prst="rect">
            <a:avLst/>
          </a:prstGeom>
          <a:noFill/>
        </p:spPr>
        <p:txBody>
          <a:bodyPr wrap="square" rtlCol="0">
            <a:spAutoFit/>
          </a:bodyPr>
          <a:lstStyle/>
          <a:p>
            <a:r>
              <a:rPr lang="en-US" dirty="0"/>
              <a:t>X0</a:t>
            </a:r>
          </a:p>
        </p:txBody>
      </p:sp>
      <p:sp>
        <p:nvSpPr>
          <p:cNvPr id="16" name="TextBox 15">
            <a:extLst>
              <a:ext uri="{FF2B5EF4-FFF2-40B4-BE49-F238E27FC236}">
                <a16:creationId xmlns:a16="http://schemas.microsoft.com/office/drawing/2014/main" id="{E1E61BFD-F25F-5D5B-585B-76739C39B5D5}"/>
              </a:ext>
            </a:extLst>
          </p:cNvPr>
          <p:cNvSpPr txBox="1"/>
          <p:nvPr/>
        </p:nvSpPr>
        <p:spPr>
          <a:xfrm>
            <a:off x="306560" y="4789660"/>
            <a:ext cx="680720" cy="369332"/>
          </a:xfrm>
          <a:prstGeom prst="rect">
            <a:avLst/>
          </a:prstGeom>
          <a:noFill/>
        </p:spPr>
        <p:txBody>
          <a:bodyPr wrap="square" rtlCol="0">
            <a:spAutoFit/>
          </a:bodyPr>
          <a:lstStyle/>
          <a:p>
            <a:r>
              <a:rPr lang="en-US" dirty="0"/>
              <a:t>Px0</a:t>
            </a:r>
          </a:p>
        </p:txBody>
      </p:sp>
      <p:sp>
        <p:nvSpPr>
          <p:cNvPr id="17" name="Rounded Rectangle 27">
            <a:extLst>
              <a:ext uri="{FF2B5EF4-FFF2-40B4-BE49-F238E27FC236}">
                <a16:creationId xmlns:a16="http://schemas.microsoft.com/office/drawing/2014/main" id="{CE91BBA1-4C9E-A802-3C81-8521FFF21F76}"/>
              </a:ext>
            </a:extLst>
          </p:cNvPr>
          <p:cNvSpPr/>
          <p:nvPr/>
        </p:nvSpPr>
        <p:spPr>
          <a:xfrm>
            <a:off x="944880" y="3078480"/>
            <a:ext cx="1595120" cy="528320"/>
          </a:xfrm>
          <a:prstGeom prst="roundRect">
            <a:avLst>
              <a:gd name="adj" fmla="val 37163"/>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a:t>
            </a:r>
            <a:r>
              <a:rPr lang="he-IL" dirty="0"/>
              <a:t>משקאות מסוכרים</a:t>
            </a:r>
            <a:endParaRPr lang="en-US" dirty="0"/>
          </a:p>
        </p:txBody>
      </p:sp>
      <p:sp>
        <p:nvSpPr>
          <p:cNvPr id="18" name="Rounded Rectangle 28">
            <a:extLst>
              <a:ext uri="{FF2B5EF4-FFF2-40B4-BE49-F238E27FC236}">
                <a16:creationId xmlns:a16="http://schemas.microsoft.com/office/drawing/2014/main" id="{AA78341A-E489-C539-1E85-57C539F626C9}"/>
              </a:ext>
            </a:extLst>
          </p:cNvPr>
          <p:cNvSpPr/>
          <p:nvPr/>
        </p:nvSpPr>
        <p:spPr>
          <a:xfrm>
            <a:off x="3563728" y="3088752"/>
            <a:ext cx="2103110" cy="528320"/>
          </a:xfrm>
          <a:prstGeom prst="round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a:t>
            </a:r>
            <a:r>
              <a:rPr lang="he-IL" dirty="0"/>
              <a:t>משקאות דיאט</a:t>
            </a:r>
            <a:endParaRPr lang="en-US" dirty="0"/>
          </a:p>
        </p:txBody>
      </p:sp>
      <p:cxnSp>
        <p:nvCxnSpPr>
          <p:cNvPr id="19" name="Straight Connector 18">
            <a:extLst>
              <a:ext uri="{FF2B5EF4-FFF2-40B4-BE49-F238E27FC236}">
                <a16:creationId xmlns:a16="http://schemas.microsoft.com/office/drawing/2014/main" id="{D493A123-544F-55FD-DD3C-4ED458B77453}"/>
              </a:ext>
            </a:extLst>
          </p:cNvPr>
          <p:cNvCxnSpPr/>
          <p:nvPr/>
        </p:nvCxnSpPr>
        <p:spPr>
          <a:xfrm>
            <a:off x="3789680" y="3992880"/>
            <a:ext cx="10160" cy="1889760"/>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DA8104-EC0C-B60D-9642-761861410583}"/>
              </a:ext>
            </a:extLst>
          </p:cNvPr>
          <p:cNvCxnSpPr/>
          <p:nvPr/>
        </p:nvCxnSpPr>
        <p:spPr>
          <a:xfrm>
            <a:off x="3982720" y="3992880"/>
            <a:ext cx="1645920" cy="17272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369E6FC-E40E-905A-3FFA-BD3654A61203}"/>
              </a:ext>
            </a:extLst>
          </p:cNvPr>
          <p:cNvCxnSpPr/>
          <p:nvPr/>
        </p:nvCxnSpPr>
        <p:spPr>
          <a:xfrm flipH="1">
            <a:off x="3810000" y="5882640"/>
            <a:ext cx="1971040" cy="0"/>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AD8B230-F8B7-6796-232E-7389D0B9EA67}"/>
              </a:ext>
            </a:extLst>
          </p:cNvPr>
          <p:cNvCxnSpPr/>
          <p:nvPr/>
        </p:nvCxnSpPr>
        <p:spPr>
          <a:xfrm flipH="1">
            <a:off x="3982720" y="3992880"/>
            <a:ext cx="1727200" cy="16560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7263DDA7-1C63-3F84-2566-47AFC1E69492}"/>
              </a:ext>
            </a:extLst>
          </p:cNvPr>
          <p:cNvSpPr txBox="1"/>
          <p:nvPr/>
        </p:nvSpPr>
        <p:spPr>
          <a:xfrm>
            <a:off x="3688080" y="3720346"/>
            <a:ext cx="680720" cy="369332"/>
          </a:xfrm>
          <a:prstGeom prst="rect">
            <a:avLst/>
          </a:prstGeom>
          <a:noFill/>
        </p:spPr>
        <p:txBody>
          <a:bodyPr wrap="square" rtlCol="0">
            <a:spAutoFit/>
          </a:bodyPr>
          <a:lstStyle/>
          <a:p>
            <a:r>
              <a:rPr lang="en-US" dirty="0"/>
              <a:t>D0</a:t>
            </a:r>
          </a:p>
        </p:txBody>
      </p:sp>
      <p:cxnSp>
        <p:nvCxnSpPr>
          <p:cNvPr id="24" name="Straight Connector 23">
            <a:extLst>
              <a:ext uri="{FF2B5EF4-FFF2-40B4-BE49-F238E27FC236}">
                <a16:creationId xmlns:a16="http://schemas.microsoft.com/office/drawing/2014/main" id="{E911B46C-D937-F0EE-A186-725E0FBFB9B3}"/>
              </a:ext>
            </a:extLst>
          </p:cNvPr>
          <p:cNvCxnSpPr/>
          <p:nvPr/>
        </p:nvCxnSpPr>
        <p:spPr>
          <a:xfrm>
            <a:off x="4805680" y="4856480"/>
            <a:ext cx="20320" cy="102616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6CBCB90-F1D5-789C-F02F-80E6A5BBC4D1}"/>
              </a:ext>
            </a:extLst>
          </p:cNvPr>
          <p:cNvCxnSpPr/>
          <p:nvPr/>
        </p:nvCxnSpPr>
        <p:spPr>
          <a:xfrm flipH="1">
            <a:off x="3799840" y="4820920"/>
            <a:ext cx="995680"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51DD9090-15E9-64E9-5D39-043E94A5D51E}"/>
              </a:ext>
            </a:extLst>
          </p:cNvPr>
          <p:cNvSpPr txBox="1"/>
          <p:nvPr/>
        </p:nvSpPr>
        <p:spPr>
          <a:xfrm>
            <a:off x="3322080" y="4671814"/>
            <a:ext cx="680720" cy="369332"/>
          </a:xfrm>
          <a:prstGeom prst="rect">
            <a:avLst/>
          </a:prstGeom>
          <a:noFill/>
        </p:spPr>
        <p:txBody>
          <a:bodyPr wrap="square" rtlCol="0">
            <a:spAutoFit/>
          </a:bodyPr>
          <a:lstStyle/>
          <a:p>
            <a:r>
              <a:rPr lang="en-US" dirty="0"/>
              <a:t>Py0</a:t>
            </a:r>
          </a:p>
        </p:txBody>
      </p:sp>
      <p:sp>
        <p:nvSpPr>
          <p:cNvPr id="30" name="TextBox 29">
            <a:extLst>
              <a:ext uri="{FF2B5EF4-FFF2-40B4-BE49-F238E27FC236}">
                <a16:creationId xmlns:a16="http://schemas.microsoft.com/office/drawing/2014/main" id="{975FB443-C7A0-0E76-1FE8-500553DCA002}"/>
              </a:ext>
            </a:extLst>
          </p:cNvPr>
          <p:cNvSpPr txBox="1"/>
          <p:nvPr/>
        </p:nvSpPr>
        <p:spPr>
          <a:xfrm>
            <a:off x="4617720" y="5981224"/>
            <a:ext cx="680720" cy="369332"/>
          </a:xfrm>
          <a:prstGeom prst="rect">
            <a:avLst/>
          </a:prstGeom>
          <a:noFill/>
        </p:spPr>
        <p:txBody>
          <a:bodyPr wrap="square" rtlCol="0">
            <a:spAutoFit/>
          </a:bodyPr>
          <a:lstStyle/>
          <a:p>
            <a:r>
              <a:rPr lang="en-US" dirty="0"/>
              <a:t>Y0</a:t>
            </a:r>
          </a:p>
        </p:txBody>
      </p:sp>
      <p:sp>
        <p:nvSpPr>
          <p:cNvPr id="31" name="Rectangle 30">
            <a:extLst>
              <a:ext uri="{FF2B5EF4-FFF2-40B4-BE49-F238E27FC236}">
                <a16:creationId xmlns:a16="http://schemas.microsoft.com/office/drawing/2014/main" id="{FD9112A1-AC04-E8F0-C2A9-8C872F65A453}"/>
              </a:ext>
            </a:extLst>
          </p:cNvPr>
          <p:cNvSpPr/>
          <p:nvPr/>
        </p:nvSpPr>
        <p:spPr>
          <a:xfrm>
            <a:off x="3073400" y="2079582"/>
            <a:ext cx="476412" cy="461665"/>
          </a:xfrm>
          <a:prstGeom prst="rect">
            <a:avLst/>
          </a:prstGeom>
        </p:spPr>
        <p:txBody>
          <a:bodyPr wrap="none">
            <a:spAutoFit/>
          </a:bodyPr>
          <a:lstStyle/>
          <a:p>
            <a:r>
              <a:rPr lang="en-US" sz="2400" dirty="0" err="1">
                <a:solidFill>
                  <a:srgbClr val="C00000"/>
                </a:solidFill>
              </a:rPr>
              <a:t>Px</a:t>
            </a:r>
            <a:endParaRPr lang="en-IL" sz="2400" dirty="0"/>
          </a:p>
        </p:txBody>
      </p:sp>
      <p:cxnSp>
        <p:nvCxnSpPr>
          <p:cNvPr id="32" name="Straight Arrow Connector 31">
            <a:extLst>
              <a:ext uri="{FF2B5EF4-FFF2-40B4-BE49-F238E27FC236}">
                <a16:creationId xmlns:a16="http://schemas.microsoft.com/office/drawing/2014/main" id="{BE405FC5-6141-CA5A-DDE8-07396E82FA37}"/>
              </a:ext>
            </a:extLst>
          </p:cNvPr>
          <p:cNvCxnSpPr>
            <a:cxnSpLocks/>
          </p:cNvCxnSpPr>
          <p:nvPr/>
        </p:nvCxnSpPr>
        <p:spPr>
          <a:xfrm flipV="1">
            <a:off x="3073400" y="2145936"/>
            <a:ext cx="0" cy="328958"/>
          </a:xfrm>
          <a:prstGeom prst="straightConnector1">
            <a:avLst/>
          </a:prstGeom>
          <a:ln w="571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3" name="Arrow: Chevron 32">
            <a:extLst>
              <a:ext uri="{FF2B5EF4-FFF2-40B4-BE49-F238E27FC236}">
                <a16:creationId xmlns:a16="http://schemas.microsoft.com/office/drawing/2014/main" id="{09F1817B-49B3-E372-D592-8AD5875788AD}"/>
              </a:ext>
            </a:extLst>
          </p:cNvPr>
          <p:cNvSpPr/>
          <p:nvPr/>
        </p:nvSpPr>
        <p:spPr>
          <a:xfrm rot="10800000">
            <a:off x="2371141" y="2240552"/>
            <a:ext cx="441960" cy="230833"/>
          </a:xfrm>
          <a:prstGeom prst="chevron">
            <a:avLst/>
          </a:prstGeom>
          <a:solidFill>
            <a:schemeClr val="bg2">
              <a:lumMod val="9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solidFill>
                <a:schemeClr val="tx1"/>
              </a:solidFill>
            </a:endParaRPr>
          </a:p>
        </p:txBody>
      </p:sp>
      <p:sp>
        <p:nvSpPr>
          <p:cNvPr id="34" name="Rectangle 33">
            <a:extLst>
              <a:ext uri="{FF2B5EF4-FFF2-40B4-BE49-F238E27FC236}">
                <a16:creationId xmlns:a16="http://schemas.microsoft.com/office/drawing/2014/main" id="{06B447B5-DA15-FCFA-DD82-40ECD45770BB}"/>
              </a:ext>
            </a:extLst>
          </p:cNvPr>
          <p:cNvSpPr/>
          <p:nvPr/>
        </p:nvSpPr>
        <p:spPr>
          <a:xfrm>
            <a:off x="1913051" y="2104816"/>
            <a:ext cx="513282" cy="461665"/>
          </a:xfrm>
          <a:prstGeom prst="rect">
            <a:avLst/>
          </a:prstGeom>
        </p:spPr>
        <p:txBody>
          <a:bodyPr wrap="none">
            <a:spAutoFit/>
          </a:bodyPr>
          <a:lstStyle/>
          <a:p>
            <a:r>
              <a:rPr lang="en-US" sz="2400" dirty="0"/>
              <a:t>Dy</a:t>
            </a:r>
          </a:p>
        </p:txBody>
      </p:sp>
      <p:cxnSp>
        <p:nvCxnSpPr>
          <p:cNvPr id="35" name="Straight Arrow Connector 34">
            <a:extLst>
              <a:ext uri="{FF2B5EF4-FFF2-40B4-BE49-F238E27FC236}">
                <a16:creationId xmlns:a16="http://schemas.microsoft.com/office/drawing/2014/main" id="{1066DC2A-45E4-1C26-B076-6EC44DED2D07}"/>
              </a:ext>
            </a:extLst>
          </p:cNvPr>
          <p:cNvCxnSpPr>
            <a:cxnSpLocks/>
          </p:cNvCxnSpPr>
          <p:nvPr/>
        </p:nvCxnSpPr>
        <p:spPr>
          <a:xfrm flipV="1">
            <a:off x="1833256" y="2161565"/>
            <a:ext cx="0" cy="328958"/>
          </a:xfrm>
          <a:prstGeom prst="straightConnector1">
            <a:avLst/>
          </a:prstGeom>
          <a:ln w="571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615A5FED-5DA5-900A-16B2-4A0FC4691222}"/>
              </a:ext>
            </a:extLst>
          </p:cNvPr>
          <p:cNvSpPr/>
          <p:nvPr/>
        </p:nvSpPr>
        <p:spPr>
          <a:xfrm>
            <a:off x="3049588" y="1509532"/>
            <a:ext cx="484620" cy="461665"/>
          </a:xfrm>
          <a:prstGeom prst="rect">
            <a:avLst/>
          </a:prstGeom>
        </p:spPr>
        <p:txBody>
          <a:bodyPr wrap="none">
            <a:spAutoFit/>
          </a:bodyPr>
          <a:lstStyle/>
          <a:p>
            <a:r>
              <a:rPr lang="en-US" sz="2400" dirty="0" err="1">
                <a:solidFill>
                  <a:srgbClr val="C00000"/>
                </a:solidFill>
              </a:rPr>
              <a:t>Px</a:t>
            </a:r>
            <a:endParaRPr lang="en-IL" sz="2400" dirty="0"/>
          </a:p>
        </p:txBody>
      </p:sp>
      <p:cxnSp>
        <p:nvCxnSpPr>
          <p:cNvPr id="37" name="Straight Arrow Connector 36">
            <a:extLst>
              <a:ext uri="{FF2B5EF4-FFF2-40B4-BE49-F238E27FC236}">
                <a16:creationId xmlns:a16="http://schemas.microsoft.com/office/drawing/2014/main" id="{AE7037FA-1ED2-6BAE-C19C-C6EE1B440373}"/>
              </a:ext>
            </a:extLst>
          </p:cNvPr>
          <p:cNvCxnSpPr>
            <a:cxnSpLocks/>
          </p:cNvCxnSpPr>
          <p:nvPr/>
        </p:nvCxnSpPr>
        <p:spPr>
          <a:xfrm>
            <a:off x="3049588" y="1559776"/>
            <a:ext cx="0" cy="360697"/>
          </a:xfrm>
          <a:prstGeom prst="straightConnector1">
            <a:avLst/>
          </a:prstGeom>
          <a:ln w="571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8" name="Arrow: Chevron 37">
            <a:extLst>
              <a:ext uri="{FF2B5EF4-FFF2-40B4-BE49-F238E27FC236}">
                <a16:creationId xmlns:a16="http://schemas.microsoft.com/office/drawing/2014/main" id="{BF47A3DC-D36E-8881-FBA2-7D8F3108CC57}"/>
              </a:ext>
            </a:extLst>
          </p:cNvPr>
          <p:cNvSpPr/>
          <p:nvPr/>
        </p:nvSpPr>
        <p:spPr>
          <a:xfrm rot="10800000">
            <a:off x="2347329" y="1670502"/>
            <a:ext cx="441960" cy="230833"/>
          </a:xfrm>
          <a:prstGeom prst="chevron">
            <a:avLst/>
          </a:prstGeom>
          <a:solidFill>
            <a:schemeClr val="bg2">
              <a:lumMod val="9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solidFill>
                <a:schemeClr val="tx1"/>
              </a:solidFill>
            </a:endParaRPr>
          </a:p>
        </p:txBody>
      </p:sp>
      <p:sp>
        <p:nvSpPr>
          <p:cNvPr id="39" name="Rectangle 38">
            <a:extLst>
              <a:ext uri="{FF2B5EF4-FFF2-40B4-BE49-F238E27FC236}">
                <a16:creationId xmlns:a16="http://schemas.microsoft.com/office/drawing/2014/main" id="{389412DD-22E6-C2F9-803F-01F60F432CD7}"/>
              </a:ext>
            </a:extLst>
          </p:cNvPr>
          <p:cNvSpPr/>
          <p:nvPr/>
        </p:nvSpPr>
        <p:spPr>
          <a:xfrm>
            <a:off x="1889239" y="1534766"/>
            <a:ext cx="513282" cy="461665"/>
          </a:xfrm>
          <a:prstGeom prst="rect">
            <a:avLst/>
          </a:prstGeom>
        </p:spPr>
        <p:txBody>
          <a:bodyPr wrap="none">
            <a:spAutoFit/>
          </a:bodyPr>
          <a:lstStyle/>
          <a:p>
            <a:r>
              <a:rPr lang="en-US" sz="2400" dirty="0"/>
              <a:t>Dy</a:t>
            </a:r>
          </a:p>
        </p:txBody>
      </p:sp>
      <p:cxnSp>
        <p:nvCxnSpPr>
          <p:cNvPr id="40" name="Straight Arrow Connector 39">
            <a:extLst>
              <a:ext uri="{FF2B5EF4-FFF2-40B4-BE49-F238E27FC236}">
                <a16:creationId xmlns:a16="http://schemas.microsoft.com/office/drawing/2014/main" id="{16F4AE47-DE03-0040-8FE4-0634DFA00418}"/>
              </a:ext>
            </a:extLst>
          </p:cNvPr>
          <p:cNvCxnSpPr>
            <a:cxnSpLocks/>
          </p:cNvCxnSpPr>
          <p:nvPr/>
        </p:nvCxnSpPr>
        <p:spPr>
          <a:xfrm>
            <a:off x="1862026" y="1534766"/>
            <a:ext cx="0" cy="352262"/>
          </a:xfrm>
          <a:prstGeom prst="straightConnector1">
            <a:avLst/>
          </a:prstGeom>
          <a:ln w="571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875771F3-438F-5645-7836-4DBE0C1A258C}"/>
              </a:ext>
            </a:extLst>
          </p:cNvPr>
          <p:cNvSpPr/>
          <p:nvPr/>
        </p:nvSpPr>
        <p:spPr>
          <a:xfrm>
            <a:off x="4677024" y="4655140"/>
            <a:ext cx="278496" cy="3043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a:t>
            </a:r>
            <a:endParaRPr lang="en-IL" b="1" dirty="0"/>
          </a:p>
        </p:txBody>
      </p:sp>
      <p:sp>
        <p:nvSpPr>
          <p:cNvPr id="42" name="Oval 41">
            <a:extLst>
              <a:ext uri="{FF2B5EF4-FFF2-40B4-BE49-F238E27FC236}">
                <a16:creationId xmlns:a16="http://schemas.microsoft.com/office/drawing/2014/main" id="{895F4046-C703-E93C-35E0-7AE7ACB10E43}"/>
              </a:ext>
            </a:extLst>
          </p:cNvPr>
          <p:cNvSpPr/>
          <p:nvPr/>
        </p:nvSpPr>
        <p:spPr>
          <a:xfrm>
            <a:off x="1830560" y="4674501"/>
            <a:ext cx="278496" cy="3043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a:t>
            </a:r>
            <a:endParaRPr lang="en-IL" b="1" dirty="0"/>
          </a:p>
        </p:txBody>
      </p:sp>
      <p:cxnSp>
        <p:nvCxnSpPr>
          <p:cNvPr id="43" name="Straight Connector 42">
            <a:extLst>
              <a:ext uri="{FF2B5EF4-FFF2-40B4-BE49-F238E27FC236}">
                <a16:creationId xmlns:a16="http://schemas.microsoft.com/office/drawing/2014/main" id="{EC409D4A-2AE3-C110-76A7-36EDD1DEEB98}"/>
              </a:ext>
            </a:extLst>
          </p:cNvPr>
          <p:cNvCxnSpPr/>
          <p:nvPr/>
        </p:nvCxnSpPr>
        <p:spPr>
          <a:xfrm>
            <a:off x="918069" y="3928295"/>
            <a:ext cx="10160" cy="1889760"/>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67B86354-5BD2-745C-490F-5AB4343038DC}"/>
              </a:ext>
            </a:extLst>
          </p:cNvPr>
          <p:cNvSpPr txBox="1"/>
          <p:nvPr/>
        </p:nvSpPr>
        <p:spPr>
          <a:xfrm>
            <a:off x="5473672" y="3698576"/>
            <a:ext cx="680720" cy="369332"/>
          </a:xfrm>
          <a:prstGeom prst="rect">
            <a:avLst/>
          </a:prstGeom>
          <a:noFill/>
        </p:spPr>
        <p:txBody>
          <a:bodyPr wrap="square" rtlCol="0">
            <a:spAutoFit/>
          </a:bodyPr>
          <a:lstStyle/>
          <a:p>
            <a:r>
              <a:rPr lang="en-US" dirty="0"/>
              <a:t>S0</a:t>
            </a:r>
          </a:p>
        </p:txBody>
      </p:sp>
      <p:cxnSp>
        <p:nvCxnSpPr>
          <p:cNvPr id="45" name="Straight Connector 44">
            <a:extLst>
              <a:ext uri="{FF2B5EF4-FFF2-40B4-BE49-F238E27FC236}">
                <a16:creationId xmlns:a16="http://schemas.microsoft.com/office/drawing/2014/main" id="{8EC3D739-9505-FF72-C184-4DD839D982E3}"/>
              </a:ext>
            </a:extLst>
          </p:cNvPr>
          <p:cNvCxnSpPr>
            <a:cxnSpLocks/>
          </p:cNvCxnSpPr>
          <p:nvPr/>
        </p:nvCxnSpPr>
        <p:spPr>
          <a:xfrm flipV="1">
            <a:off x="955040" y="3529499"/>
            <a:ext cx="1805605" cy="1840061"/>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DB89C774-D691-C281-5F7F-146DF5AC3594}"/>
              </a:ext>
            </a:extLst>
          </p:cNvPr>
          <p:cNvCxnSpPr>
            <a:cxnSpLocks/>
          </p:cNvCxnSpPr>
          <p:nvPr/>
        </p:nvCxnSpPr>
        <p:spPr>
          <a:xfrm flipH="1">
            <a:off x="918069" y="4601861"/>
            <a:ext cx="74598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7E382610-6FA8-3902-2726-12A41B981117}"/>
              </a:ext>
            </a:extLst>
          </p:cNvPr>
          <p:cNvSpPr txBox="1"/>
          <p:nvPr/>
        </p:nvSpPr>
        <p:spPr>
          <a:xfrm>
            <a:off x="2749744" y="3186351"/>
            <a:ext cx="431118" cy="369332"/>
          </a:xfrm>
          <a:prstGeom prst="rect">
            <a:avLst/>
          </a:prstGeom>
          <a:noFill/>
        </p:spPr>
        <p:txBody>
          <a:bodyPr wrap="square" rtlCol="0">
            <a:spAutoFit/>
          </a:bodyPr>
          <a:lstStyle/>
          <a:p>
            <a:r>
              <a:rPr lang="en-US" dirty="0"/>
              <a:t>S</a:t>
            </a:r>
            <a:r>
              <a:rPr lang="en-US" sz="1200" dirty="0"/>
              <a:t>1</a:t>
            </a:r>
            <a:endParaRPr lang="en-US" dirty="0"/>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3958F855-D429-CF56-42EB-DF2A42731CCC}"/>
                  </a:ext>
                </a:extLst>
              </p:cNvPr>
              <p:cNvSpPr txBox="1"/>
              <p:nvPr/>
            </p:nvSpPr>
            <p:spPr>
              <a:xfrm>
                <a:off x="182249" y="4199169"/>
                <a:ext cx="754305" cy="454933"/>
              </a:xfrm>
              <a:prstGeom prst="rect">
                <a:avLst/>
              </a:prstGeom>
              <a:solidFill>
                <a:schemeClr val="accent2">
                  <a:lumMod val="20000"/>
                  <a:lumOff val="80000"/>
                </a:schemeClr>
              </a:solidFill>
              <a:ln>
                <a:solidFill>
                  <a:schemeClr val="bg1"/>
                </a:solidFill>
              </a:ln>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r>
                        <a:rPr lang="en-US" sz="1400" i="1" dirty="0" smtClean="0">
                          <a:latin typeface="Cambria Math" panose="02040503050406030204" pitchFamily="18" charset="0"/>
                        </a:rPr>
                        <m:t>𝑃</m:t>
                      </m:r>
                      <m:r>
                        <a:rPr lang="he-IL" sz="1400" b="0" i="1" dirty="0" smtClean="0">
                          <a:latin typeface="Cambria Math" panose="02040503050406030204" pitchFamily="18" charset="0"/>
                        </a:rPr>
                        <m:t>צרכן</m:t>
                      </m:r>
                    </m:oMath>
                  </m:oMathPara>
                </a14:m>
                <a:endParaRPr lang="en-IL" sz="1400" dirty="0"/>
              </a:p>
            </p:txBody>
          </p:sp>
        </mc:Choice>
        <mc:Fallback xmlns="">
          <p:sp>
            <p:nvSpPr>
              <p:cNvPr id="48" name="TextBox 47">
                <a:extLst>
                  <a:ext uri="{FF2B5EF4-FFF2-40B4-BE49-F238E27FC236}">
                    <a16:creationId xmlns:a16="http://schemas.microsoft.com/office/drawing/2014/main" id="{3958F855-D429-CF56-42EB-DF2A42731CCC}"/>
                  </a:ext>
                </a:extLst>
              </p:cNvPr>
              <p:cNvSpPr txBox="1">
                <a:spLocks noRot="1" noChangeAspect="1" noMove="1" noResize="1" noEditPoints="1" noAdjustHandles="1" noChangeArrowheads="1" noChangeShapeType="1" noTextEdit="1"/>
              </p:cNvSpPr>
              <p:nvPr/>
            </p:nvSpPr>
            <p:spPr>
              <a:xfrm>
                <a:off x="182249" y="4199169"/>
                <a:ext cx="754305" cy="454933"/>
              </a:xfrm>
              <a:prstGeom prst="rect">
                <a:avLst/>
              </a:prstGeom>
              <a:blipFill>
                <a:blip r:embed="rId2"/>
                <a:stretch>
                  <a:fillRect/>
                </a:stretch>
              </a:blipFill>
              <a:ln>
                <a:solidFill>
                  <a:schemeClr val="bg1"/>
                </a:solidFill>
              </a:ln>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A3296380-E071-C6AB-D2E2-74ACAC82F994}"/>
                  </a:ext>
                </a:extLst>
              </p:cNvPr>
              <p:cNvSpPr txBox="1"/>
              <p:nvPr/>
            </p:nvSpPr>
            <p:spPr>
              <a:xfrm>
                <a:off x="219122" y="5092988"/>
                <a:ext cx="565025" cy="403124"/>
              </a:xfrm>
              <a:prstGeom prst="rect">
                <a:avLst/>
              </a:prstGeom>
              <a:solidFill>
                <a:schemeClr val="accent4">
                  <a:lumMod val="20000"/>
                  <a:lumOff val="80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dirty="0" smtClean="0">
                          <a:latin typeface="Cambria Math" panose="02040503050406030204" pitchFamily="18" charset="0"/>
                        </a:rPr>
                        <m:t>𝑃</m:t>
                      </m:r>
                      <m:r>
                        <a:rPr lang="he-IL" sz="1800" i="1" dirty="0" smtClean="0">
                          <a:latin typeface="Cambria Math" panose="02040503050406030204" pitchFamily="18" charset="0"/>
                        </a:rPr>
                        <m:t>יצרן</m:t>
                      </m:r>
                    </m:oMath>
                  </m:oMathPara>
                </a14:m>
                <a:endParaRPr lang="en-IL" dirty="0"/>
              </a:p>
            </p:txBody>
          </p:sp>
        </mc:Choice>
        <mc:Fallback xmlns="">
          <p:sp>
            <p:nvSpPr>
              <p:cNvPr id="49" name="TextBox 48">
                <a:extLst>
                  <a:ext uri="{FF2B5EF4-FFF2-40B4-BE49-F238E27FC236}">
                    <a16:creationId xmlns:a16="http://schemas.microsoft.com/office/drawing/2014/main" id="{A3296380-E071-C6AB-D2E2-74ACAC82F994}"/>
                  </a:ext>
                </a:extLst>
              </p:cNvPr>
              <p:cNvSpPr txBox="1">
                <a:spLocks noRot="1" noChangeAspect="1" noMove="1" noResize="1" noEditPoints="1" noAdjustHandles="1" noChangeArrowheads="1" noChangeShapeType="1" noTextEdit="1"/>
              </p:cNvSpPr>
              <p:nvPr/>
            </p:nvSpPr>
            <p:spPr>
              <a:xfrm>
                <a:off x="219122" y="5092988"/>
                <a:ext cx="565025" cy="403124"/>
              </a:xfrm>
              <a:prstGeom prst="rect">
                <a:avLst/>
              </a:prstGeom>
              <a:blipFill>
                <a:blip r:embed="rId3"/>
                <a:stretch>
                  <a:fillRect r="-24731" b="-20896"/>
                </a:stretch>
              </a:blipFill>
            </p:spPr>
            <p:txBody>
              <a:bodyPr/>
              <a:lstStyle/>
              <a:p>
                <a:r>
                  <a:rPr lang="en-IL">
                    <a:noFill/>
                  </a:rPr>
                  <a:t> </a:t>
                </a:r>
              </a:p>
            </p:txBody>
          </p:sp>
        </mc:Fallback>
      </mc:AlternateContent>
      <p:cxnSp>
        <p:nvCxnSpPr>
          <p:cNvPr id="50" name="Straight Connector 49">
            <a:extLst>
              <a:ext uri="{FF2B5EF4-FFF2-40B4-BE49-F238E27FC236}">
                <a16:creationId xmlns:a16="http://schemas.microsoft.com/office/drawing/2014/main" id="{87B189BC-D1F1-BFA0-5412-A1A3928DE4EA}"/>
              </a:ext>
            </a:extLst>
          </p:cNvPr>
          <p:cNvCxnSpPr>
            <a:cxnSpLocks/>
          </p:cNvCxnSpPr>
          <p:nvPr/>
        </p:nvCxnSpPr>
        <p:spPr>
          <a:xfrm flipH="1">
            <a:off x="928229" y="5200694"/>
            <a:ext cx="703238" cy="16301"/>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660FDCC2-AE99-FBCD-EA23-06FD1F1AB366}"/>
              </a:ext>
            </a:extLst>
          </p:cNvPr>
          <p:cNvCxnSpPr>
            <a:cxnSpLocks/>
          </p:cNvCxnSpPr>
          <p:nvPr/>
        </p:nvCxnSpPr>
        <p:spPr>
          <a:xfrm>
            <a:off x="1664049" y="4601861"/>
            <a:ext cx="0" cy="1280779"/>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A5F42AF6-56A2-2FF3-B0DB-31DAF320C2CB}"/>
              </a:ext>
            </a:extLst>
          </p:cNvPr>
          <p:cNvCxnSpPr/>
          <p:nvPr/>
        </p:nvCxnSpPr>
        <p:spPr>
          <a:xfrm>
            <a:off x="4466176" y="3749153"/>
            <a:ext cx="1371600" cy="1467842"/>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1B56FC2F-08B9-0FB6-5EC8-CA63CA34F1FF}"/>
              </a:ext>
            </a:extLst>
          </p:cNvPr>
          <p:cNvSpPr txBox="1"/>
          <p:nvPr/>
        </p:nvSpPr>
        <p:spPr>
          <a:xfrm>
            <a:off x="4318856" y="3617073"/>
            <a:ext cx="680720" cy="369332"/>
          </a:xfrm>
          <a:prstGeom prst="rect">
            <a:avLst/>
          </a:prstGeom>
          <a:noFill/>
        </p:spPr>
        <p:txBody>
          <a:bodyPr wrap="square" rtlCol="0">
            <a:spAutoFit/>
          </a:bodyPr>
          <a:lstStyle/>
          <a:p>
            <a:r>
              <a:rPr lang="en-US" dirty="0">
                <a:solidFill>
                  <a:srgbClr val="00B050"/>
                </a:solidFill>
              </a:rPr>
              <a:t>D1</a:t>
            </a:r>
          </a:p>
        </p:txBody>
      </p:sp>
      <p:cxnSp>
        <p:nvCxnSpPr>
          <p:cNvPr id="57" name="Straight Connector 56">
            <a:extLst>
              <a:ext uri="{FF2B5EF4-FFF2-40B4-BE49-F238E27FC236}">
                <a16:creationId xmlns:a16="http://schemas.microsoft.com/office/drawing/2014/main" id="{D0A8D43E-B6D6-5E48-7D26-6BC7FDA8759F}"/>
              </a:ext>
            </a:extLst>
          </p:cNvPr>
          <p:cNvCxnSpPr/>
          <p:nvPr/>
        </p:nvCxnSpPr>
        <p:spPr>
          <a:xfrm flipH="1">
            <a:off x="3861656" y="4475315"/>
            <a:ext cx="1254760" cy="0"/>
          </a:xfrm>
          <a:prstGeom prst="line">
            <a:avLst/>
          </a:prstGeom>
          <a:ln>
            <a:solidFill>
              <a:srgbClr val="00B050"/>
            </a:solidFill>
            <a:prstDash val="sysDash"/>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7C2835B0-AC26-5F75-53E1-352D409346FA}"/>
              </a:ext>
            </a:extLst>
          </p:cNvPr>
          <p:cNvSpPr txBox="1"/>
          <p:nvPr/>
        </p:nvSpPr>
        <p:spPr>
          <a:xfrm>
            <a:off x="3328749" y="4330059"/>
            <a:ext cx="680720" cy="369332"/>
          </a:xfrm>
          <a:prstGeom prst="rect">
            <a:avLst/>
          </a:prstGeom>
          <a:noFill/>
        </p:spPr>
        <p:txBody>
          <a:bodyPr wrap="square" rtlCol="0">
            <a:spAutoFit/>
          </a:bodyPr>
          <a:lstStyle/>
          <a:p>
            <a:r>
              <a:rPr lang="en-US" dirty="0">
                <a:solidFill>
                  <a:srgbClr val="00B050"/>
                </a:solidFill>
              </a:rPr>
              <a:t>Py1</a:t>
            </a:r>
          </a:p>
        </p:txBody>
      </p:sp>
      <p:sp>
        <p:nvSpPr>
          <p:cNvPr id="59" name="Oval 58">
            <a:extLst>
              <a:ext uri="{FF2B5EF4-FFF2-40B4-BE49-F238E27FC236}">
                <a16:creationId xmlns:a16="http://schemas.microsoft.com/office/drawing/2014/main" id="{A13EF7AA-3AA3-F319-C831-85D4A56D52CF}"/>
              </a:ext>
            </a:extLst>
          </p:cNvPr>
          <p:cNvSpPr/>
          <p:nvPr/>
        </p:nvSpPr>
        <p:spPr>
          <a:xfrm>
            <a:off x="5003020" y="4362547"/>
            <a:ext cx="278496" cy="304356"/>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a:t>
            </a:r>
            <a:endParaRPr lang="en-IL" b="1" dirty="0"/>
          </a:p>
        </p:txBody>
      </p:sp>
      <p:sp>
        <p:nvSpPr>
          <p:cNvPr id="65" name="Oval 64">
            <a:extLst>
              <a:ext uri="{FF2B5EF4-FFF2-40B4-BE49-F238E27FC236}">
                <a16:creationId xmlns:a16="http://schemas.microsoft.com/office/drawing/2014/main" id="{64713139-8F56-E835-9723-F13DD5FB810B}"/>
              </a:ext>
            </a:extLst>
          </p:cNvPr>
          <p:cNvSpPr/>
          <p:nvPr/>
        </p:nvSpPr>
        <p:spPr>
          <a:xfrm>
            <a:off x="1501264" y="4426635"/>
            <a:ext cx="278496" cy="304356"/>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a:t>
            </a:r>
            <a:endParaRPr lang="en-IL" b="1" dirty="0"/>
          </a:p>
        </p:txBody>
      </p:sp>
      <p:cxnSp>
        <p:nvCxnSpPr>
          <p:cNvPr id="66" name="Straight Connector 65">
            <a:extLst>
              <a:ext uri="{FF2B5EF4-FFF2-40B4-BE49-F238E27FC236}">
                <a16:creationId xmlns:a16="http://schemas.microsoft.com/office/drawing/2014/main" id="{DC80919D-AFD3-A8C7-6740-6D0EDB3C17B5}"/>
              </a:ext>
            </a:extLst>
          </p:cNvPr>
          <p:cNvCxnSpPr>
            <a:cxnSpLocks/>
          </p:cNvCxnSpPr>
          <p:nvPr/>
        </p:nvCxnSpPr>
        <p:spPr>
          <a:xfrm>
            <a:off x="5214391" y="4575460"/>
            <a:ext cx="29624" cy="1190340"/>
          </a:xfrm>
          <a:prstGeom prst="line">
            <a:avLst/>
          </a:prstGeom>
          <a:ln>
            <a:solidFill>
              <a:srgbClr val="00B050"/>
            </a:solidFill>
            <a:prstDash val="sysDash"/>
          </a:ln>
        </p:spPr>
        <p:style>
          <a:lnRef idx="1">
            <a:schemeClr val="accent1"/>
          </a:lnRef>
          <a:fillRef idx="0">
            <a:schemeClr val="accent1"/>
          </a:fillRef>
          <a:effectRef idx="0">
            <a:schemeClr val="accent1"/>
          </a:effectRef>
          <a:fontRef idx="minor">
            <a:schemeClr val="tx1"/>
          </a:fontRef>
        </p:style>
      </p:cxnSp>
      <p:sp>
        <p:nvSpPr>
          <p:cNvPr id="3" name="Rectangle: Rounded Corners 2">
            <a:extLst>
              <a:ext uri="{FF2B5EF4-FFF2-40B4-BE49-F238E27FC236}">
                <a16:creationId xmlns:a16="http://schemas.microsoft.com/office/drawing/2014/main" id="{9F7E5E57-BD9A-58B7-F8D8-3BE52A1123D9}"/>
              </a:ext>
            </a:extLst>
          </p:cNvPr>
          <p:cNvSpPr/>
          <p:nvPr/>
        </p:nvSpPr>
        <p:spPr>
          <a:xfrm>
            <a:off x="7308506" y="2471386"/>
            <a:ext cx="4520021" cy="46475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4281898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7"/>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3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39"/>
                                        </p:tgtEl>
                                        <p:attrNameLst>
                                          <p:attrName>style.visibility</p:attrName>
                                        </p:attrNameLst>
                                      </p:cBhvr>
                                      <p:to>
                                        <p:strVal val="visible"/>
                                      </p:to>
                                    </p:set>
                                    <p:animEffect transition="in" filter="barn(inVertical)">
                                      <p:cBhvr>
                                        <p:cTn id="26" dur="500"/>
                                        <p:tgtEl>
                                          <p:spTgt spid="39"/>
                                        </p:tgtEl>
                                      </p:cBhvr>
                                    </p:animEffect>
                                  </p:childTnLst>
                                </p:cTn>
                              </p:par>
                              <p:par>
                                <p:cTn id="27" presetID="16" presetClass="entr" presetSubtype="21" fill="hold" nodeType="withEffect">
                                  <p:stCondLst>
                                    <p:cond delay="0"/>
                                  </p:stCondLst>
                                  <p:childTnLst>
                                    <p:set>
                                      <p:cBhvr>
                                        <p:cTn id="28" dur="1" fill="hold">
                                          <p:stCondLst>
                                            <p:cond delay="0"/>
                                          </p:stCondLst>
                                        </p:cTn>
                                        <p:tgtEl>
                                          <p:spTgt spid="40"/>
                                        </p:tgtEl>
                                        <p:attrNameLst>
                                          <p:attrName>style.visibility</p:attrName>
                                        </p:attrNameLst>
                                      </p:cBhvr>
                                      <p:to>
                                        <p:strVal val="visible"/>
                                      </p:to>
                                    </p:set>
                                    <p:animEffect transition="in" filter="barn(inVertical)">
                                      <p:cBhvr>
                                        <p:cTn id="29" dur="500"/>
                                        <p:tgtEl>
                                          <p:spTgt spid="40"/>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32"/>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31"/>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33"/>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6" presetClass="entr" presetSubtype="21" fill="hold" grpId="0" nodeType="clickEffect">
                                  <p:stCondLst>
                                    <p:cond delay="0"/>
                                  </p:stCondLst>
                                  <p:childTnLst>
                                    <p:set>
                                      <p:cBhvr>
                                        <p:cTn id="43" dur="1" fill="hold">
                                          <p:stCondLst>
                                            <p:cond delay="0"/>
                                          </p:stCondLst>
                                        </p:cTn>
                                        <p:tgtEl>
                                          <p:spTgt spid="34"/>
                                        </p:tgtEl>
                                        <p:attrNameLst>
                                          <p:attrName>style.visibility</p:attrName>
                                        </p:attrNameLst>
                                      </p:cBhvr>
                                      <p:to>
                                        <p:strVal val="visible"/>
                                      </p:to>
                                    </p:set>
                                    <p:animEffect transition="in" filter="barn(inVertical)">
                                      <p:cBhvr>
                                        <p:cTn id="44" dur="500"/>
                                        <p:tgtEl>
                                          <p:spTgt spid="34"/>
                                        </p:tgtEl>
                                      </p:cBhvr>
                                    </p:animEffect>
                                  </p:childTnLst>
                                </p:cTn>
                              </p:par>
                              <p:par>
                                <p:cTn id="45" presetID="16" presetClass="entr" presetSubtype="21" fill="hold" nodeType="with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barn(inVertical)">
                                      <p:cBhvr>
                                        <p:cTn id="47" dur="500"/>
                                        <p:tgtEl>
                                          <p:spTgt spid="35"/>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45"/>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46"/>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47"/>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8"/>
                                        </p:tgtEl>
                                        <p:attrNameLst>
                                          <p:attrName>style.visibility</p:attrName>
                                        </p:attrNameLst>
                                      </p:cBhvr>
                                      <p:to>
                                        <p:strVal val="visible"/>
                                      </p:to>
                                    </p:set>
                                    <p:animEffect transition="in" filter="fade">
                                      <p:cBhvr>
                                        <p:cTn id="62" dur="500"/>
                                        <p:tgtEl>
                                          <p:spTgt spid="48"/>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500"/>
                                        <p:tgtEl>
                                          <p:spTgt spid="49"/>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50"/>
                                        </p:tgtEl>
                                        <p:attrNameLst>
                                          <p:attrName>style.visibility</p:attrName>
                                        </p:attrNameLst>
                                      </p:cBhvr>
                                      <p:to>
                                        <p:strVal val="visible"/>
                                      </p:to>
                                    </p:set>
                                  </p:childTnLst>
                                </p:cTn>
                              </p:par>
                              <p:par>
                                <p:cTn id="72" presetID="1" presetClass="entr" presetSubtype="0" fill="hold" nodeType="withEffect">
                                  <p:stCondLst>
                                    <p:cond delay="0"/>
                                  </p:stCondLst>
                                  <p:childTnLst>
                                    <p:set>
                                      <p:cBhvr>
                                        <p:cTn id="73" dur="1" fill="hold">
                                          <p:stCondLst>
                                            <p:cond delay="0"/>
                                          </p:stCondLst>
                                        </p:cTn>
                                        <p:tgtEl>
                                          <p:spTgt spid="53"/>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56"/>
                                        </p:tgtEl>
                                        <p:attrNameLst>
                                          <p:attrName>style.visibility</p:attrName>
                                        </p:attrNameLst>
                                      </p:cBhvr>
                                      <p:to>
                                        <p:strVal val="visible"/>
                                      </p:to>
                                    </p:set>
                                    <p:animEffect transition="in" filter="fade">
                                      <p:cBhvr>
                                        <p:cTn id="78" dur="500"/>
                                        <p:tgtEl>
                                          <p:spTgt spid="56"/>
                                        </p:tgtEl>
                                      </p:cBhvr>
                                    </p:animEffect>
                                  </p:childTnLst>
                                </p:cTn>
                              </p:par>
                              <p:par>
                                <p:cTn id="79" presetID="10" presetClass="entr" presetSubtype="0" fill="hold" nodeType="withEffect">
                                  <p:stCondLst>
                                    <p:cond delay="0"/>
                                  </p:stCondLst>
                                  <p:childTnLst>
                                    <p:set>
                                      <p:cBhvr>
                                        <p:cTn id="80" dur="1" fill="hold">
                                          <p:stCondLst>
                                            <p:cond delay="0"/>
                                          </p:stCondLst>
                                        </p:cTn>
                                        <p:tgtEl>
                                          <p:spTgt spid="55"/>
                                        </p:tgtEl>
                                        <p:attrNameLst>
                                          <p:attrName>style.visibility</p:attrName>
                                        </p:attrNameLst>
                                      </p:cBhvr>
                                      <p:to>
                                        <p:strVal val="visible"/>
                                      </p:to>
                                    </p:set>
                                    <p:animEffect transition="in" filter="fade">
                                      <p:cBhvr>
                                        <p:cTn id="81" dur="500"/>
                                        <p:tgtEl>
                                          <p:spTgt spid="55"/>
                                        </p:tgtEl>
                                      </p:cBhvr>
                                    </p:animEffect>
                                  </p:childTnLst>
                                </p:cTn>
                              </p:par>
                              <p:par>
                                <p:cTn id="82" presetID="10" presetClass="entr" presetSubtype="0" fill="hold" nodeType="withEffect">
                                  <p:stCondLst>
                                    <p:cond delay="0"/>
                                  </p:stCondLst>
                                  <p:childTnLst>
                                    <p:set>
                                      <p:cBhvr>
                                        <p:cTn id="83" dur="1" fill="hold">
                                          <p:stCondLst>
                                            <p:cond delay="0"/>
                                          </p:stCondLst>
                                        </p:cTn>
                                        <p:tgtEl>
                                          <p:spTgt spid="57"/>
                                        </p:tgtEl>
                                        <p:attrNameLst>
                                          <p:attrName>style.visibility</p:attrName>
                                        </p:attrNameLst>
                                      </p:cBhvr>
                                      <p:to>
                                        <p:strVal val="visible"/>
                                      </p:to>
                                    </p:set>
                                    <p:animEffect transition="in" filter="fade">
                                      <p:cBhvr>
                                        <p:cTn id="84" dur="500"/>
                                        <p:tgtEl>
                                          <p:spTgt spid="57"/>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58"/>
                                        </p:tgtEl>
                                        <p:attrNameLst>
                                          <p:attrName>style.visibility</p:attrName>
                                        </p:attrNameLst>
                                      </p:cBhvr>
                                      <p:to>
                                        <p:strVal val="visible"/>
                                      </p:to>
                                    </p:set>
                                    <p:animEffect transition="in" filter="fade">
                                      <p:cBhvr>
                                        <p:cTn id="87" dur="500"/>
                                        <p:tgtEl>
                                          <p:spTgt spid="58"/>
                                        </p:tgtEl>
                                      </p:cBhvr>
                                    </p:animEffec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59"/>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65"/>
                                        </p:tgtEl>
                                        <p:attrNameLst>
                                          <p:attrName>style.visibility</p:attrName>
                                        </p:attrNameLst>
                                      </p:cBhvr>
                                      <p:to>
                                        <p:strVal val="visible"/>
                                      </p:to>
                                    </p:set>
                                  </p:childTnLst>
                                </p:cTn>
                              </p:par>
                              <p:par>
                                <p:cTn id="96" presetID="10" presetClass="entr" presetSubtype="0" fill="hold" nodeType="withEffect">
                                  <p:stCondLst>
                                    <p:cond delay="0"/>
                                  </p:stCondLst>
                                  <p:childTnLst>
                                    <p:set>
                                      <p:cBhvr>
                                        <p:cTn id="97" dur="1" fill="hold">
                                          <p:stCondLst>
                                            <p:cond delay="0"/>
                                          </p:stCondLst>
                                        </p:cTn>
                                        <p:tgtEl>
                                          <p:spTgt spid="66"/>
                                        </p:tgtEl>
                                        <p:attrNameLst>
                                          <p:attrName>style.visibility</p:attrName>
                                        </p:attrNameLst>
                                      </p:cBhvr>
                                      <p:to>
                                        <p:strVal val="visible"/>
                                      </p:to>
                                    </p:set>
                                    <p:animEffect transition="in" filter="fade">
                                      <p:cBhvr>
                                        <p:cTn id="98" dur="500"/>
                                        <p:tgtEl>
                                          <p:spTgt spid="66"/>
                                        </p:tgtEl>
                                      </p:cBhvr>
                                    </p:animEffect>
                                  </p:childTnLst>
                                </p:cTn>
                              </p:par>
                            </p:childTnLst>
                          </p:cTn>
                        </p:par>
                      </p:childTnLst>
                    </p:cTn>
                  </p:par>
                  <p:par>
                    <p:cTn id="99" fill="hold">
                      <p:stCondLst>
                        <p:cond delay="indefinite"/>
                      </p:stCondLst>
                      <p:childTnLst>
                        <p:par>
                          <p:cTn id="100" fill="hold">
                            <p:stCondLst>
                              <p:cond delay="0"/>
                            </p:stCondLst>
                            <p:childTnLst>
                              <p:par>
                                <p:cTn id="101" presetID="42" presetClass="entr" presetSubtype="0" fill="hold" grpId="0" nodeType="clickEffect">
                                  <p:stCondLst>
                                    <p:cond delay="0"/>
                                  </p:stCondLst>
                                  <p:childTnLst>
                                    <p:set>
                                      <p:cBhvr>
                                        <p:cTn id="102" dur="1" fill="hold">
                                          <p:stCondLst>
                                            <p:cond delay="0"/>
                                          </p:stCondLst>
                                        </p:cTn>
                                        <p:tgtEl>
                                          <p:spTgt spid="3"/>
                                        </p:tgtEl>
                                        <p:attrNameLst>
                                          <p:attrName>style.visibility</p:attrName>
                                        </p:attrNameLst>
                                      </p:cBhvr>
                                      <p:to>
                                        <p:strVal val="visible"/>
                                      </p:to>
                                    </p:set>
                                    <p:animEffect transition="in" filter="fade">
                                      <p:cBhvr>
                                        <p:cTn id="103" dur="1000"/>
                                        <p:tgtEl>
                                          <p:spTgt spid="3"/>
                                        </p:tgtEl>
                                      </p:cBhvr>
                                    </p:animEffect>
                                    <p:anim calcmode="lin" valueType="num">
                                      <p:cBhvr>
                                        <p:cTn id="104" dur="1000" fill="hold"/>
                                        <p:tgtEl>
                                          <p:spTgt spid="3"/>
                                        </p:tgtEl>
                                        <p:attrNameLst>
                                          <p:attrName>ppt_x</p:attrName>
                                        </p:attrNameLst>
                                      </p:cBhvr>
                                      <p:tavLst>
                                        <p:tav tm="0">
                                          <p:val>
                                            <p:strVal val="#ppt_x"/>
                                          </p:val>
                                        </p:tav>
                                        <p:tav tm="100000">
                                          <p:val>
                                            <p:strVal val="#ppt_x"/>
                                          </p:val>
                                        </p:tav>
                                      </p:tavLst>
                                    </p:anim>
                                    <p:anim calcmode="lin" valueType="num">
                                      <p:cBhvr>
                                        <p:cTn id="10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P spid="33" grpId="0" animBg="1"/>
      <p:bldP spid="34" grpId="0"/>
      <p:bldP spid="36" grpId="0"/>
      <p:bldP spid="38" grpId="0" animBg="1"/>
      <p:bldP spid="39" grpId="0"/>
      <p:bldP spid="42" grpId="0" animBg="1"/>
      <p:bldP spid="47" grpId="0"/>
      <p:bldP spid="48" grpId="0" animBg="1"/>
      <p:bldP spid="49" grpId="0" animBg="1"/>
      <p:bldP spid="56" grpId="0"/>
      <p:bldP spid="58" grpId="0"/>
      <p:bldP spid="59" grpId="0" animBg="1"/>
      <p:bldP spid="65" grpId="0" animBg="1"/>
      <p:bldP spid="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86CFC-21FB-6BDA-BA4E-162AB7AF68F4}"/>
              </a:ext>
            </a:extLst>
          </p:cNvPr>
          <p:cNvSpPr>
            <a:spLocks noGrp="1"/>
          </p:cNvSpPr>
          <p:nvPr>
            <p:ph type="title"/>
          </p:nvPr>
        </p:nvSpPr>
        <p:spPr>
          <a:xfrm>
            <a:off x="10452682" y="79899"/>
            <a:ext cx="1647738" cy="633165"/>
          </a:xfrm>
        </p:spPr>
        <p:txBody>
          <a:bodyPr>
            <a:normAutofit/>
          </a:bodyPr>
          <a:lstStyle/>
          <a:p>
            <a:pPr algn="r" rtl="1"/>
            <a:r>
              <a:rPr lang="he-IL" sz="3200" dirty="0"/>
              <a:t>שאלה 11 </a:t>
            </a:r>
            <a:endParaRPr lang="en-IL" sz="3200" dirty="0"/>
          </a:p>
        </p:txBody>
      </p:sp>
      <p:sp>
        <p:nvSpPr>
          <p:cNvPr id="5" name="TextBox 4">
            <a:extLst>
              <a:ext uri="{FF2B5EF4-FFF2-40B4-BE49-F238E27FC236}">
                <a16:creationId xmlns:a16="http://schemas.microsoft.com/office/drawing/2014/main" id="{1AC883D4-1312-3F69-773D-28452D30D14F}"/>
              </a:ext>
            </a:extLst>
          </p:cNvPr>
          <p:cNvSpPr txBox="1"/>
          <p:nvPr/>
        </p:nvSpPr>
        <p:spPr>
          <a:xfrm>
            <a:off x="1181100" y="158079"/>
            <a:ext cx="9090607" cy="873252"/>
          </a:xfrm>
          <a:prstGeom prst="rect">
            <a:avLst/>
          </a:prstGeom>
          <a:noFill/>
        </p:spPr>
        <p:txBody>
          <a:bodyPr wrap="square">
            <a:spAutoFit/>
          </a:bodyPr>
          <a:lstStyle/>
          <a:p>
            <a:pPr indent="-228600" algn="r" rtl="1">
              <a:lnSpc>
                <a:spcPct val="150000"/>
              </a:lnSpc>
              <a:tabLst>
                <a:tab pos="-228600" algn="l"/>
              </a:tabLst>
            </a:pP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 ידוע כי בעקבות שיפור טכנולוגי בשוק </a:t>
            </a:r>
            <a:r>
              <a:rPr lang="en-US" sz="1800" b="1" dirty="0">
                <a:effectLst/>
                <a:latin typeface="Arial" panose="020B0604020202020204" pitchFamily="34" charset="0"/>
                <a:ea typeface="Times New Roman" panose="02020603050405020304" pitchFamily="18" charset="0"/>
              </a:rPr>
              <a:t>Y</a:t>
            </a: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 </a:t>
            </a:r>
            <a:r>
              <a:rPr lang="he-IL" sz="1800" b="1" u="sng" dirty="0">
                <a:effectLst/>
                <a:latin typeface="Times New Roman" panose="02020603050405020304" pitchFamily="18" charset="0"/>
                <a:ea typeface="Times New Roman" panose="02020603050405020304" pitchFamily="18" charset="0"/>
                <a:cs typeface="Arial" panose="020B0604020202020204" pitchFamily="34" charset="0"/>
              </a:rPr>
              <a:t>הוצאת הצרכנים הן בשוק </a:t>
            </a:r>
            <a:r>
              <a:rPr lang="en-US" sz="1800" b="1" u="sng" dirty="0">
                <a:effectLst/>
                <a:latin typeface="Arial" panose="020B0604020202020204" pitchFamily="34" charset="0"/>
                <a:ea typeface="Times New Roman" panose="02020603050405020304" pitchFamily="18" charset="0"/>
              </a:rPr>
              <a:t>Y</a:t>
            </a:r>
            <a:r>
              <a:rPr lang="he-IL" sz="1800" b="1" u="sng" dirty="0">
                <a:effectLst/>
                <a:latin typeface="Times New Roman" panose="02020603050405020304" pitchFamily="18" charset="0"/>
                <a:ea typeface="Times New Roman" panose="02020603050405020304" pitchFamily="18" charset="0"/>
                <a:cs typeface="Arial" panose="020B0604020202020204" pitchFamily="34" charset="0"/>
              </a:rPr>
              <a:t> והן בשוק </a:t>
            </a:r>
            <a:r>
              <a:rPr lang="en-US" sz="1800" b="1" u="sng" dirty="0">
                <a:effectLst/>
                <a:latin typeface="Arial" panose="020B0604020202020204" pitchFamily="34" charset="0"/>
                <a:ea typeface="Times New Roman" panose="02020603050405020304" pitchFamily="18" charset="0"/>
              </a:rPr>
              <a:t>X</a:t>
            </a:r>
            <a:r>
              <a:rPr lang="he-IL" sz="1800" b="1" u="sng" dirty="0">
                <a:effectLst/>
                <a:latin typeface="Times New Roman" panose="02020603050405020304" pitchFamily="18" charset="0"/>
                <a:ea typeface="Times New Roman" panose="02020603050405020304" pitchFamily="18" charset="0"/>
                <a:cs typeface="Arial" panose="020B0604020202020204" pitchFamily="34" charset="0"/>
              </a:rPr>
              <a:t> עלתה</a:t>
            </a: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 </a:t>
            </a:r>
            <a:endParaRPr lang="en-US" sz="1800" b="1" dirty="0">
              <a:effectLst/>
              <a:latin typeface="Times New Roman" panose="02020603050405020304" pitchFamily="18" charset="0"/>
              <a:ea typeface="Times New Roman" panose="02020603050405020304" pitchFamily="18" charset="0"/>
              <a:cs typeface="Arial" panose="020B0604020202020204" pitchFamily="34" charset="0"/>
            </a:endParaRPr>
          </a:p>
          <a:p>
            <a:pPr indent="-228600" algn="r" rtl="1">
              <a:lnSpc>
                <a:spcPct val="150000"/>
              </a:lnSpc>
              <a:tabLst>
                <a:tab pos="-228600" algn="l"/>
              </a:tabLst>
            </a:pP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מכאן ניתן להסיק כי:</a:t>
            </a:r>
            <a:endParaRPr lang="en-IL" sz="1800" dirty="0">
              <a:effectLst/>
              <a:latin typeface="Times New Roman" panose="02020603050405020304" pitchFamily="18" charset="0"/>
              <a:ea typeface="Times New Roman" panose="02020603050405020304" pitchFamily="18" charset="0"/>
            </a:endParaRPr>
          </a:p>
        </p:txBody>
      </p:sp>
      <p:sp>
        <p:nvSpPr>
          <p:cNvPr id="6" name="Rectangle 2">
            <a:extLst>
              <a:ext uri="{FF2B5EF4-FFF2-40B4-BE49-F238E27FC236}">
                <a16:creationId xmlns:a16="http://schemas.microsoft.com/office/drawing/2014/main" id="{24C86B52-4DFA-E090-FAB2-A904DFBF2D9F}"/>
              </a:ext>
            </a:extLst>
          </p:cNvPr>
          <p:cNvSpPr>
            <a:spLocks noChangeArrowheads="1"/>
          </p:cNvSpPr>
          <p:nvPr/>
        </p:nvSpPr>
        <p:spPr bwMode="auto">
          <a:xfrm>
            <a:off x="4540605" y="1263712"/>
            <a:ext cx="7055612" cy="2950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עקומת הביקוש למוצר </a:t>
            </a:r>
            <a:r>
              <a:rPr lang="en-US" sz="1800" dirty="0">
                <a:effectLst/>
                <a:latin typeface="Arial" panose="020B0604020202020204" pitchFamily="34" charset="0"/>
                <a:ea typeface="Times New Roman" panose="02020603050405020304" pitchFamily="18" charset="0"/>
              </a:rPr>
              <a:t>Y</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גמישה (בתחום הרלוונטי) וכן כי </a:t>
            </a:r>
            <a:r>
              <a:rPr lang="en-US" sz="1800" dirty="0">
                <a:effectLst/>
                <a:latin typeface="Arial" panose="020B0604020202020204" pitchFamily="34" charset="0"/>
                <a:ea typeface="Times New Roman" panose="02020603050405020304" pitchFamily="18" charset="0"/>
              </a:rPr>
              <a:t>X</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ו- </a:t>
            </a:r>
            <a:r>
              <a:rPr lang="en-US" sz="1800" dirty="0">
                <a:effectLst/>
                <a:latin typeface="Arial" panose="020B0604020202020204" pitchFamily="34" charset="0"/>
                <a:ea typeface="Times New Roman" panose="02020603050405020304" pitchFamily="18" charset="0"/>
              </a:rPr>
              <a:t>Y</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מוצרים משלימים.</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עקומת הביקוש הן של מוצר </a:t>
            </a:r>
            <a:r>
              <a:rPr lang="en-US" sz="1800" dirty="0">
                <a:effectLst/>
                <a:latin typeface="Arial" panose="020B0604020202020204" pitchFamily="34" charset="0"/>
                <a:ea typeface="Times New Roman" panose="02020603050405020304" pitchFamily="18" charset="0"/>
              </a:rPr>
              <a:t>X</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והן של מוצר </a:t>
            </a:r>
            <a:r>
              <a:rPr lang="en-US" sz="1800" dirty="0">
                <a:effectLst/>
                <a:latin typeface="Arial" panose="020B0604020202020204" pitchFamily="34" charset="0"/>
                <a:ea typeface="Times New Roman" panose="02020603050405020304" pitchFamily="18" charset="0"/>
              </a:rPr>
              <a:t>Y</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גמישות (בתחום הרלוונטי).</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הן רווחי יצרני </a:t>
            </a:r>
            <a:r>
              <a:rPr lang="en-US" sz="1800" dirty="0">
                <a:effectLst/>
                <a:latin typeface="Arial" panose="020B0604020202020204" pitchFamily="34" charset="0"/>
                <a:ea typeface="Times New Roman" panose="02020603050405020304" pitchFamily="18" charset="0"/>
              </a:rPr>
              <a:t>X</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והן ריווחי יצרני </a:t>
            </a:r>
            <a:r>
              <a:rPr lang="en-US" sz="1800" dirty="0">
                <a:effectLst/>
                <a:latin typeface="Arial" panose="020B0604020202020204" pitchFamily="34" charset="0"/>
                <a:ea typeface="Times New Roman" panose="02020603050405020304" pitchFamily="18" charset="0"/>
              </a:rPr>
              <a:t>Y</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עלו.</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אם עקומת ההיצע בשוק </a:t>
            </a:r>
            <a:r>
              <a:rPr lang="en-US" sz="1800" dirty="0">
                <a:effectLst/>
                <a:latin typeface="Arial" panose="020B0604020202020204" pitchFamily="34" charset="0"/>
                <a:ea typeface="Times New Roman" panose="02020603050405020304" pitchFamily="18" charset="0"/>
              </a:rPr>
              <a:t>X</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הייתה גמישה לחלוטין (מקבילה לציר </a:t>
            </a:r>
            <a:r>
              <a:rPr lang="en-US" sz="1800" dirty="0">
                <a:effectLst/>
                <a:latin typeface="Arial" panose="020B0604020202020204" pitchFamily="34" charset="0"/>
                <a:ea typeface="Times New Roman" panose="02020603050405020304" pitchFamily="18" charset="0"/>
              </a:rPr>
              <a:t>X</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הוצאות הצרכנים בשוק </a:t>
            </a:r>
            <a:r>
              <a:rPr lang="en-US" sz="1800" dirty="0">
                <a:effectLst/>
                <a:latin typeface="Arial" panose="020B0604020202020204" pitchFamily="34" charset="0"/>
                <a:ea typeface="Times New Roman" panose="02020603050405020304" pitchFamily="18" charset="0"/>
              </a:rPr>
              <a:t>X</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לא היו משתנות.</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כל התשובות האחרות לא נכונות.</a:t>
            </a:r>
            <a:endParaRPr lang="en-IL"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305531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86CFC-21FB-6BDA-BA4E-162AB7AF68F4}"/>
              </a:ext>
            </a:extLst>
          </p:cNvPr>
          <p:cNvSpPr>
            <a:spLocks noGrp="1"/>
          </p:cNvSpPr>
          <p:nvPr>
            <p:ph type="title"/>
          </p:nvPr>
        </p:nvSpPr>
        <p:spPr>
          <a:xfrm>
            <a:off x="10452682" y="79899"/>
            <a:ext cx="1647738" cy="633165"/>
          </a:xfrm>
        </p:spPr>
        <p:txBody>
          <a:bodyPr>
            <a:normAutofit/>
          </a:bodyPr>
          <a:lstStyle/>
          <a:p>
            <a:pPr algn="r" rtl="1"/>
            <a:r>
              <a:rPr lang="he-IL" sz="3200" dirty="0"/>
              <a:t>שאלה 11 </a:t>
            </a:r>
            <a:endParaRPr lang="en-IL" sz="3200" dirty="0"/>
          </a:p>
        </p:txBody>
      </p:sp>
      <p:sp>
        <p:nvSpPr>
          <p:cNvPr id="5" name="TextBox 4">
            <a:extLst>
              <a:ext uri="{FF2B5EF4-FFF2-40B4-BE49-F238E27FC236}">
                <a16:creationId xmlns:a16="http://schemas.microsoft.com/office/drawing/2014/main" id="{85958B51-5284-67B9-7EAF-F65DCAE71E98}"/>
              </a:ext>
            </a:extLst>
          </p:cNvPr>
          <p:cNvSpPr txBox="1"/>
          <p:nvPr/>
        </p:nvSpPr>
        <p:spPr>
          <a:xfrm>
            <a:off x="-274805" y="167604"/>
            <a:ext cx="10727487" cy="873252"/>
          </a:xfrm>
          <a:prstGeom prst="rect">
            <a:avLst/>
          </a:prstGeom>
          <a:noFill/>
        </p:spPr>
        <p:txBody>
          <a:bodyPr wrap="square">
            <a:spAutoFit/>
          </a:bodyPr>
          <a:lstStyle/>
          <a:p>
            <a:pPr indent="-228600" algn="r" rtl="1">
              <a:lnSpc>
                <a:spcPct val="150000"/>
              </a:lnSpc>
              <a:tabLst>
                <a:tab pos="-228600" algn="l"/>
              </a:tabLst>
            </a:pP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 ידוע כי בעקבות שיפור טכנולוגי בשוק </a:t>
            </a:r>
            <a:r>
              <a:rPr lang="en-US" sz="1800" b="1" dirty="0">
                <a:effectLst/>
                <a:latin typeface="Arial" panose="020B0604020202020204" pitchFamily="34" charset="0"/>
                <a:ea typeface="Times New Roman" panose="02020603050405020304" pitchFamily="18" charset="0"/>
              </a:rPr>
              <a:t>Y</a:t>
            </a: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 </a:t>
            </a:r>
            <a:r>
              <a:rPr lang="he-IL" sz="1800" b="1" u="sng" dirty="0">
                <a:effectLst/>
                <a:latin typeface="Times New Roman" panose="02020603050405020304" pitchFamily="18" charset="0"/>
                <a:ea typeface="Times New Roman" panose="02020603050405020304" pitchFamily="18" charset="0"/>
                <a:cs typeface="Arial" panose="020B0604020202020204" pitchFamily="34" charset="0"/>
              </a:rPr>
              <a:t>הוצאת הצרכנים הן בשוק </a:t>
            </a:r>
            <a:r>
              <a:rPr lang="en-US" sz="1800" b="1" u="sng" dirty="0">
                <a:effectLst/>
                <a:latin typeface="Arial" panose="020B0604020202020204" pitchFamily="34" charset="0"/>
                <a:ea typeface="Times New Roman" panose="02020603050405020304" pitchFamily="18" charset="0"/>
              </a:rPr>
              <a:t>Y</a:t>
            </a:r>
            <a:r>
              <a:rPr lang="he-IL" sz="1800" b="1" u="sng" dirty="0">
                <a:effectLst/>
                <a:latin typeface="Times New Roman" panose="02020603050405020304" pitchFamily="18" charset="0"/>
                <a:ea typeface="Times New Roman" panose="02020603050405020304" pitchFamily="18" charset="0"/>
                <a:cs typeface="Arial" panose="020B0604020202020204" pitchFamily="34" charset="0"/>
              </a:rPr>
              <a:t> והן בשוק </a:t>
            </a:r>
            <a:r>
              <a:rPr lang="en-US" sz="1800" b="1" u="sng" dirty="0">
                <a:effectLst/>
                <a:latin typeface="Arial" panose="020B0604020202020204" pitchFamily="34" charset="0"/>
                <a:ea typeface="Times New Roman" panose="02020603050405020304" pitchFamily="18" charset="0"/>
              </a:rPr>
              <a:t>X</a:t>
            </a:r>
            <a:r>
              <a:rPr lang="he-IL" sz="1800" b="1" u="sng" dirty="0">
                <a:effectLst/>
                <a:latin typeface="Times New Roman" panose="02020603050405020304" pitchFamily="18" charset="0"/>
                <a:ea typeface="Times New Roman" panose="02020603050405020304" pitchFamily="18" charset="0"/>
                <a:cs typeface="Arial" panose="020B0604020202020204" pitchFamily="34" charset="0"/>
              </a:rPr>
              <a:t> עלתה</a:t>
            </a: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 </a:t>
            </a:r>
            <a:endParaRPr lang="en-US" sz="1800" b="1" dirty="0">
              <a:effectLst/>
              <a:latin typeface="Times New Roman" panose="02020603050405020304" pitchFamily="18" charset="0"/>
              <a:ea typeface="Times New Roman" panose="02020603050405020304" pitchFamily="18" charset="0"/>
              <a:cs typeface="Arial" panose="020B0604020202020204" pitchFamily="34" charset="0"/>
            </a:endParaRPr>
          </a:p>
          <a:p>
            <a:pPr indent="-228600" algn="r" rtl="1">
              <a:lnSpc>
                <a:spcPct val="150000"/>
              </a:lnSpc>
              <a:tabLst>
                <a:tab pos="-228600" algn="l"/>
              </a:tabLst>
            </a:pP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מכאן ניתן להסיק כי:</a:t>
            </a:r>
            <a:endParaRPr lang="en-IL" sz="1800" dirty="0">
              <a:effectLst/>
              <a:latin typeface="Times New Roman" panose="02020603050405020304" pitchFamily="18" charset="0"/>
              <a:ea typeface="Times New Roman" panose="02020603050405020304" pitchFamily="18" charset="0"/>
            </a:endParaRPr>
          </a:p>
        </p:txBody>
      </p:sp>
      <p:sp>
        <p:nvSpPr>
          <p:cNvPr id="4" name="Rectangle 2">
            <a:extLst>
              <a:ext uri="{FF2B5EF4-FFF2-40B4-BE49-F238E27FC236}">
                <a16:creationId xmlns:a16="http://schemas.microsoft.com/office/drawing/2014/main" id="{0877A2EB-BB61-AC43-DB02-1C298FCEA851}"/>
              </a:ext>
            </a:extLst>
          </p:cNvPr>
          <p:cNvSpPr>
            <a:spLocks noChangeArrowheads="1"/>
          </p:cNvSpPr>
          <p:nvPr/>
        </p:nvSpPr>
        <p:spPr bwMode="auto">
          <a:xfrm>
            <a:off x="3460652" y="1128561"/>
            <a:ext cx="8326065" cy="2535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עקומת הביקוש למוצר </a:t>
            </a:r>
            <a:r>
              <a:rPr lang="en-US" sz="1800" dirty="0">
                <a:effectLst/>
                <a:latin typeface="Arial" panose="020B0604020202020204" pitchFamily="34" charset="0"/>
                <a:ea typeface="Times New Roman" panose="02020603050405020304" pitchFamily="18" charset="0"/>
              </a:rPr>
              <a:t>Y</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גמישה (בתחום הרלוונטי) וכן כי </a:t>
            </a:r>
            <a:r>
              <a:rPr lang="en-US" sz="1800" dirty="0">
                <a:effectLst/>
                <a:latin typeface="Arial" panose="020B0604020202020204" pitchFamily="34" charset="0"/>
                <a:ea typeface="Times New Roman" panose="02020603050405020304" pitchFamily="18" charset="0"/>
              </a:rPr>
              <a:t>X</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ו- </a:t>
            </a:r>
            <a:r>
              <a:rPr lang="en-US" sz="1800" dirty="0">
                <a:effectLst/>
                <a:latin typeface="Arial" panose="020B0604020202020204" pitchFamily="34" charset="0"/>
                <a:ea typeface="Times New Roman" panose="02020603050405020304" pitchFamily="18" charset="0"/>
              </a:rPr>
              <a:t>Y</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מוצרים משלימים</a:t>
            </a: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a:t>
            </a:r>
            <a:endParaRPr lang="en-IL" sz="1800" b="1"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עקומת הביקוש הן של מוצר </a:t>
            </a:r>
            <a:r>
              <a:rPr lang="en-US" sz="1800" dirty="0">
                <a:effectLst/>
                <a:latin typeface="Arial" panose="020B0604020202020204" pitchFamily="34" charset="0"/>
                <a:ea typeface="Times New Roman" panose="02020603050405020304" pitchFamily="18" charset="0"/>
              </a:rPr>
              <a:t>X</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והן של מוצר </a:t>
            </a:r>
            <a:r>
              <a:rPr lang="en-US" sz="1800" dirty="0">
                <a:effectLst/>
                <a:latin typeface="Arial" panose="020B0604020202020204" pitchFamily="34" charset="0"/>
                <a:ea typeface="Times New Roman" panose="02020603050405020304" pitchFamily="18" charset="0"/>
              </a:rPr>
              <a:t>Y</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גמישות (בתחום הרלוונטי).</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הן רווחי יצרני </a:t>
            </a:r>
            <a:r>
              <a:rPr lang="en-US" sz="1800" dirty="0">
                <a:effectLst/>
                <a:latin typeface="Arial" panose="020B0604020202020204" pitchFamily="34" charset="0"/>
                <a:ea typeface="Times New Roman" panose="02020603050405020304" pitchFamily="18" charset="0"/>
              </a:rPr>
              <a:t>X</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והן ריווחי יצרני </a:t>
            </a:r>
            <a:r>
              <a:rPr lang="en-US" sz="1800" dirty="0">
                <a:effectLst/>
                <a:latin typeface="Arial" panose="020B0604020202020204" pitchFamily="34" charset="0"/>
                <a:ea typeface="Times New Roman" panose="02020603050405020304" pitchFamily="18" charset="0"/>
              </a:rPr>
              <a:t>Y</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עלו.</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אם עקומת ההיצע בשוק </a:t>
            </a:r>
            <a:r>
              <a:rPr lang="en-US" sz="1800" dirty="0">
                <a:effectLst/>
                <a:latin typeface="Arial" panose="020B0604020202020204" pitchFamily="34" charset="0"/>
                <a:ea typeface="Times New Roman" panose="02020603050405020304" pitchFamily="18" charset="0"/>
              </a:rPr>
              <a:t>X</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הייתה גמישה לחלוטין (מקבילה לציר </a:t>
            </a:r>
            <a:r>
              <a:rPr lang="en-US" sz="1800" dirty="0">
                <a:effectLst/>
                <a:latin typeface="Arial" panose="020B0604020202020204" pitchFamily="34" charset="0"/>
                <a:ea typeface="Times New Roman" panose="02020603050405020304" pitchFamily="18" charset="0"/>
              </a:rPr>
              <a:t>X</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הוצאות הצרכנים בשוק </a:t>
            </a:r>
            <a:r>
              <a:rPr lang="en-US" sz="1800" dirty="0">
                <a:effectLst/>
                <a:latin typeface="Arial" panose="020B0604020202020204" pitchFamily="34" charset="0"/>
                <a:ea typeface="Times New Roman" panose="02020603050405020304" pitchFamily="18" charset="0"/>
              </a:rPr>
              <a:t>X</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לא היו משתנות.</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כל התשובות האחרות לא נכונות.</a:t>
            </a:r>
            <a:endParaRPr lang="en-IL" sz="1800" dirty="0">
              <a:effectLst/>
              <a:latin typeface="Times New Roman" panose="02020603050405020304" pitchFamily="18" charset="0"/>
              <a:ea typeface="Times New Roman" panose="02020603050405020304" pitchFamily="18" charset="0"/>
            </a:endParaRPr>
          </a:p>
        </p:txBody>
      </p:sp>
      <p:cxnSp>
        <p:nvCxnSpPr>
          <p:cNvPr id="7" name="Straight Connector 6">
            <a:extLst>
              <a:ext uri="{FF2B5EF4-FFF2-40B4-BE49-F238E27FC236}">
                <a16:creationId xmlns:a16="http://schemas.microsoft.com/office/drawing/2014/main" id="{64D1BEE7-2FDF-1932-1DD3-108EF4B84231}"/>
              </a:ext>
            </a:extLst>
          </p:cNvPr>
          <p:cNvCxnSpPr/>
          <p:nvPr/>
        </p:nvCxnSpPr>
        <p:spPr>
          <a:xfrm>
            <a:off x="1332579" y="4302982"/>
            <a:ext cx="10160" cy="1889760"/>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7259153-BB86-7B74-BD6F-5495CA4813DA}"/>
              </a:ext>
            </a:extLst>
          </p:cNvPr>
          <p:cNvCxnSpPr/>
          <p:nvPr/>
        </p:nvCxnSpPr>
        <p:spPr>
          <a:xfrm>
            <a:off x="1525619" y="4302982"/>
            <a:ext cx="1645920" cy="17272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D657545-E9A7-4B66-AE79-E2EF07E01C3B}"/>
              </a:ext>
            </a:extLst>
          </p:cNvPr>
          <p:cNvCxnSpPr/>
          <p:nvPr/>
        </p:nvCxnSpPr>
        <p:spPr>
          <a:xfrm flipH="1">
            <a:off x="1352899" y="6192742"/>
            <a:ext cx="1971040" cy="0"/>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F27FFC1-40CF-AA2B-AEC1-110B0BE3A04D}"/>
              </a:ext>
            </a:extLst>
          </p:cNvPr>
          <p:cNvCxnSpPr/>
          <p:nvPr/>
        </p:nvCxnSpPr>
        <p:spPr>
          <a:xfrm flipH="1">
            <a:off x="1525619" y="4302982"/>
            <a:ext cx="1727200" cy="16560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Rounded Rectangle 63">
            <a:extLst>
              <a:ext uri="{FF2B5EF4-FFF2-40B4-BE49-F238E27FC236}">
                <a16:creationId xmlns:a16="http://schemas.microsoft.com/office/drawing/2014/main" id="{4EECB443-62C2-9D00-FE5A-0D16C7EA46C8}"/>
              </a:ext>
            </a:extLst>
          </p:cNvPr>
          <p:cNvSpPr/>
          <p:nvPr/>
        </p:nvSpPr>
        <p:spPr>
          <a:xfrm>
            <a:off x="1070216" y="1955617"/>
            <a:ext cx="2488665" cy="329096"/>
          </a:xfrm>
          <a:prstGeom prst="roundRect">
            <a:avLst>
              <a:gd name="adj"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e-IL" dirty="0"/>
              <a:t>משלימים</a:t>
            </a:r>
            <a:endParaRPr lang="en-US" dirty="0"/>
          </a:p>
        </p:txBody>
      </p:sp>
      <p:sp>
        <p:nvSpPr>
          <p:cNvPr id="12" name="TextBox 11">
            <a:extLst>
              <a:ext uri="{FF2B5EF4-FFF2-40B4-BE49-F238E27FC236}">
                <a16:creationId xmlns:a16="http://schemas.microsoft.com/office/drawing/2014/main" id="{A95B0251-DB1D-16C8-2002-6D62FA7B86A8}"/>
              </a:ext>
            </a:extLst>
          </p:cNvPr>
          <p:cNvSpPr txBox="1"/>
          <p:nvPr/>
        </p:nvSpPr>
        <p:spPr>
          <a:xfrm>
            <a:off x="1230979" y="4030448"/>
            <a:ext cx="680720" cy="369332"/>
          </a:xfrm>
          <a:prstGeom prst="rect">
            <a:avLst/>
          </a:prstGeom>
          <a:noFill/>
        </p:spPr>
        <p:txBody>
          <a:bodyPr wrap="square" rtlCol="0">
            <a:spAutoFit/>
          </a:bodyPr>
          <a:lstStyle/>
          <a:p>
            <a:r>
              <a:rPr lang="en-US" dirty="0"/>
              <a:t>D0</a:t>
            </a:r>
          </a:p>
        </p:txBody>
      </p:sp>
      <p:sp>
        <p:nvSpPr>
          <p:cNvPr id="13" name="TextBox 12">
            <a:extLst>
              <a:ext uri="{FF2B5EF4-FFF2-40B4-BE49-F238E27FC236}">
                <a16:creationId xmlns:a16="http://schemas.microsoft.com/office/drawing/2014/main" id="{4C267491-383F-8A0A-1BCF-05901E5C1570}"/>
              </a:ext>
            </a:extLst>
          </p:cNvPr>
          <p:cNvSpPr txBox="1"/>
          <p:nvPr/>
        </p:nvSpPr>
        <p:spPr>
          <a:xfrm>
            <a:off x="2937859" y="4040608"/>
            <a:ext cx="680720" cy="369332"/>
          </a:xfrm>
          <a:prstGeom prst="rect">
            <a:avLst/>
          </a:prstGeom>
          <a:noFill/>
        </p:spPr>
        <p:txBody>
          <a:bodyPr wrap="square" rtlCol="0">
            <a:spAutoFit/>
          </a:bodyPr>
          <a:lstStyle/>
          <a:p>
            <a:r>
              <a:rPr lang="en-US" dirty="0"/>
              <a:t>S0</a:t>
            </a:r>
          </a:p>
        </p:txBody>
      </p:sp>
      <p:cxnSp>
        <p:nvCxnSpPr>
          <p:cNvPr id="14" name="Straight Connector 13">
            <a:extLst>
              <a:ext uri="{FF2B5EF4-FFF2-40B4-BE49-F238E27FC236}">
                <a16:creationId xmlns:a16="http://schemas.microsoft.com/office/drawing/2014/main" id="{39A2AF2F-8245-8F21-B8D3-7AF6E252E9B6}"/>
              </a:ext>
            </a:extLst>
          </p:cNvPr>
          <p:cNvCxnSpPr/>
          <p:nvPr/>
        </p:nvCxnSpPr>
        <p:spPr>
          <a:xfrm>
            <a:off x="2348579" y="5166582"/>
            <a:ext cx="20320" cy="102616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2B4690A-B1FA-6A23-767B-142E1B69F146}"/>
              </a:ext>
            </a:extLst>
          </p:cNvPr>
          <p:cNvCxnSpPr/>
          <p:nvPr/>
        </p:nvCxnSpPr>
        <p:spPr>
          <a:xfrm flipH="1">
            <a:off x="1342739" y="5131022"/>
            <a:ext cx="995680"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BC5F6078-3E8F-BABF-5A4C-F6527D13714B}"/>
              </a:ext>
            </a:extLst>
          </p:cNvPr>
          <p:cNvSpPr txBox="1"/>
          <p:nvPr/>
        </p:nvSpPr>
        <p:spPr>
          <a:xfrm>
            <a:off x="616299" y="4946356"/>
            <a:ext cx="680720" cy="369332"/>
          </a:xfrm>
          <a:prstGeom prst="rect">
            <a:avLst/>
          </a:prstGeom>
          <a:noFill/>
        </p:spPr>
        <p:txBody>
          <a:bodyPr wrap="square" rtlCol="0">
            <a:spAutoFit/>
          </a:bodyPr>
          <a:lstStyle/>
          <a:p>
            <a:r>
              <a:rPr lang="en-US" dirty="0"/>
              <a:t>Px0</a:t>
            </a:r>
          </a:p>
        </p:txBody>
      </p:sp>
      <p:sp>
        <p:nvSpPr>
          <p:cNvPr id="17" name="Rounded Rectangle 71">
            <a:extLst>
              <a:ext uri="{FF2B5EF4-FFF2-40B4-BE49-F238E27FC236}">
                <a16:creationId xmlns:a16="http://schemas.microsoft.com/office/drawing/2014/main" id="{920D9931-5827-1602-69CF-7972071D2374}"/>
              </a:ext>
            </a:extLst>
          </p:cNvPr>
          <p:cNvSpPr/>
          <p:nvPr/>
        </p:nvSpPr>
        <p:spPr>
          <a:xfrm>
            <a:off x="5015579" y="3482402"/>
            <a:ext cx="949960" cy="41560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a:t>
            </a:r>
          </a:p>
        </p:txBody>
      </p:sp>
      <p:cxnSp>
        <p:nvCxnSpPr>
          <p:cNvPr id="18" name="Straight Connector 17">
            <a:extLst>
              <a:ext uri="{FF2B5EF4-FFF2-40B4-BE49-F238E27FC236}">
                <a16:creationId xmlns:a16="http://schemas.microsoft.com/office/drawing/2014/main" id="{9B98E45F-455F-CC29-5C24-557428BD15BE}"/>
              </a:ext>
            </a:extLst>
          </p:cNvPr>
          <p:cNvCxnSpPr/>
          <p:nvPr/>
        </p:nvCxnSpPr>
        <p:spPr>
          <a:xfrm>
            <a:off x="4187539" y="4292822"/>
            <a:ext cx="10160" cy="1889760"/>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4040E92-8F2B-AD0B-2664-2803622B296C}"/>
              </a:ext>
            </a:extLst>
          </p:cNvPr>
          <p:cNvCxnSpPr/>
          <p:nvPr/>
        </p:nvCxnSpPr>
        <p:spPr>
          <a:xfrm>
            <a:off x="4380579" y="4292822"/>
            <a:ext cx="1645920" cy="17272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A651737-5884-9895-60B8-A383C33A6948}"/>
              </a:ext>
            </a:extLst>
          </p:cNvPr>
          <p:cNvCxnSpPr/>
          <p:nvPr/>
        </p:nvCxnSpPr>
        <p:spPr>
          <a:xfrm flipH="1">
            <a:off x="4207859" y="6182582"/>
            <a:ext cx="1971040" cy="0"/>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E43E682-354A-F1BD-AB03-7B79EBA2DD1A}"/>
              </a:ext>
            </a:extLst>
          </p:cNvPr>
          <p:cNvCxnSpPr/>
          <p:nvPr/>
        </p:nvCxnSpPr>
        <p:spPr>
          <a:xfrm flipH="1">
            <a:off x="4380579" y="4292822"/>
            <a:ext cx="1727200" cy="16560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12416F37-3F9C-C484-3DA8-3DE999D26034}"/>
              </a:ext>
            </a:extLst>
          </p:cNvPr>
          <p:cNvSpPr txBox="1"/>
          <p:nvPr/>
        </p:nvSpPr>
        <p:spPr>
          <a:xfrm>
            <a:off x="4085939" y="4020288"/>
            <a:ext cx="680720" cy="369332"/>
          </a:xfrm>
          <a:prstGeom prst="rect">
            <a:avLst/>
          </a:prstGeom>
          <a:noFill/>
        </p:spPr>
        <p:txBody>
          <a:bodyPr wrap="square" rtlCol="0">
            <a:spAutoFit/>
          </a:bodyPr>
          <a:lstStyle/>
          <a:p>
            <a:r>
              <a:rPr lang="en-US" dirty="0"/>
              <a:t>D0</a:t>
            </a:r>
          </a:p>
        </p:txBody>
      </p:sp>
      <p:sp>
        <p:nvSpPr>
          <p:cNvPr id="23" name="TextBox 22">
            <a:extLst>
              <a:ext uri="{FF2B5EF4-FFF2-40B4-BE49-F238E27FC236}">
                <a16:creationId xmlns:a16="http://schemas.microsoft.com/office/drawing/2014/main" id="{C3AE992E-AD33-25CE-1BFE-17B01F3EEC1B}"/>
              </a:ext>
            </a:extLst>
          </p:cNvPr>
          <p:cNvSpPr txBox="1"/>
          <p:nvPr/>
        </p:nvSpPr>
        <p:spPr>
          <a:xfrm>
            <a:off x="5792819" y="4030448"/>
            <a:ext cx="680720" cy="369332"/>
          </a:xfrm>
          <a:prstGeom prst="rect">
            <a:avLst/>
          </a:prstGeom>
          <a:noFill/>
        </p:spPr>
        <p:txBody>
          <a:bodyPr wrap="square" rtlCol="0">
            <a:spAutoFit/>
          </a:bodyPr>
          <a:lstStyle/>
          <a:p>
            <a:r>
              <a:rPr lang="en-US" dirty="0"/>
              <a:t>S0</a:t>
            </a:r>
          </a:p>
        </p:txBody>
      </p:sp>
      <p:sp>
        <p:nvSpPr>
          <p:cNvPr id="24" name="TextBox 23">
            <a:extLst>
              <a:ext uri="{FF2B5EF4-FFF2-40B4-BE49-F238E27FC236}">
                <a16:creationId xmlns:a16="http://schemas.microsoft.com/office/drawing/2014/main" id="{D09B0066-C73B-6B0C-221E-B2F4D20619BE}"/>
              </a:ext>
            </a:extLst>
          </p:cNvPr>
          <p:cNvSpPr txBox="1"/>
          <p:nvPr/>
        </p:nvSpPr>
        <p:spPr>
          <a:xfrm>
            <a:off x="3595401" y="4981916"/>
            <a:ext cx="680720" cy="369332"/>
          </a:xfrm>
          <a:prstGeom prst="rect">
            <a:avLst/>
          </a:prstGeom>
          <a:noFill/>
        </p:spPr>
        <p:txBody>
          <a:bodyPr wrap="square" rtlCol="0">
            <a:spAutoFit/>
          </a:bodyPr>
          <a:lstStyle/>
          <a:p>
            <a:r>
              <a:rPr lang="en-US" dirty="0"/>
              <a:t>Py0</a:t>
            </a:r>
          </a:p>
        </p:txBody>
      </p:sp>
      <p:cxnSp>
        <p:nvCxnSpPr>
          <p:cNvPr id="25" name="Straight Connector 24">
            <a:extLst>
              <a:ext uri="{FF2B5EF4-FFF2-40B4-BE49-F238E27FC236}">
                <a16:creationId xmlns:a16="http://schemas.microsoft.com/office/drawing/2014/main" id="{7DA387CA-C9B3-7377-E738-E26A2DD43448}"/>
              </a:ext>
            </a:extLst>
          </p:cNvPr>
          <p:cNvCxnSpPr/>
          <p:nvPr/>
        </p:nvCxnSpPr>
        <p:spPr>
          <a:xfrm flipH="1">
            <a:off x="4604099" y="4445222"/>
            <a:ext cx="1727200" cy="165608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182B428A-EA80-4022-3A5C-BAF93C262312}"/>
              </a:ext>
            </a:extLst>
          </p:cNvPr>
          <p:cNvSpPr txBox="1"/>
          <p:nvPr/>
        </p:nvSpPr>
        <p:spPr>
          <a:xfrm>
            <a:off x="6016339" y="4182848"/>
            <a:ext cx="680720" cy="369332"/>
          </a:xfrm>
          <a:prstGeom prst="rect">
            <a:avLst/>
          </a:prstGeom>
          <a:noFill/>
        </p:spPr>
        <p:txBody>
          <a:bodyPr wrap="square" rtlCol="0">
            <a:spAutoFit/>
          </a:bodyPr>
          <a:lstStyle/>
          <a:p>
            <a:r>
              <a:rPr lang="en-US" dirty="0">
                <a:solidFill>
                  <a:srgbClr val="00B050"/>
                </a:solidFill>
              </a:rPr>
              <a:t>S1</a:t>
            </a:r>
          </a:p>
        </p:txBody>
      </p:sp>
      <p:sp>
        <p:nvSpPr>
          <p:cNvPr id="27" name="TextBox 26">
            <a:extLst>
              <a:ext uri="{FF2B5EF4-FFF2-40B4-BE49-F238E27FC236}">
                <a16:creationId xmlns:a16="http://schemas.microsoft.com/office/drawing/2014/main" id="{1C63DF63-8569-51EC-4B2C-FC7CF4236E07}"/>
              </a:ext>
            </a:extLst>
          </p:cNvPr>
          <p:cNvSpPr txBox="1"/>
          <p:nvPr/>
        </p:nvSpPr>
        <p:spPr>
          <a:xfrm>
            <a:off x="3677250" y="5278511"/>
            <a:ext cx="680720" cy="369332"/>
          </a:xfrm>
          <a:prstGeom prst="rect">
            <a:avLst/>
          </a:prstGeom>
          <a:noFill/>
        </p:spPr>
        <p:txBody>
          <a:bodyPr wrap="square" rtlCol="0">
            <a:spAutoFit/>
          </a:bodyPr>
          <a:lstStyle/>
          <a:p>
            <a:r>
              <a:rPr lang="en-US" dirty="0">
                <a:solidFill>
                  <a:srgbClr val="00B050"/>
                </a:solidFill>
              </a:rPr>
              <a:t>Py1</a:t>
            </a:r>
          </a:p>
        </p:txBody>
      </p:sp>
      <p:sp>
        <p:nvSpPr>
          <p:cNvPr id="28" name="TextBox 27">
            <a:extLst>
              <a:ext uri="{FF2B5EF4-FFF2-40B4-BE49-F238E27FC236}">
                <a16:creationId xmlns:a16="http://schemas.microsoft.com/office/drawing/2014/main" id="{F8768313-DC8B-5BE8-97AD-74045AF18DA2}"/>
              </a:ext>
            </a:extLst>
          </p:cNvPr>
          <p:cNvSpPr txBox="1"/>
          <p:nvPr/>
        </p:nvSpPr>
        <p:spPr>
          <a:xfrm>
            <a:off x="5298627" y="6334538"/>
            <a:ext cx="680720" cy="369332"/>
          </a:xfrm>
          <a:prstGeom prst="rect">
            <a:avLst/>
          </a:prstGeom>
          <a:noFill/>
        </p:spPr>
        <p:txBody>
          <a:bodyPr wrap="square" rtlCol="0">
            <a:spAutoFit/>
          </a:bodyPr>
          <a:lstStyle/>
          <a:p>
            <a:r>
              <a:rPr lang="en-US" dirty="0">
                <a:solidFill>
                  <a:srgbClr val="00B050"/>
                </a:solidFill>
              </a:rPr>
              <a:t>Y1</a:t>
            </a:r>
          </a:p>
        </p:txBody>
      </p:sp>
      <p:cxnSp>
        <p:nvCxnSpPr>
          <p:cNvPr id="29" name="Straight Connector 28">
            <a:extLst>
              <a:ext uri="{FF2B5EF4-FFF2-40B4-BE49-F238E27FC236}">
                <a16:creationId xmlns:a16="http://schemas.microsoft.com/office/drawing/2014/main" id="{22A3E0D6-5E43-9606-0CFC-71C7BB9FB873}"/>
              </a:ext>
            </a:extLst>
          </p:cNvPr>
          <p:cNvCxnSpPr/>
          <p:nvPr/>
        </p:nvCxnSpPr>
        <p:spPr>
          <a:xfrm>
            <a:off x="1957419" y="4196580"/>
            <a:ext cx="1371600" cy="1467842"/>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106CC03E-1AF1-112B-6D47-46F0D5C62655}"/>
              </a:ext>
            </a:extLst>
          </p:cNvPr>
          <p:cNvSpPr txBox="1"/>
          <p:nvPr/>
        </p:nvSpPr>
        <p:spPr>
          <a:xfrm>
            <a:off x="1810099" y="4064500"/>
            <a:ext cx="680720" cy="369332"/>
          </a:xfrm>
          <a:prstGeom prst="rect">
            <a:avLst/>
          </a:prstGeom>
          <a:noFill/>
        </p:spPr>
        <p:txBody>
          <a:bodyPr wrap="square" rtlCol="0">
            <a:spAutoFit/>
          </a:bodyPr>
          <a:lstStyle/>
          <a:p>
            <a:r>
              <a:rPr lang="en-US" dirty="0">
                <a:solidFill>
                  <a:srgbClr val="00B050"/>
                </a:solidFill>
              </a:rPr>
              <a:t>D1</a:t>
            </a:r>
          </a:p>
        </p:txBody>
      </p:sp>
      <p:cxnSp>
        <p:nvCxnSpPr>
          <p:cNvPr id="31" name="Straight Connector 30">
            <a:extLst>
              <a:ext uri="{FF2B5EF4-FFF2-40B4-BE49-F238E27FC236}">
                <a16:creationId xmlns:a16="http://schemas.microsoft.com/office/drawing/2014/main" id="{DC495141-5461-4375-410C-88D70EF20604}"/>
              </a:ext>
            </a:extLst>
          </p:cNvPr>
          <p:cNvCxnSpPr/>
          <p:nvPr/>
        </p:nvCxnSpPr>
        <p:spPr>
          <a:xfrm>
            <a:off x="2643219" y="4946356"/>
            <a:ext cx="20320" cy="1215906"/>
          </a:xfrm>
          <a:prstGeom prst="line">
            <a:avLst/>
          </a:prstGeom>
          <a:ln>
            <a:solidFill>
              <a:srgbClr val="00B050"/>
            </a:solidFill>
            <a:prstDash val="sys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9179E10-2204-9CE5-D6CD-F8E97CA3DC34}"/>
              </a:ext>
            </a:extLst>
          </p:cNvPr>
          <p:cNvCxnSpPr/>
          <p:nvPr/>
        </p:nvCxnSpPr>
        <p:spPr>
          <a:xfrm flipH="1">
            <a:off x="1352899" y="4922742"/>
            <a:ext cx="1254760" cy="0"/>
          </a:xfrm>
          <a:prstGeom prst="line">
            <a:avLst/>
          </a:prstGeom>
          <a:ln>
            <a:solidFill>
              <a:srgbClr val="00B050"/>
            </a:solidFill>
            <a:prstDash val="sysDash"/>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7C7869C9-AABF-6437-D088-8A5958AD537B}"/>
              </a:ext>
            </a:extLst>
          </p:cNvPr>
          <p:cNvSpPr txBox="1"/>
          <p:nvPr/>
        </p:nvSpPr>
        <p:spPr>
          <a:xfrm>
            <a:off x="626459" y="4743156"/>
            <a:ext cx="680720" cy="369332"/>
          </a:xfrm>
          <a:prstGeom prst="rect">
            <a:avLst/>
          </a:prstGeom>
          <a:noFill/>
        </p:spPr>
        <p:txBody>
          <a:bodyPr wrap="square" rtlCol="0">
            <a:spAutoFit/>
          </a:bodyPr>
          <a:lstStyle/>
          <a:p>
            <a:r>
              <a:rPr lang="en-US" dirty="0">
                <a:solidFill>
                  <a:srgbClr val="00B050"/>
                </a:solidFill>
              </a:rPr>
              <a:t>Px1</a:t>
            </a:r>
          </a:p>
        </p:txBody>
      </p:sp>
      <p:sp>
        <p:nvSpPr>
          <p:cNvPr id="34" name="TextBox 33">
            <a:extLst>
              <a:ext uri="{FF2B5EF4-FFF2-40B4-BE49-F238E27FC236}">
                <a16:creationId xmlns:a16="http://schemas.microsoft.com/office/drawing/2014/main" id="{309FEBE0-6C5E-F50A-DB9D-F90DF165A60D}"/>
              </a:ext>
            </a:extLst>
          </p:cNvPr>
          <p:cNvSpPr txBox="1"/>
          <p:nvPr/>
        </p:nvSpPr>
        <p:spPr>
          <a:xfrm>
            <a:off x="2523742" y="6321064"/>
            <a:ext cx="680720" cy="369332"/>
          </a:xfrm>
          <a:prstGeom prst="rect">
            <a:avLst/>
          </a:prstGeom>
          <a:noFill/>
        </p:spPr>
        <p:txBody>
          <a:bodyPr wrap="square" rtlCol="0">
            <a:spAutoFit/>
          </a:bodyPr>
          <a:lstStyle/>
          <a:p>
            <a:r>
              <a:rPr lang="en-US" dirty="0">
                <a:solidFill>
                  <a:srgbClr val="00B050"/>
                </a:solidFill>
              </a:rPr>
              <a:t>X1</a:t>
            </a:r>
          </a:p>
        </p:txBody>
      </p:sp>
      <p:sp>
        <p:nvSpPr>
          <p:cNvPr id="35" name="Rectangle 34">
            <a:extLst>
              <a:ext uri="{FF2B5EF4-FFF2-40B4-BE49-F238E27FC236}">
                <a16:creationId xmlns:a16="http://schemas.microsoft.com/office/drawing/2014/main" id="{8AD28493-302A-4604-6E12-6F1F57A077F3}"/>
              </a:ext>
            </a:extLst>
          </p:cNvPr>
          <p:cNvSpPr/>
          <p:nvPr/>
        </p:nvSpPr>
        <p:spPr>
          <a:xfrm>
            <a:off x="3316571" y="2565806"/>
            <a:ext cx="484620" cy="461665"/>
          </a:xfrm>
          <a:prstGeom prst="rect">
            <a:avLst/>
          </a:prstGeom>
        </p:spPr>
        <p:txBody>
          <a:bodyPr wrap="none">
            <a:spAutoFit/>
          </a:bodyPr>
          <a:lstStyle/>
          <a:p>
            <a:r>
              <a:rPr lang="en-US" sz="2400" dirty="0" err="1">
                <a:solidFill>
                  <a:schemeClr val="accent1"/>
                </a:solidFill>
              </a:rPr>
              <a:t>Py</a:t>
            </a:r>
            <a:endParaRPr lang="en-IL" sz="2400" dirty="0">
              <a:solidFill>
                <a:schemeClr val="accent1"/>
              </a:solidFill>
            </a:endParaRPr>
          </a:p>
        </p:txBody>
      </p:sp>
      <p:cxnSp>
        <p:nvCxnSpPr>
          <p:cNvPr id="36" name="Straight Arrow Connector 35">
            <a:extLst>
              <a:ext uri="{FF2B5EF4-FFF2-40B4-BE49-F238E27FC236}">
                <a16:creationId xmlns:a16="http://schemas.microsoft.com/office/drawing/2014/main" id="{DF4B65B7-F4BB-660A-0AE6-E64D316D642A}"/>
              </a:ext>
            </a:extLst>
          </p:cNvPr>
          <p:cNvCxnSpPr>
            <a:cxnSpLocks/>
          </p:cNvCxnSpPr>
          <p:nvPr/>
        </p:nvCxnSpPr>
        <p:spPr>
          <a:xfrm>
            <a:off x="3171539" y="2626009"/>
            <a:ext cx="0" cy="37968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37" name="Arrow: Chevron 36">
            <a:extLst>
              <a:ext uri="{FF2B5EF4-FFF2-40B4-BE49-F238E27FC236}">
                <a16:creationId xmlns:a16="http://schemas.microsoft.com/office/drawing/2014/main" id="{D0BE1342-6F9B-2BC9-C448-F82B953BC45D}"/>
              </a:ext>
            </a:extLst>
          </p:cNvPr>
          <p:cNvSpPr/>
          <p:nvPr/>
        </p:nvSpPr>
        <p:spPr>
          <a:xfrm rot="10800000">
            <a:off x="2506999" y="2688227"/>
            <a:ext cx="326365" cy="239158"/>
          </a:xfrm>
          <a:prstGeom prst="chevron">
            <a:avLst/>
          </a:prstGeom>
          <a:solidFill>
            <a:schemeClr val="bg2">
              <a:lumMod val="9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solidFill>
                <a:schemeClr val="tx1"/>
              </a:solidFill>
            </a:endParaRPr>
          </a:p>
        </p:txBody>
      </p:sp>
      <p:cxnSp>
        <p:nvCxnSpPr>
          <p:cNvPr id="38" name="Straight Arrow Connector 37">
            <a:extLst>
              <a:ext uri="{FF2B5EF4-FFF2-40B4-BE49-F238E27FC236}">
                <a16:creationId xmlns:a16="http://schemas.microsoft.com/office/drawing/2014/main" id="{6FF1FFA5-5483-F8AA-F4C1-8290DE6CEED7}"/>
              </a:ext>
            </a:extLst>
          </p:cNvPr>
          <p:cNvCxnSpPr>
            <a:cxnSpLocks/>
          </p:cNvCxnSpPr>
          <p:nvPr/>
        </p:nvCxnSpPr>
        <p:spPr>
          <a:xfrm flipH="1" flipV="1">
            <a:off x="1911699" y="2569260"/>
            <a:ext cx="19696" cy="38570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3E8F5A67-8B06-2CAA-467A-9853E98FB352}"/>
              </a:ext>
            </a:extLst>
          </p:cNvPr>
          <p:cNvSpPr/>
          <p:nvPr/>
        </p:nvSpPr>
        <p:spPr>
          <a:xfrm>
            <a:off x="5124020" y="4943396"/>
            <a:ext cx="278496" cy="3043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a:t>
            </a:r>
            <a:endParaRPr lang="en-IL" b="1" dirty="0"/>
          </a:p>
        </p:txBody>
      </p:sp>
      <p:sp>
        <p:nvSpPr>
          <p:cNvPr id="40" name="Oval 39">
            <a:extLst>
              <a:ext uri="{FF2B5EF4-FFF2-40B4-BE49-F238E27FC236}">
                <a16:creationId xmlns:a16="http://schemas.microsoft.com/office/drawing/2014/main" id="{67D74EE4-12CE-7CCF-1EEE-AC2AB00AE5C4}"/>
              </a:ext>
            </a:extLst>
          </p:cNvPr>
          <p:cNvSpPr/>
          <p:nvPr/>
        </p:nvSpPr>
        <p:spPr>
          <a:xfrm>
            <a:off x="5273474" y="5237702"/>
            <a:ext cx="278496" cy="304356"/>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a:t>
            </a:r>
            <a:endParaRPr lang="en-IL" b="1" dirty="0"/>
          </a:p>
        </p:txBody>
      </p:sp>
      <p:sp>
        <p:nvSpPr>
          <p:cNvPr id="41" name="Oval 40">
            <a:extLst>
              <a:ext uri="{FF2B5EF4-FFF2-40B4-BE49-F238E27FC236}">
                <a16:creationId xmlns:a16="http://schemas.microsoft.com/office/drawing/2014/main" id="{09096A3C-7CC1-93A2-42E8-998E3F591C9D}"/>
              </a:ext>
            </a:extLst>
          </p:cNvPr>
          <p:cNvSpPr/>
          <p:nvPr/>
        </p:nvSpPr>
        <p:spPr>
          <a:xfrm>
            <a:off x="2185170" y="5021122"/>
            <a:ext cx="278496" cy="3043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a:t>
            </a:r>
            <a:endParaRPr lang="en-IL" b="1" dirty="0"/>
          </a:p>
        </p:txBody>
      </p:sp>
      <p:sp>
        <p:nvSpPr>
          <p:cNvPr id="42" name="TextBox 41">
            <a:extLst>
              <a:ext uri="{FF2B5EF4-FFF2-40B4-BE49-F238E27FC236}">
                <a16:creationId xmlns:a16="http://schemas.microsoft.com/office/drawing/2014/main" id="{E4B3CD1A-BB5B-46F1-9ABD-4441A752229F}"/>
              </a:ext>
            </a:extLst>
          </p:cNvPr>
          <p:cNvSpPr txBox="1"/>
          <p:nvPr/>
        </p:nvSpPr>
        <p:spPr>
          <a:xfrm>
            <a:off x="2079649" y="6337979"/>
            <a:ext cx="680720" cy="369332"/>
          </a:xfrm>
          <a:prstGeom prst="rect">
            <a:avLst/>
          </a:prstGeom>
          <a:noFill/>
        </p:spPr>
        <p:txBody>
          <a:bodyPr wrap="square" rtlCol="0">
            <a:spAutoFit/>
          </a:bodyPr>
          <a:lstStyle/>
          <a:p>
            <a:r>
              <a:rPr lang="en-US" dirty="0"/>
              <a:t>X0</a:t>
            </a:r>
          </a:p>
        </p:txBody>
      </p:sp>
      <p:cxnSp>
        <p:nvCxnSpPr>
          <p:cNvPr id="43" name="Straight Connector 42">
            <a:extLst>
              <a:ext uri="{FF2B5EF4-FFF2-40B4-BE49-F238E27FC236}">
                <a16:creationId xmlns:a16="http://schemas.microsoft.com/office/drawing/2014/main" id="{46AA0B9E-150E-4E0D-FD71-59585CF4DC7F}"/>
              </a:ext>
            </a:extLst>
          </p:cNvPr>
          <p:cNvCxnSpPr/>
          <p:nvPr/>
        </p:nvCxnSpPr>
        <p:spPr>
          <a:xfrm>
            <a:off x="5259419" y="5216826"/>
            <a:ext cx="20320" cy="102616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10745403-EC14-1F2E-B221-3C50289576A6}"/>
              </a:ext>
            </a:extLst>
          </p:cNvPr>
          <p:cNvSpPr txBox="1"/>
          <p:nvPr/>
        </p:nvSpPr>
        <p:spPr>
          <a:xfrm>
            <a:off x="5013575" y="6343715"/>
            <a:ext cx="680720" cy="369332"/>
          </a:xfrm>
          <a:prstGeom prst="rect">
            <a:avLst/>
          </a:prstGeom>
          <a:noFill/>
        </p:spPr>
        <p:txBody>
          <a:bodyPr wrap="square" rtlCol="0">
            <a:spAutoFit/>
          </a:bodyPr>
          <a:lstStyle/>
          <a:p>
            <a:r>
              <a:rPr lang="en-US" dirty="0"/>
              <a:t>Y0</a:t>
            </a:r>
          </a:p>
        </p:txBody>
      </p:sp>
      <p:cxnSp>
        <p:nvCxnSpPr>
          <p:cNvPr id="45" name="Straight Connector 44">
            <a:extLst>
              <a:ext uri="{FF2B5EF4-FFF2-40B4-BE49-F238E27FC236}">
                <a16:creationId xmlns:a16="http://schemas.microsoft.com/office/drawing/2014/main" id="{AC188681-40A5-B306-BAFD-63AAF69B6726}"/>
              </a:ext>
            </a:extLst>
          </p:cNvPr>
          <p:cNvCxnSpPr/>
          <p:nvPr/>
        </p:nvCxnSpPr>
        <p:spPr>
          <a:xfrm>
            <a:off x="5411819" y="5440346"/>
            <a:ext cx="20320" cy="802640"/>
          </a:xfrm>
          <a:prstGeom prst="line">
            <a:avLst/>
          </a:prstGeom>
          <a:ln>
            <a:solidFill>
              <a:srgbClr val="00B050"/>
            </a:solidFill>
            <a:prstDash val="sysDash"/>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CD35A12E-C46E-54CB-B947-73FE5D7D2E96}"/>
              </a:ext>
            </a:extLst>
          </p:cNvPr>
          <p:cNvSpPr/>
          <p:nvPr/>
        </p:nvSpPr>
        <p:spPr>
          <a:xfrm>
            <a:off x="2457938" y="4791512"/>
            <a:ext cx="278496" cy="304356"/>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a:t>
            </a:r>
            <a:endParaRPr lang="en-IL" b="1" dirty="0"/>
          </a:p>
        </p:txBody>
      </p:sp>
      <p:sp>
        <p:nvSpPr>
          <p:cNvPr id="52" name="Rounded Rectangle 70">
            <a:extLst>
              <a:ext uri="{FF2B5EF4-FFF2-40B4-BE49-F238E27FC236}">
                <a16:creationId xmlns:a16="http://schemas.microsoft.com/office/drawing/2014/main" id="{7AC3D005-ACBB-2BA6-8D5F-9C22C2C3C349}"/>
              </a:ext>
            </a:extLst>
          </p:cNvPr>
          <p:cNvSpPr/>
          <p:nvPr/>
        </p:nvSpPr>
        <p:spPr>
          <a:xfrm>
            <a:off x="1809088" y="3558485"/>
            <a:ext cx="1010920" cy="415607"/>
          </a:xfrm>
          <a:prstGeom prst="roundRect">
            <a:avLst>
              <a:gd name="adj" fmla="val 1894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a:t>
            </a:r>
          </a:p>
        </p:txBody>
      </p:sp>
      <p:cxnSp>
        <p:nvCxnSpPr>
          <p:cNvPr id="53" name="Straight Connector 52">
            <a:extLst>
              <a:ext uri="{FF2B5EF4-FFF2-40B4-BE49-F238E27FC236}">
                <a16:creationId xmlns:a16="http://schemas.microsoft.com/office/drawing/2014/main" id="{41B2D27B-5AE5-D536-2FDA-B7FDBAAF94BC}"/>
              </a:ext>
            </a:extLst>
          </p:cNvPr>
          <p:cNvCxnSpPr/>
          <p:nvPr/>
        </p:nvCxnSpPr>
        <p:spPr>
          <a:xfrm flipH="1">
            <a:off x="4207859" y="5229496"/>
            <a:ext cx="995680"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BD46BDB0-5B41-D1C8-C79B-2E1B2F9BAEF4}"/>
              </a:ext>
            </a:extLst>
          </p:cNvPr>
          <p:cNvCxnSpPr/>
          <p:nvPr/>
        </p:nvCxnSpPr>
        <p:spPr>
          <a:xfrm flipH="1">
            <a:off x="4218019" y="5453016"/>
            <a:ext cx="1137920" cy="0"/>
          </a:xfrm>
          <a:prstGeom prst="line">
            <a:avLst/>
          </a:prstGeom>
          <a:ln>
            <a:solidFill>
              <a:srgbClr val="00B050"/>
            </a:solidFill>
            <a:prstDash val="sysDash"/>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092972E2-81E4-BA0F-09A4-8C8CF495D070}"/>
              </a:ext>
            </a:extLst>
          </p:cNvPr>
          <p:cNvSpPr/>
          <p:nvPr/>
        </p:nvSpPr>
        <p:spPr>
          <a:xfrm>
            <a:off x="2007743" y="2576842"/>
            <a:ext cx="762951" cy="461665"/>
          </a:xfrm>
          <a:prstGeom prst="rect">
            <a:avLst/>
          </a:prstGeom>
        </p:spPr>
        <p:txBody>
          <a:bodyPr wrap="square">
            <a:spAutoFit/>
          </a:bodyPr>
          <a:lstStyle/>
          <a:p>
            <a:r>
              <a:rPr lang="en-US" sz="2400" dirty="0"/>
              <a:t>Dx</a:t>
            </a:r>
          </a:p>
        </p:txBody>
      </p:sp>
      <p:sp>
        <p:nvSpPr>
          <p:cNvPr id="3" name="Oval 2">
            <a:extLst>
              <a:ext uri="{FF2B5EF4-FFF2-40B4-BE49-F238E27FC236}">
                <a16:creationId xmlns:a16="http://schemas.microsoft.com/office/drawing/2014/main" id="{EAFFCC61-043C-4A99-DBD6-338ED9A259CB}"/>
              </a:ext>
            </a:extLst>
          </p:cNvPr>
          <p:cNvSpPr/>
          <p:nvPr/>
        </p:nvSpPr>
        <p:spPr>
          <a:xfrm>
            <a:off x="2079649" y="167604"/>
            <a:ext cx="4617410" cy="60327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6" name="Rectangle: Rounded Corners 45">
            <a:extLst>
              <a:ext uri="{FF2B5EF4-FFF2-40B4-BE49-F238E27FC236}">
                <a16:creationId xmlns:a16="http://schemas.microsoft.com/office/drawing/2014/main" id="{17BB0BC0-0D7B-AFA3-3046-34E0FE153EB5}"/>
              </a:ext>
            </a:extLst>
          </p:cNvPr>
          <p:cNvSpPr/>
          <p:nvPr/>
        </p:nvSpPr>
        <p:spPr>
          <a:xfrm>
            <a:off x="3595401" y="1158718"/>
            <a:ext cx="8261701" cy="502873"/>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295169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circle(in)">
                                      <p:cBhvr>
                                        <p:cTn id="7" dur="2000"/>
                                        <p:tgtEl>
                                          <p:spTgt spid="25"/>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circle(in)">
                                      <p:cBhvr>
                                        <p:cTn id="10" dur="2000"/>
                                        <p:tgtEl>
                                          <p:spTgt spid="26"/>
                                        </p:tgtEl>
                                      </p:cBhvr>
                                    </p:animEffect>
                                  </p:childTnLst>
                                </p:cTn>
                              </p:par>
                              <p:par>
                                <p:cTn id="11" presetID="6" presetClass="entr" presetSubtype="16" fill="hold" nodeType="withEffect">
                                  <p:stCondLst>
                                    <p:cond delay="0"/>
                                  </p:stCondLst>
                                  <p:childTnLst>
                                    <p:set>
                                      <p:cBhvr>
                                        <p:cTn id="12" dur="1" fill="hold">
                                          <p:stCondLst>
                                            <p:cond delay="0"/>
                                          </p:stCondLst>
                                        </p:cTn>
                                        <p:tgtEl>
                                          <p:spTgt spid="54"/>
                                        </p:tgtEl>
                                        <p:attrNameLst>
                                          <p:attrName>style.visibility</p:attrName>
                                        </p:attrNameLst>
                                      </p:cBhvr>
                                      <p:to>
                                        <p:strVal val="visible"/>
                                      </p:to>
                                    </p:set>
                                    <p:animEffect transition="in" filter="circle(in)">
                                      <p:cBhvr>
                                        <p:cTn id="13" dur="2000"/>
                                        <p:tgtEl>
                                          <p:spTgt spid="54"/>
                                        </p:tgtEl>
                                      </p:cBhvr>
                                    </p:animEffect>
                                  </p:childTnLst>
                                </p:cTn>
                              </p:par>
                              <p:par>
                                <p:cTn id="14" presetID="6" presetClass="entr" presetSubtype="16" fill="hold" nodeType="withEffect">
                                  <p:stCondLst>
                                    <p:cond delay="0"/>
                                  </p:stCondLst>
                                  <p:childTnLst>
                                    <p:set>
                                      <p:cBhvr>
                                        <p:cTn id="15" dur="1" fill="hold">
                                          <p:stCondLst>
                                            <p:cond delay="0"/>
                                          </p:stCondLst>
                                        </p:cTn>
                                        <p:tgtEl>
                                          <p:spTgt spid="45"/>
                                        </p:tgtEl>
                                        <p:attrNameLst>
                                          <p:attrName>style.visibility</p:attrName>
                                        </p:attrNameLst>
                                      </p:cBhvr>
                                      <p:to>
                                        <p:strVal val="visible"/>
                                      </p:to>
                                    </p:set>
                                    <p:animEffect transition="in" filter="circle(in)">
                                      <p:cBhvr>
                                        <p:cTn id="16" dur="2000"/>
                                        <p:tgtEl>
                                          <p:spTgt spid="45"/>
                                        </p:tgtEl>
                                      </p:cBhvr>
                                    </p:animEffect>
                                  </p:childTnLst>
                                </p:cTn>
                              </p:par>
                              <p:par>
                                <p:cTn id="17" presetID="6" presetClass="entr" presetSubtype="16"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animEffect transition="in" filter="circle(in)">
                                      <p:cBhvr>
                                        <p:cTn id="19" dur="2000"/>
                                        <p:tgtEl>
                                          <p:spTgt spid="44"/>
                                        </p:tgtEl>
                                      </p:cBhvr>
                                    </p:animEffect>
                                  </p:childTnLst>
                                </p:cTn>
                              </p:par>
                              <p:par>
                                <p:cTn id="20" presetID="6" presetClass="entr" presetSubtype="16"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circle(in)">
                                      <p:cBhvr>
                                        <p:cTn id="22" dur="2000"/>
                                        <p:tgtEl>
                                          <p:spTgt spid="27"/>
                                        </p:tgtEl>
                                      </p:cBhvr>
                                    </p:animEffect>
                                  </p:childTnLst>
                                </p:cTn>
                              </p:par>
                              <p:par>
                                <p:cTn id="23" presetID="6" presetClass="entr" presetSubtype="16" fill="hold" grpId="0" nodeType="with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circle(in)">
                                      <p:cBhvr>
                                        <p:cTn id="25" dur="2000"/>
                                        <p:tgtEl>
                                          <p:spTgt spid="40"/>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grpId="0" nodeType="clickEffect">
                                  <p:stCondLst>
                                    <p:cond delay="0"/>
                                  </p:stCondLst>
                                  <p:childTnLst>
                                    <p:set>
                                      <p:cBhvr>
                                        <p:cTn id="29" dur="1" fill="hold">
                                          <p:stCondLst>
                                            <p:cond delay="0"/>
                                          </p:stCondLst>
                                        </p:cTn>
                                        <p:tgtEl>
                                          <p:spTgt spid="55"/>
                                        </p:tgtEl>
                                        <p:attrNameLst>
                                          <p:attrName>style.visibility</p:attrName>
                                        </p:attrNameLst>
                                      </p:cBhvr>
                                      <p:to>
                                        <p:strVal val="visible"/>
                                      </p:to>
                                    </p:set>
                                    <p:animEffect transition="in" filter="randombar(horizontal)">
                                      <p:cBhvr>
                                        <p:cTn id="30" dur="500"/>
                                        <p:tgtEl>
                                          <p:spTgt spid="55"/>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6" presetClass="entr" presetSubtype="16" fill="hold" grpId="0" nodeType="click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circle(in)">
                                      <p:cBhvr>
                                        <p:cTn id="41" dur="2000"/>
                                        <p:tgtEl>
                                          <p:spTgt spid="37"/>
                                        </p:tgtEl>
                                      </p:cBhvr>
                                    </p:animEffect>
                                  </p:childTnLst>
                                </p:cTn>
                              </p:par>
                            </p:childTnLst>
                          </p:cTn>
                        </p:par>
                      </p:childTnLst>
                    </p:cTn>
                  </p:par>
                  <p:par>
                    <p:cTn id="42" fill="hold">
                      <p:stCondLst>
                        <p:cond delay="indefinite"/>
                      </p:stCondLst>
                      <p:childTnLst>
                        <p:par>
                          <p:cTn id="43" fill="hold">
                            <p:stCondLst>
                              <p:cond delay="0"/>
                            </p:stCondLst>
                            <p:childTnLst>
                              <p:par>
                                <p:cTn id="44" presetID="6" presetClass="entr" presetSubtype="16"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circle(in)">
                                      <p:cBhvr>
                                        <p:cTn id="46" dur="2000"/>
                                        <p:tgtEl>
                                          <p:spTgt spid="3"/>
                                        </p:tgtEl>
                                      </p:cBhvr>
                                    </p:animEffect>
                                  </p:childTnLst>
                                </p:cTn>
                              </p:par>
                              <p:par>
                                <p:cTn id="47" presetID="14" presetClass="entr" presetSubtype="10" fill="hold" nodeType="withEffect">
                                  <p:stCondLst>
                                    <p:cond delay="0"/>
                                  </p:stCondLst>
                                  <p:childTnLst>
                                    <p:set>
                                      <p:cBhvr>
                                        <p:cTn id="48" dur="1" fill="hold">
                                          <p:stCondLst>
                                            <p:cond delay="0"/>
                                          </p:stCondLst>
                                        </p:cTn>
                                        <p:tgtEl>
                                          <p:spTgt spid="38"/>
                                        </p:tgtEl>
                                        <p:attrNameLst>
                                          <p:attrName>style.visibility</p:attrName>
                                        </p:attrNameLst>
                                      </p:cBhvr>
                                      <p:to>
                                        <p:strVal val="visible"/>
                                      </p:to>
                                    </p:set>
                                    <p:animEffect transition="in" filter="randombar(horizontal)">
                                      <p:cBhvr>
                                        <p:cTn id="49" dur="500"/>
                                        <p:tgtEl>
                                          <p:spTgt spid="38"/>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fade">
                                      <p:cBhvr>
                                        <p:cTn id="54" dur="500"/>
                                        <p:tgtEl>
                                          <p:spTgt spid="2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fade">
                                      <p:cBhvr>
                                        <p:cTn id="57" dur="500"/>
                                        <p:tgtEl>
                                          <p:spTgt spid="3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50"/>
                                        </p:tgtEl>
                                        <p:attrNameLst>
                                          <p:attrName>style.visibility</p:attrName>
                                        </p:attrNameLst>
                                      </p:cBhvr>
                                      <p:to>
                                        <p:strVal val="visible"/>
                                      </p:to>
                                    </p:set>
                                    <p:animEffect transition="in" filter="fade">
                                      <p:cBhvr>
                                        <p:cTn id="60" dur="500"/>
                                        <p:tgtEl>
                                          <p:spTgt spid="50"/>
                                        </p:tgtEl>
                                      </p:cBhvr>
                                    </p:animEffect>
                                  </p:childTnLst>
                                </p:cTn>
                              </p:par>
                              <p:par>
                                <p:cTn id="61" presetID="10" presetClass="entr" presetSubtype="0" fill="hold" nodeType="withEffect">
                                  <p:stCondLst>
                                    <p:cond delay="0"/>
                                  </p:stCondLst>
                                  <p:childTnLst>
                                    <p:set>
                                      <p:cBhvr>
                                        <p:cTn id="62" dur="1" fill="hold">
                                          <p:stCondLst>
                                            <p:cond delay="0"/>
                                          </p:stCondLst>
                                        </p:cTn>
                                        <p:tgtEl>
                                          <p:spTgt spid="31"/>
                                        </p:tgtEl>
                                        <p:attrNameLst>
                                          <p:attrName>style.visibility</p:attrName>
                                        </p:attrNameLst>
                                      </p:cBhvr>
                                      <p:to>
                                        <p:strVal val="visible"/>
                                      </p:to>
                                    </p:set>
                                    <p:animEffect transition="in" filter="fade">
                                      <p:cBhvr>
                                        <p:cTn id="63" dur="500"/>
                                        <p:tgtEl>
                                          <p:spTgt spid="31"/>
                                        </p:tgtEl>
                                      </p:cBhvr>
                                    </p:animEffect>
                                  </p:childTnLst>
                                </p:cTn>
                              </p:par>
                              <p:par>
                                <p:cTn id="64" presetID="10" presetClass="entr" presetSubtype="0" fill="hold" nodeType="withEffect">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6" dur="500"/>
                                        <p:tgtEl>
                                          <p:spTgt spid="3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3"/>
                                        </p:tgtEl>
                                        <p:attrNameLst>
                                          <p:attrName>style.visibility</p:attrName>
                                        </p:attrNameLst>
                                      </p:cBhvr>
                                      <p:to>
                                        <p:strVal val="visible"/>
                                      </p:to>
                                    </p:set>
                                    <p:animEffect transition="in" filter="fade">
                                      <p:cBhvr>
                                        <p:cTn id="69" dur="500"/>
                                        <p:tgtEl>
                                          <p:spTgt spid="33"/>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fade">
                                      <p:cBhvr>
                                        <p:cTn id="74" dur="500"/>
                                        <p:tgtEl>
                                          <p:spTgt spid="34"/>
                                        </p:tgtEl>
                                      </p:cBhvr>
                                    </p:animEffect>
                                  </p:childTnLst>
                                </p:cTn>
                              </p:par>
                            </p:childTnLst>
                          </p:cTn>
                        </p:par>
                      </p:childTnLst>
                    </p:cTn>
                  </p:par>
                  <p:par>
                    <p:cTn id="75" fill="hold">
                      <p:stCondLst>
                        <p:cond delay="indefinite"/>
                      </p:stCondLst>
                      <p:childTnLst>
                        <p:par>
                          <p:cTn id="76" fill="hold">
                            <p:stCondLst>
                              <p:cond delay="0"/>
                            </p:stCondLst>
                            <p:childTnLst>
                              <p:par>
                                <p:cTn id="77" presetID="31" presetClass="entr" presetSubtype="0" fill="hold" grpId="0" nodeType="clickEffect">
                                  <p:stCondLst>
                                    <p:cond delay="0"/>
                                  </p:stCondLst>
                                  <p:childTnLst>
                                    <p:set>
                                      <p:cBhvr>
                                        <p:cTn id="78" dur="1" fill="hold">
                                          <p:stCondLst>
                                            <p:cond delay="0"/>
                                          </p:stCondLst>
                                        </p:cTn>
                                        <p:tgtEl>
                                          <p:spTgt spid="11"/>
                                        </p:tgtEl>
                                        <p:attrNameLst>
                                          <p:attrName>style.visibility</p:attrName>
                                        </p:attrNameLst>
                                      </p:cBhvr>
                                      <p:to>
                                        <p:strVal val="visible"/>
                                      </p:to>
                                    </p:set>
                                    <p:anim calcmode="lin" valueType="num">
                                      <p:cBhvr>
                                        <p:cTn id="79" dur="1000" fill="hold"/>
                                        <p:tgtEl>
                                          <p:spTgt spid="11"/>
                                        </p:tgtEl>
                                        <p:attrNameLst>
                                          <p:attrName>ppt_w</p:attrName>
                                        </p:attrNameLst>
                                      </p:cBhvr>
                                      <p:tavLst>
                                        <p:tav tm="0">
                                          <p:val>
                                            <p:fltVal val="0"/>
                                          </p:val>
                                        </p:tav>
                                        <p:tav tm="100000">
                                          <p:val>
                                            <p:strVal val="#ppt_w"/>
                                          </p:val>
                                        </p:tav>
                                      </p:tavLst>
                                    </p:anim>
                                    <p:anim calcmode="lin" valueType="num">
                                      <p:cBhvr>
                                        <p:cTn id="80" dur="1000" fill="hold"/>
                                        <p:tgtEl>
                                          <p:spTgt spid="11"/>
                                        </p:tgtEl>
                                        <p:attrNameLst>
                                          <p:attrName>ppt_h</p:attrName>
                                        </p:attrNameLst>
                                      </p:cBhvr>
                                      <p:tavLst>
                                        <p:tav tm="0">
                                          <p:val>
                                            <p:fltVal val="0"/>
                                          </p:val>
                                        </p:tav>
                                        <p:tav tm="100000">
                                          <p:val>
                                            <p:strVal val="#ppt_h"/>
                                          </p:val>
                                        </p:tav>
                                      </p:tavLst>
                                    </p:anim>
                                    <p:anim calcmode="lin" valueType="num">
                                      <p:cBhvr>
                                        <p:cTn id="81" dur="1000" fill="hold"/>
                                        <p:tgtEl>
                                          <p:spTgt spid="11"/>
                                        </p:tgtEl>
                                        <p:attrNameLst>
                                          <p:attrName>style.rotation</p:attrName>
                                        </p:attrNameLst>
                                      </p:cBhvr>
                                      <p:tavLst>
                                        <p:tav tm="0">
                                          <p:val>
                                            <p:fltVal val="90"/>
                                          </p:val>
                                        </p:tav>
                                        <p:tav tm="100000">
                                          <p:val>
                                            <p:fltVal val="0"/>
                                          </p:val>
                                        </p:tav>
                                      </p:tavLst>
                                    </p:anim>
                                    <p:animEffect transition="in" filter="fade">
                                      <p:cBhvr>
                                        <p:cTn id="82" dur="1000"/>
                                        <p:tgtEl>
                                          <p:spTgt spid="11"/>
                                        </p:tgtEl>
                                      </p:cBhvr>
                                    </p:animEffect>
                                  </p:childTnLst>
                                </p:cTn>
                              </p:par>
                            </p:childTnLst>
                          </p:cTn>
                        </p:par>
                      </p:childTnLst>
                    </p:cTn>
                  </p:par>
                  <p:par>
                    <p:cTn id="83" fill="hold">
                      <p:stCondLst>
                        <p:cond delay="indefinite"/>
                      </p:stCondLst>
                      <p:childTnLst>
                        <p:par>
                          <p:cTn id="84" fill="hold">
                            <p:stCondLst>
                              <p:cond delay="0"/>
                            </p:stCondLst>
                            <p:childTnLst>
                              <p:par>
                                <p:cTn id="85" presetID="42" presetClass="entr" presetSubtype="0" fill="hold" grpId="0" nodeType="clickEffect">
                                  <p:stCondLst>
                                    <p:cond delay="0"/>
                                  </p:stCondLst>
                                  <p:childTnLst>
                                    <p:set>
                                      <p:cBhvr>
                                        <p:cTn id="86" dur="1" fill="hold">
                                          <p:stCondLst>
                                            <p:cond delay="0"/>
                                          </p:stCondLst>
                                        </p:cTn>
                                        <p:tgtEl>
                                          <p:spTgt spid="46"/>
                                        </p:tgtEl>
                                        <p:attrNameLst>
                                          <p:attrName>style.visibility</p:attrName>
                                        </p:attrNameLst>
                                      </p:cBhvr>
                                      <p:to>
                                        <p:strVal val="visible"/>
                                      </p:to>
                                    </p:set>
                                    <p:animEffect transition="in" filter="fade">
                                      <p:cBhvr>
                                        <p:cTn id="87" dur="1000"/>
                                        <p:tgtEl>
                                          <p:spTgt spid="46"/>
                                        </p:tgtEl>
                                      </p:cBhvr>
                                    </p:animEffect>
                                    <p:anim calcmode="lin" valueType="num">
                                      <p:cBhvr>
                                        <p:cTn id="88" dur="1000" fill="hold"/>
                                        <p:tgtEl>
                                          <p:spTgt spid="46"/>
                                        </p:tgtEl>
                                        <p:attrNameLst>
                                          <p:attrName>ppt_x</p:attrName>
                                        </p:attrNameLst>
                                      </p:cBhvr>
                                      <p:tavLst>
                                        <p:tav tm="0">
                                          <p:val>
                                            <p:strVal val="#ppt_x"/>
                                          </p:val>
                                        </p:tav>
                                        <p:tav tm="100000">
                                          <p:val>
                                            <p:strVal val="#ppt_x"/>
                                          </p:val>
                                        </p:tav>
                                      </p:tavLst>
                                    </p:anim>
                                    <p:anim calcmode="lin" valueType="num">
                                      <p:cBhvr>
                                        <p:cTn id="89"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6" grpId="0"/>
      <p:bldP spid="27" grpId="0"/>
      <p:bldP spid="30" grpId="0"/>
      <p:bldP spid="33" grpId="0"/>
      <p:bldP spid="34" grpId="0"/>
      <p:bldP spid="35" grpId="0"/>
      <p:bldP spid="37" grpId="0" animBg="1"/>
      <p:bldP spid="40" grpId="0" animBg="1"/>
      <p:bldP spid="44" grpId="0"/>
      <p:bldP spid="50" grpId="0" animBg="1"/>
      <p:bldP spid="55" grpId="0"/>
      <p:bldP spid="3" grpId="0" animBg="1"/>
      <p:bldP spid="4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494EE-F673-5036-0509-D799863495BC}"/>
              </a:ext>
            </a:extLst>
          </p:cNvPr>
          <p:cNvSpPr>
            <a:spLocks noGrp="1"/>
          </p:cNvSpPr>
          <p:nvPr>
            <p:ph type="title"/>
          </p:nvPr>
        </p:nvSpPr>
        <p:spPr>
          <a:xfrm>
            <a:off x="8308427" y="414282"/>
            <a:ext cx="3660228" cy="533509"/>
          </a:xfrm>
        </p:spPr>
        <p:txBody>
          <a:bodyPr>
            <a:normAutofit fontScale="90000"/>
          </a:bodyPr>
          <a:lstStyle/>
          <a:p>
            <a:pPr algn="r" rtl="1"/>
            <a:r>
              <a:rPr lang="he-IL" dirty="0"/>
              <a:t>שאלה 10 מהבחינה</a:t>
            </a:r>
            <a:endParaRPr lang="en-IL" dirty="0"/>
          </a:p>
        </p:txBody>
      </p:sp>
      <p:sp>
        <p:nvSpPr>
          <p:cNvPr id="3" name="Content Placeholder 2">
            <a:extLst>
              <a:ext uri="{FF2B5EF4-FFF2-40B4-BE49-F238E27FC236}">
                <a16:creationId xmlns:a16="http://schemas.microsoft.com/office/drawing/2014/main" id="{411A47A3-6F71-89A9-0418-E7097145D628}"/>
              </a:ext>
            </a:extLst>
          </p:cNvPr>
          <p:cNvSpPr>
            <a:spLocks noGrp="1"/>
          </p:cNvSpPr>
          <p:nvPr>
            <p:ph idx="1"/>
          </p:nvPr>
        </p:nvSpPr>
        <p:spPr>
          <a:xfrm>
            <a:off x="1056290" y="1135117"/>
            <a:ext cx="10691649" cy="1418897"/>
          </a:xfrm>
        </p:spPr>
        <p:txBody>
          <a:bodyPr>
            <a:normAutofit/>
          </a:bodyPr>
          <a:lstStyle/>
          <a:p>
            <a:pPr marL="0" indent="0" algn="r" rtl="1">
              <a:lnSpc>
                <a:spcPct val="150000"/>
              </a:lnSpc>
              <a:buNone/>
            </a:pPr>
            <a:r>
              <a:rPr lang="he-IL" sz="1800" b="1" dirty="0">
                <a:latin typeface="Times New Roman" panose="02020603050405020304" pitchFamily="18" charset="0"/>
                <a:ea typeface="Times New Roman" panose="02020603050405020304" pitchFamily="18" charset="0"/>
              </a:rPr>
              <a:t>שוק התפוזים נמצא בשיווי משקל בו הכמות הנמכרת של תפוזים הינה 100 ק"ג והמחיר הינו 10 ש"ח לק"ג. ידוע שאם מחיר התפוזים היה 12 ש"ח לק"ג בשוק היה עודף היצע של 10 ק"ג. לשוק הגיעו צרכנים נוספים המוכנים לרכוש 10 ק"ג תפוזים בכל מחיר. לאור זאת בנקודת שיווי המשקל החדשה:</a:t>
            </a:r>
            <a:endParaRPr lang="en-IL" sz="1800" dirty="0">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endParaRPr lang="en-IL" sz="1800" dirty="0">
              <a:effectLst/>
              <a:latin typeface="Times New Roman" panose="02020603050405020304" pitchFamily="18" charset="0"/>
              <a:ea typeface="Times New Roman" panose="02020603050405020304" pitchFamily="18" charset="0"/>
            </a:endParaRPr>
          </a:p>
        </p:txBody>
      </p:sp>
      <p:sp>
        <p:nvSpPr>
          <p:cNvPr id="6" name="TextBox 5">
            <a:extLst>
              <a:ext uri="{FF2B5EF4-FFF2-40B4-BE49-F238E27FC236}">
                <a16:creationId xmlns:a16="http://schemas.microsoft.com/office/drawing/2014/main" id="{569DE6C1-2450-418E-ADED-871DC08FB35B}"/>
              </a:ext>
            </a:extLst>
          </p:cNvPr>
          <p:cNvSpPr txBox="1"/>
          <p:nvPr/>
        </p:nvSpPr>
        <p:spPr>
          <a:xfrm>
            <a:off x="3986706" y="2341290"/>
            <a:ext cx="7981949" cy="2535246"/>
          </a:xfrm>
          <a:prstGeom prst="rect">
            <a:avLst/>
          </a:prstGeom>
          <a:noFill/>
        </p:spPr>
        <p:txBody>
          <a:bodyPr wrap="square">
            <a:spAutoFit/>
          </a:bodyPr>
          <a:lstStyle/>
          <a:p>
            <a:pPr algn="r" rtl="1">
              <a:lnSpc>
                <a:spcPct val="150000"/>
              </a:lnSpc>
            </a:pP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 </a:t>
            </a:r>
            <a:endParaRPr lang="en-IL" sz="1800" dirty="0">
              <a:effectLst/>
              <a:latin typeface="Times New Roman" panose="02020603050405020304" pitchFamily="18" charset="0"/>
              <a:ea typeface="Times New Roman" panose="02020603050405020304" pitchFamily="18" charset="0"/>
            </a:endParaRPr>
          </a:p>
          <a:p>
            <a:pPr marL="342900" indent="-342900" algn="r" rtl="1">
              <a:lnSpc>
                <a:spcPct val="150000"/>
              </a:lnSpc>
              <a:buFont typeface="+mj-lt"/>
              <a:buAutoNum type="arabicPeriod"/>
            </a:pPr>
            <a:r>
              <a:rPr lang="he-IL" dirty="0">
                <a:latin typeface="Times New Roman" panose="02020603050405020304" pitchFamily="18" charset="0"/>
                <a:ea typeface="Times New Roman" panose="02020603050405020304" pitchFamily="18" charset="0"/>
              </a:rPr>
              <a:t>מחיר התפוזים יהיה 12 ש"ח וכמות התפוזים תהיה בדיוק 110 ק"ג.</a:t>
            </a:r>
            <a:endParaRPr lang="en-IL" dirty="0">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מחיר התפוזים יהיה 12 ש"ח וכמות התפוזים תהיה קטנה מ- 110 ק"ג.</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מחיר התפוזים יהיה נמוך מ- 12 ש"ח וכמות התפוזים תהיה קטנה מ- 110 ק"ג.</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מחיר התפוזים יהיה נמוך מ- 12 ש"ח וכמות התפוזים תהיה בדיוק 110 ק"ג.</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כל התשובות האחרות לא נכונות.</a:t>
            </a:r>
            <a:endParaRPr lang="en-IL"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5144716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494EE-F673-5036-0509-D799863495BC}"/>
              </a:ext>
            </a:extLst>
          </p:cNvPr>
          <p:cNvSpPr>
            <a:spLocks noGrp="1"/>
          </p:cNvSpPr>
          <p:nvPr>
            <p:ph type="title"/>
          </p:nvPr>
        </p:nvSpPr>
        <p:spPr>
          <a:xfrm>
            <a:off x="9534525" y="419863"/>
            <a:ext cx="2510330" cy="533509"/>
          </a:xfrm>
        </p:spPr>
        <p:txBody>
          <a:bodyPr>
            <a:normAutofit fontScale="90000"/>
          </a:bodyPr>
          <a:lstStyle/>
          <a:p>
            <a:pPr algn="r" rtl="1"/>
            <a:r>
              <a:rPr lang="he-IL" dirty="0"/>
              <a:t>שאלה 10 מהבחינה</a:t>
            </a:r>
            <a:endParaRPr lang="en-IL" dirty="0"/>
          </a:p>
        </p:txBody>
      </p:sp>
      <p:sp>
        <p:nvSpPr>
          <p:cNvPr id="3" name="Content Placeholder 2">
            <a:extLst>
              <a:ext uri="{FF2B5EF4-FFF2-40B4-BE49-F238E27FC236}">
                <a16:creationId xmlns:a16="http://schemas.microsoft.com/office/drawing/2014/main" id="{411A47A3-6F71-89A9-0418-E7097145D628}"/>
              </a:ext>
            </a:extLst>
          </p:cNvPr>
          <p:cNvSpPr>
            <a:spLocks noGrp="1"/>
          </p:cNvSpPr>
          <p:nvPr>
            <p:ph idx="1"/>
          </p:nvPr>
        </p:nvSpPr>
        <p:spPr>
          <a:xfrm>
            <a:off x="741965" y="243923"/>
            <a:ext cx="8792560" cy="1418897"/>
          </a:xfrm>
        </p:spPr>
        <p:txBody>
          <a:bodyPr>
            <a:normAutofit fontScale="92500"/>
          </a:bodyPr>
          <a:lstStyle/>
          <a:p>
            <a:pPr marL="0" indent="0" algn="r" rtl="1">
              <a:lnSpc>
                <a:spcPct val="150000"/>
              </a:lnSpc>
              <a:buNone/>
            </a:pPr>
            <a:r>
              <a:rPr lang="he-IL" sz="1800" b="1" dirty="0">
                <a:latin typeface="Times New Roman" panose="02020603050405020304" pitchFamily="18" charset="0"/>
                <a:ea typeface="Times New Roman" panose="02020603050405020304" pitchFamily="18" charset="0"/>
              </a:rPr>
              <a:t>שוק התפוזים נמצא בשיווי משקל בו הכמות הנמכרת של תפוזים הינה 100 ק"ג והמחיר הינו 10 ש"ח לק"ג. ידוע שאם מחיר התפוזים היה 12 ש"ח לק"ג בשוק היה עודף היצע של 10 ק"ג. לשוק הגיעו צרכנים נוספים המוכנים לרכוש 10 ק"ג תפוזים בכל מחיר. לאור זאת בנקודת שיווי המשקל החדשה:</a:t>
            </a:r>
            <a:endParaRPr lang="en-IL" sz="1800" dirty="0">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endParaRPr lang="en-IL" sz="1800" dirty="0">
              <a:effectLst/>
              <a:latin typeface="Times New Roman" panose="02020603050405020304" pitchFamily="18" charset="0"/>
              <a:ea typeface="Times New Roman" panose="02020603050405020304" pitchFamily="18" charset="0"/>
            </a:endParaRPr>
          </a:p>
        </p:txBody>
      </p:sp>
      <p:cxnSp>
        <p:nvCxnSpPr>
          <p:cNvPr id="4" name="מחבר ישר 42">
            <a:extLst>
              <a:ext uri="{FF2B5EF4-FFF2-40B4-BE49-F238E27FC236}">
                <a16:creationId xmlns:a16="http://schemas.microsoft.com/office/drawing/2014/main" id="{23362E83-2C69-E762-12CC-280A0120EBE7}"/>
              </a:ext>
            </a:extLst>
          </p:cNvPr>
          <p:cNvCxnSpPr>
            <a:cxnSpLocks/>
          </p:cNvCxnSpPr>
          <p:nvPr/>
        </p:nvCxnSpPr>
        <p:spPr>
          <a:xfrm flipH="1">
            <a:off x="1846067" y="2908475"/>
            <a:ext cx="1438" cy="2805594"/>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מחבר ישר 54">
            <a:extLst>
              <a:ext uri="{FF2B5EF4-FFF2-40B4-BE49-F238E27FC236}">
                <a16:creationId xmlns:a16="http://schemas.microsoft.com/office/drawing/2014/main" id="{F66A1C91-CEAE-E08D-0B84-8B19CBCBC708}"/>
              </a:ext>
            </a:extLst>
          </p:cNvPr>
          <p:cNvCxnSpPr>
            <a:cxnSpLocks/>
          </p:cNvCxnSpPr>
          <p:nvPr/>
        </p:nvCxnSpPr>
        <p:spPr>
          <a:xfrm>
            <a:off x="1846860" y="5713275"/>
            <a:ext cx="3078273" cy="30959"/>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259E6FD-E4ED-4537-782A-91048B8C7601}"/>
              </a:ext>
            </a:extLst>
          </p:cNvPr>
          <p:cNvCxnSpPr>
            <a:cxnSpLocks/>
          </p:cNvCxnSpPr>
          <p:nvPr/>
        </p:nvCxnSpPr>
        <p:spPr>
          <a:xfrm flipV="1">
            <a:off x="2089601" y="3299285"/>
            <a:ext cx="2390178" cy="189995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2D706DFA-EBEC-CA85-A84B-0DC86F264DF5}"/>
              </a:ext>
            </a:extLst>
          </p:cNvPr>
          <p:cNvSpPr/>
          <p:nvPr/>
        </p:nvSpPr>
        <p:spPr>
          <a:xfrm>
            <a:off x="2952924" y="4169387"/>
            <a:ext cx="308232" cy="2837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cxnSp>
        <p:nvCxnSpPr>
          <p:cNvPr id="9" name="Straight Connector 8">
            <a:extLst>
              <a:ext uri="{FF2B5EF4-FFF2-40B4-BE49-F238E27FC236}">
                <a16:creationId xmlns:a16="http://schemas.microsoft.com/office/drawing/2014/main" id="{0DA4E2E6-FA0C-451C-0AA3-D8BB2B1D581B}"/>
              </a:ext>
            </a:extLst>
          </p:cNvPr>
          <p:cNvCxnSpPr>
            <a:cxnSpLocks/>
          </p:cNvCxnSpPr>
          <p:nvPr/>
        </p:nvCxnSpPr>
        <p:spPr>
          <a:xfrm flipH="1" flipV="1">
            <a:off x="1997711" y="3096824"/>
            <a:ext cx="2190255" cy="2409923"/>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8B8CF36-3153-BBEB-DBED-5D50BB3A5162}"/>
              </a:ext>
            </a:extLst>
          </p:cNvPr>
          <p:cNvSpPr txBox="1"/>
          <p:nvPr/>
        </p:nvSpPr>
        <p:spPr>
          <a:xfrm>
            <a:off x="4493554" y="3001567"/>
            <a:ext cx="362600" cy="369332"/>
          </a:xfrm>
          <a:prstGeom prst="rect">
            <a:avLst/>
          </a:prstGeom>
          <a:noFill/>
        </p:spPr>
        <p:txBody>
          <a:bodyPr wrap="none" rtlCol="0">
            <a:spAutoFit/>
          </a:bodyPr>
          <a:lstStyle/>
          <a:p>
            <a:r>
              <a:rPr lang="en-US" dirty="0"/>
              <a:t>S</a:t>
            </a:r>
            <a:r>
              <a:rPr lang="en-US" sz="1100" dirty="0"/>
              <a:t>0</a:t>
            </a:r>
          </a:p>
        </p:txBody>
      </p:sp>
      <p:sp>
        <p:nvSpPr>
          <p:cNvPr id="11" name="TextBox 10">
            <a:extLst>
              <a:ext uri="{FF2B5EF4-FFF2-40B4-BE49-F238E27FC236}">
                <a16:creationId xmlns:a16="http://schemas.microsoft.com/office/drawing/2014/main" id="{39F375EB-A102-AB7C-3DDE-5E70149203EF}"/>
              </a:ext>
            </a:extLst>
          </p:cNvPr>
          <p:cNvSpPr txBox="1"/>
          <p:nvPr/>
        </p:nvSpPr>
        <p:spPr>
          <a:xfrm>
            <a:off x="4053059" y="5425345"/>
            <a:ext cx="426720" cy="400110"/>
          </a:xfrm>
          <a:prstGeom prst="rect">
            <a:avLst/>
          </a:prstGeom>
          <a:noFill/>
        </p:spPr>
        <p:txBody>
          <a:bodyPr wrap="none" rtlCol="0">
            <a:spAutoFit/>
          </a:bodyPr>
          <a:lstStyle/>
          <a:p>
            <a:r>
              <a:rPr lang="en-US" sz="2000" dirty="0"/>
              <a:t>D</a:t>
            </a:r>
            <a:r>
              <a:rPr lang="he-IL" sz="1200" dirty="0"/>
              <a:t>0</a:t>
            </a:r>
            <a:endParaRPr lang="en-US" dirty="0"/>
          </a:p>
        </p:txBody>
      </p:sp>
      <p:sp>
        <p:nvSpPr>
          <p:cNvPr id="12" name="TextBox 11">
            <a:extLst>
              <a:ext uri="{FF2B5EF4-FFF2-40B4-BE49-F238E27FC236}">
                <a16:creationId xmlns:a16="http://schemas.microsoft.com/office/drawing/2014/main" id="{D5C6EAF3-0D22-3037-7A6A-3F8376194FC4}"/>
              </a:ext>
            </a:extLst>
          </p:cNvPr>
          <p:cNvSpPr txBox="1"/>
          <p:nvPr/>
        </p:nvSpPr>
        <p:spPr>
          <a:xfrm flipH="1">
            <a:off x="5065047" y="5674603"/>
            <a:ext cx="249455" cy="369332"/>
          </a:xfrm>
          <a:prstGeom prst="rect">
            <a:avLst/>
          </a:prstGeom>
          <a:noFill/>
        </p:spPr>
        <p:txBody>
          <a:bodyPr wrap="square" rtlCol="0">
            <a:spAutoFit/>
          </a:bodyPr>
          <a:lstStyle/>
          <a:p>
            <a:r>
              <a:rPr lang="en-US" dirty="0"/>
              <a:t>Q</a:t>
            </a:r>
          </a:p>
        </p:txBody>
      </p:sp>
      <p:sp>
        <p:nvSpPr>
          <p:cNvPr id="13" name="TextBox 12">
            <a:extLst>
              <a:ext uri="{FF2B5EF4-FFF2-40B4-BE49-F238E27FC236}">
                <a16:creationId xmlns:a16="http://schemas.microsoft.com/office/drawing/2014/main" id="{C08E06E2-8798-9943-ACE3-27288D9BB86D}"/>
              </a:ext>
            </a:extLst>
          </p:cNvPr>
          <p:cNvSpPr txBox="1"/>
          <p:nvPr/>
        </p:nvSpPr>
        <p:spPr>
          <a:xfrm flipH="1">
            <a:off x="1502824" y="2634980"/>
            <a:ext cx="265252" cy="369332"/>
          </a:xfrm>
          <a:prstGeom prst="rect">
            <a:avLst/>
          </a:prstGeom>
          <a:noFill/>
        </p:spPr>
        <p:txBody>
          <a:bodyPr wrap="square" rtlCol="0">
            <a:spAutoFit/>
          </a:bodyPr>
          <a:lstStyle/>
          <a:p>
            <a:r>
              <a:rPr lang="en-US" dirty="0"/>
              <a:t>P</a:t>
            </a:r>
          </a:p>
        </p:txBody>
      </p:sp>
      <p:cxnSp>
        <p:nvCxnSpPr>
          <p:cNvPr id="14" name="Straight Connector 13">
            <a:extLst>
              <a:ext uri="{FF2B5EF4-FFF2-40B4-BE49-F238E27FC236}">
                <a16:creationId xmlns:a16="http://schemas.microsoft.com/office/drawing/2014/main" id="{F6C25A79-6385-ADC5-CD91-F92145F05CCA}"/>
              </a:ext>
            </a:extLst>
          </p:cNvPr>
          <p:cNvCxnSpPr>
            <a:cxnSpLocks/>
            <a:endCxn id="15" idx="3"/>
          </p:cNvCxnSpPr>
          <p:nvPr/>
        </p:nvCxnSpPr>
        <p:spPr>
          <a:xfrm flipH="1">
            <a:off x="1915769" y="4310628"/>
            <a:ext cx="1050651" cy="21974"/>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F65FC36-A2EA-4E32-A7F5-CB75224185CE}"/>
              </a:ext>
            </a:extLst>
          </p:cNvPr>
          <p:cNvSpPr txBox="1"/>
          <p:nvPr/>
        </p:nvSpPr>
        <p:spPr>
          <a:xfrm>
            <a:off x="1299895" y="4147936"/>
            <a:ext cx="615874" cy="369332"/>
          </a:xfrm>
          <a:prstGeom prst="rect">
            <a:avLst/>
          </a:prstGeom>
          <a:noFill/>
        </p:spPr>
        <p:txBody>
          <a:bodyPr wrap="none" rtlCol="0">
            <a:spAutoFit/>
          </a:bodyPr>
          <a:lstStyle/>
          <a:p>
            <a:r>
              <a:rPr lang="en-US" dirty="0"/>
              <a:t>P</a:t>
            </a:r>
            <a:r>
              <a:rPr lang="en-US" sz="1200" dirty="0"/>
              <a:t>0=10</a:t>
            </a:r>
            <a:endParaRPr lang="en-US" dirty="0"/>
          </a:p>
        </p:txBody>
      </p:sp>
      <p:sp>
        <p:nvSpPr>
          <p:cNvPr id="16" name="TextBox 15">
            <a:extLst>
              <a:ext uri="{FF2B5EF4-FFF2-40B4-BE49-F238E27FC236}">
                <a16:creationId xmlns:a16="http://schemas.microsoft.com/office/drawing/2014/main" id="{7E41B7A7-783D-B11F-FA05-CDD966ACC9C5}"/>
              </a:ext>
            </a:extLst>
          </p:cNvPr>
          <p:cNvSpPr txBox="1"/>
          <p:nvPr/>
        </p:nvSpPr>
        <p:spPr>
          <a:xfrm>
            <a:off x="2792124" y="5760032"/>
            <a:ext cx="535724" cy="369332"/>
          </a:xfrm>
          <a:prstGeom prst="rect">
            <a:avLst/>
          </a:prstGeom>
          <a:noFill/>
        </p:spPr>
        <p:txBody>
          <a:bodyPr wrap="none" rtlCol="0">
            <a:spAutoFit/>
          </a:bodyPr>
          <a:lstStyle/>
          <a:p>
            <a:r>
              <a:rPr lang="en-US" dirty="0"/>
              <a:t>100</a:t>
            </a:r>
          </a:p>
        </p:txBody>
      </p:sp>
      <p:cxnSp>
        <p:nvCxnSpPr>
          <p:cNvPr id="17" name="Straight Connector 16">
            <a:extLst>
              <a:ext uri="{FF2B5EF4-FFF2-40B4-BE49-F238E27FC236}">
                <a16:creationId xmlns:a16="http://schemas.microsoft.com/office/drawing/2014/main" id="{5FCC14B4-7316-442E-B428-4696BCBDD28A}"/>
              </a:ext>
            </a:extLst>
          </p:cNvPr>
          <p:cNvCxnSpPr>
            <a:cxnSpLocks/>
          </p:cNvCxnSpPr>
          <p:nvPr/>
        </p:nvCxnSpPr>
        <p:spPr>
          <a:xfrm>
            <a:off x="3092838" y="4409409"/>
            <a:ext cx="14202" cy="1265194"/>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D15D48B-2A7D-5FDC-1E7C-12118955D48A}"/>
              </a:ext>
            </a:extLst>
          </p:cNvPr>
          <p:cNvCxnSpPr>
            <a:cxnSpLocks/>
          </p:cNvCxnSpPr>
          <p:nvPr/>
        </p:nvCxnSpPr>
        <p:spPr>
          <a:xfrm flipH="1">
            <a:off x="1846067" y="4010592"/>
            <a:ext cx="1711041" cy="36139"/>
          </a:xfrm>
          <a:prstGeom prst="line">
            <a:avLst/>
          </a:prstGeom>
          <a:ln w="28575">
            <a:solidFill>
              <a:srgbClr val="FF00FF"/>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287AFEB-E55D-5272-D8AE-A8BDFD825DFA}"/>
              </a:ext>
            </a:extLst>
          </p:cNvPr>
          <p:cNvSpPr txBox="1"/>
          <p:nvPr/>
        </p:nvSpPr>
        <p:spPr>
          <a:xfrm>
            <a:off x="1286120" y="3806818"/>
            <a:ext cx="615874" cy="369332"/>
          </a:xfrm>
          <a:prstGeom prst="rect">
            <a:avLst/>
          </a:prstGeom>
          <a:noFill/>
        </p:spPr>
        <p:txBody>
          <a:bodyPr wrap="none" rtlCol="0">
            <a:spAutoFit/>
          </a:bodyPr>
          <a:lstStyle/>
          <a:p>
            <a:r>
              <a:rPr lang="en-US" dirty="0">
                <a:solidFill>
                  <a:srgbClr val="FF00FF"/>
                </a:solidFill>
              </a:rPr>
              <a:t>P</a:t>
            </a:r>
            <a:r>
              <a:rPr lang="en-US" sz="1200" dirty="0">
                <a:solidFill>
                  <a:srgbClr val="FF00FF"/>
                </a:solidFill>
              </a:rPr>
              <a:t>1</a:t>
            </a:r>
            <a:r>
              <a:rPr lang="en-US" sz="1200" dirty="0"/>
              <a:t>=12</a:t>
            </a:r>
            <a:endParaRPr lang="en-US" dirty="0"/>
          </a:p>
        </p:txBody>
      </p:sp>
      <p:sp>
        <p:nvSpPr>
          <p:cNvPr id="24" name="Left Brace 23">
            <a:extLst>
              <a:ext uri="{FF2B5EF4-FFF2-40B4-BE49-F238E27FC236}">
                <a16:creationId xmlns:a16="http://schemas.microsoft.com/office/drawing/2014/main" id="{AF111FC2-750A-BE78-8D61-46B9A2B61E17}"/>
              </a:ext>
            </a:extLst>
          </p:cNvPr>
          <p:cNvSpPr/>
          <p:nvPr/>
        </p:nvSpPr>
        <p:spPr>
          <a:xfrm rot="5400000">
            <a:off x="3036567" y="3444437"/>
            <a:ext cx="299240" cy="698450"/>
          </a:xfrm>
          <a:prstGeom prst="leftBrace">
            <a:avLst/>
          </a:prstGeom>
          <a:ln>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L"/>
          </a:p>
        </p:txBody>
      </p:sp>
      <p:sp>
        <p:nvSpPr>
          <p:cNvPr id="25" name="TextBox 24">
            <a:extLst>
              <a:ext uri="{FF2B5EF4-FFF2-40B4-BE49-F238E27FC236}">
                <a16:creationId xmlns:a16="http://schemas.microsoft.com/office/drawing/2014/main" id="{67FF6D1F-4262-35B5-977A-BD70677B6401}"/>
              </a:ext>
            </a:extLst>
          </p:cNvPr>
          <p:cNvSpPr txBox="1"/>
          <p:nvPr/>
        </p:nvSpPr>
        <p:spPr>
          <a:xfrm>
            <a:off x="2809693" y="3421415"/>
            <a:ext cx="721672" cy="338554"/>
          </a:xfrm>
          <a:prstGeom prst="rect">
            <a:avLst/>
          </a:prstGeom>
          <a:noFill/>
        </p:spPr>
        <p:txBody>
          <a:bodyPr wrap="none" rtlCol="0">
            <a:spAutoFit/>
          </a:bodyPr>
          <a:lstStyle/>
          <a:p>
            <a:r>
              <a:rPr lang="en-US" sz="1600" dirty="0">
                <a:solidFill>
                  <a:srgbClr val="FF00FF"/>
                </a:solidFill>
              </a:rPr>
              <a:t>10</a:t>
            </a:r>
            <a:r>
              <a:rPr lang="he-IL" sz="1600" dirty="0">
                <a:solidFill>
                  <a:srgbClr val="FF00FF"/>
                </a:solidFill>
              </a:rPr>
              <a:t>ק''ג </a:t>
            </a:r>
            <a:endParaRPr lang="en-US" sz="1600" dirty="0">
              <a:solidFill>
                <a:srgbClr val="FF00FF"/>
              </a:solidFill>
            </a:endParaRPr>
          </a:p>
        </p:txBody>
      </p:sp>
      <p:cxnSp>
        <p:nvCxnSpPr>
          <p:cNvPr id="27" name="Straight Arrow Connector 26">
            <a:extLst>
              <a:ext uri="{FF2B5EF4-FFF2-40B4-BE49-F238E27FC236}">
                <a16:creationId xmlns:a16="http://schemas.microsoft.com/office/drawing/2014/main" id="{B8A0A3F1-6F30-57B5-3300-B413D5FB57E4}"/>
              </a:ext>
            </a:extLst>
          </p:cNvPr>
          <p:cNvCxnSpPr>
            <a:cxnSpLocks/>
          </p:cNvCxnSpPr>
          <p:nvPr/>
        </p:nvCxnSpPr>
        <p:spPr>
          <a:xfrm flipV="1">
            <a:off x="3132889" y="4305582"/>
            <a:ext cx="696854" cy="16894"/>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A41273B-E304-B8B1-ECCD-2EC9ED4FF5E4}"/>
              </a:ext>
            </a:extLst>
          </p:cNvPr>
          <p:cNvCxnSpPr>
            <a:cxnSpLocks/>
          </p:cNvCxnSpPr>
          <p:nvPr/>
        </p:nvCxnSpPr>
        <p:spPr>
          <a:xfrm flipH="1" flipV="1">
            <a:off x="2535398" y="2908475"/>
            <a:ext cx="2227473" cy="2464621"/>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B5D18514-159D-4B7E-32F0-47B45C41F9F9}"/>
              </a:ext>
            </a:extLst>
          </p:cNvPr>
          <p:cNvSpPr txBox="1"/>
          <p:nvPr/>
        </p:nvSpPr>
        <p:spPr>
          <a:xfrm>
            <a:off x="4734517" y="5218095"/>
            <a:ext cx="399468" cy="369332"/>
          </a:xfrm>
          <a:prstGeom prst="rect">
            <a:avLst/>
          </a:prstGeom>
          <a:noFill/>
        </p:spPr>
        <p:txBody>
          <a:bodyPr wrap="none" rtlCol="0">
            <a:spAutoFit/>
          </a:bodyPr>
          <a:lstStyle/>
          <a:p>
            <a:r>
              <a:rPr lang="en-US" dirty="0">
                <a:solidFill>
                  <a:srgbClr val="C00000"/>
                </a:solidFill>
              </a:rPr>
              <a:t>D</a:t>
            </a:r>
            <a:r>
              <a:rPr lang="en-US" sz="1100" dirty="0">
                <a:solidFill>
                  <a:srgbClr val="C00000"/>
                </a:solidFill>
              </a:rPr>
              <a:t>1</a:t>
            </a:r>
          </a:p>
        </p:txBody>
      </p:sp>
      <p:sp>
        <p:nvSpPr>
          <p:cNvPr id="35" name="TextBox 34">
            <a:extLst>
              <a:ext uri="{FF2B5EF4-FFF2-40B4-BE49-F238E27FC236}">
                <a16:creationId xmlns:a16="http://schemas.microsoft.com/office/drawing/2014/main" id="{192DB453-70D8-7C74-97A9-373814F092E8}"/>
              </a:ext>
            </a:extLst>
          </p:cNvPr>
          <p:cNvSpPr txBox="1"/>
          <p:nvPr/>
        </p:nvSpPr>
        <p:spPr>
          <a:xfrm>
            <a:off x="3141504" y="4254050"/>
            <a:ext cx="655949" cy="307777"/>
          </a:xfrm>
          <a:prstGeom prst="rect">
            <a:avLst/>
          </a:prstGeom>
          <a:noFill/>
        </p:spPr>
        <p:txBody>
          <a:bodyPr wrap="none" rtlCol="0">
            <a:spAutoFit/>
          </a:bodyPr>
          <a:lstStyle/>
          <a:p>
            <a:r>
              <a:rPr lang="en-US" sz="1400" dirty="0">
                <a:solidFill>
                  <a:srgbClr val="C00000"/>
                </a:solidFill>
              </a:rPr>
              <a:t>10</a:t>
            </a:r>
            <a:r>
              <a:rPr lang="he-IL" sz="1400" dirty="0">
                <a:solidFill>
                  <a:srgbClr val="C00000"/>
                </a:solidFill>
              </a:rPr>
              <a:t>ק''ג </a:t>
            </a:r>
            <a:endParaRPr lang="en-US" sz="1400" dirty="0">
              <a:solidFill>
                <a:srgbClr val="C00000"/>
              </a:solidFill>
            </a:endParaRPr>
          </a:p>
        </p:txBody>
      </p:sp>
      <p:sp>
        <p:nvSpPr>
          <p:cNvPr id="37" name="Oval 36">
            <a:extLst>
              <a:ext uri="{FF2B5EF4-FFF2-40B4-BE49-F238E27FC236}">
                <a16:creationId xmlns:a16="http://schemas.microsoft.com/office/drawing/2014/main" id="{6754A18A-6256-CA0F-772C-14BAED50C449}"/>
              </a:ext>
            </a:extLst>
          </p:cNvPr>
          <p:cNvSpPr/>
          <p:nvPr/>
        </p:nvSpPr>
        <p:spPr>
          <a:xfrm>
            <a:off x="3419092" y="3856190"/>
            <a:ext cx="308232" cy="283769"/>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8" name="Rectangle: Rounded Corners 37">
            <a:extLst>
              <a:ext uri="{FF2B5EF4-FFF2-40B4-BE49-F238E27FC236}">
                <a16:creationId xmlns:a16="http://schemas.microsoft.com/office/drawing/2014/main" id="{EF19E102-B296-2FE8-0EB9-3828094BB858}"/>
              </a:ext>
            </a:extLst>
          </p:cNvPr>
          <p:cNvSpPr/>
          <p:nvPr/>
        </p:nvSpPr>
        <p:spPr>
          <a:xfrm>
            <a:off x="5382725" y="2750131"/>
            <a:ext cx="6566207" cy="46932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9" name="TextBox 38">
            <a:extLst>
              <a:ext uri="{FF2B5EF4-FFF2-40B4-BE49-F238E27FC236}">
                <a16:creationId xmlns:a16="http://schemas.microsoft.com/office/drawing/2014/main" id="{09D2911D-7BBD-C8DF-F65F-EF89A931662A}"/>
              </a:ext>
            </a:extLst>
          </p:cNvPr>
          <p:cNvSpPr txBox="1"/>
          <p:nvPr/>
        </p:nvSpPr>
        <p:spPr>
          <a:xfrm>
            <a:off x="3966983" y="1918610"/>
            <a:ext cx="7981949" cy="2535246"/>
          </a:xfrm>
          <a:prstGeom prst="rect">
            <a:avLst/>
          </a:prstGeom>
          <a:noFill/>
        </p:spPr>
        <p:txBody>
          <a:bodyPr wrap="square">
            <a:spAutoFit/>
          </a:bodyPr>
          <a:lstStyle/>
          <a:p>
            <a:pPr algn="r" rtl="1">
              <a:lnSpc>
                <a:spcPct val="150000"/>
              </a:lnSpc>
            </a:pP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 </a:t>
            </a:r>
            <a:endParaRPr lang="en-IL" sz="1800" dirty="0">
              <a:effectLst/>
              <a:latin typeface="Times New Roman" panose="02020603050405020304" pitchFamily="18" charset="0"/>
              <a:ea typeface="Times New Roman" panose="02020603050405020304" pitchFamily="18" charset="0"/>
            </a:endParaRPr>
          </a:p>
          <a:p>
            <a:pPr marL="342900" indent="-342900" algn="r" rtl="1">
              <a:lnSpc>
                <a:spcPct val="150000"/>
              </a:lnSpc>
              <a:buFont typeface="+mj-lt"/>
              <a:buAutoNum type="arabicPeriod"/>
            </a:pPr>
            <a:r>
              <a:rPr lang="he-IL" dirty="0">
                <a:latin typeface="Times New Roman" panose="02020603050405020304" pitchFamily="18" charset="0"/>
                <a:ea typeface="Times New Roman" panose="02020603050405020304" pitchFamily="18" charset="0"/>
              </a:rPr>
              <a:t>מחיר התפוזים יהיה 12 ש"ח וכמות התפוזים תהיה בדיוק 110 ק"ג.</a:t>
            </a:r>
            <a:endParaRPr lang="en-IL" dirty="0">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מחיר התפוזים יהיה 12 ש"ח וכמות התפוזים תהיה קטנה מ- 110 ק"ג.</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מחיר התפוזים יהיה נמוך מ- 12 ש"ח וכמות התפוזים תהיה קטנה מ- 110 ק"ג.</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מחיר התפוזים יהיה נמוך מ- 12 ש"ח וכמות התפוזים תהיה בדיוק 110 ק"ג.</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כל התשובות האחרות לא נכונות.</a:t>
            </a:r>
            <a:endParaRPr lang="en-IL"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827311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par>
                                <p:cTn id="8" presetID="16" presetClass="entr" presetSubtype="21"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arn(inVertical)">
                                      <p:cBhvr>
                                        <p:cTn id="10" dur="500"/>
                                        <p:tgtEl>
                                          <p:spTgt spid="9"/>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arn(inVertical)">
                                      <p:cBhvr>
                                        <p:cTn id="13" dur="500"/>
                                        <p:tgtEl>
                                          <p:spTgt spid="10"/>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barn(inVertical)">
                                      <p:cBhvr>
                                        <p:cTn id="16" dur="500"/>
                                        <p:tgtEl>
                                          <p:spTgt spid="11"/>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barn(inVertical)">
                                      <p:cBhvr>
                                        <p:cTn id="19" dur="500"/>
                                        <p:tgtEl>
                                          <p:spTgt spid="8"/>
                                        </p:tgtEl>
                                      </p:cBhvr>
                                    </p:animEffect>
                                  </p:childTnLst>
                                </p:cTn>
                              </p:par>
                              <p:par>
                                <p:cTn id="20" presetID="16" presetClass="entr" presetSubtype="21" fill="hold"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barn(inVertical)">
                                      <p:cBhvr>
                                        <p:cTn id="22" dur="500"/>
                                        <p:tgtEl>
                                          <p:spTgt spid="14"/>
                                        </p:tgtEl>
                                      </p:cBhvr>
                                    </p:animEffect>
                                  </p:childTnLst>
                                </p:cTn>
                              </p:par>
                              <p:par>
                                <p:cTn id="23" presetID="16" presetClass="entr" presetSubtype="21"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barn(inVertical)">
                                      <p:cBhvr>
                                        <p:cTn id="25" dur="500"/>
                                        <p:tgtEl>
                                          <p:spTgt spid="17"/>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barn(inVertical)">
                                      <p:cBhvr>
                                        <p:cTn id="28" dur="500"/>
                                        <p:tgtEl>
                                          <p:spTgt spid="16"/>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barn(inVertical)">
                                      <p:cBhvr>
                                        <p:cTn id="31" dur="500"/>
                                        <p:tgtEl>
                                          <p:spTgt spid="15"/>
                                        </p:tgtEl>
                                      </p:cBhvr>
                                    </p:animEffect>
                                  </p:childTnLst>
                                </p:cTn>
                              </p:par>
                            </p:childTnLst>
                          </p:cTn>
                        </p:par>
                      </p:childTnLst>
                    </p:cTn>
                  </p:par>
                  <p:par>
                    <p:cTn id="32" fill="hold">
                      <p:stCondLst>
                        <p:cond delay="indefinite"/>
                      </p:stCondLst>
                      <p:childTnLst>
                        <p:par>
                          <p:cTn id="33" fill="hold">
                            <p:stCondLst>
                              <p:cond delay="0"/>
                            </p:stCondLst>
                            <p:childTnLst>
                              <p:par>
                                <p:cTn id="34" presetID="31" presetClass="entr" presetSubtype="0" fill="hold" grpId="0" nodeType="clickEffect">
                                  <p:stCondLst>
                                    <p:cond delay="0"/>
                                  </p:stCondLst>
                                  <p:childTnLst>
                                    <p:set>
                                      <p:cBhvr>
                                        <p:cTn id="35" dur="1" fill="hold">
                                          <p:stCondLst>
                                            <p:cond delay="0"/>
                                          </p:stCondLst>
                                        </p:cTn>
                                        <p:tgtEl>
                                          <p:spTgt spid="19"/>
                                        </p:tgtEl>
                                        <p:attrNameLst>
                                          <p:attrName>style.visibility</p:attrName>
                                        </p:attrNameLst>
                                      </p:cBhvr>
                                      <p:to>
                                        <p:strVal val="visible"/>
                                      </p:to>
                                    </p:set>
                                    <p:anim calcmode="lin" valueType="num">
                                      <p:cBhvr>
                                        <p:cTn id="36" dur="1000" fill="hold"/>
                                        <p:tgtEl>
                                          <p:spTgt spid="19"/>
                                        </p:tgtEl>
                                        <p:attrNameLst>
                                          <p:attrName>ppt_w</p:attrName>
                                        </p:attrNameLst>
                                      </p:cBhvr>
                                      <p:tavLst>
                                        <p:tav tm="0">
                                          <p:val>
                                            <p:fltVal val="0"/>
                                          </p:val>
                                        </p:tav>
                                        <p:tav tm="100000">
                                          <p:val>
                                            <p:strVal val="#ppt_w"/>
                                          </p:val>
                                        </p:tav>
                                      </p:tavLst>
                                    </p:anim>
                                    <p:anim calcmode="lin" valueType="num">
                                      <p:cBhvr>
                                        <p:cTn id="37" dur="1000" fill="hold"/>
                                        <p:tgtEl>
                                          <p:spTgt spid="19"/>
                                        </p:tgtEl>
                                        <p:attrNameLst>
                                          <p:attrName>ppt_h</p:attrName>
                                        </p:attrNameLst>
                                      </p:cBhvr>
                                      <p:tavLst>
                                        <p:tav tm="0">
                                          <p:val>
                                            <p:fltVal val="0"/>
                                          </p:val>
                                        </p:tav>
                                        <p:tav tm="100000">
                                          <p:val>
                                            <p:strVal val="#ppt_h"/>
                                          </p:val>
                                        </p:tav>
                                      </p:tavLst>
                                    </p:anim>
                                    <p:anim calcmode="lin" valueType="num">
                                      <p:cBhvr>
                                        <p:cTn id="38" dur="1000" fill="hold"/>
                                        <p:tgtEl>
                                          <p:spTgt spid="19"/>
                                        </p:tgtEl>
                                        <p:attrNameLst>
                                          <p:attrName>style.rotation</p:attrName>
                                        </p:attrNameLst>
                                      </p:cBhvr>
                                      <p:tavLst>
                                        <p:tav tm="0">
                                          <p:val>
                                            <p:fltVal val="90"/>
                                          </p:val>
                                        </p:tav>
                                        <p:tav tm="100000">
                                          <p:val>
                                            <p:fltVal val="0"/>
                                          </p:val>
                                        </p:tav>
                                      </p:tavLst>
                                    </p:anim>
                                    <p:animEffect transition="in" filter="fade">
                                      <p:cBhvr>
                                        <p:cTn id="39" dur="1000"/>
                                        <p:tgtEl>
                                          <p:spTgt spid="19"/>
                                        </p:tgtEl>
                                      </p:cBhvr>
                                    </p:animEffect>
                                  </p:childTnLst>
                                </p:cTn>
                              </p:par>
                              <p:par>
                                <p:cTn id="40" presetID="31" presetClass="entr" presetSubtype="0" fill="hold" nodeType="withEffect">
                                  <p:stCondLst>
                                    <p:cond delay="0"/>
                                  </p:stCondLst>
                                  <p:childTnLst>
                                    <p:set>
                                      <p:cBhvr>
                                        <p:cTn id="41" dur="1" fill="hold">
                                          <p:stCondLst>
                                            <p:cond delay="0"/>
                                          </p:stCondLst>
                                        </p:cTn>
                                        <p:tgtEl>
                                          <p:spTgt spid="18"/>
                                        </p:tgtEl>
                                        <p:attrNameLst>
                                          <p:attrName>style.visibility</p:attrName>
                                        </p:attrNameLst>
                                      </p:cBhvr>
                                      <p:to>
                                        <p:strVal val="visible"/>
                                      </p:to>
                                    </p:set>
                                    <p:anim calcmode="lin" valueType="num">
                                      <p:cBhvr>
                                        <p:cTn id="42" dur="1000" fill="hold"/>
                                        <p:tgtEl>
                                          <p:spTgt spid="18"/>
                                        </p:tgtEl>
                                        <p:attrNameLst>
                                          <p:attrName>ppt_w</p:attrName>
                                        </p:attrNameLst>
                                      </p:cBhvr>
                                      <p:tavLst>
                                        <p:tav tm="0">
                                          <p:val>
                                            <p:fltVal val="0"/>
                                          </p:val>
                                        </p:tav>
                                        <p:tav tm="100000">
                                          <p:val>
                                            <p:strVal val="#ppt_w"/>
                                          </p:val>
                                        </p:tav>
                                      </p:tavLst>
                                    </p:anim>
                                    <p:anim calcmode="lin" valueType="num">
                                      <p:cBhvr>
                                        <p:cTn id="43" dur="1000" fill="hold"/>
                                        <p:tgtEl>
                                          <p:spTgt spid="18"/>
                                        </p:tgtEl>
                                        <p:attrNameLst>
                                          <p:attrName>ppt_h</p:attrName>
                                        </p:attrNameLst>
                                      </p:cBhvr>
                                      <p:tavLst>
                                        <p:tav tm="0">
                                          <p:val>
                                            <p:fltVal val="0"/>
                                          </p:val>
                                        </p:tav>
                                        <p:tav tm="100000">
                                          <p:val>
                                            <p:strVal val="#ppt_h"/>
                                          </p:val>
                                        </p:tav>
                                      </p:tavLst>
                                    </p:anim>
                                    <p:anim calcmode="lin" valueType="num">
                                      <p:cBhvr>
                                        <p:cTn id="44" dur="1000" fill="hold"/>
                                        <p:tgtEl>
                                          <p:spTgt spid="18"/>
                                        </p:tgtEl>
                                        <p:attrNameLst>
                                          <p:attrName>style.rotation</p:attrName>
                                        </p:attrNameLst>
                                      </p:cBhvr>
                                      <p:tavLst>
                                        <p:tav tm="0">
                                          <p:val>
                                            <p:fltVal val="90"/>
                                          </p:val>
                                        </p:tav>
                                        <p:tav tm="100000">
                                          <p:val>
                                            <p:fltVal val="0"/>
                                          </p:val>
                                        </p:tav>
                                      </p:tavLst>
                                    </p:anim>
                                    <p:animEffect transition="in" filter="fade">
                                      <p:cBhvr>
                                        <p:cTn id="45" dur="1000"/>
                                        <p:tgtEl>
                                          <p:spTgt spid="18"/>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500"/>
                                        <p:tgtEl>
                                          <p:spTgt spid="24"/>
                                        </p:tgtEl>
                                      </p:cBhvr>
                                    </p:animEffect>
                                  </p:childTnLst>
                                </p:cTn>
                              </p:par>
                              <p:par>
                                <p:cTn id="51" presetID="16" presetClass="entr" presetSubtype="21"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barn(inVertical)">
                                      <p:cBhvr>
                                        <p:cTn id="53" dur="500"/>
                                        <p:tgtEl>
                                          <p:spTgt spid="25"/>
                                        </p:tgtEl>
                                      </p:cBhvr>
                                    </p:animEffect>
                                  </p:childTnLst>
                                </p:cTn>
                              </p:par>
                            </p:childTnLst>
                          </p:cTn>
                        </p:par>
                      </p:childTnLst>
                    </p:cTn>
                  </p:par>
                  <p:par>
                    <p:cTn id="54" fill="hold">
                      <p:stCondLst>
                        <p:cond delay="indefinite"/>
                      </p:stCondLst>
                      <p:childTnLst>
                        <p:par>
                          <p:cTn id="55" fill="hold">
                            <p:stCondLst>
                              <p:cond delay="0"/>
                            </p:stCondLst>
                            <p:childTnLst>
                              <p:par>
                                <p:cTn id="56" presetID="14" presetClass="entr" presetSubtype="10" fill="hold" nodeType="click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randombar(horizontal)">
                                      <p:cBhvr>
                                        <p:cTn id="58" dur="500"/>
                                        <p:tgtEl>
                                          <p:spTgt spid="27"/>
                                        </p:tgtEl>
                                      </p:cBhvr>
                                    </p:animEffect>
                                  </p:childTnLst>
                                </p:cTn>
                              </p:par>
                            </p:childTnLst>
                          </p:cTn>
                        </p:par>
                      </p:childTnLst>
                    </p:cTn>
                  </p:par>
                  <p:par>
                    <p:cTn id="59" fill="hold">
                      <p:stCondLst>
                        <p:cond delay="indefinite"/>
                      </p:stCondLst>
                      <p:childTnLst>
                        <p:par>
                          <p:cTn id="60" fill="hold">
                            <p:stCondLst>
                              <p:cond delay="0"/>
                            </p:stCondLst>
                            <p:childTnLst>
                              <p:par>
                                <p:cTn id="61" presetID="16" presetClass="entr" presetSubtype="21" fill="hold" nodeType="click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barn(inVertical)">
                                      <p:cBhvr>
                                        <p:cTn id="63" dur="500"/>
                                        <p:tgtEl>
                                          <p:spTgt spid="32"/>
                                        </p:tgtEl>
                                      </p:cBhvr>
                                    </p:animEffect>
                                  </p:childTnLst>
                                </p:cTn>
                              </p:par>
                              <p:par>
                                <p:cTn id="64" presetID="16" presetClass="entr" presetSubtype="21" fill="hold" grpId="0" nodeType="withEffect">
                                  <p:stCondLst>
                                    <p:cond delay="0"/>
                                  </p:stCondLst>
                                  <p:childTnLst>
                                    <p:set>
                                      <p:cBhvr>
                                        <p:cTn id="65" dur="1" fill="hold">
                                          <p:stCondLst>
                                            <p:cond delay="0"/>
                                          </p:stCondLst>
                                        </p:cTn>
                                        <p:tgtEl>
                                          <p:spTgt spid="33"/>
                                        </p:tgtEl>
                                        <p:attrNameLst>
                                          <p:attrName>style.visibility</p:attrName>
                                        </p:attrNameLst>
                                      </p:cBhvr>
                                      <p:to>
                                        <p:strVal val="visible"/>
                                      </p:to>
                                    </p:set>
                                    <p:animEffect transition="in" filter="barn(inVertical)">
                                      <p:cBhvr>
                                        <p:cTn id="66" dur="500"/>
                                        <p:tgtEl>
                                          <p:spTgt spid="33"/>
                                        </p:tgtEl>
                                      </p:cBhvr>
                                    </p:animEffect>
                                  </p:childTnLst>
                                </p:cTn>
                              </p:par>
                              <p:par>
                                <p:cTn id="67" presetID="16" presetClass="entr" presetSubtype="21" fill="hold" grpId="0" nodeType="withEffect">
                                  <p:stCondLst>
                                    <p:cond delay="0"/>
                                  </p:stCondLst>
                                  <p:childTnLst>
                                    <p:set>
                                      <p:cBhvr>
                                        <p:cTn id="68" dur="1" fill="hold">
                                          <p:stCondLst>
                                            <p:cond delay="0"/>
                                          </p:stCondLst>
                                        </p:cTn>
                                        <p:tgtEl>
                                          <p:spTgt spid="35"/>
                                        </p:tgtEl>
                                        <p:attrNameLst>
                                          <p:attrName>style.visibility</p:attrName>
                                        </p:attrNameLst>
                                      </p:cBhvr>
                                      <p:to>
                                        <p:strVal val="visible"/>
                                      </p:to>
                                    </p:set>
                                    <p:animEffect transition="in" filter="barn(inVertical)">
                                      <p:cBhvr>
                                        <p:cTn id="69" dur="500"/>
                                        <p:tgtEl>
                                          <p:spTgt spid="35"/>
                                        </p:tgtEl>
                                      </p:cBhvr>
                                    </p:animEffect>
                                  </p:childTnLst>
                                </p:cTn>
                              </p:par>
                            </p:childTnLst>
                          </p:cTn>
                        </p:par>
                      </p:childTnLst>
                    </p:cTn>
                  </p:par>
                  <p:par>
                    <p:cTn id="70" fill="hold">
                      <p:stCondLst>
                        <p:cond delay="indefinite"/>
                      </p:stCondLst>
                      <p:childTnLst>
                        <p:par>
                          <p:cTn id="71" fill="hold">
                            <p:stCondLst>
                              <p:cond delay="0"/>
                            </p:stCondLst>
                            <p:childTnLst>
                              <p:par>
                                <p:cTn id="72" presetID="16" presetClass="entr" presetSubtype="21" fill="hold" nodeType="clickEffect">
                                  <p:stCondLst>
                                    <p:cond delay="0"/>
                                  </p:stCondLst>
                                  <p:childTnLst>
                                    <p:set>
                                      <p:cBhvr>
                                        <p:cTn id="73" dur="1" fill="hold">
                                          <p:stCondLst>
                                            <p:cond delay="0"/>
                                          </p:stCondLst>
                                        </p:cTn>
                                        <p:tgtEl>
                                          <p:spTgt spid="35">
                                            <p:txEl>
                                              <p:pRg st="0" end="0"/>
                                            </p:txEl>
                                          </p:spTgt>
                                        </p:tgtEl>
                                        <p:attrNameLst>
                                          <p:attrName>style.visibility</p:attrName>
                                        </p:attrNameLst>
                                      </p:cBhvr>
                                      <p:to>
                                        <p:strVal val="visible"/>
                                      </p:to>
                                    </p:set>
                                    <p:animEffect transition="in" filter="barn(inVertical)">
                                      <p:cBhvr>
                                        <p:cTn id="74" dur="500"/>
                                        <p:tgtEl>
                                          <p:spTgt spid="35">
                                            <p:txEl>
                                              <p:pRg st="0" end="0"/>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26" presetClass="entr" presetSubtype="0" fill="hold" grpId="0" nodeType="clickEffect">
                                  <p:stCondLst>
                                    <p:cond delay="0"/>
                                  </p:stCondLst>
                                  <p:childTnLst>
                                    <p:set>
                                      <p:cBhvr>
                                        <p:cTn id="78" dur="1" fill="hold">
                                          <p:stCondLst>
                                            <p:cond delay="0"/>
                                          </p:stCondLst>
                                        </p:cTn>
                                        <p:tgtEl>
                                          <p:spTgt spid="37"/>
                                        </p:tgtEl>
                                        <p:attrNameLst>
                                          <p:attrName>style.visibility</p:attrName>
                                        </p:attrNameLst>
                                      </p:cBhvr>
                                      <p:to>
                                        <p:strVal val="visible"/>
                                      </p:to>
                                    </p:set>
                                    <p:animEffect transition="in" filter="wipe(down)">
                                      <p:cBhvr>
                                        <p:cTn id="79" dur="580">
                                          <p:stCondLst>
                                            <p:cond delay="0"/>
                                          </p:stCondLst>
                                        </p:cTn>
                                        <p:tgtEl>
                                          <p:spTgt spid="37"/>
                                        </p:tgtEl>
                                      </p:cBhvr>
                                    </p:animEffect>
                                    <p:anim calcmode="lin" valueType="num">
                                      <p:cBhvr>
                                        <p:cTn id="80" dur="1822" tmFilter="0,0; 0.14,0.36; 0.43,0.73; 0.71,0.91; 1.0,1.0">
                                          <p:stCondLst>
                                            <p:cond delay="0"/>
                                          </p:stCondLst>
                                        </p:cTn>
                                        <p:tgtEl>
                                          <p:spTgt spid="37"/>
                                        </p:tgtEl>
                                        <p:attrNameLst>
                                          <p:attrName>ppt_x</p:attrName>
                                        </p:attrNameLst>
                                      </p:cBhvr>
                                      <p:tavLst>
                                        <p:tav tm="0">
                                          <p:val>
                                            <p:strVal val="#ppt_x-0.25"/>
                                          </p:val>
                                        </p:tav>
                                        <p:tav tm="100000">
                                          <p:val>
                                            <p:strVal val="#ppt_x"/>
                                          </p:val>
                                        </p:tav>
                                      </p:tavLst>
                                    </p:anim>
                                    <p:anim calcmode="lin" valueType="num">
                                      <p:cBhvr>
                                        <p:cTn id="81" dur="664" tmFilter="0.0,0.0; 0.25,0.07; 0.50,0.2; 0.75,0.467; 1.0,1.0">
                                          <p:stCondLst>
                                            <p:cond delay="0"/>
                                          </p:stCondLst>
                                        </p:cTn>
                                        <p:tgtEl>
                                          <p:spTgt spid="37"/>
                                        </p:tgtEl>
                                        <p:attrNameLst>
                                          <p:attrName>ppt_y</p:attrName>
                                        </p:attrNameLst>
                                      </p:cBhvr>
                                      <p:tavLst>
                                        <p:tav tm="0" fmla="#ppt_y-sin(pi*$)/3">
                                          <p:val>
                                            <p:fltVal val="0.5"/>
                                          </p:val>
                                        </p:tav>
                                        <p:tav tm="100000">
                                          <p:val>
                                            <p:fltVal val="1"/>
                                          </p:val>
                                        </p:tav>
                                      </p:tavLst>
                                    </p:anim>
                                    <p:anim calcmode="lin" valueType="num">
                                      <p:cBhvr>
                                        <p:cTn id="82" dur="664" tmFilter="0, 0; 0.125,0.2665; 0.25,0.4; 0.375,0.465; 0.5,0.5;  0.625,0.535; 0.75,0.6; 0.875,0.7335; 1,1">
                                          <p:stCondLst>
                                            <p:cond delay="664"/>
                                          </p:stCondLst>
                                        </p:cTn>
                                        <p:tgtEl>
                                          <p:spTgt spid="37"/>
                                        </p:tgtEl>
                                        <p:attrNameLst>
                                          <p:attrName>ppt_y</p:attrName>
                                        </p:attrNameLst>
                                      </p:cBhvr>
                                      <p:tavLst>
                                        <p:tav tm="0" fmla="#ppt_y-sin(pi*$)/9">
                                          <p:val>
                                            <p:fltVal val="0"/>
                                          </p:val>
                                        </p:tav>
                                        <p:tav tm="100000">
                                          <p:val>
                                            <p:fltVal val="1"/>
                                          </p:val>
                                        </p:tav>
                                      </p:tavLst>
                                    </p:anim>
                                    <p:anim calcmode="lin" valueType="num">
                                      <p:cBhvr>
                                        <p:cTn id="83" dur="332" tmFilter="0, 0; 0.125,0.2665; 0.25,0.4; 0.375,0.465; 0.5,0.5;  0.625,0.535; 0.75,0.6; 0.875,0.7335; 1,1">
                                          <p:stCondLst>
                                            <p:cond delay="1324"/>
                                          </p:stCondLst>
                                        </p:cTn>
                                        <p:tgtEl>
                                          <p:spTgt spid="37"/>
                                        </p:tgtEl>
                                        <p:attrNameLst>
                                          <p:attrName>ppt_y</p:attrName>
                                        </p:attrNameLst>
                                      </p:cBhvr>
                                      <p:tavLst>
                                        <p:tav tm="0" fmla="#ppt_y-sin(pi*$)/27">
                                          <p:val>
                                            <p:fltVal val="0"/>
                                          </p:val>
                                        </p:tav>
                                        <p:tav tm="100000">
                                          <p:val>
                                            <p:fltVal val="1"/>
                                          </p:val>
                                        </p:tav>
                                      </p:tavLst>
                                    </p:anim>
                                    <p:anim calcmode="lin" valueType="num">
                                      <p:cBhvr>
                                        <p:cTn id="84" dur="164" tmFilter="0, 0; 0.125,0.2665; 0.25,0.4; 0.375,0.465; 0.5,0.5;  0.625,0.535; 0.75,0.6; 0.875,0.7335; 1,1">
                                          <p:stCondLst>
                                            <p:cond delay="1656"/>
                                          </p:stCondLst>
                                        </p:cTn>
                                        <p:tgtEl>
                                          <p:spTgt spid="37"/>
                                        </p:tgtEl>
                                        <p:attrNameLst>
                                          <p:attrName>ppt_y</p:attrName>
                                        </p:attrNameLst>
                                      </p:cBhvr>
                                      <p:tavLst>
                                        <p:tav tm="0" fmla="#ppt_y-sin(pi*$)/81">
                                          <p:val>
                                            <p:fltVal val="0"/>
                                          </p:val>
                                        </p:tav>
                                        <p:tav tm="100000">
                                          <p:val>
                                            <p:fltVal val="1"/>
                                          </p:val>
                                        </p:tav>
                                      </p:tavLst>
                                    </p:anim>
                                    <p:animScale>
                                      <p:cBhvr>
                                        <p:cTn id="85" dur="26">
                                          <p:stCondLst>
                                            <p:cond delay="650"/>
                                          </p:stCondLst>
                                        </p:cTn>
                                        <p:tgtEl>
                                          <p:spTgt spid="37"/>
                                        </p:tgtEl>
                                      </p:cBhvr>
                                      <p:to x="100000" y="60000"/>
                                    </p:animScale>
                                    <p:animScale>
                                      <p:cBhvr>
                                        <p:cTn id="86" dur="166" decel="50000">
                                          <p:stCondLst>
                                            <p:cond delay="676"/>
                                          </p:stCondLst>
                                        </p:cTn>
                                        <p:tgtEl>
                                          <p:spTgt spid="37"/>
                                        </p:tgtEl>
                                      </p:cBhvr>
                                      <p:to x="100000" y="100000"/>
                                    </p:animScale>
                                    <p:animScale>
                                      <p:cBhvr>
                                        <p:cTn id="87" dur="26">
                                          <p:stCondLst>
                                            <p:cond delay="1312"/>
                                          </p:stCondLst>
                                        </p:cTn>
                                        <p:tgtEl>
                                          <p:spTgt spid="37"/>
                                        </p:tgtEl>
                                      </p:cBhvr>
                                      <p:to x="100000" y="80000"/>
                                    </p:animScale>
                                    <p:animScale>
                                      <p:cBhvr>
                                        <p:cTn id="88" dur="166" decel="50000">
                                          <p:stCondLst>
                                            <p:cond delay="1338"/>
                                          </p:stCondLst>
                                        </p:cTn>
                                        <p:tgtEl>
                                          <p:spTgt spid="37"/>
                                        </p:tgtEl>
                                      </p:cBhvr>
                                      <p:to x="100000" y="100000"/>
                                    </p:animScale>
                                    <p:animScale>
                                      <p:cBhvr>
                                        <p:cTn id="89" dur="26">
                                          <p:stCondLst>
                                            <p:cond delay="1642"/>
                                          </p:stCondLst>
                                        </p:cTn>
                                        <p:tgtEl>
                                          <p:spTgt spid="37"/>
                                        </p:tgtEl>
                                      </p:cBhvr>
                                      <p:to x="100000" y="90000"/>
                                    </p:animScale>
                                    <p:animScale>
                                      <p:cBhvr>
                                        <p:cTn id="90" dur="166" decel="50000">
                                          <p:stCondLst>
                                            <p:cond delay="1668"/>
                                          </p:stCondLst>
                                        </p:cTn>
                                        <p:tgtEl>
                                          <p:spTgt spid="37"/>
                                        </p:tgtEl>
                                      </p:cBhvr>
                                      <p:to x="100000" y="100000"/>
                                    </p:animScale>
                                    <p:animScale>
                                      <p:cBhvr>
                                        <p:cTn id="91" dur="26">
                                          <p:stCondLst>
                                            <p:cond delay="1808"/>
                                          </p:stCondLst>
                                        </p:cTn>
                                        <p:tgtEl>
                                          <p:spTgt spid="37"/>
                                        </p:tgtEl>
                                      </p:cBhvr>
                                      <p:to x="100000" y="95000"/>
                                    </p:animScale>
                                    <p:animScale>
                                      <p:cBhvr>
                                        <p:cTn id="92" dur="166" decel="50000">
                                          <p:stCondLst>
                                            <p:cond delay="1834"/>
                                          </p:stCondLst>
                                        </p:cTn>
                                        <p:tgtEl>
                                          <p:spTgt spid="37"/>
                                        </p:tgtEl>
                                      </p:cBhvr>
                                      <p:to x="100000" y="100000"/>
                                    </p:animScale>
                                  </p:childTnLst>
                                </p:cTn>
                              </p:par>
                            </p:childTnLst>
                          </p:cTn>
                        </p:par>
                      </p:childTnLst>
                    </p:cTn>
                  </p:par>
                  <p:par>
                    <p:cTn id="93" fill="hold">
                      <p:stCondLst>
                        <p:cond delay="indefinite"/>
                      </p:stCondLst>
                      <p:childTnLst>
                        <p:par>
                          <p:cTn id="94" fill="hold">
                            <p:stCondLst>
                              <p:cond delay="0"/>
                            </p:stCondLst>
                            <p:childTnLst>
                              <p:par>
                                <p:cTn id="95" presetID="42" presetClass="entr" presetSubtype="0" fill="hold" grpId="0" nodeType="clickEffect">
                                  <p:stCondLst>
                                    <p:cond delay="0"/>
                                  </p:stCondLst>
                                  <p:childTnLst>
                                    <p:set>
                                      <p:cBhvr>
                                        <p:cTn id="96" dur="1" fill="hold">
                                          <p:stCondLst>
                                            <p:cond delay="0"/>
                                          </p:stCondLst>
                                        </p:cTn>
                                        <p:tgtEl>
                                          <p:spTgt spid="38"/>
                                        </p:tgtEl>
                                        <p:attrNameLst>
                                          <p:attrName>style.visibility</p:attrName>
                                        </p:attrNameLst>
                                      </p:cBhvr>
                                      <p:to>
                                        <p:strVal val="visible"/>
                                      </p:to>
                                    </p:set>
                                    <p:animEffect transition="in" filter="fade">
                                      <p:cBhvr>
                                        <p:cTn id="97" dur="1000"/>
                                        <p:tgtEl>
                                          <p:spTgt spid="38"/>
                                        </p:tgtEl>
                                      </p:cBhvr>
                                    </p:animEffect>
                                    <p:anim calcmode="lin" valueType="num">
                                      <p:cBhvr>
                                        <p:cTn id="98" dur="1000" fill="hold"/>
                                        <p:tgtEl>
                                          <p:spTgt spid="38"/>
                                        </p:tgtEl>
                                        <p:attrNameLst>
                                          <p:attrName>ppt_x</p:attrName>
                                        </p:attrNameLst>
                                      </p:cBhvr>
                                      <p:tavLst>
                                        <p:tav tm="0">
                                          <p:val>
                                            <p:strVal val="#ppt_x"/>
                                          </p:val>
                                        </p:tav>
                                        <p:tav tm="100000">
                                          <p:val>
                                            <p:strVal val="#ppt_x"/>
                                          </p:val>
                                        </p:tav>
                                      </p:tavLst>
                                    </p:anim>
                                    <p:anim calcmode="lin" valueType="num">
                                      <p:cBhvr>
                                        <p:cTn id="99"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P spid="11" grpId="0"/>
      <p:bldP spid="15" grpId="0"/>
      <p:bldP spid="16" grpId="0"/>
      <p:bldP spid="19" grpId="0"/>
      <p:bldP spid="24" grpId="0" animBg="1"/>
      <p:bldP spid="25" grpId="0"/>
      <p:bldP spid="33" grpId="0"/>
      <p:bldP spid="35" grpId="0"/>
      <p:bldP spid="37" grpId="0" animBg="1"/>
      <p:bldP spid="3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494EE-F673-5036-0509-D799863495BC}"/>
              </a:ext>
            </a:extLst>
          </p:cNvPr>
          <p:cNvSpPr>
            <a:spLocks noGrp="1"/>
          </p:cNvSpPr>
          <p:nvPr>
            <p:ph type="title"/>
          </p:nvPr>
        </p:nvSpPr>
        <p:spPr>
          <a:xfrm>
            <a:off x="9534525" y="419863"/>
            <a:ext cx="2510330" cy="533509"/>
          </a:xfrm>
        </p:spPr>
        <p:txBody>
          <a:bodyPr>
            <a:normAutofit fontScale="90000"/>
          </a:bodyPr>
          <a:lstStyle/>
          <a:p>
            <a:pPr algn="r" rtl="1"/>
            <a:r>
              <a:rPr lang="he-IL" dirty="0"/>
              <a:t>שאלה 10 מהבחינה</a:t>
            </a:r>
            <a:endParaRPr lang="en-IL" dirty="0"/>
          </a:p>
        </p:txBody>
      </p:sp>
      <p:sp>
        <p:nvSpPr>
          <p:cNvPr id="3" name="Content Placeholder 2">
            <a:extLst>
              <a:ext uri="{FF2B5EF4-FFF2-40B4-BE49-F238E27FC236}">
                <a16:creationId xmlns:a16="http://schemas.microsoft.com/office/drawing/2014/main" id="{411A47A3-6F71-89A9-0418-E7097145D628}"/>
              </a:ext>
            </a:extLst>
          </p:cNvPr>
          <p:cNvSpPr>
            <a:spLocks noGrp="1"/>
          </p:cNvSpPr>
          <p:nvPr>
            <p:ph idx="1"/>
          </p:nvPr>
        </p:nvSpPr>
        <p:spPr>
          <a:xfrm>
            <a:off x="741965" y="243923"/>
            <a:ext cx="8792560" cy="1418897"/>
          </a:xfrm>
        </p:spPr>
        <p:txBody>
          <a:bodyPr>
            <a:normAutofit fontScale="92500"/>
          </a:bodyPr>
          <a:lstStyle/>
          <a:p>
            <a:pPr marL="0" indent="0" algn="r" rtl="1">
              <a:lnSpc>
                <a:spcPct val="150000"/>
              </a:lnSpc>
              <a:buNone/>
            </a:pPr>
            <a:r>
              <a:rPr lang="he-IL" sz="1800" b="1" dirty="0">
                <a:latin typeface="Times New Roman" panose="02020603050405020304" pitchFamily="18" charset="0"/>
                <a:ea typeface="Times New Roman" panose="02020603050405020304" pitchFamily="18" charset="0"/>
              </a:rPr>
              <a:t>שוק התפוזים נמצא בשיווי משקל בו הכמות הנמכרת של תפוזים הינה 100 ק"ג והמחיר הינו 10 ש"ח לק"ג. ידוע שאם מחיר התפוזים היה 12 ש"ח לק"ג בשוק היה עודף היצע של 10 ק"ג. לשוק הגיעו צרכנים נוספים המוכנים לרכוש 10 ק"ג תפוזים בכל מחיר. לאור זאת בנקודת שיווי המשקל החדשה:</a:t>
            </a:r>
            <a:endParaRPr lang="en-IL" sz="1800" dirty="0">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endParaRPr lang="en-IL" sz="1800" dirty="0">
              <a:effectLst/>
              <a:latin typeface="Times New Roman" panose="02020603050405020304" pitchFamily="18" charset="0"/>
              <a:ea typeface="Times New Roman" panose="02020603050405020304" pitchFamily="18" charset="0"/>
            </a:endParaRPr>
          </a:p>
        </p:txBody>
      </p:sp>
      <p:sp>
        <p:nvSpPr>
          <p:cNvPr id="6" name="TextBox 5">
            <a:extLst>
              <a:ext uri="{FF2B5EF4-FFF2-40B4-BE49-F238E27FC236}">
                <a16:creationId xmlns:a16="http://schemas.microsoft.com/office/drawing/2014/main" id="{569DE6C1-2450-418E-ADED-871DC08FB35B}"/>
              </a:ext>
            </a:extLst>
          </p:cNvPr>
          <p:cNvSpPr txBox="1"/>
          <p:nvPr/>
        </p:nvSpPr>
        <p:spPr>
          <a:xfrm>
            <a:off x="5453556" y="2274004"/>
            <a:ext cx="6591299" cy="2309991"/>
          </a:xfrm>
          <a:prstGeom prst="rect">
            <a:avLst/>
          </a:prstGeom>
          <a:noFill/>
        </p:spPr>
        <p:txBody>
          <a:bodyPr wrap="square">
            <a:spAutoFit/>
          </a:bodyPr>
          <a:lstStyle/>
          <a:p>
            <a:pPr algn="r" rtl="1">
              <a:lnSpc>
                <a:spcPct val="150000"/>
              </a:lnSpc>
            </a:pP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 </a:t>
            </a:r>
            <a:endParaRPr lang="en-IL" sz="1800" dirty="0">
              <a:effectLst/>
              <a:latin typeface="Times New Roman" panose="02020603050405020304" pitchFamily="18" charset="0"/>
              <a:ea typeface="Times New Roman" panose="02020603050405020304" pitchFamily="18" charset="0"/>
            </a:endParaRPr>
          </a:p>
          <a:p>
            <a:pPr marL="342900" indent="-342900" algn="r" rtl="1">
              <a:lnSpc>
                <a:spcPct val="150000"/>
              </a:lnSpc>
              <a:buFont typeface="+mj-lt"/>
              <a:buAutoNum type="arabicPeriod"/>
            </a:pPr>
            <a:r>
              <a:rPr lang="he-IL" sz="1600" dirty="0">
                <a:latin typeface="Times New Roman" panose="02020603050405020304" pitchFamily="18" charset="0"/>
                <a:ea typeface="Times New Roman" panose="02020603050405020304" pitchFamily="18" charset="0"/>
              </a:rPr>
              <a:t>מחיר התפוזים יהיה 12 ש"ח וכמות התפוזים תהיה בדיוק 110 ק"ג.</a:t>
            </a:r>
            <a:endParaRPr lang="en-IL" sz="1600" dirty="0">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600" dirty="0">
                <a:effectLst/>
                <a:highlight>
                  <a:srgbClr val="FFFF00"/>
                </a:highlight>
                <a:latin typeface="Times New Roman" panose="02020603050405020304" pitchFamily="18" charset="0"/>
                <a:ea typeface="Times New Roman" panose="02020603050405020304" pitchFamily="18" charset="0"/>
                <a:cs typeface="Arial" panose="020B0604020202020204" pitchFamily="34" charset="0"/>
              </a:rPr>
              <a:t>מחיר התפוזים יהיה 12 ש"ח וכמות התפוזים תהיה קטנה מ- 110 ק"ג.</a:t>
            </a:r>
            <a:endParaRPr lang="en-IL" sz="1600" dirty="0">
              <a:effectLst/>
              <a:highlight>
                <a:srgbClr val="FFFF00"/>
              </a:highligh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600" dirty="0">
                <a:effectLst/>
                <a:latin typeface="Times New Roman" panose="02020603050405020304" pitchFamily="18" charset="0"/>
                <a:ea typeface="Times New Roman" panose="02020603050405020304" pitchFamily="18" charset="0"/>
                <a:cs typeface="Arial" panose="020B0604020202020204" pitchFamily="34" charset="0"/>
              </a:rPr>
              <a:t>מחיר התפוזים יהיה נמוך מ- 12 ש"ח וכמות התפוזים תהיה קטנה מ- 110 ק"ג.</a:t>
            </a:r>
            <a:endParaRPr lang="en-IL" sz="16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600" dirty="0">
                <a:effectLst/>
                <a:latin typeface="Times New Roman" panose="02020603050405020304" pitchFamily="18" charset="0"/>
                <a:ea typeface="Times New Roman" panose="02020603050405020304" pitchFamily="18" charset="0"/>
                <a:cs typeface="Arial" panose="020B0604020202020204" pitchFamily="34" charset="0"/>
              </a:rPr>
              <a:t>מחיר התפוזים יהיה נמוך מ- 12 ש"ח וכמות התפוזים תהיה בדיוק 110 ק"ג.</a:t>
            </a:r>
            <a:endParaRPr lang="en-IL" sz="16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600" dirty="0">
                <a:effectLst/>
                <a:latin typeface="Times New Roman" panose="02020603050405020304" pitchFamily="18" charset="0"/>
                <a:ea typeface="Times New Roman" panose="02020603050405020304" pitchFamily="18" charset="0"/>
                <a:cs typeface="Arial" panose="020B0604020202020204" pitchFamily="34" charset="0"/>
              </a:rPr>
              <a:t>כל התשובות האחרות לא נכונות.</a:t>
            </a:r>
            <a:endParaRPr lang="en-IL"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6244388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494EE-F673-5036-0509-D799863495BC}"/>
              </a:ext>
            </a:extLst>
          </p:cNvPr>
          <p:cNvSpPr>
            <a:spLocks noGrp="1"/>
          </p:cNvSpPr>
          <p:nvPr>
            <p:ph type="title"/>
          </p:nvPr>
        </p:nvSpPr>
        <p:spPr>
          <a:xfrm>
            <a:off x="8308427" y="414282"/>
            <a:ext cx="3660228" cy="533509"/>
          </a:xfrm>
        </p:spPr>
        <p:txBody>
          <a:bodyPr>
            <a:normAutofit fontScale="90000"/>
          </a:bodyPr>
          <a:lstStyle/>
          <a:p>
            <a:pPr algn="r" rtl="1"/>
            <a:r>
              <a:rPr lang="he-IL" dirty="0"/>
              <a:t>שאלה 9 מהבחינה</a:t>
            </a:r>
            <a:endParaRPr lang="en-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11A47A3-6F71-89A9-0418-E7097145D628}"/>
                  </a:ext>
                </a:extLst>
              </p:cNvPr>
              <p:cNvSpPr>
                <a:spLocks noGrp="1"/>
              </p:cNvSpPr>
              <p:nvPr>
                <p:ph idx="1"/>
              </p:nvPr>
            </p:nvSpPr>
            <p:spPr>
              <a:xfrm>
                <a:off x="1056290" y="1135117"/>
                <a:ext cx="10691649" cy="5833242"/>
              </a:xfrm>
            </p:spPr>
            <p:txBody>
              <a:bodyPr>
                <a:normAutofit/>
              </a:bodyPr>
              <a:lstStyle/>
              <a:p>
                <a:pPr marL="0" indent="0" algn="r" rtl="1">
                  <a:lnSpc>
                    <a:spcPct val="150000"/>
                  </a:lnSpc>
                  <a:buNone/>
                </a:pP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בשוק מוצר </a:t>
                </a:r>
                <a:r>
                  <a:rPr lang="en-US" sz="1800" b="1" dirty="0">
                    <a:effectLst/>
                    <a:latin typeface="Arial" panose="020B0604020202020204" pitchFamily="34" charset="0"/>
                    <a:ea typeface="Times New Roman" panose="02020603050405020304" pitchFamily="18" charset="0"/>
                  </a:rPr>
                  <a:t>X</a:t>
                </a: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 קיימים שני סוגי יצרנים, בעקבות מגפה בריאותית הוטלו מגבלות על ייצור של יצרני א, כך שהעלות השולית של יצרני א עלתה לכל כמות מיוצרת. פונקציית הביקוש של צרכני מוצר </a:t>
                </a:r>
                <a:r>
                  <a:rPr lang="en-US" sz="1800" b="1" dirty="0">
                    <a:effectLst/>
                    <a:latin typeface="Arial" panose="020B0604020202020204" pitchFamily="34" charset="0"/>
                    <a:ea typeface="Times New Roman" panose="02020603050405020304" pitchFamily="18" charset="0"/>
                  </a:rPr>
                  <a:t>X </a:t>
                </a:r>
                <a:r>
                  <a:rPr lang="he-IL" sz="1800" b="1" dirty="0">
                    <a:effectLst/>
                    <a:latin typeface="Arial" panose="020B0604020202020204" pitchFamily="34" charset="0"/>
                    <a:ea typeface="Times New Roman" panose="02020603050405020304" pitchFamily="18" charset="0"/>
                  </a:rPr>
                  <a:t> </a:t>
                </a: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הינה </a:t>
                </a:r>
                <a14:m>
                  <m:oMath xmlns:m="http://schemas.openxmlformats.org/officeDocument/2006/math">
                    <m:r>
                      <a:rPr lang="en-US" sz="1800" b="1" i="1">
                        <a:effectLst/>
                        <a:latin typeface="Cambria Math" panose="02040503050406030204" pitchFamily="18" charset="0"/>
                        <a:ea typeface="Times New Roman" panose="02020603050405020304" pitchFamily="18" charset="0"/>
                        <a:cs typeface="Arial" panose="020B0604020202020204" pitchFamily="34" charset="0"/>
                      </a:rPr>
                      <m:t>𝑷</m:t>
                    </m:r>
                    <m:r>
                      <a:rPr lang="en-US" sz="1800" b="1">
                        <a:effectLst/>
                        <a:latin typeface="Cambria Math" panose="02040503050406030204" pitchFamily="18" charset="0"/>
                        <a:ea typeface="Times New Roman" panose="02020603050405020304" pitchFamily="18" charset="0"/>
                        <a:cs typeface="Arial" panose="020B0604020202020204" pitchFamily="34" charset="0"/>
                      </a:rPr>
                      <m:t>⋅</m:t>
                    </m:r>
                    <m:r>
                      <a:rPr lang="en-US" sz="1800" b="1" i="1">
                        <a:effectLst/>
                        <a:latin typeface="Cambria Math" panose="02040503050406030204" pitchFamily="18" charset="0"/>
                        <a:ea typeface="Times New Roman" panose="02020603050405020304" pitchFamily="18" charset="0"/>
                        <a:cs typeface="Arial" panose="020B0604020202020204" pitchFamily="34" charset="0"/>
                      </a:rPr>
                      <m:t>𝑿</m:t>
                    </m:r>
                    <m:r>
                      <a:rPr lang="en-US" sz="1800" b="1">
                        <a:effectLst/>
                        <a:latin typeface="Cambria Math" panose="02040503050406030204" pitchFamily="18" charset="0"/>
                        <a:ea typeface="Times New Roman" panose="02020603050405020304" pitchFamily="18" charset="0"/>
                        <a:cs typeface="Arial" panose="020B0604020202020204" pitchFamily="34" charset="0"/>
                      </a:rPr>
                      <m:t>=</m:t>
                    </m:r>
                    <m:r>
                      <a:rPr lang="en-US" sz="1800" b="1" i="1">
                        <a:effectLst/>
                        <a:latin typeface="Cambria Math" panose="02040503050406030204" pitchFamily="18" charset="0"/>
                        <a:ea typeface="Times New Roman" panose="02020603050405020304" pitchFamily="18" charset="0"/>
                        <a:cs typeface="Arial" panose="020B0604020202020204" pitchFamily="34" charset="0"/>
                      </a:rPr>
                      <m:t>𝟏𝟎𝟎</m:t>
                    </m:r>
                  </m:oMath>
                </a14:m>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 לאור נתונים אלו ניתן להסיק כי:</a:t>
                </a:r>
                <a:endParaRPr lang="en-IL" sz="1800" dirty="0">
                  <a:effectLst/>
                  <a:latin typeface="Times New Roman" panose="02020603050405020304" pitchFamily="18" charset="0"/>
                  <a:ea typeface="Times New Roman" panose="02020603050405020304" pitchFamily="18" charset="0"/>
                </a:endParaRPr>
              </a:p>
              <a:p>
                <a:pPr marL="342900" indent="-342900" algn="r" rtl="1">
                  <a:lnSpc>
                    <a:spcPct val="150000"/>
                  </a:lnSpc>
                  <a:buFont typeface="+mj-lt"/>
                  <a:buAutoNum type="arabicPeriod"/>
                </a:pPr>
                <a:r>
                  <a:rPr lang="he-IL" sz="1800" dirty="0">
                    <a:latin typeface="Times New Roman" panose="02020603050405020304" pitchFamily="18" charset="0"/>
                    <a:ea typeface="Times New Roman" panose="02020603050405020304" pitchFamily="18" charset="0"/>
                  </a:rPr>
                  <a:t>רווחי היצרנים בענף לא השתנו.</a:t>
                </a:r>
                <a:endParaRPr lang="en-IL" sz="1800" dirty="0">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הכנסות יצרני א בהכרח ירדו.</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לא ניתן לדעת מה קרה לרווחי יצרני ב.</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לא ניתן לדעת מה קרה להכנסות יצרני א.</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כל התשובות האחרות לא נכונות.</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endParaRPr lang="en-IL" sz="1800" dirty="0">
                  <a:effectLst/>
                  <a:latin typeface="Times New Roman" panose="02020603050405020304" pitchFamily="18" charset="0"/>
                  <a:ea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411A47A3-6F71-89A9-0418-E7097145D628}"/>
                  </a:ext>
                </a:extLst>
              </p:cNvPr>
              <p:cNvSpPr>
                <a:spLocks noGrp="1" noRot="1" noChangeAspect="1" noMove="1" noResize="1" noEditPoints="1" noAdjustHandles="1" noChangeArrowheads="1" noChangeShapeType="1" noTextEdit="1"/>
              </p:cNvSpPr>
              <p:nvPr>
                <p:ph idx="1"/>
              </p:nvPr>
            </p:nvSpPr>
            <p:spPr>
              <a:xfrm>
                <a:off x="1056290" y="1135117"/>
                <a:ext cx="10691649" cy="5833242"/>
              </a:xfrm>
              <a:blipFill>
                <a:blip r:embed="rId2"/>
                <a:stretch>
                  <a:fillRect r="-513"/>
                </a:stretch>
              </a:blipFill>
            </p:spPr>
            <p:txBody>
              <a:bodyPr/>
              <a:lstStyle/>
              <a:p>
                <a:r>
                  <a:rPr lang="en-IL">
                    <a:noFill/>
                  </a:rPr>
                  <a:t> </a:t>
                </a:r>
              </a:p>
            </p:txBody>
          </p:sp>
        </mc:Fallback>
      </mc:AlternateContent>
    </p:spTree>
    <p:extLst>
      <p:ext uri="{BB962C8B-B14F-4D97-AF65-F5344CB8AC3E}">
        <p14:creationId xmlns:p14="http://schemas.microsoft.com/office/powerpoint/2010/main" val="20721248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494EE-F673-5036-0509-D799863495BC}"/>
              </a:ext>
            </a:extLst>
          </p:cNvPr>
          <p:cNvSpPr>
            <a:spLocks noGrp="1"/>
          </p:cNvSpPr>
          <p:nvPr>
            <p:ph type="title"/>
          </p:nvPr>
        </p:nvSpPr>
        <p:spPr>
          <a:xfrm>
            <a:off x="8308427" y="414282"/>
            <a:ext cx="3660228" cy="533509"/>
          </a:xfrm>
        </p:spPr>
        <p:txBody>
          <a:bodyPr>
            <a:normAutofit fontScale="90000"/>
          </a:bodyPr>
          <a:lstStyle/>
          <a:p>
            <a:pPr algn="r" rtl="1"/>
            <a:r>
              <a:rPr lang="he-IL" dirty="0"/>
              <a:t>שאלה 9 מהבחינה</a:t>
            </a:r>
            <a:endParaRPr lang="en-IL"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11A47A3-6F71-89A9-0418-E7097145D628}"/>
                  </a:ext>
                </a:extLst>
              </p:cNvPr>
              <p:cNvSpPr>
                <a:spLocks noGrp="1"/>
              </p:cNvSpPr>
              <p:nvPr>
                <p:ph idx="1"/>
              </p:nvPr>
            </p:nvSpPr>
            <p:spPr>
              <a:xfrm>
                <a:off x="1056290" y="1135117"/>
                <a:ext cx="10691649" cy="5305439"/>
              </a:xfrm>
            </p:spPr>
            <p:txBody>
              <a:bodyPr>
                <a:normAutofit/>
              </a:bodyPr>
              <a:lstStyle/>
              <a:p>
                <a:pPr marL="0" indent="0" algn="r" rtl="1">
                  <a:lnSpc>
                    <a:spcPct val="150000"/>
                  </a:lnSpc>
                  <a:buNone/>
                </a:pP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בשוק מוצר </a:t>
                </a:r>
                <a:r>
                  <a:rPr lang="en-US" sz="1800" b="1" dirty="0">
                    <a:effectLst/>
                    <a:latin typeface="Arial" panose="020B0604020202020204" pitchFamily="34" charset="0"/>
                    <a:ea typeface="Times New Roman" panose="02020603050405020304" pitchFamily="18" charset="0"/>
                  </a:rPr>
                  <a:t>X</a:t>
                </a: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 קיימים שני סוגי יצרנים, בעקבות מגפה בריאותית הוטלו מגבלות על ייצור של יצרני א, כך שהעלות השולית של יצרני א עלתה לכל כמות מיוצרת. </a:t>
                </a:r>
                <a:r>
                  <a:rPr lang="he-IL" sz="1800" b="1" dirty="0">
                    <a:effectLst/>
                    <a:highlight>
                      <a:srgbClr val="00FFFF"/>
                    </a:highlight>
                    <a:latin typeface="Times New Roman" panose="02020603050405020304" pitchFamily="18" charset="0"/>
                    <a:ea typeface="Times New Roman" panose="02020603050405020304" pitchFamily="18" charset="0"/>
                    <a:cs typeface="Arial" panose="020B0604020202020204" pitchFamily="34" charset="0"/>
                  </a:rPr>
                  <a:t>פונקציית הביקוש של צרכני מוצר </a:t>
                </a:r>
                <a:r>
                  <a:rPr lang="en-US" sz="1800" b="1" dirty="0">
                    <a:effectLst/>
                    <a:highlight>
                      <a:srgbClr val="00FFFF"/>
                    </a:highlight>
                    <a:latin typeface="Arial" panose="020B0604020202020204" pitchFamily="34" charset="0"/>
                    <a:ea typeface="Times New Roman" panose="02020603050405020304" pitchFamily="18" charset="0"/>
                  </a:rPr>
                  <a:t>X </a:t>
                </a:r>
                <a:r>
                  <a:rPr lang="he-IL" sz="1800" b="1" dirty="0">
                    <a:effectLst/>
                    <a:highlight>
                      <a:srgbClr val="00FFFF"/>
                    </a:highlight>
                    <a:latin typeface="Arial" panose="020B0604020202020204" pitchFamily="34" charset="0"/>
                    <a:ea typeface="Times New Roman" panose="02020603050405020304" pitchFamily="18" charset="0"/>
                  </a:rPr>
                  <a:t> </a:t>
                </a: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הינה  </a:t>
                </a:r>
                <a14:m>
                  <m:oMath xmlns:m="http://schemas.openxmlformats.org/officeDocument/2006/math">
                    <m:r>
                      <a:rPr lang="en-US" sz="1800" b="1" i="1">
                        <a:effectLst/>
                        <a:latin typeface="Cambria Math" panose="02040503050406030204" pitchFamily="18" charset="0"/>
                        <a:ea typeface="Times New Roman" panose="02020603050405020304" pitchFamily="18" charset="0"/>
                        <a:cs typeface="Arial" panose="020B0604020202020204" pitchFamily="34" charset="0"/>
                      </a:rPr>
                      <m:t>𝑷</m:t>
                    </m:r>
                    <m:r>
                      <a:rPr lang="en-US" sz="1800" b="1">
                        <a:effectLst/>
                        <a:latin typeface="Cambria Math" panose="02040503050406030204" pitchFamily="18" charset="0"/>
                        <a:ea typeface="Times New Roman" panose="02020603050405020304" pitchFamily="18" charset="0"/>
                        <a:cs typeface="Arial" panose="020B0604020202020204" pitchFamily="34" charset="0"/>
                      </a:rPr>
                      <m:t>⋅</m:t>
                    </m:r>
                    <m:r>
                      <a:rPr lang="en-US" sz="1800" b="1" i="1">
                        <a:effectLst/>
                        <a:latin typeface="Cambria Math" panose="02040503050406030204" pitchFamily="18" charset="0"/>
                        <a:ea typeface="Times New Roman" panose="02020603050405020304" pitchFamily="18" charset="0"/>
                        <a:cs typeface="Arial" panose="020B0604020202020204" pitchFamily="34" charset="0"/>
                      </a:rPr>
                      <m:t>𝑿</m:t>
                    </m:r>
                    <m:r>
                      <a:rPr lang="en-US" sz="1800" b="1">
                        <a:effectLst/>
                        <a:latin typeface="Cambria Math" panose="02040503050406030204" pitchFamily="18" charset="0"/>
                        <a:ea typeface="Times New Roman" panose="02020603050405020304" pitchFamily="18" charset="0"/>
                        <a:cs typeface="Arial" panose="020B0604020202020204" pitchFamily="34" charset="0"/>
                      </a:rPr>
                      <m:t>=</m:t>
                    </m:r>
                    <m:r>
                      <a:rPr lang="en-US" sz="1800" b="1" i="1">
                        <a:effectLst/>
                        <a:latin typeface="Cambria Math" panose="02040503050406030204" pitchFamily="18" charset="0"/>
                        <a:ea typeface="Times New Roman" panose="02020603050405020304" pitchFamily="18" charset="0"/>
                        <a:cs typeface="Arial" panose="020B0604020202020204" pitchFamily="34" charset="0"/>
                      </a:rPr>
                      <m:t>𝟏𝟎𝟎</m:t>
                    </m:r>
                  </m:oMath>
                </a14:m>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 לאור נתונים אלו ניתן להסיק כי:</a:t>
                </a:r>
                <a:endParaRPr lang="en-IL" sz="1800" dirty="0">
                  <a:effectLst/>
                  <a:latin typeface="Times New Roman" panose="02020603050405020304" pitchFamily="18" charset="0"/>
                  <a:ea typeface="Times New Roman" panose="02020603050405020304" pitchFamily="18" charset="0"/>
                </a:endParaRPr>
              </a:p>
              <a:p>
                <a:pPr marL="342900" indent="-342900" algn="r" rtl="1">
                  <a:lnSpc>
                    <a:spcPct val="150000"/>
                  </a:lnSpc>
                  <a:buFont typeface="+mj-lt"/>
                  <a:buAutoNum type="arabicPeriod"/>
                </a:pPr>
                <a:r>
                  <a:rPr lang="he-IL" sz="1800" dirty="0">
                    <a:latin typeface="Times New Roman" panose="02020603050405020304" pitchFamily="18" charset="0"/>
                    <a:ea typeface="Times New Roman" panose="02020603050405020304" pitchFamily="18" charset="0"/>
                  </a:rPr>
                  <a:t>רווחי היצרנים בענף לא השתנו.</a:t>
                </a:r>
                <a:endParaRPr lang="en-IL" sz="1800" dirty="0">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highlight>
                      <a:srgbClr val="FFFF00"/>
                    </a:highlight>
                    <a:latin typeface="Times New Roman" panose="02020603050405020304" pitchFamily="18" charset="0"/>
                    <a:ea typeface="Times New Roman" panose="02020603050405020304" pitchFamily="18" charset="0"/>
                    <a:cs typeface="Arial" panose="020B0604020202020204" pitchFamily="34" charset="0"/>
                  </a:rPr>
                  <a:t>הכנסות יצרני א בהכרח ירדו.</a:t>
                </a:r>
                <a:endParaRPr lang="en-IL" sz="1800" dirty="0">
                  <a:effectLst/>
                  <a:highlight>
                    <a:srgbClr val="FFFF00"/>
                  </a:highligh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לא ניתן לדעת מה קרה לרווחי יצרני ב.</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לא ניתן לדעת מה קרה להכנסות יצרני א.</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כל התשובות האחרות לא נכונות.</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endParaRPr lang="en-IL" sz="1800" dirty="0">
                  <a:effectLst/>
                  <a:latin typeface="Times New Roman" panose="02020603050405020304" pitchFamily="18" charset="0"/>
                  <a:ea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411A47A3-6F71-89A9-0418-E7097145D628}"/>
                  </a:ext>
                </a:extLst>
              </p:cNvPr>
              <p:cNvSpPr>
                <a:spLocks noGrp="1" noRot="1" noChangeAspect="1" noMove="1" noResize="1" noEditPoints="1" noAdjustHandles="1" noChangeArrowheads="1" noChangeShapeType="1" noTextEdit="1"/>
              </p:cNvSpPr>
              <p:nvPr>
                <p:ph idx="1"/>
              </p:nvPr>
            </p:nvSpPr>
            <p:spPr>
              <a:xfrm>
                <a:off x="1056290" y="1135117"/>
                <a:ext cx="10691649" cy="5305439"/>
              </a:xfrm>
              <a:blipFill>
                <a:blip r:embed="rId2"/>
                <a:stretch>
                  <a:fillRect r="-513"/>
                </a:stretch>
              </a:blipFill>
            </p:spPr>
            <p:txBody>
              <a:bodyPr/>
              <a:lstStyle/>
              <a:p>
                <a:r>
                  <a:rPr lang="en-IL">
                    <a:noFill/>
                  </a:rPr>
                  <a:t> </a:t>
                </a:r>
              </a:p>
            </p:txBody>
          </p:sp>
        </mc:Fallback>
      </mc:AlternateContent>
      <p:pic>
        <p:nvPicPr>
          <p:cNvPr id="4" name="Picture 3">
            <a:extLst>
              <a:ext uri="{FF2B5EF4-FFF2-40B4-BE49-F238E27FC236}">
                <a16:creationId xmlns:a16="http://schemas.microsoft.com/office/drawing/2014/main" id="{F18784B9-54F8-F60D-E323-277BE917A692}"/>
              </a:ext>
            </a:extLst>
          </p:cNvPr>
          <p:cNvPicPr>
            <a:picLocks noChangeAspect="1"/>
          </p:cNvPicPr>
          <p:nvPr/>
        </p:nvPicPr>
        <p:blipFill>
          <a:blip r:embed="rId3"/>
          <a:stretch>
            <a:fillRect/>
          </a:stretch>
        </p:blipFill>
        <p:spPr>
          <a:xfrm>
            <a:off x="418106" y="2372139"/>
            <a:ext cx="7156972" cy="4068417"/>
          </a:xfrm>
          <a:prstGeom prst="rect">
            <a:avLst/>
          </a:prstGeom>
        </p:spPr>
      </p:pic>
      <p:sp>
        <p:nvSpPr>
          <p:cNvPr id="5" name="תיבת טקסט 4">
            <a:extLst>
              <a:ext uri="{FF2B5EF4-FFF2-40B4-BE49-F238E27FC236}">
                <a16:creationId xmlns:a16="http://schemas.microsoft.com/office/drawing/2014/main" id="{6C0B9D16-AC21-8C14-17F3-6E26DDE2733D}"/>
              </a:ext>
            </a:extLst>
          </p:cNvPr>
          <p:cNvSpPr txBox="1"/>
          <p:nvPr/>
        </p:nvSpPr>
        <p:spPr>
          <a:xfrm>
            <a:off x="1056290" y="211787"/>
            <a:ext cx="3452883" cy="923330"/>
          </a:xfrm>
          <a:prstGeom prst="rect">
            <a:avLst/>
          </a:prstGeom>
          <a:noFill/>
        </p:spPr>
        <p:txBody>
          <a:bodyPr wrap="square" rtlCol="0">
            <a:spAutoFit/>
          </a:bodyPr>
          <a:lstStyle/>
          <a:p>
            <a:pPr algn="r" rtl="1"/>
            <a:r>
              <a:rPr lang="he-IL" dirty="0">
                <a:highlight>
                  <a:srgbClr val="00FFFF"/>
                </a:highlight>
              </a:rPr>
              <a:t>נשים לב שהביקוש של הצרכנים הינו יחידתי כיוון שההוצאה שלהם הינה 100 </a:t>
            </a:r>
            <a:r>
              <a:rPr lang="he-IL" dirty="0" err="1">
                <a:highlight>
                  <a:srgbClr val="00FFFF"/>
                </a:highlight>
              </a:rPr>
              <a:t>ש''ח</a:t>
            </a:r>
            <a:r>
              <a:rPr lang="he-IL" dirty="0">
                <a:highlight>
                  <a:srgbClr val="00FFFF"/>
                </a:highlight>
              </a:rPr>
              <a:t>, גם אם המחיר עולה</a:t>
            </a:r>
            <a:endParaRPr lang="en-IL" dirty="0">
              <a:highlight>
                <a:srgbClr val="00FFFF"/>
              </a:highlight>
            </a:endParaRPr>
          </a:p>
        </p:txBody>
      </p:sp>
    </p:spTree>
    <p:extLst>
      <p:ext uri="{BB962C8B-B14F-4D97-AF65-F5344CB8AC3E}">
        <p14:creationId xmlns:p14="http://schemas.microsoft.com/office/powerpoint/2010/main" val="1400497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34887" y="136525"/>
            <a:ext cx="7775713" cy="2315570"/>
          </a:xfrm>
          <a:prstGeom prst="rect">
            <a:avLst/>
          </a:prstGeom>
        </p:spPr>
        <p:txBody>
          <a:bodyPr wrap="square">
            <a:spAutoFit/>
          </a:bodyPr>
          <a:lstStyle/>
          <a:p>
            <a:pPr algn="r" rtl="1">
              <a:lnSpc>
                <a:spcPct val="150000"/>
              </a:lnSpc>
            </a:pPr>
            <a:r>
              <a:rPr lang="he-IL" sz="1400" b="1" dirty="0">
                <a:latin typeface="Times New Roman" panose="02020603050405020304" pitchFamily="18" charset="0"/>
                <a:ea typeface="Times New Roman" panose="02020603050405020304" pitchFamily="18" charset="0"/>
                <a:cs typeface="Arial" panose="020B0604020202020204" pitchFamily="34" charset="0"/>
              </a:rPr>
              <a:t>להלן פונקציית העלויות של פירמה יחידה הפועלת בתחרות משוכללת.</a:t>
            </a:r>
            <a:endParaRPr lang="en-IL" sz="1400" dirty="0">
              <a:latin typeface="Times New Roman" panose="02020603050405020304" pitchFamily="18" charset="0"/>
              <a:ea typeface="Times New Roman" panose="02020603050405020304" pitchFamily="18" charset="0"/>
            </a:endParaRPr>
          </a:p>
          <a:p>
            <a:pPr algn="r" rtl="1">
              <a:lnSpc>
                <a:spcPct val="150000"/>
              </a:lnSpc>
            </a:pPr>
            <a:r>
              <a:rPr lang="he-IL" sz="1400" b="1" dirty="0">
                <a:latin typeface="Times New Roman" panose="02020603050405020304" pitchFamily="18" charset="0"/>
                <a:ea typeface="Times New Roman" panose="02020603050405020304" pitchFamily="18" charset="0"/>
                <a:cs typeface="Arial" panose="020B0604020202020204" pitchFamily="34" charset="0"/>
              </a:rPr>
              <a:t>הבהרה לשרטוט:</a:t>
            </a:r>
            <a:endParaRPr lang="en-IL" sz="1400" dirty="0">
              <a:latin typeface="Times New Roman" panose="02020603050405020304" pitchFamily="18" charset="0"/>
              <a:ea typeface="Times New Roman" panose="02020603050405020304" pitchFamily="18" charset="0"/>
            </a:endParaRPr>
          </a:p>
          <a:p>
            <a:pPr algn="r" rtl="1">
              <a:lnSpc>
                <a:spcPct val="150000"/>
              </a:lnSpc>
            </a:pPr>
            <a:r>
              <a:rPr lang="he-IL" sz="1400" b="1" dirty="0">
                <a:latin typeface="Times New Roman" panose="02020603050405020304" pitchFamily="18" charset="0"/>
                <a:ea typeface="Times New Roman" panose="02020603050405020304" pitchFamily="18" charset="0"/>
                <a:cs typeface="Arial" panose="020B0604020202020204" pitchFamily="34" charset="0"/>
              </a:rPr>
              <a:t>נק' </a:t>
            </a:r>
            <a:r>
              <a:rPr lang="en-US" sz="1400" b="1" dirty="0">
                <a:latin typeface="Arial" panose="020B0604020202020204" pitchFamily="34" charset="0"/>
                <a:ea typeface="Times New Roman" panose="02020603050405020304" pitchFamily="18" charset="0"/>
              </a:rPr>
              <a:t>A</a:t>
            </a:r>
            <a:r>
              <a:rPr lang="he-IL" sz="1400" b="1" dirty="0">
                <a:latin typeface="Times New Roman" panose="02020603050405020304" pitchFamily="18" charset="0"/>
                <a:ea typeface="Times New Roman" panose="02020603050405020304" pitchFamily="18" charset="0"/>
                <a:cs typeface="Arial" panose="020B0604020202020204" pitchFamily="34" charset="0"/>
              </a:rPr>
              <a:t> הינה </a:t>
            </a:r>
            <a:r>
              <a:rPr lang="en-US" sz="1400" b="1" dirty="0">
                <a:latin typeface="Arial" panose="020B0604020202020204" pitchFamily="34" charset="0"/>
                <a:ea typeface="Times New Roman" panose="02020603050405020304" pitchFamily="18" charset="0"/>
              </a:rPr>
              <a:t>Min AVC</a:t>
            </a:r>
            <a:r>
              <a:rPr lang="he-IL" sz="1400" b="1" dirty="0">
                <a:latin typeface="Times New Roman" panose="02020603050405020304" pitchFamily="18" charset="0"/>
                <a:ea typeface="Times New Roman" panose="02020603050405020304" pitchFamily="18" charset="0"/>
                <a:cs typeface="Arial" panose="020B0604020202020204" pitchFamily="34" charset="0"/>
              </a:rPr>
              <a:t>, מתקבלת כאשר הפירמה מייצרת 8 יחידות בעלות משתנה ממוצעת של 8 ש"ח ליחידה.</a:t>
            </a:r>
            <a:endParaRPr lang="en-IL" sz="1400" dirty="0">
              <a:latin typeface="Times New Roman" panose="02020603050405020304" pitchFamily="18" charset="0"/>
              <a:ea typeface="Times New Roman" panose="02020603050405020304" pitchFamily="18" charset="0"/>
            </a:endParaRPr>
          </a:p>
          <a:p>
            <a:pPr algn="r" rtl="1">
              <a:lnSpc>
                <a:spcPct val="150000"/>
              </a:lnSpc>
            </a:pPr>
            <a:r>
              <a:rPr lang="he-IL" sz="1400" b="1" dirty="0">
                <a:latin typeface="Times New Roman" panose="02020603050405020304" pitchFamily="18" charset="0"/>
                <a:ea typeface="Times New Roman" panose="02020603050405020304" pitchFamily="18" charset="0"/>
                <a:cs typeface="Arial" panose="020B0604020202020204" pitchFamily="34" charset="0"/>
              </a:rPr>
              <a:t>נק' </a:t>
            </a:r>
            <a:r>
              <a:rPr lang="en-US" sz="1400" b="1" dirty="0">
                <a:latin typeface="Arial" panose="020B0604020202020204" pitchFamily="34" charset="0"/>
                <a:ea typeface="Times New Roman" panose="02020603050405020304" pitchFamily="18" charset="0"/>
              </a:rPr>
              <a:t>B</a:t>
            </a:r>
            <a:r>
              <a:rPr lang="he-IL" sz="1400" b="1" dirty="0">
                <a:latin typeface="Times New Roman" panose="02020603050405020304" pitchFamily="18" charset="0"/>
                <a:ea typeface="Times New Roman" panose="02020603050405020304" pitchFamily="18" charset="0"/>
                <a:cs typeface="Arial" panose="020B0604020202020204" pitchFamily="34" charset="0"/>
              </a:rPr>
              <a:t> הינה </a:t>
            </a:r>
            <a:r>
              <a:rPr lang="en-US" sz="1400" b="1" dirty="0">
                <a:latin typeface="Arial" panose="020B0604020202020204" pitchFamily="34" charset="0"/>
                <a:ea typeface="Times New Roman" panose="02020603050405020304" pitchFamily="18" charset="0"/>
              </a:rPr>
              <a:t>Min ATC</a:t>
            </a:r>
            <a:r>
              <a:rPr lang="he-IL" sz="1400" b="1" dirty="0">
                <a:latin typeface="Times New Roman" panose="02020603050405020304" pitchFamily="18" charset="0"/>
                <a:ea typeface="Times New Roman" panose="02020603050405020304" pitchFamily="18" charset="0"/>
                <a:cs typeface="Arial" panose="020B0604020202020204" pitchFamily="34" charset="0"/>
              </a:rPr>
              <a:t>, מתקבלת כאשר הפירמה מייצרת 12 יחידות בעלות כוללת ממוצעת של  13 ש"ח ליחידה.</a:t>
            </a:r>
            <a:endParaRPr lang="en-IL" sz="1400" dirty="0">
              <a:latin typeface="Times New Roman" panose="02020603050405020304" pitchFamily="18" charset="0"/>
              <a:ea typeface="Times New Roman" panose="02020603050405020304" pitchFamily="18" charset="0"/>
            </a:endParaRPr>
          </a:p>
          <a:p>
            <a:pPr algn="r" rtl="1">
              <a:lnSpc>
                <a:spcPct val="150000"/>
              </a:lnSpc>
            </a:pPr>
            <a:r>
              <a:rPr lang="he-IL" sz="1400" b="1" dirty="0">
                <a:latin typeface="Times New Roman" panose="02020603050405020304" pitchFamily="18" charset="0"/>
                <a:ea typeface="Times New Roman" panose="02020603050405020304" pitchFamily="18" charset="0"/>
                <a:cs typeface="Arial" panose="020B0604020202020204" pitchFamily="34" charset="0"/>
              </a:rPr>
              <a:t>כאשר הפירמה מייצרת 8 יחידות העלות הכוללת הממוצעת (</a:t>
            </a:r>
            <a:r>
              <a:rPr lang="en-US" sz="1400" b="1" dirty="0">
                <a:latin typeface="Arial" panose="020B0604020202020204" pitchFamily="34" charset="0"/>
                <a:ea typeface="Times New Roman" panose="02020603050405020304" pitchFamily="18" charset="0"/>
              </a:rPr>
              <a:t>ATC</a:t>
            </a:r>
            <a:r>
              <a:rPr lang="he-IL" sz="1400" b="1" dirty="0">
                <a:latin typeface="Times New Roman" panose="02020603050405020304" pitchFamily="18" charset="0"/>
                <a:ea typeface="Times New Roman" panose="02020603050405020304" pitchFamily="18" charset="0"/>
                <a:cs typeface="Arial" panose="020B0604020202020204" pitchFamily="34" charset="0"/>
              </a:rPr>
              <a:t>) הינה 14 ש"ח ליחידה.</a:t>
            </a:r>
            <a:endParaRPr lang="en-IL" sz="1400" dirty="0">
              <a:latin typeface="Times New Roman" panose="02020603050405020304" pitchFamily="18" charset="0"/>
              <a:ea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CBF92039-BB9D-4F46-95B7-49E6508B93B0}" type="slidenum">
              <a:rPr lang="en-US" smtClean="0"/>
              <a:t>29</a:t>
            </a:fld>
            <a:endParaRPr lang="en-US"/>
          </a:p>
        </p:txBody>
      </p:sp>
      <p:sp>
        <p:nvSpPr>
          <p:cNvPr id="20" name="TextBox 19">
            <a:extLst>
              <a:ext uri="{FF2B5EF4-FFF2-40B4-BE49-F238E27FC236}">
                <a16:creationId xmlns:a16="http://schemas.microsoft.com/office/drawing/2014/main" id="{7CB4B213-DA84-9475-FF52-1CDA0421FAED}"/>
              </a:ext>
            </a:extLst>
          </p:cNvPr>
          <p:cNvSpPr txBox="1"/>
          <p:nvPr/>
        </p:nvSpPr>
        <p:spPr>
          <a:xfrm>
            <a:off x="5918882" y="2792800"/>
            <a:ext cx="5860516" cy="3331618"/>
          </a:xfrm>
          <a:prstGeom prst="rect">
            <a:avLst/>
          </a:prstGeom>
          <a:noFill/>
        </p:spPr>
        <p:txBody>
          <a:bodyPr wrap="square">
            <a:spAutoFit/>
          </a:bodyPr>
          <a:lstStyle/>
          <a:p>
            <a:pPr marL="342900" indent="-342900" algn="r" rtl="1">
              <a:lnSpc>
                <a:spcPct val="200000"/>
              </a:lnSpc>
              <a:buFont typeface="+mj-lt"/>
              <a:buAutoNum type="arabicPeriod"/>
            </a:pPr>
            <a:r>
              <a:rPr lang="he-IL" dirty="0">
                <a:latin typeface="Times New Roman" panose="02020603050405020304" pitchFamily="18" charset="0"/>
                <a:ea typeface="Times New Roman" panose="02020603050405020304" pitchFamily="18" charset="0"/>
                <a:cs typeface="Arial" panose="020B0604020202020204" pitchFamily="34" charset="0"/>
              </a:rPr>
              <a:t>עקומת ההיצע של הטווח הקצר הינה הקטע </a:t>
            </a:r>
            <a:r>
              <a:rPr lang="en-US" dirty="0">
                <a:latin typeface="Arial" panose="020B0604020202020204" pitchFamily="34" charset="0"/>
                <a:ea typeface="Times New Roman" panose="02020603050405020304" pitchFamily="18" charset="0"/>
              </a:rPr>
              <a:t>AB</a:t>
            </a:r>
            <a:r>
              <a:rPr lang="he-IL" dirty="0">
                <a:latin typeface="Times New Roman" panose="02020603050405020304" pitchFamily="18" charset="0"/>
                <a:ea typeface="Times New Roman" panose="02020603050405020304" pitchFamily="18" charset="0"/>
                <a:cs typeface="Arial" panose="020B0604020202020204" pitchFamily="34" charset="0"/>
              </a:rPr>
              <a:t>. </a:t>
            </a:r>
          </a:p>
          <a:p>
            <a:pPr marL="342900" indent="-342900" algn="r" rtl="1">
              <a:lnSpc>
                <a:spcPct val="200000"/>
              </a:lnSpc>
              <a:buFont typeface="+mj-lt"/>
              <a:buAutoNum type="arabicPeriod"/>
            </a:pPr>
            <a:r>
              <a:rPr lang="he-IL" dirty="0">
                <a:latin typeface="Times New Roman" panose="02020603050405020304" pitchFamily="18" charset="0"/>
                <a:ea typeface="Times New Roman" panose="02020603050405020304" pitchFamily="18" charset="0"/>
                <a:cs typeface="Arial" panose="020B0604020202020204" pitchFamily="34" charset="0"/>
              </a:rPr>
              <a:t>יתכן שבטווח הקצר הפירמה תייצר 7 יחידות. </a:t>
            </a:r>
          </a:p>
          <a:p>
            <a:pPr marL="342900" indent="-342900" algn="r" rtl="1">
              <a:lnSpc>
                <a:spcPct val="200000"/>
              </a:lnSpc>
              <a:buFont typeface="+mj-lt"/>
              <a:buAutoNum type="arabicPeriod"/>
            </a:pPr>
            <a:r>
              <a:rPr lang="he-IL" dirty="0">
                <a:highlight>
                  <a:srgbClr val="FFFFFF"/>
                </a:highlight>
                <a:latin typeface="Times New Roman" panose="02020603050405020304" pitchFamily="18" charset="0"/>
                <a:ea typeface="Times New Roman" panose="02020603050405020304" pitchFamily="18" charset="0"/>
                <a:cs typeface="Arial" panose="020B0604020202020204" pitchFamily="34" charset="0"/>
              </a:rPr>
              <a:t>אם ידוע כי </a:t>
            </a:r>
            <a:r>
              <a:rPr lang="en-US" dirty="0">
                <a:highlight>
                  <a:srgbClr val="FFFFFF"/>
                </a:highlight>
                <a:latin typeface="Arial" panose="020B0604020202020204" pitchFamily="34" charset="0"/>
                <a:ea typeface="Times New Roman" panose="02020603050405020304" pitchFamily="18" charset="0"/>
              </a:rPr>
              <a:t>Min ATC=13</a:t>
            </a:r>
            <a:r>
              <a:rPr lang="he-IL" dirty="0">
                <a:highlight>
                  <a:srgbClr val="FFFFFF"/>
                </a:highlight>
                <a:latin typeface="Times New Roman" panose="02020603050405020304" pitchFamily="18" charset="0"/>
                <a:ea typeface="Times New Roman" panose="02020603050405020304" pitchFamily="18" charset="0"/>
                <a:cs typeface="Arial" panose="020B0604020202020204" pitchFamily="34" charset="0"/>
              </a:rPr>
              <a:t> (נק' </a:t>
            </a:r>
            <a:r>
              <a:rPr lang="en-US" dirty="0">
                <a:highlight>
                  <a:srgbClr val="FFFFFF"/>
                </a:highlight>
                <a:latin typeface="Arial" panose="020B0604020202020204" pitchFamily="34" charset="0"/>
                <a:ea typeface="Times New Roman" panose="02020603050405020304" pitchFamily="18" charset="0"/>
              </a:rPr>
              <a:t>B</a:t>
            </a:r>
            <a:r>
              <a:rPr lang="he-IL" dirty="0">
                <a:highlight>
                  <a:srgbClr val="FFFFFF"/>
                </a:highlight>
                <a:latin typeface="Times New Roman" panose="02020603050405020304" pitchFamily="18" charset="0"/>
                <a:ea typeface="Times New Roman" panose="02020603050405020304" pitchFamily="18" charset="0"/>
                <a:cs typeface="Arial" panose="020B0604020202020204" pitchFamily="34" charset="0"/>
              </a:rPr>
              <a:t>), אז העלות המשתנה כאשר הפירמה מייצרת 12 יחידות הינה 108 ש"ח. </a:t>
            </a:r>
          </a:p>
          <a:p>
            <a:pPr marL="342900" indent="-342900" algn="r" rtl="1">
              <a:lnSpc>
                <a:spcPct val="200000"/>
              </a:lnSpc>
              <a:buFont typeface="+mj-lt"/>
              <a:buAutoNum type="arabicPeriod"/>
            </a:pPr>
            <a:r>
              <a:rPr lang="he-IL" dirty="0">
                <a:latin typeface="Times New Roman" panose="02020603050405020304" pitchFamily="18" charset="0"/>
                <a:ea typeface="Times New Roman" panose="02020603050405020304" pitchFamily="18" charset="0"/>
                <a:cs typeface="Arial" panose="020B0604020202020204" pitchFamily="34" charset="0"/>
              </a:rPr>
              <a:t>אם </a:t>
            </a:r>
            <a:r>
              <a:rPr lang="en-US" dirty="0">
                <a:latin typeface="Arial" panose="020B0604020202020204" pitchFamily="34" charset="0"/>
                <a:ea typeface="Times New Roman" panose="02020603050405020304" pitchFamily="18" charset="0"/>
              </a:rPr>
              <a:t>P=14</a:t>
            </a:r>
            <a:r>
              <a:rPr lang="he-IL" dirty="0">
                <a:latin typeface="Times New Roman" panose="02020603050405020304" pitchFamily="18" charset="0"/>
                <a:ea typeface="Times New Roman" panose="02020603050405020304" pitchFamily="18" charset="0"/>
                <a:cs typeface="Arial" panose="020B0604020202020204" pitchFamily="34" charset="0"/>
              </a:rPr>
              <a:t>, לא ניתן לדעת אם הפירמה מרוויחה בטווח ארוך. </a:t>
            </a:r>
          </a:p>
          <a:p>
            <a:pPr marL="342900" indent="-342900" algn="r" rtl="1">
              <a:lnSpc>
                <a:spcPct val="200000"/>
              </a:lnSpc>
              <a:buFont typeface="+mj-lt"/>
              <a:buAutoNum type="arabicPeriod"/>
            </a:pPr>
            <a:r>
              <a:rPr lang="he-IL" dirty="0">
                <a:latin typeface="Times New Roman" panose="02020603050405020304" pitchFamily="18" charset="0"/>
                <a:ea typeface="Times New Roman" panose="02020603050405020304" pitchFamily="18" charset="0"/>
                <a:cs typeface="Arial" panose="020B0604020202020204" pitchFamily="34" charset="0"/>
              </a:rPr>
              <a:t>כל הטענות האחרות לא נכונות.</a:t>
            </a:r>
            <a:endParaRPr lang="en-IL" dirty="0">
              <a:latin typeface="Times New Roman" panose="02020603050405020304" pitchFamily="18" charset="0"/>
              <a:ea typeface="Times New Roman" panose="02020603050405020304" pitchFamily="18" charset="0"/>
            </a:endParaRPr>
          </a:p>
        </p:txBody>
      </p:sp>
      <p:pic>
        <p:nvPicPr>
          <p:cNvPr id="21" name="Picture 20" descr="Diagram&#10;&#10;Description automatically generated">
            <a:extLst>
              <a:ext uri="{FF2B5EF4-FFF2-40B4-BE49-F238E27FC236}">
                <a16:creationId xmlns:a16="http://schemas.microsoft.com/office/drawing/2014/main" id="{93A31251-FA8D-E0B1-B3DA-8E140B77857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51142" y="2452095"/>
            <a:ext cx="4501181" cy="4405905"/>
          </a:xfrm>
          <a:prstGeom prst="rect">
            <a:avLst/>
          </a:prstGeom>
          <a:noFill/>
          <a:ln>
            <a:noFill/>
          </a:ln>
        </p:spPr>
      </p:pic>
      <p:sp>
        <p:nvSpPr>
          <p:cNvPr id="6" name="Title 1">
            <a:extLst>
              <a:ext uri="{FF2B5EF4-FFF2-40B4-BE49-F238E27FC236}">
                <a16:creationId xmlns:a16="http://schemas.microsoft.com/office/drawing/2014/main" id="{3BC1FC1C-E5EA-334B-BE1A-00E512A9C918}"/>
              </a:ext>
            </a:extLst>
          </p:cNvPr>
          <p:cNvSpPr>
            <a:spLocks noGrp="1"/>
          </p:cNvSpPr>
          <p:nvPr>
            <p:ph type="title"/>
          </p:nvPr>
        </p:nvSpPr>
        <p:spPr>
          <a:xfrm>
            <a:off x="8308427" y="414282"/>
            <a:ext cx="3660228" cy="533509"/>
          </a:xfrm>
        </p:spPr>
        <p:txBody>
          <a:bodyPr>
            <a:normAutofit fontScale="90000"/>
          </a:bodyPr>
          <a:lstStyle/>
          <a:p>
            <a:pPr algn="r" rtl="1"/>
            <a:r>
              <a:rPr lang="he-IL" dirty="0"/>
              <a:t>שאלה 8 מהבחינה</a:t>
            </a:r>
            <a:endParaRPr lang="en-IL" dirty="0"/>
          </a:p>
        </p:txBody>
      </p:sp>
    </p:spTree>
    <p:extLst>
      <p:ext uri="{BB962C8B-B14F-4D97-AF65-F5344CB8AC3E}">
        <p14:creationId xmlns:p14="http://schemas.microsoft.com/office/powerpoint/2010/main" val="24393685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BF92039-BB9D-4F46-95B7-49E6508B93B0}" type="slidenum">
              <a:rPr lang="en-US" smtClean="0"/>
              <a:t>30</a:t>
            </a:fld>
            <a:endParaRPr lang="en-US"/>
          </a:p>
        </p:txBody>
      </p:sp>
      <p:sp>
        <p:nvSpPr>
          <p:cNvPr id="20" name="TextBox 19">
            <a:extLst>
              <a:ext uri="{FF2B5EF4-FFF2-40B4-BE49-F238E27FC236}">
                <a16:creationId xmlns:a16="http://schemas.microsoft.com/office/drawing/2014/main" id="{7CB4B213-DA84-9475-FF52-1CDA0421FAED}"/>
              </a:ext>
            </a:extLst>
          </p:cNvPr>
          <p:cNvSpPr txBox="1"/>
          <p:nvPr/>
        </p:nvSpPr>
        <p:spPr>
          <a:xfrm>
            <a:off x="5892115" y="1314853"/>
            <a:ext cx="6076540" cy="5224059"/>
          </a:xfrm>
          <a:prstGeom prst="rect">
            <a:avLst/>
          </a:prstGeom>
          <a:solidFill>
            <a:schemeClr val="bg2"/>
          </a:solidFill>
        </p:spPr>
        <p:txBody>
          <a:bodyPr wrap="square">
            <a:spAutoFit/>
          </a:bodyPr>
          <a:lstStyle/>
          <a:p>
            <a:pPr marL="342900" indent="-342900" algn="r" rtl="1">
              <a:lnSpc>
                <a:spcPct val="150000"/>
              </a:lnSpc>
              <a:buFont typeface="+mj-lt"/>
              <a:buAutoNum type="arabicPeriod"/>
            </a:pPr>
            <a:r>
              <a:rPr lang="he-IL" sz="1400" dirty="0">
                <a:latin typeface="Times New Roman" panose="02020603050405020304" pitchFamily="18" charset="0"/>
                <a:ea typeface="Times New Roman" panose="02020603050405020304" pitchFamily="18" charset="0"/>
                <a:cs typeface="Arial" panose="020B0604020202020204" pitchFamily="34" charset="0"/>
              </a:rPr>
              <a:t>עקומת ההיצע של הטווח הקצר הינה הקטע </a:t>
            </a:r>
            <a:r>
              <a:rPr lang="en-US" sz="1400" dirty="0">
                <a:latin typeface="Arial" panose="020B0604020202020204" pitchFamily="34" charset="0"/>
                <a:ea typeface="Times New Roman" panose="02020603050405020304" pitchFamily="18" charset="0"/>
              </a:rPr>
              <a:t>AB</a:t>
            </a:r>
            <a:r>
              <a:rPr lang="he-IL" sz="1400" dirty="0">
                <a:latin typeface="Times New Roman" panose="02020603050405020304" pitchFamily="18" charset="0"/>
                <a:ea typeface="Times New Roman" panose="02020603050405020304" pitchFamily="18" charset="0"/>
                <a:cs typeface="Arial" panose="020B0604020202020204" pitchFamily="34" charset="0"/>
              </a:rPr>
              <a:t>. </a:t>
            </a:r>
            <a:r>
              <a:rPr lang="he-IL" sz="1400" b="1" dirty="0">
                <a:latin typeface="Times New Roman" panose="02020603050405020304" pitchFamily="18" charset="0"/>
                <a:ea typeface="Times New Roman" panose="02020603050405020304" pitchFamily="18" charset="0"/>
                <a:cs typeface="Arial" panose="020B0604020202020204" pitchFamily="34" charset="0"/>
              </a:rPr>
              <a:t>לא נכון, החל מנקודת </a:t>
            </a:r>
            <a:r>
              <a:rPr lang="en-US" sz="1400" b="1" dirty="0">
                <a:latin typeface="Arial" panose="020B0604020202020204" pitchFamily="34" charset="0"/>
                <a:ea typeface="Times New Roman" panose="02020603050405020304" pitchFamily="18" charset="0"/>
              </a:rPr>
              <a:t>A</a:t>
            </a:r>
            <a:r>
              <a:rPr lang="he-IL" sz="1400" b="1" dirty="0">
                <a:latin typeface="Times New Roman" panose="02020603050405020304" pitchFamily="18" charset="0"/>
                <a:ea typeface="Times New Roman" panose="02020603050405020304" pitchFamily="18" charset="0"/>
                <a:cs typeface="Arial" panose="020B0604020202020204" pitchFamily="34" charset="0"/>
              </a:rPr>
              <a:t> ואילך לאורך </a:t>
            </a:r>
            <a:r>
              <a:rPr lang="en-US" sz="1400" b="1" dirty="0">
                <a:latin typeface="Arial" panose="020B0604020202020204" pitchFamily="34" charset="0"/>
                <a:ea typeface="Times New Roman" panose="02020603050405020304" pitchFamily="18" charset="0"/>
              </a:rPr>
              <a:t>MC </a:t>
            </a:r>
            <a:endParaRPr lang="en-IL" sz="1400" dirty="0">
              <a:latin typeface="Times New Roman" panose="02020603050405020304" pitchFamily="18" charset="0"/>
              <a:ea typeface="Times New Roman" panose="02020603050405020304" pitchFamily="18" charset="0"/>
            </a:endParaRPr>
          </a:p>
          <a:p>
            <a:pPr marL="342900" indent="-342900" algn="r" rtl="1">
              <a:lnSpc>
                <a:spcPct val="150000"/>
              </a:lnSpc>
              <a:buFont typeface="+mj-lt"/>
              <a:buAutoNum type="arabicPeriod"/>
            </a:pPr>
            <a:r>
              <a:rPr lang="he-IL" sz="1400" dirty="0">
                <a:latin typeface="Times New Roman" panose="02020603050405020304" pitchFamily="18" charset="0"/>
                <a:ea typeface="Times New Roman" panose="02020603050405020304" pitchFamily="18" charset="0"/>
                <a:cs typeface="Arial" panose="020B0604020202020204" pitchFamily="34" charset="0"/>
              </a:rPr>
              <a:t>יתכן שבטווח הקצר הפירמה תייצר 7 יחידות. </a:t>
            </a:r>
            <a:r>
              <a:rPr lang="he-IL" sz="1400" b="1" dirty="0">
                <a:latin typeface="Times New Roman" panose="02020603050405020304" pitchFamily="18" charset="0"/>
                <a:ea typeface="Times New Roman" panose="02020603050405020304" pitchFamily="18" charset="0"/>
                <a:cs typeface="Arial" panose="020B0604020202020204" pitchFamily="34" charset="0"/>
              </a:rPr>
              <a:t>לא נכון, הפירמה לא תייצר פחות מ-8 יחידות כיוון שלא תייצר במחיר הנמוך ממינימום </a:t>
            </a:r>
            <a:r>
              <a:rPr lang="en-US" sz="1400" b="1" dirty="0">
                <a:latin typeface="Arial" panose="020B0604020202020204" pitchFamily="34" charset="0"/>
                <a:ea typeface="Times New Roman" panose="02020603050405020304" pitchFamily="18" charset="0"/>
              </a:rPr>
              <a:t>AVC</a:t>
            </a:r>
            <a:r>
              <a:rPr lang="he-IL" sz="1400" b="1" dirty="0">
                <a:latin typeface="Times New Roman" panose="02020603050405020304" pitchFamily="18" charset="0"/>
                <a:ea typeface="Times New Roman" panose="02020603050405020304" pitchFamily="18" charset="0"/>
                <a:cs typeface="Arial" panose="020B0604020202020204" pitchFamily="34" charset="0"/>
              </a:rPr>
              <a:t> שהינו 8 ש''ח. </a:t>
            </a:r>
            <a:endParaRPr lang="en-IL" sz="1400" dirty="0">
              <a:latin typeface="Times New Roman" panose="02020603050405020304" pitchFamily="18" charset="0"/>
              <a:ea typeface="Times New Roman" panose="02020603050405020304" pitchFamily="18" charset="0"/>
            </a:endParaRPr>
          </a:p>
          <a:p>
            <a:pPr marL="342900" indent="-342900" algn="r" rtl="1">
              <a:lnSpc>
                <a:spcPct val="150000"/>
              </a:lnSpc>
              <a:buFont typeface="+mj-lt"/>
              <a:buAutoNum type="arabicPeriod"/>
            </a:pPr>
            <a:r>
              <a:rPr lang="he-IL" sz="1400" dirty="0">
                <a:highlight>
                  <a:srgbClr val="00FFFF"/>
                </a:highlight>
                <a:latin typeface="Times New Roman" panose="02020603050405020304" pitchFamily="18" charset="0"/>
                <a:ea typeface="Times New Roman" panose="02020603050405020304" pitchFamily="18" charset="0"/>
                <a:cs typeface="Arial" panose="020B0604020202020204" pitchFamily="34" charset="0"/>
              </a:rPr>
              <a:t>אם ידוע כי </a:t>
            </a:r>
            <a:r>
              <a:rPr lang="en-US" sz="1400" dirty="0">
                <a:highlight>
                  <a:srgbClr val="00FFFF"/>
                </a:highlight>
                <a:latin typeface="Arial" panose="020B0604020202020204" pitchFamily="34" charset="0"/>
                <a:ea typeface="Times New Roman" panose="02020603050405020304" pitchFamily="18" charset="0"/>
              </a:rPr>
              <a:t>Min ATC=13</a:t>
            </a:r>
            <a:r>
              <a:rPr lang="he-IL" sz="1400" dirty="0">
                <a:highlight>
                  <a:srgbClr val="00FFFF"/>
                </a:highlight>
                <a:latin typeface="Times New Roman" panose="02020603050405020304" pitchFamily="18" charset="0"/>
                <a:ea typeface="Times New Roman" panose="02020603050405020304" pitchFamily="18" charset="0"/>
                <a:cs typeface="Arial" panose="020B0604020202020204" pitchFamily="34" charset="0"/>
              </a:rPr>
              <a:t> (נק' </a:t>
            </a:r>
            <a:r>
              <a:rPr lang="en-US" sz="1400" dirty="0">
                <a:highlight>
                  <a:srgbClr val="00FFFF"/>
                </a:highlight>
                <a:latin typeface="Arial" panose="020B0604020202020204" pitchFamily="34" charset="0"/>
                <a:ea typeface="Times New Roman" panose="02020603050405020304" pitchFamily="18" charset="0"/>
              </a:rPr>
              <a:t>B</a:t>
            </a:r>
            <a:r>
              <a:rPr lang="he-IL" sz="1400" dirty="0">
                <a:highlight>
                  <a:srgbClr val="00FFFF"/>
                </a:highlight>
                <a:latin typeface="Times New Roman" panose="02020603050405020304" pitchFamily="18" charset="0"/>
                <a:ea typeface="Times New Roman" panose="02020603050405020304" pitchFamily="18" charset="0"/>
                <a:cs typeface="Arial" panose="020B0604020202020204" pitchFamily="34" charset="0"/>
              </a:rPr>
              <a:t>), אז העלות המשתנה כאשר הפירמה מייצרת 12 יחידות הינה 108 ש"ח. </a:t>
            </a:r>
            <a:r>
              <a:rPr lang="he-IL" sz="1400" dirty="0">
                <a:highlight>
                  <a:srgbClr val="FFFF00"/>
                </a:highlight>
                <a:latin typeface="Times New Roman" panose="02020603050405020304" pitchFamily="18" charset="0"/>
                <a:ea typeface="Times New Roman" panose="02020603050405020304" pitchFamily="18" charset="0"/>
                <a:cs typeface="Arial" panose="020B0604020202020204" pitchFamily="34" charset="0"/>
              </a:rPr>
              <a:t> </a:t>
            </a:r>
            <a:r>
              <a:rPr lang="he-IL" sz="1400" b="1" dirty="0">
                <a:highlight>
                  <a:srgbClr val="FFFF00"/>
                </a:highlight>
                <a:latin typeface="Times New Roman" panose="02020603050405020304" pitchFamily="18" charset="0"/>
                <a:ea typeface="Times New Roman" panose="02020603050405020304" pitchFamily="18" charset="0"/>
                <a:cs typeface="Arial" panose="020B0604020202020204" pitchFamily="34" charset="0"/>
              </a:rPr>
              <a:t>נכון. נחשב את העלות הקבועה ונחסיר אותה מהעלות הכוללת על מנת למצוא את העלות המשתנה עבור </a:t>
            </a:r>
            <a:r>
              <a:rPr lang="en-US" sz="1400" b="1" dirty="0">
                <a:highlight>
                  <a:srgbClr val="FFFF00"/>
                </a:highlight>
                <a:latin typeface="Arial" panose="020B0604020202020204" pitchFamily="34" charset="0"/>
                <a:ea typeface="Times New Roman" panose="02020603050405020304" pitchFamily="18" charset="0"/>
              </a:rPr>
              <a:t>Q</a:t>
            </a:r>
            <a:r>
              <a:rPr lang="he-IL" sz="1400" b="1" dirty="0">
                <a:highlight>
                  <a:srgbClr val="FFFF00"/>
                </a:highlight>
                <a:latin typeface="Times New Roman" panose="02020603050405020304" pitchFamily="18" charset="0"/>
                <a:ea typeface="Times New Roman" panose="02020603050405020304" pitchFamily="18" charset="0"/>
                <a:cs typeface="Arial" panose="020B0604020202020204" pitchFamily="34" charset="0"/>
              </a:rPr>
              <a:t>=12.  העלות הקבועה היא ההפרש בין </a:t>
            </a:r>
            <a:r>
              <a:rPr lang="en-US" sz="1400" b="1" dirty="0">
                <a:highlight>
                  <a:srgbClr val="FFFF00"/>
                </a:highlight>
                <a:latin typeface="Arial" panose="020B0604020202020204" pitchFamily="34" charset="0"/>
                <a:ea typeface="Times New Roman" panose="02020603050405020304" pitchFamily="18" charset="0"/>
              </a:rPr>
              <a:t>ATC</a:t>
            </a:r>
            <a:r>
              <a:rPr lang="he-IL" sz="1400" b="1" dirty="0">
                <a:highlight>
                  <a:srgbClr val="FFFF00"/>
                </a:highlight>
                <a:latin typeface="Times New Roman" panose="02020603050405020304" pitchFamily="18" charset="0"/>
                <a:ea typeface="Times New Roman" panose="02020603050405020304" pitchFamily="18" charset="0"/>
                <a:cs typeface="Arial" panose="020B0604020202020204" pitchFamily="34" charset="0"/>
              </a:rPr>
              <a:t> לבין </a:t>
            </a:r>
            <a:r>
              <a:rPr lang="en-US" sz="1400" b="1" dirty="0">
                <a:highlight>
                  <a:srgbClr val="FFFF00"/>
                </a:highlight>
                <a:latin typeface="Arial" panose="020B0604020202020204" pitchFamily="34" charset="0"/>
                <a:ea typeface="Times New Roman" panose="02020603050405020304" pitchFamily="18" charset="0"/>
              </a:rPr>
              <a:t>AVC</a:t>
            </a:r>
            <a:r>
              <a:rPr lang="he-IL" sz="1400" b="1" dirty="0">
                <a:highlight>
                  <a:srgbClr val="FFFF00"/>
                </a:highlight>
                <a:latin typeface="Times New Roman" panose="02020603050405020304" pitchFamily="18" charset="0"/>
                <a:ea typeface="Times New Roman" panose="02020603050405020304" pitchFamily="18" charset="0"/>
                <a:cs typeface="Arial" panose="020B0604020202020204" pitchFamily="34" charset="0"/>
              </a:rPr>
              <a:t> עבור אותה כמות מיוצרת, כפול הכמות המיוצרת. נוכל להיעזר בנתונים שבשרטוט עבור </a:t>
            </a:r>
            <a:r>
              <a:rPr lang="en-US" sz="1400" b="1" dirty="0">
                <a:highlight>
                  <a:srgbClr val="FFFF00"/>
                </a:highlight>
                <a:latin typeface="Arial" panose="020B0604020202020204" pitchFamily="34" charset="0"/>
                <a:ea typeface="Times New Roman" panose="02020603050405020304" pitchFamily="18" charset="0"/>
              </a:rPr>
              <a:t>Q</a:t>
            </a:r>
            <a:r>
              <a:rPr lang="he-IL" sz="1400" b="1" dirty="0">
                <a:highlight>
                  <a:srgbClr val="FFFF00"/>
                </a:highlight>
                <a:latin typeface="Times New Roman" panose="02020603050405020304" pitchFamily="18" charset="0"/>
                <a:ea typeface="Times New Roman" panose="02020603050405020304" pitchFamily="18" charset="0"/>
                <a:cs typeface="Arial" panose="020B0604020202020204" pitchFamily="34" charset="0"/>
              </a:rPr>
              <a:t>=8:</a:t>
            </a:r>
            <a:endParaRPr lang="en-IL" sz="1400" dirty="0">
              <a:latin typeface="Times New Roman" panose="02020603050405020304" pitchFamily="18" charset="0"/>
              <a:ea typeface="Times New Roman" panose="02020603050405020304" pitchFamily="18" charset="0"/>
            </a:endParaRPr>
          </a:p>
          <a:p>
            <a:pPr marL="228600" algn="r" rtl="1">
              <a:lnSpc>
                <a:spcPct val="150000"/>
              </a:lnSpc>
            </a:pPr>
            <a:r>
              <a:rPr lang="en-US" sz="1400" b="1" dirty="0">
                <a:highlight>
                  <a:srgbClr val="FFFF00"/>
                </a:highlight>
                <a:latin typeface="Arial" panose="020B0604020202020204" pitchFamily="34" charset="0"/>
                <a:ea typeface="Times New Roman" panose="02020603050405020304" pitchFamily="18" charset="0"/>
              </a:rPr>
              <a:t>FC=(ATC-AVC)*Q= (14-8)*8=48</a:t>
            </a:r>
            <a:endParaRPr lang="en-IL" sz="1400" dirty="0">
              <a:latin typeface="Times New Roman" panose="02020603050405020304" pitchFamily="18" charset="0"/>
              <a:ea typeface="Times New Roman" panose="02020603050405020304" pitchFamily="18" charset="0"/>
            </a:endParaRPr>
          </a:p>
          <a:p>
            <a:pPr marL="228600" algn="r" rtl="1">
              <a:lnSpc>
                <a:spcPct val="150000"/>
              </a:lnSpc>
            </a:pPr>
            <a:r>
              <a:rPr lang="he-IL" sz="1400" b="1" dirty="0">
                <a:highlight>
                  <a:srgbClr val="FFFF00"/>
                </a:highlight>
                <a:latin typeface="Times New Roman" panose="02020603050405020304" pitchFamily="18" charset="0"/>
                <a:ea typeface="Times New Roman" panose="02020603050405020304" pitchFamily="18" charset="0"/>
                <a:cs typeface="Arial" panose="020B0604020202020204" pitchFamily="34" charset="0"/>
              </a:rPr>
              <a:t>העלות הקבועה של הפירמה בנקודה </a:t>
            </a:r>
            <a:r>
              <a:rPr lang="en-US" sz="1400" b="1" dirty="0">
                <a:highlight>
                  <a:srgbClr val="FFFF00"/>
                </a:highlight>
                <a:latin typeface="Arial" panose="020B0604020202020204" pitchFamily="34" charset="0"/>
                <a:ea typeface="Times New Roman" panose="02020603050405020304" pitchFamily="18" charset="0"/>
              </a:rPr>
              <a:t>B</a:t>
            </a:r>
            <a:r>
              <a:rPr lang="he-IL" sz="1400" b="1" dirty="0">
                <a:highlight>
                  <a:srgbClr val="FFFF00"/>
                </a:highlight>
                <a:latin typeface="Times New Roman" panose="02020603050405020304" pitchFamily="18" charset="0"/>
                <a:ea typeface="Times New Roman" panose="02020603050405020304" pitchFamily="18" charset="0"/>
                <a:cs typeface="Arial" panose="020B0604020202020204" pitchFamily="34" charset="0"/>
              </a:rPr>
              <a:t> הינה:  </a:t>
            </a:r>
            <a:r>
              <a:rPr lang="en-US" sz="1400" b="1" dirty="0">
                <a:highlight>
                  <a:srgbClr val="FFFF00"/>
                </a:highlight>
                <a:latin typeface="Arial" panose="020B0604020202020204" pitchFamily="34" charset="0"/>
                <a:ea typeface="Times New Roman" panose="02020603050405020304" pitchFamily="18" charset="0"/>
              </a:rPr>
              <a:t>TC(Q=12)=</a:t>
            </a:r>
            <a:br>
              <a:rPr lang="he-IL" sz="1400" b="1" dirty="0">
                <a:highlight>
                  <a:srgbClr val="FFFF00"/>
                </a:highlight>
                <a:latin typeface="Arial" panose="020B0604020202020204" pitchFamily="34" charset="0"/>
                <a:ea typeface="Times New Roman" panose="02020603050405020304" pitchFamily="18" charset="0"/>
              </a:rPr>
            </a:br>
            <a:r>
              <a:rPr lang="en-US" sz="1400" b="1" dirty="0">
                <a:highlight>
                  <a:srgbClr val="FFFF00"/>
                </a:highlight>
                <a:latin typeface="Arial" panose="020B0604020202020204" pitchFamily="34" charset="0"/>
                <a:ea typeface="Times New Roman" panose="02020603050405020304" pitchFamily="18" charset="0"/>
              </a:rPr>
              <a:t>ATC(q=12)* Q=13*12=156</a:t>
            </a:r>
            <a:endParaRPr lang="en-IL" sz="1400" dirty="0">
              <a:latin typeface="Times New Roman" panose="02020603050405020304" pitchFamily="18" charset="0"/>
              <a:ea typeface="Times New Roman" panose="02020603050405020304" pitchFamily="18" charset="0"/>
            </a:endParaRPr>
          </a:p>
          <a:p>
            <a:pPr marL="228600" algn="r" rtl="1">
              <a:lnSpc>
                <a:spcPct val="150000"/>
              </a:lnSpc>
            </a:pPr>
            <a:r>
              <a:rPr lang="he-IL" sz="1400" b="1" dirty="0">
                <a:highlight>
                  <a:srgbClr val="FFFF00"/>
                </a:highlight>
                <a:latin typeface="Times New Roman" panose="02020603050405020304" pitchFamily="18" charset="0"/>
                <a:ea typeface="Times New Roman" panose="02020603050405020304" pitchFamily="18" charset="0"/>
                <a:cs typeface="Arial" panose="020B0604020202020204" pitchFamily="34" charset="0"/>
              </a:rPr>
              <a:t>מכאן שהעלות המשתנה בנקודה </a:t>
            </a:r>
            <a:r>
              <a:rPr lang="en-US" sz="1400" b="1" dirty="0">
                <a:highlight>
                  <a:srgbClr val="FFFF00"/>
                </a:highlight>
                <a:latin typeface="Arial" panose="020B0604020202020204" pitchFamily="34" charset="0"/>
                <a:ea typeface="Times New Roman" panose="02020603050405020304" pitchFamily="18" charset="0"/>
              </a:rPr>
              <a:t>B</a:t>
            </a:r>
            <a:r>
              <a:rPr lang="he-IL" sz="1400" b="1" dirty="0">
                <a:highlight>
                  <a:srgbClr val="FFFF00"/>
                </a:highlight>
                <a:latin typeface="Times New Roman" panose="02020603050405020304" pitchFamily="18" charset="0"/>
                <a:ea typeface="Times New Roman" panose="02020603050405020304" pitchFamily="18" charset="0"/>
                <a:cs typeface="Arial" panose="020B0604020202020204" pitchFamily="34" charset="0"/>
              </a:rPr>
              <a:t> הינה:</a:t>
            </a:r>
            <a:r>
              <a:rPr lang="he-IL" sz="1400" dirty="0">
                <a:highlight>
                  <a:srgbClr val="FFFF00"/>
                </a:highlight>
                <a:latin typeface="Times New Roman" panose="02020603050405020304" pitchFamily="18" charset="0"/>
                <a:ea typeface="Times New Roman" panose="02020603050405020304" pitchFamily="18" charset="0"/>
                <a:cs typeface="Arial" panose="020B0604020202020204" pitchFamily="34" charset="0"/>
              </a:rPr>
              <a:t> </a:t>
            </a:r>
            <a:r>
              <a:rPr lang="en-US" sz="1400" dirty="0">
                <a:highlight>
                  <a:srgbClr val="FFFF00"/>
                </a:highlight>
                <a:latin typeface="Arial" panose="020B0604020202020204" pitchFamily="34" charset="0"/>
                <a:ea typeface="Times New Roman" panose="02020603050405020304" pitchFamily="18" charset="0"/>
              </a:rPr>
              <a:t>VC=TC-FC=156-48=108</a:t>
            </a:r>
            <a:endParaRPr lang="en-IL" sz="1400" dirty="0">
              <a:latin typeface="Times New Roman" panose="02020603050405020304" pitchFamily="18" charset="0"/>
              <a:ea typeface="Times New Roman" panose="02020603050405020304" pitchFamily="18" charset="0"/>
            </a:endParaRPr>
          </a:p>
          <a:p>
            <a:pPr lvl="0" algn="r" rtl="1">
              <a:lnSpc>
                <a:spcPct val="150000"/>
              </a:lnSpc>
            </a:pPr>
            <a:r>
              <a:rPr lang="he-IL" sz="1400" dirty="0">
                <a:latin typeface="Times New Roman" panose="02020603050405020304" pitchFamily="18" charset="0"/>
                <a:ea typeface="Times New Roman" panose="02020603050405020304" pitchFamily="18" charset="0"/>
                <a:cs typeface="Arial" panose="020B0604020202020204" pitchFamily="34" charset="0"/>
              </a:rPr>
              <a:t>4. אם </a:t>
            </a:r>
            <a:r>
              <a:rPr lang="en-US" sz="1400" dirty="0">
                <a:latin typeface="Arial" panose="020B0604020202020204" pitchFamily="34" charset="0"/>
                <a:ea typeface="Times New Roman" panose="02020603050405020304" pitchFamily="18" charset="0"/>
              </a:rPr>
              <a:t>P=14</a:t>
            </a:r>
            <a:r>
              <a:rPr lang="he-IL" sz="1400" dirty="0">
                <a:latin typeface="Times New Roman" panose="02020603050405020304" pitchFamily="18" charset="0"/>
                <a:ea typeface="Times New Roman" panose="02020603050405020304" pitchFamily="18" charset="0"/>
                <a:cs typeface="Arial" panose="020B0604020202020204" pitchFamily="34" charset="0"/>
              </a:rPr>
              <a:t>, לא ניתן לדעת אם הפירמה מרוויחה בטווח ארוך. </a:t>
            </a:r>
            <a:r>
              <a:rPr lang="he-IL" sz="1400" b="1" dirty="0">
                <a:latin typeface="Times New Roman" panose="02020603050405020304" pitchFamily="18" charset="0"/>
                <a:ea typeface="Times New Roman" panose="02020603050405020304" pitchFamily="18" charset="0"/>
                <a:cs typeface="Arial" panose="020B0604020202020204" pitchFamily="34" charset="0"/>
              </a:rPr>
              <a:t>אפשר לדעת, אם נייצר את הכמות עד שהמחיר שווה לעלות השולית, אז הפירמה תרוויח בטווח הארוך.</a:t>
            </a:r>
            <a:r>
              <a:rPr lang="he-IL" sz="1400" dirty="0">
                <a:latin typeface="Times New Roman" panose="02020603050405020304" pitchFamily="18" charset="0"/>
                <a:ea typeface="Times New Roman" panose="02020603050405020304" pitchFamily="18" charset="0"/>
                <a:cs typeface="Arial" panose="020B0604020202020204" pitchFamily="34" charset="0"/>
              </a:rPr>
              <a:t> </a:t>
            </a:r>
            <a:endParaRPr lang="en-IL" sz="1400" dirty="0">
              <a:latin typeface="Times New Roman" panose="02020603050405020304" pitchFamily="18" charset="0"/>
              <a:ea typeface="Times New Roman" panose="02020603050405020304" pitchFamily="18" charset="0"/>
            </a:endParaRPr>
          </a:p>
          <a:p>
            <a:pPr lvl="0" algn="r" rtl="1">
              <a:lnSpc>
                <a:spcPct val="150000"/>
              </a:lnSpc>
            </a:pPr>
            <a:r>
              <a:rPr lang="he-IL" sz="1400" dirty="0">
                <a:latin typeface="Times New Roman" panose="02020603050405020304" pitchFamily="18" charset="0"/>
                <a:ea typeface="Times New Roman" panose="02020603050405020304" pitchFamily="18" charset="0"/>
                <a:cs typeface="Arial" panose="020B0604020202020204" pitchFamily="34" charset="0"/>
              </a:rPr>
              <a:t>5. כל הטענות האחרות לא נכונות.</a:t>
            </a:r>
            <a:endParaRPr lang="en-IL" sz="1400" dirty="0">
              <a:latin typeface="Times New Roman" panose="02020603050405020304" pitchFamily="18" charset="0"/>
              <a:ea typeface="Times New Roman" panose="02020603050405020304" pitchFamily="18" charset="0"/>
            </a:endParaRPr>
          </a:p>
        </p:txBody>
      </p:sp>
      <p:sp>
        <p:nvSpPr>
          <p:cNvPr id="6" name="Title 1">
            <a:extLst>
              <a:ext uri="{FF2B5EF4-FFF2-40B4-BE49-F238E27FC236}">
                <a16:creationId xmlns:a16="http://schemas.microsoft.com/office/drawing/2014/main" id="{9487DEC7-C9B7-E5CF-08D9-C0BC812FD36C}"/>
              </a:ext>
            </a:extLst>
          </p:cNvPr>
          <p:cNvSpPr>
            <a:spLocks noGrp="1"/>
          </p:cNvSpPr>
          <p:nvPr>
            <p:ph type="title"/>
          </p:nvPr>
        </p:nvSpPr>
        <p:spPr>
          <a:xfrm>
            <a:off x="8308427" y="414282"/>
            <a:ext cx="3660228" cy="533509"/>
          </a:xfrm>
        </p:spPr>
        <p:txBody>
          <a:bodyPr>
            <a:normAutofit fontScale="90000"/>
          </a:bodyPr>
          <a:lstStyle/>
          <a:p>
            <a:pPr algn="r" rtl="1"/>
            <a:r>
              <a:rPr lang="he-IL" dirty="0"/>
              <a:t>שאלה 8 מהבחינה</a:t>
            </a:r>
            <a:endParaRPr lang="en-IL" dirty="0"/>
          </a:p>
        </p:txBody>
      </p:sp>
      <p:sp>
        <p:nvSpPr>
          <p:cNvPr id="7" name="Rectangle 6">
            <a:extLst>
              <a:ext uri="{FF2B5EF4-FFF2-40B4-BE49-F238E27FC236}">
                <a16:creationId xmlns:a16="http://schemas.microsoft.com/office/drawing/2014/main" id="{C1873679-1063-F9F6-3DB4-54BB82ADE441}"/>
              </a:ext>
            </a:extLst>
          </p:cNvPr>
          <p:cNvSpPr/>
          <p:nvPr/>
        </p:nvSpPr>
        <p:spPr>
          <a:xfrm>
            <a:off x="106017" y="149777"/>
            <a:ext cx="5786098" cy="2638736"/>
          </a:xfrm>
          <a:prstGeom prst="rect">
            <a:avLst/>
          </a:prstGeom>
        </p:spPr>
        <p:txBody>
          <a:bodyPr wrap="square">
            <a:spAutoFit/>
          </a:bodyPr>
          <a:lstStyle/>
          <a:p>
            <a:pPr algn="r" rtl="1">
              <a:lnSpc>
                <a:spcPct val="150000"/>
              </a:lnSpc>
            </a:pPr>
            <a:r>
              <a:rPr lang="he-IL" sz="1400" b="1" dirty="0">
                <a:latin typeface="Times New Roman" panose="02020603050405020304" pitchFamily="18" charset="0"/>
                <a:ea typeface="Times New Roman" panose="02020603050405020304" pitchFamily="18" charset="0"/>
                <a:cs typeface="Arial" panose="020B0604020202020204" pitchFamily="34" charset="0"/>
              </a:rPr>
              <a:t>להלן פונקציית העלויות של פירמה יחידה הפועלת בתחרות משוכללת.</a:t>
            </a:r>
            <a:endParaRPr lang="en-IL" sz="1400" dirty="0">
              <a:latin typeface="Times New Roman" panose="02020603050405020304" pitchFamily="18" charset="0"/>
              <a:ea typeface="Times New Roman" panose="02020603050405020304" pitchFamily="18" charset="0"/>
            </a:endParaRPr>
          </a:p>
          <a:p>
            <a:pPr algn="r" rtl="1">
              <a:lnSpc>
                <a:spcPct val="150000"/>
              </a:lnSpc>
            </a:pPr>
            <a:r>
              <a:rPr lang="he-IL" sz="1400" b="1" dirty="0">
                <a:latin typeface="Times New Roman" panose="02020603050405020304" pitchFamily="18" charset="0"/>
                <a:ea typeface="Times New Roman" panose="02020603050405020304" pitchFamily="18" charset="0"/>
                <a:cs typeface="Arial" panose="020B0604020202020204" pitchFamily="34" charset="0"/>
              </a:rPr>
              <a:t>הבהרה לשרטוט:</a:t>
            </a:r>
            <a:endParaRPr lang="en-IL" sz="1400" dirty="0">
              <a:latin typeface="Times New Roman" panose="02020603050405020304" pitchFamily="18" charset="0"/>
              <a:ea typeface="Times New Roman" panose="02020603050405020304" pitchFamily="18" charset="0"/>
            </a:endParaRPr>
          </a:p>
          <a:p>
            <a:pPr algn="r" rtl="1">
              <a:lnSpc>
                <a:spcPct val="150000"/>
              </a:lnSpc>
            </a:pPr>
            <a:r>
              <a:rPr lang="he-IL" sz="1400" b="1" dirty="0">
                <a:latin typeface="Times New Roman" panose="02020603050405020304" pitchFamily="18" charset="0"/>
                <a:ea typeface="Times New Roman" panose="02020603050405020304" pitchFamily="18" charset="0"/>
                <a:cs typeface="Arial" panose="020B0604020202020204" pitchFamily="34" charset="0"/>
              </a:rPr>
              <a:t>נק' </a:t>
            </a:r>
            <a:r>
              <a:rPr lang="en-US" sz="1400" b="1" dirty="0">
                <a:latin typeface="Arial" panose="020B0604020202020204" pitchFamily="34" charset="0"/>
                <a:ea typeface="Times New Roman" panose="02020603050405020304" pitchFamily="18" charset="0"/>
              </a:rPr>
              <a:t>A</a:t>
            </a:r>
            <a:r>
              <a:rPr lang="he-IL" sz="1400" b="1" dirty="0">
                <a:latin typeface="Times New Roman" panose="02020603050405020304" pitchFamily="18" charset="0"/>
                <a:ea typeface="Times New Roman" panose="02020603050405020304" pitchFamily="18" charset="0"/>
                <a:cs typeface="Arial" panose="020B0604020202020204" pitchFamily="34" charset="0"/>
              </a:rPr>
              <a:t> הינה </a:t>
            </a:r>
            <a:r>
              <a:rPr lang="en-US" sz="1400" b="1" dirty="0">
                <a:latin typeface="Arial" panose="020B0604020202020204" pitchFamily="34" charset="0"/>
                <a:ea typeface="Times New Roman" panose="02020603050405020304" pitchFamily="18" charset="0"/>
              </a:rPr>
              <a:t>Min AVC</a:t>
            </a:r>
            <a:r>
              <a:rPr lang="he-IL" sz="1400" b="1" dirty="0">
                <a:latin typeface="Times New Roman" panose="02020603050405020304" pitchFamily="18" charset="0"/>
                <a:ea typeface="Times New Roman" panose="02020603050405020304" pitchFamily="18" charset="0"/>
                <a:cs typeface="Arial" panose="020B0604020202020204" pitchFamily="34" charset="0"/>
              </a:rPr>
              <a:t>, מתקבלת כאשר הפירמה מייצרת 8 יחידות בעלות משתנה ממוצעת של 8 ש"ח ליחידה.</a:t>
            </a:r>
            <a:endParaRPr lang="en-IL" sz="1400" dirty="0">
              <a:latin typeface="Times New Roman" panose="02020603050405020304" pitchFamily="18" charset="0"/>
              <a:ea typeface="Times New Roman" panose="02020603050405020304" pitchFamily="18" charset="0"/>
            </a:endParaRPr>
          </a:p>
          <a:p>
            <a:pPr algn="r" rtl="1">
              <a:lnSpc>
                <a:spcPct val="150000"/>
              </a:lnSpc>
            </a:pPr>
            <a:r>
              <a:rPr lang="he-IL" sz="1400" b="1" dirty="0">
                <a:latin typeface="Times New Roman" panose="02020603050405020304" pitchFamily="18" charset="0"/>
                <a:ea typeface="Times New Roman" panose="02020603050405020304" pitchFamily="18" charset="0"/>
                <a:cs typeface="Arial" panose="020B0604020202020204" pitchFamily="34" charset="0"/>
              </a:rPr>
              <a:t>נק' </a:t>
            </a:r>
            <a:r>
              <a:rPr lang="en-US" sz="1400" b="1" dirty="0">
                <a:latin typeface="Arial" panose="020B0604020202020204" pitchFamily="34" charset="0"/>
                <a:ea typeface="Times New Roman" panose="02020603050405020304" pitchFamily="18" charset="0"/>
              </a:rPr>
              <a:t>B</a:t>
            </a:r>
            <a:r>
              <a:rPr lang="he-IL" sz="1400" b="1" dirty="0">
                <a:latin typeface="Times New Roman" panose="02020603050405020304" pitchFamily="18" charset="0"/>
                <a:ea typeface="Times New Roman" panose="02020603050405020304" pitchFamily="18" charset="0"/>
                <a:cs typeface="Arial" panose="020B0604020202020204" pitchFamily="34" charset="0"/>
              </a:rPr>
              <a:t> הינה </a:t>
            </a:r>
            <a:r>
              <a:rPr lang="en-US" sz="1400" b="1" dirty="0">
                <a:latin typeface="Arial" panose="020B0604020202020204" pitchFamily="34" charset="0"/>
                <a:ea typeface="Times New Roman" panose="02020603050405020304" pitchFamily="18" charset="0"/>
              </a:rPr>
              <a:t>Min ATC</a:t>
            </a:r>
            <a:r>
              <a:rPr lang="he-IL" sz="1400" b="1" dirty="0">
                <a:latin typeface="Times New Roman" panose="02020603050405020304" pitchFamily="18" charset="0"/>
                <a:ea typeface="Times New Roman" panose="02020603050405020304" pitchFamily="18" charset="0"/>
                <a:cs typeface="Arial" panose="020B0604020202020204" pitchFamily="34" charset="0"/>
              </a:rPr>
              <a:t>, מתקבלת כאשר הפירמה מייצרת 12 יחידות בעלות כוללת ממוצעת של  13 ש"ח ליחידה.</a:t>
            </a:r>
            <a:endParaRPr lang="en-IL" sz="1400" dirty="0">
              <a:latin typeface="Times New Roman" panose="02020603050405020304" pitchFamily="18" charset="0"/>
              <a:ea typeface="Times New Roman" panose="02020603050405020304" pitchFamily="18" charset="0"/>
            </a:endParaRPr>
          </a:p>
          <a:p>
            <a:pPr algn="r" rtl="1">
              <a:lnSpc>
                <a:spcPct val="150000"/>
              </a:lnSpc>
            </a:pPr>
            <a:r>
              <a:rPr lang="he-IL" sz="1400" b="1" dirty="0">
                <a:latin typeface="Times New Roman" panose="02020603050405020304" pitchFamily="18" charset="0"/>
                <a:ea typeface="Times New Roman" panose="02020603050405020304" pitchFamily="18" charset="0"/>
                <a:cs typeface="Arial" panose="020B0604020202020204" pitchFamily="34" charset="0"/>
              </a:rPr>
              <a:t>כאשר הפירמה מייצרת 8 יחידות העלות הכוללת הממוצעת (</a:t>
            </a:r>
            <a:r>
              <a:rPr lang="en-US" sz="1400" b="1" dirty="0">
                <a:latin typeface="Arial" panose="020B0604020202020204" pitchFamily="34" charset="0"/>
                <a:ea typeface="Times New Roman" panose="02020603050405020304" pitchFamily="18" charset="0"/>
              </a:rPr>
              <a:t>ATC</a:t>
            </a:r>
            <a:r>
              <a:rPr lang="he-IL" sz="1400" b="1" dirty="0">
                <a:latin typeface="Times New Roman" panose="02020603050405020304" pitchFamily="18" charset="0"/>
                <a:ea typeface="Times New Roman" panose="02020603050405020304" pitchFamily="18" charset="0"/>
                <a:cs typeface="Arial" panose="020B0604020202020204" pitchFamily="34" charset="0"/>
              </a:rPr>
              <a:t>) הינה 14 ש"ח ליחידה.</a:t>
            </a:r>
            <a:endParaRPr lang="en-IL" sz="1400" dirty="0">
              <a:latin typeface="Times New Roman" panose="02020603050405020304" pitchFamily="18" charset="0"/>
              <a:ea typeface="Times New Roman" panose="02020603050405020304" pitchFamily="18" charset="0"/>
            </a:endParaRPr>
          </a:p>
        </p:txBody>
      </p:sp>
      <p:pic>
        <p:nvPicPr>
          <p:cNvPr id="8" name="Picture 7" descr="Diagram&#10;&#10;Description automatically generated">
            <a:extLst>
              <a:ext uri="{FF2B5EF4-FFF2-40B4-BE49-F238E27FC236}">
                <a16:creationId xmlns:a16="http://schemas.microsoft.com/office/drawing/2014/main" id="{64AC5CB8-51BD-63AC-2E68-705D1B9F455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51142" y="2452095"/>
            <a:ext cx="4501181" cy="4405905"/>
          </a:xfrm>
          <a:prstGeom prst="rect">
            <a:avLst/>
          </a:prstGeom>
          <a:noFill/>
          <a:ln>
            <a:noFill/>
          </a:ln>
        </p:spPr>
      </p:pic>
    </p:spTree>
    <p:extLst>
      <p:ext uri="{BB962C8B-B14F-4D97-AF65-F5344CB8AC3E}">
        <p14:creationId xmlns:p14="http://schemas.microsoft.com/office/powerpoint/2010/main" val="9671277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494EE-F673-5036-0509-D799863495BC}"/>
              </a:ext>
            </a:extLst>
          </p:cNvPr>
          <p:cNvSpPr>
            <a:spLocks noGrp="1"/>
          </p:cNvSpPr>
          <p:nvPr>
            <p:ph type="title"/>
          </p:nvPr>
        </p:nvSpPr>
        <p:spPr>
          <a:xfrm>
            <a:off x="8308427" y="414282"/>
            <a:ext cx="3660228" cy="533509"/>
          </a:xfrm>
        </p:spPr>
        <p:txBody>
          <a:bodyPr>
            <a:normAutofit fontScale="90000"/>
          </a:bodyPr>
          <a:lstStyle/>
          <a:p>
            <a:pPr algn="r" rtl="1"/>
            <a:r>
              <a:rPr lang="he-IL" dirty="0"/>
              <a:t>שאלה 7 מהבחינה</a:t>
            </a:r>
            <a:endParaRPr lang="en-IL" dirty="0"/>
          </a:p>
        </p:txBody>
      </p:sp>
      <p:sp>
        <p:nvSpPr>
          <p:cNvPr id="3" name="Content Placeholder 2">
            <a:extLst>
              <a:ext uri="{FF2B5EF4-FFF2-40B4-BE49-F238E27FC236}">
                <a16:creationId xmlns:a16="http://schemas.microsoft.com/office/drawing/2014/main" id="{411A47A3-6F71-89A9-0418-E7097145D628}"/>
              </a:ext>
            </a:extLst>
          </p:cNvPr>
          <p:cNvSpPr>
            <a:spLocks noGrp="1"/>
          </p:cNvSpPr>
          <p:nvPr>
            <p:ph idx="1"/>
          </p:nvPr>
        </p:nvSpPr>
        <p:spPr>
          <a:xfrm>
            <a:off x="1056290" y="2186608"/>
            <a:ext cx="10691649" cy="3737113"/>
          </a:xfrm>
        </p:spPr>
        <p:txBody>
          <a:bodyPr>
            <a:normAutofit/>
          </a:bodyPr>
          <a:lstStyle/>
          <a:p>
            <a:pPr marL="0" indent="0" algn="r" rtl="1">
              <a:lnSpc>
                <a:spcPct val="150000"/>
              </a:lnSpc>
              <a:buNone/>
            </a:pPr>
            <a:endParaRPr lang="he-IL" sz="1800" b="1" dirty="0">
              <a:latin typeface="Times New Roman" panose="02020603050405020304" pitchFamily="18" charset="0"/>
              <a:ea typeface="Times New Roman" panose="02020603050405020304" pitchFamily="18" charset="0"/>
              <a:cs typeface="Arial" panose="020B0604020202020204" pitchFamily="34" charset="0"/>
            </a:endParaRPr>
          </a:p>
          <a:p>
            <a:pPr marL="0" indent="0" algn="r" rtl="1">
              <a:lnSpc>
                <a:spcPct val="150000"/>
              </a:lnSpc>
              <a:buNone/>
            </a:pP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אם ידוע כי מחיר המוצר הינו 9 ש"ח, וכי הפירמה מייצרת בטווח הארוך, ניתן להסיק:</a:t>
            </a:r>
            <a:endParaRPr lang="en-IL" sz="1800" dirty="0">
              <a:effectLst/>
              <a:latin typeface="Times New Roman" panose="02020603050405020304" pitchFamily="18" charset="0"/>
              <a:ea typeface="Times New Roman" panose="02020603050405020304" pitchFamily="18" charset="0"/>
            </a:endParaRPr>
          </a:p>
          <a:p>
            <a:pPr marL="342900" indent="-342900" algn="r" rtl="1">
              <a:lnSpc>
                <a:spcPct val="150000"/>
              </a:lnSpc>
              <a:buFont typeface="+mj-lt"/>
              <a:buAutoNum type="arabicPeriod"/>
            </a:pPr>
            <a:r>
              <a:rPr lang="he-IL" sz="1800" dirty="0">
                <a:latin typeface="Times New Roman" panose="02020603050405020304" pitchFamily="18" charset="0"/>
                <a:ea typeface="Times New Roman" panose="02020603050405020304" pitchFamily="18" charset="0"/>
              </a:rPr>
              <a:t>הפירמה תייצר 7 יחידות והעלות המשתנה נמוכה מ- 10 ש"ח.</a:t>
            </a:r>
            <a:endParaRPr lang="en-IL" sz="1800" dirty="0">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הפירמה תייצר 7 יחידות והעלות הקבועה נמוכה או שווה ל- 18 ש"ח.</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הפירמה תייצר 4 והעלות המשתנה גבוהה מ- 15 ש"ח.</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יתכן שהפירמה לא תייצר בטווח הקצר, אך בטווח הארוך תייצר 7 יחידות.</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כל התשובות האחרות לא נכונות.</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endParaRPr lang="en-IL" sz="1800" dirty="0">
              <a:effectLst/>
              <a:latin typeface="Times New Roman" panose="02020603050405020304" pitchFamily="18" charset="0"/>
              <a:ea typeface="Times New Roman" panose="02020603050405020304" pitchFamily="18" charset="0"/>
            </a:endParaRPr>
          </a:p>
        </p:txBody>
      </p:sp>
      <p:graphicFrame>
        <p:nvGraphicFramePr>
          <p:cNvPr id="6" name="Table 5">
            <a:extLst>
              <a:ext uri="{FF2B5EF4-FFF2-40B4-BE49-F238E27FC236}">
                <a16:creationId xmlns:a16="http://schemas.microsoft.com/office/drawing/2014/main" id="{FC51C784-26D6-A304-BA60-644CA3984472}"/>
              </a:ext>
            </a:extLst>
          </p:cNvPr>
          <p:cNvGraphicFramePr>
            <a:graphicFrameLocks noGrp="1"/>
          </p:cNvGraphicFramePr>
          <p:nvPr/>
        </p:nvGraphicFramePr>
        <p:xfrm>
          <a:off x="476561" y="1062582"/>
          <a:ext cx="8574673" cy="874643"/>
        </p:xfrm>
        <a:graphic>
          <a:graphicData uri="http://schemas.openxmlformats.org/drawingml/2006/table">
            <a:tbl>
              <a:tblPr rtl="1"/>
              <a:tblGrid>
                <a:gridCol w="2669257">
                  <a:extLst>
                    <a:ext uri="{9D8B030D-6E8A-4147-A177-3AD203B41FA5}">
                      <a16:colId xmlns:a16="http://schemas.microsoft.com/office/drawing/2014/main" val="3133012561"/>
                    </a:ext>
                  </a:extLst>
                </a:gridCol>
                <a:gridCol w="738177">
                  <a:extLst>
                    <a:ext uri="{9D8B030D-6E8A-4147-A177-3AD203B41FA5}">
                      <a16:colId xmlns:a16="http://schemas.microsoft.com/office/drawing/2014/main" val="1506387178"/>
                    </a:ext>
                  </a:extLst>
                </a:gridCol>
                <a:gridCol w="738177">
                  <a:extLst>
                    <a:ext uri="{9D8B030D-6E8A-4147-A177-3AD203B41FA5}">
                      <a16:colId xmlns:a16="http://schemas.microsoft.com/office/drawing/2014/main" val="2535701834"/>
                    </a:ext>
                  </a:extLst>
                </a:gridCol>
                <a:gridCol w="738177">
                  <a:extLst>
                    <a:ext uri="{9D8B030D-6E8A-4147-A177-3AD203B41FA5}">
                      <a16:colId xmlns:a16="http://schemas.microsoft.com/office/drawing/2014/main" val="2626641824"/>
                    </a:ext>
                  </a:extLst>
                </a:gridCol>
                <a:gridCol w="738177">
                  <a:extLst>
                    <a:ext uri="{9D8B030D-6E8A-4147-A177-3AD203B41FA5}">
                      <a16:colId xmlns:a16="http://schemas.microsoft.com/office/drawing/2014/main" val="2859262520"/>
                    </a:ext>
                  </a:extLst>
                </a:gridCol>
                <a:gridCol w="738177">
                  <a:extLst>
                    <a:ext uri="{9D8B030D-6E8A-4147-A177-3AD203B41FA5}">
                      <a16:colId xmlns:a16="http://schemas.microsoft.com/office/drawing/2014/main" val="370025488"/>
                    </a:ext>
                  </a:extLst>
                </a:gridCol>
                <a:gridCol w="738177">
                  <a:extLst>
                    <a:ext uri="{9D8B030D-6E8A-4147-A177-3AD203B41FA5}">
                      <a16:colId xmlns:a16="http://schemas.microsoft.com/office/drawing/2014/main" val="3710793428"/>
                    </a:ext>
                  </a:extLst>
                </a:gridCol>
                <a:gridCol w="738177">
                  <a:extLst>
                    <a:ext uri="{9D8B030D-6E8A-4147-A177-3AD203B41FA5}">
                      <a16:colId xmlns:a16="http://schemas.microsoft.com/office/drawing/2014/main" val="1446393827"/>
                    </a:ext>
                  </a:extLst>
                </a:gridCol>
                <a:gridCol w="738177">
                  <a:extLst>
                    <a:ext uri="{9D8B030D-6E8A-4147-A177-3AD203B41FA5}">
                      <a16:colId xmlns:a16="http://schemas.microsoft.com/office/drawing/2014/main" val="2582197147"/>
                    </a:ext>
                  </a:extLst>
                </a:gridCol>
              </a:tblGrid>
              <a:tr h="436738">
                <a:tc>
                  <a:txBody>
                    <a:bodyPr/>
                    <a:lstStyle/>
                    <a:p>
                      <a:pPr algn="r" rtl="1">
                        <a:lnSpc>
                          <a:spcPct val="107000"/>
                        </a:lnSpc>
                      </a:pPr>
                      <a:r>
                        <a:rPr lang="he-IL" sz="2000" b="1" dirty="0">
                          <a:effectLst/>
                          <a:latin typeface="Times New Roman" panose="02020603050405020304" pitchFamily="18" charset="0"/>
                          <a:ea typeface="Times New Roman" panose="02020603050405020304" pitchFamily="18" charset="0"/>
                          <a:cs typeface="Arial" panose="020B0604020202020204" pitchFamily="34" charset="0"/>
                        </a:rPr>
                        <a:t>כמות מיוצרת (</a:t>
                      </a:r>
                      <a:r>
                        <a:rPr lang="en-US" sz="2000" b="1" dirty="0">
                          <a:effectLst/>
                          <a:latin typeface="Arial" panose="020B0604020202020204" pitchFamily="34" charset="0"/>
                          <a:ea typeface="Times New Roman" panose="02020603050405020304" pitchFamily="18" charset="0"/>
                          <a:cs typeface="Arial" panose="020B0604020202020204" pitchFamily="34" charset="0"/>
                        </a:rPr>
                        <a:t>Q</a:t>
                      </a:r>
                      <a:r>
                        <a:rPr lang="he-IL" sz="2000" b="1" dirty="0">
                          <a:effectLst/>
                          <a:latin typeface="Times New Roman" panose="02020603050405020304" pitchFamily="18" charset="0"/>
                          <a:ea typeface="Times New Roman" panose="02020603050405020304" pitchFamily="18" charset="0"/>
                          <a:cs typeface="Arial" panose="020B0604020202020204" pitchFamily="34" charset="0"/>
                        </a:rPr>
                        <a:t>)</a:t>
                      </a:r>
                      <a:endParaRPr lang="en-IL" sz="20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r>
                        <a:rPr lang="he-IL" sz="2000" b="1">
                          <a:effectLst/>
                          <a:latin typeface="Times New Roman" panose="02020603050405020304" pitchFamily="18" charset="0"/>
                          <a:ea typeface="Times New Roman" panose="02020603050405020304" pitchFamily="18" charset="0"/>
                          <a:cs typeface="Arial" panose="020B0604020202020204" pitchFamily="34" charset="0"/>
                        </a:rPr>
                        <a:t>1</a:t>
                      </a:r>
                      <a:endParaRPr lang="en-IL" sz="20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r>
                        <a:rPr lang="he-IL" sz="2000" b="1">
                          <a:effectLst/>
                          <a:latin typeface="Times New Roman" panose="02020603050405020304" pitchFamily="18" charset="0"/>
                          <a:ea typeface="Times New Roman" panose="02020603050405020304" pitchFamily="18" charset="0"/>
                          <a:cs typeface="Arial" panose="020B0604020202020204" pitchFamily="34" charset="0"/>
                        </a:rPr>
                        <a:t>2</a:t>
                      </a:r>
                      <a:endParaRPr lang="en-IL" sz="20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r>
                        <a:rPr lang="he-IL" sz="2000" b="1">
                          <a:effectLst/>
                          <a:latin typeface="Times New Roman" panose="02020603050405020304" pitchFamily="18" charset="0"/>
                          <a:ea typeface="Times New Roman" panose="02020603050405020304" pitchFamily="18" charset="0"/>
                          <a:cs typeface="Arial" panose="020B0604020202020204" pitchFamily="34" charset="0"/>
                        </a:rPr>
                        <a:t>3</a:t>
                      </a:r>
                      <a:endParaRPr lang="en-IL" sz="20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r>
                        <a:rPr lang="he-IL" sz="2000" b="1">
                          <a:effectLst/>
                          <a:latin typeface="Times New Roman" panose="02020603050405020304" pitchFamily="18" charset="0"/>
                          <a:ea typeface="Times New Roman" panose="02020603050405020304" pitchFamily="18" charset="0"/>
                          <a:cs typeface="Arial" panose="020B0604020202020204" pitchFamily="34" charset="0"/>
                        </a:rPr>
                        <a:t>4</a:t>
                      </a:r>
                      <a:endParaRPr lang="en-IL" sz="20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r>
                        <a:rPr lang="he-IL" sz="2000" b="1">
                          <a:effectLst/>
                          <a:latin typeface="Times New Roman" panose="02020603050405020304" pitchFamily="18" charset="0"/>
                          <a:ea typeface="Times New Roman" panose="02020603050405020304" pitchFamily="18" charset="0"/>
                          <a:cs typeface="Arial" panose="020B0604020202020204" pitchFamily="34" charset="0"/>
                        </a:rPr>
                        <a:t>5</a:t>
                      </a:r>
                      <a:endParaRPr lang="en-IL" sz="20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r>
                        <a:rPr lang="he-IL" sz="2000" b="1">
                          <a:effectLst/>
                          <a:latin typeface="Times New Roman" panose="02020603050405020304" pitchFamily="18" charset="0"/>
                          <a:ea typeface="Times New Roman" panose="02020603050405020304" pitchFamily="18" charset="0"/>
                          <a:cs typeface="Arial" panose="020B0604020202020204" pitchFamily="34" charset="0"/>
                        </a:rPr>
                        <a:t>6</a:t>
                      </a:r>
                      <a:endParaRPr lang="en-IL" sz="20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r>
                        <a:rPr lang="he-IL" sz="2000" b="1">
                          <a:effectLst/>
                          <a:latin typeface="Times New Roman" panose="02020603050405020304" pitchFamily="18" charset="0"/>
                          <a:ea typeface="Times New Roman" panose="02020603050405020304" pitchFamily="18" charset="0"/>
                          <a:cs typeface="Arial" panose="020B0604020202020204" pitchFamily="34" charset="0"/>
                        </a:rPr>
                        <a:t>7</a:t>
                      </a:r>
                      <a:endParaRPr lang="en-IL" sz="20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r>
                        <a:rPr lang="he-IL" sz="2000" b="1">
                          <a:effectLst/>
                          <a:latin typeface="Times New Roman" panose="02020603050405020304" pitchFamily="18" charset="0"/>
                          <a:ea typeface="Times New Roman" panose="02020603050405020304" pitchFamily="18" charset="0"/>
                          <a:cs typeface="Arial" panose="020B0604020202020204" pitchFamily="34" charset="0"/>
                        </a:rPr>
                        <a:t>8</a:t>
                      </a:r>
                      <a:endParaRPr lang="en-IL" sz="20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3024417"/>
                  </a:ext>
                </a:extLst>
              </a:tr>
              <a:tr h="437905">
                <a:tc>
                  <a:txBody>
                    <a:bodyPr/>
                    <a:lstStyle/>
                    <a:p>
                      <a:pPr algn="r" rtl="1">
                        <a:lnSpc>
                          <a:spcPct val="107000"/>
                        </a:lnSpc>
                      </a:pP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העלות השולית (</a:t>
                      </a:r>
                      <a:r>
                        <a:rPr lang="en-US" sz="1800" b="1" dirty="0">
                          <a:effectLst/>
                          <a:latin typeface="Arial" panose="020B0604020202020204" pitchFamily="34" charset="0"/>
                          <a:ea typeface="Times New Roman" panose="02020603050405020304" pitchFamily="18" charset="0"/>
                          <a:cs typeface="Arial" panose="020B0604020202020204" pitchFamily="34" charset="0"/>
                        </a:rPr>
                        <a:t>MC</a:t>
                      </a: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 ₪</a:t>
                      </a:r>
                      <a:endParaRPr lang="en-IL" sz="18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r>
                        <a:rPr lang="he-IL" sz="2000" b="1">
                          <a:effectLst/>
                          <a:latin typeface="Times New Roman" panose="02020603050405020304" pitchFamily="18" charset="0"/>
                          <a:ea typeface="Times New Roman" panose="02020603050405020304" pitchFamily="18" charset="0"/>
                          <a:cs typeface="Arial" panose="020B0604020202020204" pitchFamily="34" charset="0"/>
                        </a:rPr>
                        <a:t>6</a:t>
                      </a:r>
                      <a:endParaRPr lang="en-IL" sz="20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r>
                        <a:rPr lang="he-IL" sz="2000" b="1">
                          <a:effectLst/>
                          <a:latin typeface="Times New Roman" panose="02020603050405020304" pitchFamily="18" charset="0"/>
                          <a:ea typeface="Times New Roman" panose="02020603050405020304" pitchFamily="18" charset="0"/>
                          <a:cs typeface="Arial" panose="020B0604020202020204" pitchFamily="34" charset="0"/>
                        </a:rPr>
                        <a:t>4</a:t>
                      </a:r>
                      <a:endParaRPr lang="en-IL" sz="20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r>
                        <a:rPr lang="he-IL" sz="2000" b="1">
                          <a:effectLst/>
                          <a:latin typeface="Times New Roman" panose="02020603050405020304" pitchFamily="18" charset="0"/>
                          <a:ea typeface="Times New Roman" panose="02020603050405020304" pitchFamily="18" charset="0"/>
                          <a:cs typeface="Arial" panose="020B0604020202020204" pitchFamily="34" charset="0"/>
                        </a:rPr>
                        <a:t>5</a:t>
                      </a:r>
                      <a:endParaRPr lang="en-IL" sz="20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r>
                        <a:rPr lang="he-IL" sz="2000" b="1">
                          <a:effectLst/>
                          <a:latin typeface="Times New Roman" panose="02020603050405020304" pitchFamily="18" charset="0"/>
                          <a:ea typeface="Times New Roman" panose="02020603050405020304" pitchFamily="18" charset="0"/>
                          <a:cs typeface="Arial" panose="020B0604020202020204" pitchFamily="34" charset="0"/>
                        </a:rPr>
                        <a:t>6</a:t>
                      </a:r>
                      <a:endParaRPr lang="en-IL" sz="20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r>
                        <a:rPr lang="he-IL" sz="2000" b="1">
                          <a:effectLst/>
                          <a:latin typeface="Times New Roman" panose="02020603050405020304" pitchFamily="18" charset="0"/>
                          <a:ea typeface="Times New Roman" panose="02020603050405020304" pitchFamily="18" charset="0"/>
                          <a:cs typeface="Arial" panose="020B0604020202020204" pitchFamily="34" charset="0"/>
                        </a:rPr>
                        <a:t>7</a:t>
                      </a:r>
                      <a:endParaRPr lang="en-IL" sz="20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r>
                        <a:rPr lang="he-IL" sz="2000" b="1" dirty="0">
                          <a:effectLst/>
                          <a:latin typeface="Times New Roman" panose="02020603050405020304" pitchFamily="18" charset="0"/>
                          <a:ea typeface="Times New Roman" panose="02020603050405020304" pitchFamily="18" charset="0"/>
                          <a:cs typeface="Arial" panose="020B0604020202020204" pitchFamily="34" charset="0"/>
                        </a:rPr>
                        <a:t>8</a:t>
                      </a:r>
                      <a:endParaRPr lang="en-IL" sz="20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r>
                        <a:rPr lang="he-IL" sz="2000" b="1" dirty="0">
                          <a:effectLst/>
                          <a:latin typeface="Times New Roman" panose="02020603050405020304" pitchFamily="18" charset="0"/>
                          <a:ea typeface="Times New Roman" panose="02020603050405020304" pitchFamily="18" charset="0"/>
                          <a:cs typeface="Arial" panose="020B0604020202020204" pitchFamily="34" charset="0"/>
                        </a:rPr>
                        <a:t>9</a:t>
                      </a:r>
                      <a:endParaRPr lang="en-IL" sz="20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r>
                        <a:rPr lang="he-IL" sz="2000" b="1" dirty="0">
                          <a:effectLst/>
                          <a:latin typeface="Times New Roman" panose="02020603050405020304" pitchFamily="18" charset="0"/>
                          <a:ea typeface="Times New Roman" panose="02020603050405020304" pitchFamily="18" charset="0"/>
                          <a:cs typeface="Arial" panose="020B0604020202020204" pitchFamily="34" charset="0"/>
                        </a:rPr>
                        <a:t>10</a:t>
                      </a:r>
                      <a:endParaRPr lang="en-IL" sz="20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29164798"/>
                  </a:ext>
                </a:extLst>
              </a:tr>
            </a:tbl>
          </a:graphicData>
        </a:graphic>
      </p:graphicFrame>
      <p:sp>
        <p:nvSpPr>
          <p:cNvPr id="8" name="TextBox 7">
            <a:extLst>
              <a:ext uri="{FF2B5EF4-FFF2-40B4-BE49-F238E27FC236}">
                <a16:creationId xmlns:a16="http://schemas.microsoft.com/office/drawing/2014/main" id="{E7AAB391-B9FF-08FF-F597-029DAD7D2A5B}"/>
              </a:ext>
            </a:extLst>
          </p:cNvPr>
          <p:cNvSpPr txBox="1"/>
          <p:nvPr/>
        </p:nvSpPr>
        <p:spPr>
          <a:xfrm>
            <a:off x="742122" y="604828"/>
            <a:ext cx="8004313" cy="457754"/>
          </a:xfrm>
          <a:prstGeom prst="rect">
            <a:avLst/>
          </a:prstGeom>
          <a:noFill/>
        </p:spPr>
        <p:txBody>
          <a:bodyPr wrap="square">
            <a:spAutoFit/>
          </a:bodyPr>
          <a:lstStyle/>
          <a:p>
            <a:pPr algn="r" rtl="1">
              <a:lnSpc>
                <a:spcPct val="150000"/>
              </a:lnSpc>
              <a:spcBef>
                <a:spcPts val="600"/>
              </a:spcBef>
            </a:pP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להלן נתונים על מבנה ההוצאות של פירמה ממקסמת רווחים בתחרות משוכללת:</a:t>
            </a:r>
            <a:endParaRPr lang="en-IL"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9113237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494EE-F673-5036-0509-D799863495BC}"/>
              </a:ext>
            </a:extLst>
          </p:cNvPr>
          <p:cNvSpPr>
            <a:spLocks noGrp="1"/>
          </p:cNvSpPr>
          <p:nvPr>
            <p:ph type="title"/>
          </p:nvPr>
        </p:nvSpPr>
        <p:spPr>
          <a:xfrm>
            <a:off x="8308427" y="414282"/>
            <a:ext cx="3660228" cy="533509"/>
          </a:xfrm>
        </p:spPr>
        <p:txBody>
          <a:bodyPr>
            <a:normAutofit fontScale="90000"/>
          </a:bodyPr>
          <a:lstStyle/>
          <a:p>
            <a:pPr algn="r" rtl="1"/>
            <a:r>
              <a:rPr lang="he-IL" dirty="0"/>
              <a:t>שאלה 7 מהבחינה</a:t>
            </a:r>
            <a:endParaRPr lang="en-IL" dirty="0"/>
          </a:p>
        </p:txBody>
      </p:sp>
      <p:sp>
        <p:nvSpPr>
          <p:cNvPr id="3" name="Content Placeholder 2">
            <a:extLst>
              <a:ext uri="{FF2B5EF4-FFF2-40B4-BE49-F238E27FC236}">
                <a16:creationId xmlns:a16="http://schemas.microsoft.com/office/drawing/2014/main" id="{411A47A3-6F71-89A9-0418-E7097145D628}"/>
              </a:ext>
            </a:extLst>
          </p:cNvPr>
          <p:cNvSpPr>
            <a:spLocks noGrp="1"/>
          </p:cNvSpPr>
          <p:nvPr>
            <p:ph idx="1"/>
          </p:nvPr>
        </p:nvSpPr>
        <p:spPr>
          <a:xfrm>
            <a:off x="3667125" y="2642321"/>
            <a:ext cx="8118914" cy="3433800"/>
          </a:xfrm>
        </p:spPr>
        <p:txBody>
          <a:bodyPr>
            <a:normAutofit/>
          </a:bodyPr>
          <a:lstStyle/>
          <a:p>
            <a:pPr marL="0" indent="0" algn="r" rtl="1">
              <a:lnSpc>
                <a:spcPct val="150000"/>
              </a:lnSpc>
              <a:buNone/>
            </a:pP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אם ידוע כי מחיר המוצר הינו 9 ש"ח, וכי הפירמה מייצרת בטווח הארוך, ניתן להסיק:</a:t>
            </a:r>
            <a:endParaRPr lang="en-IL" sz="1800" dirty="0">
              <a:effectLst/>
              <a:latin typeface="Times New Roman" panose="02020603050405020304" pitchFamily="18" charset="0"/>
              <a:ea typeface="Times New Roman" panose="02020603050405020304" pitchFamily="18" charset="0"/>
            </a:endParaRPr>
          </a:p>
          <a:p>
            <a:pPr marL="342900" indent="-342900" algn="r" rtl="1">
              <a:lnSpc>
                <a:spcPct val="150000"/>
              </a:lnSpc>
              <a:buFont typeface="+mj-lt"/>
              <a:buAutoNum type="arabicPeriod"/>
            </a:pPr>
            <a:r>
              <a:rPr lang="he-IL" sz="1800" dirty="0">
                <a:latin typeface="Times New Roman" panose="02020603050405020304" pitchFamily="18" charset="0"/>
                <a:ea typeface="Times New Roman" panose="02020603050405020304" pitchFamily="18" charset="0"/>
              </a:rPr>
              <a:t>הפירמה תייצר 7 יחידות והעלות המשתנה נמוכה מ- 10 ש"ח.</a:t>
            </a:r>
            <a:endParaRPr lang="en-IL" sz="1800" dirty="0">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highlight>
                  <a:srgbClr val="FFFF00"/>
                </a:highlight>
                <a:latin typeface="Times New Roman" panose="02020603050405020304" pitchFamily="18" charset="0"/>
                <a:ea typeface="Times New Roman" panose="02020603050405020304" pitchFamily="18" charset="0"/>
                <a:cs typeface="Arial" panose="020B0604020202020204" pitchFamily="34" charset="0"/>
              </a:rPr>
              <a:t>הפירמה תייצר 7 יחידות והעלות הקבועה נמוכה או שווה ל- 18 ש"ח.</a:t>
            </a:r>
            <a:endParaRPr lang="en-IL" sz="1800" dirty="0">
              <a:effectLst/>
              <a:highlight>
                <a:srgbClr val="FFFF00"/>
              </a:highligh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הפירמה תייצר 4 והעלות המשתנה גבוהה מ- 15 ש"ח.</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יתכן שהפירמה לא תייצר בטווח הקצר, אך בטווח הארוך תייצר 7 יחידות.</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כל התשובות האחרות לא נכונות.</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endParaRPr lang="en-IL" sz="1800" dirty="0">
              <a:effectLst/>
              <a:latin typeface="Times New Roman" panose="02020603050405020304" pitchFamily="18" charset="0"/>
              <a:ea typeface="Times New Roman" panose="02020603050405020304" pitchFamily="18" charset="0"/>
            </a:endParaRPr>
          </a:p>
        </p:txBody>
      </p:sp>
      <p:graphicFrame>
        <p:nvGraphicFramePr>
          <p:cNvPr id="6" name="Table 5">
            <a:extLst>
              <a:ext uri="{FF2B5EF4-FFF2-40B4-BE49-F238E27FC236}">
                <a16:creationId xmlns:a16="http://schemas.microsoft.com/office/drawing/2014/main" id="{FC51C784-26D6-A304-BA60-644CA3984472}"/>
              </a:ext>
            </a:extLst>
          </p:cNvPr>
          <p:cNvGraphicFramePr>
            <a:graphicFrameLocks noGrp="1"/>
          </p:cNvGraphicFramePr>
          <p:nvPr>
            <p:extLst>
              <p:ext uri="{D42A27DB-BD31-4B8C-83A1-F6EECF244321}">
                <p14:modId xmlns:p14="http://schemas.microsoft.com/office/powerpoint/2010/main" val="907252253"/>
              </p:ext>
            </p:extLst>
          </p:nvPr>
        </p:nvGraphicFramePr>
        <p:xfrm>
          <a:off x="476561" y="1062582"/>
          <a:ext cx="8574673" cy="1312548"/>
        </p:xfrm>
        <a:graphic>
          <a:graphicData uri="http://schemas.openxmlformats.org/drawingml/2006/table">
            <a:tbl>
              <a:tblPr rtl="1"/>
              <a:tblGrid>
                <a:gridCol w="2669257">
                  <a:extLst>
                    <a:ext uri="{9D8B030D-6E8A-4147-A177-3AD203B41FA5}">
                      <a16:colId xmlns:a16="http://schemas.microsoft.com/office/drawing/2014/main" val="3133012561"/>
                    </a:ext>
                  </a:extLst>
                </a:gridCol>
                <a:gridCol w="738177">
                  <a:extLst>
                    <a:ext uri="{9D8B030D-6E8A-4147-A177-3AD203B41FA5}">
                      <a16:colId xmlns:a16="http://schemas.microsoft.com/office/drawing/2014/main" val="1506387178"/>
                    </a:ext>
                  </a:extLst>
                </a:gridCol>
                <a:gridCol w="738177">
                  <a:extLst>
                    <a:ext uri="{9D8B030D-6E8A-4147-A177-3AD203B41FA5}">
                      <a16:colId xmlns:a16="http://schemas.microsoft.com/office/drawing/2014/main" val="2535701834"/>
                    </a:ext>
                  </a:extLst>
                </a:gridCol>
                <a:gridCol w="738177">
                  <a:extLst>
                    <a:ext uri="{9D8B030D-6E8A-4147-A177-3AD203B41FA5}">
                      <a16:colId xmlns:a16="http://schemas.microsoft.com/office/drawing/2014/main" val="2626641824"/>
                    </a:ext>
                  </a:extLst>
                </a:gridCol>
                <a:gridCol w="738177">
                  <a:extLst>
                    <a:ext uri="{9D8B030D-6E8A-4147-A177-3AD203B41FA5}">
                      <a16:colId xmlns:a16="http://schemas.microsoft.com/office/drawing/2014/main" val="2859262520"/>
                    </a:ext>
                  </a:extLst>
                </a:gridCol>
                <a:gridCol w="738177">
                  <a:extLst>
                    <a:ext uri="{9D8B030D-6E8A-4147-A177-3AD203B41FA5}">
                      <a16:colId xmlns:a16="http://schemas.microsoft.com/office/drawing/2014/main" val="370025488"/>
                    </a:ext>
                  </a:extLst>
                </a:gridCol>
                <a:gridCol w="738177">
                  <a:extLst>
                    <a:ext uri="{9D8B030D-6E8A-4147-A177-3AD203B41FA5}">
                      <a16:colId xmlns:a16="http://schemas.microsoft.com/office/drawing/2014/main" val="3710793428"/>
                    </a:ext>
                  </a:extLst>
                </a:gridCol>
                <a:gridCol w="738177">
                  <a:extLst>
                    <a:ext uri="{9D8B030D-6E8A-4147-A177-3AD203B41FA5}">
                      <a16:colId xmlns:a16="http://schemas.microsoft.com/office/drawing/2014/main" val="1446393827"/>
                    </a:ext>
                  </a:extLst>
                </a:gridCol>
                <a:gridCol w="738177">
                  <a:extLst>
                    <a:ext uri="{9D8B030D-6E8A-4147-A177-3AD203B41FA5}">
                      <a16:colId xmlns:a16="http://schemas.microsoft.com/office/drawing/2014/main" val="2582197147"/>
                    </a:ext>
                  </a:extLst>
                </a:gridCol>
              </a:tblGrid>
              <a:tr h="436738">
                <a:tc>
                  <a:txBody>
                    <a:bodyPr/>
                    <a:lstStyle/>
                    <a:p>
                      <a:pPr algn="r" rtl="1">
                        <a:lnSpc>
                          <a:spcPct val="107000"/>
                        </a:lnSpc>
                      </a:pPr>
                      <a:r>
                        <a:rPr lang="he-IL" sz="2000" b="1" dirty="0">
                          <a:effectLst/>
                          <a:latin typeface="Times New Roman" panose="02020603050405020304" pitchFamily="18" charset="0"/>
                          <a:ea typeface="Times New Roman" panose="02020603050405020304" pitchFamily="18" charset="0"/>
                          <a:cs typeface="Arial" panose="020B0604020202020204" pitchFamily="34" charset="0"/>
                        </a:rPr>
                        <a:t>כמות מיוצרת (</a:t>
                      </a:r>
                      <a:r>
                        <a:rPr lang="en-US" sz="2000" b="1" dirty="0">
                          <a:effectLst/>
                          <a:latin typeface="Arial" panose="020B0604020202020204" pitchFamily="34" charset="0"/>
                          <a:ea typeface="Times New Roman" panose="02020603050405020304" pitchFamily="18" charset="0"/>
                          <a:cs typeface="Arial" panose="020B0604020202020204" pitchFamily="34" charset="0"/>
                        </a:rPr>
                        <a:t>Q</a:t>
                      </a:r>
                      <a:r>
                        <a:rPr lang="he-IL" sz="2000" b="1" dirty="0">
                          <a:effectLst/>
                          <a:latin typeface="Times New Roman" panose="02020603050405020304" pitchFamily="18" charset="0"/>
                          <a:ea typeface="Times New Roman" panose="02020603050405020304" pitchFamily="18" charset="0"/>
                          <a:cs typeface="Arial" panose="020B0604020202020204" pitchFamily="34" charset="0"/>
                        </a:rPr>
                        <a:t>)</a:t>
                      </a:r>
                      <a:endParaRPr lang="en-IL" sz="20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r>
                        <a:rPr lang="he-IL" sz="2000" b="1">
                          <a:effectLst/>
                          <a:latin typeface="Times New Roman" panose="02020603050405020304" pitchFamily="18" charset="0"/>
                          <a:ea typeface="Times New Roman" panose="02020603050405020304" pitchFamily="18" charset="0"/>
                          <a:cs typeface="Arial" panose="020B0604020202020204" pitchFamily="34" charset="0"/>
                        </a:rPr>
                        <a:t>1</a:t>
                      </a:r>
                      <a:endParaRPr lang="en-IL" sz="20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r>
                        <a:rPr lang="he-IL" sz="2000" b="1">
                          <a:effectLst/>
                          <a:latin typeface="Times New Roman" panose="02020603050405020304" pitchFamily="18" charset="0"/>
                          <a:ea typeface="Times New Roman" panose="02020603050405020304" pitchFamily="18" charset="0"/>
                          <a:cs typeface="Arial" panose="020B0604020202020204" pitchFamily="34" charset="0"/>
                        </a:rPr>
                        <a:t>2</a:t>
                      </a:r>
                      <a:endParaRPr lang="en-IL" sz="20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r>
                        <a:rPr lang="he-IL" sz="2000" b="1">
                          <a:effectLst/>
                          <a:latin typeface="Times New Roman" panose="02020603050405020304" pitchFamily="18" charset="0"/>
                          <a:ea typeface="Times New Roman" panose="02020603050405020304" pitchFamily="18" charset="0"/>
                          <a:cs typeface="Arial" panose="020B0604020202020204" pitchFamily="34" charset="0"/>
                        </a:rPr>
                        <a:t>3</a:t>
                      </a:r>
                      <a:endParaRPr lang="en-IL" sz="20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r>
                        <a:rPr lang="he-IL" sz="2000" b="1">
                          <a:effectLst/>
                          <a:latin typeface="Times New Roman" panose="02020603050405020304" pitchFamily="18" charset="0"/>
                          <a:ea typeface="Times New Roman" panose="02020603050405020304" pitchFamily="18" charset="0"/>
                          <a:cs typeface="Arial" panose="020B0604020202020204" pitchFamily="34" charset="0"/>
                        </a:rPr>
                        <a:t>4</a:t>
                      </a:r>
                      <a:endParaRPr lang="en-IL" sz="20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r>
                        <a:rPr lang="he-IL" sz="2000" b="1">
                          <a:effectLst/>
                          <a:latin typeface="Times New Roman" panose="02020603050405020304" pitchFamily="18" charset="0"/>
                          <a:ea typeface="Times New Roman" panose="02020603050405020304" pitchFamily="18" charset="0"/>
                          <a:cs typeface="Arial" panose="020B0604020202020204" pitchFamily="34" charset="0"/>
                        </a:rPr>
                        <a:t>5</a:t>
                      </a:r>
                      <a:endParaRPr lang="en-IL" sz="20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r>
                        <a:rPr lang="he-IL" sz="2000" b="1">
                          <a:effectLst/>
                          <a:latin typeface="Times New Roman" panose="02020603050405020304" pitchFamily="18" charset="0"/>
                          <a:ea typeface="Times New Roman" panose="02020603050405020304" pitchFamily="18" charset="0"/>
                          <a:cs typeface="Arial" panose="020B0604020202020204" pitchFamily="34" charset="0"/>
                        </a:rPr>
                        <a:t>6</a:t>
                      </a:r>
                      <a:endParaRPr lang="en-IL" sz="20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r>
                        <a:rPr lang="he-IL" sz="2000" b="1">
                          <a:effectLst/>
                          <a:latin typeface="Times New Roman" panose="02020603050405020304" pitchFamily="18" charset="0"/>
                          <a:ea typeface="Times New Roman" panose="02020603050405020304" pitchFamily="18" charset="0"/>
                          <a:cs typeface="Arial" panose="020B0604020202020204" pitchFamily="34" charset="0"/>
                        </a:rPr>
                        <a:t>7</a:t>
                      </a:r>
                      <a:endParaRPr lang="en-IL" sz="20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r>
                        <a:rPr lang="he-IL" sz="2000" b="1">
                          <a:effectLst/>
                          <a:latin typeface="Times New Roman" panose="02020603050405020304" pitchFamily="18" charset="0"/>
                          <a:ea typeface="Times New Roman" panose="02020603050405020304" pitchFamily="18" charset="0"/>
                          <a:cs typeface="Arial" panose="020B0604020202020204" pitchFamily="34" charset="0"/>
                        </a:rPr>
                        <a:t>8</a:t>
                      </a:r>
                      <a:endParaRPr lang="en-IL" sz="20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3024417"/>
                  </a:ext>
                </a:extLst>
              </a:tr>
              <a:tr h="437905">
                <a:tc>
                  <a:txBody>
                    <a:bodyPr/>
                    <a:lstStyle/>
                    <a:p>
                      <a:pPr algn="r" rtl="1">
                        <a:lnSpc>
                          <a:spcPct val="107000"/>
                        </a:lnSpc>
                      </a:pP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העלות השולית (</a:t>
                      </a:r>
                      <a:r>
                        <a:rPr lang="en-US" sz="1800" b="1" dirty="0">
                          <a:effectLst/>
                          <a:latin typeface="Arial" panose="020B0604020202020204" pitchFamily="34" charset="0"/>
                          <a:ea typeface="Times New Roman" panose="02020603050405020304" pitchFamily="18" charset="0"/>
                          <a:cs typeface="Arial" panose="020B0604020202020204" pitchFamily="34" charset="0"/>
                        </a:rPr>
                        <a:t>MC</a:t>
                      </a: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 ₪</a:t>
                      </a:r>
                      <a:endParaRPr lang="en-IL" sz="18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r>
                        <a:rPr lang="he-IL" sz="2000" b="1">
                          <a:effectLst/>
                          <a:latin typeface="Times New Roman" panose="02020603050405020304" pitchFamily="18" charset="0"/>
                          <a:ea typeface="Times New Roman" panose="02020603050405020304" pitchFamily="18" charset="0"/>
                          <a:cs typeface="Arial" panose="020B0604020202020204" pitchFamily="34" charset="0"/>
                        </a:rPr>
                        <a:t>6</a:t>
                      </a:r>
                      <a:endParaRPr lang="en-IL" sz="20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r>
                        <a:rPr lang="he-IL" sz="2000" b="1">
                          <a:effectLst/>
                          <a:latin typeface="Times New Roman" panose="02020603050405020304" pitchFamily="18" charset="0"/>
                          <a:ea typeface="Times New Roman" panose="02020603050405020304" pitchFamily="18" charset="0"/>
                          <a:cs typeface="Arial" panose="020B0604020202020204" pitchFamily="34" charset="0"/>
                        </a:rPr>
                        <a:t>4</a:t>
                      </a:r>
                      <a:endParaRPr lang="en-IL" sz="20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r>
                        <a:rPr lang="he-IL" sz="2000" b="1">
                          <a:effectLst/>
                          <a:latin typeface="Times New Roman" panose="02020603050405020304" pitchFamily="18" charset="0"/>
                          <a:ea typeface="Times New Roman" panose="02020603050405020304" pitchFamily="18" charset="0"/>
                          <a:cs typeface="Arial" panose="020B0604020202020204" pitchFamily="34" charset="0"/>
                        </a:rPr>
                        <a:t>5</a:t>
                      </a:r>
                      <a:endParaRPr lang="en-IL" sz="20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r>
                        <a:rPr lang="he-IL" sz="2000" b="1">
                          <a:effectLst/>
                          <a:latin typeface="Times New Roman" panose="02020603050405020304" pitchFamily="18" charset="0"/>
                          <a:ea typeface="Times New Roman" panose="02020603050405020304" pitchFamily="18" charset="0"/>
                          <a:cs typeface="Arial" panose="020B0604020202020204" pitchFamily="34" charset="0"/>
                        </a:rPr>
                        <a:t>6</a:t>
                      </a:r>
                      <a:endParaRPr lang="en-IL" sz="20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r>
                        <a:rPr lang="he-IL" sz="2000" b="1" dirty="0">
                          <a:effectLst/>
                          <a:latin typeface="Times New Roman" panose="02020603050405020304" pitchFamily="18" charset="0"/>
                          <a:ea typeface="Times New Roman" panose="02020603050405020304" pitchFamily="18" charset="0"/>
                          <a:cs typeface="Arial" panose="020B0604020202020204" pitchFamily="34" charset="0"/>
                        </a:rPr>
                        <a:t>7</a:t>
                      </a:r>
                      <a:endParaRPr lang="en-IL" sz="20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r>
                        <a:rPr lang="he-IL" sz="2000" b="1" dirty="0">
                          <a:effectLst/>
                          <a:latin typeface="Times New Roman" panose="02020603050405020304" pitchFamily="18" charset="0"/>
                          <a:ea typeface="Times New Roman" panose="02020603050405020304" pitchFamily="18" charset="0"/>
                          <a:cs typeface="Arial" panose="020B0604020202020204" pitchFamily="34" charset="0"/>
                        </a:rPr>
                        <a:t>8</a:t>
                      </a:r>
                      <a:endParaRPr lang="en-IL" sz="20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r>
                        <a:rPr lang="he-IL" sz="2000" b="1">
                          <a:effectLst/>
                          <a:latin typeface="Times New Roman" panose="02020603050405020304" pitchFamily="18" charset="0"/>
                          <a:ea typeface="Times New Roman" panose="02020603050405020304" pitchFamily="18" charset="0"/>
                          <a:cs typeface="Arial" panose="020B0604020202020204" pitchFamily="34" charset="0"/>
                        </a:rPr>
                        <a:t>9</a:t>
                      </a:r>
                      <a:endParaRPr lang="en-IL" sz="20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r>
                        <a:rPr lang="he-IL" sz="2000" b="1" dirty="0">
                          <a:effectLst/>
                          <a:latin typeface="Times New Roman" panose="02020603050405020304" pitchFamily="18" charset="0"/>
                          <a:ea typeface="Times New Roman" panose="02020603050405020304" pitchFamily="18" charset="0"/>
                          <a:cs typeface="Arial" panose="020B0604020202020204" pitchFamily="34" charset="0"/>
                        </a:rPr>
                        <a:t>10</a:t>
                      </a:r>
                      <a:endParaRPr lang="en-IL" sz="20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29164798"/>
                  </a:ext>
                </a:extLst>
              </a:tr>
              <a:tr h="437905">
                <a:tc>
                  <a:txBody>
                    <a:bodyPr/>
                    <a:lstStyle/>
                    <a:p>
                      <a:pPr algn="r" rtl="1">
                        <a:lnSpc>
                          <a:spcPct val="107000"/>
                        </a:lnSpc>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עלות משתנה (</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VC</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a:t>
                      </a:r>
                      <a:endParaRPr lang="en-IL" sz="18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endParaRPr lang="en-IL" sz="20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endParaRPr lang="en-IL" sz="20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endParaRPr lang="en-IL" sz="20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endParaRPr lang="en-IL" sz="20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endParaRPr lang="en-IL" sz="20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endParaRPr lang="en-IL" sz="20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endParaRPr lang="en-IL" sz="20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07000"/>
                        </a:lnSpc>
                      </a:pPr>
                      <a:endParaRPr lang="en-IL" sz="20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50389947"/>
                  </a:ext>
                </a:extLst>
              </a:tr>
            </a:tbl>
          </a:graphicData>
        </a:graphic>
      </p:graphicFrame>
      <p:sp>
        <p:nvSpPr>
          <p:cNvPr id="8" name="TextBox 7">
            <a:extLst>
              <a:ext uri="{FF2B5EF4-FFF2-40B4-BE49-F238E27FC236}">
                <a16:creationId xmlns:a16="http://schemas.microsoft.com/office/drawing/2014/main" id="{E7AAB391-B9FF-08FF-F597-029DAD7D2A5B}"/>
              </a:ext>
            </a:extLst>
          </p:cNvPr>
          <p:cNvSpPr txBox="1"/>
          <p:nvPr/>
        </p:nvSpPr>
        <p:spPr>
          <a:xfrm>
            <a:off x="742122" y="604828"/>
            <a:ext cx="8004313" cy="457754"/>
          </a:xfrm>
          <a:prstGeom prst="rect">
            <a:avLst/>
          </a:prstGeom>
          <a:noFill/>
        </p:spPr>
        <p:txBody>
          <a:bodyPr wrap="square">
            <a:spAutoFit/>
          </a:bodyPr>
          <a:lstStyle/>
          <a:p>
            <a:pPr algn="r" rtl="1">
              <a:lnSpc>
                <a:spcPct val="150000"/>
              </a:lnSpc>
              <a:spcBef>
                <a:spcPts val="600"/>
              </a:spcBef>
            </a:pPr>
            <a:r>
              <a:rPr lang="he-IL" sz="1800" b="1" dirty="0">
                <a:effectLst/>
                <a:latin typeface="Times New Roman" panose="02020603050405020304" pitchFamily="18" charset="0"/>
                <a:ea typeface="Times New Roman" panose="02020603050405020304" pitchFamily="18" charset="0"/>
                <a:cs typeface="Arial" panose="020B0604020202020204" pitchFamily="34" charset="0"/>
              </a:rPr>
              <a:t>להלן נתונים על מבנה ההוצאות של פירמה ממקסמת רווחים בתחרות משוכללת:</a:t>
            </a:r>
            <a:endParaRPr lang="en-IL" sz="1800" dirty="0">
              <a:effectLst/>
              <a:latin typeface="Times New Roman" panose="02020603050405020304" pitchFamily="18" charset="0"/>
              <a:ea typeface="Times New Roman" panose="02020603050405020304" pitchFamily="18" charset="0"/>
            </a:endParaRPr>
          </a:p>
        </p:txBody>
      </p:sp>
      <p:sp>
        <p:nvSpPr>
          <p:cNvPr id="4" name="TextBox 3">
            <a:extLst>
              <a:ext uri="{FF2B5EF4-FFF2-40B4-BE49-F238E27FC236}">
                <a16:creationId xmlns:a16="http://schemas.microsoft.com/office/drawing/2014/main" id="{55777792-141E-091F-2DD2-96C34BF74E13}"/>
              </a:ext>
            </a:extLst>
          </p:cNvPr>
          <p:cNvSpPr txBox="1"/>
          <p:nvPr/>
        </p:nvSpPr>
        <p:spPr>
          <a:xfrm>
            <a:off x="5781675" y="1969390"/>
            <a:ext cx="495300" cy="369332"/>
          </a:xfrm>
          <a:prstGeom prst="rect">
            <a:avLst/>
          </a:prstGeom>
          <a:solidFill>
            <a:schemeClr val="accent2">
              <a:lumMod val="20000"/>
              <a:lumOff val="80000"/>
            </a:schemeClr>
          </a:solidFill>
        </p:spPr>
        <p:txBody>
          <a:bodyPr wrap="square" rtlCol="0">
            <a:spAutoFit/>
          </a:bodyPr>
          <a:lstStyle/>
          <a:p>
            <a:pPr algn="ctr"/>
            <a:r>
              <a:rPr lang="en-US" dirty="0"/>
              <a:t>6</a:t>
            </a:r>
            <a:endParaRPr lang="en-IL" dirty="0"/>
          </a:p>
        </p:txBody>
      </p:sp>
      <p:sp>
        <p:nvSpPr>
          <p:cNvPr id="5" name="TextBox 4">
            <a:extLst>
              <a:ext uri="{FF2B5EF4-FFF2-40B4-BE49-F238E27FC236}">
                <a16:creationId xmlns:a16="http://schemas.microsoft.com/office/drawing/2014/main" id="{971D436B-762F-F5A6-ADC1-3883D2C3B268}"/>
              </a:ext>
            </a:extLst>
          </p:cNvPr>
          <p:cNvSpPr txBox="1"/>
          <p:nvPr/>
        </p:nvSpPr>
        <p:spPr>
          <a:xfrm>
            <a:off x="4996511" y="1969390"/>
            <a:ext cx="495300" cy="369332"/>
          </a:xfrm>
          <a:prstGeom prst="rect">
            <a:avLst/>
          </a:prstGeom>
          <a:solidFill>
            <a:schemeClr val="accent2">
              <a:lumMod val="20000"/>
              <a:lumOff val="80000"/>
            </a:schemeClr>
          </a:solidFill>
        </p:spPr>
        <p:txBody>
          <a:bodyPr wrap="square" rtlCol="0">
            <a:spAutoFit/>
          </a:bodyPr>
          <a:lstStyle/>
          <a:p>
            <a:pPr algn="ctr"/>
            <a:r>
              <a:rPr lang="en-US" dirty="0"/>
              <a:t>10</a:t>
            </a:r>
            <a:endParaRPr lang="en-IL" dirty="0"/>
          </a:p>
        </p:txBody>
      </p:sp>
      <p:sp>
        <p:nvSpPr>
          <p:cNvPr id="7" name="TextBox 6">
            <a:extLst>
              <a:ext uri="{FF2B5EF4-FFF2-40B4-BE49-F238E27FC236}">
                <a16:creationId xmlns:a16="http://schemas.microsoft.com/office/drawing/2014/main" id="{063F3E94-D28B-96E3-FCA5-2E2212C0D598}"/>
              </a:ext>
            </a:extLst>
          </p:cNvPr>
          <p:cNvSpPr txBox="1"/>
          <p:nvPr/>
        </p:nvSpPr>
        <p:spPr>
          <a:xfrm>
            <a:off x="4248978" y="1969390"/>
            <a:ext cx="495300" cy="369332"/>
          </a:xfrm>
          <a:prstGeom prst="rect">
            <a:avLst/>
          </a:prstGeom>
          <a:solidFill>
            <a:schemeClr val="accent2">
              <a:lumMod val="20000"/>
              <a:lumOff val="80000"/>
            </a:schemeClr>
          </a:solidFill>
        </p:spPr>
        <p:txBody>
          <a:bodyPr wrap="square" rtlCol="0">
            <a:spAutoFit/>
          </a:bodyPr>
          <a:lstStyle/>
          <a:p>
            <a:pPr algn="ctr"/>
            <a:r>
              <a:rPr lang="en-US" dirty="0"/>
              <a:t>15</a:t>
            </a:r>
            <a:endParaRPr lang="en-IL" dirty="0"/>
          </a:p>
        </p:txBody>
      </p:sp>
      <p:sp>
        <p:nvSpPr>
          <p:cNvPr id="9" name="TextBox 8">
            <a:extLst>
              <a:ext uri="{FF2B5EF4-FFF2-40B4-BE49-F238E27FC236}">
                <a16:creationId xmlns:a16="http://schemas.microsoft.com/office/drawing/2014/main" id="{146E940C-9899-7598-8A41-7220F42C4F1A}"/>
              </a:ext>
            </a:extLst>
          </p:cNvPr>
          <p:cNvSpPr txBox="1"/>
          <p:nvPr/>
        </p:nvSpPr>
        <p:spPr>
          <a:xfrm>
            <a:off x="3608746" y="1969390"/>
            <a:ext cx="495300" cy="369332"/>
          </a:xfrm>
          <a:prstGeom prst="rect">
            <a:avLst/>
          </a:prstGeom>
          <a:solidFill>
            <a:schemeClr val="accent2">
              <a:lumMod val="20000"/>
              <a:lumOff val="80000"/>
            </a:schemeClr>
          </a:solidFill>
        </p:spPr>
        <p:txBody>
          <a:bodyPr wrap="square" rtlCol="0">
            <a:spAutoFit/>
          </a:bodyPr>
          <a:lstStyle/>
          <a:p>
            <a:pPr algn="ctr"/>
            <a:r>
              <a:rPr lang="en-US" dirty="0"/>
              <a:t>21</a:t>
            </a:r>
            <a:endParaRPr lang="en-IL" dirty="0"/>
          </a:p>
        </p:txBody>
      </p:sp>
      <p:sp>
        <p:nvSpPr>
          <p:cNvPr id="10" name="TextBox 9">
            <a:extLst>
              <a:ext uri="{FF2B5EF4-FFF2-40B4-BE49-F238E27FC236}">
                <a16:creationId xmlns:a16="http://schemas.microsoft.com/office/drawing/2014/main" id="{A9541D1A-E24A-67C3-DFD8-8C33127C5309}"/>
              </a:ext>
            </a:extLst>
          </p:cNvPr>
          <p:cNvSpPr txBox="1"/>
          <p:nvPr/>
        </p:nvSpPr>
        <p:spPr>
          <a:xfrm>
            <a:off x="2861213" y="1969390"/>
            <a:ext cx="495300" cy="369332"/>
          </a:xfrm>
          <a:prstGeom prst="rect">
            <a:avLst/>
          </a:prstGeom>
          <a:solidFill>
            <a:schemeClr val="accent2">
              <a:lumMod val="20000"/>
              <a:lumOff val="80000"/>
            </a:schemeClr>
          </a:solidFill>
        </p:spPr>
        <p:txBody>
          <a:bodyPr wrap="square" rtlCol="0">
            <a:spAutoFit/>
          </a:bodyPr>
          <a:lstStyle/>
          <a:p>
            <a:pPr algn="ctr"/>
            <a:r>
              <a:rPr lang="en-US" dirty="0"/>
              <a:t>28</a:t>
            </a:r>
            <a:endParaRPr lang="en-IL" dirty="0"/>
          </a:p>
        </p:txBody>
      </p:sp>
      <p:sp>
        <p:nvSpPr>
          <p:cNvPr id="11" name="TextBox 10">
            <a:extLst>
              <a:ext uri="{FF2B5EF4-FFF2-40B4-BE49-F238E27FC236}">
                <a16:creationId xmlns:a16="http://schemas.microsoft.com/office/drawing/2014/main" id="{F9BFFE4C-0839-AEED-62C3-3FA66B623A01}"/>
              </a:ext>
            </a:extLst>
          </p:cNvPr>
          <p:cNvSpPr txBox="1"/>
          <p:nvPr/>
        </p:nvSpPr>
        <p:spPr>
          <a:xfrm>
            <a:off x="2113680" y="1969390"/>
            <a:ext cx="495300" cy="369332"/>
          </a:xfrm>
          <a:prstGeom prst="rect">
            <a:avLst/>
          </a:prstGeom>
          <a:solidFill>
            <a:schemeClr val="accent2">
              <a:lumMod val="20000"/>
              <a:lumOff val="80000"/>
            </a:schemeClr>
          </a:solidFill>
        </p:spPr>
        <p:txBody>
          <a:bodyPr wrap="square" rtlCol="0">
            <a:spAutoFit/>
          </a:bodyPr>
          <a:lstStyle/>
          <a:p>
            <a:pPr algn="ctr"/>
            <a:r>
              <a:rPr lang="en-US" dirty="0"/>
              <a:t>36</a:t>
            </a:r>
            <a:endParaRPr lang="en-IL" dirty="0"/>
          </a:p>
        </p:txBody>
      </p:sp>
      <p:sp>
        <p:nvSpPr>
          <p:cNvPr id="12" name="TextBox 11">
            <a:extLst>
              <a:ext uri="{FF2B5EF4-FFF2-40B4-BE49-F238E27FC236}">
                <a16:creationId xmlns:a16="http://schemas.microsoft.com/office/drawing/2014/main" id="{4EBB0C99-CFBD-DB93-B7DB-6C15C4249AE3}"/>
              </a:ext>
            </a:extLst>
          </p:cNvPr>
          <p:cNvSpPr txBox="1"/>
          <p:nvPr/>
        </p:nvSpPr>
        <p:spPr>
          <a:xfrm>
            <a:off x="1366147" y="1958133"/>
            <a:ext cx="495300" cy="369332"/>
          </a:xfrm>
          <a:prstGeom prst="rect">
            <a:avLst/>
          </a:prstGeom>
          <a:solidFill>
            <a:schemeClr val="accent2">
              <a:lumMod val="20000"/>
              <a:lumOff val="80000"/>
            </a:schemeClr>
          </a:solidFill>
        </p:spPr>
        <p:txBody>
          <a:bodyPr wrap="square" rtlCol="0">
            <a:spAutoFit/>
          </a:bodyPr>
          <a:lstStyle/>
          <a:p>
            <a:pPr algn="ctr"/>
            <a:r>
              <a:rPr lang="en-US" dirty="0"/>
              <a:t>45</a:t>
            </a:r>
            <a:endParaRPr lang="en-IL" dirty="0"/>
          </a:p>
        </p:txBody>
      </p:sp>
      <p:sp>
        <p:nvSpPr>
          <p:cNvPr id="13" name="TextBox 12">
            <a:extLst>
              <a:ext uri="{FF2B5EF4-FFF2-40B4-BE49-F238E27FC236}">
                <a16:creationId xmlns:a16="http://schemas.microsoft.com/office/drawing/2014/main" id="{1032C8DD-9B9D-AF1E-DD5F-7D13F09C7B61}"/>
              </a:ext>
            </a:extLst>
          </p:cNvPr>
          <p:cNvSpPr txBox="1"/>
          <p:nvPr/>
        </p:nvSpPr>
        <p:spPr>
          <a:xfrm>
            <a:off x="586837" y="1958133"/>
            <a:ext cx="495300" cy="369332"/>
          </a:xfrm>
          <a:prstGeom prst="rect">
            <a:avLst/>
          </a:prstGeom>
          <a:solidFill>
            <a:schemeClr val="accent2">
              <a:lumMod val="20000"/>
              <a:lumOff val="80000"/>
            </a:schemeClr>
          </a:solidFill>
        </p:spPr>
        <p:txBody>
          <a:bodyPr wrap="square" rtlCol="0">
            <a:spAutoFit/>
          </a:bodyPr>
          <a:lstStyle/>
          <a:p>
            <a:pPr algn="ctr"/>
            <a:r>
              <a:rPr lang="en-US" dirty="0"/>
              <a:t>55</a:t>
            </a:r>
            <a:endParaRPr lang="en-IL" dirty="0"/>
          </a:p>
        </p:txBody>
      </p:sp>
      <p:sp>
        <p:nvSpPr>
          <p:cNvPr id="14" name="TextBox 13">
            <a:extLst>
              <a:ext uri="{FF2B5EF4-FFF2-40B4-BE49-F238E27FC236}">
                <a16:creationId xmlns:a16="http://schemas.microsoft.com/office/drawing/2014/main" id="{E8B4F484-CBB3-29A3-F94A-3D2FEF4B0366}"/>
              </a:ext>
            </a:extLst>
          </p:cNvPr>
          <p:cNvSpPr txBox="1"/>
          <p:nvPr/>
        </p:nvSpPr>
        <p:spPr>
          <a:xfrm>
            <a:off x="476561" y="3223016"/>
            <a:ext cx="1060988" cy="369332"/>
          </a:xfrm>
          <a:prstGeom prst="rect">
            <a:avLst/>
          </a:prstGeom>
          <a:noFill/>
        </p:spPr>
        <p:txBody>
          <a:bodyPr wrap="square" rtlCol="0">
            <a:spAutoFit/>
          </a:bodyPr>
          <a:lstStyle/>
          <a:p>
            <a:r>
              <a:rPr lang="he-IL" dirty="0"/>
              <a:t>רווח נקי</a:t>
            </a:r>
            <a:endParaRPr lang="en-IL" dirty="0"/>
          </a:p>
        </p:txBody>
      </p:sp>
      <p:sp>
        <p:nvSpPr>
          <p:cNvPr id="15" name="TextBox 14">
            <a:extLst>
              <a:ext uri="{FF2B5EF4-FFF2-40B4-BE49-F238E27FC236}">
                <a16:creationId xmlns:a16="http://schemas.microsoft.com/office/drawing/2014/main" id="{582857D3-1B3B-33B0-162F-E2D96277D859}"/>
              </a:ext>
            </a:extLst>
          </p:cNvPr>
          <p:cNvSpPr txBox="1"/>
          <p:nvPr/>
        </p:nvSpPr>
        <p:spPr>
          <a:xfrm>
            <a:off x="1537548" y="3223017"/>
            <a:ext cx="2711429" cy="369332"/>
          </a:xfrm>
          <a:prstGeom prst="rect">
            <a:avLst/>
          </a:prstGeom>
          <a:solidFill>
            <a:schemeClr val="accent2">
              <a:lumMod val="20000"/>
              <a:lumOff val="80000"/>
            </a:schemeClr>
          </a:solidFill>
        </p:spPr>
        <p:txBody>
          <a:bodyPr wrap="square" rtlCol="0">
            <a:spAutoFit/>
          </a:bodyPr>
          <a:lstStyle/>
          <a:p>
            <a:pPr algn="ctr"/>
            <a:r>
              <a:rPr lang="en-US" dirty="0"/>
              <a:t>P*Q – VC(Q)  - FC  &gt;=0</a:t>
            </a:r>
            <a:endParaRPr lang="en-IL" dirty="0"/>
          </a:p>
        </p:txBody>
      </p:sp>
      <p:cxnSp>
        <p:nvCxnSpPr>
          <p:cNvPr id="17" name="Straight Connector 16">
            <a:extLst>
              <a:ext uri="{FF2B5EF4-FFF2-40B4-BE49-F238E27FC236}">
                <a16:creationId xmlns:a16="http://schemas.microsoft.com/office/drawing/2014/main" id="{4C3350EB-3D74-8371-3F82-F733A0CAB2DB}"/>
              </a:ext>
            </a:extLst>
          </p:cNvPr>
          <p:cNvCxnSpPr/>
          <p:nvPr/>
        </p:nvCxnSpPr>
        <p:spPr>
          <a:xfrm>
            <a:off x="5238750" y="3051896"/>
            <a:ext cx="2990850" cy="0"/>
          </a:xfrm>
          <a:prstGeom prst="line">
            <a:avLst/>
          </a:prstGeom>
          <a:ln w="38100">
            <a:solidFill>
              <a:srgbClr val="FF00FF"/>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B94B36D6-6ABE-6ED2-E943-A796691583D7}"/>
              </a:ext>
            </a:extLst>
          </p:cNvPr>
          <p:cNvSpPr txBox="1"/>
          <p:nvPr/>
        </p:nvSpPr>
        <p:spPr>
          <a:xfrm>
            <a:off x="1505498" y="3682702"/>
            <a:ext cx="2711429" cy="369332"/>
          </a:xfrm>
          <a:prstGeom prst="rect">
            <a:avLst/>
          </a:prstGeom>
          <a:solidFill>
            <a:schemeClr val="accent2">
              <a:lumMod val="20000"/>
              <a:lumOff val="80000"/>
            </a:schemeClr>
          </a:solidFill>
        </p:spPr>
        <p:txBody>
          <a:bodyPr wrap="square" rtlCol="0">
            <a:spAutoFit/>
          </a:bodyPr>
          <a:lstStyle/>
          <a:p>
            <a:pPr algn="ctr"/>
            <a:r>
              <a:rPr lang="en-US" dirty="0"/>
              <a:t>9*7 – 45  - FC  &gt;=0</a:t>
            </a:r>
            <a:endParaRPr lang="en-IL" dirty="0"/>
          </a:p>
        </p:txBody>
      </p:sp>
      <p:sp>
        <p:nvSpPr>
          <p:cNvPr id="19" name="TextBox 18">
            <a:extLst>
              <a:ext uri="{FF2B5EF4-FFF2-40B4-BE49-F238E27FC236}">
                <a16:creationId xmlns:a16="http://schemas.microsoft.com/office/drawing/2014/main" id="{3B9E5E9B-8148-A7E3-4A21-E73F693B6394}"/>
              </a:ext>
            </a:extLst>
          </p:cNvPr>
          <p:cNvSpPr txBox="1"/>
          <p:nvPr/>
        </p:nvSpPr>
        <p:spPr>
          <a:xfrm>
            <a:off x="1514153" y="4214656"/>
            <a:ext cx="2711429" cy="369332"/>
          </a:xfrm>
          <a:prstGeom prst="rect">
            <a:avLst/>
          </a:prstGeom>
          <a:solidFill>
            <a:schemeClr val="accent2">
              <a:lumMod val="20000"/>
              <a:lumOff val="80000"/>
            </a:schemeClr>
          </a:solidFill>
        </p:spPr>
        <p:txBody>
          <a:bodyPr wrap="square" rtlCol="0">
            <a:spAutoFit/>
          </a:bodyPr>
          <a:lstStyle/>
          <a:p>
            <a:pPr algn="ctr"/>
            <a:r>
              <a:rPr lang="en-US" dirty="0"/>
              <a:t>18=&gt; FC</a:t>
            </a:r>
            <a:endParaRPr lang="en-IL" dirty="0"/>
          </a:p>
        </p:txBody>
      </p:sp>
    </p:spTree>
    <p:extLst>
      <p:ext uri="{BB962C8B-B14F-4D97-AF65-F5344CB8AC3E}">
        <p14:creationId xmlns:p14="http://schemas.microsoft.com/office/powerpoint/2010/main" val="1954951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barn(inVertical)">
                                      <p:cBhvr>
                                        <p:cTn id="39" dur="500"/>
                                        <p:tgtEl>
                                          <p:spTgt spid="17"/>
                                        </p:tgtEl>
                                      </p:cBhvr>
                                    </p:animEffect>
                                  </p:childTnLst>
                                </p:cTn>
                              </p:par>
                            </p:childTnLst>
                          </p:cTn>
                        </p:par>
                      </p:childTnLst>
                    </p:cTn>
                  </p:par>
                  <p:par>
                    <p:cTn id="40" fill="hold">
                      <p:stCondLst>
                        <p:cond delay="indefinite"/>
                      </p:stCondLst>
                      <p:childTnLst>
                        <p:par>
                          <p:cTn id="41" fill="hold">
                            <p:stCondLst>
                              <p:cond delay="0"/>
                            </p:stCondLst>
                            <p:childTnLst>
                              <p:par>
                                <p:cTn id="42" presetID="16" presetClass="entr" presetSubtype="21" fill="hold" grpId="0" nodeType="click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barn(inVertical)">
                                      <p:cBhvr>
                                        <p:cTn id="44" dur="500"/>
                                        <p:tgtEl>
                                          <p:spTgt spid="14"/>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10" grpId="0" animBg="1"/>
      <p:bldP spid="11" grpId="0" animBg="1"/>
      <p:bldP spid="12" grpId="0" animBg="1"/>
      <p:bldP spid="13" grpId="0" animBg="1"/>
      <p:bldP spid="14" grpId="0"/>
      <p:bldP spid="15" grpId="0" animBg="1"/>
      <p:bldP spid="18" grpId="0" animBg="1"/>
      <p:bldP spid="1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494EE-F673-5036-0509-D799863495BC}"/>
              </a:ext>
            </a:extLst>
          </p:cNvPr>
          <p:cNvSpPr>
            <a:spLocks noGrp="1"/>
          </p:cNvSpPr>
          <p:nvPr>
            <p:ph type="title"/>
          </p:nvPr>
        </p:nvSpPr>
        <p:spPr>
          <a:xfrm>
            <a:off x="8308427" y="414282"/>
            <a:ext cx="3660228" cy="533509"/>
          </a:xfrm>
        </p:spPr>
        <p:txBody>
          <a:bodyPr>
            <a:normAutofit fontScale="90000"/>
          </a:bodyPr>
          <a:lstStyle/>
          <a:p>
            <a:pPr algn="r" rtl="1"/>
            <a:r>
              <a:rPr lang="he-IL" dirty="0"/>
              <a:t>שאלה 6 מהבחינה</a:t>
            </a:r>
            <a:endParaRPr lang="en-IL" dirty="0"/>
          </a:p>
        </p:txBody>
      </p:sp>
      <p:sp>
        <p:nvSpPr>
          <p:cNvPr id="3" name="Content Placeholder 2">
            <a:extLst>
              <a:ext uri="{FF2B5EF4-FFF2-40B4-BE49-F238E27FC236}">
                <a16:creationId xmlns:a16="http://schemas.microsoft.com/office/drawing/2014/main" id="{411A47A3-6F71-89A9-0418-E7097145D628}"/>
              </a:ext>
            </a:extLst>
          </p:cNvPr>
          <p:cNvSpPr>
            <a:spLocks noGrp="1"/>
          </p:cNvSpPr>
          <p:nvPr>
            <p:ph idx="1"/>
          </p:nvPr>
        </p:nvSpPr>
        <p:spPr>
          <a:xfrm>
            <a:off x="1056290" y="1135117"/>
            <a:ext cx="10691649" cy="5833242"/>
          </a:xfrm>
        </p:spPr>
        <p:txBody>
          <a:bodyPr>
            <a:normAutofit fontScale="92500" lnSpcReduction="10000"/>
          </a:bodyPr>
          <a:lstStyle/>
          <a:p>
            <a:pPr marL="0" indent="0" algn="r" rtl="1">
              <a:lnSpc>
                <a:spcPct val="160000"/>
              </a:lnSpc>
              <a:spcAft>
                <a:spcPts val="800"/>
              </a:spcAft>
              <a:buNone/>
            </a:pPr>
            <a:r>
              <a:rPr lang="he-IL" sz="1800" dirty="0">
                <a:effectLst/>
                <a:latin typeface="Calibri" panose="020F0502020204030204" pitchFamily="34" charset="0"/>
                <a:ea typeface="Times New Roman" panose="02020603050405020304" pitchFamily="18" charset="0"/>
                <a:cs typeface="Arial" panose="020B0604020202020204" pitchFamily="34" charset="0"/>
              </a:rPr>
              <a:t>במשק ישנם 100 עובדים, כל עובד מסוגל לייצר יחידה אחת ממוצר </a:t>
            </a:r>
            <a:r>
              <a:rPr lang="en-US" sz="1800" dirty="0">
                <a:effectLst/>
                <a:latin typeface="Arial" panose="020B0604020202020204" pitchFamily="34" charset="0"/>
                <a:ea typeface="Times New Roman" panose="02020603050405020304" pitchFamily="18" charset="0"/>
                <a:cs typeface="Arial" panose="020B0604020202020204" pitchFamily="34" charset="0"/>
              </a:rPr>
              <a:t>X</a:t>
            </a:r>
            <a:r>
              <a:rPr lang="he-IL" sz="1800" dirty="0">
                <a:effectLst/>
                <a:latin typeface="Calibri" panose="020F0502020204030204" pitchFamily="34" charset="0"/>
                <a:ea typeface="Times New Roman" panose="02020603050405020304" pitchFamily="18" charset="0"/>
                <a:cs typeface="Arial" panose="020B0604020202020204" pitchFamily="34" charset="0"/>
              </a:rPr>
              <a:t> או 3 יחידות ממוצר </a:t>
            </a:r>
            <a:r>
              <a:rPr lang="en-US" sz="1800" dirty="0">
                <a:effectLst/>
                <a:latin typeface="Arial" panose="020B0604020202020204" pitchFamily="34" charset="0"/>
                <a:ea typeface="Times New Roman" panose="02020603050405020304" pitchFamily="18" charset="0"/>
                <a:cs typeface="Arial" panose="020B0604020202020204" pitchFamily="34" charset="0"/>
              </a:rPr>
              <a:t>Y</a:t>
            </a:r>
            <a:r>
              <a:rPr lang="he-IL" sz="1800" dirty="0">
                <a:effectLst/>
                <a:latin typeface="Calibri" panose="020F0502020204030204" pitchFamily="34" charset="0"/>
                <a:ea typeface="Times New Roman" panose="02020603050405020304" pitchFamily="18" charset="0"/>
                <a:cs typeface="Arial" panose="020B0604020202020204" pitchFamily="34" charset="0"/>
              </a:rPr>
              <a:t>. במצב ההתחלתי בחר המשק לייצר </a:t>
            </a:r>
            <a:r>
              <a:rPr lang="he-IL" sz="1800" b="1" dirty="0">
                <a:effectLst/>
                <a:latin typeface="Calibri" panose="020F0502020204030204" pitchFamily="34" charset="0"/>
                <a:ea typeface="Times New Roman" panose="02020603050405020304" pitchFamily="18" charset="0"/>
                <a:cs typeface="Arial" panose="020B0604020202020204" pitchFamily="34" charset="0"/>
              </a:rPr>
              <a:t>כמויות שוות משני המוצרים. כעת החליט המשק להקטין את הכמות המיוצרת ממוצר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ב- 50 יחידות. </a:t>
            </a:r>
            <a:r>
              <a:rPr lang="he-IL" sz="1800" dirty="0">
                <a:effectLst/>
                <a:latin typeface="Calibri" panose="020F0502020204030204" pitchFamily="34" charset="0"/>
                <a:ea typeface="Times New Roman" panose="02020603050405020304" pitchFamily="18" charset="0"/>
                <a:cs typeface="Arial" panose="020B0604020202020204" pitchFamily="34" charset="0"/>
              </a:rPr>
              <a:t>להלן מספר טענות בנוגע לשינוי זה:</a:t>
            </a:r>
            <a:endParaRPr lang="en-IL" sz="1800" dirty="0">
              <a:effectLst/>
              <a:latin typeface="Calibri" panose="020F0502020204030204" pitchFamily="34" charset="0"/>
              <a:ea typeface="Calibri" panose="020F0502020204030204" pitchFamily="34" charset="0"/>
              <a:cs typeface="Arial" panose="020B0604020202020204" pitchFamily="34" charset="0"/>
            </a:endParaRPr>
          </a:p>
          <a:p>
            <a:pPr marL="0" indent="0" algn="r" rtl="1">
              <a:lnSpc>
                <a:spcPct val="107000"/>
              </a:lnSpc>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טענה א – העלות האלטרנטיבית הממוצעת לייצור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תקטן.</a:t>
            </a:r>
            <a:endParaRPr lang="en-IL" sz="1800" dirty="0">
              <a:effectLst/>
              <a:latin typeface="Calibri" panose="020F0502020204030204" pitchFamily="34" charset="0"/>
              <a:ea typeface="Calibri" panose="020F0502020204030204" pitchFamily="34" charset="0"/>
              <a:cs typeface="Arial" panose="020B0604020202020204" pitchFamily="34" charset="0"/>
            </a:endParaRPr>
          </a:p>
          <a:p>
            <a:pPr marL="0" indent="0" algn="r" rtl="1">
              <a:lnSpc>
                <a:spcPct val="107000"/>
              </a:lnSpc>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טענה ב – העלות האלטרנטיבית הכוללת לייצור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תקטן ב- 150 יחידות </a:t>
            </a:r>
            <a:r>
              <a:rPr lang="en-US" sz="1800" b="1" dirty="0">
                <a:effectLst/>
                <a:latin typeface="Arial" panose="020B0604020202020204" pitchFamily="34" charset="0"/>
                <a:ea typeface="Times New Roman" panose="02020603050405020304" pitchFamily="18" charset="0"/>
                <a:cs typeface="Arial" panose="020B0604020202020204" pitchFamily="34" charset="0"/>
              </a:rPr>
              <a:t>Y</a:t>
            </a:r>
            <a:r>
              <a:rPr lang="he-IL" sz="1800" b="1" dirty="0">
                <a:effectLst/>
                <a:latin typeface="Calibri" panose="020F0502020204030204" pitchFamily="34" charset="0"/>
                <a:ea typeface="Times New Roman" panose="02020603050405020304" pitchFamily="18" charset="0"/>
                <a:cs typeface="Arial" panose="020B0604020202020204" pitchFamily="34" charset="0"/>
              </a:rPr>
              <a:t>.</a:t>
            </a:r>
            <a:endParaRPr lang="en-IL" sz="1800" dirty="0">
              <a:effectLst/>
              <a:latin typeface="Calibri" panose="020F0502020204030204" pitchFamily="34" charset="0"/>
              <a:ea typeface="Calibri" panose="020F0502020204030204" pitchFamily="34" charset="0"/>
              <a:cs typeface="Arial" panose="020B0604020202020204" pitchFamily="34" charset="0"/>
            </a:endParaRPr>
          </a:p>
          <a:p>
            <a:pPr marL="0" indent="0" algn="r" rtl="1">
              <a:lnSpc>
                <a:spcPct val="107000"/>
              </a:lnSpc>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טענה ג – העלות האלטרנטיבית הכוללת לייצור </a:t>
            </a:r>
            <a:r>
              <a:rPr lang="en-US" sz="1800" b="1" dirty="0">
                <a:effectLst/>
                <a:latin typeface="Arial" panose="020B0604020202020204" pitchFamily="34" charset="0"/>
                <a:ea typeface="Times New Roman" panose="02020603050405020304" pitchFamily="18" charset="0"/>
                <a:cs typeface="Arial" panose="020B0604020202020204" pitchFamily="34" charset="0"/>
              </a:rPr>
              <a:t>Y</a:t>
            </a:r>
            <a:r>
              <a:rPr lang="he-IL" sz="1800" b="1" dirty="0">
                <a:effectLst/>
                <a:latin typeface="Calibri" panose="020F0502020204030204" pitchFamily="34" charset="0"/>
                <a:ea typeface="Times New Roman" panose="02020603050405020304" pitchFamily="18" charset="0"/>
                <a:cs typeface="Arial" panose="020B0604020202020204" pitchFamily="34" charset="0"/>
              </a:rPr>
              <a:t> תקטן ב- 50 יחידות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a:t>
            </a:r>
            <a:endParaRPr lang="en-IL" sz="1800" dirty="0">
              <a:effectLst/>
              <a:latin typeface="Calibri" panose="020F0502020204030204" pitchFamily="34" charset="0"/>
              <a:ea typeface="Calibri" panose="020F0502020204030204" pitchFamily="34" charset="0"/>
              <a:cs typeface="Arial" panose="020B0604020202020204" pitchFamily="34" charset="0"/>
            </a:endParaRPr>
          </a:p>
          <a:p>
            <a:pPr marL="0" indent="0" algn="r" rtl="1">
              <a:lnSpc>
                <a:spcPct val="107000"/>
              </a:lnSpc>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סמנו את נטענה הנכונה:</a:t>
            </a:r>
            <a:endParaRPr lang="en-IL"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רק טענה א נכונה.</a:t>
            </a:r>
            <a:endParaRPr lang="en-IL" sz="1800" dirty="0">
              <a:effectLst/>
              <a:latin typeface="Times New Roman" panose="02020603050405020304" pitchFamily="18" charset="0"/>
              <a:ea typeface="Times New Roman" panose="02020603050405020304" pitchFamily="18" charset="0"/>
            </a:endParaRPr>
          </a:p>
          <a:p>
            <a:pPr marL="342900" indent="-342900" algn="r" rtl="1">
              <a:lnSpc>
                <a:spcPct val="150000"/>
              </a:lnSpc>
              <a:buFont typeface="+mj-lt"/>
              <a:buAutoNum type="arabicPeriod"/>
            </a:pPr>
            <a:r>
              <a:rPr lang="he-IL" sz="1800" dirty="0">
                <a:latin typeface="Times New Roman" panose="02020603050405020304" pitchFamily="18" charset="0"/>
                <a:ea typeface="Times New Roman" panose="02020603050405020304" pitchFamily="18" charset="0"/>
              </a:rPr>
              <a:t>רק טענה ב נכונה.</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רק טענה ג נכונה.</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רק טענות א ו- ג נכונות.</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כל התשובות האחרות לא נכונות.</a:t>
            </a:r>
            <a:endParaRPr lang="en-IL" sz="1800" dirty="0">
              <a:effectLst/>
              <a:latin typeface="Times New Roman" panose="02020603050405020304" pitchFamily="18" charset="0"/>
              <a:ea typeface="Times New Roman" panose="02020603050405020304" pitchFamily="18" charset="0"/>
            </a:endParaRPr>
          </a:p>
        </p:txBody>
      </p:sp>
      <p:sp>
        <p:nvSpPr>
          <p:cNvPr id="5" name="TextBox 4">
            <a:extLst>
              <a:ext uri="{FF2B5EF4-FFF2-40B4-BE49-F238E27FC236}">
                <a16:creationId xmlns:a16="http://schemas.microsoft.com/office/drawing/2014/main" id="{4FDB2E75-CAF7-A07B-DA93-DBEA10D04AE9}"/>
              </a:ext>
            </a:extLst>
          </p:cNvPr>
          <p:cNvSpPr txBox="1"/>
          <p:nvPr/>
        </p:nvSpPr>
        <p:spPr>
          <a:xfrm>
            <a:off x="428296" y="414282"/>
            <a:ext cx="8029903" cy="373757"/>
          </a:xfrm>
          <a:prstGeom prst="rect">
            <a:avLst/>
          </a:prstGeom>
          <a:noFill/>
        </p:spPr>
        <p:txBody>
          <a:bodyPr wrap="square">
            <a:spAutoFit/>
          </a:bodyPr>
          <a:lstStyle/>
          <a:p>
            <a:pPr marL="0" indent="0" algn="r" rtl="1">
              <a:lnSpc>
                <a:spcPct val="107000"/>
              </a:lnSpc>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משק מייצר שני מוצרים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ו</a:t>
            </a:r>
            <a:r>
              <a:rPr lang="en-US" sz="1800" b="1" dirty="0">
                <a:effectLst/>
                <a:latin typeface="Arial" panose="020B0604020202020204" pitchFamily="34" charset="0"/>
                <a:ea typeface="Times New Roman" panose="02020603050405020304" pitchFamily="18" charset="0"/>
                <a:cs typeface="Arial" panose="020B0604020202020204" pitchFamily="34" charset="0"/>
              </a:rPr>
              <a:t>Y</a:t>
            </a:r>
            <a:r>
              <a:rPr lang="he-IL" sz="1800" b="1" dirty="0">
                <a:effectLst/>
                <a:latin typeface="Calibri" panose="020F0502020204030204" pitchFamily="34" charset="0"/>
                <a:ea typeface="Times New Roman" panose="02020603050405020304" pitchFamily="18" charset="0"/>
                <a:cs typeface="Arial" panose="020B0604020202020204" pitchFamily="34" charset="0"/>
              </a:rPr>
              <a:t>.</a:t>
            </a:r>
            <a:endParaRPr lang="en-IL" sz="18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1812126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494EE-F673-5036-0509-D799863495BC}"/>
              </a:ext>
            </a:extLst>
          </p:cNvPr>
          <p:cNvSpPr>
            <a:spLocks noGrp="1"/>
          </p:cNvSpPr>
          <p:nvPr>
            <p:ph type="title"/>
          </p:nvPr>
        </p:nvSpPr>
        <p:spPr>
          <a:xfrm>
            <a:off x="8308427" y="414282"/>
            <a:ext cx="3660228" cy="533509"/>
          </a:xfrm>
        </p:spPr>
        <p:txBody>
          <a:bodyPr>
            <a:normAutofit fontScale="90000"/>
          </a:bodyPr>
          <a:lstStyle/>
          <a:p>
            <a:pPr algn="r" rtl="1"/>
            <a:r>
              <a:rPr lang="he-IL" dirty="0"/>
              <a:t>שאלה 6 מהבחינה</a:t>
            </a:r>
            <a:endParaRPr lang="en-IL" dirty="0"/>
          </a:p>
        </p:txBody>
      </p:sp>
      <p:sp>
        <p:nvSpPr>
          <p:cNvPr id="3" name="Content Placeholder 2">
            <a:extLst>
              <a:ext uri="{FF2B5EF4-FFF2-40B4-BE49-F238E27FC236}">
                <a16:creationId xmlns:a16="http://schemas.microsoft.com/office/drawing/2014/main" id="{411A47A3-6F71-89A9-0418-E7097145D628}"/>
              </a:ext>
            </a:extLst>
          </p:cNvPr>
          <p:cNvSpPr>
            <a:spLocks noGrp="1"/>
          </p:cNvSpPr>
          <p:nvPr>
            <p:ph idx="1"/>
          </p:nvPr>
        </p:nvSpPr>
        <p:spPr>
          <a:xfrm>
            <a:off x="1056290" y="1135117"/>
            <a:ext cx="10691649" cy="5833242"/>
          </a:xfrm>
        </p:spPr>
        <p:txBody>
          <a:bodyPr>
            <a:normAutofit fontScale="92500" lnSpcReduction="10000"/>
          </a:bodyPr>
          <a:lstStyle/>
          <a:p>
            <a:pPr marL="0" indent="0" algn="r" rtl="1">
              <a:lnSpc>
                <a:spcPct val="160000"/>
              </a:lnSpc>
              <a:spcAft>
                <a:spcPts val="800"/>
              </a:spcAft>
              <a:buNone/>
            </a:pPr>
            <a:r>
              <a:rPr lang="he-IL" sz="1800" dirty="0">
                <a:effectLst/>
                <a:latin typeface="Calibri" panose="020F0502020204030204" pitchFamily="34" charset="0"/>
                <a:ea typeface="Times New Roman" panose="02020603050405020304" pitchFamily="18" charset="0"/>
                <a:cs typeface="Arial" panose="020B0604020202020204" pitchFamily="34" charset="0"/>
              </a:rPr>
              <a:t>במשק ישנם 100 עובדים, כל עובד מסוגל לייצר יחידה אחת ממוצר </a:t>
            </a:r>
            <a:r>
              <a:rPr lang="en-US" sz="1800" dirty="0">
                <a:effectLst/>
                <a:latin typeface="Arial" panose="020B0604020202020204" pitchFamily="34" charset="0"/>
                <a:ea typeface="Times New Roman" panose="02020603050405020304" pitchFamily="18" charset="0"/>
                <a:cs typeface="Arial" panose="020B0604020202020204" pitchFamily="34" charset="0"/>
              </a:rPr>
              <a:t>X</a:t>
            </a:r>
            <a:r>
              <a:rPr lang="he-IL" sz="1800" dirty="0">
                <a:effectLst/>
                <a:latin typeface="Calibri" panose="020F0502020204030204" pitchFamily="34" charset="0"/>
                <a:ea typeface="Times New Roman" panose="02020603050405020304" pitchFamily="18" charset="0"/>
                <a:cs typeface="Arial" panose="020B0604020202020204" pitchFamily="34" charset="0"/>
              </a:rPr>
              <a:t> או 3 יחידות ממוצר </a:t>
            </a:r>
            <a:r>
              <a:rPr lang="en-US" sz="1800" dirty="0">
                <a:effectLst/>
                <a:latin typeface="Arial" panose="020B0604020202020204" pitchFamily="34" charset="0"/>
                <a:ea typeface="Times New Roman" panose="02020603050405020304" pitchFamily="18" charset="0"/>
                <a:cs typeface="Arial" panose="020B0604020202020204" pitchFamily="34" charset="0"/>
              </a:rPr>
              <a:t>Y</a:t>
            </a:r>
            <a:r>
              <a:rPr lang="he-IL" sz="1800" dirty="0">
                <a:effectLst/>
                <a:latin typeface="Calibri" panose="020F0502020204030204" pitchFamily="34" charset="0"/>
                <a:ea typeface="Times New Roman" panose="02020603050405020304" pitchFamily="18" charset="0"/>
                <a:cs typeface="Arial" panose="020B0604020202020204" pitchFamily="34" charset="0"/>
              </a:rPr>
              <a:t>. במצב ההתחלתי בחר המשק לייצר </a:t>
            </a:r>
            <a:r>
              <a:rPr lang="he-IL" sz="1800" b="1" dirty="0">
                <a:effectLst/>
                <a:latin typeface="Calibri" panose="020F0502020204030204" pitchFamily="34" charset="0"/>
                <a:ea typeface="Times New Roman" panose="02020603050405020304" pitchFamily="18" charset="0"/>
                <a:cs typeface="Arial" panose="020B0604020202020204" pitchFamily="34" charset="0"/>
              </a:rPr>
              <a:t>כמויות שוות משני המוצרים. כעת החליט המשק להקטין את הכמות המיוצרת ממוצר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ב- 50 יחידות. </a:t>
            </a:r>
            <a:r>
              <a:rPr lang="he-IL" sz="1800" dirty="0">
                <a:effectLst/>
                <a:latin typeface="Calibri" panose="020F0502020204030204" pitchFamily="34" charset="0"/>
                <a:ea typeface="Times New Roman" panose="02020603050405020304" pitchFamily="18" charset="0"/>
                <a:cs typeface="Arial" panose="020B0604020202020204" pitchFamily="34" charset="0"/>
              </a:rPr>
              <a:t>להלן מספר טענות בנוגע לשינוי זה:</a:t>
            </a:r>
            <a:endParaRPr lang="en-IL" sz="1800" dirty="0">
              <a:effectLst/>
              <a:latin typeface="Calibri" panose="020F0502020204030204" pitchFamily="34" charset="0"/>
              <a:ea typeface="Calibri" panose="020F0502020204030204" pitchFamily="34" charset="0"/>
              <a:cs typeface="Arial" panose="020B0604020202020204" pitchFamily="34" charset="0"/>
            </a:endParaRPr>
          </a:p>
          <a:p>
            <a:pPr marL="0" indent="0" algn="r" rtl="1">
              <a:lnSpc>
                <a:spcPct val="107000"/>
              </a:lnSpc>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טענה א – העלות האלטרנטיבית הממוצעת לייצור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תקטן.</a:t>
            </a:r>
            <a:endParaRPr lang="en-IL" sz="1800" dirty="0">
              <a:effectLst/>
              <a:latin typeface="Calibri" panose="020F0502020204030204" pitchFamily="34" charset="0"/>
              <a:ea typeface="Calibri" panose="020F0502020204030204" pitchFamily="34" charset="0"/>
              <a:cs typeface="Arial" panose="020B0604020202020204" pitchFamily="34" charset="0"/>
            </a:endParaRPr>
          </a:p>
          <a:p>
            <a:pPr marL="0" indent="0" algn="r" rtl="1">
              <a:lnSpc>
                <a:spcPct val="107000"/>
              </a:lnSpc>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טענה ב – העלות האלטרנטיבית הכוללת לייצור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תקטן ב- 150 יחידות </a:t>
            </a:r>
            <a:r>
              <a:rPr lang="en-US" sz="1800" b="1" dirty="0">
                <a:effectLst/>
                <a:latin typeface="Arial" panose="020B0604020202020204" pitchFamily="34" charset="0"/>
                <a:ea typeface="Times New Roman" panose="02020603050405020304" pitchFamily="18" charset="0"/>
                <a:cs typeface="Arial" panose="020B0604020202020204" pitchFamily="34" charset="0"/>
              </a:rPr>
              <a:t>Y</a:t>
            </a:r>
            <a:r>
              <a:rPr lang="he-IL" sz="1800" b="1" dirty="0">
                <a:effectLst/>
                <a:latin typeface="Calibri" panose="020F0502020204030204" pitchFamily="34" charset="0"/>
                <a:ea typeface="Times New Roman" panose="02020603050405020304" pitchFamily="18" charset="0"/>
                <a:cs typeface="Arial" panose="020B0604020202020204" pitchFamily="34" charset="0"/>
              </a:rPr>
              <a:t>.</a:t>
            </a:r>
            <a:endParaRPr lang="en-IL" sz="1800" dirty="0">
              <a:effectLst/>
              <a:latin typeface="Calibri" panose="020F0502020204030204" pitchFamily="34" charset="0"/>
              <a:ea typeface="Calibri" panose="020F0502020204030204" pitchFamily="34" charset="0"/>
              <a:cs typeface="Arial" panose="020B0604020202020204" pitchFamily="34" charset="0"/>
            </a:endParaRPr>
          </a:p>
          <a:p>
            <a:pPr marL="0" indent="0" algn="r" rtl="1">
              <a:lnSpc>
                <a:spcPct val="107000"/>
              </a:lnSpc>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טענה ג – העלות האלטרנטיבית הכוללת לייצור </a:t>
            </a:r>
            <a:r>
              <a:rPr lang="en-US" sz="1800" b="1" dirty="0">
                <a:effectLst/>
                <a:latin typeface="Arial" panose="020B0604020202020204" pitchFamily="34" charset="0"/>
                <a:ea typeface="Times New Roman" panose="02020603050405020304" pitchFamily="18" charset="0"/>
                <a:cs typeface="Arial" panose="020B0604020202020204" pitchFamily="34" charset="0"/>
              </a:rPr>
              <a:t>Y</a:t>
            </a:r>
            <a:r>
              <a:rPr lang="he-IL" sz="1800" b="1" dirty="0">
                <a:effectLst/>
                <a:latin typeface="Calibri" panose="020F0502020204030204" pitchFamily="34" charset="0"/>
                <a:ea typeface="Times New Roman" panose="02020603050405020304" pitchFamily="18" charset="0"/>
                <a:cs typeface="Arial" panose="020B0604020202020204" pitchFamily="34" charset="0"/>
              </a:rPr>
              <a:t> תקטן ב- 50 יחידות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a:t>
            </a:r>
            <a:endParaRPr lang="en-IL" sz="1800" dirty="0">
              <a:effectLst/>
              <a:latin typeface="Calibri" panose="020F0502020204030204" pitchFamily="34" charset="0"/>
              <a:ea typeface="Calibri" panose="020F0502020204030204" pitchFamily="34" charset="0"/>
              <a:cs typeface="Arial" panose="020B0604020202020204" pitchFamily="34" charset="0"/>
            </a:endParaRPr>
          </a:p>
          <a:p>
            <a:pPr marL="0" indent="0" algn="r" rtl="1">
              <a:lnSpc>
                <a:spcPct val="107000"/>
              </a:lnSpc>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סמנו את נטענה הנכונה:</a:t>
            </a:r>
            <a:endParaRPr lang="en-IL"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רק טענה א נכונה.</a:t>
            </a:r>
            <a:endParaRPr lang="en-IL" sz="1800" dirty="0">
              <a:effectLst/>
              <a:latin typeface="Times New Roman" panose="02020603050405020304" pitchFamily="18" charset="0"/>
              <a:ea typeface="Times New Roman" panose="02020603050405020304" pitchFamily="18" charset="0"/>
            </a:endParaRPr>
          </a:p>
          <a:p>
            <a:pPr marL="342900" indent="-342900" algn="r" rtl="1">
              <a:lnSpc>
                <a:spcPct val="150000"/>
              </a:lnSpc>
              <a:buFont typeface="+mj-lt"/>
              <a:buAutoNum type="arabicPeriod"/>
            </a:pPr>
            <a:r>
              <a:rPr lang="he-IL" sz="1800" dirty="0">
                <a:highlight>
                  <a:srgbClr val="FFFF00"/>
                </a:highlight>
                <a:latin typeface="Times New Roman" panose="02020603050405020304" pitchFamily="18" charset="0"/>
                <a:ea typeface="Times New Roman" panose="02020603050405020304" pitchFamily="18" charset="0"/>
              </a:rPr>
              <a:t>רק טענה ב נכונה.</a:t>
            </a:r>
            <a:endParaRPr lang="en-IL" sz="1800" dirty="0">
              <a:effectLst/>
              <a:highlight>
                <a:srgbClr val="FFFF00"/>
              </a:highligh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רק טענה ג נכונה.</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רק טענות א ו- ג נכונות.</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כל התשובות האחרות לא נכונות.</a:t>
            </a:r>
            <a:endParaRPr lang="en-IL" sz="1800" dirty="0">
              <a:effectLst/>
              <a:latin typeface="Times New Roman" panose="02020603050405020304" pitchFamily="18" charset="0"/>
              <a:ea typeface="Times New Roman" panose="02020603050405020304" pitchFamily="18" charset="0"/>
            </a:endParaRPr>
          </a:p>
        </p:txBody>
      </p:sp>
      <p:sp>
        <p:nvSpPr>
          <p:cNvPr id="5" name="TextBox 4">
            <a:extLst>
              <a:ext uri="{FF2B5EF4-FFF2-40B4-BE49-F238E27FC236}">
                <a16:creationId xmlns:a16="http://schemas.microsoft.com/office/drawing/2014/main" id="{4FDB2E75-CAF7-A07B-DA93-DBEA10D04AE9}"/>
              </a:ext>
            </a:extLst>
          </p:cNvPr>
          <p:cNvSpPr txBox="1"/>
          <p:nvPr/>
        </p:nvSpPr>
        <p:spPr>
          <a:xfrm>
            <a:off x="428296" y="414282"/>
            <a:ext cx="8029903" cy="373757"/>
          </a:xfrm>
          <a:prstGeom prst="rect">
            <a:avLst/>
          </a:prstGeom>
          <a:noFill/>
        </p:spPr>
        <p:txBody>
          <a:bodyPr wrap="square">
            <a:spAutoFit/>
          </a:bodyPr>
          <a:lstStyle/>
          <a:p>
            <a:pPr marL="0" indent="0" algn="r" rtl="1">
              <a:lnSpc>
                <a:spcPct val="107000"/>
              </a:lnSpc>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משק מייצר שני מוצרים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ו</a:t>
            </a:r>
            <a:r>
              <a:rPr lang="en-US" sz="1800" b="1" dirty="0">
                <a:effectLst/>
                <a:latin typeface="Arial" panose="020B0604020202020204" pitchFamily="34" charset="0"/>
                <a:ea typeface="Times New Roman" panose="02020603050405020304" pitchFamily="18" charset="0"/>
                <a:cs typeface="Arial" panose="020B0604020202020204" pitchFamily="34" charset="0"/>
              </a:rPr>
              <a:t>Y</a:t>
            </a:r>
            <a:r>
              <a:rPr lang="he-IL" sz="1800" b="1" dirty="0">
                <a:effectLst/>
                <a:latin typeface="Calibri" panose="020F0502020204030204" pitchFamily="34" charset="0"/>
                <a:ea typeface="Times New Roman" panose="02020603050405020304" pitchFamily="18" charset="0"/>
                <a:cs typeface="Arial" panose="020B0604020202020204" pitchFamily="34" charset="0"/>
              </a:rPr>
              <a:t>.</a:t>
            </a:r>
            <a:endParaRPr lang="en-IL" sz="18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2627326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494EE-F673-5036-0509-D799863495BC}"/>
              </a:ext>
            </a:extLst>
          </p:cNvPr>
          <p:cNvSpPr>
            <a:spLocks noGrp="1"/>
          </p:cNvSpPr>
          <p:nvPr>
            <p:ph type="title"/>
          </p:nvPr>
        </p:nvSpPr>
        <p:spPr>
          <a:xfrm>
            <a:off x="8308427" y="414282"/>
            <a:ext cx="3660228" cy="533509"/>
          </a:xfrm>
        </p:spPr>
        <p:txBody>
          <a:bodyPr>
            <a:normAutofit fontScale="90000"/>
          </a:bodyPr>
          <a:lstStyle/>
          <a:p>
            <a:pPr algn="r" rtl="1"/>
            <a:r>
              <a:rPr lang="he-IL" dirty="0"/>
              <a:t>שאלה 5 מהבחינה</a:t>
            </a:r>
            <a:endParaRPr lang="en-IL" dirty="0"/>
          </a:p>
        </p:txBody>
      </p:sp>
      <p:sp>
        <p:nvSpPr>
          <p:cNvPr id="3" name="Content Placeholder 2">
            <a:extLst>
              <a:ext uri="{FF2B5EF4-FFF2-40B4-BE49-F238E27FC236}">
                <a16:creationId xmlns:a16="http://schemas.microsoft.com/office/drawing/2014/main" id="{411A47A3-6F71-89A9-0418-E7097145D628}"/>
              </a:ext>
            </a:extLst>
          </p:cNvPr>
          <p:cNvSpPr>
            <a:spLocks noGrp="1"/>
          </p:cNvSpPr>
          <p:nvPr>
            <p:ph idx="1"/>
          </p:nvPr>
        </p:nvSpPr>
        <p:spPr>
          <a:xfrm>
            <a:off x="1056290" y="1135117"/>
            <a:ext cx="10691649" cy="3794692"/>
          </a:xfrm>
        </p:spPr>
        <p:txBody>
          <a:bodyPr>
            <a:normAutofit/>
          </a:bodyPr>
          <a:lstStyle/>
          <a:p>
            <a:pPr marL="0" indent="0" algn="r" rtl="1">
              <a:lnSpc>
                <a:spcPct val="107000"/>
              </a:lnSpc>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במשק פתוח המייצר ביעילות, ישנם 15 עובדים שכל אחד מהם מסוגל לייצר 10 יחידות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או 7 יחידות </a:t>
            </a:r>
            <a:r>
              <a:rPr lang="en-US" sz="1800" b="1" dirty="0">
                <a:effectLst/>
                <a:latin typeface="Arial" panose="020B0604020202020204" pitchFamily="34" charset="0"/>
                <a:ea typeface="Times New Roman" panose="02020603050405020304" pitchFamily="18" charset="0"/>
                <a:cs typeface="Arial" panose="020B0604020202020204" pitchFamily="34" charset="0"/>
              </a:rPr>
              <a:t>Y</a:t>
            </a:r>
            <a:r>
              <a:rPr lang="he-IL" sz="1800" b="1" dirty="0">
                <a:effectLst/>
                <a:latin typeface="Calibri" panose="020F0502020204030204" pitchFamily="34" charset="0"/>
                <a:ea typeface="Times New Roman" panose="02020603050405020304" pitchFamily="18" charset="0"/>
                <a:cs typeface="Arial" panose="020B0604020202020204" pitchFamily="34" charset="0"/>
              </a:rPr>
              <a:t> ביום. אם ידוע כי מחיר יחידת </a:t>
            </a:r>
            <a:r>
              <a:rPr lang="en-US" sz="1800" b="1" dirty="0">
                <a:effectLst/>
                <a:latin typeface="Arial" panose="020B0604020202020204" pitchFamily="34" charset="0"/>
                <a:ea typeface="Times New Roman" panose="02020603050405020304" pitchFamily="18" charset="0"/>
                <a:cs typeface="Arial" panose="020B0604020202020204" pitchFamily="34" charset="0"/>
              </a:rPr>
              <a:t>Y</a:t>
            </a:r>
            <a:r>
              <a:rPr lang="he-IL" sz="1800" b="1" dirty="0">
                <a:effectLst/>
                <a:latin typeface="Calibri" panose="020F0502020204030204" pitchFamily="34" charset="0"/>
                <a:ea typeface="Times New Roman" panose="02020603050405020304" pitchFamily="18" charset="0"/>
                <a:cs typeface="Arial" panose="020B0604020202020204" pitchFamily="34" charset="0"/>
              </a:rPr>
              <a:t> הינה 10$ והמשק מעוניין לצרוך רק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איזה טענה נכונה? </a:t>
            </a:r>
            <a:endParaRPr lang="en-IL"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r" rtl="1">
              <a:lnSpc>
                <a:spcPct val="150000"/>
              </a:lnSpc>
              <a:buFont typeface="+mj-lt"/>
              <a:buAutoNum type="arabicPeriod"/>
            </a:pPr>
            <a:r>
              <a:rPr lang="he-IL" sz="1800" dirty="0">
                <a:latin typeface="Times New Roman" panose="02020603050405020304" pitchFamily="18" charset="0"/>
                <a:ea typeface="Times New Roman" panose="02020603050405020304" pitchFamily="18" charset="0"/>
              </a:rPr>
              <a:t>אם מחיר יחידת </a:t>
            </a:r>
            <a:r>
              <a:rPr lang="en-US" sz="1800" dirty="0">
                <a:latin typeface="Arial" panose="020B0604020202020204" pitchFamily="34" charset="0"/>
                <a:ea typeface="Times New Roman" panose="02020603050405020304" pitchFamily="18" charset="0"/>
              </a:rPr>
              <a:t>X</a:t>
            </a:r>
            <a:r>
              <a:rPr lang="he-IL" sz="1800" dirty="0">
                <a:latin typeface="Times New Roman" panose="02020603050405020304" pitchFamily="18" charset="0"/>
                <a:ea typeface="Times New Roman" panose="02020603050405020304" pitchFamily="18" charset="0"/>
              </a:rPr>
              <a:t> הינו 5$ המשק יוכל לצרוך 200 יחידות </a:t>
            </a:r>
            <a:r>
              <a:rPr lang="en-US" sz="1800" dirty="0">
                <a:latin typeface="Arial" panose="020B0604020202020204" pitchFamily="34" charset="0"/>
                <a:ea typeface="Times New Roman" panose="02020603050405020304" pitchFamily="18" charset="0"/>
              </a:rPr>
              <a:t>X</a:t>
            </a:r>
            <a:r>
              <a:rPr lang="he-IL" sz="1800" dirty="0">
                <a:latin typeface="Times New Roman" panose="02020603050405020304" pitchFamily="18" charset="0"/>
                <a:ea typeface="Times New Roman" panose="02020603050405020304" pitchFamily="18" charset="0"/>
              </a:rPr>
              <a:t> . </a:t>
            </a:r>
            <a:endParaRPr lang="en-IL" sz="1800" dirty="0">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latin typeface="Times New Roman" panose="02020603050405020304" pitchFamily="18" charset="0"/>
                <a:ea typeface="Times New Roman" panose="02020603050405020304" pitchFamily="18" charset="0"/>
              </a:rPr>
              <a:t>אם מחיר יחידת </a:t>
            </a:r>
            <a:r>
              <a:rPr lang="en-US" sz="1800" dirty="0">
                <a:latin typeface="Arial" panose="020B0604020202020204" pitchFamily="34" charset="0"/>
                <a:ea typeface="Times New Roman" panose="02020603050405020304" pitchFamily="18" charset="0"/>
              </a:rPr>
              <a:t>X</a:t>
            </a:r>
            <a:r>
              <a:rPr lang="he-IL" sz="1800" dirty="0">
                <a:latin typeface="Times New Roman" panose="02020603050405020304" pitchFamily="18" charset="0"/>
                <a:ea typeface="Times New Roman" panose="02020603050405020304" pitchFamily="18" charset="0"/>
              </a:rPr>
              <a:t> הינו 12$ המשק יוכל לצרוך 87.5 יחידות </a:t>
            </a:r>
            <a:r>
              <a:rPr lang="en-US" sz="1800" dirty="0">
                <a:latin typeface="Arial" panose="020B0604020202020204" pitchFamily="34" charset="0"/>
                <a:ea typeface="Times New Roman" panose="02020603050405020304" pitchFamily="18" charset="0"/>
              </a:rPr>
              <a:t>X</a:t>
            </a:r>
            <a:r>
              <a:rPr lang="he-IL" sz="1800" dirty="0">
                <a:latin typeface="Times New Roman" panose="02020603050405020304" pitchFamily="18" charset="0"/>
                <a:ea typeface="Times New Roman" panose="02020603050405020304" pitchFamily="18" charset="0"/>
              </a:rPr>
              <a:t>.</a:t>
            </a:r>
            <a:endParaRPr lang="en-IL" sz="1800" dirty="0">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latin typeface="Times New Roman" panose="02020603050405020304" pitchFamily="18" charset="0"/>
                <a:ea typeface="Times New Roman" panose="02020603050405020304" pitchFamily="18" charset="0"/>
              </a:rPr>
              <a:t>אין סיבה שהמשק יצרוך רק </a:t>
            </a:r>
            <a:r>
              <a:rPr lang="en-US" sz="1800" dirty="0">
                <a:latin typeface="Arial" panose="020B0604020202020204" pitchFamily="34" charset="0"/>
                <a:ea typeface="Times New Roman" panose="02020603050405020304" pitchFamily="18" charset="0"/>
              </a:rPr>
              <a:t>X</a:t>
            </a:r>
            <a:r>
              <a:rPr lang="he-IL" sz="1800" dirty="0">
                <a:latin typeface="Times New Roman" panose="02020603050405020304" pitchFamily="18" charset="0"/>
                <a:ea typeface="Times New Roman" panose="02020603050405020304" pitchFamily="18" charset="0"/>
              </a:rPr>
              <a:t> אם ניתן לייצר את שני המוצרים.</a:t>
            </a:r>
            <a:endParaRPr lang="en-IL" sz="1800" dirty="0">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אם מחיר יחידת </a:t>
            </a:r>
            <a:r>
              <a:rPr lang="en-US" sz="1800" dirty="0">
                <a:effectLst/>
                <a:latin typeface="Arial" panose="020B0604020202020204" pitchFamily="34" charset="0"/>
                <a:ea typeface="Times New Roman" panose="02020603050405020304" pitchFamily="18" charset="0"/>
              </a:rPr>
              <a:t>X</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גדול מ- 7$ המשק יכול לצרוך 150 יחידות </a:t>
            </a:r>
            <a:r>
              <a:rPr lang="en-US" sz="1800" dirty="0">
                <a:effectLst/>
                <a:latin typeface="Arial" panose="020B0604020202020204" pitchFamily="34" charset="0"/>
                <a:ea typeface="Times New Roman" panose="02020603050405020304" pitchFamily="18" charset="0"/>
              </a:rPr>
              <a:t>X</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כל התשובות האחרות אינן נכונות.</a:t>
            </a:r>
            <a:endParaRPr lang="en-IL"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4201692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494EE-F673-5036-0509-D799863495BC}"/>
              </a:ext>
            </a:extLst>
          </p:cNvPr>
          <p:cNvSpPr>
            <a:spLocks noGrp="1"/>
          </p:cNvSpPr>
          <p:nvPr>
            <p:ph type="title"/>
          </p:nvPr>
        </p:nvSpPr>
        <p:spPr>
          <a:xfrm>
            <a:off x="8308427" y="414282"/>
            <a:ext cx="3660228" cy="533509"/>
          </a:xfrm>
        </p:spPr>
        <p:txBody>
          <a:bodyPr>
            <a:normAutofit fontScale="90000"/>
          </a:bodyPr>
          <a:lstStyle/>
          <a:p>
            <a:pPr algn="r" rtl="1"/>
            <a:r>
              <a:rPr lang="he-IL" dirty="0"/>
              <a:t>שאלה 5 מהבחינה</a:t>
            </a:r>
            <a:endParaRPr lang="en-IL" dirty="0"/>
          </a:p>
        </p:txBody>
      </p:sp>
      <p:sp>
        <p:nvSpPr>
          <p:cNvPr id="3" name="Content Placeholder 2">
            <a:extLst>
              <a:ext uri="{FF2B5EF4-FFF2-40B4-BE49-F238E27FC236}">
                <a16:creationId xmlns:a16="http://schemas.microsoft.com/office/drawing/2014/main" id="{411A47A3-6F71-89A9-0418-E7097145D628}"/>
              </a:ext>
            </a:extLst>
          </p:cNvPr>
          <p:cNvSpPr>
            <a:spLocks noGrp="1"/>
          </p:cNvSpPr>
          <p:nvPr>
            <p:ph idx="1"/>
          </p:nvPr>
        </p:nvSpPr>
        <p:spPr>
          <a:xfrm>
            <a:off x="1056290" y="1135117"/>
            <a:ext cx="10691649" cy="3794692"/>
          </a:xfrm>
        </p:spPr>
        <p:txBody>
          <a:bodyPr>
            <a:normAutofit/>
          </a:bodyPr>
          <a:lstStyle/>
          <a:p>
            <a:pPr marL="0" indent="0" algn="r" rtl="1">
              <a:lnSpc>
                <a:spcPct val="107000"/>
              </a:lnSpc>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במשק פתוח המייצר ביעילות, ישנם 15 עובדים שכל אחד מהם מסוגל לייצר 10 יחידות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או 7 יחידות </a:t>
            </a:r>
            <a:r>
              <a:rPr lang="en-US" sz="1800" b="1" dirty="0">
                <a:effectLst/>
                <a:latin typeface="Arial" panose="020B0604020202020204" pitchFamily="34" charset="0"/>
                <a:ea typeface="Times New Roman" panose="02020603050405020304" pitchFamily="18" charset="0"/>
                <a:cs typeface="Arial" panose="020B0604020202020204" pitchFamily="34" charset="0"/>
              </a:rPr>
              <a:t>Y</a:t>
            </a:r>
            <a:r>
              <a:rPr lang="he-IL" sz="1800" b="1" dirty="0">
                <a:effectLst/>
                <a:latin typeface="Calibri" panose="020F0502020204030204" pitchFamily="34" charset="0"/>
                <a:ea typeface="Times New Roman" panose="02020603050405020304" pitchFamily="18" charset="0"/>
                <a:cs typeface="Arial" panose="020B0604020202020204" pitchFamily="34" charset="0"/>
              </a:rPr>
              <a:t> ביום. אם ידוע כי מחיר יחידת </a:t>
            </a:r>
            <a:r>
              <a:rPr lang="en-US" sz="1800" b="1" dirty="0">
                <a:effectLst/>
                <a:latin typeface="Arial" panose="020B0604020202020204" pitchFamily="34" charset="0"/>
                <a:ea typeface="Times New Roman" panose="02020603050405020304" pitchFamily="18" charset="0"/>
                <a:cs typeface="Arial" panose="020B0604020202020204" pitchFamily="34" charset="0"/>
              </a:rPr>
              <a:t>Y</a:t>
            </a:r>
            <a:r>
              <a:rPr lang="he-IL" sz="1800" b="1" dirty="0">
                <a:effectLst/>
                <a:latin typeface="Calibri" panose="020F0502020204030204" pitchFamily="34" charset="0"/>
                <a:ea typeface="Times New Roman" panose="02020603050405020304" pitchFamily="18" charset="0"/>
                <a:cs typeface="Arial" panose="020B0604020202020204" pitchFamily="34" charset="0"/>
              </a:rPr>
              <a:t> הינה 10$ והמשק מעוניין לצרוך רק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איזה טענה נכונה? </a:t>
            </a:r>
            <a:endParaRPr lang="en-IL"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r" rtl="1">
              <a:lnSpc>
                <a:spcPct val="150000"/>
              </a:lnSpc>
              <a:buFont typeface="+mj-lt"/>
              <a:buAutoNum type="arabicPeriod"/>
            </a:pPr>
            <a:r>
              <a:rPr lang="he-IL" sz="1800" dirty="0">
                <a:latin typeface="Times New Roman" panose="02020603050405020304" pitchFamily="18" charset="0"/>
                <a:ea typeface="Times New Roman" panose="02020603050405020304" pitchFamily="18" charset="0"/>
              </a:rPr>
              <a:t>אם מחיר יחידת </a:t>
            </a:r>
            <a:r>
              <a:rPr lang="en-US" sz="1800" dirty="0">
                <a:latin typeface="Arial" panose="020B0604020202020204" pitchFamily="34" charset="0"/>
                <a:ea typeface="Times New Roman" panose="02020603050405020304" pitchFamily="18" charset="0"/>
              </a:rPr>
              <a:t>X</a:t>
            </a:r>
            <a:r>
              <a:rPr lang="he-IL" sz="1800" dirty="0">
                <a:latin typeface="Times New Roman" panose="02020603050405020304" pitchFamily="18" charset="0"/>
                <a:ea typeface="Times New Roman" panose="02020603050405020304" pitchFamily="18" charset="0"/>
              </a:rPr>
              <a:t> הינו 5$ המשק יוכל לצרוך 200 יחידות </a:t>
            </a:r>
            <a:r>
              <a:rPr lang="en-US" sz="1800" dirty="0">
                <a:latin typeface="Arial" panose="020B0604020202020204" pitchFamily="34" charset="0"/>
                <a:ea typeface="Times New Roman" panose="02020603050405020304" pitchFamily="18" charset="0"/>
              </a:rPr>
              <a:t>X</a:t>
            </a:r>
            <a:r>
              <a:rPr lang="he-IL" sz="1800" dirty="0">
                <a:latin typeface="Times New Roman" panose="02020603050405020304" pitchFamily="18" charset="0"/>
                <a:ea typeface="Times New Roman" panose="02020603050405020304" pitchFamily="18" charset="0"/>
              </a:rPr>
              <a:t> . </a:t>
            </a:r>
            <a:endParaRPr lang="en-IL" sz="1800" dirty="0">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latin typeface="Times New Roman" panose="02020603050405020304" pitchFamily="18" charset="0"/>
                <a:ea typeface="Times New Roman" panose="02020603050405020304" pitchFamily="18" charset="0"/>
              </a:rPr>
              <a:t>אם מחיר יחידת </a:t>
            </a:r>
            <a:r>
              <a:rPr lang="en-US" sz="1800" dirty="0">
                <a:latin typeface="Arial" panose="020B0604020202020204" pitchFamily="34" charset="0"/>
                <a:ea typeface="Times New Roman" panose="02020603050405020304" pitchFamily="18" charset="0"/>
              </a:rPr>
              <a:t>X</a:t>
            </a:r>
            <a:r>
              <a:rPr lang="he-IL" sz="1800" dirty="0">
                <a:latin typeface="Times New Roman" panose="02020603050405020304" pitchFamily="18" charset="0"/>
                <a:ea typeface="Times New Roman" panose="02020603050405020304" pitchFamily="18" charset="0"/>
              </a:rPr>
              <a:t> הינו 12$ המשק יוכל לצרוך 87.5 יחידות </a:t>
            </a:r>
            <a:r>
              <a:rPr lang="en-US" sz="1800" dirty="0">
                <a:latin typeface="Arial" panose="020B0604020202020204" pitchFamily="34" charset="0"/>
                <a:ea typeface="Times New Roman" panose="02020603050405020304" pitchFamily="18" charset="0"/>
              </a:rPr>
              <a:t>X</a:t>
            </a:r>
            <a:r>
              <a:rPr lang="he-IL" sz="1800" dirty="0">
                <a:latin typeface="Times New Roman" panose="02020603050405020304" pitchFamily="18" charset="0"/>
                <a:ea typeface="Times New Roman" panose="02020603050405020304" pitchFamily="18" charset="0"/>
              </a:rPr>
              <a:t>.</a:t>
            </a:r>
            <a:endParaRPr lang="en-IL" sz="1800" dirty="0">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latin typeface="Times New Roman" panose="02020603050405020304" pitchFamily="18" charset="0"/>
                <a:ea typeface="Times New Roman" panose="02020603050405020304" pitchFamily="18" charset="0"/>
              </a:rPr>
              <a:t>אין סיבה שהמשק יצרוך רק </a:t>
            </a:r>
            <a:r>
              <a:rPr lang="en-US" sz="1800" dirty="0">
                <a:latin typeface="Arial" panose="020B0604020202020204" pitchFamily="34" charset="0"/>
                <a:ea typeface="Times New Roman" panose="02020603050405020304" pitchFamily="18" charset="0"/>
              </a:rPr>
              <a:t>X</a:t>
            </a:r>
            <a:r>
              <a:rPr lang="he-IL" sz="1800" dirty="0">
                <a:latin typeface="Times New Roman" panose="02020603050405020304" pitchFamily="18" charset="0"/>
                <a:ea typeface="Times New Roman" panose="02020603050405020304" pitchFamily="18" charset="0"/>
              </a:rPr>
              <a:t> אם ניתן לייצר את שני המוצרים.</a:t>
            </a:r>
            <a:endParaRPr lang="en-IL" sz="1800" dirty="0">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highlight>
                  <a:srgbClr val="FFFF00"/>
                </a:highlight>
                <a:latin typeface="Times New Roman" panose="02020603050405020304" pitchFamily="18" charset="0"/>
                <a:ea typeface="Times New Roman" panose="02020603050405020304" pitchFamily="18" charset="0"/>
                <a:cs typeface="Arial" panose="020B0604020202020204" pitchFamily="34" charset="0"/>
              </a:rPr>
              <a:t>אם מחיר יחידת </a:t>
            </a:r>
            <a:r>
              <a:rPr lang="en-US" sz="1800" dirty="0">
                <a:effectLst/>
                <a:highlight>
                  <a:srgbClr val="FFFF00"/>
                </a:highlight>
                <a:latin typeface="Arial" panose="020B0604020202020204" pitchFamily="34" charset="0"/>
                <a:ea typeface="Times New Roman" panose="02020603050405020304" pitchFamily="18" charset="0"/>
              </a:rPr>
              <a:t>X</a:t>
            </a:r>
            <a:r>
              <a:rPr lang="he-IL" sz="1800" dirty="0">
                <a:effectLst/>
                <a:highlight>
                  <a:srgbClr val="FFFF00"/>
                </a:highlight>
                <a:latin typeface="Times New Roman" panose="02020603050405020304" pitchFamily="18" charset="0"/>
                <a:ea typeface="Times New Roman" panose="02020603050405020304" pitchFamily="18" charset="0"/>
                <a:cs typeface="Arial" panose="020B0604020202020204" pitchFamily="34" charset="0"/>
              </a:rPr>
              <a:t> גדול מ- 7$ המשק יכול לצרוך 150 יחידות </a:t>
            </a:r>
            <a:r>
              <a:rPr lang="en-US" sz="1800" dirty="0">
                <a:effectLst/>
                <a:highlight>
                  <a:srgbClr val="FFFF00"/>
                </a:highlight>
                <a:latin typeface="Arial" panose="020B0604020202020204" pitchFamily="34" charset="0"/>
                <a:ea typeface="Times New Roman" panose="02020603050405020304" pitchFamily="18" charset="0"/>
              </a:rPr>
              <a:t>X</a:t>
            </a:r>
            <a:r>
              <a:rPr lang="he-IL" sz="1800" dirty="0">
                <a:effectLst/>
                <a:highlight>
                  <a:srgbClr val="FFFF00"/>
                </a:highlight>
                <a:latin typeface="Times New Roman" panose="02020603050405020304" pitchFamily="18" charset="0"/>
                <a:ea typeface="Times New Roman" panose="02020603050405020304" pitchFamily="18" charset="0"/>
                <a:cs typeface="Arial" panose="020B0604020202020204" pitchFamily="34" charset="0"/>
              </a:rPr>
              <a:t>.</a:t>
            </a:r>
            <a:endParaRPr lang="en-IL" sz="1800" dirty="0">
              <a:effectLst/>
              <a:highlight>
                <a:srgbClr val="FFFF00"/>
              </a:highligh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כל התשובות האחרות אינן נכונות.</a:t>
            </a:r>
            <a:endParaRPr lang="en-IL"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7223234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494EE-F673-5036-0509-D799863495BC}"/>
              </a:ext>
            </a:extLst>
          </p:cNvPr>
          <p:cNvSpPr>
            <a:spLocks noGrp="1"/>
          </p:cNvSpPr>
          <p:nvPr>
            <p:ph type="title"/>
          </p:nvPr>
        </p:nvSpPr>
        <p:spPr>
          <a:xfrm>
            <a:off x="8308427" y="414282"/>
            <a:ext cx="3660228" cy="533509"/>
          </a:xfrm>
        </p:spPr>
        <p:txBody>
          <a:bodyPr>
            <a:normAutofit fontScale="90000"/>
          </a:bodyPr>
          <a:lstStyle/>
          <a:p>
            <a:pPr algn="r" rtl="1"/>
            <a:r>
              <a:rPr lang="he-IL" dirty="0"/>
              <a:t>שאלה 4 מהבחינה</a:t>
            </a:r>
            <a:endParaRPr lang="en-IL" dirty="0"/>
          </a:p>
        </p:txBody>
      </p:sp>
      <p:sp>
        <p:nvSpPr>
          <p:cNvPr id="3" name="Content Placeholder 2">
            <a:extLst>
              <a:ext uri="{FF2B5EF4-FFF2-40B4-BE49-F238E27FC236}">
                <a16:creationId xmlns:a16="http://schemas.microsoft.com/office/drawing/2014/main" id="{411A47A3-6F71-89A9-0418-E7097145D628}"/>
              </a:ext>
            </a:extLst>
          </p:cNvPr>
          <p:cNvSpPr>
            <a:spLocks noGrp="1"/>
          </p:cNvSpPr>
          <p:nvPr>
            <p:ph idx="1"/>
          </p:nvPr>
        </p:nvSpPr>
        <p:spPr>
          <a:xfrm>
            <a:off x="7779224" y="1922387"/>
            <a:ext cx="4005405" cy="3903554"/>
          </a:xfrm>
        </p:spPr>
        <p:txBody>
          <a:bodyPr>
            <a:normAutofit/>
          </a:bodyPr>
          <a:lstStyle/>
          <a:p>
            <a:pPr marL="0" indent="0" algn="just" rtl="1">
              <a:lnSpc>
                <a:spcPct val="150000"/>
              </a:lnSpc>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אם ידוע כי 15 עובדים מסוג א מייצרים </a:t>
            </a:r>
            <a:r>
              <a:rPr lang="en-US" sz="1800" b="1" dirty="0">
                <a:effectLst/>
                <a:latin typeface="Arial" panose="020B0604020202020204" pitchFamily="34" charset="0"/>
                <a:ea typeface="Times New Roman" panose="02020603050405020304" pitchFamily="18" charset="0"/>
                <a:cs typeface="Arial" panose="020B0604020202020204" pitchFamily="34" charset="0"/>
              </a:rPr>
              <a:t>Y</a:t>
            </a:r>
            <a:r>
              <a:rPr lang="he-IL" sz="1800" b="1" dirty="0">
                <a:effectLst/>
                <a:latin typeface="Calibri" panose="020F0502020204030204" pitchFamily="34" charset="0"/>
                <a:ea typeface="Times New Roman" panose="02020603050405020304" pitchFamily="18" charset="0"/>
                <a:cs typeface="Arial" panose="020B0604020202020204" pitchFamily="34" charset="0"/>
              </a:rPr>
              <a:t> אזי במשק מייצרים:</a:t>
            </a:r>
            <a:endParaRPr lang="en-IL"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r" rtl="1">
              <a:lnSpc>
                <a:spcPct val="150000"/>
              </a:lnSpc>
              <a:buFont typeface="+mj-lt"/>
              <a:buAutoNum type="arabicPeriod"/>
            </a:pPr>
            <a:r>
              <a:rPr lang="he-IL" sz="1800" dirty="0">
                <a:latin typeface="Times New Roman" panose="02020603050405020304" pitchFamily="18" charset="0"/>
                <a:ea typeface="Times New Roman" panose="02020603050405020304" pitchFamily="18" charset="0"/>
              </a:rPr>
              <a:t>140 יחידות </a:t>
            </a:r>
            <a:r>
              <a:rPr lang="en-US" sz="1800" dirty="0">
                <a:effectLst/>
                <a:latin typeface="Arial" panose="020B0604020202020204" pitchFamily="34" charset="0"/>
                <a:ea typeface="Times New Roman" panose="02020603050405020304" pitchFamily="18" charset="0"/>
              </a:rPr>
              <a:t>Y</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latin typeface="Times New Roman" panose="02020603050405020304" pitchFamily="18" charset="0"/>
                <a:ea typeface="Times New Roman" panose="02020603050405020304" pitchFamily="18" charset="0"/>
              </a:rPr>
              <a:t>150 יחידות </a:t>
            </a:r>
            <a:r>
              <a:rPr lang="en-US" sz="1800" dirty="0">
                <a:effectLst/>
                <a:latin typeface="Arial" panose="020B0604020202020204" pitchFamily="34" charset="0"/>
                <a:ea typeface="Times New Roman" panose="02020603050405020304" pitchFamily="18" charset="0"/>
              </a:rPr>
              <a:t>Y</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140 יחידות </a:t>
            </a:r>
            <a:r>
              <a:rPr lang="en-US" sz="1800" dirty="0">
                <a:effectLst/>
                <a:latin typeface="Arial" panose="020B0604020202020204" pitchFamily="34" charset="0"/>
                <a:ea typeface="Times New Roman" panose="02020603050405020304" pitchFamily="18" charset="0"/>
              </a:rPr>
              <a:t>X</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150 יחידות </a:t>
            </a:r>
            <a:r>
              <a:rPr lang="en-US" sz="1800" dirty="0">
                <a:effectLst/>
                <a:latin typeface="Arial" panose="020B0604020202020204" pitchFamily="34" charset="0"/>
                <a:ea typeface="Times New Roman" panose="02020603050405020304" pitchFamily="18" charset="0"/>
              </a:rPr>
              <a:t>X</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כל בתשובות אחרות לא נכונות</a:t>
            </a:r>
            <a:endParaRPr lang="en-IL" sz="1800" dirty="0">
              <a:effectLst/>
              <a:latin typeface="Times New Roman" panose="02020603050405020304" pitchFamily="18" charset="0"/>
              <a:ea typeface="Times New Roman" panose="02020603050405020304" pitchFamily="18" charset="0"/>
            </a:endParaRPr>
          </a:p>
          <a:p>
            <a:pPr marL="0" indent="0" algn="r" rtl="1">
              <a:buNone/>
            </a:pPr>
            <a:endParaRPr lang="en-IL" dirty="0"/>
          </a:p>
        </p:txBody>
      </p:sp>
      <p:sp>
        <p:nvSpPr>
          <p:cNvPr id="5" name="TextBox 4">
            <a:extLst>
              <a:ext uri="{FF2B5EF4-FFF2-40B4-BE49-F238E27FC236}">
                <a16:creationId xmlns:a16="http://schemas.microsoft.com/office/drawing/2014/main" id="{4FDB2E75-CAF7-A07B-DA93-DBEA10D04AE9}"/>
              </a:ext>
            </a:extLst>
          </p:cNvPr>
          <p:cNvSpPr txBox="1"/>
          <p:nvPr/>
        </p:nvSpPr>
        <p:spPr>
          <a:xfrm>
            <a:off x="395045" y="235872"/>
            <a:ext cx="8029903" cy="1508105"/>
          </a:xfrm>
          <a:prstGeom prst="rect">
            <a:avLst/>
          </a:prstGeom>
          <a:noFill/>
        </p:spPr>
        <p:txBody>
          <a:bodyPr wrap="square">
            <a:spAutoFit/>
          </a:bodyPr>
          <a:lstStyle/>
          <a:p>
            <a:pPr marL="0" indent="0" algn="just" rtl="1">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במשק מייצרים ביעילות שני סוגי מוצרים. במשק ישנם 3 סוגי עובדים. </a:t>
            </a:r>
          </a:p>
          <a:p>
            <a:pPr marL="0" indent="0" algn="just" rtl="1">
              <a:spcAft>
                <a:spcPts val="800"/>
              </a:spcAft>
              <a:buNone/>
            </a:pPr>
            <a:r>
              <a:rPr lang="en-US" sz="1800" b="1" dirty="0">
                <a:effectLst/>
                <a:latin typeface="Calibri" panose="020F0502020204030204" pitchFamily="34" charset="0"/>
                <a:ea typeface="Times New Roman" panose="02020603050405020304" pitchFamily="18" charset="0"/>
                <a:cs typeface="Arial" panose="020B0604020202020204" pitchFamily="34" charset="0"/>
              </a:rPr>
              <a:t>25</a:t>
            </a:r>
            <a:r>
              <a:rPr lang="he-IL" sz="1800" b="1" dirty="0">
                <a:effectLst/>
                <a:latin typeface="Calibri" panose="020F0502020204030204" pitchFamily="34" charset="0"/>
                <a:ea typeface="Times New Roman" panose="02020603050405020304" pitchFamily="18" charset="0"/>
                <a:cs typeface="Arial" panose="020B0604020202020204" pitchFamily="34" charset="0"/>
              </a:rPr>
              <a:t> עובדים מסוג א', כל עובד סוג א' מסוגל לייצר 2 יחידות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או 5 יחידות </a:t>
            </a:r>
            <a:r>
              <a:rPr lang="en-US" sz="1800" b="1" dirty="0">
                <a:effectLst/>
                <a:latin typeface="Arial" panose="020B0604020202020204" pitchFamily="34" charset="0"/>
                <a:ea typeface="Times New Roman" panose="02020603050405020304" pitchFamily="18" charset="0"/>
                <a:cs typeface="Arial" panose="020B0604020202020204" pitchFamily="34" charset="0"/>
              </a:rPr>
              <a:t>Y</a:t>
            </a:r>
            <a:r>
              <a:rPr lang="he-IL" sz="1800" b="1" dirty="0">
                <a:effectLst/>
                <a:latin typeface="Calibri" panose="020F0502020204030204" pitchFamily="34" charset="0"/>
                <a:ea typeface="Times New Roman" panose="02020603050405020304" pitchFamily="18" charset="0"/>
                <a:cs typeface="Arial" panose="020B0604020202020204" pitchFamily="34" charset="0"/>
              </a:rPr>
              <a:t>, </a:t>
            </a:r>
          </a:p>
          <a:p>
            <a:pPr marL="0" indent="0" algn="just" rtl="1">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35 עובדים מסוג ב', כל עובד סוג ב' מסוגל לייצר 1 יחידת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או 4 יחידות </a:t>
            </a:r>
            <a:r>
              <a:rPr lang="en-US" sz="1800" b="1" dirty="0">
                <a:effectLst/>
                <a:latin typeface="Arial" panose="020B0604020202020204" pitchFamily="34" charset="0"/>
                <a:ea typeface="Times New Roman" panose="02020603050405020304" pitchFamily="18" charset="0"/>
                <a:cs typeface="Arial" panose="020B0604020202020204" pitchFamily="34" charset="0"/>
              </a:rPr>
              <a:t>Y</a:t>
            </a:r>
            <a:r>
              <a:rPr lang="he-IL" sz="1800" b="1" dirty="0">
                <a:effectLst/>
                <a:latin typeface="Calibri" panose="020F0502020204030204" pitchFamily="34" charset="0"/>
                <a:ea typeface="Times New Roman" panose="02020603050405020304" pitchFamily="18" charset="0"/>
                <a:cs typeface="Arial" panose="020B0604020202020204" pitchFamily="34" charset="0"/>
              </a:rPr>
              <a:t> </a:t>
            </a:r>
          </a:p>
          <a:p>
            <a:pPr marL="0" indent="0" algn="just" rtl="1">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ו40 עובדים מסוג ג', כל עובד מסוג ג' מסוגל לייצר 3 יחידות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או 2 יחידות </a:t>
            </a:r>
            <a:r>
              <a:rPr lang="en-US" sz="1800" b="1" dirty="0">
                <a:effectLst/>
                <a:latin typeface="Arial" panose="020B0604020202020204" pitchFamily="34" charset="0"/>
                <a:ea typeface="Times New Roman" panose="02020603050405020304" pitchFamily="18" charset="0"/>
                <a:cs typeface="Arial" panose="020B0604020202020204" pitchFamily="34" charset="0"/>
              </a:rPr>
              <a:t>Y</a:t>
            </a:r>
            <a:r>
              <a:rPr lang="he-IL" sz="1800" b="1" dirty="0">
                <a:effectLst/>
                <a:latin typeface="Calibri" panose="020F0502020204030204" pitchFamily="34" charset="0"/>
                <a:ea typeface="Times New Roman" panose="02020603050405020304" pitchFamily="18" charset="0"/>
                <a:cs typeface="Arial" panose="020B0604020202020204" pitchFamily="34" charset="0"/>
              </a:rPr>
              <a:t>. </a:t>
            </a:r>
          </a:p>
        </p:txBody>
      </p:sp>
    </p:spTree>
    <p:extLst>
      <p:ext uri="{BB962C8B-B14F-4D97-AF65-F5344CB8AC3E}">
        <p14:creationId xmlns:p14="http://schemas.microsoft.com/office/powerpoint/2010/main" val="11552473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494EE-F673-5036-0509-D799863495BC}"/>
              </a:ext>
            </a:extLst>
          </p:cNvPr>
          <p:cNvSpPr>
            <a:spLocks noGrp="1"/>
          </p:cNvSpPr>
          <p:nvPr>
            <p:ph type="title"/>
          </p:nvPr>
        </p:nvSpPr>
        <p:spPr>
          <a:xfrm>
            <a:off x="8308427" y="414282"/>
            <a:ext cx="3660228" cy="533509"/>
          </a:xfrm>
        </p:spPr>
        <p:txBody>
          <a:bodyPr>
            <a:normAutofit fontScale="90000"/>
          </a:bodyPr>
          <a:lstStyle/>
          <a:p>
            <a:pPr algn="r" rtl="1"/>
            <a:r>
              <a:rPr lang="he-IL" dirty="0"/>
              <a:t>שאלה 4 מהבחינה</a:t>
            </a:r>
            <a:endParaRPr lang="en-IL" dirty="0"/>
          </a:p>
        </p:txBody>
      </p:sp>
      <p:sp>
        <p:nvSpPr>
          <p:cNvPr id="3" name="Content Placeholder 2">
            <a:extLst>
              <a:ext uri="{FF2B5EF4-FFF2-40B4-BE49-F238E27FC236}">
                <a16:creationId xmlns:a16="http://schemas.microsoft.com/office/drawing/2014/main" id="{411A47A3-6F71-89A9-0418-E7097145D628}"/>
              </a:ext>
            </a:extLst>
          </p:cNvPr>
          <p:cNvSpPr>
            <a:spLocks noGrp="1"/>
          </p:cNvSpPr>
          <p:nvPr>
            <p:ph idx="1"/>
          </p:nvPr>
        </p:nvSpPr>
        <p:spPr>
          <a:xfrm>
            <a:off x="6916188" y="1922387"/>
            <a:ext cx="4868441" cy="3903554"/>
          </a:xfrm>
        </p:spPr>
        <p:txBody>
          <a:bodyPr>
            <a:normAutofit/>
          </a:bodyPr>
          <a:lstStyle/>
          <a:p>
            <a:pPr marL="0" indent="0" algn="just" rtl="1">
              <a:lnSpc>
                <a:spcPct val="150000"/>
              </a:lnSpc>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אם ידוע כי 15 עובדים מסוג א מייצרים </a:t>
            </a:r>
            <a:r>
              <a:rPr lang="en-US" sz="1800" b="1" dirty="0">
                <a:effectLst/>
                <a:latin typeface="Arial" panose="020B0604020202020204" pitchFamily="34" charset="0"/>
                <a:ea typeface="Times New Roman" panose="02020603050405020304" pitchFamily="18" charset="0"/>
                <a:cs typeface="Arial" panose="020B0604020202020204" pitchFamily="34" charset="0"/>
              </a:rPr>
              <a:t>Y</a:t>
            </a:r>
            <a:r>
              <a:rPr lang="he-IL" sz="1800" b="1" dirty="0">
                <a:effectLst/>
                <a:latin typeface="Calibri" panose="020F0502020204030204" pitchFamily="34" charset="0"/>
                <a:ea typeface="Times New Roman" panose="02020603050405020304" pitchFamily="18" charset="0"/>
                <a:cs typeface="Arial" panose="020B0604020202020204" pitchFamily="34" charset="0"/>
              </a:rPr>
              <a:t> אזי במשק מייצרים:</a:t>
            </a:r>
            <a:endParaRPr lang="en-IL"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r" rtl="1">
              <a:lnSpc>
                <a:spcPct val="150000"/>
              </a:lnSpc>
              <a:buFont typeface="+mj-lt"/>
              <a:buAutoNum type="arabicPeriod"/>
            </a:pPr>
            <a:r>
              <a:rPr lang="he-IL" sz="1800" dirty="0">
                <a:latin typeface="Times New Roman" panose="02020603050405020304" pitchFamily="18" charset="0"/>
                <a:ea typeface="Times New Roman" panose="02020603050405020304" pitchFamily="18" charset="0"/>
              </a:rPr>
              <a:t>140 יחידות </a:t>
            </a:r>
            <a:r>
              <a:rPr lang="en-US" sz="1800" dirty="0">
                <a:effectLst/>
                <a:latin typeface="Arial" panose="020B0604020202020204" pitchFamily="34" charset="0"/>
                <a:ea typeface="Times New Roman" panose="02020603050405020304" pitchFamily="18" charset="0"/>
              </a:rPr>
              <a:t>Y</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latin typeface="Times New Roman" panose="02020603050405020304" pitchFamily="18" charset="0"/>
                <a:ea typeface="Times New Roman" panose="02020603050405020304" pitchFamily="18" charset="0"/>
              </a:rPr>
              <a:t>150 יחידות </a:t>
            </a:r>
            <a:r>
              <a:rPr lang="en-US" sz="1800" dirty="0">
                <a:effectLst/>
                <a:latin typeface="Arial" panose="020B0604020202020204" pitchFamily="34" charset="0"/>
                <a:ea typeface="Times New Roman" panose="02020603050405020304" pitchFamily="18" charset="0"/>
              </a:rPr>
              <a:t>Y</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140 יחידות </a:t>
            </a:r>
            <a:r>
              <a:rPr lang="en-US" sz="1800" dirty="0">
                <a:effectLst/>
                <a:latin typeface="Arial" panose="020B0604020202020204" pitchFamily="34" charset="0"/>
                <a:ea typeface="Times New Roman" panose="02020603050405020304" pitchFamily="18" charset="0"/>
              </a:rPr>
              <a:t>X</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150 יחידות </a:t>
            </a:r>
            <a:r>
              <a:rPr lang="en-US" sz="1800" dirty="0">
                <a:effectLst/>
                <a:latin typeface="Arial" panose="020B0604020202020204" pitchFamily="34" charset="0"/>
                <a:ea typeface="Times New Roman" panose="02020603050405020304" pitchFamily="18" charset="0"/>
              </a:rPr>
              <a:t>X</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כל בתשובות אחרות לא נכונות</a:t>
            </a:r>
            <a:endParaRPr lang="en-IL" sz="1800" dirty="0">
              <a:effectLst/>
              <a:latin typeface="Times New Roman" panose="02020603050405020304" pitchFamily="18" charset="0"/>
              <a:ea typeface="Times New Roman" panose="02020603050405020304" pitchFamily="18" charset="0"/>
            </a:endParaRPr>
          </a:p>
          <a:p>
            <a:pPr marL="0" indent="0" algn="r" rtl="1">
              <a:buNone/>
            </a:pPr>
            <a:endParaRPr lang="en-IL" dirty="0"/>
          </a:p>
        </p:txBody>
      </p:sp>
      <p:sp>
        <p:nvSpPr>
          <p:cNvPr id="5" name="TextBox 4">
            <a:extLst>
              <a:ext uri="{FF2B5EF4-FFF2-40B4-BE49-F238E27FC236}">
                <a16:creationId xmlns:a16="http://schemas.microsoft.com/office/drawing/2014/main" id="{4FDB2E75-CAF7-A07B-DA93-DBEA10D04AE9}"/>
              </a:ext>
            </a:extLst>
          </p:cNvPr>
          <p:cNvSpPr txBox="1"/>
          <p:nvPr/>
        </p:nvSpPr>
        <p:spPr>
          <a:xfrm>
            <a:off x="395045" y="235872"/>
            <a:ext cx="8029903" cy="1508105"/>
          </a:xfrm>
          <a:prstGeom prst="rect">
            <a:avLst/>
          </a:prstGeom>
          <a:noFill/>
        </p:spPr>
        <p:txBody>
          <a:bodyPr wrap="square">
            <a:spAutoFit/>
          </a:bodyPr>
          <a:lstStyle/>
          <a:p>
            <a:pPr marL="0" indent="0" algn="just" rtl="1">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במשק מייצרים ביעילות שני סוגי מוצרים. במשק ישנם 3 סוגי עובדים. </a:t>
            </a:r>
          </a:p>
          <a:p>
            <a:pPr marL="0" indent="0" algn="just" rtl="1">
              <a:spcAft>
                <a:spcPts val="800"/>
              </a:spcAft>
              <a:buNone/>
            </a:pPr>
            <a:r>
              <a:rPr lang="en-US" sz="1800" b="1" dirty="0">
                <a:effectLst/>
                <a:latin typeface="Calibri" panose="020F0502020204030204" pitchFamily="34" charset="0"/>
                <a:ea typeface="Times New Roman" panose="02020603050405020304" pitchFamily="18" charset="0"/>
                <a:cs typeface="Arial" panose="020B0604020202020204" pitchFamily="34" charset="0"/>
              </a:rPr>
              <a:t>25</a:t>
            </a:r>
            <a:r>
              <a:rPr lang="he-IL" sz="1800" b="1" dirty="0">
                <a:effectLst/>
                <a:latin typeface="Calibri" panose="020F0502020204030204" pitchFamily="34" charset="0"/>
                <a:ea typeface="Times New Roman" panose="02020603050405020304" pitchFamily="18" charset="0"/>
                <a:cs typeface="Arial" panose="020B0604020202020204" pitchFamily="34" charset="0"/>
              </a:rPr>
              <a:t> עובדים מסוג א', כל עובד סוג א' מסוגל לייצר 2 יחידות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או 5 יחידות </a:t>
            </a:r>
            <a:r>
              <a:rPr lang="en-US" sz="1800" b="1" dirty="0">
                <a:effectLst/>
                <a:latin typeface="Arial" panose="020B0604020202020204" pitchFamily="34" charset="0"/>
                <a:ea typeface="Times New Roman" panose="02020603050405020304" pitchFamily="18" charset="0"/>
                <a:cs typeface="Arial" panose="020B0604020202020204" pitchFamily="34" charset="0"/>
              </a:rPr>
              <a:t>Y</a:t>
            </a:r>
            <a:r>
              <a:rPr lang="he-IL" sz="1800" b="1" dirty="0">
                <a:effectLst/>
                <a:latin typeface="Calibri" panose="020F0502020204030204" pitchFamily="34" charset="0"/>
                <a:ea typeface="Times New Roman" panose="02020603050405020304" pitchFamily="18" charset="0"/>
                <a:cs typeface="Arial" panose="020B0604020202020204" pitchFamily="34" charset="0"/>
              </a:rPr>
              <a:t>, </a:t>
            </a:r>
          </a:p>
          <a:p>
            <a:pPr marL="0" indent="0" algn="just" rtl="1">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35 עובדים מסוג ב', כל עובד סוג ב' מסוגל לייצר 1 יחידת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או 4 יחידות </a:t>
            </a:r>
            <a:r>
              <a:rPr lang="en-US" sz="1800" b="1" dirty="0">
                <a:effectLst/>
                <a:latin typeface="Arial" panose="020B0604020202020204" pitchFamily="34" charset="0"/>
                <a:ea typeface="Times New Roman" panose="02020603050405020304" pitchFamily="18" charset="0"/>
                <a:cs typeface="Arial" panose="020B0604020202020204" pitchFamily="34" charset="0"/>
              </a:rPr>
              <a:t>Y</a:t>
            </a:r>
            <a:r>
              <a:rPr lang="he-IL" sz="1800" b="1" dirty="0">
                <a:effectLst/>
                <a:latin typeface="Calibri" panose="020F0502020204030204" pitchFamily="34" charset="0"/>
                <a:ea typeface="Times New Roman" panose="02020603050405020304" pitchFamily="18" charset="0"/>
                <a:cs typeface="Arial" panose="020B0604020202020204" pitchFamily="34" charset="0"/>
              </a:rPr>
              <a:t> </a:t>
            </a:r>
          </a:p>
          <a:p>
            <a:pPr marL="0" indent="0" algn="just" rtl="1">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ו40 עובדים מסוג ג', כל עובד מסוג ג' מסוגל לייצר 3 יחידות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או 2 יחידות </a:t>
            </a:r>
            <a:r>
              <a:rPr lang="en-US" sz="1800" b="1" dirty="0">
                <a:effectLst/>
                <a:latin typeface="Arial" panose="020B0604020202020204" pitchFamily="34" charset="0"/>
                <a:ea typeface="Times New Roman" panose="02020603050405020304" pitchFamily="18" charset="0"/>
                <a:cs typeface="Arial" panose="020B0604020202020204" pitchFamily="34" charset="0"/>
              </a:rPr>
              <a:t>Y</a:t>
            </a:r>
            <a:r>
              <a:rPr lang="he-IL" sz="1800" b="1" dirty="0">
                <a:effectLst/>
                <a:latin typeface="Calibri" panose="020F0502020204030204" pitchFamily="34" charset="0"/>
                <a:ea typeface="Times New Roman" panose="02020603050405020304" pitchFamily="18" charset="0"/>
                <a:cs typeface="Arial" panose="020B0604020202020204" pitchFamily="34" charset="0"/>
              </a:rPr>
              <a:t>. </a:t>
            </a:r>
          </a:p>
        </p:txBody>
      </p:sp>
      <p:graphicFrame>
        <p:nvGraphicFramePr>
          <p:cNvPr id="6" name="טבלה 5">
            <a:extLst>
              <a:ext uri="{FF2B5EF4-FFF2-40B4-BE49-F238E27FC236}">
                <a16:creationId xmlns:a16="http://schemas.microsoft.com/office/drawing/2014/main" id="{DE5FB3F9-617A-8411-D666-2F3B275508A8}"/>
              </a:ext>
            </a:extLst>
          </p:cNvPr>
          <p:cNvGraphicFramePr>
            <a:graphicFrameLocks noGrp="1"/>
          </p:cNvGraphicFramePr>
          <p:nvPr>
            <p:extLst>
              <p:ext uri="{D42A27DB-BD31-4B8C-83A1-F6EECF244321}">
                <p14:modId xmlns:p14="http://schemas.microsoft.com/office/powerpoint/2010/main" val="3733584003"/>
              </p:ext>
            </p:extLst>
          </p:nvPr>
        </p:nvGraphicFramePr>
        <p:xfrm>
          <a:off x="891048" y="2322639"/>
          <a:ext cx="7037895" cy="3025366"/>
        </p:xfrm>
        <a:graphic>
          <a:graphicData uri="http://schemas.openxmlformats.org/drawingml/2006/table">
            <a:tbl>
              <a:tblPr rtl="1" firstRow="1" bandRow="1">
                <a:tableStyleId>{5C22544A-7EE6-4342-B048-85BDC9FD1C3A}</a:tableStyleId>
              </a:tblPr>
              <a:tblGrid>
                <a:gridCol w="1205281">
                  <a:extLst>
                    <a:ext uri="{9D8B030D-6E8A-4147-A177-3AD203B41FA5}">
                      <a16:colId xmlns:a16="http://schemas.microsoft.com/office/drawing/2014/main" val="20000"/>
                    </a:ext>
                  </a:extLst>
                </a:gridCol>
                <a:gridCol w="1369796">
                  <a:extLst>
                    <a:ext uri="{9D8B030D-6E8A-4147-A177-3AD203B41FA5}">
                      <a16:colId xmlns:a16="http://schemas.microsoft.com/office/drawing/2014/main" val="20001"/>
                    </a:ext>
                  </a:extLst>
                </a:gridCol>
                <a:gridCol w="1296537">
                  <a:extLst>
                    <a:ext uri="{9D8B030D-6E8A-4147-A177-3AD203B41FA5}">
                      <a16:colId xmlns:a16="http://schemas.microsoft.com/office/drawing/2014/main" val="20002"/>
                    </a:ext>
                  </a:extLst>
                </a:gridCol>
                <a:gridCol w="1542197">
                  <a:extLst>
                    <a:ext uri="{9D8B030D-6E8A-4147-A177-3AD203B41FA5}">
                      <a16:colId xmlns:a16="http://schemas.microsoft.com/office/drawing/2014/main" val="20003"/>
                    </a:ext>
                  </a:extLst>
                </a:gridCol>
                <a:gridCol w="1624084">
                  <a:extLst>
                    <a:ext uri="{9D8B030D-6E8A-4147-A177-3AD203B41FA5}">
                      <a16:colId xmlns:a16="http://schemas.microsoft.com/office/drawing/2014/main" val="20004"/>
                    </a:ext>
                  </a:extLst>
                </a:gridCol>
              </a:tblGrid>
              <a:tr h="650994">
                <a:tc>
                  <a:txBody>
                    <a:bodyPr/>
                    <a:lstStyle/>
                    <a:p>
                      <a:pPr algn="ctr" rtl="1"/>
                      <a:r>
                        <a:rPr lang="he-IL" dirty="0"/>
                        <a:t>כמות גו''י</a:t>
                      </a:r>
                    </a:p>
                  </a:txBody>
                  <a:tcPr/>
                </a:tc>
                <a:tc>
                  <a:txBody>
                    <a:bodyPr/>
                    <a:lstStyle/>
                    <a:p>
                      <a:pPr algn="ctr" rtl="1"/>
                      <a:r>
                        <a:rPr lang="he-IL" dirty="0"/>
                        <a:t>כמות</a:t>
                      </a:r>
                      <a:r>
                        <a:rPr lang="he-IL" baseline="0" dirty="0"/>
                        <a:t> </a:t>
                      </a:r>
                      <a:r>
                        <a:rPr lang="en-US" baseline="0" dirty="0"/>
                        <a:t>X</a:t>
                      </a:r>
                      <a:endParaRPr lang="he-IL" sz="1400" b="0" dirty="0"/>
                    </a:p>
                  </a:txBody>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he-IL" dirty="0"/>
                        <a:t>כמות</a:t>
                      </a:r>
                      <a:r>
                        <a:rPr lang="he-IL" baseline="0" dirty="0"/>
                        <a:t> </a:t>
                      </a:r>
                      <a:r>
                        <a:rPr lang="en-US" baseline="0" dirty="0"/>
                        <a:t>Y</a:t>
                      </a:r>
                      <a:endParaRPr lang="he-IL" dirty="0"/>
                    </a:p>
                  </a:txBody>
                  <a:tcPr/>
                </a:tc>
                <a:tc>
                  <a:txBody>
                    <a:bodyPr/>
                    <a:lstStyle/>
                    <a:p>
                      <a:pPr algn="ctr" rtl="1"/>
                      <a:r>
                        <a:rPr lang="he-IL" dirty="0"/>
                        <a:t>עלות אלט' שולית לייצור </a:t>
                      </a:r>
                      <a:r>
                        <a:rPr lang="en-US" dirty="0"/>
                        <a:t>X</a:t>
                      </a:r>
                      <a:endParaRPr lang="he-IL" dirty="0"/>
                    </a:p>
                  </a:txBody>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he-IL" dirty="0"/>
                        <a:t>עלות אלט' שולית לייצור </a:t>
                      </a:r>
                      <a:r>
                        <a:rPr lang="en-US" dirty="0"/>
                        <a:t>Y</a:t>
                      </a:r>
                      <a:endParaRPr lang="he-IL" dirty="0"/>
                    </a:p>
                  </a:txBody>
                  <a:tcPr/>
                </a:tc>
                <a:extLst>
                  <a:ext uri="{0D108BD9-81ED-4DB2-BD59-A6C34878D82A}">
                    <a16:rowId xmlns:a16="http://schemas.microsoft.com/office/drawing/2014/main" val="10000"/>
                  </a:ext>
                </a:extLst>
              </a:tr>
              <a:tr h="571592">
                <a:tc>
                  <a:txBody>
                    <a:bodyPr/>
                    <a:lstStyle/>
                    <a:p>
                      <a:pPr algn="ctr" rtl="1"/>
                      <a:r>
                        <a:rPr lang="he-IL" dirty="0">
                          <a:solidFill>
                            <a:srgbClr val="7030A0"/>
                          </a:solidFill>
                        </a:rPr>
                        <a:t>25 סוג א</a:t>
                      </a:r>
                      <a:endParaRPr lang="he-IL" dirty="0"/>
                    </a:p>
                  </a:txBody>
                  <a:tcPr/>
                </a:tc>
                <a:tc>
                  <a:txBody>
                    <a:bodyPr/>
                    <a:lstStyle/>
                    <a:p>
                      <a:pPr algn="ctr" rtl="1"/>
                      <a:endParaRPr lang="he-IL" dirty="0">
                        <a:solidFill>
                          <a:srgbClr val="7030A0"/>
                        </a:solidFill>
                      </a:endParaRPr>
                    </a:p>
                  </a:txBody>
                  <a:tcPr/>
                </a:tc>
                <a:tc>
                  <a:txBody>
                    <a:bodyPr/>
                    <a:lstStyle/>
                    <a:p>
                      <a:pPr algn="ctr" rtl="1"/>
                      <a:endParaRPr lang="he-IL" dirty="0">
                        <a:solidFill>
                          <a:srgbClr val="7030A0"/>
                        </a:solidFill>
                      </a:endParaRPr>
                    </a:p>
                  </a:txBody>
                  <a:tcPr/>
                </a:tc>
                <a:tc>
                  <a:txBody>
                    <a:bodyPr/>
                    <a:lstStyle/>
                    <a:p>
                      <a:pPr algn="ctr" rtl="1"/>
                      <a:endParaRPr lang="he-IL" dirty="0"/>
                    </a:p>
                  </a:txBody>
                  <a:tcPr/>
                </a:tc>
                <a:tc>
                  <a:txBody>
                    <a:bodyPr/>
                    <a:lstStyle/>
                    <a:p>
                      <a:pPr algn="ctr" rtl="1"/>
                      <a:endParaRPr lang="he-IL" dirty="0"/>
                    </a:p>
                  </a:txBody>
                  <a:tcPr/>
                </a:tc>
                <a:extLst>
                  <a:ext uri="{0D108BD9-81ED-4DB2-BD59-A6C34878D82A}">
                    <a16:rowId xmlns:a16="http://schemas.microsoft.com/office/drawing/2014/main" val="10001"/>
                  </a:ext>
                </a:extLst>
              </a:tr>
              <a:tr h="617348">
                <a:tc>
                  <a:txBody>
                    <a:bodyPr/>
                    <a:lstStyle/>
                    <a:p>
                      <a:pPr algn="ctr" rtl="1"/>
                      <a:r>
                        <a:rPr lang="he-IL" b="0" dirty="0">
                          <a:solidFill>
                            <a:schemeClr val="bg2">
                              <a:lumMod val="10000"/>
                            </a:schemeClr>
                          </a:solidFill>
                        </a:rPr>
                        <a:t>35 סוג ב'</a:t>
                      </a:r>
                    </a:p>
                  </a:txBody>
                  <a:tcPr/>
                </a:tc>
                <a:tc>
                  <a:txBody>
                    <a:bodyPr/>
                    <a:lstStyle/>
                    <a:p>
                      <a:pPr algn="ctr" rtl="1"/>
                      <a:endParaRPr lang="he-IL" dirty="0">
                        <a:solidFill>
                          <a:schemeClr val="tx1"/>
                        </a:solidFill>
                      </a:endParaRPr>
                    </a:p>
                  </a:txBody>
                  <a:tcPr/>
                </a:tc>
                <a:tc>
                  <a:txBody>
                    <a:bodyPr/>
                    <a:lstStyle/>
                    <a:p>
                      <a:pPr algn="ctr" rtl="1"/>
                      <a:endParaRPr lang="he-IL" dirty="0">
                        <a:solidFill>
                          <a:schemeClr val="tx1"/>
                        </a:solidFill>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he-IL" dirty="0"/>
                    </a:p>
                  </a:txBody>
                  <a:tcPr/>
                </a:tc>
                <a:tc>
                  <a:txBody>
                    <a:bodyPr/>
                    <a:lstStyle/>
                    <a:p>
                      <a:pPr algn="ctr" rtl="1"/>
                      <a:endParaRPr lang="he-IL" b="1" dirty="0">
                        <a:highlight>
                          <a:srgbClr val="FFFF00"/>
                        </a:highlight>
                      </a:endParaRPr>
                    </a:p>
                  </a:txBody>
                  <a:tcPr/>
                </a:tc>
                <a:extLst>
                  <a:ext uri="{0D108BD9-81ED-4DB2-BD59-A6C34878D82A}">
                    <a16:rowId xmlns:a16="http://schemas.microsoft.com/office/drawing/2014/main" val="10002"/>
                  </a:ext>
                </a:extLst>
              </a:tr>
              <a:tr h="568084">
                <a:tc>
                  <a:txBody>
                    <a:bodyPr/>
                    <a:lstStyle/>
                    <a:p>
                      <a:pPr algn="ctr" rtl="1"/>
                      <a:r>
                        <a:rPr lang="he-IL" dirty="0"/>
                        <a:t>40 סוג ג'</a:t>
                      </a:r>
                    </a:p>
                  </a:txBody>
                  <a:tcPr/>
                </a:tc>
                <a:tc>
                  <a:txBody>
                    <a:bodyPr/>
                    <a:lstStyle/>
                    <a:p>
                      <a:pPr algn="ctr" rtl="1"/>
                      <a:endParaRPr lang="he-IL" dirty="0"/>
                    </a:p>
                  </a:txBody>
                  <a:tcPr/>
                </a:tc>
                <a:tc>
                  <a:txBody>
                    <a:bodyPr/>
                    <a:lstStyle/>
                    <a:p>
                      <a:pPr algn="ctr" rtl="1"/>
                      <a:endParaRPr lang="he-IL" dirty="0"/>
                    </a:p>
                  </a:txBody>
                  <a:tcPr/>
                </a:tc>
                <a:tc>
                  <a:txBody>
                    <a:bodyPr/>
                    <a:lstStyle/>
                    <a:p>
                      <a:pPr algn="ctr" rtl="1"/>
                      <a:endParaRPr lang="he-IL" dirty="0"/>
                    </a:p>
                  </a:txBody>
                  <a:tcPr/>
                </a:tc>
                <a:tc>
                  <a:txBody>
                    <a:bodyPr/>
                    <a:lstStyle/>
                    <a:p>
                      <a:pPr algn="ctr" rtl="1"/>
                      <a:endParaRPr lang="he-IL" dirty="0"/>
                    </a:p>
                  </a:txBody>
                  <a:tcPr/>
                </a:tc>
                <a:extLst>
                  <a:ext uri="{0D108BD9-81ED-4DB2-BD59-A6C34878D82A}">
                    <a16:rowId xmlns:a16="http://schemas.microsoft.com/office/drawing/2014/main" val="1737795178"/>
                  </a:ext>
                </a:extLst>
              </a:tr>
              <a:tr h="617348">
                <a:tc>
                  <a:txBody>
                    <a:bodyPr/>
                    <a:lstStyle/>
                    <a:p>
                      <a:pPr algn="ctr" rtl="1"/>
                      <a:r>
                        <a:rPr lang="he-IL" dirty="0" err="1"/>
                        <a:t>סה''כ</a:t>
                      </a:r>
                      <a:endParaRPr lang="he-IL" dirty="0"/>
                    </a:p>
                  </a:txBody>
                  <a:tcPr/>
                </a:tc>
                <a:tc>
                  <a:txBody>
                    <a:bodyPr/>
                    <a:lstStyle/>
                    <a:p>
                      <a:pPr algn="ctr" rtl="1"/>
                      <a:endParaRPr lang="he-IL" dirty="0"/>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he-IL" dirty="0"/>
                    </a:p>
                  </a:txBody>
                  <a:tcPr/>
                </a:tc>
                <a:tc>
                  <a:txBody>
                    <a:bodyPr/>
                    <a:lstStyle/>
                    <a:p>
                      <a:pPr algn="ctr" rtl="1"/>
                      <a:endParaRPr lang="he-IL" dirty="0"/>
                    </a:p>
                  </a:txBody>
                  <a:tcPr/>
                </a:tc>
                <a:tc>
                  <a:txBody>
                    <a:bodyPr/>
                    <a:lstStyle/>
                    <a:p>
                      <a:pPr algn="ctr" rtl="1"/>
                      <a:endParaRPr lang="he-IL" dirty="0"/>
                    </a:p>
                  </a:txBody>
                  <a:tcPr/>
                </a:tc>
                <a:extLst>
                  <a:ext uri="{0D108BD9-81ED-4DB2-BD59-A6C34878D82A}">
                    <a16:rowId xmlns:a16="http://schemas.microsoft.com/office/drawing/2014/main" val="3815036922"/>
                  </a:ext>
                </a:extLst>
              </a:tr>
            </a:tbl>
          </a:graphicData>
        </a:graphic>
      </p:graphicFrame>
    </p:spTree>
    <p:extLst>
      <p:ext uri="{BB962C8B-B14F-4D97-AF65-F5344CB8AC3E}">
        <p14:creationId xmlns:p14="http://schemas.microsoft.com/office/powerpoint/2010/main" val="15489315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494EE-F673-5036-0509-D799863495BC}"/>
              </a:ext>
            </a:extLst>
          </p:cNvPr>
          <p:cNvSpPr>
            <a:spLocks noGrp="1"/>
          </p:cNvSpPr>
          <p:nvPr>
            <p:ph type="title"/>
          </p:nvPr>
        </p:nvSpPr>
        <p:spPr>
          <a:xfrm>
            <a:off x="8308427" y="414282"/>
            <a:ext cx="3660228" cy="533509"/>
          </a:xfrm>
        </p:spPr>
        <p:txBody>
          <a:bodyPr>
            <a:normAutofit fontScale="90000"/>
          </a:bodyPr>
          <a:lstStyle/>
          <a:p>
            <a:pPr algn="r" rtl="1"/>
            <a:r>
              <a:rPr lang="he-IL" dirty="0"/>
              <a:t>שאלה 4 מהבחינה</a:t>
            </a:r>
            <a:endParaRPr lang="en-IL" dirty="0"/>
          </a:p>
        </p:txBody>
      </p:sp>
      <p:sp>
        <p:nvSpPr>
          <p:cNvPr id="3" name="Content Placeholder 2">
            <a:extLst>
              <a:ext uri="{FF2B5EF4-FFF2-40B4-BE49-F238E27FC236}">
                <a16:creationId xmlns:a16="http://schemas.microsoft.com/office/drawing/2014/main" id="{411A47A3-6F71-89A9-0418-E7097145D628}"/>
              </a:ext>
            </a:extLst>
          </p:cNvPr>
          <p:cNvSpPr>
            <a:spLocks noGrp="1"/>
          </p:cNvSpPr>
          <p:nvPr>
            <p:ph idx="1"/>
          </p:nvPr>
        </p:nvSpPr>
        <p:spPr>
          <a:xfrm>
            <a:off x="8529851" y="1477222"/>
            <a:ext cx="3438804" cy="3903554"/>
          </a:xfrm>
        </p:spPr>
        <p:txBody>
          <a:bodyPr>
            <a:normAutofit/>
          </a:bodyPr>
          <a:lstStyle/>
          <a:p>
            <a:pPr marL="0" indent="0" algn="r" rtl="1">
              <a:lnSpc>
                <a:spcPct val="150000"/>
              </a:lnSpc>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אם ידוע כי </a:t>
            </a:r>
            <a:r>
              <a:rPr lang="he-IL" sz="1800" b="1" u="sng" dirty="0">
                <a:effectLst/>
                <a:latin typeface="Calibri" panose="020F0502020204030204" pitchFamily="34" charset="0"/>
                <a:ea typeface="Times New Roman" panose="02020603050405020304" pitchFamily="18" charset="0"/>
                <a:cs typeface="Arial" panose="020B0604020202020204" pitchFamily="34" charset="0"/>
              </a:rPr>
              <a:t>15 עובדים מסוג א </a:t>
            </a:r>
            <a:r>
              <a:rPr lang="he-IL" sz="1800" b="1" dirty="0">
                <a:effectLst/>
                <a:latin typeface="Calibri" panose="020F0502020204030204" pitchFamily="34" charset="0"/>
                <a:ea typeface="Times New Roman" panose="02020603050405020304" pitchFamily="18" charset="0"/>
                <a:cs typeface="Arial" panose="020B0604020202020204" pitchFamily="34" charset="0"/>
              </a:rPr>
              <a:t>מייצרים </a:t>
            </a:r>
            <a:r>
              <a:rPr lang="en-US" sz="1800" b="1" dirty="0">
                <a:effectLst/>
                <a:latin typeface="Arial" panose="020B0604020202020204" pitchFamily="34" charset="0"/>
                <a:ea typeface="Times New Roman" panose="02020603050405020304" pitchFamily="18" charset="0"/>
                <a:cs typeface="Arial" panose="020B0604020202020204" pitchFamily="34" charset="0"/>
              </a:rPr>
              <a:t>Y</a:t>
            </a:r>
            <a:r>
              <a:rPr lang="he-IL" sz="1800" b="1" dirty="0">
                <a:effectLst/>
                <a:latin typeface="Calibri" panose="020F0502020204030204" pitchFamily="34" charset="0"/>
                <a:ea typeface="Times New Roman" panose="02020603050405020304" pitchFamily="18" charset="0"/>
                <a:cs typeface="Arial" panose="020B0604020202020204" pitchFamily="34" charset="0"/>
              </a:rPr>
              <a:t> אזי במשק מייצרים:</a:t>
            </a:r>
            <a:endParaRPr lang="en-IL"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r" rtl="1">
              <a:lnSpc>
                <a:spcPct val="150000"/>
              </a:lnSpc>
              <a:buFont typeface="+mj-lt"/>
              <a:buAutoNum type="arabicPeriod"/>
            </a:pPr>
            <a:r>
              <a:rPr lang="he-IL" sz="1800" dirty="0">
                <a:latin typeface="Times New Roman" panose="02020603050405020304" pitchFamily="18" charset="0"/>
                <a:ea typeface="Times New Roman" panose="02020603050405020304" pitchFamily="18" charset="0"/>
              </a:rPr>
              <a:t>140 יחידות </a:t>
            </a:r>
            <a:r>
              <a:rPr lang="en-US" sz="1800" dirty="0">
                <a:effectLst/>
                <a:latin typeface="Arial" panose="020B0604020202020204" pitchFamily="34" charset="0"/>
                <a:ea typeface="Times New Roman" panose="02020603050405020304" pitchFamily="18" charset="0"/>
              </a:rPr>
              <a:t>Y</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latin typeface="Times New Roman" panose="02020603050405020304" pitchFamily="18" charset="0"/>
                <a:ea typeface="Times New Roman" panose="02020603050405020304" pitchFamily="18" charset="0"/>
              </a:rPr>
              <a:t>150 יחידות </a:t>
            </a:r>
            <a:r>
              <a:rPr lang="en-US" sz="1800" dirty="0">
                <a:effectLst/>
                <a:latin typeface="Arial" panose="020B0604020202020204" pitchFamily="34" charset="0"/>
                <a:ea typeface="Times New Roman" panose="02020603050405020304" pitchFamily="18" charset="0"/>
              </a:rPr>
              <a:t>Y</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140 יחידות </a:t>
            </a:r>
            <a:r>
              <a:rPr lang="en-US" sz="1800" dirty="0">
                <a:effectLst/>
                <a:latin typeface="Arial" panose="020B0604020202020204" pitchFamily="34" charset="0"/>
                <a:ea typeface="Times New Roman" panose="02020603050405020304" pitchFamily="18" charset="0"/>
              </a:rPr>
              <a:t>X</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150 יחידות </a:t>
            </a:r>
            <a:r>
              <a:rPr lang="en-US" sz="1800" dirty="0">
                <a:effectLst/>
                <a:latin typeface="Arial" panose="020B0604020202020204" pitchFamily="34" charset="0"/>
                <a:ea typeface="Times New Roman" panose="02020603050405020304" pitchFamily="18" charset="0"/>
              </a:rPr>
              <a:t>X</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כל בתשובות אחרות לא נכונות</a:t>
            </a:r>
            <a:endParaRPr lang="en-IL" sz="1800" dirty="0">
              <a:effectLst/>
              <a:latin typeface="Times New Roman" panose="02020603050405020304" pitchFamily="18" charset="0"/>
              <a:ea typeface="Times New Roman" panose="02020603050405020304" pitchFamily="18" charset="0"/>
            </a:endParaRPr>
          </a:p>
          <a:p>
            <a:pPr marL="0" indent="0" algn="r" rtl="1">
              <a:buNone/>
            </a:pPr>
            <a:endParaRPr lang="en-IL" dirty="0"/>
          </a:p>
        </p:txBody>
      </p:sp>
      <p:sp>
        <p:nvSpPr>
          <p:cNvPr id="5" name="TextBox 4">
            <a:extLst>
              <a:ext uri="{FF2B5EF4-FFF2-40B4-BE49-F238E27FC236}">
                <a16:creationId xmlns:a16="http://schemas.microsoft.com/office/drawing/2014/main" id="{4FDB2E75-CAF7-A07B-DA93-DBEA10D04AE9}"/>
              </a:ext>
            </a:extLst>
          </p:cNvPr>
          <p:cNvSpPr txBox="1"/>
          <p:nvPr/>
        </p:nvSpPr>
        <p:spPr>
          <a:xfrm>
            <a:off x="395045" y="235872"/>
            <a:ext cx="8029903" cy="1508105"/>
          </a:xfrm>
          <a:prstGeom prst="rect">
            <a:avLst/>
          </a:prstGeom>
          <a:noFill/>
        </p:spPr>
        <p:txBody>
          <a:bodyPr wrap="square">
            <a:spAutoFit/>
          </a:bodyPr>
          <a:lstStyle/>
          <a:p>
            <a:pPr marL="0" indent="0" algn="just" rtl="1">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במשק מייצרים ביעילות שני סוגי מוצרים. במשק ישנם 3 סוגי עובדים. </a:t>
            </a:r>
          </a:p>
          <a:p>
            <a:pPr marL="0" indent="0" algn="just" rtl="1">
              <a:spcAft>
                <a:spcPts val="800"/>
              </a:spcAft>
              <a:buNone/>
            </a:pPr>
            <a:r>
              <a:rPr lang="en-US" sz="1800" b="1" dirty="0">
                <a:effectLst/>
                <a:latin typeface="Calibri" panose="020F0502020204030204" pitchFamily="34" charset="0"/>
                <a:ea typeface="Times New Roman" panose="02020603050405020304" pitchFamily="18" charset="0"/>
                <a:cs typeface="Arial" panose="020B0604020202020204" pitchFamily="34" charset="0"/>
              </a:rPr>
              <a:t>25</a:t>
            </a:r>
            <a:r>
              <a:rPr lang="he-IL" sz="1800" b="1" dirty="0">
                <a:effectLst/>
                <a:latin typeface="Calibri" panose="020F0502020204030204" pitchFamily="34" charset="0"/>
                <a:ea typeface="Times New Roman" panose="02020603050405020304" pitchFamily="18" charset="0"/>
                <a:cs typeface="Arial" panose="020B0604020202020204" pitchFamily="34" charset="0"/>
              </a:rPr>
              <a:t> עובדים מסוג א', כל עובד סוג א' מסוגל לייצר 2 יחידות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או 5 יחידות </a:t>
            </a:r>
            <a:r>
              <a:rPr lang="en-US" sz="1800" b="1" dirty="0">
                <a:effectLst/>
                <a:latin typeface="Arial" panose="020B0604020202020204" pitchFamily="34" charset="0"/>
                <a:ea typeface="Times New Roman" panose="02020603050405020304" pitchFamily="18" charset="0"/>
                <a:cs typeface="Arial" panose="020B0604020202020204" pitchFamily="34" charset="0"/>
              </a:rPr>
              <a:t>Y</a:t>
            </a:r>
            <a:r>
              <a:rPr lang="he-IL" sz="1800" b="1" dirty="0">
                <a:effectLst/>
                <a:latin typeface="Calibri" panose="020F0502020204030204" pitchFamily="34" charset="0"/>
                <a:ea typeface="Times New Roman" panose="02020603050405020304" pitchFamily="18" charset="0"/>
                <a:cs typeface="Arial" panose="020B0604020202020204" pitchFamily="34" charset="0"/>
              </a:rPr>
              <a:t>, </a:t>
            </a:r>
          </a:p>
          <a:p>
            <a:pPr marL="0" indent="0" algn="just" rtl="1">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35 עובדים מסוג ב', כל עובד סוג ב' מסוגל לייצר 1 יחידת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או 4 יחידות </a:t>
            </a:r>
            <a:r>
              <a:rPr lang="en-US" sz="1800" b="1" dirty="0">
                <a:effectLst/>
                <a:latin typeface="Arial" panose="020B0604020202020204" pitchFamily="34" charset="0"/>
                <a:ea typeface="Times New Roman" panose="02020603050405020304" pitchFamily="18" charset="0"/>
                <a:cs typeface="Arial" panose="020B0604020202020204" pitchFamily="34" charset="0"/>
              </a:rPr>
              <a:t>Y</a:t>
            </a:r>
            <a:r>
              <a:rPr lang="he-IL" sz="1800" b="1" dirty="0">
                <a:effectLst/>
                <a:latin typeface="Calibri" panose="020F0502020204030204" pitchFamily="34" charset="0"/>
                <a:ea typeface="Times New Roman" panose="02020603050405020304" pitchFamily="18" charset="0"/>
                <a:cs typeface="Arial" panose="020B0604020202020204" pitchFamily="34" charset="0"/>
              </a:rPr>
              <a:t> </a:t>
            </a:r>
          </a:p>
          <a:p>
            <a:pPr marL="0" indent="0" algn="just" rtl="1">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ו40 עובדים מסוג ג', כל עובד מסוג ג' מסוגל לייצר 3 יחידות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או 2 יחידות </a:t>
            </a:r>
            <a:r>
              <a:rPr lang="en-US" sz="1800" b="1" dirty="0">
                <a:effectLst/>
                <a:latin typeface="Arial" panose="020B0604020202020204" pitchFamily="34" charset="0"/>
                <a:ea typeface="Times New Roman" panose="02020603050405020304" pitchFamily="18" charset="0"/>
                <a:cs typeface="Arial" panose="020B0604020202020204" pitchFamily="34" charset="0"/>
              </a:rPr>
              <a:t>Y</a:t>
            </a:r>
            <a:r>
              <a:rPr lang="he-IL" sz="1800" b="1" dirty="0">
                <a:effectLst/>
                <a:latin typeface="Calibri" panose="020F0502020204030204" pitchFamily="34" charset="0"/>
                <a:ea typeface="Times New Roman" panose="02020603050405020304" pitchFamily="18" charset="0"/>
                <a:cs typeface="Arial" panose="020B0604020202020204" pitchFamily="34" charset="0"/>
              </a:rPr>
              <a:t>. </a:t>
            </a:r>
          </a:p>
        </p:txBody>
      </p:sp>
      <mc:AlternateContent xmlns:mc="http://schemas.openxmlformats.org/markup-compatibility/2006">
        <mc:Choice xmlns:a14="http://schemas.microsoft.com/office/drawing/2010/main" Requires="a14">
          <p:graphicFrame>
            <p:nvGraphicFramePr>
              <p:cNvPr id="4" name="טבלה 3">
                <a:extLst>
                  <a:ext uri="{FF2B5EF4-FFF2-40B4-BE49-F238E27FC236}">
                    <a16:creationId xmlns:a16="http://schemas.microsoft.com/office/drawing/2014/main" id="{C7026AC0-1E4C-438B-509C-5BFA2775585F}"/>
                  </a:ext>
                </a:extLst>
              </p:cNvPr>
              <p:cNvGraphicFramePr>
                <a:graphicFrameLocks noGrp="1"/>
              </p:cNvGraphicFramePr>
              <p:nvPr>
                <p:extLst>
                  <p:ext uri="{D42A27DB-BD31-4B8C-83A1-F6EECF244321}">
                    <p14:modId xmlns:p14="http://schemas.microsoft.com/office/powerpoint/2010/main" val="3029349407"/>
                  </p:ext>
                </p:extLst>
              </p:nvPr>
            </p:nvGraphicFramePr>
            <p:xfrm>
              <a:off x="1105469" y="1877475"/>
              <a:ext cx="7037895" cy="3103049"/>
            </p:xfrm>
            <a:graphic>
              <a:graphicData uri="http://schemas.openxmlformats.org/drawingml/2006/table">
                <a:tbl>
                  <a:tblPr rtl="1" firstRow="1" bandRow="1">
                    <a:tableStyleId>{5C22544A-7EE6-4342-B048-85BDC9FD1C3A}</a:tableStyleId>
                  </a:tblPr>
                  <a:tblGrid>
                    <a:gridCol w="1205281">
                      <a:extLst>
                        <a:ext uri="{9D8B030D-6E8A-4147-A177-3AD203B41FA5}">
                          <a16:colId xmlns:a16="http://schemas.microsoft.com/office/drawing/2014/main" val="20000"/>
                        </a:ext>
                      </a:extLst>
                    </a:gridCol>
                    <a:gridCol w="1369796">
                      <a:extLst>
                        <a:ext uri="{9D8B030D-6E8A-4147-A177-3AD203B41FA5}">
                          <a16:colId xmlns:a16="http://schemas.microsoft.com/office/drawing/2014/main" val="20001"/>
                        </a:ext>
                      </a:extLst>
                    </a:gridCol>
                    <a:gridCol w="1296537">
                      <a:extLst>
                        <a:ext uri="{9D8B030D-6E8A-4147-A177-3AD203B41FA5}">
                          <a16:colId xmlns:a16="http://schemas.microsoft.com/office/drawing/2014/main" val="20002"/>
                        </a:ext>
                      </a:extLst>
                    </a:gridCol>
                    <a:gridCol w="1542197">
                      <a:extLst>
                        <a:ext uri="{9D8B030D-6E8A-4147-A177-3AD203B41FA5}">
                          <a16:colId xmlns:a16="http://schemas.microsoft.com/office/drawing/2014/main" val="20003"/>
                        </a:ext>
                      </a:extLst>
                    </a:gridCol>
                    <a:gridCol w="1624084">
                      <a:extLst>
                        <a:ext uri="{9D8B030D-6E8A-4147-A177-3AD203B41FA5}">
                          <a16:colId xmlns:a16="http://schemas.microsoft.com/office/drawing/2014/main" val="20004"/>
                        </a:ext>
                      </a:extLst>
                    </a:gridCol>
                  </a:tblGrid>
                  <a:tr h="650994">
                    <a:tc>
                      <a:txBody>
                        <a:bodyPr/>
                        <a:lstStyle/>
                        <a:p>
                          <a:pPr algn="ctr" rtl="1"/>
                          <a:r>
                            <a:rPr lang="he-IL" dirty="0"/>
                            <a:t>כמות גו''י</a:t>
                          </a:r>
                        </a:p>
                      </a:txBody>
                      <a:tcPr/>
                    </a:tc>
                    <a:tc>
                      <a:txBody>
                        <a:bodyPr/>
                        <a:lstStyle/>
                        <a:p>
                          <a:pPr algn="ctr" rtl="1"/>
                          <a:r>
                            <a:rPr lang="he-IL" dirty="0"/>
                            <a:t>כמות</a:t>
                          </a:r>
                          <a:r>
                            <a:rPr lang="he-IL" baseline="0" dirty="0"/>
                            <a:t> </a:t>
                          </a:r>
                          <a:r>
                            <a:rPr lang="en-US" baseline="0" dirty="0"/>
                            <a:t>X</a:t>
                          </a:r>
                          <a:endParaRPr lang="he-IL" sz="1400" b="0" dirty="0"/>
                        </a:p>
                      </a:txBody>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he-IL" dirty="0"/>
                            <a:t>כמות</a:t>
                          </a:r>
                          <a:r>
                            <a:rPr lang="he-IL" baseline="0" dirty="0"/>
                            <a:t> </a:t>
                          </a:r>
                          <a:r>
                            <a:rPr lang="en-US" baseline="0" dirty="0"/>
                            <a:t>Y</a:t>
                          </a:r>
                          <a:endParaRPr lang="he-IL" dirty="0"/>
                        </a:p>
                      </a:txBody>
                      <a:tcPr/>
                    </a:tc>
                    <a:tc>
                      <a:txBody>
                        <a:bodyPr/>
                        <a:lstStyle/>
                        <a:p>
                          <a:pPr algn="ctr" rtl="1"/>
                          <a:r>
                            <a:rPr lang="he-IL" dirty="0"/>
                            <a:t>עלות אלט' שולית לייצור </a:t>
                          </a:r>
                          <a:r>
                            <a:rPr lang="en-US" dirty="0"/>
                            <a:t>X</a:t>
                          </a:r>
                          <a:endParaRPr lang="he-IL" dirty="0"/>
                        </a:p>
                      </a:txBody>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he-IL" dirty="0"/>
                            <a:t>עלות אלט' שולית לייצור </a:t>
                          </a:r>
                          <a:r>
                            <a:rPr lang="en-US" dirty="0"/>
                            <a:t>Y</a:t>
                          </a:r>
                          <a:endParaRPr lang="he-IL" dirty="0"/>
                        </a:p>
                      </a:txBody>
                      <a:tcPr/>
                    </a:tc>
                    <a:extLst>
                      <a:ext uri="{0D108BD9-81ED-4DB2-BD59-A6C34878D82A}">
                        <a16:rowId xmlns:a16="http://schemas.microsoft.com/office/drawing/2014/main" val="10000"/>
                      </a:ext>
                    </a:extLst>
                  </a:tr>
                  <a:tr h="571592">
                    <a:tc>
                      <a:txBody>
                        <a:bodyPr/>
                        <a:lstStyle/>
                        <a:p>
                          <a:pPr algn="ctr" rtl="1"/>
                          <a:r>
                            <a:rPr lang="he-IL" dirty="0">
                              <a:solidFill>
                                <a:srgbClr val="7030A0"/>
                              </a:solidFill>
                            </a:rPr>
                            <a:t>25 סוג א</a:t>
                          </a:r>
                          <a:endParaRPr lang="he-IL" dirty="0"/>
                        </a:p>
                      </a:txBody>
                      <a:tcPr/>
                    </a:tc>
                    <a:tc>
                      <a:txBody>
                        <a:bodyPr/>
                        <a:lstStyle/>
                        <a:p>
                          <a:pPr algn="ctr" rtl="1"/>
                          <a:r>
                            <a:rPr lang="he-IL" dirty="0">
                              <a:solidFill>
                                <a:srgbClr val="7030A0"/>
                              </a:solidFill>
                            </a:rPr>
                            <a:t>50</a:t>
                          </a:r>
                        </a:p>
                      </a:txBody>
                      <a:tcPr/>
                    </a:tc>
                    <a:tc>
                      <a:txBody>
                        <a:bodyPr/>
                        <a:lstStyle/>
                        <a:p>
                          <a:pPr algn="ctr" rtl="1"/>
                          <a:r>
                            <a:rPr lang="he-IL" dirty="0">
                              <a:solidFill>
                                <a:srgbClr val="7030A0"/>
                              </a:solidFill>
                            </a:rPr>
                            <a:t>125</a:t>
                          </a:r>
                        </a:p>
                      </a:txBody>
                      <a:tcPr/>
                    </a:tc>
                    <a:tc>
                      <a:txBody>
                        <a:bodyPr/>
                        <a:lstStyle/>
                        <a:p>
                          <a:pPr algn="ctr" rtl="1"/>
                          <a14:m>
                            <m:oMathPara xmlns:m="http://schemas.openxmlformats.org/officeDocument/2006/math">
                              <m:oMathParaPr>
                                <m:jc m:val="center"/>
                              </m:oMathParaPr>
                              <m:oMath xmlns:m="http://schemas.openxmlformats.org/officeDocument/2006/math">
                                <m:f>
                                  <m:fPr>
                                    <m:ctrlPr>
                                      <a:rPr kumimoji="0" lang="he-IL" i="1" kern="1200" smtClean="0">
                                        <a:solidFill>
                                          <a:srgbClr val="7030A0"/>
                                        </a:solidFill>
                                        <a:latin typeface="Cambria Math" panose="02040503050406030204" pitchFamily="18" charset="0"/>
                                        <a:ea typeface="+mn-ea"/>
                                        <a:cs typeface="+mn-cs"/>
                                      </a:rPr>
                                    </m:ctrlPr>
                                  </m:fPr>
                                  <m:num>
                                    <m:r>
                                      <a:rPr kumimoji="0" lang="he-IL" b="1" i="1" kern="1200" smtClean="0">
                                        <a:solidFill>
                                          <a:srgbClr val="7030A0"/>
                                        </a:solidFill>
                                        <a:latin typeface="Cambria Math" panose="02040503050406030204" pitchFamily="18" charset="0"/>
                                        <a:ea typeface="+mn-ea"/>
                                        <a:cs typeface="+mn-cs"/>
                                      </a:rPr>
                                      <m:t>𝟓</m:t>
                                    </m:r>
                                  </m:num>
                                  <m:den>
                                    <m:r>
                                      <a:rPr kumimoji="0" lang="he-IL" b="0" i="1" kern="1200" smtClean="0">
                                        <a:solidFill>
                                          <a:srgbClr val="7030A0"/>
                                        </a:solidFill>
                                        <a:latin typeface="Cambria Math" panose="02040503050406030204" pitchFamily="18" charset="0"/>
                                        <a:ea typeface="+mn-ea"/>
                                        <a:cs typeface="+mn-cs"/>
                                      </a:rPr>
                                      <m:t>2</m:t>
                                    </m:r>
                                  </m:den>
                                </m:f>
                                <m:r>
                                  <a:rPr kumimoji="0" lang="he-IL" i="0" kern="1200">
                                    <a:solidFill>
                                      <a:srgbClr val="7030A0"/>
                                    </a:solidFill>
                                    <a:latin typeface="Cambria Math"/>
                                    <a:ea typeface="+mn-ea"/>
                                    <a:cs typeface="+mn-cs"/>
                                  </a:rPr>
                                  <m:t>=</m:t>
                                </m:r>
                                <m:r>
                                  <a:rPr kumimoji="0" lang="he-IL" b="0" i="1" kern="1200" smtClean="0">
                                    <a:solidFill>
                                      <a:srgbClr val="7030A0"/>
                                    </a:solidFill>
                                    <a:latin typeface="Cambria Math" panose="02040503050406030204" pitchFamily="18" charset="0"/>
                                    <a:ea typeface="+mn-ea"/>
                                    <a:cs typeface="+mn-cs"/>
                                  </a:rPr>
                                  <m:t>2</m:t>
                                </m:r>
                                <m:r>
                                  <a:rPr kumimoji="0" lang="he-IL" b="0" i="1" kern="1200" smtClean="0">
                                    <a:solidFill>
                                      <a:srgbClr val="7030A0"/>
                                    </a:solidFill>
                                    <a:latin typeface="Cambria Math" panose="02040503050406030204" pitchFamily="18" charset="0"/>
                                    <a:ea typeface="+mn-ea"/>
                                    <a:cs typeface="+mn-cs"/>
                                  </a:rPr>
                                  <m:t>.</m:t>
                                </m:r>
                                <m:r>
                                  <a:rPr kumimoji="0" lang="he-IL" b="0" i="1" kern="1200" smtClean="0">
                                    <a:solidFill>
                                      <a:srgbClr val="7030A0"/>
                                    </a:solidFill>
                                    <a:latin typeface="Cambria Math" panose="02040503050406030204" pitchFamily="18" charset="0"/>
                                    <a:ea typeface="+mn-ea"/>
                                    <a:cs typeface="+mn-cs"/>
                                  </a:rPr>
                                  <m:t>5</m:t>
                                </m:r>
                              </m:oMath>
                            </m:oMathPara>
                          </a14:m>
                          <a:endParaRPr lang="he-IL" dirty="0"/>
                        </a:p>
                      </a:txBody>
                      <a:tcPr/>
                    </a:tc>
                    <a:tc>
                      <a:txBody>
                        <a:bodyPr/>
                        <a:lstStyle/>
                        <a:p>
                          <a:pPr algn="ctr" rtl="1"/>
                          <a14:m>
                            <m:oMathPara xmlns:m="http://schemas.openxmlformats.org/officeDocument/2006/math">
                              <m:oMathParaPr>
                                <m:jc m:val="centerGroup"/>
                              </m:oMathParaPr>
                              <m:oMath xmlns:m="http://schemas.openxmlformats.org/officeDocument/2006/math">
                                <m:f>
                                  <m:fPr>
                                    <m:ctrlPr>
                                      <a:rPr kumimoji="0" lang="he-IL" i="1" kern="1200" smtClean="0">
                                        <a:solidFill>
                                          <a:srgbClr val="7030A0"/>
                                        </a:solidFill>
                                        <a:latin typeface="Cambria Math" panose="02040503050406030204" pitchFamily="18" charset="0"/>
                                        <a:ea typeface="+mn-ea"/>
                                        <a:cs typeface="+mn-cs"/>
                                      </a:rPr>
                                    </m:ctrlPr>
                                  </m:fPr>
                                  <m:num>
                                    <m:r>
                                      <a:rPr kumimoji="0" lang="he-IL" b="1" i="1" kern="1200" smtClean="0">
                                        <a:solidFill>
                                          <a:srgbClr val="7030A0"/>
                                        </a:solidFill>
                                        <a:latin typeface="Cambria Math" panose="02040503050406030204" pitchFamily="18" charset="0"/>
                                        <a:ea typeface="+mn-ea"/>
                                        <a:cs typeface="+mn-cs"/>
                                      </a:rPr>
                                      <m:t>𝟐</m:t>
                                    </m:r>
                                  </m:num>
                                  <m:den>
                                    <m:r>
                                      <a:rPr kumimoji="0" lang="he-IL" b="0" i="1" kern="1200" smtClean="0">
                                        <a:solidFill>
                                          <a:srgbClr val="7030A0"/>
                                        </a:solidFill>
                                        <a:latin typeface="Cambria Math" panose="02040503050406030204" pitchFamily="18" charset="0"/>
                                        <a:ea typeface="+mn-ea"/>
                                        <a:cs typeface="+mn-cs"/>
                                      </a:rPr>
                                      <m:t>5</m:t>
                                    </m:r>
                                  </m:den>
                                </m:f>
                              </m:oMath>
                            </m:oMathPara>
                          </a14:m>
                          <a:endParaRPr lang="he-IL" dirty="0"/>
                        </a:p>
                      </a:txBody>
                      <a:tcPr/>
                    </a:tc>
                    <a:extLst>
                      <a:ext uri="{0D108BD9-81ED-4DB2-BD59-A6C34878D82A}">
                        <a16:rowId xmlns:a16="http://schemas.microsoft.com/office/drawing/2014/main" val="10001"/>
                      </a:ext>
                    </a:extLst>
                  </a:tr>
                  <a:tr h="617348">
                    <a:tc>
                      <a:txBody>
                        <a:bodyPr/>
                        <a:lstStyle/>
                        <a:p>
                          <a:pPr algn="ctr" rtl="1"/>
                          <a:r>
                            <a:rPr lang="he-IL" b="1" dirty="0">
                              <a:solidFill>
                                <a:schemeClr val="bg2">
                                  <a:lumMod val="10000"/>
                                </a:schemeClr>
                              </a:solidFill>
                              <a:highlight>
                                <a:srgbClr val="FFFF00"/>
                              </a:highlight>
                            </a:rPr>
                            <a:t>35 סוג ב'</a:t>
                          </a:r>
                        </a:p>
                      </a:txBody>
                      <a:tcPr/>
                    </a:tc>
                    <a:tc>
                      <a:txBody>
                        <a:bodyPr/>
                        <a:lstStyle/>
                        <a:p>
                          <a:pPr algn="ctr" rtl="1"/>
                          <a:r>
                            <a:rPr lang="he-IL" dirty="0">
                              <a:solidFill>
                                <a:schemeClr val="tx1"/>
                              </a:solidFill>
                            </a:rPr>
                            <a:t>35</a:t>
                          </a:r>
                        </a:p>
                      </a:txBody>
                      <a:tcPr/>
                    </a:tc>
                    <a:tc>
                      <a:txBody>
                        <a:bodyPr/>
                        <a:lstStyle/>
                        <a:p>
                          <a:pPr algn="ctr" rtl="1"/>
                          <a:r>
                            <a:rPr lang="he-IL" dirty="0">
                              <a:solidFill>
                                <a:schemeClr val="tx1"/>
                              </a:solidFill>
                            </a:rPr>
                            <a:t>140</a:t>
                          </a: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he-IL" i="1" kern="1200" smtClean="0">
                                        <a:solidFill>
                                          <a:srgbClr val="7030A0"/>
                                        </a:solidFill>
                                        <a:latin typeface="Cambria Math" panose="02040503050406030204" pitchFamily="18" charset="0"/>
                                        <a:ea typeface="+mn-ea"/>
                                        <a:cs typeface="+mn-cs"/>
                                      </a:rPr>
                                    </m:ctrlPr>
                                  </m:fPr>
                                  <m:num>
                                    <m:r>
                                      <a:rPr kumimoji="0" lang="he-IL" b="1" i="1" kern="1200" smtClean="0">
                                        <a:solidFill>
                                          <a:srgbClr val="7030A0"/>
                                        </a:solidFill>
                                        <a:latin typeface="Cambria Math" panose="02040503050406030204" pitchFamily="18" charset="0"/>
                                        <a:ea typeface="+mn-ea"/>
                                        <a:cs typeface="+mn-cs"/>
                                      </a:rPr>
                                      <m:t>𝟒</m:t>
                                    </m:r>
                                  </m:num>
                                  <m:den>
                                    <m:r>
                                      <a:rPr kumimoji="0" lang="he-IL" b="0" i="1" kern="1200" smtClean="0">
                                        <a:solidFill>
                                          <a:srgbClr val="7030A0"/>
                                        </a:solidFill>
                                        <a:latin typeface="Cambria Math" panose="02040503050406030204" pitchFamily="18" charset="0"/>
                                        <a:ea typeface="+mn-ea"/>
                                        <a:cs typeface="+mn-cs"/>
                                      </a:rPr>
                                      <m:t>1</m:t>
                                    </m:r>
                                  </m:den>
                                </m:f>
                                <m:r>
                                  <a:rPr kumimoji="0" lang="he-IL" i="0" kern="1200">
                                    <a:solidFill>
                                      <a:srgbClr val="7030A0"/>
                                    </a:solidFill>
                                    <a:latin typeface="Cambria Math"/>
                                    <a:ea typeface="+mn-ea"/>
                                    <a:cs typeface="+mn-cs"/>
                                  </a:rPr>
                                  <m:t>=</m:t>
                                </m:r>
                                <m:r>
                                  <a:rPr kumimoji="0" lang="he-IL" b="0" i="1" kern="1200" smtClean="0">
                                    <a:solidFill>
                                      <a:srgbClr val="7030A0"/>
                                    </a:solidFill>
                                    <a:latin typeface="Cambria Math" panose="02040503050406030204" pitchFamily="18" charset="0"/>
                                    <a:ea typeface="+mn-ea"/>
                                    <a:cs typeface="+mn-cs"/>
                                  </a:rPr>
                                  <m:t>4</m:t>
                                </m:r>
                              </m:oMath>
                            </m:oMathPara>
                          </a14:m>
                          <a:endParaRPr lang="he-IL" dirty="0"/>
                        </a:p>
                      </a:txBody>
                      <a:tcPr/>
                    </a:tc>
                    <a:tc>
                      <a:txBody>
                        <a:bodyPr/>
                        <a:lstStyle/>
                        <a:p>
                          <a:pPr algn="ctr" rtl="1"/>
                          <a:r>
                            <a:rPr lang="he-IL" b="1" dirty="0">
                              <a:highlight>
                                <a:srgbClr val="FFFF00"/>
                              </a:highlight>
                            </a:rPr>
                            <a:t>0.25</a:t>
                          </a:r>
                        </a:p>
                      </a:txBody>
                      <a:tcPr/>
                    </a:tc>
                    <a:extLst>
                      <a:ext uri="{0D108BD9-81ED-4DB2-BD59-A6C34878D82A}">
                        <a16:rowId xmlns:a16="http://schemas.microsoft.com/office/drawing/2014/main" val="10002"/>
                      </a:ext>
                    </a:extLst>
                  </a:tr>
                  <a:tr h="568084">
                    <a:tc>
                      <a:txBody>
                        <a:bodyPr/>
                        <a:lstStyle/>
                        <a:p>
                          <a:pPr algn="ctr" rtl="1"/>
                          <a:r>
                            <a:rPr lang="he-IL" dirty="0"/>
                            <a:t>40 סוג ג'</a:t>
                          </a:r>
                        </a:p>
                      </a:txBody>
                      <a:tcPr/>
                    </a:tc>
                    <a:tc>
                      <a:txBody>
                        <a:bodyPr/>
                        <a:lstStyle/>
                        <a:p>
                          <a:pPr algn="ctr" rtl="1"/>
                          <a:r>
                            <a:rPr lang="he-IL" dirty="0"/>
                            <a:t>120</a:t>
                          </a:r>
                        </a:p>
                      </a:txBody>
                      <a:tcPr/>
                    </a:tc>
                    <a:tc>
                      <a:txBody>
                        <a:bodyPr/>
                        <a:lstStyle/>
                        <a:p>
                          <a:pPr algn="ctr" rtl="1"/>
                          <a:r>
                            <a:rPr lang="he-IL" dirty="0"/>
                            <a:t>80</a:t>
                          </a:r>
                        </a:p>
                      </a:txBody>
                      <a:tcPr/>
                    </a:tc>
                    <a:tc>
                      <a:txBody>
                        <a:bodyPr/>
                        <a:lstStyle/>
                        <a:p>
                          <a:pPr algn="ctr" rtl="1"/>
                          <a14:m>
                            <m:oMathPara xmlns:m="http://schemas.openxmlformats.org/officeDocument/2006/math">
                              <m:oMathParaPr>
                                <m:jc m:val="centerGroup"/>
                              </m:oMathParaPr>
                              <m:oMath xmlns:m="http://schemas.openxmlformats.org/officeDocument/2006/math">
                                <m:f>
                                  <m:fPr>
                                    <m:ctrlPr>
                                      <a:rPr kumimoji="0" lang="he-IL" i="1" kern="1200" smtClean="0">
                                        <a:solidFill>
                                          <a:srgbClr val="7030A0"/>
                                        </a:solidFill>
                                        <a:latin typeface="Cambria Math" panose="02040503050406030204" pitchFamily="18" charset="0"/>
                                        <a:ea typeface="+mn-ea"/>
                                        <a:cs typeface="+mn-cs"/>
                                      </a:rPr>
                                    </m:ctrlPr>
                                  </m:fPr>
                                  <m:num>
                                    <m:r>
                                      <a:rPr kumimoji="0" lang="he-IL" b="1" i="1" kern="1200" smtClean="0">
                                        <a:solidFill>
                                          <a:srgbClr val="7030A0"/>
                                        </a:solidFill>
                                        <a:latin typeface="Cambria Math" panose="02040503050406030204" pitchFamily="18" charset="0"/>
                                        <a:ea typeface="+mn-ea"/>
                                        <a:cs typeface="+mn-cs"/>
                                      </a:rPr>
                                      <m:t>𝟐</m:t>
                                    </m:r>
                                  </m:num>
                                  <m:den>
                                    <m:r>
                                      <a:rPr kumimoji="0" lang="he-IL" b="0" i="1" kern="1200" smtClean="0">
                                        <a:solidFill>
                                          <a:srgbClr val="7030A0"/>
                                        </a:solidFill>
                                        <a:latin typeface="Cambria Math" panose="02040503050406030204" pitchFamily="18" charset="0"/>
                                        <a:ea typeface="+mn-ea"/>
                                        <a:cs typeface="+mn-cs"/>
                                      </a:rPr>
                                      <m:t>3</m:t>
                                    </m:r>
                                  </m:den>
                                </m:f>
                              </m:oMath>
                            </m:oMathPara>
                          </a14:m>
                          <a:endParaRPr lang="he-IL" dirty="0"/>
                        </a:p>
                      </a:txBody>
                      <a:tcPr/>
                    </a:tc>
                    <a:tc>
                      <a:txBody>
                        <a:bodyPr/>
                        <a:lstStyle/>
                        <a:p>
                          <a:pPr algn="ctr" rtl="1"/>
                          <a:r>
                            <a:rPr lang="he-IL" dirty="0"/>
                            <a:t>1.5</a:t>
                          </a:r>
                        </a:p>
                      </a:txBody>
                      <a:tcPr/>
                    </a:tc>
                    <a:extLst>
                      <a:ext uri="{0D108BD9-81ED-4DB2-BD59-A6C34878D82A}">
                        <a16:rowId xmlns:a16="http://schemas.microsoft.com/office/drawing/2014/main" val="1737795178"/>
                      </a:ext>
                    </a:extLst>
                  </a:tr>
                  <a:tr h="617348">
                    <a:tc>
                      <a:txBody>
                        <a:bodyPr/>
                        <a:lstStyle/>
                        <a:p>
                          <a:pPr algn="ctr" rtl="1"/>
                          <a:r>
                            <a:rPr lang="he-IL" dirty="0" err="1"/>
                            <a:t>סה''כ</a:t>
                          </a:r>
                          <a:endParaRPr lang="he-IL" dirty="0"/>
                        </a:p>
                      </a:txBody>
                      <a:tcPr/>
                    </a:tc>
                    <a:tc>
                      <a:txBody>
                        <a:bodyPr/>
                        <a:lstStyle/>
                        <a:p>
                          <a:pPr algn="ctr" rtl="1"/>
                          <a:r>
                            <a:rPr lang="en-US" sz="1600" dirty="0" err="1"/>
                            <a:t>Xmax</a:t>
                          </a:r>
                          <a:r>
                            <a:rPr lang="en-US" sz="1600" dirty="0"/>
                            <a:t>=</a:t>
                          </a:r>
                          <a:r>
                            <a:rPr lang="en-US" dirty="0"/>
                            <a:t>205</a:t>
                          </a:r>
                          <a:endParaRPr lang="he-IL" dirty="0"/>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dirty="0" err="1"/>
                            <a:t>Ymax</a:t>
                          </a:r>
                          <a:r>
                            <a:rPr lang="en-US" sz="1800" dirty="0"/>
                            <a:t>=</a:t>
                          </a:r>
                          <a:r>
                            <a:rPr lang="en-US" dirty="0"/>
                            <a:t>345</a:t>
                          </a:r>
                          <a:endParaRPr lang="he-IL" dirty="0"/>
                        </a:p>
                      </a:txBody>
                      <a:tcPr/>
                    </a:tc>
                    <a:tc>
                      <a:txBody>
                        <a:bodyPr/>
                        <a:lstStyle/>
                        <a:p>
                          <a:pPr algn="ctr" rtl="1"/>
                          <a:endParaRPr lang="he-IL" dirty="0"/>
                        </a:p>
                      </a:txBody>
                      <a:tcPr/>
                    </a:tc>
                    <a:tc>
                      <a:txBody>
                        <a:bodyPr/>
                        <a:lstStyle/>
                        <a:p>
                          <a:pPr algn="ctr" rtl="1"/>
                          <a:endParaRPr lang="he-IL" dirty="0"/>
                        </a:p>
                      </a:txBody>
                      <a:tcPr/>
                    </a:tc>
                    <a:extLst>
                      <a:ext uri="{0D108BD9-81ED-4DB2-BD59-A6C34878D82A}">
                        <a16:rowId xmlns:a16="http://schemas.microsoft.com/office/drawing/2014/main" val="3815036922"/>
                      </a:ext>
                    </a:extLst>
                  </a:tr>
                </a:tbl>
              </a:graphicData>
            </a:graphic>
          </p:graphicFrame>
        </mc:Choice>
        <mc:Fallback>
          <p:graphicFrame>
            <p:nvGraphicFramePr>
              <p:cNvPr id="4" name="טבלה 3">
                <a:extLst>
                  <a:ext uri="{FF2B5EF4-FFF2-40B4-BE49-F238E27FC236}">
                    <a16:creationId xmlns:a16="http://schemas.microsoft.com/office/drawing/2014/main" id="{C7026AC0-1E4C-438B-509C-5BFA2775585F}"/>
                  </a:ext>
                </a:extLst>
              </p:cNvPr>
              <p:cNvGraphicFramePr>
                <a:graphicFrameLocks noGrp="1"/>
              </p:cNvGraphicFramePr>
              <p:nvPr>
                <p:extLst>
                  <p:ext uri="{D42A27DB-BD31-4B8C-83A1-F6EECF244321}">
                    <p14:modId xmlns:p14="http://schemas.microsoft.com/office/powerpoint/2010/main" val="3029349407"/>
                  </p:ext>
                </p:extLst>
              </p:nvPr>
            </p:nvGraphicFramePr>
            <p:xfrm>
              <a:off x="1105469" y="1877475"/>
              <a:ext cx="7037895" cy="3103049"/>
            </p:xfrm>
            <a:graphic>
              <a:graphicData uri="http://schemas.openxmlformats.org/drawingml/2006/table">
                <a:tbl>
                  <a:tblPr rtl="1" firstRow="1" bandRow="1">
                    <a:tableStyleId>{5C22544A-7EE6-4342-B048-85BDC9FD1C3A}</a:tableStyleId>
                  </a:tblPr>
                  <a:tblGrid>
                    <a:gridCol w="1205281">
                      <a:extLst>
                        <a:ext uri="{9D8B030D-6E8A-4147-A177-3AD203B41FA5}">
                          <a16:colId xmlns:a16="http://schemas.microsoft.com/office/drawing/2014/main" val="20000"/>
                        </a:ext>
                      </a:extLst>
                    </a:gridCol>
                    <a:gridCol w="1369796">
                      <a:extLst>
                        <a:ext uri="{9D8B030D-6E8A-4147-A177-3AD203B41FA5}">
                          <a16:colId xmlns:a16="http://schemas.microsoft.com/office/drawing/2014/main" val="20001"/>
                        </a:ext>
                      </a:extLst>
                    </a:gridCol>
                    <a:gridCol w="1296537">
                      <a:extLst>
                        <a:ext uri="{9D8B030D-6E8A-4147-A177-3AD203B41FA5}">
                          <a16:colId xmlns:a16="http://schemas.microsoft.com/office/drawing/2014/main" val="20002"/>
                        </a:ext>
                      </a:extLst>
                    </a:gridCol>
                    <a:gridCol w="1542197">
                      <a:extLst>
                        <a:ext uri="{9D8B030D-6E8A-4147-A177-3AD203B41FA5}">
                          <a16:colId xmlns:a16="http://schemas.microsoft.com/office/drawing/2014/main" val="20003"/>
                        </a:ext>
                      </a:extLst>
                    </a:gridCol>
                    <a:gridCol w="1624084">
                      <a:extLst>
                        <a:ext uri="{9D8B030D-6E8A-4147-A177-3AD203B41FA5}">
                          <a16:colId xmlns:a16="http://schemas.microsoft.com/office/drawing/2014/main" val="20004"/>
                        </a:ext>
                      </a:extLst>
                    </a:gridCol>
                  </a:tblGrid>
                  <a:tr h="650994">
                    <a:tc>
                      <a:txBody>
                        <a:bodyPr/>
                        <a:lstStyle/>
                        <a:p>
                          <a:pPr algn="ctr" rtl="1"/>
                          <a:r>
                            <a:rPr lang="he-IL" dirty="0"/>
                            <a:t>כמות גו''י</a:t>
                          </a:r>
                        </a:p>
                      </a:txBody>
                      <a:tcPr/>
                    </a:tc>
                    <a:tc>
                      <a:txBody>
                        <a:bodyPr/>
                        <a:lstStyle/>
                        <a:p>
                          <a:pPr algn="ctr" rtl="1"/>
                          <a:r>
                            <a:rPr lang="he-IL" dirty="0"/>
                            <a:t>כמות</a:t>
                          </a:r>
                          <a:r>
                            <a:rPr lang="he-IL" baseline="0" dirty="0"/>
                            <a:t> </a:t>
                          </a:r>
                          <a:r>
                            <a:rPr lang="en-US" baseline="0" dirty="0"/>
                            <a:t>X</a:t>
                          </a:r>
                          <a:endParaRPr lang="he-IL" sz="1400" b="0" dirty="0"/>
                        </a:p>
                      </a:txBody>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he-IL" dirty="0"/>
                            <a:t>כמות</a:t>
                          </a:r>
                          <a:r>
                            <a:rPr lang="he-IL" baseline="0" dirty="0"/>
                            <a:t> </a:t>
                          </a:r>
                          <a:r>
                            <a:rPr lang="en-US" baseline="0" dirty="0"/>
                            <a:t>Y</a:t>
                          </a:r>
                          <a:endParaRPr lang="he-IL" dirty="0"/>
                        </a:p>
                      </a:txBody>
                      <a:tcPr/>
                    </a:tc>
                    <a:tc>
                      <a:txBody>
                        <a:bodyPr/>
                        <a:lstStyle/>
                        <a:p>
                          <a:pPr algn="ctr" rtl="1"/>
                          <a:r>
                            <a:rPr lang="he-IL" dirty="0"/>
                            <a:t>עלות אלט' שולית לייצור </a:t>
                          </a:r>
                          <a:r>
                            <a:rPr lang="en-US" dirty="0"/>
                            <a:t>X</a:t>
                          </a:r>
                          <a:endParaRPr lang="he-IL" dirty="0"/>
                        </a:p>
                      </a:txBody>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he-IL" dirty="0"/>
                            <a:t>עלות אלט' שולית לייצור </a:t>
                          </a:r>
                          <a:r>
                            <a:rPr lang="en-US" dirty="0"/>
                            <a:t>Y</a:t>
                          </a:r>
                          <a:endParaRPr lang="he-IL" dirty="0"/>
                        </a:p>
                      </a:txBody>
                      <a:tcPr/>
                    </a:tc>
                    <a:extLst>
                      <a:ext uri="{0D108BD9-81ED-4DB2-BD59-A6C34878D82A}">
                        <a16:rowId xmlns:a16="http://schemas.microsoft.com/office/drawing/2014/main" val="10000"/>
                      </a:ext>
                    </a:extLst>
                  </a:tr>
                  <a:tr h="610553">
                    <a:tc>
                      <a:txBody>
                        <a:bodyPr/>
                        <a:lstStyle/>
                        <a:p>
                          <a:pPr algn="ctr" rtl="1"/>
                          <a:r>
                            <a:rPr lang="he-IL" dirty="0">
                              <a:solidFill>
                                <a:srgbClr val="7030A0"/>
                              </a:solidFill>
                            </a:rPr>
                            <a:t>25 סוג א</a:t>
                          </a:r>
                          <a:endParaRPr lang="he-IL" dirty="0"/>
                        </a:p>
                      </a:txBody>
                      <a:tcPr/>
                    </a:tc>
                    <a:tc>
                      <a:txBody>
                        <a:bodyPr/>
                        <a:lstStyle/>
                        <a:p>
                          <a:pPr algn="ctr" rtl="1"/>
                          <a:r>
                            <a:rPr lang="he-IL" dirty="0">
                              <a:solidFill>
                                <a:srgbClr val="7030A0"/>
                              </a:solidFill>
                            </a:rPr>
                            <a:t>50</a:t>
                          </a:r>
                        </a:p>
                      </a:txBody>
                      <a:tcPr/>
                    </a:tc>
                    <a:tc>
                      <a:txBody>
                        <a:bodyPr/>
                        <a:lstStyle/>
                        <a:p>
                          <a:pPr algn="ctr" rtl="1"/>
                          <a:r>
                            <a:rPr lang="he-IL" dirty="0">
                              <a:solidFill>
                                <a:srgbClr val="7030A0"/>
                              </a:solidFill>
                            </a:rPr>
                            <a:t>125</a:t>
                          </a:r>
                        </a:p>
                      </a:txBody>
                      <a:tcPr/>
                    </a:tc>
                    <a:tc>
                      <a:txBody>
                        <a:bodyPr/>
                        <a:lstStyle/>
                        <a:p>
                          <a:endParaRPr lang="en-IL"/>
                        </a:p>
                      </a:txBody>
                      <a:tcPr>
                        <a:blipFill>
                          <a:blip r:embed="rId2"/>
                          <a:stretch>
                            <a:fillRect l="-251383" t="-111881" r="-107510" b="-301980"/>
                          </a:stretch>
                        </a:blipFill>
                      </a:tcPr>
                    </a:tc>
                    <a:tc>
                      <a:txBody>
                        <a:bodyPr/>
                        <a:lstStyle/>
                        <a:p>
                          <a:endParaRPr lang="en-IL"/>
                        </a:p>
                      </a:txBody>
                      <a:tcPr>
                        <a:blipFill>
                          <a:blip r:embed="rId2"/>
                          <a:stretch>
                            <a:fillRect l="-332959" t="-111881" r="-1873" b="-301980"/>
                          </a:stretch>
                        </a:blipFill>
                      </a:tcPr>
                    </a:tc>
                    <a:extLst>
                      <a:ext uri="{0D108BD9-81ED-4DB2-BD59-A6C34878D82A}">
                        <a16:rowId xmlns:a16="http://schemas.microsoft.com/office/drawing/2014/main" val="10001"/>
                      </a:ext>
                    </a:extLst>
                  </a:tr>
                  <a:tr h="617348">
                    <a:tc>
                      <a:txBody>
                        <a:bodyPr/>
                        <a:lstStyle/>
                        <a:p>
                          <a:pPr algn="ctr" rtl="1"/>
                          <a:r>
                            <a:rPr lang="he-IL" b="1" dirty="0">
                              <a:solidFill>
                                <a:schemeClr val="bg2">
                                  <a:lumMod val="10000"/>
                                </a:schemeClr>
                              </a:solidFill>
                              <a:highlight>
                                <a:srgbClr val="FFFF00"/>
                              </a:highlight>
                            </a:rPr>
                            <a:t>35 סוג ב'</a:t>
                          </a:r>
                        </a:p>
                      </a:txBody>
                      <a:tcPr/>
                    </a:tc>
                    <a:tc>
                      <a:txBody>
                        <a:bodyPr/>
                        <a:lstStyle/>
                        <a:p>
                          <a:pPr algn="ctr" rtl="1"/>
                          <a:r>
                            <a:rPr lang="he-IL" dirty="0">
                              <a:solidFill>
                                <a:schemeClr val="tx1"/>
                              </a:solidFill>
                            </a:rPr>
                            <a:t>35</a:t>
                          </a:r>
                        </a:p>
                      </a:txBody>
                      <a:tcPr/>
                    </a:tc>
                    <a:tc>
                      <a:txBody>
                        <a:bodyPr/>
                        <a:lstStyle/>
                        <a:p>
                          <a:pPr algn="ctr" rtl="1"/>
                          <a:r>
                            <a:rPr lang="he-IL" dirty="0">
                              <a:solidFill>
                                <a:schemeClr val="tx1"/>
                              </a:solidFill>
                            </a:rPr>
                            <a:t>140</a:t>
                          </a:r>
                        </a:p>
                      </a:txBody>
                      <a:tcPr/>
                    </a:tc>
                    <a:tc>
                      <a:txBody>
                        <a:bodyPr/>
                        <a:lstStyle/>
                        <a:p>
                          <a:endParaRPr lang="en-IL"/>
                        </a:p>
                      </a:txBody>
                      <a:tcPr>
                        <a:blipFill>
                          <a:blip r:embed="rId2"/>
                          <a:stretch>
                            <a:fillRect l="-251383" t="-211881" r="-107510" b="-201980"/>
                          </a:stretch>
                        </a:blipFill>
                      </a:tcPr>
                    </a:tc>
                    <a:tc>
                      <a:txBody>
                        <a:bodyPr/>
                        <a:lstStyle/>
                        <a:p>
                          <a:pPr algn="ctr" rtl="1"/>
                          <a:r>
                            <a:rPr lang="he-IL" b="1" dirty="0">
                              <a:highlight>
                                <a:srgbClr val="FFFF00"/>
                              </a:highlight>
                            </a:rPr>
                            <a:t>0.25</a:t>
                          </a:r>
                        </a:p>
                      </a:txBody>
                      <a:tcPr/>
                    </a:tc>
                    <a:extLst>
                      <a:ext uri="{0D108BD9-81ED-4DB2-BD59-A6C34878D82A}">
                        <a16:rowId xmlns:a16="http://schemas.microsoft.com/office/drawing/2014/main" val="10002"/>
                      </a:ext>
                    </a:extLst>
                  </a:tr>
                  <a:tr h="606806">
                    <a:tc>
                      <a:txBody>
                        <a:bodyPr/>
                        <a:lstStyle/>
                        <a:p>
                          <a:pPr algn="ctr" rtl="1"/>
                          <a:r>
                            <a:rPr lang="he-IL" dirty="0"/>
                            <a:t>40 סוג ג'</a:t>
                          </a:r>
                        </a:p>
                      </a:txBody>
                      <a:tcPr/>
                    </a:tc>
                    <a:tc>
                      <a:txBody>
                        <a:bodyPr/>
                        <a:lstStyle/>
                        <a:p>
                          <a:pPr algn="ctr" rtl="1"/>
                          <a:r>
                            <a:rPr lang="he-IL" dirty="0"/>
                            <a:t>120</a:t>
                          </a:r>
                        </a:p>
                      </a:txBody>
                      <a:tcPr/>
                    </a:tc>
                    <a:tc>
                      <a:txBody>
                        <a:bodyPr/>
                        <a:lstStyle/>
                        <a:p>
                          <a:pPr algn="ctr" rtl="1"/>
                          <a:r>
                            <a:rPr lang="he-IL" dirty="0"/>
                            <a:t>80</a:t>
                          </a:r>
                        </a:p>
                      </a:txBody>
                      <a:tcPr/>
                    </a:tc>
                    <a:tc>
                      <a:txBody>
                        <a:bodyPr/>
                        <a:lstStyle/>
                        <a:p>
                          <a:endParaRPr lang="en-IL"/>
                        </a:p>
                      </a:txBody>
                      <a:tcPr>
                        <a:blipFill>
                          <a:blip r:embed="rId2"/>
                          <a:stretch>
                            <a:fillRect l="-251383" t="-315000" r="-107510" b="-104000"/>
                          </a:stretch>
                        </a:blipFill>
                      </a:tcPr>
                    </a:tc>
                    <a:tc>
                      <a:txBody>
                        <a:bodyPr/>
                        <a:lstStyle/>
                        <a:p>
                          <a:pPr algn="ctr" rtl="1"/>
                          <a:r>
                            <a:rPr lang="he-IL" dirty="0"/>
                            <a:t>1.5</a:t>
                          </a:r>
                        </a:p>
                      </a:txBody>
                      <a:tcPr/>
                    </a:tc>
                    <a:extLst>
                      <a:ext uri="{0D108BD9-81ED-4DB2-BD59-A6C34878D82A}">
                        <a16:rowId xmlns:a16="http://schemas.microsoft.com/office/drawing/2014/main" val="1737795178"/>
                      </a:ext>
                    </a:extLst>
                  </a:tr>
                  <a:tr h="617348">
                    <a:tc>
                      <a:txBody>
                        <a:bodyPr/>
                        <a:lstStyle/>
                        <a:p>
                          <a:pPr algn="ctr" rtl="1"/>
                          <a:r>
                            <a:rPr lang="he-IL" dirty="0" err="1"/>
                            <a:t>סה''כ</a:t>
                          </a:r>
                          <a:endParaRPr lang="he-IL" dirty="0"/>
                        </a:p>
                      </a:txBody>
                      <a:tcPr/>
                    </a:tc>
                    <a:tc>
                      <a:txBody>
                        <a:bodyPr/>
                        <a:lstStyle/>
                        <a:p>
                          <a:pPr algn="ctr" rtl="1"/>
                          <a:r>
                            <a:rPr lang="en-US" sz="1600" dirty="0" err="1"/>
                            <a:t>Xmax</a:t>
                          </a:r>
                          <a:r>
                            <a:rPr lang="en-US" sz="1600" dirty="0"/>
                            <a:t>=</a:t>
                          </a:r>
                          <a:r>
                            <a:rPr lang="en-US" dirty="0"/>
                            <a:t>205</a:t>
                          </a:r>
                          <a:endParaRPr lang="he-IL" dirty="0"/>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dirty="0" err="1"/>
                            <a:t>Ymax</a:t>
                          </a:r>
                          <a:r>
                            <a:rPr lang="en-US" sz="1800" dirty="0"/>
                            <a:t>=</a:t>
                          </a:r>
                          <a:r>
                            <a:rPr lang="en-US" dirty="0"/>
                            <a:t>345</a:t>
                          </a:r>
                          <a:endParaRPr lang="he-IL" dirty="0"/>
                        </a:p>
                      </a:txBody>
                      <a:tcPr/>
                    </a:tc>
                    <a:tc>
                      <a:txBody>
                        <a:bodyPr/>
                        <a:lstStyle/>
                        <a:p>
                          <a:pPr algn="ctr" rtl="1"/>
                          <a:endParaRPr lang="he-IL" dirty="0"/>
                        </a:p>
                      </a:txBody>
                      <a:tcPr/>
                    </a:tc>
                    <a:tc>
                      <a:txBody>
                        <a:bodyPr/>
                        <a:lstStyle/>
                        <a:p>
                          <a:pPr algn="ctr" rtl="1"/>
                          <a:endParaRPr lang="he-IL" dirty="0"/>
                        </a:p>
                      </a:txBody>
                      <a:tcPr/>
                    </a:tc>
                    <a:extLst>
                      <a:ext uri="{0D108BD9-81ED-4DB2-BD59-A6C34878D82A}">
                        <a16:rowId xmlns:a16="http://schemas.microsoft.com/office/drawing/2014/main" val="3815036922"/>
                      </a:ext>
                    </a:extLst>
                  </a:tr>
                </a:tbl>
              </a:graphicData>
            </a:graphic>
          </p:graphicFrame>
        </mc:Fallback>
      </mc:AlternateContent>
    </p:spTree>
    <p:extLst>
      <p:ext uri="{BB962C8B-B14F-4D97-AF65-F5344CB8AC3E}">
        <p14:creationId xmlns:p14="http://schemas.microsoft.com/office/powerpoint/2010/main" val="22063021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17077-748D-10A9-3A9C-21F5879280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243DF9-A9A7-6949-2B34-84EAB56F9BA4}"/>
              </a:ext>
            </a:extLst>
          </p:cNvPr>
          <p:cNvSpPr>
            <a:spLocks noGrp="1"/>
          </p:cNvSpPr>
          <p:nvPr>
            <p:ph type="title"/>
          </p:nvPr>
        </p:nvSpPr>
        <p:spPr>
          <a:xfrm>
            <a:off x="8308427" y="414282"/>
            <a:ext cx="3660228" cy="533509"/>
          </a:xfrm>
        </p:spPr>
        <p:txBody>
          <a:bodyPr>
            <a:normAutofit fontScale="90000"/>
          </a:bodyPr>
          <a:lstStyle/>
          <a:p>
            <a:pPr algn="r" rtl="1"/>
            <a:r>
              <a:rPr lang="he-IL" dirty="0"/>
              <a:t>שאלה 4 מהבחינה</a:t>
            </a:r>
            <a:endParaRPr lang="en-IL" dirty="0"/>
          </a:p>
        </p:txBody>
      </p:sp>
      <p:sp>
        <p:nvSpPr>
          <p:cNvPr id="3" name="Content Placeholder 2">
            <a:extLst>
              <a:ext uri="{FF2B5EF4-FFF2-40B4-BE49-F238E27FC236}">
                <a16:creationId xmlns:a16="http://schemas.microsoft.com/office/drawing/2014/main" id="{EC2903E2-9D45-B642-FC86-4B81E6D306FD}"/>
              </a:ext>
            </a:extLst>
          </p:cNvPr>
          <p:cNvSpPr>
            <a:spLocks noGrp="1"/>
          </p:cNvSpPr>
          <p:nvPr>
            <p:ph idx="1"/>
          </p:nvPr>
        </p:nvSpPr>
        <p:spPr>
          <a:xfrm>
            <a:off x="8529851" y="1477222"/>
            <a:ext cx="3438804" cy="3903554"/>
          </a:xfrm>
        </p:spPr>
        <p:txBody>
          <a:bodyPr>
            <a:normAutofit/>
          </a:bodyPr>
          <a:lstStyle/>
          <a:p>
            <a:pPr marL="0" indent="0" algn="r" rtl="1">
              <a:lnSpc>
                <a:spcPct val="150000"/>
              </a:lnSpc>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אם ידוע כי </a:t>
            </a:r>
            <a:r>
              <a:rPr lang="he-IL" sz="1800" b="1" u="sng" dirty="0">
                <a:effectLst/>
                <a:latin typeface="Calibri" panose="020F0502020204030204" pitchFamily="34" charset="0"/>
                <a:ea typeface="Times New Roman" panose="02020603050405020304" pitchFamily="18" charset="0"/>
                <a:cs typeface="Arial" panose="020B0604020202020204" pitchFamily="34" charset="0"/>
              </a:rPr>
              <a:t>15 עובדים מסוג א </a:t>
            </a:r>
            <a:r>
              <a:rPr lang="he-IL" sz="1800" b="1" dirty="0">
                <a:effectLst/>
                <a:latin typeface="Calibri" panose="020F0502020204030204" pitchFamily="34" charset="0"/>
                <a:ea typeface="Times New Roman" panose="02020603050405020304" pitchFamily="18" charset="0"/>
                <a:cs typeface="Arial" panose="020B0604020202020204" pitchFamily="34" charset="0"/>
              </a:rPr>
              <a:t>מייצרים </a:t>
            </a:r>
            <a:r>
              <a:rPr lang="en-US" sz="1800" b="1" dirty="0">
                <a:effectLst/>
                <a:latin typeface="Arial" panose="020B0604020202020204" pitchFamily="34" charset="0"/>
                <a:ea typeface="Times New Roman" panose="02020603050405020304" pitchFamily="18" charset="0"/>
                <a:cs typeface="Arial" panose="020B0604020202020204" pitchFamily="34" charset="0"/>
              </a:rPr>
              <a:t>Y</a:t>
            </a:r>
            <a:r>
              <a:rPr lang="he-IL" sz="1800" b="1" dirty="0">
                <a:effectLst/>
                <a:latin typeface="Calibri" panose="020F0502020204030204" pitchFamily="34" charset="0"/>
                <a:ea typeface="Times New Roman" panose="02020603050405020304" pitchFamily="18" charset="0"/>
                <a:cs typeface="Arial" panose="020B0604020202020204" pitchFamily="34" charset="0"/>
              </a:rPr>
              <a:t> אזי במשק מייצרים:</a:t>
            </a:r>
            <a:endParaRPr lang="en-IL"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r" rtl="1">
              <a:lnSpc>
                <a:spcPct val="150000"/>
              </a:lnSpc>
              <a:buFont typeface="+mj-lt"/>
              <a:buAutoNum type="arabicPeriod"/>
            </a:pPr>
            <a:r>
              <a:rPr lang="he-IL" sz="1800" dirty="0">
                <a:latin typeface="Times New Roman" panose="02020603050405020304" pitchFamily="18" charset="0"/>
                <a:ea typeface="Times New Roman" panose="02020603050405020304" pitchFamily="18" charset="0"/>
              </a:rPr>
              <a:t>140 יחידות </a:t>
            </a:r>
            <a:r>
              <a:rPr lang="en-US" sz="1800" dirty="0">
                <a:effectLst/>
                <a:latin typeface="Arial" panose="020B0604020202020204" pitchFamily="34" charset="0"/>
                <a:ea typeface="Times New Roman" panose="02020603050405020304" pitchFamily="18" charset="0"/>
              </a:rPr>
              <a:t>Y</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latin typeface="Times New Roman" panose="02020603050405020304" pitchFamily="18" charset="0"/>
                <a:ea typeface="Times New Roman" panose="02020603050405020304" pitchFamily="18" charset="0"/>
              </a:rPr>
              <a:t>150 יחידות </a:t>
            </a:r>
            <a:r>
              <a:rPr lang="en-US" sz="1800" dirty="0">
                <a:effectLst/>
                <a:latin typeface="Arial" panose="020B0604020202020204" pitchFamily="34" charset="0"/>
                <a:ea typeface="Times New Roman" panose="02020603050405020304" pitchFamily="18" charset="0"/>
              </a:rPr>
              <a:t>Y</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140 יחידות </a:t>
            </a:r>
            <a:r>
              <a:rPr lang="en-US" sz="1800" dirty="0">
                <a:effectLst/>
                <a:latin typeface="Arial" panose="020B0604020202020204" pitchFamily="34" charset="0"/>
                <a:ea typeface="Times New Roman" panose="02020603050405020304" pitchFamily="18" charset="0"/>
              </a:rPr>
              <a:t>X</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150 יחידות </a:t>
            </a:r>
            <a:r>
              <a:rPr lang="en-US" sz="1800" dirty="0">
                <a:effectLst/>
                <a:latin typeface="Arial" panose="020B0604020202020204" pitchFamily="34" charset="0"/>
                <a:ea typeface="Times New Roman" panose="02020603050405020304" pitchFamily="18" charset="0"/>
              </a:rPr>
              <a:t>X</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כל בתשובות אחרות לא נכונות</a:t>
            </a:r>
            <a:endParaRPr lang="en-IL" sz="1800" dirty="0">
              <a:effectLst/>
              <a:latin typeface="Times New Roman" panose="02020603050405020304" pitchFamily="18" charset="0"/>
              <a:ea typeface="Times New Roman" panose="02020603050405020304" pitchFamily="18" charset="0"/>
            </a:endParaRPr>
          </a:p>
          <a:p>
            <a:pPr marL="0" indent="0" algn="r" rtl="1">
              <a:buNone/>
            </a:pPr>
            <a:endParaRPr lang="en-IL" dirty="0"/>
          </a:p>
        </p:txBody>
      </p:sp>
      <p:sp>
        <p:nvSpPr>
          <p:cNvPr id="5" name="TextBox 4">
            <a:extLst>
              <a:ext uri="{FF2B5EF4-FFF2-40B4-BE49-F238E27FC236}">
                <a16:creationId xmlns:a16="http://schemas.microsoft.com/office/drawing/2014/main" id="{E9F311B6-30A3-5867-FE79-5694B7451E86}"/>
              </a:ext>
            </a:extLst>
          </p:cNvPr>
          <p:cNvSpPr txBox="1"/>
          <p:nvPr/>
        </p:nvSpPr>
        <p:spPr>
          <a:xfrm>
            <a:off x="395045" y="235872"/>
            <a:ext cx="8029903" cy="1508105"/>
          </a:xfrm>
          <a:prstGeom prst="rect">
            <a:avLst/>
          </a:prstGeom>
          <a:noFill/>
        </p:spPr>
        <p:txBody>
          <a:bodyPr wrap="square">
            <a:spAutoFit/>
          </a:bodyPr>
          <a:lstStyle/>
          <a:p>
            <a:pPr marL="0" indent="0" algn="just" rtl="1">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במשק מייצרים ביעילות שני סוגי מוצרים. במשק ישנם 3 סוגי עובדים. </a:t>
            </a:r>
          </a:p>
          <a:p>
            <a:pPr marL="0" indent="0" algn="just" rtl="1">
              <a:spcAft>
                <a:spcPts val="800"/>
              </a:spcAft>
              <a:buNone/>
            </a:pPr>
            <a:r>
              <a:rPr lang="en-US" sz="1800" b="1" dirty="0">
                <a:effectLst/>
                <a:latin typeface="Calibri" panose="020F0502020204030204" pitchFamily="34" charset="0"/>
                <a:ea typeface="Times New Roman" panose="02020603050405020304" pitchFamily="18" charset="0"/>
                <a:cs typeface="Arial" panose="020B0604020202020204" pitchFamily="34" charset="0"/>
              </a:rPr>
              <a:t>25</a:t>
            </a:r>
            <a:r>
              <a:rPr lang="he-IL" sz="1800" b="1" dirty="0">
                <a:effectLst/>
                <a:latin typeface="Calibri" panose="020F0502020204030204" pitchFamily="34" charset="0"/>
                <a:ea typeface="Times New Roman" panose="02020603050405020304" pitchFamily="18" charset="0"/>
                <a:cs typeface="Arial" panose="020B0604020202020204" pitchFamily="34" charset="0"/>
              </a:rPr>
              <a:t> עובדים מסוג א', כל עובד סוג א' מסוגל לייצר 2 יחידות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או 5 יחידות </a:t>
            </a:r>
            <a:r>
              <a:rPr lang="en-US" sz="1800" b="1" dirty="0">
                <a:effectLst/>
                <a:latin typeface="Arial" panose="020B0604020202020204" pitchFamily="34" charset="0"/>
                <a:ea typeface="Times New Roman" panose="02020603050405020304" pitchFamily="18" charset="0"/>
                <a:cs typeface="Arial" panose="020B0604020202020204" pitchFamily="34" charset="0"/>
              </a:rPr>
              <a:t>Y</a:t>
            </a:r>
            <a:r>
              <a:rPr lang="he-IL" sz="1800" b="1" dirty="0">
                <a:effectLst/>
                <a:latin typeface="Calibri" panose="020F0502020204030204" pitchFamily="34" charset="0"/>
                <a:ea typeface="Times New Roman" panose="02020603050405020304" pitchFamily="18" charset="0"/>
                <a:cs typeface="Arial" panose="020B0604020202020204" pitchFamily="34" charset="0"/>
              </a:rPr>
              <a:t>, </a:t>
            </a:r>
          </a:p>
          <a:p>
            <a:pPr marL="0" indent="0" algn="just" rtl="1">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35 עובדים מסוג ב', כל עובד סוג ב' מסוגל לייצר 1 יחידת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או 4 יחידות </a:t>
            </a:r>
            <a:r>
              <a:rPr lang="en-US" sz="1800" b="1" dirty="0">
                <a:effectLst/>
                <a:latin typeface="Arial" panose="020B0604020202020204" pitchFamily="34" charset="0"/>
                <a:ea typeface="Times New Roman" panose="02020603050405020304" pitchFamily="18" charset="0"/>
                <a:cs typeface="Arial" panose="020B0604020202020204" pitchFamily="34" charset="0"/>
              </a:rPr>
              <a:t>Y</a:t>
            </a:r>
            <a:r>
              <a:rPr lang="he-IL" sz="1800" b="1" dirty="0">
                <a:effectLst/>
                <a:latin typeface="Calibri" panose="020F0502020204030204" pitchFamily="34" charset="0"/>
                <a:ea typeface="Times New Roman" panose="02020603050405020304" pitchFamily="18" charset="0"/>
                <a:cs typeface="Arial" panose="020B0604020202020204" pitchFamily="34" charset="0"/>
              </a:rPr>
              <a:t> </a:t>
            </a:r>
          </a:p>
          <a:p>
            <a:pPr marL="0" indent="0" algn="just" rtl="1">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ו40 עובדים מסוג ג', כל עובד מסוג ג' מסוגל לייצר 3 יחידות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או 2 יחידות </a:t>
            </a:r>
            <a:r>
              <a:rPr lang="en-US" sz="1800" b="1" dirty="0">
                <a:effectLst/>
                <a:latin typeface="Arial" panose="020B0604020202020204" pitchFamily="34" charset="0"/>
                <a:ea typeface="Times New Roman" panose="02020603050405020304" pitchFamily="18" charset="0"/>
                <a:cs typeface="Arial" panose="020B0604020202020204" pitchFamily="34" charset="0"/>
              </a:rPr>
              <a:t>Y</a:t>
            </a:r>
            <a:r>
              <a:rPr lang="he-IL" sz="1800" b="1" dirty="0">
                <a:effectLst/>
                <a:latin typeface="Calibri" panose="020F0502020204030204" pitchFamily="34" charset="0"/>
                <a:ea typeface="Times New Roman" panose="02020603050405020304" pitchFamily="18" charset="0"/>
                <a:cs typeface="Arial" panose="020B0604020202020204" pitchFamily="34" charset="0"/>
              </a:rPr>
              <a:t>. </a:t>
            </a:r>
          </a:p>
        </p:txBody>
      </p:sp>
      <mc:AlternateContent xmlns:mc="http://schemas.openxmlformats.org/markup-compatibility/2006">
        <mc:Choice xmlns:a14="http://schemas.microsoft.com/office/drawing/2010/main" Requires="a14">
          <p:graphicFrame>
            <p:nvGraphicFramePr>
              <p:cNvPr id="4" name="טבלה 3">
                <a:extLst>
                  <a:ext uri="{FF2B5EF4-FFF2-40B4-BE49-F238E27FC236}">
                    <a16:creationId xmlns:a16="http://schemas.microsoft.com/office/drawing/2014/main" id="{1634AA6E-6403-0088-83AE-8FE5376615F7}"/>
                  </a:ext>
                </a:extLst>
              </p:cNvPr>
              <p:cNvGraphicFramePr>
                <a:graphicFrameLocks noGrp="1"/>
              </p:cNvGraphicFramePr>
              <p:nvPr>
                <p:extLst>
                  <p:ext uri="{D42A27DB-BD31-4B8C-83A1-F6EECF244321}">
                    <p14:modId xmlns:p14="http://schemas.microsoft.com/office/powerpoint/2010/main" val="58373324"/>
                  </p:ext>
                </p:extLst>
              </p:nvPr>
            </p:nvGraphicFramePr>
            <p:xfrm>
              <a:off x="1105469" y="1877475"/>
              <a:ext cx="7037895" cy="3103049"/>
            </p:xfrm>
            <a:graphic>
              <a:graphicData uri="http://schemas.openxmlformats.org/drawingml/2006/table">
                <a:tbl>
                  <a:tblPr rtl="1" firstRow="1" bandRow="1">
                    <a:tableStyleId>{5C22544A-7EE6-4342-B048-85BDC9FD1C3A}</a:tableStyleId>
                  </a:tblPr>
                  <a:tblGrid>
                    <a:gridCol w="1183006">
                      <a:extLst>
                        <a:ext uri="{9D8B030D-6E8A-4147-A177-3AD203B41FA5}">
                          <a16:colId xmlns:a16="http://schemas.microsoft.com/office/drawing/2014/main" val="20000"/>
                        </a:ext>
                      </a:extLst>
                    </a:gridCol>
                    <a:gridCol w="1392071">
                      <a:extLst>
                        <a:ext uri="{9D8B030D-6E8A-4147-A177-3AD203B41FA5}">
                          <a16:colId xmlns:a16="http://schemas.microsoft.com/office/drawing/2014/main" val="20001"/>
                        </a:ext>
                      </a:extLst>
                    </a:gridCol>
                    <a:gridCol w="1296537">
                      <a:extLst>
                        <a:ext uri="{9D8B030D-6E8A-4147-A177-3AD203B41FA5}">
                          <a16:colId xmlns:a16="http://schemas.microsoft.com/office/drawing/2014/main" val="20002"/>
                        </a:ext>
                      </a:extLst>
                    </a:gridCol>
                    <a:gridCol w="1542197">
                      <a:extLst>
                        <a:ext uri="{9D8B030D-6E8A-4147-A177-3AD203B41FA5}">
                          <a16:colId xmlns:a16="http://schemas.microsoft.com/office/drawing/2014/main" val="20003"/>
                        </a:ext>
                      </a:extLst>
                    </a:gridCol>
                    <a:gridCol w="1624084">
                      <a:extLst>
                        <a:ext uri="{9D8B030D-6E8A-4147-A177-3AD203B41FA5}">
                          <a16:colId xmlns:a16="http://schemas.microsoft.com/office/drawing/2014/main" val="20004"/>
                        </a:ext>
                      </a:extLst>
                    </a:gridCol>
                  </a:tblGrid>
                  <a:tr h="650994">
                    <a:tc>
                      <a:txBody>
                        <a:bodyPr/>
                        <a:lstStyle/>
                        <a:p>
                          <a:pPr algn="ctr" rtl="1"/>
                          <a:r>
                            <a:rPr lang="he-IL" dirty="0"/>
                            <a:t>כמות גו''י</a:t>
                          </a:r>
                        </a:p>
                      </a:txBody>
                      <a:tcPr/>
                    </a:tc>
                    <a:tc>
                      <a:txBody>
                        <a:bodyPr/>
                        <a:lstStyle/>
                        <a:p>
                          <a:pPr algn="ctr" rtl="1"/>
                          <a:r>
                            <a:rPr lang="he-IL" dirty="0"/>
                            <a:t>כמות</a:t>
                          </a:r>
                          <a:r>
                            <a:rPr lang="he-IL" baseline="0" dirty="0"/>
                            <a:t> </a:t>
                          </a:r>
                          <a:r>
                            <a:rPr lang="en-US" baseline="0" dirty="0"/>
                            <a:t>X</a:t>
                          </a:r>
                          <a:endParaRPr lang="he-IL" sz="1400" b="0" dirty="0"/>
                        </a:p>
                      </a:txBody>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he-IL" dirty="0"/>
                            <a:t>כמות</a:t>
                          </a:r>
                          <a:r>
                            <a:rPr lang="he-IL" baseline="0" dirty="0"/>
                            <a:t> </a:t>
                          </a:r>
                          <a:r>
                            <a:rPr lang="en-US" baseline="0" dirty="0"/>
                            <a:t>Y</a:t>
                          </a:r>
                          <a:endParaRPr lang="he-IL" dirty="0"/>
                        </a:p>
                      </a:txBody>
                      <a:tcPr/>
                    </a:tc>
                    <a:tc>
                      <a:txBody>
                        <a:bodyPr/>
                        <a:lstStyle/>
                        <a:p>
                          <a:pPr algn="ctr" rtl="1"/>
                          <a:r>
                            <a:rPr lang="he-IL" dirty="0"/>
                            <a:t>עלות אלט' שולית לייצור </a:t>
                          </a:r>
                          <a:r>
                            <a:rPr lang="en-US" dirty="0"/>
                            <a:t>X</a:t>
                          </a:r>
                          <a:endParaRPr lang="he-IL" dirty="0"/>
                        </a:p>
                      </a:txBody>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he-IL" dirty="0"/>
                            <a:t>עלות אלט' שולית לייצור </a:t>
                          </a:r>
                          <a:r>
                            <a:rPr lang="en-US" dirty="0"/>
                            <a:t>Y</a:t>
                          </a:r>
                          <a:endParaRPr lang="he-IL" dirty="0"/>
                        </a:p>
                      </a:txBody>
                      <a:tcPr/>
                    </a:tc>
                    <a:extLst>
                      <a:ext uri="{0D108BD9-81ED-4DB2-BD59-A6C34878D82A}">
                        <a16:rowId xmlns:a16="http://schemas.microsoft.com/office/drawing/2014/main" val="10000"/>
                      </a:ext>
                    </a:extLst>
                  </a:tr>
                  <a:tr h="571592">
                    <a:tc>
                      <a:txBody>
                        <a:bodyPr/>
                        <a:lstStyle/>
                        <a:p>
                          <a:pPr algn="ctr" rtl="1"/>
                          <a:r>
                            <a:rPr lang="he-IL" dirty="0">
                              <a:solidFill>
                                <a:srgbClr val="7030A0"/>
                              </a:solidFill>
                            </a:rPr>
                            <a:t>25 </a:t>
                          </a:r>
                          <a:r>
                            <a:rPr lang="he-IL" dirty="0">
                              <a:solidFill>
                                <a:srgbClr val="7030A0"/>
                              </a:solidFill>
                              <a:highlight>
                                <a:srgbClr val="FFFF00"/>
                              </a:highlight>
                            </a:rPr>
                            <a:t>ס</a:t>
                          </a:r>
                          <a:r>
                            <a:rPr lang="he-IL" dirty="0">
                              <a:solidFill>
                                <a:srgbClr val="7030A0"/>
                              </a:solidFill>
                            </a:rPr>
                            <a:t>ו</a:t>
                          </a:r>
                          <a:r>
                            <a:rPr lang="he-IL" dirty="0">
                              <a:solidFill>
                                <a:srgbClr val="7030A0"/>
                              </a:solidFill>
                              <a:highlight>
                                <a:srgbClr val="00FF00"/>
                              </a:highlight>
                            </a:rPr>
                            <a:t>ג</a:t>
                          </a:r>
                          <a:r>
                            <a:rPr lang="he-IL" dirty="0">
                              <a:solidFill>
                                <a:srgbClr val="7030A0"/>
                              </a:solidFill>
                            </a:rPr>
                            <a:t> א</a:t>
                          </a:r>
                          <a:endParaRPr lang="he-IL" dirty="0"/>
                        </a:p>
                      </a:txBody>
                      <a:tcPr/>
                    </a:tc>
                    <a:tc>
                      <a:txBody>
                        <a:bodyPr/>
                        <a:lstStyle/>
                        <a:p>
                          <a:pPr algn="ctr" rtl="1"/>
                          <a:r>
                            <a:rPr lang="he-IL" dirty="0">
                              <a:solidFill>
                                <a:srgbClr val="7030A0"/>
                              </a:solidFill>
                            </a:rPr>
                            <a:t>50</a:t>
                          </a:r>
                        </a:p>
                      </a:txBody>
                      <a:tcPr/>
                    </a:tc>
                    <a:tc>
                      <a:txBody>
                        <a:bodyPr/>
                        <a:lstStyle/>
                        <a:p>
                          <a:pPr algn="ctr" rtl="1"/>
                          <a:r>
                            <a:rPr lang="he-IL" dirty="0">
                              <a:solidFill>
                                <a:srgbClr val="7030A0"/>
                              </a:solidFill>
                            </a:rPr>
                            <a:t>125</a:t>
                          </a:r>
                        </a:p>
                      </a:txBody>
                      <a:tcPr/>
                    </a:tc>
                    <a:tc>
                      <a:txBody>
                        <a:bodyPr/>
                        <a:lstStyle/>
                        <a:p>
                          <a:pPr algn="ctr" rtl="1"/>
                          <a14:m>
                            <m:oMathPara xmlns:m="http://schemas.openxmlformats.org/officeDocument/2006/math">
                              <m:oMathParaPr>
                                <m:jc m:val="center"/>
                              </m:oMathParaPr>
                              <m:oMath xmlns:m="http://schemas.openxmlformats.org/officeDocument/2006/math">
                                <m:f>
                                  <m:fPr>
                                    <m:ctrlPr>
                                      <a:rPr kumimoji="0" lang="he-IL" i="1" kern="1200" smtClean="0">
                                        <a:solidFill>
                                          <a:srgbClr val="7030A0"/>
                                        </a:solidFill>
                                        <a:latin typeface="Cambria Math" panose="02040503050406030204" pitchFamily="18" charset="0"/>
                                        <a:ea typeface="+mn-ea"/>
                                        <a:cs typeface="+mn-cs"/>
                                      </a:rPr>
                                    </m:ctrlPr>
                                  </m:fPr>
                                  <m:num>
                                    <m:r>
                                      <a:rPr kumimoji="0" lang="he-IL" b="1" i="1" kern="1200" smtClean="0">
                                        <a:solidFill>
                                          <a:srgbClr val="7030A0"/>
                                        </a:solidFill>
                                        <a:latin typeface="Cambria Math" panose="02040503050406030204" pitchFamily="18" charset="0"/>
                                        <a:ea typeface="+mn-ea"/>
                                        <a:cs typeface="+mn-cs"/>
                                      </a:rPr>
                                      <m:t>𝟓</m:t>
                                    </m:r>
                                  </m:num>
                                  <m:den>
                                    <m:r>
                                      <a:rPr kumimoji="0" lang="he-IL" b="0" i="1" kern="1200" smtClean="0">
                                        <a:solidFill>
                                          <a:srgbClr val="7030A0"/>
                                        </a:solidFill>
                                        <a:latin typeface="Cambria Math" panose="02040503050406030204" pitchFamily="18" charset="0"/>
                                        <a:ea typeface="+mn-ea"/>
                                        <a:cs typeface="+mn-cs"/>
                                      </a:rPr>
                                      <m:t>2</m:t>
                                    </m:r>
                                  </m:den>
                                </m:f>
                                <m:r>
                                  <a:rPr kumimoji="0" lang="he-IL" i="0" kern="1200">
                                    <a:solidFill>
                                      <a:srgbClr val="7030A0"/>
                                    </a:solidFill>
                                    <a:latin typeface="Cambria Math"/>
                                    <a:ea typeface="+mn-ea"/>
                                    <a:cs typeface="+mn-cs"/>
                                  </a:rPr>
                                  <m:t>=</m:t>
                                </m:r>
                                <m:r>
                                  <a:rPr kumimoji="0" lang="he-IL" b="0" i="1" kern="1200" smtClean="0">
                                    <a:solidFill>
                                      <a:srgbClr val="7030A0"/>
                                    </a:solidFill>
                                    <a:latin typeface="Cambria Math" panose="02040503050406030204" pitchFamily="18" charset="0"/>
                                    <a:ea typeface="+mn-ea"/>
                                    <a:cs typeface="+mn-cs"/>
                                  </a:rPr>
                                  <m:t>2</m:t>
                                </m:r>
                                <m:r>
                                  <a:rPr kumimoji="0" lang="he-IL" b="0" i="1" kern="1200" smtClean="0">
                                    <a:solidFill>
                                      <a:srgbClr val="7030A0"/>
                                    </a:solidFill>
                                    <a:latin typeface="Cambria Math" panose="02040503050406030204" pitchFamily="18" charset="0"/>
                                    <a:ea typeface="+mn-ea"/>
                                    <a:cs typeface="+mn-cs"/>
                                  </a:rPr>
                                  <m:t>.</m:t>
                                </m:r>
                                <m:r>
                                  <a:rPr kumimoji="0" lang="he-IL" b="0" i="1" kern="1200" smtClean="0">
                                    <a:solidFill>
                                      <a:srgbClr val="7030A0"/>
                                    </a:solidFill>
                                    <a:latin typeface="Cambria Math" panose="02040503050406030204" pitchFamily="18" charset="0"/>
                                    <a:ea typeface="+mn-ea"/>
                                    <a:cs typeface="+mn-cs"/>
                                  </a:rPr>
                                  <m:t>5</m:t>
                                </m:r>
                              </m:oMath>
                            </m:oMathPara>
                          </a14:m>
                          <a:endParaRPr lang="he-IL" dirty="0"/>
                        </a:p>
                      </a:txBody>
                      <a:tcPr/>
                    </a:tc>
                    <a:tc>
                      <a:txBody>
                        <a:bodyPr/>
                        <a:lstStyle/>
                        <a:p>
                          <a:pPr algn="ctr" rtl="1"/>
                          <a14:m>
                            <m:oMath xmlns:m="http://schemas.openxmlformats.org/officeDocument/2006/math">
                              <m:f>
                                <m:fPr>
                                  <m:ctrlPr>
                                    <a:rPr kumimoji="0" lang="he-IL" i="1" kern="1200" smtClean="0">
                                      <a:solidFill>
                                        <a:srgbClr val="7030A0"/>
                                      </a:solidFill>
                                      <a:latin typeface="Cambria Math" panose="02040503050406030204" pitchFamily="18" charset="0"/>
                                      <a:ea typeface="+mn-ea"/>
                                      <a:cs typeface="+mn-cs"/>
                                    </a:rPr>
                                  </m:ctrlPr>
                                </m:fPr>
                                <m:num>
                                  <m:r>
                                    <a:rPr kumimoji="0" lang="he-IL" b="1" i="1" kern="1200" smtClean="0">
                                      <a:solidFill>
                                        <a:srgbClr val="7030A0"/>
                                      </a:solidFill>
                                      <a:latin typeface="Cambria Math" panose="02040503050406030204" pitchFamily="18" charset="0"/>
                                      <a:ea typeface="+mn-ea"/>
                                      <a:cs typeface="+mn-cs"/>
                                    </a:rPr>
                                    <m:t>𝟐</m:t>
                                  </m:r>
                                </m:num>
                                <m:den>
                                  <m:r>
                                    <a:rPr kumimoji="0" lang="he-IL" b="0" i="1" kern="1200" smtClean="0">
                                      <a:solidFill>
                                        <a:srgbClr val="7030A0"/>
                                      </a:solidFill>
                                      <a:latin typeface="Cambria Math" panose="02040503050406030204" pitchFamily="18" charset="0"/>
                                      <a:ea typeface="+mn-ea"/>
                                      <a:cs typeface="+mn-cs"/>
                                    </a:rPr>
                                    <m:t>5</m:t>
                                  </m:r>
                                </m:den>
                              </m:f>
                            </m:oMath>
                          </a14:m>
                          <a:r>
                            <a:rPr lang="en-US" dirty="0"/>
                            <a:t>=0.4</a:t>
                          </a:r>
                          <a:endParaRPr lang="he-IL" dirty="0"/>
                        </a:p>
                      </a:txBody>
                      <a:tcPr/>
                    </a:tc>
                    <a:extLst>
                      <a:ext uri="{0D108BD9-81ED-4DB2-BD59-A6C34878D82A}">
                        <a16:rowId xmlns:a16="http://schemas.microsoft.com/office/drawing/2014/main" val="10001"/>
                      </a:ext>
                    </a:extLst>
                  </a:tr>
                  <a:tr h="617348">
                    <a:tc>
                      <a:txBody>
                        <a:bodyPr/>
                        <a:lstStyle/>
                        <a:p>
                          <a:pPr algn="ctr" rtl="1"/>
                          <a:r>
                            <a:rPr lang="he-IL" b="1" dirty="0">
                              <a:solidFill>
                                <a:schemeClr val="bg2">
                                  <a:lumMod val="10000"/>
                                </a:schemeClr>
                              </a:solidFill>
                              <a:highlight>
                                <a:srgbClr val="FFFF00"/>
                              </a:highlight>
                            </a:rPr>
                            <a:t>35 סוג ב'</a:t>
                          </a:r>
                        </a:p>
                      </a:txBody>
                      <a:tcPr/>
                    </a:tc>
                    <a:tc>
                      <a:txBody>
                        <a:bodyPr/>
                        <a:lstStyle/>
                        <a:p>
                          <a:pPr algn="ctr" rtl="1"/>
                          <a:r>
                            <a:rPr lang="he-IL" dirty="0">
                              <a:solidFill>
                                <a:schemeClr val="tx1"/>
                              </a:solidFill>
                            </a:rPr>
                            <a:t>35</a:t>
                          </a:r>
                        </a:p>
                      </a:txBody>
                      <a:tcPr/>
                    </a:tc>
                    <a:tc>
                      <a:txBody>
                        <a:bodyPr/>
                        <a:lstStyle/>
                        <a:p>
                          <a:pPr algn="ctr" rtl="1"/>
                          <a:r>
                            <a:rPr lang="he-IL" dirty="0">
                              <a:solidFill>
                                <a:schemeClr val="tx1"/>
                              </a:solidFill>
                            </a:rPr>
                            <a:t>140</a:t>
                          </a: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he-IL" i="1" kern="1200" smtClean="0">
                                        <a:solidFill>
                                          <a:srgbClr val="7030A0"/>
                                        </a:solidFill>
                                        <a:latin typeface="Cambria Math" panose="02040503050406030204" pitchFamily="18" charset="0"/>
                                        <a:ea typeface="+mn-ea"/>
                                        <a:cs typeface="+mn-cs"/>
                                      </a:rPr>
                                    </m:ctrlPr>
                                  </m:fPr>
                                  <m:num>
                                    <m:r>
                                      <a:rPr kumimoji="0" lang="he-IL" b="1" i="1" kern="1200" smtClean="0">
                                        <a:solidFill>
                                          <a:srgbClr val="7030A0"/>
                                        </a:solidFill>
                                        <a:latin typeface="Cambria Math" panose="02040503050406030204" pitchFamily="18" charset="0"/>
                                        <a:ea typeface="+mn-ea"/>
                                        <a:cs typeface="+mn-cs"/>
                                      </a:rPr>
                                      <m:t>𝟒</m:t>
                                    </m:r>
                                  </m:num>
                                  <m:den>
                                    <m:r>
                                      <a:rPr kumimoji="0" lang="he-IL" b="0" i="1" kern="1200" smtClean="0">
                                        <a:solidFill>
                                          <a:srgbClr val="7030A0"/>
                                        </a:solidFill>
                                        <a:latin typeface="Cambria Math" panose="02040503050406030204" pitchFamily="18" charset="0"/>
                                        <a:ea typeface="+mn-ea"/>
                                        <a:cs typeface="+mn-cs"/>
                                      </a:rPr>
                                      <m:t>1</m:t>
                                    </m:r>
                                  </m:den>
                                </m:f>
                                <m:r>
                                  <a:rPr kumimoji="0" lang="he-IL" i="0" kern="1200">
                                    <a:solidFill>
                                      <a:srgbClr val="7030A0"/>
                                    </a:solidFill>
                                    <a:latin typeface="Cambria Math"/>
                                    <a:ea typeface="+mn-ea"/>
                                    <a:cs typeface="+mn-cs"/>
                                  </a:rPr>
                                  <m:t>=</m:t>
                                </m:r>
                                <m:r>
                                  <a:rPr kumimoji="0" lang="he-IL" b="0" i="1" kern="1200" smtClean="0">
                                    <a:solidFill>
                                      <a:srgbClr val="7030A0"/>
                                    </a:solidFill>
                                    <a:latin typeface="Cambria Math" panose="02040503050406030204" pitchFamily="18" charset="0"/>
                                    <a:ea typeface="+mn-ea"/>
                                    <a:cs typeface="+mn-cs"/>
                                  </a:rPr>
                                  <m:t>4</m:t>
                                </m:r>
                              </m:oMath>
                            </m:oMathPara>
                          </a14:m>
                          <a:endParaRPr lang="he-IL" dirty="0"/>
                        </a:p>
                      </a:txBody>
                      <a:tcPr/>
                    </a:tc>
                    <a:tc>
                      <a:txBody>
                        <a:bodyPr/>
                        <a:lstStyle/>
                        <a:p>
                          <a:pPr algn="ctr" rtl="1"/>
                          <a:r>
                            <a:rPr lang="he-IL" b="1" dirty="0">
                              <a:highlight>
                                <a:srgbClr val="FFFF00"/>
                              </a:highlight>
                            </a:rPr>
                            <a:t>0.25</a:t>
                          </a:r>
                        </a:p>
                      </a:txBody>
                      <a:tcPr/>
                    </a:tc>
                    <a:extLst>
                      <a:ext uri="{0D108BD9-81ED-4DB2-BD59-A6C34878D82A}">
                        <a16:rowId xmlns:a16="http://schemas.microsoft.com/office/drawing/2014/main" val="10002"/>
                      </a:ext>
                    </a:extLst>
                  </a:tr>
                  <a:tr h="568084">
                    <a:tc>
                      <a:txBody>
                        <a:bodyPr/>
                        <a:lstStyle/>
                        <a:p>
                          <a:pPr algn="ctr" rtl="1"/>
                          <a:r>
                            <a:rPr lang="he-IL" dirty="0">
                              <a:highlight>
                                <a:srgbClr val="00FF00"/>
                              </a:highlight>
                            </a:rPr>
                            <a:t>40 סוג ג'</a:t>
                          </a:r>
                        </a:p>
                      </a:txBody>
                      <a:tcPr/>
                    </a:tc>
                    <a:tc>
                      <a:txBody>
                        <a:bodyPr/>
                        <a:lstStyle/>
                        <a:p>
                          <a:pPr algn="ctr" rtl="1"/>
                          <a:r>
                            <a:rPr lang="he-IL" dirty="0"/>
                            <a:t>120</a:t>
                          </a:r>
                        </a:p>
                      </a:txBody>
                      <a:tcPr/>
                    </a:tc>
                    <a:tc>
                      <a:txBody>
                        <a:bodyPr/>
                        <a:lstStyle/>
                        <a:p>
                          <a:pPr algn="ctr" rtl="1"/>
                          <a:r>
                            <a:rPr lang="he-IL" dirty="0"/>
                            <a:t>80</a:t>
                          </a:r>
                        </a:p>
                      </a:txBody>
                      <a:tcPr/>
                    </a:tc>
                    <a:tc>
                      <a:txBody>
                        <a:bodyPr/>
                        <a:lstStyle/>
                        <a:p>
                          <a:pPr algn="ctr" rtl="1"/>
                          <a14:m>
                            <m:oMathPara xmlns:m="http://schemas.openxmlformats.org/officeDocument/2006/math">
                              <m:oMathParaPr>
                                <m:jc m:val="centerGroup"/>
                              </m:oMathParaPr>
                              <m:oMath xmlns:m="http://schemas.openxmlformats.org/officeDocument/2006/math">
                                <m:f>
                                  <m:fPr>
                                    <m:ctrlPr>
                                      <a:rPr kumimoji="0" lang="he-IL" i="1" kern="1200" smtClean="0">
                                        <a:solidFill>
                                          <a:srgbClr val="7030A0"/>
                                        </a:solidFill>
                                        <a:highlight>
                                          <a:srgbClr val="00FF00"/>
                                        </a:highlight>
                                        <a:latin typeface="Cambria Math" panose="02040503050406030204" pitchFamily="18" charset="0"/>
                                        <a:ea typeface="+mn-ea"/>
                                        <a:cs typeface="+mn-cs"/>
                                      </a:rPr>
                                    </m:ctrlPr>
                                  </m:fPr>
                                  <m:num>
                                    <m:r>
                                      <a:rPr kumimoji="0" lang="he-IL" b="1" i="1" kern="1200" smtClean="0">
                                        <a:solidFill>
                                          <a:srgbClr val="7030A0"/>
                                        </a:solidFill>
                                        <a:highlight>
                                          <a:srgbClr val="00FF00"/>
                                        </a:highlight>
                                        <a:latin typeface="Cambria Math" panose="02040503050406030204" pitchFamily="18" charset="0"/>
                                        <a:ea typeface="+mn-ea"/>
                                        <a:cs typeface="+mn-cs"/>
                                      </a:rPr>
                                      <m:t>𝟐</m:t>
                                    </m:r>
                                  </m:num>
                                  <m:den>
                                    <m:r>
                                      <a:rPr kumimoji="0" lang="he-IL" b="0" i="1" kern="1200" smtClean="0">
                                        <a:solidFill>
                                          <a:srgbClr val="7030A0"/>
                                        </a:solidFill>
                                        <a:highlight>
                                          <a:srgbClr val="00FF00"/>
                                        </a:highlight>
                                        <a:latin typeface="Cambria Math" panose="02040503050406030204" pitchFamily="18" charset="0"/>
                                        <a:ea typeface="+mn-ea"/>
                                        <a:cs typeface="+mn-cs"/>
                                      </a:rPr>
                                      <m:t>3</m:t>
                                    </m:r>
                                  </m:den>
                                </m:f>
                              </m:oMath>
                            </m:oMathPara>
                          </a14:m>
                          <a:endParaRPr lang="he-IL" dirty="0">
                            <a:highlight>
                              <a:srgbClr val="00FF00"/>
                            </a:highlight>
                          </a:endParaRPr>
                        </a:p>
                      </a:txBody>
                      <a:tcPr/>
                    </a:tc>
                    <a:tc>
                      <a:txBody>
                        <a:bodyPr/>
                        <a:lstStyle/>
                        <a:p>
                          <a:pPr algn="ctr" rtl="1"/>
                          <a:r>
                            <a:rPr lang="he-IL" dirty="0"/>
                            <a:t>1.5</a:t>
                          </a:r>
                        </a:p>
                      </a:txBody>
                      <a:tcPr/>
                    </a:tc>
                    <a:extLst>
                      <a:ext uri="{0D108BD9-81ED-4DB2-BD59-A6C34878D82A}">
                        <a16:rowId xmlns:a16="http://schemas.microsoft.com/office/drawing/2014/main" val="1737795178"/>
                      </a:ext>
                    </a:extLst>
                  </a:tr>
                  <a:tr h="617348">
                    <a:tc>
                      <a:txBody>
                        <a:bodyPr/>
                        <a:lstStyle/>
                        <a:p>
                          <a:pPr algn="ctr" rtl="1"/>
                          <a:r>
                            <a:rPr lang="he-IL" dirty="0" err="1"/>
                            <a:t>סה''כ</a:t>
                          </a:r>
                          <a:endParaRPr lang="he-IL" dirty="0"/>
                        </a:p>
                      </a:txBody>
                      <a:tcPr/>
                    </a:tc>
                    <a:tc>
                      <a:txBody>
                        <a:bodyPr/>
                        <a:lstStyle/>
                        <a:p>
                          <a:pPr algn="ctr" rtl="1"/>
                          <a:r>
                            <a:rPr lang="en-US" sz="1600" dirty="0" err="1"/>
                            <a:t>Xmax</a:t>
                          </a:r>
                          <a:r>
                            <a:rPr lang="en-US" sz="1600" dirty="0"/>
                            <a:t>=</a:t>
                          </a:r>
                          <a:r>
                            <a:rPr lang="en-US" dirty="0"/>
                            <a:t>205</a:t>
                          </a:r>
                          <a:endParaRPr lang="he-IL" dirty="0"/>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dirty="0" err="1"/>
                            <a:t>Ymax</a:t>
                          </a:r>
                          <a:r>
                            <a:rPr lang="en-US" sz="1800" dirty="0"/>
                            <a:t>=</a:t>
                          </a:r>
                          <a:r>
                            <a:rPr lang="en-US" dirty="0"/>
                            <a:t>345</a:t>
                          </a:r>
                          <a:endParaRPr lang="he-IL" dirty="0"/>
                        </a:p>
                      </a:txBody>
                      <a:tcPr/>
                    </a:tc>
                    <a:tc>
                      <a:txBody>
                        <a:bodyPr/>
                        <a:lstStyle/>
                        <a:p>
                          <a:pPr algn="ctr" rtl="1"/>
                          <a:endParaRPr lang="he-IL" dirty="0"/>
                        </a:p>
                      </a:txBody>
                      <a:tcPr/>
                    </a:tc>
                    <a:tc>
                      <a:txBody>
                        <a:bodyPr/>
                        <a:lstStyle/>
                        <a:p>
                          <a:pPr algn="ctr" rtl="1"/>
                          <a:endParaRPr lang="he-IL" dirty="0"/>
                        </a:p>
                      </a:txBody>
                      <a:tcPr/>
                    </a:tc>
                    <a:extLst>
                      <a:ext uri="{0D108BD9-81ED-4DB2-BD59-A6C34878D82A}">
                        <a16:rowId xmlns:a16="http://schemas.microsoft.com/office/drawing/2014/main" val="3815036922"/>
                      </a:ext>
                    </a:extLst>
                  </a:tr>
                </a:tbl>
              </a:graphicData>
            </a:graphic>
          </p:graphicFrame>
        </mc:Choice>
        <mc:Fallback>
          <p:graphicFrame>
            <p:nvGraphicFramePr>
              <p:cNvPr id="4" name="טבלה 3">
                <a:extLst>
                  <a:ext uri="{FF2B5EF4-FFF2-40B4-BE49-F238E27FC236}">
                    <a16:creationId xmlns:a16="http://schemas.microsoft.com/office/drawing/2014/main" id="{1634AA6E-6403-0088-83AE-8FE5376615F7}"/>
                  </a:ext>
                </a:extLst>
              </p:cNvPr>
              <p:cNvGraphicFramePr>
                <a:graphicFrameLocks noGrp="1"/>
              </p:cNvGraphicFramePr>
              <p:nvPr>
                <p:extLst>
                  <p:ext uri="{D42A27DB-BD31-4B8C-83A1-F6EECF244321}">
                    <p14:modId xmlns:p14="http://schemas.microsoft.com/office/powerpoint/2010/main" val="58373324"/>
                  </p:ext>
                </p:extLst>
              </p:nvPr>
            </p:nvGraphicFramePr>
            <p:xfrm>
              <a:off x="1105469" y="1877475"/>
              <a:ext cx="7037895" cy="3103049"/>
            </p:xfrm>
            <a:graphic>
              <a:graphicData uri="http://schemas.openxmlformats.org/drawingml/2006/table">
                <a:tbl>
                  <a:tblPr rtl="1" firstRow="1" bandRow="1">
                    <a:tableStyleId>{5C22544A-7EE6-4342-B048-85BDC9FD1C3A}</a:tableStyleId>
                  </a:tblPr>
                  <a:tblGrid>
                    <a:gridCol w="1183006">
                      <a:extLst>
                        <a:ext uri="{9D8B030D-6E8A-4147-A177-3AD203B41FA5}">
                          <a16:colId xmlns:a16="http://schemas.microsoft.com/office/drawing/2014/main" val="20000"/>
                        </a:ext>
                      </a:extLst>
                    </a:gridCol>
                    <a:gridCol w="1392071">
                      <a:extLst>
                        <a:ext uri="{9D8B030D-6E8A-4147-A177-3AD203B41FA5}">
                          <a16:colId xmlns:a16="http://schemas.microsoft.com/office/drawing/2014/main" val="20001"/>
                        </a:ext>
                      </a:extLst>
                    </a:gridCol>
                    <a:gridCol w="1296537">
                      <a:extLst>
                        <a:ext uri="{9D8B030D-6E8A-4147-A177-3AD203B41FA5}">
                          <a16:colId xmlns:a16="http://schemas.microsoft.com/office/drawing/2014/main" val="20002"/>
                        </a:ext>
                      </a:extLst>
                    </a:gridCol>
                    <a:gridCol w="1542197">
                      <a:extLst>
                        <a:ext uri="{9D8B030D-6E8A-4147-A177-3AD203B41FA5}">
                          <a16:colId xmlns:a16="http://schemas.microsoft.com/office/drawing/2014/main" val="20003"/>
                        </a:ext>
                      </a:extLst>
                    </a:gridCol>
                    <a:gridCol w="1624084">
                      <a:extLst>
                        <a:ext uri="{9D8B030D-6E8A-4147-A177-3AD203B41FA5}">
                          <a16:colId xmlns:a16="http://schemas.microsoft.com/office/drawing/2014/main" val="20004"/>
                        </a:ext>
                      </a:extLst>
                    </a:gridCol>
                  </a:tblGrid>
                  <a:tr h="650994">
                    <a:tc>
                      <a:txBody>
                        <a:bodyPr/>
                        <a:lstStyle/>
                        <a:p>
                          <a:pPr algn="ctr" rtl="1"/>
                          <a:r>
                            <a:rPr lang="he-IL" dirty="0"/>
                            <a:t>כמות גו''י</a:t>
                          </a:r>
                        </a:p>
                      </a:txBody>
                      <a:tcPr/>
                    </a:tc>
                    <a:tc>
                      <a:txBody>
                        <a:bodyPr/>
                        <a:lstStyle/>
                        <a:p>
                          <a:pPr algn="ctr" rtl="1"/>
                          <a:r>
                            <a:rPr lang="he-IL" dirty="0"/>
                            <a:t>כמות</a:t>
                          </a:r>
                          <a:r>
                            <a:rPr lang="he-IL" baseline="0" dirty="0"/>
                            <a:t> </a:t>
                          </a:r>
                          <a:r>
                            <a:rPr lang="en-US" baseline="0" dirty="0"/>
                            <a:t>X</a:t>
                          </a:r>
                          <a:endParaRPr lang="he-IL" sz="1400" b="0" dirty="0"/>
                        </a:p>
                      </a:txBody>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he-IL" dirty="0"/>
                            <a:t>כמות</a:t>
                          </a:r>
                          <a:r>
                            <a:rPr lang="he-IL" baseline="0" dirty="0"/>
                            <a:t> </a:t>
                          </a:r>
                          <a:r>
                            <a:rPr lang="en-US" baseline="0" dirty="0"/>
                            <a:t>Y</a:t>
                          </a:r>
                          <a:endParaRPr lang="he-IL" dirty="0"/>
                        </a:p>
                      </a:txBody>
                      <a:tcPr/>
                    </a:tc>
                    <a:tc>
                      <a:txBody>
                        <a:bodyPr/>
                        <a:lstStyle/>
                        <a:p>
                          <a:pPr algn="ctr" rtl="1"/>
                          <a:r>
                            <a:rPr lang="he-IL" dirty="0"/>
                            <a:t>עלות אלט' שולית לייצור </a:t>
                          </a:r>
                          <a:r>
                            <a:rPr lang="en-US" dirty="0"/>
                            <a:t>X</a:t>
                          </a:r>
                          <a:endParaRPr lang="he-IL" dirty="0"/>
                        </a:p>
                      </a:txBody>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he-IL" dirty="0"/>
                            <a:t>עלות אלט' שולית לייצור </a:t>
                          </a:r>
                          <a:r>
                            <a:rPr lang="en-US" dirty="0"/>
                            <a:t>Y</a:t>
                          </a:r>
                          <a:endParaRPr lang="he-IL" dirty="0"/>
                        </a:p>
                      </a:txBody>
                      <a:tcPr/>
                    </a:tc>
                    <a:extLst>
                      <a:ext uri="{0D108BD9-81ED-4DB2-BD59-A6C34878D82A}">
                        <a16:rowId xmlns:a16="http://schemas.microsoft.com/office/drawing/2014/main" val="10000"/>
                      </a:ext>
                    </a:extLst>
                  </a:tr>
                  <a:tr h="610553">
                    <a:tc>
                      <a:txBody>
                        <a:bodyPr/>
                        <a:lstStyle/>
                        <a:p>
                          <a:pPr algn="ctr" rtl="1"/>
                          <a:r>
                            <a:rPr lang="he-IL" dirty="0">
                              <a:solidFill>
                                <a:srgbClr val="7030A0"/>
                              </a:solidFill>
                            </a:rPr>
                            <a:t>25 </a:t>
                          </a:r>
                          <a:r>
                            <a:rPr lang="he-IL" dirty="0">
                              <a:solidFill>
                                <a:srgbClr val="7030A0"/>
                              </a:solidFill>
                              <a:highlight>
                                <a:srgbClr val="FFFF00"/>
                              </a:highlight>
                            </a:rPr>
                            <a:t>ס</a:t>
                          </a:r>
                          <a:r>
                            <a:rPr lang="he-IL" dirty="0">
                              <a:solidFill>
                                <a:srgbClr val="7030A0"/>
                              </a:solidFill>
                            </a:rPr>
                            <a:t>ו</a:t>
                          </a:r>
                          <a:r>
                            <a:rPr lang="he-IL" dirty="0">
                              <a:solidFill>
                                <a:srgbClr val="7030A0"/>
                              </a:solidFill>
                              <a:highlight>
                                <a:srgbClr val="00FF00"/>
                              </a:highlight>
                            </a:rPr>
                            <a:t>ג</a:t>
                          </a:r>
                          <a:r>
                            <a:rPr lang="he-IL" dirty="0">
                              <a:solidFill>
                                <a:srgbClr val="7030A0"/>
                              </a:solidFill>
                            </a:rPr>
                            <a:t> א</a:t>
                          </a:r>
                          <a:endParaRPr lang="he-IL" dirty="0"/>
                        </a:p>
                      </a:txBody>
                      <a:tcPr/>
                    </a:tc>
                    <a:tc>
                      <a:txBody>
                        <a:bodyPr/>
                        <a:lstStyle/>
                        <a:p>
                          <a:pPr algn="ctr" rtl="1"/>
                          <a:r>
                            <a:rPr lang="he-IL" dirty="0">
                              <a:solidFill>
                                <a:srgbClr val="7030A0"/>
                              </a:solidFill>
                            </a:rPr>
                            <a:t>50</a:t>
                          </a:r>
                        </a:p>
                      </a:txBody>
                      <a:tcPr/>
                    </a:tc>
                    <a:tc>
                      <a:txBody>
                        <a:bodyPr/>
                        <a:lstStyle/>
                        <a:p>
                          <a:pPr algn="ctr" rtl="1"/>
                          <a:r>
                            <a:rPr lang="he-IL" dirty="0">
                              <a:solidFill>
                                <a:srgbClr val="7030A0"/>
                              </a:solidFill>
                            </a:rPr>
                            <a:t>125</a:t>
                          </a:r>
                        </a:p>
                      </a:txBody>
                      <a:tcPr/>
                    </a:tc>
                    <a:tc>
                      <a:txBody>
                        <a:bodyPr/>
                        <a:lstStyle/>
                        <a:p>
                          <a:endParaRPr lang="en-IL"/>
                        </a:p>
                      </a:txBody>
                      <a:tcPr>
                        <a:blipFill>
                          <a:blip r:embed="rId2"/>
                          <a:stretch>
                            <a:fillRect l="-251383" t="-111881" r="-107510" b="-301980"/>
                          </a:stretch>
                        </a:blipFill>
                      </a:tcPr>
                    </a:tc>
                    <a:tc>
                      <a:txBody>
                        <a:bodyPr/>
                        <a:lstStyle/>
                        <a:p>
                          <a:endParaRPr lang="en-IL"/>
                        </a:p>
                      </a:txBody>
                      <a:tcPr>
                        <a:blipFill>
                          <a:blip r:embed="rId2"/>
                          <a:stretch>
                            <a:fillRect l="-332959" t="-111881" r="-1873" b="-301980"/>
                          </a:stretch>
                        </a:blipFill>
                      </a:tcPr>
                    </a:tc>
                    <a:extLst>
                      <a:ext uri="{0D108BD9-81ED-4DB2-BD59-A6C34878D82A}">
                        <a16:rowId xmlns:a16="http://schemas.microsoft.com/office/drawing/2014/main" val="10001"/>
                      </a:ext>
                    </a:extLst>
                  </a:tr>
                  <a:tr h="617348">
                    <a:tc>
                      <a:txBody>
                        <a:bodyPr/>
                        <a:lstStyle/>
                        <a:p>
                          <a:pPr algn="ctr" rtl="1"/>
                          <a:r>
                            <a:rPr lang="he-IL" b="1" dirty="0">
                              <a:solidFill>
                                <a:schemeClr val="bg2">
                                  <a:lumMod val="10000"/>
                                </a:schemeClr>
                              </a:solidFill>
                              <a:highlight>
                                <a:srgbClr val="FFFF00"/>
                              </a:highlight>
                            </a:rPr>
                            <a:t>35 סוג ב'</a:t>
                          </a:r>
                        </a:p>
                      </a:txBody>
                      <a:tcPr/>
                    </a:tc>
                    <a:tc>
                      <a:txBody>
                        <a:bodyPr/>
                        <a:lstStyle/>
                        <a:p>
                          <a:pPr algn="ctr" rtl="1"/>
                          <a:r>
                            <a:rPr lang="he-IL" dirty="0">
                              <a:solidFill>
                                <a:schemeClr val="tx1"/>
                              </a:solidFill>
                            </a:rPr>
                            <a:t>35</a:t>
                          </a:r>
                        </a:p>
                      </a:txBody>
                      <a:tcPr/>
                    </a:tc>
                    <a:tc>
                      <a:txBody>
                        <a:bodyPr/>
                        <a:lstStyle/>
                        <a:p>
                          <a:pPr algn="ctr" rtl="1"/>
                          <a:r>
                            <a:rPr lang="he-IL" dirty="0">
                              <a:solidFill>
                                <a:schemeClr val="tx1"/>
                              </a:solidFill>
                            </a:rPr>
                            <a:t>140</a:t>
                          </a:r>
                        </a:p>
                      </a:txBody>
                      <a:tcPr/>
                    </a:tc>
                    <a:tc>
                      <a:txBody>
                        <a:bodyPr/>
                        <a:lstStyle/>
                        <a:p>
                          <a:endParaRPr lang="en-IL"/>
                        </a:p>
                      </a:txBody>
                      <a:tcPr>
                        <a:blipFill>
                          <a:blip r:embed="rId2"/>
                          <a:stretch>
                            <a:fillRect l="-251383" t="-211881" r="-107510" b="-201980"/>
                          </a:stretch>
                        </a:blipFill>
                      </a:tcPr>
                    </a:tc>
                    <a:tc>
                      <a:txBody>
                        <a:bodyPr/>
                        <a:lstStyle/>
                        <a:p>
                          <a:pPr algn="ctr" rtl="1"/>
                          <a:r>
                            <a:rPr lang="he-IL" b="1" dirty="0">
                              <a:highlight>
                                <a:srgbClr val="FFFF00"/>
                              </a:highlight>
                            </a:rPr>
                            <a:t>0.25</a:t>
                          </a:r>
                        </a:p>
                      </a:txBody>
                      <a:tcPr/>
                    </a:tc>
                    <a:extLst>
                      <a:ext uri="{0D108BD9-81ED-4DB2-BD59-A6C34878D82A}">
                        <a16:rowId xmlns:a16="http://schemas.microsoft.com/office/drawing/2014/main" val="10002"/>
                      </a:ext>
                    </a:extLst>
                  </a:tr>
                  <a:tr h="606806">
                    <a:tc>
                      <a:txBody>
                        <a:bodyPr/>
                        <a:lstStyle/>
                        <a:p>
                          <a:pPr algn="ctr" rtl="1"/>
                          <a:r>
                            <a:rPr lang="he-IL" dirty="0">
                              <a:highlight>
                                <a:srgbClr val="00FF00"/>
                              </a:highlight>
                            </a:rPr>
                            <a:t>40 סוג ג'</a:t>
                          </a:r>
                        </a:p>
                      </a:txBody>
                      <a:tcPr/>
                    </a:tc>
                    <a:tc>
                      <a:txBody>
                        <a:bodyPr/>
                        <a:lstStyle/>
                        <a:p>
                          <a:pPr algn="ctr" rtl="1"/>
                          <a:r>
                            <a:rPr lang="he-IL" dirty="0"/>
                            <a:t>120</a:t>
                          </a:r>
                        </a:p>
                      </a:txBody>
                      <a:tcPr/>
                    </a:tc>
                    <a:tc>
                      <a:txBody>
                        <a:bodyPr/>
                        <a:lstStyle/>
                        <a:p>
                          <a:pPr algn="ctr" rtl="1"/>
                          <a:r>
                            <a:rPr lang="he-IL" dirty="0"/>
                            <a:t>80</a:t>
                          </a:r>
                        </a:p>
                      </a:txBody>
                      <a:tcPr/>
                    </a:tc>
                    <a:tc>
                      <a:txBody>
                        <a:bodyPr/>
                        <a:lstStyle/>
                        <a:p>
                          <a:endParaRPr lang="en-IL"/>
                        </a:p>
                      </a:txBody>
                      <a:tcPr>
                        <a:blipFill>
                          <a:blip r:embed="rId2"/>
                          <a:stretch>
                            <a:fillRect l="-251383" t="-315000" r="-107510" b="-104000"/>
                          </a:stretch>
                        </a:blipFill>
                      </a:tcPr>
                    </a:tc>
                    <a:tc>
                      <a:txBody>
                        <a:bodyPr/>
                        <a:lstStyle/>
                        <a:p>
                          <a:pPr algn="ctr" rtl="1"/>
                          <a:r>
                            <a:rPr lang="he-IL" dirty="0"/>
                            <a:t>1.5</a:t>
                          </a:r>
                        </a:p>
                      </a:txBody>
                      <a:tcPr/>
                    </a:tc>
                    <a:extLst>
                      <a:ext uri="{0D108BD9-81ED-4DB2-BD59-A6C34878D82A}">
                        <a16:rowId xmlns:a16="http://schemas.microsoft.com/office/drawing/2014/main" val="1737795178"/>
                      </a:ext>
                    </a:extLst>
                  </a:tr>
                  <a:tr h="617348">
                    <a:tc>
                      <a:txBody>
                        <a:bodyPr/>
                        <a:lstStyle/>
                        <a:p>
                          <a:pPr algn="ctr" rtl="1"/>
                          <a:r>
                            <a:rPr lang="he-IL" dirty="0" err="1"/>
                            <a:t>סה''כ</a:t>
                          </a:r>
                          <a:endParaRPr lang="he-IL" dirty="0"/>
                        </a:p>
                      </a:txBody>
                      <a:tcPr/>
                    </a:tc>
                    <a:tc>
                      <a:txBody>
                        <a:bodyPr/>
                        <a:lstStyle/>
                        <a:p>
                          <a:pPr algn="ctr" rtl="1"/>
                          <a:r>
                            <a:rPr lang="en-US" sz="1600" dirty="0" err="1"/>
                            <a:t>Xmax</a:t>
                          </a:r>
                          <a:r>
                            <a:rPr lang="en-US" sz="1600" dirty="0"/>
                            <a:t>=</a:t>
                          </a:r>
                          <a:r>
                            <a:rPr lang="en-US" dirty="0"/>
                            <a:t>205</a:t>
                          </a:r>
                          <a:endParaRPr lang="he-IL" dirty="0"/>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dirty="0" err="1"/>
                            <a:t>Ymax</a:t>
                          </a:r>
                          <a:r>
                            <a:rPr lang="en-US" sz="1800" dirty="0"/>
                            <a:t>=</a:t>
                          </a:r>
                          <a:r>
                            <a:rPr lang="en-US" dirty="0"/>
                            <a:t>345</a:t>
                          </a:r>
                          <a:endParaRPr lang="he-IL" dirty="0"/>
                        </a:p>
                      </a:txBody>
                      <a:tcPr/>
                    </a:tc>
                    <a:tc>
                      <a:txBody>
                        <a:bodyPr/>
                        <a:lstStyle/>
                        <a:p>
                          <a:pPr algn="ctr" rtl="1"/>
                          <a:endParaRPr lang="he-IL" dirty="0"/>
                        </a:p>
                      </a:txBody>
                      <a:tcPr/>
                    </a:tc>
                    <a:tc>
                      <a:txBody>
                        <a:bodyPr/>
                        <a:lstStyle/>
                        <a:p>
                          <a:pPr algn="ctr" rtl="1"/>
                          <a:endParaRPr lang="he-IL" dirty="0"/>
                        </a:p>
                      </a:txBody>
                      <a:tcPr/>
                    </a:tc>
                    <a:extLst>
                      <a:ext uri="{0D108BD9-81ED-4DB2-BD59-A6C34878D82A}">
                        <a16:rowId xmlns:a16="http://schemas.microsoft.com/office/drawing/2014/main" val="3815036922"/>
                      </a:ext>
                    </a:extLst>
                  </a:tr>
                </a:tbl>
              </a:graphicData>
            </a:graphic>
          </p:graphicFrame>
        </mc:Fallback>
      </mc:AlternateContent>
      <p:sp>
        <p:nvSpPr>
          <p:cNvPr id="6" name="תיבת טקסט 5">
            <a:extLst>
              <a:ext uri="{FF2B5EF4-FFF2-40B4-BE49-F238E27FC236}">
                <a16:creationId xmlns:a16="http://schemas.microsoft.com/office/drawing/2014/main" id="{8F3F8C70-7336-E240-4840-7C929218F8D0}"/>
              </a:ext>
            </a:extLst>
          </p:cNvPr>
          <p:cNvSpPr txBox="1"/>
          <p:nvPr/>
        </p:nvSpPr>
        <p:spPr>
          <a:xfrm>
            <a:off x="1009935" y="5421799"/>
            <a:ext cx="10617958" cy="1200329"/>
          </a:xfrm>
          <a:prstGeom prst="rect">
            <a:avLst/>
          </a:prstGeom>
          <a:noFill/>
        </p:spPr>
        <p:txBody>
          <a:bodyPr wrap="square" rtlCol="0">
            <a:spAutoFit/>
          </a:bodyPr>
          <a:lstStyle/>
          <a:p>
            <a:pPr algn="r" rtl="1"/>
            <a:r>
              <a:rPr lang="he-IL" dirty="0"/>
              <a:t>כל עובדי ב' מייצרים </a:t>
            </a:r>
            <a:r>
              <a:rPr lang="en-US" dirty="0"/>
              <a:t>Y</a:t>
            </a:r>
            <a:r>
              <a:rPr lang="he-IL" dirty="0"/>
              <a:t>ים (140) כיוון שיש להם יתרון יחסי בייצור </a:t>
            </a:r>
            <a:r>
              <a:rPr lang="en-US" dirty="0"/>
              <a:t>Y</a:t>
            </a:r>
            <a:r>
              <a:rPr lang="he-IL" dirty="0"/>
              <a:t>, ועוד 15 מעובדי א' מייצרים </a:t>
            </a:r>
            <a:r>
              <a:rPr lang="en-US" dirty="0"/>
              <a:t>Y</a:t>
            </a:r>
            <a:r>
              <a:rPr lang="he-IL" dirty="0"/>
              <a:t>ים (נתון) כלומר עובדי א' מייצרים 15*5=75 יחידות </a:t>
            </a:r>
            <a:r>
              <a:rPr lang="en-US" dirty="0"/>
              <a:t>Y</a:t>
            </a:r>
            <a:r>
              <a:rPr lang="he-IL" dirty="0"/>
              <a:t> נוספות, </a:t>
            </a:r>
            <a:r>
              <a:rPr lang="he-IL" dirty="0" err="1"/>
              <a:t>בסה</a:t>
            </a:r>
            <a:r>
              <a:rPr lang="he-IL" dirty="0"/>
              <a:t>''כ במשק מייצרים 140+75 יחידות </a:t>
            </a:r>
            <a:r>
              <a:rPr lang="en-US" dirty="0"/>
              <a:t>Y</a:t>
            </a:r>
            <a:r>
              <a:rPr lang="he-IL" dirty="0"/>
              <a:t> כלומר 215 יחידות </a:t>
            </a:r>
            <a:r>
              <a:rPr lang="en-US" dirty="0"/>
              <a:t>Y</a:t>
            </a:r>
            <a:r>
              <a:rPr lang="he-IL" dirty="0"/>
              <a:t>, </a:t>
            </a:r>
            <a:br>
              <a:rPr lang="en-US" dirty="0"/>
            </a:br>
            <a:r>
              <a:rPr lang="he-IL" dirty="0"/>
              <a:t>וגם 10 עובדי א' מייצרים 20 יחידות </a:t>
            </a:r>
            <a:r>
              <a:rPr lang="en-US" dirty="0"/>
              <a:t>X</a:t>
            </a:r>
            <a:r>
              <a:rPr lang="he-IL" dirty="0"/>
              <a:t> ועובדי ג' מייצרים 120 יחידות </a:t>
            </a:r>
            <a:r>
              <a:rPr lang="en-US" dirty="0"/>
              <a:t>X</a:t>
            </a:r>
            <a:r>
              <a:rPr lang="he-IL" dirty="0"/>
              <a:t> כלומר </a:t>
            </a:r>
            <a:r>
              <a:rPr lang="he-IL" dirty="0" err="1"/>
              <a:t>בסה</a:t>
            </a:r>
            <a:r>
              <a:rPr lang="he-IL" dirty="0"/>
              <a:t>''כ מייצרים </a:t>
            </a:r>
            <a:r>
              <a:rPr lang="he-IL" b="1" dirty="0"/>
              <a:t>140 יחידות </a:t>
            </a:r>
            <a:r>
              <a:rPr lang="en-US" b="1" dirty="0"/>
              <a:t>X</a:t>
            </a:r>
            <a:r>
              <a:rPr lang="he-IL" b="1" dirty="0"/>
              <a:t> </a:t>
            </a:r>
            <a:r>
              <a:rPr lang="he-IL" dirty="0"/>
              <a:t>לפי התמחות/יתרונות יחסיים. </a:t>
            </a:r>
            <a:endParaRPr lang="en-IL" dirty="0"/>
          </a:p>
        </p:txBody>
      </p:sp>
    </p:spTree>
    <p:extLst>
      <p:ext uri="{BB962C8B-B14F-4D97-AF65-F5344CB8AC3E}">
        <p14:creationId xmlns:p14="http://schemas.microsoft.com/office/powerpoint/2010/main" val="38732118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494EE-F673-5036-0509-D799863495BC}"/>
              </a:ext>
            </a:extLst>
          </p:cNvPr>
          <p:cNvSpPr>
            <a:spLocks noGrp="1"/>
          </p:cNvSpPr>
          <p:nvPr>
            <p:ph type="title"/>
          </p:nvPr>
        </p:nvSpPr>
        <p:spPr>
          <a:xfrm>
            <a:off x="8308427" y="414282"/>
            <a:ext cx="3660228" cy="533509"/>
          </a:xfrm>
        </p:spPr>
        <p:txBody>
          <a:bodyPr>
            <a:normAutofit fontScale="90000"/>
          </a:bodyPr>
          <a:lstStyle/>
          <a:p>
            <a:pPr algn="r" rtl="1"/>
            <a:r>
              <a:rPr lang="he-IL" dirty="0"/>
              <a:t>שאלה 4 מהבחינה</a:t>
            </a:r>
            <a:endParaRPr lang="en-IL" dirty="0"/>
          </a:p>
        </p:txBody>
      </p:sp>
      <p:sp>
        <p:nvSpPr>
          <p:cNvPr id="3" name="Content Placeholder 2">
            <a:extLst>
              <a:ext uri="{FF2B5EF4-FFF2-40B4-BE49-F238E27FC236}">
                <a16:creationId xmlns:a16="http://schemas.microsoft.com/office/drawing/2014/main" id="{411A47A3-6F71-89A9-0418-E7097145D628}"/>
              </a:ext>
            </a:extLst>
          </p:cNvPr>
          <p:cNvSpPr>
            <a:spLocks noGrp="1"/>
          </p:cNvSpPr>
          <p:nvPr>
            <p:ph idx="1"/>
          </p:nvPr>
        </p:nvSpPr>
        <p:spPr>
          <a:xfrm>
            <a:off x="993228" y="2540164"/>
            <a:ext cx="10691649" cy="3903554"/>
          </a:xfrm>
        </p:spPr>
        <p:txBody>
          <a:bodyPr>
            <a:normAutofit/>
          </a:bodyPr>
          <a:lstStyle/>
          <a:p>
            <a:pPr marL="0" indent="0" algn="just" rtl="1">
              <a:lnSpc>
                <a:spcPct val="150000"/>
              </a:lnSpc>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לרשות המשק 25 פועלים סוג א', 35 פועלים סוג ב' ו – 40 פועלים סוג ג'. אם ידוע כי 15 עובדים מסוג א מייצרים </a:t>
            </a:r>
            <a:r>
              <a:rPr lang="en-US" sz="1800" b="1" dirty="0">
                <a:effectLst/>
                <a:latin typeface="Arial" panose="020B0604020202020204" pitchFamily="34" charset="0"/>
                <a:ea typeface="Times New Roman" panose="02020603050405020304" pitchFamily="18" charset="0"/>
                <a:cs typeface="Arial" panose="020B0604020202020204" pitchFamily="34" charset="0"/>
              </a:rPr>
              <a:t>Y</a:t>
            </a:r>
            <a:r>
              <a:rPr lang="he-IL" sz="1800" b="1" dirty="0">
                <a:effectLst/>
                <a:latin typeface="Calibri" panose="020F0502020204030204" pitchFamily="34" charset="0"/>
                <a:ea typeface="Times New Roman" panose="02020603050405020304" pitchFamily="18" charset="0"/>
                <a:cs typeface="Arial" panose="020B0604020202020204" pitchFamily="34" charset="0"/>
              </a:rPr>
              <a:t> אזי במשק מייצרים:</a:t>
            </a:r>
            <a:endParaRPr lang="en-IL"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r" rtl="1">
              <a:lnSpc>
                <a:spcPct val="150000"/>
              </a:lnSpc>
              <a:buFont typeface="+mj-lt"/>
              <a:buAutoNum type="arabicPeriod"/>
            </a:pPr>
            <a:r>
              <a:rPr lang="he-IL" sz="1800" dirty="0">
                <a:latin typeface="Times New Roman" panose="02020603050405020304" pitchFamily="18" charset="0"/>
                <a:ea typeface="Times New Roman" panose="02020603050405020304" pitchFamily="18" charset="0"/>
              </a:rPr>
              <a:t>140 יחידות </a:t>
            </a:r>
            <a:r>
              <a:rPr lang="en-US" sz="1800" dirty="0">
                <a:effectLst/>
                <a:latin typeface="Arial" panose="020B0604020202020204" pitchFamily="34" charset="0"/>
                <a:ea typeface="Times New Roman" panose="02020603050405020304" pitchFamily="18" charset="0"/>
              </a:rPr>
              <a:t>Y</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latin typeface="Times New Roman" panose="02020603050405020304" pitchFamily="18" charset="0"/>
                <a:ea typeface="Times New Roman" panose="02020603050405020304" pitchFamily="18" charset="0"/>
              </a:rPr>
              <a:t>150 יחידות </a:t>
            </a:r>
            <a:r>
              <a:rPr lang="en-US" sz="1800" dirty="0">
                <a:effectLst/>
                <a:latin typeface="Arial" panose="020B0604020202020204" pitchFamily="34" charset="0"/>
                <a:ea typeface="Times New Roman" panose="02020603050405020304" pitchFamily="18" charset="0"/>
              </a:rPr>
              <a:t>Y</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highlight>
                  <a:srgbClr val="FFFF00"/>
                </a:highlight>
                <a:latin typeface="Times New Roman" panose="02020603050405020304" pitchFamily="18" charset="0"/>
                <a:ea typeface="Times New Roman" panose="02020603050405020304" pitchFamily="18" charset="0"/>
                <a:cs typeface="Arial" panose="020B0604020202020204" pitchFamily="34" charset="0"/>
              </a:rPr>
              <a:t>140 יחידות </a:t>
            </a:r>
            <a:r>
              <a:rPr lang="en-US" sz="1800" dirty="0">
                <a:effectLst/>
                <a:highlight>
                  <a:srgbClr val="FFFF00"/>
                </a:highlight>
                <a:latin typeface="Arial" panose="020B0604020202020204" pitchFamily="34" charset="0"/>
                <a:ea typeface="Times New Roman" panose="02020603050405020304" pitchFamily="18" charset="0"/>
              </a:rPr>
              <a:t>X</a:t>
            </a:r>
            <a:endParaRPr lang="en-IL" sz="1800" dirty="0">
              <a:effectLst/>
              <a:highlight>
                <a:srgbClr val="FFFF00"/>
              </a:highligh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150 יחידות </a:t>
            </a:r>
            <a:r>
              <a:rPr lang="en-US" sz="1800" dirty="0">
                <a:effectLst/>
                <a:latin typeface="Arial" panose="020B0604020202020204" pitchFamily="34" charset="0"/>
                <a:ea typeface="Times New Roman" panose="02020603050405020304" pitchFamily="18" charset="0"/>
              </a:rPr>
              <a:t>X</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כל בתשובות אחרות לא נכונות</a:t>
            </a:r>
            <a:endParaRPr lang="en-IL" sz="1800" dirty="0">
              <a:effectLst/>
              <a:latin typeface="Times New Roman" panose="02020603050405020304" pitchFamily="18" charset="0"/>
              <a:ea typeface="Times New Roman" panose="02020603050405020304" pitchFamily="18" charset="0"/>
            </a:endParaRPr>
          </a:p>
          <a:p>
            <a:pPr marL="0" indent="0" algn="r" rtl="1">
              <a:buNone/>
            </a:pPr>
            <a:endParaRPr lang="en-IL" dirty="0"/>
          </a:p>
        </p:txBody>
      </p:sp>
      <p:sp>
        <p:nvSpPr>
          <p:cNvPr id="5" name="TextBox 4">
            <a:extLst>
              <a:ext uri="{FF2B5EF4-FFF2-40B4-BE49-F238E27FC236}">
                <a16:creationId xmlns:a16="http://schemas.microsoft.com/office/drawing/2014/main" id="{4FDB2E75-CAF7-A07B-DA93-DBEA10D04AE9}"/>
              </a:ext>
            </a:extLst>
          </p:cNvPr>
          <p:cNvSpPr txBox="1"/>
          <p:nvPr/>
        </p:nvSpPr>
        <p:spPr>
          <a:xfrm>
            <a:off x="428296" y="414282"/>
            <a:ext cx="8029903" cy="2010807"/>
          </a:xfrm>
          <a:prstGeom prst="rect">
            <a:avLst/>
          </a:prstGeom>
          <a:noFill/>
        </p:spPr>
        <p:txBody>
          <a:bodyPr wrap="square">
            <a:spAutoFit/>
          </a:bodyPr>
          <a:lstStyle/>
          <a:p>
            <a:pPr marL="0" indent="0" algn="just" rtl="1">
              <a:lnSpc>
                <a:spcPct val="150000"/>
              </a:lnSpc>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במשק מייצרים ביעילות שני סוגי מוצרים. במשק ישנם 3 סוגי עובדים. </a:t>
            </a:r>
          </a:p>
          <a:p>
            <a:pPr marL="0" indent="0" algn="just" rtl="1">
              <a:lnSpc>
                <a:spcPct val="150000"/>
              </a:lnSpc>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עובד סוג א' מסוגל לייצר 2 יחידות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או 5 יחידות </a:t>
            </a:r>
            <a:r>
              <a:rPr lang="en-US" sz="1800" b="1" dirty="0">
                <a:effectLst/>
                <a:latin typeface="Arial" panose="020B0604020202020204" pitchFamily="34" charset="0"/>
                <a:ea typeface="Times New Roman" panose="02020603050405020304" pitchFamily="18" charset="0"/>
                <a:cs typeface="Arial" panose="020B0604020202020204" pitchFamily="34" charset="0"/>
              </a:rPr>
              <a:t>Y</a:t>
            </a:r>
            <a:r>
              <a:rPr lang="he-IL" sz="1800" b="1" dirty="0">
                <a:effectLst/>
                <a:latin typeface="Calibri" panose="020F0502020204030204" pitchFamily="34" charset="0"/>
                <a:ea typeface="Times New Roman" panose="02020603050405020304" pitchFamily="18" charset="0"/>
                <a:cs typeface="Arial" panose="020B0604020202020204" pitchFamily="34" charset="0"/>
              </a:rPr>
              <a:t>, </a:t>
            </a:r>
          </a:p>
          <a:p>
            <a:pPr marL="0" indent="0" algn="just" rtl="1">
              <a:lnSpc>
                <a:spcPct val="150000"/>
              </a:lnSpc>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עובד סוג ב' מסוגל לייצר 1 יחידת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או 4 יחידות </a:t>
            </a:r>
            <a:r>
              <a:rPr lang="en-US" sz="1800" b="1" dirty="0">
                <a:effectLst/>
                <a:latin typeface="Arial" panose="020B0604020202020204" pitchFamily="34" charset="0"/>
                <a:ea typeface="Times New Roman" panose="02020603050405020304" pitchFamily="18" charset="0"/>
                <a:cs typeface="Arial" panose="020B0604020202020204" pitchFamily="34" charset="0"/>
              </a:rPr>
              <a:t>Y</a:t>
            </a:r>
            <a:r>
              <a:rPr lang="he-IL" sz="1800" b="1" dirty="0">
                <a:effectLst/>
                <a:latin typeface="Calibri" panose="020F0502020204030204" pitchFamily="34" charset="0"/>
                <a:ea typeface="Times New Roman" panose="02020603050405020304" pitchFamily="18" charset="0"/>
                <a:cs typeface="Arial" panose="020B0604020202020204" pitchFamily="34" charset="0"/>
              </a:rPr>
              <a:t> </a:t>
            </a:r>
          </a:p>
          <a:p>
            <a:pPr marL="0" indent="0" algn="just" rtl="1">
              <a:lnSpc>
                <a:spcPct val="150000"/>
              </a:lnSpc>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ועובד מסוג ג' מסוגל לייצר 3 יחידות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או 2 יחידות </a:t>
            </a:r>
            <a:r>
              <a:rPr lang="en-US" sz="1800" b="1" dirty="0">
                <a:effectLst/>
                <a:latin typeface="Arial" panose="020B0604020202020204" pitchFamily="34" charset="0"/>
                <a:ea typeface="Times New Roman" panose="02020603050405020304" pitchFamily="18" charset="0"/>
                <a:cs typeface="Arial" panose="020B0604020202020204" pitchFamily="34" charset="0"/>
              </a:rPr>
              <a:t>Y</a:t>
            </a:r>
            <a:r>
              <a:rPr lang="he-IL" sz="1800" b="1" dirty="0">
                <a:effectLst/>
                <a:latin typeface="Calibri" panose="020F0502020204030204" pitchFamily="34" charset="0"/>
                <a:ea typeface="Times New Roman" panose="02020603050405020304" pitchFamily="18" charset="0"/>
                <a:cs typeface="Arial" panose="020B0604020202020204" pitchFamily="34" charset="0"/>
              </a:rPr>
              <a:t>. </a:t>
            </a:r>
          </a:p>
        </p:txBody>
      </p:sp>
    </p:spTree>
    <p:extLst>
      <p:ext uri="{BB962C8B-B14F-4D97-AF65-F5344CB8AC3E}">
        <p14:creationId xmlns:p14="http://schemas.microsoft.com/office/powerpoint/2010/main" val="35996833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494EE-F673-5036-0509-D799863495BC}"/>
              </a:ext>
            </a:extLst>
          </p:cNvPr>
          <p:cNvSpPr>
            <a:spLocks noGrp="1"/>
          </p:cNvSpPr>
          <p:nvPr>
            <p:ph type="title"/>
          </p:nvPr>
        </p:nvSpPr>
        <p:spPr>
          <a:xfrm>
            <a:off x="8308427" y="414282"/>
            <a:ext cx="3660228" cy="533509"/>
          </a:xfrm>
        </p:spPr>
        <p:txBody>
          <a:bodyPr>
            <a:normAutofit fontScale="90000"/>
          </a:bodyPr>
          <a:lstStyle/>
          <a:p>
            <a:pPr algn="r" rtl="1"/>
            <a:r>
              <a:rPr lang="he-IL" dirty="0"/>
              <a:t>שאלה 3 מהבחינה</a:t>
            </a:r>
            <a:endParaRPr lang="en-IL" dirty="0"/>
          </a:p>
        </p:txBody>
      </p:sp>
      <p:sp>
        <p:nvSpPr>
          <p:cNvPr id="3" name="Content Placeholder 2">
            <a:extLst>
              <a:ext uri="{FF2B5EF4-FFF2-40B4-BE49-F238E27FC236}">
                <a16:creationId xmlns:a16="http://schemas.microsoft.com/office/drawing/2014/main" id="{411A47A3-6F71-89A9-0418-E7097145D628}"/>
              </a:ext>
            </a:extLst>
          </p:cNvPr>
          <p:cNvSpPr>
            <a:spLocks noGrp="1"/>
          </p:cNvSpPr>
          <p:nvPr>
            <p:ph idx="1"/>
          </p:nvPr>
        </p:nvSpPr>
        <p:spPr>
          <a:xfrm>
            <a:off x="1020417" y="1157177"/>
            <a:ext cx="10554101" cy="5149029"/>
          </a:xfrm>
        </p:spPr>
        <p:txBody>
          <a:bodyPr>
            <a:normAutofit/>
          </a:bodyPr>
          <a:lstStyle/>
          <a:p>
            <a:pPr marL="0" indent="0" algn="r" rtl="1">
              <a:lnSpc>
                <a:spcPct val="107000"/>
              </a:lnSpc>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נתון שני משקים סגורים, אשר אינם יכולים לסחור אחד עם השני, בכל אחד מהמשקים עקומת התמורה ליניארית.</a:t>
            </a:r>
            <a:endParaRPr lang="en-IL" sz="1800" dirty="0">
              <a:effectLst/>
              <a:latin typeface="Calibri" panose="020F0502020204030204" pitchFamily="34" charset="0"/>
              <a:ea typeface="Calibri" panose="020F0502020204030204" pitchFamily="34" charset="0"/>
              <a:cs typeface="Arial" panose="020B0604020202020204" pitchFamily="34" charset="0"/>
            </a:endParaRPr>
          </a:p>
          <a:p>
            <a:pPr marL="0" indent="0" algn="r" rtl="1">
              <a:lnSpc>
                <a:spcPct val="107000"/>
              </a:lnSpc>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למשק א' יתרון יחסי בייצור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ולמשק ב' יתרון יחסי בייצור </a:t>
            </a:r>
            <a:r>
              <a:rPr lang="en-US" sz="1800" b="1" dirty="0">
                <a:effectLst/>
                <a:latin typeface="Arial" panose="020B0604020202020204" pitchFamily="34" charset="0"/>
                <a:ea typeface="Times New Roman" panose="02020603050405020304" pitchFamily="18" charset="0"/>
                <a:cs typeface="Arial" panose="020B0604020202020204" pitchFamily="34" charset="0"/>
              </a:rPr>
              <a:t>Y</a:t>
            </a:r>
            <a:r>
              <a:rPr lang="he-IL" sz="1800" b="1" dirty="0">
                <a:effectLst/>
                <a:latin typeface="Calibri" panose="020F0502020204030204" pitchFamily="34" charset="0"/>
                <a:ea typeface="Times New Roman" panose="02020603050405020304" pitchFamily="18" charset="0"/>
                <a:cs typeface="Arial" panose="020B0604020202020204" pitchFamily="34" charset="0"/>
              </a:rPr>
              <a:t>. ידוע כי המשקים מייצרים כמויות זהות של מוצר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כלומר הכמות המיוצרת של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במשק א זהה לכמות המיוצרת של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במשק ב. לאור זאת ניתן להגיד כי:</a:t>
            </a:r>
            <a:endParaRPr lang="en-IL"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העלות האלטרנטיבית הכוללת לייצור </a:t>
            </a:r>
            <a:r>
              <a:rPr lang="en-US" sz="1800" dirty="0">
                <a:effectLst/>
                <a:latin typeface="Arial" panose="020B0604020202020204" pitchFamily="34" charset="0"/>
                <a:ea typeface="Times New Roman" panose="02020603050405020304" pitchFamily="18" charset="0"/>
              </a:rPr>
              <a:t>X</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גדולה יותר במשק ב.</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העלות האלטרנטיבית הכוללת לייצור </a:t>
            </a:r>
            <a:r>
              <a:rPr lang="en-US" sz="1800" dirty="0">
                <a:effectLst/>
                <a:latin typeface="Arial" panose="020B0604020202020204" pitchFamily="34" charset="0"/>
                <a:ea typeface="Times New Roman" panose="02020603050405020304" pitchFamily="18" charset="0"/>
              </a:rPr>
              <a:t>Y</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גדולה יותר במשק א.</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במשק ב' ישנם יותר עובדים.</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למשק ב' יש גם יתרון מוחלט בייצור מוצר </a:t>
            </a:r>
            <a:r>
              <a:rPr lang="en-US" sz="1800" dirty="0">
                <a:effectLst/>
                <a:latin typeface="Arial" panose="020B0604020202020204" pitchFamily="34" charset="0"/>
                <a:ea typeface="Times New Roman" panose="02020603050405020304" pitchFamily="18" charset="0"/>
              </a:rPr>
              <a:t>Y</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יש יותר מתשובה אחת נכונה.</a:t>
            </a:r>
            <a:endParaRPr lang="en-IL" sz="1800" dirty="0">
              <a:effectLst/>
              <a:latin typeface="Times New Roman" panose="02020603050405020304" pitchFamily="18" charset="0"/>
              <a:ea typeface="Times New Roman" panose="02020603050405020304" pitchFamily="18" charset="0"/>
            </a:endParaRPr>
          </a:p>
          <a:p>
            <a:pPr marL="0" indent="0" algn="r" rtl="1">
              <a:buNone/>
            </a:pPr>
            <a:endParaRPr lang="en-IL" dirty="0"/>
          </a:p>
        </p:txBody>
      </p:sp>
    </p:spTree>
    <p:extLst>
      <p:ext uri="{BB962C8B-B14F-4D97-AF65-F5344CB8AC3E}">
        <p14:creationId xmlns:p14="http://schemas.microsoft.com/office/powerpoint/2010/main" val="17273506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494EE-F673-5036-0509-D799863495BC}"/>
              </a:ext>
            </a:extLst>
          </p:cNvPr>
          <p:cNvSpPr>
            <a:spLocks noGrp="1"/>
          </p:cNvSpPr>
          <p:nvPr>
            <p:ph type="title"/>
          </p:nvPr>
        </p:nvSpPr>
        <p:spPr>
          <a:xfrm>
            <a:off x="8308427" y="414282"/>
            <a:ext cx="3660228" cy="533509"/>
          </a:xfrm>
        </p:spPr>
        <p:txBody>
          <a:bodyPr>
            <a:normAutofit fontScale="90000"/>
          </a:bodyPr>
          <a:lstStyle/>
          <a:p>
            <a:pPr algn="r" rtl="1"/>
            <a:r>
              <a:rPr lang="he-IL" dirty="0"/>
              <a:t>שאלה 3 מהבחינה</a:t>
            </a:r>
            <a:endParaRPr lang="en-IL" dirty="0"/>
          </a:p>
        </p:txBody>
      </p:sp>
      <p:sp>
        <p:nvSpPr>
          <p:cNvPr id="3" name="Content Placeholder 2">
            <a:extLst>
              <a:ext uri="{FF2B5EF4-FFF2-40B4-BE49-F238E27FC236}">
                <a16:creationId xmlns:a16="http://schemas.microsoft.com/office/drawing/2014/main" id="{411A47A3-6F71-89A9-0418-E7097145D628}"/>
              </a:ext>
            </a:extLst>
          </p:cNvPr>
          <p:cNvSpPr>
            <a:spLocks noGrp="1"/>
          </p:cNvSpPr>
          <p:nvPr>
            <p:ph idx="1"/>
          </p:nvPr>
        </p:nvSpPr>
        <p:spPr>
          <a:xfrm>
            <a:off x="1020417" y="1157177"/>
            <a:ext cx="10554101" cy="5149029"/>
          </a:xfrm>
        </p:spPr>
        <p:txBody>
          <a:bodyPr>
            <a:normAutofit/>
          </a:bodyPr>
          <a:lstStyle/>
          <a:p>
            <a:pPr marL="0" indent="0" algn="r" rtl="1">
              <a:lnSpc>
                <a:spcPct val="107000"/>
              </a:lnSpc>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נתון שני משקים סגורים, אשר אינם יכולים לסחור אחד עם השני, בכל אחד מהמשקים עקומת התמורה ליניארית.</a:t>
            </a:r>
            <a:endParaRPr lang="en-IL" sz="1800" dirty="0">
              <a:effectLst/>
              <a:latin typeface="Calibri" panose="020F0502020204030204" pitchFamily="34" charset="0"/>
              <a:ea typeface="Calibri" panose="020F0502020204030204" pitchFamily="34" charset="0"/>
              <a:cs typeface="Arial" panose="020B0604020202020204" pitchFamily="34" charset="0"/>
            </a:endParaRPr>
          </a:p>
          <a:p>
            <a:pPr marL="0" indent="0" algn="r" rtl="1">
              <a:lnSpc>
                <a:spcPct val="107000"/>
              </a:lnSpc>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למשק א' יתרון יחסי בייצור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ולמשק ב' יתרון יחסי בייצור </a:t>
            </a:r>
            <a:r>
              <a:rPr lang="en-US" sz="1800" b="1" dirty="0">
                <a:effectLst/>
                <a:latin typeface="Arial" panose="020B0604020202020204" pitchFamily="34" charset="0"/>
                <a:ea typeface="Times New Roman" panose="02020603050405020304" pitchFamily="18" charset="0"/>
                <a:cs typeface="Arial" panose="020B0604020202020204" pitchFamily="34" charset="0"/>
              </a:rPr>
              <a:t>Y</a:t>
            </a:r>
            <a:r>
              <a:rPr lang="he-IL" sz="1800" b="1" dirty="0">
                <a:effectLst/>
                <a:latin typeface="Calibri" panose="020F0502020204030204" pitchFamily="34" charset="0"/>
                <a:ea typeface="Times New Roman" panose="02020603050405020304" pitchFamily="18" charset="0"/>
                <a:cs typeface="Arial" panose="020B0604020202020204" pitchFamily="34" charset="0"/>
              </a:rPr>
              <a:t>. ידוע כי המשקים מייצרים כמויות זהות של מוצר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כלומר הכמות המיוצרת של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במשק א זהה לכמות המיוצרת של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במשק ב. לאור זאת ניתן להגיד כי:</a:t>
            </a:r>
            <a:endParaRPr lang="en-IL"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r" rtl="1">
              <a:lnSpc>
                <a:spcPct val="150000"/>
              </a:lnSpc>
              <a:buFont typeface="+mj-lt"/>
              <a:buAutoNum type="arabicPeriod"/>
            </a:pPr>
            <a:r>
              <a:rPr lang="he-IL" sz="1800" dirty="0">
                <a:effectLst/>
                <a:highlight>
                  <a:srgbClr val="FFFF00"/>
                </a:highlight>
                <a:latin typeface="Times New Roman" panose="02020603050405020304" pitchFamily="18" charset="0"/>
                <a:ea typeface="Times New Roman" panose="02020603050405020304" pitchFamily="18" charset="0"/>
                <a:cs typeface="Arial" panose="020B0604020202020204" pitchFamily="34" charset="0"/>
              </a:rPr>
              <a:t>העלות האלטרנטיבית הכוללת לייצור </a:t>
            </a:r>
            <a:r>
              <a:rPr lang="en-US" sz="1800" dirty="0">
                <a:effectLst/>
                <a:highlight>
                  <a:srgbClr val="FFFF00"/>
                </a:highlight>
                <a:latin typeface="Arial" panose="020B0604020202020204" pitchFamily="34" charset="0"/>
                <a:ea typeface="Times New Roman" panose="02020603050405020304" pitchFamily="18" charset="0"/>
              </a:rPr>
              <a:t>X</a:t>
            </a:r>
            <a:r>
              <a:rPr lang="he-IL" sz="1800" dirty="0">
                <a:effectLst/>
                <a:highlight>
                  <a:srgbClr val="FFFF00"/>
                </a:highlight>
                <a:latin typeface="Times New Roman" panose="02020603050405020304" pitchFamily="18" charset="0"/>
                <a:ea typeface="Times New Roman" panose="02020603050405020304" pitchFamily="18" charset="0"/>
                <a:cs typeface="Arial" panose="020B0604020202020204" pitchFamily="34" charset="0"/>
              </a:rPr>
              <a:t> גדולה יותר במשק ב.</a:t>
            </a:r>
            <a:endParaRPr lang="en-IL" sz="1800" dirty="0">
              <a:effectLst/>
              <a:highlight>
                <a:srgbClr val="FFFF00"/>
              </a:highligh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העלות האלטרנטיבית הכוללת לייצור </a:t>
            </a:r>
            <a:r>
              <a:rPr lang="en-US" sz="1800" dirty="0">
                <a:effectLst/>
                <a:latin typeface="Arial" panose="020B0604020202020204" pitchFamily="34" charset="0"/>
                <a:ea typeface="Times New Roman" panose="02020603050405020304" pitchFamily="18" charset="0"/>
              </a:rPr>
              <a:t>Y</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גדולה יותר במשק א.</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במשק ב' ישנם יותר עובדים.</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למשק ב' יש גם יתרון מוחלט בייצור מוצר </a:t>
            </a:r>
            <a:r>
              <a:rPr lang="en-US" sz="1800" dirty="0">
                <a:effectLst/>
                <a:latin typeface="Arial" panose="020B0604020202020204" pitchFamily="34" charset="0"/>
                <a:ea typeface="Times New Roman" panose="02020603050405020304" pitchFamily="18" charset="0"/>
              </a:rPr>
              <a:t>Y</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יש יותר מתשובה אחת נכונה.</a:t>
            </a:r>
            <a:endParaRPr lang="en-IL" sz="1800" dirty="0">
              <a:effectLst/>
              <a:latin typeface="Times New Roman" panose="02020603050405020304" pitchFamily="18" charset="0"/>
              <a:ea typeface="Times New Roman" panose="02020603050405020304" pitchFamily="18" charset="0"/>
            </a:endParaRPr>
          </a:p>
          <a:p>
            <a:pPr marL="0" indent="0" algn="r" rtl="1">
              <a:buNone/>
            </a:pPr>
            <a:endParaRPr lang="en-IL" dirty="0"/>
          </a:p>
        </p:txBody>
      </p:sp>
    </p:spTree>
    <p:extLst>
      <p:ext uri="{BB962C8B-B14F-4D97-AF65-F5344CB8AC3E}">
        <p14:creationId xmlns:p14="http://schemas.microsoft.com/office/powerpoint/2010/main" val="8478934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494EE-F673-5036-0509-D799863495BC}"/>
              </a:ext>
            </a:extLst>
          </p:cNvPr>
          <p:cNvSpPr>
            <a:spLocks noGrp="1"/>
          </p:cNvSpPr>
          <p:nvPr>
            <p:ph type="title"/>
          </p:nvPr>
        </p:nvSpPr>
        <p:spPr>
          <a:xfrm>
            <a:off x="8308427" y="414282"/>
            <a:ext cx="3660228" cy="533509"/>
          </a:xfrm>
        </p:spPr>
        <p:txBody>
          <a:bodyPr>
            <a:normAutofit fontScale="90000"/>
          </a:bodyPr>
          <a:lstStyle/>
          <a:p>
            <a:pPr algn="r" rtl="1"/>
            <a:r>
              <a:rPr lang="he-IL" dirty="0"/>
              <a:t>שאלה דומה ל-3</a:t>
            </a:r>
            <a:endParaRPr lang="en-IL" dirty="0"/>
          </a:p>
        </p:txBody>
      </p:sp>
      <p:sp>
        <p:nvSpPr>
          <p:cNvPr id="3" name="Content Placeholder 2">
            <a:extLst>
              <a:ext uri="{FF2B5EF4-FFF2-40B4-BE49-F238E27FC236}">
                <a16:creationId xmlns:a16="http://schemas.microsoft.com/office/drawing/2014/main" id="{411A47A3-6F71-89A9-0418-E7097145D628}"/>
              </a:ext>
            </a:extLst>
          </p:cNvPr>
          <p:cNvSpPr>
            <a:spLocks noGrp="1"/>
          </p:cNvSpPr>
          <p:nvPr>
            <p:ph idx="1"/>
          </p:nvPr>
        </p:nvSpPr>
        <p:spPr>
          <a:xfrm>
            <a:off x="1020417" y="1157177"/>
            <a:ext cx="10554101" cy="5149029"/>
          </a:xfrm>
        </p:spPr>
        <p:txBody>
          <a:bodyPr>
            <a:normAutofit/>
          </a:bodyPr>
          <a:lstStyle/>
          <a:p>
            <a:pPr marL="0" indent="0" algn="r" rtl="1">
              <a:lnSpc>
                <a:spcPct val="107000"/>
              </a:lnSpc>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נתון שני משקים סגורים, אשר אינם יכולים לסחור אחד עם השני, בכל אחד מהמשקים עקומת התמורה ליניארית.</a:t>
            </a:r>
            <a:endParaRPr lang="en-IL" sz="1800" dirty="0">
              <a:effectLst/>
              <a:latin typeface="Calibri" panose="020F0502020204030204" pitchFamily="34" charset="0"/>
              <a:ea typeface="Calibri" panose="020F0502020204030204" pitchFamily="34" charset="0"/>
              <a:cs typeface="Arial" panose="020B0604020202020204" pitchFamily="34" charset="0"/>
            </a:endParaRPr>
          </a:p>
          <a:p>
            <a:pPr marL="0" indent="0" algn="r" rtl="1">
              <a:lnSpc>
                <a:spcPct val="107000"/>
              </a:lnSpc>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למשק ב' יתרון יחסי בייצור </a:t>
            </a:r>
            <a:r>
              <a:rPr lang="en-US" sz="1800" b="1" dirty="0">
                <a:latin typeface="Arial" panose="020B0604020202020204" pitchFamily="34" charset="0"/>
                <a:ea typeface="Times New Roman" panose="02020603050405020304" pitchFamily="18" charset="0"/>
                <a:cs typeface="Arial" panose="020B0604020202020204" pitchFamily="34" charset="0"/>
              </a:rPr>
              <a:t>Y</a:t>
            </a:r>
            <a:r>
              <a:rPr lang="he-IL" sz="1800" b="1" dirty="0">
                <a:effectLst/>
                <a:latin typeface="Calibri" panose="020F0502020204030204" pitchFamily="34" charset="0"/>
                <a:ea typeface="Times New Roman" panose="02020603050405020304" pitchFamily="18" charset="0"/>
                <a:cs typeface="Arial" panose="020B0604020202020204" pitchFamily="34" charset="0"/>
              </a:rPr>
              <a:t> על פני משק א'. ידוע כי המשקים מייצרים כמויות זהות של מוצר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כלומר הכמות המיוצרת של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במשק א זהה לכמות המיוצרת של </a:t>
            </a:r>
            <a:r>
              <a:rPr lang="en-US" sz="1800" b="1" dirty="0">
                <a:effectLst/>
                <a:latin typeface="Arial" panose="020B0604020202020204" pitchFamily="34" charset="0"/>
                <a:ea typeface="Times New Roman" panose="02020603050405020304" pitchFamily="18" charset="0"/>
                <a:cs typeface="Arial" panose="020B0604020202020204" pitchFamily="34" charset="0"/>
              </a:rPr>
              <a:t>X</a:t>
            </a:r>
            <a:r>
              <a:rPr lang="he-IL" sz="1800" b="1" dirty="0">
                <a:effectLst/>
                <a:latin typeface="Calibri" panose="020F0502020204030204" pitchFamily="34" charset="0"/>
                <a:ea typeface="Times New Roman" panose="02020603050405020304" pitchFamily="18" charset="0"/>
                <a:cs typeface="Arial" panose="020B0604020202020204" pitchFamily="34" charset="0"/>
              </a:rPr>
              <a:t> במשק ב. לא ידוע מהי כמות </a:t>
            </a:r>
            <a:r>
              <a:rPr lang="en-US" sz="1800" b="1" dirty="0">
                <a:effectLst/>
                <a:latin typeface="Calibri" panose="020F0502020204030204" pitchFamily="34" charset="0"/>
                <a:ea typeface="Times New Roman" panose="02020603050405020304" pitchFamily="18" charset="0"/>
                <a:cs typeface="Arial" panose="020B0604020202020204" pitchFamily="34" charset="0"/>
              </a:rPr>
              <a:t>Y</a:t>
            </a:r>
            <a:r>
              <a:rPr lang="he-IL" sz="1800" b="1" dirty="0">
                <a:effectLst/>
                <a:latin typeface="Calibri" panose="020F0502020204030204" pitchFamily="34" charset="0"/>
                <a:ea typeface="Times New Roman" panose="02020603050405020304" pitchFamily="18" charset="0"/>
                <a:cs typeface="Arial" panose="020B0604020202020204" pitchFamily="34" charset="0"/>
              </a:rPr>
              <a:t> המיוצרת בכל משק. לאור זאת ניתן להגיד כי:</a:t>
            </a:r>
            <a:endParaRPr lang="en-IL"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העלות האלטרנטיבית הכוללת לייצור </a:t>
            </a:r>
            <a:r>
              <a:rPr lang="en-US" sz="1800" dirty="0">
                <a:effectLst/>
                <a:latin typeface="Arial" panose="020B0604020202020204" pitchFamily="34" charset="0"/>
                <a:ea typeface="Times New Roman" panose="02020603050405020304" pitchFamily="18" charset="0"/>
              </a:rPr>
              <a:t>X</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גדולה יותר במשק ב.</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העלות האלטרנטיבית הכוללת לייצור </a:t>
            </a:r>
            <a:r>
              <a:rPr lang="en-US" sz="1800" dirty="0">
                <a:effectLst/>
                <a:latin typeface="Arial" panose="020B0604020202020204" pitchFamily="34" charset="0"/>
                <a:ea typeface="Times New Roman" panose="02020603050405020304" pitchFamily="18" charset="0"/>
              </a:rPr>
              <a:t>Y</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גדולה יותר במשק א.</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במשק ב' ישנם יותר עובדים.</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למשק ב' יש גם יתרון מוחלט בייצור מוצר </a:t>
            </a:r>
            <a:r>
              <a:rPr lang="en-US" sz="1800" dirty="0">
                <a:effectLst/>
                <a:latin typeface="Arial" panose="020B0604020202020204" pitchFamily="34" charset="0"/>
                <a:ea typeface="Times New Roman" panose="02020603050405020304" pitchFamily="18" charset="0"/>
              </a:rPr>
              <a:t>Y</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כל התשובות האחרות לא נכונות.</a:t>
            </a:r>
            <a:endParaRPr lang="en-IL" sz="1800" dirty="0">
              <a:effectLst/>
              <a:latin typeface="Times New Roman" panose="02020603050405020304" pitchFamily="18" charset="0"/>
              <a:ea typeface="Times New Roman" panose="02020603050405020304" pitchFamily="18" charset="0"/>
            </a:endParaRPr>
          </a:p>
          <a:p>
            <a:pPr marL="0" indent="0" algn="r" rtl="1">
              <a:buNone/>
            </a:pPr>
            <a:endParaRPr lang="en-IL" dirty="0"/>
          </a:p>
        </p:txBody>
      </p:sp>
    </p:spTree>
    <p:extLst>
      <p:ext uri="{BB962C8B-B14F-4D97-AF65-F5344CB8AC3E}">
        <p14:creationId xmlns:p14="http://schemas.microsoft.com/office/powerpoint/2010/main" val="1328953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494EE-F673-5036-0509-D799863495BC}"/>
              </a:ext>
            </a:extLst>
          </p:cNvPr>
          <p:cNvSpPr>
            <a:spLocks noGrp="1"/>
          </p:cNvSpPr>
          <p:nvPr>
            <p:ph type="title"/>
          </p:nvPr>
        </p:nvSpPr>
        <p:spPr>
          <a:xfrm>
            <a:off x="10307782" y="613788"/>
            <a:ext cx="1660873" cy="533509"/>
          </a:xfrm>
        </p:spPr>
        <p:txBody>
          <a:bodyPr>
            <a:normAutofit fontScale="90000"/>
          </a:bodyPr>
          <a:lstStyle/>
          <a:p>
            <a:pPr algn="r" rtl="1"/>
            <a:r>
              <a:rPr lang="he-IL" dirty="0"/>
              <a:t>פתרון</a:t>
            </a:r>
            <a:br>
              <a:rPr lang="en-US" dirty="0"/>
            </a:br>
            <a:r>
              <a:rPr lang="he-IL" dirty="0"/>
              <a:t>שאלה דומה ל3</a:t>
            </a:r>
            <a:endParaRPr lang="en-IL" dirty="0"/>
          </a:p>
        </p:txBody>
      </p:sp>
      <p:sp>
        <p:nvSpPr>
          <p:cNvPr id="3" name="Content Placeholder 2">
            <a:extLst>
              <a:ext uri="{FF2B5EF4-FFF2-40B4-BE49-F238E27FC236}">
                <a16:creationId xmlns:a16="http://schemas.microsoft.com/office/drawing/2014/main" id="{411A47A3-6F71-89A9-0418-E7097145D628}"/>
              </a:ext>
            </a:extLst>
          </p:cNvPr>
          <p:cNvSpPr>
            <a:spLocks noGrp="1"/>
          </p:cNvSpPr>
          <p:nvPr>
            <p:ph idx="1"/>
          </p:nvPr>
        </p:nvSpPr>
        <p:spPr>
          <a:xfrm>
            <a:off x="7481455" y="2076084"/>
            <a:ext cx="4487200" cy="3481325"/>
          </a:xfrm>
        </p:spPr>
        <p:txBody>
          <a:bodyPr>
            <a:normAutofit/>
          </a:bodyPr>
          <a:lstStyle/>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העלות האלטרנטיבית הכוללת לייצור </a:t>
            </a:r>
            <a:r>
              <a:rPr lang="en-US" sz="1800" dirty="0">
                <a:effectLst/>
                <a:latin typeface="Arial" panose="020B0604020202020204" pitchFamily="34" charset="0"/>
                <a:ea typeface="Times New Roman" panose="02020603050405020304" pitchFamily="18" charset="0"/>
              </a:rPr>
              <a:t>X</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גדולה יותר במשק ב.</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העלות האלטרנטיבית הכוללת לייצור </a:t>
            </a:r>
            <a:r>
              <a:rPr lang="en-US" sz="1800" dirty="0">
                <a:effectLst/>
                <a:latin typeface="Arial" panose="020B0604020202020204" pitchFamily="34" charset="0"/>
                <a:ea typeface="Times New Roman" panose="02020603050405020304" pitchFamily="18" charset="0"/>
              </a:rPr>
              <a:t>Y</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גדולה יותר במשק א.</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במשק ב' ישנם יותר עובדים.</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למשק ב' יש גם יתרון מוחלט בייצור מוצר </a:t>
            </a:r>
            <a:r>
              <a:rPr lang="en-US" sz="1800" dirty="0">
                <a:effectLst/>
                <a:latin typeface="Arial" panose="020B0604020202020204" pitchFamily="34" charset="0"/>
                <a:ea typeface="Times New Roman" panose="02020603050405020304" pitchFamily="18" charset="0"/>
              </a:rPr>
              <a:t>Y</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כל התשובות האחרות לא נכונות.</a:t>
            </a:r>
            <a:endParaRPr lang="en-IL" sz="1800" dirty="0">
              <a:effectLst/>
              <a:latin typeface="Times New Roman" panose="02020603050405020304" pitchFamily="18" charset="0"/>
              <a:ea typeface="Times New Roman" panose="02020603050405020304" pitchFamily="18" charset="0"/>
            </a:endParaRPr>
          </a:p>
        </p:txBody>
      </p:sp>
      <p:sp>
        <p:nvSpPr>
          <p:cNvPr id="4" name="Rectangle 3">
            <a:extLst>
              <a:ext uri="{FF2B5EF4-FFF2-40B4-BE49-F238E27FC236}">
                <a16:creationId xmlns:a16="http://schemas.microsoft.com/office/drawing/2014/main" id="{74231AE2-9CAF-B108-2CAA-D723E66C975F}"/>
              </a:ext>
            </a:extLst>
          </p:cNvPr>
          <p:cNvSpPr/>
          <p:nvPr/>
        </p:nvSpPr>
        <p:spPr>
          <a:xfrm>
            <a:off x="7198822" y="2099237"/>
            <a:ext cx="4993178" cy="86895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6A796AB0-E71A-1CB6-142B-A39FE58634CD}"/>
              </a:ext>
            </a:extLst>
          </p:cNvPr>
          <p:cNvSpPr txBox="1"/>
          <p:nvPr/>
        </p:nvSpPr>
        <p:spPr>
          <a:xfrm>
            <a:off x="223345" y="178094"/>
            <a:ext cx="9753457" cy="1661802"/>
          </a:xfrm>
          <a:prstGeom prst="rect">
            <a:avLst/>
          </a:prstGeom>
          <a:noFill/>
        </p:spPr>
        <p:txBody>
          <a:bodyPr wrap="square">
            <a:spAutoFit/>
          </a:bodyPr>
          <a:lstStyle/>
          <a:p>
            <a:pPr marL="0" indent="0" algn="r" rtl="1">
              <a:lnSpc>
                <a:spcPct val="107000"/>
              </a:lnSpc>
              <a:spcAft>
                <a:spcPts val="800"/>
              </a:spcAft>
              <a:buNone/>
            </a:pPr>
            <a:r>
              <a:rPr lang="he-IL" b="1" dirty="0">
                <a:latin typeface="Calibri" panose="020F0502020204030204" pitchFamily="34" charset="0"/>
                <a:ea typeface="Times New Roman" panose="02020603050405020304" pitchFamily="18" charset="0"/>
              </a:rPr>
              <a:t>נתון שני משקים סגורים, אשר אינם יכולים לסחור אחד עם השני, בכל אחד מהמשקים עקומת התמורה ליניארית.</a:t>
            </a:r>
            <a:endParaRPr lang="en-IL" dirty="0">
              <a:latin typeface="Calibri" panose="020F0502020204030204" pitchFamily="34" charset="0"/>
              <a:ea typeface="Calibri" panose="020F0502020204030204" pitchFamily="34" charset="0"/>
              <a:cs typeface="Arial" panose="020B0604020202020204" pitchFamily="34" charset="0"/>
            </a:endParaRPr>
          </a:p>
          <a:p>
            <a:pPr marL="0" indent="0" algn="r" rtl="1">
              <a:lnSpc>
                <a:spcPct val="107000"/>
              </a:lnSpc>
              <a:spcAft>
                <a:spcPts val="800"/>
              </a:spcAft>
              <a:buNone/>
            </a:pPr>
            <a:r>
              <a:rPr lang="he-IL" b="1" dirty="0">
                <a:latin typeface="Calibri" panose="020F0502020204030204" pitchFamily="34" charset="0"/>
                <a:ea typeface="Times New Roman" panose="02020603050405020304" pitchFamily="18" charset="0"/>
              </a:rPr>
              <a:t>למשק ב' יתרון יחסי בייצור </a:t>
            </a:r>
            <a:r>
              <a:rPr lang="en-US" b="1" dirty="0">
                <a:latin typeface="Arial" panose="020B0604020202020204" pitchFamily="34" charset="0"/>
                <a:ea typeface="Times New Roman" panose="02020603050405020304" pitchFamily="18" charset="0"/>
                <a:cs typeface="Arial" panose="020B0604020202020204" pitchFamily="34" charset="0"/>
              </a:rPr>
              <a:t>Y</a:t>
            </a:r>
            <a:r>
              <a:rPr lang="he-IL" b="1" dirty="0">
                <a:latin typeface="Calibri" panose="020F0502020204030204" pitchFamily="34" charset="0"/>
                <a:ea typeface="Times New Roman" panose="02020603050405020304" pitchFamily="18" charset="0"/>
              </a:rPr>
              <a:t> על פני משק א'. ידוע כי המשקים מייצרים כמויות זהות של מוצר </a:t>
            </a:r>
            <a:r>
              <a:rPr lang="en-US" b="1" dirty="0">
                <a:latin typeface="Arial" panose="020B0604020202020204" pitchFamily="34" charset="0"/>
                <a:ea typeface="Times New Roman" panose="02020603050405020304" pitchFamily="18" charset="0"/>
                <a:cs typeface="Arial" panose="020B0604020202020204" pitchFamily="34" charset="0"/>
              </a:rPr>
              <a:t>X</a:t>
            </a:r>
            <a:r>
              <a:rPr lang="he-IL" b="1" dirty="0">
                <a:latin typeface="Calibri" panose="020F0502020204030204" pitchFamily="34" charset="0"/>
                <a:ea typeface="Times New Roman" panose="02020603050405020304" pitchFamily="18" charset="0"/>
              </a:rPr>
              <a:t>, כלומר הכמות המיוצרת של </a:t>
            </a:r>
            <a:r>
              <a:rPr lang="en-US" b="1" dirty="0">
                <a:latin typeface="Arial" panose="020B0604020202020204" pitchFamily="34" charset="0"/>
                <a:ea typeface="Times New Roman" panose="02020603050405020304" pitchFamily="18" charset="0"/>
                <a:cs typeface="Arial" panose="020B0604020202020204" pitchFamily="34" charset="0"/>
              </a:rPr>
              <a:t>X</a:t>
            </a:r>
            <a:r>
              <a:rPr lang="he-IL" b="1" dirty="0">
                <a:latin typeface="Calibri" panose="020F0502020204030204" pitchFamily="34" charset="0"/>
                <a:ea typeface="Times New Roman" panose="02020603050405020304" pitchFamily="18" charset="0"/>
              </a:rPr>
              <a:t> במשק א זהה לכמות המיוצרת של </a:t>
            </a:r>
            <a:r>
              <a:rPr lang="en-US" b="1" dirty="0">
                <a:latin typeface="Arial" panose="020B0604020202020204" pitchFamily="34" charset="0"/>
                <a:ea typeface="Times New Roman" panose="02020603050405020304" pitchFamily="18" charset="0"/>
                <a:cs typeface="Arial" panose="020B0604020202020204" pitchFamily="34" charset="0"/>
              </a:rPr>
              <a:t>X</a:t>
            </a:r>
            <a:r>
              <a:rPr lang="he-IL" b="1" dirty="0">
                <a:latin typeface="Calibri" panose="020F0502020204030204" pitchFamily="34" charset="0"/>
                <a:ea typeface="Times New Roman" panose="02020603050405020304" pitchFamily="18" charset="0"/>
              </a:rPr>
              <a:t> במשק ב. לא ידוע מהי כמות </a:t>
            </a:r>
            <a:r>
              <a:rPr lang="en-US" b="1" dirty="0">
                <a:latin typeface="Calibri" panose="020F0502020204030204" pitchFamily="34" charset="0"/>
                <a:ea typeface="Times New Roman" panose="02020603050405020304" pitchFamily="18" charset="0"/>
                <a:cs typeface="Arial" panose="020B0604020202020204" pitchFamily="34" charset="0"/>
              </a:rPr>
              <a:t>Y</a:t>
            </a:r>
            <a:r>
              <a:rPr lang="he-IL" b="1" dirty="0">
                <a:latin typeface="Calibri" panose="020F0502020204030204" pitchFamily="34" charset="0"/>
                <a:ea typeface="Times New Roman" panose="02020603050405020304" pitchFamily="18" charset="0"/>
              </a:rPr>
              <a:t> המיוצרת בכל משק. לאור זאת ניתן להגיד כי:</a:t>
            </a:r>
            <a:endParaRPr lang="en-IL" dirty="0">
              <a:latin typeface="Calibri" panose="020F0502020204030204" pitchFamily="34" charset="0"/>
              <a:ea typeface="Calibri" panose="020F0502020204030204" pitchFamily="34" charset="0"/>
              <a:cs typeface="Arial" panose="020B0604020202020204" pitchFamily="34" charset="0"/>
            </a:endParaRPr>
          </a:p>
        </p:txBody>
      </p:sp>
      <p:cxnSp>
        <p:nvCxnSpPr>
          <p:cNvPr id="7" name="מחבר ישר 42">
            <a:extLst>
              <a:ext uri="{FF2B5EF4-FFF2-40B4-BE49-F238E27FC236}">
                <a16:creationId xmlns:a16="http://schemas.microsoft.com/office/drawing/2014/main" id="{DC950A56-E163-FD3D-C0B1-E7663187C2DE}"/>
              </a:ext>
            </a:extLst>
          </p:cNvPr>
          <p:cNvCxnSpPr>
            <a:cxnSpLocks/>
          </p:cNvCxnSpPr>
          <p:nvPr/>
        </p:nvCxnSpPr>
        <p:spPr>
          <a:xfrm flipH="1">
            <a:off x="833903" y="1763885"/>
            <a:ext cx="2030" cy="4225084"/>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8" name="Object 2">
            <a:extLst>
              <a:ext uri="{FF2B5EF4-FFF2-40B4-BE49-F238E27FC236}">
                <a16:creationId xmlns:a16="http://schemas.microsoft.com/office/drawing/2014/main" id="{DBFB35CC-4BFC-5B3E-66E9-C7F8C5B7F7F3}"/>
              </a:ext>
            </a:extLst>
          </p:cNvPr>
          <p:cNvGraphicFramePr>
            <a:graphicFrameLocks noChangeAspect="1"/>
          </p:cNvGraphicFramePr>
          <p:nvPr/>
        </p:nvGraphicFramePr>
        <p:xfrm>
          <a:off x="347901" y="1515362"/>
          <a:ext cx="366712" cy="497046"/>
        </p:xfrm>
        <a:graphic>
          <a:graphicData uri="http://schemas.openxmlformats.org/presentationml/2006/ole">
            <mc:AlternateContent xmlns:mc="http://schemas.openxmlformats.org/markup-compatibility/2006">
              <mc:Choice xmlns:v="urn:schemas-microsoft-com:vml" Requires="v">
                <p:oleObj name="Equation" r:id="rId2" imgW="139680" imgH="164880" progId="Equation.DSMT4">
                  <p:embed/>
                </p:oleObj>
              </mc:Choice>
              <mc:Fallback>
                <p:oleObj name="Equation" r:id="rId2" imgW="139680" imgH="164880" progId="Equation.DSMT4">
                  <p:embed/>
                  <p:pic>
                    <p:nvPicPr>
                      <p:cNvPr id="8" name="Object 2">
                        <a:extLst>
                          <a:ext uri="{FF2B5EF4-FFF2-40B4-BE49-F238E27FC236}">
                            <a16:creationId xmlns:a16="http://schemas.microsoft.com/office/drawing/2014/main" id="{DBFB35CC-4BFC-5B3E-66E9-C7F8C5B7F7F3}"/>
                          </a:ext>
                        </a:extLst>
                      </p:cNvPr>
                      <p:cNvPicPr>
                        <a:picLocks noChangeAspect="1" noChangeArrowheads="1"/>
                      </p:cNvPicPr>
                      <p:nvPr/>
                    </p:nvPicPr>
                    <p:blipFill>
                      <a:blip r:embed="rId3"/>
                      <a:srcRect/>
                      <a:stretch>
                        <a:fillRect/>
                      </a:stretch>
                    </p:blipFill>
                    <p:spPr bwMode="auto">
                      <a:xfrm>
                        <a:off x="347901" y="1515362"/>
                        <a:ext cx="366712" cy="497046"/>
                      </a:xfrm>
                      <a:prstGeom prst="rect">
                        <a:avLst/>
                      </a:prstGeom>
                      <a:noFill/>
                      <a:ln>
                        <a:noFill/>
                      </a:ln>
                    </p:spPr>
                  </p:pic>
                </p:oleObj>
              </mc:Fallback>
            </mc:AlternateContent>
          </a:graphicData>
        </a:graphic>
      </p:graphicFrame>
      <p:cxnSp>
        <p:nvCxnSpPr>
          <p:cNvPr id="9" name="מחבר ישר 54">
            <a:extLst>
              <a:ext uri="{FF2B5EF4-FFF2-40B4-BE49-F238E27FC236}">
                <a16:creationId xmlns:a16="http://schemas.microsoft.com/office/drawing/2014/main" id="{9E425B57-ED91-5E7F-47C0-6998A09CCD91}"/>
              </a:ext>
            </a:extLst>
          </p:cNvPr>
          <p:cNvCxnSpPr/>
          <p:nvPr/>
        </p:nvCxnSpPr>
        <p:spPr>
          <a:xfrm>
            <a:off x="832708" y="5996477"/>
            <a:ext cx="3677454" cy="1588"/>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מחבר ישר 94">
            <a:extLst>
              <a:ext uri="{FF2B5EF4-FFF2-40B4-BE49-F238E27FC236}">
                <a16:creationId xmlns:a16="http://schemas.microsoft.com/office/drawing/2014/main" id="{AD15A094-857E-9185-1E33-F51843B98128}"/>
              </a:ext>
            </a:extLst>
          </p:cNvPr>
          <p:cNvCxnSpPr>
            <a:cxnSpLocks/>
          </p:cNvCxnSpPr>
          <p:nvPr/>
        </p:nvCxnSpPr>
        <p:spPr>
          <a:xfrm>
            <a:off x="870197" y="4076975"/>
            <a:ext cx="3305629" cy="1911994"/>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A5B2FE71-82DD-922C-1843-3DC41D1A163E}"/>
              </a:ext>
            </a:extLst>
          </p:cNvPr>
          <p:cNvSpPr/>
          <p:nvPr/>
        </p:nvSpPr>
        <p:spPr>
          <a:xfrm>
            <a:off x="1786192" y="4455622"/>
            <a:ext cx="363601" cy="43226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1" anchor="ctr"/>
          <a:lstStyle/>
          <a:p>
            <a:pPr algn="ctr"/>
            <a:r>
              <a:rPr lang="en-US" dirty="0"/>
              <a:t>A</a:t>
            </a:r>
            <a:endParaRPr lang="he-IL" dirty="0"/>
          </a:p>
        </p:txBody>
      </p:sp>
      <p:sp>
        <p:nvSpPr>
          <p:cNvPr id="12" name="TextBox 11">
            <a:extLst>
              <a:ext uri="{FF2B5EF4-FFF2-40B4-BE49-F238E27FC236}">
                <a16:creationId xmlns:a16="http://schemas.microsoft.com/office/drawing/2014/main" id="{E0D655B0-AC93-8F48-1204-458215BBA292}"/>
              </a:ext>
            </a:extLst>
          </p:cNvPr>
          <p:cNvSpPr txBox="1"/>
          <p:nvPr/>
        </p:nvSpPr>
        <p:spPr>
          <a:xfrm>
            <a:off x="4723480" y="6005573"/>
            <a:ext cx="520118" cy="523220"/>
          </a:xfrm>
          <a:prstGeom prst="rect">
            <a:avLst/>
          </a:prstGeom>
          <a:noFill/>
        </p:spPr>
        <p:txBody>
          <a:bodyPr wrap="square" rtlCol="0">
            <a:spAutoFit/>
          </a:bodyPr>
          <a:lstStyle/>
          <a:p>
            <a:r>
              <a:rPr lang="en-US" sz="2800" dirty="0"/>
              <a:t>X</a:t>
            </a:r>
          </a:p>
        </p:txBody>
      </p:sp>
      <p:cxnSp>
        <p:nvCxnSpPr>
          <p:cNvPr id="13" name="מחבר ישר 94">
            <a:extLst>
              <a:ext uri="{FF2B5EF4-FFF2-40B4-BE49-F238E27FC236}">
                <a16:creationId xmlns:a16="http://schemas.microsoft.com/office/drawing/2014/main" id="{94C23A72-452C-CBC6-5A68-1399780CB7CE}"/>
              </a:ext>
            </a:extLst>
          </p:cNvPr>
          <p:cNvCxnSpPr>
            <a:cxnSpLocks/>
          </p:cNvCxnSpPr>
          <p:nvPr/>
        </p:nvCxnSpPr>
        <p:spPr>
          <a:xfrm>
            <a:off x="798444" y="1897701"/>
            <a:ext cx="2789820" cy="4091268"/>
          </a:xfrm>
          <a:prstGeom prst="line">
            <a:avLst/>
          </a:prstGeom>
          <a:ln w="41275">
            <a:solidFill>
              <a:srgbClr val="FF00FF"/>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E5A0BF37-B061-68A2-82AB-1EF39EC20306}"/>
              </a:ext>
            </a:extLst>
          </p:cNvPr>
          <p:cNvSpPr txBox="1"/>
          <p:nvPr/>
        </p:nvSpPr>
        <p:spPr>
          <a:xfrm>
            <a:off x="1786192" y="6055870"/>
            <a:ext cx="941612" cy="523220"/>
          </a:xfrm>
          <a:prstGeom prst="rect">
            <a:avLst/>
          </a:prstGeom>
          <a:noFill/>
        </p:spPr>
        <p:txBody>
          <a:bodyPr wrap="square" rtlCol="0">
            <a:spAutoFit/>
          </a:bodyPr>
          <a:lstStyle/>
          <a:p>
            <a:r>
              <a:rPr lang="en-US" sz="2800" dirty="0"/>
              <a:t>X</a:t>
            </a:r>
            <a:endParaRPr lang="en-IL" sz="2800" dirty="0"/>
          </a:p>
        </p:txBody>
      </p:sp>
      <p:cxnSp>
        <p:nvCxnSpPr>
          <p:cNvPr id="16" name="Straight Connector 15">
            <a:extLst>
              <a:ext uri="{FF2B5EF4-FFF2-40B4-BE49-F238E27FC236}">
                <a16:creationId xmlns:a16="http://schemas.microsoft.com/office/drawing/2014/main" id="{14E41D06-37C0-8D82-0F57-653353C90BCE}"/>
              </a:ext>
            </a:extLst>
          </p:cNvPr>
          <p:cNvCxnSpPr>
            <a:cxnSpLocks/>
          </p:cNvCxnSpPr>
          <p:nvPr/>
        </p:nvCxnSpPr>
        <p:spPr>
          <a:xfrm>
            <a:off x="2011680" y="3816746"/>
            <a:ext cx="0" cy="2172223"/>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71C8416F-6771-29A1-66F4-A4BDAC4DF3BF}"/>
              </a:ext>
            </a:extLst>
          </p:cNvPr>
          <p:cNvSpPr/>
          <p:nvPr/>
        </p:nvSpPr>
        <p:spPr>
          <a:xfrm>
            <a:off x="1829879" y="3644713"/>
            <a:ext cx="363601" cy="432262"/>
          </a:xfrm>
          <a:prstGeom prst="ellipse">
            <a:avLst/>
          </a:prstGeom>
          <a:solidFill>
            <a:schemeClr val="accent2">
              <a:lumMod val="75000"/>
            </a:schemeClr>
          </a:solidFill>
        </p:spPr>
        <p:style>
          <a:lnRef idx="2">
            <a:schemeClr val="dk1">
              <a:shade val="50000"/>
            </a:schemeClr>
          </a:lnRef>
          <a:fillRef idx="1">
            <a:schemeClr val="dk1"/>
          </a:fillRef>
          <a:effectRef idx="0">
            <a:schemeClr val="dk1"/>
          </a:effectRef>
          <a:fontRef idx="minor">
            <a:schemeClr val="lt1"/>
          </a:fontRef>
        </p:style>
        <p:txBody>
          <a:bodyPr rtlCol="1" anchor="ctr"/>
          <a:lstStyle/>
          <a:p>
            <a:pPr algn="ctr"/>
            <a:r>
              <a:rPr lang="en-US" dirty="0"/>
              <a:t>B</a:t>
            </a:r>
            <a:endParaRPr lang="he-IL" dirty="0"/>
          </a:p>
        </p:txBody>
      </p:sp>
      <p:cxnSp>
        <p:nvCxnSpPr>
          <p:cNvPr id="21" name="Straight Connector 20">
            <a:extLst>
              <a:ext uri="{FF2B5EF4-FFF2-40B4-BE49-F238E27FC236}">
                <a16:creationId xmlns:a16="http://schemas.microsoft.com/office/drawing/2014/main" id="{2319B042-3141-FE99-BBD2-2037BFFDF2EE}"/>
              </a:ext>
            </a:extLst>
          </p:cNvPr>
          <p:cNvCxnSpPr>
            <a:cxnSpLocks/>
          </p:cNvCxnSpPr>
          <p:nvPr/>
        </p:nvCxnSpPr>
        <p:spPr>
          <a:xfrm>
            <a:off x="832708" y="3844884"/>
            <a:ext cx="1135284" cy="42768"/>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2F29A7B-2F42-C484-2636-185A9405D816}"/>
              </a:ext>
            </a:extLst>
          </p:cNvPr>
          <p:cNvCxnSpPr>
            <a:cxnSpLocks/>
          </p:cNvCxnSpPr>
          <p:nvPr/>
        </p:nvCxnSpPr>
        <p:spPr>
          <a:xfrm>
            <a:off x="876395" y="4650369"/>
            <a:ext cx="1135284" cy="42768"/>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945835F3-9FB4-16AB-5F9C-AF26BE30ECCE}"/>
              </a:ext>
            </a:extLst>
          </p:cNvPr>
          <p:cNvCxnSpPr>
            <a:cxnSpLocks/>
          </p:cNvCxnSpPr>
          <p:nvPr/>
        </p:nvCxnSpPr>
        <p:spPr>
          <a:xfrm>
            <a:off x="714331" y="3887652"/>
            <a:ext cx="0" cy="805485"/>
          </a:xfrm>
          <a:prstGeom prst="straightConnector1">
            <a:avLst/>
          </a:prstGeom>
          <a:ln w="76200">
            <a:solidFill>
              <a:schemeClr val="accent6">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49B1D157-B760-5441-660F-F2AD93260626}"/>
              </a:ext>
            </a:extLst>
          </p:cNvPr>
          <p:cNvCxnSpPr>
            <a:cxnSpLocks/>
          </p:cNvCxnSpPr>
          <p:nvPr/>
        </p:nvCxnSpPr>
        <p:spPr>
          <a:xfrm>
            <a:off x="714331" y="1897701"/>
            <a:ext cx="0" cy="1919045"/>
          </a:xfrm>
          <a:prstGeom prst="straightConnector1">
            <a:avLst/>
          </a:prstGeom>
          <a:ln w="76200">
            <a:solidFill>
              <a:srgbClr val="ED5DE6"/>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00B0EBBF-4D32-B4B2-E86D-5F5B4C141410}"/>
              </a:ext>
            </a:extLst>
          </p:cNvPr>
          <p:cNvSpPr txBox="1"/>
          <p:nvPr/>
        </p:nvSpPr>
        <p:spPr>
          <a:xfrm>
            <a:off x="2727803" y="2076084"/>
            <a:ext cx="3677454" cy="1477328"/>
          </a:xfrm>
          <a:prstGeom prst="rect">
            <a:avLst/>
          </a:prstGeom>
          <a:solidFill>
            <a:srgbClr val="CC3399"/>
          </a:solidFill>
        </p:spPr>
        <p:txBody>
          <a:bodyPr wrap="square" rtlCol="0">
            <a:spAutoFit/>
          </a:bodyPr>
          <a:lstStyle/>
          <a:p>
            <a:pPr algn="r" rtl="1"/>
            <a:r>
              <a:rPr lang="he-IL" dirty="0">
                <a:solidFill>
                  <a:schemeClr val="bg1"/>
                </a:solidFill>
              </a:rPr>
              <a:t>למשק א' יתרון יחסי בייצור </a:t>
            </a:r>
            <a:r>
              <a:rPr lang="en-US" dirty="0">
                <a:solidFill>
                  <a:schemeClr val="bg1"/>
                </a:solidFill>
              </a:rPr>
              <a:t>X</a:t>
            </a:r>
            <a:r>
              <a:rPr lang="he-IL" dirty="0">
                <a:solidFill>
                  <a:schemeClr val="bg1"/>
                </a:solidFill>
              </a:rPr>
              <a:t>, לכן ע.א.ש לייצור </a:t>
            </a:r>
            <a:r>
              <a:rPr lang="en-US" dirty="0">
                <a:solidFill>
                  <a:schemeClr val="bg1"/>
                </a:solidFill>
              </a:rPr>
              <a:t>X</a:t>
            </a:r>
            <a:r>
              <a:rPr lang="he-IL" dirty="0">
                <a:solidFill>
                  <a:schemeClr val="bg1"/>
                </a:solidFill>
              </a:rPr>
              <a:t> נמוכה יותר. אם מייצרים את אותה כמות </a:t>
            </a:r>
            <a:r>
              <a:rPr lang="en-US" dirty="0">
                <a:solidFill>
                  <a:schemeClr val="bg1"/>
                </a:solidFill>
              </a:rPr>
              <a:t>X</a:t>
            </a:r>
            <a:r>
              <a:rPr lang="he-IL" dirty="0">
                <a:solidFill>
                  <a:schemeClr val="bg1"/>
                </a:solidFill>
              </a:rPr>
              <a:t>, אז הע.א.כ. לייצור </a:t>
            </a:r>
            <a:r>
              <a:rPr lang="en-US" dirty="0">
                <a:solidFill>
                  <a:schemeClr val="bg1"/>
                </a:solidFill>
              </a:rPr>
              <a:t>X</a:t>
            </a:r>
            <a:r>
              <a:rPr lang="he-IL" dirty="0">
                <a:solidFill>
                  <a:schemeClr val="bg1"/>
                </a:solidFill>
              </a:rPr>
              <a:t> תהיה גדולה יותר במשק ב (שכן היא מול זווית גדולה יותר). </a:t>
            </a:r>
            <a:endParaRPr lang="en-IL" dirty="0">
              <a:solidFill>
                <a:schemeClr val="bg1"/>
              </a:solidFill>
            </a:endParaRPr>
          </a:p>
        </p:txBody>
      </p:sp>
    </p:spTree>
    <p:extLst>
      <p:ext uri="{BB962C8B-B14F-4D97-AF65-F5344CB8AC3E}">
        <p14:creationId xmlns:p14="http://schemas.microsoft.com/office/powerpoint/2010/main" val="645177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par>
                                <p:cTn id="8" presetID="14" presetClass="entr" presetSubtype="1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randombar(horizontal)">
                                      <p:cBhvr>
                                        <p:cTn id="10" dur="500"/>
                                        <p:tgtEl>
                                          <p:spTgt spid="9"/>
                                        </p:tgtEl>
                                      </p:cBhvr>
                                    </p:animEffect>
                                  </p:childTnLst>
                                </p:cTn>
                              </p:par>
                              <p:par>
                                <p:cTn id="11" presetID="14" presetClass="entr" presetSubtype="1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randombar(horizontal)">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5"/>
                                        </p:tgtEl>
                                        <p:attrNameLst>
                                          <p:attrName>style.visibility</p:attrName>
                                        </p:attrNameLst>
                                      </p:cBhvr>
                                      <p:to>
                                        <p:strVal val="visible"/>
                                      </p:to>
                                    </p:set>
                                    <p:animEffect transition="in" filter="fade">
                                      <p:cBhvr>
                                        <p:cTn id="45" dur="500"/>
                                        <p:tgtEl>
                                          <p:spTgt spid="35"/>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26"/>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6" presetClass="entr" presetSubtype="16" fill="hold" nodeType="click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circle(in)">
                                      <p:cBhvr>
                                        <p:cTn id="54" dur="2000"/>
                                        <p:tgtEl>
                                          <p:spTgt spid="33"/>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4" presetClass="entr" presetSubtype="10" fill="hold" grpId="0" nodeType="clickEffect">
                                  <p:stCondLst>
                                    <p:cond delay="0"/>
                                  </p:stCondLst>
                                  <p:childTnLst>
                                    <p:set>
                                      <p:cBhvr>
                                        <p:cTn id="62" dur="1" fill="hold">
                                          <p:stCondLst>
                                            <p:cond delay="0"/>
                                          </p:stCondLst>
                                        </p:cTn>
                                        <p:tgtEl>
                                          <p:spTgt spid="4"/>
                                        </p:tgtEl>
                                        <p:attrNameLst>
                                          <p:attrName>style.visibility</p:attrName>
                                        </p:attrNameLst>
                                      </p:cBhvr>
                                      <p:to>
                                        <p:strVal val="visible"/>
                                      </p:to>
                                    </p:set>
                                    <p:animEffect transition="in" filter="randombar(horizontal)">
                                      <p:cBhvr>
                                        <p:cTn id="6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P spid="14" grpId="0"/>
      <p:bldP spid="18" grpId="0" animBg="1"/>
      <p:bldP spid="3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494EE-F673-5036-0509-D799863495BC}"/>
              </a:ext>
            </a:extLst>
          </p:cNvPr>
          <p:cNvSpPr>
            <a:spLocks noGrp="1"/>
          </p:cNvSpPr>
          <p:nvPr>
            <p:ph type="title"/>
          </p:nvPr>
        </p:nvSpPr>
        <p:spPr>
          <a:xfrm>
            <a:off x="8308427" y="414282"/>
            <a:ext cx="3660228" cy="533509"/>
          </a:xfrm>
        </p:spPr>
        <p:txBody>
          <a:bodyPr>
            <a:normAutofit fontScale="90000"/>
          </a:bodyPr>
          <a:lstStyle/>
          <a:p>
            <a:pPr algn="r" rtl="1"/>
            <a:r>
              <a:rPr lang="he-IL" dirty="0"/>
              <a:t>פתרון</a:t>
            </a:r>
            <a:br>
              <a:rPr lang="en-US" dirty="0"/>
            </a:br>
            <a:r>
              <a:rPr lang="he-IL" dirty="0"/>
              <a:t>שאלה 3</a:t>
            </a:r>
            <a:endParaRPr lang="en-IL" dirty="0"/>
          </a:p>
        </p:txBody>
      </p:sp>
      <p:sp>
        <p:nvSpPr>
          <p:cNvPr id="3" name="Content Placeholder 2">
            <a:extLst>
              <a:ext uri="{FF2B5EF4-FFF2-40B4-BE49-F238E27FC236}">
                <a16:creationId xmlns:a16="http://schemas.microsoft.com/office/drawing/2014/main" id="{411A47A3-6F71-89A9-0418-E7097145D628}"/>
              </a:ext>
            </a:extLst>
          </p:cNvPr>
          <p:cNvSpPr>
            <a:spLocks noGrp="1"/>
          </p:cNvSpPr>
          <p:nvPr>
            <p:ph idx="1"/>
          </p:nvPr>
        </p:nvSpPr>
        <p:spPr>
          <a:xfrm>
            <a:off x="7481455" y="2076084"/>
            <a:ext cx="4487200" cy="3481325"/>
          </a:xfrm>
        </p:spPr>
        <p:txBody>
          <a:bodyPr>
            <a:normAutofit/>
          </a:bodyPr>
          <a:lstStyle/>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העלות האלטרנטיבית הכוללת לייצור </a:t>
            </a:r>
            <a:r>
              <a:rPr lang="en-US" sz="1800" dirty="0">
                <a:effectLst/>
                <a:latin typeface="Arial" panose="020B0604020202020204" pitchFamily="34" charset="0"/>
                <a:ea typeface="Times New Roman" panose="02020603050405020304" pitchFamily="18" charset="0"/>
              </a:rPr>
              <a:t>X</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גדולה יותר במשק ב.</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העלות האלטרנטיבית הכוללת לייצור </a:t>
            </a:r>
            <a:r>
              <a:rPr lang="en-US" sz="1800" dirty="0">
                <a:effectLst/>
                <a:latin typeface="Arial" panose="020B0604020202020204" pitchFamily="34" charset="0"/>
                <a:ea typeface="Times New Roman" panose="02020603050405020304" pitchFamily="18" charset="0"/>
              </a:rPr>
              <a:t>Y</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גדולה יותר במשק א.</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במשק ב' ישנם יותר עובדים.</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למשק ב' יש גם יתרון מוחלט בייצור מוצר </a:t>
            </a:r>
            <a:r>
              <a:rPr lang="en-US" sz="1800" dirty="0">
                <a:effectLst/>
                <a:latin typeface="Arial" panose="020B0604020202020204" pitchFamily="34" charset="0"/>
                <a:ea typeface="Times New Roman" panose="02020603050405020304" pitchFamily="18" charset="0"/>
              </a:rPr>
              <a:t>Y</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כל התשובות האחרות לא נכונות.</a:t>
            </a:r>
            <a:endParaRPr lang="en-IL" sz="1800" dirty="0">
              <a:effectLst/>
              <a:latin typeface="Times New Roman" panose="02020603050405020304" pitchFamily="18" charset="0"/>
              <a:ea typeface="Times New Roman" panose="02020603050405020304" pitchFamily="18" charset="0"/>
            </a:endParaRPr>
          </a:p>
        </p:txBody>
      </p:sp>
      <p:sp>
        <p:nvSpPr>
          <p:cNvPr id="4" name="Rectangle 3">
            <a:extLst>
              <a:ext uri="{FF2B5EF4-FFF2-40B4-BE49-F238E27FC236}">
                <a16:creationId xmlns:a16="http://schemas.microsoft.com/office/drawing/2014/main" id="{74231AE2-9CAF-B108-2CAA-D723E66C975F}"/>
              </a:ext>
            </a:extLst>
          </p:cNvPr>
          <p:cNvSpPr/>
          <p:nvPr/>
        </p:nvSpPr>
        <p:spPr>
          <a:xfrm>
            <a:off x="7198822" y="2099237"/>
            <a:ext cx="4993178" cy="86895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6A796AB0-E71A-1CB6-142B-A39FE58634CD}"/>
              </a:ext>
            </a:extLst>
          </p:cNvPr>
          <p:cNvSpPr txBox="1"/>
          <p:nvPr/>
        </p:nvSpPr>
        <p:spPr>
          <a:xfrm>
            <a:off x="223345" y="178094"/>
            <a:ext cx="9753457" cy="1661802"/>
          </a:xfrm>
          <a:prstGeom prst="rect">
            <a:avLst/>
          </a:prstGeom>
          <a:noFill/>
        </p:spPr>
        <p:txBody>
          <a:bodyPr wrap="square">
            <a:spAutoFit/>
          </a:bodyPr>
          <a:lstStyle/>
          <a:p>
            <a:pPr marL="0" indent="0" algn="r" rtl="1">
              <a:lnSpc>
                <a:spcPct val="107000"/>
              </a:lnSpc>
              <a:spcAft>
                <a:spcPts val="800"/>
              </a:spcAft>
              <a:buNone/>
            </a:pPr>
            <a:r>
              <a:rPr lang="he-IL" b="1" dirty="0">
                <a:latin typeface="Calibri" panose="020F0502020204030204" pitchFamily="34" charset="0"/>
                <a:ea typeface="Times New Roman" panose="02020603050405020304" pitchFamily="18" charset="0"/>
              </a:rPr>
              <a:t>נתון שני משקים סגורים, אשר אינם יכולים לסחור אחד עם השני, בכל אחד מהמשקים עקומת התמורה ליניארית.</a:t>
            </a:r>
            <a:endParaRPr lang="en-IL" dirty="0">
              <a:latin typeface="Calibri" panose="020F0502020204030204" pitchFamily="34" charset="0"/>
              <a:ea typeface="Calibri" panose="020F0502020204030204" pitchFamily="34" charset="0"/>
              <a:cs typeface="Arial" panose="020B0604020202020204" pitchFamily="34" charset="0"/>
            </a:endParaRPr>
          </a:p>
          <a:p>
            <a:pPr marL="0" indent="0" algn="r" rtl="1">
              <a:lnSpc>
                <a:spcPct val="107000"/>
              </a:lnSpc>
              <a:spcAft>
                <a:spcPts val="800"/>
              </a:spcAft>
              <a:buNone/>
            </a:pPr>
            <a:r>
              <a:rPr lang="he-IL" b="1" dirty="0">
                <a:latin typeface="Calibri" panose="020F0502020204030204" pitchFamily="34" charset="0"/>
                <a:ea typeface="Times New Roman" panose="02020603050405020304" pitchFamily="18" charset="0"/>
              </a:rPr>
              <a:t>למשק ב' יתרון יחסי בייצור </a:t>
            </a:r>
            <a:r>
              <a:rPr lang="en-US" b="1" dirty="0">
                <a:latin typeface="Arial" panose="020B0604020202020204" pitchFamily="34" charset="0"/>
                <a:ea typeface="Times New Roman" panose="02020603050405020304" pitchFamily="18" charset="0"/>
                <a:cs typeface="Arial" panose="020B0604020202020204" pitchFamily="34" charset="0"/>
              </a:rPr>
              <a:t>Y</a:t>
            </a:r>
            <a:r>
              <a:rPr lang="he-IL" b="1" dirty="0">
                <a:latin typeface="Calibri" panose="020F0502020204030204" pitchFamily="34" charset="0"/>
                <a:ea typeface="Times New Roman" panose="02020603050405020304" pitchFamily="18" charset="0"/>
              </a:rPr>
              <a:t> על פני משק א'. ידוע כי המשקים מייצרים כמויות זהות של מוצר </a:t>
            </a:r>
            <a:r>
              <a:rPr lang="en-US" b="1" dirty="0">
                <a:latin typeface="Arial" panose="020B0604020202020204" pitchFamily="34" charset="0"/>
                <a:ea typeface="Times New Roman" panose="02020603050405020304" pitchFamily="18" charset="0"/>
                <a:cs typeface="Arial" panose="020B0604020202020204" pitchFamily="34" charset="0"/>
              </a:rPr>
              <a:t>X</a:t>
            </a:r>
            <a:r>
              <a:rPr lang="he-IL" b="1" dirty="0">
                <a:latin typeface="Calibri" panose="020F0502020204030204" pitchFamily="34" charset="0"/>
                <a:ea typeface="Times New Roman" panose="02020603050405020304" pitchFamily="18" charset="0"/>
              </a:rPr>
              <a:t>, כלומר הכמות המיוצרת של </a:t>
            </a:r>
            <a:r>
              <a:rPr lang="en-US" b="1" dirty="0">
                <a:latin typeface="Arial" panose="020B0604020202020204" pitchFamily="34" charset="0"/>
                <a:ea typeface="Times New Roman" panose="02020603050405020304" pitchFamily="18" charset="0"/>
                <a:cs typeface="Arial" panose="020B0604020202020204" pitchFamily="34" charset="0"/>
              </a:rPr>
              <a:t>X</a:t>
            </a:r>
            <a:r>
              <a:rPr lang="he-IL" b="1" dirty="0">
                <a:latin typeface="Calibri" panose="020F0502020204030204" pitchFamily="34" charset="0"/>
                <a:ea typeface="Times New Roman" panose="02020603050405020304" pitchFamily="18" charset="0"/>
              </a:rPr>
              <a:t> במשק א זהה לכמות המיוצרת של </a:t>
            </a:r>
            <a:r>
              <a:rPr lang="en-US" b="1" dirty="0">
                <a:latin typeface="Arial" panose="020B0604020202020204" pitchFamily="34" charset="0"/>
                <a:ea typeface="Times New Roman" panose="02020603050405020304" pitchFamily="18" charset="0"/>
                <a:cs typeface="Arial" panose="020B0604020202020204" pitchFamily="34" charset="0"/>
              </a:rPr>
              <a:t>X</a:t>
            </a:r>
            <a:r>
              <a:rPr lang="he-IL" b="1" dirty="0">
                <a:latin typeface="Calibri" panose="020F0502020204030204" pitchFamily="34" charset="0"/>
                <a:ea typeface="Times New Roman" panose="02020603050405020304" pitchFamily="18" charset="0"/>
              </a:rPr>
              <a:t> במשק ב. לא ידוע מהי כמות </a:t>
            </a:r>
            <a:r>
              <a:rPr lang="en-US" b="1" dirty="0">
                <a:latin typeface="Calibri" panose="020F0502020204030204" pitchFamily="34" charset="0"/>
                <a:ea typeface="Times New Roman" panose="02020603050405020304" pitchFamily="18" charset="0"/>
                <a:cs typeface="Arial" panose="020B0604020202020204" pitchFamily="34" charset="0"/>
              </a:rPr>
              <a:t>Y</a:t>
            </a:r>
            <a:r>
              <a:rPr lang="he-IL" b="1" dirty="0">
                <a:latin typeface="Calibri" panose="020F0502020204030204" pitchFamily="34" charset="0"/>
                <a:ea typeface="Times New Roman" panose="02020603050405020304" pitchFamily="18" charset="0"/>
              </a:rPr>
              <a:t> המיוצרת בכל משק. לאור זאת ניתן להגיד כי:</a:t>
            </a:r>
            <a:endParaRPr lang="en-IL" dirty="0">
              <a:latin typeface="Calibri" panose="020F0502020204030204" pitchFamily="34" charset="0"/>
              <a:ea typeface="Calibri" panose="020F0502020204030204" pitchFamily="34" charset="0"/>
              <a:cs typeface="Arial" panose="020B0604020202020204" pitchFamily="34" charset="0"/>
            </a:endParaRPr>
          </a:p>
        </p:txBody>
      </p:sp>
      <p:cxnSp>
        <p:nvCxnSpPr>
          <p:cNvPr id="7" name="מחבר ישר 42">
            <a:extLst>
              <a:ext uri="{FF2B5EF4-FFF2-40B4-BE49-F238E27FC236}">
                <a16:creationId xmlns:a16="http://schemas.microsoft.com/office/drawing/2014/main" id="{DC950A56-E163-FD3D-C0B1-E7663187C2DE}"/>
              </a:ext>
            </a:extLst>
          </p:cNvPr>
          <p:cNvCxnSpPr>
            <a:cxnSpLocks/>
          </p:cNvCxnSpPr>
          <p:nvPr/>
        </p:nvCxnSpPr>
        <p:spPr>
          <a:xfrm flipH="1">
            <a:off x="833903" y="1763885"/>
            <a:ext cx="2030" cy="4225084"/>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8" name="Object 2">
            <a:extLst>
              <a:ext uri="{FF2B5EF4-FFF2-40B4-BE49-F238E27FC236}">
                <a16:creationId xmlns:a16="http://schemas.microsoft.com/office/drawing/2014/main" id="{DBFB35CC-4BFC-5B3E-66E9-C7F8C5B7F7F3}"/>
              </a:ext>
            </a:extLst>
          </p:cNvPr>
          <p:cNvGraphicFramePr>
            <a:graphicFrameLocks noChangeAspect="1"/>
          </p:cNvGraphicFramePr>
          <p:nvPr/>
        </p:nvGraphicFramePr>
        <p:xfrm>
          <a:off x="347901" y="1515362"/>
          <a:ext cx="366712" cy="497046"/>
        </p:xfrm>
        <a:graphic>
          <a:graphicData uri="http://schemas.openxmlformats.org/presentationml/2006/ole">
            <mc:AlternateContent xmlns:mc="http://schemas.openxmlformats.org/markup-compatibility/2006">
              <mc:Choice xmlns:v="urn:schemas-microsoft-com:vml" Requires="v">
                <p:oleObj name="Equation" r:id="rId2" imgW="139680" imgH="164880" progId="Equation.DSMT4">
                  <p:embed/>
                </p:oleObj>
              </mc:Choice>
              <mc:Fallback>
                <p:oleObj name="Equation" r:id="rId2" imgW="139680" imgH="164880" progId="Equation.DSMT4">
                  <p:embed/>
                  <p:pic>
                    <p:nvPicPr>
                      <p:cNvPr id="8" name="Object 2">
                        <a:extLst>
                          <a:ext uri="{FF2B5EF4-FFF2-40B4-BE49-F238E27FC236}">
                            <a16:creationId xmlns:a16="http://schemas.microsoft.com/office/drawing/2014/main" id="{DBFB35CC-4BFC-5B3E-66E9-C7F8C5B7F7F3}"/>
                          </a:ext>
                        </a:extLst>
                      </p:cNvPr>
                      <p:cNvPicPr>
                        <a:picLocks noChangeAspect="1" noChangeArrowheads="1"/>
                      </p:cNvPicPr>
                      <p:nvPr/>
                    </p:nvPicPr>
                    <p:blipFill>
                      <a:blip r:embed="rId3"/>
                      <a:srcRect/>
                      <a:stretch>
                        <a:fillRect/>
                      </a:stretch>
                    </p:blipFill>
                    <p:spPr bwMode="auto">
                      <a:xfrm>
                        <a:off x="347901" y="1515362"/>
                        <a:ext cx="366712" cy="497046"/>
                      </a:xfrm>
                      <a:prstGeom prst="rect">
                        <a:avLst/>
                      </a:prstGeom>
                      <a:noFill/>
                      <a:ln>
                        <a:noFill/>
                      </a:ln>
                    </p:spPr>
                  </p:pic>
                </p:oleObj>
              </mc:Fallback>
            </mc:AlternateContent>
          </a:graphicData>
        </a:graphic>
      </p:graphicFrame>
      <p:cxnSp>
        <p:nvCxnSpPr>
          <p:cNvPr id="9" name="מחבר ישר 54">
            <a:extLst>
              <a:ext uri="{FF2B5EF4-FFF2-40B4-BE49-F238E27FC236}">
                <a16:creationId xmlns:a16="http://schemas.microsoft.com/office/drawing/2014/main" id="{9E425B57-ED91-5E7F-47C0-6998A09CCD91}"/>
              </a:ext>
            </a:extLst>
          </p:cNvPr>
          <p:cNvCxnSpPr>
            <a:cxnSpLocks/>
          </p:cNvCxnSpPr>
          <p:nvPr/>
        </p:nvCxnSpPr>
        <p:spPr>
          <a:xfrm flipV="1">
            <a:off x="832708" y="5988969"/>
            <a:ext cx="6648747" cy="7508"/>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מחבר ישר 94">
            <a:extLst>
              <a:ext uri="{FF2B5EF4-FFF2-40B4-BE49-F238E27FC236}">
                <a16:creationId xmlns:a16="http://schemas.microsoft.com/office/drawing/2014/main" id="{AD15A094-857E-9185-1E33-F51843B98128}"/>
              </a:ext>
            </a:extLst>
          </p:cNvPr>
          <p:cNvCxnSpPr>
            <a:cxnSpLocks/>
          </p:cNvCxnSpPr>
          <p:nvPr/>
        </p:nvCxnSpPr>
        <p:spPr>
          <a:xfrm>
            <a:off x="775229" y="1932729"/>
            <a:ext cx="6104085" cy="4043941"/>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A5B2FE71-82DD-922C-1843-3DC41D1A163E}"/>
              </a:ext>
            </a:extLst>
          </p:cNvPr>
          <p:cNvSpPr/>
          <p:nvPr/>
        </p:nvSpPr>
        <p:spPr>
          <a:xfrm>
            <a:off x="1873084" y="2521530"/>
            <a:ext cx="363601" cy="43226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1" anchor="ctr"/>
          <a:lstStyle/>
          <a:p>
            <a:pPr algn="ctr"/>
            <a:r>
              <a:rPr lang="en-US" dirty="0"/>
              <a:t>A</a:t>
            </a:r>
            <a:endParaRPr lang="he-IL" dirty="0"/>
          </a:p>
        </p:txBody>
      </p:sp>
      <p:sp>
        <p:nvSpPr>
          <p:cNvPr id="12" name="TextBox 11">
            <a:extLst>
              <a:ext uri="{FF2B5EF4-FFF2-40B4-BE49-F238E27FC236}">
                <a16:creationId xmlns:a16="http://schemas.microsoft.com/office/drawing/2014/main" id="{E0D655B0-AC93-8F48-1204-458215BBA292}"/>
              </a:ext>
            </a:extLst>
          </p:cNvPr>
          <p:cNvSpPr txBox="1"/>
          <p:nvPr/>
        </p:nvSpPr>
        <p:spPr>
          <a:xfrm>
            <a:off x="7809269" y="5920498"/>
            <a:ext cx="520118" cy="523220"/>
          </a:xfrm>
          <a:prstGeom prst="rect">
            <a:avLst/>
          </a:prstGeom>
          <a:noFill/>
        </p:spPr>
        <p:txBody>
          <a:bodyPr wrap="square" rtlCol="0">
            <a:spAutoFit/>
          </a:bodyPr>
          <a:lstStyle/>
          <a:p>
            <a:r>
              <a:rPr lang="en-US" sz="2800" dirty="0"/>
              <a:t>X</a:t>
            </a:r>
          </a:p>
        </p:txBody>
      </p:sp>
      <p:cxnSp>
        <p:nvCxnSpPr>
          <p:cNvPr id="13" name="מחבר ישר 94">
            <a:extLst>
              <a:ext uri="{FF2B5EF4-FFF2-40B4-BE49-F238E27FC236}">
                <a16:creationId xmlns:a16="http://schemas.microsoft.com/office/drawing/2014/main" id="{94C23A72-452C-CBC6-5A68-1399780CB7CE}"/>
              </a:ext>
            </a:extLst>
          </p:cNvPr>
          <p:cNvCxnSpPr>
            <a:cxnSpLocks/>
          </p:cNvCxnSpPr>
          <p:nvPr/>
        </p:nvCxnSpPr>
        <p:spPr>
          <a:xfrm>
            <a:off x="798444" y="1897701"/>
            <a:ext cx="2789820" cy="4091268"/>
          </a:xfrm>
          <a:prstGeom prst="line">
            <a:avLst/>
          </a:prstGeom>
          <a:ln w="41275">
            <a:solidFill>
              <a:srgbClr val="FF00FF"/>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E5A0BF37-B061-68A2-82AB-1EF39EC20306}"/>
              </a:ext>
            </a:extLst>
          </p:cNvPr>
          <p:cNvSpPr txBox="1"/>
          <p:nvPr/>
        </p:nvSpPr>
        <p:spPr>
          <a:xfrm>
            <a:off x="1786192" y="6055870"/>
            <a:ext cx="941612" cy="523220"/>
          </a:xfrm>
          <a:prstGeom prst="rect">
            <a:avLst/>
          </a:prstGeom>
          <a:noFill/>
        </p:spPr>
        <p:txBody>
          <a:bodyPr wrap="square" rtlCol="0">
            <a:spAutoFit/>
          </a:bodyPr>
          <a:lstStyle/>
          <a:p>
            <a:r>
              <a:rPr lang="en-US" sz="2800" dirty="0"/>
              <a:t>X</a:t>
            </a:r>
            <a:endParaRPr lang="en-IL" sz="2800" dirty="0"/>
          </a:p>
        </p:txBody>
      </p:sp>
      <p:cxnSp>
        <p:nvCxnSpPr>
          <p:cNvPr id="16" name="Straight Connector 15">
            <a:extLst>
              <a:ext uri="{FF2B5EF4-FFF2-40B4-BE49-F238E27FC236}">
                <a16:creationId xmlns:a16="http://schemas.microsoft.com/office/drawing/2014/main" id="{14E41D06-37C0-8D82-0F57-653353C90BCE}"/>
              </a:ext>
            </a:extLst>
          </p:cNvPr>
          <p:cNvCxnSpPr>
            <a:cxnSpLocks/>
          </p:cNvCxnSpPr>
          <p:nvPr/>
        </p:nvCxnSpPr>
        <p:spPr>
          <a:xfrm>
            <a:off x="2011680" y="2725564"/>
            <a:ext cx="0" cy="3263405"/>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71C8416F-6771-29A1-66F4-A4BDAC4DF3BF}"/>
              </a:ext>
            </a:extLst>
          </p:cNvPr>
          <p:cNvSpPr/>
          <p:nvPr/>
        </p:nvSpPr>
        <p:spPr>
          <a:xfrm>
            <a:off x="1829879" y="3644713"/>
            <a:ext cx="363601" cy="432262"/>
          </a:xfrm>
          <a:prstGeom prst="ellipse">
            <a:avLst/>
          </a:prstGeom>
          <a:solidFill>
            <a:schemeClr val="accent2">
              <a:lumMod val="75000"/>
            </a:schemeClr>
          </a:solidFill>
        </p:spPr>
        <p:style>
          <a:lnRef idx="2">
            <a:schemeClr val="dk1">
              <a:shade val="50000"/>
            </a:schemeClr>
          </a:lnRef>
          <a:fillRef idx="1">
            <a:schemeClr val="dk1"/>
          </a:fillRef>
          <a:effectRef idx="0">
            <a:schemeClr val="dk1"/>
          </a:effectRef>
          <a:fontRef idx="minor">
            <a:schemeClr val="lt1"/>
          </a:fontRef>
        </p:style>
        <p:txBody>
          <a:bodyPr rtlCol="1" anchor="ctr"/>
          <a:lstStyle/>
          <a:p>
            <a:pPr algn="ctr"/>
            <a:r>
              <a:rPr lang="en-US" dirty="0"/>
              <a:t>B</a:t>
            </a:r>
            <a:endParaRPr lang="he-IL" dirty="0"/>
          </a:p>
        </p:txBody>
      </p:sp>
      <p:cxnSp>
        <p:nvCxnSpPr>
          <p:cNvPr id="21" name="Straight Connector 20">
            <a:extLst>
              <a:ext uri="{FF2B5EF4-FFF2-40B4-BE49-F238E27FC236}">
                <a16:creationId xmlns:a16="http://schemas.microsoft.com/office/drawing/2014/main" id="{2319B042-3141-FE99-BBD2-2037BFFDF2EE}"/>
              </a:ext>
            </a:extLst>
          </p:cNvPr>
          <p:cNvCxnSpPr>
            <a:cxnSpLocks/>
          </p:cNvCxnSpPr>
          <p:nvPr/>
        </p:nvCxnSpPr>
        <p:spPr>
          <a:xfrm>
            <a:off x="832708" y="3844884"/>
            <a:ext cx="1135284" cy="42768"/>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2F29A7B-2F42-C484-2636-185A9405D816}"/>
              </a:ext>
            </a:extLst>
          </p:cNvPr>
          <p:cNvCxnSpPr>
            <a:cxnSpLocks/>
          </p:cNvCxnSpPr>
          <p:nvPr/>
        </p:nvCxnSpPr>
        <p:spPr>
          <a:xfrm>
            <a:off x="835770" y="2704180"/>
            <a:ext cx="1135284" cy="42768"/>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945835F3-9FB4-16AB-5F9C-AF26BE30ECCE}"/>
              </a:ext>
            </a:extLst>
          </p:cNvPr>
          <p:cNvCxnSpPr>
            <a:cxnSpLocks/>
          </p:cNvCxnSpPr>
          <p:nvPr/>
        </p:nvCxnSpPr>
        <p:spPr>
          <a:xfrm>
            <a:off x="915272" y="1941463"/>
            <a:ext cx="0" cy="805485"/>
          </a:xfrm>
          <a:prstGeom prst="straightConnector1">
            <a:avLst/>
          </a:prstGeom>
          <a:ln w="76200">
            <a:solidFill>
              <a:schemeClr val="accent6">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49B1D157-B760-5441-660F-F2AD93260626}"/>
              </a:ext>
            </a:extLst>
          </p:cNvPr>
          <p:cNvCxnSpPr>
            <a:cxnSpLocks/>
          </p:cNvCxnSpPr>
          <p:nvPr/>
        </p:nvCxnSpPr>
        <p:spPr>
          <a:xfrm>
            <a:off x="714331" y="1897701"/>
            <a:ext cx="0" cy="1919045"/>
          </a:xfrm>
          <a:prstGeom prst="straightConnector1">
            <a:avLst/>
          </a:prstGeom>
          <a:ln w="76200">
            <a:solidFill>
              <a:srgbClr val="ED5DE6"/>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00B0EBBF-4D32-B4B2-E86D-5F5B4C141410}"/>
              </a:ext>
            </a:extLst>
          </p:cNvPr>
          <p:cNvSpPr txBox="1"/>
          <p:nvPr/>
        </p:nvSpPr>
        <p:spPr>
          <a:xfrm>
            <a:off x="2727803" y="2076084"/>
            <a:ext cx="3677454" cy="1477328"/>
          </a:xfrm>
          <a:prstGeom prst="rect">
            <a:avLst/>
          </a:prstGeom>
          <a:solidFill>
            <a:srgbClr val="CC3399"/>
          </a:solidFill>
        </p:spPr>
        <p:txBody>
          <a:bodyPr wrap="square" rtlCol="0">
            <a:spAutoFit/>
          </a:bodyPr>
          <a:lstStyle/>
          <a:p>
            <a:pPr algn="r" rtl="1"/>
            <a:r>
              <a:rPr lang="he-IL" dirty="0">
                <a:solidFill>
                  <a:schemeClr val="bg1"/>
                </a:solidFill>
              </a:rPr>
              <a:t>למשק א' יתרון יחסי בייצור </a:t>
            </a:r>
            <a:r>
              <a:rPr lang="en-US" dirty="0">
                <a:solidFill>
                  <a:schemeClr val="bg1"/>
                </a:solidFill>
              </a:rPr>
              <a:t>X</a:t>
            </a:r>
            <a:r>
              <a:rPr lang="he-IL" dirty="0">
                <a:solidFill>
                  <a:schemeClr val="bg1"/>
                </a:solidFill>
              </a:rPr>
              <a:t>, לכן ע.א.ש לייצור </a:t>
            </a:r>
            <a:r>
              <a:rPr lang="en-US" dirty="0">
                <a:solidFill>
                  <a:schemeClr val="bg1"/>
                </a:solidFill>
              </a:rPr>
              <a:t>X</a:t>
            </a:r>
            <a:r>
              <a:rPr lang="he-IL" dirty="0">
                <a:solidFill>
                  <a:schemeClr val="bg1"/>
                </a:solidFill>
              </a:rPr>
              <a:t> נמוכה יותר. אם מייצרים את אותה כמות </a:t>
            </a:r>
            <a:r>
              <a:rPr lang="en-US" dirty="0">
                <a:solidFill>
                  <a:schemeClr val="bg1"/>
                </a:solidFill>
              </a:rPr>
              <a:t>X</a:t>
            </a:r>
            <a:r>
              <a:rPr lang="he-IL" dirty="0">
                <a:solidFill>
                  <a:schemeClr val="bg1"/>
                </a:solidFill>
              </a:rPr>
              <a:t>, אז הע.א.כ. לייצור </a:t>
            </a:r>
            <a:r>
              <a:rPr lang="en-US" dirty="0">
                <a:solidFill>
                  <a:schemeClr val="bg1"/>
                </a:solidFill>
              </a:rPr>
              <a:t>X</a:t>
            </a:r>
            <a:r>
              <a:rPr lang="he-IL" dirty="0">
                <a:solidFill>
                  <a:schemeClr val="bg1"/>
                </a:solidFill>
              </a:rPr>
              <a:t> תהיה גדולה יותר במשק ב (שכן היא מול זווית גדולה יותר). </a:t>
            </a:r>
            <a:endParaRPr lang="en-IL" dirty="0">
              <a:solidFill>
                <a:schemeClr val="bg1"/>
              </a:solidFill>
            </a:endParaRPr>
          </a:p>
        </p:txBody>
      </p:sp>
    </p:spTree>
    <p:extLst>
      <p:ext uri="{BB962C8B-B14F-4D97-AF65-F5344CB8AC3E}">
        <p14:creationId xmlns:p14="http://schemas.microsoft.com/office/powerpoint/2010/main" val="4067277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par>
                                <p:cTn id="8" presetID="14" presetClass="entr" presetSubtype="1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randombar(horizontal)">
                                      <p:cBhvr>
                                        <p:cTn id="10" dur="500"/>
                                        <p:tgtEl>
                                          <p:spTgt spid="9"/>
                                        </p:tgtEl>
                                      </p:cBhvr>
                                    </p:animEffect>
                                  </p:childTnLst>
                                </p:cTn>
                              </p:par>
                              <p:par>
                                <p:cTn id="11" presetID="14" presetClass="entr" presetSubtype="1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randombar(horizontal)">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5"/>
                                        </p:tgtEl>
                                        <p:attrNameLst>
                                          <p:attrName>style.visibility</p:attrName>
                                        </p:attrNameLst>
                                      </p:cBhvr>
                                      <p:to>
                                        <p:strVal val="visible"/>
                                      </p:to>
                                    </p:set>
                                    <p:animEffect transition="in" filter="fade">
                                      <p:cBhvr>
                                        <p:cTn id="45" dur="500"/>
                                        <p:tgtEl>
                                          <p:spTgt spid="35"/>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26"/>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6" presetClass="entr" presetSubtype="16" fill="hold" nodeType="click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circle(in)">
                                      <p:cBhvr>
                                        <p:cTn id="54" dur="2000"/>
                                        <p:tgtEl>
                                          <p:spTgt spid="33"/>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4" presetClass="entr" presetSubtype="10" fill="hold" grpId="0" nodeType="clickEffect">
                                  <p:stCondLst>
                                    <p:cond delay="0"/>
                                  </p:stCondLst>
                                  <p:childTnLst>
                                    <p:set>
                                      <p:cBhvr>
                                        <p:cTn id="62" dur="1" fill="hold">
                                          <p:stCondLst>
                                            <p:cond delay="0"/>
                                          </p:stCondLst>
                                        </p:cTn>
                                        <p:tgtEl>
                                          <p:spTgt spid="4"/>
                                        </p:tgtEl>
                                        <p:attrNameLst>
                                          <p:attrName>style.visibility</p:attrName>
                                        </p:attrNameLst>
                                      </p:cBhvr>
                                      <p:to>
                                        <p:strVal val="visible"/>
                                      </p:to>
                                    </p:set>
                                    <p:animEffect transition="in" filter="randombar(horizontal)">
                                      <p:cBhvr>
                                        <p:cTn id="6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P spid="14" grpId="0"/>
      <p:bldP spid="18" grpId="0" animBg="1"/>
      <p:bldP spid="3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494EE-F673-5036-0509-D799863495BC}"/>
              </a:ext>
            </a:extLst>
          </p:cNvPr>
          <p:cNvSpPr>
            <a:spLocks noGrp="1"/>
          </p:cNvSpPr>
          <p:nvPr>
            <p:ph type="title"/>
          </p:nvPr>
        </p:nvSpPr>
        <p:spPr>
          <a:xfrm>
            <a:off x="8308427" y="414282"/>
            <a:ext cx="3660228" cy="533509"/>
          </a:xfrm>
        </p:spPr>
        <p:txBody>
          <a:bodyPr>
            <a:normAutofit fontScale="90000"/>
          </a:bodyPr>
          <a:lstStyle/>
          <a:p>
            <a:pPr algn="r" rtl="1"/>
            <a:r>
              <a:rPr lang="he-IL" dirty="0"/>
              <a:t>פתרון</a:t>
            </a:r>
            <a:br>
              <a:rPr lang="en-US" dirty="0"/>
            </a:br>
            <a:r>
              <a:rPr lang="he-IL" dirty="0"/>
              <a:t>שאלה 3</a:t>
            </a:r>
            <a:endParaRPr lang="en-IL" dirty="0"/>
          </a:p>
        </p:txBody>
      </p:sp>
      <p:sp>
        <p:nvSpPr>
          <p:cNvPr id="3" name="Content Placeholder 2">
            <a:extLst>
              <a:ext uri="{FF2B5EF4-FFF2-40B4-BE49-F238E27FC236}">
                <a16:creationId xmlns:a16="http://schemas.microsoft.com/office/drawing/2014/main" id="{411A47A3-6F71-89A9-0418-E7097145D628}"/>
              </a:ext>
            </a:extLst>
          </p:cNvPr>
          <p:cNvSpPr>
            <a:spLocks noGrp="1"/>
          </p:cNvSpPr>
          <p:nvPr>
            <p:ph idx="1"/>
          </p:nvPr>
        </p:nvSpPr>
        <p:spPr>
          <a:xfrm>
            <a:off x="7481455" y="2076084"/>
            <a:ext cx="4487200" cy="3481325"/>
          </a:xfrm>
        </p:spPr>
        <p:txBody>
          <a:bodyPr>
            <a:normAutofit/>
          </a:bodyPr>
          <a:lstStyle/>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העלות האלטרנטיבית הכוללת לייצור </a:t>
            </a:r>
            <a:r>
              <a:rPr lang="en-US" sz="1800" dirty="0">
                <a:effectLst/>
                <a:latin typeface="Arial" panose="020B0604020202020204" pitchFamily="34" charset="0"/>
                <a:ea typeface="Times New Roman" panose="02020603050405020304" pitchFamily="18" charset="0"/>
              </a:rPr>
              <a:t>X</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גדולה יותר במשק ב.</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העלות האלטרנטיבית הכוללת לייצור </a:t>
            </a:r>
            <a:r>
              <a:rPr lang="en-US" sz="1800" dirty="0">
                <a:effectLst/>
                <a:latin typeface="Arial" panose="020B0604020202020204" pitchFamily="34" charset="0"/>
                <a:ea typeface="Times New Roman" panose="02020603050405020304" pitchFamily="18" charset="0"/>
              </a:rPr>
              <a:t>Y</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גדולה יותר במשק א.</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במשק ב' ישנם יותר עובדים.</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למשק ב' יש גם יתרון מוחלט בייצור מוצר </a:t>
            </a:r>
            <a:r>
              <a:rPr lang="en-US" sz="1800" dirty="0">
                <a:effectLst/>
                <a:latin typeface="Arial" panose="020B0604020202020204" pitchFamily="34" charset="0"/>
                <a:ea typeface="Times New Roman" panose="02020603050405020304" pitchFamily="18" charset="0"/>
              </a:rPr>
              <a:t>Y</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כל התשובות האחרות לא נכונות.</a:t>
            </a:r>
            <a:endParaRPr lang="en-IL" sz="1800" dirty="0">
              <a:effectLst/>
              <a:latin typeface="Times New Roman" panose="02020603050405020304" pitchFamily="18" charset="0"/>
              <a:ea typeface="Times New Roman" panose="02020603050405020304" pitchFamily="18" charset="0"/>
            </a:endParaRPr>
          </a:p>
        </p:txBody>
      </p:sp>
      <p:sp>
        <p:nvSpPr>
          <p:cNvPr id="4" name="Rectangle 3">
            <a:extLst>
              <a:ext uri="{FF2B5EF4-FFF2-40B4-BE49-F238E27FC236}">
                <a16:creationId xmlns:a16="http://schemas.microsoft.com/office/drawing/2014/main" id="{74231AE2-9CAF-B108-2CAA-D723E66C975F}"/>
              </a:ext>
            </a:extLst>
          </p:cNvPr>
          <p:cNvSpPr/>
          <p:nvPr/>
        </p:nvSpPr>
        <p:spPr>
          <a:xfrm>
            <a:off x="7198822" y="2099237"/>
            <a:ext cx="4993178" cy="86895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6A796AB0-E71A-1CB6-142B-A39FE58634CD}"/>
              </a:ext>
            </a:extLst>
          </p:cNvPr>
          <p:cNvSpPr txBox="1"/>
          <p:nvPr/>
        </p:nvSpPr>
        <p:spPr>
          <a:xfrm>
            <a:off x="223345" y="178094"/>
            <a:ext cx="9753457" cy="1661802"/>
          </a:xfrm>
          <a:prstGeom prst="rect">
            <a:avLst/>
          </a:prstGeom>
          <a:noFill/>
        </p:spPr>
        <p:txBody>
          <a:bodyPr wrap="square">
            <a:spAutoFit/>
          </a:bodyPr>
          <a:lstStyle/>
          <a:p>
            <a:pPr marL="0" indent="0" algn="r" rtl="1">
              <a:lnSpc>
                <a:spcPct val="107000"/>
              </a:lnSpc>
              <a:spcAft>
                <a:spcPts val="800"/>
              </a:spcAft>
              <a:buNone/>
            </a:pPr>
            <a:r>
              <a:rPr lang="he-IL" b="1" dirty="0">
                <a:latin typeface="Calibri" panose="020F0502020204030204" pitchFamily="34" charset="0"/>
                <a:ea typeface="Times New Roman" panose="02020603050405020304" pitchFamily="18" charset="0"/>
              </a:rPr>
              <a:t>נתון שני משקים סגורים, אשר אינם יכולים לסחור אחד עם השני, בכל אחד מהמשקים עקומת התמורה ליניארית.</a:t>
            </a:r>
            <a:endParaRPr lang="en-IL" dirty="0">
              <a:latin typeface="Calibri" panose="020F0502020204030204" pitchFamily="34" charset="0"/>
              <a:ea typeface="Calibri" panose="020F0502020204030204" pitchFamily="34" charset="0"/>
              <a:cs typeface="Arial" panose="020B0604020202020204" pitchFamily="34" charset="0"/>
            </a:endParaRPr>
          </a:p>
          <a:p>
            <a:pPr marL="0" indent="0" algn="r" rtl="1">
              <a:lnSpc>
                <a:spcPct val="107000"/>
              </a:lnSpc>
              <a:spcAft>
                <a:spcPts val="800"/>
              </a:spcAft>
              <a:buNone/>
            </a:pPr>
            <a:r>
              <a:rPr lang="he-IL" b="1" dirty="0">
                <a:latin typeface="Calibri" panose="020F0502020204030204" pitchFamily="34" charset="0"/>
                <a:ea typeface="Times New Roman" panose="02020603050405020304" pitchFamily="18" charset="0"/>
              </a:rPr>
              <a:t>למשק ב' יתרון יחסי בייצור </a:t>
            </a:r>
            <a:r>
              <a:rPr lang="en-US" b="1" dirty="0">
                <a:latin typeface="Arial" panose="020B0604020202020204" pitchFamily="34" charset="0"/>
                <a:ea typeface="Times New Roman" panose="02020603050405020304" pitchFamily="18" charset="0"/>
                <a:cs typeface="Arial" panose="020B0604020202020204" pitchFamily="34" charset="0"/>
              </a:rPr>
              <a:t>Y</a:t>
            </a:r>
            <a:r>
              <a:rPr lang="he-IL" b="1" dirty="0">
                <a:latin typeface="Calibri" panose="020F0502020204030204" pitchFamily="34" charset="0"/>
                <a:ea typeface="Times New Roman" panose="02020603050405020304" pitchFamily="18" charset="0"/>
              </a:rPr>
              <a:t> על פני משק א'. ידוע כי המשקים מייצרים כמויות זהות של מוצר </a:t>
            </a:r>
            <a:r>
              <a:rPr lang="en-US" b="1" dirty="0">
                <a:latin typeface="Arial" panose="020B0604020202020204" pitchFamily="34" charset="0"/>
                <a:ea typeface="Times New Roman" panose="02020603050405020304" pitchFamily="18" charset="0"/>
                <a:cs typeface="Arial" panose="020B0604020202020204" pitchFamily="34" charset="0"/>
              </a:rPr>
              <a:t>X</a:t>
            </a:r>
            <a:r>
              <a:rPr lang="he-IL" b="1" dirty="0">
                <a:latin typeface="Calibri" panose="020F0502020204030204" pitchFamily="34" charset="0"/>
                <a:ea typeface="Times New Roman" panose="02020603050405020304" pitchFamily="18" charset="0"/>
              </a:rPr>
              <a:t>, כלומר הכמות המיוצרת של </a:t>
            </a:r>
            <a:r>
              <a:rPr lang="en-US" b="1" dirty="0">
                <a:latin typeface="Arial" panose="020B0604020202020204" pitchFamily="34" charset="0"/>
                <a:ea typeface="Times New Roman" panose="02020603050405020304" pitchFamily="18" charset="0"/>
                <a:cs typeface="Arial" panose="020B0604020202020204" pitchFamily="34" charset="0"/>
              </a:rPr>
              <a:t>X</a:t>
            </a:r>
            <a:r>
              <a:rPr lang="he-IL" b="1" dirty="0">
                <a:latin typeface="Calibri" panose="020F0502020204030204" pitchFamily="34" charset="0"/>
                <a:ea typeface="Times New Roman" panose="02020603050405020304" pitchFamily="18" charset="0"/>
              </a:rPr>
              <a:t> במשק א זהה לכמות המיוצרת של </a:t>
            </a:r>
            <a:r>
              <a:rPr lang="en-US" b="1" dirty="0">
                <a:latin typeface="Arial" panose="020B0604020202020204" pitchFamily="34" charset="0"/>
                <a:ea typeface="Times New Roman" panose="02020603050405020304" pitchFamily="18" charset="0"/>
                <a:cs typeface="Arial" panose="020B0604020202020204" pitchFamily="34" charset="0"/>
              </a:rPr>
              <a:t>X</a:t>
            </a:r>
            <a:r>
              <a:rPr lang="he-IL" b="1" dirty="0">
                <a:latin typeface="Calibri" panose="020F0502020204030204" pitchFamily="34" charset="0"/>
                <a:ea typeface="Times New Roman" panose="02020603050405020304" pitchFamily="18" charset="0"/>
              </a:rPr>
              <a:t> במשק ב. לא ידוע מהי כמות </a:t>
            </a:r>
            <a:r>
              <a:rPr lang="en-US" b="1" dirty="0">
                <a:latin typeface="Calibri" panose="020F0502020204030204" pitchFamily="34" charset="0"/>
                <a:ea typeface="Times New Roman" panose="02020603050405020304" pitchFamily="18" charset="0"/>
                <a:cs typeface="Arial" panose="020B0604020202020204" pitchFamily="34" charset="0"/>
              </a:rPr>
              <a:t>Y</a:t>
            </a:r>
            <a:r>
              <a:rPr lang="he-IL" b="1" dirty="0">
                <a:latin typeface="Calibri" panose="020F0502020204030204" pitchFamily="34" charset="0"/>
                <a:ea typeface="Times New Roman" panose="02020603050405020304" pitchFamily="18" charset="0"/>
              </a:rPr>
              <a:t> המיוצרת בכל משק. לאור זאת ניתן להגיד כי:</a:t>
            </a:r>
            <a:endParaRPr lang="en-IL" dirty="0">
              <a:latin typeface="Calibri" panose="020F0502020204030204" pitchFamily="34" charset="0"/>
              <a:ea typeface="Calibri" panose="020F0502020204030204" pitchFamily="34" charset="0"/>
              <a:cs typeface="Arial" panose="020B0604020202020204" pitchFamily="34" charset="0"/>
            </a:endParaRPr>
          </a:p>
        </p:txBody>
      </p:sp>
      <p:cxnSp>
        <p:nvCxnSpPr>
          <p:cNvPr id="7" name="מחבר ישר 42">
            <a:extLst>
              <a:ext uri="{FF2B5EF4-FFF2-40B4-BE49-F238E27FC236}">
                <a16:creationId xmlns:a16="http://schemas.microsoft.com/office/drawing/2014/main" id="{DC950A56-E163-FD3D-C0B1-E7663187C2DE}"/>
              </a:ext>
            </a:extLst>
          </p:cNvPr>
          <p:cNvCxnSpPr>
            <a:cxnSpLocks/>
          </p:cNvCxnSpPr>
          <p:nvPr/>
        </p:nvCxnSpPr>
        <p:spPr>
          <a:xfrm flipH="1">
            <a:off x="833903" y="1763885"/>
            <a:ext cx="2030" cy="4225084"/>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8" name="Object 2">
            <a:extLst>
              <a:ext uri="{FF2B5EF4-FFF2-40B4-BE49-F238E27FC236}">
                <a16:creationId xmlns:a16="http://schemas.microsoft.com/office/drawing/2014/main" id="{DBFB35CC-4BFC-5B3E-66E9-C7F8C5B7F7F3}"/>
              </a:ext>
            </a:extLst>
          </p:cNvPr>
          <p:cNvGraphicFramePr>
            <a:graphicFrameLocks noChangeAspect="1"/>
          </p:cNvGraphicFramePr>
          <p:nvPr/>
        </p:nvGraphicFramePr>
        <p:xfrm>
          <a:off x="347901" y="1515362"/>
          <a:ext cx="366712" cy="497046"/>
        </p:xfrm>
        <a:graphic>
          <a:graphicData uri="http://schemas.openxmlformats.org/presentationml/2006/ole">
            <mc:AlternateContent xmlns:mc="http://schemas.openxmlformats.org/markup-compatibility/2006">
              <mc:Choice xmlns:v="urn:schemas-microsoft-com:vml" Requires="v">
                <p:oleObj name="Equation" r:id="rId2" imgW="139680" imgH="164880" progId="Equation.DSMT4">
                  <p:embed/>
                </p:oleObj>
              </mc:Choice>
              <mc:Fallback>
                <p:oleObj name="Equation" r:id="rId2" imgW="139680" imgH="164880" progId="Equation.DSMT4">
                  <p:embed/>
                  <p:pic>
                    <p:nvPicPr>
                      <p:cNvPr id="8" name="Object 2">
                        <a:extLst>
                          <a:ext uri="{FF2B5EF4-FFF2-40B4-BE49-F238E27FC236}">
                            <a16:creationId xmlns:a16="http://schemas.microsoft.com/office/drawing/2014/main" id="{DBFB35CC-4BFC-5B3E-66E9-C7F8C5B7F7F3}"/>
                          </a:ext>
                        </a:extLst>
                      </p:cNvPr>
                      <p:cNvPicPr>
                        <a:picLocks noChangeAspect="1" noChangeArrowheads="1"/>
                      </p:cNvPicPr>
                      <p:nvPr/>
                    </p:nvPicPr>
                    <p:blipFill>
                      <a:blip r:embed="rId3"/>
                      <a:srcRect/>
                      <a:stretch>
                        <a:fillRect/>
                      </a:stretch>
                    </p:blipFill>
                    <p:spPr bwMode="auto">
                      <a:xfrm>
                        <a:off x="347901" y="1515362"/>
                        <a:ext cx="366712" cy="497046"/>
                      </a:xfrm>
                      <a:prstGeom prst="rect">
                        <a:avLst/>
                      </a:prstGeom>
                      <a:noFill/>
                      <a:ln>
                        <a:noFill/>
                      </a:ln>
                    </p:spPr>
                  </p:pic>
                </p:oleObj>
              </mc:Fallback>
            </mc:AlternateContent>
          </a:graphicData>
        </a:graphic>
      </p:graphicFrame>
      <p:cxnSp>
        <p:nvCxnSpPr>
          <p:cNvPr id="9" name="מחבר ישר 54">
            <a:extLst>
              <a:ext uri="{FF2B5EF4-FFF2-40B4-BE49-F238E27FC236}">
                <a16:creationId xmlns:a16="http://schemas.microsoft.com/office/drawing/2014/main" id="{9E425B57-ED91-5E7F-47C0-6998A09CCD91}"/>
              </a:ext>
            </a:extLst>
          </p:cNvPr>
          <p:cNvCxnSpPr>
            <a:cxnSpLocks/>
          </p:cNvCxnSpPr>
          <p:nvPr/>
        </p:nvCxnSpPr>
        <p:spPr>
          <a:xfrm flipV="1">
            <a:off x="832708" y="5988969"/>
            <a:ext cx="6648747" cy="7508"/>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מחבר ישר 94">
            <a:extLst>
              <a:ext uri="{FF2B5EF4-FFF2-40B4-BE49-F238E27FC236}">
                <a16:creationId xmlns:a16="http://schemas.microsoft.com/office/drawing/2014/main" id="{AD15A094-857E-9185-1E33-F51843B98128}"/>
              </a:ext>
            </a:extLst>
          </p:cNvPr>
          <p:cNvCxnSpPr>
            <a:cxnSpLocks/>
          </p:cNvCxnSpPr>
          <p:nvPr/>
        </p:nvCxnSpPr>
        <p:spPr>
          <a:xfrm>
            <a:off x="854692" y="4671753"/>
            <a:ext cx="2733572" cy="1324724"/>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A5B2FE71-82DD-922C-1843-3DC41D1A163E}"/>
              </a:ext>
            </a:extLst>
          </p:cNvPr>
          <p:cNvSpPr/>
          <p:nvPr/>
        </p:nvSpPr>
        <p:spPr>
          <a:xfrm>
            <a:off x="1824875" y="4913042"/>
            <a:ext cx="363601" cy="43226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1" anchor="ctr"/>
          <a:lstStyle/>
          <a:p>
            <a:pPr algn="ctr"/>
            <a:r>
              <a:rPr lang="en-US" dirty="0"/>
              <a:t>A</a:t>
            </a:r>
            <a:endParaRPr lang="he-IL" dirty="0"/>
          </a:p>
        </p:txBody>
      </p:sp>
      <p:sp>
        <p:nvSpPr>
          <p:cNvPr id="12" name="TextBox 11">
            <a:extLst>
              <a:ext uri="{FF2B5EF4-FFF2-40B4-BE49-F238E27FC236}">
                <a16:creationId xmlns:a16="http://schemas.microsoft.com/office/drawing/2014/main" id="{E0D655B0-AC93-8F48-1204-458215BBA292}"/>
              </a:ext>
            </a:extLst>
          </p:cNvPr>
          <p:cNvSpPr txBox="1"/>
          <p:nvPr/>
        </p:nvSpPr>
        <p:spPr>
          <a:xfrm>
            <a:off x="7809269" y="5920498"/>
            <a:ext cx="520118" cy="523220"/>
          </a:xfrm>
          <a:prstGeom prst="rect">
            <a:avLst/>
          </a:prstGeom>
          <a:noFill/>
        </p:spPr>
        <p:txBody>
          <a:bodyPr wrap="square" rtlCol="0">
            <a:spAutoFit/>
          </a:bodyPr>
          <a:lstStyle/>
          <a:p>
            <a:r>
              <a:rPr lang="en-US" sz="2800" dirty="0"/>
              <a:t>X</a:t>
            </a:r>
          </a:p>
        </p:txBody>
      </p:sp>
      <p:cxnSp>
        <p:nvCxnSpPr>
          <p:cNvPr id="13" name="מחבר ישר 94">
            <a:extLst>
              <a:ext uri="{FF2B5EF4-FFF2-40B4-BE49-F238E27FC236}">
                <a16:creationId xmlns:a16="http://schemas.microsoft.com/office/drawing/2014/main" id="{94C23A72-452C-CBC6-5A68-1399780CB7CE}"/>
              </a:ext>
            </a:extLst>
          </p:cNvPr>
          <p:cNvCxnSpPr>
            <a:cxnSpLocks/>
          </p:cNvCxnSpPr>
          <p:nvPr/>
        </p:nvCxnSpPr>
        <p:spPr>
          <a:xfrm>
            <a:off x="798444" y="1897701"/>
            <a:ext cx="2789820" cy="4091268"/>
          </a:xfrm>
          <a:prstGeom prst="line">
            <a:avLst/>
          </a:prstGeom>
          <a:ln w="41275">
            <a:solidFill>
              <a:srgbClr val="FF00FF"/>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E5A0BF37-B061-68A2-82AB-1EF39EC20306}"/>
              </a:ext>
            </a:extLst>
          </p:cNvPr>
          <p:cNvSpPr txBox="1"/>
          <p:nvPr/>
        </p:nvSpPr>
        <p:spPr>
          <a:xfrm>
            <a:off x="1786192" y="6055870"/>
            <a:ext cx="941612" cy="523220"/>
          </a:xfrm>
          <a:prstGeom prst="rect">
            <a:avLst/>
          </a:prstGeom>
          <a:noFill/>
        </p:spPr>
        <p:txBody>
          <a:bodyPr wrap="square" rtlCol="0">
            <a:spAutoFit/>
          </a:bodyPr>
          <a:lstStyle/>
          <a:p>
            <a:r>
              <a:rPr lang="en-US" sz="2800" dirty="0"/>
              <a:t>X</a:t>
            </a:r>
            <a:endParaRPr lang="en-IL" sz="2800" dirty="0"/>
          </a:p>
        </p:txBody>
      </p:sp>
      <p:cxnSp>
        <p:nvCxnSpPr>
          <p:cNvPr id="16" name="Straight Connector 15">
            <a:extLst>
              <a:ext uri="{FF2B5EF4-FFF2-40B4-BE49-F238E27FC236}">
                <a16:creationId xmlns:a16="http://schemas.microsoft.com/office/drawing/2014/main" id="{14E41D06-37C0-8D82-0F57-653353C90BCE}"/>
              </a:ext>
            </a:extLst>
          </p:cNvPr>
          <p:cNvCxnSpPr>
            <a:cxnSpLocks/>
            <a:stCxn id="18" idx="0"/>
          </p:cNvCxnSpPr>
          <p:nvPr/>
        </p:nvCxnSpPr>
        <p:spPr>
          <a:xfrm>
            <a:off x="2011680" y="3644713"/>
            <a:ext cx="0" cy="2344256"/>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71C8416F-6771-29A1-66F4-A4BDAC4DF3BF}"/>
              </a:ext>
            </a:extLst>
          </p:cNvPr>
          <p:cNvSpPr/>
          <p:nvPr/>
        </p:nvSpPr>
        <p:spPr>
          <a:xfrm>
            <a:off x="1829879" y="3644713"/>
            <a:ext cx="363601" cy="432262"/>
          </a:xfrm>
          <a:prstGeom prst="ellipse">
            <a:avLst/>
          </a:prstGeom>
          <a:solidFill>
            <a:schemeClr val="accent2">
              <a:lumMod val="75000"/>
            </a:schemeClr>
          </a:solidFill>
        </p:spPr>
        <p:style>
          <a:lnRef idx="2">
            <a:schemeClr val="dk1">
              <a:shade val="50000"/>
            </a:schemeClr>
          </a:lnRef>
          <a:fillRef idx="1">
            <a:schemeClr val="dk1"/>
          </a:fillRef>
          <a:effectRef idx="0">
            <a:schemeClr val="dk1"/>
          </a:effectRef>
          <a:fontRef idx="minor">
            <a:schemeClr val="lt1"/>
          </a:fontRef>
        </p:style>
        <p:txBody>
          <a:bodyPr rtlCol="1" anchor="ctr"/>
          <a:lstStyle/>
          <a:p>
            <a:pPr algn="ctr"/>
            <a:r>
              <a:rPr lang="en-US" dirty="0"/>
              <a:t>B</a:t>
            </a:r>
            <a:endParaRPr lang="he-IL" dirty="0"/>
          </a:p>
        </p:txBody>
      </p:sp>
      <p:cxnSp>
        <p:nvCxnSpPr>
          <p:cNvPr id="21" name="Straight Connector 20">
            <a:extLst>
              <a:ext uri="{FF2B5EF4-FFF2-40B4-BE49-F238E27FC236}">
                <a16:creationId xmlns:a16="http://schemas.microsoft.com/office/drawing/2014/main" id="{2319B042-3141-FE99-BBD2-2037BFFDF2EE}"/>
              </a:ext>
            </a:extLst>
          </p:cNvPr>
          <p:cNvCxnSpPr>
            <a:cxnSpLocks/>
          </p:cNvCxnSpPr>
          <p:nvPr/>
        </p:nvCxnSpPr>
        <p:spPr>
          <a:xfrm>
            <a:off x="832708" y="3844884"/>
            <a:ext cx="1135284" cy="42768"/>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2F29A7B-2F42-C484-2636-185A9405D816}"/>
              </a:ext>
            </a:extLst>
          </p:cNvPr>
          <p:cNvCxnSpPr>
            <a:cxnSpLocks/>
          </p:cNvCxnSpPr>
          <p:nvPr/>
        </p:nvCxnSpPr>
        <p:spPr>
          <a:xfrm>
            <a:off x="871392" y="5196310"/>
            <a:ext cx="1135284" cy="42768"/>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945835F3-9FB4-16AB-5F9C-AF26BE30ECCE}"/>
              </a:ext>
            </a:extLst>
          </p:cNvPr>
          <p:cNvCxnSpPr>
            <a:cxnSpLocks/>
          </p:cNvCxnSpPr>
          <p:nvPr/>
        </p:nvCxnSpPr>
        <p:spPr>
          <a:xfrm>
            <a:off x="748877" y="4510299"/>
            <a:ext cx="0" cy="805485"/>
          </a:xfrm>
          <a:prstGeom prst="straightConnector1">
            <a:avLst/>
          </a:prstGeom>
          <a:ln w="76200">
            <a:solidFill>
              <a:schemeClr val="accent6">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49B1D157-B760-5441-660F-F2AD93260626}"/>
              </a:ext>
            </a:extLst>
          </p:cNvPr>
          <p:cNvCxnSpPr>
            <a:cxnSpLocks/>
          </p:cNvCxnSpPr>
          <p:nvPr/>
        </p:nvCxnSpPr>
        <p:spPr>
          <a:xfrm>
            <a:off x="714331" y="1897701"/>
            <a:ext cx="0" cy="1919045"/>
          </a:xfrm>
          <a:prstGeom prst="straightConnector1">
            <a:avLst/>
          </a:prstGeom>
          <a:ln w="76200">
            <a:solidFill>
              <a:srgbClr val="ED5DE6"/>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00B0EBBF-4D32-B4B2-E86D-5F5B4C141410}"/>
              </a:ext>
            </a:extLst>
          </p:cNvPr>
          <p:cNvSpPr txBox="1"/>
          <p:nvPr/>
        </p:nvSpPr>
        <p:spPr>
          <a:xfrm>
            <a:off x="2727803" y="2076084"/>
            <a:ext cx="3677454" cy="1477328"/>
          </a:xfrm>
          <a:prstGeom prst="rect">
            <a:avLst/>
          </a:prstGeom>
          <a:solidFill>
            <a:srgbClr val="CC3399"/>
          </a:solidFill>
        </p:spPr>
        <p:txBody>
          <a:bodyPr wrap="square" rtlCol="0">
            <a:spAutoFit/>
          </a:bodyPr>
          <a:lstStyle/>
          <a:p>
            <a:pPr algn="r" rtl="1"/>
            <a:r>
              <a:rPr lang="he-IL" dirty="0">
                <a:solidFill>
                  <a:schemeClr val="bg1"/>
                </a:solidFill>
              </a:rPr>
              <a:t>למשק א' יתרון יחסי בייצור </a:t>
            </a:r>
            <a:r>
              <a:rPr lang="en-US" dirty="0">
                <a:solidFill>
                  <a:schemeClr val="bg1"/>
                </a:solidFill>
              </a:rPr>
              <a:t>X</a:t>
            </a:r>
            <a:r>
              <a:rPr lang="he-IL" dirty="0">
                <a:solidFill>
                  <a:schemeClr val="bg1"/>
                </a:solidFill>
              </a:rPr>
              <a:t>, לכן ע.א.ש לייצור </a:t>
            </a:r>
            <a:r>
              <a:rPr lang="en-US" dirty="0">
                <a:solidFill>
                  <a:schemeClr val="bg1"/>
                </a:solidFill>
              </a:rPr>
              <a:t>X</a:t>
            </a:r>
            <a:r>
              <a:rPr lang="he-IL" dirty="0">
                <a:solidFill>
                  <a:schemeClr val="bg1"/>
                </a:solidFill>
              </a:rPr>
              <a:t> נמוכה יותר. אם מייצרים את אותה כמות </a:t>
            </a:r>
            <a:r>
              <a:rPr lang="en-US" dirty="0">
                <a:solidFill>
                  <a:schemeClr val="bg1"/>
                </a:solidFill>
              </a:rPr>
              <a:t>X</a:t>
            </a:r>
            <a:r>
              <a:rPr lang="he-IL" dirty="0">
                <a:solidFill>
                  <a:schemeClr val="bg1"/>
                </a:solidFill>
              </a:rPr>
              <a:t>, אז הע.א.כ. לייצור </a:t>
            </a:r>
            <a:r>
              <a:rPr lang="en-US" dirty="0">
                <a:solidFill>
                  <a:schemeClr val="bg1"/>
                </a:solidFill>
              </a:rPr>
              <a:t>X</a:t>
            </a:r>
            <a:r>
              <a:rPr lang="he-IL" dirty="0">
                <a:solidFill>
                  <a:schemeClr val="bg1"/>
                </a:solidFill>
              </a:rPr>
              <a:t> תהיה גדולה יותר במשק ב (שכן היא מול זווית גדולה יותר). </a:t>
            </a:r>
            <a:endParaRPr lang="en-IL" dirty="0">
              <a:solidFill>
                <a:schemeClr val="bg1"/>
              </a:solidFill>
            </a:endParaRPr>
          </a:p>
        </p:txBody>
      </p:sp>
    </p:spTree>
    <p:extLst>
      <p:ext uri="{BB962C8B-B14F-4D97-AF65-F5344CB8AC3E}">
        <p14:creationId xmlns:p14="http://schemas.microsoft.com/office/powerpoint/2010/main" val="509994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par>
                                <p:cTn id="8" presetID="14" presetClass="entr" presetSubtype="1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randombar(horizontal)">
                                      <p:cBhvr>
                                        <p:cTn id="10" dur="500"/>
                                        <p:tgtEl>
                                          <p:spTgt spid="9"/>
                                        </p:tgtEl>
                                      </p:cBhvr>
                                    </p:animEffect>
                                  </p:childTnLst>
                                </p:cTn>
                              </p:par>
                              <p:par>
                                <p:cTn id="11" presetID="14" presetClass="entr" presetSubtype="1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randombar(horizontal)">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5"/>
                                        </p:tgtEl>
                                        <p:attrNameLst>
                                          <p:attrName>style.visibility</p:attrName>
                                        </p:attrNameLst>
                                      </p:cBhvr>
                                      <p:to>
                                        <p:strVal val="visible"/>
                                      </p:to>
                                    </p:set>
                                    <p:animEffect transition="in" filter="fade">
                                      <p:cBhvr>
                                        <p:cTn id="45" dur="500"/>
                                        <p:tgtEl>
                                          <p:spTgt spid="35"/>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26"/>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6" presetClass="entr" presetSubtype="16" fill="hold" nodeType="click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circle(in)">
                                      <p:cBhvr>
                                        <p:cTn id="54" dur="2000"/>
                                        <p:tgtEl>
                                          <p:spTgt spid="33"/>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4" presetClass="entr" presetSubtype="10" fill="hold" grpId="0" nodeType="clickEffect">
                                  <p:stCondLst>
                                    <p:cond delay="0"/>
                                  </p:stCondLst>
                                  <p:childTnLst>
                                    <p:set>
                                      <p:cBhvr>
                                        <p:cTn id="62" dur="1" fill="hold">
                                          <p:stCondLst>
                                            <p:cond delay="0"/>
                                          </p:stCondLst>
                                        </p:cTn>
                                        <p:tgtEl>
                                          <p:spTgt spid="4"/>
                                        </p:tgtEl>
                                        <p:attrNameLst>
                                          <p:attrName>style.visibility</p:attrName>
                                        </p:attrNameLst>
                                      </p:cBhvr>
                                      <p:to>
                                        <p:strVal val="visible"/>
                                      </p:to>
                                    </p:set>
                                    <p:animEffect transition="in" filter="randombar(horizontal)">
                                      <p:cBhvr>
                                        <p:cTn id="6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P spid="14" grpId="0"/>
      <p:bldP spid="18" grpId="0" animBg="1"/>
      <p:bldP spid="3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494EE-F673-5036-0509-D799863495BC}"/>
              </a:ext>
            </a:extLst>
          </p:cNvPr>
          <p:cNvSpPr>
            <a:spLocks noGrp="1"/>
          </p:cNvSpPr>
          <p:nvPr>
            <p:ph type="title"/>
          </p:nvPr>
        </p:nvSpPr>
        <p:spPr>
          <a:xfrm>
            <a:off x="8308427" y="414282"/>
            <a:ext cx="3660228" cy="533509"/>
          </a:xfrm>
        </p:spPr>
        <p:txBody>
          <a:bodyPr>
            <a:normAutofit fontScale="90000"/>
          </a:bodyPr>
          <a:lstStyle/>
          <a:p>
            <a:pPr algn="r" rtl="1"/>
            <a:r>
              <a:rPr lang="he-IL" dirty="0"/>
              <a:t>שאלה 2 מהבחינה</a:t>
            </a:r>
            <a:endParaRPr lang="en-IL" dirty="0"/>
          </a:p>
        </p:txBody>
      </p:sp>
      <p:sp>
        <p:nvSpPr>
          <p:cNvPr id="3" name="Content Placeholder 2">
            <a:extLst>
              <a:ext uri="{FF2B5EF4-FFF2-40B4-BE49-F238E27FC236}">
                <a16:creationId xmlns:a16="http://schemas.microsoft.com/office/drawing/2014/main" id="{411A47A3-6F71-89A9-0418-E7097145D628}"/>
              </a:ext>
            </a:extLst>
          </p:cNvPr>
          <p:cNvSpPr>
            <a:spLocks noGrp="1"/>
          </p:cNvSpPr>
          <p:nvPr>
            <p:ph idx="1"/>
          </p:nvPr>
        </p:nvSpPr>
        <p:spPr>
          <a:xfrm>
            <a:off x="-157655" y="1157177"/>
            <a:ext cx="11732173" cy="5149029"/>
          </a:xfrm>
        </p:spPr>
        <p:txBody>
          <a:bodyPr>
            <a:normAutofit fontScale="55000" lnSpcReduction="20000"/>
          </a:bodyPr>
          <a:lstStyle/>
          <a:p>
            <a:pPr marL="0" indent="0" algn="r" rtl="1">
              <a:lnSpc>
                <a:spcPct val="107000"/>
              </a:lnSpc>
              <a:spcAft>
                <a:spcPts val="800"/>
              </a:spcAft>
              <a:buNone/>
            </a:pPr>
            <a:r>
              <a:rPr lang="he-IL" sz="2900" b="1" dirty="0">
                <a:effectLst/>
                <a:latin typeface="Calibri" panose="020F0502020204030204" pitchFamily="34" charset="0"/>
                <a:ea typeface="Times New Roman" panose="02020603050405020304" pitchFamily="18" charset="0"/>
                <a:cs typeface="Arial" panose="020B0604020202020204" pitchFamily="34" charset="0"/>
              </a:rPr>
              <a:t>להלן טענות:</a:t>
            </a:r>
            <a:endParaRPr lang="en-IL" sz="2900" dirty="0">
              <a:effectLst/>
              <a:latin typeface="Calibri" panose="020F0502020204030204" pitchFamily="34" charset="0"/>
              <a:ea typeface="Calibri" panose="020F0502020204030204" pitchFamily="34" charset="0"/>
              <a:cs typeface="Arial" panose="020B0604020202020204" pitchFamily="34" charset="0"/>
            </a:endParaRPr>
          </a:p>
          <a:p>
            <a:pPr marL="0" indent="0" algn="r" rtl="1">
              <a:lnSpc>
                <a:spcPct val="107000"/>
              </a:lnSpc>
              <a:spcAft>
                <a:spcPts val="800"/>
              </a:spcAft>
              <a:buNone/>
            </a:pPr>
            <a:r>
              <a:rPr lang="he-IL" sz="2900" b="1" dirty="0">
                <a:effectLst/>
                <a:latin typeface="Calibri" panose="020F0502020204030204" pitchFamily="34" charset="0"/>
                <a:ea typeface="Times New Roman" panose="02020603050405020304" pitchFamily="18" charset="0"/>
                <a:cs typeface="Arial" panose="020B0604020202020204" pitchFamily="34" charset="0"/>
              </a:rPr>
              <a:t>טענה א – כתוצאה משינוי בנקודת שיווי המשקל מחיר המוצר ירד, ולכן ניתן להסיק כי עודף הצרכן עלה.</a:t>
            </a:r>
            <a:endParaRPr lang="en-IL" sz="2900" dirty="0">
              <a:effectLst/>
              <a:latin typeface="Calibri" panose="020F0502020204030204" pitchFamily="34" charset="0"/>
              <a:ea typeface="Calibri" panose="020F0502020204030204" pitchFamily="34" charset="0"/>
              <a:cs typeface="Arial" panose="020B0604020202020204" pitchFamily="34" charset="0"/>
            </a:endParaRPr>
          </a:p>
          <a:p>
            <a:pPr marL="0" indent="0" algn="r" rtl="1">
              <a:lnSpc>
                <a:spcPct val="107000"/>
              </a:lnSpc>
              <a:spcAft>
                <a:spcPts val="800"/>
              </a:spcAft>
              <a:buNone/>
            </a:pPr>
            <a:r>
              <a:rPr lang="he-IL" sz="2900" b="1" dirty="0">
                <a:effectLst/>
                <a:latin typeface="Calibri" panose="020F0502020204030204" pitchFamily="34" charset="0"/>
                <a:ea typeface="Times New Roman" panose="02020603050405020304" pitchFamily="18" charset="0"/>
                <a:cs typeface="Arial" panose="020B0604020202020204" pitchFamily="34" charset="0"/>
              </a:rPr>
              <a:t>טענה ב - כתוצאה משינוי בנקודת שיווי המשקל מחיר המוצר ירד, ולכן ניתן להסיק כי עודף הצרכן ירד.</a:t>
            </a:r>
            <a:endParaRPr lang="en-IL" sz="2900" dirty="0">
              <a:effectLst/>
              <a:latin typeface="Calibri" panose="020F0502020204030204" pitchFamily="34" charset="0"/>
              <a:ea typeface="Calibri" panose="020F0502020204030204" pitchFamily="34" charset="0"/>
              <a:cs typeface="Arial" panose="020B0604020202020204" pitchFamily="34" charset="0"/>
            </a:endParaRPr>
          </a:p>
          <a:p>
            <a:pPr marL="0" indent="0" algn="r" rtl="1">
              <a:lnSpc>
                <a:spcPct val="170000"/>
              </a:lnSpc>
              <a:spcAft>
                <a:spcPts val="800"/>
              </a:spcAft>
              <a:buNone/>
            </a:pPr>
            <a:r>
              <a:rPr lang="he-IL" sz="2900" b="1" dirty="0">
                <a:effectLst/>
                <a:latin typeface="Calibri" panose="020F0502020204030204" pitchFamily="34" charset="0"/>
                <a:ea typeface="Times New Roman" panose="02020603050405020304" pitchFamily="18" charset="0"/>
                <a:cs typeface="Arial" panose="020B0604020202020204" pitchFamily="34" charset="0"/>
              </a:rPr>
              <a:t>טענה ג – עודף הצרכן לא יכול להשתנות כתוצאה משינוי בנקודת שיווי המשקל </a:t>
            </a:r>
            <a:br>
              <a:rPr lang="en-US" sz="2900" b="1" dirty="0">
                <a:effectLst/>
                <a:latin typeface="Calibri" panose="020F0502020204030204" pitchFamily="34" charset="0"/>
                <a:ea typeface="Times New Roman" panose="02020603050405020304" pitchFamily="18" charset="0"/>
                <a:cs typeface="Arial" panose="020B0604020202020204" pitchFamily="34" charset="0"/>
              </a:rPr>
            </a:br>
            <a:r>
              <a:rPr lang="he-IL" sz="2900" b="1" dirty="0">
                <a:effectLst/>
                <a:latin typeface="Calibri" panose="020F0502020204030204" pitchFamily="34" charset="0"/>
                <a:ea typeface="Times New Roman" panose="02020603050405020304" pitchFamily="18" charset="0"/>
                <a:cs typeface="Arial" panose="020B0604020202020204" pitchFamily="34" charset="0"/>
              </a:rPr>
              <a:t>	מאחר שצרכנים רוכשים רק מוצרים המגדילים את עודף הצרכן.</a:t>
            </a:r>
            <a:endParaRPr lang="en-IL" sz="2900" dirty="0">
              <a:effectLst/>
              <a:latin typeface="Calibri" panose="020F0502020204030204" pitchFamily="34" charset="0"/>
              <a:ea typeface="Calibri" panose="020F0502020204030204" pitchFamily="34" charset="0"/>
              <a:cs typeface="Arial" panose="020B0604020202020204" pitchFamily="34" charset="0"/>
            </a:endParaRPr>
          </a:p>
          <a:p>
            <a:pPr marL="0" indent="0" algn="r" rtl="1">
              <a:lnSpc>
                <a:spcPct val="107000"/>
              </a:lnSpc>
              <a:spcAft>
                <a:spcPts val="800"/>
              </a:spcAft>
              <a:buNone/>
            </a:pPr>
            <a:r>
              <a:rPr lang="he-IL" sz="2900" b="1" dirty="0">
                <a:effectLst/>
                <a:latin typeface="Calibri" panose="020F0502020204030204" pitchFamily="34" charset="0"/>
                <a:ea typeface="Times New Roman" panose="02020603050405020304" pitchFamily="18" charset="0"/>
                <a:cs typeface="Arial" panose="020B0604020202020204" pitchFamily="34" charset="0"/>
              </a:rPr>
              <a:t>סמנו את התשובה הנכונה:</a:t>
            </a:r>
            <a:endParaRPr lang="en-IL" sz="29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r" rtl="1">
              <a:lnSpc>
                <a:spcPct val="150000"/>
              </a:lnSpc>
              <a:buFont typeface="+mj-lt"/>
              <a:buAutoNum type="arabicPeriod"/>
            </a:pPr>
            <a:r>
              <a:rPr lang="he-IL" sz="2900" dirty="0">
                <a:effectLst/>
                <a:latin typeface="Times New Roman" panose="02020603050405020304" pitchFamily="18" charset="0"/>
                <a:ea typeface="Times New Roman" panose="02020603050405020304" pitchFamily="18" charset="0"/>
                <a:cs typeface="Arial" panose="020B0604020202020204" pitchFamily="34" charset="0"/>
              </a:rPr>
              <a:t>רק טענה א נכונה</a:t>
            </a:r>
            <a:endParaRPr lang="en-IL" sz="29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en-US" sz="2900" dirty="0">
                <a:effectLst/>
                <a:latin typeface="Arial" panose="020B0604020202020204" pitchFamily="34" charset="0"/>
                <a:ea typeface="Times New Roman" panose="02020603050405020304" pitchFamily="18" charset="0"/>
              </a:rPr>
              <a:t> </a:t>
            </a:r>
            <a:r>
              <a:rPr lang="he-IL" sz="2900" dirty="0">
                <a:effectLst/>
                <a:latin typeface="Times New Roman" panose="02020603050405020304" pitchFamily="18" charset="0"/>
                <a:ea typeface="Times New Roman" panose="02020603050405020304" pitchFamily="18" charset="0"/>
                <a:cs typeface="Arial" panose="020B0604020202020204" pitchFamily="34" charset="0"/>
              </a:rPr>
              <a:t>רק טענה א ו- ג נכונות</a:t>
            </a:r>
            <a:endParaRPr lang="en-IL" sz="2900" dirty="0">
              <a:effectLst/>
              <a:latin typeface="Times New Roman" panose="02020603050405020304" pitchFamily="18" charset="0"/>
              <a:ea typeface="Times New Roman" panose="02020603050405020304" pitchFamily="18" charset="0"/>
            </a:endParaRPr>
          </a:p>
          <a:p>
            <a:pPr marL="342900" indent="-342900" algn="r" rtl="1">
              <a:lnSpc>
                <a:spcPct val="150000"/>
              </a:lnSpc>
              <a:buFont typeface="+mj-lt"/>
              <a:buAutoNum type="arabicPeriod"/>
            </a:pPr>
            <a:r>
              <a:rPr lang="he-IL" sz="2900" dirty="0">
                <a:latin typeface="Times New Roman" panose="02020603050405020304" pitchFamily="18" charset="0"/>
                <a:ea typeface="Times New Roman" panose="02020603050405020304" pitchFamily="18" charset="0"/>
              </a:rPr>
              <a:t>כל התשובות האחרות לא נכונות</a:t>
            </a:r>
            <a:endParaRPr lang="en-IL" sz="29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2900" dirty="0">
                <a:effectLst/>
                <a:latin typeface="Times New Roman" panose="02020603050405020304" pitchFamily="18" charset="0"/>
                <a:ea typeface="Times New Roman" panose="02020603050405020304" pitchFamily="18" charset="0"/>
                <a:cs typeface="Arial" panose="020B0604020202020204" pitchFamily="34" charset="0"/>
              </a:rPr>
              <a:t>רק טענה ב נכונה</a:t>
            </a:r>
            <a:endParaRPr lang="en-IL" sz="2900" dirty="0">
              <a:effectLst/>
              <a:latin typeface="Times New Roman" panose="02020603050405020304" pitchFamily="18" charset="0"/>
              <a:ea typeface="Times New Roman" panose="02020603050405020304" pitchFamily="18" charset="0"/>
            </a:endParaRPr>
          </a:p>
          <a:p>
            <a:pPr marL="342900" indent="-342900" algn="r" rtl="1">
              <a:lnSpc>
                <a:spcPct val="150000"/>
              </a:lnSpc>
              <a:buFont typeface="+mj-lt"/>
              <a:buAutoNum type="arabicPeriod"/>
            </a:pPr>
            <a:r>
              <a:rPr lang="he-IL" sz="2900" dirty="0">
                <a:effectLst/>
                <a:latin typeface="Times New Roman" panose="02020603050405020304" pitchFamily="18" charset="0"/>
                <a:ea typeface="Times New Roman" panose="02020603050405020304" pitchFamily="18" charset="0"/>
                <a:cs typeface="Arial" panose="020B0604020202020204" pitchFamily="34" charset="0"/>
              </a:rPr>
              <a:t>כל הטענות נכונות</a:t>
            </a:r>
            <a:endParaRPr lang="en-IL" sz="2900" dirty="0">
              <a:effectLst/>
              <a:latin typeface="Times New Roman" panose="02020603050405020304" pitchFamily="18" charset="0"/>
              <a:ea typeface="Times New Roman" panose="02020603050405020304" pitchFamily="18" charset="0"/>
            </a:endParaRPr>
          </a:p>
          <a:p>
            <a:pPr marL="0" indent="0" algn="r" rtl="1">
              <a:buNone/>
            </a:pPr>
            <a:endParaRPr lang="en-IL" dirty="0"/>
          </a:p>
        </p:txBody>
      </p:sp>
    </p:spTree>
    <p:extLst>
      <p:ext uri="{BB962C8B-B14F-4D97-AF65-F5344CB8AC3E}">
        <p14:creationId xmlns:p14="http://schemas.microsoft.com/office/powerpoint/2010/main" val="29815413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494EE-F673-5036-0509-D799863495BC}"/>
              </a:ext>
            </a:extLst>
          </p:cNvPr>
          <p:cNvSpPr>
            <a:spLocks noGrp="1"/>
          </p:cNvSpPr>
          <p:nvPr>
            <p:ph type="title"/>
          </p:nvPr>
        </p:nvSpPr>
        <p:spPr>
          <a:xfrm>
            <a:off x="8308427" y="414282"/>
            <a:ext cx="3660228" cy="533509"/>
          </a:xfrm>
        </p:spPr>
        <p:txBody>
          <a:bodyPr>
            <a:normAutofit fontScale="90000"/>
          </a:bodyPr>
          <a:lstStyle/>
          <a:p>
            <a:pPr algn="r" rtl="1"/>
            <a:r>
              <a:rPr lang="he-IL" dirty="0"/>
              <a:t>שאלה 2 מהבחינה</a:t>
            </a:r>
            <a:endParaRPr lang="en-IL" dirty="0"/>
          </a:p>
        </p:txBody>
      </p:sp>
      <p:sp>
        <p:nvSpPr>
          <p:cNvPr id="3" name="Content Placeholder 2">
            <a:extLst>
              <a:ext uri="{FF2B5EF4-FFF2-40B4-BE49-F238E27FC236}">
                <a16:creationId xmlns:a16="http://schemas.microsoft.com/office/drawing/2014/main" id="{411A47A3-6F71-89A9-0418-E7097145D628}"/>
              </a:ext>
            </a:extLst>
          </p:cNvPr>
          <p:cNvSpPr>
            <a:spLocks noGrp="1"/>
          </p:cNvSpPr>
          <p:nvPr>
            <p:ph idx="1"/>
          </p:nvPr>
        </p:nvSpPr>
        <p:spPr>
          <a:xfrm>
            <a:off x="-157655" y="1157177"/>
            <a:ext cx="11732173" cy="5149029"/>
          </a:xfrm>
        </p:spPr>
        <p:txBody>
          <a:bodyPr>
            <a:normAutofit fontScale="55000" lnSpcReduction="20000"/>
          </a:bodyPr>
          <a:lstStyle/>
          <a:p>
            <a:pPr marL="0" indent="0" algn="r" rtl="1">
              <a:lnSpc>
                <a:spcPct val="107000"/>
              </a:lnSpc>
              <a:spcAft>
                <a:spcPts val="800"/>
              </a:spcAft>
              <a:buNone/>
            </a:pPr>
            <a:r>
              <a:rPr lang="he-IL" sz="2900" b="1" dirty="0">
                <a:effectLst/>
                <a:latin typeface="Calibri" panose="020F0502020204030204" pitchFamily="34" charset="0"/>
                <a:ea typeface="Times New Roman" panose="02020603050405020304" pitchFamily="18" charset="0"/>
                <a:cs typeface="Arial" panose="020B0604020202020204" pitchFamily="34" charset="0"/>
              </a:rPr>
              <a:t>להלן טענות:</a:t>
            </a:r>
            <a:endParaRPr lang="en-IL" sz="2900" dirty="0">
              <a:effectLst/>
              <a:latin typeface="Calibri" panose="020F0502020204030204" pitchFamily="34" charset="0"/>
              <a:ea typeface="Calibri" panose="020F0502020204030204" pitchFamily="34" charset="0"/>
              <a:cs typeface="Arial" panose="020B0604020202020204" pitchFamily="34" charset="0"/>
            </a:endParaRPr>
          </a:p>
          <a:p>
            <a:pPr marL="0" indent="0" algn="r" rtl="1">
              <a:lnSpc>
                <a:spcPct val="107000"/>
              </a:lnSpc>
              <a:spcAft>
                <a:spcPts val="800"/>
              </a:spcAft>
              <a:buNone/>
            </a:pPr>
            <a:r>
              <a:rPr lang="he-IL" sz="2900" b="1" dirty="0">
                <a:effectLst/>
                <a:latin typeface="Calibri" panose="020F0502020204030204" pitchFamily="34" charset="0"/>
                <a:ea typeface="Times New Roman" panose="02020603050405020304" pitchFamily="18" charset="0"/>
                <a:cs typeface="Arial" panose="020B0604020202020204" pitchFamily="34" charset="0"/>
              </a:rPr>
              <a:t>טענה א – כתוצאה משינוי בנקודת שיווי המשקל מחיר המוצר ירד, ולכן ניתן להסיק כי עודף הצרכן עלה.</a:t>
            </a:r>
            <a:endParaRPr lang="en-IL" sz="2900" dirty="0">
              <a:effectLst/>
              <a:latin typeface="Calibri" panose="020F0502020204030204" pitchFamily="34" charset="0"/>
              <a:ea typeface="Calibri" panose="020F0502020204030204" pitchFamily="34" charset="0"/>
              <a:cs typeface="Arial" panose="020B0604020202020204" pitchFamily="34" charset="0"/>
            </a:endParaRPr>
          </a:p>
          <a:p>
            <a:pPr marL="0" indent="0" algn="r" rtl="1">
              <a:lnSpc>
                <a:spcPct val="107000"/>
              </a:lnSpc>
              <a:spcAft>
                <a:spcPts val="800"/>
              </a:spcAft>
              <a:buNone/>
            </a:pPr>
            <a:r>
              <a:rPr lang="he-IL" sz="2900" b="1" dirty="0">
                <a:effectLst/>
                <a:latin typeface="Calibri" panose="020F0502020204030204" pitchFamily="34" charset="0"/>
                <a:ea typeface="Times New Roman" panose="02020603050405020304" pitchFamily="18" charset="0"/>
                <a:cs typeface="Arial" panose="020B0604020202020204" pitchFamily="34" charset="0"/>
              </a:rPr>
              <a:t>טענה ב - כתוצאה משינוי בנקודת שיווי המשקל מחיר המוצר ירד, ולכן ניתן להסיק כי עודף הצרכן ירד.</a:t>
            </a:r>
            <a:endParaRPr lang="en-IL" sz="2900" dirty="0">
              <a:effectLst/>
              <a:latin typeface="Calibri" panose="020F0502020204030204" pitchFamily="34" charset="0"/>
              <a:ea typeface="Calibri" panose="020F0502020204030204" pitchFamily="34" charset="0"/>
              <a:cs typeface="Arial" panose="020B0604020202020204" pitchFamily="34" charset="0"/>
            </a:endParaRPr>
          </a:p>
          <a:p>
            <a:pPr marL="0" indent="0" algn="r" rtl="1">
              <a:lnSpc>
                <a:spcPct val="170000"/>
              </a:lnSpc>
              <a:spcAft>
                <a:spcPts val="800"/>
              </a:spcAft>
              <a:buNone/>
            </a:pPr>
            <a:r>
              <a:rPr lang="he-IL" sz="2900" b="1" dirty="0">
                <a:effectLst/>
                <a:latin typeface="Calibri" panose="020F0502020204030204" pitchFamily="34" charset="0"/>
                <a:ea typeface="Times New Roman" panose="02020603050405020304" pitchFamily="18" charset="0"/>
                <a:cs typeface="Arial" panose="020B0604020202020204" pitchFamily="34" charset="0"/>
              </a:rPr>
              <a:t>טענה ג – עודף הצרכן לא יכול להשתנות כתוצאה משינוי בנקודת שיווי המשקל </a:t>
            </a:r>
            <a:br>
              <a:rPr lang="en-US" sz="2900" b="1" dirty="0">
                <a:effectLst/>
                <a:latin typeface="Calibri" panose="020F0502020204030204" pitchFamily="34" charset="0"/>
                <a:ea typeface="Times New Roman" panose="02020603050405020304" pitchFamily="18" charset="0"/>
                <a:cs typeface="Arial" panose="020B0604020202020204" pitchFamily="34" charset="0"/>
              </a:rPr>
            </a:br>
            <a:r>
              <a:rPr lang="he-IL" sz="2900" b="1" dirty="0">
                <a:effectLst/>
                <a:latin typeface="Calibri" panose="020F0502020204030204" pitchFamily="34" charset="0"/>
                <a:ea typeface="Times New Roman" panose="02020603050405020304" pitchFamily="18" charset="0"/>
                <a:cs typeface="Arial" panose="020B0604020202020204" pitchFamily="34" charset="0"/>
              </a:rPr>
              <a:t>	מאחר שצרכנים רוכשים רק מוצרים המגדילים את עודף הצרכן.</a:t>
            </a:r>
            <a:endParaRPr lang="en-IL" sz="2900" dirty="0">
              <a:effectLst/>
              <a:latin typeface="Calibri" panose="020F0502020204030204" pitchFamily="34" charset="0"/>
              <a:ea typeface="Calibri" panose="020F0502020204030204" pitchFamily="34" charset="0"/>
              <a:cs typeface="Arial" panose="020B0604020202020204" pitchFamily="34" charset="0"/>
            </a:endParaRPr>
          </a:p>
          <a:p>
            <a:pPr marL="0" indent="0" algn="r" rtl="1">
              <a:lnSpc>
                <a:spcPct val="107000"/>
              </a:lnSpc>
              <a:spcAft>
                <a:spcPts val="800"/>
              </a:spcAft>
              <a:buNone/>
            </a:pPr>
            <a:r>
              <a:rPr lang="he-IL" sz="2900" b="1" dirty="0">
                <a:effectLst/>
                <a:latin typeface="Calibri" panose="020F0502020204030204" pitchFamily="34" charset="0"/>
                <a:ea typeface="Times New Roman" panose="02020603050405020304" pitchFamily="18" charset="0"/>
                <a:cs typeface="Arial" panose="020B0604020202020204" pitchFamily="34" charset="0"/>
              </a:rPr>
              <a:t>סמנו את התשובה הנכונה:</a:t>
            </a:r>
            <a:endParaRPr lang="en-IL" sz="29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r" rtl="1">
              <a:lnSpc>
                <a:spcPct val="150000"/>
              </a:lnSpc>
              <a:buFont typeface="+mj-lt"/>
              <a:buAutoNum type="arabicPeriod"/>
            </a:pPr>
            <a:r>
              <a:rPr lang="he-IL" sz="2900" dirty="0">
                <a:effectLst/>
                <a:latin typeface="Times New Roman" panose="02020603050405020304" pitchFamily="18" charset="0"/>
                <a:ea typeface="Times New Roman" panose="02020603050405020304" pitchFamily="18" charset="0"/>
                <a:cs typeface="Arial" panose="020B0604020202020204" pitchFamily="34" charset="0"/>
              </a:rPr>
              <a:t>רק טענה א נכונה</a:t>
            </a:r>
            <a:endParaRPr lang="en-IL" sz="29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en-US" sz="2900" dirty="0">
                <a:effectLst/>
                <a:latin typeface="Arial" panose="020B0604020202020204" pitchFamily="34" charset="0"/>
                <a:ea typeface="Times New Roman" panose="02020603050405020304" pitchFamily="18" charset="0"/>
              </a:rPr>
              <a:t> </a:t>
            </a:r>
            <a:r>
              <a:rPr lang="he-IL" sz="2900" dirty="0">
                <a:effectLst/>
                <a:latin typeface="Times New Roman" panose="02020603050405020304" pitchFamily="18" charset="0"/>
                <a:ea typeface="Times New Roman" panose="02020603050405020304" pitchFamily="18" charset="0"/>
                <a:cs typeface="Arial" panose="020B0604020202020204" pitchFamily="34" charset="0"/>
              </a:rPr>
              <a:t>רק טענה א ו- ג נכונות</a:t>
            </a:r>
            <a:endParaRPr lang="en-IL" sz="2900" dirty="0">
              <a:effectLst/>
              <a:latin typeface="Times New Roman" panose="02020603050405020304" pitchFamily="18" charset="0"/>
              <a:ea typeface="Times New Roman" panose="02020603050405020304" pitchFamily="18" charset="0"/>
            </a:endParaRPr>
          </a:p>
          <a:p>
            <a:pPr marL="342900" indent="-342900" algn="r" rtl="1">
              <a:lnSpc>
                <a:spcPct val="150000"/>
              </a:lnSpc>
              <a:buFont typeface="+mj-lt"/>
              <a:buAutoNum type="arabicPeriod"/>
            </a:pPr>
            <a:r>
              <a:rPr lang="he-IL" sz="2900" dirty="0">
                <a:highlight>
                  <a:srgbClr val="FFFF00"/>
                </a:highlight>
                <a:latin typeface="Times New Roman" panose="02020603050405020304" pitchFamily="18" charset="0"/>
                <a:ea typeface="Times New Roman" panose="02020603050405020304" pitchFamily="18" charset="0"/>
              </a:rPr>
              <a:t>כל התשובות האחרות לא נכונות</a:t>
            </a:r>
            <a:endParaRPr lang="en-IL" sz="2900" dirty="0">
              <a:effectLst/>
              <a:highlight>
                <a:srgbClr val="FFFF00"/>
              </a:highligh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2900" dirty="0">
                <a:effectLst/>
                <a:latin typeface="Times New Roman" panose="02020603050405020304" pitchFamily="18" charset="0"/>
                <a:ea typeface="Times New Roman" panose="02020603050405020304" pitchFamily="18" charset="0"/>
                <a:cs typeface="Arial" panose="020B0604020202020204" pitchFamily="34" charset="0"/>
              </a:rPr>
              <a:t>רק טענה ב נכונה</a:t>
            </a:r>
            <a:endParaRPr lang="en-IL" sz="2900" dirty="0">
              <a:effectLst/>
              <a:latin typeface="Times New Roman" panose="02020603050405020304" pitchFamily="18" charset="0"/>
              <a:ea typeface="Times New Roman" panose="02020603050405020304" pitchFamily="18" charset="0"/>
            </a:endParaRPr>
          </a:p>
          <a:p>
            <a:pPr marL="342900" indent="-342900" algn="r" rtl="1">
              <a:lnSpc>
                <a:spcPct val="150000"/>
              </a:lnSpc>
              <a:buFont typeface="+mj-lt"/>
              <a:buAutoNum type="arabicPeriod"/>
            </a:pPr>
            <a:r>
              <a:rPr lang="he-IL" sz="2900" dirty="0">
                <a:effectLst/>
                <a:latin typeface="Times New Roman" panose="02020603050405020304" pitchFamily="18" charset="0"/>
                <a:ea typeface="Times New Roman" panose="02020603050405020304" pitchFamily="18" charset="0"/>
                <a:cs typeface="Arial" panose="020B0604020202020204" pitchFamily="34" charset="0"/>
              </a:rPr>
              <a:t>כל הטענות נכונות</a:t>
            </a:r>
            <a:endParaRPr lang="en-IL" sz="2900" dirty="0">
              <a:effectLst/>
              <a:latin typeface="Times New Roman" panose="02020603050405020304" pitchFamily="18" charset="0"/>
              <a:ea typeface="Times New Roman" panose="02020603050405020304" pitchFamily="18" charset="0"/>
            </a:endParaRPr>
          </a:p>
          <a:p>
            <a:pPr marL="0" indent="0" algn="r" rtl="1">
              <a:buNone/>
            </a:pPr>
            <a:endParaRPr lang="en-IL" dirty="0"/>
          </a:p>
        </p:txBody>
      </p:sp>
      <p:sp>
        <p:nvSpPr>
          <p:cNvPr id="4" name="תיבת טקסט 3">
            <a:extLst>
              <a:ext uri="{FF2B5EF4-FFF2-40B4-BE49-F238E27FC236}">
                <a16:creationId xmlns:a16="http://schemas.microsoft.com/office/drawing/2014/main" id="{67061C94-2264-63C5-3DAC-E8A555631C69}"/>
              </a:ext>
            </a:extLst>
          </p:cNvPr>
          <p:cNvSpPr txBox="1"/>
          <p:nvPr/>
        </p:nvSpPr>
        <p:spPr>
          <a:xfrm>
            <a:off x="1191022" y="3731691"/>
            <a:ext cx="4517409" cy="2308324"/>
          </a:xfrm>
          <a:prstGeom prst="rect">
            <a:avLst/>
          </a:prstGeom>
          <a:noFill/>
        </p:spPr>
        <p:txBody>
          <a:bodyPr wrap="square" rtlCol="0">
            <a:spAutoFit/>
          </a:bodyPr>
          <a:lstStyle/>
          <a:p>
            <a:pPr algn="r" rtl="1"/>
            <a:r>
              <a:rPr lang="he-IL" u="sng" dirty="0"/>
              <a:t>טענות א' וב' שגויות </a:t>
            </a:r>
            <a:r>
              <a:rPr lang="he-IL" dirty="0"/>
              <a:t>כיוון שאם מחיר המוצר יורד, לא ניתן לדעת מה הסיבה לירידת המחיר (האם עקומת הביקוש הצטמצמה או עקומת ההיצע התרחבה) ולכן לא ניתן להסיק באופן חד משמעי מה קרה לעודף הצרכן. </a:t>
            </a:r>
          </a:p>
          <a:p>
            <a:pPr algn="r" rtl="1"/>
            <a:r>
              <a:rPr lang="he-IL" u="sng" dirty="0"/>
              <a:t>טענה ג' שגויה מהיסוד</a:t>
            </a:r>
            <a:r>
              <a:rPr lang="he-IL" dirty="0"/>
              <a:t>, קורים במשק זעזועים בעקומות הביקוש וההיצע שעלולים להוביל לירידה בעודף הצרכן. </a:t>
            </a:r>
            <a:endParaRPr lang="en-IL" dirty="0"/>
          </a:p>
        </p:txBody>
      </p:sp>
    </p:spTree>
    <p:extLst>
      <p:ext uri="{BB962C8B-B14F-4D97-AF65-F5344CB8AC3E}">
        <p14:creationId xmlns:p14="http://schemas.microsoft.com/office/powerpoint/2010/main" val="23707670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494EE-F673-5036-0509-D799863495BC}"/>
              </a:ext>
            </a:extLst>
          </p:cNvPr>
          <p:cNvSpPr>
            <a:spLocks noGrp="1"/>
          </p:cNvSpPr>
          <p:nvPr>
            <p:ph type="title"/>
          </p:nvPr>
        </p:nvSpPr>
        <p:spPr>
          <a:xfrm>
            <a:off x="8308427" y="414282"/>
            <a:ext cx="3660228" cy="533509"/>
          </a:xfrm>
        </p:spPr>
        <p:txBody>
          <a:bodyPr>
            <a:normAutofit fontScale="90000"/>
          </a:bodyPr>
          <a:lstStyle/>
          <a:p>
            <a:pPr algn="r" rtl="1"/>
            <a:r>
              <a:rPr lang="he-IL" dirty="0"/>
              <a:t>שאלה 1 מהבחינה</a:t>
            </a:r>
            <a:endParaRPr lang="en-IL" dirty="0"/>
          </a:p>
        </p:txBody>
      </p:sp>
      <p:sp>
        <p:nvSpPr>
          <p:cNvPr id="3" name="Content Placeholder 2">
            <a:extLst>
              <a:ext uri="{FF2B5EF4-FFF2-40B4-BE49-F238E27FC236}">
                <a16:creationId xmlns:a16="http://schemas.microsoft.com/office/drawing/2014/main" id="{411A47A3-6F71-89A9-0418-E7097145D628}"/>
              </a:ext>
            </a:extLst>
          </p:cNvPr>
          <p:cNvSpPr>
            <a:spLocks noGrp="1"/>
          </p:cNvSpPr>
          <p:nvPr>
            <p:ph idx="1"/>
          </p:nvPr>
        </p:nvSpPr>
        <p:spPr>
          <a:xfrm>
            <a:off x="569843" y="1157177"/>
            <a:ext cx="11004675" cy="3600353"/>
          </a:xfrm>
        </p:spPr>
        <p:txBody>
          <a:bodyPr>
            <a:normAutofit fontScale="92500"/>
          </a:bodyPr>
          <a:lstStyle/>
          <a:p>
            <a:pPr marL="0" indent="0" algn="r" rtl="1">
              <a:lnSpc>
                <a:spcPct val="107000"/>
              </a:lnSpc>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יוסי מעוניין לרכוש תמיד 5 מלפפונים ללא תלות במחיר המלפפון, הכנסתו או מחיר של המוצרים האחרים. </a:t>
            </a:r>
          </a:p>
          <a:p>
            <a:pPr marL="0" indent="0" algn="r" rtl="1">
              <a:lnSpc>
                <a:spcPct val="107000"/>
              </a:lnSpc>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כלומר יוסי ירכוש תמיד 5 מלפפונים, לא חשוב מה ישתנה בשוק. מה ניתן להגיד על הביקוש של יוסי וסוג המוצר מלפפון?</a:t>
            </a:r>
            <a:endParaRPr lang="en-IL" sz="1800" dirty="0">
              <a:effectLst/>
              <a:latin typeface="Calibri" panose="020F0502020204030204" pitchFamily="34" charset="0"/>
              <a:ea typeface="Calibri" panose="020F0502020204030204" pitchFamily="34" charset="0"/>
              <a:cs typeface="Arial" panose="020B0604020202020204" pitchFamily="34" charset="0"/>
            </a:endParaRPr>
          </a:p>
          <a:p>
            <a:pPr marL="342900" indent="-342900" algn="r" rtl="1">
              <a:lnSpc>
                <a:spcPct val="150000"/>
              </a:lnSpc>
              <a:buFont typeface="+mj-lt"/>
              <a:buAutoNum type="arabicPeriod"/>
            </a:pPr>
            <a:r>
              <a:rPr lang="he-IL" sz="1800" dirty="0">
                <a:latin typeface="Times New Roman" panose="02020603050405020304" pitchFamily="18" charset="0"/>
                <a:ea typeface="Times New Roman" panose="02020603050405020304" pitchFamily="18" charset="0"/>
              </a:rPr>
              <a:t>עקומת הביקוש של יוסי למלפפונים קשיחה לחלוטין ומלפפונים מוצר נורמאלי עבורו.</a:t>
            </a:r>
            <a:endParaRPr lang="en-IL" sz="1800" dirty="0">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עקומת הביקוש של יוסי למלפפונים קשיחה לחלוטין ומלפפונים מוצר ניטראלי עבורו.</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עקומת הביקוש של יוסי למלפפונים גמישה לחלוטין ומלפפונים מוצר ניטראלי עבורו.</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עקומת הביקוש של יוסי למלפפונים גמישה לחלוטין ומלפפון ועגבניה הם מוצרים משלימים.</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כל התשובות האחרות לא נכונות.</a:t>
            </a:r>
            <a:endParaRPr lang="en-IL" sz="1800" dirty="0">
              <a:effectLst/>
              <a:latin typeface="Times New Roman" panose="02020603050405020304" pitchFamily="18" charset="0"/>
              <a:ea typeface="Times New Roman" panose="02020603050405020304" pitchFamily="18" charset="0"/>
            </a:endParaRPr>
          </a:p>
          <a:p>
            <a:pPr marL="0" indent="0" algn="r" rtl="1">
              <a:buNone/>
            </a:pPr>
            <a:endParaRPr lang="en-IL" dirty="0"/>
          </a:p>
        </p:txBody>
      </p:sp>
    </p:spTree>
    <p:extLst>
      <p:ext uri="{BB962C8B-B14F-4D97-AF65-F5344CB8AC3E}">
        <p14:creationId xmlns:p14="http://schemas.microsoft.com/office/powerpoint/2010/main" val="23380508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494EE-F673-5036-0509-D799863495BC}"/>
              </a:ext>
            </a:extLst>
          </p:cNvPr>
          <p:cNvSpPr>
            <a:spLocks noGrp="1"/>
          </p:cNvSpPr>
          <p:nvPr>
            <p:ph type="title"/>
          </p:nvPr>
        </p:nvSpPr>
        <p:spPr>
          <a:xfrm>
            <a:off x="8308427" y="414282"/>
            <a:ext cx="3660228" cy="533509"/>
          </a:xfrm>
        </p:spPr>
        <p:txBody>
          <a:bodyPr>
            <a:normAutofit fontScale="90000"/>
          </a:bodyPr>
          <a:lstStyle/>
          <a:p>
            <a:pPr algn="r" rtl="1"/>
            <a:r>
              <a:rPr lang="he-IL" dirty="0"/>
              <a:t>שאלה 1 מהבחינה</a:t>
            </a:r>
            <a:endParaRPr lang="en-IL" dirty="0"/>
          </a:p>
        </p:txBody>
      </p:sp>
      <p:sp>
        <p:nvSpPr>
          <p:cNvPr id="3" name="Content Placeholder 2">
            <a:extLst>
              <a:ext uri="{FF2B5EF4-FFF2-40B4-BE49-F238E27FC236}">
                <a16:creationId xmlns:a16="http://schemas.microsoft.com/office/drawing/2014/main" id="{411A47A3-6F71-89A9-0418-E7097145D628}"/>
              </a:ext>
            </a:extLst>
          </p:cNvPr>
          <p:cNvSpPr>
            <a:spLocks noGrp="1"/>
          </p:cNvSpPr>
          <p:nvPr>
            <p:ph idx="1"/>
          </p:nvPr>
        </p:nvSpPr>
        <p:spPr>
          <a:xfrm>
            <a:off x="569843" y="1157177"/>
            <a:ext cx="11004675" cy="3600353"/>
          </a:xfrm>
        </p:spPr>
        <p:txBody>
          <a:bodyPr>
            <a:normAutofit fontScale="92500" lnSpcReduction="20000"/>
          </a:bodyPr>
          <a:lstStyle/>
          <a:p>
            <a:pPr marL="0" indent="0" algn="r" rtl="1">
              <a:lnSpc>
                <a:spcPct val="107000"/>
              </a:lnSpc>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יוסי מעוניין לרכוש תמיד 5 מלפפונים ללא תלות במחיר המלפפון, הכנסתו (הניחו שההכנסה תמיד מספיקה לרכישת 5 מלפפונים) או מחיר של המוצרים האחרים. </a:t>
            </a:r>
          </a:p>
          <a:p>
            <a:pPr marL="0" indent="0" algn="r" rtl="1">
              <a:lnSpc>
                <a:spcPct val="107000"/>
              </a:lnSpc>
              <a:spcAft>
                <a:spcPts val="800"/>
              </a:spcAft>
              <a:buNone/>
            </a:pPr>
            <a:r>
              <a:rPr lang="he-IL" sz="1800" b="1" dirty="0">
                <a:effectLst/>
                <a:latin typeface="Calibri" panose="020F0502020204030204" pitchFamily="34" charset="0"/>
                <a:ea typeface="Times New Roman" panose="02020603050405020304" pitchFamily="18" charset="0"/>
                <a:cs typeface="Arial" panose="020B0604020202020204" pitchFamily="34" charset="0"/>
              </a:rPr>
              <a:t>כלומר יוסי ירכוש תמיד 5 מלפפונים, לא חשוב מה ישתנה בשוק. מה ניתן להגיד על הביקוש של יוסי וסוג המוצר מלפפון?</a:t>
            </a:r>
            <a:endParaRPr lang="en-IL" sz="1800" dirty="0">
              <a:effectLst/>
              <a:latin typeface="Calibri" panose="020F0502020204030204" pitchFamily="34" charset="0"/>
              <a:ea typeface="Calibri" panose="020F0502020204030204" pitchFamily="34" charset="0"/>
              <a:cs typeface="Arial" panose="020B0604020202020204" pitchFamily="34" charset="0"/>
            </a:endParaRPr>
          </a:p>
          <a:p>
            <a:pPr marL="342900" indent="-342900" algn="r" rtl="1">
              <a:lnSpc>
                <a:spcPct val="150000"/>
              </a:lnSpc>
              <a:buFont typeface="+mj-lt"/>
              <a:buAutoNum type="arabicPeriod"/>
            </a:pPr>
            <a:r>
              <a:rPr lang="he-IL" sz="1800" dirty="0">
                <a:latin typeface="Times New Roman" panose="02020603050405020304" pitchFamily="18" charset="0"/>
                <a:ea typeface="Times New Roman" panose="02020603050405020304" pitchFamily="18" charset="0"/>
              </a:rPr>
              <a:t>עקומת הביקוש של יוסי למלפפונים קשיחה לחלוטין ומלפפונים מוצר נורמאלי עבורו.</a:t>
            </a:r>
            <a:endParaRPr lang="en-IL" sz="1800" dirty="0">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highlight>
                  <a:srgbClr val="FFFF00"/>
                </a:highlight>
                <a:latin typeface="Times New Roman" panose="02020603050405020304" pitchFamily="18" charset="0"/>
                <a:ea typeface="Times New Roman" panose="02020603050405020304" pitchFamily="18" charset="0"/>
                <a:cs typeface="Arial" panose="020B0604020202020204" pitchFamily="34" charset="0"/>
              </a:rPr>
              <a:t>עקומת הביקוש של יוסי למלפפונים קשיחה לחלוטין ומלפפונים מוצר ניטראלי עבורו.</a:t>
            </a:r>
            <a:endParaRPr lang="en-IL" sz="1800" dirty="0">
              <a:effectLst/>
              <a:highlight>
                <a:srgbClr val="FFFF00"/>
              </a:highligh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עקומת הביקוש של יוסי למלפפונים גמישה לחלוטין ומלפפונים מוצר ניטראלי עבורו.</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עקומת הביקוש של יוסי למלפפונים גמישה לחלוטין ומלפפון ועגבניה הם מוצרים משלימים.</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כל התשובות האחרות לא נכונות.</a:t>
            </a:r>
            <a:endParaRPr lang="en-IL" sz="1800" dirty="0">
              <a:effectLst/>
              <a:latin typeface="Times New Roman" panose="02020603050405020304" pitchFamily="18" charset="0"/>
              <a:ea typeface="Times New Roman" panose="02020603050405020304" pitchFamily="18" charset="0"/>
            </a:endParaRPr>
          </a:p>
          <a:p>
            <a:pPr marL="0" indent="0" algn="r" rtl="1">
              <a:buNone/>
            </a:pPr>
            <a:endParaRPr lang="en-IL" dirty="0"/>
          </a:p>
        </p:txBody>
      </p:sp>
    </p:spTree>
    <p:extLst>
      <p:ext uri="{BB962C8B-B14F-4D97-AF65-F5344CB8AC3E}">
        <p14:creationId xmlns:p14="http://schemas.microsoft.com/office/powerpoint/2010/main" val="4858511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957C55C-F6BA-608C-DF2B-3A633E567A8E}"/>
              </a:ext>
            </a:extLst>
          </p:cNvPr>
          <p:cNvSpPr txBox="1"/>
          <p:nvPr/>
        </p:nvSpPr>
        <p:spPr>
          <a:xfrm>
            <a:off x="2822713" y="901494"/>
            <a:ext cx="9001368" cy="1704249"/>
          </a:xfrm>
          <a:prstGeom prst="rect">
            <a:avLst/>
          </a:prstGeom>
          <a:noFill/>
        </p:spPr>
        <p:txBody>
          <a:bodyPr wrap="square">
            <a:spAutoFit/>
          </a:bodyPr>
          <a:lstStyle/>
          <a:p>
            <a:pPr lvl="0" algn="r" rtl="1">
              <a:lnSpc>
                <a:spcPct val="150000"/>
              </a:lnSpc>
            </a:pPr>
            <a:r>
              <a:rPr lang="he-IL" dirty="0">
                <a:latin typeface="Times New Roman" panose="02020603050405020304" pitchFamily="18" charset="0"/>
                <a:ea typeface="Times New Roman" panose="02020603050405020304" pitchFamily="18" charset="0"/>
              </a:rPr>
              <a:t>במשק ג'מבליה צורכים שני מוצרים, </a:t>
            </a:r>
            <a:r>
              <a:rPr lang="en-US" dirty="0">
                <a:latin typeface="Times New Roman" panose="02020603050405020304" pitchFamily="18" charset="0"/>
                <a:ea typeface="Times New Roman" panose="02020603050405020304" pitchFamily="18" charset="0"/>
              </a:rPr>
              <a:t>X </a:t>
            </a:r>
            <a:r>
              <a:rPr lang="he-IL" dirty="0">
                <a:latin typeface="Times New Roman" panose="02020603050405020304" pitchFamily="18" charset="0"/>
                <a:ea typeface="Times New Roman" panose="02020603050405020304" pitchFamily="18" charset="0"/>
              </a:rPr>
              <a:t> ו-</a:t>
            </a:r>
            <a:r>
              <a:rPr lang="en-US" dirty="0">
                <a:latin typeface="Times New Roman" panose="02020603050405020304" pitchFamily="18" charset="0"/>
                <a:ea typeface="Times New Roman" panose="02020603050405020304" pitchFamily="18" charset="0"/>
              </a:rPr>
              <a:t>Y </a:t>
            </a:r>
            <a:r>
              <a:rPr lang="he-IL" dirty="0">
                <a:latin typeface="Times New Roman" panose="02020603050405020304" pitchFamily="18" charset="0"/>
                <a:ea typeface="Times New Roman" panose="02020603050405020304" pitchFamily="18" charset="0"/>
              </a:rPr>
              <a:t>, אשר מהווים מוצרים </a:t>
            </a:r>
            <a:r>
              <a:rPr lang="he-IL" b="1" dirty="0">
                <a:solidFill>
                  <a:schemeClr val="accent1"/>
                </a:solidFill>
                <a:latin typeface="Times New Roman" panose="02020603050405020304" pitchFamily="18" charset="0"/>
                <a:ea typeface="Times New Roman" panose="02020603050405020304" pitchFamily="18" charset="0"/>
              </a:rPr>
              <a:t>תחליפיים</a:t>
            </a:r>
            <a:r>
              <a:rPr lang="he-IL" dirty="0">
                <a:latin typeface="Times New Roman" panose="02020603050405020304" pitchFamily="18" charset="0"/>
                <a:ea typeface="Times New Roman" panose="02020603050405020304" pitchFamily="18" charset="0"/>
              </a:rPr>
              <a:t> זה לזה. מוצר </a:t>
            </a:r>
            <a:r>
              <a:rPr lang="en-US" dirty="0">
                <a:latin typeface="Times New Roman" panose="02020603050405020304" pitchFamily="18" charset="0"/>
                <a:ea typeface="Times New Roman" panose="02020603050405020304" pitchFamily="18" charset="0"/>
              </a:rPr>
              <a:t>X</a:t>
            </a:r>
            <a:r>
              <a:rPr lang="he-IL" dirty="0">
                <a:latin typeface="Times New Roman" panose="02020603050405020304" pitchFamily="18" charset="0"/>
                <a:ea typeface="Times New Roman" panose="02020603050405020304" pitchFamily="18" charset="0"/>
              </a:rPr>
              <a:t> פתוח לייבוא ואילו מוצר </a:t>
            </a:r>
            <a:r>
              <a:rPr lang="en-US" dirty="0">
                <a:latin typeface="Times New Roman" panose="02020603050405020304" pitchFamily="18" charset="0"/>
                <a:ea typeface="Times New Roman" panose="02020603050405020304" pitchFamily="18" charset="0"/>
              </a:rPr>
              <a:t>Y</a:t>
            </a:r>
            <a:r>
              <a:rPr lang="he-IL" dirty="0">
                <a:latin typeface="Times New Roman" panose="02020603050405020304" pitchFamily="18" charset="0"/>
                <a:ea typeface="Times New Roman" panose="02020603050405020304" pitchFamily="18" charset="0"/>
              </a:rPr>
              <a:t> הינו סגור לייבוא ולייצוא. </a:t>
            </a:r>
          </a:p>
          <a:p>
            <a:pPr lvl="0" algn="r" rtl="1">
              <a:lnSpc>
                <a:spcPct val="150000"/>
              </a:lnSpc>
            </a:pPr>
            <a:r>
              <a:rPr lang="he-IL" dirty="0">
                <a:latin typeface="Times New Roman" panose="02020603050405020304" pitchFamily="18" charset="0"/>
                <a:ea typeface="Times New Roman" panose="02020603050405020304" pitchFamily="18" charset="0"/>
              </a:rPr>
              <a:t>במצב המוצא בשוק</a:t>
            </a:r>
            <a:r>
              <a:rPr lang="en-US" dirty="0">
                <a:latin typeface="Times New Roman" panose="02020603050405020304" pitchFamily="18" charset="0"/>
                <a:ea typeface="Times New Roman" panose="02020603050405020304" pitchFamily="18" charset="0"/>
              </a:rPr>
              <a:t>X </a:t>
            </a:r>
            <a:r>
              <a:rPr lang="he-IL" dirty="0">
                <a:latin typeface="Times New Roman" panose="02020603050405020304" pitchFamily="18" charset="0"/>
                <a:ea typeface="Times New Roman" panose="02020603050405020304" pitchFamily="18" charset="0"/>
              </a:rPr>
              <a:t> הצרכנים קונים את המוצר הן מייצור מקומי והן מחו''ל. הממשלה החליטה </a:t>
            </a:r>
            <a:r>
              <a:rPr lang="he-IL" b="1" dirty="0">
                <a:latin typeface="Times New Roman" panose="02020603050405020304" pitchFamily="18" charset="0"/>
                <a:ea typeface="Times New Roman" panose="02020603050405020304" pitchFamily="18" charset="0"/>
              </a:rPr>
              <a:t>להטיל מכס על כל יחידה מיובאת</a:t>
            </a:r>
            <a:r>
              <a:rPr lang="he-IL" dirty="0">
                <a:latin typeface="Times New Roman" panose="02020603050405020304" pitchFamily="18" charset="0"/>
                <a:ea typeface="Times New Roman" panose="02020603050405020304" pitchFamily="18" charset="0"/>
              </a:rPr>
              <a:t>, כתוצאה מכך</a:t>
            </a:r>
            <a:endParaRPr lang="en-IL" dirty="0">
              <a:effectLst/>
              <a:latin typeface="Times New Roman" panose="02020603050405020304" pitchFamily="18" charset="0"/>
              <a:ea typeface="Times New Roman" panose="02020603050405020304" pitchFamily="18" charset="0"/>
            </a:endParaRPr>
          </a:p>
        </p:txBody>
      </p:sp>
      <p:sp>
        <p:nvSpPr>
          <p:cNvPr id="4" name="Title 3">
            <a:extLst>
              <a:ext uri="{FF2B5EF4-FFF2-40B4-BE49-F238E27FC236}">
                <a16:creationId xmlns:a16="http://schemas.microsoft.com/office/drawing/2014/main" id="{54670C16-59AB-E802-4F61-8619205A119C}"/>
              </a:ext>
            </a:extLst>
          </p:cNvPr>
          <p:cNvSpPr>
            <a:spLocks noGrp="1"/>
          </p:cNvSpPr>
          <p:nvPr>
            <p:ph type="title"/>
          </p:nvPr>
        </p:nvSpPr>
        <p:spPr>
          <a:xfrm>
            <a:off x="838200" y="1"/>
            <a:ext cx="10515600" cy="901494"/>
          </a:xfrm>
        </p:spPr>
        <p:txBody>
          <a:bodyPr/>
          <a:lstStyle/>
          <a:p>
            <a:pPr algn="ctr"/>
            <a:r>
              <a:rPr lang="he-IL" dirty="0"/>
              <a:t>שאלה נוספת- בנושא מכס</a:t>
            </a:r>
            <a:endParaRPr lang="en-IL" dirty="0"/>
          </a:p>
        </p:txBody>
      </p:sp>
      <p:sp>
        <p:nvSpPr>
          <p:cNvPr id="8" name="TextBox 7">
            <a:extLst>
              <a:ext uri="{FF2B5EF4-FFF2-40B4-BE49-F238E27FC236}">
                <a16:creationId xmlns:a16="http://schemas.microsoft.com/office/drawing/2014/main" id="{8FB91C99-6D5D-250E-536C-1903566A3DE8}"/>
              </a:ext>
            </a:extLst>
          </p:cNvPr>
          <p:cNvSpPr txBox="1"/>
          <p:nvPr/>
        </p:nvSpPr>
        <p:spPr>
          <a:xfrm>
            <a:off x="4204081" y="2751517"/>
            <a:ext cx="7513983" cy="2639120"/>
          </a:xfrm>
          <a:prstGeom prst="rect">
            <a:avLst/>
          </a:prstGeom>
          <a:noFill/>
        </p:spPr>
        <p:txBody>
          <a:bodyPr wrap="square">
            <a:spAutoFit/>
          </a:bodyPr>
          <a:lstStyle/>
          <a:p>
            <a:pPr marL="342900" indent="-342900" algn="r" rtl="1">
              <a:lnSpc>
                <a:spcPct val="150000"/>
              </a:lnSpc>
              <a:buFont typeface="+mj-lt"/>
              <a:buAutoNum type="arabicPeriod"/>
            </a:pPr>
            <a:r>
              <a:rPr lang="he-IL" sz="1800" dirty="0">
                <a:latin typeface="Times New Roman" panose="02020603050405020304" pitchFamily="18" charset="0"/>
                <a:ea typeface="Times New Roman" panose="02020603050405020304" pitchFamily="18" charset="0"/>
              </a:rPr>
              <a:t>הכמות המיוצרת ממוצר </a:t>
            </a:r>
            <a:r>
              <a:rPr lang="en-US" sz="1800" dirty="0">
                <a:latin typeface="Times New Roman" panose="02020603050405020304" pitchFamily="18" charset="0"/>
                <a:ea typeface="Times New Roman" panose="02020603050405020304" pitchFamily="18" charset="0"/>
              </a:rPr>
              <a:t>Y</a:t>
            </a:r>
            <a:r>
              <a:rPr lang="he-IL" sz="1800" dirty="0">
                <a:latin typeface="Times New Roman" panose="02020603050405020304" pitchFamily="18" charset="0"/>
                <a:ea typeface="Times New Roman" panose="02020603050405020304" pitchFamily="18" charset="0"/>
              </a:rPr>
              <a:t> גדלה וייתכן שהכמות המיוצרת ממוצר </a:t>
            </a:r>
            <a:r>
              <a:rPr lang="en-US" sz="1800" dirty="0">
                <a:latin typeface="Times New Roman" panose="02020603050405020304" pitchFamily="18" charset="0"/>
                <a:ea typeface="Times New Roman" panose="02020603050405020304" pitchFamily="18" charset="0"/>
              </a:rPr>
              <a:t>X</a:t>
            </a:r>
            <a:r>
              <a:rPr lang="he-IL" sz="1800" dirty="0">
                <a:latin typeface="Times New Roman" panose="02020603050405020304" pitchFamily="18" charset="0"/>
                <a:ea typeface="Times New Roman" panose="02020603050405020304" pitchFamily="18" charset="0"/>
              </a:rPr>
              <a:t> לא תשתנה</a:t>
            </a:r>
          </a:p>
          <a:p>
            <a:pPr marL="342900" indent="-342900" algn="r" rtl="1">
              <a:lnSpc>
                <a:spcPct val="200000"/>
              </a:lnSpc>
              <a:buFont typeface="+mj-lt"/>
              <a:buAutoNum type="arabicPeriod"/>
            </a:pPr>
            <a:r>
              <a:rPr lang="he-IL" dirty="0">
                <a:latin typeface="Times New Roman" panose="02020603050405020304" pitchFamily="18" charset="0"/>
                <a:ea typeface="Times New Roman" panose="02020603050405020304" pitchFamily="18" charset="0"/>
              </a:rPr>
              <a:t>ייתכן שעתה כל הכמות הנרכשת על ידי הצרכנים המקומיים תהיה מיובאת. </a:t>
            </a:r>
            <a:endParaRPr lang="en-IL" dirty="0"/>
          </a:p>
          <a:p>
            <a:pPr marL="342900" indent="-342900" algn="r" rtl="1">
              <a:lnSpc>
                <a:spcPct val="200000"/>
              </a:lnSpc>
              <a:buFont typeface="+mj-lt"/>
              <a:buAutoNum type="arabicPeriod"/>
            </a:pPr>
            <a:r>
              <a:rPr lang="he-IL" sz="1800" dirty="0">
                <a:latin typeface="Times New Roman" panose="02020603050405020304" pitchFamily="18" charset="0"/>
                <a:ea typeface="Times New Roman" panose="02020603050405020304" pitchFamily="18" charset="0"/>
              </a:rPr>
              <a:t>כל התשובות האחרות לא נכונות.</a:t>
            </a:r>
          </a:p>
          <a:p>
            <a:pPr marL="342900" indent="-342900" algn="r" rtl="1">
              <a:lnSpc>
                <a:spcPct val="200000"/>
              </a:lnSpc>
              <a:buFont typeface="+mj-lt"/>
              <a:buAutoNum type="arabicPeriod"/>
            </a:pPr>
            <a:r>
              <a:rPr lang="he-IL" sz="1800" dirty="0">
                <a:latin typeface="Times New Roman" panose="02020603050405020304" pitchFamily="18" charset="0"/>
                <a:ea typeface="Times New Roman" panose="02020603050405020304" pitchFamily="18" charset="0"/>
              </a:rPr>
              <a:t>ייתכן שהייבוא ממוצר </a:t>
            </a:r>
            <a:r>
              <a:rPr lang="en-US" sz="1800" dirty="0">
                <a:latin typeface="Times New Roman" panose="02020603050405020304" pitchFamily="18" charset="0"/>
                <a:ea typeface="Times New Roman" panose="02020603050405020304" pitchFamily="18" charset="0"/>
              </a:rPr>
              <a:t>X</a:t>
            </a:r>
            <a:r>
              <a:rPr lang="he-IL" sz="1800" dirty="0">
                <a:latin typeface="Times New Roman" panose="02020603050405020304" pitchFamily="18" charset="0"/>
                <a:ea typeface="Times New Roman" panose="02020603050405020304" pitchFamily="18" charset="0"/>
              </a:rPr>
              <a:t> גדל</a:t>
            </a:r>
          </a:p>
          <a:p>
            <a:pPr marL="342900" indent="-342900" algn="r" rtl="1">
              <a:lnSpc>
                <a:spcPct val="200000"/>
              </a:lnSpc>
              <a:buFont typeface="+mj-lt"/>
              <a:buAutoNum type="arabicPeriod"/>
            </a:pPr>
            <a:r>
              <a:rPr lang="he-IL" sz="1800" dirty="0">
                <a:latin typeface="Times New Roman" panose="02020603050405020304" pitchFamily="18" charset="0"/>
                <a:ea typeface="Times New Roman" panose="02020603050405020304" pitchFamily="18" charset="0"/>
              </a:rPr>
              <a:t>ייתכן שבשוק </a:t>
            </a:r>
            <a:r>
              <a:rPr lang="en-US" sz="1800" dirty="0">
                <a:latin typeface="Times New Roman" panose="02020603050405020304" pitchFamily="18" charset="0"/>
                <a:ea typeface="Times New Roman" panose="02020603050405020304" pitchFamily="18" charset="0"/>
              </a:rPr>
              <a:t>X</a:t>
            </a:r>
            <a:r>
              <a:rPr lang="he-IL" sz="1800" dirty="0">
                <a:latin typeface="Times New Roman" panose="02020603050405020304" pitchFamily="18" charset="0"/>
                <a:ea typeface="Times New Roman" panose="02020603050405020304" pitchFamily="18" charset="0"/>
              </a:rPr>
              <a:t> הכמות המיוצרת המקומית תהיה שווה לכמות הנצרכת המקומית</a:t>
            </a:r>
          </a:p>
        </p:txBody>
      </p:sp>
    </p:spTree>
    <p:extLst>
      <p:ext uri="{BB962C8B-B14F-4D97-AF65-F5344CB8AC3E}">
        <p14:creationId xmlns:p14="http://schemas.microsoft.com/office/powerpoint/2010/main" val="20050072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957C55C-F6BA-608C-DF2B-3A633E567A8E}"/>
              </a:ext>
            </a:extLst>
          </p:cNvPr>
          <p:cNvSpPr txBox="1"/>
          <p:nvPr/>
        </p:nvSpPr>
        <p:spPr>
          <a:xfrm>
            <a:off x="2822713" y="901494"/>
            <a:ext cx="9001368" cy="1346074"/>
          </a:xfrm>
          <a:prstGeom prst="rect">
            <a:avLst/>
          </a:prstGeom>
          <a:noFill/>
        </p:spPr>
        <p:txBody>
          <a:bodyPr wrap="square">
            <a:spAutoFit/>
          </a:bodyPr>
          <a:lstStyle/>
          <a:p>
            <a:pPr lvl="0" algn="r" rtl="1">
              <a:lnSpc>
                <a:spcPct val="150000"/>
              </a:lnSpc>
            </a:pPr>
            <a:r>
              <a:rPr lang="he-IL" sz="1400" dirty="0">
                <a:latin typeface="Times New Roman" panose="02020603050405020304" pitchFamily="18" charset="0"/>
                <a:ea typeface="Times New Roman" panose="02020603050405020304" pitchFamily="18" charset="0"/>
              </a:rPr>
              <a:t>במשק ג'מבליה צורכים שני מוצרים, </a:t>
            </a:r>
            <a:r>
              <a:rPr lang="en-US" sz="1400" dirty="0">
                <a:latin typeface="Times New Roman" panose="02020603050405020304" pitchFamily="18" charset="0"/>
                <a:ea typeface="Times New Roman" panose="02020603050405020304" pitchFamily="18" charset="0"/>
              </a:rPr>
              <a:t>X </a:t>
            </a:r>
            <a:r>
              <a:rPr lang="he-IL" sz="1400" dirty="0">
                <a:latin typeface="Times New Roman" panose="02020603050405020304" pitchFamily="18" charset="0"/>
                <a:ea typeface="Times New Roman" panose="02020603050405020304" pitchFamily="18" charset="0"/>
              </a:rPr>
              <a:t> ו-</a:t>
            </a:r>
            <a:r>
              <a:rPr lang="en-US" sz="1400" dirty="0">
                <a:latin typeface="Times New Roman" panose="02020603050405020304" pitchFamily="18" charset="0"/>
                <a:ea typeface="Times New Roman" panose="02020603050405020304" pitchFamily="18" charset="0"/>
              </a:rPr>
              <a:t>Y </a:t>
            </a:r>
            <a:r>
              <a:rPr lang="he-IL" sz="1400" dirty="0">
                <a:latin typeface="Times New Roman" panose="02020603050405020304" pitchFamily="18" charset="0"/>
                <a:ea typeface="Times New Roman" panose="02020603050405020304" pitchFamily="18" charset="0"/>
              </a:rPr>
              <a:t>, אשר מהווים מוצרים </a:t>
            </a:r>
            <a:r>
              <a:rPr lang="he-IL" sz="1400" b="1" dirty="0">
                <a:solidFill>
                  <a:schemeClr val="accent1"/>
                </a:solidFill>
                <a:latin typeface="Times New Roman" panose="02020603050405020304" pitchFamily="18" charset="0"/>
                <a:ea typeface="Times New Roman" panose="02020603050405020304" pitchFamily="18" charset="0"/>
              </a:rPr>
              <a:t>תחליפיים</a:t>
            </a:r>
            <a:r>
              <a:rPr lang="he-IL" sz="1400" dirty="0">
                <a:latin typeface="Times New Roman" panose="02020603050405020304" pitchFamily="18" charset="0"/>
                <a:ea typeface="Times New Roman" panose="02020603050405020304" pitchFamily="18" charset="0"/>
              </a:rPr>
              <a:t> זה לזה. מוצר </a:t>
            </a:r>
            <a:r>
              <a:rPr lang="en-US" sz="1400" dirty="0">
                <a:latin typeface="Times New Roman" panose="02020603050405020304" pitchFamily="18" charset="0"/>
                <a:ea typeface="Times New Roman" panose="02020603050405020304" pitchFamily="18" charset="0"/>
              </a:rPr>
              <a:t>X</a:t>
            </a:r>
            <a:r>
              <a:rPr lang="he-IL" sz="1400" dirty="0">
                <a:latin typeface="Times New Roman" panose="02020603050405020304" pitchFamily="18" charset="0"/>
                <a:ea typeface="Times New Roman" panose="02020603050405020304" pitchFamily="18" charset="0"/>
              </a:rPr>
              <a:t> פתוח לייבוא ואילו מוצר </a:t>
            </a:r>
            <a:r>
              <a:rPr lang="en-US" sz="1400" dirty="0">
                <a:latin typeface="Times New Roman" panose="02020603050405020304" pitchFamily="18" charset="0"/>
                <a:ea typeface="Times New Roman" panose="02020603050405020304" pitchFamily="18" charset="0"/>
              </a:rPr>
              <a:t>Y</a:t>
            </a:r>
            <a:r>
              <a:rPr lang="he-IL" sz="1400" dirty="0">
                <a:latin typeface="Times New Roman" panose="02020603050405020304" pitchFamily="18" charset="0"/>
                <a:ea typeface="Times New Roman" panose="02020603050405020304" pitchFamily="18" charset="0"/>
              </a:rPr>
              <a:t> הינו סגור לייבוא ולייצוא. </a:t>
            </a:r>
          </a:p>
          <a:p>
            <a:pPr lvl="0" algn="r" rtl="1">
              <a:lnSpc>
                <a:spcPct val="150000"/>
              </a:lnSpc>
            </a:pPr>
            <a:r>
              <a:rPr lang="he-IL" sz="1400" dirty="0">
                <a:latin typeface="Times New Roman" panose="02020603050405020304" pitchFamily="18" charset="0"/>
                <a:ea typeface="Times New Roman" panose="02020603050405020304" pitchFamily="18" charset="0"/>
              </a:rPr>
              <a:t>במצב המוצא בשוק</a:t>
            </a:r>
            <a:r>
              <a:rPr lang="en-US" sz="1400" dirty="0">
                <a:latin typeface="Times New Roman" panose="02020603050405020304" pitchFamily="18" charset="0"/>
                <a:ea typeface="Times New Roman" panose="02020603050405020304" pitchFamily="18" charset="0"/>
              </a:rPr>
              <a:t>X </a:t>
            </a:r>
            <a:r>
              <a:rPr lang="he-IL" sz="1400" dirty="0">
                <a:latin typeface="Times New Roman" panose="02020603050405020304" pitchFamily="18" charset="0"/>
                <a:ea typeface="Times New Roman" panose="02020603050405020304" pitchFamily="18" charset="0"/>
              </a:rPr>
              <a:t> הצרכנים קונים את המוצר הן מייצור מקומי והן מחו''ל. הממשלה החליטה </a:t>
            </a:r>
            <a:r>
              <a:rPr lang="he-IL" sz="1400" b="1" dirty="0">
                <a:latin typeface="Times New Roman" panose="02020603050405020304" pitchFamily="18" charset="0"/>
                <a:ea typeface="Times New Roman" panose="02020603050405020304" pitchFamily="18" charset="0"/>
              </a:rPr>
              <a:t>להטיל מכס על כל יחידה מיובאת</a:t>
            </a:r>
            <a:r>
              <a:rPr lang="he-IL" sz="1400" dirty="0">
                <a:latin typeface="Times New Roman" panose="02020603050405020304" pitchFamily="18" charset="0"/>
                <a:ea typeface="Times New Roman" panose="02020603050405020304" pitchFamily="18" charset="0"/>
              </a:rPr>
              <a:t>, כתוצאה מכך</a:t>
            </a:r>
            <a:endParaRPr lang="en-IL" sz="1400" dirty="0">
              <a:effectLst/>
              <a:latin typeface="Times New Roman" panose="02020603050405020304" pitchFamily="18" charset="0"/>
              <a:ea typeface="Times New Roman" panose="02020603050405020304" pitchFamily="18" charset="0"/>
            </a:endParaRPr>
          </a:p>
        </p:txBody>
      </p:sp>
      <p:sp>
        <p:nvSpPr>
          <p:cNvPr id="4" name="Title 3">
            <a:extLst>
              <a:ext uri="{FF2B5EF4-FFF2-40B4-BE49-F238E27FC236}">
                <a16:creationId xmlns:a16="http://schemas.microsoft.com/office/drawing/2014/main" id="{54670C16-59AB-E802-4F61-8619205A119C}"/>
              </a:ext>
            </a:extLst>
          </p:cNvPr>
          <p:cNvSpPr>
            <a:spLocks noGrp="1"/>
          </p:cNvSpPr>
          <p:nvPr>
            <p:ph type="title"/>
          </p:nvPr>
        </p:nvSpPr>
        <p:spPr>
          <a:xfrm>
            <a:off x="838200" y="1"/>
            <a:ext cx="10515600" cy="901494"/>
          </a:xfrm>
        </p:spPr>
        <p:txBody>
          <a:bodyPr/>
          <a:lstStyle/>
          <a:p>
            <a:pPr algn="ctr"/>
            <a:r>
              <a:rPr lang="he-IL" dirty="0"/>
              <a:t>שאלה נוספת- בנושא מכס</a:t>
            </a:r>
            <a:endParaRPr lang="en-IL" dirty="0"/>
          </a:p>
        </p:txBody>
      </p:sp>
      <p:sp>
        <p:nvSpPr>
          <p:cNvPr id="8" name="TextBox 7">
            <a:extLst>
              <a:ext uri="{FF2B5EF4-FFF2-40B4-BE49-F238E27FC236}">
                <a16:creationId xmlns:a16="http://schemas.microsoft.com/office/drawing/2014/main" id="{8FB91C99-6D5D-250E-536C-1903566A3DE8}"/>
              </a:ext>
            </a:extLst>
          </p:cNvPr>
          <p:cNvSpPr txBox="1"/>
          <p:nvPr/>
        </p:nvSpPr>
        <p:spPr>
          <a:xfrm>
            <a:off x="7262890" y="5956506"/>
            <a:ext cx="4683759" cy="785343"/>
          </a:xfrm>
          <a:prstGeom prst="rect">
            <a:avLst/>
          </a:prstGeom>
          <a:noFill/>
        </p:spPr>
        <p:txBody>
          <a:bodyPr wrap="square">
            <a:spAutoFit/>
          </a:bodyPr>
          <a:lstStyle/>
          <a:p>
            <a:pPr algn="r" rtl="1">
              <a:lnSpc>
                <a:spcPct val="150000"/>
              </a:lnSpc>
            </a:pPr>
            <a:r>
              <a:rPr lang="he-IL" sz="1600" dirty="0">
                <a:latin typeface="Times New Roman" panose="02020603050405020304" pitchFamily="18" charset="0"/>
                <a:ea typeface="Times New Roman" panose="02020603050405020304" pitchFamily="18" charset="0"/>
              </a:rPr>
              <a:t>5. ייתכן שבשוק </a:t>
            </a:r>
            <a:r>
              <a:rPr lang="en-US" sz="1600" dirty="0">
                <a:latin typeface="Times New Roman" panose="02020603050405020304" pitchFamily="18" charset="0"/>
                <a:ea typeface="Times New Roman" panose="02020603050405020304" pitchFamily="18" charset="0"/>
              </a:rPr>
              <a:t>X</a:t>
            </a:r>
            <a:r>
              <a:rPr lang="he-IL" sz="1600" dirty="0">
                <a:latin typeface="Times New Roman" panose="02020603050405020304" pitchFamily="18" charset="0"/>
                <a:ea typeface="Times New Roman" panose="02020603050405020304" pitchFamily="18" charset="0"/>
              </a:rPr>
              <a:t> הכמות המיוצרת המקומית תהיה שווה לכמות הנצרכת המקומית</a:t>
            </a:r>
          </a:p>
        </p:txBody>
      </p:sp>
      <p:cxnSp>
        <p:nvCxnSpPr>
          <p:cNvPr id="2" name="Straight Arrow Connector 1">
            <a:extLst>
              <a:ext uri="{FF2B5EF4-FFF2-40B4-BE49-F238E27FC236}">
                <a16:creationId xmlns:a16="http://schemas.microsoft.com/office/drawing/2014/main" id="{32E87E2D-D7C1-B851-7371-F3BE9DBD5D37}"/>
              </a:ext>
            </a:extLst>
          </p:cNvPr>
          <p:cNvCxnSpPr>
            <a:cxnSpLocks/>
          </p:cNvCxnSpPr>
          <p:nvPr/>
        </p:nvCxnSpPr>
        <p:spPr>
          <a:xfrm>
            <a:off x="1379620" y="5258364"/>
            <a:ext cx="3512284" cy="465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479FAC73-F4DC-32D0-0F77-28AA41A0DF79}"/>
              </a:ext>
            </a:extLst>
          </p:cNvPr>
          <p:cNvCxnSpPr>
            <a:cxnSpLocks/>
          </p:cNvCxnSpPr>
          <p:nvPr/>
        </p:nvCxnSpPr>
        <p:spPr>
          <a:xfrm flipV="1">
            <a:off x="1391910" y="1395663"/>
            <a:ext cx="0" cy="3862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81493DCA-B4B0-7981-AFD5-2211A8FA03B1}"/>
              </a:ext>
            </a:extLst>
          </p:cNvPr>
          <p:cNvSpPr/>
          <p:nvPr/>
        </p:nvSpPr>
        <p:spPr>
          <a:xfrm>
            <a:off x="986029" y="1029305"/>
            <a:ext cx="405880" cy="369332"/>
          </a:xfrm>
          <a:prstGeom prst="rect">
            <a:avLst/>
          </a:prstGeom>
        </p:spPr>
        <p:txBody>
          <a:bodyPr wrap="none">
            <a:spAutoFit/>
          </a:bodyPr>
          <a:lstStyle/>
          <a:p>
            <a:r>
              <a:rPr lang="en-US" dirty="0">
                <a:solidFill>
                  <a:prstClr val="black"/>
                </a:solidFill>
              </a:rPr>
              <a:t>Px</a:t>
            </a:r>
            <a:endParaRPr lang="he-IL" dirty="0">
              <a:solidFill>
                <a:prstClr val="black"/>
              </a:solidFill>
            </a:endParaRPr>
          </a:p>
        </p:txBody>
      </p:sp>
      <p:sp>
        <p:nvSpPr>
          <p:cNvPr id="6" name="TextBox 5">
            <a:extLst>
              <a:ext uri="{FF2B5EF4-FFF2-40B4-BE49-F238E27FC236}">
                <a16:creationId xmlns:a16="http://schemas.microsoft.com/office/drawing/2014/main" id="{FDBF6FAB-C235-59FB-2D38-BB519AFCC017}"/>
              </a:ext>
            </a:extLst>
          </p:cNvPr>
          <p:cNvSpPr txBox="1"/>
          <p:nvPr/>
        </p:nvSpPr>
        <p:spPr>
          <a:xfrm>
            <a:off x="4960928" y="5054575"/>
            <a:ext cx="304892" cy="369332"/>
          </a:xfrm>
          <a:prstGeom prst="rect">
            <a:avLst/>
          </a:prstGeom>
          <a:noFill/>
        </p:spPr>
        <p:txBody>
          <a:bodyPr wrap="none" rtlCol="1">
            <a:spAutoFit/>
          </a:bodyPr>
          <a:lstStyle/>
          <a:p>
            <a:r>
              <a:rPr lang="en-US" dirty="0">
                <a:solidFill>
                  <a:prstClr val="black"/>
                </a:solidFill>
              </a:rPr>
              <a:t>X</a:t>
            </a:r>
            <a:endParaRPr lang="he-IL" dirty="0">
              <a:solidFill>
                <a:prstClr val="black"/>
              </a:solidFill>
            </a:endParaRPr>
          </a:p>
        </p:txBody>
      </p:sp>
      <p:cxnSp>
        <p:nvCxnSpPr>
          <p:cNvPr id="9" name="מחבר ישר 13">
            <a:extLst>
              <a:ext uri="{FF2B5EF4-FFF2-40B4-BE49-F238E27FC236}">
                <a16:creationId xmlns:a16="http://schemas.microsoft.com/office/drawing/2014/main" id="{C0FAC8C4-58F8-B776-E466-C2F6A1E90146}"/>
              </a:ext>
            </a:extLst>
          </p:cNvPr>
          <p:cNvCxnSpPr>
            <a:cxnSpLocks/>
          </p:cNvCxnSpPr>
          <p:nvPr/>
        </p:nvCxnSpPr>
        <p:spPr>
          <a:xfrm>
            <a:off x="1391908" y="1781897"/>
            <a:ext cx="2959513" cy="3523029"/>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8F7B981-1C32-3039-BE16-9E2FDE25EF16}"/>
              </a:ext>
            </a:extLst>
          </p:cNvPr>
          <p:cNvSpPr txBox="1"/>
          <p:nvPr/>
        </p:nvSpPr>
        <p:spPr>
          <a:xfrm>
            <a:off x="4215781" y="4830339"/>
            <a:ext cx="405881" cy="369332"/>
          </a:xfrm>
          <a:prstGeom prst="rect">
            <a:avLst/>
          </a:prstGeom>
          <a:noFill/>
        </p:spPr>
        <p:txBody>
          <a:bodyPr wrap="none" rtlCol="1">
            <a:spAutoFit/>
          </a:bodyPr>
          <a:lstStyle/>
          <a:p>
            <a:r>
              <a:rPr lang="en-US" dirty="0">
                <a:solidFill>
                  <a:prstClr val="black"/>
                </a:solidFill>
              </a:rPr>
              <a:t>D</a:t>
            </a:r>
            <a:r>
              <a:rPr lang="en-US" baseline="-25000" dirty="0">
                <a:solidFill>
                  <a:prstClr val="black"/>
                </a:solidFill>
              </a:rPr>
              <a:t>0</a:t>
            </a:r>
            <a:endParaRPr lang="he-IL" baseline="-25000" dirty="0">
              <a:solidFill>
                <a:prstClr val="black"/>
              </a:solidFill>
            </a:endParaRPr>
          </a:p>
        </p:txBody>
      </p:sp>
      <p:cxnSp>
        <p:nvCxnSpPr>
          <p:cNvPr id="11" name="מחבר ישר 15">
            <a:extLst>
              <a:ext uri="{FF2B5EF4-FFF2-40B4-BE49-F238E27FC236}">
                <a16:creationId xmlns:a16="http://schemas.microsoft.com/office/drawing/2014/main" id="{A7932830-E432-4C48-4ADB-15A77299C34A}"/>
              </a:ext>
            </a:extLst>
          </p:cNvPr>
          <p:cNvCxnSpPr>
            <a:cxnSpLocks/>
          </p:cNvCxnSpPr>
          <p:nvPr/>
        </p:nvCxnSpPr>
        <p:spPr>
          <a:xfrm flipV="1">
            <a:off x="1454331" y="2369357"/>
            <a:ext cx="2811888" cy="2751284"/>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ED8747D-BDD6-33DF-E4DA-C43ED78E93E0}"/>
              </a:ext>
            </a:extLst>
          </p:cNvPr>
          <p:cNvSpPr txBox="1"/>
          <p:nvPr/>
        </p:nvSpPr>
        <p:spPr>
          <a:xfrm>
            <a:off x="4383990" y="2608936"/>
            <a:ext cx="369012" cy="369332"/>
          </a:xfrm>
          <a:prstGeom prst="rect">
            <a:avLst/>
          </a:prstGeom>
          <a:noFill/>
        </p:spPr>
        <p:txBody>
          <a:bodyPr wrap="none" rtlCol="1">
            <a:spAutoFit/>
          </a:bodyPr>
          <a:lstStyle/>
          <a:p>
            <a:r>
              <a:rPr lang="en-US" dirty="0">
                <a:solidFill>
                  <a:prstClr val="black"/>
                </a:solidFill>
              </a:rPr>
              <a:t>S</a:t>
            </a:r>
            <a:r>
              <a:rPr lang="en-US" baseline="-25000" dirty="0">
                <a:solidFill>
                  <a:prstClr val="black"/>
                </a:solidFill>
              </a:rPr>
              <a:t>0</a:t>
            </a:r>
            <a:endParaRPr lang="he-IL" baseline="-25000" dirty="0">
              <a:solidFill>
                <a:prstClr val="black"/>
              </a:solidFill>
            </a:endParaRPr>
          </a:p>
        </p:txBody>
      </p:sp>
      <p:cxnSp>
        <p:nvCxnSpPr>
          <p:cNvPr id="13" name="Straight Connector 12">
            <a:extLst>
              <a:ext uri="{FF2B5EF4-FFF2-40B4-BE49-F238E27FC236}">
                <a16:creationId xmlns:a16="http://schemas.microsoft.com/office/drawing/2014/main" id="{54DC75E6-0AFF-6FAC-B270-C7D1050D557C}"/>
              </a:ext>
            </a:extLst>
          </p:cNvPr>
          <p:cNvCxnSpPr/>
          <p:nvPr/>
        </p:nvCxnSpPr>
        <p:spPr>
          <a:xfrm flipV="1">
            <a:off x="1379040" y="4527664"/>
            <a:ext cx="3229752" cy="957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E5917B50-962A-3CF3-BF2C-0EBC3427D409}"/>
              </a:ext>
            </a:extLst>
          </p:cNvPr>
          <p:cNvSpPr/>
          <p:nvPr/>
        </p:nvSpPr>
        <p:spPr>
          <a:xfrm>
            <a:off x="743874" y="4342998"/>
            <a:ext cx="1116380" cy="369332"/>
          </a:xfrm>
          <a:prstGeom prst="rect">
            <a:avLst/>
          </a:prstGeom>
        </p:spPr>
        <p:txBody>
          <a:bodyPr wrap="square">
            <a:spAutoFit/>
          </a:bodyPr>
          <a:lstStyle/>
          <a:p>
            <a:r>
              <a:rPr lang="en-US" dirty="0">
                <a:solidFill>
                  <a:prstClr val="black"/>
                </a:solidFill>
              </a:rPr>
              <a:t>Pw</a:t>
            </a:r>
            <a:r>
              <a:rPr lang="he-IL" dirty="0">
                <a:solidFill>
                  <a:prstClr val="black"/>
                </a:solidFill>
              </a:rPr>
              <a:t>0</a:t>
            </a:r>
          </a:p>
        </p:txBody>
      </p:sp>
      <p:cxnSp>
        <p:nvCxnSpPr>
          <p:cNvPr id="15" name="Straight Connector 14">
            <a:extLst>
              <a:ext uri="{FF2B5EF4-FFF2-40B4-BE49-F238E27FC236}">
                <a16:creationId xmlns:a16="http://schemas.microsoft.com/office/drawing/2014/main" id="{EBD0354F-7C14-DEBB-6413-4FA593F396FA}"/>
              </a:ext>
            </a:extLst>
          </p:cNvPr>
          <p:cNvCxnSpPr>
            <a:cxnSpLocks/>
          </p:cNvCxnSpPr>
          <p:nvPr/>
        </p:nvCxnSpPr>
        <p:spPr>
          <a:xfrm>
            <a:off x="3741821" y="4537236"/>
            <a:ext cx="0" cy="76769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D5FCB5E-B072-6B7A-0806-23FDF503F2C5}"/>
              </a:ext>
            </a:extLst>
          </p:cNvPr>
          <p:cNvCxnSpPr>
            <a:cxnSpLocks/>
          </p:cNvCxnSpPr>
          <p:nvPr/>
        </p:nvCxnSpPr>
        <p:spPr>
          <a:xfrm>
            <a:off x="2086619" y="4537236"/>
            <a:ext cx="1" cy="77269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46843AC9-8631-0BFC-B953-FDD713868772}"/>
              </a:ext>
            </a:extLst>
          </p:cNvPr>
          <p:cNvSpPr/>
          <p:nvPr/>
        </p:nvSpPr>
        <p:spPr>
          <a:xfrm>
            <a:off x="1860254" y="5426715"/>
            <a:ext cx="556563" cy="400110"/>
          </a:xfrm>
          <a:prstGeom prst="rect">
            <a:avLst/>
          </a:prstGeom>
        </p:spPr>
        <p:txBody>
          <a:bodyPr wrap="none">
            <a:spAutoFit/>
          </a:bodyPr>
          <a:lstStyle/>
          <a:p>
            <a:pPr lvl="0" algn="ctr">
              <a:defRPr/>
            </a:pPr>
            <a:r>
              <a:rPr lang="en-US" sz="2000" b="1" dirty="0" err="1">
                <a:solidFill>
                  <a:schemeClr val="tx2"/>
                </a:solidFill>
              </a:rPr>
              <a:t>Xs</a:t>
            </a:r>
            <a:r>
              <a:rPr lang="he-IL" sz="1600" b="1" dirty="0">
                <a:solidFill>
                  <a:schemeClr val="tx2"/>
                </a:solidFill>
              </a:rPr>
              <a:t>0</a:t>
            </a:r>
            <a:endParaRPr lang="en-US" b="1" dirty="0">
              <a:solidFill>
                <a:schemeClr val="tx2"/>
              </a:solidFill>
            </a:endParaRPr>
          </a:p>
        </p:txBody>
      </p:sp>
      <p:sp>
        <p:nvSpPr>
          <p:cNvPr id="18" name="Rectangle 17">
            <a:extLst>
              <a:ext uri="{FF2B5EF4-FFF2-40B4-BE49-F238E27FC236}">
                <a16:creationId xmlns:a16="http://schemas.microsoft.com/office/drawing/2014/main" id="{B75F2962-21E2-76AC-ECF3-606ED64ACD2B}"/>
              </a:ext>
            </a:extLst>
          </p:cNvPr>
          <p:cNvSpPr/>
          <p:nvPr/>
        </p:nvSpPr>
        <p:spPr>
          <a:xfrm>
            <a:off x="3594566" y="5419102"/>
            <a:ext cx="557204" cy="400110"/>
          </a:xfrm>
          <a:prstGeom prst="rect">
            <a:avLst/>
          </a:prstGeom>
        </p:spPr>
        <p:txBody>
          <a:bodyPr wrap="none">
            <a:spAutoFit/>
          </a:bodyPr>
          <a:lstStyle/>
          <a:p>
            <a:pPr lvl="0" algn="ctr">
              <a:defRPr/>
            </a:pPr>
            <a:r>
              <a:rPr lang="en-US" sz="2000" b="1" dirty="0" err="1">
                <a:solidFill>
                  <a:schemeClr val="tx2"/>
                </a:solidFill>
              </a:rPr>
              <a:t>Xd</a:t>
            </a:r>
            <a:r>
              <a:rPr lang="he-IL" sz="1400" b="1" dirty="0"/>
              <a:t>0</a:t>
            </a:r>
            <a:endParaRPr lang="en-US" b="1" dirty="0"/>
          </a:p>
        </p:txBody>
      </p:sp>
      <p:cxnSp>
        <p:nvCxnSpPr>
          <p:cNvPr id="19" name="Straight Arrow Connector 18">
            <a:extLst>
              <a:ext uri="{FF2B5EF4-FFF2-40B4-BE49-F238E27FC236}">
                <a16:creationId xmlns:a16="http://schemas.microsoft.com/office/drawing/2014/main" id="{4E0E8031-D3D2-6073-6FEF-CE310273A892}"/>
              </a:ext>
            </a:extLst>
          </p:cNvPr>
          <p:cNvCxnSpPr>
            <a:cxnSpLocks/>
          </p:cNvCxnSpPr>
          <p:nvPr/>
        </p:nvCxnSpPr>
        <p:spPr>
          <a:xfrm>
            <a:off x="2086619" y="5015005"/>
            <a:ext cx="1655202" cy="0"/>
          </a:xfrm>
          <a:prstGeom prst="straightConnector1">
            <a:avLst/>
          </a:prstGeom>
          <a:ln w="5715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757A77D5-4378-794C-0422-67035528A4E2}"/>
              </a:ext>
            </a:extLst>
          </p:cNvPr>
          <p:cNvSpPr/>
          <p:nvPr/>
        </p:nvSpPr>
        <p:spPr>
          <a:xfrm>
            <a:off x="2340270" y="4616015"/>
            <a:ext cx="1536245" cy="369332"/>
          </a:xfrm>
          <a:prstGeom prst="rect">
            <a:avLst/>
          </a:prstGeom>
        </p:spPr>
        <p:txBody>
          <a:bodyPr wrap="square">
            <a:spAutoFit/>
          </a:bodyPr>
          <a:lstStyle/>
          <a:p>
            <a:r>
              <a:rPr lang="he-IL" dirty="0">
                <a:solidFill>
                  <a:srgbClr val="C00000"/>
                </a:solidFill>
              </a:rPr>
              <a:t>היבוא המקורי</a:t>
            </a:r>
            <a:endParaRPr lang="en-IL" dirty="0">
              <a:solidFill>
                <a:srgbClr val="C00000"/>
              </a:solidFill>
            </a:endParaRPr>
          </a:p>
        </p:txBody>
      </p:sp>
      <p:cxnSp>
        <p:nvCxnSpPr>
          <p:cNvPr id="22" name="Straight Connector 21">
            <a:extLst>
              <a:ext uri="{FF2B5EF4-FFF2-40B4-BE49-F238E27FC236}">
                <a16:creationId xmlns:a16="http://schemas.microsoft.com/office/drawing/2014/main" id="{00E4DB10-B659-FFE2-D8EA-55814DE558B8}"/>
              </a:ext>
            </a:extLst>
          </p:cNvPr>
          <p:cNvCxnSpPr/>
          <p:nvPr/>
        </p:nvCxnSpPr>
        <p:spPr>
          <a:xfrm>
            <a:off x="5657610" y="2598284"/>
            <a:ext cx="10160" cy="1889760"/>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9627944-FCCB-41C2-E25B-FF720A1C1621}"/>
              </a:ext>
            </a:extLst>
          </p:cNvPr>
          <p:cNvCxnSpPr>
            <a:cxnSpLocks/>
            <a:stCxn id="26" idx="2"/>
          </p:cNvCxnSpPr>
          <p:nvPr/>
        </p:nvCxnSpPr>
        <p:spPr>
          <a:xfrm>
            <a:off x="5896370" y="2695082"/>
            <a:ext cx="1600200" cy="163040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AC51F28-5892-566A-897F-A8B34B1D3880}"/>
              </a:ext>
            </a:extLst>
          </p:cNvPr>
          <p:cNvCxnSpPr/>
          <p:nvPr/>
        </p:nvCxnSpPr>
        <p:spPr>
          <a:xfrm flipH="1">
            <a:off x="5677930" y="4488044"/>
            <a:ext cx="1971040" cy="0"/>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0B400F7-B73C-4887-6EE3-54E0A030021C}"/>
              </a:ext>
            </a:extLst>
          </p:cNvPr>
          <p:cNvCxnSpPr/>
          <p:nvPr/>
        </p:nvCxnSpPr>
        <p:spPr>
          <a:xfrm flipH="1">
            <a:off x="5850650" y="2598284"/>
            <a:ext cx="1727200" cy="16560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D7D6ABD8-802F-1C7E-6378-CE9980614E24}"/>
              </a:ext>
            </a:extLst>
          </p:cNvPr>
          <p:cNvSpPr txBox="1"/>
          <p:nvPr/>
        </p:nvSpPr>
        <p:spPr>
          <a:xfrm>
            <a:off x="5556010" y="2325750"/>
            <a:ext cx="680720" cy="369332"/>
          </a:xfrm>
          <a:prstGeom prst="rect">
            <a:avLst/>
          </a:prstGeom>
          <a:noFill/>
        </p:spPr>
        <p:txBody>
          <a:bodyPr wrap="square" rtlCol="0">
            <a:spAutoFit/>
          </a:bodyPr>
          <a:lstStyle/>
          <a:p>
            <a:r>
              <a:rPr lang="en-US" dirty="0"/>
              <a:t>D0</a:t>
            </a:r>
          </a:p>
        </p:txBody>
      </p:sp>
      <p:sp>
        <p:nvSpPr>
          <p:cNvPr id="27" name="TextBox 26">
            <a:extLst>
              <a:ext uri="{FF2B5EF4-FFF2-40B4-BE49-F238E27FC236}">
                <a16:creationId xmlns:a16="http://schemas.microsoft.com/office/drawing/2014/main" id="{F39AD74F-D98F-6682-4ABC-14966915AAA2}"/>
              </a:ext>
            </a:extLst>
          </p:cNvPr>
          <p:cNvSpPr txBox="1"/>
          <p:nvPr/>
        </p:nvSpPr>
        <p:spPr>
          <a:xfrm>
            <a:off x="7262890" y="2335910"/>
            <a:ext cx="680720" cy="369332"/>
          </a:xfrm>
          <a:prstGeom prst="rect">
            <a:avLst/>
          </a:prstGeom>
          <a:noFill/>
        </p:spPr>
        <p:txBody>
          <a:bodyPr wrap="square" rtlCol="0">
            <a:spAutoFit/>
          </a:bodyPr>
          <a:lstStyle/>
          <a:p>
            <a:r>
              <a:rPr lang="en-US" dirty="0"/>
              <a:t>S0</a:t>
            </a:r>
          </a:p>
        </p:txBody>
      </p:sp>
      <p:cxnSp>
        <p:nvCxnSpPr>
          <p:cNvPr id="28" name="Straight Connector 27">
            <a:extLst>
              <a:ext uri="{FF2B5EF4-FFF2-40B4-BE49-F238E27FC236}">
                <a16:creationId xmlns:a16="http://schemas.microsoft.com/office/drawing/2014/main" id="{1B8E6097-0FEA-D7E9-C806-F81D549A9F79}"/>
              </a:ext>
            </a:extLst>
          </p:cNvPr>
          <p:cNvCxnSpPr/>
          <p:nvPr/>
        </p:nvCxnSpPr>
        <p:spPr>
          <a:xfrm>
            <a:off x="6673610" y="3461884"/>
            <a:ext cx="20320" cy="102616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AA6DE09-BE1E-16B4-9DA3-0B2BBFED61E8}"/>
              </a:ext>
            </a:extLst>
          </p:cNvPr>
          <p:cNvCxnSpPr/>
          <p:nvPr/>
        </p:nvCxnSpPr>
        <p:spPr>
          <a:xfrm flipH="1">
            <a:off x="5667770" y="3426324"/>
            <a:ext cx="995680"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9A01CE92-22D2-DCD0-F5E6-13CC16ACAFB1}"/>
              </a:ext>
            </a:extLst>
          </p:cNvPr>
          <p:cNvSpPr txBox="1"/>
          <p:nvPr/>
        </p:nvSpPr>
        <p:spPr>
          <a:xfrm>
            <a:off x="4941330" y="3241658"/>
            <a:ext cx="680720" cy="369332"/>
          </a:xfrm>
          <a:prstGeom prst="rect">
            <a:avLst/>
          </a:prstGeom>
          <a:noFill/>
        </p:spPr>
        <p:txBody>
          <a:bodyPr wrap="square" rtlCol="0">
            <a:spAutoFit/>
          </a:bodyPr>
          <a:lstStyle/>
          <a:p>
            <a:r>
              <a:rPr lang="en-US" dirty="0"/>
              <a:t>Py0</a:t>
            </a:r>
          </a:p>
        </p:txBody>
      </p:sp>
      <p:sp>
        <p:nvSpPr>
          <p:cNvPr id="31" name="TextBox 30">
            <a:extLst>
              <a:ext uri="{FF2B5EF4-FFF2-40B4-BE49-F238E27FC236}">
                <a16:creationId xmlns:a16="http://schemas.microsoft.com/office/drawing/2014/main" id="{8CCF1E6F-FBED-8D75-DFC1-0CCDA276FFF7}"/>
              </a:ext>
            </a:extLst>
          </p:cNvPr>
          <p:cNvSpPr txBox="1"/>
          <p:nvPr/>
        </p:nvSpPr>
        <p:spPr>
          <a:xfrm>
            <a:off x="6485650" y="4586628"/>
            <a:ext cx="680720" cy="369332"/>
          </a:xfrm>
          <a:prstGeom prst="rect">
            <a:avLst/>
          </a:prstGeom>
          <a:noFill/>
        </p:spPr>
        <p:txBody>
          <a:bodyPr wrap="square" rtlCol="0">
            <a:spAutoFit/>
          </a:bodyPr>
          <a:lstStyle/>
          <a:p>
            <a:r>
              <a:rPr lang="en-US" dirty="0"/>
              <a:t>Y0</a:t>
            </a:r>
          </a:p>
        </p:txBody>
      </p:sp>
      <p:sp>
        <p:nvSpPr>
          <p:cNvPr id="33" name="TextBox 32">
            <a:extLst>
              <a:ext uri="{FF2B5EF4-FFF2-40B4-BE49-F238E27FC236}">
                <a16:creationId xmlns:a16="http://schemas.microsoft.com/office/drawing/2014/main" id="{BB6427B5-7005-D22D-EE8E-55401143C678}"/>
              </a:ext>
            </a:extLst>
          </p:cNvPr>
          <p:cNvSpPr txBox="1"/>
          <p:nvPr/>
        </p:nvSpPr>
        <p:spPr>
          <a:xfrm>
            <a:off x="8990090" y="2525753"/>
            <a:ext cx="3119381" cy="1021883"/>
          </a:xfrm>
          <a:prstGeom prst="rect">
            <a:avLst/>
          </a:prstGeom>
          <a:noFill/>
        </p:spPr>
        <p:txBody>
          <a:bodyPr wrap="square">
            <a:spAutoFit/>
          </a:bodyPr>
          <a:lstStyle/>
          <a:p>
            <a:pPr marL="342900" indent="-342900" algn="r" rtl="1">
              <a:lnSpc>
                <a:spcPct val="150000"/>
              </a:lnSpc>
              <a:buFont typeface="+mj-lt"/>
              <a:buAutoNum type="arabicPeriod"/>
            </a:pPr>
            <a:r>
              <a:rPr lang="he-IL" sz="1400" dirty="0">
                <a:latin typeface="Times New Roman" panose="02020603050405020304" pitchFamily="18" charset="0"/>
                <a:ea typeface="Times New Roman" panose="02020603050405020304" pitchFamily="18" charset="0"/>
              </a:rPr>
              <a:t>הכמות המיוצרת ממוצר </a:t>
            </a:r>
            <a:r>
              <a:rPr lang="en-US" sz="1400" dirty="0">
                <a:latin typeface="Times New Roman" panose="02020603050405020304" pitchFamily="18" charset="0"/>
                <a:ea typeface="Times New Roman" panose="02020603050405020304" pitchFamily="18" charset="0"/>
              </a:rPr>
              <a:t>Y</a:t>
            </a:r>
            <a:r>
              <a:rPr lang="he-IL" sz="1400" dirty="0">
                <a:latin typeface="Times New Roman" panose="02020603050405020304" pitchFamily="18" charset="0"/>
                <a:ea typeface="Times New Roman" panose="02020603050405020304" pitchFamily="18" charset="0"/>
              </a:rPr>
              <a:t> גדלה, ייתכן שהכמות המיוצרת ממוצר </a:t>
            </a:r>
            <a:r>
              <a:rPr lang="en-US" sz="1400" dirty="0">
                <a:latin typeface="Times New Roman" panose="02020603050405020304" pitchFamily="18" charset="0"/>
                <a:ea typeface="Times New Roman" panose="02020603050405020304" pitchFamily="18" charset="0"/>
              </a:rPr>
              <a:t>X</a:t>
            </a:r>
            <a:r>
              <a:rPr lang="he-IL" sz="1400" dirty="0">
                <a:latin typeface="Times New Roman" panose="02020603050405020304" pitchFamily="18" charset="0"/>
                <a:ea typeface="Times New Roman" panose="02020603050405020304" pitchFamily="18" charset="0"/>
              </a:rPr>
              <a:t> לא תשתנה</a:t>
            </a:r>
          </a:p>
        </p:txBody>
      </p:sp>
      <p:sp>
        <p:nvSpPr>
          <p:cNvPr id="35" name="TextBox 34">
            <a:extLst>
              <a:ext uri="{FF2B5EF4-FFF2-40B4-BE49-F238E27FC236}">
                <a16:creationId xmlns:a16="http://schemas.microsoft.com/office/drawing/2014/main" id="{199C1268-6D11-F472-7C9E-647702D292A2}"/>
              </a:ext>
            </a:extLst>
          </p:cNvPr>
          <p:cNvSpPr txBox="1"/>
          <p:nvPr/>
        </p:nvSpPr>
        <p:spPr>
          <a:xfrm>
            <a:off x="8379750" y="3535677"/>
            <a:ext cx="3627120" cy="878574"/>
          </a:xfrm>
          <a:prstGeom prst="rect">
            <a:avLst/>
          </a:prstGeom>
          <a:noFill/>
        </p:spPr>
        <p:txBody>
          <a:bodyPr wrap="square">
            <a:spAutoFit/>
          </a:bodyPr>
          <a:lstStyle/>
          <a:p>
            <a:pPr algn="r" rtl="1">
              <a:lnSpc>
                <a:spcPct val="150000"/>
              </a:lnSpc>
            </a:pPr>
            <a:r>
              <a:rPr lang="he-IL" sz="1600" dirty="0">
                <a:latin typeface="Times New Roman" panose="02020603050405020304" pitchFamily="18" charset="0"/>
                <a:ea typeface="Times New Roman" panose="02020603050405020304" pitchFamily="18" charset="0"/>
              </a:rPr>
              <a:t>2</a:t>
            </a:r>
            <a:r>
              <a:rPr lang="he-IL" sz="1800" dirty="0">
                <a:latin typeface="Times New Roman" panose="02020603050405020304" pitchFamily="18" charset="0"/>
                <a:ea typeface="Times New Roman" panose="02020603050405020304" pitchFamily="18" charset="0"/>
              </a:rPr>
              <a:t>. ייתכן שעתה כל הכמות הנרכשת על ידי הצרכנים המקומיים תהיה מיובאת. </a:t>
            </a:r>
            <a:endParaRPr lang="en-IL" sz="1800" dirty="0"/>
          </a:p>
        </p:txBody>
      </p:sp>
      <p:sp>
        <p:nvSpPr>
          <p:cNvPr id="37" name="TextBox 36">
            <a:extLst>
              <a:ext uri="{FF2B5EF4-FFF2-40B4-BE49-F238E27FC236}">
                <a16:creationId xmlns:a16="http://schemas.microsoft.com/office/drawing/2014/main" id="{DCDBD3A7-5F97-892B-21AF-5C9BA88C473B}"/>
              </a:ext>
            </a:extLst>
          </p:cNvPr>
          <p:cNvSpPr txBox="1"/>
          <p:nvPr/>
        </p:nvSpPr>
        <p:spPr>
          <a:xfrm>
            <a:off x="8602315" y="4669593"/>
            <a:ext cx="3404555" cy="416011"/>
          </a:xfrm>
          <a:prstGeom prst="rect">
            <a:avLst/>
          </a:prstGeom>
          <a:noFill/>
        </p:spPr>
        <p:txBody>
          <a:bodyPr wrap="square">
            <a:spAutoFit/>
          </a:bodyPr>
          <a:lstStyle/>
          <a:p>
            <a:pPr algn="r" rtl="1">
              <a:lnSpc>
                <a:spcPct val="150000"/>
              </a:lnSpc>
            </a:pPr>
            <a:r>
              <a:rPr lang="he-IL" sz="1600" dirty="0">
                <a:latin typeface="Times New Roman" panose="02020603050405020304" pitchFamily="18" charset="0"/>
                <a:ea typeface="Times New Roman" panose="02020603050405020304" pitchFamily="18" charset="0"/>
              </a:rPr>
              <a:t>3. כל התשובות האחרות לא נכונות.</a:t>
            </a:r>
          </a:p>
        </p:txBody>
      </p:sp>
      <p:sp>
        <p:nvSpPr>
          <p:cNvPr id="39" name="TextBox 38">
            <a:extLst>
              <a:ext uri="{FF2B5EF4-FFF2-40B4-BE49-F238E27FC236}">
                <a16:creationId xmlns:a16="http://schemas.microsoft.com/office/drawing/2014/main" id="{AD85C75B-A3CF-6487-DE93-9F0161939AC9}"/>
              </a:ext>
            </a:extLst>
          </p:cNvPr>
          <p:cNvSpPr txBox="1"/>
          <p:nvPr/>
        </p:nvSpPr>
        <p:spPr>
          <a:xfrm>
            <a:off x="9091922" y="5379665"/>
            <a:ext cx="2914948" cy="417165"/>
          </a:xfrm>
          <a:prstGeom prst="rect">
            <a:avLst/>
          </a:prstGeom>
          <a:noFill/>
        </p:spPr>
        <p:txBody>
          <a:bodyPr wrap="square">
            <a:spAutoFit/>
          </a:bodyPr>
          <a:lstStyle/>
          <a:p>
            <a:pPr algn="r" rtl="1">
              <a:lnSpc>
                <a:spcPct val="150000"/>
              </a:lnSpc>
            </a:pPr>
            <a:r>
              <a:rPr lang="he-IL" sz="1600" dirty="0">
                <a:latin typeface="Times New Roman" panose="02020603050405020304" pitchFamily="18" charset="0"/>
                <a:ea typeface="Times New Roman" panose="02020603050405020304" pitchFamily="18" charset="0"/>
              </a:rPr>
              <a:t>4. ייתכן שהייבוא ממוצר </a:t>
            </a:r>
            <a:r>
              <a:rPr lang="en-US" sz="1600" dirty="0">
                <a:latin typeface="Times New Roman" panose="02020603050405020304" pitchFamily="18" charset="0"/>
                <a:ea typeface="Times New Roman" panose="02020603050405020304" pitchFamily="18" charset="0"/>
              </a:rPr>
              <a:t>X</a:t>
            </a:r>
            <a:r>
              <a:rPr lang="he-IL" sz="1600" dirty="0">
                <a:latin typeface="Times New Roman" panose="02020603050405020304" pitchFamily="18" charset="0"/>
                <a:ea typeface="Times New Roman" panose="02020603050405020304" pitchFamily="18" charset="0"/>
              </a:rPr>
              <a:t> גדל</a:t>
            </a:r>
          </a:p>
        </p:txBody>
      </p:sp>
      <p:cxnSp>
        <p:nvCxnSpPr>
          <p:cNvPr id="40" name="Straight Connector 39">
            <a:extLst>
              <a:ext uri="{FF2B5EF4-FFF2-40B4-BE49-F238E27FC236}">
                <a16:creationId xmlns:a16="http://schemas.microsoft.com/office/drawing/2014/main" id="{B3F24398-79CE-979B-B0E3-6AC68BE3F5E9}"/>
              </a:ext>
            </a:extLst>
          </p:cNvPr>
          <p:cNvCxnSpPr/>
          <p:nvPr/>
        </p:nvCxnSpPr>
        <p:spPr>
          <a:xfrm flipV="1">
            <a:off x="1379040" y="4137619"/>
            <a:ext cx="3229752" cy="957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782C89AB-9D93-2519-C715-A8FD240C430B}"/>
              </a:ext>
            </a:extLst>
          </p:cNvPr>
          <p:cNvSpPr/>
          <p:nvPr/>
        </p:nvSpPr>
        <p:spPr>
          <a:xfrm>
            <a:off x="458957" y="3942433"/>
            <a:ext cx="1116380" cy="461665"/>
          </a:xfrm>
          <a:prstGeom prst="rect">
            <a:avLst/>
          </a:prstGeom>
        </p:spPr>
        <p:txBody>
          <a:bodyPr wrap="square">
            <a:spAutoFit/>
          </a:bodyPr>
          <a:lstStyle/>
          <a:p>
            <a:r>
              <a:rPr lang="en-US" dirty="0">
                <a:solidFill>
                  <a:prstClr val="black"/>
                </a:solidFill>
              </a:rPr>
              <a:t>Pw</a:t>
            </a:r>
            <a:r>
              <a:rPr lang="he-IL" dirty="0">
                <a:solidFill>
                  <a:prstClr val="black"/>
                </a:solidFill>
              </a:rPr>
              <a:t>0</a:t>
            </a:r>
            <a:r>
              <a:rPr lang="en-US" dirty="0">
                <a:solidFill>
                  <a:prstClr val="black"/>
                </a:solidFill>
              </a:rPr>
              <a:t>+</a:t>
            </a:r>
            <a:r>
              <a:rPr lang="en-US" sz="2400" dirty="0">
                <a:solidFill>
                  <a:srgbClr val="C00000"/>
                </a:solidFill>
              </a:rPr>
              <a:t>t1</a:t>
            </a:r>
            <a:endParaRPr lang="he-IL" dirty="0">
              <a:solidFill>
                <a:srgbClr val="C00000"/>
              </a:solidFill>
            </a:endParaRPr>
          </a:p>
        </p:txBody>
      </p:sp>
      <p:cxnSp>
        <p:nvCxnSpPr>
          <p:cNvPr id="42" name="Straight Connector 41">
            <a:extLst>
              <a:ext uri="{FF2B5EF4-FFF2-40B4-BE49-F238E27FC236}">
                <a16:creationId xmlns:a16="http://schemas.microsoft.com/office/drawing/2014/main" id="{F76148AA-B43F-C304-FDF1-8AD465AFE2A2}"/>
              </a:ext>
            </a:extLst>
          </p:cNvPr>
          <p:cNvCxnSpPr/>
          <p:nvPr/>
        </p:nvCxnSpPr>
        <p:spPr>
          <a:xfrm flipV="1">
            <a:off x="1410900" y="3646498"/>
            <a:ext cx="3229752" cy="9572"/>
          </a:xfrm>
          <a:prstGeom prst="line">
            <a:avLst/>
          </a:prstGeom>
          <a:ln w="38100">
            <a:solidFill>
              <a:srgbClr val="FF00FF"/>
            </a:solidFill>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32FA7B8E-D123-C925-05C8-6541A1D57047}"/>
              </a:ext>
            </a:extLst>
          </p:cNvPr>
          <p:cNvSpPr/>
          <p:nvPr/>
        </p:nvSpPr>
        <p:spPr>
          <a:xfrm>
            <a:off x="467958" y="3448265"/>
            <a:ext cx="1116380" cy="461665"/>
          </a:xfrm>
          <a:prstGeom prst="rect">
            <a:avLst/>
          </a:prstGeom>
        </p:spPr>
        <p:txBody>
          <a:bodyPr wrap="square">
            <a:spAutoFit/>
          </a:bodyPr>
          <a:lstStyle/>
          <a:p>
            <a:r>
              <a:rPr lang="en-US" dirty="0">
                <a:solidFill>
                  <a:prstClr val="black"/>
                </a:solidFill>
              </a:rPr>
              <a:t>Pw</a:t>
            </a:r>
            <a:r>
              <a:rPr lang="he-IL" dirty="0">
                <a:solidFill>
                  <a:prstClr val="black"/>
                </a:solidFill>
              </a:rPr>
              <a:t>0</a:t>
            </a:r>
            <a:r>
              <a:rPr lang="en-US" dirty="0">
                <a:solidFill>
                  <a:prstClr val="black"/>
                </a:solidFill>
              </a:rPr>
              <a:t>+</a:t>
            </a:r>
            <a:r>
              <a:rPr lang="en-US" sz="2400" dirty="0">
                <a:solidFill>
                  <a:srgbClr val="C00000"/>
                </a:solidFill>
              </a:rPr>
              <a:t>t2</a:t>
            </a:r>
            <a:endParaRPr lang="he-IL" dirty="0">
              <a:solidFill>
                <a:srgbClr val="C00000"/>
              </a:solidFill>
            </a:endParaRPr>
          </a:p>
        </p:txBody>
      </p:sp>
      <p:cxnSp>
        <p:nvCxnSpPr>
          <p:cNvPr id="45" name="Straight Connector 44">
            <a:extLst>
              <a:ext uri="{FF2B5EF4-FFF2-40B4-BE49-F238E27FC236}">
                <a16:creationId xmlns:a16="http://schemas.microsoft.com/office/drawing/2014/main" id="{B949BD6E-8597-36EE-918C-05E2C90F8D9B}"/>
              </a:ext>
            </a:extLst>
          </p:cNvPr>
          <p:cNvCxnSpPr/>
          <p:nvPr/>
        </p:nvCxnSpPr>
        <p:spPr>
          <a:xfrm>
            <a:off x="6480570" y="2703910"/>
            <a:ext cx="1371600" cy="1467842"/>
          </a:xfrm>
          <a:prstGeom prst="line">
            <a:avLst/>
          </a:prstGeom>
          <a:ln w="381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ABFB90B0-028B-4E4D-0857-D1AA7F100ECA}"/>
              </a:ext>
            </a:extLst>
          </p:cNvPr>
          <p:cNvSpPr txBox="1"/>
          <p:nvPr/>
        </p:nvSpPr>
        <p:spPr>
          <a:xfrm>
            <a:off x="6213575" y="2389597"/>
            <a:ext cx="680720" cy="369332"/>
          </a:xfrm>
          <a:prstGeom prst="rect">
            <a:avLst/>
          </a:prstGeom>
          <a:noFill/>
          <a:ln w="38100">
            <a:noFill/>
          </a:ln>
        </p:spPr>
        <p:txBody>
          <a:bodyPr wrap="square" rtlCol="0">
            <a:spAutoFit/>
          </a:bodyPr>
          <a:lstStyle/>
          <a:p>
            <a:r>
              <a:rPr lang="en-US" dirty="0">
                <a:solidFill>
                  <a:srgbClr val="C00000"/>
                </a:solidFill>
              </a:rPr>
              <a:t>D1</a:t>
            </a:r>
          </a:p>
        </p:txBody>
      </p:sp>
      <p:sp>
        <p:nvSpPr>
          <p:cNvPr id="47" name="Oval 46">
            <a:extLst>
              <a:ext uri="{FF2B5EF4-FFF2-40B4-BE49-F238E27FC236}">
                <a16:creationId xmlns:a16="http://schemas.microsoft.com/office/drawing/2014/main" id="{EF2F4BF0-EF47-6685-0DC2-349B9803F1BD}"/>
              </a:ext>
            </a:extLst>
          </p:cNvPr>
          <p:cNvSpPr/>
          <p:nvPr/>
        </p:nvSpPr>
        <p:spPr>
          <a:xfrm>
            <a:off x="6526658" y="3327013"/>
            <a:ext cx="319672" cy="283977"/>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a:t>
            </a:r>
            <a:endParaRPr lang="en-IL" dirty="0"/>
          </a:p>
        </p:txBody>
      </p:sp>
      <p:sp>
        <p:nvSpPr>
          <p:cNvPr id="48" name="Oval 47">
            <a:extLst>
              <a:ext uri="{FF2B5EF4-FFF2-40B4-BE49-F238E27FC236}">
                <a16:creationId xmlns:a16="http://schemas.microsoft.com/office/drawing/2014/main" id="{DAA3E8CF-B542-B56A-D509-95619982747E}"/>
              </a:ext>
            </a:extLst>
          </p:cNvPr>
          <p:cNvSpPr/>
          <p:nvPr/>
        </p:nvSpPr>
        <p:spPr>
          <a:xfrm>
            <a:off x="6798324" y="3124316"/>
            <a:ext cx="319672" cy="28397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B</a:t>
            </a:r>
            <a:endParaRPr lang="en-IL" dirty="0"/>
          </a:p>
        </p:txBody>
      </p:sp>
    </p:spTree>
    <p:extLst>
      <p:ext uri="{BB962C8B-B14F-4D97-AF65-F5344CB8AC3E}">
        <p14:creationId xmlns:p14="http://schemas.microsoft.com/office/powerpoint/2010/main" val="3166340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childTnLst>
                                </p:cTn>
                              </p:par>
                              <p:par>
                                <p:cTn id="26" presetID="10" presetClass="entr" presetSubtype="0" fill="hold" nodeType="with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fade">
                                      <p:cBhvr>
                                        <p:cTn id="28" dur="500"/>
                                        <p:tgtEl>
                                          <p:spTgt spid="2"/>
                                        </p:tgtEl>
                                      </p:cBhvr>
                                    </p:animEffect>
                                  </p:childTnLst>
                                </p:cTn>
                              </p:par>
                              <p:par>
                                <p:cTn id="29" presetID="10" presetClass="entr" presetSubtype="0" fill="hold" nodeType="with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fade">
                                      <p:cBhvr>
                                        <p:cTn id="31" dur="500"/>
                                        <p:tgtEl>
                                          <p:spTgt spid="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500"/>
                                        <p:tgtEl>
                                          <p:spTgt spid="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childTnLst>
                                </p:cTn>
                              </p:par>
                              <p:par>
                                <p:cTn id="38" presetID="10" presetClass="entr" presetSubtype="0" fill="hold" nodeType="with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500"/>
                                        <p:tgtEl>
                                          <p:spTgt spid="10"/>
                                        </p:tgtEl>
                                      </p:cBhvr>
                                    </p:animEffect>
                                  </p:childTnLst>
                                </p:cTn>
                              </p:par>
                              <p:par>
                                <p:cTn id="44" presetID="10" presetClass="entr" presetSubtype="0" fill="hold" nodeType="with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500"/>
                                        <p:tgtEl>
                                          <p:spTgt spid="1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500"/>
                                        <p:tgtEl>
                                          <p:spTgt spid="12"/>
                                        </p:tgtEl>
                                      </p:cBhvr>
                                    </p:animEffect>
                                  </p:childTnLst>
                                </p:cTn>
                              </p:par>
                              <p:par>
                                <p:cTn id="50" presetID="10" presetClass="entr" presetSubtype="0" fill="hold" nodeType="with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500"/>
                                        <p:tgtEl>
                                          <p:spTgt spid="31"/>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41"/>
                                        </p:tgtEl>
                                        <p:attrNameLst>
                                          <p:attrName>style.visibility</p:attrName>
                                        </p:attrNameLst>
                                      </p:cBhvr>
                                      <p:to>
                                        <p:strVal val="visible"/>
                                      </p:to>
                                    </p:set>
                                    <p:animEffect transition="in" filter="fade">
                                      <p:cBhvr>
                                        <p:cTn id="60" dur="500"/>
                                        <p:tgtEl>
                                          <p:spTgt spid="41"/>
                                        </p:tgtEl>
                                      </p:cBhvr>
                                    </p:animEffect>
                                  </p:childTnLst>
                                </p:cTn>
                              </p:par>
                              <p:par>
                                <p:cTn id="61" presetID="10" presetClass="entr" presetSubtype="0" fill="hold" nodeType="withEffect">
                                  <p:stCondLst>
                                    <p:cond delay="0"/>
                                  </p:stCondLst>
                                  <p:childTnLst>
                                    <p:set>
                                      <p:cBhvr>
                                        <p:cTn id="62" dur="1" fill="hold">
                                          <p:stCondLst>
                                            <p:cond delay="0"/>
                                          </p:stCondLst>
                                        </p:cTn>
                                        <p:tgtEl>
                                          <p:spTgt spid="40"/>
                                        </p:tgtEl>
                                        <p:attrNameLst>
                                          <p:attrName>style.visibility</p:attrName>
                                        </p:attrNameLst>
                                      </p:cBhvr>
                                      <p:to>
                                        <p:strVal val="visible"/>
                                      </p:to>
                                    </p:set>
                                    <p:animEffect transition="in" filter="fade">
                                      <p:cBhvr>
                                        <p:cTn id="63" dur="500"/>
                                        <p:tgtEl>
                                          <p:spTgt spid="40"/>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43"/>
                                        </p:tgtEl>
                                        <p:attrNameLst>
                                          <p:attrName>style.visibility</p:attrName>
                                        </p:attrNameLst>
                                      </p:cBhvr>
                                      <p:to>
                                        <p:strVal val="visible"/>
                                      </p:to>
                                    </p:set>
                                    <p:animEffect transition="in" filter="fade">
                                      <p:cBhvr>
                                        <p:cTn id="68" dur="500"/>
                                        <p:tgtEl>
                                          <p:spTgt spid="43"/>
                                        </p:tgtEl>
                                      </p:cBhvr>
                                    </p:animEffect>
                                  </p:childTnLst>
                                </p:cTn>
                              </p:par>
                              <p:par>
                                <p:cTn id="69" presetID="10" presetClass="entr" presetSubtype="0" fill="hold" nodeType="with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fade">
                                      <p:cBhvr>
                                        <p:cTn id="71" dur="500"/>
                                        <p:tgtEl>
                                          <p:spTgt spid="42"/>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46"/>
                                        </p:tgtEl>
                                        <p:attrNameLst>
                                          <p:attrName>style.visibility</p:attrName>
                                        </p:attrNameLst>
                                      </p:cBhvr>
                                      <p:to>
                                        <p:strVal val="visible"/>
                                      </p:to>
                                    </p:set>
                                    <p:animEffect transition="in" filter="fade">
                                      <p:cBhvr>
                                        <p:cTn id="76" dur="500"/>
                                        <p:tgtEl>
                                          <p:spTgt spid="46"/>
                                        </p:tgtEl>
                                      </p:cBhvr>
                                    </p:animEffect>
                                  </p:childTnLst>
                                </p:cTn>
                              </p:par>
                              <p:par>
                                <p:cTn id="77" presetID="10" presetClass="entr" presetSubtype="0" fill="hold" nodeType="withEffect">
                                  <p:stCondLst>
                                    <p:cond delay="0"/>
                                  </p:stCondLst>
                                  <p:childTnLst>
                                    <p:set>
                                      <p:cBhvr>
                                        <p:cTn id="78" dur="1" fill="hold">
                                          <p:stCondLst>
                                            <p:cond delay="0"/>
                                          </p:stCondLst>
                                        </p:cTn>
                                        <p:tgtEl>
                                          <p:spTgt spid="45"/>
                                        </p:tgtEl>
                                        <p:attrNameLst>
                                          <p:attrName>style.visibility</p:attrName>
                                        </p:attrNameLst>
                                      </p:cBhvr>
                                      <p:to>
                                        <p:strVal val="visible"/>
                                      </p:to>
                                    </p:set>
                                    <p:animEffect transition="in" filter="fade">
                                      <p:cBhvr>
                                        <p:cTn id="79" dur="500"/>
                                        <p:tgtEl>
                                          <p:spTgt spid="45"/>
                                        </p:tgtEl>
                                      </p:cBhvr>
                                    </p:animEffect>
                                  </p:childTnLst>
                                </p:cTn>
                              </p:par>
                            </p:childTnLst>
                          </p:cTn>
                        </p:par>
                      </p:childTnLst>
                    </p:cTn>
                  </p:par>
                  <p:par>
                    <p:cTn id="80" fill="hold">
                      <p:stCondLst>
                        <p:cond delay="indefinite"/>
                      </p:stCondLst>
                      <p:childTnLst>
                        <p:par>
                          <p:cTn id="81" fill="hold">
                            <p:stCondLst>
                              <p:cond delay="0"/>
                            </p:stCondLst>
                            <p:childTnLst>
                              <p:par>
                                <p:cTn id="82" presetID="16" presetClass="entr" presetSubtype="21" fill="hold" grpId="0" nodeType="clickEffect">
                                  <p:stCondLst>
                                    <p:cond delay="0"/>
                                  </p:stCondLst>
                                  <p:childTnLst>
                                    <p:set>
                                      <p:cBhvr>
                                        <p:cTn id="83" dur="1" fill="hold">
                                          <p:stCondLst>
                                            <p:cond delay="0"/>
                                          </p:stCondLst>
                                        </p:cTn>
                                        <p:tgtEl>
                                          <p:spTgt spid="48"/>
                                        </p:tgtEl>
                                        <p:attrNameLst>
                                          <p:attrName>style.visibility</p:attrName>
                                        </p:attrNameLst>
                                      </p:cBhvr>
                                      <p:to>
                                        <p:strVal val="visible"/>
                                      </p:to>
                                    </p:set>
                                    <p:animEffect transition="in" filter="barn(inVertical)">
                                      <p:cBhvr>
                                        <p:cTn id="84"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0" grpId="0"/>
      <p:bldP spid="12" grpId="0"/>
      <p:bldP spid="14" grpId="0"/>
      <p:bldP spid="17" grpId="0"/>
      <p:bldP spid="18" grpId="0"/>
      <p:bldP spid="20" grpId="0"/>
      <p:bldP spid="31" grpId="0"/>
      <p:bldP spid="41" grpId="0"/>
      <p:bldP spid="43" grpId="0"/>
      <p:bldP spid="46" grpId="0"/>
      <p:bldP spid="48"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957C55C-F6BA-608C-DF2B-3A633E567A8E}"/>
              </a:ext>
            </a:extLst>
          </p:cNvPr>
          <p:cNvSpPr txBox="1"/>
          <p:nvPr/>
        </p:nvSpPr>
        <p:spPr>
          <a:xfrm>
            <a:off x="2822713" y="901494"/>
            <a:ext cx="9001368" cy="1346074"/>
          </a:xfrm>
          <a:prstGeom prst="rect">
            <a:avLst/>
          </a:prstGeom>
          <a:noFill/>
        </p:spPr>
        <p:txBody>
          <a:bodyPr wrap="square">
            <a:spAutoFit/>
          </a:bodyPr>
          <a:lstStyle/>
          <a:p>
            <a:pPr lvl="0" algn="r" rtl="1">
              <a:lnSpc>
                <a:spcPct val="150000"/>
              </a:lnSpc>
            </a:pPr>
            <a:r>
              <a:rPr lang="he-IL" sz="1400" dirty="0">
                <a:latin typeface="Times New Roman" panose="02020603050405020304" pitchFamily="18" charset="0"/>
                <a:ea typeface="Times New Roman" panose="02020603050405020304" pitchFamily="18" charset="0"/>
              </a:rPr>
              <a:t>במשק ג'מבליה צורכים שני מוצרים, </a:t>
            </a:r>
            <a:r>
              <a:rPr lang="en-US" sz="1400" dirty="0">
                <a:latin typeface="Times New Roman" panose="02020603050405020304" pitchFamily="18" charset="0"/>
                <a:ea typeface="Times New Roman" panose="02020603050405020304" pitchFamily="18" charset="0"/>
              </a:rPr>
              <a:t>X </a:t>
            </a:r>
            <a:r>
              <a:rPr lang="he-IL" sz="1400" dirty="0">
                <a:latin typeface="Times New Roman" panose="02020603050405020304" pitchFamily="18" charset="0"/>
                <a:ea typeface="Times New Roman" panose="02020603050405020304" pitchFamily="18" charset="0"/>
              </a:rPr>
              <a:t> ו-</a:t>
            </a:r>
            <a:r>
              <a:rPr lang="en-US" sz="1400" dirty="0">
                <a:latin typeface="Times New Roman" panose="02020603050405020304" pitchFamily="18" charset="0"/>
                <a:ea typeface="Times New Roman" panose="02020603050405020304" pitchFamily="18" charset="0"/>
              </a:rPr>
              <a:t>Y </a:t>
            </a:r>
            <a:r>
              <a:rPr lang="he-IL" sz="1400" dirty="0">
                <a:latin typeface="Times New Roman" panose="02020603050405020304" pitchFamily="18" charset="0"/>
                <a:ea typeface="Times New Roman" panose="02020603050405020304" pitchFamily="18" charset="0"/>
              </a:rPr>
              <a:t>, אשר מהווים מוצרים </a:t>
            </a:r>
            <a:r>
              <a:rPr lang="he-IL" sz="1400" b="1" dirty="0">
                <a:solidFill>
                  <a:schemeClr val="accent1"/>
                </a:solidFill>
                <a:latin typeface="Times New Roman" panose="02020603050405020304" pitchFamily="18" charset="0"/>
                <a:ea typeface="Times New Roman" panose="02020603050405020304" pitchFamily="18" charset="0"/>
              </a:rPr>
              <a:t>תחליפיים</a:t>
            </a:r>
            <a:r>
              <a:rPr lang="he-IL" sz="1400" dirty="0">
                <a:latin typeface="Times New Roman" panose="02020603050405020304" pitchFamily="18" charset="0"/>
                <a:ea typeface="Times New Roman" panose="02020603050405020304" pitchFamily="18" charset="0"/>
              </a:rPr>
              <a:t> זה לזה. מוצר </a:t>
            </a:r>
            <a:r>
              <a:rPr lang="en-US" sz="1400" dirty="0">
                <a:latin typeface="Times New Roman" panose="02020603050405020304" pitchFamily="18" charset="0"/>
                <a:ea typeface="Times New Roman" panose="02020603050405020304" pitchFamily="18" charset="0"/>
              </a:rPr>
              <a:t>X</a:t>
            </a:r>
            <a:r>
              <a:rPr lang="he-IL" sz="1400" dirty="0">
                <a:latin typeface="Times New Roman" panose="02020603050405020304" pitchFamily="18" charset="0"/>
                <a:ea typeface="Times New Roman" panose="02020603050405020304" pitchFamily="18" charset="0"/>
              </a:rPr>
              <a:t> פתוח לייבוא ואילו מוצר </a:t>
            </a:r>
            <a:r>
              <a:rPr lang="en-US" sz="1400" dirty="0">
                <a:latin typeface="Times New Roman" panose="02020603050405020304" pitchFamily="18" charset="0"/>
                <a:ea typeface="Times New Roman" panose="02020603050405020304" pitchFamily="18" charset="0"/>
              </a:rPr>
              <a:t>Y</a:t>
            </a:r>
            <a:r>
              <a:rPr lang="he-IL" sz="1400" dirty="0">
                <a:latin typeface="Times New Roman" panose="02020603050405020304" pitchFamily="18" charset="0"/>
                <a:ea typeface="Times New Roman" panose="02020603050405020304" pitchFamily="18" charset="0"/>
              </a:rPr>
              <a:t> הינו סגור לייבוא ולייצוא. </a:t>
            </a:r>
          </a:p>
          <a:p>
            <a:pPr lvl="0" algn="r" rtl="1">
              <a:lnSpc>
                <a:spcPct val="150000"/>
              </a:lnSpc>
            </a:pPr>
            <a:r>
              <a:rPr lang="he-IL" sz="1400" dirty="0">
                <a:latin typeface="Times New Roman" panose="02020603050405020304" pitchFamily="18" charset="0"/>
                <a:ea typeface="Times New Roman" panose="02020603050405020304" pitchFamily="18" charset="0"/>
              </a:rPr>
              <a:t>במצב המוצא בשוק</a:t>
            </a:r>
            <a:r>
              <a:rPr lang="en-US" sz="1400" dirty="0">
                <a:latin typeface="Times New Roman" panose="02020603050405020304" pitchFamily="18" charset="0"/>
                <a:ea typeface="Times New Roman" panose="02020603050405020304" pitchFamily="18" charset="0"/>
              </a:rPr>
              <a:t>X </a:t>
            </a:r>
            <a:r>
              <a:rPr lang="he-IL" sz="1400" dirty="0">
                <a:latin typeface="Times New Roman" panose="02020603050405020304" pitchFamily="18" charset="0"/>
                <a:ea typeface="Times New Roman" panose="02020603050405020304" pitchFamily="18" charset="0"/>
              </a:rPr>
              <a:t> הצרכנים קונים את המוצר הן מייצור מקומי והן מחו''ל. הממשלה החליטה </a:t>
            </a:r>
            <a:r>
              <a:rPr lang="he-IL" sz="1400" b="1" dirty="0">
                <a:latin typeface="Times New Roman" panose="02020603050405020304" pitchFamily="18" charset="0"/>
                <a:ea typeface="Times New Roman" panose="02020603050405020304" pitchFamily="18" charset="0"/>
              </a:rPr>
              <a:t>להטיל מכס על כל יחידה מיובאת</a:t>
            </a:r>
            <a:r>
              <a:rPr lang="he-IL" sz="1400" dirty="0">
                <a:latin typeface="Times New Roman" panose="02020603050405020304" pitchFamily="18" charset="0"/>
                <a:ea typeface="Times New Roman" panose="02020603050405020304" pitchFamily="18" charset="0"/>
              </a:rPr>
              <a:t>, כתוצאה מכך</a:t>
            </a:r>
            <a:endParaRPr lang="en-IL" sz="1400" dirty="0">
              <a:effectLst/>
              <a:latin typeface="Times New Roman" panose="02020603050405020304" pitchFamily="18" charset="0"/>
              <a:ea typeface="Times New Roman" panose="02020603050405020304" pitchFamily="18" charset="0"/>
            </a:endParaRPr>
          </a:p>
        </p:txBody>
      </p:sp>
      <p:sp>
        <p:nvSpPr>
          <p:cNvPr id="4" name="Title 3">
            <a:extLst>
              <a:ext uri="{FF2B5EF4-FFF2-40B4-BE49-F238E27FC236}">
                <a16:creationId xmlns:a16="http://schemas.microsoft.com/office/drawing/2014/main" id="{54670C16-59AB-E802-4F61-8619205A119C}"/>
              </a:ext>
            </a:extLst>
          </p:cNvPr>
          <p:cNvSpPr>
            <a:spLocks noGrp="1"/>
          </p:cNvSpPr>
          <p:nvPr>
            <p:ph type="title"/>
          </p:nvPr>
        </p:nvSpPr>
        <p:spPr>
          <a:xfrm>
            <a:off x="838200" y="1"/>
            <a:ext cx="10515600" cy="901494"/>
          </a:xfrm>
        </p:spPr>
        <p:txBody>
          <a:bodyPr/>
          <a:lstStyle/>
          <a:p>
            <a:pPr algn="ctr"/>
            <a:r>
              <a:rPr lang="he-IL" dirty="0"/>
              <a:t>שאלה נוספת- בנושא מכס</a:t>
            </a:r>
            <a:endParaRPr lang="en-IL" dirty="0"/>
          </a:p>
        </p:txBody>
      </p:sp>
      <p:sp>
        <p:nvSpPr>
          <p:cNvPr id="8" name="TextBox 7">
            <a:extLst>
              <a:ext uri="{FF2B5EF4-FFF2-40B4-BE49-F238E27FC236}">
                <a16:creationId xmlns:a16="http://schemas.microsoft.com/office/drawing/2014/main" id="{8FB91C99-6D5D-250E-536C-1903566A3DE8}"/>
              </a:ext>
            </a:extLst>
          </p:cNvPr>
          <p:cNvSpPr txBox="1"/>
          <p:nvPr/>
        </p:nvSpPr>
        <p:spPr>
          <a:xfrm>
            <a:off x="7648970" y="5956506"/>
            <a:ext cx="4297679" cy="785343"/>
          </a:xfrm>
          <a:prstGeom prst="rect">
            <a:avLst/>
          </a:prstGeom>
          <a:noFill/>
        </p:spPr>
        <p:txBody>
          <a:bodyPr wrap="square">
            <a:spAutoFit/>
          </a:bodyPr>
          <a:lstStyle/>
          <a:p>
            <a:pPr algn="r" rtl="1">
              <a:lnSpc>
                <a:spcPct val="150000"/>
              </a:lnSpc>
            </a:pPr>
            <a:r>
              <a:rPr lang="he-IL" sz="1600" dirty="0">
                <a:latin typeface="Times New Roman" panose="02020603050405020304" pitchFamily="18" charset="0"/>
                <a:ea typeface="Times New Roman" panose="02020603050405020304" pitchFamily="18" charset="0"/>
              </a:rPr>
              <a:t>5. ייתכן שבשוק </a:t>
            </a:r>
            <a:r>
              <a:rPr lang="en-US" sz="1600" dirty="0">
                <a:latin typeface="Times New Roman" panose="02020603050405020304" pitchFamily="18" charset="0"/>
                <a:ea typeface="Times New Roman" panose="02020603050405020304" pitchFamily="18" charset="0"/>
              </a:rPr>
              <a:t>X</a:t>
            </a:r>
            <a:r>
              <a:rPr lang="he-IL" sz="1600" dirty="0">
                <a:latin typeface="Times New Roman" panose="02020603050405020304" pitchFamily="18" charset="0"/>
                <a:ea typeface="Times New Roman" panose="02020603050405020304" pitchFamily="18" charset="0"/>
              </a:rPr>
              <a:t> הכמות המיוצרת המקומית תהיה שווה לכמות הנצרכת המקומית</a:t>
            </a:r>
          </a:p>
        </p:txBody>
      </p:sp>
      <p:cxnSp>
        <p:nvCxnSpPr>
          <p:cNvPr id="2" name="Straight Arrow Connector 1">
            <a:extLst>
              <a:ext uri="{FF2B5EF4-FFF2-40B4-BE49-F238E27FC236}">
                <a16:creationId xmlns:a16="http://schemas.microsoft.com/office/drawing/2014/main" id="{32E87E2D-D7C1-B851-7371-F3BE9DBD5D37}"/>
              </a:ext>
            </a:extLst>
          </p:cNvPr>
          <p:cNvCxnSpPr>
            <a:cxnSpLocks/>
          </p:cNvCxnSpPr>
          <p:nvPr/>
        </p:nvCxnSpPr>
        <p:spPr>
          <a:xfrm>
            <a:off x="1379620" y="5258364"/>
            <a:ext cx="3512284" cy="465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479FAC73-F4DC-32D0-0F77-28AA41A0DF79}"/>
              </a:ext>
            </a:extLst>
          </p:cNvPr>
          <p:cNvCxnSpPr>
            <a:cxnSpLocks/>
          </p:cNvCxnSpPr>
          <p:nvPr/>
        </p:nvCxnSpPr>
        <p:spPr>
          <a:xfrm flipV="1">
            <a:off x="1391910" y="1395663"/>
            <a:ext cx="0" cy="3862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81493DCA-B4B0-7981-AFD5-2211A8FA03B1}"/>
              </a:ext>
            </a:extLst>
          </p:cNvPr>
          <p:cNvSpPr/>
          <p:nvPr/>
        </p:nvSpPr>
        <p:spPr>
          <a:xfrm>
            <a:off x="986029" y="1029305"/>
            <a:ext cx="405880" cy="369332"/>
          </a:xfrm>
          <a:prstGeom prst="rect">
            <a:avLst/>
          </a:prstGeom>
        </p:spPr>
        <p:txBody>
          <a:bodyPr wrap="none">
            <a:spAutoFit/>
          </a:bodyPr>
          <a:lstStyle/>
          <a:p>
            <a:r>
              <a:rPr lang="en-US" dirty="0">
                <a:solidFill>
                  <a:prstClr val="black"/>
                </a:solidFill>
              </a:rPr>
              <a:t>Px</a:t>
            </a:r>
            <a:endParaRPr lang="he-IL" dirty="0">
              <a:solidFill>
                <a:prstClr val="black"/>
              </a:solidFill>
            </a:endParaRPr>
          </a:p>
        </p:txBody>
      </p:sp>
      <p:sp>
        <p:nvSpPr>
          <p:cNvPr id="6" name="TextBox 5">
            <a:extLst>
              <a:ext uri="{FF2B5EF4-FFF2-40B4-BE49-F238E27FC236}">
                <a16:creationId xmlns:a16="http://schemas.microsoft.com/office/drawing/2014/main" id="{FDBF6FAB-C235-59FB-2D38-BB519AFCC017}"/>
              </a:ext>
            </a:extLst>
          </p:cNvPr>
          <p:cNvSpPr txBox="1"/>
          <p:nvPr/>
        </p:nvSpPr>
        <p:spPr>
          <a:xfrm>
            <a:off x="4960928" y="5054575"/>
            <a:ext cx="304892" cy="369332"/>
          </a:xfrm>
          <a:prstGeom prst="rect">
            <a:avLst/>
          </a:prstGeom>
          <a:noFill/>
        </p:spPr>
        <p:txBody>
          <a:bodyPr wrap="none" rtlCol="1">
            <a:spAutoFit/>
          </a:bodyPr>
          <a:lstStyle/>
          <a:p>
            <a:r>
              <a:rPr lang="en-US" dirty="0">
                <a:solidFill>
                  <a:prstClr val="black"/>
                </a:solidFill>
              </a:rPr>
              <a:t>X</a:t>
            </a:r>
            <a:endParaRPr lang="he-IL" dirty="0">
              <a:solidFill>
                <a:prstClr val="black"/>
              </a:solidFill>
            </a:endParaRPr>
          </a:p>
        </p:txBody>
      </p:sp>
      <p:cxnSp>
        <p:nvCxnSpPr>
          <p:cNvPr id="9" name="מחבר ישר 13">
            <a:extLst>
              <a:ext uri="{FF2B5EF4-FFF2-40B4-BE49-F238E27FC236}">
                <a16:creationId xmlns:a16="http://schemas.microsoft.com/office/drawing/2014/main" id="{C0FAC8C4-58F8-B776-E466-C2F6A1E90146}"/>
              </a:ext>
            </a:extLst>
          </p:cNvPr>
          <p:cNvCxnSpPr>
            <a:cxnSpLocks/>
          </p:cNvCxnSpPr>
          <p:nvPr/>
        </p:nvCxnSpPr>
        <p:spPr>
          <a:xfrm>
            <a:off x="1391908" y="1781897"/>
            <a:ext cx="2959513" cy="3523029"/>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8F7B981-1C32-3039-BE16-9E2FDE25EF16}"/>
              </a:ext>
            </a:extLst>
          </p:cNvPr>
          <p:cNvSpPr txBox="1"/>
          <p:nvPr/>
        </p:nvSpPr>
        <p:spPr>
          <a:xfrm>
            <a:off x="4215781" y="4830339"/>
            <a:ext cx="405881" cy="369332"/>
          </a:xfrm>
          <a:prstGeom prst="rect">
            <a:avLst/>
          </a:prstGeom>
          <a:noFill/>
        </p:spPr>
        <p:txBody>
          <a:bodyPr wrap="none" rtlCol="1">
            <a:spAutoFit/>
          </a:bodyPr>
          <a:lstStyle/>
          <a:p>
            <a:r>
              <a:rPr lang="en-US" dirty="0">
                <a:solidFill>
                  <a:prstClr val="black"/>
                </a:solidFill>
              </a:rPr>
              <a:t>D</a:t>
            </a:r>
            <a:r>
              <a:rPr lang="en-US" baseline="-25000" dirty="0">
                <a:solidFill>
                  <a:prstClr val="black"/>
                </a:solidFill>
              </a:rPr>
              <a:t>0</a:t>
            </a:r>
            <a:endParaRPr lang="he-IL" baseline="-25000" dirty="0">
              <a:solidFill>
                <a:prstClr val="black"/>
              </a:solidFill>
            </a:endParaRPr>
          </a:p>
        </p:txBody>
      </p:sp>
      <p:cxnSp>
        <p:nvCxnSpPr>
          <p:cNvPr id="11" name="מחבר ישר 15">
            <a:extLst>
              <a:ext uri="{FF2B5EF4-FFF2-40B4-BE49-F238E27FC236}">
                <a16:creationId xmlns:a16="http://schemas.microsoft.com/office/drawing/2014/main" id="{A7932830-E432-4C48-4ADB-15A77299C34A}"/>
              </a:ext>
            </a:extLst>
          </p:cNvPr>
          <p:cNvCxnSpPr>
            <a:cxnSpLocks/>
          </p:cNvCxnSpPr>
          <p:nvPr/>
        </p:nvCxnSpPr>
        <p:spPr>
          <a:xfrm flipV="1">
            <a:off x="1454331" y="2369357"/>
            <a:ext cx="2811888" cy="2751284"/>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ED8747D-BDD6-33DF-E4DA-C43ED78E93E0}"/>
              </a:ext>
            </a:extLst>
          </p:cNvPr>
          <p:cNvSpPr txBox="1"/>
          <p:nvPr/>
        </p:nvSpPr>
        <p:spPr>
          <a:xfrm>
            <a:off x="4383990" y="2608936"/>
            <a:ext cx="369012" cy="369332"/>
          </a:xfrm>
          <a:prstGeom prst="rect">
            <a:avLst/>
          </a:prstGeom>
          <a:noFill/>
        </p:spPr>
        <p:txBody>
          <a:bodyPr wrap="none" rtlCol="1">
            <a:spAutoFit/>
          </a:bodyPr>
          <a:lstStyle/>
          <a:p>
            <a:r>
              <a:rPr lang="en-US" dirty="0">
                <a:solidFill>
                  <a:prstClr val="black"/>
                </a:solidFill>
              </a:rPr>
              <a:t>S</a:t>
            </a:r>
            <a:r>
              <a:rPr lang="en-US" baseline="-25000" dirty="0">
                <a:solidFill>
                  <a:prstClr val="black"/>
                </a:solidFill>
              </a:rPr>
              <a:t>0</a:t>
            </a:r>
            <a:endParaRPr lang="he-IL" baseline="-25000" dirty="0">
              <a:solidFill>
                <a:prstClr val="black"/>
              </a:solidFill>
            </a:endParaRPr>
          </a:p>
        </p:txBody>
      </p:sp>
      <p:cxnSp>
        <p:nvCxnSpPr>
          <p:cNvPr id="13" name="Straight Connector 12">
            <a:extLst>
              <a:ext uri="{FF2B5EF4-FFF2-40B4-BE49-F238E27FC236}">
                <a16:creationId xmlns:a16="http://schemas.microsoft.com/office/drawing/2014/main" id="{54DC75E6-0AFF-6FAC-B270-C7D1050D557C}"/>
              </a:ext>
            </a:extLst>
          </p:cNvPr>
          <p:cNvCxnSpPr/>
          <p:nvPr/>
        </p:nvCxnSpPr>
        <p:spPr>
          <a:xfrm flipV="1">
            <a:off x="1379040" y="4527664"/>
            <a:ext cx="3229752" cy="957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E5917B50-962A-3CF3-BF2C-0EBC3427D409}"/>
              </a:ext>
            </a:extLst>
          </p:cNvPr>
          <p:cNvSpPr/>
          <p:nvPr/>
        </p:nvSpPr>
        <p:spPr>
          <a:xfrm>
            <a:off x="743874" y="4342998"/>
            <a:ext cx="1116380" cy="369332"/>
          </a:xfrm>
          <a:prstGeom prst="rect">
            <a:avLst/>
          </a:prstGeom>
        </p:spPr>
        <p:txBody>
          <a:bodyPr wrap="square">
            <a:spAutoFit/>
          </a:bodyPr>
          <a:lstStyle/>
          <a:p>
            <a:r>
              <a:rPr lang="en-US" dirty="0">
                <a:solidFill>
                  <a:prstClr val="black"/>
                </a:solidFill>
              </a:rPr>
              <a:t>Pw</a:t>
            </a:r>
            <a:r>
              <a:rPr lang="he-IL" dirty="0">
                <a:solidFill>
                  <a:prstClr val="black"/>
                </a:solidFill>
              </a:rPr>
              <a:t>0</a:t>
            </a:r>
          </a:p>
        </p:txBody>
      </p:sp>
      <p:cxnSp>
        <p:nvCxnSpPr>
          <p:cNvPr id="15" name="Straight Connector 14">
            <a:extLst>
              <a:ext uri="{FF2B5EF4-FFF2-40B4-BE49-F238E27FC236}">
                <a16:creationId xmlns:a16="http://schemas.microsoft.com/office/drawing/2014/main" id="{EBD0354F-7C14-DEBB-6413-4FA593F396FA}"/>
              </a:ext>
            </a:extLst>
          </p:cNvPr>
          <p:cNvCxnSpPr>
            <a:cxnSpLocks/>
          </p:cNvCxnSpPr>
          <p:nvPr/>
        </p:nvCxnSpPr>
        <p:spPr>
          <a:xfrm>
            <a:off x="3741821" y="4537236"/>
            <a:ext cx="0" cy="76769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D5FCB5E-B072-6B7A-0806-23FDF503F2C5}"/>
              </a:ext>
            </a:extLst>
          </p:cNvPr>
          <p:cNvCxnSpPr>
            <a:cxnSpLocks/>
          </p:cNvCxnSpPr>
          <p:nvPr/>
        </p:nvCxnSpPr>
        <p:spPr>
          <a:xfrm>
            <a:off x="2086619" y="4537236"/>
            <a:ext cx="1" cy="77269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46843AC9-8631-0BFC-B953-FDD713868772}"/>
              </a:ext>
            </a:extLst>
          </p:cNvPr>
          <p:cNvSpPr/>
          <p:nvPr/>
        </p:nvSpPr>
        <p:spPr>
          <a:xfrm>
            <a:off x="1860254" y="5426715"/>
            <a:ext cx="556563" cy="400110"/>
          </a:xfrm>
          <a:prstGeom prst="rect">
            <a:avLst/>
          </a:prstGeom>
        </p:spPr>
        <p:txBody>
          <a:bodyPr wrap="none">
            <a:spAutoFit/>
          </a:bodyPr>
          <a:lstStyle/>
          <a:p>
            <a:pPr lvl="0" algn="ctr">
              <a:defRPr/>
            </a:pPr>
            <a:r>
              <a:rPr lang="en-US" sz="2000" b="1" dirty="0" err="1">
                <a:solidFill>
                  <a:schemeClr val="tx2"/>
                </a:solidFill>
              </a:rPr>
              <a:t>Xs</a:t>
            </a:r>
            <a:r>
              <a:rPr lang="he-IL" sz="1600" b="1" dirty="0">
                <a:solidFill>
                  <a:schemeClr val="tx2"/>
                </a:solidFill>
              </a:rPr>
              <a:t>0</a:t>
            </a:r>
            <a:endParaRPr lang="en-US" b="1" dirty="0">
              <a:solidFill>
                <a:schemeClr val="tx2"/>
              </a:solidFill>
            </a:endParaRPr>
          </a:p>
        </p:txBody>
      </p:sp>
      <p:sp>
        <p:nvSpPr>
          <p:cNvPr id="18" name="Rectangle 17">
            <a:extLst>
              <a:ext uri="{FF2B5EF4-FFF2-40B4-BE49-F238E27FC236}">
                <a16:creationId xmlns:a16="http://schemas.microsoft.com/office/drawing/2014/main" id="{B75F2962-21E2-76AC-ECF3-606ED64ACD2B}"/>
              </a:ext>
            </a:extLst>
          </p:cNvPr>
          <p:cNvSpPr/>
          <p:nvPr/>
        </p:nvSpPr>
        <p:spPr>
          <a:xfrm>
            <a:off x="3594566" y="5419102"/>
            <a:ext cx="557204" cy="400110"/>
          </a:xfrm>
          <a:prstGeom prst="rect">
            <a:avLst/>
          </a:prstGeom>
        </p:spPr>
        <p:txBody>
          <a:bodyPr wrap="none">
            <a:spAutoFit/>
          </a:bodyPr>
          <a:lstStyle/>
          <a:p>
            <a:pPr lvl="0" algn="ctr">
              <a:defRPr/>
            </a:pPr>
            <a:r>
              <a:rPr lang="en-US" sz="2000" b="1" dirty="0" err="1">
                <a:solidFill>
                  <a:schemeClr val="tx2"/>
                </a:solidFill>
              </a:rPr>
              <a:t>Xd</a:t>
            </a:r>
            <a:r>
              <a:rPr lang="he-IL" sz="1400" b="1" dirty="0"/>
              <a:t>0</a:t>
            </a:r>
            <a:endParaRPr lang="en-US" b="1" dirty="0"/>
          </a:p>
        </p:txBody>
      </p:sp>
      <p:cxnSp>
        <p:nvCxnSpPr>
          <p:cNvPr id="19" name="Straight Arrow Connector 18">
            <a:extLst>
              <a:ext uri="{FF2B5EF4-FFF2-40B4-BE49-F238E27FC236}">
                <a16:creationId xmlns:a16="http://schemas.microsoft.com/office/drawing/2014/main" id="{4E0E8031-D3D2-6073-6FEF-CE310273A892}"/>
              </a:ext>
            </a:extLst>
          </p:cNvPr>
          <p:cNvCxnSpPr>
            <a:cxnSpLocks/>
          </p:cNvCxnSpPr>
          <p:nvPr/>
        </p:nvCxnSpPr>
        <p:spPr>
          <a:xfrm>
            <a:off x="2086619" y="5015005"/>
            <a:ext cx="1655202" cy="0"/>
          </a:xfrm>
          <a:prstGeom prst="straightConnector1">
            <a:avLst/>
          </a:prstGeom>
          <a:ln w="5715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757A77D5-4378-794C-0422-67035528A4E2}"/>
              </a:ext>
            </a:extLst>
          </p:cNvPr>
          <p:cNvSpPr/>
          <p:nvPr/>
        </p:nvSpPr>
        <p:spPr>
          <a:xfrm>
            <a:off x="2340270" y="4616015"/>
            <a:ext cx="1536245" cy="369332"/>
          </a:xfrm>
          <a:prstGeom prst="rect">
            <a:avLst/>
          </a:prstGeom>
        </p:spPr>
        <p:txBody>
          <a:bodyPr wrap="square">
            <a:spAutoFit/>
          </a:bodyPr>
          <a:lstStyle/>
          <a:p>
            <a:r>
              <a:rPr lang="he-IL" dirty="0">
                <a:solidFill>
                  <a:srgbClr val="C00000"/>
                </a:solidFill>
              </a:rPr>
              <a:t>היבוא המקורי</a:t>
            </a:r>
            <a:endParaRPr lang="en-IL" dirty="0">
              <a:solidFill>
                <a:srgbClr val="C00000"/>
              </a:solidFill>
            </a:endParaRPr>
          </a:p>
        </p:txBody>
      </p:sp>
      <p:cxnSp>
        <p:nvCxnSpPr>
          <p:cNvPr id="22" name="Straight Connector 21">
            <a:extLst>
              <a:ext uri="{FF2B5EF4-FFF2-40B4-BE49-F238E27FC236}">
                <a16:creationId xmlns:a16="http://schemas.microsoft.com/office/drawing/2014/main" id="{00E4DB10-B659-FFE2-D8EA-55814DE558B8}"/>
              </a:ext>
            </a:extLst>
          </p:cNvPr>
          <p:cNvCxnSpPr/>
          <p:nvPr/>
        </p:nvCxnSpPr>
        <p:spPr>
          <a:xfrm>
            <a:off x="5657610" y="2598284"/>
            <a:ext cx="10160" cy="1889760"/>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9627944-FCCB-41C2-E25B-FF720A1C1621}"/>
              </a:ext>
            </a:extLst>
          </p:cNvPr>
          <p:cNvCxnSpPr>
            <a:cxnSpLocks/>
            <a:stCxn id="26" idx="2"/>
          </p:cNvCxnSpPr>
          <p:nvPr/>
        </p:nvCxnSpPr>
        <p:spPr>
          <a:xfrm>
            <a:off x="5896370" y="2695082"/>
            <a:ext cx="1600200" cy="163040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AC51F28-5892-566A-897F-A8B34B1D3880}"/>
              </a:ext>
            </a:extLst>
          </p:cNvPr>
          <p:cNvCxnSpPr/>
          <p:nvPr/>
        </p:nvCxnSpPr>
        <p:spPr>
          <a:xfrm flipH="1">
            <a:off x="5677930" y="4488044"/>
            <a:ext cx="1971040" cy="0"/>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0B400F7-B73C-4887-6EE3-54E0A030021C}"/>
              </a:ext>
            </a:extLst>
          </p:cNvPr>
          <p:cNvCxnSpPr/>
          <p:nvPr/>
        </p:nvCxnSpPr>
        <p:spPr>
          <a:xfrm flipH="1">
            <a:off x="5850650" y="2598284"/>
            <a:ext cx="1727200" cy="16560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D7D6ABD8-802F-1C7E-6378-CE9980614E24}"/>
              </a:ext>
            </a:extLst>
          </p:cNvPr>
          <p:cNvSpPr txBox="1"/>
          <p:nvPr/>
        </p:nvSpPr>
        <p:spPr>
          <a:xfrm>
            <a:off x="5556010" y="2325750"/>
            <a:ext cx="680720" cy="369332"/>
          </a:xfrm>
          <a:prstGeom prst="rect">
            <a:avLst/>
          </a:prstGeom>
          <a:noFill/>
        </p:spPr>
        <p:txBody>
          <a:bodyPr wrap="square" rtlCol="0">
            <a:spAutoFit/>
          </a:bodyPr>
          <a:lstStyle/>
          <a:p>
            <a:r>
              <a:rPr lang="en-US" dirty="0"/>
              <a:t>D0</a:t>
            </a:r>
          </a:p>
        </p:txBody>
      </p:sp>
      <p:sp>
        <p:nvSpPr>
          <p:cNvPr id="27" name="TextBox 26">
            <a:extLst>
              <a:ext uri="{FF2B5EF4-FFF2-40B4-BE49-F238E27FC236}">
                <a16:creationId xmlns:a16="http://schemas.microsoft.com/office/drawing/2014/main" id="{F39AD74F-D98F-6682-4ABC-14966915AAA2}"/>
              </a:ext>
            </a:extLst>
          </p:cNvPr>
          <p:cNvSpPr txBox="1"/>
          <p:nvPr/>
        </p:nvSpPr>
        <p:spPr>
          <a:xfrm>
            <a:off x="7262890" y="2335910"/>
            <a:ext cx="680720" cy="369332"/>
          </a:xfrm>
          <a:prstGeom prst="rect">
            <a:avLst/>
          </a:prstGeom>
          <a:noFill/>
        </p:spPr>
        <p:txBody>
          <a:bodyPr wrap="square" rtlCol="0">
            <a:spAutoFit/>
          </a:bodyPr>
          <a:lstStyle/>
          <a:p>
            <a:r>
              <a:rPr lang="en-US" dirty="0"/>
              <a:t>S0</a:t>
            </a:r>
          </a:p>
        </p:txBody>
      </p:sp>
      <p:cxnSp>
        <p:nvCxnSpPr>
          <p:cNvPr id="28" name="Straight Connector 27">
            <a:extLst>
              <a:ext uri="{FF2B5EF4-FFF2-40B4-BE49-F238E27FC236}">
                <a16:creationId xmlns:a16="http://schemas.microsoft.com/office/drawing/2014/main" id="{1B8E6097-0FEA-D7E9-C806-F81D549A9F79}"/>
              </a:ext>
            </a:extLst>
          </p:cNvPr>
          <p:cNvCxnSpPr/>
          <p:nvPr/>
        </p:nvCxnSpPr>
        <p:spPr>
          <a:xfrm>
            <a:off x="6673610" y="3461884"/>
            <a:ext cx="20320" cy="102616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AA6DE09-BE1E-16B4-9DA3-0B2BBFED61E8}"/>
              </a:ext>
            </a:extLst>
          </p:cNvPr>
          <p:cNvCxnSpPr/>
          <p:nvPr/>
        </p:nvCxnSpPr>
        <p:spPr>
          <a:xfrm flipH="1">
            <a:off x="5667770" y="3426324"/>
            <a:ext cx="995680"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9A01CE92-22D2-DCD0-F5E6-13CC16ACAFB1}"/>
              </a:ext>
            </a:extLst>
          </p:cNvPr>
          <p:cNvSpPr txBox="1"/>
          <p:nvPr/>
        </p:nvSpPr>
        <p:spPr>
          <a:xfrm>
            <a:off x="4941330" y="3241658"/>
            <a:ext cx="680720" cy="369332"/>
          </a:xfrm>
          <a:prstGeom prst="rect">
            <a:avLst/>
          </a:prstGeom>
          <a:noFill/>
        </p:spPr>
        <p:txBody>
          <a:bodyPr wrap="square" rtlCol="0">
            <a:spAutoFit/>
          </a:bodyPr>
          <a:lstStyle/>
          <a:p>
            <a:r>
              <a:rPr lang="en-US" dirty="0"/>
              <a:t>Py0</a:t>
            </a:r>
          </a:p>
        </p:txBody>
      </p:sp>
      <p:sp>
        <p:nvSpPr>
          <p:cNvPr id="31" name="TextBox 30">
            <a:extLst>
              <a:ext uri="{FF2B5EF4-FFF2-40B4-BE49-F238E27FC236}">
                <a16:creationId xmlns:a16="http://schemas.microsoft.com/office/drawing/2014/main" id="{8CCF1E6F-FBED-8D75-DFC1-0CCDA276FFF7}"/>
              </a:ext>
            </a:extLst>
          </p:cNvPr>
          <p:cNvSpPr txBox="1"/>
          <p:nvPr/>
        </p:nvSpPr>
        <p:spPr>
          <a:xfrm>
            <a:off x="6485650" y="4586628"/>
            <a:ext cx="680720" cy="369332"/>
          </a:xfrm>
          <a:prstGeom prst="rect">
            <a:avLst/>
          </a:prstGeom>
          <a:noFill/>
        </p:spPr>
        <p:txBody>
          <a:bodyPr wrap="square" rtlCol="0">
            <a:spAutoFit/>
          </a:bodyPr>
          <a:lstStyle/>
          <a:p>
            <a:r>
              <a:rPr lang="en-US" dirty="0"/>
              <a:t>Y0</a:t>
            </a:r>
          </a:p>
        </p:txBody>
      </p:sp>
      <p:sp>
        <p:nvSpPr>
          <p:cNvPr id="33" name="TextBox 32">
            <a:extLst>
              <a:ext uri="{FF2B5EF4-FFF2-40B4-BE49-F238E27FC236}">
                <a16:creationId xmlns:a16="http://schemas.microsoft.com/office/drawing/2014/main" id="{BB6427B5-7005-D22D-EE8E-55401143C678}"/>
              </a:ext>
            </a:extLst>
          </p:cNvPr>
          <p:cNvSpPr txBox="1"/>
          <p:nvPr/>
        </p:nvSpPr>
        <p:spPr>
          <a:xfrm>
            <a:off x="8990090" y="2525753"/>
            <a:ext cx="3119381" cy="1021883"/>
          </a:xfrm>
          <a:prstGeom prst="rect">
            <a:avLst/>
          </a:prstGeom>
          <a:noFill/>
        </p:spPr>
        <p:txBody>
          <a:bodyPr wrap="square">
            <a:spAutoFit/>
          </a:bodyPr>
          <a:lstStyle/>
          <a:p>
            <a:pPr marL="342900" indent="-342900" algn="r" rtl="1">
              <a:lnSpc>
                <a:spcPct val="150000"/>
              </a:lnSpc>
              <a:buFont typeface="+mj-lt"/>
              <a:buAutoNum type="arabicPeriod"/>
            </a:pPr>
            <a:r>
              <a:rPr lang="he-IL" sz="1400" dirty="0">
                <a:latin typeface="Times New Roman" panose="02020603050405020304" pitchFamily="18" charset="0"/>
                <a:ea typeface="Times New Roman" panose="02020603050405020304" pitchFamily="18" charset="0"/>
              </a:rPr>
              <a:t>הכמות המיוצרת ממוצר </a:t>
            </a:r>
            <a:r>
              <a:rPr lang="en-US" sz="1400" dirty="0">
                <a:latin typeface="Times New Roman" panose="02020603050405020304" pitchFamily="18" charset="0"/>
                <a:ea typeface="Times New Roman" panose="02020603050405020304" pitchFamily="18" charset="0"/>
              </a:rPr>
              <a:t>Y</a:t>
            </a:r>
            <a:r>
              <a:rPr lang="he-IL" sz="1400" dirty="0">
                <a:latin typeface="Times New Roman" panose="02020603050405020304" pitchFamily="18" charset="0"/>
                <a:ea typeface="Times New Roman" panose="02020603050405020304" pitchFamily="18" charset="0"/>
              </a:rPr>
              <a:t> גדלה, ייתכן שהכמות המיוצרת ממוצר </a:t>
            </a:r>
            <a:r>
              <a:rPr lang="en-US" sz="1400" dirty="0">
                <a:latin typeface="Times New Roman" panose="02020603050405020304" pitchFamily="18" charset="0"/>
                <a:ea typeface="Times New Roman" panose="02020603050405020304" pitchFamily="18" charset="0"/>
              </a:rPr>
              <a:t>X</a:t>
            </a:r>
            <a:r>
              <a:rPr lang="he-IL" sz="1400" dirty="0">
                <a:latin typeface="Times New Roman" panose="02020603050405020304" pitchFamily="18" charset="0"/>
                <a:ea typeface="Times New Roman" panose="02020603050405020304" pitchFamily="18" charset="0"/>
              </a:rPr>
              <a:t> לא תשתנה</a:t>
            </a:r>
          </a:p>
        </p:txBody>
      </p:sp>
      <p:sp>
        <p:nvSpPr>
          <p:cNvPr id="35" name="TextBox 34">
            <a:extLst>
              <a:ext uri="{FF2B5EF4-FFF2-40B4-BE49-F238E27FC236}">
                <a16:creationId xmlns:a16="http://schemas.microsoft.com/office/drawing/2014/main" id="{199C1268-6D11-F472-7C9E-647702D292A2}"/>
              </a:ext>
            </a:extLst>
          </p:cNvPr>
          <p:cNvSpPr txBox="1"/>
          <p:nvPr/>
        </p:nvSpPr>
        <p:spPr>
          <a:xfrm>
            <a:off x="8379750" y="3535677"/>
            <a:ext cx="3627120" cy="878574"/>
          </a:xfrm>
          <a:prstGeom prst="rect">
            <a:avLst/>
          </a:prstGeom>
          <a:noFill/>
        </p:spPr>
        <p:txBody>
          <a:bodyPr wrap="square">
            <a:spAutoFit/>
          </a:bodyPr>
          <a:lstStyle/>
          <a:p>
            <a:pPr algn="r" rtl="1">
              <a:lnSpc>
                <a:spcPct val="150000"/>
              </a:lnSpc>
            </a:pPr>
            <a:r>
              <a:rPr lang="he-IL" sz="1600" dirty="0">
                <a:latin typeface="Times New Roman" panose="02020603050405020304" pitchFamily="18" charset="0"/>
                <a:ea typeface="Times New Roman" panose="02020603050405020304" pitchFamily="18" charset="0"/>
              </a:rPr>
              <a:t>2</a:t>
            </a:r>
            <a:r>
              <a:rPr lang="he-IL" sz="1800" dirty="0">
                <a:latin typeface="Times New Roman" panose="02020603050405020304" pitchFamily="18" charset="0"/>
                <a:ea typeface="Times New Roman" panose="02020603050405020304" pitchFamily="18" charset="0"/>
              </a:rPr>
              <a:t>. ייתכן שעתה כל הכמות הנרכשת על ידי הצרכנים המקומיים תהיה מיובאת. </a:t>
            </a:r>
            <a:endParaRPr lang="en-IL" sz="1800" dirty="0"/>
          </a:p>
        </p:txBody>
      </p:sp>
      <p:sp>
        <p:nvSpPr>
          <p:cNvPr id="37" name="TextBox 36">
            <a:extLst>
              <a:ext uri="{FF2B5EF4-FFF2-40B4-BE49-F238E27FC236}">
                <a16:creationId xmlns:a16="http://schemas.microsoft.com/office/drawing/2014/main" id="{DCDBD3A7-5F97-892B-21AF-5C9BA88C473B}"/>
              </a:ext>
            </a:extLst>
          </p:cNvPr>
          <p:cNvSpPr txBox="1"/>
          <p:nvPr/>
        </p:nvSpPr>
        <p:spPr>
          <a:xfrm>
            <a:off x="8602315" y="4669593"/>
            <a:ext cx="3404555" cy="416011"/>
          </a:xfrm>
          <a:prstGeom prst="rect">
            <a:avLst/>
          </a:prstGeom>
          <a:noFill/>
        </p:spPr>
        <p:txBody>
          <a:bodyPr wrap="square">
            <a:spAutoFit/>
          </a:bodyPr>
          <a:lstStyle/>
          <a:p>
            <a:pPr algn="r" rtl="1">
              <a:lnSpc>
                <a:spcPct val="150000"/>
              </a:lnSpc>
            </a:pPr>
            <a:r>
              <a:rPr lang="he-IL" sz="1600" dirty="0">
                <a:latin typeface="Times New Roman" panose="02020603050405020304" pitchFamily="18" charset="0"/>
                <a:ea typeface="Times New Roman" panose="02020603050405020304" pitchFamily="18" charset="0"/>
              </a:rPr>
              <a:t>3. כל התשובות האחרות לא נכונות.</a:t>
            </a:r>
          </a:p>
        </p:txBody>
      </p:sp>
      <p:sp>
        <p:nvSpPr>
          <p:cNvPr id="39" name="TextBox 38">
            <a:extLst>
              <a:ext uri="{FF2B5EF4-FFF2-40B4-BE49-F238E27FC236}">
                <a16:creationId xmlns:a16="http://schemas.microsoft.com/office/drawing/2014/main" id="{AD85C75B-A3CF-6487-DE93-9F0161939AC9}"/>
              </a:ext>
            </a:extLst>
          </p:cNvPr>
          <p:cNvSpPr txBox="1"/>
          <p:nvPr/>
        </p:nvSpPr>
        <p:spPr>
          <a:xfrm>
            <a:off x="9091922" y="5379665"/>
            <a:ext cx="2914948" cy="417165"/>
          </a:xfrm>
          <a:prstGeom prst="rect">
            <a:avLst/>
          </a:prstGeom>
          <a:noFill/>
        </p:spPr>
        <p:txBody>
          <a:bodyPr wrap="square">
            <a:spAutoFit/>
          </a:bodyPr>
          <a:lstStyle/>
          <a:p>
            <a:pPr algn="r" rtl="1">
              <a:lnSpc>
                <a:spcPct val="150000"/>
              </a:lnSpc>
            </a:pPr>
            <a:r>
              <a:rPr lang="he-IL" sz="1600" dirty="0">
                <a:latin typeface="Times New Roman" panose="02020603050405020304" pitchFamily="18" charset="0"/>
                <a:ea typeface="Times New Roman" panose="02020603050405020304" pitchFamily="18" charset="0"/>
              </a:rPr>
              <a:t>4. ייתכן שהייבוא ממוצר </a:t>
            </a:r>
            <a:r>
              <a:rPr lang="en-US" sz="1600" dirty="0">
                <a:latin typeface="Times New Roman" panose="02020603050405020304" pitchFamily="18" charset="0"/>
                <a:ea typeface="Times New Roman" panose="02020603050405020304" pitchFamily="18" charset="0"/>
              </a:rPr>
              <a:t>X</a:t>
            </a:r>
            <a:r>
              <a:rPr lang="he-IL" sz="1600" dirty="0">
                <a:latin typeface="Times New Roman" panose="02020603050405020304" pitchFamily="18" charset="0"/>
                <a:ea typeface="Times New Roman" panose="02020603050405020304" pitchFamily="18" charset="0"/>
              </a:rPr>
              <a:t> גדל</a:t>
            </a:r>
          </a:p>
        </p:txBody>
      </p:sp>
      <p:cxnSp>
        <p:nvCxnSpPr>
          <p:cNvPr id="40" name="Straight Connector 39">
            <a:extLst>
              <a:ext uri="{FF2B5EF4-FFF2-40B4-BE49-F238E27FC236}">
                <a16:creationId xmlns:a16="http://schemas.microsoft.com/office/drawing/2014/main" id="{B3F24398-79CE-979B-B0E3-6AC68BE3F5E9}"/>
              </a:ext>
            </a:extLst>
          </p:cNvPr>
          <p:cNvCxnSpPr/>
          <p:nvPr/>
        </p:nvCxnSpPr>
        <p:spPr>
          <a:xfrm flipV="1">
            <a:off x="1379040" y="4137619"/>
            <a:ext cx="3229752" cy="957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782C89AB-9D93-2519-C715-A8FD240C430B}"/>
              </a:ext>
            </a:extLst>
          </p:cNvPr>
          <p:cNvSpPr/>
          <p:nvPr/>
        </p:nvSpPr>
        <p:spPr>
          <a:xfrm>
            <a:off x="458957" y="3942433"/>
            <a:ext cx="1116380" cy="461665"/>
          </a:xfrm>
          <a:prstGeom prst="rect">
            <a:avLst/>
          </a:prstGeom>
        </p:spPr>
        <p:txBody>
          <a:bodyPr wrap="square">
            <a:spAutoFit/>
          </a:bodyPr>
          <a:lstStyle/>
          <a:p>
            <a:r>
              <a:rPr lang="en-US" dirty="0">
                <a:solidFill>
                  <a:prstClr val="black"/>
                </a:solidFill>
              </a:rPr>
              <a:t>Pw</a:t>
            </a:r>
            <a:r>
              <a:rPr lang="he-IL" dirty="0">
                <a:solidFill>
                  <a:prstClr val="black"/>
                </a:solidFill>
              </a:rPr>
              <a:t>0</a:t>
            </a:r>
            <a:r>
              <a:rPr lang="en-US" dirty="0">
                <a:solidFill>
                  <a:prstClr val="black"/>
                </a:solidFill>
              </a:rPr>
              <a:t>+</a:t>
            </a:r>
            <a:r>
              <a:rPr lang="en-US" sz="2400" dirty="0">
                <a:solidFill>
                  <a:srgbClr val="C00000"/>
                </a:solidFill>
              </a:rPr>
              <a:t>t1</a:t>
            </a:r>
            <a:endParaRPr lang="he-IL" dirty="0">
              <a:solidFill>
                <a:srgbClr val="C00000"/>
              </a:solidFill>
            </a:endParaRPr>
          </a:p>
        </p:txBody>
      </p:sp>
      <p:cxnSp>
        <p:nvCxnSpPr>
          <p:cNvPr id="42" name="Straight Connector 41">
            <a:extLst>
              <a:ext uri="{FF2B5EF4-FFF2-40B4-BE49-F238E27FC236}">
                <a16:creationId xmlns:a16="http://schemas.microsoft.com/office/drawing/2014/main" id="{F76148AA-B43F-C304-FDF1-8AD465AFE2A2}"/>
              </a:ext>
            </a:extLst>
          </p:cNvPr>
          <p:cNvCxnSpPr/>
          <p:nvPr/>
        </p:nvCxnSpPr>
        <p:spPr>
          <a:xfrm flipV="1">
            <a:off x="1410900" y="3646498"/>
            <a:ext cx="3229752" cy="9572"/>
          </a:xfrm>
          <a:prstGeom prst="line">
            <a:avLst/>
          </a:prstGeom>
          <a:ln w="38100">
            <a:solidFill>
              <a:srgbClr val="FF00FF"/>
            </a:solidFill>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32FA7B8E-D123-C925-05C8-6541A1D57047}"/>
              </a:ext>
            </a:extLst>
          </p:cNvPr>
          <p:cNvSpPr/>
          <p:nvPr/>
        </p:nvSpPr>
        <p:spPr>
          <a:xfrm>
            <a:off x="467958" y="3448265"/>
            <a:ext cx="1116380" cy="461665"/>
          </a:xfrm>
          <a:prstGeom prst="rect">
            <a:avLst/>
          </a:prstGeom>
        </p:spPr>
        <p:txBody>
          <a:bodyPr wrap="square">
            <a:spAutoFit/>
          </a:bodyPr>
          <a:lstStyle/>
          <a:p>
            <a:r>
              <a:rPr lang="en-US" dirty="0">
                <a:solidFill>
                  <a:prstClr val="black"/>
                </a:solidFill>
              </a:rPr>
              <a:t>Pw</a:t>
            </a:r>
            <a:r>
              <a:rPr lang="he-IL" dirty="0">
                <a:solidFill>
                  <a:prstClr val="black"/>
                </a:solidFill>
              </a:rPr>
              <a:t>0</a:t>
            </a:r>
            <a:r>
              <a:rPr lang="en-US" dirty="0">
                <a:solidFill>
                  <a:prstClr val="black"/>
                </a:solidFill>
              </a:rPr>
              <a:t>+</a:t>
            </a:r>
            <a:r>
              <a:rPr lang="en-US" sz="2400" dirty="0">
                <a:solidFill>
                  <a:srgbClr val="C00000"/>
                </a:solidFill>
              </a:rPr>
              <a:t>t2</a:t>
            </a:r>
            <a:endParaRPr lang="he-IL" dirty="0">
              <a:solidFill>
                <a:srgbClr val="C00000"/>
              </a:solidFill>
            </a:endParaRPr>
          </a:p>
        </p:txBody>
      </p:sp>
      <p:cxnSp>
        <p:nvCxnSpPr>
          <p:cNvPr id="45" name="Straight Connector 44">
            <a:extLst>
              <a:ext uri="{FF2B5EF4-FFF2-40B4-BE49-F238E27FC236}">
                <a16:creationId xmlns:a16="http://schemas.microsoft.com/office/drawing/2014/main" id="{B949BD6E-8597-36EE-918C-05E2C90F8D9B}"/>
              </a:ext>
            </a:extLst>
          </p:cNvPr>
          <p:cNvCxnSpPr/>
          <p:nvPr/>
        </p:nvCxnSpPr>
        <p:spPr>
          <a:xfrm>
            <a:off x="6480570" y="2703910"/>
            <a:ext cx="1371600" cy="1467842"/>
          </a:xfrm>
          <a:prstGeom prst="line">
            <a:avLst/>
          </a:prstGeom>
          <a:ln w="381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ABFB90B0-028B-4E4D-0857-D1AA7F100ECA}"/>
              </a:ext>
            </a:extLst>
          </p:cNvPr>
          <p:cNvSpPr txBox="1"/>
          <p:nvPr/>
        </p:nvSpPr>
        <p:spPr>
          <a:xfrm>
            <a:off x="6213575" y="2389597"/>
            <a:ext cx="680720" cy="369332"/>
          </a:xfrm>
          <a:prstGeom prst="rect">
            <a:avLst/>
          </a:prstGeom>
          <a:noFill/>
          <a:ln w="38100">
            <a:noFill/>
          </a:ln>
        </p:spPr>
        <p:txBody>
          <a:bodyPr wrap="square" rtlCol="0">
            <a:spAutoFit/>
          </a:bodyPr>
          <a:lstStyle/>
          <a:p>
            <a:r>
              <a:rPr lang="en-US" dirty="0">
                <a:solidFill>
                  <a:srgbClr val="C00000"/>
                </a:solidFill>
              </a:rPr>
              <a:t>D1</a:t>
            </a:r>
          </a:p>
        </p:txBody>
      </p:sp>
      <p:sp>
        <p:nvSpPr>
          <p:cNvPr id="47" name="Oval 46">
            <a:extLst>
              <a:ext uri="{FF2B5EF4-FFF2-40B4-BE49-F238E27FC236}">
                <a16:creationId xmlns:a16="http://schemas.microsoft.com/office/drawing/2014/main" id="{EF2F4BF0-EF47-6685-0DC2-349B9803F1BD}"/>
              </a:ext>
            </a:extLst>
          </p:cNvPr>
          <p:cNvSpPr/>
          <p:nvPr/>
        </p:nvSpPr>
        <p:spPr>
          <a:xfrm>
            <a:off x="6526658" y="3327013"/>
            <a:ext cx="319672" cy="283977"/>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a:t>
            </a:r>
            <a:endParaRPr lang="en-IL" dirty="0"/>
          </a:p>
        </p:txBody>
      </p:sp>
      <p:sp>
        <p:nvSpPr>
          <p:cNvPr id="48" name="Oval 47">
            <a:extLst>
              <a:ext uri="{FF2B5EF4-FFF2-40B4-BE49-F238E27FC236}">
                <a16:creationId xmlns:a16="http://schemas.microsoft.com/office/drawing/2014/main" id="{DAA3E8CF-B542-B56A-D509-95619982747E}"/>
              </a:ext>
            </a:extLst>
          </p:cNvPr>
          <p:cNvSpPr/>
          <p:nvPr/>
        </p:nvSpPr>
        <p:spPr>
          <a:xfrm>
            <a:off x="6798324" y="3124316"/>
            <a:ext cx="319672" cy="28397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B</a:t>
            </a:r>
            <a:endParaRPr lang="en-IL" dirty="0"/>
          </a:p>
        </p:txBody>
      </p:sp>
      <p:sp>
        <p:nvSpPr>
          <p:cNvPr id="21" name="Rectangle 20">
            <a:extLst>
              <a:ext uri="{FF2B5EF4-FFF2-40B4-BE49-F238E27FC236}">
                <a16:creationId xmlns:a16="http://schemas.microsoft.com/office/drawing/2014/main" id="{F8292EFA-5644-2186-A290-5CC4B323D65A}"/>
              </a:ext>
            </a:extLst>
          </p:cNvPr>
          <p:cNvSpPr/>
          <p:nvPr/>
        </p:nvSpPr>
        <p:spPr>
          <a:xfrm>
            <a:off x="7117996" y="5956505"/>
            <a:ext cx="4875765" cy="84239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2" name="Oval 31">
            <a:extLst>
              <a:ext uri="{FF2B5EF4-FFF2-40B4-BE49-F238E27FC236}">
                <a16:creationId xmlns:a16="http://schemas.microsoft.com/office/drawing/2014/main" id="{50AB4BE9-38FD-A0B5-B040-403BF37E6E9A}"/>
              </a:ext>
            </a:extLst>
          </p:cNvPr>
          <p:cNvSpPr/>
          <p:nvPr/>
        </p:nvSpPr>
        <p:spPr>
          <a:xfrm>
            <a:off x="3593782" y="4378196"/>
            <a:ext cx="319672" cy="283977"/>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a:t>
            </a:r>
            <a:endParaRPr lang="en-IL" dirty="0"/>
          </a:p>
        </p:txBody>
      </p:sp>
      <p:sp>
        <p:nvSpPr>
          <p:cNvPr id="36" name="TextBox 35">
            <a:extLst>
              <a:ext uri="{FF2B5EF4-FFF2-40B4-BE49-F238E27FC236}">
                <a16:creationId xmlns:a16="http://schemas.microsoft.com/office/drawing/2014/main" id="{6A9AF371-A3A7-4DD7-86CF-EE9D3FD1F853}"/>
              </a:ext>
            </a:extLst>
          </p:cNvPr>
          <p:cNvSpPr txBox="1"/>
          <p:nvPr/>
        </p:nvSpPr>
        <p:spPr>
          <a:xfrm>
            <a:off x="2203389" y="6076604"/>
            <a:ext cx="3695756" cy="646331"/>
          </a:xfrm>
          <a:prstGeom prst="rect">
            <a:avLst/>
          </a:prstGeom>
          <a:solidFill>
            <a:schemeClr val="bg1">
              <a:lumMod val="95000"/>
            </a:schemeClr>
          </a:solidFill>
        </p:spPr>
        <p:txBody>
          <a:bodyPr wrap="square" rtlCol="0">
            <a:spAutoFit/>
          </a:bodyPr>
          <a:lstStyle/>
          <a:p>
            <a:pPr algn="ctr" rtl="1"/>
            <a:r>
              <a:rPr lang="he-IL" dirty="0"/>
              <a:t>בעקבות הטלת מכס הייבוא יקטן וייתכן אף שלא יהיה ייבוא</a:t>
            </a:r>
            <a:endParaRPr lang="en-IL" dirty="0"/>
          </a:p>
        </p:txBody>
      </p:sp>
    </p:spTree>
    <p:extLst>
      <p:ext uri="{BB962C8B-B14F-4D97-AF65-F5344CB8AC3E}">
        <p14:creationId xmlns:p14="http://schemas.microsoft.com/office/powerpoint/2010/main" val="2935462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arn(inVertical)">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wipe(down)">
                                      <p:cBhvr>
                                        <p:cTn id="12" dur="580">
                                          <p:stCondLst>
                                            <p:cond delay="0"/>
                                          </p:stCondLst>
                                        </p:cTn>
                                        <p:tgtEl>
                                          <p:spTgt spid="36"/>
                                        </p:tgtEl>
                                      </p:cBhvr>
                                    </p:animEffect>
                                    <p:anim calcmode="lin" valueType="num">
                                      <p:cBhvr>
                                        <p:cTn id="13" dur="1822" tmFilter="0,0; 0.14,0.36; 0.43,0.73; 0.71,0.91; 1.0,1.0">
                                          <p:stCondLst>
                                            <p:cond delay="0"/>
                                          </p:stCondLst>
                                        </p:cTn>
                                        <p:tgtEl>
                                          <p:spTgt spid="36"/>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36"/>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36"/>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36"/>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36"/>
                                        </p:tgtEl>
                                        <p:attrNameLst>
                                          <p:attrName>ppt_y</p:attrName>
                                        </p:attrNameLst>
                                      </p:cBhvr>
                                      <p:tavLst>
                                        <p:tav tm="0" fmla="#ppt_y-sin(pi*$)/81">
                                          <p:val>
                                            <p:fltVal val="0"/>
                                          </p:val>
                                        </p:tav>
                                        <p:tav tm="100000">
                                          <p:val>
                                            <p:fltVal val="1"/>
                                          </p:val>
                                        </p:tav>
                                      </p:tavLst>
                                    </p:anim>
                                    <p:animScale>
                                      <p:cBhvr>
                                        <p:cTn id="18" dur="26">
                                          <p:stCondLst>
                                            <p:cond delay="650"/>
                                          </p:stCondLst>
                                        </p:cTn>
                                        <p:tgtEl>
                                          <p:spTgt spid="36"/>
                                        </p:tgtEl>
                                      </p:cBhvr>
                                      <p:to x="100000" y="60000"/>
                                    </p:animScale>
                                    <p:animScale>
                                      <p:cBhvr>
                                        <p:cTn id="19" dur="166" decel="50000">
                                          <p:stCondLst>
                                            <p:cond delay="676"/>
                                          </p:stCondLst>
                                        </p:cTn>
                                        <p:tgtEl>
                                          <p:spTgt spid="36"/>
                                        </p:tgtEl>
                                      </p:cBhvr>
                                      <p:to x="100000" y="100000"/>
                                    </p:animScale>
                                    <p:animScale>
                                      <p:cBhvr>
                                        <p:cTn id="20" dur="26">
                                          <p:stCondLst>
                                            <p:cond delay="1312"/>
                                          </p:stCondLst>
                                        </p:cTn>
                                        <p:tgtEl>
                                          <p:spTgt spid="36"/>
                                        </p:tgtEl>
                                      </p:cBhvr>
                                      <p:to x="100000" y="80000"/>
                                    </p:animScale>
                                    <p:animScale>
                                      <p:cBhvr>
                                        <p:cTn id="21" dur="166" decel="50000">
                                          <p:stCondLst>
                                            <p:cond delay="1338"/>
                                          </p:stCondLst>
                                        </p:cTn>
                                        <p:tgtEl>
                                          <p:spTgt spid="36"/>
                                        </p:tgtEl>
                                      </p:cBhvr>
                                      <p:to x="100000" y="100000"/>
                                    </p:animScale>
                                    <p:animScale>
                                      <p:cBhvr>
                                        <p:cTn id="22" dur="26">
                                          <p:stCondLst>
                                            <p:cond delay="1642"/>
                                          </p:stCondLst>
                                        </p:cTn>
                                        <p:tgtEl>
                                          <p:spTgt spid="36"/>
                                        </p:tgtEl>
                                      </p:cBhvr>
                                      <p:to x="100000" y="90000"/>
                                    </p:animScale>
                                    <p:animScale>
                                      <p:cBhvr>
                                        <p:cTn id="23" dur="166" decel="50000">
                                          <p:stCondLst>
                                            <p:cond delay="1668"/>
                                          </p:stCondLst>
                                        </p:cTn>
                                        <p:tgtEl>
                                          <p:spTgt spid="36"/>
                                        </p:tgtEl>
                                      </p:cBhvr>
                                      <p:to x="100000" y="100000"/>
                                    </p:animScale>
                                    <p:animScale>
                                      <p:cBhvr>
                                        <p:cTn id="24" dur="26">
                                          <p:stCondLst>
                                            <p:cond delay="1808"/>
                                          </p:stCondLst>
                                        </p:cTn>
                                        <p:tgtEl>
                                          <p:spTgt spid="36"/>
                                        </p:tgtEl>
                                      </p:cBhvr>
                                      <p:to x="100000" y="95000"/>
                                    </p:animScale>
                                    <p:animScale>
                                      <p:cBhvr>
                                        <p:cTn id="25" dur="166" decel="50000">
                                          <p:stCondLst>
                                            <p:cond delay="1834"/>
                                          </p:stCondLst>
                                        </p:cTn>
                                        <p:tgtEl>
                                          <p:spTgt spid="3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36"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494EE-F673-5036-0509-D799863495BC}"/>
              </a:ext>
            </a:extLst>
          </p:cNvPr>
          <p:cNvSpPr>
            <a:spLocks noGrp="1"/>
          </p:cNvSpPr>
          <p:nvPr>
            <p:ph type="title"/>
          </p:nvPr>
        </p:nvSpPr>
        <p:spPr>
          <a:xfrm>
            <a:off x="8308427" y="414282"/>
            <a:ext cx="3660228" cy="533509"/>
          </a:xfrm>
        </p:spPr>
        <p:txBody>
          <a:bodyPr>
            <a:normAutofit fontScale="90000"/>
          </a:bodyPr>
          <a:lstStyle/>
          <a:p>
            <a:pPr algn="r" rtl="1"/>
            <a:r>
              <a:rPr lang="he-IL" dirty="0"/>
              <a:t>שאלה נוספת2</a:t>
            </a:r>
            <a:endParaRPr lang="en-IL" dirty="0"/>
          </a:p>
        </p:txBody>
      </p:sp>
      <p:sp>
        <p:nvSpPr>
          <p:cNvPr id="3" name="Content Placeholder 2">
            <a:extLst>
              <a:ext uri="{FF2B5EF4-FFF2-40B4-BE49-F238E27FC236}">
                <a16:creationId xmlns:a16="http://schemas.microsoft.com/office/drawing/2014/main" id="{411A47A3-6F71-89A9-0418-E7097145D628}"/>
              </a:ext>
            </a:extLst>
          </p:cNvPr>
          <p:cNvSpPr>
            <a:spLocks noGrp="1"/>
          </p:cNvSpPr>
          <p:nvPr>
            <p:ph idx="1"/>
          </p:nvPr>
        </p:nvSpPr>
        <p:spPr>
          <a:xfrm>
            <a:off x="1086918" y="1294690"/>
            <a:ext cx="10554101" cy="3842576"/>
          </a:xfrm>
        </p:spPr>
        <p:txBody>
          <a:bodyPr>
            <a:normAutofit/>
          </a:bodyPr>
          <a:lstStyle/>
          <a:p>
            <a:pPr marL="0" indent="0" algn="r" rtl="1">
              <a:lnSpc>
                <a:spcPct val="107000"/>
              </a:lnSpc>
              <a:spcAft>
                <a:spcPts val="800"/>
              </a:spcAft>
              <a:buNone/>
            </a:pPr>
            <a:r>
              <a:rPr lang="he-IL" sz="1800" b="1" dirty="0">
                <a:latin typeface="Calibri" panose="020F0502020204030204" pitchFamily="34" charset="0"/>
                <a:ea typeface="Calibri" panose="020F0502020204030204" pitchFamily="34" charset="0"/>
                <a:cs typeface="Arial" panose="020B0604020202020204" pitchFamily="34" charset="0"/>
              </a:rPr>
              <a:t>ברק מוציא 100 ש''ח על מוצר </a:t>
            </a:r>
            <a:r>
              <a:rPr lang="en-US" sz="1800" b="1" dirty="0">
                <a:latin typeface="Calibri" panose="020F0502020204030204" pitchFamily="34" charset="0"/>
                <a:ea typeface="Calibri" panose="020F0502020204030204" pitchFamily="34" charset="0"/>
                <a:cs typeface="Arial" panose="020B0604020202020204" pitchFamily="34" charset="0"/>
              </a:rPr>
              <a:t>X</a:t>
            </a:r>
            <a:r>
              <a:rPr lang="he-IL" sz="1800" b="1" dirty="0">
                <a:latin typeface="Calibri" panose="020F0502020204030204" pitchFamily="34" charset="0"/>
                <a:ea typeface="Calibri" panose="020F0502020204030204" pitchFamily="34" charset="0"/>
                <a:cs typeface="Arial" panose="020B0604020202020204" pitchFamily="34" charset="0"/>
              </a:rPr>
              <a:t>. חל בענף </a:t>
            </a:r>
            <a:r>
              <a:rPr lang="en-US" sz="1800" b="1" dirty="0">
                <a:latin typeface="Calibri" panose="020F0502020204030204" pitchFamily="34" charset="0"/>
                <a:ea typeface="Calibri" panose="020F0502020204030204" pitchFamily="34" charset="0"/>
                <a:cs typeface="Arial" panose="020B0604020202020204" pitchFamily="34" charset="0"/>
              </a:rPr>
              <a:t>X</a:t>
            </a:r>
            <a:r>
              <a:rPr lang="he-IL" sz="1800" b="1" dirty="0">
                <a:latin typeface="Calibri" panose="020F0502020204030204" pitchFamily="34" charset="0"/>
                <a:ea typeface="Calibri" panose="020F0502020204030204" pitchFamily="34" charset="0"/>
                <a:cs typeface="Arial" panose="020B0604020202020204" pitchFamily="34" charset="0"/>
              </a:rPr>
              <a:t> שינוי במחיר המוצר ועדיין ברק בוחר להוציא 100 ש''ח על מוצר </a:t>
            </a:r>
            <a:r>
              <a:rPr lang="en-US" sz="1800" b="1" dirty="0">
                <a:latin typeface="Calibri" panose="020F0502020204030204" pitchFamily="34" charset="0"/>
                <a:ea typeface="Calibri" panose="020F0502020204030204" pitchFamily="34" charset="0"/>
                <a:cs typeface="Arial" panose="020B0604020202020204" pitchFamily="34" charset="0"/>
              </a:rPr>
              <a:t>X</a:t>
            </a:r>
            <a:r>
              <a:rPr lang="he-IL" sz="1800" b="1" dirty="0">
                <a:latin typeface="Calibri" panose="020F0502020204030204" pitchFamily="34" charset="0"/>
                <a:ea typeface="Calibri" panose="020F0502020204030204" pitchFamily="34" charset="0"/>
                <a:cs typeface="Arial" panose="020B0604020202020204" pitchFamily="34" charset="0"/>
              </a:rPr>
              <a:t>. מכאן ניתן להסיק כי:</a:t>
            </a:r>
            <a:r>
              <a:rPr lang="en-US" sz="1800" b="1" dirty="0">
                <a:latin typeface="Calibri" panose="020F0502020204030204" pitchFamily="34" charset="0"/>
                <a:ea typeface="Calibri" panose="020F0502020204030204" pitchFamily="34" charset="0"/>
                <a:cs typeface="Arial" panose="020B0604020202020204" pitchFamily="34" charset="0"/>
              </a:rPr>
              <a:t> </a:t>
            </a:r>
            <a:r>
              <a:rPr lang="he-IL" sz="180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t>העלות האלטרנטיבית הכוללת לייצור </a:t>
            </a:r>
            <a:r>
              <a:rPr lang="en-US" sz="1800" dirty="0">
                <a:solidFill>
                  <a:schemeClr val="bg1"/>
                </a:solidFill>
                <a:effectLst/>
                <a:latin typeface="Arial" panose="020B0604020202020204" pitchFamily="34" charset="0"/>
                <a:ea typeface="Times New Roman" panose="02020603050405020304" pitchFamily="18" charset="0"/>
              </a:rPr>
              <a:t>X</a:t>
            </a:r>
            <a:r>
              <a:rPr lang="he-IL" sz="180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t> גדולה יותר במשק ב.</a:t>
            </a:r>
            <a:endParaRPr lang="en-IL" sz="1800" dirty="0">
              <a:solidFill>
                <a:schemeClr val="bg1"/>
              </a:solidFill>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en-US" sz="1800" dirty="0">
                <a:effectLst/>
                <a:latin typeface="Times New Roman" panose="02020603050405020304" pitchFamily="18" charset="0"/>
                <a:ea typeface="Times New Roman" panose="02020603050405020304" pitchFamily="18" charset="0"/>
                <a:cs typeface="Arial" panose="020B0604020202020204" pitchFamily="34" charset="0"/>
              </a:rPr>
              <a:t>X</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הינו מוצר ניטראלי </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en-US" sz="1800" dirty="0">
                <a:latin typeface="Times New Roman" panose="02020603050405020304" pitchFamily="18" charset="0"/>
                <a:ea typeface="Times New Roman" panose="02020603050405020304" pitchFamily="18" charset="0"/>
                <a:cs typeface="Arial" panose="020B0604020202020204" pitchFamily="34" charset="0"/>
              </a:rPr>
              <a:t>X</a:t>
            </a:r>
            <a:r>
              <a:rPr lang="he-IL" sz="1800" dirty="0">
                <a:latin typeface="Times New Roman" panose="02020603050405020304" pitchFamily="18" charset="0"/>
                <a:ea typeface="Times New Roman" panose="02020603050405020304" pitchFamily="18" charset="0"/>
                <a:cs typeface="Arial" panose="020B0604020202020204" pitchFamily="34" charset="0"/>
              </a:rPr>
              <a:t> הינו מוצר נורמלי </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en-US" sz="1800" dirty="0">
                <a:effectLst/>
                <a:latin typeface="Times New Roman" panose="02020603050405020304" pitchFamily="18" charset="0"/>
                <a:ea typeface="Times New Roman" panose="02020603050405020304" pitchFamily="18" charset="0"/>
                <a:cs typeface="Arial" panose="020B0604020202020204" pitchFamily="34" charset="0"/>
              </a:rPr>
              <a:t>X</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הינו מוצר בעל ביקוש קשיח </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en-US" sz="1800" dirty="0">
                <a:effectLst/>
                <a:latin typeface="Times New Roman" panose="02020603050405020304" pitchFamily="18" charset="0"/>
                <a:ea typeface="Times New Roman" panose="02020603050405020304" pitchFamily="18" charset="0"/>
                <a:cs typeface="Arial" panose="020B0604020202020204" pitchFamily="34" charset="0"/>
              </a:rPr>
              <a:t>X</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הינו מוצר בעל ביקוש קשיח לחלוטין</a:t>
            </a:r>
          </a:p>
          <a:p>
            <a:pPr marL="342900" lvl="0" indent="-342900" algn="r" rtl="1">
              <a:lnSpc>
                <a:spcPct val="150000"/>
              </a:lnSpc>
              <a:buFont typeface="+mj-lt"/>
              <a:buAutoNum type="arabicPeriod"/>
            </a:pPr>
            <a:r>
              <a:rPr lang="he-IL" sz="1800" dirty="0">
                <a:latin typeface="Times New Roman" panose="02020603050405020304" pitchFamily="18" charset="0"/>
                <a:ea typeface="Times New Roman" panose="02020603050405020304" pitchFamily="18" charset="0"/>
                <a:cs typeface="Arial" panose="020B0604020202020204" pitchFamily="34" charset="0"/>
              </a:rPr>
              <a:t>כל התשובות אינן נכונות. </a:t>
            </a:r>
            <a:endParaRPr lang="en-IL" sz="1800" dirty="0">
              <a:effectLst/>
              <a:latin typeface="Times New Roman" panose="02020603050405020304" pitchFamily="18" charset="0"/>
              <a:ea typeface="Times New Roman" panose="02020603050405020304" pitchFamily="18" charset="0"/>
            </a:endParaRPr>
          </a:p>
          <a:p>
            <a:pPr marL="0" indent="0" algn="r" rtl="1">
              <a:buNone/>
            </a:pPr>
            <a:endParaRPr lang="en-IL" dirty="0"/>
          </a:p>
        </p:txBody>
      </p:sp>
    </p:spTree>
    <p:extLst>
      <p:ext uri="{BB962C8B-B14F-4D97-AF65-F5344CB8AC3E}">
        <p14:creationId xmlns:p14="http://schemas.microsoft.com/office/powerpoint/2010/main" val="10014751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494EE-F673-5036-0509-D799863495BC}"/>
              </a:ext>
            </a:extLst>
          </p:cNvPr>
          <p:cNvSpPr>
            <a:spLocks noGrp="1"/>
          </p:cNvSpPr>
          <p:nvPr>
            <p:ph type="title"/>
          </p:nvPr>
        </p:nvSpPr>
        <p:spPr>
          <a:xfrm>
            <a:off x="7801897" y="414282"/>
            <a:ext cx="4166758" cy="533509"/>
          </a:xfrm>
        </p:spPr>
        <p:txBody>
          <a:bodyPr>
            <a:normAutofit fontScale="90000"/>
          </a:bodyPr>
          <a:lstStyle/>
          <a:p>
            <a:pPr algn="r" rtl="1"/>
            <a:r>
              <a:rPr lang="he-IL" dirty="0"/>
              <a:t>פתרון שאלה נוספת2</a:t>
            </a:r>
            <a:endParaRPr lang="en-IL" dirty="0"/>
          </a:p>
        </p:txBody>
      </p:sp>
      <p:sp>
        <p:nvSpPr>
          <p:cNvPr id="3" name="Content Placeholder 2">
            <a:extLst>
              <a:ext uri="{FF2B5EF4-FFF2-40B4-BE49-F238E27FC236}">
                <a16:creationId xmlns:a16="http://schemas.microsoft.com/office/drawing/2014/main" id="{411A47A3-6F71-89A9-0418-E7097145D628}"/>
              </a:ext>
            </a:extLst>
          </p:cNvPr>
          <p:cNvSpPr>
            <a:spLocks noGrp="1"/>
          </p:cNvSpPr>
          <p:nvPr>
            <p:ph idx="1"/>
          </p:nvPr>
        </p:nvSpPr>
        <p:spPr>
          <a:xfrm>
            <a:off x="1086918" y="1294690"/>
            <a:ext cx="10554101" cy="3842576"/>
          </a:xfrm>
        </p:spPr>
        <p:txBody>
          <a:bodyPr>
            <a:normAutofit/>
          </a:bodyPr>
          <a:lstStyle/>
          <a:p>
            <a:pPr marL="0" indent="0" algn="r" rtl="1">
              <a:lnSpc>
                <a:spcPct val="107000"/>
              </a:lnSpc>
              <a:spcAft>
                <a:spcPts val="800"/>
              </a:spcAft>
              <a:buNone/>
            </a:pPr>
            <a:r>
              <a:rPr lang="he-IL" sz="1800" b="1" dirty="0">
                <a:latin typeface="Calibri" panose="020F0502020204030204" pitchFamily="34" charset="0"/>
                <a:ea typeface="Calibri" panose="020F0502020204030204" pitchFamily="34" charset="0"/>
                <a:cs typeface="Arial" panose="020B0604020202020204" pitchFamily="34" charset="0"/>
              </a:rPr>
              <a:t>ברק מוציא 100 ש''ח על מוצר </a:t>
            </a:r>
            <a:r>
              <a:rPr lang="en-US" sz="1800" b="1" dirty="0">
                <a:latin typeface="Calibri" panose="020F0502020204030204" pitchFamily="34" charset="0"/>
                <a:ea typeface="Calibri" panose="020F0502020204030204" pitchFamily="34" charset="0"/>
                <a:cs typeface="Arial" panose="020B0604020202020204" pitchFamily="34" charset="0"/>
              </a:rPr>
              <a:t>X</a:t>
            </a:r>
            <a:r>
              <a:rPr lang="he-IL" sz="1800" b="1" dirty="0">
                <a:latin typeface="Calibri" panose="020F0502020204030204" pitchFamily="34" charset="0"/>
                <a:ea typeface="Calibri" panose="020F0502020204030204" pitchFamily="34" charset="0"/>
                <a:cs typeface="Arial" panose="020B0604020202020204" pitchFamily="34" charset="0"/>
              </a:rPr>
              <a:t>. חל בענף </a:t>
            </a:r>
            <a:r>
              <a:rPr lang="en-US" sz="1800" b="1" dirty="0">
                <a:latin typeface="Calibri" panose="020F0502020204030204" pitchFamily="34" charset="0"/>
                <a:ea typeface="Calibri" panose="020F0502020204030204" pitchFamily="34" charset="0"/>
                <a:cs typeface="Arial" panose="020B0604020202020204" pitchFamily="34" charset="0"/>
              </a:rPr>
              <a:t>X</a:t>
            </a:r>
            <a:r>
              <a:rPr lang="he-IL" sz="1800" b="1" dirty="0">
                <a:latin typeface="Calibri" panose="020F0502020204030204" pitchFamily="34" charset="0"/>
                <a:ea typeface="Calibri" panose="020F0502020204030204" pitchFamily="34" charset="0"/>
                <a:cs typeface="Arial" panose="020B0604020202020204" pitchFamily="34" charset="0"/>
              </a:rPr>
              <a:t> שינוי במחיר המוצר ועדיין ברק בוחר להוציא 100 ש''ח על מוצר </a:t>
            </a:r>
            <a:r>
              <a:rPr lang="en-US" sz="1800" b="1" dirty="0">
                <a:latin typeface="Calibri" panose="020F0502020204030204" pitchFamily="34" charset="0"/>
                <a:ea typeface="Calibri" panose="020F0502020204030204" pitchFamily="34" charset="0"/>
                <a:cs typeface="Arial" panose="020B0604020202020204" pitchFamily="34" charset="0"/>
              </a:rPr>
              <a:t>X</a:t>
            </a:r>
            <a:r>
              <a:rPr lang="he-IL" sz="1800" b="1" dirty="0">
                <a:latin typeface="Calibri" panose="020F0502020204030204" pitchFamily="34" charset="0"/>
                <a:ea typeface="Calibri" panose="020F0502020204030204" pitchFamily="34" charset="0"/>
                <a:cs typeface="Arial" panose="020B0604020202020204" pitchFamily="34" charset="0"/>
              </a:rPr>
              <a:t>. מכאן ניתן להסיק כי</a:t>
            </a:r>
            <a:r>
              <a:rPr lang="he-IL" sz="1800" b="1" dirty="0">
                <a:solidFill>
                  <a:schemeClr val="bg1"/>
                </a:solidFill>
                <a:latin typeface="Calibri" panose="020F0502020204030204" pitchFamily="34" charset="0"/>
                <a:ea typeface="Calibri" panose="020F0502020204030204" pitchFamily="34" charset="0"/>
                <a:cs typeface="Arial" panose="020B0604020202020204" pitchFamily="34" charset="0"/>
              </a:rPr>
              <a:t>:</a:t>
            </a:r>
            <a:r>
              <a:rPr lang="en-US" sz="1800" b="1" dirty="0">
                <a:solidFill>
                  <a:schemeClr val="bg1"/>
                </a:solidFill>
                <a:latin typeface="Calibri" panose="020F0502020204030204" pitchFamily="34" charset="0"/>
                <a:ea typeface="Calibri" panose="020F0502020204030204" pitchFamily="34" charset="0"/>
                <a:cs typeface="Arial" panose="020B0604020202020204" pitchFamily="34" charset="0"/>
              </a:rPr>
              <a:t> </a:t>
            </a:r>
            <a:r>
              <a:rPr lang="he-IL" sz="180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t>העלות האלטרנטיבית הכוללת לייצור </a:t>
            </a:r>
            <a:r>
              <a:rPr lang="en-US" sz="1800" dirty="0">
                <a:solidFill>
                  <a:schemeClr val="bg1"/>
                </a:solidFill>
                <a:effectLst/>
                <a:latin typeface="Arial" panose="020B0604020202020204" pitchFamily="34" charset="0"/>
                <a:ea typeface="Times New Roman" panose="02020603050405020304" pitchFamily="18" charset="0"/>
              </a:rPr>
              <a:t>X</a:t>
            </a:r>
            <a:r>
              <a:rPr lang="he-IL" sz="180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t> גדולה יותר במשק ב.</a:t>
            </a:r>
            <a:endParaRPr lang="en-IL" sz="1800" dirty="0">
              <a:solidFill>
                <a:schemeClr val="bg1"/>
              </a:solidFill>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en-US" sz="1800" dirty="0">
                <a:effectLst/>
                <a:latin typeface="Times New Roman" panose="02020603050405020304" pitchFamily="18" charset="0"/>
                <a:ea typeface="Times New Roman" panose="02020603050405020304" pitchFamily="18" charset="0"/>
                <a:cs typeface="Arial" panose="020B0604020202020204" pitchFamily="34" charset="0"/>
              </a:rPr>
              <a:t>X</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הינו מוצר ניטראלי </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en-US" sz="1800" dirty="0">
                <a:latin typeface="Times New Roman" panose="02020603050405020304" pitchFamily="18" charset="0"/>
                <a:ea typeface="Times New Roman" panose="02020603050405020304" pitchFamily="18" charset="0"/>
                <a:cs typeface="Arial" panose="020B0604020202020204" pitchFamily="34" charset="0"/>
              </a:rPr>
              <a:t>X</a:t>
            </a:r>
            <a:r>
              <a:rPr lang="he-IL" sz="1800" dirty="0">
                <a:latin typeface="Times New Roman" panose="02020603050405020304" pitchFamily="18" charset="0"/>
                <a:ea typeface="Times New Roman" panose="02020603050405020304" pitchFamily="18" charset="0"/>
                <a:cs typeface="Arial" panose="020B0604020202020204" pitchFamily="34" charset="0"/>
              </a:rPr>
              <a:t> הינו מוצר נורמלי </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en-US" sz="1800" dirty="0">
                <a:effectLst/>
                <a:latin typeface="Times New Roman" panose="02020603050405020304" pitchFamily="18" charset="0"/>
                <a:ea typeface="Times New Roman" panose="02020603050405020304" pitchFamily="18" charset="0"/>
                <a:cs typeface="Arial" panose="020B0604020202020204" pitchFamily="34" charset="0"/>
              </a:rPr>
              <a:t>X</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הינו מוצר בעל ביקוש קשיח </a:t>
            </a:r>
            <a:endParaRPr lang="en-IL" sz="18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pPr>
            <a:r>
              <a:rPr lang="en-US" sz="1800" dirty="0">
                <a:effectLst/>
                <a:latin typeface="Times New Roman" panose="02020603050405020304" pitchFamily="18" charset="0"/>
                <a:ea typeface="Times New Roman" panose="02020603050405020304" pitchFamily="18" charset="0"/>
                <a:cs typeface="Arial" panose="020B0604020202020204" pitchFamily="34" charset="0"/>
              </a:rPr>
              <a:t>X</a:t>
            </a:r>
            <a:r>
              <a:rPr lang="he-IL" sz="1800" dirty="0">
                <a:effectLst/>
                <a:latin typeface="Times New Roman" panose="02020603050405020304" pitchFamily="18" charset="0"/>
                <a:ea typeface="Times New Roman" panose="02020603050405020304" pitchFamily="18" charset="0"/>
                <a:cs typeface="Arial" panose="020B0604020202020204" pitchFamily="34" charset="0"/>
              </a:rPr>
              <a:t> הינו מוצר בעל ביקוש קשיח לחלוטין</a:t>
            </a:r>
          </a:p>
          <a:p>
            <a:pPr marL="342900" lvl="0" indent="-342900" algn="r" rtl="1">
              <a:lnSpc>
                <a:spcPct val="150000"/>
              </a:lnSpc>
              <a:buFont typeface="+mj-lt"/>
              <a:buAutoNum type="arabicPeriod"/>
            </a:pPr>
            <a:r>
              <a:rPr lang="he-IL" sz="1800" dirty="0">
                <a:latin typeface="Times New Roman" panose="02020603050405020304" pitchFamily="18" charset="0"/>
                <a:ea typeface="Times New Roman" panose="02020603050405020304" pitchFamily="18" charset="0"/>
                <a:cs typeface="Arial" panose="020B0604020202020204" pitchFamily="34" charset="0"/>
              </a:rPr>
              <a:t>כל התשובות אינן נכונות. </a:t>
            </a:r>
            <a:endParaRPr lang="en-IL" sz="1800" dirty="0">
              <a:effectLst/>
              <a:latin typeface="Times New Roman" panose="02020603050405020304" pitchFamily="18" charset="0"/>
              <a:ea typeface="Times New Roman" panose="02020603050405020304" pitchFamily="18" charset="0"/>
            </a:endParaRPr>
          </a:p>
          <a:p>
            <a:pPr marL="0" indent="0" algn="r" rtl="1">
              <a:buNone/>
            </a:pPr>
            <a:endParaRPr lang="en-IL" dirty="0"/>
          </a:p>
        </p:txBody>
      </p:sp>
      <p:sp>
        <p:nvSpPr>
          <p:cNvPr id="4" name="Rectangle 3">
            <a:extLst>
              <a:ext uri="{FF2B5EF4-FFF2-40B4-BE49-F238E27FC236}">
                <a16:creationId xmlns:a16="http://schemas.microsoft.com/office/drawing/2014/main" id="{1EBB39CB-D11E-C6B9-1FA4-978E2132EADD}"/>
              </a:ext>
            </a:extLst>
          </p:cNvPr>
          <p:cNvSpPr/>
          <p:nvPr/>
        </p:nvSpPr>
        <p:spPr>
          <a:xfrm>
            <a:off x="8877993" y="4323288"/>
            <a:ext cx="3090662" cy="81397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TextBox 4">
            <a:extLst>
              <a:ext uri="{FF2B5EF4-FFF2-40B4-BE49-F238E27FC236}">
                <a16:creationId xmlns:a16="http://schemas.microsoft.com/office/drawing/2014/main" id="{9E7CD8A7-D8BA-B690-ADA1-49D544A6384A}"/>
              </a:ext>
            </a:extLst>
          </p:cNvPr>
          <p:cNvSpPr txBox="1"/>
          <p:nvPr/>
        </p:nvSpPr>
        <p:spPr>
          <a:xfrm>
            <a:off x="2633848" y="2828835"/>
            <a:ext cx="3242207" cy="2585323"/>
          </a:xfrm>
          <a:prstGeom prst="rect">
            <a:avLst/>
          </a:prstGeom>
          <a:solidFill>
            <a:srgbClr val="FFFF00"/>
          </a:solidFill>
        </p:spPr>
        <p:txBody>
          <a:bodyPr wrap="square" rtlCol="0">
            <a:spAutoFit/>
          </a:bodyPr>
          <a:lstStyle/>
          <a:p>
            <a:pPr algn="r" rtl="1"/>
            <a:r>
              <a:rPr lang="he-IL" b="1" dirty="0"/>
              <a:t>משינוי בהכנסה- </a:t>
            </a:r>
            <a:r>
              <a:rPr lang="he-IL" dirty="0"/>
              <a:t>נוכל לקבוע את סוג המוצר ביחס להכנסה (נורמלי/ניטראלי/נחות)</a:t>
            </a:r>
          </a:p>
          <a:p>
            <a:pPr algn="r" rtl="1"/>
            <a:endParaRPr lang="he-IL" dirty="0"/>
          </a:p>
          <a:p>
            <a:pPr algn="r" rtl="1"/>
            <a:r>
              <a:rPr lang="he-IL" b="1" dirty="0"/>
              <a:t>משינוי במחיר </a:t>
            </a:r>
            <a:r>
              <a:rPr lang="he-IL" dirty="0"/>
              <a:t>ונתון על שינוי בהוצאות הצרכנים - נוכל לקבוע את סוג הביקוש (קשיח/גמיש/יחידתי)</a:t>
            </a:r>
          </a:p>
          <a:p>
            <a:pPr algn="r" rtl="1"/>
            <a:r>
              <a:rPr lang="he-IL" dirty="0"/>
              <a:t>במקרה המתואר הביקוש של ברק הינו </a:t>
            </a:r>
            <a:r>
              <a:rPr lang="he-IL" b="1" dirty="0"/>
              <a:t>יחידתי. </a:t>
            </a:r>
            <a:endParaRPr lang="en-IL" b="1" dirty="0"/>
          </a:p>
        </p:txBody>
      </p:sp>
    </p:spTree>
    <p:extLst>
      <p:ext uri="{BB962C8B-B14F-4D97-AF65-F5344CB8AC3E}">
        <p14:creationId xmlns:p14="http://schemas.microsoft.com/office/powerpoint/2010/main" val="1421598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47B56D5-086B-2940-E472-68511CD6F6C5}"/>
              </a:ext>
            </a:extLst>
          </p:cNvPr>
          <p:cNvSpPr>
            <a:spLocks noGrp="1"/>
          </p:cNvSpPr>
          <p:nvPr>
            <p:ph type="title"/>
          </p:nvPr>
        </p:nvSpPr>
        <p:spPr/>
        <p:txBody>
          <a:bodyPr/>
          <a:lstStyle/>
          <a:p>
            <a:pPr algn="ctr"/>
            <a:r>
              <a:rPr lang="he-IL" dirty="0"/>
              <a:t>עלויות היצרן והחלטות הייצור</a:t>
            </a:r>
            <a:endParaRPr lang="en-IL" dirty="0"/>
          </a:p>
        </p:txBody>
      </p:sp>
    </p:spTree>
    <p:extLst>
      <p:ext uri="{BB962C8B-B14F-4D97-AF65-F5344CB8AC3E}">
        <p14:creationId xmlns:p14="http://schemas.microsoft.com/office/powerpoint/2010/main" val="41075653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3E4AF-6FA1-0DF5-EC98-F5B5434192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035691-4313-D788-6F7E-F202F56C7ABF}"/>
              </a:ext>
            </a:extLst>
          </p:cNvPr>
          <p:cNvSpPr>
            <a:spLocks noGrp="1"/>
          </p:cNvSpPr>
          <p:nvPr>
            <p:ph type="title"/>
          </p:nvPr>
        </p:nvSpPr>
        <p:spPr>
          <a:xfrm>
            <a:off x="8328248" y="188641"/>
            <a:ext cx="3449770" cy="329974"/>
          </a:xfrm>
        </p:spPr>
        <p:txBody>
          <a:bodyPr>
            <a:normAutofit fontScale="90000"/>
          </a:bodyPr>
          <a:lstStyle/>
          <a:p>
            <a:pPr algn="r" rtl="1"/>
            <a:r>
              <a:rPr lang="he-IL" dirty="0"/>
              <a:t>שאלת בחינה1 </a:t>
            </a:r>
            <a:endParaRPr lang="en-IL" dirty="0"/>
          </a:p>
        </p:txBody>
      </p:sp>
      <p:sp>
        <p:nvSpPr>
          <p:cNvPr id="3" name="Content Placeholder 2">
            <a:extLst>
              <a:ext uri="{FF2B5EF4-FFF2-40B4-BE49-F238E27FC236}">
                <a16:creationId xmlns:a16="http://schemas.microsoft.com/office/drawing/2014/main" id="{E9DE87CF-FB99-C4EB-63C6-EA7A979CB72F}"/>
              </a:ext>
            </a:extLst>
          </p:cNvPr>
          <p:cNvSpPr>
            <a:spLocks noGrp="1"/>
          </p:cNvSpPr>
          <p:nvPr>
            <p:ph idx="1"/>
          </p:nvPr>
        </p:nvSpPr>
        <p:spPr>
          <a:xfrm>
            <a:off x="6661611" y="163030"/>
            <a:ext cx="1842467" cy="488739"/>
          </a:xfrm>
        </p:spPr>
        <p:txBody>
          <a:bodyPr>
            <a:normAutofit/>
          </a:bodyPr>
          <a:lstStyle/>
          <a:p>
            <a:pPr marL="0" indent="0" algn="r" rtl="1">
              <a:lnSpc>
                <a:spcPct val="150000"/>
              </a:lnSpc>
              <a:buNone/>
            </a:pPr>
            <a:r>
              <a:rPr lang="he-IL" sz="1575" b="1" dirty="0">
                <a:latin typeface="Times New Roman" panose="02020603050405020304" pitchFamily="18" charset="0"/>
                <a:ea typeface="Times New Roman" panose="02020603050405020304" pitchFamily="18" charset="0"/>
              </a:rPr>
              <a:t>עלויות הייצור</a:t>
            </a:r>
            <a:endParaRPr lang="en-IL" sz="1575" dirty="0">
              <a:latin typeface="Times New Roman" panose="02020603050405020304" pitchFamily="18" charset="0"/>
              <a:ea typeface="Times New Roman" panose="02020603050405020304" pitchFamily="18" charset="0"/>
            </a:endParaRPr>
          </a:p>
          <a:p>
            <a:pPr marL="192881" indent="-192881" algn="r" rtl="1">
              <a:lnSpc>
                <a:spcPct val="150000"/>
              </a:lnSpc>
              <a:buFont typeface="+mj-lt"/>
              <a:buAutoNum type="arabicPeriod"/>
            </a:pPr>
            <a:endParaRPr lang="en-IL" sz="1013" dirty="0">
              <a:latin typeface="Times New Roman" panose="02020603050405020304" pitchFamily="18" charset="0"/>
              <a:ea typeface="Times New Roman" panose="02020603050405020304" pitchFamily="18" charset="0"/>
            </a:endParaRPr>
          </a:p>
        </p:txBody>
      </p:sp>
      <p:sp>
        <p:nvSpPr>
          <p:cNvPr id="6" name="TextBox 5">
            <a:extLst>
              <a:ext uri="{FF2B5EF4-FFF2-40B4-BE49-F238E27FC236}">
                <a16:creationId xmlns:a16="http://schemas.microsoft.com/office/drawing/2014/main" id="{2D28E336-691A-0D7D-CDE2-34A521A710C8}"/>
              </a:ext>
            </a:extLst>
          </p:cNvPr>
          <p:cNvSpPr txBox="1"/>
          <p:nvPr/>
        </p:nvSpPr>
        <p:spPr>
          <a:xfrm>
            <a:off x="3359697" y="2111102"/>
            <a:ext cx="6603829" cy="2263825"/>
          </a:xfrm>
          <a:prstGeom prst="rect">
            <a:avLst/>
          </a:prstGeom>
          <a:noFill/>
        </p:spPr>
        <p:txBody>
          <a:bodyPr wrap="square">
            <a:spAutoFit/>
          </a:bodyPr>
          <a:lstStyle/>
          <a:p>
            <a:pPr algn="r" defTabSz="514350" rtl="1">
              <a:lnSpc>
                <a:spcPct val="150000"/>
              </a:lnSpc>
            </a:pPr>
            <a:r>
              <a:rPr lang="he-IL" sz="1600" b="1" dirty="0">
                <a:solidFill>
                  <a:prstClr val="black"/>
                </a:solidFill>
                <a:latin typeface="Times New Roman" panose="02020603050405020304" pitchFamily="18" charset="0"/>
                <a:ea typeface="Times New Roman" panose="02020603050405020304" pitchFamily="18" charset="0"/>
                <a:cs typeface="Arial" panose="020B0604020202020204" pitchFamily="34" charset="0"/>
              </a:rPr>
              <a:t> </a:t>
            </a:r>
            <a:endParaRPr lang="en-IL" sz="1600" dirty="0">
              <a:solidFill>
                <a:prstClr val="black"/>
              </a:solidFill>
              <a:latin typeface="Times New Roman" panose="02020603050405020304" pitchFamily="18" charset="0"/>
              <a:ea typeface="Times New Roman" panose="02020603050405020304" pitchFamily="18" charset="0"/>
            </a:endParaRPr>
          </a:p>
          <a:p>
            <a:pPr marL="192881" indent="-192881" algn="r" defTabSz="514350" rtl="1">
              <a:lnSpc>
                <a:spcPct val="150000"/>
              </a:lnSpc>
              <a:buFont typeface="+mj-lt"/>
              <a:buAutoNum type="arabicPeriod"/>
            </a:pPr>
            <a:r>
              <a:rPr lang="he-IL" sz="1600" dirty="0">
                <a:solidFill>
                  <a:prstClr val="black"/>
                </a:solidFill>
                <a:latin typeface="Times New Roman" panose="02020603050405020304" pitchFamily="18" charset="0"/>
                <a:ea typeface="Times New Roman" panose="02020603050405020304" pitchFamily="18" charset="0"/>
                <a:cs typeface="Arial" panose="020B0604020202020204" pitchFamily="34" charset="0"/>
              </a:rPr>
              <a:t>מחיר התפוזים יהיה 12 ש"ח וכמות התפוזים תהיה בדיוק 120 ק"ג.</a:t>
            </a:r>
            <a:endParaRPr lang="en-IL" sz="1600" dirty="0">
              <a:solidFill>
                <a:prstClr val="black"/>
              </a:solidFill>
              <a:latin typeface="Times New Roman" panose="02020603050405020304" pitchFamily="18" charset="0"/>
              <a:ea typeface="Times New Roman" panose="02020603050405020304" pitchFamily="18" charset="0"/>
            </a:endParaRPr>
          </a:p>
          <a:p>
            <a:pPr marL="192881" indent="-192881" algn="r" defTabSz="514350" rtl="1">
              <a:lnSpc>
                <a:spcPct val="150000"/>
              </a:lnSpc>
              <a:buFont typeface="+mj-lt"/>
              <a:buAutoNum type="arabicPeriod"/>
            </a:pPr>
            <a:r>
              <a:rPr lang="he-IL" sz="1600" dirty="0">
                <a:solidFill>
                  <a:prstClr val="black"/>
                </a:solidFill>
                <a:latin typeface="Times New Roman" panose="02020603050405020304" pitchFamily="18" charset="0"/>
                <a:ea typeface="Times New Roman" panose="02020603050405020304" pitchFamily="18" charset="0"/>
                <a:cs typeface="Arial" panose="020B0604020202020204" pitchFamily="34" charset="0"/>
              </a:rPr>
              <a:t>מחיר התפוזים יהיה 12 ש"ח וכמות התפוזים תהיה קטנה מ- 120 ק"ג.</a:t>
            </a:r>
            <a:endParaRPr lang="en-IL" sz="1600" dirty="0">
              <a:solidFill>
                <a:prstClr val="black"/>
              </a:solidFill>
              <a:latin typeface="Times New Roman" panose="02020603050405020304" pitchFamily="18" charset="0"/>
              <a:ea typeface="Times New Roman" panose="02020603050405020304" pitchFamily="18" charset="0"/>
            </a:endParaRPr>
          </a:p>
          <a:p>
            <a:pPr marL="192881" indent="-192881" algn="r" defTabSz="514350" rtl="1">
              <a:lnSpc>
                <a:spcPct val="150000"/>
              </a:lnSpc>
              <a:buFont typeface="+mj-lt"/>
              <a:buAutoNum type="arabicPeriod"/>
            </a:pPr>
            <a:r>
              <a:rPr lang="he-IL" sz="1600" dirty="0">
                <a:solidFill>
                  <a:prstClr val="black"/>
                </a:solidFill>
                <a:latin typeface="Times New Roman" panose="02020603050405020304" pitchFamily="18" charset="0"/>
                <a:ea typeface="Times New Roman" panose="02020603050405020304" pitchFamily="18" charset="0"/>
                <a:cs typeface="Arial" panose="020B0604020202020204" pitchFamily="34" charset="0"/>
              </a:rPr>
              <a:t>מחיר התפוזים יהיה נמוך מ- 12 ש"ח וכמות התפוזים תהיה קטנה מ- 120 ק"ג.</a:t>
            </a:r>
            <a:endParaRPr lang="en-IL" sz="1600" dirty="0">
              <a:solidFill>
                <a:prstClr val="black"/>
              </a:solidFill>
              <a:latin typeface="Times New Roman" panose="02020603050405020304" pitchFamily="18" charset="0"/>
              <a:ea typeface="Times New Roman" panose="02020603050405020304" pitchFamily="18" charset="0"/>
            </a:endParaRPr>
          </a:p>
          <a:p>
            <a:pPr marL="192881" indent="-192881" algn="r" defTabSz="514350" rtl="1">
              <a:lnSpc>
                <a:spcPct val="150000"/>
              </a:lnSpc>
              <a:buFont typeface="+mj-lt"/>
              <a:buAutoNum type="arabicPeriod"/>
            </a:pPr>
            <a:r>
              <a:rPr lang="he-IL" sz="1600" dirty="0">
                <a:solidFill>
                  <a:prstClr val="black"/>
                </a:solidFill>
                <a:latin typeface="Times New Roman" panose="02020603050405020304" pitchFamily="18" charset="0"/>
                <a:ea typeface="Times New Roman" panose="02020603050405020304" pitchFamily="18" charset="0"/>
                <a:cs typeface="Arial" panose="020B0604020202020204" pitchFamily="34" charset="0"/>
              </a:rPr>
              <a:t>מחיר התפוזים יהיה נמוך מ- 12 ש"ח וכמות התפוזים תהיה בדיוק 120 ק"ג.</a:t>
            </a:r>
            <a:endParaRPr lang="en-IL" sz="1600" dirty="0">
              <a:solidFill>
                <a:prstClr val="black"/>
              </a:solidFill>
              <a:latin typeface="Times New Roman" panose="02020603050405020304" pitchFamily="18" charset="0"/>
              <a:ea typeface="Times New Roman" panose="02020603050405020304" pitchFamily="18" charset="0"/>
            </a:endParaRPr>
          </a:p>
          <a:p>
            <a:pPr marL="192881" indent="-192881" algn="r" defTabSz="514350" rtl="1">
              <a:lnSpc>
                <a:spcPct val="150000"/>
              </a:lnSpc>
              <a:buFont typeface="+mj-lt"/>
              <a:buAutoNum type="arabicPeriod"/>
            </a:pPr>
            <a:r>
              <a:rPr lang="he-IL" sz="1600" dirty="0">
                <a:solidFill>
                  <a:prstClr val="black"/>
                </a:solidFill>
                <a:latin typeface="Times New Roman" panose="02020603050405020304" pitchFamily="18" charset="0"/>
                <a:ea typeface="Times New Roman" panose="02020603050405020304" pitchFamily="18" charset="0"/>
                <a:cs typeface="Arial" panose="020B0604020202020204" pitchFamily="34" charset="0"/>
              </a:rPr>
              <a:t>כל התשובות האחרות לא נכונות.</a:t>
            </a:r>
            <a:endParaRPr lang="en-IL" sz="1600" dirty="0">
              <a:solidFill>
                <a:prstClr val="black"/>
              </a:solidFill>
              <a:latin typeface="Times New Roman" panose="02020603050405020304" pitchFamily="18" charset="0"/>
              <a:ea typeface="Times New Roman" panose="02020603050405020304" pitchFamily="18" charset="0"/>
            </a:endParaRPr>
          </a:p>
        </p:txBody>
      </p:sp>
      <p:pic>
        <p:nvPicPr>
          <p:cNvPr id="5" name="תמונה 4">
            <a:extLst>
              <a:ext uri="{FF2B5EF4-FFF2-40B4-BE49-F238E27FC236}">
                <a16:creationId xmlns:a16="http://schemas.microsoft.com/office/drawing/2014/main" id="{E9F4D778-C20D-CAB0-1EB5-6A2E03F75F83}"/>
              </a:ext>
            </a:extLst>
          </p:cNvPr>
          <p:cNvPicPr>
            <a:picLocks noChangeAspect="1"/>
          </p:cNvPicPr>
          <p:nvPr/>
        </p:nvPicPr>
        <p:blipFill>
          <a:blip r:embed="rId2"/>
          <a:stretch>
            <a:fillRect/>
          </a:stretch>
        </p:blipFill>
        <p:spPr>
          <a:xfrm>
            <a:off x="1789854" y="817465"/>
            <a:ext cx="9372948" cy="5851893"/>
          </a:xfrm>
          <a:prstGeom prst="rect">
            <a:avLst/>
          </a:prstGeom>
        </p:spPr>
      </p:pic>
    </p:spTree>
    <p:extLst>
      <p:ext uri="{BB962C8B-B14F-4D97-AF65-F5344CB8AC3E}">
        <p14:creationId xmlns:p14="http://schemas.microsoft.com/office/powerpoint/2010/main" val="154614388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1FDA2-6798-C311-797E-114DB6C4FC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84E5C9-FFFC-0D75-2E45-EA39250F36FC}"/>
              </a:ext>
            </a:extLst>
          </p:cNvPr>
          <p:cNvSpPr>
            <a:spLocks noGrp="1"/>
          </p:cNvSpPr>
          <p:nvPr>
            <p:ph type="title"/>
          </p:nvPr>
        </p:nvSpPr>
        <p:spPr>
          <a:xfrm>
            <a:off x="8328248" y="188641"/>
            <a:ext cx="3449770" cy="261735"/>
          </a:xfrm>
        </p:spPr>
        <p:txBody>
          <a:bodyPr>
            <a:normAutofit fontScale="90000"/>
          </a:bodyPr>
          <a:lstStyle/>
          <a:p>
            <a:pPr algn="r" rtl="1"/>
            <a:r>
              <a:rPr lang="he-IL" dirty="0"/>
              <a:t>שאלת בחינה1 </a:t>
            </a:r>
            <a:endParaRPr lang="en-IL" dirty="0"/>
          </a:p>
        </p:txBody>
      </p:sp>
      <p:sp>
        <p:nvSpPr>
          <p:cNvPr id="3" name="Content Placeholder 2">
            <a:extLst>
              <a:ext uri="{FF2B5EF4-FFF2-40B4-BE49-F238E27FC236}">
                <a16:creationId xmlns:a16="http://schemas.microsoft.com/office/drawing/2014/main" id="{D456DA3E-4CD4-01D1-9DB9-049F6CC9B712}"/>
              </a:ext>
            </a:extLst>
          </p:cNvPr>
          <p:cNvSpPr>
            <a:spLocks noGrp="1"/>
          </p:cNvSpPr>
          <p:nvPr>
            <p:ph idx="1"/>
          </p:nvPr>
        </p:nvSpPr>
        <p:spPr>
          <a:xfrm>
            <a:off x="6661611" y="163030"/>
            <a:ext cx="1842467" cy="488739"/>
          </a:xfrm>
        </p:spPr>
        <p:txBody>
          <a:bodyPr>
            <a:normAutofit/>
          </a:bodyPr>
          <a:lstStyle/>
          <a:p>
            <a:pPr marL="0" indent="0" algn="r" rtl="1">
              <a:lnSpc>
                <a:spcPct val="150000"/>
              </a:lnSpc>
              <a:buNone/>
            </a:pPr>
            <a:r>
              <a:rPr lang="he-IL" sz="1575" b="1" dirty="0">
                <a:latin typeface="Times New Roman" panose="02020603050405020304" pitchFamily="18" charset="0"/>
                <a:ea typeface="Times New Roman" panose="02020603050405020304" pitchFamily="18" charset="0"/>
              </a:rPr>
              <a:t>עלויות הייצור</a:t>
            </a:r>
            <a:endParaRPr lang="en-IL" sz="1575" dirty="0">
              <a:latin typeface="Times New Roman" panose="02020603050405020304" pitchFamily="18" charset="0"/>
              <a:ea typeface="Times New Roman" panose="02020603050405020304" pitchFamily="18" charset="0"/>
            </a:endParaRPr>
          </a:p>
          <a:p>
            <a:pPr marL="192881" indent="-192881" algn="r" rtl="1">
              <a:lnSpc>
                <a:spcPct val="150000"/>
              </a:lnSpc>
              <a:buFont typeface="+mj-lt"/>
              <a:buAutoNum type="arabicPeriod"/>
            </a:pPr>
            <a:endParaRPr lang="en-IL" sz="1013" dirty="0">
              <a:latin typeface="Times New Roman" panose="02020603050405020304" pitchFamily="18" charset="0"/>
              <a:ea typeface="Times New Roman" panose="02020603050405020304" pitchFamily="18" charset="0"/>
            </a:endParaRPr>
          </a:p>
        </p:txBody>
      </p:sp>
      <p:sp>
        <p:nvSpPr>
          <p:cNvPr id="6" name="TextBox 5">
            <a:extLst>
              <a:ext uri="{FF2B5EF4-FFF2-40B4-BE49-F238E27FC236}">
                <a16:creationId xmlns:a16="http://schemas.microsoft.com/office/drawing/2014/main" id="{E5373A63-E8CB-731E-0C94-8E35A42FA1D8}"/>
              </a:ext>
            </a:extLst>
          </p:cNvPr>
          <p:cNvSpPr txBox="1"/>
          <p:nvPr/>
        </p:nvSpPr>
        <p:spPr>
          <a:xfrm>
            <a:off x="3359697" y="2111102"/>
            <a:ext cx="6603829" cy="2263825"/>
          </a:xfrm>
          <a:prstGeom prst="rect">
            <a:avLst/>
          </a:prstGeom>
          <a:noFill/>
        </p:spPr>
        <p:txBody>
          <a:bodyPr wrap="square">
            <a:spAutoFit/>
          </a:bodyPr>
          <a:lstStyle/>
          <a:p>
            <a:pPr algn="r" defTabSz="514350" rtl="1">
              <a:lnSpc>
                <a:spcPct val="150000"/>
              </a:lnSpc>
            </a:pPr>
            <a:r>
              <a:rPr lang="he-IL" sz="1600" b="1" dirty="0">
                <a:solidFill>
                  <a:prstClr val="black"/>
                </a:solidFill>
                <a:latin typeface="Times New Roman" panose="02020603050405020304" pitchFamily="18" charset="0"/>
                <a:ea typeface="Times New Roman" panose="02020603050405020304" pitchFamily="18" charset="0"/>
                <a:cs typeface="Arial" panose="020B0604020202020204" pitchFamily="34" charset="0"/>
              </a:rPr>
              <a:t> </a:t>
            </a:r>
            <a:endParaRPr lang="en-IL" sz="1600" dirty="0">
              <a:solidFill>
                <a:prstClr val="black"/>
              </a:solidFill>
              <a:latin typeface="Times New Roman" panose="02020603050405020304" pitchFamily="18" charset="0"/>
              <a:ea typeface="Times New Roman" panose="02020603050405020304" pitchFamily="18" charset="0"/>
            </a:endParaRPr>
          </a:p>
          <a:p>
            <a:pPr marL="192881" indent="-192881" algn="r" defTabSz="514350" rtl="1">
              <a:lnSpc>
                <a:spcPct val="150000"/>
              </a:lnSpc>
              <a:buFont typeface="+mj-lt"/>
              <a:buAutoNum type="arabicPeriod"/>
            </a:pPr>
            <a:r>
              <a:rPr lang="he-IL" sz="1600" dirty="0">
                <a:solidFill>
                  <a:prstClr val="black"/>
                </a:solidFill>
                <a:latin typeface="Times New Roman" panose="02020603050405020304" pitchFamily="18" charset="0"/>
                <a:ea typeface="Times New Roman" panose="02020603050405020304" pitchFamily="18" charset="0"/>
                <a:cs typeface="Arial" panose="020B0604020202020204" pitchFamily="34" charset="0"/>
              </a:rPr>
              <a:t>מחיר התפוזים יהיה 12 ש"ח וכמות התפוזים תהיה בדיוק 120 ק"ג.</a:t>
            </a:r>
            <a:endParaRPr lang="en-IL" sz="1600" dirty="0">
              <a:solidFill>
                <a:prstClr val="black"/>
              </a:solidFill>
              <a:latin typeface="Times New Roman" panose="02020603050405020304" pitchFamily="18" charset="0"/>
              <a:ea typeface="Times New Roman" panose="02020603050405020304" pitchFamily="18" charset="0"/>
            </a:endParaRPr>
          </a:p>
          <a:p>
            <a:pPr marL="192881" indent="-192881" algn="r" defTabSz="514350" rtl="1">
              <a:lnSpc>
                <a:spcPct val="150000"/>
              </a:lnSpc>
              <a:buFont typeface="+mj-lt"/>
              <a:buAutoNum type="arabicPeriod"/>
            </a:pPr>
            <a:r>
              <a:rPr lang="he-IL" sz="1600" dirty="0">
                <a:solidFill>
                  <a:prstClr val="black"/>
                </a:solidFill>
                <a:latin typeface="Times New Roman" panose="02020603050405020304" pitchFamily="18" charset="0"/>
                <a:ea typeface="Times New Roman" panose="02020603050405020304" pitchFamily="18" charset="0"/>
                <a:cs typeface="Arial" panose="020B0604020202020204" pitchFamily="34" charset="0"/>
              </a:rPr>
              <a:t>מחיר התפוזים יהיה 12 ש"ח וכמות התפוזים תהיה קטנה מ- 120 ק"ג.</a:t>
            </a:r>
            <a:endParaRPr lang="en-IL" sz="1600" dirty="0">
              <a:solidFill>
                <a:prstClr val="black"/>
              </a:solidFill>
              <a:latin typeface="Times New Roman" panose="02020603050405020304" pitchFamily="18" charset="0"/>
              <a:ea typeface="Times New Roman" panose="02020603050405020304" pitchFamily="18" charset="0"/>
            </a:endParaRPr>
          </a:p>
          <a:p>
            <a:pPr marL="192881" indent="-192881" algn="r" defTabSz="514350" rtl="1">
              <a:lnSpc>
                <a:spcPct val="150000"/>
              </a:lnSpc>
              <a:buFont typeface="+mj-lt"/>
              <a:buAutoNum type="arabicPeriod"/>
            </a:pPr>
            <a:r>
              <a:rPr lang="he-IL" sz="1600" dirty="0">
                <a:solidFill>
                  <a:prstClr val="black"/>
                </a:solidFill>
                <a:latin typeface="Times New Roman" panose="02020603050405020304" pitchFamily="18" charset="0"/>
                <a:ea typeface="Times New Roman" panose="02020603050405020304" pitchFamily="18" charset="0"/>
                <a:cs typeface="Arial" panose="020B0604020202020204" pitchFamily="34" charset="0"/>
              </a:rPr>
              <a:t>מחיר התפוזים יהיה נמוך מ- 12 ש"ח וכמות התפוזים תהיה קטנה מ- 120 ק"ג.</a:t>
            </a:r>
            <a:endParaRPr lang="en-IL" sz="1600" dirty="0">
              <a:solidFill>
                <a:prstClr val="black"/>
              </a:solidFill>
              <a:latin typeface="Times New Roman" panose="02020603050405020304" pitchFamily="18" charset="0"/>
              <a:ea typeface="Times New Roman" panose="02020603050405020304" pitchFamily="18" charset="0"/>
            </a:endParaRPr>
          </a:p>
          <a:p>
            <a:pPr marL="192881" indent="-192881" algn="r" defTabSz="514350" rtl="1">
              <a:lnSpc>
                <a:spcPct val="150000"/>
              </a:lnSpc>
              <a:buFont typeface="+mj-lt"/>
              <a:buAutoNum type="arabicPeriod"/>
            </a:pPr>
            <a:r>
              <a:rPr lang="he-IL" sz="1600" dirty="0">
                <a:solidFill>
                  <a:prstClr val="black"/>
                </a:solidFill>
                <a:latin typeface="Times New Roman" panose="02020603050405020304" pitchFamily="18" charset="0"/>
                <a:ea typeface="Times New Roman" panose="02020603050405020304" pitchFamily="18" charset="0"/>
                <a:cs typeface="Arial" panose="020B0604020202020204" pitchFamily="34" charset="0"/>
              </a:rPr>
              <a:t>מחיר התפוזים יהיה נמוך מ- 12 ש"ח וכמות התפוזים תהיה בדיוק 120 ק"ג.</a:t>
            </a:r>
            <a:endParaRPr lang="en-IL" sz="1600" dirty="0">
              <a:solidFill>
                <a:prstClr val="black"/>
              </a:solidFill>
              <a:latin typeface="Times New Roman" panose="02020603050405020304" pitchFamily="18" charset="0"/>
              <a:ea typeface="Times New Roman" panose="02020603050405020304" pitchFamily="18" charset="0"/>
            </a:endParaRPr>
          </a:p>
          <a:p>
            <a:pPr marL="192881" indent="-192881" algn="r" defTabSz="514350" rtl="1">
              <a:lnSpc>
                <a:spcPct val="150000"/>
              </a:lnSpc>
              <a:buFont typeface="+mj-lt"/>
              <a:buAutoNum type="arabicPeriod"/>
            </a:pPr>
            <a:r>
              <a:rPr lang="he-IL" sz="1600" dirty="0">
                <a:solidFill>
                  <a:prstClr val="black"/>
                </a:solidFill>
                <a:latin typeface="Times New Roman" panose="02020603050405020304" pitchFamily="18" charset="0"/>
                <a:ea typeface="Times New Roman" panose="02020603050405020304" pitchFamily="18" charset="0"/>
                <a:cs typeface="Arial" panose="020B0604020202020204" pitchFamily="34" charset="0"/>
              </a:rPr>
              <a:t>כל התשובות האחרות לא נכונות.</a:t>
            </a:r>
            <a:endParaRPr lang="en-IL" sz="1600" dirty="0">
              <a:solidFill>
                <a:prstClr val="black"/>
              </a:solidFill>
              <a:latin typeface="Times New Roman" panose="02020603050405020304" pitchFamily="18" charset="0"/>
              <a:ea typeface="Times New Roman" panose="02020603050405020304" pitchFamily="18" charset="0"/>
            </a:endParaRPr>
          </a:p>
        </p:txBody>
      </p:sp>
      <p:pic>
        <p:nvPicPr>
          <p:cNvPr id="5" name="תמונה 4">
            <a:extLst>
              <a:ext uri="{FF2B5EF4-FFF2-40B4-BE49-F238E27FC236}">
                <a16:creationId xmlns:a16="http://schemas.microsoft.com/office/drawing/2014/main" id="{DDDAC6F3-A73A-21E3-33E1-4551ED6BD417}"/>
              </a:ext>
            </a:extLst>
          </p:cNvPr>
          <p:cNvPicPr>
            <a:picLocks noChangeAspect="1"/>
          </p:cNvPicPr>
          <p:nvPr/>
        </p:nvPicPr>
        <p:blipFill>
          <a:blip r:embed="rId2"/>
          <a:stretch>
            <a:fillRect/>
          </a:stretch>
        </p:blipFill>
        <p:spPr>
          <a:xfrm>
            <a:off x="1789854" y="817465"/>
            <a:ext cx="9372948" cy="5851893"/>
          </a:xfrm>
          <a:prstGeom prst="rect">
            <a:avLst/>
          </a:prstGeom>
        </p:spPr>
      </p:pic>
      <p:sp>
        <p:nvSpPr>
          <p:cNvPr id="4" name="תיבת טקסט 3">
            <a:extLst>
              <a:ext uri="{FF2B5EF4-FFF2-40B4-BE49-F238E27FC236}">
                <a16:creationId xmlns:a16="http://schemas.microsoft.com/office/drawing/2014/main" id="{C61F9F4D-E47E-AEEE-4171-CC6656121A07}"/>
              </a:ext>
            </a:extLst>
          </p:cNvPr>
          <p:cNvSpPr txBox="1"/>
          <p:nvPr/>
        </p:nvSpPr>
        <p:spPr>
          <a:xfrm>
            <a:off x="405442" y="1500996"/>
            <a:ext cx="4779033" cy="1477328"/>
          </a:xfrm>
          <a:prstGeom prst="rect">
            <a:avLst/>
          </a:prstGeom>
          <a:solidFill>
            <a:schemeClr val="accent1">
              <a:lumMod val="20000"/>
              <a:lumOff val="80000"/>
            </a:schemeClr>
          </a:solidFill>
        </p:spPr>
        <p:txBody>
          <a:bodyPr wrap="square" rtlCol="0">
            <a:spAutoFit/>
          </a:bodyPr>
          <a:lstStyle/>
          <a:p>
            <a:pPr algn="r"/>
            <a:r>
              <a:rPr lang="he-IL" dirty="0"/>
              <a:t>טענות 2 ו3 נכונות (תשובה א' נכונה)</a:t>
            </a:r>
          </a:p>
          <a:p>
            <a:pPr algn="r"/>
            <a:endParaRPr lang="he-IL" dirty="0"/>
          </a:p>
          <a:p>
            <a:pPr algn="r"/>
            <a:r>
              <a:rPr lang="he-IL" dirty="0"/>
              <a:t>הפירמה תייצר בטווח הקצר בלבד (כמות שגדולה מ4 יחידות וקטנה מ-7 יחידות) במחירים הנמוכים מ10 </a:t>
            </a:r>
            <a:r>
              <a:rPr lang="he-IL" dirty="0" err="1"/>
              <a:t>ש''ח</a:t>
            </a:r>
            <a:r>
              <a:rPr lang="he-IL" dirty="0"/>
              <a:t> ולא תייצר כלל במחירים נמוכים מ-6 </a:t>
            </a:r>
            <a:r>
              <a:rPr lang="he-IL" dirty="0" err="1"/>
              <a:t>ש''ח</a:t>
            </a:r>
            <a:endParaRPr lang="en-IL" dirty="0"/>
          </a:p>
        </p:txBody>
      </p:sp>
    </p:spTree>
    <p:extLst>
      <p:ext uri="{BB962C8B-B14F-4D97-AF65-F5344CB8AC3E}">
        <p14:creationId xmlns:p14="http://schemas.microsoft.com/office/powerpoint/2010/main" val="12764654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כותרת 1"/>
          <p:cNvSpPr>
            <a:spLocks noGrp="1"/>
          </p:cNvSpPr>
          <p:nvPr>
            <p:ph type="title"/>
          </p:nvPr>
        </p:nvSpPr>
        <p:spPr>
          <a:xfrm>
            <a:off x="3887064" y="107344"/>
            <a:ext cx="8229600" cy="1143000"/>
          </a:xfrm>
        </p:spPr>
        <p:txBody>
          <a:bodyPr>
            <a:normAutofit/>
          </a:bodyPr>
          <a:lstStyle/>
          <a:p>
            <a:pPr algn="r"/>
            <a:r>
              <a:rPr lang="he-IL" b="1" dirty="0">
                <a:solidFill>
                  <a:schemeClr val="tx2">
                    <a:lumMod val="75000"/>
                  </a:schemeClr>
                </a:solidFill>
                <a:cs typeface="+mn-cs"/>
              </a:rPr>
              <a:t>שאלה 2</a:t>
            </a:r>
          </a:p>
        </p:txBody>
      </p:sp>
      <p:sp>
        <p:nvSpPr>
          <p:cNvPr id="3" name="מציין מיקום תוכן 2"/>
          <p:cNvSpPr>
            <a:spLocks noGrp="1"/>
          </p:cNvSpPr>
          <p:nvPr>
            <p:ph idx="1"/>
          </p:nvPr>
        </p:nvSpPr>
        <p:spPr>
          <a:xfrm>
            <a:off x="2078394" y="330256"/>
            <a:ext cx="6507767" cy="894581"/>
          </a:xfrm>
        </p:spPr>
        <p:txBody>
          <a:bodyPr>
            <a:normAutofit/>
          </a:bodyPr>
          <a:lstStyle/>
          <a:p>
            <a:pPr indent="0" algn="r" rtl="1">
              <a:lnSpc>
                <a:spcPct val="170000"/>
              </a:lnSpc>
              <a:buNone/>
            </a:pPr>
            <a:r>
              <a:rPr lang="he-IL" sz="1200" dirty="0"/>
              <a:t>פירמה פועלת בשוק תחרותי ויש לה עלות קבועה חיובית. העלות השולית פוחתת ולאחר מכן עולה. האם הטענה הבאה נכונה או לא ? יש לנמק</a:t>
            </a:r>
            <a:endParaRPr lang="en-US" sz="1200" dirty="0"/>
          </a:p>
        </p:txBody>
      </p:sp>
      <p:sp>
        <p:nvSpPr>
          <p:cNvPr id="2" name="Rectangle 1">
            <a:extLst>
              <a:ext uri="{FF2B5EF4-FFF2-40B4-BE49-F238E27FC236}">
                <a16:creationId xmlns:a16="http://schemas.microsoft.com/office/drawing/2014/main" id="{CA04278B-821F-4D8F-831E-7AF94CB6DF44}"/>
              </a:ext>
            </a:extLst>
          </p:cNvPr>
          <p:cNvSpPr/>
          <p:nvPr/>
        </p:nvSpPr>
        <p:spPr>
          <a:xfrm>
            <a:off x="3581400" y="1275851"/>
            <a:ext cx="8021252" cy="412998"/>
          </a:xfrm>
          <a:prstGeom prst="rect">
            <a:avLst/>
          </a:prstGeom>
        </p:spPr>
        <p:txBody>
          <a:bodyPr wrap="square">
            <a:spAutoFit/>
          </a:bodyPr>
          <a:lstStyle/>
          <a:p>
            <a:pPr marL="400050" lvl="1" algn="r" rtl="1">
              <a:lnSpc>
                <a:spcPct val="170000"/>
              </a:lnSpc>
              <a:defRPr/>
            </a:pPr>
            <a:r>
              <a:rPr lang="he-IL" sz="1400" dirty="0">
                <a:solidFill>
                  <a:prstClr val="black"/>
                </a:solidFill>
                <a:latin typeface="Calibri"/>
                <a:cs typeface="Arial" panose="020B0604020202020204" pitchFamily="34" charset="0"/>
              </a:rPr>
              <a:t>טענה: במידה והמחיר בשוק הינו 30 ש''ח, הרווח הנקי בוודאות גדול מ-50 ש‘’ח</a:t>
            </a:r>
            <a:r>
              <a:rPr lang="en-US" sz="1400" dirty="0">
                <a:solidFill>
                  <a:prstClr val="black"/>
                </a:solidFill>
                <a:latin typeface="Calibri"/>
              </a:rPr>
              <a:t> </a:t>
            </a:r>
            <a:r>
              <a:rPr lang="he-IL" sz="1400" dirty="0">
                <a:solidFill>
                  <a:prstClr val="black"/>
                </a:solidFill>
                <a:latin typeface="Calibri"/>
                <a:cs typeface="Arial" panose="020B0604020202020204" pitchFamily="34" charset="0"/>
              </a:rPr>
              <a:t> והרווח התפעולי גדול מ- 140.</a:t>
            </a:r>
          </a:p>
        </p:txBody>
      </p:sp>
      <p:cxnSp>
        <p:nvCxnSpPr>
          <p:cNvPr id="5" name="מחבר ישר 2">
            <a:extLst>
              <a:ext uri="{FF2B5EF4-FFF2-40B4-BE49-F238E27FC236}">
                <a16:creationId xmlns:a16="http://schemas.microsoft.com/office/drawing/2014/main" id="{BDD97B3F-29E5-4FC1-BE64-6F61565E2870}"/>
              </a:ext>
            </a:extLst>
          </p:cNvPr>
          <p:cNvCxnSpPr>
            <a:cxnSpLocks/>
          </p:cNvCxnSpPr>
          <p:nvPr/>
        </p:nvCxnSpPr>
        <p:spPr>
          <a:xfrm>
            <a:off x="2140179" y="1953266"/>
            <a:ext cx="28583" cy="4096896"/>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מחבר ישר 4">
            <a:extLst>
              <a:ext uri="{FF2B5EF4-FFF2-40B4-BE49-F238E27FC236}">
                <a16:creationId xmlns:a16="http://schemas.microsoft.com/office/drawing/2014/main" id="{1572BF88-AE4E-47F3-8B41-6CEC5AC5D789}"/>
              </a:ext>
            </a:extLst>
          </p:cNvPr>
          <p:cNvCxnSpPr>
            <a:cxnSpLocks/>
          </p:cNvCxnSpPr>
          <p:nvPr/>
        </p:nvCxnSpPr>
        <p:spPr>
          <a:xfrm>
            <a:off x="2168762" y="6085012"/>
            <a:ext cx="4949029" cy="22174"/>
          </a:xfrm>
          <a:prstGeom prst="line">
            <a:avLst/>
          </a:prstGeom>
        </p:spPr>
        <p:style>
          <a:lnRef idx="1">
            <a:schemeClr val="accent1"/>
          </a:lnRef>
          <a:fillRef idx="0">
            <a:schemeClr val="accent1"/>
          </a:fillRef>
          <a:effectRef idx="0">
            <a:schemeClr val="accent1"/>
          </a:effectRef>
          <a:fontRef idx="minor">
            <a:schemeClr val="tx1"/>
          </a:fontRef>
        </p:style>
      </p:cxnSp>
      <p:sp>
        <p:nvSpPr>
          <p:cNvPr id="8" name="צורה חופשית 5">
            <a:extLst>
              <a:ext uri="{FF2B5EF4-FFF2-40B4-BE49-F238E27FC236}">
                <a16:creationId xmlns:a16="http://schemas.microsoft.com/office/drawing/2014/main" id="{700D213E-E3C5-4CCF-A2BB-1E2BA78AB6AA}"/>
              </a:ext>
            </a:extLst>
          </p:cNvPr>
          <p:cNvSpPr/>
          <p:nvPr/>
        </p:nvSpPr>
        <p:spPr>
          <a:xfrm>
            <a:off x="2275842" y="2496228"/>
            <a:ext cx="4875064" cy="3291002"/>
          </a:xfrm>
          <a:custGeom>
            <a:avLst/>
            <a:gdLst>
              <a:gd name="connsiteX0" fmla="*/ 0 w 5015346"/>
              <a:gd name="connsiteY0" fmla="*/ 2281382 h 3222325"/>
              <a:gd name="connsiteX1" fmla="*/ 1099128 w 5015346"/>
              <a:gd name="connsiteY1" fmla="*/ 3149600 h 3222325"/>
              <a:gd name="connsiteX2" fmla="*/ 2419928 w 5015346"/>
              <a:gd name="connsiteY2" fmla="*/ 2817091 h 3222325"/>
              <a:gd name="connsiteX3" fmla="*/ 5015346 w 5015346"/>
              <a:gd name="connsiteY3" fmla="*/ 0 h 3222325"/>
            </a:gdLst>
            <a:ahLst/>
            <a:cxnLst>
              <a:cxn ang="0">
                <a:pos x="connsiteX0" y="connsiteY0"/>
              </a:cxn>
              <a:cxn ang="0">
                <a:pos x="connsiteX1" y="connsiteY1"/>
              </a:cxn>
              <a:cxn ang="0">
                <a:pos x="connsiteX2" y="connsiteY2"/>
              </a:cxn>
              <a:cxn ang="0">
                <a:pos x="connsiteX3" y="connsiteY3"/>
              </a:cxn>
            </a:cxnLst>
            <a:rect l="l" t="t" r="r" b="b"/>
            <a:pathLst>
              <a:path w="5015346" h="3222325">
                <a:moveTo>
                  <a:pt x="0" y="2281382"/>
                </a:moveTo>
                <a:cubicBezTo>
                  <a:pt x="347903" y="2670848"/>
                  <a:pt x="695807" y="3060315"/>
                  <a:pt x="1099128" y="3149600"/>
                </a:cubicBezTo>
                <a:cubicBezTo>
                  <a:pt x="1502449" y="3238885"/>
                  <a:pt x="1767225" y="3342024"/>
                  <a:pt x="2419928" y="2817091"/>
                </a:cubicBezTo>
                <a:cubicBezTo>
                  <a:pt x="3072631" y="2292158"/>
                  <a:pt x="4043988" y="1146079"/>
                  <a:pt x="5015346" y="0"/>
                </a:cubicBezTo>
              </a:path>
            </a:pathLst>
          </a:custGeom>
          <a:ln w="57150">
            <a:solidFill>
              <a:schemeClr val="tx1"/>
            </a:solidFill>
          </a:ln>
        </p:spPr>
        <p:style>
          <a:lnRef idx="3">
            <a:schemeClr val="accent2"/>
          </a:lnRef>
          <a:fillRef idx="0">
            <a:schemeClr val="accent2"/>
          </a:fillRef>
          <a:effectRef idx="2">
            <a:schemeClr val="accent2"/>
          </a:effectRef>
          <a:fontRef idx="minor">
            <a:schemeClr val="tx1"/>
          </a:fontRef>
        </p:style>
        <p:txBody>
          <a:bodyPr rtlCol="0" anchor="ctr"/>
          <a:lstStyle/>
          <a:p>
            <a:pPr algn="ctr" rtl="1">
              <a:defRPr/>
            </a:pPr>
            <a:endParaRPr lang="en-US">
              <a:solidFill>
                <a:prstClr val="black"/>
              </a:solidFill>
              <a:latin typeface="Calibri"/>
            </a:endParaRPr>
          </a:p>
        </p:txBody>
      </p:sp>
      <p:sp>
        <p:nvSpPr>
          <p:cNvPr id="9" name="TextBox 8">
            <a:extLst>
              <a:ext uri="{FF2B5EF4-FFF2-40B4-BE49-F238E27FC236}">
                <a16:creationId xmlns:a16="http://schemas.microsoft.com/office/drawing/2014/main" id="{051D280E-40D6-4369-82C4-7A478E704038}"/>
              </a:ext>
            </a:extLst>
          </p:cNvPr>
          <p:cNvSpPr txBox="1"/>
          <p:nvPr/>
        </p:nvSpPr>
        <p:spPr>
          <a:xfrm>
            <a:off x="6345056" y="2565901"/>
            <a:ext cx="545341" cy="400110"/>
          </a:xfrm>
          <a:prstGeom prst="rect">
            <a:avLst/>
          </a:prstGeom>
          <a:noFill/>
        </p:spPr>
        <p:txBody>
          <a:bodyPr wrap="none" rtlCol="0">
            <a:spAutoFit/>
          </a:bodyPr>
          <a:lstStyle/>
          <a:p>
            <a:pPr algn="r" rtl="1">
              <a:defRPr/>
            </a:pPr>
            <a:r>
              <a:rPr lang="en-US" sz="2000" b="1" dirty="0">
                <a:solidFill>
                  <a:srgbClr val="C0504D">
                    <a:lumMod val="75000"/>
                  </a:srgbClr>
                </a:solidFill>
                <a:latin typeface="Calibri"/>
              </a:rPr>
              <a:t>MC</a:t>
            </a:r>
          </a:p>
        </p:txBody>
      </p:sp>
      <p:sp>
        <p:nvSpPr>
          <p:cNvPr id="10" name="צורה חופשית 7">
            <a:extLst>
              <a:ext uri="{FF2B5EF4-FFF2-40B4-BE49-F238E27FC236}">
                <a16:creationId xmlns:a16="http://schemas.microsoft.com/office/drawing/2014/main" id="{5D9DB8BA-B2CF-48B1-B348-EE54B37FD24E}"/>
              </a:ext>
            </a:extLst>
          </p:cNvPr>
          <p:cNvSpPr/>
          <p:nvPr/>
        </p:nvSpPr>
        <p:spPr>
          <a:xfrm>
            <a:off x="2257775" y="3493513"/>
            <a:ext cx="5119449" cy="1824241"/>
          </a:xfrm>
          <a:custGeom>
            <a:avLst/>
            <a:gdLst>
              <a:gd name="connsiteX0" fmla="*/ 0 w 5298831"/>
              <a:gd name="connsiteY0" fmla="*/ 0 h 2297730"/>
              <a:gd name="connsiteX1" fmla="*/ 1160584 w 5298831"/>
              <a:gd name="connsiteY1" fmla="*/ 1453662 h 2297730"/>
              <a:gd name="connsiteX2" fmla="*/ 2637692 w 5298831"/>
              <a:gd name="connsiteY2" fmla="*/ 2297724 h 2297730"/>
              <a:gd name="connsiteX3" fmla="*/ 5298831 w 5298831"/>
              <a:gd name="connsiteY3" fmla="*/ 1441939 h 2297730"/>
            </a:gdLst>
            <a:ahLst/>
            <a:cxnLst>
              <a:cxn ang="0">
                <a:pos x="connsiteX0" y="connsiteY0"/>
              </a:cxn>
              <a:cxn ang="0">
                <a:pos x="connsiteX1" y="connsiteY1"/>
              </a:cxn>
              <a:cxn ang="0">
                <a:pos x="connsiteX2" y="connsiteY2"/>
              </a:cxn>
              <a:cxn ang="0">
                <a:pos x="connsiteX3" y="connsiteY3"/>
              </a:cxn>
            </a:cxnLst>
            <a:rect l="l" t="t" r="r" b="b"/>
            <a:pathLst>
              <a:path w="5298831" h="2297730">
                <a:moveTo>
                  <a:pt x="0" y="0"/>
                </a:moveTo>
                <a:cubicBezTo>
                  <a:pt x="360484" y="535354"/>
                  <a:pt x="720969" y="1070708"/>
                  <a:pt x="1160584" y="1453662"/>
                </a:cubicBezTo>
                <a:cubicBezTo>
                  <a:pt x="1600199" y="1836616"/>
                  <a:pt x="1947984" y="2299678"/>
                  <a:pt x="2637692" y="2297724"/>
                </a:cubicBezTo>
                <a:cubicBezTo>
                  <a:pt x="3327400" y="2295770"/>
                  <a:pt x="4313115" y="1868854"/>
                  <a:pt x="5298831" y="1441939"/>
                </a:cubicBezTo>
              </a:path>
            </a:pathLst>
          </a:custGeom>
          <a:noFill/>
          <a:ln w="38100">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defRPr/>
            </a:pPr>
            <a:endParaRPr lang="en-US">
              <a:solidFill>
                <a:srgbClr val="FF0000"/>
              </a:solidFill>
              <a:latin typeface="Calibri"/>
            </a:endParaRPr>
          </a:p>
        </p:txBody>
      </p:sp>
      <p:sp>
        <p:nvSpPr>
          <p:cNvPr id="11" name="TextBox 10">
            <a:extLst>
              <a:ext uri="{FF2B5EF4-FFF2-40B4-BE49-F238E27FC236}">
                <a16:creationId xmlns:a16="http://schemas.microsoft.com/office/drawing/2014/main" id="{BA38DA79-401E-47FD-AAAD-A3D882AB5A4B}"/>
              </a:ext>
            </a:extLst>
          </p:cNvPr>
          <p:cNvSpPr txBox="1"/>
          <p:nvPr/>
        </p:nvSpPr>
        <p:spPr>
          <a:xfrm>
            <a:off x="6696311" y="4659722"/>
            <a:ext cx="611449" cy="400110"/>
          </a:xfrm>
          <a:prstGeom prst="rect">
            <a:avLst/>
          </a:prstGeom>
          <a:noFill/>
        </p:spPr>
        <p:txBody>
          <a:bodyPr wrap="none" rtlCol="0">
            <a:spAutoFit/>
          </a:bodyPr>
          <a:lstStyle/>
          <a:p>
            <a:pPr algn="r" rtl="1">
              <a:defRPr/>
            </a:pPr>
            <a:r>
              <a:rPr lang="en-US" sz="2000" b="1" dirty="0">
                <a:solidFill>
                  <a:srgbClr val="C0504D">
                    <a:lumMod val="75000"/>
                  </a:srgbClr>
                </a:solidFill>
                <a:latin typeface="Calibri"/>
              </a:rPr>
              <a:t>AVC</a:t>
            </a:r>
          </a:p>
        </p:txBody>
      </p:sp>
      <p:sp>
        <p:nvSpPr>
          <p:cNvPr id="12" name="TextBox 11">
            <a:extLst>
              <a:ext uri="{FF2B5EF4-FFF2-40B4-BE49-F238E27FC236}">
                <a16:creationId xmlns:a16="http://schemas.microsoft.com/office/drawing/2014/main" id="{24B52F36-C69C-44D2-862D-DCF656D45E67}"/>
              </a:ext>
            </a:extLst>
          </p:cNvPr>
          <p:cNvSpPr txBox="1"/>
          <p:nvPr/>
        </p:nvSpPr>
        <p:spPr>
          <a:xfrm>
            <a:off x="4114800" y="6142036"/>
            <a:ext cx="766718" cy="338554"/>
          </a:xfrm>
          <a:prstGeom prst="rect">
            <a:avLst/>
          </a:prstGeom>
          <a:noFill/>
        </p:spPr>
        <p:txBody>
          <a:bodyPr wrap="square" rtlCol="0">
            <a:spAutoFit/>
          </a:bodyPr>
          <a:lstStyle/>
          <a:p>
            <a:pPr algn="r" rtl="1">
              <a:defRPr/>
            </a:pPr>
            <a:r>
              <a:rPr lang="en-US" sz="1600" dirty="0">
                <a:solidFill>
                  <a:srgbClr val="EEECE1">
                    <a:lumMod val="25000"/>
                  </a:srgbClr>
                </a:solidFill>
                <a:latin typeface="Calibri"/>
              </a:rPr>
              <a:t>X1=7</a:t>
            </a:r>
          </a:p>
        </p:txBody>
      </p:sp>
      <p:sp>
        <p:nvSpPr>
          <p:cNvPr id="14" name="TextBox 13">
            <a:extLst>
              <a:ext uri="{FF2B5EF4-FFF2-40B4-BE49-F238E27FC236}">
                <a16:creationId xmlns:a16="http://schemas.microsoft.com/office/drawing/2014/main" id="{DA629CBA-4D40-4D9C-BE7B-6AE9E26CD129}"/>
              </a:ext>
            </a:extLst>
          </p:cNvPr>
          <p:cNvSpPr txBox="1"/>
          <p:nvPr/>
        </p:nvSpPr>
        <p:spPr>
          <a:xfrm>
            <a:off x="1572973" y="5206132"/>
            <a:ext cx="684803" cy="307777"/>
          </a:xfrm>
          <a:prstGeom prst="rect">
            <a:avLst/>
          </a:prstGeom>
          <a:noFill/>
        </p:spPr>
        <p:txBody>
          <a:bodyPr wrap="none" rtlCol="0">
            <a:spAutoFit/>
          </a:bodyPr>
          <a:lstStyle/>
          <a:p>
            <a:pPr algn="r" rtl="1">
              <a:defRPr/>
            </a:pPr>
            <a:r>
              <a:rPr lang="en-US" sz="1400" b="1" dirty="0">
                <a:solidFill>
                  <a:srgbClr val="C0504D">
                    <a:lumMod val="75000"/>
                  </a:srgbClr>
                </a:solidFill>
                <a:latin typeface="Calibri"/>
              </a:rPr>
              <a:t>P1=10 </a:t>
            </a:r>
          </a:p>
        </p:txBody>
      </p:sp>
      <p:cxnSp>
        <p:nvCxnSpPr>
          <p:cNvPr id="15" name="מחבר ישר 13">
            <a:extLst>
              <a:ext uri="{FF2B5EF4-FFF2-40B4-BE49-F238E27FC236}">
                <a16:creationId xmlns:a16="http://schemas.microsoft.com/office/drawing/2014/main" id="{893BC0FD-74C0-4B49-9501-1D33525468FD}"/>
              </a:ext>
            </a:extLst>
          </p:cNvPr>
          <p:cNvCxnSpPr>
            <a:cxnSpLocks/>
          </p:cNvCxnSpPr>
          <p:nvPr/>
        </p:nvCxnSpPr>
        <p:spPr>
          <a:xfrm flipH="1">
            <a:off x="2224408" y="5317755"/>
            <a:ext cx="5489086" cy="64513"/>
          </a:xfrm>
          <a:prstGeom prst="line">
            <a:avLst/>
          </a:prstGeom>
          <a:ln w="9525">
            <a:solidFill>
              <a:schemeClr val="bg2">
                <a:lumMod val="25000"/>
              </a:schemeClr>
            </a:solidFill>
            <a:prstDash val="sysDash"/>
          </a:ln>
        </p:spPr>
        <p:style>
          <a:lnRef idx="3">
            <a:schemeClr val="accent2"/>
          </a:lnRef>
          <a:fillRef idx="0">
            <a:schemeClr val="accent2"/>
          </a:fillRef>
          <a:effectRef idx="2">
            <a:schemeClr val="accent2"/>
          </a:effectRef>
          <a:fontRef idx="minor">
            <a:schemeClr val="tx1"/>
          </a:fontRef>
        </p:style>
      </p:cxnSp>
      <p:sp>
        <p:nvSpPr>
          <p:cNvPr id="19" name="צורה חופשית 20">
            <a:extLst>
              <a:ext uri="{FF2B5EF4-FFF2-40B4-BE49-F238E27FC236}">
                <a16:creationId xmlns:a16="http://schemas.microsoft.com/office/drawing/2014/main" id="{6FF6AA0B-78D2-4F37-BB19-19444E9BD2D2}"/>
              </a:ext>
            </a:extLst>
          </p:cNvPr>
          <p:cNvSpPr/>
          <p:nvPr/>
        </p:nvSpPr>
        <p:spPr>
          <a:xfrm>
            <a:off x="3235608" y="2163578"/>
            <a:ext cx="4772874" cy="2297730"/>
          </a:xfrm>
          <a:custGeom>
            <a:avLst/>
            <a:gdLst>
              <a:gd name="connsiteX0" fmla="*/ 0 w 5298831"/>
              <a:gd name="connsiteY0" fmla="*/ 0 h 2297730"/>
              <a:gd name="connsiteX1" fmla="*/ 1160584 w 5298831"/>
              <a:gd name="connsiteY1" fmla="*/ 1453662 h 2297730"/>
              <a:gd name="connsiteX2" fmla="*/ 2637692 w 5298831"/>
              <a:gd name="connsiteY2" fmla="*/ 2297724 h 2297730"/>
              <a:gd name="connsiteX3" fmla="*/ 5298831 w 5298831"/>
              <a:gd name="connsiteY3" fmla="*/ 1441939 h 2297730"/>
            </a:gdLst>
            <a:ahLst/>
            <a:cxnLst>
              <a:cxn ang="0">
                <a:pos x="connsiteX0" y="connsiteY0"/>
              </a:cxn>
              <a:cxn ang="0">
                <a:pos x="connsiteX1" y="connsiteY1"/>
              </a:cxn>
              <a:cxn ang="0">
                <a:pos x="connsiteX2" y="connsiteY2"/>
              </a:cxn>
              <a:cxn ang="0">
                <a:pos x="connsiteX3" y="connsiteY3"/>
              </a:cxn>
            </a:cxnLst>
            <a:rect l="l" t="t" r="r" b="b"/>
            <a:pathLst>
              <a:path w="5298831" h="2297730">
                <a:moveTo>
                  <a:pt x="0" y="0"/>
                </a:moveTo>
                <a:cubicBezTo>
                  <a:pt x="360484" y="535354"/>
                  <a:pt x="720969" y="1070708"/>
                  <a:pt x="1160584" y="1453662"/>
                </a:cubicBezTo>
                <a:cubicBezTo>
                  <a:pt x="1600199" y="1836616"/>
                  <a:pt x="1947984" y="2299678"/>
                  <a:pt x="2637692" y="2297724"/>
                </a:cubicBezTo>
                <a:cubicBezTo>
                  <a:pt x="3327400" y="2295770"/>
                  <a:pt x="4313115" y="1868854"/>
                  <a:pt x="5298831" y="1441939"/>
                </a:cubicBezTo>
              </a:path>
            </a:pathLst>
          </a:custGeom>
          <a:noFill/>
          <a:ln w="5715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defRPr/>
            </a:pPr>
            <a:endParaRPr lang="en-US">
              <a:solidFill>
                <a:srgbClr val="FF0000"/>
              </a:solidFill>
              <a:latin typeface="Calibri"/>
            </a:endParaRPr>
          </a:p>
        </p:txBody>
      </p:sp>
      <p:sp>
        <p:nvSpPr>
          <p:cNvPr id="20" name="TextBox 19">
            <a:extLst>
              <a:ext uri="{FF2B5EF4-FFF2-40B4-BE49-F238E27FC236}">
                <a16:creationId xmlns:a16="http://schemas.microsoft.com/office/drawing/2014/main" id="{FAD2A819-9DF3-4E06-824E-2E6E2E61AD8D}"/>
              </a:ext>
            </a:extLst>
          </p:cNvPr>
          <p:cNvSpPr txBox="1"/>
          <p:nvPr/>
        </p:nvSpPr>
        <p:spPr>
          <a:xfrm>
            <a:off x="7713195" y="3145916"/>
            <a:ext cx="577338" cy="400110"/>
          </a:xfrm>
          <a:prstGeom prst="rect">
            <a:avLst/>
          </a:prstGeom>
          <a:noFill/>
        </p:spPr>
        <p:txBody>
          <a:bodyPr wrap="none" rtlCol="0">
            <a:spAutoFit/>
          </a:bodyPr>
          <a:lstStyle/>
          <a:p>
            <a:pPr algn="r" rtl="1">
              <a:defRPr/>
            </a:pPr>
            <a:r>
              <a:rPr lang="en-US" sz="2000" b="1" dirty="0">
                <a:solidFill>
                  <a:srgbClr val="4F81BD"/>
                </a:solidFill>
                <a:latin typeface="Calibri"/>
              </a:rPr>
              <a:t>ATC</a:t>
            </a:r>
          </a:p>
        </p:txBody>
      </p:sp>
      <p:sp>
        <p:nvSpPr>
          <p:cNvPr id="4" name="Date Placeholder 3">
            <a:extLst>
              <a:ext uri="{FF2B5EF4-FFF2-40B4-BE49-F238E27FC236}">
                <a16:creationId xmlns:a16="http://schemas.microsoft.com/office/drawing/2014/main" id="{584DE56C-C44D-4D48-9C3E-75A3D9709C49}"/>
              </a:ext>
            </a:extLst>
          </p:cNvPr>
          <p:cNvSpPr>
            <a:spLocks noGrp="1"/>
          </p:cNvSpPr>
          <p:nvPr>
            <p:ph type="dt" sz="half" idx="10"/>
          </p:nvPr>
        </p:nvSpPr>
        <p:spPr/>
        <p:txBody>
          <a:bodyPr/>
          <a:lstStyle/>
          <a:p>
            <a:pPr algn="r" rtl="1">
              <a:defRPr/>
            </a:pPr>
            <a:fld id="{1C4AF23D-B481-41D2-B585-D9273B3E3231}" type="datetime8">
              <a:rPr lang="he-IL" sz="1200">
                <a:solidFill>
                  <a:prstClr val="black">
                    <a:tint val="75000"/>
                  </a:prstClr>
                </a:solidFill>
                <a:latin typeface="Calibri"/>
                <a:cs typeface="Arial" panose="020B0604020202020204" pitchFamily="34" charset="0"/>
              </a:rPr>
              <a:pPr algn="r" rtl="1">
                <a:defRPr/>
              </a:pPr>
              <a:t>19 ינואר 26</a:t>
            </a:fld>
            <a:endParaRPr lang="he-IL" sz="1200">
              <a:solidFill>
                <a:prstClr val="black">
                  <a:tint val="75000"/>
                </a:prstClr>
              </a:solidFill>
              <a:latin typeface="Calibri"/>
              <a:cs typeface="Arial" panose="020B0604020202020204" pitchFamily="34" charset="0"/>
            </a:endParaRPr>
          </a:p>
        </p:txBody>
      </p:sp>
      <p:sp>
        <p:nvSpPr>
          <p:cNvPr id="13" name="Slide Number Placeholder 12">
            <a:extLst>
              <a:ext uri="{FF2B5EF4-FFF2-40B4-BE49-F238E27FC236}">
                <a16:creationId xmlns:a16="http://schemas.microsoft.com/office/drawing/2014/main" id="{C096BDA7-CB03-46D8-9E9F-08A6E28B23A3}"/>
              </a:ext>
            </a:extLst>
          </p:cNvPr>
          <p:cNvSpPr>
            <a:spLocks noGrp="1"/>
          </p:cNvSpPr>
          <p:nvPr>
            <p:ph type="sldNum" sz="quarter" idx="12"/>
          </p:nvPr>
        </p:nvSpPr>
        <p:spPr/>
        <p:txBody>
          <a:bodyPr/>
          <a:lstStyle/>
          <a:p>
            <a:pPr algn="l" rtl="1">
              <a:defRPr/>
            </a:pPr>
            <a:fld id="{492DB488-E800-4C9D-A68D-A9C6D048BCD3}" type="slidenum">
              <a:rPr lang="he-IL" sz="1200">
                <a:solidFill>
                  <a:prstClr val="black">
                    <a:tint val="75000"/>
                  </a:prstClr>
                </a:solidFill>
                <a:latin typeface="Calibri"/>
                <a:cs typeface="Arial" panose="020B0604020202020204" pitchFamily="34" charset="0"/>
              </a:rPr>
              <a:pPr algn="l" rtl="1">
                <a:defRPr/>
              </a:pPr>
              <a:t>60</a:t>
            </a:fld>
            <a:endParaRPr lang="he-IL" sz="1200" dirty="0">
              <a:solidFill>
                <a:prstClr val="black">
                  <a:tint val="75000"/>
                </a:prstClr>
              </a:solidFill>
              <a:latin typeface="Calibri"/>
              <a:cs typeface="Arial" panose="020B0604020202020204" pitchFamily="34" charset="0"/>
            </a:endParaRPr>
          </a:p>
        </p:txBody>
      </p:sp>
      <p:sp>
        <p:nvSpPr>
          <p:cNvPr id="21" name="TextBox 20">
            <a:extLst>
              <a:ext uri="{FF2B5EF4-FFF2-40B4-BE49-F238E27FC236}">
                <a16:creationId xmlns:a16="http://schemas.microsoft.com/office/drawing/2014/main" id="{A92D9AAD-1787-4FAF-BA83-86EA7BAFA971}"/>
              </a:ext>
            </a:extLst>
          </p:cNvPr>
          <p:cNvSpPr txBox="1"/>
          <p:nvPr/>
        </p:nvSpPr>
        <p:spPr>
          <a:xfrm>
            <a:off x="1506235" y="4337288"/>
            <a:ext cx="684803" cy="307777"/>
          </a:xfrm>
          <a:prstGeom prst="rect">
            <a:avLst/>
          </a:prstGeom>
          <a:noFill/>
        </p:spPr>
        <p:txBody>
          <a:bodyPr wrap="none" rtlCol="0">
            <a:spAutoFit/>
          </a:bodyPr>
          <a:lstStyle/>
          <a:p>
            <a:pPr algn="r" rtl="1">
              <a:defRPr/>
            </a:pPr>
            <a:r>
              <a:rPr lang="en-US" sz="1400" b="1" dirty="0">
                <a:solidFill>
                  <a:srgbClr val="1F497D"/>
                </a:solidFill>
                <a:latin typeface="Calibri"/>
              </a:rPr>
              <a:t>P2=25</a:t>
            </a:r>
            <a:r>
              <a:rPr lang="en-US" sz="1400" b="1" dirty="0">
                <a:solidFill>
                  <a:srgbClr val="C0504D">
                    <a:lumMod val="75000"/>
                  </a:srgbClr>
                </a:solidFill>
                <a:latin typeface="Calibri"/>
              </a:rPr>
              <a:t> </a:t>
            </a:r>
          </a:p>
        </p:txBody>
      </p:sp>
      <p:cxnSp>
        <p:nvCxnSpPr>
          <p:cNvPr id="22" name="מחבר ישר 13">
            <a:extLst>
              <a:ext uri="{FF2B5EF4-FFF2-40B4-BE49-F238E27FC236}">
                <a16:creationId xmlns:a16="http://schemas.microsoft.com/office/drawing/2014/main" id="{9968D9C4-3B4B-4843-8EAF-70419582006E}"/>
              </a:ext>
            </a:extLst>
          </p:cNvPr>
          <p:cNvCxnSpPr>
            <a:cxnSpLocks/>
          </p:cNvCxnSpPr>
          <p:nvPr/>
        </p:nvCxnSpPr>
        <p:spPr>
          <a:xfrm flipH="1">
            <a:off x="2157670" y="4448911"/>
            <a:ext cx="5489086" cy="64513"/>
          </a:xfrm>
          <a:prstGeom prst="line">
            <a:avLst/>
          </a:prstGeom>
          <a:ln w="19050">
            <a:solidFill>
              <a:schemeClr val="tx2"/>
            </a:solidFill>
            <a:prstDash val="sysDash"/>
          </a:ln>
        </p:spPr>
        <p:style>
          <a:lnRef idx="3">
            <a:schemeClr val="accent2"/>
          </a:lnRef>
          <a:fillRef idx="0">
            <a:schemeClr val="accent2"/>
          </a:fillRef>
          <a:effectRef idx="2">
            <a:schemeClr val="accent2"/>
          </a:effectRef>
          <a:fontRef idx="minor">
            <a:schemeClr val="tx1"/>
          </a:fontRef>
        </p:style>
      </p:cxnSp>
      <p:cxnSp>
        <p:nvCxnSpPr>
          <p:cNvPr id="23" name="מחבר ישר 13">
            <a:extLst>
              <a:ext uri="{FF2B5EF4-FFF2-40B4-BE49-F238E27FC236}">
                <a16:creationId xmlns:a16="http://schemas.microsoft.com/office/drawing/2014/main" id="{B51ABF78-FAD6-4A41-9517-63351D1252FC}"/>
              </a:ext>
            </a:extLst>
          </p:cNvPr>
          <p:cNvCxnSpPr>
            <a:cxnSpLocks/>
          </p:cNvCxnSpPr>
          <p:nvPr/>
        </p:nvCxnSpPr>
        <p:spPr>
          <a:xfrm flipV="1">
            <a:off x="4626029" y="5382268"/>
            <a:ext cx="0" cy="702744"/>
          </a:xfrm>
          <a:prstGeom prst="line">
            <a:avLst/>
          </a:prstGeom>
          <a:ln w="28575">
            <a:prstDash val="sysDash"/>
          </a:ln>
        </p:spPr>
        <p:style>
          <a:lnRef idx="3">
            <a:schemeClr val="accent2"/>
          </a:lnRef>
          <a:fillRef idx="0">
            <a:schemeClr val="accent2"/>
          </a:fillRef>
          <a:effectRef idx="2">
            <a:schemeClr val="accent2"/>
          </a:effectRef>
          <a:fontRef idx="minor">
            <a:schemeClr val="tx1"/>
          </a:fontRef>
        </p:style>
      </p:cxnSp>
      <p:cxnSp>
        <p:nvCxnSpPr>
          <p:cNvPr id="26" name="מחבר ישר 13">
            <a:extLst>
              <a:ext uri="{FF2B5EF4-FFF2-40B4-BE49-F238E27FC236}">
                <a16:creationId xmlns:a16="http://schemas.microsoft.com/office/drawing/2014/main" id="{3D94A4B9-AE0C-45D6-AD2B-D107F05D5865}"/>
              </a:ext>
            </a:extLst>
          </p:cNvPr>
          <p:cNvCxnSpPr>
            <a:cxnSpLocks/>
          </p:cNvCxnSpPr>
          <p:nvPr/>
        </p:nvCxnSpPr>
        <p:spPr>
          <a:xfrm>
            <a:off x="5519936" y="4481166"/>
            <a:ext cx="0" cy="1626020"/>
          </a:xfrm>
          <a:prstGeom prst="line">
            <a:avLst/>
          </a:prstGeom>
          <a:ln w="28575">
            <a:solidFill>
              <a:schemeClr val="tx2"/>
            </a:solidFill>
            <a:prstDash val="sysDash"/>
          </a:ln>
        </p:spPr>
        <p:style>
          <a:lnRef idx="3">
            <a:schemeClr val="accent2"/>
          </a:lnRef>
          <a:fillRef idx="0">
            <a:schemeClr val="accent2"/>
          </a:fillRef>
          <a:effectRef idx="2">
            <a:schemeClr val="accent2"/>
          </a:effectRef>
          <a:fontRef idx="minor">
            <a:schemeClr val="tx1"/>
          </a:fontRef>
        </p:style>
      </p:cxnSp>
      <p:sp>
        <p:nvSpPr>
          <p:cNvPr id="29" name="TextBox 28">
            <a:extLst>
              <a:ext uri="{FF2B5EF4-FFF2-40B4-BE49-F238E27FC236}">
                <a16:creationId xmlns:a16="http://schemas.microsoft.com/office/drawing/2014/main" id="{EE1AFE30-1088-4288-910F-DE3128EA7C52}"/>
              </a:ext>
            </a:extLst>
          </p:cNvPr>
          <p:cNvSpPr txBox="1"/>
          <p:nvPr/>
        </p:nvSpPr>
        <p:spPr>
          <a:xfrm>
            <a:off x="5015880" y="6149452"/>
            <a:ext cx="766718" cy="338554"/>
          </a:xfrm>
          <a:prstGeom prst="rect">
            <a:avLst/>
          </a:prstGeom>
          <a:noFill/>
        </p:spPr>
        <p:txBody>
          <a:bodyPr wrap="square" rtlCol="0">
            <a:spAutoFit/>
          </a:bodyPr>
          <a:lstStyle/>
          <a:p>
            <a:pPr algn="r" rtl="1">
              <a:defRPr/>
            </a:pPr>
            <a:r>
              <a:rPr lang="en-US" sz="1600" dirty="0">
                <a:solidFill>
                  <a:srgbClr val="EEECE1">
                    <a:lumMod val="25000"/>
                  </a:srgbClr>
                </a:solidFill>
                <a:latin typeface="Calibri"/>
              </a:rPr>
              <a:t>X2=10</a:t>
            </a:r>
          </a:p>
        </p:txBody>
      </p:sp>
      <p:sp>
        <p:nvSpPr>
          <p:cNvPr id="16" name="TextBox 15">
            <a:extLst>
              <a:ext uri="{FF2B5EF4-FFF2-40B4-BE49-F238E27FC236}">
                <a16:creationId xmlns:a16="http://schemas.microsoft.com/office/drawing/2014/main" id="{584A57E9-29FD-250D-5794-E843BBC64002}"/>
              </a:ext>
            </a:extLst>
          </p:cNvPr>
          <p:cNvSpPr txBox="1"/>
          <p:nvPr/>
        </p:nvSpPr>
        <p:spPr>
          <a:xfrm>
            <a:off x="1509850" y="3847537"/>
            <a:ext cx="683200" cy="307777"/>
          </a:xfrm>
          <a:prstGeom prst="rect">
            <a:avLst/>
          </a:prstGeom>
          <a:noFill/>
        </p:spPr>
        <p:txBody>
          <a:bodyPr wrap="none" rtlCol="0">
            <a:spAutoFit/>
          </a:bodyPr>
          <a:lstStyle/>
          <a:p>
            <a:pPr algn="r" rtl="1">
              <a:defRPr/>
            </a:pPr>
            <a:r>
              <a:rPr lang="en-US" sz="1400" b="1" dirty="0">
                <a:solidFill>
                  <a:srgbClr val="C00000"/>
                </a:solidFill>
                <a:latin typeface="Calibri"/>
              </a:rPr>
              <a:t>P*=30 </a:t>
            </a:r>
          </a:p>
        </p:txBody>
      </p:sp>
      <p:cxnSp>
        <p:nvCxnSpPr>
          <p:cNvPr id="17" name="מחבר ישר 13">
            <a:extLst>
              <a:ext uri="{FF2B5EF4-FFF2-40B4-BE49-F238E27FC236}">
                <a16:creationId xmlns:a16="http://schemas.microsoft.com/office/drawing/2014/main" id="{E316B62D-23FC-440D-2599-A12220311D6F}"/>
              </a:ext>
            </a:extLst>
          </p:cNvPr>
          <p:cNvCxnSpPr>
            <a:cxnSpLocks/>
          </p:cNvCxnSpPr>
          <p:nvPr/>
        </p:nvCxnSpPr>
        <p:spPr>
          <a:xfrm flipH="1">
            <a:off x="2144640" y="3988432"/>
            <a:ext cx="3807344" cy="51017"/>
          </a:xfrm>
          <a:prstGeom prst="line">
            <a:avLst/>
          </a:prstGeom>
          <a:ln w="28575">
            <a:solidFill>
              <a:srgbClr val="C00000"/>
            </a:solidFill>
            <a:prstDash val="sysDash"/>
          </a:ln>
        </p:spPr>
        <p:style>
          <a:lnRef idx="3">
            <a:schemeClr val="accent2"/>
          </a:lnRef>
          <a:fillRef idx="0">
            <a:schemeClr val="accent2"/>
          </a:fillRef>
          <a:effectRef idx="2">
            <a:schemeClr val="accent2"/>
          </a:effectRef>
          <a:fontRef idx="minor">
            <a:schemeClr val="tx1"/>
          </a:fontRef>
        </p:style>
      </p:cxnSp>
      <p:cxnSp>
        <p:nvCxnSpPr>
          <p:cNvPr id="24" name="מחבר ישר 13">
            <a:extLst>
              <a:ext uri="{FF2B5EF4-FFF2-40B4-BE49-F238E27FC236}">
                <a16:creationId xmlns:a16="http://schemas.microsoft.com/office/drawing/2014/main" id="{E2EBD1BE-3B74-4897-6E7A-C7546B1D7656}"/>
              </a:ext>
            </a:extLst>
          </p:cNvPr>
          <p:cNvCxnSpPr>
            <a:cxnSpLocks/>
          </p:cNvCxnSpPr>
          <p:nvPr/>
        </p:nvCxnSpPr>
        <p:spPr>
          <a:xfrm flipH="1" flipV="1">
            <a:off x="5930422" y="3968612"/>
            <a:ext cx="21563" cy="2083587"/>
          </a:xfrm>
          <a:prstGeom prst="line">
            <a:avLst/>
          </a:prstGeom>
          <a:ln w="28575">
            <a:solidFill>
              <a:srgbClr val="C00000"/>
            </a:solidFill>
            <a:prstDash val="sysDash"/>
          </a:ln>
        </p:spPr>
        <p:style>
          <a:lnRef idx="3">
            <a:schemeClr val="accent2"/>
          </a:lnRef>
          <a:fillRef idx="0">
            <a:schemeClr val="accent2"/>
          </a:fillRef>
          <a:effectRef idx="2">
            <a:schemeClr val="accent2"/>
          </a:effectRef>
          <a:fontRef idx="minor">
            <a:schemeClr val="tx1"/>
          </a:fontRef>
        </p:style>
      </p:cxnSp>
      <p:sp>
        <p:nvSpPr>
          <p:cNvPr id="30" name="TextBox 29">
            <a:extLst>
              <a:ext uri="{FF2B5EF4-FFF2-40B4-BE49-F238E27FC236}">
                <a16:creationId xmlns:a16="http://schemas.microsoft.com/office/drawing/2014/main" id="{3FA1EEE1-6770-CFB2-4B03-A655656861B1}"/>
              </a:ext>
            </a:extLst>
          </p:cNvPr>
          <p:cNvSpPr txBox="1"/>
          <p:nvPr/>
        </p:nvSpPr>
        <p:spPr>
          <a:xfrm>
            <a:off x="5838704" y="6145740"/>
            <a:ext cx="415498" cy="400110"/>
          </a:xfrm>
          <a:prstGeom prst="rect">
            <a:avLst/>
          </a:prstGeom>
          <a:noFill/>
        </p:spPr>
        <p:txBody>
          <a:bodyPr wrap="none" rtlCol="0">
            <a:spAutoFit/>
          </a:bodyPr>
          <a:lstStyle/>
          <a:p>
            <a:pPr algn="r" rtl="1">
              <a:defRPr/>
            </a:pPr>
            <a:r>
              <a:rPr lang="en-US" sz="2000" b="1" dirty="0">
                <a:solidFill>
                  <a:srgbClr val="C00000"/>
                </a:solidFill>
                <a:latin typeface="Calibri"/>
              </a:rPr>
              <a:t>X</a:t>
            </a:r>
            <a:r>
              <a:rPr lang="en-US" sz="1400" b="1" dirty="0">
                <a:solidFill>
                  <a:srgbClr val="C00000"/>
                </a:solidFill>
                <a:latin typeface="Calibri"/>
              </a:rPr>
              <a:t>*</a:t>
            </a:r>
          </a:p>
        </p:txBody>
      </p:sp>
    </p:spTree>
    <p:extLst>
      <p:ext uri="{BB962C8B-B14F-4D97-AF65-F5344CB8AC3E}">
        <p14:creationId xmlns:p14="http://schemas.microsoft.com/office/powerpoint/2010/main" val="4058022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 presetClass="entr" presetSubtype="16"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circle(in)">
                                      <p:cBhvr>
                                        <p:cTn id="11" dur="2000"/>
                                        <p:tgtEl>
                                          <p:spTgt spid="1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par>
                                <p:cTn id="17" presetID="10"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30"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EC6A1-7C4E-4204-6207-F53C904D4F48}"/>
            </a:ext>
          </a:extLst>
        </p:cNvPr>
        <p:cNvGrpSpPr/>
        <p:nvPr/>
      </p:nvGrpSpPr>
      <p:grpSpPr>
        <a:xfrm>
          <a:off x="0" y="0"/>
          <a:ext cx="0" cy="0"/>
          <a:chOff x="0" y="0"/>
          <a:chExt cx="0" cy="0"/>
        </a:xfrm>
      </p:grpSpPr>
      <p:sp>
        <p:nvSpPr>
          <p:cNvPr id="7" name="כותרת 1">
            <a:extLst>
              <a:ext uri="{FF2B5EF4-FFF2-40B4-BE49-F238E27FC236}">
                <a16:creationId xmlns:a16="http://schemas.microsoft.com/office/drawing/2014/main" id="{B39D2A53-A08E-EE00-3EEE-B27A8FF4FF71}"/>
              </a:ext>
            </a:extLst>
          </p:cNvPr>
          <p:cNvSpPr>
            <a:spLocks noGrp="1"/>
          </p:cNvSpPr>
          <p:nvPr>
            <p:ph type="title"/>
          </p:nvPr>
        </p:nvSpPr>
        <p:spPr>
          <a:xfrm>
            <a:off x="9595104" y="134678"/>
            <a:ext cx="2521560" cy="1143000"/>
          </a:xfrm>
        </p:spPr>
        <p:txBody>
          <a:bodyPr>
            <a:normAutofit/>
          </a:bodyPr>
          <a:lstStyle/>
          <a:p>
            <a:pPr algn="r"/>
            <a:r>
              <a:rPr lang="he-IL" b="1" dirty="0">
                <a:solidFill>
                  <a:schemeClr val="tx2">
                    <a:lumMod val="75000"/>
                  </a:schemeClr>
                </a:solidFill>
                <a:cs typeface="+mn-cs"/>
              </a:rPr>
              <a:t>שאלה 2</a:t>
            </a:r>
          </a:p>
        </p:txBody>
      </p:sp>
      <p:sp>
        <p:nvSpPr>
          <p:cNvPr id="3" name="מציין מיקום תוכן 2">
            <a:extLst>
              <a:ext uri="{FF2B5EF4-FFF2-40B4-BE49-F238E27FC236}">
                <a16:creationId xmlns:a16="http://schemas.microsoft.com/office/drawing/2014/main" id="{E0E65FA0-440D-C5FA-8138-E1C17914A83C}"/>
              </a:ext>
            </a:extLst>
          </p:cNvPr>
          <p:cNvSpPr>
            <a:spLocks noGrp="1"/>
          </p:cNvSpPr>
          <p:nvPr>
            <p:ph idx="1"/>
          </p:nvPr>
        </p:nvSpPr>
        <p:spPr>
          <a:xfrm>
            <a:off x="2078394" y="330256"/>
            <a:ext cx="6507767" cy="894581"/>
          </a:xfrm>
        </p:spPr>
        <p:txBody>
          <a:bodyPr>
            <a:normAutofit/>
          </a:bodyPr>
          <a:lstStyle/>
          <a:p>
            <a:pPr indent="0" algn="r" rtl="1">
              <a:lnSpc>
                <a:spcPct val="170000"/>
              </a:lnSpc>
              <a:buNone/>
            </a:pPr>
            <a:r>
              <a:rPr lang="he-IL" sz="1200" dirty="0"/>
              <a:t>פירמה פועלת בשוק תחרותי ויש לה עלות קבועה חיובית. העלות השולית פוחתת ולאחר מכן עולה. האם הטענה הבאה נכונה או לא ? יש לנמק</a:t>
            </a:r>
            <a:endParaRPr lang="en-US" sz="1200" dirty="0"/>
          </a:p>
        </p:txBody>
      </p:sp>
      <p:sp>
        <p:nvSpPr>
          <p:cNvPr id="2" name="Rectangle 1">
            <a:extLst>
              <a:ext uri="{FF2B5EF4-FFF2-40B4-BE49-F238E27FC236}">
                <a16:creationId xmlns:a16="http://schemas.microsoft.com/office/drawing/2014/main" id="{4E4355BF-0E94-C7B1-2F33-9915AC3BCED6}"/>
              </a:ext>
            </a:extLst>
          </p:cNvPr>
          <p:cNvSpPr/>
          <p:nvPr/>
        </p:nvSpPr>
        <p:spPr>
          <a:xfrm>
            <a:off x="6617726" y="1261383"/>
            <a:ext cx="4492860" cy="774123"/>
          </a:xfrm>
          <a:prstGeom prst="rect">
            <a:avLst/>
          </a:prstGeom>
        </p:spPr>
        <p:txBody>
          <a:bodyPr wrap="square">
            <a:spAutoFit/>
          </a:bodyPr>
          <a:lstStyle/>
          <a:p>
            <a:pPr marL="400050" lvl="1" algn="r" rtl="1">
              <a:lnSpc>
                <a:spcPct val="170000"/>
              </a:lnSpc>
              <a:defRPr/>
            </a:pPr>
            <a:r>
              <a:rPr lang="he-IL" sz="1400" dirty="0">
                <a:solidFill>
                  <a:prstClr val="black"/>
                </a:solidFill>
                <a:latin typeface="Calibri"/>
                <a:cs typeface="Arial" panose="020B0604020202020204" pitchFamily="34" charset="0"/>
              </a:rPr>
              <a:t>טענה: במידה והמחיר בשוק הינו 30 ש''ח, הרווח הנקי בוודאות גדול מ-50 ש‘’ח</a:t>
            </a:r>
            <a:r>
              <a:rPr lang="en-US" sz="1400" dirty="0">
                <a:solidFill>
                  <a:prstClr val="black"/>
                </a:solidFill>
                <a:latin typeface="Calibri"/>
              </a:rPr>
              <a:t> </a:t>
            </a:r>
            <a:r>
              <a:rPr lang="he-IL" sz="1400" dirty="0">
                <a:solidFill>
                  <a:prstClr val="black"/>
                </a:solidFill>
                <a:latin typeface="Calibri"/>
                <a:cs typeface="Arial" panose="020B0604020202020204" pitchFamily="34" charset="0"/>
              </a:rPr>
              <a:t> והרווח התפעולי גדול מ- 140.</a:t>
            </a:r>
          </a:p>
        </p:txBody>
      </p:sp>
      <p:cxnSp>
        <p:nvCxnSpPr>
          <p:cNvPr id="5" name="מחבר ישר 2">
            <a:extLst>
              <a:ext uri="{FF2B5EF4-FFF2-40B4-BE49-F238E27FC236}">
                <a16:creationId xmlns:a16="http://schemas.microsoft.com/office/drawing/2014/main" id="{A9A81D41-FF47-5862-F59F-E197AE4DA51A}"/>
              </a:ext>
            </a:extLst>
          </p:cNvPr>
          <p:cNvCxnSpPr>
            <a:cxnSpLocks/>
          </p:cNvCxnSpPr>
          <p:nvPr/>
        </p:nvCxnSpPr>
        <p:spPr>
          <a:xfrm>
            <a:off x="2140179" y="1953266"/>
            <a:ext cx="28583" cy="4096896"/>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מחבר ישר 4">
            <a:extLst>
              <a:ext uri="{FF2B5EF4-FFF2-40B4-BE49-F238E27FC236}">
                <a16:creationId xmlns:a16="http://schemas.microsoft.com/office/drawing/2014/main" id="{1AF69EA0-20C3-00C4-B2E1-6C83DD9F7C8D}"/>
              </a:ext>
            </a:extLst>
          </p:cNvPr>
          <p:cNvCxnSpPr>
            <a:cxnSpLocks/>
          </p:cNvCxnSpPr>
          <p:nvPr/>
        </p:nvCxnSpPr>
        <p:spPr>
          <a:xfrm>
            <a:off x="2168762" y="6085012"/>
            <a:ext cx="4949029" cy="22174"/>
          </a:xfrm>
          <a:prstGeom prst="line">
            <a:avLst/>
          </a:prstGeom>
        </p:spPr>
        <p:style>
          <a:lnRef idx="1">
            <a:schemeClr val="accent1"/>
          </a:lnRef>
          <a:fillRef idx="0">
            <a:schemeClr val="accent1"/>
          </a:fillRef>
          <a:effectRef idx="0">
            <a:schemeClr val="accent1"/>
          </a:effectRef>
          <a:fontRef idx="minor">
            <a:schemeClr val="tx1"/>
          </a:fontRef>
        </p:style>
      </p:cxnSp>
      <p:sp>
        <p:nvSpPr>
          <p:cNvPr id="8" name="צורה חופשית 5">
            <a:extLst>
              <a:ext uri="{FF2B5EF4-FFF2-40B4-BE49-F238E27FC236}">
                <a16:creationId xmlns:a16="http://schemas.microsoft.com/office/drawing/2014/main" id="{AA59B537-2608-6A3B-79E0-701A8B5B09CE}"/>
              </a:ext>
            </a:extLst>
          </p:cNvPr>
          <p:cNvSpPr/>
          <p:nvPr/>
        </p:nvSpPr>
        <p:spPr>
          <a:xfrm>
            <a:off x="2275842" y="2496228"/>
            <a:ext cx="4875064" cy="3291002"/>
          </a:xfrm>
          <a:custGeom>
            <a:avLst/>
            <a:gdLst>
              <a:gd name="connsiteX0" fmla="*/ 0 w 5015346"/>
              <a:gd name="connsiteY0" fmla="*/ 2281382 h 3222325"/>
              <a:gd name="connsiteX1" fmla="*/ 1099128 w 5015346"/>
              <a:gd name="connsiteY1" fmla="*/ 3149600 h 3222325"/>
              <a:gd name="connsiteX2" fmla="*/ 2419928 w 5015346"/>
              <a:gd name="connsiteY2" fmla="*/ 2817091 h 3222325"/>
              <a:gd name="connsiteX3" fmla="*/ 5015346 w 5015346"/>
              <a:gd name="connsiteY3" fmla="*/ 0 h 3222325"/>
            </a:gdLst>
            <a:ahLst/>
            <a:cxnLst>
              <a:cxn ang="0">
                <a:pos x="connsiteX0" y="connsiteY0"/>
              </a:cxn>
              <a:cxn ang="0">
                <a:pos x="connsiteX1" y="connsiteY1"/>
              </a:cxn>
              <a:cxn ang="0">
                <a:pos x="connsiteX2" y="connsiteY2"/>
              </a:cxn>
              <a:cxn ang="0">
                <a:pos x="connsiteX3" y="connsiteY3"/>
              </a:cxn>
            </a:cxnLst>
            <a:rect l="l" t="t" r="r" b="b"/>
            <a:pathLst>
              <a:path w="5015346" h="3222325">
                <a:moveTo>
                  <a:pt x="0" y="2281382"/>
                </a:moveTo>
                <a:cubicBezTo>
                  <a:pt x="347903" y="2670848"/>
                  <a:pt x="695807" y="3060315"/>
                  <a:pt x="1099128" y="3149600"/>
                </a:cubicBezTo>
                <a:cubicBezTo>
                  <a:pt x="1502449" y="3238885"/>
                  <a:pt x="1767225" y="3342024"/>
                  <a:pt x="2419928" y="2817091"/>
                </a:cubicBezTo>
                <a:cubicBezTo>
                  <a:pt x="3072631" y="2292158"/>
                  <a:pt x="4043988" y="1146079"/>
                  <a:pt x="5015346" y="0"/>
                </a:cubicBezTo>
              </a:path>
            </a:pathLst>
          </a:custGeom>
          <a:ln w="57150">
            <a:solidFill>
              <a:schemeClr val="tx1"/>
            </a:solidFill>
          </a:ln>
        </p:spPr>
        <p:style>
          <a:lnRef idx="3">
            <a:schemeClr val="accent2"/>
          </a:lnRef>
          <a:fillRef idx="0">
            <a:schemeClr val="accent2"/>
          </a:fillRef>
          <a:effectRef idx="2">
            <a:schemeClr val="accent2"/>
          </a:effectRef>
          <a:fontRef idx="minor">
            <a:schemeClr val="tx1"/>
          </a:fontRef>
        </p:style>
        <p:txBody>
          <a:bodyPr rtlCol="0" anchor="ctr"/>
          <a:lstStyle/>
          <a:p>
            <a:pPr algn="ctr" rtl="1">
              <a:defRPr/>
            </a:pPr>
            <a:endParaRPr lang="en-US">
              <a:solidFill>
                <a:prstClr val="black"/>
              </a:solidFill>
              <a:latin typeface="Calibri"/>
            </a:endParaRPr>
          </a:p>
        </p:txBody>
      </p:sp>
      <p:sp>
        <p:nvSpPr>
          <p:cNvPr id="9" name="TextBox 8">
            <a:extLst>
              <a:ext uri="{FF2B5EF4-FFF2-40B4-BE49-F238E27FC236}">
                <a16:creationId xmlns:a16="http://schemas.microsoft.com/office/drawing/2014/main" id="{7958EF27-44DF-997E-50CA-A6A0E3C159E1}"/>
              </a:ext>
            </a:extLst>
          </p:cNvPr>
          <p:cNvSpPr txBox="1"/>
          <p:nvPr/>
        </p:nvSpPr>
        <p:spPr>
          <a:xfrm>
            <a:off x="6345056" y="2565901"/>
            <a:ext cx="545341" cy="400110"/>
          </a:xfrm>
          <a:prstGeom prst="rect">
            <a:avLst/>
          </a:prstGeom>
          <a:noFill/>
        </p:spPr>
        <p:txBody>
          <a:bodyPr wrap="none" rtlCol="0">
            <a:spAutoFit/>
          </a:bodyPr>
          <a:lstStyle/>
          <a:p>
            <a:pPr algn="r" rtl="1">
              <a:defRPr/>
            </a:pPr>
            <a:r>
              <a:rPr lang="en-US" sz="2000" b="1" dirty="0">
                <a:solidFill>
                  <a:srgbClr val="C0504D">
                    <a:lumMod val="75000"/>
                  </a:srgbClr>
                </a:solidFill>
                <a:latin typeface="Calibri"/>
              </a:rPr>
              <a:t>MC</a:t>
            </a:r>
          </a:p>
        </p:txBody>
      </p:sp>
      <p:sp>
        <p:nvSpPr>
          <p:cNvPr id="10" name="צורה חופשית 7">
            <a:extLst>
              <a:ext uri="{FF2B5EF4-FFF2-40B4-BE49-F238E27FC236}">
                <a16:creationId xmlns:a16="http://schemas.microsoft.com/office/drawing/2014/main" id="{BD3D3C0A-DCBC-445D-2F34-80D818FAF65A}"/>
              </a:ext>
            </a:extLst>
          </p:cNvPr>
          <p:cNvSpPr/>
          <p:nvPr/>
        </p:nvSpPr>
        <p:spPr>
          <a:xfrm>
            <a:off x="2257775" y="3493513"/>
            <a:ext cx="5119449" cy="1824241"/>
          </a:xfrm>
          <a:custGeom>
            <a:avLst/>
            <a:gdLst>
              <a:gd name="connsiteX0" fmla="*/ 0 w 5298831"/>
              <a:gd name="connsiteY0" fmla="*/ 0 h 2297730"/>
              <a:gd name="connsiteX1" fmla="*/ 1160584 w 5298831"/>
              <a:gd name="connsiteY1" fmla="*/ 1453662 h 2297730"/>
              <a:gd name="connsiteX2" fmla="*/ 2637692 w 5298831"/>
              <a:gd name="connsiteY2" fmla="*/ 2297724 h 2297730"/>
              <a:gd name="connsiteX3" fmla="*/ 5298831 w 5298831"/>
              <a:gd name="connsiteY3" fmla="*/ 1441939 h 2297730"/>
            </a:gdLst>
            <a:ahLst/>
            <a:cxnLst>
              <a:cxn ang="0">
                <a:pos x="connsiteX0" y="connsiteY0"/>
              </a:cxn>
              <a:cxn ang="0">
                <a:pos x="connsiteX1" y="connsiteY1"/>
              </a:cxn>
              <a:cxn ang="0">
                <a:pos x="connsiteX2" y="connsiteY2"/>
              </a:cxn>
              <a:cxn ang="0">
                <a:pos x="connsiteX3" y="connsiteY3"/>
              </a:cxn>
            </a:cxnLst>
            <a:rect l="l" t="t" r="r" b="b"/>
            <a:pathLst>
              <a:path w="5298831" h="2297730">
                <a:moveTo>
                  <a:pt x="0" y="0"/>
                </a:moveTo>
                <a:cubicBezTo>
                  <a:pt x="360484" y="535354"/>
                  <a:pt x="720969" y="1070708"/>
                  <a:pt x="1160584" y="1453662"/>
                </a:cubicBezTo>
                <a:cubicBezTo>
                  <a:pt x="1600199" y="1836616"/>
                  <a:pt x="1947984" y="2299678"/>
                  <a:pt x="2637692" y="2297724"/>
                </a:cubicBezTo>
                <a:cubicBezTo>
                  <a:pt x="3327400" y="2295770"/>
                  <a:pt x="4313115" y="1868854"/>
                  <a:pt x="5298831" y="1441939"/>
                </a:cubicBezTo>
              </a:path>
            </a:pathLst>
          </a:custGeom>
          <a:noFill/>
          <a:ln w="38100">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defRPr/>
            </a:pPr>
            <a:endParaRPr lang="en-US">
              <a:solidFill>
                <a:srgbClr val="FF0000"/>
              </a:solidFill>
              <a:latin typeface="Calibri"/>
            </a:endParaRPr>
          </a:p>
        </p:txBody>
      </p:sp>
      <p:sp>
        <p:nvSpPr>
          <p:cNvPr id="11" name="TextBox 10">
            <a:extLst>
              <a:ext uri="{FF2B5EF4-FFF2-40B4-BE49-F238E27FC236}">
                <a16:creationId xmlns:a16="http://schemas.microsoft.com/office/drawing/2014/main" id="{8A97C812-1B74-A054-22B7-9CA126D30CFB}"/>
              </a:ext>
            </a:extLst>
          </p:cNvPr>
          <p:cNvSpPr txBox="1"/>
          <p:nvPr/>
        </p:nvSpPr>
        <p:spPr>
          <a:xfrm>
            <a:off x="6696311" y="4659722"/>
            <a:ext cx="611449" cy="400110"/>
          </a:xfrm>
          <a:prstGeom prst="rect">
            <a:avLst/>
          </a:prstGeom>
          <a:noFill/>
        </p:spPr>
        <p:txBody>
          <a:bodyPr wrap="none" rtlCol="0">
            <a:spAutoFit/>
          </a:bodyPr>
          <a:lstStyle/>
          <a:p>
            <a:pPr algn="r" rtl="1">
              <a:defRPr/>
            </a:pPr>
            <a:r>
              <a:rPr lang="en-US" sz="2000" b="1" dirty="0">
                <a:solidFill>
                  <a:srgbClr val="C0504D">
                    <a:lumMod val="75000"/>
                  </a:srgbClr>
                </a:solidFill>
                <a:latin typeface="Calibri"/>
              </a:rPr>
              <a:t>AVC</a:t>
            </a:r>
          </a:p>
        </p:txBody>
      </p:sp>
      <p:sp>
        <p:nvSpPr>
          <p:cNvPr id="12" name="TextBox 11">
            <a:extLst>
              <a:ext uri="{FF2B5EF4-FFF2-40B4-BE49-F238E27FC236}">
                <a16:creationId xmlns:a16="http://schemas.microsoft.com/office/drawing/2014/main" id="{D18ACEA5-5A05-0E36-897C-D73C5A658C4F}"/>
              </a:ext>
            </a:extLst>
          </p:cNvPr>
          <p:cNvSpPr txBox="1"/>
          <p:nvPr/>
        </p:nvSpPr>
        <p:spPr>
          <a:xfrm>
            <a:off x="4114800" y="6142036"/>
            <a:ext cx="766718" cy="338554"/>
          </a:xfrm>
          <a:prstGeom prst="rect">
            <a:avLst/>
          </a:prstGeom>
          <a:noFill/>
        </p:spPr>
        <p:txBody>
          <a:bodyPr wrap="square" rtlCol="0">
            <a:spAutoFit/>
          </a:bodyPr>
          <a:lstStyle/>
          <a:p>
            <a:pPr algn="r" rtl="1">
              <a:defRPr/>
            </a:pPr>
            <a:r>
              <a:rPr lang="en-US" sz="1600" dirty="0">
                <a:solidFill>
                  <a:srgbClr val="EEECE1">
                    <a:lumMod val="25000"/>
                  </a:srgbClr>
                </a:solidFill>
                <a:latin typeface="Calibri"/>
              </a:rPr>
              <a:t>X1=7</a:t>
            </a:r>
          </a:p>
        </p:txBody>
      </p:sp>
      <p:sp>
        <p:nvSpPr>
          <p:cNvPr id="14" name="TextBox 13">
            <a:extLst>
              <a:ext uri="{FF2B5EF4-FFF2-40B4-BE49-F238E27FC236}">
                <a16:creationId xmlns:a16="http://schemas.microsoft.com/office/drawing/2014/main" id="{97A1B73B-A9B7-333E-FAFC-4862C6A51A46}"/>
              </a:ext>
            </a:extLst>
          </p:cNvPr>
          <p:cNvSpPr txBox="1"/>
          <p:nvPr/>
        </p:nvSpPr>
        <p:spPr>
          <a:xfrm>
            <a:off x="1572973" y="5206132"/>
            <a:ext cx="684803" cy="307777"/>
          </a:xfrm>
          <a:prstGeom prst="rect">
            <a:avLst/>
          </a:prstGeom>
          <a:noFill/>
        </p:spPr>
        <p:txBody>
          <a:bodyPr wrap="none" rtlCol="0">
            <a:spAutoFit/>
          </a:bodyPr>
          <a:lstStyle/>
          <a:p>
            <a:pPr algn="r" rtl="1">
              <a:defRPr/>
            </a:pPr>
            <a:r>
              <a:rPr lang="en-US" sz="1400" b="1" dirty="0">
                <a:solidFill>
                  <a:srgbClr val="C0504D">
                    <a:lumMod val="75000"/>
                  </a:srgbClr>
                </a:solidFill>
                <a:latin typeface="Calibri"/>
              </a:rPr>
              <a:t>P1=10 </a:t>
            </a:r>
          </a:p>
        </p:txBody>
      </p:sp>
      <p:cxnSp>
        <p:nvCxnSpPr>
          <p:cNvPr id="15" name="מחבר ישר 13">
            <a:extLst>
              <a:ext uri="{FF2B5EF4-FFF2-40B4-BE49-F238E27FC236}">
                <a16:creationId xmlns:a16="http://schemas.microsoft.com/office/drawing/2014/main" id="{BA1E5F4A-1D5C-45E5-57DE-28C77BCB06F4}"/>
              </a:ext>
            </a:extLst>
          </p:cNvPr>
          <p:cNvCxnSpPr>
            <a:cxnSpLocks/>
          </p:cNvCxnSpPr>
          <p:nvPr/>
        </p:nvCxnSpPr>
        <p:spPr>
          <a:xfrm flipH="1">
            <a:off x="2224408" y="5317755"/>
            <a:ext cx="5489086" cy="64513"/>
          </a:xfrm>
          <a:prstGeom prst="line">
            <a:avLst/>
          </a:prstGeom>
          <a:ln w="9525">
            <a:solidFill>
              <a:schemeClr val="bg2">
                <a:lumMod val="25000"/>
              </a:schemeClr>
            </a:solidFill>
            <a:prstDash val="sysDash"/>
          </a:ln>
        </p:spPr>
        <p:style>
          <a:lnRef idx="3">
            <a:schemeClr val="accent2"/>
          </a:lnRef>
          <a:fillRef idx="0">
            <a:schemeClr val="accent2"/>
          </a:fillRef>
          <a:effectRef idx="2">
            <a:schemeClr val="accent2"/>
          </a:effectRef>
          <a:fontRef idx="minor">
            <a:schemeClr val="tx1"/>
          </a:fontRef>
        </p:style>
      </p:cxnSp>
      <p:sp>
        <p:nvSpPr>
          <p:cNvPr id="19" name="צורה חופשית 20">
            <a:extLst>
              <a:ext uri="{FF2B5EF4-FFF2-40B4-BE49-F238E27FC236}">
                <a16:creationId xmlns:a16="http://schemas.microsoft.com/office/drawing/2014/main" id="{EC9BEB4D-DADE-F7B4-6CBE-EE1290A66397}"/>
              </a:ext>
            </a:extLst>
          </p:cNvPr>
          <p:cNvSpPr/>
          <p:nvPr/>
        </p:nvSpPr>
        <p:spPr>
          <a:xfrm>
            <a:off x="3235608" y="2163578"/>
            <a:ext cx="4772874" cy="2297730"/>
          </a:xfrm>
          <a:custGeom>
            <a:avLst/>
            <a:gdLst>
              <a:gd name="connsiteX0" fmla="*/ 0 w 5298831"/>
              <a:gd name="connsiteY0" fmla="*/ 0 h 2297730"/>
              <a:gd name="connsiteX1" fmla="*/ 1160584 w 5298831"/>
              <a:gd name="connsiteY1" fmla="*/ 1453662 h 2297730"/>
              <a:gd name="connsiteX2" fmla="*/ 2637692 w 5298831"/>
              <a:gd name="connsiteY2" fmla="*/ 2297724 h 2297730"/>
              <a:gd name="connsiteX3" fmla="*/ 5298831 w 5298831"/>
              <a:gd name="connsiteY3" fmla="*/ 1441939 h 2297730"/>
            </a:gdLst>
            <a:ahLst/>
            <a:cxnLst>
              <a:cxn ang="0">
                <a:pos x="connsiteX0" y="connsiteY0"/>
              </a:cxn>
              <a:cxn ang="0">
                <a:pos x="connsiteX1" y="connsiteY1"/>
              </a:cxn>
              <a:cxn ang="0">
                <a:pos x="connsiteX2" y="connsiteY2"/>
              </a:cxn>
              <a:cxn ang="0">
                <a:pos x="connsiteX3" y="connsiteY3"/>
              </a:cxn>
            </a:cxnLst>
            <a:rect l="l" t="t" r="r" b="b"/>
            <a:pathLst>
              <a:path w="5298831" h="2297730">
                <a:moveTo>
                  <a:pt x="0" y="0"/>
                </a:moveTo>
                <a:cubicBezTo>
                  <a:pt x="360484" y="535354"/>
                  <a:pt x="720969" y="1070708"/>
                  <a:pt x="1160584" y="1453662"/>
                </a:cubicBezTo>
                <a:cubicBezTo>
                  <a:pt x="1600199" y="1836616"/>
                  <a:pt x="1947984" y="2299678"/>
                  <a:pt x="2637692" y="2297724"/>
                </a:cubicBezTo>
                <a:cubicBezTo>
                  <a:pt x="3327400" y="2295770"/>
                  <a:pt x="4313115" y="1868854"/>
                  <a:pt x="5298831" y="1441939"/>
                </a:cubicBezTo>
              </a:path>
            </a:pathLst>
          </a:custGeom>
          <a:noFill/>
          <a:ln w="5715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defRPr/>
            </a:pPr>
            <a:endParaRPr lang="en-US">
              <a:solidFill>
                <a:srgbClr val="FF0000"/>
              </a:solidFill>
              <a:latin typeface="Calibri"/>
            </a:endParaRPr>
          </a:p>
        </p:txBody>
      </p:sp>
      <p:sp>
        <p:nvSpPr>
          <p:cNvPr id="20" name="TextBox 19">
            <a:extLst>
              <a:ext uri="{FF2B5EF4-FFF2-40B4-BE49-F238E27FC236}">
                <a16:creationId xmlns:a16="http://schemas.microsoft.com/office/drawing/2014/main" id="{173C6FC8-3E3E-3C6A-17C7-F2A3D70F132B}"/>
              </a:ext>
            </a:extLst>
          </p:cNvPr>
          <p:cNvSpPr txBox="1"/>
          <p:nvPr/>
        </p:nvSpPr>
        <p:spPr>
          <a:xfrm>
            <a:off x="7713195" y="3145916"/>
            <a:ext cx="577338" cy="400110"/>
          </a:xfrm>
          <a:prstGeom prst="rect">
            <a:avLst/>
          </a:prstGeom>
          <a:noFill/>
        </p:spPr>
        <p:txBody>
          <a:bodyPr wrap="none" rtlCol="0">
            <a:spAutoFit/>
          </a:bodyPr>
          <a:lstStyle/>
          <a:p>
            <a:pPr algn="r" rtl="1">
              <a:defRPr/>
            </a:pPr>
            <a:r>
              <a:rPr lang="en-US" sz="2000" b="1" dirty="0">
                <a:solidFill>
                  <a:srgbClr val="4F81BD"/>
                </a:solidFill>
                <a:latin typeface="Calibri"/>
              </a:rPr>
              <a:t>ATC</a:t>
            </a:r>
          </a:p>
        </p:txBody>
      </p:sp>
      <p:sp>
        <p:nvSpPr>
          <p:cNvPr id="28" name="Rectangle 27">
            <a:extLst>
              <a:ext uri="{FF2B5EF4-FFF2-40B4-BE49-F238E27FC236}">
                <a16:creationId xmlns:a16="http://schemas.microsoft.com/office/drawing/2014/main" id="{13138C81-0401-B2D5-A910-21A86E416056}"/>
              </a:ext>
            </a:extLst>
          </p:cNvPr>
          <p:cNvSpPr/>
          <p:nvPr/>
        </p:nvSpPr>
        <p:spPr>
          <a:xfrm>
            <a:off x="235453" y="885856"/>
            <a:ext cx="5713780" cy="1140377"/>
          </a:xfrm>
          <a:prstGeom prst="rect">
            <a:avLst/>
          </a:prstGeom>
          <a:solidFill>
            <a:schemeClr val="accent3">
              <a:lumMod val="40000"/>
              <a:lumOff val="60000"/>
            </a:schemeClr>
          </a:solidFill>
        </p:spPr>
        <p:txBody>
          <a:bodyPr wrap="square">
            <a:spAutoFit/>
          </a:bodyPr>
          <a:lstStyle/>
          <a:p>
            <a:pPr marL="400050" lvl="1" algn="r">
              <a:lnSpc>
                <a:spcPct val="170000"/>
              </a:lnSpc>
              <a:defRPr/>
            </a:pPr>
            <a:r>
              <a:rPr lang="he-IL" sz="1400" dirty="0">
                <a:solidFill>
                  <a:prstClr val="black"/>
                </a:solidFill>
                <a:latin typeface="Calibri"/>
                <a:cs typeface="Arial" panose="020B0604020202020204" pitchFamily="34" charset="0"/>
              </a:rPr>
              <a:t>הטענה נכונה! כי אם הפירמה הייתה מייצרת 10 יח' בדיוק, אז הרווח הנקי היה (30-25)*10 כלומר 50 ש''ח בדיוק אך כיוון שמייצרת עוד יחידות (מעל 10 יחידות) שמחירם גבוה מעלותם, הרווח הנקי גבוה יותר. </a:t>
            </a:r>
          </a:p>
        </p:txBody>
      </p:sp>
      <p:sp>
        <p:nvSpPr>
          <p:cNvPr id="4" name="Date Placeholder 3">
            <a:extLst>
              <a:ext uri="{FF2B5EF4-FFF2-40B4-BE49-F238E27FC236}">
                <a16:creationId xmlns:a16="http://schemas.microsoft.com/office/drawing/2014/main" id="{811A7552-8BF5-ABE9-860A-DE1F5C943B56}"/>
              </a:ext>
            </a:extLst>
          </p:cNvPr>
          <p:cNvSpPr>
            <a:spLocks noGrp="1"/>
          </p:cNvSpPr>
          <p:nvPr>
            <p:ph type="dt" sz="half" idx="10"/>
          </p:nvPr>
        </p:nvSpPr>
        <p:spPr/>
        <p:txBody>
          <a:bodyPr/>
          <a:lstStyle/>
          <a:p>
            <a:pPr algn="r" rtl="1">
              <a:defRPr/>
            </a:pPr>
            <a:fld id="{1C4AF23D-B481-41D2-B585-D9273B3E3231}" type="datetime8">
              <a:rPr lang="he-IL" sz="1200">
                <a:solidFill>
                  <a:prstClr val="black">
                    <a:tint val="75000"/>
                  </a:prstClr>
                </a:solidFill>
                <a:latin typeface="Calibri"/>
                <a:cs typeface="Arial" panose="020B0604020202020204" pitchFamily="34" charset="0"/>
              </a:rPr>
              <a:pPr algn="r" rtl="1">
                <a:defRPr/>
              </a:pPr>
              <a:t>19 ינואר 26</a:t>
            </a:fld>
            <a:endParaRPr lang="he-IL" sz="1200">
              <a:solidFill>
                <a:prstClr val="black">
                  <a:tint val="75000"/>
                </a:prstClr>
              </a:solidFill>
              <a:latin typeface="Calibri"/>
              <a:cs typeface="Arial" panose="020B0604020202020204" pitchFamily="34" charset="0"/>
            </a:endParaRPr>
          </a:p>
        </p:txBody>
      </p:sp>
      <p:sp>
        <p:nvSpPr>
          <p:cNvPr id="13" name="Slide Number Placeholder 12">
            <a:extLst>
              <a:ext uri="{FF2B5EF4-FFF2-40B4-BE49-F238E27FC236}">
                <a16:creationId xmlns:a16="http://schemas.microsoft.com/office/drawing/2014/main" id="{B7F2984F-3893-8A89-D64A-24D6BEA6A269}"/>
              </a:ext>
            </a:extLst>
          </p:cNvPr>
          <p:cNvSpPr>
            <a:spLocks noGrp="1"/>
          </p:cNvSpPr>
          <p:nvPr>
            <p:ph type="sldNum" sz="quarter" idx="12"/>
          </p:nvPr>
        </p:nvSpPr>
        <p:spPr/>
        <p:txBody>
          <a:bodyPr/>
          <a:lstStyle/>
          <a:p>
            <a:pPr algn="l" rtl="1">
              <a:defRPr/>
            </a:pPr>
            <a:fld id="{492DB488-E800-4C9D-A68D-A9C6D048BCD3}" type="slidenum">
              <a:rPr lang="he-IL" sz="1200">
                <a:solidFill>
                  <a:prstClr val="black">
                    <a:tint val="75000"/>
                  </a:prstClr>
                </a:solidFill>
                <a:latin typeface="Calibri"/>
                <a:cs typeface="Arial" panose="020B0604020202020204" pitchFamily="34" charset="0"/>
              </a:rPr>
              <a:pPr algn="l" rtl="1">
                <a:defRPr/>
              </a:pPr>
              <a:t>61</a:t>
            </a:fld>
            <a:endParaRPr lang="he-IL" sz="1200" dirty="0">
              <a:solidFill>
                <a:prstClr val="black">
                  <a:tint val="75000"/>
                </a:prstClr>
              </a:solidFill>
              <a:latin typeface="Calibri"/>
              <a:cs typeface="Arial" panose="020B0604020202020204" pitchFamily="34" charset="0"/>
            </a:endParaRPr>
          </a:p>
        </p:txBody>
      </p:sp>
      <p:sp>
        <p:nvSpPr>
          <p:cNvPr id="21" name="TextBox 20">
            <a:extLst>
              <a:ext uri="{FF2B5EF4-FFF2-40B4-BE49-F238E27FC236}">
                <a16:creationId xmlns:a16="http://schemas.microsoft.com/office/drawing/2014/main" id="{A05DDBBC-7F8D-E1F3-FCD0-3D7ABE584055}"/>
              </a:ext>
            </a:extLst>
          </p:cNvPr>
          <p:cNvSpPr txBox="1"/>
          <p:nvPr/>
        </p:nvSpPr>
        <p:spPr>
          <a:xfrm>
            <a:off x="1506235" y="4337288"/>
            <a:ext cx="684803" cy="307777"/>
          </a:xfrm>
          <a:prstGeom prst="rect">
            <a:avLst/>
          </a:prstGeom>
          <a:noFill/>
        </p:spPr>
        <p:txBody>
          <a:bodyPr wrap="none" rtlCol="0">
            <a:spAutoFit/>
          </a:bodyPr>
          <a:lstStyle/>
          <a:p>
            <a:pPr algn="r" rtl="1">
              <a:defRPr/>
            </a:pPr>
            <a:r>
              <a:rPr lang="en-US" sz="1400" b="1" dirty="0">
                <a:solidFill>
                  <a:srgbClr val="1F497D"/>
                </a:solidFill>
                <a:latin typeface="Calibri"/>
              </a:rPr>
              <a:t>P2=25</a:t>
            </a:r>
            <a:r>
              <a:rPr lang="en-US" sz="1400" b="1" dirty="0">
                <a:solidFill>
                  <a:srgbClr val="C0504D">
                    <a:lumMod val="75000"/>
                  </a:srgbClr>
                </a:solidFill>
                <a:latin typeface="Calibri"/>
              </a:rPr>
              <a:t> </a:t>
            </a:r>
          </a:p>
        </p:txBody>
      </p:sp>
      <p:cxnSp>
        <p:nvCxnSpPr>
          <p:cNvPr id="22" name="מחבר ישר 13">
            <a:extLst>
              <a:ext uri="{FF2B5EF4-FFF2-40B4-BE49-F238E27FC236}">
                <a16:creationId xmlns:a16="http://schemas.microsoft.com/office/drawing/2014/main" id="{28E7DA0A-0DAE-D774-4172-A1B113732508}"/>
              </a:ext>
            </a:extLst>
          </p:cNvPr>
          <p:cNvCxnSpPr>
            <a:cxnSpLocks/>
          </p:cNvCxnSpPr>
          <p:nvPr/>
        </p:nvCxnSpPr>
        <p:spPr>
          <a:xfrm flipH="1">
            <a:off x="2078393" y="4384398"/>
            <a:ext cx="5489086" cy="64513"/>
          </a:xfrm>
          <a:prstGeom prst="line">
            <a:avLst/>
          </a:prstGeom>
          <a:ln w="19050">
            <a:solidFill>
              <a:schemeClr val="tx2"/>
            </a:solidFill>
            <a:prstDash val="sysDash"/>
          </a:ln>
        </p:spPr>
        <p:style>
          <a:lnRef idx="3">
            <a:schemeClr val="accent2"/>
          </a:lnRef>
          <a:fillRef idx="0">
            <a:schemeClr val="accent2"/>
          </a:fillRef>
          <a:effectRef idx="2">
            <a:schemeClr val="accent2"/>
          </a:effectRef>
          <a:fontRef idx="minor">
            <a:schemeClr val="tx1"/>
          </a:fontRef>
        </p:style>
      </p:cxnSp>
      <p:cxnSp>
        <p:nvCxnSpPr>
          <p:cNvPr id="23" name="מחבר ישר 13">
            <a:extLst>
              <a:ext uri="{FF2B5EF4-FFF2-40B4-BE49-F238E27FC236}">
                <a16:creationId xmlns:a16="http://schemas.microsoft.com/office/drawing/2014/main" id="{BAF8A524-608A-1A2A-4FE4-5FBB04BA2417}"/>
              </a:ext>
            </a:extLst>
          </p:cNvPr>
          <p:cNvCxnSpPr>
            <a:cxnSpLocks/>
          </p:cNvCxnSpPr>
          <p:nvPr/>
        </p:nvCxnSpPr>
        <p:spPr>
          <a:xfrm flipV="1">
            <a:off x="4626029" y="5382268"/>
            <a:ext cx="0" cy="702744"/>
          </a:xfrm>
          <a:prstGeom prst="line">
            <a:avLst/>
          </a:prstGeom>
          <a:ln w="28575">
            <a:prstDash val="sysDash"/>
          </a:ln>
        </p:spPr>
        <p:style>
          <a:lnRef idx="3">
            <a:schemeClr val="accent2"/>
          </a:lnRef>
          <a:fillRef idx="0">
            <a:schemeClr val="accent2"/>
          </a:fillRef>
          <a:effectRef idx="2">
            <a:schemeClr val="accent2"/>
          </a:effectRef>
          <a:fontRef idx="minor">
            <a:schemeClr val="tx1"/>
          </a:fontRef>
        </p:style>
      </p:cxnSp>
      <p:cxnSp>
        <p:nvCxnSpPr>
          <p:cNvPr id="26" name="מחבר ישר 13">
            <a:extLst>
              <a:ext uri="{FF2B5EF4-FFF2-40B4-BE49-F238E27FC236}">
                <a16:creationId xmlns:a16="http://schemas.microsoft.com/office/drawing/2014/main" id="{76BE1E37-42CD-88CB-E6B8-FD61B6304350}"/>
              </a:ext>
            </a:extLst>
          </p:cNvPr>
          <p:cNvCxnSpPr>
            <a:cxnSpLocks/>
          </p:cNvCxnSpPr>
          <p:nvPr/>
        </p:nvCxnSpPr>
        <p:spPr>
          <a:xfrm>
            <a:off x="5519936" y="4481166"/>
            <a:ext cx="0" cy="1626020"/>
          </a:xfrm>
          <a:prstGeom prst="line">
            <a:avLst/>
          </a:prstGeom>
          <a:ln w="28575">
            <a:solidFill>
              <a:schemeClr val="tx2"/>
            </a:solidFill>
            <a:prstDash val="sysDash"/>
          </a:ln>
        </p:spPr>
        <p:style>
          <a:lnRef idx="3">
            <a:schemeClr val="accent2"/>
          </a:lnRef>
          <a:fillRef idx="0">
            <a:schemeClr val="accent2"/>
          </a:fillRef>
          <a:effectRef idx="2">
            <a:schemeClr val="accent2"/>
          </a:effectRef>
          <a:fontRef idx="minor">
            <a:schemeClr val="tx1"/>
          </a:fontRef>
        </p:style>
      </p:cxnSp>
      <p:sp>
        <p:nvSpPr>
          <p:cNvPr id="29" name="TextBox 28">
            <a:extLst>
              <a:ext uri="{FF2B5EF4-FFF2-40B4-BE49-F238E27FC236}">
                <a16:creationId xmlns:a16="http://schemas.microsoft.com/office/drawing/2014/main" id="{A6BBE365-0DAE-03B0-5146-7E61B116C244}"/>
              </a:ext>
            </a:extLst>
          </p:cNvPr>
          <p:cNvSpPr txBox="1"/>
          <p:nvPr/>
        </p:nvSpPr>
        <p:spPr>
          <a:xfrm>
            <a:off x="5015880" y="6149452"/>
            <a:ext cx="766718" cy="338554"/>
          </a:xfrm>
          <a:prstGeom prst="rect">
            <a:avLst/>
          </a:prstGeom>
          <a:noFill/>
        </p:spPr>
        <p:txBody>
          <a:bodyPr wrap="square" rtlCol="0">
            <a:spAutoFit/>
          </a:bodyPr>
          <a:lstStyle/>
          <a:p>
            <a:pPr algn="r" rtl="1">
              <a:defRPr/>
            </a:pPr>
            <a:r>
              <a:rPr lang="en-US" sz="1600" dirty="0">
                <a:solidFill>
                  <a:srgbClr val="EEECE1">
                    <a:lumMod val="25000"/>
                  </a:srgbClr>
                </a:solidFill>
                <a:latin typeface="Calibri"/>
              </a:rPr>
              <a:t>X2=10</a:t>
            </a:r>
          </a:p>
        </p:txBody>
      </p:sp>
      <p:sp>
        <p:nvSpPr>
          <p:cNvPr id="16" name="TextBox 15">
            <a:extLst>
              <a:ext uri="{FF2B5EF4-FFF2-40B4-BE49-F238E27FC236}">
                <a16:creationId xmlns:a16="http://schemas.microsoft.com/office/drawing/2014/main" id="{F5BA6A56-F782-F54A-E0D1-0BC6054DA461}"/>
              </a:ext>
            </a:extLst>
          </p:cNvPr>
          <p:cNvSpPr txBox="1"/>
          <p:nvPr/>
        </p:nvSpPr>
        <p:spPr>
          <a:xfrm>
            <a:off x="1509850" y="3847537"/>
            <a:ext cx="683200" cy="307777"/>
          </a:xfrm>
          <a:prstGeom prst="rect">
            <a:avLst/>
          </a:prstGeom>
          <a:noFill/>
        </p:spPr>
        <p:txBody>
          <a:bodyPr wrap="none" rtlCol="0">
            <a:spAutoFit/>
          </a:bodyPr>
          <a:lstStyle/>
          <a:p>
            <a:pPr algn="r" rtl="1">
              <a:defRPr/>
            </a:pPr>
            <a:r>
              <a:rPr lang="en-US" sz="1400" b="1" dirty="0">
                <a:solidFill>
                  <a:srgbClr val="C00000"/>
                </a:solidFill>
                <a:latin typeface="Calibri"/>
              </a:rPr>
              <a:t>P*=30 </a:t>
            </a:r>
          </a:p>
        </p:txBody>
      </p:sp>
      <p:cxnSp>
        <p:nvCxnSpPr>
          <p:cNvPr id="17" name="מחבר ישר 13">
            <a:extLst>
              <a:ext uri="{FF2B5EF4-FFF2-40B4-BE49-F238E27FC236}">
                <a16:creationId xmlns:a16="http://schemas.microsoft.com/office/drawing/2014/main" id="{96CEC894-C7D0-0C19-F614-B84C220DF45C}"/>
              </a:ext>
            </a:extLst>
          </p:cNvPr>
          <p:cNvCxnSpPr>
            <a:cxnSpLocks/>
          </p:cNvCxnSpPr>
          <p:nvPr/>
        </p:nvCxnSpPr>
        <p:spPr>
          <a:xfrm flipH="1">
            <a:off x="2144640" y="3988432"/>
            <a:ext cx="3807344" cy="51017"/>
          </a:xfrm>
          <a:prstGeom prst="line">
            <a:avLst/>
          </a:prstGeom>
          <a:ln w="28575">
            <a:solidFill>
              <a:srgbClr val="C00000"/>
            </a:solidFill>
            <a:prstDash val="sysDash"/>
          </a:ln>
        </p:spPr>
        <p:style>
          <a:lnRef idx="3">
            <a:schemeClr val="accent2"/>
          </a:lnRef>
          <a:fillRef idx="0">
            <a:schemeClr val="accent2"/>
          </a:fillRef>
          <a:effectRef idx="2">
            <a:schemeClr val="accent2"/>
          </a:effectRef>
          <a:fontRef idx="minor">
            <a:schemeClr val="tx1"/>
          </a:fontRef>
        </p:style>
      </p:cxnSp>
      <p:cxnSp>
        <p:nvCxnSpPr>
          <p:cNvPr id="24" name="מחבר ישר 13">
            <a:extLst>
              <a:ext uri="{FF2B5EF4-FFF2-40B4-BE49-F238E27FC236}">
                <a16:creationId xmlns:a16="http://schemas.microsoft.com/office/drawing/2014/main" id="{7680400C-7A06-F845-7B75-3214D8757BDD}"/>
              </a:ext>
            </a:extLst>
          </p:cNvPr>
          <p:cNvCxnSpPr>
            <a:cxnSpLocks/>
          </p:cNvCxnSpPr>
          <p:nvPr/>
        </p:nvCxnSpPr>
        <p:spPr>
          <a:xfrm flipH="1" flipV="1">
            <a:off x="5930422" y="3968612"/>
            <a:ext cx="21563" cy="2083587"/>
          </a:xfrm>
          <a:prstGeom prst="line">
            <a:avLst/>
          </a:prstGeom>
          <a:ln w="28575">
            <a:solidFill>
              <a:srgbClr val="C00000"/>
            </a:solidFill>
            <a:prstDash val="sysDash"/>
          </a:ln>
        </p:spPr>
        <p:style>
          <a:lnRef idx="3">
            <a:schemeClr val="accent2"/>
          </a:lnRef>
          <a:fillRef idx="0">
            <a:schemeClr val="accent2"/>
          </a:fillRef>
          <a:effectRef idx="2">
            <a:schemeClr val="accent2"/>
          </a:effectRef>
          <a:fontRef idx="minor">
            <a:schemeClr val="tx1"/>
          </a:fontRef>
        </p:style>
      </p:cxnSp>
      <p:sp>
        <p:nvSpPr>
          <p:cNvPr id="30" name="TextBox 29">
            <a:extLst>
              <a:ext uri="{FF2B5EF4-FFF2-40B4-BE49-F238E27FC236}">
                <a16:creationId xmlns:a16="http://schemas.microsoft.com/office/drawing/2014/main" id="{2A6FEFBC-6A5A-2EAC-A0CC-96A4969321FE}"/>
              </a:ext>
            </a:extLst>
          </p:cNvPr>
          <p:cNvSpPr txBox="1"/>
          <p:nvPr/>
        </p:nvSpPr>
        <p:spPr>
          <a:xfrm>
            <a:off x="5776797" y="6172813"/>
            <a:ext cx="415498" cy="400110"/>
          </a:xfrm>
          <a:prstGeom prst="rect">
            <a:avLst/>
          </a:prstGeom>
          <a:noFill/>
        </p:spPr>
        <p:txBody>
          <a:bodyPr wrap="none" rtlCol="0">
            <a:spAutoFit/>
          </a:bodyPr>
          <a:lstStyle/>
          <a:p>
            <a:pPr algn="r" rtl="1">
              <a:defRPr/>
            </a:pPr>
            <a:r>
              <a:rPr lang="en-US" sz="2000" b="1" dirty="0">
                <a:solidFill>
                  <a:srgbClr val="C00000"/>
                </a:solidFill>
                <a:latin typeface="Calibri"/>
              </a:rPr>
              <a:t>X</a:t>
            </a:r>
            <a:r>
              <a:rPr lang="en-US" sz="1400" b="1" dirty="0">
                <a:solidFill>
                  <a:srgbClr val="C00000"/>
                </a:solidFill>
                <a:latin typeface="Calibri"/>
              </a:rPr>
              <a:t>*</a:t>
            </a:r>
          </a:p>
        </p:txBody>
      </p:sp>
      <p:sp>
        <p:nvSpPr>
          <p:cNvPr id="18" name="Rectangle 17">
            <a:extLst>
              <a:ext uri="{FF2B5EF4-FFF2-40B4-BE49-F238E27FC236}">
                <a16:creationId xmlns:a16="http://schemas.microsoft.com/office/drawing/2014/main" id="{2E85EB1A-25D9-07DB-36AB-303A731FE755}"/>
              </a:ext>
            </a:extLst>
          </p:cNvPr>
          <p:cNvSpPr/>
          <p:nvPr/>
        </p:nvSpPr>
        <p:spPr>
          <a:xfrm>
            <a:off x="8187177" y="3641024"/>
            <a:ext cx="3852860" cy="1872885"/>
          </a:xfrm>
          <a:prstGeom prst="rect">
            <a:avLst/>
          </a:prstGeom>
          <a:solidFill>
            <a:schemeClr val="accent3">
              <a:lumMod val="40000"/>
              <a:lumOff val="60000"/>
            </a:schemeClr>
          </a:solidFill>
        </p:spPr>
        <p:txBody>
          <a:bodyPr wrap="square">
            <a:spAutoFit/>
          </a:bodyPr>
          <a:lstStyle/>
          <a:p>
            <a:pPr marL="400050" lvl="1" algn="r" rtl="1">
              <a:lnSpc>
                <a:spcPct val="170000"/>
              </a:lnSpc>
              <a:defRPr/>
            </a:pPr>
            <a:r>
              <a:rPr lang="he-IL" sz="1400" dirty="0">
                <a:solidFill>
                  <a:prstClr val="black"/>
                </a:solidFill>
                <a:latin typeface="Calibri"/>
                <a:cs typeface="Arial" panose="020B0604020202020204" pitchFamily="34" charset="0"/>
              </a:rPr>
              <a:t>אם הפירמה הייתה מייצרת 7 יח' אז הרווח ההתפעולי היה 7*(30-10), כלומר 140 ש''ח, אך כיוון שמייצרת עוד יחידות (מעל 7 יחידות) שמחירם גבוה מעלותם, הרווח התפעולי גבוה יותר. </a:t>
            </a:r>
          </a:p>
        </p:txBody>
      </p:sp>
      <p:sp>
        <p:nvSpPr>
          <p:cNvPr id="25" name="מלבן 24">
            <a:extLst>
              <a:ext uri="{FF2B5EF4-FFF2-40B4-BE49-F238E27FC236}">
                <a16:creationId xmlns:a16="http://schemas.microsoft.com/office/drawing/2014/main" id="{A7F91CCD-E9DA-1FFB-454B-8244275514E4}"/>
              </a:ext>
            </a:extLst>
          </p:cNvPr>
          <p:cNvSpPr/>
          <p:nvPr/>
        </p:nvSpPr>
        <p:spPr>
          <a:xfrm>
            <a:off x="2167250" y="4021245"/>
            <a:ext cx="3352685" cy="4728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en-US" dirty="0"/>
              <a:t>=50</a:t>
            </a:r>
            <a:r>
              <a:rPr lang="he-IL" dirty="0"/>
              <a:t>רווח נקי(</a:t>
            </a:r>
            <a:r>
              <a:rPr lang="en-US" dirty="0"/>
              <a:t>Q=10</a:t>
            </a:r>
            <a:r>
              <a:rPr lang="he-IL" dirty="0"/>
              <a:t>)</a:t>
            </a:r>
            <a:endParaRPr lang="en-IL" dirty="0"/>
          </a:p>
        </p:txBody>
      </p:sp>
      <p:sp>
        <p:nvSpPr>
          <p:cNvPr id="27" name="מלבן 26">
            <a:extLst>
              <a:ext uri="{FF2B5EF4-FFF2-40B4-BE49-F238E27FC236}">
                <a16:creationId xmlns:a16="http://schemas.microsoft.com/office/drawing/2014/main" id="{BE5DA486-32E4-6B73-E4F1-B7489BB2CD31}"/>
              </a:ext>
            </a:extLst>
          </p:cNvPr>
          <p:cNvSpPr/>
          <p:nvPr/>
        </p:nvSpPr>
        <p:spPr>
          <a:xfrm>
            <a:off x="2188946" y="3958047"/>
            <a:ext cx="2453745" cy="1381955"/>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r>
              <a:rPr lang="en-US" dirty="0"/>
              <a:t>=140</a:t>
            </a:r>
            <a:r>
              <a:rPr lang="he-IL" dirty="0"/>
              <a:t>רווח תפעולי(</a:t>
            </a:r>
            <a:r>
              <a:rPr lang="en-US" dirty="0"/>
              <a:t>Q=7</a:t>
            </a:r>
            <a:r>
              <a:rPr lang="he-IL" dirty="0"/>
              <a:t>)</a:t>
            </a:r>
            <a:endParaRPr lang="en-IL" dirty="0"/>
          </a:p>
        </p:txBody>
      </p:sp>
    </p:spTree>
    <p:extLst>
      <p:ext uri="{BB962C8B-B14F-4D97-AF65-F5344CB8AC3E}">
        <p14:creationId xmlns:p14="http://schemas.microsoft.com/office/powerpoint/2010/main" val="3022301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randombar(horizontal)">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randombar(horizontal)">
                                      <p:cBhvr>
                                        <p:cTn id="2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18" grpId="0" animBg="1"/>
      <p:bldP spid="25" grpId="0" animBg="1"/>
      <p:bldP spid="27"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1105</TotalTime>
  <Words>7349</Words>
  <Application>Microsoft Office PowerPoint</Application>
  <PresentationFormat>מסך רחב</PresentationFormat>
  <Paragraphs>878</Paragraphs>
  <Slides>61</Slides>
  <Notes>2</Notes>
  <HiddenSlides>2</HiddenSlides>
  <MMClips>0</MMClips>
  <ScaleCrop>false</ScaleCrop>
  <HeadingPairs>
    <vt:vector size="8" baseType="variant">
      <vt:variant>
        <vt:lpstr>גופנים בשימוש</vt:lpstr>
      </vt:variant>
      <vt:variant>
        <vt:i4>9</vt:i4>
      </vt:variant>
      <vt:variant>
        <vt:lpstr>ערכת נושא</vt:lpstr>
      </vt:variant>
      <vt:variant>
        <vt:i4>2</vt:i4>
      </vt:variant>
      <vt:variant>
        <vt:lpstr>שרתי OLE מוטבעים</vt:lpstr>
      </vt:variant>
      <vt:variant>
        <vt:i4>1</vt:i4>
      </vt:variant>
      <vt:variant>
        <vt:lpstr>כותרות שקופיות</vt:lpstr>
      </vt:variant>
      <vt:variant>
        <vt:i4>61</vt:i4>
      </vt:variant>
    </vt:vector>
  </HeadingPairs>
  <TitlesOfParts>
    <vt:vector size="73" baseType="lpstr">
      <vt:lpstr>Aptos</vt:lpstr>
      <vt:lpstr>Arial</vt:lpstr>
      <vt:lpstr>Calibri</vt:lpstr>
      <vt:lpstr>Calibri Light</vt:lpstr>
      <vt:lpstr>Cambria Math</vt:lpstr>
      <vt:lpstr>Courier New</vt:lpstr>
      <vt:lpstr>David</vt:lpstr>
      <vt:lpstr>Times New Roman</vt:lpstr>
      <vt:lpstr>Wingdings</vt:lpstr>
      <vt:lpstr>Office Theme</vt:lpstr>
      <vt:lpstr>ערכת נושא Office</vt:lpstr>
      <vt:lpstr>Equation</vt:lpstr>
      <vt:lpstr> פתרון שאלות מבחינה 18.1.22 סמס א' מועד א’ + שאלות נוספות</vt:lpstr>
      <vt:lpstr>שאלה 20 </vt:lpstr>
      <vt:lpstr>שאלה 20 </vt:lpstr>
      <vt:lpstr>שאלה 19 </vt:lpstr>
      <vt:lpstr>שאלה 19 </vt:lpstr>
      <vt:lpstr>שאלה 18 </vt:lpstr>
      <vt:lpstr>שאלה 18 </vt:lpstr>
      <vt:lpstr>שאלה 17 </vt:lpstr>
      <vt:lpstr>מסחר בינלאומי</vt:lpstr>
      <vt:lpstr>מסחר בינלאומי</vt:lpstr>
      <vt:lpstr>שאלה 17 </vt:lpstr>
      <vt:lpstr>שאלה 16 </vt:lpstr>
      <vt:lpstr>שאלה 16 </vt:lpstr>
      <vt:lpstr>שאלה 15 </vt:lpstr>
      <vt:lpstr>שאלה 15 </vt:lpstr>
      <vt:lpstr>שאלה 14 </vt:lpstr>
      <vt:lpstr>שאלה 14 </vt:lpstr>
      <vt:lpstr>שאלה 13 </vt:lpstr>
      <vt:lpstr>שאלה 13 </vt:lpstr>
      <vt:lpstr>שאלה 12 </vt:lpstr>
      <vt:lpstr>שאלה 12 </vt:lpstr>
      <vt:lpstr>שאלה 11 </vt:lpstr>
      <vt:lpstr>שאלה 11 </vt:lpstr>
      <vt:lpstr>שאלה 10 מהבחינה</vt:lpstr>
      <vt:lpstr>שאלה 10 מהבחינה</vt:lpstr>
      <vt:lpstr>שאלה 10 מהבחינה</vt:lpstr>
      <vt:lpstr>שאלה 9 מהבחינה</vt:lpstr>
      <vt:lpstr>שאלה 9 מהבחינה</vt:lpstr>
      <vt:lpstr>שאלה 8 מהבחינה</vt:lpstr>
      <vt:lpstr>שאלה 8 מהבחינה</vt:lpstr>
      <vt:lpstr>שאלה 7 מהבחינה</vt:lpstr>
      <vt:lpstr>שאלה 7 מהבחינה</vt:lpstr>
      <vt:lpstr>שאלה 6 מהבחינה</vt:lpstr>
      <vt:lpstr>שאלה 6 מהבחינה</vt:lpstr>
      <vt:lpstr>שאלה 5 מהבחינה</vt:lpstr>
      <vt:lpstr>שאלה 5 מהבחינה</vt:lpstr>
      <vt:lpstr>שאלה 4 מהבחינה</vt:lpstr>
      <vt:lpstr>שאלה 4 מהבחינה</vt:lpstr>
      <vt:lpstr>שאלה 4 מהבחינה</vt:lpstr>
      <vt:lpstr>שאלה 4 מהבחינה</vt:lpstr>
      <vt:lpstr>שאלה 4 מהבחינה</vt:lpstr>
      <vt:lpstr>שאלה 3 מהבחינה</vt:lpstr>
      <vt:lpstr>שאלה 3 מהבחינה</vt:lpstr>
      <vt:lpstr>שאלה דומה ל-3</vt:lpstr>
      <vt:lpstr>פתרון שאלה דומה ל3</vt:lpstr>
      <vt:lpstr>פתרון שאלה 3</vt:lpstr>
      <vt:lpstr>פתרון שאלה 3</vt:lpstr>
      <vt:lpstr>שאלה 2 מהבחינה</vt:lpstr>
      <vt:lpstr>שאלה 2 מהבחינה</vt:lpstr>
      <vt:lpstr>שאלה 1 מהבחינה</vt:lpstr>
      <vt:lpstr>שאלה 1 מהבחינה</vt:lpstr>
      <vt:lpstr>שאלה נוספת- בנושא מכס</vt:lpstr>
      <vt:lpstr>שאלה נוספת- בנושא מכס</vt:lpstr>
      <vt:lpstr>שאלה נוספת- בנושא מכס</vt:lpstr>
      <vt:lpstr>שאלה נוספת2</vt:lpstr>
      <vt:lpstr>פתרון שאלה נוספת2</vt:lpstr>
      <vt:lpstr>עלויות היצרן והחלטות הייצור</vt:lpstr>
      <vt:lpstr>שאלת בחינה1 </vt:lpstr>
      <vt:lpstr>שאלת בחינה1 </vt:lpstr>
      <vt:lpstr>שאלה 2</vt:lpstr>
      <vt:lpstr>שאלה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תרגול חזרה לבחינה פתרון שאלות מבחינה 18.1.22 סמס א' מועד א'</dc:title>
  <dc:creator>Michaela</dc:creator>
  <cp:lastModifiedBy>איתן משקוביץ'</cp:lastModifiedBy>
  <cp:revision>60</cp:revision>
  <dcterms:created xsi:type="dcterms:W3CDTF">2022-06-16T20:11:55Z</dcterms:created>
  <dcterms:modified xsi:type="dcterms:W3CDTF">2026-01-19T08:48:07Z</dcterms:modified>
</cp:coreProperties>
</file>