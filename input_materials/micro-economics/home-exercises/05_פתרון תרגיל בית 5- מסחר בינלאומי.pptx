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32" r:id="rId1"/>
  </p:sldMasterIdLst>
  <p:notesMasterIdLst>
    <p:notesMasterId r:id="rId20"/>
  </p:notesMasterIdLst>
  <p:sldIdLst>
    <p:sldId id="256" r:id="rId2"/>
    <p:sldId id="349" r:id="rId3"/>
    <p:sldId id="393" r:id="rId4"/>
    <p:sldId id="397" r:id="rId5"/>
    <p:sldId id="396" r:id="rId6"/>
    <p:sldId id="395" r:id="rId7"/>
    <p:sldId id="269" r:id="rId8"/>
    <p:sldId id="270" r:id="rId9"/>
    <p:sldId id="271" r:id="rId10"/>
    <p:sldId id="272" r:id="rId11"/>
    <p:sldId id="333" r:id="rId12"/>
    <p:sldId id="347" r:id="rId13"/>
    <p:sldId id="334" r:id="rId14"/>
    <p:sldId id="348" r:id="rId15"/>
    <p:sldId id="344" r:id="rId16"/>
    <p:sldId id="328" r:id="rId17"/>
    <p:sldId id="329" r:id="rId18"/>
    <p:sldId id="330" r:id="rId19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a" initials="M" lastIdx="0" clrIdx="0">
    <p:extLst>
      <p:ext uri="{19B8F6BF-5375-455C-9EA6-DF929625EA0E}">
        <p15:presenceInfo xmlns:p15="http://schemas.microsoft.com/office/powerpoint/2012/main" userId="Michae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סגנון ביניים 2 - הדגשה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>
      <p:cViewPr varScale="1">
        <p:scale>
          <a:sx n="78" d="100"/>
          <a:sy n="78" d="100"/>
        </p:scale>
        <p:origin x="120" y="3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60A7C16-F4CB-4CA6-B6FA-DF539B314AAB}" type="datetimeFigureOut">
              <a:rPr lang="he-IL" smtClean="0"/>
              <a:t>ד'/כסלו/תשפ"ה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9E6BFA9-7046-4980-B4CF-E6EA007DE4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03143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יחס</a:t>
            </a:r>
            <a:r>
              <a:rPr lang="he-IL" baseline="0" dirty="0"/>
              <a:t> המחירים = על כמה יחידות </a:t>
            </a:r>
            <a:r>
              <a:rPr lang="en-US" baseline="0" dirty="0"/>
              <a:t>Y</a:t>
            </a:r>
            <a:r>
              <a:rPr lang="he-IL" baseline="0" dirty="0"/>
              <a:t> יש לוותר בתמורה ליחידת </a:t>
            </a:r>
            <a:r>
              <a:rPr lang="en-US" baseline="0" dirty="0"/>
              <a:t>X</a:t>
            </a:r>
            <a:r>
              <a:rPr lang="he-IL" baseline="0" dirty="0"/>
              <a:t> אחת. כמה יחידות </a:t>
            </a:r>
            <a:r>
              <a:rPr lang="en-US" baseline="0" dirty="0"/>
              <a:t>Y</a:t>
            </a:r>
            <a:r>
              <a:rPr lang="he-IL" baseline="0" dirty="0"/>
              <a:t> מוחלפות ביחידת </a:t>
            </a:r>
            <a:r>
              <a:rPr lang="en-US" baseline="0" dirty="0"/>
              <a:t>X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E6BFA9-7046-4980-B4CF-E6EA007DE4E7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6863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שינוי עבור מיקרו</a:t>
            </a:r>
            <a:r>
              <a:rPr lang="he-IL" baseline="0" dirty="0"/>
              <a:t> כלכלה למערכות מידע – סמס א' תשע''ח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5F1333-7B6D-4788-80F6-CCDE36FC5D21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49207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093B8-F7B1-4F7A-A0D9-CFBA3136AA1D}" type="datetime8">
              <a:rPr lang="he-IL" smtClean="0"/>
              <a:t>05 דצמבר 24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990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8AD04-8611-4789-AF2A-71E4707A3ADE}" type="datetime8">
              <a:rPr lang="he-IL" smtClean="0"/>
              <a:t>05 דצמבר 24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44202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B4B30-5A2A-4840-A61A-B32D952F8DE5}" type="datetime8">
              <a:rPr lang="he-IL" smtClean="0"/>
              <a:t>05 דצמבר 24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8049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5A4AB-5C5A-4884-A47C-669F1799CC06}" type="datetime8">
              <a:rPr lang="he-IL" smtClean="0"/>
              <a:t>05 דצמבר 24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8276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419AB-8BC6-486A-A20B-22211D0D9267}" type="datetime8">
              <a:rPr lang="he-IL" smtClean="0"/>
              <a:t>05 דצמבר 24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3306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6007-F557-478B-8F12-6391F3DFFFA6}" type="datetime8">
              <a:rPr lang="he-IL" smtClean="0"/>
              <a:t>05 דצמבר 24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3358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C87C-8025-42D1-B4B8-72E5371CB092}" type="datetime8">
              <a:rPr lang="he-IL" smtClean="0"/>
              <a:t>05 דצמבר 24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785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F5976-CF96-4E8C-814C-3A4963572F1E}" type="datetime8">
              <a:rPr lang="he-IL" smtClean="0"/>
              <a:t>05 דצמבר 24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5499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04492-19D6-4C5A-99AE-3B72A630D42F}" type="datetime8">
              <a:rPr lang="he-IL" smtClean="0"/>
              <a:t>05 דצמבר 24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46733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D58D1-CB2E-46C8-8B1B-11E1F64C929F}" type="datetime8">
              <a:rPr lang="he-IL" smtClean="0"/>
              <a:t>05 דצמבר 24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73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FA8A-65A3-446B-81FB-BEB68EAA5113}" type="datetime8">
              <a:rPr lang="he-IL" smtClean="0"/>
              <a:t>05 דצמבר 24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8069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012C-7F21-4704-BA79-4D24BD07D593}" type="datetime8">
              <a:rPr lang="he-IL" smtClean="0"/>
              <a:t>05 דצמבר 24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1DAFF-965B-4C5A-8AF1-BCA0B6CB09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4237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dt="0"/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7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4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תרשים זרימה: תהליך חלופי 7"/>
          <p:cNvSpPr/>
          <p:nvPr/>
        </p:nvSpPr>
        <p:spPr>
          <a:xfrm>
            <a:off x="251520" y="764704"/>
            <a:ext cx="8712968" cy="5544616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219735" y="980728"/>
            <a:ext cx="8486760" cy="3312368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he-IL" sz="4900" b="1" u="sng" dirty="0">
                <a:solidFill>
                  <a:schemeClr val="tx1"/>
                </a:solidFill>
                <a:cs typeface="+mn-cs"/>
              </a:rPr>
              <a:t>פתרון תרגיל בית מס' 5</a:t>
            </a:r>
            <a:r>
              <a:rPr lang="he-IL" sz="4900" b="1" dirty="0">
                <a:solidFill>
                  <a:schemeClr val="tx1"/>
                </a:solidFill>
                <a:cs typeface="+mn-cs"/>
              </a:rPr>
              <a:t>-</a:t>
            </a:r>
            <a:r>
              <a:rPr lang="he-IL" sz="4900" b="1" dirty="0">
                <a:solidFill>
                  <a:srgbClr val="7030A0"/>
                </a:solidFill>
                <a:cs typeface="+mn-cs"/>
              </a:rPr>
              <a:t> </a:t>
            </a:r>
            <a:br>
              <a:rPr lang="he-IL" b="1" dirty="0">
                <a:solidFill>
                  <a:srgbClr val="7030A0"/>
                </a:solidFill>
              </a:rPr>
            </a:br>
            <a:r>
              <a:rPr lang="he-IL" sz="5300" b="1" dirty="0">
                <a:solidFill>
                  <a:schemeClr val="tx2"/>
                </a:solidFill>
                <a:cs typeface="+mn-cs"/>
              </a:rPr>
              <a:t>מסחר בינלאומי </a:t>
            </a:r>
            <a:br>
              <a:rPr lang="en-US" sz="4000" dirty="0"/>
            </a:br>
            <a:endParaRPr lang="he-IL" sz="4000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868680" y="4293096"/>
            <a:ext cx="7406640" cy="1752600"/>
          </a:xfrm>
        </p:spPr>
        <p:txBody>
          <a:bodyPr>
            <a:normAutofit/>
          </a:bodyPr>
          <a:lstStyle/>
          <a:p>
            <a:pPr algn="ctr"/>
            <a:r>
              <a:rPr lang="he-IL" sz="3200" dirty="0"/>
              <a:t>מבוא למיקרו כלכלה</a:t>
            </a:r>
          </a:p>
          <a:p>
            <a:pPr algn="ctr"/>
            <a:endParaRPr lang="he-IL" sz="2000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5DDF42C-0C13-8493-204C-18D441BFB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520047B-4D9C-C2E5-E5E7-B0A58D1C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183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2EF9D-0E35-82B7-F618-47BE4A2BF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6987BD-B9AB-CCEB-31CC-12356E1B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362274"/>
          </a:xfrm>
        </p:spPr>
        <p:txBody>
          <a:bodyPr/>
          <a:lstStyle/>
          <a:p>
            <a:r>
              <a:rPr lang="he-IL" dirty="0"/>
              <a:t>חלק א': </a:t>
            </a:r>
            <a:br>
              <a:rPr lang="en-US" dirty="0"/>
            </a:br>
            <a:r>
              <a:rPr lang="he-IL" dirty="0"/>
              <a:t>מסחר של משק קטן עם העולם </a:t>
            </a:r>
            <a:br>
              <a:rPr lang="en-US" dirty="0"/>
            </a:br>
            <a:r>
              <a:rPr lang="he-IL" sz="2800" dirty="0"/>
              <a:t>(המחירים העולמיים נתונים)</a:t>
            </a:r>
            <a:endParaRPr lang="en-IL" dirty="0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C905AA9-383A-B856-A812-B0CC6654C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290F81F-9239-3087-5A7D-0CE03496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1684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22E5D-B1E9-4572-90A4-9F2CEBB7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F37F93E-A040-4418-92D1-19453D08F93D}"/>
              </a:ext>
            </a:extLst>
          </p:cNvPr>
          <p:cNvSpPr txBox="1">
            <a:spLocks/>
          </p:cNvSpPr>
          <p:nvPr/>
        </p:nvSpPr>
        <p:spPr>
          <a:xfrm>
            <a:off x="7061791" y="228600"/>
            <a:ext cx="1905000" cy="468808"/>
          </a:xfrm>
          <a:prstGeom prst="rect">
            <a:avLst/>
          </a:prstGeom>
        </p:spPr>
        <p:txBody>
          <a:bodyPr bIns="91440" anchor="b" anchorCtr="0">
            <a:normAutofit fontScale="60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>
              <a:lnSpc>
                <a:spcPct val="150000"/>
              </a:lnSpc>
              <a:spcBef>
                <a:spcPts val="2400"/>
              </a:spcBef>
            </a:pPr>
            <a:r>
              <a:rPr lang="he-IL" sz="2800" b="1" kern="0" dirty="0">
                <a:solidFill>
                  <a:srgbClr val="365F91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שאלת בית 1</a:t>
            </a:r>
            <a:endParaRPr lang="en-US" sz="2800" b="1" kern="0" dirty="0">
              <a:solidFill>
                <a:srgbClr val="365F91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DFBDE-58BF-473F-9302-FE0C5569DA0A}"/>
              </a:ext>
            </a:extLst>
          </p:cNvPr>
          <p:cNvSpPr txBox="1"/>
          <p:nvPr/>
        </p:nvSpPr>
        <p:spPr>
          <a:xfrm>
            <a:off x="762001" y="291772"/>
            <a:ext cx="6339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 algn="r" rtl="1">
              <a:spcAft>
                <a:spcPts val="800"/>
              </a:spcAft>
              <a:buNone/>
            </a:pPr>
            <a:r>
              <a:rPr lang="he-IL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משק 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''עפיפוני'' מקיים מסחר בינלאומי וידוע כי בעקבות המסחר הבינלאומי המשק בחר לייצר ביעילות (0,140) ואילו צורך (35,35).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5DC8BB-E6DC-48D8-8034-7332BC25BC22}"/>
              </a:ext>
            </a:extLst>
          </p:cNvPr>
          <p:cNvSpPr txBox="1"/>
          <p:nvPr/>
        </p:nvSpPr>
        <p:spPr>
          <a:xfrm>
            <a:off x="2398473" y="977259"/>
            <a:ext cx="6574649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 algn="r" rtl="1">
              <a:spcAft>
                <a:spcPts val="800"/>
              </a:spcAft>
              <a:buNone/>
            </a:pP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א. מצאו את הכמות המיוצאת והכמות המיובאת של משק ''עפיפוני''.</a:t>
            </a:r>
          </a:p>
          <a:p>
            <a:pPr marL="109728" indent="0" algn="r" rtl="1">
              <a:spcAft>
                <a:spcPts val="800"/>
              </a:spcAft>
              <a:buNone/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ב. 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מהו 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המחיר היחסי של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</a:p>
          <a:p>
            <a:pPr marL="109728" indent="0" algn="r" rtl="1">
              <a:spcAft>
                <a:spcPts val="800"/>
              </a:spcAft>
              <a:buNone/>
            </a:pP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ג. מהו המחיר היחסי של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7C668D82-BEEB-2FFB-32C0-FF797AA6D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</p:spTree>
    <p:extLst>
      <p:ext uri="{BB962C8B-B14F-4D97-AF65-F5344CB8AC3E}">
        <p14:creationId xmlns:p14="http://schemas.microsoft.com/office/powerpoint/2010/main" val="177496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22E5D-B1E9-4572-90A4-9F2CEBB7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F37F93E-A040-4418-92D1-19453D08F93D}"/>
              </a:ext>
            </a:extLst>
          </p:cNvPr>
          <p:cNvSpPr txBox="1">
            <a:spLocks/>
          </p:cNvSpPr>
          <p:nvPr/>
        </p:nvSpPr>
        <p:spPr>
          <a:xfrm>
            <a:off x="7061791" y="228600"/>
            <a:ext cx="1905000" cy="468808"/>
          </a:xfrm>
          <a:prstGeom prst="rect">
            <a:avLst/>
          </a:prstGeom>
        </p:spPr>
        <p:txBody>
          <a:bodyPr bIns="91440" anchor="b" anchorCtr="0">
            <a:normAutofit fontScale="60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>
              <a:lnSpc>
                <a:spcPct val="150000"/>
              </a:lnSpc>
              <a:spcBef>
                <a:spcPts val="2400"/>
              </a:spcBef>
            </a:pPr>
            <a:r>
              <a:rPr lang="he-IL" sz="2800" b="1" kern="0" dirty="0">
                <a:solidFill>
                  <a:srgbClr val="365F91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שאלת בית 1</a:t>
            </a:r>
            <a:endParaRPr lang="en-US" sz="2800" b="1" kern="0" dirty="0">
              <a:solidFill>
                <a:srgbClr val="365F91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DFBDE-58BF-473F-9302-FE0C5569DA0A}"/>
              </a:ext>
            </a:extLst>
          </p:cNvPr>
          <p:cNvSpPr txBox="1"/>
          <p:nvPr/>
        </p:nvSpPr>
        <p:spPr>
          <a:xfrm>
            <a:off x="762001" y="291772"/>
            <a:ext cx="6339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 algn="r" rtl="1">
              <a:spcAft>
                <a:spcPts val="800"/>
              </a:spcAft>
              <a:buNone/>
            </a:pPr>
            <a:r>
              <a:rPr lang="he-IL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משק 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''עפיפוני'' מקיים מסחר בינלאומי וידוע כי בעקבות המסחר הבינלאומי המשק בחר לייצר ביעילות (0,140) ואילו צורך (35,35).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5DC8BB-E6DC-48D8-8034-7332BC25BC22}"/>
              </a:ext>
            </a:extLst>
          </p:cNvPr>
          <p:cNvSpPr txBox="1"/>
          <p:nvPr/>
        </p:nvSpPr>
        <p:spPr>
          <a:xfrm>
            <a:off x="2398473" y="977259"/>
            <a:ext cx="6574649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 algn="r" rtl="1">
              <a:spcAft>
                <a:spcPts val="800"/>
              </a:spcAft>
              <a:buNone/>
            </a:pP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א. מצאו את הכמות המיוצאת והכמות המיובאת של משק ''עפיפוני''.</a:t>
            </a:r>
          </a:p>
          <a:p>
            <a:pPr marL="109728" indent="0" algn="r" rtl="1">
              <a:spcAft>
                <a:spcPts val="800"/>
              </a:spcAft>
              <a:buNone/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ב. 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מהו 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המחיר היחסי של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</a:p>
          <a:p>
            <a:pPr marL="109728" indent="0" algn="r" rtl="1">
              <a:spcAft>
                <a:spcPts val="800"/>
              </a:spcAft>
              <a:buNone/>
            </a:pP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ג. מהו המחיר היחסי של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919492C-E3FA-47AC-9719-E387F672AB4D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2405316"/>
          <a:ext cx="2515440" cy="1737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64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4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4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140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600" baseline="0" dirty="0"/>
                        <a:t>ייצור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954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600" dirty="0"/>
                        <a:t>צריכה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954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600" dirty="0"/>
                        <a:t>ייבוא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954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600" dirty="0"/>
                        <a:t>ייצוא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413806F2-016F-9D7D-45B9-9658EAEED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</p:spTree>
    <p:extLst>
      <p:ext uri="{BB962C8B-B14F-4D97-AF65-F5344CB8AC3E}">
        <p14:creationId xmlns:p14="http://schemas.microsoft.com/office/powerpoint/2010/main" val="175627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22E5D-B1E9-4572-90A4-9F2CEBB7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F37F93E-A040-4418-92D1-19453D08F93D}"/>
              </a:ext>
            </a:extLst>
          </p:cNvPr>
          <p:cNvSpPr txBox="1">
            <a:spLocks/>
          </p:cNvSpPr>
          <p:nvPr/>
        </p:nvSpPr>
        <p:spPr>
          <a:xfrm>
            <a:off x="7061791" y="228600"/>
            <a:ext cx="1905000" cy="468808"/>
          </a:xfrm>
          <a:prstGeom prst="rect">
            <a:avLst/>
          </a:prstGeom>
        </p:spPr>
        <p:txBody>
          <a:bodyPr bIns="91440" anchor="b" anchorCtr="0">
            <a:normAutofit fontScale="60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>
              <a:lnSpc>
                <a:spcPct val="150000"/>
              </a:lnSpc>
              <a:spcBef>
                <a:spcPts val="2400"/>
              </a:spcBef>
            </a:pPr>
            <a:r>
              <a:rPr lang="he-IL" sz="2800" b="1" kern="0" dirty="0">
                <a:solidFill>
                  <a:srgbClr val="365F91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שאלת 1</a:t>
            </a:r>
            <a:endParaRPr lang="en-US" sz="2800" b="1" kern="0" dirty="0">
              <a:solidFill>
                <a:srgbClr val="365F91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DFBDE-58BF-473F-9302-FE0C5569DA0A}"/>
              </a:ext>
            </a:extLst>
          </p:cNvPr>
          <p:cNvSpPr txBox="1"/>
          <p:nvPr/>
        </p:nvSpPr>
        <p:spPr>
          <a:xfrm>
            <a:off x="762001" y="291772"/>
            <a:ext cx="6339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 algn="r" rtl="1">
              <a:spcAft>
                <a:spcPts val="800"/>
              </a:spcAft>
              <a:buNone/>
            </a:pPr>
            <a:r>
              <a:rPr lang="he-IL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משק 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''עפיפוני'' מקיים מסחר בינלאומי וידוע כי בעקבות המסחר הבינלאומי המשק בחר לייצר ביעילות (0,140) ואילו צורך (35,35).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5DC8BB-E6DC-48D8-8034-7332BC25BC22}"/>
              </a:ext>
            </a:extLst>
          </p:cNvPr>
          <p:cNvSpPr txBox="1"/>
          <p:nvPr/>
        </p:nvSpPr>
        <p:spPr>
          <a:xfrm>
            <a:off x="2398473" y="977259"/>
            <a:ext cx="6574649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 algn="r" rtl="1">
              <a:spcAft>
                <a:spcPts val="800"/>
              </a:spcAft>
              <a:buNone/>
            </a:pP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א. מצאו את הכמות המיוצאת והכמות המיובאת של משק ''עפיפוני''.</a:t>
            </a:r>
          </a:p>
          <a:p>
            <a:pPr marL="109728" indent="0" algn="r" rtl="1">
              <a:spcAft>
                <a:spcPts val="800"/>
              </a:spcAft>
              <a:buNone/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ב. מהו המחיר היחסי של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</a:p>
          <a:p>
            <a:pPr marL="109728" indent="0" algn="r" rtl="1">
              <a:spcAft>
                <a:spcPts val="800"/>
              </a:spcAft>
              <a:buNone/>
            </a:pP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ג. מהו המחיר היחסי של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919492C-E3FA-47AC-9719-E387F672AB4D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2405316"/>
          <a:ext cx="2515440" cy="1737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64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4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4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140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600" baseline="0" dirty="0"/>
                        <a:t>ייצור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95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600" dirty="0"/>
                        <a:t>צריכה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954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600" dirty="0"/>
                        <a:t>ייבוא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954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600" dirty="0"/>
                        <a:t>ייצוא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D29E4FA5-1D5C-A55D-1651-CECA282A9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</p:spTree>
    <p:extLst>
      <p:ext uri="{BB962C8B-B14F-4D97-AF65-F5344CB8AC3E}">
        <p14:creationId xmlns:p14="http://schemas.microsoft.com/office/powerpoint/2010/main" val="156229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22E5D-B1E9-4572-90A4-9F2CEBB7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F37F93E-A040-4418-92D1-19453D08F93D}"/>
              </a:ext>
            </a:extLst>
          </p:cNvPr>
          <p:cNvSpPr txBox="1">
            <a:spLocks/>
          </p:cNvSpPr>
          <p:nvPr/>
        </p:nvSpPr>
        <p:spPr>
          <a:xfrm>
            <a:off x="7061791" y="228600"/>
            <a:ext cx="1905000" cy="468808"/>
          </a:xfrm>
          <a:prstGeom prst="rect">
            <a:avLst/>
          </a:prstGeom>
        </p:spPr>
        <p:txBody>
          <a:bodyPr bIns="91440" anchor="b" anchorCtr="0">
            <a:normAutofit fontScale="60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>
              <a:lnSpc>
                <a:spcPct val="150000"/>
              </a:lnSpc>
              <a:spcBef>
                <a:spcPts val="2400"/>
              </a:spcBef>
            </a:pPr>
            <a:r>
              <a:rPr lang="he-IL" sz="2800" b="1" kern="0" dirty="0">
                <a:solidFill>
                  <a:srgbClr val="365F91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שאלת  1</a:t>
            </a:r>
            <a:endParaRPr lang="en-US" sz="2800" b="1" kern="0" dirty="0">
              <a:solidFill>
                <a:srgbClr val="365F91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DFBDE-58BF-473F-9302-FE0C5569DA0A}"/>
              </a:ext>
            </a:extLst>
          </p:cNvPr>
          <p:cNvSpPr txBox="1"/>
          <p:nvPr/>
        </p:nvSpPr>
        <p:spPr>
          <a:xfrm>
            <a:off x="762001" y="291772"/>
            <a:ext cx="6339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 algn="r" rtl="1">
              <a:spcAft>
                <a:spcPts val="800"/>
              </a:spcAft>
              <a:buNone/>
            </a:pPr>
            <a:r>
              <a:rPr lang="he-IL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משק 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''עפיפוני'' מקיים מסחר בינלאומי וידוע כי בעקבות המסחר הבינלאומי המשק בחר לייצר ביעילות (0,140) ואילו צורך (35,35).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4EB989-C6B2-4FBD-8526-C7EAA37F3AB4}"/>
              </a:ext>
            </a:extLst>
          </p:cNvPr>
          <p:cNvSpPr txBox="1"/>
          <p:nvPr/>
        </p:nvSpPr>
        <p:spPr>
          <a:xfrm>
            <a:off x="1292840" y="135685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ב. יחס המחירים = 3 </a:t>
            </a:r>
            <a:endParaRPr lang="en-IL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2E6A2F-CC7E-4A8B-9201-C2E12C4411DF}"/>
              </a:ext>
            </a:extLst>
          </p:cNvPr>
          <p:cNvSpPr txBox="1"/>
          <p:nvPr/>
        </p:nvSpPr>
        <p:spPr>
          <a:xfrm>
            <a:off x="-304800" y="1691288"/>
            <a:ext cx="3742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ג. המחיר היחסי של </a:t>
            </a:r>
            <a:r>
              <a:rPr lang="en-US" dirty="0"/>
              <a:t>Y</a:t>
            </a:r>
            <a:r>
              <a:rPr lang="he-IL" dirty="0"/>
              <a:t> = </a:t>
            </a:r>
            <a:r>
              <a:rPr lang="en-US" dirty="0"/>
              <a:t>1/3 </a:t>
            </a:r>
            <a:r>
              <a:rPr lang="he-IL" dirty="0"/>
              <a:t> יחידת </a:t>
            </a:r>
            <a:r>
              <a:rPr lang="en-US" dirty="0"/>
              <a:t>X</a:t>
            </a:r>
            <a:endParaRPr lang="en-I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5DC8BB-E6DC-48D8-8034-7332BC25BC22}"/>
              </a:ext>
            </a:extLst>
          </p:cNvPr>
          <p:cNvSpPr txBox="1"/>
          <p:nvPr/>
        </p:nvSpPr>
        <p:spPr>
          <a:xfrm>
            <a:off x="2398473" y="977259"/>
            <a:ext cx="6574649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 algn="r" rtl="1">
              <a:spcAft>
                <a:spcPts val="800"/>
              </a:spcAft>
              <a:buNone/>
            </a:pP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א. מצאו את הכמות המיוצאת והכמות המיובאת של משק ''עפיפוני''.</a:t>
            </a:r>
          </a:p>
          <a:p>
            <a:pPr marL="109728" indent="0" algn="r" rtl="1">
              <a:spcAft>
                <a:spcPts val="800"/>
              </a:spcAft>
              <a:buNone/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ב. מהו המחיר היחסי של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</a:p>
          <a:p>
            <a:pPr marL="109728" indent="0" algn="r" rtl="1">
              <a:spcAft>
                <a:spcPts val="800"/>
              </a:spcAft>
              <a:buNone/>
            </a:pP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ג. מהו המחיר היחסי של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במונחי יחידות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919492C-E3FA-47AC-9719-E387F672AB4D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2405316"/>
          <a:ext cx="2515440" cy="1737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64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4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4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140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600" baseline="0" dirty="0"/>
                        <a:t>ייצור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95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600" dirty="0"/>
                        <a:t>צריכה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954">
                <a:tc>
                  <a:txBody>
                    <a:bodyPr/>
                    <a:lstStyle/>
                    <a:p>
                      <a:pPr algn="ctr"/>
                      <a:r>
                        <a:rPr lang="he-IL" sz="1600" dirty="0">
                          <a:solidFill>
                            <a:srgbClr val="0070C0"/>
                          </a:solidFill>
                        </a:rPr>
                        <a:t>35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600" dirty="0">
                          <a:solidFill>
                            <a:srgbClr val="0070C0"/>
                          </a:solidFill>
                        </a:rPr>
                        <a:t>-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600" dirty="0"/>
                        <a:t>ייבוא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954">
                <a:tc>
                  <a:txBody>
                    <a:bodyPr/>
                    <a:lstStyle/>
                    <a:p>
                      <a:pPr algn="ctr"/>
                      <a:r>
                        <a:rPr lang="he-IL" sz="1600" dirty="0">
                          <a:solidFill>
                            <a:srgbClr val="0070C0"/>
                          </a:solidFill>
                        </a:rPr>
                        <a:t>-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600" dirty="0">
                          <a:solidFill>
                            <a:srgbClr val="0070C0"/>
                          </a:solidFill>
                        </a:rPr>
                        <a:t>105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600" dirty="0"/>
                        <a:t>ייצוא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0771F7D-7B2F-4FB5-AAA5-26CDF2E225EA}"/>
              </a:ext>
            </a:extLst>
          </p:cNvPr>
          <p:cNvSpPr txBox="1"/>
          <p:nvPr/>
        </p:nvSpPr>
        <p:spPr>
          <a:xfrm>
            <a:off x="1292840" y="2971800"/>
            <a:ext cx="3279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הסבר:</a:t>
            </a:r>
            <a:br>
              <a:rPr lang="en-US" dirty="0"/>
            </a:br>
            <a:r>
              <a:rPr lang="he-IL" dirty="0"/>
              <a:t>למציאת יחס המחירים נוכל לחשב את שיפוע קו אפשרויות הצריכה </a:t>
            </a:r>
            <a:endParaRPr lang="en-IL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8E072F0-FBC0-505F-43E6-3913A5307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</p:spTree>
    <p:extLst>
      <p:ext uri="{BB962C8B-B14F-4D97-AF65-F5344CB8AC3E}">
        <p14:creationId xmlns:p14="http://schemas.microsoft.com/office/powerpoint/2010/main" val="115223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1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07504" y="5477"/>
            <a:ext cx="9036496" cy="759227"/>
          </a:xfrm>
        </p:spPr>
        <p:txBody>
          <a:bodyPr>
            <a:normAutofit fontScale="90000"/>
          </a:bodyPr>
          <a:lstStyle/>
          <a:p>
            <a:pPr algn="r"/>
            <a:r>
              <a:rPr lang="he-IL" dirty="0">
                <a:cs typeface="+mn-cs"/>
              </a:rPr>
              <a:t>שאלה 2 מתרגיל בית 5</a:t>
            </a:r>
            <a:endParaRPr lang="he-IL" sz="3600" dirty="0">
              <a:cs typeface="+mn-cs"/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128" y="692696"/>
            <a:ext cx="9024326" cy="1296144"/>
          </a:xfrm>
        </p:spPr>
        <p:txBody>
          <a:bodyPr>
            <a:noAutofit/>
          </a:bodyPr>
          <a:lstStyle/>
          <a:p>
            <a:pPr algn="r"/>
            <a:r>
              <a:rPr lang="he-IL" sz="1600" dirty="0">
                <a:solidFill>
                  <a:schemeClr val="tx1"/>
                </a:solidFill>
              </a:rPr>
              <a:t>משק מייצר שני מוצרים - מזון </a:t>
            </a:r>
            <a:r>
              <a:rPr lang="en-US" sz="1600" dirty="0">
                <a:solidFill>
                  <a:schemeClr val="tx1"/>
                </a:solidFill>
              </a:rPr>
              <a:t>X</a:t>
            </a:r>
            <a:r>
              <a:rPr lang="he-IL" sz="1600" dirty="0">
                <a:solidFill>
                  <a:schemeClr val="tx1"/>
                </a:solidFill>
              </a:rPr>
              <a:t> ולבוש </a:t>
            </a:r>
            <a:r>
              <a:rPr lang="en-US" sz="1600" dirty="0">
                <a:solidFill>
                  <a:schemeClr val="tx1"/>
                </a:solidFill>
              </a:rPr>
              <a:t>Y</a:t>
            </a:r>
            <a:r>
              <a:rPr lang="he-IL" sz="1600" dirty="0">
                <a:solidFill>
                  <a:schemeClr val="tx1"/>
                </a:solidFill>
              </a:rPr>
              <a:t>, באמצעות גורם ייצור אחד </a:t>
            </a:r>
            <a:r>
              <a:rPr lang="en-US" sz="1600" dirty="0">
                <a:solidFill>
                  <a:schemeClr val="tx1"/>
                </a:solidFill>
              </a:rPr>
              <a:t>–</a:t>
            </a:r>
            <a:r>
              <a:rPr lang="he-IL" sz="1600" dirty="0">
                <a:solidFill>
                  <a:schemeClr val="tx1"/>
                </a:solidFill>
              </a:rPr>
              <a:t> עובדים.</a:t>
            </a:r>
            <a:endParaRPr lang="en-US" sz="1600" dirty="0">
              <a:solidFill>
                <a:schemeClr val="tx1"/>
              </a:solidFill>
            </a:endParaRPr>
          </a:p>
          <a:p>
            <a:pPr algn="r"/>
            <a:r>
              <a:rPr lang="he-IL" sz="1600" dirty="0">
                <a:solidFill>
                  <a:schemeClr val="tx1"/>
                </a:solidFill>
              </a:rPr>
              <a:t>כל עובד יכול לייצר 10 יחידות מזון או 2 יחידות לבוש בשבוע. במשק 100 עובדים. </a:t>
            </a:r>
            <a:endParaRPr lang="en-US" sz="1600" dirty="0">
              <a:solidFill>
                <a:schemeClr val="tx1"/>
              </a:solidFill>
            </a:endParaRPr>
          </a:p>
          <a:p>
            <a:pPr algn="r"/>
            <a:r>
              <a:rPr lang="he-IL" sz="1600" dirty="0">
                <a:solidFill>
                  <a:schemeClr val="tx1"/>
                </a:solidFill>
              </a:rPr>
              <a:t>כמו-כן , ידוע כי בני המשק </a:t>
            </a:r>
            <a:r>
              <a:rPr lang="he-IL" sz="1600" dirty="0">
                <a:solidFill>
                  <a:srgbClr val="7030A0"/>
                </a:solidFill>
              </a:rPr>
              <a:t>מעוניינים</a:t>
            </a:r>
            <a:r>
              <a:rPr lang="he-IL" sz="1600" dirty="0">
                <a:solidFill>
                  <a:schemeClr val="tx1"/>
                </a:solidFill>
              </a:rPr>
              <a:t> </a:t>
            </a:r>
            <a:r>
              <a:rPr lang="he-IL" sz="1600" dirty="0">
                <a:solidFill>
                  <a:srgbClr val="7030A0"/>
                </a:solidFill>
              </a:rPr>
              <a:t>תמיד לצרוך 500 יחידות מזון</a:t>
            </a:r>
            <a:r>
              <a:rPr lang="he-IL" sz="1600" dirty="0">
                <a:solidFill>
                  <a:schemeClr val="tx1"/>
                </a:solidFill>
              </a:rPr>
              <a:t>, וכמה שיותר יחידות לבוש.</a:t>
            </a:r>
            <a:endParaRPr lang="en-US" sz="1600" dirty="0">
              <a:solidFill>
                <a:schemeClr val="tx1"/>
              </a:solidFill>
            </a:endParaRPr>
          </a:p>
          <a:p>
            <a:pPr lvl="0" algn="r"/>
            <a:r>
              <a:rPr lang="he-IL" sz="1600" dirty="0">
                <a:solidFill>
                  <a:schemeClr val="tx1"/>
                </a:solidFill>
              </a:rPr>
              <a:t>א. התוו את עקומת אפשרויות הייצור של המשק. מהם הרכבי הייצור והצריכה של המשק?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324544" y="238872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/>
              <a:t>Y </a:t>
            </a:r>
            <a:r>
              <a:rPr lang="he-IL" dirty="0"/>
              <a:t>  לבוש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419444" y="5858326"/>
            <a:ext cx="87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/>
              <a:t>X</a:t>
            </a:r>
            <a:r>
              <a:rPr lang="he-IL" dirty="0"/>
              <a:t> מזון</a:t>
            </a:r>
          </a:p>
        </p:txBody>
      </p:sp>
      <p:cxnSp>
        <p:nvCxnSpPr>
          <p:cNvPr id="6" name="מחבר חץ ישר 5"/>
          <p:cNvCxnSpPr/>
          <p:nvPr/>
        </p:nvCxnSpPr>
        <p:spPr>
          <a:xfrm>
            <a:off x="635288" y="5842263"/>
            <a:ext cx="4971391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מחבר חץ ישר 6"/>
          <p:cNvCxnSpPr/>
          <p:nvPr/>
        </p:nvCxnSpPr>
        <p:spPr>
          <a:xfrm flipH="1" flipV="1">
            <a:off x="634079" y="2780928"/>
            <a:ext cx="1209" cy="3077398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978643" y="5895007"/>
            <a:ext cx="729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28310"/>
            <a:ext cx="64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200</a:t>
            </a:r>
          </a:p>
        </p:txBody>
      </p:sp>
      <p:cxnSp>
        <p:nvCxnSpPr>
          <p:cNvPr id="10" name="מחבר ישר 9"/>
          <p:cNvCxnSpPr/>
          <p:nvPr/>
        </p:nvCxnSpPr>
        <p:spPr>
          <a:xfrm>
            <a:off x="635288" y="3212976"/>
            <a:ext cx="2784584" cy="26109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מחבר ישר 11"/>
          <p:cNvCxnSpPr/>
          <p:nvPr/>
        </p:nvCxnSpPr>
        <p:spPr>
          <a:xfrm flipV="1">
            <a:off x="1903926" y="4405754"/>
            <a:ext cx="0" cy="1436509"/>
          </a:xfrm>
          <a:prstGeom prst="line">
            <a:avLst/>
          </a:prstGeom>
          <a:ln w="19050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מחבר ישר 16"/>
          <p:cNvCxnSpPr/>
          <p:nvPr/>
        </p:nvCxnSpPr>
        <p:spPr>
          <a:xfrm>
            <a:off x="626687" y="4405754"/>
            <a:ext cx="1271245" cy="0"/>
          </a:xfrm>
          <a:prstGeom prst="line">
            <a:avLst/>
          </a:prstGeom>
          <a:ln w="19050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04250" y="5858552"/>
            <a:ext cx="729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80248" y="4221088"/>
            <a:ext cx="729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100</a:t>
            </a:r>
          </a:p>
        </p:txBody>
      </p:sp>
      <p:sp>
        <p:nvSpPr>
          <p:cNvPr id="23" name="אליפסה 22"/>
          <p:cNvSpPr/>
          <p:nvPr/>
        </p:nvSpPr>
        <p:spPr>
          <a:xfrm>
            <a:off x="1825924" y="4319627"/>
            <a:ext cx="144016" cy="15388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TextBox 23"/>
          <p:cNvSpPr txBox="1"/>
          <p:nvPr/>
        </p:nvSpPr>
        <p:spPr>
          <a:xfrm>
            <a:off x="2699792" y="5574191"/>
            <a:ext cx="557702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100" dirty="0"/>
              <a:t>0.2</a:t>
            </a:r>
            <a:endParaRPr lang="he-IL" sz="1100" dirty="0"/>
          </a:p>
        </p:txBody>
      </p:sp>
      <p:sp>
        <p:nvSpPr>
          <p:cNvPr id="25" name="קשת 24"/>
          <p:cNvSpPr/>
          <p:nvPr/>
        </p:nvSpPr>
        <p:spPr>
          <a:xfrm rot="17154985">
            <a:off x="2685935" y="5574938"/>
            <a:ext cx="1080120" cy="936105"/>
          </a:xfrm>
          <a:prstGeom prst="arc">
            <a:avLst>
              <a:gd name="adj1" fmla="val 16607536"/>
              <a:gd name="adj2" fmla="val 1980428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TextBox 25"/>
          <p:cNvSpPr txBox="1"/>
          <p:nvPr/>
        </p:nvSpPr>
        <p:spPr>
          <a:xfrm>
            <a:off x="5148064" y="2276872"/>
            <a:ext cx="191153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r>
              <a:rPr lang="he-IL" dirty="0"/>
              <a:t>ייצור וצריכה בנק' </a:t>
            </a:r>
            <a:r>
              <a:rPr lang="en-US" dirty="0"/>
              <a:t>A</a:t>
            </a:r>
            <a:endParaRPr lang="he-IL" dirty="0"/>
          </a:p>
        </p:txBody>
      </p:sp>
      <p:sp>
        <p:nvSpPr>
          <p:cNvPr id="27" name="TextBox 26"/>
          <p:cNvSpPr txBox="1"/>
          <p:nvPr/>
        </p:nvSpPr>
        <p:spPr>
          <a:xfrm>
            <a:off x="1897932" y="4091989"/>
            <a:ext cx="34773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</a:t>
            </a:r>
            <a:endParaRPr lang="he-IL" dirty="0"/>
          </a:p>
        </p:txBody>
      </p:sp>
      <p:sp>
        <p:nvSpPr>
          <p:cNvPr id="11" name="מציין מיקום של כותרת תחתונה 10">
            <a:extLst>
              <a:ext uri="{FF2B5EF4-FFF2-40B4-BE49-F238E27FC236}">
                <a16:creationId xmlns:a16="http://schemas.microsoft.com/office/drawing/2014/main" id="{4040296F-F910-D06B-794D-4A06B177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13" name="מציין מיקום של מספר שקופית 12">
            <a:extLst>
              <a:ext uri="{FF2B5EF4-FFF2-40B4-BE49-F238E27FC236}">
                <a16:creationId xmlns:a16="http://schemas.microsoft.com/office/drawing/2014/main" id="{4A543A90-F58F-A5EB-3324-DA7012A78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559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21" grpId="0"/>
      <p:bldP spid="22" grpId="0"/>
      <p:bldP spid="23" grpId="0" animBg="1"/>
      <p:bldP spid="24" grpId="0"/>
      <p:bldP spid="25" grpId="0" animBg="1"/>
      <p:bldP spid="26" grpId="0" animBg="1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כותרת 1"/>
          <p:cNvSpPr>
            <a:spLocks noGrp="1"/>
          </p:cNvSpPr>
          <p:nvPr>
            <p:ph type="ctrTitle"/>
          </p:nvPr>
        </p:nvSpPr>
        <p:spPr>
          <a:xfrm>
            <a:off x="107504" y="5477"/>
            <a:ext cx="9036496" cy="759227"/>
          </a:xfrm>
        </p:spPr>
        <p:txBody>
          <a:bodyPr>
            <a:normAutofit fontScale="90000"/>
          </a:bodyPr>
          <a:lstStyle/>
          <a:p>
            <a:pPr algn="r"/>
            <a:r>
              <a:rPr lang="he-IL" dirty="0">
                <a:cs typeface="+mn-cs"/>
              </a:rPr>
              <a:t>שאלה 2 </a:t>
            </a:r>
            <a:r>
              <a:rPr lang="he-IL" sz="3600" dirty="0">
                <a:cs typeface="+mn-cs"/>
              </a:rPr>
              <a:t>חלק שני:</a:t>
            </a:r>
            <a:r>
              <a:rPr lang="en-US" sz="3600" dirty="0">
                <a:cs typeface="+mn-cs"/>
              </a:rPr>
              <a:t> </a:t>
            </a:r>
            <a:r>
              <a:rPr lang="he-IL" sz="3600" dirty="0">
                <a:cs typeface="+mn-cs"/>
              </a:rPr>
              <a:t>מסחר בינלאומי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9144000" cy="1296144"/>
          </a:xfrm>
        </p:spPr>
        <p:txBody>
          <a:bodyPr>
            <a:noAutofit/>
          </a:bodyPr>
          <a:lstStyle/>
          <a:p>
            <a:pPr algn="r"/>
            <a:r>
              <a:rPr lang="he-IL" sz="1600" dirty="0">
                <a:solidFill>
                  <a:schemeClr val="tx1"/>
                </a:solidFill>
              </a:rPr>
              <a:t>ב. עתה נפתח המשק למסחר בינלאומי, והוא יכול לקנות או למכור כל כמות של מזון ולבוש במחירים העולמיים.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he-IL" sz="1600" dirty="0">
                <a:solidFill>
                  <a:schemeClr val="tx1"/>
                </a:solidFill>
              </a:rPr>
              <a:t>נתון כי </a:t>
            </a:r>
            <a:r>
              <a:rPr lang="he-IL" sz="1600" dirty="0">
                <a:solidFill>
                  <a:schemeClr val="accent1">
                    <a:lumMod val="75000"/>
                  </a:schemeClr>
                </a:solidFill>
              </a:rPr>
              <a:t>מחיר יחידת לבוש הוא 100$ ומחיר יחידת מזון 10</a:t>
            </a:r>
            <a:r>
              <a:rPr lang="he-IL" sz="1600" dirty="0">
                <a:solidFill>
                  <a:schemeClr val="tx1"/>
                </a:solidFill>
              </a:rPr>
              <a:t>$.  </a:t>
            </a:r>
          </a:p>
          <a:p>
            <a:pPr algn="r"/>
            <a:r>
              <a:rPr lang="he-IL" sz="1600" dirty="0">
                <a:solidFill>
                  <a:schemeClr val="tx1"/>
                </a:solidFill>
              </a:rPr>
              <a:t>(1) כמה יחידות מזון ולבוש צריך המשק </a:t>
            </a:r>
            <a:r>
              <a:rPr lang="he-IL" sz="1600" b="1" dirty="0">
                <a:solidFill>
                  <a:schemeClr val="tx1"/>
                </a:solidFill>
              </a:rPr>
              <a:t>לייצר</a:t>
            </a:r>
            <a:r>
              <a:rPr lang="he-IL" sz="1600" dirty="0">
                <a:solidFill>
                  <a:schemeClr val="tx1"/>
                </a:solidFill>
              </a:rPr>
              <a:t> על מנת להיות על גבול אפשרויות הצריכה שלו? חשבו וסמנו בתרשים.</a:t>
            </a:r>
          </a:p>
          <a:p>
            <a:pPr algn="r"/>
            <a:r>
              <a:rPr lang="he-IL" sz="1600" dirty="0">
                <a:solidFill>
                  <a:schemeClr val="tx1"/>
                </a:solidFill>
              </a:rPr>
              <a:t>(2) התוו את גבול אפשרויות הצריכה של המשק לאחר פתיחת הסחר הבינלאומי.</a:t>
            </a:r>
          </a:p>
          <a:p>
            <a:pPr algn="r"/>
            <a:r>
              <a:rPr lang="he-IL" sz="1600" dirty="0">
                <a:solidFill>
                  <a:schemeClr val="tx1"/>
                </a:solidFill>
              </a:rPr>
              <a:t>(3) כמה יחידות מזון ולבוש יצרוך המשק? חשבו וסמנו בתרשים.</a:t>
            </a:r>
          </a:p>
          <a:p>
            <a:pPr algn="r"/>
            <a:r>
              <a:rPr lang="he-IL" sz="1600" dirty="0">
                <a:solidFill>
                  <a:schemeClr val="tx1"/>
                </a:solidFill>
              </a:rPr>
              <a:t>(4) איזה מהמוצרים ייבא/ייצא? חשבו את הכמויות.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71485" y="2031111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/>
              <a:t>Y </a:t>
            </a:r>
            <a:r>
              <a:rPr lang="he-IL" dirty="0"/>
              <a:t>  לבוש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14269" y="5895955"/>
            <a:ext cx="87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/>
              <a:t>X</a:t>
            </a:r>
            <a:r>
              <a:rPr lang="he-IL" dirty="0"/>
              <a:t> מזון</a:t>
            </a:r>
          </a:p>
        </p:txBody>
      </p:sp>
      <p:cxnSp>
        <p:nvCxnSpPr>
          <p:cNvPr id="6" name="מחבר חץ ישר 5"/>
          <p:cNvCxnSpPr/>
          <p:nvPr/>
        </p:nvCxnSpPr>
        <p:spPr>
          <a:xfrm flipV="1">
            <a:off x="635288" y="5833077"/>
            <a:ext cx="6456992" cy="9186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מחבר חץ ישר 6"/>
          <p:cNvCxnSpPr/>
          <p:nvPr/>
        </p:nvCxnSpPr>
        <p:spPr>
          <a:xfrm flipV="1">
            <a:off x="634079" y="2492896"/>
            <a:ext cx="1209" cy="3348619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50145" y="5862063"/>
            <a:ext cx="729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51976" y="3052434"/>
            <a:ext cx="64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200</a:t>
            </a:r>
          </a:p>
        </p:txBody>
      </p:sp>
      <p:cxnSp>
        <p:nvCxnSpPr>
          <p:cNvPr id="10" name="מחבר ישר 9"/>
          <p:cNvCxnSpPr/>
          <p:nvPr/>
        </p:nvCxnSpPr>
        <p:spPr>
          <a:xfrm>
            <a:off x="666993" y="3271536"/>
            <a:ext cx="2812794" cy="2586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מחבר ישר 10"/>
          <p:cNvCxnSpPr/>
          <p:nvPr/>
        </p:nvCxnSpPr>
        <p:spPr>
          <a:xfrm flipV="1">
            <a:off x="2118720" y="4523079"/>
            <a:ext cx="0" cy="1335248"/>
          </a:xfrm>
          <a:prstGeom prst="line">
            <a:avLst/>
          </a:prstGeom>
          <a:ln w="19050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מחבר ישר 11"/>
          <p:cNvCxnSpPr>
            <a:stCxn id="14" idx="3"/>
          </p:cNvCxnSpPr>
          <p:nvPr/>
        </p:nvCxnSpPr>
        <p:spPr>
          <a:xfrm>
            <a:off x="634079" y="4523079"/>
            <a:ext cx="1465509" cy="19661"/>
          </a:xfrm>
          <a:prstGeom prst="line">
            <a:avLst/>
          </a:prstGeom>
          <a:ln w="19050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34662" y="5896569"/>
            <a:ext cx="729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95773" y="4338413"/>
            <a:ext cx="729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100</a:t>
            </a:r>
          </a:p>
        </p:txBody>
      </p:sp>
      <p:sp>
        <p:nvSpPr>
          <p:cNvPr id="15" name="אליפסה 14"/>
          <p:cNvSpPr/>
          <p:nvPr/>
        </p:nvSpPr>
        <p:spPr>
          <a:xfrm>
            <a:off x="2046712" y="4465796"/>
            <a:ext cx="144016" cy="15388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TextBox 15"/>
          <p:cNvSpPr txBox="1"/>
          <p:nvPr/>
        </p:nvSpPr>
        <p:spPr>
          <a:xfrm>
            <a:off x="2809016" y="5554286"/>
            <a:ext cx="55770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b="1" dirty="0"/>
              <a:t>0.2</a:t>
            </a:r>
            <a:endParaRPr lang="he-IL" sz="1400" b="1" dirty="0"/>
          </a:p>
        </p:txBody>
      </p:sp>
      <p:sp>
        <p:nvSpPr>
          <p:cNvPr id="17" name="קשת 16"/>
          <p:cNvSpPr/>
          <p:nvPr/>
        </p:nvSpPr>
        <p:spPr>
          <a:xfrm rot="17154985">
            <a:off x="2665950" y="5548382"/>
            <a:ext cx="1080120" cy="936105"/>
          </a:xfrm>
          <a:prstGeom prst="arc">
            <a:avLst>
              <a:gd name="adj1" fmla="val 16607536"/>
              <a:gd name="adj2" fmla="val 201046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TextBox 17"/>
          <p:cNvSpPr txBox="1"/>
          <p:nvPr/>
        </p:nvSpPr>
        <p:spPr>
          <a:xfrm>
            <a:off x="1979712" y="4153747"/>
            <a:ext cx="34773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מלבן 18"/>
              <p:cNvSpPr/>
              <p:nvPr/>
            </p:nvSpPr>
            <p:spPr>
              <a:xfrm>
                <a:off x="1897932" y="2031111"/>
                <a:ext cx="1906291" cy="6769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e-IL" b="0" i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Px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he-IL" b="0" i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Py</m:t>
                          </m:r>
                        </m:den>
                      </m:f>
                      <m:r>
                        <a:rPr lang="he-IL" b="0" i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he-IL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b="0" i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10</m:t>
                          </m:r>
                          <m:r>
                            <a:rPr lang="he-IL" b="0" i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$</m:t>
                          </m:r>
                        </m:num>
                        <m:den>
                          <m:r>
                            <a:rPr lang="he-IL" b="0" i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100</m:t>
                          </m:r>
                          <m:r>
                            <a:rPr lang="he-IL" b="0" i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$</m:t>
                          </m:r>
                        </m:den>
                      </m:f>
                      <m:r>
                        <a:rPr lang="he-IL" b="0" i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he-IL" b="0" i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0</m:t>
                      </m:r>
                      <m:r>
                        <a:rPr lang="he-IL" b="0" i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.</m:t>
                      </m:r>
                      <m:r>
                        <a:rPr lang="he-IL" b="0" i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he-IL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מלבן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932" y="2031111"/>
                <a:ext cx="1906291" cy="6769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 rot="1368456">
            <a:off x="2302983" y="4338413"/>
            <a:ext cx="2892623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b="1" dirty="0"/>
              <a:t>(2) </a:t>
            </a:r>
            <a:r>
              <a:rPr lang="he-IL" sz="1600" b="1" dirty="0">
                <a:solidFill>
                  <a:schemeClr val="accent1">
                    <a:lumMod val="75000"/>
                  </a:schemeClr>
                </a:solidFill>
              </a:rPr>
              <a:t>גבול אפשרויות הצריכה</a:t>
            </a:r>
          </a:p>
        </p:txBody>
      </p:sp>
      <p:cxnSp>
        <p:nvCxnSpPr>
          <p:cNvPr id="21" name="מחבר ישר 20"/>
          <p:cNvCxnSpPr/>
          <p:nvPr/>
        </p:nvCxnSpPr>
        <p:spPr>
          <a:xfrm>
            <a:off x="634079" y="3231984"/>
            <a:ext cx="5656223" cy="2591907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25376" y="5896569"/>
            <a:ext cx="729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2000</a:t>
            </a:r>
          </a:p>
        </p:txBody>
      </p:sp>
      <p:sp>
        <p:nvSpPr>
          <p:cNvPr id="38" name="אליפסה 37"/>
          <p:cNvSpPr/>
          <p:nvPr/>
        </p:nvSpPr>
        <p:spPr>
          <a:xfrm>
            <a:off x="563280" y="3160156"/>
            <a:ext cx="144016" cy="153888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0" name="TextBox 39"/>
          <p:cNvSpPr txBox="1"/>
          <p:nvPr/>
        </p:nvSpPr>
        <p:spPr>
          <a:xfrm>
            <a:off x="911599" y="2898546"/>
            <a:ext cx="2892623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b="1" dirty="0"/>
              <a:t>(1) </a:t>
            </a:r>
            <a:r>
              <a:rPr lang="he-IL" sz="1600" b="1" dirty="0">
                <a:solidFill>
                  <a:schemeClr val="bg2">
                    <a:lumMod val="50000"/>
                  </a:schemeClr>
                </a:solidFill>
              </a:rPr>
              <a:t>על המשק לייצר (0,200)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0847" y="2748022"/>
            <a:ext cx="470876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b="1" dirty="0"/>
              <a:t>(3+4) </a:t>
            </a:r>
            <a:r>
              <a:rPr lang="he-IL" sz="1600" dirty="0"/>
              <a:t>המשק</a:t>
            </a:r>
            <a:r>
              <a:rPr lang="he-IL" sz="1600" b="1" dirty="0"/>
              <a:t> </a:t>
            </a:r>
            <a:r>
              <a:rPr lang="he-IL" sz="1600" b="1" dirty="0">
                <a:solidFill>
                  <a:srgbClr val="7030A0"/>
                </a:solidFill>
              </a:rPr>
              <a:t>צורך 500 יח' מזון </a:t>
            </a:r>
            <a:r>
              <a:rPr lang="he-IL" sz="1600" dirty="0"/>
              <a:t>שאותם</a:t>
            </a:r>
            <a:r>
              <a:rPr lang="he-IL" sz="1600" b="1" dirty="0"/>
              <a:t> מייבא </a:t>
            </a:r>
            <a:r>
              <a:rPr lang="he-IL" sz="1600" dirty="0"/>
              <a:t>מהעולם.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39952" y="3160156"/>
            <a:ext cx="4869657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על המשק לשלם $5,000 עבור יח' המזון שמייבא </a:t>
            </a:r>
            <a:br>
              <a:rPr lang="en-US" sz="1600" dirty="0"/>
            </a:br>
            <a:r>
              <a:rPr lang="he-IL" sz="1600" dirty="0"/>
              <a:t>ויוכל </a:t>
            </a:r>
            <a:r>
              <a:rPr lang="he-IL" sz="1600" b="1" dirty="0"/>
              <a:t>לייצא  5000/100</a:t>
            </a:r>
            <a:r>
              <a:rPr lang="he-IL" sz="1600" dirty="0"/>
              <a:t>=</a:t>
            </a:r>
            <a:r>
              <a:rPr lang="he-IL" sz="1600" b="1" dirty="0"/>
              <a:t>50 יח' לבוש, ואילו נותרו לו לצרוך </a:t>
            </a:r>
            <a:r>
              <a:rPr lang="he-IL" sz="1600" b="1" dirty="0">
                <a:solidFill>
                  <a:srgbClr val="C00000"/>
                </a:solidFill>
              </a:rPr>
              <a:t>150</a:t>
            </a:r>
            <a:r>
              <a:rPr lang="he-IL" sz="1600" b="1" dirty="0"/>
              <a:t> </a:t>
            </a:r>
            <a:r>
              <a:rPr lang="he-IL" sz="1600" b="1" dirty="0">
                <a:solidFill>
                  <a:srgbClr val="C00000"/>
                </a:solidFill>
              </a:rPr>
              <a:t>יח' לבוש.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5868" y="5588792"/>
            <a:ext cx="55770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b="1" dirty="0"/>
              <a:t>0.1</a:t>
            </a:r>
            <a:endParaRPr lang="he-IL" sz="1400" b="1" dirty="0"/>
          </a:p>
        </p:txBody>
      </p:sp>
      <p:sp>
        <p:nvSpPr>
          <p:cNvPr id="45" name="קשת 44"/>
          <p:cNvSpPr/>
          <p:nvPr/>
        </p:nvSpPr>
        <p:spPr>
          <a:xfrm rot="17154985">
            <a:off x="5224659" y="5582886"/>
            <a:ext cx="1080120" cy="936105"/>
          </a:xfrm>
          <a:prstGeom prst="arc">
            <a:avLst>
              <a:gd name="adj1" fmla="val 16607536"/>
              <a:gd name="adj2" fmla="val 201046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860032" y="4172954"/>
                <a:ext cx="4054126" cy="117025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:r>
                  <a:rPr lang="he-IL" sz="1600" b="1" dirty="0"/>
                  <a:t>(3+4) </a:t>
                </a:r>
                <a:r>
                  <a:rPr lang="he-IL" sz="1600" dirty="0"/>
                  <a:t>דרך ב': נציב במשוואת הצריכה </a:t>
                </a:r>
                <a14:m>
                  <m:oMath xmlns:m="http://schemas.openxmlformats.org/officeDocument/2006/math">
                    <m:r>
                      <a:rPr lang="he-IL" sz="1600" b="1" i="1" smtClean="0">
                        <a:solidFill>
                          <a:srgbClr val="7030A0"/>
                        </a:solidFill>
                        <a:latin typeface="Cambria Math"/>
                      </a:rPr>
                      <m:t>𝟓𝟎𝟎</m:t>
                    </m:r>
                  </m:oMath>
                </a14:m>
                <a:r>
                  <a:rPr lang="he-IL" sz="1600" dirty="0"/>
                  <a:t>=</a:t>
                </a:r>
                <a:r>
                  <a:rPr lang="en-US" sz="1600" dirty="0"/>
                  <a:t>X</a:t>
                </a:r>
                <a:br>
                  <a:rPr lang="en-US" sz="16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he-IL" sz="1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"/>
                                <m:ctrlPr>
                                  <a:rPr lang="he-IL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he-IL" sz="1600" i="1">
                                    <a:latin typeface="Cambria Math"/>
                                  </a:rPr>
                                  <m:t>𝑌</m:t>
                                </m:r>
                                <m:r>
                                  <a:rPr lang="he-IL" sz="160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he-IL" sz="1600">
                                    <a:latin typeface="Cambria Math"/>
                                  </a:rPr>
                                  <m:t>200</m:t>
                                </m:r>
                                <m:r>
                                  <a:rPr lang="he-IL" sz="160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he-IL" sz="1600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he-IL" sz="160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he-IL" sz="1600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he-IL" sz="1600">
                                    <a:latin typeface="Cambria Math"/>
                                  </a:rPr>
                                  <m:t>⋅(</m:t>
                                </m:r>
                                <m:r>
                                  <a:rPr lang="he-IL" sz="1600" b="1" i="1" smtClean="0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𝟓𝟎𝟎</m:t>
                                </m:r>
                              </m:e>
                            </m:d>
                          </m:e>
                        </m:mr>
                        <m:mr>
                          <m:e>
                            <m:eqArr>
                              <m:eqArrPr>
                                <m:ctrlPr>
                                  <a:rPr lang="he-IL" sz="16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he-IL" sz="160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𝑌</m:t>
                                </m:r>
                                <m:r>
                                  <a:rPr lang="he-IL" sz="160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he-IL" sz="160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150</m:t>
                                </m:r>
                              </m:e>
                              <m:e/>
                            </m:eqArr>
                          </m:e>
                        </m:mr>
                      </m:m>
                    </m:oMath>
                  </m:oMathPara>
                </a14:m>
                <a:endParaRPr lang="he-IL" sz="1600" b="1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4172954"/>
                <a:ext cx="4054126" cy="1170257"/>
              </a:xfrm>
              <a:prstGeom prst="rect">
                <a:avLst/>
              </a:prstGeom>
              <a:blipFill rotWithShape="1">
                <a:blip r:embed="rId3"/>
                <a:stretch>
                  <a:fillRect t="-2083" r="-90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6117599" y="5135559"/>
            <a:ext cx="253505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כלומר מתוך 200 יח' לבוש צורכים 150 ומייצאים 50.</a:t>
            </a:r>
          </a:p>
        </p:txBody>
      </p:sp>
      <p:cxnSp>
        <p:nvCxnSpPr>
          <p:cNvPr id="48" name="מחבר ישר 47"/>
          <p:cNvCxnSpPr/>
          <p:nvPr/>
        </p:nvCxnSpPr>
        <p:spPr>
          <a:xfrm flipV="1">
            <a:off x="2110587" y="3939160"/>
            <a:ext cx="0" cy="667624"/>
          </a:xfrm>
          <a:prstGeom prst="line">
            <a:avLst/>
          </a:prstGeom>
          <a:ln w="190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מחבר ישר 49"/>
          <p:cNvCxnSpPr/>
          <p:nvPr/>
        </p:nvCxnSpPr>
        <p:spPr>
          <a:xfrm>
            <a:off x="643023" y="3921869"/>
            <a:ext cx="1465509" cy="19661"/>
          </a:xfrm>
          <a:prstGeom prst="line">
            <a:avLst/>
          </a:prstGeom>
          <a:ln w="190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-86829" y="3747033"/>
            <a:ext cx="729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150</a:t>
            </a:r>
          </a:p>
        </p:txBody>
      </p:sp>
      <p:sp>
        <p:nvSpPr>
          <p:cNvPr id="52" name="אליפסה 51"/>
          <p:cNvSpPr/>
          <p:nvPr/>
        </p:nvSpPr>
        <p:spPr>
          <a:xfrm>
            <a:off x="2027580" y="3844925"/>
            <a:ext cx="144016" cy="15388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36733FB2-574E-5DC6-5683-4BA873819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22" name="מציין מיקום של מספר שקופית 21">
            <a:extLst>
              <a:ext uri="{FF2B5EF4-FFF2-40B4-BE49-F238E27FC236}">
                <a16:creationId xmlns:a16="http://schemas.microsoft.com/office/drawing/2014/main" id="{57A82806-A991-B3A6-60D3-77685AEF4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3380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38" grpId="0" animBg="1"/>
      <p:bldP spid="40" grpId="0"/>
      <p:bldP spid="42" grpId="0"/>
      <p:bldP spid="43" grpId="0"/>
      <p:bldP spid="44" grpId="0"/>
      <p:bldP spid="45" grpId="0" animBg="1"/>
      <p:bldP spid="46" grpId="0"/>
      <p:bldP spid="47" grpId="0"/>
      <p:bldP spid="51" grpId="0"/>
      <p:bldP spid="5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04248" y="5477"/>
            <a:ext cx="2339752" cy="759227"/>
          </a:xfrm>
        </p:spPr>
        <p:txBody>
          <a:bodyPr>
            <a:normAutofit fontScale="90000"/>
          </a:bodyPr>
          <a:lstStyle/>
          <a:p>
            <a:r>
              <a:rPr lang="he-IL" dirty="0">
                <a:cs typeface="+mn-cs"/>
              </a:rPr>
              <a:t>שאלה 3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0" y="188640"/>
            <a:ext cx="5508104" cy="1512168"/>
          </a:xfrm>
        </p:spPr>
        <p:txBody>
          <a:bodyPr>
            <a:noAutofit/>
          </a:bodyPr>
          <a:lstStyle/>
          <a:p>
            <a:pPr algn="r"/>
            <a:r>
              <a:rPr lang="he-IL" sz="1600" dirty="0">
                <a:solidFill>
                  <a:schemeClr val="tx1"/>
                </a:solidFill>
              </a:rPr>
              <a:t>במשק "</a:t>
            </a:r>
            <a:r>
              <a:rPr lang="he-IL" sz="1600" dirty="0" err="1">
                <a:solidFill>
                  <a:schemeClr val="tx1"/>
                </a:solidFill>
              </a:rPr>
              <a:t>יזראל</a:t>
            </a:r>
            <a:r>
              <a:rPr lang="he-IL" sz="1600" dirty="0">
                <a:solidFill>
                  <a:schemeClr val="tx1"/>
                </a:solidFill>
              </a:rPr>
              <a:t>" מייצרים </a:t>
            </a:r>
            <a:r>
              <a:rPr lang="en-US" sz="1600" dirty="0">
                <a:solidFill>
                  <a:schemeClr val="tx1"/>
                </a:solidFill>
              </a:rPr>
              <a:t>X</a:t>
            </a:r>
            <a:r>
              <a:rPr lang="he-IL" sz="1600" dirty="0">
                <a:solidFill>
                  <a:schemeClr val="tx1"/>
                </a:solidFill>
              </a:rPr>
              <a:t> ו- </a:t>
            </a:r>
            <a:r>
              <a:rPr lang="en-US" sz="1600" dirty="0">
                <a:solidFill>
                  <a:schemeClr val="tx1"/>
                </a:solidFill>
              </a:rPr>
              <a:t>Y</a:t>
            </a:r>
            <a:r>
              <a:rPr lang="he-IL" sz="1600" dirty="0">
                <a:solidFill>
                  <a:schemeClr val="tx1"/>
                </a:solidFill>
              </a:rPr>
              <a:t> על-ידי 3 סוגי עובדים, </a:t>
            </a:r>
            <a:r>
              <a:rPr lang="en-US" sz="1600" dirty="0">
                <a:solidFill>
                  <a:schemeClr val="tx1"/>
                </a:solidFill>
              </a:rPr>
              <a:t>10</a:t>
            </a:r>
            <a:r>
              <a:rPr lang="he-IL" sz="1600" dirty="0">
                <a:solidFill>
                  <a:schemeClr val="tx1"/>
                </a:solidFill>
              </a:rPr>
              <a:t> מכל סוג.</a:t>
            </a:r>
            <a:endParaRPr lang="en-US" sz="1600" dirty="0">
              <a:solidFill>
                <a:schemeClr val="tx1"/>
              </a:solidFill>
            </a:endParaRPr>
          </a:p>
          <a:p>
            <a:pPr algn="r"/>
            <a:r>
              <a:rPr lang="he-IL" sz="1600" dirty="0">
                <a:solidFill>
                  <a:schemeClr val="tx1"/>
                </a:solidFill>
              </a:rPr>
              <a:t>כל עובד מסוג א' מסוגל לייצר בשבוע  2  יחידות </a:t>
            </a:r>
            <a:r>
              <a:rPr lang="en-US" sz="1600" dirty="0">
                <a:solidFill>
                  <a:schemeClr val="tx1"/>
                </a:solidFill>
              </a:rPr>
              <a:t>X</a:t>
            </a:r>
            <a:r>
              <a:rPr lang="he-IL" sz="1600" dirty="0">
                <a:solidFill>
                  <a:schemeClr val="tx1"/>
                </a:solidFill>
              </a:rPr>
              <a:t> או  2  יחידות </a:t>
            </a:r>
            <a:r>
              <a:rPr lang="en-US" sz="1600" dirty="0">
                <a:solidFill>
                  <a:schemeClr val="tx1"/>
                </a:solidFill>
              </a:rPr>
              <a:t>Y</a:t>
            </a:r>
            <a:r>
              <a:rPr lang="he-IL" sz="1600" dirty="0">
                <a:solidFill>
                  <a:schemeClr val="tx1"/>
                </a:solidFill>
              </a:rPr>
              <a:t>.</a:t>
            </a:r>
            <a:endParaRPr lang="en-US" sz="1600" dirty="0">
              <a:solidFill>
                <a:schemeClr val="tx1"/>
              </a:solidFill>
            </a:endParaRPr>
          </a:p>
          <a:p>
            <a:pPr algn="r"/>
            <a:r>
              <a:rPr lang="he-IL" sz="1600" dirty="0">
                <a:solidFill>
                  <a:schemeClr val="tx1"/>
                </a:solidFill>
              </a:rPr>
              <a:t>כל עובד מסוג ב' מסוגל לייצר בשבוע   2  יחידות </a:t>
            </a:r>
            <a:r>
              <a:rPr lang="en-US" sz="1600" dirty="0">
                <a:solidFill>
                  <a:schemeClr val="tx1"/>
                </a:solidFill>
              </a:rPr>
              <a:t>X</a:t>
            </a:r>
            <a:r>
              <a:rPr lang="he-IL" sz="1600" dirty="0">
                <a:solidFill>
                  <a:schemeClr val="tx1"/>
                </a:solidFill>
              </a:rPr>
              <a:t> או  6  יחידות </a:t>
            </a:r>
            <a:r>
              <a:rPr lang="en-US" sz="1600" dirty="0">
                <a:solidFill>
                  <a:schemeClr val="tx1"/>
                </a:solidFill>
              </a:rPr>
              <a:t>Y</a:t>
            </a:r>
            <a:r>
              <a:rPr lang="he-IL" sz="1600" dirty="0">
                <a:solidFill>
                  <a:schemeClr val="tx1"/>
                </a:solidFill>
              </a:rPr>
              <a:t>.</a:t>
            </a:r>
            <a:endParaRPr lang="en-US" sz="1600" dirty="0">
              <a:solidFill>
                <a:schemeClr val="tx1"/>
              </a:solidFill>
            </a:endParaRPr>
          </a:p>
          <a:p>
            <a:pPr algn="r"/>
            <a:r>
              <a:rPr lang="he-IL" sz="1600" dirty="0">
                <a:solidFill>
                  <a:schemeClr val="tx1"/>
                </a:solidFill>
              </a:rPr>
              <a:t>כל עובד מסוג ג' מסוגל לייצר בשבוע  4  יחידות </a:t>
            </a:r>
            <a:r>
              <a:rPr lang="en-US" sz="1600" dirty="0">
                <a:solidFill>
                  <a:schemeClr val="tx1"/>
                </a:solidFill>
              </a:rPr>
              <a:t>X</a:t>
            </a:r>
            <a:r>
              <a:rPr lang="he-IL" sz="1600" dirty="0">
                <a:solidFill>
                  <a:schemeClr val="tx1"/>
                </a:solidFill>
              </a:rPr>
              <a:t> או  2  יחידות </a:t>
            </a:r>
            <a:r>
              <a:rPr lang="en-US" sz="1600" dirty="0">
                <a:solidFill>
                  <a:schemeClr val="tx1"/>
                </a:solidFill>
              </a:rPr>
              <a:t>Y</a:t>
            </a:r>
            <a:r>
              <a:rPr lang="he-IL" sz="1600" dirty="0">
                <a:solidFill>
                  <a:schemeClr val="tx1"/>
                </a:solidFill>
              </a:rPr>
              <a:t>.</a:t>
            </a:r>
          </a:p>
          <a:p>
            <a:pPr algn="r"/>
            <a:r>
              <a:rPr lang="he-IL" sz="1600" dirty="0">
                <a:solidFill>
                  <a:schemeClr val="tx1"/>
                </a:solidFill>
              </a:rPr>
              <a:t>א. התוו את </a:t>
            </a:r>
            <a:r>
              <a:rPr lang="he-IL" sz="1600" b="1" dirty="0">
                <a:solidFill>
                  <a:schemeClr val="tx1"/>
                </a:solidFill>
              </a:rPr>
              <a:t>עקומת אפשרויות הייצור </a:t>
            </a:r>
            <a:r>
              <a:rPr lang="he-IL" sz="1600" dirty="0">
                <a:solidFill>
                  <a:schemeClr val="tx1"/>
                </a:solidFill>
              </a:rPr>
              <a:t>של המשק. </a:t>
            </a:r>
            <a:endParaRPr lang="en-US" sz="1600" dirty="0">
              <a:solidFill>
                <a:schemeClr val="tx1"/>
              </a:solidFill>
            </a:endParaRPr>
          </a:p>
          <a:p>
            <a:pPr algn="r"/>
            <a:endParaRPr lang="en-US" sz="1600" dirty="0">
              <a:solidFill>
                <a:schemeClr val="tx1"/>
              </a:solidFill>
            </a:endParaRPr>
          </a:p>
          <a:p>
            <a:pPr algn="r"/>
            <a:endParaRPr lang="he-IL" sz="16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1477" y="161950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/>
              <a:t>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0112" y="6229829"/>
            <a:ext cx="435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/>
              <a:t>X</a:t>
            </a:r>
            <a:endParaRPr lang="he-IL" dirty="0"/>
          </a:p>
        </p:txBody>
      </p:sp>
      <p:cxnSp>
        <p:nvCxnSpPr>
          <p:cNvPr id="7" name="מחבר חץ ישר 6"/>
          <p:cNvCxnSpPr/>
          <p:nvPr/>
        </p:nvCxnSpPr>
        <p:spPr>
          <a:xfrm flipV="1">
            <a:off x="492706" y="6233823"/>
            <a:ext cx="4993694" cy="60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חץ ישר 7"/>
          <p:cNvCxnSpPr/>
          <p:nvPr/>
        </p:nvCxnSpPr>
        <p:spPr>
          <a:xfrm flipV="1">
            <a:off x="491497" y="1988840"/>
            <a:ext cx="0" cy="4244835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מחבר ישר 8"/>
          <p:cNvCxnSpPr/>
          <p:nvPr/>
        </p:nvCxnSpPr>
        <p:spPr>
          <a:xfrm>
            <a:off x="511738" y="2708920"/>
            <a:ext cx="1900022" cy="576064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טבלה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2131200"/>
                  </p:ext>
                </p:extLst>
              </p:nvPr>
            </p:nvGraphicFramePr>
            <p:xfrm>
              <a:off x="5580112" y="836712"/>
              <a:ext cx="3429719" cy="1920608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94516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6525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637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5292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32048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he-IL" sz="1200" dirty="0"/>
                            <a:t>כמות גו''י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he-IL" sz="1200" dirty="0"/>
                            <a:t>כמות</a:t>
                          </a:r>
                          <a:r>
                            <a:rPr lang="he-IL" sz="1200" baseline="0" dirty="0"/>
                            <a:t> </a:t>
                          </a:r>
                          <a:r>
                            <a:rPr lang="en-US" sz="1200" baseline="0" dirty="0"/>
                            <a:t>X</a:t>
                          </a:r>
                          <a:endParaRPr lang="he-IL" sz="12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200" dirty="0"/>
                            <a:t>כמות</a:t>
                          </a:r>
                          <a:r>
                            <a:rPr lang="he-IL" sz="1200" baseline="0" dirty="0"/>
                            <a:t> </a:t>
                          </a:r>
                          <a:r>
                            <a:rPr lang="en-US" sz="1200" baseline="0" dirty="0"/>
                            <a:t>Y</a:t>
                          </a:r>
                          <a:r>
                            <a:rPr lang="he-IL" sz="1200" baseline="0" dirty="0"/>
                            <a:t> </a:t>
                          </a:r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he-IL" sz="1200" dirty="0"/>
                            <a:t>עלות אלט' שולית לייצור </a:t>
                          </a:r>
                          <a:r>
                            <a:rPr lang="en-US" sz="1200" dirty="0"/>
                            <a:t>X</a:t>
                          </a:r>
                          <a:endParaRPr lang="he-IL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3824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dirty="0">
                              <a:solidFill>
                                <a:srgbClr val="7030A0"/>
                              </a:solidFill>
                            </a:rPr>
                            <a:t>עובד</a:t>
                          </a:r>
                          <a:r>
                            <a:rPr lang="he-IL" sz="1200" baseline="0" dirty="0">
                              <a:solidFill>
                                <a:srgbClr val="7030A0"/>
                              </a:solidFill>
                            </a:rPr>
                            <a:t> סוג א'</a:t>
                          </a:r>
                          <a:endParaRPr lang="he-IL" sz="1200" dirty="0">
                            <a:solidFill>
                              <a:srgbClr val="7030A0"/>
                            </a:solidFill>
                          </a:endParaRPr>
                        </a:p>
                        <a:p>
                          <a:pPr algn="ctr" rtl="1"/>
                          <a:r>
                            <a:rPr lang="he-IL" sz="12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dirty="0">
                              <a:solidFill>
                                <a:srgbClr val="7030A0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b="1" dirty="0">
                              <a:solidFill>
                                <a:srgbClr val="7030A0"/>
                              </a:solidFill>
                            </a:rPr>
                            <a:t>20</a:t>
                          </a:r>
                          <a:endParaRPr lang="he-IL" sz="120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he-IL" sz="1400" i="1" kern="120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he-IL" sz="1400" b="1" i="0" kern="1200" smtClean="0">
                                        <a:solidFill>
                                          <a:srgbClr val="7030A0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𝟐𝟎</m:t>
                                    </m:r>
                                  </m:num>
                                  <m:den>
                                    <m:r>
                                      <a:rPr kumimoji="0" lang="he-IL" sz="1400" b="0" i="0" kern="1200" smtClean="0">
                                        <a:solidFill>
                                          <a:srgbClr val="7030A0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  <m:r>
                                      <a:rPr kumimoji="0" lang="he-IL" sz="1400" i="0" kern="1200">
                                        <a:solidFill>
                                          <a:srgbClr val="7030A0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den>
                                </m:f>
                                <m:r>
                                  <a:rPr kumimoji="0" lang="he-IL" sz="1400" i="0" kern="1200">
                                    <a:solidFill>
                                      <a:srgbClr val="7030A0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he-IL" sz="1400" b="0" i="1" kern="1200" smtClean="0">
                                    <a:solidFill>
                                      <a:srgbClr val="7030A0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עובד סוג ב'</a:t>
                          </a:r>
                        </a:p>
                        <a:p>
                          <a:pPr algn="ctr" rtl="1"/>
                          <a:r>
                            <a:rPr lang="he-IL" sz="12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200" dirty="0">
                              <a:solidFill>
                                <a:srgbClr val="C00000"/>
                              </a:solidFill>
                            </a:rPr>
                            <a:t>20</a:t>
                          </a:r>
                        </a:p>
                        <a:p>
                          <a:pPr rtl="1"/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200" b="1" dirty="0">
                              <a:solidFill>
                                <a:srgbClr val="C00000"/>
                              </a:solidFill>
                            </a:rPr>
                            <a:t>60</a:t>
                          </a:r>
                          <a:endParaRPr lang="he-IL" sz="1200" dirty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rtl="1"/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he-IL" sz="1400" i="1" kern="120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he-IL" sz="1400" b="1" i="1" kern="1200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𝟔𝟎</m:t>
                                    </m:r>
                                  </m:num>
                                  <m:den>
                                    <m:r>
                                      <a:rPr kumimoji="0" lang="he-IL" sz="1400" b="0" i="0" kern="1200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  <m:r>
                                  <a:rPr kumimoji="0" lang="he-IL" sz="1400" i="0" kern="1200">
                                    <a:solidFill>
                                      <a:srgbClr val="C00000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he-IL" sz="1400" b="0" i="1" kern="120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8904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b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  <a:t>עובד סוג ג'</a:t>
                          </a:r>
                          <a:br>
                            <a:rPr lang="en-US" sz="1200" b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</a:br>
                          <a:r>
                            <a:rPr lang="he-IL" sz="1200" b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b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b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he-IL" sz="13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he-IL" sz="13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𝟐𝟎</m:t>
                                    </m:r>
                                  </m:num>
                                  <m:den>
                                    <m:r>
                                      <a:rPr kumimoji="0" lang="he-IL" sz="1300" b="1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𝟒𝟎</m:t>
                                    </m:r>
                                  </m:den>
                                </m:f>
                                <m:r>
                                  <a:rPr kumimoji="0" lang="he-IL" sz="1300" b="1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he-IL" sz="13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he-IL" sz="1300" b="1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kumimoji="0" lang="he-IL" sz="1300" b="1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sz="1300" b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טבלה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2697555"/>
                  </p:ext>
                </p:extLst>
              </p:nvPr>
            </p:nvGraphicFramePr>
            <p:xfrm>
              <a:off x="5580112" y="836712"/>
              <a:ext cx="3429719" cy="1920608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945162"/>
                    <a:gridCol w="665257"/>
                    <a:gridCol w="666378"/>
                    <a:gridCol w="1152922"/>
                  </a:tblGrid>
                  <a:tr h="45720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he-IL" sz="1200" dirty="0" smtClean="0"/>
                            <a:t>כמות גו''י</a:t>
                          </a:r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he-IL" sz="1200" dirty="0" smtClean="0"/>
                            <a:t>כמות</a:t>
                          </a:r>
                          <a:r>
                            <a:rPr lang="he-IL" sz="1200" baseline="0" dirty="0" smtClean="0"/>
                            <a:t> </a:t>
                          </a:r>
                          <a:r>
                            <a:rPr lang="en-US" sz="1200" baseline="0" dirty="0" smtClean="0"/>
                            <a:t>X</a:t>
                          </a:r>
                          <a:endParaRPr lang="he-IL" sz="12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200" dirty="0" smtClean="0"/>
                            <a:t>כמות</a:t>
                          </a:r>
                          <a:r>
                            <a:rPr lang="he-IL" sz="1200" baseline="0" dirty="0" smtClean="0"/>
                            <a:t> </a:t>
                          </a:r>
                          <a:r>
                            <a:rPr lang="en-US" sz="1200" baseline="0" dirty="0" smtClean="0"/>
                            <a:t>Y</a:t>
                          </a:r>
                          <a:r>
                            <a:rPr lang="he-IL" sz="1200" baseline="0" dirty="0" smtClean="0"/>
                            <a:t> </a:t>
                          </a:r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he-IL" sz="1200" dirty="0" smtClean="0"/>
                            <a:t>עלות אלט' שולית לייצור </a:t>
                          </a:r>
                          <a:r>
                            <a:rPr lang="en-US" sz="1200" dirty="0" smtClean="0"/>
                            <a:t>X</a:t>
                          </a:r>
                          <a:endParaRPr lang="he-IL" sz="1200" dirty="0"/>
                        </a:p>
                      </a:txBody>
                      <a:tcPr/>
                    </a:tc>
                  </a:tr>
                  <a:tr h="492252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dirty="0" smtClean="0">
                              <a:solidFill>
                                <a:srgbClr val="7030A0"/>
                              </a:solidFill>
                            </a:rPr>
                            <a:t>עובד</a:t>
                          </a:r>
                          <a:r>
                            <a:rPr lang="he-IL" sz="1200" baseline="0" dirty="0" smtClean="0">
                              <a:solidFill>
                                <a:srgbClr val="7030A0"/>
                              </a:solidFill>
                            </a:rPr>
                            <a:t> סוג א'</a:t>
                          </a:r>
                          <a:endParaRPr lang="he-IL" sz="1200" dirty="0" smtClean="0">
                            <a:solidFill>
                              <a:srgbClr val="7030A0"/>
                            </a:solidFill>
                          </a:endParaRPr>
                        </a:p>
                        <a:p>
                          <a:pPr algn="ctr" rtl="1"/>
                          <a:r>
                            <a:rPr lang="he-IL" sz="1200" dirty="0" smtClean="0"/>
                            <a:t>10</a:t>
                          </a:r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dirty="0" smtClean="0">
                              <a:solidFill>
                                <a:srgbClr val="7030A0"/>
                              </a:solidFill>
                            </a:rPr>
                            <a:t>20</a:t>
                          </a:r>
                          <a:endParaRPr lang="he-IL" sz="120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b="1" dirty="0" smtClean="0">
                              <a:solidFill>
                                <a:srgbClr val="7030A0"/>
                              </a:solidFill>
                            </a:rPr>
                            <a:t>20</a:t>
                          </a:r>
                          <a:endParaRPr lang="he-IL" sz="120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97884" t="-93827" b="-201235"/>
                          </a:stretch>
                        </a:blipFill>
                      </a:tcPr>
                    </a:tc>
                  </a:tr>
                  <a:tr h="492252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עובד סוג ב'</a:t>
                          </a:r>
                          <a:endParaRPr lang="he-IL" sz="1200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 rtl="1"/>
                          <a:r>
                            <a:rPr lang="he-IL" sz="1200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10</a:t>
                          </a:r>
                          <a:endParaRPr lang="he-IL" sz="12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200" dirty="0" smtClean="0">
                              <a:solidFill>
                                <a:srgbClr val="C00000"/>
                              </a:solidFill>
                            </a:rPr>
                            <a:t>20</a:t>
                          </a:r>
                          <a:endParaRPr lang="he-IL" sz="1200" dirty="0" smtClean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rtl="1"/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200" b="1" dirty="0" smtClean="0">
                              <a:solidFill>
                                <a:srgbClr val="C00000"/>
                              </a:solidFill>
                            </a:rPr>
                            <a:t>60</a:t>
                          </a:r>
                          <a:endParaRPr lang="he-IL" sz="1200" dirty="0" smtClean="0">
                            <a:solidFill>
                              <a:srgbClr val="C00000"/>
                            </a:solidFill>
                          </a:endParaRPr>
                        </a:p>
                        <a:p>
                          <a:pPr rtl="1"/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97884" t="-196250" b="-103750"/>
                          </a:stretch>
                        </a:blipFill>
                      </a:tcPr>
                    </a:tc>
                  </a:tr>
                  <a:tr h="478904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b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  <a:t>עובד סוג ג'</a:t>
                          </a:r>
                          <a:r>
                            <a:rPr lang="en-US" sz="1200" b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  <a:t/>
                          </a:r>
                          <a:br>
                            <a:rPr lang="en-US" sz="1200" b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</a:br>
                          <a:r>
                            <a:rPr lang="he-IL" sz="1200" b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  <a:t>10</a:t>
                          </a:r>
                          <a:endParaRPr lang="he-IL" sz="1200" b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b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  <a:t>40</a:t>
                          </a:r>
                          <a:endParaRPr lang="he-IL" sz="1200" b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b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  <a:t>20</a:t>
                          </a:r>
                          <a:endParaRPr lang="he-IL" sz="1200" b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97884" t="-300000" b="-506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15" name="מחבר ישר 14"/>
          <p:cNvCxnSpPr/>
          <p:nvPr/>
        </p:nvCxnSpPr>
        <p:spPr>
          <a:xfrm>
            <a:off x="2479670" y="3320988"/>
            <a:ext cx="969432" cy="61084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מחבר ישר 16"/>
          <p:cNvCxnSpPr/>
          <p:nvPr/>
        </p:nvCxnSpPr>
        <p:spPr>
          <a:xfrm>
            <a:off x="3401149" y="3911179"/>
            <a:ext cx="1623721" cy="232249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אליפסה 18"/>
          <p:cNvSpPr/>
          <p:nvPr/>
        </p:nvSpPr>
        <p:spPr>
          <a:xfrm>
            <a:off x="2371658" y="3245452"/>
            <a:ext cx="108012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אליפסה 19"/>
          <p:cNvSpPr/>
          <p:nvPr/>
        </p:nvSpPr>
        <p:spPr>
          <a:xfrm>
            <a:off x="3343268" y="3862106"/>
            <a:ext cx="108012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TextBox 20"/>
          <p:cNvSpPr txBox="1"/>
          <p:nvPr/>
        </p:nvSpPr>
        <p:spPr>
          <a:xfrm>
            <a:off x="3347106" y="3569101"/>
            <a:ext cx="34773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C</a:t>
            </a:r>
            <a:endParaRPr lang="he-IL" dirty="0"/>
          </a:p>
        </p:txBody>
      </p:sp>
      <p:sp>
        <p:nvSpPr>
          <p:cNvPr id="22" name="TextBox 21"/>
          <p:cNvSpPr txBox="1"/>
          <p:nvPr/>
        </p:nvSpPr>
        <p:spPr>
          <a:xfrm>
            <a:off x="2305801" y="2941403"/>
            <a:ext cx="34773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</a:t>
            </a:r>
            <a:endParaRPr lang="he-IL" dirty="0"/>
          </a:p>
        </p:txBody>
      </p:sp>
      <p:sp>
        <p:nvSpPr>
          <p:cNvPr id="23" name="TextBox 22"/>
          <p:cNvSpPr txBox="1"/>
          <p:nvPr/>
        </p:nvSpPr>
        <p:spPr>
          <a:xfrm>
            <a:off x="464240" y="2339588"/>
            <a:ext cx="34773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</a:t>
            </a:r>
            <a:endParaRPr lang="he-IL" dirty="0"/>
          </a:p>
        </p:txBody>
      </p:sp>
      <p:sp>
        <p:nvSpPr>
          <p:cNvPr id="24" name="TextBox 23"/>
          <p:cNvSpPr txBox="1"/>
          <p:nvPr/>
        </p:nvSpPr>
        <p:spPr>
          <a:xfrm>
            <a:off x="4716016" y="6298049"/>
            <a:ext cx="585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149551" y="3136322"/>
            <a:ext cx="64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7328" y="6298049"/>
            <a:ext cx="41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-130519" y="2524254"/>
            <a:ext cx="64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178017" y="3713444"/>
            <a:ext cx="64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1385" y="6315169"/>
            <a:ext cx="41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40</a:t>
            </a:r>
          </a:p>
        </p:txBody>
      </p:sp>
      <p:cxnSp>
        <p:nvCxnSpPr>
          <p:cNvPr id="33" name="מחבר ישר 32"/>
          <p:cNvCxnSpPr/>
          <p:nvPr/>
        </p:nvCxnSpPr>
        <p:spPr>
          <a:xfrm>
            <a:off x="3385213" y="3876364"/>
            <a:ext cx="12061" cy="2353465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מחבר ישר 34"/>
          <p:cNvCxnSpPr/>
          <p:nvPr/>
        </p:nvCxnSpPr>
        <p:spPr>
          <a:xfrm>
            <a:off x="2411760" y="3296263"/>
            <a:ext cx="0" cy="293741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מחבר ישר 39"/>
          <p:cNvCxnSpPr>
            <a:stCxn id="19" idx="4"/>
          </p:cNvCxnSpPr>
          <p:nvPr/>
        </p:nvCxnSpPr>
        <p:spPr>
          <a:xfrm flipH="1" flipV="1">
            <a:off x="506495" y="3278261"/>
            <a:ext cx="1919169" cy="39199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מחבר ישר 45"/>
          <p:cNvCxnSpPr/>
          <p:nvPr/>
        </p:nvCxnSpPr>
        <p:spPr>
          <a:xfrm flipH="1" flipV="1">
            <a:off x="492706" y="3898110"/>
            <a:ext cx="2908443" cy="18004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342891" y="5928246"/>
                <a:ext cx="55770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sz="1400" b="1" i="1">
                          <a:solidFill>
                            <a:srgbClr val="C00000"/>
                          </a:solidFill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he-IL" sz="1400" b="1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891" y="5928246"/>
                <a:ext cx="55770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קשת 54"/>
          <p:cNvSpPr/>
          <p:nvPr/>
        </p:nvSpPr>
        <p:spPr>
          <a:xfrm rot="16459148">
            <a:off x="4180345" y="5859361"/>
            <a:ext cx="1080120" cy="936105"/>
          </a:xfrm>
          <a:prstGeom prst="arc">
            <a:avLst>
              <a:gd name="adj1" fmla="val 16607536"/>
              <a:gd name="adj2" fmla="val 2129524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7" name="TextBox 56"/>
          <p:cNvSpPr txBox="1"/>
          <p:nvPr/>
        </p:nvSpPr>
        <p:spPr>
          <a:xfrm>
            <a:off x="2609782" y="3650085"/>
            <a:ext cx="55770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-1</a:t>
            </a:r>
            <a:endParaRPr lang="he-IL" sz="1400" b="1" dirty="0">
              <a:solidFill>
                <a:srgbClr val="7030A0"/>
              </a:solidFill>
            </a:endParaRPr>
          </a:p>
        </p:txBody>
      </p:sp>
      <p:sp>
        <p:nvSpPr>
          <p:cNvPr id="58" name="קשת 57"/>
          <p:cNvSpPr/>
          <p:nvPr/>
        </p:nvSpPr>
        <p:spPr>
          <a:xfrm rot="15851287">
            <a:off x="2488451" y="3685729"/>
            <a:ext cx="1080120" cy="936105"/>
          </a:xfrm>
          <a:prstGeom prst="arc">
            <a:avLst>
              <a:gd name="adj1" fmla="val 18056495"/>
              <a:gd name="adj2" fmla="val 21295240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1292348" y="3060538"/>
                <a:ext cx="55770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4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he-IL" sz="1400" b="1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348" y="3060538"/>
                <a:ext cx="557702" cy="307777"/>
              </a:xfrm>
              <a:prstGeom prst="rect">
                <a:avLst/>
              </a:prstGeom>
              <a:blipFill>
                <a:blip r:embed="rId4"/>
                <a:stretch>
                  <a:fillRect r="-109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קשת 59"/>
          <p:cNvSpPr/>
          <p:nvPr/>
        </p:nvSpPr>
        <p:spPr>
          <a:xfrm rot="16365725">
            <a:off x="762450" y="3052736"/>
            <a:ext cx="1080120" cy="936105"/>
          </a:xfrm>
          <a:prstGeom prst="arc">
            <a:avLst>
              <a:gd name="adj1" fmla="val 17930179"/>
              <a:gd name="adj2" fmla="val 21295240"/>
            </a:avLst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D9A732D-8841-FE05-2A49-84F3E6BA9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2543" y="6501938"/>
            <a:ext cx="2895600" cy="365125"/>
          </a:xfrm>
        </p:spPr>
        <p:txBody>
          <a:bodyPr/>
          <a:lstStyle/>
          <a:p>
            <a:r>
              <a:rPr lang="he-IL" dirty="0"/>
              <a:t>מיכאלה משקוביץ'</a:t>
            </a:r>
          </a:p>
        </p:txBody>
      </p:sp>
      <p:sp>
        <p:nvSpPr>
          <p:cNvPr id="10" name="מציין מיקום של מספר שקופית 9">
            <a:extLst>
              <a:ext uri="{FF2B5EF4-FFF2-40B4-BE49-F238E27FC236}">
                <a16:creationId xmlns:a16="http://schemas.microsoft.com/office/drawing/2014/main" id="{58F8C588-8CA6-A61C-EB67-46ECF7296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651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9" grpId="0" animBg="1"/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1" grpId="0"/>
      <p:bldP spid="54" grpId="0"/>
      <p:bldP spid="55" grpId="0" animBg="1"/>
      <p:bldP spid="57" grpId="0"/>
      <p:bldP spid="58" grpId="0" animBg="1"/>
      <p:bldP spid="59" grpId="0"/>
      <p:bldP spid="6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7195048" y="0"/>
            <a:ext cx="1948952" cy="759227"/>
          </a:xfrm>
        </p:spPr>
        <p:txBody>
          <a:bodyPr>
            <a:normAutofit fontScale="90000"/>
          </a:bodyPr>
          <a:lstStyle/>
          <a:p>
            <a:r>
              <a:rPr lang="he-IL" dirty="0">
                <a:cs typeface="+mn-cs"/>
              </a:rPr>
              <a:t>שאלה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9" y="163357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/>
              <a:t>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0112" y="6229829"/>
            <a:ext cx="435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/>
              <a:t>X</a:t>
            </a:r>
            <a:endParaRPr lang="he-IL" dirty="0"/>
          </a:p>
        </p:txBody>
      </p:sp>
      <p:cxnSp>
        <p:nvCxnSpPr>
          <p:cNvPr id="7" name="מחבר חץ ישר 6"/>
          <p:cNvCxnSpPr/>
          <p:nvPr/>
        </p:nvCxnSpPr>
        <p:spPr>
          <a:xfrm flipV="1">
            <a:off x="492706" y="6229829"/>
            <a:ext cx="5951502" cy="4594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חץ ישר 7"/>
          <p:cNvCxnSpPr/>
          <p:nvPr/>
        </p:nvCxnSpPr>
        <p:spPr>
          <a:xfrm flipH="1" flipV="1">
            <a:off x="464240" y="404664"/>
            <a:ext cx="27258" cy="5829012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מחבר ישר 8"/>
          <p:cNvCxnSpPr/>
          <p:nvPr/>
        </p:nvCxnSpPr>
        <p:spPr>
          <a:xfrm>
            <a:off x="511738" y="2708920"/>
            <a:ext cx="1900022" cy="576064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מחבר ישר 14"/>
          <p:cNvCxnSpPr/>
          <p:nvPr/>
        </p:nvCxnSpPr>
        <p:spPr>
          <a:xfrm>
            <a:off x="2479670" y="3320988"/>
            <a:ext cx="969432" cy="61084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מחבר ישר 16"/>
          <p:cNvCxnSpPr/>
          <p:nvPr/>
        </p:nvCxnSpPr>
        <p:spPr>
          <a:xfrm>
            <a:off x="3401149" y="3911179"/>
            <a:ext cx="1623721" cy="232249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אליפסה 18"/>
          <p:cNvSpPr/>
          <p:nvPr/>
        </p:nvSpPr>
        <p:spPr>
          <a:xfrm>
            <a:off x="2371658" y="3245452"/>
            <a:ext cx="108012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אליפסה 19"/>
          <p:cNvSpPr/>
          <p:nvPr/>
        </p:nvSpPr>
        <p:spPr>
          <a:xfrm>
            <a:off x="3343268" y="3862106"/>
            <a:ext cx="108012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TextBox 20"/>
          <p:cNvSpPr txBox="1"/>
          <p:nvPr/>
        </p:nvSpPr>
        <p:spPr>
          <a:xfrm>
            <a:off x="3347106" y="3569101"/>
            <a:ext cx="34773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C</a:t>
            </a:r>
            <a:endParaRPr lang="he-IL" dirty="0"/>
          </a:p>
        </p:txBody>
      </p:sp>
      <p:sp>
        <p:nvSpPr>
          <p:cNvPr id="22" name="TextBox 21"/>
          <p:cNvSpPr txBox="1"/>
          <p:nvPr/>
        </p:nvSpPr>
        <p:spPr>
          <a:xfrm>
            <a:off x="2305801" y="2941403"/>
            <a:ext cx="34773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</a:t>
            </a:r>
            <a:endParaRPr lang="he-IL" dirty="0"/>
          </a:p>
        </p:txBody>
      </p:sp>
      <p:sp>
        <p:nvSpPr>
          <p:cNvPr id="23" name="TextBox 22"/>
          <p:cNvSpPr txBox="1"/>
          <p:nvPr/>
        </p:nvSpPr>
        <p:spPr>
          <a:xfrm>
            <a:off x="464240" y="2339588"/>
            <a:ext cx="34773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</a:t>
            </a:r>
            <a:endParaRPr lang="he-IL" dirty="0"/>
          </a:p>
        </p:txBody>
      </p:sp>
      <p:sp>
        <p:nvSpPr>
          <p:cNvPr id="24" name="TextBox 23"/>
          <p:cNvSpPr txBox="1"/>
          <p:nvPr/>
        </p:nvSpPr>
        <p:spPr>
          <a:xfrm>
            <a:off x="4716016" y="6298049"/>
            <a:ext cx="585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149551" y="3136322"/>
            <a:ext cx="64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7328" y="6298049"/>
            <a:ext cx="41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-130519" y="2524254"/>
            <a:ext cx="64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178017" y="3713444"/>
            <a:ext cx="64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1385" y="6315169"/>
            <a:ext cx="41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40</a:t>
            </a:r>
          </a:p>
        </p:txBody>
      </p:sp>
      <p:cxnSp>
        <p:nvCxnSpPr>
          <p:cNvPr id="33" name="מחבר ישר 32"/>
          <p:cNvCxnSpPr/>
          <p:nvPr/>
        </p:nvCxnSpPr>
        <p:spPr>
          <a:xfrm>
            <a:off x="3385213" y="3876364"/>
            <a:ext cx="12061" cy="2353465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מחבר ישר 34"/>
          <p:cNvCxnSpPr/>
          <p:nvPr/>
        </p:nvCxnSpPr>
        <p:spPr>
          <a:xfrm>
            <a:off x="2411760" y="3296263"/>
            <a:ext cx="0" cy="293741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מחבר ישר 39"/>
          <p:cNvCxnSpPr>
            <a:stCxn id="19" idx="4"/>
          </p:cNvCxnSpPr>
          <p:nvPr/>
        </p:nvCxnSpPr>
        <p:spPr>
          <a:xfrm flipH="1" flipV="1">
            <a:off x="506495" y="3278261"/>
            <a:ext cx="1919169" cy="39199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מחבר ישר 45"/>
          <p:cNvCxnSpPr/>
          <p:nvPr/>
        </p:nvCxnSpPr>
        <p:spPr>
          <a:xfrm flipH="1" flipV="1">
            <a:off x="492706" y="3898110"/>
            <a:ext cx="2908443" cy="18004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342891" y="5928246"/>
                <a:ext cx="55770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he-IL" sz="1400" b="1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891" y="5928246"/>
                <a:ext cx="55770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קשת 54"/>
          <p:cNvSpPr/>
          <p:nvPr/>
        </p:nvSpPr>
        <p:spPr>
          <a:xfrm rot="16459148">
            <a:off x="4180345" y="5859361"/>
            <a:ext cx="1080120" cy="936105"/>
          </a:xfrm>
          <a:prstGeom prst="arc">
            <a:avLst>
              <a:gd name="adj1" fmla="val 16607536"/>
              <a:gd name="adj2" fmla="val 2129524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7" name="TextBox 56"/>
          <p:cNvSpPr txBox="1"/>
          <p:nvPr/>
        </p:nvSpPr>
        <p:spPr>
          <a:xfrm>
            <a:off x="2640515" y="3708217"/>
            <a:ext cx="55770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-1</a:t>
            </a:r>
            <a:endParaRPr lang="he-IL" sz="1400" b="1" dirty="0">
              <a:solidFill>
                <a:srgbClr val="7030A0"/>
              </a:solidFill>
            </a:endParaRPr>
          </a:p>
        </p:txBody>
      </p:sp>
      <p:sp>
        <p:nvSpPr>
          <p:cNvPr id="58" name="קשת 57"/>
          <p:cNvSpPr/>
          <p:nvPr/>
        </p:nvSpPr>
        <p:spPr>
          <a:xfrm rot="15851287">
            <a:off x="2488451" y="3685729"/>
            <a:ext cx="1080120" cy="936105"/>
          </a:xfrm>
          <a:prstGeom prst="arc">
            <a:avLst>
              <a:gd name="adj1" fmla="val 18056495"/>
              <a:gd name="adj2" fmla="val 21295240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1328937" y="3013696"/>
                <a:ext cx="55770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4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he-IL" sz="1400" b="1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937" y="3013696"/>
                <a:ext cx="557702" cy="307777"/>
              </a:xfrm>
              <a:prstGeom prst="rect">
                <a:avLst/>
              </a:prstGeom>
              <a:blipFill>
                <a:blip r:embed="rId3"/>
                <a:stretch>
                  <a:fillRect r="-219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קשת 59"/>
          <p:cNvSpPr/>
          <p:nvPr/>
        </p:nvSpPr>
        <p:spPr>
          <a:xfrm rot="16365725">
            <a:off x="762450" y="3052736"/>
            <a:ext cx="1080120" cy="936105"/>
          </a:xfrm>
          <a:prstGeom prst="arc">
            <a:avLst>
              <a:gd name="adj1" fmla="val 17930179"/>
              <a:gd name="adj2" fmla="val 21295240"/>
            </a:avLst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כותרת משנה 2"/>
              <p:cNvSpPr txBox="1">
                <a:spLocks/>
              </p:cNvSpPr>
              <p:nvPr/>
            </p:nvSpPr>
            <p:spPr>
              <a:xfrm>
                <a:off x="638109" y="616042"/>
                <a:ext cx="8493176" cy="1449452"/>
              </a:xfrm>
              <a:prstGeom prst="rect">
                <a:avLst/>
              </a:prstGeom>
            </p:spPr>
            <p:txBody>
              <a:bodyPr vert="horz" lIns="91440" tIns="45720" rIns="91440" bIns="45720" rtlCol="1">
                <a:noAutofit/>
              </a:bodyPr>
              <a:lstStyle>
                <a:lvl1pPr marL="0" indent="0" algn="ctr" defTabSz="914400" rtl="1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1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1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1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1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1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1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1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1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he-IL" sz="1400" dirty="0">
                    <a:solidFill>
                      <a:schemeClr val="tx1"/>
                    </a:solidFill>
                  </a:rPr>
                  <a:t>כמו-כן, ידוע כי המשק מעוניין תמיד לצרוך 50 יחידות </a:t>
                </a:r>
                <a:r>
                  <a:rPr lang="en-US" sz="1400" dirty="0">
                    <a:solidFill>
                      <a:schemeClr val="tx1"/>
                    </a:solidFill>
                  </a:rPr>
                  <a:t>X</a:t>
                </a:r>
                <a:r>
                  <a:rPr lang="he-IL" sz="1400" dirty="0">
                    <a:solidFill>
                      <a:schemeClr val="tx1"/>
                    </a:solidFill>
                  </a:rPr>
                  <a:t>, וכמה שיותר יחידות </a:t>
                </a:r>
                <a:r>
                  <a:rPr lang="en-US" sz="1400" dirty="0">
                    <a:solidFill>
                      <a:schemeClr val="tx1"/>
                    </a:solidFill>
                  </a:rPr>
                  <a:t>Y</a:t>
                </a:r>
                <a:r>
                  <a:rPr lang="he-IL" sz="1400" dirty="0">
                    <a:solidFill>
                      <a:schemeClr val="tx1"/>
                    </a:solidFill>
                  </a:rPr>
                  <a:t>. עתה נפתח המשק למסחר בינלאומי, והוא יכול לקנות או למכור כל כמות שירצה משני המוצרים במחירים העולמיים, שהנם: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tx1"/>
                        </a:solidFill>
                        <a:latin typeface="Cambria Math"/>
                      </a:rPr>
                      <m:t>Px</m:t>
                    </m:r>
                    <m:r>
                      <a:rPr lang="en-US" sz="1400" b="0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he-IL" sz="1400" dirty="0">
                    <a:solidFill>
                      <a:schemeClr val="tx1"/>
                    </a:solidFill>
                  </a:rPr>
                  <a:t>= $4 ו-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tx1"/>
                        </a:solidFill>
                        <a:latin typeface="Cambria Math"/>
                      </a:rPr>
                      <m:t>Py</m:t>
                    </m:r>
                    <m:r>
                      <a:rPr lang="en-US" sz="1400" b="0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he-IL" sz="1400" dirty="0">
                    <a:solidFill>
                      <a:schemeClr val="tx1"/>
                    </a:solidFill>
                  </a:rPr>
                  <a:t>= $2.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 algn="r"/>
                <a:r>
                  <a:rPr lang="he-IL" sz="1400" dirty="0">
                    <a:solidFill>
                      <a:schemeClr val="tx1"/>
                    </a:solidFill>
                  </a:rPr>
                  <a:t>ב. כמה יחידות צריך המשק לייצר מכל מוצר על מנת להיות על גבול אפשרויות </a:t>
                </a:r>
                <a:r>
                  <a:rPr lang="he-IL" sz="1400" dirty="0">
                    <a:solidFill>
                      <a:schemeClr val="accent1"/>
                    </a:solidFill>
                  </a:rPr>
                  <a:t>הצריכה </a:t>
                </a:r>
                <a:r>
                  <a:rPr lang="he-IL" sz="1400" dirty="0">
                    <a:solidFill>
                      <a:schemeClr val="tx1"/>
                    </a:solidFill>
                  </a:rPr>
                  <a:t>שלו? חשבו וסמנו בתרשים.</a:t>
                </a:r>
                <a:br>
                  <a:rPr lang="en-US" sz="1400" dirty="0">
                    <a:solidFill>
                      <a:schemeClr val="tx1"/>
                    </a:solidFill>
                  </a:rPr>
                </a:br>
                <a:r>
                  <a:rPr lang="he-IL" sz="1400" dirty="0">
                    <a:solidFill>
                      <a:schemeClr val="tx1"/>
                    </a:solidFill>
                  </a:rPr>
                  <a:t>ג. התוו את עקומת אפשרויות הצריכה של המשק לאחר פתיחת הסחר הבינלאומי.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 algn="r"/>
                <a:r>
                  <a:rPr lang="he-IL" sz="1400" dirty="0">
                    <a:solidFill>
                      <a:schemeClr val="tx1"/>
                    </a:solidFill>
                  </a:rPr>
                  <a:t>ד. כמה יחידות  יצרוך המשק מכל מוצר? חשבו וסמנו בתרשים.</a:t>
                </a:r>
                <a:br>
                  <a:rPr lang="he-IL" sz="1400" dirty="0">
                    <a:solidFill>
                      <a:schemeClr val="tx1"/>
                    </a:solidFill>
                  </a:rPr>
                </a:br>
                <a:r>
                  <a:rPr lang="he-IL" sz="1400" dirty="0">
                    <a:solidFill>
                      <a:schemeClr val="tx1"/>
                    </a:solidFill>
                  </a:rPr>
                  <a:t>ה. איזה מהמוצרים ייבא/ייצא? חשבו את הכמויות.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pPr algn="r"/>
                <a:endParaRPr lang="he-IL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כותרת משנה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09" y="616042"/>
                <a:ext cx="8493176" cy="1449452"/>
              </a:xfrm>
              <a:prstGeom prst="rect">
                <a:avLst/>
              </a:prstGeom>
              <a:blipFill>
                <a:blip r:embed="rId4"/>
                <a:stretch>
                  <a:fillRect t="-840" r="-215" b="-504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מלבן 35"/>
              <p:cNvSpPr/>
              <p:nvPr/>
            </p:nvSpPr>
            <p:spPr>
              <a:xfrm>
                <a:off x="6828236" y="2517295"/>
                <a:ext cx="1473480" cy="6769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e-IL" b="0" i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Px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he-IL" b="0" i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Py</m:t>
                          </m:r>
                        </m:den>
                      </m:f>
                      <m:r>
                        <a:rPr lang="he-IL" b="0" i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he-IL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4</m:t>
                          </m:r>
                          <m:r>
                            <a:rPr lang="he-IL" b="0" i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$</m:t>
                          </m:r>
                        </m:num>
                        <m:den>
                          <m:r>
                            <a:rPr lang="he-IL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he-IL" b="0" i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$</m:t>
                          </m:r>
                        </m:den>
                      </m:f>
                      <m:r>
                        <a:rPr lang="he-IL" b="0" i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he-IL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he-IL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מלבן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236" y="2517295"/>
                <a:ext cx="1473480" cy="6769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5715865" y="2192176"/>
            <a:ext cx="341355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b="1" dirty="0"/>
              <a:t>(א) </a:t>
            </a:r>
            <a:r>
              <a:rPr lang="he-IL" sz="1600" b="1" dirty="0">
                <a:solidFill>
                  <a:schemeClr val="bg2">
                    <a:lumMod val="50000"/>
                  </a:schemeClr>
                </a:solidFill>
              </a:rPr>
              <a:t>על המשק לייצר בנק </a:t>
            </a:r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C</a:t>
            </a:r>
            <a:r>
              <a:rPr lang="he-IL" sz="1600" b="1" dirty="0">
                <a:solidFill>
                  <a:schemeClr val="bg2">
                    <a:lumMod val="50000"/>
                  </a:schemeClr>
                </a:solidFill>
              </a:rPr>
              <a:t> (60,60)</a:t>
            </a:r>
          </a:p>
        </p:txBody>
      </p:sp>
      <p:cxnSp>
        <p:nvCxnSpPr>
          <p:cNvPr id="11" name="מחבר ישר 10"/>
          <p:cNvCxnSpPr>
            <a:endCxn id="6" idx="0"/>
          </p:cNvCxnSpPr>
          <p:nvPr/>
        </p:nvCxnSpPr>
        <p:spPr>
          <a:xfrm>
            <a:off x="464240" y="980728"/>
            <a:ext cx="5333587" cy="5249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26450" y="2574080"/>
            <a:ext cx="1150438" cy="3847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900" dirty="0"/>
              <a:t>&gt; </a:t>
            </a:r>
            <a:r>
              <a:rPr lang="he-IL" sz="1900" b="1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22186" y="2570325"/>
            <a:ext cx="1150438" cy="3847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 </a:t>
            </a:r>
            <a:r>
              <a:rPr lang="he-IL" sz="1900" b="1" dirty="0">
                <a:solidFill>
                  <a:srgbClr val="C00000"/>
                </a:solidFill>
              </a:rPr>
              <a:t>3    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227802" y="5928246"/>
                <a:ext cx="55770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he-IL" sz="14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802" y="5928246"/>
                <a:ext cx="557702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קשת 48"/>
          <p:cNvSpPr/>
          <p:nvPr/>
        </p:nvSpPr>
        <p:spPr>
          <a:xfrm rot="16459148">
            <a:off x="5040051" y="5859362"/>
            <a:ext cx="1080120" cy="936105"/>
          </a:xfrm>
          <a:prstGeom prst="arc">
            <a:avLst>
              <a:gd name="adj1" fmla="val 16607536"/>
              <a:gd name="adj2" fmla="val 20310492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8" name="מלבן 37"/>
          <p:cNvSpPr/>
          <p:nvPr/>
        </p:nvSpPr>
        <p:spPr>
          <a:xfrm>
            <a:off x="4342891" y="3227248"/>
            <a:ext cx="46137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dirty="0">
                <a:solidFill>
                  <a:schemeClr val="tx1"/>
                </a:solidFill>
              </a:rPr>
              <a:t>(ד+ה) המשק צורך </a:t>
            </a:r>
            <a:r>
              <a:rPr lang="he-IL" b="1" dirty="0">
                <a:solidFill>
                  <a:schemeClr val="bg2">
                    <a:lumMod val="50000"/>
                  </a:schemeClr>
                </a:solidFill>
              </a:rPr>
              <a:t>50</a:t>
            </a:r>
            <a:r>
              <a:rPr lang="he-IL" dirty="0">
                <a:solidFill>
                  <a:schemeClr val="tx1"/>
                </a:solidFill>
              </a:rPr>
              <a:t> יח' </a:t>
            </a:r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he-IL" dirty="0">
                <a:solidFill>
                  <a:schemeClr val="tx1"/>
                </a:solidFill>
              </a:rPr>
              <a:t> אותם מייצר בעצמו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מלבן 49"/>
          <p:cNvSpPr/>
          <p:nvPr/>
        </p:nvSpPr>
        <p:spPr>
          <a:xfrm>
            <a:off x="4358857" y="3646662"/>
            <a:ext cx="46137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dirty="0">
                <a:solidFill>
                  <a:schemeClr val="tx1"/>
                </a:solidFill>
              </a:rPr>
              <a:t>(ד+ה) המשק מייצא </a:t>
            </a:r>
            <a:r>
              <a:rPr lang="he-IL" b="1" dirty="0">
                <a:solidFill>
                  <a:schemeClr val="bg2">
                    <a:lumMod val="50000"/>
                  </a:schemeClr>
                </a:solidFill>
              </a:rPr>
              <a:t>10</a:t>
            </a:r>
            <a:r>
              <a:rPr lang="he-IL" dirty="0">
                <a:solidFill>
                  <a:schemeClr val="tx1"/>
                </a:solidFill>
              </a:rPr>
              <a:t> יח' </a:t>
            </a:r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he-IL" dirty="0">
                <a:solidFill>
                  <a:schemeClr val="tx1"/>
                </a:solidFill>
              </a:rPr>
              <a:t> שייצר ומקבל תמורתם </a:t>
            </a:r>
            <a:r>
              <a:rPr lang="he-IL" dirty="0">
                <a:solidFill>
                  <a:schemeClr val="accent6">
                    <a:lumMod val="75000"/>
                  </a:schemeClr>
                </a:solidFill>
              </a:rPr>
              <a:t>20</a:t>
            </a:r>
            <a:r>
              <a:rPr lang="he-IL" dirty="0">
                <a:solidFill>
                  <a:schemeClr val="tx1"/>
                </a:solidFill>
              </a:rPr>
              <a:t> יח' </a:t>
            </a:r>
            <a:r>
              <a:rPr lang="en-US" dirty="0">
                <a:solidFill>
                  <a:schemeClr val="tx1"/>
                </a:solidFill>
              </a:rPr>
              <a:t>Y</a:t>
            </a:r>
            <a:r>
              <a:rPr lang="he-IL" dirty="0">
                <a:solidFill>
                  <a:schemeClr val="tx1"/>
                </a:solidFill>
              </a:rPr>
              <a:t> (ייבוא) ובנוסף צורך </a:t>
            </a:r>
            <a:r>
              <a:rPr lang="he-IL" b="1" dirty="0">
                <a:solidFill>
                  <a:schemeClr val="bg2">
                    <a:lumMod val="50000"/>
                  </a:schemeClr>
                </a:solidFill>
              </a:rPr>
              <a:t>60</a:t>
            </a:r>
            <a:r>
              <a:rPr lang="he-IL" dirty="0">
                <a:solidFill>
                  <a:schemeClr val="tx1"/>
                </a:solidFill>
              </a:rPr>
              <a:t> יח' </a:t>
            </a:r>
            <a:r>
              <a:rPr lang="en-US" dirty="0">
                <a:solidFill>
                  <a:schemeClr val="tx1"/>
                </a:solidFill>
              </a:rPr>
              <a:t>Y</a:t>
            </a:r>
            <a:r>
              <a:rPr lang="he-IL" dirty="0">
                <a:solidFill>
                  <a:schemeClr val="tx1"/>
                </a:solidFill>
              </a:rPr>
              <a:t> שייצר בעצמו. </a:t>
            </a:r>
            <a:r>
              <a:rPr lang="he-IL" dirty="0" err="1">
                <a:solidFill>
                  <a:schemeClr val="tx1"/>
                </a:solidFill>
              </a:rPr>
              <a:t>סה''כ</a:t>
            </a:r>
            <a:r>
              <a:rPr lang="he-IL" dirty="0">
                <a:solidFill>
                  <a:schemeClr val="tx1"/>
                </a:solidFill>
              </a:rPr>
              <a:t> צריכת </a:t>
            </a:r>
            <a:r>
              <a:rPr lang="en-US" dirty="0">
                <a:solidFill>
                  <a:schemeClr val="tx1"/>
                </a:solidFill>
              </a:rPr>
              <a:t>Y</a:t>
            </a:r>
            <a:r>
              <a:rPr lang="he-IL" dirty="0">
                <a:solidFill>
                  <a:schemeClr val="tx1"/>
                </a:solidFill>
              </a:rPr>
              <a:t>: </a:t>
            </a:r>
            <a:r>
              <a:rPr lang="he-IL" dirty="0">
                <a:solidFill>
                  <a:schemeClr val="accent6">
                    <a:lumMod val="75000"/>
                  </a:schemeClr>
                </a:solidFill>
              </a:rPr>
              <a:t>80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918498" y="4583380"/>
                <a:ext cx="4054126" cy="12581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:r>
                  <a:rPr lang="he-IL" sz="1600" b="1" dirty="0"/>
                  <a:t>(ד'+ה') </a:t>
                </a:r>
                <a:r>
                  <a:rPr lang="he-IL" sz="1600" dirty="0"/>
                  <a:t>דרך ב': נמצא את משוואת הצריכה ונציב בה </a:t>
                </a:r>
                <a14:m>
                  <m:oMath xmlns:m="http://schemas.openxmlformats.org/officeDocument/2006/math">
                    <m:r>
                      <a:rPr lang="he-IL" sz="1600" b="1" i="1" smtClean="0">
                        <a:solidFill>
                          <a:srgbClr val="7030A0"/>
                        </a:solidFill>
                        <a:latin typeface="Cambria Math"/>
                      </a:rPr>
                      <m:t>𝟓𝟎</m:t>
                    </m:r>
                  </m:oMath>
                </a14:m>
                <a:r>
                  <a:rPr lang="he-IL" sz="1600" dirty="0"/>
                  <a:t>=</a:t>
                </a:r>
                <a:r>
                  <a:rPr lang="en-US" sz="1600" dirty="0"/>
                  <a:t>X</a:t>
                </a:r>
                <a:r>
                  <a:rPr lang="he-IL" sz="1600" dirty="0"/>
                  <a:t>:</a:t>
                </a:r>
                <a:br>
                  <a:rPr lang="en-US" sz="16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he-IL" sz="1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"/>
                                <m:ctrlPr>
                                  <a:rPr lang="he-IL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he-IL" sz="1600" i="1">
                                    <a:latin typeface="Cambria Math"/>
                                  </a:rPr>
                                  <m:t>𝑌</m:t>
                                </m:r>
                                <m:r>
                                  <a:rPr lang="he-IL" sz="160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he-IL" sz="1600" b="0" i="0" smtClean="0">
                                    <a:latin typeface="Cambria Math"/>
                                  </a:rPr>
                                  <m:t>180</m:t>
                                </m:r>
                                <m:r>
                                  <a:rPr lang="he-IL" sz="160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he-IL" sz="1600" b="0" i="0" smtClean="0"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he-IL" sz="1600">
                                    <a:latin typeface="Cambria Math"/>
                                  </a:rPr>
                                  <m:t>⋅(</m:t>
                                </m:r>
                                <m:r>
                                  <a:rPr lang="he-IL" sz="1600" b="1" i="1" smtClean="0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𝟓𝟎</m:t>
                                </m:r>
                              </m:e>
                            </m:d>
                          </m:e>
                        </m:mr>
                        <m:mr>
                          <m:e>
                            <m:eqArr>
                              <m:eqArrPr>
                                <m:ctrlPr>
                                  <a:rPr lang="he-IL" sz="16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he-IL" sz="160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𝑌</m:t>
                                </m:r>
                                <m:r>
                                  <a:rPr lang="he-IL" sz="160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he-IL" sz="1600" b="0" i="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80</m:t>
                                </m:r>
                              </m:e>
                              <m:e/>
                            </m:eqArr>
                          </m:e>
                        </m:mr>
                      </m:m>
                    </m:oMath>
                  </m:oMathPara>
                </a14:m>
                <a:endParaRPr lang="he-IL" sz="1600" b="1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498" y="4583380"/>
                <a:ext cx="4054126" cy="1258165"/>
              </a:xfrm>
              <a:prstGeom prst="rect">
                <a:avLst/>
              </a:prstGeom>
              <a:blipFill>
                <a:blip r:embed="rId7"/>
                <a:stretch>
                  <a:fillRect t="-1456" r="-75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12851F8-A113-4B62-B1E3-9E0ECD8B65C6}"/>
              </a:ext>
            </a:extLst>
          </p:cNvPr>
          <p:cNvCxnSpPr>
            <a:cxnSpLocks/>
          </p:cNvCxnSpPr>
          <p:nvPr/>
        </p:nvCxnSpPr>
        <p:spPr>
          <a:xfrm flipV="1">
            <a:off x="2886541" y="2720484"/>
            <a:ext cx="42980" cy="3504751"/>
          </a:xfrm>
          <a:prstGeom prst="line">
            <a:avLst/>
          </a:prstGeom>
          <a:ln w="349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17">
            <a:extLst>
              <a:ext uri="{FF2B5EF4-FFF2-40B4-BE49-F238E27FC236}">
                <a16:creationId xmlns:a16="http://schemas.microsoft.com/office/drawing/2014/main" id="{850A319D-F923-4205-9BA9-14AC75A632CA}"/>
              </a:ext>
            </a:extLst>
          </p:cNvPr>
          <p:cNvSpPr/>
          <p:nvPr/>
        </p:nvSpPr>
        <p:spPr>
          <a:xfrm>
            <a:off x="2646301" y="2421394"/>
            <a:ext cx="764419" cy="240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X=10</a:t>
            </a: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955E748F-314E-3725-238F-6CDD9FD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9049" y="6401538"/>
            <a:ext cx="2895600" cy="365125"/>
          </a:xfrm>
        </p:spPr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9041602-468E-E0A8-A0C1-A2B751EC3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6397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2" grpId="0"/>
      <p:bldP spid="47" grpId="0"/>
      <p:bldP spid="48" grpId="0"/>
      <p:bldP spid="49" grpId="0" animBg="1"/>
      <p:bldP spid="38" grpId="0"/>
      <p:bldP spid="50" grpId="0"/>
      <p:bldP spid="51" grpId="0"/>
      <p:bldP spid="4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5364088" y="5477"/>
            <a:ext cx="3779912" cy="759227"/>
          </a:xfrm>
        </p:spPr>
        <p:txBody>
          <a:bodyPr>
            <a:normAutofit fontScale="90000"/>
          </a:bodyPr>
          <a:lstStyle/>
          <a:p>
            <a:pPr algn="r"/>
            <a:r>
              <a:rPr lang="he-IL" dirty="0">
                <a:cs typeface="+mn-cs"/>
              </a:rPr>
              <a:t>שאלה 4</a:t>
            </a:r>
            <a:endParaRPr lang="he-IL" sz="4000" dirty="0">
              <a:cs typeface="+mn-cs"/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0" y="764704"/>
            <a:ext cx="9144000" cy="1512168"/>
          </a:xfrm>
        </p:spPr>
        <p:txBody>
          <a:bodyPr>
            <a:noAutofit/>
          </a:bodyPr>
          <a:lstStyle/>
          <a:p>
            <a:pPr algn="r"/>
            <a:r>
              <a:rPr lang="he-IL" sz="1800" dirty="0">
                <a:solidFill>
                  <a:schemeClr val="tx1"/>
                </a:solidFill>
              </a:rPr>
              <a:t>לצידו של משק "יזראל" משאלה 3 שוכן משק "לבניון", אשר גם לו שלושה סוגי עובדים בעלי כישורים זהים לשלושת סוגי העובדים החיים במשק "יזראל" ובאותן הכמויות. בני "לבניון" </a:t>
            </a:r>
            <a:r>
              <a:rPr lang="he-IL" sz="1800" b="1" dirty="0">
                <a:solidFill>
                  <a:schemeClr val="tx1"/>
                </a:solidFill>
              </a:rPr>
              <a:t>מעוניינים תמיד לצרוך 70 יח' </a:t>
            </a:r>
            <a:r>
              <a:rPr lang="en-US" sz="1800" b="1" dirty="0">
                <a:solidFill>
                  <a:schemeClr val="tx1"/>
                </a:solidFill>
              </a:rPr>
              <a:t>X</a:t>
            </a:r>
            <a:r>
              <a:rPr lang="he-IL" sz="1800" dirty="0">
                <a:solidFill>
                  <a:schemeClr val="tx1"/>
                </a:solidFill>
              </a:rPr>
              <a:t>, וכמה שיותר יח' </a:t>
            </a:r>
            <a:r>
              <a:rPr lang="en-US" sz="1800" dirty="0">
                <a:solidFill>
                  <a:schemeClr val="tx1"/>
                </a:solidFill>
              </a:rPr>
              <a:t>Y</a:t>
            </a:r>
            <a:r>
              <a:rPr lang="he-IL" sz="1800" dirty="0">
                <a:solidFill>
                  <a:schemeClr val="tx1"/>
                </a:solidFill>
              </a:rPr>
              <a:t>. הנח כי </a:t>
            </a:r>
            <a:r>
              <a:rPr lang="he-IL" sz="1800" u="sng" dirty="0">
                <a:solidFill>
                  <a:schemeClr val="tx1"/>
                </a:solidFill>
              </a:rPr>
              <a:t>האפשרות היחידה  למסחר בינלאומי עבור "</a:t>
            </a:r>
            <a:r>
              <a:rPr lang="he-IL" sz="1800" u="sng" dirty="0" err="1">
                <a:solidFill>
                  <a:schemeClr val="tx1"/>
                </a:solidFill>
              </a:rPr>
              <a:t>יזראל</a:t>
            </a:r>
            <a:r>
              <a:rPr lang="he-IL" sz="1800" u="sng" dirty="0">
                <a:solidFill>
                  <a:schemeClr val="tx1"/>
                </a:solidFill>
              </a:rPr>
              <a:t>" ו-"לבניון" היא לסחור אחד עם השני.</a:t>
            </a:r>
            <a:endParaRPr lang="en-US" sz="1800" u="sng" dirty="0">
              <a:solidFill>
                <a:schemeClr val="tx1"/>
              </a:solidFill>
            </a:endParaRPr>
          </a:p>
          <a:p>
            <a:pPr algn="r" rtl="1">
              <a:lnSpc>
                <a:spcPct val="150000"/>
              </a:lnSpc>
            </a:pPr>
            <a:r>
              <a:rPr lang="he-IL" sz="1800" dirty="0">
                <a:solidFill>
                  <a:schemeClr val="tx1"/>
                </a:solidFill>
              </a:rPr>
              <a:t>מסיבות מדיניות נמנעה עד כה האפשרות לסחר ביניהן. בדיון שנערך בממשלת "</a:t>
            </a:r>
            <a:r>
              <a:rPr lang="he-IL" sz="1800" dirty="0" err="1">
                <a:solidFill>
                  <a:schemeClr val="tx1"/>
                </a:solidFill>
              </a:rPr>
              <a:t>יזראל</a:t>
            </a:r>
            <a:r>
              <a:rPr lang="he-IL" sz="1800" dirty="0">
                <a:solidFill>
                  <a:schemeClr val="tx1"/>
                </a:solidFill>
              </a:rPr>
              <a:t>" על האפשרות לפתוח את הגבולות בין המשקים לסחר, בעקבות הפשרה ביחסים המדיניים טען 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he-IL" sz="1800" b="1" dirty="0">
                <a:solidFill>
                  <a:schemeClr val="accent3">
                    <a:lumMod val="50000"/>
                  </a:schemeClr>
                </a:solidFill>
              </a:rPr>
              <a:t>שר התעשייה</a:t>
            </a:r>
            <a:r>
              <a:rPr lang="he-IL" sz="1800" dirty="0">
                <a:solidFill>
                  <a:schemeClr val="tx1"/>
                </a:solidFill>
              </a:rPr>
              <a:t>: </a:t>
            </a:r>
            <a:r>
              <a:rPr lang="he-IL" sz="1800" b="1" dirty="0">
                <a:solidFill>
                  <a:schemeClr val="accent3">
                    <a:lumMod val="50000"/>
                  </a:schemeClr>
                </a:solidFill>
              </a:rPr>
              <a:t>סחר כזה לא יתקיים ממילא שכן לאף אחת מהמדינות אין יתרון יחסי בייצור מוצר כלשהו על פני רעותה</a:t>
            </a:r>
            <a:r>
              <a:rPr lang="he-IL" sz="1800" dirty="0">
                <a:solidFill>
                  <a:schemeClr val="tx1"/>
                </a:solidFill>
              </a:rPr>
              <a:t>. 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he-IL" sz="1800" b="1" dirty="0">
                <a:solidFill>
                  <a:schemeClr val="accent4"/>
                </a:solidFill>
              </a:rPr>
              <a:t>שר המסחר </a:t>
            </a:r>
            <a:r>
              <a:rPr lang="he-IL" sz="1800" dirty="0">
                <a:solidFill>
                  <a:schemeClr val="tx1"/>
                </a:solidFill>
              </a:rPr>
              <a:t>טען: </a:t>
            </a:r>
            <a:r>
              <a:rPr lang="he-IL" sz="1800" b="1" dirty="0">
                <a:solidFill>
                  <a:schemeClr val="accent4"/>
                </a:solidFill>
              </a:rPr>
              <a:t>בשל הבדלים בטעמי הצרכנים והרכב הצריכה הנובע מכך, ניתן בהחלט לצפות לקיומו של </a:t>
            </a:r>
            <a:r>
              <a:rPr lang="he-I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avid" panose="020E0502060401010101" pitchFamily="34" charset="-79"/>
              </a:rPr>
              <a:t>מסחר, למשל במחיר יחסי של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avid" panose="020E0502060401010101" pitchFamily="34" charset="-79"/>
              </a:rPr>
              <a:t>X</a:t>
            </a:r>
            <a:r>
              <a:rPr lang="he-I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avid" panose="020E0502060401010101" pitchFamily="34" charset="-79"/>
              </a:rPr>
              <a:t> השווה ל-2 יחידות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avid" panose="020E0502060401010101" pitchFamily="34" charset="-79"/>
              </a:rPr>
              <a:t>Y</a:t>
            </a:r>
            <a:r>
              <a:rPr lang="he-I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avid" panose="020E0502060401010101" pitchFamily="34" charset="-79"/>
              </a:rPr>
              <a:t>. </a:t>
            </a:r>
            <a:endParaRPr lang="en-IL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David" panose="020E0502060401010101" pitchFamily="34" charset="-79"/>
            </a:endParaRPr>
          </a:p>
          <a:p>
            <a:r>
              <a:rPr lang="he-I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avid" panose="020E0502060401010101" pitchFamily="34" charset="-79"/>
              </a:rPr>
              <a:t>מי מהם צודק?</a:t>
            </a:r>
            <a:r>
              <a:rPr lang="he-I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avid" panose="020E0502060401010101" pitchFamily="34" charset="-79"/>
              </a:rPr>
              <a:t> נמקו</a:t>
            </a:r>
            <a:endParaRPr lang="he-IL" sz="16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7350" y="4869160"/>
            <a:ext cx="244827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יש לבדוק האם הסחר ישפר את צריכת כל משק: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22F9BBD-6927-F521-5603-4D3E0766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5A34C92-3D3B-C8C2-52DA-EB878308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16919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2964386" y="0"/>
            <a:ext cx="6179614" cy="759227"/>
          </a:xfrm>
        </p:spPr>
        <p:txBody>
          <a:bodyPr>
            <a:normAutofit fontScale="90000"/>
          </a:bodyPr>
          <a:lstStyle/>
          <a:p>
            <a:pPr algn="r"/>
            <a:r>
              <a:rPr lang="he-IL" dirty="0">
                <a:cs typeface="+mn-cs"/>
              </a:rPr>
              <a:t>שאלה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9" y="163357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/>
              <a:t>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0112" y="6229829"/>
            <a:ext cx="435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/>
              <a:t>X</a:t>
            </a:r>
            <a:endParaRPr lang="he-IL" dirty="0"/>
          </a:p>
        </p:txBody>
      </p:sp>
      <p:cxnSp>
        <p:nvCxnSpPr>
          <p:cNvPr id="7" name="מחבר חץ ישר 6"/>
          <p:cNvCxnSpPr/>
          <p:nvPr/>
        </p:nvCxnSpPr>
        <p:spPr>
          <a:xfrm flipV="1">
            <a:off x="492706" y="6229829"/>
            <a:ext cx="5951502" cy="4594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חץ ישר 7"/>
          <p:cNvCxnSpPr/>
          <p:nvPr/>
        </p:nvCxnSpPr>
        <p:spPr>
          <a:xfrm flipH="1" flipV="1">
            <a:off x="464240" y="404664"/>
            <a:ext cx="27258" cy="5829012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מחבר ישר 8"/>
          <p:cNvCxnSpPr/>
          <p:nvPr/>
        </p:nvCxnSpPr>
        <p:spPr>
          <a:xfrm>
            <a:off x="511738" y="2708920"/>
            <a:ext cx="1900022" cy="576064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מחבר ישר 14"/>
          <p:cNvCxnSpPr/>
          <p:nvPr/>
        </p:nvCxnSpPr>
        <p:spPr>
          <a:xfrm>
            <a:off x="2479670" y="3320988"/>
            <a:ext cx="969432" cy="61084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מחבר ישר 16"/>
          <p:cNvCxnSpPr/>
          <p:nvPr/>
        </p:nvCxnSpPr>
        <p:spPr>
          <a:xfrm>
            <a:off x="3401149" y="3911179"/>
            <a:ext cx="1623721" cy="232249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אליפסה 18"/>
          <p:cNvSpPr/>
          <p:nvPr/>
        </p:nvSpPr>
        <p:spPr>
          <a:xfrm>
            <a:off x="2371658" y="3245452"/>
            <a:ext cx="108012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אליפסה 19"/>
          <p:cNvSpPr/>
          <p:nvPr/>
        </p:nvSpPr>
        <p:spPr>
          <a:xfrm>
            <a:off x="3343268" y="3862106"/>
            <a:ext cx="108012" cy="72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TextBox 20"/>
          <p:cNvSpPr txBox="1"/>
          <p:nvPr/>
        </p:nvSpPr>
        <p:spPr>
          <a:xfrm>
            <a:off x="3347106" y="3569101"/>
            <a:ext cx="34773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C</a:t>
            </a:r>
            <a:endParaRPr lang="he-IL" dirty="0"/>
          </a:p>
        </p:txBody>
      </p:sp>
      <p:sp>
        <p:nvSpPr>
          <p:cNvPr id="22" name="TextBox 21"/>
          <p:cNvSpPr txBox="1"/>
          <p:nvPr/>
        </p:nvSpPr>
        <p:spPr>
          <a:xfrm>
            <a:off x="2305801" y="2941403"/>
            <a:ext cx="34773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</a:t>
            </a:r>
            <a:endParaRPr lang="he-IL" dirty="0"/>
          </a:p>
        </p:txBody>
      </p:sp>
      <p:sp>
        <p:nvSpPr>
          <p:cNvPr id="23" name="TextBox 22"/>
          <p:cNvSpPr txBox="1"/>
          <p:nvPr/>
        </p:nvSpPr>
        <p:spPr>
          <a:xfrm>
            <a:off x="464240" y="2339588"/>
            <a:ext cx="34773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A</a:t>
            </a:r>
            <a:endParaRPr lang="he-IL" dirty="0"/>
          </a:p>
        </p:txBody>
      </p:sp>
      <p:sp>
        <p:nvSpPr>
          <p:cNvPr id="24" name="TextBox 23"/>
          <p:cNvSpPr txBox="1"/>
          <p:nvPr/>
        </p:nvSpPr>
        <p:spPr>
          <a:xfrm>
            <a:off x="4716016" y="6298049"/>
            <a:ext cx="585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149551" y="3136322"/>
            <a:ext cx="64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7328" y="6298049"/>
            <a:ext cx="41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-130519" y="2524254"/>
            <a:ext cx="64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178017" y="3713444"/>
            <a:ext cx="64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2273" y="6295465"/>
            <a:ext cx="41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40</a:t>
            </a:r>
          </a:p>
        </p:txBody>
      </p:sp>
      <p:cxnSp>
        <p:nvCxnSpPr>
          <p:cNvPr id="33" name="מחבר ישר 32"/>
          <p:cNvCxnSpPr/>
          <p:nvPr/>
        </p:nvCxnSpPr>
        <p:spPr>
          <a:xfrm>
            <a:off x="3385213" y="3876364"/>
            <a:ext cx="12061" cy="2353465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מחבר ישר 34"/>
          <p:cNvCxnSpPr/>
          <p:nvPr/>
        </p:nvCxnSpPr>
        <p:spPr>
          <a:xfrm>
            <a:off x="2411760" y="3296263"/>
            <a:ext cx="0" cy="293741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מחבר ישר 39"/>
          <p:cNvCxnSpPr/>
          <p:nvPr/>
        </p:nvCxnSpPr>
        <p:spPr>
          <a:xfrm flipH="1" flipV="1">
            <a:off x="519237" y="3231225"/>
            <a:ext cx="1919169" cy="39199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מחבר ישר 45"/>
          <p:cNvCxnSpPr/>
          <p:nvPr/>
        </p:nvCxnSpPr>
        <p:spPr>
          <a:xfrm flipH="1" flipV="1">
            <a:off x="492706" y="3898110"/>
            <a:ext cx="2908443" cy="18004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342891" y="5928246"/>
                <a:ext cx="55770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>
                          <a:solidFill>
                            <a:srgbClr val="C00000"/>
                          </a:solidFill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he-IL" sz="1400" b="1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891" y="5928246"/>
                <a:ext cx="557702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קשת 54"/>
          <p:cNvSpPr/>
          <p:nvPr/>
        </p:nvSpPr>
        <p:spPr>
          <a:xfrm rot="16459148">
            <a:off x="4180345" y="5859361"/>
            <a:ext cx="1080120" cy="936105"/>
          </a:xfrm>
          <a:prstGeom prst="arc">
            <a:avLst>
              <a:gd name="adj1" fmla="val 16607536"/>
              <a:gd name="adj2" fmla="val 2129524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7" name="TextBox 56"/>
          <p:cNvSpPr txBox="1"/>
          <p:nvPr/>
        </p:nvSpPr>
        <p:spPr>
          <a:xfrm>
            <a:off x="2609782" y="3708217"/>
            <a:ext cx="55770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b="1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58" name="קשת 57"/>
          <p:cNvSpPr/>
          <p:nvPr/>
        </p:nvSpPr>
        <p:spPr>
          <a:xfrm rot="15851287">
            <a:off x="2488451" y="3685729"/>
            <a:ext cx="1080120" cy="936105"/>
          </a:xfrm>
          <a:prstGeom prst="arc">
            <a:avLst>
              <a:gd name="adj1" fmla="val 18056495"/>
              <a:gd name="adj2" fmla="val 21295240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1328937" y="3013696"/>
                <a:ext cx="557702" cy="495649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14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1400" b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he-IL" sz="1400" b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he-IL" sz="1400" b="1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937" y="3013696"/>
                <a:ext cx="557702" cy="49564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קשת 59"/>
          <p:cNvSpPr/>
          <p:nvPr/>
        </p:nvSpPr>
        <p:spPr>
          <a:xfrm rot="16365725">
            <a:off x="897534" y="3052737"/>
            <a:ext cx="1080120" cy="936105"/>
          </a:xfrm>
          <a:prstGeom prst="arc">
            <a:avLst>
              <a:gd name="adj1" fmla="val 17930179"/>
              <a:gd name="adj2" fmla="val 21295240"/>
            </a:avLst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4" name="כותרת משנה 2"/>
          <p:cNvSpPr txBox="1">
            <a:spLocks/>
          </p:cNvSpPr>
          <p:nvPr/>
        </p:nvSpPr>
        <p:spPr>
          <a:xfrm>
            <a:off x="638109" y="616042"/>
            <a:ext cx="8493176" cy="601511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1500" dirty="0">
                <a:solidFill>
                  <a:srgbClr val="00B050"/>
                </a:solidFill>
              </a:rPr>
              <a:t>משק א' </a:t>
            </a:r>
            <a:r>
              <a:rPr lang="he-IL" sz="1500" dirty="0">
                <a:solidFill>
                  <a:schemeClr val="tx1"/>
                </a:solidFill>
              </a:rPr>
              <a:t>מעוניין תמיד לצרוך </a:t>
            </a:r>
            <a:r>
              <a:rPr lang="he-IL" sz="1500" b="1" dirty="0">
                <a:solidFill>
                  <a:srgbClr val="00B050"/>
                </a:solidFill>
              </a:rPr>
              <a:t>50 יחידות </a:t>
            </a:r>
            <a:r>
              <a:rPr lang="en-US" sz="1500" b="1" dirty="0">
                <a:solidFill>
                  <a:srgbClr val="00B050"/>
                </a:solidFill>
              </a:rPr>
              <a:t>X</a:t>
            </a:r>
            <a:r>
              <a:rPr lang="he-IL" sz="1500" b="1" dirty="0">
                <a:solidFill>
                  <a:srgbClr val="00B050"/>
                </a:solidFill>
              </a:rPr>
              <a:t>, </a:t>
            </a:r>
            <a:r>
              <a:rPr lang="he-IL" sz="1500" dirty="0">
                <a:solidFill>
                  <a:schemeClr val="tx1"/>
                </a:solidFill>
              </a:rPr>
              <a:t>וכמה שיותר יחידות </a:t>
            </a:r>
            <a:r>
              <a:rPr lang="en-US" sz="1500" dirty="0">
                <a:solidFill>
                  <a:schemeClr val="tx1"/>
                </a:solidFill>
              </a:rPr>
              <a:t>Y</a:t>
            </a:r>
            <a:r>
              <a:rPr lang="he-IL" sz="1500" dirty="0">
                <a:solidFill>
                  <a:schemeClr val="tx1"/>
                </a:solidFill>
              </a:rPr>
              <a:t>. </a:t>
            </a:r>
          </a:p>
          <a:p>
            <a:pPr algn="r"/>
            <a:r>
              <a:rPr lang="he-IL" sz="1500" dirty="0">
                <a:solidFill>
                  <a:srgbClr val="0070C0"/>
                </a:solidFill>
              </a:rPr>
              <a:t>משק ב' </a:t>
            </a:r>
            <a:r>
              <a:rPr lang="he-IL" sz="1500" dirty="0">
                <a:solidFill>
                  <a:schemeClr val="tx1"/>
                </a:solidFill>
              </a:rPr>
              <a:t>מעוניין תמיד לצרוך </a:t>
            </a:r>
            <a:r>
              <a:rPr lang="he-IL" sz="1500" b="1" dirty="0">
                <a:solidFill>
                  <a:srgbClr val="0070C0"/>
                </a:solidFill>
              </a:rPr>
              <a:t>70 יחידות </a:t>
            </a:r>
            <a:r>
              <a:rPr lang="en-US" sz="1500" b="1" dirty="0">
                <a:solidFill>
                  <a:srgbClr val="0070C0"/>
                </a:solidFill>
              </a:rPr>
              <a:t>X</a:t>
            </a:r>
            <a:r>
              <a:rPr lang="he-IL" sz="1500" dirty="0">
                <a:solidFill>
                  <a:schemeClr val="tx1"/>
                </a:solidFill>
              </a:rPr>
              <a:t>, וכמה שיותר יחידות </a:t>
            </a:r>
            <a:r>
              <a:rPr lang="en-US" sz="1500" dirty="0">
                <a:solidFill>
                  <a:schemeClr val="tx1"/>
                </a:solidFill>
              </a:rPr>
              <a:t>Y</a:t>
            </a:r>
            <a:r>
              <a:rPr lang="he-IL" sz="1500" dirty="0">
                <a:solidFill>
                  <a:schemeClr val="tx1"/>
                </a:solidFill>
              </a:rPr>
              <a:t>. </a:t>
            </a:r>
            <a:endParaRPr lang="he-IL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מלבן 35"/>
              <p:cNvSpPr/>
              <p:nvPr/>
            </p:nvSpPr>
            <p:spPr>
              <a:xfrm>
                <a:off x="6660232" y="2416501"/>
                <a:ext cx="1590136" cy="6584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e-IL" b="0" i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Px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he-IL" b="0" i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Py</m:t>
                          </m:r>
                        </m:den>
                      </m:f>
                      <m:r>
                        <a:rPr lang="he-IL" b="0" i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he-IL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ל</m:t>
                      </m:r>
                      <m:r>
                        <a:rPr lang="he-IL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משל</m:t>
                      </m:r>
                      <m:r>
                        <a:rPr lang="he-IL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e-IL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he-IL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מלבן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416501"/>
                <a:ext cx="1590136" cy="6584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4572000" y="3202077"/>
            <a:ext cx="4277653" cy="98488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b="1" dirty="0">
                <a:solidFill>
                  <a:schemeClr val="accent4"/>
                </a:solidFill>
              </a:rPr>
              <a:t>כל משק יבחר לייצר בנק </a:t>
            </a:r>
            <a:r>
              <a:rPr lang="en-US" sz="1600" b="1" dirty="0">
                <a:solidFill>
                  <a:schemeClr val="accent4"/>
                </a:solidFill>
              </a:rPr>
              <a:t>C</a:t>
            </a:r>
            <a:r>
              <a:rPr lang="he-IL" sz="1600" b="1" dirty="0">
                <a:solidFill>
                  <a:schemeClr val="accent4"/>
                </a:solidFill>
              </a:rPr>
              <a:t> (60,60) </a:t>
            </a:r>
            <a:br>
              <a:rPr lang="en-US" sz="1600" b="1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he-IL" sz="1400" dirty="0"/>
              <a:t>כך שמשק א' יוכל למכור 10 יח' </a:t>
            </a:r>
            <a:r>
              <a:rPr lang="en-US" sz="1400" dirty="0"/>
              <a:t>X</a:t>
            </a:r>
            <a:r>
              <a:rPr lang="he-IL" sz="1400" dirty="0"/>
              <a:t> </a:t>
            </a:r>
            <a:br>
              <a:rPr lang="en-US" sz="1400" dirty="0"/>
            </a:br>
            <a:r>
              <a:rPr lang="he-IL" sz="1400" dirty="0"/>
              <a:t>ומשק ב' יוכל לקבל ממשק א' 10 יח' </a:t>
            </a:r>
            <a:r>
              <a:rPr lang="en-US" sz="1400" dirty="0"/>
              <a:t>X</a:t>
            </a:r>
            <a:r>
              <a:rPr lang="he-IL" sz="1400" dirty="0"/>
              <a:t> ובתמורה למכור </a:t>
            </a:r>
            <a:r>
              <a:rPr lang="en-US" sz="1400" dirty="0"/>
              <a:t>Y</a:t>
            </a:r>
            <a:r>
              <a:rPr lang="he-IL" sz="1400" dirty="0"/>
              <a:t>ים למשק א' בהתאם ליחס מחירים שיקבעו ביניהם (בין 1 ל3). </a:t>
            </a:r>
            <a:endParaRPr lang="he-IL" sz="1600" dirty="0"/>
          </a:p>
        </p:txBody>
      </p:sp>
      <p:cxnSp>
        <p:nvCxnSpPr>
          <p:cNvPr id="11" name="מחבר ישר 10"/>
          <p:cNvCxnSpPr>
            <a:endCxn id="6" idx="0"/>
          </p:cNvCxnSpPr>
          <p:nvPr/>
        </p:nvCxnSpPr>
        <p:spPr>
          <a:xfrm>
            <a:off x="464240" y="980728"/>
            <a:ext cx="5333587" cy="524910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26450" y="2574080"/>
            <a:ext cx="1150438" cy="3847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900" dirty="0"/>
              <a:t>&gt; </a:t>
            </a:r>
            <a:r>
              <a:rPr lang="he-IL" sz="1900" b="1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22186" y="2570325"/>
            <a:ext cx="1150438" cy="3847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 </a:t>
            </a:r>
            <a:r>
              <a:rPr lang="he-IL" sz="1900" b="1" dirty="0">
                <a:solidFill>
                  <a:srgbClr val="C00000"/>
                </a:solidFill>
              </a:rPr>
              <a:t>3    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227802" y="5928246"/>
                <a:ext cx="55770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he-IL" sz="14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802" y="5928246"/>
                <a:ext cx="557702" cy="30777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קשת 48"/>
          <p:cNvSpPr/>
          <p:nvPr/>
        </p:nvSpPr>
        <p:spPr>
          <a:xfrm rot="16459148">
            <a:off x="5040051" y="5859362"/>
            <a:ext cx="1080120" cy="936105"/>
          </a:xfrm>
          <a:prstGeom prst="arc">
            <a:avLst>
              <a:gd name="adj1" fmla="val 16607536"/>
              <a:gd name="adj2" fmla="val 20310492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3" name="TextBox 42"/>
          <p:cNvSpPr txBox="1"/>
          <p:nvPr/>
        </p:nvSpPr>
        <p:spPr>
          <a:xfrm>
            <a:off x="2329921" y="6275134"/>
            <a:ext cx="709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b="1" dirty="0">
                <a:solidFill>
                  <a:srgbClr val="00B050"/>
                </a:solidFill>
              </a:rPr>
              <a:t>50</a:t>
            </a:r>
            <a:endParaRPr lang="en-US" b="1" dirty="0">
              <a:solidFill>
                <a:srgbClr val="00B050"/>
              </a:solidFill>
            </a:endParaRPr>
          </a:p>
        </p:txBody>
      </p:sp>
      <p:cxnSp>
        <p:nvCxnSpPr>
          <p:cNvPr id="44" name="מחבר ישר 34"/>
          <p:cNvCxnSpPr>
            <a:cxnSpLocks/>
          </p:cNvCxnSpPr>
          <p:nvPr/>
        </p:nvCxnSpPr>
        <p:spPr>
          <a:xfrm>
            <a:off x="2801042" y="3505654"/>
            <a:ext cx="0" cy="2728021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3F04B95-232A-4E3B-8C2E-054981ADA35A}"/>
              </a:ext>
            </a:extLst>
          </p:cNvPr>
          <p:cNvSpPr txBox="1"/>
          <p:nvPr/>
        </p:nvSpPr>
        <p:spPr>
          <a:xfrm>
            <a:off x="1399235" y="1307141"/>
            <a:ext cx="765713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e-IL" dirty="0"/>
              <a:t>מכיוון שלמשקים אלו </a:t>
            </a:r>
            <a:r>
              <a:rPr lang="he-IL" b="1" u="sng" dirty="0"/>
              <a:t>העדפות צריכה שונות</a:t>
            </a:r>
            <a:r>
              <a:rPr lang="he-IL" dirty="0"/>
              <a:t>, במובן שכל משק מעוניין לצרוך על מקטע בעל </a:t>
            </a:r>
            <a:r>
              <a:rPr lang="he-IL" b="1" u="sng" dirty="0"/>
              <a:t>שיפוע שונה </a:t>
            </a:r>
            <a:r>
              <a:rPr lang="he-IL" dirty="0"/>
              <a:t>(לפני המסחר), אז המשקים יוכלו להרוויח ממסחר ביניהם! </a:t>
            </a:r>
            <a:endParaRPr lang="en-IL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4F39D4-AF6E-4BC4-BC34-1F9646D4F2EA}"/>
              </a:ext>
            </a:extLst>
          </p:cNvPr>
          <p:cNvSpPr txBox="1"/>
          <p:nvPr/>
        </p:nvSpPr>
        <p:spPr>
          <a:xfrm>
            <a:off x="3385213" y="6260511"/>
            <a:ext cx="709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b="1" dirty="0">
                <a:solidFill>
                  <a:srgbClr val="0070C0"/>
                </a:solidFill>
              </a:rPr>
              <a:t>70</a:t>
            </a:r>
            <a:endParaRPr lang="en-US" b="1" dirty="0">
              <a:solidFill>
                <a:srgbClr val="0070C0"/>
              </a:solidFill>
            </a:endParaRPr>
          </a:p>
        </p:txBody>
      </p:sp>
      <p:cxnSp>
        <p:nvCxnSpPr>
          <p:cNvPr id="53" name="מחבר ישר 34">
            <a:extLst>
              <a:ext uri="{FF2B5EF4-FFF2-40B4-BE49-F238E27FC236}">
                <a16:creationId xmlns:a16="http://schemas.microsoft.com/office/drawing/2014/main" id="{ECEA3A8C-A6D6-4C02-81F6-6C190B59BD14}"/>
              </a:ext>
            </a:extLst>
          </p:cNvPr>
          <p:cNvCxnSpPr>
            <a:cxnSpLocks/>
          </p:cNvCxnSpPr>
          <p:nvPr/>
        </p:nvCxnSpPr>
        <p:spPr>
          <a:xfrm>
            <a:off x="3850838" y="4551559"/>
            <a:ext cx="5496" cy="1667493"/>
          </a:xfrm>
          <a:prstGeom prst="line">
            <a:avLst/>
          </a:prstGeom>
          <a:ln w="381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C31CD17-9229-4B95-B6E1-E3D478F680C8}"/>
              </a:ext>
            </a:extLst>
          </p:cNvPr>
          <p:cNvSpPr txBox="1"/>
          <p:nvPr/>
        </p:nvSpPr>
        <p:spPr>
          <a:xfrm>
            <a:off x="5891438" y="4785633"/>
            <a:ext cx="92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800" dirty="0">
                <a:solidFill>
                  <a:srgbClr val="00B050"/>
                </a:solidFill>
              </a:rPr>
              <a:t>משק א' </a:t>
            </a:r>
            <a:endParaRPr lang="en-IL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3A60D3-16A1-4B86-80A7-7DC7A29048D9}"/>
              </a:ext>
            </a:extLst>
          </p:cNvPr>
          <p:cNvSpPr txBox="1"/>
          <p:nvPr/>
        </p:nvSpPr>
        <p:spPr>
          <a:xfrm>
            <a:off x="7020272" y="4785633"/>
            <a:ext cx="1118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800" dirty="0">
                <a:solidFill>
                  <a:srgbClr val="0070C0"/>
                </a:solidFill>
              </a:rPr>
              <a:t>משק ב' </a:t>
            </a:r>
            <a:endParaRPr lang="en-IL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4344470-8665-01B5-30F4-FED6F3636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10" name="מציין מיקום של מספר שקופית 9">
            <a:extLst>
              <a:ext uri="{FF2B5EF4-FFF2-40B4-BE49-F238E27FC236}">
                <a16:creationId xmlns:a16="http://schemas.microsoft.com/office/drawing/2014/main" id="{BE3C9568-1E2F-E0AC-4C2E-F3A8112D7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714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2" grpId="0"/>
      <p:bldP spid="47" grpId="0"/>
      <p:bldP spid="48" grpId="0"/>
      <p:bldP spid="49" grpId="0" animBg="1"/>
      <p:bldP spid="43" grpId="0"/>
      <p:bldP spid="3" grpId="0" animBg="1"/>
      <p:bldP spid="52" grpId="0"/>
      <p:bldP spid="56" grpId="0"/>
      <p:bldP spid="6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4572000" y="5477"/>
            <a:ext cx="4572000" cy="759227"/>
          </a:xfrm>
        </p:spPr>
        <p:txBody>
          <a:bodyPr>
            <a:normAutofit fontScale="90000"/>
          </a:bodyPr>
          <a:lstStyle/>
          <a:p>
            <a:pPr algn="r"/>
            <a:r>
              <a:rPr lang="he-IL" dirty="0">
                <a:cs typeface="+mn-cs"/>
              </a:rPr>
              <a:t>שאלה 4</a:t>
            </a:r>
            <a:endParaRPr lang="he-IL" sz="3600" dirty="0">
              <a:cs typeface="+mn-cs"/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0" y="764704"/>
            <a:ext cx="9144000" cy="1512168"/>
          </a:xfrm>
        </p:spPr>
        <p:txBody>
          <a:bodyPr>
            <a:noAutofit/>
          </a:bodyPr>
          <a:lstStyle/>
          <a:p>
            <a:pPr algn="r"/>
            <a:r>
              <a:rPr lang="he-IL" sz="1600" dirty="0">
                <a:solidFill>
                  <a:schemeClr val="tx1"/>
                </a:solidFill>
              </a:rPr>
              <a:t>לצידו של משק "יזראל" משאלה 3 שוכן משק "לבניון", אשר גם לו שלושה סוגי עובדים בעלי כישורים זהים לשלושת סוגי העובדים החיים במשק "יזראל" ובאותן הכמויות. בני "לבניון" </a:t>
            </a:r>
            <a:r>
              <a:rPr lang="he-IL" sz="1600" b="1" dirty="0">
                <a:solidFill>
                  <a:schemeClr val="tx1"/>
                </a:solidFill>
              </a:rPr>
              <a:t>מעוניינים תמיד לצרוך 70 יח' </a:t>
            </a:r>
            <a:r>
              <a:rPr lang="en-US" sz="1600" b="1" dirty="0">
                <a:solidFill>
                  <a:schemeClr val="tx1"/>
                </a:solidFill>
              </a:rPr>
              <a:t>X</a:t>
            </a:r>
            <a:r>
              <a:rPr lang="he-IL" sz="1600" dirty="0">
                <a:solidFill>
                  <a:schemeClr val="tx1"/>
                </a:solidFill>
              </a:rPr>
              <a:t>, וכמה שיותר יח' </a:t>
            </a:r>
            <a:r>
              <a:rPr lang="en-US" sz="1600" dirty="0">
                <a:solidFill>
                  <a:schemeClr val="tx1"/>
                </a:solidFill>
              </a:rPr>
              <a:t>Y</a:t>
            </a:r>
            <a:r>
              <a:rPr lang="he-IL" sz="1600" dirty="0">
                <a:solidFill>
                  <a:schemeClr val="tx1"/>
                </a:solidFill>
              </a:rPr>
              <a:t>. הנח כי </a:t>
            </a:r>
            <a:r>
              <a:rPr lang="he-IL" sz="1600" u="sng" dirty="0">
                <a:solidFill>
                  <a:schemeClr val="tx1"/>
                </a:solidFill>
              </a:rPr>
              <a:t>האפשרות היחידה  למסחר בינלאומי עבור "</a:t>
            </a:r>
            <a:r>
              <a:rPr lang="he-IL" sz="1600" u="sng" dirty="0" err="1">
                <a:solidFill>
                  <a:schemeClr val="tx1"/>
                </a:solidFill>
              </a:rPr>
              <a:t>יזראל</a:t>
            </a:r>
            <a:r>
              <a:rPr lang="he-IL" sz="1600" u="sng" dirty="0">
                <a:solidFill>
                  <a:schemeClr val="tx1"/>
                </a:solidFill>
              </a:rPr>
              <a:t>" ו-"לבניון" היא לסחור אחד עם השני.</a:t>
            </a:r>
            <a:endParaRPr lang="en-US" sz="1600" u="sng" dirty="0">
              <a:solidFill>
                <a:schemeClr val="tx1"/>
              </a:solidFill>
            </a:endParaRPr>
          </a:p>
          <a:p>
            <a:pPr algn="r"/>
            <a:r>
              <a:rPr lang="he-IL" sz="1600" dirty="0">
                <a:solidFill>
                  <a:schemeClr val="tx1"/>
                </a:solidFill>
              </a:rPr>
              <a:t>מסיבות מדיניות נמנעה עד כה האפשרות לסחר ביניהן. בדיון שנערך בממשלת "</a:t>
            </a:r>
            <a:r>
              <a:rPr lang="he-IL" sz="1600" dirty="0" err="1">
                <a:solidFill>
                  <a:schemeClr val="tx1"/>
                </a:solidFill>
              </a:rPr>
              <a:t>יזראל</a:t>
            </a:r>
            <a:r>
              <a:rPr lang="he-IL" sz="1600" dirty="0">
                <a:solidFill>
                  <a:schemeClr val="tx1"/>
                </a:solidFill>
              </a:rPr>
              <a:t>" על האפשרות לפתוח את הגבולות בין המשקים לסחר, בעקבות הפשרה ביחסים המדיניים טען שר התעשייה, כי </a:t>
            </a:r>
            <a:r>
              <a:rPr lang="he-IL" sz="1600" u="sng" dirty="0">
                <a:solidFill>
                  <a:schemeClr val="tx1"/>
                </a:solidFill>
              </a:rPr>
              <a:t>סחר כזה לא יתקיים ממילא שכן לאף אחת מהמדינות אין יתרון יחסי בייצור מוצר כלשהו על פני רעותה</a:t>
            </a:r>
            <a:r>
              <a:rPr lang="he-IL" sz="1600" dirty="0">
                <a:solidFill>
                  <a:schemeClr val="tx1"/>
                </a:solidFill>
              </a:rPr>
              <a:t>. שר המסחר טען, כי </a:t>
            </a:r>
            <a:r>
              <a:rPr lang="he-IL" sz="1600" u="sng" dirty="0">
                <a:solidFill>
                  <a:schemeClr val="tx1"/>
                </a:solidFill>
              </a:rPr>
              <a:t>בשל הבדלים בטעמי הצרכנים והרכב הצריכה הנובע מכך, ניתן בהחלט לצפות לקיומו של מסחר</a:t>
            </a:r>
            <a:r>
              <a:rPr lang="he-IL" sz="1600" dirty="0">
                <a:solidFill>
                  <a:schemeClr val="tx1"/>
                </a:solidFill>
              </a:rPr>
              <a:t>. חוו דעתכם.   </a:t>
            </a:r>
            <a:endParaRPr lang="en-US" sz="1600" dirty="0">
              <a:solidFill>
                <a:schemeClr val="tx1"/>
              </a:solidFill>
            </a:endParaRPr>
          </a:p>
          <a:p>
            <a:pPr algn="r"/>
            <a:endParaRPr lang="he-IL" sz="1600" dirty="0">
              <a:solidFill>
                <a:schemeClr val="tx1"/>
              </a:solidFill>
            </a:endParaRPr>
          </a:p>
        </p:txBody>
      </p:sp>
      <p:sp>
        <p:nvSpPr>
          <p:cNvPr id="4" name="כותרת משנה 2"/>
          <p:cNvSpPr txBox="1">
            <a:spLocks/>
          </p:cNvSpPr>
          <p:nvPr/>
        </p:nvSpPr>
        <p:spPr>
          <a:xfrm>
            <a:off x="0" y="3789040"/>
            <a:ext cx="9144000" cy="1296144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he-IL" sz="16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8224" y="2854543"/>
            <a:ext cx="244827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נבדוק האם הסחר ישפר את צריכת כל משק: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629" y="2808376"/>
            <a:ext cx="456850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כל משק </a:t>
            </a:r>
            <a:r>
              <a:rPr lang="he-IL" b="1" dirty="0">
                <a:solidFill>
                  <a:schemeClr val="bg2">
                    <a:lumMod val="50000"/>
                  </a:schemeClr>
                </a:solidFill>
              </a:rPr>
              <a:t>מייצר (60,60) </a:t>
            </a:r>
            <a:r>
              <a:rPr lang="he-IL" dirty="0"/>
              <a:t>ו</a:t>
            </a:r>
            <a:r>
              <a:rPr lang="he-IL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יחס המחירים העולמי=2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9507" y="3379093"/>
                <a:ext cx="5652442" cy="64633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dirty="0"/>
                  <a:t>משק </a:t>
                </a:r>
                <a:r>
                  <a:rPr lang="he-IL" dirty="0" err="1"/>
                  <a:t>יזראל</a:t>
                </a:r>
                <a:r>
                  <a:rPr lang="he-IL" dirty="0"/>
                  <a:t> צורך </a:t>
                </a:r>
                <a:r>
                  <a:rPr lang="he-IL" b="1" dirty="0">
                    <a:solidFill>
                      <a:schemeClr val="bg2">
                        <a:lumMod val="50000"/>
                      </a:schemeClr>
                    </a:solidFill>
                  </a:rPr>
                  <a:t>50</a:t>
                </a:r>
                <a:r>
                  <a:rPr lang="he-IL" dirty="0"/>
                  <a:t> </a:t>
                </a:r>
                <a:r>
                  <a:rPr lang="en-US" dirty="0">
                    <a:solidFill>
                      <a:schemeClr val="bg2">
                        <a:lumMod val="50000"/>
                      </a:schemeClr>
                    </a:solidFill>
                  </a:rPr>
                  <a:t>X</a:t>
                </a:r>
                <a:r>
                  <a:rPr lang="he-IL" dirty="0"/>
                  <a:t>, כלומר מייצא </a:t>
                </a:r>
                <a:r>
                  <a:rPr lang="he-IL" b="1" dirty="0">
                    <a:solidFill>
                      <a:schemeClr val="bg2">
                        <a:lumMod val="50000"/>
                      </a:schemeClr>
                    </a:solidFill>
                  </a:rPr>
                  <a:t>10</a:t>
                </a:r>
                <a:r>
                  <a:rPr lang="he-IL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bg2">
                        <a:lumMod val="50000"/>
                      </a:schemeClr>
                    </a:solidFill>
                  </a:rPr>
                  <a:t>X</a:t>
                </a:r>
                <a:r>
                  <a:rPr lang="he-IL" dirty="0"/>
                  <a:t> למשק לבניון תמורת (</a:t>
                </a:r>
                <a:r>
                  <a:rPr lang="he-IL" dirty="0">
                    <a:solidFill>
                      <a:schemeClr val="bg2">
                        <a:lumMod val="50000"/>
                      </a:schemeClr>
                    </a:solidFill>
                  </a:rPr>
                  <a:t>10</a:t>
                </a:r>
                <a14:m>
                  <m:oMath xmlns:m="http://schemas.openxmlformats.org/officeDocument/2006/math">
                    <m:r>
                      <a:rPr lang="he-IL">
                        <a:latin typeface="Cambria Math"/>
                      </a:rPr>
                      <m:t>⋅</m:t>
                    </m:r>
                  </m:oMath>
                </a14:m>
                <a:r>
                  <a:rPr lang="he-IL" b="1" dirty="0">
                    <a:solidFill>
                      <a:schemeClr val="accent1"/>
                    </a:solidFill>
                  </a:rPr>
                  <a:t>2</a:t>
                </a:r>
                <a:r>
                  <a:rPr lang="he-IL" dirty="0"/>
                  <a:t>)=</a:t>
                </a:r>
                <a:r>
                  <a:rPr lang="he-IL" b="1" dirty="0">
                    <a:solidFill>
                      <a:srgbClr val="C00000"/>
                    </a:solidFill>
                  </a:rPr>
                  <a:t>20</a:t>
                </a:r>
                <a:r>
                  <a:rPr lang="he-IL" dirty="0"/>
                  <a:t> יח' </a:t>
                </a:r>
                <a:r>
                  <a:rPr lang="en-US" dirty="0"/>
                  <a:t>Y</a:t>
                </a:r>
                <a:r>
                  <a:rPr lang="he-IL" dirty="0"/>
                  <a:t>, כלומר צורך </a:t>
                </a:r>
                <a:r>
                  <a:rPr lang="he-IL" b="1" dirty="0">
                    <a:solidFill>
                      <a:srgbClr val="C00000"/>
                    </a:solidFill>
                  </a:rPr>
                  <a:t>20</a:t>
                </a:r>
                <a:r>
                  <a:rPr lang="he-IL" dirty="0"/>
                  <a:t>+</a:t>
                </a:r>
                <a:r>
                  <a:rPr lang="he-IL" b="1" dirty="0">
                    <a:solidFill>
                      <a:schemeClr val="bg2">
                        <a:lumMod val="50000"/>
                      </a:schemeClr>
                    </a:solidFill>
                  </a:rPr>
                  <a:t>60</a:t>
                </a:r>
                <a:r>
                  <a:rPr lang="he-IL" dirty="0"/>
                  <a:t>=</a:t>
                </a:r>
                <a:r>
                  <a:rPr lang="he-IL" b="1" dirty="0"/>
                  <a:t>80</a:t>
                </a:r>
                <a:r>
                  <a:rPr lang="he-IL" dirty="0"/>
                  <a:t> יח' </a:t>
                </a:r>
                <a:r>
                  <a:rPr lang="en-US" dirty="0"/>
                  <a:t>Y</a:t>
                </a:r>
                <a:r>
                  <a:rPr lang="he-IL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07" y="3379093"/>
                <a:ext cx="5652442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1726" t="-5660" r="-971" b="-1415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59507" y="4113946"/>
            <a:ext cx="561662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משק לבניון צורך </a:t>
            </a:r>
            <a:r>
              <a:rPr lang="he-IL" b="1" dirty="0"/>
              <a:t>70</a:t>
            </a:r>
            <a:r>
              <a:rPr lang="he-IL" dirty="0"/>
              <a:t> יח' </a:t>
            </a:r>
            <a:r>
              <a:rPr lang="en-US" dirty="0"/>
              <a:t>X</a:t>
            </a:r>
            <a:r>
              <a:rPr lang="he-IL" dirty="0"/>
              <a:t> = </a:t>
            </a:r>
            <a:r>
              <a:rPr lang="he-IL" b="1" dirty="0">
                <a:solidFill>
                  <a:schemeClr val="bg2">
                    <a:lumMod val="50000"/>
                  </a:schemeClr>
                </a:solidFill>
              </a:rPr>
              <a:t>60</a:t>
            </a:r>
            <a:r>
              <a:rPr lang="he-IL" dirty="0"/>
              <a:t>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X</a:t>
            </a:r>
            <a:r>
              <a:rPr lang="he-IL" dirty="0"/>
              <a:t> שמייצר+ </a:t>
            </a:r>
            <a:r>
              <a:rPr lang="en-US" dirty="0"/>
              <a:t> </a:t>
            </a:r>
            <a:r>
              <a:rPr lang="he-IL" b="1" dirty="0">
                <a:solidFill>
                  <a:srgbClr val="C00000"/>
                </a:solidFill>
              </a:rPr>
              <a:t>10</a:t>
            </a:r>
            <a:r>
              <a:rPr lang="en-US" b="1" dirty="0">
                <a:solidFill>
                  <a:srgbClr val="C00000"/>
                </a:solidFill>
              </a:rPr>
              <a:t>X </a:t>
            </a:r>
            <a:r>
              <a:rPr lang="he-IL" b="1" dirty="0">
                <a:solidFill>
                  <a:srgbClr val="C00000"/>
                </a:solidFill>
              </a:rPr>
              <a:t> </a:t>
            </a:r>
            <a:r>
              <a:rPr lang="he-IL" dirty="0"/>
              <a:t>שמייבא וצורך </a:t>
            </a:r>
            <a:r>
              <a:rPr lang="he-IL" b="1" dirty="0">
                <a:solidFill>
                  <a:schemeClr val="bg2">
                    <a:lumMod val="50000"/>
                  </a:schemeClr>
                </a:solidFill>
              </a:rPr>
              <a:t>40</a:t>
            </a:r>
            <a:r>
              <a:rPr lang="he-IL" dirty="0"/>
              <a:t> יח' </a:t>
            </a:r>
            <a:r>
              <a:rPr lang="en-US" dirty="0"/>
              <a:t>Y</a:t>
            </a:r>
            <a:r>
              <a:rPr lang="he-IL" dirty="0"/>
              <a:t> שמייצר (=60-</a:t>
            </a:r>
            <a:r>
              <a:rPr lang="he-IL" b="1" dirty="0">
                <a:solidFill>
                  <a:schemeClr val="bg2">
                    <a:lumMod val="50000"/>
                  </a:schemeClr>
                </a:solidFill>
              </a:rPr>
              <a:t>20</a:t>
            </a:r>
            <a:r>
              <a:rPr lang="he-IL" dirty="0"/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592" y="5229200"/>
            <a:ext cx="756084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he-IL" dirty="0"/>
              <a:t>שר המסחר צודק! בשל טעמים שונים ובשל העובדה שהנקודות שבהן המשק רוצה לצרוך נמצאות על מקטעים שונים על עקומת התמורה (לפני הסחר) אז הסחר יגדיל את אפשרויות הצריכה!</a:t>
            </a:r>
          </a:p>
        </p:txBody>
      </p:sp>
      <p:graphicFrame>
        <p:nvGraphicFramePr>
          <p:cNvPr id="11" name="טבלה 10"/>
          <p:cNvGraphicFramePr>
            <a:graphicFrameLocks noGrp="1"/>
          </p:cNvGraphicFramePr>
          <p:nvPr/>
        </p:nvGraphicFramePr>
        <p:xfrm>
          <a:off x="5934397" y="3624689"/>
          <a:ext cx="3051348" cy="13411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4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784">
                <a:tc>
                  <a:txBody>
                    <a:bodyPr/>
                    <a:lstStyle/>
                    <a:p>
                      <a:pPr rtl="1"/>
                      <a:r>
                        <a:rPr lang="he-IL" sz="1200" dirty="0"/>
                        <a:t>משק/צריכה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לפני הסחר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400" dirty="0"/>
                        <a:t>אחרי הסחר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960">
                <a:tc>
                  <a:txBody>
                    <a:bodyPr/>
                    <a:lstStyle/>
                    <a:p>
                      <a:pPr algn="ctr" rtl="1"/>
                      <a:r>
                        <a:rPr lang="he-IL" sz="1400" dirty="0" err="1"/>
                        <a:t>יזראל</a:t>
                      </a:r>
                      <a:endParaRPr lang="he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400" dirty="0"/>
                        <a:t>(50,70)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(50,</a:t>
                      </a:r>
                      <a:r>
                        <a:rPr lang="he-IL" sz="1400" b="1" dirty="0"/>
                        <a:t>80</a:t>
                      </a:r>
                      <a:r>
                        <a:rPr lang="he-IL" sz="1400" dirty="0"/>
                        <a:t>)</a:t>
                      </a:r>
                    </a:p>
                    <a:p>
                      <a:pPr algn="ctr" rtl="1"/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501">
                <a:tc>
                  <a:txBody>
                    <a:bodyPr/>
                    <a:lstStyle/>
                    <a:p>
                      <a:pPr algn="ctr" rtl="1"/>
                      <a:r>
                        <a:rPr lang="he-IL" sz="1400" dirty="0"/>
                        <a:t>לבניון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400" dirty="0"/>
                        <a:t>(70,30)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(70,</a:t>
                      </a:r>
                      <a:r>
                        <a:rPr lang="he-IL" sz="1400" b="1" dirty="0"/>
                        <a:t>40</a:t>
                      </a:r>
                      <a:r>
                        <a:rPr lang="he-IL" sz="1400" dirty="0"/>
                        <a:t>)</a:t>
                      </a:r>
                    </a:p>
                    <a:p>
                      <a:pPr algn="ctr" rtl="1"/>
                      <a:endParaRPr lang="he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מציין מיקום של כותרת תחתונה 9">
            <a:extLst>
              <a:ext uri="{FF2B5EF4-FFF2-40B4-BE49-F238E27FC236}">
                <a16:creationId xmlns:a16="http://schemas.microsoft.com/office/drawing/2014/main" id="{79EF9145-4768-2B4C-EE93-6783FA7DA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12" name="מציין מיקום של מספר שקופית 11">
            <a:extLst>
              <a:ext uri="{FF2B5EF4-FFF2-40B4-BE49-F238E27FC236}">
                <a16:creationId xmlns:a16="http://schemas.microsoft.com/office/drawing/2014/main" id="{B12A50B7-B7C2-723D-E3B9-99374ED46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9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6B3091-457C-7D27-F32C-E5E6E933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362274"/>
          </a:xfrm>
        </p:spPr>
        <p:txBody>
          <a:bodyPr/>
          <a:lstStyle/>
          <a:p>
            <a:r>
              <a:rPr lang="he-IL" dirty="0"/>
              <a:t>חלק ב': </a:t>
            </a:r>
            <a:br>
              <a:rPr lang="en-US" dirty="0"/>
            </a:br>
            <a:r>
              <a:rPr lang="he-IL" dirty="0"/>
              <a:t>מסחר בין שני משקים גדולים</a:t>
            </a:r>
            <a:endParaRPr lang="en-IL" dirty="0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2A8639F-0494-F9E5-9716-7C8ED161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39792CE-565F-9837-BA4D-DEEE1405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8784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15</a:t>
            </a:fld>
            <a:endParaRPr lang="he-IL"/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6943980" y="-171400"/>
            <a:ext cx="2200019" cy="1143000"/>
          </a:xfrm>
        </p:spPr>
        <p:txBody>
          <a:bodyPr/>
          <a:lstStyle/>
          <a:p>
            <a:pPr algn="r"/>
            <a:r>
              <a:rPr lang="he-IL" sz="4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1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80EEA8-84A2-4217-9584-E17881F405BE}"/>
              </a:ext>
            </a:extLst>
          </p:cNvPr>
          <p:cNvCxnSpPr>
            <a:cxnSpLocks/>
          </p:cNvCxnSpPr>
          <p:nvPr/>
        </p:nvCxnSpPr>
        <p:spPr>
          <a:xfrm>
            <a:off x="899592" y="5642490"/>
            <a:ext cx="1602021" cy="212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5548E3-2FB1-47AD-97C4-C8704BA789A0}"/>
              </a:ext>
            </a:extLst>
          </p:cNvPr>
          <p:cNvCxnSpPr>
            <a:cxnSpLocks/>
          </p:cNvCxnSpPr>
          <p:nvPr/>
        </p:nvCxnSpPr>
        <p:spPr>
          <a:xfrm flipH="1" flipV="1">
            <a:off x="899591" y="3639553"/>
            <a:ext cx="1" cy="20164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1368195-D3F7-408F-9BD9-1830BB3835AF}"/>
              </a:ext>
            </a:extLst>
          </p:cNvPr>
          <p:cNvSpPr txBox="1"/>
          <p:nvPr/>
        </p:nvSpPr>
        <p:spPr>
          <a:xfrm>
            <a:off x="2598684" y="5576425"/>
            <a:ext cx="2412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CA19B-541F-4357-B3BD-045062687EC7}"/>
              </a:ext>
            </a:extLst>
          </p:cNvPr>
          <p:cNvSpPr txBox="1"/>
          <p:nvPr/>
        </p:nvSpPr>
        <p:spPr>
          <a:xfrm>
            <a:off x="453280" y="3435821"/>
            <a:ext cx="329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99A104-01F3-4F2D-9FA6-6558B9092CEC}"/>
              </a:ext>
            </a:extLst>
          </p:cNvPr>
          <p:cNvCxnSpPr>
            <a:cxnSpLocks/>
          </p:cNvCxnSpPr>
          <p:nvPr/>
        </p:nvCxnSpPr>
        <p:spPr>
          <a:xfrm>
            <a:off x="899591" y="4577321"/>
            <a:ext cx="642861" cy="1065169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BA258F1-EDEC-4D08-A332-C4801AE152EC}"/>
              </a:ext>
            </a:extLst>
          </p:cNvPr>
          <p:cNvSpPr txBox="1"/>
          <p:nvPr/>
        </p:nvSpPr>
        <p:spPr>
          <a:xfrm>
            <a:off x="186531" y="4408044"/>
            <a:ext cx="749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dirty="0"/>
              <a:t>400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43AD3B-F357-412C-A980-C1A75D05D22A}"/>
              </a:ext>
            </a:extLst>
          </p:cNvPr>
          <p:cNvSpPr txBox="1"/>
          <p:nvPr/>
        </p:nvSpPr>
        <p:spPr>
          <a:xfrm>
            <a:off x="1061067" y="5452511"/>
            <a:ext cx="536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200" dirty="0"/>
              <a:t>1.33</a:t>
            </a:r>
            <a:endParaRPr lang="en-US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A2DCEB-25F0-4830-B49B-9A74036E937D}"/>
              </a:ext>
            </a:extLst>
          </p:cNvPr>
          <p:cNvSpPr/>
          <p:nvPr/>
        </p:nvSpPr>
        <p:spPr>
          <a:xfrm>
            <a:off x="79917" y="1145613"/>
            <a:ext cx="3800714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he-IL" sz="1400" dirty="0"/>
              <a:t>1. נכון, כל עוד ניתן לייבא את מוצר </a:t>
            </a:r>
            <a:r>
              <a:rPr lang="en-US" sz="1400" dirty="0"/>
              <a:t>X</a:t>
            </a:r>
            <a:r>
              <a:rPr lang="he-IL" sz="1400" dirty="0"/>
              <a:t> בפחות מ-</a:t>
            </a:r>
            <a:r>
              <a:rPr lang="en-US" sz="1400" dirty="0"/>
              <a:t>1/3 </a:t>
            </a:r>
            <a:r>
              <a:rPr lang="he-IL" sz="1400" dirty="0"/>
              <a:t>יח' </a:t>
            </a:r>
            <a:r>
              <a:rPr lang="en-US" sz="1400" dirty="0"/>
              <a:t>Y</a:t>
            </a:r>
            <a:r>
              <a:rPr lang="he-IL" sz="1400" dirty="0"/>
              <a:t>, סין תעדיף לייבא מאשר לייצר בעצמה </a:t>
            </a:r>
            <a:r>
              <a:rPr lang="en-US" sz="1400" dirty="0"/>
              <a:t>X</a:t>
            </a:r>
            <a:r>
              <a:rPr lang="he-IL" sz="1400" dirty="0"/>
              <a:t>ים. </a:t>
            </a:r>
            <a:endParaRPr lang="en-IL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23C25A-4282-49A2-8881-15673BDE2479}"/>
              </a:ext>
            </a:extLst>
          </p:cNvPr>
          <p:cNvSpPr txBox="1"/>
          <p:nvPr/>
        </p:nvSpPr>
        <p:spPr>
          <a:xfrm>
            <a:off x="995234" y="5720907"/>
            <a:ext cx="749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dirty="0"/>
              <a:t>300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AE4828-DDC9-453C-945B-8EF0AD4E97E7}"/>
              </a:ext>
            </a:extLst>
          </p:cNvPr>
          <p:cNvSpPr txBox="1"/>
          <p:nvPr/>
        </p:nvSpPr>
        <p:spPr>
          <a:xfrm>
            <a:off x="1330852" y="3644090"/>
            <a:ext cx="9342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e-IL" dirty="0"/>
              <a:t>ישראל</a:t>
            </a:r>
            <a:endParaRPr lang="en-IL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75902B6-EFA5-4793-9D6D-BEE5C74543AD}"/>
              </a:ext>
            </a:extLst>
          </p:cNvPr>
          <p:cNvCxnSpPr>
            <a:cxnSpLocks/>
          </p:cNvCxnSpPr>
          <p:nvPr/>
        </p:nvCxnSpPr>
        <p:spPr>
          <a:xfrm>
            <a:off x="3268956" y="5788906"/>
            <a:ext cx="38233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F974FE1-E254-4A0F-9CCF-DB5EF3DAB92B}"/>
              </a:ext>
            </a:extLst>
          </p:cNvPr>
          <p:cNvCxnSpPr>
            <a:cxnSpLocks/>
          </p:cNvCxnSpPr>
          <p:nvPr/>
        </p:nvCxnSpPr>
        <p:spPr>
          <a:xfrm flipH="1" flipV="1">
            <a:off x="3260397" y="3522592"/>
            <a:ext cx="15459" cy="22310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FD477E5-976C-43F5-B4E5-9B6B2931B045}"/>
              </a:ext>
            </a:extLst>
          </p:cNvPr>
          <p:cNvSpPr txBox="1"/>
          <p:nvPr/>
        </p:nvSpPr>
        <p:spPr>
          <a:xfrm>
            <a:off x="7190515" y="5789738"/>
            <a:ext cx="2412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7D8471-78EE-4F5F-8B77-5869535A46C3}"/>
              </a:ext>
            </a:extLst>
          </p:cNvPr>
          <p:cNvSpPr txBox="1"/>
          <p:nvPr/>
        </p:nvSpPr>
        <p:spPr>
          <a:xfrm>
            <a:off x="2928003" y="3375897"/>
            <a:ext cx="329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52E8A6-DCE1-4C2B-9C32-DAE465C8AFED}"/>
              </a:ext>
            </a:extLst>
          </p:cNvPr>
          <p:cNvSpPr txBox="1"/>
          <p:nvPr/>
        </p:nvSpPr>
        <p:spPr>
          <a:xfrm>
            <a:off x="2543997" y="3802828"/>
            <a:ext cx="749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23D20D-8A7A-41E1-BDD7-0B0229571769}"/>
              </a:ext>
            </a:extLst>
          </p:cNvPr>
          <p:cNvSpPr txBox="1"/>
          <p:nvPr/>
        </p:nvSpPr>
        <p:spPr>
          <a:xfrm>
            <a:off x="5706386" y="5540959"/>
            <a:ext cx="828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-1/3</a:t>
            </a:r>
            <a:endParaRPr 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0F04B9-314B-4E00-9B11-3358C4E79CBD}"/>
              </a:ext>
            </a:extLst>
          </p:cNvPr>
          <p:cNvSpPr txBox="1"/>
          <p:nvPr/>
        </p:nvSpPr>
        <p:spPr>
          <a:xfrm>
            <a:off x="6352339" y="5864683"/>
            <a:ext cx="749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2700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06516B-D001-41F2-81C8-DCD3461B0FF8}"/>
              </a:ext>
            </a:extLst>
          </p:cNvPr>
          <p:cNvSpPr txBox="1"/>
          <p:nvPr/>
        </p:nvSpPr>
        <p:spPr>
          <a:xfrm>
            <a:off x="4188991" y="3639553"/>
            <a:ext cx="613951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he-IL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סין</a:t>
            </a:r>
            <a:endParaRPr lang="en-IL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35F69F5-362D-4CB0-95BA-C0902D4BE49F}"/>
              </a:ext>
            </a:extLst>
          </p:cNvPr>
          <p:cNvCxnSpPr>
            <a:cxnSpLocks/>
          </p:cNvCxnSpPr>
          <p:nvPr/>
        </p:nvCxnSpPr>
        <p:spPr>
          <a:xfrm>
            <a:off x="3286718" y="3869668"/>
            <a:ext cx="3675024" cy="193775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D4A3D8-946D-413F-8887-E85A8C83AE5F}"/>
              </a:ext>
            </a:extLst>
          </p:cNvPr>
          <p:cNvCxnSpPr>
            <a:cxnSpLocks/>
          </p:cNvCxnSpPr>
          <p:nvPr/>
        </p:nvCxnSpPr>
        <p:spPr>
          <a:xfrm>
            <a:off x="899590" y="4584627"/>
            <a:ext cx="1049760" cy="106846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C5A199F-E155-436E-A1ED-52907167831F}"/>
              </a:ext>
            </a:extLst>
          </p:cNvPr>
          <p:cNvCxnSpPr>
            <a:cxnSpLocks/>
          </p:cNvCxnSpPr>
          <p:nvPr/>
        </p:nvCxnSpPr>
        <p:spPr>
          <a:xfrm>
            <a:off x="3867348" y="3429438"/>
            <a:ext cx="3026549" cy="23483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D207C8D-5FE3-4755-8D6F-F57D4B7C92E1}"/>
              </a:ext>
            </a:extLst>
          </p:cNvPr>
          <p:cNvSpPr txBox="1"/>
          <p:nvPr/>
        </p:nvSpPr>
        <p:spPr>
          <a:xfrm>
            <a:off x="581657" y="199559"/>
            <a:ext cx="6608858" cy="715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>
              <a:lnSpc>
                <a:spcPct val="115000"/>
              </a:lnSpc>
              <a:spcAft>
                <a:spcPts val="800"/>
              </a:spcAft>
            </a:pP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בישראל ובסין מייצרים שני מוצרים בלבד, 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ו 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b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לישראל 100 עובדים שכל אחד מהם מסוגל לייצר שלוש יחידות 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או ארבע יחידות 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b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ולסין 900 עובדים שכל אחד מהם מסוגל לייצר שלוש יחידות 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או יחידת 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אחת. איזו מהטענות הבאות נכונה?</a:t>
            </a:r>
            <a:endParaRPr lang="en-I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CEAC86F-3AD4-419E-8D95-F5121E449919}"/>
              </a:ext>
            </a:extLst>
          </p:cNvPr>
          <p:cNvSpPr/>
          <p:nvPr/>
        </p:nvSpPr>
        <p:spPr>
          <a:xfrm>
            <a:off x="154181" y="1810338"/>
            <a:ext cx="3800714" cy="7386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he-IL" sz="1400" dirty="0"/>
              <a:t>2. לא נכון, ישראל תעדיף לייצר בעצמה את מוצר </a:t>
            </a:r>
            <a:r>
              <a:rPr lang="en-US" sz="1400" dirty="0"/>
              <a:t>X</a:t>
            </a:r>
            <a:r>
              <a:rPr lang="he-IL" sz="1400" dirty="0"/>
              <a:t> כיוון שזול יותר לייצר אותו בעצמה במחיר שהוא מעל 1.33 יח' </a:t>
            </a:r>
            <a:r>
              <a:rPr lang="en-US" sz="1400" dirty="0"/>
              <a:t>Y</a:t>
            </a:r>
            <a:r>
              <a:rPr lang="he-IL" sz="1400" dirty="0"/>
              <a:t>. </a:t>
            </a:r>
            <a:endParaRPr lang="en-IL" sz="14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111DD7F-EE90-4756-9607-7E08A1C1F0A4}"/>
              </a:ext>
            </a:extLst>
          </p:cNvPr>
          <p:cNvSpPr/>
          <p:nvPr/>
        </p:nvSpPr>
        <p:spPr>
          <a:xfrm>
            <a:off x="48993" y="2701856"/>
            <a:ext cx="3800714" cy="7386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he-IL" sz="1400" dirty="0"/>
              <a:t>3. לא נכון, כדאי לסחור בין משקים כאשר לכל משק ישנו יתרון יחסי בייצור מוצר אחר, ללא תלות ביתרון מוחלט. </a:t>
            </a:r>
            <a:endParaRPr lang="en-IL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AEF2CB-F380-4244-B565-D211BEE73FE2}"/>
              </a:ext>
            </a:extLst>
          </p:cNvPr>
          <p:cNvSpPr/>
          <p:nvPr/>
        </p:nvSpPr>
        <p:spPr>
          <a:xfrm>
            <a:off x="3985056" y="1081394"/>
            <a:ext cx="5079028" cy="6802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74FB9CB-8F21-4061-ABC3-DEEFD33D1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895" y="1050462"/>
            <a:ext cx="5079028" cy="3777307"/>
          </a:xfrm>
        </p:spPr>
        <p:txBody>
          <a:bodyPr>
            <a:normAutofit/>
          </a:bodyPr>
          <a:lstStyle/>
          <a:p>
            <a:pPr marL="342900" lvl="0" indent="-342900" algn="just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245110" algn="l"/>
                <a:tab pos="499110" algn="l"/>
              </a:tabLst>
            </a:pPr>
            <a:r>
              <a:rPr lang="he-IL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(א) אם צריך יהיה לשלם תמורת יחידת 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פחות מ 0.333 יחידת 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סין תרצה לייבא את מוצר 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במקום לייצרו בעצמה.</a:t>
            </a:r>
            <a:endParaRPr lang="en-IL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245110" algn="l"/>
                <a:tab pos="499110" algn="l"/>
              </a:tabLst>
            </a:pPr>
            <a:r>
              <a:rPr lang="he-IL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(ב) אם צריך יהיה לשלם תמורת יחידת 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יותר מ 1.333 יחידות 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ישראל תרצה לייבא את מוצר 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במקום לייצרו בעצמה.</a:t>
            </a:r>
            <a:endParaRPr lang="en-IL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245110" algn="l"/>
                <a:tab pos="499110" algn="l"/>
              </a:tabLst>
            </a:pPr>
            <a:r>
              <a:rPr lang="he-IL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סין לא תרצה לסחור עם ישראל מכיוון שבסה"כ היא יכולה לייצר יותר יחידות 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וגם יותר יחידות 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he-IL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בהשוואה לישראל.</a:t>
            </a:r>
            <a:endParaRPr lang="en-IL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245110" algn="l"/>
                <a:tab pos="499110" algn="l"/>
              </a:tabLst>
            </a:pPr>
            <a:r>
              <a:rPr lang="he-IL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תשובות (א) ו (ב) נכונות</a:t>
            </a:r>
            <a:endParaRPr lang="en-IL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245110" algn="l"/>
                <a:tab pos="499110" algn="l"/>
              </a:tabLst>
            </a:pPr>
            <a:r>
              <a:rPr lang="he-IL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כל התשובות האחרות אינן נכונות</a:t>
            </a:r>
            <a:endParaRPr lang="en-IL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1360F1E8-0FDE-EA40-94AB-2CE6F673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</p:spTree>
    <p:extLst>
      <p:ext uri="{BB962C8B-B14F-4D97-AF65-F5344CB8AC3E}">
        <p14:creationId xmlns:p14="http://schemas.microsoft.com/office/powerpoint/2010/main" val="164255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50" grpId="0" animBg="1"/>
      <p:bldP spid="51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7272182" y="0"/>
            <a:ext cx="1979712" cy="759227"/>
          </a:xfrm>
        </p:spPr>
        <p:txBody>
          <a:bodyPr>
            <a:normAutofit fontScale="90000"/>
          </a:bodyPr>
          <a:lstStyle/>
          <a:p>
            <a:r>
              <a:rPr lang="he-IL" dirty="0">
                <a:cs typeface="+mn-cs"/>
              </a:rPr>
              <a:t>שאלה 2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24025" y="188640"/>
            <a:ext cx="7343800" cy="1368152"/>
          </a:xfrm>
        </p:spPr>
        <p:txBody>
          <a:bodyPr>
            <a:noAutofit/>
          </a:bodyPr>
          <a:lstStyle/>
          <a:p>
            <a:pPr algn="r"/>
            <a:r>
              <a:rPr lang="he-IL" sz="1800" dirty="0">
                <a:solidFill>
                  <a:schemeClr val="tx1"/>
                </a:solidFill>
              </a:rPr>
              <a:t>קיימים שני משקים- אנגליה וישראל. האפשרות היחידה למסחר בינלאומי עבור שני 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he-IL" sz="1800" dirty="0">
                <a:solidFill>
                  <a:schemeClr val="tx1"/>
                </a:solidFill>
              </a:rPr>
              <a:t>המשקים היא לסחור אחד עם השני. לרשות כל משק 50 עובדים.  </a:t>
            </a:r>
            <a:endParaRPr lang="en-US" sz="1800" dirty="0">
              <a:solidFill>
                <a:schemeClr val="tx1"/>
              </a:solidFill>
            </a:endParaRPr>
          </a:p>
          <a:p>
            <a:pPr algn="r"/>
            <a:r>
              <a:rPr lang="he-IL" sz="1800" dirty="0">
                <a:solidFill>
                  <a:schemeClr val="tx1"/>
                </a:solidFill>
              </a:rPr>
              <a:t>כל עובד באנגליה מסוגל לייצר 15 טון תפוזים או 10 מכונות באותה יחידת זמן.</a:t>
            </a:r>
            <a:endParaRPr lang="en-US" sz="1800" dirty="0">
              <a:solidFill>
                <a:schemeClr val="tx1"/>
              </a:solidFill>
            </a:endParaRPr>
          </a:p>
          <a:p>
            <a:pPr algn="r"/>
            <a:r>
              <a:rPr lang="he-IL" sz="1800" dirty="0">
                <a:solidFill>
                  <a:schemeClr val="tx1"/>
                </a:solidFill>
              </a:rPr>
              <a:t>כל עובד בישראל מסוגל לייצר 22 טון תפוזים או 11 מכונות באותה יחידת זמן.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7" name="מחבר חץ ישר 6"/>
          <p:cNvCxnSpPr/>
          <p:nvPr/>
        </p:nvCxnSpPr>
        <p:spPr>
          <a:xfrm flipV="1">
            <a:off x="788965" y="6264339"/>
            <a:ext cx="3432656" cy="12513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חץ ישר 7"/>
          <p:cNvCxnSpPr/>
          <p:nvPr/>
        </p:nvCxnSpPr>
        <p:spPr>
          <a:xfrm flipH="1" flipV="1">
            <a:off x="787756" y="3215517"/>
            <a:ext cx="1210" cy="3077398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62858" y="6338785"/>
            <a:ext cx="1073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15*50=</a:t>
            </a:r>
          </a:p>
          <a:p>
            <a:r>
              <a:rPr lang="en-US" sz="1600" b="1" dirty="0">
                <a:solidFill>
                  <a:prstClr val="black"/>
                </a:solidFill>
              </a:rPr>
              <a:t>750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3683" y="6324233"/>
            <a:ext cx="729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504D">
                    <a:lumMod val="75000"/>
                  </a:srgbClr>
                </a:solidFill>
              </a:rPr>
              <a:t>450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325" y="2833863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Y </a:t>
            </a:r>
            <a:r>
              <a:rPr lang="he-IL" dirty="0">
                <a:solidFill>
                  <a:prstClr val="black"/>
                </a:solidFill>
              </a:rPr>
              <a:t>  </a:t>
            </a:r>
            <a:r>
              <a:rPr lang="he-IL" sz="1600" dirty="0">
                <a:solidFill>
                  <a:prstClr val="black"/>
                </a:solidFill>
              </a:rPr>
              <a:t>מכונות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73142" y="6264339"/>
            <a:ext cx="870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X</a:t>
            </a:r>
            <a:r>
              <a:rPr lang="he-IL" dirty="0">
                <a:solidFill>
                  <a:prstClr val="black"/>
                </a:solidFill>
              </a:rPr>
              <a:t> </a:t>
            </a:r>
          </a:p>
          <a:p>
            <a:r>
              <a:rPr lang="he-IL" sz="1400" dirty="0">
                <a:solidFill>
                  <a:prstClr val="black"/>
                </a:solidFill>
              </a:rPr>
              <a:t>תפוזים</a:t>
            </a:r>
          </a:p>
        </p:txBody>
      </p:sp>
      <p:cxnSp>
        <p:nvCxnSpPr>
          <p:cNvPr id="17" name="מחבר חץ ישר 16"/>
          <p:cNvCxnSpPr/>
          <p:nvPr/>
        </p:nvCxnSpPr>
        <p:spPr>
          <a:xfrm>
            <a:off x="4937157" y="6287400"/>
            <a:ext cx="403244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מחבר חץ ישר 17"/>
          <p:cNvCxnSpPr/>
          <p:nvPr/>
        </p:nvCxnSpPr>
        <p:spPr>
          <a:xfrm flipH="1" flipV="1">
            <a:off x="4935948" y="3203195"/>
            <a:ext cx="1209" cy="3077398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-281725" y="2864339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Y </a:t>
            </a:r>
            <a:r>
              <a:rPr lang="he-IL" dirty="0">
                <a:solidFill>
                  <a:prstClr val="black"/>
                </a:solidFill>
              </a:rPr>
              <a:t>  </a:t>
            </a:r>
            <a:r>
              <a:rPr lang="he-IL" sz="1600" dirty="0">
                <a:solidFill>
                  <a:prstClr val="black"/>
                </a:solidFill>
              </a:rPr>
              <a:t>מכונות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95925" y="6192825"/>
            <a:ext cx="870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X</a:t>
            </a:r>
            <a:r>
              <a:rPr lang="he-IL" dirty="0">
                <a:solidFill>
                  <a:prstClr val="black"/>
                </a:solidFill>
              </a:rPr>
              <a:t> </a:t>
            </a:r>
            <a:br>
              <a:rPr lang="en-US" dirty="0">
                <a:solidFill>
                  <a:prstClr val="black"/>
                </a:solidFill>
              </a:rPr>
            </a:br>
            <a:r>
              <a:rPr lang="he-IL" sz="1400" dirty="0">
                <a:solidFill>
                  <a:prstClr val="black"/>
                </a:solidFill>
              </a:rPr>
              <a:t>תפוזים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1496" y="3229084"/>
            <a:ext cx="100096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he-IL" dirty="0">
                <a:solidFill>
                  <a:prstClr val="black"/>
                </a:solidFill>
              </a:rPr>
              <a:t>ישראל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4066" y="3140968"/>
            <a:ext cx="87104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he-IL" dirty="0">
                <a:solidFill>
                  <a:prstClr val="black"/>
                </a:solidFill>
              </a:rPr>
              <a:t>אנגליה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245275" y="3581169"/>
            <a:ext cx="1073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10*50=</a:t>
            </a:r>
          </a:p>
          <a:p>
            <a:r>
              <a:rPr lang="en-US" sz="1600" b="1" dirty="0">
                <a:solidFill>
                  <a:prstClr val="black"/>
                </a:solidFill>
              </a:rPr>
              <a:t>500</a:t>
            </a:r>
          </a:p>
        </p:txBody>
      </p:sp>
      <p:cxnSp>
        <p:nvCxnSpPr>
          <p:cNvPr id="31" name="מחבר ישר 30"/>
          <p:cNvCxnSpPr/>
          <p:nvPr/>
        </p:nvCxnSpPr>
        <p:spPr>
          <a:xfrm>
            <a:off x="787756" y="3789040"/>
            <a:ext cx="2681706" cy="2475299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מחבר ישר 33"/>
          <p:cNvCxnSpPr/>
          <p:nvPr/>
        </p:nvCxnSpPr>
        <p:spPr>
          <a:xfrm>
            <a:off x="4944126" y="4187174"/>
            <a:ext cx="3588314" cy="2100226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544078" y="6280593"/>
            <a:ext cx="1073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22*50=</a:t>
            </a:r>
          </a:p>
          <a:p>
            <a:r>
              <a:rPr lang="en-US" sz="1600" b="1" dirty="0">
                <a:solidFill>
                  <a:prstClr val="black"/>
                </a:solidFill>
              </a:rPr>
              <a:t>1100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62590" y="4007136"/>
            <a:ext cx="1073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11*50=</a:t>
            </a:r>
          </a:p>
          <a:p>
            <a:r>
              <a:rPr lang="en-US" sz="1600" b="1" dirty="0">
                <a:solidFill>
                  <a:prstClr val="black"/>
                </a:solidFill>
              </a:rPr>
              <a:t>550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681797" y="5962776"/>
                <a:ext cx="55770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𝟎</m:t>
                      </m:r>
                      <m:r>
                        <a:rPr lang="he-IL" sz="1400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.</m:t>
                      </m:r>
                      <m:r>
                        <a:rPr lang="he-IL" sz="1400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𝟔𝟕</m:t>
                      </m:r>
                    </m:oMath>
                  </m:oMathPara>
                </a14:m>
                <a:endParaRPr lang="he-IL" sz="14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797" y="5962776"/>
                <a:ext cx="557702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קשת 40"/>
          <p:cNvSpPr/>
          <p:nvPr/>
        </p:nvSpPr>
        <p:spPr>
          <a:xfrm rot="16459148">
            <a:off x="2472628" y="5903932"/>
            <a:ext cx="1080120" cy="936105"/>
          </a:xfrm>
          <a:prstGeom prst="arc">
            <a:avLst>
              <a:gd name="adj1" fmla="val 16607536"/>
              <a:gd name="adj2" fmla="val 2129524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7402065" y="5972816"/>
                <a:ext cx="55770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1F497D">
                              <a:lumMod val="60000"/>
                              <a:lumOff val="40000"/>
                            </a:srgbClr>
                          </a:solidFill>
                          <a:latin typeface="Cambria Math"/>
                        </a:rPr>
                        <m:t>𝟎</m:t>
                      </m:r>
                      <m:r>
                        <a:rPr lang="he-IL" sz="1400" b="1" i="1" smtClean="0">
                          <a:solidFill>
                            <a:srgbClr val="1F497D">
                              <a:lumMod val="60000"/>
                              <a:lumOff val="40000"/>
                            </a:srgbClr>
                          </a:solidFill>
                          <a:latin typeface="Cambria Math"/>
                        </a:rPr>
                        <m:t>.</m:t>
                      </m:r>
                      <m:r>
                        <a:rPr lang="he-IL" sz="1400" b="1" i="1" smtClean="0">
                          <a:solidFill>
                            <a:srgbClr val="1F497D">
                              <a:lumMod val="60000"/>
                              <a:lumOff val="40000"/>
                            </a:srgbClr>
                          </a:solidFill>
                          <a:latin typeface="Cambria Math"/>
                        </a:rPr>
                        <m:t>𝟓</m:t>
                      </m:r>
                    </m:oMath>
                  </m:oMathPara>
                </a14:m>
                <a:endParaRPr lang="he-IL" sz="1400" b="1" dirty="0">
                  <a:solidFill>
                    <a:srgbClr val="1F497D">
                      <a:lumMod val="60000"/>
                      <a:lumOff val="40000"/>
                    </a:srgbClr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065" y="5972816"/>
                <a:ext cx="557702" cy="30777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קשת 42"/>
          <p:cNvSpPr/>
          <p:nvPr/>
        </p:nvSpPr>
        <p:spPr>
          <a:xfrm rot="16459148">
            <a:off x="7239519" y="5903931"/>
            <a:ext cx="1080120" cy="936105"/>
          </a:xfrm>
          <a:prstGeom prst="arc">
            <a:avLst>
              <a:gd name="adj1" fmla="val 16607536"/>
              <a:gd name="adj2" fmla="val 21295240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black"/>
              </a:solidFill>
            </a:endParaRPr>
          </a:p>
        </p:txBody>
      </p:sp>
      <p:cxnSp>
        <p:nvCxnSpPr>
          <p:cNvPr id="44" name="מחבר ישר 43"/>
          <p:cNvCxnSpPr/>
          <p:nvPr/>
        </p:nvCxnSpPr>
        <p:spPr>
          <a:xfrm>
            <a:off x="2243975" y="5145205"/>
            <a:ext cx="0" cy="112534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מחבר ישר 44"/>
          <p:cNvCxnSpPr/>
          <p:nvPr/>
        </p:nvCxnSpPr>
        <p:spPr>
          <a:xfrm>
            <a:off x="6312253" y="5033300"/>
            <a:ext cx="0" cy="1259615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מחבר ישר 47"/>
          <p:cNvCxnSpPr/>
          <p:nvPr/>
        </p:nvCxnSpPr>
        <p:spPr>
          <a:xfrm flipH="1">
            <a:off x="803281" y="5140923"/>
            <a:ext cx="1416308" cy="4282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429" y="4971646"/>
            <a:ext cx="729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504D">
                    <a:lumMod val="75000"/>
                  </a:srgbClr>
                </a:solidFill>
              </a:rPr>
              <a:t>200</a:t>
            </a:r>
          </a:p>
        </p:txBody>
      </p:sp>
      <p:cxnSp>
        <p:nvCxnSpPr>
          <p:cNvPr id="53" name="מחבר ישר 52"/>
          <p:cNvCxnSpPr/>
          <p:nvPr/>
        </p:nvCxnSpPr>
        <p:spPr>
          <a:xfrm flipH="1">
            <a:off x="4935947" y="5001765"/>
            <a:ext cx="1376306" cy="2959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851644" y="6266653"/>
            <a:ext cx="729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440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61390" y="4914066"/>
            <a:ext cx="729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330</a:t>
            </a:r>
          </a:p>
        </p:txBody>
      </p:sp>
      <p:sp>
        <p:nvSpPr>
          <p:cNvPr id="4" name="מלבן 3"/>
          <p:cNvSpPr/>
          <p:nvPr/>
        </p:nvSpPr>
        <p:spPr>
          <a:xfrm>
            <a:off x="1252521" y="1664312"/>
            <a:ext cx="739718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dirty="0">
                <a:solidFill>
                  <a:prstClr val="black"/>
                </a:solidFill>
              </a:rPr>
              <a:t>כאשר המשקים אינם מקיימים ביניהם מסחר, הכמויות המיוצרות בכל משק הן: </a:t>
            </a:r>
            <a:br>
              <a:rPr lang="en-US" dirty="0">
                <a:solidFill>
                  <a:prstClr val="black"/>
                </a:solidFill>
              </a:rPr>
            </a:br>
            <a:r>
              <a:rPr lang="he-IL" dirty="0">
                <a:solidFill>
                  <a:prstClr val="black"/>
                </a:solidFill>
              </a:rPr>
              <a:t>ב</a:t>
            </a:r>
            <a:r>
              <a:rPr lang="he-IL" b="1" dirty="0">
                <a:solidFill>
                  <a:srgbClr val="C0504D"/>
                </a:solidFill>
              </a:rPr>
              <a:t>אנגליה</a:t>
            </a:r>
            <a:r>
              <a:rPr lang="he-IL" dirty="0">
                <a:solidFill>
                  <a:prstClr val="black"/>
                </a:solidFill>
              </a:rPr>
              <a:t>- 450 טון תפוזים ו-200 מכונות </a:t>
            </a:r>
            <a:br>
              <a:rPr lang="en-US" dirty="0">
                <a:solidFill>
                  <a:prstClr val="black"/>
                </a:solidFill>
              </a:rPr>
            </a:br>
            <a:r>
              <a:rPr lang="he-IL" dirty="0">
                <a:solidFill>
                  <a:prstClr val="black"/>
                </a:solidFill>
              </a:rPr>
              <a:t>וב</a:t>
            </a:r>
            <a:r>
              <a:rPr lang="he-IL" b="1" dirty="0">
                <a:solidFill>
                  <a:srgbClr val="1F497D"/>
                </a:solidFill>
              </a:rPr>
              <a:t>ישראל</a:t>
            </a:r>
            <a:r>
              <a:rPr lang="he-IL" dirty="0">
                <a:solidFill>
                  <a:prstClr val="black"/>
                </a:solidFill>
              </a:rPr>
              <a:t>- 440 טון תפוזים ו-330 מכונות.</a:t>
            </a:r>
            <a:endParaRPr lang="en-US" dirty="0">
              <a:solidFill>
                <a:prstClr val="black"/>
              </a:solidFill>
            </a:endParaRPr>
          </a:p>
          <a:p>
            <a:r>
              <a:rPr lang="he-IL" sz="1600" dirty="0">
                <a:solidFill>
                  <a:prstClr val="black"/>
                </a:solidFill>
              </a:rPr>
              <a:t>א. הצג באיור את עקומת התמורה של כל משק בנפרד.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DD6E6BA-0588-7A6E-EB45-1A5654000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113D5A2-3A52-2449-EC68-6E667936E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388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/>
      <p:bldP spid="16" grpId="0"/>
      <p:bldP spid="25" grpId="0"/>
      <p:bldP spid="26" grpId="0"/>
      <p:bldP spid="27" grpId="0" animBg="1"/>
      <p:bldP spid="28" grpId="0" animBg="1"/>
      <p:bldP spid="29" grpId="0"/>
      <p:bldP spid="38" grpId="0"/>
      <p:bldP spid="39" grpId="0"/>
      <p:bldP spid="40" grpId="0"/>
      <p:bldP spid="41" grpId="0" animBg="1"/>
      <p:bldP spid="42" grpId="0"/>
      <p:bldP spid="43" grpId="0" animBg="1"/>
      <p:bldP spid="51" grpId="0"/>
      <p:bldP spid="57" grpId="0"/>
      <p:bldP spid="58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7164288" y="5477"/>
            <a:ext cx="1979712" cy="759227"/>
          </a:xfrm>
        </p:spPr>
        <p:txBody>
          <a:bodyPr>
            <a:normAutofit fontScale="90000"/>
          </a:bodyPr>
          <a:lstStyle/>
          <a:p>
            <a:r>
              <a:rPr lang="he-IL" dirty="0">
                <a:cs typeface="+mn-cs"/>
              </a:rPr>
              <a:t>שאלה 2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-35425" y="143709"/>
            <a:ext cx="7429228" cy="1008112"/>
          </a:xfrm>
        </p:spPr>
        <p:txBody>
          <a:bodyPr>
            <a:noAutofit/>
          </a:bodyPr>
          <a:lstStyle/>
          <a:p>
            <a:pPr algn="r"/>
            <a:r>
              <a:rPr lang="he-IL" sz="1600" dirty="0">
                <a:solidFill>
                  <a:schemeClr val="tx1"/>
                </a:solidFill>
              </a:rPr>
              <a:t>ב. למי מהמשקים יש יתרון יחסי בייצור תפוזים? למי מהמשקים יתרון יחסי בייצור מכונות? </a:t>
            </a:r>
            <a:endParaRPr lang="en-US" sz="1600" dirty="0">
              <a:solidFill>
                <a:schemeClr val="tx1"/>
              </a:solidFill>
            </a:endParaRPr>
          </a:p>
          <a:p>
            <a:pPr algn="r"/>
            <a:r>
              <a:rPr lang="he-IL" sz="1600" dirty="0">
                <a:solidFill>
                  <a:schemeClr val="tx1"/>
                </a:solidFill>
              </a:rPr>
              <a:t>ג. למי מהמשקים יש יתרון מוחלט בייצור תפוזים? למי מהמשקים יתרון מוחלט בייצור מכונות?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7" name="מחבר חץ ישר 6"/>
          <p:cNvCxnSpPr/>
          <p:nvPr/>
        </p:nvCxnSpPr>
        <p:spPr>
          <a:xfrm flipV="1">
            <a:off x="788965" y="6264339"/>
            <a:ext cx="3432656" cy="12513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חץ ישר 7"/>
          <p:cNvCxnSpPr/>
          <p:nvPr/>
        </p:nvCxnSpPr>
        <p:spPr>
          <a:xfrm flipH="1" flipV="1">
            <a:off x="787756" y="3480194"/>
            <a:ext cx="1210" cy="2812721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62858" y="6338785"/>
            <a:ext cx="1073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15*50=</a:t>
            </a:r>
          </a:p>
          <a:p>
            <a:r>
              <a:rPr lang="en-US" sz="1600" b="1" dirty="0">
                <a:solidFill>
                  <a:prstClr val="black"/>
                </a:solidFill>
              </a:rPr>
              <a:t>750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3683" y="6324233"/>
            <a:ext cx="729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504D">
                    <a:lumMod val="75000"/>
                  </a:srgbClr>
                </a:solidFill>
              </a:rPr>
              <a:t>450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9189" y="350270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Y </a:t>
            </a:r>
            <a:r>
              <a:rPr lang="he-IL" dirty="0">
                <a:solidFill>
                  <a:prstClr val="black"/>
                </a:solidFill>
              </a:rPr>
              <a:t>  </a:t>
            </a:r>
            <a:r>
              <a:rPr lang="he-IL" sz="1600" dirty="0">
                <a:solidFill>
                  <a:prstClr val="black"/>
                </a:solidFill>
              </a:rPr>
              <a:t>מכונות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73142" y="6264339"/>
            <a:ext cx="870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X</a:t>
            </a:r>
            <a:r>
              <a:rPr lang="he-IL" dirty="0">
                <a:solidFill>
                  <a:prstClr val="black"/>
                </a:solidFill>
              </a:rPr>
              <a:t> </a:t>
            </a:r>
          </a:p>
          <a:p>
            <a:r>
              <a:rPr lang="he-IL" sz="1400" dirty="0">
                <a:solidFill>
                  <a:prstClr val="black"/>
                </a:solidFill>
              </a:rPr>
              <a:t>תפוזים</a:t>
            </a:r>
          </a:p>
        </p:txBody>
      </p:sp>
      <p:cxnSp>
        <p:nvCxnSpPr>
          <p:cNvPr id="17" name="מחבר חץ ישר 16"/>
          <p:cNvCxnSpPr/>
          <p:nvPr/>
        </p:nvCxnSpPr>
        <p:spPr>
          <a:xfrm>
            <a:off x="4937157" y="6287400"/>
            <a:ext cx="403244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מחבר חץ ישר 17"/>
          <p:cNvCxnSpPr/>
          <p:nvPr/>
        </p:nvCxnSpPr>
        <p:spPr>
          <a:xfrm flipH="1" flipV="1">
            <a:off x="4935947" y="3872036"/>
            <a:ext cx="1211" cy="2408558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-304148" y="311086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Y </a:t>
            </a:r>
            <a:r>
              <a:rPr lang="he-IL" dirty="0">
                <a:solidFill>
                  <a:prstClr val="black"/>
                </a:solidFill>
              </a:rPr>
              <a:t>  </a:t>
            </a:r>
            <a:r>
              <a:rPr lang="he-IL" sz="1600" dirty="0">
                <a:solidFill>
                  <a:prstClr val="black"/>
                </a:solidFill>
              </a:rPr>
              <a:t>מכונות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95925" y="6192825"/>
            <a:ext cx="870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X</a:t>
            </a:r>
            <a:r>
              <a:rPr lang="he-IL" dirty="0">
                <a:solidFill>
                  <a:prstClr val="black"/>
                </a:solidFill>
              </a:rPr>
              <a:t> </a:t>
            </a:r>
            <a:br>
              <a:rPr lang="en-US" dirty="0">
                <a:solidFill>
                  <a:prstClr val="black"/>
                </a:solidFill>
              </a:rPr>
            </a:br>
            <a:r>
              <a:rPr lang="he-IL" sz="1400" dirty="0">
                <a:solidFill>
                  <a:prstClr val="black"/>
                </a:solidFill>
              </a:rPr>
              <a:t>תפוזים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3598" y="3897504"/>
            <a:ext cx="100096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he-IL" dirty="0">
                <a:solidFill>
                  <a:prstClr val="black"/>
                </a:solidFill>
              </a:rPr>
              <a:t>ישראל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9589" y="3892183"/>
            <a:ext cx="87104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he-IL" dirty="0">
                <a:solidFill>
                  <a:prstClr val="black"/>
                </a:solidFill>
              </a:rPr>
              <a:t>אנגליה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245275" y="3581169"/>
            <a:ext cx="1073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10*50=</a:t>
            </a:r>
          </a:p>
          <a:p>
            <a:r>
              <a:rPr lang="en-US" sz="1600" b="1" dirty="0">
                <a:solidFill>
                  <a:prstClr val="black"/>
                </a:solidFill>
              </a:rPr>
              <a:t>500</a:t>
            </a:r>
          </a:p>
        </p:txBody>
      </p:sp>
      <p:cxnSp>
        <p:nvCxnSpPr>
          <p:cNvPr id="31" name="מחבר ישר 30"/>
          <p:cNvCxnSpPr/>
          <p:nvPr/>
        </p:nvCxnSpPr>
        <p:spPr>
          <a:xfrm>
            <a:off x="787756" y="3789040"/>
            <a:ext cx="2681706" cy="2475299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מחבר ישר 33"/>
          <p:cNvCxnSpPr/>
          <p:nvPr/>
        </p:nvCxnSpPr>
        <p:spPr>
          <a:xfrm>
            <a:off x="4944126" y="4187174"/>
            <a:ext cx="3588314" cy="2100226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544078" y="6280593"/>
            <a:ext cx="1073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22*50=</a:t>
            </a:r>
          </a:p>
          <a:p>
            <a:r>
              <a:rPr lang="en-US" sz="1600" b="1" dirty="0">
                <a:solidFill>
                  <a:prstClr val="black"/>
                </a:solidFill>
              </a:rPr>
              <a:t>1100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62590" y="4007136"/>
            <a:ext cx="1073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11*50=</a:t>
            </a:r>
          </a:p>
          <a:p>
            <a:r>
              <a:rPr lang="en-US" sz="1600" b="1" dirty="0">
                <a:solidFill>
                  <a:prstClr val="black"/>
                </a:solidFill>
              </a:rPr>
              <a:t>550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681797" y="5962776"/>
                <a:ext cx="55770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𝟎</m:t>
                      </m:r>
                      <m:r>
                        <a:rPr lang="he-IL" sz="1400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.</m:t>
                      </m:r>
                      <m:r>
                        <a:rPr lang="he-IL" sz="1400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𝟔𝟕</m:t>
                      </m:r>
                    </m:oMath>
                  </m:oMathPara>
                </a14:m>
                <a:endParaRPr lang="he-IL" sz="14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797" y="5962776"/>
                <a:ext cx="557702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קשת 40"/>
          <p:cNvSpPr/>
          <p:nvPr/>
        </p:nvSpPr>
        <p:spPr>
          <a:xfrm rot="16459148">
            <a:off x="2472628" y="5903932"/>
            <a:ext cx="1080120" cy="936105"/>
          </a:xfrm>
          <a:prstGeom prst="arc">
            <a:avLst>
              <a:gd name="adj1" fmla="val 16607536"/>
              <a:gd name="adj2" fmla="val 2129524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7402065" y="5972816"/>
                <a:ext cx="55770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1F497D">
                              <a:lumMod val="60000"/>
                              <a:lumOff val="40000"/>
                            </a:srgbClr>
                          </a:solidFill>
                          <a:latin typeface="Cambria Math"/>
                        </a:rPr>
                        <m:t>𝟎</m:t>
                      </m:r>
                      <m:r>
                        <a:rPr lang="he-IL" sz="1400" b="1" i="1" smtClean="0">
                          <a:solidFill>
                            <a:srgbClr val="1F497D">
                              <a:lumMod val="60000"/>
                              <a:lumOff val="40000"/>
                            </a:srgbClr>
                          </a:solidFill>
                          <a:latin typeface="Cambria Math"/>
                        </a:rPr>
                        <m:t>.</m:t>
                      </m:r>
                      <m:r>
                        <a:rPr lang="he-IL" sz="1400" b="1" i="1" smtClean="0">
                          <a:solidFill>
                            <a:srgbClr val="1F497D">
                              <a:lumMod val="60000"/>
                              <a:lumOff val="40000"/>
                            </a:srgbClr>
                          </a:solidFill>
                          <a:latin typeface="Cambria Math"/>
                        </a:rPr>
                        <m:t>𝟓</m:t>
                      </m:r>
                    </m:oMath>
                  </m:oMathPara>
                </a14:m>
                <a:endParaRPr lang="he-IL" sz="1400" b="1" dirty="0">
                  <a:solidFill>
                    <a:srgbClr val="1F497D">
                      <a:lumMod val="60000"/>
                      <a:lumOff val="40000"/>
                    </a:srgbClr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065" y="5972816"/>
                <a:ext cx="557702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קשת 42"/>
          <p:cNvSpPr/>
          <p:nvPr/>
        </p:nvSpPr>
        <p:spPr>
          <a:xfrm rot="16459148">
            <a:off x="7239519" y="5903931"/>
            <a:ext cx="1080120" cy="936105"/>
          </a:xfrm>
          <a:prstGeom prst="arc">
            <a:avLst>
              <a:gd name="adj1" fmla="val 16607536"/>
              <a:gd name="adj2" fmla="val 21295240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black"/>
              </a:solidFill>
            </a:endParaRPr>
          </a:p>
        </p:txBody>
      </p:sp>
      <p:cxnSp>
        <p:nvCxnSpPr>
          <p:cNvPr id="44" name="מחבר ישר 43"/>
          <p:cNvCxnSpPr/>
          <p:nvPr/>
        </p:nvCxnSpPr>
        <p:spPr>
          <a:xfrm>
            <a:off x="2243975" y="5145205"/>
            <a:ext cx="0" cy="112534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מחבר ישר 44"/>
          <p:cNvCxnSpPr/>
          <p:nvPr/>
        </p:nvCxnSpPr>
        <p:spPr>
          <a:xfrm>
            <a:off x="6312253" y="5033300"/>
            <a:ext cx="0" cy="1259615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מחבר ישר 47"/>
          <p:cNvCxnSpPr/>
          <p:nvPr/>
        </p:nvCxnSpPr>
        <p:spPr>
          <a:xfrm flipH="1">
            <a:off x="803281" y="5140923"/>
            <a:ext cx="1416308" cy="4282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429" y="4971646"/>
            <a:ext cx="729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504D">
                    <a:lumMod val="75000"/>
                  </a:srgbClr>
                </a:solidFill>
              </a:rPr>
              <a:t>200</a:t>
            </a:r>
          </a:p>
        </p:txBody>
      </p:sp>
      <p:cxnSp>
        <p:nvCxnSpPr>
          <p:cNvPr id="53" name="מחבר ישר 52"/>
          <p:cNvCxnSpPr/>
          <p:nvPr/>
        </p:nvCxnSpPr>
        <p:spPr>
          <a:xfrm flipH="1">
            <a:off x="4935947" y="5001765"/>
            <a:ext cx="1376306" cy="2959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851644" y="6266653"/>
            <a:ext cx="729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440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61390" y="4914066"/>
            <a:ext cx="729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330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547664" y="2290860"/>
                <a:ext cx="7349514" cy="40312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he-IL" i="1" smtClean="0">
                        <a:solidFill>
                          <a:srgbClr val="1F497D">
                            <a:lumMod val="60000"/>
                            <a:lumOff val="40000"/>
                          </a:srgbClr>
                        </a:solidFill>
                        <a:latin typeface="Cambria Math"/>
                      </a:rPr>
                      <m:t>יתרון</m:t>
                    </m:r>
                    <m:r>
                      <a:rPr lang="he-IL" i="1" smtClean="0">
                        <a:solidFill>
                          <a:srgbClr val="1F497D">
                            <a:lumMod val="60000"/>
                            <a:lumOff val="40000"/>
                          </a:srgbClr>
                        </a:solidFill>
                        <a:latin typeface="Cambria Math"/>
                      </a:rPr>
                      <m:t> </m:t>
                    </m:r>
                    <m:r>
                      <a:rPr lang="he-IL" i="1" smtClean="0">
                        <a:solidFill>
                          <a:srgbClr val="1F497D">
                            <a:lumMod val="60000"/>
                            <a:lumOff val="40000"/>
                          </a:srgbClr>
                        </a:solidFill>
                        <a:latin typeface="Cambria Math"/>
                      </a:rPr>
                      <m:t>לישראל</m:t>
                    </m:r>
                    <m:r>
                      <a:rPr lang="he-IL" smtClean="0">
                        <a:solidFill>
                          <a:srgbClr val="1F497D">
                            <a:lumMod val="60000"/>
                            <a:lumOff val="40000"/>
                          </a:srgbClr>
                        </a:solidFill>
                        <a:latin typeface="Cambria Math"/>
                      </a:rPr>
                      <m:t> </m:t>
                    </m:r>
                    <m:r>
                      <a:rPr lang="he-IL" smtClean="0">
                        <a:solidFill>
                          <a:prstClr val="black"/>
                        </a:solidFill>
                        <a:latin typeface="Cambria Math"/>
                      </a:rPr>
                      <m:t>(</m:t>
                    </m:r>
                    <m:r>
                      <a:rPr lang="he-IL" smtClean="0">
                        <a:solidFill>
                          <a:prstClr val="black"/>
                        </a:solidFill>
                        <a:latin typeface="Cambria Math"/>
                      </a:rPr>
                      <m:t>ג</m:t>
                    </m:r>
                    <m:r>
                      <a:rPr lang="he-IL" smtClean="0">
                        <a:solidFill>
                          <a:prstClr val="black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he-IL" dirty="0">
                    <a:solidFill>
                      <a:srgbClr val="1F497D">
                        <a:lumMod val="60000"/>
                        <a:lumOff val="40000"/>
                      </a:srgbClr>
                    </a:solidFill>
                  </a:rPr>
                  <a:t>  מוחלט בייצור שני המוצרים (22</a:t>
                </a:r>
                <a:r>
                  <a:rPr lang="he-IL" dirty="0"/>
                  <a:t>&gt;</a:t>
                </a:r>
                <a:r>
                  <a:rPr lang="he-IL" dirty="0">
                    <a:solidFill>
                      <a:schemeClr val="accent2"/>
                    </a:solidFill>
                  </a:rPr>
                  <a:t>15</a:t>
                </a:r>
                <a:r>
                  <a:rPr lang="he-IL" dirty="0">
                    <a:solidFill>
                      <a:srgbClr val="1F497D">
                        <a:lumMod val="60000"/>
                        <a:lumOff val="40000"/>
                      </a:srgbClr>
                    </a:solidFill>
                  </a:rPr>
                  <a:t>, 11</a:t>
                </a:r>
                <a:r>
                  <a:rPr lang="he-IL" dirty="0"/>
                  <a:t>&gt;</a:t>
                </a:r>
                <a:r>
                  <a:rPr lang="he-IL" dirty="0">
                    <a:solidFill>
                      <a:schemeClr val="accent2"/>
                    </a:solidFill>
                  </a:rPr>
                  <a:t>10</a:t>
                </a:r>
                <a:r>
                  <a:rPr lang="he-IL" dirty="0">
                    <a:solidFill>
                      <a:srgbClr val="1F497D">
                        <a:lumMod val="60000"/>
                        <a:lumOff val="40000"/>
                      </a:srgbClr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2290860"/>
                <a:ext cx="7349514" cy="403124"/>
              </a:xfrm>
              <a:prstGeom prst="rect">
                <a:avLst/>
              </a:prstGeom>
              <a:blipFill>
                <a:blip r:embed="rId4"/>
                <a:stretch>
                  <a:fillRect r="-746" b="-2424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4178603" y="1593666"/>
            <a:ext cx="471857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prstClr val="black"/>
                </a:solidFill>
              </a:rPr>
              <a:t>(ב) </a:t>
            </a:r>
            <a:r>
              <a:rPr lang="he-IL" dirty="0">
                <a:solidFill>
                  <a:srgbClr val="C0504D">
                    <a:lumMod val="60000"/>
                    <a:lumOff val="40000"/>
                  </a:srgbClr>
                </a:solidFill>
              </a:rPr>
              <a:t>ל</a:t>
            </a:r>
            <a:r>
              <a:rPr lang="he-IL" b="1" dirty="0">
                <a:solidFill>
                  <a:srgbClr val="C0504D">
                    <a:lumMod val="60000"/>
                    <a:lumOff val="40000"/>
                  </a:srgbClr>
                </a:solidFill>
              </a:rPr>
              <a:t>אנגליה</a:t>
            </a:r>
            <a:r>
              <a:rPr lang="he-IL" dirty="0">
                <a:solidFill>
                  <a:srgbClr val="C0504D">
                    <a:lumMod val="60000"/>
                    <a:lumOff val="40000"/>
                  </a:srgbClr>
                </a:solidFill>
              </a:rPr>
              <a:t> יתרון </a:t>
            </a:r>
            <a:r>
              <a:rPr lang="he-IL" b="1" dirty="0">
                <a:solidFill>
                  <a:srgbClr val="C0504D">
                    <a:lumMod val="60000"/>
                    <a:lumOff val="40000"/>
                  </a:srgbClr>
                </a:solidFill>
              </a:rPr>
              <a:t>יחסי</a:t>
            </a:r>
            <a:r>
              <a:rPr lang="he-IL" dirty="0">
                <a:solidFill>
                  <a:srgbClr val="C0504D">
                    <a:lumMod val="60000"/>
                    <a:lumOff val="40000"/>
                  </a:srgbClr>
                </a:solidFill>
              </a:rPr>
              <a:t> בייצור </a:t>
            </a:r>
            <a:r>
              <a:rPr lang="he-IL" b="1" dirty="0">
                <a:solidFill>
                  <a:srgbClr val="C0504D">
                    <a:lumMod val="60000"/>
                    <a:lumOff val="40000"/>
                  </a:srgbClr>
                </a:solidFill>
              </a:rPr>
              <a:t>מכונות</a:t>
            </a:r>
            <a:r>
              <a:rPr lang="he-IL" dirty="0">
                <a:solidFill>
                  <a:srgbClr val="C0504D">
                    <a:lumMod val="60000"/>
                    <a:lumOff val="40000"/>
                  </a:srgbClr>
                </a:solidFill>
              </a:rPr>
              <a:t> </a:t>
            </a:r>
            <a:r>
              <a:rPr lang="he-IL" dirty="0">
                <a:solidFill>
                  <a:prstClr val="black"/>
                </a:solidFill>
              </a:rPr>
              <a:t>(</a:t>
            </a:r>
            <a:r>
              <a:rPr lang="he-IL" b="1" dirty="0">
                <a:solidFill>
                  <a:srgbClr val="C0504D">
                    <a:lumMod val="60000"/>
                    <a:lumOff val="40000"/>
                  </a:srgbClr>
                </a:solidFill>
              </a:rPr>
              <a:t>1.5</a:t>
            </a:r>
            <a:r>
              <a:rPr lang="he-IL" dirty="0">
                <a:solidFill>
                  <a:prstClr val="black"/>
                </a:solidFill>
              </a:rPr>
              <a:t>&lt;</a:t>
            </a:r>
            <a:r>
              <a:rPr lang="he-IL" dirty="0">
                <a:solidFill>
                  <a:srgbClr val="4F81BD"/>
                </a:solidFill>
              </a:rPr>
              <a:t>2</a:t>
            </a:r>
            <a:r>
              <a:rPr lang="he-IL" dirty="0">
                <a:solidFill>
                  <a:prstClr val="black"/>
                </a:solidFill>
              </a:rPr>
              <a:t>) </a:t>
            </a:r>
            <a:br>
              <a:rPr lang="en-US" dirty="0">
                <a:solidFill>
                  <a:prstClr val="black"/>
                </a:solidFill>
              </a:rPr>
            </a:br>
            <a:r>
              <a:rPr lang="he-IL" dirty="0">
                <a:solidFill>
                  <a:srgbClr val="4F81BD"/>
                </a:solidFill>
              </a:rPr>
              <a:t>ול</a:t>
            </a:r>
            <a:r>
              <a:rPr lang="he-IL" b="1" dirty="0">
                <a:solidFill>
                  <a:srgbClr val="4F81BD"/>
                </a:solidFill>
              </a:rPr>
              <a:t>ישראל</a:t>
            </a:r>
            <a:r>
              <a:rPr lang="he-IL" dirty="0">
                <a:solidFill>
                  <a:srgbClr val="4F81BD"/>
                </a:solidFill>
              </a:rPr>
              <a:t> יתרון </a:t>
            </a:r>
            <a:r>
              <a:rPr lang="he-IL" b="1" dirty="0">
                <a:solidFill>
                  <a:srgbClr val="4F81BD"/>
                </a:solidFill>
              </a:rPr>
              <a:t>יחסי</a:t>
            </a:r>
            <a:r>
              <a:rPr lang="he-IL" dirty="0">
                <a:solidFill>
                  <a:srgbClr val="4F81BD"/>
                </a:solidFill>
              </a:rPr>
              <a:t> בייצור </a:t>
            </a:r>
            <a:r>
              <a:rPr lang="en-US" dirty="0">
                <a:solidFill>
                  <a:srgbClr val="4F81BD"/>
                </a:solidFill>
              </a:rPr>
              <a:t>X</a:t>
            </a:r>
            <a:r>
              <a:rPr lang="he-IL" dirty="0">
                <a:solidFill>
                  <a:srgbClr val="4F81BD"/>
                </a:solidFill>
              </a:rPr>
              <a:t> </a:t>
            </a:r>
            <a:r>
              <a:rPr lang="he-IL" b="1" dirty="0">
                <a:solidFill>
                  <a:srgbClr val="4F81BD"/>
                </a:solidFill>
              </a:rPr>
              <a:t>תפוזים</a:t>
            </a:r>
            <a:r>
              <a:rPr lang="he-IL" dirty="0">
                <a:solidFill>
                  <a:srgbClr val="4F81BD"/>
                </a:solidFill>
              </a:rPr>
              <a:t> </a:t>
            </a:r>
            <a:r>
              <a:rPr lang="he-IL" dirty="0">
                <a:solidFill>
                  <a:prstClr val="black"/>
                </a:solidFill>
              </a:rPr>
              <a:t>(</a:t>
            </a:r>
            <a:r>
              <a:rPr lang="he-IL" b="1" dirty="0">
                <a:solidFill>
                  <a:srgbClr val="4F81BD"/>
                </a:solidFill>
              </a:rPr>
              <a:t>0.5</a:t>
            </a:r>
            <a:r>
              <a:rPr lang="he-IL" dirty="0">
                <a:solidFill>
                  <a:prstClr val="black"/>
                </a:solidFill>
              </a:rPr>
              <a:t>&lt;</a:t>
            </a:r>
            <a:r>
              <a:rPr lang="he-IL" b="1" dirty="0">
                <a:solidFill>
                  <a:srgbClr val="C0504D">
                    <a:lumMod val="60000"/>
                    <a:lumOff val="40000"/>
                  </a:srgbClr>
                </a:solidFill>
              </a:rPr>
              <a:t>0.67</a:t>
            </a:r>
            <a:r>
              <a:rPr lang="he-IL" dirty="0">
                <a:solidFill>
                  <a:prstClr val="black"/>
                </a:solidFill>
              </a:rPr>
              <a:t>).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36B45C0-A4E6-3981-E1A4-C74FBB7CC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9006" y="6580320"/>
            <a:ext cx="2895600" cy="365125"/>
          </a:xfrm>
        </p:spPr>
        <p:txBody>
          <a:bodyPr/>
          <a:lstStyle/>
          <a:p>
            <a:r>
              <a:rPr lang="he-IL" dirty="0"/>
              <a:t>מיכאלה משקוביץ'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A838E30-CB15-5D5F-E71B-237955A7B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78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7164288" y="5477"/>
            <a:ext cx="1979712" cy="759227"/>
          </a:xfrm>
        </p:spPr>
        <p:txBody>
          <a:bodyPr>
            <a:normAutofit fontScale="90000"/>
          </a:bodyPr>
          <a:lstStyle/>
          <a:p>
            <a:r>
              <a:rPr lang="he-IL" dirty="0">
                <a:cs typeface="+mn-cs"/>
              </a:rPr>
              <a:t>שאלה 2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207897" y="116632"/>
            <a:ext cx="6976056" cy="648072"/>
          </a:xfrm>
        </p:spPr>
        <p:txBody>
          <a:bodyPr>
            <a:noAutofit/>
          </a:bodyPr>
          <a:lstStyle/>
          <a:p>
            <a:pPr lvl="0" algn="r"/>
            <a:r>
              <a:rPr lang="he-IL" sz="1500" dirty="0">
                <a:solidFill>
                  <a:schemeClr val="tx1"/>
                </a:solidFill>
              </a:rPr>
              <a:t>ה. האם המשקים יכולים להרוויח מפתיחת המסחר ביניהם? אם כן הצע מחיר אפשרי, </a:t>
            </a:r>
            <a:br>
              <a:rPr lang="en-US" sz="1500" dirty="0">
                <a:solidFill>
                  <a:schemeClr val="tx1"/>
                </a:solidFill>
              </a:rPr>
            </a:br>
            <a:r>
              <a:rPr lang="he-IL" sz="1500" dirty="0">
                <a:solidFill>
                  <a:schemeClr val="tx1"/>
                </a:solidFill>
              </a:rPr>
              <a:t>הוסף לאיורים מסעיף א את עקומות אפשרויות הצריכה עבור מחיר זה.</a:t>
            </a:r>
            <a:endParaRPr lang="en-US" sz="1500" dirty="0">
              <a:solidFill>
                <a:schemeClr val="tx1"/>
              </a:solidFill>
            </a:endParaRPr>
          </a:p>
          <a:p>
            <a:pPr algn="r"/>
            <a:endParaRPr lang="he-IL" sz="1600" dirty="0">
              <a:solidFill>
                <a:schemeClr val="tx1"/>
              </a:solidFill>
            </a:endParaRPr>
          </a:p>
        </p:txBody>
      </p:sp>
      <p:cxnSp>
        <p:nvCxnSpPr>
          <p:cNvPr id="7" name="מחבר חץ ישר 6"/>
          <p:cNvCxnSpPr/>
          <p:nvPr/>
        </p:nvCxnSpPr>
        <p:spPr>
          <a:xfrm>
            <a:off x="788965" y="6276853"/>
            <a:ext cx="3610304" cy="10547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חץ ישר 7"/>
          <p:cNvCxnSpPr/>
          <p:nvPr/>
        </p:nvCxnSpPr>
        <p:spPr>
          <a:xfrm flipH="1" flipV="1">
            <a:off x="787756" y="3480194"/>
            <a:ext cx="1210" cy="2812721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62858" y="6338785"/>
            <a:ext cx="1073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15*50=</a:t>
            </a:r>
          </a:p>
          <a:p>
            <a:r>
              <a:rPr lang="en-US" sz="1600" b="1" dirty="0">
                <a:solidFill>
                  <a:prstClr val="black"/>
                </a:solidFill>
              </a:rPr>
              <a:t>750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3683" y="6324233"/>
            <a:ext cx="729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504D">
                    <a:lumMod val="75000"/>
                  </a:srgbClr>
                </a:solidFill>
              </a:rPr>
              <a:t>450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9189" y="292619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Y </a:t>
            </a:r>
            <a:r>
              <a:rPr lang="he-IL" dirty="0">
                <a:solidFill>
                  <a:prstClr val="black"/>
                </a:solidFill>
              </a:rPr>
              <a:t>  </a:t>
            </a:r>
            <a:r>
              <a:rPr lang="he-IL" sz="1600" dirty="0">
                <a:solidFill>
                  <a:prstClr val="black"/>
                </a:solidFill>
              </a:rPr>
              <a:t>מכונות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73142" y="6264339"/>
            <a:ext cx="870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X</a:t>
            </a:r>
            <a:r>
              <a:rPr lang="he-IL" dirty="0">
                <a:solidFill>
                  <a:prstClr val="black"/>
                </a:solidFill>
              </a:rPr>
              <a:t> </a:t>
            </a:r>
          </a:p>
          <a:p>
            <a:r>
              <a:rPr lang="he-IL" sz="1400" dirty="0">
                <a:solidFill>
                  <a:prstClr val="black"/>
                </a:solidFill>
              </a:rPr>
              <a:t>תפוזים</a:t>
            </a:r>
          </a:p>
        </p:txBody>
      </p:sp>
      <p:cxnSp>
        <p:nvCxnSpPr>
          <p:cNvPr id="17" name="מחבר חץ ישר 16"/>
          <p:cNvCxnSpPr/>
          <p:nvPr/>
        </p:nvCxnSpPr>
        <p:spPr>
          <a:xfrm>
            <a:off x="4937157" y="6287400"/>
            <a:ext cx="403244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מחבר חץ ישר 17"/>
          <p:cNvCxnSpPr/>
          <p:nvPr/>
        </p:nvCxnSpPr>
        <p:spPr>
          <a:xfrm flipH="1" flipV="1">
            <a:off x="4935947" y="3295528"/>
            <a:ext cx="1211" cy="2985067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-304148" y="311086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Y </a:t>
            </a:r>
            <a:r>
              <a:rPr lang="he-IL" dirty="0">
                <a:solidFill>
                  <a:prstClr val="black"/>
                </a:solidFill>
              </a:rPr>
              <a:t>  </a:t>
            </a:r>
            <a:r>
              <a:rPr lang="he-IL" sz="1600" dirty="0">
                <a:solidFill>
                  <a:prstClr val="black"/>
                </a:solidFill>
              </a:rPr>
              <a:t>מכונות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81554" y="6143542"/>
            <a:ext cx="435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X</a:t>
            </a:r>
            <a:r>
              <a:rPr lang="he-IL" dirty="0">
                <a:solidFill>
                  <a:prstClr val="black"/>
                </a:solidFill>
              </a:rPr>
              <a:t> </a:t>
            </a:r>
            <a:br>
              <a:rPr lang="en-US" dirty="0">
                <a:solidFill>
                  <a:prstClr val="black"/>
                </a:solidFill>
              </a:rPr>
            </a:br>
            <a:endParaRPr lang="he-IL" sz="1400" dirty="0">
              <a:solidFill>
                <a:prstClr val="black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99987" y="3481973"/>
            <a:ext cx="100096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he-IL" dirty="0">
                <a:solidFill>
                  <a:prstClr val="black"/>
                </a:solidFill>
              </a:rPr>
              <a:t>ישראל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9589" y="3892183"/>
            <a:ext cx="87104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he-IL" dirty="0">
                <a:solidFill>
                  <a:prstClr val="black"/>
                </a:solidFill>
              </a:rPr>
              <a:t>אנגליה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245275" y="3581169"/>
            <a:ext cx="1073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10*50=</a:t>
            </a:r>
          </a:p>
          <a:p>
            <a:r>
              <a:rPr lang="en-US" sz="1600" b="1" dirty="0">
                <a:solidFill>
                  <a:prstClr val="black"/>
                </a:solidFill>
              </a:rPr>
              <a:t>500</a:t>
            </a:r>
          </a:p>
        </p:txBody>
      </p:sp>
      <p:cxnSp>
        <p:nvCxnSpPr>
          <p:cNvPr id="31" name="מחבר ישר 30"/>
          <p:cNvCxnSpPr/>
          <p:nvPr/>
        </p:nvCxnSpPr>
        <p:spPr>
          <a:xfrm>
            <a:off x="787756" y="3789040"/>
            <a:ext cx="2681706" cy="2475299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מחבר ישר 33"/>
          <p:cNvCxnSpPr>
            <a:stCxn id="39" idx="3"/>
          </p:cNvCxnSpPr>
          <p:nvPr/>
        </p:nvCxnSpPr>
        <p:spPr>
          <a:xfrm>
            <a:off x="4935948" y="3984516"/>
            <a:ext cx="3596492" cy="2302884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544078" y="6280593"/>
            <a:ext cx="1073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22*50=</a:t>
            </a:r>
          </a:p>
          <a:p>
            <a:r>
              <a:rPr lang="en-US" sz="1600" b="1" dirty="0">
                <a:solidFill>
                  <a:prstClr val="black"/>
                </a:solidFill>
              </a:rPr>
              <a:t>1100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9009" y="3815239"/>
            <a:ext cx="15569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11*50=</a:t>
            </a:r>
            <a:r>
              <a:rPr lang="en-US" sz="1600" b="1" dirty="0">
                <a:solidFill>
                  <a:prstClr val="black"/>
                </a:solidFill>
              </a:rPr>
              <a:t>550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681797" y="5962776"/>
                <a:ext cx="55770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𝟎</m:t>
                      </m:r>
                      <m:r>
                        <a:rPr lang="he-IL" sz="1400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.</m:t>
                      </m:r>
                      <m:r>
                        <a:rPr lang="he-IL" sz="1400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𝟔𝟕</m:t>
                      </m:r>
                    </m:oMath>
                  </m:oMathPara>
                </a14:m>
                <a:endParaRPr lang="he-IL" sz="14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797" y="5962776"/>
                <a:ext cx="557702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קשת 40"/>
          <p:cNvSpPr/>
          <p:nvPr/>
        </p:nvSpPr>
        <p:spPr>
          <a:xfrm rot="16459148">
            <a:off x="2472628" y="5903932"/>
            <a:ext cx="1080120" cy="936105"/>
          </a:xfrm>
          <a:prstGeom prst="arc">
            <a:avLst>
              <a:gd name="adj1" fmla="val 16607536"/>
              <a:gd name="adj2" fmla="val 2129524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7402065" y="5972816"/>
                <a:ext cx="55770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1F497D">
                              <a:lumMod val="60000"/>
                              <a:lumOff val="40000"/>
                            </a:srgbClr>
                          </a:solidFill>
                          <a:latin typeface="Cambria Math"/>
                        </a:rPr>
                        <m:t>𝟎</m:t>
                      </m:r>
                      <m:r>
                        <a:rPr lang="he-IL" sz="1400" b="1" i="1" smtClean="0">
                          <a:solidFill>
                            <a:srgbClr val="1F497D">
                              <a:lumMod val="60000"/>
                              <a:lumOff val="40000"/>
                            </a:srgbClr>
                          </a:solidFill>
                          <a:latin typeface="Cambria Math"/>
                        </a:rPr>
                        <m:t>.</m:t>
                      </m:r>
                      <m:r>
                        <a:rPr lang="he-IL" sz="1400" b="1" i="1" smtClean="0">
                          <a:solidFill>
                            <a:srgbClr val="1F497D">
                              <a:lumMod val="60000"/>
                              <a:lumOff val="40000"/>
                            </a:srgbClr>
                          </a:solidFill>
                          <a:latin typeface="Cambria Math"/>
                        </a:rPr>
                        <m:t>𝟓</m:t>
                      </m:r>
                    </m:oMath>
                  </m:oMathPara>
                </a14:m>
                <a:endParaRPr lang="he-IL" sz="1400" b="1" dirty="0">
                  <a:solidFill>
                    <a:srgbClr val="1F497D">
                      <a:lumMod val="60000"/>
                      <a:lumOff val="40000"/>
                    </a:srgbClr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065" y="5972816"/>
                <a:ext cx="557702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קשת 42"/>
          <p:cNvSpPr/>
          <p:nvPr/>
        </p:nvSpPr>
        <p:spPr>
          <a:xfrm rot="16459148">
            <a:off x="7239519" y="5903931"/>
            <a:ext cx="1080120" cy="936105"/>
          </a:xfrm>
          <a:prstGeom prst="arc">
            <a:avLst>
              <a:gd name="adj1" fmla="val 16607536"/>
              <a:gd name="adj2" fmla="val 21295240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black"/>
              </a:solidFill>
            </a:endParaRPr>
          </a:p>
        </p:txBody>
      </p:sp>
      <p:cxnSp>
        <p:nvCxnSpPr>
          <p:cNvPr id="44" name="מחבר ישר 43"/>
          <p:cNvCxnSpPr/>
          <p:nvPr/>
        </p:nvCxnSpPr>
        <p:spPr>
          <a:xfrm>
            <a:off x="2243975" y="5145205"/>
            <a:ext cx="0" cy="1125348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מחבר ישר 44"/>
          <p:cNvCxnSpPr/>
          <p:nvPr/>
        </p:nvCxnSpPr>
        <p:spPr>
          <a:xfrm>
            <a:off x="6312253" y="4886554"/>
            <a:ext cx="0" cy="1406361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מחבר ישר 47"/>
          <p:cNvCxnSpPr/>
          <p:nvPr/>
        </p:nvCxnSpPr>
        <p:spPr>
          <a:xfrm flipH="1">
            <a:off x="803281" y="5140923"/>
            <a:ext cx="1416308" cy="4282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429" y="4971646"/>
            <a:ext cx="729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504D">
                    <a:lumMod val="75000"/>
                  </a:srgbClr>
                </a:solidFill>
              </a:rPr>
              <a:t>200</a:t>
            </a:r>
          </a:p>
        </p:txBody>
      </p:sp>
      <p:cxnSp>
        <p:nvCxnSpPr>
          <p:cNvPr id="53" name="מחבר ישר 52"/>
          <p:cNvCxnSpPr/>
          <p:nvPr/>
        </p:nvCxnSpPr>
        <p:spPr>
          <a:xfrm flipH="1">
            <a:off x="4935947" y="4887694"/>
            <a:ext cx="1376306" cy="2959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851644" y="6266653"/>
            <a:ext cx="729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440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617" y="4761604"/>
            <a:ext cx="729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330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69926" y="1052193"/>
                <a:ext cx="4218167" cy="6584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1" smtClean="0">
                          <a:solidFill>
                            <a:srgbClr val="4F81BD"/>
                          </a:solidFill>
                          <a:latin typeface="Cambria Math"/>
                        </a:rPr>
                        <m:t>𝟎</m:t>
                      </m:r>
                      <m:r>
                        <a:rPr lang="he-IL" b="1" smtClean="0">
                          <a:solidFill>
                            <a:srgbClr val="4F81BD"/>
                          </a:solidFill>
                          <a:latin typeface="Cambria Math"/>
                        </a:rPr>
                        <m:t>.</m:t>
                      </m:r>
                      <m:r>
                        <a:rPr lang="he-IL" b="1" smtClean="0">
                          <a:solidFill>
                            <a:srgbClr val="4F81BD"/>
                          </a:solidFill>
                          <a:latin typeface="Cambria Math"/>
                        </a:rPr>
                        <m:t>𝟓</m:t>
                      </m:r>
                      <m:r>
                        <a:rPr lang="he-IL">
                          <a:solidFill>
                            <a:prstClr val="black"/>
                          </a:solidFill>
                          <a:latin typeface="Cambria Math"/>
                        </a:rPr>
                        <m:t>&lt;</m:t>
                      </m:r>
                      <m:f>
                        <m:fPr>
                          <m:ctrlPr>
                            <a:rPr lang="he-IL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e-IL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Px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he-IL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Py</m:t>
                          </m:r>
                        </m:den>
                      </m:f>
                      <m:r>
                        <a:rPr lang="he-IL">
                          <a:solidFill>
                            <a:prstClr val="black"/>
                          </a:solidFill>
                          <a:latin typeface="Cambria Math"/>
                        </a:rPr>
                        <m:t>&lt;</m:t>
                      </m:r>
                      <m:r>
                        <a:rPr lang="he-IL" b="1" smtClean="0">
                          <a:solidFill>
                            <a:srgbClr val="C0504D">
                              <a:lumMod val="60000"/>
                              <a:lumOff val="40000"/>
                            </a:srgbClr>
                          </a:solidFill>
                          <a:latin typeface="Cambria Math"/>
                        </a:rPr>
                        <m:t>𝟎</m:t>
                      </m:r>
                      <m:r>
                        <a:rPr lang="he-IL" b="1" i="1" smtClean="0">
                          <a:solidFill>
                            <a:srgbClr val="C0504D">
                              <a:lumMod val="60000"/>
                              <a:lumOff val="40000"/>
                            </a:srgbClr>
                          </a:solidFill>
                          <a:latin typeface="Cambria Math"/>
                        </a:rPr>
                        <m:t>.</m:t>
                      </m:r>
                      <m:r>
                        <a:rPr lang="he-IL" b="1" i="1" smtClean="0">
                          <a:solidFill>
                            <a:srgbClr val="C0504D">
                              <a:lumMod val="60000"/>
                              <a:lumOff val="40000"/>
                            </a:srgbClr>
                          </a:solidFill>
                          <a:latin typeface="Cambria Math"/>
                        </a:rPr>
                        <m:t>𝟔𝟕</m:t>
                      </m:r>
                    </m:oMath>
                  </m:oMathPara>
                </a14:m>
                <a:endParaRPr lang="he-IL" b="1" dirty="0">
                  <a:solidFill>
                    <a:srgbClr val="C0504D">
                      <a:lumMod val="60000"/>
                      <a:lumOff val="40000"/>
                    </a:srgbClr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926" y="1052193"/>
                <a:ext cx="4218167" cy="6584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5578545" y="1196752"/>
            <a:ext cx="334550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prstClr val="black"/>
                </a:solidFill>
              </a:rPr>
              <a:t> (ה) המשקים יכולים להרוויח כאשר: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3259" y="1916832"/>
            <a:ext cx="334550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prstClr val="black"/>
                </a:solidFill>
              </a:rPr>
              <a:t>למשל כאשר </a:t>
            </a:r>
            <a:r>
              <a:rPr lang="he-IL" b="1" dirty="0">
                <a:solidFill>
                  <a:srgbClr val="9BBB59">
                    <a:lumMod val="50000"/>
                  </a:srgbClr>
                </a:solidFill>
              </a:rPr>
              <a:t>יחס המחירים</a:t>
            </a:r>
            <a:r>
              <a:rPr lang="he-IL" dirty="0">
                <a:solidFill>
                  <a:prstClr val="black"/>
                </a:solidFill>
              </a:rPr>
              <a:t>= </a:t>
            </a:r>
            <a:r>
              <a:rPr lang="he-IL" b="1" dirty="0">
                <a:solidFill>
                  <a:srgbClr val="9BBB59">
                    <a:lumMod val="50000"/>
                  </a:srgbClr>
                </a:solidFill>
              </a:rPr>
              <a:t>0.6</a:t>
            </a:r>
          </a:p>
        </p:txBody>
      </p:sp>
      <p:cxnSp>
        <p:nvCxnSpPr>
          <p:cNvPr id="12" name="מחבר ישר 11"/>
          <p:cNvCxnSpPr/>
          <p:nvPr/>
        </p:nvCxnSpPr>
        <p:spPr>
          <a:xfrm flipH="1" flipV="1">
            <a:off x="5851644" y="4261515"/>
            <a:ext cx="2680796" cy="2002825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מחבר ישר 45"/>
          <p:cNvCxnSpPr/>
          <p:nvPr/>
        </p:nvCxnSpPr>
        <p:spPr>
          <a:xfrm flipH="1" flipV="1">
            <a:off x="803281" y="3806150"/>
            <a:ext cx="3311336" cy="2474444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817885" y="6367361"/>
                <a:ext cx="1301464" cy="501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1400" i="1" smtClean="0">
                              <a:solidFill>
                                <a:srgbClr val="9BBB59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1400">
                              <a:solidFill>
                                <a:srgbClr val="9BBB59">
                                  <a:lumMod val="50000"/>
                                </a:srgbClr>
                              </a:solidFill>
                              <a:latin typeface="Cambria Math"/>
                            </a:rPr>
                            <m:t>500</m:t>
                          </m:r>
                        </m:num>
                        <m:den>
                          <m:r>
                            <a:rPr lang="he-IL" sz="1400">
                              <a:solidFill>
                                <a:srgbClr val="9BBB59">
                                  <a:lumMod val="50000"/>
                                </a:srgbClr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he-IL" sz="1400">
                              <a:solidFill>
                                <a:srgbClr val="9BBB59">
                                  <a:lumMod val="50000"/>
                                </a:srgbClr>
                              </a:solidFill>
                              <a:latin typeface="Cambria Math"/>
                            </a:rPr>
                            <m:t>.</m:t>
                          </m:r>
                          <m:r>
                            <a:rPr lang="he-IL" sz="1400">
                              <a:solidFill>
                                <a:srgbClr val="9BBB59">
                                  <a:lumMod val="50000"/>
                                </a:srgbClr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he-IL" sz="1400">
                          <a:solidFill>
                            <a:srgbClr val="9BBB59">
                              <a:lumMod val="50000"/>
                            </a:srgbClr>
                          </a:solidFill>
                          <a:latin typeface="Cambria Math"/>
                        </a:rPr>
                        <m:t>=</m:t>
                      </m:r>
                      <m:r>
                        <a:rPr lang="he-IL" sz="1400" b="1" smtClean="0">
                          <a:solidFill>
                            <a:srgbClr val="9BBB59">
                              <a:lumMod val="50000"/>
                            </a:srgbClr>
                          </a:solidFill>
                          <a:latin typeface="Cambria Math"/>
                        </a:rPr>
                        <m:t>𝟖</m:t>
                      </m:r>
                      <m:r>
                        <a:rPr lang="he-IL" sz="1400" b="1">
                          <a:solidFill>
                            <a:srgbClr val="9BBB59">
                              <a:lumMod val="50000"/>
                            </a:srgbClr>
                          </a:solidFill>
                          <a:latin typeface="Cambria Math"/>
                        </a:rPr>
                        <m:t>𝟑𝟑</m:t>
                      </m:r>
                      <m:r>
                        <a:rPr lang="he-IL" sz="1400" b="1">
                          <a:solidFill>
                            <a:srgbClr val="9BBB59">
                              <a:lumMod val="50000"/>
                            </a:srgbClr>
                          </a:solidFill>
                          <a:latin typeface="Cambria Math"/>
                        </a:rPr>
                        <m:t>.</m:t>
                      </m:r>
                      <m:r>
                        <a:rPr lang="he-IL" sz="1400" b="1">
                          <a:solidFill>
                            <a:srgbClr val="9BBB59">
                              <a:lumMod val="50000"/>
                            </a:srgbClr>
                          </a:solidFill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sz="1400" b="1" dirty="0">
                  <a:solidFill>
                    <a:srgbClr val="9BBB59">
                      <a:lumMod val="50000"/>
                    </a:srgbClr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885" y="6367361"/>
                <a:ext cx="1301464" cy="501419"/>
              </a:xfrm>
              <a:prstGeom prst="rect">
                <a:avLst/>
              </a:prstGeom>
              <a:blipFill rotWithShape="1">
                <a:blip r:embed="rId5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מחבר ישר 29"/>
          <p:cNvCxnSpPr/>
          <p:nvPr/>
        </p:nvCxnSpPr>
        <p:spPr>
          <a:xfrm flipH="1">
            <a:off x="4935947" y="4261515"/>
            <a:ext cx="915697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823224" y="4114768"/>
            <a:ext cx="10733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b="1" dirty="0">
                <a:solidFill>
                  <a:srgbClr val="9BBB59">
                    <a:lumMod val="50000"/>
                  </a:srgbClr>
                </a:solidFill>
              </a:rPr>
              <a:t>500</a:t>
            </a:r>
            <a:endParaRPr lang="en-US" sz="1600" b="1" dirty="0">
              <a:solidFill>
                <a:srgbClr val="9BBB59">
                  <a:lumMod val="50000"/>
                </a:srgbClr>
              </a:solidFill>
            </a:endParaRPr>
          </a:p>
        </p:txBody>
      </p:sp>
      <p:sp>
        <p:nvSpPr>
          <p:cNvPr id="49" name="אליפסה 48"/>
          <p:cNvSpPr/>
          <p:nvPr/>
        </p:nvSpPr>
        <p:spPr>
          <a:xfrm>
            <a:off x="4887144" y="3422036"/>
            <a:ext cx="100028" cy="119873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3239499" y="3326305"/>
                <a:ext cx="16476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i="1" smtClean="0">
                          <a:solidFill>
                            <a:srgbClr val="9BBB59">
                              <a:lumMod val="50000"/>
                            </a:srgbClr>
                          </a:solidFill>
                          <a:latin typeface="Cambria Math"/>
                        </a:rPr>
                        <m:t>1100</m:t>
                      </m:r>
                      <m:r>
                        <a:rPr lang="he-IL" sz="1400">
                          <a:solidFill>
                            <a:prstClr val="black"/>
                          </a:solidFill>
                          <a:latin typeface="Cambria Math"/>
                        </a:rPr>
                        <m:t>⋅</m:t>
                      </m:r>
                      <m:r>
                        <a:rPr lang="he-IL" sz="1400" i="1" smtClean="0">
                          <a:solidFill>
                            <a:srgbClr val="9BBB59">
                              <a:lumMod val="50000"/>
                            </a:srgbClr>
                          </a:solidFill>
                          <a:latin typeface="Cambria Math"/>
                        </a:rPr>
                        <m:t>0</m:t>
                      </m:r>
                      <m:r>
                        <a:rPr lang="he-IL" sz="1400" i="1" smtClean="0">
                          <a:solidFill>
                            <a:srgbClr val="9BBB59">
                              <a:lumMod val="50000"/>
                            </a:srgbClr>
                          </a:solidFill>
                          <a:latin typeface="Cambria Math"/>
                        </a:rPr>
                        <m:t>.</m:t>
                      </m:r>
                      <m:r>
                        <a:rPr lang="he-IL" sz="1400" i="1" smtClean="0">
                          <a:solidFill>
                            <a:srgbClr val="9BBB59">
                              <a:lumMod val="50000"/>
                            </a:srgbClr>
                          </a:solidFill>
                          <a:latin typeface="Cambria Math"/>
                        </a:rPr>
                        <m:t>6</m:t>
                      </m:r>
                      <m:r>
                        <a:rPr lang="he-IL" sz="1400">
                          <a:solidFill>
                            <a:srgbClr val="9BBB59">
                              <a:lumMod val="50000"/>
                            </a:srgbClr>
                          </a:solidFill>
                          <a:latin typeface="Cambria Math"/>
                        </a:rPr>
                        <m:t>=</m:t>
                      </m:r>
                      <m:r>
                        <a:rPr lang="he-IL" sz="1400" b="1" smtClean="0">
                          <a:solidFill>
                            <a:srgbClr val="9BBB59">
                              <a:lumMod val="50000"/>
                            </a:srgbClr>
                          </a:solidFill>
                          <a:latin typeface="Cambria Math"/>
                        </a:rPr>
                        <m:t>𝟔𝟔𝟎</m:t>
                      </m:r>
                    </m:oMath>
                  </m:oMathPara>
                </a14:m>
                <a:endParaRPr lang="en-US" sz="1400" b="1" dirty="0">
                  <a:solidFill>
                    <a:srgbClr val="9BBB59">
                      <a:lumMod val="50000"/>
                    </a:srgbClr>
                  </a:solidFill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499" y="3326305"/>
                <a:ext cx="1647645" cy="30777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>
            <a:stCxn id="39" idx="3"/>
          </p:cNvCxnSpPr>
          <p:nvPr/>
        </p:nvCxnSpPr>
        <p:spPr>
          <a:xfrm>
            <a:off x="4935948" y="3984516"/>
            <a:ext cx="428140" cy="276999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AB9D85A-2B4B-6C9A-8C35-952DD4B65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7998" y="6615789"/>
            <a:ext cx="2895600" cy="365125"/>
          </a:xfrm>
        </p:spPr>
        <p:txBody>
          <a:bodyPr/>
          <a:lstStyle/>
          <a:p>
            <a:r>
              <a:rPr lang="he-IL" dirty="0"/>
              <a:t>מיכאלה משקוביץ'</a:t>
            </a:r>
          </a:p>
        </p:txBody>
      </p:sp>
      <p:sp>
        <p:nvSpPr>
          <p:cNvPr id="10" name="מציין מיקום של מספר שקופית 9">
            <a:extLst>
              <a:ext uri="{FF2B5EF4-FFF2-40B4-BE49-F238E27FC236}">
                <a16:creationId xmlns:a16="http://schemas.microsoft.com/office/drawing/2014/main" id="{5258EB7C-4D90-3807-DEBE-82DE866A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1DAFF-965B-4C5A-8AF1-BCA0B6CB09D5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2045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3" grpId="0"/>
      <p:bldP spid="35" grpId="0"/>
      <p:bldP spid="47" grpId="0"/>
      <p:bldP spid="50" grpId="0"/>
      <p:bldP spid="55" grpId="0"/>
    </p:bld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1137</TotalTime>
  <Words>2265</Words>
  <Application>Microsoft Office PowerPoint</Application>
  <PresentationFormat>‫הצגה על המסך (4:3)</PresentationFormat>
  <Paragraphs>354</Paragraphs>
  <Slides>18</Slides>
  <Notes>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</vt:lpstr>
      <vt:lpstr>Cambria Math</vt:lpstr>
      <vt:lpstr>Times New Roman</vt:lpstr>
      <vt:lpstr>ערכת נושא Office</vt:lpstr>
      <vt:lpstr>פתרון תרגיל בית מס' 5-  מסחר בינלאומי  </vt:lpstr>
      <vt:lpstr>חלק א':  מסחר של משק קטן עם העולם  (המחירים העולמיים נתונים)</vt:lpstr>
      <vt:lpstr>מצגת של PowerPoint‏</vt:lpstr>
      <vt:lpstr>מצגת של PowerPoint‏</vt:lpstr>
      <vt:lpstr>מצגת של PowerPoint‏</vt:lpstr>
      <vt:lpstr>מצגת של PowerPoint‏</vt:lpstr>
      <vt:lpstr>שאלה 2 מתרגיל בית 5</vt:lpstr>
      <vt:lpstr>שאלה 2 חלק שני: מסחר בינלאומי</vt:lpstr>
      <vt:lpstr>שאלה 3</vt:lpstr>
      <vt:lpstr>שאלה 3</vt:lpstr>
      <vt:lpstr>שאלה 4</vt:lpstr>
      <vt:lpstr>שאלה 4</vt:lpstr>
      <vt:lpstr>שאלה 4</vt:lpstr>
      <vt:lpstr>חלק ב':  מסחר בין שני משקים גדולים</vt:lpstr>
      <vt:lpstr>שאלה 1</vt:lpstr>
      <vt:lpstr>שאלה 2</vt:lpstr>
      <vt:lpstr>שאלה 2</vt:lpstr>
      <vt:lpstr>שאלה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תרגיל מס' 2- עקומת התמורה חלק  ב': תפוקה שולית פוחתת, שיפורים טכנולוגיים וצמיחה כלכלית</dc:title>
  <dc:creator>Michaela</dc:creator>
  <cp:lastModifiedBy>איתן משקוביץ</cp:lastModifiedBy>
  <cp:revision>55</cp:revision>
  <dcterms:created xsi:type="dcterms:W3CDTF">2014-11-17T15:09:18Z</dcterms:created>
  <dcterms:modified xsi:type="dcterms:W3CDTF">2024-12-05T13:19:52Z</dcterms:modified>
</cp:coreProperties>
</file>