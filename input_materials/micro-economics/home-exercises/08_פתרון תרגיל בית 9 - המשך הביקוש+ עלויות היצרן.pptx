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tl="1" saveSubsetFonts="1">
  <p:sldMasterIdLst>
    <p:sldMasterId id="2147483648" r:id="rId1"/>
  </p:sldMasterIdLst>
  <p:notesMasterIdLst>
    <p:notesMasterId r:id="rId39"/>
  </p:notesMasterIdLst>
  <p:sldIdLst>
    <p:sldId id="256" r:id="rId2"/>
    <p:sldId id="495" r:id="rId3"/>
    <p:sldId id="497" r:id="rId4"/>
    <p:sldId id="500" r:id="rId5"/>
    <p:sldId id="330" r:id="rId6"/>
    <p:sldId id="502" r:id="rId7"/>
    <p:sldId id="503" r:id="rId8"/>
    <p:sldId id="504" r:id="rId9"/>
    <p:sldId id="505" r:id="rId10"/>
    <p:sldId id="506" r:id="rId11"/>
    <p:sldId id="507" r:id="rId12"/>
    <p:sldId id="508" r:id="rId13"/>
    <p:sldId id="501" r:id="rId14"/>
    <p:sldId id="375" r:id="rId15"/>
    <p:sldId id="409" r:id="rId16"/>
    <p:sldId id="477" r:id="rId17"/>
    <p:sldId id="469" r:id="rId18"/>
    <p:sldId id="478" r:id="rId19"/>
    <p:sldId id="436" r:id="rId20"/>
    <p:sldId id="498" r:id="rId21"/>
    <p:sldId id="485" r:id="rId22"/>
    <p:sldId id="418" r:id="rId23"/>
    <p:sldId id="414" r:id="rId24"/>
    <p:sldId id="419" r:id="rId25"/>
    <p:sldId id="420" r:id="rId26"/>
    <p:sldId id="480" r:id="rId27"/>
    <p:sldId id="488" r:id="rId28"/>
    <p:sldId id="489" r:id="rId29"/>
    <p:sldId id="399" r:id="rId30"/>
    <p:sldId id="400" r:id="rId31"/>
    <p:sldId id="421" r:id="rId32"/>
    <p:sldId id="401" r:id="rId33"/>
    <p:sldId id="402" r:id="rId34"/>
    <p:sldId id="403" r:id="rId35"/>
    <p:sldId id="404" r:id="rId36"/>
    <p:sldId id="496" r:id="rId37"/>
    <p:sldId id="499" r:id="rId38"/>
  </p:sldIdLst>
  <p:sldSz cx="12192000" cy="6858000"/>
  <p:notesSz cx="7099300" cy="10234613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FF"/>
    <a:srgbClr val="EC90E8"/>
    <a:srgbClr val="00FFFF"/>
    <a:srgbClr val="06060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729" autoAdjust="0"/>
    <p:restoredTop sz="90877" autoAdjust="0"/>
  </p:normalViewPr>
  <p:slideViewPr>
    <p:cSldViewPr snapToGrid="0">
      <p:cViewPr varScale="1">
        <p:scale>
          <a:sx n="56" d="100"/>
          <a:sy n="56" d="100"/>
        </p:scale>
        <p:origin x="660" y="7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4022937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1"/>
          <a:lstStyle>
            <a:lvl1pPr algn="r">
              <a:defRPr sz="13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64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1"/>
          <a:lstStyle>
            <a:lvl1pPr algn="l">
              <a:defRPr sz="1300"/>
            </a:lvl1pPr>
          </a:lstStyle>
          <a:p>
            <a:fld id="{7281268D-D0F9-4339-8AC4-FC73E7FD81CF}" type="datetimeFigureOut">
              <a:rPr lang="he-IL" smtClean="0"/>
              <a:t>ז'/טבת/תשפ"ו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4022937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1" anchor="b"/>
          <a:lstStyle>
            <a:lvl1pPr algn="r">
              <a:defRPr sz="13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64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1" anchor="b"/>
          <a:lstStyle>
            <a:lvl1pPr algn="l">
              <a:defRPr sz="1300"/>
            </a:lvl1pPr>
          </a:lstStyle>
          <a:p>
            <a:fld id="{B87A51C3-D7A7-4AE0-B95D-CA1648E7F7C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48460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A51C3-D7A7-4AE0-B95D-CA1648E7F7C5}" type="slidenum">
              <a:rPr lang="he-IL" smtClean="0"/>
              <a:t>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960609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479425" y="1279525"/>
            <a:ext cx="6140450" cy="34544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A51C3-D7A7-4AE0-B95D-CA1648E7F7C5}" type="slidenum">
              <a:rPr lang="he-IL" smtClean="0"/>
              <a:t>15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268681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המלצה: למלא את טבלת העלויות על ידי אקסל. </a:t>
            </a: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BB39F0-368F-4D24-B4FA-2BF3501F2C64}" type="slidenum">
              <a:rPr lang="he-IL" smtClean="0"/>
              <a:pPr/>
              <a:t>27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43625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המלצה: למלא את טבלת העלויות על ידי אקסל. </a:t>
            </a: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BB39F0-368F-4D24-B4FA-2BF3501F2C64}" type="slidenum">
              <a:rPr lang="he-IL" smtClean="0"/>
              <a:pPr/>
              <a:t>28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534358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A51C3-D7A7-4AE0-B95D-CA1648E7F7C5}" type="slidenum">
              <a:rPr lang="he-IL" smtClean="0"/>
              <a:t>29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456036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A51C3-D7A7-4AE0-B95D-CA1648E7F7C5}" type="slidenum">
              <a:rPr lang="he-IL" smtClean="0"/>
              <a:t>30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456036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A51C3-D7A7-4AE0-B95D-CA1648E7F7C5}" type="slidenum">
              <a:rPr lang="he-IL" smtClean="0"/>
              <a:t>31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361213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שאלה 3 רווחים בסעיף ד': 320</a:t>
            </a:r>
            <a:r>
              <a:rPr lang="he-IL"/>
              <a:t>, 100, 4, 590 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A51C3-D7A7-4AE0-B95D-CA1648E7F7C5}" type="slidenum">
              <a:rPr lang="he-IL" smtClean="0"/>
              <a:t>32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456036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A51C3-D7A7-4AE0-B95D-CA1648E7F7C5}" type="slidenum">
              <a:rPr lang="he-IL" smtClean="0"/>
              <a:t>33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456036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A51C3-D7A7-4AE0-B95D-CA1648E7F7C5}" type="slidenum">
              <a:rPr lang="he-IL" smtClean="0"/>
              <a:t>34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456036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A51C3-D7A7-4AE0-B95D-CA1648E7F7C5}" type="slidenum">
              <a:rPr lang="he-IL" smtClean="0"/>
              <a:t>35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45603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CC2CB-6D14-4742-9217-8AEFF352BCA4}" type="datetime8">
              <a:rPr lang="he-IL" smtClean="0"/>
              <a:t>27 דצמבר 25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מבוא למיקרו כלכלה - תרגיל מספר 5</a:t>
            </a: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A981F-4466-4789-9E41-1885E502A96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58115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A79B0-3807-4B30-9152-F14BD31A9886}" type="datetime8">
              <a:rPr lang="he-IL" smtClean="0"/>
              <a:t>27 דצמבר 25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מבוא למיקרו כלכלה - תרגיל מספר 5</a:t>
            </a: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A981F-4466-4789-9E41-1885E502A96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85542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6F5DE-2B9E-444A-80E2-0CD604565638}" type="datetime8">
              <a:rPr lang="he-IL" smtClean="0"/>
              <a:t>27 דצמבר 25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מבוא למיקרו כלכלה - תרגיל מספר 5</a:t>
            </a: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A981F-4466-4789-9E41-1885E502A96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20742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94A34-A754-4FB8-98CB-B9DBF12506C7}" type="datetime8">
              <a:rPr lang="he-IL" smtClean="0"/>
              <a:t>27 דצמבר 25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מבוא למיקרו כלכלה - תרגיל מספר 5</a:t>
            </a:r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A981F-4466-4789-9E41-1885E502A96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42007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2F7E7-37ED-42CD-8C7B-F82DA580ECB4}" type="datetime8">
              <a:rPr lang="he-IL" smtClean="0"/>
              <a:t>27 דצמבר 25</a:t>
            </a:fld>
            <a:endParaRPr lang="he-IL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מבוא למיקרו כלכלה - תרגיל מספר 5</a:t>
            </a:r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A981F-4466-4789-9E41-1885E502A96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00088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3EFD9-7EF5-48C1-B909-BDF2041C5895}" type="datetime8">
              <a:rPr lang="he-IL" smtClean="0"/>
              <a:t>27 דצמבר 25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מבוא למיקרו כלכלה - תרגיל מספר 5</a:t>
            </a:r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A981F-4466-4789-9E41-1885E502A96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7172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CE472-9818-4DC0-A08D-21D34EEA5DD9}" type="datetime8">
              <a:rPr lang="he-IL" smtClean="0"/>
              <a:t>27 דצמבר 25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מבוא למיקרו כלכלה - תרגיל מספר 5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A981F-4466-4789-9E41-1885E502A96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68599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211F7-9B7F-45DB-82F7-5134AEA595EB}" type="datetime8">
              <a:rPr lang="he-IL" smtClean="0"/>
              <a:t>27 דצמבר 25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מבוא למיקרו כלכלה - תרגיל מספר 5</a:t>
            </a:r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A981F-4466-4789-9E41-1885E502A96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06597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B9A9B-BB39-4E9D-935E-AC30524204C9}" type="datetime8">
              <a:rPr lang="he-IL" smtClean="0"/>
              <a:t>27 דצמבר 25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מבוא למיקרו כלכלה - תרגיל מספר 5</a:t>
            </a:r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A981F-4466-4789-9E41-1885E502A96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081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BCB44-BCA6-47A4-8E9A-7F62E6EEF1D1}" type="datetime8">
              <a:rPr lang="he-IL" smtClean="0"/>
              <a:t>27 דצמבר 25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מבוא למיקרו כלכלה - תרגיל מספר 5</a:t>
            </a: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A981F-4466-4789-9E41-1885E502A96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57273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F11F9-E021-431E-81AA-676F74AD0156}" type="datetime8">
              <a:rPr lang="he-IL" smtClean="0"/>
              <a:t>27 דצמבר 25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מבוא למיקרו כלכלה - תרגיל מספר 5</a:t>
            </a: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A981F-4466-4789-9E41-1885E502A96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41493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1ED7A5-9F7A-43AD-8050-0F7ACB9657E4}" type="datetime8">
              <a:rPr lang="he-IL" smtClean="0"/>
              <a:t>27 דצמבר 25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he-IL"/>
              <a:t>מבוא למיקרו כלכלה - תרגיל מספר 5</a:t>
            </a: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9A981F-4466-4789-9E41-1885E502A96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45430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e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3865261" y="4792773"/>
            <a:ext cx="4461478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4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מבוא </a:t>
            </a:r>
            <a:r>
              <a:rPr lang="he-IL" sz="440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למיקרו כלכלה</a:t>
            </a:r>
            <a:endParaRPr lang="he-IL" sz="44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80400" y="6362700"/>
            <a:ext cx="34925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 dirty="0">
                <a:solidFill>
                  <a:schemeClr val="bg1"/>
                </a:solidFill>
              </a:rPr>
              <a:t>מתרגל : סטסי סטשינסקי</a:t>
            </a:r>
          </a:p>
        </p:txBody>
      </p:sp>
      <p:sp>
        <p:nvSpPr>
          <p:cNvPr id="8" name="מלבן 7"/>
          <p:cNvSpPr/>
          <p:nvPr/>
        </p:nvSpPr>
        <p:spPr>
          <a:xfrm>
            <a:off x="1682867" y="807444"/>
            <a:ext cx="9447758" cy="286232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60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פתרון תרגיל בית 9 </a:t>
            </a:r>
            <a:br>
              <a:rPr lang="en-US" sz="60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he-IL" sz="600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חלק א'- המשך הביקוש</a:t>
            </a:r>
            <a:br>
              <a:rPr lang="en-US" sz="600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he-IL" sz="600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חלק ב': עלויות היצרן</a:t>
            </a:r>
            <a:endParaRPr lang="en-US" sz="6000" cap="none" spc="0" dirty="0">
              <a:ln w="0"/>
              <a:solidFill>
                <a:schemeClr val="accent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33348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BC313-29E3-1C05-E6EE-A9F533646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9576" y="1166019"/>
            <a:ext cx="8229600" cy="4525963"/>
          </a:xfrm>
        </p:spPr>
        <p:txBody>
          <a:bodyPr>
            <a:norm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he-IL" sz="1800" dirty="0">
                <a:latin typeface="Calibri" panose="020F050202020403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חשבו את עודף הצרכן כאשר המחיר הינו 6 ₪. </a:t>
            </a:r>
            <a:endParaRPr lang="en-IL" sz="18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he-IL" sz="1800" dirty="0">
                <a:latin typeface="Calibri" panose="020F050202020403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האם הביקוש בקטע שבו המחיר עולה מ- 6 ₪ ל- 8 ₪, הינו גמיש, יחידתי או קשיח? 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he-IL" sz="1800" dirty="0">
                <a:latin typeface="Calibri" panose="020F050202020403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ההכנסה של הצרכן עלתה. האם ניתן להסיק מה קרה להוצאות הצרכנים? האם ניתן להסיק מהי גמישות העקומה כתוצאה משינוי זה? </a:t>
            </a:r>
            <a:endParaRPr lang="en-IL" sz="18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L" dirty="0"/>
          </a:p>
        </p:txBody>
      </p:sp>
      <p:sp>
        <p:nvSpPr>
          <p:cNvPr id="4" name="כותרת 1">
            <a:extLst>
              <a:ext uri="{FF2B5EF4-FFF2-40B4-BE49-F238E27FC236}">
                <a16:creationId xmlns:a16="http://schemas.microsoft.com/office/drawing/2014/main" id="{42FAE978-9E56-8B94-B843-7DA1BEC91F1D}"/>
              </a:ext>
            </a:extLst>
          </p:cNvPr>
          <p:cNvSpPr txBox="1">
            <a:spLocks/>
          </p:cNvSpPr>
          <p:nvPr/>
        </p:nvSpPr>
        <p:spPr>
          <a:xfrm>
            <a:off x="8466853" y="131071"/>
            <a:ext cx="2627784" cy="731836"/>
          </a:xfrm>
          <a:prstGeom prst="rect">
            <a:avLst/>
          </a:prstGeom>
        </p:spPr>
        <p:txBody>
          <a:bodyPr vert="horz" lIns="91440" tIns="45720" rIns="91440" bIns="45720" rtlCol="1" anchor="ctr">
            <a:noAutofit/>
          </a:bodyPr>
          <a:lstStyle>
            <a:lvl1pPr algn="ctr" defTabSz="914400" rtl="1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b="1" dirty="0">
                <a:cs typeface="+mn-cs"/>
              </a:rPr>
              <a:t>שאלה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6C9488C-839D-DEAE-D750-F64A12F98894}"/>
                  </a:ext>
                </a:extLst>
              </p:cNvPr>
              <p:cNvSpPr txBox="1"/>
              <p:nvPr/>
            </p:nvSpPr>
            <p:spPr>
              <a:xfrm>
                <a:off x="1554425" y="275164"/>
                <a:ext cx="6912428" cy="5314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he-IL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David" panose="020E0502060401010101" pitchFamily="34" charset="-79"/>
                  </a:rPr>
                  <a:t>עקומת הביקוש לפחיות קוקה קולה של צרכן מסוים הינה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rPr>
                      <m:t>𝑃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rPr>
                      <m:t>=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rPr>
                      <m:t>9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rPr>
                      <m:t>−</m:t>
                    </m:r>
                    <m:f>
                      <m:fPr>
                        <m:ctrlPr>
                          <a:rPr lang="en-IL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David" panose="020E0502060401010101" pitchFamily="34" charset="-79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David" panose="020E0502060401010101" pitchFamily="34" charset="-79"/>
                          </a:rPr>
                          <m:t>𝑋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David" panose="020E0502060401010101" pitchFamily="34" charset="-79"/>
                          </a:rPr>
                          <m:t>20</m:t>
                        </m:r>
                      </m:den>
                    </m:f>
                  </m:oMath>
                </a14:m>
                <a:endParaRPr lang="en-IL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6C9488C-839D-DEAE-D750-F64A12F988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425" y="275164"/>
                <a:ext cx="6912428" cy="531428"/>
              </a:xfrm>
              <a:prstGeom prst="rect">
                <a:avLst/>
              </a:prstGeom>
              <a:blipFill>
                <a:blip r:embed="rId2"/>
                <a:stretch>
                  <a:fillRect r="-882" b="-919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2383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BC313-29E3-1C05-E6EE-A9F533646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4430" y="1468458"/>
            <a:ext cx="5467872" cy="4574739"/>
          </a:xfrm>
        </p:spPr>
        <p:txBody>
          <a:bodyPr>
            <a:norm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he-IL" sz="1800" dirty="0">
                <a:latin typeface="Calibri" panose="020F050202020403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חשבו את עודף הצרכן כאשר המחיר הינו 6 ₪. </a:t>
            </a:r>
            <a:endParaRPr lang="en-IL" sz="18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he-IL" sz="1800" dirty="0">
                <a:latin typeface="Calibri" panose="020F050202020403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האם הביקוש בקטע שבו המחיר עולה מ- 6 ₪ ל- 8 ₪, הינו גמיש, יחידתי או קשיח?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endParaRPr lang="he-IL" sz="1800" dirty="0">
              <a:latin typeface="Calibri" panose="020F0502020204030204" pitchFamily="34" charset="0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he-IL" sz="1800" dirty="0">
                <a:latin typeface="Calibri" panose="020F050202020403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ההכנסה של הצרכן עלתה. האם ניתן להסיק מה קרה להוצאות הצרכנים? האם ניתן להסיק מהי גמישות העקומה כתוצאה משינוי זה? </a:t>
            </a:r>
            <a:endParaRPr lang="en-IL" sz="18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כותרת 1">
            <a:extLst>
              <a:ext uri="{FF2B5EF4-FFF2-40B4-BE49-F238E27FC236}">
                <a16:creationId xmlns:a16="http://schemas.microsoft.com/office/drawing/2014/main" id="{42FAE978-9E56-8B94-B843-7DA1BEC91F1D}"/>
              </a:ext>
            </a:extLst>
          </p:cNvPr>
          <p:cNvSpPr txBox="1">
            <a:spLocks/>
          </p:cNvSpPr>
          <p:nvPr/>
        </p:nvSpPr>
        <p:spPr>
          <a:xfrm>
            <a:off x="8893829" y="571150"/>
            <a:ext cx="2627784" cy="731836"/>
          </a:xfrm>
          <a:prstGeom prst="rect">
            <a:avLst/>
          </a:prstGeom>
        </p:spPr>
        <p:txBody>
          <a:bodyPr vert="horz" lIns="91440" tIns="45720" rIns="91440" bIns="45720" rtlCol="1" anchor="ctr">
            <a:noAutofit/>
          </a:bodyPr>
          <a:lstStyle>
            <a:lvl1pPr algn="ctr" defTabSz="914400" rtl="1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b="1" dirty="0">
                <a:cs typeface="+mn-cs"/>
              </a:rPr>
              <a:t>שאלה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6C9488C-839D-DEAE-D750-F64A12F98894}"/>
                  </a:ext>
                </a:extLst>
              </p:cNvPr>
              <p:cNvSpPr txBox="1"/>
              <p:nvPr/>
            </p:nvSpPr>
            <p:spPr>
              <a:xfrm>
                <a:off x="1554425" y="275164"/>
                <a:ext cx="6912428" cy="5296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he-IL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David" panose="020E0502060401010101" pitchFamily="34" charset="-79"/>
                  </a:rPr>
                  <a:t>עקומת הביקוש לפחיות קוקה קולה של צרכן מסוים הינה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rPr>
                      <m:t>𝑃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rPr>
                      <m:t>9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rPr>
                      <m:t>−</m:t>
                    </m:r>
                    <m:f>
                      <m:fPr>
                        <m:ctrlPr>
                          <a:rPr lang="en-IL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David" panose="020E0502060401010101" pitchFamily="34" charset="-79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David" panose="020E0502060401010101" pitchFamily="34" charset="-79"/>
                          </a:rPr>
                          <m:t>𝑋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David" panose="020E0502060401010101" pitchFamily="34" charset="-79"/>
                          </a:rPr>
                          <m:t>20</m:t>
                        </m:r>
                      </m:den>
                    </m:f>
                  </m:oMath>
                </a14:m>
                <a:endParaRPr lang="en-IL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6C9488C-839D-DEAE-D750-F64A12F988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425" y="275164"/>
                <a:ext cx="6912428" cy="529697"/>
              </a:xfrm>
              <a:prstGeom prst="rect">
                <a:avLst/>
              </a:prstGeom>
              <a:blipFill>
                <a:blip r:embed="rId2"/>
                <a:stretch>
                  <a:fillRect r="-882" b="-919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3F3DD67-C8E9-4BD9-4348-4F1C9BB7AE5E}"/>
              </a:ext>
            </a:extLst>
          </p:cNvPr>
          <p:cNvSpPr txBox="1"/>
          <p:nvPr/>
        </p:nvSpPr>
        <p:spPr>
          <a:xfrm>
            <a:off x="1728099" y="3459495"/>
            <a:ext cx="4876800" cy="2157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>
              <a:lnSpc>
                <a:spcPct val="115000"/>
              </a:lnSpc>
            </a:pPr>
            <a:r>
              <a:rPr lang="he-IL" dirty="0">
                <a:highlight>
                  <a:srgbClr val="00FFFF"/>
                </a:highlight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en-IL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685800">
              <a:lnSpc>
                <a:spcPct val="115000"/>
              </a:lnSpc>
            </a:pPr>
            <a:r>
              <a:rPr lang="he-IL" dirty="0">
                <a:highlight>
                  <a:srgbClr val="C0C0C0"/>
                </a:highlight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3. </a:t>
            </a:r>
            <a:r>
              <a:rPr lang="he-IL" sz="2000" u="sng" dirty="0">
                <a:highlight>
                  <a:srgbClr val="C0C0C0"/>
                </a:highlight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לא ניתן לדעת מה קרה להוצאות הצרכן ללא נתונים על סוג המוצר ביחס להכנסה.</a:t>
            </a:r>
            <a:r>
              <a:rPr lang="he-IL" sz="2000" dirty="0">
                <a:highlight>
                  <a:srgbClr val="C0C0C0"/>
                </a:highlight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br>
              <a:rPr lang="he-IL" dirty="0">
                <a:highlight>
                  <a:srgbClr val="C0C0C0"/>
                </a:highlight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he-IL" dirty="0">
                <a:highlight>
                  <a:srgbClr val="C0C0C0"/>
                </a:highlight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בנוסף, </a:t>
            </a:r>
            <a:r>
              <a:rPr lang="he-IL" sz="2000" b="1" u="sng" dirty="0">
                <a:highlight>
                  <a:srgbClr val="FFFF00"/>
                </a:highlight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לא נוכל להסיק דבר אודות גמישות הביקוש כיוון שישנו מעבר לעקומת ביקוש חדשה</a:t>
            </a:r>
            <a:r>
              <a:rPr lang="he-IL" sz="2000" b="1" u="sng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IL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D1CE618-8886-7ED9-04EF-18D43E2E893D}"/>
                  </a:ext>
                </a:extLst>
              </p:cNvPr>
              <p:cNvSpPr txBox="1"/>
              <p:nvPr/>
            </p:nvSpPr>
            <p:spPr>
              <a:xfrm>
                <a:off x="1127449" y="715453"/>
                <a:ext cx="5467873" cy="14620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685800">
                  <a:lnSpc>
                    <a:spcPct val="150000"/>
                  </a:lnSpc>
                </a:pPr>
                <a:r>
                  <a:rPr lang="he-IL" dirty="0">
                    <a:highlight>
                      <a:srgbClr val="00FFFF"/>
                    </a:highlight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פתרון:</a:t>
                </a:r>
                <a:br>
                  <a:rPr lang="he-IL" dirty="0">
                    <a:highlight>
                      <a:srgbClr val="00FFFF"/>
                    </a:highlight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</a:br>
                <a:r>
                  <a:rPr lang="he-IL" dirty="0">
                    <a:highlight>
                      <a:srgbClr val="00FFFF"/>
                    </a:highlight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1. נציב </a:t>
                </a:r>
                <a:r>
                  <a:rPr lang="en-US" dirty="0">
                    <a:highlight>
                      <a:srgbClr val="00FFFF"/>
                    </a:highlight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P</a:t>
                </a:r>
                <a:r>
                  <a:rPr lang="he-IL" dirty="0">
                    <a:highlight>
                      <a:srgbClr val="00FFFF"/>
                    </a:highlight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=6  בפונקציית הביקוש ונקבל שהכמות המבוקשת </a:t>
                </a:r>
                <a:r>
                  <a:rPr lang="en-US" dirty="0">
                    <a:highlight>
                      <a:srgbClr val="00FFFF"/>
                    </a:highlight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X</a:t>
                </a:r>
                <a:r>
                  <a:rPr lang="he-IL" dirty="0">
                    <a:highlight>
                      <a:srgbClr val="00FFFF"/>
                    </a:highlight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=60. עודף הצרכן=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L" i="1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i="1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3</m:t>
                        </m:r>
                        <m:r>
                          <a:rPr lang="en-US" i="1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∗</m:t>
                        </m:r>
                        <m:r>
                          <a:rPr lang="en-US" i="1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60</m:t>
                        </m:r>
                      </m:num>
                      <m:den>
                        <m:r>
                          <a:rPr lang="en-US" i="1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highlight>
                          <a:srgbClr val="00FFFF"/>
                        </a:highlight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i="1">
                        <a:highlight>
                          <a:srgbClr val="00FFFF"/>
                        </a:highlight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90</m:t>
                    </m:r>
                  </m:oMath>
                </a14:m>
                <a:endParaRPr lang="en-IL" dirty="0"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D1CE618-8886-7ED9-04EF-18D43E2E8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449" y="715453"/>
                <a:ext cx="5467873" cy="1462003"/>
              </a:xfrm>
              <a:prstGeom prst="rect">
                <a:avLst/>
              </a:prstGeom>
              <a:blipFill>
                <a:blip r:embed="rId3"/>
                <a:stretch>
                  <a:fillRect b="-208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4897D7F9-1A97-8E49-7CF1-5DAF5710A111}"/>
              </a:ext>
            </a:extLst>
          </p:cNvPr>
          <p:cNvSpPr txBox="1"/>
          <p:nvPr/>
        </p:nvSpPr>
        <p:spPr>
          <a:xfrm>
            <a:off x="1728099" y="2220039"/>
            <a:ext cx="4876800" cy="1346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>
              <a:lnSpc>
                <a:spcPct val="115000"/>
              </a:lnSpc>
            </a:pPr>
            <a:r>
              <a:rPr lang="he-IL" dirty="0">
                <a:highlight>
                  <a:srgbClr val="00FF00"/>
                </a:highlight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2. כאשר המחיר עולה מ-6 ש''ח ל8 ש''ח, הוצאות הצרכנים יירדו מ- 6*60=360 ש''ח ל- 8*20=160 ש''ח, הביקוש הינו גמיש (אחוז השינוי בכמות &gt; אחוז השינוי במחיר).</a:t>
            </a:r>
            <a:endParaRPr lang="en-IL" dirty="0">
              <a:highlight>
                <a:srgbClr val="00FF00"/>
              </a:highlight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018A3E-5C44-44F9-8C34-EC92FF402409}"/>
              </a:ext>
            </a:extLst>
          </p:cNvPr>
          <p:cNvSpPr txBox="1"/>
          <p:nvPr/>
        </p:nvSpPr>
        <p:spPr>
          <a:xfrm>
            <a:off x="2079127" y="5955425"/>
            <a:ext cx="8534211" cy="70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>
              <a:lnSpc>
                <a:spcPct val="115000"/>
              </a:lnSpc>
            </a:pPr>
            <a:r>
              <a:rPr lang="he-IL" dirty="0">
                <a:highlight>
                  <a:srgbClr val="FFFF00"/>
                </a:highlight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**גם אם נתון שהמוצר נורמלי ושההכנסה עולה, לא נוכל להסיק דבר אודות גמישות הביקוש כיוון שהשינוי בכמות המבוקשת נובע משינוי ברמת הכנסה ולא עקב שינוי במחיר</a:t>
            </a:r>
            <a:endParaRPr lang="en-IL" dirty="0"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8767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0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DE543-A1C8-CAB4-76C9-728165297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B8D5C-482B-BC7C-33D1-2DF56AEE3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7653" y="2200966"/>
            <a:ext cx="8229600" cy="4525963"/>
          </a:xfrm>
        </p:spPr>
        <p:txBody>
          <a:bodyPr>
            <a:normAutofit/>
          </a:bodyPr>
          <a:lstStyle/>
          <a:p>
            <a:pPr marL="0" indent="0" algn="r" rtl="1">
              <a:lnSpc>
                <a:spcPct val="200000"/>
              </a:lnSpc>
              <a:buNone/>
            </a:pP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א. שרטטו את עקומת הביקוש המצרפית בענף למוצר 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X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 יש לציין שיפועים ונקודות קריטיות.</a:t>
            </a:r>
            <a:b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ב. סמנו </a:t>
            </a:r>
            <a:r>
              <a:rPr lang="he-I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נכון/לא נכון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עבור כל אחד מהסעיפים הבאים ונמקו:</a:t>
            </a:r>
            <a:b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1. אם המחיר בשוק הינו 5 </a:t>
            </a:r>
            <a:r>
              <a:rPr lang="he-IL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ש''ח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, הכמות המבוקשת בענף תהיה 45 יחידות 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X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  </a:t>
            </a:r>
            <a:endParaRPr lang="en-IL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marL="0" indent="0" algn="r" rtl="1">
              <a:lnSpc>
                <a:spcPct val="150000"/>
              </a:lnSpc>
              <a:buNone/>
            </a:pP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2. אם המחיר בשוק הינו 10 </a:t>
            </a:r>
            <a:r>
              <a:rPr lang="he-IL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ש''ח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, הכמות המבוקשת בענף תהיה 40 יחידות.   </a:t>
            </a:r>
            <a:endParaRPr lang="en-IL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marL="0" indent="0" algn="r" rtl="1">
              <a:lnSpc>
                <a:spcPct val="150000"/>
              </a:lnSpc>
              <a:buNone/>
            </a:pP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3. אם המחיר בשוק הינו 12 </a:t>
            </a:r>
            <a:r>
              <a:rPr lang="he-IL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ש''ח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, הכמות המבוקשת בענף תהיה 26 יחידות 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X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IL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marL="0" indent="0" algn="r" rtl="1">
              <a:lnSpc>
                <a:spcPct val="150000"/>
              </a:lnSpc>
              <a:buNone/>
            </a:pP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4. אם המחיר בשוק הינו 25 </a:t>
            </a:r>
            <a:r>
              <a:rPr lang="he-IL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ש''ח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, צרכן ב' וג' יצרכו כל אחד 5 יחידות 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X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(</a:t>
            </a:r>
            <a:r>
              <a:rPr lang="he-IL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סה''כ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כמות מבוקשת בענף תהיה 10 יחידות) ואילו צרכן א' לא יצרוך את  המוצר 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X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IL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marL="0" indent="0">
              <a:buNone/>
            </a:pPr>
            <a:r>
              <a:rPr lang="he-IL" sz="18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5. אם המחיר בשוק הינו 35 </a:t>
            </a:r>
            <a:r>
              <a:rPr lang="he-IL" sz="1800" dirty="0" err="1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ש''ח</a:t>
            </a:r>
            <a:r>
              <a:rPr lang="he-IL" sz="18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, צרכן ג' ירכוש יותר יחידות מצרכן ב'. </a:t>
            </a:r>
            <a:endParaRPr lang="en-IL" dirty="0"/>
          </a:p>
        </p:txBody>
      </p:sp>
      <p:sp>
        <p:nvSpPr>
          <p:cNvPr id="4" name="כותרת 1">
            <a:extLst>
              <a:ext uri="{FF2B5EF4-FFF2-40B4-BE49-F238E27FC236}">
                <a16:creationId xmlns:a16="http://schemas.microsoft.com/office/drawing/2014/main" id="{59B142BE-2795-BBC7-0FCE-2C92CE4CEB2C}"/>
              </a:ext>
            </a:extLst>
          </p:cNvPr>
          <p:cNvSpPr txBox="1">
            <a:spLocks/>
          </p:cNvSpPr>
          <p:nvPr/>
        </p:nvSpPr>
        <p:spPr>
          <a:xfrm>
            <a:off x="9240577" y="318640"/>
            <a:ext cx="2627784" cy="731836"/>
          </a:xfrm>
          <a:prstGeom prst="rect">
            <a:avLst/>
          </a:prstGeom>
        </p:spPr>
        <p:txBody>
          <a:bodyPr vert="horz" lIns="91440" tIns="45720" rIns="91440" bIns="45720" rtlCol="1" anchor="ctr">
            <a:noAutofit/>
          </a:bodyPr>
          <a:lstStyle>
            <a:lvl1pPr algn="ctr" defTabSz="914400" rtl="1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b="1" dirty="0">
                <a:cs typeface="+mn-cs"/>
              </a:rPr>
              <a:t>שאלה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9868EC-0A3E-2F9B-2026-A954A7ACD349}"/>
              </a:ext>
            </a:extLst>
          </p:cNvPr>
          <p:cNvSpPr txBox="1"/>
          <p:nvPr/>
        </p:nvSpPr>
        <p:spPr>
          <a:xfrm>
            <a:off x="640025" y="236169"/>
            <a:ext cx="6912428" cy="2283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he-IL" dirty="0"/>
              <a:t>עקומת הביקוש של צרכן א' למוצר </a:t>
            </a:r>
            <a:r>
              <a:rPr lang="en-US" dirty="0"/>
              <a:t>X</a:t>
            </a:r>
            <a:r>
              <a:rPr lang="he-IL" dirty="0"/>
              <a:t> הינה:  </a:t>
            </a:r>
            <a:r>
              <a:rPr lang="en-US" dirty="0"/>
              <a:t>P=10-X</a:t>
            </a:r>
            <a:br>
              <a:rPr lang="he-IL" dirty="0"/>
            </a:br>
            <a:r>
              <a:rPr lang="he-IL" dirty="0"/>
              <a:t>עקומת הביקוש של צרכן ב' למוצר </a:t>
            </a:r>
            <a:r>
              <a:rPr lang="en-US" dirty="0"/>
              <a:t>X</a:t>
            </a:r>
            <a:r>
              <a:rPr lang="he-IL" dirty="0"/>
              <a:t> הינה:</a:t>
            </a:r>
            <a:r>
              <a:rPr lang="en-US" dirty="0"/>
              <a:t>  P=20-X  </a:t>
            </a:r>
            <a:br>
              <a:rPr lang="he-IL" dirty="0"/>
            </a:br>
            <a:r>
              <a:rPr lang="he-IL" dirty="0"/>
              <a:t>עקומת הביקוש של צרכן ג' למוצר </a:t>
            </a:r>
            <a:r>
              <a:rPr lang="en-US" dirty="0"/>
              <a:t>X</a:t>
            </a:r>
            <a:r>
              <a:rPr lang="he-IL" dirty="0"/>
              <a:t> הינה: </a:t>
            </a:r>
            <a:r>
              <a:rPr lang="en-US" dirty="0"/>
              <a:t>P=40-X</a:t>
            </a:r>
            <a:br>
              <a:rPr lang="he-IL" dirty="0"/>
            </a:br>
            <a:endParaRPr lang="en-IL" sz="2000" dirty="0"/>
          </a:p>
        </p:txBody>
      </p:sp>
    </p:spTree>
    <p:extLst>
      <p:ext uri="{BB962C8B-B14F-4D97-AF65-F5344CB8AC3E}">
        <p14:creationId xmlns:p14="http://schemas.microsoft.com/office/powerpoint/2010/main" val="1150872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מחבר ישר 5"/>
          <p:cNvCxnSpPr/>
          <p:nvPr/>
        </p:nvCxnSpPr>
        <p:spPr>
          <a:xfrm>
            <a:off x="1074578" y="2963680"/>
            <a:ext cx="0" cy="2022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מחבר ישר 32"/>
          <p:cNvCxnSpPr/>
          <p:nvPr/>
        </p:nvCxnSpPr>
        <p:spPr>
          <a:xfrm flipH="1">
            <a:off x="1122170" y="4985863"/>
            <a:ext cx="2116586" cy="138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מחבר ישר 55"/>
          <p:cNvCxnSpPr/>
          <p:nvPr/>
        </p:nvCxnSpPr>
        <p:spPr>
          <a:xfrm>
            <a:off x="3773034" y="2939404"/>
            <a:ext cx="0" cy="2022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מחבר ישר 56"/>
          <p:cNvCxnSpPr/>
          <p:nvPr/>
        </p:nvCxnSpPr>
        <p:spPr>
          <a:xfrm flipH="1">
            <a:off x="3820626" y="4961587"/>
            <a:ext cx="1345407" cy="138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מחבר ישר 75"/>
          <p:cNvCxnSpPr/>
          <p:nvPr/>
        </p:nvCxnSpPr>
        <p:spPr>
          <a:xfrm>
            <a:off x="6317989" y="2939404"/>
            <a:ext cx="0" cy="2022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מחבר ישר 76"/>
          <p:cNvCxnSpPr/>
          <p:nvPr/>
        </p:nvCxnSpPr>
        <p:spPr>
          <a:xfrm flipH="1">
            <a:off x="6365581" y="4951166"/>
            <a:ext cx="1599135" cy="242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מחבר ישר 94"/>
          <p:cNvCxnSpPr/>
          <p:nvPr/>
        </p:nvCxnSpPr>
        <p:spPr>
          <a:xfrm>
            <a:off x="8519444" y="2974103"/>
            <a:ext cx="0" cy="2022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מחבר ישר 95"/>
          <p:cNvCxnSpPr/>
          <p:nvPr/>
        </p:nvCxnSpPr>
        <p:spPr>
          <a:xfrm flipH="1">
            <a:off x="8519445" y="4961587"/>
            <a:ext cx="3438097" cy="14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מחבר ישר 2"/>
          <p:cNvCxnSpPr/>
          <p:nvPr/>
        </p:nvCxnSpPr>
        <p:spPr>
          <a:xfrm>
            <a:off x="1037333" y="4556122"/>
            <a:ext cx="728487" cy="482513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מחבר ישר 59"/>
          <p:cNvCxnSpPr/>
          <p:nvPr/>
        </p:nvCxnSpPr>
        <p:spPr>
          <a:xfrm>
            <a:off x="3697702" y="3964798"/>
            <a:ext cx="1302319" cy="1021065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מחבר ישר 60"/>
          <p:cNvCxnSpPr>
            <a:cxnSpLocks/>
          </p:cNvCxnSpPr>
          <p:nvPr/>
        </p:nvCxnSpPr>
        <p:spPr>
          <a:xfrm>
            <a:off x="6365581" y="3231265"/>
            <a:ext cx="1655926" cy="1737249"/>
          </a:xfrm>
          <a:prstGeom prst="line">
            <a:avLst/>
          </a:prstGeom>
          <a:ln w="142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933864" y="5034415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73575" y="5113987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86157" y="4985863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789402" y="5116917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60</a:t>
            </a:r>
            <a:endParaRPr lang="en-US" dirty="0"/>
          </a:p>
        </p:txBody>
      </p:sp>
      <p:sp>
        <p:nvSpPr>
          <p:cNvPr id="66" name="TextBox 65"/>
          <p:cNvSpPr txBox="1"/>
          <p:nvPr/>
        </p:nvSpPr>
        <p:spPr>
          <a:xfrm>
            <a:off x="664231" y="2877708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414882" y="2877708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874012" y="2647496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142315" y="2634747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cxnSp>
        <p:nvCxnSpPr>
          <p:cNvPr id="70" name="מחבר ישר 69"/>
          <p:cNvCxnSpPr>
            <a:cxnSpLocks/>
            <a:stCxn id="49" idx="3"/>
          </p:cNvCxnSpPr>
          <p:nvPr/>
        </p:nvCxnSpPr>
        <p:spPr>
          <a:xfrm>
            <a:off x="8540127" y="3277427"/>
            <a:ext cx="534046" cy="605306"/>
          </a:xfrm>
          <a:prstGeom prst="line">
            <a:avLst/>
          </a:prstGeom>
          <a:ln w="155575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מחבר ישר 10"/>
          <p:cNvCxnSpPr/>
          <p:nvPr/>
        </p:nvCxnSpPr>
        <p:spPr>
          <a:xfrm flipV="1">
            <a:off x="991123" y="3938015"/>
            <a:ext cx="10798279" cy="1080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מחבר ישר 73"/>
          <p:cNvCxnSpPr/>
          <p:nvPr/>
        </p:nvCxnSpPr>
        <p:spPr>
          <a:xfrm flipV="1">
            <a:off x="1074578" y="4441170"/>
            <a:ext cx="10798279" cy="1080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635261" y="436458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10</a:t>
            </a:r>
            <a:endParaRPr lang="en-US" dirty="0"/>
          </a:p>
        </p:txBody>
      </p:sp>
      <p:sp>
        <p:nvSpPr>
          <p:cNvPr id="80" name="TextBox 79"/>
          <p:cNvSpPr txBox="1"/>
          <p:nvPr/>
        </p:nvSpPr>
        <p:spPr>
          <a:xfrm>
            <a:off x="654394" y="381416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20</a:t>
            </a:r>
            <a:endParaRPr lang="en-US" dirty="0"/>
          </a:p>
        </p:txBody>
      </p:sp>
      <p:sp>
        <p:nvSpPr>
          <p:cNvPr id="81" name="TextBox 80"/>
          <p:cNvSpPr txBox="1"/>
          <p:nvPr/>
        </p:nvSpPr>
        <p:spPr>
          <a:xfrm>
            <a:off x="3305258" y="442932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10</a:t>
            </a:r>
            <a:endParaRPr lang="en-US" dirty="0"/>
          </a:p>
        </p:txBody>
      </p:sp>
      <p:sp>
        <p:nvSpPr>
          <p:cNvPr id="82" name="TextBox 81"/>
          <p:cNvSpPr txBox="1"/>
          <p:nvPr/>
        </p:nvSpPr>
        <p:spPr>
          <a:xfrm>
            <a:off x="5839849" y="3135932"/>
            <a:ext cx="441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30</a:t>
            </a:r>
            <a:endParaRPr lang="en-US" dirty="0"/>
          </a:p>
        </p:txBody>
      </p:sp>
      <p:cxnSp>
        <p:nvCxnSpPr>
          <p:cNvPr id="83" name="מחבר ישר 82"/>
          <p:cNvCxnSpPr/>
          <p:nvPr/>
        </p:nvCxnSpPr>
        <p:spPr>
          <a:xfrm>
            <a:off x="9082622" y="3912269"/>
            <a:ext cx="1004724" cy="567680"/>
          </a:xfrm>
          <a:prstGeom prst="line">
            <a:avLst/>
          </a:prstGeom>
          <a:ln w="155575">
            <a:solidFill>
              <a:schemeClr val="accent6">
                <a:lumMod val="75000"/>
              </a:schemeClr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6" name="מחבר ישר 85"/>
          <p:cNvCxnSpPr/>
          <p:nvPr/>
        </p:nvCxnSpPr>
        <p:spPr>
          <a:xfrm>
            <a:off x="10087346" y="4471358"/>
            <a:ext cx="1783561" cy="497103"/>
          </a:xfrm>
          <a:prstGeom prst="line">
            <a:avLst/>
          </a:prstGeom>
          <a:ln w="155575">
            <a:solidFill>
              <a:schemeClr val="accent4">
                <a:lumMod val="50000"/>
              </a:schemeClr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8940586" y="507766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10</a:t>
            </a:r>
            <a:endParaRPr lang="en-US" dirty="0"/>
          </a:p>
        </p:txBody>
      </p:sp>
      <p:sp>
        <p:nvSpPr>
          <p:cNvPr id="89" name="TextBox 88"/>
          <p:cNvSpPr txBox="1"/>
          <p:nvPr/>
        </p:nvSpPr>
        <p:spPr>
          <a:xfrm>
            <a:off x="9903381" y="510035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30</a:t>
            </a:r>
            <a:endParaRPr lang="en-US" dirty="0"/>
          </a:p>
        </p:txBody>
      </p:sp>
      <p:sp>
        <p:nvSpPr>
          <p:cNvPr id="90" name="TextBox 89"/>
          <p:cNvSpPr txBox="1"/>
          <p:nvPr/>
        </p:nvSpPr>
        <p:spPr>
          <a:xfrm>
            <a:off x="1446207" y="5203115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10</a:t>
            </a:r>
            <a:endParaRPr lang="en-US" dirty="0"/>
          </a:p>
        </p:txBody>
      </p:sp>
      <p:sp>
        <p:nvSpPr>
          <p:cNvPr id="93" name="TextBox 92"/>
          <p:cNvSpPr txBox="1"/>
          <p:nvPr/>
        </p:nvSpPr>
        <p:spPr>
          <a:xfrm>
            <a:off x="8163341" y="4404817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10</a:t>
            </a:r>
            <a:endParaRPr lang="en-US" dirty="0"/>
          </a:p>
        </p:txBody>
      </p:sp>
      <p:sp>
        <p:nvSpPr>
          <p:cNvPr id="94" name="TextBox 93"/>
          <p:cNvSpPr txBox="1"/>
          <p:nvPr/>
        </p:nvSpPr>
        <p:spPr>
          <a:xfrm>
            <a:off x="8150497" y="385711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20</a:t>
            </a:r>
            <a:endParaRPr lang="en-US" dirty="0"/>
          </a:p>
        </p:txBody>
      </p:sp>
      <p:cxnSp>
        <p:nvCxnSpPr>
          <p:cNvPr id="100" name="מחבר ישר 99"/>
          <p:cNvCxnSpPr/>
          <p:nvPr/>
        </p:nvCxnSpPr>
        <p:spPr>
          <a:xfrm flipH="1">
            <a:off x="10066608" y="4464553"/>
            <a:ext cx="13826" cy="472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מחבר ישר 100"/>
          <p:cNvCxnSpPr/>
          <p:nvPr/>
        </p:nvCxnSpPr>
        <p:spPr>
          <a:xfrm flipH="1">
            <a:off x="9058477" y="3916776"/>
            <a:ext cx="13793" cy="10207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859016" y="514493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20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7704760" y="50451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30</a:t>
            </a:r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8121423" y="309276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28288" y="5098507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10</a:t>
            </a:r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6645701" y="507123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10</a:t>
            </a:r>
            <a:endParaRPr 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7223362" y="5053467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20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3228161" y="378465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20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399337" y="2319979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P=10-X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21500" y="2230814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P=20-X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59485" y="2202891"/>
            <a:ext cx="854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P=30-X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99337" y="1953005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dirty="0"/>
              <a:t>צרכן א</a:t>
            </a:r>
            <a:endParaRPr lang="en-US" dirty="0"/>
          </a:p>
        </p:txBody>
      </p:sp>
      <p:sp>
        <p:nvSpPr>
          <p:cNvPr id="51" name="TextBox 50"/>
          <p:cNvSpPr txBox="1"/>
          <p:nvPr/>
        </p:nvSpPr>
        <p:spPr>
          <a:xfrm>
            <a:off x="3990387" y="1776529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dirty="0"/>
              <a:t>צרכן ב</a:t>
            </a:r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6597148" y="1763761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dirty="0"/>
              <a:t>צרכן ג</a:t>
            </a:r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7250314" y="388304"/>
            <a:ext cx="1556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dirty="0"/>
              <a:t>1)) נבודד את </a:t>
            </a:r>
            <a:r>
              <a:rPr lang="en-US" dirty="0"/>
              <a:t>X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59765" y="756360"/>
            <a:ext cx="1047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dirty="0"/>
              <a:t>2)) </a:t>
            </a:r>
            <a:r>
              <a:rPr lang="he-IL" dirty="0" err="1"/>
              <a:t>נסכום</a:t>
            </a:r>
            <a:endParaRPr lang="en-US" dirty="0"/>
          </a:p>
        </p:txBody>
      </p:sp>
      <p:sp>
        <p:nvSpPr>
          <p:cNvPr id="71" name="TextBox 70"/>
          <p:cNvSpPr txBox="1"/>
          <p:nvPr/>
        </p:nvSpPr>
        <p:spPr>
          <a:xfrm>
            <a:off x="6597148" y="1085881"/>
            <a:ext cx="2226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dirty="0"/>
              <a:t>3)) נבודד בחזרה את </a:t>
            </a:r>
            <a:r>
              <a:rPr lang="en-US" dirty="0"/>
              <a:t>P</a:t>
            </a:r>
          </a:p>
        </p:txBody>
      </p:sp>
      <p:sp>
        <p:nvSpPr>
          <p:cNvPr id="5" name="כותרת 1">
            <a:extLst>
              <a:ext uri="{FF2B5EF4-FFF2-40B4-BE49-F238E27FC236}">
                <a16:creationId xmlns:a16="http://schemas.microsoft.com/office/drawing/2014/main" id="{E917D031-ABF5-970E-49DA-BAB1A7FAAFDD}"/>
              </a:ext>
            </a:extLst>
          </p:cNvPr>
          <p:cNvSpPr txBox="1">
            <a:spLocks/>
          </p:cNvSpPr>
          <p:nvPr/>
        </p:nvSpPr>
        <p:spPr>
          <a:xfrm>
            <a:off x="9240577" y="318640"/>
            <a:ext cx="2627784" cy="731836"/>
          </a:xfrm>
          <a:prstGeom prst="rect">
            <a:avLst/>
          </a:prstGeom>
        </p:spPr>
        <p:txBody>
          <a:bodyPr vert="horz" lIns="91440" tIns="45720" rIns="91440" bIns="45720" rtlCol="1" anchor="ctr">
            <a:noAutofit/>
          </a:bodyPr>
          <a:lstStyle>
            <a:lvl1pPr algn="ctr" defTabSz="914400" rtl="1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b="1" dirty="0">
                <a:cs typeface="+mn-cs"/>
              </a:rPr>
              <a:t>שאלה 2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F4087E2D-16D9-80A5-2A90-3ECA41D8D287}"/>
              </a:ext>
            </a:extLst>
          </p:cNvPr>
          <p:cNvSpPr txBox="1"/>
          <p:nvPr/>
        </p:nvSpPr>
        <p:spPr>
          <a:xfrm>
            <a:off x="-1175693" y="49231"/>
            <a:ext cx="4895467" cy="1674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he-IL" dirty="0"/>
              <a:t>עקומת הביקוש של צרכן א' :  </a:t>
            </a:r>
            <a:r>
              <a:rPr lang="en-US" dirty="0"/>
              <a:t>P=10-X</a:t>
            </a:r>
            <a:br>
              <a:rPr lang="he-IL" dirty="0"/>
            </a:br>
            <a:r>
              <a:rPr lang="he-IL" dirty="0"/>
              <a:t>עקומת הביקוש של צרכן ב' :</a:t>
            </a:r>
            <a:r>
              <a:rPr lang="en-US" dirty="0"/>
              <a:t>  P=20-X  </a:t>
            </a:r>
            <a:br>
              <a:rPr lang="he-IL" dirty="0"/>
            </a:br>
            <a:r>
              <a:rPr lang="he-IL" dirty="0"/>
              <a:t>עקומת הביקוש של צרכן ג: </a:t>
            </a:r>
            <a:r>
              <a:rPr lang="en-US" dirty="0"/>
              <a:t>P=40-X</a:t>
            </a:r>
            <a:endParaRPr lang="en-IL" sz="2000" dirty="0"/>
          </a:p>
        </p:txBody>
      </p:sp>
      <p:sp>
        <p:nvSpPr>
          <p:cNvPr id="10" name="TextBox 71">
            <a:extLst>
              <a:ext uri="{FF2B5EF4-FFF2-40B4-BE49-F238E27FC236}">
                <a16:creationId xmlns:a16="http://schemas.microsoft.com/office/drawing/2014/main" id="{8AFC393A-CC0E-C4A6-814A-18C46CEB8E8B}"/>
              </a:ext>
            </a:extLst>
          </p:cNvPr>
          <p:cNvSpPr txBox="1"/>
          <p:nvPr/>
        </p:nvSpPr>
        <p:spPr>
          <a:xfrm>
            <a:off x="1313414" y="2800963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X=10-P</a:t>
            </a:r>
          </a:p>
        </p:txBody>
      </p:sp>
      <p:sp>
        <p:nvSpPr>
          <p:cNvPr id="12" name="TextBox 72">
            <a:extLst>
              <a:ext uri="{FF2B5EF4-FFF2-40B4-BE49-F238E27FC236}">
                <a16:creationId xmlns:a16="http://schemas.microsoft.com/office/drawing/2014/main" id="{F967ACAE-7A86-F102-F439-D5CB951C9C25}"/>
              </a:ext>
            </a:extLst>
          </p:cNvPr>
          <p:cNvSpPr txBox="1"/>
          <p:nvPr/>
        </p:nvSpPr>
        <p:spPr>
          <a:xfrm>
            <a:off x="3934332" y="2868649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X=20-p</a:t>
            </a:r>
          </a:p>
        </p:txBody>
      </p:sp>
      <p:sp>
        <p:nvSpPr>
          <p:cNvPr id="13" name="TextBox 74">
            <a:extLst>
              <a:ext uri="{FF2B5EF4-FFF2-40B4-BE49-F238E27FC236}">
                <a16:creationId xmlns:a16="http://schemas.microsoft.com/office/drawing/2014/main" id="{CF209C54-CBAC-62B7-C689-727560A66B13}"/>
              </a:ext>
            </a:extLst>
          </p:cNvPr>
          <p:cNvSpPr txBox="1"/>
          <p:nvPr/>
        </p:nvSpPr>
        <p:spPr>
          <a:xfrm>
            <a:off x="6585875" y="2783421"/>
            <a:ext cx="854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X=30-P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3">
                <a:extLst>
                  <a:ext uri="{FF2B5EF4-FFF2-40B4-BE49-F238E27FC236}">
                    <a16:creationId xmlns:a16="http://schemas.microsoft.com/office/drawing/2014/main" id="{66ED401F-94C7-A570-FA02-38C7C02AD147}"/>
                  </a:ext>
                </a:extLst>
              </p:cNvPr>
              <p:cNvSpPr txBox="1"/>
              <p:nvPr/>
            </p:nvSpPr>
            <p:spPr>
              <a:xfrm>
                <a:off x="7861361" y="1628345"/>
                <a:ext cx="4277490" cy="9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b="1" i="0" dirty="0" smtClean="0">
                                    <a:solidFill>
                                      <a:srgbClr val="C00000"/>
                                    </a:solidFill>
                                  </a:rPr>
                                  <m:t>60</m:t>
                                </m:r>
                                <m:r>
                                  <m:rPr>
                                    <m:nor/>
                                  </m:rPr>
                                  <a:rPr lang="en-US" b="1" i="0" dirty="0" smtClean="0">
                                    <a:solidFill>
                                      <a:srgbClr val="C00000"/>
                                    </a:solidFill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b="1" i="0" dirty="0" smtClean="0">
                                    <a:solidFill>
                                      <a:srgbClr val="C00000"/>
                                    </a:solidFill>
                                  </a:rPr>
                                  <m:t>3</m:t>
                                </m:r>
                                <m:r>
                                  <m:rPr>
                                    <m:nor/>
                                  </m:rPr>
                                  <a:rPr lang="en-US" b="1" i="0" dirty="0" smtClean="0">
                                    <a:solidFill>
                                      <a:srgbClr val="C00000"/>
                                    </a:solidFill>
                                  </a:rPr>
                                  <m:t>P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n-US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𝟓𝟎</m:t>
                                </m:r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e>
                              <m:e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𝟐𝟎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b="0" i="1" smtClean="0"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  <m:r>
                                  <a:rPr lang="en-US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𝟑𝟎</m:t>
                                </m:r>
                                <m:r>
                                  <a:rPr lang="en-US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he-IL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          </m:t>
                                </m:r>
                              </m:e>
                              <m:e>
                                <m:r>
                                  <a:rPr lang="en-US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𝟐𝟎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n-US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𝟑𝟎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3">
                <a:extLst>
                  <a:ext uri="{FF2B5EF4-FFF2-40B4-BE49-F238E27FC236}">
                    <a16:creationId xmlns:a16="http://schemas.microsoft.com/office/drawing/2014/main" id="{66ED401F-94C7-A570-FA02-38C7C02AD1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1361" y="1628345"/>
                <a:ext cx="4277490" cy="9766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2008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/>
      <p:bldP spid="89" grpId="0"/>
      <p:bldP spid="2" grpId="0"/>
      <p:bldP spid="46" grpId="0"/>
      <p:bldP spid="47" grpId="0"/>
      <p:bldP spid="59" grpId="0"/>
      <p:bldP spid="62" grpId="0"/>
      <p:bldP spid="71" grpId="0"/>
      <p:bldP spid="10" grpId="0"/>
      <p:bldP spid="12" grpId="0"/>
      <p:bldP spid="13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E18DC-0A20-61AC-853E-B9A242F00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מחבר ישר 5">
            <a:extLst>
              <a:ext uri="{FF2B5EF4-FFF2-40B4-BE49-F238E27FC236}">
                <a16:creationId xmlns:a16="http://schemas.microsoft.com/office/drawing/2014/main" id="{BAC79BF6-62F7-6EBC-6ECF-C066F5D8829A}"/>
              </a:ext>
            </a:extLst>
          </p:cNvPr>
          <p:cNvCxnSpPr/>
          <p:nvPr/>
        </p:nvCxnSpPr>
        <p:spPr>
          <a:xfrm>
            <a:off x="1074578" y="2963680"/>
            <a:ext cx="0" cy="2022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מחבר ישר 32">
            <a:extLst>
              <a:ext uri="{FF2B5EF4-FFF2-40B4-BE49-F238E27FC236}">
                <a16:creationId xmlns:a16="http://schemas.microsoft.com/office/drawing/2014/main" id="{EFEC9981-D137-B618-5F97-EEE1C534E054}"/>
              </a:ext>
            </a:extLst>
          </p:cNvPr>
          <p:cNvCxnSpPr/>
          <p:nvPr/>
        </p:nvCxnSpPr>
        <p:spPr>
          <a:xfrm flipH="1">
            <a:off x="1122170" y="4985863"/>
            <a:ext cx="2116586" cy="138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מחבר ישר 55">
            <a:extLst>
              <a:ext uri="{FF2B5EF4-FFF2-40B4-BE49-F238E27FC236}">
                <a16:creationId xmlns:a16="http://schemas.microsoft.com/office/drawing/2014/main" id="{04C8BEBF-EA4E-873E-C887-1216A26A54A0}"/>
              </a:ext>
            </a:extLst>
          </p:cNvPr>
          <p:cNvCxnSpPr/>
          <p:nvPr/>
        </p:nvCxnSpPr>
        <p:spPr>
          <a:xfrm>
            <a:off x="3773034" y="2939404"/>
            <a:ext cx="0" cy="2022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מחבר ישר 56">
            <a:extLst>
              <a:ext uri="{FF2B5EF4-FFF2-40B4-BE49-F238E27FC236}">
                <a16:creationId xmlns:a16="http://schemas.microsoft.com/office/drawing/2014/main" id="{0E514DAE-1D28-A9EB-98D6-BDFBB2AF0F53}"/>
              </a:ext>
            </a:extLst>
          </p:cNvPr>
          <p:cNvCxnSpPr/>
          <p:nvPr/>
        </p:nvCxnSpPr>
        <p:spPr>
          <a:xfrm flipH="1">
            <a:off x="3820626" y="4961587"/>
            <a:ext cx="1345407" cy="138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מחבר ישר 75">
            <a:extLst>
              <a:ext uri="{FF2B5EF4-FFF2-40B4-BE49-F238E27FC236}">
                <a16:creationId xmlns:a16="http://schemas.microsoft.com/office/drawing/2014/main" id="{FC0A826D-ADF3-D80F-E7DA-C7F9EA5F4391}"/>
              </a:ext>
            </a:extLst>
          </p:cNvPr>
          <p:cNvCxnSpPr/>
          <p:nvPr/>
        </p:nvCxnSpPr>
        <p:spPr>
          <a:xfrm>
            <a:off x="6317989" y="2939404"/>
            <a:ext cx="0" cy="2022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מחבר ישר 76">
            <a:extLst>
              <a:ext uri="{FF2B5EF4-FFF2-40B4-BE49-F238E27FC236}">
                <a16:creationId xmlns:a16="http://schemas.microsoft.com/office/drawing/2014/main" id="{8EE1B158-927B-212E-A7CF-46FFA5A2E9B1}"/>
              </a:ext>
            </a:extLst>
          </p:cNvPr>
          <p:cNvCxnSpPr/>
          <p:nvPr/>
        </p:nvCxnSpPr>
        <p:spPr>
          <a:xfrm flipH="1">
            <a:off x="6365581" y="4951166"/>
            <a:ext cx="1599135" cy="242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מחבר ישר 94">
            <a:extLst>
              <a:ext uri="{FF2B5EF4-FFF2-40B4-BE49-F238E27FC236}">
                <a16:creationId xmlns:a16="http://schemas.microsoft.com/office/drawing/2014/main" id="{BB2D2C8B-99C7-5690-1BEB-413E45C2B2E5}"/>
              </a:ext>
            </a:extLst>
          </p:cNvPr>
          <p:cNvCxnSpPr/>
          <p:nvPr/>
        </p:nvCxnSpPr>
        <p:spPr>
          <a:xfrm>
            <a:off x="8519444" y="2974103"/>
            <a:ext cx="0" cy="2022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מחבר ישר 95">
            <a:extLst>
              <a:ext uri="{FF2B5EF4-FFF2-40B4-BE49-F238E27FC236}">
                <a16:creationId xmlns:a16="http://schemas.microsoft.com/office/drawing/2014/main" id="{A707F83B-AA05-7E8C-8899-1D7347B65852}"/>
              </a:ext>
            </a:extLst>
          </p:cNvPr>
          <p:cNvCxnSpPr/>
          <p:nvPr/>
        </p:nvCxnSpPr>
        <p:spPr>
          <a:xfrm flipH="1">
            <a:off x="8519445" y="4961587"/>
            <a:ext cx="3438097" cy="14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מחבר ישר 2">
            <a:extLst>
              <a:ext uri="{FF2B5EF4-FFF2-40B4-BE49-F238E27FC236}">
                <a16:creationId xmlns:a16="http://schemas.microsoft.com/office/drawing/2014/main" id="{2CBE3DD9-EFF3-2AF7-13CD-67FE0E0E90FA}"/>
              </a:ext>
            </a:extLst>
          </p:cNvPr>
          <p:cNvCxnSpPr/>
          <p:nvPr/>
        </p:nvCxnSpPr>
        <p:spPr>
          <a:xfrm>
            <a:off x="1037333" y="4556122"/>
            <a:ext cx="728487" cy="482513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מחבר ישר 59">
            <a:extLst>
              <a:ext uri="{FF2B5EF4-FFF2-40B4-BE49-F238E27FC236}">
                <a16:creationId xmlns:a16="http://schemas.microsoft.com/office/drawing/2014/main" id="{4054D25D-B4D0-59F4-AE94-D9B218C3974E}"/>
              </a:ext>
            </a:extLst>
          </p:cNvPr>
          <p:cNvCxnSpPr/>
          <p:nvPr/>
        </p:nvCxnSpPr>
        <p:spPr>
          <a:xfrm>
            <a:off x="3697702" y="3964798"/>
            <a:ext cx="1302319" cy="1021065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מחבר ישר 60">
            <a:extLst>
              <a:ext uri="{FF2B5EF4-FFF2-40B4-BE49-F238E27FC236}">
                <a16:creationId xmlns:a16="http://schemas.microsoft.com/office/drawing/2014/main" id="{75E29B8B-743B-353D-0772-29ADE60C1AE4}"/>
              </a:ext>
            </a:extLst>
          </p:cNvPr>
          <p:cNvCxnSpPr>
            <a:cxnSpLocks/>
          </p:cNvCxnSpPr>
          <p:nvPr/>
        </p:nvCxnSpPr>
        <p:spPr>
          <a:xfrm>
            <a:off x="6365581" y="3231265"/>
            <a:ext cx="1655926" cy="1737249"/>
          </a:xfrm>
          <a:prstGeom prst="line">
            <a:avLst/>
          </a:prstGeom>
          <a:ln w="142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09D79C0-5136-F0BC-CE58-6A234BBCB636}"/>
              </a:ext>
            </a:extLst>
          </p:cNvPr>
          <p:cNvSpPr txBox="1"/>
          <p:nvPr/>
        </p:nvSpPr>
        <p:spPr>
          <a:xfrm>
            <a:off x="2933864" y="5034415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C0FB5CC-1D02-7DF3-8ED1-FA4C7E1F3D1F}"/>
              </a:ext>
            </a:extLst>
          </p:cNvPr>
          <p:cNvSpPr txBox="1"/>
          <p:nvPr/>
        </p:nvSpPr>
        <p:spPr>
          <a:xfrm>
            <a:off x="5373575" y="5113987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A5401DE-AB6B-4D2F-2577-E000E6F38FE2}"/>
              </a:ext>
            </a:extLst>
          </p:cNvPr>
          <p:cNvSpPr txBox="1"/>
          <p:nvPr/>
        </p:nvSpPr>
        <p:spPr>
          <a:xfrm>
            <a:off x="8186157" y="4985863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5214084-CE76-CD4D-0469-6D09C886930E}"/>
              </a:ext>
            </a:extLst>
          </p:cNvPr>
          <p:cNvSpPr txBox="1"/>
          <p:nvPr/>
        </p:nvSpPr>
        <p:spPr>
          <a:xfrm>
            <a:off x="11789402" y="5116917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60</a:t>
            </a:r>
            <a:endParaRPr 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D476259-7CD3-EC0D-DC62-FB815A496010}"/>
              </a:ext>
            </a:extLst>
          </p:cNvPr>
          <p:cNvSpPr txBox="1"/>
          <p:nvPr/>
        </p:nvSpPr>
        <p:spPr>
          <a:xfrm>
            <a:off x="664231" y="2877708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7B6AEA8-44AC-99EF-E0B1-0015A5BF015E}"/>
              </a:ext>
            </a:extLst>
          </p:cNvPr>
          <p:cNvSpPr txBox="1"/>
          <p:nvPr/>
        </p:nvSpPr>
        <p:spPr>
          <a:xfrm>
            <a:off x="3414882" y="2877708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4C8941D-B171-5B97-9141-635B9AF11BC4}"/>
              </a:ext>
            </a:extLst>
          </p:cNvPr>
          <p:cNvSpPr txBox="1"/>
          <p:nvPr/>
        </p:nvSpPr>
        <p:spPr>
          <a:xfrm>
            <a:off x="5874012" y="2647496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374D2D9-5168-BC8A-3CFF-568F7ADF7862}"/>
              </a:ext>
            </a:extLst>
          </p:cNvPr>
          <p:cNvSpPr txBox="1"/>
          <p:nvPr/>
        </p:nvSpPr>
        <p:spPr>
          <a:xfrm>
            <a:off x="8142315" y="2634747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cxnSp>
        <p:nvCxnSpPr>
          <p:cNvPr id="70" name="מחבר ישר 69">
            <a:extLst>
              <a:ext uri="{FF2B5EF4-FFF2-40B4-BE49-F238E27FC236}">
                <a16:creationId xmlns:a16="http://schemas.microsoft.com/office/drawing/2014/main" id="{D6C7A3AE-7AB8-B83E-C360-E74611BFF06D}"/>
              </a:ext>
            </a:extLst>
          </p:cNvPr>
          <p:cNvCxnSpPr>
            <a:cxnSpLocks/>
            <a:stCxn id="49" idx="3"/>
          </p:cNvCxnSpPr>
          <p:nvPr/>
        </p:nvCxnSpPr>
        <p:spPr>
          <a:xfrm>
            <a:off x="8540127" y="3277427"/>
            <a:ext cx="534046" cy="605306"/>
          </a:xfrm>
          <a:prstGeom prst="line">
            <a:avLst/>
          </a:prstGeom>
          <a:ln w="155575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מחבר ישר 10">
            <a:extLst>
              <a:ext uri="{FF2B5EF4-FFF2-40B4-BE49-F238E27FC236}">
                <a16:creationId xmlns:a16="http://schemas.microsoft.com/office/drawing/2014/main" id="{18599B99-A36F-181C-56EF-F2760A95009C}"/>
              </a:ext>
            </a:extLst>
          </p:cNvPr>
          <p:cNvCxnSpPr/>
          <p:nvPr/>
        </p:nvCxnSpPr>
        <p:spPr>
          <a:xfrm flipV="1">
            <a:off x="991123" y="3938015"/>
            <a:ext cx="10798279" cy="1080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מחבר ישר 73">
            <a:extLst>
              <a:ext uri="{FF2B5EF4-FFF2-40B4-BE49-F238E27FC236}">
                <a16:creationId xmlns:a16="http://schemas.microsoft.com/office/drawing/2014/main" id="{1E1A3335-6BEB-C6E9-61A6-71CEE01D3404}"/>
              </a:ext>
            </a:extLst>
          </p:cNvPr>
          <p:cNvCxnSpPr/>
          <p:nvPr/>
        </p:nvCxnSpPr>
        <p:spPr>
          <a:xfrm flipV="1">
            <a:off x="1074578" y="4441170"/>
            <a:ext cx="10798279" cy="1080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F235206A-C9D3-5C34-8058-DA0E221DD591}"/>
              </a:ext>
            </a:extLst>
          </p:cNvPr>
          <p:cNvSpPr txBox="1"/>
          <p:nvPr/>
        </p:nvSpPr>
        <p:spPr>
          <a:xfrm>
            <a:off x="635261" y="436458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10</a:t>
            </a:r>
            <a:endParaRPr 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A0E9075-F2F8-4B0F-C50F-C74A82461122}"/>
              </a:ext>
            </a:extLst>
          </p:cNvPr>
          <p:cNvSpPr txBox="1"/>
          <p:nvPr/>
        </p:nvSpPr>
        <p:spPr>
          <a:xfrm>
            <a:off x="654394" y="381416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20</a:t>
            </a:r>
            <a:endParaRPr 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ABC55F2-E8FB-FDB2-17E4-12F895A0F449}"/>
              </a:ext>
            </a:extLst>
          </p:cNvPr>
          <p:cNvSpPr txBox="1"/>
          <p:nvPr/>
        </p:nvSpPr>
        <p:spPr>
          <a:xfrm>
            <a:off x="3305258" y="442932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10</a:t>
            </a:r>
            <a:endParaRPr 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7C004F9-23FD-2313-4D84-9CD66E2FE6F6}"/>
              </a:ext>
            </a:extLst>
          </p:cNvPr>
          <p:cNvSpPr txBox="1"/>
          <p:nvPr/>
        </p:nvSpPr>
        <p:spPr>
          <a:xfrm>
            <a:off x="5839849" y="3135932"/>
            <a:ext cx="441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30</a:t>
            </a:r>
            <a:endParaRPr lang="en-US" dirty="0"/>
          </a:p>
        </p:txBody>
      </p:sp>
      <p:cxnSp>
        <p:nvCxnSpPr>
          <p:cNvPr id="83" name="מחבר ישר 82">
            <a:extLst>
              <a:ext uri="{FF2B5EF4-FFF2-40B4-BE49-F238E27FC236}">
                <a16:creationId xmlns:a16="http://schemas.microsoft.com/office/drawing/2014/main" id="{0065E928-F502-2EA6-5985-D177A98ADE20}"/>
              </a:ext>
            </a:extLst>
          </p:cNvPr>
          <p:cNvCxnSpPr/>
          <p:nvPr/>
        </p:nvCxnSpPr>
        <p:spPr>
          <a:xfrm>
            <a:off x="9082622" y="3912269"/>
            <a:ext cx="1004724" cy="567680"/>
          </a:xfrm>
          <a:prstGeom prst="line">
            <a:avLst/>
          </a:prstGeom>
          <a:ln w="155575">
            <a:solidFill>
              <a:schemeClr val="accent6">
                <a:lumMod val="75000"/>
              </a:schemeClr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6" name="מחבר ישר 85">
            <a:extLst>
              <a:ext uri="{FF2B5EF4-FFF2-40B4-BE49-F238E27FC236}">
                <a16:creationId xmlns:a16="http://schemas.microsoft.com/office/drawing/2014/main" id="{879086E6-194C-81D9-77AB-72AD79443252}"/>
              </a:ext>
            </a:extLst>
          </p:cNvPr>
          <p:cNvCxnSpPr/>
          <p:nvPr/>
        </p:nvCxnSpPr>
        <p:spPr>
          <a:xfrm>
            <a:off x="10087346" y="4471358"/>
            <a:ext cx="1783561" cy="497103"/>
          </a:xfrm>
          <a:prstGeom prst="line">
            <a:avLst/>
          </a:prstGeom>
          <a:ln w="155575">
            <a:solidFill>
              <a:schemeClr val="accent4">
                <a:lumMod val="50000"/>
              </a:schemeClr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2A210BBB-F1D8-2B39-58A3-3BD416579D70}"/>
              </a:ext>
            </a:extLst>
          </p:cNvPr>
          <p:cNvSpPr txBox="1"/>
          <p:nvPr/>
        </p:nvSpPr>
        <p:spPr>
          <a:xfrm>
            <a:off x="8940586" y="507766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10</a:t>
            </a:r>
            <a:endParaRPr lang="en-US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5D1A63A-D8D5-89C9-61E9-B03D2042A53D}"/>
              </a:ext>
            </a:extLst>
          </p:cNvPr>
          <p:cNvSpPr txBox="1"/>
          <p:nvPr/>
        </p:nvSpPr>
        <p:spPr>
          <a:xfrm>
            <a:off x="9903381" y="510035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30</a:t>
            </a:r>
            <a:endParaRPr lang="en-US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AFB1C57-A740-E998-2887-DB6A30CB27D0}"/>
              </a:ext>
            </a:extLst>
          </p:cNvPr>
          <p:cNvSpPr txBox="1"/>
          <p:nvPr/>
        </p:nvSpPr>
        <p:spPr>
          <a:xfrm>
            <a:off x="1446207" y="5203115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10</a:t>
            </a:r>
            <a:endParaRPr lang="en-US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F433762-41AC-D380-C8BC-4A5B69DC9440}"/>
              </a:ext>
            </a:extLst>
          </p:cNvPr>
          <p:cNvSpPr txBox="1"/>
          <p:nvPr/>
        </p:nvSpPr>
        <p:spPr>
          <a:xfrm>
            <a:off x="8163341" y="4404817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10</a:t>
            </a:r>
            <a:endParaRPr lang="en-US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B632D65-337D-62F7-CDD3-6E9CF2DD0BDF}"/>
              </a:ext>
            </a:extLst>
          </p:cNvPr>
          <p:cNvSpPr txBox="1"/>
          <p:nvPr/>
        </p:nvSpPr>
        <p:spPr>
          <a:xfrm>
            <a:off x="8150497" y="385711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20</a:t>
            </a:r>
            <a:endParaRPr lang="en-US" dirty="0"/>
          </a:p>
        </p:txBody>
      </p:sp>
      <p:cxnSp>
        <p:nvCxnSpPr>
          <p:cNvPr id="100" name="מחבר ישר 99">
            <a:extLst>
              <a:ext uri="{FF2B5EF4-FFF2-40B4-BE49-F238E27FC236}">
                <a16:creationId xmlns:a16="http://schemas.microsoft.com/office/drawing/2014/main" id="{DFE455D6-48F7-382E-3298-C03BA3E67F00}"/>
              </a:ext>
            </a:extLst>
          </p:cNvPr>
          <p:cNvCxnSpPr/>
          <p:nvPr/>
        </p:nvCxnSpPr>
        <p:spPr>
          <a:xfrm flipH="1">
            <a:off x="10066608" y="4464553"/>
            <a:ext cx="13826" cy="472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מחבר ישר 100">
            <a:extLst>
              <a:ext uri="{FF2B5EF4-FFF2-40B4-BE49-F238E27FC236}">
                <a16:creationId xmlns:a16="http://schemas.microsoft.com/office/drawing/2014/main" id="{395298AA-F387-E0BF-C948-8A62989A8C88}"/>
              </a:ext>
            </a:extLst>
          </p:cNvPr>
          <p:cNvCxnSpPr/>
          <p:nvPr/>
        </p:nvCxnSpPr>
        <p:spPr>
          <a:xfrm flipH="1">
            <a:off x="9058477" y="3916776"/>
            <a:ext cx="13793" cy="10207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0E656748-ABC0-D774-8939-83998C3A458F}"/>
              </a:ext>
            </a:extLst>
          </p:cNvPr>
          <p:cNvSpPr txBox="1"/>
          <p:nvPr/>
        </p:nvSpPr>
        <p:spPr>
          <a:xfrm>
            <a:off x="4859016" y="514493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20</a:t>
            </a:r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AD46138-7671-692E-5FA3-2DC8369BF11A}"/>
              </a:ext>
            </a:extLst>
          </p:cNvPr>
          <p:cNvSpPr txBox="1"/>
          <p:nvPr/>
        </p:nvSpPr>
        <p:spPr>
          <a:xfrm>
            <a:off x="7704760" y="50451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30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D749033-F350-DAAD-29C5-66E767470DFC}"/>
              </a:ext>
            </a:extLst>
          </p:cNvPr>
          <p:cNvSpPr txBox="1"/>
          <p:nvPr/>
        </p:nvSpPr>
        <p:spPr>
          <a:xfrm>
            <a:off x="8121423" y="309276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C3E7469-5846-9028-8F9E-64988310DB59}"/>
              </a:ext>
            </a:extLst>
          </p:cNvPr>
          <p:cNvSpPr txBox="1"/>
          <p:nvPr/>
        </p:nvSpPr>
        <p:spPr>
          <a:xfrm>
            <a:off x="4128288" y="5098507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10</a:t>
            </a:r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73C1053-9951-1F8F-1E93-C0C8E8282D53}"/>
              </a:ext>
            </a:extLst>
          </p:cNvPr>
          <p:cNvSpPr txBox="1"/>
          <p:nvPr/>
        </p:nvSpPr>
        <p:spPr>
          <a:xfrm>
            <a:off x="6645701" y="507123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10</a:t>
            </a:r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B98DF04-B9B6-18BB-BAD4-2A7DD45F8E7A}"/>
              </a:ext>
            </a:extLst>
          </p:cNvPr>
          <p:cNvSpPr txBox="1"/>
          <p:nvPr/>
        </p:nvSpPr>
        <p:spPr>
          <a:xfrm>
            <a:off x="7223362" y="5053467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20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693B58B-FA92-A2A3-4E2B-7B4099FA1177}"/>
              </a:ext>
            </a:extLst>
          </p:cNvPr>
          <p:cNvSpPr txBox="1"/>
          <p:nvPr/>
        </p:nvSpPr>
        <p:spPr>
          <a:xfrm>
            <a:off x="3228161" y="378465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20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A2E2FD-B7D6-0A74-5DA5-C0D3E6654898}"/>
              </a:ext>
            </a:extLst>
          </p:cNvPr>
          <p:cNvSpPr txBox="1"/>
          <p:nvPr/>
        </p:nvSpPr>
        <p:spPr>
          <a:xfrm>
            <a:off x="1399337" y="2319979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P=10-X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8DD90A5-94AE-DC35-861B-E27347A46805}"/>
              </a:ext>
            </a:extLst>
          </p:cNvPr>
          <p:cNvSpPr txBox="1"/>
          <p:nvPr/>
        </p:nvSpPr>
        <p:spPr>
          <a:xfrm>
            <a:off x="3921500" y="2230814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P=20-X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0EE49EA-1BB9-289D-132C-B9CF129854B9}"/>
              </a:ext>
            </a:extLst>
          </p:cNvPr>
          <p:cNvSpPr txBox="1"/>
          <p:nvPr/>
        </p:nvSpPr>
        <p:spPr>
          <a:xfrm>
            <a:off x="6343377" y="2245380"/>
            <a:ext cx="854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P=30-X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200FA89-A4F0-8CA3-D2E6-15E613903B6C}"/>
              </a:ext>
            </a:extLst>
          </p:cNvPr>
          <p:cNvSpPr txBox="1"/>
          <p:nvPr/>
        </p:nvSpPr>
        <p:spPr>
          <a:xfrm>
            <a:off x="2514587" y="2236097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dirty="0"/>
              <a:t>צרכן א</a:t>
            </a:r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ACCFB87-35D7-4216-AE6E-784B9ED31B9C}"/>
              </a:ext>
            </a:extLst>
          </p:cNvPr>
          <p:cNvSpPr txBox="1"/>
          <p:nvPr/>
        </p:nvSpPr>
        <p:spPr>
          <a:xfrm>
            <a:off x="4817131" y="2202891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dirty="0"/>
              <a:t>צרכן ב</a:t>
            </a:r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455D77F-66CF-CA91-BE18-F334FAF00A00}"/>
              </a:ext>
            </a:extLst>
          </p:cNvPr>
          <p:cNvSpPr txBox="1"/>
          <p:nvPr/>
        </p:nvSpPr>
        <p:spPr>
          <a:xfrm>
            <a:off x="7231357" y="2294928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dirty="0"/>
              <a:t>צרכן ג</a:t>
            </a:r>
            <a:endParaRPr lang="en-US" dirty="0"/>
          </a:p>
        </p:txBody>
      </p:sp>
      <p:sp>
        <p:nvSpPr>
          <p:cNvPr id="5" name="כותרת 1">
            <a:extLst>
              <a:ext uri="{FF2B5EF4-FFF2-40B4-BE49-F238E27FC236}">
                <a16:creationId xmlns:a16="http://schemas.microsoft.com/office/drawing/2014/main" id="{116E5A00-F8BD-687A-823D-27161B96A625}"/>
              </a:ext>
            </a:extLst>
          </p:cNvPr>
          <p:cNvSpPr txBox="1">
            <a:spLocks/>
          </p:cNvSpPr>
          <p:nvPr/>
        </p:nvSpPr>
        <p:spPr>
          <a:xfrm>
            <a:off x="9240577" y="318640"/>
            <a:ext cx="2627784" cy="731836"/>
          </a:xfrm>
          <a:prstGeom prst="rect">
            <a:avLst/>
          </a:prstGeom>
        </p:spPr>
        <p:txBody>
          <a:bodyPr vert="horz" lIns="91440" tIns="45720" rIns="91440" bIns="45720" rtlCol="1" anchor="ctr">
            <a:noAutofit/>
          </a:bodyPr>
          <a:lstStyle>
            <a:lvl1pPr algn="ctr" defTabSz="914400" rtl="1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b="1" dirty="0">
                <a:cs typeface="+mn-cs"/>
              </a:rPr>
              <a:t>שאלה 2</a:t>
            </a:r>
          </a:p>
        </p:txBody>
      </p:sp>
      <p:sp>
        <p:nvSpPr>
          <p:cNvPr id="10" name="TextBox 71">
            <a:extLst>
              <a:ext uri="{FF2B5EF4-FFF2-40B4-BE49-F238E27FC236}">
                <a16:creationId xmlns:a16="http://schemas.microsoft.com/office/drawing/2014/main" id="{72D18278-88FC-25D9-BA3A-4B194D9C07E1}"/>
              </a:ext>
            </a:extLst>
          </p:cNvPr>
          <p:cNvSpPr txBox="1"/>
          <p:nvPr/>
        </p:nvSpPr>
        <p:spPr>
          <a:xfrm>
            <a:off x="1313414" y="2800963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X=10-P</a:t>
            </a:r>
          </a:p>
        </p:txBody>
      </p:sp>
      <p:sp>
        <p:nvSpPr>
          <p:cNvPr id="12" name="TextBox 72">
            <a:extLst>
              <a:ext uri="{FF2B5EF4-FFF2-40B4-BE49-F238E27FC236}">
                <a16:creationId xmlns:a16="http://schemas.microsoft.com/office/drawing/2014/main" id="{5A7F74AE-C6CB-D2CF-09B7-4BC2F0471479}"/>
              </a:ext>
            </a:extLst>
          </p:cNvPr>
          <p:cNvSpPr txBox="1"/>
          <p:nvPr/>
        </p:nvSpPr>
        <p:spPr>
          <a:xfrm>
            <a:off x="3934332" y="2868649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X=20-p</a:t>
            </a:r>
          </a:p>
        </p:txBody>
      </p:sp>
      <p:sp>
        <p:nvSpPr>
          <p:cNvPr id="13" name="TextBox 74">
            <a:extLst>
              <a:ext uri="{FF2B5EF4-FFF2-40B4-BE49-F238E27FC236}">
                <a16:creationId xmlns:a16="http://schemas.microsoft.com/office/drawing/2014/main" id="{4EA89991-4809-05A7-5D56-1D36E37EBA95}"/>
              </a:ext>
            </a:extLst>
          </p:cNvPr>
          <p:cNvSpPr txBox="1"/>
          <p:nvPr/>
        </p:nvSpPr>
        <p:spPr>
          <a:xfrm>
            <a:off x="6585875" y="2783421"/>
            <a:ext cx="854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X=30-P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3">
                <a:extLst>
                  <a:ext uri="{FF2B5EF4-FFF2-40B4-BE49-F238E27FC236}">
                    <a16:creationId xmlns:a16="http://schemas.microsoft.com/office/drawing/2014/main" id="{9BC4FB3E-D541-CD17-547D-B9A349F99656}"/>
                  </a:ext>
                </a:extLst>
              </p:cNvPr>
              <p:cNvSpPr txBox="1"/>
              <p:nvPr/>
            </p:nvSpPr>
            <p:spPr>
              <a:xfrm>
                <a:off x="7734110" y="1742507"/>
                <a:ext cx="4664996" cy="9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b="1" i="0" dirty="0" smtClean="0">
                                    <a:solidFill>
                                      <a:srgbClr val="C00000"/>
                                    </a:solidFill>
                                  </a:rPr>
                                  <m:t>60</m:t>
                                </m:r>
                                <m:r>
                                  <m:rPr>
                                    <m:nor/>
                                  </m:rPr>
                                  <a:rPr lang="en-US" b="1" i="0" dirty="0" smtClean="0">
                                    <a:solidFill>
                                      <a:srgbClr val="C00000"/>
                                    </a:solidFill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b="1" i="0" dirty="0" smtClean="0">
                                    <a:solidFill>
                                      <a:srgbClr val="C00000"/>
                                    </a:solidFill>
                                  </a:rPr>
                                  <m:t>3</m:t>
                                </m:r>
                                <m:r>
                                  <m:rPr>
                                    <m:nor/>
                                  </m:rPr>
                                  <a:rPr lang="en-US" b="1" i="0" dirty="0" smtClean="0">
                                    <a:solidFill>
                                      <a:srgbClr val="C00000"/>
                                    </a:solidFill>
                                  </a:rPr>
                                  <m:t>P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n-US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𝟓𝟎</m:t>
                                </m:r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e>
                              <m:e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𝟐𝟎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b="0" i="1" smtClean="0"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  <m:r>
                                  <a:rPr lang="en-US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𝟑𝟎</m:t>
                                </m:r>
                                <m:r>
                                  <a:rPr lang="en-US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he-IL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          </m:t>
                                </m:r>
                              </m:e>
                              <m:e>
                                <m:r>
                                  <a:rPr lang="en-US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𝟐𝟎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n-US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𝟑𝟎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3">
                <a:extLst>
                  <a:ext uri="{FF2B5EF4-FFF2-40B4-BE49-F238E27FC236}">
                    <a16:creationId xmlns:a16="http://schemas.microsoft.com/office/drawing/2014/main" id="{9BC4FB3E-D541-CD17-547D-B9A349F99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4110" y="1742507"/>
                <a:ext cx="4664996" cy="9766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81976FFD-7DE6-6862-975E-B16403E428DD}"/>
              </a:ext>
            </a:extLst>
          </p:cNvPr>
          <p:cNvSpPr txBox="1"/>
          <p:nvPr/>
        </p:nvSpPr>
        <p:spPr>
          <a:xfrm>
            <a:off x="664231" y="-98404"/>
            <a:ext cx="7300485" cy="1988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 rtl="1">
              <a:lnSpc>
                <a:spcPct val="200000"/>
              </a:lnSpc>
              <a:buNone/>
            </a:pP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ב. סמנו </a:t>
            </a:r>
            <a:r>
              <a:rPr lang="he-I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נכון/לא נכון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עבור כל אחד מהסעיפים הבאים ונמקו:</a:t>
            </a:r>
            <a:b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1. אם המחיר בשוק הינו 5 </a:t>
            </a:r>
            <a:r>
              <a:rPr lang="he-IL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ש''ח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, הכמות המבוקשת בענף תהיה 45 יחידות 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X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  </a:t>
            </a:r>
            <a:endParaRPr lang="en-IL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marL="0" indent="0" algn="r" rtl="1">
              <a:lnSpc>
                <a:spcPct val="150000"/>
              </a:lnSpc>
              <a:buNone/>
            </a:pP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2. אם המחיר בשוק הינו 10 </a:t>
            </a:r>
            <a:r>
              <a:rPr lang="he-IL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ש''ח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, הכמות המבוקשת בענף תהיה 40 יחידות.   </a:t>
            </a:r>
            <a:endParaRPr lang="en-IL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97065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D3C98-E12D-6588-258F-F268907B2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מחבר ישר 5">
            <a:extLst>
              <a:ext uri="{FF2B5EF4-FFF2-40B4-BE49-F238E27FC236}">
                <a16:creationId xmlns:a16="http://schemas.microsoft.com/office/drawing/2014/main" id="{81A7750B-E7A9-ED8E-5C25-DB1CF1496532}"/>
              </a:ext>
            </a:extLst>
          </p:cNvPr>
          <p:cNvCxnSpPr/>
          <p:nvPr/>
        </p:nvCxnSpPr>
        <p:spPr>
          <a:xfrm>
            <a:off x="1074578" y="2963680"/>
            <a:ext cx="0" cy="2022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מחבר ישר 32">
            <a:extLst>
              <a:ext uri="{FF2B5EF4-FFF2-40B4-BE49-F238E27FC236}">
                <a16:creationId xmlns:a16="http://schemas.microsoft.com/office/drawing/2014/main" id="{3E427289-4392-BDB8-D7A5-EB6C8775BC45}"/>
              </a:ext>
            </a:extLst>
          </p:cNvPr>
          <p:cNvCxnSpPr/>
          <p:nvPr/>
        </p:nvCxnSpPr>
        <p:spPr>
          <a:xfrm flipH="1">
            <a:off x="1122170" y="4985863"/>
            <a:ext cx="2116586" cy="138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מחבר ישר 55">
            <a:extLst>
              <a:ext uri="{FF2B5EF4-FFF2-40B4-BE49-F238E27FC236}">
                <a16:creationId xmlns:a16="http://schemas.microsoft.com/office/drawing/2014/main" id="{5C06ADBA-A6A1-4627-6CC4-C0839969F45E}"/>
              </a:ext>
            </a:extLst>
          </p:cNvPr>
          <p:cNvCxnSpPr/>
          <p:nvPr/>
        </p:nvCxnSpPr>
        <p:spPr>
          <a:xfrm>
            <a:off x="3773034" y="2939404"/>
            <a:ext cx="0" cy="2022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מחבר ישר 56">
            <a:extLst>
              <a:ext uri="{FF2B5EF4-FFF2-40B4-BE49-F238E27FC236}">
                <a16:creationId xmlns:a16="http://schemas.microsoft.com/office/drawing/2014/main" id="{A0FF6422-2E1D-D021-373E-0DF38AE27A8A}"/>
              </a:ext>
            </a:extLst>
          </p:cNvPr>
          <p:cNvCxnSpPr/>
          <p:nvPr/>
        </p:nvCxnSpPr>
        <p:spPr>
          <a:xfrm flipH="1">
            <a:off x="3820626" y="4961587"/>
            <a:ext cx="1345407" cy="138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מחבר ישר 75">
            <a:extLst>
              <a:ext uri="{FF2B5EF4-FFF2-40B4-BE49-F238E27FC236}">
                <a16:creationId xmlns:a16="http://schemas.microsoft.com/office/drawing/2014/main" id="{343D8FA7-94E6-C082-D457-59C04C255756}"/>
              </a:ext>
            </a:extLst>
          </p:cNvPr>
          <p:cNvCxnSpPr/>
          <p:nvPr/>
        </p:nvCxnSpPr>
        <p:spPr>
          <a:xfrm>
            <a:off x="6317989" y="2939404"/>
            <a:ext cx="0" cy="2022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מחבר ישר 76">
            <a:extLst>
              <a:ext uri="{FF2B5EF4-FFF2-40B4-BE49-F238E27FC236}">
                <a16:creationId xmlns:a16="http://schemas.microsoft.com/office/drawing/2014/main" id="{DE74265E-7B9F-C404-0B83-A289B5BC13D1}"/>
              </a:ext>
            </a:extLst>
          </p:cNvPr>
          <p:cNvCxnSpPr/>
          <p:nvPr/>
        </p:nvCxnSpPr>
        <p:spPr>
          <a:xfrm flipH="1">
            <a:off x="6365581" y="4951166"/>
            <a:ext cx="1599135" cy="242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מחבר ישר 94">
            <a:extLst>
              <a:ext uri="{FF2B5EF4-FFF2-40B4-BE49-F238E27FC236}">
                <a16:creationId xmlns:a16="http://schemas.microsoft.com/office/drawing/2014/main" id="{C0F9CE64-3B23-C227-7EDB-D7ABDC6B9138}"/>
              </a:ext>
            </a:extLst>
          </p:cNvPr>
          <p:cNvCxnSpPr/>
          <p:nvPr/>
        </p:nvCxnSpPr>
        <p:spPr>
          <a:xfrm>
            <a:off x="8519444" y="2974103"/>
            <a:ext cx="0" cy="2022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מחבר ישר 95">
            <a:extLst>
              <a:ext uri="{FF2B5EF4-FFF2-40B4-BE49-F238E27FC236}">
                <a16:creationId xmlns:a16="http://schemas.microsoft.com/office/drawing/2014/main" id="{E72F3433-AB43-A824-F137-DB6CCAE0991F}"/>
              </a:ext>
            </a:extLst>
          </p:cNvPr>
          <p:cNvCxnSpPr/>
          <p:nvPr/>
        </p:nvCxnSpPr>
        <p:spPr>
          <a:xfrm flipH="1">
            <a:off x="8519445" y="4961587"/>
            <a:ext cx="3438097" cy="14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מחבר ישר 2">
            <a:extLst>
              <a:ext uri="{FF2B5EF4-FFF2-40B4-BE49-F238E27FC236}">
                <a16:creationId xmlns:a16="http://schemas.microsoft.com/office/drawing/2014/main" id="{97CB2645-F9FE-289F-95FF-4A67D69D8DC2}"/>
              </a:ext>
            </a:extLst>
          </p:cNvPr>
          <p:cNvCxnSpPr/>
          <p:nvPr/>
        </p:nvCxnSpPr>
        <p:spPr>
          <a:xfrm>
            <a:off x="1037333" y="4556122"/>
            <a:ext cx="728487" cy="482513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מחבר ישר 59">
            <a:extLst>
              <a:ext uri="{FF2B5EF4-FFF2-40B4-BE49-F238E27FC236}">
                <a16:creationId xmlns:a16="http://schemas.microsoft.com/office/drawing/2014/main" id="{27D16C3E-CFD8-055A-D469-E7F625507BDC}"/>
              </a:ext>
            </a:extLst>
          </p:cNvPr>
          <p:cNvCxnSpPr/>
          <p:nvPr/>
        </p:nvCxnSpPr>
        <p:spPr>
          <a:xfrm>
            <a:off x="3697702" y="3964798"/>
            <a:ext cx="1302319" cy="1021065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מחבר ישר 60">
            <a:extLst>
              <a:ext uri="{FF2B5EF4-FFF2-40B4-BE49-F238E27FC236}">
                <a16:creationId xmlns:a16="http://schemas.microsoft.com/office/drawing/2014/main" id="{63DB013F-DA55-2AFC-09F8-F70894BFAA1E}"/>
              </a:ext>
            </a:extLst>
          </p:cNvPr>
          <p:cNvCxnSpPr>
            <a:cxnSpLocks/>
          </p:cNvCxnSpPr>
          <p:nvPr/>
        </p:nvCxnSpPr>
        <p:spPr>
          <a:xfrm>
            <a:off x="6365581" y="3231265"/>
            <a:ext cx="1655926" cy="1737249"/>
          </a:xfrm>
          <a:prstGeom prst="line">
            <a:avLst/>
          </a:prstGeom>
          <a:ln w="142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DF5D305-F44E-2E6A-1E20-CF2863B6199B}"/>
              </a:ext>
            </a:extLst>
          </p:cNvPr>
          <p:cNvSpPr txBox="1"/>
          <p:nvPr/>
        </p:nvSpPr>
        <p:spPr>
          <a:xfrm>
            <a:off x="2933864" y="5034415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132252A-E280-F395-F2B7-B9F475D9ECFE}"/>
              </a:ext>
            </a:extLst>
          </p:cNvPr>
          <p:cNvSpPr txBox="1"/>
          <p:nvPr/>
        </p:nvSpPr>
        <p:spPr>
          <a:xfrm>
            <a:off x="5373575" y="5113987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E2CAEEE-146A-F506-37A7-F8C0292447D5}"/>
              </a:ext>
            </a:extLst>
          </p:cNvPr>
          <p:cNvSpPr txBox="1"/>
          <p:nvPr/>
        </p:nvSpPr>
        <p:spPr>
          <a:xfrm>
            <a:off x="8186157" y="4985863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AF9111B-F2B5-E389-5D62-5228A7D6B22F}"/>
              </a:ext>
            </a:extLst>
          </p:cNvPr>
          <p:cNvSpPr txBox="1"/>
          <p:nvPr/>
        </p:nvSpPr>
        <p:spPr>
          <a:xfrm>
            <a:off x="11789402" y="5116917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60</a:t>
            </a:r>
            <a:endParaRPr 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483934C-F892-9EF8-3D32-D63D806DAC1A}"/>
              </a:ext>
            </a:extLst>
          </p:cNvPr>
          <p:cNvSpPr txBox="1"/>
          <p:nvPr/>
        </p:nvSpPr>
        <p:spPr>
          <a:xfrm>
            <a:off x="664231" y="2877708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DE46CBE-0B5E-F8EC-CBEF-944E9EC42F4D}"/>
              </a:ext>
            </a:extLst>
          </p:cNvPr>
          <p:cNvSpPr txBox="1"/>
          <p:nvPr/>
        </p:nvSpPr>
        <p:spPr>
          <a:xfrm>
            <a:off x="3414882" y="2877708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5B42488-870E-F625-2126-8128CA96B9C5}"/>
              </a:ext>
            </a:extLst>
          </p:cNvPr>
          <p:cNvSpPr txBox="1"/>
          <p:nvPr/>
        </p:nvSpPr>
        <p:spPr>
          <a:xfrm>
            <a:off x="5874012" y="2647496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C8D8E52-7488-D68E-F1DE-2DF3B30F44C6}"/>
              </a:ext>
            </a:extLst>
          </p:cNvPr>
          <p:cNvSpPr txBox="1"/>
          <p:nvPr/>
        </p:nvSpPr>
        <p:spPr>
          <a:xfrm>
            <a:off x="8142315" y="2634747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cxnSp>
        <p:nvCxnSpPr>
          <p:cNvPr id="70" name="מחבר ישר 69">
            <a:extLst>
              <a:ext uri="{FF2B5EF4-FFF2-40B4-BE49-F238E27FC236}">
                <a16:creationId xmlns:a16="http://schemas.microsoft.com/office/drawing/2014/main" id="{53A1ED91-837F-2C38-77B1-B4EFC7906FED}"/>
              </a:ext>
            </a:extLst>
          </p:cNvPr>
          <p:cNvCxnSpPr>
            <a:cxnSpLocks/>
            <a:stCxn id="49" idx="3"/>
          </p:cNvCxnSpPr>
          <p:nvPr/>
        </p:nvCxnSpPr>
        <p:spPr>
          <a:xfrm>
            <a:off x="8540127" y="3277427"/>
            <a:ext cx="534046" cy="605306"/>
          </a:xfrm>
          <a:prstGeom prst="line">
            <a:avLst/>
          </a:prstGeom>
          <a:ln w="155575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מחבר ישר 10">
            <a:extLst>
              <a:ext uri="{FF2B5EF4-FFF2-40B4-BE49-F238E27FC236}">
                <a16:creationId xmlns:a16="http://schemas.microsoft.com/office/drawing/2014/main" id="{004AF17D-8C80-2E4A-CF91-E0C2B3AF0B85}"/>
              </a:ext>
            </a:extLst>
          </p:cNvPr>
          <p:cNvCxnSpPr/>
          <p:nvPr/>
        </p:nvCxnSpPr>
        <p:spPr>
          <a:xfrm flipV="1">
            <a:off x="991123" y="3938015"/>
            <a:ext cx="10798279" cy="1080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מחבר ישר 73">
            <a:extLst>
              <a:ext uri="{FF2B5EF4-FFF2-40B4-BE49-F238E27FC236}">
                <a16:creationId xmlns:a16="http://schemas.microsoft.com/office/drawing/2014/main" id="{FA954ADA-2A81-1C01-2F54-014EA2C6FAB6}"/>
              </a:ext>
            </a:extLst>
          </p:cNvPr>
          <p:cNvCxnSpPr/>
          <p:nvPr/>
        </p:nvCxnSpPr>
        <p:spPr>
          <a:xfrm flipV="1">
            <a:off x="1074578" y="4441170"/>
            <a:ext cx="10798279" cy="1080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9C27FF06-7048-E662-335E-64A8D85830DD}"/>
              </a:ext>
            </a:extLst>
          </p:cNvPr>
          <p:cNvSpPr txBox="1"/>
          <p:nvPr/>
        </p:nvSpPr>
        <p:spPr>
          <a:xfrm>
            <a:off x="635261" y="436458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10</a:t>
            </a:r>
            <a:endParaRPr 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03AEF66-6818-2BFF-2B79-AD86180C6DE6}"/>
              </a:ext>
            </a:extLst>
          </p:cNvPr>
          <p:cNvSpPr txBox="1"/>
          <p:nvPr/>
        </p:nvSpPr>
        <p:spPr>
          <a:xfrm>
            <a:off x="654394" y="381416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20</a:t>
            </a:r>
            <a:endParaRPr 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7BB9802-D60A-DAD4-878A-36DC9B4FC02B}"/>
              </a:ext>
            </a:extLst>
          </p:cNvPr>
          <p:cNvSpPr txBox="1"/>
          <p:nvPr/>
        </p:nvSpPr>
        <p:spPr>
          <a:xfrm>
            <a:off x="3305258" y="442932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10</a:t>
            </a:r>
            <a:endParaRPr 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9D37709-3641-5A31-ADB1-2A195730F002}"/>
              </a:ext>
            </a:extLst>
          </p:cNvPr>
          <p:cNvSpPr txBox="1"/>
          <p:nvPr/>
        </p:nvSpPr>
        <p:spPr>
          <a:xfrm>
            <a:off x="5839849" y="3135932"/>
            <a:ext cx="441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30</a:t>
            </a:r>
            <a:endParaRPr lang="en-US" dirty="0"/>
          </a:p>
        </p:txBody>
      </p:sp>
      <p:cxnSp>
        <p:nvCxnSpPr>
          <p:cNvPr id="83" name="מחבר ישר 82">
            <a:extLst>
              <a:ext uri="{FF2B5EF4-FFF2-40B4-BE49-F238E27FC236}">
                <a16:creationId xmlns:a16="http://schemas.microsoft.com/office/drawing/2014/main" id="{E661745C-FD0A-E093-8EA1-C918BFF4FD54}"/>
              </a:ext>
            </a:extLst>
          </p:cNvPr>
          <p:cNvCxnSpPr/>
          <p:nvPr/>
        </p:nvCxnSpPr>
        <p:spPr>
          <a:xfrm>
            <a:off x="9082622" y="3912269"/>
            <a:ext cx="1004724" cy="567680"/>
          </a:xfrm>
          <a:prstGeom prst="line">
            <a:avLst/>
          </a:prstGeom>
          <a:ln w="155575">
            <a:solidFill>
              <a:schemeClr val="accent6">
                <a:lumMod val="75000"/>
              </a:schemeClr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6" name="מחבר ישר 85">
            <a:extLst>
              <a:ext uri="{FF2B5EF4-FFF2-40B4-BE49-F238E27FC236}">
                <a16:creationId xmlns:a16="http://schemas.microsoft.com/office/drawing/2014/main" id="{A63E781D-AA0C-EFAA-0DB2-DBDAA3B572F8}"/>
              </a:ext>
            </a:extLst>
          </p:cNvPr>
          <p:cNvCxnSpPr/>
          <p:nvPr/>
        </p:nvCxnSpPr>
        <p:spPr>
          <a:xfrm>
            <a:off x="10087346" y="4471358"/>
            <a:ext cx="1783561" cy="497103"/>
          </a:xfrm>
          <a:prstGeom prst="line">
            <a:avLst/>
          </a:prstGeom>
          <a:ln w="155575">
            <a:solidFill>
              <a:schemeClr val="accent4">
                <a:lumMod val="50000"/>
              </a:schemeClr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D5146FBB-9800-AA21-FB16-DBBECC1EF9F4}"/>
              </a:ext>
            </a:extLst>
          </p:cNvPr>
          <p:cNvSpPr txBox="1"/>
          <p:nvPr/>
        </p:nvSpPr>
        <p:spPr>
          <a:xfrm>
            <a:off x="8940586" y="507766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10</a:t>
            </a:r>
            <a:endParaRPr lang="en-US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C208059-E5E0-56A2-6F5B-5A2BF96CBDCC}"/>
              </a:ext>
            </a:extLst>
          </p:cNvPr>
          <p:cNvSpPr txBox="1"/>
          <p:nvPr/>
        </p:nvSpPr>
        <p:spPr>
          <a:xfrm>
            <a:off x="9903381" y="510035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30</a:t>
            </a:r>
            <a:endParaRPr lang="en-US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C27A49D-67CD-E8F9-FFC2-0033B8C799BD}"/>
              </a:ext>
            </a:extLst>
          </p:cNvPr>
          <p:cNvSpPr txBox="1"/>
          <p:nvPr/>
        </p:nvSpPr>
        <p:spPr>
          <a:xfrm>
            <a:off x="1446207" y="5203115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10</a:t>
            </a:r>
            <a:endParaRPr lang="en-US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53EE6D2-1374-879A-A765-A3D4410F81B1}"/>
              </a:ext>
            </a:extLst>
          </p:cNvPr>
          <p:cNvSpPr txBox="1"/>
          <p:nvPr/>
        </p:nvSpPr>
        <p:spPr>
          <a:xfrm>
            <a:off x="8163341" y="4404817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10</a:t>
            </a:r>
            <a:endParaRPr lang="en-US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476AD58-37A1-D140-CD12-2DE22194DB5E}"/>
              </a:ext>
            </a:extLst>
          </p:cNvPr>
          <p:cNvSpPr txBox="1"/>
          <p:nvPr/>
        </p:nvSpPr>
        <p:spPr>
          <a:xfrm>
            <a:off x="8150497" y="385711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20</a:t>
            </a:r>
            <a:endParaRPr lang="en-US" dirty="0"/>
          </a:p>
        </p:txBody>
      </p:sp>
      <p:cxnSp>
        <p:nvCxnSpPr>
          <p:cNvPr id="100" name="מחבר ישר 99">
            <a:extLst>
              <a:ext uri="{FF2B5EF4-FFF2-40B4-BE49-F238E27FC236}">
                <a16:creationId xmlns:a16="http://schemas.microsoft.com/office/drawing/2014/main" id="{26614FA1-2738-2220-9DF4-4D2D8D846C05}"/>
              </a:ext>
            </a:extLst>
          </p:cNvPr>
          <p:cNvCxnSpPr/>
          <p:nvPr/>
        </p:nvCxnSpPr>
        <p:spPr>
          <a:xfrm flipH="1">
            <a:off x="10066608" y="4464553"/>
            <a:ext cx="13826" cy="472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מחבר ישר 100">
            <a:extLst>
              <a:ext uri="{FF2B5EF4-FFF2-40B4-BE49-F238E27FC236}">
                <a16:creationId xmlns:a16="http://schemas.microsoft.com/office/drawing/2014/main" id="{115C39B8-2062-1343-3514-F3BBF5243916}"/>
              </a:ext>
            </a:extLst>
          </p:cNvPr>
          <p:cNvCxnSpPr/>
          <p:nvPr/>
        </p:nvCxnSpPr>
        <p:spPr>
          <a:xfrm flipH="1">
            <a:off x="9058477" y="3916776"/>
            <a:ext cx="13793" cy="10207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10900A4A-E43E-6E54-4051-60CA03FC1BC1}"/>
              </a:ext>
            </a:extLst>
          </p:cNvPr>
          <p:cNvSpPr txBox="1"/>
          <p:nvPr/>
        </p:nvSpPr>
        <p:spPr>
          <a:xfrm>
            <a:off x="4859016" y="514493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20</a:t>
            </a:r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57341FD-FABA-2263-9748-E27F4F2309C2}"/>
              </a:ext>
            </a:extLst>
          </p:cNvPr>
          <p:cNvSpPr txBox="1"/>
          <p:nvPr/>
        </p:nvSpPr>
        <p:spPr>
          <a:xfrm>
            <a:off x="7704760" y="50451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30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EB4D8DC-9CE8-8A0C-BB97-E578DA7009F7}"/>
              </a:ext>
            </a:extLst>
          </p:cNvPr>
          <p:cNvSpPr txBox="1"/>
          <p:nvPr/>
        </p:nvSpPr>
        <p:spPr>
          <a:xfrm>
            <a:off x="8121423" y="309276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A43C770-BF4A-27EB-4F67-95D14E9A0BC7}"/>
              </a:ext>
            </a:extLst>
          </p:cNvPr>
          <p:cNvSpPr txBox="1"/>
          <p:nvPr/>
        </p:nvSpPr>
        <p:spPr>
          <a:xfrm>
            <a:off x="4128288" y="5098507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10</a:t>
            </a:r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E781358-7D20-C758-5D08-D80F9536FC13}"/>
              </a:ext>
            </a:extLst>
          </p:cNvPr>
          <p:cNvSpPr txBox="1"/>
          <p:nvPr/>
        </p:nvSpPr>
        <p:spPr>
          <a:xfrm>
            <a:off x="6645701" y="507123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10</a:t>
            </a:r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11F3F55-ABEF-277B-F2BD-8C6D4F8E1E15}"/>
              </a:ext>
            </a:extLst>
          </p:cNvPr>
          <p:cNvSpPr txBox="1"/>
          <p:nvPr/>
        </p:nvSpPr>
        <p:spPr>
          <a:xfrm>
            <a:off x="7223362" y="5053467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20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52B7C77-2F3C-4F27-0C67-3E9529D97644}"/>
              </a:ext>
            </a:extLst>
          </p:cNvPr>
          <p:cNvSpPr txBox="1"/>
          <p:nvPr/>
        </p:nvSpPr>
        <p:spPr>
          <a:xfrm>
            <a:off x="3228161" y="378465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20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A0955A-19B2-9AC1-1C2C-4EBE7D47AE1B}"/>
              </a:ext>
            </a:extLst>
          </p:cNvPr>
          <p:cNvSpPr txBox="1"/>
          <p:nvPr/>
        </p:nvSpPr>
        <p:spPr>
          <a:xfrm>
            <a:off x="1399337" y="2319979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P=10-X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346ACC8-48B1-A152-F19F-C84E829A89FC}"/>
              </a:ext>
            </a:extLst>
          </p:cNvPr>
          <p:cNvSpPr txBox="1"/>
          <p:nvPr/>
        </p:nvSpPr>
        <p:spPr>
          <a:xfrm>
            <a:off x="3921500" y="2230814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P=20-X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1B56387-DC85-E2A8-5661-81419DD1FA9D}"/>
              </a:ext>
            </a:extLst>
          </p:cNvPr>
          <p:cNvSpPr txBox="1"/>
          <p:nvPr/>
        </p:nvSpPr>
        <p:spPr>
          <a:xfrm>
            <a:off x="6343377" y="2245380"/>
            <a:ext cx="854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P=30-X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D76F7D6-88E9-B4D8-FC2B-AE85308B5226}"/>
              </a:ext>
            </a:extLst>
          </p:cNvPr>
          <p:cNvSpPr txBox="1"/>
          <p:nvPr/>
        </p:nvSpPr>
        <p:spPr>
          <a:xfrm>
            <a:off x="2514587" y="2236097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dirty="0"/>
              <a:t>צרכן א</a:t>
            </a:r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5A9D190-AE72-95F5-961E-05C2AD84605B}"/>
              </a:ext>
            </a:extLst>
          </p:cNvPr>
          <p:cNvSpPr txBox="1"/>
          <p:nvPr/>
        </p:nvSpPr>
        <p:spPr>
          <a:xfrm>
            <a:off x="4817131" y="2202891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dirty="0"/>
              <a:t>צרכן ב</a:t>
            </a:r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19089DA-D3C2-DAE5-52F5-19AF0CF56BFE}"/>
              </a:ext>
            </a:extLst>
          </p:cNvPr>
          <p:cNvSpPr txBox="1"/>
          <p:nvPr/>
        </p:nvSpPr>
        <p:spPr>
          <a:xfrm>
            <a:off x="7231357" y="2294928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dirty="0"/>
              <a:t>צרכן ג</a:t>
            </a:r>
            <a:endParaRPr lang="en-US" dirty="0"/>
          </a:p>
        </p:txBody>
      </p:sp>
      <p:sp>
        <p:nvSpPr>
          <p:cNvPr id="5" name="כותרת 1">
            <a:extLst>
              <a:ext uri="{FF2B5EF4-FFF2-40B4-BE49-F238E27FC236}">
                <a16:creationId xmlns:a16="http://schemas.microsoft.com/office/drawing/2014/main" id="{9C45261D-5E33-A4F4-F306-A2C2557BB0C6}"/>
              </a:ext>
            </a:extLst>
          </p:cNvPr>
          <p:cNvSpPr txBox="1">
            <a:spLocks/>
          </p:cNvSpPr>
          <p:nvPr/>
        </p:nvSpPr>
        <p:spPr>
          <a:xfrm>
            <a:off x="9240577" y="318640"/>
            <a:ext cx="2627784" cy="731836"/>
          </a:xfrm>
          <a:prstGeom prst="rect">
            <a:avLst/>
          </a:prstGeom>
        </p:spPr>
        <p:txBody>
          <a:bodyPr vert="horz" lIns="91440" tIns="45720" rIns="91440" bIns="45720" rtlCol="1" anchor="ctr">
            <a:noAutofit/>
          </a:bodyPr>
          <a:lstStyle>
            <a:lvl1pPr algn="ctr" defTabSz="914400" rtl="1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b="1" dirty="0">
                <a:cs typeface="+mn-cs"/>
              </a:rPr>
              <a:t>שאלה 2</a:t>
            </a:r>
          </a:p>
        </p:txBody>
      </p:sp>
      <p:sp>
        <p:nvSpPr>
          <p:cNvPr id="10" name="TextBox 71">
            <a:extLst>
              <a:ext uri="{FF2B5EF4-FFF2-40B4-BE49-F238E27FC236}">
                <a16:creationId xmlns:a16="http://schemas.microsoft.com/office/drawing/2014/main" id="{BDB2C89A-6ED4-EB96-93F3-5D1F9CC3599B}"/>
              </a:ext>
            </a:extLst>
          </p:cNvPr>
          <p:cNvSpPr txBox="1"/>
          <p:nvPr/>
        </p:nvSpPr>
        <p:spPr>
          <a:xfrm>
            <a:off x="1313414" y="2800963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X=10-P</a:t>
            </a:r>
          </a:p>
        </p:txBody>
      </p:sp>
      <p:sp>
        <p:nvSpPr>
          <p:cNvPr id="12" name="TextBox 72">
            <a:extLst>
              <a:ext uri="{FF2B5EF4-FFF2-40B4-BE49-F238E27FC236}">
                <a16:creationId xmlns:a16="http://schemas.microsoft.com/office/drawing/2014/main" id="{374F05B8-B9EE-4393-5C86-A8EC4EB7B58D}"/>
              </a:ext>
            </a:extLst>
          </p:cNvPr>
          <p:cNvSpPr txBox="1"/>
          <p:nvPr/>
        </p:nvSpPr>
        <p:spPr>
          <a:xfrm>
            <a:off x="3934332" y="2868649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X=20-p</a:t>
            </a:r>
          </a:p>
        </p:txBody>
      </p:sp>
      <p:sp>
        <p:nvSpPr>
          <p:cNvPr id="13" name="TextBox 74">
            <a:extLst>
              <a:ext uri="{FF2B5EF4-FFF2-40B4-BE49-F238E27FC236}">
                <a16:creationId xmlns:a16="http://schemas.microsoft.com/office/drawing/2014/main" id="{19ADAF18-F5D3-2FC9-EAC3-B8E757414896}"/>
              </a:ext>
            </a:extLst>
          </p:cNvPr>
          <p:cNvSpPr txBox="1"/>
          <p:nvPr/>
        </p:nvSpPr>
        <p:spPr>
          <a:xfrm>
            <a:off x="6585875" y="2783421"/>
            <a:ext cx="854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X=30-P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3">
                <a:extLst>
                  <a:ext uri="{FF2B5EF4-FFF2-40B4-BE49-F238E27FC236}">
                    <a16:creationId xmlns:a16="http://schemas.microsoft.com/office/drawing/2014/main" id="{9C434C46-79F6-5F2E-2981-5705425A43DA}"/>
                  </a:ext>
                </a:extLst>
              </p:cNvPr>
              <p:cNvSpPr txBox="1"/>
              <p:nvPr/>
            </p:nvSpPr>
            <p:spPr>
              <a:xfrm>
                <a:off x="7734110" y="1742507"/>
                <a:ext cx="4664996" cy="9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b="1" i="0" dirty="0" smtClean="0">
                                    <a:solidFill>
                                      <a:srgbClr val="C00000"/>
                                    </a:solidFill>
                                  </a:rPr>
                                  <m:t>60</m:t>
                                </m:r>
                                <m:r>
                                  <m:rPr>
                                    <m:nor/>
                                  </m:rPr>
                                  <a:rPr lang="en-US" b="1" i="0" dirty="0" smtClean="0">
                                    <a:solidFill>
                                      <a:srgbClr val="C00000"/>
                                    </a:solidFill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b="1" i="0" dirty="0" smtClean="0">
                                    <a:solidFill>
                                      <a:srgbClr val="C00000"/>
                                    </a:solidFill>
                                  </a:rPr>
                                  <m:t>3</m:t>
                                </m:r>
                                <m:r>
                                  <m:rPr>
                                    <m:nor/>
                                  </m:rPr>
                                  <a:rPr lang="en-US" b="1" i="0" dirty="0" smtClean="0">
                                    <a:solidFill>
                                      <a:srgbClr val="C00000"/>
                                    </a:solidFill>
                                  </a:rPr>
                                  <m:t>P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n-US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𝟓𝟎</m:t>
                                </m:r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e>
                              <m:e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𝟐𝟎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b="0" i="1" smtClean="0"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  <m:r>
                                  <a:rPr lang="en-US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𝟑𝟎</m:t>
                                </m:r>
                                <m:r>
                                  <a:rPr lang="en-US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he-IL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          </m:t>
                                </m:r>
                              </m:e>
                              <m:e>
                                <m:r>
                                  <a:rPr lang="en-US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𝟐𝟎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n-US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𝟑𝟎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3">
                <a:extLst>
                  <a:ext uri="{FF2B5EF4-FFF2-40B4-BE49-F238E27FC236}">
                    <a16:creationId xmlns:a16="http://schemas.microsoft.com/office/drawing/2014/main" id="{9C434C46-79F6-5F2E-2981-5705425A43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4110" y="1742507"/>
                <a:ext cx="4664996" cy="9766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D40D6BF5-276C-8B19-2332-92D6592C28FF}"/>
              </a:ext>
            </a:extLst>
          </p:cNvPr>
          <p:cNvSpPr txBox="1"/>
          <p:nvPr/>
        </p:nvSpPr>
        <p:spPr>
          <a:xfrm>
            <a:off x="664231" y="-98404"/>
            <a:ext cx="7300485" cy="1988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 rtl="1">
              <a:lnSpc>
                <a:spcPct val="200000"/>
              </a:lnSpc>
              <a:buNone/>
            </a:pP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ב. סמנו </a:t>
            </a:r>
            <a:r>
              <a:rPr lang="he-I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נכון/לא נכון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עבור כל אחד מהסעיפים הבאים ונמקו:</a:t>
            </a:r>
            <a:b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1. אם המחיר בשוק הינו 5 </a:t>
            </a:r>
            <a:r>
              <a:rPr lang="he-IL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ש''ח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, הכמות המבוקשת בענף תהיה 45 יחידות 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X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he-IL" sz="18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נכון 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n-IL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marL="0" indent="0" algn="r" rtl="1">
              <a:lnSpc>
                <a:spcPct val="150000"/>
              </a:lnSpc>
              <a:buNone/>
            </a:pP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2. אם המחיר בשוק הינו 10 </a:t>
            </a:r>
            <a:r>
              <a:rPr lang="he-IL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ש''ח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, הכמות המבוקשת בענף תהיה 40 יחידות.   </a:t>
            </a:r>
            <a:endParaRPr lang="en-IL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286500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648FB-F6D7-7CE8-E120-B636B2A77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מחבר ישר 5">
            <a:extLst>
              <a:ext uri="{FF2B5EF4-FFF2-40B4-BE49-F238E27FC236}">
                <a16:creationId xmlns:a16="http://schemas.microsoft.com/office/drawing/2014/main" id="{C69564DF-B85B-A34A-7315-4B879AD3309D}"/>
              </a:ext>
            </a:extLst>
          </p:cNvPr>
          <p:cNvCxnSpPr/>
          <p:nvPr/>
        </p:nvCxnSpPr>
        <p:spPr>
          <a:xfrm>
            <a:off x="1074578" y="2963680"/>
            <a:ext cx="0" cy="2022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מחבר ישר 32">
            <a:extLst>
              <a:ext uri="{FF2B5EF4-FFF2-40B4-BE49-F238E27FC236}">
                <a16:creationId xmlns:a16="http://schemas.microsoft.com/office/drawing/2014/main" id="{B102C141-744A-9255-80BC-FDCFE1195DE4}"/>
              </a:ext>
            </a:extLst>
          </p:cNvPr>
          <p:cNvCxnSpPr/>
          <p:nvPr/>
        </p:nvCxnSpPr>
        <p:spPr>
          <a:xfrm flipH="1">
            <a:off x="1122170" y="4985863"/>
            <a:ext cx="2116586" cy="138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מחבר ישר 55">
            <a:extLst>
              <a:ext uri="{FF2B5EF4-FFF2-40B4-BE49-F238E27FC236}">
                <a16:creationId xmlns:a16="http://schemas.microsoft.com/office/drawing/2014/main" id="{1F2507DA-0CA8-44CA-8286-B1437F5720D7}"/>
              </a:ext>
            </a:extLst>
          </p:cNvPr>
          <p:cNvCxnSpPr/>
          <p:nvPr/>
        </p:nvCxnSpPr>
        <p:spPr>
          <a:xfrm>
            <a:off x="3773034" y="2939404"/>
            <a:ext cx="0" cy="2022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מחבר ישר 56">
            <a:extLst>
              <a:ext uri="{FF2B5EF4-FFF2-40B4-BE49-F238E27FC236}">
                <a16:creationId xmlns:a16="http://schemas.microsoft.com/office/drawing/2014/main" id="{FF9B263E-78A2-33FF-D715-6BAC91C97569}"/>
              </a:ext>
            </a:extLst>
          </p:cNvPr>
          <p:cNvCxnSpPr/>
          <p:nvPr/>
        </p:nvCxnSpPr>
        <p:spPr>
          <a:xfrm flipH="1">
            <a:off x="3820626" y="4961587"/>
            <a:ext cx="1345407" cy="138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מחבר ישר 75">
            <a:extLst>
              <a:ext uri="{FF2B5EF4-FFF2-40B4-BE49-F238E27FC236}">
                <a16:creationId xmlns:a16="http://schemas.microsoft.com/office/drawing/2014/main" id="{1028430E-6B0B-A209-50E6-716F289A4CEC}"/>
              </a:ext>
            </a:extLst>
          </p:cNvPr>
          <p:cNvCxnSpPr/>
          <p:nvPr/>
        </p:nvCxnSpPr>
        <p:spPr>
          <a:xfrm>
            <a:off x="6317989" y="2939404"/>
            <a:ext cx="0" cy="2022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מחבר ישר 76">
            <a:extLst>
              <a:ext uri="{FF2B5EF4-FFF2-40B4-BE49-F238E27FC236}">
                <a16:creationId xmlns:a16="http://schemas.microsoft.com/office/drawing/2014/main" id="{B42C5E8A-A5F5-2E5A-9F1C-3A46FF9294AB}"/>
              </a:ext>
            </a:extLst>
          </p:cNvPr>
          <p:cNvCxnSpPr/>
          <p:nvPr/>
        </p:nvCxnSpPr>
        <p:spPr>
          <a:xfrm flipH="1">
            <a:off x="6365581" y="4951166"/>
            <a:ext cx="1599135" cy="242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מחבר ישר 94">
            <a:extLst>
              <a:ext uri="{FF2B5EF4-FFF2-40B4-BE49-F238E27FC236}">
                <a16:creationId xmlns:a16="http://schemas.microsoft.com/office/drawing/2014/main" id="{688C89B4-2A87-0034-AE69-8B702C6E2B21}"/>
              </a:ext>
            </a:extLst>
          </p:cNvPr>
          <p:cNvCxnSpPr/>
          <p:nvPr/>
        </p:nvCxnSpPr>
        <p:spPr>
          <a:xfrm>
            <a:off x="8519444" y="2974103"/>
            <a:ext cx="0" cy="2022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מחבר ישר 95">
            <a:extLst>
              <a:ext uri="{FF2B5EF4-FFF2-40B4-BE49-F238E27FC236}">
                <a16:creationId xmlns:a16="http://schemas.microsoft.com/office/drawing/2014/main" id="{0F31C731-484B-3259-E7D3-2086B9D21F67}"/>
              </a:ext>
            </a:extLst>
          </p:cNvPr>
          <p:cNvCxnSpPr/>
          <p:nvPr/>
        </p:nvCxnSpPr>
        <p:spPr>
          <a:xfrm flipH="1">
            <a:off x="8519445" y="4961587"/>
            <a:ext cx="3438097" cy="14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מחבר ישר 2">
            <a:extLst>
              <a:ext uri="{FF2B5EF4-FFF2-40B4-BE49-F238E27FC236}">
                <a16:creationId xmlns:a16="http://schemas.microsoft.com/office/drawing/2014/main" id="{97278B95-AB4F-8EBE-FB12-8335B74E97B7}"/>
              </a:ext>
            </a:extLst>
          </p:cNvPr>
          <p:cNvCxnSpPr/>
          <p:nvPr/>
        </p:nvCxnSpPr>
        <p:spPr>
          <a:xfrm>
            <a:off x="1037333" y="4556122"/>
            <a:ext cx="728487" cy="482513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מחבר ישר 59">
            <a:extLst>
              <a:ext uri="{FF2B5EF4-FFF2-40B4-BE49-F238E27FC236}">
                <a16:creationId xmlns:a16="http://schemas.microsoft.com/office/drawing/2014/main" id="{E499A780-7807-3D79-C51D-E6DD390105E3}"/>
              </a:ext>
            </a:extLst>
          </p:cNvPr>
          <p:cNvCxnSpPr/>
          <p:nvPr/>
        </p:nvCxnSpPr>
        <p:spPr>
          <a:xfrm>
            <a:off x="3697702" y="3964798"/>
            <a:ext cx="1302319" cy="1021065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מחבר ישר 60">
            <a:extLst>
              <a:ext uri="{FF2B5EF4-FFF2-40B4-BE49-F238E27FC236}">
                <a16:creationId xmlns:a16="http://schemas.microsoft.com/office/drawing/2014/main" id="{D47721E6-528D-492D-C1F4-CB1BB7DC8A54}"/>
              </a:ext>
            </a:extLst>
          </p:cNvPr>
          <p:cNvCxnSpPr>
            <a:cxnSpLocks/>
          </p:cNvCxnSpPr>
          <p:nvPr/>
        </p:nvCxnSpPr>
        <p:spPr>
          <a:xfrm>
            <a:off x="6365581" y="3231265"/>
            <a:ext cx="1655926" cy="1737249"/>
          </a:xfrm>
          <a:prstGeom prst="line">
            <a:avLst/>
          </a:prstGeom>
          <a:ln w="142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43B7696-9771-C03C-3AD3-44D438F60A75}"/>
              </a:ext>
            </a:extLst>
          </p:cNvPr>
          <p:cNvSpPr txBox="1"/>
          <p:nvPr/>
        </p:nvSpPr>
        <p:spPr>
          <a:xfrm>
            <a:off x="2933864" y="5034415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4CFFB65-C70F-ACAE-2E67-37B5B3F0F876}"/>
              </a:ext>
            </a:extLst>
          </p:cNvPr>
          <p:cNvSpPr txBox="1"/>
          <p:nvPr/>
        </p:nvSpPr>
        <p:spPr>
          <a:xfrm>
            <a:off x="5373575" y="5113987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290A715-0657-BC77-DC70-13CAF0B27157}"/>
              </a:ext>
            </a:extLst>
          </p:cNvPr>
          <p:cNvSpPr txBox="1"/>
          <p:nvPr/>
        </p:nvSpPr>
        <p:spPr>
          <a:xfrm>
            <a:off x="8186157" y="4985863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1453BE5-0256-340F-6968-47CCBE6BDCA7}"/>
              </a:ext>
            </a:extLst>
          </p:cNvPr>
          <p:cNvSpPr txBox="1"/>
          <p:nvPr/>
        </p:nvSpPr>
        <p:spPr>
          <a:xfrm>
            <a:off x="11789402" y="5116917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60</a:t>
            </a:r>
            <a:endParaRPr 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44616CC-E276-B3E9-5C58-7968254AC0F7}"/>
              </a:ext>
            </a:extLst>
          </p:cNvPr>
          <p:cNvSpPr txBox="1"/>
          <p:nvPr/>
        </p:nvSpPr>
        <p:spPr>
          <a:xfrm>
            <a:off x="664231" y="2877708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94EBFBA-F347-930E-3A98-F19D5D6F2A1E}"/>
              </a:ext>
            </a:extLst>
          </p:cNvPr>
          <p:cNvSpPr txBox="1"/>
          <p:nvPr/>
        </p:nvSpPr>
        <p:spPr>
          <a:xfrm>
            <a:off x="3414882" y="2877708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7928F69-F1D7-511B-F72C-AD184C1860D5}"/>
              </a:ext>
            </a:extLst>
          </p:cNvPr>
          <p:cNvSpPr txBox="1"/>
          <p:nvPr/>
        </p:nvSpPr>
        <p:spPr>
          <a:xfrm>
            <a:off x="5874012" y="2647496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3E9A907-D3B3-A9A5-B55B-737209FACC9B}"/>
              </a:ext>
            </a:extLst>
          </p:cNvPr>
          <p:cNvSpPr txBox="1"/>
          <p:nvPr/>
        </p:nvSpPr>
        <p:spPr>
          <a:xfrm>
            <a:off x="8142315" y="2634747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cxnSp>
        <p:nvCxnSpPr>
          <p:cNvPr id="70" name="מחבר ישר 69">
            <a:extLst>
              <a:ext uri="{FF2B5EF4-FFF2-40B4-BE49-F238E27FC236}">
                <a16:creationId xmlns:a16="http://schemas.microsoft.com/office/drawing/2014/main" id="{76D202A5-62C2-6266-7012-ACC28DB345C7}"/>
              </a:ext>
            </a:extLst>
          </p:cNvPr>
          <p:cNvCxnSpPr>
            <a:cxnSpLocks/>
            <a:stCxn id="49" idx="3"/>
          </p:cNvCxnSpPr>
          <p:nvPr/>
        </p:nvCxnSpPr>
        <p:spPr>
          <a:xfrm>
            <a:off x="8540127" y="3277427"/>
            <a:ext cx="534046" cy="605306"/>
          </a:xfrm>
          <a:prstGeom prst="line">
            <a:avLst/>
          </a:prstGeom>
          <a:ln w="155575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מחבר ישר 10">
            <a:extLst>
              <a:ext uri="{FF2B5EF4-FFF2-40B4-BE49-F238E27FC236}">
                <a16:creationId xmlns:a16="http://schemas.microsoft.com/office/drawing/2014/main" id="{FDC6CA5A-3F2E-E9FB-00CF-CF44E837D70F}"/>
              </a:ext>
            </a:extLst>
          </p:cNvPr>
          <p:cNvCxnSpPr/>
          <p:nvPr/>
        </p:nvCxnSpPr>
        <p:spPr>
          <a:xfrm flipV="1">
            <a:off x="991123" y="3938015"/>
            <a:ext cx="10798279" cy="1080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מחבר ישר 73">
            <a:extLst>
              <a:ext uri="{FF2B5EF4-FFF2-40B4-BE49-F238E27FC236}">
                <a16:creationId xmlns:a16="http://schemas.microsoft.com/office/drawing/2014/main" id="{E6B9F9E3-FC31-E3B9-75AA-39D957EF9132}"/>
              </a:ext>
            </a:extLst>
          </p:cNvPr>
          <p:cNvCxnSpPr/>
          <p:nvPr/>
        </p:nvCxnSpPr>
        <p:spPr>
          <a:xfrm flipV="1">
            <a:off x="1074578" y="4441170"/>
            <a:ext cx="10798279" cy="1080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0C006D43-DA6B-B0E1-D4CA-AF91D8E4D72F}"/>
              </a:ext>
            </a:extLst>
          </p:cNvPr>
          <p:cNvSpPr txBox="1"/>
          <p:nvPr/>
        </p:nvSpPr>
        <p:spPr>
          <a:xfrm>
            <a:off x="635261" y="436458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10</a:t>
            </a:r>
            <a:endParaRPr 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0D54383-668B-A418-F8FA-C8F65F3C9C77}"/>
              </a:ext>
            </a:extLst>
          </p:cNvPr>
          <p:cNvSpPr txBox="1"/>
          <p:nvPr/>
        </p:nvSpPr>
        <p:spPr>
          <a:xfrm>
            <a:off x="654394" y="381416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20</a:t>
            </a:r>
            <a:endParaRPr 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BD3E1F0-57E1-B6CF-2606-455B5ABADBDD}"/>
              </a:ext>
            </a:extLst>
          </p:cNvPr>
          <p:cNvSpPr txBox="1"/>
          <p:nvPr/>
        </p:nvSpPr>
        <p:spPr>
          <a:xfrm>
            <a:off x="3305258" y="442932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10</a:t>
            </a:r>
            <a:endParaRPr 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88F13F5-88B4-1FDB-8B53-3DDA70212765}"/>
              </a:ext>
            </a:extLst>
          </p:cNvPr>
          <p:cNvSpPr txBox="1"/>
          <p:nvPr/>
        </p:nvSpPr>
        <p:spPr>
          <a:xfrm>
            <a:off x="5839849" y="3135932"/>
            <a:ext cx="441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30</a:t>
            </a:r>
            <a:endParaRPr lang="en-US" dirty="0"/>
          </a:p>
        </p:txBody>
      </p:sp>
      <p:cxnSp>
        <p:nvCxnSpPr>
          <p:cNvPr id="83" name="מחבר ישר 82">
            <a:extLst>
              <a:ext uri="{FF2B5EF4-FFF2-40B4-BE49-F238E27FC236}">
                <a16:creationId xmlns:a16="http://schemas.microsoft.com/office/drawing/2014/main" id="{A2C6D716-81F1-9D38-765F-E96D4BFE57F5}"/>
              </a:ext>
            </a:extLst>
          </p:cNvPr>
          <p:cNvCxnSpPr/>
          <p:nvPr/>
        </p:nvCxnSpPr>
        <p:spPr>
          <a:xfrm>
            <a:off x="9082622" y="3912269"/>
            <a:ext cx="1004724" cy="567680"/>
          </a:xfrm>
          <a:prstGeom prst="line">
            <a:avLst/>
          </a:prstGeom>
          <a:ln w="155575">
            <a:solidFill>
              <a:schemeClr val="accent6">
                <a:lumMod val="75000"/>
              </a:schemeClr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6" name="מחבר ישר 85">
            <a:extLst>
              <a:ext uri="{FF2B5EF4-FFF2-40B4-BE49-F238E27FC236}">
                <a16:creationId xmlns:a16="http://schemas.microsoft.com/office/drawing/2014/main" id="{83DDE39A-1012-EBBC-3164-9C91AAFFFB39}"/>
              </a:ext>
            </a:extLst>
          </p:cNvPr>
          <p:cNvCxnSpPr/>
          <p:nvPr/>
        </p:nvCxnSpPr>
        <p:spPr>
          <a:xfrm>
            <a:off x="10087346" y="4471358"/>
            <a:ext cx="1783561" cy="497103"/>
          </a:xfrm>
          <a:prstGeom prst="line">
            <a:avLst/>
          </a:prstGeom>
          <a:ln w="155575">
            <a:solidFill>
              <a:schemeClr val="accent4">
                <a:lumMod val="50000"/>
              </a:schemeClr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EDFABBA2-A0B4-2EB1-0382-37CC1003968D}"/>
              </a:ext>
            </a:extLst>
          </p:cNvPr>
          <p:cNvSpPr txBox="1"/>
          <p:nvPr/>
        </p:nvSpPr>
        <p:spPr>
          <a:xfrm>
            <a:off x="8940586" y="507766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10</a:t>
            </a:r>
            <a:endParaRPr lang="en-US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34B641C-FFF2-B146-E071-5F291D727E05}"/>
              </a:ext>
            </a:extLst>
          </p:cNvPr>
          <p:cNvSpPr txBox="1"/>
          <p:nvPr/>
        </p:nvSpPr>
        <p:spPr>
          <a:xfrm>
            <a:off x="9903381" y="510035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30</a:t>
            </a:r>
            <a:endParaRPr lang="en-US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730F6E2-1C08-0FD3-FF54-2F45CEC5B922}"/>
              </a:ext>
            </a:extLst>
          </p:cNvPr>
          <p:cNvSpPr txBox="1"/>
          <p:nvPr/>
        </p:nvSpPr>
        <p:spPr>
          <a:xfrm>
            <a:off x="1446207" y="5203115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10</a:t>
            </a:r>
            <a:endParaRPr lang="en-US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6CA3174-2583-8A84-E006-D41F2C266F8B}"/>
              </a:ext>
            </a:extLst>
          </p:cNvPr>
          <p:cNvSpPr txBox="1"/>
          <p:nvPr/>
        </p:nvSpPr>
        <p:spPr>
          <a:xfrm>
            <a:off x="8163341" y="4404817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10</a:t>
            </a:r>
            <a:endParaRPr lang="en-US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9F949D3-F9F3-0E0C-0A81-965AA58D5655}"/>
              </a:ext>
            </a:extLst>
          </p:cNvPr>
          <p:cNvSpPr txBox="1"/>
          <p:nvPr/>
        </p:nvSpPr>
        <p:spPr>
          <a:xfrm>
            <a:off x="8150497" y="385711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20</a:t>
            </a:r>
            <a:endParaRPr lang="en-US" dirty="0"/>
          </a:p>
        </p:txBody>
      </p:sp>
      <p:cxnSp>
        <p:nvCxnSpPr>
          <p:cNvPr id="100" name="מחבר ישר 99">
            <a:extLst>
              <a:ext uri="{FF2B5EF4-FFF2-40B4-BE49-F238E27FC236}">
                <a16:creationId xmlns:a16="http://schemas.microsoft.com/office/drawing/2014/main" id="{76AD267F-DA45-B5BB-7E6B-CF6FF7C1B6F2}"/>
              </a:ext>
            </a:extLst>
          </p:cNvPr>
          <p:cNvCxnSpPr/>
          <p:nvPr/>
        </p:nvCxnSpPr>
        <p:spPr>
          <a:xfrm flipH="1">
            <a:off x="10066608" y="4464553"/>
            <a:ext cx="13826" cy="472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מחבר ישר 100">
            <a:extLst>
              <a:ext uri="{FF2B5EF4-FFF2-40B4-BE49-F238E27FC236}">
                <a16:creationId xmlns:a16="http://schemas.microsoft.com/office/drawing/2014/main" id="{5C2B7B79-F2CE-A72C-4627-2473FC1E9F1C}"/>
              </a:ext>
            </a:extLst>
          </p:cNvPr>
          <p:cNvCxnSpPr/>
          <p:nvPr/>
        </p:nvCxnSpPr>
        <p:spPr>
          <a:xfrm flipH="1">
            <a:off x="9058477" y="3916776"/>
            <a:ext cx="13793" cy="10207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C5836380-B75F-D638-0C37-8388D4C3CCB6}"/>
              </a:ext>
            </a:extLst>
          </p:cNvPr>
          <p:cNvSpPr txBox="1"/>
          <p:nvPr/>
        </p:nvSpPr>
        <p:spPr>
          <a:xfrm>
            <a:off x="4859016" y="514493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20</a:t>
            </a:r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F7C7BF1-EA59-1D79-A9BA-52B32957CF1A}"/>
              </a:ext>
            </a:extLst>
          </p:cNvPr>
          <p:cNvSpPr txBox="1"/>
          <p:nvPr/>
        </p:nvSpPr>
        <p:spPr>
          <a:xfrm>
            <a:off x="7704760" y="50451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30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B7820F4-6CFF-3652-21B9-71EC69ED5E70}"/>
              </a:ext>
            </a:extLst>
          </p:cNvPr>
          <p:cNvSpPr txBox="1"/>
          <p:nvPr/>
        </p:nvSpPr>
        <p:spPr>
          <a:xfrm>
            <a:off x="8121423" y="309276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6BC2A11-F154-BD94-ED27-3B6686CEA68C}"/>
              </a:ext>
            </a:extLst>
          </p:cNvPr>
          <p:cNvSpPr txBox="1"/>
          <p:nvPr/>
        </p:nvSpPr>
        <p:spPr>
          <a:xfrm>
            <a:off x="4128288" y="5098507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10</a:t>
            </a:r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805FE94-A38A-1330-0A0C-9175F82E4942}"/>
              </a:ext>
            </a:extLst>
          </p:cNvPr>
          <p:cNvSpPr txBox="1"/>
          <p:nvPr/>
        </p:nvSpPr>
        <p:spPr>
          <a:xfrm>
            <a:off x="6645701" y="507123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10</a:t>
            </a:r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CE308A6-AE2C-FBD7-323A-5054E16F6C2B}"/>
              </a:ext>
            </a:extLst>
          </p:cNvPr>
          <p:cNvSpPr txBox="1"/>
          <p:nvPr/>
        </p:nvSpPr>
        <p:spPr>
          <a:xfrm>
            <a:off x="7223362" y="5053467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20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57EC4D8-A777-0ECE-5817-8881E146FF4A}"/>
              </a:ext>
            </a:extLst>
          </p:cNvPr>
          <p:cNvSpPr txBox="1"/>
          <p:nvPr/>
        </p:nvSpPr>
        <p:spPr>
          <a:xfrm>
            <a:off x="3228161" y="378465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20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CF2A81-E1CE-BDD6-AF21-E1C00717B316}"/>
              </a:ext>
            </a:extLst>
          </p:cNvPr>
          <p:cNvSpPr txBox="1"/>
          <p:nvPr/>
        </p:nvSpPr>
        <p:spPr>
          <a:xfrm>
            <a:off x="1399337" y="2319979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P=10-X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D4AF4D2-8A52-E52E-D834-C5075F7DD17C}"/>
              </a:ext>
            </a:extLst>
          </p:cNvPr>
          <p:cNvSpPr txBox="1"/>
          <p:nvPr/>
        </p:nvSpPr>
        <p:spPr>
          <a:xfrm>
            <a:off x="3921500" y="2230814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P=20-X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3E3A07-819F-AD9C-C03C-13937B7DA1A2}"/>
              </a:ext>
            </a:extLst>
          </p:cNvPr>
          <p:cNvSpPr txBox="1"/>
          <p:nvPr/>
        </p:nvSpPr>
        <p:spPr>
          <a:xfrm>
            <a:off x="6343377" y="2245380"/>
            <a:ext cx="854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P=30-X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AD0F7C0-75B6-60C2-EBF1-BB691988B86F}"/>
              </a:ext>
            </a:extLst>
          </p:cNvPr>
          <p:cNvSpPr txBox="1"/>
          <p:nvPr/>
        </p:nvSpPr>
        <p:spPr>
          <a:xfrm>
            <a:off x="2514587" y="2236097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dirty="0"/>
              <a:t>צרכן א</a:t>
            </a:r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89BA58A-CD1E-7178-D64A-CDCFF6F57D41}"/>
              </a:ext>
            </a:extLst>
          </p:cNvPr>
          <p:cNvSpPr txBox="1"/>
          <p:nvPr/>
        </p:nvSpPr>
        <p:spPr>
          <a:xfrm>
            <a:off x="4817131" y="2202891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dirty="0"/>
              <a:t>צרכן ב</a:t>
            </a:r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67FB466-9946-C860-2361-5F0ADA377F7F}"/>
              </a:ext>
            </a:extLst>
          </p:cNvPr>
          <p:cNvSpPr txBox="1"/>
          <p:nvPr/>
        </p:nvSpPr>
        <p:spPr>
          <a:xfrm>
            <a:off x="7231357" y="2294928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dirty="0"/>
              <a:t>צרכן ג</a:t>
            </a:r>
            <a:endParaRPr lang="en-US" dirty="0"/>
          </a:p>
        </p:txBody>
      </p:sp>
      <p:sp>
        <p:nvSpPr>
          <p:cNvPr id="5" name="כותרת 1">
            <a:extLst>
              <a:ext uri="{FF2B5EF4-FFF2-40B4-BE49-F238E27FC236}">
                <a16:creationId xmlns:a16="http://schemas.microsoft.com/office/drawing/2014/main" id="{CE44D3F2-D298-2C9D-A363-4341CF05AFE7}"/>
              </a:ext>
            </a:extLst>
          </p:cNvPr>
          <p:cNvSpPr txBox="1">
            <a:spLocks/>
          </p:cNvSpPr>
          <p:nvPr/>
        </p:nvSpPr>
        <p:spPr>
          <a:xfrm>
            <a:off x="9240577" y="318640"/>
            <a:ext cx="2627784" cy="731836"/>
          </a:xfrm>
          <a:prstGeom prst="rect">
            <a:avLst/>
          </a:prstGeom>
        </p:spPr>
        <p:txBody>
          <a:bodyPr vert="horz" lIns="91440" tIns="45720" rIns="91440" bIns="45720" rtlCol="1" anchor="ctr">
            <a:noAutofit/>
          </a:bodyPr>
          <a:lstStyle>
            <a:lvl1pPr algn="ctr" defTabSz="914400" rtl="1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b="1" dirty="0">
                <a:cs typeface="+mn-cs"/>
              </a:rPr>
              <a:t>שאלה 2</a:t>
            </a:r>
          </a:p>
        </p:txBody>
      </p:sp>
      <p:sp>
        <p:nvSpPr>
          <p:cNvPr id="10" name="TextBox 71">
            <a:extLst>
              <a:ext uri="{FF2B5EF4-FFF2-40B4-BE49-F238E27FC236}">
                <a16:creationId xmlns:a16="http://schemas.microsoft.com/office/drawing/2014/main" id="{49868842-F612-4C0D-AC26-9044EE25474F}"/>
              </a:ext>
            </a:extLst>
          </p:cNvPr>
          <p:cNvSpPr txBox="1"/>
          <p:nvPr/>
        </p:nvSpPr>
        <p:spPr>
          <a:xfrm>
            <a:off x="1313414" y="2800963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X=10-P</a:t>
            </a:r>
          </a:p>
        </p:txBody>
      </p:sp>
      <p:sp>
        <p:nvSpPr>
          <p:cNvPr id="12" name="TextBox 72">
            <a:extLst>
              <a:ext uri="{FF2B5EF4-FFF2-40B4-BE49-F238E27FC236}">
                <a16:creationId xmlns:a16="http://schemas.microsoft.com/office/drawing/2014/main" id="{465425D0-A0DA-346B-5497-906E7B9A853C}"/>
              </a:ext>
            </a:extLst>
          </p:cNvPr>
          <p:cNvSpPr txBox="1"/>
          <p:nvPr/>
        </p:nvSpPr>
        <p:spPr>
          <a:xfrm>
            <a:off x="3934332" y="2868649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X=20-p</a:t>
            </a:r>
          </a:p>
        </p:txBody>
      </p:sp>
      <p:sp>
        <p:nvSpPr>
          <p:cNvPr id="13" name="TextBox 74">
            <a:extLst>
              <a:ext uri="{FF2B5EF4-FFF2-40B4-BE49-F238E27FC236}">
                <a16:creationId xmlns:a16="http://schemas.microsoft.com/office/drawing/2014/main" id="{9ED94F40-0BEB-BD24-B73D-5504356CA867}"/>
              </a:ext>
            </a:extLst>
          </p:cNvPr>
          <p:cNvSpPr txBox="1"/>
          <p:nvPr/>
        </p:nvSpPr>
        <p:spPr>
          <a:xfrm>
            <a:off x="6585875" y="2783421"/>
            <a:ext cx="854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X=30-P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3">
                <a:extLst>
                  <a:ext uri="{FF2B5EF4-FFF2-40B4-BE49-F238E27FC236}">
                    <a16:creationId xmlns:a16="http://schemas.microsoft.com/office/drawing/2014/main" id="{290DB956-A3BD-D561-A239-1631C4137233}"/>
                  </a:ext>
                </a:extLst>
              </p:cNvPr>
              <p:cNvSpPr txBox="1"/>
              <p:nvPr/>
            </p:nvSpPr>
            <p:spPr>
              <a:xfrm>
                <a:off x="7734110" y="1742507"/>
                <a:ext cx="4664996" cy="9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b="1" i="0" dirty="0" smtClean="0">
                                    <a:solidFill>
                                      <a:srgbClr val="C00000"/>
                                    </a:solidFill>
                                  </a:rPr>
                                  <m:t>60</m:t>
                                </m:r>
                                <m:r>
                                  <m:rPr>
                                    <m:nor/>
                                  </m:rPr>
                                  <a:rPr lang="en-US" b="1" i="0" dirty="0" smtClean="0">
                                    <a:solidFill>
                                      <a:srgbClr val="C00000"/>
                                    </a:solidFill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b="1" i="0" dirty="0" smtClean="0">
                                    <a:solidFill>
                                      <a:srgbClr val="C00000"/>
                                    </a:solidFill>
                                  </a:rPr>
                                  <m:t>3</m:t>
                                </m:r>
                                <m:r>
                                  <m:rPr>
                                    <m:nor/>
                                  </m:rPr>
                                  <a:rPr lang="en-US" b="1" i="0" dirty="0" smtClean="0">
                                    <a:solidFill>
                                      <a:srgbClr val="C00000"/>
                                    </a:solidFill>
                                  </a:rPr>
                                  <m:t>P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n-US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𝟓𝟎</m:t>
                                </m:r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e>
                              <m:e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𝟐𝟎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b="0" i="1" smtClean="0"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  <m:r>
                                  <a:rPr lang="en-US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𝟑𝟎</m:t>
                                </m:r>
                                <m:r>
                                  <a:rPr lang="en-US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he-IL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          </m:t>
                                </m:r>
                              </m:e>
                              <m:e>
                                <m:r>
                                  <a:rPr lang="en-US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𝟐𝟎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n-US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𝟑𝟎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3">
                <a:extLst>
                  <a:ext uri="{FF2B5EF4-FFF2-40B4-BE49-F238E27FC236}">
                    <a16:creationId xmlns:a16="http://schemas.microsoft.com/office/drawing/2014/main" id="{290DB956-A3BD-D561-A239-1631C41372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4110" y="1742507"/>
                <a:ext cx="4664996" cy="9766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8C90F543-C145-1887-405B-B2B3898895A9}"/>
              </a:ext>
            </a:extLst>
          </p:cNvPr>
          <p:cNvSpPr txBox="1"/>
          <p:nvPr/>
        </p:nvSpPr>
        <p:spPr>
          <a:xfrm>
            <a:off x="664231" y="-98404"/>
            <a:ext cx="7300485" cy="2403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 rtl="1">
              <a:lnSpc>
                <a:spcPct val="200000"/>
              </a:lnSpc>
              <a:buNone/>
            </a:pP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ב. סמנו </a:t>
            </a:r>
            <a:r>
              <a:rPr lang="he-I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נכון/לא נכון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עבור כל אחד מהסעיפים הבאים ונמקו:</a:t>
            </a:r>
            <a:b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1. אם המחיר בשוק הינו 5 </a:t>
            </a:r>
            <a:r>
              <a:rPr lang="he-IL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ש''ח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, הכמות המבוקשת בענף תהיה 45 יחידות 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X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he-IL" sz="18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נכון 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n-IL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marL="0" indent="0" algn="r" rtl="1">
              <a:lnSpc>
                <a:spcPct val="150000"/>
              </a:lnSpc>
              <a:buNone/>
            </a:pP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2. אם המחיר בשוק הינו 10 </a:t>
            </a:r>
            <a:r>
              <a:rPr lang="he-IL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ש''ח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, הכמות המבוקשת בענף תהיה 40 יחידות.   </a:t>
            </a:r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	</a:t>
            </a:r>
            <a:r>
              <a:rPr lang="he-IL" sz="1800" dirty="0">
                <a:effectLst/>
                <a:highlight>
                  <a:srgbClr val="FF00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לא נכון, הכמות המבוקשת במחיר 10 </a:t>
            </a:r>
            <a:r>
              <a:rPr lang="he-IL" sz="1800" dirty="0" err="1">
                <a:effectLst/>
                <a:highlight>
                  <a:srgbClr val="FF00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ש''ח</a:t>
            </a:r>
            <a:r>
              <a:rPr lang="he-IL" sz="1800" dirty="0">
                <a:effectLst/>
                <a:highlight>
                  <a:srgbClr val="FF00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תהיה 30 יחידות. </a:t>
            </a:r>
            <a:endParaRPr lang="en-IL" sz="1800" dirty="0">
              <a:effectLst/>
              <a:highlight>
                <a:srgbClr val="FF0000"/>
              </a:highlight>
              <a:latin typeface="Times New Roman" panose="02020603050405020304" pitchFamily="18" charset="0"/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5725111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466F6-7C12-C2F3-B641-406F13D28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מחבר ישר 5">
            <a:extLst>
              <a:ext uri="{FF2B5EF4-FFF2-40B4-BE49-F238E27FC236}">
                <a16:creationId xmlns:a16="http://schemas.microsoft.com/office/drawing/2014/main" id="{68BF61B6-1159-B018-E0EC-7E4B3784E242}"/>
              </a:ext>
            </a:extLst>
          </p:cNvPr>
          <p:cNvCxnSpPr/>
          <p:nvPr/>
        </p:nvCxnSpPr>
        <p:spPr>
          <a:xfrm>
            <a:off x="1074578" y="2963680"/>
            <a:ext cx="0" cy="2022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מחבר ישר 32">
            <a:extLst>
              <a:ext uri="{FF2B5EF4-FFF2-40B4-BE49-F238E27FC236}">
                <a16:creationId xmlns:a16="http://schemas.microsoft.com/office/drawing/2014/main" id="{E707D1DF-210E-3A7B-D2EF-2CFE2CB642EB}"/>
              </a:ext>
            </a:extLst>
          </p:cNvPr>
          <p:cNvCxnSpPr/>
          <p:nvPr/>
        </p:nvCxnSpPr>
        <p:spPr>
          <a:xfrm flipH="1">
            <a:off x="1122170" y="4985863"/>
            <a:ext cx="2116586" cy="138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מחבר ישר 55">
            <a:extLst>
              <a:ext uri="{FF2B5EF4-FFF2-40B4-BE49-F238E27FC236}">
                <a16:creationId xmlns:a16="http://schemas.microsoft.com/office/drawing/2014/main" id="{E61426E6-498C-3BCB-162A-9A9723CF5D65}"/>
              </a:ext>
            </a:extLst>
          </p:cNvPr>
          <p:cNvCxnSpPr/>
          <p:nvPr/>
        </p:nvCxnSpPr>
        <p:spPr>
          <a:xfrm>
            <a:off x="3773034" y="2939404"/>
            <a:ext cx="0" cy="2022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מחבר ישר 56">
            <a:extLst>
              <a:ext uri="{FF2B5EF4-FFF2-40B4-BE49-F238E27FC236}">
                <a16:creationId xmlns:a16="http://schemas.microsoft.com/office/drawing/2014/main" id="{160CEDFC-6BC9-962D-1EC7-B13D6D57C2A2}"/>
              </a:ext>
            </a:extLst>
          </p:cNvPr>
          <p:cNvCxnSpPr/>
          <p:nvPr/>
        </p:nvCxnSpPr>
        <p:spPr>
          <a:xfrm flipH="1">
            <a:off x="3820626" y="4961587"/>
            <a:ext cx="1345407" cy="138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מחבר ישר 75">
            <a:extLst>
              <a:ext uri="{FF2B5EF4-FFF2-40B4-BE49-F238E27FC236}">
                <a16:creationId xmlns:a16="http://schemas.microsoft.com/office/drawing/2014/main" id="{1A3705AC-2D9E-8F36-7911-B7D35EFD3355}"/>
              </a:ext>
            </a:extLst>
          </p:cNvPr>
          <p:cNvCxnSpPr/>
          <p:nvPr/>
        </p:nvCxnSpPr>
        <p:spPr>
          <a:xfrm>
            <a:off x="6317989" y="2939404"/>
            <a:ext cx="0" cy="2022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מחבר ישר 76">
            <a:extLst>
              <a:ext uri="{FF2B5EF4-FFF2-40B4-BE49-F238E27FC236}">
                <a16:creationId xmlns:a16="http://schemas.microsoft.com/office/drawing/2014/main" id="{D89CD264-D90D-F3DB-4FEA-4F0000AA9A79}"/>
              </a:ext>
            </a:extLst>
          </p:cNvPr>
          <p:cNvCxnSpPr/>
          <p:nvPr/>
        </p:nvCxnSpPr>
        <p:spPr>
          <a:xfrm flipH="1">
            <a:off x="6365581" y="4951166"/>
            <a:ext cx="1599135" cy="242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מחבר ישר 94">
            <a:extLst>
              <a:ext uri="{FF2B5EF4-FFF2-40B4-BE49-F238E27FC236}">
                <a16:creationId xmlns:a16="http://schemas.microsoft.com/office/drawing/2014/main" id="{F90AE065-03EB-4ED8-870B-ECBC53F6A309}"/>
              </a:ext>
            </a:extLst>
          </p:cNvPr>
          <p:cNvCxnSpPr/>
          <p:nvPr/>
        </p:nvCxnSpPr>
        <p:spPr>
          <a:xfrm>
            <a:off x="8519444" y="2974103"/>
            <a:ext cx="0" cy="2022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מחבר ישר 95">
            <a:extLst>
              <a:ext uri="{FF2B5EF4-FFF2-40B4-BE49-F238E27FC236}">
                <a16:creationId xmlns:a16="http://schemas.microsoft.com/office/drawing/2014/main" id="{C9AF0291-4521-AE15-9F5C-7A48A5ED337F}"/>
              </a:ext>
            </a:extLst>
          </p:cNvPr>
          <p:cNvCxnSpPr/>
          <p:nvPr/>
        </p:nvCxnSpPr>
        <p:spPr>
          <a:xfrm flipH="1">
            <a:off x="8519445" y="4961587"/>
            <a:ext cx="3438097" cy="14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מחבר ישר 2">
            <a:extLst>
              <a:ext uri="{FF2B5EF4-FFF2-40B4-BE49-F238E27FC236}">
                <a16:creationId xmlns:a16="http://schemas.microsoft.com/office/drawing/2014/main" id="{5991117E-6A4B-F675-4E55-5A535FA5E17F}"/>
              </a:ext>
            </a:extLst>
          </p:cNvPr>
          <p:cNvCxnSpPr/>
          <p:nvPr/>
        </p:nvCxnSpPr>
        <p:spPr>
          <a:xfrm>
            <a:off x="1037333" y="4556122"/>
            <a:ext cx="728487" cy="482513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מחבר ישר 59">
            <a:extLst>
              <a:ext uri="{FF2B5EF4-FFF2-40B4-BE49-F238E27FC236}">
                <a16:creationId xmlns:a16="http://schemas.microsoft.com/office/drawing/2014/main" id="{621CCEA0-10A0-703F-927E-C8069D9ABDF1}"/>
              </a:ext>
            </a:extLst>
          </p:cNvPr>
          <p:cNvCxnSpPr/>
          <p:nvPr/>
        </p:nvCxnSpPr>
        <p:spPr>
          <a:xfrm>
            <a:off x="3697702" y="3964798"/>
            <a:ext cx="1302319" cy="1021065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מחבר ישר 60">
            <a:extLst>
              <a:ext uri="{FF2B5EF4-FFF2-40B4-BE49-F238E27FC236}">
                <a16:creationId xmlns:a16="http://schemas.microsoft.com/office/drawing/2014/main" id="{5F22700B-968B-F9F2-0D33-949C5BE7770B}"/>
              </a:ext>
            </a:extLst>
          </p:cNvPr>
          <p:cNvCxnSpPr>
            <a:cxnSpLocks/>
          </p:cNvCxnSpPr>
          <p:nvPr/>
        </p:nvCxnSpPr>
        <p:spPr>
          <a:xfrm>
            <a:off x="6365581" y="3231265"/>
            <a:ext cx="1655926" cy="1737249"/>
          </a:xfrm>
          <a:prstGeom prst="line">
            <a:avLst/>
          </a:prstGeom>
          <a:ln w="142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B42A55E-FE53-75D1-B8FB-5AC235723B86}"/>
              </a:ext>
            </a:extLst>
          </p:cNvPr>
          <p:cNvSpPr txBox="1"/>
          <p:nvPr/>
        </p:nvSpPr>
        <p:spPr>
          <a:xfrm>
            <a:off x="2933864" y="5034415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B08A50D-CC36-EC1C-E883-12044F3AD257}"/>
              </a:ext>
            </a:extLst>
          </p:cNvPr>
          <p:cNvSpPr txBox="1"/>
          <p:nvPr/>
        </p:nvSpPr>
        <p:spPr>
          <a:xfrm>
            <a:off x="5373575" y="5113987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2ED945E-CC19-9A45-2C64-2943E08081D8}"/>
              </a:ext>
            </a:extLst>
          </p:cNvPr>
          <p:cNvSpPr txBox="1"/>
          <p:nvPr/>
        </p:nvSpPr>
        <p:spPr>
          <a:xfrm>
            <a:off x="8186157" y="4985863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26BD959-6FBE-5697-3DE1-B4BB75F22336}"/>
              </a:ext>
            </a:extLst>
          </p:cNvPr>
          <p:cNvSpPr txBox="1"/>
          <p:nvPr/>
        </p:nvSpPr>
        <p:spPr>
          <a:xfrm>
            <a:off x="11789402" y="5116917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60</a:t>
            </a:r>
            <a:endParaRPr 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76A328B-5633-E9CE-4552-6FEA8374E0C8}"/>
              </a:ext>
            </a:extLst>
          </p:cNvPr>
          <p:cNvSpPr txBox="1"/>
          <p:nvPr/>
        </p:nvSpPr>
        <p:spPr>
          <a:xfrm>
            <a:off x="664231" y="2877708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1DBBC58-8731-452B-CCBC-4E04D5A1C924}"/>
              </a:ext>
            </a:extLst>
          </p:cNvPr>
          <p:cNvSpPr txBox="1"/>
          <p:nvPr/>
        </p:nvSpPr>
        <p:spPr>
          <a:xfrm>
            <a:off x="3414882" y="2877708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D57DCA4-DDD8-A7E5-19CA-8F7C1E5F4E0B}"/>
              </a:ext>
            </a:extLst>
          </p:cNvPr>
          <p:cNvSpPr txBox="1"/>
          <p:nvPr/>
        </p:nvSpPr>
        <p:spPr>
          <a:xfrm>
            <a:off x="5874012" y="2647496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383433B-37D0-A3DE-D591-0FE102098A78}"/>
              </a:ext>
            </a:extLst>
          </p:cNvPr>
          <p:cNvSpPr txBox="1"/>
          <p:nvPr/>
        </p:nvSpPr>
        <p:spPr>
          <a:xfrm>
            <a:off x="8142315" y="2634747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cxnSp>
        <p:nvCxnSpPr>
          <p:cNvPr id="70" name="מחבר ישר 69">
            <a:extLst>
              <a:ext uri="{FF2B5EF4-FFF2-40B4-BE49-F238E27FC236}">
                <a16:creationId xmlns:a16="http://schemas.microsoft.com/office/drawing/2014/main" id="{0E1643F5-5D68-1CB8-83FF-9EE3E66C49D2}"/>
              </a:ext>
            </a:extLst>
          </p:cNvPr>
          <p:cNvCxnSpPr>
            <a:cxnSpLocks/>
            <a:stCxn id="49" idx="3"/>
          </p:cNvCxnSpPr>
          <p:nvPr/>
        </p:nvCxnSpPr>
        <p:spPr>
          <a:xfrm>
            <a:off x="8540127" y="3277427"/>
            <a:ext cx="534046" cy="605306"/>
          </a:xfrm>
          <a:prstGeom prst="line">
            <a:avLst/>
          </a:prstGeom>
          <a:ln w="155575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מחבר ישר 10">
            <a:extLst>
              <a:ext uri="{FF2B5EF4-FFF2-40B4-BE49-F238E27FC236}">
                <a16:creationId xmlns:a16="http://schemas.microsoft.com/office/drawing/2014/main" id="{E382D234-8C85-1A5C-E84E-B9C68E1E67EE}"/>
              </a:ext>
            </a:extLst>
          </p:cNvPr>
          <p:cNvCxnSpPr/>
          <p:nvPr/>
        </p:nvCxnSpPr>
        <p:spPr>
          <a:xfrm flipV="1">
            <a:off x="991123" y="3938015"/>
            <a:ext cx="10798279" cy="1080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מחבר ישר 73">
            <a:extLst>
              <a:ext uri="{FF2B5EF4-FFF2-40B4-BE49-F238E27FC236}">
                <a16:creationId xmlns:a16="http://schemas.microsoft.com/office/drawing/2014/main" id="{3617F420-3286-24F2-11A6-198E04223D43}"/>
              </a:ext>
            </a:extLst>
          </p:cNvPr>
          <p:cNvCxnSpPr/>
          <p:nvPr/>
        </p:nvCxnSpPr>
        <p:spPr>
          <a:xfrm flipV="1">
            <a:off x="1074578" y="4441170"/>
            <a:ext cx="10798279" cy="1080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035F9DCA-8414-F3D0-431D-55C165A4DB03}"/>
              </a:ext>
            </a:extLst>
          </p:cNvPr>
          <p:cNvSpPr txBox="1"/>
          <p:nvPr/>
        </p:nvSpPr>
        <p:spPr>
          <a:xfrm>
            <a:off x="635261" y="436458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10</a:t>
            </a:r>
            <a:endParaRPr 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BB8F50D-A986-8605-2EFC-4C249359B74A}"/>
              </a:ext>
            </a:extLst>
          </p:cNvPr>
          <p:cNvSpPr txBox="1"/>
          <p:nvPr/>
        </p:nvSpPr>
        <p:spPr>
          <a:xfrm>
            <a:off x="654394" y="381416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20</a:t>
            </a:r>
            <a:endParaRPr 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5EE34CF-E439-CD34-7D77-5823579C1FCB}"/>
              </a:ext>
            </a:extLst>
          </p:cNvPr>
          <p:cNvSpPr txBox="1"/>
          <p:nvPr/>
        </p:nvSpPr>
        <p:spPr>
          <a:xfrm>
            <a:off x="3305258" y="442932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10</a:t>
            </a:r>
            <a:endParaRPr 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BB8A6E0-C677-A70A-33FA-850FBA423C25}"/>
              </a:ext>
            </a:extLst>
          </p:cNvPr>
          <p:cNvSpPr txBox="1"/>
          <p:nvPr/>
        </p:nvSpPr>
        <p:spPr>
          <a:xfrm>
            <a:off x="5839849" y="3135932"/>
            <a:ext cx="441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30</a:t>
            </a:r>
            <a:endParaRPr lang="en-US" dirty="0"/>
          </a:p>
        </p:txBody>
      </p:sp>
      <p:cxnSp>
        <p:nvCxnSpPr>
          <p:cNvPr id="83" name="מחבר ישר 82">
            <a:extLst>
              <a:ext uri="{FF2B5EF4-FFF2-40B4-BE49-F238E27FC236}">
                <a16:creationId xmlns:a16="http://schemas.microsoft.com/office/drawing/2014/main" id="{70B2A3AB-329C-77E3-741D-FAEA5F9D984D}"/>
              </a:ext>
            </a:extLst>
          </p:cNvPr>
          <p:cNvCxnSpPr/>
          <p:nvPr/>
        </p:nvCxnSpPr>
        <p:spPr>
          <a:xfrm>
            <a:off x="9082622" y="3912269"/>
            <a:ext cx="1004724" cy="567680"/>
          </a:xfrm>
          <a:prstGeom prst="line">
            <a:avLst/>
          </a:prstGeom>
          <a:ln w="155575">
            <a:solidFill>
              <a:schemeClr val="accent6">
                <a:lumMod val="75000"/>
              </a:schemeClr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6" name="מחבר ישר 85">
            <a:extLst>
              <a:ext uri="{FF2B5EF4-FFF2-40B4-BE49-F238E27FC236}">
                <a16:creationId xmlns:a16="http://schemas.microsoft.com/office/drawing/2014/main" id="{0AF4AD8E-E980-C990-E1F6-5C3C2DBC8B54}"/>
              </a:ext>
            </a:extLst>
          </p:cNvPr>
          <p:cNvCxnSpPr/>
          <p:nvPr/>
        </p:nvCxnSpPr>
        <p:spPr>
          <a:xfrm>
            <a:off x="10087346" y="4471358"/>
            <a:ext cx="1783561" cy="497103"/>
          </a:xfrm>
          <a:prstGeom prst="line">
            <a:avLst/>
          </a:prstGeom>
          <a:ln w="155575">
            <a:solidFill>
              <a:schemeClr val="accent4">
                <a:lumMod val="50000"/>
              </a:schemeClr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E30A1032-0AC0-F280-60D1-3F6FA5354462}"/>
              </a:ext>
            </a:extLst>
          </p:cNvPr>
          <p:cNvSpPr txBox="1"/>
          <p:nvPr/>
        </p:nvSpPr>
        <p:spPr>
          <a:xfrm>
            <a:off x="8940586" y="507766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10</a:t>
            </a:r>
            <a:endParaRPr lang="en-US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88EC887-3B25-A975-173A-99BCAFA80A9F}"/>
              </a:ext>
            </a:extLst>
          </p:cNvPr>
          <p:cNvSpPr txBox="1"/>
          <p:nvPr/>
        </p:nvSpPr>
        <p:spPr>
          <a:xfrm>
            <a:off x="9903381" y="510035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30</a:t>
            </a:r>
            <a:endParaRPr lang="en-US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C79C938-1A3A-A8D7-46C7-C323FF7A625C}"/>
              </a:ext>
            </a:extLst>
          </p:cNvPr>
          <p:cNvSpPr txBox="1"/>
          <p:nvPr/>
        </p:nvSpPr>
        <p:spPr>
          <a:xfrm>
            <a:off x="1446207" y="5203115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10</a:t>
            </a:r>
            <a:endParaRPr lang="en-US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D4D6DE1-0FE2-B342-3033-109D4A287AEA}"/>
              </a:ext>
            </a:extLst>
          </p:cNvPr>
          <p:cNvSpPr txBox="1"/>
          <p:nvPr/>
        </p:nvSpPr>
        <p:spPr>
          <a:xfrm>
            <a:off x="8163341" y="4404817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10</a:t>
            </a:r>
            <a:endParaRPr lang="en-US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C2353CD-F718-CAA3-EEA1-7E2406FF7E72}"/>
              </a:ext>
            </a:extLst>
          </p:cNvPr>
          <p:cNvSpPr txBox="1"/>
          <p:nvPr/>
        </p:nvSpPr>
        <p:spPr>
          <a:xfrm>
            <a:off x="8150497" y="385711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20</a:t>
            </a:r>
            <a:endParaRPr lang="en-US" dirty="0"/>
          </a:p>
        </p:txBody>
      </p:sp>
      <p:cxnSp>
        <p:nvCxnSpPr>
          <p:cNvPr id="100" name="מחבר ישר 99">
            <a:extLst>
              <a:ext uri="{FF2B5EF4-FFF2-40B4-BE49-F238E27FC236}">
                <a16:creationId xmlns:a16="http://schemas.microsoft.com/office/drawing/2014/main" id="{1B942F1A-7954-0937-B577-3DD5FB8DDF20}"/>
              </a:ext>
            </a:extLst>
          </p:cNvPr>
          <p:cNvCxnSpPr/>
          <p:nvPr/>
        </p:nvCxnSpPr>
        <p:spPr>
          <a:xfrm flipH="1">
            <a:off x="10066608" y="4464553"/>
            <a:ext cx="13826" cy="472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מחבר ישר 100">
            <a:extLst>
              <a:ext uri="{FF2B5EF4-FFF2-40B4-BE49-F238E27FC236}">
                <a16:creationId xmlns:a16="http://schemas.microsoft.com/office/drawing/2014/main" id="{FF15A279-99EC-291F-7A88-5D8A3FD1774C}"/>
              </a:ext>
            </a:extLst>
          </p:cNvPr>
          <p:cNvCxnSpPr/>
          <p:nvPr/>
        </p:nvCxnSpPr>
        <p:spPr>
          <a:xfrm flipH="1">
            <a:off x="9058477" y="3916776"/>
            <a:ext cx="13793" cy="10207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63C1E655-ED0D-593F-0110-9FAE2EDBFE24}"/>
              </a:ext>
            </a:extLst>
          </p:cNvPr>
          <p:cNvSpPr txBox="1"/>
          <p:nvPr/>
        </p:nvSpPr>
        <p:spPr>
          <a:xfrm>
            <a:off x="4859016" y="514493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20</a:t>
            </a:r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03146DE-5A73-88D2-885C-055F36C9839D}"/>
              </a:ext>
            </a:extLst>
          </p:cNvPr>
          <p:cNvSpPr txBox="1"/>
          <p:nvPr/>
        </p:nvSpPr>
        <p:spPr>
          <a:xfrm>
            <a:off x="7704760" y="50451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30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22AE000-0DF3-2352-5A58-996C0F191CCA}"/>
              </a:ext>
            </a:extLst>
          </p:cNvPr>
          <p:cNvSpPr txBox="1"/>
          <p:nvPr/>
        </p:nvSpPr>
        <p:spPr>
          <a:xfrm>
            <a:off x="8121423" y="309276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9C71C4A-A4DF-2785-29E9-DA44F60D54E7}"/>
              </a:ext>
            </a:extLst>
          </p:cNvPr>
          <p:cNvSpPr txBox="1"/>
          <p:nvPr/>
        </p:nvSpPr>
        <p:spPr>
          <a:xfrm>
            <a:off x="4128288" y="5098507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10</a:t>
            </a:r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6DC61C7-CD80-9B6C-001D-6D05C639674A}"/>
              </a:ext>
            </a:extLst>
          </p:cNvPr>
          <p:cNvSpPr txBox="1"/>
          <p:nvPr/>
        </p:nvSpPr>
        <p:spPr>
          <a:xfrm>
            <a:off x="6645701" y="507123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10</a:t>
            </a:r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D108F33-D98C-7493-21E1-D1166AEACFB0}"/>
              </a:ext>
            </a:extLst>
          </p:cNvPr>
          <p:cNvSpPr txBox="1"/>
          <p:nvPr/>
        </p:nvSpPr>
        <p:spPr>
          <a:xfrm>
            <a:off x="7223362" y="5053467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20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556D76D-3D53-C8E6-99B6-029E93C16C3D}"/>
              </a:ext>
            </a:extLst>
          </p:cNvPr>
          <p:cNvSpPr txBox="1"/>
          <p:nvPr/>
        </p:nvSpPr>
        <p:spPr>
          <a:xfrm>
            <a:off x="3228161" y="378465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20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D72866-6423-0B5F-2EC4-8B12D6AE939F}"/>
              </a:ext>
            </a:extLst>
          </p:cNvPr>
          <p:cNvSpPr txBox="1"/>
          <p:nvPr/>
        </p:nvSpPr>
        <p:spPr>
          <a:xfrm>
            <a:off x="1399337" y="2319979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P=10-X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4B2E939-03F2-066D-E2D4-725DF6372248}"/>
              </a:ext>
            </a:extLst>
          </p:cNvPr>
          <p:cNvSpPr txBox="1"/>
          <p:nvPr/>
        </p:nvSpPr>
        <p:spPr>
          <a:xfrm>
            <a:off x="3921500" y="2230814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P=20-X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77531D4-8D9F-6B3D-C429-7ADE703669FB}"/>
              </a:ext>
            </a:extLst>
          </p:cNvPr>
          <p:cNvSpPr txBox="1"/>
          <p:nvPr/>
        </p:nvSpPr>
        <p:spPr>
          <a:xfrm>
            <a:off x="6343377" y="2245380"/>
            <a:ext cx="854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P=30-X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9C8CDBC-9EC8-61A7-00CC-0D85BD2126C5}"/>
              </a:ext>
            </a:extLst>
          </p:cNvPr>
          <p:cNvSpPr txBox="1"/>
          <p:nvPr/>
        </p:nvSpPr>
        <p:spPr>
          <a:xfrm>
            <a:off x="2514587" y="2236097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dirty="0"/>
              <a:t>צרכן א</a:t>
            </a:r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D7C6482-678F-644F-EEEB-1DBDD4977B4C}"/>
              </a:ext>
            </a:extLst>
          </p:cNvPr>
          <p:cNvSpPr txBox="1"/>
          <p:nvPr/>
        </p:nvSpPr>
        <p:spPr>
          <a:xfrm>
            <a:off x="4817131" y="2202891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dirty="0"/>
              <a:t>צרכן ב</a:t>
            </a:r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17AEEDF-2CC3-A842-F7AB-FDCF21E61346}"/>
              </a:ext>
            </a:extLst>
          </p:cNvPr>
          <p:cNvSpPr txBox="1"/>
          <p:nvPr/>
        </p:nvSpPr>
        <p:spPr>
          <a:xfrm>
            <a:off x="7231357" y="2294928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dirty="0"/>
              <a:t>צרכן ג</a:t>
            </a:r>
            <a:endParaRPr lang="en-US" dirty="0"/>
          </a:p>
        </p:txBody>
      </p:sp>
      <p:sp>
        <p:nvSpPr>
          <p:cNvPr id="5" name="כותרת 1">
            <a:extLst>
              <a:ext uri="{FF2B5EF4-FFF2-40B4-BE49-F238E27FC236}">
                <a16:creationId xmlns:a16="http://schemas.microsoft.com/office/drawing/2014/main" id="{F7F6A636-270C-A862-2512-8D5A4C216CB0}"/>
              </a:ext>
            </a:extLst>
          </p:cNvPr>
          <p:cNvSpPr txBox="1">
            <a:spLocks/>
          </p:cNvSpPr>
          <p:nvPr/>
        </p:nvSpPr>
        <p:spPr>
          <a:xfrm>
            <a:off x="9240577" y="318640"/>
            <a:ext cx="2627784" cy="731836"/>
          </a:xfrm>
          <a:prstGeom prst="rect">
            <a:avLst/>
          </a:prstGeom>
        </p:spPr>
        <p:txBody>
          <a:bodyPr vert="horz" lIns="91440" tIns="45720" rIns="91440" bIns="45720" rtlCol="1" anchor="ctr">
            <a:noAutofit/>
          </a:bodyPr>
          <a:lstStyle>
            <a:lvl1pPr algn="ctr" defTabSz="914400" rtl="1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b="1" dirty="0">
                <a:cs typeface="+mn-cs"/>
              </a:rPr>
              <a:t>שאלה 2</a:t>
            </a:r>
          </a:p>
        </p:txBody>
      </p:sp>
      <p:sp>
        <p:nvSpPr>
          <p:cNvPr id="10" name="TextBox 71">
            <a:extLst>
              <a:ext uri="{FF2B5EF4-FFF2-40B4-BE49-F238E27FC236}">
                <a16:creationId xmlns:a16="http://schemas.microsoft.com/office/drawing/2014/main" id="{0C8E5069-AC5E-35B1-C8DD-DFD8A2E0C7D2}"/>
              </a:ext>
            </a:extLst>
          </p:cNvPr>
          <p:cNvSpPr txBox="1"/>
          <p:nvPr/>
        </p:nvSpPr>
        <p:spPr>
          <a:xfrm>
            <a:off x="1313414" y="2800963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X=10-P</a:t>
            </a:r>
          </a:p>
        </p:txBody>
      </p:sp>
      <p:sp>
        <p:nvSpPr>
          <p:cNvPr id="12" name="TextBox 72">
            <a:extLst>
              <a:ext uri="{FF2B5EF4-FFF2-40B4-BE49-F238E27FC236}">
                <a16:creationId xmlns:a16="http://schemas.microsoft.com/office/drawing/2014/main" id="{B1ABF057-CA06-E506-5224-57FDB61E70FD}"/>
              </a:ext>
            </a:extLst>
          </p:cNvPr>
          <p:cNvSpPr txBox="1"/>
          <p:nvPr/>
        </p:nvSpPr>
        <p:spPr>
          <a:xfrm>
            <a:off x="3934332" y="2868649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X=20-p</a:t>
            </a:r>
          </a:p>
        </p:txBody>
      </p:sp>
      <p:sp>
        <p:nvSpPr>
          <p:cNvPr id="13" name="TextBox 74">
            <a:extLst>
              <a:ext uri="{FF2B5EF4-FFF2-40B4-BE49-F238E27FC236}">
                <a16:creationId xmlns:a16="http://schemas.microsoft.com/office/drawing/2014/main" id="{305D7B01-8D31-8F49-A42B-5D7B7600A2B5}"/>
              </a:ext>
            </a:extLst>
          </p:cNvPr>
          <p:cNvSpPr txBox="1"/>
          <p:nvPr/>
        </p:nvSpPr>
        <p:spPr>
          <a:xfrm>
            <a:off x="6585875" y="2783421"/>
            <a:ext cx="854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X=30-P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3">
                <a:extLst>
                  <a:ext uri="{FF2B5EF4-FFF2-40B4-BE49-F238E27FC236}">
                    <a16:creationId xmlns:a16="http://schemas.microsoft.com/office/drawing/2014/main" id="{A62682F6-1766-EB3D-4FBA-19D20E265BB0}"/>
                  </a:ext>
                </a:extLst>
              </p:cNvPr>
              <p:cNvSpPr txBox="1"/>
              <p:nvPr/>
            </p:nvSpPr>
            <p:spPr>
              <a:xfrm>
                <a:off x="7734110" y="1742507"/>
                <a:ext cx="4664996" cy="9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b="1" i="0" dirty="0" smtClean="0">
                                    <a:solidFill>
                                      <a:srgbClr val="C00000"/>
                                    </a:solidFill>
                                  </a:rPr>
                                  <m:t>60</m:t>
                                </m:r>
                                <m:r>
                                  <m:rPr>
                                    <m:nor/>
                                  </m:rPr>
                                  <a:rPr lang="en-US" b="1" i="0" dirty="0" smtClean="0">
                                    <a:solidFill>
                                      <a:srgbClr val="C00000"/>
                                    </a:solidFill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b="1" i="0" dirty="0" smtClean="0">
                                    <a:solidFill>
                                      <a:srgbClr val="C00000"/>
                                    </a:solidFill>
                                  </a:rPr>
                                  <m:t>3</m:t>
                                </m:r>
                                <m:r>
                                  <m:rPr>
                                    <m:nor/>
                                  </m:rPr>
                                  <a:rPr lang="en-US" b="1" i="0" dirty="0" smtClean="0">
                                    <a:solidFill>
                                      <a:srgbClr val="C00000"/>
                                    </a:solidFill>
                                  </a:rPr>
                                  <m:t>P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n-US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𝟓𝟎</m:t>
                                </m:r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e>
                              <m:e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𝟐𝟎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b="0" i="1" smtClean="0"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  <m:r>
                                  <a:rPr lang="en-US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𝟑𝟎</m:t>
                                </m:r>
                                <m:r>
                                  <a:rPr lang="en-US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he-IL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          </m:t>
                                </m:r>
                              </m:e>
                              <m:e>
                                <m:r>
                                  <a:rPr lang="en-US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𝟐𝟎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n-US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𝟑𝟎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3">
                <a:extLst>
                  <a:ext uri="{FF2B5EF4-FFF2-40B4-BE49-F238E27FC236}">
                    <a16:creationId xmlns:a16="http://schemas.microsoft.com/office/drawing/2014/main" id="{A62682F6-1766-EB3D-4FBA-19D20E265B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4110" y="1742507"/>
                <a:ext cx="4664996" cy="9766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4A911C56-591A-A08A-EF91-CD7C8C42EE15}"/>
              </a:ext>
            </a:extLst>
          </p:cNvPr>
          <p:cNvSpPr txBox="1"/>
          <p:nvPr/>
        </p:nvSpPr>
        <p:spPr>
          <a:xfrm>
            <a:off x="1807966" y="108771"/>
            <a:ext cx="7195030" cy="1988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 rtl="1">
              <a:lnSpc>
                <a:spcPct val="150000"/>
              </a:lnSpc>
              <a:buNone/>
            </a:pP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3. אם המחיר בשוק הינו 12 </a:t>
            </a:r>
            <a:r>
              <a:rPr lang="he-IL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ש''ח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, הכמות המבוקשת בענף תהיה 26 יחידות 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X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IL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marL="0" indent="0" algn="r" rtl="1">
              <a:lnSpc>
                <a:spcPct val="150000"/>
              </a:lnSpc>
              <a:buNone/>
            </a:pP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4. אם המחיר בשוק הינו 25 </a:t>
            </a:r>
            <a:r>
              <a:rPr lang="he-IL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ש''ח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, צרכן ב' וג' יצרכו כל אחד 5 יחידות 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X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(</a:t>
            </a:r>
            <a:r>
              <a:rPr lang="he-IL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סה''כ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כמות מבוקשת בענף תהיה 10 יחידות) ואילו צרכן א' לא יצרוך את  המוצר 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X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IL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marL="0" indent="0">
              <a:buNone/>
            </a:pPr>
            <a:r>
              <a:rPr lang="he-IL" sz="18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5. אם המחיר בשוק הינו 35 </a:t>
            </a:r>
            <a:r>
              <a:rPr lang="he-IL" sz="1800" dirty="0" err="1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ש''ח</a:t>
            </a:r>
            <a:r>
              <a:rPr lang="he-IL" sz="18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, צרכן ג' ירכוש יותר יחידות מצרכן ב'. </a:t>
            </a:r>
            <a:endParaRPr lang="en-IL" dirty="0"/>
          </a:p>
          <a:p>
            <a:pPr marL="0" indent="0" algn="r" rtl="1">
              <a:lnSpc>
                <a:spcPct val="150000"/>
              </a:lnSpc>
              <a:buNone/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136327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26ED9-6B6F-CA66-B3B0-CE13C2B8B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מחבר ישר 5">
            <a:extLst>
              <a:ext uri="{FF2B5EF4-FFF2-40B4-BE49-F238E27FC236}">
                <a16:creationId xmlns:a16="http://schemas.microsoft.com/office/drawing/2014/main" id="{ECAE2D76-9008-2790-0635-A6E91E8A5907}"/>
              </a:ext>
            </a:extLst>
          </p:cNvPr>
          <p:cNvCxnSpPr/>
          <p:nvPr/>
        </p:nvCxnSpPr>
        <p:spPr>
          <a:xfrm>
            <a:off x="1074578" y="2963680"/>
            <a:ext cx="0" cy="2022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מחבר ישר 32">
            <a:extLst>
              <a:ext uri="{FF2B5EF4-FFF2-40B4-BE49-F238E27FC236}">
                <a16:creationId xmlns:a16="http://schemas.microsoft.com/office/drawing/2014/main" id="{5660E029-2DCC-2894-680B-3777D7718BBD}"/>
              </a:ext>
            </a:extLst>
          </p:cNvPr>
          <p:cNvCxnSpPr/>
          <p:nvPr/>
        </p:nvCxnSpPr>
        <p:spPr>
          <a:xfrm flipH="1">
            <a:off x="1122170" y="4985863"/>
            <a:ext cx="2116586" cy="138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מחבר ישר 55">
            <a:extLst>
              <a:ext uri="{FF2B5EF4-FFF2-40B4-BE49-F238E27FC236}">
                <a16:creationId xmlns:a16="http://schemas.microsoft.com/office/drawing/2014/main" id="{374EE1C4-C101-507C-4107-2AAC163CDC5B}"/>
              </a:ext>
            </a:extLst>
          </p:cNvPr>
          <p:cNvCxnSpPr/>
          <p:nvPr/>
        </p:nvCxnSpPr>
        <p:spPr>
          <a:xfrm>
            <a:off x="3773034" y="2939404"/>
            <a:ext cx="0" cy="2022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מחבר ישר 56">
            <a:extLst>
              <a:ext uri="{FF2B5EF4-FFF2-40B4-BE49-F238E27FC236}">
                <a16:creationId xmlns:a16="http://schemas.microsoft.com/office/drawing/2014/main" id="{F8D73BC3-3398-08CE-B344-CA2D6E441C7E}"/>
              </a:ext>
            </a:extLst>
          </p:cNvPr>
          <p:cNvCxnSpPr/>
          <p:nvPr/>
        </p:nvCxnSpPr>
        <p:spPr>
          <a:xfrm flipH="1">
            <a:off x="3820626" y="4961587"/>
            <a:ext cx="1345407" cy="138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מחבר ישר 75">
            <a:extLst>
              <a:ext uri="{FF2B5EF4-FFF2-40B4-BE49-F238E27FC236}">
                <a16:creationId xmlns:a16="http://schemas.microsoft.com/office/drawing/2014/main" id="{80407002-5FBC-74FA-63EE-4CA4F6C355F3}"/>
              </a:ext>
            </a:extLst>
          </p:cNvPr>
          <p:cNvCxnSpPr/>
          <p:nvPr/>
        </p:nvCxnSpPr>
        <p:spPr>
          <a:xfrm>
            <a:off x="6317989" y="2939404"/>
            <a:ext cx="0" cy="2022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מחבר ישר 76">
            <a:extLst>
              <a:ext uri="{FF2B5EF4-FFF2-40B4-BE49-F238E27FC236}">
                <a16:creationId xmlns:a16="http://schemas.microsoft.com/office/drawing/2014/main" id="{1EF783B1-9767-D5F7-71F8-8283E7322386}"/>
              </a:ext>
            </a:extLst>
          </p:cNvPr>
          <p:cNvCxnSpPr/>
          <p:nvPr/>
        </p:nvCxnSpPr>
        <p:spPr>
          <a:xfrm flipH="1">
            <a:off x="6365581" y="4951166"/>
            <a:ext cx="1599135" cy="242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מחבר ישר 94">
            <a:extLst>
              <a:ext uri="{FF2B5EF4-FFF2-40B4-BE49-F238E27FC236}">
                <a16:creationId xmlns:a16="http://schemas.microsoft.com/office/drawing/2014/main" id="{F20B9172-46CD-1917-EB32-6B2DDCD0E597}"/>
              </a:ext>
            </a:extLst>
          </p:cNvPr>
          <p:cNvCxnSpPr/>
          <p:nvPr/>
        </p:nvCxnSpPr>
        <p:spPr>
          <a:xfrm>
            <a:off x="8519444" y="2974103"/>
            <a:ext cx="0" cy="2022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מחבר ישר 95">
            <a:extLst>
              <a:ext uri="{FF2B5EF4-FFF2-40B4-BE49-F238E27FC236}">
                <a16:creationId xmlns:a16="http://schemas.microsoft.com/office/drawing/2014/main" id="{B714C162-D602-1270-74E6-4A659240D742}"/>
              </a:ext>
            </a:extLst>
          </p:cNvPr>
          <p:cNvCxnSpPr/>
          <p:nvPr/>
        </p:nvCxnSpPr>
        <p:spPr>
          <a:xfrm flipH="1">
            <a:off x="8519445" y="4961587"/>
            <a:ext cx="3438097" cy="14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מחבר ישר 2">
            <a:extLst>
              <a:ext uri="{FF2B5EF4-FFF2-40B4-BE49-F238E27FC236}">
                <a16:creationId xmlns:a16="http://schemas.microsoft.com/office/drawing/2014/main" id="{5C29EDFC-F970-594B-605C-BB4A04F5A387}"/>
              </a:ext>
            </a:extLst>
          </p:cNvPr>
          <p:cNvCxnSpPr/>
          <p:nvPr/>
        </p:nvCxnSpPr>
        <p:spPr>
          <a:xfrm>
            <a:off x="1037333" y="4556122"/>
            <a:ext cx="728487" cy="482513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מחבר ישר 59">
            <a:extLst>
              <a:ext uri="{FF2B5EF4-FFF2-40B4-BE49-F238E27FC236}">
                <a16:creationId xmlns:a16="http://schemas.microsoft.com/office/drawing/2014/main" id="{64C20189-4FFB-D0C6-B4CC-05CE45CC5BDE}"/>
              </a:ext>
            </a:extLst>
          </p:cNvPr>
          <p:cNvCxnSpPr/>
          <p:nvPr/>
        </p:nvCxnSpPr>
        <p:spPr>
          <a:xfrm>
            <a:off x="3697702" y="3964798"/>
            <a:ext cx="1302319" cy="1021065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מחבר ישר 60">
            <a:extLst>
              <a:ext uri="{FF2B5EF4-FFF2-40B4-BE49-F238E27FC236}">
                <a16:creationId xmlns:a16="http://schemas.microsoft.com/office/drawing/2014/main" id="{3A00E140-2BF0-A854-E3B5-4B576AF34F6C}"/>
              </a:ext>
            </a:extLst>
          </p:cNvPr>
          <p:cNvCxnSpPr>
            <a:cxnSpLocks/>
          </p:cNvCxnSpPr>
          <p:nvPr/>
        </p:nvCxnSpPr>
        <p:spPr>
          <a:xfrm>
            <a:off x="6365581" y="3231265"/>
            <a:ext cx="1655926" cy="1737249"/>
          </a:xfrm>
          <a:prstGeom prst="line">
            <a:avLst/>
          </a:prstGeom>
          <a:ln w="142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7E3E9C5-CF7F-2020-70BF-96732AA404EF}"/>
              </a:ext>
            </a:extLst>
          </p:cNvPr>
          <p:cNvSpPr txBox="1"/>
          <p:nvPr/>
        </p:nvSpPr>
        <p:spPr>
          <a:xfrm>
            <a:off x="2933864" y="5034415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CDA5000-5A1B-11A6-EC3E-E1173D0F6C24}"/>
              </a:ext>
            </a:extLst>
          </p:cNvPr>
          <p:cNvSpPr txBox="1"/>
          <p:nvPr/>
        </p:nvSpPr>
        <p:spPr>
          <a:xfrm>
            <a:off x="5373575" y="5113987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BCED2E8-13C3-0057-9581-2E29084C993D}"/>
              </a:ext>
            </a:extLst>
          </p:cNvPr>
          <p:cNvSpPr txBox="1"/>
          <p:nvPr/>
        </p:nvSpPr>
        <p:spPr>
          <a:xfrm>
            <a:off x="8186157" y="4985863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1350CBA-8A77-E9C7-4B56-517E632117BC}"/>
              </a:ext>
            </a:extLst>
          </p:cNvPr>
          <p:cNvSpPr txBox="1"/>
          <p:nvPr/>
        </p:nvSpPr>
        <p:spPr>
          <a:xfrm>
            <a:off x="11789402" y="5116917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60</a:t>
            </a:r>
            <a:endParaRPr 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5993EA2-FD91-2A63-7F71-527BE1E99C3F}"/>
              </a:ext>
            </a:extLst>
          </p:cNvPr>
          <p:cNvSpPr txBox="1"/>
          <p:nvPr/>
        </p:nvSpPr>
        <p:spPr>
          <a:xfrm>
            <a:off x="664231" y="2877708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6726AEA-25CE-66F4-C2EA-FEA832619390}"/>
              </a:ext>
            </a:extLst>
          </p:cNvPr>
          <p:cNvSpPr txBox="1"/>
          <p:nvPr/>
        </p:nvSpPr>
        <p:spPr>
          <a:xfrm>
            <a:off x="3414882" y="2877708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F2BEF43-B973-0458-B329-8E789E04AF81}"/>
              </a:ext>
            </a:extLst>
          </p:cNvPr>
          <p:cNvSpPr txBox="1"/>
          <p:nvPr/>
        </p:nvSpPr>
        <p:spPr>
          <a:xfrm>
            <a:off x="5874012" y="2647496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DFF25E5-6806-1606-C92E-DFB62DD47769}"/>
              </a:ext>
            </a:extLst>
          </p:cNvPr>
          <p:cNvSpPr txBox="1"/>
          <p:nvPr/>
        </p:nvSpPr>
        <p:spPr>
          <a:xfrm>
            <a:off x="8142315" y="2634747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cxnSp>
        <p:nvCxnSpPr>
          <p:cNvPr id="70" name="מחבר ישר 69">
            <a:extLst>
              <a:ext uri="{FF2B5EF4-FFF2-40B4-BE49-F238E27FC236}">
                <a16:creationId xmlns:a16="http://schemas.microsoft.com/office/drawing/2014/main" id="{98579B71-586F-37C2-ACAE-271840D38BB9}"/>
              </a:ext>
            </a:extLst>
          </p:cNvPr>
          <p:cNvCxnSpPr>
            <a:cxnSpLocks/>
            <a:stCxn id="49" idx="3"/>
          </p:cNvCxnSpPr>
          <p:nvPr/>
        </p:nvCxnSpPr>
        <p:spPr>
          <a:xfrm>
            <a:off x="8540127" y="3277427"/>
            <a:ext cx="534046" cy="605306"/>
          </a:xfrm>
          <a:prstGeom prst="line">
            <a:avLst/>
          </a:prstGeom>
          <a:ln w="155575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מחבר ישר 10">
            <a:extLst>
              <a:ext uri="{FF2B5EF4-FFF2-40B4-BE49-F238E27FC236}">
                <a16:creationId xmlns:a16="http://schemas.microsoft.com/office/drawing/2014/main" id="{E3EDDD75-1DD4-01B0-8E81-3AAFA813AE66}"/>
              </a:ext>
            </a:extLst>
          </p:cNvPr>
          <p:cNvCxnSpPr/>
          <p:nvPr/>
        </p:nvCxnSpPr>
        <p:spPr>
          <a:xfrm flipV="1">
            <a:off x="991123" y="3938015"/>
            <a:ext cx="10798279" cy="1080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מחבר ישר 73">
            <a:extLst>
              <a:ext uri="{FF2B5EF4-FFF2-40B4-BE49-F238E27FC236}">
                <a16:creationId xmlns:a16="http://schemas.microsoft.com/office/drawing/2014/main" id="{C0E84654-3376-E2EE-F78E-A4F346643A47}"/>
              </a:ext>
            </a:extLst>
          </p:cNvPr>
          <p:cNvCxnSpPr/>
          <p:nvPr/>
        </p:nvCxnSpPr>
        <p:spPr>
          <a:xfrm flipV="1">
            <a:off x="1074578" y="4441170"/>
            <a:ext cx="10798279" cy="1080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3715A22C-3629-2255-E723-CA83307B584F}"/>
              </a:ext>
            </a:extLst>
          </p:cNvPr>
          <p:cNvSpPr txBox="1"/>
          <p:nvPr/>
        </p:nvSpPr>
        <p:spPr>
          <a:xfrm>
            <a:off x="635261" y="436458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10</a:t>
            </a:r>
            <a:endParaRPr 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205D6DF-3C94-0A7B-2C45-D34FD250B194}"/>
              </a:ext>
            </a:extLst>
          </p:cNvPr>
          <p:cNvSpPr txBox="1"/>
          <p:nvPr/>
        </p:nvSpPr>
        <p:spPr>
          <a:xfrm>
            <a:off x="654394" y="381416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20</a:t>
            </a:r>
            <a:endParaRPr 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89471CA-23D3-0D87-74E6-C2D322008F50}"/>
              </a:ext>
            </a:extLst>
          </p:cNvPr>
          <p:cNvSpPr txBox="1"/>
          <p:nvPr/>
        </p:nvSpPr>
        <p:spPr>
          <a:xfrm>
            <a:off x="3305258" y="442932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10</a:t>
            </a:r>
            <a:endParaRPr 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3A68F82-15FE-AD02-02DF-997AA2A25B88}"/>
              </a:ext>
            </a:extLst>
          </p:cNvPr>
          <p:cNvSpPr txBox="1"/>
          <p:nvPr/>
        </p:nvSpPr>
        <p:spPr>
          <a:xfrm>
            <a:off x="5839849" y="3135932"/>
            <a:ext cx="441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30</a:t>
            </a:r>
            <a:endParaRPr lang="en-US" dirty="0"/>
          </a:p>
        </p:txBody>
      </p:sp>
      <p:cxnSp>
        <p:nvCxnSpPr>
          <p:cNvPr id="83" name="מחבר ישר 82">
            <a:extLst>
              <a:ext uri="{FF2B5EF4-FFF2-40B4-BE49-F238E27FC236}">
                <a16:creationId xmlns:a16="http://schemas.microsoft.com/office/drawing/2014/main" id="{A716BD00-966C-BEF5-A7E7-73FA98EB2B06}"/>
              </a:ext>
            </a:extLst>
          </p:cNvPr>
          <p:cNvCxnSpPr/>
          <p:nvPr/>
        </p:nvCxnSpPr>
        <p:spPr>
          <a:xfrm>
            <a:off x="9082622" y="3912269"/>
            <a:ext cx="1004724" cy="567680"/>
          </a:xfrm>
          <a:prstGeom prst="line">
            <a:avLst/>
          </a:prstGeom>
          <a:ln w="155575">
            <a:solidFill>
              <a:schemeClr val="accent6">
                <a:lumMod val="75000"/>
              </a:schemeClr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6" name="מחבר ישר 85">
            <a:extLst>
              <a:ext uri="{FF2B5EF4-FFF2-40B4-BE49-F238E27FC236}">
                <a16:creationId xmlns:a16="http://schemas.microsoft.com/office/drawing/2014/main" id="{E8B6CE21-0009-F77E-941E-185ECCFC3B17}"/>
              </a:ext>
            </a:extLst>
          </p:cNvPr>
          <p:cNvCxnSpPr/>
          <p:nvPr/>
        </p:nvCxnSpPr>
        <p:spPr>
          <a:xfrm>
            <a:off x="10087346" y="4471358"/>
            <a:ext cx="1783561" cy="497103"/>
          </a:xfrm>
          <a:prstGeom prst="line">
            <a:avLst/>
          </a:prstGeom>
          <a:ln w="155575">
            <a:solidFill>
              <a:schemeClr val="accent4">
                <a:lumMod val="50000"/>
              </a:schemeClr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899BC78B-6C46-FD6B-878F-F9927E66657D}"/>
              </a:ext>
            </a:extLst>
          </p:cNvPr>
          <p:cNvSpPr txBox="1"/>
          <p:nvPr/>
        </p:nvSpPr>
        <p:spPr>
          <a:xfrm>
            <a:off x="8940586" y="507766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10</a:t>
            </a:r>
            <a:endParaRPr lang="en-US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483E896-9969-56F8-CD4C-8D9F16838CB6}"/>
              </a:ext>
            </a:extLst>
          </p:cNvPr>
          <p:cNvSpPr txBox="1"/>
          <p:nvPr/>
        </p:nvSpPr>
        <p:spPr>
          <a:xfrm>
            <a:off x="9903381" y="510035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30</a:t>
            </a:r>
            <a:endParaRPr lang="en-US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86FEC05-D185-0B21-55B8-57FC6AB75AFB}"/>
              </a:ext>
            </a:extLst>
          </p:cNvPr>
          <p:cNvSpPr txBox="1"/>
          <p:nvPr/>
        </p:nvSpPr>
        <p:spPr>
          <a:xfrm>
            <a:off x="1446207" y="5203115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10</a:t>
            </a:r>
            <a:endParaRPr lang="en-US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9E372E5-B0B6-3A6E-1695-B0027513D901}"/>
              </a:ext>
            </a:extLst>
          </p:cNvPr>
          <p:cNvSpPr txBox="1"/>
          <p:nvPr/>
        </p:nvSpPr>
        <p:spPr>
          <a:xfrm>
            <a:off x="8163341" y="4404817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10</a:t>
            </a:r>
            <a:endParaRPr lang="en-US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0F22E9F-B24F-F9E8-F391-418B72D134CE}"/>
              </a:ext>
            </a:extLst>
          </p:cNvPr>
          <p:cNvSpPr txBox="1"/>
          <p:nvPr/>
        </p:nvSpPr>
        <p:spPr>
          <a:xfrm>
            <a:off x="8150497" y="385711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20</a:t>
            </a:r>
            <a:endParaRPr lang="en-US" dirty="0"/>
          </a:p>
        </p:txBody>
      </p:sp>
      <p:cxnSp>
        <p:nvCxnSpPr>
          <p:cNvPr id="100" name="מחבר ישר 99">
            <a:extLst>
              <a:ext uri="{FF2B5EF4-FFF2-40B4-BE49-F238E27FC236}">
                <a16:creationId xmlns:a16="http://schemas.microsoft.com/office/drawing/2014/main" id="{9A81D184-B03A-9039-6E81-32416C19A21C}"/>
              </a:ext>
            </a:extLst>
          </p:cNvPr>
          <p:cNvCxnSpPr/>
          <p:nvPr/>
        </p:nvCxnSpPr>
        <p:spPr>
          <a:xfrm flipH="1">
            <a:off x="10066608" y="4464553"/>
            <a:ext cx="13826" cy="472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מחבר ישר 100">
            <a:extLst>
              <a:ext uri="{FF2B5EF4-FFF2-40B4-BE49-F238E27FC236}">
                <a16:creationId xmlns:a16="http://schemas.microsoft.com/office/drawing/2014/main" id="{96E01EFC-3844-084E-D47C-7B5B1D3FD720}"/>
              </a:ext>
            </a:extLst>
          </p:cNvPr>
          <p:cNvCxnSpPr/>
          <p:nvPr/>
        </p:nvCxnSpPr>
        <p:spPr>
          <a:xfrm flipH="1">
            <a:off x="9058477" y="3916776"/>
            <a:ext cx="13793" cy="10207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9932DF39-F671-F636-ED2A-5BD2AB3F2120}"/>
              </a:ext>
            </a:extLst>
          </p:cNvPr>
          <p:cNvSpPr txBox="1"/>
          <p:nvPr/>
        </p:nvSpPr>
        <p:spPr>
          <a:xfrm>
            <a:off x="4859016" y="514493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20</a:t>
            </a:r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6131B5C-5D21-F58C-18BB-E760701C504B}"/>
              </a:ext>
            </a:extLst>
          </p:cNvPr>
          <p:cNvSpPr txBox="1"/>
          <p:nvPr/>
        </p:nvSpPr>
        <p:spPr>
          <a:xfrm>
            <a:off x="7704760" y="50451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30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5DD69C7-36CB-0118-B65A-45CFED6C7295}"/>
              </a:ext>
            </a:extLst>
          </p:cNvPr>
          <p:cNvSpPr txBox="1"/>
          <p:nvPr/>
        </p:nvSpPr>
        <p:spPr>
          <a:xfrm>
            <a:off x="8121423" y="309276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162485A-D3FE-F4AE-FF50-1226FDB99B6F}"/>
              </a:ext>
            </a:extLst>
          </p:cNvPr>
          <p:cNvSpPr txBox="1"/>
          <p:nvPr/>
        </p:nvSpPr>
        <p:spPr>
          <a:xfrm>
            <a:off x="4128288" y="5098507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10</a:t>
            </a:r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BD6A25F-0B41-1F21-83C5-A4F81A31380C}"/>
              </a:ext>
            </a:extLst>
          </p:cNvPr>
          <p:cNvSpPr txBox="1"/>
          <p:nvPr/>
        </p:nvSpPr>
        <p:spPr>
          <a:xfrm>
            <a:off x="6645701" y="507123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10</a:t>
            </a:r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DE23397-7361-A5AD-1FD0-6495DC27D132}"/>
              </a:ext>
            </a:extLst>
          </p:cNvPr>
          <p:cNvSpPr txBox="1"/>
          <p:nvPr/>
        </p:nvSpPr>
        <p:spPr>
          <a:xfrm>
            <a:off x="7223362" y="5053467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20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6B38DE4-2AE3-FE63-0977-393B5A2F1FC0}"/>
              </a:ext>
            </a:extLst>
          </p:cNvPr>
          <p:cNvSpPr txBox="1"/>
          <p:nvPr/>
        </p:nvSpPr>
        <p:spPr>
          <a:xfrm>
            <a:off x="3228161" y="378465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20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544418-6F45-98FA-CF2C-0B6A44A117DE}"/>
              </a:ext>
            </a:extLst>
          </p:cNvPr>
          <p:cNvSpPr txBox="1"/>
          <p:nvPr/>
        </p:nvSpPr>
        <p:spPr>
          <a:xfrm>
            <a:off x="1399337" y="2319979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P=10-X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BCF5BA4-B496-3FF9-9A93-93C511269A66}"/>
              </a:ext>
            </a:extLst>
          </p:cNvPr>
          <p:cNvSpPr txBox="1"/>
          <p:nvPr/>
        </p:nvSpPr>
        <p:spPr>
          <a:xfrm>
            <a:off x="3921500" y="2230814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P=20-X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1B6C421-74FA-2FED-8268-A5094834370F}"/>
              </a:ext>
            </a:extLst>
          </p:cNvPr>
          <p:cNvSpPr txBox="1"/>
          <p:nvPr/>
        </p:nvSpPr>
        <p:spPr>
          <a:xfrm>
            <a:off x="6343377" y="2245380"/>
            <a:ext cx="854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P=30-X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5E9C566-A6D9-003E-DC8C-A872D5633F7C}"/>
              </a:ext>
            </a:extLst>
          </p:cNvPr>
          <p:cNvSpPr txBox="1"/>
          <p:nvPr/>
        </p:nvSpPr>
        <p:spPr>
          <a:xfrm>
            <a:off x="2514587" y="2236097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dirty="0"/>
              <a:t>צרכן א</a:t>
            </a:r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788D573-F050-F213-0AA5-9369231BFEA9}"/>
              </a:ext>
            </a:extLst>
          </p:cNvPr>
          <p:cNvSpPr txBox="1"/>
          <p:nvPr/>
        </p:nvSpPr>
        <p:spPr>
          <a:xfrm>
            <a:off x="4817131" y="2202891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dirty="0"/>
              <a:t>צרכן ב</a:t>
            </a:r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3B16D39-52FC-E23F-787B-B1516614AA6C}"/>
              </a:ext>
            </a:extLst>
          </p:cNvPr>
          <p:cNvSpPr txBox="1"/>
          <p:nvPr/>
        </p:nvSpPr>
        <p:spPr>
          <a:xfrm>
            <a:off x="7231357" y="2294928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dirty="0"/>
              <a:t>צרכן ג</a:t>
            </a:r>
            <a:endParaRPr lang="en-US" dirty="0"/>
          </a:p>
        </p:txBody>
      </p:sp>
      <p:sp>
        <p:nvSpPr>
          <p:cNvPr id="5" name="כותרת 1">
            <a:extLst>
              <a:ext uri="{FF2B5EF4-FFF2-40B4-BE49-F238E27FC236}">
                <a16:creationId xmlns:a16="http://schemas.microsoft.com/office/drawing/2014/main" id="{F26773AB-2165-FA65-0D51-8D3E2F7940B6}"/>
              </a:ext>
            </a:extLst>
          </p:cNvPr>
          <p:cNvSpPr txBox="1">
            <a:spLocks/>
          </p:cNvSpPr>
          <p:nvPr/>
        </p:nvSpPr>
        <p:spPr>
          <a:xfrm>
            <a:off x="9240577" y="318640"/>
            <a:ext cx="2627784" cy="731836"/>
          </a:xfrm>
          <a:prstGeom prst="rect">
            <a:avLst/>
          </a:prstGeom>
        </p:spPr>
        <p:txBody>
          <a:bodyPr vert="horz" lIns="91440" tIns="45720" rIns="91440" bIns="45720" rtlCol="1" anchor="ctr">
            <a:noAutofit/>
          </a:bodyPr>
          <a:lstStyle>
            <a:lvl1pPr algn="ctr" defTabSz="914400" rtl="1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b="1" dirty="0">
                <a:cs typeface="+mn-cs"/>
              </a:rPr>
              <a:t>שאלה 2</a:t>
            </a:r>
          </a:p>
        </p:txBody>
      </p:sp>
      <p:sp>
        <p:nvSpPr>
          <p:cNvPr id="10" name="TextBox 71">
            <a:extLst>
              <a:ext uri="{FF2B5EF4-FFF2-40B4-BE49-F238E27FC236}">
                <a16:creationId xmlns:a16="http://schemas.microsoft.com/office/drawing/2014/main" id="{3C2DE276-6495-668A-F1B1-6C2EC57C91E3}"/>
              </a:ext>
            </a:extLst>
          </p:cNvPr>
          <p:cNvSpPr txBox="1"/>
          <p:nvPr/>
        </p:nvSpPr>
        <p:spPr>
          <a:xfrm>
            <a:off x="1313414" y="2800963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X=10-P</a:t>
            </a:r>
          </a:p>
        </p:txBody>
      </p:sp>
      <p:sp>
        <p:nvSpPr>
          <p:cNvPr id="12" name="TextBox 72">
            <a:extLst>
              <a:ext uri="{FF2B5EF4-FFF2-40B4-BE49-F238E27FC236}">
                <a16:creationId xmlns:a16="http://schemas.microsoft.com/office/drawing/2014/main" id="{F96A0C88-381C-A255-082F-66EE4900AD71}"/>
              </a:ext>
            </a:extLst>
          </p:cNvPr>
          <p:cNvSpPr txBox="1"/>
          <p:nvPr/>
        </p:nvSpPr>
        <p:spPr>
          <a:xfrm>
            <a:off x="3934332" y="2868649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X=20-p</a:t>
            </a:r>
          </a:p>
        </p:txBody>
      </p:sp>
      <p:sp>
        <p:nvSpPr>
          <p:cNvPr id="13" name="TextBox 74">
            <a:extLst>
              <a:ext uri="{FF2B5EF4-FFF2-40B4-BE49-F238E27FC236}">
                <a16:creationId xmlns:a16="http://schemas.microsoft.com/office/drawing/2014/main" id="{3B270264-90F7-FE22-BA91-3BC090B9DFE7}"/>
              </a:ext>
            </a:extLst>
          </p:cNvPr>
          <p:cNvSpPr txBox="1"/>
          <p:nvPr/>
        </p:nvSpPr>
        <p:spPr>
          <a:xfrm>
            <a:off x="6585875" y="2783421"/>
            <a:ext cx="854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X=30-P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3">
                <a:extLst>
                  <a:ext uri="{FF2B5EF4-FFF2-40B4-BE49-F238E27FC236}">
                    <a16:creationId xmlns:a16="http://schemas.microsoft.com/office/drawing/2014/main" id="{796EAF71-9466-9B6E-6C00-4C40E0E78A30}"/>
                  </a:ext>
                </a:extLst>
              </p:cNvPr>
              <p:cNvSpPr txBox="1"/>
              <p:nvPr/>
            </p:nvSpPr>
            <p:spPr>
              <a:xfrm>
                <a:off x="7734110" y="1742507"/>
                <a:ext cx="4664996" cy="9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b="1" i="0" dirty="0" smtClean="0">
                                    <a:solidFill>
                                      <a:srgbClr val="C00000"/>
                                    </a:solidFill>
                                  </a:rPr>
                                  <m:t>60</m:t>
                                </m:r>
                                <m:r>
                                  <m:rPr>
                                    <m:nor/>
                                  </m:rPr>
                                  <a:rPr lang="en-US" b="1" i="0" dirty="0" smtClean="0">
                                    <a:solidFill>
                                      <a:srgbClr val="C00000"/>
                                    </a:solidFill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b="1" i="0" dirty="0" smtClean="0">
                                    <a:solidFill>
                                      <a:srgbClr val="C00000"/>
                                    </a:solidFill>
                                  </a:rPr>
                                  <m:t>3</m:t>
                                </m:r>
                                <m:r>
                                  <m:rPr>
                                    <m:nor/>
                                  </m:rPr>
                                  <a:rPr lang="en-US" b="1" i="0" dirty="0" smtClean="0">
                                    <a:solidFill>
                                      <a:srgbClr val="C00000"/>
                                    </a:solidFill>
                                  </a:rPr>
                                  <m:t>P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n-US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𝟓𝟎</m:t>
                                </m:r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e>
                              <m:e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𝟐𝟎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b="0" i="1" smtClean="0"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  <m:r>
                                  <a:rPr lang="en-US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𝟑𝟎</m:t>
                                </m:r>
                                <m:r>
                                  <a:rPr lang="en-US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he-IL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          </m:t>
                                </m:r>
                              </m:e>
                              <m:e>
                                <m:r>
                                  <a:rPr lang="en-US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𝟐𝟎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n-US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𝟑𝟎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3">
                <a:extLst>
                  <a:ext uri="{FF2B5EF4-FFF2-40B4-BE49-F238E27FC236}">
                    <a16:creationId xmlns:a16="http://schemas.microsoft.com/office/drawing/2014/main" id="{796EAF71-9466-9B6E-6C00-4C40E0E78A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4110" y="1742507"/>
                <a:ext cx="4664996" cy="9766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EDCAD367-0576-7421-608F-539AD5202830}"/>
              </a:ext>
            </a:extLst>
          </p:cNvPr>
          <p:cNvSpPr txBox="1"/>
          <p:nvPr/>
        </p:nvSpPr>
        <p:spPr>
          <a:xfrm>
            <a:off x="119745" y="108771"/>
            <a:ext cx="9946863" cy="1572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 rtl="1">
              <a:lnSpc>
                <a:spcPct val="150000"/>
              </a:lnSpc>
              <a:buNone/>
            </a:pP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3. אם המחיר בשוק הינו 12 </a:t>
            </a:r>
            <a:r>
              <a:rPr lang="he-IL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ש''ח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, הכמות המבוקשת בענף תהיה 26 יחידות 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X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he-IL" sz="18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נכון</a:t>
            </a:r>
            <a:r>
              <a:rPr lang="en-US" sz="18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X= 50-2*(12)=26 : </a:t>
            </a:r>
            <a:endParaRPr lang="en-IL" sz="1800" dirty="0">
              <a:effectLst/>
              <a:highlight>
                <a:srgbClr val="FFFF00"/>
              </a:highlight>
              <a:latin typeface="Times New Roman" panose="02020603050405020304" pitchFamily="18" charset="0"/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marL="0" indent="0" algn="r" rtl="1">
              <a:lnSpc>
                <a:spcPct val="150000"/>
              </a:lnSpc>
              <a:buNone/>
            </a:pP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4. אם המחיר בשוק הינו 25 </a:t>
            </a:r>
            <a:r>
              <a:rPr lang="he-IL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ש''ח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, צרכן ב' וג' יצרכו כל אחד 5 יחידות 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X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endParaRPr lang="en-IL" sz="1800" dirty="0">
              <a:effectLst/>
              <a:highlight>
                <a:srgbClr val="FF0000"/>
              </a:highlight>
              <a:latin typeface="Times New Roman" panose="02020603050405020304" pitchFamily="18" charset="0"/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marL="0" indent="0">
              <a:buNone/>
            </a:pPr>
            <a:r>
              <a:rPr lang="he-IL" sz="18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5. אם המחיר בשוק הינו </a:t>
            </a:r>
            <a:r>
              <a:rPr lang="he-IL" dirty="0">
                <a:ea typeface="Times New Roman" panose="02020603050405020304" pitchFamily="18" charset="0"/>
                <a:cs typeface="Arial" panose="020B0604020202020204" pitchFamily="34" charset="0"/>
              </a:rPr>
              <a:t>3</a:t>
            </a:r>
            <a:r>
              <a:rPr lang="he-IL" sz="18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5 </a:t>
            </a:r>
            <a:r>
              <a:rPr lang="he-IL" sz="1800" dirty="0" err="1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ש''ח</a:t>
            </a:r>
            <a:r>
              <a:rPr lang="he-IL" sz="18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, צרכן ג' ירכוש יותר יחידות מצרכן ב'. </a:t>
            </a:r>
            <a:endParaRPr lang="en-IL" dirty="0">
              <a:highlight>
                <a:srgbClr val="FF0000"/>
              </a:highlight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249255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28F6A-D3B9-66FC-BACB-DD5FB150D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מחבר ישר 5">
            <a:extLst>
              <a:ext uri="{FF2B5EF4-FFF2-40B4-BE49-F238E27FC236}">
                <a16:creationId xmlns:a16="http://schemas.microsoft.com/office/drawing/2014/main" id="{9266BA8E-9E39-E2AA-C6C8-F608F3B89D66}"/>
              </a:ext>
            </a:extLst>
          </p:cNvPr>
          <p:cNvCxnSpPr/>
          <p:nvPr/>
        </p:nvCxnSpPr>
        <p:spPr>
          <a:xfrm>
            <a:off x="1074578" y="2963680"/>
            <a:ext cx="0" cy="2022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מחבר ישר 32">
            <a:extLst>
              <a:ext uri="{FF2B5EF4-FFF2-40B4-BE49-F238E27FC236}">
                <a16:creationId xmlns:a16="http://schemas.microsoft.com/office/drawing/2014/main" id="{5FC1B498-97F7-9945-476E-A34AFA28744D}"/>
              </a:ext>
            </a:extLst>
          </p:cNvPr>
          <p:cNvCxnSpPr/>
          <p:nvPr/>
        </p:nvCxnSpPr>
        <p:spPr>
          <a:xfrm flipH="1">
            <a:off x="1122170" y="4985863"/>
            <a:ext cx="2116586" cy="138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מחבר ישר 55">
            <a:extLst>
              <a:ext uri="{FF2B5EF4-FFF2-40B4-BE49-F238E27FC236}">
                <a16:creationId xmlns:a16="http://schemas.microsoft.com/office/drawing/2014/main" id="{012764B4-59ED-B0D2-71B3-9A463B6F5AE5}"/>
              </a:ext>
            </a:extLst>
          </p:cNvPr>
          <p:cNvCxnSpPr/>
          <p:nvPr/>
        </p:nvCxnSpPr>
        <p:spPr>
          <a:xfrm>
            <a:off x="3773034" y="2939404"/>
            <a:ext cx="0" cy="2022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מחבר ישר 56">
            <a:extLst>
              <a:ext uri="{FF2B5EF4-FFF2-40B4-BE49-F238E27FC236}">
                <a16:creationId xmlns:a16="http://schemas.microsoft.com/office/drawing/2014/main" id="{39045C80-5CC0-A282-20A1-AA62EFC41BC9}"/>
              </a:ext>
            </a:extLst>
          </p:cNvPr>
          <p:cNvCxnSpPr/>
          <p:nvPr/>
        </p:nvCxnSpPr>
        <p:spPr>
          <a:xfrm flipH="1">
            <a:off x="3820626" y="4961587"/>
            <a:ext cx="1345407" cy="138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מחבר ישר 75">
            <a:extLst>
              <a:ext uri="{FF2B5EF4-FFF2-40B4-BE49-F238E27FC236}">
                <a16:creationId xmlns:a16="http://schemas.microsoft.com/office/drawing/2014/main" id="{5A0B93A9-0F6F-3030-6E08-836241F7930E}"/>
              </a:ext>
            </a:extLst>
          </p:cNvPr>
          <p:cNvCxnSpPr/>
          <p:nvPr/>
        </p:nvCxnSpPr>
        <p:spPr>
          <a:xfrm>
            <a:off x="6317989" y="2939404"/>
            <a:ext cx="0" cy="2022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מחבר ישר 76">
            <a:extLst>
              <a:ext uri="{FF2B5EF4-FFF2-40B4-BE49-F238E27FC236}">
                <a16:creationId xmlns:a16="http://schemas.microsoft.com/office/drawing/2014/main" id="{1C454FC3-BE04-0170-8A0B-82BDC478CEA1}"/>
              </a:ext>
            </a:extLst>
          </p:cNvPr>
          <p:cNvCxnSpPr/>
          <p:nvPr/>
        </p:nvCxnSpPr>
        <p:spPr>
          <a:xfrm flipH="1">
            <a:off x="6365581" y="4951166"/>
            <a:ext cx="1599135" cy="242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מחבר ישר 94">
            <a:extLst>
              <a:ext uri="{FF2B5EF4-FFF2-40B4-BE49-F238E27FC236}">
                <a16:creationId xmlns:a16="http://schemas.microsoft.com/office/drawing/2014/main" id="{649C1B2C-69D8-6BA7-5489-7D95325607C7}"/>
              </a:ext>
            </a:extLst>
          </p:cNvPr>
          <p:cNvCxnSpPr/>
          <p:nvPr/>
        </p:nvCxnSpPr>
        <p:spPr>
          <a:xfrm>
            <a:off x="8519444" y="2974103"/>
            <a:ext cx="0" cy="2022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מחבר ישר 95">
            <a:extLst>
              <a:ext uri="{FF2B5EF4-FFF2-40B4-BE49-F238E27FC236}">
                <a16:creationId xmlns:a16="http://schemas.microsoft.com/office/drawing/2014/main" id="{68A18EA9-37FC-2D28-B0F6-54C999D114AA}"/>
              </a:ext>
            </a:extLst>
          </p:cNvPr>
          <p:cNvCxnSpPr/>
          <p:nvPr/>
        </p:nvCxnSpPr>
        <p:spPr>
          <a:xfrm flipH="1">
            <a:off x="8519445" y="4961587"/>
            <a:ext cx="3438097" cy="14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מחבר ישר 2">
            <a:extLst>
              <a:ext uri="{FF2B5EF4-FFF2-40B4-BE49-F238E27FC236}">
                <a16:creationId xmlns:a16="http://schemas.microsoft.com/office/drawing/2014/main" id="{36D66F5E-9F1F-D8C4-B6F4-0EA84116F86A}"/>
              </a:ext>
            </a:extLst>
          </p:cNvPr>
          <p:cNvCxnSpPr/>
          <p:nvPr/>
        </p:nvCxnSpPr>
        <p:spPr>
          <a:xfrm>
            <a:off x="1037333" y="4556122"/>
            <a:ext cx="728487" cy="482513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מחבר ישר 59">
            <a:extLst>
              <a:ext uri="{FF2B5EF4-FFF2-40B4-BE49-F238E27FC236}">
                <a16:creationId xmlns:a16="http://schemas.microsoft.com/office/drawing/2014/main" id="{F89F7568-22BF-2BEB-4AB2-0EF64D45DA0C}"/>
              </a:ext>
            </a:extLst>
          </p:cNvPr>
          <p:cNvCxnSpPr/>
          <p:nvPr/>
        </p:nvCxnSpPr>
        <p:spPr>
          <a:xfrm>
            <a:off x="3697702" y="3964798"/>
            <a:ext cx="1302319" cy="1021065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מחבר ישר 60">
            <a:extLst>
              <a:ext uri="{FF2B5EF4-FFF2-40B4-BE49-F238E27FC236}">
                <a16:creationId xmlns:a16="http://schemas.microsoft.com/office/drawing/2014/main" id="{CFA01F9F-B78A-13B0-13E6-1634B6303657}"/>
              </a:ext>
            </a:extLst>
          </p:cNvPr>
          <p:cNvCxnSpPr>
            <a:cxnSpLocks/>
          </p:cNvCxnSpPr>
          <p:nvPr/>
        </p:nvCxnSpPr>
        <p:spPr>
          <a:xfrm>
            <a:off x="6365581" y="3231265"/>
            <a:ext cx="1655926" cy="1737249"/>
          </a:xfrm>
          <a:prstGeom prst="line">
            <a:avLst/>
          </a:prstGeom>
          <a:ln w="142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68C5A71-A50E-DF19-F7BC-1E1CBF4C6BB8}"/>
              </a:ext>
            </a:extLst>
          </p:cNvPr>
          <p:cNvSpPr txBox="1"/>
          <p:nvPr/>
        </p:nvSpPr>
        <p:spPr>
          <a:xfrm>
            <a:off x="2933864" y="5034415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1B54893-6417-D7C6-6FDD-1819B828B70B}"/>
              </a:ext>
            </a:extLst>
          </p:cNvPr>
          <p:cNvSpPr txBox="1"/>
          <p:nvPr/>
        </p:nvSpPr>
        <p:spPr>
          <a:xfrm>
            <a:off x="5373575" y="5113987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A9BC556-05AC-B0D3-393D-D17539079DDE}"/>
              </a:ext>
            </a:extLst>
          </p:cNvPr>
          <p:cNvSpPr txBox="1"/>
          <p:nvPr/>
        </p:nvSpPr>
        <p:spPr>
          <a:xfrm>
            <a:off x="8186157" y="4985863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6EE6028-5C09-ACAE-47C0-4E1C6D674524}"/>
              </a:ext>
            </a:extLst>
          </p:cNvPr>
          <p:cNvSpPr txBox="1"/>
          <p:nvPr/>
        </p:nvSpPr>
        <p:spPr>
          <a:xfrm>
            <a:off x="11789402" y="5116917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60</a:t>
            </a:r>
            <a:endParaRPr 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5EBE239-575A-1E32-C9F5-1605F3C2026F}"/>
              </a:ext>
            </a:extLst>
          </p:cNvPr>
          <p:cNvSpPr txBox="1"/>
          <p:nvPr/>
        </p:nvSpPr>
        <p:spPr>
          <a:xfrm>
            <a:off x="664231" y="2877708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6CFCA85-CCA8-2653-38F6-8A33C6567188}"/>
              </a:ext>
            </a:extLst>
          </p:cNvPr>
          <p:cNvSpPr txBox="1"/>
          <p:nvPr/>
        </p:nvSpPr>
        <p:spPr>
          <a:xfrm>
            <a:off x="3414882" y="2877708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EAC11DE-5C7F-2E08-8DC6-88A01543CBFF}"/>
              </a:ext>
            </a:extLst>
          </p:cNvPr>
          <p:cNvSpPr txBox="1"/>
          <p:nvPr/>
        </p:nvSpPr>
        <p:spPr>
          <a:xfrm>
            <a:off x="5874012" y="2647496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2AA8D4C-2953-0805-3F5E-5EC84AFB86DC}"/>
              </a:ext>
            </a:extLst>
          </p:cNvPr>
          <p:cNvSpPr txBox="1"/>
          <p:nvPr/>
        </p:nvSpPr>
        <p:spPr>
          <a:xfrm>
            <a:off x="8142315" y="2634747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cxnSp>
        <p:nvCxnSpPr>
          <p:cNvPr id="70" name="מחבר ישר 69">
            <a:extLst>
              <a:ext uri="{FF2B5EF4-FFF2-40B4-BE49-F238E27FC236}">
                <a16:creationId xmlns:a16="http://schemas.microsoft.com/office/drawing/2014/main" id="{5DBD667F-DF0D-294B-D39A-EE91D67226DD}"/>
              </a:ext>
            </a:extLst>
          </p:cNvPr>
          <p:cNvCxnSpPr>
            <a:cxnSpLocks/>
            <a:stCxn id="49" idx="3"/>
          </p:cNvCxnSpPr>
          <p:nvPr/>
        </p:nvCxnSpPr>
        <p:spPr>
          <a:xfrm>
            <a:off x="8540127" y="3277427"/>
            <a:ext cx="534046" cy="605306"/>
          </a:xfrm>
          <a:prstGeom prst="line">
            <a:avLst/>
          </a:prstGeom>
          <a:ln w="155575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מחבר ישר 10">
            <a:extLst>
              <a:ext uri="{FF2B5EF4-FFF2-40B4-BE49-F238E27FC236}">
                <a16:creationId xmlns:a16="http://schemas.microsoft.com/office/drawing/2014/main" id="{6399C2AD-BF21-BC11-0CE8-5368B64DDDFB}"/>
              </a:ext>
            </a:extLst>
          </p:cNvPr>
          <p:cNvCxnSpPr/>
          <p:nvPr/>
        </p:nvCxnSpPr>
        <p:spPr>
          <a:xfrm flipV="1">
            <a:off x="991123" y="3938015"/>
            <a:ext cx="10798279" cy="1080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מחבר ישר 73">
            <a:extLst>
              <a:ext uri="{FF2B5EF4-FFF2-40B4-BE49-F238E27FC236}">
                <a16:creationId xmlns:a16="http://schemas.microsoft.com/office/drawing/2014/main" id="{C2A4DD01-2E26-7A77-B227-E26E3590099C}"/>
              </a:ext>
            </a:extLst>
          </p:cNvPr>
          <p:cNvCxnSpPr/>
          <p:nvPr/>
        </p:nvCxnSpPr>
        <p:spPr>
          <a:xfrm flipV="1">
            <a:off x="1074578" y="4441170"/>
            <a:ext cx="10798279" cy="1080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249A7C66-2576-DDCB-7649-3193D2E3CC2C}"/>
              </a:ext>
            </a:extLst>
          </p:cNvPr>
          <p:cNvSpPr txBox="1"/>
          <p:nvPr/>
        </p:nvSpPr>
        <p:spPr>
          <a:xfrm>
            <a:off x="635261" y="436458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10</a:t>
            </a:r>
            <a:endParaRPr 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491A1BC-A138-811B-C5E7-8B93A551FDB5}"/>
              </a:ext>
            </a:extLst>
          </p:cNvPr>
          <p:cNvSpPr txBox="1"/>
          <p:nvPr/>
        </p:nvSpPr>
        <p:spPr>
          <a:xfrm>
            <a:off x="654394" y="381416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20</a:t>
            </a:r>
            <a:endParaRPr 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A36A47A-8F1D-CCEB-B510-D06D8C4D68A8}"/>
              </a:ext>
            </a:extLst>
          </p:cNvPr>
          <p:cNvSpPr txBox="1"/>
          <p:nvPr/>
        </p:nvSpPr>
        <p:spPr>
          <a:xfrm>
            <a:off x="3305258" y="442932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10</a:t>
            </a:r>
            <a:endParaRPr 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9F8DEAC-050D-1DE8-E92E-B1F70CE9820B}"/>
              </a:ext>
            </a:extLst>
          </p:cNvPr>
          <p:cNvSpPr txBox="1"/>
          <p:nvPr/>
        </p:nvSpPr>
        <p:spPr>
          <a:xfrm>
            <a:off x="5839849" y="3135932"/>
            <a:ext cx="441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30</a:t>
            </a:r>
            <a:endParaRPr lang="en-US" dirty="0"/>
          </a:p>
        </p:txBody>
      </p:sp>
      <p:cxnSp>
        <p:nvCxnSpPr>
          <p:cNvPr id="83" name="מחבר ישר 82">
            <a:extLst>
              <a:ext uri="{FF2B5EF4-FFF2-40B4-BE49-F238E27FC236}">
                <a16:creationId xmlns:a16="http://schemas.microsoft.com/office/drawing/2014/main" id="{27CCA7C5-3389-5652-403D-FE17B3F27908}"/>
              </a:ext>
            </a:extLst>
          </p:cNvPr>
          <p:cNvCxnSpPr/>
          <p:nvPr/>
        </p:nvCxnSpPr>
        <p:spPr>
          <a:xfrm>
            <a:off x="9082622" y="3912269"/>
            <a:ext cx="1004724" cy="567680"/>
          </a:xfrm>
          <a:prstGeom prst="line">
            <a:avLst/>
          </a:prstGeom>
          <a:ln w="155575">
            <a:solidFill>
              <a:schemeClr val="accent6">
                <a:lumMod val="75000"/>
              </a:schemeClr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6" name="מחבר ישר 85">
            <a:extLst>
              <a:ext uri="{FF2B5EF4-FFF2-40B4-BE49-F238E27FC236}">
                <a16:creationId xmlns:a16="http://schemas.microsoft.com/office/drawing/2014/main" id="{04168858-9EDA-45ED-107C-CAFFE8ABA8AB}"/>
              </a:ext>
            </a:extLst>
          </p:cNvPr>
          <p:cNvCxnSpPr/>
          <p:nvPr/>
        </p:nvCxnSpPr>
        <p:spPr>
          <a:xfrm>
            <a:off x="10087346" y="4471358"/>
            <a:ext cx="1783561" cy="497103"/>
          </a:xfrm>
          <a:prstGeom prst="line">
            <a:avLst/>
          </a:prstGeom>
          <a:ln w="155575">
            <a:solidFill>
              <a:schemeClr val="accent4">
                <a:lumMod val="50000"/>
              </a:schemeClr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6957D8ED-D8ED-5B6A-7B08-3E40827FB31B}"/>
              </a:ext>
            </a:extLst>
          </p:cNvPr>
          <p:cNvSpPr txBox="1"/>
          <p:nvPr/>
        </p:nvSpPr>
        <p:spPr>
          <a:xfrm>
            <a:off x="8940586" y="507766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10</a:t>
            </a:r>
            <a:endParaRPr lang="en-US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B43ADF3-F0F2-D486-6F15-DD873BE6FE3B}"/>
              </a:ext>
            </a:extLst>
          </p:cNvPr>
          <p:cNvSpPr txBox="1"/>
          <p:nvPr/>
        </p:nvSpPr>
        <p:spPr>
          <a:xfrm>
            <a:off x="9903381" y="510035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30</a:t>
            </a:r>
            <a:endParaRPr lang="en-US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2026C1E-A7BE-277D-665F-13855247141B}"/>
              </a:ext>
            </a:extLst>
          </p:cNvPr>
          <p:cNvSpPr txBox="1"/>
          <p:nvPr/>
        </p:nvSpPr>
        <p:spPr>
          <a:xfrm>
            <a:off x="1446207" y="5203115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10</a:t>
            </a:r>
            <a:endParaRPr lang="en-US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AD372C9-4CEB-DF80-46A0-8DFB536884B5}"/>
              </a:ext>
            </a:extLst>
          </p:cNvPr>
          <p:cNvSpPr txBox="1"/>
          <p:nvPr/>
        </p:nvSpPr>
        <p:spPr>
          <a:xfrm>
            <a:off x="8163341" y="4404817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10</a:t>
            </a:r>
            <a:endParaRPr lang="en-US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4732DCB-F734-6D47-B462-DC775D8A5F53}"/>
              </a:ext>
            </a:extLst>
          </p:cNvPr>
          <p:cNvSpPr txBox="1"/>
          <p:nvPr/>
        </p:nvSpPr>
        <p:spPr>
          <a:xfrm>
            <a:off x="8150497" y="385711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20</a:t>
            </a:r>
            <a:endParaRPr lang="en-US" dirty="0"/>
          </a:p>
        </p:txBody>
      </p:sp>
      <p:cxnSp>
        <p:nvCxnSpPr>
          <p:cNvPr id="100" name="מחבר ישר 99">
            <a:extLst>
              <a:ext uri="{FF2B5EF4-FFF2-40B4-BE49-F238E27FC236}">
                <a16:creationId xmlns:a16="http://schemas.microsoft.com/office/drawing/2014/main" id="{BE340DDB-88E7-7AF5-EDE2-48339FDDEA1F}"/>
              </a:ext>
            </a:extLst>
          </p:cNvPr>
          <p:cNvCxnSpPr/>
          <p:nvPr/>
        </p:nvCxnSpPr>
        <p:spPr>
          <a:xfrm flipH="1">
            <a:off x="10066608" y="4464553"/>
            <a:ext cx="13826" cy="472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מחבר ישר 100">
            <a:extLst>
              <a:ext uri="{FF2B5EF4-FFF2-40B4-BE49-F238E27FC236}">
                <a16:creationId xmlns:a16="http://schemas.microsoft.com/office/drawing/2014/main" id="{EB1E8AC8-4C1B-EB1B-891C-0FED45DA3A68}"/>
              </a:ext>
            </a:extLst>
          </p:cNvPr>
          <p:cNvCxnSpPr/>
          <p:nvPr/>
        </p:nvCxnSpPr>
        <p:spPr>
          <a:xfrm flipH="1">
            <a:off x="9058477" y="3916776"/>
            <a:ext cx="13793" cy="10207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AC6E90DB-FBE4-8D3A-8D70-DE0324F1DCB5}"/>
              </a:ext>
            </a:extLst>
          </p:cNvPr>
          <p:cNvSpPr txBox="1"/>
          <p:nvPr/>
        </p:nvSpPr>
        <p:spPr>
          <a:xfrm>
            <a:off x="4859016" y="514493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20</a:t>
            </a:r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AF1BBC8-AD0C-6233-0C9E-BA4859FC4B02}"/>
              </a:ext>
            </a:extLst>
          </p:cNvPr>
          <p:cNvSpPr txBox="1"/>
          <p:nvPr/>
        </p:nvSpPr>
        <p:spPr>
          <a:xfrm>
            <a:off x="7704760" y="50451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30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348A3BB-5DD4-58EF-C132-ABF259AE030C}"/>
              </a:ext>
            </a:extLst>
          </p:cNvPr>
          <p:cNvSpPr txBox="1"/>
          <p:nvPr/>
        </p:nvSpPr>
        <p:spPr>
          <a:xfrm>
            <a:off x="8121423" y="309276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D869CB9-C6D8-AE39-1C33-4A59D097E5F6}"/>
              </a:ext>
            </a:extLst>
          </p:cNvPr>
          <p:cNvSpPr txBox="1"/>
          <p:nvPr/>
        </p:nvSpPr>
        <p:spPr>
          <a:xfrm>
            <a:off x="4128288" y="5098507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10</a:t>
            </a:r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1C7172B-30AC-E9EC-23D4-E2EACA497C82}"/>
              </a:ext>
            </a:extLst>
          </p:cNvPr>
          <p:cNvSpPr txBox="1"/>
          <p:nvPr/>
        </p:nvSpPr>
        <p:spPr>
          <a:xfrm>
            <a:off x="6645701" y="507123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10</a:t>
            </a:r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389871A-9EF2-B0C8-1A6A-EFF26F3865ED}"/>
              </a:ext>
            </a:extLst>
          </p:cNvPr>
          <p:cNvSpPr txBox="1"/>
          <p:nvPr/>
        </p:nvSpPr>
        <p:spPr>
          <a:xfrm>
            <a:off x="7223362" y="5053467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20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AB7975-BF47-3EA2-FAD5-9186922E90B5}"/>
              </a:ext>
            </a:extLst>
          </p:cNvPr>
          <p:cNvSpPr txBox="1"/>
          <p:nvPr/>
        </p:nvSpPr>
        <p:spPr>
          <a:xfrm>
            <a:off x="3228161" y="378465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20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8A896B-D9D1-ACD9-7184-004B3D77BEE9}"/>
              </a:ext>
            </a:extLst>
          </p:cNvPr>
          <p:cNvSpPr txBox="1"/>
          <p:nvPr/>
        </p:nvSpPr>
        <p:spPr>
          <a:xfrm>
            <a:off x="1399337" y="2319979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P=10-X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09132A4-4990-25C0-0666-8D378EEA0192}"/>
              </a:ext>
            </a:extLst>
          </p:cNvPr>
          <p:cNvSpPr txBox="1"/>
          <p:nvPr/>
        </p:nvSpPr>
        <p:spPr>
          <a:xfrm>
            <a:off x="3921500" y="2230814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P=20-X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D623C30-67B0-42ED-2D73-B6C3B1213357}"/>
              </a:ext>
            </a:extLst>
          </p:cNvPr>
          <p:cNvSpPr txBox="1"/>
          <p:nvPr/>
        </p:nvSpPr>
        <p:spPr>
          <a:xfrm>
            <a:off x="6343377" y="2245380"/>
            <a:ext cx="854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P=30-X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3F20B84-B803-BACD-9EFB-B898BD8FEE4A}"/>
              </a:ext>
            </a:extLst>
          </p:cNvPr>
          <p:cNvSpPr txBox="1"/>
          <p:nvPr/>
        </p:nvSpPr>
        <p:spPr>
          <a:xfrm>
            <a:off x="2514587" y="2236097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dirty="0"/>
              <a:t>צרכן א</a:t>
            </a:r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7C5AEB4-BF51-A0A4-1F03-E527514AC05F}"/>
              </a:ext>
            </a:extLst>
          </p:cNvPr>
          <p:cNvSpPr txBox="1"/>
          <p:nvPr/>
        </p:nvSpPr>
        <p:spPr>
          <a:xfrm>
            <a:off x="4817131" y="2202891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dirty="0"/>
              <a:t>צרכן ב</a:t>
            </a:r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3C36BCE-5B94-B1D4-22A3-57B034E7661E}"/>
              </a:ext>
            </a:extLst>
          </p:cNvPr>
          <p:cNvSpPr txBox="1"/>
          <p:nvPr/>
        </p:nvSpPr>
        <p:spPr>
          <a:xfrm>
            <a:off x="7231357" y="2294928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dirty="0"/>
              <a:t>צרכן ג</a:t>
            </a:r>
            <a:endParaRPr lang="en-US" dirty="0"/>
          </a:p>
        </p:txBody>
      </p:sp>
      <p:sp>
        <p:nvSpPr>
          <p:cNvPr id="5" name="כותרת 1">
            <a:extLst>
              <a:ext uri="{FF2B5EF4-FFF2-40B4-BE49-F238E27FC236}">
                <a16:creationId xmlns:a16="http://schemas.microsoft.com/office/drawing/2014/main" id="{B7B4C27A-B594-8289-944D-5C778A1C85FE}"/>
              </a:ext>
            </a:extLst>
          </p:cNvPr>
          <p:cNvSpPr txBox="1">
            <a:spLocks/>
          </p:cNvSpPr>
          <p:nvPr/>
        </p:nvSpPr>
        <p:spPr>
          <a:xfrm>
            <a:off x="9240577" y="318640"/>
            <a:ext cx="2627784" cy="731836"/>
          </a:xfrm>
          <a:prstGeom prst="rect">
            <a:avLst/>
          </a:prstGeom>
        </p:spPr>
        <p:txBody>
          <a:bodyPr vert="horz" lIns="91440" tIns="45720" rIns="91440" bIns="45720" rtlCol="1" anchor="ctr">
            <a:noAutofit/>
          </a:bodyPr>
          <a:lstStyle>
            <a:lvl1pPr algn="ctr" defTabSz="914400" rtl="1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b="1" dirty="0">
                <a:cs typeface="+mn-cs"/>
              </a:rPr>
              <a:t>שאלה 2</a:t>
            </a:r>
          </a:p>
        </p:txBody>
      </p:sp>
      <p:sp>
        <p:nvSpPr>
          <p:cNvPr id="10" name="TextBox 71">
            <a:extLst>
              <a:ext uri="{FF2B5EF4-FFF2-40B4-BE49-F238E27FC236}">
                <a16:creationId xmlns:a16="http://schemas.microsoft.com/office/drawing/2014/main" id="{D2FADE99-E930-D3C6-0063-25AC3EED7E90}"/>
              </a:ext>
            </a:extLst>
          </p:cNvPr>
          <p:cNvSpPr txBox="1"/>
          <p:nvPr/>
        </p:nvSpPr>
        <p:spPr>
          <a:xfrm>
            <a:off x="1313414" y="2800963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X=10-P</a:t>
            </a:r>
          </a:p>
        </p:txBody>
      </p:sp>
      <p:sp>
        <p:nvSpPr>
          <p:cNvPr id="12" name="TextBox 72">
            <a:extLst>
              <a:ext uri="{FF2B5EF4-FFF2-40B4-BE49-F238E27FC236}">
                <a16:creationId xmlns:a16="http://schemas.microsoft.com/office/drawing/2014/main" id="{2753E289-3C10-D983-1EDD-829E3C88E9FD}"/>
              </a:ext>
            </a:extLst>
          </p:cNvPr>
          <p:cNvSpPr txBox="1"/>
          <p:nvPr/>
        </p:nvSpPr>
        <p:spPr>
          <a:xfrm>
            <a:off x="3934332" y="2868649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X=20-p</a:t>
            </a:r>
          </a:p>
        </p:txBody>
      </p:sp>
      <p:sp>
        <p:nvSpPr>
          <p:cNvPr id="13" name="TextBox 74">
            <a:extLst>
              <a:ext uri="{FF2B5EF4-FFF2-40B4-BE49-F238E27FC236}">
                <a16:creationId xmlns:a16="http://schemas.microsoft.com/office/drawing/2014/main" id="{0AD5D321-256C-B60E-9554-A01622947C24}"/>
              </a:ext>
            </a:extLst>
          </p:cNvPr>
          <p:cNvSpPr txBox="1"/>
          <p:nvPr/>
        </p:nvSpPr>
        <p:spPr>
          <a:xfrm>
            <a:off x="6585875" y="2783421"/>
            <a:ext cx="854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X=30-P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3">
                <a:extLst>
                  <a:ext uri="{FF2B5EF4-FFF2-40B4-BE49-F238E27FC236}">
                    <a16:creationId xmlns:a16="http://schemas.microsoft.com/office/drawing/2014/main" id="{E4FC1545-AA0B-67CC-CEDD-F7F3EA2EFF2C}"/>
                  </a:ext>
                </a:extLst>
              </p:cNvPr>
              <p:cNvSpPr txBox="1"/>
              <p:nvPr/>
            </p:nvSpPr>
            <p:spPr>
              <a:xfrm>
                <a:off x="7734110" y="1742507"/>
                <a:ext cx="4664996" cy="9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b="1" i="0" dirty="0" smtClean="0">
                                    <a:solidFill>
                                      <a:srgbClr val="C00000"/>
                                    </a:solidFill>
                                  </a:rPr>
                                  <m:t>60</m:t>
                                </m:r>
                                <m:r>
                                  <m:rPr>
                                    <m:nor/>
                                  </m:rPr>
                                  <a:rPr lang="en-US" b="1" i="0" dirty="0" smtClean="0">
                                    <a:solidFill>
                                      <a:srgbClr val="C00000"/>
                                    </a:solidFill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b="1" i="0" dirty="0" smtClean="0">
                                    <a:solidFill>
                                      <a:srgbClr val="C00000"/>
                                    </a:solidFill>
                                  </a:rPr>
                                  <m:t>3</m:t>
                                </m:r>
                                <m:r>
                                  <m:rPr>
                                    <m:nor/>
                                  </m:rPr>
                                  <a:rPr lang="en-US" b="1" i="0" dirty="0" smtClean="0">
                                    <a:solidFill>
                                      <a:srgbClr val="C00000"/>
                                    </a:solidFill>
                                  </a:rPr>
                                  <m:t>P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n-US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𝟓𝟎</m:t>
                                </m:r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e>
                              <m:e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𝟐𝟎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b="0" i="1" smtClean="0"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  <m:r>
                                  <a:rPr lang="en-US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𝟑𝟎</m:t>
                                </m:r>
                                <m:r>
                                  <a:rPr lang="en-US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he-IL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          </m:t>
                                </m:r>
                              </m:e>
                              <m:e>
                                <m:r>
                                  <a:rPr lang="en-US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𝟐𝟎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n-US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𝟑𝟎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3">
                <a:extLst>
                  <a:ext uri="{FF2B5EF4-FFF2-40B4-BE49-F238E27FC236}">
                    <a16:creationId xmlns:a16="http://schemas.microsoft.com/office/drawing/2014/main" id="{E4FC1545-AA0B-67CC-CEDD-F7F3EA2EFF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4110" y="1742507"/>
                <a:ext cx="4664996" cy="9766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EB9F8F90-5E37-8E2D-AC35-3B3706B14DC3}"/>
              </a:ext>
            </a:extLst>
          </p:cNvPr>
          <p:cNvSpPr txBox="1"/>
          <p:nvPr/>
        </p:nvSpPr>
        <p:spPr>
          <a:xfrm>
            <a:off x="119745" y="108771"/>
            <a:ext cx="9946863" cy="1572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 rtl="1">
              <a:lnSpc>
                <a:spcPct val="150000"/>
              </a:lnSpc>
              <a:buNone/>
            </a:pP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3. אם המחיר בשוק הינו 12 </a:t>
            </a:r>
            <a:r>
              <a:rPr lang="he-IL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ש''ח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, הכמות המבוקשת בענף תהיה 26 יחידות 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X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he-IL" sz="18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נכון</a:t>
            </a:r>
            <a:r>
              <a:rPr lang="en-US" sz="18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X= 50-2*(12)=26 : </a:t>
            </a:r>
            <a:endParaRPr lang="en-IL" sz="1800" dirty="0">
              <a:effectLst/>
              <a:highlight>
                <a:srgbClr val="FFFF00"/>
              </a:highlight>
              <a:latin typeface="Times New Roman" panose="02020603050405020304" pitchFamily="18" charset="0"/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marL="0" indent="0" algn="r" rtl="1">
              <a:lnSpc>
                <a:spcPct val="150000"/>
              </a:lnSpc>
              <a:buNone/>
            </a:pP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4. אם המחיר בשוק הינו 25 </a:t>
            </a:r>
            <a:r>
              <a:rPr lang="he-IL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ש''ח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, צרכן ב' וג' יצרכו כל אחד 5 יחידות 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X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he-IL" sz="1800" dirty="0">
                <a:effectLst/>
                <a:highlight>
                  <a:srgbClr val="FF00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לא נכון, אך ורק צרכן ג' ירכוש 5 יחידות. </a:t>
            </a:r>
            <a:endParaRPr lang="en-IL" sz="1800" dirty="0">
              <a:effectLst/>
              <a:highlight>
                <a:srgbClr val="FF0000"/>
              </a:highlight>
              <a:latin typeface="Times New Roman" panose="02020603050405020304" pitchFamily="18" charset="0"/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marL="0" indent="0">
              <a:buNone/>
            </a:pPr>
            <a:r>
              <a:rPr lang="he-IL" sz="18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5. אם המחיר בשוק הינו </a:t>
            </a:r>
            <a:r>
              <a:rPr lang="he-IL" dirty="0">
                <a:ea typeface="Times New Roman" panose="02020603050405020304" pitchFamily="18" charset="0"/>
                <a:cs typeface="Arial" panose="020B0604020202020204" pitchFamily="34" charset="0"/>
              </a:rPr>
              <a:t>3</a:t>
            </a:r>
            <a:r>
              <a:rPr lang="he-IL" sz="18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5 </a:t>
            </a:r>
            <a:r>
              <a:rPr lang="he-IL" sz="1800" dirty="0" err="1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ש''ח</a:t>
            </a:r>
            <a:r>
              <a:rPr lang="he-IL" sz="18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, צרכן ג' ירכוש יותר יחידות מצרכן ב'. </a:t>
            </a:r>
            <a:endParaRPr lang="en-IL" dirty="0">
              <a:highlight>
                <a:srgbClr val="FF0000"/>
              </a:highlight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566530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D4DD9-E567-D879-E919-DF52314D2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מחבר ישר 5">
            <a:extLst>
              <a:ext uri="{FF2B5EF4-FFF2-40B4-BE49-F238E27FC236}">
                <a16:creationId xmlns:a16="http://schemas.microsoft.com/office/drawing/2014/main" id="{2166744F-24E8-994F-F57F-85A9AF40A073}"/>
              </a:ext>
            </a:extLst>
          </p:cNvPr>
          <p:cNvCxnSpPr/>
          <p:nvPr/>
        </p:nvCxnSpPr>
        <p:spPr>
          <a:xfrm>
            <a:off x="1074578" y="2963680"/>
            <a:ext cx="0" cy="2022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מחבר ישר 32">
            <a:extLst>
              <a:ext uri="{FF2B5EF4-FFF2-40B4-BE49-F238E27FC236}">
                <a16:creationId xmlns:a16="http://schemas.microsoft.com/office/drawing/2014/main" id="{FBE1BD03-D602-BB7E-0324-B9C4F8AE6988}"/>
              </a:ext>
            </a:extLst>
          </p:cNvPr>
          <p:cNvCxnSpPr/>
          <p:nvPr/>
        </p:nvCxnSpPr>
        <p:spPr>
          <a:xfrm flipH="1">
            <a:off x="1122170" y="4985863"/>
            <a:ext cx="2116586" cy="138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מחבר ישר 55">
            <a:extLst>
              <a:ext uri="{FF2B5EF4-FFF2-40B4-BE49-F238E27FC236}">
                <a16:creationId xmlns:a16="http://schemas.microsoft.com/office/drawing/2014/main" id="{A874547B-8D77-8ED4-B28F-31FE18A3822D}"/>
              </a:ext>
            </a:extLst>
          </p:cNvPr>
          <p:cNvCxnSpPr/>
          <p:nvPr/>
        </p:nvCxnSpPr>
        <p:spPr>
          <a:xfrm>
            <a:off x="3773034" y="2939404"/>
            <a:ext cx="0" cy="2022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מחבר ישר 56">
            <a:extLst>
              <a:ext uri="{FF2B5EF4-FFF2-40B4-BE49-F238E27FC236}">
                <a16:creationId xmlns:a16="http://schemas.microsoft.com/office/drawing/2014/main" id="{776E133E-1FC2-7F34-4E07-13C3EA7904A6}"/>
              </a:ext>
            </a:extLst>
          </p:cNvPr>
          <p:cNvCxnSpPr/>
          <p:nvPr/>
        </p:nvCxnSpPr>
        <p:spPr>
          <a:xfrm flipH="1">
            <a:off x="3820626" y="4961587"/>
            <a:ext cx="1345407" cy="138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מחבר ישר 75">
            <a:extLst>
              <a:ext uri="{FF2B5EF4-FFF2-40B4-BE49-F238E27FC236}">
                <a16:creationId xmlns:a16="http://schemas.microsoft.com/office/drawing/2014/main" id="{33E6AD52-85F3-42D4-23CD-387D531A7305}"/>
              </a:ext>
            </a:extLst>
          </p:cNvPr>
          <p:cNvCxnSpPr/>
          <p:nvPr/>
        </p:nvCxnSpPr>
        <p:spPr>
          <a:xfrm>
            <a:off x="6317989" y="2939404"/>
            <a:ext cx="0" cy="2022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מחבר ישר 76">
            <a:extLst>
              <a:ext uri="{FF2B5EF4-FFF2-40B4-BE49-F238E27FC236}">
                <a16:creationId xmlns:a16="http://schemas.microsoft.com/office/drawing/2014/main" id="{B1A1F97F-65FF-A42A-7DA2-0417382876B0}"/>
              </a:ext>
            </a:extLst>
          </p:cNvPr>
          <p:cNvCxnSpPr/>
          <p:nvPr/>
        </p:nvCxnSpPr>
        <p:spPr>
          <a:xfrm flipH="1">
            <a:off x="6365581" y="4951166"/>
            <a:ext cx="1599135" cy="242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מחבר ישר 94">
            <a:extLst>
              <a:ext uri="{FF2B5EF4-FFF2-40B4-BE49-F238E27FC236}">
                <a16:creationId xmlns:a16="http://schemas.microsoft.com/office/drawing/2014/main" id="{0CBCE348-CDC6-EE9E-351F-83E7149D307B}"/>
              </a:ext>
            </a:extLst>
          </p:cNvPr>
          <p:cNvCxnSpPr/>
          <p:nvPr/>
        </p:nvCxnSpPr>
        <p:spPr>
          <a:xfrm>
            <a:off x="8519444" y="2974103"/>
            <a:ext cx="0" cy="2022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מחבר ישר 95">
            <a:extLst>
              <a:ext uri="{FF2B5EF4-FFF2-40B4-BE49-F238E27FC236}">
                <a16:creationId xmlns:a16="http://schemas.microsoft.com/office/drawing/2014/main" id="{1B09A74C-10ED-3562-ED6D-7877F9E70D3F}"/>
              </a:ext>
            </a:extLst>
          </p:cNvPr>
          <p:cNvCxnSpPr/>
          <p:nvPr/>
        </p:nvCxnSpPr>
        <p:spPr>
          <a:xfrm flipH="1">
            <a:off x="8519445" y="4961587"/>
            <a:ext cx="3438097" cy="14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מחבר ישר 2">
            <a:extLst>
              <a:ext uri="{FF2B5EF4-FFF2-40B4-BE49-F238E27FC236}">
                <a16:creationId xmlns:a16="http://schemas.microsoft.com/office/drawing/2014/main" id="{BE827DF3-5669-18AB-85F5-C1EB88A78FBE}"/>
              </a:ext>
            </a:extLst>
          </p:cNvPr>
          <p:cNvCxnSpPr/>
          <p:nvPr/>
        </p:nvCxnSpPr>
        <p:spPr>
          <a:xfrm>
            <a:off x="1037333" y="4556122"/>
            <a:ext cx="728487" cy="482513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מחבר ישר 59">
            <a:extLst>
              <a:ext uri="{FF2B5EF4-FFF2-40B4-BE49-F238E27FC236}">
                <a16:creationId xmlns:a16="http://schemas.microsoft.com/office/drawing/2014/main" id="{B19C5709-BD4E-127F-F840-CABF7C4A127A}"/>
              </a:ext>
            </a:extLst>
          </p:cNvPr>
          <p:cNvCxnSpPr/>
          <p:nvPr/>
        </p:nvCxnSpPr>
        <p:spPr>
          <a:xfrm>
            <a:off x="3697702" y="3964798"/>
            <a:ext cx="1302319" cy="1021065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מחבר ישר 60">
            <a:extLst>
              <a:ext uri="{FF2B5EF4-FFF2-40B4-BE49-F238E27FC236}">
                <a16:creationId xmlns:a16="http://schemas.microsoft.com/office/drawing/2014/main" id="{78D8A6CE-1338-AA2E-4DC6-C1A71F6CBF00}"/>
              </a:ext>
            </a:extLst>
          </p:cNvPr>
          <p:cNvCxnSpPr>
            <a:cxnSpLocks/>
          </p:cNvCxnSpPr>
          <p:nvPr/>
        </p:nvCxnSpPr>
        <p:spPr>
          <a:xfrm>
            <a:off x="6365581" y="3231265"/>
            <a:ext cx="1655926" cy="1737249"/>
          </a:xfrm>
          <a:prstGeom prst="line">
            <a:avLst/>
          </a:prstGeom>
          <a:ln w="142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69655B0-C5BD-046A-4C9D-B7C35E054AD6}"/>
              </a:ext>
            </a:extLst>
          </p:cNvPr>
          <p:cNvSpPr txBox="1"/>
          <p:nvPr/>
        </p:nvSpPr>
        <p:spPr>
          <a:xfrm>
            <a:off x="2933864" y="5034415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7349F9F-D468-56C5-407D-73F942BF3660}"/>
              </a:ext>
            </a:extLst>
          </p:cNvPr>
          <p:cNvSpPr txBox="1"/>
          <p:nvPr/>
        </p:nvSpPr>
        <p:spPr>
          <a:xfrm>
            <a:off x="5373575" y="5113987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175504E-10C5-4082-35C4-97DC14CED57E}"/>
              </a:ext>
            </a:extLst>
          </p:cNvPr>
          <p:cNvSpPr txBox="1"/>
          <p:nvPr/>
        </p:nvSpPr>
        <p:spPr>
          <a:xfrm>
            <a:off x="8186157" y="4985863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802813B-670D-F14D-F751-34BB9E1A8D55}"/>
              </a:ext>
            </a:extLst>
          </p:cNvPr>
          <p:cNvSpPr txBox="1"/>
          <p:nvPr/>
        </p:nvSpPr>
        <p:spPr>
          <a:xfrm>
            <a:off x="11789402" y="5116917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60</a:t>
            </a:r>
            <a:endParaRPr 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3B473E9-BD84-382F-A5B8-C2A94CB64D2F}"/>
              </a:ext>
            </a:extLst>
          </p:cNvPr>
          <p:cNvSpPr txBox="1"/>
          <p:nvPr/>
        </p:nvSpPr>
        <p:spPr>
          <a:xfrm>
            <a:off x="664231" y="2877708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2FB4D7C-9BEA-D796-BC96-17E3E4816DBB}"/>
              </a:ext>
            </a:extLst>
          </p:cNvPr>
          <p:cNvSpPr txBox="1"/>
          <p:nvPr/>
        </p:nvSpPr>
        <p:spPr>
          <a:xfrm>
            <a:off x="3414882" y="2877708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3ED80C8-04F8-9397-F6D8-E31EA13D28AD}"/>
              </a:ext>
            </a:extLst>
          </p:cNvPr>
          <p:cNvSpPr txBox="1"/>
          <p:nvPr/>
        </p:nvSpPr>
        <p:spPr>
          <a:xfrm>
            <a:off x="5874012" y="2647496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EA970EE-60CB-065F-FD16-2090950A23E3}"/>
              </a:ext>
            </a:extLst>
          </p:cNvPr>
          <p:cNvSpPr txBox="1"/>
          <p:nvPr/>
        </p:nvSpPr>
        <p:spPr>
          <a:xfrm>
            <a:off x="8142315" y="2634747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cxnSp>
        <p:nvCxnSpPr>
          <p:cNvPr id="70" name="מחבר ישר 69">
            <a:extLst>
              <a:ext uri="{FF2B5EF4-FFF2-40B4-BE49-F238E27FC236}">
                <a16:creationId xmlns:a16="http://schemas.microsoft.com/office/drawing/2014/main" id="{1C924CED-674E-7367-8C6A-89D1FEE06EBB}"/>
              </a:ext>
            </a:extLst>
          </p:cNvPr>
          <p:cNvCxnSpPr>
            <a:cxnSpLocks/>
            <a:stCxn id="49" idx="3"/>
          </p:cNvCxnSpPr>
          <p:nvPr/>
        </p:nvCxnSpPr>
        <p:spPr>
          <a:xfrm>
            <a:off x="8540127" y="3277427"/>
            <a:ext cx="534046" cy="605306"/>
          </a:xfrm>
          <a:prstGeom prst="line">
            <a:avLst/>
          </a:prstGeom>
          <a:ln w="155575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מחבר ישר 10">
            <a:extLst>
              <a:ext uri="{FF2B5EF4-FFF2-40B4-BE49-F238E27FC236}">
                <a16:creationId xmlns:a16="http://schemas.microsoft.com/office/drawing/2014/main" id="{4225146E-AC14-E195-B115-0CEDA6644432}"/>
              </a:ext>
            </a:extLst>
          </p:cNvPr>
          <p:cNvCxnSpPr/>
          <p:nvPr/>
        </p:nvCxnSpPr>
        <p:spPr>
          <a:xfrm flipV="1">
            <a:off x="991123" y="3938015"/>
            <a:ext cx="10798279" cy="1080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מחבר ישר 73">
            <a:extLst>
              <a:ext uri="{FF2B5EF4-FFF2-40B4-BE49-F238E27FC236}">
                <a16:creationId xmlns:a16="http://schemas.microsoft.com/office/drawing/2014/main" id="{A2C53E92-6E6A-460E-66A4-82D783F1ABA5}"/>
              </a:ext>
            </a:extLst>
          </p:cNvPr>
          <p:cNvCxnSpPr/>
          <p:nvPr/>
        </p:nvCxnSpPr>
        <p:spPr>
          <a:xfrm flipV="1">
            <a:off x="1074578" y="4441170"/>
            <a:ext cx="10798279" cy="1080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F7AE9266-DF5A-1D96-59ED-9E12FF12AF90}"/>
              </a:ext>
            </a:extLst>
          </p:cNvPr>
          <p:cNvSpPr txBox="1"/>
          <p:nvPr/>
        </p:nvSpPr>
        <p:spPr>
          <a:xfrm>
            <a:off x="635261" y="436458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10</a:t>
            </a:r>
            <a:endParaRPr 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4EDD62E-525B-C733-5E3D-29DEC8550ECA}"/>
              </a:ext>
            </a:extLst>
          </p:cNvPr>
          <p:cNvSpPr txBox="1"/>
          <p:nvPr/>
        </p:nvSpPr>
        <p:spPr>
          <a:xfrm>
            <a:off x="654394" y="381416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20</a:t>
            </a:r>
            <a:endParaRPr 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8CC7A6B-F901-1D3B-14D9-A524FF072F07}"/>
              </a:ext>
            </a:extLst>
          </p:cNvPr>
          <p:cNvSpPr txBox="1"/>
          <p:nvPr/>
        </p:nvSpPr>
        <p:spPr>
          <a:xfrm>
            <a:off x="3305258" y="442932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10</a:t>
            </a:r>
            <a:endParaRPr 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583682D-0CE5-CA27-E10D-D3F8E45DB8C3}"/>
              </a:ext>
            </a:extLst>
          </p:cNvPr>
          <p:cNvSpPr txBox="1"/>
          <p:nvPr/>
        </p:nvSpPr>
        <p:spPr>
          <a:xfrm>
            <a:off x="5839849" y="3135932"/>
            <a:ext cx="441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30</a:t>
            </a:r>
            <a:endParaRPr lang="en-US" dirty="0"/>
          </a:p>
        </p:txBody>
      </p:sp>
      <p:cxnSp>
        <p:nvCxnSpPr>
          <p:cNvPr id="83" name="מחבר ישר 82">
            <a:extLst>
              <a:ext uri="{FF2B5EF4-FFF2-40B4-BE49-F238E27FC236}">
                <a16:creationId xmlns:a16="http://schemas.microsoft.com/office/drawing/2014/main" id="{83A5CBA9-0F02-5F20-3C08-76E3EC20098C}"/>
              </a:ext>
            </a:extLst>
          </p:cNvPr>
          <p:cNvCxnSpPr/>
          <p:nvPr/>
        </p:nvCxnSpPr>
        <p:spPr>
          <a:xfrm>
            <a:off x="9082622" y="3912269"/>
            <a:ext cx="1004724" cy="567680"/>
          </a:xfrm>
          <a:prstGeom prst="line">
            <a:avLst/>
          </a:prstGeom>
          <a:ln w="155575">
            <a:solidFill>
              <a:schemeClr val="accent6">
                <a:lumMod val="75000"/>
              </a:schemeClr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6" name="מחבר ישר 85">
            <a:extLst>
              <a:ext uri="{FF2B5EF4-FFF2-40B4-BE49-F238E27FC236}">
                <a16:creationId xmlns:a16="http://schemas.microsoft.com/office/drawing/2014/main" id="{1F26091C-AA8F-6E3E-6675-E7EF22E8BBD8}"/>
              </a:ext>
            </a:extLst>
          </p:cNvPr>
          <p:cNvCxnSpPr/>
          <p:nvPr/>
        </p:nvCxnSpPr>
        <p:spPr>
          <a:xfrm>
            <a:off x="10087346" y="4471358"/>
            <a:ext cx="1783561" cy="497103"/>
          </a:xfrm>
          <a:prstGeom prst="line">
            <a:avLst/>
          </a:prstGeom>
          <a:ln w="155575">
            <a:solidFill>
              <a:schemeClr val="accent4">
                <a:lumMod val="50000"/>
              </a:schemeClr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FE354AEF-AB26-F000-309B-D83EDA0B732F}"/>
              </a:ext>
            </a:extLst>
          </p:cNvPr>
          <p:cNvSpPr txBox="1"/>
          <p:nvPr/>
        </p:nvSpPr>
        <p:spPr>
          <a:xfrm>
            <a:off x="8940586" y="507766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10</a:t>
            </a:r>
            <a:endParaRPr lang="en-US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A618145-91A7-0B82-6CB1-9B15CE9EDFBC}"/>
              </a:ext>
            </a:extLst>
          </p:cNvPr>
          <p:cNvSpPr txBox="1"/>
          <p:nvPr/>
        </p:nvSpPr>
        <p:spPr>
          <a:xfrm>
            <a:off x="9903381" y="510035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30</a:t>
            </a:r>
            <a:endParaRPr lang="en-US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657AF24-B5DE-6ED7-6FF2-18C271D801F9}"/>
              </a:ext>
            </a:extLst>
          </p:cNvPr>
          <p:cNvSpPr txBox="1"/>
          <p:nvPr/>
        </p:nvSpPr>
        <p:spPr>
          <a:xfrm>
            <a:off x="1446207" y="5203115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10</a:t>
            </a:r>
            <a:endParaRPr lang="en-US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35D61F7-18E9-F196-64E5-F2C636DD61A7}"/>
              </a:ext>
            </a:extLst>
          </p:cNvPr>
          <p:cNvSpPr txBox="1"/>
          <p:nvPr/>
        </p:nvSpPr>
        <p:spPr>
          <a:xfrm>
            <a:off x="8163341" y="4404817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10</a:t>
            </a:r>
            <a:endParaRPr lang="en-US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C6EA868-51BC-33D2-4DB9-E38ACA905284}"/>
              </a:ext>
            </a:extLst>
          </p:cNvPr>
          <p:cNvSpPr txBox="1"/>
          <p:nvPr/>
        </p:nvSpPr>
        <p:spPr>
          <a:xfrm>
            <a:off x="8150497" y="385711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20</a:t>
            </a:r>
            <a:endParaRPr lang="en-US" dirty="0"/>
          </a:p>
        </p:txBody>
      </p:sp>
      <p:cxnSp>
        <p:nvCxnSpPr>
          <p:cNvPr id="100" name="מחבר ישר 99">
            <a:extLst>
              <a:ext uri="{FF2B5EF4-FFF2-40B4-BE49-F238E27FC236}">
                <a16:creationId xmlns:a16="http://schemas.microsoft.com/office/drawing/2014/main" id="{2D1C0798-819F-1497-F2C8-700440869B37}"/>
              </a:ext>
            </a:extLst>
          </p:cNvPr>
          <p:cNvCxnSpPr/>
          <p:nvPr/>
        </p:nvCxnSpPr>
        <p:spPr>
          <a:xfrm flipH="1">
            <a:off x="10066608" y="4464553"/>
            <a:ext cx="13826" cy="472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מחבר ישר 100">
            <a:extLst>
              <a:ext uri="{FF2B5EF4-FFF2-40B4-BE49-F238E27FC236}">
                <a16:creationId xmlns:a16="http://schemas.microsoft.com/office/drawing/2014/main" id="{9B86C511-E402-E4F1-471C-71292A46F111}"/>
              </a:ext>
            </a:extLst>
          </p:cNvPr>
          <p:cNvCxnSpPr/>
          <p:nvPr/>
        </p:nvCxnSpPr>
        <p:spPr>
          <a:xfrm flipH="1">
            <a:off x="9058477" y="3916776"/>
            <a:ext cx="13793" cy="10207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4CD06D5A-FA29-F3E1-0945-041D803EBD36}"/>
              </a:ext>
            </a:extLst>
          </p:cNvPr>
          <p:cNvSpPr txBox="1"/>
          <p:nvPr/>
        </p:nvSpPr>
        <p:spPr>
          <a:xfrm>
            <a:off x="4859016" y="514493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20</a:t>
            </a:r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FC86441-F6FA-E427-541E-A4CD5E410688}"/>
              </a:ext>
            </a:extLst>
          </p:cNvPr>
          <p:cNvSpPr txBox="1"/>
          <p:nvPr/>
        </p:nvSpPr>
        <p:spPr>
          <a:xfrm>
            <a:off x="7704760" y="50451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30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152D407-4D2A-9885-C9C5-015A87D99AA4}"/>
              </a:ext>
            </a:extLst>
          </p:cNvPr>
          <p:cNvSpPr txBox="1"/>
          <p:nvPr/>
        </p:nvSpPr>
        <p:spPr>
          <a:xfrm>
            <a:off x="8121423" y="309276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F7985AA-EC51-06D3-3B54-A98AFDE1DEC7}"/>
              </a:ext>
            </a:extLst>
          </p:cNvPr>
          <p:cNvSpPr txBox="1"/>
          <p:nvPr/>
        </p:nvSpPr>
        <p:spPr>
          <a:xfrm>
            <a:off x="4128288" y="5098507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10</a:t>
            </a:r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66DDB14-82DF-7C5F-78D0-B8C42CEE23EC}"/>
              </a:ext>
            </a:extLst>
          </p:cNvPr>
          <p:cNvSpPr txBox="1"/>
          <p:nvPr/>
        </p:nvSpPr>
        <p:spPr>
          <a:xfrm>
            <a:off x="6645701" y="507123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10</a:t>
            </a:r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AFADADF-F5CD-6ED9-1F43-14E40425012F}"/>
              </a:ext>
            </a:extLst>
          </p:cNvPr>
          <p:cNvSpPr txBox="1"/>
          <p:nvPr/>
        </p:nvSpPr>
        <p:spPr>
          <a:xfrm>
            <a:off x="7223362" y="5053467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20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7DAE2E9-5332-C33F-901A-A7DF84E8F2A1}"/>
              </a:ext>
            </a:extLst>
          </p:cNvPr>
          <p:cNvSpPr txBox="1"/>
          <p:nvPr/>
        </p:nvSpPr>
        <p:spPr>
          <a:xfrm>
            <a:off x="3228161" y="378465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20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A29AC5-E5AF-9110-2456-45147693C517}"/>
              </a:ext>
            </a:extLst>
          </p:cNvPr>
          <p:cNvSpPr txBox="1"/>
          <p:nvPr/>
        </p:nvSpPr>
        <p:spPr>
          <a:xfrm>
            <a:off x="1399337" y="2319979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P=10-X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CA4DD62-7896-BC5C-319A-29C93F51A4C2}"/>
              </a:ext>
            </a:extLst>
          </p:cNvPr>
          <p:cNvSpPr txBox="1"/>
          <p:nvPr/>
        </p:nvSpPr>
        <p:spPr>
          <a:xfrm>
            <a:off x="3921500" y="2230814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P=20-X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80634DB-FED5-E3F8-6CEA-2460D2B1CA12}"/>
              </a:ext>
            </a:extLst>
          </p:cNvPr>
          <p:cNvSpPr txBox="1"/>
          <p:nvPr/>
        </p:nvSpPr>
        <p:spPr>
          <a:xfrm>
            <a:off x="6343377" y="2245380"/>
            <a:ext cx="854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P=30-X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301216C-69ED-5C1D-5A60-2FC98E30A6DA}"/>
              </a:ext>
            </a:extLst>
          </p:cNvPr>
          <p:cNvSpPr txBox="1"/>
          <p:nvPr/>
        </p:nvSpPr>
        <p:spPr>
          <a:xfrm>
            <a:off x="2514587" y="2236097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dirty="0"/>
              <a:t>צרכן א</a:t>
            </a:r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71E1E90-6217-0B51-1512-3E12F6A9A42F}"/>
              </a:ext>
            </a:extLst>
          </p:cNvPr>
          <p:cNvSpPr txBox="1"/>
          <p:nvPr/>
        </p:nvSpPr>
        <p:spPr>
          <a:xfrm>
            <a:off x="4817131" y="2202891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dirty="0"/>
              <a:t>צרכן ב</a:t>
            </a:r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1851AEA-5601-C097-6076-0F99647244EE}"/>
              </a:ext>
            </a:extLst>
          </p:cNvPr>
          <p:cNvSpPr txBox="1"/>
          <p:nvPr/>
        </p:nvSpPr>
        <p:spPr>
          <a:xfrm>
            <a:off x="7231357" y="2294928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dirty="0"/>
              <a:t>צרכן ג</a:t>
            </a:r>
            <a:endParaRPr lang="en-US" dirty="0"/>
          </a:p>
        </p:txBody>
      </p:sp>
      <p:sp>
        <p:nvSpPr>
          <p:cNvPr id="5" name="כותרת 1">
            <a:extLst>
              <a:ext uri="{FF2B5EF4-FFF2-40B4-BE49-F238E27FC236}">
                <a16:creationId xmlns:a16="http://schemas.microsoft.com/office/drawing/2014/main" id="{DF7759B5-CE31-F61D-6A59-3224D1D4A832}"/>
              </a:ext>
            </a:extLst>
          </p:cNvPr>
          <p:cNvSpPr txBox="1">
            <a:spLocks/>
          </p:cNvSpPr>
          <p:nvPr/>
        </p:nvSpPr>
        <p:spPr>
          <a:xfrm>
            <a:off x="9240577" y="318640"/>
            <a:ext cx="2627784" cy="731836"/>
          </a:xfrm>
          <a:prstGeom prst="rect">
            <a:avLst/>
          </a:prstGeom>
        </p:spPr>
        <p:txBody>
          <a:bodyPr vert="horz" lIns="91440" tIns="45720" rIns="91440" bIns="45720" rtlCol="1" anchor="ctr">
            <a:noAutofit/>
          </a:bodyPr>
          <a:lstStyle>
            <a:lvl1pPr algn="ctr" defTabSz="914400" rtl="1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b="1" dirty="0">
                <a:cs typeface="+mn-cs"/>
              </a:rPr>
              <a:t>שאלה 2</a:t>
            </a:r>
          </a:p>
        </p:txBody>
      </p:sp>
      <p:sp>
        <p:nvSpPr>
          <p:cNvPr id="10" name="TextBox 71">
            <a:extLst>
              <a:ext uri="{FF2B5EF4-FFF2-40B4-BE49-F238E27FC236}">
                <a16:creationId xmlns:a16="http://schemas.microsoft.com/office/drawing/2014/main" id="{B9ECE6DF-E17F-0CC2-8F33-7B06DE4B73AD}"/>
              </a:ext>
            </a:extLst>
          </p:cNvPr>
          <p:cNvSpPr txBox="1"/>
          <p:nvPr/>
        </p:nvSpPr>
        <p:spPr>
          <a:xfrm>
            <a:off x="1313414" y="2800963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X=10-P</a:t>
            </a:r>
          </a:p>
        </p:txBody>
      </p:sp>
      <p:sp>
        <p:nvSpPr>
          <p:cNvPr id="12" name="TextBox 72">
            <a:extLst>
              <a:ext uri="{FF2B5EF4-FFF2-40B4-BE49-F238E27FC236}">
                <a16:creationId xmlns:a16="http://schemas.microsoft.com/office/drawing/2014/main" id="{2C5DBF86-3C25-D400-76B5-AA2FAD604268}"/>
              </a:ext>
            </a:extLst>
          </p:cNvPr>
          <p:cNvSpPr txBox="1"/>
          <p:nvPr/>
        </p:nvSpPr>
        <p:spPr>
          <a:xfrm>
            <a:off x="3934332" y="2868649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X=20-p</a:t>
            </a:r>
          </a:p>
        </p:txBody>
      </p:sp>
      <p:sp>
        <p:nvSpPr>
          <p:cNvPr id="13" name="TextBox 74">
            <a:extLst>
              <a:ext uri="{FF2B5EF4-FFF2-40B4-BE49-F238E27FC236}">
                <a16:creationId xmlns:a16="http://schemas.microsoft.com/office/drawing/2014/main" id="{D57E8EA3-1D9A-5ACC-5B81-CCBD90A09E88}"/>
              </a:ext>
            </a:extLst>
          </p:cNvPr>
          <p:cNvSpPr txBox="1"/>
          <p:nvPr/>
        </p:nvSpPr>
        <p:spPr>
          <a:xfrm>
            <a:off x="6585875" y="2783421"/>
            <a:ext cx="854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X=30-P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3">
                <a:extLst>
                  <a:ext uri="{FF2B5EF4-FFF2-40B4-BE49-F238E27FC236}">
                    <a16:creationId xmlns:a16="http://schemas.microsoft.com/office/drawing/2014/main" id="{C918FFA0-5127-FE75-C3C8-F6294F2041EB}"/>
                  </a:ext>
                </a:extLst>
              </p:cNvPr>
              <p:cNvSpPr txBox="1"/>
              <p:nvPr/>
            </p:nvSpPr>
            <p:spPr>
              <a:xfrm>
                <a:off x="7734110" y="1742507"/>
                <a:ext cx="4664996" cy="9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b="1" i="0" dirty="0" smtClean="0">
                                    <a:solidFill>
                                      <a:srgbClr val="C00000"/>
                                    </a:solidFill>
                                  </a:rPr>
                                  <m:t>60</m:t>
                                </m:r>
                                <m:r>
                                  <m:rPr>
                                    <m:nor/>
                                  </m:rPr>
                                  <a:rPr lang="en-US" b="1" i="0" dirty="0" smtClean="0">
                                    <a:solidFill>
                                      <a:srgbClr val="C00000"/>
                                    </a:solidFill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b="1" i="0" dirty="0" smtClean="0">
                                    <a:solidFill>
                                      <a:srgbClr val="C00000"/>
                                    </a:solidFill>
                                  </a:rPr>
                                  <m:t>3</m:t>
                                </m:r>
                                <m:r>
                                  <m:rPr>
                                    <m:nor/>
                                  </m:rPr>
                                  <a:rPr lang="en-US" b="1" i="0" dirty="0" smtClean="0">
                                    <a:solidFill>
                                      <a:srgbClr val="C00000"/>
                                    </a:solidFill>
                                  </a:rPr>
                                  <m:t>P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n-US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𝟓𝟎</m:t>
                                </m:r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e>
                              <m:e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𝟐𝟎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b="0" i="1" smtClean="0"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  <m:r>
                                  <a:rPr lang="en-US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𝟑𝟎</m:t>
                                </m:r>
                                <m:r>
                                  <a:rPr lang="en-US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he-IL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          </m:t>
                                </m:r>
                              </m:e>
                              <m:e>
                                <m:r>
                                  <a:rPr lang="en-US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𝟐𝟎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n-US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b="1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𝟑𝟎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3">
                <a:extLst>
                  <a:ext uri="{FF2B5EF4-FFF2-40B4-BE49-F238E27FC236}">
                    <a16:creationId xmlns:a16="http://schemas.microsoft.com/office/drawing/2014/main" id="{C918FFA0-5127-FE75-C3C8-F6294F2041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4110" y="1742507"/>
                <a:ext cx="4664996" cy="9766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9BC41A6B-EAA4-20BD-ECCC-E5B891E00DFC}"/>
              </a:ext>
            </a:extLst>
          </p:cNvPr>
          <p:cNvSpPr txBox="1"/>
          <p:nvPr/>
        </p:nvSpPr>
        <p:spPr>
          <a:xfrm>
            <a:off x="119745" y="108771"/>
            <a:ext cx="9946863" cy="1572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 rtl="1">
              <a:lnSpc>
                <a:spcPct val="150000"/>
              </a:lnSpc>
              <a:buNone/>
            </a:pP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3. אם המחיר בשוק הינו 12 </a:t>
            </a:r>
            <a:r>
              <a:rPr lang="he-IL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ש''ח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, הכמות המבוקשת בענף תהיה 26 יחידות 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X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he-IL" sz="18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נכון</a:t>
            </a:r>
            <a:r>
              <a:rPr lang="en-US" sz="18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X= 50-2*(12)=26 : </a:t>
            </a:r>
            <a:endParaRPr lang="en-IL" sz="1800" dirty="0">
              <a:effectLst/>
              <a:highlight>
                <a:srgbClr val="FFFF00"/>
              </a:highlight>
              <a:latin typeface="Times New Roman" panose="02020603050405020304" pitchFamily="18" charset="0"/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marL="0" indent="0" algn="r" rtl="1">
              <a:lnSpc>
                <a:spcPct val="150000"/>
              </a:lnSpc>
              <a:buNone/>
            </a:pP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4. אם המחיר בשוק הינו 25 </a:t>
            </a:r>
            <a:r>
              <a:rPr lang="he-IL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ש''ח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, צרכן ב' וג' יצרכו כל אחד 5 יחידות 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X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he-IL" sz="1800" dirty="0">
                <a:effectLst/>
                <a:highlight>
                  <a:srgbClr val="FF00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לא נכון, אך ורק צרכן ג' ירכוש 5 יחידות. </a:t>
            </a:r>
            <a:endParaRPr lang="en-IL" sz="1800" dirty="0">
              <a:effectLst/>
              <a:highlight>
                <a:srgbClr val="FF0000"/>
              </a:highlight>
              <a:latin typeface="Times New Roman" panose="02020603050405020304" pitchFamily="18" charset="0"/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marL="0" indent="0">
              <a:buNone/>
            </a:pPr>
            <a:r>
              <a:rPr lang="he-IL" sz="18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5. אם המחיר בשוק הינו </a:t>
            </a:r>
            <a:r>
              <a:rPr lang="he-IL" dirty="0">
                <a:ea typeface="Times New Roman" panose="02020603050405020304" pitchFamily="18" charset="0"/>
                <a:cs typeface="Arial" panose="020B0604020202020204" pitchFamily="34" charset="0"/>
              </a:rPr>
              <a:t>3</a:t>
            </a:r>
            <a:r>
              <a:rPr lang="he-IL" sz="18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5 </a:t>
            </a:r>
            <a:r>
              <a:rPr lang="he-IL" sz="1800" dirty="0" err="1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ש''ח</a:t>
            </a:r>
            <a:r>
              <a:rPr lang="he-IL" sz="18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, צרכן ג' ירכוש יותר יחידות מצרכן ב'. </a:t>
            </a:r>
            <a:r>
              <a:rPr lang="he-IL" sz="1800" dirty="0">
                <a:effectLst/>
                <a:highlight>
                  <a:srgbClr val="FF0000"/>
                </a:highlight>
                <a:ea typeface="Times New Roman" panose="02020603050405020304" pitchFamily="18" charset="0"/>
                <a:cs typeface="Arial" panose="020B0604020202020204" pitchFamily="34" charset="0"/>
              </a:rPr>
              <a:t>לא נכון, הביקוש של שניהם יהיה אפס </a:t>
            </a:r>
            <a:r>
              <a:rPr lang="en-US" sz="1800" dirty="0">
                <a:effectLst/>
                <a:highlight>
                  <a:srgbClr val="FF0000"/>
                </a:highlight>
                <a:ea typeface="Times New Roman" panose="02020603050405020304" pitchFamily="18" charset="0"/>
                <a:cs typeface="Arial" panose="020B0604020202020204" pitchFamily="34" charset="0"/>
              </a:rPr>
              <a:t>X</a:t>
            </a:r>
            <a:r>
              <a:rPr lang="he-IL" sz="1800" dirty="0">
                <a:effectLst/>
                <a:highlight>
                  <a:srgbClr val="FF0000"/>
                </a:highlight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endParaRPr lang="en-IL" dirty="0">
              <a:highlight>
                <a:srgbClr val="FF0000"/>
              </a:highlight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3567276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29816-7215-5888-ECB7-2FB94EE37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43C22-7357-D180-FD00-658D2CC6A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7653" y="2200966"/>
            <a:ext cx="8229600" cy="4525963"/>
          </a:xfrm>
        </p:spPr>
        <p:txBody>
          <a:bodyPr>
            <a:normAutofit/>
          </a:bodyPr>
          <a:lstStyle/>
          <a:p>
            <a:pPr marL="0" indent="0" algn="r" rtl="1">
              <a:lnSpc>
                <a:spcPct val="200000"/>
              </a:lnSpc>
              <a:buNone/>
            </a:pP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א. שרטטו את עקומת הביקוש המצרפית בענף למוצר 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X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 יש לציין שיפועים ונקודות קריטיות.</a:t>
            </a:r>
            <a:b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ב. סמנו </a:t>
            </a:r>
            <a:r>
              <a:rPr lang="he-I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נכון/לא נכון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עבור כל אחד מהסעיפים הבאים ונמקו:</a:t>
            </a:r>
            <a:b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he-IL" sz="18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 אם המחיר בשוק הינו 5 </a:t>
            </a:r>
            <a:r>
              <a:rPr lang="he-IL" sz="1800" dirty="0" err="1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ש''ח</a:t>
            </a:r>
            <a:r>
              <a:rPr lang="he-IL" sz="18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, הכמות המבוקשת בענף תהיה 45 יחידות </a:t>
            </a:r>
            <a:r>
              <a:rPr lang="en-US" sz="1800" dirty="0">
                <a:effectLst/>
                <a:highlight>
                  <a:srgbClr val="FFFF00"/>
                </a:highlight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X</a:t>
            </a:r>
            <a:r>
              <a:rPr lang="he-IL" sz="18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  </a:t>
            </a:r>
            <a:endParaRPr lang="en-IL" sz="1800" dirty="0">
              <a:effectLst/>
              <a:highlight>
                <a:srgbClr val="FFFF00"/>
              </a:highlight>
              <a:latin typeface="Times New Roman" panose="02020603050405020304" pitchFamily="18" charset="0"/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marL="0" indent="0" algn="r" rtl="1">
              <a:lnSpc>
                <a:spcPct val="150000"/>
              </a:lnSpc>
              <a:buNone/>
            </a:pP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2. אם המחיר בשוק הינו 10 </a:t>
            </a:r>
            <a:r>
              <a:rPr lang="he-IL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ש''ח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, הכמות המבוקשת בענף תהיה 40 יחידות.   </a:t>
            </a:r>
            <a:endParaRPr lang="en-IL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marL="0" indent="0" algn="r" rtl="1">
              <a:lnSpc>
                <a:spcPct val="150000"/>
              </a:lnSpc>
              <a:buNone/>
            </a:pPr>
            <a:r>
              <a:rPr lang="he-IL" sz="18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3. אם המחיר בשוק הינו 12 </a:t>
            </a:r>
            <a:r>
              <a:rPr lang="he-IL" sz="1800" dirty="0" err="1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ש''ח</a:t>
            </a:r>
            <a:r>
              <a:rPr lang="he-IL" sz="18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, הכמות המבוקשת בענף תהיה 26 יחידות </a:t>
            </a:r>
            <a:r>
              <a:rPr lang="en-US" sz="1800" dirty="0">
                <a:effectLst/>
                <a:highlight>
                  <a:srgbClr val="FFFF00"/>
                </a:highlight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X</a:t>
            </a:r>
            <a:r>
              <a:rPr lang="he-IL" sz="18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IL" sz="1800" dirty="0">
              <a:effectLst/>
              <a:highlight>
                <a:srgbClr val="FFFF00"/>
              </a:highlight>
              <a:latin typeface="Times New Roman" panose="02020603050405020304" pitchFamily="18" charset="0"/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marL="0" indent="0" algn="r" rtl="1">
              <a:lnSpc>
                <a:spcPct val="150000"/>
              </a:lnSpc>
              <a:buNone/>
            </a:pP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4. אם המחיר בשוק הינו 25 </a:t>
            </a:r>
            <a:r>
              <a:rPr lang="he-IL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ש''ח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, צרכן ב' וג' יצרכו כל אחד 5 יחידות 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X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(</a:t>
            </a:r>
            <a:r>
              <a:rPr lang="he-IL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סה''כ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כמות מבוקשת בענף תהיה 10 יחידות) ואילו צרכן א' לא יצרוך את  המוצר 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X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IL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marL="0" indent="0">
              <a:buNone/>
            </a:pPr>
            <a:r>
              <a:rPr lang="he-IL" sz="18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5. אם המחיר בשוק הינו 35 </a:t>
            </a:r>
            <a:r>
              <a:rPr lang="he-IL" sz="1800" dirty="0" err="1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ש''ח</a:t>
            </a:r>
            <a:r>
              <a:rPr lang="he-IL" sz="18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, צרכן ג' ירכוש יותר יחידות מצרכן ב'. </a:t>
            </a:r>
            <a:endParaRPr lang="en-IL" dirty="0"/>
          </a:p>
        </p:txBody>
      </p:sp>
      <p:sp>
        <p:nvSpPr>
          <p:cNvPr id="4" name="כותרת 1">
            <a:extLst>
              <a:ext uri="{FF2B5EF4-FFF2-40B4-BE49-F238E27FC236}">
                <a16:creationId xmlns:a16="http://schemas.microsoft.com/office/drawing/2014/main" id="{1D767A3D-9F19-5020-4E72-83423A38D724}"/>
              </a:ext>
            </a:extLst>
          </p:cNvPr>
          <p:cNvSpPr txBox="1">
            <a:spLocks/>
          </p:cNvSpPr>
          <p:nvPr/>
        </p:nvSpPr>
        <p:spPr>
          <a:xfrm>
            <a:off x="9240577" y="318640"/>
            <a:ext cx="2627784" cy="731836"/>
          </a:xfrm>
          <a:prstGeom prst="rect">
            <a:avLst/>
          </a:prstGeom>
        </p:spPr>
        <p:txBody>
          <a:bodyPr vert="horz" lIns="91440" tIns="45720" rIns="91440" bIns="45720" rtlCol="1" anchor="ctr">
            <a:noAutofit/>
          </a:bodyPr>
          <a:lstStyle>
            <a:lvl1pPr algn="ctr" defTabSz="914400" rtl="1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b="1" dirty="0">
                <a:cs typeface="+mn-cs"/>
              </a:rPr>
              <a:t>שאלה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1778F6-94C6-64B3-6E48-1ACD9C6B8DD0}"/>
              </a:ext>
            </a:extLst>
          </p:cNvPr>
          <p:cNvSpPr txBox="1"/>
          <p:nvPr/>
        </p:nvSpPr>
        <p:spPr>
          <a:xfrm>
            <a:off x="640025" y="236169"/>
            <a:ext cx="6912428" cy="2283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he-IL" dirty="0"/>
              <a:t>עקומת הביקוש של צרכן א' למוצר </a:t>
            </a:r>
            <a:r>
              <a:rPr lang="en-US" dirty="0"/>
              <a:t>X</a:t>
            </a:r>
            <a:r>
              <a:rPr lang="he-IL" dirty="0"/>
              <a:t> הינה:  </a:t>
            </a:r>
            <a:r>
              <a:rPr lang="en-US" dirty="0"/>
              <a:t>P=10-X</a:t>
            </a:r>
            <a:br>
              <a:rPr lang="he-IL" dirty="0"/>
            </a:br>
            <a:r>
              <a:rPr lang="he-IL" dirty="0"/>
              <a:t>עקומת הביקוש של צרכן ב' למוצר </a:t>
            </a:r>
            <a:r>
              <a:rPr lang="en-US" dirty="0"/>
              <a:t>X</a:t>
            </a:r>
            <a:r>
              <a:rPr lang="he-IL" dirty="0"/>
              <a:t> הינה:</a:t>
            </a:r>
            <a:r>
              <a:rPr lang="en-US" dirty="0"/>
              <a:t>  P=20-X  </a:t>
            </a:r>
            <a:br>
              <a:rPr lang="he-IL" dirty="0"/>
            </a:br>
            <a:r>
              <a:rPr lang="he-IL" dirty="0"/>
              <a:t>עקומת הביקוש של צרכן ג' למוצר </a:t>
            </a:r>
            <a:r>
              <a:rPr lang="en-US" dirty="0"/>
              <a:t>X</a:t>
            </a:r>
            <a:r>
              <a:rPr lang="he-IL" dirty="0"/>
              <a:t> הינה: </a:t>
            </a:r>
            <a:r>
              <a:rPr lang="en-US" dirty="0"/>
              <a:t>P=40-X</a:t>
            </a:r>
            <a:br>
              <a:rPr lang="he-IL" dirty="0"/>
            </a:br>
            <a:endParaRPr lang="en-IL" sz="2000" dirty="0"/>
          </a:p>
        </p:txBody>
      </p:sp>
    </p:spTree>
    <p:extLst>
      <p:ext uri="{BB962C8B-B14F-4D97-AF65-F5344CB8AC3E}">
        <p14:creationId xmlns:p14="http://schemas.microsoft.com/office/powerpoint/2010/main" val="7479137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Image result for profi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255" y="4236720"/>
            <a:ext cx="2621280" cy="262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he-IL" dirty="0"/>
              <a:t>רווח כולל ורווח תפעולי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32AE-5A3A-4D43-A208-EA7F18D9A9EF}" type="datetime8">
              <a:rPr lang="he-IL" smtClean="0"/>
              <a:t>27 דצמבר 25</a:t>
            </a:fld>
            <a:endParaRPr lang="he-IL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92039-BB9D-4F46-95B7-49E6508B93B0}" type="slidenum">
              <a:rPr lang="en-US" smtClean="0"/>
              <a:t>14</a:t>
            </a:fld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6967889" y="2362359"/>
            <a:ext cx="3672840" cy="16611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b="1" dirty="0"/>
              <a:t>רווח תפעולי</a:t>
            </a:r>
          </a:p>
          <a:p>
            <a:pPr algn="ctr"/>
            <a:r>
              <a:rPr lang="he-IL" dirty="0"/>
              <a:t>הכנסות בניכוי ההוצאות המשתנות</a:t>
            </a:r>
          </a:p>
          <a:p>
            <a:pPr algn="ctr"/>
            <a:r>
              <a:rPr lang="en-US" dirty="0"/>
              <a:t>X*</a:t>
            </a:r>
            <a:r>
              <a:rPr lang="en-US" dirty="0" err="1"/>
              <a:t>Px</a:t>
            </a:r>
            <a:r>
              <a:rPr lang="en-US" dirty="0"/>
              <a:t>-VC(x)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115" y="2545080"/>
            <a:ext cx="3672840" cy="16611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b="1" dirty="0"/>
              <a:t>רווח כולל</a:t>
            </a:r>
            <a:r>
              <a:rPr lang="en-US" b="1" dirty="0"/>
              <a:t>/</a:t>
            </a:r>
            <a:r>
              <a:rPr lang="he-IL" b="1" dirty="0"/>
              <a:t>נקי</a:t>
            </a:r>
          </a:p>
          <a:p>
            <a:pPr algn="ctr"/>
            <a:r>
              <a:rPr lang="he-IL" dirty="0"/>
              <a:t>הכנסות בניכוי כלל ההוצאות</a:t>
            </a:r>
          </a:p>
          <a:p>
            <a:pPr algn="ctr"/>
            <a:r>
              <a:rPr lang="en-US" dirty="0"/>
              <a:t>X*</a:t>
            </a:r>
            <a:r>
              <a:rPr lang="en-US" dirty="0" err="1"/>
              <a:t>Px</a:t>
            </a:r>
            <a:r>
              <a:rPr lang="en-US" dirty="0"/>
              <a:t>-TC(x)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484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9255237" y="896012"/>
            <a:ext cx="2890980" cy="418439"/>
          </a:xfrm>
        </p:spPr>
        <p:txBody>
          <a:bodyPr>
            <a:normAutofit fontScale="90000"/>
          </a:bodyPr>
          <a:lstStyle/>
          <a:p>
            <a:r>
              <a:rPr lang="he-IL" sz="2400" u="sng" dirty="0"/>
              <a:t>רווח נקי/כולל: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B476E-3D1A-4D7D-B937-9DA688D75CB8}" type="datetime8">
              <a:rPr lang="he-IL" smtClean="0"/>
              <a:t>27 דצמבר 25</a:t>
            </a:fld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A981F-4466-4789-9E41-1885E502A96E}" type="slidenum">
              <a:rPr lang="he-IL" smtClean="0">
                <a:solidFill>
                  <a:schemeClr val="bg1"/>
                </a:solidFill>
              </a:rPr>
              <a:t>15</a:t>
            </a:fld>
            <a:endParaRPr lang="he-IL" dirty="0">
              <a:solidFill>
                <a:schemeClr val="bg1"/>
              </a:solidFill>
            </a:endParaRPr>
          </a:p>
        </p:txBody>
      </p:sp>
      <p:sp>
        <p:nvSpPr>
          <p:cNvPr id="8" name="AutoShape 4" descr="data:image/jpeg;base64,/9j/4AAQSkZJRgABAQAAAQABAAD/2wCEAAkGBxQHEhQSBxQUFhUXFxsZGBUWFxgZFBYYGBkeGRccGBgYHSggGh0lHBUZIT0iJSsrLjAuIR8zODMtOCgtLjcBCgoKDg0OGhAQGzAkHyY0LDcvNywsLCwsNC0wLC8sLDAsLDQsLCwsLywsLCwsNDQsLCwsLCwsLCwsLCwsLCwsLP/AABEIALcBFAMBIgACEQEDEQH/xAAcAAEAAgIDAQAAAAAAAAAAAAAABgcEBQIDCAH/xABBEAABAwIEAwUFBQYDCQAAAAABAAIDBBEFEiExBkFRBxMiYYEUMlJxkUJyobHBFSMzYrLwFjTRFyRTgpKis+Hx/8QAGAEBAQEBAQAAAAAAAAAAAAAAAAIBAwT/xAAmEQEBAAIBBAEDBQEAAAAAAAAAAQIRIQMxQVESEyLwBHGBsdFh/9oADAMBAAIRAxEAPwC8UREBERAREQEREBERAREQEREBERAREQEREBERAREQEREBERAREQEREBERAREQEREBERAREQEREBERAREQEREBERAREQEREBERAREQEREBERAREQEREBERAREQEREBERAREQEUV7Q+JRw7T3Y7K997O+FrfeI89QB81V1BjL61newSyHNqHZnZtDrre97j81smxfaKrcE42qaAAVw79pGlzZ7cpsfEAbjUbqR0vaFTyf5lkrPPKHN+rTf8FjdVL0WnpuKKSp/hzsH3rs/qAW1ilbMLwkOHUEEfUIxzREQEREBERAREQEREBERAREQEREBERAREQEREBERAREQEREBERBS3bvnqZWxxAm0TXWH33309B9FCcOecIgjY73jckdLm9vx/NXb2hcJvx4Mmw7L3rGluRxsJGk3AzciDfy1Kqqq4IxHMTUUrydvCWOHlYh3980bGPFjfibf7P+oJ/pW5jxiKX3/yWrqeCMQo9ZqWTX4Msn9BJWinidTHLUtcx3RwLT9CuN6fp2x6k8p02aGfTT62WQ2LuQXUsjmnTVpsbfMFV8Kl7NjoubMUfH19FOs55X9lWnT4tV0v8GoLvJ9nf1La03F1TH/Hjjk+RLT+o/BVPDxK9m5+q2NPxR8dvqn1M53Z9PCrT/xy1jT38L2vtoLgtvyudDb0UFfxPWU0hlbq4m5dn8AZ0cCDt5A+iwxjrJTck7fMc+a4zyx1gs4hb9b3CdH03OI9pk1a5kWGtc2QgAsjaHuLyL+HQnrsOR6XW34N7QxKXwcSl0UjCATIwtc09Hiwte4IJA8+RMEpKFtC7vaB+R7RlDhobfPe/muMuCuxqpFRikwc5uUFrxcuDCcoJJ1GtjfcaLfqy8pvSs4ego5BKA6Iggi4I1BB2IXJV9hvGU7btywShhykMJYQQNjuB6BbWPjuIG1TFK088uVwHrcH8F0mUrlcbEsRR+HjSikNnTtaejwW2+ZIt+K3dNUsqhmpXte3q0gj6hUzTtRERgiIgIiICIiAiIgIiICIiAiIgIiICIiAiIgLpqqSOsGWrYx7ej2hw+hXcsPF64YZDJNJsxpNup5D1NggqTtShocKOXDoGNl28F2jMRf3WnLZoNzpuWhdPCXZu7iCkbUzTCJ0msbcucZNgXeIWJPLkPPQanBqE8a4o2OpJdG3MZTc6tabybc3yODb9D5KYV+D1nZy51Rwxeei1dJTPJLogNy072A+0NRzBtdZby6akmvKuuKcEPDs0kVW5r8lruZe3iAI0P3h1WlEkcv8J4/L81uOOcXGNPknjuBM4ENPvNAsAHcr+EbEqFuZ1TKRmO9N24vht3blnUlNUz/AB1c4G3/Te3rZR3CwTNG0E2zai+mgvt6KW07/ABPI52+o/wDqjKSY706dPeWXx27IqeSAHPJE86WuJLNty0dr6hdksc2Lfu3SWB2bC3IR/wA17/p5LgLyENZqSbADmSt/IwYMwRxWMzxdzvhH96D6rMMsrL4jrn08MbPNrFpov2V4I3ySSEAOLnusBbS/Ll8yuL5g82lffyHu+oH63WnqawuYWREgm/i+0STr+mq5UjbNb3e9rHzN1HUtv/IrpY4y671nOn/eiKFoOgu+9mC522v5r5TV8mETj2QyU8mb3hYMePIi7H36HrqLrqhte7uayJKEVMbvaXEsOzT8Q5g/6KJj92l5bs33W3wPxf8At4GLEAGVDRcge7I0fab0PVv9iWrzVguKPo5QYCWyxOzMLr3IB2dfXUGx6gr0VhNe3FIY5oPde0Ot0vuD5g3Hou+GVvFeTq4THmdmWiIujiIiICIiAiIgIiICIiAiIgIiICIiAiIgKE9rdd7HQ2b9uRoPmGgv/NgU2Vc9uDb0kR5d6R9Y3f6I2IT2W8T0fCrp3Y09wkkawNs0u8ILi65HUkfRWKO1TCpgQ+c2OhDopLEc7+Gy1XYjEyoo6gTNa4ipN7gHTuorb+d1LscioMLYZMXipg3X3o2En5C1ypx3peevk898Usp2yH9k1Mc0ZJI8Loy3MSQ3K4ctrrUDDrB7qhwaGAk9SQbADzJUr40qouJ80nDdCyGGC+edrGsv0Di2zSf5Rc+ihk8hqYyznpp8lXHes5k1GbhlMY5gXMGjS4a5h0I81t2G5cdNXXsBYDQbDktJBTz0YjdOySPvGOMbnhzRILAhzLizhceY1v0Upm4LxBtOKtjoJoSzOXxygC1tbh4ZYjYje4IU5TeOovp5zHLdZnD7Wwl882zAbfPnbz5eqx6ipMxcXkd5JrrtbkL8hyXxp7qJsbNtCemmv4m59FHayckulh16A7EDYfgoynEwn5XeZa31L+RvafBJpm+INbuQTZpF97ke8LgbrHik7phvyNuXNI5Ri7WQ1U0kIzDM5gzac7tuM2hPP67LGq2iN08VE4vDHWYSLOeASGnKdiWrLrKaZhvG2+22ooxNlzaD9FkVtSD72jW7LXxSGO4FrAADXd1v0WyjDaa3tFsx0DSd/qpy7f3/AI7Y3n+v9afFI3AsmiFwBZx28PXXyJVmdmXFcNFCaXFH5CJHGNztGZX62LvsnMX72GoVa8SPe6MmU2bcDKNOt79RouVE7vAb9G/ksl+MmUTljM8rjk9KtObVuy+rzv8AtKaKPuYZpWx/AHuDdd+enopr2V4vllkjxGd2rWiNj3nK51zmy3NgdG6De6649WV5s/0+WO6tNFquIMcjwWJ75nszhjiyMus57gCWgDfU2ChlJ2rNeP8AeaZwPMteCLW3bdoO9xY2XRxkt7LIRYOB4o3GoGT07XNa8GwfbMLEtN7EjcdVnIwREQEREBERAREQEREBERAREQFEe1XDjiGHS5BcxkSD5N0f/wBjnFS5cZYxKC2UAgggg7EHQhBQHZ/xTUYK2WmwWAzSzua5gAvlcG5XuIG4sG6kgC2qnOGdncmLvFRx1KZX7iBjjkHQPcLX+62w8yFXuLUE3AOJA032HZ4XH3ZIzcFpPm0lp87norK4h7QoX0LZMJcTLMMojGskbtnNIGodc2HW9xdTPTrlvvGi4rJ4pqosJ4eDY4I/fLAAyNjdHvsNNL5QOZPQ3UZwjhOPHK3E4KJtmxRSiEdJGSNbEb+eR1+tyrW7P+Gv8OU7pK+3tE3jmd8IA8MY8mg/W/KyjHYfF7Q6vqnDWSRjfoHPP/kC2p8O3sxZDxfhRo8ZYHiF5ZY6ODT443NI1aQHFoI+FRfirg+XhVwbIXT0Tr5LyvaI5t2vkiDsrnjLoQLHmBot3h9SzgXHKqOrOWnqYzK02O9y9tgP5hK0D5KN8W8Xv4mns9obGy+Rt7kC41Oti487dAEhrliYdOyCRklY0PY14uwkAPDdSDcEWJ081kcTy4fjDXHDIG0spt4mykxb63iygbX922vXZSHsiaHVhzbiGRw66vaP1Vo43jMOCR95iTgBsBu556NbzP8AZsueMt3ZXbPLGaxs3x7ebv2XZlmTMcfiF76ei5UcxdpK8E21NtbNJG+/UrdceYieK5DPPE2OOIWAYP3hBPh7146nYctbdVEKSburjVtxoD01sql98sup41/KUSVzaARl9pC7aJpaHEDU3cdjqNfzWJJHHiRMmGvcGm4cypIErHg+Jt2Ah4210+S09Th87g2pETzCfBnLTkzi9239VafZjT1IlYz2aN1JI1z5ZX92/K8NDWhhHiB0aC119Afmtzxxy7cIw6mWPfmK/rqSVsRzlrmDWwcDaw89fRZlOGwgNl0vYAkWaSBsHHS+o03W97W5IqjEIoKNrWiFoz5AG3c/xkOy72YGb/EVOeFuGW1NDG2taCJQZHNcAQc/u3B/lyrl8N/a7/V+M+elWzx5dDz5HmsbVwe5w0aNtLG3O/6KzcU7Lw0F2BTFh/4Ut3Qn5H34/wAR5KtMehqMEkMVfC5mawN9WOIuLxyDwuuORsdBoFk6dl5Xf1Es3O7rkqJGkhpzaXJJuS629zrusV4lkOrg0eQJJ+ayYmGqe72QOd4hYal1r8yBbkpRg3BFRiJvOCxp+v8A6V5S74ccMsZPuWZwThTKOCGQZs74mkjMcrQ4B1mt5a+qkq1mEYeaNoEhvYWWzXSTTz27oiItYIiICIiAiIgIiICIiAiIgIiINHxdwxDxTB3Vbo4axyD3o3dR1HUc/nYqkq/Aqvgidk1TG0927MyfLngdbYu+A/O2uoOxXod/ktbWU75wQDuss2rHK4qx/wBrUlTDLFV07Q9zXNa+N5DRmbYEtdc6E33Wh4V44k4WpXQUcceZ0jnmRxJ3AHu6bBo6qdV3ZpFXuLnta2++Rob/AE2XfQ9ltJBrKzN97X81mr7V8sfSqqqap4ynD5f3j9s7tGMG9rjQDyaFLq7hVmC4bI6MZ5c0bnykWNswGVg+y3xfM8yrPoOHYKEWgY0eiyMVwxuIU8sB0EjHNv0uLA+hsUmLLnv9lHcI41/h6V1RCwPe6J0YBNmhxc0hx8hl2/JSbB+GqrjCT2nGnubGftn3nN6QsOjG+drfe1Kg9BIcLnHtTATFIC6NwBBLHDO0g+bSFemO8QsoqQT0jge8aO68y4XBt0A19LKMZu2V2zy1JlJ3V1xlCyomiw7AWARsfq0byTHQl7tzYaXO3i5BRXCuGv2tX1FNEScvfMa7qYmvDT8i9rfQqyuzLBM2aurBqbtivvbZ79eZ1F/vdVoux6P2utqZ3fA4+sjwf0Kq8pnG/wA5ZfY3KzEaaoo69oczRxY7UEOGVwt5ZG+pXHEsPn7NJfacLcZKNzgHsedWXNmtd1FzYPGo2N+fTgoHC2OzRSeGOUuIJ0AZKO8HoHjL6LU9pPFw4nk9nov8tE6+Y6CZ40Dh/KLm3qeizXH7Ft+W55anAKCTiitPtRu+aVxe4bBl80hHQACw9F6HYwMADBYAWAGwA2UI7LuGThMPtFW20krQGtIsY4twPIuIBI8m9Cpyqxnmp6uUt1O0DqsGsw1lZpOAQdwRcH0Wcipya2jwSGjFqeNrR0DQB9AtgxgZ7oXJEBERAREQEREBERAREQEREBERAREQEREBERAREQEREFWdqfCbmvNdhrbi375oGotpnAHK2/S1+ZUMw6u9pMUOISubTh2uhPdtcbvyga6kfqvQjjbdVxxVwPTzuMuEkwPO7QLwuP3fs+mnkoyx8x26fUkmsuyTHiGk9ll/Zc0RbFE4BocBbKy7QAddrKvuy7Hafh+CeSvcczy0NY0ZnuDQTpyAu7ckbKOz4PNSucJGZzsCwm30Nl2UnDtVVaRQkDq7QKbll6XMcJLvJy40xk8T1AmyNia1hYBu9zbk3e7a+p0A0udSpP2fcFCQtqMXFmNsY4nDV5Goc8HZo3AO/wAt+7h3gV8Tg+tALhtfUD5BWDQ4d3A8ZutmNvNTl1JJ8cGxBuvq+NFl9XRwEREBERAREQEREBERAREQEREBERAREQEREBERAREQEREBERBxc3Nuul1G1/vBZCIMVtAwfZC7mwtZ7oC7EQfLWX1EQEREBERAREQEREBERAREQEREBERAREQEREBERAREQEREBERAREQEREBERAREQEREBERAREQEREBERAREQEREBERAREQEREBERAREQEREBERAREQEREBERAREQEREBERAREQEREBERAREQEREH//Z"/>
          <p:cNvSpPr>
            <a:spLocks noChangeAspect="1" noChangeArrowheads="1"/>
          </p:cNvSpPr>
          <p:nvPr/>
        </p:nvSpPr>
        <p:spPr bwMode="auto">
          <a:xfrm>
            <a:off x="1692275" y="3781426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he-IL" sz="13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197245" y="896012"/>
                <a:ext cx="4126789" cy="430887"/>
              </a:xfrm>
              <a:prstGeom prst="rect">
                <a:avLst/>
              </a:prstGeom>
              <a:noFill/>
              <a:ln w="31750">
                <a:solidFill>
                  <a:srgbClr val="0070C0"/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txBody>
              <a:bodyPr wrap="squar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smtClean="0">
                          <a:latin typeface="Cambria Math" panose="02040503050406030204" pitchFamily="18" charset="0"/>
                        </a:rPr>
                        <m:t>𝛑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he-IL" sz="28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𝑇𝐶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he-IL" sz="28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7245" y="896012"/>
                <a:ext cx="4126789" cy="43088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31750">
                <a:solidFill>
                  <a:srgbClr val="0070C0"/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כותרת 1"/>
          <p:cNvSpPr txBox="1">
            <a:spLocks/>
          </p:cNvSpPr>
          <p:nvPr/>
        </p:nvSpPr>
        <p:spPr>
          <a:xfrm>
            <a:off x="9255236" y="1479286"/>
            <a:ext cx="2890980" cy="975260"/>
          </a:xfrm>
          <a:prstGeom prst="rect">
            <a:avLst/>
          </a:prstGeom>
        </p:spPr>
        <p:txBody>
          <a:bodyPr vert="horz" lIns="91440" tIns="45720" rIns="91440" bIns="45720" rtlCol="1" anchor="ctr">
            <a:normAutofit fontScale="97500"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e-IL" sz="2400" u="sng" dirty="0"/>
              <a:t>רווח תפעולי: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217731" y="1782250"/>
                <a:ext cx="4126789" cy="430887"/>
              </a:xfrm>
              <a:prstGeom prst="rect">
                <a:avLst/>
              </a:prstGeom>
              <a:noFill/>
              <a:ln w="31750">
                <a:solidFill>
                  <a:srgbClr val="0070C0"/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txBody>
              <a:bodyPr wrap="squar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𝝅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he-IL" sz="28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𝑉𝐶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he-IL" sz="28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7731" y="1782250"/>
                <a:ext cx="4126789" cy="43088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31750">
                <a:solidFill>
                  <a:srgbClr val="0070C0"/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689549" y="2859924"/>
            <a:ext cx="111096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2000" b="1" u="sng" dirty="0"/>
              <a:t>בטווח הארוך  </a:t>
            </a:r>
            <a:r>
              <a:rPr lang="he-IL" sz="2000" dirty="0"/>
              <a:t>(כאשר הפירמה נמצאת מחוץ לענף ושוקלת האם להיכנס או לא) הפירמה לא התחייבה על העלויות הקבועות.</a:t>
            </a:r>
            <a:br>
              <a:rPr lang="en-US" sz="2000" dirty="0"/>
            </a:br>
            <a:r>
              <a:rPr lang="he-IL" sz="2000" dirty="0"/>
              <a:t>כלל ההחלטה של הפירמה האם להיכנס לענף ולייצר הינו: כל עוד </a:t>
            </a:r>
            <a:r>
              <a:rPr lang="he-IL" sz="2000" b="1" dirty="0"/>
              <a:t>הרווח הנקי/הכולל </a:t>
            </a:r>
            <a:r>
              <a:rPr lang="he-IL" sz="2000" dirty="0"/>
              <a:t>גדול או שווה לאפס. אחרת, לא תכנס לענף. </a:t>
            </a:r>
            <a:endParaRPr lang="en-US"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705832" y="4392949"/>
            <a:ext cx="111096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2000" b="1" u="sng" dirty="0"/>
              <a:t>בטווח הקצר  </a:t>
            </a:r>
            <a:r>
              <a:rPr lang="he-IL" sz="2000" dirty="0"/>
              <a:t>(כאשר הפירמה נמצאת בתוך הענף במובן שהיא כבר התחייבה על העלויות הקבועות </a:t>
            </a:r>
            <a:r>
              <a:rPr lang="en-US" sz="2000" dirty="0"/>
              <a:t>FC</a:t>
            </a:r>
            <a:r>
              <a:rPr lang="he-IL" sz="2000" dirty="0"/>
              <a:t> כגון דמי שכירות) כלל ההחלטה של הפירמה האם לייצר או להשבית את הייצור הינו: כל עוד </a:t>
            </a:r>
            <a:r>
              <a:rPr lang="he-IL" sz="2000" b="1" dirty="0"/>
              <a:t>הרווח התפעולי </a:t>
            </a:r>
            <a:r>
              <a:rPr lang="he-IL" sz="2000" dirty="0"/>
              <a:t>גדול או שווה לאפס, כדאי לייצר בטווח הקצר. אחרת, כדאי לפירמה להשבית את הייצור. </a:t>
            </a:r>
            <a:br>
              <a:rPr lang="en-US" sz="2000" dirty="0"/>
            </a:br>
            <a:r>
              <a:rPr lang="he-IL" sz="2000" dirty="0"/>
              <a:t>*כלומר בטווח הקצר העלות הקבועה </a:t>
            </a:r>
            <a:r>
              <a:rPr lang="en-US" sz="2000" dirty="0"/>
              <a:t>FC</a:t>
            </a:r>
            <a:r>
              <a:rPr lang="he-IL" sz="2000" dirty="0"/>
              <a:t> אינה נכנסת למערכת השיקולים של הפירמה האם לייצר או לא.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48987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9997" y="75106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he-IL" dirty="0"/>
              <a:t>החלטות ייצור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1013" y="1038754"/>
            <a:ext cx="4377754" cy="53265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e-IL" sz="4000" dirty="0"/>
              <a:t>1) האם לייצר?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6CD47-1CFA-40E5-8E9F-789F498AC982}" type="datetime8">
              <a:rPr lang="he-IL" smtClean="0">
                <a:solidFill>
                  <a:prstClr val="black">
                    <a:tint val="75000"/>
                  </a:prstClr>
                </a:solidFill>
              </a:rPr>
              <a:t>27 דצמבר 25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582741" y="5212309"/>
            <a:ext cx="3197087" cy="532656"/>
          </a:xfrm>
          <a:prstGeom prst="rect">
            <a:avLst/>
          </a:prstGeom>
        </p:spPr>
        <p:txBody>
          <a:bodyPr vert="horz" lIns="91440" tIns="45720" rIns="91440" bIns="45720" rtlCol="1">
            <a:noAutofit/>
          </a:bodyPr>
          <a:lstStyle>
            <a:lvl1pPr marL="342900" indent="-3429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e-IL" sz="3600" dirty="0"/>
              <a:t>2) כמה לייצר?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542545" y="1124385"/>
            <a:ext cx="2818656" cy="532656"/>
          </a:xfrm>
          <a:prstGeom prst="rect">
            <a:avLst/>
          </a:prstGeom>
        </p:spPr>
        <p:txBody>
          <a:bodyPr vert="horz" lIns="91440" tIns="45720" rIns="91440" bIns="45720" rtlCol="1">
            <a:normAutofit lnSpcReduction="10000"/>
          </a:bodyPr>
          <a:lstStyle>
            <a:lvl1pPr marL="342900" indent="-3429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e-IL" dirty="0"/>
              <a:t>באיזה טווח?</a:t>
            </a:r>
          </a:p>
        </p:txBody>
      </p:sp>
      <p:cxnSp>
        <p:nvCxnSpPr>
          <p:cNvPr id="9" name="Straight Arrow Connector 8"/>
          <p:cNvCxnSpPr>
            <a:cxnSpLocks/>
          </p:cNvCxnSpPr>
          <p:nvPr/>
        </p:nvCxnSpPr>
        <p:spPr>
          <a:xfrm>
            <a:off x="7009175" y="1738619"/>
            <a:ext cx="513420" cy="5326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/>
          </p:cNvCxnSpPr>
          <p:nvPr/>
        </p:nvCxnSpPr>
        <p:spPr>
          <a:xfrm flipH="1">
            <a:off x="5619949" y="1680939"/>
            <a:ext cx="405409" cy="4997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657736" y="2211120"/>
            <a:ext cx="2600047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1">
            <a:spAutoFit/>
          </a:bodyPr>
          <a:lstStyle/>
          <a:p>
            <a:r>
              <a:rPr lang="he-IL" b="1" dirty="0"/>
              <a:t>טווח קצר </a:t>
            </a:r>
            <a:r>
              <a:rPr lang="he-IL" sz="1400" dirty="0"/>
              <a:t>(היצרן התחייב על </a:t>
            </a:r>
            <a:r>
              <a:rPr lang="en-US" sz="1400" dirty="0"/>
              <a:t>FC</a:t>
            </a:r>
            <a:r>
              <a:rPr lang="he-IL" sz="1400" dirty="0"/>
              <a:t>)</a:t>
            </a:r>
            <a:endParaRPr lang="he-IL" dirty="0"/>
          </a:p>
        </p:txBody>
      </p:sp>
      <p:sp>
        <p:nvSpPr>
          <p:cNvPr id="14" name="TextBox 13"/>
          <p:cNvSpPr txBox="1"/>
          <p:nvPr/>
        </p:nvSpPr>
        <p:spPr>
          <a:xfrm>
            <a:off x="2373046" y="2244683"/>
            <a:ext cx="3073903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1">
            <a:spAutoFit/>
          </a:bodyPr>
          <a:lstStyle/>
          <a:p>
            <a:r>
              <a:rPr lang="he-IL" b="1" dirty="0"/>
              <a:t>טווח ארוך </a:t>
            </a:r>
            <a:r>
              <a:rPr lang="he-IL" sz="1400" dirty="0"/>
              <a:t>(היצרן טרם התחייב על </a:t>
            </a:r>
            <a:r>
              <a:rPr lang="en-US" sz="1400" dirty="0"/>
              <a:t>FC</a:t>
            </a:r>
            <a:r>
              <a:rPr lang="he-IL" sz="1400" dirty="0"/>
              <a:t>)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מלבן 8">
                <a:extLst>
                  <a:ext uri="{FF2B5EF4-FFF2-40B4-BE49-F238E27FC236}">
                    <a16:creationId xmlns:a16="http://schemas.microsoft.com/office/drawing/2014/main" id="{5CDAAA4A-8CCC-49B8-9B71-D622A18D0D97}"/>
                  </a:ext>
                </a:extLst>
              </p:cNvPr>
              <p:cNvSpPr/>
              <p:nvPr/>
            </p:nvSpPr>
            <p:spPr>
              <a:xfrm>
                <a:off x="7091528" y="2775861"/>
                <a:ext cx="3705908" cy="933525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he-IL" sz="1400" b="1" dirty="0"/>
                  <a:t>ליצרן כדאי לייצר </a:t>
                </a:r>
                <a:r>
                  <a:rPr lang="he-IL" sz="1400" b="1" u="sng" dirty="0"/>
                  <a:t>בטווח הקצר</a:t>
                </a:r>
                <a:r>
                  <a:rPr lang="he-IL" sz="1400" b="1" dirty="0"/>
                  <a:t> כל עוד :</a:t>
                </a:r>
                <a:endParaRPr lang="he-IL" sz="1400" b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20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תפעולי</m:t>
                      </m:r>
                      <m:r>
                        <a:rPr lang="he-IL" sz="2000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he-IL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he-IL" sz="2000" b="1" i="0">
                          <a:latin typeface="Cambria Math" panose="02040503050406030204" pitchFamily="18" charset="0"/>
                        </a:rPr>
                        <m:t>𝐏</m:t>
                      </m:r>
                      <m:r>
                        <a:rPr lang="he-IL" sz="2000" b="1" i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he-IL" sz="2000" b="1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he-IL" sz="2000" b="1" i="0">
                          <a:latin typeface="Cambria Math" panose="02040503050406030204" pitchFamily="18" charset="0"/>
                        </a:rPr>
                        <m:t>𝐕𝐂</m:t>
                      </m:r>
                      <m:r>
                        <a:rPr lang="he-IL" sz="2000" b="1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he-IL" sz="2000" b="1" i="0">
                          <a:latin typeface="Cambria Math" panose="02040503050406030204" pitchFamily="18" charset="0"/>
                        </a:rPr>
                        <m:t>)≥</m:t>
                      </m:r>
                      <m:r>
                        <a:rPr lang="he-IL" sz="2000" b="1" i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he-IL" b="1" dirty="0"/>
              </a:p>
            </p:txBody>
          </p:sp>
        </mc:Choice>
        <mc:Fallback xmlns="">
          <p:sp>
            <p:nvSpPr>
              <p:cNvPr id="15" name="מלבן 8">
                <a:extLst>
                  <a:ext uri="{FF2B5EF4-FFF2-40B4-BE49-F238E27FC236}">
                    <a16:creationId xmlns:a16="http://schemas.microsoft.com/office/drawing/2014/main" id="{5CDAAA4A-8CCC-49B8-9B71-D622A18D0D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1528" y="2775861"/>
                <a:ext cx="3705908" cy="933525"/>
              </a:xfrm>
              <a:prstGeom prst="rect">
                <a:avLst/>
              </a:prstGeom>
              <a:blipFill>
                <a:blip r:embed="rId2"/>
                <a:stretch>
                  <a:fillRect r="-32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מלבן 8">
                <a:extLst>
                  <a:ext uri="{FF2B5EF4-FFF2-40B4-BE49-F238E27FC236}">
                    <a16:creationId xmlns:a16="http://schemas.microsoft.com/office/drawing/2014/main" id="{164FD5D2-CCCF-48F5-83F2-F4A97A8AD701}"/>
                  </a:ext>
                </a:extLst>
              </p:cNvPr>
              <p:cNvSpPr/>
              <p:nvPr/>
            </p:nvSpPr>
            <p:spPr>
              <a:xfrm>
                <a:off x="2135560" y="2764984"/>
                <a:ext cx="4032448" cy="93352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he-IL" sz="1400" b="1" dirty="0"/>
                  <a:t>ליצרן כדאי לייצר </a:t>
                </a:r>
                <a:r>
                  <a:rPr lang="he-IL" sz="1400" b="1" u="sng" dirty="0"/>
                  <a:t>בטווח הארוך </a:t>
                </a:r>
                <a:r>
                  <a:rPr lang="he-IL" sz="1400" b="1" dirty="0"/>
                  <a:t>כל עוד :</a:t>
                </a:r>
                <a:endParaRPr lang="he-IL" sz="1400" b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20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נקי</m:t>
                      </m:r>
                      <m:r>
                        <a:rPr lang="he-IL" sz="20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he-IL" sz="20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כולל</m:t>
                      </m:r>
                      <m:r>
                        <a:rPr lang="he-IL" sz="2000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he-IL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he-IL" sz="2000" b="1">
                          <a:latin typeface="Cambria Math" panose="02040503050406030204" pitchFamily="18" charset="0"/>
                        </a:rPr>
                        <m:t>𝐏</m:t>
                      </m:r>
                      <m:r>
                        <a:rPr lang="he-IL" sz="2000" b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he-IL" sz="2000" b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1">
                          <a:latin typeface="Cambria Math" panose="02040503050406030204" pitchFamily="18" charset="0"/>
                        </a:rPr>
                        <m:t>𝐓</m:t>
                      </m:r>
                      <m:r>
                        <a:rPr lang="he-IL" sz="2000" b="1">
                          <a:latin typeface="Cambria Math" panose="02040503050406030204" pitchFamily="18" charset="0"/>
                        </a:rPr>
                        <m:t>𝐂</m:t>
                      </m:r>
                      <m:r>
                        <a:rPr lang="he-IL" sz="2000" b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he-IL" sz="2000" b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he-IL" sz="200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he-IL" sz="200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6" name="מלבן 8">
                <a:extLst>
                  <a:ext uri="{FF2B5EF4-FFF2-40B4-BE49-F238E27FC236}">
                    <a16:creationId xmlns:a16="http://schemas.microsoft.com/office/drawing/2014/main" id="{164FD5D2-CCCF-48F5-83F2-F4A97A8AD7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5560" y="2764984"/>
                <a:ext cx="4032448" cy="933525"/>
              </a:xfrm>
              <a:prstGeom prst="rect">
                <a:avLst/>
              </a:prstGeom>
              <a:blipFill>
                <a:blip r:embed="rId3"/>
                <a:stretch>
                  <a:fillRect r="-15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1971509" y="5260596"/>
                <a:ext cx="5080629" cy="669094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he-IL" sz="2800" b="1" i="1">
                        <a:latin typeface="Cambria Math" panose="02040503050406030204" pitchFamily="18" charset="0"/>
                      </a:rPr>
                      <m:t>𝑷</m:t>
                    </m:r>
                    <m:r>
                      <m:rPr>
                        <m:nor/>
                      </m:rPr>
                      <a:rPr lang="he-IL" sz="2800" b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800" b="1" dirty="0"/>
                      <m:t>≥</m:t>
                    </m:r>
                  </m:oMath>
                </a14:m>
                <a:r>
                  <a:rPr lang="en-US" sz="2800" b="1" dirty="0"/>
                  <a:t>MC</a:t>
                </a:r>
                <a:endParaRPr lang="he-IL" sz="2800" b="1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1509" y="5260596"/>
                <a:ext cx="5080629" cy="669094"/>
              </a:xfrm>
              <a:prstGeom prst="rect">
                <a:avLst/>
              </a:prstGeom>
              <a:blipFill>
                <a:blip r:embed="rId4"/>
                <a:stretch>
                  <a:fillRect r="-2518" b="-2545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3253259" y="3973607"/>
            <a:ext cx="1846958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1">
            <a:spAutoFit/>
          </a:bodyPr>
          <a:lstStyle/>
          <a:p>
            <a:r>
              <a:rPr lang="en-US" sz="2400" dirty="0"/>
              <a:t>P ≥ min ATC</a:t>
            </a:r>
            <a:endParaRPr lang="he-IL" sz="2400" dirty="0"/>
          </a:p>
        </p:txBody>
      </p:sp>
      <p:sp>
        <p:nvSpPr>
          <p:cNvPr id="22" name="TextBox 21"/>
          <p:cNvSpPr txBox="1"/>
          <p:nvPr/>
        </p:nvSpPr>
        <p:spPr>
          <a:xfrm>
            <a:off x="7685347" y="3973607"/>
            <a:ext cx="1846959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1">
            <a:spAutoFit/>
          </a:bodyPr>
          <a:lstStyle/>
          <a:p>
            <a:r>
              <a:rPr lang="en-US" sz="2400" dirty="0"/>
              <a:t>P≥ min AVC</a:t>
            </a:r>
            <a:endParaRPr lang="he-IL" sz="24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077224B-F8F2-4488-A56F-141888D00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DB488-E800-4C9D-A68D-A9C6D048BCD3}" type="slidenum">
              <a:rPr lang="he-IL" smtClean="0"/>
              <a:pPr/>
              <a:t>16</a:t>
            </a:fld>
            <a:endParaRPr lang="he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98886A-0E43-4726-9AD8-D4943663F88B}"/>
              </a:ext>
            </a:extLst>
          </p:cNvPr>
          <p:cNvSpPr txBox="1"/>
          <p:nvPr/>
        </p:nvSpPr>
        <p:spPr>
          <a:xfrm>
            <a:off x="1919425" y="5478637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dirty="0"/>
              <a:t>וכל עוד העלות השולית אינה במגמת ירידה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479772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7" grpId="0"/>
      <p:bldP spid="13" grpId="0" animBg="1"/>
      <p:bldP spid="14" grpId="0" animBg="1"/>
      <p:bldP spid="15" grpId="0" animBg="1"/>
      <p:bldP spid="16" grpId="0" animBg="1"/>
      <p:bldP spid="19" grpId="0" animBg="1"/>
      <p:bldP spid="21" grpId="0" animBg="1"/>
      <p:bldP spid="22" grpId="0" animBg="1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2400" y="7789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he-IL" dirty="0"/>
              <a:t>החלטות ייצור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7386" y="1102648"/>
            <a:ext cx="9408148" cy="532656"/>
          </a:xfrm>
          <a:solidFill>
            <a:schemeClr val="bg2"/>
          </a:solidFill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he-IL" dirty="0"/>
              <a:t>מהו מחיר השוק המינימלי עבורו היצרן יחליט לייצר כמות חיובית?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C354B-15A3-4B18-AE9F-1D3ADC3D6B7F}" type="datetime8">
              <a:rPr lang="he-IL" smtClean="0">
                <a:solidFill>
                  <a:prstClr val="black">
                    <a:tint val="75000"/>
                  </a:prstClr>
                </a:solidFill>
              </a:rPr>
              <a:t>27 דצמבר 25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256720" y="2514850"/>
            <a:ext cx="2818656" cy="532656"/>
          </a:xfrm>
          <a:prstGeom prst="rect">
            <a:avLst/>
          </a:prstGeom>
        </p:spPr>
        <p:txBody>
          <a:bodyPr vert="horz" lIns="91440" tIns="45720" rIns="91440" bIns="45720" rtlCol="1">
            <a:normAutofit lnSpcReduction="10000"/>
          </a:bodyPr>
          <a:lstStyle>
            <a:lvl1pPr marL="342900" indent="-3429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e-IL" dirty="0"/>
              <a:t>באיזה טווח?</a:t>
            </a:r>
          </a:p>
        </p:txBody>
      </p:sp>
      <p:cxnSp>
        <p:nvCxnSpPr>
          <p:cNvPr id="9" name="Straight Arrow Connector 8"/>
          <p:cNvCxnSpPr>
            <a:cxnSpLocks/>
          </p:cNvCxnSpPr>
          <p:nvPr/>
        </p:nvCxnSpPr>
        <p:spPr>
          <a:xfrm>
            <a:off x="6719022" y="3181989"/>
            <a:ext cx="513420" cy="5326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/>
          </p:cNvCxnSpPr>
          <p:nvPr/>
        </p:nvCxnSpPr>
        <p:spPr>
          <a:xfrm flipH="1">
            <a:off x="5069706" y="3151844"/>
            <a:ext cx="405409" cy="4997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232442" y="3849129"/>
            <a:ext cx="2600047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1">
            <a:spAutoFit/>
          </a:bodyPr>
          <a:lstStyle/>
          <a:p>
            <a:r>
              <a:rPr lang="he-IL" b="1" dirty="0"/>
              <a:t>טווח קצר </a:t>
            </a:r>
            <a:r>
              <a:rPr lang="he-IL" sz="1400" dirty="0"/>
              <a:t>(היצרן התחייב על </a:t>
            </a:r>
            <a:r>
              <a:rPr lang="en-US" sz="1400" dirty="0"/>
              <a:t>FC</a:t>
            </a:r>
            <a:r>
              <a:rPr lang="he-IL" sz="1400" dirty="0"/>
              <a:t>)</a:t>
            </a:r>
            <a:endParaRPr lang="he-IL" dirty="0"/>
          </a:p>
        </p:txBody>
      </p:sp>
      <p:sp>
        <p:nvSpPr>
          <p:cNvPr id="14" name="TextBox 13"/>
          <p:cNvSpPr txBox="1"/>
          <p:nvPr/>
        </p:nvSpPr>
        <p:spPr>
          <a:xfrm>
            <a:off x="2036805" y="3849129"/>
            <a:ext cx="3073903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1">
            <a:spAutoFit/>
          </a:bodyPr>
          <a:lstStyle/>
          <a:p>
            <a:r>
              <a:rPr lang="he-IL" b="1" dirty="0"/>
              <a:t>טווח ארוך </a:t>
            </a:r>
            <a:r>
              <a:rPr lang="he-IL" sz="1400" dirty="0"/>
              <a:t>(היצרן טרם התחייב על </a:t>
            </a:r>
            <a:r>
              <a:rPr lang="en-US" sz="1400" dirty="0"/>
              <a:t>FC</a:t>
            </a:r>
            <a:r>
              <a:rPr lang="he-IL" sz="1400" dirty="0"/>
              <a:t>)</a:t>
            </a:r>
            <a:endParaRPr lang="he-IL" dirty="0"/>
          </a:p>
        </p:txBody>
      </p:sp>
      <p:sp>
        <p:nvSpPr>
          <p:cNvPr id="21" name="TextBox 20"/>
          <p:cNvSpPr txBox="1"/>
          <p:nvPr/>
        </p:nvSpPr>
        <p:spPr>
          <a:xfrm>
            <a:off x="2789312" y="4415956"/>
            <a:ext cx="1584176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1">
            <a:spAutoFit/>
          </a:bodyPr>
          <a:lstStyle/>
          <a:p>
            <a:r>
              <a:rPr lang="en-US" sz="2000" b="1" dirty="0"/>
              <a:t>P ≥ min ATC</a:t>
            </a:r>
            <a:endParaRPr lang="he-IL" sz="20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7640402" y="4506615"/>
            <a:ext cx="1584176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1">
            <a:spAutoFit/>
          </a:bodyPr>
          <a:lstStyle/>
          <a:p>
            <a:r>
              <a:rPr lang="en-US" sz="2000" b="1" dirty="0"/>
              <a:t>P≥</a:t>
            </a:r>
            <a:r>
              <a:rPr lang="en-US" dirty="0"/>
              <a:t> </a:t>
            </a:r>
            <a:r>
              <a:rPr lang="en-US" sz="2000" b="1" dirty="0"/>
              <a:t>min AVC</a:t>
            </a:r>
            <a:endParaRPr lang="he-IL" b="1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077224B-F8F2-4488-A56F-141888D00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DB488-E800-4C9D-A68D-A9C6D048BCD3}" type="slidenum">
              <a:rPr lang="he-IL" smtClean="0"/>
              <a:pPr/>
              <a:t>17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96531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13" grpId="0" animBg="1"/>
      <p:bldP spid="14" grpId="0" animBg="1"/>
      <p:bldP spid="21" grpId="0" animBg="1"/>
      <p:bldP spid="2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6D8D9-938E-4E98-871D-6EB29CB0A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408" y="2544654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he-IL" sz="6000" b="1" dirty="0"/>
              <a:t>חלק ב'- </a:t>
            </a:r>
            <a:br>
              <a:rPr lang="he-IL" sz="6000" b="1" dirty="0"/>
            </a:br>
            <a:r>
              <a:rPr lang="he-IL" sz="5300" dirty="0"/>
              <a:t>פתרון שאלות בנושא עלויות היצרן</a:t>
            </a:r>
            <a:endParaRPr lang="en-IL" sz="6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9C170-7C83-4306-A192-AFECEF2AF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9444-9252-4917-847A-BFB45CC3E4C0}" type="datetime8">
              <a:rPr lang="he-IL" smtClean="0"/>
              <a:t>27 דצמבר 25</a:t>
            </a:fld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C580F4-9F79-4C7E-B18B-2765E2F8A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A981F-4466-4789-9E41-1885E502A96E}" type="slidenum">
              <a:rPr lang="he-IL" smtClean="0"/>
              <a:t>18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067437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5723" y="-36844"/>
            <a:ext cx="4876800" cy="693667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/>
              <a:t>ניתוח פונקציית הוצאות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50206" y="651594"/>
            <a:ext cx="8229600" cy="374561"/>
          </a:xfrm>
        </p:spPr>
        <p:txBody>
          <a:bodyPr>
            <a:normAutofit/>
          </a:bodyPr>
          <a:lstStyle/>
          <a:p>
            <a:pPr marL="0" indent="0" algn="r" rtl="1">
              <a:buNone/>
            </a:pPr>
            <a:r>
              <a:rPr lang="he-IL" sz="2000" b="1" dirty="0">
                <a:solidFill>
                  <a:srgbClr val="7030A0"/>
                </a:solidFill>
                <a:latin typeface="David" pitchFamily="34" charset="-79"/>
              </a:rPr>
              <a:t>שאלה 1:</a:t>
            </a:r>
            <a:r>
              <a:rPr lang="en-US" sz="2000" b="1" dirty="0">
                <a:solidFill>
                  <a:srgbClr val="7030A0"/>
                </a:solidFill>
                <a:latin typeface="David" pitchFamily="34" charset="-79"/>
              </a:rPr>
              <a:t> </a:t>
            </a:r>
            <a:r>
              <a:rPr lang="he-IL" sz="2000" dirty="0">
                <a:latin typeface="David" pitchFamily="34" charset="-79"/>
              </a:rPr>
              <a:t>להלן נתונות </a:t>
            </a:r>
            <a:r>
              <a:rPr lang="he-IL" sz="2000" dirty="0"/>
              <a:t>עלויות הייצור של יצרן הפועל בתנאי תחרות משוכללת:</a:t>
            </a:r>
            <a:endParaRPr lang="en-US" sz="2000" dirty="0"/>
          </a:p>
          <a:p>
            <a:pPr algn="r" rtl="1">
              <a:lnSpc>
                <a:spcPct val="150000"/>
              </a:lnSpc>
            </a:pPr>
            <a:endParaRPr lang="he-IL" sz="2000" dirty="0">
              <a:latin typeface="David" pitchFamily="34" charset="-79"/>
              <a:cs typeface="David" pitchFamily="34" charset="-79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he-IL" sz="2000" dirty="0">
              <a:latin typeface="David" pitchFamily="34" charset="-79"/>
              <a:cs typeface="David" pitchFamily="34" charset="-79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he-IL" sz="2400" dirty="0">
              <a:latin typeface="David" pitchFamily="34" charset="-79"/>
              <a:cs typeface="David" pitchFamily="34" charset="-79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466986" y="6367946"/>
            <a:ext cx="612820" cy="365125"/>
          </a:xfrm>
        </p:spPr>
        <p:txBody>
          <a:bodyPr/>
          <a:lstStyle/>
          <a:p>
            <a:fld id="{CBF92039-BB9D-4F46-95B7-49E6508B93B0}" type="slidenum">
              <a:rPr lang="en-US" smtClean="0"/>
              <a:t>19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1E930C-1417-4A2B-BAE2-4CBB6B2F066B}"/>
              </a:ext>
            </a:extLst>
          </p:cNvPr>
          <p:cNvSpPr txBox="1"/>
          <p:nvPr/>
        </p:nvSpPr>
        <p:spPr>
          <a:xfrm>
            <a:off x="3850206" y="789552"/>
            <a:ext cx="7171385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 rtl="1">
              <a:lnSpc>
                <a:spcPct val="150000"/>
              </a:lnSpc>
              <a:buNone/>
            </a:pPr>
            <a:r>
              <a:rPr lang="he-IL" sz="1800" dirty="0">
                <a:latin typeface="David" pitchFamily="34" charset="-79"/>
                <a:cs typeface="David" pitchFamily="34" charset="-79"/>
              </a:rPr>
              <a:t>א. השלימו את טבלת העלויות של היצרן</a:t>
            </a:r>
            <a:endParaRPr lang="en-US" sz="1800" dirty="0">
              <a:latin typeface="David" pitchFamily="34" charset="-79"/>
              <a:cs typeface="David" pitchFamily="34" charset="-79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8AE0E63-7114-4FF0-BEE8-BDDE74BB75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2746331"/>
              </p:ext>
            </p:extLst>
          </p:nvPr>
        </p:nvGraphicFramePr>
        <p:xfrm>
          <a:off x="633845" y="980747"/>
          <a:ext cx="6875613" cy="3660702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778734">
                  <a:extLst>
                    <a:ext uri="{9D8B030D-6E8A-4147-A177-3AD203B41FA5}">
                      <a16:colId xmlns:a16="http://schemas.microsoft.com/office/drawing/2014/main" val="636137096"/>
                    </a:ext>
                  </a:extLst>
                </a:gridCol>
                <a:gridCol w="1205153">
                  <a:extLst>
                    <a:ext uri="{9D8B030D-6E8A-4147-A177-3AD203B41FA5}">
                      <a16:colId xmlns:a16="http://schemas.microsoft.com/office/drawing/2014/main" val="16066013"/>
                    </a:ext>
                  </a:extLst>
                </a:gridCol>
                <a:gridCol w="761986">
                  <a:extLst>
                    <a:ext uri="{9D8B030D-6E8A-4147-A177-3AD203B41FA5}">
                      <a16:colId xmlns:a16="http://schemas.microsoft.com/office/drawing/2014/main" val="111968075"/>
                    </a:ext>
                  </a:extLst>
                </a:gridCol>
                <a:gridCol w="1126767">
                  <a:extLst>
                    <a:ext uri="{9D8B030D-6E8A-4147-A177-3AD203B41FA5}">
                      <a16:colId xmlns:a16="http://schemas.microsoft.com/office/drawing/2014/main" val="2878084837"/>
                    </a:ext>
                  </a:extLst>
                </a:gridCol>
                <a:gridCol w="987136">
                  <a:extLst>
                    <a:ext uri="{9D8B030D-6E8A-4147-A177-3AD203B41FA5}">
                      <a16:colId xmlns:a16="http://schemas.microsoft.com/office/drawing/2014/main" val="1751118781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2842310860"/>
                    </a:ext>
                  </a:extLst>
                </a:gridCol>
                <a:gridCol w="1059873">
                  <a:extLst>
                    <a:ext uri="{9D8B030D-6E8A-4147-A177-3AD203B41FA5}">
                      <a16:colId xmlns:a16="http://schemas.microsoft.com/office/drawing/2014/main" val="3327159783"/>
                    </a:ext>
                  </a:extLst>
                </a:gridCol>
              </a:tblGrid>
              <a:tr h="384201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400" b="1" dirty="0">
                          <a:effectLst/>
                        </a:rPr>
                        <a:t>כמות </a:t>
                      </a:r>
                      <a:r>
                        <a:rPr lang="en-US" sz="1400" b="1" dirty="0">
                          <a:effectLst/>
                        </a:rPr>
                        <a:t>X</a:t>
                      </a:r>
                      <a:endParaRPr lang="en-IL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en-US" sz="1400" b="1" dirty="0">
                          <a:effectLst/>
                        </a:rPr>
                        <a:t>TC</a:t>
                      </a:r>
                      <a:r>
                        <a:rPr lang="he-IL" sz="1400" b="1" dirty="0">
                          <a:effectLst/>
                        </a:rPr>
                        <a:t>=עלות כוללת</a:t>
                      </a:r>
                      <a:endParaRPr lang="en-IL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en-US" sz="1400" b="1" dirty="0">
                          <a:effectLst/>
                        </a:rPr>
                        <a:t>FC</a:t>
                      </a:r>
                      <a:r>
                        <a:rPr lang="he-IL" sz="1400" b="1" dirty="0">
                          <a:effectLst/>
                        </a:rPr>
                        <a:t>= עלות קבועה</a:t>
                      </a:r>
                      <a:endParaRPr lang="en-IL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en-US" sz="1400" b="1" dirty="0">
                          <a:effectLst/>
                        </a:rPr>
                        <a:t>ATC</a:t>
                      </a:r>
                      <a:r>
                        <a:rPr lang="he-IL" sz="1400" b="1" dirty="0">
                          <a:effectLst/>
                        </a:rPr>
                        <a:t>= עלות כוללת ממוצעת</a:t>
                      </a:r>
                      <a:endParaRPr lang="en-IL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en-US" sz="1400" b="1" dirty="0">
                          <a:effectLst/>
                        </a:rPr>
                        <a:t>VC</a:t>
                      </a:r>
                      <a:r>
                        <a:rPr lang="he-IL" sz="1400" b="1" dirty="0">
                          <a:effectLst/>
                        </a:rPr>
                        <a:t>= עלות משתנה</a:t>
                      </a:r>
                      <a:endParaRPr lang="en-IL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en-US" sz="1400" b="1" dirty="0">
                          <a:effectLst/>
                        </a:rPr>
                        <a:t>AVC</a:t>
                      </a:r>
                      <a:r>
                        <a:rPr lang="he-IL" sz="1400" b="1" dirty="0">
                          <a:effectLst/>
                        </a:rPr>
                        <a:t>= עלות משתנה ממוצעת</a:t>
                      </a:r>
                      <a:endParaRPr lang="en-IL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en-US" sz="1400" b="1" dirty="0">
                          <a:effectLst/>
                        </a:rPr>
                        <a:t>MC</a:t>
                      </a:r>
                      <a:r>
                        <a:rPr lang="he-IL" sz="1400" b="1" dirty="0">
                          <a:effectLst/>
                        </a:rPr>
                        <a:t>= עלות שולית</a:t>
                      </a:r>
                      <a:endParaRPr lang="en-IL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37260"/>
                  </a:ext>
                </a:extLst>
              </a:tr>
              <a:tr h="463301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>
                          <a:effectLst/>
                        </a:rPr>
                        <a:t>0</a:t>
                      </a:r>
                      <a:endParaRPr lang="en-IL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  <a:highlight>
                            <a:srgbClr val="00FF00"/>
                          </a:highlight>
                        </a:rPr>
                        <a:t> 5</a:t>
                      </a:r>
                      <a:endParaRPr lang="en-IL" sz="1600" dirty="0">
                        <a:effectLst/>
                        <a:highlight>
                          <a:srgbClr val="00FF00"/>
                        </a:highlight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</a:rPr>
                        <a:t> -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40522227"/>
                  </a:ext>
                </a:extLst>
              </a:tr>
              <a:tr h="442961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>
                          <a:effectLst/>
                        </a:rPr>
                        <a:t>1</a:t>
                      </a:r>
                      <a:endParaRPr lang="en-IL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  <a:highlight>
                            <a:srgbClr val="00FF00"/>
                          </a:highlight>
                        </a:rPr>
                        <a:t>6</a:t>
                      </a:r>
                      <a:endParaRPr lang="en-IL" sz="1600" dirty="0">
                        <a:effectLst/>
                        <a:highlight>
                          <a:srgbClr val="00FF00"/>
                        </a:highlight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64979487"/>
                  </a:ext>
                </a:extLst>
              </a:tr>
              <a:tr h="463301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>
                          <a:effectLst/>
                        </a:rPr>
                        <a:t>2</a:t>
                      </a:r>
                      <a:endParaRPr lang="en-IL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  <a:highlight>
                            <a:srgbClr val="00FF00"/>
                          </a:highlight>
                        </a:rPr>
                        <a:t>5</a:t>
                      </a:r>
                      <a:endParaRPr lang="en-IL" sz="1600" dirty="0">
                        <a:effectLst/>
                        <a:highlight>
                          <a:srgbClr val="00FF00"/>
                        </a:highlight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34917766"/>
                  </a:ext>
                </a:extLst>
              </a:tr>
              <a:tr h="497201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>
                          <a:effectLst/>
                        </a:rPr>
                        <a:t>3</a:t>
                      </a:r>
                      <a:endParaRPr lang="en-IL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  <a:highlight>
                            <a:srgbClr val="00FF00"/>
                          </a:highlight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David" panose="020E0502060401010101" pitchFamily="34" charset="-79"/>
                        </a:rPr>
                        <a:t>7.667</a:t>
                      </a:r>
                      <a:endParaRPr lang="en-US" sz="1600" dirty="0">
                        <a:effectLst/>
                        <a:highlight>
                          <a:srgbClr val="00FF00"/>
                        </a:highlight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01388888"/>
                  </a:ext>
                </a:extLst>
              </a:tr>
              <a:tr h="442961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</a:rPr>
                        <a:t>4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  <a:highlight>
                            <a:srgbClr val="00FF00"/>
                          </a:highlight>
                        </a:rPr>
                        <a:t>9</a:t>
                      </a:r>
                      <a:endParaRPr lang="en-IL" sz="1600" dirty="0">
                        <a:effectLst/>
                        <a:highlight>
                          <a:srgbClr val="00FF00"/>
                        </a:highlight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28315731"/>
                  </a:ext>
                </a:extLst>
              </a:tr>
              <a:tr h="429401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>
                          <a:effectLst/>
                        </a:rPr>
                        <a:t>5</a:t>
                      </a:r>
                      <a:endParaRPr lang="en-IL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  <a:highlight>
                            <a:srgbClr val="00FF00"/>
                          </a:highlight>
                        </a:rPr>
                        <a:t>38</a:t>
                      </a:r>
                      <a:endParaRPr lang="en-IL" sz="1600" dirty="0">
                        <a:effectLst/>
                        <a:highlight>
                          <a:srgbClr val="00FF00"/>
                        </a:highlight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</a:rPr>
                        <a:t> 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2034709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C876F27-4AA0-4808-BAC5-3F9049B3AD38}"/>
              </a:ext>
            </a:extLst>
          </p:cNvPr>
          <p:cNvSpPr txBox="1"/>
          <p:nvPr/>
        </p:nvSpPr>
        <p:spPr>
          <a:xfrm>
            <a:off x="774796" y="4722800"/>
            <a:ext cx="10988812" cy="213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 rtl="1">
              <a:lnSpc>
                <a:spcPct val="150000"/>
              </a:lnSpc>
              <a:buNone/>
            </a:pPr>
            <a:r>
              <a:rPr lang="he-IL" dirty="0">
                <a:latin typeface="David" pitchFamily="34" charset="-79"/>
                <a:cs typeface="David" pitchFamily="34" charset="-79"/>
              </a:rPr>
              <a:t>ב. </a:t>
            </a:r>
            <a:r>
              <a:rPr lang="he-IL" sz="1800" dirty="0">
                <a:latin typeface="David" pitchFamily="34" charset="-79"/>
                <a:cs typeface="David" pitchFamily="34" charset="-79"/>
              </a:rPr>
              <a:t>בחרו בתשובה הנכונה:</a:t>
            </a:r>
          </a:p>
          <a:p>
            <a:pPr marL="342900" indent="-342900" algn="r" rtl="1">
              <a:lnSpc>
                <a:spcPct val="150000"/>
              </a:lnSpc>
              <a:buAutoNum type="arabicPeriod"/>
            </a:pPr>
            <a:r>
              <a:rPr lang="he-IL" dirty="0">
                <a:latin typeface="David" pitchFamily="34" charset="-79"/>
                <a:cs typeface="David" pitchFamily="34" charset="-79"/>
              </a:rPr>
              <a:t>העלות הכוללת הממוצעת (</a:t>
            </a:r>
            <a:r>
              <a:rPr lang="en-US" dirty="0">
                <a:latin typeface="David" pitchFamily="34" charset="-79"/>
                <a:cs typeface="David" pitchFamily="34" charset="-79"/>
              </a:rPr>
              <a:t>ATC</a:t>
            </a:r>
            <a:r>
              <a:rPr lang="he-IL" dirty="0">
                <a:latin typeface="David" pitchFamily="34" charset="-79"/>
                <a:cs typeface="David" pitchFamily="34" charset="-79"/>
              </a:rPr>
              <a:t>) הגבוהה ביותר מתקבלת בייצור היחידה השלישית.</a:t>
            </a:r>
            <a:r>
              <a:rPr lang="en-US" dirty="0">
                <a:latin typeface="David" pitchFamily="34" charset="-79"/>
                <a:cs typeface="David" pitchFamily="34" charset="-79"/>
              </a:rPr>
              <a:t> </a:t>
            </a:r>
            <a:endParaRPr lang="he-IL" dirty="0">
              <a:latin typeface="David" pitchFamily="34" charset="-79"/>
              <a:cs typeface="David" pitchFamily="34" charset="-79"/>
            </a:endParaRPr>
          </a:p>
          <a:p>
            <a:pPr marL="342900" indent="-342900" algn="r" rtl="1">
              <a:lnSpc>
                <a:spcPct val="150000"/>
              </a:lnSpc>
              <a:buAutoNum type="arabicPeriod"/>
            </a:pPr>
            <a:r>
              <a:rPr lang="he-IL" sz="1800" dirty="0">
                <a:latin typeface="David" pitchFamily="34" charset="-79"/>
                <a:cs typeface="David" pitchFamily="34" charset="-79"/>
              </a:rPr>
              <a:t>כאשר מחיר השוק הינו 12 ש''ח, המחיר ליחידת מוצר גבוה מהעלות השולית לכל יחידה מיוצרת (עד וכולל 5 יחידות). </a:t>
            </a:r>
          </a:p>
          <a:p>
            <a:pPr marL="342900" indent="-342900" algn="r" rtl="1">
              <a:lnSpc>
                <a:spcPct val="150000"/>
              </a:lnSpc>
              <a:buAutoNum type="arabicPeriod"/>
            </a:pPr>
            <a:r>
              <a:rPr lang="he-IL" dirty="0">
                <a:latin typeface="David" pitchFamily="34" charset="-79"/>
                <a:cs typeface="David" pitchFamily="34" charset="-79"/>
              </a:rPr>
              <a:t>ככל שהיצרן מייצר יותר, העלות הקבועה הולכת וקטנה. </a:t>
            </a:r>
          </a:p>
          <a:p>
            <a:pPr marL="342900" indent="-342900" algn="r" rtl="1">
              <a:lnSpc>
                <a:spcPct val="150000"/>
              </a:lnSpc>
              <a:buAutoNum type="arabicPeriod"/>
            </a:pPr>
            <a:r>
              <a:rPr lang="he-IL" sz="1800" dirty="0">
                <a:latin typeface="David" pitchFamily="34" charset="-79"/>
                <a:cs typeface="David" pitchFamily="34" charset="-79"/>
              </a:rPr>
              <a:t>כל התשובות האחרות לא נכונות. </a:t>
            </a:r>
            <a:endParaRPr lang="en-US" sz="1800" dirty="0">
              <a:latin typeface="David" pitchFamily="34" charset="-79"/>
              <a:cs typeface="David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8594188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878D0-F4B1-7CB4-5553-6FA9B9810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9DED4-E0E9-2143-D5EC-6CE5E24FE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5723" y="-36844"/>
            <a:ext cx="4876800" cy="693667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/>
              <a:t>ניתוח פונקציית הוצאות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1BEA2-D08E-C186-91C0-E75BE20C15D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850206" y="651594"/>
            <a:ext cx="8229600" cy="374561"/>
          </a:xfrm>
        </p:spPr>
        <p:txBody>
          <a:bodyPr>
            <a:normAutofit/>
          </a:bodyPr>
          <a:lstStyle/>
          <a:p>
            <a:pPr marL="0" indent="0" algn="r" rtl="1">
              <a:buNone/>
            </a:pPr>
            <a:r>
              <a:rPr lang="he-IL" sz="2000" b="1" dirty="0">
                <a:solidFill>
                  <a:srgbClr val="7030A0"/>
                </a:solidFill>
                <a:latin typeface="David" pitchFamily="34" charset="-79"/>
              </a:rPr>
              <a:t>שאלה 1:</a:t>
            </a:r>
            <a:r>
              <a:rPr lang="en-US" sz="2000" b="1" dirty="0">
                <a:solidFill>
                  <a:srgbClr val="7030A0"/>
                </a:solidFill>
                <a:latin typeface="David" pitchFamily="34" charset="-79"/>
              </a:rPr>
              <a:t> </a:t>
            </a:r>
            <a:r>
              <a:rPr lang="he-IL" sz="2000" dirty="0">
                <a:latin typeface="David" pitchFamily="34" charset="-79"/>
              </a:rPr>
              <a:t>להלן נתונות </a:t>
            </a:r>
            <a:r>
              <a:rPr lang="he-IL" sz="2000" dirty="0"/>
              <a:t>עלויות הייצור של יצרן הפועל בתנאי תחרות משוכללת:</a:t>
            </a:r>
            <a:endParaRPr lang="en-US" sz="2000" dirty="0"/>
          </a:p>
          <a:p>
            <a:pPr algn="r" rtl="1">
              <a:lnSpc>
                <a:spcPct val="150000"/>
              </a:lnSpc>
            </a:pPr>
            <a:endParaRPr lang="he-IL" sz="2000" dirty="0">
              <a:latin typeface="David" pitchFamily="34" charset="-79"/>
              <a:cs typeface="David" pitchFamily="34" charset="-79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he-IL" sz="2000" dirty="0">
              <a:latin typeface="David" pitchFamily="34" charset="-79"/>
              <a:cs typeface="David" pitchFamily="34" charset="-79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he-IL" sz="2400" dirty="0">
              <a:latin typeface="David" pitchFamily="34" charset="-79"/>
              <a:cs typeface="David" pitchFamily="34" charset="-79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9A8AD4-C57D-5E46-79BE-0FC373D44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6986" y="6367946"/>
            <a:ext cx="612820" cy="365125"/>
          </a:xfrm>
        </p:spPr>
        <p:txBody>
          <a:bodyPr/>
          <a:lstStyle/>
          <a:p>
            <a:fld id="{CBF92039-BB9D-4F46-95B7-49E6508B93B0}" type="slidenum">
              <a:rPr lang="en-US" smtClean="0"/>
              <a:t>20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89EA0A-D35E-04B2-219B-28ACDC6F459A}"/>
              </a:ext>
            </a:extLst>
          </p:cNvPr>
          <p:cNvSpPr txBox="1"/>
          <p:nvPr/>
        </p:nvSpPr>
        <p:spPr>
          <a:xfrm>
            <a:off x="3850206" y="789552"/>
            <a:ext cx="7171385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 rtl="1">
              <a:lnSpc>
                <a:spcPct val="150000"/>
              </a:lnSpc>
              <a:buNone/>
            </a:pPr>
            <a:r>
              <a:rPr lang="he-IL" sz="1800" dirty="0">
                <a:latin typeface="David" pitchFamily="34" charset="-79"/>
                <a:cs typeface="David" pitchFamily="34" charset="-79"/>
              </a:rPr>
              <a:t>א. השלימו את טבלת העלויות של היצרן</a:t>
            </a:r>
            <a:endParaRPr lang="en-US" sz="1800" dirty="0">
              <a:latin typeface="David" pitchFamily="34" charset="-79"/>
              <a:cs typeface="David" pitchFamily="34" charset="-79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4CE069B-27E9-2E14-1856-3A4E6B5DEBB5}"/>
              </a:ext>
            </a:extLst>
          </p:cNvPr>
          <p:cNvGraphicFramePr>
            <a:graphicFrameLocks noGrp="1"/>
          </p:cNvGraphicFramePr>
          <p:nvPr/>
        </p:nvGraphicFramePr>
        <p:xfrm>
          <a:off x="633845" y="980747"/>
          <a:ext cx="6875613" cy="3910145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778734">
                  <a:extLst>
                    <a:ext uri="{9D8B030D-6E8A-4147-A177-3AD203B41FA5}">
                      <a16:colId xmlns:a16="http://schemas.microsoft.com/office/drawing/2014/main" val="636137096"/>
                    </a:ext>
                  </a:extLst>
                </a:gridCol>
                <a:gridCol w="1205153">
                  <a:extLst>
                    <a:ext uri="{9D8B030D-6E8A-4147-A177-3AD203B41FA5}">
                      <a16:colId xmlns:a16="http://schemas.microsoft.com/office/drawing/2014/main" val="16066013"/>
                    </a:ext>
                  </a:extLst>
                </a:gridCol>
                <a:gridCol w="761986">
                  <a:extLst>
                    <a:ext uri="{9D8B030D-6E8A-4147-A177-3AD203B41FA5}">
                      <a16:colId xmlns:a16="http://schemas.microsoft.com/office/drawing/2014/main" val="111968075"/>
                    </a:ext>
                  </a:extLst>
                </a:gridCol>
                <a:gridCol w="1126767">
                  <a:extLst>
                    <a:ext uri="{9D8B030D-6E8A-4147-A177-3AD203B41FA5}">
                      <a16:colId xmlns:a16="http://schemas.microsoft.com/office/drawing/2014/main" val="2878084837"/>
                    </a:ext>
                  </a:extLst>
                </a:gridCol>
                <a:gridCol w="987136">
                  <a:extLst>
                    <a:ext uri="{9D8B030D-6E8A-4147-A177-3AD203B41FA5}">
                      <a16:colId xmlns:a16="http://schemas.microsoft.com/office/drawing/2014/main" val="1751118781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2842310860"/>
                    </a:ext>
                  </a:extLst>
                </a:gridCol>
                <a:gridCol w="1059873">
                  <a:extLst>
                    <a:ext uri="{9D8B030D-6E8A-4147-A177-3AD203B41FA5}">
                      <a16:colId xmlns:a16="http://schemas.microsoft.com/office/drawing/2014/main" val="3327159783"/>
                    </a:ext>
                  </a:extLst>
                </a:gridCol>
              </a:tblGrid>
              <a:tr h="384201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400" b="1" dirty="0">
                          <a:effectLst/>
                        </a:rPr>
                        <a:t>כמות </a:t>
                      </a:r>
                      <a:r>
                        <a:rPr lang="en-US" sz="1400" b="1" dirty="0">
                          <a:effectLst/>
                        </a:rPr>
                        <a:t>Q</a:t>
                      </a:r>
                      <a:endParaRPr lang="en-IL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en-US" sz="1400" b="1" dirty="0">
                          <a:effectLst/>
                        </a:rPr>
                        <a:t>TC</a:t>
                      </a:r>
                      <a:r>
                        <a:rPr lang="he-IL" sz="1400" b="1" dirty="0">
                          <a:effectLst/>
                        </a:rPr>
                        <a:t>=עלות כוללת</a:t>
                      </a:r>
                      <a:endParaRPr lang="en-IL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en-US" sz="1400" b="1" dirty="0">
                          <a:effectLst/>
                        </a:rPr>
                        <a:t>FC</a:t>
                      </a:r>
                      <a:r>
                        <a:rPr lang="he-IL" sz="1400" b="1" dirty="0">
                          <a:effectLst/>
                        </a:rPr>
                        <a:t>= עלות קבועה</a:t>
                      </a:r>
                      <a:endParaRPr lang="en-IL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en-US" sz="1400" b="1" dirty="0">
                          <a:effectLst/>
                        </a:rPr>
                        <a:t>ATC</a:t>
                      </a:r>
                      <a:r>
                        <a:rPr lang="he-IL" sz="1400" b="1" dirty="0">
                          <a:effectLst/>
                        </a:rPr>
                        <a:t>= עלות כוללת ממוצעת</a:t>
                      </a:r>
                      <a:endParaRPr lang="en-IL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en-US" sz="1400" b="1" dirty="0">
                          <a:effectLst/>
                        </a:rPr>
                        <a:t>VC</a:t>
                      </a:r>
                      <a:r>
                        <a:rPr lang="he-IL" sz="1400" b="1" dirty="0">
                          <a:effectLst/>
                        </a:rPr>
                        <a:t>= עלות משתנה</a:t>
                      </a:r>
                      <a:endParaRPr lang="en-IL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en-US" sz="1400" b="1" dirty="0">
                          <a:effectLst/>
                        </a:rPr>
                        <a:t>AVC</a:t>
                      </a:r>
                      <a:r>
                        <a:rPr lang="he-IL" sz="1400" b="1" dirty="0">
                          <a:effectLst/>
                        </a:rPr>
                        <a:t>= עלות משתנה ממוצעת</a:t>
                      </a:r>
                      <a:endParaRPr lang="en-IL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en-US" sz="1400" b="1" dirty="0">
                          <a:effectLst/>
                        </a:rPr>
                        <a:t>MC</a:t>
                      </a:r>
                      <a:r>
                        <a:rPr lang="he-IL" sz="1400" b="1" dirty="0">
                          <a:effectLst/>
                        </a:rPr>
                        <a:t>= עלות שולית</a:t>
                      </a:r>
                      <a:endParaRPr lang="en-IL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37260"/>
                  </a:ext>
                </a:extLst>
              </a:tr>
              <a:tr h="463301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>
                          <a:effectLst/>
                        </a:rPr>
                        <a:t>0</a:t>
                      </a:r>
                      <a:endParaRPr lang="en-IL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David" panose="020E0502060401010101" pitchFamily="34" charset="-79"/>
                        </a:rPr>
                        <a:t>5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  <a:highlight>
                            <a:srgbClr val="00FF00"/>
                          </a:highlight>
                        </a:rPr>
                        <a:t> 5</a:t>
                      </a:r>
                      <a:endParaRPr lang="en-IL" sz="1600" dirty="0">
                        <a:effectLst/>
                        <a:highlight>
                          <a:srgbClr val="00FF00"/>
                        </a:highlight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</a:rPr>
                        <a:t> -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</a:rPr>
                        <a:t> 0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</a:rPr>
                        <a:t>- 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</a:rPr>
                        <a:t> -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40522227"/>
                  </a:ext>
                </a:extLst>
              </a:tr>
              <a:tr h="442961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>
                          <a:effectLst/>
                        </a:rPr>
                        <a:t>1</a:t>
                      </a:r>
                      <a:endParaRPr lang="en-IL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</a:rPr>
                        <a:t> </a:t>
                      </a:r>
                      <a:r>
                        <a:rPr lang="en-US" sz="1600" dirty="0">
                          <a:effectLst/>
                        </a:rPr>
                        <a:t>6+5=11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</a:rPr>
                        <a:t> 5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</a:rPr>
                        <a:t> </a:t>
                      </a:r>
                      <a:r>
                        <a:rPr lang="en-US" sz="1600" dirty="0">
                          <a:effectLst/>
                        </a:rPr>
                        <a:t>11/1=11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</a:rPr>
                        <a:t> </a:t>
                      </a:r>
                      <a:r>
                        <a:rPr lang="en-US" sz="1600" dirty="0">
                          <a:effectLst/>
                        </a:rPr>
                        <a:t>6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</a:rPr>
                        <a:t> </a:t>
                      </a:r>
                      <a:r>
                        <a:rPr lang="en-US" sz="1600" dirty="0">
                          <a:effectLst/>
                        </a:rPr>
                        <a:t>6/1=6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  <a:highlight>
                            <a:srgbClr val="00FF00"/>
                          </a:highlight>
                        </a:rPr>
                        <a:t>6</a:t>
                      </a:r>
                      <a:endParaRPr lang="en-IL" sz="1600" dirty="0">
                        <a:effectLst/>
                        <a:highlight>
                          <a:srgbClr val="00FF00"/>
                        </a:highlight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64979487"/>
                  </a:ext>
                </a:extLst>
              </a:tr>
              <a:tr h="463301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>
                          <a:effectLst/>
                        </a:rPr>
                        <a:t>2</a:t>
                      </a:r>
                      <a:endParaRPr lang="en-IL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en-US" sz="1600" dirty="0">
                          <a:effectLst/>
                        </a:rPr>
                        <a:t>5+10=15</a:t>
                      </a:r>
                      <a:r>
                        <a:rPr lang="he-IL" sz="1600" dirty="0">
                          <a:effectLst/>
                        </a:rPr>
                        <a:t> 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</a:rPr>
                        <a:t>5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</a:rPr>
                        <a:t> </a:t>
                      </a:r>
                      <a:r>
                        <a:rPr lang="en-US" sz="1600" dirty="0">
                          <a:effectLst/>
                        </a:rPr>
                        <a:t>15/2=7.5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</a:rPr>
                        <a:t> </a:t>
                      </a:r>
                      <a:r>
                        <a:rPr lang="en-US" sz="1600" dirty="0">
                          <a:effectLst/>
                        </a:rPr>
                        <a:t>5*2=10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  <a:highlight>
                            <a:srgbClr val="00FF00"/>
                          </a:highlight>
                        </a:rPr>
                        <a:t>5</a:t>
                      </a:r>
                      <a:endParaRPr lang="en-IL" sz="1600" dirty="0">
                        <a:effectLst/>
                        <a:highlight>
                          <a:srgbClr val="00FF00"/>
                        </a:highlight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en-US" sz="1600" dirty="0">
                          <a:effectLst/>
                        </a:rPr>
                        <a:t>10-6=4</a:t>
                      </a:r>
                      <a:r>
                        <a:rPr lang="he-IL" sz="1600" dirty="0">
                          <a:effectLst/>
                        </a:rPr>
                        <a:t> 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34917766"/>
                  </a:ext>
                </a:extLst>
              </a:tr>
              <a:tr h="497201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>
                          <a:effectLst/>
                        </a:rPr>
                        <a:t>3</a:t>
                      </a:r>
                      <a:endParaRPr lang="en-IL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</a:rPr>
                        <a:t> </a:t>
                      </a:r>
                      <a:r>
                        <a:rPr lang="en-US" sz="1600" dirty="0">
                          <a:effectLst/>
                        </a:rPr>
                        <a:t>7.667*3=23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</a:rPr>
                        <a:t>5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  <a:highlight>
                            <a:srgbClr val="00FF00"/>
                          </a:highlight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David" panose="020E0502060401010101" pitchFamily="34" charset="-79"/>
                        </a:rPr>
                        <a:t>7.667</a:t>
                      </a:r>
                      <a:endParaRPr lang="en-US" sz="1600" dirty="0">
                        <a:effectLst/>
                        <a:highlight>
                          <a:srgbClr val="00FF00"/>
                        </a:highlight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en-US" sz="1600" dirty="0">
                          <a:effectLst/>
                        </a:rPr>
                        <a:t>23-5=18 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</a:rPr>
                        <a:t> </a:t>
                      </a:r>
                      <a:r>
                        <a:rPr lang="en-US" sz="1600" dirty="0">
                          <a:effectLst/>
                        </a:rPr>
                        <a:t>18/3=6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</a:rPr>
                        <a:t> </a:t>
                      </a:r>
                      <a:r>
                        <a:rPr lang="en-US" sz="1600" dirty="0">
                          <a:effectLst/>
                        </a:rPr>
                        <a:t>18-10=8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01388888"/>
                  </a:ext>
                </a:extLst>
              </a:tr>
              <a:tr h="442961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</a:rPr>
                        <a:t>4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en-US" sz="1600" dirty="0">
                          <a:effectLst/>
                        </a:rPr>
                        <a:t>27+5=32</a:t>
                      </a:r>
                      <a:r>
                        <a:rPr lang="he-IL" sz="1600" dirty="0">
                          <a:effectLst/>
                        </a:rPr>
                        <a:t> 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</a:rPr>
                        <a:t> 5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</a:rPr>
                        <a:t> </a:t>
                      </a:r>
                      <a:r>
                        <a:rPr lang="en-US" sz="1600" dirty="0">
                          <a:effectLst/>
                        </a:rPr>
                        <a:t>32/4=8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</a:rPr>
                        <a:t> </a:t>
                      </a:r>
                      <a:r>
                        <a:rPr lang="en-US" sz="1600" dirty="0">
                          <a:effectLst/>
                        </a:rPr>
                        <a:t>9+18=27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</a:rPr>
                        <a:t> </a:t>
                      </a:r>
                      <a:r>
                        <a:rPr lang="en-US" sz="1600" dirty="0">
                          <a:effectLst/>
                        </a:rPr>
                        <a:t>27/4=6.75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  <a:highlight>
                            <a:srgbClr val="00FF00"/>
                          </a:highlight>
                        </a:rPr>
                        <a:t>9</a:t>
                      </a:r>
                      <a:endParaRPr lang="en-IL" sz="1600" dirty="0">
                        <a:effectLst/>
                        <a:highlight>
                          <a:srgbClr val="00FF00"/>
                        </a:highlight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28315731"/>
                  </a:ext>
                </a:extLst>
              </a:tr>
              <a:tr h="429401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>
                          <a:effectLst/>
                        </a:rPr>
                        <a:t>5</a:t>
                      </a:r>
                      <a:endParaRPr lang="en-IL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</a:rPr>
                        <a:t> </a:t>
                      </a:r>
                      <a:r>
                        <a:rPr lang="en-US" sz="1600" dirty="0">
                          <a:effectLst/>
                        </a:rPr>
                        <a:t>38+5=43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</a:rPr>
                        <a:t> 5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</a:rPr>
                        <a:t> </a:t>
                      </a:r>
                      <a:r>
                        <a:rPr lang="en-US" sz="1600" dirty="0">
                          <a:effectLst/>
                        </a:rPr>
                        <a:t>43/5=8.6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  <a:highlight>
                            <a:srgbClr val="00FF00"/>
                          </a:highlight>
                        </a:rPr>
                        <a:t>38</a:t>
                      </a:r>
                      <a:endParaRPr lang="en-IL" sz="1600" dirty="0">
                        <a:effectLst/>
                        <a:highlight>
                          <a:srgbClr val="00FF00"/>
                        </a:highlight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</a:rPr>
                        <a:t> </a:t>
                      </a:r>
                      <a:r>
                        <a:rPr lang="en-US" sz="1600" dirty="0">
                          <a:effectLst/>
                        </a:rPr>
                        <a:t>38/5=7.6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</a:rPr>
                        <a:t> </a:t>
                      </a:r>
                      <a:r>
                        <a:rPr lang="en-US" sz="1600" dirty="0">
                          <a:effectLst/>
                        </a:rPr>
                        <a:t>43-32=11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2034709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E676E5F-C490-27EB-EF1F-E3043B825AB9}"/>
              </a:ext>
            </a:extLst>
          </p:cNvPr>
          <p:cNvSpPr txBox="1"/>
          <p:nvPr/>
        </p:nvSpPr>
        <p:spPr>
          <a:xfrm>
            <a:off x="774796" y="4722800"/>
            <a:ext cx="10988812" cy="213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 rtl="1">
              <a:lnSpc>
                <a:spcPct val="150000"/>
              </a:lnSpc>
              <a:buNone/>
            </a:pPr>
            <a:r>
              <a:rPr lang="he-IL" dirty="0">
                <a:latin typeface="David" pitchFamily="34" charset="-79"/>
                <a:cs typeface="David" pitchFamily="34" charset="-79"/>
              </a:rPr>
              <a:t>ב. </a:t>
            </a:r>
            <a:r>
              <a:rPr lang="he-IL" sz="1800" dirty="0">
                <a:latin typeface="David" pitchFamily="34" charset="-79"/>
                <a:cs typeface="David" pitchFamily="34" charset="-79"/>
              </a:rPr>
              <a:t>בחרו בתשובה הנכונה:</a:t>
            </a:r>
          </a:p>
          <a:p>
            <a:pPr marL="342900" indent="-342900" algn="r" rtl="1">
              <a:lnSpc>
                <a:spcPct val="150000"/>
              </a:lnSpc>
              <a:buAutoNum type="arabicPeriod"/>
            </a:pPr>
            <a:r>
              <a:rPr lang="he-IL" dirty="0">
                <a:latin typeface="David" pitchFamily="34" charset="-79"/>
                <a:cs typeface="David" pitchFamily="34" charset="-79"/>
              </a:rPr>
              <a:t>העלות הכוללת הממוצעת (</a:t>
            </a:r>
            <a:r>
              <a:rPr lang="en-US" dirty="0">
                <a:latin typeface="David" pitchFamily="34" charset="-79"/>
                <a:cs typeface="David" pitchFamily="34" charset="-79"/>
              </a:rPr>
              <a:t>ATC</a:t>
            </a:r>
            <a:r>
              <a:rPr lang="he-IL" dirty="0">
                <a:latin typeface="David" pitchFamily="34" charset="-79"/>
                <a:cs typeface="David" pitchFamily="34" charset="-79"/>
              </a:rPr>
              <a:t>) הגבוהה ביותר מתקבלת בייצור היחידה השלישית.</a:t>
            </a:r>
            <a:r>
              <a:rPr lang="en-US" dirty="0">
                <a:latin typeface="David" pitchFamily="34" charset="-79"/>
                <a:cs typeface="David" pitchFamily="34" charset="-79"/>
              </a:rPr>
              <a:t> </a:t>
            </a:r>
            <a:endParaRPr lang="he-IL" dirty="0">
              <a:latin typeface="David" pitchFamily="34" charset="-79"/>
              <a:cs typeface="David" pitchFamily="34" charset="-79"/>
            </a:endParaRPr>
          </a:p>
          <a:p>
            <a:pPr marL="342900" indent="-342900" algn="r" rtl="1">
              <a:lnSpc>
                <a:spcPct val="150000"/>
              </a:lnSpc>
              <a:buAutoNum type="arabicPeriod"/>
            </a:pPr>
            <a:r>
              <a:rPr lang="he-IL" sz="1800" dirty="0">
                <a:latin typeface="David" pitchFamily="34" charset="-79"/>
                <a:cs typeface="David" pitchFamily="34" charset="-79"/>
              </a:rPr>
              <a:t>כאשר מחיר השוק הינו 12 ש''ח, המחיר ליחידת מוצר גבוה מהעלות השולית לכל יחידה מיוצרת (עד וכולל 5 יחידות). </a:t>
            </a:r>
          </a:p>
          <a:p>
            <a:pPr marL="342900" indent="-342900" algn="r" rtl="1">
              <a:lnSpc>
                <a:spcPct val="150000"/>
              </a:lnSpc>
              <a:buAutoNum type="arabicPeriod"/>
            </a:pPr>
            <a:r>
              <a:rPr lang="he-IL" dirty="0">
                <a:latin typeface="David" pitchFamily="34" charset="-79"/>
                <a:cs typeface="David" pitchFamily="34" charset="-79"/>
              </a:rPr>
              <a:t>ככל שהיצרן מייצר יותר, העלות הקבועה הולכת וקטנה. </a:t>
            </a:r>
          </a:p>
          <a:p>
            <a:pPr marL="342900" indent="-342900" algn="r" rtl="1">
              <a:lnSpc>
                <a:spcPct val="150000"/>
              </a:lnSpc>
              <a:buAutoNum type="arabicPeriod"/>
            </a:pPr>
            <a:r>
              <a:rPr lang="he-IL" sz="1800" dirty="0">
                <a:latin typeface="David" pitchFamily="34" charset="-79"/>
                <a:cs typeface="David" pitchFamily="34" charset="-79"/>
              </a:rPr>
              <a:t>כל התשובות האחרות לא נכונות. </a:t>
            </a:r>
            <a:endParaRPr lang="en-US" sz="1800" dirty="0">
              <a:latin typeface="David" pitchFamily="34" charset="-79"/>
              <a:cs typeface="David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883455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50206" y="651594"/>
            <a:ext cx="8229600" cy="374561"/>
          </a:xfrm>
        </p:spPr>
        <p:txBody>
          <a:bodyPr>
            <a:normAutofit/>
          </a:bodyPr>
          <a:lstStyle/>
          <a:p>
            <a:pPr marL="0" indent="0" algn="r" rtl="1">
              <a:buNone/>
            </a:pPr>
            <a:r>
              <a:rPr lang="he-IL" sz="2000" b="1" dirty="0">
                <a:solidFill>
                  <a:srgbClr val="7030A0"/>
                </a:solidFill>
                <a:latin typeface="David" pitchFamily="34" charset="-79"/>
              </a:rPr>
              <a:t>שאלה 1:</a:t>
            </a:r>
            <a:r>
              <a:rPr lang="en-US" sz="2000" b="1" dirty="0">
                <a:solidFill>
                  <a:srgbClr val="7030A0"/>
                </a:solidFill>
                <a:latin typeface="David" pitchFamily="34" charset="-79"/>
              </a:rPr>
              <a:t> </a:t>
            </a:r>
            <a:r>
              <a:rPr lang="he-IL" sz="2000" dirty="0">
                <a:latin typeface="David" pitchFamily="34" charset="-79"/>
              </a:rPr>
              <a:t>להלן נתונות </a:t>
            </a:r>
            <a:r>
              <a:rPr lang="he-IL" sz="2000" dirty="0"/>
              <a:t>עלויות הייצור של יצרן הפועל בתנאי תחרות משוכללת:</a:t>
            </a:r>
            <a:endParaRPr lang="en-US" sz="2000" dirty="0"/>
          </a:p>
          <a:p>
            <a:pPr algn="r" rtl="1">
              <a:lnSpc>
                <a:spcPct val="150000"/>
              </a:lnSpc>
            </a:pPr>
            <a:endParaRPr lang="he-IL" sz="2000" dirty="0">
              <a:latin typeface="David" pitchFamily="34" charset="-79"/>
              <a:cs typeface="David" pitchFamily="34" charset="-79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he-IL" sz="2000" dirty="0">
              <a:latin typeface="David" pitchFamily="34" charset="-79"/>
              <a:cs typeface="David" pitchFamily="34" charset="-79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he-IL" sz="2400" dirty="0">
              <a:latin typeface="David" pitchFamily="34" charset="-79"/>
              <a:cs typeface="David" pitchFamily="34" charset="-79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466986" y="6367946"/>
            <a:ext cx="612820" cy="365125"/>
          </a:xfrm>
        </p:spPr>
        <p:txBody>
          <a:bodyPr/>
          <a:lstStyle/>
          <a:p>
            <a:fld id="{CBF92039-BB9D-4F46-95B7-49E6508B93B0}" type="slidenum">
              <a:rPr lang="en-US" smtClean="0"/>
              <a:t>21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1E930C-1417-4A2B-BAE2-4CBB6B2F066B}"/>
              </a:ext>
            </a:extLst>
          </p:cNvPr>
          <p:cNvSpPr txBox="1"/>
          <p:nvPr/>
        </p:nvSpPr>
        <p:spPr>
          <a:xfrm>
            <a:off x="3850206" y="789552"/>
            <a:ext cx="7171385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 rtl="1">
              <a:lnSpc>
                <a:spcPct val="150000"/>
              </a:lnSpc>
              <a:buNone/>
            </a:pPr>
            <a:r>
              <a:rPr lang="he-IL" sz="1800" dirty="0">
                <a:latin typeface="David" pitchFamily="34" charset="-79"/>
                <a:cs typeface="David" pitchFamily="34" charset="-79"/>
              </a:rPr>
              <a:t>א. השלימו את טבלת העלויות של היצרן</a:t>
            </a:r>
            <a:endParaRPr lang="en-US" sz="1800" dirty="0">
              <a:latin typeface="David" pitchFamily="34" charset="-79"/>
              <a:cs typeface="David" pitchFamily="34" charset="-79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06A0E8-4764-4CA6-9674-A008C379C2CE}"/>
              </a:ext>
            </a:extLst>
          </p:cNvPr>
          <p:cNvSpPr txBox="1"/>
          <p:nvPr/>
        </p:nvSpPr>
        <p:spPr>
          <a:xfrm>
            <a:off x="9362609" y="3327718"/>
            <a:ext cx="225273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r" rtl="1"/>
            <a:r>
              <a:rPr lang="he-IL" sz="1800" dirty="0">
                <a:latin typeface="David" pitchFamily="34" charset="-79"/>
                <a:cs typeface="David" pitchFamily="34" charset="-79"/>
              </a:rPr>
              <a:t>התשובה הנכונה היא 2</a:t>
            </a:r>
            <a:endParaRPr lang="en-IL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8AE0E63-7114-4FF0-BEE8-BDDE74BB7585}"/>
              </a:ext>
            </a:extLst>
          </p:cNvPr>
          <p:cNvGraphicFramePr>
            <a:graphicFrameLocks noGrp="1"/>
          </p:cNvGraphicFramePr>
          <p:nvPr/>
        </p:nvGraphicFramePr>
        <p:xfrm>
          <a:off x="774796" y="980747"/>
          <a:ext cx="6734661" cy="4173148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762770">
                  <a:extLst>
                    <a:ext uri="{9D8B030D-6E8A-4147-A177-3AD203B41FA5}">
                      <a16:colId xmlns:a16="http://schemas.microsoft.com/office/drawing/2014/main" val="636137096"/>
                    </a:ext>
                  </a:extLst>
                </a:gridCol>
                <a:gridCol w="1180447">
                  <a:extLst>
                    <a:ext uri="{9D8B030D-6E8A-4147-A177-3AD203B41FA5}">
                      <a16:colId xmlns:a16="http://schemas.microsoft.com/office/drawing/2014/main" val="16066013"/>
                    </a:ext>
                  </a:extLst>
                </a:gridCol>
                <a:gridCol w="746365">
                  <a:extLst>
                    <a:ext uri="{9D8B030D-6E8A-4147-A177-3AD203B41FA5}">
                      <a16:colId xmlns:a16="http://schemas.microsoft.com/office/drawing/2014/main" val="111968075"/>
                    </a:ext>
                  </a:extLst>
                </a:gridCol>
                <a:gridCol w="1184856">
                  <a:extLst>
                    <a:ext uri="{9D8B030D-6E8A-4147-A177-3AD203B41FA5}">
                      <a16:colId xmlns:a16="http://schemas.microsoft.com/office/drawing/2014/main" val="2878084837"/>
                    </a:ext>
                  </a:extLst>
                </a:gridCol>
                <a:gridCol w="965905">
                  <a:extLst>
                    <a:ext uri="{9D8B030D-6E8A-4147-A177-3AD203B41FA5}">
                      <a16:colId xmlns:a16="http://schemas.microsoft.com/office/drawing/2014/main" val="1751118781"/>
                    </a:ext>
                  </a:extLst>
                </a:gridCol>
                <a:gridCol w="1012744">
                  <a:extLst>
                    <a:ext uri="{9D8B030D-6E8A-4147-A177-3AD203B41FA5}">
                      <a16:colId xmlns:a16="http://schemas.microsoft.com/office/drawing/2014/main" val="2842310860"/>
                    </a:ext>
                  </a:extLst>
                </a:gridCol>
                <a:gridCol w="881574">
                  <a:extLst>
                    <a:ext uri="{9D8B030D-6E8A-4147-A177-3AD203B41FA5}">
                      <a16:colId xmlns:a16="http://schemas.microsoft.com/office/drawing/2014/main" val="3327159783"/>
                    </a:ext>
                  </a:extLst>
                </a:gridCol>
              </a:tblGrid>
              <a:tr h="384201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400" b="1" dirty="0">
                          <a:effectLst/>
                        </a:rPr>
                        <a:t>כמות </a:t>
                      </a:r>
                      <a:r>
                        <a:rPr lang="en-US" sz="1400" b="1" dirty="0">
                          <a:effectLst/>
                        </a:rPr>
                        <a:t>Q</a:t>
                      </a:r>
                      <a:endParaRPr lang="en-IL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en-US" sz="1400" b="1" dirty="0">
                          <a:effectLst/>
                        </a:rPr>
                        <a:t>TC</a:t>
                      </a:r>
                      <a:r>
                        <a:rPr lang="he-IL" sz="1400" b="1" dirty="0">
                          <a:effectLst/>
                        </a:rPr>
                        <a:t>=עלות כוללת</a:t>
                      </a:r>
                      <a:endParaRPr lang="en-IL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en-US" sz="1400" b="1" dirty="0">
                          <a:effectLst/>
                        </a:rPr>
                        <a:t>FC</a:t>
                      </a:r>
                      <a:r>
                        <a:rPr lang="he-IL" sz="1400" b="1" dirty="0">
                          <a:effectLst/>
                        </a:rPr>
                        <a:t>= עלות קבועה</a:t>
                      </a:r>
                      <a:endParaRPr lang="en-IL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en-US" sz="1400" b="1" dirty="0">
                          <a:effectLst/>
                        </a:rPr>
                        <a:t>ATC</a:t>
                      </a:r>
                      <a:r>
                        <a:rPr lang="he-IL" sz="1400" b="1" dirty="0">
                          <a:effectLst/>
                        </a:rPr>
                        <a:t>= עלות כוללת ממוצעת</a:t>
                      </a:r>
                      <a:endParaRPr lang="en-IL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en-US" sz="1400" b="1" dirty="0">
                          <a:effectLst/>
                        </a:rPr>
                        <a:t>VC</a:t>
                      </a:r>
                      <a:r>
                        <a:rPr lang="he-IL" sz="1400" b="1" dirty="0">
                          <a:effectLst/>
                        </a:rPr>
                        <a:t>= עלות משתנה</a:t>
                      </a:r>
                      <a:endParaRPr lang="en-IL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en-US" sz="1400" b="1" dirty="0">
                          <a:effectLst/>
                        </a:rPr>
                        <a:t>AVC</a:t>
                      </a:r>
                      <a:r>
                        <a:rPr lang="he-IL" sz="1400" b="1" dirty="0">
                          <a:effectLst/>
                        </a:rPr>
                        <a:t>= עלות משתנה ממוצעת</a:t>
                      </a:r>
                      <a:endParaRPr lang="en-IL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en-US" sz="1400" b="1" dirty="0">
                          <a:effectLst/>
                        </a:rPr>
                        <a:t>MC</a:t>
                      </a:r>
                      <a:r>
                        <a:rPr lang="he-IL" sz="1400" b="1" dirty="0">
                          <a:effectLst/>
                        </a:rPr>
                        <a:t>= עלות שולית</a:t>
                      </a:r>
                      <a:endParaRPr lang="en-IL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37260"/>
                  </a:ext>
                </a:extLst>
              </a:tr>
              <a:tr h="463301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>
                          <a:effectLst/>
                        </a:rPr>
                        <a:t>0</a:t>
                      </a:r>
                      <a:endParaRPr lang="en-IL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David" panose="020E0502060401010101" pitchFamily="34" charset="-79"/>
                        </a:rPr>
                        <a:t>5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  <a:highlight>
                            <a:srgbClr val="00FF00"/>
                          </a:highlight>
                        </a:rPr>
                        <a:t> 5</a:t>
                      </a:r>
                      <a:endParaRPr lang="en-IL" sz="1600" dirty="0">
                        <a:effectLst/>
                        <a:highlight>
                          <a:srgbClr val="00FF00"/>
                        </a:highlight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</a:rPr>
                        <a:t> -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</a:rPr>
                        <a:t> 0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</a:rPr>
                        <a:t>- 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</a:rPr>
                        <a:t> -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40522227"/>
                  </a:ext>
                </a:extLst>
              </a:tr>
              <a:tr h="442961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>
                          <a:effectLst/>
                        </a:rPr>
                        <a:t>1</a:t>
                      </a:r>
                      <a:endParaRPr lang="en-IL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</a:rPr>
                        <a:t> </a:t>
                      </a:r>
                      <a:r>
                        <a:rPr lang="en-US" sz="1600" dirty="0">
                          <a:effectLst/>
                        </a:rPr>
                        <a:t>6+5=11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</a:rPr>
                        <a:t> 5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</a:rPr>
                        <a:t> </a:t>
                      </a:r>
                      <a:r>
                        <a:rPr lang="en-US" sz="1600" dirty="0">
                          <a:effectLst/>
                        </a:rPr>
                        <a:t>11/1=11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</a:rPr>
                        <a:t> </a:t>
                      </a:r>
                      <a:r>
                        <a:rPr lang="en-US" sz="1600" dirty="0">
                          <a:effectLst/>
                        </a:rPr>
                        <a:t>6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</a:rPr>
                        <a:t> </a:t>
                      </a:r>
                      <a:r>
                        <a:rPr lang="en-US" sz="1600" dirty="0">
                          <a:effectLst/>
                        </a:rPr>
                        <a:t>6/1=6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  <a:highlight>
                            <a:srgbClr val="00FF00"/>
                          </a:highlight>
                        </a:rPr>
                        <a:t>6</a:t>
                      </a:r>
                      <a:endParaRPr lang="en-IL" sz="1600" dirty="0">
                        <a:effectLst/>
                        <a:highlight>
                          <a:srgbClr val="00FF00"/>
                        </a:highlight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64979487"/>
                  </a:ext>
                </a:extLst>
              </a:tr>
              <a:tr h="463301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>
                          <a:effectLst/>
                        </a:rPr>
                        <a:t>2</a:t>
                      </a:r>
                      <a:endParaRPr lang="en-IL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en-US" sz="1600" dirty="0">
                          <a:effectLst/>
                        </a:rPr>
                        <a:t>5+10=15</a:t>
                      </a:r>
                      <a:r>
                        <a:rPr lang="he-IL" sz="1600" dirty="0">
                          <a:effectLst/>
                        </a:rPr>
                        <a:t> 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</a:rPr>
                        <a:t>5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</a:rPr>
                        <a:t> </a:t>
                      </a:r>
                      <a:r>
                        <a:rPr lang="en-US" sz="1600" dirty="0">
                          <a:effectLst/>
                        </a:rPr>
                        <a:t>15/2=7.5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</a:rPr>
                        <a:t> </a:t>
                      </a:r>
                      <a:r>
                        <a:rPr lang="en-US" sz="1600" dirty="0">
                          <a:effectLst/>
                        </a:rPr>
                        <a:t>5*2=10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  <a:highlight>
                            <a:srgbClr val="00FF00"/>
                          </a:highlight>
                        </a:rPr>
                        <a:t>5</a:t>
                      </a:r>
                      <a:endParaRPr lang="en-IL" sz="1600" dirty="0">
                        <a:effectLst/>
                        <a:highlight>
                          <a:srgbClr val="00FF00"/>
                        </a:highlight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en-US" sz="1600" dirty="0">
                          <a:effectLst/>
                        </a:rPr>
                        <a:t>10-6=4</a:t>
                      </a:r>
                      <a:r>
                        <a:rPr lang="he-IL" sz="1600" dirty="0">
                          <a:effectLst/>
                        </a:rPr>
                        <a:t> 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34917766"/>
                  </a:ext>
                </a:extLst>
              </a:tr>
              <a:tr h="497201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>
                          <a:effectLst/>
                        </a:rPr>
                        <a:t>3</a:t>
                      </a:r>
                      <a:endParaRPr lang="en-IL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</a:rPr>
                        <a:t> </a:t>
                      </a:r>
                      <a:r>
                        <a:rPr lang="en-US" sz="1600" dirty="0">
                          <a:effectLst/>
                        </a:rPr>
                        <a:t>7.667*3=23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</a:rPr>
                        <a:t>5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  <a:highlight>
                            <a:srgbClr val="00FF00"/>
                          </a:highlight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David" panose="020E0502060401010101" pitchFamily="34" charset="-79"/>
                        </a:rPr>
                        <a:t>7.667</a:t>
                      </a:r>
                      <a:endParaRPr lang="en-US" sz="1600" dirty="0">
                        <a:effectLst/>
                        <a:highlight>
                          <a:srgbClr val="00FF00"/>
                        </a:highlight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en-US" sz="1600" dirty="0">
                          <a:effectLst/>
                        </a:rPr>
                        <a:t>23-5=18 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</a:rPr>
                        <a:t> </a:t>
                      </a:r>
                      <a:r>
                        <a:rPr lang="en-US" sz="1600" dirty="0">
                          <a:effectLst/>
                        </a:rPr>
                        <a:t>18/3=6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</a:rPr>
                        <a:t> </a:t>
                      </a:r>
                      <a:r>
                        <a:rPr lang="en-US" sz="1600" dirty="0">
                          <a:effectLst/>
                        </a:rPr>
                        <a:t>18-10=8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01388888"/>
                  </a:ext>
                </a:extLst>
              </a:tr>
              <a:tr h="442961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</a:rPr>
                        <a:t>4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en-US" sz="1600" dirty="0">
                          <a:effectLst/>
                        </a:rPr>
                        <a:t>27+5=32</a:t>
                      </a:r>
                      <a:r>
                        <a:rPr lang="he-IL" sz="1600" dirty="0">
                          <a:effectLst/>
                        </a:rPr>
                        <a:t> 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</a:rPr>
                        <a:t> 5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</a:rPr>
                        <a:t> </a:t>
                      </a:r>
                      <a:r>
                        <a:rPr lang="en-US" sz="1600" dirty="0">
                          <a:effectLst/>
                        </a:rPr>
                        <a:t>32/4=8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</a:rPr>
                        <a:t> </a:t>
                      </a:r>
                      <a:r>
                        <a:rPr lang="en-US" sz="1600" dirty="0">
                          <a:effectLst/>
                        </a:rPr>
                        <a:t>9+18=27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</a:rPr>
                        <a:t> </a:t>
                      </a:r>
                      <a:r>
                        <a:rPr lang="en-US" sz="1600" dirty="0">
                          <a:effectLst/>
                        </a:rPr>
                        <a:t>27/4=6.75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  <a:highlight>
                            <a:srgbClr val="00FF00"/>
                          </a:highlight>
                        </a:rPr>
                        <a:t>9</a:t>
                      </a:r>
                      <a:endParaRPr lang="en-IL" sz="1600" dirty="0">
                        <a:effectLst/>
                        <a:highlight>
                          <a:srgbClr val="00FF00"/>
                        </a:highlight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28315731"/>
                  </a:ext>
                </a:extLst>
              </a:tr>
              <a:tr h="429401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>
                          <a:effectLst/>
                        </a:rPr>
                        <a:t>5</a:t>
                      </a:r>
                      <a:endParaRPr lang="en-IL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</a:rPr>
                        <a:t> </a:t>
                      </a:r>
                      <a:r>
                        <a:rPr lang="en-US" sz="1600" dirty="0">
                          <a:effectLst/>
                        </a:rPr>
                        <a:t>38+5=43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</a:rPr>
                        <a:t> 5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</a:rPr>
                        <a:t> </a:t>
                      </a:r>
                      <a:r>
                        <a:rPr lang="en-US" sz="1600" dirty="0">
                          <a:effectLst/>
                        </a:rPr>
                        <a:t>43/5=8.6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  <a:highlight>
                            <a:srgbClr val="00FF00"/>
                          </a:highlight>
                        </a:rPr>
                        <a:t>38</a:t>
                      </a:r>
                      <a:endParaRPr lang="en-IL" sz="1600" dirty="0">
                        <a:effectLst/>
                        <a:highlight>
                          <a:srgbClr val="00FF00"/>
                        </a:highlight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</a:rPr>
                        <a:t> </a:t>
                      </a:r>
                      <a:r>
                        <a:rPr lang="en-US" sz="1600" dirty="0">
                          <a:effectLst/>
                        </a:rPr>
                        <a:t>38/5=7.6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tabLst>
                          <a:tab pos="147320" algn="l"/>
                          <a:tab pos="327660" algn="l"/>
                        </a:tabLst>
                      </a:pPr>
                      <a:r>
                        <a:rPr lang="he-IL" sz="1600" dirty="0">
                          <a:effectLst/>
                        </a:rPr>
                        <a:t> </a:t>
                      </a:r>
                      <a:r>
                        <a:rPr lang="en-US" sz="1600" dirty="0">
                          <a:effectLst/>
                        </a:rPr>
                        <a:t>43-32=11</a:t>
                      </a:r>
                      <a:endParaRPr lang="en-I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David" panose="020E0502060401010101" pitchFamily="34" charset="-79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2034709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C876F27-4AA0-4808-BAC5-3F9049B3AD38}"/>
              </a:ext>
            </a:extLst>
          </p:cNvPr>
          <p:cNvSpPr txBox="1"/>
          <p:nvPr/>
        </p:nvSpPr>
        <p:spPr>
          <a:xfrm>
            <a:off x="774796" y="4722800"/>
            <a:ext cx="10988812" cy="213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 rtl="1">
              <a:lnSpc>
                <a:spcPct val="150000"/>
              </a:lnSpc>
              <a:buNone/>
            </a:pPr>
            <a:r>
              <a:rPr lang="he-IL" dirty="0">
                <a:latin typeface="David" pitchFamily="34" charset="-79"/>
                <a:cs typeface="David" pitchFamily="34" charset="-79"/>
              </a:rPr>
              <a:t>ב. </a:t>
            </a:r>
            <a:r>
              <a:rPr lang="he-IL" sz="1800" dirty="0">
                <a:latin typeface="David" pitchFamily="34" charset="-79"/>
                <a:cs typeface="David" pitchFamily="34" charset="-79"/>
              </a:rPr>
              <a:t>בחרו בתשובה הנכונה:</a:t>
            </a:r>
          </a:p>
          <a:p>
            <a:pPr marL="342900" indent="-342900" algn="r" rtl="1">
              <a:lnSpc>
                <a:spcPct val="150000"/>
              </a:lnSpc>
              <a:buAutoNum type="arabicPeriod"/>
            </a:pPr>
            <a:r>
              <a:rPr lang="he-IL" dirty="0">
                <a:latin typeface="David" pitchFamily="34" charset="-79"/>
                <a:cs typeface="David" pitchFamily="34" charset="-79"/>
              </a:rPr>
              <a:t>העלות הכוללת הממוצעת (</a:t>
            </a:r>
            <a:r>
              <a:rPr lang="en-US" dirty="0">
                <a:latin typeface="David" pitchFamily="34" charset="-79"/>
                <a:cs typeface="David" pitchFamily="34" charset="-79"/>
              </a:rPr>
              <a:t>ATC</a:t>
            </a:r>
            <a:r>
              <a:rPr lang="he-IL" dirty="0">
                <a:latin typeface="David" pitchFamily="34" charset="-79"/>
                <a:cs typeface="David" pitchFamily="34" charset="-79"/>
              </a:rPr>
              <a:t>) הגבוהה ביותר מתקבלת בייצור היחידה השלישית.</a:t>
            </a:r>
            <a:r>
              <a:rPr lang="en-US" dirty="0">
                <a:latin typeface="David" pitchFamily="34" charset="-79"/>
                <a:cs typeface="David" pitchFamily="34" charset="-79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David" pitchFamily="34" charset="-79"/>
                <a:cs typeface="David" pitchFamily="34" charset="-79"/>
              </a:rPr>
              <a:t>  </a:t>
            </a:r>
            <a:r>
              <a:rPr lang="he-IL" b="1" dirty="0">
                <a:solidFill>
                  <a:srgbClr val="FF0000"/>
                </a:solidFill>
                <a:latin typeface="David" pitchFamily="34" charset="-79"/>
                <a:cs typeface="David" pitchFamily="34" charset="-79"/>
              </a:rPr>
              <a:t>לא נכון, מתקבלת בייצור היחידה ה-5. </a:t>
            </a:r>
            <a:endParaRPr lang="en-US" sz="1800" dirty="0">
              <a:latin typeface="David" pitchFamily="34" charset="-79"/>
              <a:cs typeface="David" pitchFamily="34" charset="-79"/>
            </a:endParaRPr>
          </a:p>
          <a:p>
            <a:pPr marL="342900" indent="-342900" algn="r" rtl="1">
              <a:lnSpc>
                <a:spcPct val="150000"/>
              </a:lnSpc>
              <a:buAutoNum type="arabicPeriod"/>
            </a:pPr>
            <a:r>
              <a:rPr lang="he-IL" sz="1800" dirty="0">
                <a:latin typeface="David" pitchFamily="34" charset="-79"/>
                <a:cs typeface="David" pitchFamily="34" charset="-79"/>
              </a:rPr>
              <a:t>כאשר מחיר השוק הינו 12 ש''ח, המחיר ליחידת מוצר גבוה מהעלות השולית לכל יחידה מיוצרת (עד וכולל 5 יחידות). </a:t>
            </a:r>
            <a:r>
              <a:rPr lang="he-IL" sz="1800" b="1" dirty="0">
                <a:solidFill>
                  <a:srgbClr val="FF0000"/>
                </a:solidFill>
                <a:latin typeface="David" pitchFamily="34" charset="-79"/>
                <a:cs typeface="David" pitchFamily="34" charset="-79"/>
              </a:rPr>
              <a:t>נכון. </a:t>
            </a:r>
            <a:endParaRPr lang="he-IL" sz="1800" dirty="0">
              <a:latin typeface="David" pitchFamily="34" charset="-79"/>
              <a:cs typeface="David" pitchFamily="34" charset="-79"/>
            </a:endParaRPr>
          </a:p>
          <a:p>
            <a:pPr marL="342900" indent="-342900" algn="r" rtl="1">
              <a:lnSpc>
                <a:spcPct val="150000"/>
              </a:lnSpc>
              <a:buAutoNum type="arabicPeriod"/>
            </a:pPr>
            <a:r>
              <a:rPr lang="he-IL" dirty="0">
                <a:latin typeface="David" pitchFamily="34" charset="-79"/>
                <a:cs typeface="David" pitchFamily="34" charset="-79"/>
              </a:rPr>
              <a:t>ככל שהיצרן מייצר יותר, העלות הקבועה הולכת וקטנה. </a:t>
            </a:r>
            <a:r>
              <a:rPr lang="he-IL" b="1" dirty="0">
                <a:solidFill>
                  <a:srgbClr val="FF0000"/>
                </a:solidFill>
                <a:latin typeface="David" pitchFamily="34" charset="-79"/>
                <a:cs typeface="David" pitchFamily="34" charset="-79"/>
              </a:rPr>
              <a:t>לא נכון, </a:t>
            </a:r>
            <a:r>
              <a:rPr lang="en-US" b="1" dirty="0">
                <a:solidFill>
                  <a:srgbClr val="FF0000"/>
                </a:solidFill>
                <a:latin typeface="David" pitchFamily="34" charset="-79"/>
                <a:cs typeface="David" pitchFamily="34" charset="-79"/>
              </a:rPr>
              <a:t>AFC</a:t>
            </a:r>
            <a:r>
              <a:rPr lang="he-IL" b="1" dirty="0">
                <a:solidFill>
                  <a:srgbClr val="FF0000"/>
                </a:solidFill>
                <a:latin typeface="David" pitchFamily="34" charset="-79"/>
                <a:cs typeface="David" pitchFamily="34" charset="-79"/>
              </a:rPr>
              <a:t> הולכת וקטנה ואילו </a:t>
            </a:r>
            <a:r>
              <a:rPr lang="en-US" b="1" dirty="0">
                <a:solidFill>
                  <a:srgbClr val="FF0000"/>
                </a:solidFill>
                <a:latin typeface="David" pitchFamily="34" charset="-79"/>
                <a:cs typeface="David" pitchFamily="34" charset="-79"/>
              </a:rPr>
              <a:t>FC</a:t>
            </a:r>
            <a:r>
              <a:rPr lang="he-IL" b="1" dirty="0">
                <a:solidFill>
                  <a:srgbClr val="FF0000"/>
                </a:solidFill>
                <a:latin typeface="David" pitchFamily="34" charset="-79"/>
                <a:cs typeface="David" pitchFamily="34" charset="-79"/>
              </a:rPr>
              <a:t> קבועה. </a:t>
            </a:r>
            <a:endParaRPr lang="he-IL" dirty="0">
              <a:latin typeface="David" pitchFamily="34" charset="-79"/>
              <a:cs typeface="David" pitchFamily="34" charset="-79"/>
            </a:endParaRPr>
          </a:p>
          <a:p>
            <a:pPr marL="342900" indent="-342900" algn="r" rtl="1">
              <a:lnSpc>
                <a:spcPct val="150000"/>
              </a:lnSpc>
              <a:buAutoNum type="arabicPeriod"/>
            </a:pPr>
            <a:r>
              <a:rPr lang="he-IL" sz="1800" dirty="0">
                <a:latin typeface="David" pitchFamily="34" charset="-79"/>
                <a:cs typeface="David" pitchFamily="34" charset="-79"/>
              </a:rPr>
              <a:t>כל התשובות האחרות לא נכונות. </a:t>
            </a:r>
            <a:endParaRPr lang="en-US" sz="1800" dirty="0">
              <a:latin typeface="David" pitchFamily="34" charset="-79"/>
              <a:cs typeface="David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828292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487680" y="1016304"/>
            <a:ext cx="11430000" cy="5639363"/>
          </a:xfrm>
        </p:spPr>
        <p:txBody>
          <a:bodyPr>
            <a:noAutofit/>
          </a:bodyPr>
          <a:lstStyle/>
          <a:p>
            <a:pPr marL="0" lvl="0" indent="0" algn="r" rtl="1">
              <a:lnSpc>
                <a:spcPct val="100000"/>
              </a:lnSpc>
              <a:spcAft>
                <a:spcPts val="800"/>
              </a:spcAft>
              <a:buNone/>
            </a:pPr>
            <a:r>
              <a:rPr lang="he-IL" sz="180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א. 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האם לפירמה יש עלויות קבועות? הסבירו. </a:t>
            </a:r>
            <a:endParaRPr lang="en-IL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Miriam" panose="020B0502050101010101" pitchFamily="34" charset="-79"/>
            </a:endParaRPr>
          </a:p>
          <a:p>
            <a:pPr marL="0" lvl="0" indent="0" algn="r" rtl="1">
              <a:lnSpc>
                <a:spcPct val="100000"/>
              </a:lnSpc>
              <a:spcAft>
                <a:spcPts val="800"/>
              </a:spcAft>
              <a:buNone/>
            </a:pP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ב. מהי העלות השולית של הפירמה כתלות בתפוקה? ציירו ציור.</a:t>
            </a:r>
            <a:endParaRPr lang="en-IL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Miriam" panose="020B0502050101010101" pitchFamily="34" charset="-79"/>
            </a:endParaRPr>
          </a:p>
          <a:p>
            <a:pPr marL="0" lvl="0" indent="0" algn="r" rtl="1">
              <a:lnSpc>
                <a:spcPct val="100000"/>
              </a:lnSpc>
              <a:spcAft>
                <a:spcPts val="800"/>
              </a:spcAft>
              <a:buNone/>
            </a:pP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ג. נסחו את פונקציית הרווח הכולל של הפירמה כתלות במחיר השוק 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Miriam" panose="020B0502050101010101" pitchFamily="34" charset="-79"/>
              </a:rPr>
              <a:t>Px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וכתלות בתפוקה 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Miriam" panose="020B0502050101010101" pitchFamily="34" charset="-79"/>
              </a:rPr>
              <a:t>X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IL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Miriam" panose="020B0502050101010101" pitchFamily="34" charset="-79"/>
            </a:endParaRPr>
          </a:p>
          <a:p>
            <a:pPr marL="0" lvl="0" indent="0" algn="r" rtl="1">
              <a:lnSpc>
                <a:spcPct val="100000"/>
              </a:lnSpc>
              <a:spcAft>
                <a:spcPts val="800"/>
              </a:spcAft>
              <a:buNone/>
            </a:pP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ד. מהי הכמות שתמקסם את הרווח של הפירמה ומהו הרווח של הפירמה כאשר מחיר השוק הוא:</a:t>
            </a:r>
            <a:endParaRPr lang="en-IL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Miriam" panose="020B0502050101010101" pitchFamily="34" charset="-79"/>
            </a:endParaRPr>
          </a:p>
          <a:p>
            <a:pPr marL="0" lvl="0" indent="0" algn="r" rtl="1">
              <a:lnSpc>
                <a:spcPct val="100000"/>
              </a:lnSpc>
              <a:spcAft>
                <a:spcPts val="800"/>
              </a:spcAft>
              <a:buNone/>
            </a:pPr>
            <a:r>
              <a:rPr lang="he-IL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מחיר השוק הוא 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Px=80</a:t>
            </a:r>
            <a:r>
              <a:rPr lang="he-IL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en-IL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lvl="0" indent="0" algn="r" rtl="1">
              <a:lnSpc>
                <a:spcPct val="100000"/>
              </a:lnSpc>
              <a:spcAft>
                <a:spcPts val="800"/>
              </a:spcAft>
              <a:buNone/>
            </a:pPr>
            <a:r>
              <a:rPr lang="he-IL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מחיר השוק הוא 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Px=60</a:t>
            </a:r>
            <a:r>
              <a:rPr lang="he-IL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en-IL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lvl="0" indent="0" algn="r" rtl="1">
              <a:lnSpc>
                <a:spcPct val="100000"/>
              </a:lnSpc>
              <a:spcAft>
                <a:spcPts val="800"/>
              </a:spcAft>
              <a:buNone/>
            </a:pPr>
            <a:r>
              <a:rPr lang="he-IL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מחיר השוק הוא 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Px=40</a:t>
            </a:r>
            <a:r>
              <a:rPr lang="he-IL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en-IL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lvl="0" indent="0" algn="r" rtl="1">
              <a:lnSpc>
                <a:spcPct val="100000"/>
              </a:lnSpc>
              <a:spcAft>
                <a:spcPts val="800"/>
              </a:spcAft>
              <a:buNone/>
            </a:pPr>
            <a:r>
              <a:rPr lang="he-IL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מחיר הושק הוא 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Px=30</a:t>
            </a:r>
            <a:r>
              <a:rPr lang="he-IL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en-IL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lvl="0" indent="0" algn="r" rtl="1">
              <a:lnSpc>
                <a:spcPct val="100000"/>
              </a:lnSpc>
              <a:spcAft>
                <a:spcPts val="800"/>
              </a:spcAft>
              <a:buNone/>
            </a:pPr>
            <a:r>
              <a:rPr lang="he-IL" sz="180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ה. תארו את ההיצע של הפירמה בתרשים שבו התפוקה </a:t>
            </a:r>
            <a:r>
              <a:rPr lang="en-US" sz="180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Miriam" panose="020B0502050101010101" pitchFamily="34" charset="-79"/>
              </a:rPr>
              <a:t>X</a:t>
            </a:r>
            <a:r>
              <a:rPr lang="he-IL" sz="180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על הציר האופקי והמחיר </a:t>
            </a:r>
            <a:r>
              <a:rPr lang="en-US" sz="180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Miriam" panose="020B0502050101010101" pitchFamily="34" charset="-79"/>
              </a:rPr>
              <a:t>Px</a:t>
            </a:r>
            <a:r>
              <a:rPr lang="he-IL" sz="180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על הציר האנכי. </a:t>
            </a:r>
            <a:endParaRPr lang="en-IL" sz="180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Miriam" panose="020B0502050101010101" pitchFamily="34" charset="-79"/>
            </a:endParaRPr>
          </a:p>
          <a:p>
            <a:pPr marL="0" lvl="0" indent="0" algn="r" rtl="1">
              <a:lnSpc>
                <a:spcPct val="100000"/>
              </a:lnSpc>
              <a:spcAft>
                <a:spcPts val="800"/>
              </a:spcAft>
              <a:buNone/>
            </a:pPr>
            <a:r>
              <a:rPr lang="he-IL" sz="180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ו. כיצד הייתה משתנה תשובתכם לסעיפים ב'-ד' במידה והיצרן שוקל להיכנס לענף ופונקציית העלות הכוללת של הפירמה נתונה על ידי </a:t>
            </a:r>
            <a:r>
              <a:rPr lang="en-US" sz="180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Miriam" panose="020B0502050101010101" pitchFamily="34" charset="-79"/>
              </a:rPr>
              <a:t>TC(X)=40X+100</a:t>
            </a:r>
            <a:r>
              <a:rPr lang="he-IL" sz="180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 שימו לב, בתת סעיף ד' יש להתייחס ראשית האם כדאי ליצרן להיכנס לענף בכל רמת מחיר ואם כן כמה יחידות כדאי לייצר. </a:t>
            </a:r>
            <a:endParaRPr lang="en-IL" sz="180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Miriam" panose="020B0502050101010101" pitchFamily="34" charset="-79"/>
            </a:endParaRPr>
          </a:p>
        </p:txBody>
      </p:sp>
      <p:sp>
        <p:nvSpPr>
          <p:cNvPr id="4" name="כותרת 1"/>
          <p:cNvSpPr txBox="1">
            <a:spLocks/>
          </p:cNvSpPr>
          <p:nvPr/>
        </p:nvSpPr>
        <p:spPr>
          <a:xfrm>
            <a:off x="9951720" y="202333"/>
            <a:ext cx="2240280" cy="4046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1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b="1" dirty="0">
                <a:solidFill>
                  <a:srgbClr val="000000"/>
                </a:solidFill>
              </a:rPr>
              <a:t>שאלה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992A8B-A0B4-4DED-9119-FC65EB8B0284}"/>
              </a:ext>
            </a:extLst>
          </p:cNvPr>
          <p:cNvSpPr txBox="1"/>
          <p:nvPr/>
        </p:nvSpPr>
        <p:spPr>
          <a:xfrm>
            <a:off x="838200" y="202333"/>
            <a:ext cx="8183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he-IL" sz="1800" dirty="0"/>
              <a:t>פירמה תחרותית מייצרת מוצר </a:t>
            </a:r>
            <a:r>
              <a:rPr lang="en-US" sz="1800" dirty="0"/>
              <a:t>X</a:t>
            </a:r>
            <a:r>
              <a:rPr lang="he-IL" sz="1800" dirty="0"/>
              <a:t>. הפירמה לא יכולה לייצר יותר מ 50 יחידות תפוקה.</a:t>
            </a:r>
            <a:endParaRPr lang="en-US" sz="1800" dirty="0"/>
          </a:p>
          <a:p>
            <a:pPr marL="0" indent="0">
              <a:buNone/>
            </a:pPr>
            <a:r>
              <a:rPr lang="he-IL" sz="1800" dirty="0"/>
              <a:t>פונקציית העלות הכוללת של הפירמה נתונה על ידי: </a:t>
            </a:r>
            <a:r>
              <a:rPr lang="en-US" sz="1800" dirty="0"/>
              <a:t> 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TC(X)=40X</a:t>
            </a:r>
            <a:endParaRPr lang="en-US" sz="18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E930CC-2AEE-F096-F577-DD2B2E0BE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96341-5AB9-4323-B48D-D8E7C5D88E4B}" type="datetime8">
              <a:rPr lang="he-IL" smtClean="0"/>
              <a:t>27 דצמבר 25</a:t>
            </a:fld>
            <a:endParaRPr lang="he-I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9954CB-6E84-B534-BB16-FA0B8B924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A981F-4466-4789-9E41-1885E502A96E}" type="slidenum">
              <a:rPr lang="he-IL" smtClean="0"/>
              <a:t>22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925293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4010296" y="823323"/>
            <a:ext cx="7937863" cy="228563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e-IL" sz="1800" dirty="0"/>
              <a:t>פירמה תחרותית מייצרת מוצר </a:t>
            </a:r>
            <a:r>
              <a:rPr lang="en-US" sz="1800" dirty="0"/>
              <a:t>X</a:t>
            </a:r>
            <a:r>
              <a:rPr lang="he-IL" sz="1800" dirty="0"/>
              <a:t>. הפירמה לא יכולה לייצר יותר מ 50 יחידות תפוקה.</a:t>
            </a:r>
            <a:endParaRPr lang="en-US" sz="1800" dirty="0"/>
          </a:p>
          <a:p>
            <a:pPr marL="0" indent="0">
              <a:buNone/>
            </a:pPr>
            <a:r>
              <a:rPr lang="he-IL" sz="1800" dirty="0"/>
              <a:t>פונקציית העלות הכוללת של הפירמה נתונה על ידי: 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lvl="0" indent="0">
              <a:buNone/>
            </a:pPr>
            <a:r>
              <a:rPr lang="he-IL" sz="1800" dirty="0"/>
              <a:t>א. האם לפירמה יש עלויות קבועות?</a:t>
            </a:r>
            <a:endParaRPr lang="en-US" sz="1800" dirty="0"/>
          </a:p>
          <a:p>
            <a:pPr marL="0" lvl="0" indent="0">
              <a:buNone/>
            </a:pPr>
            <a:r>
              <a:rPr lang="he-IL" sz="1800" dirty="0"/>
              <a:t>ב. מהי העלות השולית של הפירמה כתלות בתפוקה? ציירו ציור.</a:t>
            </a:r>
            <a:endParaRPr lang="en-US" sz="1800" dirty="0"/>
          </a:p>
        </p:txBody>
      </p:sp>
      <p:sp>
        <p:nvSpPr>
          <p:cNvPr id="4" name="כותרת 1"/>
          <p:cNvSpPr txBox="1">
            <a:spLocks/>
          </p:cNvSpPr>
          <p:nvPr/>
        </p:nvSpPr>
        <p:spPr>
          <a:xfrm>
            <a:off x="10440236" y="153553"/>
            <a:ext cx="1751763" cy="4046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1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b="1" dirty="0">
                <a:solidFill>
                  <a:srgbClr val="000000"/>
                </a:solidFill>
              </a:rPr>
              <a:t>שאלה 2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03809" y="823323"/>
            <a:ext cx="20748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sz="2800" dirty="0"/>
              <a:t>TC(X)=40X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1040" y="2506854"/>
            <a:ext cx="1645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dirty="0"/>
              <a:t>TC(X=0)=0</a:t>
            </a:r>
          </a:p>
        </p:txBody>
      </p:sp>
      <p:sp>
        <p:nvSpPr>
          <p:cNvPr id="6" name="Left-Right Arrow 5"/>
          <p:cNvSpPr/>
          <p:nvPr/>
        </p:nvSpPr>
        <p:spPr>
          <a:xfrm>
            <a:off x="2203268" y="2560891"/>
            <a:ext cx="613954" cy="261257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934786" y="2506854"/>
            <a:ext cx="2769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dirty="0"/>
              <a:t>FC=0  </a:t>
            </a:r>
            <a:r>
              <a:rPr lang="he-IL" dirty="0"/>
              <a:t>א. אין עלויות קבועות</a:t>
            </a:r>
            <a:endParaRPr lang="en-US" dirty="0"/>
          </a:p>
        </p:txBody>
      </p:sp>
      <p:graphicFrame>
        <p:nvGraphicFramePr>
          <p:cNvPr id="8" name="טבלה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0295444"/>
              </p:ext>
            </p:extLst>
          </p:nvPr>
        </p:nvGraphicFramePr>
        <p:xfrm>
          <a:off x="2776245" y="3406400"/>
          <a:ext cx="2927868" cy="2306633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7248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25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05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32">
                <a:tc rowSpan="2"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he-IL" sz="1400" dirty="0">
                          <a:effectLst/>
                        </a:rPr>
                        <a:t>כמות מיוצרת</a:t>
                      </a:r>
                      <a:endParaRPr lang="en-US" sz="1400" dirty="0">
                        <a:effectLst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he-IL" sz="1400" dirty="0">
                          <a:effectLst/>
                        </a:rPr>
                        <a:t>עלות (אלפי ש"ח)</a:t>
                      </a:r>
                      <a:endParaRPr lang="en-US" sz="1400" dirty="0">
                        <a:effectLst/>
                        <a:latin typeface="Times New Roman"/>
                        <a:ea typeface="Times New Roman"/>
                        <a:cs typeface="Miriam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365">
                <a:tc v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he-IL" sz="1400" dirty="0">
                          <a:effectLst/>
                        </a:rPr>
                        <a:t>כוללת </a:t>
                      </a:r>
                      <a:r>
                        <a:rPr lang="en-US" sz="1400" dirty="0">
                          <a:effectLst/>
                        </a:rPr>
                        <a:t>TC</a:t>
                      </a:r>
                      <a:endParaRPr lang="en-US" sz="1400" dirty="0">
                        <a:effectLst/>
                        <a:latin typeface="Times New Roman"/>
                        <a:ea typeface="Times New Roman"/>
                        <a:cs typeface="Miriam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he-IL" sz="1400" b="1" dirty="0">
                          <a:solidFill>
                            <a:schemeClr val="tx2"/>
                          </a:solidFill>
                          <a:effectLst/>
                        </a:rPr>
                        <a:t>שולית </a:t>
                      </a:r>
                      <a:r>
                        <a:rPr lang="en-US" sz="1400" b="1" dirty="0">
                          <a:solidFill>
                            <a:schemeClr val="tx2"/>
                          </a:solidFill>
                          <a:effectLst/>
                        </a:rPr>
                        <a:t>MC</a:t>
                      </a:r>
                      <a:endParaRPr lang="en-US" sz="1400" b="1" dirty="0">
                        <a:solidFill>
                          <a:schemeClr val="tx2"/>
                        </a:solidFill>
                        <a:effectLst/>
                        <a:latin typeface="Times New Roman"/>
                        <a:ea typeface="Times New Roman"/>
                        <a:cs typeface="Miriam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09"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he-IL" sz="1400" dirty="0">
                          <a:effectLst/>
                        </a:rPr>
                        <a:t>1</a:t>
                      </a:r>
                      <a:endParaRPr lang="en-US" sz="1400" dirty="0">
                        <a:effectLst/>
                        <a:latin typeface="Times New Roman"/>
                        <a:ea typeface="Times New Roman"/>
                        <a:cs typeface="Miriam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68580" marR="68580" marT="0" marB="0" anchor="ctr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68580" marR="68580" marT="0" marB="0" anchor="ctr"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09"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he-IL" sz="1400" dirty="0">
                          <a:effectLst/>
                        </a:rPr>
                        <a:t>2</a:t>
                      </a:r>
                      <a:endParaRPr lang="en-US" sz="1400" dirty="0">
                        <a:effectLst/>
                        <a:latin typeface="Times New Roman"/>
                        <a:ea typeface="Times New Roman"/>
                        <a:cs typeface="Miriam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he-IL" dirty="0"/>
                    </a:p>
                  </a:txBody>
                  <a:tcPr marL="68580" marR="68580" marT="0" marB="0" anchor="ctr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he-IL" dirty="0"/>
                    </a:p>
                  </a:txBody>
                  <a:tcPr marL="68580" marR="68580" marT="0" marB="0" anchor="ctr"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09"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he-IL" sz="1400" dirty="0">
                          <a:effectLst/>
                        </a:rPr>
                        <a:t>3</a:t>
                      </a:r>
                      <a:endParaRPr lang="en-US" sz="1400" dirty="0">
                        <a:effectLst/>
                        <a:latin typeface="Times New Roman"/>
                        <a:ea typeface="Times New Roman"/>
                        <a:cs typeface="Miriam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he-IL"/>
                    </a:p>
                  </a:txBody>
                  <a:tcPr marL="68580" marR="68580" marT="0" marB="0" anchor="ctr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he-IL" dirty="0"/>
                    </a:p>
                  </a:txBody>
                  <a:tcPr marL="68580" marR="68580" marT="0" marB="0" anchor="ctr"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09"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he-IL" sz="1400" dirty="0">
                          <a:effectLst/>
                        </a:rPr>
                        <a:t>4</a:t>
                      </a:r>
                      <a:endParaRPr lang="en-US" sz="1400" dirty="0">
                        <a:effectLst/>
                        <a:latin typeface="Times New Roman"/>
                        <a:ea typeface="Times New Roman"/>
                        <a:cs typeface="Miriam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he-IL"/>
                    </a:p>
                  </a:txBody>
                  <a:tcPr marL="68580" marR="68580" marT="0" marB="0" anchor="ctr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he-IL" dirty="0"/>
                    </a:p>
                  </a:txBody>
                  <a:tcPr marL="68580" marR="68580" marT="0" marB="0" anchor="ctr"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CC49DAC-682B-C9B0-43B6-9E8B6EF30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3C934-72B4-40F1-84B9-E80CF9BEB7E0}" type="datetime8">
              <a:rPr lang="he-IL" smtClean="0"/>
              <a:t>27 דצמבר 25</a:t>
            </a:fld>
            <a:endParaRPr lang="he-IL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7FA65C0-21B6-52CC-10B4-E58372DEA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A981F-4466-4789-9E41-1885E502A96E}" type="slidenum">
              <a:rPr lang="he-IL" smtClean="0"/>
              <a:t>23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47740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 animBg="1"/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4010296" y="823323"/>
            <a:ext cx="7937863" cy="228563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e-IL" sz="1800" dirty="0"/>
              <a:t>פירמה תחרותית מייצרת מוצר </a:t>
            </a:r>
            <a:r>
              <a:rPr lang="en-US" sz="1800" dirty="0"/>
              <a:t>X</a:t>
            </a:r>
            <a:r>
              <a:rPr lang="he-IL" sz="1800" dirty="0"/>
              <a:t>. הפירמה לא יכולה לייצר יותר מ 50 יחידות תפוקה.</a:t>
            </a:r>
            <a:endParaRPr lang="en-US" sz="1800" dirty="0"/>
          </a:p>
          <a:p>
            <a:pPr marL="0" indent="0">
              <a:buNone/>
            </a:pPr>
            <a:r>
              <a:rPr lang="he-IL" sz="1800" dirty="0"/>
              <a:t>פונקציית העלות הכוללת של הפירמה נתונה על ידי: 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lvl="0" indent="0">
              <a:buNone/>
            </a:pPr>
            <a:r>
              <a:rPr lang="he-IL" sz="1800" dirty="0"/>
              <a:t>א. האם לפירמה יש עלויות קבועות?</a:t>
            </a:r>
            <a:endParaRPr lang="en-US" sz="1800" dirty="0"/>
          </a:p>
          <a:p>
            <a:pPr marL="0" lvl="0" indent="0">
              <a:buNone/>
            </a:pPr>
            <a:r>
              <a:rPr lang="he-IL" sz="1800" dirty="0"/>
              <a:t>ב. מהי העלות השולית של הפירמה כתלות בתפוקה? ציירו ציור.</a:t>
            </a:r>
            <a:endParaRPr lang="en-US" sz="1800" dirty="0"/>
          </a:p>
        </p:txBody>
      </p:sp>
      <p:sp>
        <p:nvSpPr>
          <p:cNvPr id="4" name="כותרת 1"/>
          <p:cNvSpPr txBox="1">
            <a:spLocks/>
          </p:cNvSpPr>
          <p:nvPr/>
        </p:nvSpPr>
        <p:spPr>
          <a:xfrm>
            <a:off x="10220252" y="238918"/>
            <a:ext cx="1858533" cy="4046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1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b="1" dirty="0">
                <a:solidFill>
                  <a:srgbClr val="000000"/>
                </a:solidFill>
              </a:rPr>
              <a:t>שאלה 2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296325" y="901761"/>
            <a:ext cx="27693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sz="2800" dirty="0"/>
              <a:t>TC(X)=40X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1040" y="2506854"/>
            <a:ext cx="1645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dirty="0"/>
              <a:t>TC(X=0)=0</a:t>
            </a:r>
          </a:p>
        </p:txBody>
      </p:sp>
      <p:sp>
        <p:nvSpPr>
          <p:cNvPr id="6" name="Left-Right Arrow 5"/>
          <p:cNvSpPr/>
          <p:nvPr/>
        </p:nvSpPr>
        <p:spPr>
          <a:xfrm>
            <a:off x="2203268" y="2560891"/>
            <a:ext cx="613954" cy="261257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934786" y="2506854"/>
            <a:ext cx="2769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dirty="0"/>
              <a:t>FC=0  </a:t>
            </a:r>
            <a:r>
              <a:rPr lang="he-IL" dirty="0"/>
              <a:t>א. אין עלויות קבועות</a:t>
            </a:r>
            <a:endParaRPr lang="en-US" dirty="0"/>
          </a:p>
        </p:txBody>
      </p:sp>
      <p:graphicFrame>
        <p:nvGraphicFramePr>
          <p:cNvPr id="8" name="טבלה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4713407"/>
              </p:ext>
            </p:extLst>
          </p:nvPr>
        </p:nvGraphicFramePr>
        <p:xfrm>
          <a:off x="2546362" y="3162997"/>
          <a:ext cx="2927868" cy="2306633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7248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25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05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32">
                <a:tc rowSpan="2"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he-IL" sz="1400" dirty="0">
                          <a:effectLst/>
                        </a:rPr>
                        <a:t>כמות מיוצרת</a:t>
                      </a:r>
                      <a:endParaRPr lang="en-US" sz="1400" dirty="0">
                        <a:effectLst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he-IL" sz="1400" dirty="0">
                          <a:effectLst/>
                        </a:rPr>
                        <a:t>עלות (אלפי ש"ח)</a:t>
                      </a:r>
                      <a:endParaRPr lang="en-US" sz="1400" dirty="0">
                        <a:effectLst/>
                        <a:latin typeface="Times New Roman"/>
                        <a:ea typeface="Times New Roman"/>
                        <a:cs typeface="Miriam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365">
                <a:tc v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he-IL" sz="1400" dirty="0">
                          <a:effectLst/>
                        </a:rPr>
                        <a:t>כוללת </a:t>
                      </a:r>
                      <a:r>
                        <a:rPr lang="en-US" sz="1400" dirty="0">
                          <a:effectLst/>
                        </a:rPr>
                        <a:t>TC</a:t>
                      </a:r>
                      <a:endParaRPr lang="en-US" sz="1400" dirty="0">
                        <a:effectLst/>
                        <a:latin typeface="Times New Roman"/>
                        <a:ea typeface="Times New Roman"/>
                        <a:cs typeface="Miriam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he-IL" sz="1400" b="1" dirty="0">
                          <a:solidFill>
                            <a:schemeClr val="tx2"/>
                          </a:solidFill>
                          <a:effectLst/>
                        </a:rPr>
                        <a:t>שולית </a:t>
                      </a:r>
                      <a:r>
                        <a:rPr lang="en-US" sz="1400" b="1" dirty="0">
                          <a:solidFill>
                            <a:schemeClr val="tx2"/>
                          </a:solidFill>
                          <a:effectLst/>
                        </a:rPr>
                        <a:t>MC</a:t>
                      </a:r>
                      <a:endParaRPr lang="en-US" sz="1400" b="1" dirty="0">
                        <a:solidFill>
                          <a:schemeClr val="tx2"/>
                        </a:solidFill>
                        <a:effectLst/>
                        <a:latin typeface="Times New Roman"/>
                        <a:ea typeface="Times New Roman"/>
                        <a:cs typeface="Miriam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09"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he-IL" sz="1400" dirty="0">
                          <a:effectLst/>
                        </a:rPr>
                        <a:t>1</a:t>
                      </a:r>
                      <a:endParaRPr lang="en-US" sz="1400" dirty="0">
                        <a:effectLst/>
                        <a:latin typeface="Times New Roman"/>
                        <a:ea typeface="Times New Roman"/>
                        <a:cs typeface="Miriam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 marL="68580" marR="68580" marT="0" marB="0" anchor="ctr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 marL="68580" marR="68580" marT="0" marB="0" anchor="ctr"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09"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he-IL" sz="1400" dirty="0">
                          <a:effectLst/>
                        </a:rPr>
                        <a:t>2</a:t>
                      </a:r>
                      <a:endParaRPr lang="en-US" sz="1400" dirty="0">
                        <a:effectLst/>
                        <a:latin typeface="Times New Roman"/>
                        <a:ea typeface="Times New Roman"/>
                        <a:cs typeface="Miriam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  <a:endParaRPr lang="he-IL" dirty="0"/>
                    </a:p>
                  </a:txBody>
                  <a:tcPr marL="68580" marR="68580" marT="0" marB="0" anchor="ctr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  <a:endParaRPr lang="he-IL" dirty="0"/>
                    </a:p>
                  </a:txBody>
                  <a:tcPr marL="68580" marR="68580" marT="0" marB="0" anchor="ctr"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09"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he-IL" sz="1400" dirty="0">
                          <a:effectLst/>
                        </a:rPr>
                        <a:t>3</a:t>
                      </a:r>
                      <a:endParaRPr lang="en-US" sz="1400" dirty="0">
                        <a:effectLst/>
                        <a:latin typeface="Times New Roman"/>
                        <a:ea typeface="Times New Roman"/>
                        <a:cs typeface="Miriam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120</a:t>
                      </a:r>
                      <a:endParaRPr lang="he-IL" dirty="0"/>
                    </a:p>
                  </a:txBody>
                  <a:tcPr marL="68580" marR="68580" marT="0" marB="0" anchor="ctr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  <a:endParaRPr lang="he-IL" dirty="0"/>
                    </a:p>
                  </a:txBody>
                  <a:tcPr marL="68580" marR="68580" marT="0" marB="0" anchor="ctr"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09"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he-IL" sz="1400" dirty="0">
                          <a:effectLst/>
                        </a:rPr>
                        <a:t>4</a:t>
                      </a:r>
                      <a:endParaRPr lang="en-US" sz="1400" dirty="0">
                        <a:effectLst/>
                        <a:latin typeface="Times New Roman"/>
                        <a:ea typeface="Times New Roman"/>
                        <a:cs typeface="Miriam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160</a:t>
                      </a:r>
                      <a:endParaRPr lang="he-IL" dirty="0"/>
                    </a:p>
                  </a:txBody>
                  <a:tcPr marL="68580" marR="68580" marT="0" marB="0" anchor="ctr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  <a:endParaRPr lang="he-IL" dirty="0"/>
                    </a:p>
                  </a:txBody>
                  <a:tcPr marL="68580" marR="68580" marT="0" marB="0" anchor="ctr"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007429" y="4186722"/>
            <a:ext cx="1645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sz="2400" dirty="0"/>
              <a:t>MC = 40</a:t>
            </a:r>
          </a:p>
        </p:txBody>
      </p:sp>
      <p:grpSp>
        <p:nvGrpSpPr>
          <p:cNvPr id="10" name="קבוצה 10"/>
          <p:cNvGrpSpPr/>
          <p:nvPr/>
        </p:nvGrpSpPr>
        <p:grpSpPr>
          <a:xfrm>
            <a:off x="6850709" y="3907724"/>
            <a:ext cx="3369544" cy="2009724"/>
            <a:chOff x="641321" y="3357562"/>
            <a:chExt cx="5288001" cy="2357454"/>
          </a:xfrm>
        </p:grpSpPr>
        <p:cxnSp>
          <p:nvCxnSpPr>
            <p:cNvPr id="11" name="מחבר חץ ישר 11"/>
            <p:cNvCxnSpPr/>
            <p:nvPr/>
          </p:nvCxnSpPr>
          <p:spPr>
            <a:xfrm rot="5400000" flipH="1" flipV="1">
              <a:off x="-536612" y="4535495"/>
              <a:ext cx="2357454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מחבר חץ ישר 12"/>
            <p:cNvCxnSpPr/>
            <p:nvPr/>
          </p:nvCxnSpPr>
          <p:spPr>
            <a:xfrm flipV="1">
              <a:off x="642910" y="5715016"/>
              <a:ext cx="5286412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/>
          <p:cNvSpPr txBox="1"/>
          <p:nvPr/>
        </p:nvSpPr>
        <p:spPr>
          <a:xfrm>
            <a:off x="6212761" y="4712785"/>
            <a:ext cx="648072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b="1" dirty="0">
                <a:solidFill>
                  <a:prstClr val="black"/>
                </a:solidFill>
              </a:rPr>
              <a:t>40</a:t>
            </a:r>
            <a:endParaRPr lang="he-IL" sz="2400" b="1" dirty="0">
              <a:solidFill>
                <a:prstClr val="black"/>
              </a:solidFill>
            </a:endParaRPr>
          </a:p>
        </p:txBody>
      </p:sp>
      <p:cxnSp>
        <p:nvCxnSpPr>
          <p:cNvPr id="15" name="מחבר ישר 15"/>
          <p:cNvCxnSpPr/>
          <p:nvPr/>
        </p:nvCxnSpPr>
        <p:spPr>
          <a:xfrm>
            <a:off x="6861234" y="5013489"/>
            <a:ext cx="3359019" cy="15031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2283826" y="5917448"/>
            <a:ext cx="338554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X</a:t>
            </a:r>
            <a:endParaRPr lang="he-IL" dirty="0">
              <a:solidFill>
                <a:prstClr val="black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79042" y="3536059"/>
            <a:ext cx="101822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solidFill>
                  <a:prstClr val="black"/>
                </a:solidFill>
              </a:rPr>
              <a:t>עלויות, </a:t>
            </a:r>
            <a:r>
              <a:rPr lang="en-US" dirty="0">
                <a:solidFill>
                  <a:prstClr val="black"/>
                </a:solidFill>
              </a:rPr>
              <a:t>P</a:t>
            </a:r>
            <a:endParaRPr lang="he-IL" dirty="0">
              <a:solidFill>
                <a:prstClr val="black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220253" y="5732782"/>
            <a:ext cx="338554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X</a:t>
            </a:r>
            <a:endParaRPr lang="he-IL" dirty="0">
              <a:solidFill>
                <a:prstClr val="black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167051" y="6102114"/>
            <a:ext cx="77113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he-IL" dirty="0"/>
              <a:t>ג. נסחו את פונקציית הרווח של הפירמה כתלות במחיר השוק </a:t>
            </a:r>
            <a:r>
              <a:rPr lang="en-US" dirty="0" err="1"/>
              <a:t>Px</a:t>
            </a:r>
            <a:r>
              <a:rPr lang="en-US" dirty="0"/>
              <a:t> </a:t>
            </a:r>
            <a:r>
              <a:rPr lang="he-IL" dirty="0"/>
              <a:t> וכתלות בתפוקה </a:t>
            </a:r>
            <a:r>
              <a:rPr lang="en-US" dirty="0"/>
              <a:t>X</a:t>
            </a:r>
            <a:r>
              <a:rPr lang="he-IL" dirty="0"/>
              <a:t>.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499492" y="5819263"/>
            <a:ext cx="1593669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l-GR" dirty="0"/>
              <a:t>Π</a:t>
            </a:r>
            <a:r>
              <a:rPr lang="en-US" dirty="0"/>
              <a:t>=P*X - TC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9492" y="6265986"/>
            <a:ext cx="1593669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l-GR" dirty="0"/>
              <a:t>Π</a:t>
            </a:r>
            <a:r>
              <a:rPr lang="en-US" dirty="0"/>
              <a:t>=P*X - 40X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88807" y="6269532"/>
            <a:ext cx="1620689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= X( P – 40)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FA0AF49-23FC-8F38-EC17-DE4EA66E6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6C113-85A0-4523-ABEC-E531FF48B7FC}" type="datetime8">
              <a:rPr lang="he-IL" smtClean="0"/>
              <a:t>27 דצמבר 25</a:t>
            </a:fld>
            <a:endParaRPr lang="he-IL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F6B8D27-98A6-E429-2E1E-0B2A65411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A981F-4466-4789-9E41-1885E502A96E}" type="slidenum">
              <a:rPr lang="he-IL" smtClean="0"/>
              <a:t>24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01579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/>
      <p:bldP spid="16" grpId="0"/>
      <p:bldP spid="17" grpId="0"/>
      <p:bldP spid="21" grpId="0"/>
      <p:bldP spid="22" grpId="0"/>
      <p:bldP spid="23" grpId="0" animBg="1"/>
      <p:bldP spid="24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6400800" y="823323"/>
            <a:ext cx="5547359" cy="7006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e-IL" sz="1800" dirty="0"/>
              <a:t>פירמה תחרותית מייצרת מוצר </a:t>
            </a:r>
            <a:r>
              <a:rPr lang="en-US" sz="1800" dirty="0"/>
              <a:t>X</a:t>
            </a:r>
            <a:r>
              <a:rPr lang="he-IL" sz="1800" dirty="0"/>
              <a:t>. </a:t>
            </a:r>
            <a:r>
              <a:rPr lang="he-IL" sz="1800" b="1" dirty="0"/>
              <a:t>הפירמה לא יכולה לייצר </a:t>
            </a:r>
            <a:br>
              <a:rPr lang="en-US" sz="1800" b="1" dirty="0"/>
            </a:br>
            <a:r>
              <a:rPr lang="he-IL" sz="1800" b="1" dirty="0"/>
              <a:t>יותר מ 50 יחידות תפוקה.</a:t>
            </a:r>
            <a:endParaRPr lang="en-US" sz="1800" b="1" dirty="0"/>
          </a:p>
          <a:p>
            <a:pPr marL="0" indent="0">
              <a:buNone/>
            </a:pPr>
            <a:r>
              <a:rPr lang="he-IL" sz="1800" dirty="0"/>
              <a:t>פונקציית העלות הכוללת של הפירמה נתונה על ידי: </a:t>
            </a:r>
            <a:endParaRPr lang="en-US" sz="1800" dirty="0"/>
          </a:p>
        </p:txBody>
      </p:sp>
      <p:sp>
        <p:nvSpPr>
          <p:cNvPr id="4" name="כותרת 1"/>
          <p:cNvSpPr txBox="1">
            <a:spLocks/>
          </p:cNvSpPr>
          <p:nvPr/>
        </p:nvSpPr>
        <p:spPr>
          <a:xfrm>
            <a:off x="8702039" y="137129"/>
            <a:ext cx="3382325" cy="4046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1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b="1" dirty="0">
                <a:solidFill>
                  <a:srgbClr val="000000"/>
                </a:solidFill>
              </a:rPr>
              <a:t>שאלה 2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812784" y="1392512"/>
            <a:ext cx="1645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dirty="0"/>
              <a:t>TC(X)=</a:t>
            </a:r>
            <a:r>
              <a:rPr lang="he-IL" dirty="0"/>
              <a:t> </a:t>
            </a:r>
            <a:r>
              <a:rPr lang="en-US" dirty="0"/>
              <a:t>40X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25891" y="263372"/>
            <a:ext cx="2769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dirty="0"/>
              <a:t>FC=0  </a:t>
            </a:r>
            <a:r>
              <a:rPr lang="he-IL" dirty="0"/>
              <a:t>א. אין עלויות קבועות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8024" y="726737"/>
            <a:ext cx="5460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sz="2400" dirty="0"/>
              <a:t>MC = 40</a:t>
            </a:r>
            <a:r>
              <a:rPr lang="he-IL" sz="2000" dirty="0"/>
              <a:t>ב. עלות שולית הינה קבועה ושווה ל-</a:t>
            </a:r>
            <a:endParaRPr lang="en-US" sz="2000" dirty="0"/>
          </a:p>
        </p:txBody>
      </p:sp>
      <p:grpSp>
        <p:nvGrpSpPr>
          <p:cNvPr id="10" name="קבוצה 10"/>
          <p:cNvGrpSpPr/>
          <p:nvPr/>
        </p:nvGrpSpPr>
        <p:grpSpPr>
          <a:xfrm>
            <a:off x="1819478" y="2881535"/>
            <a:ext cx="3369544" cy="2009724"/>
            <a:chOff x="641321" y="3357562"/>
            <a:chExt cx="5288001" cy="2357454"/>
          </a:xfrm>
        </p:grpSpPr>
        <p:cxnSp>
          <p:nvCxnSpPr>
            <p:cNvPr id="11" name="מחבר חץ ישר 11"/>
            <p:cNvCxnSpPr/>
            <p:nvPr/>
          </p:nvCxnSpPr>
          <p:spPr>
            <a:xfrm rot="5400000" flipH="1" flipV="1">
              <a:off x="-536612" y="4535495"/>
              <a:ext cx="2357454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מחבר חץ ישר 12"/>
            <p:cNvCxnSpPr/>
            <p:nvPr/>
          </p:nvCxnSpPr>
          <p:spPr>
            <a:xfrm flipV="1">
              <a:off x="642910" y="5715016"/>
              <a:ext cx="5286412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/>
          <p:cNvSpPr txBox="1"/>
          <p:nvPr/>
        </p:nvSpPr>
        <p:spPr>
          <a:xfrm>
            <a:off x="1171446" y="3748719"/>
            <a:ext cx="648072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b="1" dirty="0">
                <a:solidFill>
                  <a:prstClr val="black"/>
                </a:solidFill>
              </a:rPr>
              <a:t>40</a:t>
            </a:r>
            <a:endParaRPr lang="he-IL" sz="2400" b="1" dirty="0">
              <a:solidFill>
                <a:prstClr val="black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283826" y="5917448"/>
            <a:ext cx="338554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X</a:t>
            </a:r>
            <a:endParaRPr lang="he-IL" dirty="0">
              <a:solidFill>
                <a:prstClr val="black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63097" y="3001446"/>
            <a:ext cx="101822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solidFill>
                  <a:prstClr val="black"/>
                </a:solidFill>
              </a:rPr>
              <a:t>עלויות, </a:t>
            </a:r>
            <a:r>
              <a:rPr lang="en-US" dirty="0">
                <a:solidFill>
                  <a:prstClr val="black"/>
                </a:solidFill>
              </a:rPr>
              <a:t>P</a:t>
            </a:r>
            <a:endParaRPr lang="he-IL" dirty="0">
              <a:solidFill>
                <a:prstClr val="black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159724" y="4750109"/>
            <a:ext cx="32262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X</a:t>
            </a:r>
            <a:endParaRPr lang="he-IL" dirty="0">
              <a:solidFill>
                <a:prstClr val="black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605510" y="1276050"/>
            <a:ext cx="36357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he-IL" dirty="0"/>
              <a:t>ג. פונקציית הרווח של הפירמה: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392392" y="1517018"/>
            <a:ext cx="1920025" cy="523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l-GR" sz="2800" b="1" dirty="0"/>
              <a:t>π</a:t>
            </a:r>
            <a:r>
              <a:rPr lang="el-GR" b="1" dirty="0"/>
              <a:t> </a:t>
            </a:r>
            <a:r>
              <a:rPr lang="en-US" dirty="0"/>
              <a:t>=P*X - 40X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14144" y="1636496"/>
            <a:ext cx="1392847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= X(P – 40)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1793" y="2618590"/>
            <a:ext cx="575636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200000"/>
              </a:lnSpc>
            </a:pPr>
            <a:r>
              <a:rPr lang="he-IL" dirty="0"/>
              <a:t>מחיר השוק הוא </a:t>
            </a:r>
            <a:r>
              <a:rPr lang="en-US" dirty="0" err="1"/>
              <a:t>Px</a:t>
            </a:r>
            <a:r>
              <a:rPr lang="en-US" dirty="0"/>
              <a:t>=</a:t>
            </a:r>
            <a:r>
              <a:rPr lang="en-US" b="1" dirty="0"/>
              <a:t>80</a:t>
            </a:r>
            <a:r>
              <a:rPr lang="he-IL" dirty="0"/>
              <a:t>.</a:t>
            </a:r>
            <a:endParaRPr lang="en-US" dirty="0"/>
          </a:p>
          <a:p>
            <a:pPr lvl="0">
              <a:lnSpc>
                <a:spcPct val="200000"/>
              </a:lnSpc>
            </a:pPr>
            <a:r>
              <a:rPr lang="he-IL" dirty="0"/>
              <a:t>מחיר השוק הוא </a:t>
            </a:r>
            <a:r>
              <a:rPr lang="en-US" dirty="0" err="1"/>
              <a:t>Px</a:t>
            </a:r>
            <a:r>
              <a:rPr lang="en-US" dirty="0"/>
              <a:t>=</a:t>
            </a:r>
            <a:r>
              <a:rPr lang="en-US" b="1" dirty="0"/>
              <a:t>60</a:t>
            </a:r>
            <a:r>
              <a:rPr lang="he-IL" dirty="0"/>
              <a:t>.</a:t>
            </a:r>
            <a:endParaRPr lang="en-US" dirty="0"/>
          </a:p>
          <a:p>
            <a:pPr lvl="0">
              <a:lnSpc>
                <a:spcPct val="200000"/>
              </a:lnSpc>
            </a:pPr>
            <a:r>
              <a:rPr lang="he-IL" dirty="0"/>
              <a:t>מחיר השוק הוא </a:t>
            </a:r>
            <a:r>
              <a:rPr lang="en-US" b="1" dirty="0" err="1"/>
              <a:t>Px</a:t>
            </a:r>
            <a:r>
              <a:rPr lang="en-US" b="1" dirty="0"/>
              <a:t>=40</a:t>
            </a:r>
            <a:r>
              <a:rPr lang="he-IL" dirty="0"/>
              <a:t>.</a:t>
            </a:r>
            <a:endParaRPr lang="en-US" dirty="0"/>
          </a:p>
          <a:p>
            <a:pPr lvl="0">
              <a:lnSpc>
                <a:spcPct val="200000"/>
              </a:lnSpc>
            </a:pPr>
            <a:r>
              <a:rPr lang="he-IL" dirty="0"/>
              <a:t>מחיר הושק הוא </a:t>
            </a:r>
            <a:r>
              <a:rPr lang="en-US" dirty="0" err="1"/>
              <a:t>Px</a:t>
            </a:r>
            <a:r>
              <a:rPr lang="en-US" dirty="0"/>
              <a:t>=30</a:t>
            </a:r>
            <a:r>
              <a:rPr lang="he-IL" dirty="0"/>
              <a:t>.</a:t>
            </a:r>
          </a:p>
          <a:p>
            <a:pPr lvl="0"/>
            <a:endParaRPr lang="he-IL" dirty="0"/>
          </a:p>
          <a:p>
            <a:pPr lvl="0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מלבן 18"/>
              <p:cNvSpPr/>
              <p:nvPr/>
            </p:nvSpPr>
            <p:spPr>
              <a:xfrm>
                <a:off x="8405310" y="5717539"/>
                <a:ext cx="1998617" cy="437684"/>
              </a:xfrm>
              <a:prstGeom prst="rect">
                <a:avLst/>
              </a:prstGeom>
              <a:solidFill>
                <a:srgbClr val="CCFFFF"/>
              </a:solidFill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2000" b="1" smtClean="0">
                          <a:solidFill>
                            <a:prstClr val="black"/>
                          </a:solidFill>
                          <a:latin typeface="Cambria Math"/>
                        </a:rPr>
                        <m:t>𝐏</m:t>
                      </m:r>
                      <m:r>
                        <a:rPr lang="he-IL" sz="2000">
                          <a:solidFill>
                            <a:prstClr val="black"/>
                          </a:solidFill>
                          <a:latin typeface="Cambria Math"/>
                        </a:rPr>
                        <m:t>≥</m:t>
                      </m:r>
                      <m:r>
                        <a:rPr lang="he-IL" sz="20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he-IL" sz="2000">
                          <a:solidFill>
                            <a:prstClr val="black"/>
                          </a:solidFill>
                          <a:latin typeface="Cambria Math"/>
                        </a:rPr>
                        <m:t>0</m:t>
                      </m:r>
                      <m:r>
                        <a:rPr lang="he-IL" sz="2000">
                          <a:solidFill>
                            <a:prstClr val="black"/>
                          </a:solidFill>
                          <a:latin typeface="Cambria Math"/>
                        </a:rPr>
                        <m:t>  </m:t>
                      </m:r>
                      <m:r>
                        <a:rPr lang="he-IL" sz="2000">
                          <a:solidFill>
                            <a:prstClr val="black"/>
                          </a:solidFill>
                          <a:latin typeface="Cambria Math"/>
                        </a:rPr>
                        <m:t>כאשר</m:t>
                      </m:r>
                    </m:oMath>
                  </m:oMathPara>
                </a14:m>
                <a:endParaRPr lang="he-IL" sz="20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6" name="מלבן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5310" y="5717539"/>
                <a:ext cx="1998617" cy="437684"/>
              </a:xfrm>
              <a:prstGeom prst="rect">
                <a:avLst/>
              </a:prstGeom>
              <a:blipFill rotWithShape="0">
                <a:blip r:embed="rId2"/>
                <a:stretch>
                  <a:fillRect b="-229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מלבן 19"/>
          <p:cNvSpPr/>
          <p:nvPr/>
        </p:nvSpPr>
        <p:spPr>
          <a:xfrm>
            <a:off x="3599954" y="5732734"/>
            <a:ext cx="3858750" cy="400110"/>
          </a:xfrm>
          <a:prstGeom prst="rect">
            <a:avLst/>
          </a:prstGeom>
          <a:solidFill>
            <a:schemeClr val="bg1"/>
          </a:solidFill>
          <a:ln>
            <a:solidFill>
              <a:srgbClr val="CCCCF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he-IL" sz="2000" dirty="0">
                <a:solidFill>
                  <a:prstClr val="black"/>
                </a:solidFill>
              </a:rPr>
              <a:t>היצרן יסכים למכור כמה שיותר יחידות</a:t>
            </a:r>
          </a:p>
        </p:txBody>
      </p:sp>
      <p:sp>
        <p:nvSpPr>
          <p:cNvPr id="28" name="חץ שמאלה 20"/>
          <p:cNvSpPr/>
          <p:nvPr/>
        </p:nvSpPr>
        <p:spPr>
          <a:xfrm>
            <a:off x="7751702" y="5766408"/>
            <a:ext cx="360610" cy="287900"/>
          </a:xfrm>
          <a:prstGeom prst="leftArrow">
            <a:avLst/>
          </a:prstGeom>
          <a:solidFill>
            <a:schemeClr val="accent2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מלבן 21"/>
              <p:cNvSpPr/>
              <p:nvPr/>
            </p:nvSpPr>
            <p:spPr>
              <a:xfrm>
                <a:off x="8362585" y="6294399"/>
                <a:ext cx="1952036" cy="437684"/>
              </a:xfrm>
              <a:prstGeom prst="rect">
                <a:avLst/>
              </a:prstGeom>
              <a:solidFill>
                <a:srgbClr val="CCFFFF"/>
              </a:solidFill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2000" b="1" smtClean="0">
                          <a:solidFill>
                            <a:prstClr val="black"/>
                          </a:solidFill>
                          <a:latin typeface="Cambria Math"/>
                        </a:rPr>
                        <m:t>𝐏</m:t>
                      </m:r>
                      <m:r>
                        <a:rPr lang="he-IL" sz="2000">
                          <a:solidFill>
                            <a:prstClr val="black"/>
                          </a:solidFill>
                          <a:latin typeface="Cambria Math"/>
                        </a:rPr>
                        <m:t>&lt;</m:t>
                      </m:r>
                      <m:r>
                        <a:rPr lang="he-IL" sz="20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he-IL" sz="2000">
                          <a:solidFill>
                            <a:prstClr val="black"/>
                          </a:solidFill>
                          <a:latin typeface="Cambria Math"/>
                        </a:rPr>
                        <m:t>0</m:t>
                      </m:r>
                      <m:r>
                        <a:rPr lang="he-IL" sz="2000">
                          <a:solidFill>
                            <a:prstClr val="black"/>
                          </a:solidFill>
                          <a:latin typeface="Cambria Math"/>
                        </a:rPr>
                        <m:t>  </m:t>
                      </m:r>
                      <m:r>
                        <a:rPr lang="he-IL" sz="2000">
                          <a:solidFill>
                            <a:prstClr val="black"/>
                          </a:solidFill>
                          <a:latin typeface="Cambria Math"/>
                        </a:rPr>
                        <m:t>כאשר</m:t>
                      </m:r>
                    </m:oMath>
                  </m:oMathPara>
                </a14:m>
                <a:endParaRPr lang="he-IL" sz="20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9" name="מלבן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585" y="6294399"/>
                <a:ext cx="1952036" cy="437684"/>
              </a:xfrm>
              <a:prstGeom prst="rect">
                <a:avLst/>
              </a:prstGeom>
              <a:blipFill rotWithShape="0">
                <a:blip r:embed="rId3"/>
                <a:stretch>
                  <a:fillRect b="-24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מלבן 22"/>
          <p:cNvSpPr/>
          <p:nvPr/>
        </p:nvSpPr>
        <p:spPr>
          <a:xfrm>
            <a:off x="4712439" y="6313186"/>
            <a:ext cx="2746265" cy="400110"/>
          </a:xfrm>
          <a:prstGeom prst="rect">
            <a:avLst/>
          </a:prstGeom>
          <a:solidFill>
            <a:schemeClr val="bg1"/>
          </a:solidFill>
          <a:ln>
            <a:solidFill>
              <a:srgbClr val="CCCCF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he-IL" sz="2000" dirty="0">
                <a:solidFill>
                  <a:prstClr val="black"/>
                </a:solidFill>
              </a:rPr>
              <a:t>היצרן לא יסכים למכור כלל</a:t>
            </a:r>
          </a:p>
        </p:txBody>
      </p:sp>
      <p:sp>
        <p:nvSpPr>
          <p:cNvPr id="31" name="חץ שמאלה 23"/>
          <p:cNvSpPr/>
          <p:nvPr/>
        </p:nvSpPr>
        <p:spPr>
          <a:xfrm>
            <a:off x="7782308" y="6336612"/>
            <a:ext cx="360610" cy="287900"/>
          </a:xfrm>
          <a:prstGeom prst="leftArrow">
            <a:avLst/>
          </a:prstGeom>
          <a:solidFill>
            <a:schemeClr val="accent2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059295" y="5717539"/>
            <a:ext cx="1247661" cy="369332"/>
          </a:xfrm>
          <a:prstGeom prst="rect">
            <a:avLst/>
          </a:prstGeom>
          <a:noFill/>
          <a:ln>
            <a:solidFill>
              <a:srgbClr val="00FFFF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X= 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57175" y="6355332"/>
            <a:ext cx="958173" cy="369332"/>
          </a:xfrm>
          <a:prstGeom prst="rect">
            <a:avLst/>
          </a:prstGeom>
          <a:noFill/>
          <a:ln>
            <a:solidFill>
              <a:srgbClr val="00FFFF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X= 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33697" y="1918851"/>
            <a:ext cx="8957337" cy="457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rtl="1">
              <a:lnSpc>
                <a:spcPct val="150000"/>
              </a:lnSpc>
              <a:spcAft>
                <a:spcPts val="800"/>
              </a:spcAft>
            </a:pP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ד. מהי הכמות שתמקסם את הרווח של הפירמה ומהו הרווח של הפירמה כאשר מחיר השוק הוא:</a:t>
            </a:r>
            <a:endParaRPr lang="en-IL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Miriam" panose="020B0502050101010101" pitchFamily="34" charset="-79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781325" y="5258857"/>
            <a:ext cx="102097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e-IL" dirty="0"/>
              <a:t>ה. 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תארו את ההיצע של הפירמה בתרשים שבו התפוקה 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Miriam" panose="020B0502050101010101" pitchFamily="34" charset="-79"/>
              </a:rPr>
              <a:t>X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על הציר האופקי והמחיר 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Miriam" panose="020B0502050101010101" pitchFamily="34" charset="-79"/>
              </a:rPr>
              <a:t>Px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על הציר האנכי. </a:t>
            </a:r>
            <a:endParaRPr lang="en-IL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Miriam" panose="020B0502050101010101" pitchFamily="34" charset="-79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721549" y="2601337"/>
            <a:ext cx="3857221" cy="58477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l-GR" sz="3200" b="1" dirty="0"/>
              <a:t>π</a:t>
            </a:r>
            <a:r>
              <a:rPr lang="en-US" b="1" dirty="0"/>
              <a:t>= </a:t>
            </a:r>
            <a:r>
              <a:rPr lang="en-US" dirty="0"/>
              <a:t>X(P – 40)=50(</a:t>
            </a:r>
            <a:r>
              <a:rPr lang="en-US" b="1" dirty="0"/>
              <a:t>80</a:t>
            </a:r>
            <a:r>
              <a:rPr lang="en-US" dirty="0"/>
              <a:t>-40) = 2000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21509" y="3173826"/>
            <a:ext cx="3857221" cy="58477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l-GR" sz="3200" b="1" dirty="0"/>
              <a:t>π</a:t>
            </a:r>
            <a:r>
              <a:rPr lang="en-US" b="1" dirty="0"/>
              <a:t>= </a:t>
            </a:r>
            <a:r>
              <a:rPr lang="en-US" dirty="0"/>
              <a:t>X(P – 40)=50(</a:t>
            </a:r>
            <a:r>
              <a:rPr lang="en-US" b="1" dirty="0"/>
              <a:t>60</a:t>
            </a:r>
            <a:r>
              <a:rPr lang="en-US" dirty="0"/>
              <a:t>-40) = 1000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21509" y="3755506"/>
            <a:ext cx="3857221" cy="58477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l-GR" sz="3200" b="1" dirty="0"/>
              <a:t>π</a:t>
            </a:r>
            <a:r>
              <a:rPr lang="en-US" b="1" dirty="0"/>
              <a:t>= </a:t>
            </a:r>
            <a:r>
              <a:rPr lang="en-US" dirty="0"/>
              <a:t>X(P – 40)=50(</a:t>
            </a:r>
            <a:r>
              <a:rPr lang="en-US" b="1" dirty="0"/>
              <a:t>40</a:t>
            </a:r>
            <a:r>
              <a:rPr lang="en-US" dirty="0"/>
              <a:t>-40) = 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21508" y="4357534"/>
            <a:ext cx="3857221" cy="86177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l-GR" sz="3200" b="1" dirty="0"/>
              <a:t>π</a:t>
            </a:r>
            <a:r>
              <a:rPr lang="en-US" b="1" dirty="0"/>
              <a:t>= </a:t>
            </a:r>
            <a:r>
              <a:rPr lang="en-US" dirty="0"/>
              <a:t>X(P – 40)=</a:t>
            </a:r>
            <a:r>
              <a:rPr lang="en-US" b="1" dirty="0">
                <a:solidFill>
                  <a:srgbClr val="FF0000"/>
                </a:solidFill>
              </a:rPr>
              <a:t>0</a:t>
            </a:r>
            <a:r>
              <a:rPr lang="en-US" dirty="0"/>
              <a:t>(</a:t>
            </a:r>
            <a:r>
              <a:rPr lang="en-US" b="1" dirty="0"/>
              <a:t>30</a:t>
            </a:r>
            <a:r>
              <a:rPr lang="en-US" dirty="0"/>
              <a:t>-40) = 0 </a:t>
            </a:r>
            <a:r>
              <a:rPr lang="he-IL" dirty="0"/>
              <a:t> </a:t>
            </a:r>
            <a:br>
              <a:rPr lang="en-US" dirty="0"/>
            </a:br>
            <a:r>
              <a:rPr lang="he-IL" dirty="0"/>
              <a:t>הפירמה </a:t>
            </a:r>
            <a:r>
              <a:rPr lang="he-IL" b="1" dirty="0">
                <a:solidFill>
                  <a:srgbClr val="FF0000"/>
                </a:solidFill>
              </a:rPr>
              <a:t>לא תייצר</a:t>
            </a:r>
            <a:r>
              <a:rPr lang="he-IL" dirty="0"/>
              <a:t>!</a:t>
            </a:r>
            <a:endParaRPr lang="en-US" dirty="0"/>
          </a:p>
        </p:txBody>
      </p:sp>
      <p:cxnSp>
        <p:nvCxnSpPr>
          <p:cNvPr id="38" name="מחבר ישר 15">
            <a:extLst>
              <a:ext uri="{FF2B5EF4-FFF2-40B4-BE49-F238E27FC236}">
                <a16:creationId xmlns:a16="http://schemas.microsoft.com/office/drawing/2014/main" id="{9C140D67-1AB7-45C3-9F02-57228AEEBEC9}"/>
              </a:ext>
            </a:extLst>
          </p:cNvPr>
          <p:cNvCxnSpPr>
            <a:cxnSpLocks/>
          </p:cNvCxnSpPr>
          <p:nvPr/>
        </p:nvCxnSpPr>
        <p:spPr>
          <a:xfrm>
            <a:off x="1819518" y="3976465"/>
            <a:ext cx="3155636" cy="2212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C3C81F09-CA10-4DD3-AA6B-0B2A3394BEAA}"/>
              </a:ext>
            </a:extLst>
          </p:cNvPr>
          <p:cNvSpPr txBox="1"/>
          <p:nvPr/>
        </p:nvSpPr>
        <p:spPr>
          <a:xfrm>
            <a:off x="3208394" y="3581696"/>
            <a:ext cx="1229825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MC(x) = </a:t>
            </a:r>
            <a:r>
              <a:rPr lang="en-US" b="1" dirty="0">
                <a:solidFill>
                  <a:srgbClr val="FF0000"/>
                </a:solidFill>
              </a:rPr>
              <a:t>S</a:t>
            </a:r>
            <a:endParaRPr lang="he-IL" b="1" dirty="0">
              <a:solidFill>
                <a:srgbClr val="FF0000"/>
              </a:solidFill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EE0D73B-0BF4-43FE-9E79-3A46B948655C}"/>
              </a:ext>
            </a:extLst>
          </p:cNvPr>
          <p:cNvCxnSpPr>
            <a:cxnSpLocks/>
          </p:cNvCxnSpPr>
          <p:nvPr/>
        </p:nvCxnSpPr>
        <p:spPr>
          <a:xfrm>
            <a:off x="1819518" y="3979552"/>
            <a:ext cx="10762" cy="90457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98AD988-F574-4D4D-BA2F-3F849A7DDDA7}"/>
              </a:ext>
            </a:extLst>
          </p:cNvPr>
          <p:cNvCxnSpPr>
            <a:cxnSpLocks/>
          </p:cNvCxnSpPr>
          <p:nvPr/>
        </p:nvCxnSpPr>
        <p:spPr>
          <a:xfrm>
            <a:off x="4975154" y="2921414"/>
            <a:ext cx="13278" cy="108924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79C863C-6ACD-4281-BCA6-9C6B48CCF022}"/>
              </a:ext>
            </a:extLst>
          </p:cNvPr>
          <p:cNvSpPr txBox="1"/>
          <p:nvPr/>
        </p:nvSpPr>
        <p:spPr>
          <a:xfrm>
            <a:off x="4727708" y="4917477"/>
            <a:ext cx="494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dirty="0"/>
              <a:t>50</a:t>
            </a:r>
            <a:endParaRPr lang="en-IL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907510-E8A9-86A2-1F42-E421AF0ED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847A7-9B60-47AD-AAF2-EDC89FF71876}" type="datetime8">
              <a:rPr lang="he-IL" smtClean="0"/>
              <a:t>27 דצמבר 25</a:t>
            </a:fld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DBF64-CCC5-E4EF-D699-F46349508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A981F-4466-4789-9E41-1885E502A96E}" type="slidenum">
              <a:rPr lang="he-IL" smtClean="0"/>
              <a:t>25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15335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18" grpId="0" animBg="1"/>
      <p:bldP spid="32" grpId="0" animBg="1"/>
      <p:bldP spid="34" grpId="0" animBg="1"/>
      <p:bldP spid="35" grpId="0" animBg="1"/>
      <p:bldP spid="36" grpId="0" animBg="1"/>
      <p:bldP spid="37" grpId="0" animBg="1"/>
      <p:bldP spid="3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5436100" y="653848"/>
            <a:ext cx="6706924" cy="4696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e-IL" sz="1800" dirty="0"/>
              <a:t>פירמה תחרותית מייצרת מוצר </a:t>
            </a:r>
            <a:r>
              <a:rPr lang="en-US" sz="1800" dirty="0"/>
              <a:t>X</a:t>
            </a:r>
            <a:r>
              <a:rPr lang="he-IL" sz="1800" dirty="0"/>
              <a:t>. </a:t>
            </a:r>
            <a:r>
              <a:rPr lang="he-IL" sz="1800" b="1" dirty="0"/>
              <a:t>הפירמה לא יכולה לייצר יותר מ 50 יח. </a:t>
            </a:r>
            <a:endParaRPr lang="en-US" sz="1800" dirty="0"/>
          </a:p>
        </p:txBody>
      </p:sp>
      <p:sp>
        <p:nvSpPr>
          <p:cNvPr id="4" name="כותרת 1"/>
          <p:cNvSpPr txBox="1">
            <a:spLocks/>
          </p:cNvSpPr>
          <p:nvPr/>
        </p:nvSpPr>
        <p:spPr>
          <a:xfrm>
            <a:off x="8702039" y="137129"/>
            <a:ext cx="3382325" cy="4046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1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b="1" dirty="0">
                <a:solidFill>
                  <a:srgbClr val="000000"/>
                </a:solidFill>
              </a:rPr>
              <a:t>שאלה 2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96270" y="278442"/>
            <a:ext cx="1863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dirty="0">
                <a:highlight>
                  <a:srgbClr val="FFFF00"/>
                </a:highlight>
              </a:rPr>
              <a:t>TC(X)=</a:t>
            </a:r>
            <a:r>
              <a:rPr lang="he-IL" dirty="0">
                <a:highlight>
                  <a:srgbClr val="FFFF00"/>
                </a:highlight>
              </a:rPr>
              <a:t> </a:t>
            </a:r>
            <a:r>
              <a:rPr lang="en-US" dirty="0">
                <a:highlight>
                  <a:srgbClr val="FFFF00"/>
                </a:highlight>
              </a:rPr>
              <a:t>40X+100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5876" y="278442"/>
            <a:ext cx="3382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dirty="0"/>
              <a:t>FC=</a:t>
            </a:r>
            <a:r>
              <a:rPr lang="he-IL" dirty="0"/>
              <a:t>100</a:t>
            </a:r>
            <a:r>
              <a:rPr lang="en-US" dirty="0"/>
              <a:t>  </a:t>
            </a:r>
            <a:r>
              <a:rPr lang="he-IL" dirty="0"/>
              <a:t>ו.א יש עלויות קבועות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21611" y="697259"/>
            <a:ext cx="5460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sz="2400" dirty="0"/>
              <a:t>MC = 40</a:t>
            </a:r>
            <a:r>
              <a:rPr lang="he-IL" sz="2000" dirty="0"/>
              <a:t>ב. עלות שולית הינה קבועה ושווה ל-</a:t>
            </a:r>
            <a:endParaRPr lang="en-US" sz="2000" dirty="0"/>
          </a:p>
        </p:txBody>
      </p:sp>
      <p:grpSp>
        <p:nvGrpSpPr>
          <p:cNvPr id="10" name="קבוצה 10"/>
          <p:cNvGrpSpPr/>
          <p:nvPr/>
        </p:nvGrpSpPr>
        <p:grpSpPr>
          <a:xfrm>
            <a:off x="1819478" y="2471413"/>
            <a:ext cx="3369544" cy="2419845"/>
            <a:chOff x="641321" y="2876480"/>
            <a:chExt cx="5288001" cy="2838536"/>
          </a:xfrm>
        </p:grpSpPr>
        <p:cxnSp>
          <p:nvCxnSpPr>
            <p:cNvPr id="11" name="מחבר חץ ישר 11"/>
            <p:cNvCxnSpPr>
              <a:cxnSpLocks/>
            </p:cNvCxnSpPr>
            <p:nvPr/>
          </p:nvCxnSpPr>
          <p:spPr>
            <a:xfrm flipV="1">
              <a:off x="641321" y="2876480"/>
              <a:ext cx="16189" cy="283853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מחבר חץ ישר 12"/>
            <p:cNvCxnSpPr/>
            <p:nvPr/>
          </p:nvCxnSpPr>
          <p:spPr>
            <a:xfrm flipV="1">
              <a:off x="642910" y="5715016"/>
              <a:ext cx="5286412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/>
          <p:cNvSpPr txBox="1"/>
          <p:nvPr/>
        </p:nvSpPr>
        <p:spPr>
          <a:xfrm>
            <a:off x="1171446" y="3748719"/>
            <a:ext cx="648072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b="1" dirty="0">
                <a:solidFill>
                  <a:prstClr val="black"/>
                </a:solidFill>
              </a:rPr>
              <a:t>40</a:t>
            </a:r>
            <a:endParaRPr lang="he-IL" sz="2400" b="1" dirty="0">
              <a:solidFill>
                <a:prstClr val="black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63097" y="3001446"/>
            <a:ext cx="101822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solidFill>
                  <a:prstClr val="black"/>
                </a:solidFill>
              </a:rPr>
              <a:t>עלויות, </a:t>
            </a:r>
            <a:r>
              <a:rPr lang="en-US" dirty="0">
                <a:solidFill>
                  <a:prstClr val="black"/>
                </a:solidFill>
              </a:rPr>
              <a:t>P</a:t>
            </a:r>
            <a:endParaRPr lang="he-IL" dirty="0">
              <a:solidFill>
                <a:prstClr val="black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159724" y="4750109"/>
            <a:ext cx="32262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X</a:t>
            </a:r>
            <a:endParaRPr lang="he-IL" dirty="0">
              <a:solidFill>
                <a:prstClr val="black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08028" y="1244988"/>
            <a:ext cx="36357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he-IL" dirty="0"/>
              <a:t>ג. פונקציית הרווח של הפירמה: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211433" y="1553559"/>
            <a:ext cx="1920025" cy="523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l-GR" sz="2800" b="1" dirty="0"/>
              <a:t>π</a:t>
            </a:r>
            <a:r>
              <a:rPr lang="el-GR" b="1" dirty="0"/>
              <a:t> </a:t>
            </a:r>
            <a:r>
              <a:rPr lang="en-US" dirty="0"/>
              <a:t>=P*X - 40X-100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11511" y="1667321"/>
            <a:ext cx="1724750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= X(P – 40) - 100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72893" y="2708167"/>
            <a:ext cx="575636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200000"/>
              </a:lnSpc>
            </a:pPr>
            <a:r>
              <a:rPr lang="he-IL" dirty="0"/>
              <a:t>מחיר השוק הוא </a:t>
            </a:r>
            <a:r>
              <a:rPr lang="en-US" dirty="0" err="1"/>
              <a:t>Px</a:t>
            </a:r>
            <a:r>
              <a:rPr lang="en-US" dirty="0"/>
              <a:t>=</a:t>
            </a:r>
            <a:r>
              <a:rPr lang="en-US" b="1" dirty="0"/>
              <a:t>80</a:t>
            </a:r>
            <a:r>
              <a:rPr lang="he-IL" dirty="0"/>
              <a:t>.</a:t>
            </a:r>
            <a:endParaRPr lang="en-US" dirty="0"/>
          </a:p>
          <a:p>
            <a:pPr lvl="0">
              <a:lnSpc>
                <a:spcPct val="200000"/>
              </a:lnSpc>
            </a:pPr>
            <a:endParaRPr lang="en-US" dirty="0"/>
          </a:p>
          <a:p>
            <a:pPr lvl="0">
              <a:lnSpc>
                <a:spcPct val="200000"/>
              </a:lnSpc>
            </a:pPr>
            <a:r>
              <a:rPr lang="he-IL" dirty="0"/>
              <a:t>מחיר השוק הוא </a:t>
            </a:r>
            <a:r>
              <a:rPr lang="en-US" dirty="0" err="1"/>
              <a:t>Px</a:t>
            </a:r>
            <a:r>
              <a:rPr lang="en-US" dirty="0"/>
              <a:t>=</a:t>
            </a:r>
            <a:r>
              <a:rPr lang="en-US" b="1" dirty="0">
                <a:solidFill>
                  <a:srgbClr val="7030A0"/>
                </a:solidFill>
              </a:rPr>
              <a:t>60</a:t>
            </a:r>
            <a:r>
              <a:rPr lang="he-IL" dirty="0"/>
              <a:t>.</a:t>
            </a:r>
            <a:endParaRPr lang="en-US" dirty="0"/>
          </a:p>
          <a:p>
            <a:pPr lvl="0">
              <a:lnSpc>
                <a:spcPct val="200000"/>
              </a:lnSpc>
            </a:pPr>
            <a:endParaRPr lang="en-US" dirty="0"/>
          </a:p>
          <a:p>
            <a:pPr lvl="0">
              <a:lnSpc>
                <a:spcPct val="200000"/>
              </a:lnSpc>
            </a:pPr>
            <a:r>
              <a:rPr lang="he-IL" dirty="0"/>
              <a:t>מחיר השוק הוא </a:t>
            </a:r>
            <a:r>
              <a:rPr lang="en-US" b="1" dirty="0" err="1"/>
              <a:t>Px</a:t>
            </a:r>
            <a:r>
              <a:rPr lang="en-US" b="1" dirty="0"/>
              <a:t>=40</a:t>
            </a:r>
            <a:r>
              <a:rPr lang="he-IL" dirty="0"/>
              <a:t>.</a:t>
            </a:r>
            <a:endParaRPr lang="en-US" dirty="0"/>
          </a:p>
          <a:p>
            <a:pPr lvl="0">
              <a:lnSpc>
                <a:spcPct val="200000"/>
              </a:lnSpc>
            </a:pPr>
            <a:endParaRPr lang="en-US" dirty="0"/>
          </a:p>
          <a:p>
            <a:pPr lvl="0">
              <a:lnSpc>
                <a:spcPct val="200000"/>
              </a:lnSpc>
            </a:pPr>
            <a:r>
              <a:rPr lang="he-IL" dirty="0"/>
              <a:t>מחיר השוק הוא </a:t>
            </a:r>
            <a:r>
              <a:rPr lang="en-US" dirty="0" err="1"/>
              <a:t>Px</a:t>
            </a:r>
            <a:r>
              <a:rPr lang="en-US" dirty="0"/>
              <a:t>=30</a:t>
            </a:r>
            <a:r>
              <a:rPr lang="he-IL" dirty="0"/>
              <a:t>.</a:t>
            </a:r>
          </a:p>
          <a:p>
            <a:pPr lvl="0"/>
            <a:endParaRPr lang="he-IL" dirty="0"/>
          </a:p>
          <a:p>
            <a:pPr lvl="0"/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4688025" y="975077"/>
            <a:ext cx="7349120" cy="170424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 algn="r" rtl="1">
              <a:lnSpc>
                <a:spcPct val="150000"/>
              </a:lnSpc>
              <a:spcAft>
                <a:spcPts val="800"/>
              </a:spcAft>
            </a:pP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ו. כיצד הייתה משתנה תשובתכם לסעיפים ב'-ד' במידה והיצרן שוקל להיכנס לענף ופונקציית העלות הכוללת של הפירמה נתונה על ידי </a:t>
            </a:r>
            <a:r>
              <a:rPr lang="en-US" sz="1800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Miriam" panose="020B0502050101010101" pitchFamily="34" charset="-79"/>
              </a:rPr>
              <a:t>TC(X)=40X</a:t>
            </a:r>
            <a:r>
              <a:rPr lang="en-US" sz="1800" b="1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Miriam" panose="020B0502050101010101" pitchFamily="34" charset="-79"/>
              </a:rPr>
              <a:t>+100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 שימו לב, בתת סעיף ד' יש להתייחס ראשית האם כדאי ליצרן להיכנס לענף בכל רמת מחיר ואם כן כמה יחידות כדאי לייצר. </a:t>
            </a:r>
            <a:endParaRPr lang="en-IL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Miriam" panose="020B0502050101010101" pitchFamily="34" charset="-79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751412" y="2755225"/>
            <a:ext cx="6285733" cy="86177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l-GR" sz="3200" b="1" dirty="0"/>
              <a:t>π</a:t>
            </a:r>
            <a:r>
              <a:rPr lang="en-US" b="1" dirty="0"/>
              <a:t>= </a:t>
            </a:r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80</a:t>
            </a:r>
            <a:r>
              <a:rPr lang="en-US" dirty="0"/>
              <a:t>*50-(40*50+100)= 1900</a:t>
            </a:r>
          </a:p>
          <a:p>
            <a:pPr algn="l"/>
            <a:r>
              <a:rPr lang="he-IL" dirty="0"/>
              <a:t>הרווח הנקי חיובי ולכן הפירמה תייצר גם בטווח ארוך וגם בטווח הקצר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5820887" y="3937919"/>
            <a:ext cx="6205942" cy="86177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l-GR" sz="3200" b="1" dirty="0"/>
              <a:t>π</a:t>
            </a:r>
            <a:r>
              <a:rPr lang="en-US" b="1" dirty="0"/>
              <a:t>= </a:t>
            </a:r>
            <a:r>
              <a:rPr lang="en-US" b="1" dirty="0">
                <a:solidFill>
                  <a:srgbClr val="7030A0"/>
                </a:solidFill>
              </a:rPr>
              <a:t>60</a:t>
            </a:r>
            <a:r>
              <a:rPr lang="en-US" dirty="0"/>
              <a:t>*50-(40*50+100)= 900</a:t>
            </a:r>
          </a:p>
          <a:p>
            <a:r>
              <a:rPr lang="he-IL" dirty="0"/>
              <a:t>הרווח הנקי חיובי ולכן הפירמה תייצר גם בטווח ארוך וגם בטווח הקצר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5800256" y="5043499"/>
            <a:ext cx="6342768" cy="86177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l-GR" sz="3200" b="1" dirty="0"/>
              <a:t>π</a:t>
            </a:r>
            <a:r>
              <a:rPr lang="en-US" b="1" dirty="0"/>
              <a:t>= </a:t>
            </a:r>
            <a:r>
              <a:rPr lang="en-US" dirty="0"/>
              <a:t>40*50-(40*50+100)= -100</a:t>
            </a:r>
          </a:p>
          <a:p>
            <a:pPr algn="l"/>
            <a:r>
              <a:rPr lang="he-IL" dirty="0"/>
              <a:t>הרווח התפעולי שווה ל-0 והרווח הנקי שלילי ולכן ייצר בטווח קצר בלבד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5751413" y="6102114"/>
            <a:ext cx="6807608" cy="73866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 rtl="0"/>
            <a:r>
              <a:rPr lang="el-GR" sz="2400" b="1" dirty="0"/>
              <a:t>Π</a:t>
            </a:r>
            <a:r>
              <a:rPr lang="en-US" b="1" dirty="0"/>
              <a:t>&lt; 0</a:t>
            </a:r>
            <a:r>
              <a:rPr lang="he-IL" b="1" dirty="0"/>
              <a:t> </a:t>
            </a:r>
            <a:br>
              <a:rPr lang="en-US" dirty="0"/>
            </a:br>
            <a:r>
              <a:rPr lang="he-IL" dirty="0"/>
              <a:t>הפירמה </a:t>
            </a:r>
            <a:r>
              <a:rPr lang="he-IL" b="1" dirty="0">
                <a:solidFill>
                  <a:srgbClr val="FF0000"/>
                </a:solidFill>
              </a:rPr>
              <a:t>לא תייצר</a:t>
            </a:r>
            <a:r>
              <a:rPr lang="he-IL" dirty="0"/>
              <a:t>!</a:t>
            </a:r>
            <a:endParaRPr lang="en-US" dirty="0"/>
          </a:p>
        </p:txBody>
      </p:sp>
      <p:cxnSp>
        <p:nvCxnSpPr>
          <p:cNvPr id="38" name="מחבר ישר 15">
            <a:extLst>
              <a:ext uri="{FF2B5EF4-FFF2-40B4-BE49-F238E27FC236}">
                <a16:creationId xmlns:a16="http://schemas.microsoft.com/office/drawing/2014/main" id="{9C140D67-1AB7-45C3-9F02-57228AEEBEC9}"/>
              </a:ext>
            </a:extLst>
          </p:cNvPr>
          <p:cNvCxnSpPr>
            <a:cxnSpLocks/>
          </p:cNvCxnSpPr>
          <p:nvPr/>
        </p:nvCxnSpPr>
        <p:spPr>
          <a:xfrm>
            <a:off x="1819518" y="3976465"/>
            <a:ext cx="2194279" cy="4280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C3C81F09-CA10-4DD3-AA6B-0B2A3394BEAA}"/>
              </a:ext>
            </a:extLst>
          </p:cNvPr>
          <p:cNvSpPr txBox="1"/>
          <p:nvPr/>
        </p:nvSpPr>
        <p:spPr>
          <a:xfrm>
            <a:off x="2176429" y="3950509"/>
            <a:ext cx="90762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MC= </a:t>
            </a:r>
            <a:r>
              <a:rPr lang="en-US" b="1" dirty="0">
                <a:solidFill>
                  <a:srgbClr val="FF0000"/>
                </a:solidFill>
              </a:rPr>
              <a:t>40</a:t>
            </a:r>
            <a:endParaRPr lang="he-IL" b="1" dirty="0">
              <a:solidFill>
                <a:srgbClr val="FF000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79C863C-6ACD-4281-BCA6-9C6B48CCF022}"/>
              </a:ext>
            </a:extLst>
          </p:cNvPr>
          <p:cNvSpPr txBox="1"/>
          <p:nvPr/>
        </p:nvSpPr>
        <p:spPr>
          <a:xfrm>
            <a:off x="3719416" y="4900874"/>
            <a:ext cx="494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dirty="0"/>
              <a:t>50</a:t>
            </a:r>
            <a:endParaRPr lang="en-IL" dirty="0"/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FD5C6AB0-E7B8-4A44-AC06-7D75448E556A}"/>
              </a:ext>
            </a:extLst>
          </p:cNvPr>
          <p:cNvSpPr/>
          <p:nvPr/>
        </p:nvSpPr>
        <p:spPr>
          <a:xfrm rot="10637969">
            <a:off x="1989500" y="1096564"/>
            <a:ext cx="3460735" cy="2834753"/>
          </a:xfrm>
          <a:prstGeom prst="arc">
            <a:avLst>
              <a:gd name="adj1" fmla="val 16200000"/>
              <a:gd name="adj2" fmla="val 21598823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2968045-DEC6-463E-9353-4566DD5A2AC9}"/>
              </a:ext>
            </a:extLst>
          </p:cNvPr>
          <p:cNvSpPr txBox="1"/>
          <p:nvPr/>
        </p:nvSpPr>
        <p:spPr>
          <a:xfrm>
            <a:off x="2927273" y="3541271"/>
            <a:ext cx="5383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ATC</a:t>
            </a:r>
            <a:endParaRPr lang="en-IL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88D685-F86C-7C40-C360-F5B63AAA87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599353"/>
            <a:ext cx="2743200" cy="365125"/>
          </a:xfrm>
        </p:spPr>
        <p:txBody>
          <a:bodyPr/>
          <a:lstStyle/>
          <a:p>
            <a:fld id="{C21767B2-6627-460F-9A79-DDB21F465023}" type="datetime8">
              <a:rPr lang="he-IL" smtClean="0"/>
              <a:t>27 דצמבר 25</a:t>
            </a:fld>
            <a:endParaRPr lang="he-I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0D28C-BFFD-733C-4D33-99B5D9644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A981F-4466-4789-9E41-1885E502A96E}" type="slidenum">
              <a:rPr lang="he-IL" smtClean="0"/>
              <a:t>26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8467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2" grpId="0"/>
      <p:bldP spid="24" grpId="0" animBg="1"/>
      <p:bldP spid="25" grpId="0" animBg="1"/>
      <p:bldP spid="34" grpId="0" animBg="1"/>
      <p:bldP spid="35" grpId="0" animBg="1"/>
      <p:bldP spid="36" grpId="0" animBg="1"/>
      <p:bldP spid="37" grpId="0" animBg="1"/>
      <p:bldP spid="39" grpId="0"/>
      <p:bldP spid="43" grpId="0" animBg="1"/>
      <p:bldP spid="4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676983" y="3474"/>
            <a:ext cx="1991017" cy="864761"/>
          </a:xfrm>
        </p:spPr>
        <p:txBody>
          <a:bodyPr>
            <a:normAutofit/>
          </a:bodyPr>
          <a:lstStyle/>
          <a:p>
            <a:pPr algn="r"/>
            <a:r>
              <a:rPr lang="he-IL" b="1" dirty="0">
                <a:solidFill>
                  <a:schemeClr val="tx2">
                    <a:lumMod val="75000"/>
                  </a:schemeClr>
                </a:solidFill>
              </a:rPr>
              <a:t>שאלה 3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847529" y="468015"/>
            <a:ext cx="6829455" cy="4324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e-IL" sz="2000" dirty="0"/>
              <a:t>להלן נתונות עלויות הייצור של יצרן הפועל בתנאי תחרות משוכללת:</a:t>
            </a:r>
            <a:endParaRPr lang="en-IL" sz="2000" dirty="0"/>
          </a:p>
        </p:txBody>
      </p:sp>
      <p:sp>
        <p:nvSpPr>
          <p:cNvPr id="12" name="מציין מיקום תוכן 2"/>
          <p:cNvSpPr txBox="1">
            <a:spLocks/>
          </p:cNvSpPr>
          <p:nvPr/>
        </p:nvSpPr>
        <p:spPr>
          <a:xfrm>
            <a:off x="2063553" y="908720"/>
            <a:ext cx="8604448" cy="1143000"/>
          </a:xfrm>
          <a:prstGeom prst="rect">
            <a:avLst/>
          </a:prstGeom>
        </p:spPr>
        <p:txBody>
          <a:bodyPr vert="horz" lIns="91440" tIns="45720" rIns="91440" bIns="45720" rtlCol="1">
            <a:normAutofit fontScale="85000" lnSpcReduction="10000"/>
          </a:bodyPr>
          <a:lstStyle>
            <a:lvl1pPr marL="342900" indent="-3429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he-IL" sz="1800" dirty="0"/>
              <a:t>א. מחיר המוצר הוא 52 שקלים. ההוצאות הקבועות שוות ל 40 שקלים.</a:t>
            </a:r>
            <a:endParaRPr lang="en-IL" sz="1800" dirty="0"/>
          </a:p>
          <a:p>
            <a:pPr marL="0" indent="0">
              <a:lnSpc>
                <a:spcPct val="150000"/>
              </a:lnSpc>
              <a:buNone/>
            </a:pPr>
            <a:r>
              <a:rPr lang="he-IL" sz="1800" dirty="0"/>
              <a:t>השלימו את טבלת העלויות של היצרן. </a:t>
            </a:r>
            <a:endParaRPr lang="en-IL" sz="1800" dirty="0"/>
          </a:p>
          <a:p>
            <a:pPr marL="0" indent="0">
              <a:lnSpc>
                <a:spcPct val="150000"/>
              </a:lnSpc>
              <a:buNone/>
            </a:pPr>
            <a:r>
              <a:rPr lang="he-IL" sz="1800" dirty="0"/>
              <a:t>ב. האם היצרן ייצר בטווח הארוך (האם יהיה מעוניין להיכנס לענף)? נמקו תשובתכם </a:t>
            </a:r>
            <a:r>
              <a:rPr lang="he-IL" sz="1800" u="sng" dirty="0"/>
              <a:t>ללא חישוב כלל</a:t>
            </a:r>
            <a:r>
              <a:rPr lang="he-IL" sz="1800" dirty="0"/>
              <a:t>.</a:t>
            </a:r>
            <a:endParaRPr lang="en-IL" sz="18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51783" y="2276873"/>
          <a:ext cx="5305110" cy="2991895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7631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47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1799">
                  <a:extLst>
                    <a:ext uri="{9D8B030D-6E8A-4147-A177-3AD203B41FA5}">
                      <a16:colId xmlns:a16="http://schemas.microsoft.com/office/drawing/2014/main" val="938454355"/>
                    </a:ext>
                  </a:extLst>
                </a:gridCol>
                <a:gridCol w="911799">
                  <a:extLst>
                    <a:ext uri="{9D8B030D-6E8A-4147-A177-3AD203B41FA5}">
                      <a16:colId xmlns:a16="http://schemas.microsoft.com/office/drawing/2014/main" val="2222543027"/>
                    </a:ext>
                  </a:extLst>
                </a:gridCol>
                <a:gridCol w="911799">
                  <a:extLst>
                    <a:ext uri="{9D8B030D-6E8A-4147-A177-3AD203B41FA5}">
                      <a16:colId xmlns:a16="http://schemas.microsoft.com/office/drawing/2014/main" val="74894961"/>
                    </a:ext>
                  </a:extLst>
                </a:gridCol>
                <a:gridCol w="911799">
                  <a:extLst>
                    <a:ext uri="{9D8B030D-6E8A-4147-A177-3AD203B41FA5}">
                      <a16:colId xmlns:a16="http://schemas.microsoft.com/office/drawing/2014/main" val="2089867527"/>
                    </a:ext>
                  </a:extLst>
                </a:gridCol>
              </a:tblGrid>
              <a:tr h="576064"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 dirty="0">
                          <a:effectLst/>
                        </a:rPr>
                        <a:t> תפוקה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he-IL" sz="11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עלות כוללת </a:t>
                      </a:r>
                      <a:r>
                        <a:rPr lang="en-US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TC</a:t>
                      </a:r>
                      <a:endParaRPr lang="en-I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he-IL" sz="11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עלות כוללת ממוצעת </a:t>
                      </a:r>
                      <a:r>
                        <a:rPr lang="en-US" sz="11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ATC </a:t>
                      </a:r>
                      <a:endParaRPr lang="en-I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he-IL" sz="11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עלות משתנה</a:t>
                      </a:r>
                      <a:endParaRPr lang="en-I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VC</a:t>
                      </a:r>
                      <a:endParaRPr lang="en-I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he-IL" sz="11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עלות משתנה ממוצעת </a:t>
                      </a:r>
                      <a:r>
                        <a:rPr lang="en-US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AVC </a:t>
                      </a:r>
                      <a:endParaRPr lang="en-I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600" b="1" dirty="0">
                          <a:solidFill>
                            <a:schemeClr val="tx2"/>
                          </a:solidFill>
                          <a:effectLst/>
                        </a:rPr>
                        <a:t>עלות שולית  </a:t>
                      </a:r>
                      <a:r>
                        <a:rPr lang="en-US" sz="1600" b="1" dirty="0">
                          <a:solidFill>
                            <a:schemeClr val="tx2"/>
                          </a:solidFill>
                          <a:effectLst/>
                        </a:rPr>
                        <a:t>MC</a:t>
                      </a:r>
                      <a:r>
                        <a:rPr lang="he-IL" sz="1600" b="1" dirty="0">
                          <a:solidFill>
                            <a:schemeClr val="tx2"/>
                          </a:solidFill>
                          <a:effectLst/>
                        </a:rPr>
                        <a:t> </a:t>
                      </a:r>
                      <a:endParaRPr lang="en-US" sz="1600" b="1" dirty="0">
                        <a:solidFill>
                          <a:schemeClr val="tx2"/>
                        </a:solidFill>
                        <a:effectLst/>
                        <a:latin typeface="Times New Roman"/>
                        <a:ea typeface="Times New Roman"/>
                        <a:cs typeface="Miriam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55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55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55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u="none" strike="noStrike" dirty="0">
                          <a:effectLst/>
                        </a:rPr>
                        <a:t>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55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u="none" strike="noStrike" dirty="0">
                          <a:effectLst/>
                        </a:rPr>
                        <a:t>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55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u="none" strike="noStrike">
                          <a:effectLst/>
                        </a:rPr>
                        <a:t>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55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155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u="none" strike="noStrike">
                          <a:effectLst/>
                        </a:rPr>
                        <a:t>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261C911-5116-49BC-960B-C41F21E3B340}"/>
              </a:ext>
            </a:extLst>
          </p:cNvPr>
          <p:cNvSpPr txBox="1"/>
          <p:nvPr/>
        </p:nvSpPr>
        <p:spPr>
          <a:xfrm>
            <a:off x="2722041" y="2092206"/>
            <a:ext cx="864096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Px= 52</a:t>
            </a:r>
            <a:endParaRPr lang="en-IL" dirty="0"/>
          </a:p>
        </p:txBody>
      </p:sp>
      <p:sp>
        <p:nvSpPr>
          <p:cNvPr id="7" name="מציין מיקום תוכן 2">
            <a:extLst>
              <a:ext uri="{FF2B5EF4-FFF2-40B4-BE49-F238E27FC236}">
                <a16:creationId xmlns:a16="http://schemas.microsoft.com/office/drawing/2014/main" id="{0014E78F-BCCD-4266-A0BA-34433E579F20}"/>
              </a:ext>
            </a:extLst>
          </p:cNvPr>
          <p:cNvSpPr txBox="1">
            <a:spLocks/>
          </p:cNvSpPr>
          <p:nvPr/>
        </p:nvSpPr>
        <p:spPr>
          <a:xfrm>
            <a:off x="5519936" y="5477687"/>
            <a:ext cx="5004048" cy="1143000"/>
          </a:xfrm>
          <a:prstGeom prst="rect">
            <a:avLst/>
          </a:prstGeom>
        </p:spPr>
        <p:txBody>
          <a:bodyPr vert="horz" lIns="91440" tIns="45720" rIns="91440" bIns="45720" rtlCol="1">
            <a:normAutofit lnSpcReduction="10000"/>
          </a:bodyPr>
          <a:lstStyle>
            <a:lvl1pPr marL="342900" indent="-3429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he-IL" sz="1600" dirty="0"/>
              <a:t>ג.  מצאו את הכמות המיוצרת </a:t>
            </a:r>
            <a:r>
              <a:rPr lang="he-IL" sz="1600" u="sng" dirty="0"/>
              <a:t>בטווח הקצר</a:t>
            </a:r>
            <a:r>
              <a:rPr lang="he-IL" sz="1600" dirty="0"/>
              <a:t>.</a:t>
            </a:r>
            <a:endParaRPr lang="en-IL" sz="1600" dirty="0"/>
          </a:p>
          <a:p>
            <a:pPr marL="0" indent="0">
              <a:lnSpc>
                <a:spcPct val="150000"/>
              </a:lnSpc>
              <a:buNone/>
            </a:pPr>
            <a:r>
              <a:rPr lang="he-IL" sz="1600" dirty="0"/>
              <a:t>ד.  מצאו את </a:t>
            </a:r>
            <a:r>
              <a:rPr lang="he-IL" sz="1600" u="sng" dirty="0"/>
              <a:t>הרווח התפעולי</a:t>
            </a:r>
            <a:r>
              <a:rPr lang="he-IL" sz="1600" dirty="0"/>
              <a:t> ואת </a:t>
            </a:r>
            <a:r>
              <a:rPr lang="he-IL" sz="1600" u="sng" dirty="0"/>
              <a:t>הרווח הכולל (הנקי)</a:t>
            </a:r>
            <a:r>
              <a:rPr lang="he-IL" sz="1600" dirty="0"/>
              <a:t> </a:t>
            </a:r>
            <a:br>
              <a:rPr lang="en-US" sz="1600" dirty="0"/>
            </a:br>
            <a:r>
              <a:rPr lang="en-US" sz="1600" dirty="0"/>
              <a:t>     </a:t>
            </a:r>
            <a:r>
              <a:rPr lang="he-IL" sz="1600" dirty="0"/>
              <a:t>אם ידוע שהפירמה נמצאת בתוך הענף (טווח קצר)</a:t>
            </a:r>
            <a:r>
              <a:rPr lang="he-IL" sz="900" dirty="0"/>
              <a:t>.</a:t>
            </a:r>
            <a:endParaRPr lang="en-IL" sz="700" dirty="0"/>
          </a:p>
        </p:txBody>
      </p:sp>
    </p:spTree>
    <p:extLst>
      <p:ext uri="{BB962C8B-B14F-4D97-AF65-F5344CB8AC3E}">
        <p14:creationId xmlns:p14="http://schemas.microsoft.com/office/powerpoint/2010/main" val="2309960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832304" y="3473"/>
            <a:ext cx="1835696" cy="1143000"/>
          </a:xfrm>
        </p:spPr>
        <p:txBody>
          <a:bodyPr>
            <a:normAutofit/>
          </a:bodyPr>
          <a:lstStyle/>
          <a:p>
            <a:pPr algn="r"/>
            <a:r>
              <a:rPr lang="he-IL" b="1" dirty="0">
                <a:solidFill>
                  <a:schemeClr val="tx2">
                    <a:lumMod val="75000"/>
                  </a:schemeClr>
                </a:solidFill>
              </a:rPr>
              <a:t>שאלה 3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847529" y="468015"/>
            <a:ext cx="6829455" cy="4324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e-IL" sz="1600" dirty="0"/>
              <a:t>להלן נתונות עלויות הייצור של יצרן הפועל בתנאי תחרות משוכללת:</a:t>
            </a:r>
            <a:endParaRPr lang="en-IL" sz="1600" dirty="0"/>
          </a:p>
        </p:txBody>
      </p:sp>
      <p:sp>
        <p:nvSpPr>
          <p:cNvPr id="12" name="מציין מיקום תוכן 2"/>
          <p:cNvSpPr txBox="1">
            <a:spLocks/>
          </p:cNvSpPr>
          <p:nvPr/>
        </p:nvSpPr>
        <p:spPr>
          <a:xfrm>
            <a:off x="2063553" y="908720"/>
            <a:ext cx="9720130" cy="1143000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e-IL" sz="1800" dirty="0"/>
              <a:t>א. מחיר המוצר הוא 52 שקלים. ההוצאות הקבועות שוות ל </a:t>
            </a:r>
            <a:r>
              <a:rPr lang="he-IL" sz="1800" b="1" dirty="0"/>
              <a:t>40</a:t>
            </a:r>
            <a:r>
              <a:rPr lang="en-US" sz="1800" b="1" dirty="0"/>
              <a:t>FC=</a:t>
            </a:r>
            <a:r>
              <a:rPr lang="he-IL" sz="1800" b="1" dirty="0"/>
              <a:t> </a:t>
            </a:r>
            <a:r>
              <a:rPr lang="he-IL" sz="1800" dirty="0"/>
              <a:t>שקלים.</a:t>
            </a:r>
            <a:endParaRPr lang="en-IL" sz="1800" dirty="0"/>
          </a:p>
          <a:p>
            <a:pPr marL="0" indent="0">
              <a:buNone/>
            </a:pPr>
            <a:r>
              <a:rPr lang="he-IL" sz="1800" dirty="0"/>
              <a:t>השלימו את טבלת העלויות של היצרן. </a:t>
            </a:r>
            <a:endParaRPr lang="en-IL" sz="1800" dirty="0"/>
          </a:p>
          <a:p>
            <a:pPr marL="0" indent="0">
              <a:buNone/>
            </a:pPr>
            <a:r>
              <a:rPr lang="he-IL" sz="1800" dirty="0"/>
              <a:t>ב. האם היצרן ייצר בטווח הארוך (האם יהיה מעוניין להיכנס לענף)? נמקו תשובתכם </a:t>
            </a:r>
            <a:r>
              <a:rPr lang="he-IL" sz="1800" u="sng" dirty="0"/>
              <a:t>ללא חישוב כלל</a:t>
            </a:r>
            <a:r>
              <a:rPr lang="he-IL" sz="1800" dirty="0"/>
              <a:t>.</a:t>
            </a:r>
            <a:endParaRPr lang="en-IL" sz="18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755295" y="2042422"/>
          <a:ext cx="5305110" cy="2991895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7631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47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1799">
                  <a:extLst>
                    <a:ext uri="{9D8B030D-6E8A-4147-A177-3AD203B41FA5}">
                      <a16:colId xmlns:a16="http://schemas.microsoft.com/office/drawing/2014/main" val="938454355"/>
                    </a:ext>
                  </a:extLst>
                </a:gridCol>
                <a:gridCol w="911799">
                  <a:extLst>
                    <a:ext uri="{9D8B030D-6E8A-4147-A177-3AD203B41FA5}">
                      <a16:colId xmlns:a16="http://schemas.microsoft.com/office/drawing/2014/main" val="2222543027"/>
                    </a:ext>
                  </a:extLst>
                </a:gridCol>
                <a:gridCol w="1052215">
                  <a:extLst>
                    <a:ext uri="{9D8B030D-6E8A-4147-A177-3AD203B41FA5}">
                      <a16:colId xmlns:a16="http://schemas.microsoft.com/office/drawing/2014/main" val="74894961"/>
                    </a:ext>
                  </a:extLst>
                </a:gridCol>
                <a:gridCol w="771383">
                  <a:extLst>
                    <a:ext uri="{9D8B030D-6E8A-4147-A177-3AD203B41FA5}">
                      <a16:colId xmlns:a16="http://schemas.microsoft.com/office/drawing/2014/main" val="2089867527"/>
                    </a:ext>
                  </a:extLst>
                </a:gridCol>
              </a:tblGrid>
              <a:tr h="576064"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 dirty="0">
                          <a:effectLst/>
                        </a:rPr>
                        <a:t> תפוקה </a:t>
                      </a:r>
                      <a:r>
                        <a:rPr lang="en-US" sz="1600" b="1" u="none" strike="noStrike" dirty="0">
                          <a:effectLst/>
                        </a:rPr>
                        <a:t>Q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he-IL" sz="11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עלות כוללת </a:t>
                      </a:r>
                      <a:r>
                        <a:rPr lang="en-US" sz="11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TC</a:t>
                      </a:r>
                      <a:endParaRPr lang="en-IL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he-IL" sz="11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עלות כוללת </a:t>
                      </a:r>
                      <a:r>
                        <a:rPr lang="he-IL" sz="11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ממוצעת</a:t>
                      </a:r>
                      <a:r>
                        <a:rPr lang="he-IL" sz="11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1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ATC</a:t>
                      </a:r>
                      <a:endParaRPr lang="en-I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he-IL" sz="11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עלות משתנה</a:t>
                      </a:r>
                      <a:endParaRPr lang="en-I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VC=TC-FC</a:t>
                      </a:r>
                      <a:endParaRPr lang="en-IL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he-IL" sz="11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עלות משתנה ממוצעת </a:t>
                      </a:r>
                      <a:br>
                        <a:rPr lang="he-IL" sz="11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</a:br>
                      <a:r>
                        <a:rPr lang="en-US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AVC =VC/Q</a:t>
                      </a:r>
                      <a:endParaRPr lang="en-I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600" b="1" dirty="0">
                          <a:solidFill>
                            <a:schemeClr val="tx2"/>
                          </a:solidFill>
                          <a:effectLst/>
                        </a:rPr>
                        <a:t>עלות שולית  </a:t>
                      </a:r>
                      <a:r>
                        <a:rPr lang="en-US" sz="1600" b="1" dirty="0">
                          <a:solidFill>
                            <a:schemeClr val="tx2"/>
                          </a:solidFill>
                          <a:effectLst/>
                        </a:rPr>
                        <a:t>MC</a:t>
                      </a:r>
                      <a:r>
                        <a:rPr lang="he-IL" sz="1600" b="1" dirty="0">
                          <a:solidFill>
                            <a:schemeClr val="tx2"/>
                          </a:solidFill>
                          <a:effectLst/>
                        </a:rPr>
                        <a:t> </a:t>
                      </a:r>
                      <a:endParaRPr lang="en-US" sz="1600" b="1" dirty="0">
                        <a:solidFill>
                          <a:schemeClr val="tx2"/>
                        </a:solidFill>
                        <a:effectLst/>
                        <a:latin typeface="Times New Roman"/>
                        <a:ea typeface="Times New Roman"/>
                        <a:cs typeface="Miriam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55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600" b="1" i="0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55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u="none" strike="noStrike" dirty="0">
                          <a:effectLst/>
                        </a:rPr>
                        <a:t>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60*1</a:t>
                      </a: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  <a:endParaRPr lang="en-US" sz="1600" b="1" i="0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55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u="none" strike="noStrike" dirty="0">
                          <a:effectLst/>
                        </a:rPr>
                        <a:t>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50*2=100</a:t>
                      </a: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  <a:endParaRPr lang="en-US" sz="1600" b="1" i="0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100-40=60</a:t>
                      </a: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60/2=30</a:t>
                      </a: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55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u="none" strike="noStrike" dirty="0">
                          <a:effectLst/>
                        </a:rPr>
                        <a:t>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150</a:t>
                      </a: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  <a:endParaRPr lang="en-US" sz="1600" b="1" i="0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</a:t>
                      </a: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110/3=36.67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55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u="none" strike="noStrike">
                          <a:effectLst/>
                        </a:rPr>
                        <a:t>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220</a:t>
                      </a: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55</a:t>
                      </a:r>
                      <a:endParaRPr lang="en-US" sz="1600" b="1" i="0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180</a:t>
                      </a: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180/4=45</a:t>
                      </a: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55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  <a:endParaRPr lang="en-US" sz="1600" b="1" i="0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260</a:t>
                      </a: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</a:t>
                      </a: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155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u="none" strike="noStrike">
                          <a:effectLst/>
                        </a:rPr>
                        <a:t>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420</a:t>
                      </a: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  <a:endParaRPr lang="en-US" sz="1600" b="1" i="0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380</a:t>
                      </a: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63.33</a:t>
                      </a: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</a:t>
                      </a: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261C911-5116-49BC-960B-C41F21E3B340}"/>
              </a:ext>
            </a:extLst>
          </p:cNvPr>
          <p:cNvSpPr txBox="1"/>
          <p:nvPr/>
        </p:nvSpPr>
        <p:spPr>
          <a:xfrm>
            <a:off x="3868960" y="4018988"/>
            <a:ext cx="864096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Px= 52</a:t>
            </a:r>
            <a:endParaRPr lang="en-IL" dirty="0"/>
          </a:p>
        </p:txBody>
      </p:sp>
      <p:sp>
        <p:nvSpPr>
          <p:cNvPr id="7" name="מציין מיקום תוכן 2">
            <a:extLst>
              <a:ext uri="{FF2B5EF4-FFF2-40B4-BE49-F238E27FC236}">
                <a16:creationId xmlns:a16="http://schemas.microsoft.com/office/drawing/2014/main" id="{0014E78F-BCCD-4266-A0BA-34433E579F20}"/>
              </a:ext>
            </a:extLst>
          </p:cNvPr>
          <p:cNvSpPr txBox="1">
            <a:spLocks/>
          </p:cNvSpPr>
          <p:nvPr/>
        </p:nvSpPr>
        <p:spPr>
          <a:xfrm>
            <a:off x="5431423" y="5092706"/>
            <a:ext cx="6352260" cy="1072383"/>
          </a:xfrm>
          <a:prstGeom prst="rect">
            <a:avLst/>
          </a:prstGeom>
        </p:spPr>
        <p:txBody>
          <a:bodyPr vert="horz" lIns="91440" tIns="45720" rIns="91440" bIns="45720" rtlCol="1">
            <a:normAutofit fontScale="25000" lnSpcReduction="20000"/>
          </a:bodyPr>
          <a:lstStyle>
            <a:lvl1pPr marL="342900" indent="-3429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e-IL" sz="5600" dirty="0"/>
              <a:t>ג.  מצאו את הכמות המיוצרת </a:t>
            </a:r>
            <a:r>
              <a:rPr lang="he-IL" sz="5600" u="sng" dirty="0"/>
              <a:t>בטווח הקצר/ארוך</a:t>
            </a:r>
            <a:r>
              <a:rPr lang="he-IL" sz="5600" dirty="0"/>
              <a:t>.</a:t>
            </a:r>
          </a:p>
          <a:p>
            <a:pPr marL="0" indent="0">
              <a:buNone/>
            </a:pPr>
            <a:endParaRPr lang="en-IL" sz="5600" dirty="0"/>
          </a:p>
          <a:p>
            <a:pPr marL="0" indent="0">
              <a:buNone/>
            </a:pPr>
            <a:r>
              <a:rPr lang="he-IL" sz="5600" dirty="0"/>
              <a:t>ד.  מצאו את </a:t>
            </a:r>
            <a:r>
              <a:rPr lang="he-IL" sz="5600" u="sng" dirty="0"/>
              <a:t>הרווח התפעולי</a:t>
            </a:r>
            <a:r>
              <a:rPr lang="he-IL" sz="5600" dirty="0"/>
              <a:t> ואת </a:t>
            </a:r>
            <a:r>
              <a:rPr lang="he-IL" sz="5600" u="sng" dirty="0"/>
              <a:t>הרווח הכולל (הנקי)</a:t>
            </a:r>
            <a:r>
              <a:rPr lang="he-IL" sz="5600" dirty="0"/>
              <a:t> </a:t>
            </a:r>
            <a:br>
              <a:rPr lang="en-US" sz="5600" dirty="0"/>
            </a:br>
            <a:r>
              <a:rPr lang="en-US" sz="5600" dirty="0"/>
              <a:t>     </a:t>
            </a:r>
            <a:r>
              <a:rPr lang="he-IL" sz="5600" dirty="0"/>
              <a:t>אם ידוע שהפירמה נמצאת בתוך הענף (טווח קצר).</a:t>
            </a:r>
            <a:endParaRPr lang="en-IL" sz="5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9289B8-0F83-49EA-81D6-4C6D67775575}"/>
              </a:ext>
            </a:extLst>
          </p:cNvPr>
          <p:cNvSpPr txBox="1"/>
          <p:nvPr/>
        </p:nvSpPr>
        <p:spPr>
          <a:xfrm>
            <a:off x="1854940" y="2186362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P=52&gt; min ATC=50</a:t>
            </a:r>
            <a:endParaRPr lang="en-I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57E00C-6607-4ACC-82D2-C3D1492EA7B4}"/>
              </a:ext>
            </a:extLst>
          </p:cNvPr>
          <p:cNvSpPr txBox="1"/>
          <p:nvPr/>
        </p:nvSpPr>
        <p:spPr>
          <a:xfrm>
            <a:off x="1979790" y="2639365"/>
            <a:ext cx="20882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dirty="0"/>
              <a:t>ב. היצרן יוכל להרוויח (רווח נקי&gt;0) ולכן כדאי לייצר בטווח הארוך!</a:t>
            </a:r>
            <a:endParaRPr lang="en-I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7E0A43-4635-4638-A1F8-6A84C792A456}"/>
              </a:ext>
            </a:extLst>
          </p:cNvPr>
          <p:cNvSpPr txBox="1"/>
          <p:nvPr/>
        </p:nvSpPr>
        <p:spPr>
          <a:xfrm>
            <a:off x="4943872" y="5129944"/>
            <a:ext cx="2088232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P=52&gt; MC(</a:t>
            </a:r>
            <a:r>
              <a:rPr lang="en-US" b="1" dirty="0"/>
              <a:t>Q=3</a:t>
            </a:r>
            <a:r>
              <a:rPr lang="en-US" dirty="0"/>
              <a:t>)=50</a:t>
            </a:r>
            <a:endParaRPr lang="en-IL" dirty="0"/>
          </a:p>
        </p:txBody>
      </p:sp>
      <p:sp>
        <p:nvSpPr>
          <p:cNvPr id="11" name="כותרת 1">
            <a:extLst>
              <a:ext uri="{FF2B5EF4-FFF2-40B4-BE49-F238E27FC236}">
                <a16:creationId xmlns:a16="http://schemas.microsoft.com/office/drawing/2014/main" id="{29E5B53C-8E9F-413C-A3AA-0DC5988C84FE}"/>
              </a:ext>
            </a:extLst>
          </p:cNvPr>
          <p:cNvSpPr txBox="1">
            <a:spLocks/>
          </p:cNvSpPr>
          <p:nvPr/>
        </p:nvSpPr>
        <p:spPr>
          <a:xfrm>
            <a:off x="2564822" y="4504110"/>
            <a:ext cx="2168235" cy="313829"/>
          </a:xfrm>
          <a:prstGeom prst="rect">
            <a:avLst/>
          </a:prstGeom>
        </p:spPr>
        <p:txBody>
          <a:bodyPr vert="horz" lIns="91440" tIns="45720" rIns="91440" bIns="45720" rtlCol="1" anchor="ctr">
            <a:normAutofit fontScale="90000" lnSpcReduction="10000"/>
          </a:bodyPr>
          <a:lstStyle>
            <a:lvl1pPr algn="ctr" defTabSz="914400" rtl="1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e-IL" sz="1800" u="sng" dirty="0"/>
              <a:t>רווח נקי/כולל: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64A7416-9F51-45FA-8ACC-EF5BCE6A087B}"/>
                  </a:ext>
                </a:extLst>
              </p:cNvPr>
              <p:cNvSpPr txBox="1"/>
              <p:nvPr/>
            </p:nvSpPr>
            <p:spPr>
              <a:xfrm>
                <a:off x="1747945" y="4866973"/>
                <a:ext cx="2585828" cy="276999"/>
              </a:xfrm>
              <a:prstGeom prst="rect">
                <a:avLst/>
              </a:prstGeom>
              <a:noFill/>
              <a:ln w="31750">
                <a:solidFill>
                  <a:srgbClr val="0070C0"/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txBody>
              <a:bodyPr wrap="square" lIns="0" tIns="0" rIns="0" bIns="0" rtlCol="1">
                <a:spAutoFit/>
              </a:bodyPr>
              <a:lstStyle/>
              <a:p>
                <a:pPr defTabSz="6858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  <m:d>
                        <m:dPr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he-IL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𝑇𝐶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he-IL" dirty="0">
                  <a:solidFill>
                    <a:prstClr val="black"/>
                  </a:solidFill>
                  <a:latin typeface="Calibri" panose="020F0502020204030204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64A7416-9F51-45FA-8ACC-EF5BCE6A08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7945" y="4866973"/>
                <a:ext cx="2585828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1750">
                <a:solidFill>
                  <a:srgbClr val="0070C0"/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כותרת 1">
            <a:extLst>
              <a:ext uri="{FF2B5EF4-FFF2-40B4-BE49-F238E27FC236}">
                <a16:creationId xmlns:a16="http://schemas.microsoft.com/office/drawing/2014/main" id="{6F288D13-B4B1-4884-812B-7F9FE599B95F}"/>
              </a:ext>
            </a:extLst>
          </p:cNvPr>
          <p:cNvSpPr txBox="1">
            <a:spLocks/>
          </p:cNvSpPr>
          <p:nvPr/>
        </p:nvSpPr>
        <p:spPr>
          <a:xfrm>
            <a:off x="1939790" y="5543307"/>
            <a:ext cx="2168235" cy="642594"/>
          </a:xfrm>
          <a:prstGeom prst="rect">
            <a:avLst/>
          </a:prstGeom>
        </p:spPr>
        <p:txBody>
          <a:bodyPr vert="horz" lIns="68580" tIns="34290" rIns="68580" bIns="34290" rtlCol="1" anchor="ctr">
            <a:normAutofit fontScale="97500"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/>
            <a:r>
              <a:rPr lang="he-IL" sz="1600" u="sng" dirty="0">
                <a:solidFill>
                  <a:prstClr val="black"/>
                </a:solidFill>
                <a:latin typeface="Calibri Light" panose="020F0302020204030204"/>
                <a:cs typeface="Times New Roman" panose="02020603050405020304" pitchFamily="18" charset="0"/>
              </a:rPr>
              <a:t>רווח תפעולי: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112DCF3-B855-4432-8A9C-7A2938FA15C7}"/>
                  </a:ext>
                </a:extLst>
              </p:cNvPr>
              <p:cNvSpPr txBox="1"/>
              <p:nvPr/>
            </p:nvSpPr>
            <p:spPr>
              <a:xfrm>
                <a:off x="1637965" y="6032424"/>
                <a:ext cx="2695809" cy="276999"/>
              </a:xfrm>
              <a:prstGeom prst="rect">
                <a:avLst/>
              </a:prstGeom>
              <a:noFill/>
              <a:ln w="31750">
                <a:solidFill>
                  <a:srgbClr val="0070C0"/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txBody>
              <a:bodyPr wrap="square" lIns="0" tIns="0" rIns="0" bIns="0" rtlCol="1">
                <a:spAutoFit/>
              </a:bodyPr>
              <a:lstStyle/>
              <a:p>
                <a:pPr defTabSz="6858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  <m:d>
                        <m:dPr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he-IL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𝑉𝐶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he-IL" dirty="0">
                  <a:solidFill>
                    <a:prstClr val="black"/>
                  </a:solidFill>
                  <a:latin typeface="Calibri" panose="020F0502020204030204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112DCF3-B855-4432-8A9C-7A2938FA15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7965" y="6032424"/>
                <a:ext cx="2695809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1750">
                <a:solidFill>
                  <a:srgbClr val="0070C0"/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FDED6B7-8693-43CD-A0B0-B3AF2AB4EB21}"/>
                  </a:ext>
                </a:extLst>
              </p:cNvPr>
              <p:cNvSpPr txBox="1"/>
              <p:nvPr/>
            </p:nvSpPr>
            <p:spPr>
              <a:xfrm>
                <a:off x="1747945" y="5272476"/>
                <a:ext cx="2585828" cy="276999"/>
              </a:xfrm>
              <a:prstGeom prst="rect">
                <a:avLst/>
              </a:prstGeom>
              <a:noFill/>
              <a:ln w="31750">
                <a:solidFill>
                  <a:srgbClr val="0070C0"/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txBody>
              <a:bodyPr wrap="square" lIns="0" tIns="0" rIns="0" bIns="0" rtlCol="1">
                <a:spAutoFit/>
              </a:bodyPr>
              <a:lstStyle/>
              <a:p>
                <a:pPr defTabSz="6858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  <m:d>
                        <m:dPr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he-IL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he-IL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he-IL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52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he-IL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150</m:t>
                      </m:r>
                      <m:r>
                        <a:rPr lang="he-IL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he-IL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he-IL" b="1" dirty="0">
                  <a:solidFill>
                    <a:prstClr val="black"/>
                  </a:solidFill>
                  <a:latin typeface="Calibri" panose="020F0502020204030204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FDED6B7-8693-43CD-A0B0-B3AF2AB4EB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7945" y="5272476"/>
                <a:ext cx="2585828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1750">
                <a:solidFill>
                  <a:srgbClr val="0070C0"/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A5CD324-1B68-4DC8-8F9B-55D0EE4D2F08}"/>
                  </a:ext>
                </a:extLst>
              </p:cNvPr>
              <p:cNvSpPr txBox="1"/>
              <p:nvPr/>
            </p:nvSpPr>
            <p:spPr>
              <a:xfrm>
                <a:off x="1619374" y="6417269"/>
                <a:ext cx="2695809" cy="276999"/>
              </a:xfrm>
              <a:prstGeom prst="rect">
                <a:avLst/>
              </a:prstGeom>
              <a:noFill/>
              <a:ln w="31750">
                <a:solidFill>
                  <a:srgbClr val="0070C0"/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txBody>
              <a:bodyPr wrap="square" lIns="0" tIns="0" rIns="0" bIns="0" rtlCol="1">
                <a:spAutoFit/>
              </a:bodyPr>
              <a:lstStyle/>
              <a:p>
                <a:pPr defTabSz="6858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  <m:d>
                        <m:dPr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he-IL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he-IL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he-IL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52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he-IL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110</m:t>
                      </m:r>
                      <m:r>
                        <a:rPr lang="he-IL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he-IL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𝟒𝟔</m:t>
                      </m:r>
                    </m:oMath>
                  </m:oMathPara>
                </a14:m>
                <a:endParaRPr lang="he-IL" b="1" dirty="0">
                  <a:solidFill>
                    <a:prstClr val="black"/>
                  </a:solidFill>
                  <a:latin typeface="Calibri" panose="020F0502020204030204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A5CD324-1B68-4DC8-8F9B-55D0EE4D2F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374" y="6417269"/>
                <a:ext cx="2695809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1750">
                <a:solidFill>
                  <a:srgbClr val="0070C0"/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FFAB8CA-F710-4E67-AD23-2DAEEC342FCC}"/>
              </a:ext>
            </a:extLst>
          </p:cNvPr>
          <p:cNvSpPr txBox="1"/>
          <p:nvPr/>
        </p:nvSpPr>
        <p:spPr>
          <a:xfrm>
            <a:off x="4428351" y="6165089"/>
            <a:ext cx="3956523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he-IL" b="1" dirty="0"/>
              <a:t>היצרן ייצר בטווח הקצר והארוך (רווח כולל ורווח תפעולי </a:t>
            </a:r>
            <a:r>
              <a:rPr lang="he-IL" b="1"/>
              <a:t>חיובי)! </a:t>
            </a:r>
            <a:endParaRPr lang="en-IL" b="1" dirty="0"/>
          </a:p>
        </p:txBody>
      </p:sp>
    </p:spTree>
    <p:extLst>
      <p:ext uri="{BB962C8B-B14F-4D97-AF65-F5344CB8AC3E}">
        <p14:creationId xmlns:p14="http://schemas.microsoft.com/office/powerpoint/2010/main" val="3051664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0048353" y="51680"/>
            <a:ext cx="2097864" cy="755403"/>
          </a:xfrm>
        </p:spPr>
        <p:txBody>
          <a:bodyPr>
            <a:normAutofit/>
          </a:bodyPr>
          <a:lstStyle/>
          <a:p>
            <a:r>
              <a:rPr lang="he-IL" sz="3600" b="1" dirty="0"/>
              <a:t>שאלה 3</a:t>
            </a:r>
          </a:p>
        </p:txBody>
      </p:sp>
      <p:sp>
        <p:nvSpPr>
          <p:cNvPr id="14" name="מציין מיקום תוכן 13"/>
          <p:cNvSpPr>
            <a:spLocks noGrp="1"/>
          </p:cNvSpPr>
          <p:nvPr>
            <p:ph idx="1"/>
          </p:nvPr>
        </p:nvSpPr>
        <p:spPr>
          <a:xfrm>
            <a:off x="1920240" y="807084"/>
            <a:ext cx="10225976" cy="53517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e-IL" sz="2000" dirty="0"/>
              <a:t>פירמה תחרותית מייצרת מוצר </a:t>
            </a:r>
            <a:r>
              <a:rPr lang="en-US" sz="2000" dirty="0"/>
              <a:t>X</a:t>
            </a:r>
            <a:r>
              <a:rPr lang="he-IL" sz="2000" dirty="0"/>
              <a:t>. פונקציית העלות הכוללת של הפירמה נתונה על ידי הטבלה הבאה:</a:t>
            </a:r>
          </a:p>
          <a:p>
            <a:pPr marL="0" lvl="0" indent="0">
              <a:buNone/>
            </a:pPr>
            <a:r>
              <a:rPr lang="he-IL" sz="2000" dirty="0"/>
              <a:t>א. האם לפירמה יש עלויות קבועות?</a:t>
            </a:r>
            <a:endParaRPr lang="en-US" sz="2000" dirty="0"/>
          </a:p>
          <a:p>
            <a:pPr marL="0" lvl="0" indent="0">
              <a:buNone/>
            </a:pPr>
            <a:r>
              <a:rPr lang="he-IL" sz="2000" dirty="0"/>
              <a:t>ב. מהי העלות השולית של הפירמה </a:t>
            </a:r>
          </a:p>
          <a:p>
            <a:pPr marL="0" lvl="0" indent="0">
              <a:buNone/>
            </a:pPr>
            <a:r>
              <a:rPr lang="he-IL" sz="2000" dirty="0"/>
              <a:t>   כתלות בתפוקה? ציירו ציור.</a:t>
            </a:r>
          </a:p>
          <a:p>
            <a:pPr marL="0" lvl="0" indent="0">
              <a:buNone/>
            </a:pPr>
            <a:r>
              <a:rPr lang="he-IL" sz="2000" dirty="0"/>
              <a:t>ג. 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מה תהיה התפוקה של הפירמה והרווח שלה כאשר:</a:t>
            </a:r>
            <a:endParaRPr lang="en-IL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Miriam" panose="020B0502050101010101" pitchFamily="34" charset="-79"/>
            </a:endParaRPr>
          </a:p>
          <a:p>
            <a:pPr lvl="0"/>
            <a:r>
              <a:rPr lang="he-IL" sz="2000" dirty="0"/>
              <a:t>מחיר השוק הוא </a:t>
            </a:r>
            <a:r>
              <a:rPr lang="en-US" sz="2000" dirty="0" err="1"/>
              <a:t>Px</a:t>
            </a:r>
            <a:r>
              <a:rPr lang="en-US" sz="2000" dirty="0"/>
              <a:t>=55</a:t>
            </a:r>
            <a:r>
              <a:rPr lang="he-IL" sz="2000" dirty="0"/>
              <a:t>.</a:t>
            </a:r>
            <a:endParaRPr lang="en-US" sz="2000" dirty="0"/>
          </a:p>
          <a:p>
            <a:pPr lvl="0"/>
            <a:r>
              <a:rPr lang="he-IL" sz="2000" dirty="0"/>
              <a:t>מחיר השוק הוא </a:t>
            </a:r>
            <a:r>
              <a:rPr lang="en-US" sz="2000" dirty="0" err="1"/>
              <a:t>Px</a:t>
            </a:r>
            <a:r>
              <a:rPr lang="en-US" sz="2000" dirty="0"/>
              <a:t>=30</a:t>
            </a:r>
            <a:r>
              <a:rPr lang="he-IL" sz="2000" dirty="0"/>
              <a:t>.</a:t>
            </a:r>
            <a:endParaRPr lang="en-US" sz="2000" dirty="0"/>
          </a:p>
          <a:p>
            <a:pPr lvl="0"/>
            <a:r>
              <a:rPr lang="he-IL" sz="2000" dirty="0"/>
              <a:t>מחיר השוק הוא </a:t>
            </a:r>
            <a:r>
              <a:rPr lang="en-US" sz="2000" dirty="0" err="1"/>
              <a:t>Px</a:t>
            </a:r>
            <a:r>
              <a:rPr lang="en-US" sz="2000" dirty="0"/>
              <a:t>=13</a:t>
            </a:r>
            <a:r>
              <a:rPr lang="he-IL" sz="2000" dirty="0"/>
              <a:t>.</a:t>
            </a:r>
            <a:endParaRPr lang="en-US" sz="2000" dirty="0"/>
          </a:p>
          <a:p>
            <a:pPr lvl="0"/>
            <a:r>
              <a:rPr lang="he-IL" sz="2000" dirty="0"/>
              <a:t>מחיר הושק הוא </a:t>
            </a:r>
            <a:r>
              <a:rPr lang="en-US" sz="2000" dirty="0" err="1"/>
              <a:t>Px</a:t>
            </a:r>
            <a:r>
              <a:rPr lang="en-US" sz="2000" dirty="0"/>
              <a:t>=80</a:t>
            </a:r>
            <a:r>
              <a:rPr lang="he-IL" sz="2000" dirty="0"/>
              <a:t>.</a:t>
            </a:r>
            <a:endParaRPr lang="en-US" sz="2000" dirty="0"/>
          </a:p>
          <a:p>
            <a:pPr marL="0" lvl="0" indent="0">
              <a:buNone/>
            </a:pPr>
            <a:r>
              <a:rPr lang="he-IL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ד. תארו בתרשים שבו התפוקה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X</a:t>
            </a:r>
            <a:r>
              <a:rPr lang="he-IL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על הציר האופקי והמחיר </a:t>
            </a:r>
            <a:r>
              <a:rPr lang="en-US" sz="20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Px</a:t>
            </a:r>
            <a:r>
              <a:rPr lang="he-IL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על הציר האנכי את ההיצע של הפירמה. </a:t>
            </a:r>
            <a:endParaRPr lang="en-US" sz="2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CA3A4-B3E5-41EA-9EE5-C9A17C6864CE}" type="datetime8">
              <a:rPr lang="he-IL" smtClean="0"/>
              <a:t>27 דצמבר 25</a:t>
            </a:fld>
            <a:endParaRPr lang="he-IL" dirty="0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A981F-4466-4789-9E41-1885E502A96E}" type="slidenum">
              <a:rPr lang="he-IL" smtClean="0"/>
              <a:t>29</a:t>
            </a:fld>
            <a:endParaRPr lang="he-IL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8638368"/>
              </p:ext>
            </p:extLst>
          </p:nvPr>
        </p:nvGraphicFramePr>
        <p:xfrm>
          <a:off x="248195" y="1352800"/>
          <a:ext cx="8100462" cy="796609"/>
        </p:xfrm>
        <a:graphic>
          <a:graphicData uri="http://schemas.openxmlformats.org/drawingml/2006/table">
            <a:tbl>
              <a:tblPr rtl="1" firstRow="1" firstCol="1" bandRow="1"/>
              <a:tblGrid>
                <a:gridCol w="17998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21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7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16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6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57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86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98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694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456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817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8332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9638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4863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e-IL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תפוקה </a:t>
                      </a: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e-IL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e-IL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e-IL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e-IL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e-IL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e-IL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e-IL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e-IL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e-IL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e-IL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e-IL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e-IL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e-IL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e-IL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עלות כוללת בשקלים </a:t>
                      </a: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TC(X)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e-IL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e-IL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e-IL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e-IL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35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e-IL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e-IL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67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e-IL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88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e-IL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110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e-IL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140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e-IL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180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e-IL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230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e-IL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290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e-IL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370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e-IL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עלות שולית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00255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0319657" y="51681"/>
            <a:ext cx="1826559" cy="561905"/>
          </a:xfrm>
        </p:spPr>
        <p:txBody>
          <a:bodyPr>
            <a:normAutofit fontScale="90000"/>
          </a:bodyPr>
          <a:lstStyle/>
          <a:p>
            <a:r>
              <a:rPr lang="he-IL" sz="3600" b="1" u="sng" dirty="0"/>
              <a:t>שאלה 3</a:t>
            </a:r>
          </a:p>
        </p:txBody>
      </p:sp>
      <p:sp>
        <p:nvSpPr>
          <p:cNvPr id="14" name="מציין מיקום תוכן 13"/>
          <p:cNvSpPr>
            <a:spLocks noGrp="1"/>
          </p:cNvSpPr>
          <p:nvPr>
            <p:ph idx="1"/>
          </p:nvPr>
        </p:nvSpPr>
        <p:spPr>
          <a:xfrm>
            <a:off x="2259874" y="622300"/>
            <a:ext cx="9886342" cy="34605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e-IL" sz="2000" dirty="0"/>
              <a:t>פירמה תחרותית מייצרת מוצר </a:t>
            </a:r>
            <a:r>
              <a:rPr lang="en-US" sz="2000" dirty="0"/>
              <a:t>X</a:t>
            </a:r>
            <a:r>
              <a:rPr lang="he-IL" sz="2000" dirty="0"/>
              <a:t>. פונקציית העלות הכוללת של הפירמה נתונה על ידי הטבלה הבאה: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1D08E-C602-492D-A00A-AD563806847C}" type="datetime8">
              <a:rPr lang="he-IL" smtClean="0"/>
              <a:t>27 דצמבר 25</a:t>
            </a:fld>
            <a:endParaRPr lang="he-IL" dirty="0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A981F-4466-4789-9E41-1885E502A96E}" type="slidenum">
              <a:rPr lang="he-IL" smtClean="0"/>
              <a:t>30</a:t>
            </a:fld>
            <a:endParaRPr lang="he-IL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9875" y="1952756"/>
            <a:ext cx="5345498" cy="4291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8294913" y="1050268"/>
            <a:ext cx="36604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he-IL" dirty="0"/>
              <a:t>א. האם לפירמה יש עלויות קבועות?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743200" y="1501512"/>
            <a:ext cx="92121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he-IL" dirty="0"/>
              <a:t>ב. מהי העלות השולית של הפירמה כתלות בתפוקה (כלומר כתלות בכמות המיוצרת)? ציירו ציור.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7641771" y="2521131"/>
            <a:ext cx="3370218" cy="363147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2240963" y="1050268"/>
            <a:ext cx="1645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dirty="0"/>
              <a:t>TC(X=0)=0</a:t>
            </a:r>
          </a:p>
        </p:txBody>
      </p:sp>
      <p:sp>
        <p:nvSpPr>
          <p:cNvPr id="13" name="Left-Right Arrow 12"/>
          <p:cNvSpPr/>
          <p:nvPr/>
        </p:nvSpPr>
        <p:spPr>
          <a:xfrm>
            <a:off x="3743191" y="1104305"/>
            <a:ext cx="613954" cy="261257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4474709" y="1050268"/>
            <a:ext cx="2769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dirty="0"/>
              <a:t>FC=0  </a:t>
            </a:r>
            <a:r>
              <a:rPr lang="he-IL" dirty="0"/>
              <a:t>א. אין עלויות קבועות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0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/>
      <p:bldP spid="13" grpId="0" animBg="1"/>
      <p:bldP spid="1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0693400" y="51681"/>
            <a:ext cx="1452816" cy="557919"/>
          </a:xfrm>
        </p:spPr>
        <p:txBody>
          <a:bodyPr>
            <a:normAutofit/>
          </a:bodyPr>
          <a:lstStyle/>
          <a:p>
            <a:r>
              <a:rPr lang="he-IL" sz="3200" b="1" dirty="0"/>
              <a:t>שאלה 3</a:t>
            </a:r>
          </a:p>
        </p:txBody>
      </p:sp>
      <p:sp>
        <p:nvSpPr>
          <p:cNvPr id="14" name="מציין מיקום תוכן 13"/>
          <p:cNvSpPr>
            <a:spLocks noGrp="1"/>
          </p:cNvSpPr>
          <p:nvPr>
            <p:ph idx="1"/>
          </p:nvPr>
        </p:nvSpPr>
        <p:spPr>
          <a:xfrm>
            <a:off x="2259874" y="622300"/>
            <a:ext cx="9886342" cy="34605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e-IL" sz="2000" dirty="0"/>
              <a:t>פירמה תחרותית מייצרת מוצר </a:t>
            </a:r>
            <a:r>
              <a:rPr lang="en-US" sz="2000" dirty="0"/>
              <a:t>X</a:t>
            </a:r>
            <a:r>
              <a:rPr lang="he-IL" sz="2000" dirty="0"/>
              <a:t>. פונקציית העלות הכוללת של הפירמה נתונה על ידי הטבלה הבאה: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7EF24-AD03-4079-BD64-B61EC6EC7721}" type="datetime8">
              <a:rPr lang="he-IL" smtClean="0"/>
              <a:t>27 דצמבר 25</a:t>
            </a:fld>
            <a:endParaRPr lang="he-IL" dirty="0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A981F-4466-4789-9E41-1885E502A96E}" type="slidenum">
              <a:rPr lang="he-IL" smtClean="0"/>
              <a:t>31</a:t>
            </a:fld>
            <a:endParaRPr lang="he-IL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6502" y="2247254"/>
            <a:ext cx="5345498" cy="4291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706" y="2122168"/>
            <a:ext cx="6330770" cy="301371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Rectangle 2"/>
          <p:cNvSpPr/>
          <p:nvPr/>
        </p:nvSpPr>
        <p:spPr>
          <a:xfrm>
            <a:off x="7641771" y="1050268"/>
            <a:ext cx="43136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he-IL" dirty="0"/>
              <a:t>א. האם לפירמה יש עלויות קבועות?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859373" y="1501512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he-IL" dirty="0"/>
              <a:t>ב. מהי העלות השולית של הפירמה כתלות בתפוקה? ציירו ציור.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607527" y="1024593"/>
            <a:ext cx="1645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dirty="0"/>
              <a:t>TC(X=0)=0</a:t>
            </a:r>
          </a:p>
        </p:txBody>
      </p:sp>
      <p:sp>
        <p:nvSpPr>
          <p:cNvPr id="12" name="Left-Right Arrow 11"/>
          <p:cNvSpPr/>
          <p:nvPr/>
        </p:nvSpPr>
        <p:spPr>
          <a:xfrm>
            <a:off x="5109755" y="1078630"/>
            <a:ext cx="613954" cy="261257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5841273" y="1024593"/>
            <a:ext cx="2769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dirty="0"/>
              <a:t>FC=0  </a:t>
            </a:r>
            <a:r>
              <a:rPr lang="he-IL" dirty="0"/>
              <a:t>א. אין עלויות קבועות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343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0693400" y="51681"/>
            <a:ext cx="1452816" cy="557919"/>
          </a:xfrm>
        </p:spPr>
        <p:txBody>
          <a:bodyPr>
            <a:normAutofit/>
          </a:bodyPr>
          <a:lstStyle/>
          <a:p>
            <a:r>
              <a:rPr lang="he-IL" sz="3200" b="1" dirty="0"/>
              <a:t>שאלה 3</a:t>
            </a:r>
          </a:p>
        </p:txBody>
      </p:sp>
      <p:sp>
        <p:nvSpPr>
          <p:cNvPr id="14" name="מציין מיקום תוכן 13"/>
          <p:cNvSpPr>
            <a:spLocks noGrp="1"/>
          </p:cNvSpPr>
          <p:nvPr>
            <p:ph idx="1"/>
          </p:nvPr>
        </p:nvSpPr>
        <p:spPr>
          <a:xfrm>
            <a:off x="215900" y="622299"/>
            <a:ext cx="11930316" cy="5351781"/>
          </a:xfrm>
        </p:spPr>
        <p:txBody>
          <a:bodyPr>
            <a:normAutofit/>
          </a:bodyPr>
          <a:lstStyle/>
          <a:p>
            <a:pPr marL="0" lvl="0" indent="0" algn="r" rtl="1">
              <a:lnSpc>
                <a:spcPct val="150000"/>
              </a:lnSpc>
              <a:spcAft>
                <a:spcPts val="800"/>
              </a:spcAft>
              <a:buNone/>
            </a:pP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ג. מה תהיה התפוקה של הפירמה והרווח הכולל/נקי שלה כאשר:</a:t>
            </a:r>
            <a:endParaRPr lang="en-IL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Miriam" panose="020B0502050101010101" pitchFamily="34" charset="-79"/>
            </a:endParaRPr>
          </a:p>
          <a:p>
            <a:pPr marL="0" indent="0">
              <a:buNone/>
            </a:pPr>
            <a:r>
              <a:rPr lang="he-IL" sz="2000" b="1" dirty="0"/>
              <a:t>1. מחיר השוק הוא </a:t>
            </a:r>
            <a:r>
              <a:rPr lang="en-US" sz="2000" b="1" dirty="0" err="1"/>
              <a:t>Px</a:t>
            </a:r>
            <a:r>
              <a:rPr lang="en-US" sz="2000" b="1" dirty="0"/>
              <a:t>=55</a:t>
            </a:r>
          </a:p>
          <a:p>
            <a:pPr marL="0" indent="0">
              <a:buNone/>
            </a:pPr>
            <a:r>
              <a:rPr lang="he-IL" sz="1600" dirty="0"/>
              <a:t>2. מחיר השוק הוא </a:t>
            </a:r>
            <a:r>
              <a:rPr lang="en-US" sz="1600" dirty="0" err="1"/>
              <a:t>Px</a:t>
            </a:r>
            <a:r>
              <a:rPr lang="en-US" sz="1600" dirty="0"/>
              <a:t>=30</a:t>
            </a:r>
          </a:p>
          <a:p>
            <a:pPr marL="0" indent="0">
              <a:buNone/>
            </a:pPr>
            <a:r>
              <a:rPr lang="he-IL" sz="1600" dirty="0"/>
              <a:t>3. מחיר השוק הוא </a:t>
            </a:r>
            <a:r>
              <a:rPr lang="en-US" sz="1600" dirty="0" err="1"/>
              <a:t>Px</a:t>
            </a:r>
            <a:r>
              <a:rPr lang="en-US" sz="1600" dirty="0"/>
              <a:t>=13</a:t>
            </a:r>
          </a:p>
          <a:p>
            <a:pPr marL="0" indent="0">
              <a:buNone/>
            </a:pPr>
            <a:r>
              <a:rPr lang="he-IL" sz="1600" dirty="0"/>
              <a:t>4. מחיר השוק הוא </a:t>
            </a:r>
            <a:r>
              <a:rPr lang="en-US" sz="1600" dirty="0" err="1"/>
              <a:t>Px</a:t>
            </a:r>
            <a:r>
              <a:rPr lang="en-US" sz="1600" dirty="0"/>
              <a:t>=80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6BB22-0B55-4E1B-9F6B-94BDB1A72B17}" type="datetime8">
              <a:rPr lang="he-IL" smtClean="0"/>
              <a:t>27 דצמבר 25</a:t>
            </a:fld>
            <a:endParaRPr lang="he-IL" dirty="0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A981F-4466-4789-9E41-1885E502A96E}" type="slidenum">
              <a:rPr lang="he-IL" smtClean="0"/>
              <a:t>32</a:t>
            </a:fld>
            <a:endParaRPr lang="he-IL" dirty="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411" y="1133746"/>
            <a:ext cx="5026199" cy="2392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4826" y="2161540"/>
            <a:ext cx="5399790" cy="41948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43446" y="3904591"/>
            <a:ext cx="4598267" cy="152984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he-IL" sz="1600" dirty="0"/>
              <a:t>הפירמה תייצר כל עוד </a:t>
            </a:r>
            <a:r>
              <a:rPr lang="he-IL" sz="1600" b="1" dirty="0"/>
              <a:t>מחיר השוק גבוה או שווה לעלות השולית</a:t>
            </a:r>
            <a:r>
              <a:rPr lang="he-IL" sz="1600" dirty="0"/>
              <a:t>, כלומר במחיר של </a:t>
            </a:r>
            <a:r>
              <a:rPr lang="he-IL" sz="1600" b="1" dirty="0">
                <a:solidFill>
                  <a:srgbClr val="C00000"/>
                </a:solidFill>
              </a:rPr>
              <a:t>55 ש''ח </a:t>
            </a:r>
            <a:r>
              <a:rPr lang="he-IL" sz="1600" dirty="0"/>
              <a:t>כדאי לייצר </a:t>
            </a:r>
            <a:r>
              <a:rPr lang="he-IL" sz="1600" b="1" dirty="0"/>
              <a:t>10 יח', </a:t>
            </a:r>
          </a:p>
          <a:p>
            <a:pPr>
              <a:lnSpc>
                <a:spcPct val="150000"/>
              </a:lnSpc>
            </a:pPr>
            <a:r>
              <a:rPr lang="he-IL" sz="1600" dirty="0"/>
              <a:t>הרווח הנקי/הכולל וגם התפעולי הינו 320 (אין הוצאות קבועות </a:t>
            </a:r>
            <a:r>
              <a:rPr lang="en-US" sz="1600" dirty="0"/>
              <a:t>FC</a:t>
            </a:r>
            <a:r>
              <a:rPr lang="he-IL" sz="1600" dirty="0"/>
              <a:t>=0 ולכן הרווח הנקי שווה לרווח התפעולי).</a:t>
            </a:r>
            <a:r>
              <a:rPr lang="en-US" sz="1600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D55114-4F04-4F73-AD4D-9C674F36208E}"/>
              </a:ext>
            </a:extLst>
          </p:cNvPr>
          <p:cNvSpPr txBox="1"/>
          <p:nvPr/>
        </p:nvSpPr>
        <p:spPr>
          <a:xfrm>
            <a:off x="6683070" y="2709644"/>
            <a:ext cx="729097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he-IL" b="1" dirty="0">
                <a:solidFill>
                  <a:srgbClr val="FFFF00"/>
                </a:solidFill>
              </a:rPr>
              <a:t>הרווח</a:t>
            </a:r>
            <a:endParaRPr lang="en-IL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7922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0693400" y="51681"/>
            <a:ext cx="1452816" cy="557919"/>
          </a:xfrm>
        </p:spPr>
        <p:txBody>
          <a:bodyPr>
            <a:normAutofit/>
          </a:bodyPr>
          <a:lstStyle/>
          <a:p>
            <a:r>
              <a:rPr lang="he-IL" sz="3200" b="1" dirty="0"/>
              <a:t>שאלה 3</a:t>
            </a:r>
          </a:p>
        </p:txBody>
      </p:sp>
      <p:sp>
        <p:nvSpPr>
          <p:cNvPr id="14" name="מציין מיקום תוכן 13"/>
          <p:cNvSpPr>
            <a:spLocks noGrp="1"/>
          </p:cNvSpPr>
          <p:nvPr>
            <p:ph idx="1"/>
          </p:nvPr>
        </p:nvSpPr>
        <p:spPr>
          <a:xfrm>
            <a:off x="215900" y="622299"/>
            <a:ext cx="11930316" cy="53517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e-IL" sz="2000" dirty="0"/>
              <a:t>ג. 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מה תהיה התפוקה של הפירמה והרווח הכולל/נקי שלה כאשר:</a:t>
            </a:r>
            <a:endParaRPr lang="he-IL" sz="2000" dirty="0"/>
          </a:p>
          <a:p>
            <a:pPr marL="0" indent="0">
              <a:buNone/>
            </a:pPr>
            <a:r>
              <a:rPr lang="he-IL" sz="2000" dirty="0"/>
              <a:t>2. מחיר השוק הוא </a:t>
            </a:r>
            <a:r>
              <a:rPr lang="en-US" sz="2000" dirty="0" err="1"/>
              <a:t>Px</a:t>
            </a:r>
            <a:r>
              <a:rPr lang="en-US" sz="2000" dirty="0"/>
              <a:t>=30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BADEC-B6CE-4B7A-82CC-9738BC5E6064}" type="datetime8">
              <a:rPr lang="he-IL" smtClean="0"/>
              <a:t>27 דצמבר 25</a:t>
            </a:fld>
            <a:endParaRPr lang="he-IL" dirty="0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A981F-4466-4789-9E41-1885E502A96E}" type="slidenum">
              <a:rPr lang="he-IL" smtClean="0"/>
              <a:t>33</a:t>
            </a:fld>
            <a:endParaRPr lang="he-IL" dirty="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5026199" cy="2392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1" y="1809750"/>
            <a:ext cx="5943600" cy="4330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38201" y="3717561"/>
            <a:ext cx="4498298" cy="152984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he-IL" sz="1600" dirty="0"/>
              <a:t>הפירמה תייצר כל עוד </a:t>
            </a:r>
            <a:r>
              <a:rPr lang="he-IL" sz="1600" b="1" dirty="0"/>
              <a:t>מחיר השוק גבוה או שווה לעלות השולית</a:t>
            </a:r>
            <a:r>
              <a:rPr lang="he-IL" sz="1600" dirty="0"/>
              <a:t>, כלומר במחיר של </a:t>
            </a:r>
            <a:r>
              <a:rPr lang="en-US" sz="1600" b="1" dirty="0">
                <a:solidFill>
                  <a:srgbClr val="C00000"/>
                </a:solidFill>
              </a:rPr>
              <a:t>30</a:t>
            </a:r>
            <a:r>
              <a:rPr lang="he-IL" sz="1600" b="1" dirty="0">
                <a:solidFill>
                  <a:srgbClr val="C00000"/>
                </a:solidFill>
              </a:rPr>
              <a:t> ש''ח</a:t>
            </a:r>
            <a:r>
              <a:rPr lang="he-IL" sz="1600" dirty="0"/>
              <a:t> כדאי </a:t>
            </a:r>
            <a:r>
              <a:rPr lang="he-IL" sz="1600" b="1" dirty="0"/>
              <a:t>לייצר 8 יח', </a:t>
            </a:r>
            <a:r>
              <a:rPr lang="he-IL" sz="1600" dirty="0"/>
              <a:t>הרווח הנקי/הכולל וגם התפעולי הינו 100 ש''ח (אין הוצאות קבועות </a:t>
            </a:r>
            <a:r>
              <a:rPr lang="en-US" sz="1600" dirty="0"/>
              <a:t>FC</a:t>
            </a:r>
            <a:r>
              <a:rPr lang="he-IL" sz="1600" dirty="0"/>
              <a:t>=0).</a:t>
            </a:r>
            <a:r>
              <a:rPr lang="en-US" sz="1600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A539A6-EE00-412D-811C-E27FDFB60FE4}"/>
              </a:ext>
            </a:extLst>
          </p:cNvPr>
          <p:cNvSpPr txBox="1"/>
          <p:nvPr/>
        </p:nvSpPr>
        <p:spPr>
          <a:xfrm>
            <a:off x="6248402" y="2392680"/>
            <a:ext cx="803040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he-IL" b="1" dirty="0">
                <a:solidFill>
                  <a:srgbClr val="FFFF00"/>
                </a:solidFill>
              </a:rPr>
              <a:t>הרווח</a:t>
            </a:r>
            <a:endParaRPr lang="en-IL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2165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0693400" y="51681"/>
            <a:ext cx="1452816" cy="557919"/>
          </a:xfrm>
        </p:spPr>
        <p:txBody>
          <a:bodyPr>
            <a:normAutofit/>
          </a:bodyPr>
          <a:lstStyle/>
          <a:p>
            <a:r>
              <a:rPr lang="he-IL" sz="3200" b="1" dirty="0"/>
              <a:t>שאלה 3</a:t>
            </a:r>
          </a:p>
        </p:txBody>
      </p:sp>
      <p:sp>
        <p:nvSpPr>
          <p:cNvPr id="14" name="מציין מיקום תוכן 13"/>
          <p:cNvSpPr>
            <a:spLocks noGrp="1"/>
          </p:cNvSpPr>
          <p:nvPr>
            <p:ph idx="1"/>
          </p:nvPr>
        </p:nvSpPr>
        <p:spPr>
          <a:xfrm>
            <a:off x="215900" y="622299"/>
            <a:ext cx="11930316" cy="5351781"/>
          </a:xfrm>
        </p:spPr>
        <p:txBody>
          <a:bodyPr>
            <a:normAutofit/>
          </a:bodyPr>
          <a:lstStyle/>
          <a:p>
            <a:pPr marL="0" lvl="0" indent="0" algn="r" rtl="1">
              <a:lnSpc>
                <a:spcPct val="150000"/>
              </a:lnSpc>
              <a:spcAft>
                <a:spcPts val="800"/>
              </a:spcAft>
              <a:buNone/>
            </a:pP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ג. מה תהיה התפוקה של הפירמה והרווח הכולל/נקי שלה כאשר:</a:t>
            </a:r>
            <a:endParaRPr lang="en-IL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Miriam" panose="020B0502050101010101" pitchFamily="34" charset="-79"/>
            </a:endParaRPr>
          </a:p>
          <a:p>
            <a:pPr marL="0" indent="0">
              <a:buNone/>
            </a:pPr>
            <a:r>
              <a:rPr lang="he-IL" sz="2000" dirty="0"/>
              <a:t>3. מחיר השוק הוא </a:t>
            </a:r>
            <a:r>
              <a:rPr lang="en-US" sz="2000" dirty="0" err="1"/>
              <a:t>Px</a:t>
            </a:r>
            <a:r>
              <a:rPr lang="en-US" sz="2000" dirty="0"/>
              <a:t>=13 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C4DBC-D7CD-4A22-99BA-57EF1FABDB24}" type="datetime8">
              <a:rPr lang="he-IL" smtClean="0"/>
              <a:t>27 דצמבר 25</a:t>
            </a:fld>
            <a:endParaRPr lang="he-IL" dirty="0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A981F-4466-4789-9E41-1885E502A96E}" type="slidenum">
              <a:rPr lang="he-IL" smtClean="0"/>
              <a:t>34</a:t>
            </a:fld>
            <a:endParaRPr lang="he-IL" dirty="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5026199" cy="2392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9174" y="1711354"/>
            <a:ext cx="6256926" cy="427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536896" y="3131669"/>
            <a:ext cx="4027816" cy="152984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he-IL" sz="1600" dirty="0"/>
              <a:t>הפירמה תייצר כל עוד </a:t>
            </a:r>
            <a:r>
              <a:rPr lang="he-IL" sz="1600" b="1" dirty="0"/>
              <a:t>מחיר השוק גבוה או שווה לעלות השולית</a:t>
            </a:r>
            <a:r>
              <a:rPr lang="he-IL" sz="1600" dirty="0"/>
              <a:t>, כלומר במחיר של </a:t>
            </a:r>
            <a:r>
              <a:rPr lang="he-IL" sz="1600" b="1" dirty="0">
                <a:solidFill>
                  <a:srgbClr val="C00000"/>
                </a:solidFill>
              </a:rPr>
              <a:t>13 ש''ח </a:t>
            </a:r>
            <a:r>
              <a:rPr lang="he-IL" sz="1600" dirty="0"/>
              <a:t>כדאי </a:t>
            </a:r>
            <a:r>
              <a:rPr lang="he-IL" sz="1600" b="1" dirty="0"/>
              <a:t>לייצר 3 יח', </a:t>
            </a:r>
            <a:r>
              <a:rPr lang="he-IL" sz="1600" dirty="0"/>
              <a:t>הרווח הנקי</a:t>
            </a:r>
            <a:r>
              <a:rPr lang="en-US" sz="1600" dirty="0"/>
              <a:t> </a:t>
            </a:r>
            <a:r>
              <a:rPr lang="he-IL" sz="1600" dirty="0"/>
              <a:t>וגם התפעולי הינו 4 ש''ח (אין הוצאות קבועות </a:t>
            </a:r>
            <a:r>
              <a:rPr lang="en-US" sz="1600" dirty="0"/>
              <a:t>FC</a:t>
            </a:r>
            <a:r>
              <a:rPr lang="he-IL" sz="1600" dirty="0"/>
              <a:t>=0).</a:t>
            </a:r>
            <a:r>
              <a:rPr lang="en-US" sz="1600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717AA0-18FE-4AE9-A58A-72EA616F3D4C}"/>
              </a:ext>
            </a:extLst>
          </p:cNvPr>
          <p:cNvSpPr txBox="1"/>
          <p:nvPr/>
        </p:nvSpPr>
        <p:spPr>
          <a:xfrm>
            <a:off x="5815341" y="2283515"/>
            <a:ext cx="729097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he-IL" b="1" dirty="0">
                <a:solidFill>
                  <a:srgbClr val="FFFF00"/>
                </a:solidFill>
              </a:rPr>
              <a:t>הרווח</a:t>
            </a:r>
            <a:endParaRPr lang="en-IL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905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0693400" y="51681"/>
            <a:ext cx="1452816" cy="557919"/>
          </a:xfrm>
        </p:spPr>
        <p:txBody>
          <a:bodyPr>
            <a:normAutofit/>
          </a:bodyPr>
          <a:lstStyle/>
          <a:p>
            <a:r>
              <a:rPr lang="he-IL" sz="3200" b="1" dirty="0"/>
              <a:t>שאלה 3</a:t>
            </a:r>
          </a:p>
        </p:txBody>
      </p:sp>
      <p:sp>
        <p:nvSpPr>
          <p:cNvPr id="14" name="מציין מיקום תוכן 13"/>
          <p:cNvSpPr>
            <a:spLocks noGrp="1"/>
          </p:cNvSpPr>
          <p:nvPr>
            <p:ph idx="1"/>
          </p:nvPr>
        </p:nvSpPr>
        <p:spPr>
          <a:xfrm>
            <a:off x="215900" y="622299"/>
            <a:ext cx="11930316" cy="53517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e-IL" sz="2000" dirty="0"/>
              <a:t>ג. 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מה תהיה התפוקה של הפירמה והרווח הכולל/נקי שלה כאשר:</a:t>
            </a:r>
            <a:endParaRPr lang="en-IL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Miriam" panose="020B0502050101010101" pitchFamily="34" charset="-79"/>
            </a:endParaRPr>
          </a:p>
          <a:p>
            <a:pPr marL="0" indent="0">
              <a:buNone/>
            </a:pPr>
            <a:r>
              <a:rPr lang="he-IL" sz="2000" dirty="0"/>
              <a:t>4. מחיר השוק הוא </a:t>
            </a:r>
            <a:r>
              <a:rPr lang="en-US" sz="2000" dirty="0" err="1"/>
              <a:t>Px</a:t>
            </a:r>
            <a:r>
              <a:rPr lang="en-US" sz="2000" dirty="0"/>
              <a:t>=80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9EE0-DB33-4A9A-A2E0-0DF9729D16F9}" type="datetime8">
              <a:rPr lang="he-IL" smtClean="0"/>
              <a:t>27 דצמבר 25</a:t>
            </a:fld>
            <a:endParaRPr lang="he-IL" dirty="0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A981F-4466-4789-9E41-1885E502A96E}" type="slidenum">
              <a:rPr lang="he-IL" smtClean="0"/>
              <a:t>35</a:t>
            </a:fld>
            <a:endParaRPr lang="he-IL" dirty="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5026199" cy="2392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2198" y="1398269"/>
            <a:ext cx="6459151" cy="5017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1285112" y="3533726"/>
            <a:ext cx="3237875" cy="18991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he-IL" sz="1600" dirty="0"/>
              <a:t>הפירמה תייצר כל עוד </a:t>
            </a:r>
            <a:r>
              <a:rPr lang="he-IL" sz="1600" b="1" dirty="0"/>
              <a:t>מחיר השוק גבוה או שווה לעלות השולית</a:t>
            </a:r>
            <a:r>
              <a:rPr lang="he-IL" sz="1600" dirty="0"/>
              <a:t>, כלומר במחיר של </a:t>
            </a:r>
            <a:r>
              <a:rPr lang="en-US" sz="1600" b="1" dirty="0">
                <a:solidFill>
                  <a:srgbClr val="C00000"/>
                </a:solidFill>
              </a:rPr>
              <a:t>80</a:t>
            </a:r>
            <a:r>
              <a:rPr lang="he-IL" sz="1600" b="1" dirty="0">
                <a:solidFill>
                  <a:srgbClr val="C00000"/>
                </a:solidFill>
              </a:rPr>
              <a:t> ש''ח </a:t>
            </a:r>
            <a:r>
              <a:rPr lang="he-IL" sz="1600" dirty="0"/>
              <a:t>כדאי לייצר </a:t>
            </a:r>
            <a:r>
              <a:rPr lang="en-US" sz="1600" b="1" dirty="0"/>
              <a:t> 12</a:t>
            </a:r>
            <a:r>
              <a:rPr lang="he-IL" sz="1600" b="1" dirty="0"/>
              <a:t>יח', </a:t>
            </a:r>
            <a:r>
              <a:rPr lang="he-IL" sz="1600" dirty="0"/>
              <a:t>הרווח הנקי/הכולל וגם התפעולי הינו </a:t>
            </a:r>
            <a:r>
              <a:rPr lang="en-US" sz="1600" dirty="0"/>
              <a:t>590</a:t>
            </a:r>
            <a:r>
              <a:rPr lang="he-IL" sz="1600" dirty="0"/>
              <a:t> ש''ח (אין הוצאות קבועות </a:t>
            </a:r>
            <a:r>
              <a:rPr lang="en-US" sz="1600" dirty="0"/>
              <a:t>FC</a:t>
            </a:r>
            <a:r>
              <a:rPr lang="he-IL" sz="1600" dirty="0"/>
              <a:t>=0).</a:t>
            </a:r>
            <a:r>
              <a:rPr lang="en-US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95142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3581400" y="-10081"/>
            <a:ext cx="8229600" cy="1143000"/>
          </a:xfrm>
        </p:spPr>
        <p:txBody>
          <a:bodyPr>
            <a:normAutofit/>
          </a:bodyPr>
          <a:lstStyle/>
          <a:p>
            <a:pPr algn="r"/>
            <a:r>
              <a:rPr lang="he-IL" b="1" dirty="0">
                <a:solidFill>
                  <a:schemeClr val="tx2">
                    <a:lumMod val="75000"/>
                  </a:schemeClr>
                </a:solidFill>
              </a:rPr>
              <a:t>שאלה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4</a:t>
            </a:r>
            <a:endParaRPr lang="he-IL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2063552" y="469069"/>
            <a:ext cx="6744896" cy="3220390"/>
          </a:xfrm>
        </p:spPr>
        <p:txBody>
          <a:bodyPr>
            <a:norm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he-IL" sz="1400" dirty="0"/>
              <a:t>לפניכם אוסף של תרשימים המתארים לכאורה מבנה עלויות של פירמות. </a:t>
            </a:r>
            <a:endParaRPr lang="en-US" sz="1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56557" y="6586657"/>
            <a:ext cx="2133600" cy="365125"/>
          </a:xfrm>
        </p:spPr>
        <p:txBody>
          <a:bodyPr/>
          <a:lstStyle/>
          <a:p>
            <a:fld id="{48078EFE-FADB-4498-945F-D56B151146AE}" type="datetime8">
              <a:rPr lang="he-IL" smtClean="0"/>
              <a:t>27 דצמבר 25</a:t>
            </a:fld>
            <a:endParaRPr lang="he-I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1E707-399D-435F-B71F-72BFDAAE4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DB488-E800-4C9D-A68D-A9C6D048BCD3}" type="slidenum">
              <a:rPr lang="he-IL" smtClean="0"/>
              <a:pPr/>
              <a:t>36</a:t>
            </a:fld>
            <a:endParaRPr lang="he-I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097DDB-AABC-4A1D-96E1-F6AAFDF5AEAB}"/>
              </a:ext>
            </a:extLst>
          </p:cNvPr>
          <p:cNvSpPr txBox="1"/>
          <p:nvPr/>
        </p:nvSpPr>
        <p:spPr>
          <a:xfrm>
            <a:off x="1305451" y="5059142"/>
            <a:ext cx="4968552" cy="12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70000"/>
              </a:lnSpc>
            </a:pPr>
            <a:r>
              <a:rPr lang="en-US" sz="1600" b="1" dirty="0"/>
              <a:t>ATC</a:t>
            </a:r>
            <a:r>
              <a:rPr lang="en-US" sz="1600" dirty="0"/>
              <a:t> =TC(Q)/Q</a:t>
            </a:r>
            <a:r>
              <a:rPr lang="he-IL" sz="1600" dirty="0"/>
              <a:t> עקומת העלות הכוללת הממוצעת </a:t>
            </a:r>
            <a:r>
              <a:rPr lang="en-US" sz="1600" dirty="0"/>
              <a:t>(ATC)</a:t>
            </a:r>
            <a:r>
              <a:rPr lang="he-IL" sz="1600" dirty="0"/>
              <a:t>.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b="1" dirty="0"/>
              <a:t>AVC</a:t>
            </a:r>
            <a:r>
              <a:rPr lang="en-US" sz="1600" dirty="0"/>
              <a:t>=VC(Q)/Q</a:t>
            </a:r>
            <a:r>
              <a:rPr lang="he-IL" sz="1600" dirty="0"/>
              <a:t> עקומת העלות המשתנה הממוצעת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b="1" dirty="0"/>
              <a:t>MC</a:t>
            </a:r>
            <a:r>
              <a:rPr lang="en-US" sz="1600" dirty="0"/>
              <a:t>                </a:t>
            </a:r>
            <a:r>
              <a:rPr lang="he-IL" sz="1600" dirty="0"/>
              <a:t> עקומת העלות השולית.</a:t>
            </a:r>
            <a:endParaRPr 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B2DA87-B9E6-4FF8-8C7C-EC7B342FE4C7}"/>
              </a:ext>
            </a:extLst>
          </p:cNvPr>
          <p:cNvSpPr txBox="1"/>
          <p:nvPr/>
        </p:nvSpPr>
        <p:spPr>
          <a:xfrm>
            <a:off x="5722670" y="4182192"/>
            <a:ext cx="4814742" cy="2610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70000"/>
              </a:lnSpc>
            </a:pPr>
            <a:r>
              <a:rPr lang="he-IL" sz="1400" dirty="0"/>
              <a:t>בחרו בתשובה הנכונה לגבי אילו מהשרטוטים הללו עשוים לתאר מבנה עלויות של פירמה תחרותית:</a:t>
            </a:r>
            <a:br>
              <a:rPr lang="en-US" sz="1400" dirty="0"/>
            </a:br>
            <a:r>
              <a:rPr lang="he-IL" sz="1400" dirty="0"/>
              <a:t>א. תרשים 1 בלבד. </a:t>
            </a:r>
          </a:p>
          <a:p>
            <a:pPr>
              <a:lnSpc>
                <a:spcPct val="170000"/>
              </a:lnSpc>
            </a:pPr>
            <a:r>
              <a:rPr lang="he-IL" sz="1400" dirty="0"/>
              <a:t>ב. תרשים 2 בלבד</a:t>
            </a:r>
          </a:p>
          <a:p>
            <a:pPr>
              <a:lnSpc>
                <a:spcPct val="170000"/>
              </a:lnSpc>
            </a:pPr>
            <a:r>
              <a:rPr lang="he-IL" sz="1400" dirty="0"/>
              <a:t>ג. תרשים 3 בלבד</a:t>
            </a:r>
          </a:p>
          <a:p>
            <a:pPr>
              <a:lnSpc>
                <a:spcPct val="170000"/>
              </a:lnSpc>
            </a:pPr>
            <a:r>
              <a:rPr lang="he-IL" sz="1400" dirty="0"/>
              <a:t>ד. תרשים 1 ותרשים 3 בלבד.</a:t>
            </a:r>
          </a:p>
          <a:p>
            <a:pPr>
              <a:lnSpc>
                <a:spcPct val="170000"/>
              </a:lnSpc>
            </a:pPr>
            <a:r>
              <a:rPr lang="he-IL" sz="1400" dirty="0"/>
              <a:t>ה. כל התשובות לא נכונות. </a:t>
            </a:r>
            <a:endParaRPr lang="en-US" sz="1400" dirty="0"/>
          </a:p>
        </p:txBody>
      </p:sp>
      <p:sp>
        <p:nvSpPr>
          <p:cNvPr id="10" name="מציין מיקום תוכן 2">
            <a:extLst>
              <a:ext uri="{FF2B5EF4-FFF2-40B4-BE49-F238E27FC236}">
                <a16:creationId xmlns:a16="http://schemas.microsoft.com/office/drawing/2014/main" id="{B9AC8A78-A025-4330-99D2-AF66C5EBD797}"/>
              </a:ext>
            </a:extLst>
          </p:cNvPr>
          <p:cNvSpPr txBox="1">
            <a:spLocks/>
          </p:cNvSpPr>
          <p:nvPr/>
        </p:nvSpPr>
        <p:spPr>
          <a:xfrm>
            <a:off x="2094504" y="1030171"/>
            <a:ext cx="1626643" cy="401554"/>
          </a:xfrm>
          <a:prstGeom prst="rect">
            <a:avLst/>
          </a:prstGeom>
        </p:spPr>
        <p:txBody>
          <a:bodyPr vert="horz" lIns="91440" tIns="45720" rIns="91440" bIns="45720" rtlCol="1">
            <a:noAutofit/>
          </a:bodyPr>
          <a:lstStyle>
            <a:lvl1pPr marL="342900" indent="-3429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70000"/>
              </a:lnSpc>
              <a:buNone/>
            </a:pPr>
            <a:r>
              <a:rPr lang="he-IL" sz="2000" dirty="0"/>
              <a:t>תרשים 1:</a:t>
            </a:r>
            <a:endParaRPr lang="en-US" sz="2000" dirty="0"/>
          </a:p>
        </p:txBody>
      </p:sp>
      <p:grpSp>
        <p:nvGrpSpPr>
          <p:cNvPr id="11" name="בד ציור 1">
            <a:extLst>
              <a:ext uri="{FF2B5EF4-FFF2-40B4-BE49-F238E27FC236}">
                <a16:creationId xmlns:a16="http://schemas.microsoft.com/office/drawing/2014/main" id="{099336F5-3A64-4631-8900-22D6F25B522C}"/>
              </a:ext>
            </a:extLst>
          </p:cNvPr>
          <p:cNvGrpSpPr/>
          <p:nvPr/>
        </p:nvGrpSpPr>
        <p:grpSpPr>
          <a:xfrm>
            <a:off x="934729" y="1274683"/>
            <a:ext cx="4589919" cy="3297472"/>
            <a:chOff x="0" y="0"/>
            <a:chExt cx="5274310" cy="3076575"/>
          </a:xfrm>
        </p:grpSpPr>
        <p:sp>
          <p:nvSpPr>
            <p:cNvPr id="12" name="מלבן 6">
              <a:extLst>
                <a:ext uri="{FF2B5EF4-FFF2-40B4-BE49-F238E27FC236}">
                  <a16:creationId xmlns:a16="http://schemas.microsoft.com/office/drawing/2014/main" id="{59BE21F3-F496-4B9A-860C-71ECC8826C49}"/>
                </a:ext>
              </a:extLst>
            </p:cNvPr>
            <p:cNvSpPr/>
            <p:nvPr/>
          </p:nvSpPr>
          <p:spPr>
            <a:xfrm>
              <a:off x="0" y="0"/>
              <a:ext cx="5274310" cy="3076575"/>
            </a:xfrm>
            <a:prstGeom prst="rect">
              <a:avLst/>
            </a:prstGeom>
          </p:spPr>
          <p:txBody>
            <a:bodyPr/>
            <a:lstStyle/>
            <a:p>
              <a:endParaRPr lang="en-IL"/>
            </a:p>
          </p:txBody>
        </p:sp>
        <p:cxnSp>
          <p:nvCxnSpPr>
            <p:cNvPr id="13" name="מחבר ישר 7">
              <a:extLst>
                <a:ext uri="{FF2B5EF4-FFF2-40B4-BE49-F238E27FC236}">
                  <a16:creationId xmlns:a16="http://schemas.microsoft.com/office/drawing/2014/main" id="{5A573BBD-5DDC-4E3C-8D1F-6D2F6796A6FB}"/>
                </a:ext>
              </a:extLst>
            </p:cNvPr>
            <p:cNvCxnSpPr/>
            <p:nvPr/>
          </p:nvCxnSpPr>
          <p:spPr>
            <a:xfrm flipH="1">
              <a:off x="1095270" y="381837"/>
              <a:ext cx="20097" cy="194938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מחבר ישר 8">
              <a:extLst>
                <a:ext uri="{FF2B5EF4-FFF2-40B4-BE49-F238E27FC236}">
                  <a16:creationId xmlns:a16="http://schemas.microsoft.com/office/drawing/2014/main" id="{A2BBF270-5D67-4874-9C8A-9526070A7770}"/>
                </a:ext>
              </a:extLst>
            </p:cNvPr>
            <p:cNvCxnSpPr/>
            <p:nvPr/>
          </p:nvCxnSpPr>
          <p:spPr>
            <a:xfrm>
              <a:off x="1115367" y="2331218"/>
              <a:ext cx="271305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מחבר ישר 9">
              <a:extLst>
                <a:ext uri="{FF2B5EF4-FFF2-40B4-BE49-F238E27FC236}">
                  <a16:creationId xmlns:a16="http://schemas.microsoft.com/office/drawing/2014/main" id="{2F97DB6B-374D-410A-9642-B462873150F2}"/>
                </a:ext>
              </a:extLst>
            </p:cNvPr>
            <p:cNvCxnSpPr/>
            <p:nvPr/>
          </p:nvCxnSpPr>
          <p:spPr>
            <a:xfrm flipV="1">
              <a:off x="1115367" y="542611"/>
              <a:ext cx="1497205" cy="1316334"/>
            </a:xfrm>
            <a:prstGeom prst="line">
              <a:avLst/>
            </a:prstGeom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מחבר ישר 10">
              <a:extLst>
                <a:ext uri="{FF2B5EF4-FFF2-40B4-BE49-F238E27FC236}">
                  <a16:creationId xmlns:a16="http://schemas.microsoft.com/office/drawing/2014/main" id="{56DA4025-C180-4A9D-A445-9D9CDD9DC1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5367" y="780730"/>
              <a:ext cx="2711753" cy="1078216"/>
            </a:xfrm>
            <a:prstGeom prst="line">
              <a:avLst/>
            </a:prstGeom>
            <a:ln w="1905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צורה חופשית 11">
              <a:extLst>
                <a:ext uri="{FF2B5EF4-FFF2-40B4-BE49-F238E27FC236}">
                  <a16:creationId xmlns:a16="http://schemas.microsoft.com/office/drawing/2014/main" id="{DCB77D62-3F23-48AE-99FD-18C1F991854D}"/>
                </a:ext>
              </a:extLst>
            </p:cNvPr>
            <p:cNvSpPr/>
            <p:nvPr/>
          </p:nvSpPr>
          <p:spPr>
            <a:xfrm>
              <a:off x="1497204" y="504825"/>
              <a:ext cx="2427096" cy="701898"/>
            </a:xfrm>
            <a:custGeom>
              <a:avLst/>
              <a:gdLst>
                <a:gd name="connsiteX0" fmla="*/ 0 w 2270928"/>
                <a:gd name="connsiteY0" fmla="*/ 0 h 844982"/>
                <a:gd name="connsiteX1" fmla="*/ 411983 w 2270928"/>
                <a:gd name="connsiteY1" fmla="*/ 844061 h 844982"/>
                <a:gd name="connsiteX2" fmla="*/ 2270928 w 2270928"/>
                <a:gd name="connsiteY2" fmla="*/ 130628 h 844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70928" h="844982">
                  <a:moveTo>
                    <a:pt x="0" y="0"/>
                  </a:moveTo>
                  <a:cubicBezTo>
                    <a:pt x="16747" y="411145"/>
                    <a:pt x="33495" y="822290"/>
                    <a:pt x="411983" y="844061"/>
                  </a:cubicBezTo>
                  <a:cubicBezTo>
                    <a:pt x="790471" y="865832"/>
                    <a:pt x="1530699" y="498230"/>
                    <a:pt x="2270928" y="130628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1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he-IL"/>
            </a:p>
          </p:txBody>
        </p:sp>
        <p:sp>
          <p:nvSpPr>
            <p:cNvPr id="18" name="תיבת טקסט 7">
              <a:extLst>
                <a:ext uri="{FF2B5EF4-FFF2-40B4-BE49-F238E27FC236}">
                  <a16:creationId xmlns:a16="http://schemas.microsoft.com/office/drawing/2014/main" id="{9E3E42F7-30F0-4118-BDAF-0B90561B1DB8}"/>
                </a:ext>
              </a:extLst>
            </p:cNvPr>
            <p:cNvSpPr txBox="1"/>
            <p:nvPr/>
          </p:nvSpPr>
          <p:spPr>
            <a:xfrm>
              <a:off x="2441749" y="240290"/>
              <a:ext cx="619814" cy="361741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1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400" b="1" dirty="0">
                  <a:solidFill>
                    <a:schemeClr val="accent6">
                      <a:lumMod val="50000"/>
                    </a:schemeClr>
                  </a:solidFill>
                  <a:latin typeface="Times New Roman"/>
                  <a:ea typeface="Times New Roman"/>
                  <a:cs typeface="David"/>
                </a:rPr>
                <a:t>MC</a:t>
              </a:r>
            </a:p>
          </p:txBody>
        </p:sp>
        <p:sp>
          <p:nvSpPr>
            <p:cNvPr id="19" name="תיבת טקסט 7">
              <a:extLst>
                <a:ext uri="{FF2B5EF4-FFF2-40B4-BE49-F238E27FC236}">
                  <a16:creationId xmlns:a16="http://schemas.microsoft.com/office/drawing/2014/main" id="{48C6820C-EA3B-41F1-A82E-83FB79B37379}"/>
                </a:ext>
              </a:extLst>
            </p:cNvPr>
            <p:cNvSpPr txBox="1"/>
            <p:nvPr/>
          </p:nvSpPr>
          <p:spPr>
            <a:xfrm>
              <a:off x="3318130" y="342628"/>
              <a:ext cx="704628" cy="361315"/>
            </a:xfrm>
            <a:prstGeom prst="rect">
              <a:avLst/>
            </a:prstGeom>
            <a:solidFill>
              <a:schemeClr val="lt1"/>
            </a:solidFill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1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600" dirty="0">
                  <a:solidFill>
                    <a:srgbClr val="0070C0"/>
                  </a:solidFill>
                  <a:latin typeface="Times New Roman"/>
                  <a:ea typeface="Calibri"/>
                  <a:cs typeface="Arial"/>
                </a:rPr>
                <a:t>ATC</a:t>
              </a:r>
              <a:endParaRPr lang="en-US" sz="1600" dirty="0">
                <a:solidFill>
                  <a:srgbClr val="0070C0"/>
                </a:solidFill>
                <a:latin typeface="Times New Roman"/>
                <a:ea typeface="Times New Roman"/>
              </a:endParaRPr>
            </a:p>
          </p:txBody>
        </p:sp>
        <p:sp>
          <p:nvSpPr>
            <p:cNvPr id="20" name="תיבת טקסט 7">
              <a:extLst>
                <a:ext uri="{FF2B5EF4-FFF2-40B4-BE49-F238E27FC236}">
                  <a16:creationId xmlns:a16="http://schemas.microsoft.com/office/drawing/2014/main" id="{CBA5D83D-650D-4F8E-9D37-A66D64CE7F6B}"/>
                </a:ext>
              </a:extLst>
            </p:cNvPr>
            <p:cNvSpPr txBox="1"/>
            <p:nvPr/>
          </p:nvSpPr>
          <p:spPr>
            <a:xfrm>
              <a:off x="3175016" y="1070931"/>
              <a:ext cx="704628" cy="400389"/>
            </a:xfrm>
            <a:prstGeom prst="rect">
              <a:avLst/>
            </a:prstGeom>
            <a:solidFill>
              <a:schemeClr val="lt1"/>
            </a:solidFill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1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600" b="1" dirty="0">
                  <a:solidFill>
                    <a:schemeClr val="accent3">
                      <a:lumMod val="75000"/>
                    </a:schemeClr>
                  </a:solidFill>
                  <a:latin typeface="Times New Roman"/>
                  <a:ea typeface="Calibri"/>
                  <a:cs typeface="Arial"/>
                </a:rPr>
                <a:t>AVC</a:t>
              </a:r>
              <a:endParaRPr lang="en-US" sz="1600" b="1" dirty="0">
                <a:solidFill>
                  <a:schemeClr val="accent3">
                    <a:lumMod val="75000"/>
                  </a:schemeClr>
                </a:solidFill>
                <a:latin typeface="Times New Roman"/>
                <a:ea typeface="Times New Roman"/>
              </a:endParaRPr>
            </a:p>
          </p:txBody>
        </p:sp>
        <p:sp>
          <p:nvSpPr>
            <p:cNvPr id="21" name="תיבת טקסט 7">
              <a:extLst>
                <a:ext uri="{FF2B5EF4-FFF2-40B4-BE49-F238E27FC236}">
                  <a16:creationId xmlns:a16="http://schemas.microsoft.com/office/drawing/2014/main" id="{E2CB69F5-8800-448A-B2C7-D639BFFAEAD1}"/>
                </a:ext>
              </a:extLst>
            </p:cNvPr>
            <p:cNvSpPr txBox="1"/>
            <p:nvPr/>
          </p:nvSpPr>
          <p:spPr>
            <a:xfrm>
              <a:off x="3898760" y="2209767"/>
              <a:ext cx="320537" cy="361315"/>
            </a:xfrm>
            <a:prstGeom prst="rect">
              <a:avLst/>
            </a:prstGeom>
            <a:solidFill>
              <a:schemeClr val="lt1"/>
            </a:solidFill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1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 dirty="0">
                  <a:latin typeface="Times New Roman"/>
                  <a:ea typeface="Calibri"/>
                  <a:cs typeface="Arial"/>
                </a:rPr>
                <a:t>Q</a:t>
              </a:r>
              <a:endParaRPr lang="en-US" sz="1200" dirty="0">
                <a:latin typeface="Times New Roman"/>
                <a:ea typeface="Times New Roman"/>
              </a:endParaRPr>
            </a:p>
          </p:txBody>
        </p:sp>
        <p:sp>
          <p:nvSpPr>
            <p:cNvPr id="22" name="תיבת טקסט 7">
              <a:extLst>
                <a:ext uri="{FF2B5EF4-FFF2-40B4-BE49-F238E27FC236}">
                  <a16:creationId xmlns:a16="http://schemas.microsoft.com/office/drawing/2014/main" id="{72BDF042-5D7E-4F18-8C9C-9755973363C4}"/>
                </a:ext>
              </a:extLst>
            </p:cNvPr>
            <p:cNvSpPr txBox="1"/>
            <p:nvPr/>
          </p:nvSpPr>
          <p:spPr>
            <a:xfrm>
              <a:off x="561838" y="181296"/>
              <a:ext cx="481965" cy="361315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1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he-IL" sz="1100" dirty="0">
                  <a:latin typeface="Times New Roman"/>
                  <a:ea typeface="Times New Roman"/>
                  <a:cs typeface="Arial"/>
                </a:rPr>
                <a:t>ש''ח</a:t>
              </a:r>
              <a:endParaRPr lang="en-US" sz="1200" dirty="0">
                <a:latin typeface="Times New Roman"/>
                <a:ea typeface="Times New Roman"/>
              </a:endParaRPr>
            </a:p>
          </p:txBody>
        </p:sp>
      </p:grpSp>
      <p:sp>
        <p:nvSpPr>
          <p:cNvPr id="25" name="מציין מיקום תוכן 2">
            <a:extLst>
              <a:ext uri="{FF2B5EF4-FFF2-40B4-BE49-F238E27FC236}">
                <a16:creationId xmlns:a16="http://schemas.microsoft.com/office/drawing/2014/main" id="{EF4B0B7B-A639-4177-ABE3-58A25A50B178}"/>
              </a:ext>
            </a:extLst>
          </p:cNvPr>
          <p:cNvSpPr txBox="1">
            <a:spLocks/>
          </p:cNvSpPr>
          <p:nvPr/>
        </p:nvSpPr>
        <p:spPr>
          <a:xfrm>
            <a:off x="4481477" y="948226"/>
            <a:ext cx="2262184" cy="720080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70000"/>
              </a:lnSpc>
              <a:buNone/>
            </a:pPr>
            <a:r>
              <a:rPr lang="he-IL" sz="2000" dirty="0"/>
              <a:t>תרשים 2:</a:t>
            </a:r>
            <a:endParaRPr lang="en-US" sz="2000" dirty="0"/>
          </a:p>
        </p:txBody>
      </p:sp>
      <p:grpSp>
        <p:nvGrpSpPr>
          <p:cNvPr id="26" name="בד ציור 26">
            <a:extLst>
              <a:ext uri="{FF2B5EF4-FFF2-40B4-BE49-F238E27FC236}">
                <a16:creationId xmlns:a16="http://schemas.microsoft.com/office/drawing/2014/main" id="{27B5A054-C07B-4CF6-BBDF-AA5E0625213D}"/>
              </a:ext>
            </a:extLst>
          </p:cNvPr>
          <p:cNvGrpSpPr/>
          <p:nvPr/>
        </p:nvGrpSpPr>
        <p:grpSpPr>
          <a:xfrm>
            <a:off x="4080937" y="1282219"/>
            <a:ext cx="5274310" cy="3845329"/>
            <a:chOff x="0" y="0"/>
            <a:chExt cx="5274310" cy="3076575"/>
          </a:xfrm>
        </p:grpSpPr>
        <p:sp>
          <p:nvSpPr>
            <p:cNvPr id="27" name="מלבן 20">
              <a:extLst>
                <a:ext uri="{FF2B5EF4-FFF2-40B4-BE49-F238E27FC236}">
                  <a16:creationId xmlns:a16="http://schemas.microsoft.com/office/drawing/2014/main" id="{25D65A43-FC0C-4875-BD9D-57B740AFF163}"/>
                </a:ext>
              </a:extLst>
            </p:cNvPr>
            <p:cNvSpPr/>
            <p:nvPr/>
          </p:nvSpPr>
          <p:spPr>
            <a:xfrm>
              <a:off x="0" y="0"/>
              <a:ext cx="5274310" cy="3076575"/>
            </a:xfrm>
            <a:prstGeom prst="rect">
              <a:avLst/>
            </a:prstGeom>
          </p:spPr>
          <p:txBody>
            <a:bodyPr/>
            <a:lstStyle/>
            <a:p>
              <a:endParaRPr lang="en-IL"/>
            </a:p>
          </p:txBody>
        </p:sp>
        <p:cxnSp>
          <p:nvCxnSpPr>
            <p:cNvPr id="28" name="מחבר ישר 21">
              <a:extLst>
                <a:ext uri="{FF2B5EF4-FFF2-40B4-BE49-F238E27FC236}">
                  <a16:creationId xmlns:a16="http://schemas.microsoft.com/office/drawing/2014/main" id="{55FDC6EF-8D4E-4FEF-A03B-F38C872408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0613" y="379609"/>
              <a:ext cx="1" cy="166363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מחבר ישר 22">
              <a:extLst>
                <a:ext uri="{FF2B5EF4-FFF2-40B4-BE49-F238E27FC236}">
                  <a16:creationId xmlns:a16="http://schemas.microsoft.com/office/drawing/2014/main" id="{3A90C664-F2F7-45A0-9DB7-1D3B997AC72F}"/>
                </a:ext>
              </a:extLst>
            </p:cNvPr>
            <p:cNvCxnSpPr>
              <a:cxnSpLocks/>
            </p:cNvCxnSpPr>
            <p:nvPr/>
          </p:nvCxnSpPr>
          <p:spPr>
            <a:xfrm>
              <a:off x="1095270" y="2043244"/>
              <a:ext cx="212040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מחבר ישר 23">
              <a:extLst>
                <a:ext uri="{FF2B5EF4-FFF2-40B4-BE49-F238E27FC236}">
                  <a16:creationId xmlns:a16="http://schemas.microsoft.com/office/drawing/2014/main" id="{57636838-24C0-4E34-A293-6205ADD50F9A}"/>
                </a:ext>
              </a:extLst>
            </p:cNvPr>
            <p:cNvCxnSpPr/>
            <p:nvPr/>
          </p:nvCxnSpPr>
          <p:spPr>
            <a:xfrm flipV="1">
              <a:off x="1115367" y="542611"/>
              <a:ext cx="1497205" cy="1316334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מחבר ישר 24">
              <a:extLst>
                <a:ext uri="{FF2B5EF4-FFF2-40B4-BE49-F238E27FC236}">
                  <a16:creationId xmlns:a16="http://schemas.microsoft.com/office/drawing/2014/main" id="{FF4723E3-6307-4501-A8FE-DD6CAC17DA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5367" y="903860"/>
              <a:ext cx="2503913" cy="955085"/>
            </a:xfrm>
            <a:prstGeom prst="line">
              <a:avLst/>
            </a:prstGeom>
            <a:ln w="1905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צורה חופשית 25">
              <a:extLst>
                <a:ext uri="{FF2B5EF4-FFF2-40B4-BE49-F238E27FC236}">
                  <a16:creationId xmlns:a16="http://schemas.microsoft.com/office/drawing/2014/main" id="{C726C60E-8F15-4427-BD76-85EB4C0B8F0D}"/>
                </a:ext>
              </a:extLst>
            </p:cNvPr>
            <p:cNvSpPr/>
            <p:nvPr/>
          </p:nvSpPr>
          <p:spPr>
            <a:xfrm>
              <a:off x="2171223" y="697960"/>
              <a:ext cx="1559506" cy="523555"/>
            </a:xfrm>
            <a:custGeom>
              <a:avLst/>
              <a:gdLst>
                <a:gd name="connsiteX0" fmla="*/ 0 w 2270928"/>
                <a:gd name="connsiteY0" fmla="*/ 0 h 844982"/>
                <a:gd name="connsiteX1" fmla="*/ 411983 w 2270928"/>
                <a:gd name="connsiteY1" fmla="*/ 844061 h 844982"/>
                <a:gd name="connsiteX2" fmla="*/ 2270928 w 2270928"/>
                <a:gd name="connsiteY2" fmla="*/ 130628 h 844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70928" h="844982">
                  <a:moveTo>
                    <a:pt x="0" y="0"/>
                  </a:moveTo>
                  <a:cubicBezTo>
                    <a:pt x="16747" y="411145"/>
                    <a:pt x="33495" y="822290"/>
                    <a:pt x="411983" y="844061"/>
                  </a:cubicBezTo>
                  <a:cubicBezTo>
                    <a:pt x="790471" y="865832"/>
                    <a:pt x="1530699" y="498230"/>
                    <a:pt x="2270928" y="130628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1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he-IL"/>
            </a:p>
          </p:txBody>
        </p:sp>
        <p:sp>
          <p:nvSpPr>
            <p:cNvPr id="33" name="תיבת טקסט 19">
              <a:extLst>
                <a:ext uri="{FF2B5EF4-FFF2-40B4-BE49-F238E27FC236}">
                  <a16:creationId xmlns:a16="http://schemas.microsoft.com/office/drawing/2014/main" id="{1F8E7864-8B8B-4DF5-975B-D1BFC1D2717D}"/>
                </a:ext>
              </a:extLst>
            </p:cNvPr>
            <p:cNvSpPr txBox="1"/>
            <p:nvPr/>
          </p:nvSpPr>
          <p:spPr>
            <a:xfrm>
              <a:off x="2371412" y="120579"/>
              <a:ext cx="652924" cy="361741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1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600" dirty="0">
                  <a:solidFill>
                    <a:srgbClr val="C00000"/>
                  </a:solidFill>
                  <a:latin typeface="Times New Roman"/>
                  <a:ea typeface="Times New Roman"/>
                  <a:cs typeface="David"/>
                </a:rPr>
                <a:t>MC</a:t>
              </a:r>
            </a:p>
          </p:txBody>
        </p:sp>
        <p:sp>
          <p:nvSpPr>
            <p:cNvPr id="34" name="תיבת טקסט 7">
              <a:extLst>
                <a:ext uri="{FF2B5EF4-FFF2-40B4-BE49-F238E27FC236}">
                  <a16:creationId xmlns:a16="http://schemas.microsoft.com/office/drawing/2014/main" id="{8B211A45-79AD-4F57-BD47-8CF5F90FBB4E}"/>
                </a:ext>
              </a:extLst>
            </p:cNvPr>
            <p:cNvSpPr txBox="1"/>
            <p:nvPr/>
          </p:nvSpPr>
          <p:spPr>
            <a:xfrm>
              <a:off x="2931250" y="434724"/>
              <a:ext cx="652924" cy="361315"/>
            </a:xfrm>
            <a:prstGeom prst="rect">
              <a:avLst/>
            </a:prstGeom>
            <a:solidFill>
              <a:schemeClr val="lt1"/>
            </a:solidFill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1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600" b="1" dirty="0">
                  <a:solidFill>
                    <a:srgbClr val="0070C0"/>
                  </a:solidFill>
                  <a:latin typeface="Times New Roman"/>
                  <a:ea typeface="Calibri"/>
                  <a:cs typeface="Arial"/>
                </a:rPr>
                <a:t>ATC</a:t>
              </a:r>
              <a:endParaRPr lang="en-US" sz="1600" b="1" dirty="0">
                <a:solidFill>
                  <a:srgbClr val="0070C0"/>
                </a:solidFill>
                <a:latin typeface="Times New Roman"/>
                <a:ea typeface="Times New Roman"/>
              </a:endParaRPr>
            </a:p>
          </p:txBody>
        </p:sp>
        <p:sp>
          <p:nvSpPr>
            <p:cNvPr id="35" name="תיבת טקסט 7">
              <a:extLst>
                <a:ext uri="{FF2B5EF4-FFF2-40B4-BE49-F238E27FC236}">
                  <a16:creationId xmlns:a16="http://schemas.microsoft.com/office/drawing/2014/main" id="{3584FAF7-8853-4311-9CDD-AA6DF222D915}"/>
                </a:ext>
              </a:extLst>
            </p:cNvPr>
            <p:cNvSpPr txBox="1"/>
            <p:nvPr/>
          </p:nvSpPr>
          <p:spPr>
            <a:xfrm>
              <a:off x="3215675" y="1078946"/>
              <a:ext cx="673240" cy="361315"/>
            </a:xfrm>
            <a:prstGeom prst="rect">
              <a:avLst/>
            </a:prstGeom>
            <a:solidFill>
              <a:schemeClr val="lt1"/>
            </a:solidFill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1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600" b="1" dirty="0">
                  <a:solidFill>
                    <a:schemeClr val="accent3">
                      <a:lumMod val="75000"/>
                    </a:schemeClr>
                  </a:solidFill>
                  <a:latin typeface="Times New Roman"/>
                  <a:ea typeface="Calibri"/>
                  <a:cs typeface="Arial"/>
                </a:rPr>
                <a:t>AVC</a:t>
              </a:r>
              <a:endParaRPr lang="en-US" sz="1600" b="1" dirty="0">
                <a:solidFill>
                  <a:schemeClr val="accent3">
                    <a:lumMod val="75000"/>
                  </a:schemeClr>
                </a:solidFill>
                <a:latin typeface="Times New Roman"/>
                <a:ea typeface="Times New Roman"/>
              </a:endParaRPr>
            </a:p>
          </p:txBody>
        </p:sp>
        <p:sp>
          <p:nvSpPr>
            <p:cNvPr id="36" name="תיבת טקסט 7">
              <a:extLst>
                <a:ext uri="{FF2B5EF4-FFF2-40B4-BE49-F238E27FC236}">
                  <a16:creationId xmlns:a16="http://schemas.microsoft.com/office/drawing/2014/main" id="{880A0204-AB77-4A58-869B-E15061BCE406}"/>
                </a:ext>
              </a:extLst>
            </p:cNvPr>
            <p:cNvSpPr txBox="1"/>
            <p:nvPr/>
          </p:nvSpPr>
          <p:spPr>
            <a:xfrm>
              <a:off x="3248952" y="1918370"/>
              <a:ext cx="320537" cy="361315"/>
            </a:xfrm>
            <a:prstGeom prst="rect">
              <a:avLst/>
            </a:prstGeom>
            <a:solidFill>
              <a:schemeClr val="lt1"/>
            </a:solidFill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1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 dirty="0">
                  <a:latin typeface="Times New Roman"/>
                  <a:ea typeface="Times New Roman"/>
                  <a:cs typeface="Arial"/>
                </a:rPr>
                <a:t>Q</a:t>
              </a:r>
              <a:endParaRPr lang="en-US" sz="1200" dirty="0">
                <a:latin typeface="Times New Roman"/>
                <a:ea typeface="Times New Roman"/>
              </a:endParaRPr>
            </a:p>
          </p:txBody>
        </p:sp>
        <p:sp>
          <p:nvSpPr>
            <p:cNvPr id="37" name="תיבת טקסט 7">
              <a:extLst>
                <a:ext uri="{FF2B5EF4-FFF2-40B4-BE49-F238E27FC236}">
                  <a16:creationId xmlns:a16="http://schemas.microsoft.com/office/drawing/2014/main" id="{8483FC77-9742-4668-AAAE-A7131CA5FFE6}"/>
                </a:ext>
              </a:extLst>
            </p:cNvPr>
            <p:cNvSpPr txBox="1"/>
            <p:nvPr/>
          </p:nvSpPr>
          <p:spPr>
            <a:xfrm>
              <a:off x="561838" y="181296"/>
              <a:ext cx="481965" cy="361315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1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he-IL" sz="1100" dirty="0">
                  <a:latin typeface="Times New Roman"/>
                  <a:ea typeface="Times New Roman"/>
                  <a:cs typeface="Arial"/>
                </a:rPr>
                <a:t>ש''ח</a:t>
              </a:r>
              <a:endParaRPr lang="en-US" sz="1200" dirty="0">
                <a:latin typeface="Times New Roman"/>
                <a:ea typeface="Times New Roman"/>
              </a:endParaRPr>
            </a:p>
          </p:txBody>
        </p:sp>
      </p:grpSp>
      <p:sp>
        <p:nvSpPr>
          <p:cNvPr id="42" name="Oval 41">
            <a:extLst>
              <a:ext uri="{FF2B5EF4-FFF2-40B4-BE49-F238E27FC236}">
                <a16:creationId xmlns:a16="http://schemas.microsoft.com/office/drawing/2014/main" id="{E455B55E-44A4-4D87-948A-03E6BED3B36F}"/>
              </a:ext>
            </a:extLst>
          </p:cNvPr>
          <p:cNvSpPr/>
          <p:nvPr/>
        </p:nvSpPr>
        <p:spPr>
          <a:xfrm>
            <a:off x="6194168" y="2337653"/>
            <a:ext cx="159670" cy="18911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9268038C-4E38-49DA-AA4B-E622A115053D}"/>
              </a:ext>
            </a:extLst>
          </p:cNvPr>
          <p:cNvSpPr/>
          <p:nvPr/>
        </p:nvSpPr>
        <p:spPr>
          <a:xfrm>
            <a:off x="6477795" y="2683142"/>
            <a:ext cx="155240" cy="19491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45" name="מציין מיקום תוכן 2">
            <a:extLst>
              <a:ext uri="{FF2B5EF4-FFF2-40B4-BE49-F238E27FC236}">
                <a16:creationId xmlns:a16="http://schemas.microsoft.com/office/drawing/2014/main" id="{493BDFFD-9504-44C0-84AF-26D08EC66743}"/>
              </a:ext>
            </a:extLst>
          </p:cNvPr>
          <p:cNvSpPr txBox="1">
            <a:spLocks/>
          </p:cNvSpPr>
          <p:nvPr/>
        </p:nvSpPr>
        <p:spPr>
          <a:xfrm>
            <a:off x="7824854" y="840771"/>
            <a:ext cx="2262184" cy="720080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70000"/>
              </a:lnSpc>
              <a:buNone/>
            </a:pPr>
            <a:r>
              <a:rPr lang="he-IL" sz="2000" dirty="0"/>
              <a:t>תרשים 3:</a:t>
            </a:r>
            <a:endParaRPr lang="en-US" sz="2000" dirty="0"/>
          </a:p>
        </p:txBody>
      </p:sp>
      <p:cxnSp>
        <p:nvCxnSpPr>
          <p:cNvPr id="49" name="מחבר ישר 2">
            <a:extLst>
              <a:ext uri="{FF2B5EF4-FFF2-40B4-BE49-F238E27FC236}">
                <a16:creationId xmlns:a16="http://schemas.microsoft.com/office/drawing/2014/main" id="{AB063351-86EA-471C-8762-84349C2BAA6D}"/>
              </a:ext>
            </a:extLst>
          </p:cNvPr>
          <p:cNvCxnSpPr>
            <a:cxnSpLocks/>
          </p:cNvCxnSpPr>
          <p:nvPr/>
        </p:nvCxnSpPr>
        <p:spPr>
          <a:xfrm flipH="1">
            <a:off x="8090953" y="1696597"/>
            <a:ext cx="39088" cy="21225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מחבר ישר 4">
            <a:extLst>
              <a:ext uri="{FF2B5EF4-FFF2-40B4-BE49-F238E27FC236}">
                <a16:creationId xmlns:a16="http://schemas.microsoft.com/office/drawing/2014/main" id="{15261259-6EA0-438B-BA86-D01D505DB081}"/>
              </a:ext>
            </a:extLst>
          </p:cNvPr>
          <p:cNvCxnSpPr>
            <a:cxnSpLocks/>
          </p:cNvCxnSpPr>
          <p:nvPr/>
        </p:nvCxnSpPr>
        <p:spPr>
          <a:xfrm>
            <a:off x="8102646" y="3819165"/>
            <a:ext cx="21817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צורה חופשית 5">
            <a:extLst>
              <a:ext uri="{FF2B5EF4-FFF2-40B4-BE49-F238E27FC236}">
                <a16:creationId xmlns:a16="http://schemas.microsoft.com/office/drawing/2014/main" id="{92FFF1C3-F58F-4D20-90A0-72B5D212EF85}"/>
              </a:ext>
            </a:extLst>
          </p:cNvPr>
          <p:cNvSpPr/>
          <p:nvPr/>
        </p:nvSpPr>
        <p:spPr>
          <a:xfrm>
            <a:off x="8282103" y="2042381"/>
            <a:ext cx="1714213" cy="1562417"/>
          </a:xfrm>
          <a:custGeom>
            <a:avLst/>
            <a:gdLst>
              <a:gd name="connsiteX0" fmla="*/ 0 w 5015346"/>
              <a:gd name="connsiteY0" fmla="*/ 2281382 h 3222325"/>
              <a:gd name="connsiteX1" fmla="*/ 1099128 w 5015346"/>
              <a:gd name="connsiteY1" fmla="*/ 3149600 h 3222325"/>
              <a:gd name="connsiteX2" fmla="*/ 2419928 w 5015346"/>
              <a:gd name="connsiteY2" fmla="*/ 2817091 h 3222325"/>
              <a:gd name="connsiteX3" fmla="*/ 5015346 w 5015346"/>
              <a:gd name="connsiteY3" fmla="*/ 0 h 3222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15346" h="3222325">
                <a:moveTo>
                  <a:pt x="0" y="2281382"/>
                </a:moveTo>
                <a:cubicBezTo>
                  <a:pt x="347903" y="2670848"/>
                  <a:pt x="695807" y="3060315"/>
                  <a:pt x="1099128" y="3149600"/>
                </a:cubicBezTo>
                <a:cubicBezTo>
                  <a:pt x="1502449" y="3238885"/>
                  <a:pt x="1767225" y="3342024"/>
                  <a:pt x="2419928" y="2817091"/>
                </a:cubicBezTo>
                <a:cubicBezTo>
                  <a:pt x="3072631" y="2292158"/>
                  <a:pt x="4043988" y="1146079"/>
                  <a:pt x="5015346" y="0"/>
                </a:cubicBezTo>
              </a:path>
            </a:pathLst>
          </a:custGeom>
          <a:ln w="19050"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52" name="צורה חופשית 7">
            <a:extLst>
              <a:ext uri="{FF2B5EF4-FFF2-40B4-BE49-F238E27FC236}">
                <a16:creationId xmlns:a16="http://schemas.microsoft.com/office/drawing/2014/main" id="{A1F41286-582C-45E4-B440-0EFB837A0E71}"/>
              </a:ext>
            </a:extLst>
          </p:cNvPr>
          <p:cNvSpPr/>
          <p:nvPr/>
        </p:nvSpPr>
        <p:spPr>
          <a:xfrm flipH="1">
            <a:off x="8966634" y="2091115"/>
            <a:ext cx="1625183" cy="482698"/>
          </a:xfrm>
          <a:custGeom>
            <a:avLst/>
            <a:gdLst>
              <a:gd name="connsiteX0" fmla="*/ 0 w 5298831"/>
              <a:gd name="connsiteY0" fmla="*/ 0 h 2297730"/>
              <a:gd name="connsiteX1" fmla="*/ 1160584 w 5298831"/>
              <a:gd name="connsiteY1" fmla="*/ 1453662 h 2297730"/>
              <a:gd name="connsiteX2" fmla="*/ 2637692 w 5298831"/>
              <a:gd name="connsiteY2" fmla="*/ 2297724 h 2297730"/>
              <a:gd name="connsiteX3" fmla="*/ 5298831 w 5298831"/>
              <a:gd name="connsiteY3" fmla="*/ 1441939 h 2297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8831" h="2297730">
                <a:moveTo>
                  <a:pt x="0" y="0"/>
                </a:moveTo>
                <a:cubicBezTo>
                  <a:pt x="360484" y="535354"/>
                  <a:pt x="720969" y="1070708"/>
                  <a:pt x="1160584" y="1453662"/>
                </a:cubicBezTo>
                <a:cubicBezTo>
                  <a:pt x="1600199" y="1836616"/>
                  <a:pt x="1947984" y="2299678"/>
                  <a:pt x="2637692" y="2297724"/>
                </a:cubicBezTo>
                <a:cubicBezTo>
                  <a:pt x="3327400" y="2295770"/>
                  <a:pt x="4313115" y="1868854"/>
                  <a:pt x="5298831" y="1441939"/>
                </a:cubicBezTo>
              </a:path>
            </a:pathLst>
          </a:custGeom>
          <a:noFill/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6" name="צורה חופשית 20">
            <a:extLst>
              <a:ext uri="{FF2B5EF4-FFF2-40B4-BE49-F238E27FC236}">
                <a16:creationId xmlns:a16="http://schemas.microsoft.com/office/drawing/2014/main" id="{43982001-A1BF-41E6-A2E0-D514E76FA8EE}"/>
              </a:ext>
            </a:extLst>
          </p:cNvPr>
          <p:cNvSpPr/>
          <p:nvPr/>
        </p:nvSpPr>
        <p:spPr>
          <a:xfrm>
            <a:off x="8192193" y="2434828"/>
            <a:ext cx="2190949" cy="1018639"/>
          </a:xfrm>
          <a:custGeom>
            <a:avLst/>
            <a:gdLst>
              <a:gd name="connsiteX0" fmla="*/ 0 w 5298831"/>
              <a:gd name="connsiteY0" fmla="*/ 0 h 2297730"/>
              <a:gd name="connsiteX1" fmla="*/ 1160584 w 5298831"/>
              <a:gd name="connsiteY1" fmla="*/ 1453662 h 2297730"/>
              <a:gd name="connsiteX2" fmla="*/ 2637692 w 5298831"/>
              <a:gd name="connsiteY2" fmla="*/ 2297724 h 2297730"/>
              <a:gd name="connsiteX3" fmla="*/ 5298831 w 5298831"/>
              <a:gd name="connsiteY3" fmla="*/ 1441939 h 2297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8831" h="2297730">
                <a:moveTo>
                  <a:pt x="0" y="0"/>
                </a:moveTo>
                <a:cubicBezTo>
                  <a:pt x="360484" y="535354"/>
                  <a:pt x="720969" y="1070708"/>
                  <a:pt x="1160584" y="1453662"/>
                </a:cubicBezTo>
                <a:cubicBezTo>
                  <a:pt x="1600199" y="1836616"/>
                  <a:pt x="1947984" y="2299678"/>
                  <a:pt x="2637692" y="2297724"/>
                </a:cubicBezTo>
                <a:cubicBezTo>
                  <a:pt x="3327400" y="2295770"/>
                  <a:pt x="4313115" y="1868854"/>
                  <a:pt x="5298831" y="1441939"/>
                </a:cubicBezTo>
              </a:path>
            </a:pathLst>
          </a:custGeom>
          <a:noFill/>
          <a:ln w="1905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6D4F72A-F292-42B1-A870-2333353F8B11}"/>
              </a:ext>
            </a:extLst>
          </p:cNvPr>
          <p:cNvSpPr txBox="1"/>
          <p:nvPr/>
        </p:nvSpPr>
        <p:spPr>
          <a:xfrm>
            <a:off x="8593482" y="2794733"/>
            <a:ext cx="5773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ATC</a:t>
            </a:r>
          </a:p>
        </p:txBody>
      </p:sp>
      <p:sp>
        <p:nvSpPr>
          <p:cNvPr id="64" name="תיבת טקסט 19">
            <a:extLst>
              <a:ext uri="{FF2B5EF4-FFF2-40B4-BE49-F238E27FC236}">
                <a16:creationId xmlns:a16="http://schemas.microsoft.com/office/drawing/2014/main" id="{29801005-723A-45E5-9FB1-1B300BBAB9CF}"/>
              </a:ext>
            </a:extLst>
          </p:cNvPr>
          <p:cNvSpPr txBox="1"/>
          <p:nvPr/>
        </p:nvSpPr>
        <p:spPr>
          <a:xfrm>
            <a:off x="9822672" y="1585757"/>
            <a:ext cx="652924" cy="452130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00000"/>
                </a:solidFill>
                <a:latin typeface="Times New Roman"/>
                <a:ea typeface="Times New Roman"/>
                <a:cs typeface="David"/>
              </a:rPr>
              <a:t>MC</a:t>
            </a:r>
          </a:p>
        </p:txBody>
      </p:sp>
      <p:sp>
        <p:nvSpPr>
          <p:cNvPr id="65" name="תיבת טקסט 7">
            <a:extLst>
              <a:ext uri="{FF2B5EF4-FFF2-40B4-BE49-F238E27FC236}">
                <a16:creationId xmlns:a16="http://schemas.microsoft.com/office/drawing/2014/main" id="{6F5F2ED2-7868-4A78-8340-5F328C9FECFB}"/>
              </a:ext>
            </a:extLst>
          </p:cNvPr>
          <p:cNvSpPr txBox="1"/>
          <p:nvPr/>
        </p:nvSpPr>
        <p:spPr>
          <a:xfrm>
            <a:off x="10079993" y="3721318"/>
            <a:ext cx="320537" cy="451598"/>
          </a:xfrm>
          <a:prstGeom prst="rect">
            <a:avLst/>
          </a:prstGeom>
          <a:solidFill>
            <a:schemeClr val="lt1"/>
          </a:solidFill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/>
                <a:ea typeface="Times New Roman"/>
                <a:cs typeface="Arial"/>
              </a:rPr>
              <a:t>Q</a:t>
            </a:r>
            <a:endParaRPr lang="en-US" sz="1200" dirty="0">
              <a:latin typeface="Times New Roman"/>
              <a:ea typeface="Times New Roman"/>
            </a:endParaRPr>
          </a:p>
        </p:txBody>
      </p:sp>
      <p:sp>
        <p:nvSpPr>
          <p:cNvPr id="66" name="תיבת טקסט 7">
            <a:extLst>
              <a:ext uri="{FF2B5EF4-FFF2-40B4-BE49-F238E27FC236}">
                <a16:creationId xmlns:a16="http://schemas.microsoft.com/office/drawing/2014/main" id="{7C82A7E2-4B4C-48DD-85D7-05E1B7900C5E}"/>
              </a:ext>
            </a:extLst>
          </p:cNvPr>
          <p:cNvSpPr txBox="1"/>
          <p:nvPr/>
        </p:nvSpPr>
        <p:spPr>
          <a:xfrm>
            <a:off x="8703443" y="2052266"/>
            <a:ext cx="673240" cy="310006"/>
          </a:xfrm>
          <a:prstGeom prst="rect">
            <a:avLst/>
          </a:prstGeom>
          <a:solidFill>
            <a:schemeClr val="lt1"/>
          </a:solidFill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b="1" dirty="0">
                <a:solidFill>
                  <a:schemeClr val="accent3">
                    <a:lumMod val="75000"/>
                  </a:schemeClr>
                </a:solidFill>
                <a:latin typeface="Times New Roman"/>
                <a:ea typeface="Calibri"/>
                <a:cs typeface="Arial"/>
              </a:rPr>
              <a:t>AVC</a:t>
            </a:r>
            <a:endParaRPr lang="en-US" sz="1600" b="1" dirty="0">
              <a:solidFill>
                <a:schemeClr val="accent3">
                  <a:lumMod val="75000"/>
                </a:schemeClr>
              </a:solidFill>
              <a:latin typeface="Times New Roman"/>
              <a:ea typeface="Times New Roman"/>
            </a:endParaRPr>
          </a:p>
        </p:txBody>
      </p:sp>
      <p:sp>
        <p:nvSpPr>
          <p:cNvPr id="68" name="תיבת טקסט 7">
            <a:extLst>
              <a:ext uri="{FF2B5EF4-FFF2-40B4-BE49-F238E27FC236}">
                <a16:creationId xmlns:a16="http://schemas.microsoft.com/office/drawing/2014/main" id="{04AC7BF8-5D30-4B81-8ADF-C79D705C9181}"/>
              </a:ext>
            </a:extLst>
          </p:cNvPr>
          <p:cNvSpPr txBox="1"/>
          <p:nvPr/>
        </p:nvSpPr>
        <p:spPr>
          <a:xfrm>
            <a:off x="7736933" y="1441759"/>
            <a:ext cx="481965" cy="451598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he-IL" sz="1100" dirty="0">
                <a:latin typeface="Times New Roman"/>
                <a:ea typeface="Times New Roman"/>
                <a:cs typeface="Arial"/>
              </a:rPr>
              <a:t>ש''ח</a:t>
            </a:r>
            <a:endParaRPr lang="en-US" sz="1200" dirty="0">
              <a:latin typeface="Times New Roman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617803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3855052" y="78450"/>
            <a:ext cx="8229600" cy="1143000"/>
          </a:xfrm>
        </p:spPr>
        <p:txBody>
          <a:bodyPr>
            <a:normAutofit/>
          </a:bodyPr>
          <a:lstStyle/>
          <a:p>
            <a:pPr algn="r"/>
            <a:r>
              <a:rPr lang="he-IL" b="1" dirty="0">
                <a:solidFill>
                  <a:schemeClr val="tx2">
                    <a:lumMod val="75000"/>
                  </a:schemeClr>
                </a:solidFill>
              </a:rPr>
              <a:t>שאלה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4</a:t>
            </a:r>
            <a:endParaRPr lang="he-IL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2063552" y="204475"/>
            <a:ext cx="6744896" cy="3484984"/>
          </a:xfrm>
        </p:spPr>
        <p:txBody>
          <a:bodyPr>
            <a:norm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he-IL" sz="1400" dirty="0"/>
              <a:t>לפניכם אוסף של תרשימים המתארים לכאורה מבנה עלויות של פירמות. </a:t>
            </a:r>
            <a:endParaRPr lang="en-US" sz="1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56557" y="6586657"/>
            <a:ext cx="2133600" cy="365125"/>
          </a:xfrm>
        </p:spPr>
        <p:txBody>
          <a:bodyPr/>
          <a:lstStyle/>
          <a:p>
            <a:fld id="{48078EFE-FADB-4498-945F-D56B151146AE}" type="datetime8">
              <a:rPr lang="he-IL" smtClean="0"/>
              <a:t>27 דצמבר 25</a:t>
            </a:fld>
            <a:endParaRPr lang="he-I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1E707-399D-435F-B71F-72BFDAAE4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DB488-E800-4C9D-A68D-A9C6D048BCD3}" type="slidenum">
              <a:rPr lang="he-IL" smtClean="0"/>
              <a:pPr/>
              <a:t>37</a:t>
            </a:fld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B2DA87-B9E6-4FF8-8C7C-EC7B342FE4C7}"/>
              </a:ext>
            </a:extLst>
          </p:cNvPr>
          <p:cNvSpPr txBox="1"/>
          <p:nvPr/>
        </p:nvSpPr>
        <p:spPr>
          <a:xfrm>
            <a:off x="2237657" y="4196237"/>
            <a:ext cx="8309477" cy="2610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70000"/>
              </a:lnSpc>
            </a:pPr>
            <a:r>
              <a:rPr lang="he-IL" sz="1400" dirty="0"/>
              <a:t>בחרו בתשובה הנכונה לגבי אילו מהשרטוטים הללו עשוים לתאר מבנה עלויות של פירמה תחרותית:</a:t>
            </a:r>
            <a:br>
              <a:rPr lang="en-US" sz="1400" dirty="0"/>
            </a:br>
            <a:r>
              <a:rPr lang="he-IL" sz="1400" dirty="0">
                <a:highlight>
                  <a:srgbClr val="FFFF00"/>
                </a:highlight>
              </a:rPr>
              <a:t>א. תרשים 1 בלבד. </a:t>
            </a:r>
          </a:p>
          <a:p>
            <a:pPr>
              <a:lnSpc>
                <a:spcPct val="170000"/>
              </a:lnSpc>
            </a:pPr>
            <a:r>
              <a:rPr lang="he-IL" sz="1400" dirty="0"/>
              <a:t>ב. תרשים 2 בלבד. </a:t>
            </a:r>
            <a:r>
              <a:rPr lang="he-IL" sz="1400" b="1" dirty="0"/>
              <a:t>לא יכול לתאר מכיוון שעקומת </a:t>
            </a:r>
            <a:r>
              <a:rPr lang="en-US" sz="1400" b="1" dirty="0"/>
              <a:t>ATC </a:t>
            </a:r>
            <a:r>
              <a:rPr lang="he-IL" sz="1400" b="1" dirty="0"/>
              <a:t> אינה חותכת את עקומת העלות השולית בנקודת המינימום של </a:t>
            </a:r>
            <a:r>
              <a:rPr lang="en-US" sz="1400" b="1" dirty="0"/>
              <a:t>ATC</a:t>
            </a:r>
            <a:r>
              <a:rPr lang="he-IL" sz="1400" b="1" dirty="0"/>
              <a:t>. </a:t>
            </a:r>
            <a:endParaRPr lang="he-IL" sz="1400" dirty="0"/>
          </a:p>
          <a:p>
            <a:pPr>
              <a:lnSpc>
                <a:spcPct val="170000"/>
              </a:lnSpc>
            </a:pPr>
            <a:r>
              <a:rPr lang="he-IL" sz="1400" dirty="0"/>
              <a:t>ג. תרשים 3 בלבד. </a:t>
            </a:r>
            <a:r>
              <a:rPr lang="he-IL" sz="1400" b="1" dirty="0"/>
              <a:t>לא יכול לתאר מכיוון שלא ייתכן ש עקומת </a:t>
            </a:r>
            <a:r>
              <a:rPr lang="en-US" sz="1400" b="1" dirty="0"/>
              <a:t>AVC</a:t>
            </a:r>
            <a:r>
              <a:rPr lang="he-IL" sz="1400" b="1" dirty="0"/>
              <a:t> גבוהה מעקומת </a:t>
            </a:r>
            <a:r>
              <a:rPr lang="en-US" sz="1400" b="1" dirty="0"/>
              <a:t>ATC</a:t>
            </a:r>
            <a:r>
              <a:rPr lang="he-IL" sz="1400" b="1" dirty="0"/>
              <a:t>. </a:t>
            </a:r>
          </a:p>
          <a:p>
            <a:pPr>
              <a:lnSpc>
                <a:spcPct val="170000"/>
              </a:lnSpc>
            </a:pPr>
            <a:r>
              <a:rPr lang="he-IL" sz="1400" dirty="0"/>
              <a:t>ד. תרשים 1 ותרשים 3 בלבד.</a:t>
            </a:r>
          </a:p>
          <a:p>
            <a:pPr>
              <a:lnSpc>
                <a:spcPct val="170000"/>
              </a:lnSpc>
            </a:pPr>
            <a:r>
              <a:rPr lang="he-IL" sz="1400" dirty="0"/>
              <a:t>ה. כל התשובות לא נכונות. </a:t>
            </a:r>
            <a:endParaRPr lang="en-US" sz="1400" dirty="0"/>
          </a:p>
        </p:txBody>
      </p:sp>
      <p:sp>
        <p:nvSpPr>
          <p:cNvPr id="10" name="מציין מיקום תוכן 2">
            <a:extLst>
              <a:ext uri="{FF2B5EF4-FFF2-40B4-BE49-F238E27FC236}">
                <a16:creationId xmlns:a16="http://schemas.microsoft.com/office/drawing/2014/main" id="{B9AC8A78-A025-4330-99D2-AF66C5EBD797}"/>
              </a:ext>
            </a:extLst>
          </p:cNvPr>
          <p:cNvSpPr txBox="1">
            <a:spLocks/>
          </p:cNvSpPr>
          <p:nvPr/>
        </p:nvSpPr>
        <p:spPr>
          <a:xfrm>
            <a:off x="1650097" y="809562"/>
            <a:ext cx="2262184" cy="720080"/>
          </a:xfrm>
          <a:prstGeom prst="rect">
            <a:avLst/>
          </a:prstGeom>
        </p:spPr>
        <p:txBody>
          <a:bodyPr vert="horz" lIns="91440" tIns="45720" rIns="91440" bIns="45720" rtlCol="1">
            <a:normAutofit fontScale="92500" lnSpcReduction="20000"/>
          </a:bodyPr>
          <a:lstStyle>
            <a:lvl1pPr marL="342900" indent="-3429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70000"/>
              </a:lnSpc>
              <a:buNone/>
            </a:pPr>
            <a:r>
              <a:rPr lang="he-IL" dirty="0"/>
              <a:t>תרשים 1:</a:t>
            </a:r>
            <a:endParaRPr lang="en-US" dirty="0"/>
          </a:p>
        </p:txBody>
      </p:sp>
      <p:grpSp>
        <p:nvGrpSpPr>
          <p:cNvPr id="11" name="בד ציור 1">
            <a:extLst>
              <a:ext uri="{FF2B5EF4-FFF2-40B4-BE49-F238E27FC236}">
                <a16:creationId xmlns:a16="http://schemas.microsoft.com/office/drawing/2014/main" id="{099336F5-3A64-4631-8900-22D6F25B522C}"/>
              </a:ext>
            </a:extLst>
          </p:cNvPr>
          <p:cNvGrpSpPr/>
          <p:nvPr/>
        </p:nvGrpSpPr>
        <p:grpSpPr>
          <a:xfrm>
            <a:off x="934729" y="1274683"/>
            <a:ext cx="4589919" cy="3297472"/>
            <a:chOff x="0" y="0"/>
            <a:chExt cx="5274310" cy="3076575"/>
          </a:xfrm>
        </p:grpSpPr>
        <p:sp>
          <p:nvSpPr>
            <p:cNvPr id="12" name="מלבן 6">
              <a:extLst>
                <a:ext uri="{FF2B5EF4-FFF2-40B4-BE49-F238E27FC236}">
                  <a16:creationId xmlns:a16="http://schemas.microsoft.com/office/drawing/2014/main" id="{59BE21F3-F496-4B9A-860C-71ECC8826C49}"/>
                </a:ext>
              </a:extLst>
            </p:cNvPr>
            <p:cNvSpPr/>
            <p:nvPr/>
          </p:nvSpPr>
          <p:spPr>
            <a:xfrm>
              <a:off x="0" y="0"/>
              <a:ext cx="5274310" cy="3076575"/>
            </a:xfrm>
            <a:prstGeom prst="rect">
              <a:avLst/>
            </a:prstGeom>
          </p:spPr>
          <p:txBody>
            <a:bodyPr/>
            <a:lstStyle/>
            <a:p>
              <a:endParaRPr lang="en-IL"/>
            </a:p>
          </p:txBody>
        </p:sp>
        <p:cxnSp>
          <p:nvCxnSpPr>
            <p:cNvPr id="13" name="מחבר ישר 7">
              <a:extLst>
                <a:ext uri="{FF2B5EF4-FFF2-40B4-BE49-F238E27FC236}">
                  <a16:creationId xmlns:a16="http://schemas.microsoft.com/office/drawing/2014/main" id="{5A573BBD-5DDC-4E3C-8D1F-6D2F6796A6FB}"/>
                </a:ext>
              </a:extLst>
            </p:cNvPr>
            <p:cNvCxnSpPr/>
            <p:nvPr/>
          </p:nvCxnSpPr>
          <p:spPr>
            <a:xfrm flipH="1">
              <a:off x="1095270" y="381837"/>
              <a:ext cx="20097" cy="194938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מחבר ישר 8">
              <a:extLst>
                <a:ext uri="{FF2B5EF4-FFF2-40B4-BE49-F238E27FC236}">
                  <a16:creationId xmlns:a16="http://schemas.microsoft.com/office/drawing/2014/main" id="{A2BBF270-5D67-4874-9C8A-9526070A7770}"/>
                </a:ext>
              </a:extLst>
            </p:cNvPr>
            <p:cNvCxnSpPr/>
            <p:nvPr/>
          </p:nvCxnSpPr>
          <p:spPr>
            <a:xfrm>
              <a:off x="1115367" y="2331218"/>
              <a:ext cx="271305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מחבר ישר 9">
              <a:extLst>
                <a:ext uri="{FF2B5EF4-FFF2-40B4-BE49-F238E27FC236}">
                  <a16:creationId xmlns:a16="http://schemas.microsoft.com/office/drawing/2014/main" id="{2F97DB6B-374D-410A-9642-B462873150F2}"/>
                </a:ext>
              </a:extLst>
            </p:cNvPr>
            <p:cNvCxnSpPr/>
            <p:nvPr/>
          </p:nvCxnSpPr>
          <p:spPr>
            <a:xfrm flipV="1">
              <a:off x="1115367" y="542611"/>
              <a:ext cx="1497205" cy="1316334"/>
            </a:xfrm>
            <a:prstGeom prst="line">
              <a:avLst/>
            </a:prstGeom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מחבר ישר 10">
              <a:extLst>
                <a:ext uri="{FF2B5EF4-FFF2-40B4-BE49-F238E27FC236}">
                  <a16:creationId xmlns:a16="http://schemas.microsoft.com/office/drawing/2014/main" id="{56DA4025-C180-4A9D-A445-9D9CDD9DC1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5367" y="780730"/>
              <a:ext cx="2711753" cy="1078216"/>
            </a:xfrm>
            <a:prstGeom prst="line">
              <a:avLst/>
            </a:prstGeom>
            <a:ln w="1905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צורה חופשית 11">
              <a:extLst>
                <a:ext uri="{FF2B5EF4-FFF2-40B4-BE49-F238E27FC236}">
                  <a16:creationId xmlns:a16="http://schemas.microsoft.com/office/drawing/2014/main" id="{DCB77D62-3F23-48AE-99FD-18C1F991854D}"/>
                </a:ext>
              </a:extLst>
            </p:cNvPr>
            <p:cNvSpPr/>
            <p:nvPr/>
          </p:nvSpPr>
          <p:spPr>
            <a:xfrm>
              <a:off x="1497204" y="504825"/>
              <a:ext cx="2427096" cy="701898"/>
            </a:xfrm>
            <a:custGeom>
              <a:avLst/>
              <a:gdLst>
                <a:gd name="connsiteX0" fmla="*/ 0 w 2270928"/>
                <a:gd name="connsiteY0" fmla="*/ 0 h 844982"/>
                <a:gd name="connsiteX1" fmla="*/ 411983 w 2270928"/>
                <a:gd name="connsiteY1" fmla="*/ 844061 h 844982"/>
                <a:gd name="connsiteX2" fmla="*/ 2270928 w 2270928"/>
                <a:gd name="connsiteY2" fmla="*/ 130628 h 844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70928" h="844982">
                  <a:moveTo>
                    <a:pt x="0" y="0"/>
                  </a:moveTo>
                  <a:cubicBezTo>
                    <a:pt x="16747" y="411145"/>
                    <a:pt x="33495" y="822290"/>
                    <a:pt x="411983" y="844061"/>
                  </a:cubicBezTo>
                  <a:cubicBezTo>
                    <a:pt x="790471" y="865832"/>
                    <a:pt x="1530699" y="498230"/>
                    <a:pt x="2270928" y="130628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1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he-IL"/>
            </a:p>
          </p:txBody>
        </p:sp>
        <p:sp>
          <p:nvSpPr>
            <p:cNvPr id="18" name="תיבת טקסט 7">
              <a:extLst>
                <a:ext uri="{FF2B5EF4-FFF2-40B4-BE49-F238E27FC236}">
                  <a16:creationId xmlns:a16="http://schemas.microsoft.com/office/drawing/2014/main" id="{9E3E42F7-30F0-4118-BDAF-0B90561B1DB8}"/>
                </a:ext>
              </a:extLst>
            </p:cNvPr>
            <p:cNvSpPr txBox="1"/>
            <p:nvPr/>
          </p:nvSpPr>
          <p:spPr>
            <a:xfrm>
              <a:off x="2441749" y="240290"/>
              <a:ext cx="619814" cy="361741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1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400" b="1" dirty="0">
                  <a:solidFill>
                    <a:schemeClr val="accent6">
                      <a:lumMod val="50000"/>
                    </a:schemeClr>
                  </a:solidFill>
                  <a:latin typeface="Times New Roman"/>
                  <a:ea typeface="Times New Roman"/>
                  <a:cs typeface="David"/>
                </a:rPr>
                <a:t>MC</a:t>
              </a:r>
            </a:p>
          </p:txBody>
        </p:sp>
        <p:sp>
          <p:nvSpPr>
            <p:cNvPr id="19" name="תיבת טקסט 7">
              <a:extLst>
                <a:ext uri="{FF2B5EF4-FFF2-40B4-BE49-F238E27FC236}">
                  <a16:creationId xmlns:a16="http://schemas.microsoft.com/office/drawing/2014/main" id="{48C6820C-EA3B-41F1-A82E-83FB79B37379}"/>
                </a:ext>
              </a:extLst>
            </p:cNvPr>
            <p:cNvSpPr txBox="1"/>
            <p:nvPr/>
          </p:nvSpPr>
          <p:spPr>
            <a:xfrm>
              <a:off x="3318130" y="342628"/>
              <a:ext cx="704628" cy="361315"/>
            </a:xfrm>
            <a:prstGeom prst="rect">
              <a:avLst/>
            </a:prstGeom>
            <a:solidFill>
              <a:schemeClr val="lt1"/>
            </a:solidFill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1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600" dirty="0">
                  <a:solidFill>
                    <a:srgbClr val="0070C0"/>
                  </a:solidFill>
                  <a:latin typeface="Times New Roman"/>
                  <a:ea typeface="Calibri"/>
                  <a:cs typeface="Arial"/>
                </a:rPr>
                <a:t>ATC</a:t>
              </a:r>
              <a:endParaRPr lang="en-US" sz="1600" dirty="0">
                <a:solidFill>
                  <a:srgbClr val="0070C0"/>
                </a:solidFill>
                <a:latin typeface="Times New Roman"/>
                <a:ea typeface="Times New Roman"/>
              </a:endParaRPr>
            </a:p>
          </p:txBody>
        </p:sp>
        <p:sp>
          <p:nvSpPr>
            <p:cNvPr id="20" name="תיבת טקסט 7">
              <a:extLst>
                <a:ext uri="{FF2B5EF4-FFF2-40B4-BE49-F238E27FC236}">
                  <a16:creationId xmlns:a16="http://schemas.microsoft.com/office/drawing/2014/main" id="{CBA5D83D-650D-4F8E-9D37-A66D64CE7F6B}"/>
                </a:ext>
              </a:extLst>
            </p:cNvPr>
            <p:cNvSpPr txBox="1"/>
            <p:nvPr/>
          </p:nvSpPr>
          <p:spPr>
            <a:xfrm>
              <a:off x="3175016" y="1070931"/>
              <a:ext cx="704628" cy="400389"/>
            </a:xfrm>
            <a:prstGeom prst="rect">
              <a:avLst/>
            </a:prstGeom>
            <a:solidFill>
              <a:schemeClr val="lt1"/>
            </a:solidFill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1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600" b="1" dirty="0">
                  <a:solidFill>
                    <a:schemeClr val="accent3">
                      <a:lumMod val="75000"/>
                    </a:schemeClr>
                  </a:solidFill>
                  <a:latin typeface="Times New Roman"/>
                  <a:ea typeface="Calibri"/>
                  <a:cs typeface="Arial"/>
                </a:rPr>
                <a:t>AVC</a:t>
              </a:r>
              <a:endParaRPr lang="en-US" sz="1600" b="1" dirty="0">
                <a:solidFill>
                  <a:schemeClr val="accent3">
                    <a:lumMod val="75000"/>
                  </a:schemeClr>
                </a:solidFill>
                <a:latin typeface="Times New Roman"/>
                <a:ea typeface="Times New Roman"/>
              </a:endParaRPr>
            </a:p>
          </p:txBody>
        </p:sp>
        <p:sp>
          <p:nvSpPr>
            <p:cNvPr id="21" name="תיבת טקסט 7">
              <a:extLst>
                <a:ext uri="{FF2B5EF4-FFF2-40B4-BE49-F238E27FC236}">
                  <a16:creationId xmlns:a16="http://schemas.microsoft.com/office/drawing/2014/main" id="{E2CB69F5-8800-448A-B2C7-D639BFFAEAD1}"/>
                </a:ext>
              </a:extLst>
            </p:cNvPr>
            <p:cNvSpPr txBox="1"/>
            <p:nvPr/>
          </p:nvSpPr>
          <p:spPr>
            <a:xfrm>
              <a:off x="3898760" y="2209767"/>
              <a:ext cx="320537" cy="361315"/>
            </a:xfrm>
            <a:prstGeom prst="rect">
              <a:avLst/>
            </a:prstGeom>
            <a:solidFill>
              <a:schemeClr val="lt1"/>
            </a:solidFill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1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 dirty="0">
                  <a:latin typeface="Times New Roman"/>
                  <a:ea typeface="Calibri"/>
                  <a:cs typeface="Arial"/>
                </a:rPr>
                <a:t>Q</a:t>
              </a:r>
              <a:endParaRPr lang="en-US" sz="1200" dirty="0">
                <a:latin typeface="Times New Roman"/>
                <a:ea typeface="Times New Roman"/>
              </a:endParaRPr>
            </a:p>
          </p:txBody>
        </p:sp>
        <p:sp>
          <p:nvSpPr>
            <p:cNvPr id="22" name="תיבת טקסט 7">
              <a:extLst>
                <a:ext uri="{FF2B5EF4-FFF2-40B4-BE49-F238E27FC236}">
                  <a16:creationId xmlns:a16="http://schemas.microsoft.com/office/drawing/2014/main" id="{72BDF042-5D7E-4F18-8C9C-9755973363C4}"/>
                </a:ext>
              </a:extLst>
            </p:cNvPr>
            <p:cNvSpPr txBox="1"/>
            <p:nvPr/>
          </p:nvSpPr>
          <p:spPr>
            <a:xfrm>
              <a:off x="785532" y="156751"/>
              <a:ext cx="481966" cy="361315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1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he-IL" sz="1100" dirty="0">
                  <a:latin typeface="Times New Roman"/>
                  <a:ea typeface="Times New Roman"/>
                  <a:cs typeface="Arial"/>
                </a:rPr>
                <a:t>ש''ח</a:t>
              </a:r>
              <a:endParaRPr lang="en-US" sz="1200" dirty="0">
                <a:latin typeface="Times New Roman"/>
                <a:ea typeface="Times New Roman"/>
              </a:endParaRPr>
            </a:p>
          </p:txBody>
        </p:sp>
      </p:grpSp>
      <p:sp>
        <p:nvSpPr>
          <p:cNvPr id="25" name="מציין מיקום תוכן 2">
            <a:extLst>
              <a:ext uri="{FF2B5EF4-FFF2-40B4-BE49-F238E27FC236}">
                <a16:creationId xmlns:a16="http://schemas.microsoft.com/office/drawing/2014/main" id="{EF4B0B7B-A639-4177-ABE3-58A25A50B178}"/>
              </a:ext>
            </a:extLst>
          </p:cNvPr>
          <p:cNvSpPr txBox="1">
            <a:spLocks/>
          </p:cNvSpPr>
          <p:nvPr/>
        </p:nvSpPr>
        <p:spPr>
          <a:xfrm>
            <a:off x="4517322" y="819487"/>
            <a:ext cx="2262184" cy="720080"/>
          </a:xfrm>
          <a:prstGeom prst="rect">
            <a:avLst/>
          </a:prstGeom>
        </p:spPr>
        <p:txBody>
          <a:bodyPr vert="horz" lIns="91440" tIns="45720" rIns="91440" bIns="45720" rtlCol="1">
            <a:normAutofit fontScale="92500" lnSpcReduction="20000"/>
          </a:bodyPr>
          <a:lstStyle>
            <a:lvl1pPr marL="342900" indent="-3429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70000"/>
              </a:lnSpc>
              <a:buNone/>
            </a:pPr>
            <a:r>
              <a:rPr lang="he-IL" dirty="0"/>
              <a:t>תרשים 2:</a:t>
            </a:r>
            <a:endParaRPr lang="en-US" dirty="0"/>
          </a:p>
        </p:txBody>
      </p:sp>
      <p:grpSp>
        <p:nvGrpSpPr>
          <p:cNvPr id="26" name="בד ציור 26">
            <a:extLst>
              <a:ext uri="{FF2B5EF4-FFF2-40B4-BE49-F238E27FC236}">
                <a16:creationId xmlns:a16="http://schemas.microsoft.com/office/drawing/2014/main" id="{27B5A054-C07B-4CF6-BBDF-AA5E0625213D}"/>
              </a:ext>
            </a:extLst>
          </p:cNvPr>
          <p:cNvGrpSpPr/>
          <p:nvPr/>
        </p:nvGrpSpPr>
        <p:grpSpPr>
          <a:xfrm>
            <a:off x="4080937" y="1282219"/>
            <a:ext cx="5274310" cy="3845329"/>
            <a:chOff x="0" y="0"/>
            <a:chExt cx="5274310" cy="3076575"/>
          </a:xfrm>
        </p:grpSpPr>
        <p:sp>
          <p:nvSpPr>
            <p:cNvPr id="27" name="מלבן 20">
              <a:extLst>
                <a:ext uri="{FF2B5EF4-FFF2-40B4-BE49-F238E27FC236}">
                  <a16:creationId xmlns:a16="http://schemas.microsoft.com/office/drawing/2014/main" id="{25D65A43-FC0C-4875-BD9D-57B740AFF163}"/>
                </a:ext>
              </a:extLst>
            </p:cNvPr>
            <p:cNvSpPr/>
            <p:nvPr/>
          </p:nvSpPr>
          <p:spPr>
            <a:xfrm>
              <a:off x="0" y="0"/>
              <a:ext cx="5274310" cy="3076575"/>
            </a:xfrm>
            <a:prstGeom prst="rect">
              <a:avLst/>
            </a:prstGeom>
          </p:spPr>
          <p:txBody>
            <a:bodyPr/>
            <a:lstStyle/>
            <a:p>
              <a:endParaRPr lang="en-IL"/>
            </a:p>
          </p:txBody>
        </p:sp>
        <p:cxnSp>
          <p:nvCxnSpPr>
            <p:cNvPr id="28" name="מחבר ישר 21">
              <a:extLst>
                <a:ext uri="{FF2B5EF4-FFF2-40B4-BE49-F238E27FC236}">
                  <a16:creationId xmlns:a16="http://schemas.microsoft.com/office/drawing/2014/main" id="{55FDC6EF-8D4E-4FEF-A03B-F38C872408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0613" y="379609"/>
              <a:ext cx="1" cy="166363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מחבר ישר 22">
              <a:extLst>
                <a:ext uri="{FF2B5EF4-FFF2-40B4-BE49-F238E27FC236}">
                  <a16:creationId xmlns:a16="http://schemas.microsoft.com/office/drawing/2014/main" id="{3A90C664-F2F7-45A0-9DB7-1D3B997AC72F}"/>
                </a:ext>
              </a:extLst>
            </p:cNvPr>
            <p:cNvCxnSpPr>
              <a:cxnSpLocks/>
            </p:cNvCxnSpPr>
            <p:nvPr/>
          </p:nvCxnSpPr>
          <p:spPr>
            <a:xfrm>
              <a:off x="1095270" y="2043244"/>
              <a:ext cx="212040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מחבר ישר 23">
              <a:extLst>
                <a:ext uri="{FF2B5EF4-FFF2-40B4-BE49-F238E27FC236}">
                  <a16:creationId xmlns:a16="http://schemas.microsoft.com/office/drawing/2014/main" id="{57636838-24C0-4E34-A293-6205ADD50F9A}"/>
                </a:ext>
              </a:extLst>
            </p:cNvPr>
            <p:cNvCxnSpPr/>
            <p:nvPr/>
          </p:nvCxnSpPr>
          <p:spPr>
            <a:xfrm flipV="1">
              <a:off x="1115367" y="542611"/>
              <a:ext cx="1497205" cy="1316334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מחבר ישר 24">
              <a:extLst>
                <a:ext uri="{FF2B5EF4-FFF2-40B4-BE49-F238E27FC236}">
                  <a16:creationId xmlns:a16="http://schemas.microsoft.com/office/drawing/2014/main" id="{FF4723E3-6307-4501-A8FE-DD6CAC17DA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5367" y="903860"/>
              <a:ext cx="2503913" cy="955085"/>
            </a:xfrm>
            <a:prstGeom prst="line">
              <a:avLst/>
            </a:prstGeom>
            <a:ln w="1905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צורה חופשית 25">
              <a:extLst>
                <a:ext uri="{FF2B5EF4-FFF2-40B4-BE49-F238E27FC236}">
                  <a16:creationId xmlns:a16="http://schemas.microsoft.com/office/drawing/2014/main" id="{C726C60E-8F15-4427-BD76-85EB4C0B8F0D}"/>
                </a:ext>
              </a:extLst>
            </p:cNvPr>
            <p:cNvSpPr/>
            <p:nvPr/>
          </p:nvSpPr>
          <p:spPr>
            <a:xfrm>
              <a:off x="2171223" y="697960"/>
              <a:ext cx="1559506" cy="523555"/>
            </a:xfrm>
            <a:custGeom>
              <a:avLst/>
              <a:gdLst>
                <a:gd name="connsiteX0" fmla="*/ 0 w 2270928"/>
                <a:gd name="connsiteY0" fmla="*/ 0 h 844982"/>
                <a:gd name="connsiteX1" fmla="*/ 411983 w 2270928"/>
                <a:gd name="connsiteY1" fmla="*/ 844061 h 844982"/>
                <a:gd name="connsiteX2" fmla="*/ 2270928 w 2270928"/>
                <a:gd name="connsiteY2" fmla="*/ 130628 h 844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70928" h="844982">
                  <a:moveTo>
                    <a:pt x="0" y="0"/>
                  </a:moveTo>
                  <a:cubicBezTo>
                    <a:pt x="16747" y="411145"/>
                    <a:pt x="33495" y="822290"/>
                    <a:pt x="411983" y="844061"/>
                  </a:cubicBezTo>
                  <a:cubicBezTo>
                    <a:pt x="790471" y="865832"/>
                    <a:pt x="1530699" y="498230"/>
                    <a:pt x="2270928" y="130628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1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he-IL"/>
            </a:p>
          </p:txBody>
        </p:sp>
        <p:sp>
          <p:nvSpPr>
            <p:cNvPr id="33" name="תיבת טקסט 19">
              <a:extLst>
                <a:ext uri="{FF2B5EF4-FFF2-40B4-BE49-F238E27FC236}">
                  <a16:creationId xmlns:a16="http://schemas.microsoft.com/office/drawing/2014/main" id="{1F8E7864-8B8B-4DF5-975B-D1BFC1D2717D}"/>
                </a:ext>
              </a:extLst>
            </p:cNvPr>
            <p:cNvSpPr txBox="1"/>
            <p:nvPr/>
          </p:nvSpPr>
          <p:spPr>
            <a:xfrm>
              <a:off x="2371412" y="120579"/>
              <a:ext cx="652924" cy="361741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1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600" dirty="0">
                  <a:solidFill>
                    <a:srgbClr val="C00000"/>
                  </a:solidFill>
                  <a:latin typeface="Times New Roman"/>
                  <a:ea typeface="Times New Roman"/>
                  <a:cs typeface="David"/>
                </a:rPr>
                <a:t>MC</a:t>
              </a:r>
            </a:p>
          </p:txBody>
        </p:sp>
        <p:sp>
          <p:nvSpPr>
            <p:cNvPr id="34" name="תיבת טקסט 7">
              <a:extLst>
                <a:ext uri="{FF2B5EF4-FFF2-40B4-BE49-F238E27FC236}">
                  <a16:creationId xmlns:a16="http://schemas.microsoft.com/office/drawing/2014/main" id="{8B211A45-79AD-4F57-BD47-8CF5F90FBB4E}"/>
                </a:ext>
              </a:extLst>
            </p:cNvPr>
            <p:cNvSpPr txBox="1"/>
            <p:nvPr/>
          </p:nvSpPr>
          <p:spPr>
            <a:xfrm>
              <a:off x="2931250" y="476191"/>
              <a:ext cx="652924" cy="361315"/>
            </a:xfrm>
            <a:prstGeom prst="rect">
              <a:avLst/>
            </a:prstGeom>
            <a:solidFill>
              <a:schemeClr val="lt1"/>
            </a:solidFill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1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600" b="1" dirty="0">
                  <a:solidFill>
                    <a:srgbClr val="0070C0"/>
                  </a:solidFill>
                  <a:latin typeface="Times New Roman"/>
                  <a:ea typeface="Calibri"/>
                  <a:cs typeface="Arial"/>
                </a:rPr>
                <a:t>ATC</a:t>
              </a:r>
              <a:endParaRPr lang="en-US" sz="1600" b="1" dirty="0">
                <a:solidFill>
                  <a:srgbClr val="0070C0"/>
                </a:solidFill>
                <a:latin typeface="Times New Roman"/>
                <a:ea typeface="Times New Roman"/>
              </a:endParaRPr>
            </a:p>
          </p:txBody>
        </p:sp>
        <p:sp>
          <p:nvSpPr>
            <p:cNvPr id="35" name="תיבת טקסט 7">
              <a:extLst>
                <a:ext uri="{FF2B5EF4-FFF2-40B4-BE49-F238E27FC236}">
                  <a16:creationId xmlns:a16="http://schemas.microsoft.com/office/drawing/2014/main" id="{3584FAF7-8853-4311-9CDD-AA6DF222D915}"/>
                </a:ext>
              </a:extLst>
            </p:cNvPr>
            <p:cNvSpPr txBox="1"/>
            <p:nvPr/>
          </p:nvSpPr>
          <p:spPr>
            <a:xfrm>
              <a:off x="3215675" y="1078946"/>
              <a:ext cx="673240" cy="361315"/>
            </a:xfrm>
            <a:prstGeom prst="rect">
              <a:avLst/>
            </a:prstGeom>
            <a:solidFill>
              <a:schemeClr val="lt1"/>
            </a:solidFill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1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600" b="1" dirty="0">
                  <a:solidFill>
                    <a:schemeClr val="accent3">
                      <a:lumMod val="75000"/>
                    </a:schemeClr>
                  </a:solidFill>
                  <a:latin typeface="Times New Roman"/>
                  <a:ea typeface="Calibri"/>
                  <a:cs typeface="Arial"/>
                </a:rPr>
                <a:t>AVC</a:t>
              </a:r>
              <a:endParaRPr lang="en-US" sz="1600" b="1" dirty="0">
                <a:solidFill>
                  <a:schemeClr val="accent3">
                    <a:lumMod val="75000"/>
                  </a:schemeClr>
                </a:solidFill>
                <a:latin typeface="Times New Roman"/>
                <a:ea typeface="Times New Roman"/>
              </a:endParaRPr>
            </a:p>
          </p:txBody>
        </p:sp>
        <p:sp>
          <p:nvSpPr>
            <p:cNvPr id="36" name="תיבת טקסט 7">
              <a:extLst>
                <a:ext uri="{FF2B5EF4-FFF2-40B4-BE49-F238E27FC236}">
                  <a16:creationId xmlns:a16="http://schemas.microsoft.com/office/drawing/2014/main" id="{880A0204-AB77-4A58-869B-E15061BCE406}"/>
                </a:ext>
              </a:extLst>
            </p:cNvPr>
            <p:cNvSpPr txBox="1"/>
            <p:nvPr/>
          </p:nvSpPr>
          <p:spPr>
            <a:xfrm>
              <a:off x="3248952" y="1918370"/>
              <a:ext cx="320537" cy="361315"/>
            </a:xfrm>
            <a:prstGeom prst="rect">
              <a:avLst/>
            </a:prstGeom>
            <a:solidFill>
              <a:schemeClr val="lt1"/>
            </a:solidFill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1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 dirty="0">
                  <a:latin typeface="Times New Roman"/>
                  <a:ea typeface="Times New Roman"/>
                  <a:cs typeface="Arial"/>
                </a:rPr>
                <a:t>Q</a:t>
              </a:r>
              <a:endParaRPr lang="en-US" sz="1200" dirty="0">
                <a:latin typeface="Times New Roman"/>
                <a:ea typeface="Times New Roman"/>
              </a:endParaRPr>
            </a:p>
          </p:txBody>
        </p:sp>
        <p:sp>
          <p:nvSpPr>
            <p:cNvPr id="37" name="תיבת טקסט 7">
              <a:extLst>
                <a:ext uri="{FF2B5EF4-FFF2-40B4-BE49-F238E27FC236}">
                  <a16:creationId xmlns:a16="http://schemas.microsoft.com/office/drawing/2014/main" id="{8483FC77-9742-4668-AAAE-A7131CA5FFE6}"/>
                </a:ext>
              </a:extLst>
            </p:cNvPr>
            <p:cNvSpPr txBox="1"/>
            <p:nvPr/>
          </p:nvSpPr>
          <p:spPr>
            <a:xfrm>
              <a:off x="561838" y="181296"/>
              <a:ext cx="481965" cy="361315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1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he-IL" sz="1100" dirty="0">
                  <a:latin typeface="Times New Roman"/>
                  <a:ea typeface="Times New Roman"/>
                  <a:cs typeface="Arial"/>
                </a:rPr>
                <a:t>ש''ח</a:t>
              </a:r>
              <a:endParaRPr lang="en-US" sz="1200" dirty="0">
                <a:latin typeface="Times New Roman"/>
                <a:ea typeface="Times New Roman"/>
              </a:endParaRPr>
            </a:p>
          </p:txBody>
        </p:sp>
      </p:grpSp>
      <p:sp>
        <p:nvSpPr>
          <p:cNvPr id="42" name="Oval 41">
            <a:extLst>
              <a:ext uri="{FF2B5EF4-FFF2-40B4-BE49-F238E27FC236}">
                <a16:creationId xmlns:a16="http://schemas.microsoft.com/office/drawing/2014/main" id="{E455B55E-44A4-4D87-948A-03E6BED3B36F}"/>
              </a:ext>
            </a:extLst>
          </p:cNvPr>
          <p:cNvSpPr/>
          <p:nvPr/>
        </p:nvSpPr>
        <p:spPr>
          <a:xfrm>
            <a:off x="6194168" y="2337653"/>
            <a:ext cx="159670" cy="18911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9268038C-4E38-49DA-AA4B-E622A115053D}"/>
              </a:ext>
            </a:extLst>
          </p:cNvPr>
          <p:cNvSpPr/>
          <p:nvPr/>
        </p:nvSpPr>
        <p:spPr>
          <a:xfrm>
            <a:off x="6477795" y="2683142"/>
            <a:ext cx="155240" cy="19491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45" name="מציין מיקום תוכן 2">
            <a:extLst>
              <a:ext uri="{FF2B5EF4-FFF2-40B4-BE49-F238E27FC236}">
                <a16:creationId xmlns:a16="http://schemas.microsoft.com/office/drawing/2014/main" id="{493BDFFD-9504-44C0-84AF-26D08EC66743}"/>
              </a:ext>
            </a:extLst>
          </p:cNvPr>
          <p:cNvSpPr txBox="1">
            <a:spLocks/>
          </p:cNvSpPr>
          <p:nvPr/>
        </p:nvSpPr>
        <p:spPr>
          <a:xfrm>
            <a:off x="7824854" y="840771"/>
            <a:ext cx="2262184" cy="720080"/>
          </a:xfrm>
          <a:prstGeom prst="rect">
            <a:avLst/>
          </a:prstGeom>
        </p:spPr>
        <p:txBody>
          <a:bodyPr vert="horz" lIns="91440" tIns="45720" rIns="91440" bIns="45720" rtlCol="1">
            <a:normAutofit fontScale="92500" lnSpcReduction="20000"/>
          </a:bodyPr>
          <a:lstStyle>
            <a:lvl1pPr marL="342900" indent="-3429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70000"/>
              </a:lnSpc>
              <a:buNone/>
            </a:pPr>
            <a:r>
              <a:rPr lang="he-IL" dirty="0"/>
              <a:t>תרשים 3:</a:t>
            </a:r>
            <a:endParaRPr lang="en-US" dirty="0"/>
          </a:p>
        </p:txBody>
      </p:sp>
      <p:cxnSp>
        <p:nvCxnSpPr>
          <p:cNvPr id="49" name="מחבר ישר 2">
            <a:extLst>
              <a:ext uri="{FF2B5EF4-FFF2-40B4-BE49-F238E27FC236}">
                <a16:creationId xmlns:a16="http://schemas.microsoft.com/office/drawing/2014/main" id="{AB063351-86EA-471C-8762-84349C2BAA6D}"/>
              </a:ext>
            </a:extLst>
          </p:cNvPr>
          <p:cNvCxnSpPr>
            <a:cxnSpLocks/>
          </p:cNvCxnSpPr>
          <p:nvPr/>
        </p:nvCxnSpPr>
        <p:spPr>
          <a:xfrm flipH="1">
            <a:off x="8090953" y="1696597"/>
            <a:ext cx="39088" cy="21225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מחבר ישר 4">
            <a:extLst>
              <a:ext uri="{FF2B5EF4-FFF2-40B4-BE49-F238E27FC236}">
                <a16:creationId xmlns:a16="http://schemas.microsoft.com/office/drawing/2014/main" id="{15261259-6EA0-438B-BA86-D01D505DB081}"/>
              </a:ext>
            </a:extLst>
          </p:cNvPr>
          <p:cNvCxnSpPr>
            <a:cxnSpLocks/>
          </p:cNvCxnSpPr>
          <p:nvPr/>
        </p:nvCxnSpPr>
        <p:spPr>
          <a:xfrm>
            <a:off x="8102646" y="3819165"/>
            <a:ext cx="21817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צורה חופשית 5">
            <a:extLst>
              <a:ext uri="{FF2B5EF4-FFF2-40B4-BE49-F238E27FC236}">
                <a16:creationId xmlns:a16="http://schemas.microsoft.com/office/drawing/2014/main" id="{92FFF1C3-F58F-4D20-90A0-72B5D212EF85}"/>
              </a:ext>
            </a:extLst>
          </p:cNvPr>
          <p:cNvSpPr/>
          <p:nvPr/>
        </p:nvSpPr>
        <p:spPr>
          <a:xfrm>
            <a:off x="8282103" y="2042381"/>
            <a:ext cx="1714213" cy="1562417"/>
          </a:xfrm>
          <a:custGeom>
            <a:avLst/>
            <a:gdLst>
              <a:gd name="connsiteX0" fmla="*/ 0 w 5015346"/>
              <a:gd name="connsiteY0" fmla="*/ 2281382 h 3222325"/>
              <a:gd name="connsiteX1" fmla="*/ 1099128 w 5015346"/>
              <a:gd name="connsiteY1" fmla="*/ 3149600 h 3222325"/>
              <a:gd name="connsiteX2" fmla="*/ 2419928 w 5015346"/>
              <a:gd name="connsiteY2" fmla="*/ 2817091 h 3222325"/>
              <a:gd name="connsiteX3" fmla="*/ 5015346 w 5015346"/>
              <a:gd name="connsiteY3" fmla="*/ 0 h 3222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15346" h="3222325">
                <a:moveTo>
                  <a:pt x="0" y="2281382"/>
                </a:moveTo>
                <a:cubicBezTo>
                  <a:pt x="347903" y="2670848"/>
                  <a:pt x="695807" y="3060315"/>
                  <a:pt x="1099128" y="3149600"/>
                </a:cubicBezTo>
                <a:cubicBezTo>
                  <a:pt x="1502449" y="3238885"/>
                  <a:pt x="1767225" y="3342024"/>
                  <a:pt x="2419928" y="2817091"/>
                </a:cubicBezTo>
                <a:cubicBezTo>
                  <a:pt x="3072631" y="2292158"/>
                  <a:pt x="4043988" y="1146079"/>
                  <a:pt x="5015346" y="0"/>
                </a:cubicBezTo>
              </a:path>
            </a:pathLst>
          </a:custGeom>
          <a:ln w="19050"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52" name="צורה חופשית 7">
            <a:extLst>
              <a:ext uri="{FF2B5EF4-FFF2-40B4-BE49-F238E27FC236}">
                <a16:creationId xmlns:a16="http://schemas.microsoft.com/office/drawing/2014/main" id="{A1F41286-582C-45E4-B440-0EFB837A0E71}"/>
              </a:ext>
            </a:extLst>
          </p:cNvPr>
          <p:cNvSpPr/>
          <p:nvPr/>
        </p:nvSpPr>
        <p:spPr>
          <a:xfrm rot="1242562" flipH="1">
            <a:off x="8977610" y="2083007"/>
            <a:ext cx="1392632" cy="482698"/>
          </a:xfrm>
          <a:custGeom>
            <a:avLst/>
            <a:gdLst>
              <a:gd name="connsiteX0" fmla="*/ 0 w 5298831"/>
              <a:gd name="connsiteY0" fmla="*/ 0 h 2297730"/>
              <a:gd name="connsiteX1" fmla="*/ 1160584 w 5298831"/>
              <a:gd name="connsiteY1" fmla="*/ 1453662 h 2297730"/>
              <a:gd name="connsiteX2" fmla="*/ 2637692 w 5298831"/>
              <a:gd name="connsiteY2" fmla="*/ 2297724 h 2297730"/>
              <a:gd name="connsiteX3" fmla="*/ 5298831 w 5298831"/>
              <a:gd name="connsiteY3" fmla="*/ 1441939 h 2297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8831" h="2297730">
                <a:moveTo>
                  <a:pt x="0" y="0"/>
                </a:moveTo>
                <a:cubicBezTo>
                  <a:pt x="360484" y="535354"/>
                  <a:pt x="720969" y="1070708"/>
                  <a:pt x="1160584" y="1453662"/>
                </a:cubicBezTo>
                <a:cubicBezTo>
                  <a:pt x="1600199" y="1836616"/>
                  <a:pt x="1947984" y="2299678"/>
                  <a:pt x="2637692" y="2297724"/>
                </a:cubicBezTo>
                <a:cubicBezTo>
                  <a:pt x="3327400" y="2295770"/>
                  <a:pt x="4313115" y="1868854"/>
                  <a:pt x="5298831" y="1441939"/>
                </a:cubicBezTo>
              </a:path>
            </a:pathLst>
          </a:custGeom>
          <a:noFill/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6" name="צורה חופשית 20">
            <a:extLst>
              <a:ext uri="{FF2B5EF4-FFF2-40B4-BE49-F238E27FC236}">
                <a16:creationId xmlns:a16="http://schemas.microsoft.com/office/drawing/2014/main" id="{43982001-A1BF-41E6-A2E0-D514E76FA8EE}"/>
              </a:ext>
            </a:extLst>
          </p:cNvPr>
          <p:cNvSpPr/>
          <p:nvPr/>
        </p:nvSpPr>
        <p:spPr>
          <a:xfrm>
            <a:off x="8192193" y="2434828"/>
            <a:ext cx="2190949" cy="1018639"/>
          </a:xfrm>
          <a:custGeom>
            <a:avLst/>
            <a:gdLst>
              <a:gd name="connsiteX0" fmla="*/ 0 w 5298831"/>
              <a:gd name="connsiteY0" fmla="*/ 0 h 2297730"/>
              <a:gd name="connsiteX1" fmla="*/ 1160584 w 5298831"/>
              <a:gd name="connsiteY1" fmla="*/ 1453662 h 2297730"/>
              <a:gd name="connsiteX2" fmla="*/ 2637692 w 5298831"/>
              <a:gd name="connsiteY2" fmla="*/ 2297724 h 2297730"/>
              <a:gd name="connsiteX3" fmla="*/ 5298831 w 5298831"/>
              <a:gd name="connsiteY3" fmla="*/ 1441939 h 2297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8831" h="2297730">
                <a:moveTo>
                  <a:pt x="0" y="0"/>
                </a:moveTo>
                <a:cubicBezTo>
                  <a:pt x="360484" y="535354"/>
                  <a:pt x="720969" y="1070708"/>
                  <a:pt x="1160584" y="1453662"/>
                </a:cubicBezTo>
                <a:cubicBezTo>
                  <a:pt x="1600199" y="1836616"/>
                  <a:pt x="1947984" y="2299678"/>
                  <a:pt x="2637692" y="2297724"/>
                </a:cubicBezTo>
                <a:cubicBezTo>
                  <a:pt x="3327400" y="2295770"/>
                  <a:pt x="4313115" y="1868854"/>
                  <a:pt x="5298831" y="1441939"/>
                </a:cubicBezTo>
              </a:path>
            </a:pathLst>
          </a:custGeom>
          <a:noFill/>
          <a:ln w="1905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64" name="תיבת טקסט 19">
            <a:extLst>
              <a:ext uri="{FF2B5EF4-FFF2-40B4-BE49-F238E27FC236}">
                <a16:creationId xmlns:a16="http://schemas.microsoft.com/office/drawing/2014/main" id="{29801005-723A-45E5-9FB1-1B300BBAB9CF}"/>
              </a:ext>
            </a:extLst>
          </p:cNvPr>
          <p:cNvSpPr txBox="1"/>
          <p:nvPr/>
        </p:nvSpPr>
        <p:spPr>
          <a:xfrm>
            <a:off x="7944117" y="3361327"/>
            <a:ext cx="652924" cy="452130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00000"/>
                </a:solidFill>
                <a:latin typeface="Times New Roman"/>
                <a:ea typeface="Times New Roman"/>
                <a:cs typeface="David"/>
              </a:rPr>
              <a:t>MC</a:t>
            </a:r>
          </a:p>
        </p:txBody>
      </p:sp>
      <p:sp>
        <p:nvSpPr>
          <p:cNvPr id="65" name="תיבת טקסט 7">
            <a:extLst>
              <a:ext uri="{FF2B5EF4-FFF2-40B4-BE49-F238E27FC236}">
                <a16:creationId xmlns:a16="http://schemas.microsoft.com/office/drawing/2014/main" id="{6F5F2ED2-7868-4A78-8340-5F328C9FECFB}"/>
              </a:ext>
            </a:extLst>
          </p:cNvPr>
          <p:cNvSpPr txBox="1"/>
          <p:nvPr/>
        </p:nvSpPr>
        <p:spPr>
          <a:xfrm>
            <a:off x="10079993" y="3721318"/>
            <a:ext cx="320537" cy="451598"/>
          </a:xfrm>
          <a:prstGeom prst="rect">
            <a:avLst/>
          </a:prstGeom>
          <a:solidFill>
            <a:schemeClr val="lt1"/>
          </a:solidFill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/>
                <a:ea typeface="Times New Roman"/>
                <a:cs typeface="Arial"/>
              </a:rPr>
              <a:t>Q</a:t>
            </a:r>
            <a:endParaRPr lang="en-US" sz="1200" dirty="0">
              <a:latin typeface="Times New Roman"/>
              <a:ea typeface="Times New Roman"/>
            </a:endParaRPr>
          </a:p>
        </p:txBody>
      </p:sp>
      <p:sp>
        <p:nvSpPr>
          <p:cNvPr id="66" name="תיבת טקסט 7">
            <a:extLst>
              <a:ext uri="{FF2B5EF4-FFF2-40B4-BE49-F238E27FC236}">
                <a16:creationId xmlns:a16="http://schemas.microsoft.com/office/drawing/2014/main" id="{7C82A7E2-4B4C-48DD-85D7-05E1B7900C5E}"/>
              </a:ext>
            </a:extLst>
          </p:cNvPr>
          <p:cNvSpPr txBox="1"/>
          <p:nvPr/>
        </p:nvSpPr>
        <p:spPr>
          <a:xfrm>
            <a:off x="9954344" y="1815231"/>
            <a:ext cx="648522" cy="310006"/>
          </a:xfrm>
          <a:prstGeom prst="rect">
            <a:avLst/>
          </a:prstGeom>
          <a:solidFill>
            <a:schemeClr val="lt1"/>
          </a:solidFill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b="1" dirty="0">
                <a:solidFill>
                  <a:schemeClr val="accent3">
                    <a:lumMod val="75000"/>
                  </a:schemeClr>
                </a:solidFill>
                <a:latin typeface="Times New Roman"/>
                <a:ea typeface="Calibri"/>
                <a:cs typeface="Arial"/>
              </a:rPr>
              <a:t>AVC</a:t>
            </a:r>
            <a:endParaRPr lang="en-US" sz="1600" b="1" dirty="0">
              <a:solidFill>
                <a:schemeClr val="accent3">
                  <a:lumMod val="75000"/>
                </a:schemeClr>
              </a:solidFill>
              <a:latin typeface="Times New Roman"/>
              <a:ea typeface="Times New Roman"/>
            </a:endParaRPr>
          </a:p>
        </p:txBody>
      </p:sp>
      <p:sp>
        <p:nvSpPr>
          <p:cNvPr id="68" name="תיבת טקסט 7">
            <a:extLst>
              <a:ext uri="{FF2B5EF4-FFF2-40B4-BE49-F238E27FC236}">
                <a16:creationId xmlns:a16="http://schemas.microsoft.com/office/drawing/2014/main" id="{04AC7BF8-5D30-4B81-8ADF-C79D705C9181}"/>
              </a:ext>
            </a:extLst>
          </p:cNvPr>
          <p:cNvSpPr txBox="1"/>
          <p:nvPr/>
        </p:nvSpPr>
        <p:spPr>
          <a:xfrm>
            <a:off x="7736933" y="1441759"/>
            <a:ext cx="481965" cy="451598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he-IL" sz="1100" dirty="0">
                <a:latin typeface="Times New Roman"/>
                <a:ea typeface="Times New Roman"/>
                <a:cs typeface="Arial"/>
              </a:rPr>
              <a:t>ש''ח</a:t>
            </a:r>
            <a:endParaRPr lang="en-US" sz="1200" dirty="0">
              <a:latin typeface="Times New Roman"/>
              <a:ea typeface="Times New Roman"/>
            </a:endParaRPr>
          </a:p>
        </p:txBody>
      </p:sp>
      <p:sp>
        <p:nvSpPr>
          <p:cNvPr id="46" name="תיבת טקסט 7">
            <a:extLst>
              <a:ext uri="{FF2B5EF4-FFF2-40B4-BE49-F238E27FC236}">
                <a16:creationId xmlns:a16="http://schemas.microsoft.com/office/drawing/2014/main" id="{E1A37669-00CB-4C60-ABFF-112B93C217D0}"/>
              </a:ext>
            </a:extLst>
          </p:cNvPr>
          <p:cNvSpPr txBox="1"/>
          <p:nvPr/>
        </p:nvSpPr>
        <p:spPr>
          <a:xfrm>
            <a:off x="9897796" y="2615866"/>
            <a:ext cx="652924" cy="451598"/>
          </a:xfrm>
          <a:prstGeom prst="rect">
            <a:avLst/>
          </a:prstGeom>
          <a:solidFill>
            <a:schemeClr val="lt1"/>
          </a:solidFill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b="1" dirty="0">
                <a:solidFill>
                  <a:srgbClr val="0070C0"/>
                </a:solidFill>
                <a:latin typeface="Times New Roman"/>
                <a:ea typeface="Calibri"/>
                <a:cs typeface="Arial"/>
              </a:rPr>
              <a:t>ATC</a:t>
            </a:r>
            <a:endParaRPr lang="en-US" sz="1600" b="1" dirty="0">
              <a:solidFill>
                <a:srgbClr val="0070C0"/>
              </a:solidFill>
              <a:latin typeface="Times New Roman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72446333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6726</TotalTime>
  <Words>4623</Words>
  <Application>Microsoft Office PowerPoint</Application>
  <PresentationFormat>מסך רחב</PresentationFormat>
  <Paragraphs>917</Paragraphs>
  <Slides>37</Slides>
  <Notes>11</Notes>
  <HiddenSlides>7</HiddenSlides>
  <MMClips>0</MMClips>
  <ScaleCrop>false</ScaleCrop>
  <HeadingPairs>
    <vt:vector size="6" baseType="variant">
      <vt:variant>
        <vt:lpstr>גופנים בשימוש</vt:lpstr>
      </vt:variant>
      <vt:variant>
        <vt:i4>6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37</vt:i4>
      </vt:variant>
    </vt:vector>
  </HeadingPairs>
  <TitlesOfParts>
    <vt:vector size="44" baseType="lpstr">
      <vt:lpstr>Arial</vt:lpstr>
      <vt:lpstr>Calibri</vt:lpstr>
      <vt:lpstr>Calibri Light</vt:lpstr>
      <vt:lpstr>Cambria Math</vt:lpstr>
      <vt:lpstr>David</vt:lpstr>
      <vt:lpstr>Times New Roman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רווח כולל ורווח תפעולי</vt:lpstr>
      <vt:lpstr>רווח נקי/כולל:</vt:lpstr>
      <vt:lpstr>החלטות ייצור</vt:lpstr>
      <vt:lpstr>החלטות ייצור</vt:lpstr>
      <vt:lpstr>חלק ב'-  פתרון שאלות בנושא עלויות היצרן</vt:lpstr>
      <vt:lpstr>ניתוח פונקציית הוצאות</vt:lpstr>
      <vt:lpstr>ניתוח פונקציית הוצאות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שאלה 3</vt:lpstr>
      <vt:lpstr>שאלה 3</vt:lpstr>
      <vt:lpstr>שאלה 3</vt:lpstr>
      <vt:lpstr>שאלה 3</vt:lpstr>
      <vt:lpstr>שאלה 3</vt:lpstr>
      <vt:lpstr>שאלה 3</vt:lpstr>
      <vt:lpstr>שאלה 3</vt:lpstr>
      <vt:lpstr>שאלה 3</vt:lpstr>
      <vt:lpstr>שאלה 3</vt:lpstr>
      <vt:lpstr>שאלה 4</vt:lpstr>
      <vt:lpstr>שאלה 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</dc:title>
  <dc:creator>Stasi</dc:creator>
  <cp:lastModifiedBy>איתן משקוביץ'</cp:lastModifiedBy>
  <cp:revision>255</cp:revision>
  <cp:lastPrinted>2015-11-21T14:43:06Z</cp:lastPrinted>
  <dcterms:created xsi:type="dcterms:W3CDTF">2015-11-01T12:01:30Z</dcterms:created>
  <dcterms:modified xsi:type="dcterms:W3CDTF">2025-12-27T19:22:27Z</dcterms:modified>
</cp:coreProperties>
</file>