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drawings/drawing1.xml" ContentType="application/vnd.openxmlformats-officedocument.drawingml.chartshapes+xml"/>
  <Override PartName="/ppt/charts/chart3.xml" ContentType="application/vnd.openxmlformats-officedocument.drawingml.chart+xml"/>
  <Override PartName="/ppt/drawings/drawing2.xml" ContentType="application/vnd.openxmlformats-officedocument.drawingml.chartshape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3648" r:id="rId1"/>
    <p:sldMasterId id="2147483660" r:id="rId2"/>
  </p:sldMasterIdLst>
  <p:notesMasterIdLst>
    <p:notesMasterId r:id="rId66"/>
  </p:notesMasterIdLst>
  <p:sldIdLst>
    <p:sldId id="256" r:id="rId3"/>
    <p:sldId id="375" r:id="rId4"/>
    <p:sldId id="409" r:id="rId5"/>
    <p:sldId id="477" r:id="rId6"/>
    <p:sldId id="469" r:id="rId7"/>
    <p:sldId id="351" r:id="rId8"/>
    <p:sldId id="352" r:id="rId9"/>
    <p:sldId id="353" r:id="rId10"/>
    <p:sldId id="354" r:id="rId11"/>
    <p:sldId id="355" r:id="rId12"/>
    <p:sldId id="356" r:id="rId13"/>
    <p:sldId id="357" r:id="rId14"/>
    <p:sldId id="358" r:id="rId15"/>
    <p:sldId id="487" r:id="rId16"/>
    <p:sldId id="359" r:id="rId17"/>
    <p:sldId id="360" r:id="rId18"/>
    <p:sldId id="279" r:id="rId19"/>
    <p:sldId id="321" r:id="rId20"/>
    <p:sldId id="280" r:id="rId21"/>
    <p:sldId id="322" r:id="rId22"/>
    <p:sldId id="281" r:id="rId23"/>
    <p:sldId id="481" r:id="rId24"/>
    <p:sldId id="488" r:id="rId25"/>
    <p:sldId id="486" r:id="rId26"/>
    <p:sldId id="323" r:id="rId27"/>
    <p:sldId id="284" r:id="rId28"/>
    <p:sldId id="285" r:id="rId29"/>
    <p:sldId id="326" r:id="rId30"/>
    <p:sldId id="489" r:id="rId31"/>
    <p:sldId id="494" r:id="rId32"/>
    <p:sldId id="490" r:id="rId33"/>
    <p:sldId id="491" r:id="rId34"/>
    <p:sldId id="492" r:id="rId35"/>
    <p:sldId id="493" r:id="rId36"/>
    <p:sldId id="312" r:id="rId37"/>
    <p:sldId id="313" r:id="rId38"/>
    <p:sldId id="314" r:id="rId39"/>
    <p:sldId id="315" r:id="rId40"/>
    <p:sldId id="316" r:id="rId41"/>
    <p:sldId id="338" r:id="rId42"/>
    <p:sldId id="384" r:id="rId43"/>
    <p:sldId id="438" r:id="rId44"/>
    <p:sldId id="495" r:id="rId45"/>
    <p:sldId id="257" r:id="rId46"/>
    <p:sldId id="272" r:id="rId47"/>
    <p:sldId id="259" r:id="rId48"/>
    <p:sldId id="273" r:id="rId49"/>
    <p:sldId id="274" r:id="rId50"/>
    <p:sldId id="275" r:id="rId51"/>
    <p:sldId id="262" r:id="rId52"/>
    <p:sldId id="372" r:id="rId53"/>
    <p:sldId id="386" r:id="rId54"/>
    <p:sldId id="433" r:id="rId55"/>
    <p:sldId id="482" r:id="rId56"/>
    <p:sldId id="483" r:id="rId57"/>
    <p:sldId id="448" r:id="rId58"/>
    <p:sldId id="449" r:id="rId59"/>
    <p:sldId id="422" r:id="rId60"/>
    <p:sldId id="424" r:id="rId61"/>
    <p:sldId id="430" r:id="rId62"/>
    <p:sldId id="431" r:id="rId63"/>
    <p:sldId id="432" r:id="rId64"/>
    <p:sldId id="423" r:id="rId65"/>
  </p:sldIdLst>
  <p:sldSz cx="12192000" cy="6858000"/>
  <p:notesSz cx="7099300" cy="10234613"/>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EC90E8"/>
    <a:srgbClr val="00FFFF"/>
    <a:srgbClr val="06060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306" autoAdjust="0"/>
    <p:restoredTop sz="90877" autoAdjust="0"/>
  </p:normalViewPr>
  <p:slideViewPr>
    <p:cSldViewPr snapToGrid="0">
      <p:cViewPr varScale="1">
        <p:scale>
          <a:sx n="41" d="100"/>
          <a:sy n="41" d="100"/>
        </p:scale>
        <p:origin x="60" y="774"/>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Book1" TargetMode="External"/></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he-IL"/>
              <a:t>עלויות לפי תפוקה</a:t>
            </a:r>
          </a:p>
        </c:rich>
      </c:tx>
      <c:overlay val="0"/>
    </c:title>
    <c:autoTitleDeleted val="0"/>
    <c:plotArea>
      <c:layout/>
      <c:lineChart>
        <c:grouping val="standard"/>
        <c:varyColors val="0"/>
        <c:ser>
          <c:idx val="0"/>
          <c:order val="0"/>
          <c:tx>
            <c:strRef>
              <c:f>גיליון1!$D$4</c:f>
              <c:strCache>
                <c:ptCount val="1"/>
                <c:pt idx="0">
                  <c:v>שולית</c:v>
                </c:pt>
              </c:strCache>
            </c:strRef>
          </c:tx>
          <c:cat>
            <c:numRef>
              <c:f>גיליון1!$A$5:$A$11</c:f>
              <c:numCache>
                <c:formatCode>General</c:formatCode>
                <c:ptCount val="7"/>
                <c:pt idx="0">
                  <c:v>1</c:v>
                </c:pt>
                <c:pt idx="1">
                  <c:v>2</c:v>
                </c:pt>
                <c:pt idx="2">
                  <c:v>3</c:v>
                </c:pt>
                <c:pt idx="3">
                  <c:v>4</c:v>
                </c:pt>
                <c:pt idx="4">
                  <c:v>5</c:v>
                </c:pt>
                <c:pt idx="5">
                  <c:v>6</c:v>
                </c:pt>
                <c:pt idx="6">
                  <c:v>7</c:v>
                </c:pt>
              </c:numCache>
            </c:numRef>
          </c:cat>
          <c:val>
            <c:numRef>
              <c:f>גיליון1!$D$5:$D$11</c:f>
              <c:numCache>
                <c:formatCode>General</c:formatCode>
                <c:ptCount val="7"/>
                <c:pt idx="0">
                  <c:v>50</c:v>
                </c:pt>
                <c:pt idx="1">
                  <c:v>60</c:v>
                </c:pt>
                <c:pt idx="2">
                  <c:v>70</c:v>
                </c:pt>
                <c:pt idx="3">
                  <c:v>80</c:v>
                </c:pt>
                <c:pt idx="4">
                  <c:v>90</c:v>
                </c:pt>
                <c:pt idx="5">
                  <c:v>100</c:v>
                </c:pt>
                <c:pt idx="6">
                  <c:v>110</c:v>
                </c:pt>
              </c:numCache>
            </c:numRef>
          </c:val>
          <c:smooth val="0"/>
          <c:extLst>
            <c:ext xmlns:c16="http://schemas.microsoft.com/office/drawing/2014/chart" uri="{C3380CC4-5D6E-409C-BE32-E72D297353CC}">
              <c16:uniqueId val="{00000000-4ED4-4814-A0E8-031A3966650A}"/>
            </c:ext>
          </c:extLst>
        </c:ser>
        <c:ser>
          <c:idx val="1"/>
          <c:order val="1"/>
          <c:tx>
            <c:strRef>
              <c:f>גיליון1!$C$4</c:f>
              <c:strCache>
                <c:ptCount val="1"/>
                <c:pt idx="0">
                  <c:v>משתנה ממוצעת</c:v>
                </c:pt>
              </c:strCache>
            </c:strRef>
          </c:tx>
          <c:cat>
            <c:numRef>
              <c:f>גיליון1!$A$5:$A$11</c:f>
              <c:numCache>
                <c:formatCode>General</c:formatCode>
                <c:ptCount val="7"/>
                <c:pt idx="0">
                  <c:v>1</c:v>
                </c:pt>
                <c:pt idx="1">
                  <c:v>2</c:v>
                </c:pt>
                <c:pt idx="2">
                  <c:v>3</c:v>
                </c:pt>
                <c:pt idx="3">
                  <c:v>4</c:v>
                </c:pt>
                <c:pt idx="4">
                  <c:v>5</c:v>
                </c:pt>
                <c:pt idx="5">
                  <c:v>6</c:v>
                </c:pt>
                <c:pt idx="6">
                  <c:v>7</c:v>
                </c:pt>
              </c:numCache>
            </c:numRef>
          </c:cat>
          <c:val>
            <c:numRef>
              <c:f>גיליון1!$C$5:$C$11</c:f>
              <c:numCache>
                <c:formatCode>General</c:formatCode>
                <c:ptCount val="7"/>
                <c:pt idx="0">
                  <c:v>50</c:v>
                </c:pt>
                <c:pt idx="1">
                  <c:v>55</c:v>
                </c:pt>
                <c:pt idx="2">
                  <c:v>60</c:v>
                </c:pt>
                <c:pt idx="3">
                  <c:v>65</c:v>
                </c:pt>
                <c:pt idx="4">
                  <c:v>70</c:v>
                </c:pt>
                <c:pt idx="5">
                  <c:v>75</c:v>
                </c:pt>
                <c:pt idx="6">
                  <c:v>80</c:v>
                </c:pt>
              </c:numCache>
            </c:numRef>
          </c:val>
          <c:smooth val="0"/>
          <c:extLst>
            <c:ext xmlns:c16="http://schemas.microsoft.com/office/drawing/2014/chart" uri="{C3380CC4-5D6E-409C-BE32-E72D297353CC}">
              <c16:uniqueId val="{00000001-4ED4-4814-A0E8-031A3966650A}"/>
            </c:ext>
          </c:extLst>
        </c:ser>
        <c:dLbls>
          <c:showLegendKey val="0"/>
          <c:showVal val="0"/>
          <c:showCatName val="0"/>
          <c:showSerName val="0"/>
          <c:showPercent val="0"/>
          <c:showBubbleSize val="0"/>
        </c:dLbls>
        <c:marker val="1"/>
        <c:smooth val="0"/>
        <c:axId val="-1734281280"/>
        <c:axId val="-1734282368"/>
      </c:lineChart>
      <c:catAx>
        <c:axId val="-1734281280"/>
        <c:scaling>
          <c:orientation val="minMax"/>
        </c:scaling>
        <c:delete val="0"/>
        <c:axPos val="b"/>
        <c:minorGridlines/>
        <c:title>
          <c:tx>
            <c:rich>
              <a:bodyPr/>
              <a:lstStyle/>
              <a:p>
                <a:pPr>
                  <a:defRPr/>
                </a:pPr>
                <a:r>
                  <a:rPr lang="he-IL"/>
                  <a:t>כמות מיוצרת (טונות)</a:t>
                </a:r>
              </a:p>
            </c:rich>
          </c:tx>
          <c:overlay val="0"/>
        </c:title>
        <c:numFmt formatCode="General" sourceLinked="1"/>
        <c:majorTickMark val="out"/>
        <c:minorTickMark val="none"/>
        <c:tickLblPos val="nextTo"/>
        <c:crossAx val="-1734282368"/>
        <c:crosses val="autoZero"/>
        <c:auto val="1"/>
        <c:lblAlgn val="ctr"/>
        <c:lblOffset val="100"/>
        <c:noMultiLvlLbl val="0"/>
      </c:catAx>
      <c:valAx>
        <c:axId val="-1734282368"/>
        <c:scaling>
          <c:orientation val="minMax"/>
        </c:scaling>
        <c:delete val="0"/>
        <c:axPos val="l"/>
        <c:majorGridlines/>
        <c:title>
          <c:tx>
            <c:rich>
              <a:bodyPr rot="0" vert="horz"/>
              <a:lstStyle/>
              <a:p>
                <a:pPr>
                  <a:defRPr/>
                </a:pPr>
                <a:r>
                  <a:rPr lang="he-IL"/>
                  <a:t>עלות (אלפי ש"ח)</a:t>
                </a:r>
              </a:p>
            </c:rich>
          </c:tx>
          <c:overlay val="0"/>
        </c:title>
        <c:numFmt formatCode="General" sourceLinked="1"/>
        <c:majorTickMark val="out"/>
        <c:minorTickMark val="none"/>
        <c:tickLblPos val="nextTo"/>
        <c:crossAx val="-1734281280"/>
        <c:crosses val="autoZero"/>
        <c:crossBetween val="between"/>
        <c:majorUnit val="10"/>
      </c:valAx>
    </c:plotArea>
    <c:legend>
      <c:legendPos val="b"/>
      <c:layout>
        <c:manualLayout>
          <c:xMode val="edge"/>
          <c:yMode val="edge"/>
          <c:x val="0.37982061531176448"/>
          <c:y val="0.92456427881716174"/>
          <c:w val="0.30481422405948266"/>
          <c:h val="6.6038720084055064E-2"/>
        </c:manualLayout>
      </c:layout>
      <c:overlay val="0"/>
    </c:legend>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he-IL"/>
              <a:t>עלויות לפי תפוקה</a:t>
            </a:r>
          </a:p>
        </c:rich>
      </c:tx>
      <c:overlay val="0"/>
    </c:title>
    <c:autoTitleDeleted val="0"/>
    <c:plotArea>
      <c:layout/>
      <c:lineChart>
        <c:grouping val="standard"/>
        <c:varyColors val="0"/>
        <c:ser>
          <c:idx val="0"/>
          <c:order val="0"/>
          <c:tx>
            <c:strRef>
              <c:f>גיליון1!$D$4</c:f>
              <c:strCache>
                <c:ptCount val="1"/>
                <c:pt idx="0">
                  <c:v>שולית</c:v>
                </c:pt>
              </c:strCache>
            </c:strRef>
          </c:tx>
          <c:spPr>
            <a:ln w="76200"/>
          </c:spPr>
          <c:marker>
            <c:spPr>
              <a:ln w="76200"/>
            </c:spPr>
          </c:marker>
          <c:cat>
            <c:numRef>
              <c:f>גיליון1!$A$5:$A$11</c:f>
              <c:numCache>
                <c:formatCode>General</c:formatCode>
                <c:ptCount val="7"/>
                <c:pt idx="0">
                  <c:v>1</c:v>
                </c:pt>
                <c:pt idx="1">
                  <c:v>2</c:v>
                </c:pt>
                <c:pt idx="2">
                  <c:v>3</c:v>
                </c:pt>
                <c:pt idx="3">
                  <c:v>4</c:v>
                </c:pt>
                <c:pt idx="4">
                  <c:v>5</c:v>
                </c:pt>
                <c:pt idx="5">
                  <c:v>6</c:v>
                </c:pt>
                <c:pt idx="6">
                  <c:v>7</c:v>
                </c:pt>
              </c:numCache>
            </c:numRef>
          </c:cat>
          <c:val>
            <c:numRef>
              <c:f>גיליון1!$D$5:$D$11</c:f>
              <c:numCache>
                <c:formatCode>General</c:formatCode>
                <c:ptCount val="7"/>
                <c:pt idx="0">
                  <c:v>50</c:v>
                </c:pt>
                <c:pt idx="1">
                  <c:v>60</c:v>
                </c:pt>
                <c:pt idx="2">
                  <c:v>70</c:v>
                </c:pt>
                <c:pt idx="3">
                  <c:v>80</c:v>
                </c:pt>
                <c:pt idx="4">
                  <c:v>90</c:v>
                </c:pt>
                <c:pt idx="5">
                  <c:v>100</c:v>
                </c:pt>
                <c:pt idx="6">
                  <c:v>110</c:v>
                </c:pt>
              </c:numCache>
            </c:numRef>
          </c:val>
          <c:smooth val="0"/>
          <c:extLst>
            <c:ext xmlns:c16="http://schemas.microsoft.com/office/drawing/2014/chart" uri="{C3380CC4-5D6E-409C-BE32-E72D297353CC}">
              <c16:uniqueId val="{00000000-4ED4-4814-A0E8-031A3966650A}"/>
            </c:ext>
          </c:extLst>
        </c:ser>
        <c:ser>
          <c:idx val="1"/>
          <c:order val="1"/>
          <c:tx>
            <c:strRef>
              <c:f>גיליון1!$C$4</c:f>
              <c:strCache>
                <c:ptCount val="1"/>
                <c:pt idx="0">
                  <c:v>משתנה ממוצעת</c:v>
                </c:pt>
              </c:strCache>
            </c:strRef>
          </c:tx>
          <c:cat>
            <c:numRef>
              <c:f>גיליון1!$A$5:$A$11</c:f>
              <c:numCache>
                <c:formatCode>General</c:formatCode>
                <c:ptCount val="7"/>
                <c:pt idx="0">
                  <c:v>1</c:v>
                </c:pt>
                <c:pt idx="1">
                  <c:v>2</c:v>
                </c:pt>
                <c:pt idx="2">
                  <c:v>3</c:v>
                </c:pt>
                <c:pt idx="3">
                  <c:v>4</c:v>
                </c:pt>
                <c:pt idx="4">
                  <c:v>5</c:v>
                </c:pt>
                <c:pt idx="5">
                  <c:v>6</c:v>
                </c:pt>
                <c:pt idx="6">
                  <c:v>7</c:v>
                </c:pt>
              </c:numCache>
            </c:numRef>
          </c:cat>
          <c:val>
            <c:numRef>
              <c:f>גיליון1!$C$5:$C$11</c:f>
              <c:numCache>
                <c:formatCode>General</c:formatCode>
                <c:ptCount val="7"/>
                <c:pt idx="0">
                  <c:v>50</c:v>
                </c:pt>
                <c:pt idx="1">
                  <c:v>55</c:v>
                </c:pt>
                <c:pt idx="2">
                  <c:v>60</c:v>
                </c:pt>
                <c:pt idx="3">
                  <c:v>65</c:v>
                </c:pt>
                <c:pt idx="4">
                  <c:v>70</c:v>
                </c:pt>
                <c:pt idx="5">
                  <c:v>75</c:v>
                </c:pt>
                <c:pt idx="6">
                  <c:v>80</c:v>
                </c:pt>
              </c:numCache>
            </c:numRef>
          </c:val>
          <c:smooth val="0"/>
          <c:extLst>
            <c:ext xmlns:c16="http://schemas.microsoft.com/office/drawing/2014/chart" uri="{C3380CC4-5D6E-409C-BE32-E72D297353CC}">
              <c16:uniqueId val="{00000001-4ED4-4814-A0E8-031A3966650A}"/>
            </c:ext>
          </c:extLst>
        </c:ser>
        <c:dLbls>
          <c:showLegendKey val="0"/>
          <c:showVal val="0"/>
          <c:showCatName val="0"/>
          <c:showSerName val="0"/>
          <c:showPercent val="0"/>
          <c:showBubbleSize val="0"/>
        </c:dLbls>
        <c:marker val="1"/>
        <c:smooth val="0"/>
        <c:axId val="-1734281280"/>
        <c:axId val="-1734282368"/>
      </c:lineChart>
      <c:catAx>
        <c:axId val="-1734281280"/>
        <c:scaling>
          <c:orientation val="minMax"/>
        </c:scaling>
        <c:delete val="0"/>
        <c:axPos val="b"/>
        <c:minorGridlines/>
        <c:title>
          <c:tx>
            <c:rich>
              <a:bodyPr/>
              <a:lstStyle/>
              <a:p>
                <a:pPr>
                  <a:defRPr/>
                </a:pPr>
                <a:r>
                  <a:rPr lang="he-IL"/>
                  <a:t>כמות מיוצרת (טונות)</a:t>
                </a:r>
              </a:p>
            </c:rich>
          </c:tx>
          <c:overlay val="0"/>
        </c:title>
        <c:numFmt formatCode="General" sourceLinked="1"/>
        <c:majorTickMark val="out"/>
        <c:minorTickMark val="none"/>
        <c:tickLblPos val="nextTo"/>
        <c:crossAx val="-1734282368"/>
        <c:crosses val="autoZero"/>
        <c:auto val="1"/>
        <c:lblAlgn val="ctr"/>
        <c:lblOffset val="100"/>
        <c:noMultiLvlLbl val="0"/>
      </c:catAx>
      <c:valAx>
        <c:axId val="-1734282368"/>
        <c:scaling>
          <c:orientation val="minMax"/>
        </c:scaling>
        <c:delete val="0"/>
        <c:axPos val="l"/>
        <c:majorGridlines/>
        <c:title>
          <c:tx>
            <c:rich>
              <a:bodyPr rot="0" vert="horz"/>
              <a:lstStyle/>
              <a:p>
                <a:pPr>
                  <a:defRPr/>
                </a:pPr>
                <a:r>
                  <a:rPr lang="he-IL"/>
                  <a:t>עלות (אלפי ש"ח)</a:t>
                </a:r>
              </a:p>
            </c:rich>
          </c:tx>
          <c:overlay val="0"/>
        </c:title>
        <c:numFmt formatCode="General" sourceLinked="1"/>
        <c:majorTickMark val="out"/>
        <c:minorTickMark val="none"/>
        <c:tickLblPos val="nextTo"/>
        <c:crossAx val="-1734281280"/>
        <c:crosses val="autoZero"/>
        <c:crossBetween val="between"/>
        <c:majorUnit val="10"/>
      </c:valAx>
    </c:plotArea>
    <c:legend>
      <c:legendPos val="b"/>
      <c:layout>
        <c:manualLayout>
          <c:xMode val="edge"/>
          <c:yMode val="edge"/>
          <c:x val="0.37982061531176448"/>
          <c:y val="0.92456427881716174"/>
          <c:w val="0.30481422405948266"/>
          <c:h val="6.6038720084055064E-2"/>
        </c:manualLayout>
      </c:layout>
      <c:overlay val="0"/>
    </c:legend>
    <c:plotVisOnly val="1"/>
    <c:dispBlanksAs val="gap"/>
    <c:showDLblsOverMax val="0"/>
  </c:chart>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he-IL"/>
              <a:t>עלויות לפי תפוקה</a:t>
            </a:r>
          </a:p>
        </c:rich>
      </c:tx>
      <c:overlay val="0"/>
    </c:title>
    <c:autoTitleDeleted val="0"/>
    <c:plotArea>
      <c:layout/>
      <c:lineChart>
        <c:grouping val="standard"/>
        <c:varyColors val="0"/>
        <c:ser>
          <c:idx val="0"/>
          <c:order val="0"/>
          <c:tx>
            <c:strRef>
              <c:f>גיליון1!$D$4</c:f>
              <c:strCache>
                <c:ptCount val="1"/>
                <c:pt idx="0">
                  <c:v>שולית</c:v>
                </c:pt>
              </c:strCache>
            </c:strRef>
          </c:tx>
          <c:spPr>
            <a:ln w="12700"/>
          </c:spPr>
          <c:marker>
            <c:spPr>
              <a:ln w="12700"/>
            </c:spPr>
          </c:marker>
          <c:cat>
            <c:numRef>
              <c:f>גיליון1!$A$5:$A$11</c:f>
              <c:numCache>
                <c:formatCode>General</c:formatCode>
                <c:ptCount val="7"/>
                <c:pt idx="0">
                  <c:v>1</c:v>
                </c:pt>
                <c:pt idx="1">
                  <c:v>2</c:v>
                </c:pt>
                <c:pt idx="2">
                  <c:v>3</c:v>
                </c:pt>
                <c:pt idx="3">
                  <c:v>4</c:v>
                </c:pt>
                <c:pt idx="4">
                  <c:v>5</c:v>
                </c:pt>
                <c:pt idx="5">
                  <c:v>6</c:v>
                </c:pt>
                <c:pt idx="6">
                  <c:v>7</c:v>
                </c:pt>
              </c:numCache>
            </c:numRef>
          </c:cat>
          <c:val>
            <c:numRef>
              <c:f>גיליון1!$D$5:$D$11</c:f>
              <c:numCache>
                <c:formatCode>General</c:formatCode>
                <c:ptCount val="7"/>
                <c:pt idx="0">
                  <c:v>50</c:v>
                </c:pt>
                <c:pt idx="1">
                  <c:v>60</c:v>
                </c:pt>
                <c:pt idx="2">
                  <c:v>70</c:v>
                </c:pt>
                <c:pt idx="3">
                  <c:v>80</c:v>
                </c:pt>
                <c:pt idx="4">
                  <c:v>90</c:v>
                </c:pt>
                <c:pt idx="5">
                  <c:v>100</c:v>
                </c:pt>
                <c:pt idx="6">
                  <c:v>110</c:v>
                </c:pt>
              </c:numCache>
            </c:numRef>
          </c:val>
          <c:smooth val="0"/>
          <c:extLst>
            <c:ext xmlns:c16="http://schemas.microsoft.com/office/drawing/2014/chart" uri="{C3380CC4-5D6E-409C-BE32-E72D297353CC}">
              <c16:uniqueId val="{00000000-4ED4-4814-A0E8-031A3966650A}"/>
            </c:ext>
          </c:extLst>
        </c:ser>
        <c:ser>
          <c:idx val="1"/>
          <c:order val="1"/>
          <c:tx>
            <c:strRef>
              <c:f>גיליון1!$C$4</c:f>
              <c:strCache>
                <c:ptCount val="1"/>
                <c:pt idx="0">
                  <c:v>משתנה ממוצעת</c:v>
                </c:pt>
              </c:strCache>
            </c:strRef>
          </c:tx>
          <c:cat>
            <c:numRef>
              <c:f>גיליון1!$A$5:$A$11</c:f>
              <c:numCache>
                <c:formatCode>General</c:formatCode>
                <c:ptCount val="7"/>
                <c:pt idx="0">
                  <c:v>1</c:v>
                </c:pt>
                <c:pt idx="1">
                  <c:v>2</c:v>
                </c:pt>
                <c:pt idx="2">
                  <c:v>3</c:v>
                </c:pt>
                <c:pt idx="3">
                  <c:v>4</c:v>
                </c:pt>
                <c:pt idx="4">
                  <c:v>5</c:v>
                </c:pt>
                <c:pt idx="5">
                  <c:v>6</c:v>
                </c:pt>
                <c:pt idx="6">
                  <c:v>7</c:v>
                </c:pt>
              </c:numCache>
            </c:numRef>
          </c:cat>
          <c:val>
            <c:numRef>
              <c:f>גיליון1!$C$5:$C$11</c:f>
              <c:numCache>
                <c:formatCode>General</c:formatCode>
                <c:ptCount val="7"/>
                <c:pt idx="0">
                  <c:v>50</c:v>
                </c:pt>
                <c:pt idx="1">
                  <c:v>55</c:v>
                </c:pt>
                <c:pt idx="2">
                  <c:v>60</c:v>
                </c:pt>
                <c:pt idx="3">
                  <c:v>65</c:v>
                </c:pt>
                <c:pt idx="4">
                  <c:v>70</c:v>
                </c:pt>
                <c:pt idx="5">
                  <c:v>75</c:v>
                </c:pt>
                <c:pt idx="6">
                  <c:v>80</c:v>
                </c:pt>
              </c:numCache>
            </c:numRef>
          </c:val>
          <c:smooth val="0"/>
          <c:extLst>
            <c:ext xmlns:c16="http://schemas.microsoft.com/office/drawing/2014/chart" uri="{C3380CC4-5D6E-409C-BE32-E72D297353CC}">
              <c16:uniqueId val="{00000001-4ED4-4814-A0E8-031A3966650A}"/>
            </c:ext>
          </c:extLst>
        </c:ser>
        <c:dLbls>
          <c:showLegendKey val="0"/>
          <c:showVal val="0"/>
          <c:showCatName val="0"/>
          <c:showSerName val="0"/>
          <c:showPercent val="0"/>
          <c:showBubbleSize val="0"/>
        </c:dLbls>
        <c:marker val="1"/>
        <c:smooth val="0"/>
        <c:axId val="-1734281280"/>
        <c:axId val="-1734282368"/>
      </c:lineChart>
      <c:catAx>
        <c:axId val="-1734281280"/>
        <c:scaling>
          <c:orientation val="minMax"/>
        </c:scaling>
        <c:delete val="0"/>
        <c:axPos val="b"/>
        <c:minorGridlines/>
        <c:title>
          <c:tx>
            <c:rich>
              <a:bodyPr/>
              <a:lstStyle/>
              <a:p>
                <a:pPr>
                  <a:defRPr/>
                </a:pPr>
                <a:r>
                  <a:rPr lang="he-IL"/>
                  <a:t>כמות מיוצרת (טונות)</a:t>
                </a:r>
              </a:p>
            </c:rich>
          </c:tx>
          <c:overlay val="0"/>
        </c:title>
        <c:numFmt formatCode="General" sourceLinked="1"/>
        <c:majorTickMark val="out"/>
        <c:minorTickMark val="none"/>
        <c:tickLblPos val="nextTo"/>
        <c:crossAx val="-1734282368"/>
        <c:crosses val="autoZero"/>
        <c:auto val="1"/>
        <c:lblAlgn val="ctr"/>
        <c:lblOffset val="100"/>
        <c:noMultiLvlLbl val="0"/>
      </c:catAx>
      <c:valAx>
        <c:axId val="-1734282368"/>
        <c:scaling>
          <c:orientation val="minMax"/>
        </c:scaling>
        <c:delete val="0"/>
        <c:axPos val="l"/>
        <c:majorGridlines/>
        <c:title>
          <c:tx>
            <c:rich>
              <a:bodyPr rot="0" vert="horz"/>
              <a:lstStyle/>
              <a:p>
                <a:pPr>
                  <a:defRPr/>
                </a:pPr>
                <a:r>
                  <a:rPr lang="he-IL"/>
                  <a:t>עלות (אלפי ש"ח)</a:t>
                </a:r>
              </a:p>
            </c:rich>
          </c:tx>
          <c:overlay val="0"/>
        </c:title>
        <c:numFmt formatCode="General" sourceLinked="1"/>
        <c:majorTickMark val="out"/>
        <c:minorTickMark val="none"/>
        <c:tickLblPos val="nextTo"/>
        <c:crossAx val="-1734281280"/>
        <c:crosses val="autoZero"/>
        <c:crossBetween val="between"/>
        <c:majorUnit val="10"/>
      </c:valAx>
    </c:plotArea>
    <c:legend>
      <c:legendPos val="b"/>
      <c:layout>
        <c:manualLayout>
          <c:xMode val="edge"/>
          <c:yMode val="edge"/>
          <c:x val="0.37982061531176448"/>
          <c:y val="0.92456427881716174"/>
          <c:w val="0.30481422405948266"/>
          <c:h val="6.6038720084055064E-2"/>
        </c:manualLayout>
      </c:layout>
      <c:overlay val="0"/>
    </c:legend>
    <c:plotVisOnly val="1"/>
    <c:dispBlanksAs val="gap"/>
    <c:showDLblsOverMax val="0"/>
  </c:chart>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0.6223</cdr:x>
      <cdr:y>0</cdr:y>
    </cdr:from>
    <cdr:to>
      <cdr:x>1</cdr:x>
      <cdr:y>0.14034</cdr:y>
    </cdr:to>
    <cdr:sp macro="" textlink="">
      <cdr:nvSpPr>
        <cdr:cNvPr id="2" name="TextBox 1">
          <a:extLst xmlns:a="http://schemas.openxmlformats.org/drawingml/2006/main">
            <a:ext uri="{FF2B5EF4-FFF2-40B4-BE49-F238E27FC236}">
              <a16:creationId xmlns:a16="http://schemas.microsoft.com/office/drawing/2014/main" id="{8040A827-1651-4875-9735-0B13EB6C28C8}"/>
            </a:ext>
          </a:extLst>
        </cdr:cNvPr>
        <cdr:cNvSpPr txBox="1"/>
      </cdr:nvSpPr>
      <cdr:spPr>
        <a:xfrm xmlns:a="http://schemas.openxmlformats.org/drawingml/2006/main">
          <a:off x="5272437" y="-2018284"/>
          <a:ext cx="3200081" cy="569007"/>
        </a:xfrm>
        <a:prstGeom xmlns:a="http://schemas.openxmlformats.org/drawingml/2006/main" prst="rect">
          <a:avLst/>
        </a:prstGeom>
        <a:solidFill xmlns:a="http://schemas.openxmlformats.org/drawingml/2006/main">
          <a:schemeClr val="accent1">
            <a:lumMod val="20000"/>
            <a:lumOff val="80000"/>
          </a:schemeClr>
        </a:solidFill>
      </cdr:spPr>
      <cdr:txBody>
        <a:bodyPr xmlns:a="http://schemas.openxmlformats.org/drawingml/2006/main" vertOverflow="clip" wrap="square" rtlCol="0"/>
        <a:lstStyle xmlns:a="http://schemas.openxmlformats.org/drawingml/2006/main"/>
        <a:p xmlns:a="http://schemas.openxmlformats.org/drawingml/2006/main">
          <a:r>
            <a:rPr lang="en-US" sz="2000" b="1" dirty="0"/>
            <a:t>MC=</a:t>
          </a:r>
          <a:r>
            <a:rPr lang="en-US" sz="2000" dirty="0"/>
            <a:t>S</a:t>
          </a:r>
          <a:r>
            <a:rPr lang="he-IL" sz="2000" dirty="0"/>
            <a:t> היצע </a:t>
          </a:r>
          <a:r>
            <a:rPr lang="he-IL" sz="1800" b="1" dirty="0">
              <a:highlight>
                <a:srgbClr val="FFFF00"/>
              </a:highlight>
            </a:rPr>
            <a:t>טווח קצר</a:t>
          </a:r>
          <a:endParaRPr lang="en-IL" sz="1100" b="1" dirty="0">
            <a:highlight>
              <a:srgbClr val="FFFF00"/>
            </a:highlight>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0.79813</cdr:x>
      <cdr:y>0</cdr:y>
    </cdr:from>
    <cdr:to>
      <cdr:x>0.95626</cdr:x>
      <cdr:y>0.1484</cdr:y>
    </cdr:to>
    <cdr:sp macro="" textlink="">
      <cdr:nvSpPr>
        <cdr:cNvPr id="2" name="TextBox 1">
          <a:extLst xmlns:a="http://schemas.openxmlformats.org/drawingml/2006/main">
            <a:ext uri="{FF2B5EF4-FFF2-40B4-BE49-F238E27FC236}">
              <a16:creationId xmlns:a16="http://schemas.microsoft.com/office/drawing/2014/main" id="{8040A827-1651-4875-9735-0B13EB6C28C8}"/>
            </a:ext>
          </a:extLst>
        </cdr:cNvPr>
        <cdr:cNvSpPr txBox="1"/>
      </cdr:nvSpPr>
      <cdr:spPr>
        <a:xfrm xmlns:a="http://schemas.openxmlformats.org/drawingml/2006/main">
          <a:off x="6762137" y="0"/>
          <a:ext cx="1339760" cy="601671"/>
        </a:xfrm>
        <a:prstGeom xmlns:a="http://schemas.openxmlformats.org/drawingml/2006/main" prst="rect">
          <a:avLst/>
        </a:prstGeom>
        <a:solidFill xmlns:a="http://schemas.openxmlformats.org/drawingml/2006/main">
          <a:schemeClr val="accent1">
            <a:lumMod val="20000"/>
            <a:lumOff val="80000"/>
          </a:schemeClr>
        </a:solidFill>
      </cdr:spPr>
      <cdr:txBody>
        <a:bodyPr xmlns:a="http://schemas.openxmlformats.org/drawingml/2006/main" vertOverflow="clip" wrap="square" rtlCol="0"/>
        <a:lstStyle xmlns:a="http://schemas.openxmlformats.org/drawingml/2006/main"/>
        <a:p xmlns:a="http://schemas.openxmlformats.org/drawingml/2006/main">
          <a:r>
            <a:rPr lang="en-US" sz="3200" b="1" dirty="0">
              <a:solidFill>
                <a:schemeClr val="accent6">
                  <a:lumMod val="75000"/>
                </a:schemeClr>
              </a:solidFill>
            </a:rPr>
            <a:t>S</a:t>
          </a:r>
          <a:r>
            <a:rPr lang="he-IL" sz="1800" dirty="0">
              <a:highlight>
                <a:srgbClr val="FFFF00"/>
              </a:highlight>
            </a:rPr>
            <a:t>טווח ארוך</a:t>
          </a:r>
          <a:endParaRPr lang="en-IL" sz="1100" dirty="0">
            <a:highlight>
              <a:srgbClr val="FFFF00"/>
            </a:highlight>
          </a:endParaRPr>
        </a:p>
      </cdr:txBody>
    </cdr:sp>
  </cdr:relSizeAnchor>
  <cdr:relSizeAnchor xmlns:cdr="http://schemas.openxmlformats.org/drawingml/2006/chartDrawing">
    <cdr:from>
      <cdr:x>0.60297</cdr:x>
      <cdr:y>0.18157</cdr:y>
    </cdr:from>
    <cdr:to>
      <cdr:x>0.93655</cdr:x>
      <cdr:y>0.32964</cdr:y>
    </cdr:to>
    <cdr:cxnSp macro="">
      <cdr:nvCxnSpPr>
        <cdr:cNvPr id="4" name="Straight Connector 3">
          <a:extLst xmlns:a="http://schemas.openxmlformats.org/drawingml/2006/main">
            <a:ext uri="{FF2B5EF4-FFF2-40B4-BE49-F238E27FC236}">
              <a16:creationId xmlns:a16="http://schemas.microsoft.com/office/drawing/2014/main" id="{73B07D87-4107-4A6B-B281-CA69C7702CF5}"/>
            </a:ext>
          </a:extLst>
        </cdr:cNvPr>
        <cdr:cNvCxnSpPr/>
      </cdr:nvCxnSpPr>
      <cdr:spPr>
        <a:xfrm xmlns:a="http://schemas.openxmlformats.org/drawingml/2006/main" flipV="1">
          <a:off x="5108635" y="736177"/>
          <a:ext cx="2826328" cy="600362"/>
        </a:xfrm>
        <a:prstGeom xmlns:a="http://schemas.openxmlformats.org/drawingml/2006/main" prst="line">
          <a:avLst/>
        </a:prstGeom>
        <a:ln xmlns:a="http://schemas.openxmlformats.org/drawingml/2006/main" w="76200">
          <a:solidFill>
            <a:schemeClr val="accent6"/>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4022937" y="0"/>
            <a:ext cx="3076363" cy="513508"/>
          </a:xfrm>
          <a:prstGeom prst="rect">
            <a:avLst/>
          </a:prstGeom>
        </p:spPr>
        <p:txBody>
          <a:bodyPr vert="horz" lIns="99048" tIns="49524" rIns="99048" bIns="49524" rtlCol="1"/>
          <a:lstStyle>
            <a:lvl1pPr algn="r">
              <a:defRPr sz="1300"/>
            </a:lvl1pPr>
          </a:lstStyle>
          <a:p>
            <a:endParaRPr lang="he-IL"/>
          </a:p>
        </p:txBody>
      </p:sp>
      <p:sp>
        <p:nvSpPr>
          <p:cNvPr id="3" name="מציין מיקום של תאריך 2"/>
          <p:cNvSpPr>
            <a:spLocks noGrp="1"/>
          </p:cNvSpPr>
          <p:nvPr>
            <p:ph type="dt" idx="1"/>
          </p:nvPr>
        </p:nvSpPr>
        <p:spPr>
          <a:xfrm>
            <a:off x="1644" y="0"/>
            <a:ext cx="3076363" cy="513508"/>
          </a:xfrm>
          <a:prstGeom prst="rect">
            <a:avLst/>
          </a:prstGeom>
        </p:spPr>
        <p:txBody>
          <a:bodyPr vert="horz" lIns="99048" tIns="49524" rIns="99048" bIns="49524" rtlCol="1"/>
          <a:lstStyle>
            <a:lvl1pPr algn="l">
              <a:defRPr sz="1300"/>
            </a:lvl1pPr>
          </a:lstStyle>
          <a:p>
            <a:fld id="{7281268D-D0F9-4339-8AC4-FC73E7FD81CF}" type="datetimeFigureOut">
              <a:rPr lang="he-IL" smtClean="0"/>
              <a:t>י"ד/טבת/תשפ"ו</a:t>
            </a:fld>
            <a:endParaRPr lang="he-IL"/>
          </a:p>
        </p:txBody>
      </p:sp>
      <p:sp>
        <p:nvSpPr>
          <p:cNvPr id="4" name="מציין מיקום של תמונת שקופית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48" tIns="49524" rIns="99048" bIns="49524" rtlCol="1" anchor="ctr"/>
          <a:lstStyle/>
          <a:p>
            <a:endParaRPr lang="he-IL"/>
          </a:p>
        </p:txBody>
      </p:sp>
      <p:sp>
        <p:nvSpPr>
          <p:cNvPr id="5" name="מציין מיקום של הערות 4"/>
          <p:cNvSpPr>
            <a:spLocks noGrp="1"/>
          </p:cNvSpPr>
          <p:nvPr>
            <p:ph type="body" sz="quarter" idx="3"/>
          </p:nvPr>
        </p:nvSpPr>
        <p:spPr>
          <a:xfrm>
            <a:off x="709930" y="4925407"/>
            <a:ext cx="5679440" cy="4029879"/>
          </a:xfrm>
          <a:prstGeom prst="rect">
            <a:avLst/>
          </a:prstGeom>
        </p:spPr>
        <p:txBody>
          <a:bodyPr vert="horz" lIns="99048" tIns="49524" rIns="99048" bIns="49524"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4022937" y="9721107"/>
            <a:ext cx="3076363" cy="513507"/>
          </a:xfrm>
          <a:prstGeom prst="rect">
            <a:avLst/>
          </a:prstGeom>
        </p:spPr>
        <p:txBody>
          <a:bodyPr vert="horz" lIns="99048" tIns="49524" rIns="99048" bIns="49524" rtlCol="1" anchor="b"/>
          <a:lstStyle>
            <a:lvl1pPr algn="r">
              <a:defRPr sz="1300"/>
            </a:lvl1pPr>
          </a:lstStyle>
          <a:p>
            <a:endParaRPr lang="he-IL"/>
          </a:p>
        </p:txBody>
      </p:sp>
      <p:sp>
        <p:nvSpPr>
          <p:cNvPr id="7" name="מציין מיקום של מספר שקופית 6"/>
          <p:cNvSpPr>
            <a:spLocks noGrp="1"/>
          </p:cNvSpPr>
          <p:nvPr>
            <p:ph type="sldNum" sz="quarter" idx="5"/>
          </p:nvPr>
        </p:nvSpPr>
        <p:spPr>
          <a:xfrm>
            <a:off x="1644" y="9721107"/>
            <a:ext cx="3076363" cy="513507"/>
          </a:xfrm>
          <a:prstGeom prst="rect">
            <a:avLst/>
          </a:prstGeom>
        </p:spPr>
        <p:txBody>
          <a:bodyPr vert="horz" lIns="99048" tIns="49524" rIns="99048" bIns="49524" rtlCol="1" anchor="b"/>
          <a:lstStyle>
            <a:lvl1pPr algn="l">
              <a:defRPr sz="1300"/>
            </a:lvl1pPr>
          </a:lstStyle>
          <a:p>
            <a:fld id="{B87A51C3-D7A7-4AE0-B95D-CA1648E7F7C5}" type="slidenum">
              <a:rPr lang="he-IL" smtClean="0"/>
              <a:t>‹#›</a:t>
            </a:fld>
            <a:endParaRPr lang="he-IL"/>
          </a:p>
        </p:txBody>
      </p:sp>
    </p:spTree>
    <p:extLst>
      <p:ext uri="{BB962C8B-B14F-4D97-AF65-F5344CB8AC3E}">
        <p14:creationId xmlns:p14="http://schemas.microsoft.com/office/powerpoint/2010/main" val="174846068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B87A51C3-D7A7-4AE0-B95D-CA1648E7F7C5}" type="slidenum">
              <a:rPr lang="he-IL" smtClean="0"/>
              <a:t>1</a:t>
            </a:fld>
            <a:endParaRPr lang="he-IL"/>
          </a:p>
        </p:txBody>
      </p:sp>
    </p:spTree>
    <p:extLst>
      <p:ext uri="{BB962C8B-B14F-4D97-AF65-F5344CB8AC3E}">
        <p14:creationId xmlns:p14="http://schemas.microsoft.com/office/powerpoint/2010/main" val="2596060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a:xfrm>
            <a:off x="479425" y="1279525"/>
            <a:ext cx="6140450" cy="3454400"/>
          </a:xfrm>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B87A51C3-D7A7-4AE0-B95D-CA1648E7F7C5}" type="slidenum">
              <a:rPr lang="he-IL" smtClean="0"/>
              <a:t>3</a:t>
            </a:fld>
            <a:endParaRPr lang="he-IL"/>
          </a:p>
        </p:txBody>
      </p:sp>
    </p:spTree>
    <p:extLst>
      <p:ext uri="{BB962C8B-B14F-4D97-AF65-F5344CB8AC3E}">
        <p14:creationId xmlns:p14="http://schemas.microsoft.com/office/powerpoint/2010/main" val="4126868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indent="0" algn="r" defTabSz="914400" rtl="1" eaLnBrk="1" fontAlgn="auto" latinLnBrk="0" hangingPunct="1">
              <a:lnSpc>
                <a:spcPct val="100000"/>
              </a:lnSpc>
              <a:spcBef>
                <a:spcPts val="0"/>
              </a:spcBef>
              <a:spcAft>
                <a:spcPts val="0"/>
              </a:spcAft>
              <a:buClrTx/>
              <a:buSzTx/>
              <a:buFontTx/>
              <a:buNone/>
              <a:tabLst/>
              <a:defRPr/>
            </a:pPr>
            <a:r>
              <a:rPr lang="he-IL" sz="1200" kern="1200" dirty="0">
                <a:solidFill>
                  <a:schemeClr val="tx1"/>
                </a:solidFill>
                <a:effectLst/>
                <a:latin typeface="+mn-lt"/>
                <a:ea typeface="+mn-ea"/>
                <a:cs typeface="+mn-cs"/>
              </a:rPr>
              <a:t>נתונות לוח הוצאות הייצור השבועיות של פירמה הפועלת בענף המלט:</a:t>
            </a:r>
            <a:endParaRPr lang="en-US" sz="1200" kern="1200" dirty="0">
              <a:solidFill>
                <a:schemeClr val="tx1"/>
              </a:solidFill>
              <a:effectLst/>
              <a:latin typeface="+mn-lt"/>
              <a:ea typeface="+mn-ea"/>
              <a:cs typeface="+mn-cs"/>
            </a:endParaRPr>
          </a:p>
          <a:p>
            <a:endParaRPr lang="he-IL" dirty="0"/>
          </a:p>
        </p:txBody>
      </p:sp>
      <p:sp>
        <p:nvSpPr>
          <p:cNvPr id="4" name="מציין מיקום של מספר שקופית 3"/>
          <p:cNvSpPr>
            <a:spLocks noGrp="1"/>
          </p:cNvSpPr>
          <p:nvPr>
            <p:ph type="sldNum" sz="quarter" idx="10"/>
          </p:nvPr>
        </p:nvSpPr>
        <p:spPr/>
        <p:txBody>
          <a:bodyPr/>
          <a:lstStyle/>
          <a:p>
            <a:fld id="{17BB39F0-368F-4D24-B4FA-2BF3501F2C64}" type="slidenum">
              <a:rPr lang="he-IL" smtClean="0"/>
              <a:pPr/>
              <a:t>26</a:t>
            </a:fld>
            <a:endParaRPr lang="he-IL"/>
          </a:p>
        </p:txBody>
      </p:sp>
    </p:spTree>
    <p:extLst>
      <p:ext uri="{BB962C8B-B14F-4D97-AF65-F5344CB8AC3E}">
        <p14:creationId xmlns:p14="http://schemas.microsoft.com/office/powerpoint/2010/main" val="1510458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fld id="{17BB39F0-368F-4D24-B4FA-2BF3501F2C64}" type="slidenum">
              <a:rPr lang="he-IL" smtClean="0"/>
              <a:pPr/>
              <a:t>56</a:t>
            </a:fld>
            <a:endParaRPr lang="he-IL"/>
          </a:p>
        </p:txBody>
      </p:sp>
    </p:spTree>
    <p:extLst>
      <p:ext uri="{BB962C8B-B14F-4D97-AF65-F5344CB8AC3E}">
        <p14:creationId xmlns:p14="http://schemas.microsoft.com/office/powerpoint/2010/main" val="1582007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67BCC2CB-6D14-4742-9217-8AEFF352BCA4}" type="datetime8">
              <a:rPr lang="he-IL" smtClean="0"/>
              <a:t>03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3958115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9A9A79B0-3807-4B30-9152-F14BD31A9886}" type="datetime8">
              <a:rPr lang="he-IL" smtClean="0"/>
              <a:t>03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2785542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7DD6F5DE-2B9E-444A-80E2-0CD604565638}" type="datetime8">
              <a:rPr lang="he-IL" smtClean="0"/>
              <a:t>03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1920742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14594A34-A754-4FB8-98CB-B9DBF12506C7}" type="datetime8">
              <a:rPr lang="he-IL" smtClean="0"/>
              <a:t>03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2142007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8522F7E7-37ED-42CD-8C7B-F82DA580ECB4}" type="datetime8">
              <a:rPr lang="he-IL" smtClean="0"/>
              <a:t>03 ינואר 26</a:t>
            </a:fld>
            <a:endParaRPr lang="he-IL"/>
          </a:p>
        </p:txBody>
      </p:sp>
      <p:sp>
        <p:nvSpPr>
          <p:cNvPr id="8" name="מציין מיקום של כותרת תחתונה 7"/>
          <p:cNvSpPr>
            <a:spLocks noGrp="1"/>
          </p:cNvSpPr>
          <p:nvPr>
            <p:ph type="ftr" sz="quarter" idx="11"/>
          </p:nvPr>
        </p:nvSpPr>
        <p:spPr/>
        <p:txBody>
          <a:bodyPr/>
          <a:lstStyle/>
          <a:p>
            <a:r>
              <a:rPr lang="he-IL"/>
              <a:t>מבוא למיקרו כלכלה - תרגיל מספר 5</a:t>
            </a:r>
          </a:p>
        </p:txBody>
      </p:sp>
      <p:sp>
        <p:nvSpPr>
          <p:cNvPr id="9" name="מציין מיקום של מספר שקופית 8"/>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4100088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BA23EFD9-7EF5-48C1-B909-BDF2041C5895}" type="datetime8">
              <a:rPr lang="he-IL" smtClean="0"/>
              <a:t>03 ינואר 26</a:t>
            </a:fld>
            <a:endParaRPr lang="he-IL"/>
          </a:p>
        </p:txBody>
      </p:sp>
      <p:sp>
        <p:nvSpPr>
          <p:cNvPr id="4" name="מציין מיקום של כותרת תחתונה 3"/>
          <p:cNvSpPr>
            <a:spLocks noGrp="1"/>
          </p:cNvSpPr>
          <p:nvPr>
            <p:ph type="ftr" sz="quarter" idx="11"/>
          </p:nvPr>
        </p:nvSpPr>
        <p:spPr/>
        <p:txBody>
          <a:bodyPr/>
          <a:lstStyle/>
          <a:p>
            <a:r>
              <a:rPr lang="he-IL"/>
              <a:t>מבוא למיקרו כלכלה - תרגיל מספר 5</a:t>
            </a:r>
          </a:p>
        </p:txBody>
      </p:sp>
      <p:sp>
        <p:nvSpPr>
          <p:cNvPr id="5" name="מציין מיקום של מספר שקופית 4"/>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377172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F3DCE472-9818-4DC0-A08D-21D34EEA5DD9}" type="datetime8">
              <a:rPr lang="he-IL" smtClean="0"/>
              <a:t>03 ינואר 26</a:t>
            </a:fld>
            <a:endParaRPr lang="he-IL"/>
          </a:p>
        </p:txBody>
      </p:sp>
      <p:sp>
        <p:nvSpPr>
          <p:cNvPr id="3" name="מציין מיקום של כותרת תחתונה 2"/>
          <p:cNvSpPr>
            <a:spLocks noGrp="1"/>
          </p:cNvSpPr>
          <p:nvPr>
            <p:ph type="ftr" sz="quarter" idx="11"/>
          </p:nvPr>
        </p:nvSpPr>
        <p:spPr/>
        <p:txBody>
          <a:bodyPr/>
          <a:lstStyle/>
          <a:p>
            <a:r>
              <a:rPr lang="he-IL"/>
              <a:t>מבוא למיקרו כלכלה - תרגיל מספר 5</a:t>
            </a:r>
          </a:p>
        </p:txBody>
      </p:sp>
      <p:sp>
        <p:nvSpPr>
          <p:cNvPr id="4" name="מציין מיקום של מספר שקופית 3"/>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1168599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38D211F7-9B7F-45DB-82F7-5134AEA595EB}" type="datetime8">
              <a:rPr lang="he-IL" smtClean="0"/>
              <a:t>03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1606597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59EB9A9B-BB39-4E9D-935E-AC30524204C9}" type="datetime8">
              <a:rPr lang="he-IL" smtClean="0"/>
              <a:t>03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34081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AEBCB44-BCA6-47A4-8E9A-7F62E6EEF1D1}" type="datetime8">
              <a:rPr lang="he-IL" smtClean="0"/>
              <a:t>03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41572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8B9F11F9-E021-431E-81AA-676F74AD0156}" type="datetime8">
              <a:rPr lang="he-IL" smtClean="0"/>
              <a:t>03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641493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י"ד/טבת/תשפ"ו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12504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י"ד/טבת/תשפ"ו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000371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י"ד/טבת/תשפ"ו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598189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י"ד/טבת/תשפ"ו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464693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AC72585-8C17-46D3-B0CA-329696EF4D7C}" type="datetimeFigureOut">
              <a:rPr lang="he-IL" smtClean="0">
                <a:solidFill>
                  <a:prstClr val="black">
                    <a:tint val="75000"/>
                  </a:prstClr>
                </a:solidFill>
              </a:rPr>
              <a:pPr/>
              <a:t>י"ד/טבת/תשפ"ו</a:t>
            </a:fld>
            <a:endParaRPr lang="he-IL">
              <a:solidFill>
                <a:prstClr val="black">
                  <a:tint val="75000"/>
                </a:prstClr>
              </a:solidFill>
            </a:endParaRPr>
          </a:p>
        </p:txBody>
      </p:sp>
      <p:sp>
        <p:nvSpPr>
          <p:cNvPr id="8" name="Footer Placeholder 7"/>
          <p:cNvSpPr>
            <a:spLocks noGrp="1"/>
          </p:cNvSpPr>
          <p:nvPr>
            <p:ph type="ftr" sz="quarter" idx="11"/>
          </p:nvPr>
        </p:nvSpPr>
        <p:spPr/>
        <p:txBody>
          <a:bodyPr/>
          <a:lstStyle/>
          <a:p>
            <a:endParaRPr lang="he-IL">
              <a:solidFill>
                <a:prstClr val="black">
                  <a:tint val="75000"/>
                </a:prstClr>
              </a:solidFill>
            </a:endParaRPr>
          </a:p>
        </p:txBody>
      </p:sp>
      <p:sp>
        <p:nvSpPr>
          <p:cNvPr id="9" name="Slide Number Placeholder 8"/>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1823244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AC72585-8C17-46D3-B0CA-329696EF4D7C}" type="datetimeFigureOut">
              <a:rPr lang="he-IL" smtClean="0">
                <a:solidFill>
                  <a:prstClr val="black">
                    <a:tint val="75000"/>
                  </a:prstClr>
                </a:solidFill>
              </a:rPr>
              <a:pPr/>
              <a:t>י"ד/טבת/תשפ"ו</a:t>
            </a:fld>
            <a:endParaRPr lang="he-IL">
              <a:solidFill>
                <a:prstClr val="black">
                  <a:tint val="75000"/>
                </a:prstClr>
              </a:solidFill>
            </a:endParaRPr>
          </a:p>
        </p:txBody>
      </p:sp>
      <p:sp>
        <p:nvSpPr>
          <p:cNvPr id="4" name="Footer Placeholder 3"/>
          <p:cNvSpPr>
            <a:spLocks noGrp="1"/>
          </p:cNvSpPr>
          <p:nvPr>
            <p:ph type="ftr" sz="quarter" idx="11"/>
          </p:nvPr>
        </p:nvSpPr>
        <p:spPr/>
        <p:txBody>
          <a:bodyPr/>
          <a:lstStyle/>
          <a:p>
            <a:endParaRPr lang="he-IL">
              <a:solidFill>
                <a:prstClr val="black">
                  <a:tint val="75000"/>
                </a:prstClr>
              </a:solidFill>
            </a:endParaRPr>
          </a:p>
        </p:txBody>
      </p:sp>
      <p:sp>
        <p:nvSpPr>
          <p:cNvPr id="5" name="Slide Number Placeholder 4"/>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671006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C72585-8C17-46D3-B0CA-329696EF4D7C}" type="datetimeFigureOut">
              <a:rPr lang="he-IL" smtClean="0">
                <a:solidFill>
                  <a:prstClr val="black">
                    <a:tint val="75000"/>
                  </a:prstClr>
                </a:solidFill>
              </a:rPr>
              <a:pPr/>
              <a:t>י"ד/טבת/תשפ"ו</a:t>
            </a:fld>
            <a:endParaRPr lang="he-IL">
              <a:solidFill>
                <a:prstClr val="black">
                  <a:tint val="75000"/>
                </a:prstClr>
              </a:solidFill>
            </a:endParaRPr>
          </a:p>
        </p:txBody>
      </p:sp>
      <p:sp>
        <p:nvSpPr>
          <p:cNvPr id="3" name="Footer Placeholder 2"/>
          <p:cNvSpPr>
            <a:spLocks noGrp="1"/>
          </p:cNvSpPr>
          <p:nvPr>
            <p:ph type="ftr" sz="quarter" idx="11"/>
          </p:nvPr>
        </p:nvSpPr>
        <p:spPr/>
        <p:txBody>
          <a:bodyPr/>
          <a:lstStyle/>
          <a:p>
            <a:endParaRPr lang="he-IL">
              <a:solidFill>
                <a:prstClr val="black">
                  <a:tint val="75000"/>
                </a:prstClr>
              </a:solidFill>
            </a:endParaRPr>
          </a:p>
        </p:txBody>
      </p:sp>
      <p:sp>
        <p:nvSpPr>
          <p:cNvPr id="4" name="Slide Number Placeholder 3"/>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9561873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י"ד/טבת/תשפ"ו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697223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י"ד/טבת/תשפ"ו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166200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י"ד/טבת/תשפ"ו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8903933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י"ד/טבת/תשפ"ו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75979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871ED7A5-9F7A-43AD-8050-0F7ACB9657E4}" type="datetime8">
              <a:rPr lang="he-IL" smtClean="0"/>
              <a:t>03 ינואר 26</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r>
              <a:rPr lang="he-IL"/>
              <a:t>מבוא למיקרו כלכלה - תרגיל מספר 5</a:t>
            </a:r>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D69A981F-4466-4789-9E41-1885E502A96E}" type="slidenum">
              <a:rPr lang="he-IL" smtClean="0"/>
              <a:t>‹#›</a:t>
            </a:fld>
            <a:endParaRPr lang="he-IL"/>
          </a:p>
        </p:txBody>
      </p:sp>
    </p:spTree>
    <p:extLst>
      <p:ext uri="{BB962C8B-B14F-4D97-AF65-F5344CB8AC3E}">
        <p14:creationId xmlns:p14="http://schemas.microsoft.com/office/powerpoint/2010/main" val="1345430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AC72585-8C17-46D3-B0CA-329696EF4D7C}" type="datetimeFigureOut">
              <a:rPr lang="he-IL" smtClean="0">
                <a:solidFill>
                  <a:prstClr val="black">
                    <a:tint val="75000"/>
                  </a:prstClr>
                </a:solidFill>
              </a:rPr>
              <a:pPr/>
              <a:t>י"ד/טבת/תשפ"ו</a:t>
            </a:fld>
            <a:endParaRPr lang="he-IL">
              <a:solidFill>
                <a:prstClr val="black">
                  <a:tint val="75000"/>
                </a:prstClr>
              </a:soli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he-IL">
              <a:solidFill>
                <a:prstClr val="black">
                  <a:tint val="75000"/>
                </a:prstClr>
              </a:solidFill>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8119859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מלבן 4"/>
          <p:cNvSpPr/>
          <p:nvPr/>
        </p:nvSpPr>
        <p:spPr>
          <a:xfrm>
            <a:off x="4053150" y="3623540"/>
            <a:ext cx="4461478" cy="769441"/>
          </a:xfrm>
          <a:prstGeom prst="rect">
            <a:avLst/>
          </a:prstGeom>
          <a:noFill/>
        </p:spPr>
        <p:txBody>
          <a:bodyPr wrap="none" lIns="91440" tIns="45720" rIns="91440" bIns="45720">
            <a:spAutoFit/>
          </a:bodyPr>
          <a:lstStyle/>
          <a:p>
            <a:pPr algn="ctr"/>
            <a:r>
              <a:rPr lang="he-IL" sz="4400" cap="none" spc="0" dirty="0">
                <a:ln w="0"/>
                <a:solidFill>
                  <a:schemeClr val="tx1"/>
                </a:solidFill>
                <a:effectLst>
                  <a:outerShdw blurRad="38100" dist="19050" dir="2700000" algn="tl" rotWithShape="0">
                    <a:schemeClr val="dk1">
                      <a:alpha val="40000"/>
                    </a:schemeClr>
                  </a:outerShdw>
                </a:effectLst>
              </a:rPr>
              <a:t>מבוא למיקרו כלכלה</a:t>
            </a:r>
          </a:p>
        </p:txBody>
      </p:sp>
      <p:sp>
        <p:nvSpPr>
          <p:cNvPr id="6" name="TextBox 5"/>
          <p:cNvSpPr txBox="1"/>
          <p:nvPr/>
        </p:nvSpPr>
        <p:spPr>
          <a:xfrm>
            <a:off x="8280400" y="6362700"/>
            <a:ext cx="3492500" cy="369332"/>
          </a:xfrm>
          <a:prstGeom prst="rect">
            <a:avLst/>
          </a:prstGeom>
          <a:noFill/>
        </p:spPr>
        <p:txBody>
          <a:bodyPr wrap="square" rtlCol="1">
            <a:spAutoFit/>
          </a:bodyPr>
          <a:lstStyle/>
          <a:p>
            <a:r>
              <a:rPr lang="he-IL" b="1" dirty="0">
                <a:solidFill>
                  <a:schemeClr val="bg1"/>
                </a:solidFill>
              </a:rPr>
              <a:t>מתרגל : סטסי סטשינסקי</a:t>
            </a:r>
          </a:p>
        </p:txBody>
      </p:sp>
      <p:sp>
        <p:nvSpPr>
          <p:cNvPr id="8" name="מלבן 7"/>
          <p:cNvSpPr/>
          <p:nvPr/>
        </p:nvSpPr>
        <p:spPr>
          <a:xfrm>
            <a:off x="1682867" y="807444"/>
            <a:ext cx="9447758" cy="1938992"/>
          </a:xfrm>
          <a:prstGeom prst="rect">
            <a:avLst/>
          </a:prstGeom>
          <a:noFill/>
        </p:spPr>
        <p:txBody>
          <a:bodyPr wrap="square" lIns="91440" tIns="45720" rIns="91440" bIns="45720">
            <a:spAutoFit/>
          </a:bodyPr>
          <a:lstStyle/>
          <a:p>
            <a:pPr algn="ctr"/>
            <a:r>
              <a:rPr lang="he-IL" sz="6000" b="1" dirty="0">
                <a:ln w="0"/>
                <a:effectLst>
                  <a:outerShdw blurRad="38100" dist="19050" dir="2700000" algn="tl" rotWithShape="0">
                    <a:schemeClr val="dk1">
                      <a:alpha val="40000"/>
                    </a:schemeClr>
                  </a:outerShdw>
                </a:effectLst>
              </a:rPr>
              <a:t>פתרון תרגיל בית 10- עלויות היצרן והיצע היצרן </a:t>
            </a:r>
            <a:endParaRPr lang="en-US" sz="60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033348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mage result for profi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3255" y="4236720"/>
            <a:ext cx="2621280" cy="262128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rtl="1"/>
            <a:r>
              <a:rPr lang="he-IL" dirty="0"/>
              <a:t>רווח כולל ורווח תפעולי</a:t>
            </a:r>
            <a:endParaRPr lang="en-US" dirty="0"/>
          </a:p>
        </p:txBody>
      </p:sp>
      <p:sp>
        <p:nvSpPr>
          <p:cNvPr id="4" name="Date Placeholder 3"/>
          <p:cNvSpPr>
            <a:spLocks noGrp="1"/>
          </p:cNvSpPr>
          <p:nvPr>
            <p:ph type="dt" sz="half" idx="10"/>
          </p:nvPr>
        </p:nvSpPr>
        <p:spPr/>
        <p:txBody>
          <a:bodyPr/>
          <a:lstStyle/>
          <a:p>
            <a:fld id="{613B32AE-5A3A-4D43-A208-EA7F18D9A9EF}" type="datetime8">
              <a:rPr lang="he-IL" smtClean="0"/>
              <a:t>03 ינואר 26</a:t>
            </a:fld>
            <a:endParaRPr lang="he-IL"/>
          </a:p>
        </p:txBody>
      </p:sp>
      <p:sp>
        <p:nvSpPr>
          <p:cNvPr id="2" name="Slide Number Placeholder 1"/>
          <p:cNvSpPr>
            <a:spLocks noGrp="1"/>
          </p:cNvSpPr>
          <p:nvPr>
            <p:ph type="sldNum" sz="quarter" idx="12"/>
          </p:nvPr>
        </p:nvSpPr>
        <p:spPr/>
        <p:txBody>
          <a:bodyPr/>
          <a:lstStyle/>
          <a:p>
            <a:fld id="{CBF92039-BB9D-4F46-95B7-49E6508B93B0}" type="slidenum">
              <a:rPr lang="en-US" smtClean="0"/>
              <a:t>2</a:t>
            </a:fld>
            <a:endParaRPr lang="en-US"/>
          </a:p>
        </p:txBody>
      </p:sp>
      <p:sp>
        <p:nvSpPr>
          <p:cNvPr id="9" name="Rounded Rectangle 8"/>
          <p:cNvSpPr/>
          <p:nvPr/>
        </p:nvSpPr>
        <p:spPr>
          <a:xfrm>
            <a:off x="6967889" y="2362359"/>
            <a:ext cx="3672840" cy="16611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b="1" dirty="0"/>
              <a:t>רווח תפעולי</a:t>
            </a:r>
          </a:p>
          <a:p>
            <a:pPr algn="ctr"/>
            <a:r>
              <a:rPr lang="he-IL" dirty="0"/>
              <a:t>הכנסות בניכוי ההוצאות המשתנות</a:t>
            </a:r>
          </a:p>
          <a:p>
            <a:pPr algn="ctr"/>
            <a:r>
              <a:rPr lang="en-US" dirty="0"/>
              <a:t>X*</a:t>
            </a:r>
            <a:r>
              <a:rPr lang="en-US" dirty="0" err="1"/>
              <a:t>Px</a:t>
            </a:r>
            <a:r>
              <a:rPr lang="en-US" dirty="0"/>
              <a:t>-VC(x)</a:t>
            </a:r>
          </a:p>
        </p:txBody>
      </p:sp>
      <p:sp>
        <p:nvSpPr>
          <p:cNvPr id="11" name="Rounded Rectangle 10"/>
          <p:cNvSpPr/>
          <p:nvPr/>
        </p:nvSpPr>
        <p:spPr>
          <a:xfrm>
            <a:off x="1428115" y="2545080"/>
            <a:ext cx="3672840" cy="16611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b="1" dirty="0"/>
              <a:t>רווח כולל</a:t>
            </a:r>
            <a:r>
              <a:rPr lang="en-US" b="1" dirty="0"/>
              <a:t>/</a:t>
            </a:r>
            <a:r>
              <a:rPr lang="he-IL" b="1" dirty="0"/>
              <a:t>נקי</a:t>
            </a:r>
          </a:p>
          <a:p>
            <a:pPr algn="ctr"/>
            <a:r>
              <a:rPr lang="he-IL" dirty="0"/>
              <a:t>הכנסות בניכוי כלל ההוצאות</a:t>
            </a:r>
          </a:p>
          <a:p>
            <a:pPr algn="ctr"/>
            <a:r>
              <a:rPr lang="en-US" dirty="0"/>
              <a:t>X*</a:t>
            </a:r>
            <a:r>
              <a:rPr lang="en-US" dirty="0" err="1"/>
              <a:t>Px</a:t>
            </a:r>
            <a:r>
              <a:rPr lang="en-US" dirty="0"/>
              <a:t>-TC(x)</a:t>
            </a:r>
          </a:p>
          <a:p>
            <a:pPr algn="ctr"/>
            <a:endParaRPr lang="en-US" dirty="0"/>
          </a:p>
        </p:txBody>
      </p:sp>
    </p:spTree>
    <p:extLst>
      <p:ext uri="{BB962C8B-B14F-4D97-AF65-F5344CB8AC3E}">
        <p14:creationId xmlns:p14="http://schemas.microsoft.com/office/powerpoint/2010/main" val="3727484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55237" y="896012"/>
            <a:ext cx="2890980" cy="418439"/>
          </a:xfrm>
        </p:spPr>
        <p:txBody>
          <a:bodyPr>
            <a:normAutofit fontScale="90000"/>
          </a:bodyPr>
          <a:lstStyle/>
          <a:p>
            <a:r>
              <a:rPr lang="he-IL" sz="2400" u="sng" dirty="0"/>
              <a:t>רווח נקי/כולל:</a:t>
            </a:r>
          </a:p>
        </p:txBody>
      </p:sp>
      <p:sp>
        <p:nvSpPr>
          <p:cNvPr id="4" name="מציין מיקום של תאריך 3"/>
          <p:cNvSpPr>
            <a:spLocks noGrp="1"/>
          </p:cNvSpPr>
          <p:nvPr>
            <p:ph type="dt" sz="half" idx="10"/>
          </p:nvPr>
        </p:nvSpPr>
        <p:spPr/>
        <p:txBody>
          <a:bodyPr/>
          <a:lstStyle/>
          <a:p>
            <a:fld id="{605B476E-3D1A-4D7D-B937-9DA688D75CB8}" type="datetime8">
              <a:rPr lang="he-IL" smtClean="0"/>
              <a:t>03 ינואר 26</a:t>
            </a:fld>
            <a:endParaRPr lang="he-IL"/>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solidFill>
                  <a:schemeClr val="bg1"/>
                </a:solidFill>
              </a:rPr>
              <a:t>3</a:t>
            </a:fld>
            <a:endParaRPr lang="he-IL" dirty="0">
              <a:solidFill>
                <a:schemeClr val="bg1"/>
              </a:solidFill>
            </a:endParaRPr>
          </a:p>
        </p:txBody>
      </p:sp>
      <p:sp>
        <p:nvSpPr>
          <p:cNvPr id="8" name="AutoShape 4" descr="data:image/jpeg;base64,/9j/4AAQSkZJRgABAQAAAQABAAD/2wCEAAkGBxQHEhQSBxQUFhUXFxsZGBUWFxgZFBYYGBkeGRccGBgYHSggGh0lHBUZIT0iJSsrLjAuIR8zODMtOCgtLjcBCgoKDg0OGhAQGzAkHyY0LDcvNywsLCwsNC0wLC8sLDAsLDQsLCwsLywsLCwsNDQsLCwsLCwsLCwsLCwsLCwsLP/AABEIALcBFAMBIgACEQEDEQH/xAAcAAEAAgIDAQAAAAAAAAAAAAAABgcEBQIDCAH/xABBEAABAwIEAwUFBQYDCQAAAAABAAIDBBEFEiExBkFRBxMiYYEUMlJxkUJyobHBFSMzYrLwFjTRFyRTgpKis+Hx/8QAGAEBAQEBAQAAAAAAAAAAAAAAAAIBAwT/xAAmEQEBAAIBBAEDBQEAAAAAAAAAAQIRIQMxQVESEyLwBHGBsdFh/9oADAMBAAIRAxEAPwC8UREBERAREQEREBERAREQEREBERAREQEREBERAREQEREBERAREQEREBERAREQEREBERAREQEREBERAREQEREBERAREQEREBERAREQEREBERAREQEREBERAREQEREBERAREQEUV7Q+JRw7T3Y7K997O+FrfeI89QB81V1BjL61newSyHNqHZnZtDrre97j81smxfaKrcE42qaAAVw79pGlzZ7cpsfEAbjUbqR0vaFTyf5lkrPPKHN+rTf8FjdVL0WnpuKKSp/hzsH3rs/qAW1ilbMLwkOHUEEfUIxzREQEREBERAREQEREBERAREQEREBERAREQEREBERAREQEREBERBS3bvnqZWxxAm0TXWH33309B9FCcOecIgjY73jckdLm9vx/NXb2hcJvx4Mmw7L3rGluRxsJGk3AzciDfy1Kqqq4IxHMTUUrydvCWOHlYh3980bGPFjfibf7P+oJ/pW5jxiKX3/yWrqeCMQo9ZqWTX4Msn9BJWinidTHLUtcx3RwLT9CuN6fp2x6k8p02aGfTT62WQ2LuQXUsjmnTVpsbfMFV8Kl7NjoubMUfH19FOs55X9lWnT4tV0v8GoLvJ9nf1La03F1TH/Hjjk+RLT+o/BVPDxK9m5+q2NPxR8dvqn1M53Z9PCrT/xy1jT38L2vtoLgtvyudDb0UFfxPWU0hlbq4m5dn8AZ0cCDt5A+iwxjrJTck7fMc+a4zyx1gs4hb9b3CdH03OI9pk1a5kWGtc2QgAsjaHuLyL+HQnrsOR6XW34N7QxKXwcSl0UjCATIwtc09Hiwte4IJA8+RMEpKFtC7vaB+R7RlDhobfPe/muMuCuxqpFRikwc5uUFrxcuDCcoJJ1GtjfcaLfqy8pvSs4ego5BKA6Iggi4I1BB2IXJV9hvGU7btywShhykMJYQQNjuB6BbWPjuIG1TFK088uVwHrcH8F0mUrlcbEsRR+HjSikNnTtaejwW2+ZIt+K3dNUsqhmpXte3q0gj6hUzTtRERgiIgIiICIiAiIgIiICIiAiIgIiICIiAiIgLpqqSOsGWrYx7ej2hw+hXcsPF64YZDJNJsxpNup5D1NggqTtShocKOXDoGNl28F2jMRf3WnLZoNzpuWhdPCXZu7iCkbUzTCJ0msbcucZNgXeIWJPLkPPQanBqE8a4o2OpJdG3MZTc6tabybc3yODb9D5KYV+D1nZy51Rwxeei1dJTPJLogNy072A+0NRzBtdZby6akmvKuuKcEPDs0kVW5r8lruZe3iAI0P3h1WlEkcv8J4/L81uOOcXGNPknjuBM4ENPvNAsAHcr+EbEqFuZ1TKRmO9N24vht3blnUlNUz/AB1c4G3/Te3rZR3CwTNG0E2zai+mgvt6KW07/ABPI52+o/wDqjKSY706dPeWXx27IqeSAHPJE86WuJLNty0dr6hdksc2Lfu3SWB2bC3IR/wA17/p5LgLyENZqSbADmSt/IwYMwRxWMzxdzvhH96D6rMMsrL4jrn08MbPNrFpov2V4I3ySSEAOLnusBbS/Ll8yuL5g82lffyHu+oH63WnqawuYWREgm/i+0STr+mq5UjbNb3e9rHzN1HUtv/IrpY4y671nOn/eiKFoOgu+9mC522v5r5TV8mETj2QyU8mb3hYMePIi7H36HrqLrqhte7uayJKEVMbvaXEsOzT8Q5g/6KJj92l5bs33W3wPxf8At4GLEAGVDRcge7I0fab0PVv9iWrzVguKPo5QYCWyxOzMLr3IB2dfXUGx6gr0VhNe3FIY5oPde0Ot0vuD5g3Hou+GVvFeTq4THmdmWiIujiIiICIiAiIgIiICIiAiIgIiICIiAiIgKE9rdd7HQ2b9uRoPmGgv/NgU2Vc9uDb0kR5d6R9Y3f6I2IT2W8T0fCrp3Y09wkkawNs0u8ILi65HUkfRWKO1TCpgQ+c2OhDopLEc7+Gy1XYjEyoo6gTNa4ipN7gHTuorb+d1LscioMLYZMXipg3X3o2En5C1ypx3peevk898Usp2yH9k1Mc0ZJI8Loy3MSQ3K4ctrrUDDrB7qhwaGAk9SQbADzJUr40qouJ80nDdCyGGC+edrGsv0Di2zSf5Rc+ihk8hqYyznpp8lXHes5k1GbhlMY5gXMGjS4a5h0I81t2G5cdNXXsBYDQbDktJBTz0YjdOySPvGOMbnhzRILAhzLizhceY1v0Upm4LxBtOKtjoJoSzOXxygC1tbh4ZYjYje4IU5TeOovp5zHLdZnD7Wwl882zAbfPnbz5eqx6ipMxcXkd5JrrtbkL8hyXxp7qJsbNtCemmv4m59FHayckulh16A7EDYfgoynEwn5XeZa31L+RvafBJpm+INbuQTZpF97ke8LgbrHik7phvyNuXNI5Ri7WQ1U0kIzDM5gzac7tuM2hPP67LGq2iN08VE4vDHWYSLOeASGnKdiWrLrKaZhvG2+22ooxNlzaD9FkVtSD72jW7LXxSGO4FrAADXd1v0WyjDaa3tFsx0DSd/qpy7f3/AI7Y3n+v9afFI3AsmiFwBZx28PXXyJVmdmXFcNFCaXFH5CJHGNztGZX62LvsnMX72GoVa8SPe6MmU2bcDKNOt79RouVE7vAb9G/ksl+MmUTljM8rjk9KtObVuy+rzv8AtKaKPuYZpWx/AHuDdd+enopr2V4vllkjxGd2rWiNj3nK51zmy3NgdG6De6649WV5s/0+WO6tNFquIMcjwWJ75nszhjiyMus57gCWgDfU2ChlJ2rNeP8AeaZwPMteCLW3bdoO9xY2XRxkt7LIRYOB4o3GoGT07XNa8GwfbMLEtN7EjcdVnIwREQEREBERAREQEREBERAREQFEe1XDjiGHS5BcxkSD5N0f/wBjnFS5cZYxKC2UAgggg7EHQhBQHZ/xTUYK2WmwWAzSzua5gAvlcG5XuIG4sG6kgC2qnOGdncmLvFRx1KZX7iBjjkHQPcLX+62w8yFXuLUE3AOJA032HZ4XH3ZIzcFpPm0lp87norK4h7QoX0LZMJcTLMMojGskbtnNIGodc2HW9xdTPTrlvvGi4rJ4pqosJ4eDY4I/fLAAyNjdHvsNNL5QOZPQ3UZwjhOPHK3E4KJtmxRSiEdJGSNbEb+eR1+tyrW7P+Gv8OU7pK+3tE3jmd8IA8MY8mg/W/KyjHYfF7Q6vqnDWSRjfoHPP/kC2p8O3sxZDxfhRo8ZYHiF5ZY6ODT443NI1aQHFoI+FRfirg+XhVwbIXT0Tr5LyvaI5t2vkiDsrnjLoQLHmBot3h9SzgXHKqOrOWnqYzK02O9y9tgP5hK0D5KN8W8Xv4mns9obGy+Rt7kC41Oti487dAEhrliYdOyCRklY0PY14uwkAPDdSDcEWJ081kcTy4fjDXHDIG0spt4mykxb63iygbX922vXZSHsiaHVhzbiGRw66vaP1Vo43jMOCR95iTgBsBu556NbzP8AZsueMt3ZXbPLGaxs3x7ebv2XZlmTMcfiF76ei5UcxdpK8E21NtbNJG+/UrdceYieK5DPPE2OOIWAYP3hBPh7146nYctbdVEKSburjVtxoD01sql98sup41/KUSVzaARl9pC7aJpaHEDU3cdjqNfzWJJHHiRMmGvcGm4cypIErHg+Jt2Ah4210+S09Th87g2pETzCfBnLTkzi9239VafZjT1IlYz2aN1JI1z5ZX92/K8NDWhhHiB0aC119Afmtzxxy7cIw6mWPfmK/rqSVsRzlrmDWwcDaw89fRZlOGwgNl0vYAkWaSBsHHS+o03W97W5IqjEIoKNrWiFoz5AG3c/xkOy72YGb/EVOeFuGW1NDG2taCJQZHNcAQc/u3B/lyrl8N/a7/V+M+elWzx5dDz5HmsbVwe5w0aNtLG3O/6KzcU7Lw0F2BTFh/4Ut3Qn5H34/wAR5KtMehqMEkMVfC5mawN9WOIuLxyDwuuORsdBoFk6dl5Xf1Es3O7rkqJGkhpzaXJJuS629zrusV4lkOrg0eQJJ+ayYmGqe72QOd4hYal1r8yBbkpRg3BFRiJvOCxp+v8A6V5S74ccMsZPuWZwThTKOCGQZs74mkjMcrQ4B1mt5a+qkq1mEYeaNoEhvYWWzXSTTz27oiItYIiICIiAiIgIiICIiAiIgIiINHxdwxDxTB3Vbo4axyD3o3dR1HUc/nYqkq/Aqvgidk1TG0927MyfLngdbYu+A/O2uoOxXod/ktbWU75wQDuss2rHK4qx/wBrUlTDLFV07Q9zXNa+N5DRmbYEtdc6E33Wh4V44k4WpXQUcceZ0jnmRxJ3AHu6bBo6qdV3ZpFXuLnta2++Rob/AE2XfQ9ltJBrKzN97X81mr7V8sfSqqqap4ynD5f3j9s7tGMG9rjQDyaFLq7hVmC4bI6MZ5c0bnykWNswGVg+y3xfM8yrPoOHYKEWgY0eiyMVwxuIU8sB0EjHNv0uLA+hsUmLLnv9lHcI41/h6V1RCwPe6J0YBNmhxc0hx8hl2/JSbB+GqrjCT2nGnubGftn3nN6QsOjG+drfe1Kg9BIcLnHtTATFIC6NwBBLHDO0g+bSFemO8QsoqQT0jge8aO68y4XBt0A19LKMZu2V2zy1JlJ3V1xlCyomiw7AWARsfq0byTHQl7tzYaXO3i5BRXCuGv2tX1FNEScvfMa7qYmvDT8i9rfQqyuzLBM2aurBqbtivvbZ79eZ1F/vdVoux6P2utqZ3fA4+sjwf0Kq8pnG/wA5ZfY3KzEaaoo69oczRxY7UEOGVwt5ZG+pXHEsPn7NJfacLcZKNzgHsedWXNmtd1FzYPGo2N+fTgoHC2OzRSeGOUuIJ0AZKO8HoHjL6LU9pPFw4nk9nov8tE6+Y6CZ40Dh/KLm3qeizXH7Ft+W55anAKCTiitPtRu+aVxe4bBl80hHQACw9F6HYwMADBYAWAGwA2UI7LuGThMPtFW20krQGtIsY4twPIuIBI8m9Cpyqxnmp6uUt1O0DqsGsw1lZpOAQdwRcH0Wcipya2jwSGjFqeNrR0DQB9AtgxgZ7oXJEBERAREQEREBERAREQEREBERAREQEREBERAREQEREFWdqfCbmvNdhrbi375oGotpnAHK2/S1+ZUMw6u9pMUOISubTh2uhPdtcbvyga6kfqvQjjbdVxxVwPTzuMuEkwPO7QLwuP3fs+mnkoyx8x26fUkmsuyTHiGk9ll/Zc0RbFE4BocBbKy7QAddrKvuy7Hafh+CeSvcczy0NY0ZnuDQTpyAu7ckbKOz4PNSucJGZzsCwm30Nl2UnDtVVaRQkDq7QKbll6XMcJLvJy40xk8T1AmyNia1hYBu9zbk3e7a+p0A0udSpP2fcFCQtqMXFmNsY4nDV5Goc8HZo3AO/wAt+7h3gV8Tg+tALhtfUD5BWDQ4d3A8ZutmNvNTl1JJ8cGxBuvq+NFl9XRwEREBERAREQEREBERAREQEREBERAREQEREBERAREQEREBERBxc3Nuul1G1/vBZCIMVtAwfZC7mwtZ7oC7EQfLWX1EQEREBERAREQEREBERAREQEREBERAREQEREBERAREQEREBERAREQEREBERAREQEREBERAREQEREBERAREQEREBERAREQEREBERAREQEREBERAREQEREBERAREQEREBERAREQEREBERAREQEREH//Z"/>
          <p:cNvSpPr>
            <a:spLocks noChangeAspect="1" noChangeArrowheads="1"/>
          </p:cNvSpPr>
          <p:nvPr/>
        </p:nvSpPr>
        <p:spPr bwMode="auto">
          <a:xfrm>
            <a:off x="1692275" y="3781426"/>
            <a:ext cx="3048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he-IL" sz="1350"/>
          </a:p>
        </p:txBody>
      </p:sp>
      <mc:AlternateContent xmlns:mc="http://schemas.openxmlformats.org/markup-compatibility/2006" xmlns:a14="http://schemas.microsoft.com/office/drawing/2010/main">
        <mc:Choice Requires="a14">
          <p:sp>
            <p:nvSpPr>
              <p:cNvPr id="3" name="TextBox 2"/>
              <p:cNvSpPr txBox="1"/>
              <p:nvPr/>
            </p:nvSpPr>
            <p:spPr>
              <a:xfrm>
                <a:off x="4197245" y="896012"/>
                <a:ext cx="4126789" cy="430887"/>
              </a:xfrm>
              <a:prstGeom prst="rect">
                <a:avLst/>
              </a:prstGeom>
              <a:noFill/>
              <a:ln w="31750">
                <a:solidFill>
                  <a:srgbClr val="0070C0"/>
                </a:solidFill>
              </a:ln>
              <a:effectLst>
                <a:glow rad="139700">
                  <a:schemeClr val="accent5">
                    <a:satMod val="175000"/>
                    <a:alpha val="40000"/>
                  </a:schemeClr>
                </a:glow>
              </a:effectLst>
            </p:spPr>
            <p:txBody>
              <a:bodyPr wrap="square" lIns="0" tIns="0" rIns="0" bIns="0" rtlCol="1">
                <a:spAutoFit/>
              </a:bodyPr>
              <a:lstStyle/>
              <a:p>
                <a:pPr/>
                <a14:m>
                  <m:oMathPara xmlns:m="http://schemas.openxmlformats.org/officeDocument/2006/math">
                    <m:oMathParaPr>
                      <m:jc m:val="centerGroup"/>
                    </m:oMathParaPr>
                    <m:oMath xmlns:m="http://schemas.openxmlformats.org/officeDocument/2006/math">
                      <m:r>
                        <a:rPr lang="en-US" sz="2800" b="1" i="0" smtClean="0">
                          <a:latin typeface="Cambria Math" panose="02040503050406030204" pitchFamily="18" charset="0"/>
                        </a:rPr>
                        <m:t>𝛑</m:t>
                      </m:r>
                      <m:d>
                        <m:dPr>
                          <m:ctrlPr>
                            <a:rPr lang="en-US" sz="2800" i="1">
                              <a:latin typeface="Cambria Math" panose="02040503050406030204" pitchFamily="18" charset="0"/>
                            </a:rPr>
                          </m:ctrlPr>
                        </m:dPr>
                        <m:e>
                          <m:r>
                            <a:rPr lang="en-US" sz="2800" b="0" i="1" smtClean="0">
                              <a:latin typeface="Cambria Math" panose="02040503050406030204" pitchFamily="18" charset="0"/>
                            </a:rPr>
                            <m:t>𝑥</m:t>
                          </m:r>
                        </m:e>
                      </m:d>
                      <m:r>
                        <a:rPr lang="en-US" sz="2800" i="1">
                          <a:latin typeface="Cambria Math" panose="02040503050406030204" pitchFamily="18" charset="0"/>
                        </a:rPr>
                        <m:t>=</m:t>
                      </m:r>
                      <m:r>
                        <a:rPr lang="en-US" sz="2800" b="0" i="1" smtClean="0">
                          <a:latin typeface="Cambria Math" panose="02040503050406030204" pitchFamily="18" charset="0"/>
                        </a:rPr>
                        <m:t>𝑋</m:t>
                      </m:r>
                      <m:r>
                        <a:rPr lang="he-IL" sz="2800" b="0" i="1" smtClean="0">
                          <a:latin typeface="Cambria Math" panose="02040503050406030204" pitchFamily="18" charset="0"/>
                        </a:rPr>
                        <m:t>∗</m:t>
                      </m:r>
                      <m:r>
                        <a:rPr lang="en-US" sz="2800" b="0" i="1" smtClean="0">
                          <a:latin typeface="Cambria Math" panose="02040503050406030204" pitchFamily="18" charset="0"/>
                        </a:rPr>
                        <m:t>𝑃𝑥</m:t>
                      </m:r>
                      <m:r>
                        <a:rPr lang="en-US" sz="2800" b="0" i="1" smtClean="0">
                          <a:latin typeface="Cambria Math" panose="02040503050406030204" pitchFamily="18" charset="0"/>
                        </a:rPr>
                        <m:t> −</m:t>
                      </m:r>
                      <m:r>
                        <a:rPr lang="en-US" sz="2800" b="0" i="1" smtClean="0">
                          <a:latin typeface="Cambria Math" panose="02040503050406030204" pitchFamily="18" charset="0"/>
                        </a:rPr>
                        <m:t>𝑇𝐶</m:t>
                      </m:r>
                      <m:r>
                        <a:rPr lang="en-US" sz="2800" i="1" smtClean="0">
                          <a:latin typeface="Cambria Math" panose="02040503050406030204" pitchFamily="18" charset="0"/>
                        </a:rPr>
                        <m:t> </m:t>
                      </m:r>
                      <m:r>
                        <a:rPr lang="en-US" sz="2800" i="1">
                          <a:latin typeface="Cambria Math" panose="02040503050406030204" pitchFamily="18" charset="0"/>
                        </a:rPr>
                        <m:t>(</m:t>
                      </m:r>
                      <m:r>
                        <a:rPr lang="en-US" sz="2800" b="0" i="1" smtClean="0">
                          <a:latin typeface="Cambria Math" panose="02040503050406030204" pitchFamily="18" charset="0"/>
                        </a:rPr>
                        <m:t>𝑥</m:t>
                      </m:r>
                      <m:r>
                        <a:rPr lang="en-US" sz="2800" i="1">
                          <a:latin typeface="Cambria Math" panose="02040503050406030204" pitchFamily="18" charset="0"/>
                        </a:rPr>
                        <m:t>)</m:t>
                      </m:r>
                    </m:oMath>
                  </m:oMathPara>
                </a14:m>
                <a:endParaRPr lang="he-IL" sz="2800" dirty="0"/>
              </a:p>
            </p:txBody>
          </p:sp>
        </mc:Choice>
        <mc:Fallback xmlns="">
          <p:sp>
            <p:nvSpPr>
              <p:cNvPr id="3" name="TextBox 2"/>
              <p:cNvSpPr txBox="1">
                <a:spLocks noRot="1" noChangeAspect="1" noMove="1" noResize="1" noEditPoints="1" noAdjustHandles="1" noChangeArrowheads="1" noChangeShapeType="1" noTextEdit="1"/>
              </p:cNvSpPr>
              <p:nvPr/>
            </p:nvSpPr>
            <p:spPr>
              <a:xfrm>
                <a:off x="4197245" y="896012"/>
                <a:ext cx="4126789" cy="430887"/>
              </a:xfrm>
              <a:prstGeom prst="rect">
                <a:avLst/>
              </a:prstGeom>
              <a:blipFill rotWithShape="0">
                <a:blip r:embed="rId3"/>
                <a:stretch>
                  <a:fillRect/>
                </a:stretch>
              </a:blipFill>
              <a:ln w="31750">
                <a:solidFill>
                  <a:srgbClr val="0070C0"/>
                </a:solidFill>
              </a:ln>
              <a:effectLst>
                <a:glow rad="139700">
                  <a:schemeClr val="accent5">
                    <a:satMod val="175000"/>
                    <a:alpha val="40000"/>
                  </a:schemeClr>
                </a:glow>
              </a:effectLst>
            </p:spPr>
            <p:txBody>
              <a:bodyPr/>
              <a:lstStyle/>
              <a:p>
                <a:r>
                  <a:rPr lang="en-US">
                    <a:noFill/>
                  </a:rPr>
                  <a:t> </a:t>
                </a:r>
              </a:p>
            </p:txBody>
          </p:sp>
        </mc:Fallback>
      </mc:AlternateContent>
      <p:sp>
        <p:nvSpPr>
          <p:cNvPr id="12" name="כותרת 1"/>
          <p:cNvSpPr txBox="1">
            <a:spLocks/>
          </p:cNvSpPr>
          <p:nvPr/>
        </p:nvSpPr>
        <p:spPr>
          <a:xfrm>
            <a:off x="9255236" y="1479286"/>
            <a:ext cx="2890980" cy="975260"/>
          </a:xfrm>
          <a:prstGeom prst="rect">
            <a:avLst/>
          </a:prstGeom>
        </p:spPr>
        <p:txBody>
          <a:bodyPr vert="horz" lIns="91440" tIns="45720" rIns="91440" bIns="45720" rtlCol="1" anchor="ctr">
            <a:normAutofit fontScale="97500"/>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sz="2400" u="sng" dirty="0"/>
              <a:t>רווח תפעולי:</a:t>
            </a:r>
          </a:p>
        </p:txBody>
      </p:sp>
      <mc:AlternateContent xmlns:mc="http://schemas.openxmlformats.org/markup-compatibility/2006" xmlns:a14="http://schemas.microsoft.com/office/drawing/2010/main">
        <mc:Choice Requires="a14">
          <p:sp>
            <p:nvSpPr>
              <p:cNvPr id="13" name="TextBox 12"/>
              <p:cNvSpPr txBox="1"/>
              <p:nvPr/>
            </p:nvSpPr>
            <p:spPr>
              <a:xfrm>
                <a:off x="4217731" y="1782250"/>
                <a:ext cx="4126789" cy="430887"/>
              </a:xfrm>
              <a:prstGeom prst="rect">
                <a:avLst/>
              </a:prstGeom>
              <a:noFill/>
              <a:ln w="31750">
                <a:solidFill>
                  <a:srgbClr val="0070C0"/>
                </a:solidFill>
              </a:ln>
              <a:effectLst>
                <a:glow rad="139700">
                  <a:schemeClr val="accent5">
                    <a:satMod val="175000"/>
                    <a:alpha val="40000"/>
                  </a:schemeClr>
                </a:glow>
              </a:effectLst>
            </p:spPr>
            <p:txBody>
              <a:bodyPr wrap="square" lIns="0" tIns="0" rIns="0" bIns="0" rtlCol="1">
                <a:spAutoFit/>
              </a:bodyPr>
              <a:lstStyle/>
              <a:p>
                <a:pPr/>
                <a14:m>
                  <m:oMathPara xmlns:m="http://schemas.openxmlformats.org/officeDocument/2006/math">
                    <m:oMathParaPr>
                      <m:jc m:val="centerGroup"/>
                    </m:oMathParaPr>
                    <m:oMath xmlns:m="http://schemas.openxmlformats.org/officeDocument/2006/math">
                      <m:r>
                        <a:rPr lang="en-US" sz="2800" b="1" i="1" smtClean="0">
                          <a:latin typeface="Cambria Math" panose="02040503050406030204" pitchFamily="18" charset="0"/>
                        </a:rPr>
                        <m:t>𝝅</m:t>
                      </m:r>
                      <m:d>
                        <m:dPr>
                          <m:ctrlPr>
                            <a:rPr lang="en-US" sz="2800" i="1">
                              <a:latin typeface="Cambria Math" panose="02040503050406030204" pitchFamily="18" charset="0"/>
                            </a:rPr>
                          </m:ctrlPr>
                        </m:dPr>
                        <m:e>
                          <m:r>
                            <a:rPr lang="en-US" sz="2800" b="0" i="1" smtClean="0">
                              <a:latin typeface="Cambria Math" panose="02040503050406030204" pitchFamily="18" charset="0"/>
                            </a:rPr>
                            <m:t>𝑥</m:t>
                          </m:r>
                        </m:e>
                      </m:d>
                      <m:r>
                        <a:rPr lang="en-US" sz="2800" i="1">
                          <a:latin typeface="Cambria Math" panose="02040503050406030204" pitchFamily="18" charset="0"/>
                        </a:rPr>
                        <m:t>=</m:t>
                      </m:r>
                      <m:r>
                        <a:rPr lang="en-US" sz="2800" b="0" i="1" smtClean="0">
                          <a:latin typeface="Cambria Math" panose="02040503050406030204" pitchFamily="18" charset="0"/>
                        </a:rPr>
                        <m:t>𝑋</m:t>
                      </m:r>
                      <m:r>
                        <a:rPr lang="he-IL" sz="2800" b="0" i="1" smtClean="0">
                          <a:latin typeface="Cambria Math" panose="02040503050406030204" pitchFamily="18" charset="0"/>
                        </a:rPr>
                        <m:t>∗</m:t>
                      </m:r>
                      <m:r>
                        <a:rPr lang="en-US" sz="2800" b="0" i="1" smtClean="0">
                          <a:latin typeface="Cambria Math" panose="02040503050406030204" pitchFamily="18" charset="0"/>
                        </a:rPr>
                        <m:t>𝑃𝑥</m:t>
                      </m:r>
                      <m:r>
                        <a:rPr lang="en-US" sz="2800" b="0" i="1" smtClean="0">
                          <a:latin typeface="Cambria Math" panose="02040503050406030204" pitchFamily="18" charset="0"/>
                        </a:rPr>
                        <m:t> −</m:t>
                      </m:r>
                      <m:r>
                        <a:rPr lang="en-US" sz="2800" b="0" i="1" smtClean="0">
                          <a:latin typeface="Cambria Math" panose="02040503050406030204" pitchFamily="18" charset="0"/>
                        </a:rPr>
                        <m:t>𝑉𝐶</m:t>
                      </m:r>
                      <m:r>
                        <a:rPr lang="en-US" sz="2800" i="1" smtClean="0">
                          <a:latin typeface="Cambria Math" panose="02040503050406030204" pitchFamily="18" charset="0"/>
                        </a:rPr>
                        <m:t> </m:t>
                      </m:r>
                      <m:r>
                        <a:rPr lang="en-US" sz="2800" i="1">
                          <a:latin typeface="Cambria Math" panose="02040503050406030204" pitchFamily="18" charset="0"/>
                        </a:rPr>
                        <m:t>(</m:t>
                      </m:r>
                      <m:r>
                        <a:rPr lang="en-US" sz="2800" b="0" i="1" smtClean="0">
                          <a:latin typeface="Cambria Math" panose="02040503050406030204" pitchFamily="18" charset="0"/>
                        </a:rPr>
                        <m:t>𝑥</m:t>
                      </m:r>
                      <m:r>
                        <a:rPr lang="en-US" sz="2800" i="1">
                          <a:latin typeface="Cambria Math" panose="02040503050406030204" pitchFamily="18" charset="0"/>
                        </a:rPr>
                        <m:t>)</m:t>
                      </m:r>
                    </m:oMath>
                  </m:oMathPara>
                </a14:m>
                <a:endParaRPr lang="he-IL" sz="2800" dirty="0"/>
              </a:p>
            </p:txBody>
          </p:sp>
        </mc:Choice>
        <mc:Fallback xmlns="">
          <p:sp>
            <p:nvSpPr>
              <p:cNvPr id="13" name="TextBox 12"/>
              <p:cNvSpPr txBox="1">
                <a:spLocks noRot="1" noChangeAspect="1" noMove="1" noResize="1" noEditPoints="1" noAdjustHandles="1" noChangeArrowheads="1" noChangeShapeType="1" noTextEdit="1"/>
              </p:cNvSpPr>
              <p:nvPr/>
            </p:nvSpPr>
            <p:spPr>
              <a:xfrm>
                <a:off x="4217731" y="1782250"/>
                <a:ext cx="4126789" cy="430887"/>
              </a:xfrm>
              <a:prstGeom prst="rect">
                <a:avLst/>
              </a:prstGeom>
              <a:blipFill rotWithShape="0">
                <a:blip r:embed="rId4"/>
                <a:stretch>
                  <a:fillRect/>
                </a:stretch>
              </a:blipFill>
              <a:ln w="31750">
                <a:solidFill>
                  <a:srgbClr val="0070C0"/>
                </a:solidFill>
              </a:ln>
              <a:effectLst>
                <a:glow rad="139700">
                  <a:schemeClr val="accent5">
                    <a:satMod val="175000"/>
                    <a:alpha val="40000"/>
                  </a:schemeClr>
                </a:glow>
              </a:effectLst>
            </p:spPr>
            <p:txBody>
              <a:bodyPr/>
              <a:lstStyle/>
              <a:p>
                <a:r>
                  <a:rPr lang="en-US">
                    <a:noFill/>
                  </a:rPr>
                  <a:t> </a:t>
                </a:r>
              </a:p>
            </p:txBody>
          </p:sp>
        </mc:Fallback>
      </mc:AlternateContent>
      <p:sp>
        <p:nvSpPr>
          <p:cNvPr id="9" name="TextBox 8"/>
          <p:cNvSpPr txBox="1"/>
          <p:nvPr/>
        </p:nvSpPr>
        <p:spPr>
          <a:xfrm>
            <a:off x="689549" y="2859924"/>
            <a:ext cx="11109614" cy="1323439"/>
          </a:xfrm>
          <a:prstGeom prst="rect">
            <a:avLst/>
          </a:prstGeom>
          <a:noFill/>
        </p:spPr>
        <p:txBody>
          <a:bodyPr wrap="square" rtlCol="0">
            <a:spAutoFit/>
          </a:bodyPr>
          <a:lstStyle/>
          <a:p>
            <a:r>
              <a:rPr lang="he-IL" sz="2000" b="1" u="sng" dirty="0"/>
              <a:t>בטווח הארוך  </a:t>
            </a:r>
            <a:r>
              <a:rPr lang="he-IL" sz="2000" dirty="0"/>
              <a:t>(כאשר הפירמה נמצאת מחוץ לענף ושוקלת האם להיכנס או לא) הפירמה לא התחייבה על העלויות הקבועות.</a:t>
            </a:r>
            <a:br>
              <a:rPr lang="en-US" sz="2000" dirty="0"/>
            </a:br>
            <a:r>
              <a:rPr lang="he-IL" sz="2000" dirty="0"/>
              <a:t>כלל ההחלטה של הפירמה האם להיכנס לענף ולייצר הינו: כל עוד </a:t>
            </a:r>
            <a:r>
              <a:rPr lang="he-IL" sz="2000" b="1" dirty="0"/>
              <a:t>הרווח הנקי/הכולל </a:t>
            </a:r>
            <a:r>
              <a:rPr lang="he-IL" sz="2000" dirty="0"/>
              <a:t>גדול או שווה לאפס. אחרת, לא תכנס לענף. </a:t>
            </a:r>
            <a:endParaRPr lang="en-US" sz="2000" dirty="0"/>
          </a:p>
        </p:txBody>
      </p:sp>
      <p:sp>
        <p:nvSpPr>
          <p:cNvPr id="14" name="TextBox 13"/>
          <p:cNvSpPr txBox="1"/>
          <p:nvPr/>
        </p:nvSpPr>
        <p:spPr>
          <a:xfrm>
            <a:off x="705832" y="4392949"/>
            <a:ext cx="11109614" cy="1323439"/>
          </a:xfrm>
          <a:prstGeom prst="rect">
            <a:avLst/>
          </a:prstGeom>
          <a:noFill/>
        </p:spPr>
        <p:txBody>
          <a:bodyPr wrap="square" rtlCol="0">
            <a:spAutoFit/>
          </a:bodyPr>
          <a:lstStyle/>
          <a:p>
            <a:r>
              <a:rPr lang="he-IL" sz="2000" b="1" u="sng" dirty="0"/>
              <a:t>בטווח הקצר  </a:t>
            </a:r>
            <a:r>
              <a:rPr lang="he-IL" sz="2000" dirty="0"/>
              <a:t>(כאשר הפירמה נמצאת בתוך הענף במובן שהיא כבר התחייבה על העלויות הקבועות </a:t>
            </a:r>
            <a:r>
              <a:rPr lang="en-US" sz="2000" dirty="0"/>
              <a:t>FC</a:t>
            </a:r>
            <a:r>
              <a:rPr lang="he-IL" sz="2000" dirty="0"/>
              <a:t> כגון דמי שכירות) כלל ההחלטה של הפירמה האם לייצר או להשבית את הייצור הינו: כל עוד </a:t>
            </a:r>
            <a:r>
              <a:rPr lang="he-IL" sz="2000" b="1" dirty="0"/>
              <a:t>הרווח התפעולי </a:t>
            </a:r>
            <a:r>
              <a:rPr lang="he-IL" sz="2000" dirty="0"/>
              <a:t>גדול או שווה לאפס, כדאי לייצר בטווח הקצר. אחרת, כדאי לפירמה להשבית את הייצור. </a:t>
            </a:r>
            <a:br>
              <a:rPr lang="en-US" sz="2000" dirty="0"/>
            </a:br>
            <a:r>
              <a:rPr lang="he-IL" sz="2000" dirty="0"/>
              <a:t>*כלומר בטווח הקצר העלות הקבועה </a:t>
            </a:r>
            <a:r>
              <a:rPr lang="en-US" sz="2000" dirty="0"/>
              <a:t>FC</a:t>
            </a:r>
            <a:r>
              <a:rPr lang="he-IL" sz="2000" dirty="0"/>
              <a:t> אינה נכנסת למערכת השיקולים של הפירמה האם לייצר או לא. </a:t>
            </a:r>
            <a:endParaRPr lang="en-US" sz="2000" dirty="0"/>
          </a:p>
        </p:txBody>
      </p:sp>
    </p:spTree>
    <p:extLst>
      <p:ext uri="{BB962C8B-B14F-4D97-AF65-F5344CB8AC3E}">
        <p14:creationId xmlns:p14="http://schemas.microsoft.com/office/powerpoint/2010/main" val="2348987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09997" y="75106"/>
            <a:ext cx="8229600" cy="634082"/>
          </a:xfrm>
        </p:spPr>
        <p:txBody>
          <a:bodyPr>
            <a:normAutofit fontScale="90000"/>
          </a:bodyPr>
          <a:lstStyle/>
          <a:p>
            <a:r>
              <a:rPr lang="he-IL" dirty="0"/>
              <a:t>החלטות ייצור</a:t>
            </a:r>
          </a:p>
        </p:txBody>
      </p:sp>
      <p:sp>
        <p:nvSpPr>
          <p:cNvPr id="3" name="Content Placeholder 2"/>
          <p:cNvSpPr>
            <a:spLocks noGrp="1"/>
          </p:cNvSpPr>
          <p:nvPr>
            <p:ph idx="1"/>
          </p:nvPr>
        </p:nvSpPr>
        <p:spPr>
          <a:xfrm>
            <a:off x="7601013" y="1038754"/>
            <a:ext cx="4377754" cy="532656"/>
          </a:xfrm>
        </p:spPr>
        <p:txBody>
          <a:bodyPr>
            <a:noAutofit/>
          </a:bodyPr>
          <a:lstStyle/>
          <a:p>
            <a:pPr marL="0" indent="0">
              <a:buNone/>
            </a:pPr>
            <a:r>
              <a:rPr lang="he-IL" sz="4000" dirty="0"/>
              <a:t>1) האם לייצר?</a:t>
            </a:r>
          </a:p>
        </p:txBody>
      </p:sp>
      <p:sp>
        <p:nvSpPr>
          <p:cNvPr id="4" name="Date Placeholder 3"/>
          <p:cNvSpPr>
            <a:spLocks noGrp="1"/>
          </p:cNvSpPr>
          <p:nvPr>
            <p:ph type="dt" sz="half" idx="10"/>
          </p:nvPr>
        </p:nvSpPr>
        <p:spPr/>
        <p:txBody>
          <a:bodyPr/>
          <a:lstStyle/>
          <a:p>
            <a:fld id="{8236CD47-1CFA-40E5-8E9F-789F498AC982}" type="datetime8">
              <a:rPr lang="he-IL" smtClean="0">
                <a:solidFill>
                  <a:prstClr val="black">
                    <a:tint val="75000"/>
                  </a:prstClr>
                </a:solidFill>
              </a:rPr>
              <a:t>03 ינואר 26</a:t>
            </a:fld>
            <a:endParaRPr lang="he-IL">
              <a:solidFill>
                <a:prstClr val="black">
                  <a:tint val="75000"/>
                </a:prstClr>
              </a:solidFill>
            </a:endParaRPr>
          </a:p>
        </p:txBody>
      </p:sp>
      <p:sp>
        <p:nvSpPr>
          <p:cNvPr id="6" name="Content Placeholder 2"/>
          <p:cNvSpPr txBox="1">
            <a:spLocks/>
          </p:cNvSpPr>
          <p:nvPr/>
        </p:nvSpPr>
        <p:spPr>
          <a:xfrm>
            <a:off x="8582741" y="5212309"/>
            <a:ext cx="3197087" cy="532656"/>
          </a:xfrm>
          <a:prstGeom prst="rect">
            <a:avLst/>
          </a:prstGeom>
        </p:spPr>
        <p:txBody>
          <a:bodyPr vert="horz" lIns="91440" tIns="45720" rIns="91440" bIns="45720" rtlCol="1">
            <a:no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he-IL" sz="3600" dirty="0"/>
              <a:t>2) כמה לייצר?</a:t>
            </a:r>
          </a:p>
        </p:txBody>
      </p:sp>
      <p:sp>
        <p:nvSpPr>
          <p:cNvPr id="7" name="Content Placeholder 2"/>
          <p:cNvSpPr txBox="1">
            <a:spLocks/>
          </p:cNvSpPr>
          <p:nvPr/>
        </p:nvSpPr>
        <p:spPr>
          <a:xfrm>
            <a:off x="4542545" y="1124385"/>
            <a:ext cx="2818656" cy="532656"/>
          </a:xfrm>
          <a:prstGeom prst="rect">
            <a:avLst/>
          </a:prstGeom>
        </p:spPr>
        <p:txBody>
          <a:bodyPr vert="horz" lIns="91440" tIns="45720" rIns="91440" bIns="45720" rtlCol="1">
            <a:normAutofit lnSpcReduction="10000"/>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he-IL" dirty="0"/>
              <a:t>באיזה טווח?</a:t>
            </a:r>
          </a:p>
        </p:txBody>
      </p:sp>
      <p:cxnSp>
        <p:nvCxnSpPr>
          <p:cNvPr id="9" name="Straight Arrow Connector 8"/>
          <p:cNvCxnSpPr>
            <a:cxnSpLocks/>
          </p:cNvCxnSpPr>
          <p:nvPr/>
        </p:nvCxnSpPr>
        <p:spPr>
          <a:xfrm>
            <a:off x="7009175" y="1738619"/>
            <a:ext cx="513420" cy="532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cxnSpLocks/>
          </p:cNvCxnSpPr>
          <p:nvPr/>
        </p:nvCxnSpPr>
        <p:spPr>
          <a:xfrm flipH="1">
            <a:off x="5619949" y="1680939"/>
            <a:ext cx="405409" cy="4997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657736" y="2211120"/>
            <a:ext cx="2600047" cy="369332"/>
          </a:xfrm>
          <a:prstGeom prst="rect">
            <a:avLst/>
          </a:prstGeom>
          <a:solidFill>
            <a:schemeClr val="tx2">
              <a:lumMod val="20000"/>
              <a:lumOff val="80000"/>
            </a:schemeClr>
          </a:solidFill>
        </p:spPr>
        <p:txBody>
          <a:bodyPr wrap="square" rtlCol="1">
            <a:spAutoFit/>
          </a:bodyPr>
          <a:lstStyle/>
          <a:p>
            <a:r>
              <a:rPr lang="he-IL" b="1" dirty="0"/>
              <a:t>טווח קצר </a:t>
            </a:r>
            <a:r>
              <a:rPr lang="he-IL" sz="1400" dirty="0"/>
              <a:t>(היצרן התחייב על </a:t>
            </a:r>
            <a:r>
              <a:rPr lang="en-US" sz="1400" dirty="0"/>
              <a:t>FC</a:t>
            </a:r>
            <a:r>
              <a:rPr lang="he-IL" sz="1400" dirty="0"/>
              <a:t>)</a:t>
            </a:r>
            <a:endParaRPr lang="he-IL" dirty="0"/>
          </a:p>
        </p:txBody>
      </p:sp>
      <p:sp>
        <p:nvSpPr>
          <p:cNvPr id="14" name="TextBox 13"/>
          <p:cNvSpPr txBox="1"/>
          <p:nvPr/>
        </p:nvSpPr>
        <p:spPr>
          <a:xfrm>
            <a:off x="2373046" y="2244683"/>
            <a:ext cx="3073903" cy="369332"/>
          </a:xfrm>
          <a:prstGeom prst="rect">
            <a:avLst/>
          </a:prstGeom>
          <a:solidFill>
            <a:schemeClr val="tx2">
              <a:lumMod val="20000"/>
              <a:lumOff val="80000"/>
            </a:schemeClr>
          </a:solidFill>
        </p:spPr>
        <p:txBody>
          <a:bodyPr wrap="square" rtlCol="1">
            <a:spAutoFit/>
          </a:bodyPr>
          <a:lstStyle/>
          <a:p>
            <a:r>
              <a:rPr lang="he-IL" b="1" dirty="0"/>
              <a:t>טווח ארוך </a:t>
            </a:r>
            <a:r>
              <a:rPr lang="he-IL" sz="1400" dirty="0"/>
              <a:t>(היצרן טרם התחייב על </a:t>
            </a:r>
            <a:r>
              <a:rPr lang="en-US" sz="1400" dirty="0"/>
              <a:t>FC</a:t>
            </a:r>
            <a:r>
              <a:rPr lang="he-IL" sz="1400" dirty="0"/>
              <a:t>)</a:t>
            </a:r>
            <a:endParaRPr lang="he-IL" dirty="0"/>
          </a:p>
        </p:txBody>
      </p:sp>
      <mc:AlternateContent xmlns:mc="http://schemas.openxmlformats.org/markup-compatibility/2006" xmlns:a14="http://schemas.microsoft.com/office/drawing/2010/main">
        <mc:Choice Requires="a14">
          <p:sp>
            <p:nvSpPr>
              <p:cNvPr id="15" name="מלבן 8">
                <a:extLst>
                  <a:ext uri="{FF2B5EF4-FFF2-40B4-BE49-F238E27FC236}">
                    <a16:creationId xmlns:a16="http://schemas.microsoft.com/office/drawing/2014/main" id="{5CDAAA4A-8CCC-49B8-9B71-D622A18D0D97}"/>
                  </a:ext>
                </a:extLst>
              </p:cNvPr>
              <p:cNvSpPr/>
              <p:nvPr/>
            </p:nvSpPr>
            <p:spPr>
              <a:xfrm>
                <a:off x="7091528" y="2775861"/>
                <a:ext cx="3705908" cy="933525"/>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50000"/>
                  </a:lnSpc>
                </a:pPr>
                <a:r>
                  <a:rPr lang="he-IL" sz="1400" b="1" dirty="0"/>
                  <a:t>ליצרן כדאי לייצר </a:t>
                </a:r>
                <a:r>
                  <a:rPr lang="he-IL" sz="1400" b="1" u="sng" dirty="0"/>
                  <a:t>בטווח הקצר</a:t>
                </a:r>
                <a:r>
                  <a:rPr lang="he-IL" sz="1400" b="1" dirty="0"/>
                  <a:t> כל עוד :</a:t>
                </a:r>
                <a:endParaRPr lang="he-IL" sz="1400" b="1" dirty="0">
                  <a:solidFill>
                    <a:srgbClr val="C00000"/>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he-IL" sz="2000" b="1">
                          <a:solidFill>
                            <a:srgbClr val="C00000"/>
                          </a:solidFill>
                          <a:latin typeface="Cambria Math" panose="02040503050406030204" pitchFamily="18" charset="0"/>
                        </a:rPr>
                        <m:t>תפעולי</m:t>
                      </m:r>
                      <m:r>
                        <a:rPr lang="he-IL" sz="2000" i="1">
                          <a:latin typeface="Cambria Math" panose="02040503050406030204" pitchFamily="18" charset="0"/>
                        </a:rPr>
                        <m:t>𝜋</m:t>
                      </m:r>
                      <m:r>
                        <a:rPr lang="he-IL" sz="2000">
                          <a:latin typeface="Cambria Math" panose="02040503050406030204" pitchFamily="18" charset="0"/>
                        </a:rPr>
                        <m:t>=</m:t>
                      </m:r>
                      <m:r>
                        <a:rPr lang="he-IL" sz="2000" b="1" i="0">
                          <a:latin typeface="Cambria Math" panose="02040503050406030204" pitchFamily="18" charset="0"/>
                        </a:rPr>
                        <m:t>𝐏</m:t>
                      </m:r>
                      <m:r>
                        <a:rPr lang="he-IL" sz="2000" b="1" i="0">
                          <a:latin typeface="Cambria Math" panose="02040503050406030204" pitchFamily="18" charset="0"/>
                        </a:rPr>
                        <m:t>⋅</m:t>
                      </m:r>
                      <m:r>
                        <a:rPr lang="en-US" sz="2000" b="1" i="0" smtClean="0">
                          <a:latin typeface="Cambria Math" panose="02040503050406030204" pitchFamily="18" charset="0"/>
                        </a:rPr>
                        <m:t>𝐗</m:t>
                      </m:r>
                      <m:r>
                        <a:rPr lang="he-IL" sz="2000" b="1" i="0">
                          <a:latin typeface="Cambria Math" panose="02040503050406030204" pitchFamily="18" charset="0"/>
                        </a:rPr>
                        <m:t>−</m:t>
                      </m:r>
                      <m:r>
                        <a:rPr lang="he-IL" sz="2000" b="1" i="0">
                          <a:latin typeface="Cambria Math" panose="02040503050406030204" pitchFamily="18" charset="0"/>
                        </a:rPr>
                        <m:t>𝐕𝐂</m:t>
                      </m:r>
                      <m:r>
                        <a:rPr lang="he-IL" sz="2000" b="1" i="0">
                          <a:latin typeface="Cambria Math" panose="02040503050406030204" pitchFamily="18" charset="0"/>
                        </a:rPr>
                        <m:t>(</m:t>
                      </m:r>
                      <m:r>
                        <a:rPr lang="en-US" sz="2000" b="1" i="0" smtClean="0">
                          <a:latin typeface="Cambria Math" panose="02040503050406030204" pitchFamily="18" charset="0"/>
                        </a:rPr>
                        <m:t>𝐗</m:t>
                      </m:r>
                      <m:r>
                        <a:rPr lang="he-IL" sz="2000" b="1" i="0">
                          <a:latin typeface="Cambria Math" panose="02040503050406030204" pitchFamily="18" charset="0"/>
                        </a:rPr>
                        <m:t>)≥</m:t>
                      </m:r>
                      <m:r>
                        <a:rPr lang="he-IL" sz="2000" b="1" i="0">
                          <a:latin typeface="Cambria Math" panose="02040503050406030204" pitchFamily="18" charset="0"/>
                        </a:rPr>
                        <m:t>𝟎</m:t>
                      </m:r>
                    </m:oMath>
                  </m:oMathPara>
                </a14:m>
                <a:endParaRPr lang="he-IL" b="1" dirty="0"/>
              </a:p>
            </p:txBody>
          </p:sp>
        </mc:Choice>
        <mc:Fallback xmlns="">
          <p:sp>
            <p:nvSpPr>
              <p:cNvPr id="15" name="מלבן 8">
                <a:extLst>
                  <a:ext uri="{FF2B5EF4-FFF2-40B4-BE49-F238E27FC236}">
                    <a16:creationId xmlns:a16="http://schemas.microsoft.com/office/drawing/2014/main" id="{5CDAAA4A-8CCC-49B8-9B71-D622A18D0D97}"/>
                  </a:ext>
                </a:extLst>
              </p:cNvPr>
              <p:cNvSpPr>
                <a:spLocks noRot="1" noChangeAspect="1" noMove="1" noResize="1" noEditPoints="1" noAdjustHandles="1" noChangeArrowheads="1" noChangeShapeType="1" noTextEdit="1"/>
              </p:cNvSpPr>
              <p:nvPr/>
            </p:nvSpPr>
            <p:spPr>
              <a:xfrm>
                <a:off x="7091528" y="2775861"/>
                <a:ext cx="3705908" cy="933525"/>
              </a:xfrm>
              <a:prstGeom prst="rect">
                <a:avLst/>
              </a:prstGeom>
              <a:blipFill>
                <a:blip r:embed="rId2"/>
                <a:stretch>
                  <a:fillRect r="-328"/>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16" name="מלבן 8">
                <a:extLst>
                  <a:ext uri="{FF2B5EF4-FFF2-40B4-BE49-F238E27FC236}">
                    <a16:creationId xmlns:a16="http://schemas.microsoft.com/office/drawing/2014/main" id="{164FD5D2-CCCF-48F5-83F2-F4A97A8AD701}"/>
                  </a:ext>
                </a:extLst>
              </p:cNvPr>
              <p:cNvSpPr/>
              <p:nvPr/>
            </p:nvSpPr>
            <p:spPr>
              <a:xfrm>
                <a:off x="2135560" y="2764984"/>
                <a:ext cx="4032448" cy="933525"/>
              </a:xfrm>
              <a:prstGeom prst="rect">
                <a:avLst/>
              </a:prstGeom>
              <a:solidFill>
                <a:schemeClr val="accent2">
                  <a:lumMod val="20000"/>
                  <a:lumOff val="80000"/>
                </a:schemeClr>
              </a:solidFill>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50000"/>
                  </a:lnSpc>
                </a:pPr>
                <a:r>
                  <a:rPr lang="he-IL" sz="1400" b="1" dirty="0"/>
                  <a:t>ליצרן כדאי לייצר </a:t>
                </a:r>
                <a:r>
                  <a:rPr lang="he-IL" sz="1400" b="1" u="sng" dirty="0"/>
                  <a:t>בטווח הארוך </a:t>
                </a:r>
                <a:r>
                  <a:rPr lang="he-IL" sz="1400" b="1" dirty="0"/>
                  <a:t>כל עוד :</a:t>
                </a:r>
                <a:endParaRPr lang="he-IL" sz="1400" b="1" dirty="0">
                  <a:solidFill>
                    <a:srgbClr val="C00000"/>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he-IL" sz="2000" b="1">
                          <a:solidFill>
                            <a:srgbClr val="C00000"/>
                          </a:solidFill>
                          <a:latin typeface="Cambria Math" panose="02040503050406030204" pitchFamily="18" charset="0"/>
                        </a:rPr>
                        <m:t>נקי</m:t>
                      </m:r>
                      <m:r>
                        <a:rPr lang="he-IL" sz="2000" b="1">
                          <a:solidFill>
                            <a:srgbClr val="C00000"/>
                          </a:solidFill>
                          <a:latin typeface="Cambria Math" panose="02040503050406030204" pitchFamily="18" charset="0"/>
                        </a:rPr>
                        <m:t>/</m:t>
                      </m:r>
                      <m:r>
                        <a:rPr lang="he-IL" sz="2000" b="1">
                          <a:solidFill>
                            <a:srgbClr val="C00000"/>
                          </a:solidFill>
                          <a:latin typeface="Cambria Math" panose="02040503050406030204" pitchFamily="18" charset="0"/>
                        </a:rPr>
                        <m:t>כולל</m:t>
                      </m:r>
                      <m:r>
                        <a:rPr lang="he-IL" sz="2000" i="1">
                          <a:latin typeface="Cambria Math" panose="02040503050406030204" pitchFamily="18" charset="0"/>
                        </a:rPr>
                        <m:t>𝜋</m:t>
                      </m:r>
                      <m:r>
                        <a:rPr lang="he-IL" sz="2000">
                          <a:latin typeface="Cambria Math" panose="02040503050406030204" pitchFamily="18" charset="0"/>
                        </a:rPr>
                        <m:t>=</m:t>
                      </m:r>
                      <m:r>
                        <a:rPr lang="he-IL" sz="2000" b="1">
                          <a:latin typeface="Cambria Math" panose="02040503050406030204" pitchFamily="18" charset="0"/>
                        </a:rPr>
                        <m:t>𝐏</m:t>
                      </m:r>
                      <m:r>
                        <a:rPr lang="he-IL" sz="2000" b="1">
                          <a:latin typeface="Cambria Math" panose="02040503050406030204" pitchFamily="18" charset="0"/>
                        </a:rPr>
                        <m:t>⋅</m:t>
                      </m:r>
                      <m:r>
                        <a:rPr lang="en-US" sz="2000" b="1" i="0" smtClean="0">
                          <a:latin typeface="Cambria Math" panose="02040503050406030204" pitchFamily="18" charset="0"/>
                        </a:rPr>
                        <m:t>𝐗</m:t>
                      </m:r>
                      <m:r>
                        <a:rPr lang="he-IL" sz="2000" b="1">
                          <a:latin typeface="Cambria Math" panose="02040503050406030204" pitchFamily="18" charset="0"/>
                        </a:rPr>
                        <m:t>−</m:t>
                      </m:r>
                      <m:r>
                        <a:rPr lang="en-US" sz="2000" b="1">
                          <a:latin typeface="Cambria Math" panose="02040503050406030204" pitchFamily="18" charset="0"/>
                        </a:rPr>
                        <m:t>𝐓</m:t>
                      </m:r>
                      <m:r>
                        <a:rPr lang="he-IL" sz="2000" b="1">
                          <a:latin typeface="Cambria Math" panose="02040503050406030204" pitchFamily="18" charset="0"/>
                        </a:rPr>
                        <m:t>𝐂</m:t>
                      </m:r>
                      <m:r>
                        <a:rPr lang="he-IL" sz="2000" b="1">
                          <a:latin typeface="Cambria Math" panose="02040503050406030204" pitchFamily="18" charset="0"/>
                        </a:rPr>
                        <m:t>(</m:t>
                      </m:r>
                      <m:r>
                        <a:rPr lang="en-US" sz="2000" b="1" i="0" smtClean="0">
                          <a:latin typeface="Cambria Math" panose="02040503050406030204" pitchFamily="18" charset="0"/>
                        </a:rPr>
                        <m:t>𝐗</m:t>
                      </m:r>
                      <m:r>
                        <a:rPr lang="he-IL" sz="2000" b="1">
                          <a:latin typeface="Cambria Math" panose="02040503050406030204" pitchFamily="18" charset="0"/>
                        </a:rPr>
                        <m:t>)</m:t>
                      </m:r>
                      <m:r>
                        <a:rPr lang="he-IL" sz="2000">
                          <a:latin typeface="Cambria Math" panose="02040503050406030204" pitchFamily="18" charset="0"/>
                        </a:rPr>
                        <m:t>≥</m:t>
                      </m:r>
                      <m:r>
                        <a:rPr lang="he-IL" sz="2000">
                          <a:latin typeface="Cambria Math" panose="02040503050406030204" pitchFamily="18" charset="0"/>
                        </a:rPr>
                        <m:t>0</m:t>
                      </m:r>
                    </m:oMath>
                  </m:oMathPara>
                </a14:m>
                <a:endParaRPr lang="he-IL" dirty="0"/>
              </a:p>
            </p:txBody>
          </p:sp>
        </mc:Choice>
        <mc:Fallback xmlns="">
          <p:sp>
            <p:nvSpPr>
              <p:cNvPr id="16" name="מלבן 8">
                <a:extLst>
                  <a:ext uri="{FF2B5EF4-FFF2-40B4-BE49-F238E27FC236}">
                    <a16:creationId xmlns:a16="http://schemas.microsoft.com/office/drawing/2014/main" id="{164FD5D2-CCCF-48F5-83F2-F4A97A8AD701}"/>
                  </a:ext>
                </a:extLst>
              </p:cNvPr>
              <p:cNvSpPr>
                <a:spLocks noRot="1" noChangeAspect="1" noMove="1" noResize="1" noEditPoints="1" noAdjustHandles="1" noChangeArrowheads="1" noChangeShapeType="1" noTextEdit="1"/>
              </p:cNvSpPr>
              <p:nvPr/>
            </p:nvSpPr>
            <p:spPr>
              <a:xfrm>
                <a:off x="2135560" y="2764984"/>
                <a:ext cx="4032448" cy="933525"/>
              </a:xfrm>
              <a:prstGeom prst="rect">
                <a:avLst/>
              </a:prstGeom>
              <a:blipFill>
                <a:blip r:embed="rId3"/>
                <a:stretch>
                  <a:fillRect r="-151"/>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1971509" y="5260596"/>
                <a:ext cx="5080629" cy="669094"/>
              </a:xfrm>
              <a:prstGeom prst="rect">
                <a:avLst/>
              </a:prstGeom>
              <a:solidFill>
                <a:srgbClr val="FFC000"/>
              </a:solidFill>
            </p:spPr>
            <p:txBody>
              <a:bodyPr wrap="square">
                <a:spAutoFit/>
              </a:bodyPr>
              <a:lstStyle/>
              <a:p>
                <a:pPr>
                  <a:lnSpc>
                    <a:spcPct val="150000"/>
                  </a:lnSpc>
                </a:pPr>
                <a14:m>
                  <m:oMath xmlns:m="http://schemas.openxmlformats.org/officeDocument/2006/math">
                    <m:r>
                      <a:rPr lang="he-IL" sz="2800" b="1" i="1">
                        <a:latin typeface="Cambria Math" panose="02040503050406030204" pitchFamily="18" charset="0"/>
                      </a:rPr>
                      <m:t>𝑷</m:t>
                    </m:r>
                    <m:r>
                      <m:rPr>
                        <m:nor/>
                      </m:rPr>
                      <a:rPr lang="he-IL" sz="2800" b="1">
                        <a:latin typeface="Cambria Math" panose="02040503050406030204" pitchFamily="18" charset="0"/>
                      </a:rPr>
                      <m:t> </m:t>
                    </m:r>
                    <m:r>
                      <m:rPr>
                        <m:nor/>
                      </m:rPr>
                      <a:rPr lang="en-US" sz="2800" b="1" dirty="0"/>
                      <m:t>≥</m:t>
                    </m:r>
                  </m:oMath>
                </a14:m>
                <a:r>
                  <a:rPr lang="en-US" sz="2800" b="1" dirty="0"/>
                  <a:t>MC</a:t>
                </a:r>
                <a:endParaRPr lang="he-IL" sz="2800" b="1" dirty="0"/>
              </a:p>
            </p:txBody>
          </p:sp>
        </mc:Choice>
        <mc:Fallback xmlns="">
          <p:sp>
            <p:nvSpPr>
              <p:cNvPr id="19" name="Rectangle 18"/>
              <p:cNvSpPr>
                <a:spLocks noRot="1" noChangeAspect="1" noMove="1" noResize="1" noEditPoints="1" noAdjustHandles="1" noChangeArrowheads="1" noChangeShapeType="1" noTextEdit="1"/>
              </p:cNvSpPr>
              <p:nvPr/>
            </p:nvSpPr>
            <p:spPr>
              <a:xfrm>
                <a:off x="1971509" y="5260596"/>
                <a:ext cx="5080629" cy="669094"/>
              </a:xfrm>
              <a:prstGeom prst="rect">
                <a:avLst/>
              </a:prstGeom>
              <a:blipFill>
                <a:blip r:embed="rId4"/>
                <a:stretch>
                  <a:fillRect r="-2518" b="-25455"/>
                </a:stretch>
              </a:blipFill>
            </p:spPr>
            <p:txBody>
              <a:bodyPr/>
              <a:lstStyle/>
              <a:p>
                <a:r>
                  <a:rPr lang="en-IL">
                    <a:noFill/>
                  </a:rPr>
                  <a:t> </a:t>
                </a:r>
              </a:p>
            </p:txBody>
          </p:sp>
        </mc:Fallback>
      </mc:AlternateContent>
      <p:sp>
        <p:nvSpPr>
          <p:cNvPr id="21" name="TextBox 20"/>
          <p:cNvSpPr txBox="1"/>
          <p:nvPr/>
        </p:nvSpPr>
        <p:spPr>
          <a:xfrm>
            <a:off x="3253259" y="3973607"/>
            <a:ext cx="1846958" cy="461665"/>
          </a:xfrm>
          <a:prstGeom prst="rect">
            <a:avLst/>
          </a:prstGeom>
          <a:solidFill>
            <a:srgbClr val="FFFF00"/>
          </a:solidFill>
        </p:spPr>
        <p:txBody>
          <a:bodyPr wrap="square" rtlCol="1">
            <a:spAutoFit/>
          </a:bodyPr>
          <a:lstStyle/>
          <a:p>
            <a:r>
              <a:rPr lang="en-US" sz="2400" dirty="0"/>
              <a:t>P ≥ min ATC</a:t>
            </a:r>
            <a:endParaRPr lang="he-IL" sz="2400" dirty="0"/>
          </a:p>
        </p:txBody>
      </p:sp>
      <p:sp>
        <p:nvSpPr>
          <p:cNvPr id="22" name="TextBox 21"/>
          <p:cNvSpPr txBox="1"/>
          <p:nvPr/>
        </p:nvSpPr>
        <p:spPr>
          <a:xfrm>
            <a:off x="7685347" y="3973607"/>
            <a:ext cx="1846959" cy="461665"/>
          </a:xfrm>
          <a:prstGeom prst="rect">
            <a:avLst/>
          </a:prstGeom>
          <a:solidFill>
            <a:srgbClr val="FFFF00"/>
          </a:solidFill>
        </p:spPr>
        <p:txBody>
          <a:bodyPr wrap="square" rtlCol="1">
            <a:spAutoFit/>
          </a:bodyPr>
          <a:lstStyle/>
          <a:p>
            <a:r>
              <a:rPr lang="en-US" sz="2400" dirty="0"/>
              <a:t>P≥ min AVC</a:t>
            </a:r>
            <a:endParaRPr lang="he-IL" sz="2400" dirty="0"/>
          </a:p>
        </p:txBody>
      </p:sp>
      <p:sp>
        <p:nvSpPr>
          <p:cNvPr id="8" name="Slide Number Placeholder 7">
            <a:extLst>
              <a:ext uri="{FF2B5EF4-FFF2-40B4-BE49-F238E27FC236}">
                <a16:creationId xmlns:a16="http://schemas.microsoft.com/office/drawing/2014/main" id="{3077224B-F8F2-4488-A56F-141888D00D85}"/>
              </a:ext>
            </a:extLst>
          </p:cNvPr>
          <p:cNvSpPr>
            <a:spLocks noGrp="1"/>
          </p:cNvSpPr>
          <p:nvPr>
            <p:ph type="sldNum" sz="quarter" idx="12"/>
          </p:nvPr>
        </p:nvSpPr>
        <p:spPr/>
        <p:txBody>
          <a:bodyPr/>
          <a:lstStyle/>
          <a:p>
            <a:fld id="{492DB488-E800-4C9D-A68D-A9C6D048BCD3}" type="slidenum">
              <a:rPr lang="he-IL" smtClean="0"/>
              <a:pPr/>
              <a:t>4</a:t>
            </a:fld>
            <a:endParaRPr lang="he-IL"/>
          </a:p>
        </p:txBody>
      </p:sp>
      <p:sp>
        <p:nvSpPr>
          <p:cNvPr id="5" name="TextBox 4">
            <a:extLst>
              <a:ext uri="{FF2B5EF4-FFF2-40B4-BE49-F238E27FC236}">
                <a16:creationId xmlns:a16="http://schemas.microsoft.com/office/drawing/2014/main" id="{CF98886A-0E43-4726-9AD8-D4943663F88B}"/>
              </a:ext>
            </a:extLst>
          </p:cNvPr>
          <p:cNvSpPr txBox="1"/>
          <p:nvPr/>
        </p:nvSpPr>
        <p:spPr>
          <a:xfrm>
            <a:off x="1919425" y="5478637"/>
            <a:ext cx="4032448" cy="369332"/>
          </a:xfrm>
          <a:prstGeom prst="rect">
            <a:avLst/>
          </a:prstGeom>
          <a:noFill/>
        </p:spPr>
        <p:txBody>
          <a:bodyPr wrap="square" rtlCol="0">
            <a:spAutoFit/>
          </a:bodyPr>
          <a:lstStyle/>
          <a:p>
            <a:r>
              <a:rPr lang="he-IL" dirty="0"/>
              <a:t>וכל עוד העלות השולית אינה במגמת ירידה</a:t>
            </a:r>
            <a:endParaRPr lang="en-IL" dirty="0"/>
          </a:p>
        </p:txBody>
      </p:sp>
    </p:spTree>
    <p:extLst>
      <p:ext uri="{BB962C8B-B14F-4D97-AF65-F5344CB8AC3E}">
        <p14:creationId xmlns:p14="http://schemas.microsoft.com/office/powerpoint/2010/main" val="3479772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ircle(in)">
                                      <p:cBhvr>
                                        <p:cTn id="22" dur="2000"/>
                                        <p:tgtEl>
                                          <p:spTgt spid="9"/>
                                        </p:tgtEl>
                                      </p:cBhvr>
                                    </p:animEffect>
                                  </p:childTnLst>
                                </p:cTn>
                              </p:par>
                              <p:par>
                                <p:cTn id="23" presetID="6" presetClass="entr" presetSubtype="16"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circle(in)">
                                      <p:cBhvr>
                                        <p:cTn id="25" dur="2000"/>
                                        <p:tgtEl>
                                          <p:spTgt spid="10"/>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circle(in)">
                                      <p:cBhvr>
                                        <p:cTn id="28" dur="2000"/>
                                        <p:tgtEl>
                                          <p:spTgt spid="13"/>
                                        </p:tgtEl>
                                      </p:cBhvr>
                                    </p:animEffect>
                                  </p:childTnLst>
                                </p:cTn>
                              </p:par>
                              <p:par>
                                <p:cTn id="29" presetID="6" presetClass="entr" presetSubtype="16"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circle(in)">
                                      <p:cBhvr>
                                        <p:cTn id="31" dur="20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barn(inVertical)">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randombar(horizontal)">
                                      <p:cBhvr>
                                        <p:cTn id="46" dur="500"/>
                                        <p:tgtEl>
                                          <p:spTgt spid="21"/>
                                        </p:tgtEl>
                                      </p:cBhvr>
                                    </p:animEffect>
                                  </p:childTnLst>
                                </p:cTn>
                              </p:par>
                              <p:par>
                                <p:cTn id="47" presetID="14" presetClass="entr" presetSubtype="1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randombar(horizontal)">
                                      <p:cBhvr>
                                        <p:cTn id="49" dur="50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31" presetClass="entr" presetSubtype="0"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p:cTn id="54" dur="1000" fill="hold"/>
                                        <p:tgtEl>
                                          <p:spTgt spid="19"/>
                                        </p:tgtEl>
                                        <p:attrNameLst>
                                          <p:attrName>ppt_w</p:attrName>
                                        </p:attrNameLst>
                                      </p:cBhvr>
                                      <p:tavLst>
                                        <p:tav tm="0">
                                          <p:val>
                                            <p:fltVal val="0"/>
                                          </p:val>
                                        </p:tav>
                                        <p:tav tm="100000">
                                          <p:val>
                                            <p:strVal val="#ppt_w"/>
                                          </p:val>
                                        </p:tav>
                                      </p:tavLst>
                                    </p:anim>
                                    <p:anim calcmode="lin" valueType="num">
                                      <p:cBhvr>
                                        <p:cTn id="55" dur="1000" fill="hold"/>
                                        <p:tgtEl>
                                          <p:spTgt spid="19"/>
                                        </p:tgtEl>
                                        <p:attrNameLst>
                                          <p:attrName>ppt_h</p:attrName>
                                        </p:attrNameLst>
                                      </p:cBhvr>
                                      <p:tavLst>
                                        <p:tav tm="0">
                                          <p:val>
                                            <p:fltVal val="0"/>
                                          </p:val>
                                        </p:tav>
                                        <p:tav tm="100000">
                                          <p:val>
                                            <p:strVal val="#ppt_h"/>
                                          </p:val>
                                        </p:tav>
                                      </p:tavLst>
                                    </p:anim>
                                    <p:anim calcmode="lin" valueType="num">
                                      <p:cBhvr>
                                        <p:cTn id="56" dur="1000" fill="hold"/>
                                        <p:tgtEl>
                                          <p:spTgt spid="19"/>
                                        </p:tgtEl>
                                        <p:attrNameLst>
                                          <p:attrName>style.rotation</p:attrName>
                                        </p:attrNameLst>
                                      </p:cBhvr>
                                      <p:tavLst>
                                        <p:tav tm="0">
                                          <p:val>
                                            <p:fltVal val="90"/>
                                          </p:val>
                                        </p:tav>
                                        <p:tav tm="100000">
                                          <p:val>
                                            <p:fltVal val="0"/>
                                          </p:val>
                                        </p:tav>
                                      </p:tavLst>
                                    </p:anim>
                                    <p:animEffect transition="in" filter="fade">
                                      <p:cBhvr>
                                        <p:cTn id="57" dur="10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fade">
                                      <p:cBhvr>
                                        <p:cTn id="6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13" grpId="0" animBg="1"/>
      <p:bldP spid="14" grpId="0" animBg="1"/>
      <p:bldP spid="15" grpId="0" animBg="1"/>
      <p:bldP spid="16" grpId="0" animBg="1"/>
      <p:bldP spid="19" grpId="0" animBg="1"/>
      <p:bldP spid="21" grpId="0" animBg="1"/>
      <p:bldP spid="22" grpId="0" animBg="1"/>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62400" y="77898"/>
            <a:ext cx="8229600" cy="634082"/>
          </a:xfrm>
        </p:spPr>
        <p:txBody>
          <a:bodyPr>
            <a:normAutofit fontScale="90000"/>
          </a:bodyPr>
          <a:lstStyle/>
          <a:p>
            <a:r>
              <a:rPr lang="he-IL" dirty="0"/>
              <a:t>החלטות ייצור</a:t>
            </a:r>
          </a:p>
        </p:txBody>
      </p:sp>
      <p:sp>
        <p:nvSpPr>
          <p:cNvPr id="3" name="Content Placeholder 2"/>
          <p:cNvSpPr>
            <a:spLocks noGrp="1"/>
          </p:cNvSpPr>
          <p:nvPr>
            <p:ph idx="1"/>
          </p:nvPr>
        </p:nvSpPr>
        <p:spPr>
          <a:xfrm>
            <a:off x="1677386" y="1102648"/>
            <a:ext cx="9408148" cy="532656"/>
          </a:xfrm>
          <a:solidFill>
            <a:schemeClr val="bg2"/>
          </a:solidFill>
        </p:spPr>
        <p:txBody>
          <a:bodyPr>
            <a:noAutofit/>
          </a:bodyPr>
          <a:lstStyle/>
          <a:p>
            <a:pPr marL="0" indent="0" algn="ctr">
              <a:buNone/>
            </a:pPr>
            <a:r>
              <a:rPr lang="he-IL" dirty="0"/>
              <a:t>מהו מחיר השוק המינימלי עבורו היצרן יחליט לייצר כמות חיובית?</a:t>
            </a:r>
          </a:p>
        </p:txBody>
      </p:sp>
      <p:sp>
        <p:nvSpPr>
          <p:cNvPr id="4" name="Date Placeholder 3"/>
          <p:cNvSpPr>
            <a:spLocks noGrp="1"/>
          </p:cNvSpPr>
          <p:nvPr>
            <p:ph type="dt" sz="half" idx="10"/>
          </p:nvPr>
        </p:nvSpPr>
        <p:spPr/>
        <p:txBody>
          <a:bodyPr/>
          <a:lstStyle/>
          <a:p>
            <a:fld id="{729C354B-15A3-4B18-AE9F-1D3ADC3D6B7F}" type="datetime8">
              <a:rPr lang="he-IL" smtClean="0">
                <a:solidFill>
                  <a:prstClr val="black">
                    <a:tint val="75000"/>
                  </a:prstClr>
                </a:solidFill>
              </a:rPr>
              <a:t>03 ינואר 26</a:t>
            </a:fld>
            <a:endParaRPr lang="he-IL">
              <a:solidFill>
                <a:prstClr val="black">
                  <a:tint val="75000"/>
                </a:prstClr>
              </a:solidFill>
            </a:endParaRPr>
          </a:p>
        </p:txBody>
      </p:sp>
      <p:sp>
        <p:nvSpPr>
          <p:cNvPr id="7" name="Content Placeholder 2"/>
          <p:cNvSpPr txBox="1">
            <a:spLocks/>
          </p:cNvSpPr>
          <p:nvPr/>
        </p:nvSpPr>
        <p:spPr>
          <a:xfrm>
            <a:off x="4256720" y="2514850"/>
            <a:ext cx="2818656" cy="532656"/>
          </a:xfrm>
          <a:prstGeom prst="rect">
            <a:avLst/>
          </a:prstGeom>
        </p:spPr>
        <p:txBody>
          <a:bodyPr vert="horz" lIns="91440" tIns="45720" rIns="91440" bIns="45720" rtlCol="1">
            <a:normAutofit lnSpcReduction="10000"/>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he-IL" dirty="0"/>
              <a:t>באיזה טווח?</a:t>
            </a:r>
          </a:p>
        </p:txBody>
      </p:sp>
      <p:cxnSp>
        <p:nvCxnSpPr>
          <p:cNvPr id="9" name="Straight Arrow Connector 8"/>
          <p:cNvCxnSpPr>
            <a:cxnSpLocks/>
          </p:cNvCxnSpPr>
          <p:nvPr/>
        </p:nvCxnSpPr>
        <p:spPr>
          <a:xfrm>
            <a:off x="6719022" y="3181989"/>
            <a:ext cx="513420" cy="532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cxnSpLocks/>
          </p:cNvCxnSpPr>
          <p:nvPr/>
        </p:nvCxnSpPr>
        <p:spPr>
          <a:xfrm flipH="1">
            <a:off x="5069706" y="3151844"/>
            <a:ext cx="405409" cy="4997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232442" y="3849129"/>
            <a:ext cx="2600047" cy="369332"/>
          </a:xfrm>
          <a:prstGeom prst="rect">
            <a:avLst/>
          </a:prstGeom>
          <a:solidFill>
            <a:schemeClr val="tx2">
              <a:lumMod val="20000"/>
              <a:lumOff val="80000"/>
            </a:schemeClr>
          </a:solidFill>
        </p:spPr>
        <p:txBody>
          <a:bodyPr wrap="square" rtlCol="1">
            <a:spAutoFit/>
          </a:bodyPr>
          <a:lstStyle/>
          <a:p>
            <a:r>
              <a:rPr lang="he-IL" b="1" dirty="0"/>
              <a:t>טווח קצר </a:t>
            </a:r>
            <a:r>
              <a:rPr lang="he-IL" sz="1400" dirty="0"/>
              <a:t>(היצרן התחייב על </a:t>
            </a:r>
            <a:r>
              <a:rPr lang="en-US" sz="1400" dirty="0"/>
              <a:t>FC</a:t>
            </a:r>
            <a:r>
              <a:rPr lang="he-IL" sz="1400" dirty="0"/>
              <a:t>)</a:t>
            </a:r>
            <a:endParaRPr lang="he-IL" dirty="0"/>
          </a:p>
        </p:txBody>
      </p:sp>
      <p:sp>
        <p:nvSpPr>
          <p:cNvPr id="14" name="TextBox 13"/>
          <p:cNvSpPr txBox="1"/>
          <p:nvPr/>
        </p:nvSpPr>
        <p:spPr>
          <a:xfrm>
            <a:off x="2036805" y="3849129"/>
            <a:ext cx="3073903" cy="369332"/>
          </a:xfrm>
          <a:prstGeom prst="rect">
            <a:avLst/>
          </a:prstGeom>
          <a:solidFill>
            <a:schemeClr val="tx2">
              <a:lumMod val="20000"/>
              <a:lumOff val="80000"/>
            </a:schemeClr>
          </a:solidFill>
        </p:spPr>
        <p:txBody>
          <a:bodyPr wrap="square" rtlCol="1">
            <a:spAutoFit/>
          </a:bodyPr>
          <a:lstStyle/>
          <a:p>
            <a:r>
              <a:rPr lang="he-IL" b="1" dirty="0"/>
              <a:t>טווח ארוך </a:t>
            </a:r>
            <a:r>
              <a:rPr lang="he-IL" sz="1400" dirty="0"/>
              <a:t>(היצרן טרם התחייב על </a:t>
            </a:r>
            <a:r>
              <a:rPr lang="en-US" sz="1400" dirty="0"/>
              <a:t>FC</a:t>
            </a:r>
            <a:r>
              <a:rPr lang="he-IL" sz="1400" dirty="0"/>
              <a:t>)</a:t>
            </a:r>
            <a:endParaRPr lang="he-IL" dirty="0"/>
          </a:p>
        </p:txBody>
      </p:sp>
      <p:sp>
        <p:nvSpPr>
          <p:cNvPr id="21" name="TextBox 20"/>
          <p:cNvSpPr txBox="1"/>
          <p:nvPr/>
        </p:nvSpPr>
        <p:spPr>
          <a:xfrm>
            <a:off x="2789312" y="4415956"/>
            <a:ext cx="1584176" cy="400110"/>
          </a:xfrm>
          <a:prstGeom prst="rect">
            <a:avLst/>
          </a:prstGeom>
          <a:solidFill>
            <a:srgbClr val="FFFF00"/>
          </a:solidFill>
        </p:spPr>
        <p:txBody>
          <a:bodyPr wrap="square" rtlCol="1">
            <a:spAutoFit/>
          </a:bodyPr>
          <a:lstStyle/>
          <a:p>
            <a:r>
              <a:rPr lang="en-US" sz="2000" b="1" dirty="0"/>
              <a:t>P ≥ min ATC</a:t>
            </a:r>
            <a:endParaRPr lang="he-IL" sz="2000" b="1" dirty="0"/>
          </a:p>
        </p:txBody>
      </p:sp>
      <p:sp>
        <p:nvSpPr>
          <p:cNvPr id="22" name="TextBox 21"/>
          <p:cNvSpPr txBox="1"/>
          <p:nvPr/>
        </p:nvSpPr>
        <p:spPr>
          <a:xfrm>
            <a:off x="7640402" y="4506615"/>
            <a:ext cx="1584176" cy="400110"/>
          </a:xfrm>
          <a:prstGeom prst="rect">
            <a:avLst/>
          </a:prstGeom>
          <a:solidFill>
            <a:srgbClr val="FFFF00"/>
          </a:solidFill>
        </p:spPr>
        <p:txBody>
          <a:bodyPr wrap="square" rtlCol="1">
            <a:spAutoFit/>
          </a:bodyPr>
          <a:lstStyle/>
          <a:p>
            <a:r>
              <a:rPr lang="en-US" sz="2000" b="1" dirty="0"/>
              <a:t>P≥</a:t>
            </a:r>
            <a:r>
              <a:rPr lang="en-US" dirty="0"/>
              <a:t> </a:t>
            </a:r>
            <a:r>
              <a:rPr lang="en-US" sz="2000" b="1" dirty="0"/>
              <a:t>min AVC</a:t>
            </a:r>
            <a:endParaRPr lang="he-IL" b="1" dirty="0"/>
          </a:p>
        </p:txBody>
      </p:sp>
      <p:sp>
        <p:nvSpPr>
          <p:cNvPr id="8" name="Slide Number Placeholder 7">
            <a:extLst>
              <a:ext uri="{FF2B5EF4-FFF2-40B4-BE49-F238E27FC236}">
                <a16:creationId xmlns:a16="http://schemas.microsoft.com/office/drawing/2014/main" id="{3077224B-F8F2-4488-A56F-141888D00D85}"/>
              </a:ext>
            </a:extLst>
          </p:cNvPr>
          <p:cNvSpPr>
            <a:spLocks noGrp="1"/>
          </p:cNvSpPr>
          <p:nvPr>
            <p:ph type="sldNum" sz="quarter" idx="12"/>
          </p:nvPr>
        </p:nvSpPr>
        <p:spPr/>
        <p:txBody>
          <a:bodyPr/>
          <a:lstStyle/>
          <a:p>
            <a:fld id="{492DB488-E800-4C9D-A68D-A9C6D048BCD3}" type="slidenum">
              <a:rPr lang="he-IL" smtClean="0"/>
              <a:pPr/>
              <a:t>5</a:t>
            </a:fld>
            <a:endParaRPr lang="he-IL"/>
          </a:p>
        </p:txBody>
      </p:sp>
    </p:spTree>
    <p:extLst>
      <p:ext uri="{BB962C8B-B14F-4D97-AF65-F5344CB8AC3E}">
        <p14:creationId xmlns:p14="http://schemas.microsoft.com/office/powerpoint/2010/main" val="3196531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par>
                                <p:cTn id="18" presetID="6" presetClass="entr" presetSubtype="16"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circle(in)">
                                      <p:cBhvr>
                                        <p:cTn id="20" dur="2000"/>
                                        <p:tgtEl>
                                          <p:spTgt spid="10"/>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circle(in)">
                                      <p:cBhvr>
                                        <p:cTn id="23" dur="2000"/>
                                        <p:tgtEl>
                                          <p:spTgt spid="13"/>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circle(in)">
                                      <p:cBhvr>
                                        <p:cTn id="26" dur="20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randombar(horizontal)">
                                      <p:cBhvr>
                                        <p:cTn id="31" dur="500"/>
                                        <p:tgtEl>
                                          <p:spTgt spid="21"/>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randombar(horizontal)">
                                      <p:cBhvr>
                                        <p:cTn id="3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P spid="13" grpId="0" animBg="1"/>
      <p:bldP spid="14" grpId="0" animBg="1"/>
      <p:bldP spid="21"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מציין מיקום תוכן 6"/>
          <p:cNvGraphicFramePr>
            <a:graphicFrameLocks noGrp="1"/>
          </p:cNvGraphicFramePr>
          <p:nvPr>
            <p:ph idx="1"/>
          </p:nvPr>
        </p:nvGraphicFramePr>
        <p:xfrm>
          <a:off x="1981200" y="2003626"/>
          <a:ext cx="8075240" cy="3354201"/>
        </p:xfrm>
        <a:graphic>
          <a:graphicData uri="http://schemas.openxmlformats.org/drawingml/2006/table">
            <a:tbl>
              <a:tblPr rtl="1" firstRow="1" bandRow="1">
                <a:tableStyleId>{2D5ABB26-0587-4C30-8999-92F81FD0307C}</a:tableStyleId>
              </a:tblPr>
              <a:tblGrid>
                <a:gridCol w="2018810">
                  <a:extLst>
                    <a:ext uri="{9D8B030D-6E8A-4147-A177-3AD203B41FA5}">
                      <a16:colId xmlns:a16="http://schemas.microsoft.com/office/drawing/2014/main" val="20000"/>
                    </a:ext>
                  </a:extLst>
                </a:gridCol>
                <a:gridCol w="2018810">
                  <a:extLst>
                    <a:ext uri="{9D8B030D-6E8A-4147-A177-3AD203B41FA5}">
                      <a16:colId xmlns:a16="http://schemas.microsoft.com/office/drawing/2014/main" val="20001"/>
                    </a:ext>
                  </a:extLst>
                </a:gridCol>
                <a:gridCol w="2018810">
                  <a:extLst>
                    <a:ext uri="{9D8B030D-6E8A-4147-A177-3AD203B41FA5}">
                      <a16:colId xmlns:a16="http://schemas.microsoft.com/office/drawing/2014/main" val="20002"/>
                    </a:ext>
                  </a:extLst>
                </a:gridCol>
                <a:gridCol w="2018810">
                  <a:extLst>
                    <a:ext uri="{9D8B030D-6E8A-4147-A177-3AD203B41FA5}">
                      <a16:colId xmlns:a16="http://schemas.microsoft.com/office/drawing/2014/main" val="20003"/>
                    </a:ext>
                  </a:extLst>
                </a:gridCol>
              </a:tblGrid>
              <a:tr h="372689">
                <a:tc rowSpan="2">
                  <a:txBody>
                    <a:bodyPr/>
                    <a:lstStyle/>
                    <a:p>
                      <a:pPr algn="ctr" rtl="1"/>
                      <a:r>
                        <a:rPr lang="he-IL" b="1" dirty="0"/>
                        <a:t>כמות מיוצרת (בטונות)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algn="ctr" rtl="1"/>
                      <a:r>
                        <a:rPr lang="he-IL" b="1" dirty="0"/>
                        <a:t>עלות (אלפי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0"/>
                  </a:ext>
                </a:extLst>
              </a:tr>
              <a:tr h="372689">
                <a:tc vMerge="1">
                  <a:txBody>
                    <a:bodyPr/>
                    <a:lstStyle/>
                    <a:p>
                      <a:pPr rtl="1"/>
                      <a:endParaRPr lang="he-IL" dirty="0"/>
                    </a:p>
                  </a:txBody>
                  <a:tcPr/>
                </a:tc>
                <a:tc>
                  <a:txBody>
                    <a:bodyPr/>
                    <a:lstStyle/>
                    <a:p>
                      <a:pPr algn="ctr" rtl="1"/>
                      <a:r>
                        <a:rPr lang="he-IL" b="1" dirty="0"/>
                        <a:t>משתנה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משתנה ממוצעת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שולית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72689">
                <a:tc>
                  <a:txBody>
                    <a:bodyPr/>
                    <a:lstStyle/>
                    <a:p>
                      <a:pPr algn="ctr" rtl="1"/>
                      <a:r>
                        <a:rPr lang="he-IL"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2689">
                <a:tc>
                  <a:txBody>
                    <a:bodyPr/>
                    <a:lstStyle/>
                    <a:p>
                      <a:pPr algn="ctr" rtl="1"/>
                      <a:r>
                        <a:rPr lang="he-IL"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2689">
                <a:tc>
                  <a:txBody>
                    <a:bodyPr/>
                    <a:lstStyle/>
                    <a:p>
                      <a:pPr algn="ctr" rtl="1"/>
                      <a:r>
                        <a:rPr lang="he-IL"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2689">
                <a:tc>
                  <a:txBody>
                    <a:bodyPr/>
                    <a:lstStyle/>
                    <a:p>
                      <a:pPr algn="ctr" rtl="1"/>
                      <a:r>
                        <a:rPr lang="he-IL"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2689">
                <a:tc>
                  <a:txBody>
                    <a:bodyPr/>
                    <a:lstStyle/>
                    <a:p>
                      <a:pPr algn="ctr" rtl="1"/>
                      <a:r>
                        <a:rPr lang="he-IL"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2689">
                <a:tc>
                  <a:txBody>
                    <a:bodyPr/>
                    <a:lstStyle/>
                    <a:p>
                      <a:pPr algn="ctr" rtl="1"/>
                      <a:r>
                        <a:rPr lang="he-IL"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2689">
                <a:tc>
                  <a:txBody>
                    <a:bodyPr/>
                    <a:lstStyle/>
                    <a:p>
                      <a:pPr algn="ctr" rtl="1"/>
                      <a:r>
                        <a:rPr lang="he-IL"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0" name="TextBox 9"/>
          <p:cNvSpPr txBox="1"/>
          <p:nvPr/>
        </p:nvSpPr>
        <p:spPr>
          <a:xfrm>
            <a:off x="1804010" y="5713055"/>
            <a:ext cx="8429620" cy="646331"/>
          </a:xfrm>
          <a:prstGeom prst="rect">
            <a:avLst/>
          </a:prstGeom>
          <a:noFill/>
        </p:spPr>
        <p:txBody>
          <a:bodyPr wrap="square" rtlCol="1">
            <a:spAutoFit/>
          </a:bodyPr>
          <a:lstStyle/>
          <a:p>
            <a:r>
              <a:rPr lang="he-IL" dirty="0"/>
              <a:t>א.1 השלימו את הלוח על ידי חישוב העלות המשתנה הממוצעת והעלות השולית לכל רמה של תפוקה.</a:t>
            </a:r>
          </a:p>
        </p:txBody>
      </p:sp>
      <p:sp>
        <p:nvSpPr>
          <p:cNvPr id="8" name="כותרת 1"/>
          <p:cNvSpPr>
            <a:spLocks noGrp="1"/>
          </p:cNvSpPr>
          <p:nvPr>
            <p:ph type="title"/>
          </p:nvPr>
        </p:nvSpPr>
        <p:spPr>
          <a:xfrm>
            <a:off x="3962400" y="-31172"/>
            <a:ext cx="8229600" cy="1143000"/>
          </a:xfrm>
        </p:spPr>
        <p:txBody>
          <a:bodyPr/>
          <a:lstStyle/>
          <a:p>
            <a:pPr algn="r"/>
            <a:r>
              <a:rPr lang="he-IL" b="1" dirty="0"/>
              <a:t>שאלה 1</a:t>
            </a:r>
            <a:endParaRPr lang="he-IL" b="1" dirty="0">
              <a:solidFill>
                <a:schemeClr val="tx2">
                  <a:lumMod val="75000"/>
                </a:schemeClr>
              </a:solidFill>
            </a:endParaRPr>
          </a:p>
        </p:txBody>
      </p:sp>
      <p:sp>
        <p:nvSpPr>
          <p:cNvPr id="11" name="TextBox 10"/>
          <p:cNvSpPr txBox="1"/>
          <p:nvPr/>
        </p:nvSpPr>
        <p:spPr>
          <a:xfrm>
            <a:off x="3762380" y="1003729"/>
            <a:ext cx="8429620" cy="369332"/>
          </a:xfrm>
          <a:prstGeom prst="rect">
            <a:avLst/>
          </a:prstGeom>
          <a:noFill/>
        </p:spPr>
        <p:txBody>
          <a:bodyPr wrap="square" rtlCol="1">
            <a:spAutoFit/>
          </a:bodyPr>
          <a:lstStyle/>
          <a:p>
            <a:r>
              <a:rPr lang="he-IL" dirty="0"/>
              <a:t>להלן לוח הוצאות הייצור השובעיות של פירמה הפועלת בענף המלט:</a:t>
            </a:r>
          </a:p>
        </p:txBody>
      </p:sp>
      <p:sp>
        <p:nvSpPr>
          <p:cNvPr id="2" name="Date Placeholder 1">
            <a:extLst>
              <a:ext uri="{FF2B5EF4-FFF2-40B4-BE49-F238E27FC236}">
                <a16:creationId xmlns:a16="http://schemas.microsoft.com/office/drawing/2014/main" id="{3F32D82D-BF0A-9B7F-17E7-076D8C05FEE7}"/>
              </a:ext>
            </a:extLst>
          </p:cNvPr>
          <p:cNvSpPr>
            <a:spLocks noGrp="1"/>
          </p:cNvSpPr>
          <p:nvPr>
            <p:ph type="dt" sz="half" idx="10"/>
          </p:nvPr>
        </p:nvSpPr>
        <p:spPr/>
        <p:txBody>
          <a:bodyPr/>
          <a:lstStyle/>
          <a:p>
            <a:fld id="{7EC7303A-1592-4523-9446-52EB47C923D9}" type="datetime8">
              <a:rPr lang="he-IL" smtClean="0"/>
              <a:t>03 ינואר 26</a:t>
            </a:fld>
            <a:endParaRPr lang="he-IL"/>
          </a:p>
        </p:txBody>
      </p:sp>
      <p:sp>
        <p:nvSpPr>
          <p:cNvPr id="3" name="Slide Number Placeholder 2">
            <a:extLst>
              <a:ext uri="{FF2B5EF4-FFF2-40B4-BE49-F238E27FC236}">
                <a16:creationId xmlns:a16="http://schemas.microsoft.com/office/drawing/2014/main" id="{670E351E-98A5-DD81-CD71-DF43A1F17831}"/>
              </a:ext>
            </a:extLst>
          </p:cNvPr>
          <p:cNvSpPr>
            <a:spLocks noGrp="1"/>
          </p:cNvSpPr>
          <p:nvPr>
            <p:ph type="sldNum" sz="quarter" idx="12"/>
          </p:nvPr>
        </p:nvSpPr>
        <p:spPr/>
        <p:txBody>
          <a:bodyPr/>
          <a:lstStyle/>
          <a:p>
            <a:fld id="{D69A981F-4466-4789-9E41-1885E502A96E}" type="slidenum">
              <a:rPr lang="he-IL" smtClean="0"/>
              <a:t>6</a:t>
            </a:fld>
            <a:endParaRPr lang="he-IL"/>
          </a:p>
        </p:txBody>
      </p:sp>
    </p:spTree>
    <p:extLst>
      <p:ext uri="{BB962C8B-B14F-4D97-AF65-F5344CB8AC3E}">
        <p14:creationId xmlns:p14="http://schemas.microsoft.com/office/powerpoint/2010/main" val="3764959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892669" y="-1751"/>
            <a:ext cx="8229600" cy="1143000"/>
          </a:xfrm>
        </p:spPr>
        <p:txBody>
          <a:bodyPr/>
          <a:lstStyle/>
          <a:p>
            <a:pPr algn="r"/>
            <a:r>
              <a:rPr lang="he-IL" b="1" dirty="0"/>
              <a:t>שאלה 1</a:t>
            </a:r>
            <a:endParaRPr lang="he-IL" b="1" dirty="0">
              <a:solidFill>
                <a:schemeClr val="tx2">
                  <a:lumMod val="75000"/>
                </a:schemeClr>
              </a:solidFill>
            </a:endParaRPr>
          </a:p>
        </p:txBody>
      </p:sp>
      <p:graphicFrame>
        <p:nvGraphicFramePr>
          <p:cNvPr id="7" name="מציין מיקום תוכן 6"/>
          <p:cNvGraphicFramePr>
            <a:graphicFrameLocks noGrp="1"/>
          </p:cNvGraphicFramePr>
          <p:nvPr>
            <p:ph idx="1"/>
          </p:nvPr>
        </p:nvGraphicFramePr>
        <p:xfrm>
          <a:off x="1981200" y="2020266"/>
          <a:ext cx="8229600" cy="3337560"/>
        </p:xfrm>
        <a:graphic>
          <a:graphicData uri="http://schemas.openxmlformats.org/drawingml/2006/table">
            <a:tbl>
              <a:tblPr rtl="1" firstRow="1" bandRow="1">
                <a:tableStyleId>{2D5ABB26-0587-4C30-8999-92F81FD0307C}</a:tableStyleId>
              </a:tblPr>
              <a:tblGrid>
                <a:gridCol w="2057400">
                  <a:extLst>
                    <a:ext uri="{9D8B030D-6E8A-4147-A177-3AD203B41FA5}">
                      <a16:colId xmlns:a16="http://schemas.microsoft.com/office/drawing/2014/main" val="20000"/>
                    </a:ext>
                  </a:extLst>
                </a:gridCol>
                <a:gridCol w="1799168">
                  <a:extLst>
                    <a:ext uri="{9D8B030D-6E8A-4147-A177-3AD203B41FA5}">
                      <a16:colId xmlns:a16="http://schemas.microsoft.com/office/drawing/2014/main" val="20001"/>
                    </a:ext>
                  </a:extLst>
                </a:gridCol>
                <a:gridCol w="2315632">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rowSpan="2">
                  <a:txBody>
                    <a:bodyPr/>
                    <a:lstStyle/>
                    <a:p>
                      <a:pPr algn="ctr" rtl="1"/>
                      <a:r>
                        <a:rPr lang="he-IL" b="1" dirty="0"/>
                        <a:t>כמות מיוצרת (בטונות)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algn="ctr" rtl="1"/>
                      <a:r>
                        <a:rPr lang="he-IL" b="1" dirty="0"/>
                        <a:t>עלות (אלפי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0"/>
                  </a:ext>
                </a:extLst>
              </a:tr>
              <a:tr h="370840">
                <a:tc vMerge="1">
                  <a:txBody>
                    <a:bodyPr/>
                    <a:lstStyle/>
                    <a:p>
                      <a:pPr rtl="1"/>
                      <a:endParaRPr lang="he-IL" dirty="0"/>
                    </a:p>
                  </a:txBody>
                  <a:tcPr/>
                </a:tc>
                <a:tc>
                  <a:txBody>
                    <a:bodyPr/>
                    <a:lstStyle/>
                    <a:p>
                      <a:pPr algn="ctr" rtl="1"/>
                      <a:r>
                        <a:rPr lang="he-IL" b="1" dirty="0"/>
                        <a:t>משתנה</a:t>
                      </a:r>
                      <a:r>
                        <a:rPr lang="en-US" b="1" dirty="0"/>
                        <a:t>   </a:t>
                      </a:r>
                      <a:r>
                        <a:rPr lang="en-US" b="1" baseline="0" dirty="0"/>
                        <a:t>  (VC)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sz="1600" b="1" dirty="0"/>
                        <a:t>משתנה ממוצעת</a:t>
                      </a:r>
                      <a:r>
                        <a:rPr lang="en-US" sz="1600" b="1" dirty="0"/>
                        <a:t> </a:t>
                      </a:r>
                      <a:r>
                        <a:rPr lang="en-US" b="1" baseline="0" dirty="0"/>
                        <a:t>(AVC) </a:t>
                      </a:r>
                      <a:r>
                        <a:rPr lang="en-US" b="1" dirty="0"/>
                        <a:t>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שולית</a:t>
                      </a:r>
                      <a:r>
                        <a:rPr lang="he-IL" b="1" baseline="0" dirty="0"/>
                        <a:t> (</a:t>
                      </a:r>
                      <a:r>
                        <a:rPr lang="en-US" b="1" baseline="0" dirty="0"/>
                        <a:t>MC</a:t>
                      </a:r>
                      <a:r>
                        <a:rPr lang="he-IL" b="1" baseline="0" dirty="0"/>
                        <a:t>)</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70840">
                <a:tc>
                  <a:txBody>
                    <a:bodyPr/>
                    <a:lstStyle/>
                    <a:p>
                      <a:pPr algn="ctr" rtl="1"/>
                      <a:r>
                        <a:rPr lang="he-IL"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1=50/1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r>
                        <a:rPr lang="he-IL"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r>
                        <a:rPr lang="he-IL"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r>
                        <a:rPr lang="he-IL"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r>
                        <a:rPr lang="he-IL"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rtl="1"/>
                      <a:r>
                        <a:rPr lang="he-IL"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rtl="1"/>
                      <a:r>
                        <a:rPr lang="he-IL"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אליפסה 5"/>
          <p:cNvSpPr/>
          <p:nvPr/>
        </p:nvSpPr>
        <p:spPr>
          <a:xfrm>
            <a:off x="6667504" y="2706058"/>
            <a:ext cx="928694" cy="42862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אליפסה 7"/>
          <p:cNvSpPr/>
          <p:nvPr/>
        </p:nvSpPr>
        <p:spPr>
          <a:xfrm>
            <a:off x="8739206" y="2706058"/>
            <a:ext cx="928694" cy="42862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TextBox 8"/>
          <p:cNvSpPr txBox="1"/>
          <p:nvPr/>
        </p:nvSpPr>
        <p:spPr>
          <a:xfrm>
            <a:off x="2978269" y="1180710"/>
            <a:ext cx="9235858" cy="369332"/>
          </a:xfrm>
          <a:prstGeom prst="rect">
            <a:avLst/>
          </a:prstGeom>
          <a:noFill/>
        </p:spPr>
        <p:txBody>
          <a:bodyPr wrap="square" rtlCol="1">
            <a:spAutoFit/>
          </a:bodyPr>
          <a:lstStyle/>
          <a:p>
            <a:r>
              <a:rPr lang="he-IL" dirty="0"/>
              <a:t>א.1 השלימו את הלוח על ידי חישוב העלות המשתנה הממוצעת והעלות השולית לכל רמה של תפוקה.</a:t>
            </a:r>
          </a:p>
        </p:txBody>
      </p:sp>
      <p:sp>
        <p:nvSpPr>
          <p:cNvPr id="3" name="Date Placeholder 2">
            <a:extLst>
              <a:ext uri="{FF2B5EF4-FFF2-40B4-BE49-F238E27FC236}">
                <a16:creationId xmlns:a16="http://schemas.microsoft.com/office/drawing/2014/main" id="{69A30D52-5B35-0F19-0034-F7BA5596E42F}"/>
              </a:ext>
            </a:extLst>
          </p:cNvPr>
          <p:cNvSpPr>
            <a:spLocks noGrp="1"/>
          </p:cNvSpPr>
          <p:nvPr>
            <p:ph type="dt" sz="half" idx="10"/>
          </p:nvPr>
        </p:nvSpPr>
        <p:spPr/>
        <p:txBody>
          <a:bodyPr/>
          <a:lstStyle/>
          <a:p>
            <a:fld id="{C206E7DA-C4C2-47E9-A247-6ACC5BDD9A4A}" type="datetime8">
              <a:rPr lang="he-IL" smtClean="0"/>
              <a:t>03 ינואר 26</a:t>
            </a:fld>
            <a:endParaRPr lang="he-IL"/>
          </a:p>
        </p:txBody>
      </p:sp>
      <p:sp>
        <p:nvSpPr>
          <p:cNvPr id="4" name="Slide Number Placeholder 3">
            <a:extLst>
              <a:ext uri="{FF2B5EF4-FFF2-40B4-BE49-F238E27FC236}">
                <a16:creationId xmlns:a16="http://schemas.microsoft.com/office/drawing/2014/main" id="{9C99EF3B-3A45-6B06-2C7D-DE12F16EB69F}"/>
              </a:ext>
            </a:extLst>
          </p:cNvPr>
          <p:cNvSpPr>
            <a:spLocks noGrp="1"/>
          </p:cNvSpPr>
          <p:nvPr>
            <p:ph type="sldNum" sz="quarter" idx="12"/>
          </p:nvPr>
        </p:nvSpPr>
        <p:spPr/>
        <p:txBody>
          <a:bodyPr/>
          <a:lstStyle/>
          <a:p>
            <a:fld id="{D69A981F-4466-4789-9E41-1885E502A96E}" type="slidenum">
              <a:rPr lang="he-IL" smtClean="0"/>
              <a:t>7</a:t>
            </a:fld>
            <a:endParaRPr lang="he-IL"/>
          </a:p>
        </p:txBody>
      </p:sp>
    </p:spTree>
    <p:extLst>
      <p:ext uri="{BB962C8B-B14F-4D97-AF65-F5344CB8AC3E}">
        <p14:creationId xmlns:p14="http://schemas.microsoft.com/office/powerpoint/2010/main" val="8521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13544" y="0"/>
            <a:ext cx="8229600" cy="1143000"/>
          </a:xfrm>
        </p:spPr>
        <p:txBody>
          <a:bodyPr>
            <a:normAutofit/>
          </a:bodyPr>
          <a:lstStyle/>
          <a:p>
            <a:pPr algn="r"/>
            <a:r>
              <a:rPr lang="he-IL" b="1" dirty="0">
                <a:solidFill>
                  <a:schemeClr val="tx2">
                    <a:lumMod val="75000"/>
                  </a:schemeClr>
                </a:solidFill>
              </a:rPr>
              <a:t>שאלה 1</a:t>
            </a:r>
          </a:p>
        </p:txBody>
      </p:sp>
      <p:graphicFrame>
        <p:nvGraphicFramePr>
          <p:cNvPr id="7" name="מציין מיקום תוכן 6"/>
          <p:cNvGraphicFramePr>
            <a:graphicFrameLocks noGrp="1"/>
          </p:cNvGraphicFramePr>
          <p:nvPr>
            <p:ph idx="1"/>
          </p:nvPr>
        </p:nvGraphicFramePr>
        <p:xfrm>
          <a:off x="1981200" y="2020266"/>
          <a:ext cx="8229600" cy="3337560"/>
        </p:xfrm>
        <a:graphic>
          <a:graphicData uri="http://schemas.openxmlformats.org/drawingml/2006/table">
            <a:tbl>
              <a:tblPr rtl="1" firstRow="1" bandRow="1">
                <a:tableStyleId>{2D5ABB26-0587-4C30-8999-92F81FD0307C}</a:tableStyleId>
              </a:tblPr>
              <a:tblGrid>
                <a:gridCol w="2057400">
                  <a:extLst>
                    <a:ext uri="{9D8B030D-6E8A-4147-A177-3AD203B41FA5}">
                      <a16:colId xmlns:a16="http://schemas.microsoft.com/office/drawing/2014/main" val="20000"/>
                    </a:ext>
                  </a:extLst>
                </a:gridCol>
                <a:gridCol w="1751666">
                  <a:extLst>
                    <a:ext uri="{9D8B030D-6E8A-4147-A177-3AD203B41FA5}">
                      <a16:colId xmlns:a16="http://schemas.microsoft.com/office/drawing/2014/main" val="20001"/>
                    </a:ext>
                  </a:extLst>
                </a:gridCol>
                <a:gridCol w="2350114">
                  <a:extLst>
                    <a:ext uri="{9D8B030D-6E8A-4147-A177-3AD203B41FA5}">
                      <a16:colId xmlns:a16="http://schemas.microsoft.com/office/drawing/2014/main" val="20002"/>
                    </a:ext>
                  </a:extLst>
                </a:gridCol>
                <a:gridCol w="2070420">
                  <a:extLst>
                    <a:ext uri="{9D8B030D-6E8A-4147-A177-3AD203B41FA5}">
                      <a16:colId xmlns:a16="http://schemas.microsoft.com/office/drawing/2014/main" val="20003"/>
                    </a:ext>
                  </a:extLst>
                </a:gridCol>
              </a:tblGrid>
              <a:tr h="370840">
                <a:tc rowSpan="2">
                  <a:txBody>
                    <a:bodyPr/>
                    <a:lstStyle/>
                    <a:p>
                      <a:pPr algn="ctr" rtl="1"/>
                      <a:r>
                        <a:rPr lang="he-IL" b="1" dirty="0"/>
                        <a:t>כמות מיוצרת (בטונות)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algn="ctr" rtl="1"/>
                      <a:r>
                        <a:rPr lang="he-IL" b="1" dirty="0"/>
                        <a:t>עלות (אלפי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0"/>
                  </a:ext>
                </a:extLst>
              </a:tr>
              <a:tr h="370840">
                <a:tc vMerge="1">
                  <a:txBody>
                    <a:bodyPr/>
                    <a:lstStyle/>
                    <a:p>
                      <a:pPr rtl="1"/>
                      <a:endParaRPr lang="he-IL" dirty="0"/>
                    </a:p>
                  </a:txBody>
                  <a:tcPr/>
                </a:tc>
                <a:tc>
                  <a:txBody>
                    <a:bodyPr/>
                    <a:lstStyle/>
                    <a:p>
                      <a:pPr algn="ctr" rtl="1"/>
                      <a:r>
                        <a:rPr lang="he-IL" b="1" dirty="0"/>
                        <a:t>משתנה</a:t>
                      </a:r>
                      <a:r>
                        <a:rPr lang="en-US" b="1" dirty="0"/>
                        <a:t>   </a:t>
                      </a:r>
                      <a:r>
                        <a:rPr lang="en-US" b="1" baseline="0" dirty="0"/>
                        <a:t>  (VC)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sz="1600" b="1" dirty="0"/>
                        <a:t>משתנה ממוצעת</a:t>
                      </a:r>
                      <a:r>
                        <a:rPr lang="en-US" sz="1600" b="1" dirty="0"/>
                        <a:t> </a:t>
                      </a:r>
                      <a:r>
                        <a:rPr lang="en-US" b="1" baseline="0" dirty="0"/>
                        <a:t>(AVC) </a:t>
                      </a:r>
                      <a:r>
                        <a:rPr lang="en-US" b="1" dirty="0"/>
                        <a:t>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שולית</a:t>
                      </a:r>
                      <a:r>
                        <a:rPr lang="he-IL" b="1" baseline="0" dirty="0"/>
                        <a:t> (</a:t>
                      </a:r>
                      <a:r>
                        <a:rPr lang="en-US" b="1" baseline="0" dirty="0"/>
                        <a:t>MC</a:t>
                      </a:r>
                      <a:r>
                        <a:rPr lang="he-IL" b="1" baseline="0" dirty="0"/>
                        <a:t>)</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70840">
                <a:tc>
                  <a:txBody>
                    <a:bodyPr/>
                    <a:lstStyle/>
                    <a:p>
                      <a:pPr algn="ctr" rtl="1"/>
                      <a:r>
                        <a:rPr lang="he-IL"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50=50/1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r>
                        <a:rPr lang="he-IL"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55=110/2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r>
                        <a:rPr lang="he-IL"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r>
                        <a:rPr lang="he-IL"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r>
                        <a:rPr lang="he-IL"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rtl="1"/>
                      <a:r>
                        <a:rPr lang="he-IL"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rtl="1"/>
                      <a:r>
                        <a:rPr lang="he-IL"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אליפסה 5"/>
          <p:cNvSpPr/>
          <p:nvPr/>
        </p:nvSpPr>
        <p:spPr>
          <a:xfrm>
            <a:off x="6744072" y="3063248"/>
            <a:ext cx="928694" cy="42862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אליפסה 7"/>
          <p:cNvSpPr/>
          <p:nvPr/>
        </p:nvSpPr>
        <p:spPr>
          <a:xfrm>
            <a:off x="8739206" y="3063248"/>
            <a:ext cx="928694" cy="42862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TextBox 9"/>
          <p:cNvSpPr txBox="1"/>
          <p:nvPr/>
        </p:nvSpPr>
        <p:spPr>
          <a:xfrm>
            <a:off x="2999144" y="1166884"/>
            <a:ext cx="9144000" cy="369332"/>
          </a:xfrm>
          <a:prstGeom prst="rect">
            <a:avLst/>
          </a:prstGeom>
          <a:noFill/>
        </p:spPr>
        <p:txBody>
          <a:bodyPr wrap="square" rtlCol="1">
            <a:spAutoFit/>
          </a:bodyPr>
          <a:lstStyle/>
          <a:p>
            <a:r>
              <a:rPr lang="he-IL" dirty="0"/>
              <a:t>א.1 השלימו את הלוח על ידי חישוב העלות המשתנה הממוצעת והעלות השולית לכל רמה של תפוקה.</a:t>
            </a:r>
          </a:p>
        </p:txBody>
      </p:sp>
      <p:sp>
        <p:nvSpPr>
          <p:cNvPr id="3" name="Date Placeholder 2">
            <a:extLst>
              <a:ext uri="{FF2B5EF4-FFF2-40B4-BE49-F238E27FC236}">
                <a16:creationId xmlns:a16="http://schemas.microsoft.com/office/drawing/2014/main" id="{9CA883C7-8E68-AA36-32D2-A4F036331552}"/>
              </a:ext>
            </a:extLst>
          </p:cNvPr>
          <p:cNvSpPr>
            <a:spLocks noGrp="1"/>
          </p:cNvSpPr>
          <p:nvPr>
            <p:ph type="dt" sz="half" idx="10"/>
          </p:nvPr>
        </p:nvSpPr>
        <p:spPr/>
        <p:txBody>
          <a:bodyPr/>
          <a:lstStyle/>
          <a:p>
            <a:fld id="{2CB4FAE0-E347-41BE-AC06-F8B479D8B9F3}" type="datetime8">
              <a:rPr lang="he-IL" smtClean="0"/>
              <a:t>03 ינואר 26</a:t>
            </a:fld>
            <a:endParaRPr lang="he-IL"/>
          </a:p>
        </p:txBody>
      </p:sp>
      <p:sp>
        <p:nvSpPr>
          <p:cNvPr id="4" name="Slide Number Placeholder 3">
            <a:extLst>
              <a:ext uri="{FF2B5EF4-FFF2-40B4-BE49-F238E27FC236}">
                <a16:creationId xmlns:a16="http://schemas.microsoft.com/office/drawing/2014/main" id="{FAFE46CD-EBF9-559C-3396-980CB59F022F}"/>
              </a:ext>
            </a:extLst>
          </p:cNvPr>
          <p:cNvSpPr>
            <a:spLocks noGrp="1"/>
          </p:cNvSpPr>
          <p:nvPr>
            <p:ph type="sldNum" sz="quarter" idx="12"/>
          </p:nvPr>
        </p:nvSpPr>
        <p:spPr/>
        <p:txBody>
          <a:bodyPr/>
          <a:lstStyle/>
          <a:p>
            <a:fld id="{D69A981F-4466-4789-9E41-1885E502A96E}" type="slidenum">
              <a:rPr lang="he-IL" smtClean="0"/>
              <a:t>8</a:t>
            </a:fld>
            <a:endParaRPr lang="he-IL"/>
          </a:p>
        </p:txBody>
      </p:sp>
    </p:spTree>
    <p:extLst>
      <p:ext uri="{BB962C8B-B14F-4D97-AF65-F5344CB8AC3E}">
        <p14:creationId xmlns:p14="http://schemas.microsoft.com/office/powerpoint/2010/main" val="2888542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62400" y="0"/>
            <a:ext cx="8229600" cy="1143000"/>
          </a:xfrm>
        </p:spPr>
        <p:txBody>
          <a:bodyPr>
            <a:normAutofit/>
          </a:bodyPr>
          <a:lstStyle/>
          <a:p>
            <a:pPr algn="r"/>
            <a:r>
              <a:rPr lang="he-IL" b="1" dirty="0">
                <a:solidFill>
                  <a:schemeClr val="tx2">
                    <a:lumMod val="75000"/>
                  </a:schemeClr>
                </a:solidFill>
              </a:rPr>
              <a:t>שאלה 1</a:t>
            </a:r>
          </a:p>
        </p:txBody>
      </p:sp>
      <p:graphicFrame>
        <p:nvGraphicFramePr>
          <p:cNvPr id="7" name="מציין מיקום תוכן 6"/>
          <p:cNvGraphicFramePr>
            <a:graphicFrameLocks noGrp="1"/>
          </p:cNvGraphicFramePr>
          <p:nvPr>
            <p:ph idx="1"/>
          </p:nvPr>
        </p:nvGraphicFramePr>
        <p:xfrm>
          <a:off x="1981200" y="2020266"/>
          <a:ext cx="8229600" cy="3337560"/>
        </p:xfrm>
        <a:graphic>
          <a:graphicData uri="http://schemas.openxmlformats.org/drawingml/2006/table">
            <a:tbl>
              <a:tblPr rtl="1" firstRow="1" bandRow="1">
                <a:tableStyleId>{2D5ABB26-0587-4C30-8999-92F81FD0307C}</a:tableStyleId>
              </a:tblPr>
              <a:tblGrid>
                <a:gridCol w="2057400">
                  <a:extLst>
                    <a:ext uri="{9D8B030D-6E8A-4147-A177-3AD203B41FA5}">
                      <a16:colId xmlns:a16="http://schemas.microsoft.com/office/drawing/2014/main" val="20000"/>
                    </a:ext>
                  </a:extLst>
                </a:gridCol>
                <a:gridCol w="1728672">
                  <a:extLst>
                    <a:ext uri="{9D8B030D-6E8A-4147-A177-3AD203B41FA5}">
                      <a16:colId xmlns:a16="http://schemas.microsoft.com/office/drawing/2014/main" val="20001"/>
                    </a:ext>
                  </a:extLst>
                </a:gridCol>
                <a:gridCol w="2386128">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rowSpan="2">
                  <a:txBody>
                    <a:bodyPr/>
                    <a:lstStyle/>
                    <a:p>
                      <a:pPr algn="ctr" rtl="1"/>
                      <a:r>
                        <a:rPr lang="he-IL" b="1" dirty="0"/>
                        <a:t>כמות מיוצרת (בטונות)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algn="ctr" rtl="1"/>
                      <a:r>
                        <a:rPr lang="he-IL" b="1" dirty="0"/>
                        <a:t>עלות (אלפי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0"/>
                  </a:ext>
                </a:extLst>
              </a:tr>
              <a:tr h="370840">
                <a:tc vMerge="1">
                  <a:txBody>
                    <a:bodyPr/>
                    <a:lstStyle/>
                    <a:p>
                      <a:pPr rtl="1"/>
                      <a:endParaRPr lang="he-IL" dirty="0"/>
                    </a:p>
                  </a:txBody>
                  <a:tcPr/>
                </a:tc>
                <a:tc>
                  <a:txBody>
                    <a:bodyPr/>
                    <a:lstStyle/>
                    <a:p>
                      <a:pPr algn="ctr" rtl="1"/>
                      <a:r>
                        <a:rPr lang="he-IL" b="1" dirty="0"/>
                        <a:t>משתנה</a:t>
                      </a:r>
                      <a:r>
                        <a:rPr lang="en-US" b="1" dirty="0"/>
                        <a:t>   </a:t>
                      </a:r>
                      <a:r>
                        <a:rPr lang="en-US" b="1" baseline="0" dirty="0"/>
                        <a:t>  (VC)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sz="1600" b="1" dirty="0"/>
                        <a:t>משתנה ממוצעת</a:t>
                      </a:r>
                      <a:r>
                        <a:rPr lang="en-US" sz="1600" b="1" dirty="0"/>
                        <a:t> </a:t>
                      </a:r>
                      <a:r>
                        <a:rPr lang="en-US" b="1" baseline="0" dirty="0"/>
                        <a:t>(AVC) </a:t>
                      </a:r>
                      <a:r>
                        <a:rPr lang="en-US" b="1" dirty="0"/>
                        <a:t>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שולית</a:t>
                      </a:r>
                      <a:r>
                        <a:rPr lang="he-IL" b="1" baseline="0" dirty="0"/>
                        <a:t> (</a:t>
                      </a:r>
                      <a:r>
                        <a:rPr lang="en-US" b="1" baseline="0" dirty="0"/>
                        <a:t>MC</a:t>
                      </a:r>
                      <a:r>
                        <a:rPr lang="he-IL" b="1" baseline="0" dirty="0"/>
                        <a:t>)</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70840">
                <a:tc>
                  <a:txBody>
                    <a:bodyPr/>
                    <a:lstStyle/>
                    <a:p>
                      <a:pPr algn="ctr" rtl="1"/>
                      <a:r>
                        <a:rPr lang="he-IL"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r>
                        <a:rPr lang="he-IL"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r>
                        <a:rPr lang="he-IL"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r>
                        <a:rPr lang="he-IL"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r>
                        <a:rPr lang="he-IL"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rtl="1"/>
                      <a:r>
                        <a:rPr lang="he-IL"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rtl="1"/>
                      <a:r>
                        <a:rPr lang="he-IL"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Box 5"/>
          <p:cNvSpPr txBox="1"/>
          <p:nvPr/>
        </p:nvSpPr>
        <p:spPr>
          <a:xfrm>
            <a:off x="3048000" y="1166884"/>
            <a:ext cx="9144000" cy="369332"/>
          </a:xfrm>
          <a:prstGeom prst="rect">
            <a:avLst/>
          </a:prstGeom>
          <a:noFill/>
        </p:spPr>
        <p:txBody>
          <a:bodyPr wrap="square" rtlCol="1">
            <a:spAutoFit/>
          </a:bodyPr>
          <a:lstStyle/>
          <a:p>
            <a:r>
              <a:rPr lang="he-IL" dirty="0"/>
              <a:t>א.1 השלימו את הלוח על ידי חישוב העלות המשתנה הממוצעת והעלות השולית לכל רמה של תפוקה.</a:t>
            </a:r>
          </a:p>
        </p:txBody>
      </p:sp>
      <p:sp>
        <p:nvSpPr>
          <p:cNvPr id="3" name="Date Placeholder 2">
            <a:extLst>
              <a:ext uri="{FF2B5EF4-FFF2-40B4-BE49-F238E27FC236}">
                <a16:creationId xmlns:a16="http://schemas.microsoft.com/office/drawing/2014/main" id="{7252391B-DAB6-397C-D810-AF3D0C603ACE}"/>
              </a:ext>
            </a:extLst>
          </p:cNvPr>
          <p:cNvSpPr>
            <a:spLocks noGrp="1"/>
          </p:cNvSpPr>
          <p:nvPr>
            <p:ph type="dt" sz="half" idx="10"/>
          </p:nvPr>
        </p:nvSpPr>
        <p:spPr/>
        <p:txBody>
          <a:bodyPr/>
          <a:lstStyle/>
          <a:p>
            <a:fld id="{58B1AA68-EADC-4E52-A1AC-671A905DA08D}" type="datetime8">
              <a:rPr lang="he-IL" smtClean="0"/>
              <a:t>03 ינואר 26</a:t>
            </a:fld>
            <a:endParaRPr lang="he-IL"/>
          </a:p>
        </p:txBody>
      </p:sp>
      <p:sp>
        <p:nvSpPr>
          <p:cNvPr id="4" name="Slide Number Placeholder 3">
            <a:extLst>
              <a:ext uri="{FF2B5EF4-FFF2-40B4-BE49-F238E27FC236}">
                <a16:creationId xmlns:a16="http://schemas.microsoft.com/office/drawing/2014/main" id="{CCA201BD-AB47-8EEC-CC7A-F437E2129667}"/>
              </a:ext>
            </a:extLst>
          </p:cNvPr>
          <p:cNvSpPr>
            <a:spLocks noGrp="1"/>
          </p:cNvSpPr>
          <p:nvPr>
            <p:ph type="sldNum" sz="quarter" idx="12"/>
          </p:nvPr>
        </p:nvSpPr>
        <p:spPr/>
        <p:txBody>
          <a:bodyPr/>
          <a:lstStyle/>
          <a:p>
            <a:fld id="{D69A981F-4466-4789-9E41-1885E502A96E}" type="slidenum">
              <a:rPr lang="he-IL" smtClean="0"/>
              <a:t>9</a:t>
            </a:fld>
            <a:endParaRPr lang="he-IL"/>
          </a:p>
        </p:txBody>
      </p:sp>
    </p:spTree>
    <p:extLst>
      <p:ext uri="{BB962C8B-B14F-4D97-AF65-F5344CB8AC3E}">
        <p14:creationId xmlns:p14="http://schemas.microsoft.com/office/powerpoint/2010/main" val="1576151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863086" y="0"/>
            <a:ext cx="8229600" cy="1143000"/>
          </a:xfrm>
        </p:spPr>
        <p:txBody>
          <a:bodyPr>
            <a:normAutofit/>
          </a:bodyPr>
          <a:lstStyle/>
          <a:p>
            <a:pPr algn="r"/>
            <a:r>
              <a:rPr lang="he-IL" b="1" dirty="0">
                <a:solidFill>
                  <a:schemeClr val="tx2">
                    <a:lumMod val="75000"/>
                  </a:schemeClr>
                </a:solidFill>
              </a:rPr>
              <a:t>שאלה 1</a:t>
            </a:r>
          </a:p>
        </p:txBody>
      </p:sp>
      <p:graphicFrame>
        <p:nvGraphicFramePr>
          <p:cNvPr id="7" name="מציין מיקום תוכן 6"/>
          <p:cNvGraphicFramePr>
            <a:graphicFrameLocks noGrp="1"/>
          </p:cNvGraphicFramePr>
          <p:nvPr>
            <p:ph idx="1"/>
          </p:nvPr>
        </p:nvGraphicFramePr>
        <p:xfrm>
          <a:off x="1981200" y="2020266"/>
          <a:ext cx="8229600" cy="3337560"/>
        </p:xfrm>
        <a:graphic>
          <a:graphicData uri="http://schemas.openxmlformats.org/drawingml/2006/table">
            <a:tbl>
              <a:tblPr rtl="1" firstRow="1" bandRow="1">
                <a:tableStyleId>{2D5ABB26-0587-4C30-8999-92F81FD0307C}</a:tableStyleId>
              </a:tblPr>
              <a:tblGrid>
                <a:gridCol w="2057400">
                  <a:extLst>
                    <a:ext uri="{9D8B030D-6E8A-4147-A177-3AD203B41FA5}">
                      <a16:colId xmlns:a16="http://schemas.microsoft.com/office/drawing/2014/main" val="20000"/>
                    </a:ext>
                  </a:extLst>
                </a:gridCol>
                <a:gridCol w="1704920">
                  <a:extLst>
                    <a:ext uri="{9D8B030D-6E8A-4147-A177-3AD203B41FA5}">
                      <a16:colId xmlns:a16="http://schemas.microsoft.com/office/drawing/2014/main" val="20001"/>
                    </a:ext>
                  </a:extLst>
                </a:gridCol>
                <a:gridCol w="240988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rowSpan="2">
                  <a:txBody>
                    <a:bodyPr/>
                    <a:lstStyle/>
                    <a:p>
                      <a:pPr algn="ctr" rtl="1"/>
                      <a:r>
                        <a:rPr lang="he-IL" b="1" dirty="0"/>
                        <a:t>כמות מיוצרת (בטונות)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algn="ctr" rtl="1"/>
                      <a:r>
                        <a:rPr lang="he-IL" b="1" dirty="0"/>
                        <a:t>עלות (אלפי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0"/>
                  </a:ext>
                </a:extLst>
              </a:tr>
              <a:tr h="370840">
                <a:tc vMerge="1">
                  <a:txBody>
                    <a:bodyPr/>
                    <a:lstStyle/>
                    <a:p>
                      <a:pPr rtl="1"/>
                      <a:endParaRPr lang="he-IL" dirty="0"/>
                    </a:p>
                  </a:txBody>
                  <a:tcPr/>
                </a:tc>
                <a:tc>
                  <a:txBody>
                    <a:bodyPr/>
                    <a:lstStyle/>
                    <a:p>
                      <a:pPr algn="ctr" rtl="1"/>
                      <a:r>
                        <a:rPr lang="he-IL" b="1" dirty="0"/>
                        <a:t>משתנה</a:t>
                      </a:r>
                      <a:r>
                        <a:rPr lang="en-US" b="1" dirty="0"/>
                        <a:t>   </a:t>
                      </a:r>
                      <a:r>
                        <a:rPr lang="en-US" b="1" baseline="0" dirty="0"/>
                        <a:t>  (VC)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sz="1600" b="1" dirty="0"/>
                        <a:t>משתנה ממוצעת</a:t>
                      </a:r>
                      <a:r>
                        <a:rPr lang="en-US" sz="1600" b="1" dirty="0"/>
                        <a:t> </a:t>
                      </a:r>
                      <a:r>
                        <a:rPr lang="en-US" b="1" baseline="0" dirty="0"/>
                        <a:t>(AVC) </a:t>
                      </a:r>
                      <a:r>
                        <a:rPr lang="en-US" b="1" dirty="0"/>
                        <a:t>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שולית</a:t>
                      </a:r>
                      <a:r>
                        <a:rPr lang="he-IL" b="1" baseline="0" dirty="0"/>
                        <a:t> (</a:t>
                      </a:r>
                      <a:r>
                        <a:rPr lang="en-US" b="1" baseline="0" dirty="0"/>
                        <a:t>MC</a:t>
                      </a:r>
                      <a:r>
                        <a:rPr lang="he-IL" b="1" baseline="0" dirty="0"/>
                        <a:t>)</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70840">
                <a:tc>
                  <a:txBody>
                    <a:bodyPr/>
                    <a:lstStyle/>
                    <a:p>
                      <a:pPr algn="ctr" rtl="1"/>
                      <a:r>
                        <a:rPr lang="he-IL"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50=50-0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r>
                        <a:rPr lang="he-IL"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r>
                        <a:rPr lang="he-IL"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r>
                        <a:rPr lang="he-IL"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r>
                        <a:rPr lang="he-IL"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rtl="1"/>
                      <a:r>
                        <a:rPr lang="he-IL"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rtl="1"/>
                      <a:r>
                        <a:rPr lang="he-IL"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9" name="אליפסה 8"/>
          <p:cNvSpPr/>
          <p:nvPr/>
        </p:nvSpPr>
        <p:spPr>
          <a:xfrm>
            <a:off x="6816080" y="2777496"/>
            <a:ext cx="785818" cy="35719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p:cNvSpPr txBox="1"/>
          <p:nvPr/>
        </p:nvSpPr>
        <p:spPr>
          <a:xfrm>
            <a:off x="2960914" y="1166884"/>
            <a:ext cx="9131771" cy="369332"/>
          </a:xfrm>
          <a:prstGeom prst="rect">
            <a:avLst/>
          </a:prstGeom>
          <a:noFill/>
        </p:spPr>
        <p:txBody>
          <a:bodyPr wrap="square" rtlCol="1">
            <a:spAutoFit/>
          </a:bodyPr>
          <a:lstStyle/>
          <a:p>
            <a:r>
              <a:rPr lang="he-IL" dirty="0"/>
              <a:t>א.1 השלימו את הלוח על ידי חישוב העלות המשתנה הממוצעת והעלות השולית לכל רמה של תפוקה.</a:t>
            </a:r>
          </a:p>
        </p:txBody>
      </p:sp>
      <p:sp>
        <p:nvSpPr>
          <p:cNvPr id="3" name="Date Placeholder 2">
            <a:extLst>
              <a:ext uri="{FF2B5EF4-FFF2-40B4-BE49-F238E27FC236}">
                <a16:creationId xmlns:a16="http://schemas.microsoft.com/office/drawing/2014/main" id="{60521CE4-8238-50A3-425A-581D983248D6}"/>
              </a:ext>
            </a:extLst>
          </p:cNvPr>
          <p:cNvSpPr>
            <a:spLocks noGrp="1"/>
          </p:cNvSpPr>
          <p:nvPr>
            <p:ph type="dt" sz="half" idx="10"/>
          </p:nvPr>
        </p:nvSpPr>
        <p:spPr/>
        <p:txBody>
          <a:bodyPr/>
          <a:lstStyle/>
          <a:p>
            <a:fld id="{29F3F6DD-11DA-44E9-984E-A562988FC123}" type="datetime8">
              <a:rPr lang="he-IL" smtClean="0"/>
              <a:t>03 ינואר 26</a:t>
            </a:fld>
            <a:endParaRPr lang="he-IL"/>
          </a:p>
        </p:txBody>
      </p:sp>
      <p:sp>
        <p:nvSpPr>
          <p:cNvPr id="4" name="Slide Number Placeholder 3">
            <a:extLst>
              <a:ext uri="{FF2B5EF4-FFF2-40B4-BE49-F238E27FC236}">
                <a16:creationId xmlns:a16="http://schemas.microsoft.com/office/drawing/2014/main" id="{36C2DDF4-6D76-EB9C-7D5A-E1E78F866815}"/>
              </a:ext>
            </a:extLst>
          </p:cNvPr>
          <p:cNvSpPr>
            <a:spLocks noGrp="1"/>
          </p:cNvSpPr>
          <p:nvPr>
            <p:ph type="sldNum" sz="quarter" idx="12"/>
          </p:nvPr>
        </p:nvSpPr>
        <p:spPr/>
        <p:txBody>
          <a:bodyPr/>
          <a:lstStyle/>
          <a:p>
            <a:fld id="{D69A981F-4466-4789-9E41-1885E502A96E}" type="slidenum">
              <a:rPr lang="he-IL" smtClean="0"/>
              <a:t>10</a:t>
            </a:fld>
            <a:endParaRPr lang="he-IL"/>
          </a:p>
        </p:txBody>
      </p:sp>
    </p:spTree>
    <p:extLst>
      <p:ext uri="{BB962C8B-B14F-4D97-AF65-F5344CB8AC3E}">
        <p14:creationId xmlns:p14="http://schemas.microsoft.com/office/powerpoint/2010/main" val="3152081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62400" y="0"/>
            <a:ext cx="8229600" cy="1143000"/>
          </a:xfrm>
        </p:spPr>
        <p:txBody>
          <a:bodyPr>
            <a:normAutofit/>
          </a:bodyPr>
          <a:lstStyle/>
          <a:p>
            <a:pPr algn="r"/>
            <a:r>
              <a:rPr lang="he-IL" b="1" dirty="0">
                <a:solidFill>
                  <a:schemeClr val="tx2">
                    <a:lumMod val="75000"/>
                  </a:schemeClr>
                </a:solidFill>
              </a:rPr>
              <a:t>שאלה 1</a:t>
            </a:r>
          </a:p>
        </p:txBody>
      </p:sp>
      <p:graphicFrame>
        <p:nvGraphicFramePr>
          <p:cNvPr id="7" name="מציין מיקום תוכן 6"/>
          <p:cNvGraphicFramePr>
            <a:graphicFrameLocks noGrp="1"/>
          </p:cNvGraphicFramePr>
          <p:nvPr>
            <p:ph idx="1"/>
          </p:nvPr>
        </p:nvGraphicFramePr>
        <p:xfrm>
          <a:off x="1981200" y="2020266"/>
          <a:ext cx="8229600" cy="3337560"/>
        </p:xfrm>
        <a:graphic>
          <a:graphicData uri="http://schemas.openxmlformats.org/drawingml/2006/table">
            <a:tbl>
              <a:tblPr rtl="1" firstRow="1" bandRow="1">
                <a:tableStyleId>{2D5ABB26-0587-4C30-8999-92F81FD0307C}</a:tableStyleId>
              </a:tblPr>
              <a:tblGrid>
                <a:gridCol w="2057400">
                  <a:extLst>
                    <a:ext uri="{9D8B030D-6E8A-4147-A177-3AD203B41FA5}">
                      <a16:colId xmlns:a16="http://schemas.microsoft.com/office/drawing/2014/main" val="20000"/>
                    </a:ext>
                  </a:extLst>
                </a:gridCol>
                <a:gridCol w="1751666">
                  <a:extLst>
                    <a:ext uri="{9D8B030D-6E8A-4147-A177-3AD203B41FA5}">
                      <a16:colId xmlns:a16="http://schemas.microsoft.com/office/drawing/2014/main" val="20001"/>
                    </a:ext>
                  </a:extLst>
                </a:gridCol>
                <a:gridCol w="2363134">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rowSpan="2">
                  <a:txBody>
                    <a:bodyPr/>
                    <a:lstStyle/>
                    <a:p>
                      <a:pPr algn="ctr" rtl="1"/>
                      <a:r>
                        <a:rPr lang="he-IL" b="1" dirty="0"/>
                        <a:t>כמות מיוצרת (בטונות)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algn="ctr" rtl="1"/>
                      <a:r>
                        <a:rPr lang="he-IL" b="1" dirty="0"/>
                        <a:t>עלות (אלפי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0"/>
                  </a:ext>
                </a:extLst>
              </a:tr>
              <a:tr h="370840">
                <a:tc vMerge="1">
                  <a:txBody>
                    <a:bodyPr/>
                    <a:lstStyle/>
                    <a:p>
                      <a:pPr rtl="1"/>
                      <a:endParaRPr lang="he-IL" dirty="0"/>
                    </a:p>
                  </a:txBody>
                  <a:tcPr/>
                </a:tc>
                <a:tc>
                  <a:txBody>
                    <a:bodyPr/>
                    <a:lstStyle/>
                    <a:p>
                      <a:pPr algn="ctr" rtl="1"/>
                      <a:r>
                        <a:rPr lang="he-IL" b="1" dirty="0"/>
                        <a:t>משתנה</a:t>
                      </a:r>
                      <a:r>
                        <a:rPr lang="en-US" b="1" dirty="0"/>
                        <a:t>   </a:t>
                      </a:r>
                      <a:r>
                        <a:rPr lang="en-US" b="1" baseline="0" dirty="0"/>
                        <a:t>  (VC)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sz="1600" b="1" dirty="0"/>
                        <a:t>משתנה ממוצעת</a:t>
                      </a:r>
                      <a:r>
                        <a:rPr lang="en-US" sz="1600" b="1" dirty="0"/>
                        <a:t> </a:t>
                      </a:r>
                      <a:r>
                        <a:rPr lang="en-US" b="1" baseline="0" dirty="0"/>
                        <a:t>(AVC) </a:t>
                      </a:r>
                      <a:r>
                        <a:rPr lang="en-US" b="1" dirty="0"/>
                        <a:t>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שולית</a:t>
                      </a:r>
                      <a:r>
                        <a:rPr lang="he-IL" b="1" baseline="0" dirty="0"/>
                        <a:t> (</a:t>
                      </a:r>
                      <a:r>
                        <a:rPr lang="en-US" b="1" baseline="0" dirty="0"/>
                        <a:t>MC</a:t>
                      </a:r>
                      <a:r>
                        <a:rPr lang="he-IL" b="1" baseline="0" dirty="0"/>
                        <a:t>)</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70840">
                <a:tc>
                  <a:txBody>
                    <a:bodyPr/>
                    <a:lstStyle/>
                    <a:p>
                      <a:pPr algn="ctr" rtl="1"/>
                      <a:r>
                        <a:rPr lang="he-IL"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50=50-0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r>
                        <a:rPr lang="he-IL"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60=110-50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r>
                        <a:rPr lang="he-IL"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r>
                        <a:rPr lang="he-IL"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r>
                        <a:rPr lang="he-IL"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rtl="1"/>
                      <a:r>
                        <a:rPr lang="he-IL"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rtl="1"/>
                      <a:r>
                        <a:rPr lang="he-IL"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אליפסה 5"/>
          <p:cNvSpPr/>
          <p:nvPr/>
        </p:nvSpPr>
        <p:spPr>
          <a:xfrm>
            <a:off x="6816080" y="3134686"/>
            <a:ext cx="785818" cy="35719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אליפסה 8"/>
          <p:cNvSpPr/>
          <p:nvPr/>
        </p:nvSpPr>
        <p:spPr>
          <a:xfrm>
            <a:off x="6816080" y="2777496"/>
            <a:ext cx="785818" cy="35719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TextBox 9"/>
          <p:cNvSpPr txBox="1"/>
          <p:nvPr/>
        </p:nvSpPr>
        <p:spPr>
          <a:xfrm>
            <a:off x="3047999" y="1163411"/>
            <a:ext cx="9047967" cy="369332"/>
          </a:xfrm>
          <a:prstGeom prst="rect">
            <a:avLst/>
          </a:prstGeom>
          <a:noFill/>
        </p:spPr>
        <p:txBody>
          <a:bodyPr wrap="square" rtlCol="1">
            <a:spAutoFit/>
          </a:bodyPr>
          <a:lstStyle/>
          <a:p>
            <a:r>
              <a:rPr lang="he-IL" dirty="0"/>
              <a:t>א.1 השלימו את הלוח על ידי חישוב העלות המשתנה הממוצעת והעלות השולית לכל רמה של תפוקה.</a:t>
            </a:r>
          </a:p>
        </p:txBody>
      </p:sp>
      <p:sp>
        <p:nvSpPr>
          <p:cNvPr id="3" name="Date Placeholder 2">
            <a:extLst>
              <a:ext uri="{FF2B5EF4-FFF2-40B4-BE49-F238E27FC236}">
                <a16:creationId xmlns:a16="http://schemas.microsoft.com/office/drawing/2014/main" id="{5B9A5CA9-7913-9EAA-7AB0-716BCE555840}"/>
              </a:ext>
            </a:extLst>
          </p:cNvPr>
          <p:cNvSpPr>
            <a:spLocks noGrp="1"/>
          </p:cNvSpPr>
          <p:nvPr>
            <p:ph type="dt" sz="half" idx="10"/>
          </p:nvPr>
        </p:nvSpPr>
        <p:spPr/>
        <p:txBody>
          <a:bodyPr/>
          <a:lstStyle/>
          <a:p>
            <a:fld id="{F748B9EE-A753-4BEF-BB51-B529C9B50583}" type="datetime8">
              <a:rPr lang="he-IL" smtClean="0"/>
              <a:t>03 ינואר 26</a:t>
            </a:fld>
            <a:endParaRPr lang="he-IL"/>
          </a:p>
        </p:txBody>
      </p:sp>
      <p:sp>
        <p:nvSpPr>
          <p:cNvPr id="4" name="Slide Number Placeholder 3">
            <a:extLst>
              <a:ext uri="{FF2B5EF4-FFF2-40B4-BE49-F238E27FC236}">
                <a16:creationId xmlns:a16="http://schemas.microsoft.com/office/drawing/2014/main" id="{194854B7-B9F0-B19A-764B-1B0953A630B2}"/>
              </a:ext>
            </a:extLst>
          </p:cNvPr>
          <p:cNvSpPr>
            <a:spLocks noGrp="1"/>
          </p:cNvSpPr>
          <p:nvPr>
            <p:ph type="sldNum" sz="quarter" idx="12"/>
          </p:nvPr>
        </p:nvSpPr>
        <p:spPr/>
        <p:txBody>
          <a:bodyPr/>
          <a:lstStyle/>
          <a:p>
            <a:fld id="{D69A981F-4466-4789-9E41-1885E502A96E}" type="slidenum">
              <a:rPr lang="he-IL" smtClean="0"/>
              <a:t>11</a:t>
            </a:fld>
            <a:endParaRPr lang="he-IL"/>
          </a:p>
        </p:txBody>
      </p:sp>
    </p:spTree>
    <p:extLst>
      <p:ext uri="{BB962C8B-B14F-4D97-AF65-F5344CB8AC3E}">
        <p14:creationId xmlns:p14="http://schemas.microsoft.com/office/powerpoint/2010/main" val="1249796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62400" y="0"/>
            <a:ext cx="8229600" cy="1143000"/>
          </a:xfrm>
        </p:spPr>
        <p:txBody>
          <a:bodyPr>
            <a:normAutofit/>
          </a:bodyPr>
          <a:lstStyle/>
          <a:p>
            <a:pPr algn="r"/>
            <a:r>
              <a:rPr lang="he-IL" b="1" dirty="0">
                <a:solidFill>
                  <a:schemeClr val="tx2">
                    <a:lumMod val="75000"/>
                  </a:schemeClr>
                </a:solidFill>
              </a:rPr>
              <a:t>שאלה 1</a:t>
            </a:r>
          </a:p>
        </p:txBody>
      </p:sp>
      <p:graphicFrame>
        <p:nvGraphicFramePr>
          <p:cNvPr id="7" name="מציין מיקום תוכן 6"/>
          <p:cNvGraphicFramePr>
            <a:graphicFrameLocks noGrp="1"/>
          </p:cNvGraphicFramePr>
          <p:nvPr>
            <p:ph idx="1"/>
          </p:nvPr>
        </p:nvGraphicFramePr>
        <p:xfrm>
          <a:off x="1981200" y="2020266"/>
          <a:ext cx="8229600" cy="3337560"/>
        </p:xfrm>
        <a:graphic>
          <a:graphicData uri="http://schemas.openxmlformats.org/drawingml/2006/table">
            <a:tbl>
              <a:tblPr rtl="1" firstRow="1" bandRow="1">
                <a:tableStyleId>{2D5ABB26-0587-4C30-8999-92F81FD0307C}</a:tableStyleId>
              </a:tblPr>
              <a:tblGrid>
                <a:gridCol w="2057400">
                  <a:extLst>
                    <a:ext uri="{9D8B030D-6E8A-4147-A177-3AD203B41FA5}">
                      <a16:colId xmlns:a16="http://schemas.microsoft.com/office/drawing/2014/main" val="20000"/>
                    </a:ext>
                  </a:extLst>
                </a:gridCol>
                <a:gridCol w="1681170">
                  <a:extLst>
                    <a:ext uri="{9D8B030D-6E8A-4147-A177-3AD203B41FA5}">
                      <a16:colId xmlns:a16="http://schemas.microsoft.com/office/drawing/2014/main" val="20001"/>
                    </a:ext>
                  </a:extLst>
                </a:gridCol>
                <a:gridCol w="243363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rowSpan="2">
                  <a:txBody>
                    <a:bodyPr/>
                    <a:lstStyle/>
                    <a:p>
                      <a:pPr algn="ctr" rtl="1"/>
                      <a:r>
                        <a:rPr lang="he-IL" b="1" dirty="0"/>
                        <a:t>כמות מיוצרת (בטונות)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algn="ctr" rtl="1"/>
                      <a:r>
                        <a:rPr lang="he-IL" b="1" dirty="0"/>
                        <a:t>עלות (אלפי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0"/>
                  </a:ext>
                </a:extLst>
              </a:tr>
              <a:tr h="370840">
                <a:tc vMerge="1">
                  <a:txBody>
                    <a:bodyPr/>
                    <a:lstStyle/>
                    <a:p>
                      <a:pPr rtl="1"/>
                      <a:endParaRPr lang="he-IL" dirty="0"/>
                    </a:p>
                  </a:txBody>
                  <a:tcPr/>
                </a:tc>
                <a:tc>
                  <a:txBody>
                    <a:bodyPr/>
                    <a:lstStyle/>
                    <a:p>
                      <a:pPr algn="ctr" rtl="1"/>
                      <a:r>
                        <a:rPr lang="he-IL" b="1" dirty="0"/>
                        <a:t>משתנה</a:t>
                      </a:r>
                      <a:r>
                        <a:rPr lang="en-US" b="1" dirty="0"/>
                        <a:t>   </a:t>
                      </a:r>
                      <a:r>
                        <a:rPr lang="en-US" b="1" baseline="0" dirty="0"/>
                        <a:t>  (VC)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sz="1600" b="1" dirty="0"/>
                        <a:t>משתנה ממוצעת</a:t>
                      </a:r>
                      <a:r>
                        <a:rPr lang="en-US" sz="1600" b="1" dirty="0"/>
                        <a:t> </a:t>
                      </a:r>
                      <a:r>
                        <a:rPr lang="en-US" b="1" baseline="0" dirty="0"/>
                        <a:t>(AVC) </a:t>
                      </a:r>
                      <a:r>
                        <a:rPr lang="en-US" b="1" dirty="0"/>
                        <a:t>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שולית</a:t>
                      </a:r>
                      <a:r>
                        <a:rPr lang="he-IL" b="1" baseline="0" dirty="0"/>
                        <a:t> (</a:t>
                      </a:r>
                      <a:r>
                        <a:rPr lang="en-US" b="1" baseline="0" dirty="0"/>
                        <a:t>MC</a:t>
                      </a:r>
                      <a:r>
                        <a:rPr lang="he-IL" b="1" baseline="0" dirty="0"/>
                        <a:t>)</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70840">
                <a:tc>
                  <a:txBody>
                    <a:bodyPr/>
                    <a:lstStyle/>
                    <a:p>
                      <a:pPr algn="ctr" rtl="1"/>
                      <a:r>
                        <a:rPr lang="he-IL"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50=50-0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r>
                        <a:rPr lang="he-IL"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60=110-50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r>
                        <a:rPr lang="he-IL"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70=180-110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r>
                        <a:rPr lang="he-IL"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r>
                        <a:rPr lang="he-IL"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rtl="1"/>
                      <a:r>
                        <a:rPr lang="he-IL"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rtl="1"/>
                      <a:r>
                        <a:rPr lang="he-IL"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אליפסה 5"/>
          <p:cNvSpPr/>
          <p:nvPr/>
        </p:nvSpPr>
        <p:spPr>
          <a:xfrm>
            <a:off x="6816080" y="3134686"/>
            <a:ext cx="785818" cy="35719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אליפסה 8"/>
          <p:cNvSpPr/>
          <p:nvPr/>
        </p:nvSpPr>
        <p:spPr>
          <a:xfrm>
            <a:off x="6816080" y="3491876"/>
            <a:ext cx="785818" cy="35719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p:cNvSpPr txBox="1"/>
          <p:nvPr/>
        </p:nvSpPr>
        <p:spPr>
          <a:xfrm>
            <a:off x="3047999" y="1182461"/>
            <a:ext cx="9010389" cy="369332"/>
          </a:xfrm>
          <a:prstGeom prst="rect">
            <a:avLst/>
          </a:prstGeom>
          <a:noFill/>
        </p:spPr>
        <p:txBody>
          <a:bodyPr wrap="square" rtlCol="1">
            <a:spAutoFit/>
          </a:bodyPr>
          <a:lstStyle/>
          <a:p>
            <a:r>
              <a:rPr lang="he-IL" dirty="0"/>
              <a:t>א.1 השלימו את הלוח על ידי חישוב העלות המשתנה הממוצעת והעלות השולית לכל רמה של תפוקה.</a:t>
            </a:r>
          </a:p>
        </p:txBody>
      </p:sp>
      <p:sp>
        <p:nvSpPr>
          <p:cNvPr id="3" name="Date Placeholder 2">
            <a:extLst>
              <a:ext uri="{FF2B5EF4-FFF2-40B4-BE49-F238E27FC236}">
                <a16:creationId xmlns:a16="http://schemas.microsoft.com/office/drawing/2014/main" id="{DD0E2F88-46EF-E48B-8115-C4E794453952}"/>
              </a:ext>
            </a:extLst>
          </p:cNvPr>
          <p:cNvSpPr>
            <a:spLocks noGrp="1"/>
          </p:cNvSpPr>
          <p:nvPr>
            <p:ph type="dt" sz="half" idx="10"/>
          </p:nvPr>
        </p:nvSpPr>
        <p:spPr/>
        <p:txBody>
          <a:bodyPr/>
          <a:lstStyle/>
          <a:p>
            <a:fld id="{5CEE1ED2-AC24-400A-B6D7-F0AC3EF14190}" type="datetime8">
              <a:rPr lang="he-IL" smtClean="0"/>
              <a:t>03 ינואר 26</a:t>
            </a:fld>
            <a:endParaRPr lang="he-IL"/>
          </a:p>
        </p:txBody>
      </p:sp>
      <p:sp>
        <p:nvSpPr>
          <p:cNvPr id="4" name="Slide Number Placeholder 3">
            <a:extLst>
              <a:ext uri="{FF2B5EF4-FFF2-40B4-BE49-F238E27FC236}">
                <a16:creationId xmlns:a16="http://schemas.microsoft.com/office/drawing/2014/main" id="{F5AF9A4C-0EC3-7AC0-2ACD-4B11958A64C5}"/>
              </a:ext>
            </a:extLst>
          </p:cNvPr>
          <p:cNvSpPr>
            <a:spLocks noGrp="1"/>
          </p:cNvSpPr>
          <p:nvPr>
            <p:ph type="sldNum" sz="quarter" idx="12"/>
          </p:nvPr>
        </p:nvSpPr>
        <p:spPr/>
        <p:txBody>
          <a:bodyPr/>
          <a:lstStyle/>
          <a:p>
            <a:fld id="{D69A981F-4466-4789-9E41-1885E502A96E}" type="slidenum">
              <a:rPr lang="he-IL" smtClean="0"/>
              <a:t>12</a:t>
            </a:fld>
            <a:endParaRPr lang="he-IL"/>
          </a:p>
        </p:txBody>
      </p:sp>
    </p:spTree>
    <p:extLst>
      <p:ext uri="{BB962C8B-B14F-4D97-AF65-F5344CB8AC3E}">
        <p14:creationId xmlns:p14="http://schemas.microsoft.com/office/powerpoint/2010/main" val="488568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970982" y="0"/>
            <a:ext cx="4221017" cy="1143000"/>
          </a:xfrm>
        </p:spPr>
        <p:txBody>
          <a:bodyPr>
            <a:normAutofit/>
          </a:bodyPr>
          <a:lstStyle/>
          <a:p>
            <a:pPr algn="r"/>
            <a:r>
              <a:rPr lang="he-IL" b="1" dirty="0">
                <a:solidFill>
                  <a:schemeClr val="tx2">
                    <a:lumMod val="75000"/>
                  </a:schemeClr>
                </a:solidFill>
              </a:rPr>
              <a:t>שאלה 1</a:t>
            </a:r>
          </a:p>
        </p:txBody>
      </p:sp>
      <p:graphicFrame>
        <p:nvGraphicFramePr>
          <p:cNvPr id="7" name="מציין מיקום תוכן 6"/>
          <p:cNvGraphicFramePr>
            <a:graphicFrameLocks noGrp="1"/>
          </p:cNvGraphicFramePr>
          <p:nvPr>
            <p:ph idx="1"/>
            <p:extLst>
              <p:ext uri="{D42A27DB-BD31-4B8C-83A1-F6EECF244321}">
                <p14:modId xmlns:p14="http://schemas.microsoft.com/office/powerpoint/2010/main" val="746492260"/>
              </p:ext>
            </p:extLst>
          </p:nvPr>
        </p:nvGraphicFramePr>
        <p:xfrm>
          <a:off x="2092036" y="1760220"/>
          <a:ext cx="8229600" cy="3337560"/>
        </p:xfrm>
        <a:graphic>
          <a:graphicData uri="http://schemas.openxmlformats.org/drawingml/2006/table">
            <a:tbl>
              <a:tblPr rtl="1" firstRow="1" bandRow="1">
                <a:tableStyleId>{2D5ABB26-0587-4C30-8999-92F81FD0307C}</a:tableStyleId>
              </a:tblPr>
              <a:tblGrid>
                <a:gridCol w="2057400">
                  <a:extLst>
                    <a:ext uri="{9D8B030D-6E8A-4147-A177-3AD203B41FA5}">
                      <a16:colId xmlns:a16="http://schemas.microsoft.com/office/drawing/2014/main" val="20000"/>
                    </a:ext>
                  </a:extLst>
                </a:gridCol>
                <a:gridCol w="1728672">
                  <a:extLst>
                    <a:ext uri="{9D8B030D-6E8A-4147-A177-3AD203B41FA5}">
                      <a16:colId xmlns:a16="http://schemas.microsoft.com/office/drawing/2014/main" val="20001"/>
                    </a:ext>
                  </a:extLst>
                </a:gridCol>
                <a:gridCol w="2386128">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rowSpan="2">
                  <a:txBody>
                    <a:bodyPr/>
                    <a:lstStyle/>
                    <a:p>
                      <a:pPr algn="ctr" rtl="1"/>
                      <a:r>
                        <a:rPr lang="he-IL" b="1" dirty="0"/>
                        <a:t>כמות מיוצרת (בטונות)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algn="ctr" rtl="1"/>
                      <a:r>
                        <a:rPr lang="he-IL" b="1" dirty="0"/>
                        <a:t>עלות (אלפי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0"/>
                  </a:ext>
                </a:extLst>
              </a:tr>
              <a:tr h="370840">
                <a:tc vMerge="1">
                  <a:txBody>
                    <a:bodyPr/>
                    <a:lstStyle/>
                    <a:p>
                      <a:pPr rtl="1"/>
                      <a:endParaRPr lang="he-IL" dirty="0"/>
                    </a:p>
                  </a:txBody>
                  <a:tcPr/>
                </a:tc>
                <a:tc>
                  <a:txBody>
                    <a:bodyPr/>
                    <a:lstStyle/>
                    <a:p>
                      <a:pPr algn="ctr" rtl="1"/>
                      <a:r>
                        <a:rPr lang="he-IL" b="1" dirty="0"/>
                        <a:t>משתנה</a:t>
                      </a:r>
                      <a:r>
                        <a:rPr lang="en-US" b="1" dirty="0"/>
                        <a:t>   </a:t>
                      </a:r>
                      <a:r>
                        <a:rPr lang="en-US" b="1" baseline="0" dirty="0"/>
                        <a:t>  (VC)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sz="1600" b="1" dirty="0"/>
                        <a:t>משתנה ממוצעת</a:t>
                      </a:r>
                      <a:r>
                        <a:rPr lang="en-US" sz="1600" b="1" dirty="0"/>
                        <a:t> </a:t>
                      </a:r>
                      <a:r>
                        <a:rPr lang="en-US" b="1" baseline="0" dirty="0"/>
                        <a:t>(AVC) </a:t>
                      </a:r>
                      <a:r>
                        <a:rPr lang="en-US" b="1" dirty="0"/>
                        <a:t>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שולית</a:t>
                      </a:r>
                      <a:r>
                        <a:rPr lang="he-IL" b="1" baseline="0" dirty="0"/>
                        <a:t> (</a:t>
                      </a:r>
                      <a:r>
                        <a:rPr lang="en-US" b="1" baseline="0" dirty="0"/>
                        <a:t>MC</a:t>
                      </a:r>
                      <a:r>
                        <a:rPr lang="he-IL" b="1" baseline="0" dirty="0"/>
                        <a:t>)</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70840">
                <a:tc>
                  <a:txBody>
                    <a:bodyPr/>
                    <a:lstStyle/>
                    <a:p>
                      <a:pPr algn="ctr" rtl="1"/>
                      <a:r>
                        <a:rPr lang="he-IL"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0070C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r>
                        <a:rPr lang="he-IL"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0070C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r>
                        <a:rPr lang="he-IL"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0070C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r>
                        <a:rPr lang="he-IL"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0070C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r>
                        <a:rPr lang="he-IL"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0070C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rtl="1"/>
                      <a:r>
                        <a:rPr lang="he-IL"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0070C0"/>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rtl="1"/>
                      <a:r>
                        <a:rPr lang="he-IL"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0070C0"/>
                          </a:solidFill>
                        </a:rPr>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Box 5"/>
          <p:cNvSpPr txBox="1"/>
          <p:nvPr/>
        </p:nvSpPr>
        <p:spPr>
          <a:xfrm>
            <a:off x="3047999" y="1185733"/>
            <a:ext cx="9144000" cy="369332"/>
          </a:xfrm>
          <a:prstGeom prst="rect">
            <a:avLst/>
          </a:prstGeom>
          <a:noFill/>
        </p:spPr>
        <p:txBody>
          <a:bodyPr wrap="square" rtlCol="1">
            <a:spAutoFit/>
          </a:bodyPr>
          <a:lstStyle/>
          <a:p>
            <a:r>
              <a:rPr lang="he-IL" dirty="0"/>
              <a:t>א.1 השלימו את הלוח על ידי חישוב העלות המשתנה הממוצעת והעלות השולית לכל רמה של תפוקה.</a:t>
            </a:r>
          </a:p>
        </p:txBody>
      </p:sp>
      <p:sp>
        <p:nvSpPr>
          <p:cNvPr id="3" name="Date Placeholder 2">
            <a:extLst>
              <a:ext uri="{FF2B5EF4-FFF2-40B4-BE49-F238E27FC236}">
                <a16:creationId xmlns:a16="http://schemas.microsoft.com/office/drawing/2014/main" id="{1E998800-4D90-211E-F8C0-34638A0E421D}"/>
              </a:ext>
            </a:extLst>
          </p:cNvPr>
          <p:cNvSpPr>
            <a:spLocks noGrp="1"/>
          </p:cNvSpPr>
          <p:nvPr>
            <p:ph type="dt" sz="half" idx="10"/>
          </p:nvPr>
        </p:nvSpPr>
        <p:spPr/>
        <p:txBody>
          <a:bodyPr/>
          <a:lstStyle/>
          <a:p>
            <a:fld id="{0A7846F0-C6E0-4CA7-8264-4B2B2D2535F4}" type="datetime8">
              <a:rPr lang="he-IL" smtClean="0"/>
              <a:t>03 ינואר 26</a:t>
            </a:fld>
            <a:endParaRPr lang="he-IL"/>
          </a:p>
        </p:txBody>
      </p:sp>
      <p:sp>
        <p:nvSpPr>
          <p:cNvPr id="4" name="Slide Number Placeholder 3">
            <a:extLst>
              <a:ext uri="{FF2B5EF4-FFF2-40B4-BE49-F238E27FC236}">
                <a16:creationId xmlns:a16="http://schemas.microsoft.com/office/drawing/2014/main" id="{4909631F-28A7-20AB-E3A8-1BF4D306024E}"/>
              </a:ext>
            </a:extLst>
          </p:cNvPr>
          <p:cNvSpPr>
            <a:spLocks noGrp="1"/>
          </p:cNvSpPr>
          <p:nvPr>
            <p:ph type="sldNum" sz="quarter" idx="12"/>
          </p:nvPr>
        </p:nvSpPr>
        <p:spPr/>
        <p:txBody>
          <a:bodyPr/>
          <a:lstStyle/>
          <a:p>
            <a:fld id="{D69A981F-4466-4789-9E41-1885E502A96E}" type="slidenum">
              <a:rPr lang="he-IL" smtClean="0"/>
              <a:t>13</a:t>
            </a:fld>
            <a:endParaRPr lang="he-IL"/>
          </a:p>
        </p:txBody>
      </p:sp>
    </p:spTree>
    <p:extLst>
      <p:ext uri="{BB962C8B-B14F-4D97-AF65-F5344CB8AC3E}">
        <p14:creationId xmlns:p14="http://schemas.microsoft.com/office/powerpoint/2010/main" val="2285181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970982" y="0"/>
            <a:ext cx="4221017" cy="1143000"/>
          </a:xfrm>
        </p:spPr>
        <p:txBody>
          <a:bodyPr>
            <a:normAutofit/>
          </a:bodyPr>
          <a:lstStyle/>
          <a:p>
            <a:pPr algn="r"/>
            <a:r>
              <a:rPr lang="he-IL" b="1" dirty="0">
                <a:solidFill>
                  <a:schemeClr val="tx2">
                    <a:lumMod val="75000"/>
                  </a:schemeClr>
                </a:solidFill>
              </a:rPr>
              <a:t>שאלה 1</a:t>
            </a:r>
          </a:p>
        </p:txBody>
      </p:sp>
      <p:graphicFrame>
        <p:nvGraphicFramePr>
          <p:cNvPr id="7" name="מציין מיקום תוכן 6"/>
          <p:cNvGraphicFramePr>
            <a:graphicFrameLocks noGrp="1"/>
          </p:cNvGraphicFramePr>
          <p:nvPr>
            <p:ph idx="1"/>
          </p:nvPr>
        </p:nvGraphicFramePr>
        <p:xfrm>
          <a:off x="1981200" y="2563992"/>
          <a:ext cx="8229600" cy="3337560"/>
        </p:xfrm>
        <a:graphic>
          <a:graphicData uri="http://schemas.openxmlformats.org/drawingml/2006/table">
            <a:tbl>
              <a:tblPr rtl="1" firstRow="1" bandRow="1">
                <a:tableStyleId>{2D5ABB26-0587-4C30-8999-92F81FD0307C}</a:tableStyleId>
              </a:tblPr>
              <a:tblGrid>
                <a:gridCol w="2057400">
                  <a:extLst>
                    <a:ext uri="{9D8B030D-6E8A-4147-A177-3AD203B41FA5}">
                      <a16:colId xmlns:a16="http://schemas.microsoft.com/office/drawing/2014/main" val="20000"/>
                    </a:ext>
                  </a:extLst>
                </a:gridCol>
                <a:gridCol w="1728672">
                  <a:extLst>
                    <a:ext uri="{9D8B030D-6E8A-4147-A177-3AD203B41FA5}">
                      <a16:colId xmlns:a16="http://schemas.microsoft.com/office/drawing/2014/main" val="20001"/>
                    </a:ext>
                  </a:extLst>
                </a:gridCol>
                <a:gridCol w="2386128">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rowSpan="2">
                  <a:txBody>
                    <a:bodyPr/>
                    <a:lstStyle/>
                    <a:p>
                      <a:pPr algn="ctr" rtl="1"/>
                      <a:r>
                        <a:rPr lang="he-IL" b="1" dirty="0"/>
                        <a:t>כמות מיוצרת (בטונות)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algn="ctr" rtl="1"/>
                      <a:r>
                        <a:rPr lang="he-IL" b="1" dirty="0"/>
                        <a:t>עלות (אלפי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0"/>
                  </a:ext>
                </a:extLst>
              </a:tr>
              <a:tr h="370840">
                <a:tc vMerge="1">
                  <a:txBody>
                    <a:bodyPr/>
                    <a:lstStyle/>
                    <a:p>
                      <a:pPr rtl="1"/>
                      <a:endParaRPr lang="he-IL" dirty="0"/>
                    </a:p>
                  </a:txBody>
                  <a:tcPr/>
                </a:tc>
                <a:tc>
                  <a:txBody>
                    <a:bodyPr/>
                    <a:lstStyle/>
                    <a:p>
                      <a:pPr algn="ctr" rtl="1"/>
                      <a:r>
                        <a:rPr lang="he-IL" b="1" dirty="0"/>
                        <a:t>משתנה</a:t>
                      </a:r>
                      <a:r>
                        <a:rPr lang="en-US" b="1" dirty="0"/>
                        <a:t>   </a:t>
                      </a:r>
                      <a:r>
                        <a:rPr lang="en-US" b="1" baseline="0" dirty="0"/>
                        <a:t>  (VC)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sz="1600" b="1" dirty="0"/>
                        <a:t>משתנה ממוצעת</a:t>
                      </a:r>
                      <a:r>
                        <a:rPr lang="en-US" sz="1600" b="1" dirty="0"/>
                        <a:t> </a:t>
                      </a:r>
                      <a:r>
                        <a:rPr lang="en-US" b="1" baseline="0" dirty="0"/>
                        <a:t>(AVC) </a:t>
                      </a:r>
                      <a:r>
                        <a:rPr lang="en-US" b="1" dirty="0"/>
                        <a:t>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שולית</a:t>
                      </a:r>
                      <a:r>
                        <a:rPr lang="he-IL" b="1" baseline="0" dirty="0"/>
                        <a:t> (</a:t>
                      </a:r>
                      <a:r>
                        <a:rPr lang="en-US" b="1" baseline="0" dirty="0"/>
                        <a:t>MC</a:t>
                      </a:r>
                      <a:r>
                        <a:rPr lang="he-IL" b="1" baseline="0" dirty="0"/>
                        <a:t>)</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70840">
                <a:tc>
                  <a:txBody>
                    <a:bodyPr/>
                    <a:lstStyle/>
                    <a:p>
                      <a:pPr algn="ctr" rtl="1"/>
                      <a:r>
                        <a:rPr lang="he-IL"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0070C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r>
                        <a:rPr lang="he-IL"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0070C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r>
                        <a:rPr lang="he-IL"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0070C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r>
                        <a:rPr lang="he-IL"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0070C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r>
                        <a:rPr lang="he-IL"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0070C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rtl="1"/>
                      <a:r>
                        <a:rPr lang="he-IL"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0070C0"/>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rtl="1"/>
                      <a:r>
                        <a:rPr lang="he-IL"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0070C0"/>
                          </a:solidFill>
                        </a:rPr>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Box 5"/>
          <p:cNvSpPr txBox="1"/>
          <p:nvPr/>
        </p:nvSpPr>
        <p:spPr>
          <a:xfrm>
            <a:off x="2890983" y="1967261"/>
            <a:ext cx="9144000" cy="369332"/>
          </a:xfrm>
          <a:prstGeom prst="rect">
            <a:avLst/>
          </a:prstGeom>
          <a:noFill/>
        </p:spPr>
        <p:txBody>
          <a:bodyPr wrap="square" rtlCol="1">
            <a:spAutoFit/>
          </a:bodyPr>
          <a:lstStyle/>
          <a:p>
            <a:r>
              <a:rPr lang="he-IL" dirty="0"/>
              <a:t>א.1 השלימו את הלוח על ידי חישוב העלות המשתנה הממוצעת והעלות השולית לכל רמה של תפוקה.</a:t>
            </a:r>
          </a:p>
        </p:txBody>
      </p:sp>
      <p:cxnSp>
        <p:nvCxnSpPr>
          <p:cNvPr id="4" name="Straight Connector 3">
            <a:extLst>
              <a:ext uri="{FF2B5EF4-FFF2-40B4-BE49-F238E27FC236}">
                <a16:creationId xmlns:a16="http://schemas.microsoft.com/office/drawing/2014/main" id="{23153F33-C841-4CC4-9505-516A9B778F1F}"/>
              </a:ext>
            </a:extLst>
          </p:cNvPr>
          <p:cNvCxnSpPr/>
          <p:nvPr/>
        </p:nvCxnSpPr>
        <p:spPr>
          <a:xfrm>
            <a:off x="692727" y="415636"/>
            <a:ext cx="1320800" cy="75124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7D1678C-BDB0-4831-8807-356371520850}"/>
              </a:ext>
            </a:extLst>
          </p:cNvPr>
          <p:cNvCxnSpPr>
            <a:cxnSpLocks/>
          </p:cNvCxnSpPr>
          <p:nvPr/>
        </p:nvCxnSpPr>
        <p:spPr>
          <a:xfrm>
            <a:off x="563418" y="1339273"/>
            <a:ext cx="18010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88D0FD1-20AD-40C2-8792-1AD79FC8777A}"/>
              </a:ext>
            </a:extLst>
          </p:cNvPr>
          <p:cNvCxnSpPr>
            <a:cxnSpLocks/>
          </p:cNvCxnSpPr>
          <p:nvPr/>
        </p:nvCxnSpPr>
        <p:spPr>
          <a:xfrm flipV="1">
            <a:off x="563418" y="78509"/>
            <a:ext cx="0" cy="1260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4517FC7-38BF-412E-88D5-850DC5BEB29A}"/>
              </a:ext>
            </a:extLst>
          </p:cNvPr>
          <p:cNvCxnSpPr>
            <a:cxnSpLocks/>
          </p:cNvCxnSpPr>
          <p:nvPr/>
        </p:nvCxnSpPr>
        <p:spPr>
          <a:xfrm>
            <a:off x="3218872" y="1288473"/>
            <a:ext cx="18010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A77E4BF-5290-4774-983A-405633FBC532}"/>
              </a:ext>
            </a:extLst>
          </p:cNvPr>
          <p:cNvCxnSpPr>
            <a:cxnSpLocks/>
          </p:cNvCxnSpPr>
          <p:nvPr/>
        </p:nvCxnSpPr>
        <p:spPr>
          <a:xfrm flipV="1">
            <a:off x="3218872" y="27709"/>
            <a:ext cx="0" cy="1260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FA4BC4A-1282-4461-B2B0-08A74AF98624}"/>
              </a:ext>
            </a:extLst>
          </p:cNvPr>
          <p:cNvCxnSpPr>
            <a:cxnSpLocks/>
          </p:cNvCxnSpPr>
          <p:nvPr/>
        </p:nvCxnSpPr>
        <p:spPr>
          <a:xfrm flipV="1">
            <a:off x="3410527" y="332509"/>
            <a:ext cx="1320800" cy="792041"/>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07DDAFC-193F-4899-9635-E85DC741EF9E}"/>
              </a:ext>
            </a:extLst>
          </p:cNvPr>
          <p:cNvSpPr txBox="1"/>
          <p:nvPr/>
        </p:nvSpPr>
        <p:spPr>
          <a:xfrm>
            <a:off x="1006764" y="1469703"/>
            <a:ext cx="1219200" cy="369332"/>
          </a:xfrm>
          <a:prstGeom prst="rect">
            <a:avLst/>
          </a:prstGeom>
          <a:noFill/>
        </p:spPr>
        <p:txBody>
          <a:bodyPr wrap="square" rtlCol="0">
            <a:spAutoFit/>
          </a:bodyPr>
          <a:lstStyle/>
          <a:p>
            <a:r>
              <a:rPr lang="he-IL" dirty="0"/>
              <a:t>מס' עובדים</a:t>
            </a:r>
            <a:endParaRPr lang="en-IL" dirty="0"/>
          </a:p>
        </p:txBody>
      </p:sp>
      <p:sp>
        <p:nvSpPr>
          <p:cNvPr id="18" name="TextBox 17">
            <a:extLst>
              <a:ext uri="{FF2B5EF4-FFF2-40B4-BE49-F238E27FC236}">
                <a16:creationId xmlns:a16="http://schemas.microsoft.com/office/drawing/2014/main" id="{E6F15D3C-32F3-4F29-B472-1BE0C44F9CED}"/>
              </a:ext>
            </a:extLst>
          </p:cNvPr>
          <p:cNvSpPr txBox="1"/>
          <p:nvPr/>
        </p:nvSpPr>
        <p:spPr>
          <a:xfrm>
            <a:off x="-397149" y="234375"/>
            <a:ext cx="1089876" cy="800219"/>
          </a:xfrm>
          <a:prstGeom prst="rect">
            <a:avLst/>
          </a:prstGeom>
          <a:noFill/>
        </p:spPr>
        <p:txBody>
          <a:bodyPr wrap="square" rtlCol="0">
            <a:spAutoFit/>
          </a:bodyPr>
          <a:lstStyle/>
          <a:p>
            <a:r>
              <a:rPr lang="he-IL" sz="1400" dirty="0"/>
              <a:t>תפוקה שולית</a:t>
            </a:r>
          </a:p>
          <a:p>
            <a:endParaRPr lang="en-IL" dirty="0"/>
          </a:p>
        </p:txBody>
      </p:sp>
      <p:sp>
        <p:nvSpPr>
          <p:cNvPr id="19" name="TextBox 18">
            <a:extLst>
              <a:ext uri="{FF2B5EF4-FFF2-40B4-BE49-F238E27FC236}">
                <a16:creationId xmlns:a16="http://schemas.microsoft.com/office/drawing/2014/main" id="{49F3FDFE-03F5-46EC-BF45-4C36D42CF704}"/>
              </a:ext>
            </a:extLst>
          </p:cNvPr>
          <p:cNvSpPr txBox="1"/>
          <p:nvPr/>
        </p:nvSpPr>
        <p:spPr>
          <a:xfrm>
            <a:off x="3325076" y="1235328"/>
            <a:ext cx="1556341" cy="369332"/>
          </a:xfrm>
          <a:prstGeom prst="rect">
            <a:avLst/>
          </a:prstGeom>
          <a:noFill/>
        </p:spPr>
        <p:txBody>
          <a:bodyPr wrap="square" rtlCol="0">
            <a:spAutoFit/>
          </a:bodyPr>
          <a:lstStyle/>
          <a:p>
            <a:r>
              <a:rPr lang="he-IL" dirty="0"/>
              <a:t>כמות מיוצרת</a:t>
            </a:r>
            <a:endParaRPr lang="en-IL" dirty="0"/>
          </a:p>
        </p:txBody>
      </p:sp>
      <p:sp>
        <p:nvSpPr>
          <p:cNvPr id="20" name="TextBox 19">
            <a:extLst>
              <a:ext uri="{FF2B5EF4-FFF2-40B4-BE49-F238E27FC236}">
                <a16:creationId xmlns:a16="http://schemas.microsoft.com/office/drawing/2014/main" id="{A06243D5-9E54-4162-93F3-CC1478A67C00}"/>
              </a:ext>
            </a:extLst>
          </p:cNvPr>
          <p:cNvSpPr txBox="1"/>
          <p:nvPr/>
        </p:nvSpPr>
        <p:spPr>
          <a:xfrm>
            <a:off x="2142835" y="248900"/>
            <a:ext cx="1089876" cy="584775"/>
          </a:xfrm>
          <a:prstGeom prst="rect">
            <a:avLst/>
          </a:prstGeom>
          <a:noFill/>
        </p:spPr>
        <p:txBody>
          <a:bodyPr wrap="square" rtlCol="0">
            <a:spAutoFit/>
          </a:bodyPr>
          <a:lstStyle/>
          <a:p>
            <a:r>
              <a:rPr lang="he-IL" sz="1400" dirty="0"/>
              <a:t>עלות שולית</a:t>
            </a:r>
          </a:p>
          <a:p>
            <a:endParaRPr lang="en-IL" dirty="0"/>
          </a:p>
        </p:txBody>
      </p:sp>
      <p:sp>
        <p:nvSpPr>
          <p:cNvPr id="3" name="Date Placeholder 2">
            <a:extLst>
              <a:ext uri="{FF2B5EF4-FFF2-40B4-BE49-F238E27FC236}">
                <a16:creationId xmlns:a16="http://schemas.microsoft.com/office/drawing/2014/main" id="{E3645B4A-2C07-6DE8-E5C9-CD87456FB191}"/>
              </a:ext>
            </a:extLst>
          </p:cNvPr>
          <p:cNvSpPr>
            <a:spLocks noGrp="1"/>
          </p:cNvSpPr>
          <p:nvPr>
            <p:ph type="dt" sz="half" idx="10"/>
          </p:nvPr>
        </p:nvSpPr>
        <p:spPr/>
        <p:txBody>
          <a:bodyPr/>
          <a:lstStyle/>
          <a:p>
            <a:fld id="{4E3B04CD-BEA4-430F-B7ED-8883C66B012C}" type="datetime8">
              <a:rPr lang="he-IL" smtClean="0"/>
              <a:t>03 ינואר 26</a:t>
            </a:fld>
            <a:endParaRPr lang="he-IL"/>
          </a:p>
        </p:txBody>
      </p:sp>
      <p:sp>
        <p:nvSpPr>
          <p:cNvPr id="8" name="Slide Number Placeholder 7">
            <a:extLst>
              <a:ext uri="{FF2B5EF4-FFF2-40B4-BE49-F238E27FC236}">
                <a16:creationId xmlns:a16="http://schemas.microsoft.com/office/drawing/2014/main" id="{EFD773BB-788E-BB49-5A35-E0FC269BFA7D}"/>
              </a:ext>
            </a:extLst>
          </p:cNvPr>
          <p:cNvSpPr>
            <a:spLocks noGrp="1"/>
          </p:cNvSpPr>
          <p:nvPr>
            <p:ph type="sldNum" sz="quarter" idx="12"/>
          </p:nvPr>
        </p:nvSpPr>
        <p:spPr/>
        <p:txBody>
          <a:bodyPr/>
          <a:lstStyle/>
          <a:p>
            <a:fld id="{D69A981F-4466-4789-9E41-1885E502A96E}" type="slidenum">
              <a:rPr lang="he-IL" smtClean="0"/>
              <a:t>14</a:t>
            </a:fld>
            <a:endParaRPr lang="he-IL"/>
          </a:p>
        </p:txBody>
      </p:sp>
    </p:spTree>
    <p:extLst>
      <p:ext uri="{BB962C8B-B14F-4D97-AF65-F5344CB8AC3E}">
        <p14:creationId xmlns:p14="http://schemas.microsoft.com/office/powerpoint/2010/main" val="2714037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62400" y="62013"/>
            <a:ext cx="8229600" cy="1143000"/>
          </a:xfrm>
        </p:spPr>
        <p:txBody>
          <a:bodyPr>
            <a:normAutofit/>
          </a:bodyPr>
          <a:lstStyle/>
          <a:p>
            <a:pPr algn="r"/>
            <a:r>
              <a:rPr lang="he-IL" b="1" dirty="0">
                <a:solidFill>
                  <a:schemeClr val="tx2">
                    <a:lumMod val="75000"/>
                  </a:schemeClr>
                </a:solidFill>
              </a:rPr>
              <a:t>שאלה 1</a:t>
            </a:r>
          </a:p>
        </p:txBody>
      </p:sp>
      <p:sp>
        <p:nvSpPr>
          <p:cNvPr id="8" name="TextBox 7"/>
          <p:cNvSpPr txBox="1"/>
          <p:nvPr/>
        </p:nvSpPr>
        <p:spPr>
          <a:xfrm>
            <a:off x="713433" y="1320107"/>
            <a:ext cx="11254154" cy="463075"/>
          </a:xfrm>
          <a:prstGeom prst="rect">
            <a:avLst/>
          </a:prstGeom>
          <a:noFill/>
        </p:spPr>
        <p:txBody>
          <a:bodyPr wrap="square" rtlCol="1">
            <a:spAutoFit/>
          </a:bodyPr>
          <a:lstStyle/>
          <a:p>
            <a:pPr>
              <a:lnSpc>
                <a:spcPct val="150000"/>
              </a:lnSpc>
            </a:pPr>
            <a:r>
              <a:rPr lang="he-IL" dirty="0"/>
              <a:t>א.2.שרטטו בתרשים את עקומת העלות המשתנה הממוצעת (</a:t>
            </a:r>
            <a:r>
              <a:rPr lang="en-US" dirty="0"/>
              <a:t>AVC</a:t>
            </a:r>
            <a:r>
              <a:rPr lang="he-IL" dirty="0"/>
              <a:t>) ואת עקומת העלות השולית (</a:t>
            </a:r>
            <a:r>
              <a:rPr lang="en-US" dirty="0"/>
              <a:t>MC</a:t>
            </a:r>
            <a:r>
              <a:rPr lang="he-IL" dirty="0"/>
              <a:t>) על מערכת צירים אחת. </a:t>
            </a:r>
          </a:p>
        </p:txBody>
      </p:sp>
      <p:sp>
        <p:nvSpPr>
          <p:cNvPr id="13" name="מציין מיקום תוכן 12"/>
          <p:cNvSpPr>
            <a:spLocks noGrp="1"/>
          </p:cNvSpPr>
          <p:nvPr>
            <p:ph idx="1"/>
          </p:nvPr>
        </p:nvSpPr>
        <p:spPr>
          <a:xfrm>
            <a:off x="1981200" y="2428869"/>
            <a:ext cx="8229600" cy="3697295"/>
          </a:xfrm>
        </p:spPr>
        <p:txBody>
          <a:bodyPr/>
          <a:lstStyle/>
          <a:p>
            <a:endParaRPr lang="he-IL" dirty="0"/>
          </a:p>
          <a:p>
            <a:pPr marL="0" indent="0">
              <a:buNone/>
            </a:pPr>
            <a:r>
              <a:rPr lang="he-IL" dirty="0"/>
              <a:t>לפני שנצייר נסתכל על הטבלה. ניתן לראות ששתי העקומות הן ליניאריות:</a:t>
            </a:r>
          </a:p>
          <a:p>
            <a:pPr marL="457200" lvl="1" indent="0">
              <a:buNone/>
            </a:pPr>
            <a:r>
              <a:rPr lang="he-IL" b="1" dirty="0">
                <a:solidFill>
                  <a:srgbClr val="C00000"/>
                </a:solidFill>
              </a:rPr>
              <a:t>עלות ממוצעת</a:t>
            </a:r>
            <a:r>
              <a:rPr lang="he-IL" dirty="0">
                <a:solidFill>
                  <a:srgbClr val="C00000"/>
                </a:solidFill>
              </a:rPr>
              <a:t> </a:t>
            </a:r>
            <a:r>
              <a:rPr lang="he-IL" dirty="0"/>
              <a:t>– שיפוע של 5 (אלפי ₪)</a:t>
            </a:r>
          </a:p>
          <a:p>
            <a:pPr marL="457200" lvl="1" indent="0">
              <a:buNone/>
            </a:pPr>
            <a:r>
              <a:rPr lang="he-IL" b="1" dirty="0">
                <a:solidFill>
                  <a:srgbClr val="0070C0"/>
                </a:solidFill>
              </a:rPr>
              <a:t>עלות שולית</a:t>
            </a:r>
            <a:r>
              <a:rPr lang="he-IL" dirty="0">
                <a:solidFill>
                  <a:srgbClr val="0070C0"/>
                </a:solidFill>
              </a:rPr>
              <a:t> </a:t>
            </a:r>
            <a:r>
              <a:rPr lang="he-IL" dirty="0"/>
              <a:t>– שיפוע של 10 (אלפי ₪)</a:t>
            </a:r>
          </a:p>
          <a:p>
            <a:endParaRPr lang="he-IL" dirty="0"/>
          </a:p>
        </p:txBody>
      </p:sp>
      <p:sp>
        <p:nvSpPr>
          <p:cNvPr id="3" name="Date Placeholder 2">
            <a:extLst>
              <a:ext uri="{FF2B5EF4-FFF2-40B4-BE49-F238E27FC236}">
                <a16:creationId xmlns:a16="http://schemas.microsoft.com/office/drawing/2014/main" id="{0BAFEF6E-0932-3F35-6127-543E5A1DE3B8}"/>
              </a:ext>
            </a:extLst>
          </p:cNvPr>
          <p:cNvSpPr>
            <a:spLocks noGrp="1"/>
          </p:cNvSpPr>
          <p:nvPr>
            <p:ph type="dt" sz="half" idx="10"/>
          </p:nvPr>
        </p:nvSpPr>
        <p:spPr/>
        <p:txBody>
          <a:bodyPr/>
          <a:lstStyle/>
          <a:p>
            <a:fld id="{BD73C7FD-DF05-4B1B-A96C-FA1E2F9DD886}" type="datetime8">
              <a:rPr lang="he-IL" smtClean="0"/>
              <a:t>03 ינואר 26</a:t>
            </a:fld>
            <a:endParaRPr lang="he-IL"/>
          </a:p>
        </p:txBody>
      </p:sp>
      <p:sp>
        <p:nvSpPr>
          <p:cNvPr id="4" name="Slide Number Placeholder 3">
            <a:extLst>
              <a:ext uri="{FF2B5EF4-FFF2-40B4-BE49-F238E27FC236}">
                <a16:creationId xmlns:a16="http://schemas.microsoft.com/office/drawing/2014/main" id="{FBE847C8-2504-9DD7-6B07-D0EBFF0BAABF}"/>
              </a:ext>
            </a:extLst>
          </p:cNvPr>
          <p:cNvSpPr>
            <a:spLocks noGrp="1"/>
          </p:cNvSpPr>
          <p:nvPr>
            <p:ph type="sldNum" sz="quarter" idx="12"/>
          </p:nvPr>
        </p:nvSpPr>
        <p:spPr/>
        <p:txBody>
          <a:bodyPr/>
          <a:lstStyle/>
          <a:p>
            <a:fld id="{D69A981F-4466-4789-9E41-1885E502A96E}" type="slidenum">
              <a:rPr lang="he-IL" smtClean="0"/>
              <a:t>15</a:t>
            </a:fld>
            <a:endParaRPr lang="he-IL"/>
          </a:p>
        </p:txBody>
      </p:sp>
    </p:spTree>
    <p:extLst>
      <p:ext uri="{BB962C8B-B14F-4D97-AF65-F5344CB8AC3E}">
        <p14:creationId xmlns:p14="http://schemas.microsoft.com/office/powerpoint/2010/main" val="626836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fade">
                                      <p:cBhvr>
                                        <p:cTn id="7" dur="500"/>
                                        <p:tgtEl>
                                          <p:spTgt spid="1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xEl>
                                              <p:pRg st="2" end="2"/>
                                            </p:txEl>
                                          </p:spTgt>
                                        </p:tgtEl>
                                        <p:attrNameLst>
                                          <p:attrName>style.visibility</p:attrName>
                                        </p:attrNameLst>
                                      </p:cBhvr>
                                      <p:to>
                                        <p:strVal val="visible"/>
                                      </p:to>
                                    </p:set>
                                    <p:animEffect transition="in" filter="fade">
                                      <p:cBhvr>
                                        <p:cTn id="10" dur="500"/>
                                        <p:tgtEl>
                                          <p:spTgt spid="1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xEl>
                                              <p:pRg st="3" end="3"/>
                                            </p:txEl>
                                          </p:spTgt>
                                        </p:tgtEl>
                                        <p:attrNameLst>
                                          <p:attrName>style.visibility</p:attrName>
                                        </p:attrNameLst>
                                      </p:cBhvr>
                                      <p:to>
                                        <p:strVal val="visible"/>
                                      </p:to>
                                    </p:set>
                                    <p:animEffect transition="in" filter="fade">
                                      <p:cBhvr>
                                        <p:cTn id="13"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62400" y="0"/>
            <a:ext cx="8229600" cy="1143000"/>
          </a:xfrm>
        </p:spPr>
        <p:txBody>
          <a:bodyPr>
            <a:normAutofit/>
          </a:bodyPr>
          <a:lstStyle/>
          <a:p>
            <a:pPr algn="r"/>
            <a:r>
              <a:rPr lang="he-IL" b="1" dirty="0">
                <a:solidFill>
                  <a:schemeClr val="tx2">
                    <a:lumMod val="75000"/>
                  </a:schemeClr>
                </a:solidFill>
              </a:rPr>
              <a:t>שאלה 1</a:t>
            </a:r>
          </a:p>
        </p:txBody>
      </p:sp>
      <p:graphicFrame>
        <p:nvGraphicFramePr>
          <p:cNvPr id="12" name="מציין מיקום תוכן 11"/>
          <p:cNvGraphicFramePr>
            <a:graphicFrameLocks noGrp="1"/>
          </p:cNvGraphicFramePr>
          <p:nvPr>
            <p:ph idx="1"/>
          </p:nvPr>
        </p:nvGraphicFramePr>
        <p:xfrm>
          <a:off x="1738282" y="2071679"/>
          <a:ext cx="8472518" cy="405448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1990079" y="1320107"/>
            <a:ext cx="9486059" cy="878574"/>
          </a:xfrm>
          <a:prstGeom prst="rect">
            <a:avLst/>
          </a:prstGeom>
          <a:noFill/>
        </p:spPr>
        <p:txBody>
          <a:bodyPr wrap="square" rtlCol="1">
            <a:spAutoFit/>
          </a:bodyPr>
          <a:lstStyle/>
          <a:p>
            <a:pPr>
              <a:lnSpc>
                <a:spcPct val="150000"/>
              </a:lnSpc>
            </a:pPr>
            <a:r>
              <a:rPr lang="he-IL" dirty="0"/>
              <a:t>א.2. שרטטו בתרשים את עקומת העלות המשתנה הממוצעת (</a:t>
            </a:r>
            <a:r>
              <a:rPr lang="en-US" dirty="0"/>
              <a:t>AVC</a:t>
            </a:r>
            <a:r>
              <a:rPr lang="he-IL" dirty="0"/>
              <a:t>) ואת עקומת העלות השולית (</a:t>
            </a:r>
            <a:r>
              <a:rPr lang="en-US" dirty="0"/>
              <a:t>MC</a:t>
            </a:r>
            <a:r>
              <a:rPr lang="he-IL" dirty="0"/>
              <a:t>) על מערכת צירים אחת. </a:t>
            </a:r>
          </a:p>
        </p:txBody>
      </p:sp>
      <p:sp>
        <p:nvSpPr>
          <p:cNvPr id="3" name="TextBox 2">
            <a:extLst>
              <a:ext uri="{FF2B5EF4-FFF2-40B4-BE49-F238E27FC236}">
                <a16:creationId xmlns:a16="http://schemas.microsoft.com/office/drawing/2014/main" id="{D24B66CF-785F-4D09-9507-D2480FEC14C1}"/>
              </a:ext>
            </a:extLst>
          </p:cNvPr>
          <p:cNvSpPr txBox="1"/>
          <p:nvPr/>
        </p:nvSpPr>
        <p:spPr>
          <a:xfrm>
            <a:off x="1990079" y="378691"/>
            <a:ext cx="7560321" cy="369332"/>
          </a:xfrm>
          <a:prstGeom prst="rect">
            <a:avLst/>
          </a:prstGeom>
          <a:noFill/>
        </p:spPr>
        <p:txBody>
          <a:bodyPr wrap="square" rtlCol="0">
            <a:spAutoFit/>
          </a:bodyPr>
          <a:lstStyle/>
          <a:p>
            <a:r>
              <a:rPr lang="he-IL" dirty="0"/>
              <a:t>עקומת ההיצע - </a:t>
            </a:r>
            <a:endParaRPr lang="en-IL" dirty="0"/>
          </a:p>
        </p:txBody>
      </p:sp>
      <p:sp>
        <p:nvSpPr>
          <p:cNvPr id="4" name="Date Placeholder 3">
            <a:extLst>
              <a:ext uri="{FF2B5EF4-FFF2-40B4-BE49-F238E27FC236}">
                <a16:creationId xmlns:a16="http://schemas.microsoft.com/office/drawing/2014/main" id="{07E8CCBD-4951-68A7-BDE7-C50F5C9D574C}"/>
              </a:ext>
            </a:extLst>
          </p:cNvPr>
          <p:cNvSpPr>
            <a:spLocks noGrp="1"/>
          </p:cNvSpPr>
          <p:nvPr>
            <p:ph type="dt" sz="half" idx="10"/>
          </p:nvPr>
        </p:nvSpPr>
        <p:spPr/>
        <p:txBody>
          <a:bodyPr/>
          <a:lstStyle/>
          <a:p>
            <a:fld id="{7A53B324-6433-4657-8ECC-1C9172E94B09}" type="datetime8">
              <a:rPr lang="he-IL" smtClean="0"/>
              <a:t>03 ינואר 26</a:t>
            </a:fld>
            <a:endParaRPr lang="he-IL"/>
          </a:p>
        </p:txBody>
      </p:sp>
      <p:sp>
        <p:nvSpPr>
          <p:cNvPr id="7" name="Slide Number Placeholder 6">
            <a:extLst>
              <a:ext uri="{FF2B5EF4-FFF2-40B4-BE49-F238E27FC236}">
                <a16:creationId xmlns:a16="http://schemas.microsoft.com/office/drawing/2014/main" id="{6CDA4A9E-B248-00BB-D6CF-7DB7F726A7A0}"/>
              </a:ext>
            </a:extLst>
          </p:cNvPr>
          <p:cNvSpPr>
            <a:spLocks noGrp="1"/>
          </p:cNvSpPr>
          <p:nvPr>
            <p:ph type="sldNum" sz="quarter" idx="12"/>
          </p:nvPr>
        </p:nvSpPr>
        <p:spPr/>
        <p:txBody>
          <a:bodyPr/>
          <a:lstStyle/>
          <a:p>
            <a:fld id="{D69A981F-4466-4789-9E41-1885E502A96E}" type="slidenum">
              <a:rPr lang="he-IL" smtClean="0"/>
              <a:t>16</a:t>
            </a:fld>
            <a:endParaRPr lang="he-IL"/>
          </a:p>
        </p:txBody>
      </p:sp>
    </p:spTree>
    <p:extLst>
      <p:ext uri="{BB962C8B-B14F-4D97-AF65-F5344CB8AC3E}">
        <p14:creationId xmlns:p14="http://schemas.microsoft.com/office/powerpoint/2010/main" val="4281964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62400" y="0"/>
            <a:ext cx="8229600" cy="1143000"/>
          </a:xfrm>
        </p:spPr>
        <p:txBody>
          <a:bodyPr>
            <a:normAutofit/>
          </a:bodyPr>
          <a:lstStyle/>
          <a:p>
            <a:pPr algn="r"/>
            <a:r>
              <a:rPr lang="he-IL" b="1" dirty="0">
                <a:solidFill>
                  <a:schemeClr val="tx2">
                    <a:lumMod val="75000"/>
                  </a:schemeClr>
                </a:solidFill>
              </a:rPr>
              <a:t>שאלה 1</a:t>
            </a:r>
          </a:p>
        </p:txBody>
      </p:sp>
      <p:sp>
        <p:nvSpPr>
          <p:cNvPr id="8" name="TextBox 7"/>
          <p:cNvSpPr txBox="1"/>
          <p:nvPr/>
        </p:nvSpPr>
        <p:spPr>
          <a:xfrm>
            <a:off x="2164710" y="1143000"/>
            <a:ext cx="9754109" cy="1615827"/>
          </a:xfrm>
          <a:prstGeom prst="rect">
            <a:avLst/>
          </a:prstGeom>
          <a:noFill/>
        </p:spPr>
        <p:txBody>
          <a:bodyPr wrap="square" rtlCol="1">
            <a:spAutoFit/>
          </a:bodyPr>
          <a:lstStyle/>
          <a:p>
            <a:pPr lvl="0">
              <a:lnSpc>
                <a:spcPct val="150000"/>
              </a:lnSpc>
            </a:pPr>
            <a:r>
              <a:rPr lang="he-IL" dirty="0"/>
              <a:t>ב. הניחו, כי הפירמה יכולה למכור כל כמות של מלט שהיא מייצרת במחיר שוק נתון של 80 אלף ש"ח לטון. לפירמה אין עלות שולית. מצאו את הכמות שכדאי לפירמה לייצר. מה הן </a:t>
            </a:r>
            <a:r>
              <a:rPr lang="he-IL" u="sng" dirty="0"/>
              <a:t>הכנסות הפירמה ורווחיה</a:t>
            </a:r>
            <a:r>
              <a:rPr lang="he-IL" dirty="0"/>
              <a:t> במצב זה? מה יהיה רווח הפירמה כתוצאה מיצור היחידה הרביעית?</a:t>
            </a:r>
            <a:endParaRPr lang="en-US" dirty="0"/>
          </a:p>
          <a:p>
            <a:endParaRPr lang="he-IL" b="1" dirty="0"/>
          </a:p>
        </p:txBody>
      </p:sp>
      <p:sp>
        <p:nvSpPr>
          <p:cNvPr id="3" name="Date Placeholder 2"/>
          <p:cNvSpPr>
            <a:spLocks noGrp="1"/>
          </p:cNvSpPr>
          <p:nvPr>
            <p:ph type="dt" sz="half" idx="10"/>
          </p:nvPr>
        </p:nvSpPr>
        <p:spPr/>
        <p:txBody>
          <a:bodyPr/>
          <a:lstStyle/>
          <a:p>
            <a:fld id="{F1EAE913-F811-431D-BE61-5D1FD2711A7E}" type="datetime8">
              <a:rPr lang="he-IL" smtClean="0"/>
              <a:t>03 ינואר 26</a:t>
            </a:fld>
            <a:endParaRPr lang="he-IL"/>
          </a:p>
        </p:txBody>
      </p:sp>
      <p:sp>
        <p:nvSpPr>
          <p:cNvPr id="4" name="Slide Number Placeholder 3">
            <a:extLst>
              <a:ext uri="{FF2B5EF4-FFF2-40B4-BE49-F238E27FC236}">
                <a16:creationId xmlns:a16="http://schemas.microsoft.com/office/drawing/2014/main" id="{6A6C4831-C292-34A2-F687-C07A387EB1C8}"/>
              </a:ext>
            </a:extLst>
          </p:cNvPr>
          <p:cNvSpPr>
            <a:spLocks noGrp="1"/>
          </p:cNvSpPr>
          <p:nvPr>
            <p:ph type="sldNum" sz="quarter" idx="12"/>
          </p:nvPr>
        </p:nvSpPr>
        <p:spPr/>
        <p:txBody>
          <a:bodyPr/>
          <a:lstStyle/>
          <a:p>
            <a:fld id="{D69A981F-4466-4789-9E41-1885E502A96E}" type="slidenum">
              <a:rPr lang="he-IL" smtClean="0"/>
              <a:t>17</a:t>
            </a:fld>
            <a:endParaRPr lang="he-IL"/>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62400" y="7265"/>
            <a:ext cx="8229600" cy="1143000"/>
          </a:xfrm>
        </p:spPr>
        <p:txBody>
          <a:bodyPr>
            <a:normAutofit/>
          </a:bodyPr>
          <a:lstStyle/>
          <a:p>
            <a:pPr algn="r"/>
            <a:r>
              <a:rPr lang="he-IL" b="1" dirty="0">
                <a:solidFill>
                  <a:schemeClr val="tx2">
                    <a:lumMod val="75000"/>
                  </a:schemeClr>
                </a:solidFill>
              </a:rPr>
              <a:t>שאלה 1</a:t>
            </a:r>
          </a:p>
        </p:txBody>
      </p:sp>
      <p:sp>
        <p:nvSpPr>
          <p:cNvPr id="11" name="מציין מיקום תוכן 10"/>
          <p:cNvSpPr>
            <a:spLocks noGrp="1"/>
          </p:cNvSpPr>
          <p:nvPr>
            <p:ph idx="1"/>
          </p:nvPr>
        </p:nvSpPr>
        <p:spPr>
          <a:xfrm>
            <a:off x="2199652" y="2780929"/>
            <a:ext cx="7787208" cy="1576765"/>
          </a:xfrm>
          <a:solidFill>
            <a:schemeClr val="bg1">
              <a:lumMod val="85000"/>
            </a:schemeClr>
          </a:solidFill>
        </p:spPr>
        <p:txBody>
          <a:bodyPr>
            <a:normAutofit fontScale="77500" lnSpcReduction="20000"/>
          </a:bodyPr>
          <a:lstStyle/>
          <a:p>
            <a:pPr marL="319950" indent="0">
              <a:lnSpc>
                <a:spcPct val="170000"/>
              </a:lnSpc>
              <a:buNone/>
            </a:pPr>
            <a:r>
              <a:rPr lang="he-IL" dirty="0"/>
              <a:t>"יצרן הפועל בתנאי תחרות משוכללת יגיע לרווח מרבי אם ייצר את התפוקה שבה </a:t>
            </a:r>
            <a:r>
              <a:rPr lang="he-IL" b="1" dirty="0">
                <a:solidFill>
                  <a:schemeClr val="accent5">
                    <a:lumMod val="75000"/>
                  </a:schemeClr>
                </a:solidFill>
              </a:rPr>
              <a:t>מחיר המוצר בשוק </a:t>
            </a:r>
            <a:r>
              <a:rPr lang="he-IL" dirty="0"/>
              <a:t>שווה </a:t>
            </a:r>
            <a:r>
              <a:rPr lang="he-IL" b="1" dirty="0">
                <a:solidFill>
                  <a:srgbClr val="002060"/>
                </a:solidFill>
              </a:rPr>
              <a:t>לעלות השולית</a:t>
            </a:r>
            <a:r>
              <a:rPr lang="he-IL" dirty="0"/>
              <a:t> ליצור אותה תפוקה, כאשר העלות השולית עולה, ובלבד שכדאי לו לייצר"</a:t>
            </a:r>
          </a:p>
        </p:txBody>
      </p:sp>
      <p:sp>
        <p:nvSpPr>
          <p:cNvPr id="7" name="TextBox 6"/>
          <p:cNvSpPr txBox="1"/>
          <p:nvPr/>
        </p:nvSpPr>
        <p:spPr>
          <a:xfrm>
            <a:off x="2166911" y="4714884"/>
            <a:ext cx="8328663" cy="707886"/>
          </a:xfrm>
          <a:prstGeom prst="rect">
            <a:avLst/>
          </a:prstGeom>
          <a:noFill/>
        </p:spPr>
        <p:txBody>
          <a:bodyPr wrap="square" rtlCol="1">
            <a:spAutoFit/>
          </a:bodyPr>
          <a:lstStyle/>
          <a:p>
            <a:r>
              <a:rPr lang="he-IL" sz="2000" dirty="0"/>
              <a:t>כאן העלות השולית </a:t>
            </a:r>
            <a:r>
              <a:rPr lang="he-IL" sz="2000" b="1" dirty="0"/>
              <a:t>עולה</a:t>
            </a:r>
            <a:r>
              <a:rPr lang="he-IL" sz="2000" dirty="0"/>
              <a:t> עבור כל תפוקה. </a:t>
            </a:r>
          </a:p>
          <a:p>
            <a:r>
              <a:rPr lang="he-IL" sz="2000" u="sng" dirty="0"/>
              <a:t>מסקנה</a:t>
            </a:r>
            <a:r>
              <a:rPr lang="he-IL" sz="2000" dirty="0"/>
              <a:t> </a:t>
            </a:r>
            <a:r>
              <a:rPr lang="he-IL" sz="2000" dirty="0" err="1"/>
              <a:t>– ה</a:t>
            </a:r>
            <a:r>
              <a:rPr lang="he-IL" sz="2000" dirty="0"/>
              <a:t>פירמה תייצר את הכמות שבה העלות השולית שווה למחיר </a:t>
            </a:r>
            <a:r>
              <a:rPr lang="he-IL" sz="2000" dirty="0" err="1"/>
              <a:t>– </a:t>
            </a:r>
            <a:r>
              <a:rPr lang="he-IL" sz="2000" b="1" dirty="0" err="1">
                <a:solidFill>
                  <a:schemeClr val="accent5">
                    <a:lumMod val="75000"/>
                  </a:schemeClr>
                </a:solidFill>
              </a:rPr>
              <a:t>8</a:t>
            </a:r>
            <a:r>
              <a:rPr lang="he-IL" sz="2000" b="1" dirty="0">
                <a:solidFill>
                  <a:schemeClr val="accent5">
                    <a:lumMod val="75000"/>
                  </a:schemeClr>
                </a:solidFill>
              </a:rPr>
              <a:t>0 אלף </a:t>
            </a:r>
            <a:r>
              <a:rPr lang="he-IL" sz="2000" dirty="0">
                <a:solidFill>
                  <a:schemeClr val="accent5">
                    <a:lumMod val="75000"/>
                  </a:schemeClr>
                </a:solidFill>
              </a:rPr>
              <a:t>₪</a:t>
            </a:r>
            <a:r>
              <a:rPr lang="he-IL" sz="2000" dirty="0"/>
              <a:t>.</a:t>
            </a:r>
          </a:p>
        </p:txBody>
      </p:sp>
      <p:sp>
        <p:nvSpPr>
          <p:cNvPr id="3" name="Date Placeholder 2"/>
          <p:cNvSpPr>
            <a:spLocks noGrp="1"/>
          </p:cNvSpPr>
          <p:nvPr>
            <p:ph type="dt" sz="half" idx="10"/>
          </p:nvPr>
        </p:nvSpPr>
        <p:spPr/>
        <p:txBody>
          <a:bodyPr/>
          <a:lstStyle/>
          <a:p>
            <a:fld id="{44E3ED04-7242-499C-A9A8-187C7630E7D3}" type="datetime8">
              <a:rPr lang="he-IL" smtClean="0"/>
              <a:t>03 ינואר 26</a:t>
            </a:fld>
            <a:endParaRPr lang="he-IL"/>
          </a:p>
        </p:txBody>
      </p:sp>
      <p:sp>
        <p:nvSpPr>
          <p:cNvPr id="8" name="TextBox 7"/>
          <p:cNvSpPr txBox="1"/>
          <p:nvPr/>
        </p:nvSpPr>
        <p:spPr>
          <a:xfrm>
            <a:off x="2024034" y="980729"/>
            <a:ext cx="9988426" cy="1615827"/>
          </a:xfrm>
          <a:prstGeom prst="rect">
            <a:avLst/>
          </a:prstGeom>
          <a:noFill/>
        </p:spPr>
        <p:txBody>
          <a:bodyPr wrap="square" rtlCol="1">
            <a:spAutoFit/>
          </a:bodyPr>
          <a:lstStyle/>
          <a:p>
            <a:pPr lvl="0">
              <a:lnSpc>
                <a:spcPct val="150000"/>
              </a:lnSpc>
            </a:pPr>
            <a:r>
              <a:rPr lang="he-IL" dirty="0"/>
              <a:t>ב. הניחו, כי הפירמה יכולה למכור כל כמות של מלט שהיא מייצרת במחיר שוק נתון של 80 אלף ש"ח לטון. מצאו את הכמות שכדאי לפירמה לייצר. מה הן </a:t>
            </a:r>
            <a:r>
              <a:rPr lang="he-IL" u="sng" dirty="0"/>
              <a:t>הכנסות הפירמה ורווחיה</a:t>
            </a:r>
            <a:r>
              <a:rPr lang="he-IL" dirty="0"/>
              <a:t> במצב זה? מה יהיה רווח הפירמה כתוצאה מיצור היחידה הרביעית?</a:t>
            </a:r>
            <a:endParaRPr lang="en-US" dirty="0"/>
          </a:p>
          <a:p>
            <a:endParaRPr lang="he-IL" b="1" dirty="0"/>
          </a:p>
        </p:txBody>
      </p:sp>
      <p:sp>
        <p:nvSpPr>
          <p:cNvPr id="4" name="Slide Number Placeholder 3">
            <a:extLst>
              <a:ext uri="{FF2B5EF4-FFF2-40B4-BE49-F238E27FC236}">
                <a16:creationId xmlns:a16="http://schemas.microsoft.com/office/drawing/2014/main" id="{CE501669-004E-1EC3-84E2-592888C5B403}"/>
              </a:ext>
            </a:extLst>
          </p:cNvPr>
          <p:cNvSpPr>
            <a:spLocks noGrp="1"/>
          </p:cNvSpPr>
          <p:nvPr>
            <p:ph type="sldNum" sz="quarter" idx="12"/>
          </p:nvPr>
        </p:nvSpPr>
        <p:spPr/>
        <p:txBody>
          <a:bodyPr/>
          <a:lstStyle/>
          <a:p>
            <a:fld id="{D69A981F-4466-4789-9E41-1885E502A96E}" type="slidenum">
              <a:rPr lang="he-IL" smtClean="0"/>
              <a:t>18</a:t>
            </a:fld>
            <a:endParaRPr lang="he-I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bg/>
                                          </p:spTgt>
                                        </p:tgtEl>
                                        <p:attrNameLst>
                                          <p:attrName>style.visibility</p:attrName>
                                        </p:attrNameLst>
                                      </p:cBhvr>
                                      <p:to>
                                        <p:strVal val="visible"/>
                                      </p:to>
                                    </p:set>
                                    <p:animEffect transition="in" filter="barn(inVertical)">
                                      <p:cBhvr>
                                        <p:cTn id="7" dur="500"/>
                                        <p:tgtEl>
                                          <p:spTgt spid="11">
                                            <p:bg/>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animBg="1"/>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62400" y="0"/>
            <a:ext cx="8229600" cy="1143000"/>
          </a:xfrm>
        </p:spPr>
        <p:txBody>
          <a:bodyPr>
            <a:normAutofit/>
          </a:bodyPr>
          <a:lstStyle/>
          <a:p>
            <a:pPr algn="r"/>
            <a:r>
              <a:rPr lang="he-IL" b="1" dirty="0">
                <a:solidFill>
                  <a:schemeClr val="tx2">
                    <a:lumMod val="75000"/>
                  </a:schemeClr>
                </a:solidFill>
              </a:rPr>
              <a:t>שאלה 1</a:t>
            </a:r>
          </a:p>
        </p:txBody>
      </p:sp>
      <p:graphicFrame>
        <p:nvGraphicFramePr>
          <p:cNvPr id="7" name="מציין מיקום תוכן 6"/>
          <p:cNvGraphicFramePr>
            <a:graphicFrameLocks noGrp="1"/>
          </p:cNvGraphicFramePr>
          <p:nvPr>
            <p:ph idx="1"/>
          </p:nvPr>
        </p:nvGraphicFramePr>
        <p:xfrm>
          <a:off x="1981200" y="2448894"/>
          <a:ext cx="8229600" cy="3337560"/>
        </p:xfrm>
        <a:graphic>
          <a:graphicData uri="http://schemas.openxmlformats.org/drawingml/2006/table">
            <a:tbl>
              <a:tblPr rtl="1" firstRow="1" bandRow="1">
                <a:tableStyleId>{2D5ABB26-0587-4C30-8999-92F81FD0307C}</a:tableStyleId>
              </a:tblPr>
              <a:tblGrid>
                <a:gridCol w="1647444">
                  <a:extLst>
                    <a:ext uri="{9D8B030D-6E8A-4147-A177-3AD203B41FA5}">
                      <a16:colId xmlns:a16="http://schemas.microsoft.com/office/drawing/2014/main" val="20000"/>
                    </a:ext>
                  </a:extLst>
                </a:gridCol>
                <a:gridCol w="2114876">
                  <a:extLst>
                    <a:ext uri="{9D8B030D-6E8A-4147-A177-3AD203B41FA5}">
                      <a16:colId xmlns:a16="http://schemas.microsoft.com/office/drawing/2014/main" val="20001"/>
                    </a:ext>
                  </a:extLst>
                </a:gridCol>
                <a:gridCol w="240988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rowSpan="2">
                  <a:txBody>
                    <a:bodyPr/>
                    <a:lstStyle/>
                    <a:p>
                      <a:pPr algn="ctr" rtl="1"/>
                      <a:r>
                        <a:rPr lang="he-IL" b="1" dirty="0"/>
                        <a:t>כמות מיוצרת (בטונות)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algn="ctr" rtl="1"/>
                      <a:r>
                        <a:rPr lang="he-IL" b="1" dirty="0"/>
                        <a:t>עלות (אלפי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0"/>
                  </a:ext>
                </a:extLst>
              </a:tr>
              <a:tr h="370840">
                <a:tc vMerge="1">
                  <a:txBody>
                    <a:bodyPr/>
                    <a:lstStyle/>
                    <a:p>
                      <a:pPr rtl="1"/>
                      <a:endParaRPr lang="he-IL" dirty="0"/>
                    </a:p>
                  </a:txBody>
                  <a:tcPr/>
                </a:tc>
                <a:tc>
                  <a:txBody>
                    <a:bodyPr/>
                    <a:lstStyle/>
                    <a:p>
                      <a:pPr algn="ctr" rtl="1"/>
                      <a:r>
                        <a:rPr lang="he-IL" b="1" dirty="0"/>
                        <a:t>משתנה </a:t>
                      </a:r>
                      <a:r>
                        <a:rPr lang="en-US" b="1" dirty="0"/>
                        <a:t>VC)</a:t>
                      </a:r>
                      <a:r>
                        <a:rPr lang="he-IL"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b="1" dirty="0"/>
                        <a:t>משתנה ממוצעת</a:t>
                      </a:r>
                      <a:r>
                        <a:rPr lang="en-US" b="1" dirty="0"/>
                        <a:t>AVC)</a:t>
                      </a:r>
                      <a:r>
                        <a:rPr lang="en-US" b="1" baseline="0" dirty="0"/>
                        <a:t> </a:t>
                      </a:r>
                      <a:r>
                        <a:rPr lang="he-IL"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שולית</a:t>
                      </a:r>
                      <a:r>
                        <a:rPr lang="en-US" b="1" dirty="0"/>
                        <a:t> (MC)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70840">
                <a:tc>
                  <a:txBody>
                    <a:bodyPr/>
                    <a:lstStyle/>
                    <a:p>
                      <a:pPr algn="ctr" rtl="1"/>
                      <a:r>
                        <a:rPr lang="he-IL"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r>
                        <a:rPr lang="he-IL"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r>
                        <a:rPr lang="he-IL"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r>
                        <a:rPr lang="he-IL"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r>
                        <a:rPr lang="he-IL"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rtl="1"/>
                      <a:r>
                        <a:rPr lang="he-IL"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rtl="1"/>
                      <a:r>
                        <a:rPr lang="he-IL"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3" name="Date Placeholder 2"/>
          <p:cNvSpPr>
            <a:spLocks noGrp="1"/>
          </p:cNvSpPr>
          <p:nvPr>
            <p:ph type="dt" sz="half" idx="10"/>
          </p:nvPr>
        </p:nvSpPr>
        <p:spPr/>
        <p:txBody>
          <a:bodyPr/>
          <a:lstStyle/>
          <a:p>
            <a:fld id="{10B4F9BA-9D63-4A8A-90EB-DCF958A12D78}" type="datetime8">
              <a:rPr lang="he-IL" smtClean="0"/>
              <a:t>03 ינואר 26</a:t>
            </a:fld>
            <a:endParaRPr lang="he-IL"/>
          </a:p>
        </p:txBody>
      </p:sp>
      <p:sp>
        <p:nvSpPr>
          <p:cNvPr id="9" name="TextBox 8"/>
          <p:cNvSpPr txBox="1"/>
          <p:nvPr/>
        </p:nvSpPr>
        <p:spPr>
          <a:xfrm>
            <a:off x="2024034" y="980729"/>
            <a:ext cx="9975900" cy="1615827"/>
          </a:xfrm>
          <a:prstGeom prst="rect">
            <a:avLst/>
          </a:prstGeom>
          <a:noFill/>
        </p:spPr>
        <p:txBody>
          <a:bodyPr wrap="square" rtlCol="1">
            <a:spAutoFit/>
          </a:bodyPr>
          <a:lstStyle/>
          <a:p>
            <a:pPr lvl="0">
              <a:lnSpc>
                <a:spcPct val="150000"/>
              </a:lnSpc>
            </a:pPr>
            <a:r>
              <a:rPr lang="he-IL" dirty="0"/>
              <a:t>ב. הניחו, כי הפירמה יכולה למכור כל כמות של מלט שהיא מייצרת במחיר שוק נתון של 80 אלף ש"ח לטון. מצאו את הכמות שכדאי לפירמה לייצר. מה הן </a:t>
            </a:r>
            <a:r>
              <a:rPr lang="he-IL" u="sng" dirty="0"/>
              <a:t>הכנסות הפירמה ורווחיה</a:t>
            </a:r>
            <a:r>
              <a:rPr lang="he-IL" dirty="0"/>
              <a:t> במצב זה? מה יהיה רווח הפירמה כתוצאה מיצור היחידה הרביעית?</a:t>
            </a:r>
            <a:endParaRPr lang="en-US" dirty="0"/>
          </a:p>
          <a:p>
            <a:endParaRPr lang="he-IL" b="1" dirty="0"/>
          </a:p>
        </p:txBody>
      </p:sp>
      <p:sp>
        <p:nvSpPr>
          <p:cNvPr id="4" name="Slide Number Placeholder 3">
            <a:extLst>
              <a:ext uri="{FF2B5EF4-FFF2-40B4-BE49-F238E27FC236}">
                <a16:creationId xmlns:a16="http://schemas.microsoft.com/office/drawing/2014/main" id="{836069F2-3C85-89C8-9CA8-BEFBC2F89DB3}"/>
              </a:ext>
            </a:extLst>
          </p:cNvPr>
          <p:cNvSpPr>
            <a:spLocks noGrp="1"/>
          </p:cNvSpPr>
          <p:nvPr>
            <p:ph type="sldNum" sz="quarter" idx="12"/>
          </p:nvPr>
        </p:nvSpPr>
        <p:spPr/>
        <p:txBody>
          <a:bodyPr/>
          <a:lstStyle/>
          <a:p>
            <a:fld id="{D69A981F-4466-4789-9E41-1885E502A96E}" type="slidenum">
              <a:rPr lang="he-IL" smtClean="0"/>
              <a:t>19</a:t>
            </a:fld>
            <a:endParaRPr lang="he-IL"/>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62400" y="312"/>
            <a:ext cx="8229600" cy="1143000"/>
          </a:xfrm>
        </p:spPr>
        <p:txBody>
          <a:bodyPr>
            <a:normAutofit/>
          </a:bodyPr>
          <a:lstStyle/>
          <a:p>
            <a:pPr algn="r"/>
            <a:r>
              <a:rPr lang="he-IL" b="1" dirty="0">
                <a:solidFill>
                  <a:schemeClr val="tx2">
                    <a:lumMod val="75000"/>
                  </a:schemeClr>
                </a:solidFill>
              </a:rPr>
              <a:t>שאלה 1</a:t>
            </a:r>
          </a:p>
        </p:txBody>
      </p:sp>
      <p:graphicFrame>
        <p:nvGraphicFramePr>
          <p:cNvPr id="7" name="מציין מיקום תוכן 6"/>
          <p:cNvGraphicFramePr>
            <a:graphicFrameLocks noGrp="1"/>
          </p:cNvGraphicFramePr>
          <p:nvPr>
            <p:ph idx="1"/>
          </p:nvPr>
        </p:nvGraphicFramePr>
        <p:xfrm>
          <a:off x="1981200" y="2448894"/>
          <a:ext cx="8229600" cy="3337560"/>
        </p:xfrm>
        <a:graphic>
          <a:graphicData uri="http://schemas.openxmlformats.org/drawingml/2006/table">
            <a:tbl>
              <a:tblPr rtl="1" firstRow="1" bandRow="1">
                <a:tableStyleId>{2D5ABB26-0587-4C30-8999-92F81FD0307C}</a:tableStyleId>
              </a:tblPr>
              <a:tblGrid>
                <a:gridCol w="1764684">
                  <a:extLst>
                    <a:ext uri="{9D8B030D-6E8A-4147-A177-3AD203B41FA5}">
                      <a16:colId xmlns:a16="http://schemas.microsoft.com/office/drawing/2014/main" val="20000"/>
                    </a:ext>
                  </a:extLst>
                </a:gridCol>
                <a:gridCol w="1950892">
                  <a:extLst>
                    <a:ext uri="{9D8B030D-6E8A-4147-A177-3AD203B41FA5}">
                      <a16:colId xmlns:a16="http://schemas.microsoft.com/office/drawing/2014/main" val="20001"/>
                    </a:ext>
                  </a:extLst>
                </a:gridCol>
                <a:gridCol w="2456624">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rowSpan="2">
                  <a:txBody>
                    <a:bodyPr/>
                    <a:lstStyle/>
                    <a:p>
                      <a:pPr algn="ctr" rtl="1"/>
                      <a:r>
                        <a:rPr lang="he-IL" b="1" dirty="0"/>
                        <a:t>כמות מיוצרת (בטונות)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algn="ctr" rtl="1"/>
                      <a:r>
                        <a:rPr lang="he-IL" b="1" dirty="0"/>
                        <a:t>עלות (אלפי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0"/>
                  </a:ext>
                </a:extLst>
              </a:tr>
              <a:tr h="370840">
                <a:tc vMerge="1">
                  <a:txBody>
                    <a:bodyPr/>
                    <a:lstStyle/>
                    <a:p>
                      <a:pPr rtl="1"/>
                      <a:endParaRPr lang="he-IL" dirty="0"/>
                    </a:p>
                  </a:txBody>
                  <a:tcPr/>
                </a:tc>
                <a:tc>
                  <a:txBody>
                    <a:bodyPr/>
                    <a:lstStyle/>
                    <a:p>
                      <a:pPr algn="ctr" rtl="1"/>
                      <a:r>
                        <a:rPr lang="he-IL" b="1" dirty="0"/>
                        <a:t>משתנה </a:t>
                      </a:r>
                      <a:r>
                        <a:rPr lang="en-US" b="1" dirty="0"/>
                        <a:t>VC)</a:t>
                      </a:r>
                      <a:r>
                        <a:rPr lang="he-IL"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b="1" dirty="0"/>
                        <a:t>משתנה ממוצעת</a:t>
                      </a:r>
                      <a:r>
                        <a:rPr lang="en-US" b="1" dirty="0"/>
                        <a:t>AVC)</a:t>
                      </a:r>
                      <a:r>
                        <a:rPr lang="en-US" b="1" baseline="0" dirty="0"/>
                        <a:t> </a:t>
                      </a:r>
                      <a:r>
                        <a:rPr lang="he-IL"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שולית</a:t>
                      </a:r>
                      <a:r>
                        <a:rPr lang="en-US" b="1" dirty="0"/>
                        <a:t> (MC)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70840">
                <a:tc>
                  <a:txBody>
                    <a:bodyPr/>
                    <a:lstStyle/>
                    <a:p>
                      <a:pPr algn="ctr" rtl="1"/>
                      <a:r>
                        <a:rPr lang="he-IL"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r>
                        <a:rPr lang="he-IL"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r>
                        <a:rPr lang="he-IL"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r>
                        <a:rPr lang="he-IL"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r>
                        <a:rPr lang="he-IL"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rtl="1"/>
                      <a:r>
                        <a:rPr lang="he-IL"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rtl="1"/>
                      <a:r>
                        <a:rPr lang="he-IL"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9" name="מלבן 8"/>
          <p:cNvSpPr/>
          <p:nvPr/>
        </p:nvSpPr>
        <p:spPr>
          <a:xfrm>
            <a:off x="1881158" y="4214818"/>
            <a:ext cx="8358246" cy="43831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Date Placeholder 2"/>
          <p:cNvSpPr>
            <a:spLocks noGrp="1"/>
          </p:cNvSpPr>
          <p:nvPr>
            <p:ph type="dt" sz="half" idx="10"/>
          </p:nvPr>
        </p:nvSpPr>
        <p:spPr/>
        <p:txBody>
          <a:bodyPr/>
          <a:lstStyle/>
          <a:p>
            <a:fld id="{EAB54247-12C4-493E-940D-5976D2EA66EB}" type="datetime8">
              <a:rPr lang="he-IL" smtClean="0"/>
              <a:t>03 ינואר 26</a:t>
            </a:fld>
            <a:endParaRPr lang="he-IL"/>
          </a:p>
        </p:txBody>
      </p:sp>
      <p:sp>
        <p:nvSpPr>
          <p:cNvPr id="8" name="TextBox 7"/>
          <p:cNvSpPr txBox="1"/>
          <p:nvPr/>
        </p:nvSpPr>
        <p:spPr>
          <a:xfrm>
            <a:off x="2024034" y="980729"/>
            <a:ext cx="9888218" cy="1615827"/>
          </a:xfrm>
          <a:prstGeom prst="rect">
            <a:avLst/>
          </a:prstGeom>
          <a:noFill/>
        </p:spPr>
        <p:txBody>
          <a:bodyPr wrap="square" rtlCol="1">
            <a:spAutoFit/>
          </a:bodyPr>
          <a:lstStyle/>
          <a:p>
            <a:pPr lvl="0">
              <a:lnSpc>
                <a:spcPct val="150000"/>
              </a:lnSpc>
            </a:pPr>
            <a:r>
              <a:rPr lang="he-IL" dirty="0"/>
              <a:t>ב. הניחו, כי הפירמה יכולה למכור כל כמות של מלט שהיא מייצרת במחיר שוק נתון של 80 אלף ש"ח לטון. מצאו את הכמות שכדאי לפירמה לייצר. מה הן </a:t>
            </a:r>
            <a:r>
              <a:rPr lang="he-IL" u="sng" dirty="0"/>
              <a:t>הכנסות הפירמה ורווחיה</a:t>
            </a:r>
            <a:r>
              <a:rPr lang="he-IL" dirty="0"/>
              <a:t> במצב זה? מה יהיה רווח הפירמה כתוצאה מיצור היחידה הרביעית?</a:t>
            </a:r>
            <a:endParaRPr lang="en-US" dirty="0"/>
          </a:p>
          <a:p>
            <a:endParaRPr lang="he-IL" b="1" dirty="0"/>
          </a:p>
        </p:txBody>
      </p:sp>
      <p:sp>
        <p:nvSpPr>
          <p:cNvPr id="4" name="Slide Number Placeholder 3">
            <a:extLst>
              <a:ext uri="{FF2B5EF4-FFF2-40B4-BE49-F238E27FC236}">
                <a16:creationId xmlns:a16="http://schemas.microsoft.com/office/drawing/2014/main" id="{C4AEE039-3D03-1ED9-C51C-22AB2CA76802}"/>
              </a:ext>
            </a:extLst>
          </p:cNvPr>
          <p:cNvSpPr>
            <a:spLocks noGrp="1"/>
          </p:cNvSpPr>
          <p:nvPr>
            <p:ph type="sldNum" sz="quarter" idx="12"/>
          </p:nvPr>
        </p:nvSpPr>
        <p:spPr/>
        <p:txBody>
          <a:bodyPr/>
          <a:lstStyle/>
          <a:p>
            <a:fld id="{D69A981F-4466-4789-9E41-1885E502A96E}" type="slidenum">
              <a:rPr lang="he-IL" smtClean="0"/>
              <a:t>20</a:t>
            </a:fld>
            <a:endParaRPr lang="he-IL"/>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62400" y="17749"/>
            <a:ext cx="8229600" cy="1143000"/>
          </a:xfrm>
        </p:spPr>
        <p:txBody>
          <a:bodyPr>
            <a:normAutofit/>
          </a:bodyPr>
          <a:lstStyle/>
          <a:p>
            <a:pPr algn="r"/>
            <a:r>
              <a:rPr lang="he-IL" b="1" dirty="0">
                <a:solidFill>
                  <a:schemeClr val="tx2">
                    <a:lumMod val="75000"/>
                  </a:schemeClr>
                </a:solidFill>
              </a:rPr>
              <a:t>שאלה 1</a:t>
            </a:r>
          </a:p>
        </p:txBody>
      </p:sp>
      <p:sp>
        <p:nvSpPr>
          <p:cNvPr id="8" name="TextBox 7"/>
          <p:cNvSpPr txBox="1"/>
          <p:nvPr/>
        </p:nvSpPr>
        <p:spPr>
          <a:xfrm>
            <a:off x="2423592" y="980728"/>
            <a:ext cx="9538764" cy="3970318"/>
          </a:xfrm>
          <a:prstGeom prst="rect">
            <a:avLst/>
          </a:prstGeom>
          <a:noFill/>
        </p:spPr>
        <p:txBody>
          <a:bodyPr wrap="square" rtlCol="1">
            <a:spAutoFit/>
          </a:bodyPr>
          <a:lstStyle/>
          <a:p>
            <a:pPr lvl="0"/>
            <a:r>
              <a:rPr lang="he-IL" dirty="0"/>
              <a:t>ב. הניחו, כי הפירמה יכולה למכור כל כמות של מלט שהיא מייצרת במחיר שוק נתון של 80 אלף ש"ח לטון. מצאו את </a:t>
            </a:r>
            <a:r>
              <a:rPr lang="he-IL" b="1" dirty="0"/>
              <a:t>הכמות שכדאי לפירמה לייצר</a:t>
            </a:r>
            <a:r>
              <a:rPr lang="he-IL" dirty="0"/>
              <a:t>. </a:t>
            </a:r>
          </a:p>
          <a:p>
            <a:pPr lvl="0"/>
            <a:endParaRPr lang="he-IL" b="1" dirty="0"/>
          </a:p>
          <a:p>
            <a:pPr lvl="0"/>
            <a:endParaRPr lang="he-IL" b="1" dirty="0"/>
          </a:p>
          <a:p>
            <a:pPr lvl="0"/>
            <a:r>
              <a:rPr lang="he-IL" b="1" dirty="0"/>
              <a:t>מה הן </a:t>
            </a:r>
            <a:r>
              <a:rPr lang="he-IL" b="1" u="sng" dirty="0"/>
              <a:t>הכנסות הפירמה ורווחיה</a:t>
            </a:r>
            <a:r>
              <a:rPr lang="he-IL" b="1" dirty="0"/>
              <a:t> במצב זה? </a:t>
            </a:r>
          </a:p>
          <a:p>
            <a:pPr lvl="0"/>
            <a:endParaRPr lang="he-IL" b="1" dirty="0"/>
          </a:p>
          <a:p>
            <a:pPr lvl="0"/>
            <a:endParaRPr lang="he-IL" b="1" dirty="0"/>
          </a:p>
          <a:p>
            <a:pPr lvl="0"/>
            <a:endParaRPr lang="he-IL" b="1" dirty="0"/>
          </a:p>
          <a:p>
            <a:pPr lvl="0"/>
            <a:endParaRPr lang="he-IL" b="1" dirty="0"/>
          </a:p>
          <a:p>
            <a:pPr lvl="0"/>
            <a:endParaRPr lang="he-IL" b="1" dirty="0"/>
          </a:p>
          <a:p>
            <a:pPr lvl="0"/>
            <a:endParaRPr lang="he-IL" b="1" dirty="0"/>
          </a:p>
          <a:p>
            <a:pPr lvl="0"/>
            <a:endParaRPr lang="he-IL" b="1" dirty="0"/>
          </a:p>
          <a:p>
            <a:pPr lvl="0"/>
            <a:r>
              <a:rPr lang="he-IL" b="1" dirty="0"/>
              <a:t>מה יהיה רווח הפירמה כתוצאה מיצור היחידה הרביעית?</a:t>
            </a:r>
            <a:endParaRPr lang="en-US" b="1" dirty="0"/>
          </a:p>
          <a:p>
            <a:endParaRPr lang="he-IL" b="1" dirty="0"/>
          </a:p>
        </p:txBody>
      </p:sp>
      <p:sp>
        <p:nvSpPr>
          <p:cNvPr id="7" name="TextBox 6"/>
          <p:cNvSpPr txBox="1"/>
          <p:nvPr/>
        </p:nvSpPr>
        <p:spPr>
          <a:xfrm>
            <a:off x="2240979" y="2548533"/>
            <a:ext cx="6301870" cy="1477328"/>
          </a:xfrm>
          <a:prstGeom prst="rect">
            <a:avLst/>
          </a:prstGeom>
        </p:spPr>
        <p:style>
          <a:lnRef idx="2">
            <a:schemeClr val="accent2"/>
          </a:lnRef>
          <a:fillRef idx="1">
            <a:schemeClr val="lt1"/>
          </a:fillRef>
          <a:effectRef idx="0">
            <a:schemeClr val="accent2"/>
          </a:effectRef>
          <a:fontRef idx="minor">
            <a:schemeClr val="dk1"/>
          </a:fontRef>
        </p:style>
        <p:txBody>
          <a:bodyPr wrap="square" rtlCol="1">
            <a:spAutoFit/>
          </a:bodyPr>
          <a:lstStyle/>
          <a:p>
            <a:pPr lvl="1">
              <a:lnSpc>
                <a:spcPct val="150000"/>
              </a:lnSpc>
            </a:pPr>
            <a:r>
              <a:rPr lang="he-IL" sz="2000" u="sng" dirty="0"/>
              <a:t>הכנסות</a:t>
            </a:r>
            <a:r>
              <a:rPr lang="he-IL" sz="2000" dirty="0"/>
              <a:t>: 	4 </a:t>
            </a:r>
            <a:r>
              <a:rPr lang="en-US" sz="2000" dirty="0"/>
              <a:t>X</a:t>
            </a:r>
            <a:r>
              <a:rPr lang="he-IL" sz="2000" dirty="0"/>
              <a:t> 80 אלף </a:t>
            </a:r>
            <a:r>
              <a:rPr lang="he-IL" sz="2000" dirty="0" err="1"/>
              <a:t>₪ =</a:t>
            </a:r>
            <a:r>
              <a:rPr lang="he-IL" sz="2000" dirty="0"/>
              <a:t> 	320 אלף ₪ </a:t>
            </a:r>
          </a:p>
          <a:p>
            <a:pPr lvl="1">
              <a:lnSpc>
                <a:spcPct val="150000"/>
              </a:lnSpc>
            </a:pPr>
            <a:r>
              <a:rPr lang="he-IL" sz="2000" u="sng" dirty="0"/>
              <a:t>סה"כ עלות משתנה</a:t>
            </a:r>
            <a:r>
              <a:rPr lang="he-IL" sz="2000" dirty="0"/>
              <a:t>:		260 אלף ₪ </a:t>
            </a:r>
          </a:p>
          <a:p>
            <a:pPr lvl="1">
              <a:lnSpc>
                <a:spcPct val="150000"/>
              </a:lnSpc>
            </a:pPr>
            <a:r>
              <a:rPr lang="he-IL" sz="2000" u="sng" dirty="0"/>
              <a:t>רווחים</a:t>
            </a:r>
            <a:r>
              <a:rPr lang="he-IL" sz="2000" dirty="0"/>
              <a:t>:			60 אלף ₪ </a:t>
            </a:r>
          </a:p>
        </p:txBody>
      </p:sp>
      <p:cxnSp>
        <p:nvCxnSpPr>
          <p:cNvPr id="12" name="מחבר ישר 11"/>
          <p:cNvCxnSpPr/>
          <p:nvPr/>
        </p:nvCxnSpPr>
        <p:spPr>
          <a:xfrm>
            <a:off x="3575720" y="3501008"/>
            <a:ext cx="1571636"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מלבן 2"/>
          <p:cNvSpPr/>
          <p:nvPr/>
        </p:nvSpPr>
        <p:spPr>
          <a:xfrm>
            <a:off x="2156245" y="1340769"/>
            <a:ext cx="2480166" cy="456535"/>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a:lnSpc>
                <a:spcPct val="150000"/>
              </a:lnSpc>
            </a:pPr>
            <a:r>
              <a:rPr lang="he-IL" dirty="0"/>
              <a:t>הפירמה תייצר</a:t>
            </a:r>
            <a:r>
              <a:rPr lang="he-IL" b="1" dirty="0"/>
              <a:t> 4</a:t>
            </a:r>
            <a:r>
              <a:rPr lang="he-IL" dirty="0"/>
              <a:t> טון מלט.</a:t>
            </a:r>
          </a:p>
        </p:txBody>
      </p:sp>
      <p:sp>
        <p:nvSpPr>
          <p:cNvPr id="4" name="מלבן 3"/>
          <p:cNvSpPr/>
          <p:nvPr/>
        </p:nvSpPr>
        <p:spPr>
          <a:xfrm>
            <a:off x="2267991" y="4797152"/>
            <a:ext cx="6967432" cy="87203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50000"/>
              </a:lnSpc>
            </a:pPr>
            <a:r>
              <a:rPr lang="he-IL" dirty="0"/>
              <a:t>כתוצאה מייצור היח' הרביעית הפירמה לא מרוויחה.</a:t>
            </a:r>
          </a:p>
          <a:p>
            <a:pPr>
              <a:lnSpc>
                <a:spcPct val="150000"/>
              </a:lnSpc>
            </a:pPr>
            <a:r>
              <a:rPr lang="he-IL" dirty="0"/>
              <a:t>הפדיון ממכירת היח' הרביעית שווה לעלות השולית בייצור היח' הרביעית.</a:t>
            </a:r>
          </a:p>
        </p:txBody>
      </p:sp>
      <p:sp>
        <p:nvSpPr>
          <p:cNvPr id="6" name="Date Placeholder 5"/>
          <p:cNvSpPr>
            <a:spLocks noGrp="1"/>
          </p:cNvSpPr>
          <p:nvPr>
            <p:ph type="dt" sz="half" idx="10"/>
          </p:nvPr>
        </p:nvSpPr>
        <p:spPr/>
        <p:txBody>
          <a:bodyPr/>
          <a:lstStyle/>
          <a:p>
            <a:fld id="{3B193728-4133-4ACC-9054-CF26E1C46177}" type="datetime8">
              <a:rPr lang="he-IL" smtClean="0"/>
              <a:t>03 ינואר 26</a:t>
            </a:fld>
            <a:endParaRPr lang="he-IL"/>
          </a:p>
        </p:txBody>
      </p:sp>
      <p:sp>
        <p:nvSpPr>
          <p:cNvPr id="9" name="Slide Number Placeholder 8">
            <a:extLst>
              <a:ext uri="{FF2B5EF4-FFF2-40B4-BE49-F238E27FC236}">
                <a16:creationId xmlns:a16="http://schemas.microsoft.com/office/drawing/2014/main" id="{FEC6C049-CF40-50FF-4147-6ED7F3565246}"/>
              </a:ext>
            </a:extLst>
          </p:cNvPr>
          <p:cNvSpPr>
            <a:spLocks noGrp="1"/>
          </p:cNvSpPr>
          <p:nvPr>
            <p:ph type="sldNum" sz="quarter" idx="12"/>
          </p:nvPr>
        </p:nvSpPr>
        <p:spPr/>
        <p:txBody>
          <a:bodyPr/>
          <a:lstStyle/>
          <a:p>
            <a:fld id="{D69A981F-4466-4789-9E41-1885E502A96E}" type="slidenum">
              <a:rPr lang="he-IL" smtClean="0"/>
              <a:t>21</a:t>
            </a:fld>
            <a:endParaRPr lang="he-I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141124" y="0"/>
            <a:ext cx="2050876" cy="931178"/>
          </a:xfrm>
          <a:solidFill>
            <a:schemeClr val="accent2">
              <a:lumMod val="20000"/>
              <a:lumOff val="80000"/>
            </a:schemeClr>
          </a:solidFill>
        </p:spPr>
        <p:txBody>
          <a:bodyPr>
            <a:normAutofit/>
          </a:bodyPr>
          <a:lstStyle/>
          <a:p>
            <a:pPr algn="r"/>
            <a:r>
              <a:rPr lang="he-IL" b="1" dirty="0">
                <a:solidFill>
                  <a:schemeClr val="tx2">
                    <a:lumMod val="75000"/>
                  </a:schemeClr>
                </a:solidFill>
              </a:rPr>
              <a:t>שאלה 1</a:t>
            </a:r>
          </a:p>
        </p:txBody>
      </p:sp>
      <p:graphicFrame>
        <p:nvGraphicFramePr>
          <p:cNvPr id="7" name="מציין מיקום תוכן 6"/>
          <p:cNvGraphicFramePr>
            <a:graphicFrameLocks noGrp="1"/>
          </p:cNvGraphicFramePr>
          <p:nvPr>
            <p:ph idx="1"/>
            <p:extLst>
              <p:ext uri="{D42A27DB-BD31-4B8C-83A1-F6EECF244321}">
                <p14:modId xmlns:p14="http://schemas.microsoft.com/office/powerpoint/2010/main" val="2416085984"/>
              </p:ext>
            </p:extLst>
          </p:nvPr>
        </p:nvGraphicFramePr>
        <p:xfrm>
          <a:off x="2549750" y="2246868"/>
          <a:ext cx="8892832" cy="3881120"/>
        </p:xfrm>
        <a:graphic>
          <a:graphicData uri="http://schemas.openxmlformats.org/drawingml/2006/table">
            <a:tbl>
              <a:tblPr rtl="1" firstRow="1" bandRow="1">
                <a:tableStyleId>{2D5ABB26-0587-4C30-8999-92F81FD0307C}</a:tableStyleId>
              </a:tblPr>
              <a:tblGrid>
                <a:gridCol w="981510">
                  <a:extLst>
                    <a:ext uri="{9D8B030D-6E8A-4147-A177-3AD203B41FA5}">
                      <a16:colId xmlns:a16="http://schemas.microsoft.com/office/drawing/2014/main" val="20000"/>
                    </a:ext>
                  </a:extLst>
                </a:gridCol>
                <a:gridCol w="1085891">
                  <a:extLst>
                    <a:ext uri="{9D8B030D-6E8A-4147-A177-3AD203B41FA5}">
                      <a16:colId xmlns:a16="http://schemas.microsoft.com/office/drawing/2014/main" val="20001"/>
                    </a:ext>
                  </a:extLst>
                </a:gridCol>
                <a:gridCol w="1386583">
                  <a:extLst>
                    <a:ext uri="{9D8B030D-6E8A-4147-A177-3AD203B41FA5}">
                      <a16:colId xmlns:a16="http://schemas.microsoft.com/office/drawing/2014/main" val="20002"/>
                    </a:ext>
                  </a:extLst>
                </a:gridCol>
                <a:gridCol w="1415125">
                  <a:extLst>
                    <a:ext uri="{9D8B030D-6E8A-4147-A177-3AD203B41FA5}">
                      <a16:colId xmlns:a16="http://schemas.microsoft.com/office/drawing/2014/main" val="20003"/>
                    </a:ext>
                  </a:extLst>
                </a:gridCol>
                <a:gridCol w="2097111">
                  <a:extLst>
                    <a:ext uri="{9D8B030D-6E8A-4147-A177-3AD203B41FA5}">
                      <a16:colId xmlns:a16="http://schemas.microsoft.com/office/drawing/2014/main" val="3397788549"/>
                    </a:ext>
                  </a:extLst>
                </a:gridCol>
                <a:gridCol w="1926612">
                  <a:extLst>
                    <a:ext uri="{9D8B030D-6E8A-4147-A177-3AD203B41FA5}">
                      <a16:colId xmlns:a16="http://schemas.microsoft.com/office/drawing/2014/main" val="2512597648"/>
                    </a:ext>
                  </a:extLst>
                </a:gridCol>
              </a:tblGrid>
              <a:tr h="370840">
                <a:tc rowSpan="2">
                  <a:txBody>
                    <a:bodyPr/>
                    <a:lstStyle/>
                    <a:p>
                      <a:pPr algn="ctr" rtl="1"/>
                      <a:r>
                        <a:rPr lang="he-IL" b="1" dirty="0"/>
                        <a:t>כמות מיוצרת (בטונות)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algn="ctr" rtl="1"/>
                      <a:r>
                        <a:rPr lang="he-IL" b="1" dirty="0"/>
                        <a:t>עלות (אלפי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rtl="1"/>
                      <a:endParaRPr lang="he-IL" dirty="0"/>
                    </a:p>
                  </a:txBody>
                  <a:tcPr/>
                </a:tc>
                <a:tc hMerge="1">
                  <a:txBody>
                    <a:bodyPr/>
                    <a:lstStyle/>
                    <a:p>
                      <a:pPr rtl="1"/>
                      <a:endParaRPr lang="he-IL" dirty="0"/>
                    </a:p>
                  </a:txBody>
                  <a:tcPr/>
                </a:tc>
                <a:tc>
                  <a:txBody>
                    <a:bodyPr/>
                    <a:lstStyle/>
                    <a:p>
                      <a:pPr algn="ctr" rtl="1"/>
                      <a:r>
                        <a:rPr lang="he-IL" b="1" dirty="0"/>
                        <a:t>רווח שולי=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רווח כולל</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vMerge="1">
                  <a:txBody>
                    <a:bodyPr/>
                    <a:lstStyle/>
                    <a:p>
                      <a:pPr rtl="1"/>
                      <a:endParaRPr lang="he-IL" dirty="0"/>
                    </a:p>
                  </a:txBody>
                  <a:tcPr/>
                </a:tc>
                <a:tc>
                  <a:txBody>
                    <a:bodyPr/>
                    <a:lstStyle/>
                    <a:p>
                      <a:pPr algn="ctr" rtl="1"/>
                      <a:r>
                        <a:rPr lang="he-IL" b="1" dirty="0"/>
                        <a:t>משתנה </a:t>
                      </a:r>
                      <a:r>
                        <a:rPr lang="en-US" b="1" dirty="0"/>
                        <a:t>VC)</a:t>
                      </a:r>
                      <a:r>
                        <a:rPr lang="he-IL"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b="1" dirty="0"/>
                        <a:t>משתנה ממוצעת</a:t>
                      </a:r>
                    </a:p>
                    <a:p>
                      <a:pPr marL="0" marR="0" indent="0" algn="ctr" defTabSz="914400" rtl="1" eaLnBrk="1" fontAlgn="auto" latinLnBrk="0" hangingPunct="1">
                        <a:lnSpc>
                          <a:spcPct val="100000"/>
                        </a:lnSpc>
                        <a:spcBef>
                          <a:spcPts val="0"/>
                        </a:spcBef>
                        <a:spcAft>
                          <a:spcPts val="0"/>
                        </a:spcAft>
                        <a:buClrTx/>
                        <a:buSzTx/>
                        <a:buFontTx/>
                        <a:buNone/>
                        <a:tabLst/>
                        <a:defRPr/>
                      </a:pPr>
                      <a:r>
                        <a:rPr lang="en-US" b="1" dirty="0"/>
                        <a:t>AVC</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שולית</a:t>
                      </a:r>
                      <a:r>
                        <a:rPr lang="en-US" b="1" dirty="0"/>
                        <a:t> (MC)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רווח כתוצאה מייצור יחידה אחרונה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רווח כתוצאה מייצור כל היחידות המיוצרות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70840">
                <a:tc>
                  <a:txBody>
                    <a:bodyPr/>
                    <a:lstStyle/>
                    <a:p>
                      <a:pPr algn="ctr" rtl="1"/>
                      <a:r>
                        <a:rPr lang="he-IL"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r>
                        <a:rPr lang="he-IL"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r>
                        <a:rPr lang="he-IL"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r>
                        <a:rPr lang="he-IL"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r>
                        <a:rPr lang="he-IL"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rtl="1"/>
                      <a:r>
                        <a:rPr lang="he-IL"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rtl="1"/>
                      <a:r>
                        <a:rPr lang="he-IL"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3" name="Date Placeholder 2"/>
          <p:cNvSpPr>
            <a:spLocks noGrp="1"/>
          </p:cNvSpPr>
          <p:nvPr>
            <p:ph type="dt" sz="half" idx="10"/>
          </p:nvPr>
        </p:nvSpPr>
        <p:spPr/>
        <p:txBody>
          <a:bodyPr/>
          <a:lstStyle/>
          <a:p>
            <a:fld id="{26D35F10-1BDE-4D5B-ADE5-FF11D6A72729}" type="datetime8">
              <a:rPr lang="he-IL" smtClean="0"/>
              <a:t>03 ינואר 26</a:t>
            </a:fld>
            <a:endParaRPr lang="he-IL"/>
          </a:p>
        </p:txBody>
      </p:sp>
      <p:sp>
        <p:nvSpPr>
          <p:cNvPr id="8" name="TextBox 7"/>
          <p:cNvSpPr txBox="1"/>
          <p:nvPr/>
        </p:nvSpPr>
        <p:spPr>
          <a:xfrm>
            <a:off x="1981200" y="833067"/>
            <a:ext cx="9888218" cy="1615827"/>
          </a:xfrm>
          <a:prstGeom prst="rect">
            <a:avLst/>
          </a:prstGeom>
          <a:noFill/>
        </p:spPr>
        <p:txBody>
          <a:bodyPr wrap="square" rtlCol="1">
            <a:spAutoFit/>
          </a:bodyPr>
          <a:lstStyle/>
          <a:p>
            <a:pPr lvl="0">
              <a:lnSpc>
                <a:spcPct val="150000"/>
              </a:lnSpc>
            </a:pPr>
            <a:r>
              <a:rPr lang="he-IL" dirty="0"/>
              <a:t>ב. הניחו, כי הפירמה יכולה למכור כל כמות של מלט שהיא מייצרת במחיר שוק נתון של 80 אלף ש"ח לטון. מצאו את הכמות שכדאי לפירמה לייצר. מה הן </a:t>
            </a:r>
            <a:r>
              <a:rPr lang="he-IL" u="sng" dirty="0"/>
              <a:t>הכנסות הפירמה ורווחיה</a:t>
            </a:r>
            <a:r>
              <a:rPr lang="he-IL" dirty="0"/>
              <a:t> במצב זה? מה יהיה רווח הפירמה כתוצאה מיצור היחידה הרביעית?</a:t>
            </a:r>
            <a:endParaRPr lang="en-US" dirty="0"/>
          </a:p>
          <a:p>
            <a:endParaRPr lang="he-IL" b="1" dirty="0"/>
          </a:p>
        </p:txBody>
      </p:sp>
      <p:sp>
        <p:nvSpPr>
          <p:cNvPr id="4" name="Slide Number Placeholder 3">
            <a:extLst>
              <a:ext uri="{FF2B5EF4-FFF2-40B4-BE49-F238E27FC236}">
                <a16:creationId xmlns:a16="http://schemas.microsoft.com/office/drawing/2014/main" id="{3B46583D-A257-4247-2849-BFD7B83F83F1}"/>
              </a:ext>
            </a:extLst>
          </p:cNvPr>
          <p:cNvSpPr>
            <a:spLocks noGrp="1"/>
          </p:cNvSpPr>
          <p:nvPr>
            <p:ph type="sldNum" sz="quarter" idx="12"/>
          </p:nvPr>
        </p:nvSpPr>
        <p:spPr/>
        <p:txBody>
          <a:bodyPr/>
          <a:lstStyle/>
          <a:p>
            <a:fld id="{D69A981F-4466-4789-9E41-1885E502A96E}" type="slidenum">
              <a:rPr lang="he-IL" smtClean="0"/>
              <a:t>22</a:t>
            </a:fld>
            <a:endParaRPr lang="he-IL"/>
          </a:p>
        </p:txBody>
      </p:sp>
    </p:spTree>
    <p:extLst>
      <p:ext uri="{BB962C8B-B14F-4D97-AF65-F5344CB8AC3E}">
        <p14:creationId xmlns:p14="http://schemas.microsoft.com/office/powerpoint/2010/main" val="1049460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141124" y="0"/>
            <a:ext cx="2050876" cy="931178"/>
          </a:xfrm>
          <a:solidFill>
            <a:schemeClr val="accent2">
              <a:lumMod val="20000"/>
              <a:lumOff val="80000"/>
            </a:schemeClr>
          </a:solidFill>
        </p:spPr>
        <p:txBody>
          <a:bodyPr>
            <a:normAutofit/>
          </a:bodyPr>
          <a:lstStyle/>
          <a:p>
            <a:pPr algn="r"/>
            <a:r>
              <a:rPr lang="he-IL" b="1" dirty="0">
                <a:solidFill>
                  <a:schemeClr val="tx2">
                    <a:lumMod val="75000"/>
                  </a:schemeClr>
                </a:solidFill>
              </a:rPr>
              <a:t>שאלה 1</a:t>
            </a:r>
          </a:p>
        </p:txBody>
      </p:sp>
      <p:graphicFrame>
        <p:nvGraphicFramePr>
          <p:cNvPr id="7" name="מציין מיקום תוכן 6"/>
          <p:cNvGraphicFramePr>
            <a:graphicFrameLocks noGrp="1"/>
          </p:cNvGraphicFramePr>
          <p:nvPr>
            <p:ph idx="1"/>
            <p:extLst>
              <p:ext uri="{D42A27DB-BD31-4B8C-83A1-F6EECF244321}">
                <p14:modId xmlns:p14="http://schemas.microsoft.com/office/powerpoint/2010/main" val="3036699117"/>
              </p:ext>
            </p:extLst>
          </p:nvPr>
        </p:nvGraphicFramePr>
        <p:xfrm>
          <a:off x="2549750" y="2246868"/>
          <a:ext cx="8892832" cy="3881120"/>
        </p:xfrm>
        <a:graphic>
          <a:graphicData uri="http://schemas.openxmlformats.org/drawingml/2006/table">
            <a:tbl>
              <a:tblPr rtl="1" firstRow="1" bandRow="1">
                <a:tableStyleId>{2D5ABB26-0587-4C30-8999-92F81FD0307C}</a:tableStyleId>
              </a:tblPr>
              <a:tblGrid>
                <a:gridCol w="981510">
                  <a:extLst>
                    <a:ext uri="{9D8B030D-6E8A-4147-A177-3AD203B41FA5}">
                      <a16:colId xmlns:a16="http://schemas.microsoft.com/office/drawing/2014/main" val="20000"/>
                    </a:ext>
                  </a:extLst>
                </a:gridCol>
                <a:gridCol w="1085891">
                  <a:extLst>
                    <a:ext uri="{9D8B030D-6E8A-4147-A177-3AD203B41FA5}">
                      <a16:colId xmlns:a16="http://schemas.microsoft.com/office/drawing/2014/main" val="20001"/>
                    </a:ext>
                  </a:extLst>
                </a:gridCol>
                <a:gridCol w="1386583">
                  <a:extLst>
                    <a:ext uri="{9D8B030D-6E8A-4147-A177-3AD203B41FA5}">
                      <a16:colId xmlns:a16="http://schemas.microsoft.com/office/drawing/2014/main" val="20002"/>
                    </a:ext>
                  </a:extLst>
                </a:gridCol>
                <a:gridCol w="1415125">
                  <a:extLst>
                    <a:ext uri="{9D8B030D-6E8A-4147-A177-3AD203B41FA5}">
                      <a16:colId xmlns:a16="http://schemas.microsoft.com/office/drawing/2014/main" val="20003"/>
                    </a:ext>
                  </a:extLst>
                </a:gridCol>
                <a:gridCol w="2097111">
                  <a:extLst>
                    <a:ext uri="{9D8B030D-6E8A-4147-A177-3AD203B41FA5}">
                      <a16:colId xmlns:a16="http://schemas.microsoft.com/office/drawing/2014/main" val="3397788549"/>
                    </a:ext>
                  </a:extLst>
                </a:gridCol>
                <a:gridCol w="1926612">
                  <a:extLst>
                    <a:ext uri="{9D8B030D-6E8A-4147-A177-3AD203B41FA5}">
                      <a16:colId xmlns:a16="http://schemas.microsoft.com/office/drawing/2014/main" val="2512597648"/>
                    </a:ext>
                  </a:extLst>
                </a:gridCol>
              </a:tblGrid>
              <a:tr h="370840">
                <a:tc rowSpan="2">
                  <a:txBody>
                    <a:bodyPr/>
                    <a:lstStyle/>
                    <a:p>
                      <a:pPr algn="ctr" rtl="1"/>
                      <a:r>
                        <a:rPr lang="he-IL" b="1" dirty="0"/>
                        <a:t>כמות מיוצרת (בטונות)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algn="ctr" rtl="1"/>
                      <a:r>
                        <a:rPr lang="he-IL" b="1" dirty="0"/>
                        <a:t>עלות (אלפי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rtl="1"/>
                      <a:endParaRPr lang="he-IL" dirty="0"/>
                    </a:p>
                  </a:txBody>
                  <a:tcPr/>
                </a:tc>
                <a:tc hMerge="1">
                  <a:txBody>
                    <a:bodyPr/>
                    <a:lstStyle/>
                    <a:p>
                      <a:pPr rtl="1"/>
                      <a:endParaRPr lang="he-IL" dirty="0"/>
                    </a:p>
                  </a:txBody>
                  <a:tcPr/>
                </a:tc>
                <a:tc>
                  <a:txBody>
                    <a:bodyPr/>
                    <a:lstStyle/>
                    <a:p>
                      <a:pPr algn="ctr" rtl="1"/>
                      <a:r>
                        <a:rPr lang="he-IL" b="1" dirty="0"/>
                        <a:t>רווח שולי=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רווח תפעולי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vMerge="1">
                  <a:txBody>
                    <a:bodyPr/>
                    <a:lstStyle/>
                    <a:p>
                      <a:pPr rtl="1"/>
                      <a:endParaRPr lang="he-IL" dirty="0"/>
                    </a:p>
                  </a:txBody>
                  <a:tcPr/>
                </a:tc>
                <a:tc>
                  <a:txBody>
                    <a:bodyPr/>
                    <a:lstStyle/>
                    <a:p>
                      <a:pPr algn="ctr" rtl="1"/>
                      <a:r>
                        <a:rPr lang="he-IL" b="1" dirty="0"/>
                        <a:t>משתנה </a:t>
                      </a:r>
                      <a:r>
                        <a:rPr lang="en-US" b="1" dirty="0"/>
                        <a:t>VC)</a:t>
                      </a:r>
                      <a:r>
                        <a:rPr lang="he-IL"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b="1" dirty="0"/>
                        <a:t>משתנה ממוצעת</a:t>
                      </a:r>
                    </a:p>
                    <a:p>
                      <a:pPr marL="0" marR="0" indent="0" algn="ctr" defTabSz="914400" rtl="1" eaLnBrk="1" fontAlgn="auto" latinLnBrk="0" hangingPunct="1">
                        <a:lnSpc>
                          <a:spcPct val="100000"/>
                        </a:lnSpc>
                        <a:spcBef>
                          <a:spcPts val="0"/>
                        </a:spcBef>
                        <a:spcAft>
                          <a:spcPts val="0"/>
                        </a:spcAft>
                        <a:buClrTx/>
                        <a:buSzTx/>
                        <a:buFontTx/>
                        <a:buNone/>
                        <a:tabLst/>
                        <a:defRPr/>
                      </a:pPr>
                      <a:r>
                        <a:rPr lang="en-US" b="1" dirty="0"/>
                        <a:t>AVC</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שולית</a:t>
                      </a:r>
                      <a:r>
                        <a:rPr lang="en-US" b="1" dirty="0"/>
                        <a:t> (MC)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רווח כתוצאה מייצור יחידה אחרונה</a:t>
                      </a:r>
                      <a:r>
                        <a:rPr lang="en-US" b="1" dirty="0"/>
                        <a:t>=</a:t>
                      </a:r>
                      <a:br>
                        <a:rPr lang="en-US" b="1" dirty="0"/>
                      </a:br>
                      <a:r>
                        <a:rPr lang="en-US" b="1" dirty="0"/>
                        <a:t>P-MC</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רווח כתוצאה מייצור כל היחידות המיוצרות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70840">
                <a:tc>
                  <a:txBody>
                    <a:bodyPr/>
                    <a:lstStyle/>
                    <a:p>
                      <a:pPr algn="ctr" rtl="1"/>
                      <a:r>
                        <a:rPr lang="he-IL"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C0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80-50=30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30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r>
                        <a:rPr lang="he-IL"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80-60=20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30+20=50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r>
                        <a:rPr lang="he-IL"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80-70=10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highlight>
                            <a:srgbClr val="FFCCFF"/>
                          </a:highlight>
                        </a:rPr>
                        <a:t>30+20+10=60</a:t>
                      </a:r>
                      <a:endParaRPr lang="he-IL" b="1" dirty="0">
                        <a:solidFill>
                          <a:srgbClr val="002060"/>
                        </a:solidFill>
                        <a:highlight>
                          <a:srgbClr val="FFCCFF"/>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r>
                        <a:rPr lang="he-IL"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80-80=</a:t>
                      </a:r>
                      <a:r>
                        <a:rPr lang="en-US" b="1" dirty="0">
                          <a:solidFill>
                            <a:srgbClr val="002060"/>
                          </a:solidFill>
                          <a:highlight>
                            <a:srgbClr val="FFFF00"/>
                          </a:highlight>
                        </a:rPr>
                        <a:t>0</a:t>
                      </a:r>
                      <a:endParaRPr lang="he-IL" b="1" dirty="0">
                        <a:solidFill>
                          <a:srgbClr val="002060"/>
                        </a:solidFill>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highlight>
                            <a:srgbClr val="FFCCFF"/>
                          </a:highlight>
                        </a:rPr>
                        <a:t>30+20+10+0=60</a:t>
                      </a:r>
                      <a:endParaRPr lang="he-IL" b="1" dirty="0">
                        <a:solidFill>
                          <a:srgbClr val="002060"/>
                        </a:solidFill>
                        <a:highlight>
                          <a:srgbClr val="FFCCFF"/>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r>
                        <a:rPr lang="he-IL"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80-90=-10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60-10=50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rtl="1"/>
                      <a:r>
                        <a:rPr lang="he-IL"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80-100=-20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30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rtl="1"/>
                      <a:r>
                        <a:rPr lang="he-IL"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80-110=-30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3" name="Date Placeholder 2"/>
          <p:cNvSpPr>
            <a:spLocks noGrp="1"/>
          </p:cNvSpPr>
          <p:nvPr>
            <p:ph type="dt" sz="half" idx="10"/>
          </p:nvPr>
        </p:nvSpPr>
        <p:spPr/>
        <p:txBody>
          <a:bodyPr/>
          <a:lstStyle/>
          <a:p>
            <a:fld id="{E89FB0A6-BBE4-4590-93D8-5C8FAEDD1E80}" type="datetime8">
              <a:rPr lang="he-IL" smtClean="0"/>
              <a:t>03 ינואר 26</a:t>
            </a:fld>
            <a:endParaRPr lang="he-IL"/>
          </a:p>
        </p:txBody>
      </p:sp>
      <p:sp>
        <p:nvSpPr>
          <p:cNvPr id="8" name="TextBox 7"/>
          <p:cNvSpPr txBox="1"/>
          <p:nvPr/>
        </p:nvSpPr>
        <p:spPr>
          <a:xfrm>
            <a:off x="1248292" y="215296"/>
            <a:ext cx="8892832" cy="1615827"/>
          </a:xfrm>
          <a:prstGeom prst="rect">
            <a:avLst/>
          </a:prstGeom>
          <a:noFill/>
        </p:spPr>
        <p:txBody>
          <a:bodyPr wrap="square" rtlCol="1">
            <a:spAutoFit/>
          </a:bodyPr>
          <a:lstStyle/>
          <a:p>
            <a:pPr lvl="0">
              <a:lnSpc>
                <a:spcPct val="150000"/>
              </a:lnSpc>
            </a:pPr>
            <a:r>
              <a:rPr lang="he-IL" dirty="0"/>
              <a:t>ב. הניחו, כי הפירמה יכולה למכור כל כמות של מלט שהיא מייצרת במחיר שוק נתון של 80 אלף ש"ח לטון. מצאו את הכמות שכדאי לפירמה לייצר. מה הן </a:t>
            </a:r>
            <a:r>
              <a:rPr lang="he-IL" u="sng" dirty="0"/>
              <a:t>הכנסות הפירמה ורווחיה</a:t>
            </a:r>
            <a:r>
              <a:rPr lang="he-IL" dirty="0"/>
              <a:t> במצב זה? מה יהיה רווח הפירמה כתוצאה מיצור היחידה הרביעית?</a:t>
            </a:r>
            <a:endParaRPr lang="en-US" dirty="0"/>
          </a:p>
          <a:p>
            <a:endParaRPr lang="he-IL" b="1" dirty="0"/>
          </a:p>
        </p:txBody>
      </p:sp>
      <p:sp>
        <p:nvSpPr>
          <p:cNvPr id="4" name="TextBox 3">
            <a:extLst>
              <a:ext uri="{FF2B5EF4-FFF2-40B4-BE49-F238E27FC236}">
                <a16:creationId xmlns:a16="http://schemas.microsoft.com/office/drawing/2014/main" id="{C02CCBB2-7E61-4976-922E-A83FFF030F42}"/>
              </a:ext>
            </a:extLst>
          </p:cNvPr>
          <p:cNvSpPr txBox="1"/>
          <p:nvPr/>
        </p:nvSpPr>
        <p:spPr>
          <a:xfrm>
            <a:off x="6463497" y="3886552"/>
            <a:ext cx="652743" cy="369332"/>
          </a:xfrm>
          <a:prstGeom prst="rect">
            <a:avLst/>
          </a:prstGeom>
          <a:solidFill>
            <a:schemeClr val="accent4">
              <a:lumMod val="20000"/>
              <a:lumOff val="80000"/>
            </a:schemeClr>
          </a:solidFill>
        </p:spPr>
        <p:txBody>
          <a:bodyPr wrap="none" rtlCol="0">
            <a:spAutoFit/>
          </a:bodyPr>
          <a:lstStyle/>
          <a:p>
            <a:r>
              <a:rPr lang="en-US" dirty="0"/>
              <a:t>P=60</a:t>
            </a:r>
            <a:endParaRPr lang="en-IL" dirty="0"/>
          </a:p>
        </p:txBody>
      </p:sp>
      <p:sp>
        <p:nvSpPr>
          <p:cNvPr id="6" name="Slide Number Placeholder 5">
            <a:extLst>
              <a:ext uri="{FF2B5EF4-FFF2-40B4-BE49-F238E27FC236}">
                <a16:creationId xmlns:a16="http://schemas.microsoft.com/office/drawing/2014/main" id="{AC153941-F791-11C6-0BF6-3EEB47A5724A}"/>
              </a:ext>
            </a:extLst>
          </p:cNvPr>
          <p:cNvSpPr>
            <a:spLocks noGrp="1"/>
          </p:cNvSpPr>
          <p:nvPr>
            <p:ph type="sldNum" sz="quarter" idx="12"/>
          </p:nvPr>
        </p:nvSpPr>
        <p:spPr/>
        <p:txBody>
          <a:bodyPr/>
          <a:lstStyle/>
          <a:p>
            <a:fld id="{D69A981F-4466-4789-9E41-1885E502A96E}" type="slidenum">
              <a:rPr lang="he-IL" smtClean="0"/>
              <a:t>23</a:t>
            </a:fld>
            <a:endParaRPr lang="he-IL"/>
          </a:p>
        </p:txBody>
      </p:sp>
    </p:spTree>
    <p:extLst>
      <p:ext uri="{BB962C8B-B14F-4D97-AF65-F5344CB8AC3E}">
        <p14:creationId xmlns:p14="http://schemas.microsoft.com/office/powerpoint/2010/main" val="1356975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141124" y="0"/>
            <a:ext cx="2050876" cy="931178"/>
          </a:xfrm>
          <a:solidFill>
            <a:schemeClr val="accent2">
              <a:lumMod val="20000"/>
              <a:lumOff val="80000"/>
            </a:schemeClr>
          </a:solidFill>
        </p:spPr>
        <p:txBody>
          <a:bodyPr>
            <a:normAutofit/>
          </a:bodyPr>
          <a:lstStyle/>
          <a:p>
            <a:pPr algn="r"/>
            <a:r>
              <a:rPr lang="he-IL" b="1" dirty="0">
                <a:solidFill>
                  <a:schemeClr val="tx2">
                    <a:lumMod val="75000"/>
                  </a:schemeClr>
                </a:solidFill>
              </a:rPr>
              <a:t>שאלה 1</a:t>
            </a:r>
          </a:p>
        </p:txBody>
      </p:sp>
      <p:graphicFrame>
        <p:nvGraphicFramePr>
          <p:cNvPr id="7" name="מציין מיקום תוכן 6"/>
          <p:cNvGraphicFramePr>
            <a:graphicFrameLocks noGrp="1"/>
          </p:cNvGraphicFramePr>
          <p:nvPr>
            <p:ph idx="1"/>
            <p:extLst>
              <p:ext uri="{D42A27DB-BD31-4B8C-83A1-F6EECF244321}">
                <p14:modId xmlns:p14="http://schemas.microsoft.com/office/powerpoint/2010/main" val="2830497440"/>
              </p:ext>
            </p:extLst>
          </p:nvPr>
        </p:nvGraphicFramePr>
        <p:xfrm>
          <a:off x="1951055" y="2040787"/>
          <a:ext cx="8892832" cy="3881120"/>
        </p:xfrm>
        <a:graphic>
          <a:graphicData uri="http://schemas.openxmlformats.org/drawingml/2006/table">
            <a:tbl>
              <a:tblPr rtl="1" firstRow="1" bandRow="1">
                <a:tableStyleId>{2D5ABB26-0587-4C30-8999-92F81FD0307C}</a:tableStyleId>
              </a:tblPr>
              <a:tblGrid>
                <a:gridCol w="981510">
                  <a:extLst>
                    <a:ext uri="{9D8B030D-6E8A-4147-A177-3AD203B41FA5}">
                      <a16:colId xmlns:a16="http://schemas.microsoft.com/office/drawing/2014/main" val="20000"/>
                    </a:ext>
                  </a:extLst>
                </a:gridCol>
                <a:gridCol w="1085891">
                  <a:extLst>
                    <a:ext uri="{9D8B030D-6E8A-4147-A177-3AD203B41FA5}">
                      <a16:colId xmlns:a16="http://schemas.microsoft.com/office/drawing/2014/main" val="20001"/>
                    </a:ext>
                  </a:extLst>
                </a:gridCol>
                <a:gridCol w="1386583">
                  <a:extLst>
                    <a:ext uri="{9D8B030D-6E8A-4147-A177-3AD203B41FA5}">
                      <a16:colId xmlns:a16="http://schemas.microsoft.com/office/drawing/2014/main" val="20002"/>
                    </a:ext>
                  </a:extLst>
                </a:gridCol>
                <a:gridCol w="1415125">
                  <a:extLst>
                    <a:ext uri="{9D8B030D-6E8A-4147-A177-3AD203B41FA5}">
                      <a16:colId xmlns:a16="http://schemas.microsoft.com/office/drawing/2014/main" val="20003"/>
                    </a:ext>
                  </a:extLst>
                </a:gridCol>
                <a:gridCol w="2097111">
                  <a:extLst>
                    <a:ext uri="{9D8B030D-6E8A-4147-A177-3AD203B41FA5}">
                      <a16:colId xmlns:a16="http://schemas.microsoft.com/office/drawing/2014/main" val="3397788549"/>
                    </a:ext>
                  </a:extLst>
                </a:gridCol>
                <a:gridCol w="1926612">
                  <a:extLst>
                    <a:ext uri="{9D8B030D-6E8A-4147-A177-3AD203B41FA5}">
                      <a16:colId xmlns:a16="http://schemas.microsoft.com/office/drawing/2014/main" val="2512597648"/>
                    </a:ext>
                  </a:extLst>
                </a:gridCol>
              </a:tblGrid>
              <a:tr h="370840">
                <a:tc rowSpan="2">
                  <a:txBody>
                    <a:bodyPr/>
                    <a:lstStyle/>
                    <a:p>
                      <a:pPr algn="ctr" rtl="1"/>
                      <a:r>
                        <a:rPr lang="he-IL" b="1" dirty="0"/>
                        <a:t>כמות מיוצרת (בטונות)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algn="ctr" rtl="1"/>
                      <a:r>
                        <a:rPr lang="he-IL" b="1" dirty="0"/>
                        <a:t>עלות (אלפי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rtl="1"/>
                      <a:endParaRPr lang="he-IL" dirty="0"/>
                    </a:p>
                  </a:txBody>
                  <a:tcPr/>
                </a:tc>
                <a:tc hMerge="1">
                  <a:txBody>
                    <a:bodyPr/>
                    <a:lstStyle/>
                    <a:p>
                      <a:pPr rtl="1"/>
                      <a:endParaRPr lang="he-IL" dirty="0"/>
                    </a:p>
                  </a:txBody>
                  <a:tcPr/>
                </a:tc>
                <a:tc>
                  <a:txBody>
                    <a:bodyPr/>
                    <a:lstStyle/>
                    <a:p>
                      <a:pPr algn="ctr" rtl="1"/>
                      <a:r>
                        <a:rPr lang="he-IL" b="1" dirty="0"/>
                        <a:t>רווח שולי=</a:t>
                      </a:r>
                      <a:r>
                        <a:rPr lang="en-US" b="1" dirty="0"/>
                        <a:t>P-MC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רווח תפעולי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vMerge="1">
                  <a:txBody>
                    <a:bodyPr/>
                    <a:lstStyle/>
                    <a:p>
                      <a:pPr rtl="1"/>
                      <a:endParaRPr lang="he-IL" dirty="0"/>
                    </a:p>
                  </a:txBody>
                  <a:tcPr/>
                </a:tc>
                <a:tc>
                  <a:txBody>
                    <a:bodyPr/>
                    <a:lstStyle/>
                    <a:p>
                      <a:pPr algn="ctr" rtl="1"/>
                      <a:r>
                        <a:rPr lang="he-IL" b="1" dirty="0"/>
                        <a:t>משתנה </a:t>
                      </a:r>
                      <a:r>
                        <a:rPr lang="en-US" b="1" dirty="0"/>
                        <a:t>VC)</a:t>
                      </a:r>
                      <a:r>
                        <a:rPr lang="he-IL"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b="1" dirty="0"/>
                        <a:t>משתנה ממוצעת</a:t>
                      </a:r>
                    </a:p>
                    <a:p>
                      <a:pPr marL="0" marR="0" indent="0" algn="ctr" defTabSz="914400" rtl="1" eaLnBrk="1" fontAlgn="auto" latinLnBrk="0" hangingPunct="1">
                        <a:lnSpc>
                          <a:spcPct val="100000"/>
                        </a:lnSpc>
                        <a:spcBef>
                          <a:spcPts val="0"/>
                        </a:spcBef>
                        <a:spcAft>
                          <a:spcPts val="0"/>
                        </a:spcAft>
                        <a:buClrTx/>
                        <a:buSzTx/>
                        <a:buFontTx/>
                        <a:buNone/>
                        <a:tabLst/>
                        <a:defRPr/>
                      </a:pPr>
                      <a:r>
                        <a:rPr lang="en-US" b="1" dirty="0"/>
                        <a:t>AVC</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שולית</a:t>
                      </a:r>
                      <a:r>
                        <a:rPr lang="en-US" b="1" dirty="0"/>
                        <a:t> (MC) </a:t>
                      </a:r>
                      <a:endParaRPr lang="he-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רווח כתוצאה מייצור יחידה אחרונה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b="1" dirty="0"/>
                        <a:t>רווח כתוצאה מייצור כל היחידות המיוצרות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70840">
                <a:tc>
                  <a:txBody>
                    <a:bodyPr/>
                    <a:lstStyle/>
                    <a:p>
                      <a:pPr algn="ctr" rtl="1"/>
                      <a:r>
                        <a:rPr lang="he-IL"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80-50=30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30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r>
                        <a:rPr lang="he-IL"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80-60=20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30+20=50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r>
                        <a:rPr lang="he-IL"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80-70=10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30+20+10=60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370840">
                <a:tc>
                  <a:txBody>
                    <a:bodyPr/>
                    <a:lstStyle/>
                    <a:p>
                      <a:pPr algn="ctr" rtl="1"/>
                      <a:r>
                        <a:rPr lang="he-IL"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80-80=</a:t>
                      </a:r>
                      <a:r>
                        <a:rPr lang="en-US" b="1" dirty="0">
                          <a:solidFill>
                            <a:srgbClr val="002060"/>
                          </a:solidFill>
                          <a:highlight>
                            <a:srgbClr val="FFFF00"/>
                          </a:highlight>
                        </a:rPr>
                        <a:t>0</a:t>
                      </a:r>
                      <a:endParaRPr lang="he-IL" b="1" dirty="0">
                        <a:solidFill>
                          <a:srgbClr val="002060"/>
                        </a:solidFill>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60+0=60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5"/>
                  </a:ext>
                </a:extLst>
              </a:tr>
              <a:tr h="370840">
                <a:tc>
                  <a:txBody>
                    <a:bodyPr/>
                    <a:lstStyle/>
                    <a:p>
                      <a:pPr algn="ctr" rtl="1"/>
                      <a:r>
                        <a:rPr lang="he-IL"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80-90=-10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60-10=50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rtl="1"/>
                      <a:r>
                        <a:rPr lang="he-IL"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80-100=-20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50-20=30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rtl="1"/>
                      <a:r>
                        <a:rPr lang="he-IL"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80-110=-30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en-US" b="1" dirty="0">
                          <a:solidFill>
                            <a:srgbClr val="002060"/>
                          </a:solidFill>
                        </a:rPr>
                        <a:t>0</a:t>
                      </a:r>
                      <a:endParaRPr lang="he-IL"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3" name="Date Placeholder 2"/>
          <p:cNvSpPr>
            <a:spLocks noGrp="1"/>
          </p:cNvSpPr>
          <p:nvPr>
            <p:ph type="dt" sz="half" idx="10"/>
          </p:nvPr>
        </p:nvSpPr>
        <p:spPr/>
        <p:txBody>
          <a:bodyPr/>
          <a:lstStyle/>
          <a:p>
            <a:fld id="{F6EA4A55-019B-465A-A672-70F33EB54408}" type="datetime8">
              <a:rPr lang="he-IL" smtClean="0"/>
              <a:t>03 ינואר 26</a:t>
            </a:fld>
            <a:endParaRPr lang="he-IL"/>
          </a:p>
        </p:txBody>
      </p:sp>
      <p:sp>
        <p:nvSpPr>
          <p:cNvPr id="8" name="TextBox 7"/>
          <p:cNvSpPr txBox="1"/>
          <p:nvPr/>
        </p:nvSpPr>
        <p:spPr>
          <a:xfrm>
            <a:off x="463218" y="123264"/>
            <a:ext cx="9888218" cy="1615827"/>
          </a:xfrm>
          <a:prstGeom prst="rect">
            <a:avLst/>
          </a:prstGeom>
          <a:noFill/>
        </p:spPr>
        <p:txBody>
          <a:bodyPr wrap="square" rtlCol="1">
            <a:spAutoFit/>
          </a:bodyPr>
          <a:lstStyle/>
          <a:p>
            <a:pPr lvl="0">
              <a:lnSpc>
                <a:spcPct val="150000"/>
              </a:lnSpc>
            </a:pPr>
            <a:r>
              <a:rPr lang="he-IL" dirty="0"/>
              <a:t>ב. הניחו, כי הפירמה יכולה למכור כל כמות של מלט שהיא מייצרת במחיר שוק נתון של 80 אלף ש"ח לטון. מצאו את הכמות שכדאי לפירמה לייצר. מה הן </a:t>
            </a:r>
            <a:r>
              <a:rPr lang="he-IL" u="sng" dirty="0"/>
              <a:t>הכנסות הפירמה ורווחיה</a:t>
            </a:r>
            <a:r>
              <a:rPr lang="he-IL" dirty="0"/>
              <a:t> במצב זה? מה יהיה רווח הפירמה כתוצאה מיצור היחידה הרביעית?</a:t>
            </a:r>
            <a:endParaRPr lang="en-US" dirty="0"/>
          </a:p>
          <a:p>
            <a:endParaRPr lang="he-IL" b="1" dirty="0"/>
          </a:p>
        </p:txBody>
      </p:sp>
      <p:sp>
        <p:nvSpPr>
          <p:cNvPr id="4" name="TextBox 3">
            <a:extLst>
              <a:ext uri="{FF2B5EF4-FFF2-40B4-BE49-F238E27FC236}">
                <a16:creationId xmlns:a16="http://schemas.microsoft.com/office/drawing/2014/main" id="{D975C097-CA0C-4B6E-97F4-5792F809F658}"/>
              </a:ext>
            </a:extLst>
          </p:cNvPr>
          <p:cNvSpPr txBox="1"/>
          <p:nvPr/>
        </p:nvSpPr>
        <p:spPr>
          <a:xfrm>
            <a:off x="5990813" y="4627380"/>
            <a:ext cx="904351" cy="369332"/>
          </a:xfrm>
          <a:prstGeom prst="rect">
            <a:avLst/>
          </a:prstGeom>
          <a:solidFill>
            <a:schemeClr val="accent4">
              <a:lumMod val="20000"/>
              <a:lumOff val="80000"/>
            </a:schemeClr>
          </a:solidFill>
        </p:spPr>
        <p:txBody>
          <a:bodyPr wrap="square" rtlCol="0">
            <a:spAutoFit/>
          </a:bodyPr>
          <a:lstStyle/>
          <a:p>
            <a:pPr algn="ctr"/>
            <a:r>
              <a:rPr lang="en-US" dirty="0"/>
              <a:t>P=80</a:t>
            </a:r>
            <a:endParaRPr lang="en-IL" dirty="0"/>
          </a:p>
        </p:txBody>
      </p:sp>
      <p:sp>
        <p:nvSpPr>
          <p:cNvPr id="6" name="Slide Number Placeholder 5">
            <a:extLst>
              <a:ext uri="{FF2B5EF4-FFF2-40B4-BE49-F238E27FC236}">
                <a16:creationId xmlns:a16="http://schemas.microsoft.com/office/drawing/2014/main" id="{994275C8-B916-7786-1DE3-6246B8358EF1}"/>
              </a:ext>
            </a:extLst>
          </p:cNvPr>
          <p:cNvSpPr>
            <a:spLocks noGrp="1"/>
          </p:cNvSpPr>
          <p:nvPr>
            <p:ph type="sldNum" sz="quarter" idx="12"/>
          </p:nvPr>
        </p:nvSpPr>
        <p:spPr/>
        <p:txBody>
          <a:bodyPr/>
          <a:lstStyle/>
          <a:p>
            <a:fld id="{D69A981F-4466-4789-9E41-1885E502A96E}" type="slidenum">
              <a:rPr lang="he-IL" smtClean="0"/>
              <a:t>24</a:t>
            </a:fld>
            <a:endParaRPr lang="he-IL"/>
          </a:p>
        </p:txBody>
      </p:sp>
    </p:spTree>
    <p:extLst>
      <p:ext uri="{BB962C8B-B14F-4D97-AF65-F5344CB8AC3E}">
        <p14:creationId xmlns:p14="http://schemas.microsoft.com/office/powerpoint/2010/main" val="27263322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62400" y="16941"/>
            <a:ext cx="8229600" cy="1092607"/>
          </a:xfrm>
        </p:spPr>
        <p:txBody>
          <a:bodyPr>
            <a:normAutofit/>
          </a:bodyPr>
          <a:lstStyle/>
          <a:p>
            <a:pPr algn="r"/>
            <a:r>
              <a:rPr lang="he-IL" b="1" dirty="0">
                <a:solidFill>
                  <a:schemeClr val="tx2">
                    <a:lumMod val="75000"/>
                  </a:schemeClr>
                </a:solidFill>
              </a:rPr>
              <a:t>שאלה 1</a:t>
            </a:r>
          </a:p>
        </p:txBody>
      </p:sp>
      <p:sp>
        <p:nvSpPr>
          <p:cNvPr id="8" name="TextBox 7"/>
          <p:cNvSpPr txBox="1"/>
          <p:nvPr/>
        </p:nvSpPr>
        <p:spPr>
          <a:xfrm>
            <a:off x="4823811" y="961571"/>
            <a:ext cx="7237974" cy="369332"/>
          </a:xfrm>
          <a:prstGeom prst="rect">
            <a:avLst/>
          </a:prstGeom>
          <a:noFill/>
        </p:spPr>
        <p:txBody>
          <a:bodyPr wrap="square" rtlCol="1">
            <a:spAutoFit/>
          </a:bodyPr>
          <a:lstStyle/>
          <a:p>
            <a:r>
              <a:rPr lang="he-IL" b="1" dirty="0"/>
              <a:t>ג. הסברו מדוע לא כדאי לפירמה לייצר 7 טון ומדוע לא כדאי לה לייצר 2 טון.</a:t>
            </a:r>
            <a:endParaRPr lang="en-US" b="1" dirty="0"/>
          </a:p>
        </p:txBody>
      </p:sp>
      <mc:AlternateContent xmlns:mc="http://schemas.openxmlformats.org/markup-compatibility/2006" xmlns:a14="http://schemas.microsoft.com/office/drawing/2010/main">
        <mc:Choice Requires="a14">
          <p:sp>
            <p:nvSpPr>
              <p:cNvPr id="3" name="TextBox 2"/>
              <p:cNvSpPr txBox="1"/>
              <p:nvPr/>
            </p:nvSpPr>
            <p:spPr>
              <a:xfrm>
                <a:off x="6041473" y="1663344"/>
                <a:ext cx="4543093" cy="1092607"/>
              </a:xfrm>
              <a:prstGeom prst="rect">
                <a:avLst/>
              </a:prstGeom>
              <a:noFill/>
            </p:spPr>
            <p:txBody>
              <a:bodyPr wrap="square" rtlCol="1">
                <a:spAutoFit/>
              </a:bodyPr>
              <a:lstStyle/>
              <a:p>
                <a:r>
                  <a:rPr lang="he-IL" sz="2000" u="sng" dirty="0"/>
                  <a:t>הרווח</a:t>
                </a:r>
                <a:r>
                  <a:rPr lang="he-IL" sz="2000" dirty="0"/>
                  <a:t> של הפירמה כאשר מייצרת</a:t>
                </a:r>
                <a:r>
                  <a:rPr lang="he-IL" sz="2000" b="1" dirty="0"/>
                  <a:t> </a:t>
                </a:r>
                <a:r>
                  <a:rPr lang="en-US" sz="2000" b="1" dirty="0"/>
                  <a:t>X</a:t>
                </a:r>
                <a:r>
                  <a:rPr lang="he-IL" sz="2000" b="1" dirty="0"/>
                  <a:t>=7</a:t>
                </a:r>
                <a:r>
                  <a:rPr lang="he-IL" sz="2000" dirty="0"/>
                  <a:t> הוא: </a:t>
                </a:r>
                <a:br>
                  <a:rPr lang="en-US" dirty="0"/>
                </a:br>
                <a:br>
                  <a:rPr lang="en-US" dirty="0"/>
                </a:br>
                <a:r>
                  <a:rPr lang="he-IL" sz="2700" dirty="0"/>
                  <a:t> </a:t>
                </a:r>
                <a14:m>
                  <m:oMath xmlns:m="http://schemas.openxmlformats.org/officeDocument/2006/math">
                    <m:r>
                      <m:rPr>
                        <m:sty m:val="p"/>
                      </m:rPr>
                      <a:rPr lang="he-IL" sz="2700">
                        <a:latin typeface="Cambria Math"/>
                      </a:rPr>
                      <m:t>π</m:t>
                    </m:r>
                    <m:r>
                      <a:rPr lang="he-IL" sz="2700">
                        <a:latin typeface="Cambria Math"/>
                      </a:rPr>
                      <m:t>(</m:t>
                    </m:r>
                    <m:r>
                      <a:rPr lang="he-IL" sz="2700" b="1" i="1">
                        <a:solidFill>
                          <a:schemeClr val="bg1">
                            <a:lumMod val="50000"/>
                          </a:schemeClr>
                        </a:solidFill>
                        <a:latin typeface="Cambria Math"/>
                      </a:rPr>
                      <m:t>𝒙</m:t>
                    </m:r>
                    <m:r>
                      <a:rPr lang="he-IL" sz="2700" b="1">
                        <a:solidFill>
                          <a:schemeClr val="bg2">
                            <a:lumMod val="50000"/>
                          </a:schemeClr>
                        </a:solidFill>
                        <a:latin typeface="Cambria Math"/>
                      </a:rPr>
                      <m:t>=</m:t>
                    </m:r>
                    <m:r>
                      <a:rPr lang="he-IL" sz="2700" b="1" i="1">
                        <a:solidFill>
                          <a:schemeClr val="bg2">
                            <a:lumMod val="50000"/>
                          </a:schemeClr>
                        </a:solidFill>
                        <a:latin typeface="Cambria Math"/>
                      </a:rPr>
                      <m:t>𝟕</m:t>
                    </m:r>
                    <m:r>
                      <a:rPr lang="he-IL" sz="2700">
                        <a:latin typeface="Cambria Math"/>
                      </a:rPr>
                      <m:t>)=</m:t>
                    </m:r>
                    <m:r>
                      <a:rPr lang="he-IL" sz="2700">
                        <a:latin typeface="Cambria Math"/>
                      </a:rPr>
                      <m:t>80</m:t>
                    </m:r>
                    <m:r>
                      <a:rPr lang="he-IL" sz="2700">
                        <a:latin typeface="Cambria Math"/>
                      </a:rPr>
                      <m:t>⋅</m:t>
                    </m:r>
                    <m:r>
                      <a:rPr lang="he-IL" sz="2700">
                        <a:latin typeface="Cambria Math"/>
                      </a:rPr>
                      <m:t>7</m:t>
                    </m:r>
                    <m:r>
                      <a:rPr lang="he-IL" sz="2700">
                        <a:latin typeface="Cambria Math"/>
                      </a:rPr>
                      <m:t>−</m:t>
                    </m:r>
                    <m:r>
                      <a:rPr lang="he-IL" sz="2700">
                        <a:latin typeface="Cambria Math"/>
                      </a:rPr>
                      <m:t>560</m:t>
                    </m:r>
                    <m:r>
                      <a:rPr lang="he-IL" sz="2700">
                        <a:latin typeface="Cambria Math"/>
                      </a:rPr>
                      <m:t>=</m:t>
                    </m:r>
                    <m:r>
                      <a:rPr lang="he-IL" sz="2700" b="1" i="1">
                        <a:latin typeface="Cambria Math"/>
                      </a:rPr>
                      <m:t>𝟎</m:t>
                    </m:r>
                  </m:oMath>
                </a14:m>
                <a:endParaRPr lang="he-IL" sz="2700" b="1" dirty="0"/>
              </a:p>
            </p:txBody>
          </p:sp>
        </mc:Choice>
        <mc:Fallback xmlns="">
          <p:sp>
            <p:nvSpPr>
              <p:cNvPr id="3" name="TextBox 2"/>
              <p:cNvSpPr txBox="1">
                <a:spLocks noRot="1" noChangeAspect="1" noMove="1" noResize="1" noEditPoints="1" noAdjustHandles="1" noChangeArrowheads="1" noChangeShapeType="1" noTextEdit="1"/>
              </p:cNvSpPr>
              <p:nvPr/>
            </p:nvSpPr>
            <p:spPr>
              <a:xfrm>
                <a:off x="6041473" y="1663344"/>
                <a:ext cx="4543093" cy="1092607"/>
              </a:xfrm>
              <a:prstGeom prst="rect">
                <a:avLst/>
              </a:prstGeom>
              <a:blipFill>
                <a:blip r:embed="rId2"/>
                <a:stretch>
                  <a:fillRect t="-3911" r="-2550" b="-13966"/>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519936" y="3389569"/>
                <a:ext cx="5064630" cy="769441"/>
              </a:xfrm>
              <a:prstGeom prst="rect">
                <a:avLst/>
              </a:prstGeom>
              <a:noFill/>
            </p:spPr>
            <p:txBody>
              <a:bodyPr wrap="square" rtlCol="1">
                <a:spAutoFit/>
              </a:bodyPr>
              <a:lstStyle/>
              <a:p>
                <a:r>
                  <a:rPr lang="he-IL" u="sng" dirty="0"/>
                  <a:t>הרווח</a:t>
                </a:r>
                <a:r>
                  <a:rPr lang="he-IL" dirty="0"/>
                  <a:t> של הפירמה כאשר מייצרת</a:t>
                </a:r>
                <a:r>
                  <a:rPr lang="he-IL" b="1" dirty="0"/>
                  <a:t> </a:t>
                </a:r>
                <a:r>
                  <a:rPr lang="en-US" b="1" dirty="0"/>
                  <a:t> 2</a:t>
                </a:r>
                <a:r>
                  <a:rPr lang="he-IL" b="1" dirty="0"/>
                  <a:t>=</a:t>
                </a:r>
                <a:r>
                  <a:rPr lang="en-US" b="1" dirty="0"/>
                  <a:t>X </a:t>
                </a:r>
                <a:r>
                  <a:rPr lang="he-IL" dirty="0"/>
                  <a:t> הוא: </a:t>
                </a:r>
                <a:br>
                  <a:rPr lang="en-US" dirty="0"/>
                </a:br>
                <a:r>
                  <a:rPr lang="he-IL" dirty="0"/>
                  <a:t>  </a:t>
                </a:r>
                <a14:m>
                  <m:oMath xmlns:m="http://schemas.openxmlformats.org/officeDocument/2006/math">
                    <m:r>
                      <m:rPr>
                        <m:sty m:val="p"/>
                      </m:rPr>
                      <a:rPr lang="he-IL" sz="2600">
                        <a:latin typeface="Cambria Math"/>
                      </a:rPr>
                      <m:t>π</m:t>
                    </m:r>
                    <m:r>
                      <a:rPr lang="he-IL" sz="2600">
                        <a:latin typeface="Cambria Math"/>
                      </a:rPr>
                      <m:t>(</m:t>
                    </m:r>
                    <m:r>
                      <a:rPr lang="he-IL" sz="2600" b="1" i="1">
                        <a:solidFill>
                          <a:schemeClr val="bg1">
                            <a:lumMod val="50000"/>
                          </a:schemeClr>
                        </a:solidFill>
                        <a:latin typeface="Cambria Math"/>
                      </a:rPr>
                      <m:t>𝒙</m:t>
                    </m:r>
                    <m:r>
                      <a:rPr lang="he-IL" sz="2600" b="1">
                        <a:solidFill>
                          <a:schemeClr val="bg2">
                            <a:lumMod val="50000"/>
                          </a:schemeClr>
                        </a:solidFill>
                        <a:latin typeface="Cambria Math"/>
                      </a:rPr>
                      <m:t>=</m:t>
                    </m:r>
                    <m:r>
                      <a:rPr lang="he-IL" sz="2600" b="1" i="1">
                        <a:solidFill>
                          <a:schemeClr val="bg2">
                            <a:lumMod val="50000"/>
                          </a:schemeClr>
                        </a:solidFill>
                        <a:latin typeface="Cambria Math"/>
                      </a:rPr>
                      <m:t>𝟐</m:t>
                    </m:r>
                    <m:r>
                      <a:rPr lang="he-IL" sz="2600">
                        <a:latin typeface="Cambria Math"/>
                      </a:rPr>
                      <m:t>)=</m:t>
                    </m:r>
                    <m:r>
                      <a:rPr lang="he-IL" sz="2600">
                        <a:latin typeface="Cambria Math"/>
                      </a:rPr>
                      <m:t>80</m:t>
                    </m:r>
                    <m:r>
                      <a:rPr lang="he-IL" sz="2600">
                        <a:latin typeface="Cambria Math"/>
                      </a:rPr>
                      <m:t>⋅</m:t>
                    </m:r>
                    <m:r>
                      <a:rPr lang="he-IL" sz="2600">
                        <a:latin typeface="Cambria Math"/>
                      </a:rPr>
                      <m:t>2</m:t>
                    </m:r>
                    <m:r>
                      <a:rPr lang="he-IL" sz="2600">
                        <a:latin typeface="Cambria Math"/>
                      </a:rPr>
                      <m:t>−</m:t>
                    </m:r>
                    <m:r>
                      <a:rPr lang="he-IL" sz="2600">
                        <a:latin typeface="Cambria Math"/>
                      </a:rPr>
                      <m:t>110</m:t>
                    </m:r>
                    <m:r>
                      <a:rPr lang="he-IL" sz="2600">
                        <a:latin typeface="Cambria Math"/>
                      </a:rPr>
                      <m:t>=</m:t>
                    </m:r>
                    <m:r>
                      <a:rPr lang="he-IL" sz="2600" b="1">
                        <a:latin typeface="Cambria Math"/>
                      </a:rPr>
                      <m:t>𝟓</m:t>
                    </m:r>
                    <m:r>
                      <a:rPr lang="he-IL" sz="2600" b="1" i="1">
                        <a:latin typeface="Cambria Math"/>
                      </a:rPr>
                      <m:t>𝟎</m:t>
                    </m:r>
                  </m:oMath>
                </a14:m>
                <a:endParaRPr lang="he-IL" sz="2600" b="1" dirty="0"/>
              </a:p>
            </p:txBody>
          </p:sp>
        </mc:Choice>
        <mc:Fallback xmlns="">
          <p:sp>
            <p:nvSpPr>
              <p:cNvPr id="10" name="TextBox 9"/>
              <p:cNvSpPr txBox="1">
                <a:spLocks noRot="1" noChangeAspect="1" noMove="1" noResize="1" noEditPoints="1" noAdjustHandles="1" noChangeArrowheads="1" noChangeShapeType="1" noTextEdit="1"/>
              </p:cNvSpPr>
              <p:nvPr/>
            </p:nvSpPr>
            <p:spPr>
              <a:xfrm>
                <a:off x="5519936" y="3389569"/>
                <a:ext cx="5064630" cy="769441"/>
              </a:xfrm>
              <a:prstGeom prst="rect">
                <a:avLst/>
              </a:prstGeom>
              <a:blipFill>
                <a:blip r:embed="rId3"/>
                <a:stretch>
                  <a:fillRect t="-4762" r="-1084" b="-9524"/>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3842577" y="5273607"/>
                <a:ext cx="7992888" cy="461665"/>
              </a:xfrm>
              <a:prstGeom prst="rect">
                <a:avLst/>
              </a:prstGeom>
              <a:noFill/>
            </p:spPr>
            <p:txBody>
              <a:bodyPr wrap="square" rtlCol="1">
                <a:spAutoFit/>
              </a:bodyPr>
              <a:lstStyle/>
              <a:p>
                <a:r>
                  <a:rPr lang="he-IL" b="1" dirty="0"/>
                  <a:t>הרווח אינו מקסימלי, הרווח בשני המקרים הללו הוא קטן מ-  </a:t>
                </a:r>
                <a14:m>
                  <m:oMath xmlns:m="http://schemas.openxmlformats.org/officeDocument/2006/math">
                    <m:r>
                      <m:rPr>
                        <m:sty m:val="p"/>
                      </m:rPr>
                      <a:rPr lang="he-IL" sz="2400">
                        <a:latin typeface="Cambria Math"/>
                      </a:rPr>
                      <m:t>π</m:t>
                    </m:r>
                    <m:r>
                      <a:rPr lang="he-IL" sz="2400">
                        <a:latin typeface="Cambria Math"/>
                      </a:rPr>
                      <m:t>(</m:t>
                    </m:r>
                    <m:r>
                      <a:rPr lang="he-IL" sz="2400" b="1" i="1">
                        <a:solidFill>
                          <a:schemeClr val="bg2">
                            <a:lumMod val="50000"/>
                          </a:schemeClr>
                        </a:solidFill>
                        <a:latin typeface="Cambria Math"/>
                      </a:rPr>
                      <m:t>𝒙</m:t>
                    </m:r>
                    <m:r>
                      <a:rPr lang="he-IL" sz="2400" b="1">
                        <a:solidFill>
                          <a:schemeClr val="bg2">
                            <a:lumMod val="50000"/>
                          </a:schemeClr>
                        </a:solidFill>
                        <a:latin typeface="Cambria Math"/>
                      </a:rPr>
                      <m:t>=</m:t>
                    </m:r>
                    <m:r>
                      <a:rPr lang="he-IL" sz="2400" b="1" i="1">
                        <a:solidFill>
                          <a:schemeClr val="bg2">
                            <a:lumMod val="50000"/>
                          </a:schemeClr>
                        </a:solidFill>
                        <a:latin typeface="Cambria Math"/>
                      </a:rPr>
                      <m:t>𝟒</m:t>
                    </m:r>
                    <m:r>
                      <a:rPr lang="he-IL" sz="2400">
                        <a:latin typeface="Cambria Math"/>
                      </a:rPr>
                      <m:t>)=</m:t>
                    </m:r>
                    <m:r>
                      <a:rPr lang="he-IL" sz="2400" b="1" i="1">
                        <a:latin typeface="Cambria Math"/>
                      </a:rPr>
                      <m:t>𝟔𝟎</m:t>
                    </m:r>
                  </m:oMath>
                </a14:m>
                <a:endParaRPr lang="he-IL" sz="2400" b="1" dirty="0"/>
              </a:p>
            </p:txBody>
          </p:sp>
        </mc:Choice>
        <mc:Fallback xmlns="">
          <p:sp>
            <p:nvSpPr>
              <p:cNvPr id="4" name="TextBox 3"/>
              <p:cNvSpPr txBox="1">
                <a:spLocks noRot="1" noChangeAspect="1" noMove="1" noResize="1" noEditPoints="1" noAdjustHandles="1" noChangeArrowheads="1" noChangeShapeType="1" noTextEdit="1"/>
              </p:cNvSpPr>
              <p:nvPr/>
            </p:nvSpPr>
            <p:spPr>
              <a:xfrm>
                <a:off x="3842577" y="5273607"/>
                <a:ext cx="7992888" cy="461665"/>
              </a:xfrm>
              <a:prstGeom prst="rect">
                <a:avLst/>
              </a:prstGeom>
              <a:blipFill>
                <a:blip r:embed="rId4"/>
                <a:stretch>
                  <a:fillRect r="-610" b="-19737"/>
                </a:stretch>
              </a:blipFill>
            </p:spPr>
            <p:txBody>
              <a:bodyPr/>
              <a:lstStyle/>
              <a:p>
                <a:r>
                  <a:rPr lang="en-IL">
                    <a:noFill/>
                  </a:rPr>
                  <a:t> </a:t>
                </a:r>
              </a:p>
            </p:txBody>
          </p:sp>
        </mc:Fallback>
      </mc:AlternateContent>
      <p:graphicFrame>
        <p:nvGraphicFramePr>
          <p:cNvPr id="11" name="מציין מיקום תוכן 6"/>
          <p:cNvGraphicFramePr>
            <a:graphicFrameLocks noGrp="1"/>
          </p:cNvGraphicFramePr>
          <p:nvPr>
            <p:ph idx="1"/>
            <p:extLst>
              <p:ext uri="{D42A27DB-BD31-4B8C-83A1-F6EECF244321}">
                <p14:modId xmlns:p14="http://schemas.microsoft.com/office/powerpoint/2010/main" val="326008453"/>
              </p:ext>
            </p:extLst>
          </p:nvPr>
        </p:nvGraphicFramePr>
        <p:xfrm>
          <a:off x="1418496" y="1315246"/>
          <a:ext cx="3962919" cy="3552189"/>
        </p:xfrm>
        <a:graphic>
          <a:graphicData uri="http://schemas.openxmlformats.org/drawingml/2006/table">
            <a:tbl>
              <a:tblPr rtl="1" firstRow="1" bandRow="1">
                <a:tableStyleId>{2D5ABB26-0587-4C30-8999-92F81FD0307C}</a:tableStyleId>
              </a:tblPr>
              <a:tblGrid>
                <a:gridCol w="679696">
                  <a:extLst>
                    <a:ext uri="{9D8B030D-6E8A-4147-A177-3AD203B41FA5}">
                      <a16:colId xmlns:a16="http://schemas.microsoft.com/office/drawing/2014/main" val="20000"/>
                    </a:ext>
                  </a:extLst>
                </a:gridCol>
                <a:gridCol w="909357">
                  <a:extLst>
                    <a:ext uri="{9D8B030D-6E8A-4147-A177-3AD203B41FA5}">
                      <a16:colId xmlns:a16="http://schemas.microsoft.com/office/drawing/2014/main" val="20001"/>
                    </a:ext>
                  </a:extLst>
                </a:gridCol>
                <a:gridCol w="1458176">
                  <a:extLst>
                    <a:ext uri="{9D8B030D-6E8A-4147-A177-3AD203B41FA5}">
                      <a16:colId xmlns:a16="http://schemas.microsoft.com/office/drawing/2014/main" val="20002"/>
                    </a:ext>
                  </a:extLst>
                </a:gridCol>
                <a:gridCol w="915690">
                  <a:extLst>
                    <a:ext uri="{9D8B030D-6E8A-4147-A177-3AD203B41FA5}">
                      <a16:colId xmlns:a16="http://schemas.microsoft.com/office/drawing/2014/main" val="20003"/>
                    </a:ext>
                  </a:extLst>
                </a:gridCol>
              </a:tblGrid>
              <a:tr h="121106">
                <a:tc rowSpan="2">
                  <a:txBody>
                    <a:bodyPr/>
                    <a:lstStyle/>
                    <a:p>
                      <a:pPr algn="ctr" rtl="1"/>
                      <a:r>
                        <a:rPr lang="he-IL" sz="1400" b="0" dirty="0"/>
                        <a:t>כמות מיוצרת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algn="ctr" rtl="1"/>
                      <a:r>
                        <a:rPr lang="he-IL" b="1" dirty="0"/>
                        <a:t>עלות (אלפי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0"/>
                  </a:ext>
                </a:extLst>
              </a:tr>
              <a:tr h="626109">
                <a:tc vMerge="1">
                  <a:txBody>
                    <a:bodyPr/>
                    <a:lstStyle/>
                    <a:p>
                      <a:pPr rtl="1"/>
                      <a:endParaRPr lang="he-IL" dirty="0"/>
                    </a:p>
                  </a:txBody>
                  <a:tcPr/>
                </a:tc>
                <a:tc>
                  <a:txBody>
                    <a:bodyPr/>
                    <a:lstStyle/>
                    <a:p>
                      <a:pPr algn="ctr" rtl="1"/>
                      <a:r>
                        <a:rPr lang="he-IL" sz="1600" b="0" dirty="0"/>
                        <a:t>משתנה </a:t>
                      </a:r>
                      <a:r>
                        <a:rPr lang="en-US" sz="1600" b="0" dirty="0"/>
                        <a:t>VC)</a:t>
                      </a:r>
                      <a:r>
                        <a:rPr lang="he-IL" sz="1600"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sz="1600" b="0" dirty="0"/>
                        <a:t>משתנה ממוצעת</a:t>
                      </a:r>
                      <a:r>
                        <a:rPr lang="en-US" sz="1600" b="0" dirty="0"/>
                        <a:t>AVC)</a:t>
                      </a:r>
                      <a:r>
                        <a:rPr lang="en-US" sz="1600" b="0" baseline="0" dirty="0"/>
                        <a:t> </a:t>
                      </a:r>
                      <a:r>
                        <a:rPr lang="he-IL" sz="1600"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sz="1600" b="0" dirty="0"/>
                        <a:t>שולית</a:t>
                      </a:r>
                      <a:r>
                        <a:rPr lang="en-US" sz="1600" b="0" dirty="0"/>
                        <a:t> (MC) </a:t>
                      </a:r>
                      <a:endParaRPr lang="he-IL" sz="16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59285">
                <a:tc>
                  <a:txBody>
                    <a:bodyPr/>
                    <a:lstStyle/>
                    <a:p>
                      <a:pPr algn="ctr" rtl="1"/>
                      <a:r>
                        <a:rPr lang="he-IL"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59285">
                <a:tc>
                  <a:txBody>
                    <a:bodyPr/>
                    <a:lstStyle/>
                    <a:p>
                      <a:pPr algn="ctr" rtl="1"/>
                      <a:r>
                        <a:rPr lang="he-IL"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59285">
                <a:tc>
                  <a:txBody>
                    <a:bodyPr/>
                    <a:lstStyle/>
                    <a:p>
                      <a:pPr algn="ctr" rtl="1"/>
                      <a:r>
                        <a:rPr lang="he-IL"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59285">
                <a:tc>
                  <a:txBody>
                    <a:bodyPr/>
                    <a:lstStyle/>
                    <a:p>
                      <a:pPr algn="ctr" rtl="1"/>
                      <a:r>
                        <a:rPr lang="he-IL"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59285">
                <a:tc>
                  <a:txBody>
                    <a:bodyPr/>
                    <a:lstStyle/>
                    <a:p>
                      <a:pPr algn="ctr" rtl="1"/>
                      <a:r>
                        <a:rPr lang="he-IL"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59285">
                <a:tc>
                  <a:txBody>
                    <a:bodyPr/>
                    <a:lstStyle/>
                    <a:p>
                      <a:pPr algn="ctr" rtl="1"/>
                      <a:r>
                        <a:rPr lang="he-IL"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59285">
                <a:tc>
                  <a:txBody>
                    <a:bodyPr/>
                    <a:lstStyle/>
                    <a:p>
                      <a:pPr algn="ctr" rtl="1"/>
                      <a:r>
                        <a:rPr lang="he-IL"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Date Placeholder 5"/>
          <p:cNvSpPr>
            <a:spLocks noGrp="1"/>
          </p:cNvSpPr>
          <p:nvPr>
            <p:ph type="dt" sz="half" idx="10"/>
          </p:nvPr>
        </p:nvSpPr>
        <p:spPr/>
        <p:txBody>
          <a:bodyPr/>
          <a:lstStyle/>
          <a:p>
            <a:fld id="{58ACE9BD-BC7F-44FB-8AF7-40E3BC73D74D}" type="datetime8">
              <a:rPr lang="he-IL" smtClean="0"/>
              <a:t>03 ינואר 26</a:t>
            </a:fld>
            <a:endParaRPr lang="he-IL"/>
          </a:p>
        </p:txBody>
      </p:sp>
      <p:sp>
        <p:nvSpPr>
          <p:cNvPr id="7" name="Slide Number Placeholder 6">
            <a:extLst>
              <a:ext uri="{FF2B5EF4-FFF2-40B4-BE49-F238E27FC236}">
                <a16:creationId xmlns:a16="http://schemas.microsoft.com/office/drawing/2014/main" id="{160E60BE-2A83-BF33-5ACE-9E84360FEDEA}"/>
              </a:ext>
            </a:extLst>
          </p:cNvPr>
          <p:cNvSpPr>
            <a:spLocks noGrp="1"/>
          </p:cNvSpPr>
          <p:nvPr>
            <p:ph type="sldNum" sz="quarter" idx="12"/>
          </p:nvPr>
        </p:nvSpPr>
        <p:spPr/>
        <p:txBody>
          <a:bodyPr/>
          <a:lstStyle/>
          <a:p>
            <a:fld id="{D69A981F-4466-4789-9E41-1885E502A96E}" type="slidenum">
              <a:rPr lang="he-IL" smtClean="0"/>
              <a:t>25</a:t>
            </a:fld>
            <a:endParaRPr lang="he-I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095507" y="0"/>
            <a:ext cx="1979712" cy="1143000"/>
          </a:xfrm>
        </p:spPr>
        <p:txBody>
          <a:bodyPr/>
          <a:lstStyle/>
          <a:p>
            <a:pPr algn="r"/>
            <a:r>
              <a:rPr lang="he-IL" b="1" dirty="0">
                <a:solidFill>
                  <a:schemeClr val="tx2">
                    <a:lumMod val="75000"/>
                  </a:schemeClr>
                </a:solidFill>
              </a:rPr>
              <a:t>שאלה 1</a:t>
            </a:r>
          </a:p>
        </p:txBody>
      </p:sp>
      <p:sp>
        <p:nvSpPr>
          <p:cNvPr id="8" name="TextBox 7"/>
          <p:cNvSpPr txBox="1"/>
          <p:nvPr/>
        </p:nvSpPr>
        <p:spPr>
          <a:xfrm>
            <a:off x="4038600" y="1016104"/>
            <a:ext cx="8036619" cy="923330"/>
          </a:xfrm>
          <a:prstGeom prst="rect">
            <a:avLst/>
          </a:prstGeom>
          <a:noFill/>
        </p:spPr>
        <p:txBody>
          <a:bodyPr wrap="square" rtlCol="1">
            <a:spAutoFit/>
          </a:bodyPr>
          <a:lstStyle/>
          <a:p>
            <a:pPr lvl="0"/>
            <a:r>
              <a:rPr lang="he-IL" b="1" dirty="0"/>
              <a:t>ד. </a:t>
            </a:r>
            <a:r>
              <a:rPr lang="he-IL" dirty="0"/>
              <a:t>בהנחה כי לצורך יצור המלט צריכה החברה </a:t>
            </a:r>
            <a:r>
              <a:rPr lang="he-IL" b="1" dirty="0"/>
              <a:t>לשכור למשך שנה מפעל</a:t>
            </a:r>
            <a:r>
              <a:rPr lang="he-IL" dirty="0"/>
              <a:t>, </a:t>
            </a:r>
            <a:r>
              <a:rPr lang="he-IL" b="1" dirty="0"/>
              <a:t>שעלותו לשבוע הינה 70 אלף ש"ח, </a:t>
            </a:r>
            <a:r>
              <a:rPr lang="he-IL" dirty="0"/>
              <a:t>האם תשתנה תשובתכם לסעיף ב'. בתשובתכם התייחס</a:t>
            </a:r>
            <a:r>
              <a:rPr lang="he-IL" b="1" dirty="0"/>
              <a:t> לטווח הקצר?</a:t>
            </a:r>
          </a:p>
        </p:txBody>
      </p:sp>
      <p:sp>
        <p:nvSpPr>
          <p:cNvPr id="7" name="TextBox 6"/>
          <p:cNvSpPr txBox="1"/>
          <p:nvPr/>
        </p:nvSpPr>
        <p:spPr>
          <a:xfrm>
            <a:off x="3581401" y="4559898"/>
            <a:ext cx="8328663" cy="1938992"/>
          </a:xfrm>
          <a:prstGeom prst="rect">
            <a:avLst/>
          </a:prstGeom>
          <a:noFill/>
        </p:spPr>
        <p:txBody>
          <a:bodyPr wrap="square" rtlCol="1">
            <a:spAutoFit/>
          </a:bodyPr>
          <a:lstStyle/>
          <a:p>
            <a:pPr>
              <a:lnSpc>
                <a:spcPct val="150000"/>
              </a:lnSpc>
            </a:pPr>
            <a:r>
              <a:rPr lang="he-IL" sz="2000" u="sng" dirty="0"/>
              <a:t>בטווח הקצר</a:t>
            </a:r>
            <a:r>
              <a:rPr lang="he-IL" sz="2000" dirty="0"/>
              <a:t> הפרימה כבר שכרה את המפעל ולא יכולה לעצור את תשלומי השכירות. </a:t>
            </a:r>
          </a:p>
          <a:p>
            <a:pPr>
              <a:lnSpc>
                <a:spcPct val="150000"/>
              </a:lnSpc>
            </a:pPr>
            <a:r>
              <a:rPr lang="he-IL" sz="2000" dirty="0"/>
              <a:t>אם תבחר שלא לייצר, במקום להפסיד 10 אלף </a:t>
            </a:r>
            <a:r>
              <a:rPr lang="he-IL" sz="2000" dirty="0" err="1"/>
              <a:t>₪ ל</a:t>
            </a:r>
            <a:r>
              <a:rPr lang="he-IL" sz="2000" dirty="0"/>
              <a:t>שבוע תפסיד 70 אלף ₪!</a:t>
            </a:r>
          </a:p>
          <a:p>
            <a:pPr>
              <a:lnSpc>
                <a:spcPct val="150000"/>
              </a:lnSpc>
            </a:pPr>
            <a:r>
              <a:rPr lang="he-IL" sz="2000" b="1" dirty="0">
                <a:highlight>
                  <a:srgbClr val="FFFF00"/>
                </a:highlight>
              </a:rPr>
              <a:t>לכן התשובה לא תשתנה! רווח תפעולי ללא שינוי .</a:t>
            </a:r>
          </a:p>
          <a:p>
            <a:pPr>
              <a:lnSpc>
                <a:spcPct val="150000"/>
              </a:lnSpc>
            </a:pPr>
            <a:r>
              <a:rPr lang="he-IL" sz="2000" dirty="0">
                <a:highlight>
                  <a:srgbClr val="00FF00"/>
                </a:highlight>
              </a:rPr>
              <a:t>בטווח הארוך הפירמה </a:t>
            </a:r>
            <a:r>
              <a:rPr lang="he-IL" sz="2000" b="1" dirty="0">
                <a:highlight>
                  <a:srgbClr val="00FF00"/>
                </a:highlight>
              </a:rPr>
              <a:t>תצא מהשוק.</a:t>
            </a:r>
          </a:p>
        </p:txBody>
      </p:sp>
      <p:sp>
        <p:nvSpPr>
          <p:cNvPr id="3" name="מלבן 2"/>
          <p:cNvSpPr/>
          <p:nvPr/>
        </p:nvSpPr>
        <p:spPr>
          <a:xfrm>
            <a:off x="3645599" y="3082570"/>
            <a:ext cx="8429620" cy="1477328"/>
          </a:xfrm>
          <a:prstGeom prst="rect">
            <a:avLst/>
          </a:prstGeom>
        </p:spPr>
        <p:txBody>
          <a:bodyPr wrap="square">
            <a:spAutoFit/>
          </a:bodyPr>
          <a:lstStyle/>
          <a:p>
            <a:pPr>
              <a:lnSpc>
                <a:spcPct val="150000"/>
              </a:lnSpc>
            </a:pPr>
            <a:r>
              <a:rPr lang="he-IL" sz="2000" dirty="0"/>
              <a:t>בסעיף א' ראינו שהפירמה תייצר 4 טון מלט ורווחיה יהיו 60 אלף ₪ לשבוע.</a:t>
            </a:r>
          </a:p>
          <a:p>
            <a:pPr>
              <a:lnSpc>
                <a:spcPct val="150000"/>
              </a:lnSpc>
            </a:pPr>
            <a:r>
              <a:rPr lang="he-IL" sz="2000" dirty="0"/>
              <a:t>כעת נתון שהייצור כרוך בעלות נוספת של 70 אלף ₪ לשבוע, כלומר הפירמה מפסידה 10 אלף ₪ לשבוע (הרווח הנקי הוא שלילי אך הרווח התפעולי הוא חיובי).</a:t>
            </a:r>
          </a:p>
        </p:txBody>
      </p:sp>
      <mc:AlternateContent xmlns:mc="http://schemas.openxmlformats.org/markup-compatibility/2006" xmlns:a14="http://schemas.microsoft.com/office/drawing/2010/main">
        <mc:Choice Requires="a14">
          <p:sp>
            <p:nvSpPr>
              <p:cNvPr id="9" name="מלבן 8"/>
              <p:cNvSpPr/>
              <p:nvPr/>
            </p:nvSpPr>
            <p:spPr>
              <a:xfrm>
                <a:off x="1625445" y="1737208"/>
                <a:ext cx="8754456" cy="117968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50000"/>
                  </a:lnSpc>
                </a:pPr>
                <a:r>
                  <a:rPr lang="he-IL" sz="2000" b="1" dirty="0"/>
                  <a:t>ליצרן כדאי להישאר בענף ולייצר </a:t>
                </a:r>
                <a:r>
                  <a:rPr lang="he-IL" sz="2000" b="1" u="sng" dirty="0"/>
                  <a:t>בטווח הקצר</a:t>
                </a:r>
                <a:r>
                  <a:rPr lang="he-IL" sz="2000" b="1" dirty="0"/>
                  <a:t> כל עוד י</a:t>
                </a:r>
                <a:r>
                  <a:rPr lang="he-IL" sz="2000" dirty="0"/>
                  <a:t>ש ליצרן רווחים לאחר כיסוי העלויות המשתנות</a:t>
                </a:r>
                <a:r>
                  <a:rPr lang="en-US" sz="2000" dirty="0"/>
                  <a:t> (VC) </a:t>
                </a:r>
                <a:r>
                  <a:rPr lang="he-IL" sz="2000" dirty="0"/>
                  <a:t>, </a:t>
                </a:r>
                <a:r>
                  <a:rPr lang="he-IL" sz="2000" b="1" dirty="0"/>
                  <a:t>כלומר כל עוד: </a:t>
                </a:r>
                <a14:m>
                  <m:oMath xmlns:m="http://schemas.openxmlformats.org/officeDocument/2006/math">
                    <m:r>
                      <a:rPr lang="he-IL" sz="2800" b="1">
                        <a:latin typeface="Cambria Math" panose="02040503050406030204" pitchFamily="18" charset="0"/>
                      </a:rPr>
                      <m:t> </m:t>
                    </m:r>
                    <m:r>
                      <a:rPr lang="he-IL" sz="2800" b="1">
                        <a:solidFill>
                          <a:srgbClr val="C00000"/>
                        </a:solidFill>
                        <a:latin typeface="Cambria Math" panose="02040503050406030204" pitchFamily="18" charset="0"/>
                      </a:rPr>
                      <m:t>תפעולי</m:t>
                    </m:r>
                    <m:r>
                      <a:rPr lang="he-IL" sz="2800" i="1">
                        <a:latin typeface="Cambria Math" panose="02040503050406030204" pitchFamily="18" charset="0"/>
                      </a:rPr>
                      <m:t>𝜋</m:t>
                    </m:r>
                    <m:r>
                      <a:rPr lang="he-IL" sz="2800">
                        <a:latin typeface="Cambria Math" panose="02040503050406030204" pitchFamily="18" charset="0"/>
                      </a:rPr>
                      <m:t>=</m:t>
                    </m:r>
                    <m:r>
                      <m:rPr>
                        <m:sty m:val="p"/>
                      </m:rPr>
                      <a:rPr lang="he-IL" sz="2800">
                        <a:latin typeface="Cambria Math" panose="02040503050406030204" pitchFamily="18" charset="0"/>
                      </a:rPr>
                      <m:t>Px</m:t>
                    </m:r>
                    <m:r>
                      <a:rPr lang="he-IL" sz="2800">
                        <a:latin typeface="Cambria Math" panose="02040503050406030204" pitchFamily="18" charset="0"/>
                      </a:rPr>
                      <m:t>⋅</m:t>
                    </m:r>
                    <m:r>
                      <m:rPr>
                        <m:sty m:val="p"/>
                      </m:rPr>
                      <a:rPr lang="he-IL" sz="2800">
                        <a:latin typeface="Cambria Math" panose="02040503050406030204" pitchFamily="18" charset="0"/>
                      </a:rPr>
                      <m:t>X</m:t>
                    </m:r>
                    <m:r>
                      <a:rPr lang="he-IL" sz="2800">
                        <a:latin typeface="Cambria Math" panose="02040503050406030204" pitchFamily="18" charset="0"/>
                      </a:rPr>
                      <m:t>−</m:t>
                    </m:r>
                    <m:r>
                      <m:rPr>
                        <m:sty m:val="p"/>
                      </m:rPr>
                      <a:rPr lang="he-IL" sz="2800">
                        <a:latin typeface="Cambria Math" panose="02040503050406030204" pitchFamily="18" charset="0"/>
                      </a:rPr>
                      <m:t>VC</m:t>
                    </m:r>
                    <m:r>
                      <a:rPr lang="he-IL" sz="2800">
                        <a:latin typeface="Cambria Math" panose="02040503050406030204" pitchFamily="18" charset="0"/>
                      </a:rPr>
                      <m:t>(</m:t>
                    </m:r>
                    <m:r>
                      <m:rPr>
                        <m:sty m:val="p"/>
                      </m:rPr>
                      <a:rPr lang="he-IL" sz="2800">
                        <a:latin typeface="Cambria Math" panose="02040503050406030204" pitchFamily="18" charset="0"/>
                      </a:rPr>
                      <m:t>X</m:t>
                    </m:r>
                    <m:r>
                      <a:rPr lang="he-IL" sz="2800">
                        <a:latin typeface="Cambria Math" panose="02040503050406030204" pitchFamily="18" charset="0"/>
                      </a:rPr>
                      <m:t>)≥</m:t>
                    </m:r>
                    <m:r>
                      <a:rPr lang="he-IL" sz="2800">
                        <a:latin typeface="Cambria Math" panose="02040503050406030204" pitchFamily="18" charset="0"/>
                      </a:rPr>
                      <m:t>0</m:t>
                    </m:r>
                  </m:oMath>
                </a14:m>
                <a:endParaRPr lang="he-IL" sz="2800" dirty="0"/>
              </a:p>
            </p:txBody>
          </p:sp>
        </mc:Choice>
        <mc:Fallback xmlns="">
          <p:sp>
            <p:nvSpPr>
              <p:cNvPr id="9" name="מלבן 8"/>
              <p:cNvSpPr>
                <a:spLocks noRot="1" noChangeAspect="1" noMove="1" noResize="1" noEditPoints="1" noAdjustHandles="1" noChangeArrowheads="1" noChangeShapeType="1" noTextEdit="1"/>
              </p:cNvSpPr>
              <p:nvPr/>
            </p:nvSpPr>
            <p:spPr>
              <a:xfrm>
                <a:off x="1625445" y="1737208"/>
                <a:ext cx="8754456" cy="1179682"/>
              </a:xfrm>
              <a:prstGeom prst="rect">
                <a:avLst/>
              </a:prstGeom>
              <a:blipFill>
                <a:blip r:embed="rId3"/>
                <a:stretch>
                  <a:fillRect r="-626" b="-6701"/>
                </a:stretch>
              </a:blipFill>
            </p:spPr>
            <p:txBody>
              <a:bodyPr/>
              <a:lstStyle/>
              <a:p>
                <a:r>
                  <a:rPr lang="en-IL">
                    <a:noFill/>
                  </a:rPr>
                  <a:t> </a:t>
                </a:r>
              </a:p>
            </p:txBody>
          </p:sp>
        </mc:Fallback>
      </mc:AlternateContent>
      <p:sp>
        <p:nvSpPr>
          <p:cNvPr id="4" name="Date Placeholder 3"/>
          <p:cNvSpPr>
            <a:spLocks noGrp="1"/>
          </p:cNvSpPr>
          <p:nvPr>
            <p:ph type="dt" sz="half" idx="10"/>
          </p:nvPr>
        </p:nvSpPr>
        <p:spPr/>
        <p:txBody>
          <a:bodyPr/>
          <a:lstStyle/>
          <a:p>
            <a:fld id="{22746D6F-E295-4A33-9CE2-E026D40CB39E}" type="datetime8">
              <a:rPr lang="he-IL" smtClean="0"/>
              <a:t>03 ינואר 26</a:t>
            </a:fld>
            <a:endParaRPr lang="he-IL"/>
          </a:p>
        </p:txBody>
      </p:sp>
      <p:sp>
        <p:nvSpPr>
          <p:cNvPr id="6" name="Slide Number Placeholder 5">
            <a:extLst>
              <a:ext uri="{FF2B5EF4-FFF2-40B4-BE49-F238E27FC236}">
                <a16:creationId xmlns:a16="http://schemas.microsoft.com/office/drawing/2014/main" id="{9E089FA1-C0A5-1977-7D7E-E806D88BC52C}"/>
              </a:ext>
            </a:extLst>
          </p:cNvPr>
          <p:cNvSpPr>
            <a:spLocks noGrp="1"/>
          </p:cNvSpPr>
          <p:nvPr>
            <p:ph type="sldNum" sz="quarter" idx="12"/>
          </p:nvPr>
        </p:nvSpPr>
        <p:spPr/>
        <p:txBody>
          <a:bodyPr/>
          <a:lstStyle/>
          <a:p>
            <a:fld id="{D69A981F-4466-4789-9E41-1885E502A96E}" type="slidenum">
              <a:rPr lang="he-IL" smtClean="0"/>
              <a:t>26</a:t>
            </a:fld>
            <a:endParaRPr lang="he-I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271770" y="-15765"/>
            <a:ext cx="1920230" cy="1143000"/>
          </a:xfrm>
        </p:spPr>
        <p:txBody>
          <a:bodyPr>
            <a:normAutofit/>
          </a:bodyPr>
          <a:lstStyle/>
          <a:p>
            <a:pPr algn="r"/>
            <a:r>
              <a:rPr lang="he-IL" b="1" dirty="0">
                <a:solidFill>
                  <a:schemeClr val="tx2">
                    <a:lumMod val="75000"/>
                  </a:schemeClr>
                </a:solidFill>
              </a:rPr>
              <a:t>שאלה 1</a:t>
            </a:r>
          </a:p>
        </p:txBody>
      </p:sp>
      <p:sp>
        <p:nvSpPr>
          <p:cNvPr id="8" name="TextBox 7"/>
          <p:cNvSpPr txBox="1"/>
          <p:nvPr/>
        </p:nvSpPr>
        <p:spPr>
          <a:xfrm>
            <a:off x="4984115" y="799409"/>
            <a:ext cx="7207885" cy="369332"/>
          </a:xfrm>
          <a:prstGeom prst="rect">
            <a:avLst/>
          </a:prstGeom>
          <a:noFill/>
        </p:spPr>
        <p:txBody>
          <a:bodyPr wrap="square" rtlCol="1">
            <a:spAutoFit/>
          </a:bodyPr>
          <a:lstStyle/>
          <a:p>
            <a:pPr lvl="0"/>
            <a:r>
              <a:rPr lang="he-IL" b="1" dirty="0"/>
              <a:t>ה. מהו המחיר הנמוך ביותר שבו הפירמה תחליט לייצר בזמן הקצר?</a:t>
            </a:r>
            <a:endParaRPr lang="en-US" b="1" dirty="0"/>
          </a:p>
        </p:txBody>
      </p:sp>
      <p:sp>
        <p:nvSpPr>
          <p:cNvPr id="7" name="TextBox 6"/>
          <p:cNvSpPr txBox="1"/>
          <p:nvPr/>
        </p:nvSpPr>
        <p:spPr>
          <a:xfrm>
            <a:off x="3667500" y="1307802"/>
            <a:ext cx="8328663" cy="504305"/>
          </a:xfrm>
          <a:prstGeom prst="rect">
            <a:avLst/>
          </a:prstGeom>
        </p:spPr>
        <p:style>
          <a:lnRef idx="1">
            <a:schemeClr val="accent2"/>
          </a:lnRef>
          <a:fillRef idx="2">
            <a:schemeClr val="accent2"/>
          </a:fillRef>
          <a:effectRef idx="1">
            <a:schemeClr val="accent2"/>
          </a:effectRef>
          <a:fontRef idx="minor">
            <a:schemeClr val="dk1"/>
          </a:fontRef>
        </p:style>
        <p:txBody>
          <a:bodyPr wrap="square" rtlCol="1">
            <a:spAutoFit/>
          </a:bodyPr>
          <a:lstStyle/>
          <a:p>
            <a:pPr>
              <a:lnSpc>
                <a:spcPct val="150000"/>
              </a:lnSpc>
            </a:pPr>
            <a:r>
              <a:rPr lang="he-IL" sz="2000" dirty="0"/>
              <a:t>המחיר המינימאלי שבו הפירמה תייצר בזמן הקצר הוא  </a:t>
            </a:r>
            <a:r>
              <a:rPr lang="en-US" sz="2000" b="1" dirty="0">
                <a:solidFill>
                  <a:srgbClr val="C00000"/>
                </a:solidFill>
              </a:rPr>
              <a:t>Min (AVC)</a:t>
            </a:r>
            <a:r>
              <a:rPr lang="he-IL" sz="2000" dirty="0"/>
              <a:t>, במקרה זה </a:t>
            </a:r>
            <a:r>
              <a:rPr lang="he-IL" sz="2000" dirty="0">
                <a:solidFill>
                  <a:srgbClr val="C00000"/>
                </a:solidFill>
              </a:rPr>
              <a:t>50</a:t>
            </a:r>
            <a:r>
              <a:rPr lang="he-IL" sz="2000" dirty="0"/>
              <a:t>.</a:t>
            </a:r>
          </a:p>
        </p:txBody>
      </p:sp>
      <mc:AlternateContent xmlns:mc="http://schemas.openxmlformats.org/markup-compatibility/2006" xmlns:a14="http://schemas.microsoft.com/office/drawing/2010/main">
        <mc:Choice Requires="a14">
          <p:sp>
            <p:nvSpPr>
              <p:cNvPr id="3" name="מלבן 2"/>
              <p:cNvSpPr/>
              <p:nvPr/>
            </p:nvSpPr>
            <p:spPr>
              <a:xfrm>
                <a:off x="3652691" y="1815481"/>
                <a:ext cx="6828000" cy="1227965"/>
              </a:xfrm>
              <a:prstGeom prst="rect">
                <a:avLst/>
              </a:prstGeom>
            </p:spPr>
            <p:txBody>
              <a:bodyPr wrap="square">
                <a:spAutoFit/>
              </a:bodyPr>
              <a:lstStyle/>
              <a:p>
                <a:pPr>
                  <a:lnSpc>
                    <a:spcPct val="200000"/>
                  </a:lnSpc>
                </a:pPr>
                <a:r>
                  <a:rPr lang="he-IL" sz="2000" dirty="0"/>
                  <a:t>כאשר </a:t>
                </a:r>
                <a14:m>
                  <m:oMath xmlns:m="http://schemas.openxmlformats.org/officeDocument/2006/math">
                    <m:r>
                      <a:rPr lang="en-US" sz="2000">
                        <a:latin typeface="Cambria Math"/>
                      </a:rPr>
                      <m:t>:</m:t>
                    </m:r>
                    <m:r>
                      <m:rPr>
                        <m:sty m:val="p"/>
                      </m:rPr>
                      <a:rPr lang="he-IL" sz="2000">
                        <a:latin typeface="Cambria Math"/>
                      </a:rPr>
                      <m:t>P</m:t>
                    </m:r>
                    <m:r>
                      <a:rPr lang="he-IL" sz="2000" i="1">
                        <a:latin typeface="Cambria Math"/>
                      </a:rPr>
                      <m:t>≥</m:t>
                    </m:r>
                    <m:r>
                      <a:rPr lang="he-IL" sz="2000">
                        <a:solidFill>
                          <a:srgbClr val="C00000"/>
                        </a:solidFill>
                        <a:latin typeface="Cambria Math"/>
                      </a:rPr>
                      <m:t>50</m:t>
                    </m:r>
                  </m:oMath>
                </a14:m>
                <a:r>
                  <a:rPr lang="he-IL" sz="2000" dirty="0"/>
                  <a:t> יש רווחים בטווח הקצר </a:t>
                </a:r>
                <a14:m>
                  <m:oMath xmlns:m="http://schemas.openxmlformats.org/officeDocument/2006/math">
                    <m:r>
                      <m:rPr>
                        <m:sty m:val="p"/>
                      </m:rPr>
                      <a:rPr lang="he-IL" sz="2000">
                        <a:latin typeface="Cambria Math"/>
                      </a:rPr>
                      <m:t>Px</m:t>
                    </m:r>
                    <m:r>
                      <a:rPr lang="he-IL" sz="2000">
                        <a:latin typeface="Cambria Math"/>
                      </a:rPr>
                      <m:t>⋅</m:t>
                    </m:r>
                    <m:r>
                      <m:rPr>
                        <m:sty m:val="p"/>
                      </m:rPr>
                      <a:rPr lang="he-IL" sz="2000">
                        <a:latin typeface="Cambria Math"/>
                      </a:rPr>
                      <m:t>X</m:t>
                    </m:r>
                    <m:r>
                      <a:rPr lang="he-IL" sz="2000">
                        <a:latin typeface="Cambria Math"/>
                      </a:rPr>
                      <m:t>−</m:t>
                    </m:r>
                    <m:r>
                      <m:rPr>
                        <m:sty m:val="p"/>
                      </m:rPr>
                      <a:rPr lang="he-IL" sz="2000">
                        <a:latin typeface="Cambria Math"/>
                      </a:rPr>
                      <m:t>VC</m:t>
                    </m:r>
                    <m:r>
                      <a:rPr lang="he-IL" sz="2000">
                        <a:latin typeface="Cambria Math"/>
                      </a:rPr>
                      <m:t>(</m:t>
                    </m:r>
                    <m:r>
                      <m:rPr>
                        <m:sty m:val="p"/>
                      </m:rPr>
                      <a:rPr lang="he-IL" sz="2000">
                        <a:latin typeface="Cambria Math"/>
                      </a:rPr>
                      <m:t>X</m:t>
                    </m:r>
                    <m:r>
                      <a:rPr lang="he-IL" sz="2000">
                        <a:latin typeface="Cambria Math"/>
                      </a:rPr>
                      <m:t>)≥</m:t>
                    </m:r>
                    <m:r>
                      <a:rPr lang="he-IL" sz="2000">
                        <a:latin typeface="Cambria Math"/>
                      </a:rPr>
                      <m:t>0</m:t>
                    </m:r>
                  </m:oMath>
                </a14:m>
                <a:br>
                  <a:rPr lang="en-US" sz="2000" dirty="0"/>
                </a:br>
                <a:r>
                  <a:rPr lang="he-IL" sz="2000" dirty="0"/>
                  <a:t>כאשר </a:t>
                </a:r>
                <a14:m>
                  <m:oMath xmlns:m="http://schemas.openxmlformats.org/officeDocument/2006/math">
                    <m:r>
                      <m:rPr>
                        <m:sty m:val="p"/>
                      </m:rPr>
                      <a:rPr lang="he-IL" sz="2000">
                        <a:latin typeface="Cambria Math"/>
                      </a:rPr>
                      <m:t>P</m:t>
                    </m:r>
                    <m:r>
                      <a:rPr lang="he-IL" sz="2000">
                        <a:latin typeface="Cambria Math"/>
                      </a:rPr>
                      <m:t>&lt;</m:t>
                    </m:r>
                    <m:r>
                      <a:rPr lang="he-IL" sz="2000">
                        <a:solidFill>
                          <a:srgbClr val="C00000"/>
                        </a:solidFill>
                        <a:latin typeface="Cambria Math"/>
                      </a:rPr>
                      <m:t>50</m:t>
                    </m:r>
                  </m:oMath>
                </a14:m>
                <a:r>
                  <a:rPr lang="he-IL" sz="2000" dirty="0"/>
                  <a:t>:  הפירמה מפסידה בטווח הקצר ולכן לא כדאי לייצר.</a:t>
                </a:r>
              </a:p>
            </p:txBody>
          </p:sp>
        </mc:Choice>
        <mc:Fallback xmlns="">
          <p:sp>
            <p:nvSpPr>
              <p:cNvPr id="3" name="מלבן 2"/>
              <p:cNvSpPr>
                <a:spLocks noRot="1" noChangeAspect="1" noMove="1" noResize="1" noEditPoints="1" noAdjustHandles="1" noChangeArrowheads="1" noChangeShapeType="1" noTextEdit="1"/>
              </p:cNvSpPr>
              <p:nvPr/>
            </p:nvSpPr>
            <p:spPr>
              <a:xfrm>
                <a:off x="3652691" y="1815481"/>
                <a:ext cx="6828000" cy="1227965"/>
              </a:xfrm>
              <a:prstGeom prst="rect">
                <a:avLst/>
              </a:prstGeom>
              <a:blipFill>
                <a:blip r:embed="rId2"/>
                <a:stretch>
                  <a:fillRect r="-982" b="-8458"/>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 name="מלבן 3"/>
              <p:cNvSpPr/>
              <p:nvPr/>
            </p:nvSpPr>
            <p:spPr>
              <a:xfrm>
                <a:off x="6168008" y="4895517"/>
                <a:ext cx="4604376" cy="878574"/>
              </a:xfrm>
              <a:prstGeom prst="rect">
                <a:avLst/>
              </a:prstGeom>
            </p:spPr>
            <p:txBody>
              <a:bodyPr wrap="square">
                <a:spAutoFit/>
              </a:bodyPr>
              <a:lstStyle/>
              <a:p>
                <a:pPr>
                  <a:lnSpc>
                    <a:spcPct val="150000"/>
                  </a:lnSpc>
                </a:pPr>
                <a:r>
                  <a:rPr lang="he-IL" dirty="0"/>
                  <a:t>הכמות שתיוצר במחיר זה היא 1 טון מלט, שכן בכמות זו:  </a:t>
                </a:r>
                <a:r>
                  <a:rPr lang="en-US" dirty="0"/>
                  <a:t> </a:t>
                </a:r>
                <a14:m>
                  <m:oMath xmlns:m="http://schemas.openxmlformats.org/officeDocument/2006/math">
                    <m:r>
                      <m:rPr>
                        <m:sty m:val="p"/>
                      </m:rPr>
                      <a:rPr lang="he-IL">
                        <a:latin typeface="Cambria Math"/>
                      </a:rPr>
                      <m:t>MC</m:t>
                    </m:r>
                    <m:r>
                      <a:rPr lang="he-IL">
                        <a:latin typeface="Cambria Math"/>
                      </a:rPr>
                      <m:t>=</m:t>
                    </m:r>
                    <m:r>
                      <m:rPr>
                        <m:sty m:val="p"/>
                      </m:rPr>
                      <a:rPr lang="he-IL">
                        <a:latin typeface="Cambria Math"/>
                      </a:rPr>
                      <m:t>P</m:t>
                    </m:r>
                  </m:oMath>
                </a14:m>
                <a:r>
                  <a:rPr lang="he-IL" dirty="0"/>
                  <a:t>.</a:t>
                </a:r>
              </a:p>
            </p:txBody>
          </p:sp>
        </mc:Choice>
        <mc:Fallback xmlns="">
          <p:sp>
            <p:nvSpPr>
              <p:cNvPr id="4" name="מלבן 3"/>
              <p:cNvSpPr>
                <a:spLocks noRot="1" noChangeAspect="1" noMove="1" noResize="1" noEditPoints="1" noAdjustHandles="1" noChangeArrowheads="1" noChangeShapeType="1" noTextEdit="1"/>
              </p:cNvSpPr>
              <p:nvPr/>
            </p:nvSpPr>
            <p:spPr>
              <a:xfrm>
                <a:off x="6168008" y="4895517"/>
                <a:ext cx="4604376" cy="878574"/>
              </a:xfrm>
              <a:prstGeom prst="rect">
                <a:avLst/>
              </a:prstGeom>
              <a:blipFill>
                <a:blip r:embed="rId3"/>
                <a:stretch>
                  <a:fillRect r="-1060" b="-9722"/>
                </a:stretch>
              </a:blipFill>
            </p:spPr>
            <p:txBody>
              <a:bodyPr/>
              <a:lstStyle/>
              <a:p>
                <a:r>
                  <a:rPr lang="en-IL">
                    <a:noFill/>
                  </a:rPr>
                  <a:t> </a:t>
                </a:r>
              </a:p>
            </p:txBody>
          </p:sp>
        </mc:Fallback>
      </mc:AlternateContent>
      <p:graphicFrame>
        <p:nvGraphicFramePr>
          <p:cNvPr id="9" name="מציין מיקום תוכן 6"/>
          <p:cNvGraphicFramePr>
            <a:graphicFrameLocks noGrp="1"/>
          </p:cNvGraphicFramePr>
          <p:nvPr>
            <p:ph idx="1"/>
          </p:nvPr>
        </p:nvGraphicFramePr>
        <p:xfrm>
          <a:off x="1991545" y="3169286"/>
          <a:ext cx="3962919" cy="3505200"/>
        </p:xfrm>
        <a:graphic>
          <a:graphicData uri="http://schemas.openxmlformats.org/drawingml/2006/table">
            <a:tbl>
              <a:tblPr rtl="1" firstRow="1" bandRow="1">
                <a:tableStyleId>{2D5ABB26-0587-4C30-8999-92F81FD0307C}</a:tableStyleId>
              </a:tblPr>
              <a:tblGrid>
                <a:gridCol w="679696">
                  <a:extLst>
                    <a:ext uri="{9D8B030D-6E8A-4147-A177-3AD203B41FA5}">
                      <a16:colId xmlns:a16="http://schemas.microsoft.com/office/drawing/2014/main" val="20000"/>
                    </a:ext>
                  </a:extLst>
                </a:gridCol>
                <a:gridCol w="909357">
                  <a:extLst>
                    <a:ext uri="{9D8B030D-6E8A-4147-A177-3AD203B41FA5}">
                      <a16:colId xmlns:a16="http://schemas.microsoft.com/office/drawing/2014/main" val="20001"/>
                    </a:ext>
                  </a:extLst>
                </a:gridCol>
                <a:gridCol w="1458176">
                  <a:extLst>
                    <a:ext uri="{9D8B030D-6E8A-4147-A177-3AD203B41FA5}">
                      <a16:colId xmlns:a16="http://schemas.microsoft.com/office/drawing/2014/main" val="20002"/>
                    </a:ext>
                  </a:extLst>
                </a:gridCol>
                <a:gridCol w="915690">
                  <a:extLst>
                    <a:ext uri="{9D8B030D-6E8A-4147-A177-3AD203B41FA5}">
                      <a16:colId xmlns:a16="http://schemas.microsoft.com/office/drawing/2014/main" val="20003"/>
                    </a:ext>
                  </a:extLst>
                </a:gridCol>
              </a:tblGrid>
              <a:tr h="121106">
                <a:tc rowSpan="2">
                  <a:txBody>
                    <a:bodyPr/>
                    <a:lstStyle/>
                    <a:p>
                      <a:pPr algn="ctr" rtl="1"/>
                      <a:r>
                        <a:rPr lang="he-IL" sz="1400" b="0" dirty="0"/>
                        <a:t>כמות מיוצרת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algn="ctr" rtl="1"/>
                      <a:r>
                        <a:rPr lang="he-IL" b="1" dirty="0"/>
                        <a:t>עלות (אלפי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0"/>
                  </a:ext>
                </a:extLst>
              </a:tr>
              <a:tr h="542026">
                <a:tc vMerge="1">
                  <a:txBody>
                    <a:bodyPr/>
                    <a:lstStyle/>
                    <a:p>
                      <a:pPr rtl="1"/>
                      <a:endParaRPr lang="he-IL" dirty="0"/>
                    </a:p>
                  </a:txBody>
                  <a:tcPr/>
                </a:tc>
                <a:tc>
                  <a:txBody>
                    <a:bodyPr/>
                    <a:lstStyle/>
                    <a:p>
                      <a:pPr algn="ctr" rtl="1"/>
                      <a:r>
                        <a:rPr lang="he-IL" sz="1600" b="0" dirty="0"/>
                        <a:t>משתנה </a:t>
                      </a:r>
                      <a:r>
                        <a:rPr lang="en-US" sz="1600" b="0" dirty="0"/>
                        <a:t>VC)</a:t>
                      </a:r>
                      <a:r>
                        <a:rPr lang="he-IL" sz="1600"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he-IL" sz="1600" b="0" dirty="0"/>
                        <a:t>משתנה ממוצעת</a:t>
                      </a:r>
                      <a:r>
                        <a:rPr lang="en-US" sz="1600" b="0" dirty="0"/>
                        <a:t>AVC)</a:t>
                      </a:r>
                      <a:r>
                        <a:rPr lang="en-US" sz="1600" b="0" baseline="0" dirty="0"/>
                        <a:t> </a:t>
                      </a:r>
                      <a:r>
                        <a:rPr lang="he-IL" sz="1600"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sz="1600" b="0" dirty="0"/>
                        <a:t>שולית</a:t>
                      </a:r>
                      <a:r>
                        <a:rPr lang="en-US" sz="1600" b="0" dirty="0"/>
                        <a:t> (MC) </a:t>
                      </a:r>
                      <a:endParaRPr lang="he-IL" sz="16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359285">
                <a:tc>
                  <a:txBody>
                    <a:bodyPr/>
                    <a:lstStyle/>
                    <a:p>
                      <a:pPr algn="ctr" rtl="1"/>
                      <a:r>
                        <a:rPr lang="he-IL"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59285">
                <a:tc>
                  <a:txBody>
                    <a:bodyPr/>
                    <a:lstStyle/>
                    <a:p>
                      <a:pPr algn="ctr" rtl="1"/>
                      <a:r>
                        <a:rPr lang="he-IL"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59285">
                <a:tc>
                  <a:txBody>
                    <a:bodyPr/>
                    <a:lstStyle/>
                    <a:p>
                      <a:pPr algn="ctr" rtl="1"/>
                      <a:r>
                        <a:rPr lang="he-IL"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180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59285">
                <a:tc>
                  <a:txBody>
                    <a:bodyPr/>
                    <a:lstStyle/>
                    <a:p>
                      <a:pPr algn="ctr" rtl="1"/>
                      <a:r>
                        <a:rPr lang="he-IL"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59285">
                <a:tc>
                  <a:txBody>
                    <a:bodyPr/>
                    <a:lstStyle/>
                    <a:p>
                      <a:pPr algn="ctr" rtl="1"/>
                      <a:r>
                        <a:rPr lang="he-IL"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59285">
                <a:tc>
                  <a:txBody>
                    <a:bodyPr/>
                    <a:lstStyle/>
                    <a:p>
                      <a:pPr algn="ctr" rtl="1"/>
                      <a:r>
                        <a:rPr lang="he-IL"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59285">
                <a:tc>
                  <a:txBody>
                    <a:bodyPr/>
                    <a:lstStyle/>
                    <a:p>
                      <a:pPr algn="ctr" rtl="1"/>
                      <a:r>
                        <a:rPr lang="he-IL" b="1"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r>
                        <a:rPr lang="he-IL"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dirty="0">
                          <a:solidFill>
                            <a:srgbClr val="C0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r>
                        <a:rPr lang="he-IL" b="1" dirty="0">
                          <a:solidFill>
                            <a:srgbClr val="002060"/>
                          </a:solidFill>
                        </a:rPr>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Date Placeholder 5"/>
          <p:cNvSpPr>
            <a:spLocks noGrp="1"/>
          </p:cNvSpPr>
          <p:nvPr>
            <p:ph type="dt" sz="half" idx="10"/>
          </p:nvPr>
        </p:nvSpPr>
        <p:spPr/>
        <p:txBody>
          <a:bodyPr/>
          <a:lstStyle/>
          <a:p>
            <a:fld id="{1CD4023A-1D03-4F55-A512-7EE75B6F5DF7}" type="datetime8">
              <a:rPr lang="he-IL" smtClean="0"/>
              <a:t>03 ינואר 26</a:t>
            </a:fld>
            <a:endParaRPr lang="he-IL"/>
          </a:p>
        </p:txBody>
      </p:sp>
      <p:sp>
        <p:nvSpPr>
          <p:cNvPr id="10" name="Slide Number Placeholder 9">
            <a:extLst>
              <a:ext uri="{FF2B5EF4-FFF2-40B4-BE49-F238E27FC236}">
                <a16:creationId xmlns:a16="http://schemas.microsoft.com/office/drawing/2014/main" id="{04509CE7-8607-F316-9AC4-3A00D7D6F28C}"/>
              </a:ext>
            </a:extLst>
          </p:cNvPr>
          <p:cNvSpPr>
            <a:spLocks noGrp="1"/>
          </p:cNvSpPr>
          <p:nvPr>
            <p:ph type="sldNum" sz="quarter" idx="12"/>
          </p:nvPr>
        </p:nvSpPr>
        <p:spPr/>
        <p:txBody>
          <a:bodyPr/>
          <a:lstStyle/>
          <a:p>
            <a:fld id="{D69A981F-4466-4789-9E41-1885E502A96E}" type="slidenum">
              <a:rPr lang="he-IL" smtClean="0"/>
              <a:t>27</a:t>
            </a:fld>
            <a:endParaRPr lang="he-I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62400" y="-17676"/>
            <a:ext cx="8229600" cy="1143000"/>
          </a:xfrm>
        </p:spPr>
        <p:txBody>
          <a:bodyPr>
            <a:normAutofit/>
          </a:bodyPr>
          <a:lstStyle/>
          <a:p>
            <a:pPr algn="r"/>
            <a:r>
              <a:rPr lang="he-IL" b="1" dirty="0">
                <a:solidFill>
                  <a:schemeClr val="tx2">
                    <a:lumMod val="75000"/>
                  </a:schemeClr>
                </a:solidFill>
              </a:rPr>
              <a:t>שאלה 1</a:t>
            </a:r>
          </a:p>
        </p:txBody>
      </p:sp>
      <p:sp>
        <p:nvSpPr>
          <p:cNvPr id="8" name="TextBox 7"/>
          <p:cNvSpPr txBox="1"/>
          <p:nvPr/>
        </p:nvSpPr>
        <p:spPr>
          <a:xfrm>
            <a:off x="0" y="183476"/>
            <a:ext cx="8890052" cy="873252"/>
          </a:xfrm>
          <a:prstGeom prst="rect">
            <a:avLst/>
          </a:prstGeom>
          <a:noFill/>
        </p:spPr>
        <p:txBody>
          <a:bodyPr wrap="square" rtlCol="1">
            <a:spAutoFit/>
          </a:bodyPr>
          <a:lstStyle/>
          <a:p>
            <a:pPr marL="342900" marR="228600" lvl="0" indent="-342900" algn="just" rtl="1">
              <a:lnSpc>
                <a:spcPct val="150000"/>
              </a:lnSpc>
              <a:spcAft>
                <a:spcPts val="0"/>
              </a:spcAft>
              <a:buSzPts val="100"/>
              <a:buFont typeface="+mj-cs"/>
              <a:buAutoNum type="hebrew2Minus"/>
            </a:pPr>
            <a:r>
              <a:rPr lang="he-IL" sz="1800" dirty="0">
                <a:effectLst/>
                <a:latin typeface="Times New Roman" panose="02020603050405020304" pitchFamily="18" charset="0"/>
                <a:ea typeface="Times New Roman" panose="02020603050405020304" pitchFamily="18" charset="0"/>
                <a:cs typeface="Arial" panose="020B0604020202020204" pitchFamily="34" charset="0"/>
              </a:rPr>
              <a:t>ו. מהו המחיר הנמוך ביותר, שבו הפירמה תמשיך לייצר גם בזמן הארוך בהנחה שעלות דמי השכירות הינה 70 אלף ש''ח?</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endParaRPr lang="en-IL" sz="1800" dirty="0">
              <a:effectLst/>
              <a:latin typeface="Times New Roman" panose="02020603050405020304" pitchFamily="18" charset="0"/>
              <a:ea typeface="Times New Roman" panose="02020603050405020304" pitchFamily="18" charset="0"/>
              <a:cs typeface="Miriam" panose="020B0502050101010101" pitchFamily="34" charset="-79"/>
            </a:endParaRPr>
          </a:p>
        </p:txBody>
      </p:sp>
      <p:sp>
        <p:nvSpPr>
          <p:cNvPr id="7" name="TextBox 6"/>
          <p:cNvSpPr txBox="1"/>
          <p:nvPr/>
        </p:nvSpPr>
        <p:spPr>
          <a:xfrm>
            <a:off x="4216729" y="1176266"/>
            <a:ext cx="7690979" cy="545534"/>
          </a:xfrm>
          <a:prstGeom prst="rect">
            <a:avLst/>
          </a:prstGeom>
        </p:spPr>
        <p:style>
          <a:lnRef idx="1">
            <a:schemeClr val="accent2"/>
          </a:lnRef>
          <a:fillRef idx="2">
            <a:schemeClr val="accent2"/>
          </a:fillRef>
          <a:effectRef idx="1">
            <a:schemeClr val="accent2"/>
          </a:effectRef>
          <a:fontRef idx="minor">
            <a:schemeClr val="dk1"/>
          </a:fontRef>
        </p:style>
        <p:txBody>
          <a:bodyPr wrap="square" rtlCol="1">
            <a:spAutoFit/>
          </a:bodyPr>
          <a:lstStyle/>
          <a:p>
            <a:pPr>
              <a:lnSpc>
                <a:spcPct val="150000"/>
              </a:lnSpc>
            </a:pPr>
            <a:r>
              <a:rPr lang="he-IL" sz="2200" dirty="0"/>
              <a:t>המחיר המינימאלי שבו הפירמה תייצר בזמן הארוך הוא</a:t>
            </a:r>
            <a:r>
              <a:rPr lang="en-US" sz="2200" dirty="0"/>
              <a:t> </a:t>
            </a:r>
            <a:r>
              <a:rPr lang="he-IL" sz="2200" dirty="0"/>
              <a:t> </a:t>
            </a:r>
            <a:r>
              <a:rPr lang="en-US" sz="2200" dirty="0"/>
              <a:t> </a:t>
            </a:r>
            <a:r>
              <a:rPr lang="en-US" sz="2200" b="1" dirty="0">
                <a:solidFill>
                  <a:srgbClr val="7030A0"/>
                </a:solidFill>
              </a:rPr>
              <a:t>Min ATC</a:t>
            </a:r>
            <a:r>
              <a:rPr lang="he-IL" sz="2200" dirty="0"/>
              <a:t>.</a:t>
            </a:r>
          </a:p>
        </p:txBody>
      </p:sp>
      <p:sp>
        <p:nvSpPr>
          <p:cNvPr id="3" name="מלבן 2"/>
          <p:cNvSpPr/>
          <p:nvPr/>
        </p:nvSpPr>
        <p:spPr>
          <a:xfrm>
            <a:off x="7488262" y="3573017"/>
            <a:ext cx="4261152" cy="1420325"/>
          </a:xfrm>
          <a:prstGeom prst="rect">
            <a:avLst/>
          </a:prstGeom>
        </p:spPr>
        <p:txBody>
          <a:bodyPr wrap="square">
            <a:spAutoFit/>
          </a:bodyPr>
          <a:lstStyle/>
          <a:p>
            <a:pPr lvl="0">
              <a:lnSpc>
                <a:spcPct val="150000"/>
              </a:lnSpc>
            </a:pPr>
            <a:r>
              <a:rPr lang="he-IL" sz="2000" dirty="0">
                <a:solidFill>
                  <a:prstClr val="black"/>
                </a:solidFill>
              </a:rPr>
              <a:t>מתחת למחיר זה הפדיון נמוך מסך העלויות והיצרן מפסיד בחישוב כולל בטווח הארוך. לכן היצרן יצא מהשוק.</a:t>
            </a:r>
          </a:p>
        </p:txBody>
      </p:sp>
      <mc:AlternateContent xmlns:mc="http://schemas.openxmlformats.org/markup-compatibility/2006" xmlns:a14="http://schemas.microsoft.com/office/drawing/2010/main">
        <mc:Choice Requires="a14">
          <p:sp>
            <p:nvSpPr>
              <p:cNvPr id="4" name="מלבן 3"/>
              <p:cNvSpPr/>
              <p:nvPr/>
            </p:nvSpPr>
            <p:spPr>
              <a:xfrm>
                <a:off x="2063552" y="1916832"/>
                <a:ext cx="8391136" cy="503471"/>
              </a:xfrm>
              <a:prstGeom prst="rect">
                <a:avLst/>
              </a:prstGeom>
            </p:spPr>
            <p:txBody>
              <a:bodyPr wrap="square">
                <a:spAutoFit/>
              </a:bodyPr>
              <a:lstStyle/>
              <a:p>
                <a:r>
                  <a:rPr lang="he-IL" dirty="0"/>
                  <a:t>נוסיף לטבלה עמודת </a:t>
                </a:r>
                <a:r>
                  <a:rPr lang="en-US" b="1" dirty="0"/>
                  <a:t>TC</a:t>
                </a:r>
                <a:r>
                  <a:rPr lang="he-IL" b="1" dirty="0"/>
                  <a:t> </a:t>
                </a:r>
                <a:r>
                  <a:rPr lang="he-IL" dirty="0"/>
                  <a:t>= </a:t>
                </a:r>
                <a:r>
                  <a:rPr lang="en-US" dirty="0"/>
                  <a:t>VC +70</a:t>
                </a:r>
                <a:r>
                  <a:rPr lang="he-IL" dirty="0"/>
                  <a:t>   ועמודת </a:t>
                </a:r>
                <a:r>
                  <a:rPr lang="en-US" dirty="0"/>
                  <a:t>  </a:t>
                </a:r>
                <a:r>
                  <a:rPr lang="he-IL" dirty="0"/>
                  <a:t> </a:t>
                </a:r>
                <a14:m>
                  <m:oMath xmlns:m="http://schemas.openxmlformats.org/officeDocument/2006/math">
                    <m:r>
                      <a:rPr lang="he-IL">
                        <a:latin typeface="Cambria Math"/>
                      </a:rPr>
                      <m:t>  </m:t>
                    </m:r>
                    <m:r>
                      <m:rPr>
                        <m:sty m:val="p"/>
                      </m:rPr>
                      <a:rPr lang="he-IL">
                        <a:latin typeface="Cambria Math"/>
                      </a:rPr>
                      <m:t>ATC</m:t>
                    </m:r>
                    <m:r>
                      <a:rPr lang="he-IL">
                        <a:latin typeface="Cambria Math"/>
                      </a:rPr>
                      <m:t>=</m:t>
                    </m:r>
                    <m:f>
                      <m:fPr>
                        <m:ctrlPr>
                          <a:rPr lang="he-IL" i="1">
                            <a:latin typeface="Cambria Math" panose="02040503050406030204" pitchFamily="18" charset="0"/>
                          </a:rPr>
                        </m:ctrlPr>
                      </m:fPr>
                      <m:num>
                        <m:d>
                          <m:dPr>
                            <m:begChr m:val=""/>
                            <m:ctrlPr>
                              <a:rPr lang="he-IL" i="1">
                                <a:latin typeface="Cambria Math" panose="02040503050406030204" pitchFamily="18" charset="0"/>
                              </a:rPr>
                            </m:ctrlPr>
                          </m:dPr>
                          <m:e>
                            <m:r>
                              <m:rPr>
                                <m:sty m:val="p"/>
                              </m:rPr>
                              <a:rPr lang="he-IL">
                                <a:latin typeface="Cambria Math"/>
                              </a:rPr>
                              <m:t>TC</m:t>
                            </m:r>
                            <m:r>
                              <a:rPr lang="he-IL">
                                <a:latin typeface="Cambria Math"/>
                              </a:rPr>
                              <m:t>(</m:t>
                            </m:r>
                            <m:r>
                              <m:rPr>
                                <m:sty m:val="p"/>
                              </m:rPr>
                              <a:rPr lang="he-IL">
                                <a:latin typeface="Cambria Math"/>
                              </a:rPr>
                              <m:t>X</m:t>
                            </m:r>
                          </m:e>
                        </m:d>
                      </m:num>
                      <m:den>
                        <m:r>
                          <m:rPr>
                            <m:sty m:val="p"/>
                          </m:rPr>
                          <a:rPr lang="he-IL">
                            <a:latin typeface="Cambria Math"/>
                          </a:rPr>
                          <m:t>X</m:t>
                        </m:r>
                      </m:den>
                    </m:f>
                  </m:oMath>
                </a14:m>
                <a:endParaRPr lang="he-IL" dirty="0"/>
              </a:p>
            </p:txBody>
          </p:sp>
        </mc:Choice>
        <mc:Fallback xmlns="">
          <p:sp>
            <p:nvSpPr>
              <p:cNvPr id="4" name="מלבן 3"/>
              <p:cNvSpPr>
                <a:spLocks noRot="1" noChangeAspect="1" noMove="1" noResize="1" noEditPoints="1" noAdjustHandles="1" noChangeArrowheads="1" noChangeShapeType="1" noTextEdit="1"/>
              </p:cNvSpPr>
              <p:nvPr/>
            </p:nvSpPr>
            <p:spPr>
              <a:xfrm>
                <a:off x="2063552" y="1916832"/>
                <a:ext cx="8391136" cy="503471"/>
              </a:xfrm>
              <a:prstGeom prst="rect">
                <a:avLst/>
              </a:prstGeom>
              <a:blipFill>
                <a:blip r:embed="rId2"/>
                <a:stretch>
                  <a:fillRect t="-63855" r="-581" b="-56627"/>
                </a:stretch>
              </a:blipFill>
            </p:spPr>
            <p:txBody>
              <a:bodyPr/>
              <a:lstStyle/>
              <a:p>
                <a:r>
                  <a:rPr lang="en-IL">
                    <a:noFill/>
                  </a:rPr>
                  <a:t> </a:t>
                </a:r>
              </a:p>
            </p:txBody>
          </p:sp>
        </mc:Fallback>
      </mc:AlternateContent>
      <p:sp>
        <p:nvSpPr>
          <p:cNvPr id="6" name="מלבן 5"/>
          <p:cNvSpPr/>
          <p:nvPr/>
        </p:nvSpPr>
        <p:spPr>
          <a:xfrm>
            <a:off x="7488262" y="2924945"/>
            <a:ext cx="2862034" cy="461665"/>
          </a:xfrm>
          <a:prstGeom prst="rect">
            <a:avLst/>
          </a:prstGeom>
        </p:spPr>
        <p:txBody>
          <a:bodyPr wrap="square">
            <a:spAutoFit/>
          </a:bodyPr>
          <a:lstStyle/>
          <a:p>
            <a:r>
              <a:rPr lang="en-US" sz="2400" b="1" dirty="0">
                <a:solidFill>
                  <a:srgbClr val="FF00FF"/>
                </a:solidFill>
              </a:rPr>
              <a:t>Min ATC </a:t>
            </a:r>
            <a:r>
              <a:rPr lang="en-US" sz="2400" dirty="0"/>
              <a:t>(x=4)</a:t>
            </a:r>
            <a:r>
              <a:rPr lang="en-US" sz="2400" b="1" dirty="0">
                <a:solidFill>
                  <a:srgbClr val="FF00FF"/>
                </a:solidFill>
              </a:rPr>
              <a:t> = 82.5</a:t>
            </a:r>
            <a:endParaRPr lang="he-IL" sz="2400" dirty="0"/>
          </a:p>
        </p:txBody>
      </p:sp>
      <p:graphicFrame>
        <p:nvGraphicFramePr>
          <p:cNvPr id="9" name="טבלה 8"/>
          <p:cNvGraphicFramePr>
            <a:graphicFrameLocks noGrp="1"/>
          </p:cNvGraphicFramePr>
          <p:nvPr>
            <p:extLst>
              <p:ext uri="{D42A27DB-BD31-4B8C-83A1-F6EECF244321}">
                <p14:modId xmlns:p14="http://schemas.microsoft.com/office/powerpoint/2010/main" val="584194571"/>
              </p:ext>
            </p:extLst>
          </p:nvPr>
        </p:nvGraphicFramePr>
        <p:xfrm>
          <a:off x="1753644" y="2795736"/>
          <a:ext cx="5422476" cy="3882575"/>
        </p:xfrm>
        <a:graphic>
          <a:graphicData uri="http://schemas.openxmlformats.org/drawingml/2006/table">
            <a:tbl>
              <a:tblPr rtl="1">
                <a:tableStyleId>{5C22544A-7EE6-4342-B048-85BDC9FD1C3A}</a:tableStyleId>
              </a:tblPr>
              <a:tblGrid>
                <a:gridCol w="610648">
                  <a:extLst>
                    <a:ext uri="{9D8B030D-6E8A-4147-A177-3AD203B41FA5}">
                      <a16:colId xmlns:a16="http://schemas.microsoft.com/office/drawing/2014/main" val="20000"/>
                    </a:ext>
                  </a:extLst>
                </a:gridCol>
                <a:gridCol w="1004678">
                  <a:extLst>
                    <a:ext uri="{9D8B030D-6E8A-4147-A177-3AD203B41FA5}">
                      <a16:colId xmlns:a16="http://schemas.microsoft.com/office/drawing/2014/main" val="20001"/>
                    </a:ext>
                  </a:extLst>
                </a:gridCol>
                <a:gridCol w="778882">
                  <a:extLst>
                    <a:ext uri="{9D8B030D-6E8A-4147-A177-3AD203B41FA5}">
                      <a16:colId xmlns:a16="http://schemas.microsoft.com/office/drawing/2014/main" val="20002"/>
                    </a:ext>
                  </a:extLst>
                </a:gridCol>
                <a:gridCol w="710466">
                  <a:extLst>
                    <a:ext uri="{9D8B030D-6E8A-4147-A177-3AD203B41FA5}">
                      <a16:colId xmlns:a16="http://schemas.microsoft.com/office/drawing/2014/main" val="20003"/>
                    </a:ext>
                  </a:extLst>
                </a:gridCol>
                <a:gridCol w="1162012">
                  <a:extLst>
                    <a:ext uri="{9D8B030D-6E8A-4147-A177-3AD203B41FA5}">
                      <a16:colId xmlns:a16="http://schemas.microsoft.com/office/drawing/2014/main" val="20004"/>
                    </a:ext>
                  </a:extLst>
                </a:gridCol>
                <a:gridCol w="1155790">
                  <a:extLst>
                    <a:ext uri="{9D8B030D-6E8A-4147-A177-3AD203B41FA5}">
                      <a16:colId xmlns:a16="http://schemas.microsoft.com/office/drawing/2014/main" val="20005"/>
                    </a:ext>
                  </a:extLst>
                </a:gridCol>
              </a:tblGrid>
              <a:tr h="375177">
                <a:tc rowSpan="2">
                  <a:txBody>
                    <a:bodyPr/>
                    <a:lstStyle/>
                    <a:p>
                      <a:pPr algn="ctr" rtl="1">
                        <a:spcAft>
                          <a:spcPts val="0"/>
                        </a:spcAft>
                      </a:pPr>
                      <a:r>
                        <a:rPr lang="he-IL" sz="1400" dirty="0">
                          <a:effectLst/>
                        </a:rPr>
                        <a:t>כמות</a:t>
                      </a:r>
                      <a:endParaRPr lang="en-US" sz="1400" dirty="0">
                        <a:effectLst/>
                      </a:endParaRPr>
                    </a:p>
                  </a:txBody>
                  <a:tcPr marL="68580" marR="68580" marT="0" marB="0" anchor="ctr"/>
                </a:tc>
                <a:tc gridSpan="5">
                  <a:txBody>
                    <a:bodyPr/>
                    <a:lstStyle/>
                    <a:p>
                      <a:pPr algn="ctr" rtl="1">
                        <a:spcAft>
                          <a:spcPts val="0"/>
                        </a:spcAft>
                      </a:pPr>
                      <a:r>
                        <a:rPr lang="he-IL" sz="1200" dirty="0">
                          <a:effectLst/>
                        </a:rPr>
                        <a:t>עלות (אלפי ש"ח)</a:t>
                      </a:r>
                      <a:endParaRPr lang="en-US" sz="1000" dirty="0">
                        <a:effectLst/>
                        <a:latin typeface="Times New Roman"/>
                        <a:ea typeface="Times New Roman"/>
                        <a:cs typeface="Miriam"/>
                      </a:endParaRPr>
                    </a:p>
                  </a:txBody>
                  <a:tcPr marL="68580" marR="68580" marT="0" marB="0" anchor="ct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extLst>
                  <a:ext uri="{0D108BD9-81ED-4DB2-BD59-A6C34878D82A}">
                    <a16:rowId xmlns:a16="http://schemas.microsoft.com/office/drawing/2014/main" val="10000"/>
                  </a:ext>
                </a:extLst>
              </a:tr>
              <a:tr h="495648">
                <a:tc vMerge="1">
                  <a:txBody>
                    <a:bodyPr/>
                    <a:lstStyle/>
                    <a:p>
                      <a:pPr rtl="1"/>
                      <a:endParaRPr lang="he-IL"/>
                    </a:p>
                  </a:txBody>
                  <a:tcPr/>
                </a:tc>
                <a:tc>
                  <a:txBody>
                    <a:bodyPr/>
                    <a:lstStyle/>
                    <a:p>
                      <a:pPr algn="ctr" rtl="1">
                        <a:spcAft>
                          <a:spcPts val="0"/>
                        </a:spcAft>
                      </a:pPr>
                      <a:r>
                        <a:rPr lang="he-IL" sz="1200" dirty="0">
                          <a:effectLst/>
                        </a:rPr>
                        <a:t>משתנה </a:t>
                      </a:r>
                      <a:r>
                        <a:rPr lang="en-US" sz="1200" dirty="0">
                          <a:effectLst/>
                        </a:rPr>
                        <a:t>VC</a:t>
                      </a:r>
                      <a:endParaRPr lang="en-US" sz="1000" dirty="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200" dirty="0">
                          <a:effectLst/>
                        </a:rPr>
                        <a:t>משתנה ממוצעת</a:t>
                      </a:r>
                      <a:endParaRPr lang="en-US" sz="1000" dirty="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200" dirty="0">
                          <a:effectLst/>
                        </a:rPr>
                        <a:t>שולית </a:t>
                      </a:r>
                      <a:r>
                        <a:rPr lang="en-US" sz="1200" dirty="0">
                          <a:effectLst/>
                        </a:rPr>
                        <a:t>MC</a:t>
                      </a:r>
                      <a:endParaRPr lang="en-US" sz="1000" dirty="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600" dirty="0">
                          <a:effectLst/>
                        </a:rPr>
                        <a:t>כוללת </a:t>
                      </a:r>
                      <a:r>
                        <a:rPr lang="en-US" sz="1600" dirty="0">
                          <a:effectLst/>
                        </a:rPr>
                        <a:t>TC</a:t>
                      </a:r>
                      <a:endParaRPr lang="en-US" sz="1600" dirty="0">
                        <a:effectLst/>
                        <a:latin typeface="Times New Roman"/>
                        <a:ea typeface="Times New Roman"/>
                        <a:cs typeface="Miriam"/>
                      </a:endParaRPr>
                    </a:p>
                  </a:txBody>
                  <a:tcPr marL="68580" marR="68580" marT="0" marB="0">
                    <a:solidFill>
                      <a:schemeClr val="bg2">
                        <a:lumMod val="90000"/>
                      </a:schemeClr>
                    </a:solidFill>
                  </a:tcPr>
                </a:tc>
                <a:tc>
                  <a:txBody>
                    <a:bodyPr/>
                    <a:lstStyle/>
                    <a:p>
                      <a:pPr algn="ctr" rtl="1">
                        <a:spcAft>
                          <a:spcPts val="0"/>
                        </a:spcAft>
                      </a:pPr>
                      <a:r>
                        <a:rPr lang="en-US" sz="1600" dirty="0">
                          <a:effectLst/>
                        </a:rPr>
                        <a:t>ATC</a:t>
                      </a:r>
                      <a:endParaRPr lang="en-US" sz="1600" dirty="0">
                        <a:effectLst/>
                        <a:latin typeface="Times New Roman"/>
                        <a:ea typeface="Times New Roman"/>
                        <a:cs typeface="Miriam"/>
                      </a:endParaRPr>
                    </a:p>
                  </a:txBody>
                  <a:tcPr marL="68580" marR="68580" marT="0" marB="0">
                    <a:solidFill>
                      <a:schemeClr val="bg2">
                        <a:lumMod val="90000"/>
                      </a:schemeClr>
                    </a:solidFill>
                  </a:tcPr>
                </a:tc>
                <a:extLst>
                  <a:ext uri="{0D108BD9-81ED-4DB2-BD59-A6C34878D82A}">
                    <a16:rowId xmlns:a16="http://schemas.microsoft.com/office/drawing/2014/main" val="10001"/>
                  </a:ext>
                </a:extLst>
              </a:tr>
              <a:tr h="430250">
                <a:tc>
                  <a:txBody>
                    <a:bodyPr/>
                    <a:lstStyle/>
                    <a:p>
                      <a:pPr algn="ctr" rtl="1">
                        <a:spcAft>
                          <a:spcPts val="0"/>
                        </a:spcAft>
                      </a:pPr>
                      <a:r>
                        <a:rPr lang="he-IL" sz="1400" dirty="0">
                          <a:effectLst/>
                        </a:rPr>
                        <a:t>1</a:t>
                      </a:r>
                      <a:endParaRPr lang="en-US" sz="1400" dirty="0">
                        <a:effectLst/>
                        <a:latin typeface="Times New Roman"/>
                        <a:ea typeface="Times New Roman"/>
                        <a:cs typeface="Miriam"/>
                      </a:endParaRPr>
                    </a:p>
                  </a:txBody>
                  <a:tcPr marL="68580" marR="68580" marT="0" marB="0" anchor="ctr"/>
                </a:tc>
                <a:tc>
                  <a:txBody>
                    <a:bodyPr/>
                    <a:lstStyle/>
                    <a:p>
                      <a:pPr algn="ctr" rtl="1">
                        <a:spcAft>
                          <a:spcPts val="0"/>
                        </a:spcAft>
                      </a:pPr>
                      <a:r>
                        <a:rPr lang="he-IL" sz="1400" b="1" dirty="0">
                          <a:effectLst/>
                        </a:rPr>
                        <a:t>50</a:t>
                      </a:r>
                      <a:endParaRPr lang="en-US" sz="1400" b="1" dirty="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200" b="1" dirty="0">
                          <a:solidFill>
                            <a:schemeClr val="accent1"/>
                          </a:solidFill>
                          <a:effectLst/>
                        </a:rPr>
                        <a:t>50</a:t>
                      </a:r>
                      <a:endParaRPr lang="en-US" sz="1000" b="1" dirty="0">
                        <a:solidFill>
                          <a:schemeClr val="accent1"/>
                        </a:solidFill>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200" dirty="0">
                          <a:effectLst/>
                        </a:rPr>
                        <a:t>50</a:t>
                      </a:r>
                      <a:endParaRPr lang="en-US" sz="1000" dirty="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400" b="1" dirty="0">
                          <a:effectLst/>
                        </a:rPr>
                        <a:t>50+70=120</a:t>
                      </a:r>
                      <a:endParaRPr lang="en-US" sz="1400" b="1" dirty="0">
                        <a:effectLst/>
                        <a:latin typeface="Times New Roman"/>
                        <a:ea typeface="Times New Roman"/>
                        <a:cs typeface="Miriam"/>
                      </a:endParaRPr>
                    </a:p>
                  </a:txBody>
                  <a:tcPr marL="68580" marR="68580" marT="0" marB="0" anchor="ctr">
                    <a:solidFill>
                      <a:schemeClr val="bg2">
                        <a:lumMod val="90000"/>
                      </a:schemeClr>
                    </a:solidFill>
                  </a:tcPr>
                </a:tc>
                <a:tc>
                  <a:txBody>
                    <a:bodyPr/>
                    <a:lstStyle/>
                    <a:p>
                      <a:pPr algn="ctr" rtl="1">
                        <a:spcAft>
                          <a:spcPts val="0"/>
                        </a:spcAft>
                      </a:pPr>
                      <a:r>
                        <a:rPr lang="he-IL" sz="1400" dirty="0">
                          <a:solidFill>
                            <a:schemeClr val="accent4">
                              <a:lumMod val="75000"/>
                            </a:schemeClr>
                          </a:solidFill>
                          <a:effectLst/>
                        </a:rPr>
                        <a:t>120/1=120</a:t>
                      </a:r>
                      <a:endParaRPr lang="en-US" sz="1400" dirty="0">
                        <a:solidFill>
                          <a:schemeClr val="accent4">
                            <a:lumMod val="75000"/>
                          </a:schemeClr>
                        </a:solidFill>
                        <a:effectLst/>
                        <a:latin typeface="Times New Roman"/>
                        <a:ea typeface="Times New Roman"/>
                        <a:cs typeface="Miriam"/>
                      </a:endParaRPr>
                    </a:p>
                  </a:txBody>
                  <a:tcPr marL="68580" marR="68580" marT="0" marB="0" anchor="ctr">
                    <a:solidFill>
                      <a:schemeClr val="bg2">
                        <a:lumMod val="90000"/>
                      </a:schemeClr>
                    </a:solidFill>
                  </a:tcPr>
                </a:tc>
                <a:extLst>
                  <a:ext uri="{0D108BD9-81ED-4DB2-BD59-A6C34878D82A}">
                    <a16:rowId xmlns:a16="http://schemas.microsoft.com/office/drawing/2014/main" val="10002"/>
                  </a:ext>
                </a:extLst>
              </a:tr>
              <a:tr h="430250">
                <a:tc>
                  <a:txBody>
                    <a:bodyPr/>
                    <a:lstStyle/>
                    <a:p>
                      <a:pPr algn="ctr" rtl="1">
                        <a:spcAft>
                          <a:spcPts val="0"/>
                        </a:spcAft>
                      </a:pPr>
                      <a:r>
                        <a:rPr lang="he-IL" sz="1400">
                          <a:effectLst/>
                        </a:rPr>
                        <a:t>2</a:t>
                      </a:r>
                      <a:endParaRPr lang="en-US" sz="1400">
                        <a:effectLst/>
                        <a:latin typeface="Times New Roman"/>
                        <a:ea typeface="Times New Roman"/>
                        <a:cs typeface="Miriam"/>
                      </a:endParaRPr>
                    </a:p>
                  </a:txBody>
                  <a:tcPr marL="68580" marR="68580" marT="0" marB="0" anchor="ctr"/>
                </a:tc>
                <a:tc>
                  <a:txBody>
                    <a:bodyPr/>
                    <a:lstStyle/>
                    <a:p>
                      <a:pPr algn="ctr" rtl="1">
                        <a:spcAft>
                          <a:spcPts val="0"/>
                        </a:spcAft>
                      </a:pPr>
                      <a:r>
                        <a:rPr lang="he-IL" sz="1400" b="1" dirty="0">
                          <a:effectLst/>
                        </a:rPr>
                        <a:t>110</a:t>
                      </a:r>
                      <a:endParaRPr lang="en-US" sz="1400" b="1" dirty="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200">
                          <a:effectLst/>
                        </a:rPr>
                        <a:t>55</a:t>
                      </a:r>
                      <a:endParaRPr lang="en-US" sz="100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200">
                          <a:effectLst/>
                        </a:rPr>
                        <a:t>60</a:t>
                      </a:r>
                      <a:endParaRPr lang="en-US" sz="100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400" b="1" dirty="0">
                          <a:effectLst/>
                        </a:rPr>
                        <a:t>110+70=180</a:t>
                      </a:r>
                      <a:endParaRPr lang="en-US" sz="1400" b="1" dirty="0">
                        <a:effectLst/>
                        <a:latin typeface="Times New Roman"/>
                        <a:ea typeface="Times New Roman"/>
                        <a:cs typeface="Miriam"/>
                      </a:endParaRPr>
                    </a:p>
                  </a:txBody>
                  <a:tcPr marL="68580" marR="68580" marT="0" marB="0" anchor="ctr">
                    <a:solidFill>
                      <a:schemeClr val="bg2">
                        <a:lumMod val="90000"/>
                      </a:schemeClr>
                    </a:solidFill>
                  </a:tcPr>
                </a:tc>
                <a:tc>
                  <a:txBody>
                    <a:bodyPr/>
                    <a:lstStyle/>
                    <a:p>
                      <a:pPr algn="ctr" rtl="1">
                        <a:spcAft>
                          <a:spcPts val="0"/>
                        </a:spcAft>
                      </a:pPr>
                      <a:r>
                        <a:rPr lang="he-IL" sz="1600" dirty="0">
                          <a:solidFill>
                            <a:schemeClr val="accent4">
                              <a:lumMod val="75000"/>
                            </a:schemeClr>
                          </a:solidFill>
                          <a:effectLst/>
                        </a:rPr>
                        <a:t>180/2=90</a:t>
                      </a:r>
                      <a:endParaRPr lang="en-US" sz="1600" dirty="0">
                        <a:solidFill>
                          <a:schemeClr val="accent4">
                            <a:lumMod val="75000"/>
                          </a:schemeClr>
                        </a:solidFill>
                        <a:effectLst/>
                        <a:latin typeface="Times New Roman"/>
                        <a:ea typeface="Times New Roman"/>
                        <a:cs typeface="Miriam"/>
                      </a:endParaRPr>
                    </a:p>
                  </a:txBody>
                  <a:tcPr marL="68580" marR="68580" marT="0" marB="0" anchor="ctr">
                    <a:solidFill>
                      <a:schemeClr val="bg2">
                        <a:lumMod val="90000"/>
                      </a:schemeClr>
                    </a:solidFill>
                  </a:tcPr>
                </a:tc>
                <a:extLst>
                  <a:ext uri="{0D108BD9-81ED-4DB2-BD59-A6C34878D82A}">
                    <a16:rowId xmlns:a16="http://schemas.microsoft.com/office/drawing/2014/main" val="10003"/>
                  </a:ext>
                </a:extLst>
              </a:tr>
              <a:tr h="430250">
                <a:tc>
                  <a:txBody>
                    <a:bodyPr/>
                    <a:lstStyle/>
                    <a:p>
                      <a:pPr algn="ctr" rtl="1">
                        <a:spcAft>
                          <a:spcPts val="0"/>
                        </a:spcAft>
                      </a:pPr>
                      <a:r>
                        <a:rPr lang="he-IL" sz="1400">
                          <a:effectLst/>
                        </a:rPr>
                        <a:t>3</a:t>
                      </a:r>
                      <a:endParaRPr lang="en-US" sz="1400">
                        <a:effectLst/>
                        <a:latin typeface="Times New Roman"/>
                        <a:ea typeface="Times New Roman"/>
                        <a:cs typeface="Miriam"/>
                      </a:endParaRPr>
                    </a:p>
                  </a:txBody>
                  <a:tcPr marL="68580" marR="68580" marT="0" marB="0" anchor="ctr"/>
                </a:tc>
                <a:tc>
                  <a:txBody>
                    <a:bodyPr/>
                    <a:lstStyle/>
                    <a:p>
                      <a:pPr algn="ctr" rtl="1">
                        <a:spcAft>
                          <a:spcPts val="0"/>
                        </a:spcAft>
                      </a:pPr>
                      <a:r>
                        <a:rPr lang="he-IL" sz="1400" b="1" dirty="0">
                          <a:effectLst/>
                        </a:rPr>
                        <a:t>180</a:t>
                      </a:r>
                      <a:endParaRPr lang="en-US" sz="1400" b="1" dirty="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200">
                          <a:effectLst/>
                        </a:rPr>
                        <a:t>60</a:t>
                      </a:r>
                      <a:endParaRPr lang="en-US" sz="100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200" dirty="0">
                          <a:effectLst/>
                        </a:rPr>
                        <a:t>70</a:t>
                      </a:r>
                      <a:endParaRPr lang="en-US" sz="1000" dirty="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600" b="1" dirty="0">
                          <a:effectLst/>
                        </a:rPr>
                        <a:t>250</a:t>
                      </a:r>
                      <a:endParaRPr lang="en-US" sz="1600" b="1" dirty="0">
                        <a:effectLst/>
                        <a:latin typeface="Times New Roman"/>
                        <a:ea typeface="Times New Roman"/>
                        <a:cs typeface="Miriam"/>
                      </a:endParaRPr>
                    </a:p>
                  </a:txBody>
                  <a:tcPr marL="68580" marR="68580" marT="0" marB="0" anchor="ctr">
                    <a:solidFill>
                      <a:schemeClr val="bg2">
                        <a:lumMod val="90000"/>
                      </a:schemeClr>
                    </a:solidFill>
                  </a:tcPr>
                </a:tc>
                <a:tc>
                  <a:txBody>
                    <a:bodyPr/>
                    <a:lstStyle/>
                    <a:p>
                      <a:pPr algn="ctr" rtl="1">
                        <a:spcAft>
                          <a:spcPts val="0"/>
                        </a:spcAft>
                      </a:pPr>
                      <a:r>
                        <a:rPr lang="he-IL" sz="1600" dirty="0">
                          <a:solidFill>
                            <a:schemeClr val="accent4">
                              <a:lumMod val="75000"/>
                            </a:schemeClr>
                          </a:solidFill>
                          <a:effectLst/>
                        </a:rPr>
                        <a:t>83.33</a:t>
                      </a:r>
                      <a:endParaRPr lang="en-US" sz="1600" dirty="0">
                        <a:solidFill>
                          <a:schemeClr val="accent4">
                            <a:lumMod val="75000"/>
                          </a:schemeClr>
                        </a:solidFill>
                        <a:effectLst/>
                        <a:latin typeface="Times New Roman"/>
                        <a:ea typeface="Times New Roman"/>
                        <a:cs typeface="Miriam"/>
                      </a:endParaRPr>
                    </a:p>
                  </a:txBody>
                  <a:tcPr marL="68580" marR="68580" marT="0" marB="0" anchor="ctr">
                    <a:solidFill>
                      <a:schemeClr val="bg2">
                        <a:lumMod val="90000"/>
                      </a:schemeClr>
                    </a:solidFill>
                  </a:tcPr>
                </a:tc>
                <a:extLst>
                  <a:ext uri="{0D108BD9-81ED-4DB2-BD59-A6C34878D82A}">
                    <a16:rowId xmlns:a16="http://schemas.microsoft.com/office/drawing/2014/main" val="10004"/>
                  </a:ext>
                </a:extLst>
              </a:tr>
              <a:tr h="430250">
                <a:tc>
                  <a:txBody>
                    <a:bodyPr/>
                    <a:lstStyle/>
                    <a:p>
                      <a:pPr algn="ctr" rtl="1">
                        <a:spcAft>
                          <a:spcPts val="0"/>
                        </a:spcAft>
                      </a:pPr>
                      <a:r>
                        <a:rPr lang="he-IL" sz="1400">
                          <a:effectLst/>
                        </a:rPr>
                        <a:t>4</a:t>
                      </a:r>
                      <a:endParaRPr lang="en-US" sz="1400">
                        <a:effectLst/>
                        <a:latin typeface="Times New Roman"/>
                        <a:ea typeface="Times New Roman"/>
                        <a:cs typeface="Miriam"/>
                      </a:endParaRPr>
                    </a:p>
                  </a:txBody>
                  <a:tcPr marL="68580" marR="68580" marT="0" marB="0" anchor="ctr"/>
                </a:tc>
                <a:tc>
                  <a:txBody>
                    <a:bodyPr/>
                    <a:lstStyle/>
                    <a:p>
                      <a:pPr algn="ctr" rtl="1">
                        <a:spcAft>
                          <a:spcPts val="0"/>
                        </a:spcAft>
                      </a:pPr>
                      <a:r>
                        <a:rPr lang="he-IL" sz="1400" b="1" dirty="0">
                          <a:effectLst/>
                        </a:rPr>
                        <a:t>260</a:t>
                      </a:r>
                      <a:endParaRPr lang="en-US" sz="1400" b="1" dirty="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200">
                          <a:effectLst/>
                        </a:rPr>
                        <a:t>65</a:t>
                      </a:r>
                      <a:endParaRPr lang="en-US" sz="100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200" dirty="0">
                          <a:effectLst/>
                        </a:rPr>
                        <a:t>80</a:t>
                      </a:r>
                      <a:endParaRPr lang="en-US" sz="1000" dirty="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600" b="1" dirty="0">
                          <a:effectLst/>
                        </a:rPr>
                        <a:t>330</a:t>
                      </a:r>
                      <a:endParaRPr lang="en-US" sz="1600" b="1" dirty="0">
                        <a:effectLst/>
                        <a:latin typeface="Times New Roman"/>
                        <a:ea typeface="Times New Roman"/>
                        <a:cs typeface="Miriam"/>
                      </a:endParaRPr>
                    </a:p>
                  </a:txBody>
                  <a:tcPr marL="68580" marR="68580" marT="0" marB="0" anchor="ctr">
                    <a:solidFill>
                      <a:schemeClr val="bg2">
                        <a:lumMod val="90000"/>
                      </a:schemeClr>
                    </a:solidFill>
                  </a:tcPr>
                </a:tc>
                <a:tc>
                  <a:txBody>
                    <a:bodyPr/>
                    <a:lstStyle/>
                    <a:p>
                      <a:pPr algn="ctr" rtl="1">
                        <a:spcAft>
                          <a:spcPts val="0"/>
                        </a:spcAft>
                      </a:pPr>
                      <a:r>
                        <a:rPr lang="he-IL" sz="1600" b="1" dirty="0">
                          <a:solidFill>
                            <a:srgbClr val="FF00FF"/>
                          </a:solidFill>
                          <a:effectLst/>
                        </a:rPr>
                        <a:t>82.5</a:t>
                      </a:r>
                      <a:endParaRPr lang="en-US" sz="1600" b="1" dirty="0">
                        <a:solidFill>
                          <a:srgbClr val="FF00FF"/>
                        </a:solidFill>
                        <a:effectLst/>
                        <a:latin typeface="Times New Roman"/>
                        <a:ea typeface="Times New Roman"/>
                        <a:cs typeface="Miriam"/>
                      </a:endParaRPr>
                    </a:p>
                  </a:txBody>
                  <a:tcPr marL="68580" marR="68580" marT="0" marB="0" anchor="ctr">
                    <a:solidFill>
                      <a:schemeClr val="bg2">
                        <a:lumMod val="90000"/>
                      </a:schemeClr>
                    </a:solidFill>
                  </a:tcPr>
                </a:tc>
                <a:extLst>
                  <a:ext uri="{0D108BD9-81ED-4DB2-BD59-A6C34878D82A}">
                    <a16:rowId xmlns:a16="http://schemas.microsoft.com/office/drawing/2014/main" val="10005"/>
                  </a:ext>
                </a:extLst>
              </a:tr>
              <a:tr h="430250">
                <a:tc>
                  <a:txBody>
                    <a:bodyPr/>
                    <a:lstStyle/>
                    <a:p>
                      <a:pPr algn="ctr" rtl="1">
                        <a:spcAft>
                          <a:spcPts val="0"/>
                        </a:spcAft>
                      </a:pPr>
                      <a:r>
                        <a:rPr lang="he-IL" sz="1400">
                          <a:effectLst/>
                        </a:rPr>
                        <a:t>5</a:t>
                      </a:r>
                      <a:endParaRPr lang="en-US" sz="1400">
                        <a:effectLst/>
                        <a:latin typeface="Times New Roman"/>
                        <a:ea typeface="Times New Roman"/>
                        <a:cs typeface="Miriam"/>
                      </a:endParaRPr>
                    </a:p>
                  </a:txBody>
                  <a:tcPr marL="68580" marR="68580" marT="0" marB="0" anchor="ctr"/>
                </a:tc>
                <a:tc>
                  <a:txBody>
                    <a:bodyPr/>
                    <a:lstStyle/>
                    <a:p>
                      <a:pPr algn="ctr" rtl="1">
                        <a:spcAft>
                          <a:spcPts val="0"/>
                        </a:spcAft>
                      </a:pPr>
                      <a:r>
                        <a:rPr lang="he-IL" sz="1400" b="1" dirty="0">
                          <a:effectLst/>
                        </a:rPr>
                        <a:t>350</a:t>
                      </a:r>
                      <a:endParaRPr lang="en-US" sz="1400" b="1" dirty="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200">
                          <a:effectLst/>
                        </a:rPr>
                        <a:t>70</a:t>
                      </a:r>
                      <a:endParaRPr lang="en-US" sz="100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200" dirty="0">
                          <a:effectLst/>
                        </a:rPr>
                        <a:t>90</a:t>
                      </a:r>
                      <a:endParaRPr lang="en-US" sz="1000" dirty="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600" b="1" dirty="0">
                          <a:effectLst/>
                        </a:rPr>
                        <a:t>420</a:t>
                      </a:r>
                      <a:endParaRPr lang="en-US" sz="1600" b="1" dirty="0">
                        <a:effectLst/>
                        <a:latin typeface="Times New Roman"/>
                        <a:ea typeface="Times New Roman"/>
                        <a:cs typeface="Miriam"/>
                      </a:endParaRPr>
                    </a:p>
                  </a:txBody>
                  <a:tcPr marL="68580" marR="68580" marT="0" marB="0" anchor="ctr">
                    <a:solidFill>
                      <a:schemeClr val="bg2">
                        <a:lumMod val="90000"/>
                      </a:schemeClr>
                    </a:solidFill>
                  </a:tcPr>
                </a:tc>
                <a:tc>
                  <a:txBody>
                    <a:bodyPr/>
                    <a:lstStyle/>
                    <a:p>
                      <a:pPr algn="ctr" rtl="1">
                        <a:spcAft>
                          <a:spcPts val="0"/>
                        </a:spcAft>
                      </a:pPr>
                      <a:r>
                        <a:rPr lang="he-IL" sz="1600" dirty="0">
                          <a:solidFill>
                            <a:schemeClr val="accent4">
                              <a:lumMod val="75000"/>
                            </a:schemeClr>
                          </a:solidFill>
                          <a:effectLst/>
                        </a:rPr>
                        <a:t>84</a:t>
                      </a:r>
                      <a:endParaRPr lang="en-US" sz="1600" dirty="0">
                        <a:solidFill>
                          <a:schemeClr val="accent4">
                            <a:lumMod val="75000"/>
                          </a:schemeClr>
                        </a:solidFill>
                        <a:effectLst/>
                        <a:latin typeface="Times New Roman"/>
                        <a:ea typeface="Times New Roman"/>
                        <a:cs typeface="Miriam"/>
                      </a:endParaRPr>
                    </a:p>
                  </a:txBody>
                  <a:tcPr marL="68580" marR="68580" marT="0" marB="0" anchor="ctr">
                    <a:solidFill>
                      <a:schemeClr val="bg2">
                        <a:lumMod val="90000"/>
                      </a:schemeClr>
                    </a:solidFill>
                  </a:tcPr>
                </a:tc>
                <a:extLst>
                  <a:ext uri="{0D108BD9-81ED-4DB2-BD59-A6C34878D82A}">
                    <a16:rowId xmlns:a16="http://schemas.microsoft.com/office/drawing/2014/main" val="10006"/>
                  </a:ext>
                </a:extLst>
              </a:tr>
              <a:tr h="430250">
                <a:tc>
                  <a:txBody>
                    <a:bodyPr/>
                    <a:lstStyle/>
                    <a:p>
                      <a:pPr algn="ctr" rtl="1">
                        <a:spcAft>
                          <a:spcPts val="0"/>
                        </a:spcAft>
                      </a:pPr>
                      <a:r>
                        <a:rPr lang="he-IL" sz="1400">
                          <a:effectLst/>
                        </a:rPr>
                        <a:t>6</a:t>
                      </a:r>
                      <a:endParaRPr lang="en-US" sz="1400">
                        <a:effectLst/>
                        <a:latin typeface="Times New Roman"/>
                        <a:ea typeface="Times New Roman"/>
                        <a:cs typeface="Miriam"/>
                      </a:endParaRPr>
                    </a:p>
                  </a:txBody>
                  <a:tcPr marL="68580" marR="68580" marT="0" marB="0" anchor="ctr"/>
                </a:tc>
                <a:tc>
                  <a:txBody>
                    <a:bodyPr/>
                    <a:lstStyle/>
                    <a:p>
                      <a:pPr algn="ctr" rtl="1">
                        <a:spcAft>
                          <a:spcPts val="0"/>
                        </a:spcAft>
                      </a:pPr>
                      <a:r>
                        <a:rPr lang="he-IL" sz="1400" b="1" dirty="0">
                          <a:effectLst/>
                        </a:rPr>
                        <a:t>450</a:t>
                      </a:r>
                      <a:endParaRPr lang="en-US" sz="1400" b="1" dirty="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200">
                          <a:effectLst/>
                        </a:rPr>
                        <a:t>75</a:t>
                      </a:r>
                      <a:endParaRPr lang="en-US" sz="100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200">
                          <a:effectLst/>
                        </a:rPr>
                        <a:t>100</a:t>
                      </a:r>
                      <a:endParaRPr lang="en-US" sz="100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600" b="1" dirty="0">
                          <a:effectLst/>
                        </a:rPr>
                        <a:t>520</a:t>
                      </a:r>
                      <a:endParaRPr lang="en-US" sz="1600" b="1" dirty="0">
                        <a:effectLst/>
                        <a:latin typeface="Times New Roman"/>
                        <a:ea typeface="Times New Roman"/>
                        <a:cs typeface="Miriam"/>
                      </a:endParaRPr>
                    </a:p>
                  </a:txBody>
                  <a:tcPr marL="68580" marR="68580" marT="0" marB="0" anchor="ctr">
                    <a:solidFill>
                      <a:schemeClr val="bg2">
                        <a:lumMod val="90000"/>
                      </a:schemeClr>
                    </a:solidFill>
                  </a:tcPr>
                </a:tc>
                <a:tc>
                  <a:txBody>
                    <a:bodyPr/>
                    <a:lstStyle/>
                    <a:p>
                      <a:pPr algn="ctr" rtl="1">
                        <a:spcAft>
                          <a:spcPts val="0"/>
                        </a:spcAft>
                      </a:pPr>
                      <a:r>
                        <a:rPr lang="he-IL" sz="1600" dirty="0">
                          <a:solidFill>
                            <a:schemeClr val="accent4">
                              <a:lumMod val="75000"/>
                            </a:schemeClr>
                          </a:solidFill>
                          <a:effectLst/>
                        </a:rPr>
                        <a:t>86.66</a:t>
                      </a:r>
                      <a:endParaRPr lang="en-US" sz="1600" dirty="0">
                        <a:solidFill>
                          <a:schemeClr val="accent4">
                            <a:lumMod val="75000"/>
                          </a:schemeClr>
                        </a:solidFill>
                        <a:effectLst/>
                        <a:latin typeface="Times New Roman"/>
                        <a:ea typeface="Times New Roman"/>
                        <a:cs typeface="Miriam"/>
                      </a:endParaRPr>
                    </a:p>
                  </a:txBody>
                  <a:tcPr marL="68580" marR="68580" marT="0" marB="0" anchor="ctr">
                    <a:solidFill>
                      <a:schemeClr val="bg2">
                        <a:lumMod val="90000"/>
                      </a:schemeClr>
                    </a:solidFill>
                  </a:tcPr>
                </a:tc>
                <a:extLst>
                  <a:ext uri="{0D108BD9-81ED-4DB2-BD59-A6C34878D82A}">
                    <a16:rowId xmlns:a16="http://schemas.microsoft.com/office/drawing/2014/main" val="10007"/>
                  </a:ext>
                </a:extLst>
              </a:tr>
              <a:tr h="430250">
                <a:tc>
                  <a:txBody>
                    <a:bodyPr/>
                    <a:lstStyle/>
                    <a:p>
                      <a:pPr algn="ctr" rtl="1">
                        <a:spcAft>
                          <a:spcPts val="0"/>
                        </a:spcAft>
                      </a:pPr>
                      <a:r>
                        <a:rPr lang="he-IL" sz="1400" dirty="0">
                          <a:effectLst/>
                        </a:rPr>
                        <a:t>7</a:t>
                      </a:r>
                      <a:endParaRPr lang="en-US" sz="1400" dirty="0">
                        <a:effectLst/>
                        <a:latin typeface="Times New Roman"/>
                        <a:ea typeface="Times New Roman"/>
                        <a:cs typeface="Miriam"/>
                      </a:endParaRPr>
                    </a:p>
                  </a:txBody>
                  <a:tcPr marL="68580" marR="68580" marT="0" marB="0" anchor="ctr"/>
                </a:tc>
                <a:tc>
                  <a:txBody>
                    <a:bodyPr/>
                    <a:lstStyle/>
                    <a:p>
                      <a:pPr algn="ctr" rtl="1">
                        <a:spcAft>
                          <a:spcPts val="0"/>
                        </a:spcAft>
                      </a:pPr>
                      <a:r>
                        <a:rPr lang="he-IL" sz="1400" b="1" dirty="0">
                          <a:effectLst/>
                        </a:rPr>
                        <a:t>560</a:t>
                      </a:r>
                      <a:endParaRPr lang="en-US" sz="1400" b="1" dirty="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200" dirty="0">
                          <a:effectLst/>
                        </a:rPr>
                        <a:t>80</a:t>
                      </a:r>
                      <a:endParaRPr lang="en-US" sz="1000" dirty="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200" dirty="0">
                          <a:effectLst/>
                        </a:rPr>
                        <a:t>110</a:t>
                      </a:r>
                      <a:endParaRPr lang="en-US" sz="1000" dirty="0">
                        <a:effectLst/>
                        <a:latin typeface="Times New Roman"/>
                        <a:ea typeface="Times New Roman"/>
                        <a:cs typeface="Miriam"/>
                      </a:endParaRPr>
                    </a:p>
                  </a:txBody>
                  <a:tcPr marL="68580" marR="68580" marT="0" marB="0" anchor="ctr">
                    <a:solidFill>
                      <a:schemeClr val="tx2">
                        <a:lumMod val="20000"/>
                        <a:lumOff val="80000"/>
                      </a:schemeClr>
                    </a:solidFill>
                  </a:tcPr>
                </a:tc>
                <a:tc>
                  <a:txBody>
                    <a:bodyPr/>
                    <a:lstStyle/>
                    <a:p>
                      <a:pPr algn="ctr" rtl="1">
                        <a:spcAft>
                          <a:spcPts val="0"/>
                        </a:spcAft>
                      </a:pPr>
                      <a:r>
                        <a:rPr lang="he-IL" sz="1600" b="1" dirty="0">
                          <a:effectLst/>
                        </a:rPr>
                        <a:t>630</a:t>
                      </a:r>
                      <a:endParaRPr lang="en-US" sz="1600" b="1" dirty="0">
                        <a:effectLst/>
                        <a:latin typeface="Times New Roman"/>
                        <a:ea typeface="Times New Roman"/>
                        <a:cs typeface="Miriam"/>
                      </a:endParaRPr>
                    </a:p>
                  </a:txBody>
                  <a:tcPr marL="68580" marR="68580" marT="0" marB="0" anchor="ctr">
                    <a:solidFill>
                      <a:schemeClr val="bg2">
                        <a:lumMod val="90000"/>
                      </a:schemeClr>
                    </a:solidFill>
                  </a:tcPr>
                </a:tc>
                <a:tc>
                  <a:txBody>
                    <a:bodyPr/>
                    <a:lstStyle/>
                    <a:p>
                      <a:pPr algn="ctr" rtl="1">
                        <a:spcAft>
                          <a:spcPts val="0"/>
                        </a:spcAft>
                      </a:pPr>
                      <a:r>
                        <a:rPr lang="he-IL" sz="1600" dirty="0">
                          <a:solidFill>
                            <a:schemeClr val="accent4">
                              <a:lumMod val="75000"/>
                            </a:schemeClr>
                          </a:solidFill>
                          <a:effectLst/>
                        </a:rPr>
                        <a:t>90</a:t>
                      </a:r>
                      <a:endParaRPr lang="en-US" sz="1600" dirty="0">
                        <a:solidFill>
                          <a:schemeClr val="accent4">
                            <a:lumMod val="75000"/>
                          </a:schemeClr>
                        </a:solidFill>
                        <a:effectLst/>
                        <a:latin typeface="Times New Roman"/>
                        <a:ea typeface="Times New Roman"/>
                        <a:cs typeface="Miriam"/>
                      </a:endParaRPr>
                    </a:p>
                  </a:txBody>
                  <a:tcPr marL="68580" marR="68580" marT="0" marB="0" anchor="ctr">
                    <a:solidFill>
                      <a:schemeClr val="bg2">
                        <a:lumMod val="90000"/>
                      </a:schemeClr>
                    </a:solidFill>
                  </a:tcPr>
                </a:tc>
                <a:extLst>
                  <a:ext uri="{0D108BD9-81ED-4DB2-BD59-A6C34878D82A}">
                    <a16:rowId xmlns:a16="http://schemas.microsoft.com/office/drawing/2014/main" val="10008"/>
                  </a:ext>
                </a:extLst>
              </a:tr>
            </a:tbl>
          </a:graphicData>
        </a:graphic>
      </p:graphicFrame>
      <p:sp>
        <p:nvSpPr>
          <p:cNvPr id="10" name="Date Placeholder 9"/>
          <p:cNvSpPr>
            <a:spLocks noGrp="1"/>
          </p:cNvSpPr>
          <p:nvPr>
            <p:ph type="dt" sz="half" idx="10"/>
          </p:nvPr>
        </p:nvSpPr>
        <p:spPr/>
        <p:txBody>
          <a:bodyPr/>
          <a:lstStyle/>
          <a:p>
            <a:fld id="{9808CE6F-D81E-40B1-9239-087E87C0AC91}" type="datetime8">
              <a:rPr lang="he-IL" smtClean="0"/>
              <a:t>03 ינואר 26</a:t>
            </a:fld>
            <a:endParaRPr lang="he-IL"/>
          </a:p>
        </p:txBody>
      </p:sp>
      <p:sp>
        <p:nvSpPr>
          <p:cNvPr id="11" name="Slide Number Placeholder 10">
            <a:extLst>
              <a:ext uri="{FF2B5EF4-FFF2-40B4-BE49-F238E27FC236}">
                <a16:creationId xmlns:a16="http://schemas.microsoft.com/office/drawing/2014/main" id="{39A16D5F-DC90-BD5A-16C7-AFC6B7E46642}"/>
              </a:ext>
            </a:extLst>
          </p:cNvPr>
          <p:cNvSpPr>
            <a:spLocks noGrp="1"/>
          </p:cNvSpPr>
          <p:nvPr>
            <p:ph type="sldNum" sz="quarter" idx="12"/>
          </p:nvPr>
        </p:nvSpPr>
        <p:spPr/>
        <p:txBody>
          <a:bodyPr/>
          <a:lstStyle/>
          <a:p>
            <a:fld id="{D69A981F-4466-4789-9E41-1885E502A96E}" type="slidenum">
              <a:rPr lang="he-IL" smtClean="0"/>
              <a:t>28</a:t>
            </a:fld>
            <a:endParaRPr lang="he-I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heel(1)">
                                      <p:cBhvr>
                                        <p:cTn id="17" dur="2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circle(in)">
                                      <p:cBhvr>
                                        <p:cTn id="22" dur="2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4"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62400" y="0"/>
            <a:ext cx="8229600" cy="1143000"/>
          </a:xfrm>
        </p:spPr>
        <p:txBody>
          <a:bodyPr>
            <a:normAutofit/>
          </a:bodyPr>
          <a:lstStyle/>
          <a:p>
            <a:pPr algn="r"/>
            <a:r>
              <a:rPr lang="he-IL" b="1" dirty="0">
                <a:solidFill>
                  <a:schemeClr val="tx2">
                    <a:lumMod val="75000"/>
                  </a:schemeClr>
                </a:solidFill>
              </a:rPr>
              <a:t>שאלה - הרחבה</a:t>
            </a:r>
          </a:p>
        </p:txBody>
      </p:sp>
      <p:sp>
        <p:nvSpPr>
          <p:cNvPr id="5" name="מציין מיקום של כותרת תחתונה 4"/>
          <p:cNvSpPr>
            <a:spLocks noGrp="1"/>
          </p:cNvSpPr>
          <p:nvPr>
            <p:ph type="ftr" sz="quarter" idx="11"/>
          </p:nvPr>
        </p:nvSpPr>
        <p:spPr/>
        <p:txBody>
          <a:bodyPr/>
          <a:lstStyle/>
          <a:p>
            <a:r>
              <a:rPr lang="he-IL" dirty="0"/>
              <a:t>מבוא למיקרו כלכלה</a:t>
            </a:r>
          </a:p>
        </p:txBody>
      </p:sp>
      <p:graphicFrame>
        <p:nvGraphicFramePr>
          <p:cNvPr id="12" name="מציין מיקום תוכן 11"/>
          <p:cNvGraphicFramePr>
            <a:graphicFrameLocks noGrp="1"/>
          </p:cNvGraphicFramePr>
          <p:nvPr>
            <p:ph idx="1"/>
            <p:extLst>
              <p:ext uri="{D42A27DB-BD31-4B8C-83A1-F6EECF244321}">
                <p14:modId xmlns:p14="http://schemas.microsoft.com/office/powerpoint/2010/main" val="4017267119"/>
              </p:ext>
            </p:extLst>
          </p:nvPr>
        </p:nvGraphicFramePr>
        <p:xfrm>
          <a:off x="1228376" y="2018284"/>
          <a:ext cx="8472518" cy="4054485"/>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D24B66CF-785F-4D09-9507-D2480FEC14C1}"/>
              </a:ext>
            </a:extLst>
          </p:cNvPr>
          <p:cNvSpPr txBox="1"/>
          <p:nvPr/>
        </p:nvSpPr>
        <p:spPr>
          <a:xfrm>
            <a:off x="809594" y="419191"/>
            <a:ext cx="7934037" cy="923330"/>
          </a:xfrm>
          <a:prstGeom prst="rect">
            <a:avLst/>
          </a:prstGeom>
          <a:solidFill>
            <a:schemeClr val="accent4">
              <a:lumMod val="20000"/>
              <a:lumOff val="80000"/>
            </a:schemeClr>
          </a:solidFill>
        </p:spPr>
        <p:txBody>
          <a:bodyPr wrap="square" rtlCol="0">
            <a:spAutoFit/>
          </a:bodyPr>
          <a:lstStyle/>
          <a:p>
            <a:r>
              <a:rPr lang="he-IL" dirty="0"/>
              <a:t>עקומת ההיצע – מתארת את הכמות המיוצרת על ידי היצרן בכל מחיר ומחיר בשוק. </a:t>
            </a:r>
            <a:br>
              <a:rPr lang="en-US" dirty="0"/>
            </a:br>
            <a:r>
              <a:rPr lang="he-IL" dirty="0"/>
              <a:t>עקומת ההיצע של </a:t>
            </a:r>
            <a:r>
              <a:rPr lang="he-IL" b="1" dirty="0"/>
              <a:t>הטווח הקצר </a:t>
            </a:r>
            <a:r>
              <a:rPr lang="he-IL" dirty="0"/>
              <a:t>מתלכדת עם עקומת העלות השולית החל ממינימום </a:t>
            </a:r>
            <a:r>
              <a:rPr lang="en-US" dirty="0"/>
              <a:t>AVC</a:t>
            </a:r>
            <a:r>
              <a:rPr lang="he-IL" dirty="0"/>
              <a:t>.</a:t>
            </a:r>
          </a:p>
          <a:p>
            <a:r>
              <a:rPr lang="he-IL" dirty="0"/>
              <a:t>עקומת ההיצע של </a:t>
            </a:r>
            <a:r>
              <a:rPr lang="he-IL" b="1" dirty="0"/>
              <a:t>הטווח הארוך </a:t>
            </a:r>
            <a:r>
              <a:rPr lang="he-IL" dirty="0"/>
              <a:t>מתלכדת עם עקומת העלות השולית החל ממינימום </a:t>
            </a:r>
            <a:r>
              <a:rPr lang="en-US" dirty="0"/>
              <a:t>ATC</a:t>
            </a:r>
            <a:r>
              <a:rPr lang="he-IL" dirty="0"/>
              <a:t>. </a:t>
            </a:r>
            <a:endParaRPr lang="en-IL" dirty="0"/>
          </a:p>
        </p:txBody>
      </p:sp>
      <p:cxnSp>
        <p:nvCxnSpPr>
          <p:cNvPr id="7" name="Straight Connector 6">
            <a:extLst>
              <a:ext uri="{FF2B5EF4-FFF2-40B4-BE49-F238E27FC236}">
                <a16:creationId xmlns:a16="http://schemas.microsoft.com/office/drawing/2014/main" id="{05C33E20-5992-437D-875C-D44942198841}"/>
              </a:ext>
            </a:extLst>
          </p:cNvPr>
          <p:cNvCxnSpPr/>
          <p:nvPr/>
        </p:nvCxnSpPr>
        <p:spPr>
          <a:xfrm flipV="1">
            <a:off x="2632364" y="4045527"/>
            <a:ext cx="0" cy="1108364"/>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3133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62400" y="0"/>
            <a:ext cx="8229600" cy="1143000"/>
          </a:xfrm>
        </p:spPr>
        <p:txBody>
          <a:bodyPr>
            <a:normAutofit/>
          </a:bodyPr>
          <a:lstStyle/>
          <a:p>
            <a:pPr algn="r"/>
            <a:r>
              <a:rPr lang="he-IL" b="1" dirty="0">
                <a:solidFill>
                  <a:schemeClr val="tx2">
                    <a:lumMod val="75000"/>
                  </a:schemeClr>
                </a:solidFill>
              </a:rPr>
              <a:t>שאלה 1- הרחבה</a:t>
            </a:r>
          </a:p>
        </p:txBody>
      </p:sp>
      <p:sp>
        <p:nvSpPr>
          <p:cNvPr id="5" name="מציין מיקום של כותרת תחתונה 4"/>
          <p:cNvSpPr>
            <a:spLocks noGrp="1"/>
          </p:cNvSpPr>
          <p:nvPr>
            <p:ph type="ftr" sz="quarter" idx="11"/>
          </p:nvPr>
        </p:nvSpPr>
        <p:spPr/>
        <p:txBody>
          <a:bodyPr/>
          <a:lstStyle/>
          <a:p>
            <a:r>
              <a:rPr lang="he-IL" dirty="0"/>
              <a:t>מבוא למיקרו כלכלה</a:t>
            </a:r>
          </a:p>
        </p:txBody>
      </p:sp>
      <p:graphicFrame>
        <p:nvGraphicFramePr>
          <p:cNvPr id="12" name="מציין מיקום תוכן 11"/>
          <p:cNvGraphicFramePr>
            <a:graphicFrameLocks noGrp="1"/>
          </p:cNvGraphicFramePr>
          <p:nvPr>
            <p:ph idx="1"/>
            <p:extLst>
              <p:ext uri="{D42A27DB-BD31-4B8C-83A1-F6EECF244321}">
                <p14:modId xmlns:p14="http://schemas.microsoft.com/office/powerpoint/2010/main" val="3034728483"/>
              </p:ext>
            </p:extLst>
          </p:nvPr>
        </p:nvGraphicFramePr>
        <p:xfrm>
          <a:off x="1199801" y="1970079"/>
          <a:ext cx="8472518" cy="4054485"/>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D24B66CF-785F-4D09-9507-D2480FEC14C1}"/>
              </a:ext>
            </a:extLst>
          </p:cNvPr>
          <p:cNvSpPr txBox="1"/>
          <p:nvPr/>
        </p:nvSpPr>
        <p:spPr>
          <a:xfrm>
            <a:off x="498763" y="572962"/>
            <a:ext cx="7934037" cy="923330"/>
          </a:xfrm>
          <a:prstGeom prst="rect">
            <a:avLst/>
          </a:prstGeom>
          <a:solidFill>
            <a:schemeClr val="accent4">
              <a:lumMod val="20000"/>
              <a:lumOff val="80000"/>
            </a:schemeClr>
          </a:solidFill>
        </p:spPr>
        <p:txBody>
          <a:bodyPr wrap="square" rtlCol="0">
            <a:spAutoFit/>
          </a:bodyPr>
          <a:lstStyle/>
          <a:p>
            <a:r>
              <a:rPr lang="he-IL" dirty="0"/>
              <a:t>עקומת ההיצע – מתארת את הכמות המיוצרת על ידי היצרן בכל מחיר ומחיר בשוק. </a:t>
            </a:r>
            <a:br>
              <a:rPr lang="en-US" dirty="0"/>
            </a:br>
            <a:r>
              <a:rPr lang="he-IL" dirty="0"/>
              <a:t>עקומת ההיצע של </a:t>
            </a:r>
            <a:r>
              <a:rPr lang="he-IL" b="1" dirty="0"/>
              <a:t>הטווח הקצר </a:t>
            </a:r>
            <a:r>
              <a:rPr lang="he-IL" dirty="0"/>
              <a:t>מתלכדת עם עקומת העלות השולית החל ממינימום </a:t>
            </a:r>
            <a:r>
              <a:rPr lang="en-US" dirty="0"/>
              <a:t>AVC</a:t>
            </a:r>
            <a:r>
              <a:rPr lang="he-IL" dirty="0"/>
              <a:t>.</a:t>
            </a:r>
          </a:p>
          <a:p>
            <a:r>
              <a:rPr lang="he-IL" dirty="0"/>
              <a:t>עקומת ההיצע של </a:t>
            </a:r>
            <a:r>
              <a:rPr lang="he-IL" b="1" dirty="0"/>
              <a:t>הטווח הארוך </a:t>
            </a:r>
            <a:r>
              <a:rPr lang="he-IL" dirty="0"/>
              <a:t>מתלכדת עם עקומת העלות השולית החל ממינימום </a:t>
            </a:r>
            <a:r>
              <a:rPr lang="en-US" dirty="0"/>
              <a:t>ATC</a:t>
            </a:r>
            <a:r>
              <a:rPr lang="he-IL" dirty="0"/>
              <a:t>. </a:t>
            </a:r>
            <a:endParaRPr lang="en-IL" dirty="0"/>
          </a:p>
        </p:txBody>
      </p:sp>
      <p:cxnSp>
        <p:nvCxnSpPr>
          <p:cNvPr id="7" name="Straight Connector 6">
            <a:extLst>
              <a:ext uri="{FF2B5EF4-FFF2-40B4-BE49-F238E27FC236}">
                <a16:creationId xmlns:a16="http://schemas.microsoft.com/office/drawing/2014/main" id="{05C33E20-5992-437D-875C-D44942198841}"/>
              </a:ext>
            </a:extLst>
          </p:cNvPr>
          <p:cNvCxnSpPr>
            <a:cxnSpLocks/>
          </p:cNvCxnSpPr>
          <p:nvPr/>
        </p:nvCxnSpPr>
        <p:spPr>
          <a:xfrm flipV="1">
            <a:off x="2632364" y="3325091"/>
            <a:ext cx="0" cy="18288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F7C0248-3AF5-4E01-8543-F5C9E3D1417A}"/>
              </a:ext>
            </a:extLst>
          </p:cNvPr>
          <p:cNvSpPr txBox="1"/>
          <p:nvPr/>
        </p:nvSpPr>
        <p:spPr>
          <a:xfrm>
            <a:off x="10270836" y="2872509"/>
            <a:ext cx="1560946" cy="1200329"/>
          </a:xfrm>
          <a:prstGeom prst="rect">
            <a:avLst/>
          </a:prstGeom>
          <a:solidFill>
            <a:schemeClr val="bg2"/>
          </a:solidFill>
        </p:spPr>
        <p:txBody>
          <a:bodyPr wrap="square" rtlCol="0">
            <a:spAutoFit/>
          </a:bodyPr>
          <a:lstStyle/>
          <a:p>
            <a:r>
              <a:rPr lang="he-IL" dirty="0"/>
              <a:t>כאשר יש עלות קבועה </a:t>
            </a:r>
            <a:r>
              <a:rPr lang="en-US" b="1" dirty="0"/>
              <a:t>FC=70</a:t>
            </a:r>
          </a:p>
          <a:p>
            <a:r>
              <a:rPr lang="he-IL" dirty="0"/>
              <a:t>אז מינימום </a:t>
            </a:r>
            <a:r>
              <a:rPr lang="en-US" b="1" dirty="0"/>
              <a:t>ATC</a:t>
            </a:r>
            <a:r>
              <a:rPr lang="he-IL" b="1" dirty="0"/>
              <a:t>=82.5</a:t>
            </a:r>
            <a:endParaRPr lang="en-IL" b="1" dirty="0"/>
          </a:p>
        </p:txBody>
      </p:sp>
      <p:cxnSp>
        <p:nvCxnSpPr>
          <p:cNvPr id="9" name="Straight Connector 8">
            <a:extLst>
              <a:ext uri="{FF2B5EF4-FFF2-40B4-BE49-F238E27FC236}">
                <a16:creationId xmlns:a16="http://schemas.microsoft.com/office/drawing/2014/main" id="{01DF28C0-4F11-4744-8C6E-E9E3FCA77F00}"/>
              </a:ext>
            </a:extLst>
          </p:cNvPr>
          <p:cNvCxnSpPr/>
          <p:nvPr/>
        </p:nvCxnSpPr>
        <p:spPr>
          <a:xfrm flipH="1">
            <a:off x="2632364" y="3325091"/>
            <a:ext cx="366683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3" name="מלבן 5">
            <a:extLst>
              <a:ext uri="{FF2B5EF4-FFF2-40B4-BE49-F238E27FC236}">
                <a16:creationId xmlns:a16="http://schemas.microsoft.com/office/drawing/2014/main" id="{AF0A36F2-9C7A-4A0A-A589-70115061BCF5}"/>
              </a:ext>
            </a:extLst>
          </p:cNvPr>
          <p:cNvSpPr/>
          <p:nvPr/>
        </p:nvSpPr>
        <p:spPr>
          <a:xfrm>
            <a:off x="221646" y="3094258"/>
            <a:ext cx="2111459" cy="461665"/>
          </a:xfrm>
          <a:prstGeom prst="rect">
            <a:avLst/>
          </a:prstGeom>
        </p:spPr>
        <p:txBody>
          <a:bodyPr wrap="square">
            <a:spAutoFit/>
          </a:bodyPr>
          <a:lstStyle/>
          <a:p>
            <a:r>
              <a:rPr lang="en-US" sz="2400" b="1" dirty="0">
                <a:solidFill>
                  <a:schemeClr val="accent6"/>
                </a:solidFill>
              </a:rPr>
              <a:t>Min ATC = 82.5</a:t>
            </a:r>
            <a:endParaRPr lang="he-IL" sz="2400" dirty="0">
              <a:solidFill>
                <a:schemeClr val="accent6"/>
              </a:solidFill>
            </a:endParaRPr>
          </a:p>
        </p:txBody>
      </p:sp>
    </p:spTree>
    <p:extLst>
      <p:ext uri="{BB962C8B-B14F-4D97-AF65-F5344CB8AC3E}">
        <p14:creationId xmlns:p14="http://schemas.microsoft.com/office/powerpoint/2010/main" val="725162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מלבן 5"/>
          <p:cNvSpPr/>
          <p:nvPr/>
        </p:nvSpPr>
        <p:spPr>
          <a:xfrm>
            <a:off x="4943789" y="3320211"/>
            <a:ext cx="6213551" cy="1899174"/>
          </a:xfrm>
          <a:prstGeom prst="rect">
            <a:avLst/>
          </a:prstGeom>
        </p:spPr>
        <p:txBody>
          <a:bodyPr wrap="square">
            <a:spAutoFit/>
          </a:bodyPr>
          <a:lstStyle/>
          <a:p>
            <a:pPr algn="r" rtl="1">
              <a:lnSpc>
                <a:spcPct val="150000"/>
              </a:lnSpc>
            </a:pPr>
            <a:r>
              <a:rPr lang="he-IL" sz="1600" dirty="0">
                <a:solidFill>
                  <a:prstClr val="black"/>
                </a:solidFill>
                <a:latin typeface="Calibri"/>
                <a:cs typeface="Arial" panose="020B0604020202020204" pitchFamily="34" charset="0"/>
              </a:rPr>
              <a:t>א. ליצרן הפסד של 30 ₪ ולכן בטווח הארוך לא כדאי לו להמשיך לייצר</a:t>
            </a:r>
            <a:endParaRPr lang="en-US" sz="1600" dirty="0">
              <a:solidFill>
                <a:prstClr val="black"/>
              </a:solidFill>
              <a:latin typeface="Calibri"/>
            </a:endParaRPr>
          </a:p>
          <a:p>
            <a:pPr algn="r" rtl="1">
              <a:lnSpc>
                <a:spcPct val="150000"/>
              </a:lnSpc>
            </a:pPr>
            <a:r>
              <a:rPr lang="he-IL" sz="1600" dirty="0">
                <a:solidFill>
                  <a:prstClr val="black"/>
                </a:solidFill>
                <a:latin typeface="Calibri"/>
                <a:cs typeface="Arial" panose="020B0604020202020204" pitchFamily="34" charset="0"/>
              </a:rPr>
              <a:t>ב. רווח החלבן הוא 27 ₪ ולכן בטווח הארוך כדאי לו להמשיך לייצר </a:t>
            </a:r>
            <a:endParaRPr lang="en-US" sz="1600" dirty="0">
              <a:solidFill>
                <a:prstClr val="black"/>
              </a:solidFill>
              <a:latin typeface="Calibri"/>
            </a:endParaRPr>
          </a:p>
          <a:p>
            <a:pPr algn="r" rtl="1">
              <a:lnSpc>
                <a:spcPct val="150000"/>
              </a:lnSpc>
            </a:pPr>
            <a:r>
              <a:rPr lang="he-IL" sz="1600" dirty="0">
                <a:solidFill>
                  <a:prstClr val="black"/>
                </a:solidFill>
                <a:latin typeface="Calibri"/>
                <a:cs typeface="Arial" panose="020B0604020202020204" pitchFamily="34" charset="0"/>
              </a:rPr>
              <a:t>ג. החלבן מייצר 7 קרטוני חלב ורווחיו שווים ל- 0 </a:t>
            </a:r>
            <a:endParaRPr lang="en-US" sz="1600" dirty="0">
              <a:solidFill>
                <a:prstClr val="black"/>
              </a:solidFill>
              <a:latin typeface="Calibri"/>
            </a:endParaRPr>
          </a:p>
          <a:p>
            <a:pPr algn="r" rtl="1">
              <a:lnSpc>
                <a:spcPct val="150000"/>
              </a:lnSpc>
            </a:pPr>
            <a:r>
              <a:rPr lang="he-IL" sz="1600" dirty="0">
                <a:solidFill>
                  <a:prstClr val="black"/>
                </a:solidFill>
                <a:latin typeface="Calibri"/>
                <a:cs typeface="Arial" panose="020B0604020202020204" pitchFamily="34" charset="0"/>
              </a:rPr>
              <a:t>ד. החלבן מייצר 3 קרטוני חלב ובטווח הארוך כדאי לו להמשיך לייצר </a:t>
            </a:r>
            <a:endParaRPr lang="en-US" sz="1600" dirty="0">
              <a:solidFill>
                <a:prstClr val="black"/>
              </a:solidFill>
              <a:latin typeface="Calibri"/>
            </a:endParaRPr>
          </a:p>
          <a:p>
            <a:pPr algn="r" rtl="1">
              <a:lnSpc>
                <a:spcPct val="150000"/>
              </a:lnSpc>
            </a:pPr>
            <a:r>
              <a:rPr lang="he-IL" sz="1600" dirty="0">
                <a:solidFill>
                  <a:prstClr val="black"/>
                </a:solidFill>
                <a:latin typeface="Calibri"/>
                <a:cs typeface="Arial" panose="020B0604020202020204" pitchFamily="34" charset="0"/>
              </a:rPr>
              <a:t>ה. כל התשובות האחרות אינן נכונות</a:t>
            </a:r>
            <a:endParaRPr lang="en-US" sz="1600" dirty="0">
              <a:solidFill>
                <a:prstClr val="black"/>
              </a:solidFill>
              <a:latin typeface="Calibri"/>
            </a:endParaRPr>
          </a:p>
        </p:txBody>
      </p:sp>
      <p:sp>
        <p:nvSpPr>
          <p:cNvPr id="7" name="כותרת 1">
            <a:extLst>
              <a:ext uri="{FF2B5EF4-FFF2-40B4-BE49-F238E27FC236}">
                <a16:creationId xmlns:a16="http://schemas.microsoft.com/office/drawing/2014/main" id="{AA3EC18C-D9E0-448C-BCEF-577C6B9A6697}"/>
              </a:ext>
            </a:extLst>
          </p:cNvPr>
          <p:cNvSpPr>
            <a:spLocks noGrp="1"/>
          </p:cNvSpPr>
          <p:nvPr>
            <p:ph type="title"/>
          </p:nvPr>
        </p:nvSpPr>
        <p:spPr>
          <a:xfrm>
            <a:off x="9912424" y="217954"/>
            <a:ext cx="1835696" cy="977255"/>
          </a:xfrm>
        </p:spPr>
        <p:txBody>
          <a:bodyPr>
            <a:normAutofit/>
          </a:bodyPr>
          <a:lstStyle/>
          <a:p>
            <a:pPr algn="r"/>
            <a:r>
              <a:rPr lang="he-IL" b="1" dirty="0">
                <a:solidFill>
                  <a:schemeClr val="tx2">
                    <a:lumMod val="75000"/>
                  </a:schemeClr>
                </a:solidFill>
              </a:rPr>
              <a:t>שאלה 2</a:t>
            </a:r>
          </a:p>
        </p:txBody>
      </p:sp>
      <p:sp>
        <p:nvSpPr>
          <p:cNvPr id="9" name="TextBox 8">
            <a:extLst>
              <a:ext uri="{FF2B5EF4-FFF2-40B4-BE49-F238E27FC236}">
                <a16:creationId xmlns:a16="http://schemas.microsoft.com/office/drawing/2014/main" id="{9E74DE1F-DF2A-4EC3-82C6-219E1479F38C}"/>
              </a:ext>
            </a:extLst>
          </p:cNvPr>
          <p:cNvSpPr txBox="1"/>
          <p:nvPr/>
        </p:nvSpPr>
        <p:spPr>
          <a:xfrm>
            <a:off x="1631504" y="257144"/>
            <a:ext cx="6998918" cy="640368"/>
          </a:xfrm>
          <a:prstGeom prst="rect">
            <a:avLst/>
          </a:prstGeom>
          <a:noFill/>
        </p:spPr>
        <p:txBody>
          <a:bodyPr wrap="square">
            <a:spAutoFit/>
          </a:bodyPr>
          <a:lstStyle/>
          <a:p>
            <a:pPr algn="just">
              <a:lnSpc>
                <a:spcPct val="115000"/>
              </a:lnSpc>
              <a:spcAft>
                <a:spcPts val="1000"/>
              </a:spcAft>
            </a:pPr>
            <a:r>
              <a:rPr lang="he-IL" sz="1600" dirty="0">
                <a:latin typeface="Calibri" panose="020F0502020204030204" pitchFamily="34" charset="0"/>
                <a:ea typeface="Times New Roman" panose="02020603050405020304" pitchFamily="18" charset="0"/>
                <a:cs typeface="Arial" panose="020B0604020202020204" pitchFamily="34" charset="0"/>
              </a:rPr>
              <a:t>חלבן פועל בשוק תחרותי שבו מחיר השוק של קרטון חלב הוא 11 ש''ח, עלויות הייצור הקבועות (</a:t>
            </a:r>
            <a:r>
              <a:rPr lang="en-US" sz="1600" dirty="0">
                <a:latin typeface="Arial" panose="020B0604020202020204" pitchFamily="34" charset="0"/>
                <a:ea typeface="Times New Roman" panose="02020603050405020304" pitchFamily="18" charset="0"/>
                <a:cs typeface="Arial" panose="020B0604020202020204" pitchFamily="34" charset="0"/>
              </a:rPr>
              <a:t>FC</a:t>
            </a:r>
            <a:r>
              <a:rPr lang="he-IL" sz="1600" dirty="0">
                <a:latin typeface="Calibri" panose="020F0502020204030204" pitchFamily="34" charset="0"/>
                <a:ea typeface="Times New Roman" panose="02020603050405020304" pitchFamily="18" charset="0"/>
                <a:cs typeface="Arial" panose="020B0604020202020204" pitchFamily="34" charset="0"/>
              </a:rPr>
              <a:t>) של היצרן הן 50 ש''ח ועלויות הייצור המשתנות הממוצעות (</a:t>
            </a:r>
            <a:r>
              <a:rPr lang="en-US" sz="1600" dirty="0">
                <a:latin typeface="Arial" panose="020B0604020202020204" pitchFamily="34" charset="0"/>
                <a:ea typeface="Times New Roman" panose="02020603050405020304" pitchFamily="18" charset="0"/>
                <a:cs typeface="Arial" panose="020B0604020202020204" pitchFamily="34" charset="0"/>
              </a:rPr>
              <a:t>AVC</a:t>
            </a:r>
            <a:r>
              <a:rPr lang="he-IL" sz="1600" dirty="0">
                <a:latin typeface="Calibri" panose="020F0502020204030204" pitchFamily="34" charset="0"/>
                <a:ea typeface="Times New Roman" panose="02020603050405020304" pitchFamily="18" charset="0"/>
                <a:cs typeface="Arial" panose="020B0604020202020204" pitchFamily="34" charset="0"/>
              </a:rPr>
              <a:t>) הן:</a:t>
            </a:r>
            <a:endParaRPr lang="en-IL" sz="1600" dirty="0">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12" name="Table 11">
            <a:extLst>
              <a:ext uri="{FF2B5EF4-FFF2-40B4-BE49-F238E27FC236}">
                <a16:creationId xmlns:a16="http://schemas.microsoft.com/office/drawing/2014/main" id="{13D18E2D-1D84-4CA4-AEA3-BDF766119C97}"/>
              </a:ext>
            </a:extLst>
          </p:cNvPr>
          <p:cNvGraphicFramePr>
            <a:graphicFrameLocks noGrp="1"/>
          </p:cNvGraphicFramePr>
          <p:nvPr>
            <p:extLst>
              <p:ext uri="{D42A27DB-BD31-4B8C-83A1-F6EECF244321}">
                <p14:modId xmlns:p14="http://schemas.microsoft.com/office/powerpoint/2010/main" val="2366319652"/>
              </p:ext>
            </p:extLst>
          </p:nvPr>
        </p:nvGraphicFramePr>
        <p:xfrm>
          <a:off x="1733940" y="1268761"/>
          <a:ext cx="2183936" cy="4018153"/>
        </p:xfrm>
        <a:graphic>
          <a:graphicData uri="http://schemas.openxmlformats.org/drawingml/2006/table">
            <a:tbl>
              <a:tblPr rtl="1" firstRow="1" firstCol="1" bandRow="1">
                <a:tableStyleId>{5C22544A-7EE6-4342-B048-85BDC9FD1C3A}</a:tableStyleId>
              </a:tblPr>
              <a:tblGrid>
                <a:gridCol w="926703">
                  <a:extLst>
                    <a:ext uri="{9D8B030D-6E8A-4147-A177-3AD203B41FA5}">
                      <a16:colId xmlns:a16="http://schemas.microsoft.com/office/drawing/2014/main" val="1442426517"/>
                    </a:ext>
                  </a:extLst>
                </a:gridCol>
                <a:gridCol w="1257233">
                  <a:extLst>
                    <a:ext uri="{9D8B030D-6E8A-4147-A177-3AD203B41FA5}">
                      <a16:colId xmlns:a16="http://schemas.microsoft.com/office/drawing/2014/main" val="1956056896"/>
                    </a:ext>
                  </a:extLst>
                </a:gridCol>
              </a:tblGrid>
              <a:tr h="713740">
                <a:tc>
                  <a:txBody>
                    <a:bodyPr/>
                    <a:lstStyle/>
                    <a:p>
                      <a:pPr algn="ctr" rtl="1">
                        <a:lnSpc>
                          <a:spcPct val="150000"/>
                        </a:lnSpc>
                        <a:spcBef>
                          <a:spcPts val="600"/>
                        </a:spcBef>
                        <a:spcAft>
                          <a:spcPts val="1000"/>
                        </a:spcAft>
                      </a:pPr>
                      <a:r>
                        <a:rPr lang="he-IL" sz="1400" dirty="0">
                          <a:effectLst/>
                        </a:rPr>
                        <a:t>כמות מיוצרת </a:t>
                      </a:r>
                      <a:endParaRPr lang="en-IL"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50000"/>
                        </a:lnSpc>
                        <a:spcBef>
                          <a:spcPts val="600"/>
                        </a:spcBef>
                        <a:spcAft>
                          <a:spcPts val="1000"/>
                        </a:spcAft>
                      </a:pPr>
                      <a:r>
                        <a:rPr lang="he-IL" sz="1600" dirty="0">
                          <a:effectLst/>
                        </a:rPr>
                        <a:t>עלות משתנה ממוצעת </a:t>
                      </a:r>
                      <a:r>
                        <a:rPr lang="en-US" sz="1600" dirty="0">
                          <a:effectLst/>
                        </a:rPr>
                        <a:t>AVC </a:t>
                      </a:r>
                      <a:endParaRPr lang="en-IL"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948819446"/>
                  </a:ext>
                </a:extLst>
              </a:tr>
              <a:tr h="198120">
                <a:tc>
                  <a:txBody>
                    <a:bodyPr/>
                    <a:lstStyle/>
                    <a:p>
                      <a:pPr algn="ctr" rtl="1">
                        <a:lnSpc>
                          <a:spcPct val="150000"/>
                        </a:lnSpc>
                        <a:spcBef>
                          <a:spcPts val="600"/>
                        </a:spcBef>
                        <a:spcAft>
                          <a:spcPts val="1000"/>
                        </a:spcAft>
                      </a:pPr>
                      <a:r>
                        <a:rPr lang="he-IL" sz="1800" dirty="0">
                          <a:effectLst/>
                        </a:rPr>
                        <a:t>0</a:t>
                      </a:r>
                      <a:endParaRPr lang="en-IL"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50000"/>
                        </a:lnSpc>
                        <a:spcBef>
                          <a:spcPts val="600"/>
                        </a:spcBef>
                        <a:spcAft>
                          <a:spcPts val="1000"/>
                        </a:spcAft>
                      </a:pPr>
                      <a:r>
                        <a:rPr lang="he-IL" sz="1600">
                          <a:effectLst/>
                        </a:rPr>
                        <a:t> </a:t>
                      </a:r>
                      <a:endParaRPr lang="en-IL"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10393092"/>
                  </a:ext>
                </a:extLst>
              </a:tr>
              <a:tr h="306705">
                <a:tc>
                  <a:txBody>
                    <a:bodyPr/>
                    <a:lstStyle/>
                    <a:p>
                      <a:pPr algn="ctr" rtl="1">
                        <a:lnSpc>
                          <a:spcPct val="150000"/>
                        </a:lnSpc>
                        <a:spcBef>
                          <a:spcPts val="600"/>
                        </a:spcBef>
                        <a:spcAft>
                          <a:spcPts val="1000"/>
                        </a:spcAft>
                      </a:pPr>
                      <a:r>
                        <a:rPr lang="he-IL" sz="1800">
                          <a:effectLst/>
                        </a:rPr>
                        <a:t>1</a:t>
                      </a:r>
                      <a:endParaRPr lang="en-IL"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50000"/>
                        </a:lnSpc>
                        <a:spcBef>
                          <a:spcPts val="600"/>
                        </a:spcBef>
                        <a:spcAft>
                          <a:spcPts val="1000"/>
                        </a:spcAft>
                      </a:pPr>
                      <a:r>
                        <a:rPr lang="he-IL" sz="1600" dirty="0">
                          <a:effectLst/>
                        </a:rPr>
                        <a:t>10</a:t>
                      </a:r>
                      <a:endParaRPr lang="en-IL"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671200522"/>
                  </a:ext>
                </a:extLst>
              </a:tr>
              <a:tr h="306705">
                <a:tc>
                  <a:txBody>
                    <a:bodyPr/>
                    <a:lstStyle/>
                    <a:p>
                      <a:pPr algn="ctr" rtl="1">
                        <a:lnSpc>
                          <a:spcPct val="150000"/>
                        </a:lnSpc>
                        <a:spcBef>
                          <a:spcPts val="600"/>
                        </a:spcBef>
                        <a:spcAft>
                          <a:spcPts val="1000"/>
                        </a:spcAft>
                      </a:pPr>
                      <a:r>
                        <a:rPr lang="he-IL" sz="1800" dirty="0">
                          <a:effectLst/>
                        </a:rPr>
                        <a:t>2</a:t>
                      </a:r>
                      <a:endParaRPr lang="en-IL"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50000"/>
                        </a:lnSpc>
                        <a:spcBef>
                          <a:spcPts val="600"/>
                        </a:spcBef>
                        <a:spcAft>
                          <a:spcPts val="1000"/>
                        </a:spcAft>
                      </a:pPr>
                      <a:r>
                        <a:rPr lang="he-IL" sz="1600">
                          <a:effectLst/>
                        </a:rPr>
                        <a:t>7</a:t>
                      </a:r>
                      <a:endParaRPr lang="en-IL"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01852876"/>
                  </a:ext>
                </a:extLst>
              </a:tr>
              <a:tr h="306705">
                <a:tc>
                  <a:txBody>
                    <a:bodyPr/>
                    <a:lstStyle/>
                    <a:p>
                      <a:pPr algn="ctr" rtl="1">
                        <a:lnSpc>
                          <a:spcPct val="150000"/>
                        </a:lnSpc>
                        <a:spcBef>
                          <a:spcPts val="600"/>
                        </a:spcBef>
                        <a:spcAft>
                          <a:spcPts val="1000"/>
                        </a:spcAft>
                      </a:pPr>
                      <a:r>
                        <a:rPr lang="he-IL" sz="1800" dirty="0">
                          <a:effectLst/>
                        </a:rPr>
                        <a:t>3</a:t>
                      </a:r>
                      <a:endParaRPr lang="en-IL"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50000"/>
                        </a:lnSpc>
                        <a:spcBef>
                          <a:spcPts val="600"/>
                        </a:spcBef>
                        <a:spcAft>
                          <a:spcPts val="1000"/>
                        </a:spcAft>
                      </a:pPr>
                      <a:r>
                        <a:rPr lang="he-IL" sz="1600" dirty="0">
                          <a:effectLst/>
                        </a:rPr>
                        <a:t>5</a:t>
                      </a:r>
                      <a:endParaRPr lang="en-IL"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876654759"/>
                  </a:ext>
                </a:extLst>
              </a:tr>
              <a:tr h="306705">
                <a:tc>
                  <a:txBody>
                    <a:bodyPr/>
                    <a:lstStyle/>
                    <a:p>
                      <a:pPr algn="ctr" rtl="1">
                        <a:lnSpc>
                          <a:spcPct val="150000"/>
                        </a:lnSpc>
                        <a:spcBef>
                          <a:spcPts val="600"/>
                        </a:spcBef>
                        <a:spcAft>
                          <a:spcPts val="1000"/>
                        </a:spcAft>
                      </a:pPr>
                      <a:r>
                        <a:rPr lang="he-IL" sz="1800" dirty="0">
                          <a:effectLst/>
                        </a:rPr>
                        <a:t>4</a:t>
                      </a:r>
                      <a:endParaRPr lang="en-IL"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50000"/>
                        </a:lnSpc>
                        <a:spcBef>
                          <a:spcPts val="600"/>
                        </a:spcBef>
                        <a:spcAft>
                          <a:spcPts val="1000"/>
                        </a:spcAft>
                      </a:pPr>
                      <a:r>
                        <a:rPr lang="he-IL" sz="1600" dirty="0">
                          <a:effectLst/>
                        </a:rPr>
                        <a:t>6</a:t>
                      </a:r>
                      <a:endParaRPr lang="en-IL"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190075249"/>
                  </a:ext>
                </a:extLst>
              </a:tr>
              <a:tr h="290830">
                <a:tc>
                  <a:txBody>
                    <a:bodyPr/>
                    <a:lstStyle/>
                    <a:p>
                      <a:pPr algn="ctr" rtl="1">
                        <a:lnSpc>
                          <a:spcPct val="150000"/>
                        </a:lnSpc>
                        <a:spcBef>
                          <a:spcPts val="600"/>
                        </a:spcBef>
                        <a:spcAft>
                          <a:spcPts val="1000"/>
                        </a:spcAft>
                      </a:pPr>
                      <a:r>
                        <a:rPr lang="he-IL" sz="1800" dirty="0">
                          <a:effectLst/>
                        </a:rPr>
                        <a:t>5</a:t>
                      </a:r>
                      <a:endParaRPr lang="en-IL"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50000"/>
                        </a:lnSpc>
                        <a:spcBef>
                          <a:spcPts val="600"/>
                        </a:spcBef>
                        <a:spcAft>
                          <a:spcPts val="1000"/>
                        </a:spcAft>
                      </a:pPr>
                      <a:r>
                        <a:rPr lang="he-IL" sz="1600" dirty="0">
                          <a:effectLst/>
                        </a:rPr>
                        <a:t>7</a:t>
                      </a:r>
                      <a:endParaRPr lang="en-IL"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49709919"/>
                  </a:ext>
                </a:extLst>
              </a:tr>
              <a:tr h="297180">
                <a:tc>
                  <a:txBody>
                    <a:bodyPr/>
                    <a:lstStyle/>
                    <a:p>
                      <a:pPr algn="ctr" rtl="1">
                        <a:lnSpc>
                          <a:spcPct val="150000"/>
                        </a:lnSpc>
                        <a:spcBef>
                          <a:spcPts val="600"/>
                        </a:spcBef>
                        <a:spcAft>
                          <a:spcPts val="1000"/>
                        </a:spcAft>
                      </a:pPr>
                      <a:r>
                        <a:rPr lang="he-IL" sz="1800" dirty="0">
                          <a:effectLst/>
                        </a:rPr>
                        <a:t>6</a:t>
                      </a:r>
                      <a:endParaRPr lang="en-IL"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50000"/>
                        </a:lnSpc>
                        <a:spcBef>
                          <a:spcPts val="600"/>
                        </a:spcBef>
                        <a:spcAft>
                          <a:spcPts val="1000"/>
                        </a:spcAft>
                      </a:pPr>
                      <a:r>
                        <a:rPr lang="he-IL" sz="1600" dirty="0">
                          <a:effectLst/>
                        </a:rPr>
                        <a:t>8</a:t>
                      </a:r>
                      <a:endParaRPr lang="en-IL"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794739263"/>
                  </a:ext>
                </a:extLst>
              </a:tr>
              <a:tr h="297180">
                <a:tc>
                  <a:txBody>
                    <a:bodyPr/>
                    <a:lstStyle/>
                    <a:p>
                      <a:pPr algn="ctr" rtl="1">
                        <a:lnSpc>
                          <a:spcPct val="150000"/>
                        </a:lnSpc>
                        <a:spcBef>
                          <a:spcPts val="600"/>
                        </a:spcBef>
                        <a:spcAft>
                          <a:spcPts val="1000"/>
                        </a:spcAft>
                      </a:pPr>
                      <a:r>
                        <a:rPr lang="he-IL" sz="1800" dirty="0">
                          <a:effectLst/>
                        </a:rPr>
                        <a:t>7</a:t>
                      </a:r>
                      <a:endParaRPr lang="en-IL"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50000"/>
                        </a:lnSpc>
                        <a:spcBef>
                          <a:spcPts val="600"/>
                        </a:spcBef>
                        <a:spcAft>
                          <a:spcPts val="1000"/>
                        </a:spcAft>
                      </a:pPr>
                      <a:r>
                        <a:rPr lang="he-IL" sz="1600" dirty="0">
                          <a:effectLst/>
                        </a:rPr>
                        <a:t>11</a:t>
                      </a:r>
                      <a:endParaRPr lang="en-IL"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551639589"/>
                  </a:ext>
                </a:extLst>
              </a:tr>
              <a:tr h="297180">
                <a:tc>
                  <a:txBody>
                    <a:bodyPr/>
                    <a:lstStyle/>
                    <a:p>
                      <a:pPr algn="ctr" rtl="1">
                        <a:lnSpc>
                          <a:spcPct val="150000"/>
                        </a:lnSpc>
                        <a:spcBef>
                          <a:spcPts val="600"/>
                        </a:spcBef>
                        <a:spcAft>
                          <a:spcPts val="1000"/>
                        </a:spcAft>
                      </a:pPr>
                      <a:r>
                        <a:rPr lang="he-IL" sz="1800" dirty="0">
                          <a:effectLst/>
                        </a:rPr>
                        <a:t>8</a:t>
                      </a:r>
                      <a:endParaRPr lang="en-IL"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50000"/>
                        </a:lnSpc>
                        <a:spcBef>
                          <a:spcPts val="600"/>
                        </a:spcBef>
                        <a:spcAft>
                          <a:spcPts val="1000"/>
                        </a:spcAft>
                      </a:pPr>
                      <a:r>
                        <a:rPr lang="he-IL" sz="1600" dirty="0">
                          <a:effectLst/>
                        </a:rPr>
                        <a:t>15</a:t>
                      </a:r>
                      <a:endParaRPr lang="en-IL"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810915029"/>
                  </a:ext>
                </a:extLst>
              </a:tr>
            </a:tbl>
          </a:graphicData>
        </a:graphic>
      </p:graphicFrame>
      <p:sp>
        <p:nvSpPr>
          <p:cNvPr id="14" name="TextBox 13">
            <a:extLst>
              <a:ext uri="{FF2B5EF4-FFF2-40B4-BE49-F238E27FC236}">
                <a16:creationId xmlns:a16="http://schemas.microsoft.com/office/drawing/2014/main" id="{57DDFA18-7A93-4734-90C7-BF30821A43D7}"/>
              </a:ext>
            </a:extLst>
          </p:cNvPr>
          <p:cNvSpPr txBox="1"/>
          <p:nvPr/>
        </p:nvSpPr>
        <p:spPr>
          <a:xfrm>
            <a:off x="6283091" y="2559439"/>
            <a:ext cx="4694662" cy="463075"/>
          </a:xfrm>
          <a:prstGeom prst="rect">
            <a:avLst/>
          </a:prstGeom>
          <a:noFill/>
        </p:spPr>
        <p:txBody>
          <a:bodyPr wrap="square">
            <a:spAutoFit/>
          </a:bodyPr>
          <a:lstStyle/>
          <a:p>
            <a:pPr>
              <a:lnSpc>
                <a:spcPct val="150000"/>
              </a:lnSpc>
              <a:spcBef>
                <a:spcPts val="600"/>
              </a:spcBef>
              <a:spcAft>
                <a:spcPts val="1000"/>
              </a:spcAft>
            </a:pPr>
            <a:r>
              <a:rPr lang="he-IL" dirty="0">
                <a:latin typeface="Calibri" panose="020F0502020204030204" pitchFamily="34" charset="0"/>
                <a:ea typeface="Times New Roman" panose="02020603050405020304" pitchFamily="18" charset="0"/>
                <a:cs typeface="Arial" panose="020B0604020202020204" pitchFamily="34" charset="0"/>
              </a:rPr>
              <a:t>בחרו בתשובה הנכונה:</a:t>
            </a:r>
            <a:endParaRPr lang="en-IL"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4893777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טבלה 3"/>
          <p:cNvGraphicFramePr>
            <a:graphicFrameLocks noGrp="1"/>
          </p:cNvGraphicFramePr>
          <p:nvPr>
            <p:extLst>
              <p:ext uri="{D42A27DB-BD31-4B8C-83A1-F6EECF244321}">
                <p14:modId xmlns:p14="http://schemas.microsoft.com/office/powerpoint/2010/main" val="2396559384"/>
              </p:ext>
            </p:extLst>
          </p:nvPr>
        </p:nvGraphicFramePr>
        <p:xfrm>
          <a:off x="5402526" y="1268760"/>
          <a:ext cx="3227897" cy="2811780"/>
        </p:xfrm>
        <a:graphic>
          <a:graphicData uri="http://schemas.openxmlformats.org/drawingml/2006/table">
            <a:tbl>
              <a:tblPr rtl="1" firstRow="1" bandRow="1">
                <a:tableStyleId>{5C22544A-7EE6-4342-B048-85BDC9FD1C3A}</a:tableStyleId>
              </a:tblPr>
              <a:tblGrid>
                <a:gridCol w="541809">
                  <a:extLst>
                    <a:ext uri="{9D8B030D-6E8A-4147-A177-3AD203B41FA5}">
                      <a16:colId xmlns:a16="http://schemas.microsoft.com/office/drawing/2014/main" val="20000"/>
                    </a:ext>
                  </a:extLst>
                </a:gridCol>
                <a:gridCol w="617228">
                  <a:extLst>
                    <a:ext uri="{9D8B030D-6E8A-4147-A177-3AD203B41FA5}">
                      <a16:colId xmlns:a16="http://schemas.microsoft.com/office/drawing/2014/main" val="20001"/>
                    </a:ext>
                  </a:extLst>
                </a:gridCol>
                <a:gridCol w="1304181">
                  <a:extLst>
                    <a:ext uri="{9D8B030D-6E8A-4147-A177-3AD203B41FA5}">
                      <a16:colId xmlns:a16="http://schemas.microsoft.com/office/drawing/2014/main" val="20002"/>
                    </a:ext>
                  </a:extLst>
                </a:gridCol>
                <a:gridCol w="764679">
                  <a:extLst>
                    <a:ext uri="{9D8B030D-6E8A-4147-A177-3AD203B41FA5}">
                      <a16:colId xmlns:a16="http://schemas.microsoft.com/office/drawing/2014/main" val="20003"/>
                    </a:ext>
                  </a:extLst>
                </a:gridCol>
              </a:tblGrid>
              <a:tr h="278130">
                <a:tc>
                  <a:txBody>
                    <a:bodyPr/>
                    <a:lstStyle/>
                    <a:p>
                      <a:pPr algn="ctr" rtl="1"/>
                      <a:r>
                        <a:rPr lang="en-US" sz="1600" dirty="0">
                          <a:solidFill>
                            <a:schemeClr val="tx1"/>
                          </a:solidFill>
                        </a:rPr>
                        <a:t>Q</a:t>
                      </a:r>
                      <a:endParaRPr lang="he-IL" sz="1600" dirty="0">
                        <a:solidFill>
                          <a:schemeClr val="tx1"/>
                        </a:solidFill>
                      </a:endParaRPr>
                    </a:p>
                  </a:txBody>
                  <a:tcPr marL="68580" marR="68580" marT="34290" marB="34290">
                    <a:solidFill>
                      <a:schemeClr val="accent2">
                        <a:lumMod val="20000"/>
                        <a:lumOff val="80000"/>
                      </a:schemeClr>
                    </a:solidFill>
                  </a:tcPr>
                </a:tc>
                <a:tc>
                  <a:txBody>
                    <a:bodyPr/>
                    <a:lstStyle/>
                    <a:p>
                      <a:pPr algn="ctr" rtl="1"/>
                      <a:r>
                        <a:rPr lang="en-US" sz="1600" dirty="0">
                          <a:solidFill>
                            <a:schemeClr val="tx1"/>
                          </a:solidFill>
                        </a:rPr>
                        <a:t>AVC</a:t>
                      </a:r>
                      <a:endParaRPr lang="he-IL" sz="1600" dirty="0">
                        <a:solidFill>
                          <a:schemeClr val="tx1"/>
                        </a:solidFill>
                      </a:endParaRPr>
                    </a:p>
                  </a:txBody>
                  <a:tcPr marL="68580" marR="68580" marT="34290" marB="34290">
                    <a:solidFill>
                      <a:schemeClr val="accent2">
                        <a:lumMod val="20000"/>
                        <a:lumOff val="80000"/>
                      </a:schemeClr>
                    </a:solidFill>
                  </a:tcPr>
                </a:tc>
                <a:tc>
                  <a:txBody>
                    <a:bodyPr/>
                    <a:lstStyle/>
                    <a:p>
                      <a:pPr algn="ctr" rtl="1"/>
                      <a:r>
                        <a:rPr lang="en-US" sz="1600" dirty="0">
                          <a:solidFill>
                            <a:schemeClr val="tx1"/>
                          </a:solidFill>
                        </a:rPr>
                        <a:t>VC</a:t>
                      </a:r>
                      <a:endParaRPr lang="he-IL" sz="1600" dirty="0">
                        <a:solidFill>
                          <a:schemeClr val="tx1"/>
                        </a:solidFill>
                      </a:endParaRPr>
                    </a:p>
                  </a:txBody>
                  <a:tcPr marL="68580" marR="68580" marT="34290" marB="34290">
                    <a:solidFill>
                      <a:schemeClr val="accent2">
                        <a:lumMod val="20000"/>
                        <a:lumOff val="80000"/>
                      </a:schemeClr>
                    </a:solidFill>
                  </a:tcPr>
                </a:tc>
                <a:tc>
                  <a:txBody>
                    <a:bodyPr/>
                    <a:lstStyle/>
                    <a:p>
                      <a:pPr algn="ctr" rtl="1"/>
                      <a:r>
                        <a:rPr lang="en-US" sz="1600" b="1" dirty="0">
                          <a:solidFill>
                            <a:schemeClr val="accent6">
                              <a:lumMod val="50000"/>
                            </a:schemeClr>
                          </a:solidFill>
                        </a:rPr>
                        <a:t>MC</a:t>
                      </a:r>
                      <a:endParaRPr lang="he-IL" sz="1600" b="1" dirty="0">
                        <a:solidFill>
                          <a:schemeClr val="accent6">
                            <a:lumMod val="50000"/>
                          </a:schemeClr>
                        </a:solidFill>
                      </a:endParaRPr>
                    </a:p>
                  </a:txBody>
                  <a:tcPr marL="68580" marR="68580" marT="34290" marB="34290">
                    <a:solidFill>
                      <a:schemeClr val="accent2">
                        <a:lumMod val="20000"/>
                        <a:lumOff val="80000"/>
                      </a:schemeClr>
                    </a:solidFill>
                  </a:tcPr>
                </a:tc>
                <a:extLst>
                  <a:ext uri="{0D108BD9-81ED-4DB2-BD59-A6C34878D82A}">
                    <a16:rowId xmlns:a16="http://schemas.microsoft.com/office/drawing/2014/main" val="10000"/>
                  </a:ext>
                </a:extLst>
              </a:tr>
              <a:tr h="278130">
                <a:tc>
                  <a:txBody>
                    <a:bodyPr/>
                    <a:lstStyle/>
                    <a:p>
                      <a:pPr algn="ctr" rtl="1"/>
                      <a:r>
                        <a:rPr lang="en-US" sz="1600" dirty="0"/>
                        <a:t>1</a:t>
                      </a:r>
                      <a:endParaRPr lang="he-IL" sz="1600" dirty="0"/>
                    </a:p>
                  </a:txBody>
                  <a:tcPr marL="68580" marR="68580" marT="34290" marB="34290"/>
                </a:tc>
                <a:tc>
                  <a:txBody>
                    <a:bodyPr/>
                    <a:lstStyle/>
                    <a:p>
                      <a:pPr algn="ctr" rtl="1"/>
                      <a:r>
                        <a:rPr lang="en-US" sz="1600" dirty="0"/>
                        <a:t>10</a:t>
                      </a:r>
                      <a:endParaRPr lang="he-IL" sz="1600" dirty="0"/>
                    </a:p>
                  </a:txBody>
                  <a:tcPr marL="68580" marR="68580" marT="34290" marB="34290"/>
                </a:tc>
                <a:tc>
                  <a:txBody>
                    <a:bodyPr/>
                    <a:lstStyle/>
                    <a:p>
                      <a:pPr algn="ctr" rtl="1"/>
                      <a:endParaRPr lang="he-IL" sz="1600"/>
                    </a:p>
                  </a:txBody>
                  <a:tcPr marL="68580" marR="68580" marT="34290" marB="34290"/>
                </a:tc>
                <a:tc>
                  <a:txBody>
                    <a:bodyPr/>
                    <a:lstStyle/>
                    <a:p>
                      <a:pPr algn="ctr" rtl="1"/>
                      <a:endParaRPr lang="he-IL" sz="1600" dirty="0"/>
                    </a:p>
                  </a:txBody>
                  <a:tcPr marL="68580" marR="68580" marT="34290" marB="34290"/>
                </a:tc>
                <a:extLst>
                  <a:ext uri="{0D108BD9-81ED-4DB2-BD59-A6C34878D82A}">
                    <a16:rowId xmlns:a16="http://schemas.microsoft.com/office/drawing/2014/main" val="10001"/>
                  </a:ext>
                </a:extLst>
              </a:tr>
              <a:tr h="278130">
                <a:tc>
                  <a:txBody>
                    <a:bodyPr/>
                    <a:lstStyle/>
                    <a:p>
                      <a:pPr algn="ctr" rtl="1"/>
                      <a:r>
                        <a:rPr lang="en-US" sz="1600" dirty="0"/>
                        <a:t>2</a:t>
                      </a:r>
                      <a:endParaRPr lang="he-IL" sz="1600" dirty="0"/>
                    </a:p>
                  </a:txBody>
                  <a:tcPr marL="68580" marR="68580" marT="34290" marB="34290"/>
                </a:tc>
                <a:tc>
                  <a:txBody>
                    <a:bodyPr/>
                    <a:lstStyle/>
                    <a:p>
                      <a:pPr algn="ctr" rtl="1"/>
                      <a:r>
                        <a:rPr lang="en-US" sz="1600" dirty="0"/>
                        <a:t>7</a:t>
                      </a:r>
                      <a:endParaRPr lang="he-IL" sz="1600" dirty="0"/>
                    </a:p>
                  </a:txBody>
                  <a:tcPr marL="68580" marR="68580" marT="34290" marB="34290"/>
                </a:tc>
                <a:tc>
                  <a:txBody>
                    <a:bodyPr/>
                    <a:lstStyle/>
                    <a:p>
                      <a:pPr algn="ctr" rtl="1"/>
                      <a:endParaRPr lang="he-IL" sz="1600" dirty="0"/>
                    </a:p>
                  </a:txBody>
                  <a:tcPr marL="68580" marR="68580" marT="34290" marB="34290"/>
                </a:tc>
                <a:tc>
                  <a:txBody>
                    <a:bodyPr/>
                    <a:lstStyle/>
                    <a:p>
                      <a:pPr algn="ctr" rtl="1"/>
                      <a:endParaRPr lang="he-IL" sz="1600" dirty="0"/>
                    </a:p>
                  </a:txBody>
                  <a:tcPr marL="68580" marR="68580" marT="34290" marB="34290"/>
                </a:tc>
                <a:extLst>
                  <a:ext uri="{0D108BD9-81ED-4DB2-BD59-A6C34878D82A}">
                    <a16:rowId xmlns:a16="http://schemas.microsoft.com/office/drawing/2014/main" val="10002"/>
                  </a:ext>
                </a:extLst>
              </a:tr>
              <a:tr h="278130">
                <a:tc>
                  <a:txBody>
                    <a:bodyPr/>
                    <a:lstStyle/>
                    <a:p>
                      <a:pPr algn="ctr" rtl="1"/>
                      <a:r>
                        <a:rPr lang="en-US" sz="1600" dirty="0"/>
                        <a:t>3</a:t>
                      </a:r>
                      <a:endParaRPr lang="he-IL" sz="1600" dirty="0"/>
                    </a:p>
                  </a:txBody>
                  <a:tcPr marL="68580" marR="68580" marT="34290" marB="34290"/>
                </a:tc>
                <a:tc>
                  <a:txBody>
                    <a:bodyPr/>
                    <a:lstStyle/>
                    <a:p>
                      <a:pPr algn="ctr" rtl="1"/>
                      <a:r>
                        <a:rPr lang="en-US" sz="1600" dirty="0"/>
                        <a:t>5</a:t>
                      </a:r>
                      <a:endParaRPr lang="he-IL" sz="1600" dirty="0"/>
                    </a:p>
                  </a:txBody>
                  <a:tcPr marL="68580" marR="68580" marT="34290" marB="34290"/>
                </a:tc>
                <a:tc>
                  <a:txBody>
                    <a:bodyPr/>
                    <a:lstStyle/>
                    <a:p>
                      <a:pPr algn="ctr" rtl="1"/>
                      <a:endParaRPr lang="he-IL" sz="1600" dirty="0"/>
                    </a:p>
                  </a:txBody>
                  <a:tcPr marL="68580" marR="68580" marT="34290" marB="34290"/>
                </a:tc>
                <a:tc>
                  <a:txBody>
                    <a:bodyPr/>
                    <a:lstStyle/>
                    <a:p>
                      <a:pPr algn="ctr" rtl="1"/>
                      <a:endParaRPr lang="he-IL" sz="1600" dirty="0"/>
                    </a:p>
                  </a:txBody>
                  <a:tcPr marL="68580" marR="68580" marT="34290" marB="34290"/>
                </a:tc>
                <a:extLst>
                  <a:ext uri="{0D108BD9-81ED-4DB2-BD59-A6C34878D82A}">
                    <a16:rowId xmlns:a16="http://schemas.microsoft.com/office/drawing/2014/main" val="10003"/>
                  </a:ext>
                </a:extLst>
              </a:tr>
              <a:tr h="278130">
                <a:tc>
                  <a:txBody>
                    <a:bodyPr/>
                    <a:lstStyle/>
                    <a:p>
                      <a:pPr algn="ctr" rtl="1"/>
                      <a:r>
                        <a:rPr lang="en-US" sz="1600" dirty="0"/>
                        <a:t>4</a:t>
                      </a:r>
                      <a:endParaRPr lang="he-IL" sz="1600" dirty="0"/>
                    </a:p>
                  </a:txBody>
                  <a:tcPr marL="68580" marR="68580" marT="34290" marB="34290"/>
                </a:tc>
                <a:tc>
                  <a:txBody>
                    <a:bodyPr/>
                    <a:lstStyle/>
                    <a:p>
                      <a:pPr algn="ctr" rtl="1"/>
                      <a:r>
                        <a:rPr lang="en-US" sz="1600" dirty="0"/>
                        <a:t>6</a:t>
                      </a:r>
                      <a:endParaRPr lang="he-IL" sz="1600" dirty="0"/>
                    </a:p>
                  </a:txBody>
                  <a:tcPr marL="68580" marR="68580" marT="34290" marB="34290"/>
                </a:tc>
                <a:tc>
                  <a:txBody>
                    <a:bodyPr/>
                    <a:lstStyle/>
                    <a:p>
                      <a:pPr algn="ctr" rtl="1"/>
                      <a:endParaRPr lang="he-IL" sz="1600" dirty="0"/>
                    </a:p>
                  </a:txBody>
                  <a:tcPr marL="68580" marR="68580" marT="34290" marB="34290"/>
                </a:tc>
                <a:tc>
                  <a:txBody>
                    <a:bodyPr/>
                    <a:lstStyle/>
                    <a:p>
                      <a:pPr algn="ctr" rtl="1"/>
                      <a:endParaRPr lang="he-IL" sz="1600"/>
                    </a:p>
                  </a:txBody>
                  <a:tcPr marL="68580" marR="68580" marT="34290" marB="34290"/>
                </a:tc>
                <a:extLst>
                  <a:ext uri="{0D108BD9-81ED-4DB2-BD59-A6C34878D82A}">
                    <a16:rowId xmlns:a16="http://schemas.microsoft.com/office/drawing/2014/main" val="10004"/>
                  </a:ext>
                </a:extLst>
              </a:tr>
              <a:tr h="278130">
                <a:tc>
                  <a:txBody>
                    <a:bodyPr/>
                    <a:lstStyle/>
                    <a:p>
                      <a:pPr algn="ctr" rtl="1"/>
                      <a:r>
                        <a:rPr lang="en-US" sz="1600" dirty="0"/>
                        <a:t>5</a:t>
                      </a:r>
                      <a:endParaRPr lang="he-IL" sz="1600" dirty="0"/>
                    </a:p>
                  </a:txBody>
                  <a:tcPr marL="68580" marR="68580" marT="34290" marB="34290"/>
                </a:tc>
                <a:tc>
                  <a:txBody>
                    <a:bodyPr/>
                    <a:lstStyle/>
                    <a:p>
                      <a:pPr algn="ctr" rtl="1"/>
                      <a:r>
                        <a:rPr lang="en-US" sz="1600" dirty="0"/>
                        <a:t>7</a:t>
                      </a:r>
                      <a:endParaRPr lang="he-IL" sz="1600" dirty="0"/>
                    </a:p>
                  </a:txBody>
                  <a:tcPr marL="68580" marR="68580" marT="34290" marB="34290"/>
                </a:tc>
                <a:tc>
                  <a:txBody>
                    <a:bodyPr/>
                    <a:lstStyle/>
                    <a:p>
                      <a:pPr algn="ctr" rtl="1"/>
                      <a:endParaRPr lang="he-IL" sz="1600" dirty="0"/>
                    </a:p>
                  </a:txBody>
                  <a:tcPr marL="68580" marR="68580" marT="34290" marB="34290"/>
                </a:tc>
                <a:tc>
                  <a:txBody>
                    <a:bodyPr/>
                    <a:lstStyle/>
                    <a:p>
                      <a:pPr algn="ctr" rtl="1"/>
                      <a:endParaRPr lang="he-IL" sz="1600" dirty="0"/>
                    </a:p>
                  </a:txBody>
                  <a:tcPr marL="68580" marR="68580" marT="34290" marB="34290"/>
                </a:tc>
                <a:extLst>
                  <a:ext uri="{0D108BD9-81ED-4DB2-BD59-A6C34878D82A}">
                    <a16:rowId xmlns:a16="http://schemas.microsoft.com/office/drawing/2014/main" val="10005"/>
                  </a:ext>
                </a:extLst>
              </a:tr>
              <a:tr h="278130">
                <a:tc>
                  <a:txBody>
                    <a:bodyPr/>
                    <a:lstStyle/>
                    <a:p>
                      <a:pPr algn="ctr" rtl="1"/>
                      <a:r>
                        <a:rPr lang="en-US" sz="1600" dirty="0"/>
                        <a:t>6</a:t>
                      </a:r>
                      <a:endParaRPr lang="he-IL" sz="1600" dirty="0"/>
                    </a:p>
                  </a:txBody>
                  <a:tcPr marL="68580" marR="68580" marT="34290" marB="34290"/>
                </a:tc>
                <a:tc>
                  <a:txBody>
                    <a:bodyPr/>
                    <a:lstStyle/>
                    <a:p>
                      <a:pPr algn="ctr" rtl="1"/>
                      <a:r>
                        <a:rPr lang="en-US" sz="1600" dirty="0"/>
                        <a:t>8</a:t>
                      </a:r>
                      <a:endParaRPr lang="he-IL" sz="1600" dirty="0"/>
                    </a:p>
                  </a:txBody>
                  <a:tcPr marL="68580" marR="68580" marT="34290" marB="34290"/>
                </a:tc>
                <a:tc>
                  <a:txBody>
                    <a:bodyPr/>
                    <a:lstStyle/>
                    <a:p>
                      <a:pPr algn="ctr" rtl="1"/>
                      <a:endParaRPr lang="he-IL" sz="1600"/>
                    </a:p>
                  </a:txBody>
                  <a:tcPr marL="68580" marR="68580" marT="34290" marB="34290"/>
                </a:tc>
                <a:tc>
                  <a:txBody>
                    <a:bodyPr/>
                    <a:lstStyle/>
                    <a:p>
                      <a:pPr algn="ctr" rtl="1"/>
                      <a:endParaRPr lang="he-IL" sz="1600" dirty="0"/>
                    </a:p>
                  </a:txBody>
                  <a:tcPr marL="68580" marR="68580" marT="34290" marB="34290"/>
                </a:tc>
                <a:extLst>
                  <a:ext uri="{0D108BD9-81ED-4DB2-BD59-A6C34878D82A}">
                    <a16:rowId xmlns:a16="http://schemas.microsoft.com/office/drawing/2014/main" val="10006"/>
                  </a:ext>
                </a:extLst>
              </a:tr>
              <a:tr h="278130">
                <a:tc>
                  <a:txBody>
                    <a:bodyPr/>
                    <a:lstStyle/>
                    <a:p>
                      <a:pPr algn="ctr" rtl="1"/>
                      <a:r>
                        <a:rPr lang="en-US" sz="1600" dirty="0"/>
                        <a:t>7</a:t>
                      </a:r>
                      <a:endParaRPr lang="he-IL" sz="1600" dirty="0"/>
                    </a:p>
                  </a:txBody>
                  <a:tcPr marL="68580" marR="68580" marT="34290" marB="34290"/>
                </a:tc>
                <a:tc>
                  <a:txBody>
                    <a:bodyPr/>
                    <a:lstStyle/>
                    <a:p>
                      <a:pPr algn="ctr" rtl="1"/>
                      <a:r>
                        <a:rPr lang="en-US" sz="1600" dirty="0"/>
                        <a:t>11</a:t>
                      </a:r>
                      <a:endParaRPr lang="he-IL" sz="1600" dirty="0"/>
                    </a:p>
                  </a:txBody>
                  <a:tcPr marL="68580" marR="68580" marT="34290" marB="34290"/>
                </a:tc>
                <a:tc>
                  <a:txBody>
                    <a:bodyPr/>
                    <a:lstStyle/>
                    <a:p>
                      <a:pPr algn="ctr" rtl="1"/>
                      <a:endParaRPr lang="he-IL" sz="1600"/>
                    </a:p>
                  </a:txBody>
                  <a:tcPr marL="68580" marR="68580" marT="34290" marB="34290"/>
                </a:tc>
                <a:tc>
                  <a:txBody>
                    <a:bodyPr/>
                    <a:lstStyle/>
                    <a:p>
                      <a:pPr algn="ctr" rtl="1"/>
                      <a:endParaRPr lang="he-IL" sz="1600" dirty="0"/>
                    </a:p>
                  </a:txBody>
                  <a:tcPr marL="68580" marR="68580" marT="34290" marB="34290"/>
                </a:tc>
                <a:extLst>
                  <a:ext uri="{0D108BD9-81ED-4DB2-BD59-A6C34878D82A}">
                    <a16:rowId xmlns:a16="http://schemas.microsoft.com/office/drawing/2014/main" val="10007"/>
                  </a:ext>
                </a:extLst>
              </a:tr>
              <a:tr h="278130">
                <a:tc>
                  <a:txBody>
                    <a:bodyPr/>
                    <a:lstStyle/>
                    <a:p>
                      <a:pPr algn="ctr" rtl="1"/>
                      <a:r>
                        <a:rPr lang="en-US" sz="1600" dirty="0"/>
                        <a:t>8</a:t>
                      </a:r>
                      <a:endParaRPr lang="he-IL" sz="1600" dirty="0"/>
                    </a:p>
                  </a:txBody>
                  <a:tcPr marL="68580" marR="68580" marT="34290" marB="34290"/>
                </a:tc>
                <a:tc>
                  <a:txBody>
                    <a:bodyPr/>
                    <a:lstStyle/>
                    <a:p>
                      <a:pPr algn="ctr" rtl="1"/>
                      <a:r>
                        <a:rPr lang="en-US" sz="1600" dirty="0"/>
                        <a:t>15</a:t>
                      </a:r>
                      <a:endParaRPr lang="he-IL" sz="1600" dirty="0"/>
                    </a:p>
                  </a:txBody>
                  <a:tcPr marL="68580" marR="68580" marT="34290" marB="34290"/>
                </a:tc>
                <a:tc>
                  <a:txBody>
                    <a:bodyPr/>
                    <a:lstStyle/>
                    <a:p>
                      <a:pPr algn="ctr" rtl="1"/>
                      <a:endParaRPr lang="he-IL" sz="1600"/>
                    </a:p>
                  </a:txBody>
                  <a:tcPr marL="68580" marR="68580" marT="34290" marB="34290"/>
                </a:tc>
                <a:tc>
                  <a:txBody>
                    <a:bodyPr/>
                    <a:lstStyle/>
                    <a:p>
                      <a:pPr algn="ctr" rtl="1"/>
                      <a:endParaRPr lang="he-IL" sz="1600" dirty="0"/>
                    </a:p>
                  </a:txBody>
                  <a:tcPr marL="68580" marR="68580" marT="34290" marB="34290"/>
                </a:tc>
                <a:extLst>
                  <a:ext uri="{0D108BD9-81ED-4DB2-BD59-A6C34878D82A}">
                    <a16:rowId xmlns:a16="http://schemas.microsoft.com/office/drawing/2014/main" val="10008"/>
                  </a:ext>
                </a:extLst>
              </a:tr>
            </a:tbl>
          </a:graphicData>
        </a:graphic>
      </p:graphicFrame>
      <p:sp>
        <p:nvSpPr>
          <p:cNvPr id="6" name="כותרת 1">
            <a:extLst>
              <a:ext uri="{FF2B5EF4-FFF2-40B4-BE49-F238E27FC236}">
                <a16:creationId xmlns:a16="http://schemas.microsoft.com/office/drawing/2014/main" id="{DF5C4841-2238-405D-BC20-320EC9181C53}"/>
              </a:ext>
            </a:extLst>
          </p:cNvPr>
          <p:cNvSpPr>
            <a:spLocks noGrp="1"/>
          </p:cNvSpPr>
          <p:nvPr>
            <p:ph type="title"/>
          </p:nvPr>
        </p:nvSpPr>
        <p:spPr>
          <a:xfrm>
            <a:off x="10192752" y="232363"/>
            <a:ext cx="1835696" cy="977255"/>
          </a:xfrm>
        </p:spPr>
        <p:txBody>
          <a:bodyPr>
            <a:normAutofit/>
          </a:bodyPr>
          <a:lstStyle/>
          <a:p>
            <a:pPr algn="r"/>
            <a:r>
              <a:rPr lang="he-IL" b="1" dirty="0">
                <a:solidFill>
                  <a:schemeClr val="tx2">
                    <a:lumMod val="75000"/>
                  </a:schemeClr>
                </a:solidFill>
              </a:rPr>
              <a:t>שאלה 2</a:t>
            </a:r>
          </a:p>
        </p:txBody>
      </p:sp>
      <p:sp>
        <p:nvSpPr>
          <p:cNvPr id="7" name="TextBox 6">
            <a:extLst>
              <a:ext uri="{FF2B5EF4-FFF2-40B4-BE49-F238E27FC236}">
                <a16:creationId xmlns:a16="http://schemas.microsoft.com/office/drawing/2014/main" id="{9ECAA11F-0E1D-472F-8135-7E03E67CACBE}"/>
              </a:ext>
            </a:extLst>
          </p:cNvPr>
          <p:cNvSpPr txBox="1"/>
          <p:nvPr/>
        </p:nvSpPr>
        <p:spPr>
          <a:xfrm>
            <a:off x="1631504" y="257144"/>
            <a:ext cx="6998918" cy="640368"/>
          </a:xfrm>
          <a:prstGeom prst="rect">
            <a:avLst/>
          </a:prstGeom>
          <a:noFill/>
        </p:spPr>
        <p:txBody>
          <a:bodyPr wrap="square">
            <a:spAutoFit/>
          </a:bodyPr>
          <a:lstStyle/>
          <a:p>
            <a:pPr algn="just">
              <a:lnSpc>
                <a:spcPct val="115000"/>
              </a:lnSpc>
              <a:spcAft>
                <a:spcPts val="1000"/>
              </a:spcAft>
            </a:pPr>
            <a:r>
              <a:rPr lang="he-IL" sz="1600" dirty="0">
                <a:latin typeface="Calibri" panose="020F0502020204030204" pitchFamily="34" charset="0"/>
                <a:ea typeface="Times New Roman" panose="02020603050405020304" pitchFamily="18" charset="0"/>
                <a:cs typeface="Arial" panose="020B0604020202020204" pitchFamily="34" charset="0"/>
              </a:rPr>
              <a:t>חלבן פועל בשוק תחרותי שבו מחיר השוק של קרטון חלב הוא 11 ש''ח, עלויות הייצור הקבועות (</a:t>
            </a:r>
            <a:r>
              <a:rPr lang="en-US" sz="1600" dirty="0">
                <a:latin typeface="Arial" panose="020B0604020202020204" pitchFamily="34" charset="0"/>
                <a:ea typeface="Times New Roman" panose="02020603050405020304" pitchFamily="18" charset="0"/>
                <a:cs typeface="Arial" panose="020B0604020202020204" pitchFamily="34" charset="0"/>
              </a:rPr>
              <a:t>FC</a:t>
            </a:r>
            <a:r>
              <a:rPr lang="he-IL" sz="1600" dirty="0">
                <a:latin typeface="Calibri" panose="020F0502020204030204" pitchFamily="34" charset="0"/>
                <a:ea typeface="Times New Roman" panose="02020603050405020304" pitchFamily="18" charset="0"/>
                <a:cs typeface="Arial" panose="020B0604020202020204" pitchFamily="34" charset="0"/>
              </a:rPr>
              <a:t>) של היצרן הן 50 ש''ח ועלויות הייצור המשתנות הממוצעות (</a:t>
            </a:r>
            <a:r>
              <a:rPr lang="en-US" sz="1600" dirty="0">
                <a:latin typeface="Arial" panose="020B0604020202020204" pitchFamily="34" charset="0"/>
                <a:ea typeface="Times New Roman" panose="02020603050405020304" pitchFamily="18" charset="0"/>
                <a:cs typeface="Arial" panose="020B0604020202020204" pitchFamily="34" charset="0"/>
              </a:rPr>
              <a:t>AVC</a:t>
            </a:r>
            <a:r>
              <a:rPr lang="he-IL" sz="1600" dirty="0">
                <a:latin typeface="Calibri" panose="020F0502020204030204" pitchFamily="34" charset="0"/>
                <a:ea typeface="Times New Roman" panose="02020603050405020304" pitchFamily="18" charset="0"/>
                <a:cs typeface="Arial" panose="020B0604020202020204" pitchFamily="34" charset="0"/>
              </a:rPr>
              <a:t>) הן:</a:t>
            </a:r>
            <a:endParaRPr lang="en-IL" sz="16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3619315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טבלה 3"/>
          <p:cNvGraphicFramePr>
            <a:graphicFrameLocks noGrp="1"/>
          </p:cNvGraphicFramePr>
          <p:nvPr>
            <p:extLst>
              <p:ext uri="{D42A27DB-BD31-4B8C-83A1-F6EECF244321}">
                <p14:modId xmlns:p14="http://schemas.microsoft.com/office/powerpoint/2010/main" val="488687914"/>
              </p:ext>
            </p:extLst>
          </p:nvPr>
        </p:nvGraphicFramePr>
        <p:xfrm>
          <a:off x="3863753" y="1121051"/>
          <a:ext cx="3227897" cy="2811780"/>
        </p:xfrm>
        <a:graphic>
          <a:graphicData uri="http://schemas.openxmlformats.org/drawingml/2006/table">
            <a:tbl>
              <a:tblPr rtl="1" firstRow="1" bandRow="1">
                <a:tableStyleId>{5C22544A-7EE6-4342-B048-85BDC9FD1C3A}</a:tableStyleId>
              </a:tblPr>
              <a:tblGrid>
                <a:gridCol w="541809">
                  <a:extLst>
                    <a:ext uri="{9D8B030D-6E8A-4147-A177-3AD203B41FA5}">
                      <a16:colId xmlns:a16="http://schemas.microsoft.com/office/drawing/2014/main" val="20000"/>
                    </a:ext>
                  </a:extLst>
                </a:gridCol>
                <a:gridCol w="617228">
                  <a:extLst>
                    <a:ext uri="{9D8B030D-6E8A-4147-A177-3AD203B41FA5}">
                      <a16:colId xmlns:a16="http://schemas.microsoft.com/office/drawing/2014/main" val="20001"/>
                    </a:ext>
                  </a:extLst>
                </a:gridCol>
                <a:gridCol w="1304181">
                  <a:extLst>
                    <a:ext uri="{9D8B030D-6E8A-4147-A177-3AD203B41FA5}">
                      <a16:colId xmlns:a16="http://schemas.microsoft.com/office/drawing/2014/main" val="20002"/>
                    </a:ext>
                  </a:extLst>
                </a:gridCol>
                <a:gridCol w="764679">
                  <a:extLst>
                    <a:ext uri="{9D8B030D-6E8A-4147-A177-3AD203B41FA5}">
                      <a16:colId xmlns:a16="http://schemas.microsoft.com/office/drawing/2014/main" val="20003"/>
                    </a:ext>
                  </a:extLst>
                </a:gridCol>
              </a:tblGrid>
              <a:tr h="278130">
                <a:tc>
                  <a:txBody>
                    <a:bodyPr/>
                    <a:lstStyle/>
                    <a:p>
                      <a:pPr algn="ctr" rtl="1"/>
                      <a:r>
                        <a:rPr lang="en-US" sz="1600" dirty="0">
                          <a:solidFill>
                            <a:schemeClr val="tx1"/>
                          </a:solidFill>
                        </a:rPr>
                        <a:t>Q</a:t>
                      </a:r>
                      <a:endParaRPr lang="he-IL" sz="1600" dirty="0">
                        <a:solidFill>
                          <a:schemeClr val="tx1"/>
                        </a:solidFill>
                      </a:endParaRPr>
                    </a:p>
                  </a:txBody>
                  <a:tcPr marL="68580" marR="68580" marT="34290" marB="34290">
                    <a:solidFill>
                      <a:schemeClr val="accent2">
                        <a:lumMod val="20000"/>
                        <a:lumOff val="80000"/>
                      </a:schemeClr>
                    </a:solidFill>
                  </a:tcPr>
                </a:tc>
                <a:tc>
                  <a:txBody>
                    <a:bodyPr/>
                    <a:lstStyle/>
                    <a:p>
                      <a:pPr algn="ctr" rtl="1"/>
                      <a:r>
                        <a:rPr lang="en-US" sz="1600" dirty="0">
                          <a:solidFill>
                            <a:schemeClr val="tx1"/>
                          </a:solidFill>
                        </a:rPr>
                        <a:t>AVC</a:t>
                      </a:r>
                      <a:endParaRPr lang="he-IL" sz="1600" dirty="0">
                        <a:solidFill>
                          <a:schemeClr val="tx1"/>
                        </a:solidFill>
                      </a:endParaRPr>
                    </a:p>
                  </a:txBody>
                  <a:tcPr marL="68580" marR="68580" marT="34290" marB="34290">
                    <a:solidFill>
                      <a:schemeClr val="accent2">
                        <a:lumMod val="20000"/>
                        <a:lumOff val="80000"/>
                      </a:schemeClr>
                    </a:solidFill>
                  </a:tcPr>
                </a:tc>
                <a:tc>
                  <a:txBody>
                    <a:bodyPr/>
                    <a:lstStyle/>
                    <a:p>
                      <a:pPr algn="ctr" rtl="1"/>
                      <a:r>
                        <a:rPr lang="en-US" sz="1600" dirty="0">
                          <a:solidFill>
                            <a:schemeClr val="tx1"/>
                          </a:solidFill>
                        </a:rPr>
                        <a:t>VC</a:t>
                      </a:r>
                      <a:endParaRPr lang="he-IL" sz="1600" dirty="0">
                        <a:solidFill>
                          <a:schemeClr val="tx1"/>
                        </a:solidFill>
                      </a:endParaRPr>
                    </a:p>
                  </a:txBody>
                  <a:tcPr marL="68580" marR="68580" marT="34290" marB="34290">
                    <a:solidFill>
                      <a:schemeClr val="accent2">
                        <a:lumMod val="20000"/>
                        <a:lumOff val="80000"/>
                      </a:schemeClr>
                    </a:solidFill>
                  </a:tcPr>
                </a:tc>
                <a:tc>
                  <a:txBody>
                    <a:bodyPr/>
                    <a:lstStyle/>
                    <a:p>
                      <a:pPr algn="ctr" rtl="1"/>
                      <a:r>
                        <a:rPr lang="en-US" sz="1600" b="1" dirty="0">
                          <a:solidFill>
                            <a:schemeClr val="accent6">
                              <a:lumMod val="50000"/>
                            </a:schemeClr>
                          </a:solidFill>
                        </a:rPr>
                        <a:t>MC</a:t>
                      </a:r>
                      <a:endParaRPr lang="he-IL" sz="1600" b="1" dirty="0">
                        <a:solidFill>
                          <a:schemeClr val="accent6">
                            <a:lumMod val="50000"/>
                          </a:schemeClr>
                        </a:solidFill>
                      </a:endParaRPr>
                    </a:p>
                  </a:txBody>
                  <a:tcPr marL="68580" marR="68580" marT="34290" marB="34290">
                    <a:solidFill>
                      <a:schemeClr val="accent2">
                        <a:lumMod val="20000"/>
                        <a:lumOff val="80000"/>
                      </a:schemeClr>
                    </a:solidFill>
                  </a:tcPr>
                </a:tc>
                <a:extLst>
                  <a:ext uri="{0D108BD9-81ED-4DB2-BD59-A6C34878D82A}">
                    <a16:rowId xmlns:a16="http://schemas.microsoft.com/office/drawing/2014/main" val="10000"/>
                  </a:ext>
                </a:extLst>
              </a:tr>
              <a:tr h="297180">
                <a:tc>
                  <a:txBody>
                    <a:bodyPr/>
                    <a:lstStyle/>
                    <a:p>
                      <a:pPr algn="ctr" rtl="1"/>
                      <a:r>
                        <a:rPr lang="en-US" sz="1600" dirty="0"/>
                        <a:t>1</a:t>
                      </a:r>
                      <a:endParaRPr lang="he-IL" sz="1600" dirty="0"/>
                    </a:p>
                  </a:txBody>
                  <a:tcPr marL="68580" marR="68580" marT="34290" marB="34290"/>
                </a:tc>
                <a:tc>
                  <a:txBody>
                    <a:bodyPr/>
                    <a:lstStyle/>
                    <a:p>
                      <a:pPr algn="ctr" rtl="1"/>
                      <a:r>
                        <a:rPr lang="en-US" sz="1600" dirty="0"/>
                        <a:t>10</a:t>
                      </a:r>
                      <a:endParaRPr lang="he-IL" sz="1600" dirty="0"/>
                    </a:p>
                  </a:txBody>
                  <a:tcPr marL="68580" marR="68580" marT="34290" marB="34290"/>
                </a:tc>
                <a:tc>
                  <a:txBody>
                    <a:bodyPr/>
                    <a:lstStyle/>
                    <a:p>
                      <a:pPr algn="ctr" rtl="1"/>
                      <a:endParaRPr lang="he-IL" sz="1600" b="0" dirty="0"/>
                    </a:p>
                  </a:txBody>
                  <a:tcPr marL="68580" marR="68580" marT="34290" marB="34290"/>
                </a:tc>
                <a:tc>
                  <a:txBody>
                    <a:bodyPr/>
                    <a:lstStyle/>
                    <a:p>
                      <a:pPr algn="ctr" rtl="1"/>
                      <a:r>
                        <a:rPr lang="he-IL" sz="1600" b="1" dirty="0">
                          <a:solidFill>
                            <a:schemeClr val="accent6">
                              <a:lumMod val="50000"/>
                            </a:schemeClr>
                          </a:solidFill>
                          <a:latin typeface="Arial" pitchFamily="34" charset="0"/>
                          <a:cs typeface="Arial" pitchFamily="34" charset="0"/>
                        </a:rPr>
                        <a:t>10</a:t>
                      </a:r>
                    </a:p>
                  </a:txBody>
                  <a:tcPr marL="68580" marR="68580" marT="34290" marB="34290"/>
                </a:tc>
                <a:extLst>
                  <a:ext uri="{0D108BD9-81ED-4DB2-BD59-A6C34878D82A}">
                    <a16:rowId xmlns:a16="http://schemas.microsoft.com/office/drawing/2014/main" val="10001"/>
                  </a:ext>
                </a:extLst>
              </a:tr>
              <a:tr h="297180">
                <a:tc>
                  <a:txBody>
                    <a:bodyPr/>
                    <a:lstStyle/>
                    <a:p>
                      <a:pPr algn="ctr" rtl="1"/>
                      <a:r>
                        <a:rPr lang="en-US" sz="1600" dirty="0"/>
                        <a:t>2</a:t>
                      </a:r>
                      <a:endParaRPr lang="he-IL" sz="1600" dirty="0"/>
                    </a:p>
                  </a:txBody>
                  <a:tcPr marL="68580" marR="68580" marT="34290" marB="34290"/>
                </a:tc>
                <a:tc>
                  <a:txBody>
                    <a:bodyPr/>
                    <a:lstStyle/>
                    <a:p>
                      <a:pPr algn="ctr" rtl="1"/>
                      <a:r>
                        <a:rPr lang="en-US" sz="1600" dirty="0"/>
                        <a:t>7</a:t>
                      </a:r>
                      <a:endParaRPr lang="he-IL" sz="1600" dirty="0"/>
                    </a:p>
                  </a:txBody>
                  <a:tcPr marL="68580" marR="68580" marT="34290" marB="34290"/>
                </a:tc>
                <a:tc>
                  <a:txBody>
                    <a:bodyPr/>
                    <a:lstStyle/>
                    <a:p>
                      <a:pPr algn="ctr" rtl="1"/>
                      <a:endParaRPr lang="he-IL" sz="1600" dirty="0"/>
                    </a:p>
                  </a:txBody>
                  <a:tcPr marL="68580" marR="68580" marT="34290" marB="34290"/>
                </a:tc>
                <a:tc>
                  <a:txBody>
                    <a:bodyPr/>
                    <a:lstStyle/>
                    <a:p>
                      <a:pPr algn="ctr" rtl="1"/>
                      <a:r>
                        <a:rPr lang="en-US" sz="1600" b="1" dirty="0">
                          <a:solidFill>
                            <a:schemeClr val="accent6">
                              <a:lumMod val="50000"/>
                            </a:schemeClr>
                          </a:solidFill>
                          <a:latin typeface="Arial" pitchFamily="34" charset="0"/>
                          <a:cs typeface="Arial" pitchFamily="34" charset="0"/>
                        </a:rPr>
                        <a:t>4</a:t>
                      </a:r>
                      <a:endParaRPr lang="he-IL" sz="1600" b="1" dirty="0">
                        <a:solidFill>
                          <a:schemeClr val="accent6">
                            <a:lumMod val="50000"/>
                          </a:schemeClr>
                        </a:solidFill>
                        <a:latin typeface="Arial" pitchFamily="34" charset="0"/>
                        <a:cs typeface="Arial" pitchFamily="34" charset="0"/>
                      </a:endParaRPr>
                    </a:p>
                  </a:txBody>
                  <a:tcPr marL="68580" marR="68580" marT="34290" marB="34290"/>
                </a:tc>
                <a:extLst>
                  <a:ext uri="{0D108BD9-81ED-4DB2-BD59-A6C34878D82A}">
                    <a16:rowId xmlns:a16="http://schemas.microsoft.com/office/drawing/2014/main" val="10002"/>
                  </a:ext>
                </a:extLst>
              </a:tr>
              <a:tr h="297180">
                <a:tc>
                  <a:txBody>
                    <a:bodyPr/>
                    <a:lstStyle/>
                    <a:p>
                      <a:pPr algn="ctr" rtl="1"/>
                      <a:r>
                        <a:rPr lang="en-US" sz="1600" dirty="0"/>
                        <a:t>3</a:t>
                      </a:r>
                      <a:endParaRPr lang="he-IL" sz="1600" dirty="0"/>
                    </a:p>
                  </a:txBody>
                  <a:tcPr marL="68580" marR="68580" marT="34290" marB="34290"/>
                </a:tc>
                <a:tc>
                  <a:txBody>
                    <a:bodyPr/>
                    <a:lstStyle/>
                    <a:p>
                      <a:pPr algn="ctr" rtl="1"/>
                      <a:r>
                        <a:rPr lang="en-US" sz="1600" dirty="0"/>
                        <a:t>5</a:t>
                      </a:r>
                      <a:endParaRPr lang="he-IL" sz="1600" dirty="0"/>
                    </a:p>
                  </a:txBody>
                  <a:tcPr marL="68580" marR="68580" marT="34290" marB="34290"/>
                </a:tc>
                <a:tc>
                  <a:txBody>
                    <a:bodyPr/>
                    <a:lstStyle/>
                    <a:p>
                      <a:pPr algn="ctr" rtl="1"/>
                      <a:endParaRPr lang="he-IL" sz="1600" dirty="0"/>
                    </a:p>
                  </a:txBody>
                  <a:tcPr marL="68580" marR="68580" marT="34290" marB="34290"/>
                </a:tc>
                <a:tc>
                  <a:txBody>
                    <a:bodyPr/>
                    <a:lstStyle/>
                    <a:p>
                      <a:pPr algn="ctr" rtl="1"/>
                      <a:r>
                        <a:rPr lang="en-US" sz="1600" b="1" dirty="0">
                          <a:solidFill>
                            <a:schemeClr val="accent6">
                              <a:lumMod val="50000"/>
                            </a:schemeClr>
                          </a:solidFill>
                          <a:latin typeface="Arial" pitchFamily="34" charset="0"/>
                          <a:cs typeface="Arial" pitchFamily="34" charset="0"/>
                        </a:rPr>
                        <a:t>1</a:t>
                      </a:r>
                      <a:endParaRPr lang="he-IL" sz="1600" b="1" dirty="0">
                        <a:solidFill>
                          <a:schemeClr val="accent6">
                            <a:lumMod val="50000"/>
                          </a:schemeClr>
                        </a:solidFill>
                        <a:latin typeface="Arial" pitchFamily="34" charset="0"/>
                        <a:cs typeface="Arial" pitchFamily="34" charset="0"/>
                      </a:endParaRPr>
                    </a:p>
                  </a:txBody>
                  <a:tcPr marL="68580" marR="68580" marT="34290" marB="34290"/>
                </a:tc>
                <a:extLst>
                  <a:ext uri="{0D108BD9-81ED-4DB2-BD59-A6C34878D82A}">
                    <a16:rowId xmlns:a16="http://schemas.microsoft.com/office/drawing/2014/main" val="10003"/>
                  </a:ext>
                </a:extLst>
              </a:tr>
              <a:tr h="297180">
                <a:tc>
                  <a:txBody>
                    <a:bodyPr/>
                    <a:lstStyle/>
                    <a:p>
                      <a:pPr algn="ctr" rtl="1"/>
                      <a:r>
                        <a:rPr lang="en-US" sz="1600" dirty="0"/>
                        <a:t>4</a:t>
                      </a:r>
                      <a:endParaRPr lang="he-IL" sz="1600" dirty="0"/>
                    </a:p>
                  </a:txBody>
                  <a:tcPr marL="68580" marR="68580" marT="34290" marB="34290"/>
                </a:tc>
                <a:tc>
                  <a:txBody>
                    <a:bodyPr/>
                    <a:lstStyle/>
                    <a:p>
                      <a:pPr algn="ctr" rtl="1"/>
                      <a:r>
                        <a:rPr lang="en-US" sz="1600" dirty="0"/>
                        <a:t>6</a:t>
                      </a:r>
                      <a:endParaRPr lang="he-IL" sz="1600" dirty="0"/>
                    </a:p>
                  </a:txBody>
                  <a:tcPr marL="68580" marR="68580" marT="34290" marB="34290"/>
                </a:tc>
                <a:tc>
                  <a:txBody>
                    <a:bodyPr/>
                    <a:lstStyle/>
                    <a:p>
                      <a:pPr algn="ctr" rtl="1"/>
                      <a:endParaRPr lang="he-IL" sz="1600" dirty="0"/>
                    </a:p>
                  </a:txBody>
                  <a:tcPr marL="68580" marR="68580" marT="34290" marB="34290"/>
                </a:tc>
                <a:tc>
                  <a:txBody>
                    <a:bodyPr/>
                    <a:lstStyle/>
                    <a:p>
                      <a:pPr algn="ctr" rtl="1"/>
                      <a:r>
                        <a:rPr lang="en-US" sz="1600" b="1" i="0" dirty="0">
                          <a:solidFill>
                            <a:schemeClr val="accent6">
                              <a:lumMod val="50000"/>
                            </a:schemeClr>
                          </a:solidFill>
                          <a:latin typeface="Arial" pitchFamily="34" charset="0"/>
                          <a:cs typeface="Arial" pitchFamily="34" charset="0"/>
                        </a:rPr>
                        <a:t>9</a:t>
                      </a:r>
                      <a:endParaRPr lang="he-IL" sz="1600" b="1" i="0" dirty="0">
                        <a:solidFill>
                          <a:schemeClr val="accent6">
                            <a:lumMod val="50000"/>
                          </a:schemeClr>
                        </a:solidFill>
                        <a:latin typeface="Arial" pitchFamily="34" charset="0"/>
                        <a:cs typeface="Arial" pitchFamily="34" charset="0"/>
                      </a:endParaRPr>
                    </a:p>
                  </a:txBody>
                  <a:tcPr marL="68580" marR="68580" marT="34290" marB="34290"/>
                </a:tc>
                <a:extLst>
                  <a:ext uri="{0D108BD9-81ED-4DB2-BD59-A6C34878D82A}">
                    <a16:rowId xmlns:a16="http://schemas.microsoft.com/office/drawing/2014/main" val="10004"/>
                  </a:ext>
                </a:extLst>
              </a:tr>
              <a:tr h="297180">
                <a:tc>
                  <a:txBody>
                    <a:bodyPr/>
                    <a:lstStyle/>
                    <a:p>
                      <a:pPr algn="ctr" rtl="1"/>
                      <a:r>
                        <a:rPr lang="en-US" sz="1600" dirty="0"/>
                        <a:t>5</a:t>
                      </a:r>
                      <a:endParaRPr lang="he-IL" sz="1600" dirty="0"/>
                    </a:p>
                  </a:txBody>
                  <a:tcPr marL="68580" marR="68580" marT="34290" marB="34290"/>
                </a:tc>
                <a:tc>
                  <a:txBody>
                    <a:bodyPr/>
                    <a:lstStyle/>
                    <a:p>
                      <a:pPr algn="ctr" rtl="1"/>
                      <a:r>
                        <a:rPr lang="en-US" sz="1600" dirty="0"/>
                        <a:t>7</a:t>
                      </a:r>
                      <a:endParaRPr lang="he-IL" sz="1600" dirty="0"/>
                    </a:p>
                  </a:txBody>
                  <a:tcPr marL="68580" marR="68580" marT="34290" marB="34290"/>
                </a:tc>
                <a:tc>
                  <a:txBody>
                    <a:bodyPr/>
                    <a:lstStyle/>
                    <a:p>
                      <a:pPr algn="ctr" rtl="1"/>
                      <a:r>
                        <a:rPr lang="he-IL" sz="1600" dirty="0"/>
                        <a:t>35</a:t>
                      </a:r>
                    </a:p>
                  </a:txBody>
                  <a:tcPr marL="68580" marR="68580" marT="34290" marB="34290"/>
                </a:tc>
                <a:tc>
                  <a:txBody>
                    <a:bodyPr/>
                    <a:lstStyle/>
                    <a:p>
                      <a:pPr algn="ctr" rtl="1"/>
                      <a:r>
                        <a:rPr lang="en-US" sz="1600" b="1" dirty="0">
                          <a:solidFill>
                            <a:schemeClr val="accent6">
                              <a:lumMod val="50000"/>
                            </a:schemeClr>
                          </a:solidFill>
                          <a:latin typeface="Arial" pitchFamily="34" charset="0"/>
                          <a:cs typeface="Arial" pitchFamily="34" charset="0"/>
                        </a:rPr>
                        <a:t>11</a:t>
                      </a:r>
                      <a:endParaRPr lang="he-IL" sz="1600" b="1" dirty="0">
                        <a:solidFill>
                          <a:schemeClr val="accent6">
                            <a:lumMod val="50000"/>
                          </a:schemeClr>
                        </a:solidFill>
                        <a:latin typeface="Arial" pitchFamily="34" charset="0"/>
                        <a:cs typeface="Arial" pitchFamily="34" charset="0"/>
                      </a:endParaRPr>
                    </a:p>
                  </a:txBody>
                  <a:tcPr marL="68580" marR="68580" marT="34290" marB="34290"/>
                </a:tc>
                <a:extLst>
                  <a:ext uri="{0D108BD9-81ED-4DB2-BD59-A6C34878D82A}">
                    <a16:rowId xmlns:a16="http://schemas.microsoft.com/office/drawing/2014/main" val="10005"/>
                  </a:ext>
                </a:extLst>
              </a:tr>
              <a:tr h="297180">
                <a:tc>
                  <a:txBody>
                    <a:bodyPr/>
                    <a:lstStyle/>
                    <a:p>
                      <a:pPr algn="ctr" rtl="1"/>
                      <a:r>
                        <a:rPr lang="en-US" sz="1600" dirty="0"/>
                        <a:t>6</a:t>
                      </a:r>
                      <a:endParaRPr lang="he-IL" sz="1600" dirty="0"/>
                    </a:p>
                  </a:txBody>
                  <a:tcPr marL="68580" marR="68580" marT="34290" marB="34290"/>
                </a:tc>
                <a:tc>
                  <a:txBody>
                    <a:bodyPr/>
                    <a:lstStyle/>
                    <a:p>
                      <a:pPr algn="ctr" rtl="1"/>
                      <a:r>
                        <a:rPr lang="en-US" sz="1600" dirty="0"/>
                        <a:t>8</a:t>
                      </a:r>
                      <a:endParaRPr lang="he-IL" sz="1600" dirty="0"/>
                    </a:p>
                  </a:txBody>
                  <a:tcPr marL="68580" marR="68580" marT="34290" marB="34290"/>
                </a:tc>
                <a:tc>
                  <a:txBody>
                    <a:bodyPr/>
                    <a:lstStyle/>
                    <a:p>
                      <a:pPr algn="ctr" rtl="1"/>
                      <a:r>
                        <a:rPr lang="he-IL" sz="1600" dirty="0"/>
                        <a:t>48</a:t>
                      </a:r>
                    </a:p>
                  </a:txBody>
                  <a:tcPr marL="68580" marR="68580" marT="34290" marB="34290"/>
                </a:tc>
                <a:tc>
                  <a:txBody>
                    <a:bodyPr/>
                    <a:lstStyle/>
                    <a:p>
                      <a:pPr algn="ctr" rtl="1"/>
                      <a:r>
                        <a:rPr lang="en-US" sz="1600" b="1" dirty="0">
                          <a:solidFill>
                            <a:schemeClr val="accent6">
                              <a:lumMod val="50000"/>
                            </a:schemeClr>
                          </a:solidFill>
                          <a:latin typeface="Arial" pitchFamily="34" charset="0"/>
                          <a:cs typeface="Arial" pitchFamily="34" charset="0"/>
                        </a:rPr>
                        <a:t>13</a:t>
                      </a:r>
                      <a:endParaRPr lang="he-IL" sz="1600" b="1" dirty="0">
                        <a:solidFill>
                          <a:schemeClr val="accent6">
                            <a:lumMod val="50000"/>
                          </a:schemeClr>
                        </a:solidFill>
                        <a:latin typeface="Arial" pitchFamily="34" charset="0"/>
                        <a:cs typeface="Arial" pitchFamily="34" charset="0"/>
                      </a:endParaRPr>
                    </a:p>
                  </a:txBody>
                  <a:tcPr marL="68580" marR="68580" marT="34290" marB="34290"/>
                </a:tc>
                <a:extLst>
                  <a:ext uri="{0D108BD9-81ED-4DB2-BD59-A6C34878D82A}">
                    <a16:rowId xmlns:a16="http://schemas.microsoft.com/office/drawing/2014/main" val="10006"/>
                  </a:ext>
                </a:extLst>
              </a:tr>
              <a:tr h="297180">
                <a:tc>
                  <a:txBody>
                    <a:bodyPr/>
                    <a:lstStyle/>
                    <a:p>
                      <a:pPr algn="ctr" rtl="1"/>
                      <a:r>
                        <a:rPr lang="en-US" sz="1600" dirty="0"/>
                        <a:t>7</a:t>
                      </a:r>
                      <a:endParaRPr lang="he-IL" sz="1600" dirty="0"/>
                    </a:p>
                  </a:txBody>
                  <a:tcPr marL="68580" marR="68580" marT="34290" marB="34290"/>
                </a:tc>
                <a:tc>
                  <a:txBody>
                    <a:bodyPr/>
                    <a:lstStyle/>
                    <a:p>
                      <a:pPr algn="ctr" rtl="1"/>
                      <a:r>
                        <a:rPr lang="en-US" sz="1600" dirty="0"/>
                        <a:t>11</a:t>
                      </a:r>
                      <a:endParaRPr lang="he-IL" sz="1600" dirty="0"/>
                    </a:p>
                  </a:txBody>
                  <a:tcPr marL="68580" marR="68580" marT="34290" marB="34290"/>
                </a:tc>
                <a:tc>
                  <a:txBody>
                    <a:bodyPr/>
                    <a:lstStyle/>
                    <a:p>
                      <a:pPr algn="ctr" rtl="1"/>
                      <a:r>
                        <a:rPr lang="he-IL" sz="1600" dirty="0"/>
                        <a:t>77</a:t>
                      </a:r>
                    </a:p>
                  </a:txBody>
                  <a:tcPr marL="68580" marR="68580" marT="34290" marB="34290"/>
                </a:tc>
                <a:tc>
                  <a:txBody>
                    <a:bodyPr/>
                    <a:lstStyle/>
                    <a:p>
                      <a:pPr algn="ctr" rtl="1"/>
                      <a:r>
                        <a:rPr lang="en-US" sz="1600" b="1" dirty="0">
                          <a:solidFill>
                            <a:schemeClr val="accent6">
                              <a:lumMod val="50000"/>
                            </a:schemeClr>
                          </a:solidFill>
                          <a:latin typeface="Arial" pitchFamily="34" charset="0"/>
                          <a:cs typeface="Arial" pitchFamily="34" charset="0"/>
                        </a:rPr>
                        <a:t>29</a:t>
                      </a:r>
                      <a:endParaRPr lang="he-IL" sz="1600" b="1" dirty="0">
                        <a:solidFill>
                          <a:schemeClr val="accent6">
                            <a:lumMod val="50000"/>
                          </a:schemeClr>
                        </a:solidFill>
                        <a:latin typeface="Arial" pitchFamily="34" charset="0"/>
                        <a:cs typeface="Arial" pitchFamily="34" charset="0"/>
                      </a:endParaRPr>
                    </a:p>
                  </a:txBody>
                  <a:tcPr marL="68580" marR="68580" marT="34290" marB="34290"/>
                </a:tc>
                <a:extLst>
                  <a:ext uri="{0D108BD9-81ED-4DB2-BD59-A6C34878D82A}">
                    <a16:rowId xmlns:a16="http://schemas.microsoft.com/office/drawing/2014/main" val="10007"/>
                  </a:ext>
                </a:extLst>
              </a:tr>
              <a:tr h="297180">
                <a:tc>
                  <a:txBody>
                    <a:bodyPr/>
                    <a:lstStyle/>
                    <a:p>
                      <a:pPr algn="ctr" rtl="1"/>
                      <a:r>
                        <a:rPr lang="en-US" sz="1600" dirty="0"/>
                        <a:t>8</a:t>
                      </a:r>
                      <a:endParaRPr lang="he-IL" sz="1600" dirty="0"/>
                    </a:p>
                  </a:txBody>
                  <a:tcPr marL="68580" marR="68580" marT="34290" marB="34290"/>
                </a:tc>
                <a:tc>
                  <a:txBody>
                    <a:bodyPr/>
                    <a:lstStyle/>
                    <a:p>
                      <a:pPr algn="ctr" rtl="1"/>
                      <a:r>
                        <a:rPr lang="en-US" sz="1600" dirty="0"/>
                        <a:t>15</a:t>
                      </a:r>
                      <a:endParaRPr lang="he-IL" sz="1600" dirty="0"/>
                    </a:p>
                  </a:txBody>
                  <a:tcPr marL="68580" marR="68580" marT="34290" marB="34290"/>
                </a:tc>
                <a:tc>
                  <a:txBody>
                    <a:bodyPr/>
                    <a:lstStyle/>
                    <a:p>
                      <a:pPr algn="ctr" rtl="1"/>
                      <a:r>
                        <a:rPr lang="he-IL" sz="1600" dirty="0"/>
                        <a:t>120</a:t>
                      </a:r>
                    </a:p>
                  </a:txBody>
                  <a:tcPr marL="68580" marR="68580" marT="34290" marB="34290"/>
                </a:tc>
                <a:tc>
                  <a:txBody>
                    <a:bodyPr/>
                    <a:lstStyle/>
                    <a:p>
                      <a:pPr algn="ctr" rtl="1"/>
                      <a:r>
                        <a:rPr lang="en-US" sz="1600" b="1" dirty="0">
                          <a:solidFill>
                            <a:schemeClr val="accent6">
                              <a:lumMod val="50000"/>
                            </a:schemeClr>
                          </a:solidFill>
                          <a:latin typeface="Arial" pitchFamily="34" charset="0"/>
                          <a:cs typeface="Arial" pitchFamily="34" charset="0"/>
                        </a:rPr>
                        <a:t>43</a:t>
                      </a:r>
                      <a:endParaRPr lang="he-IL" sz="1600" b="1" dirty="0">
                        <a:solidFill>
                          <a:schemeClr val="accent6">
                            <a:lumMod val="50000"/>
                          </a:schemeClr>
                        </a:solidFill>
                        <a:latin typeface="Arial" pitchFamily="34" charset="0"/>
                        <a:cs typeface="Arial" pitchFamily="34" charset="0"/>
                      </a:endParaRPr>
                    </a:p>
                  </a:txBody>
                  <a:tcPr marL="68580" marR="68580" marT="34290" marB="34290"/>
                </a:tc>
                <a:extLst>
                  <a:ext uri="{0D108BD9-81ED-4DB2-BD59-A6C34878D82A}">
                    <a16:rowId xmlns:a16="http://schemas.microsoft.com/office/drawing/2014/main" val="10008"/>
                  </a:ext>
                </a:extLst>
              </a:tr>
            </a:tbl>
          </a:graphicData>
        </a:graphic>
      </p:graphicFrame>
      <mc:AlternateContent xmlns:mc="http://schemas.openxmlformats.org/markup-compatibility/2006" xmlns:a14="http://schemas.microsoft.com/office/drawing/2010/main">
        <mc:Choice Requires="a14">
          <p:sp>
            <p:nvSpPr>
              <p:cNvPr id="2" name="מלבן 1"/>
              <p:cNvSpPr/>
              <p:nvPr/>
            </p:nvSpPr>
            <p:spPr>
              <a:xfrm>
                <a:off x="4749976" y="1728703"/>
                <a:ext cx="966983" cy="300082"/>
              </a:xfrm>
              <a:prstGeom prst="rect">
                <a:avLst/>
              </a:prstGeom>
            </p:spPr>
            <p:txBody>
              <a:bodyPr wrap="square">
                <a:spAutoFit/>
              </a:bodyPr>
              <a:lstStyle/>
              <a:p>
                <a:pPr algn="r" rtl="1"/>
                <a14:m>
                  <m:oMathPara xmlns:m="http://schemas.openxmlformats.org/officeDocument/2006/math">
                    <m:oMathParaPr>
                      <m:jc m:val="centerGroup"/>
                    </m:oMathParaPr>
                    <m:oMath xmlns:m="http://schemas.openxmlformats.org/officeDocument/2006/math">
                      <m:r>
                        <a:rPr lang="he-IL" sz="1350">
                          <a:solidFill>
                            <a:prstClr val="black"/>
                          </a:solidFill>
                          <a:latin typeface="Cambria Math"/>
                        </a:rPr>
                        <m:t>7</m:t>
                      </m:r>
                      <m:r>
                        <a:rPr lang="he-IL" sz="1350">
                          <a:solidFill>
                            <a:prstClr val="black"/>
                          </a:solidFill>
                          <a:latin typeface="Cambria Math"/>
                        </a:rPr>
                        <m:t>⋅</m:t>
                      </m:r>
                      <m:r>
                        <a:rPr lang="he-IL" sz="1350">
                          <a:solidFill>
                            <a:prstClr val="black"/>
                          </a:solidFill>
                          <a:latin typeface="Cambria Math"/>
                        </a:rPr>
                        <m:t>2</m:t>
                      </m:r>
                      <m:r>
                        <a:rPr lang="he-IL" sz="1350">
                          <a:solidFill>
                            <a:prstClr val="black"/>
                          </a:solidFill>
                          <a:latin typeface="Cambria Math"/>
                        </a:rPr>
                        <m:t>=</m:t>
                      </m:r>
                      <m:r>
                        <a:rPr lang="he-IL" sz="1350">
                          <a:solidFill>
                            <a:prstClr val="black"/>
                          </a:solidFill>
                          <a:latin typeface="Cambria Math"/>
                        </a:rPr>
                        <m:t>14</m:t>
                      </m:r>
                    </m:oMath>
                  </m:oMathPara>
                </a14:m>
                <a:endParaRPr lang="he-IL" sz="1350" dirty="0">
                  <a:solidFill>
                    <a:prstClr val="black"/>
                  </a:solidFill>
                  <a:latin typeface="Calibri"/>
                  <a:cs typeface="Arial" panose="020B0604020202020204" pitchFamily="34" charset="0"/>
                </a:endParaRPr>
              </a:p>
            </p:txBody>
          </p:sp>
        </mc:Choice>
        <mc:Fallback xmlns="">
          <p:sp>
            <p:nvSpPr>
              <p:cNvPr id="2" name="מלבן 1"/>
              <p:cNvSpPr>
                <a:spLocks noRot="1" noChangeAspect="1" noMove="1" noResize="1" noEditPoints="1" noAdjustHandles="1" noChangeArrowheads="1" noChangeShapeType="1" noTextEdit="1"/>
              </p:cNvSpPr>
              <p:nvPr/>
            </p:nvSpPr>
            <p:spPr>
              <a:xfrm>
                <a:off x="4749976" y="1728703"/>
                <a:ext cx="966983" cy="300082"/>
              </a:xfrm>
              <a:prstGeom prst="rect">
                <a:avLst/>
              </a:prstGeom>
              <a:blipFill>
                <a:blip r:embed="rId2"/>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6" name="מלבן 5"/>
              <p:cNvSpPr/>
              <p:nvPr/>
            </p:nvSpPr>
            <p:spPr>
              <a:xfrm>
                <a:off x="4756445" y="2063398"/>
                <a:ext cx="966983" cy="300082"/>
              </a:xfrm>
              <a:prstGeom prst="rect">
                <a:avLst/>
              </a:prstGeom>
            </p:spPr>
            <p:txBody>
              <a:bodyPr wrap="square">
                <a:spAutoFit/>
              </a:bodyPr>
              <a:lstStyle/>
              <a:p>
                <a:pPr algn="r" rtl="1"/>
                <a14:m>
                  <m:oMathPara xmlns:m="http://schemas.openxmlformats.org/officeDocument/2006/math">
                    <m:oMathParaPr>
                      <m:jc m:val="centerGroup"/>
                    </m:oMathParaPr>
                    <m:oMath xmlns:m="http://schemas.openxmlformats.org/officeDocument/2006/math">
                      <m:r>
                        <a:rPr lang="he-IL" sz="1350">
                          <a:solidFill>
                            <a:prstClr val="black"/>
                          </a:solidFill>
                          <a:latin typeface="Cambria Math"/>
                        </a:rPr>
                        <m:t>5</m:t>
                      </m:r>
                      <m:r>
                        <a:rPr lang="he-IL" sz="1350">
                          <a:solidFill>
                            <a:prstClr val="black"/>
                          </a:solidFill>
                          <a:latin typeface="Cambria Math"/>
                        </a:rPr>
                        <m:t>⋅</m:t>
                      </m:r>
                      <m:r>
                        <a:rPr lang="he-IL" sz="1350">
                          <a:solidFill>
                            <a:prstClr val="black"/>
                          </a:solidFill>
                          <a:latin typeface="Cambria Math"/>
                        </a:rPr>
                        <m:t>3</m:t>
                      </m:r>
                      <m:r>
                        <a:rPr lang="he-IL" sz="1350">
                          <a:solidFill>
                            <a:prstClr val="black"/>
                          </a:solidFill>
                          <a:latin typeface="Cambria Math"/>
                        </a:rPr>
                        <m:t>=</m:t>
                      </m:r>
                      <m:r>
                        <a:rPr lang="he-IL" sz="1350">
                          <a:solidFill>
                            <a:prstClr val="black"/>
                          </a:solidFill>
                          <a:latin typeface="Cambria Math"/>
                        </a:rPr>
                        <m:t>15</m:t>
                      </m:r>
                    </m:oMath>
                  </m:oMathPara>
                </a14:m>
                <a:endParaRPr lang="he-IL" sz="1350" dirty="0">
                  <a:solidFill>
                    <a:prstClr val="black"/>
                  </a:solidFill>
                  <a:latin typeface="Calibri"/>
                  <a:cs typeface="Arial" panose="020B0604020202020204" pitchFamily="34" charset="0"/>
                </a:endParaRPr>
              </a:p>
            </p:txBody>
          </p:sp>
        </mc:Choice>
        <mc:Fallback xmlns="">
          <p:sp>
            <p:nvSpPr>
              <p:cNvPr id="6" name="מלבן 5"/>
              <p:cNvSpPr>
                <a:spLocks noRot="1" noChangeAspect="1" noMove="1" noResize="1" noEditPoints="1" noAdjustHandles="1" noChangeArrowheads="1" noChangeShapeType="1" noTextEdit="1"/>
              </p:cNvSpPr>
              <p:nvPr/>
            </p:nvSpPr>
            <p:spPr>
              <a:xfrm>
                <a:off x="4756445" y="2063398"/>
                <a:ext cx="966983" cy="300082"/>
              </a:xfrm>
              <a:prstGeom prst="rect">
                <a:avLst/>
              </a:prstGeom>
              <a:blipFill>
                <a:blip r:embed="rId3"/>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7" name="מלבן 6"/>
              <p:cNvSpPr/>
              <p:nvPr/>
            </p:nvSpPr>
            <p:spPr>
              <a:xfrm>
                <a:off x="4604171" y="2355453"/>
                <a:ext cx="1258593" cy="300082"/>
              </a:xfrm>
              <a:prstGeom prst="rect">
                <a:avLst/>
              </a:prstGeom>
            </p:spPr>
            <p:txBody>
              <a:bodyPr wrap="square">
                <a:spAutoFit/>
              </a:bodyPr>
              <a:lstStyle/>
              <a:p>
                <a:pPr algn="r" rtl="1"/>
                <a14:m>
                  <m:oMathPara xmlns:m="http://schemas.openxmlformats.org/officeDocument/2006/math">
                    <m:oMathParaPr>
                      <m:jc m:val="centerGroup"/>
                    </m:oMathParaPr>
                    <m:oMath xmlns:m="http://schemas.openxmlformats.org/officeDocument/2006/math">
                      <m:r>
                        <a:rPr lang="he-IL" sz="1350">
                          <a:solidFill>
                            <a:prstClr val="black"/>
                          </a:solidFill>
                          <a:latin typeface="Cambria Math"/>
                        </a:rPr>
                        <m:t>6</m:t>
                      </m:r>
                      <m:r>
                        <a:rPr lang="he-IL" sz="1350">
                          <a:solidFill>
                            <a:prstClr val="black"/>
                          </a:solidFill>
                          <a:latin typeface="Cambria Math"/>
                        </a:rPr>
                        <m:t>⋅</m:t>
                      </m:r>
                      <m:r>
                        <a:rPr lang="he-IL" sz="1350">
                          <a:solidFill>
                            <a:prstClr val="black"/>
                          </a:solidFill>
                          <a:latin typeface="Cambria Math"/>
                        </a:rPr>
                        <m:t>4</m:t>
                      </m:r>
                      <m:r>
                        <a:rPr lang="he-IL" sz="1350">
                          <a:solidFill>
                            <a:prstClr val="black"/>
                          </a:solidFill>
                          <a:latin typeface="Cambria Math"/>
                        </a:rPr>
                        <m:t>=</m:t>
                      </m:r>
                      <m:r>
                        <a:rPr lang="he-IL" sz="1350">
                          <a:solidFill>
                            <a:prstClr val="black"/>
                          </a:solidFill>
                          <a:latin typeface="Cambria Math"/>
                        </a:rPr>
                        <m:t>24</m:t>
                      </m:r>
                    </m:oMath>
                  </m:oMathPara>
                </a14:m>
                <a:endParaRPr lang="he-IL" sz="1350" dirty="0">
                  <a:solidFill>
                    <a:prstClr val="black"/>
                  </a:solidFill>
                  <a:latin typeface="Calibri"/>
                  <a:cs typeface="Arial" panose="020B0604020202020204" pitchFamily="34" charset="0"/>
                </a:endParaRPr>
              </a:p>
            </p:txBody>
          </p:sp>
        </mc:Choice>
        <mc:Fallback xmlns="">
          <p:sp>
            <p:nvSpPr>
              <p:cNvPr id="7" name="מלבן 6"/>
              <p:cNvSpPr>
                <a:spLocks noRot="1" noChangeAspect="1" noMove="1" noResize="1" noEditPoints="1" noAdjustHandles="1" noChangeArrowheads="1" noChangeShapeType="1" noTextEdit="1"/>
              </p:cNvSpPr>
              <p:nvPr/>
            </p:nvSpPr>
            <p:spPr>
              <a:xfrm>
                <a:off x="4604171" y="2355453"/>
                <a:ext cx="1258593" cy="300082"/>
              </a:xfrm>
              <a:prstGeom prst="rect">
                <a:avLst/>
              </a:prstGeom>
              <a:blipFill>
                <a:blip r:embed="rId4"/>
                <a:stretch>
                  <a:fillRect/>
                </a:stretch>
              </a:blipFill>
            </p:spPr>
            <p:txBody>
              <a:bodyPr/>
              <a:lstStyle/>
              <a:p>
                <a:r>
                  <a:rPr lang="en-IL">
                    <a:noFill/>
                  </a:rPr>
                  <a:t> </a:t>
                </a:r>
              </a:p>
            </p:txBody>
          </p:sp>
        </mc:Fallback>
      </mc:AlternateContent>
      <p:sp>
        <p:nvSpPr>
          <p:cNvPr id="3" name="TextBox 2"/>
          <p:cNvSpPr txBox="1"/>
          <p:nvPr/>
        </p:nvSpPr>
        <p:spPr>
          <a:xfrm>
            <a:off x="8064191" y="1516256"/>
            <a:ext cx="1296144" cy="553998"/>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pPr algn="r" rtl="1"/>
            <a:r>
              <a:rPr lang="he-IL" sz="1350" dirty="0">
                <a:solidFill>
                  <a:prstClr val="black"/>
                </a:solidFill>
                <a:latin typeface="Calibri"/>
                <a:cs typeface="Arial" panose="020B0604020202020204" pitchFamily="34" charset="0"/>
              </a:rPr>
              <a:t>נתון: </a:t>
            </a:r>
            <a:r>
              <a:rPr lang="he-IL" sz="1350" dirty="0" err="1">
                <a:solidFill>
                  <a:prstClr val="black"/>
                </a:solidFill>
                <a:latin typeface="Calibri"/>
                <a:cs typeface="Arial" panose="020B0604020202020204" pitchFamily="34" charset="0"/>
              </a:rPr>
              <a:t>ש''ח</a:t>
            </a:r>
            <a:r>
              <a:rPr lang="he-IL" sz="1350" dirty="0">
                <a:solidFill>
                  <a:prstClr val="black"/>
                </a:solidFill>
                <a:latin typeface="Calibri"/>
                <a:cs typeface="Arial" panose="020B0604020202020204" pitchFamily="34" charset="0"/>
              </a:rPr>
              <a:t> 11=</a:t>
            </a:r>
            <a:r>
              <a:rPr lang="en-US" sz="1650" dirty="0">
                <a:solidFill>
                  <a:prstClr val="black"/>
                </a:solidFill>
                <a:latin typeface="Calibri"/>
              </a:rPr>
              <a:t>P</a:t>
            </a:r>
            <a:r>
              <a:rPr lang="en-US" sz="1500" dirty="0">
                <a:solidFill>
                  <a:prstClr val="black"/>
                </a:solidFill>
                <a:latin typeface="Calibri"/>
              </a:rPr>
              <a:t> </a:t>
            </a:r>
            <a:endParaRPr lang="he-IL" sz="1500" dirty="0">
              <a:solidFill>
                <a:prstClr val="black"/>
              </a:solidFill>
              <a:latin typeface="Calibri"/>
              <a:cs typeface="Arial" panose="020B0604020202020204" pitchFamily="34" charset="0"/>
            </a:endParaRPr>
          </a:p>
        </p:txBody>
      </p:sp>
      <p:sp>
        <p:nvSpPr>
          <p:cNvPr id="8" name="TextBox 7"/>
          <p:cNvSpPr txBox="1"/>
          <p:nvPr/>
        </p:nvSpPr>
        <p:spPr>
          <a:xfrm>
            <a:off x="7954175" y="2251580"/>
            <a:ext cx="1404156" cy="507831"/>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wrap="square" rtlCol="1">
            <a:spAutoFit/>
          </a:bodyPr>
          <a:lstStyle/>
          <a:p>
            <a:pPr algn="r" rtl="1"/>
            <a:r>
              <a:rPr lang="he-IL" sz="1350" dirty="0">
                <a:solidFill>
                  <a:prstClr val="black"/>
                </a:solidFill>
                <a:latin typeface="Calibri"/>
                <a:cs typeface="Arial" panose="020B0604020202020204" pitchFamily="34" charset="0"/>
              </a:rPr>
              <a:t>כמה יחידות </a:t>
            </a:r>
            <a:r>
              <a:rPr lang="en-US" sz="1350" dirty="0">
                <a:solidFill>
                  <a:prstClr val="black"/>
                </a:solidFill>
                <a:latin typeface="Calibri"/>
              </a:rPr>
              <a:t>Q</a:t>
            </a:r>
            <a:r>
              <a:rPr lang="he-IL" sz="1350" dirty="0">
                <a:solidFill>
                  <a:prstClr val="black"/>
                </a:solidFill>
                <a:latin typeface="Calibri"/>
                <a:cs typeface="Arial" panose="020B0604020202020204" pitchFamily="34" charset="0"/>
              </a:rPr>
              <a:t> הפירמה מייצרת?</a:t>
            </a:r>
            <a:endParaRPr lang="he-IL" sz="1500" dirty="0">
              <a:solidFill>
                <a:prstClr val="black"/>
              </a:solidFill>
              <a:latin typeface="Calibri"/>
              <a:cs typeface="Arial" panose="020B0604020202020204" pitchFamily="34" charset="0"/>
            </a:endParaRPr>
          </a:p>
        </p:txBody>
      </p:sp>
      <mc:AlternateContent xmlns:mc="http://schemas.openxmlformats.org/markup-compatibility/2006" xmlns:a14="http://schemas.microsoft.com/office/drawing/2010/main">
        <mc:Choice Requires="a14">
          <p:sp>
            <p:nvSpPr>
              <p:cNvPr id="9" name="TextBox 8"/>
              <p:cNvSpPr txBox="1"/>
              <p:nvPr/>
            </p:nvSpPr>
            <p:spPr>
              <a:xfrm>
                <a:off x="7319591" y="2856086"/>
                <a:ext cx="2038740" cy="338554"/>
              </a:xfrm>
              <a:prstGeom prst="rect">
                <a:avLst/>
              </a:prstGeom>
              <a:ln/>
            </p:spPr>
            <p:style>
              <a:lnRef idx="2">
                <a:schemeClr val="accent3"/>
              </a:lnRef>
              <a:fillRef idx="1">
                <a:schemeClr val="lt1"/>
              </a:fillRef>
              <a:effectRef idx="0">
                <a:schemeClr val="accent3"/>
              </a:effectRef>
              <a:fontRef idx="minor">
                <a:schemeClr val="dk1"/>
              </a:fontRef>
            </p:style>
            <p:txBody>
              <a:bodyPr wrap="square" rtlCol="1">
                <a:spAutoFit/>
              </a:bodyPr>
              <a:lstStyle/>
              <a:p>
                <a:pPr algn="r" rtl="1"/>
                <a14:m>
                  <m:oMathPara xmlns:m="http://schemas.openxmlformats.org/officeDocument/2006/math">
                    <m:oMathParaPr>
                      <m:jc m:val="centerGroup"/>
                    </m:oMathParaPr>
                    <m:oMath xmlns:m="http://schemas.openxmlformats.org/officeDocument/2006/math">
                      <m:r>
                        <m:rPr>
                          <m:sty m:val="p"/>
                        </m:rPr>
                        <a:rPr lang="he-IL" sz="1600">
                          <a:solidFill>
                            <a:prstClr val="black"/>
                          </a:solidFill>
                          <a:latin typeface="Cambria Math"/>
                        </a:rPr>
                        <m:t>P</m:t>
                      </m:r>
                      <m:r>
                        <a:rPr lang="he-IL" sz="1600">
                          <a:solidFill>
                            <a:prstClr val="black"/>
                          </a:solidFill>
                          <a:latin typeface="Cambria Math"/>
                        </a:rPr>
                        <m:t>=</m:t>
                      </m:r>
                      <m:r>
                        <m:rPr>
                          <m:sty m:val="p"/>
                        </m:rPr>
                        <a:rPr lang="he-IL" sz="1600">
                          <a:solidFill>
                            <a:prstClr val="black"/>
                          </a:solidFill>
                          <a:latin typeface="Cambria Math"/>
                        </a:rPr>
                        <m:t>MC</m:t>
                      </m:r>
                      <m:r>
                        <a:rPr lang="he-IL" sz="1600">
                          <a:solidFill>
                            <a:prstClr val="black"/>
                          </a:solidFill>
                          <a:latin typeface="Cambria Math"/>
                        </a:rPr>
                        <m:t>(</m:t>
                      </m:r>
                      <m:r>
                        <a:rPr lang="en-US" sz="1600" b="1">
                          <a:solidFill>
                            <a:prstClr val="black"/>
                          </a:solidFill>
                          <a:latin typeface="Cambria Math" panose="02040503050406030204" pitchFamily="18" charset="0"/>
                        </a:rPr>
                        <m:t>𝐐</m:t>
                      </m:r>
                      <m:r>
                        <a:rPr lang="he-IL" sz="1600" b="1">
                          <a:solidFill>
                            <a:prstClr val="black"/>
                          </a:solidFill>
                          <a:latin typeface="Cambria Math"/>
                        </a:rPr>
                        <m:t>=</m:t>
                      </m:r>
                      <m:r>
                        <a:rPr lang="he-IL" sz="1600" b="1">
                          <a:solidFill>
                            <a:prstClr val="black"/>
                          </a:solidFill>
                          <a:latin typeface="Cambria Math"/>
                        </a:rPr>
                        <m:t>𝟓</m:t>
                      </m:r>
                      <m:r>
                        <a:rPr lang="he-IL" sz="1600">
                          <a:solidFill>
                            <a:prstClr val="black"/>
                          </a:solidFill>
                          <a:latin typeface="Cambria Math"/>
                        </a:rPr>
                        <m:t>)=</m:t>
                      </m:r>
                      <m:r>
                        <a:rPr lang="he-IL" sz="1600">
                          <a:solidFill>
                            <a:prstClr val="black"/>
                          </a:solidFill>
                          <a:latin typeface="Cambria Math"/>
                        </a:rPr>
                        <m:t>11</m:t>
                      </m:r>
                    </m:oMath>
                  </m:oMathPara>
                </a14:m>
                <a:endParaRPr lang="he-IL" dirty="0">
                  <a:solidFill>
                    <a:prstClr val="black"/>
                  </a:solidFill>
                  <a:latin typeface="Calibri"/>
                  <a:cs typeface="Arial" panose="020B0604020202020204" pitchFamily="3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7319591" y="2856086"/>
                <a:ext cx="2038740" cy="338554"/>
              </a:xfrm>
              <a:prstGeom prst="rect">
                <a:avLst/>
              </a:prstGeom>
              <a:blipFill>
                <a:blip r:embed="rId5"/>
                <a:stretch>
                  <a:fillRect b="-10526"/>
                </a:stretch>
              </a:blipFill>
              <a:ln/>
            </p:spPr>
            <p:txBody>
              <a:bodyPr/>
              <a:lstStyle/>
              <a:p>
                <a:r>
                  <a:rPr lang="en-IL">
                    <a:noFill/>
                  </a:rPr>
                  <a:t> </a:t>
                </a:r>
              </a:p>
            </p:txBody>
          </p:sp>
        </mc:Fallback>
      </mc:AlternateContent>
      <p:sp>
        <p:nvSpPr>
          <p:cNvPr id="10" name="TextBox 9"/>
          <p:cNvSpPr txBox="1"/>
          <p:nvPr/>
        </p:nvSpPr>
        <p:spPr>
          <a:xfrm>
            <a:off x="7223699" y="3753065"/>
            <a:ext cx="2134632" cy="300082"/>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wrap="square" rtlCol="1">
            <a:spAutoFit/>
          </a:bodyPr>
          <a:lstStyle/>
          <a:p>
            <a:pPr algn="r" rtl="1"/>
            <a:r>
              <a:rPr lang="he-IL" sz="1350" dirty="0">
                <a:solidFill>
                  <a:prstClr val="black"/>
                </a:solidFill>
                <a:latin typeface="Calibri"/>
                <a:cs typeface="Arial" panose="020B0604020202020204" pitchFamily="34" charset="0"/>
              </a:rPr>
              <a:t>מהו הרווח התפעולי?</a:t>
            </a:r>
            <a:endParaRPr lang="he-IL" sz="1500" dirty="0">
              <a:solidFill>
                <a:prstClr val="black"/>
              </a:solidFill>
              <a:latin typeface="Calibri"/>
              <a:cs typeface="Arial" panose="020B0604020202020204" pitchFamily="34" charset="0"/>
            </a:endParaRPr>
          </a:p>
        </p:txBody>
      </p:sp>
      <mc:AlternateContent xmlns:mc="http://schemas.openxmlformats.org/markup-compatibility/2006" xmlns:a14="http://schemas.microsoft.com/office/drawing/2010/main">
        <mc:Choice Requires="a14">
          <p:sp>
            <p:nvSpPr>
              <p:cNvPr id="11" name="TextBox 10"/>
              <p:cNvSpPr txBox="1"/>
              <p:nvPr/>
            </p:nvSpPr>
            <p:spPr>
              <a:xfrm>
                <a:off x="6934805" y="4048367"/>
                <a:ext cx="2038740" cy="323165"/>
              </a:xfrm>
              <a:prstGeom prst="rect">
                <a:avLst/>
              </a:prstGeom>
              <a:ln>
                <a:solidFill>
                  <a:schemeClr val="accent2">
                    <a:lumMod val="60000"/>
                    <a:lumOff val="40000"/>
                  </a:schemeClr>
                </a:solidFill>
              </a:ln>
            </p:spPr>
            <p:style>
              <a:lnRef idx="2">
                <a:schemeClr val="accent3"/>
              </a:lnRef>
              <a:fillRef idx="1">
                <a:schemeClr val="lt1"/>
              </a:fillRef>
              <a:effectRef idx="0">
                <a:schemeClr val="accent3"/>
              </a:effectRef>
              <a:fontRef idx="minor">
                <a:schemeClr val="dk1"/>
              </a:fontRef>
            </p:style>
            <p:txBody>
              <a:bodyPr wrap="square" rtlCol="1">
                <a:spAutoFit/>
              </a:bodyPr>
              <a:lstStyle/>
              <a:p>
                <a:pPr algn="r" rtl="1"/>
                <a14:m>
                  <m:oMathPara xmlns:m="http://schemas.openxmlformats.org/officeDocument/2006/math">
                    <m:oMathParaPr>
                      <m:jc m:val="centerGroup"/>
                    </m:oMathParaPr>
                    <m:oMath xmlns:m="http://schemas.openxmlformats.org/officeDocument/2006/math">
                      <m:r>
                        <m:rPr>
                          <m:sty m:val="p"/>
                        </m:rPr>
                        <a:rPr lang="he-IL" sz="1500">
                          <a:solidFill>
                            <a:prstClr val="black"/>
                          </a:solidFill>
                          <a:latin typeface="Cambria Math"/>
                        </a:rPr>
                        <m:t>Π</m:t>
                      </m:r>
                      <m:r>
                        <a:rPr lang="he-IL" sz="1500">
                          <a:solidFill>
                            <a:prstClr val="black"/>
                          </a:solidFill>
                          <a:latin typeface="Cambria Math"/>
                        </a:rPr>
                        <m:t>=</m:t>
                      </m:r>
                      <m:r>
                        <a:rPr lang="he-IL" sz="1500">
                          <a:solidFill>
                            <a:prstClr val="black"/>
                          </a:solidFill>
                          <a:latin typeface="Cambria Math"/>
                        </a:rPr>
                        <m:t>11</m:t>
                      </m:r>
                      <m:r>
                        <a:rPr lang="he-IL" sz="1500">
                          <a:solidFill>
                            <a:prstClr val="black"/>
                          </a:solidFill>
                          <a:latin typeface="Cambria Math"/>
                        </a:rPr>
                        <m:t>⋅</m:t>
                      </m:r>
                      <m:r>
                        <a:rPr lang="he-IL" sz="1500">
                          <a:solidFill>
                            <a:prstClr val="black"/>
                          </a:solidFill>
                          <a:latin typeface="Cambria Math"/>
                        </a:rPr>
                        <m:t>5</m:t>
                      </m:r>
                      <m:r>
                        <a:rPr lang="he-IL" sz="1500">
                          <a:solidFill>
                            <a:prstClr val="black"/>
                          </a:solidFill>
                          <a:latin typeface="Cambria Math"/>
                        </a:rPr>
                        <m:t>−</m:t>
                      </m:r>
                      <m:r>
                        <a:rPr lang="he-IL" sz="1500">
                          <a:solidFill>
                            <a:prstClr val="black"/>
                          </a:solidFill>
                          <a:latin typeface="Cambria Math"/>
                        </a:rPr>
                        <m:t>35</m:t>
                      </m:r>
                      <m:r>
                        <a:rPr lang="he-IL" sz="1500">
                          <a:solidFill>
                            <a:prstClr val="black"/>
                          </a:solidFill>
                          <a:latin typeface="Cambria Math"/>
                        </a:rPr>
                        <m:t>=</m:t>
                      </m:r>
                      <m:r>
                        <a:rPr lang="he-IL" sz="1500">
                          <a:solidFill>
                            <a:prstClr val="black"/>
                          </a:solidFill>
                          <a:latin typeface="Cambria Math"/>
                        </a:rPr>
                        <m:t>20</m:t>
                      </m:r>
                    </m:oMath>
                  </m:oMathPara>
                </a14:m>
                <a:endParaRPr lang="he-IL" sz="1500" dirty="0">
                  <a:solidFill>
                    <a:prstClr val="black"/>
                  </a:solidFill>
                  <a:latin typeface="Calibri"/>
                  <a:cs typeface="Arial" panose="020B0604020202020204" pitchFamily="34" charset="0"/>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6934805" y="4048367"/>
                <a:ext cx="2038740" cy="323165"/>
              </a:xfrm>
              <a:prstGeom prst="rect">
                <a:avLst/>
              </a:prstGeom>
              <a:blipFill>
                <a:blip r:embed="rId6"/>
                <a:stretch>
                  <a:fillRect/>
                </a:stretch>
              </a:blipFill>
              <a:ln>
                <a:solidFill>
                  <a:schemeClr val="accent2">
                    <a:lumMod val="60000"/>
                    <a:lumOff val="40000"/>
                  </a:schemeClr>
                </a:solidFill>
              </a:ln>
            </p:spPr>
            <p:txBody>
              <a:bodyPr/>
              <a:lstStyle/>
              <a:p>
                <a:r>
                  <a:rPr lang="en-IL">
                    <a:noFill/>
                  </a:rPr>
                  <a:t> </a:t>
                </a:r>
              </a:p>
            </p:txBody>
          </p:sp>
        </mc:Fallback>
      </mc:AlternateContent>
      <p:sp>
        <p:nvSpPr>
          <p:cNvPr id="12" name="TextBox 11"/>
          <p:cNvSpPr txBox="1"/>
          <p:nvPr/>
        </p:nvSpPr>
        <p:spPr>
          <a:xfrm>
            <a:off x="6312025" y="4623777"/>
            <a:ext cx="3094253" cy="300082"/>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wrap="square" rtlCol="1">
            <a:spAutoFit/>
          </a:bodyPr>
          <a:lstStyle/>
          <a:p>
            <a:pPr algn="r" rtl="1"/>
            <a:r>
              <a:rPr lang="he-IL" sz="1350" dirty="0">
                <a:solidFill>
                  <a:prstClr val="black"/>
                </a:solidFill>
                <a:latin typeface="Calibri"/>
                <a:cs typeface="Arial" panose="020B0604020202020204" pitchFamily="34" charset="0"/>
              </a:rPr>
              <a:t>נתון </a:t>
            </a:r>
            <a:r>
              <a:rPr lang="en-US" sz="1350" dirty="0">
                <a:solidFill>
                  <a:prstClr val="black"/>
                </a:solidFill>
                <a:latin typeface="Calibri"/>
              </a:rPr>
              <a:t>FC=50</a:t>
            </a:r>
            <a:r>
              <a:rPr lang="he-IL" sz="1350" dirty="0">
                <a:solidFill>
                  <a:prstClr val="black"/>
                </a:solidFill>
                <a:latin typeface="Calibri"/>
                <a:cs typeface="Arial" panose="020B0604020202020204" pitchFamily="34" charset="0"/>
              </a:rPr>
              <a:t>. מהו הרווח הכולל?</a:t>
            </a:r>
            <a:endParaRPr lang="he-IL" sz="1500" dirty="0">
              <a:solidFill>
                <a:prstClr val="black"/>
              </a:solidFill>
              <a:latin typeface="Calibri"/>
              <a:cs typeface="Arial" panose="020B0604020202020204" pitchFamily="34" charset="0"/>
            </a:endParaRPr>
          </a:p>
        </p:txBody>
      </p:sp>
      <mc:AlternateContent xmlns:mc="http://schemas.openxmlformats.org/markup-compatibility/2006" xmlns:a14="http://schemas.microsoft.com/office/drawing/2010/main">
        <mc:Choice Requires="a14">
          <p:sp>
            <p:nvSpPr>
              <p:cNvPr id="13" name="TextBox 12"/>
              <p:cNvSpPr txBox="1"/>
              <p:nvPr/>
            </p:nvSpPr>
            <p:spPr>
              <a:xfrm>
                <a:off x="6698662" y="4954659"/>
                <a:ext cx="2707616" cy="323165"/>
              </a:xfrm>
              <a:prstGeom prst="rect">
                <a:avLst/>
              </a:prstGeom>
              <a:ln>
                <a:solidFill>
                  <a:schemeClr val="accent2">
                    <a:lumMod val="60000"/>
                    <a:lumOff val="40000"/>
                  </a:schemeClr>
                </a:solidFill>
              </a:ln>
            </p:spPr>
            <p:style>
              <a:lnRef idx="2">
                <a:schemeClr val="accent3"/>
              </a:lnRef>
              <a:fillRef idx="1">
                <a:schemeClr val="lt1"/>
              </a:fillRef>
              <a:effectRef idx="0">
                <a:schemeClr val="accent3"/>
              </a:effectRef>
              <a:fontRef idx="minor">
                <a:schemeClr val="dk1"/>
              </a:fontRef>
            </p:style>
            <p:txBody>
              <a:bodyPr wrap="square" rtlCol="1">
                <a:spAutoFit/>
              </a:bodyPr>
              <a:lstStyle/>
              <a:p>
                <a:pPr algn="r" rtl="1"/>
                <a14:m>
                  <m:oMathPara xmlns:m="http://schemas.openxmlformats.org/officeDocument/2006/math">
                    <m:oMathParaPr>
                      <m:jc m:val="centerGroup"/>
                    </m:oMathParaPr>
                    <m:oMath xmlns:m="http://schemas.openxmlformats.org/officeDocument/2006/math">
                      <m:r>
                        <m:rPr>
                          <m:sty m:val="p"/>
                        </m:rPr>
                        <a:rPr lang="he-IL" sz="1500">
                          <a:solidFill>
                            <a:prstClr val="black"/>
                          </a:solidFill>
                          <a:latin typeface="Cambria Math"/>
                        </a:rPr>
                        <m:t>Π</m:t>
                      </m:r>
                      <m:r>
                        <a:rPr lang="he-IL" sz="1500">
                          <a:solidFill>
                            <a:prstClr val="black"/>
                          </a:solidFill>
                          <a:latin typeface="Cambria Math"/>
                        </a:rPr>
                        <m:t>=</m:t>
                      </m:r>
                      <m:r>
                        <a:rPr lang="he-IL" sz="1500">
                          <a:solidFill>
                            <a:prstClr val="black"/>
                          </a:solidFill>
                          <a:latin typeface="Cambria Math"/>
                        </a:rPr>
                        <m:t>11</m:t>
                      </m:r>
                      <m:r>
                        <a:rPr lang="he-IL" sz="1500">
                          <a:solidFill>
                            <a:prstClr val="black"/>
                          </a:solidFill>
                          <a:latin typeface="Cambria Math"/>
                        </a:rPr>
                        <m:t>⋅</m:t>
                      </m:r>
                      <m:r>
                        <a:rPr lang="he-IL" sz="1500">
                          <a:solidFill>
                            <a:prstClr val="black"/>
                          </a:solidFill>
                          <a:latin typeface="Cambria Math"/>
                        </a:rPr>
                        <m:t>5</m:t>
                      </m:r>
                      <m:r>
                        <a:rPr lang="he-IL" sz="1500">
                          <a:solidFill>
                            <a:prstClr val="black"/>
                          </a:solidFill>
                          <a:latin typeface="Cambria Math"/>
                        </a:rPr>
                        <m:t>−</m:t>
                      </m:r>
                      <m:r>
                        <a:rPr lang="he-IL" sz="1500">
                          <a:solidFill>
                            <a:prstClr val="black"/>
                          </a:solidFill>
                          <a:latin typeface="Cambria Math"/>
                        </a:rPr>
                        <m:t>35</m:t>
                      </m:r>
                      <m:r>
                        <a:rPr lang="he-IL" sz="1500">
                          <a:solidFill>
                            <a:prstClr val="black"/>
                          </a:solidFill>
                          <a:latin typeface="Cambria Math"/>
                        </a:rPr>
                        <m:t>−</m:t>
                      </m:r>
                      <m:r>
                        <a:rPr lang="he-IL" sz="1500">
                          <a:solidFill>
                            <a:prstClr val="black"/>
                          </a:solidFill>
                          <a:latin typeface="Cambria Math"/>
                        </a:rPr>
                        <m:t>50</m:t>
                      </m:r>
                      <m:r>
                        <a:rPr lang="he-IL" sz="1500">
                          <a:solidFill>
                            <a:prstClr val="black"/>
                          </a:solidFill>
                          <a:latin typeface="Cambria Math"/>
                        </a:rPr>
                        <m:t>=−</m:t>
                      </m:r>
                      <m:r>
                        <a:rPr lang="he-IL" sz="1500">
                          <a:solidFill>
                            <a:prstClr val="black"/>
                          </a:solidFill>
                          <a:latin typeface="Cambria Math"/>
                        </a:rPr>
                        <m:t>30</m:t>
                      </m:r>
                    </m:oMath>
                  </m:oMathPara>
                </a14:m>
                <a:endParaRPr lang="he-IL" sz="1500" dirty="0">
                  <a:solidFill>
                    <a:prstClr val="black"/>
                  </a:solidFill>
                  <a:latin typeface="Calibri"/>
                  <a:cs typeface="Arial" panose="020B0604020202020204" pitchFamily="34" charset="0"/>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6698662" y="4954659"/>
                <a:ext cx="2707616" cy="323165"/>
              </a:xfrm>
              <a:prstGeom prst="rect">
                <a:avLst/>
              </a:prstGeom>
              <a:blipFill>
                <a:blip r:embed="rId7"/>
                <a:stretch>
                  <a:fillRect/>
                </a:stretch>
              </a:blipFill>
              <a:ln>
                <a:solidFill>
                  <a:schemeClr val="accent2">
                    <a:lumMod val="60000"/>
                    <a:lumOff val="40000"/>
                  </a:schemeClr>
                </a:solidFill>
              </a:ln>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14" name="מלבן 1"/>
              <p:cNvSpPr/>
              <p:nvPr/>
            </p:nvSpPr>
            <p:spPr>
              <a:xfrm>
                <a:off x="4665511" y="1430655"/>
                <a:ext cx="232756" cy="300082"/>
              </a:xfrm>
              <a:prstGeom prst="rect">
                <a:avLst/>
              </a:prstGeom>
            </p:spPr>
            <p:txBody>
              <a:bodyPr wrap="none">
                <a:spAutoFit/>
              </a:bodyPr>
              <a:lstStyle/>
              <a:p>
                <a:pPr algn="r" rtl="1"/>
                <a14:m>
                  <m:oMathPara xmlns:m="http://schemas.openxmlformats.org/officeDocument/2006/math">
                    <m:oMathParaPr>
                      <m:jc m:val="centerGroup"/>
                    </m:oMathParaPr>
                    <m:oMath xmlns:m="http://schemas.openxmlformats.org/officeDocument/2006/math">
                      <m:r>
                        <a:rPr lang="he-IL" sz="1350">
                          <a:solidFill>
                            <a:prstClr val="black"/>
                          </a:solidFill>
                          <a:latin typeface="Cambria Math" panose="02040503050406030204" pitchFamily="18" charset="0"/>
                        </a:rPr>
                        <m:t>10</m:t>
                      </m:r>
                      <m:r>
                        <a:rPr lang="he-IL" sz="1350">
                          <a:solidFill>
                            <a:prstClr val="black"/>
                          </a:solidFill>
                          <a:latin typeface="Cambria Math"/>
                        </a:rPr>
                        <m:t>⋅</m:t>
                      </m:r>
                      <m:r>
                        <a:rPr lang="he-IL" sz="1350">
                          <a:solidFill>
                            <a:prstClr val="black"/>
                          </a:solidFill>
                          <a:latin typeface="Cambria Math" panose="02040503050406030204" pitchFamily="18" charset="0"/>
                        </a:rPr>
                        <m:t>1</m:t>
                      </m:r>
                      <m:r>
                        <a:rPr lang="he-IL" sz="1350">
                          <a:solidFill>
                            <a:prstClr val="black"/>
                          </a:solidFill>
                          <a:latin typeface="Cambria Math"/>
                        </a:rPr>
                        <m:t>=</m:t>
                      </m:r>
                      <m:r>
                        <a:rPr lang="he-IL" sz="1350">
                          <a:solidFill>
                            <a:prstClr val="black"/>
                          </a:solidFill>
                          <a:latin typeface="Cambria Math"/>
                        </a:rPr>
                        <m:t>10</m:t>
                      </m:r>
                    </m:oMath>
                  </m:oMathPara>
                </a14:m>
                <a:endParaRPr lang="he-IL" sz="1350" dirty="0">
                  <a:solidFill>
                    <a:prstClr val="black"/>
                  </a:solidFill>
                  <a:latin typeface="Calibri"/>
                  <a:cs typeface="Arial" panose="020B0604020202020204" pitchFamily="34" charset="0"/>
                </a:endParaRPr>
              </a:p>
            </p:txBody>
          </p:sp>
        </mc:Choice>
        <mc:Fallback xmlns="">
          <p:sp>
            <p:nvSpPr>
              <p:cNvPr id="14" name="מלבן 1"/>
              <p:cNvSpPr>
                <a:spLocks noRot="1" noChangeAspect="1" noMove="1" noResize="1" noEditPoints="1" noAdjustHandles="1" noChangeArrowheads="1" noChangeShapeType="1" noTextEdit="1"/>
              </p:cNvSpPr>
              <p:nvPr/>
            </p:nvSpPr>
            <p:spPr>
              <a:xfrm>
                <a:off x="4665511" y="1430655"/>
                <a:ext cx="232756" cy="300082"/>
              </a:xfrm>
              <a:prstGeom prst="rect">
                <a:avLst/>
              </a:prstGeom>
              <a:blipFill>
                <a:blip r:embed="rId8"/>
                <a:stretch>
                  <a:fillRect r="-312821"/>
                </a:stretch>
              </a:blipFill>
            </p:spPr>
            <p:txBody>
              <a:bodyPr/>
              <a:lstStyle/>
              <a:p>
                <a:r>
                  <a:rPr lang="en-IL">
                    <a:noFill/>
                  </a:rPr>
                  <a:t> </a:t>
                </a:r>
              </a:p>
            </p:txBody>
          </p:sp>
        </mc:Fallback>
      </mc:AlternateContent>
      <p:sp>
        <p:nvSpPr>
          <p:cNvPr id="17" name="כותרת 1">
            <a:extLst>
              <a:ext uri="{FF2B5EF4-FFF2-40B4-BE49-F238E27FC236}">
                <a16:creationId xmlns:a16="http://schemas.microsoft.com/office/drawing/2014/main" id="{F4D386C1-0CFA-44D8-8BF1-4EF0CCB6E270}"/>
              </a:ext>
            </a:extLst>
          </p:cNvPr>
          <p:cNvSpPr>
            <a:spLocks noGrp="1"/>
          </p:cNvSpPr>
          <p:nvPr>
            <p:ph type="title"/>
          </p:nvPr>
        </p:nvSpPr>
        <p:spPr>
          <a:xfrm>
            <a:off x="10148148" y="88700"/>
            <a:ext cx="1835696" cy="977255"/>
          </a:xfrm>
        </p:spPr>
        <p:txBody>
          <a:bodyPr>
            <a:normAutofit/>
          </a:bodyPr>
          <a:lstStyle/>
          <a:p>
            <a:pPr algn="r"/>
            <a:r>
              <a:rPr lang="he-IL" b="1" dirty="0">
                <a:solidFill>
                  <a:schemeClr val="tx2">
                    <a:lumMod val="75000"/>
                  </a:schemeClr>
                </a:solidFill>
              </a:rPr>
              <a:t>שאלה 2</a:t>
            </a:r>
          </a:p>
        </p:txBody>
      </p:sp>
      <p:sp>
        <p:nvSpPr>
          <p:cNvPr id="18" name="TextBox 17">
            <a:extLst>
              <a:ext uri="{FF2B5EF4-FFF2-40B4-BE49-F238E27FC236}">
                <a16:creationId xmlns:a16="http://schemas.microsoft.com/office/drawing/2014/main" id="{2EE4714E-1D58-4994-B152-F7F6004030EB}"/>
              </a:ext>
            </a:extLst>
          </p:cNvPr>
          <p:cNvSpPr txBox="1"/>
          <p:nvPr/>
        </p:nvSpPr>
        <p:spPr>
          <a:xfrm>
            <a:off x="1631504" y="257144"/>
            <a:ext cx="6998918" cy="640368"/>
          </a:xfrm>
          <a:prstGeom prst="rect">
            <a:avLst/>
          </a:prstGeom>
          <a:noFill/>
        </p:spPr>
        <p:txBody>
          <a:bodyPr wrap="square">
            <a:spAutoFit/>
          </a:bodyPr>
          <a:lstStyle/>
          <a:p>
            <a:pPr algn="just">
              <a:lnSpc>
                <a:spcPct val="115000"/>
              </a:lnSpc>
              <a:spcAft>
                <a:spcPts val="1000"/>
              </a:spcAft>
            </a:pPr>
            <a:r>
              <a:rPr lang="he-IL" sz="1600" dirty="0">
                <a:latin typeface="Calibri" panose="020F0502020204030204" pitchFamily="34" charset="0"/>
                <a:ea typeface="Times New Roman" panose="02020603050405020304" pitchFamily="18" charset="0"/>
                <a:cs typeface="Arial" panose="020B0604020202020204" pitchFamily="34" charset="0"/>
              </a:rPr>
              <a:t>חלבן פועל בשוק תחרותי שבו מחיר השוק של קרטון חלב הוא 11 ש''ח, עלויות הייצור הקבועות (</a:t>
            </a:r>
            <a:r>
              <a:rPr lang="en-US" sz="1600" dirty="0">
                <a:latin typeface="Arial" panose="020B0604020202020204" pitchFamily="34" charset="0"/>
                <a:ea typeface="Times New Roman" panose="02020603050405020304" pitchFamily="18" charset="0"/>
                <a:cs typeface="Arial" panose="020B0604020202020204" pitchFamily="34" charset="0"/>
              </a:rPr>
              <a:t>FC</a:t>
            </a:r>
            <a:r>
              <a:rPr lang="he-IL" sz="1600" dirty="0">
                <a:latin typeface="Calibri" panose="020F0502020204030204" pitchFamily="34" charset="0"/>
                <a:ea typeface="Times New Roman" panose="02020603050405020304" pitchFamily="18" charset="0"/>
                <a:cs typeface="Arial" panose="020B0604020202020204" pitchFamily="34" charset="0"/>
              </a:rPr>
              <a:t>) של היצרן הן 50 ש''ח ועלויות הייצור המשתנות הממוצעות (</a:t>
            </a:r>
            <a:r>
              <a:rPr lang="en-US" sz="1600" dirty="0">
                <a:latin typeface="Arial" panose="020B0604020202020204" pitchFamily="34" charset="0"/>
                <a:ea typeface="Times New Roman" panose="02020603050405020304" pitchFamily="18" charset="0"/>
                <a:cs typeface="Arial" panose="020B0604020202020204" pitchFamily="34" charset="0"/>
              </a:rPr>
              <a:t>AVC</a:t>
            </a:r>
            <a:r>
              <a:rPr lang="he-IL" sz="1600" dirty="0">
                <a:latin typeface="Calibri" panose="020F0502020204030204" pitchFamily="34" charset="0"/>
                <a:ea typeface="Times New Roman" panose="02020603050405020304" pitchFamily="18" charset="0"/>
                <a:cs typeface="Arial" panose="020B0604020202020204" pitchFamily="34" charset="0"/>
              </a:rPr>
              <a:t>) הן:</a:t>
            </a:r>
            <a:endParaRPr lang="en-IL" sz="16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205440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arn(inVertic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arn(inVertical)">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arn(inVertical)">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0" grpId="0" animBg="1"/>
      <p:bldP spid="11" grpId="0" animBg="1"/>
      <p:bldP spid="12" grpId="0" animBg="1"/>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מלבן 5"/>
          <p:cNvSpPr/>
          <p:nvPr/>
        </p:nvSpPr>
        <p:spPr>
          <a:xfrm>
            <a:off x="4630458" y="5072895"/>
            <a:ext cx="4827515" cy="1616918"/>
          </a:xfrm>
          <a:prstGeom prst="rect">
            <a:avLst/>
          </a:prstGeom>
        </p:spPr>
        <p:txBody>
          <a:bodyPr wrap="square">
            <a:spAutoFit/>
          </a:bodyPr>
          <a:lstStyle/>
          <a:p>
            <a:pPr algn="r" rtl="1">
              <a:lnSpc>
                <a:spcPct val="150000"/>
              </a:lnSpc>
            </a:pPr>
            <a:r>
              <a:rPr lang="he-IL" sz="1350" dirty="0">
                <a:solidFill>
                  <a:prstClr val="black"/>
                </a:solidFill>
                <a:latin typeface="Calibri"/>
                <a:cs typeface="Arial" panose="020B0604020202020204" pitchFamily="34" charset="0"/>
              </a:rPr>
              <a:t>א. ליצרן הפסד של 30 ₪ ולכן בטווח הארוך לא כדאי לו להמשיך לייצר</a:t>
            </a:r>
            <a:endParaRPr lang="en-US" sz="1350" dirty="0">
              <a:solidFill>
                <a:prstClr val="black"/>
              </a:solidFill>
              <a:latin typeface="Calibri"/>
            </a:endParaRPr>
          </a:p>
          <a:p>
            <a:pPr algn="r" rtl="1">
              <a:lnSpc>
                <a:spcPct val="150000"/>
              </a:lnSpc>
            </a:pPr>
            <a:r>
              <a:rPr lang="he-IL" sz="1350" dirty="0">
                <a:solidFill>
                  <a:prstClr val="black"/>
                </a:solidFill>
                <a:latin typeface="Calibri"/>
                <a:cs typeface="Arial" panose="020B0604020202020204" pitchFamily="34" charset="0"/>
              </a:rPr>
              <a:t>ב. רווח החלבן הוא 27 ₪ ולכן בטווח הארוך כדאי לו להמשיך לייצר </a:t>
            </a:r>
            <a:endParaRPr lang="en-US" sz="1350" dirty="0">
              <a:solidFill>
                <a:prstClr val="black"/>
              </a:solidFill>
              <a:latin typeface="Calibri"/>
            </a:endParaRPr>
          </a:p>
          <a:p>
            <a:pPr algn="r" rtl="1">
              <a:lnSpc>
                <a:spcPct val="150000"/>
              </a:lnSpc>
            </a:pPr>
            <a:r>
              <a:rPr lang="he-IL" sz="1350" dirty="0">
                <a:solidFill>
                  <a:prstClr val="black"/>
                </a:solidFill>
                <a:latin typeface="Calibri"/>
                <a:cs typeface="Arial" panose="020B0604020202020204" pitchFamily="34" charset="0"/>
              </a:rPr>
              <a:t>ג. החלבן מייצר 7 קרטוני חלב ורווחיו שווים ל- 0 </a:t>
            </a:r>
            <a:endParaRPr lang="en-US" sz="1350" dirty="0">
              <a:solidFill>
                <a:prstClr val="black"/>
              </a:solidFill>
              <a:latin typeface="Calibri"/>
            </a:endParaRPr>
          </a:p>
          <a:p>
            <a:pPr algn="r" rtl="1">
              <a:lnSpc>
                <a:spcPct val="150000"/>
              </a:lnSpc>
            </a:pPr>
            <a:r>
              <a:rPr lang="he-IL" sz="1350" dirty="0">
                <a:solidFill>
                  <a:prstClr val="black"/>
                </a:solidFill>
                <a:latin typeface="Calibri"/>
                <a:cs typeface="Arial" panose="020B0604020202020204" pitchFamily="34" charset="0"/>
              </a:rPr>
              <a:t>ד. החלבן מייצר 3 קרטוני חלב ובטווח הארוך כדאי לו להמשיך לייצר </a:t>
            </a:r>
            <a:endParaRPr lang="en-US" sz="1350" dirty="0">
              <a:solidFill>
                <a:prstClr val="black"/>
              </a:solidFill>
              <a:latin typeface="Calibri"/>
            </a:endParaRPr>
          </a:p>
          <a:p>
            <a:pPr algn="r" rtl="1">
              <a:lnSpc>
                <a:spcPct val="150000"/>
              </a:lnSpc>
            </a:pPr>
            <a:r>
              <a:rPr lang="he-IL" sz="1350" dirty="0">
                <a:solidFill>
                  <a:prstClr val="black"/>
                </a:solidFill>
                <a:latin typeface="Calibri"/>
                <a:cs typeface="Arial" panose="020B0604020202020204" pitchFamily="34" charset="0"/>
              </a:rPr>
              <a:t>ה. כל התשובות האחרות אינן נכונות</a:t>
            </a:r>
            <a:endParaRPr lang="en-US" sz="1350" dirty="0">
              <a:solidFill>
                <a:prstClr val="black"/>
              </a:solidFill>
              <a:latin typeface="Calibri"/>
            </a:endParaRPr>
          </a:p>
        </p:txBody>
      </p:sp>
      <p:sp>
        <p:nvSpPr>
          <p:cNvPr id="7" name="מלבן 6"/>
          <p:cNvSpPr/>
          <p:nvPr/>
        </p:nvSpPr>
        <p:spPr>
          <a:xfrm>
            <a:off x="3515080" y="5054447"/>
            <a:ext cx="6000792" cy="42862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he-IL" sz="1350">
              <a:solidFill>
                <a:prstClr val="white"/>
              </a:solidFill>
              <a:latin typeface="Calibri"/>
              <a:cs typeface="Arial" panose="020B0604020202020204" pitchFamily="34" charset="0"/>
            </a:endParaRPr>
          </a:p>
        </p:txBody>
      </p:sp>
      <p:sp>
        <p:nvSpPr>
          <p:cNvPr id="8" name="כותרת 1">
            <a:extLst>
              <a:ext uri="{FF2B5EF4-FFF2-40B4-BE49-F238E27FC236}">
                <a16:creationId xmlns:a16="http://schemas.microsoft.com/office/drawing/2014/main" id="{4701E58D-5F9C-4346-BD62-6EA946D01846}"/>
              </a:ext>
            </a:extLst>
          </p:cNvPr>
          <p:cNvSpPr>
            <a:spLocks noGrp="1"/>
          </p:cNvSpPr>
          <p:nvPr>
            <p:ph type="title"/>
          </p:nvPr>
        </p:nvSpPr>
        <p:spPr>
          <a:xfrm>
            <a:off x="10277248" y="88700"/>
            <a:ext cx="1835696" cy="977255"/>
          </a:xfrm>
        </p:spPr>
        <p:txBody>
          <a:bodyPr>
            <a:normAutofit/>
          </a:bodyPr>
          <a:lstStyle/>
          <a:p>
            <a:pPr algn="r"/>
            <a:r>
              <a:rPr lang="he-IL" b="1" dirty="0">
                <a:solidFill>
                  <a:schemeClr val="tx2">
                    <a:lumMod val="75000"/>
                  </a:schemeClr>
                </a:solidFill>
              </a:rPr>
              <a:t>שאלה 2</a:t>
            </a:r>
          </a:p>
        </p:txBody>
      </p:sp>
      <p:sp>
        <p:nvSpPr>
          <p:cNvPr id="11" name="TextBox 10">
            <a:extLst>
              <a:ext uri="{FF2B5EF4-FFF2-40B4-BE49-F238E27FC236}">
                <a16:creationId xmlns:a16="http://schemas.microsoft.com/office/drawing/2014/main" id="{06A0CCA6-C5AE-4566-8E75-751B78874F8F}"/>
              </a:ext>
            </a:extLst>
          </p:cNvPr>
          <p:cNvSpPr txBox="1"/>
          <p:nvPr/>
        </p:nvSpPr>
        <p:spPr>
          <a:xfrm>
            <a:off x="1631504" y="257144"/>
            <a:ext cx="6998918" cy="640368"/>
          </a:xfrm>
          <a:prstGeom prst="rect">
            <a:avLst/>
          </a:prstGeom>
          <a:noFill/>
        </p:spPr>
        <p:txBody>
          <a:bodyPr wrap="square">
            <a:spAutoFit/>
          </a:bodyPr>
          <a:lstStyle/>
          <a:p>
            <a:pPr algn="just">
              <a:lnSpc>
                <a:spcPct val="115000"/>
              </a:lnSpc>
              <a:spcAft>
                <a:spcPts val="1000"/>
              </a:spcAft>
            </a:pPr>
            <a:r>
              <a:rPr lang="he-IL" sz="1600" dirty="0">
                <a:latin typeface="Calibri" panose="020F0502020204030204" pitchFamily="34" charset="0"/>
                <a:ea typeface="Times New Roman" panose="02020603050405020304" pitchFamily="18" charset="0"/>
                <a:cs typeface="Arial" panose="020B0604020202020204" pitchFamily="34" charset="0"/>
              </a:rPr>
              <a:t>חלבן פועל בשוק תחרותי שבו מחיר השוק של קרטון חלב הוא 11 ש''ח, עלויות הייצור הקבועות (</a:t>
            </a:r>
            <a:r>
              <a:rPr lang="en-US" sz="1600" dirty="0">
                <a:latin typeface="Arial" panose="020B0604020202020204" pitchFamily="34" charset="0"/>
                <a:ea typeface="Times New Roman" panose="02020603050405020304" pitchFamily="18" charset="0"/>
                <a:cs typeface="Arial" panose="020B0604020202020204" pitchFamily="34" charset="0"/>
              </a:rPr>
              <a:t>FC</a:t>
            </a:r>
            <a:r>
              <a:rPr lang="he-IL" sz="1600" dirty="0">
                <a:latin typeface="Calibri" panose="020F0502020204030204" pitchFamily="34" charset="0"/>
                <a:ea typeface="Times New Roman" panose="02020603050405020304" pitchFamily="18" charset="0"/>
                <a:cs typeface="Arial" panose="020B0604020202020204" pitchFamily="34" charset="0"/>
              </a:rPr>
              <a:t>) של היצרן הן 50 ש''ח ועלויות הייצור המשתנות הממוצעות (</a:t>
            </a:r>
            <a:r>
              <a:rPr lang="en-US" sz="1600" dirty="0">
                <a:latin typeface="Arial" panose="020B0604020202020204" pitchFamily="34" charset="0"/>
                <a:ea typeface="Times New Roman" panose="02020603050405020304" pitchFamily="18" charset="0"/>
                <a:cs typeface="Arial" panose="020B0604020202020204" pitchFamily="34" charset="0"/>
              </a:rPr>
              <a:t>AVC</a:t>
            </a:r>
            <a:r>
              <a:rPr lang="he-IL" sz="1600" dirty="0">
                <a:latin typeface="Calibri" panose="020F0502020204030204" pitchFamily="34" charset="0"/>
                <a:ea typeface="Times New Roman" panose="02020603050405020304" pitchFamily="18" charset="0"/>
                <a:cs typeface="Arial" panose="020B0604020202020204" pitchFamily="34" charset="0"/>
              </a:rPr>
              <a:t>) הן:</a:t>
            </a:r>
            <a:endParaRPr lang="en-IL" sz="1600" dirty="0">
              <a:latin typeface="Calibri" panose="020F0502020204030204" pitchFamily="34" charset="0"/>
              <a:ea typeface="Calibri" panose="020F050202020403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94F0952C-6387-4FA8-882A-1A8D48ADBA52}"/>
              </a:ext>
            </a:extLst>
          </p:cNvPr>
          <p:cNvSpPr txBox="1"/>
          <p:nvPr/>
        </p:nvSpPr>
        <p:spPr>
          <a:xfrm>
            <a:off x="7972992" y="4327515"/>
            <a:ext cx="2304256" cy="463075"/>
          </a:xfrm>
          <a:prstGeom prst="rect">
            <a:avLst/>
          </a:prstGeom>
          <a:noFill/>
        </p:spPr>
        <p:txBody>
          <a:bodyPr wrap="square">
            <a:spAutoFit/>
          </a:bodyPr>
          <a:lstStyle/>
          <a:p>
            <a:pPr>
              <a:lnSpc>
                <a:spcPct val="150000"/>
              </a:lnSpc>
              <a:spcBef>
                <a:spcPts val="600"/>
              </a:spcBef>
              <a:spcAft>
                <a:spcPts val="1000"/>
              </a:spcAft>
            </a:pPr>
            <a:r>
              <a:rPr lang="he-IL" dirty="0">
                <a:latin typeface="Calibri" panose="020F0502020204030204" pitchFamily="34" charset="0"/>
                <a:ea typeface="Times New Roman" panose="02020603050405020304" pitchFamily="18" charset="0"/>
                <a:cs typeface="Arial" panose="020B0604020202020204" pitchFamily="34" charset="0"/>
              </a:rPr>
              <a:t>בחרו בתשובה הנכונה:</a:t>
            </a:r>
            <a:endParaRPr lang="en-IL" dirty="0">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13" name="טבלה 3">
            <a:extLst>
              <a:ext uri="{FF2B5EF4-FFF2-40B4-BE49-F238E27FC236}">
                <a16:creationId xmlns:a16="http://schemas.microsoft.com/office/drawing/2014/main" id="{7B9BFE54-C73B-4F2B-84D8-6B34DD0F9E09}"/>
              </a:ext>
            </a:extLst>
          </p:cNvPr>
          <p:cNvGraphicFramePr>
            <a:graphicFrameLocks noGrp="1"/>
          </p:cNvGraphicFramePr>
          <p:nvPr/>
        </p:nvGraphicFramePr>
        <p:xfrm>
          <a:off x="3816319" y="1174880"/>
          <a:ext cx="3227897" cy="2659380"/>
        </p:xfrm>
        <a:graphic>
          <a:graphicData uri="http://schemas.openxmlformats.org/drawingml/2006/table">
            <a:tbl>
              <a:tblPr rtl="1" firstRow="1" bandRow="1">
                <a:tableStyleId>{5C22544A-7EE6-4342-B048-85BDC9FD1C3A}</a:tableStyleId>
              </a:tblPr>
              <a:tblGrid>
                <a:gridCol w="541809">
                  <a:extLst>
                    <a:ext uri="{9D8B030D-6E8A-4147-A177-3AD203B41FA5}">
                      <a16:colId xmlns:a16="http://schemas.microsoft.com/office/drawing/2014/main" val="20000"/>
                    </a:ext>
                  </a:extLst>
                </a:gridCol>
                <a:gridCol w="617228">
                  <a:extLst>
                    <a:ext uri="{9D8B030D-6E8A-4147-A177-3AD203B41FA5}">
                      <a16:colId xmlns:a16="http://schemas.microsoft.com/office/drawing/2014/main" val="20001"/>
                    </a:ext>
                  </a:extLst>
                </a:gridCol>
                <a:gridCol w="1304181">
                  <a:extLst>
                    <a:ext uri="{9D8B030D-6E8A-4147-A177-3AD203B41FA5}">
                      <a16:colId xmlns:a16="http://schemas.microsoft.com/office/drawing/2014/main" val="20002"/>
                    </a:ext>
                  </a:extLst>
                </a:gridCol>
                <a:gridCol w="764679">
                  <a:extLst>
                    <a:ext uri="{9D8B030D-6E8A-4147-A177-3AD203B41FA5}">
                      <a16:colId xmlns:a16="http://schemas.microsoft.com/office/drawing/2014/main" val="20003"/>
                    </a:ext>
                  </a:extLst>
                </a:gridCol>
              </a:tblGrid>
              <a:tr h="278130">
                <a:tc>
                  <a:txBody>
                    <a:bodyPr/>
                    <a:lstStyle/>
                    <a:p>
                      <a:pPr algn="ctr" rtl="1"/>
                      <a:r>
                        <a:rPr lang="en-US" sz="1400" dirty="0">
                          <a:solidFill>
                            <a:schemeClr val="tx1"/>
                          </a:solidFill>
                        </a:rPr>
                        <a:t>Q</a:t>
                      </a:r>
                      <a:endParaRPr lang="he-IL" sz="1400" dirty="0">
                        <a:solidFill>
                          <a:schemeClr val="tx1"/>
                        </a:solidFill>
                      </a:endParaRPr>
                    </a:p>
                  </a:txBody>
                  <a:tcPr marL="68580" marR="68580" marT="34290" marB="34290">
                    <a:solidFill>
                      <a:schemeClr val="accent2">
                        <a:lumMod val="20000"/>
                        <a:lumOff val="80000"/>
                      </a:schemeClr>
                    </a:solidFill>
                  </a:tcPr>
                </a:tc>
                <a:tc>
                  <a:txBody>
                    <a:bodyPr/>
                    <a:lstStyle/>
                    <a:p>
                      <a:pPr algn="ctr" rtl="1"/>
                      <a:r>
                        <a:rPr lang="en-US" sz="1400" dirty="0">
                          <a:solidFill>
                            <a:schemeClr val="tx1"/>
                          </a:solidFill>
                        </a:rPr>
                        <a:t>AVC</a:t>
                      </a:r>
                      <a:endParaRPr lang="he-IL" sz="1400" dirty="0">
                        <a:solidFill>
                          <a:schemeClr val="tx1"/>
                        </a:solidFill>
                      </a:endParaRPr>
                    </a:p>
                  </a:txBody>
                  <a:tcPr marL="68580" marR="68580" marT="34290" marB="34290">
                    <a:solidFill>
                      <a:schemeClr val="accent2">
                        <a:lumMod val="20000"/>
                        <a:lumOff val="80000"/>
                      </a:schemeClr>
                    </a:solidFill>
                  </a:tcPr>
                </a:tc>
                <a:tc>
                  <a:txBody>
                    <a:bodyPr/>
                    <a:lstStyle/>
                    <a:p>
                      <a:pPr algn="ctr" rtl="1"/>
                      <a:r>
                        <a:rPr lang="en-US" sz="1400" dirty="0">
                          <a:solidFill>
                            <a:schemeClr val="tx1"/>
                          </a:solidFill>
                        </a:rPr>
                        <a:t>VC</a:t>
                      </a:r>
                      <a:endParaRPr lang="he-IL" sz="1400" dirty="0">
                        <a:solidFill>
                          <a:schemeClr val="tx1"/>
                        </a:solidFill>
                      </a:endParaRPr>
                    </a:p>
                  </a:txBody>
                  <a:tcPr marL="68580" marR="68580" marT="34290" marB="34290">
                    <a:solidFill>
                      <a:schemeClr val="accent2">
                        <a:lumMod val="20000"/>
                        <a:lumOff val="80000"/>
                      </a:schemeClr>
                    </a:solidFill>
                  </a:tcPr>
                </a:tc>
                <a:tc>
                  <a:txBody>
                    <a:bodyPr/>
                    <a:lstStyle/>
                    <a:p>
                      <a:pPr algn="ctr" rtl="1"/>
                      <a:r>
                        <a:rPr lang="en-US" sz="1400" b="1" dirty="0">
                          <a:solidFill>
                            <a:schemeClr val="accent6">
                              <a:lumMod val="50000"/>
                            </a:schemeClr>
                          </a:solidFill>
                        </a:rPr>
                        <a:t>MC</a:t>
                      </a:r>
                      <a:endParaRPr lang="he-IL" sz="1400" b="1" dirty="0">
                        <a:solidFill>
                          <a:schemeClr val="accent6">
                            <a:lumMod val="50000"/>
                          </a:schemeClr>
                        </a:solidFill>
                      </a:endParaRPr>
                    </a:p>
                  </a:txBody>
                  <a:tcPr marL="68580" marR="68580" marT="34290" marB="34290">
                    <a:solidFill>
                      <a:schemeClr val="accent2">
                        <a:lumMod val="20000"/>
                        <a:lumOff val="80000"/>
                      </a:schemeClr>
                    </a:solidFill>
                  </a:tcPr>
                </a:tc>
                <a:extLst>
                  <a:ext uri="{0D108BD9-81ED-4DB2-BD59-A6C34878D82A}">
                    <a16:rowId xmlns:a16="http://schemas.microsoft.com/office/drawing/2014/main" val="10000"/>
                  </a:ext>
                </a:extLst>
              </a:tr>
              <a:tr h="297180">
                <a:tc>
                  <a:txBody>
                    <a:bodyPr/>
                    <a:lstStyle/>
                    <a:p>
                      <a:pPr algn="ctr" rtl="1"/>
                      <a:r>
                        <a:rPr lang="en-US" sz="1400" dirty="0"/>
                        <a:t>1</a:t>
                      </a:r>
                      <a:endParaRPr lang="he-IL" sz="1400" dirty="0"/>
                    </a:p>
                  </a:txBody>
                  <a:tcPr marL="68580" marR="68580" marT="34290" marB="34290"/>
                </a:tc>
                <a:tc>
                  <a:txBody>
                    <a:bodyPr/>
                    <a:lstStyle/>
                    <a:p>
                      <a:pPr algn="ctr" rtl="1"/>
                      <a:r>
                        <a:rPr lang="en-US" sz="1400" dirty="0"/>
                        <a:t>10</a:t>
                      </a:r>
                      <a:endParaRPr lang="he-IL" sz="1400" dirty="0"/>
                    </a:p>
                  </a:txBody>
                  <a:tcPr marL="68580" marR="68580" marT="34290" marB="34290"/>
                </a:tc>
                <a:tc>
                  <a:txBody>
                    <a:bodyPr/>
                    <a:lstStyle/>
                    <a:p>
                      <a:pPr algn="ctr" rtl="1"/>
                      <a:endParaRPr lang="he-IL" sz="1400" b="0" dirty="0"/>
                    </a:p>
                  </a:txBody>
                  <a:tcPr marL="68580" marR="68580" marT="34290" marB="34290"/>
                </a:tc>
                <a:tc>
                  <a:txBody>
                    <a:bodyPr/>
                    <a:lstStyle/>
                    <a:p>
                      <a:pPr algn="ctr" rtl="1"/>
                      <a:r>
                        <a:rPr lang="he-IL" sz="1500" b="1" dirty="0">
                          <a:solidFill>
                            <a:schemeClr val="accent6">
                              <a:lumMod val="50000"/>
                            </a:schemeClr>
                          </a:solidFill>
                          <a:latin typeface="Arial" pitchFamily="34" charset="0"/>
                          <a:cs typeface="Arial" pitchFamily="34" charset="0"/>
                        </a:rPr>
                        <a:t>10</a:t>
                      </a:r>
                    </a:p>
                  </a:txBody>
                  <a:tcPr marL="68580" marR="68580" marT="34290" marB="34290"/>
                </a:tc>
                <a:extLst>
                  <a:ext uri="{0D108BD9-81ED-4DB2-BD59-A6C34878D82A}">
                    <a16:rowId xmlns:a16="http://schemas.microsoft.com/office/drawing/2014/main" val="10001"/>
                  </a:ext>
                </a:extLst>
              </a:tr>
              <a:tr h="297180">
                <a:tc>
                  <a:txBody>
                    <a:bodyPr/>
                    <a:lstStyle/>
                    <a:p>
                      <a:pPr algn="ctr" rtl="1"/>
                      <a:r>
                        <a:rPr lang="en-US" sz="1400" dirty="0"/>
                        <a:t>2</a:t>
                      </a:r>
                      <a:endParaRPr lang="he-IL" sz="1400" dirty="0"/>
                    </a:p>
                  </a:txBody>
                  <a:tcPr marL="68580" marR="68580" marT="34290" marB="34290"/>
                </a:tc>
                <a:tc>
                  <a:txBody>
                    <a:bodyPr/>
                    <a:lstStyle/>
                    <a:p>
                      <a:pPr algn="ctr" rtl="1"/>
                      <a:r>
                        <a:rPr lang="en-US" sz="1400" dirty="0"/>
                        <a:t>7</a:t>
                      </a:r>
                      <a:endParaRPr lang="he-IL" sz="1400" dirty="0"/>
                    </a:p>
                  </a:txBody>
                  <a:tcPr marL="68580" marR="68580" marT="34290" marB="34290"/>
                </a:tc>
                <a:tc>
                  <a:txBody>
                    <a:bodyPr/>
                    <a:lstStyle/>
                    <a:p>
                      <a:pPr algn="ctr" rtl="1"/>
                      <a:endParaRPr lang="he-IL" sz="1400" dirty="0"/>
                    </a:p>
                  </a:txBody>
                  <a:tcPr marL="68580" marR="68580" marT="34290" marB="34290"/>
                </a:tc>
                <a:tc>
                  <a:txBody>
                    <a:bodyPr/>
                    <a:lstStyle/>
                    <a:p>
                      <a:pPr algn="ctr" rtl="1"/>
                      <a:r>
                        <a:rPr lang="en-US" sz="1500" b="1" dirty="0">
                          <a:solidFill>
                            <a:schemeClr val="accent6">
                              <a:lumMod val="50000"/>
                            </a:schemeClr>
                          </a:solidFill>
                          <a:latin typeface="Arial" pitchFamily="34" charset="0"/>
                          <a:cs typeface="Arial" pitchFamily="34" charset="0"/>
                        </a:rPr>
                        <a:t>4</a:t>
                      </a:r>
                      <a:endParaRPr lang="he-IL" sz="1500" b="1" dirty="0">
                        <a:solidFill>
                          <a:schemeClr val="accent6">
                            <a:lumMod val="50000"/>
                          </a:schemeClr>
                        </a:solidFill>
                        <a:latin typeface="Arial" pitchFamily="34" charset="0"/>
                        <a:cs typeface="Arial" pitchFamily="34" charset="0"/>
                      </a:endParaRPr>
                    </a:p>
                  </a:txBody>
                  <a:tcPr marL="68580" marR="68580" marT="34290" marB="34290"/>
                </a:tc>
                <a:extLst>
                  <a:ext uri="{0D108BD9-81ED-4DB2-BD59-A6C34878D82A}">
                    <a16:rowId xmlns:a16="http://schemas.microsoft.com/office/drawing/2014/main" val="10002"/>
                  </a:ext>
                </a:extLst>
              </a:tr>
              <a:tr h="297180">
                <a:tc>
                  <a:txBody>
                    <a:bodyPr/>
                    <a:lstStyle/>
                    <a:p>
                      <a:pPr algn="ctr" rtl="1"/>
                      <a:r>
                        <a:rPr lang="en-US" sz="1400" dirty="0"/>
                        <a:t>3</a:t>
                      </a:r>
                      <a:endParaRPr lang="he-IL" sz="1400" dirty="0"/>
                    </a:p>
                  </a:txBody>
                  <a:tcPr marL="68580" marR="68580" marT="34290" marB="34290"/>
                </a:tc>
                <a:tc>
                  <a:txBody>
                    <a:bodyPr/>
                    <a:lstStyle/>
                    <a:p>
                      <a:pPr algn="ctr" rtl="1"/>
                      <a:r>
                        <a:rPr lang="en-US" sz="1400" dirty="0"/>
                        <a:t>5</a:t>
                      </a:r>
                      <a:endParaRPr lang="he-IL" sz="1400" dirty="0"/>
                    </a:p>
                  </a:txBody>
                  <a:tcPr marL="68580" marR="68580" marT="34290" marB="34290"/>
                </a:tc>
                <a:tc>
                  <a:txBody>
                    <a:bodyPr/>
                    <a:lstStyle/>
                    <a:p>
                      <a:pPr algn="ctr" rtl="1"/>
                      <a:endParaRPr lang="he-IL" sz="1400" dirty="0"/>
                    </a:p>
                  </a:txBody>
                  <a:tcPr marL="68580" marR="68580" marT="34290" marB="34290"/>
                </a:tc>
                <a:tc>
                  <a:txBody>
                    <a:bodyPr/>
                    <a:lstStyle/>
                    <a:p>
                      <a:pPr algn="ctr" rtl="1"/>
                      <a:r>
                        <a:rPr lang="en-US" sz="1500" b="1" dirty="0">
                          <a:solidFill>
                            <a:schemeClr val="accent6">
                              <a:lumMod val="50000"/>
                            </a:schemeClr>
                          </a:solidFill>
                          <a:latin typeface="Arial" pitchFamily="34" charset="0"/>
                          <a:cs typeface="Arial" pitchFamily="34" charset="0"/>
                        </a:rPr>
                        <a:t>1</a:t>
                      </a:r>
                      <a:endParaRPr lang="he-IL" sz="1500" b="1" dirty="0">
                        <a:solidFill>
                          <a:schemeClr val="accent6">
                            <a:lumMod val="50000"/>
                          </a:schemeClr>
                        </a:solidFill>
                        <a:latin typeface="Arial" pitchFamily="34" charset="0"/>
                        <a:cs typeface="Arial" pitchFamily="34" charset="0"/>
                      </a:endParaRPr>
                    </a:p>
                  </a:txBody>
                  <a:tcPr marL="68580" marR="68580" marT="34290" marB="34290"/>
                </a:tc>
                <a:extLst>
                  <a:ext uri="{0D108BD9-81ED-4DB2-BD59-A6C34878D82A}">
                    <a16:rowId xmlns:a16="http://schemas.microsoft.com/office/drawing/2014/main" val="10003"/>
                  </a:ext>
                </a:extLst>
              </a:tr>
              <a:tr h="297180">
                <a:tc>
                  <a:txBody>
                    <a:bodyPr/>
                    <a:lstStyle/>
                    <a:p>
                      <a:pPr algn="ctr" rtl="1"/>
                      <a:r>
                        <a:rPr lang="en-US" sz="1400" dirty="0"/>
                        <a:t>4</a:t>
                      </a:r>
                      <a:endParaRPr lang="he-IL" sz="1400" dirty="0"/>
                    </a:p>
                  </a:txBody>
                  <a:tcPr marL="68580" marR="68580" marT="34290" marB="34290"/>
                </a:tc>
                <a:tc>
                  <a:txBody>
                    <a:bodyPr/>
                    <a:lstStyle/>
                    <a:p>
                      <a:pPr algn="ctr" rtl="1"/>
                      <a:r>
                        <a:rPr lang="en-US" sz="1400" dirty="0"/>
                        <a:t>6</a:t>
                      </a:r>
                      <a:endParaRPr lang="he-IL" sz="1400" dirty="0"/>
                    </a:p>
                  </a:txBody>
                  <a:tcPr marL="68580" marR="68580" marT="34290" marB="34290"/>
                </a:tc>
                <a:tc>
                  <a:txBody>
                    <a:bodyPr/>
                    <a:lstStyle/>
                    <a:p>
                      <a:pPr algn="ctr" rtl="1"/>
                      <a:endParaRPr lang="he-IL" sz="1400" dirty="0"/>
                    </a:p>
                  </a:txBody>
                  <a:tcPr marL="68580" marR="68580" marT="34290" marB="34290"/>
                </a:tc>
                <a:tc>
                  <a:txBody>
                    <a:bodyPr/>
                    <a:lstStyle/>
                    <a:p>
                      <a:pPr algn="ctr" rtl="1"/>
                      <a:r>
                        <a:rPr lang="en-US" sz="1500" b="1" i="0" dirty="0">
                          <a:solidFill>
                            <a:schemeClr val="accent6">
                              <a:lumMod val="50000"/>
                            </a:schemeClr>
                          </a:solidFill>
                          <a:latin typeface="Arial" pitchFamily="34" charset="0"/>
                          <a:cs typeface="Arial" pitchFamily="34" charset="0"/>
                        </a:rPr>
                        <a:t>9</a:t>
                      </a:r>
                      <a:endParaRPr lang="he-IL" sz="1500" b="1" i="0" dirty="0">
                        <a:solidFill>
                          <a:schemeClr val="accent6">
                            <a:lumMod val="50000"/>
                          </a:schemeClr>
                        </a:solidFill>
                        <a:latin typeface="Arial" pitchFamily="34" charset="0"/>
                        <a:cs typeface="Arial" pitchFamily="34" charset="0"/>
                      </a:endParaRPr>
                    </a:p>
                  </a:txBody>
                  <a:tcPr marL="68580" marR="68580" marT="34290" marB="34290"/>
                </a:tc>
                <a:extLst>
                  <a:ext uri="{0D108BD9-81ED-4DB2-BD59-A6C34878D82A}">
                    <a16:rowId xmlns:a16="http://schemas.microsoft.com/office/drawing/2014/main" val="10004"/>
                  </a:ext>
                </a:extLst>
              </a:tr>
              <a:tr h="297180">
                <a:tc>
                  <a:txBody>
                    <a:bodyPr/>
                    <a:lstStyle/>
                    <a:p>
                      <a:pPr algn="ctr" rtl="1"/>
                      <a:r>
                        <a:rPr lang="en-US" sz="1400" dirty="0"/>
                        <a:t>5</a:t>
                      </a:r>
                      <a:endParaRPr lang="he-IL" sz="1400" dirty="0"/>
                    </a:p>
                  </a:txBody>
                  <a:tcPr marL="68580" marR="68580" marT="34290" marB="34290"/>
                </a:tc>
                <a:tc>
                  <a:txBody>
                    <a:bodyPr/>
                    <a:lstStyle/>
                    <a:p>
                      <a:pPr algn="ctr" rtl="1"/>
                      <a:r>
                        <a:rPr lang="en-US" sz="1400" dirty="0"/>
                        <a:t>7</a:t>
                      </a:r>
                      <a:endParaRPr lang="he-IL" sz="1400" dirty="0"/>
                    </a:p>
                  </a:txBody>
                  <a:tcPr marL="68580" marR="68580" marT="34290" marB="34290"/>
                </a:tc>
                <a:tc>
                  <a:txBody>
                    <a:bodyPr/>
                    <a:lstStyle/>
                    <a:p>
                      <a:pPr algn="ctr" rtl="1"/>
                      <a:r>
                        <a:rPr lang="he-IL" sz="1400" b="1" dirty="0"/>
                        <a:t>35</a:t>
                      </a:r>
                    </a:p>
                  </a:txBody>
                  <a:tcPr marL="68580" marR="68580" marT="34290" marB="34290"/>
                </a:tc>
                <a:tc>
                  <a:txBody>
                    <a:bodyPr/>
                    <a:lstStyle/>
                    <a:p>
                      <a:pPr algn="ctr" rtl="1"/>
                      <a:r>
                        <a:rPr lang="en-US" sz="1500" b="1" dirty="0">
                          <a:solidFill>
                            <a:schemeClr val="accent6">
                              <a:lumMod val="50000"/>
                            </a:schemeClr>
                          </a:solidFill>
                          <a:latin typeface="Arial" pitchFamily="34" charset="0"/>
                          <a:cs typeface="Arial" pitchFamily="34" charset="0"/>
                        </a:rPr>
                        <a:t>11</a:t>
                      </a:r>
                      <a:endParaRPr lang="he-IL" sz="1500" b="1" dirty="0">
                        <a:solidFill>
                          <a:schemeClr val="accent6">
                            <a:lumMod val="50000"/>
                          </a:schemeClr>
                        </a:solidFill>
                        <a:latin typeface="Arial" pitchFamily="34" charset="0"/>
                        <a:cs typeface="Arial" pitchFamily="34" charset="0"/>
                      </a:endParaRPr>
                    </a:p>
                  </a:txBody>
                  <a:tcPr marL="68580" marR="68580" marT="34290" marB="34290"/>
                </a:tc>
                <a:extLst>
                  <a:ext uri="{0D108BD9-81ED-4DB2-BD59-A6C34878D82A}">
                    <a16:rowId xmlns:a16="http://schemas.microsoft.com/office/drawing/2014/main" val="10005"/>
                  </a:ext>
                </a:extLst>
              </a:tr>
              <a:tr h="297180">
                <a:tc>
                  <a:txBody>
                    <a:bodyPr/>
                    <a:lstStyle/>
                    <a:p>
                      <a:pPr algn="ctr" rtl="1"/>
                      <a:r>
                        <a:rPr lang="en-US" sz="1400" dirty="0"/>
                        <a:t>6</a:t>
                      </a:r>
                      <a:endParaRPr lang="he-IL" sz="1400" dirty="0"/>
                    </a:p>
                  </a:txBody>
                  <a:tcPr marL="68580" marR="68580" marT="34290" marB="34290"/>
                </a:tc>
                <a:tc>
                  <a:txBody>
                    <a:bodyPr/>
                    <a:lstStyle/>
                    <a:p>
                      <a:pPr algn="ctr" rtl="1"/>
                      <a:r>
                        <a:rPr lang="en-US" sz="1400" dirty="0"/>
                        <a:t>8</a:t>
                      </a:r>
                      <a:endParaRPr lang="he-IL" sz="1400" dirty="0"/>
                    </a:p>
                  </a:txBody>
                  <a:tcPr marL="68580" marR="68580" marT="34290" marB="34290"/>
                </a:tc>
                <a:tc>
                  <a:txBody>
                    <a:bodyPr/>
                    <a:lstStyle/>
                    <a:p>
                      <a:pPr algn="ctr" rtl="1"/>
                      <a:r>
                        <a:rPr lang="he-IL" sz="1400" dirty="0"/>
                        <a:t>48</a:t>
                      </a:r>
                    </a:p>
                  </a:txBody>
                  <a:tcPr marL="68580" marR="68580" marT="34290" marB="34290"/>
                </a:tc>
                <a:tc>
                  <a:txBody>
                    <a:bodyPr/>
                    <a:lstStyle/>
                    <a:p>
                      <a:pPr algn="ctr" rtl="1"/>
                      <a:r>
                        <a:rPr lang="en-US" sz="1500" b="1" dirty="0">
                          <a:solidFill>
                            <a:schemeClr val="accent6">
                              <a:lumMod val="50000"/>
                            </a:schemeClr>
                          </a:solidFill>
                          <a:latin typeface="Arial" pitchFamily="34" charset="0"/>
                          <a:cs typeface="Arial" pitchFamily="34" charset="0"/>
                        </a:rPr>
                        <a:t>13</a:t>
                      </a:r>
                      <a:endParaRPr lang="he-IL" sz="1500" b="1" dirty="0">
                        <a:solidFill>
                          <a:schemeClr val="accent6">
                            <a:lumMod val="50000"/>
                          </a:schemeClr>
                        </a:solidFill>
                        <a:latin typeface="Arial" pitchFamily="34" charset="0"/>
                        <a:cs typeface="Arial" pitchFamily="34" charset="0"/>
                      </a:endParaRPr>
                    </a:p>
                  </a:txBody>
                  <a:tcPr marL="68580" marR="68580" marT="34290" marB="34290"/>
                </a:tc>
                <a:extLst>
                  <a:ext uri="{0D108BD9-81ED-4DB2-BD59-A6C34878D82A}">
                    <a16:rowId xmlns:a16="http://schemas.microsoft.com/office/drawing/2014/main" val="10006"/>
                  </a:ext>
                </a:extLst>
              </a:tr>
              <a:tr h="297180">
                <a:tc>
                  <a:txBody>
                    <a:bodyPr/>
                    <a:lstStyle/>
                    <a:p>
                      <a:pPr algn="ctr" rtl="1"/>
                      <a:r>
                        <a:rPr lang="en-US" sz="1400" dirty="0"/>
                        <a:t>7</a:t>
                      </a:r>
                      <a:endParaRPr lang="he-IL" sz="1400" dirty="0"/>
                    </a:p>
                  </a:txBody>
                  <a:tcPr marL="68580" marR="68580" marT="34290" marB="34290"/>
                </a:tc>
                <a:tc>
                  <a:txBody>
                    <a:bodyPr/>
                    <a:lstStyle/>
                    <a:p>
                      <a:pPr algn="ctr" rtl="1"/>
                      <a:r>
                        <a:rPr lang="en-US" sz="1400" dirty="0"/>
                        <a:t>11</a:t>
                      </a:r>
                      <a:endParaRPr lang="he-IL" sz="1400" dirty="0"/>
                    </a:p>
                  </a:txBody>
                  <a:tcPr marL="68580" marR="68580" marT="34290" marB="34290"/>
                </a:tc>
                <a:tc>
                  <a:txBody>
                    <a:bodyPr/>
                    <a:lstStyle/>
                    <a:p>
                      <a:pPr algn="ctr" rtl="1"/>
                      <a:r>
                        <a:rPr lang="he-IL" sz="1400" dirty="0"/>
                        <a:t>77</a:t>
                      </a:r>
                    </a:p>
                  </a:txBody>
                  <a:tcPr marL="68580" marR="68580" marT="34290" marB="34290"/>
                </a:tc>
                <a:tc>
                  <a:txBody>
                    <a:bodyPr/>
                    <a:lstStyle/>
                    <a:p>
                      <a:pPr algn="ctr" rtl="1"/>
                      <a:r>
                        <a:rPr lang="en-US" sz="1500" b="1" dirty="0">
                          <a:solidFill>
                            <a:schemeClr val="accent6">
                              <a:lumMod val="50000"/>
                            </a:schemeClr>
                          </a:solidFill>
                          <a:latin typeface="Arial" pitchFamily="34" charset="0"/>
                          <a:cs typeface="Arial" pitchFamily="34" charset="0"/>
                        </a:rPr>
                        <a:t>29</a:t>
                      </a:r>
                      <a:endParaRPr lang="he-IL" sz="1500" b="1" dirty="0">
                        <a:solidFill>
                          <a:schemeClr val="accent6">
                            <a:lumMod val="50000"/>
                          </a:schemeClr>
                        </a:solidFill>
                        <a:latin typeface="Arial" pitchFamily="34" charset="0"/>
                        <a:cs typeface="Arial" pitchFamily="34" charset="0"/>
                      </a:endParaRPr>
                    </a:p>
                  </a:txBody>
                  <a:tcPr marL="68580" marR="68580" marT="34290" marB="34290"/>
                </a:tc>
                <a:extLst>
                  <a:ext uri="{0D108BD9-81ED-4DB2-BD59-A6C34878D82A}">
                    <a16:rowId xmlns:a16="http://schemas.microsoft.com/office/drawing/2014/main" val="10007"/>
                  </a:ext>
                </a:extLst>
              </a:tr>
              <a:tr h="297180">
                <a:tc>
                  <a:txBody>
                    <a:bodyPr/>
                    <a:lstStyle/>
                    <a:p>
                      <a:pPr algn="ctr" rtl="1"/>
                      <a:r>
                        <a:rPr lang="en-US" sz="1400" dirty="0"/>
                        <a:t>8</a:t>
                      </a:r>
                      <a:endParaRPr lang="he-IL" sz="1400" dirty="0"/>
                    </a:p>
                  </a:txBody>
                  <a:tcPr marL="68580" marR="68580" marT="34290" marB="34290"/>
                </a:tc>
                <a:tc>
                  <a:txBody>
                    <a:bodyPr/>
                    <a:lstStyle/>
                    <a:p>
                      <a:pPr algn="ctr" rtl="1"/>
                      <a:r>
                        <a:rPr lang="en-US" sz="1400" dirty="0"/>
                        <a:t>15</a:t>
                      </a:r>
                      <a:endParaRPr lang="he-IL" sz="1400" dirty="0"/>
                    </a:p>
                  </a:txBody>
                  <a:tcPr marL="68580" marR="68580" marT="34290" marB="34290"/>
                </a:tc>
                <a:tc>
                  <a:txBody>
                    <a:bodyPr/>
                    <a:lstStyle/>
                    <a:p>
                      <a:pPr algn="ctr" rtl="1"/>
                      <a:r>
                        <a:rPr lang="he-IL" sz="1400" dirty="0"/>
                        <a:t>120</a:t>
                      </a:r>
                    </a:p>
                  </a:txBody>
                  <a:tcPr marL="68580" marR="68580" marT="34290" marB="34290"/>
                </a:tc>
                <a:tc>
                  <a:txBody>
                    <a:bodyPr/>
                    <a:lstStyle/>
                    <a:p>
                      <a:pPr algn="ctr" rtl="1"/>
                      <a:r>
                        <a:rPr lang="en-US" sz="1500" b="1" dirty="0">
                          <a:solidFill>
                            <a:schemeClr val="accent6">
                              <a:lumMod val="50000"/>
                            </a:schemeClr>
                          </a:solidFill>
                          <a:latin typeface="Arial" pitchFamily="34" charset="0"/>
                          <a:cs typeface="Arial" pitchFamily="34" charset="0"/>
                        </a:rPr>
                        <a:t>43</a:t>
                      </a:r>
                      <a:endParaRPr lang="he-IL" sz="1500" b="1" dirty="0">
                        <a:solidFill>
                          <a:schemeClr val="accent6">
                            <a:lumMod val="50000"/>
                          </a:schemeClr>
                        </a:solidFill>
                        <a:latin typeface="Arial" pitchFamily="34" charset="0"/>
                        <a:cs typeface="Arial" pitchFamily="34" charset="0"/>
                      </a:endParaRPr>
                    </a:p>
                  </a:txBody>
                  <a:tcPr marL="68580" marR="68580" marT="34290" marB="34290"/>
                </a:tc>
                <a:extLst>
                  <a:ext uri="{0D108BD9-81ED-4DB2-BD59-A6C34878D82A}">
                    <a16:rowId xmlns:a16="http://schemas.microsoft.com/office/drawing/2014/main" val="10008"/>
                  </a:ext>
                </a:extLst>
              </a:tr>
            </a:tbl>
          </a:graphicData>
        </a:graphic>
      </p:graphicFrame>
      <p:sp>
        <p:nvSpPr>
          <p:cNvPr id="14" name="TextBox 13">
            <a:extLst>
              <a:ext uri="{FF2B5EF4-FFF2-40B4-BE49-F238E27FC236}">
                <a16:creationId xmlns:a16="http://schemas.microsoft.com/office/drawing/2014/main" id="{5DC909E1-8D1E-4771-8CC5-3F88D915ED9B}"/>
              </a:ext>
            </a:extLst>
          </p:cNvPr>
          <p:cNvSpPr txBox="1"/>
          <p:nvPr/>
        </p:nvSpPr>
        <p:spPr>
          <a:xfrm>
            <a:off x="8064191" y="1516257"/>
            <a:ext cx="2038739" cy="346249"/>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pPr algn="r" rtl="1"/>
            <a:r>
              <a:rPr lang="he-IL" sz="1350" dirty="0">
                <a:solidFill>
                  <a:prstClr val="black"/>
                </a:solidFill>
                <a:latin typeface="Calibri"/>
                <a:cs typeface="Arial" panose="020B0604020202020204" pitchFamily="34" charset="0"/>
              </a:rPr>
              <a:t>נתון: </a:t>
            </a:r>
            <a:r>
              <a:rPr lang="he-IL" sz="1350" dirty="0" err="1">
                <a:solidFill>
                  <a:prstClr val="black"/>
                </a:solidFill>
                <a:latin typeface="Calibri"/>
                <a:cs typeface="Arial" panose="020B0604020202020204" pitchFamily="34" charset="0"/>
              </a:rPr>
              <a:t>ש''ח</a:t>
            </a:r>
            <a:r>
              <a:rPr lang="he-IL" sz="1350" dirty="0">
                <a:solidFill>
                  <a:prstClr val="black"/>
                </a:solidFill>
                <a:latin typeface="Calibri"/>
                <a:cs typeface="Arial" panose="020B0604020202020204" pitchFamily="34" charset="0"/>
              </a:rPr>
              <a:t> 11=</a:t>
            </a:r>
            <a:r>
              <a:rPr lang="en-US" sz="1650" dirty="0">
                <a:solidFill>
                  <a:prstClr val="black"/>
                </a:solidFill>
                <a:latin typeface="Calibri"/>
              </a:rPr>
              <a:t>P</a:t>
            </a:r>
            <a:r>
              <a:rPr lang="en-US" sz="1500" dirty="0">
                <a:solidFill>
                  <a:prstClr val="black"/>
                </a:solidFill>
                <a:latin typeface="Calibri"/>
              </a:rPr>
              <a:t> </a:t>
            </a:r>
            <a:endParaRPr lang="he-IL" sz="1500" dirty="0">
              <a:solidFill>
                <a:prstClr val="black"/>
              </a:solidFill>
              <a:latin typeface="Calibri"/>
              <a:cs typeface="Arial" panose="020B0604020202020204" pitchFamily="34"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2AA6FD6-ABB3-4FA4-B9DD-83578B6DC045}"/>
                  </a:ext>
                </a:extLst>
              </p:cNvPr>
              <p:cNvSpPr txBox="1"/>
              <p:nvPr/>
            </p:nvSpPr>
            <p:spPr>
              <a:xfrm>
                <a:off x="8064190" y="2108422"/>
                <a:ext cx="2038740" cy="300082"/>
              </a:xfrm>
              <a:prstGeom prst="rect">
                <a:avLst/>
              </a:prstGeom>
              <a:ln/>
            </p:spPr>
            <p:style>
              <a:lnRef idx="2">
                <a:schemeClr val="accent3"/>
              </a:lnRef>
              <a:fillRef idx="1">
                <a:schemeClr val="lt1"/>
              </a:fillRef>
              <a:effectRef idx="0">
                <a:schemeClr val="accent3"/>
              </a:effectRef>
              <a:fontRef idx="minor">
                <a:schemeClr val="dk1"/>
              </a:fontRef>
            </p:style>
            <p:txBody>
              <a:bodyPr wrap="square" rtlCol="1">
                <a:spAutoFit/>
              </a:bodyPr>
              <a:lstStyle/>
              <a:p>
                <a:pPr algn="r" rtl="1"/>
                <a14:m>
                  <m:oMathPara xmlns:m="http://schemas.openxmlformats.org/officeDocument/2006/math">
                    <m:oMathParaPr>
                      <m:jc m:val="centerGroup"/>
                    </m:oMathParaPr>
                    <m:oMath xmlns:m="http://schemas.openxmlformats.org/officeDocument/2006/math">
                      <m:r>
                        <m:rPr>
                          <m:sty m:val="p"/>
                        </m:rPr>
                        <a:rPr lang="he-IL" sz="1350">
                          <a:solidFill>
                            <a:prstClr val="black"/>
                          </a:solidFill>
                          <a:latin typeface="Cambria Math"/>
                        </a:rPr>
                        <m:t>P</m:t>
                      </m:r>
                      <m:r>
                        <a:rPr lang="he-IL" sz="1350">
                          <a:solidFill>
                            <a:prstClr val="black"/>
                          </a:solidFill>
                          <a:latin typeface="Cambria Math"/>
                        </a:rPr>
                        <m:t>=</m:t>
                      </m:r>
                      <m:r>
                        <m:rPr>
                          <m:sty m:val="p"/>
                        </m:rPr>
                        <a:rPr lang="he-IL" sz="1350">
                          <a:solidFill>
                            <a:prstClr val="black"/>
                          </a:solidFill>
                          <a:latin typeface="Cambria Math"/>
                        </a:rPr>
                        <m:t>MC</m:t>
                      </m:r>
                      <m:r>
                        <a:rPr lang="he-IL" sz="1350">
                          <a:solidFill>
                            <a:prstClr val="black"/>
                          </a:solidFill>
                          <a:latin typeface="Cambria Math"/>
                        </a:rPr>
                        <m:t>(</m:t>
                      </m:r>
                      <m:r>
                        <a:rPr lang="en-US" sz="1350" b="1">
                          <a:solidFill>
                            <a:prstClr val="black"/>
                          </a:solidFill>
                          <a:latin typeface="Cambria Math" panose="02040503050406030204" pitchFamily="18" charset="0"/>
                        </a:rPr>
                        <m:t>𝐐</m:t>
                      </m:r>
                      <m:r>
                        <a:rPr lang="he-IL" sz="1350" b="1">
                          <a:solidFill>
                            <a:prstClr val="black"/>
                          </a:solidFill>
                          <a:latin typeface="Cambria Math"/>
                        </a:rPr>
                        <m:t>=</m:t>
                      </m:r>
                      <m:r>
                        <a:rPr lang="he-IL" sz="1350" b="1">
                          <a:solidFill>
                            <a:prstClr val="black"/>
                          </a:solidFill>
                          <a:latin typeface="Cambria Math"/>
                        </a:rPr>
                        <m:t>𝟓</m:t>
                      </m:r>
                      <m:r>
                        <a:rPr lang="he-IL" sz="1350">
                          <a:solidFill>
                            <a:prstClr val="black"/>
                          </a:solidFill>
                          <a:latin typeface="Cambria Math"/>
                        </a:rPr>
                        <m:t>)=</m:t>
                      </m:r>
                      <m:r>
                        <a:rPr lang="he-IL" sz="1350">
                          <a:solidFill>
                            <a:prstClr val="black"/>
                          </a:solidFill>
                          <a:latin typeface="Cambria Math"/>
                        </a:rPr>
                        <m:t>11</m:t>
                      </m:r>
                    </m:oMath>
                  </m:oMathPara>
                </a14:m>
                <a:endParaRPr lang="he-IL" sz="1500" dirty="0">
                  <a:solidFill>
                    <a:prstClr val="black"/>
                  </a:solidFill>
                  <a:latin typeface="Calibri"/>
                  <a:cs typeface="Arial" panose="020B0604020202020204" pitchFamily="34" charset="0"/>
                </a:endParaRPr>
              </a:p>
            </p:txBody>
          </p:sp>
        </mc:Choice>
        <mc:Fallback xmlns="">
          <p:sp>
            <p:nvSpPr>
              <p:cNvPr id="15" name="TextBox 14">
                <a:extLst>
                  <a:ext uri="{FF2B5EF4-FFF2-40B4-BE49-F238E27FC236}">
                    <a16:creationId xmlns:a16="http://schemas.microsoft.com/office/drawing/2014/main" id="{E2AA6FD6-ABB3-4FA4-B9DD-83578B6DC045}"/>
                  </a:ext>
                </a:extLst>
              </p:cNvPr>
              <p:cNvSpPr txBox="1">
                <a:spLocks noRot="1" noChangeAspect="1" noMove="1" noResize="1" noEditPoints="1" noAdjustHandles="1" noChangeArrowheads="1" noChangeShapeType="1" noTextEdit="1"/>
              </p:cNvSpPr>
              <p:nvPr/>
            </p:nvSpPr>
            <p:spPr>
              <a:xfrm>
                <a:off x="8064190" y="2108422"/>
                <a:ext cx="2038740" cy="300082"/>
              </a:xfrm>
              <a:prstGeom prst="rect">
                <a:avLst/>
              </a:prstGeom>
              <a:blipFill>
                <a:blip r:embed="rId2"/>
                <a:stretch>
                  <a:fillRect b="-7843"/>
                </a:stretch>
              </a:blipFill>
              <a:ln/>
            </p:spPr>
            <p:txBody>
              <a:bodyPr/>
              <a:lstStyle/>
              <a:p>
                <a:r>
                  <a:rPr lang="en-IL">
                    <a:noFill/>
                  </a:rPr>
                  <a:t> </a:t>
                </a:r>
              </a:p>
            </p:txBody>
          </p:sp>
        </mc:Fallback>
      </mc:AlternateContent>
      <p:sp>
        <p:nvSpPr>
          <p:cNvPr id="16" name="TextBox 15">
            <a:extLst>
              <a:ext uri="{FF2B5EF4-FFF2-40B4-BE49-F238E27FC236}">
                <a16:creationId xmlns:a16="http://schemas.microsoft.com/office/drawing/2014/main" id="{A310E03D-1ADF-4593-8265-BC8E53B88E68}"/>
              </a:ext>
            </a:extLst>
          </p:cNvPr>
          <p:cNvSpPr txBox="1"/>
          <p:nvPr/>
        </p:nvSpPr>
        <p:spPr>
          <a:xfrm>
            <a:off x="7969351" y="2738049"/>
            <a:ext cx="2134632" cy="300082"/>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wrap="square" rtlCol="1">
            <a:spAutoFit/>
          </a:bodyPr>
          <a:lstStyle/>
          <a:p>
            <a:pPr algn="r" rtl="1"/>
            <a:r>
              <a:rPr lang="he-IL" sz="1350" dirty="0">
                <a:solidFill>
                  <a:prstClr val="black"/>
                </a:solidFill>
                <a:latin typeface="Calibri"/>
                <a:cs typeface="Arial" panose="020B0604020202020204" pitchFamily="34" charset="0"/>
              </a:rPr>
              <a:t>מהו הרווח התפעולי?</a:t>
            </a:r>
            <a:endParaRPr lang="he-IL" sz="1500" dirty="0">
              <a:solidFill>
                <a:prstClr val="black"/>
              </a:solidFill>
              <a:latin typeface="Calibri"/>
              <a:cs typeface="Arial" panose="020B0604020202020204" pitchFamily="34" charset="0"/>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516AB16-9A13-4D84-944E-D93682470F09}"/>
                  </a:ext>
                </a:extLst>
              </p:cNvPr>
              <p:cNvSpPr txBox="1"/>
              <p:nvPr/>
            </p:nvSpPr>
            <p:spPr>
              <a:xfrm>
                <a:off x="8064190" y="3157079"/>
                <a:ext cx="2038740" cy="323165"/>
              </a:xfrm>
              <a:prstGeom prst="rect">
                <a:avLst/>
              </a:prstGeom>
              <a:ln>
                <a:solidFill>
                  <a:schemeClr val="accent2">
                    <a:lumMod val="60000"/>
                    <a:lumOff val="40000"/>
                  </a:schemeClr>
                </a:solidFill>
              </a:ln>
            </p:spPr>
            <p:style>
              <a:lnRef idx="2">
                <a:schemeClr val="accent3"/>
              </a:lnRef>
              <a:fillRef idx="1">
                <a:schemeClr val="lt1"/>
              </a:fillRef>
              <a:effectRef idx="0">
                <a:schemeClr val="accent3"/>
              </a:effectRef>
              <a:fontRef idx="minor">
                <a:schemeClr val="dk1"/>
              </a:fontRef>
            </p:style>
            <p:txBody>
              <a:bodyPr wrap="square" rtlCol="1">
                <a:spAutoFit/>
              </a:bodyPr>
              <a:lstStyle/>
              <a:p>
                <a:pPr algn="r" rtl="1"/>
                <a14:m>
                  <m:oMathPara xmlns:m="http://schemas.openxmlformats.org/officeDocument/2006/math">
                    <m:oMathParaPr>
                      <m:jc m:val="centerGroup"/>
                    </m:oMathParaPr>
                    <m:oMath xmlns:m="http://schemas.openxmlformats.org/officeDocument/2006/math">
                      <m:r>
                        <m:rPr>
                          <m:sty m:val="p"/>
                        </m:rPr>
                        <a:rPr lang="he-IL" sz="1500">
                          <a:solidFill>
                            <a:prstClr val="black"/>
                          </a:solidFill>
                          <a:latin typeface="Cambria Math"/>
                        </a:rPr>
                        <m:t>Π</m:t>
                      </m:r>
                      <m:r>
                        <a:rPr lang="he-IL" sz="1500">
                          <a:solidFill>
                            <a:prstClr val="black"/>
                          </a:solidFill>
                          <a:latin typeface="Cambria Math"/>
                        </a:rPr>
                        <m:t>=</m:t>
                      </m:r>
                      <m:r>
                        <a:rPr lang="he-IL" sz="1500">
                          <a:solidFill>
                            <a:prstClr val="black"/>
                          </a:solidFill>
                          <a:latin typeface="Cambria Math"/>
                        </a:rPr>
                        <m:t>11</m:t>
                      </m:r>
                      <m:r>
                        <a:rPr lang="he-IL" sz="1500">
                          <a:solidFill>
                            <a:prstClr val="black"/>
                          </a:solidFill>
                          <a:latin typeface="Cambria Math"/>
                        </a:rPr>
                        <m:t>⋅</m:t>
                      </m:r>
                      <m:r>
                        <a:rPr lang="he-IL" sz="1500">
                          <a:solidFill>
                            <a:prstClr val="black"/>
                          </a:solidFill>
                          <a:latin typeface="Cambria Math"/>
                        </a:rPr>
                        <m:t>5</m:t>
                      </m:r>
                      <m:r>
                        <a:rPr lang="he-IL" sz="1500">
                          <a:solidFill>
                            <a:prstClr val="black"/>
                          </a:solidFill>
                          <a:latin typeface="Cambria Math"/>
                        </a:rPr>
                        <m:t>−</m:t>
                      </m:r>
                      <m:r>
                        <a:rPr lang="he-IL" sz="1500">
                          <a:solidFill>
                            <a:prstClr val="black"/>
                          </a:solidFill>
                          <a:latin typeface="Cambria Math"/>
                        </a:rPr>
                        <m:t>35</m:t>
                      </m:r>
                      <m:r>
                        <a:rPr lang="he-IL" sz="1500">
                          <a:solidFill>
                            <a:prstClr val="black"/>
                          </a:solidFill>
                          <a:latin typeface="Cambria Math"/>
                        </a:rPr>
                        <m:t>=</m:t>
                      </m:r>
                      <m:r>
                        <a:rPr lang="he-IL" sz="1500">
                          <a:solidFill>
                            <a:prstClr val="black"/>
                          </a:solidFill>
                          <a:latin typeface="Cambria Math"/>
                        </a:rPr>
                        <m:t>20</m:t>
                      </m:r>
                    </m:oMath>
                  </m:oMathPara>
                </a14:m>
                <a:endParaRPr lang="he-IL" sz="1500" dirty="0">
                  <a:solidFill>
                    <a:prstClr val="black"/>
                  </a:solidFill>
                  <a:latin typeface="Calibri"/>
                  <a:cs typeface="Arial" panose="020B0604020202020204" pitchFamily="34" charset="0"/>
                </a:endParaRPr>
              </a:p>
            </p:txBody>
          </p:sp>
        </mc:Choice>
        <mc:Fallback xmlns="">
          <p:sp>
            <p:nvSpPr>
              <p:cNvPr id="17" name="TextBox 16">
                <a:extLst>
                  <a:ext uri="{FF2B5EF4-FFF2-40B4-BE49-F238E27FC236}">
                    <a16:creationId xmlns:a16="http://schemas.microsoft.com/office/drawing/2014/main" id="{9516AB16-9A13-4D84-944E-D93682470F09}"/>
                  </a:ext>
                </a:extLst>
              </p:cNvPr>
              <p:cNvSpPr txBox="1">
                <a:spLocks noRot="1" noChangeAspect="1" noMove="1" noResize="1" noEditPoints="1" noAdjustHandles="1" noChangeArrowheads="1" noChangeShapeType="1" noTextEdit="1"/>
              </p:cNvSpPr>
              <p:nvPr/>
            </p:nvSpPr>
            <p:spPr>
              <a:xfrm>
                <a:off x="8064190" y="3157079"/>
                <a:ext cx="2038740" cy="323165"/>
              </a:xfrm>
              <a:prstGeom prst="rect">
                <a:avLst/>
              </a:prstGeom>
              <a:blipFill>
                <a:blip r:embed="rId3"/>
                <a:stretch>
                  <a:fillRect/>
                </a:stretch>
              </a:blipFill>
              <a:ln>
                <a:solidFill>
                  <a:schemeClr val="accent2">
                    <a:lumMod val="60000"/>
                    <a:lumOff val="40000"/>
                  </a:schemeClr>
                </a:solidFill>
              </a:ln>
            </p:spPr>
            <p:txBody>
              <a:bodyPr/>
              <a:lstStyle/>
              <a:p>
                <a:r>
                  <a:rPr lang="en-IL">
                    <a:noFill/>
                  </a:rPr>
                  <a:t> </a:t>
                </a:r>
              </a:p>
            </p:txBody>
          </p:sp>
        </mc:Fallback>
      </mc:AlternateContent>
      <p:sp>
        <p:nvSpPr>
          <p:cNvPr id="18" name="TextBox 17">
            <a:extLst>
              <a:ext uri="{FF2B5EF4-FFF2-40B4-BE49-F238E27FC236}">
                <a16:creationId xmlns:a16="http://schemas.microsoft.com/office/drawing/2014/main" id="{E0935711-0CAC-432F-9BC9-1409C2006E2A}"/>
              </a:ext>
            </a:extLst>
          </p:cNvPr>
          <p:cNvSpPr txBox="1"/>
          <p:nvPr/>
        </p:nvSpPr>
        <p:spPr>
          <a:xfrm>
            <a:off x="7083296" y="3640775"/>
            <a:ext cx="3094253" cy="300082"/>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wrap="square" rtlCol="1">
            <a:spAutoFit/>
          </a:bodyPr>
          <a:lstStyle/>
          <a:p>
            <a:pPr algn="r" rtl="1"/>
            <a:r>
              <a:rPr lang="he-IL" sz="1350" dirty="0">
                <a:solidFill>
                  <a:prstClr val="black"/>
                </a:solidFill>
                <a:latin typeface="Calibri"/>
                <a:cs typeface="Arial" panose="020B0604020202020204" pitchFamily="34" charset="0"/>
              </a:rPr>
              <a:t>נתון </a:t>
            </a:r>
            <a:r>
              <a:rPr lang="en-US" sz="1350" dirty="0">
                <a:solidFill>
                  <a:prstClr val="black"/>
                </a:solidFill>
                <a:latin typeface="Calibri"/>
              </a:rPr>
              <a:t>FC=50</a:t>
            </a:r>
            <a:r>
              <a:rPr lang="he-IL" sz="1350" dirty="0">
                <a:solidFill>
                  <a:prstClr val="black"/>
                </a:solidFill>
                <a:latin typeface="Calibri"/>
                <a:cs typeface="Arial" panose="020B0604020202020204" pitchFamily="34" charset="0"/>
              </a:rPr>
              <a:t>. מהו הרווח הכולל?</a:t>
            </a:r>
            <a:endParaRPr lang="he-IL" sz="1500" dirty="0">
              <a:solidFill>
                <a:prstClr val="black"/>
              </a:solidFill>
              <a:latin typeface="Calibri"/>
              <a:cs typeface="Arial" panose="020B0604020202020204" pitchFamily="34"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AF22E16-6070-4AAE-90E3-12BD0A507201}"/>
                  </a:ext>
                </a:extLst>
              </p:cNvPr>
              <p:cNvSpPr txBox="1"/>
              <p:nvPr/>
            </p:nvSpPr>
            <p:spPr>
              <a:xfrm>
                <a:off x="7097540" y="4022129"/>
                <a:ext cx="2707616" cy="323165"/>
              </a:xfrm>
              <a:prstGeom prst="rect">
                <a:avLst/>
              </a:prstGeom>
              <a:ln>
                <a:solidFill>
                  <a:schemeClr val="accent2">
                    <a:lumMod val="60000"/>
                    <a:lumOff val="40000"/>
                  </a:schemeClr>
                </a:solidFill>
              </a:ln>
            </p:spPr>
            <p:style>
              <a:lnRef idx="2">
                <a:schemeClr val="accent3"/>
              </a:lnRef>
              <a:fillRef idx="1">
                <a:schemeClr val="lt1"/>
              </a:fillRef>
              <a:effectRef idx="0">
                <a:schemeClr val="accent3"/>
              </a:effectRef>
              <a:fontRef idx="minor">
                <a:schemeClr val="dk1"/>
              </a:fontRef>
            </p:style>
            <p:txBody>
              <a:bodyPr wrap="square" rtlCol="1">
                <a:spAutoFit/>
              </a:bodyPr>
              <a:lstStyle/>
              <a:p>
                <a:pPr algn="r" rtl="1"/>
                <a14:m>
                  <m:oMathPara xmlns:m="http://schemas.openxmlformats.org/officeDocument/2006/math">
                    <m:oMathParaPr>
                      <m:jc m:val="centerGroup"/>
                    </m:oMathParaPr>
                    <m:oMath xmlns:m="http://schemas.openxmlformats.org/officeDocument/2006/math">
                      <m:r>
                        <m:rPr>
                          <m:sty m:val="p"/>
                        </m:rPr>
                        <a:rPr lang="he-IL" sz="1500">
                          <a:solidFill>
                            <a:prstClr val="black"/>
                          </a:solidFill>
                          <a:latin typeface="Cambria Math"/>
                        </a:rPr>
                        <m:t>Π</m:t>
                      </m:r>
                      <m:r>
                        <a:rPr lang="he-IL" sz="1500">
                          <a:solidFill>
                            <a:prstClr val="black"/>
                          </a:solidFill>
                          <a:latin typeface="Cambria Math"/>
                        </a:rPr>
                        <m:t>=</m:t>
                      </m:r>
                      <m:r>
                        <a:rPr lang="he-IL" sz="1500">
                          <a:solidFill>
                            <a:prstClr val="black"/>
                          </a:solidFill>
                          <a:latin typeface="Cambria Math"/>
                        </a:rPr>
                        <m:t>11</m:t>
                      </m:r>
                      <m:r>
                        <a:rPr lang="he-IL" sz="1500">
                          <a:solidFill>
                            <a:prstClr val="black"/>
                          </a:solidFill>
                          <a:latin typeface="Cambria Math"/>
                        </a:rPr>
                        <m:t>⋅</m:t>
                      </m:r>
                      <m:r>
                        <a:rPr lang="he-IL" sz="1500">
                          <a:solidFill>
                            <a:prstClr val="black"/>
                          </a:solidFill>
                          <a:latin typeface="Cambria Math"/>
                        </a:rPr>
                        <m:t>5</m:t>
                      </m:r>
                      <m:r>
                        <a:rPr lang="he-IL" sz="1500">
                          <a:solidFill>
                            <a:prstClr val="black"/>
                          </a:solidFill>
                          <a:latin typeface="Cambria Math"/>
                        </a:rPr>
                        <m:t>−</m:t>
                      </m:r>
                      <m:r>
                        <a:rPr lang="he-IL" sz="1500">
                          <a:solidFill>
                            <a:prstClr val="black"/>
                          </a:solidFill>
                          <a:latin typeface="Cambria Math"/>
                        </a:rPr>
                        <m:t>35</m:t>
                      </m:r>
                      <m:r>
                        <a:rPr lang="he-IL" sz="1500">
                          <a:solidFill>
                            <a:prstClr val="black"/>
                          </a:solidFill>
                          <a:latin typeface="Cambria Math"/>
                        </a:rPr>
                        <m:t>−</m:t>
                      </m:r>
                      <m:r>
                        <a:rPr lang="he-IL" sz="1500">
                          <a:solidFill>
                            <a:prstClr val="black"/>
                          </a:solidFill>
                          <a:latin typeface="Cambria Math"/>
                        </a:rPr>
                        <m:t>50</m:t>
                      </m:r>
                      <m:r>
                        <a:rPr lang="he-IL" sz="1500">
                          <a:solidFill>
                            <a:prstClr val="black"/>
                          </a:solidFill>
                          <a:latin typeface="Cambria Math"/>
                        </a:rPr>
                        <m:t>=−</m:t>
                      </m:r>
                      <m:r>
                        <a:rPr lang="he-IL" sz="1500">
                          <a:solidFill>
                            <a:prstClr val="black"/>
                          </a:solidFill>
                          <a:latin typeface="Cambria Math"/>
                        </a:rPr>
                        <m:t>30</m:t>
                      </m:r>
                    </m:oMath>
                  </m:oMathPara>
                </a14:m>
                <a:endParaRPr lang="he-IL" sz="1500" dirty="0">
                  <a:solidFill>
                    <a:prstClr val="black"/>
                  </a:solidFill>
                  <a:latin typeface="Calibri"/>
                  <a:cs typeface="Arial" panose="020B0604020202020204" pitchFamily="34" charset="0"/>
                </a:endParaRPr>
              </a:p>
            </p:txBody>
          </p:sp>
        </mc:Choice>
        <mc:Fallback xmlns="">
          <p:sp>
            <p:nvSpPr>
              <p:cNvPr id="19" name="TextBox 18">
                <a:extLst>
                  <a:ext uri="{FF2B5EF4-FFF2-40B4-BE49-F238E27FC236}">
                    <a16:creationId xmlns:a16="http://schemas.microsoft.com/office/drawing/2014/main" id="{4AF22E16-6070-4AAE-90E3-12BD0A507201}"/>
                  </a:ext>
                </a:extLst>
              </p:cNvPr>
              <p:cNvSpPr txBox="1">
                <a:spLocks noRot="1" noChangeAspect="1" noMove="1" noResize="1" noEditPoints="1" noAdjustHandles="1" noChangeArrowheads="1" noChangeShapeType="1" noTextEdit="1"/>
              </p:cNvSpPr>
              <p:nvPr/>
            </p:nvSpPr>
            <p:spPr>
              <a:xfrm>
                <a:off x="7097540" y="4022129"/>
                <a:ext cx="2707616" cy="323165"/>
              </a:xfrm>
              <a:prstGeom prst="rect">
                <a:avLst/>
              </a:prstGeom>
              <a:blipFill>
                <a:blip r:embed="rId4"/>
                <a:stretch>
                  <a:fillRect/>
                </a:stretch>
              </a:blipFill>
              <a:ln>
                <a:solidFill>
                  <a:schemeClr val="accent2">
                    <a:lumMod val="60000"/>
                    <a:lumOff val="40000"/>
                  </a:schemeClr>
                </a:solidFill>
              </a:ln>
            </p:spPr>
            <p:txBody>
              <a:bodyPr/>
              <a:lstStyle/>
              <a:p>
                <a:r>
                  <a:rPr lang="en-IL">
                    <a:noFill/>
                  </a:rPr>
                  <a:t> </a:t>
                </a:r>
              </a:p>
            </p:txBody>
          </p:sp>
        </mc:Fallback>
      </mc:AlternateContent>
    </p:spTree>
    <p:extLst>
      <p:ext uri="{BB962C8B-B14F-4D97-AF65-F5344CB8AC3E}">
        <p14:creationId xmlns:p14="http://schemas.microsoft.com/office/powerpoint/2010/main" val="2692819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inVertic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arn(inVertic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arn(inVertic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arn(inVertical)">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barn(inVertical)">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arn(inVertical)">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animBg="1"/>
      <p:bldP spid="15" grpId="0" animBg="1"/>
      <p:bldP spid="16" grpId="0" animBg="1"/>
      <p:bldP spid="17" grpId="0" animBg="1"/>
      <p:bldP spid="18" grpId="0" animBg="1"/>
      <p:bldP spid="1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62400" y="82968"/>
            <a:ext cx="8229600" cy="1143000"/>
          </a:xfrm>
        </p:spPr>
        <p:txBody>
          <a:bodyPr/>
          <a:lstStyle/>
          <a:p>
            <a:pPr algn="r"/>
            <a:r>
              <a:rPr lang="he-IL" b="1" dirty="0">
                <a:solidFill>
                  <a:schemeClr val="tx2">
                    <a:lumMod val="75000"/>
                  </a:schemeClr>
                </a:solidFill>
              </a:rPr>
              <a:t>שאלה 3</a:t>
            </a:r>
            <a:endParaRPr lang="he-IL" dirty="0"/>
          </a:p>
        </p:txBody>
      </p:sp>
      <p:graphicFrame>
        <p:nvGraphicFramePr>
          <p:cNvPr id="6" name="מציין מיקום תוכן 5"/>
          <p:cNvGraphicFramePr>
            <a:graphicFrameLocks noGrp="1"/>
          </p:cNvGraphicFramePr>
          <p:nvPr>
            <p:ph idx="1"/>
          </p:nvPr>
        </p:nvGraphicFramePr>
        <p:xfrm>
          <a:off x="1930800" y="1976128"/>
          <a:ext cx="8280000" cy="2595880"/>
        </p:xfrm>
        <a:graphic>
          <a:graphicData uri="http://schemas.openxmlformats.org/drawingml/2006/table">
            <a:tbl>
              <a:tblPr rtl="1" firstRow="1" bandRow="1">
                <a:tableStyleId>{2D5ABB26-0587-4C30-8999-92F81FD0307C}</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1260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1260000">
                  <a:extLst>
                    <a:ext uri="{9D8B030D-6E8A-4147-A177-3AD203B41FA5}">
                      <a16:colId xmlns:a16="http://schemas.microsoft.com/office/drawing/2014/main" val="20006"/>
                    </a:ext>
                  </a:extLst>
                </a:gridCol>
                <a:gridCol w="1260000">
                  <a:extLst>
                    <a:ext uri="{9D8B030D-6E8A-4147-A177-3AD203B41FA5}">
                      <a16:colId xmlns:a16="http://schemas.microsoft.com/office/drawing/2014/main" val="20007"/>
                    </a:ext>
                  </a:extLst>
                </a:gridCol>
              </a:tblGrid>
              <a:tr h="370840">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a:spcAft>
                          <a:spcPts val="0"/>
                        </a:spcAft>
                      </a:pPr>
                      <a:r>
                        <a:rPr lang="en-US" sz="1600" b="1" dirty="0">
                          <a:latin typeface="Times New Roman"/>
                          <a:ea typeface="Times New Roman"/>
                          <a:cs typeface="David"/>
                        </a:rPr>
                        <a:t> </a:t>
                      </a:r>
                      <a:endParaRPr lang="en-US" sz="1600" b="1"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a:spcAft>
                          <a:spcPts val="0"/>
                        </a:spcAft>
                      </a:pPr>
                      <a:r>
                        <a:rPr lang="en-US" sz="1600" b="1" dirty="0">
                          <a:latin typeface="Times New Roman"/>
                          <a:ea typeface="Times New Roman"/>
                          <a:cs typeface="David"/>
                        </a:rPr>
                        <a:t> </a:t>
                      </a:r>
                      <a:endParaRPr lang="en-US" sz="1600" b="1"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rtl="1">
                        <a:spcAft>
                          <a:spcPts val="0"/>
                        </a:spcAft>
                      </a:pPr>
                      <a:r>
                        <a:rPr lang="he-IL" sz="1600">
                          <a:latin typeface="Times New Roman"/>
                          <a:ea typeface="Times New Roman"/>
                          <a:cs typeface="David"/>
                        </a:rPr>
                        <a:t>2</a:t>
                      </a:r>
                      <a:endParaRPr lang="en-US" sz="160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spcAft>
                          <a:spcPts val="0"/>
                        </a:spcAft>
                      </a:pPr>
                      <a:r>
                        <a:rPr lang="he-IL" sz="1600">
                          <a:latin typeface="Times New Roman"/>
                          <a:ea typeface="Times New Roman"/>
                          <a:cs typeface="David"/>
                        </a:rPr>
                        <a:t>4</a:t>
                      </a:r>
                      <a:endParaRPr lang="en-US" sz="160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spcAft>
                          <a:spcPts val="0"/>
                        </a:spcAft>
                      </a:pPr>
                      <a:r>
                        <a:rPr lang="he-IL" sz="1600">
                          <a:latin typeface="Times New Roman"/>
                          <a:ea typeface="Times New Roman"/>
                          <a:cs typeface="David"/>
                        </a:rPr>
                        <a:t>6</a:t>
                      </a:r>
                      <a:endParaRPr lang="en-US" sz="160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8</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6</a:t>
                      </a:r>
                      <a:endParaRPr lang="en-US" sz="160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spcAft>
                          <a:spcPts val="0"/>
                        </a:spcAft>
                      </a:pPr>
                      <a:r>
                        <a:rPr lang="he-IL" sz="1600">
                          <a:latin typeface="Times New Roman"/>
                          <a:ea typeface="Times New Roman"/>
                          <a:cs typeface="David"/>
                        </a:rPr>
                        <a:t>8</a:t>
                      </a:r>
                      <a:endParaRPr lang="en-US" sz="160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11</a:t>
                      </a:r>
                      <a:endParaRPr lang="en-US" sz="160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10</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spcAft>
                          <a:spcPts val="0"/>
                        </a:spcAft>
                      </a:pPr>
                      <a:r>
                        <a:rPr lang="he-IL" sz="1600" dirty="0">
                          <a:latin typeface="Times New Roman"/>
                          <a:ea typeface="Times New Roman"/>
                          <a:cs typeface="David"/>
                        </a:rPr>
                        <a:t>10</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15</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14</a:t>
                      </a:r>
                      <a:endParaRPr lang="en-US" sz="160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b">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מציין מיקום של כותרת תחתונה 4"/>
          <p:cNvSpPr>
            <a:spLocks noGrp="1"/>
          </p:cNvSpPr>
          <p:nvPr>
            <p:ph type="ftr" sz="quarter" idx="11"/>
          </p:nvPr>
        </p:nvSpPr>
        <p:spPr/>
        <p:txBody>
          <a:bodyPr/>
          <a:lstStyle/>
          <a:p>
            <a:r>
              <a:rPr lang="he-IL" dirty="0"/>
              <a:t>מבוא למיקרו כלכלה</a:t>
            </a:r>
          </a:p>
        </p:txBody>
      </p:sp>
      <p:sp>
        <p:nvSpPr>
          <p:cNvPr id="7" name="TextBox 6"/>
          <p:cNvSpPr txBox="1"/>
          <p:nvPr/>
        </p:nvSpPr>
        <p:spPr>
          <a:xfrm>
            <a:off x="3209882" y="1086852"/>
            <a:ext cx="6928500" cy="369332"/>
          </a:xfrm>
          <a:prstGeom prst="rect">
            <a:avLst/>
          </a:prstGeom>
          <a:noFill/>
        </p:spPr>
        <p:txBody>
          <a:bodyPr wrap="none" rtlCol="1">
            <a:spAutoFit/>
          </a:bodyPr>
          <a:lstStyle/>
          <a:p>
            <a:r>
              <a:rPr lang="he-IL" dirty="0"/>
              <a:t>נתונות עקומות ההיצע של 3 היצרנים היחידים הפועלים בשוק של מוצר מסוים:</a:t>
            </a:r>
          </a:p>
        </p:txBody>
      </p:sp>
      <p:sp>
        <p:nvSpPr>
          <p:cNvPr id="8" name="TextBox 7"/>
          <p:cNvSpPr txBox="1"/>
          <p:nvPr/>
        </p:nvSpPr>
        <p:spPr>
          <a:xfrm>
            <a:off x="620486" y="5000636"/>
            <a:ext cx="9517897" cy="646331"/>
          </a:xfrm>
          <a:prstGeom prst="rect">
            <a:avLst/>
          </a:prstGeom>
          <a:noFill/>
        </p:spPr>
        <p:txBody>
          <a:bodyPr wrap="square" rtlCol="1">
            <a:spAutoFit/>
          </a:bodyPr>
          <a:lstStyle/>
          <a:p>
            <a:r>
              <a:rPr lang="he-IL" dirty="0"/>
              <a:t>א. בנו את עקומת ההיצע של כלל המשק בטבלה</a:t>
            </a:r>
            <a:br>
              <a:rPr lang="en-US" dirty="0"/>
            </a:br>
            <a:r>
              <a:rPr lang="he-IL" dirty="0"/>
              <a:t>והציגו בגרף על אותה מערכת צירים את עקומות ההיצע של כל יצרן ואת עקומת ההיצע של המשק כולו.</a:t>
            </a:r>
          </a:p>
        </p:txBody>
      </p:sp>
      <p:sp>
        <p:nvSpPr>
          <p:cNvPr id="3" name="Date Placeholder 2"/>
          <p:cNvSpPr>
            <a:spLocks noGrp="1"/>
          </p:cNvSpPr>
          <p:nvPr>
            <p:ph type="dt" sz="half" idx="10"/>
          </p:nvPr>
        </p:nvSpPr>
        <p:spPr/>
        <p:txBody>
          <a:bodyPr/>
          <a:lstStyle/>
          <a:p>
            <a:fld id="{7AF5398C-8A5B-4591-AD5B-59AF11FC4B0D}" type="datetime8">
              <a:rPr lang="he-IL" smtClean="0"/>
              <a:t>03 ינואר 26</a:t>
            </a:fld>
            <a:endParaRPr lang="he-IL"/>
          </a:p>
        </p:txBody>
      </p:sp>
      <p:sp>
        <p:nvSpPr>
          <p:cNvPr id="4" name="TextBox 7">
            <a:extLst>
              <a:ext uri="{FF2B5EF4-FFF2-40B4-BE49-F238E27FC236}">
                <a16:creationId xmlns:a16="http://schemas.microsoft.com/office/drawing/2014/main" id="{BB38C21B-0BB7-D0D5-7687-D3444083949A}"/>
              </a:ext>
            </a:extLst>
          </p:cNvPr>
          <p:cNvSpPr txBox="1"/>
          <p:nvPr/>
        </p:nvSpPr>
        <p:spPr>
          <a:xfrm>
            <a:off x="5332339" y="5646967"/>
            <a:ext cx="4806043" cy="369332"/>
          </a:xfrm>
          <a:prstGeom prst="rect">
            <a:avLst/>
          </a:prstGeom>
          <a:noFill/>
        </p:spPr>
        <p:txBody>
          <a:bodyPr wrap="square" rtlCol="1">
            <a:spAutoFit/>
          </a:bodyPr>
          <a:lstStyle/>
          <a:p>
            <a:r>
              <a:rPr lang="he-IL" dirty="0"/>
              <a:t>ב. מהו היצע הענף כאשר מחיר השוק הינו 4 </a:t>
            </a:r>
            <a:r>
              <a:rPr lang="he-IL" dirty="0" err="1"/>
              <a:t>ש''ח</a:t>
            </a:r>
            <a:r>
              <a:rPr lang="he-IL" dirty="0"/>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596841" y="103815"/>
            <a:ext cx="8229600" cy="1143000"/>
          </a:xfrm>
        </p:spPr>
        <p:txBody>
          <a:bodyPr/>
          <a:lstStyle/>
          <a:p>
            <a:pPr algn="r"/>
            <a:r>
              <a:rPr lang="he-IL" b="1" dirty="0">
                <a:solidFill>
                  <a:schemeClr val="tx2">
                    <a:lumMod val="75000"/>
                  </a:schemeClr>
                </a:solidFill>
              </a:rPr>
              <a:t>שאלה 3</a:t>
            </a:r>
            <a:endParaRPr lang="he-IL" dirty="0"/>
          </a:p>
        </p:txBody>
      </p:sp>
      <p:graphicFrame>
        <p:nvGraphicFramePr>
          <p:cNvPr id="6" name="מציין מיקום תוכן 5"/>
          <p:cNvGraphicFramePr>
            <a:graphicFrameLocks noGrp="1"/>
          </p:cNvGraphicFramePr>
          <p:nvPr>
            <p:ph idx="1"/>
          </p:nvPr>
        </p:nvGraphicFramePr>
        <p:xfrm>
          <a:off x="1930800" y="1214422"/>
          <a:ext cx="8280000" cy="2595880"/>
        </p:xfrm>
        <a:graphic>
          <a:graphicData uri="http://schemas.openxmlformats.org/drawingml/2006/table">
            <a:tbl>
              <a:tblPr rtl="1" firstRow="1" bandRow="1">
                <a:tableStyleId>{2D5ABB26-0587-4C30-8999-92F81FD0307C}</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1260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1260000">
                  <a:extLst>
                    <a:ext uri="{9D8B030D-6E8A-4147-A177-3AD203B41FA5}">
                      <a16:colId xmlns:a16="http://schemas.microsoft.com/office/drawing/2014/main" val="20006"/>
                    </a:ext>
                  </a:extLst>
                </a:gridCol>
                <a:gridCol w="1260000">
                  <a:extLst>
                    <a:ext uri="{9D8B030D-6E8A-4147-A177-3AD203B41FA5}">
                      <a16:colId xmlns:a16="http://schemas.microsoft.com/office/drawing/2014/main" val="20007"/>
                    </a:ext>
                  </a:extLst>
                </a:gridCol>
              </a:tblGrid>
              <a:tr h="370840">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a:spcAft>
                          <a:spcPts val="0"/>
                        </a:spcAft>
                      </a:pPr>
                      <a:r>
                        <a:rPr lang="en-US" sz="1600" b="1" dirty="0">
                          <a:latin typeface="Times New Roman"/>
                          <a:ea typeface="Times New Roman"/>
                          <a:cs typeface="David"/>
                        </a:rPr>
                        <a:t> </a:t>
                      </a:r>
                      <a:endParaRPr lang="en-US" sz="1600" b="1"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a:spcAft>
                          <a:spcPts val="0"/>
                        </a:spcAft>
                      </a:pPr>
                      <a:r>
                        <a:rPr lang="en-US" sz="1600" b="1" dirty="0">
                          <a:latin typeface="Times New Roman"/>
                          <a:ea typeface="Times New Roman"/>
                          <a:cs typeface="David"/>
                        </a:rPr>
                        <a:t> </a:t>
                      </a:r>
                      <a:endParaRPr lang="en-US" sz="1600" b="1"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rtl="1">
                        <a:spcAft>
                          <a:spcPts val="0"/>
                        </a:spcAft>
                      </a:pPr>
                      <a:r>
                        <a:rPr lang="he-IL" sz="1600">
                          <a:latin typeface="Times New Roman"/>
                          <a:ea typeface="Times New Roman"/>
                          <a:cs typeface="David"/>
                        </a:rPr>
                        <a:t>2</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spcAft>
                          <a:spcPts val="0"/>
                        </a:spcAft>
                      </a:pPr>
                      <a:r>
                        <a:rPr lang="he-IL" sz="1600">
                          <a:latin typeface="Times New Roman"/>
                          <a:ea typeface="Times New Roman"/>
                          <a:cs typeface="David"/>
                        </a:rPr>
                        <a:t>4</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spcAft>
                          <a:spcPts val="0"/>
                        </a:spcAft>
                      </a:pPr>
                      <a:r>
                        <a:rPr lang="he-IL" sz="1600">
                          <a:latin typeface="Times New Roman"/>
                          <a:ea typeface="Times New Roman"/>
                          <a:cs typeface="David"/>
                        </a:rPr>
                        <a:t>6</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8</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6</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spcAft>
                          <a:spcPts val="0"/>
                        </a:spcAft>
                      </a:pPr>
                      <a:r>
                        <a:rPr lang="he-IL" sz="1600">
                          <a:latin typeface="Times New Roman"/>
                          <a:ea typeface="Times New Roman"/>
                          <a:cs typeface="David"/>
                        </a:rPr>
                        <a:t>8</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11</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spcAft>
                          <a:spcPts val="0"/>
                        </a:spcAft>
                      </a:pPr>
                      <a:r>
                        <a:rPr lang="he-IL" sz="1600" dirty="0">
                          <a:latin typeface="Times New Roman"/>
                          <a:ea typeface="Times New Roman"/>
                          <a:cs typeface="David"/>
                        </a:rPr>
                        <a:t>10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15</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14</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מציין מיקום של כותרת תחתונה 4"/>
          <p:cNvSpPr>
            <a:spLocks noGrp="1"/>
          </p:cNvSpPr>
          <p:nvPr>
            <p:ph type="ftr" sz="quarter" idx="11"/>
          </p:nvPr>
        </p:nvSpPr>
        <p:spPr/>
        <p:txBody>
          <a:bodyPr/>
          <a:lstStyle/>
          <a:p>
            <a:r>
              <a:rPr lang="he-IL" dirty="0"/>
              <a:t>מבוא למיקרו כלכלה</a:t>
            </a:r>
          </a:p>
        </p:txBody>
      </p:sp>
      <p:graphicFrame>
        <p:nvGraphicFramePr>
          <p:cNvPr id="9" name="מציין מיקום תוכן 5"/>
          <p:cNvGraphicFramePr>
            <a:graphicFrameLocks/>
          </p:cNvGraphicFramePr>
          <p:nvPr/>
        </p:nvGraphicFramePr>
        <p:xfrm>
          <a:off x="1932926" y="4047830"/>
          <a:ext cx="2520000" cy="2595880"/>
        </p:xfrm>
        <a:graphic>
          <a:graphicData uri="http://schemas.openxmlformats.org/drawingml/2006/table">
            <a:tbl>
              <a:tblPr rtl="1" firstRow="1" bandRow="1">
                <a:tableStyleId>{2D5ABB26-0587-4C30-8999-92F81FD0307C}</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tblGrid>
              <a:tr h="370840">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rtl="1">
                        <a:spcAft>
                          <a:spcPts val="0"/>
                        </a:spcAft>
                      </a:pP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rtl="1">
                        <a:spcAft>
                          <a:spcPts val="0"/>
                        </a:spcAft>
                      </a:pP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spcAft>
                          <a:spcPts val="0"/>
                        </a:spcAft>
                      </a:pP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spcAft>
                          <a:spcPts val="0"/>
                        </a:spcAft>
                      </a:pP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spcAft>
                          <a:spcPts val="0"/>
                        </a:spcAft>
                      </a:pP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spcAft>
                          <a:spcPts val="0"/>
                        </a:spcAft>
                      </a:pP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TextBox 9"/>
          <p:cNvSpPr txBox="1"/>
          <p:nvPr/>
        </p:nvSpPr>
        <p:spPr>
          <a:xfrm>
            <a:off x="5310182" y="4572008"/>
            <a:ext cx="4802918" cy="861774"/>
          </a:xfrm>
          <a:prstGeom prst="rect">
            <a:avLst/>
          </a:prstGeom>
          <a:noFill/>
        </p:spPr>
        <p:txBody>
          <a:bodyPr wrap="none" rtlCol="1">
            <a:spAutoFit/>
          </a:bodyPr>
          <a:lstStyle/>
          <a:p>
            <a:r>
              <a:rPr lang="he-IL" sz="2500" b="1" dirty="0"/>
              <a:t>חיבור אופקי </a:t>
            </a:r>
            <a:r>
              <a:rPr lang="he-IL" sz="2500" dirty="0"/>
              <a:t>– </a:t>
            </a:r>
          </a:p>
          <a:p>
            <a:r>
              <a:rPr lang="he-IL" sz="2500" dirty="0" err="1"/>
              <a:t>סוכמים</a:t>
            </a:r>
            <a:r>
              <a:rPr lang="he-IL" sz="2500" dirty="0"/>
              <a:t> את הכמות המוצעת בכל מחיר</a:t>
            </a:r>
          </a:p>
        </p:txBody>
      </p:sp>
      <p:sp>
        <p:nvSpPr>
          <p:cNvPr id="3" name="Date Placeholder 2"/>
          <p:cNvSpPr>
            <a:spLocks noGrp="1"/>
          </p:cNvSpPr>
          <p:nvPr>
            <p:ph type="dt" sz="half" idx="10"/>
          </p:nvPr>
        </p:nvSpPr>
        <p:spPr/>
        <p:txBody>
          <a:bodyPr/>
          <a:lstStyle/>
          <a:p>
            <a:fld id="{28FE9021-350D-495C-BA05-BD862EB5E5F9}" type="datetime8">
              <a:rPr lang="he-IL" smtClean="0"/>
              <a:t>03 ינואר 26</a:t>
            </a:fld>
            <a:endParaRPr lang="he-IL"/>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869473" y="71422"/>
            <a:ext cx="8229600" cy="1143000"/>
          </a:xfrm>
        </p:spPr>
        <p:txBody>
          <a:bodyPr/>
          <a:lstStyle/>
          <a:p>
            <a:pPr algn="r"/>
            <a:r>
              <a:rPr lang="he-IL" b="1" dirty="0">
                <a:solidFill>
                  <a:schemeClr val="tx2">
                    <a:lumMod val="75000"/>
                  </a:schemeClr>
                </a:solidFill>
              </a:rPr>
              <a:t>שאלה 3</a:t>
            </a:r>
            <a:endParaRPr lang="he-IL" dirty="0"/>
          </a:p>
        </p:txBody>
      </p:sp>
      <p:graphicFrame>
        <p:nvGraphicFramePr>
          <p:cNvPr id="6" name="מציין מיקום תוכן 5"/>
          <p:cNvGraphicFramePr>
            <a:graphicFrameLocks noGrp="1"/>
          </p:cNvGraphicFramePr>
          <p:nvPr>
            <p:ph idx="1"/>
          </p:nvPr>
        </p:nvGraphicFramePr>
        <p:xfrm>
          <a:off x="1930800" y="1214422"/>
          <a:ext cx="8280000" cy="2595880"/>
        </p:xfrm>
        <a:graphic>
          <a:graphicData uri="http://schemas.openxmlformats.org/drawingml/2006/table">
            <a:tbl>
              <a:tblPr rtl="1" firstRow="1" bandRow="1">
                <a:tableStyleId>{2D5ABB26-0587-4C30-8999-92F81FD0307C}</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1260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1260000">
                  <a:extLst>
                    <a:ext uri="{9D8B030D-6E8A-4147-A177-3AD203B41FA5}">
                      <a16:colId xmlns:a16="http://schemas.microsoft.com/office/drawing/2014/main" val="20006"/>
                    </a:ext>
                  </a:extLst>
                </a:gridCol>
                <a:gridCol w="1260000">
                  <a:extLst>
                    <a:ext uri="{9D8B030D-6E8A-4147-A177-3AD203B41FA5}">
                      <a16:colId xmlns:a16="http://schemas.microsoft.com/office/drawing/2014/main" val="20007"/>
                    </a:ext>
                  </a:extLst>
                </a:gridCol>
              </a:tblGrid>
              <a:tr h="370840">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a:spcAft>
                          <a:spcPts val="0"/>
                        </a:spcAft>
                      </a:pPr>
                      <a:r>
                        <a:rPr lang="en-US" sz="1600" b="1" dirty="0">
                          <a:latin typeface="Times New Roman"/>
                          <a:ea typeface="Times New Roman"/>
                          <a:cs typeface="David"/>
                        </a:rPr>
                        <a:t> </a:t>
                      </a:r>
                      <a:endParaRPr lang="en-US" sz="1600" b="1"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a:spcAft>
                          <a:spcPts val="0"/>
                        </a:spcAft>
                      </a:pPr>
                      <a:r>
                        <a:rPr lang="en-US" sz="1600" b="1" dirty="0">
                          <a:latin typeface="Times New Roman"/>
                          <a:ea typeface="Times New Roman"/>
                          <a:cs typeface="David"/>
                        </a:rPr>
                        <a:t> </a:t>
                      </a:r>
                      <a:endParaRPr lang="en-US" sz="1600" b="1"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rtl="1">
                        <a:spcAft>
                          <a:spcPts val="0"/>
                        </a:spcAft>
                      </a:pPr>
                      <a:r>
                        <a:rPr lang="he-IL" sz="1600">
                          <a:latin typeface="Times New Roman"/>
                          <a:ea typeface="Times New Roman"/>
                          <a:cs typeface="David"/>
                        </a:rPr>
                        <a:t>2</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spcAft>
                          <a:spcPts val="0"/>
                        </a:spcAft>
                      </a:pPr>
                      <a:r>
                        <a:rPr lang="he-IL" sz="1600">
                          <a:latin typeface="Times New Roman"/>
                          <a:ea typeface="Times New Roman"/>
                          <a:cs typeface="David"/>
                        </a:rPr>
                        <a:t>4</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spcAft>
                          <a:spcPts val="0"/>
                        </a:spcAft>
                      </a:pPr>
                      <a:r>
                        <a:rPr lang="he-IL" sz="1600">
                          <a:latin typeface="Times New Roman"/>
                          <a:ea typeface="Times New Roman"/>
                          <a:cs typeface="David"/>
                        </a:rPr>
                        <a:t>6</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8</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6</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spcAft>
                          <a:spcPts val="0"/>
                        </a:spcAft>
                      </a:pPr>
                      <a:r>
                        <a:rPr lang="he-IL" sz="1600">
                          <a:latin typeface="Times New Roman"/>
                          <a:ea typeface="Times New Roman"/>
                          <a:cs typeface="David"/>
                        </a:rPr>
                        <a:t>8</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11</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spcAft>
                          <a:spcPts val="0"/>
                        </a:spcAft>
                      </a:pPr>
                      <a:r>
                        <a:rPr lang="he-IL" sz="1600" dirty="0">
                          <a:latin typeface="Times New Roman"/>
                          <a:ea typeface="Times New Roman"/>
                          <a:cs typeface="David"/>
                        </a:rPr>
                        <a:t>10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15</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14</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מציין מיקום של כותרת תחתונה 4"/>
          <p:cNvSpPr>
            <a:spLocks noGrp="1"/>
          </p:cNvSpPr>
          <p:nvPr>
            <p:ph type="ftr" sz="quarter" idx="11"/>
          </p:nvPr>
        </p:nvSpPr>
        <p:spPr/>
        <p:txBody>
          <a:bodyPr/>
          <a:lstStyle/>
          <a:p>
            <a:r>
              <a:rPr lang="he-IL" dirty="0"/>
              <a:t>מבוא למיקרו כלכלה</a:t>
            </a:r>
          </a:p>
        </p:txBody>
      </p:sp>
      <p:graphicFrame>
        <p:nvGraphicFramePr>
          <p:cNvPr id="9" name="מציין מיקום תוכן 5"/>
          <p:cNvGraphicFramePr>
            <a:graphicFrameLocks/>
          </p:cNvGraphicFramePr>
          <p:nvPr/>
        </p:nvGraphicFramePr>
        <p:xfrm>
          <a:off x="1932926" y="4047830"/>
          <a:ext cx="2520000" cy="2595880"/>
        </p:xfrm>
        <a:graphic>
          <a:graphicData uri="http://schemas.openxmlformats.org/drawingml/2006/table">
            <a:tbl>
              <a:tblPr rtl="1" firstRow="1" bandRow="1">
                <a:tableStyleId>{2D5ABB26-0587-4C30-8999-92F81FD0307C}</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tblGrid>
              <a:tr h="370840">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rtl="1">
                        <a:spcAft>
                          <a:spcPts val="0"/>
                        </a:spcAft>
                      </a:pPr>
                      <a:r>
                        <a:rPr lang="he-IL" sz="1600" dirty="0">
                          <a:latin typeface="David" pitchFamily="34" charset="-79"/>
                          <a:ea typeface="Times New Roman"/>
                          <a:cs typeface="David" pitchFamily="34" charset="-79"/>
                        </a:rPr>
                        <a:t>1=0+1+0</a:t>
                      </a:r>
                      <a:endParaRPr lang="en-US" sz="1600" dirty="0">
                        <a:latin typeface="David" pitchFamily="34" charset="-79"/>
                        <a:ea typeface="Times New Roman"/>
                        <a:cs typeface="David" pitchFamily="34" charset="-79"/>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rtl="1">
                        <a:spcAft>
                          <a:spcPts val="0"/>
                        </a:spcAft>
                      </a:pP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spcAft>
                          <a:spcPts val="0"/>
                        </a:spcAft>
                      </a:pP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spcAft>
                          <a:spcPts val="0"/>
                        </a:spcAft>
                      </a:pP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spcAft>
                          <a:spcPts val="0"/>
                        </a:spcAft>
                      </a:pP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spcAft>
                          <a:spcPts val="0"/>
                        </a:spcAft>
                      </a:pP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אליפסה 6"/>
          <p:cNvSpPr/>
          <p:nvPr/>
        </p:nvSpPr>
        <p:spPr>
          <a:xfrm>
            <a:off x="3667108" y="1643050"/>
            <a:ext cx="428628" cy="35719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אליפסה 7"/>
          <p:cNvSpPr/>
          <p:nvPr/>
        </p:nvSpPr>
        <p:spPr>
          <a:xfrm>
            <a:off x="6524628" y="1643050"/>
            <a:ext cx="428628" cy="35719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אליפסה 9"/>
          <p:cNvSpPr/>
          <p:nvPr/>
        </p:nvSpPr>
        <p:spPr>
          <a:xfrm>
            <a:off x="9382148" y="1643050"/>
            <a:ext cx="428628" cy="35719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extBox 10"/>
          <p:cNvSpPr txBox="1"/>
          <p:nvPr/>
        </p:nvSpPr>
        <p:spPr>
          <a:xfrm>
            <a:off x="5310182" y="4572008"/>
            <a:ext cx="4802918" cy="861774"/>
          </a:xfrm>
          <a:prstGeom prst="rect">
            <a:avLst/>
          </a:prstGeom>
          <a:noFill/>
        </p:spPr>
        <p:txBody>
          <a:bodyPr wrap="none" rtlCol="1">
            <a:spAutoFit/>
          </a:bodyPr>
          <a:lstStyle/>
          <a:p>
            <a:r>
              <a:rPr lang="he-IL" sz="2500" b="1" dirty="0"/>
              <a:t>חיבור אופקי </a:t>
            </a:r>
            <a:r>
              <a:rPr lang="he-IL" sz="2500" dirty="0"/>
              <a:t>– </a:t>
            </a:r>
          </a:p>
          <a:p>
            <a:r>
              <a:rPr lang="he-IL" sz="2500" dirty="0" err="1"/>
              <a:t>סוכמים</a:t>
            </a:r>
            <a:r>
              <a:rPr lang="he-IL" sz="2500" dirty="0"/>
              <a:t> את הכמות המוצעת בכל מחיר</a:t>
            </a:r>
          </a:p>
        </p:txBody>
      </p:sp>
      <p:sp>
        <p:nvSpPr>
          <p:cNvPr id="3" name="Date Placeholder 2"/>
          <p:cNvSpPr>
            <a:spLocks noGrp="1"/>
          </p:cNvSpPr>
          <p:nvPr>
            <p:ph type="dt" sz="half" idx="10"/>
          </p:nvPr>
        </p:nvSpPr>
        <p:spPr/>
        <p:txBody>
          <a:bodyPr/>
          <a:lstStyle/>
          <a:p>
            <a:fld id="{BFFD6F08-9C99-4E00-A107-A6AD05CF6D82}" type="datetime8">
              <a:rPr lang="he-IL" smtClean="0"/>
              <a:t>03 ינואר 26</a:t>
            </a:fld>
            <a:endParaRPr lang="he-IL"/>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881422" y="136525"/>
            <a:ext cx="8229600" cy="1143000"/>
          </a:xfrm>
        </p:spPr>
        <p:txBody>
          <a:bodyPr/>
          <a:lstStyle/>
          <a:p>
            <a:pPr algn="r"/>
            <a:r>
              <a:rPr lang="he-IL" b="1" dirty="0">
                <a:solidFill>
                  <a:schemeClr val="tx2">
                    <a:lumMod val="75000"/>
                  </a:schemeClr>
                </a:solidFill>
              </a:rPr>
              <a:t>שאלה 3</a:t>
            </a:r>
            <a:endParaRPr lang="he-IL" dirty="0"/>
          </a:p>
        </p:txBody>
      </p:sp>
      <p:graphicFrame>
        <p:nvGraphicFramePr>
          <p:cNvPr id="6" name="מציין מיקום תוכן 5"/>
          <p:cNvGraphicFramePr>
            <a:graphicFrameLocks noGrp="1"/>
          </p:cNvGraphicFramePr>
          <p:nvPr>
            <p:ph idx="1"/>
          </p:nvPr>
        </p:nvGraphicFramePr>
        <p:xfrm>
          <a:off x="1930800" y="1214422"/>
          <a:ext cx="8280000" cy="2595880"/>
        </p:xfrm>
        <a:graphic>
          <a:graphicData uri="http://schemas.openxmlformats.org/drawingml/2006/table">
            <a:tbl>
              <a:tblPr rtl="1" firstRow="1" bandRow="1">
                <a:tableStyleId>{2D5ABB26-0587-4C30-8999-92F81FD0307C}</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1260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1260000">
                  <a:extLst>
                    <a:ext uri="{9D8B030D-6E8A-4147-A177-3AD203B41FA5}">
                      <a16:colId xmlns:a16="http://schemas.microsoft.com/office/drawing/2014/main" val="20006"/>
                    </a:ext>
                  </a:extLst>
                </a:gridCol>
                <a:gridCol w="1260000">
                  <a:extLst>
                    <a:ext uri="{9D8B030D-6E8A-4147-A177-3AD203B41FA5}">
                      <a16:colId xmlns:a16="http://schemas.microsoft.com/office/drawing/2014/main" val="20007"/>
                    </a:ext>
                  </a:extLst>
                </a:gridCol>
              </a:tblGrid>
              <a:tr h="370840">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a:spcAft>
                          <a:spcPts val="0"/>
                        </a:spcAft>
                      </a:pPr>
                      <a:r>
                        <a:rPr lang="en-US" sz="1600" b="1" dirty="0">
                          <a:latin typeface="Times New Roman"/>
                          <a:ea typeface="Times New Roman"/>
                          <a:cs typeface="David"/>
                        </a:rPr>
                        <a:t> </a:t>
                      </a:r>
                      <a:endParaRPr lang="en-US" sz="1600" b="1"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a:spcAft>
                          <a:spcPts val="0"/>
                        </a:spcAft>
                      </a:pPr>
                      <a:r>
                        <a:rPr lang="en-US" sz="1600" b="1" dirty="0">
                          <a:latin typeface="Times New Roman"/>
                          <a:ea typeface="Times New Roman"/>
                          <a:cs typeface="David"/>
                        </a:rPr>
                        <a:t> </a:t>
                      </a:r>
                      <a:endParaRPr lang="en-US" sz="1600" b="1"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rtl="1">
                        <a:spcAft>
                          <a:spcPts val="0"/>
                        </a:spcAft>
                      </a:pPr>
                      <a:r>
                        <a:rPr lang="he-IL" sz="1600">
                          <a:latin typeface="Times New Roman"/>
                          <a:ea typeface="Times New Roman"/>
                          <a:cs typeface="David"/>
                        </a:rPr>
                        <a:t>2</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spcAft>
                          <a:spcPts val="0"/>
                        </a:spcAft>
                      </a:pPr>
                      <a:r>
                        <a:rPr lang="he-IL" sz="1600">
                          <a:latin typeface="Times New Roman"/>
                          <a:ea typeface="Times New Roman"/>
                          <a:cs typeface="David"/>
                        </a:rPr>
                        <a:t>4</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spcAft>
                          <a:spcPts val="0"/>
                        </a:spcAft>
                      </a:pPr>
                      <a:r>
                        <a:rPr lang="he-IL" sz="1600">
                          <a:latin typeface="Times New Roman"/>
                          <a:ea typeface="Times New Roman"/>
                          <a:cs typeface="David"/>
                        </a:rPr>
                        <a:t>6</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8</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6</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spcAft>
                          <a:spcPts val="0"/>
                        </a:spcAft>
                      </a:pPr>
                      <a:r>
                        <a:rPr lang="he-IL" sz="1600">
                          <a:latin typeface="Times New Roman"/>
                          <a:ea typeface="Times New Roman"/>
                          <a:cs typeface="David"/>
                        </a:rPr>
                        <a:t>8</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11</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spcAft>
                          <a:spcPts val="0"/>
                        </a:spcAft>
                      </a:pPr>
                      <a:r>
                        <a:rPr lang="he-IL" sz="1600" dirty="0">
                          <a:latin typeface="Times New Roman"/>
                          <a:ea typeface="Times New Roman"/>
                          <a:cs typeface="David"/>
                        </a:rPr>
                        <a:t>10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15</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14</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מציין מיקום של כותרת תחתונה 4"/>
          <p:cNvSpPr>
            <a:spLocks noGrp="1"/>
          </p:cNvSpPr>
          <p:nvPr>
            <p:ph type="ftr" sz="quarter" idx="11"/>
          </p:nvPr>
        </p:nvSpPr>
        <p:spPr/>
        <p:txBody>
          <a:bodyPr/>
          <a:lstStyle/>
          <a:p>
            <a:r>
              <a:rPr lang="he-IL" dirty="0"/>
              <a:t>מבוא למיקרו כלכלה</a:t>
            </a:r>
          </a:p>
        </p:txBody>
      </p:sp>
      <p:graphicFrame>
        <p:nvGraphicFramePr>
          <p:cNvPr id="9" name="מציין מיקום תוכן 5"/>
          <p:cNvGraphicFramePr>
            <a:graphicFrameLocks/>
          </p:cNvGraphicFramePr>
          <p:nvPr/>
        </p:nvGraphicFramePr>
        <p:xfrm>
          <a:off x="1932926" y="4047830"/>
          <a:ext cx="2520000" cy="2595880"/>
        </p:xfrm>
        <a:graphic>
          <a:graphicData uri="http://schemas.openxmlformats.org/drawingml/2006/table">
            <a:tbl>
              <a:tblPr rtl="1" firstRow="1" bandRow="1">
                <a:tableStyleId>{2D5ABB26-0587-4C30-8999-92F81FD0307C}</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tblGrid>
              <a:tr h="370840">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rtl="1">
                        <a:spcAft>
                          <a:spcPts val="0"/>
                        </a:spcAft>
                      </a:pPr>
                      <a:r>
                        <a:rPr lang="en-US" sz="1600" dirty="0">
                          <a:latin typeface="David" pitchFamily="34" charset="-79"/>
                          <a:ea typeface="Times New Roman"/>
                          <a:cs typeface="David" pitchFamily="34" charset="-79"/>
                        </a:rPr>
                        <a:t>1</a:t>
                      </a: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rtl="1">
                        <a:spcAft>
                          <a:spcPts val="0"/>
                        </a:spcAft>
                      </a:pPr>
                      <a:r>
                        <a:rPr lang="he-IL" sz="1600" dirty="0">
                          <a:latin typeface="David" pitchFamily="34" charset="-79"/>
                          <a:ea typeface="Times New Roman"/>
                          <a:cs typeface="David" pitchFamily="34" charset="-79"/>
                        </a:rPr>
                        <a:t>5=2+3+0</a:t>
                      </a:r>
                      <a:endParaRPr lang="en-US" sz="1600" dirty="0">
                        <a:latin typeface="David" pitchFamily="34" charset="-79"/>
                        <a:ea typeface="Times New Roman"/>
                        <a:cs typeface="David" pitchFamily="34" charset="-79"/>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spcAft>
                          <a:spcPts val="0"/>
                        </a:spcAft>
                      </a:pP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spcAft>
                          <a:spcPts val="0"/>
                        </a:spcAft>
                      </a:pP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spcAft>
                          <a:spcPts val="0"/>
                        </a:spcAft>
                      </a:pP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spcAft>
                          <a:spcPts val="0"/>
                        </a:spcAft>
                      </a:pP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אליפסה 6"/>
          <p:cNvSpPr/>
          <p:nvPr/>
        </p:nvSpPr>
        <p:spPr>
          <a:xfrm>
            <a:off x="3667108" y="2000240"/>
            <a:ext cx="428628" cy="35719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אליפסה 7"/>
          <p:cNvSpPr/>
          <p:nvPr/>
        </p:nvSpPr>
        <p:spPr>
          <a:xfrm>
            <a:off x="6524628" y="2000240"/>
            <a:ext cx="428628" cy="35719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אליפסה 9"/>
          <p:cNvSpPr/>
          <p:nvPr/>
        </p:nvSpPr>
        <p:spPr>
          <a:xfrm>
            <a:off x="9382148" y="2000240"/>
            <a:ext cx="428628" cy="35719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extBox 10"/>
          <p:cNvSpPr txBox="1"/>
          <p:nvPr/>
        </p:nvSpPr>
        <p:spPr>
          <a:xfrm>
            <a:off x="5310182" y="4572008"/>
            <a:ext cx="4802918" cy="861774"/>
          </a:xfrm>
          <a:prstGeom prst="rect">
            <a:avLst/>
          </a:prstGeom>
          <a:noFill/>
        </p:spPr>
        <p:txBody>
          <a:bodyPr wrap="none" rtlCol="1">
            <a:spAutoFit/>
          </a:bodyPr>
          <a:lstStyle/>
          <a:p>
            <a:r>
              <a:rPr lang="he-IL" sz="2500" b="1" dirty="0"/>
              <a:t>חיבור אופקי </a:t>
            </a:r>
            <a:r>
              <a:rPr lang="he-IL" sz="2500" dirty="0"/>
              <a:t>– </a:t>
            </a:r>
          </a:p>
          <a:p>
            <a:r>
              <a:rPr lang="he-IL" sz="2500" dirty="0" err="1"/>
              <a:t>סוכמים</a:t>
            </a:r>
            <a:r>
              <a:rPr lang="he-IL" sz="2500" dirty="0"/>
              <a:t> את הכמות המוצעת בכל מחיר</a:t>
            </a:r>
          </a:p>
        </p:txBody>
      </p:sp>
      <p:sp>
        <p:nvSpPr>
          <p:cNvPr id="3" name="Date Placeholder 2"/>
          <p:cNvSpPr>
            <a:spLocks noGrp="1"/>
          </p:cNvSpPr>
          <p:nvPr>
            <p:ph type="dt" sz="half" idx="10"/>
          </p:nvPr>
        </p:nvSpPr>
        <p:spPr/>
        <p:txBody>
          <a:bodyPr/>
          <a:lstStyle/>
          <a:p>
            <a:fld id="{F937A196-BB9D-4FAF-86B7-F86FF78FF10E}" type="datetime8">
              <a:rPr lang="he-IL" smtClean="0"/>
              <a:t>03 ינואר 26</a:t>
            </a:fld>
            <a:endParaRPr lang="he-IL"/>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754244" y="105076"/>
            <a:ext cx="8229600" cy="1143000"/>
          </a:xfrm>
        </p:spPr>
        <p:txBody>
          <a:bodyPr/>
          <a:lstStyle/>
          <a:p>
            <a:pPr algn="r"/>
            <a:r>
              <a:rPr lang="he-IL" b="1" dirty="0">
                <a:solidFill>
                  <a:schemeClr val="tx2">
                    <a:lumMod val="75000"/>
                  </a:schemeClr>
                </a:solidFill>
              </a:rPr>
              <a:t>שאלה 3</a:t>
            </a:r>
            <a:endParaRPr lang="he-IL" dirty="0"/>
          </a:p>
        </p:txBody>
      </p:sp>
      <p:graphicFrame>
        <p:nvGraphicFramePr>
          <p:cNvPr id="6" name="מציין מיקום תוכן 5"/>
          <p:cNvGraphicFramePr>
            <a:graphicFrameLocks noGrp="1"/>
          </p:cNvGraphicFramePr>
          <p:nvPr>
            <p:ph idx="1"/>
          </p:nvPr>
        </p:nvGraphicFramePr>
        <p:xfrm>
          <a:off x="1930800" y="1214422"/>
          <a:ext cx="8280000" cy="2595880"/>
        </p:xfrm>
        <a:graphic>
          <a:graphicData uri="http://schemas.openxmlformats.org/drawingml/2006/table">
            <a:tbl>
              <a:tblPr rtl="1" firstRow="1" bandRow="1">
                <a:tableStyleId>{2D5ABB26-0587-4C30-8999-92F81FD0307C}</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1260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1260000">
                  <a:extLst>
                    <a:ext uri="{9D8B030D-6E8A-4147-A177-3AD203B41FA5}">
                      <a16:colId xmlns:a16="http://schemas.microsoft.com/office/drawing/2014/main" val="20006"/>
                    </a:ext>
                  </a:extLst>
                </a:gridCol>
                <a:gridCol w="1260000">
                  <a:extLst>
                    <a:ext uri="{9D8B030D-6E8A-4147-A177-3AD203B41FA5}">
                      <a16:colId xmlns:a16="http://schemas.microsoft.com/office/drawing/2014/main" val="20007"/>
                    </a:ext>
                  </a:extLst>
                </a:gridCol>
              </a:tblGrid>
              <a:tr h="370840">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a:spcAft>
                          <a:spcPts val="0"/>
                        </a:spcAft>
                      </a:pPr>
                      <a:r>
                        <a:rPr lang="en-US" sz="1600" b="1" dirty="0">
                          <a:latin typeface="Times New Roman"/>
                          <a:ea typeface="Times New Roman"/>
                          <a:cs typeface="David"/>
                        </a:rPr>
                        <a:t> </a:t>
                      </a:r>
                      <a:endParaRPr lang="en-US" sz="1600" b="1"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a:spcAft>
                          <a:spcPts val="0"/>
                        </a:spcAft>
                      </a:pPr>
                      <a:r>
                        <a:rPr lang="en-US" sz="1600" b="1" dirty="0">
                          <a:latin typeface="Times New Roman"/>
                          <a:ea typeface="Times New Roman"/>
                          <a:cs typeface="David"/>
                        </a:rPr>
                        <a:t> </a:t>
                      </a:r>
                      <a:endParaRPr lang="en-US" sz="1600" b="1"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rtl="1">
                        <a:spcAft>
                          <a:spcPts val="0"/>
                        </a:spcAft>
                      </a:pPr>
                      <a:r>
                        <a:rPr lang="he-IL" sz="1600">
                          <a:latin typeface="Times New Roman"/>
                          <a:ea typeface="Times New Roman"/>
                          <a:cs typeface="David"/>
                        </a:rPr>
                        <a:t>2</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spcAft>
                          <a:spcPts val="0"/>
                        </a:spcAft>
                      </a:pPr>
                      <a:r>
                        <a:rPr lang="he-IL" sz="1600">
                          <a:latin typeface="Times New Roman"/>
                          <a:ea typeface="Times New Roman"/>
                          <a:cs typeface="David"/>
                        </a:rPr>
                        <a:t>4</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spcAft>
                          <a:spcPts val="0"/>
                        </a:spcAft>
                      </a:pPr>
                      <a:r>
                        <a:rPr lang="he-IL" sz="1600">
                          <a:latin typeface="Times New Roman"/>
                          <a:ea typeface="Times New Roman"/>
                          <a:cs typeface="David"/>
                        </a:rPr>
                        <a:t>6</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8</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6</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spcAft>
                          <a:spcPts val="0"/>
                        </a:spcAft>
                      </a:pPr>
                      <a:r>
                        <a:rPr lang="he-IL" sz="1600">
                          <a:latin typeface="Times New Roman"/>
                          <a:ea typeface="Times New Roman"/>
                          <a:cs typeface="David"/>
                        </a:rPr>
                        <a:t>8</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11</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spcAft>
                          <a:spcPts val="0"/>
                        </a:spcAft>
                      </a:pPr>
                      <a:r>
                        <a:rPr lang="he-IL" sz="1600" dirty="0">
                          <a:latin typeface="Times New Roman"/>
                          <a:ea typeface="Times New Roman"/>
                          <a:cs typeface="David"/>
                        </a:rPr>
                        <a:t>10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15</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14</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מציין מיקום של כותרת תחתונה 4"/>
          <p:cNvSpPr>
            <a:spLocks noGrp="1"/>
          </p:cNvSpPr>
          <p:nvPr>
            <p:ph type="ftr" sz="quarter" idx="11"/>
          </p:nvPr>
        </p:nvSpPr>
        <p:spPr/>
        <p:txBody>
          <a:bodyPr/>
          <a:lstStyle/>
          <a:p>
            <a:r>
              <a:rPr lang="he-IL" dirty="0"/>
              <a:t>מבוא למיקרו כלכלה</a:t>
            </a:r>
          </a:p>
        </p:txBody>
      </p:sp>
      <p:graphicFrame>
        <p:nvGraphicFramePr>
          <p:cNvPr id="9" name="מציין מיקום תוכן 5"/>
          <p:cNvGraphicFramePr>
            <a:graphicFrameLocks/>
          </p:cNvGraphicFramePr>
          <p:nvPr/>
        </p:nvGraphicFramePr>
        <p:xfrm>
          <a:off x="1932926" y="4047830"/>
          <a:ext cx="2520000" cy="2595880"/>
        </p:xfrm>
        <a:graphic>
          <a:graphicData uri="http://schemas.openxmlformats.org/drawingml/2006/table">
            <a:tbl>
              <a:tblPr rtl="1" firstRow="1" bandRow="1">
                <a:tableStyleId>{2D5ABB26-0587-4C30-8999-92F81FD0307C}</a:tableStyleId>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tblGrid>
              <a:tr h="370840">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rtl="1">
                        <a:spcAft>
                          <a:spcPts val="0"/>
                        </a:spcAft>
                      </a:pPr>
                      <a:r>
                        <a:rPr lang="en-US" sz="1600" dirty="0">
                          <a:latin typeface="David" pitchFamily="34" charset="-79"/>
                          <a:ea typeface="Times New Roman"/>
                          <a:cs typeface="David" pitchFamily="34" charset="-79"/>
                        </a:rPr>
                        <a:t>1</a:t>
                      </a: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rtl="1">
                        <a:spcAft>
                          <a:spcPts val="0"/>
                        </a:spcAft>
                      </a:pPr>
                      <a:r>
                        <a:rPr lang="he-IL" sz="1600" dirty="0">
                          <a:latin typeface="David" pitchFamily="34" charset="-79"/>
                          <a:ea typeface="Times New Roman"/>
                          <a:cs typeface="David" pitchFamily="34" charset="-79"/>
                        </a:rPr>
                        <a:t>5</a:t>
                      </a:r>
                      <a:endParaRPr lang="en-US" sz="1600" dirty="0">
                        <a:latin typeface="David" pitchFamily="34" charset="-79"/>
                        <a:ea typeface="Times New Roman"/>
                        <a:cs typeface="David" pitchFamily="34" charset="-79"/>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rtl="1">
                        <a:spcAft>
                          <a:spcPts val="0"/>
                        </a:spcAft>
                      </a:pPr>
                      <a:r>
                        <a:rPr lang="en-US" sz="1600" dirty="0">
                          <a:latin typeface="David" pitchFamily="34" charset="-79"/>
                          <a:ea typeface="Times New Roman"/>
                          <a:cs typeface="David" pitchFamily="34" charset="-79"/>
                        </a:rPr>
                        <a:t>12</a:t>
                      </a: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rtl="1">
                        <a:spcAft>
                          <a:spcPts val="0"/>
                        </a:spcAft>
                      </a:pPr>
                      <a:r>
                        <a:rPr lang="en-US" sz="1600" dirty="0">
                          <a:latin typeface="David" pitchFamily="34" charset="-79"/>
                          <a:ea typeface="Times New Roman"/>
                          <a:cs typeface="David" pitchFamily="34" charset="-79"/>
                        </a:rPr>
                        <a:t>20</a:t>
                      </a: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rtl="1">
                        <a:spcAft>
                          <a:spcPts val="0"/>
                        </a:spcAft>
                      </a:pPr>
                      <a:r>
                        <a:rPr lang="en-US" sz="1600" dirty="0">
                          <a:latin typeface="David" pitchFamily="34" charset="-79"/>
                          <a:ea typeface="Times New Roman"/>
                          <a:cs typeface="David" pitchFamily="34" charset="-79"/>
                        </a:rPr>
                        <a:t>29</a:t>
                      </a: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rtl="1">
                        <a:spcAft>
                          <a:spcPts val="0"/>
                        </a:spcAft>
                      </a:pPr>
                      <a:r>
                        <a:rPr lang="en-US" sz="1600" dirty="0">
                          <a:latin typeface="David" pitchFamily="34" charset="-79"/>
                          <a:ea typeface="Times New Roman"/>
                          <a:cs typeface="David" pitchFamily="34" charset="-79"/>
                        </a:rPr>
                        <a:t>39</a:t>
                      </a: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1" name="TextBox 10"/>
          <p:cNvSpPr txBox="1"/>
          <p:nvPr/>
        </p:nvSpPr>
        <p:spPr>
          <a:xfrm>
            <a:off x="5310120" y="4572009"/>
            <a:ext cx="4802981" cy="1246495"/>
          </a:xfrm>
          <a:prstGeom prst="rect">
            <a:avLst/>
          </a:prstGeom>
          <a:noFill/>
        </p:spPr>
        <p:txBody>
          <a:bodyPr wrap="none" rtlCol="1">
            <a:spAutoFit/>
          </a:bodyPr>
          <a:lstStyle/>
          <a:p>
            <a:r>
              <a:rPr lang="he-IL" sz="2500" b="1" dirty="0"/>
              <a:t>חיבור אופקי </a:t>
            </a:r>
            <a:r>
              <a:rPr lang="he-IL" sz="2500" dirty="0"/>
              <a:t>– </a:t>
            </a:r>
          </a:p>
          <a:p>
            <a:r>
              <a:rPr lang="he-IL" sz="2500" dirty="0" err="1"/>
              <a:t>סוכמים</a:t>
            </a:r>
            <a:r>
              <a:rPr lang="he-IL" sz="2500" dirty="0"/>
              <a:t> את הכמות המוצעת בכל מחיר</a:t>
            </a:r>
          </a:p>
          <a:p>
            <a:endParaRPr lang="he-IL" sz="2500" dirty="0"/>
          </a:p>
        </p:txBody>
      </p:sp>
      <p:sp>
        <p:nvSpPr>
          <p:cNvPr id="3" name="Date Placeholder 2"/>
          <p:cNvSpPr>
            <a:spLocks noGrp="1"/>
          </p:cNvSpPr>
          <p:nvPr>
            <p:ph type="dt" sz="half" idx="10"/>
          </p:nvPr>
        </p:nvSpPr>
        <p:spPr/>
        <p:txBody>
          <a:bodyPr/>
          <a:lstStyle/>
          <a:p>
            <a:fld id="{329B9F68-586B-494F-A633-DB53759E44AE}" type="datetime8">
              <a:rPr lang="he-IL" smtClean="0"/>
              <a:t>03 ינואר 26</a:t>
            </a:fld>
            <a:endParaRPr lang="he-I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מציין מיקום של כותרת תחתונה 4"/>
          <p:cNvSpPr>
            <a:spLocks noGrp="1"/>
          </p:cNvSpPr>
          <p:nvPr>
            <p:ph type="ftr" sz="quarter" idx="11"/>
          </p:nvPr>
        </p:nvSpPr>
        <p:spPr/>
        <p:txBody>
          <a:bodyPr/>
          <a:lstStyle/>
          <a:p>
            <a:r>
              <a:rPr lang="he-IL" dirty="0"/>
              <a:t>מבוא למיקרו כלכלה</a:t>
            </a:r>
          </a:p>
        </p:txBody>
      </p:sp>
      <p:sp>
        <p:nvSpPr>
          <p:cNvPr id="6" name="כותרת 1"/>
          <p:cNvSpPr>
            <a:spLocks noGrp="1"/>
          </p:cNvSpPr>
          <p:nvPr>
            <p:ph type="title"/>
          </p:nvPr>
        </p:nvSpPr>
        <p:spPr>
          <a:xfrm>
            <a:off x="10128448" y="45530"/>
            <a:ext cx="1907704" cy="1143000"/>
          </a:xfrm>
        </p:spPr>
        <p:txBody>
          <a:bodyPr/>
          <a:lstStyle/>
          <a:p>
            <a:pPr algn="r"/>
            <a:r>
              <a:rPr lang="he-IL" b="1" dirty="0">
                <a:solidFill>
                  <a:schemeClr val="tx2">
                    <a:lumMod val="75000"/>
                  </a:schemeClr>
                </a:solidFill>
              </a:rPr>
              <a:t>שאלה 3</a:t>
            </a:r>
            <a:endParaRPr lang="he-IL" dirty="0"/>
          </a:p>
        </p:txBody>
      </p:sp>
      <p:cxnSp>
        <p:nvCxnSpPr>
          <p:cNvPr id="8" name="מחבר חץ ישר 7"/>
          <p:cNvCxnSpPr/>
          <p:nvPr/>
        </p:nvCxnSpPr>
        <p:spPr>
          <a:xfrm>
            <a:off x="2207568" y="3315072"/>
            <a:ext cx="1512168"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 name="מחבר חץ ישר 8"/>
          <p:cNvCxnSpPr/>
          <p:nvPr/>
        </p:nvCxnSpPr>
        <p:spPr>
          <a:xfrm flipV="1">
            <a:off x="2207568" y="1362472"/>
            <a:ext cx="0" cy="195260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 name="מחבר חץ ישר 10"/>
          <p:cNvCxnSpPr/>
          <p:nvPr/>
        </p:nvCxnSpPr>
        <p:spPr>
          <a:xfrm>
            <a:off x="3872136" y="3315072"/>
            <a:ext cx="1512168"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מחבר חץ ישר 11"/>
          <p:cNvCxnSpPr/>
          <p:nvPr/>
        </p:nvCxnSpPr>
        <p:spPr>
          <a:xfrm flipV="1">
            <a:off x="3872136" y="1362472"/>
            <a:ext cx="0" cy="195260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מחבר חץ ישר 12"/>
          <p:cNvCxnSpPr/>
          <p:nvPr/>
        </p:nvCxnSpPr>
        <p:spPr>
          <a:xfrm>
            <a:off x="5591944" y="3315072"/>
            <a:ext cx="1512168"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מחבר חץ ישר 13"/>
          <p:cNvCxnSpPr/>
          <p:nvPr/>
        </p:nvCxnSpPr>
        <p:spPr>
          <a:xfrm flipV="1">
            <a:off x="5591944" y="1362472"/>
            <a:ext cx="0" cy="195260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 name="מחבר חץ ישר 14"/>
          <p:cNvCxnSpPr/>
          <p:nvPr/>
        </p:nvCxnSpPr>
        <p:spPr>
          <a:xfrm>
            <a:off x="7536160" y="3315072"/>
            <a:ext cx="2592288"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מחבר חץ ישר 15"/>
          <p:cNvCxnSpPr/>
          <p:nvPr/>
        </p:nvCxnSpPr>
        <p:spPr>
          <a:xfrm flipV="1">
            <a:off x="7536160" y="1362472"/>
            <a:ext cx="0" cy="195260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9" name="מציין מיקום תוכן 5"/>
          <p:cNvGraphicFramePr>
            <a:graphicFrameLocks noGrp="1"/>
          </p:cNvGraphicFramePr>
          <p:nvPr>
            <p:ph idx="1"/>
          </p:nvPr>
        </p:nvGraphicFramePr>
        <p:xfrm>
          <a:off x="2010075" y="3789040"/>
          <a:ext cx="5236290" cy="1982130"/>
        </p:xfrm>
        <a:graphic>
          <a:graphicData uri="http://schemas.openxmlformats.org/drawingml/2006/table">
            <a:tbl>
              <a:tblPr rtl="1" firstRow="1" bandRow="1">
                <a:tableStyleId>{2D5ABB26-0587-4C30-8999-92F81FD0307C}</a:tableStyleId>
              </a:tblPr>
              <a:tblGrid>
                <a:gridCol w="831074">
                  <a:extLst>
                    <a:ext uri="{9D8B030D-6E8A-4147-A177-3AD203B41FA5}">
                      <a16:colId xmlns:a16="http://schemas.microsoft.com/office/drawing/2014/main" val="20000"/>
                    </a:ext>
                  </a:extLst>
                </a:gridCol>
                <a:gridCol w="639740">
                  <a:extLst>
                    <a:ext uri="{9D8B030D-6E8A-4147-A177-3AD203B41FA5}">
                      <a16:colId xmlns:a16="http://schemas.microsoft.com/office/drawing/2014/main" val="20001"/>
                    </a:ext>
                  </a:extLst>
                </a:gridCol>
                <a:gridCol w="428783">
                  <a:extLst>
                    <a:ext uri="{9D8B030D-6E8A-4147-A177-3AD203B41FA5}">
                      <a16:colId xmlns:a16="http://schemas.microsoft.com/office/drawing/2014/main" val="20002"/>
                    </a:ext>
                  </a:extLst>
                </a:gridCol>
                <a:gridCol w="831074">
                  <a:extLst>
                    <a:ext uri="{9D8B030D-6E8A-4147-A177-3AD203B41FA5}">
                      <a16:colId xmlns:a16="http://schemas.microsoft.com/office/drawing/2014/main" val="20003"/>
                    </a:ext>
                  </a:extLst>
                </a:gridCol>
                <a:gridCol w="686319">
                  <a:extLst>
                    <a:ext uri="{9D8B030D-6E8A-4147-A177-3AD203B41FA5}">
                      <a16:colId xmlns:a16="http://schemas.microsoft.com/office/drawing/2014/main" val="20004"/>
                    </a:ext>
                  </a:extLst>
                </a:gridCol>
                <a:gridCol w="382204">
                  <a:extLst>
                    <a:ext uri="{9D8B030D-6E8A-4147-A177-3AD203B41FA5}">
                      <a16:colId xmlns:a16="http://schemas.microsoft.com/office/drawing/2014/main" val="20005"/>
                    </a:ext>
                  </a:extLst>
                </a:gridCol>
                <a:gridCol w="831074">
                  <a:extLst>
                    <a:ext uri="{9D8B030D-6E8A-4147-A177-3AD203B41FA5}">
                      <a16:colId xmlns:a16="http://schemas.microsoft.com/office/drawing/2014/main" val="20006"/>
                    </a:ext>
                  </a:extLst>
                </a:gridCol>
                <a:gridCol w="606022">
                  <a:extLst>
                    <a:ext uri="{9D8B030D-6E8A-4147-A177-3AD203B41FA5}">
                      <a16:colId xmlns:a16="http://schemas.microsoft.com/office/drawing/2014/main" val="20007"/>
                    </a:ext>
                  </a:extLst>
                </a:gridCol>
              </a:tblGrid>
              <a:tr h="486028">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a:spcAft>
                          <a:spcPts val="0"/>
                        </a:spcAft>
                      </a:pPr>
                      <a:r>
                        <a:rPr lang="en-US" sz="1600" b="1" dirty="0">
                          <a:latin typeface="Times New Roman"/>
                          <a:ea typeface="Times New Roman"/>
                          <a:cs typeface="David"/>
                        </a:rPr>
                        <a:t> </a:t>
                      </a:r>
                      <a:endParaRPr lang="en-US" sz="1600" b="1"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a:spcAft>
                          <a:spcPts val="0"/>
                        </a:spcAft>
                      </a:pPr>
                      <a:r>
                        <a:rPr lang="en-US" sz="1600" b="1" dirty="0">
                          <a:latin typeface="Times New Roman"/>
                          <a:ea typeface="Times New Roman"/>
                          <a:cs typeface="David"/>
                        </a:rPr>
                        <a:t> </a:t>
                      </a:r>
                      <a:endParaRPr lang="en-US" sz="1600" b="1"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249075">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9075">
                <a:tc>
                  <a:txBody>
                    <a:bodyPr/>
                    <a:lstStyle/>
                    <a:p>
                      <a:pPr algn="ctr" rtl="1">
                        <a:spcAft>
                          <a:spcPts val="0"/>
                        </a:spcAft>
                      </a:pPr>
                      <a:r>
                        <a:rPr lang="he-IL" sz="1600">
                          <a:latin typeface="Times New Roman"/>
                          <a:ea typeface="Times New Roman"/>
                          <a:cs typeface="David"/>
                        </a:rPr>
                        <a:t>2</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49075">
                <a:tc>
                  <a:txBody>
                    <a:bodyPr/>
                    <a:lstStyle/>
                    <a:p>
                      <a:pPr algn="ctr" rtl="1">
                        <a:spcAft>
                          <a:spcPts val="0"/>
                        </a:spcAft>
                      </a:pPr>
                      <a:r>
                        <a:rPr lang="he-IL" sz="1600">
                          <a:latin typeface="Times New Roman"/>
                          <a:ea typeface="Times New Roman"/>
                          <a:cs typeface="David"/>
                        </a:rPr>
                        <a:t>4</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49075">
                <a:tc>
                  <a:txBody>
                    <a:bodyPr/>
                    <a:lstStyle/>
                    <a:p>
                      <a:pPr algn="ctr" rtl="1">
                        <a:spcAft>
                          <a:spcPts val="0"/>
                        </a:spcAft>
                      </a:pPr>
                      <a:r>
                        <a:rPr lang="he-IL" sz="1600" b="1" dirty="0">
                          <a:solidFill>
                            <a:srgbClr val="7030A0"/>
                          </a:solidFill>
                          <a:latin typeface="Times New Roman"/>
                          <a:ea typeface="Times New Roman"/>
                          <a:cs typeface="David"/>
                        </a:rPr>
                        <a:t>6</a:t>
                      </a:r>
                      <a:endParaRPr lang="en-US" sz="1600" b="1" dirty="0">
                        <a:solidFill>
                          <a:srgbClr val="7030A0"/>
                        </a:solidFill>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solidFill>
                            <a:srgbClr val="7030A0"/>
                          </a:solidFill>
                          <a:latin typeface="Times New Roman"/>
                          <a:ea typeface="Times New Roman"/>
                          <a:cs typeface="David"/>
                        </a:rPr>
                        <a:t>8</a:t>
                      </a:r>
                      <a:endParaRPr lang="en-US" sz="1600" b="1" dirty="0">
                        <a:solidFill>
                          <a:srgbClr val="7030A0"/>
                        </a:solidFill>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solidFill>
                            <a:srgbClr val="7030A0"/>
                          </a:solidFill>
                          <a:latin typeface="Times New Roman"/>
                          <a:ea typeface="Times New Roman"/>
                          <a:cs typeface="David"/>
                        </a:rPr>
                        <a:t>6</a:t>
                      </a:r>
                      <a:endParaRPr lang="en-US" sz="1600" b="1" dirty="0">
                        <a:solidFill>
                          <a:srgbClr val="7030A0"/>
                        </a:solidFill>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49075">
                <a:tc>
                  <a:txBody>
                    <a:bodyPr/>
                    <a:lstStyle/>
                    <a:p>
                      <a:pPr algn="ctr" rtl="1">
                        <a:spcAft>
                          <a:spcPts val="0"/>
                        </a:spcAft>
                      </a:pPr>
                      <a:r>
                        <a:rPr lang="he-IL" sz="1600">
                          <a:latin typeface="Times New Roman"/>
                          <a:ea typeface="Times New Roman"/>
                          <a:cs typeface="David"/>
                        </a:rPr>
                        <a:t>8</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11</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49075">
                <a:tc>
                  <a:txBody>
                    <a:bodyPr/>
                    <a:lstStyle/>
                    <a:p>
                      <a:pPr algn="ctr" rtl="1">
                        <a:spcAft>
                          <a:spcPts val="0"/>
                        </a:spcAft>
                      </a:pPr>
                      <a:r>
                        <a:rPr lang="he-IL" sz="1600" dirty="0">
                          <a:latin typeface="Times New Roman"/>
                          <a:ea typeface="Times New Roman"/>
                          <a:cs typeface="David"/>
                        </a:rPr>
                        <a:t>10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15</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14</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20" name="מציין מיקום תוכן 5"/>
          <p:cNvGraphicFramePr>
            <a:graphicFrameLocks/>
          </p:cNvGraphicFramePr>
          <p:nvPr/>
        </p:nvGraphicFramePr>
        <p:xfrm>
          <a:off x="8256240" y="3789040"/>
          <a:ext cx="1432632" cy="2008722"/>
        </p:xfrm>
        <a:graphic>
          <a:graphicData uri="http://schemas.openxmlformats.org/drawingml/2006/table">
            <a:tbl>
              <a:tblPr rtl="1" firstRow="1" bandRow="1">
                <a:tableStyleId>{2D5ABB26-0587-4C30-8999-92F81FD0307C}</a:tableStyleId>
              </a:tblPr>
              <a:tblGrid>
                <a:gridCol w="798643">
                  <a:extLst>
                    <a:ext uri="{9D8B030D-6E8A-4147-A177-3AD203B41FA5}">
                      <a16:colId xmlns:a16="http://schemas.microsoft.com/office/drawing/2014/main" val="20000"/>
                    </a:ext>
                  </a:extLst>
                </a:gridCol>
                <a:gridCol w="633989">
                  <a:extLst>
                    <a:ext uri="{9D8B030D-6E8A-4147-A177-3AD203B41FA5}">
                      <a16:colId xmlns:a16="http://schemas.microsoft.com/office/drawing/2014/main" val="20001"/>
                    </a:ext>
                  </a:extLst>
                </a:gridCol>
              </a:tblGrid>
              <a:tr h="253507">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0"/>
                  </a:ext>
                </a:extLst>
              </a:tr>
              <a:tr h="253507">
                <a:tc>
                  <a:txBody>
                    <a:bodyPr/>
                    <a:lstStyle/>
                    <a:p>
                      <a:pPr algn="ctr" rtl="1">
                        <a:spcAft>
                          <a:spcPts val="0"/>
                        </a:spcAft>
                      </a:pPr>
                      <a:r>
                        <a:rPr lang="en-US" sz="1600" dirty="0">
                          <a:latin typeface="David" pitchFamily="34" charset="-79"/>
                          <a:ea typeface="Times New Roman"/>
                          <a:cs typeface="David" pitchFamily="34" charset="-79"/>
                        </a:rPr>
                        <a:t>1</a:t>
                      </a: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53507">
                <a:tc>
                  <a:txBody>
                    <a:bodyPr/>
                    <a:lstStyle/>
                    <a:p>
                      <a:pPr algn="ctr" rtl="1">
                        <a:spcAft>
                          <a:spcPts val="0"/>
                        </a:spcAft>
                      </a:pPr>
                      <a:r>
                        <a:rPr lang="he-IL" sz="1600" dirty="0">
                          <a:latin typeface="David" pitchFamily="34" charset="-79"/>
                          <a:ea typeface="Times New Roman"/>
                          <a:cs typeface="David" pitchFamily="34" charset="-79"/>
                        </a:rPr>
                        <a:t>5</a:t>
                      </a:r>
                      <a:endParaRPr lang="en-US" sz="1600" dirty="0">
                        <a:latin typeface="David" pitchFamily="34" charset="-79"/>
                        <a:ea typeface="Times New Roman"/>
                        <a:cs typeface="David" pitchFamily="34" charset="-79"/>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53507">
                <a:tc>
                  <a:txBody>
                    <a:bodyPr/>
                    <a:lstStyle/>
                    <a:p>
                      <a:pPr algn="ctr" rtl="1">
                        <a:spcAft>
                          <a:spcPts val="0"/>
                        </a:spcAft>
                      </a:pPr>
                      <a:r>
                        <a:rPr lang="en-US" sz="1600" dirty="0">
                          <a:latin typeface="David" pitchFamily="34" charset="-79"/>
                          <a:ea typeface="Times New Roman"/>
                          <a:cs typeface="David" pitchFamily="34" charset="-79"/>
                        </a:rPr>
                        <a:t>12</a:t>
                      </a: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3507">
                <a:tc>
                  <a:txBody>
                    <a:bodyPr/>
                    <a:lstStyle/>
                    <a:p>
                      <a:pPr algn="ctr" rtl="1">
                        <a:spcAft>
                          <a:spcPts val="0"/>
                        </a:spcAft>
                      </a:pPr>
                      <a:r>
                        <a:rPr lang="en-US" sz="1600" b="1" dirty="0">
                          <a:solidFill>
                            <a:schemeClr val="accent6"/>
                          </a:solidFill>
                          <a:latin typeface="David" pitchFamily="34" charset="-79"/>
                          <a:ea typeface="Times New Roman"/>
                          <a:cs typeface="David" pitchFamily="34" charset="-79"/>
                        </a:rPr>
                        <a:t>20</a:t>
                      </a: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53507">
                <a:tc>
                  <a:txBody>
                    <a:bodyPr/>
                    <a:lstStyle/>
                    <a:p>
                      <a:pPr algn="ctr" rtl="1">
                        <a:spcAft>
                          <a:spcPts val="0"/>
                        </a:spcAft>
                      </a:pPr>
                      <a:r>
                        <a:rPr lang="en-US" sz="1600" dirty="0">
                          <a:latin typeface="David" pitchFamily="34" charset="-79"/>
                          <a:ea typeface="Times New Roman"/>
                          <a:cs typeface="David" pitchFamily="34" charset="-79"/>
                        </a:rPr>
                        <a:t>29</a:t>
                      </a: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53507">
                <a:tc>
                  <a:txBody>
                    <a:bodyPr/>
                    <a:lstStyle/>
                    <a:p>
                      <a:pPr algn="ctr" rtl="1">
                        <a:spcAft>
                          <a:spcPts val="0"/>
                        </a:spcAft>
                      </a:pPr>
                      <a:r>
                        <a:rPr lang="en-US" sz="1600" dirty="0">
                          <a:latin typeface="David" pitchFamily="34" charset="-79"/>
                          <a:ea typeface="Times New Roman"/>
                          <a:cs typeface="David" pitchFamily="34" charset="-79"/>
                        </a:rPr>
                        <a:t>39</a:t>
                      </a: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4" name="TextBox 23"/>
          <p:cNvSpPr txBox="1"/>
          <p:nvPr/>
        </p:nvSpPr>
        <p:spPr>
          <a:xfrm>
            <a:off x="2495600" y="1265606"/>
            <a:ext cx="936104" cy="369332"/>
          </a:xfrm>
          <a:prstGeom prst="rect">
            <a:avLst/>
          </a:prstGeom>
        </p:spPr>
        <p:style>
          <a:lnRef idx="1">
            <a:schemeClr val="dk1"/>
          </a:lnRef>
          <a:fillRef idx="2">
            <a:schemeClr val="dk1"/>
          </a:fillRef>
          <a:effectRef idx="1">
            <a:schemeClr val="dk1"/>
          </a:effectRef>
          <a:fontRef idx="minor">
            <a:schemeClr val="dk1"/>
          </a:fontRef>
        </p:style>
        <p:txBody>
          <a:bodyPr wrap="square" rtlCol="1">
            <a:spAutoFit/>
          </a:bodyPr>
          <a:lstStyle/>
          <a:p>
            <a:r>
              <a:rPr lang="he-IL" b="1" dirty="0"/>
              <a:t>יצרן 1</a:t>
            </a:r>
          </a:p>
        </p:txBody>
      </p:sp>
      <p:sp>
        <p:nvSpPr>
          <p:cNvPr id="25" name="TextBox 24"/>
          <p:cNvSpPr txBox="1"/>
          <p:nvPr/>
        </p:nvSpPr>
        <p:spPr>
          <a:xfrm>
            <a:off x="4096220" y="1265606"/>
            <a:ext cx="936104" cy="369332"/>
          </a:xfrm>
          <a:prstGeom prst="rect">
            <a:avLst/>
          </a:prstGeom>
        </p:spPr>
        <p:style>
          <a:lnRef idx="1">
            <a:schemeClr val="dk1"/>
          </a:lnRef>
          <a:fillRef idx="2">
            <a:schemeClr val="dk1"/>
          </a:fillRef>
          <a:effectRef idx="1">
            <a:schemeClr val="dk1"/>
          </a:effectRef>
          <a:fontRef idx="minor">
            <a:schemeClr val="dk1"/>
          </a:fontRef>
        </p:style>
        <p:txBody>
          <a:bodyPr wrap="square" rtlCol="1">
            <a:spAutoFit/>
          </a:bodyPr>
          <a:lstStyle/>
          <a:p>
            <a:r>
              <a:rPr lang="he-IL" b="1" dirty="0"/>
              <a:t>יצרן 2</a:t>
            </a:r>
          </a:p>
        </p:txBody>
      </p:sp>
      <p:sp>
        <p:nvSpPr>
          <p:cNvPr id="26" name="TextBox 25"/>
          <p:cNvSpPr txBox="1"/>
          <p:nvPr/>
        </p:nvSpPr>
        <p:spPr>
          <a:xfrm>
            <a:off x="5840170" y="1265606"/>
            <a:ext cx="936104" cy="369332"/>
          </a:xfrm>
          <a:prstGeom prst="rect">
            <a:avLst/>
          </a:prstGeom>
        </p:spPr>
        <p:style>
          <a:lnRef idx="1">
            <a:schemeClr val="dk1"/>
          </a:lnRef>
          <a:fillRef idx="2">
            <a:schemeClr val="dk1"/>
          </a:fillRef>
          <a:effectRef idx="1">
            <a:schemeClr val="dk1"/>
          </a:effectRef>
          <a:fontRef idx="minor">
            <a:schemeClr val="dk1"/>
          </a:fontRef>
        </p:style>
        <p:txBody>
          <a:bodyPr wrap="square" rtlCol="1">
            <a:spAutoFit/>
          </a:bodyPr>
          <a:lstStyle/>
          <a:p>
            <a:r>
              <a:rPr lang="he-IL" b="1" dirty="0"/>
              <a:t>יצרן 3</a:t>
            </a:r>
          </a:p>
        </p:txBody>
      </p:sp>
      <p:sp>
        <p:nvSpPr>
          <p:cNvPr id="44" name="TextBox 43"/>
          <p:cNvSpPr txBox="1"/>
          <p:nvPr/>
        </p:nvSpPr>
        <p:spPr>
          <a:xfrm>
            <a:off x="1516188" y="3009192"/>
            <a:ext cx="690654" cy="276999"/>
          </a:xfrm>
          <a:prstGeom prst="rect">
            <a:avLst/>
          </a:prstGeom>
          <a:noFill/>
        </p:spPr>
        <p:txBody>
          <a:bodyPr wrap="square" rtlCol="1">
            <a:spAutoFit/>
          </a:bodyPr>
          <a:lstStyle/>
          <a:p>
            <a:r>
              <a:rPr lang="he-IL" sz="1200" dirty="0"/>
              <a:t>1 ש''ח</a:t>
            </a:r>
          </a:p>
        </p:txBody>
      </p:sp>
      <p:sp>
        <p:nvSpPr>
          <p:cNvPr id="46" name="TextBox 45"/>
          <p:cNvSpPr txBox="1"/>
          <p:nvPr/>
        </p:nvSpPr>
        <p:spPr>
          <a:xfrm>
            <a:off x="1892457" y="1177805"/>
            <a:ext cx="288032" cy="338554"/>
          </a:xfrm>
          <a:prstGeom prst="rect">
            <a:avLst/>
          </a:prstGeom>
          <a:noFill/>
        </p:spPr>
        <p:txBody>
          <a:bodyPr wrap="square" rtlCol="1">
            <a:spAutoFit/>
          </a:bodyPr>
          <a:lstStyle/>
          <a:p>
            <a:r>
              <a:rPr lang="en-US" sz="1600" dirty="0"/>
              <a:t>P</a:t>
            </a:r>
            <a:endParaRPr lang="he-IL" sz="1600" dirty="0"/>
          </a:p>
        </p:txBody>
      </p:sp>
      <p:sp>
        <p:nvSpPr>
          <p:cNvPr id="48" name="TextBox 47"/>
          <p:cNvSpPr txBox="1"/>
          <p:nvPr/>
        </p:nvSpPr>
        <p:spPr>
          <a:xfrm>
            <a:off x="7197485" y="1193195"/>
            <a:ext cx="288032" cy="338554"/>
          </a:xfrm>
          <a:prstGeom prst="rect">
            <a:avLst/>
          </a:prstGeom>
          <a:noFill/>
        </p:spPr>
        <p:txBody>
          <a:bodyPr wrap="square" rtlCol="1">
            <a:spAutoFit/>
          </a:bodyPr>
          <a:lstStyle/>
          <a:p>
            <a:r>
              <a:rPr lang="en-US" sz="1600" dirty="0"/>
              <a:t>P</a:t>
            </a:r>
            <a:endParaRPr lang="he-IL" sz="1600" dirty="0"/>
          </a:p>
        </p:txBody>
      </p:sp>
      <p:sp>
        <p:nvSpPr>
          <p:cNvPr id="49" name="TextBox 48"/>
          <p:cNvSpPr txBox="1"/>
          <p:nvPr/>
        </p:nvSpPr>
        <p:spPr>
          <a:xfrm>
            <a:off x="3584463" y="1193195"/>
            <a:ext cx="288032" cy="338554"/>
          </a:xfrm>
          <a:prstGeom prst="rect">
            <a:avLst/>
          </a:prstGeom>
          <a:noFill/>
        </p:spPr>
        <p:txBody>
          <a:bodyPr wrap="square" rtlCol="1">
            <a:spAutoFit/>
          </a:bodyPr>
          <a:lstStyle/>
          <a:p>
            <a:r>
              <a:rPr lang="en-US" sz="1600" dirty="0"/>
              <a:t>P</a:t>
            </a:r>
            <a:endParaRPr lang="he-IL" sz="1600" dirty="0"/>
          </a:p>
        </p:txBody>
      </p:sp>
      <p:sp>
        <p:nvSpPr>
          <p:cNvPr id="50" name="TextBox 49"/>
          <p:cNvSpPr txBox="1"/>
          <p:nvPr/>
        </p:nvSpPr>
        <p:spPr>
          <a:xfrm>
            <a:off x="5187282" y="1183982"/>
            <a:ext cx="288032" cy="338554"/>
          </a:xfrm>
          <a:prstGeom prst="rect">
            <a:avLst/>
          </a:prstGeom>
          <a:noFill/>
        </p:spPr>
        <p:txBody>
          <a:bodyPr wrap="square" rtlCol="1">
            <a:spAutoFit/>
          </a:bodyPr>
          <a:lstStyle/>
          <a:p>
            <a:r>
              <a:rPr lang="en-US" sz="1600" dirty="0"/>
              <a:t>P</a:t>
            </a:r>
            <a:endParaRPr lang="he-IL" sz="1600" dirty="0"/>
          </a:p>
        </p:txBody>
      </p:sp>
      <p:sp>
        <p:nvSpPr>
          <p:cNvPr id="51" name="TextBox 50"/>
          <p:cNvSpPr txBox="1"/>
          <p:nvPr/>
        </p:nvSpPr>
        <p:spPr>
          <a:xfrm>
            <a:off x="10128448" y="3141503"/>
            <a:ext cx="288032" cy="369332"/>
          </a:xfrm>
          <a:prstGeom prst="rect">
            <a:avLst/>
          </a:prstGeom>
          <a:noFill/>
        </p:spPr>
        <p:txBody>
          <a:bodyPr wrap="square" rtlCol="1">
            <a:spAutoFit/>
          </a:bodyPr>
          <a:lstStyle/>
          <a:p>
            <a:r>
              <a:rPr lang="en-US" dirty="0"/>
              <a:t>X</a:t>
            </a:r>
            <a:endParaRPr lang="he-IL" dirty="0"/>
          </a:p>
        </p:txBody>
      </p:sp>
      <p:sp>
        <p:nvSpPr>
          <p:cNvPr id="52" name="TextBox 51"/>
          <p:cNvSpPr txBox="1"/>
          <p:nvPr/>
        </p:nvSpPr>
        <p:spPr>
          <a:xfrm>
            <a:off x="3530017" y="3311181"/>
            <a:ext cx="288032" cy="338554"/>
          </a:xfrm>
          <a:prstGeom prst="rect">
            <a:avLst/>
          </a:prstGeom>
          <a:noFill/>
        </p:spPr>
        <p:txBody>
          <a:bodyPr wrap="square" rtlCol="1">
            <a:spAutoFit/>
          </a:bodyPr>
          <a:lstStyle/>
          <a:p>
            <a:r>
              <a:rPr lang="en-US" sz="1600" dirty="0"/>
              <a:t>X</a:t>
            </a:r>
            <a:endParaRPr lang="he-IL" sz="1600" dirty="0"/>
          </a:p>
        </p:txBody>
      </p:sp>
      <p:sp>
        <p:nvSpPr>
          <p:cNvPr id="53" name="TextBox 52"/>
          <p:cNvSpPr txBox="1"/>
          <p:nvPr/>
        </p:nvSpPr>
        <p:spPr>
          <a:xfrm>
            <a:off x="5137111" y="3326169"/>
            <a:ext cx="288032" cy="338554"/>
          </a:xfrm>
          <a:prstGeom prst="rect">
            <a:avLst/>
          </a:prstGeom>
          <a:noFill/>
        </p:spPr>
        <p:txBody>
          <a:bodyPr wrap="square" rtlCol="1">
            <a:spAutoFit/>
          </a:bodyPr>
          <a:lstStyle/>
          <a:p>
            <a:r>
              <a:rPr lang="en-US" sz="1600" dirty="0"/>
              <a:t>X</a:t>
            </a:r>
            <a:endParaRPr lang="he-IL" sz="1600" dirty="0"/>
          </a:p>
        </p:txBody>
      </p:sp>
      <p:sp>
        <p:nvSpPr>
          <p:cNvPr id="54" name="TextBox 53"/>
          <p:cNvSpPr txBox="1"/>
          <p:nvPr/>
        </p:nvSpPr>
        <p:spPr>
          <a:xfrm>
            <a:off x="6956723" y="3311181"/>
            <a:ext cx="288032" cy="338554"/>
          </a:xfrm>
          <a:prstGeom prst="rect">
            <a:avLst/>
          </a:prstGeom>
          <a:noFill/>
        </p:spPr>
        <p:txBody>
          <a:bodyPr wrap="square" rtlCol="1">
            <a:spAutoFit/>
          </a:bodyPr>
          <a:lstStyle/>
          <a:p>
            <a:r>
              <a:rPr lang="en-US" sz="1600" dirty="0"/>
              <a:t>X</a:t>
            </a:r>
            <a:endParaRPr lang="he-IL" sz="1600" dirty="0"/>
          </a:p>
        </p:txBody>
      </p:sp>
      <p:sp>
        <p:nvSpPr>
          <p:cNvPr id="55" name="TextBox 54"/>
          <p:cNvSpPr txBox="1"/>
          <p:nvPr/>
        </p:nvSpPr>
        <p:spPr>
          <a:xfrm>
            <a:off x="2032828" y="3264270"/>
            <a:ext cx="288032" cy="276999"/>
          </a:xfrm>
          <a:prstGeom prst="rect">
            <a:avLst/>
          </a:prstGeom>
          <a:noFill/>
        </p:spPr>
        <p:txBody>
          <a:bodyPr wrap="square" rtlCol="1">
            <a:spAutoFit/>
          </a:bodyPr>
          <a:lstStyle/>
          <a:p>
            <a:r>
              <a:rPr lang="he-IL" sz="1200" dirty="0">
                <a:solidFill>
                  <a:srgbClr val="7030A0"/>
                </a:solidFill>
              </a:rPr>
              <a:t>0</a:t>
            </a:r>
          </a:p>
        </p:txBody>
      </p:sp>
      <p:sp>
        <p:nvSpPr>
          <p:cNvPr id="42" name="TextBox 41"/>
          <p:cNvSpPr txBox="1"/>
          <p:nvPr/>
        </p:nvSpPr>
        <p:spPr>
          <a:xfrm>
            <a:off x="3619111" y="6027216"/>
            <a:ext cx="6675225" cy="477054"/>
          </a:xfrm>
          <a:prstGeom prst="rect">
            <a:avLst/>
          </a:prstGeom>
          <a:noFill/>
        </p:spPr>
        <p:txBody>
          <a:bodyPr wrap="none" rtlCol="1">
            <a:spAutoFit/>
          </a:bodyPr>
          <a:lstStyle/>
          <a:p>
            <a:r>
              <a:rPr lang="he-IL" sz="2500" b="1" dirty="0"/>
              <a:t>חיבור אופקי </a:t>
            </a:r>
            <a:r>
              <a:rPr lang="he-IL" sz="2500" dirty="0"/>
              <a:t>– </a:t>
            </a:r>
            <a:r>
              <a:rPr lang="he-IL" sz="2500" dirty="0" err="1"/>
              <a:t>סוכמים</a:t>
            </a:r>
            <a:r>
              <a:rPr lang="he-IL" sz="2500" dirty="0"/>
              <a:t> את הכמות המוצעת בכל מחיר</a:t>
            </a:r>
          </a:p>
        </p:txBody>
      </p:sp>
      <p:sp>
        <p:nvSpPr>
          <p:cNvPr id="43" name="TextBox 42"/>
          <p:cNvSpPr txBox="1"/>
          <p:nvPr/>
        </p:nvSpPr>
        <p:spPr>
          <a:xfrm>
            <a:off x="8506407" y="1362472"/>
            <a:ext cx="1368152" cy="369332"/>
          </a:xfrm>
          <a:prstGeom prst="rect">
            <a:avLst/>
          </a:prstGeom>
        </p:spPr>
        <p:style>
          <a:lnRef idx="1">
            <a:schemeClr val="accent6"/>
          </a:lnRef>
          <a:fillRef idx="2">
            <a:schemeClr val="accent6"/>
          </a:fillRef>
          <a:effectRef idx="1">
            <a:schemeClr val="accent6"/>
          </a:effectRef>
          <a:fontRef idx="minor">
            <a:schemeClr val="dk1"/>
          </a:fontRef>
        </p:style>
        <p:txBody>
          <a:bodyPr wrap="square" rtlCol="1">
            <a:spAutoFit/>
          </a:bodyPr>
          <a:lstStyle/>
          <a:p>
            <a:r>
              <a:rPr lang="he-IL" b="1" dirty="0"/>
              <a:t>היצע מצרפי</a:t>
            </a:r>
          </a:p>
        </p:txBody>
      </p:sp>
      <p:sp>
        <p:nvSpPr>
          <p:cNvPr id="2" name="Date Placeholder 1"/>
          <p:cNvSpPr>
            <a:spLocks noGrp="1"/>
          </p:cNvSpPr>
          <p:nvPr>
            <p:ph type="dt" sz="half" idx="10"/>
          </p:nvPr>
        </p:nvSpPr>
        <p:spPr/>
        <p:txBody>
          <a:bodyPr/>
          <a:lstStyle/>
          <a:p>
            <a:fld id="{65982EEB-C6ED-4E2E-BE54-54DB89C61B86}" type="datetime8">
              <a:rPr lang="he-IL" smtClean="0"/>
              <a:t>03 ינואר 26</a:t>
            </a:fld>
            <a:endParaRPr lang="he-IL"/>
          </a:p>
        </p:txBody>
      </p:sp>
      <p:sp>
        <p:nvSpPr>
          <p:cNvPr id="3" name="Oval 2"/>
          <p:cNvSpPr/>
          <p:nvPr/>
        </p:nvSpPr>
        <p:spPr>
          <a:xfrm>
            <a:off x="2177849" y="3071464"/>
            <a:ext cx="72008" cy="1004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6899428" y="2987271"/>
            <a:ext cx="690654" cy="276999"/>
          </a:xfrm>
          <a:prstGeom prst="rect">
            <a:avLst/>
          </a:prstGeom>
          <a:noFill/>
        </p:spPr>
        <p:txBody>
          <a:bodyPr wrap="square" rtlCol="1">
            <a:spAutoFit/>
          </a:bodyPr>
          <a:lstStyle/>
          <a:p>
            <a:r>
              <a:rPr lang="he-IL" sz="1200" dirty="0"/>
              <a:t>1 ש''ח</a:t>
            </a:r>
          </a:p>
        </p:txBody>
      </p:sp>
      <p:sp>
        <p:nvSpPr>
          <p:cNvPr id="59" name="TextBox 58"/>
          <p:cNvSpPr txBox="1"/>
          <p:nvPr/>
        </p:nvSpPr>
        <p:spPr>
          <a:xfrm flipH="1">
            <a:off x="3808458" y="3283408"/>
            <a:ext cx="310372" cy="276999"/>
          </a:xfrm>
          <a:prstGeom prst="rect">
            <a:avLst/>
          </a:prstGeom>
          <a:noFill/>
        </p:spPr>
        <p:txBody>
          <a:bodyPr wrap="square" rtlCol="1">
            <a:spAutoFit/>
          </a:bodyPr>
          <a:lstStyle/>
          <a:p>
            <a:r>
              <a:rPr lang="he-IL" sz="1200" dirty="0">
                <a:solidFill>
                  <a:srgbClr val="7030A0"/>
                </a:solidFill>
              </a:rPr>
              <a:t>1</a:t>
            </a:r>
          </a:p>
        </p:txBody>
      </p:sp>
      <p:sp>
        <p:nvSpPr>
          <p:cNvPr id="60" name="Oval 59"/>
          <p:cNvSpPr/>
          <p:nvPr/>
        </p:nvSpPr>
        <p:spPr>
          <a:xfrm flipH="1">
            <a:off x="3956688" y="3096296"/>
            <a:ext cx="77593" cy="84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p:cNvSpPr txBox="1"/>
          <p:nvPr/>
        </p:nvSpPr>
        <p:spPr>
          <a:xfrm>
            <a:off x="5444556" y="3306853"/>
            <a:ext cx="288032" cy="276999"/>
          </a:xfrm>
          <a:prstGeom prst="rect">
            <a:avLst/>
          </a:prstGeom>
          <a:noFill/>
        </p:spPr>
        <p:txBody>
          <a:bodyPr wrap="square" rtlCol="1">
            <a:spAutoFit/>
          </a:bodyPr>
          <a:lstStyle/>
          <a:p>
            <a:r>
              <a:rPr lang="he-IL" sz="1200" dirty="0">
                <a:solidFill>
                  <a:srgbClr val="7030A0"/>
                </a:solidFill>
              </a:rPr>
              <a:t>0</a:t>
            </a:r>
          </a:p>
        </p:txBody>
      </p:sp>
      <p:sp>
        <p:nvSpPr>
          <p:cNvPr id="62" name="Oval 61"/>
          <p:cNvSpPr/>
          <p:nvPr/>
        </p:nvSpPr>
        <p:spPr>
          <a:xfrm>
            <a:off x="5567280" y="3075528"/>
            <a:ext cx="72008" cy="1004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flipH="1">
            <a:off x="7476996" y="3264270"/>
            <a:ext cx="310372" cy="276999"/>
          </a:xfrm>
          <a:prstGeom prst="rect">
            <a:avLst/>
          </a:prstGeom>
          <a:noFill/>
        </p:spPr>
        <p:txBody>
          <a:bodyPr wrap="square" rtlCol="1">
            <a:spAutoFit/>
          </a:bodyPr>
          <a:lstStyle/>
          <a:p>
            <a:r>
              <a:rPr lang="he-IL" sz="1200" dirty="0">
                <a:solidFill>
                  <a:srgbClr val="7030A0"/>
                </a:solidFill>
              </a:rPr>
              <a:t>1</a:t>
            </a:r>
          </a:p>
        </p:txBody>
      </p:sp>
      <p:sp>
        <p:nvSpPr>
          <p:cNvPr id="64" name="Oval 63"/>
          <p:cNvSpPr/>
          <p:nvPr/>
        </p:nvSpPr>
        <p:spPr>
          <a:xfrm flipH="1">
            <a:off x="7618181" y="3085464"/>
            <a:ext cx="77593" cy="84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1516188" y="2788019"/>
            <a:ext cx="690654" cy="276999"/>
          </a:xfrm>
          <a:prstGeom prst="rect">
            <a:avLst/>
          </a:prstGeom>
          <a:noFill/>
        </p:spPr>
        <p:txBody>
          <a:bodyPr wrap="square" rtlCol="1">
            <a:spAutoFit/>
          </a:bodyPr>
          <a:lstStyle/>
          <a:p>
            <a:r>
              <a:rPr lang="he-IL" sz="1200" dirty="0"/>
              <a:t>2 ש''ח</a:t>
            </a:r>
          </a:p>
        </p:txBody>
      </p:sp>
      <p:sp>
        <p:nvSpPr>
          <p:cNvPr id="66" name="TextBox 65"/>
          <p:cNvSpPr txBox="1"/>
          <p:nvPr/>
        </p:nvSpPr>
        <p:spPr>
          <a:xfrm>
            <a:off x="6899428" y="2766098"/>
            <a:ext cx="690654" cy="276999"/>
          </a:xfrm>
          <a:prstGeom prst="rect">
            <a:avLst/>
          </a:prstGeom>
          <a:noFill/>
        </p:spPr>
        <p:txBody>
          <a:bodyPr wrap="square" rtlCol="1">
            <a:spAutoFit/>
          </a:bodyPr>
          <a:lstStyle/>
          <a:p>
            <a:r>
              <a:rPr lang="he-IL" sz="1200" dirty="0"/>
              <a:t>2 ש''ח</a:t>
            </a:r>
          </a:p>
        </p:txBody>
      </p:sp>
      <p:sp>
        <p:nvSpPr>
          <p:cNvPr id="67" name="Oval 66"/>
          <p:cNvSpPr/>
          <p:nvPr/>
        </p:nvSpPr>
        <p:spPr>
          <a:xfrm>
            <a:off x="2173601" y="2851140"/>
            <a:ext cx="72008" cy="1004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p:cNvSpPr txBox="1"/>
          <p:nvPr/>
        </p:nvSpPr>
        <p:spPr>
          <a:xfrm flipH="1">
            <a:off x="4042890" y="3298374"/>
            <a:ext cx="310372" cy="276999"/>
          </a:xfrm>
          <a:prstGeom prst="rect">
            <a:avLst/>
          </a:prstGeom>
          <a:noFill/>
        </p:spPr>
        <p:txBody>
          <a:bodyPr wrap="square" rtlCol="1">
            <a:spAutoFit/>
          </a:bodyPr>
          <a:lstStyle/>
          <a:p>
            <a:r>
              <a:rPr lang="he-IL" sz="1200" dirty="0">
                <a:solidFill>
                  <a:srgbClr val="7030A0"/>
                </a:solidFill>
              </a:rPr>
              <a:t>3</a:t>
            </a:r>
          </a:p>
        </p:txBody>
      </p:sp>
      <p:sp>
        <p:nvSpPr>
          <p:cNvPr id="69" name="Oval 68"/>
          <p:cNvSpPr/>
          <p:nvPr/>
        </p:nvSpPr>
        <p:spPr>
          <a:xfrm flipH="1">
            <a:off x="4151028" y="2868481"/>
            <a:ext cx="77593" cy="84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p:cNvSpPr txBox="1"/>
          <p:nvPr/>
        </p:nvSpPr>
        <p:spPr>
          <a:xfrm flipH="1">
            <a:off x="5631355" y="3294837"/>
            <a:ext cx="310372" cy="276999"/>
          </a:xfrm>
          <a:prstGeom prst="rect">
            <a:avLst/>
          </a:prstGeom>
          <a:noFill/>
        </p:spPr>
        <p:txBody>
          <a:bodyPr wrap="square" rtlCol="1">
            <a:spAutoFit/>
          </a:bodyPr>
          <a:lstStyle/>
          <a:p>
            <a:r>
              <a:rPr lang="he-IL" sz="1200" dirty="0">
                <a:solidFill>
                  <a:srgbClr val="7030A0"/>
                </a:solidFill>
              </a:rPr>
              <a:t>2</a:t>
            </a:r>
          </a:p>
        </p:txBody>
      </p:sp>
      <p:sp>
        <p:nvSpPr>
          <p:cNvPr id="71" name="Oval 70"/>
          <p:cNvSpPr/>
          <p:nvPr/>
        </p:nvSpPr>
        <p:spPr>
          <a:xfrm flipH="1">
            <a:off x="5775906" y="2873848"/>
            <a:ext cx="77593" cy="84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p:cNvSpPr txBox="1"/>
          <p:nvPr/>
        </p:nvSpPr>
        <p:spPr>
          <a:xfrm flipH="1">
            <a:off x="7956264" y="3287216"/>
            <a:ext cx="310372" cy="276999"/>
          </a:xfrm>
          <a:prstGeom prst="rect">
            <a:avLst/>
          </a:prstGeom>
          <a:noFill/>
        </p:spPr>
        <p:txBody>
          <a:bodyPr wrap="square" rtlCol="1">
            <a:spAutoFit/>
          </a:bodyPr>
          <a:lstStyle/>
          <a:p>
            <a:r>
              <a:rPr lang="he-IL" sz="1200" dirty="0">
                <a:solidFill>
                  <a:srgbClr val="7030A0"/>
                </a:solidFill>
              </a:rPr>
              <a:t>5</a:t>
            </a:r>
          </a:p>
        </p:txBody>
      </p:sp>
      <p:sp>
        <p:nvSpPr>
          <p:cNvPr id="73" name="Oval 72"/>
          <p:cNvSpPr/>
          <p:nvPr/>
        </p:nvSpPr>
        <p:spPr>
          <a:xfrm flipH="1">
            <a:off x="8076220" y="2893092"/>
            <a:ext cx="77593" cy="84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p:nvSpPr>
        <p:spPr>
          <a:xfrm>
            <a:off x="1513172" y="2592577"/>
            <a:ext cx="690654" cy="276999"/>
          </a:xfrm>
          <a:prstGeom prst="rect">
            <a:avLst/>
          </a:prstGeom>
          <a:noFill/>
        </p:spPr>
        <p:txBody>
          <a:bodyPr wrap="square" rtlCol="1">
            <a:spAutoFit/>
          </a:bodyPr>
          <a:lstStyle/>
          <a:p>
            <a:r>
              <a:rPr lang="he-IL" sz="1200" dirty="0"/>
              <a:t>3 ש''ח</a:t>
            </a:r>
          </a:p>
        </p:txBody>
      </p:sp>
      <p:sp>
        <p:nvSpPr>
          <p:cNvPr id="75" name="TextBox 74"/>
          <p:cNvSpPr txBox="1"/>
          <p:nvPr/>
        </p:nvSpPr>
        <p:spPr>
          <a:xfrm>
            <a:off x="6896412" y="2570656"/>
            <a:ext cx="690654" cy="276999"/>
          </a:xfrm>
          <a:prstGeom prst="rect">
            <a:avLst/>
          </a:prstGeom>
          <a:noFill/>
        </p:spPr>
        <p:txBody>
          <a:bodyPr wrap="square" rtlCol="1">
            <a:spAutoFit/>
          </a:bodyPr>
          <a:lstStyle/>
          <a:p>
            <a:r>
              <a:rPr lang="he-IL" sz="1200" dirty="0"/>
              <a:t>3 ש''ח</a:t>
            </a:r>
          </a:p>
        </p:txBody>
      </p:sp>
      <p:sp>
        <p:nvSpPr>
          <p:cNvPr id="76" name="TextBox 75"/>
          <p:cNvSpPr txBox="1"/>
          <p:nvPr/>
        </p:nvSpPr>
        <p:spPr>
          <a:xfrm flipH="1">
            <a:off x="2329194" y="3273828"/>
            <a:ext cx="310372" cy="276999"/>
          </a:xfrm>
          <a:prstGeom prst="rect">
            <a:avLst/>
          </a:prstGeom>
          <a:noFill/>
        </p:spPr>
        <p:txBody>
          <a:bodyPr wrap="square" rtlCol="1">
            <a:spAutoFit/>
          </a:bodyPr>
          <a:lstStyle/>
          <a:p>
            <a:r>
              <a:rPr lang="he-IL" sz="1200" dirty="0">
                <a:solidFill>
                  <a:srgbClr val="7030A0"/>
                </a:solidFill>
              </a:rPr>
              <a:t>3</a:t>
            </a:r>
          </a:p>
        </p:txBody>
      </p:sp>
      <p:sp>
        <p:nvSpPr>
          <p:cNvPr id="77" name="Oval 76"/>
          <p:cNvSpPr/>
          <p:nvPr/>
        </p:nvSpPr>
        <p:spPr>
          <a:xfrm flipH="1">
            <a:off x="2452703" y="2696514"/>
            <a:ext cx="77593" cy="84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flipH="1">
            <a:off x="4305430" y="3286190"/>
            <a:ext cx="310372" cy="276999"/>
          </a:xfrm>
          <a:prstGeom prst="rect">
            <a:avLst/>
          </a:prstGeom>
          <a:noFill/>
        </p:spPr>
        <p:txBody>
          <a:bodyPr wrap="square" rtlCol="1">
            <a:spAutoFit/>
          </a:bodyPr>
          <a:lstStyle/>
          <a:p>
            <a:r>
              <a:rPr lang="he-IL" sz="1200" dirty="0">
                <a:solidFill>
                  <a:srgbClr val="7030A0"/>
                </a:solidFill>
              </a:rPr>
              <a:t>5</a:t>
            </a:r>
          </a:p>
        </p:txBody>
      </p:sp>
      <p:sp>
        <p:nvSpPr>
          <p:cNvPr id="79" name="Oval 78"/>
          <p:cNvSpPr/>
          <p:nvPr/>
        </p:nvSpPr>
        <p:spPr>
          <a:xfrm flipH="1">
            <a:off x="4405350" y="2700840"/>
            <a:ext cx="77593" cy="84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p:cNvSpPr txBox="1"/>
          <p:nvPr/>
        </p:nvSpPr>
        <p:spPr>
          <a:xfrm flipH="1">
            <a:off x="5919387" y="3294837"/>
            <a:ext cx="310372" cy="276999"/>
          </a:xfrm>
          <a:prstGeom prst="rect">
            <a:avLst/>
          </a:prstGeom>
          <a:noFill/>
        </p:spPr>
        <p:txBody>
          <a:bodyPr wrap="square" rtlCol="1">
            <a:spAutoFit/>
          </a:bodyPr>
          <a:lstStyle/>
          <a:p>
            <a:r>
              <a:rPr lang="he-IL" sz="1200" dirty="0">
                <a:solidFill>
                  <a:srgbClr val="7030A0"/>
                </a:solidFill>
              </a:rPr>
              <a:t>4</a:t>
            </a:r>
          </a:p>
        </p:txBody>
      </p:sp>
      <p:sp>
        <p:nvSpPr>
          <p:cNvPr id="81" name="Oval 80"/>
          <p:cNvSpPr/>
          <p:nvPr/>
        </p:nvSpPr>
        <p:spPr>
          <a:xfrm flipH="1">
            <a:off x="6044835" y="2691796"/>
            <a:ext cx="77593" cy="84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p:cNvSpPr txBox="1"/>
          <p:nvPr/>
        </p:nvSpPr>
        <p:spPr>
          <a:xfrm flipH="1">
            <a:off x="9281404" y="3315073"/>
            <a:ext cx="409082" cy="276999"/>
          </a:xfrm>
          <a:prstGeom prst="rect">
            <a:avLst/>
          </a:prstGeom>
          <a:noFill/>
        </p:spPr>
        <p:txBody>
          <a:bodyPr wrap="square" rtlCol="1">
            <a:spAutoFit/>
          </a:bodyPr>
          <a:lstStyle/>
          <a:p>
            <a:r>
              <a:rPr lang="he-IL" sz="1200" dirty="0">
                <a:solidFill>
                  <a:srgbClr val="7030A0"/>
                </a:solidFill>
              </a:rPr>
              <a:t>12</a:t>
            </a:r>
          </a:p>
        </p:txBody>
      </p:sp>
      <p:sp>
        <p:nvSpPr>
          <p:cNvPr id="83" name="Oval 82"/>
          <p:cNvSpPr/>
          <p:nvPr/>
        </p:nvSpPr>
        <p:spPr>
          <a:xfrm flipH="1">
            <a:off x="9471981" y="2641752"/>
            <a:ext cx="77593" cy="845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a:stCxn id="67" idx="2"/>
            <a:endCxn id="77" idx="1"/>
          </p:cNvCxnSpPr>
          <p:nvPr/>
        </p:nvCxnSpPr>
        <p:spPr>
          <a:xfrm flipV="1">
            <a:off x="2173602" y="2708890"/>
            <a:ext cx="345331" cy="192474"/>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60" idx="6"/>
            <a:endCxn id="69" idx="1"/>
          </p:cNvCxnSpPr>
          <p:nvPr/>
        </p:nvCxnSpPr>
        <p:spPr>
          <a:xfrm flipV="1">
            <a:off x="3956687" y="2880858"/>
            <a:ext cx="260570" cy="257697"/>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69" idx="6"/>
            <a:endCxn id="79" idx="5"/>
          </p:cNvCxnSpPr>
          <p:nvPr/>
        </p:nvCxnSpPr>
        <p:spPr>
          <a:xfrm flipV="1">
            <a:off x="4151028" y="2772979"/>
            <a:ext cx="265685" cy="137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p:cNvCxnSpPr>
            <a:endCxn id="71" idx="6"/>
          </p:cNvCxnSpPr>
          <p:nvPr/>
        </p:nvCxnSpPr>
        <p:spPr>
          <a:xfrm flipV="1">
            <a:off x="5583851" y="2916106"/>
            <a:ext cx="192054" cy="206190"/>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a:endCxn id="81" idx="5"/>
          </p:cNvCxnSpPr>
          <p:nvPr/>
        </p:nvCxnSpPr>
        <p:spPr>
          <a:xfrm flipV="1">
            <a:off x="5814701" y="2763936"/>
            <a:ext cx="241496" cy="150849"/>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p:cNvCxnSpPr>
            <a:endCxn id="73" idx="1"/>
          </p:cNvCxnSpPr>
          <p:nvPr/>
        </p:nvCxnSpPr>
        <p:spPr>
          <a:xfrm flipV="1">
            <a:off x="7695773" y="2905469"/>
            <a:ext cx="446676" cy="220601"/>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p:cNvCxnSpPr>
            <a:endCxn id="83" idx="3"/>
          </p:cNvCxnSpPr>
          <p:nvPr/>
        </p:nvCxnSpPr>
        <p:spPr>
          <a:xfrm flipV="1">
            <a:off x="8124016" y="2713891"/>
            <a:ext cx="1414195" cy="21262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98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500"/>
                                        <p:tgtEl>
                                          <p:spTgt spid="5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500"/>
                                        <p:tgtEl>
                                          <p:spTgt spid="48"/>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2"/>
                                        </p:tgtEl>
                                        <p:attrNameLst>
                                          <p:attrName>style.visibility</p:attrName>
                                        </p:attrNameLst>
                                      </p:cBhvr>
                                      <p:to>
                                        <p:strVal val="visible"/>
                                      </p:to>
                                    </p:set>
                                  </p:childTnLst>
                                </p:cTn>
                              </p:par>
                              <p:par>
                                <p:cTn id="60" presetID="10" presetClass="entr" presetSubtype="0" fill="hold" grpId="0" nodeType="with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fade">
                                      <p:cBhvr>
                                        <p:cTn id="62" dur="500"/>
                                        <p:tgtEl>
                                          <p:spTgt spid="43"/>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5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6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6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6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6"/>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68"/>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6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70"/>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71"/>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72"/>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73"/>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7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75"/>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7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77"/>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78"/>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79"/>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8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81"/>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82"/>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83"/>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nodeType="clickEffect">
                                  <p:stCondLst>
                                    <p:cond delay="0"/>
                                  </p:stCondLst>
                                  <p:childTnLst>
                                    <p:set>
                                      <p:cBhvr>
                                        <p:cTn id="152" dur="1" fill="hold">
                                          <p:stCondLst>
                                            <p:cond delay="0"/>
                                          </p:stCondLst>
                                        </p:cTn>
                                        <p:tgtEl>
                                          <p:spTgt spid="7"/>
                                        </p:tgtEl>
                                        <p:attrNameLst>
                                          <p:attrName>style.visibility</p:attrName>
                                        </p:attrNameLst>
                                      </p:cBhvr>
                                      <p:to>
                                        <p:strVal val="visible"/>
                                      </p:to>
                                    </p:set>
                                    <p:animEffect transition="in" filter="fade">
                                      <p:cBhvr>
                                        <p:cTn id="153" dur="500"/>
                                        <p:tgtEl>
                                          <p:spTgt spid="7"/>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nodeType="clickEffect">
                                  <p:stCondLst>
                                    <p:cond delay="0"/>
                                  </p:stCondLst>
                                  <p:childTnLst>
                                    <p:set>
                                      <p:cBhvr>
                                        <p:cTn id="157" dur="1" fill="hold">
                                          <p:stCondLst>
                                            <p:cond delay="0"/>
                                          </p:stCondLst>
                                        </p:cTn>
                                        <p:tgtEl>
                                          <p:spTgt spid="84"/>
                                        </p:tgtEl>
                                        <p:attrNameLst>
                                          <p:attrName>style.visibility</p:attrName>
                                        </p:attrNameLst>
                                      </p:cBhvr>
                                      <p:to>
                                        <p:strVal val="visible"/>
                                      </p:to>
                                    </p:set>
                                    <p:animEffect transition="in" filter="fade">
                                      <p:cBhvr>
                                        <p:cTn id="158" dur="500"/>
                                        <p:tgtEl>
                                          <p:spTgt spid="84"/>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nodeType="clickEffect">
                                  <p:stCondLst>
                                    <p:cond delay="0"/>
                                  </p:stCondLst>
                                  <p:childTnLst>
                                    <p:set>
                                      <p:cBhvr>
                                        <p:cTn id="162" dur="1" fill="hold">
                                          <p:stCondLst>
                                            <p:cond delay="0"/>
                                          </p:stCondLst>
                                        </p:cTn>
                                        <p:tgtEl>
                                          <p:spTgt spid="85"/>
                                        </p:tgtEl>
                                        <p:attrNameLst>
                                          <p:attrName>style.visibility</p:attrName>
                                        </p:attrNameLst>
                                      </p:cBhvr>
                                      <p:to>
                                        <p:strVal val="visible"/>
                                      </p:to>
                                    </p:set>
                                    <p:animEffect transition="in" filter="fade">
                                      <p:cBhvr>
                                        <p:cTn id="163" dur="500"/>
                                        <p:tgtEl>
                                          <p:spTgt spid="85"/>
                                        </p:tgtEl>
                                      </p:cBhvr>
                                    </p:animEffect>
                                  </p:childTnLst>
                                </p:cTn>
                              </p:par>
                            </p:childTnLst>
                          </p:cTn>
                        </p:par>
                      </p:childTnLst>
                    </p:cTn>
                  </p:par>
                  <p:par>
                    <p:cTn id="164" fill="hold">
                      <p:stCondLst>
                        <p:cond delay="indefinite"/>
                      </p:stCondLst>
                      <p:childTnLst>
                        <p:par>
                          <p:cTn id="165" fill="hold">
                            <p:stCondLst>
                              <p:cond delay="0"/>
                            </p:stCondLst>
                            <p:childTnLst>
                              <p:par>
                                <p:cTn id="166" presetID="10" presetClass="entr" presetSubtype="0" fill="hold" nodeType="clickEffect">
                                  <p:stCondLst>
                                    <p:cond delay="0"/>
                                  </p:stCondLst>
                                  <p:childTnLst>
                                    <p:set>
                                      <p:cBhvr>
                                        <p:cTn id="167" dur="1" fill="hold">
                                          <p:stCondLst>
                                            <p:cond delay="0"/>
                                          </p:stCondLst>
                                        </p:cTn>
                                        <p:tgtEl>
                                          <p:spTgt spid="86"/>
                                        </p:tgtEl>
                                        <p:attrNameLst>
                                          <p:attrName>style.visibility</p:attrName>
                                        </p:attrNameLst>
                                      </p:cBhvr>
                                      <p:to>
                                        <p:strVal val="visible"/>
                                      </p:to>
                                    </p:set>
                                    <p:animEffect transition="in" filter="fade">
                                      <p:cBhvr>
                                        <p:cTn id="168" dur="500"/>
                                        <p:tgtEl>
                                          <p:spTgt spid="86"/>
                                        </p:tgtEl>
                                      </p:cBhvr>
                                    </p:animEffect>
                                  </p:childTnLst>
                                </p:cTn>
                              </p:par>
                            </p:childTnLst>
                          </p:cTn>
                        </p:par>
                      </p:childTnLst>
                    </p:cTn>
                  </p:par>
                  <p:par>
                    <p:cTn id="169" fill="hold">
                      <p:stCondLst>
                        <p:cond delay="indefinite"/>
                      </p:stCondLst>
                      <p:childTnLst>
                        <p:par>
                          <p:cTn id="170" fill="hold">
                            <p:stCondLst>
                              <p:cond delay="0"/>
                            </p:stCondLst>
                            <p:childTnLst>
                              <p:par>
                                <p:cTn id="171" presetID="10" presetClass="entr" presetSubtype="0" fill="hold" nodeType="clickEffect">
                                  <p:stCondLst>
                                    <p:cond delay="0"/>
                                  </p:stCondLst>
                                  <p:childTnLst>
                                    <p:set>
                                      <p:cBhvr>
                                        <p:cTn id="172" dur="1" fill="hold">
                                          <p:stCondLst>
                                            <p:cond delay="0"/>
                                          </p:stCondLst>
                                        </p:cTn>
                                        <p:tgtEl>
                                          <p:spTgt spid="87"/>
                                        </p:tgtEl>
                                        <p:attrNameLst>
                                          <p:attrName>style.visibility</p:attrName>
                                        </p:attrNameLst>
                                      </p:cBhvr>
                                      <p:to>
                                        <p:strVal val="visible"/>
                                      </p:to>
                                    </p:set>
                                    <p:animEffect transition="in" filter="fade">
                                      <p:cBhvr>
                                        <p:cTn id="173" dur="500"/>
                                        <p:tgtEl>
                                          <p:spTgt spid="87"/>
                                        </p:tgtEl>
                                      </p:cBhvr>
                                    </p:animEffect>
                                  </p:childTnLst>
                                </p:cTn>
                              </p:par>
                            </p:childTnLst>
                          </p:cTn>
                        </p:par>
                      </p:childTnLst>
                    </p:cTn>
                  </p:par>
                  <p:par>
                    <p:cTn id="174" fill="hold">
                      <p:stCondLst>
                        <p:cond delay="indefinite"/>
                      </p:stCondLst>
                      <p:childTnLst>
                        <p:par>
                          <p:cTn id="175" fill="hold">
                            <p:stCondLst>
                              <p:cond delay="0"/>
                            </p:stCondLst>
                            <p:childTnLst>
                              <p:par>
                                <p:cTn id="176" presetID="10" presetClass="entr" presetSubtype="0" fill="hold" nodeType="clickEffect">
                                  <p:stCondLst>
                                    <p:cond delay="0"/>
                                  </p:stCondLst>
                                  <p:childTnLst>
                                    <p:set>
                                      <p:cBhvr>
                                        <p:cTn id="177" dur="1" fill="hold">
                                          <p:stCondLst>
                                            <p:cond delay="0"/>
                                          </p:stCondLst>
                                        </p:cTn>
                                        <p:tgtEl>
                                          <p:spTgt spid="88"/>
                                        </p:tgtEl>
                                        <p:attrNameLst>
                                          <p:attrName>style.visibility</p:attrName>
                                        </p:attrNameLst>
                                      </p:cBhvr>
                                      <p:to>
                                        <p:strVal val="visible"/>
                                      </p:to>
                                    </p:set>
                                    <p:animEffect transition="in" filter="fade">
                                      <p:cBhvr>
                                        <p:cTn id="178" dur="500"/>
                                        <p:tgtEl>
                                          <p:spTgt spid="88"/>
                                        </p:tgtEl>
                                      </p:cBhvr>
                                    </p:animEffect>
                                  </p:childTnLst>
                                </p:cTn>
                              </p:par>
                            </p:childTnLst>
                          </p:cTn>
                        </p:par>
                      </p:childTnLst>
                    </p:cTn>
                  </p:par>
                  <p:par>
                    <p:cTn id="179" fill="hold">
                      <p:stCondLst>
                        <p:cond delay="indefinite"/>
                      </p:stCondLst>
                      <p:childTnLst>
                        <p:par>
                          <p:cTn id="180" fill="hold">
                            <p:stCondLst>
                              <p:cond delay="0"/>
                            </p:stCondLst>
                            <p:childTnLst>
                              <p:par>
                                <p:cTn id="181" presetID="10" presetClass="entr" presetSubtype="0" fill="hold" nodeType="clickEffect">
                                  <p:stCondLst>
                                    <p:cond delay="0"/>
                                  </p:stCondLst>
                                  <p:childTnLst>
                                    <p:set>
                                      <p:cBhvr>
                                        <p:cTn id="182" dur="1" fill="hold">
                                          <p:stCondLst>
                                            <p:cond delay="0"/>
                                          </p:stCondLst>
                                        </p:cTn>
                                        <p:tgtEl>
                                          <p:spTgt spid="89"/>
                                        </p:tgtEl>
                                        <p:attrNameLst>
                                          <p:attrName>style.visibility</p:attrName>
                                        </p:attrNameLst>
                                      </p:cBhvr>
                                      <p:to>
                                        <p:strVal val="visible"/>
                                      </p:to>
                                    </p:set>
                                    <p:animEffect transition="in" filter="fade">
                                      <p:cBhvr>
                                        <p:cTn id="183"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44" grpId="0"/>
      <p:bldP spid="46" grpId="0"/>
      <p:bldP spid="48" grpId="0"/>
      <p:bldP spid="49" grpId="0"/>
      <p:bldP spid="50" grpId="0"/>
      <p:bldP spid="51" grpId="0"/>
      <p:bldP spid="52" grpId="0"/>
      <p:bldP spid="53" grpId="0"/>
      <p:bldP spid="54" grpId="0"/>
      <p:bldP spid="55" grpId="0"/>
      <p:bldP spid="42" grpId="0"/>
      <p:bldP spid="43" grpId="0" animBg="1"/>
      <p:bldP spid="3" grpId="0" animBg="1"/>
      <p:bldP spid="47" grpId="0"/>
      <p:bldP spid="59" grpId="0"/>
      <p:bldP spid="60" grpId="0" animBg="1"/>
      <p:bldP spid="61" grpId="0"/>
      <p:bldP spid="62" grpId="0" animBg="1"/>
      <p:bldP spid="63" grpId="0"/>
      <p:bldP spid="64" grpId="0" animBg="1"/>
      <p:bldP spid="65" grpId="0"/>
      <p:bldP spid="66" grpId="0"/>
      <p:bldP spid="67" grpId="0" animBg="1"/>
      <p:bldP spid="68" grpId="0"/>
      <p:bldP spid="69" grpId="0" animBg="1"/>
      <p:bldP spid="70" grpId="0"/>
      <p:bldP spid="71" grpId="0" animBg="1"/>
      <p:bldP spid="72" grpId="0"/>
      <p:bldP spid="73" grpId="0" animBg="1"/>
      <p:bldP spid="74" grpId="0"/>
      <p:bldP spid="75" grpId="0"/>
      <p:bldP spid="76" grpId="0"/>
      <p:bldP spid="77" grpId="0" animBg="1"/>
      <p:bldP spid="78" grpId="0"/>
      <p:bldP spid="79" grpId="0" animBg="1"/>
      <p:bldP spid="80" grpId="0"/>
      <p:bldP spid="81" grpId="0" animBg="1"/>
      <p:bldP spid="82" grpId="0"/>
      <p:bldP spid="8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מציין מיקום של כותרת תחתונה 4"/>
          <p:cNvSpPr>
            <a:spLocks noGrp="1"/>
          </p:cNvSpPr>
          <p:nvPr>
            <p:ph type="ftr" sz="quarter" idx="11"/>
          </p:nvPr>
        </p:nvSpPr>
        <p:spPr>
          <a:xfrm>
            <a:off x="3966592" y="6438433"/>
            <a:ext cx="4114800" cy="365125"/>
          </a:xfrm>
        </p:spPr>
        <p:txBody>
          <a:bodyPr/>
          <a:lstStyle/>
          <a:p>
            <a:r>
              <a:rPr lang="he-IL" dirty="0"/>
              <a:t>מבוא למיקרו כלכלה</a:t>
            </a:r>
          </a:p>
        </p:txBody>
      </p:sp>
      <p:sp>
        <p:nvSpPr>
          <p:cNvPr id="6" name="כותרת 1"/>
          <p:cNvSpPr>
            <a:spLocks noGrp="1"/>
          </p:cNvSpPr>
          <p:nvPr>
            <p:ph type="title"/>
          </p:nvPr>
        </p:nvSpPr>
        <p:spPr>
          <a:xfrm>
            <a:off x="9985341" y="136525"/>
            <a:ext cx="1907704" cy="1143000"/>
          </a:xfrm>
        </p:spPr>
        <p:txBody>
          <a:bodyPr/>
          <a:lstStyle/>
          <a:p>
            <a:pPr algn="r"/>
            <a:r>
              <a:rPr lang="he-IL" b="1" dirty="0">
                <a:solidFill>
                  <a:schemeClr val="tx2">
                    <a:lumMod val="75000"/>
                  </a:schemeClr>
                </a:solidFill>
              </a:rPr>
              <a:t>שאלה 3</a:t>
            </a:r>
            <a:endParaRPr lang="he-IL" dirty="0"/>
          </a:p>
        </p:txBody>
      </p:sp>
      <p:cxnSp>
        <p:nvCxnSpPr>
          <p:cNvPr id="8" name="מחבר חץ ישר 7"/>
          <p:cNvCxnSpPr/>
          <p:nvPr/>
        </p:nvCxnSpPr>
        <p:spPr>
          <a:xfrm>
            <a:off x="2207568" y="3315072"/>
            <a:ext cx="1512168"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 name="מחבר חץ ישר 8"/>
          <p:cNvCxnSpPr/>
          <p:nvPr/>
        </p:nvCxnSpPr>
        <p:spPr>
          <a:xfrm flipV="1">
            <a:off x="2207568" y="1362472"/>
            <a:ext cx="0" cy="195260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 name="מחבר חץ ישר 10"/>
          <p:cNvCxnSpPr/>
          <p:nvPr/>
        </p:nvCxnSpPr>
        <p:spPr>
          <a:xfrm>
            <a:off x="3872136" y="3315072"/>
            <a:ext cx="1512168"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מחבר חץ ישר 11"/>
          <p:cNvCxnSpPr/>
          <p:nvPr/>
        </p:nvCxnSpPr>
        <p:spPr>
          <a:xfrm flipV="1">
            <a:off x="3872136" y="1362472"/>
            <a:ext cx="0" cy="195260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מחבר חץ ישר 12"/>
          <p:cNvCxnSpPr/>
          <p:nvPr/>
        </p:nvCxnSpPr>
        <p:spPr>
          <a:xfrm>
            <a:off x="5591944" y="3315072"/>
            <a:ext cx="1512168"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מחבר חץ ישר 13"/>
          <p:cNvCxnSpPr/>
          <p:nvPr/>
        </p:nvCxnSpPr>
        <p:spPr>
          <a:xfrm flipV="1">
            <a:off x="5591944" y="1362472"/>
            <a:ext cx="0" cy="195260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 name="מחבר חץ ישר 14"/>
          <p:cNvCxnSpPr/>
          <p:nvPr/>
        </p:nvCxnSpPr>
        <p:spPr>
          <a:xfrm>
            <a:off x="7536160" y="3315072"/>
            <a:ext cx="2592288"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מחבר חץ ישר 15"/>
          <p:cNvCxnSpPr/>
          <p:nvPr/>
        </p:nvCxnSpPr>
        <p:spPr>
          <a:xfrm flipV="1">
            <a:off x="7536160" y="1362472"/>
            <a:ext cx="0" cy="195260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9" name="מציין מיקום תוכן 5"/>
          <p:cNvGraphicFramePr>
            <a:graphicFrameLocks noGrp="1"/>
          </p:cNvGraphicFramePr>
          <p:nvPr>
            <p:ph idx="1"/>
          </p:nvPr>
        </p:nvGraphicFramePr>
        <p:xfrm>
          <a:off x="2010075" y="3789040"/>
          <a:ext cx="5236290" cy="1982130"/>
        </p:xfrm>
        <a:graphic>
          <a:graphicData uri="http://schemas.openxmlformats.org/drawingml/2006/table">
            <a:tbl>
              <a:tblPr rtl="1" firstRow="1" bandRow="1">
                <a:tableStyleId>{2D5ABB26-0587-4C30-8999-92F81FD0307C}</a:tableStyleId>
              </a:tblPr>
              <a:tblGrid>
                <a:gridCol w="831074">
                  <a:extLst>
                    <a:ext uri="{9D8B030D-6E8A-4147-A177-3AD203B41FA5}">
                      <a16:colId xmlns:a16="http://schemas.microsoft.com/office/drawing/2014/main" val="20000"/>
                    </a:ext>
                  </a:extLst>
                </a:gridCol>
                <a:gridCol w="639740">
                  <a:extLst>
                    <a:ext uri="{9D8B030D-6E8A-4147-A177-3AD203B41FA5}">
                      <a16:colId xmlns:a16="http://schemas.microsoft.com/office/drawing/2014/main" val="20001"/>
                    </a:ext>
                  </a:extLst>
                </a:gridCol>
                <a:gridCol w="428783">
                  <a:extLst>
                    <a:ext uri="{9D8B030D-6E8A-4147-A177-3AD203B41FA5}">
                      <a16:colId xmlns:a16="http://schemas.microsoft.com/office/drawing/2014/main" val="20002"/>
                    </a:ext>
                  </a:extLst>
                </a:gridCol>
                <a:gridCol w="831074">
                  <a:extLst>
                    <a:ext uri="{9D8B030D-6E8A-4147-A177-3AD203B41FA5}">
                      <a16:colId xmlns:a16="http://schemas.microsoft.com/office/drawing/2014/main" val="20003"/>
                    </a:ext>
                  </a:extLst>
                </a:gridCol>
                <a:gridCol w="686319">
                  <a:extLst>
                    <a:ext uri="{9D8B030D-6E8A-4147-A177-3AD203B41FA5}">
                      <a16:colId xmlns:a16="http://schemas.microsoft.com/office/drawing/2014/main" val="20004"/>
                    </a:ext>
                  </a:extLst>
                </a:gridCol>
                <a:gridCol w="382204">
                  <a:extLst>
                    <a:ext uri="{9D8B030D-6E8A-4147-A177-3AD203B41FA5}">
                      <a16:colId xmlns:a16="http://schemas.microsoft.com/office/drawing/2014/main" val="20005"/>
                    </a:ext>
                  </a:extLst>
                </a:gridCol>
                <a:gridCol w="831074">
                  <a:extLst>
                    <a:ext uri="{9D8B030D-6E8A-4147-A177-3AD203B41FA5}">
                      <a16:colId xmlns:a16="http://schemas.microsoft.com/office/drawing/2014/main" val="20006"/>
                    </a:ext>
                  </a:extLst>
                </a:gridCol>
                <a:gridCol w="606022">
                  <a:extLst>
                    <a:ext uri="{9D8B030D-6E8A-4147-A177-3AD203B41FA5}">
                      <a16:colId xmlns:a16="http://schemas.microsoft.com/office/drawing/2014/main" val="20007"/>
                    </a:ext>
                  </a:extLst>
                </a:gridCol>
              </a:tblGrid>
              <a:tr h="486028">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a:spcAft>
                          <a:spcPts val="0"/>
                        </a:spcAft>
                      </a:pPr>
                      <a:r>
                        <a:rPr lang="en-US" sz="1600" b="1" dirty="0">
                          <a:latin typeface="Times New Roman"/>
                          <a:ea typeface="Times New Roman"/>
                          <a:cs typeface="David"/>
                        </a:rPr>
                        <a:t> </a:t>
                      </a:r>
                      <a:endParaRPr lang="en-US" sz="1600" b="1"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a:spcAft>
                          <a:spcPts val="0"/>
                        </a:spcAft>
                      </a:pPr>
                      <a:r>
                        <a:rPr lang="en-US" sz="1600" b="1" dirty="0">
                          <a:latin typeface="Times New Roman"/>
                          <a:ea typeface="Times New Roman"/>
                          <a:cs typeface="David"/>
                        </a:rPr>
                        <a:t> </a:t>
                      </a:r>
                      <a:endParaRPr lang="en-US" sz="1600" b="1" dirty="0">
                        <a:latin typeface="Times New Roman"/>
                        <a:ea typeface="Times New Roman"/>
                        <a:cs typeface="Miriam"/>
                      </a:endParaRPr>
                    </a:p>
                  </a:txBody>
                  <a:tcPr marL="68580" marR="68580"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249075">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9075">
                <a:tc>
                  <a:txBody>
                    <a:bodyPr/>
                    <a:lstStyle/>
                    <a:p>
                      <a:pPr algn="ctr" rtl="1">
                        <a:spcAft>
                          <a:spcPts val="0"/>
                        </a:spcAft>
                      </a:pPr>
                      <a:r>
                        <a:rPr lang="he-IL" sz="1600">
                          <a:latin typeface="Times New Roman"/>
                          <a:ea typeface="Times New Roman"/>
                          <a:cs typeface="David"/>
                        </a:rPr>
                        <a:t>2</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49075">
                <a:tc>
                  <a:txBody>
                    <a:bodyPr/>
                    <a:lstStyle/>
                    <a:p>
                      <a:pPr algn="ctr" rtl="1">
                        <a:spcAft>
                          <a:spcPts val="0"/>
                        </a:spcAft>
                      </a:pPr>
                      <a:r>
                        <a:rPr lang="he-IL" sz="1600">
                          <a:latin typeface="Times New Roman"/>
                          <a:ea typeface="Times New Roman"/>
                          <a:cs typeface="David"/>
                        </a:rPr>
                        <a:t>4</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49075">
                <a:tc>
                  <a:txBody>
                    <a:bodyPr/>
                    <a:lstStyle/>
                    <a:p>
                      <a:pPr algn="ctr" rtl="1">
                        <a:spcAft>
                          <a:spcPts val="0"/>
                        </a:spcAft>
                      </a:pPr>
                      <a:r>
                        <a:rPr lang="he-IL" sz="1600" b="1" dirty="0">
                          <a:solidFill>
                            <a:srgbClr val="7030A0"/>
                          </a:solidFill>
                          <a:latin typeface="Times New Roman"/>
                          <a:ea typeface="Times New Roman"/>
                          <a:cs typeface="David"/>
                        </a:rPr>
                        <a:t>6</a:t>
                      </a:r>
                      <a:endParaRPr lang="en-US" sz="1600" b="1" dirty="0">
                        <a:solidFill>
                          <a:srgbClr val="7030A0"/>
                        </a:solidFill>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solidFill>
                            <a:srgbClr val="7030A0"/>
                          </a:solidFill>
                          <a:latin typeface="Times New Roman"/>
                          <a:ea typeface="Times New Roman"/>
                          <a:cs typeface="David"/>
                        </a:rPr>
                        <a:t>8</a:t>
                      </a:r>
                      <a:endParaRPr lang="en-US" sz="1600" b="1" dirty="0">
                        <a:solidFill>
                          <a:srgbClr val="7030A0"/>
                        </a:solidFill>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b="1" dirty="0">
                          <a:solidFill>
                            <a:srgbClr val="7030A0"/>
                          </a:solidFill>
                          <a:latin typeface="Times New Roman"/>
                          <a:ea typeface="Times New Roman"/>
                          <a:cs typeface="David"/>
                        </a:rPr>
                        <a:t>6</a:t>
                      </a:r>
                      <a:endParaRPr lang="en-US" sz="1600" b="1" dirty="0">
                        <a:solidFill>
                          <a:srgbClr val="7030A0"/>
                        </a:solidFill>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49075">
                <a:tc>
                  <a:txBody>
                    <a:bodyPr/>
                    <a:lstStyle/>
                    <a:p>
                      <a:pPr algn="ctr" rtl="1">
                        <a:spcAft>
                          <a:spcPts val="0"/>
                        </a:spcAft>
                      </a:pPr>
                      <a:r>
                        <a:rPr lang="he-IL" sz="1600">
                          <a:latin typeface="Times New Roman"/>
                          <a:ea typeface="Times New Roman"/>
                          <a:cs typeface="David"/>
                        </a:rPr>
                        <a:t>8</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11</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49075">
                <a:tc>
                  <a:txBody>
                    <a:bodyPr/>
                    <a:lstStyle/>
                    <a:p>
                      <a:pPr algn="ctr" rtl="1">
                        <a:spcAft>
                          <a:spcPts val="0"/>
                        </a:spcAft>
                      </a:pPr>
                      <a:r>
                        <a:rPr lang="he-IL" sz="1600" dirty="0">
                          <a:latin typeface="Times New Roman"/>
                          <a:ea typeface="Times New Roman"/>
                          <a:cs typeface="David"/>
                        </a:rPr>
                        <a:t>10</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dirty="0">
                          <a:latin typeface="Times New Roman"/>
                          <a:ea typeface="Times New Roman"/>
                          <a:cs typeface="David"/>
                        </a:rPr>
                        <a:t>15</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0">
                        <a:spcAft>
                          <a:spcPts val="0"/>
                        </a:spcAft>
                      </a:pPr>
                      <a:r>
                        <a:rPr lang="en-US" sz="1600" dirty="0">
                          <a:latin typeface="Times New Roman"/>
                          <a:ea typeface="Times New Roman"/>
                          <a:cs typeface="David"/>
                        </a:rPr>
                        <a:t> </a:t>
                      </a:r>
                      <a:endParaRPr lang="en-US" sz="1600"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600">
                          <a:latin typeface="Times New Roman"/>
                          <a:ea typeface="Times New Roman"/>
                          <a:cs typeface="David"/>
                        </a:rPr>
                        <a:t>14</a:t>
                      </a:r>
                      <a:endParaRPr lang="en-US" sz="160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20" name="מציין מיקום תוכן 5"/>
          <p:cNvGraphicFramePr>
            <a:graphicFrameLocks/>
          </p:cNvGraphicFramePr>
          <p:nvPr/>
        </p:nvGraphicFramePr>
        <p:xfrm>
          <a:off x="8256240" y="3789040"/>
          <a:ext cx="1432632" cy="2008722"/>
        </p:xfrm>
        <a:graphic>
          <a:graphicData uri="http://schemas.openxmlformats.org/drawingml/2006/table">
            <a:tbl>
              <a:tblPr rtl="1" firstRow="1" bandRow="1">
                <a:tableStyleId>{2D5ABB26-0587-4C30-8999-92F81FD0307C}</a:tableStyleId>
              </a:tblPr>
              <a:tblGrid>
                <a:gridCol w="798643">
                  <a:extLst>
                    <a:ext uri="{9D8B030D-6E8A-4147-A177-3AD203B41FA5}">
                      <a16:colId xmlns:a16="http://schemas.microsoft.com/office/drawing/2014/main" val="20000"/>
                    </a:ext>
                  </a:extLst>
                </a:gridCol>
                <a:gridCol w="633989">
                  <a:extLst>
                    <a:ext uri="{9D8B030D-6E8A-4147-A177-3AD203B41FA5}">
                      <a16:colId xmlns:a16="http://schemas.microsoft.com/office/drawing/2014/main" val="20001"/>
                    </a:ext>
                  </a:extLst>
                </a:gridCol>
              </a:tblGrid>
              <a:tr h="253507">
                <a:tc>
                  <a:txBody>
                    <a:bodyPr/>
                    <a:lstStyle/>
                    <a:p>
                      <a:pPr algn="ctr" rtl="1">
                        <a:spcAft>
                          <a:spcPts val="0"/>
                        </a:spcAft>
                      </a:pPr>
                      <a:r>
                        <a:rPr lang="he-IL" sz="1600" b="1" dirty="0">
                          <a:latin typeface="Times New Roman"/>
                          <a:ea typeface="Times New Roman"/>
                          <a:cs typeface="David"/>
                        </a:rPr>
                        <a:t>כמות מוצעת</a:t>
                      </a:r>
                      <a:endParaRPr lang="en-US" sz="1600" b="1" dirty="0">
                        <a:latin typeface="Times New Roman"/>
                        <a:ea typeface="Times New Roman"/>
                        <a:cs typeface="Miriam"/>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rtl="1">
                        <a:spcAft>
                          <a:spcPts val="0"/>
                        </a:spcAft>
                      </a:pPr>
                      <a:r>
                        <a:rPr lang="he-IL" sz="1600" b="1" dirty="0">
                          <a:latin typeface="Times New Roman"/>
                          <a:ea typeface="Times New Roman"/>
                          <a:cs typeface="David"/>
                        </a:rPr>
                        <a:t>מחיר</a:t>
                      </a:r>
                      <a:endParaRPr lang="en-US" sz="1600" b="1"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0"/>
                  </a:ext>
                </a:extLst>
              </a:tr>
              <a:tr h="253507">
                <a:tc>
                  <a:txBody>
                    <a:bodyPr/>
                    <a:lstStyle/>
                    <a:p>
                      <a:pPr algn="ctr" rtl="1">
                        <a:spcAft>
                          <a:spcPts val="0"/>
                        </a:spcAft>
                      </a:pPr>
                      <a:r>
                        <a:rPr lang="en-US" sz="1600" dirty="0">
                          <a:latin typeface="David" pitchFamily="34" charset="-79"/>
                          <a:ea typeface="Times New Roman"/>
                          <a:cs typeface="David" pitchFamily="34" charset="-79"/>
                        </a:rPr>
                        <a:t>1</a:t>
                      </a: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1</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53507">
                <a:tc>
                  <a:txBody>
                    <a:bodyPr/>
                    <a:lstStyle/>
                    <a:p>
                      <a:pPr algn="ctr" rtl="1">
                        <a:spcAft>
                          <a:spcPts val="0"/>
                        </a:spcAft>
                      </a:pPr>
                      <a:r>
                        <a:rPr lang="he-IL" sz="1600" dirty="0">
                          <a:latin typeface="David" pitchFamily="34" charset="-79"/>
                          <a:ea typeface="Times New Roman"/>
                          <a:cs typeface="David" pitchFamily="34" charset="-79"/>
                        </a:rPr>
                        <a:t>5</a:t>
                      </a:r>
                      <a:endParaRPr lang="en-US" sz="1600" dirty="0">
                        <a:latin typeface="David" pitchFamily="34" charset="-79"/>
                        <a:ea typeface="Times New Roman"/>
                        <a:cs typeface="David" pitchFamily="34" charset="-79"/>
                      </a:endParaRP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2</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53507">
                <a:tc>
                  <a:txBody>
                    <a:bodyPr/>
                    <a:lstStyle/>
                    <a:p>
                      <a:pPr algn="ctr" rtl="1">
                        <a:spcAft>
                          <a:spcPts val="0"/>
                        </a:spcAft>
                      </a:pPr>
                      <a:r>
                        <a:rPr lang="en-US" sz="1600" dirty="0">
                          <a:latin typeface="David" pitchFamily="34" charset="-79"/>
                          <a:ea typeface="Times New Roman"/>
                          <a:cs typeface="David" pitchFamily="34" charset="-79"/>
                        </a:rPr>
                        <a:t>12</a:t>
                      </a: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3</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3507">
                <a:tc>
                  <a:txBody>
                    <a:bodyPr/>
                    <a:lstStyle/>
                    <a:p>
                      <a:pPr algn="ctr" rtl="1">
                        <a:spcAft>
                          <a:spcPts val="0"/>
                        </a:spcAft>
                      </a:pPr>
                      <a:r>
                        <a:rPr lang="en-US" sz="1600" b="1" dirty="0">
                          <a:solidFill>
                            <a:schemeClr val="accent6"/>
                          </a:solidFill>
                          <a:latin typeface="David" pitchFamily="34" charset="-79"/>
                          <a:ea typeface="Times New Roman"/>
                          <a:cs typeface="David" pitchFamily="34" charset="-79"/>
                        </a:rPr>
                        <a:t>20</a:t>
                      </a: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4</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53507">
                <a:tc>
                  <a:txBody>
                    <a:bodyPr/>
                    <a:lstStyle/>
                    <a:p>
                      <a:pPr algn="ctr" rtl="1">
                        <a:spcAft>
                          <a:spcPts val="0"/>
                        </a:spcAft>
                      </a:pPr>
                      <a:r>
                        <a:rPr lang="en-US" sz="1600" dirty="0">
                          <a:latin typeface="David" pitchFamily="34" charset="-79"/>
                          <a:ea typeface="Times New Roman"/>
                          <a:cs typeface="David" pitchFamily="34" charset="-79"/>
                        </a:rPr>
                        <a:t>29</a:t>
                      </a: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5</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53507">
                <a:tc>
                  <a:txBody>
                    <a:bodyPr/>
                    <a:lstStyle/>
                    <a:p>
                      <a:pPr algn="ctr" rtl="1">
                        <a:spcAft>
                          <a:spcPts val="0"/>
                        </a:spcAft>
                      </a:pPr>
                      <a:r>
                        <a:rPr lang="en-US" sz="1600" dirty="0">
                          <a:latin typeface="David" pitchFamily="34" charset="-79"/>
                          <a:ea typeface="Times New Roman"/>
                          <a:cs typeface="David" pitchFamily="34" charset="-79"/>
                        </a:rPr>
                        <a:t>39</a:t>
                      </a:r>
                    </a:p>
                  </a:txBody>
                  <a:tcPr marL="68580" marR="6858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rtl="1">
                        <a:spcAft>
                          <a:spcPts val="0"/>
                        </a:spcAft>
                      </a:pPr>
                      <a:r>
                        <a:rPr lang="he-IL" sz="1600" dirty="0">
                          <a:latin typeface="Times New Roman"/>
                          <a:ea typeface="Times New Roman"/>
                          <a:cs typeface="David"/>
                        </a:rPr>
                        <a:t>6</a:t>
                      </a:r>
                      <a:endParaRPr lang="en-US" sz="1600" dirty="0">
                        <a:latin typeface="Times New Roman"/>
                        <a:ea typeface="Times New Roman"/>
                        <a:cs typeface="Miriam"/>
                      </a:endParaRPr>
                    </a:p>
                  </a:txBody>
                  <a:tcPr marL="68580" marR="6858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1" name="קשת 20"/>
          <p:cNvSpPr/>
          <p:nvPr/>
        </p:nvSpPr>
        <p:spPr>
          <a:xfrm rot="17059448">
            <a:off x="2314282" y="1848598"/>
            <a:ext cx="2684302" cy="2932948"/>
          </a:xfrm>
          <a:prstGeom prst="arc">
            <a:avLst>
              <a:gd name="adj1" fmla="val 15854256"/>
              <a:gd name="adj2" fmla="val 20439886"/>
            </a:avLst>
          </a:prstGeom>
          <a:ln w="28575"/>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sp>
        <p:nvSpPr>
          <p:cNvPr id="22" name="קשת 21"/>
          <p:cNvSpPr/>
          <p:nvPr/>
        </p:nvSpPr>
        <p:spPr>
          <a:xfrm rot="17134003">
            <a:off x="3377275" y="2579816"/>
            <a:ext cx="3187330" cy="1990619"/>
          </a:xfrm>
          <a:prstGeom prst="arc">
            <a:avLst>
              <a:gd name="adj1" fmla="val 16933971"/>
              <a:gd name="adj2" fmla="val 21169590"/>
            </a:avLst>
          </a:prstGeom>
          <a:ln w="28575"/>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sp>
        <p:nvSpPr>
          <p:cNvPr id="24" name="TextBox 23"/>
          <p:cNvSpPr txBox="1"/>
          <p:nvPr/>
        </p:nvSpPr>
        <p:spPr>
          <a:xfrm>
            <a:off x="2495600" y="1265606"/>
            <a:ext cx="936104" cy="369332"/>
          </a:xfrm>
          <a:prstGeom prst="rect">
            <a:avLst/>
          </a:prstGeom>
        </p:spPr>
        <p:style>
          <a:lnRef idx="1">
            <a:schemeClr val="dk1"/>
          </a:lnRef>
          <a:fillRef idx="2">
            <a:schemeClr val="dk1"/>
          </a:fillRef>
          <a:effectRef idx="1">
            <a:schemeClr val="dk1"/>
          </a:effectRef>
          <a:fontRef idx="minor">
            <a:schemeClr val="dk1"/>
          </a:fontRef>
        </p:style>
        <p:txBody>
          <a:bodyPr wrap="square" rtlCol="1">
            <a:spAutoFit/>
          </a:bodyPr>
          <a:lstStyle/>
          <a:p>
            <a:r>
              <a:rPr lang="he-IL" b="1" dirty="0"/>
              <a:t>יצרן 1</a:t>
            </a:r>
          </a:p>
        </p:txBody>
      </p:sp>
      <p:sp>
        <p:nvSpPr>
          <p:cNvPr id="25" name="TextBox 24"/>
          <p:cNvSpPr txBox="1"/>
          <p:nvPr/>
        </p:nvSpPr>
        <p:spPr>
          <a:xfrm>
            <a:off x="4096220" y="1265606"/>
            <a:ext cx="936104" cy="369332"/>
          </a:xfrm>
          <a:prstGeom prst="rect">
            <a:avLst/>
          </a:prstGeom>
        </p:spPr>
        <p:style>
          <a:lnRef idx="1">
            <a:schemeClr val="dk1"/>
          </a:lnRef>
          <a:fillRef idx="2">
            <a:schemeClr val="dk1"/>
          </a:fillRef>
          <a:effectRef idx="1">
            <a:schemeClr val="dk1"/>
          </a:effectRef>
          <a:fontRef idx="minor">
            <a:schemeClr val="dk1"/>
          </a:fontRef>
        </p:style>
        <p:txBody>
          <a:bodyPr wrap="square" rtlCol="1">
            <a:spAutoFit/>
          </a:bodyPr>
          <a:lstStyle/>
          <a:p>
            <a:r>
              <a:rPr lang="he-IL" b="1" dirty="0"/>
              <a:t>יצרן 2</a:t>
            </a:r>
          </a:p>
        </p:txBody>
      </p:sp>
      <p:sp>
        <p:nvSpPr>
          <p:cNvPr id="26" name="TextBox 25"/>
          <p:cNvSpPr txBox="1"/>
          <p:nvPr/>
        </p:nvSpPr>
        <p:spPr>
          <a:xfrm>
            <a:off x="5840170" y="1265606"/>
            <a:ext cx="936104" cy="369332"/>
          </a:xfrm>
          <a:prstGeom prst="rect">
            <a:avLst/>
          </a:prstGeom>
        </p:spPr>
        <p:style>
          <a:lnRef idx="1">
            <a:schemeClr val="dk1"/>
          </a:lnRef>
          <a:fillRef idx="2">
            <a:schemeClr val="dk1"/>
          </a:fillRef>
          <a:effectRef idx="1">
            <a:schemeClr val="dk1"/>
          </a:effectRef>
          <a:fontRef idx="minor">
            <a:schemeClr val="dk1"/>
          </a:fontRef>
        </p:style>
        <p:txBody>
          <a:bodyPr wrap="square" rtlCol="1">
            <a:spAutoFit/>
          </a:bodyPr>
          <a:lstStyle/>
          <a:p>
            <a:r>
              <a:rPr lang="he-IL" b="1" dirty="0"/>
              <a:t>יצרן 3</a:t>
            </a:r>
          </a:p>
        </p:txBody>
      </p:sp>
      <p:sp>
        <p:nvSpPr>
          <p:cNvPr id="28" name="קשת 27"/>
          <p:cNvSpPr/>
          <p:nvPr/>
        </p:nvSpPr>
        <p:spPr>
          <a:xfrm rot="17059448">
            <a:off x="5691918" y="1848597"/>
            <a:ext cx="2684302" cy="2932948"/>
          </a:xfrm>
          <a:prstGeom prst="arc">
            <a:avLst>
              <a:gd name="adj1" fmla="val 15854256"/>
              <a:gd name="adj2" fmla="val 19862831"/>
            </a:avLst>
          </a:prstGeom>
          <a:ln w="28575"/>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cxnSp>
        <p:nvCxnSpPr>
          <p:cNvPr id="30" name="מחבר ישר 29"/>
          <p:cNvCxnSpPr/>
          <p:nvPr/>
        </p:nvCxnSpPr>
        <p:spPr>
          <a:xfrm>
            <a:off x="2639616" y="2318919"/>
            <a:ext cx="0" cy="100725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2" name="מחבר ישר 31"/>
          <p:cNvCxnSpPr/>
          <p:nvPr/>
        </p:nvCxnSpPr>
        <p:spPr>
          <a:xfrm>
            <a:off x="8787011" y="2318919"/>
            <a:ext cx="0" cy="94535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35" name="מחבר ישר 34"/>
          <p:cNvCxnSpPr/>
          <p:nvPr/>
        </p:nvCxnSpPr>
        <p:spPr>
          <a:xfrm flipV="1">
            <a:off x="2207569" y="2307821"/>
            <a:ext cx="6570043" cy="31348"/>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6" name="קשת 35"/>
          <p:cNvSpPr/>
          <p:nvPr/>
        </p:nvSpPr>
        <p:spPr>
          <a:xfrm rot="16810160">
            <a:off x="8606390" y="923763"/>
            <a:ext cx="3901097" cy="6458427"/>
          </a:xfrm>
          <a:prstGeom prst="arc">
            <a:avLst>
              <a:gd name="adj1" fmla="val 16684775"/>
              <a:gd name="adj2" fmla="val 19957871"/>
            </a:avLst>
          </a:prstGeom>
          <a:ln w="28575"/>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cxnSp>
        <p:nvCxnSpPr>
          <p:cNvPr id="40" name="מחבר ישר 39"/>
          <p:cNvCxnSpPr/>
          <p:nvPr/>
        </p:nvCxnSpPr>
        <p:spPr>
          <a:xfrm>
            <a:off x="4577966" y="2307821"/>
            <a:ext cx="0" cy="100725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1" name="מחבר ישר 40"/>
          <p:cNvCxnSpPr/>
          <p:nvPr/>
        </p:nvCxnSpPr>
        <p:spPr>
          <a:xfrm>
            <a:off x="6023992" y="2318919"/>
            <a:ext cx="0" cy="100725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1892457" y="2092206"/>
            <a:ext cx="288032" cy="338554"/>
          </a:xfrm>
          <a:prstGeom prst="rect">
            <a:avLst/>
          </a:prstGeom>
          <a:noFill/>
        </p:spPr>
        <p:txBody>
          <a:bodyPr wrap="square" rtlCol="1">
            <a:spAutoFit/>
          </a:bodyPr>
          <a:lstStyle/>
          <a:p>
            <a:r>
              <a:rPr lang="he-IL" sz="1600" dirty="0"/>
              <a:t>4</a:t>
            </a:r>
          </a:p>
        </p:txBody>
      </p:sp>
      <p:sp>
        <p:nvSpPr>
          <p:cNvPr id="45" name="TextBox 44"/>
          <p:cNvSpPr txBox="1"/>
          <p:nvPr/>
        </p:nvSpPr>
        <p:spPr>
          <a:xfrm>
            <a:off x="7244755" y="2110022"/>
            <a:ext cx="288032" cy="338554"/>
          </a:xfrm>
          <a:prstGeom prst="rect">
            <a:avLst/>
          </a:prstGeom>
          <a:noFill/>
        </p:spPr>
        <p:txBody>
          <a:bodyPr wrap="square" rtlCol="1">
            <a:spAutoFit/>
          </a:bodyPr>
          <a:lstStyle/>
          <a:p>
            <a:r>
              <a:rPr lang="he-IL" sz="1600" dirty="0"/>
              <a:t>4</a:t>
            </a:r>
          </a:p>
        </p:txBody>
      </p:sp>
      <p:sp>
        <p:nvSpPr>
          <p:cNvPr id="46" name="TextBox 45"/>
          <p:cNvSpPr txBox="1"/>
          <p:nvPr/>
        </p:nvSpPr>
        <p:spPr>
          <a:xfrm>
            <a:off x="1892457" y="1177805"/>
            <a:ext cx="288032" cy="338554"/>
          </a:xfrm>
          <a:prstGeom prst="rect">
            <a:avLst/>
          </a:prstGeom>
          <a:noFill/>
        </p:spPr>
        <p:txBody>
          <a:bodyPr wrap="square" rtlCol="1">
            <a:spAutoFit/>
          </a:bodyPr>
          <a:lstStyle/>
          <a:p>
            <a:r>
              <a:rPr lang="en-US" sz="1600" dirty="0"/>
              <a:t>P</a:t>
            </a:r>
            <a:endParaRPr lang="he-IL" sz="1600" dirty="0"/>
          </a:p>
        </p:txBody>
      </p:sp>
      <p:sp>
        <p:nvSpPr>
          <p:cNvPr id="48" name="TextBox 47"/>
          <p:cNvSpPr txBox="1"/>
          <p:nvPr/>
        </p:nvSpPr>
        <p:spPr>
          <a:xfrm>
            <a:off x="7197485" y="1193195"/>
            <a:ext cx="288032" cy="338554"/>
          </a:xfrm>
          <a:prstGeom prst="rect">
            <a:avLst/>
          </a:prstGeom>
          <a:noFill/>
        </p:spPr>
        <p:txBody>
          <a:bodyPr wrap="square" rtlCol="1">
            <a:spAutoFit/>
          </a:bodyPr>
          <a:lstStyle/>
          <a:p>
            <a:r>
              <a:rPr lang="en-US" sz="1600" dirty="0"/>
              <a:t>P</a:t>
            </a:r>
            <a:endParaRPr lang="he-IL" sz="1600" dirty="0"/>
          </a:p>
        </p:txBody>
      </p:sp>
      <p:sp>
        <p:nvSpPr>
          <p:cNvPr id="49" name="TextBox 48"/>
          <p:cNvSpPr txBox="1"/>
          <p:nvPr/>
        </p:nvSpPr>
        <p:spPr>
          <a:xfrm>
            <a:off x="3584463" y="1193195"/>
            <a:ext cx="288032" cy="338554"/>
          </a:xfrm>
          <a:prstGeom prst="rect">
            <a:avLst/>
          </a:prstGeom>
          <a:noFill/>
        </p:spPr>
        <p:txBody>
          <a:bodyPr wrap="square" rtlCol="1">
            <a:spAutoFit/>
          </a:bodyPr>
          <a:lstStyle/>
          <a:p>
            <a:r>
              <a:rPr lang="en-US" sz="1600" dirty="0"/>
              <a:t>P</a:t>
            </a:r>
            <a:endParaRPr lang="he-IL" sz="1600" dirty="0"/>
          </a:p>
        </p:txBody>
      </p:sp>
      <p:sp>
        <p:nvSpPr>
          <p:cNvPr id="50" name="TextBox 49"/>
          <p:cNvSpPr txBox="1"/>
          <p:nvPr/>
        </p:nvSpPr>
        <p:spPr>
          <a:xfrm>
            <a:off x="5187282" y="1183982"/>
            <a:ext cx="288032" cy="338554"/>
          </a:xfrm>
          <a:prstGeom prst="rect">
            <a:avLst/>
          </a:prstGeom>
          <a:noFill/>
        </p:spPr>
        <p:txBody>
          <a:bodyPr wrap="square" rtlCol="1">
            <a:spAutoFit/>
          </a:bodyPr>
          <a:lstStyle/>
          <a:p>
            <a:r>
              <a:rPr lang="en-US" sz="1600" dirty="0"/>
              <a:t>P</a:t>
            </a:r>
            <a:endParaRPr lang="he-IL" sz="1600" dirty="0"/>
          </a:p>
        </p:txBody>
      </p:sp>
      <p:sp>
        <p:nvSpPr>
          <p:cNvPr id="51" name="TextBox 50"/>
          <p:cNvSpPr txBox="1"/>
          <p:nvPr/>
        </p:nvSpPr>
        <p:spPr>
          <a:xfrm>
            <a:off x="10128448" y="3141503"/>
            <a:ext cx="288032" cy="369332"/>
          </a:xfrm>
          <a:prstGeom prst="rect">
            <a:avLst/>
          </a:prstGeom>
          <a:noFill/>
        </p:spPr>
        <p:txBody>
          <a:bodyPr wrap="square" rtlCol="1">
            <a:spAutoFit/>
          </a:bodyPr>
          <a:lstStyle/>
          <a:p>
            <a:r>
              <a:rPr lang="en-US" dirty="0"/>
              <a:t>X</a:t>
            </a:r>
            <a:endParaRPr lang="he-IL" dirty="0"/>
          </a:p>
        </p:txBody>
      </p:sp>
      <p:sp>
        <p:nvSpPr>
          <p:cNvPr id="52" name="TextBox 51"/>
          <p:cNvSpPr txBox="1"/>
          <p:nvPr/>
        </p:nvSpPr>
        <p:spPr>
          <a:xfrm>
            <a:off x="3530017" y="3311181"/>
            <a:ext cx="288032" cy="338554"/>
          </a:xfrm>
          <a:prstGeom prst="rect">
            <a:avLst/>
          </a:prstGeom>
          <a:noFill/>
        </p:spPr>
        <p:txBody>
          <a:bodyPr wrap="square" rtlCol="1">
            <a:spAutoFit/>
          </a:bodyPr>
          <a:lstStyle/>
          <a:p>
            <a:r>
              <a:rPr lang="en-US" sz="1600" dirty="0"/>
              <a:t>X</a:t>
            </a:r>
            <a:endParaRPr lang="he-IL" sz="1600" dirty="0"/>
          </a:p>
        </p:txBody>
      </p:sp>
      <p:sp>
        <p:nvSpPr>
          <p:cNvPr id="53" name="TextBox 52"/>
          <p:cNvSpPr txBox="1"/>
          <p:nvPr/>
        </p:nvSpPr>
        <p:spPr>
          <a:xfrm>
            <a:off x="5137111" y="3326169"/>
            <a:ext cx="288032" cy="338554"/>
          </a:xfrm>
          <a:prstGeom prst="rect">
            <a:avLst/>
          </a:prstGeom>
          <a:noFill/>
        </p:spPr>
        <p:txBody>
          <a:bodyPr wrap="square" rtlCol="1">
            <a:spAutoFit/>
          </a:bodyPr>
          <a:lstStyle/>
          <a:p>
            <a:r>
              <a:rPr lang="en-US" sz="1600" dirty="0"/>
              <a:t>X</a:t>
            </a:r>
            <a:endParaRPr lang="he-IL" sz="1600" dirty="0"/>
          </a:p>
        </p:txBody>
      </p:sp>
      <p:sp>
        <p:nvSpPr>
          <p:cNvPr id="54" name="TextBox 53"/>
          <p:cNvSpPr txBox="1"/>
          <p:nvPr/>
        </p:nvSpPr>
        <p:spPr>
          <a:xfrm>
            <a:off x="6956723" y="3311181"/>
            <a:ext cx="288032" cy="338554"/>
          </a:xfrm>
          <a:prstGeom prst="rect">
            <a:avLst/>
          </a:prstGeom>
          <a:noFill/>
        </p:spPr>
        <p:txBody>
          <a:bodyPr wrap="square" rtlCol="1">
            <a:spAutoFit/>
          </a:bodyPr>
          <a:lstStyle/>
          <a:p>
            <a:r>
              <a:rPr lang="en-US" sz="1600" dirty="0"/>
              <a:t>X</a:t>
            </a:r>
            <a:endParaRPr lang="he-IL" sz="1600" dirty="0"/>
          </a:p>
        </p:txBody>
      </p:sp>
      <p:sp>
        <p:nvSpPr>
          <p:cNvPr id="55" name="TextBox 54"/>
          <p:cNvSpPr txBox="1"/>
          <p:nvPr/>
        </p:nvSpPr>
        <p:spPr>
          <a:xfrm>
            <a:off x="2495600" y="3289954"/>
            <a:ext cx="288032" cy="338554"/>
          </a:xfrm>
          <a:prstGeom prst="rect">
            <a:avLst/>
          </a:prstGeom>
          <a:noFill/>
        </p:spPr>
        <p:txBody>
          <a:bodyPr wrap="square" rtlCol="1">
            <a:spAutoFit/>
          </a:bodyPr>
          <a:lstStyle/>
          <a:p>
            <a:r>
              <a:rPr lang="en-US" sz="1600" b="1" dirty="0">
                <a:solidFill>
                  <a:srgbClr val="7030A0"/>
                </a:solidFill>
              </a:rPr>
              <a:t>6</a:t>
            </a:r>
            <a:endParaRPr lang="he-IL" sz="1600" b="1" dirty="0">
              <a:solidFill>
                <a:srgbClr val="7030A0"/>
              </a:solidFill>
            </a:endParaRPr>
          </a:p>
        </p:txBody>
      </p:sp>
      <p:sp>
        <p:nvSpPr>
          <p:cNvPr id="56" name="TextBox 55"/>
          <p:cNvSpPr txBox="1"/>
          <p:nvPr/>
        </p:nvSpPr>
        <p:spPr>
          <a:xfrm>
            <a:off x="4433950" y="3289954"/>
            <a:ext cx="288032" cy="338554"/>
          </a:xfrm>
          <a:prstGeom prst="rect">
            <a:avLst/>
          </a:prstGeom>
          <a:noFill/>
        </p:spPr>
        <p:txBody>
          <a:bodyPr wrap="square" rtlCol="1">
            <a:spAutoFit/>
          </a:bodyPr>
          <a:lstStyle/>
          <a:p>
            <a:r>
              <a:rPr lang="en-US" sz="1600" b="1" dirty="0">
                <a:solidFill>
                  <a:srgbClr val="7030A0"/>
                </a:solidFill>
              </a:rPr>
              <a:t>8</a:t>
            </a:r>
            <a:endParaRPr lang="he-IL" sz="1600" b="1" dirty="0">
              <a:solidFill>
                <a:srgbClr val="7030A0"/>
              </a:solidFill>
            </a:endParaRPr>
          </a:p>
        </p:txBody>
      </p:sp>
      <p:sp>
        <p:nvSpPr>
          <p:cNvPr id="57" name="TextBox 56"/>
          <p:cNvSpPr txBox="1"/>
          <p:nvPr/>
        </p:nvSpPr>
        <p:spPr>
          <a:xfrm>
            <a:off x="5840170" y="3298742"/>
            <a:ext cx="288032" cy="338554"/>
          </a:xfrm>
          <a:prstGeom prst="rect">
            <a:avLst/>
          </a:prstGeom>
          <a:noFill/>
        </p:spPr>
        <p:txBody>
          <a:bodyPr wrap="square" rtlCol="1">
            <a:spAutoFit/>
          </a:bodyPr>
          <a:lstStyle/>
          <a:p>
            <a:r>
              <a:rPr lang="en-US" sz="1600" b="1" dirty="0">
                <a:solidFill>
                  <a:srgbClr val="7030A0"/>
                </a:solidFill>
              </a:rPr>
              <a:t>6</a:t>
            </a:r>
            <a:endParaRPr lang="he-IL" sz="1600" b="1" dirty="0">
              <a:solidFill>
                <a:srgbClr val="7030A0"/>
              </a:solidFill>
            </a:endParaRPr>
          </a:p>
        </p:txBody>
      </p:sp>
      <mc:AlternateContent xmlns:mc="http://schemas.openxmlformats.org/markup-compatibility/2006" xmlns:a14="http://schemas.microsoft.com/office/drawing/2010/main">
        <mc:Choice Requires="a14">
          <p:sp>
            <p:nvSpPr>
              <p:cNvPr id="58" name="TextBox 57"/>
              <p:cNvSpPr txBox="1"/>
              <p:nvPr/>
            </p:nvSpPr>
            <p:spPr>
              <a:xfrm>
                <a:off x="7532787" y="3326171"/>
                <a:ext cx="1525064" cy="307777"/>
              </a:xfrm>
              <a:prstGeom prst="rect">
                <a:avLst/>
              </a:prstGeom>
              <a:noFill/>
            </p:spPr>
            <p:txBody>
              <a:bodyPr wrap="square" rtlCol="1">
                <a:spAutoFit/>
              </a:bodyPr>
              <a:lstStyle/>
              <a:p>
                <a:pPr/>
                <a14:m>
                  <m:oMathPara xmlns:m="http://schemas.openxmlformats.org/officeDocument/2006/math">
                    <m:oMathParaPr>
                      <m:jc m:val="centerGroup"/>
                    </m:oMathParaPr>
                    <m:oMath xmlns:m="http://schemas.openxmlformats.org/officeDocument/2006/math">
                      <m:r>
                        <a:rPr lang="he-IL" sz="1400" b="1" i="1">
                          <a:solidFill>
                            <a:srgbClr val="7030A0"/>
                          </a:solidFill>
                          <a:latin typeface="Cambria Math"/>
                        </a:rPr>
                        <m:t>𝟔</m:t>
                      </m:r>
                      <m:r>
                        <a:rPr lang="he-IL" sz="1400" b="1">
                          <a:latin typeface="Cambria Math"/>
                        </a:rPr>
                        <m:t>+</m:t>
                      </m:r>
                      <m:r>
                        <a:rPr lang="he-IL" sz="1400" b="1" i="1">
                          <a:solidFill>
                            <a:srgbClr val="7030A0"/>
                          </a:solidFill>
                          <a:latin typeface="Cambria Math"/>
                        </a:rPr>
                        <m:t>𝟖</m:t>
                      </m:r>
                      <m:r>
                        <a:rPr lang="he-IL" sz="1400" b="1">
                          <a:latin typeface="Cambria Math"/>
                        </a:rPr>
                        <m:t>+</m:t>
                      </m:r>
                      <m:r>
                        <a:rPr lang="he-IL" sz="1400" b="1" i="1">
                          <a:solidFill>
                            <a:srgbClr val="7030A0"/>
                          </a:solidFill>
                          <a:latin typeface="Cambria Math"/>
                        </a:rPr>
                        <m:t>𝟔</m:t>
                      </m:r>
                      <m:r>
                        <a:rPr lang="he-IL" sz="1400" b="1">
                          <a:latin typeface="Cambria Math"/>
                        </a:rPr>
                        <m:t>=</m:t>
                      </m:r>
                      <m:r>
                        <a:rPr lang="en-US" sz="1400" b="1">
                          <a:solidFill>
                            <a:schemeClr val="accent6"/>
                          </a:solidFill>
                          <a:latin typeface="Cambria Math"/>
                        </a:rPr>
                        <m:t>𝟐𝟎</m:t>
                      </m:r>
                    </m:oMath>
                  </m:oMathPara>
                </a14:m>
                <a:endParaRPr lang="he-IL" sz="1400" b="1" dirty="0">
                  <a:solidFill>
                    <a:schemeClr val="accent6"/>
                  </a:solidFill>
                </a:endParaRPr>
              </a:p>
            </p:txBody>
          </p:sp>
        </mc:Choice>
        <mc:Fallback xmlns="">
          <p:sp>
            <p:nvSpPr>
              <p:cNvPr id="58" name="TextBox 57"/>
              <p:cNvSpPr txBox="1">
                <a:spLocks noRot="1" noChangeAspect="1" noMove="1" noResize="1" noEditPoints="1" noAdjustHandles="1" noChangeArrowheads="1" noChangeShapeType="1" noTextEdit="1"/>
              </p:cNvSpPr>
              <p:nvPr/>
            </p:nvSpPr>
            <p:spPr>
              <a:xfrm>
                <a:off x="7532787" y="3326171"/>
                <a:ext cx="1525064" cy="307777"/>
              </a:xfrm>
              <a:prstGeom prst="rect">
                <a:avLst/>
              </a:prstGeom>
              <a:blipFill>
                <a:blip r:embed="rId2"/>
                <a:stretch>
                  <a:fillRect/>
                </a:stretch>
              </a:blipFill>
            </p:spPr>
            <p:txBody>
              <a:bodyPr/>
              <a:lstStyle/>
              <a:p>
                <a:r>
                  <a:rPr lang="en-IL">
                    <a:noFill/>
                  </a:rPr>
                  <a:t> </a:t>
                </a:r>
              </a:p>
            </p:txBody>
          </p:sp>
        </mc:Fallback>
      </mc:AlternateContent>
      <p:sp>
        <p:nvSpPr>
          <p:cNvPr id="43" name="TextBox 42"/>
          <p:cNvSpPr txBox="1"/>
          <p:nvPr/>
        </p:nvSpPr>
        <p:spPr>
          <a:xfrm>
            <a:off x="8506407" y="1362472"/>
            <a:ext cx="1368152" cy="369332"/>
          </a:xfrm>
          <a:prstGeom prst="rect">
            <a:avLst/>
          </a:prstGeom>
        </p:spPr>
        <p:style>
          <a:lnRef idx="1">
            <a:schemeClr val="accent6"/>
          </a:lnRef>
          <a:fillRef idx="2">
            <a:schemeClr val="accent6"/>
          </a:fillRef>
          <a:effectRef idx="1">
            <a:schemeClr val="accent6"/>
          </a:effectRef>
          <a:fontRef idx="minor">
            <a:schemeClr val="dk1"/>
          </a:fontRef>
        </p:style>
        <p:txBody>
          <a:bodyPr wrap="square" rtlCol="1">
            <a:spAutoFit/>
          </a:bodyPr>
          <a:lstStyle/>
          <a:p>
            <a:r>
              <a:rPr lang="he-IL" b="1" dirty="0"/>
              <a:t>היצע מצרפי</a:t>
            </a:r>
          </a:p>
        </p:txBody>
      </p:sp>
      <p:sp>
        <p:nvSpPr>
          <p:cNvPr id="2" name="Date Placeholder 1"/>
          <p:cNvSpPr>
            <a:spLocks noGrp="1"/>
          </p:cNvSpPr>
          <p:nvPr>
            <p:ph type="dt" sz="half" idx="10"/>
          </p:nvPr>
        </p:nvSpPr>
        <p:spPr/>
        <p:txBody>
          <a:bodyPr/>
          <a:lstStyle/>
          <a:p>
            <a:fld id="{65982EEB-C6ED-4E2E-BE54-54DB89C61B86}" type="datetime8">
              <a:rPr lang="he-IL" smtClean="0"/>
              <a:t>03 ינואר 26</a:t>
            </a:fld>
            <a:endParaRPr lang="he-IL"/>
          </a:p>
        </p:txBody>
      </p:sp>
      <p:sp>
        <p:nvSpPr>
          <p:cNvPr id="3" name="TextBox 7">
            <a:extLst>
              <a:ext uri="{FF2B5EF4-FFF2-40B4-BE49-F238E27FC236}">
                <a16:creationId xmlns:a16="http://schemas.microsoft.com/office/drawing/2014/main" id="{1B611AAF-4A95-2FBE-372E-F9BD7DD00D92}"/>
              </a:ext>
            </a:extLst>
          </p:cNvPr>
          <p:cNvSpPr txBox="1"/>
          <p:nvPr/>
        </p:nvSpPr>
        <p:spPr>
          <a:xfrm>
            <a:off x="5102087" y="6040506"/>
            <a:ext cx="4806043" cy="369332"/>
          </a:xfrm>
          <a:prstGeom prst="rect">
            <a:avLst/>
          </a:prstGeom>
          <a:noFill/>
        </p:spPr>
        <p:txBody>
          <a:bodyPr wrap="square" rtlCol="1">
            <a:spAutoFit/>
          </a:bodyPr>
          <a:lstStyle/>
          <a:p>
            <a:r>
              <a:rPr lang="he-IL" dirty="0"/>
              <a:t>ב. מהו היצע הענף כאשר מחיר השוק הינו 4 </a:t>
            </a:r>
            <a:r>
              <a:rPr lang="he-IL" dirty="0" err="1"/>
              <a:t>ש''ח</a:t>
            </a:r>
            <a:r>
              <a:rPr lang="he-IL" dirty="0"/>
              <a:t>?</a:t>
            </a:r>
          </a:p>
        </p:txBody>
      </p:sp>
      <p:sp>
        <p:nvSpPr>
          <p:cNvPr id="4" name="TextBox 7">
            <a:extLst>
              <a:ext uri="{FF2B5EF4-FFF2-40B4-BE49-F238E27FC236}">
                <a16:creationId xmlns:a16="http://schemas.microsoft.com/office/drawing/2014/main" id="{4F9A03A3-16F9-3AA5-C937-62FEF798947A}"/>
              </a:ext>
            </a:extLst>
          </p:cNvPr>
          <p:cNvSpPr txBox="1"/>
          <p:nvPr/>
        </p:nvSpPr>
        <p:spPr>
          <a:xfrm>
            <a:off x="3609611" y="6033426"/>
            <a:ext cx="1577671" cy="369332"/>
          </a:xfrm>
          <a:prstGeom prst="rect">
            <a:avLst/>
          </a:prstGeom>
          <a:solidFill>
            <a:schemeClr val="accent4">
              <a:lumMod val="20000"/>
              <a:lumOff val="80000"/>
            </a:schemeClr>
          </a:solidFill>
        </p:spPr>
        <p:txBody>
          <a:bodyPr wrap="square" rtlCol="1">
            <a:spAutoFit/>
          </a:bodyPr>
          <a:lstStyle/>
          <a:p>
            <a:r>
              <a:rPr lang="he-IL" dirty="0"/>
              <a:t>20 יחידות </a:t>
            </a:r>
          </a:p>
        </p:txBody>
      </p:sp>
    </p:spTree>
    <p:extLst>
      <p:ext uri="{BB962C8B-B14F-4D97-AF65-F5344CB8AC3E}">
        <p14:creationId xmlns:p14="http://schemas.microsoft.com/office/powerpoint/2010/main" val="3023610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down)">
                                      <p:cBhvr>
                                        <p:cTn id="43" dur="500"/>
                                        <p:tgtEl>
                                          <p:spTgt spid="21"/>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down)">
                                      <p:cBhvr>
                                        <p:cTn id="46" dur="500"/>
                                        <p:tgtEl>
                                          <p:spTgt spid="22"/>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down)">
                                      <p:cBhvr>
                                        <p:cTn id="49" dur="500"/>
                                        <p:tgtEl>
                                          <p:spTgt spid="2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58" presetID="10" presetClass="entr" presetSubtype="0" fill="hold"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1"/>
                                        </p:tgtEl>
                                        <p:attrNameLst>
                                          <p:attrName>style.visibility</p:attrName>
                                        </p:attrNameLst>
                                      </p:cBhvr>
                                      <p:to>
                                        <p:strVal val="visible"/>
                                      </p:to>
                                    </p:set>
                                    <p:animEffect transition="in" filter="fade">
                                      <p:cBhvr>
                                        <p:cTn id="63" dur="500"/>
                                        <p:tgtEl>
                                          <p:spTgt spid="5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fade">
                                      <p:cBhvr>
                                        <p:cTn id="66" dur="500"/>
                                        <p:tgtEl>
                                          <p:spTgt spid="48"/>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wipe(down)">
                                      <p:cBhvr>
                                        <p:cTn id="71" dur="500"/>
                                        <p:tgtEl>
                                          <p:spTgt spid="36"/>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6" dur="500"/>
                                        <p:tgtEl>
                                          <p:spTgt spid="3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4"/>
                                        </p:tgtEl>
                                        <p:attrNameLst>
                                          <p:attrName>style.visibility</p:attrName>
                                        </p:attrNameLst>
                                      </p:cBhvr>
                                      <p:to>
                                        <p:strVal val="visible"/>
                                      </p:to>
                                    </p:set>
                                    <p:animEffect transition="in" filter="fade">
                                      <p:cBhvr>
                                        <p:cTn id="79" dur="500"/>
                                        <p:tgtEl>
                                          <p:spTgt spid="4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5"/>
                                        </p:tgtEl>
                                        <p:attrNameLst>
                                          <p:attrName>style.visibility</p:attrName>
                                        </p:attrNameLst>
                                      </p:cBhvr>
                                      <p:to>
                                        <p:strVal val="visible"/>
                                      </p:to>
                                    </p:set>
                                    <p:animEffect transition="in" filter="fade">
                                      <p:cBhvr>
                                        <p:cTn id="82" dur="500"/>
                                        <p:tgtEl>
                                          <p:spTgt spid="45"/>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5"/>
                                        </p:tgtEl>
                                        <p:attrNameLst>
                                          <p:attrName>style.visibility</p:attrName>
                                        </p:attrNameLst>
                                      </p:cBhvr>
                                      <p:to>
                                        <p:strVal val="visible"/>
                                      </p:to>
                                    </p:set>
                                    <p:animEffect transition="in" filter="fade">
                                      <p:cBhvr>
                                        <p:cTn id="90" dur="500"/>
                                        <p:tgtEl>
                                          <p:spTgt spid="55"/>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fade">
                                      <p:cBhvr>
                                        <p:cTn id="95" dur="500"/>
                                        <p:tgtEl>
                                          <p:spTgt spid="4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6"/>
                                        </p:tgtEl>
                                        <p:attrNameLst>
                                          <p:attrName>style.visibility</p:attrName>
                                        </p:attrNameLst>
                                      </p:cBhvr>
                                      <p:to>
                                        <p:strVal val="visible"/>
                                      </p:to>
                                    </p:set>
                                    <p:animEffect transition="in" filter="fade">
                                      <p:cBhvr>
                                        <p:cTn id="98" dur="500"/>
                                        <p:tgtEl>
                                          <p:spTgt spid="56"/>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41"/>
                                        </p:tgtEl>
                                        <p:attrNameLst>
                                          <p:attrName>style.visibility</p:attrName>
                                        </p:attrNameLst>
                                      </p:cBhvr>
                                      <p:to>
                                        <p:strVal val="visible"/>
                                      </p:to>
                                    </p:set>
                                    <p:animEffect transition="in" filter="fade">
                                      <p:cBhvr>
                                        <p:cTn id="103" dur="500"/>
                                        <p:tgtEl>
                                          <p:spTgt spid="41"/>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7"/>
                                        </p:tgtEl>
                                        <p:attrNameLst>
                                          <p:attrName>style.visibility</p:attrName>
                                        </p:attrNameLst>
                                      </p:cBhvr>
                                      <p:to>
                                        <p:strVal val="visible"/>
                                      </p:to>
                                    </p:set>
                                    <p:animEffect transition="in" filter="fade">
                                      <p:cBhvr>
                                        <p:cTn id="106" dur="500"/>
                                        <p:tgtEl>
                                          <p:spTgt spid="57"/>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4" fill="hold" nodeType="clickEffect">
                                  <p:stCondLst>
                                    <p:cond delay="0"/>
                                  </p:stCondLst>
                                  <p:childTnLst>
                                    <p:set>
                                      <p:cBhvr>
                                        <p:cTn id="110" dur="1" fill="hold">
                                          <p:stCondLst>
                                            <p:cond delay="0"/>
                                          </p:stCondLst>
                                        </p:cTn>
                                        <p:tgtEl>
                                          <p:spTgt spid="32"/>
                                        </p:tgtEl>
                                        <p:attrNameLst>
                                          <p:attrName>style.visibility</p:attrName>
                                        </p:attrNameLst>
                                      </p:cBhvr>
                                      <p:to>
                                        <p:strVal val="visible"/>
                                      </p:to>
                                    </p:set>
                                    <p:animEffect transition="in" filter="wipe(down)">
                                      <p:cBhvr>
                                        <p:cTn id="111" dur="500"/>
                                        <p:tgtEl>
                                          <p:spTgt spid="32"/>
                                        </p:tgtEl>
                                      </p:cBhvr>
                                    </p:animEffect>
                                  </p:childTnLst>
                                </p:cTn>
                              </p:par>
                              <p:par>
                                <p:cTn id="112" presetID="22" presetClass="entr" presetSubtype="4" fill="hold" grpId="0" nodeType="withEffect">
                                  <p:stCondLst>
                                    <p:cond delay="0"/>
                                  </p:stCondLst>
                                  <p:childTnLst>
                                    <p:set>
                                      <p:cBhvr>
                                        <p:cTn id="113" dur="1" fill="hold">
                                          <p:stCondLst>
                                            <p:cond delay="0"/>
                                          </p:stCondLst>
                                        </p:cTn>
                                        <p:tgtEl>
                                          <p:spTgt spid="58"/>
                                        </p:tgtEl>
                                        <p:attrNameLst>
                                          <p:attrName>style.visibility</p:attrName>
                                        </p:attrNameLst>
                                      </p:cBhvr>
                                      <p:to>
                                        <p:strVal val="visible"/>
                                      </p:to>
                                    </p:set>
                                    <p:animEffect transition="in" filter="wipe(down)">
                                      <p:cBhvr>
                                        <p:cTn id="114" dur="500"/>
                                        <p:tgtEl>
                                          <p:spTgt spid="58"/>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fade">
                                      <p:cBhvr>
                                        <p:cTn id="117" dur="500"/>
                                        <p:tgtEl>
                                          <p:spTgt spid="43"/>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grpId="0" nodeType="clickEffect">
                                  <p:stCondLst>
                                    <p:cond delay="0"/>
                                  </p:stCondLst>
                                  <p:childTnLst>
                                    <p:set>
                                      <p:cBhvr>
                                        <p:cTn id="121" dur="1" fill="hold">
                                          <p:stCondLst>
                                            <p:cond delay="0"/>
                                          </p:stCondLst>
                                        </p:cTn>
                                        <p:tgtEl>
                                          <p:spTgt spid="4"/>
                                        </p:tgtEl>
                                        <p:attrNameLst>
                                          <p:attrName>style.visibility</p:attrName>
                                        </p:attrNameLst>
                                      </p:cBhvr>
                                      <p:to>
                                        <p:strVal val="visible"/>
                                      </p:to>
                                    </p:set>
                                    <p:animEffect transition="in" filter="wipe(down)">
                                      <p:cBhvr>
                                        <p:cTn id="1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4" grpId="0" animBg="1"/>
      <p:bldP spid="25" grpId="0" animBg="1"/>
      <p:bldP spid="26" grpId="0" animBg="1"/>
      <p:bldP spid="28" grpId="0" animBg="1"/>
      <p:bldP spid="36" grpId="0" animBg="1"/>
      <p:bldP spid="44" grpId="0"/>
      <p:bldP spid="45" grpId="0"/>
      <p:bldP spid="46" grpId="0"/>
      <p:bldP spid="48" grpId="0"/>
      <p:bldP spid="49" grpId="0"/>
      <p:bldP spid="50" grpId="0"/>
      <p:bldP spid="51" grpId="0"/>
      <p:bldP spid="52" grpId="0"/>
      <p:bldP spid="53" grpId="0"/>
      <p:bldP spid="54" grpId="0"/>
      <p:bldP spid="55" grpId="0"/>
      <p:bldP spid="56" grpId="0"/>
      <p:bldP spid="57" grpId="0"/>
      <p:bldP spid="58" grpId="0"/>
      <p:bldP spid="43" grpId="0" animBg="1"/>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6279149" y="195612"/>
            <a:ext cx="4233672" cy="458933"/>
          </a:xfrm>
        </p:spPr>
        <p:txBody>
          <a:bodyPr>
            <a:normAutofit fontScale="90000"/>
          </a:bodyPr>
          <a:lstStyle/>
          <a:p>
            <a:pPr algn="r"/>
            <a:r>
              <a:rPr lang="he-IL" b="1" dirty="0">
                <a:cs typeface="+mn-cs"/>
              </a:rPr>
              <a:t>שאלה 4</a:t>
            </a:r>
          </a:p>
        </p:txBody>
      </p:sp>
      <p:sp>
        <p:nvSpPr>
          <p:cNvPr id="6" name="Content Placeholder 5"/>
          <p:cNvSpPr>
            <a:spLocks noGrp="1"/>
          </p:cNvSpPr>
          <p:nvPr>
            <p:ph sz="quarter" idx="1"/>
          </p:nvPr>
        </p:nvSpPr>
        <p:spPr>
          <a:xfrm>
            <a:off x="7656165" y="1953669"/>
            <a:ext cx="2633761" cy="1825701"/>
          </a:xfrm>
        </p:spPr>
        <p:txBody>
          <a:bodyPr>
            <a:normAutofit fontScale="77500" lnSpcReduction="20000"/>
          </a:bodyPr>
          <a:lstStyle/>
          <a:p>
            <a:pPr marL="0" indent="0" algn="r" rtl="1">
              <a:lnSpc>
                <a:spcPct val="170000"/>
              </a:lnSpc>
              <a:buNone/>
            </a:pPr>
            <a:r>
              <a:rPr lang="he-IL" sz="2300" dirty="0">
                <a:latin typeface="David" pitchFamily="34" charset="-79"/>
                <a:cs typeface="David" pitchFamily="34" charset="-79"/>
              </a:rPr>
              <a:t>פירמה 1:</a:t>
            </a:r>
            <a:r>
              <a:rPr lang="en-US" sz="2300" dirty="0">
                <a:latin typeface="David" pitchFamily="34" charset="-79"/>
                <a:cs typeface="David" pitchFamily="34" charset="-79"/>
              </a:rPr>
              <a:t>  MC=x+2 </a:t>
            </a:r>
          </a:p>
          <a:p>
            <a:pPr marL="0" indent="0" algn="r" rtl="1">
              <a:buNone/>
            </a:pPr>
            <a:endParaRPr lang="he-IL" sz="2300" dirty="0">
              <a:latin typeface="David" pitchFamily="34" charset="-79"/>
              <a:cs typeface="David" pitchFamily="34" charset="-79"/>
            </a:endParaRPr>
          </a:p>
          <a:p>
            <a:pPr marL="0" indent="0" algn="r" rtl="1">
              <a:buNone/>
            </a:pPr>
            <a:r>
              <a:rPr lang="he-IL" sz="2300" dirty="0">
                <a:latin typeface="David" pitchFamily="34" charset="-79"/>
                <a:cs typeface="David" pitchFamily="34" charset="-79"/>
              </a:rPr>
              <a:t>פירמה 2: </a:t>
            </a:r>
            <a:r>
              <a:rPr lang="en-US" sz="2300" dirty="0">
                <a:latin typeface="David" pitchFamily="34" charset="-79"/>
                <a:cs typeface="David" pitchFamily="34" charset="-79"/>
              </a:rPr>
              <a:t>MC=0.33x+2</a:t>
            </a:r>
          </a:p>
          <a:p>
            <a:pPr marL="0" indent="0" algn="r" rtl="1">
              <a:buNone/>
            </a:pPr>
            <a:endParaRPr lang="he-IL" sz="2300" dirty="0">
              <a:latin typeface="David" pitchFamily="34" charset="-79"/>
              <a:cs typeface="David" pitchFamily="34" charset="-79"/>
            </a:endParaRPr>
          </a:p>
          <a:p>
            <a:pPr marL="0" indent="0" algn="r" rtl="1">
              <a:buNone/>
            </a:pPr>
            <a:r>
              <a:rPr lang="he-IL" sz="2300" dirty="0">
                <a:latin typeface="David" pitchFamily="34" charset="-79"/>
                <a:cs typeface="David" pitchFamily="34" charset="-79"/>
              </a:rPr>
              <a:t>פירמה 3: </a:t>
            </a:r>
            <a:r>
              <a:rPr lang="en-US" sz="2300" dirty="0">
                <a:latin typeface="David" pitchFamily="34" charset="-79"/>
                <a:cs typeface="David" pitchFamily="34" charset="-79"/>
              </a:rPr>
              <a:t>MC=0.5x+2</a:t>
            </a:r>
            <a:endParaRPr lang="he-IL" sz="1500" dirty="0">
              <a:latin typeface="David" pitchFamily="34" charset="-79"/>
              <a:cs typeface="David" pitchFamily="34" charset="-79"/>
            </a:endParaRPr>
          </a:p>
        </p:txBody>
      </p:sp>
      <p:sp>
        <p:nvSpPr>
          <p:cNvPr id="2" name="Slide Number Placeholder 1"/>
          <p:cNvSpPr>
            <a:spLocks noGrp="1"/>
          </p:cNvSpPr>
          <p:nvPr>
            <p:ph type="sldNum" sz="quarter" idx="12"/>
          </p:nvPr>
        </p:nvSpPr>
        <p:spPr>
          <a:xfrm>
            <a:off x="2662054" y="5619577"/>
            <a:ext cx="342900" cy="342900"/>
          </a:xfrm>
        </p:spPr>
        <p:txBody>
          <a:bodyPr/>
          <a:lstStyle/>
          <a:p>
            <a:pPr defTabSz="685800" rtl="0"/>
            <a:fld id="{CBF92039-BB9D-4F46-95B7-49E6508B93B0}" type="slidenum">
              <a:rPr lang="en-US">
                <a:solidFill>
                  <a:prstClr val="black">
                    <a:tint val="75000"/>
                  </a:prstClr>
                </a:solidFill>
                <a:latin typeface="Franklin Gothic Book"/>
              </a:rPr>
              <a:pPr defTabSz="685800" rtl="0"/>
              <a:t>42</a:t>
            </a:fld>
            <a:endParaRPr lang="en-US">
              <a:solidFill>
                <a:prstClr val="black">
                  <a:tint val="75000"/>
                </a:prstClr>
              </a:solidFill>
              <a:latin typeface="Franklin Gothic Book"/>
            </a:endParaRPr>
          </a:p>
        </p:txBody>
      </p:sp>
      <p:sp>
        <p:nvSpPr>
          <p:cNvPr id="3" name="Rectangle 2">
            <a:extLst>
              <a:ext uri="{FF2B5EF4-FFF2-40B4-BE49-F238E27FC236}">
                <a16:creationId xmlns:a16="http://schemas.microsoft.com/office/drawing/2014/main" id="{971E276B-834E-4194-9D1C-13172EBA7CB4}"/>
              </a:ext>
            </a:extLst>
          </p:cNvPr>
          <p:cNvSpPr/>
          <p:nvPr/>
        </p:nvSpPr>
        <p:spPr>
          <a:xfrm>
            <a:off x="4007770" y="1356985"/>
            <a:ext cx="6469696" cy="375552"/>
          </a:xfrm>
          <a:prstGeom prst="rect">
            <a:avLst/>
          </a:prstGeom>
        </p:spPr>
        <p:txBody>
          <a:bodyPr wrap="square">
            <a:spAutoFit/>
          </a:bodyPr>
          <a:lstStyle/>
          <a:p>
            <a:pPr defTabSz="685800">
              <a:lnSpc>
                <a:spcPct val="150000"/>
              </a:lnSpc>
            </a:pPr>
            <a:r>
              <a:rPr lang="he-IL" sz="1400" dirty="0">
                <a:solidFill>
                  <a:prstClr val="black"/>
                </a:solidFill>
                <a:latin typeface="Arial" panose="020B0604020202020204" pitchFamily="34" charset="0"/>
                <a:cs typeface="Arial" panose="020B0604020202020204" pitchFamily="34" charset="0"/>
              </a:rPr>
              <a:t>הציגו (ביטוי אלגברי ותרשים) את עקומת ההיצע של כל פירמה ואת ההיצע המצרפי בענף</a:t>
            </a:r>
            <a:r>
              <a:rPr lang="he-IL" sz="1275" dirty="0">
                <a:solidFill>
                  <a:prstClr val="black"/>
                </a:solidFill>
                <a:latin typeface="Arial" panose="020B0604020202020204" pitchFamily="34" charset="0"/>
                <a:cs typeface="Arial" panose="020B0604020202020204" pitchFamily="34" charset="0"/>
              </a:rPr>
              <a:t>.</a:t>
            </a:r>
            <a:endParaRPr lang="en-US" sz="1275" dirty="0">
              <a:solidFill>
                <a:prstClr val="black"/>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7ADFF390-A152-46A2-AE92-A97DB572E0BC}"/>
              </a:ext>
            </a:extLst>
          </p:cNvPr>
          <p:cNvSpPr/>
          <p:nvPr/>
        </p:nvSpPr>
        <p:spPr>
          <a:xfrm>
            <a:off x="2495604" y="945886"/>
            <a:ext cx="7946532" cy="407869"/>
          </a:xfrm>
          <a:prstGeom prst="rect">
            <a:avLst/>
          </a:prstGeom>
        </p:spPr>
        <p:txBody>
          <a:bodyPr wrap="square">
            <a:spAutoFit/>
          </a:bodyPr>
          <a:lstStyle/>
          <a:p>
            <a:pPr defTabSz="685800">
              <a:lnSpc>
                <a:spcPct val="170000"/>
              </a:lnSpc>
            </a:pPr>
            <a:r>
              <a:rPr lang="he-IL" sz="1400" dirty="0">
                <a:solidFill>
                  <a:prstClr val="black"/>
                </a:solidFill>
                <a:latin typeface="Arial" panose="020B0604020202020204" pitchFamily="34" charset="0"/>
                <a:cs typeface="Arial" panose="020B0604020202020204" pitchFamily="34" charset="0"/>
              </a:rPr>
              <a:t>להלן נתוני הוצאה שולית של פירמות שונות בענף </a:t>
            </a:r>
            <a:r>
              <a:rPr lang="en-US" sz="1400" dirty="0">
                <a:solidFill>
                  <a:prstClr val="black"/>
                </a:solidFill>
                <a:latin typeface="Arial" panose="020B0604020202020204" pitchFamily="34" charset="0"/>
                <a:cs typeface="Arial" panose="020B0604020202020204" pitchFamily="34" charset="0"/>
              </a:rPr>
              <a:t>X</a:t>
            </a:r>
            <a:r>
              <a:rPr lang="he-IL" sz="1400" dirty="0">
                <a:solidFill>
                  <a:prstClr val="black"/>
                </a:solidFill>
                <a:latin typeface="Arial" panose="020B0604020202020204" pitchFamily="34" charset="0"/>
                <a:cs typeface="Arial" panose="020B0604020202020204" pitchFamily="34" charset="0"/>
              </a:rPr>
              <a:t>, הניחו כי לפירמות אין הוצאות פרט להוצאות אלה. </a:t>
            </a:r>
            <a:endParaRPr lang="en-US" sz="1400" dirty="0">
              <a:solidFill>
                <a:prstClr val="black"/>
              </a:solidFill>
              <a:latin typeface="Arial" panose="020B0604020202020204" pitchFamily="34" charset="0"/>
              <a:cs typeface="Arial" panose="020B0604020202020204" pitchFamily="34" charset="0"/>
            </a:endParaRPr>
          </a:p>
        </p:txBody>
      </p:sp>
      <p:cxnSp>
        <p:nvCxnSpPr>
          <p:cNvPr id="23" name="מחבר חץ ישר 7">
            <a:extLst>
              <a:ext uri="{FF2B5EF4-FFF2-40B4-BE49-F238E27FC236}">
                <a16:creationId xmlns:a16="http://schemas.microsoft.com/office/drawing/2014/main" id="{B27B8885-05CE-4E67-9D21-6EBF3AFF9F46}"/>
              </a:ext>
            </a:extLst>
          </p:cNvPr>
          <p:cNvCxnSpPr/>
          <p:nvPr/>
        </p:nvCxnSpPr>
        <p:spPr>
          <a:xfrm>
            <a:off x="3222802" y="5758535"/>
            <a:ext cx="1134126"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4" name="מחבר חץ ישר 8">
            <a:extLst>
              <a:ext uri="{FF2B5EF4-FFF2-40B4-BE49-F238E27FC236}">
                <a16:creationId xmlns:a16="http://schemas.microsoft.com/office/drawing/2014/main" id="{8268013C-647A-44CA-A564-6B99BC39716B}"/>
              </a:ext>
            </a:extLst>
          </p:cNvPr>
          <p:cNvCxnSpPr/>
          <p:nvPr/>
        </p:nvCxnSpPr>
        <p:spPr>
          <a:xfrm flipV="1">
            <a:off x="3222802" y="4294085"/>
            <a:ext cx="0" cy="146445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5" name="מחבר חץ ישר 10">
            <a:extLst>
              <a:ext uri="{FF2B5EF4-FFF2-40B4-BE49-F238E27FC236}">
                <a16:creationId xmlns:a16="http://schemas.microsoft.com/office/drawing/2014/main" id="{97A8E694-C9C3-4D47-ACB8-D86D3FD2D905}"/>
              </a:ext>
            </a:extLst>
          </p:cNvPr>
          <p:cNvCxnSpPr/>
          <p:nvPr/>
        </p:nvCxnSpPr>
        <p:spPr>
          <a:xfrm>
            <a:off x="4471228" y="5758535"/>
            <a:ext cx="1134126"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6" name="מחבר חץ ישר 11">
            <a:extLst>
              <a:ext uri="{FF2B5EF4-FFF2-40B4-BE49-F238E27FC236}">
                <a16:creationId xmlns:a16="http://schemas.microsoft.com/office/drawing/2014/main" id="{79037E2D-FB0B-4887-9AC2-2D7B05F26724}"/>
              </a:ext>
            </a:extLst>
          </p:cNvPr>
          <p:cNvCxnSpPr/>
          <p:nvPr/>
        </p:nvCxnSpPr>
        <p:spPr>
          <a:xfrm flipV="1">
            <a:off x="4471228" y="4294085"/>
            <a:ext cx="0" cy="146445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7" name="מחבר חץ ישר 12">
            <a:extLst>
              <a:ext uri="{FF2B5EF4-FFF2-40B4-BE49-F238E27FC236}">
                <a16:creationId xmlns:a16="http://schemas.microsoft.com/office/drawing/2014/main" id="{152E9864-98C5-48A1-9713-50D425C98961}"/>
              </a:ext>
            </a:extLst>
          </p:cNvPr>
          <p:cNvCxnSpPr/>
          <p:nvPr/>
        </p:nvCxnSpPr>
        <p:spPr>
          <a:xfrm>
            <a:off x="5761084" y="5758535"/>
            <a:ext cx="1134126"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8" name="מחבר חץ ישר 13">
            <a:extLst>
              <a:ext uri="{FF2B5EF4-FFF2-40B4-BE49-F238E27FC236}">
                <a16:creationId xmlns:a16="http://schemas.microsoft.com/office/drawing/2014/main" id="{C3D848D3-E86F-472F-A59D-2C7AC842611E}"/>
              </a:ext>
            </a:extLst>
          </p:cNvPr>
          <p:cNvCxnSpPr/>
          <p:nvPr/>
        </p:nvCxnSpPr>
        <p:spPr>
          <a:xfrm flipV="1">
            <a:off x="5761084" y="4294085"/>
            <a:ext cx="0" cy="146445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9" name="מחבר חץ ישר 14">
            <a:extLst>
              <a:ext uri="{FF2B5EF4-FFF2-40B4-BE49-F238E27FC236}">
                <a16:creationId xmlns:a16="http://schemas.microsoft.com/office/drawing/2014/main" id="{8D9DB9B2-A2C3-4CEB-8ED4-0947358B9694}"/>
              </a:ext>
            </a:extLst>
          </p:cNvPr>
          <p:cNvCxnSpPr/>
          <p:nvPr/>
        </p:nvCxnSpPr>
        <p:spPr>
          <a:xfrm>
            <a:off x="7219246" y="5758535"/>
            <a:ext cx="1944216"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0" name="מחבר חץ ישר 15">
            <a:extLst>
              <a:ext uri="{FF2B5EF4-FFF2-40B4-BE49-F238E27FC236}">
                <a16:creationId xmlns:a16="http://schemas.microsoft.com/office/drawing/2014/main" id="{8481DA8C-7A34-420B-970B-9C44CB00B75E}"/>
              </a:ext>
            </a:extLst>
          </p:cNvPr>
          <p:cNvCxnSpPr/>
          <p:nvPr/>
        </p:nvCxnSpPr>
        <p:spPr>
          <a:xfrm flipV="1">
            <a:off x="7219246" y="4294085"/>
            <a:ext cx="0" cy="146445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60089F43-8B1F-4663-BE71-E7CCFD55B5FB}"/>
              </a:ext>
            </a:extLst>
          </p:cNvPr>
          <p:cNvSpPr txBox="1"/>
          <p:nvPr/>
        </p:nvSpPr>
        <p:spPr>
          <a:xfrm>
            <a:off x="3438826" y="4221436"/>
            <a:ext cx="758761" cy="307777"/>
          </a:xfrm>
          <a:prstGeom prst="rect">
            <a:avLst/>
          </a:prstGeom>
          <a:solidFill>
            <a:schemeClr val="bg2">
              <a:lumMod val="90000"/>
            </a:schemeClr>
          </a:solidFill>
        </p:spPr>
        <p:style>
          <a:lnRef idx="1">
            <a:schemeClr val="dk1"/>
          </a:lnRef>
          <a:fillRef idx="2">
            <a:schemeClr val="dk1"/>
          </a:fillRef>
          <a:effectRef idx="1">
            <a:schemeClr val="dk1"/>
          </a:effectRef>
          <a:fontRef idx="minor">
            <a:schemeClr val="dk1"/>
          </a:fontRef>
        </p:style>
        <p:txBody>
          <a:bodyPr wrap="square" rtlCol="1">
            <a:spAutoFit/>
          </a:bodyPr>
          <a:lstStyle/>
          <a:p>
            <a:pPr algn="l" defTabSz="685800" rtl="0"/>
            <a:r>
              <a:rPr lang="he-IL" sz="1400" b="1" dirty="0">
                <a:solidFill>
                  <a:prstClr val="black"/>
                </a:solidFill>
                <a:latin typeface="Perpetua"/>
                <a:cs typeface="Aharoni" panose="02010803020104030203" pitchFamily="2" charset="-79"/>
              </a:rPr>
              <a:t>פירמה  1</a:t>
            </a:r>
          </a:p>
        </p:txBody>
      </p:sp>
      <p:sp>
        <p:nvSpPr>
          <p:cNvPr id="32" name="TextBox 31">
            <a:extLst>
              <a:ext uri="{FF2B5EF4-FFF2-40B4-BE49-F238E27FC236}">
                <a16:creationId xmlns:a16="http://schemas.microsoft.com/office/drawing/2014/main" id="{D23DBE07-B1D9-4DFE-BC67-485915EA149F}"/>
              </a:ext>
            </a:extLst>
          </p:cNvPr>
          <p:cNvSpPr txBox="1"/>
          <p:nvPr/>
        </p:nvSpPr>
        <p:spPr>
          <a:xfrm>
            <a:off x="4639291" y="4221436"/>
            <a:ext cx="702078" cy="307777"/>
          </a:xfrm>
          <a:prstGeom prst="rect">
            <a:avLst/>
          </a:prstGeom>
          <a:solidFill>
            <a:schemeClr val="bg2">
              <a:lumMod val="90000"/>
            </a:schemeClr>
          </a:solidFill>
        </p:spPr>
        <p:style>
          <a:lnRef idx="1">
            <a:schemeClr val="dk1"/>
          </a:lnRef>
          <a:fillRef idx="2">
            <a:schemeClr val="dk1"/>
          </a:fillRef>
          <a:effectRef idx="1">
            <a:schemeClr val="dk1"/>
          </a:effectRef>
          <a:fontRef idx="minor">
            <a:schemeClr val="dk1"/>
          </a:fontRef>
        </p:style>
        <p:txBody>
          <a:bodyPr wrap="square" rtlCol="1">
            <a:spAutoFit/>
          </a:bodyPr>
          <a:lstStyle/>
          <a:p>
            <a:pPr algn="l" defTabSz="685800" rtl="0"/>
            <a:r>
              <a:rPr lang="he-IL" sz="1400" b="1" dirty="0">
                <a:solidFill>
                  <a:prstClr val="black"/>
                </a:solidFill>
                <a:latin typeface="Perpetua"/>
                <a:cs typeface="Aharoni" panose="02010803020104030203" pitchFamily="2" charset="-79"/>
              </a:rPr>
              <a:t>פירמה 2</a:t>
            </a:r>
          </a:p>
        </p:txBody>
      </p:sp>
      <p:sp>
        <p:nvSpPr>
          <p:cNvPr id="33" name="TextBox 32">
            <a:extLst>
              <a:ext uri="{FF2B5EF4-FFF2-40B4-BE49-F238E27FC236}">
                <a16:creationId xmlns:a16="http://schemas.microsoft.com/office/drawing/2014/main" id="{03C163E1-6F4F-4F37-AD28-614DE7B02C9D}"/>
              </a:ext>
            </a:extLst>
          </p:cNvPr>
          <p:cNvSpPr txBox="1"/>
          <p:nvPr/>
        </p:nvSpPr>
        <p:spPr>
          <a:xfrm>
            <a:off x="5947253" y="4221436"/>
            <a:ext cx="852269" cy="307777"/>
          </a:xfrm>
          <a:prstGeom prst="rect">
            <a:avLst/>
          </a:prstGeom>
          <a:solidFill>
            <a:schemeClr val="bg2">
              <a:lumMod val="90000"/>
            </a:schemeClr>
          </a:solidFill>
        </p:spPr>
        <p:style>
          <a:lnRef idx="1">
            <a:schemeClr val="dk1"/>
          </a:lnRef>
          <a:fillRef idx="2">
            <a:schemeClr val="dk1"/>
          </a:fillRef>
          <a:effectRef idx="1">
            <a:schemeClr val="dk1"/>
          </a:effectRef>
          <a:fontRef idx="minor">
            <a:schemeClr val="dk1"/>
          </a:fontRef>
        </p:style>
        <p:txBody>
          <a:bodyPr wrap="square" rtlCol="1">
            <a:spAutoFit/>
          </a:bodyPr>
          <a:lstStyle/>
          <a:p>
            <a:pPr algn="l" defTabSz="685800" rtl="0"/>
            <a:r>
              <a:rPr lang="he-IL" sz="1400" b="1" dirty="0">
                <a:solidFill>
                  <a:prstClr val="black"/>
                </a:solidFill>
                <a:latin typeface="Perpetua"/>
                <a:cs typeface="Aharoni" panose="02010803020104030203" pitchFamily="2" charset="-79"/>
              </a:rPr>
              <a:t>פירמה  3</a:t>
            </a:r>
          </a:p>
        </p:txBody>
      </p:sp>
      <p:sp>
        <p:nvSpPr>
          <p:cNvPr id="34" name="TextBox 33">
            <a:extLst>
              <a:ext uri="{FF2B5EF4-FFF2-40B4-BE49-F238E27FC236}">
                <a16:creationId xmlns:a16="http://schemas.microsoft.com/office/drawing/2014/main" id="{F53E553F-9D0F-43EF-B761-EBB0CF109766}"/>
              </a:ext>
            </a:extLst>
          </p:cNvPr>
          <p:cNvSpPr txBox="1"/>
          <p:nvPr/>
        </p:nvSpPr>
        <p:spPr>
          <a:xfrm>
            <a:off x="2986469" y="4155586"/>
            <a:ext cx="216024" cy="276999"/>
          </a:xfrm>
          <a:prstGeom prst="rect">
            <a:avLst/>
          </a:prstGeom>
          <a:noFill/>
        </p:spPr>
        <p:txBody>
          <a:bodyPr wrap="square" rtlCol="1">
            <a:spAutoFit/>
          </a:bodyPr>
          <a:lstStyle/>
          <a:p>
            <a:pPr algn="l" defTabSz="685800" rtl="0"/>
            <a:r>
              <a:rPr lang="en-US" sz="1200" dirty="0">
                <a:solidFill>
                  <a:prstClr val="black"/>
                </a:solidFill>
                <a:latin typeface="Perpetua"/>
              </a:rPr>
              <a:t>P</a:t>
            </a:r>
            <a:endParaRPr lang="he-IL" sz="1200" dirty="0">
              <a:solidFill>
                <a:prstClr val="black"/>
              </a:solidFill>
              <a:latin typeface="Perpetua"/>
              <a:cs typeface="Aharoni" panose="02010803020104030203" pitchFamily="2" charset="-79"/>
            </a:endParaRPr>
          </a:p>
        </p:txBody>
      </p:sp>
      <p:sp>
        <p:nvSpPr>
          <p:cNvPr id="35" name="TextBox 34">
            <a:extLst>
              <a:ext uri="{FF2B5EF4-FFF2-40B4-BE49-F238E27FC236}">
                <a16:creationId xmlns:a16="http://schemas.microsoft.com/office/drawing/2014/main" id="{E350FD9E-9352-4C00-9777-A03E3152AD5E}"/>
              </a:ext>
            </a:extLst>
          </p:cNvPr>
          <p:cNvSpPr txBox="1"/>
          <p:nvPr/>
        </p:nvSpPr>
        <p:spPr>
          <a:xfrm>
            <a:off x="6965240" y="4167128"/>
            <a:ext cx="216024" cy="276999"/>
          </a:xfrm>
          <a:prstGeom prst="rect">
            <a:avLst/>
          </a:prstGeom>
          <a:noFill/>
        </p:spPr>
        <p:txBody>
          <a:bodyPr wrap="square" rtlCol="1">
            <a:spAutoFit/>
          </a:bodyPr>
          <a:lstStyle/>
          <a:p>
            <a:pPr algn="l" defTabSz="685800" rtl="0"/>
            <a:r>
              <a:rPr lang="en-US" sz="1200" dirty="0">
                <a:solidFill>
                  <a:prstClr val="black"/>
                </a:solidFill>
                <a:latin typeface="Perpetua"/>
              </a:rPr>
              <a:t>P</a:t>
            </a:r>
            <a:endParaRPr lang="he-IL" sz="1200" dirty="0">
              <a:solidFill>
                <a:prstClr val="black"/>
              </a:solidFill>
              <a:latin typeface="Perpetua"/>
              <a:cs typeface="Aharoni" panose="02010803020104030203" pitchFamily="2" charset="-79"/>
            </a:endParaRPr>
          </a:p>
        </p:txBody>
      </p:sp>
      <p:sp>
        <p:nvSpPr>
          <p:cNvPr id="36" name="TextBox 35">
            <a:extLst>
              <a:ext uri="{FF2B5EF4-FFF2-40B4-BE49-F238E27FC236}">
                <a16:creationId xmlns:a16="http://schemas.microsoft.com/office/drawing/2014/main" id="{5994C6CF-8E98-4B14-8BD7-09A4AED37BFC}"/>
              </a:ext>
            </a:extLst>
          </p:cNvPr>
          <p:cNvSpPr txBox="1"/>
          <p:nvPr/>
        </p:nvSpPr>
        <p:spPr>
          <a:xfrm>
            <a:off x="4255473" y="4167128"/>
            <a:ext cx="216024" cy="276999"/>
          </a:xfrm>
          <a:prstGeom prst="rect">
            <a:avLst/>
          </a:prstGeom>
          <a:noFill/>
        </p:spPr>
        <p:txBody>
          <a:bodyPr wrap="square" rtlCol="1">
            <a:spAutoFit/>
          </a:bodyPr>
          <a:lstStyle/>
          <a:p>
            <a:pPr algn="l" defTabSz="685800" rtl="0"/>
            <a:r>
              <a:rPr lang="en-US" sz="1200" dirty="0">
                <a:solidFill>
                  <a:prstClr val="black"/>
                </a:solidFill>
                <a:latin typeface="Perpetua"/>
              </a:rPr>
              <a:t>P</a:t>
            </a:r>
            <a:endParaRPr lang="he-IL" sz="1200" dirty="0">
              <a:solidFill>
                <a:prstClr val="black"/>
              </a:solidFill>
              <a:latin typeface="Perpetua"/>
              <a:cs typeface="Aharoni" panose="02010803020104030203" pitchFamily="2" charset="-79"/>
            </a:endParaRPr>
          </a:p>
        </p:txBody>
      </p:sp>
      <p:sp>
        <p:nvSpPr>
          <p:cNvPr id="37" name="TextBox 36">
            <a:extLst>
              <a:ext uri="{FF2B5EF4-FFF2-40B4-BE49-F238E27FC236}">
                <a16:creationId xmlns:a16="http://schemas.microsoft.com/office/drawing/2014/main" id="{32479D57-CEA4-4C0B-8803-1DF335DD9D8B}"/>
              </a:ext>
            </a:extLst>
          </p:cNvPr>
          <p:cNvSpPr txBox="1"/>
          <p:nvPr/>
        </p:nvSpPr>
        <p:spPr>
          <a:xfrm>
            <a:off x="5457587" y="4160219"/>
            <a:ext cx="216024" cy="276999"/>
          </a:xfrm>
          <a:prstGeom prst="rect">
            <a:avLst/>
          </a:prstGeom>
          <a:noFill/>
        </p:spPr>
        <p:txBody>
          <a:bodyPr wrap="square" rtlCol="1">
            <a:spAutoFit/>
          </a:bodyPr>
          <a:lstStyle/>
          <a:p>
            <a:pPr algn="l" defTabSz="685800" rtl="0"/>
            <a:r>
              <a:rPr lang="en-US" sz="1200" dirty="0">
                <a:solidFill>
                  <a:prstClr val="black"/>
                </a:solidFill>
                <a:latin typeface="Perpetua"/>
              </a:rPr>
              <a:t>P</a:t>
            </a:r>
            <a:endParaRPr lang="he-IL" sz="1200" dirty="0">
              <a:solidFill>
                <a:prstClr val="black"/>
              </a:solidFill>
              <a:latin typeface="Perpetua"/>
              <a:cs typeface="Aharoni" panose="02010803020104030203" pitchFamily="2" charset="-79"/>
            </a:endParaRPr>
          </a:p>
        </p:txBody>
      </p:sp>
      <p:sp>
        <p:nvSpPr>
          <p:cNvPr id="38" name="TextBox 37">
            <a:extLst>
              <a:ext uri="{FF2B5EF4-FFF2-40B4-BE49-F238E27FC236}">
                <a16:creationId xmlns:a16="http://schemas.microsoft.com/office/drawing/2014/main" id="{E9605F53-22C2-42E8-A077-AFEC35A4E6EA}"/>
              </a:ext>
            </a:extLst>
          </p:cNvPr>
          <p:cNvSpPr txBox="1"/>
          <p:nvPr/>
        </p:nvSpPr>
        <p:spPr>
          <a:xfrm>
            <a:off x="9163462" y="5628358"/>
            <a:ext cx="216024" cy="300082"/>
          </a:xfrm>
          <a:prstGeom prst="rect">
            <a:avLst/>
          </a:prstGeom>
          <a:noFill/>
        </p:spPr>
        <p:txBody>
          <a:bodyPr wrap="square" rtlCol="1">
            <a:spAutoFit/>
          </a:bodyPr>
          <a:lstStyle/>
          <a:p>
            <a:pPr algn="l" defTabSz="685800" rtl="0"/>
            <a:r>
              <a:rPr lang="en-US" sz="1350" dirty="0">
                <a:solidFill>
                  <a:prstClr val="black"/>
                </a:solidFill>
                <a:latin typeface="Perpetua"/>
              </a:rPr>
              <a:t>X</a:t>
            </a:r>
            <a:endParaRPr lang="he-IL" sz="1350" dirty="0">
              <a:solidFill>
                <a:prstClr val="black"/>
              </a:solidFill>
              <a:latin typeface="Perpetua"/>
              <a:cs typeface="Aharoni" panose="02010803020104030203" pitchFamily="2" charset="-79"/>
            </a:endParaRPr>
          </a:p>
        </p:txBody>
      </p:sp>
      <p:sp>
        <p:nvSpPr>
          <p:cNvPr id="39" name="TextBox 38">
            <a:extLst>
              <a:ext uri="{FF2B5EF4-FFF2-40B4-BE49-F238E27FC236}">
                <a16:creationId xmlns:a16="http://schemas.microsoft.com/office/drawing/2014/main" id="{D70444C4-A7BC-4945-877C-F7446F8FFCD4}"/>
              </a:ext>
            </a:extLst>
          </p:cNvPr>
          <p:cNvSpPr txBox="1"/>
          <p:nvPr/>
        </p:nvSpPr>
        <p:spPr>
          <a:xfrm>
            <a:off x="4270050" y="5686427"/>
            <a:ext cx="216024" cy="276999"/>
          </a:xfrm>
          <a:prstGeom prst="rect">
            <a:avLst/>
          </a:prstGeom>
          <a:noFill/>
        </p:spPr>
        <p:txBody>
          <a:bodyPr wrap="square" rtlCol="1">
            <a:spAutoFit/>
          </a:bodyPr>
          <a:lstStyle/>
          <a:p>
            <a:pPr algn="l" defTabSz="685800" rtl="0"/>
            <a:r>
              <a:rPr lang="en-US" sz="1200" dirty="0">
                <a:solidFill>
                  <a:prstClr val="black"/>
                </a:solidFill>
                <a:latin typeface="Perpetua"/>
              </a:rPr>
              <a:t>X</a:t>
            </a:r>
            <a:endParaRPr lang="he-IL" sz="1200" dirty="0">
              <a:solidFill>
                <a:prstClr val="black"/>
              </a:solidFill>
              <a:latin typeface="Perpetua"/>
              <a:cs typeface="Aharoni" panose="02010803020104030203" pitchFamily="2" charset="-79"/>
            </a:endParaRPr>
          </a:p>
        </p:txBody>
      </p:sp>
      <p:sp>
        <p:nvSpPr>
          <p:cNvPr id="40" name="TextBox 39">
            <a:extLst>
              <a:ext uri="{FF2B5EF4-FFF2-40B4-BE49-F238E27FC236}">
                <a16:creationId xmlns:a16="http://schemas.microsoft.com/office/drawing/2014/main" id="{B30AEC28-C83F-4767-97F6-46581CF5C7A2}"/>
              </a:ext>
            </a:extLst>
          </p:cNvPr>
          <p:cNvSpPr txBox="1"/>
          <p:nvPr/>
        </p:nvSpPr>
        <p:spPr>
          <a:xfrm>
            <a:off x="6855206" y="5656340"/>
            <a:ext cx="216024" cy="276999"/>
          </a:xfrm>
          <a:prstGeom prst="rect">
            <a:avLst/>
          </a:prstGeom>
          <a:noFill/>
        </p:spPr>
        <p:txBody>
          <a:bodyPr wrap="square" rtlCol="1">
            <a:spAutoFit/>
          </a:bodyPr>
          <a:lstStyle/>
          <a:p>
            <a:pPr algn="l" defTabSz="685800" rtl="0"/>
            <a:r>
              <a:rPr lang="en-US" sz="1200" dirty="0">
                <a:solidFill>
                  <a:prstClr val="black"/>
                </a:solidFill>
                <a:latin typeface="Perpetua"/>
              </a:rPr>
              <a:t>X</a:t>
            </a:r>
            <a:endParaRPr lang="he-IL" sz="1200" dirty="0">
              <a:solidFill>
                <a:prstClr val="black"/>
              </a:solidFill>
              <a:latin typeface="Perpetua"/>
              <a:cs typeface="Aharoni" panose="02010803020104030203" pitchFamily="2" charset="-79"/>
            </a:endParaRPr>
          </a:p>
        </p:txBody>
      </p:sp>
      <p:sp>
        <p:nvSpPr>
          <p:cNvPr id="41" name="TextBox 40">
            <a:extLst>
              <a:ext uri="{FF2B5EF4-FFF2-40B4-BE49-F238E27FC236}">
                <a16:creationId xmlns:a16="http://schemas.microsoft.com/office/drawing/2014/main" id="{00C9BF30-5682-46C8-A648-5D302CD2E2E8}"/>
              </a:ext>
            </a:extLst>
          </p:cNvPr>
          <p:cNvSpPr txBox="1"/>
          <p:nvPr/>
        </p:nvSpPr>
        <p:spPr>
          <a:xfrm>
            <a:off x="7946931" y="4294085"/>
            <a:ext cx="1026114" cy="307777"/>
          </a:xfrm>
          <a:prstGeom prst="rect">
            <a:avLst/>
          </a:prstGeom>
        </p:spPr>
        <p:style>
          <a:lnRef idx="1">
            <a:schemeClr val="accent6"/>
          </a:lnRef>
          <a:fillRef idx="2">
            <a:schemeClr val="accent6"/>
          </a:fillRef>
          <a:effectRef idx="1">
            <a:schemeClr val="accent6"/>
          </a:effectRef>
          <a:fontRef idx="minor">
            <a:schemeClr val="dk1"/>
          </a:fontRef>
        </p:style>
        <p:txBody>
          <a:bodyPr wrap="square" rtlCol="1">
            <a:spAutoFit/>
          </a:bodyPr>
          <a:lstStyle/>
          <a:p>
            <a:pPr algn="l" defTabSz="685800" rtl="0"/>
            <a:r>
              <a:rPr lang="he-IL" sz="1400" b="1" dirty="0">
                <a:solidFill>
                  <a:prstClr val="black"/>
                </a:solidFill>
                <a:latin typeface="Perpetua"/>
                <a:cs typeface="Aharoni" panose="02010803020104030203" pitchFamily="2" charset="-79"/>
              </a:rPr>
              <a:t>היצע מצרפי</a:t>
            </a:r>
          </a:p>
        </p:txBody>
      </p:sp>
      <p:cxnSp>
        <p:nvCxnSpPr>
          <p:cNvPr id="51" name="Straight Connector 50">
            <a:extLst>
              <a:ext uri="{FF2B5EF4-FFF2-40B4-BE49-F238E27FC236}">
                <a16:creationId xmlns:a16="http://schemas.microsoft.com/office/drawing/2014/main" id="{2C0FBCE2-97B7-4666-8D08-B0E4A8B50354}"/>
              </a:ext>
            </a:extLst>
          </p:cNvPr>
          <p:cNvCxnSpPr>
            <a:cxnSpLocks/>
          </p:cNvCxnSpPr>
          <p:nvPr/>
        </p:nvCxnSpPr>
        <p:spPr>
          <a:xfrm flipV="1">
            <a:off x="3224655" y="5581555"/>
            <a:ext cx="5938808" cy="43952"/>
          </a:xfrm>
          <a:prstGeom prst="line">
            <a:avLst/>
          </a:prstGeom>
          <a:ln w="1905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AD8D3936-0F70-4AC5-B09F-2F1E42BD8943}"/>
              </a:ext>
            </a:extLst>
          </p:cNvPr>
          <p:cNvSpPr txBox="1"/>
          <p:nvPr/>
        </p:nvSpPr>
        <p:spPr>
          <a:xfrm>
            <a:off x="7031507" y="5456330"/>
            <a:ext cx="216024" cy="276999"/>
          </a:xfrm>
          <a:prstGeom prst="rect">
            <a:avLst/>
          </a:prstGeom>
          <a:noFill/>
        </p:spPr>
        <p:txBody>
          <a:bodyPr wrap="square" rtlCol="1">
            <a:spAutoFit/>
          </a:bodyPr>
          <a:lstStyle/>
          <a:p>
            <a:pPr algn="l" defTabSz="685800" rtl="0"/>
            <a:r>
              <a:rPr lang="en-US" sz="1200" dirty="0">
                <a:solidFill>
                  <a:prstClr val="black"/>
                </a:solidFill>
                <a:latin typeface="Perpetua"/>
              </a:rPr>
              <a:t>2</a:t>
            </a:r>
            <a:endParaRPr lang="he-IL" sz="1200" dirty="0">
              <a:solidFill>
                <a:prstClr val="black"/>
              </a:solidFill>
              <a:latin typeface="Perpetua"/>
              <a:cs typeface="Aharoni" panose="02010803020104030203" pitchFamily="2" charset="-79"/>
            </a:endParaRPr>
          </a:p>
        </p:txBody>
      </p:sp>
    </p:spTree>
    <p:extLst>
      <p:ext uri="{BB962C8B-B14F-4D97-AF65-F5344CB8AC3E}">
        <p14:creationId xmlns:p14="http://schemas.microsoft.com/office/powerpoint/2010/main" val="2141427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0"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00"/>
                                        <p:tgtEl>
                                          <p:spTgt spid="30"/>
                                        </p:tgtEl>
                                      </p:cBhvr>
                                    </p:animEffect>
                                  </p:childTnLst>
                                </p:cTn>
                              </p:par>
                              <p:par>
                                <p:cTn id="36" presetID="10" presetClass="entr" presetSubtype="0" fill="hold"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fade">
                                      <p:cBhvr>
                                        <p:cTn id="41" dur="500"/>
                                        <p:tgtEl>
                                          <p:spTgt spid="3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fade">
                                      <p:cBhvr>
                                        <p:cTn id="44" dur="500"/>
                                        <p:tgtEl>
                                          <p:spTgt spid="3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500"/>
                                        <p:tgtEl>
                                          <p:spTgt spid="41"/>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51"/>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p:bldP spid="35" grpId="0"/>
      <p:bldP spid="36" grpId="0"/>
      <p:bldP spid="37" grpId="0"/>
      <p:bldP spid="38" grpId="0"/>
      <p:bldP spid="39" grpId="0"/>
      <p:bldP spid="40" grpId="0"/>
      <p:bldP spid="41" grpId="0" animBg="1"/>
      <p:bldP spid="5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7688162" y="400725"/>
            <a:ext cx="4233672" cy="458933"/>
          </a:xfrm>
        </p:spPr>
        <p:txBody>
          <a:bodyPr>
            <a:normAutofit fontScale="90000"/>
          </a:bodyPr>
          <a:lstStyle/>
          <a:p>
            <a:pPr algn="r"/>
            <a:r>
              <a:rPr lang="he-IL" b="1" dirty="0">
                <a:cs typeface="+mn-cs"/>
              </a:rPr>
              <a:t>שאלה 4</a:t>
            </a:r>
          </a:p>
        </p:txBody>
      </p:sp>
      <p:sp>
        <p:nvSpPr>
          <p:cNvPr id="6" name="Content Placeholder 5"/>
          <p:cNvSpPr>
            <a:spLocks noGrp="1"/>
          </p:cNvSpPr>
          <p:nvPr>
            <p:ph sz="quarter" idx="1"/>
          </p:nvPr>
        </p:nvSpPr>
        <p:spPr>
          <a:xfrm>
            <a:off x="8344274" y="2407465"/>
            <a:ext cx="1885950" cy="1513823"/>
          </a:xfrm>
        </p:spPr>
        <p:txBody>
          <a:bodyPr>
            <a:normAutofit fontScale="92500" lnSpcReduction="20000"/>
          </a:bodyPr>
          <a:lstStyle/>
          <a:p>
            <a:pPr marL="0" indent="0" algn="r" rtl="1">
              <a:lnSpc>
                <a:spcPct val="170000"/>
              </a:lnSpc>
              <a:buNone/>
            </a:pPr>
            <a:r>
              <a:rPr lang="he-IL" sz="1600" dirty="0">
                <a:latin typeface="David" pitchFamily="34" charset="-79"/>
                <a:cs typeface="David" pitchFamily="34" charset="-79"/>
              </a:rPr>
              <a:t>פירמה 1:</a:t>
            </a:r>
            <a:r>
              <a:rPr lang="en-US" sz="1600" dirty="0">
                <a:latin typeface="David" pitchFamily="34" charset="-79"/>
                <a:cs typeface="David" pitchFamily="34" charset="-79"/>
              </a:rPr>
              <a:t>  MC=x+2 </a:t>
            </a:r>
          </a:p>
          <a:p>
            <a:pPr marL="0" indent="0" algn="r" rtl="1">
              <a:buNone/>
            </a:pPr>
            <a:endParaRPr lang="he-IL" sz="1600" dirty="0">
              <a:latin typeface="David" pitchFamily="34" charset="-79"/>
              <a:cs typeface="David" pitchFamily="34" charset="-79"/>
            </a:endParaRPr>
          </a:p>
          <a:p>
            <a:pPr marL="0" indent="0" algn="r" rtl="1">
              <a:buNone/>
            </a:pPr>
            <a:r>
              <a:rPr lang="he-IL" sz="1600" dirty="0">
                <a:latin typeface="David" pitchFamily="34" charset="-79"/>
                <a:cs typeface="David" pitchFamily="34" charset="-79"/>
              </a:rPr>
              <a:t>פירמה 2: </a:t>
            </a:r>
            <a:r>
              <a:rPr lang="en-US" sz="1600" dirty="0">
                <a:latin typeface="David" pitchFamily="34" charset="-79"/>
                <a:cs typeface="David" pitchFamily="34" charset="-79"/>
              </a:rPr>
              <a:t>MC=0.33x+2</a:t>
            </a:r>
          </a:p>
          <a:p>
            <a:pPr marL="0" indent="0" algn="r" rtl="1">
              <a:buNone/>
            </a:pPr>
            <a:endParaRPr lang="he-IL" sz="1600" dirty="0">
              <a:latin typeface="David" pitchFamily="34" charset="-79"/>
              <a:cs typeface="David" pitchFamily="34" charset="-79"/>
            </a:endParaRPr>
          </a:p>
          <a:p>
            <a:pPr marL="0" indent="0" algn="r" rtl="1">
              <a:buNone/>
            </a:pPr>
            <a:r>
              <a:rPr lang="he-IL" sz="1600" dirty="0">
                <a:latin typeface="David" pitchFamily="34" charset="-79"/>
                <a:cs typeface="David" pitchFamily="34" charset="-79"/>
              </a:rPr>
              <a:t>פירמה 3: </a:t>
            </a:r>
            <a:r>
              <a:rPr lang="en-US" sz="1600" dirty="0">
                <a:latin typeface="David" pitchFamily="34" charset="-79"/>
                <a:cs typeface="David" pitchFamily="34" charset="-79"/>
              </a:rPr>
              <a:t>MC=0.5x+2</a:t>
            </a:r>
            <a:endParaRPr lang="he-IL" sz="1600" dirty="0">
              <a:latin typeface="David" pitchFamily="34" charset="-79"/>
              <a:cs typeface="David" pitchFamily="34" charset="-79"/>
            </a:endParaRPr>
          </a:p>
        </p:txBody>
      </p:sp>
      <p:sp>
        <p:nvSpPr>
          <p:cNvPr id="2" name="Slide Number Placeholder 1"/>
          <p:cNvSpPr>
            <a:spLocks noGrp="1"/>
          </p:cNvSpPr>
          <p:nvPr>
            <p:ph type="sldNum" sz="quarter" idx="12"/>
          </p:nvPr>
        </p:nvSpPr>
        <p:spPr>
          <a:xfrm>
            <a:off x="2662054" y="5619577"/>
            <a:ext cx="342900" cy="342900"/>
          </a:xfrm>
        </p:spPr>
        <p:txBody>
          <a:bodyPr/>
          <a:lstStyle/>
          <a:p>
            <a:pPr defTabSz="685800" rtl="0"/>
            <a:fld id="{CBF92039-BB9D-4F46-95B7-49E6508B93B0}" type="slidenum">
              <a:rPr lang="en-US">
                <a:solidFill>
                  <a:prstClr val="black">
                    <a:tint val="75000"/>
                  </a:prstClr>
                </a:solidFill>
                <a:latin typeface="Franklin Gothic Book"/>
              </a:rPr>
              <a:pPr defTabSz="685800" rtl="0"/>
              <a:t>43</a:t>
            </a:fld>
            <a:endParaRPr lang="en-US">
              <a:solidFill>
                <a:prstClr val="black">
                  <a:tint val="75000"/>
                </a:prstClr>
              </a:solidFill>
              <a:latin typeface="Franklin Gothic Book"/>
            </a:endParaRPr>
          </a:p>
        </p:txBody>
      </p:sp>
      <p:sp>
        <p:nvSpPr>
          <p:cNvPr id="3" name="Rectangle 2">
            <a:extLst>
              <a:ext uri="{FF2B5EF4-FFF2-40B4-BE49-F238E27FC236}">
                <a16:creationId xmlns:a16="http://schemas.microsoft.com/office/drawing/2014/main" id="{971E276B-834E-4194-9D1C-13172EBA7CB4}"/>
              </a:ext>
            </a:extLst>
          </p:cNvPr>
          <p:cNvSpPr/>
          <p:nvPr/>
        </p:nvSpPr>
        <p:spPr>
          <a:xfrm>
            <a:off x="4655610" y="1356986"/>
            <a:ext cx="5821856" cy="350289"/>
          </a:xfrm>
          <a:prstGeom prst="rect">
            <a:avLst/>
          </a:prstGeom>
        </p:spPr>
        <p:txBody>
          <a:bodyPr wrap="square">
            <a:spAutoFit/>
          </a:bodyPr>
          <a:lstStyle/>
          <a:p>
            <a:pPr defTabSz="685800">
              <a:lnSpc>
                <a:spcPct val="150000"/>
              </a:lnSpc>
            </a:pPr>
            <a:r>
              <a:rPr lang="he-IL" sz="1275" dirty="0">
                <a:solidFill>
                  <a:prstClr val="black"/>
                </a:solidFill>
                <a:latin typeface="Arial" panose="020B0604020202020204" pitchFamily="34" charset="0"/>
                <a:cs typeface="Arial" panose="020B0604020202020204" pitchFamily="34" charset="0"/>
              </a:rPr>
              <a:t>הציגו (ביטוי אלגברי ותרשים) את עקומת ההיצע של כל פירמה ואת ההיצע המצרפי בענף.</a:t>
            </a:r>
            <a:endParaRPr lang="en-US" sz="1275" dirty="0">
              <a:solidFill>
                <a:prstClr val="black"/>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7ADFF390-A152-46A2-AE92-A97DB572E0BC}"/>
              </a:ext>
            </a:extLst>
          </p:cNvPr>
          <p:cNvSpPr/>
          <p:nvPr/>
        </p:nvSpPr>
        <p:spPr>
          <a:xfrm>
            <a:off x="2613557" y="571929"/>
            <a:ext cx="7978854" cy="407869"/>
          </a:xfrm>
          <a:prstGeom prst="rect">
            <a:avLst/>
          </a:prstGeom>
        </p:spPr>
        <p:txBody>
          <a:bodyPr wrap="square">
            <a:spAutoFit/>
          </a:bodyPr>
          <a:lstStyle/>
          <a:p>
            <a:pPr defTabSz="685800">
              <a:lnSpc>
                <a:spcPct val="170000"/>
              </a:lnSpc>
            </a:pPr>
            <a:r>
              <a:rPr lang="he-IL" sz="1400" dirty="0">
                <a:solidFill>
                  <a:prstClr val="black"/>
                </a:solidFill>
                <a:latin typeface="Arial" panose="020B0604020202020204" pitchFamily="34" charset="0"/>
                <a:cs typeface="Arial" panose="020B0604020202020204" pitchFamily="34" charset="0"/>
              </a:rPr>
              <a:t>להלן נתוני הוצאה שולית של פירמות שונות בענף </a:t>
            </a:r>
            <a:r>
              <a:rPr lang="en-US" sz="1400" dirty="0">
                <a:solidFill>
                  <a:prstClr val="black"/>
                </a:solidFill>
                <a:latin typeface="Arial" panose="020B0604020202020204" pitchFamily="34" charset="0"/>
                <a:cs typeface="Arial" panose="020B0604020202020204" pitchFamily="34" charset="0"/>
              </a:rPr>
              <a:t>X</a:t>
            </a:r>
            <a:r>
              <a:rPr lang="he-IL" sz="1400" dirty="0">
                <a:solidFill>
                  <a:prstClr val="black"/>
                </a:solidFill>
                <a:latin typeface="Arial" panose="020B0604020202020204" pitchFamily="34" charset="0"/>
                <a:cs typeface="Arial" panose="020B0604020202020204" pitchFamily="34" charset="0"/>
              </a:rPr>
              <a:t>, הניחו כי לפירמות אין הוצאות פרט להוצאות אלה. </a:t>
            </a:r>
            <a:endParaRPr lang="en-US" sz="1400" dirty="0">
              <a:solidFill>
                <a:prstClr val="black"/>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1AC9AD5-DE03-4771-9895-9B7628DD29F3}"/>
              </a:ext>
            </a:extLst>
          </p:cNvPr>
          <p:cNvSpPr txBox="1"/>
          <p:nvPr/>
        </p:nvSpPr>
        <p:spPr>
          <a:xfrm>
            <a:off x="6733738" y="2535253"/>
            <a:ext cx="954424" cy="338554"/>
          </a:xfrm>
          <a:prstGeom prst="rect">
            <a:avLst/>
          </a:prstGeom>
          <a:noFill/>
        </p:spPr>
        <p:txBody>
          <a:bodyPr wrap="square" rtlCol="0">
            <a:spAutoFit/>
          </a:bodyPr>
          <a:lstStyle/>
          <a:p>
            <a:pPr algn="l" defTabSz="685800" rtl="0"/>
            <a:r>
              <a:rPr lang="en-US" sz="1600" dirty="0">
                <a:solidFill>
                  <a:prstClr val="black"/>
                </a:solidFill>
                <a:latin typeface="Perpetua"/>
              </a:rPr>
              <a:t>X</a:t>
            </a:r>
            <a:r>
              <a:rPr lang="he-IL" sz="1600" dirty="0">
                <a:solidFill>
                  <a:prstClr val="black"/>
                </a:solidFill>
                <a:latin typeface="Perpetua"/>
                <a:cs typeface="Aharoni" panose="02010803020104030203" pitchFamily="2" charset="-79"/>
              </a:rPr>
              <a:t>1</a:t>
            </a:r>
            <a:r>
              <a:rPr lang="en-US" sz="1600" dirty="0">
                <a:solidFill>
                  <a:prstClr val="black"/>
                </a:solidFill>
                <a:latin typeface="Perpetua"/>
              </a:rPr>
              <a:t>=P-2</a:t>
            </a:r>
            <a:endParaRPr lang="x-none" sz="1600" dirty="0">
              <a:solidFill>
                <a:prstClr val="black"/>
              </a:solidFill>
              <a:latin typeface="Perpetua"/>
            </a:endParaRPr>
          </a:p>
        </p:txBody>
      </p:sp>
      <p:sp>
        <p:nvSpPr>
          <p:cNvPr id="8" name="TextBox 7">
            <a:extLst>
              <a:ext uri="{FF2B5EF4-FFF2-40B4-BE49-F238E27FC236}">
                <a16:creationId xmlns:a16="http://schemas.microsoft.com/office/drawing/2014/main" id="{642F7AB9-7EC7-4542-A2F6-D10E850D3992}"/>
              </a:ext>
            </a:extLst>
          </p:cNvPr>
          <p:cNvSpPr txBox="1"/>
          <p:nvPr/>
        </p:nvSpPr>
        <p:spPr>
          <a:xfrm>
            <a:off x="6506700" y="3015965"/>
            <a:ext cx="1478445" cy="338554"/>
          </a:xfrm>
          <a:prstGeom prst="rect">
            <a:avLst/>
          </a:prstGeom>
          <a:noFill/>
        </p:spPr>
        <p:txBody>
          <a:bodyPr wrap="square" rtlCol="0">
            <a:spAutoFit/>
          </a:bodyPr>
          <a:lstStyle/>
          <a:p>
            <a:pPr algn="l" defTabSz="685800" rtl="0"/>
            <a:r>
              <a:rPr lang="en-US" sz="1600" dirty="0">
                <a:solidFill>
                  <a:prstClr val="black"/>
                </a:solidFill>
                <a:latin typeface="Perpetua"/>
              </a:rPr>
              <a:t>X</a:t>
            </a:r>
            <a:r>
              <a:rPr lang="he-IL" sz="1600" dirty="0">
                <a:solidFill>
                  <a:prstClr val="black"/>
                </a:solidFill>
                <a:latin typeface="Perpetua"/>
                <a:cs typeface="Aharoni" panose="02010803020104030203" pitchFamily="2" charset="-79"/>
              </a:rPr>
              <a:t>2</a:t>
            </a:r>
            <a:r>
              <a:rPr lang="en-US" sz="1600" dirty="0">
                <a:solidFill>
                  <a:prstClr val="black"/>
                </a:solidFill>
                <a:latin typeface="Perpetua"/>
              </a:rPr>
              <a:t>=</a:t>
            </a:r>
            <a:r>
              <a:rPr lang="he-IL" sz="1600" dirty="0">
                <a:solidFill>
                  <a:prstClr val="black"/>
                </a:solidFill>
                <a:latin typeface="Perpetua"/>
                <a:cs typeface="Aharoni" panose="02010803020104030203" pitchFamily="2" charset="-79"/>
              </a:rPr>
              <a:t>)</a:t>
            </a:r>
            <a:r>
              <a:rPr lang="en-US" sz="1600" dirty="0">
                <a:solidFill>
                  <a:prstClr val="black"/>
                </a:solidFill>
                <a:latin typeface="Perpetua"/>
              </a:rPr>
              <a:t>P-2</a:t>
            </a:r>
            <a:r>
              <a:rPr lang="he-IL" sz="1600" dirty="0">
                <a:solidFill>
                  <a:prstClr val="black"/>
                </a:solidFill>
                <a:latin typeface="Perpetua"/>
                <a:cs typeface="Aharoni" panose="02010803020104030203" pitchFamily="2" charset="-79"/>
              </a:rPr>
              <a:t>(</a:t>
            </a:r>
            <a:r>
              <a:rPr lang="en-US" sz="1600" dirty="0">
                <a:solidFill>
                  <a:prstClr val="black"/>
                </a:solidFill>
                <a:latin typeface="Perpetua"/>
              </a:rPr>
              <a:t>/0.33</a:t>
            </a:r>
            <a:endParaRPr lang="x-none" sz="1600" dirty="0">
              <a:solidFill>
                <a:prstClr val="black"/>
              </a:solidFill>
              <a:latin typeface="Perpetua"/>
            </a:endParaRPr>
          </a:p>
        </p:txBody>
      </p:sp>
      <p:sp>
        <p:nvSpPr>
          <p:cNvPr id="9" name="TextBox 8">
            <a:extLst>
              <a:ext uri="{FF2B5EF4-FFF2-40B4-BE49-F238E27FC236}">
                <a16:creationId xmlns:a16="http://schemas.microsoft.com/office/drawing/2014/main" id="{9E125982-8ECD-42AB-9624-973BEB432D38}"/>
              </a:ext>
            </a:extLst>
          </p:cNvPr>
          <p:cNvSpPr txBox="1"/>
          <p:nvPr/>
        </p:nvSpPr>
        <p:spPr>
          <a:xfrm>
            <a:off x="6602984" y="3505376"/>
            <a:ext cx="1285875" cy="338554"/>
          </a:xfrm>
          <a:prstGeom prst="rect">
            <a:avLst/>
          </a:prstGeom>
          <a:noFill/>
        </p:spPr>
        <p:txBody>
          <a:bodyPr wrap="square" rtlCol="0">
            <a:spAutoFit/>
          </a:bodyPr>
          <a:lstStyle/>
          <a:p>
            <a:pPr algn="l" defTabSz="685800" rtl="0"/>
            <a:r>
              <a:rPr lang="en-US" sz="1600" dirty="0">
                <a:solidFill>
                  <a:prstClr val="black"/>
                </a:solidFill>
                <a:latin typeface="Perpetua"/>
              </a:rPr>
              <a:t>X</a:t>
            </a:r>
            <a:r>
              <a:rPr lang="he-IL" sz="1600" dirty="0">
                <a:solidFill>
                  <a:prstClr val="black"/>
                </a:solidFill>
                <a:latin typeface="Perpetua"/>
                <a:cs typeface="Aharoni" panose="02010803020104030203" pitchFamily="2" charset="-79"/>
              </a:rPr>
              <a:t>3</a:t>
            </a:r>
            <a:r>
              <a:rPr lang="en-US" sz="1600" dirty="0">
                <a:solidFill>
                  <a:prstClr val="black"/>
                </a:solidFill>
                <a:latin typeface="Perpetua"/>
              </a:rPr>
              <a:t>=</a:t>
            </a:r>
            <a:r>
              <a:rPr lang="he-IL" sz="1600" dirty="0">
                <a:solidFill>
                  <a:prstClr val="black"/>
                </a:solidFill>
                <a:latin typeface="Perpetua"/>
                <a:cs typeface="Aharoni" panose="02010803020104030203" pitchFamily="2" charset="-79"/>
              </a:rPr>
              <a:t>)</a:t>
            </a:r>
            <a:r>
              <a:rPr lang="en-US" sz="1600" dirty="0">
                <a:solidFill>
                  <a:prstClr val="black"/>
                </a:solidFill>
                <a:latin typeface="Perpetua"/>
              </a:rPr>
              <a:t>P-2</a:t>
            </a:r>
            <a:r>
              <a:rPr lang="he-IL" sz="1600" dirty="0">
                <a:solidFill>
                  <a:prstClr val="black"/>
                </a:solidFill>
                <a:latin typeface="Perpetua"/>
                <a:cs typeface="Aharoni" panose="02010803020104030203" pitchFamily="2" charset="-79"/>
              </a:rPr>
              <a:t>(</a:t>
            </a:r>
            <a:r>
              <a:rPr lang="en-US" sz="1600" dirty="0">
                <a:solidFill>
                  <a:prstClr val="black"/>
                </a:solidFill>
                <a:latin typeface="Perpetua"/>
              </a:rPr>
              <a:t>/0.5</a:t>
            </a:r>
            <a:endParaRPr lang="x-none" sz="1600" dirty="0">
              <a:solidFill>
                <a:prstClr val="black"/>
              </a:solidFill>
              <a:latin typeface="Perpetua"/>
            </a:endParaRPr>
          </a:p>
        </p:txBody>
      </p:sp>
      <p:sp>
        <p:nvSpPr>
          <p:cNvPr id="11" name="TextBox 10">
            <a:extLst>
              <a:ext uri="{FF2B5EF4-FFF2-40B4-BE49-F238E27FC236}">
                <a16:creationId xmlns:a16="http://schemas.microsoft.com/office/drawing/2014/main" id="{94C05B26-47D4-4705-9969-E71CDD91B89A}"/>
              </a:ext>
            </a:extLst>
          </p:cNvPr>
          <p:cNvSpPr txBox="1"/>
          <p:nvPr/>
        </p:nvSpPr>
        <p:spPr>
          <a:xfrm>
            <a:off x="1932421" y="1793502"/>
            <a:ext cx="3408948" cy="338554"/>
          </a:xfrm>
          <a:prstGeom prst="rect">
            <a:avLst/>
          </a:prstGeom>
          <a:noFill/>
          <a:ln>
            <a:solidFill>
              <a:schemeClr val="accent1">
                <a:lumMod val="60000"/>
                <a:lumOff val="40000"/>
              </a:schemeClr>
            </a:solidFill>
          </a:ln>
        </p:spPr>
        <p:txBody>
          <a:bodyPr wrap="square" rtlCol="0">
            <a:spAutoFit/>
          </a:bodyPr>
          <a:lstStyle/>
          <a:p>
            <a:pPr algn="l" defTabSz="685800" rtl="0"/>
            <a:r>
              <a:rPr lang="he-IL" sz="1600" dirty="0">
                <a:solidFill>
                  <a:prstClr val="black"/>
                </a:solidFill>
                <a:latin typeface="Perpetua"/>
                <a:cs typeface="Aharoni" panose="02010803020104030203" pitchFamily="2" charset="-79"/>
              </a:rPr>
              <a:t>מצרפי</a:t>
            </a:r>
            <a:r>
              <a:rPr lang="en-US" sz="1600" dirty="0">
                <a:solidFill>
                  <a:prstClr val="black"/>
                </a:solidFill>
                <a:latin typeface="Perpetua"/>
              </a:rPr>
              <a:t>X(P)=</a:t>
            </a:r>
            <a:r>
              <a:rPr lang="en-US" sz="1600" dirty="0">
                <a:solidFill>
                  <a:prstClr val="black"/>
                </a:solidFill>
                <a:highlight>
                  <a:srgbClr val="00FF00"/>
                </a:highlight>
                <a:latin typeface="Perpetua"/>
              </a:rPr>
              <a:t>X</a:t>
            </a:r>
            <a:r>
              <a:rPr lang="he-IL" sz="1600" dirty="0">
                <a:solidFill>
                  <a:prstClr val="black"/>
                </a:solidFill>
                <a:highlight>
                  <a:srgbClr val="00FF00"/>
                </a:highlight>
                <a:latin typeface="Perpetua"/>
                <a:cs typeface="Aharoni" panose="02010803020104030203" pitchFamily="2" charset="-79"/>
              </a:rPr>
              <a:t>1</a:t>
            </a:r>
            <a:r>
              <a:rPr lang="en-US" sz="1600" dirty="0">
                <a:solidFill>
                  <a:prstClr val="black"/>
                </a:solidFill>
                <a:highlight>
                  <a:srgbClr val="00FF00"/>
                </a:highlight>
                <a:latin typeface="Perpetua"/>
              </a:rPr>
              <a:t>(P)</a:t>
            </a:r>
            <a:r>
              <a:rPr lang="en-US" sz="1600" dirty="0">
                <a:solidFill>
                  <a:prstClr val="black"/>
                </a:solidFill>
                <a:latin typeface="Perpetua"/>
              </a:rPr>
              <a:t>+ </a:t>
            </a:r>
            <a:r>
              <a:rPr lang="en-US" sz="1600" dirty="0">
                <a:solidFill>
                  <a:prstClr val="black"/>
                </a:solidFill>
                <a:highlight>
                  <a:srgbClr val="00FFFF"/>
                </a:highlight>
                <a:latin typeface="Perpetua"/>
              </a:rPr>
              <a:t>X</a:t>
            </a:r>
            <a:r>
              <a:rPr lang="he-IL" sz="1600" dirty="0">
                <a:solidFill>
                  <a:prstClr val="black"/>
                </a:solidFill>
                <a:highlight>
                  <a:srgbClr val="00FFFF"/>
                </a:highlight>
                <a:latin typeface="Perpetua"/>
                <a:cs typeface="Aharoni" panose="02010803020104030203" pitchFamily="2" charset="-79"/>
              </a:rPr>
              <a:t>2</a:t>
            </a:r>
            <a:r>
              <a:rPr lang="en-US" sz="1600" dirty="0">
                <a:solidFill>
                  <a:prstClr val="black"/>
                </a:solidFill>
                <a:highlight>
                  <a:srgbClr val="00FFFF"/>
                </a:highlight>
                <a:latin typeface="Perpetua"/>
              </a:rPr>
              <a:t>(P</a:t>
            </a:r>
            <a:r>
              <a:rPr lang="en-US" sz="1600" dirty="0">
                <a:solidFill>
                  <a:prstClr val="black"/>
                </a:solidFill>
                <a:latin typeface="Perpetua"/>
              </a:rPr>
              <a:t>)</a:t>
            </a:r>
            <a:r>
              <a:rPr lang="he-IL" sz="1600" dirty="0">
                <a:solidFill>
                  <a:prstClr val="black"/>
                </a:solidFill>
                <a:latin typeface="Perpetua"/>
                <a:cs typeface="Aharoni" panose="02010803020104030203" pitchFamily="2" charset="-79"/>
              </a:rPr>
              <a:t> </a:t>
            </a:r>
            <a:r>
              <a:rPr lang="en-US" sz="1600" dirty="0">
                <a:solidFill>
                  <a:prstClr val="black"/>
                </a:solidFill>
                <a:latin typeface="Perpetua"/>
              </a:rPr>
              <a:t>+ </a:t>
            </a:r>
            <a:r>
              <a:rPr lang="en-US" sz="1600" dirty="0">
                <a:solidFill>
                  <a:prstClr val="black"/>
                </a:solidFill>
                <a:highlight>
                  <a:srgbClr val="C0C0C0"/>
                </a:highlight>
                <a:latin typeface="Perpetua"/>
              </a:rPr>
              <a:t>X</a:t>
            </a:r>
            <a:r>
              <a:rPr lang="he-IL" sz="1600" b="1" dirty="0">
                <a:solidFill>
                  <a:prstClr val="black"/>
                </a:solidFill>
                <a:highlight>
                  <a:srgbClr val="C0C0C0"/>
                </a:highlight>
                <a:latin typeface="Perpetua"/>
                <a:cs typeface="Aharoni" panose="02010803020104030203" pitchFamily="2" charset="-79"/>
              </a:rPr>
              <a:t>3</a:t>
            </a:r>
            <a:r>
              <a:rPr lang="en-US" sz="1600" dirty="0">
                <a:solidFill>
                  <a:prstClr val="black"/>
                </a:solidFill>
                <a:highlight>
                  <a:srgbClr val="C0C0C0"/>
                </a:highlight>
                <a:latin typeface="Perpetua"/>
              </a:rPr>
              <a:t>(P)</a:t>
            </a:r>
            <a:endParaRPr lang="x-none" sz="1600" dirty="0">
              <a:solidFill>
                <a:prstClr val="black"/>
              </a:solidFill>
              <a:highlight>
                <a:srgbClr val="C0C0C0"/>
              </a:highlight>
              <a:latin typeface="Perpetua"/>
            </a:endParaRPr>
          </a:p>
        </p:txBody>
      </p:sp>
      <p:sp>
        <p:nvSpPr>
          <p:cNvPr id="12" name="TextBox 11">
            <a:extLst>
              <a:ext uri="{FF2B5EF4-FFF2-40B4-BE49-F238E27FC236}">
                <a16:creationId xmlns:a16="http://schemas.microsoft.com/office/drawing/2014/main" id="{17180245-9CAE-45B0-B50D-406A6E6AB391}"/>
              </a:ext>
            </a:extLst>
          </p:cNvPr>
          <p:cNvSpPr txBox="1"/>
          <p:nvPr/>
        </p:nvSpPr>
        <p:spPr>
          <a:xfrm>
            <a:off x="2204491" y="2106095"/>
            <a:ext cx="2393156" cy="338554"/>
          </a:xfrm>
          <a:prstGeom prst="rect">
            <a:avLst/>
          </a:prstGeom>
          <a:noFill/>
        </p:spPr>
        <p:txBody>
          <a:bodyPr wrap="square" rtlCol="0">
            <a:spAutoFit/>
          </a:bodyPr>
          <a:lstStyle/>
          <a:p>
            <a:pPr algn="l" defTabSz="685800" rtl="0"/>
            <a:r>
              <a:rPr lang="he-IL" sz="1350" dirty="0">
                <a:solidFill>
                  <a:prstClr val="black"/>
                </a:solidFill>
                <a:latin typeface="Perpetua"/>
                <a:cs typeface="Aharoni" panose="02010803020104030203" pitchFamily="2" charset="-79"/>
              </a:rPr>
              <a:t>מצרפי</a:t>
            </a:r>
            <a:r>
              <a:rPr lang="en-US" sz="1600" dirty="0">
                <a:solidFill>
                  <a:prstClr val="black"/>
                </a:solidFill>
                <a:latin typeface="Perpetua"/>
              </a:rPr>
              <a:t>X</a:t>
            </a:r>
            <a:r>
              <a:rPr lang="en-US" sz="1350" dirty="0">
                <a:solidFill>
                  <a:prstClr val="black"/>
                </a:solidFill>
                <a:latin typeface="Perpetua"/>
              </a:rPr>
              <a:t>= </a:t>
            </a:r>
            <a:r>
              <a:rPr lang="en-US" sz="1600" dirty="0">
                <a:solidFill>
                  <a:prstClr val="black"/>
                </a:solidFill>
                <a:highlight>
                  <a:srgbClr val="00FF00"/>
                </a:highlight>
                <a:latin typeface="Perpetua"/>
              </a:rPr>
              <a:t>P-2</a:t>
            </a:r>
            <a:r>
              <a:rPr lang="en-US" sz="1600" dirty="0">
                <a:solidFill>
                  <a:prstClr val="black"/>
                </a:solidFill>
                <a:latin typeface="Perpetua"/>
              </a:rPr>
              <a:t> + </a:t>
            </a:r>
            <a:r>
              <a:rPr lang="en-US" sz="1600" dirty="0">
                <a:solidFill>
                  <a:prstClr val="black"/>
                </a:solidFill>
                <a:highlight>
                  <a:srgbClr val="00FFFF"/>
                </a:highlight>
                <a:latin typeface="Perpetua"/>
              </a:rPr>
              <a:t>X</a:t>
            </a:r>
            <a:r>
              <a:rPr lang="he-IL" sz="1600" dirty="0">
                <a:solidFill>
                  <a:prstClr val="black"/>
                </a:solidFill>
                <a:highlight>
                  <a:srgbClr val="00FFFF"/>
                </a:highlight>
                <a:latin typeface="Perpetua"/>
                <a:cs typeface="Aharoni" panose="02010803020104030203" pitchFamily="2" charset="-79"/>
              </a:rPr>
              <a:t>2</a:t>
            </a:r>
            <a:r>
              <a:rPr lang="en-US" sz="1600" dirty="0">
                <a:solidFill>
                  <a:prstClr val="black"/>
                </a:solidFill>
                <a:latin typeface="Perpetua"/>
              </a:rPr>
              <a:t>+ </a:t>
            </a:r>
            <a:r>
              <a:rPr lang="en-US" sz="1600" dirty="0">
                <a:solidFill>
                  <a:prstClr val="black"/>
                </a:solidFill>
                <a:highlight>
                  <a:srgbClr val="C0C0C0"/>
                </a:highlight>
                <a:latin typeface="Perpetua"/>
              </a:rPr>
              <a:t>X</a:t>
            </a:r>
            <a:r>
              <a:rPr lang="he-IL" sz="1600" dirty="0">
                <a:solidFill>
                  <a:prstClr val="black"/>
                </a:solidFill>
                <a:highlight>
                  <a:srgbClr val="C0C0C0"/>
                </a:highlight>
                <a:latin typeface="Perpetua"/>
                <a:cs typeface="Aharoni" panose="02010803020104030203" pitchFamily="2" charset="-79"/>
              </a:rPr>
              <a:t>3</a:t>
            </a:r>
            <a:endParaRPr lang="x-none" sz="1350" dirty="0">
              <a:solidFill>
                <a:prstClr val="black"/>
              </a:solidFill>
              <a:highlight>
                <a:srgbClr val="C0C0C0"/>
              </a:highlight>
              <a:latin typeface="Perpetua"/>
            </a:endParaRPr>
          </a:p>
        </p:txBody>
      </p:sp>
      <p:sp>
        <p:nvSpPr>
          <p:cNvPr id="13" name="TextBox 12">
            <a:extLst>
              <a:ext uri="{FF2B5EF4-FFF2-40B4-BE49-F238E27FC236}">
                <a16:creationId xmlns:a16="http://schemas.microsoft.com/office/drawing/2014/main" id="{CE44D264-0F73-4A6F-8341-304ACE7494DB}"/>
              </a:ext>
            </a:extLst>
          </p:cNvPr>
          <p:cNvSpPr txBox="1"/>
          <p:nvPr/>
        </p:nvSpPr>
        <p:spPr>
          <a:xfrm>
            <a:off x="2180529" y="2451224"/>
            <a:ext cx="3670057" cy="338554"/>
          </a:xfrm>
          <a:prstGeom prst="rect">
            <a:avLst/>
          </a:prstGeom>
          <a:noFill/>
        </p:spPr>
        <p:txBody>
          <a:bodyPr wrap="square" rtlCol="0">
            <a:spAutoFit/>
          </a:bodyPr>
          <a:lstStyle/>
          <a:p>
            <a:pPr algn="l" defTabSz="685800" rtl="0"/>
            <a:r>
              <a:rPr lang="he-IL" sz="1350" dirty="0">
                <a:solidFill>
                  <a:prstClr val="black"/>
                </a:solidFill>
                <a:latin typeface="Perpetua"/>
                <a:cs typeface="Aharoni" panose="02010803020104030203" pitchFamily="2" charset="-79"/>
              </a:rPr>
              <a:t>מצרפי</a:t>
            </a:r>
            <a:r>
              <a:rPr lang="en-US" sz="1600" dirty="0">
                <a:solidFill>
                  <a:prstClr val="black"/>
                </a:solidFill>
                <a:latin typeface="Perpetua"/>
              </a:rPr>
              <a:t>X= </a:t>
            </a:r>
            <a:r>
              <a:rPr lang="en-US" sz="1600" dirty="0">
                <a:solidFill>
                  <a:prstClr val="black"/>
                </a:solidFill>
                <a:highlight>
                  <a:srgbClr val="00FF00"/>
                </a:highlight>
                <a:latin typeface="Perpetua"/>
              </a:rPr>
              <a:t>P-2</a:t>
            </a:r>
            <a:r>
              <a:rPr lang="en-US" sz="1600" dirty="0">
                <a:solidFill>
                  <a:prstClr val="black"/>
                </a:solidFill>
                <a:latin typeface="Perpetua"/>
              </a:rPr>
              <a:t> + </a:t>
            </a:r>
            <a:r>
              <a:rPr lang="he-IL" sz="1600" dirty="0">
                <a:solidFill>
                  <a:prstClr val="black"/>
                </a:solidFill>
                <a:latin typeface="Perpetua"/>
                <a:cs typeface="Aharoni" panose="02010803020104030203" pitchFamily="2" charset="-79"/>
              </a:rPr>
              <a:t>)</a:t>
            </a:r>
            <a:r>
              <a:rPr lang="en-US" sz="1600" dirty="0">
                <a:solidFill>
                  <a:prstClr val="black"/>
                </a:solidFill>
                <a:highlight>
                  <a:srgbClr val="00FFFF"/>
                </a:highlight>
                <a:latin typeface="Perpetua"/>
              </a:rPr>
              <a:t>P-2</a:t>
            </a:r>
            <a:r>
              <a:rPr lang="he-IL" sz="1600" dirty="0">
                <a:solidFill>
                  <a:prstClr val="black"/>
                </a:solidFill>
                <a:highlight>
                  <a:srgbClr val="00FFFF"/>
                </a:highlight>
                <a:latin typeface="Perpetua"/>
                <a:cs typeface="Aharoni" panose="02010803020104030203" pitchFamily="2" charset="-79"/>
              </a:rPr>
              <a:t>(</a:t>
            </a:r>
            <a:r>
              <a:rPr lang="en-US" sz="1600" dirty="0">
                <a:solidFill>
                  <a:prstClr val="black"/>
                </a:solidFill>
                <a:highlight>
                  <a:srgbClr val="00FFFF"/>
                </a:highlight>
                <a:latin typeface="Perpetua"/>
              </a:rPr>
              <a:t>/0.33 </a:t>
            </a:r>
            <a:r>
              <a:rPr lang="en-US" sz="1600" dirty="0">
                <a:solidFill>
                  <a:prstClr val="black"/>
                </a:solidFill>
                <a:latin typeface="Perpetua"/>
              </a:rPr>
              <a:t>+ </a:t>
            </a:r>
            <a:r>
              <a:rPr lang="he-IL" sz="1600" dirty="0">
                <a:solidFill>
                  <a:prstClr val="black"/>
                </a:solidFill>
                <a:highlight>
                  <a:srgbClr val="C0C0C0"/>
                </a:highlight>
                <a:latin typeface="Perpetua"/>
                <a:cs typeface="Aharoni" panose="02010803020104030203" pitchFamily="2" charset="-79"/>
              </a:rPr>
              <a:t>)</a:t>
            </a:r>
            <a:r>
              <a:rPr lang="en-US" sz="1600" dirty="0">
                <a:solidFill>
                  <a:prstClr val="black"/>
                </a:solidFill>
                <a:highlight>
                  <a:srgbClr val="C0C0C0"/>
                </a:highlight>
                <a:latin typeface="Perpetua"/>
              </a:rPr>
              <a:t>P-2</a:t>
            </a:r>
            <a:r>
              <a:rPr lang="he-IL" sz="1600" dirty="0">
                <a:solidFill>
                  <a:prstClr val="black"/>
                </a:solidFill>
                <a:highlight>
                  <a:srgbClr val="C0C0C0"/>
                </a:highlight>
                <a:latin typeface="Perpetua"/>
                <a:cs typeface="Aharoni" panose="02010803020104030203" pitchFamily="2" charset="-79"/>
              </a:rPr>
              <a:t>(</a:t>
            </a:r>
            <a:r>
              <a:rPr lang="en-US" sz="1600" dirty="0">
                <a:solidFill>
                  <a:prstClr val="black"/>
                </a:solidFill>
                <a:highlight>
                  <a:srgbClr val="C0C0C0"/>
                </a:highlight>
                <a:latin typeface="Perpetua"/>
              </a:rPr>
              <a:t>/0.5</a:t>
            </a:r>
            <a:endParaRPr lang="x-none" sz="1350" dirty="0">
              <a:solidFill>
                <a:prstClr val="black"/>
              </a:solidFill>
              <a:highlight>
                <a:srgbClr val="C0C0C0"/>
              </a:highlight>
              <a:latin typeface="Perpetua"/>
            </a:endParaRPr>
          </a:p>
        </p:txBody>
      </p:sp>
      <p:sp>
        <p:nvSpPr>
          <p:cNvPr id="14" name="TextBox 13">
            <a:extLst>
              <a:ext uri="{FF2B5EF4-FFF2-40B4-BE49-F238E27FC236}">
                <a16:creationId xmlns:a16="http://schemas.microsoft.com/office/drawing/2014/main" id="{AF681259-5093-452D-A773-EF419DBF3A6A}"/>
              </a:ext>
            </a:extLst>
          </p:cNvPr>
          <p:cNvSpPr txBox="1"/>
          <p:nvPr/>
        </p:nvSpPr>
        <p:spPr>
          <a:xfrm>
            <a:off x="2271953" y="2840088"/>
            <a:ext cx="3967041" cy="338554"/>
          </a:xfrm>
          <a:prstGeom prst="rect">
            <a:avLst/>
          </a:prstGeom>
          <a:noFill/>
        </p:spPr>
        <p:txBody>
          <a:bodyPr wrap="square" rtlCol="0">
            <a:spAutoFit/>
          </a:bodyPr>
          <a:lstStyle/>
          <a:p>
            <a:pPr algn="l" defTabSz="685800" rtl="0"/>
            <a:r>
              <a:rPr lang="he-IL" sz="1600" dirty="0">
                <a:solidFill>
                  <a:prstClr val="black"/>
                </a:solidFill>
                <a:latin typeface="Perpetua"/>
                <a:cs typeface="Aharoni" panose="02010803020104030203" pitchFamily="2" charset="-79"/>
              </a:rPr>
              <a:t>מצרפי</a:t>
            </a:r>
            <a:r>
              <a:rPr lang="en-US" sz="1600" dirty="0">
                <a:solidFill>
                  <a:prstClr val="black"/>
                </a:solidFill>
                <a:latin typeface="Perpetua"/>
              </a:rPr>
              <a:t>X= P-2 + </a:t>
            </a:r>
            <a:r>
              <a:rPr lang="he-IL" sz="1600" dirty="0">
                <a:solidFill>
                  <a:prstClr val="black"/>
                </a:solidFill>
                <a:latin typeface="Perpetua"/>
                <a:cs typeface="Aharoni" panose="02010803020104030203" pitchFamily="2" charset="-79"/>
              </a:rPr>
              <a:t>3</a:t>
            </a:r>
            <a:r>
              <a:rPr lang="en-US" sz="1600" dirty="0">
                <a:solidFill>
                  <a:prstClr val="black"/>
                </a:solidFill>
                <a:latin typeface="Perpetua"/>
              </a:rPr>
              <a:t>P-6+ </a:t>
            </a:r>
            <a:r>
              <a:rPr lang="en-US" sz="1600" dirty="0">
                <a:solidFill>
                  <a:prstClr val="black"/>
                </a:solidFill>
                <a:latin typeface="Perpetua"/>
                <a:cs typeface="Aharoni" panose="02010803020104030203" pitchFamily="2" charset="-79"/>
              </a:rPr>
              <a:t>2</a:t>
            </a:r>
            <a:r>
              <a:rPr lang="en-US" sz="1600" dirty="0">
                <a:solidFill>
                  <a:prstClr val="black"/>
                </a:solidFill>
                <a:latin typeface="Perpetua"/>
              </a:rPr>
              <a:t>P-4</a:t>
            </a:r>
            <a:endParaRPr lang="x-none" sz="1600" dirty="0">
              <a:solidFill>
                <a:prstClr val="black"/>
              </a:solidFill>
              <a:latin typeface="Perpetua"/>
            </a:endParaRPr>
          </a:p>
        </p:txBody>
      </p:sp>
      <p:sp>
        <p:nvSpPr>
          <p:cNvPr id="16" name="TextBox 15">
            <a:extLst>
              <a:ext uri="{FF2B5EF4-FFF2-40B4-BE49-F238E27FC236}">
                <a16:creationId xmlns:a16="http://schemas.microsoft.com/office/drawing/2014/main" id="{6895F59B-44B6-452F-A956-F1933AFD2D21}"/>
              </a:ext>
            </a:extLst>
          </p:cNvPr>
          <p:cNvSpPr txBox="1"/>
          <p:nvPr/>
        </p:nvSpPr>
        <p:spPr>
          <a:xfrm>
            <a:off x="2105237" y="3344705"/>
            <a:ext cx="1398458" cy="338554"/>
          </a:xfrm>
          <a:prstGeom prst="rect">
            <a:avLst/>
          </a:prstGeom>
          <a:noFill/>
        </p:spPr>
        <p:txBody>
          <a:bodyPr wrap="square" rtlCol="0">
            <a:spAutoFit/>
          </a:bodyPr>
          <a:lstStyle/>
          <a:p>
            <a:pPr algn="l" defTabSz="685800" rtl="0"/>
            <a:r>
              <a:rPr lang="he-IL" sz="1350" dirty="0">
                <a:solidFill>
                  <a:prstClr val="black"/>
                </a:solidFill>
                <a:latin typeface="Perpetua"/>
                <a:cs typeface="Aharoni" panose="02010803020104030203" pitchFamily="2" charset="-79"/>
              </a:rPr>
              <a:t>מצרפי</a:t>
            </a:r>
            <a:r>
              <a:rPr lang="en-US" sz="1600" dirty="0">
                <a:solidFill>
                  <a:prstClr val="black"/>
                </a:solidFill>
                <a:latin typeface="Perpetua"/>
              </a:rPr>
              <a:t>X= 6P-12</a:t>
            </a:r>
            <a:endParaRPr lang="x-none" sz="1350" dirty="0">
              <a:solidFill>
                <a:prstClr val="black"/>
              </a:solidFill>
              <a:latin typeface="Perpetua"/>
            </a:endParaRPr>
          </a:p>
        </p:txBody>
      </p:sp>
      <p:sp>
        <p:nvSpPr>
          <p:cNvPr id="17" name="TextBox 16">
            <a:extLst>
              <a:ext uri="{FF2B5EF4-FFF2-40B4-BE49-F238E27FC236}">
                <a16:creationId xmlns:a16="http://schemas.microsoft.com/office/drawing/2014/main" id="{2125AFAA-0DEA-4DB5-BFB7-9CA96811F761}"/>
              </a:ext>
            </a:extLst>
          </p:cNvPr>
          <p:cNvSpPr txBox="1"/>
          <p:nvPr/>
        </p:nvSpPr>
        <p:spPr>
          <a:xfrm>
            <a:off x="3596807" y="3310712"/>
            <a:ext cx="1852312" cy="338554"/>
          </a:xfrm>
          <a:prstGeom prst="rect">
            <a:avLst/>
          </a:prstGeom>
          <a:solidFill>
            <a:srgbClr val="CCECFF"/>
          </a:solidFill>
          <a:ln>
            <a:solidFill>
              <a:srgbClr val="C00000"/>
            </a:solidFill>
          </a:ln>
        </p:spPr>
        <p:txBody>
          <a:bodyPr wrap="square" rtlCol="0">
            <a:spAutoFit/>
          </a:bodyPr>
          <a:lstStyle/>
          <a:p>
            <a:pPr algn="l" defTabSz="685800" rtl="0"/>
            <a:r>
              <a:rPr lang="en-US" sz="1600" dirty="0">
                <a:solidFill>
                  <a:prstClr val="black"/>
                </a:solidFill>
                <a:latin typeface="Perpetua"/>
              </a:rPr>
              <a:t>P = (1/6)*X +2</a:t>
            </a:r>
            <a:endParaRPr lang="x-none" sz="1600" dirty="0">
              <a:solidFill>
                <a:prstClr val="black"/>
              </a:solidFill>
              <a:latin typeface="Perpetua"/>
            </a:endParaRPr>
          </a:p>
        </p:txBody>
      </p:sp>
      <p:sp>
        <p:nvSpPr>
          <p:cNvPr id="7" name="TextBox 6">
            <a:extLst>
              <a:ext uri="{FF2B5EF4-FFF2-40B4-BE49-F238E27FC236}">
                <a16:creationId xmlns:a16="http://schemas.microsoft.com/office/drawing/2014/main" id="{AD0DD7DC-E1ED-4F1A-B74B-418E1F406052}"/>
              </a:ext>
            </a:extLst>
          </p:cNvPr>
          <p:cNvSpPr txBox="1"/>
          <p:nvPr/>
        </p:nvSpPr>
        <p:spPr>
          <a:xfrm>
            <a:off x="7433037" y="2001117"/>
            <a:ext cx="2913375" cy="300082"/>
          </a:xfrm>
          <a:prstGeom prst="rect">
            <a:avLst/>
          </a:prstGeom>
          <a:solidFill>
            <a:schemeClr val="accent1">
              <a:lumMod val="20000"/>
              <a:lumOff val="80000"/>
            </a:schemeClr>
          </a:solidFill>
        </p:spPr>
        <p:txBody>
          <a:bodyPr wrap="square" rtlCol="0">
            <a:spAutoFit/>
          </a:bodyPr>
          <a:lstStyle/>
          <a:p>
            <a:pPr defTabSz="685800"/>
            <a:r>
              <a:rPr lang="he-IL" sz="1350" dirty="0">
                <a:solidFill>
                  <a:prstClr val="black"/>
                </a:solidFill>
                <a:latin typeface="Perpetua"/>
                <a:cs typeface="Aharoni" panose="02010803020104030203" pitchFamily="2" charset="-79"/>
              </a:rPr>
              <a:t>כמה יחידות תייצר</a:t>
            </a:r>
            <a:r>
              <a:rPr lang="en-US" sz="1350" dirty="0">
                <a:solidFill>
                  <a:prstClr val="black"/>
                </a:solidFill>
                <a:latin typeface="Perpetua"/>
              </a:rPr>
              <a:t> </a:t>
            </a:r>
            <a:r>
              <a:rPr lang="he-IL" sz="1350" dirty="0">
                <a:solidFill>
                  <a:prstClr val="black"/>
                </a:solidFill>
                <a:latin typeface="Perpetua"/>
                <a:cs typeface="Aharoni" panose="02010803020104030203" pitchFamily="2" charset="-79"/>
              </a:rPr>
              <a:t>פירמה</a:t>
            </a:r>
            <a:r>
              <a:rPr lang="en-US" sz="1350" dirty="0">
                <a:solidFill>
                  <a:prstClr val="black"/>
                </a:solidFill>
                <a:latin typeface="Perpetua"/>
              </a:rPr>
              <a:t> </a:t>
            </a:r>
            <a:r>
              <a:rPr lang="en-US" sz="1350" dirty="0" err="1">
                <a:solidFill>
                  <a:prstClr val="black"/>
                </a:solidFill>
                <a:latin typeface="Perpetua"/>
              </a:rPr>
              <a:t>i</a:t>
            </a:r>
            <a:r>
              <a:rPr lang="en-US" sz="1350" dirty="0">
                <a:solidFill>
                  <a:prstClr val="black"/>
                </a:solidFill>
                <a:latin typeface="Perpetua"/>
              </a:rPr>
              <a:t> </a:t>
            </a:r>
            <a:r>
              <a:rPr lang="he-IL" sz="1350" dirty="0">
                <a:solidFill>
                  <a:prstClr val="black"/>
                </a:solidFill>
                <a:latin typeface="Perpetua"/>
                <a:cs typeface="Aharoni" panose="02010803020104030203" pitchFamily="2" charset="-79"/>
              </a:rPr>
              <a:t> לכל </a:t>
            </a:r>
            <a:r>
              <a:rPr lang="en-US" sz="1350" dirty="0">
                <a:solidFill>
                  <a:prstClr val="black"/>
                </a:solidFill>
                <a:latin typeface="Perpetua"/>
              </a:rPr>
              <a:t>P</a:t>
            </a:r>
            <a:r>
              <a:rPr lang="he-IL" sz="1350" dirty="0">
                <a:solidFill>
                  <a:prstClr val="black"/>
                </a:solidFill>
                <a:latin typeface="Perpetua"/>
                <a:cs typeface="Aharoni" panose="02010803020104030203" pitchFamily="2" charset="-79"/>
              </a:rPr>
              <a:t> בשוק?</a:t>
            </a:r>
            <a:endParaRPr lang="x-none" sz="1350" dirty="0">
              <a:solidFill>
                <a:prstClr val="black"/>
              </a:solidFill>
              <a:latin typeface="Perpetua"/>
            </a:endParaRPr>
          </a:p>
        </p:txBody>
      </p:sp>
      <p:sp>
        <p:nvSpPr>
          <p:cNvPr id="18" name="TextBox 17">
            <a:extLst>
              <a:ext uri="{FF2B5EF4-FFF2-40B4-BE49-F238E27FC236}">
                <a16:creationId xmlns:a16="http://schemas.microsoft.com/office/drawing/2014/main" id="{01EA89D9-9A8A-4976-86C0-B9A6C722C186}"/>
              </a:ext>
            </a:extLst>
          </p:cNvPr>
          <p:cNvSpPr txBox="1"/>
          <p:nvPr/>
        </p:nvSpPr>
        <p:spPr>
          <a:xfrm>
            <a:off x="6456040" y="2074171"/>
            <a:ext cx="1138315" cy="300082"/>
          </a:xfrm>
          <a:prstGeom prst="rect">
            <a:avLst/>
          </a:prstGeom>
          <a:solidFill>
            <a:schemeClr val="accent1">
              <a:lumMod val="20000"/>
              <a:lumOff val="80000"/>
            </a:schemeClr>
          </a:solidFill>
        </p:spPr>
        <p:txBody>
          <a:bodyPr wrap="square" rtlCol="0">
            <a:spAutoFit/>
          </a:bodyPr>
          <a:lstStyle/>
          <a:p>
            <a:pPr algn="l" defTabSz="685800" rtl="0"/>
            <a:r>
              <a:rPr lang="en-US" sz="1350" dirty="0">
                <a:solidFill>
                  <a:prstClr val="black"/>
                </a:solidFill>
                <a:latin typeface="Perpetua"/>
              </a:rPr>
              <a:t>P </a:t>
            </a:r>
            <a:r>
              <a:rPr lang="he-IL" sz="1350" dirty="0">
                <a:solidFill>
                  <a:prstClr val="black"/>
                </a:solidFill>
                <a:latin typeface="Perpetua"/>
                <a:cs typeface="Aharoni" panose="02010803020104030203" pitchFamily="2" charset="-79"/>
              </a:rPr>
              <a:t>=</a:t>
            </a:r>
            <a:r>
              <a:rPr lang="en-US" sz="1350" dirty="0">
                <a:solidFill>
                  <a:prstClr val="black"/>
                </a:solidFill>
                <a:latin typeface="Perpetua"/>
              </a:rPr>
              <a:t> MC (Xi)</a:t>
            </a:r>
            <a:endParaRPr lang="x-none" sz="1350" dirty="0">
              <a:solidFill>
                <a:prstClr val="black"/>
              </a:solidFill>
              <a:latin typeface="Perpetua"/>
            </a:endParaRPr>
          </a:p>
        </p:txBody>
      </p:sp>
      <p:sp>
        <p:nvSpPr>
          <p:cNvPr id="19" name="Arrow: Right 18">
            <a:extLst>
              <a:ext uri="{FF2B5EF4-FFF2-40B4-BE49-F238E27FC236}">
                <a16:creationId xmlns:a16="http://schemas.microsoft.com/office/drawing/2014/main" id="{CCD48436-4181-43AF-B9CF-46CEAEFB91C4}"/>
              </a:ext>
            </a:extLst>
          </p:cNvPr>
          <p:cNvSpPr/>
          <p:nvPr/>
        </p:nvSpPr>
        <p:spPr>
          <a:xfrm>
            <a:off x="3400174" y="3437462"/>
            <a:ext cx="151805" cy="1147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x-none" sz="1350">
              <a:solidFill>
                <a:prstClr val="white"/>
              </a:solidFill>
              <a:latin typeface="Perpetua"/>
            </a:endParaRPr>
          </a:p>
        </p:txBody>
      </p:sp>
      <p:sp>
        <p:nvSpPr>
          <p:cNvPr id="20" name="Arrow: Left 19">
            <a:extLst>
              <a:ext uri="{FF2B5EF4-FFF2-40B4-BE49-F238E27FC236}">
                <a16:creationId xmlns:a16="http://schemas.microsoft.com/office/drawing/2014/main" id="{9BB020EE-E207-4AEA-BB97-FCDE0D6A40BF}"/>
              </a:ext>
            </a:extLst>
          </p:cNvPr>
          <p:cNvSpPr/>
          <p:nvPr/>
        </p:nvSpPr>
        <p:spPr>
          <a:xfrm>
            <a:off x="7930493" y="2664640"/>
            <a:ext cx="171450" cy="10082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x-none" sz="1350">
              <a:solidFill>
                <a:prstClr val="white"/>
              </a:solidFill>
              <a:latin typeface="Perpetua"/>
            </a:endParaRPr>
          </a:p>
        </p:txBody>
      </p:sp>
      <p:sp>
        <p:nvSpPr>
          <p:cNvPr id="21" name="Arrow: Left 20">
            <a:extLst>
              <a:ext uri="{FF2B5EF4-FFF2-40B4-BE49-F238E27FC236}">
                <a16:creationId xmlns:a16="http://schemas.microsoft.com/office/drawing/2014/main" id="{9488BA7F-8A4A-4F93-9316-C4CCDA689F42}"/>
              </a:ext>
            </a:extLst>
          </p:cNvPr>
          <p:cNvSpPr/>
          <p:nvPr/>
        </p:nvSpPr>
        <p:spPr>
          <a:xfrm>
            <a:off x="7972843" y="3178683"/>
            <a:ext cx="171450" cy="10082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x-none" sz="1350">
              <a:solidFill>
                <a:prstClr val="white"/>
              </a:solidFill>
              <a:latin typeface="Perpetua"/>
            </a:endParaRPr>
          </a:p>
        </p:txBody>
      </p:sp>
      <p:sp>
        <p:nvSpPr>
          <p:cNvPr id="22" name="Arrow: Left 21">
            <a:extLst>
              <a:ext uri="{FF2B5EF4-FFF2-40B4-BE49-F238E27FC236}">
                <a16:creationId xmlns:a16="http://schemas.microsoft.com/office/drawing/2014/main" id="{16690464-4E0C-4BB1-A6FD-65653790D196}"/>
              </a:ext>
            </a:extLst>
          </p:cNvPr>
          <p:cNvSpPr/>
          <p:nvPr/>
        </p:nvSpPr>
        <p:spPr>
          <a:xfrm>
            <a:off x="8019904" y="3629566"/>
            <a:ext cx="171450" cy="10082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x-none" sz="1350">
              <a:solidFill>
                <a:prstClr val="white"/>
              </a:solidFill>
              <a:latin typeface="Perpetua"/>
            </a:endParaRPr>
          </a:p>
        </p:txBody>
      </p:sp>
      <p:cxnSp>
        <p:nvCxnSpPr>
          <p:cNvPr id="23" name="מחבר חץ ישר 7">
            <a:extLst>
              <a:ext uri="{FF2B5EF4-FFF2-40B4-BE49-F238E27FC236}">
                <a16:creationId xmlns:a16="http://schemas.microsoft.com/office/drawing/2014/main" id="{B27B8885-05CE-4E67-9D21-6EBF3AFF9F46}"/>
              </a:ext>
            </a:extLst>
          </p:cNvPr>
          <p:cNvCxnSpPr/>
          <p:nvPr/>
        </p:nvCxnSpPr>
        <p:spPr>
          <a:xfrm>
            <a:off x="3222802" y="5758535"/>
            <a:ext cx="1134126"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4" name="מחבר חץ ישר 8">
            <a:extLst>
              <a:ext uri="{FF2B5EF4-FFF2-40B4-BE49-F238E27FC236}">
                <a16:creationId xmlns:a16="http://schemas.microsoft.com/office/drawing/2014/main" id="{8268013C-647A-44CA-A564-6B99BC39716B}"/>
              </a:ext>
            </a:extLst>
          </p:cNvPr>
          <p:cNvCxnSpPr/>
          <p:nvPr/>
        </p:nvCxnSpPr>
        <p:spPr>
          <a:xfrm flipV="1">
            <a:off x="3222802" y="4294085"/>
            <a:ext cx="0" cy="146445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5" name="מחבר חץ ישר 10">
            <a:extLst>
              <a:ext uri="{FF2B5EF4-FFF2-40B4-BE49-F238E27FC236}">
                <a16:creationId xmlns:a16="http://schemas.microsoft.com/office/drawing/2014/main" id="{97A8E694-C9C3-4D47-ACB8-D86D3FD2D905}"/>
              </a:ext>
            </a:extLst>
          </p:cNvPr>
          <p:cNvCxnSpPr/>
          <p:nvPr/>
        </p:nvCxnSpPr>
        <p:spPr>
          <a:xfrm>
            <a:off x="4471228" y="5758535"/>
            <a:ext cx="1134126"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6" name="מחבר חץ ישר 11">
            <a:extLst>
              <a:ext uri="{FF2B5EF4-FFF2-40B4-BE49-F238E27FC236}">
                <a16:creationId xmlns:a16="http://schemas.microsoft.com/office/drawing/2014/main" id="{79037E2D-FB0B-4887-9AC2-2D7B05F26724}"/>
              </a:ext>
            </a:extLst>
          </p:cNvPr>
          <p:cNvCxnSpPr/>
          <p:nvPr/>
        </p:nvCxnSpPr>
        <p:spPr>
          <a:xfrm flipV="1">
            <a:off x="4471228" y="4294085"/>
            <a:ext cx="0" cy="146445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7" name="מחבר חץ ישר 12">
            <a:extLst>
              <a:ext uri="{FF2B5EF4-FFF2-40B4-BE49-F238E27FC236}">
                <a16:creationId xmlns:a16="http://schemas.microsoft.com/office/drawing/2014/main" id="{152E9864-98C5-48A1-9713-50D425C98961}"/>
              </a:ext>
            </a:extLst>
          </p:cNvPr>
          <p:cNvCxnSpPr/>
          <p:nvPr/>
        </p:nvCxnSpPr>
        <p:spPr>
          <a:xfrm>
            <a:off x="5761084" y="5758535"/>
            <a:ext cx="1134126"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8" name="מחבר חץ ישר 13">
            <a:extLst>
              <a:ext uri="{FF2B5EF4-FFF2-40B4-BE49-F238E27FC236}">
                <a16:creationId xmlns:a16="http://schemas.microsoft.com/office/drawing/2014/main" id="{C3D848D3-E86F-472F-A59D-2C7AC842611E}"/>
              </a:ext>
            </a:extLst>
          </p:cNvPr>
          <p:cNvCxnSpPr/>
          <p:nvPr/>
        </p:nvCxnSpPr>
        <p:spPr>
          <a:xfrm flipV="1">
            <a:off x="5761084" y="4294085"/>
            <a:ext cx="0" cy="146445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9" name="מחבר חץ ישר 14">
            <a:extLst>
              <a:ext uri="{FF2B5EF4-FFF2-40B4-BE49-F238E27FC236}">
                <a16:creationId xmlns:a16="http://schemas.microsoft.com/office/drawing/2014/main" id="{8D9DB9B2-A2C3-4CEB-8ED4-0947358B9694}"/>
              </a:ext>
            </a:extLst>
          </p:cNvPr>
          <p:cNvCxnSpPr/>
          <p:nvPr/>
        </p:nvCxnSpPr>
        <p:spPr>
          <a:xfrm>
            <a:off x="7219246" y="5758535"/>
            <a:ext cx="1944216"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0" name="מחבר חץ ישר 15">
            <a:extLst>
              <a:ext uri="{FF2B5EF4-FFF2-40B4-BE49-F238E27FC236}">
                <a16:creationId xmlns:a16="http://schemas.microsoft.com/office/drawing/2014/main" id="{8481DA8C-7A34-420B-970B-9C44CB00B75E}"/>
              </a:ext>
            </a:extLst>
          </p:cNvPr>
          <p:cNvCxnSpPr/>
          <p:nvPr/>
        </p:nvCxnSpPr>
        <p:spPr>
          <a:xfrm flipV="1">
            <a:off x="7219246" y="4294085"/>
            <a:ext cx="0" cy="146445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60089F43-8B1F-4663-BE71-E7CCFD55B5FB}"/>
              </a:ext>
            </a:extLst>
          </p:cNvPr>
          <p:cNvSpPr txBox="1"/>
          <p:nvPr/>
        </p:nvSpPr>
        <p:spPr>
          <a:xfrm>
            <a:off x="3438826" y="4221435"/>
            <a:ext cx="788363" cy="300082"/>
          </a:xfrm>
          <a:prstGeom prst="rect">
            <a:avLst/>
          </a:prstGeom>
          <a:solidFill>
            <a:schemeClr val="bg2">
              <a:lumMod val="90000"/>
            </a:schemeClr>
          </a:solidFill>
        </p:spPr>
        <p:style>
          <a:lnRef idx="1">
            <a:schemeClr val="dk1"/>
          </a:lnRef>
          <a:fillRef idx="2">
            <a:schemeClr val="dk1"/>
          </a:fillRef>
          <a:effectRef idx="1">
            <a:schemeClr val="dk1"/>
          </a:effectRef>
          <a:fontRef idx="minor">
            <a:schemeClr val="dk1"/>
          </a:fontRef>
        </p:style>
        <p:txBody>
          <a:bodyPr wrap="square" rtlCol="1">
            <a:spAutoFit/>
          </a:bodyPr>
          <a:lstStyle/>
          <a:p>
            <a:pPr algn="l" defTabSz="685800" rtl="0"/>
            <a:r>
              <a:rPr lang="he-IL" sz="1350" b="1" dirty="0">
                <a:solidFill>
                  <a:prstClr val="black"/>
                </a:solidFill>
                <a:latin typeface="Perpetua"/>
                <a:cs typeface="Aharoni" panose="02010803020104030203" pitchFamily="2" charset="-79"/>
              </a:rPr>
              <a:t>פירמה  1</a:t>
            </a:r>
          </a:p>
        </p:txBody>
      </p:sp>
      <p:sp>
        <p:nvSpPr>
          <p:cNvPr id="32" name="TextBox 31">
            <a:extLst>
              <a:ext uri="{FF2B5EF4-FFF2-40B4-BE49-F238E27FC236}">
                <a16:creationId xmlns:a16="http://schemas.microsoft.com/office/drawing/2014/main" id="{D23DBE07-B1D9-4DFE-BC67-485915EA149F}"/>
              </a:ext>
            </a:extLst>
          </p:cNvPr>
          <p:cNvSpPr txBox="1"/>
          <p:nvPr/>
        </p:nvSpPr>
        <p:spPr>
          <a:xfrm>
            <a:off x="4639291" y="4221435"/>
            <a:ext cx="702078" cy="300082"/>
          </a:xfrm>
          <a:prstGeom prst="rect">
            <a:avLst/>
          </a:prstGeom>
          <a:solidFill>
            <a:schemeClr val="bg2">
              <a:lumMod val="90000"/>
            </a:schemeClr>
          </a:solidFill>
        </p:spPr>
        <p:style>
          <a:lnRef idx="1">
            <a:schemeClr val="dk1"/>
          </a:lnRef>
          <a:fillRef idx="2">
            <a:schemeClr val="dk1"/>
          </a:fillRef>
          <a:effectRef idx="1">
            <a:schemeClr val="dk1"/>
          </a:effectRef>
          <a:fontRef idx="minor">
            <a:schemeClr val="dk1"/>
          </a:fontRef>
        </p:style>
        <p:txBody>
          <a:bodyPr wrap="square" rtlCol="1">
            <a:spAutoFit/>
          </a:bodyPr>
          <a:lstStyle/>
          <a:p>
            <a:pPr algn="l" defTabSz="685800" rtl="0"/>
            <a:r>
              <a:rPr lang="he-IL" sz="1350" b="1" dirty="0">
                <a:solidFill>
                  <a:prstClr val="black"/>
                </a:solidFill>
                <a:latin typeface="Perpetua"/>
                <a:cs typeface="Aharoni" panose="02010803020104030203" pitchFamily="2" charset="-79"/>
              </a:rPr>
              <a:t>פירמה 2</a:t>
            </a:r>
          </a:p>
        </p:txBody>
      </p:sp>
      <p:sp>
        <p:nvSpPr>
          <p:cNvPr id="33" name="TextBox 32">
            <a:extLst>
              <a:ext uri="{FF2B5EF4-FFF2-40B4-BE49-F238E27FC236}">
                <a16:creationId xmlns:a16="http://schemas.microsoft.com/office/drawing/2014/main" id="{03C163E1-6F4F-4F37-AD28-614DE7B02C9D}"/>
              </a:ext>
            </a:extLst>
          </p:cNvPr>
          <p:cNvSpPr txBox="1"/>
          <p:nvPr/>
        </p:nvSpPr>
        <p:spPr>
          <a:xfrm>
            <a:off x="5947253" y="4221435"/>
            <a:ext cx="804198" cy="300082"/>
          </a:xfrm>
          <a:prstGeom prst="rect">
            <a:avLst/>
          </a:prstGeom>
          <a:solidFill>
            <a:schemeClr val="bg2">
              <a:lumMod val="90000"/>
            </a:schemeClr>
          </a:solidFill>
        </p:spPr>
        <p:style>
          <a:lnRef idx="1">
            <a:schemeClr val="dk1"/>
          </a:lnRef>
          <a:fillRef idx="2">
            <a:schemeClr val="dk1"/>
          </a:fillRef>
          <a:effectRef idx="1">
            <a:schemeClr val="dk1"/>
          </a:effectRef>
          <a:fontRef idx="minor">
            <a:schemeClr val="dk1"/>
          </a:fontRef>
        </p:style>
        <p:txBody>
          <a:bodyPr wrap="square" rtlCol="1">
            <a:spAutoFit/>
          </a:bodyPr>
          <a:lstStyle/>
          <a:p>
            <a:pPr algn="l" defTabSz="685800" rtl="0"/>
            <a:r>
              <a:rPr lang="he-IL" sz="1350" b="1" dirty="0">
                <a:solidFill>
                  <a:prstClr val="black"/>
                </a:solidFill>
                <a:latin typeface="Perpetua"/>
                <a:cs typeface="Aharoni" panose="02010803020104030203" pitchFamily="2" charset="-79"/>
              </a:rPr>
              <a:t>פירמה  3</a:t>
            </a:r>
          </a:p>
        </p:txBody>
      </p:sp>
      <p:sp>
        <p:nvSpPr>
          <p:cNvPr id="34" name="TextBox 33">
            <a:extLst>
              <a:ext uri="{FF2B5EF4-FFF2-40B4-BE49-F238E27FC236}">
                <a16:creationId xmlns:a16="http://schemas.microsoft.com/office/drawing/2014/main" id="{F53E553F-9D0F-43EF-B761-EBB0CF109766}"/>
              </a:ext>
            </a:extLst>
          </p:cNvPr>
          <p:cNvSpPr txBox="1"/>
          <p:nvPr/>
        </p:nvSpPr>
        <p:spPr>
          <a:xfrm>
            <a:off x="2986469" y="4155586"/>
            <a:ext cx="216024" cy="276999"/>
          </a:xfrm>
          <a:prstGeom prst="rect">
            <a:avLst/>
          </a:prstGeom>
          <a:noFill/>
        </p:spPr>
        <p:txBody>
          <a:bodyPr wrap="square" rtlCol="1">
            <a:spAutoFit/>
          </a:bodyPr>
          <a:lstStyle/>
          <a:p>
            <a:pPr algn="l" defTabSz="685800" rtl="0"/>
            <a:r>
              <a:rPr lang="en-US" sz="1200" dirty="0">
                <a:solidFill>
                  <a:prstClr val="black"/>
                </a:solidFill>
                <a:latin typeface="Perpetua"/>
              </a:rPr>
              <a:t>P</a:t>
            </a:r>
            <a:endParaRPr lang="he-IL" sz="1200" dirty="0">
              <a:solidFill>
                <a:prstClr val="black"/>
              </a:solidFill>
              <a:latin typeface="Perpetua"/>
              <a:cs typeface="Aharoni" panose="02010803020104030203" pitchFamily="2" charset="-79"/>
            </a:endParaRPr>
          </a:p>
        </p:txBody>
      </p:sp>
      <p:sp>
        <p:nvSpPr>
          <p:cNvPr id="35" name="TextBox 34">
            <a:extLst>
              <a:ext uri="{FF2B5EF4-FFF2-40B4-BE49-F238E27FC236}">
                <a16:creationId xmlns:a16="http://schemas.microsoft.com/office/drawing/2014/main" id="{E350FD9E-9352-4C00-9777-A03E3152AD5E}"/>
              </a:ext>
            </a:extLst>
          </p:cNvPr>
          <p:cNvSpPr txBox="1"/>
          <p:nvPr/>
        </p:nvSpPr>
        <p:spPr>
          <a:xfrm>
            <a:off x="6965240" y="4167128"/>
            <a:ext cx="216024" cy="276999"/>
          </a:xfrm>
          <a:prstGeom prst="rect">
            <a:avLst/>
          </a:prstGeom>
          <a:noFill/>
        </p:spPr>
        <p:txBody>
          <a:bodyPr wrap="square" rtlCol="1">
            <a:spAutoFit/>
          </a:bodyPr>
          <a:lstStyle/>
          <a:p>
            <a:pPr algn="l" defTabSz="685800" rtl="0"/>
            <a:r>
              <a:rPr lang="en-US" sz="1200" dirty="0">
                <a:solidFill>
                  <a:prstClr val="black"/>
                </a:solidFill>
                <a:latin typeface="Perpetua"/>
              </a:rPr>
              <a:t>P</a:t>
            </a:r>
            <a:endParaRPr lang="he-IL" sz="1200" dirty="0">
              <a:solidFill>
                <a:prstClr val="black"/>
              </a:solidFill>
              <a:latin typeface="Perpetua"/>
              <a:cs typeface="Aharoni" panose="02010803020104030203" pitchFamily="2" charset="-79"/>
            </a:endParaRPr>
          </a:p>
        </p:txBody>
      </p:sp>
      <p:sp>
        <p:nvSpPr>
          <p:cNvPr id="36" name="TextBox 35">
            <a:extLst>
              <a:ext uri="{FF2B5EF4-FFF2-40B4-BE49-F238E27FC236}">
                <a16:creationId xmlns:a16="http://schemas.microsoft.com/office/drawing/2014/main" id="{5994C6CF-8E98-4B14-8BD7-09A4AED37BFC}"/>
              </a:ext>
            </a:extLst>
          </p:cNvPr>
          <p:cNvSpPr txBox="1"/>
          <p:nvPr/>
        </p:nvSpPr>
        <p:spPr>
          <a:xfrm>
            <a:off x="4255473" y="4167128"/>
            <a:ext cx="216024" cy="276999"/>
          </a:xfrm>
          <a:prstGeom prst="rect">
            <a:avLst/>
          </a:prstGeom>
          <a:noFill/>
        </p:spPr>
        <p:txBody>
          <a:bodyPr wrap="square" rtlCol="1">
            <a:spAutoFit/>
          </a:bodyPr>
          <a:lstStyle/>
          <a:p>
            <a:pPr algn="l" defTabSz="685800" rtl="0"/>
            <a:r>
              <a:rPr lang="en-US" sz="1200" dirty="0">
                <a:solidFill>
                  <a:prstClr val="black"/>
                </a:solidFill>
                <a:latin typeface="Perpetua"/>
              </a:rPr>
              <a:t>P</a:t>
            </a:r>
            <a:endParaRPr lang="he-IL" sz="1200" dirty="0">
              <a:solidFill>
                <a:prstClr val="black"/>
              </a:solidFill>
              <a:latin typeface="Perpetua"/>
              <a:cs typeface="Aharoni" panose="02010803020104030203" pitchFamily="2" charset="-79"/>
            </a:endParaRPr>
          </a:p>
        </p:txBody>
      </p:sp>
      <p:sp>
        <p:nvSpPr>
          <p:cNvPr id="37" name="TextBox 36">
            <a:extLst>
              <a:ext uri="{FF2B5EF4-FFF2-40B4-BE49-F238E27FC236}">
                <a16:creationId xmlns:a16="http://schemas.microsoft.com/office/drawing/2014/main" id="{32479D57-CEA4-4C0B-8803-1DF335DD9D8B}"/>
              </a:ext>
            </a:extLst>
          </p:cNvPr>
          <p:cNvSpPr txBox="1"/>
          <p:nvPr/>
        </p:nvSpPr>
        <p:spPr>
          <a:xfrm>
            <a:off x="5457587" y="4160219"/>
            <a:ext cx="216024" cy="276999"/>
          </a:xfrm>
          <a:prstGeom prst="rect">
            <a:avLst/>
          </a:prstGeom>
          <a:noFill/>
        </p:spPr>
        <p:txBody>
          <a:bodyPr wrap="square" rtlCol="1">
            <a:spAutoFit/>
          </a:bodyPr>
          <a:lstStyle/>
          <a:p>
            <a:pPr algn="l" defTabSz="685800" rtl="0"/>
            <a:r>
              <a:rPr lang="en-US" sz="1200" dirty="0">
                <a:solidFill>
                  <a:prstClr val="black"/>
                </a:solidFill>
                <a:latin typeface="Perpetua"/>
              </a:rPr>
              <a:t>P</a:t>
            </a:r>
            <a:endParaRPr lang="he-IL" sz="1200" dirty="0">
              <a:solidFill>
                <a:prstClr val="black"/>
              </a:solidFill>
              <a:latin typeface="Perpetua"/>
              <a:cs typeface="Aharoni" panose="02010803020104030203" pitchFamily="2" charset="-79"/>
            </a:endParaRPr>
          </a:p>
        </p:txBody>
      </p:sp>
      <p:sp>
        <p:nvSpPr>
          <p:cNvPr id="38" name="TextBox 37">
            <a:extLst>
              <a:ext uri="{FF2B5EF4-FFF2-40B4-BE49-F238E27FC236}">
                <a16:creationId xmlns:a16="http://schemas.microsoft.com/office/drawing/2014/main" id="{E9605F53-22C2-42E8-A077-AFEC35A4E6EA}"/>
              </a:ext>
            </a:extLst>
          </p:cNvPr>
          <p:cNvSpPr txBox="1"/>
          <p:nvPr/>
        </p:nvSpPr>
        <p:spPr>
          <a:xfrm>
            <a:off x="9163462" y="5628358"/>
            <a:ext cx="216024" cy="300082"/>
          </a:xfrm>
          <a:prstGeom prst="rect">
            <a:avLst/>
          </a:prstGeom>
          <a:noFill/>
        </p:spPr>
        <p:txBody>
          <a:bodyPr wrap="square" rtlCol="1">
            <a:spAutoFit/>
          </a:bodyPr>
          <a:lstStyle/>
          <a:p>
            <a:pPr algn="l" defTabSz="685800" rtl="0"/>
            <a:r>
              <a:rPr lang="en-US" sz="1350" dirty="0">
                <a:solidFill>
                  <a:prstClr val="black"/>
                </a:solidFill>
                <a:latin typeface="Perpetua"/>
              </a:rPr>
              <a:t>X</a:t>
            </a:r>
            <a:endParaRPr lang="he-IL" sz="1350" dirty="0">
              <a:solidFill>
                <a:prstClr val="black"/>
              </a:solidFill>
              <a:latin typeface="Perpetua"/>
              <a:cs typeface="Aharoni" panose="02010803020104030203" pitchFamily="2" charset="-79"/>
            </a:endParaRPr>
          </a:p>
        </p:txBody>
      </p:sp>
      <p:sp>
        <p:nvSpPr>
          <p:cNvPr id="39" name="TextBox 38">
            <a:extLst>
              <a:ext uri="{FF2B5EF4-FFF2-40B4-BE49-F238E27FC236}">
                <a16:creationId xmlns:a16="http://schemas.microsoft.com/office/drawing/2014/main" id="{D70444C4-A7BC-4945-877C-F7446F8FFCD4}"/>
              </a:ext>
            </a:extLst>
          </p:cNvPr>
          <p:cNvSpPr txBox="1"/>
          <p:nvPr/>
        </p:nvSpPr>
        <p:spPr>
          <a:xfrm>
            <a:off x="4270050" y="5686427"/>
            <a:ext cx="216024" cy="276999"/>
          </a:xfrm>
          <a:prstGeom prst="rect">
            <a:avLst/>
          </a:prstGeom>
          <a:noFill/>
        </p:spPr>
        <p:txBody>
          <a:bodyPr wrap="square" rtlCol="1">
            <a:spAutoFit/>
          </a:bodyPr>
          <a:lstStyle/>
          <a:p>
            <a:pPr algn="l" defTabSz="685800" rtl="0"/>
            <a:r>
              <a:rPr lang="en-US" sz="1200" dirty="0">
                <a:solidFill>
                  <a:prstClr val="black"/>
                </a:solidFill>
                <a:latin typeface="Perpetua"/>
              </a:rPr>
              <a:t>X</a:t>
            </a:r>
            <a:endParaRPr lang="he-IL" sz="1200" dirty="0">
              <a:solidFill>
                <a:prstClr val="black"/>
              </a:solidFill>
              <a:latin typeface="Perpetua"/>
              <a:cs typeface="Aharoni" panose="02010803020104030203" pitchFamily="2" charset="-79"/>
            </a:endParaRPr>
          </a:p>
        </p:txBody>
      </p:sp>
      <p:sp>
        <p:nvSpPr>
          <p:cNvPr id="40" name="TextBox 39">
            <a:extLst>
              <a:ext uri="{FF2B5EF4-FFF2-40B4-BE49-F238E27FC236}">
                <a16:creationId xmlns:a16="http://schemas.microsoft.com/office/drawing/2014/main" id="{B30AEC28-C83F-4767-97F6-46581CF5C7A2}"/>
              </a:ext>
            </a:extLst>
          </p:cNvPr>
          <p:cNvSpPr txBox="1"/>
          <p:nvPr/>
        </p:nvSpPr>
        <p:spPr>
          <a:xfrm>
            <a:off x="6855206" y="5656340"/>
            <a:ext cx="216024" cy="276999"/>
          </a:xfrm>
          <a:prstGeom prst="rect">
            <a:avLst/>
          </a:prstGeom>
          <a:noFill/>
        </p:spPr>
        <p:txBody>
          <a:bodyPr wrap="square" rtlCol="1">
            <a:spAutoFit/>
          </a:bodyPr>
          <a:lstStyle/>
          <a:p>
            <a:pPr algn="l" defTabSz="685800" rtl="0"/>
            <a:r>
              <a:rPr lang="en-US" sz="1200" dirty="0">
                <a:solidFill>
                  <a:prstClr val="black"/>
                </a:solidFill>
                <a:latin typeface="Perpetua"/>
              </a:rPr>
              <a:t>X</a:t>
            </a:r>
            <a:endParaRPr lang="he-IL" sz="1200" dirty="0">
              <a:solidFill>
                <a:prstClr val="black"/>
              </a:solidFill>
              <a:latin typeface="Perpetua"/>
              <a:cs typeface="Aharoni" panose="02010803020104030203" pitchFamily="2" charset="-79"/>
            </a:endParaRPr>
          </a:p>
        </p:txBody>
      </p:sp>
      <p:sp>
        <p:nvSpPr>
          <p:cNvPr id="41" name="TextBox 40">
            <a:extLst>
              <a:ext uri="{FF2B5EF4-FFF2-40B4-BE49-F238E27FC236}">
                <a16:creationId xmlns:a16="http://schemas.microsoft.com/office/drawing/2014/main" id="{00C9BF30-5682-46C8-A648-5D302CD2E2E8}"/>
              </a:ext>
            </a:extLst>
          </p:cNvPr>
          <p:cNvSpPr txBox="1"/>
          <p:nvPr/>
        </p:nvSpPr>
        <p:spPr>
          <a:xfrm>
            <a:off x="7946931" y="4294084"/>
            <a:ext cx="1026114" cy="300082"/>
          </a:xfrm>
          <a:prstGeom prst="rect">
            <a:avLst/>
          </a:prstGeom>
        </p:spPr>
        <p:style>
          <a:lnRef idx="1">
            <a:schemeClr val="accent6"/>
          </a:lnRef>
          <a:fillRef idx="2">
            <a:schemeClr val="accent6"/>
          </a:fillRef>
          <a:effectRef idx="1">
            <a:schemeClr val="accent6"/>
          </a:effectRef>
          <a:fontRef idx="minor">
            <a:schemeClr val="dk1"/>
          </a:fontRef>
        </p:style>
        <p:txBody>
          <a:bodyPr wrap="square" rtlCol="1">
            <a:spAutoFit/>
          </a:bodyPr>
          <a:lstStyle/>
          <a:p>
            <a:pPr algn="l" defTabSz="685800" rtl="0"/>
            <a:r>
              <a:rPr lang="he-IL" sz="1350" b="1" dirty="0">
                <a:solidFill>
                  <a:prstClr val="black"/>
                </a:solidFill>
                <a:latin typeface="Perpetua"/>
                <a:cs typeface="Aharoni" panose="02010803020104030203" pitchFamily="2" charset="-79"/>
              </a:rPr>
              <a:t>היצע מצרפי</a:t>
            </a:r>
          </a:p>
        </p:txBody>
      </p:sp>
      <p:cxnSp>
        <p:nvCxnSpPr>
          <p:cNvPr id="42" name="Straight Connector 41">
            <a:extLst>
              <a:ext uri="{FF2B5EF4-FFF2-40B4-BE49-F238E27FC236}">
                <a16:creationId xmlns:a16="http://schemas.microsoft.com/office/drawing/2014/main" id="{C84D71B7-FDD3-400B-BB3F-E80CB4B26F3D}"/>
              </a:ext>
            </a:extLst>
          </p:cNvPr>
          <p:cNvCxnSpPr>
            <a:cxnSpLocks/>
          </p:cNvCxnSpPr>
          <p:nvPr/>
        </p:nvCxnSpPr>
        <p:spPr>
          <a:xfrm flipV="1">
            <a:off x="3210650" y="4944693"/>
            <a:ext cx="902442" cy="66926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528F3CF-31E4-470B-84D5-A6425ACCC6E8}"/>
              </a:ext>
            </a:extLst>
          </p:cNvPr>
          <p:cNvCxnSpPr>
            <a:cxnSpLocks/>
          </p:cNvCxnSpPr>
          <p:nvPr/>
        </p:nvCxnSpPr>
        <p:spPr>
          <a:xfrm flipV="1">
            <a:off x="4477717" y="5098689"/>
            <a:ext cx="855833" cy="5005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4F515A5-A5BE-47FC-B4A8-6A3E981F6923}"/>
              </a:ext>
            </a:extLst>
          </p:cNvPr>
          <p:cNvCxnSpPr>
            <a:cxnSpLocks/>
          </p:cNvCxnSpPr>
          <p:nvPr/>
        </p:nvCxnSpPr>
        <p:spPr>
          <a:xfrm flipV="1">
            <a:off x="5759754" y="5112406"/>
            <a:ext cx="870140" cy="47088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7EE872F-4284-4754-9AC4-E5007CF050ED}"/>
              </a:ext>
            </a:extLst>
          </p:cNvPr>
          <p:cNvCxnSpPr>
            <a:cxnSpLocks/>
          </p:cNvCxnSpPr>
          <p:nvPr/>
        </p:nvCxnSpPr>
        <p:spPr>
          <a:xfrm flipV="1">
            <a:off x="7219247" y="5240562"/>
            <a:ext cx="1706909" cy="32388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D1E368B7-3CD8-44FE-A6E4-9956AFD8C393}"/>
              </a:ext>
            </a:extLst>
          </p:cNvPr>
          <p:cNvSpPr txBox="1"/>
          <p:nvPr/>
        </p:nvSpPr>
        <p:spPr>
          <a:xfrm>
            <a:off x="3008630" y="5492621"/>
            <a:ext cx="216024" cy="276999"/>
          </a:xfrm>
          <a:prstGeom prst="rect">
            <a:avLst/>
          </a:prstGeom>
          <a:noFill/>
        </p:spPr>
        <p:txBody>
          <a:bodyPr wrap="square" rtlCol="1">
            <a:spAutoFit/>
          </a:bodyPr>
          <a:lstStyle/>
          <a:p>
            <a:pPr algn="l" defTabSz="685800" rtl="0"/>
            <a:r>
              <a:rPr lang="en-US" sz="1200" dirty="0">
                <a:solidFill>
                  <a:prstClr val="black"/>
                </a:solidFill>
                <a:latin typeface="Perpetua"/>
              </a:rPr>
              <a:t>2</a:t>
            </a:r>
            <a:endParaRPr lang="he-IL" sz="1200" dirty="0">
              <a:solidFill>
                <a:prstClr val="black"/>
              </a:solidFill>
              <a:latin typeface="Perpetua"/>
              <a:cs typeface="Aharoni" panose="02010803020104030203" pitchFamily="2" charset="-79"/>
            </a:endParaRPr>
          </a:p>
        </p:txBody>
      </p:sp>
      <p:cxnSp>
        <p:nvCxnSpPr>
          <p:cNvPr id="51" name="Straight Connector 50">
            <a:extLst>
              <a:ext uri="{FF2B5EF4-FFF2-40B4-BE49-F238E27FC236}">
                <a16:creationId xmlns:a16="http://schemas.microsoft.com/office/drawing/2014/main" id="{2C0FBCE2-97B7-4666-8D08-B0E4A8B50354}"/>
              </a:ext>
            </a:extLst>
          </p:cNvPr>
          <p:cNvCxnSpPr>
            <a:cxnSpLocks/>
          </p:cNvCxnSpPr>
          <p:nvPr/>
        </p:nvCxnSpPr>
        <p:spPr>
          <a:xfrm flipV="1">
            <a:off x="3224655" y="5581555"/>
            <a:ext cx="5938808" cy="43952"/>
          </a:xfrm>
          <a:prstGeom prst="line">
            <a:avLst/>
          </a:prstGeom>
          <a:ln w="1905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AD8D3936-0F70-4AC5-B09F-2F1E42BD8943}"/>
              </a:ext>
            </a:extLst>
          </p:cNvPr>
          <p:cNvSpPr txBox="1"/>
          <p:nvPr/>
        </p:nvSpPr>
        <p:spPr>
          <a:xfrm>
            <a:off x="7031507" y="5456330"/>
            <a:ext cx="216024" cy="276999"/>
          </a:xfrm>
          <a:prstGeom prst="rect">
            <a:avLst/>
          </a:prstGeom>
          <a:noFill/>
        </p:spPr>
        <p:txBody>
          <a:bodyPr wrap="square" rtlCol="1">
            <a:spAutoFit/>
          </a:bodyPr>
          <a:lstStyle/>
          <a:p>
            <a:pPr algn="l" defTabSz="685800" rtl="0"/>
            <a:r>
              <a:rPr lang="en-US" sz="1200" dirty="0">
                <a:solidFill>
                  <a:prstClr val="black"/>
                </a:solidFill>
                <a:latin typeface="Perpetua"/>
              </a:rPr>
              <a:t>2</a:t>
            </a:r>
            <a:endParaRPr lang="he-IL" sz="1200" dirty="0">
              <a:solidFill>
                <a:prstClr val="black"/>
              </a:solidFill>
              <a:latin typeface="Perpetua"/>
              <a:cs typeface="Aharoni" panose="02010803020104030203" pitchFamily="2" charset="-79"/>
            </a:endParaRPr>
          </a:p>
        </p:txBody>
      </p:sp>
      <p:sp>
        <p:nvSpPr>
          <p:cNvPr id="55" name="Rectangle 54">
            <a:extLst>
              <a:ext uri="{FF2B5EF4-FFF2-40B4-BE49-F238E27FC236}">
                <a16:creationId xmlns:a16="http://schemas.microsoft.com/office/drawing/2014/main" id="{8B271116-E0D4-436D-AA3B-B711FA05758E}"/>
              </a:ext>
            </a:extLst>
          </p:cNvPr>
          <p:cNvSpPr/>
          <p:nvPr/>
        </p:nvSpPr>
        <p:spPr>
          <a:xfrm>
            <a:off x="3377098" y="4760030"/>
            <a:ext cx="750526" cy="307777"/>
          </a:xfrm>
          <a:prstGeom prst="rect">
            <a:avLst/>
          </a:prstGeom>
        </p:spPr>
        <p:txBody>
          <a:bodyPr wrap="none">
            <a:spAutoFit/>
          </a:bodyPr>
          <a:lstStyle/>
          <a:p>
            <a:pPr algn="l" defTabSz="685800" rtl="0"/>
            <a:r>
              <a:rPr lang="en-US" sz="1350" dirty="0">
                <a:solidFill>
                  <a:prstClr val="black"/>
                </a:solidFill>
                <a:latin typeface="David" pitchFamily="34" charset="-79"/>
                <a:cs typeface="David" pitchFamily="34" charset="-79"/>
              </a:rPr>
              <a:t> </a:t>
            </a:r>
            <a:r>
              <a:rPr lang="en-US" sz="1400" dirty="0">
                <a:solidFill>
                  <a:prstClr val="black"/>
                </a:solidFill>
                <a:latin typeface="David" pitchFamily="34" charset="-79"/>
                <a:cs typeface="David" pitchFamily="34" charset="-79"/>
              </a:rPr>
              <a:t>P=X+2</a:t>
            </a:r>
            <a:endParaRPr lang="x-none" sz="1350" dirty="0">
              <a:solidFill>
                <a:prstClr val="black"/>
              </a:solidFill>
              <a:latin typeface="Perpetua"/>
            </a:endParaRPr>
          </a:p>
        </p:txBody>
      </p:sp>
      <p:sp>
        <p:nvSpPr>
          <p:cNvPr id="56" name="Rectangle 55">
            <a:extLst>
              <a:ext uri="{FF2B5EF4-FFF2-40B4-BE49-F238E27FC236}">
                <a16:creationId xmlns:a16="http://schemas.microsoft.com/office/drawing/2014/main" id="{2087BE01-F3D7-48CD-9321-F0781BFC8A43}"/>
              </a:ext>
            </a:extLst>
          </p:cNvPr>
          <p:cNvSpPr/>
          <p:nvPr/>
        </p:nvSpPr>
        <p:spPr>
          <a:xfrm>
            <a:off x="4655611" y="4760030"/>
            <a:ext cx="1035861" cy="307777"/>
          </a:xfrm>
          <a:prstGeom prst="rect">
            <a:avLst/>
          </a:prstGeom>
        </p:spPr>
        <p:txBody>
          <a:bodyPr wrap="none">
            <a:spAutoFit/>
          </a:bodyPr>
          <a:lstStyle/>
          <a:p>
            <a:pPr algn="l" defTabSz="685800" rtl="0"/>
            <a:r>
              <a:rPr lang="en-US" sz="1350" dirty="0">
                <a:solidFill>
                  <a:prstClr val="black"/>
                </a:solidFill>
                <a:latin typeface="David" pitchFamily="34" charset="-79"/>
                <a:cs typeface="David" pitchFamily="34" charset="-79"/>
              </a:rPr>
              <a:t> </a:t>
            </a:r>
            <a:r>
              <a:rPr lang="en-US" sz="1400" dirty="0">
                <a:solidFill>
                  <a:prstClr val="black"/>
                </a:solidFill>
                <a:latin typeface="David" pitchFamily="34" charset="-79"/>
                <a:cs typeface="David" pitchFamily="34" charset="-79"/>
              </a:rPr>
              <a:t>P=</a:t>
            </a:r>
            <a:r>
              <a:rPr lang="he-IL" sz="1400" dirty="0">
                <a:solidFill>
                  <a:prstClr val="black"/>
                </a:solidFill>
                <a:latin typeface="David" pitchFamily="34" charset="-79"/>
                <a:cs typeface="David" pitchFamily="34" charset="-79"/>
              </a:rPr>
              <a:t>0.33</a:t>
            </a:r>
            <a:r>
              <a:rPr lang="en-US" sz="1400" dirty="0">
                <a:solidFill>
                  <a:prstClr val="black"/>
                </a:solidFill>
                <a:latin typeface="David" pitchFamily="34" charset="-79"/>
                <a:cs typeface="David" pitchFamily="34" charset="-79"/>
              </a:rPr>
              <a:t>X+2</a:t>
            </a:r>
            <a:endParaRPr lang="x-none" sz="1350" dirty="0">
              <a:solidFill>
                <a:prstClr val="black"/>
              </a:solidFill>
              <a:latin typeface="Perpetua"/>
            </a:endParaRPr>
          </a:p>
        </p:txBody>
      </p:sp>
      <p:sp>
        <p:nvSpPr>
          <p:cNvPr id="57" name="Rectangle 56">
            <a:extLst>
              <a:ext uri="{FF2B5EF4-FFF2-40B4-BE49-F238E27FC236}">
                <a16:creationId xmlns:a16="http://schemas.microsoft.com/office/drawing/2014/main" id="{3EBB81A4-676C-472D-AE17-267306B83E45}"/>
              </a:ext>
            </a:extLst>
          </p:cNvPr>
          <p:cNvSpPr/>
          <p:nvPr/>
        </p:nvSpPr>
        <p:spPr>
          <a:xfrm>
            <a:off x="5935113" y="4752762"/>
            <a:ext cx="955711" cy="307777"/>
          </a:xfrm>
          <a:prstGeom prst="rect">
            <a:avLst/>
          </a:prstGeom>
        </p:spPr>
        <p:txBody>
          <a:bodyPr wrap="none">
            <a:spAutoFit/>
          </a:bodyPr>
          <a:lstStyle/>
          <a:p>
            <a:pPr algn="l" defTabSz="685800" rtl="0"/>
            <a:r>
              <a:rPr lang="en-US" sz="1350" dirty="0">
                <a:solidFill>
                  <a:prstClr val="black"/>
                </a:solidFill>
                <a:latin typeface="David" pitchFamily="34" charset="-79"/>
                <a:cs typeface="David" pitchFamily="34" charset="-79"/>
              </a:rPr>
              <a:t> </a:t>
            </a:r>
            <a:r>
              <a:rPr lang="en-US" sz="1400" dirty="0">
                <a:solidFill>
                  <a:prstClr val="black"/>
                </a:solidFill>
                <a:latin typeface="David" pitchFamily="34" charset="-79"/>
                <a:cs typeface="David" pitchFamily="34" charset="-79"/>
              </a:rPr>
              <a:t>P=</a:t>
            </a:r>
            <a:r>
              <a:rPr lang="he-IL" sz="1400" dirty="0">
                <a:solidFill>
                  <a:prstClr val="black"/>
                </a:solidFill>
                <a:latin typeface="David" pitchFamily="34" charset="-79"/>
                <a:cs typeface="David" pitchFamily="34" charset="-79"/>
              </a:rPr>
              <a:t>0.5</a:t>
            </a:r>
            <a:r>
              <a:rPr lang="en-US" sz="1400" dirty="0">
                <a:solidFill>
                  <a:prstClr val="black"/>
                </a:solidFill>
                <a:latin typeface="David" pitchFamily="34" charset="-79"/>
                <a:cs typeface="David" pitchFamily="34" charset="-79"/>
              </a:rPr>
              <a:t>X+2</a:t>
            </a:r>
            <a:endParaRPr lang="x-none" sz="1350" dirty="0">
              <a:solidFill>
                <a:prstClr val="black"/>
              </a:solidFill>
              <a:latin typeface="Perpetua"/>
            </a:endParaRPr>
          </a:p>
        </p:txBody>
      </p:sp>
      <p:sp>
        <p:nvSpPr>
          <p:cNvPr id="58" name="TextBox 57">
            <a:extLst>
              <a:ext uri="{FF2B5EF4-FFF2-40B4-BE49-F238E27FC236}">
                <a16:creationId xmlns:a16="http://schemas.microsoft.com/office/drawing/2014/main" id="{D85E1F03-08A2-4847-B57B-267F06EFB32B}"/>
              </a:ext>
            </a:extLst>
          </p:cNvPr>
          <p:cNvSpPr txBox="1"/>
          <p:nvPr/>
        </p:nvSpPr>
        <p:spPr>
          <a:xfrm>
            <a:off x="7433036" y="4800794"/>
            <a:ext cx="1730423" cy="369332"/>
          </a:xfrm>
          <a:prstGeom prst="rect">
            <a:avLst/>
          </a:prstGeom>
          <a:solidFill>
            <a:srgbClr val="CCECFF"/>
          </a:solidFill>
          <a:ln>
            <a:solidFill>
              <a:schemeClr val="bg1">
                <a:lumMod val="85000"/>
              </a:schemeClr>
            </a:solidFill>
          </a:ln>
        </p:spPr>
        <p:txBody>
          <a:bodyPr wrap="square" rtlCol="0">
            <a:spAutoFit/>
          </a:bodyPr>
          <a:lstStyle/>
          <a:p>
            <a:pPr algn="l" defTabSz="685800" rtl="0"/>
            <a:r>
              <a:rPr lang="en-US" sz="1400" dirty="0">
                <a:solidFill>
                  <a:prstClr val="black"/>
                </a:solidFill>
                <a:latin typeface="Perpetua"/>
              </a:rPr>
              <a:t>P </a:t>
            </a:r>
            <a:r>
              <a:rPr lang="en-US" b="1" dirty="0">
                <a:solidFill>
                  <a:prstClr val="black"/>
                </a:solidFill>
                <a:latin typeface="Perpetua"/>
              </a:rPr>
              <a:t>= (1/6)*X +2</a:t>
            </a:r>
            <a:endParaRPr lang="x-none" sz="1400" b="1" dirty="0">
              <a:solidFill>
                <a:prstClr val="black"/>
              </a:solidFill>
              <a:latin typeface="Perpetua"/>
            </a:endParaRPr>
          </a:p>
        </p:txBody>
      </p:sp>
    </p:spTree>
    <p:extLst>
      <p:ext uri="{BB962C8B-B14F-4D97-AF65-F5344CB8AC3E}">
        <p14:creationId xmlns:p14="http://schemas.microsoft.com/office/powerpoint/2010/main" val="1915713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randombar(horizontal)">
                                      <p:cBhvr>
                                        <p:cTn id="12" dur="500"/>
                                        <p:tgtEl>
                                          <p:spTgt spid="18"/>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down)">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22" presetClass="entr" presetSubtype="4"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down)">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down)">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circle(in)">
                                      <p:cBhvr>
                                        <p:cTn id="41" dur="20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randombar(horizontal)">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circle(in)">
                                      <p:cBhvr>
                                        <p:cTn id="51" dur="20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wipe(down)">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14" presetClass="entr" presetSubtype="1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randombar(horizontal)">
                                      <p:cBhvr>
                                        <p:cTn id="61" dur="5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9"/>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1" presetClass="entr" presetSubtype="1" fill="hold" grpId="0" nodeType="click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wheel(1)">
                                      <p:cBhvr>
                                        <p:cTn id="70" dur="2000"/>
                                        <p:tgtEl>
                                          <p:spTgt spid="17"/>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4"/>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9"/>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8"/>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childTnLst>
                                </p:cTn>
                              </p:par>
                              <p:par>
                                <p:cTn id="101" presetID="10" presetClass="entr" presetSubtype="0" fill="hold" nodeType="withEffect">
                                  <p:stCondLst>
                                    <p:cond delay="0"/>
                                  </p:stCondLst>
                                  <p:childTnLst>
                                    <p:set>
                                      <p:cBhvr>
                                        <p:cTn id="102" dur="1" fill="hold">
                                          <p:stCondLst>
                                            <p:cond delay="0"/>
                                          </p:stCondLst>
                                        </p:cTn>
                                        <p:tgtEl>
                                          <p:spTgt spid="30"/>
                                        </p:tgtEl>
                                        <p:attrNameLst>
                                          <p:attrName>style.visibility</p:attrName>
                                        </p:attrNameLst>
                                      </p:cBhvr>
                                      <p:to>
                                        <p:strVal val="visible"/>
                                      </p:to>
                                    </p:set>
                                    <p:animEffect transition="in" filter="fade">
                                      <p:cBhvr>
                                        <p:cTn id="103" dur="500"/>
                                        <p:tgtEl>
                                          <p:spTgt spid="30"/>
                                        </p:tgtEl>
                                      </p:cBhvr>
                                    </p:animEffect>
                                  </p:childTnLst>
                                </p:cTn>
                              </p:par>
                              <p:par>
                                <p:cTn id="104" presetID="10" presetClass="entr" presetSubtype="0" fill="hold" nodeType="withEffect">
                                  <p:stCondLst>
                                    <p:cond delay="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500"/>
                                        <p:tgtEl>
                                          <p:spTgt spid="2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500"/>
                                        <p:tgtEl>
                                          <p:spTgt spid="3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5"/>
                                        </p:tgtEl>
                                        <p:attrNameLst>
                                          <p:attrName>style.visibility</p:attrName>
                                        </p:attrNameLst>
                                      </p:cBhvr>
                                      <p:to>
                                        <p:strVal val="visible"/>
                                      </p:to>
                                    </p:set>
                                    <p:animEffect transition="in" filter="fade">
                                      <p:cBhvr>
                                        <p:cTn id="112" dur="500"/>
                                        <p:tgtEl>
                                          <p:spTgt spid="35"/>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51"/>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49"/>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54"/>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42"/>
                                        </p:tgtEl>
                                        <p:attrNameLst>
                                          <p:attrName>style.visibility</p:attrName>
                                        </p:attrNameLst>
                                      </p:cBhvr>
                                      <p:to>
                                        <p:strVal val="visible"/>
                                      </p:to>
                                    </p:set>
                                    <p:animEffect transition="in" filter="fade">
                                      <p:cBhvr>
                                        <p:cTn id="128" dur="500"/>
                                        <p:tgtEl>
                                          <p:spTgt spid="42"/>
                                        </p:tgtEl>
                                      </p:cBhvr>
                                    </p:animEffec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55"/>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nodeType="clickEffect">
                                  <p:stCondLst>
                                    <p:cond delay="0"/>
                                  </p:stCondLst>
                                  <p:childTnLst>
                                    <p:set>
                                      <p:cBhvr>
                                        <p:cTn id="136" dur="1" fill="hold">
                                          <p:stCondLst>
                                            <p:cond delay="0"/>
                                          </p:stCondLst>
                                        </p:cTn>
                                        <p:tgtEl>
                                          <p:spTgt spid="43"/>
                                        </p:tgtEl>
                                        <p:attrNameLst>
                                          <p:attrName>style.visibility</p:attrName>
                                        </p:attrNameLst>
                                      </p:cBhvr>
                                      <p:to>
                                        <p:strVal val="visible"/>
                                      </p:to>
                                    </p:set>
                                    <p:animEffect transition="in" filter="fade">
                                      <p:cBhvr>
                                        <p:cTn id="137" dur="500"/>
                                        <p:tgtEl>
                                          <p:spTgt spid="43"/>
                                        </p:tgtEl>
                                      </p:cBhvr>
                                    </p:animEffec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grpId="0" nodeType="clickEffect">
                                  <p:stCondLst>
                                    <p:cond delay="0"/>
                                  </p:stCondLst>
                                  <p:childTnLst>
                                    <p:set>
                                      <p:cBhvr>
                                        <p:cTn id="141" dur="1" fill="hold">
                                          <p:stCondLst>
                                            <p:cond delay="0"/>
                                          </p:stCondLst>
                                        </p:cTn>
                                        <p:tgtEl>
                                          <p:spTgt spid="56"/>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nodeType="clickEffect">
                                  <p:stCondLst>
                                    <p:cond delay="0"/>
                                  </p:stCondLst>
                                  <p:childTnLst>
                                    <p:set>
                                      <p:cBhvr>
                                        <p:cTn id="145" dur="1" fill="hold">
                                          <p:stCondLst>
                                            <p:cond delay="0"/>
                                          </p:stCondLst>
                                        </p:cTn>
                                        <p:tgtEl>
                                          <p:spTgt spid="44"/>
                                        </p:tgtEl>
                                        <p:attrNameLst>
                                          <p:attrName>style.visibility</p:attrName>
                                        </p:attrNameLst>
                                      </p:cBhvr>
                                      <p:to>
                                        <p:strVal val="visible"/>
                                      </p:to>
                                    </p:set>
                                    <p:animEffect transition="in" filter="fade">
                                      <p:cBhvr>
                                        <p:cTn id="146" dur="500"/>
                                        <p:tgtEl>
                                          <p:spTgt spid="44"/>
                                        </p:tgtEl>
                                      </p:cBhvr>
                                    </p:animEffec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57"/>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nodeType="clickEffect">
                                  <p:stCondLst>
                                    <p:cond delay="0"/>
                                  </p:stCondLst>
                                  <p:childTnLst>
                                    <p:set>
                                      <p:cBhvr>
                                        <p:cTn id="154" dur="1" fill="hold">
                                          <p:stCondLst>
                                            <p:cond delay="0"/>
                                          </p:stCondLst>
                                        </p:cTn>
                                        <p:tgtEl>
                                          <p:spTgt spid="45"/>
                                        </p:tgtEl>
                                        <p:attrNameLst>
                                          <p:attrName>style.visibility</p:attrName>
                                        </p:attrNameLst>
                                      </p:cBhvr>
                                      <p:to>
                                        <p:strVal val="visible"/>
                                      </p:to>
                                    </p:set>
                                    <p:animEffect transition="in" filter="fade">
                                      <p:cBhvr>
                                        <p:cTn id="155" dur="500"/>
                                        <p:tgtEl>
                                          <p:spTgt spid="45"/>
                                        </p:tgtEl>
                                      </p:cBhvr>
                                    </p:animEffect>
                                  </p:childTnLst>
                                </p:cTn>
                              </p:par>
                            </p:childTnLst>
                          </p:cTn>
                        </p:par>
                      </p:childTnLst>
                    </p:cTn>
                  </p:par>
                  <p:par>
                    <p:cTn id="156" fill="hold">
                      <p:stCondLst>
                        <p:cond delay="indefinite"/>
                      </p:stCondLst>
                      <p:childTnLst>
                        <p:par>
                          <p:cTn id="157" fill="hold">
                            <p:stCondLst>
                              <p:cond delay="0"/>
                            </p:stCondLst>
                            <p:childTnLst>
                              <p:par>
                                <p:cTn id="158" presetID="21" presetClass="entr" presetSubtype="1" fill="hold" grpId="0" nodeType="clickEffect">
                                  <p:stCondLst>
                                    <p:cond delay="0"/>
                                  </p:stCondLst>
                                  <p:childTnLst>
                                    <p:set>
                                      <p:cBhvr>
                                        <p:cTn id="159" dur="1" fill="hold">
                                          <p:stCondLst>
                                            <p:cond delay="0"/>
                                          </p:stCondLst>
                                        </p:cTn>
                                        <p:tgtEl>
                                          <p:spTgt spid="58"/>
                                        </p:tgtEl>
                                        <p:attrNameLst>
                                          <p:attrName>style.visibility</p:attrName>
                                        </p:attrNameLst>
                                      </p:cBhvr>
                                      <p:to>
                                        <p:strVal val="visible"/>
                                      </p:to>
                                    </p:set>
                                    <p:animEffect transition="in" filter="wheel(1)">
                                      <p:cBhvr>
                                        <p:cTn id="160" dur="20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1" grpId="0" animBg="1"/>
      <p:bldP spid="12" grpId="0"/>
      <p:bldP spid="13" grpId="0"/>
      <p:bldP spid="14" grpId="0"/>
      <p:bldP spid="16" grpId="0"/>
      <p:bldP spid="17" grpId="0" animBg="1"/>
      <p:bldP spid="7" grpId="0" animBg="1"/>
      <p:bldP spid="18" grpId="0" animBg="1"/>
      <p:bldP spid="19" grpId="0" animBg="1"/>
      <p:bldP spid="20" grpId="0" animBg="1"/>
      <p:bldP spid="21" grpId="0" animBg="1"/>
      <p:bldP spid="22" grpId="0" animBg="1"/>
      <p:bldP spid="31" grpId="0" animBg="1"/>
      <p:bldP spid="32" grpId="0" animBg="1"/>
      <p:bldP spid="33" grpId="0" animBg="1"/>
      <p:bldP spid="34" grpId="0"/>
      <p:bldP spid="35" grpId="0"/>
      <p:bldP spid="36" grpId="0"/>
      <p:bldP spid="37" grpId="0"/>
      <p:bldP spid="38" grpId="0"/>
      <p:bldP spid="39" grpId="0"/>
      <p:bldP spid="40" grpId="0"/>
      <p:bldP spid="41" grpId="0" animBg="1"/>
      <p:bldP spid="49" grpId="0"/>
      <p:bldP spid="54" grpId="0"/>
      <p:bldP spid="55" grpId="0"/>
      <p:bldP spid="56" grpId="0"/>
      <p:bldP spid="57" grpId="0"/>
      <p:bldP spid="5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613756" y="493344"/>
            <a:ext cx="8460432" cy="2160240"/>
          </a:xfrm>
        </p:spPr>
        <p:txBody>
          <a:bodyPr>
            <a:normAutofit/>
          </a:bodyPr>
          <a:lstStyle/>
          <a:p>
            <a:pPr marL="0" indent="0" algn="r" rtl="1">
              <a:buNone/>
            </a:pPr>
            <a:r>
              <a:rPr lang="he-IL" sz="1900" b="1" dirty="0">
                <a:solidFill>
                  <a:srgbClr val="FF0000"/>
                </a:solidFill>
              </a:rPr>
              <a:t>פירמה א</a:t>
            </a:r>
            <a:r>
              <a:rPr lang="he-IL" sz="1900" dirty="0"/>
              <a:t>' ו</a:t>
            </a:r>
            <a:r>
              <a:rPr lang="he-IL" sz="1900" b="1" dirty="0">
                <a:solidFill>
                  <a:srgbClr val="0070C0"/>
                </a:solidFill>
              </a:rPr>
              <a:t>פירמה ב' </a:t>
            </a:r>
            <a:r>
              <a:rPr lang="he-IL" sz="1900" dirty="0"/>
              <a:t>פועלות בענף תחרותי למוצר </a:t>
            </a:r>
            <a:r>
              <a:rPr lang="en-US" sz="1900" dirty="0"/>
              <a:t>X</a:t>
            </a:r>
            <a:r>
              <a:rPr lang="he-IL" sz="1900" dirty="0"/>
              <a:t>.</a:t>
            </a:r>
            <a:endParaRPr lang="en-US" sz="1900" dirty="0"/>
          </a:p>
          <a:p>
            <a:pPr marL="0" indent="0" algn="r" rtl="1">
              <a:buNone/>
            </a:pPr>
            <a:r>
              <a:rPr lang="he-IL" sz="1900" dirty="0"/>
              <a:t>במחיר </a:t>
            </a:r>
            <a:r>
              <a:rPr lang="en-US" sz="1900" dirty="0"/>
              <a:t>p=20</a:t>
            </a:r>
            <a:r>
              <a:rPr lang="he-IL" sz="1900" dirty="0"/>
              <a:t> שתי הפירמות מציעות תפוקה זהה (1500 יחידות תפוקה).</a:t>
            </a:r>
            <a:endParaRPr lang="en-US" sz="1900" dirty="0"/>
          </a:p>
          <a:p>
            <a:pPr marL="0" indent="0" algn="r" rtl="1">
              <a:buNone/>
            </a:pPr>
            <a:r>
              <a:rPr lang="he-IL" sz="1900" dirty="0"/>
              <a:t>במחיר </a:t>
            </a:r>
            <a:r>
              <a:rPr lang="en-US" sz="1900" dirty="0"/>
              <a:t>p=22</a:t>
            </a:r>
            <a:r>
              <a:rPr lang="he-IL" sz="1900" dirty="0"/>
              <a:t> </a:t>
            </a:r>
            <a:r>
              <a:rPr lang="he-IL" sz="1900" b="1" dirty="0">
                <a:solidFill>
                  <a:srgbClr val="FF0000"/>
                </a:solidFill>
              </a:rPr>
              <a:t>פירמה א </a:t>
            </a:r>
            <a:r>
              <a:rPr lang="he-IL" sz="1900" dirty="0"/>
              <a:t>מציעה </a:t>
            </a:r>
            <a:r>
              <a:rPr lang="he-IL" sz="1900" b="1" dirty="0">
                <a:solidFill>
                  <a:srgbClr val="C00000"/>
                </a:solidFill>
              </a:rPr>
              <a:t>2000</a:t>
            </a:r>
            <a:r>
              <a:rPr lang="he-IL" sz="1900" dirty="0"/>
              <a:t> יחידות תפוקה ואילו </a:t>
            </a:r>
            <a:r>
              <a:rPr lang="he-IL" sz="1900" b="1" dirty="0">
                <a:solidFill>
                  <a:srgbClr val="0070C0"/>
                </a:solidFill>
              </a:rPr>
              <a:t>פירמה ב</a:t>
            </a:r>
            <a:r>
              <a:rPr lang="he-IL" sz="1900" dirty="0"/>
              <a:t> מציעה </a:t>
            </a:r>
            <a:r>
              <a:rPr lang="he-IL" sz="1900" dirty="0">
                <a:solidFill>
                  <a:srgbClr val="0070C0"/>
                </a:solidFill>
              </a:rPr>
              <a:t>2200</a:t>
            </a:r>
            <a:r>
              <a:rPr lang="he-IL" sz="1900" dirty="0"/>
              <a:t> יחידות תפוקה.</a:t>
            </a:r>
          </a:p>
          <a:p>
            <a:pPr marL="0" indent="0" algn="r" rtl="1">
              <a:buNone/>
            </a:pPr>
            <a:r>
              <a:rPr lang="he-IL" sz="2000" dirty="0"/>
              <a:t>א. ציירו בגרף 1 שבו על הציר האופקי תפוקה </a:t>
            </a:r>
            <a:r>
              <a:rPr lang="en-US" sz="2000" dirty="0"/>
              <a:t>X</a:t>
            </a:r>
            <a:r>
              <a:rPr lang="he-IL" sz="2000" dirty="0"/>
              <a:t> ועל הציר האנכי מחיר </a:t>
            </a:r>
            <a:r>
              <a:rPr lang="en-US" sz="2000" dirty="0"/>
              <a:t>P</a:t>
            </a:r>
            <a:r>
              <a:rPr lang="he-IL" sz="2000" dirty="0"/>
              <a:t> את עקומות ההיצע של שתי הפירמות בתחום של המחירים</a:t>
            </a:r>
            <a:r>
              <a:rPr lang="en-US" sz="2000" dirty="0"/>
              <a:t>p=20 </a:t>
            </a:r>
            <a:r>
              <a:rPr lang="he-IL" sz="2000" dirty="0"/>
              <a:t> ו </a:t>
            </a:r>
            <a:r>
              <a:rPr lang="en-US" sz="2000" dirty="0"/>
              <a:t>p=22</a:t>
            </a:r>
            <a:r>
              <a:rPr lang="he-IL" sz="2000" dirty="0"/>
              <a:t>.</a:t>
            </a:r>
            <a:endParaRPr lang="en-US" sz="2000" dirty="0"/>
          </a:p>
        </p:txBody>
      </p:sp>
      <p:sp>
        <p:nvSpPr>
          <p:cNvPr id="4" name="כותרת 1"/>
          <p:cNvSpPr txBox="1">
            <a:spLocks/>
          </p:cNvSpPr>
          <p:nvPr/>
        </p:nvSpPr>
        <p:spPr>
          <a:xfrm>
            <a:off x="2965152" y="261841"/>
            <a:ext cx="9144000" cy="260647"/>
          </a:xfrm>
          <a:prstGeom prst="rect">
            <a:avLst/>
          </a:prstGeom>
        </p:spPr>
        <p:txBody>
          <a:bodyPr vert="horz" lIns="91440" tIns="45720" rIns="91440" bIns="45720" rtlCol="0" anchor="ctr">
            <a:noAutofit/>
          </a:bodyPr>
          <a:lstStyle>
            <a:lvl1pPr algn="l" defTabSz="914400" rtl="1" eaLnBrk="1" latinLnBrk="0" hangingPunct="1">
              <a:spcBef>
                <a:spcPct val="0"/>
              </a:spcBef>
              <a:buNone/>
              <a:defRPr sz="4000" kern="1200" spc="-100" baseline="0">
                <a:solidFill>
                  <a:schemeClr val="tx2"/>
                </a:solidFill>
                <a:latin typeface="+mj-lt"/>
                <a:ea typeface="+mj-ea"/>
                <a:cs typeface="+mj-cs"/>
              </a:defRPr>
            </a:lvl1pPr>
          </a:lstStyle>
          <a:p>
            <a:pPr algn="r"/>
            <a:r>
              <a:rPr lang="he-IL" b="1" dirty="0">
                <a:solidFill>
                  <a:srgbClr val="44546A"/>
                </a:solidFill>
                <a:latin typeface="Calibri Light" panose="020F0302020204030204"/>
                <a:cs typeface="Arial" panose="020B0604020202020204" pitchFamily="34" charset="0"/>
              </a:rPr>
              <a:t>שאלה 5</a:t>
            </a:r>
          </a:p>
        </p:txBody>
      </p:sp>
      <p:grpSp>
        <p:nvGrpSpPr>
          <p:cNvPr id="5" name="קבוצה 13"/>
          <p:cNvGrpSpPr/>
          <p:nvPr/>
        </p:nvGrpSpPr>
        <p:grpSpPr>
          <a:xfrm>
            <a:off x="2567608" y="2708920"/>
            <a:ext cx="6236392" cy="3509038"/>
            <a:chOff x="641321" y="3357562"/>
            <a:chExt cx="5288001" cy="2357454"/>
          </a:xfrm>
        </p:grpSpPr>
        <p:cxnSp>
          <p:nvCxnSpPr>
            <p:cNvPr id="6" name="מחבר חץ ישר 5"/>
            <p:cNvCxnSpPr/>
            <p:nvPr/>
          </p:nvCxnSpPr>
          <p:spPr>
            <a:xfrm rot="5400000" flipH="1" flipV="1">
              <a:off x="-536612" y="4535495"/>
              <a:ext cx="2357454"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מחבר חץ ישר 6"/>
            <p:cNvCxnSpPr/>
            <p:nvPr/>
          </p:nvCxnSpPr>
          <p:spPr>
            <a:xfrm flipV="1">
              <a:off x="642910" y="5715016"/>
              <a:ext cx="5286412"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8" name="TextBox 7"/>
          <p:cNvSpPr txBox="1"/>
          <p:nvPr/>
        </p:nvSpPr>
        <p:spPr>
          <a:xfrm>
            <a:off x="8935357" y="6033292"/>
            <a:ext cx="304891" cy="369332"/>
          </a:xfrm>
          <a:prstGeom prst="rect">
            <a:avLst/>
          </a:prstGeom>
          <a:noFill/>
        </p:spPr>
        <p:txBody>
          <a:bodyPr wrap="none" rtlCol="1">
            <a:spAutoFit/>
          </a:bodyPr>
          <a:lstStyle/>
          <a:p>
            <a:r>
              <a:rPr lang="en-US" dirty="0">
                <a:solidFill>
                  <a:prstClr val="black"/>
                </a:solidFill>
                <a:latin typeface="Calibri" panose="020F0502020204030204"/>
              </a:rPr>
              <a:t>X</a:t>
            </a:r>
            <a:endParaRPr lang="he-IL" dirty="0">
              <a:solidFill>
                <a:prstClr val="black"/>
              </a:solidFill>
              <a:latin typeface="Calibri" panose="020F0502020204030204"/>
              <a:cs typeface="Arial" panose="020B0604020202020204" pitchFamily="34" charset="0"/>
            </a:endParaRPr>
          </a:p>
        </p:txBody>
      </p:sp>
      <p:sp>
        <p:nvSpPr>
          <p:cNvPr id="9" name="TextBox 8"/>
          <p:cNvSpPr txBox="1"/>
          <p:nvPr/>
        </p:nvSpPr>
        <p:spPr>
          <a:xfrm>
            <a:off x="2053562" y="2708920"/>
            <a:ext cx="303288" cy="369332"/>
          </a:xfrm>
          <a:prstGeom prst="rect">
            <a:avLst/>
          </a:prstGeom>
          <a:noFill/>
        </p:spPr>
        <p:txBody>
          <a:bodyPr wrap="none" rtlCol="1">
            <a:spAutoFit/>
          </a:bodyPr>
          <a:lstStyle/>
          <a:p>
            <a:r>
              <a:rPr lang="en-US" dirty="0">
                <a:solidFill>
                  <a:prstClr val="black"/>
                </a:solidFill>
                <a:latin typeface="Calibri" panose="020F0502020204030204"/>
              </a:rPr>
              <a:t>P</a:t>
            </a:r>
            <a:endParaRPr lang="he-IL" dirty="0">
              <a:solidFill>
                <a:prstClr val="black"/>
              </a:solidFill>
              <a:latin typeface="Calibri" panose="020F0502020204030204"/>
              <a:cs typeface="Arial" panose="020B0604020202020204" pitchFamily="34" charset="0"/>
            </a:endParaRPr>
          </a:p>
        </p:txBody>
      </p:sp>
      <p:sp>
        <p:nvSpPr>
          <p:cNvPr id="10" name="TextBox 9"/>
          <p:cNvSpPr txBox="1"/>
          <p:nvPr/>
        </p:nvSpPr>
        <p:spPr>
          <a:xfrm>
            <a:off x="1938736" y="4356089"/>
            <a:ext cx="576064" cy="369332"/>
          </a:xfrm>
          <a:prstGeom prst="rect">
            <a:avLst/>
          </a:prstGeom>
          <a:noFill/>
        </p:spPr>
        <p:txBody>
          <a:bodyPr wrap="square" rtlCol="1">
            <a:spAutoFit/>
          </a:bodyPr>
          <a:lstStyle/>
          <a:p>
            <a:r>
              <a:rPr lang="en-US" b="1" dirty="0">
                <a:solidFill>
                  <a:prstClr val="black"/>
                </a:solidFill>
                <a:latin typeface="Calibri" panose="020F0502020204030204"/>
              </a:rPr>
              <a:t>22</a:t>
            </a:r>
            <a:endParaRPr lang="he-IL" b="1" dirty="0">
              <a:solidFill>
                <a:prstClr val="black"/>
              </a:solidFill>
              <a:latin typeface="Calibri" panose="020F0502020204030204"/>
              <a:cs typeface="Arial" panose="020B0604020202020204" pitchFamily="34" charset="0"/>
            </a:endParaRPr>
          </a:p>
        </p:txBody>
      </p:sp>
      <p:sp>
        <p:nvSpPr>
          <p:cNvPr id="11" name="TextBox 10"/>
          <p:cNvSpPr txBox="1"/>
          <p:nvPr/>
        </p:nvSpPr>
        <p:spPr>
          <a:xfrm>
            <a:off x="5843972" y="6344136"/>
            <a:ext cx="792088" cy="369332"/>
          </a:xfrm>
          <a:prstGeom prst="rect">
            <a:avLst/>
          </a:prstGeom>
          <a:noFill/>
        </p:spPr>
        <p:txBody>
          <a:bodyPr wrap="square" rtlCol="1">
            <a:spAutoFit/>
          </a:bodyPr>
          <a:lstStyle/>
          <a:p>
            <a:r>
              <a:rPr lang="en-US" b="1" dirty="0">
                <a:solidFill>
                  <a:prstClr val="black"/>
                </a:solidFill>
                <a:latin typeface="Calibri" panose="020F0502020204030204"/>
              </a:rPr>
              <a:t>1500</a:t>
            </a:r>
            <a:r>
              <a:rPr lang="en-US" b="1" dirty="0">
                <a:solidFill>
                  <a:srgbClr val="0070C0"/>
                </a:solidFill>
                <a:latin typeface="Calibri" panose="020F0502020204030204"/>
              </a:rPr>
              <a:t> </a:t>
            </a:r>
            <a:endParaRPr lang="he-IL" b="1" dirty="0">
              <a:solidFill>
                <a:srgbClr val="0070C0"/>
              </a:solidFill>
              <a:latin typeface="Calibri" panose="020F0502020204030204"/>
              <a:cs typeface="Arial" panose="020B0604020202020204" pitchFamily="34" charset="0"/>
            </a:endParaRPr>
          </a:p>
        </p:txBody>
      </p:sp>
      <p:cxnSp>
        <p:nvCxnSpPr>
          <p:cNvPr id="12" name="מחבר ישר 11"/>
          <p:cNvCxnSpPr/>
          <p:nvPr/>
        </p:nvCxnSpPr>
        <p:spPr>
          <a:xfrm>
            <a:off x="6279472" y="5126270"/>
            <a:ext cx="0" cy="1091689"/>
          </a:xfrm>
          <a:prstGeom prst="line">
            <a:avLst/>
          </a:prstGeom>
          <a:ln w="19050">
            <a:solidFill>
              <a:srgbClr val="0070C0"/>
            </a:solidFill>
            <a:prstDash val="lgDashDot"/>
          </a:ln>
        </p:spPr>
        <p:style>
          <a:lnRef idx="1">
            <a:schemeClr val="accent1"/>
          </a:lnRef>
          <a:fillRef idx="0">
            <a:schemeClr val="accent1"/>
          </a:fillRef>
          <a:effectRef idx="0">
            <a:schemeClr val="accent1"/>
          </a:effectRef>
          <a:fontRef idx="minor">
            <a:schemeClr val="tx1"/>
          </a:fontRef>
        </p:style>
      </p:cxnSp>
      <p:cxnSp>
        <p:nvCxnSpPr>
          <p:cNvPr id="13" name="מחבר ישר 12"/>
          <p:cNvCxnSpPr/>
          <p:nvPr/>
        </p:nvCxnSpPr>
        <p:spPr>
          <a:xfrm>
            <a:off x="2609292" y="5010561"/>
            <a:ext cx="3670180" cy="1"/>
          </a:xfrm>
          <a:prstGeom prst="line">
            <a:avLst/>
          </a:prstGeom>
          <a:ln w="12700">
            <a:solidFill>
              <a:srgbClr val="0070C0"/>
            </a:solidFill>
            <a:prstDash val="lgDashDot"/>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987705" y="4826991"/>
            <a:ext cx="576064" cy="369332"/>
          </a:xfrm>
          <a:prstGeom prst="rect">
            <a:avLst/>
          </a:prstGeom>
          <a:noFill/>
        </p:spPr>
        <p:txBody>
          <a:bodyPr wrap="square" rtlCol="1">
            <a:spAutoFit/>
          </a:bodyPr>
          <a:lstStyle/>
          <a:p>
            <a:r>
              <a:rPr lang="en-US" b="1" dirty="0">
                <a:solidFill>
                  <a:prstClr val="black"/>
                </a:solidFill>
                <a:latin typeface="Calibri" panose="020F0502020204030204"/>
              </a:rPr>
              <a:t>20</a:t>
            </a:r>
            <a:endParaRPr lang="he-IL" b="1" dirty="0">
              <a:solidFill>
                <a:prstClr val="black"/>
              </a:solidFill>
              <a:latin typeface="Calibri" panose="020F0502020204030204"/>
              <a:cs typeface="Arial" panose="020B0604020202020204" pitchFamily="34" charset="0"/>
            </a:endParaRPr>
          </a:p>
        </p:txBody>
      </p:sp>
      <p:sp>
        <p:nvSpPr>
          <p:cNvPr id="15" name="TextBox 14"/>
          <p:cNvSpPr txBox="1"/>
          <p:nvPr/>
        </p:nvSpPr>
        <p:spPr>
          <a:xfrm>
            <a:off x="7141108" y="6323134"/>
            <a:ext cx="792088" cy="369332"/>
          </a:xfrm>
          <a:prstGeom prst="rect">
            <a:avLst/>
          </a:prstGeom>
          <a:noFill/>
        </p:spPr>
        <p:txBody>
          <a:bodyPr wrap="square" rtlCol="1">
            <a:spAutoFit/>
          </a:bodyPr>
          <a:lstStyle/>
          <a:p>
            <a:r>
              <a:rPr lang="en-US" b="1" dirty="0">
                <a:solidFill>
                  <a:srgbClr val="FF0000"/>
                </a:solidFill>
                <a:latin typeface="Calibri" panose="020F0502020204030204"/>
              </a:rPr>
              <a:t>2000</a:t>
            </a:r>
            <a:endParaRPr lang="he-IL" b="1" dirty="0">
              <a:solidFill>
                <a:srgbClr val="FF0000"/>
              </a:solidFill>
              <a:latin typeface="Calibri" panose="020F0502020204030204"/>
              <a:cs typeface="Arial" panose="020B0604020202020204" pitchFamily="34" charset="0"/>
            </a:endParaRPr>
          </a:p>
        </p:txBody>
      </p:sp>
      <p:cxnSp>
        <p:nvCxnSpPr>
          <p:cNvPr id="16" name="מחבר ישר 15"/>
          <p:cNvCxnSpPr/>
          <p:nvPr/>
        </p:nvCxnSpPr>
        <p:spPr>
          <a:xfrm flipH="1">
            <a:off x="7566212" y="4526866"/>
            <a:ext cx="1" cy="1691092"/>
          </a:xfrm>
          <a:prstGeom prst="line">
            <a:avLst/>
          </a:prstGeom>
          <a:ln w="3175">
            <a:solidFill>
              <a:srgbClr val="FF0000"/>
            </a:solidFill>
            <a:prstDash val="lgDashDot"/>
          </a:ln>
        </p:spPr>
        <p:style>
          <a:lnRef idx="1">
            <a:schemeClr val="accent1"/>
          </a:lnRef>
          <a:fillRef idx="0">
            <a:schemeClr val="accent1"/>
          </a:fillRef>
          <a:effectRef idx="0">
            <a:schemeClr val="accent1"/>
          </a:effectRef>
          <a:fontRef idx="minor">
            <a:schemeClr val="tx1"/>
          </a:fontRef>
        </p:style>
      </p:cxnSp>
      <p:cxnSp>
        <p:nvCxnSpPr>
          <p:cNvPr id="17" name="מחבר ישר 16"/>
          <p:cNvCxnSpPr/>
          <p:nvPr/>
        </p:nvCxnSpPr>
        <p:spPr>
          <a:xfrm flipV="1">
            <a:off x="2584082" y="4526867"/>
            <a:ext cx="4953070" cy="13889"/>
          </a:xfrm>
          <a:prstGeom prst="line">
            <a:avLst/>
          </a:prstGeom>
          <a:ln w="3175">
            <a:solidFill>
              <a:srgbClr val="FF0000"/>
            </a:solidFill>
            <a:prstDash val="lgDashDot"/>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907725" y="6318846"/>
            <a:ext cx="792088" cy="369332"/>
          </a:xfrm>
          <a:prstGeom prst="rect">
            <a:avLst/>
          </a:prstGeom>
          <a:noFill/>
        </p:spPr>
        <p:txBody>
          <a:bodyPr wrap="square" rtlCol="1">
            <a:spAutoFit/>
          </a:bodyPr>
          <a:lstStyle/>
          <a:p>
            <a:r>
              <a:rPr lang="en-US" b="1" dirty="0">
                <a:solidFill>
                  <a:srgbClr val="0070C0"/>
                </a:solidFill>
                <a:latin typeface="Calibri" panose="020F0502020204030204"/>
              </a:rPr>
              <a:t>2200</a:t>
            </a:r>
            <a:endParaRPr lang="he-IL" b="1" dirty="0">
              <a:solidFill>
                <a:srgbClr val="0070C0"/>
              </a:solidFill>
              <a:latin typeface="Calibri" panose="020F0502020204030204"/>
              <a:cs typeface="Arial" panose="020B0604020202020204" pitchFamily="34" charset="0"/>
            </a:endParaRPr>
          </a:p>
        </p:txBody>
      </p:sp>
      <p:cxnSp>
        <p:nvCxnSpPr>
          <p:cNvPr id="30" name="מחבר ישר 29"/>
          <p:cNvCxnSpPr/>
          <p:nvPr/>
        </p:nvCxnSpPr>
        <p:spPr>
          <a:xfrm flipH="1">
            <a:off x="8312980" y="4540754"/>
            <a:ext cx="1" cy="1691092"/>
          </a:xfrm>
          <a:prstGeom prst="line">
            <a:avLst/>
          </a:prstGeom>
          <a:ln w="3175">
            <a:solidFill>
              <a:srgbClr val="0070C0"/>
            </a:solidFill>
            <a:prstDash val="lgDashDot"/>
          </a:ln>
        </p:spPr>
        <p:style>
          <a:lnRef idx="1">
            <a:schemeClr val="accent1"/>
          </a:lnRef>
          <a:fillRef idx="0">
            <a:schemeClr val="accent1"/>
          </a:fillRef>
          <a:effectRef idx="0">
            <a:schemeClr val="accent1"/>
          </a:effectRef>
          <a:fontRef idx="minor">
            <a:schemeClr val="tx1"/>
          </a:fontRef>
        </p:style>
      </p:cxnSp>
      <p:cxnSp>
        <p:nvCxnSpPr>
          <p:cNvPr id="31" name="מחבר ישר 30"/>
          <p:cNvCxnSpPr/>
          <p:nvPr/>
        </p:nvCxnSpPr>
        <p:spPr>
          <a:xfrm flipV="1">
            <a:off x="2609293" y="4512976"/>
            <a:ext cx="5703689" cy="13890"/>
          </a:xfrm>
          <a:prstGeom prst="line">
            <a:avLst/>
          </a:prstGeom>
          <a:ln w="3175">
            <a:solidFill>
              <a:srgbClr val="0070C0"/>
            </a:solidFill>
            <a:prstDash val="lgDashDot"/>
          </a:ln>
        </p:spPr>
        <p:style>
          <a:lnRef idx="1">
            <a:schemeClr val="accent1"/>
          </a:lnRef>
          <a:fillRef idx="0">
            <a:schemeClr val="accent1"/>
          </a:fillRef>
          <a:effectRef idx="0">
            <a:schemeClr val="accent1"/>
          </a:effectRef>
          <a:fontRef idx="minor">
            <a:schemeClr val="tx1"/>
          </a:fontRef>
        </p:style>
      </p:cxnSp>
      <p:cxnSp>
        <p:nvCxnSpPr>
          <p:cNvPr id="34" name="מחבר ישר 33"/>
          <p:cNvCxnSpPr/>
          <p:nvPr/>
        </p:nvCxnSpPr>
        <p:spPr>
          <a:xfrm>
            <a:off x="6279472" y="4996586"/>
            <a:ext cx="0" cy="1221372"/>
          </a:xfrm>
          <a:prstGeom prst="line">
            <a:avLst/>
          </a:prstGeom>
          <a:ln w="19050">
            <a:solidFill>
              <a:srgbClr val="FF0000"/>
            </a:solidFill>
            <a:prstDash val="lgDashDot"/>
          </a:ln>
        </p:spPr>
        <p:style>
          <a:lnRef idx="1">
            <a:schemeClr val="accent1"/>
          </a:lnRef>
          <a:fillRef idx="0">
            <a:schemeClr val="accent1"/>
          </a:fillRef>
          <a:effectRef idx="0">
            <a:schemeClr val="accent1"/>
          </a:effectRef>
          <a:fontRef idx="minor">
            <a:schemeClr val="tx1"/>
          </a:fontRef>
        </p:style>
      </p:cxnSp>
      <p:cxnSp>
        <p:nvCxnSpPr>
          <p:cNvPr id="35" name="מחבר ישר 34"/>
          <p:cNvCxnSpPr>
            <a:stCxn id="14" idx="3"/>
          </p:cNvCxnSpPr>
          <p:nvPr/>
        </p:nvCxnSpPr>
        <p:spPr>
          <a:xfrm flipV="1">
            <a:off x="2563769" y="5009465"/>
            <a:ext cx="3715702" cy="2193"/>
          </a:xfrm>
          <a:prstGeom prst="line">
            <a:avLst/>
          </a:prstGeom>
          <a:ln w="12700">
            <a:solidFill>
              <a:srgbClr val="FF0000"/>
            </a:solidFill>
            <a:prstDash val="lgDashDot"/>
          </a:ln>
        </p:spPr>
        <p:style>
          <a:lnRef idx="1">
            <a:schemeClr val="accent1"/>
          </a:lnRef>
          <a:fillRef idx="0">
            <a:schemeClr val="accent1"/>
          </a:fillRef>
          <a:effectRef idx="0">
            <a:schemeClr val="accent1"/>
          </a:effectRef>
          <a:fontRef idx="minor">
            <a:schemeClr val="tx1"/>
          </a:fontRef>
        </p:style>
      </p:cxnSp>
      <p:cxnSp>
        <p:nvCxnSpPr>
          <p:cNvPr id="40" name="מחבר ישר 39"/>
          <p:cNvCxnSpPr/>
          <p:nvPr/>
        </p:nvCxnSpPr>
        <p:spPr>
          <a:xfrm flipV="1">
            <a:off x="6279472" y="4558931"/>
            <a:ext cx="1286740" cy="48159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מחבר ישר 40"/>
          <p:cNvCxnSpPr/>
          <p:nvPr/>
        </p:nvCxnSpPr>
        <p:spPr>
          <a:xfrm flipV="1">
            <a:off x="6279473" y="4579250"/>
            <a:ext cx="2033509" cy="495483"/>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640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nodeType="with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500"/>
                                        <p:tgtEl>
                                          <p:spTgt spid="34"/>
                                        </p:tgtEl>
                                      </p:cBhvr>
                                    </p:animEffect>
                                  </p:childTnLst>
                                </p:cTn>
                              </p:par>
                              <p:par>
                                <p:cTn id="19" presetID="10"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down)">
                                      <p:cBhvr>
                                        <p:cTn id="35" dur="500"/>
                                        <p:tgtEl>
                                          <p:spTgt spid="16"/>
                                        </p:tgtEl>
                                      </p:cBhvr>
                                    </p:animEffect>
                                  </p:childTnLst>
                                </p:cTn>
                              </p:par>
                              <p:par>
                                <p:cTn id="36" presetID="22" presetClass="entr" presetSubtype="4"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down)">
                                      <p:cBhvr>
                                        <p:cTn id="38" dur="500"/>
                                        <p:tgtEl>
                                          <p:spTgt spid="17"/>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down)">
                                      <p:cBhvr>
                                        <p:cTn id="41" dur="500"/>
                                        <p:tgtEl>
                                          <p:spTgt spid="10"/>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down)">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wipe(down)">
                                      <p:cBhvr>
                                        <p:cTn id="53" dur="500"/>
                                        <p:tgtEl>
                                          <p:spTgt spid="30"/>
                                        </p:tgtEl>
                                      </p:cBhvr>
                                    </p:animEffect>
                                  </p:childTnLst>
                                </p:cTn>
                              </p:par>
                              <p:par>
                                <p:cTn id="54" presetID="22" presetClass="entr" presetSubtype="4" fill="hold" nodeType="with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wipe(down)">
                                      <p:cBhvr>
                                        <p:cTn id="56" dur="500"/>
                                        <p:tgtEl>
                                          <p:spTgt spid="31"/>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wipe(down)">
                                      <p:cBhvr>
                                        <p:cTn id="59" dur="500"/>
                                        <p:tgtEl>
                                          <p:spTgt spid="19"/>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wipe(down)">
                                      <p:cBhvr>
                                        <p:cTn id="64"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4" grpId="0"/>
      <p:bldP spid="15" grpId="0"/>
      <p:bldP spid="1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1"/>
          <p:cNvSpPr txBox="1">
            <a:spLocks/>
          </p:cNvSpPr>
          <p:nvPr/>
        </p:nvSpPr>
        <p:spPr>
          <a:xfrm>
            <a:off x="2965152" y="374857"/>
            <a:ext cx="9144000" cy="260647"/>
          </a:xfrm>
          <a:prstGeom prst="rect">
            <a:avLst/>
          </a:prstGeom>
        </p:spPr>
        <p:txBody>
          <a:bodyPr vert="horz" lIns="91440" tIns="45720" rIns="91440" bIns="45720" rtlCol="0" anchor="ctr">
            <a:noAutofit/>
          </a:bodyPr>
          <a:lstStyle>
            <a:lvl1pPr algn="l" defTabSz="914400" rtl="1" eaLnBrk="1" latinLnBrk="0" hangingPunct="1">
              <a:spcBef>
                <a:spcPct val="0"/>
              </a:spcBef>
              <a:buNone/>
              <a:defRPr sz="4000" kern="1200" spc="-100" baseline="0">
                <a:solidFill>
                  <a:schemeClr val="tx2"/>
                </a:solidFill>
                <a:latin typeface="+mj-lt"/>
                <a:ea typeface="+mj-ea"/>
                <a:cs typeface="+mj-cs"/>
              </a:defRPr>
            </a:lvl1pPr>
          </a:lstStyle>
          <a:p>
            <a:pPr algn="r"/>
            <a:r>
              <a:rPr lang="he-IL" b="1" dirty="0">
                <a:solidFill>
                  <a:srgbClr val="44546A"/>
                </a:solidFill>
                <a:latin typeface="Calibri Light" panose="020F0302020204030204"/>
                <a:cs typeface="Arial" panose="020B0604020202020204" pitchFamily="34" charset="0"/>
              </a:rPr>
              <a:t>שאלה 5</a:t>
            </a:r>
          </a:p>
        </p:txBody>
      </p:sp>
      <p:grpSp>
        <p:nvGrpSpPr>
          <p:cNvPr id="5" name="קבוצה 13"/>
          <p:cNvGrpSpPr/>
          <p:nvPr/>
        </p:nvGrpSpPr>
        <p:grpSpPr>
          <a:xfrm>
            <a:off x="2567608" y="2708920"/>
            <a:ext cx="6236392" cy="3509038"/>
            <a:chOff x="641321" y="3357562"/>
            <a:chExt cx="5288001" cy="2357454"/>
          </a:xfrm>
        </p:grpSpPr>
        <p:cxnSp>
          <p:nvCxnSpPr>
            <p:cNvPr id="6" name="מחבר חץ ישר 5"/>
            <p:cNvCxnSpPr/>
            <p:nvPr/>
          </p:nvCxnSpPr>
          <p:spPr>
            <a:xfrm rot="5400000" flipH="1" flipV="1">
              <a:off x="-536612" y="4535495"/>
              <a:ext cx="2357454"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מחבר חץ ישר 6"/>
            <p:cNvCxnSpPr/>
            <p:nvPr/>
          </p:nvCxnSpPr>
          <p:spPr>
            <a:xfrm flipV="1">
              <a:off x="642910" y="5715016"/>
              <a:ext cx="5286412"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8" name="TextBox 7"/>
          <p:cNvSpPr txBox="1"/>
          <p:nvPr/>
        </p:nvSpPr>
        <p:spPr>
          <a:xfrm>
            <a:off x="8935357" y="6033292"/>
            <a:ext cx="304891" cy="369332"/>
          </a:xfrm>
          <a:prstGeom prst="rect">
            <a:avLst/>
          </a:prstGeom>
          <a:noFill/>
        </p:spPr>
        <p:txBody>
          <a:bodyPr wrap="none" rtlCol="1">
            <a:spAutoFit/>
          </a:bodyPr>
          <a:lstStyle/>
          <a:p>
            <a:r>
              <a:rPr lang="en-US" dirty="0">
                <a:solidFill>
                  <a:prstClr val="black"/>
                </a:solidFill>
                <a:latin typeface="Calibri" panose="020F0502020204030204"/>
              </a:rPr>
              <a:t>X</a:t>
            </a:r>
            <a:endParaRPr lang="he-IL" dirty="0">
              <a:solidFill>
                <a:prstClr val="black"/>
              </a:solidFill>
              <a:latin typeface="Calibri" panose="020F0502020204030204"/>
              <a:cs typeface="Arial" panose="020B0604020202020204" pitchFamily="34" charset="0"/>
            </a:endParaRPr>
          </a:p>
        </p:txBody>
      </p:sp>
      <p:sp>
        <p:nvSpPr>
          <p:cNvPr id="9" name="TextBox 8"/>
          <p:cNvSpPr txBox="1"/>
          <p:nvPr/>
        </p:nvSpPr>
        <p:spPr>
          <a:xfrm>
            <a:off x="2053562" y="2708920"/>
            <a:ext cx="303288" cy="369332"/>
          </a:xfrm>
          <a:prstGeom prst="rect">
            <a:avLst/>
          </a:prstGeom>
          <a:noFill/>
        </p:spPr>
        <p:txBody>
          <a:bodyPr wrap="none" rtlCol="1">
            <a:spAutoFit/>
          </a:bodyPr>
          <a:lstStyle/>
          <a:p>
            <a:r>
              <a:rPr lang="en-US" dirty="0">
                <a:solidFill>
                  <a:prstClr val="black"/>
                </a:solidFill>
                <a:latin typeface="Calibri" panose="020F0502020204030204"/>
              </a:rPr>
              <a:t>P</a:t>
            </a:r>
            <a:endParaRPr lang="he-IL" dirty="0">
              <a:solidFill>
                <a:prstClr val="black"/>
              </a:solidFill>
              <a:latin typeface="Calibri" panose="020F0502020204030204"/>
              <a:cs typeface="Arial" panose="020B0604020202020204" pitchFamily="34" charset="0"/>
            </a:endParaRPr>
          </a:p>
        </p:txBody>
      </p:sp>
      <p:sp>
        <p:nvSpPr>
          <p:cNvPr id="10" name="TextBox 9"/>
          <p:cNvSpPr txBox="1"/>
          <p:nvPr/>
        </p:nvSpPr>
        <p:spPr>
          <a:xfrm>
            <a:off x="1938736" y="4356089"/>
            <a:ext cx="576064" cy="369332"/>
          </a:xfrm>
          <a:prstGeom prst="rect">
            <a:avLst/>
          </a:prstGeom>
          <a:noFill/>
        </p:spPr>
        <p:txBody>
          <a:bodyPr wrap="square" rtlCol="1">
            <a:spAutoFit/>
          </a:bodyPr>
          <a:lstStyle/>
          <a:p>
            <a:r>
              <a:rPr lang="en-US" b="1" dirty="0">
                <a:solidFill>
                  <a:prstClr val="black"/>
                </a:solidFill>
                <a:latin typeface="Calibri" panose="020F0502020204030204"/>
              </a:rPr>
              <a:t>22</a:t>
            </a:r>
            <a:endParaRPr lang="he-IL" b="1" dirty="0">
              <a:solidFill>
                <a:prstClr val="black"/>
              </a:solidFill>
              <a:latin typeface="Calibri" panose="020F0502020204030204"/>
              <a:cs typeface="Arial" panose="020B0604020202020204" pitchFamily="34" charset="0"/>
            </a:endParaRPr>
          </a:p>
        </p:txBody>
      </p:sp>
      <p:sp>
        <p:nvSpPr>
          <p:cNvPr id="11" name="TextBox 10"/>
          <p:cNvSpPr txBox="1"/>
          <p:nvPr/>
        </p:nvSpPr>
        <p:spPr>
          <a:xfrm>
            <a:off x="5843972" y="6344136"/>
            <a:ext cx="792088" cy="369332"/>
          </a:xfrm>
          <a:prstGeom prst="rect">
            <a:avLst/>
          </a:prstGeom>
          <a:noFill/>
        </p:spPr>
        <p:txBody>
          <a:bodyPr wrap="square" rtlCol="1">
            <a:spAutoFit/>
          </a:bodyPr>
          <a:lstStyle/>
          <a:p>
            <a:r>
              <a:rPr lang="en-US" b="1" dirty="0">
                <a:solidFill>
                  <a:prstClr val="black"/>
                </a:solidFill>
                <a:latin typeface="Calibri" panose="020F0502020204030204"/>
              </a:rPr>
              <a:t>1500</a:t>
            </a:r>
            <a:r>
              <a:rPr lang="en-US" b="1" dirty="0">
                <a:solidFill>
                  <a:srgbClr val="0070C0"/>
                </a:solidFill>
                <a:latin typeface="Calibri" panose="020F0502020204030204"/>
              </a:rPr>
              <a:t> </a:t>
            </a:r>
            <a:endParaRPr lang="he-IL" b="1" dirty="0">
              <a:solidFill>
                <a:srgbClr val="0070C0"/>
              </a:solidFill>
              <a:latin typeface="Calibri" panose="020F0502020204030204"/>
              <a:cs typeface="Arial" panose="020B0604020202020204" pitchFamily="34" charset="0"/>
            </a:endParaRPr>
          </a:p>
        </p:txBody>
      </p:sp>
      <p:cxnSp>
        <p:nvCxnSpPr>
          <p:cNvPr id="12" name="מחבר ישר 11"/>
          <p:cNvCxnSpPr/>
          <p:nvPr/>
        </p:nvCxnSpPr>
        <p:spPr>
          <a:xfrm>
            <a:off x="6279472" y="5126270"/>
            <a:ext cx="0" cy="1091689"/>
          </a:xfrm>
          <a:prstGeom prst="line">
            <a:avLst/>
          </a:prstGeom>
          <a:ln w="3175">
            <a:solidFill>
              <a:srgbClr val="0070C0"/>
            </a:solidFill>
            <a:prstDash val="lgDashDot"/>
          </a:ln>
        </p:spPr>
        <p:style>
          <a:lnRef idx="1">
            <a:schemeClr val="accent1"/>
          </a:lnRef>
          <a:fillRef idx="0">
            <a:schemeClr val="accent1"/>
          </a:fillRef>
          <a:effectRef idx="0">
            <a:schemeClr val="accent1"/>
          </a:effectRef>
          <a:fontRef idx="minor">
            <a:schemeClr val="tx1"/>
          </a:fontRef>
        </p:style>
      </p:cxnSp>
      <p:cxnSp>
        <p:nvCxnSpPr>
          <p:cNvPr id="13" name="מחבר ישר 12"/>
          <p:cNvCxnSpPr/>
          <p:nvPr/>
        </p:nvCxnSpPr>
        <p:spPr>
          <a:xfrm>
            <a:off x="2609292" y="5010561"/>
            <a:ext cx="3670180" cy="1"/>
          </a:xfrm>
          <a:prstGeom prst="line">
            <a:avLst/>
          </a:prstGeom>
          <a:ln w="3175">
            <a:solidFill>
              <a:srgbClr val="0070C0"/>
            </a:solidFill>
            <a:prstDash val="lgDashDot"/>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987705" y="4826991"/>
            <a:ext cx="576064" cy="369332"/>
          </a:xfrm>
          <a:prstGeom prst="rect">
            <a:avLst/>
          </a:prstGeom>
          <a:noFill/>
        </p:spPr>
        <p:txBody>
          <a:bodyPr wrap="square" rtlCol="1">
            <a:spAutoFit/>
          </a:bodyPr>
          <a:lstStyle/>
          <a:p>
            <a:r>
              <a:rPr lang="en-US" b="1" dirty="0">
                <a:solidFill>
                  <a:prstClr val="black"/>
                </a:solidFill>
                <a:latin typeface="Calibri" panose="020F0502020204030204"/>
              </a:rPr>
              <a:t>20</a:t>
            </a:r>
            <a:endParaRPr lang="he-IL" b="1" dirty="0">
              <a:solidFill>
                <a:prstClr val="black"/>
              </a:solidFill>
              <a:latin typeface="Calibri" panose="020F0502020204030204"/>
              <a:cs typeface="Arial" panose="020B0604020202020204" pitchFamily="34" charset="0"/>
            </a:endParaRPr>
          </a:p>
        </p:txBody>
      </p:sp>
      <p:sp>
        <p:nvSpPr>
          <p:cNvPr id="15" name="TextBox 14"/>
          <p:cNvSpPr txBox="1"/>
          <p:nvPr/>
        </p:nvSpPr>
        <p:spPr>
          <a:xfrm>
            <a:off x="7141108" y="6323134"/>
            <a:ext cx="792088" cy="369332"/>
          </a:xfrm>
          <a:prstGeom prst="rect">
            <a:avLst/>
          </a:prstGeom>
          <a:noFill/>
        </p:spPr>
        <p:txBody>
          <a:bodyPr wrap="square" rtlCol="1">
            <a:spAutoFit/>
          </a:bodyPr>
          <a:lstStyle/>
          <a:p>
            <a:r>
              <a:rPr lang="en-US" b="1" dirty="0">
                <a:solidFill>
                  <a:srgbClr val="FF0000"/>
                </a:solidFill>
                <a:latin typeface="Calibri" panose="020F0502020204030204"/>
              </a:rPr>
              <a:t>2000</a:t>
            </a:r>
            <a:endParaRPr lang="he-IL" b="1" dirty="0">
              <a:solidFill>
                <a:srgbClr val="FF0000"/>
              </a:solidFill>
              <a:latin typeface="Calibri" panose="020F0502020204030204"/>
              <a:cs typeface="Arial" panose="020B0604020202020204" pitchFamily="34" charset="0"/>
            </a:endParaRPr>
          </a:p>
        </p:txBody>
      </p:sp>
      <p:cxnSp>
        <p:nvCxnSpPr>
          <p:cNvPr id="16" name="מחבר ישר 15"/>
          <p:cNvCxnSpPr/>
          <p:nvPr/>
        </p:nvCxnSpPr>
        <p:spPr>
          <a:xfrm flipH="1">
            <a:off x="7566212" y="4526866"/>
            <a:ext cx="1" cy="1691092"/>
          </a:xfrm>
          <a:prstGeom prst="line">
            <a:avLst/>
          </a:prstGeom>
          <a:ln w="3175">
            <a:solidFill>
              <a:srgbClr val="FF0000"/>
            </a:solidFill>
            <a:prstDash val="lgDashDot"/>
          </a:ln>
        </p:spPr>
        <p:style>
          <a:lnRef idx="1">
            <a:schemeClr val="accent1"/>
          </a:lnRef>
          <a:fillRef idx="0">
            <a:schemeClr val="accent1"/>
          </a:fillRef>
          <a:effectRef idx="0">
            <a:schemeClr val="accent1"/>
          </a:effectRef>
          <a:fontRef idx="minor">
            <a:schemeClr val="tx1"/>
          </a:fontRef>
        </p:style>
      </p:cxnSp>
      <p:cxnSp>
        <p:nvCxnSpPr>
          <p:cNvPr id="17" name="מחבר ישר 16"/>
          <p:cNvCxnSpPr/>
          <p:nvPr/>
        </p:nvCxnSpPr>
        <p:spPr>
          <a:xfrm flipV="1">
            <a:off x="2584082" y="4526867"/>
            <a:ext cx="4953070" cy="13889"/>
          </a:xfrm>
          <a:prstGeom prst="line">
            <a:avLst/>
          </a:prstGeom>
          <a:ln w="3175">
            <a:solidFill>
              <a:srgbClr val="FF0000"/>
            </a:solidFill>
            <a:prstDash val="lgDashDot"/>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907725" y="6318846"/>
            <a:ext cx="792088" cy="369332"/>
          </a:xfrm>
          <a:prstGeom prst="rect">
            <a:avLst/>
          </a:prstGeom>
          <a:noFill/>
        </p:spPr>
        <p:txBody>
          <a:bodyPr wrap="square" rtlCol="1">
            <a:spAutoFit/>
          </a:bodyPr>
          <a:lstStyle/>
          <a:p>
            <a:r>
              <a:rPr lang="en-US" b="1" dirty="0">
                <a:solidFill>
                  <a:srgbClr val="0070C0"/>
                </a:solidFill>
                <a:latin typeface="Calibri" panose="020F0502020204030204"/>
              </a:rPr>
              <a:t>2200</a:t>
            </a:r>
            <a:endParaRPr lang="he-IL" b="1" dirty="0">
              <a:solidFill>
                <a:srgbClr val="0070C0"/>
              </a:solidFill>
              <a:latin typeface="Calibri" panose="020F0502020204030204"/>
              <a:cs typeface="Arial" panose="020B0604020202020204" pitchFamily="34" charset="0"/>
            </a:endParaRPr>
          </a:p>
        </p:txBody>
      </p:sp>
      <p:cxnSp>
        <p:nvCxnSpPr>
          <p:cNvPr id="30" name="מחבר ישר 29"/>
          <p:cNvCxnSpPr/>
          <p:nvPr/>
        </p:nvCxnSpPr>
        <p:spPr>
          <a:xfrm flipH="1">
            <a:off x="8312980" y="4540754"/>
            <a:ext cx="1" cy="1691092"/>
          </a:xfrm>
          <a:prstGeom prst="line">
            <a:avLst/>
          </a:prstGeom>
          <a:ln w="3175">
            <a:solidFill>
              <a:srgbClr val="0070C0"/>
            </a:solidFill>
            <a:prstDash val="lgDashDot"/>
          </a:ln>
        </p:spPr>
        <p:style>
          <a:lnRef idx="1">
            <a:schemeClr val="accent1"/>
          </a:lnRef>
          <a:fillRef idx="0">
            <a:schemeClr val="accent1"/>
          </a:fillRef>
          <a:effectRef idx="0">
            <a:schemeClr val="accent1"/>
          </a:effectRef>
          <a:fontRef idx="minor">
            <a:schemeClr val="tx1"/>
          </a:fontRef>
        </p:style>
      </p:cxnSp>
      <p:cxnSp>
        <p:nvCxnSpPr>
          <p:cNvPr id="31" name="מחבר ישר 30"/>
          <p:cNvCxnSpPr/>
          <p:nvPr/>
        </p:nvCxnSpPr>
        <p:spPr>
          <a:xfrm flipV="1">
            <a:off x="2609293" y="4512976"/>
            <a:ext cx="5703689" cy="13890"/>
          </a:xfrm>
          <a:prstGeom prst="line">
            <a:avLst/>
          </a:prstGeom>
          <a:ln w="3175">
            <a:solidFill>
              <a:srgbClr val="0070C0"/>
            </a:solidFill>
            <a:prstDash val="lgDashDot"/>
          </a:ln>
        </p:spPr>
        <p:style>
          <a:lnRef idx="1">
            <a:schemeClr val="accent1"/>
          </a:lnRef>
          <a:fillRef idx="0">
            <a:schemeClr val="accent1"/>
          </a:fillRef>
          <a:effectRef idx="0">
            <a:schemeClr val="accent1"/>
          </a:effectRef>
          <a:fontRef idx="minor">
            <a:schemeClr val="tx1"/>
          </a:fontRef>
        </p:style>
      </p:cxnSp>
      <p:cxnSp>
        <p:nvCxnSpPr>
          <p:cNvPr id="34" name="מחבר ישר 33"/>
          <p:cNvCxnSpPr/>
          <p:nvPr/>
        </p:nvCxnSpPr>
        <p:spPr>
          <a:xfrm>
            <a:off x="6279472" y="4996586"/>
            <a:ext cx="0" cy="1221372"/>
          </a:xfrm>
          <a:prstGeom prst="line">
            <a:avLst/>
          </a:prstGeom>
          <a:ln w="3175">
            <a:solidFill>
              <a:srgbClr val="FF0000"/>
            </a:solidFill>
            <a:prstDash val="lgDashDot"/>
          </a:ln>
        </p:spPr>
        <p:style>
          <a:lnRef idx="1">
            <a:schemeClr val="accent1"/>
          </a:lnRef>
          <a:fillRef idx="0">
            <a:schemeClr val="accent1"/>
          </a:fillRef>
          <a:effectRef idx="0">
            <a:schemeClr val="accent1"/>
          </a:effectRef>
          <a:fontRef idx="minor">
            <a:schemeClr val="tx1"/>
          </a:fontRef>
        </p:style>
      </p:cxnSp>
      <p:cxnSp>
        <p:nvCxnSpPr>
          <p:cNvPr id="35" name="מחבר ישר 34"/>
          <p:cNvCxnSpPr/>
          <p:nvPr/>
        </p:nvCxnSpPr>
        <p:spPr>
          <a:xfrm flipV="1">
            <a:off x="2586531" y="5014732"/>
            <a:ext cx="3715702" cy="2193"/>
          </a:xfrm>
          <a:prstGeom prst="line">
            <a:avLst/>
          </a:prstGeom>
          <a:ln w="3175">
            <a:solidFill>
              <a:srgbClr val="FF0000"/>
            </a:solidFill>
            <a:prstDash val="lgDashDot"/>
          </a:ln>
        </p:spPr>
        <p:style>
          <a:lnRef idx="1">
            <a:schemeClr val="accent1"/>
          </a:lnRef>
          <a:fillRef idx="0">
            <a:schemeClr val="accent1"/>
          </a:fillRef>
          <a:effectRef idx="0">
            <a:schemeClr val="accent1"/>
          </a:effectRef>
          <a:fontRef idx="minor">
            <a:schemeClr val="tx1"/>
          </a:fontRef>
        </p:style>
      </p:cxnSp>
      <p:cxnSp>
        <p:nvCxnSpPr>
          <p:cNvPr id="40" name="מחבר ישר 39"/>
          <p:cNvCxnSpPr/>
          <p:nvPr/>
        </p:nvCxnSpPr>
        <p:spPr>
          <a:xfrm flipV="1">
            <a:off x="6279472" y="4558931"/>
            <a:ext cx="1286740" cy="48159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מחבר ישר 40"/>
          <p:cNvCxnSpPr/>
          <p:nvPr/>
        </p:nvCxnSpPr>
        <p:spPr>
          <a:xfrm flipV="1">
            <a:off x="6279473" y="4579250"/>
            <a:ext cx="2033509" cy="495483"/>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5" name="מציין מיקום תוכן 2"/>
          <p:cNvSpPr>
            <a:spLocks noGrp="1"/>
          </p:cNvSpPr>
          <p:nvPr>
            <p:ph idx="1"/>
          </p:nvPr>
        </p:nvSpPr>
        <p:spPr>
          <a:xfrm>
            <a:off x="1613756" y="380435"/>
            <a:ext cx="8460432" cy="864096"/>
          </a:xfrm>
        </p:spPr>
        <p:txBody>
          <a:bodyPr>
            <a:normAutofit/>
          </a:bodyPr>
          <a:lstStyle/>
          <a:p>
            <a:pPr marL="0" indent="0" algn="r" rtl="1">
              <a:buNone/>
            </a:pPr>
            <a:r>
              <a:rPr lang="he-IL" sz="2000" dirty="0"/>
              <a:t>ב. הסבירו ללא חישובים, לאיזה פירמה גמישות ההיצע גבוהה יותר בתחום של המחירים </a:t>
            </a:r>
            <a:r>
              <a:rPr lang="en-US" sz="2000" dirty="0"/>
              <a:t> p=20 </a:t>
            </a:r>
            <a:r>
              <a:rPr lang="he-IL" sz="2000" dirty="0"/>
              <a:t>ו-</a:t>
            </a:r>
            <a:r>
              <a:rPr lang="en-US" sz="2000" dirty="0"/>
              <a:t>p=22 </a:t>
            </a:r>
            <a:r>
              <a:rPr lang="he-IL" sz="2000" dirty="0"/>
              <a:t>.</a:t>
            </a:r>
            <a:endParaRPr lang="en-US" sz="2000" dirty="0"/>
          </a:p>
        </p:txBody>
      </p:sp>
      <p:sp>
        <p:nvSpPr>
          <p:cNvPr id="18" name="TextBox 17"/>
          <p:cNvSpPr txBox="1"/>
          <p:nvPr/>
        </p:nvSpPr>
        <p:spPr>
          <a:xfrm>
            <a:off x="3496376" y="1463358"/>
            <a:ext cx="6337954" cy="646331"/>
          </a:xfrm>
          <a:prstGeom prst="rect">
            <a:avLst/>
          </a:prstGeom>
          <a:noFill/>
        </p:spPr>
        <p:txBody>
          <a:bodyPr wrap="square" rtlCol="1">
            <a:spAutoFit/>
          </a:bodyPr>
          <a:lstStyle/>
          <a:p>
            <a:r>
              <a:rPr lang="he-IL" dirty="0">
                <a:solidFill>
                  <a:prstClr val="black"/>
                </a:solidFill>
                <a:latin typeface="Calibri" panose="020F0502020204030204"/>
                <a:cs typeface="Arial" panose="020B0604020202020204" pitchFamily="34" charset="0"/>
              </a:rPr>
              <a:t>עבור שינוי של 10% ב</a:t>
            </a:r>
            <a:r>
              <a:rPr lang="en-US" dirty="0">
                <a:solidFill>
                  <a:prstClr val="black"/>
                </a:solidFill>
                <a:latin typeface="Calibri" panose="020F0502020204030204"/>
              </a:rPr>
              <a:t>P-</a:t>
            </a:r>
            <a:r>
              <a:rPr lang="he-IL" dirty="0">
                <a:solidFill>
                  <a:prstClr val="black"/>
                </a:solidFill>
                <a:latin typeface="Calibri" panose="020F0502020204030204"/>
                <a:cs typeface="Arial" panose="020B0604020202020204" pitchFamily="34" charset="0"/>
              </a:rPr>
              <a:t>, אחוז השינוי בכמות המוצעת יהיה גדול יותר עבור </a:t>
            </a:r>
            <a:r>
              <a:rPr lang="he-IL" b="1" dirty="0">
                <a:solidFill>
                  <a:srgbClr val="0070C0"/>
                </a:solidFill>
                <a:latin typeface="Calibri" panose="020F0502020204030204"/>
                <a:cs typeface="Arial" panose="020B0604020202020204" pitchFamily="34" charset="0"/>
              </a:rPr>
              <a:t>פירמה ב', </a:t>
            </a:r>
            <a:r>
              <a:rPr lang="he-IL" dirty="0">
                <a:solidFill>
                  <a:prstClr val="black"/>
                </a:solidFill>
                <a:latin typeface="Calibri" panose="020F0502020204030204"/>
                <a:cs typeface="Arial" panose="020B0604020202020204" pitchFamily="34" charset="0"/>
              </a:rPr>
              <a:t>ולכן גמישות ההיצע של </a:t>
            </a:r>
            <a:r>
              <a:rPr lang="he-IL" b="1" dirty="0">
                <a:solidFill>
                  <a:srgbClr val="0070C0"/>
                </a:solidFill>
                <a:latin typeface="Calibri" panose="020F0502020204030204"/>
                <a:cs typeface="Arial" panose="020B0604020202020204" pitchFamily="34" charset="0"/>
              </a:rPr>
              <a:t>פירמה ב' </a:t>
            </a:r>
            <a:r>
              <a:rPr lang="he-IL" b="1" dirty="0">
                <a:solidFill>
                  <a:prstClr val="black"/>
                </a:solidFill>
                <a:latin typeface="Calibri" panose="020F0502020204030204"/>
                <a:cs typeface="Arial" panose="020B0604020202020204" pitchFamily="34" charset="0"/>
              </a:rPr>
              <a:t>גבוהה יותר</a:t>
            </a:r>
            <a:r>
              <a:rPr lang="he-IL" dirty="0">
                <a:solidFill>
                  <a:prstClr val="black"/>
                </a:solidFill>
                <a:latin typeface="Calibri" panose="020F0502020204030204"/>
                <a:cs typeface="Arial" panose="020B0604020202020204" pitchFamily="34" charset="0"/>
              </a:rPr>
              <a:t>. </a:t>
            </a:r>
          </a:p>
        </p:txBody>
      </p:sp>
      <mc:AlternateContent xmlns:mc="http://schemas.openxmlformats.org/markup-compatibility/2006" xmlns:a14="http://schemas.microsoft.com/office/drawing/2010/main">
        <mc:Choice Requires="a14">
          <p:sp>
            <p:nvSpPr>
              <p:cNvPr id="32" name="TextBox 31"/>
              <p:cNvSpPr txBox="1"/>
              <p:nvPr/>
            </p:nvSpPr>
            <p:spPr>
              <a:xfrm>
                <a:off x="3316636" y="3151786"/>
                <a:ext cx="3299259" cy="644344"/>
              </a:xfrm>
              <a:prstGeom prst="rect">
                <a:avLst/>
              </a:prstGeom>
              <a:noFill/>
            </p:spPr>
            <p:txBody>
              <a:bodyPr wrap="square" rtlCol="1">
                <a:spAutoFit/>
              </a:bodyPr>
              <a:lstStyle/>
              <a:p>
                <a:r>
                  <a:rPr lang="he-IL" dirty="0">
                    <a:solidFill>
                      <a:prstClr val="black"/>
                    </a:solidFill>
                    <a:latin typeface="Calibri" panose="020F0502020204030204"/>
                    <a:cs typeface="Arial" panose="020B0604020202020204" pitchFamily="34" charset="0"/>
                  </a:rPr>
                  <a:t>&gt;  </a:t>
                </a:r>
                <a14:m>
                  <m:oMath xmlns:m="http://schemas.openxmlformats.org/officeDocument/2006/math">
                    <m:r>
                      <a:rPr lang="he-IL" sz="2400" i="1">
                        <a:solidFill>
                          <a:prstClr val="black"/>
                        </a:solidFill>
                        <a:latin typeface="Cambria Math" panose="02040503050406030204" pitchFamily="18" charset="0"/>
                      </a:rPr>
                      <m:t>𝜂</m:t>
                    </m:r>
                    <m:r>
                      <a:rPr lang="he-IL" sz="2400">
                        <a:solidFill>
                          <a:prstClr val="black"/>
                        </a:solidFill>
                        <a:latin typeface="Cambria Math" panose="02040503050406030204" pitchFamily="18" charset="0"/>
                      </a:rPr>
                      <m:t>=</m:t>
                    </m:r>
                    <m:f>
                      <m:fPr>
                        <m:ctrlPr>
                          <a:rPr lang="he-IL" sz="2400" i="1">
                            <a:solidFill>
                              <a:prstClr val="black"/>
                            </a:solidFill>
                            <a:latin typeface="Cambria Math" panose="02040503050406030204" pitchFamily="18" charset="0"/>
                          </a:rPr>
                        </m:ctrlPr>
                      </m:fPr>
                      <m:num>
                        <m:r>
                          <a:rPr lang="he-IL" sz="2400" b="1" i="1">
                            <a:solidFill>
                              <a:srgbClr val="C00000"/>
                            </a:solidFill>
                            <a:latin typeface="Cambria Math" panose="02040503050406030204" pitchFamily="18" charset="0"/>
                          </a:rPr>
                          <m:t>𝟑𝟑</m:t>
                        </m:r>
                        <m:r>
                          <a:rPr lang="he-IL" sz="2400" b="1">
                            <a:solidFill>
                              <a:srgbClr val="C00000"/>
                            </a:solidFill>
                            <a:latin typeface="Cambria Math" panose="02040503050406030204" pitchFamily="18" charset="0"/>
                          </a:rPr>
                          <m:t>.</m:t>
                        </m:r>
                        <m:r>
                          <a:rPr lang="he-IL" sz="2400" b="1">
                            <a:solidFill>
                              <a:srgbClr val="C00000"/>
                            </a:solidFill>
                            <a:latin typeface="Cambria Math"/>
                          </a:rPr>
                          <m:t>𝟑</m:t>
                        </m:r>
                        <m:r>
                          <a:rPr lang="he-IL" sz="2400">
                            <a:solidFill>
                              <a:prstClr val="black"/>
                            </a:solidFill>
                            <a:latin typeface="Cambria Math"/>
                          </a:rPr>
                          <m:t>%</m:t>
                        </m:r>
                      </m:num>
                      <m:den>
                        <m:r>
                          <a:rPr lang="he-IL" sz="2400">
                            <a:solidFill>
                              <a:prstClr val="black"/>
                            </a:solidFill>
                            <a:latin typeface="Cambria Math" panose="02040503050406030204" pitchFamily="18" charset="0"/>
                          </a:rPr>
                          <m:t>10</m:t>
                        </m:r>
                        <m:r>
                          <a:rPr lang="he-IL" sz="2400">
                            <a:solidFill>
                              <a:prstClr val="black"/>
                            </a:solidFill>
                            <a:latin typeface="Cambria Math" panose="02040503050406030204" pitchFamily="18" charset="0"/>
                          </a:rPr>
                          <m:t>%</m:t>
                        </m:r>
                      </m:den>
                    </m:f>
                    <m:r>
                      <a:rPr lang="he-IL" sz="2400">
                        <a:solidFill>
                          <a:prstClr val="black"/>
                        </a:solidFill>
                        <a:latin typeface="Cambria Math" panose="02040503050406030204" pitchFamily="18" charset="0"/>
                      </a:rPr>
                      <m:t>=</m:t>
                    </m:r>
                    <m:r>
                      <a:rPr lang="he-IL" sz="2400" b="1" i="1">
                        <a:solidFill>
                          <a:srgbClr val="FF0000"/>
                        </a:solidFill>
                        <a:latin typeface="Cambria Math" panose="02040503050406030204" pitchFamily="18" charset="0"/>
                      </a:rPr>
                      <m:t>𝟑</m:t>
                    </m:r>
                    <m:r>
                      <a:rPr lang="he-IL" sz="2400" b="1">
                        <a:solidFill>
                          <a:srgbClr val="FF0000"/>
                        </a:solidFill>
                        <a:latin typeface="Cambria Math" panose="02040503050406030204" pitchFamily="18" charset="0"/>
                      </a:rPr>
                      <m:t>.</m:t>
                    </m:r>
                    <m:r>
                      <a:rPr lang="he-IL" sz="2400" b="1" i="1">
                        <a:solidFill>
                          <a:srgbClr val="FF0000"/>
                        </a:solidFill>
                        <a:latin typeface="Cambria Math" panose="02040503050406030204" pitchFamily="18" charset="0"/>
                      </a:rPr>
                      <m:t>𝟑</m:t>
                    </m:r>
                    <m:r>
                      <a:rPr lang="he-IL" sz="2400" b="1">
                        <a:solidFill>
                          <a:srgbClr val="FF0000"/>
                        </a:solidFill>
                        <a:latin typeface="Cambria Math"/>
                      </a:rPr>
                      <m:t>𝟑</m:t>
                    </m:r>
                  </m:oMath>
                </a14:m>
                <a:r>
                  <a:rPr lang="he-IL" dirty="0">
                    <a:solidFill>
                      <a:prstClr val="black"/>
                    </a:solidFill>
                    <a:latin typeface="Calibri" panose="020F0502020204030204"/>
                    <a:cs typeface="Arial" panose="020B0604020202020204" pitchFamily="34" charset="0"/>
                  </a:rPr>
                  <a:t>    </a:t>
                </a:r>
              </a:p>
            </p:txBody>
          </p:sp>
        </mc:Choice>
        <mc:Fallback xmlns="">
          <p:sp>
            <p:nvSpPr>
              <p:cNvPr id="32" name="TextBox 31"/>
              <p:cNvSpPr txBox="1">
                <a:spLocks noRot="1" noChangeAspect="1" noMove="1" noResize="1" noEditPoints="1" noAdjustHandles="1" noChangeArrowheads="1" noChangeShapeType="1" noTextEdit="1"/>
              </p:cNvSpPr>
              <p:nvPr/>
            </p:nvSpPr>
            <p:spPr>
              <a:xfrm>
                <a:off x="3316636" y="3151786"/>
                <a:ext cx="3299259" cy="644344"/>
              </a:xfrm>
              <a:prstGeom prst="rect">
                <a:avLst/>
              </a:prstGeom>
              <a:blipFill>
                <a:blip r:embed="rId2"/>
                <a:stretch>
                  <a:fillRect r="-1664"/>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4" name="מלבן 43"/>
              <p:cNvSpPr/>
              <p:nvPr/>
            </p:nvSpPr>
            <p:spPr>
              <a:xfrm>
                <a:off x="6794561" y="3070226"/>
                <a:ext cx="4549589" cy="800604"/>
              </a:xfrm>
              <a:prstGeom prst="rect">
                <a:avLst/>
              </a:prstGeom>
            </p:spPr>
            <p:txBody>
              <a:bodyPr wrap="square">
                <a:spAutoFit/>
              </a:bodyPr>
              <a:lstStyle/>
              <a:p>
                <a:pPr algn="l" rtl="0"/>
                <a14:m>
                  <m:oMathPara xmlns:m="http://schemas.openxmlformats.org/officeDocument/2006/math">
                    <m:oMathParaPr>
                      <m:jc m:val="left"/>
                    </m:oMathParaPr>
                    <m:oMath xmlns:m="http://schemas.openxmlformats.org/officeDocument/2006/math">
                      <m:r>
                        <a:rPr lang="he-IL" sz="2400" i="1">
                          <a:solidFill>
                            <a:prstClr val="black"/>
                          </a:solidFill>
                          <a:latin typeface="Cambria Math" panose="02040503050406030204" pitchFamily="18" charset="0"/>
                        </a:rPr>
                        <m:t>𝜂</m:t>
                      </m:r>
                      <m:r>
                        <a:rPr lang="he-IL" sz="2400">
                          <a:solidFill>
                            <a:prstClr val="black"/>
                          </a:solidFill>
                          <a:latin typeface="Cambria Math" panose="02040503050406030204" pitchFamily="18" charset="0"/>
                        </a:rPr>
                        <m:t>=</m:t>
                      </m:r>
                      <m:f>
                        <m:fPr>
                          <m:ctrlPr>
                            <a:rPr lang="he-IL" sz="2400" i="1">
                              <a:solidFill>
                                <a:prstClr val="black"/>
                              </a:solidFill>
                              <a:latin typeface="Cambria Math" panose="02040503050406030204" pitchFamily="18" charset="0"/>
                            </a:rPr>
                          </m:ctrlPr>
                        </m:fPr>
                        <m:num>
                          <m:r>
                            <a:rPr lang="he-IL" sz="2400" b="1" i="1">
                              <a:solidFill>
                                <a:srgbClr val="0070C0"/>
                              </a:solidFill>
                              <a:latin typeface="Cambria Math"/>
                            </a:rPr>
                            <m:t>𝟒𝟔</m:t>
                          </m:r>
                          <m:r>
                            <a:rPr lang="he-IL" sz="2400" b="1">
                              <a:solidFill>
                                <a:srgbClr val="0070C0"/>
                              </a:solidFill>
                              <a:latin typeface="Cambria Math" panose="02040503050406030204" pitchFamily="18" charset="0"/>
                            </a:rPr>
                            <m:t>.</m:t>
                          </m:r>
                          <m:r>
                            <a:rPr lang="he-IL" sz="2400">
                              <a:solidFill>
                                <a:srgbClr val="0070C0"/>
                              </a:solidFill>
                              <a:latin typeface="Cambria Math"/>
                            </a:rPr>
                            <m:t>67</m:t>
                          </m:r>
                          <m:r>
                            <a:rPr lang="he-IL" sz="2400">
                              <a:solidFill>
                                <a:prstClr val="black"/>
                              </a:solidFill>
                              <a:latin typeface="Cambria Math"/>
                            </a:rPr>
                            <m:t>%</m:t>
                          </m:r>
                        </m:num>
                        <m:den>
                          <m:r>
                            <a:rPr lang="he-IL" sz="2400">
                              <a:solidFill>
                                <a:prstClr val="black"/>
                              </a:solidFill>
                              <a:latin typeface="Cambria Math" panose="02040503050406030204" pitchFamily="18" charset="0"/>
                            </a:rPr>
                            <m:t>10</m:t>
                          </m:r>
                          <m:r>
                            <a:rPr lang="he-IL" sz="2400">
                              <a:solidFill>
                                <a:prstClr val="black"/>
                              </a:solidFill>
                              <a:latin typeface="Cambria Math" panose="02040503050406030204" pitchFamily="18" charset="0"/>
                            </a:rPr>
                            <m:t>%</m:t>
                          </m:r>
                        </m:den>
                      </m:f>
                      <m:r>
                        <a:rPr lang="he-IL" sz="2400">
                          <a:solidFill>
                            <a:prstClr val="black"/>
                          </a:solidFill>
                          <a:latin typeface="Cambria Math" panose="02040503050406030204" pitchFamily="18" charset="0"/>
                        </a:rPr>
                        <m:t>=</m:t>
                      </m:r>
                      <m:r>
                        <a:rPr lang="he-IL" sz="2400" b="1" i="1">
                          <a:solidFill>
                            <a:srgbClr val="0070C0"/>
                          </a:solidFill>
                          <a:latin typeface="Cambria Math" panose="02040503050406030204" pitchFamily="18" charset="0"/>
                        </a:rPr>
                        <m:t>𝟒</m:t>
                      </m:r>
                      <m:r>
                        <a:rPr lang="he-IL" sz="2400" b="1">
                          <a:solidFill>
                            <a:srgbClr val="0070C0"/>
                          </a:solidFill>
                          <a:latin typeface="Cambria Math" panose="02040503050406030204" pitchFamily="18" charset="0"/>
                        </a:rPr>
                        <m:t>.</m:t>
                      </m:r>
                      <m:r>
                        <a:rPr lang="he-IL" sz="2400" b="1" i="1">
                          <a:solidFill>
                            <a:srgbClr val="0070C0"/>
                          </a:solidFill>
                          <a:latin typeface="Cambria Math"/>
                        </a:rPr>
                        <m:t>𝟔𝟕</m:t>
                      </m:r>
                    </m:oMath>
                  </m:oMathPara>
                </a14:m>
                <a:endParaRPr lang="he-IL" sz="2400" b="1" dirty="0">
                  <a:solidFill>
                    <a:srgbClr val="0070C0"/>
                  </a:solidFill>
                  <a:latin typeface="Calibri" panose="020F0502020204030204"/>
                  <a:cs typeface="Arial" panose="020B0604020202020204" pitchFamily="34" charset="0"/>
                </a:endParaRPr>
              </a:p>
            </p:txBody>
          </p:sp>
        </mc:Choice>
        <mc:Fallback xmlns="">
          <p:sp>
            <p:nvSpPr>
              <p:cNvPr id="44" name="מלבן 43"/>
              <p:cNvSpPr>
                <a:spLocks noRot="1" noChangeAspect="1" noMove="1" noResize="1" noEditPoints="1" noAdjustHandles="1" noChangeArrowheads="1" noChangeShapeType="1" noTextEdit="1"/>
              </p:cNvSpPr>
              <p:nvPr/>
            </p:nvSpPr>
            <p:spPr>
              <a:xfrm>
                <a:off x="6794561" y="3070226"/>
                <a:ext cx="4549589" cy="800604"/>
              </a:xfrm>
              <a:prstGeom prst="rect">
                <a:avLst/>
              </a:prstGeom>
              <a:blipFill>
                <a:blip r:embed="rId3"/>
                <a:stretch>
                  <a:fillRect/>
                </a:stretch>
              </a:blipFill>
            </p:spPr>
            <p:txBody>
              <a:bodyPr/>
              <a:lstStyle/>
              <a:p>
                <a:r>
                  <a:rPr lang="en-IL">
                    <a:noFill/>
                  </a:rPr>
                  <a:t> </a:t>
                </a:r>
              </a:p>
            </p:txBody>
          </p:sp>
        </mc:Fallback>
      </mc:AlternateContent>
      <p:sp>
        <p:nvSpPr>
          <p:cNvPr id="45" name="מלבן 44"/>
          <p:cNvSpPr/>
          <p:nvPr/>
        </p:nvSpPr>
        <p:spPr>
          <a:xfrm>
            <a:off x="3322696" y="2681298"/>
            <a:ext cx="7200292" cy="369332"/>
          </a:xfrm>
          <a:prstGeom prst="rect">
            <a:avLst/>
          </a:prstGeom>
        </p:spPr>
        <p:txBody>
          <a:bodyPr wrap="square">
            <a:spAutoFit/>
          </a:bodyPr>
          <a:lstStyle/>
          <a:p>
            <a:r>
              <a:rPr lang="he-IL" dirty="0">
                <a:solidFill>
                  <a:prstClr val="black"/>
                </a:solidFill>
                <a:latin typeface="Calibri" panose="020F0502020204030204"/>
                <a:cs typeface="Arial" panose="020B0604020202020204" pitchFamily="34" charset="0"/>
              </a:rPr>
              <a:t>ג. חשבו את גמישות ההיצע בתחום המחירים </a:t>
            </a:r>
            <a:r>
              <a:rPr lang="en-US" dirty="0">
                <a:solidFill>
                  <a:prstClr val="black"/>
                </a:solidFill>
                <a:latin typeface="Calibri" panose="020F0502020204030204"/>
              </a:rPr>
              <a:t>p=20 </a:t>
            </a:r>
            <a:r>
              <a:rPr lang="he-IL" dirty="0">
                <a:solidFill>
                  <a:prstClr val="black"/>
                </a:solidFill>
                <a:latin typeface="Calibri" panose="020F0502020204030204"/>
                <a:cs typeface="Arial" panose="020B0604020202020204" pitchFamily="34" charset="0"/>
              </a:rPr>
              <a:t> ו- </a:t>
            </a:r>
            <a:r>
              <a:rPr lang="en-US" dirty="0">
                <a:solidFill>
                  <a:prstClr val="black"/>
                </a:solidFill>
                <a:latin typeface="Calibri" panose="020F0502020204030204"/>
              </a:rPr>
              <a:t>p=22</a:t>
            </a:r>
            <a:r>
              <a:rPr lang="he-IL" dirty="0">
                <a:solidFill>
                  <a:prstClr val="black"/>
                </a:solidFill>
                <a:latin typeface="Calibri" panose="020F0502020204030204"/>
                <a:cs typeface="Arial" panose="020B0604020202020204" pitchFamily="34" charset="0"/>
              </a:rPr>
              <a:t>.</a:t>
            </a:r>
            <a:endParaRPr lang="en-US" dirty="0">
              <a:solidFill>
                <a:prstClr val="black"/>
              </a:solidFill>
              <a:latin typeface="Calibri" panose="020F0502020204030204"/>
            </a:endParaRPr>
          </a:p>
        </p:txBody>
      </p:sp>
    </p:spTree>
    <p:extLst>
      <p:ext uri="{BB962C8B-B14F-4D97-AF65-F5344CB8AC3E}">
        <p14:creationId xmlns:p14="http://schemas.microsoft.com/office/powerpoint/2010/main" val="2285609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ircle(in)">
                                      <p:cBhvr>
                                        <p:cTn id="7" dur="20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5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anim calcmode="lin" valueType="num">
                                      <p:cBhvr>
                                        <p:cTn id="17" dur="500" fill="hold"/>
                                        <p:tgtEl>
                                          <p:spTgt spid="32"/>
                                        </p:tgtEl>
                                        <p:attrNameLst>
                                          <p:attrName>ppt_w</p:attrName>
                                        </p:attrNameLst>
                                      </p:cBhvr>
                                      <p:tavLst>
                                        <p:tav tm="0">
                                          <p:val>
                                            <p:fltVal val="0"/>
                                          </p:val>
                                        </p:tav>
                                        <p:tav tm="100000">
                                          <p:val>
                                            <p:strVal val="#ppt_w"/>
                                          </p:val>
                                        </p:tav>
                                      </p:tavLst>
                                    </p:anim>
                                    <p:anim calcmode="lin" valueType="num">
                                      <p:cBhvr>
                                        <p:cTn id="18" dur="500" fill="hold"/>
                                        <p:tgtEl>
                                          <p:spTgt spid="32"/>
                                        </p:tgtEl>
                                        <p:attrNameLst>
                                          <p:attrName>ppt_h</p:attrName>
                                        </p:attrNameLst>
                                      </p:cBhvr>
                                      <p:tavLst>
                                        <p:tav tm="0">
                                          <p:val>
                                            <p:fltVal val="0"/>
                                          </p:val>
                                        </p:tav>
                                        <p:tav tm="100000">
                                          <p:val>
                                            <p:strVal val="#ppt_h"/>
                                          </p:val>
                                        </p:tav>
                                      </p:tavLst>
                                    </p:anim>
                                    <p:animEffect transition="in" filter="fade">
                                      <p:cBhvr>
                                        <p:cTn id="19" dur="500"/>
                                        <p:tgtEl>
                                          <p:spTgt spid="32"/>
                                        </p:tgtEl>
                                      </p:cBhvr>
                                    </p:animEffect>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44"/>
                                        </p:tgtEl>
                                        <p:attrNameLst>
                                          <p:attrName>style.visibility</p:attrName>
                                        </p:attrNameLst>
                                      </p:cBhvr>
                                      <p:to>
                                        <p:strVal val="visible"/>
                                      </p:to>
                                    </p:set>
                                    <p:anim calcmode="lin" valueType="num">
                                      <p:cBhvr>
                                        <p:cTn id="24" dur="1000" fill="hold"/>
                                        <p:tgtEl>
                                          <p:spTgt spid="44"/>
                                        </p:tgtEl>
                                        <p:attrNameLst>
                                          <p:attrName>ppt_w</p:attrName>
                                        </p:attrNameLst>
                                      </p:cBhvr>
                                      <p:tavLst>
                                        <p:tav tm="0">
                                          <p:val>
                                            <p:fltVal val="0"/>
                                          </p:val>
                                        </p:tav>
                                        <p:tav tm="100000">
                                          <p:val>
                                            <p:strVal val="#ppt_w"/>
                                          </p:val>
                                        </p:tav>
                                      </p:tavLst>
                                    </p:anim>
                                    <p:anim calcmode="lin" valueType="num">
                                      <p:cBhvr>
                                        <p:cTn id="25" dur="1000" fill="hold"/>
                                        <p:tgtEl>
                                          <p:spTgt spid="44"/>
                                        </p:tgtEl>
                                        <p:attrNameLst>
                                          <p:attrName>ppt_h</p:attrName>
                                        </p:attrNameLst>
                                      </p:cBhvr>
                                      <p:tavLst>
                                        <p:tav tm="0">
                                          <p:val>
                                            <p:fltVal val="0"/>
                                          </p:val>
                                        </p:tav>
                                        <p:tav tm="100000">
                                          <p:val>
                                            <p:strVal val="#ppt_h"/>
                                          </p:val>
                                        </p:tav>
                                      </p:tavLst>
                                    </p:anim>
                                    <p:anim calcmode="lin" valueType="num">
                                      <p:cBhvr>
                                        <p:cTn id="26" dur="1000" fill="hold"/>
                                        <p:tgtEl>
                                          <p:spTgt spid="44"/>
                                        </p:tgtEl>
                                        <p:attrNameLst>
                                          <p:attrName>style.rotation</p:attrName>
                                        </p:attrNameLst>
                                      </p:cBhvr>
                                      <p:tavLst>
                                        <p:tav tm="0">
                                          <p:val>
                                            <p:fltVal val="90"/>
                                          </p:val>
                                        </p:tav>
                                        <p:tav tm="100000">
                                          <p:val>
                                            <p:fltVal val="0"/>
                                          </p:val>
                                        </p:tav>
                                      </p:tavLst>
                                    </p:anim>
                                    <p:animEffect transition="in" filter="fade">
                                      <p:cBhvr>
                                        <p:cTn id="27"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2" grpId="0"/>
      <p:bldP spid="44" grpId="0"/>
      <p:bldP spid="4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237184" y="490364"/>
            <a:ext cx="8460432" cy="1152128"/>
          </a:xfrm>
        </p:spPr>
        <p:txBody>
          <a:bodyPr>
            <a:normAutofit fontScale="85000" lnSpcReduction="20000"/>
          </a:bodyPr>
          <a:lstStyle/>
          <a:p>
            <a:pPr marL="0" indent="0" algn="r" rtl="1">
              <a:buNone/>
            </a:pPr>
            <a:r>
              <a:rPr lang="he-IL" sz="2000" dirty="0"/>
              <a:t>פירמה תחרותית מייצרת כל יחידה בעלות שולית קבועה של 50 שקלים ליחידה (אין עלויות קבועות).</a:t>
            </a:r>
            <a:endParaRPr lang="en-US" sz="2000" b="1" dirty="0"/>
          </a:p>
          <a:p>
            <a:pPr marL="0" indent="0" algn="r" rtl="1">
              <a:buNone/>
            </a:pPr>
            <a:r>
              <a:rPr lang="he-IL" sz="2000" dirty="0"/>
              <a:t>א. תארו את מבנה העלויות של הפירמה </a:t>
            </a:r>
            <a:r>
              <a:rPr lang="en-US" sz="2000" dirty="0"/>
              <a:t>TC(X)</a:t>
            </a:r>
            <a:r>
              <a:rPr lang="he-IL" sz="2000" dirty="0"/>
              <a:t> ,</a:t>
            </a:r>
            <a:r>
              <a:rPr lang="en-US" sz="2000" dirty="0"/>
              <a:t>VC(X)</a:t>
            </a:r>
            <a:r>
              <a:rPr lang="he-IL" sz="2000" dirty="0"/>
              <a:t>, </a:t>
            </a:r>
            <a:r>
              <a:rPr lang="en-US" sz="2000" dirty="0"/>
              <a:t>AVC(X)</a:t>
            </a:r>
            <a:r>
              <a:rPr lang="he-IL" sz="2000" dirty="0"/>
              <a:t>, </a:t>
            </a:r>
            <a:r>
              <a:rPr lang="en-US" sz="2000" dirty="0"/>
              <a:t>MC(X)</a:t>
            </a:r>
            <a:r>
              <a:rPr lang="he-IL" sz="2000" dirty="0"/>
              <a:t>.</a:t>
            </a:r>
            <a:endParaRPr lang="en-US" sz="2000" dirty="0"/>
          </a:p>
          <a:p>
            <a:pPr marL="0" indent="0" algn="r" rtl="1">
              <a:buNone/>
            </a:pPr>
            <a:r>
              <a:rPr lang="he-IL" sz="2000" dirty="0"/>
              <a:t>ב. מהי עקומת ההיצע של הפירמה?</a:t>
            </a:r>
            <a:endParaRPr lang="en-US" sz="2000" dirty="0"/>
          </a:p>
          <a:p>
            <a:pPr marL="0" indent="0" algn="r" rtl="1">
              <a:buNone/>
            </a:pPr>
            <a:r>
              <a:rPr lang="he-IL" sz="2000" dirty="0"/>
              <a:t>ג. מהי גמישות ההיצע של הפירמה?</a:t>
            </a:r>
            <a:endParaRPr lang="en-US" sz="2000" dirty="0"/>
          </a:p>
        </p:txBody>
      </p:sp>
      <p:sp>
        <p:nvSpPr>
          <p:cNvPr id="4" name="כותרת 1"/>
          <p:cNvSpPr txBox="1">
            <a:spLocks/>
          </p:cNvSpPr>
          <p:nvPr/>
        </p:nvSpPr>
        <p:spPr>
          <a:xfrm>
            <a:off x="2904930" y="288033"/>
            <a:ext cx="9144000" cy="404663"/>
          </a:xfrm>
          <a:prstGeom prst="rect">
            <a:avLst/>
          </a:prstGeom>
        </p:spPr>
        <p:txBody>
          <a:bodyPr vert="horz" lIns="91440" tIns="45720" rIns="91440" bIns="45720" rtlCol="0" anchor="ctr">
            <a:noAutofit/>
          </a:bodyPr>
          <a:lstStyle>
            <a:lvl1pPr algn="l" defTabSz="914400" rtl="1" eaLnBrk="1" latinLnBrk="0" hangingPunct="1">
              <a:spcBef>
                <a:spcPct val="0"/>
              </a:spcBef>
              <a:buNone/>
              <a:defRPr sz="4000" kern="1200" spc="-100" baseline="0">
                <a:solidFill>
                  <a:schemeClr val="tx2"/>
                </a:solidFill>
                <a:latin typeface="+mj-lt"/>
                <a:ea typeface="+mj-ea"/>
                <a:cs typeface="+mj-cs"/>
              </a:defRPr>
            </a:lvl1pPr>
          </a:lstStyle>
          <a:p>
            <a:pPr algn="r"/>
            <a:r>
              <a:rPr lang="he-IL" b="1" dirty="0">
                <a:solidFill>
                  <a:srgbClr val="44546A"/>
                </a:solidFill>
                <a:latin typeface="Calibri Light" panose="020F0302020204030204"/>
                <a:cs typeface="Arial" panose="020B0604020202020204" pitchFamily="34" charset="0"/>
              </a:rPr>
              <a:t>שאלה 6</a:t>
            </a:r>
          </a:p>
        </p:txBody>
      </p:sp>
      <p:graphicFrame>
        <p:nvGraphicFramePr>
          <p:cNvPr id="5" name="טבלה 4"/>
          <p:cNvGraphicFramePr>
            <a:graphicFrameLocks noGrp="1"/>
          </p:cNvGraphicFramePr>
          <p:nvPr/>
        </p:nvGraphicFramePr>
        <p:xfrm>
          <a:off x="2423592" y="2054977"/>
          <a:ext cx="4104456" cy="2306633"/>
        </p:xfrm>
        <a:graphic>
          <a:graphicData uri="http://schemas.openxmlformats.org/drawingml/2006/table">
            <a:tbl>
              <a:tblPr rtl="1">
                <a:tableStyleId>{5C22544A-7EE6-4342-B048-85BDC9FD1C3A}</a:tableStyleId>
              </a:tblPr>
              <a:tblGrid>
                <a:gridCol w="724827">
                  <a:extLst>
                    <a:ext uri="{9D8B030D-6E8A-4147-A177-3AD203B41FA5}">
                      <a16:colId xmlns:a16="http://schemas.microsoft.com/office/drawing/2014/main" val="20000"/>
                    </a:ext>
                  </a:extLst>
                </a:gridCol>
                <a:gridCol w="1192533">
                  <a:extLst>
                    <a:ext uri="{9D8B030D-6E8A-4147-A177-3AD203B41FA5}">
                      <a16:colId xmlns:a16="http://schemas.microsoft.com/office/drawing/2014/main" val="20001"/>
                    </a:ext>
                  </a:extLst>
                </a:gridCol>
                <a:gridCol w="1176588">
                  <a:extLst>
                    <a:ext uri="{9D8B030D-6E8A-4147-A177-3AD203B41FA5}">
                      <a16:colId xmlns:a16="http://schemas.microsoft.com/office/drawing/2014/main" val="20002"/>
                    </a:ext>
                  </a:extLst>
                </a:gridCol>
                <a:gridCol w="1010508">
                  <a:extLst>
                    <a:ext uri="{9D8B030D-6E8A-4147-A177-3AD203B41FA5}">
                      <a16:colId xmlns:a16="http://schemas.microsoft.com/office/drawing/2014/main" val="20003"/>
                    </a:ext>
                  </a:extLst>
                </a:gridCol>
              </a:tblGrid>
              <a:tr h="288032">
                <a:tc rowSpan="2">
                  <a:txBody>
                    <a:bodyPr/>
                    <a:lstStyle/>
                    <a:p>
                      <a:pPr algn="ctr" rtl="1">
                        <a:spcAft>
                          <a:spcPts val="0"/>
                        </a:spcAft>
                      </a:pPr>
                      <a:r>
                        <a:rPr lang="he-IL" sz="1400" dirty="0">
                          <a:effectLst/>
                        </a:rPr>
                        <a:t>כמות מיוצרת</a:t>
                      </a:r>
                      <a:endParaRPr lang="en-US" sz="1400" dirty="0">
                        <a:effectLst/>
                      </a:endParaRPr>
                    </a:p>
                  </a:txBody>
                  <a:tcPr marL="68580" marR="68580" marT="0" marB="0" anchor="ctr"/>
                </a:tc>
                <a:tc gridSpan="3">
                  <a:txBody>
                    <a:bodyPr/>
                    <a:lstStyle/>
                    <a:p>
                      <a:pPr algn="ctr" rtl="1">
                        <a:spcAft>
                          <a:spcPts val="0"/>
                        </a:spcAft>
                      </a:pPr>
                      <a:r>
                        <a:rPr lang="he-IL" sz="1400" dirty="0">
                          <a:effectLst/>
                        </a:rPr>
                        <a:t>עלות (אלפי ש"ח)</a:t>
                      </a:r>
                      <a:endParaRPr lang="en-US" sz="1400" dirty="0">
                        <a:effectLst/>
                        <a:latin typeface="Times New Roman"/>
                        <a:ea typeface="Times New Roman"/>
                        <a:cs typeface="Miriam"/>
                      </a:endParaRPr>
                    </a:p>
                  </a:txBody>
                  <a:tcPr marL="68580" marR="68580" marT="0" marB="0" anchor="ctr"/>
                </a:tc>
                <a:tc hMerge="1">
                  <a:txBody>
                    <a:bodyPr/>
                    <a:lstStyle/>
                    <a:p>
                      <a:pPr rtl="1"/>
                      <a:endParaRPr lang="he-IL"/>
                    </a:p>
                  </a:txBody>
                  <a:tcPr/>
                </a:tc>
                <a:tc hMerge="1">
                  <a:txBody>
                    <a:bodyPr/>
                    <a:lstStyle/>
                    <a:p>
                      <a:pPr rtl="1"/>
                      <a:endParaRPr lang="he-IL"/>
                    </a:p>
                  </a:txBody>
                  <a:tcPr/>
                </a:tc>
                <a:extLst>
                  <a:ext uri="{0D108BD9-81ED-4DB2-BD59-A6C34878D82A}">
                    <a16:rowId xmlns:a16="http://schemas.microsoft.com/office/drawing/2014/main" val="10000"/>
                  </a:ext>
                </a:extLst>
              </a:tr>
              <a:tr h="451365">
                <a:tc vMerge="1">
                  <a:txBody>
                    <a:bodyPr/>
                    <a:lstStyle/>
                    <a:p>
                      <a:pPr rtl="1"/>
                      <a:endParaRPr lang="he-IL"/>
                    </a:p>
                  </a:txBody>
                  <a:tcPr/>
                </a:tc>
                <a:tc>
                  <a:txBody>
                    <a:bodyPr/>
                    <a:lstStyle/>
                    <a:p>
                      <a:pPr algn="ctr" rtl="1">
                        <a:spcAft>
                          <a:spcPts val="0"/>
                        </a:spcAft>
                      </a:pPr>
                      <a:r>
                        <a:rPr lang="he-IL" sz="1400" dirty="0">
                          <a:effectLst/>
                        </a:rPr>
                        <a:t>משתנה </a:t>
                      </a:r>
                      <a:r>
                        <a:rPr lang="en-US" sz="1400" dirty="0">
                          <a:effectLst/>
                        </a:rPr>
                        <a:t>VC</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r>
                        <a:rPr lang="he-IL" sz="1400" b="1" dirty="0">
                          <a:solidFill>
                            <a:srgbClr val="C00000"/>
                          </a:solidFill>
                          <a:effectLst/>
                        </a:rPr>
                        <a:t>משתנה ממוצעת </a:t>
                      </a:r>
                      <a:r>
                        <a:rPr lang="en-US" sz="1400" b="1" dirty="0">
                          <a:solidFill>
                            <a:srgbClr val="C00000"/>
                          </a:solidFill>
                          <a:effectLst/>
                        </a:rPr>
                        <a:t>AVC</a:t>
                      </a:r>
                      <a:endParaRPr lang="en-US" sz="1400" b="1" dirty="0">
                        <a:solidFill>
                          <a:srgbClr val="C00000"/>
                        </a:solidFill>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r>
                        <a:rPr lang="he-IL" sz="1400" b="1" dirty="0">
                          <a:solidFill>
                            <a:schemeClr val="tx2"/>
                          </a:solidFill>
                          <a:effectLst/>
                        </a:rPr>
                        <a:t>שולית </a:t>
                      </a:r>
                      <a:r>
                        <a:rPr lang="en-US" sz="1400" b="1" dirty="0">
                          <a:solidFill>
                            <a:schemeClr val="tx2"/>
                          </a:solidFill>
                          <a:effectLst/>
                        </a:rPr>
                        <a:t>MC</a:t>
                      </a:r>
                      <a:endParaRPr lang="en-US" sz="1400" b="1" dirty="0">
                        <a:solidFill>
                          <a:schemeClr val="tx2"/>
                        </a:solidFill>
                        <a:effectLst/>
                        <a:latin typeface="Times New Roman"/>
                        <a:ea typeface="Times New Roman"/>
                        <a:cs typeface="Miriam"/>
                      </a:endParaRPr>
                    </a:p>
                  </a:txBody>
                  <a:tcPr marL="68580" marR="68580" marT="0" marB="0" anchor="ctr">
                    <a:solidFill>
                      <a:schemeClr val="bg1">
                        <a:lumMod val="85000"/>
                      </a:schemeClr>
                    </a:solidFill>
                  </a:tcPr>
                </a:tc>
                <a:extLst>
                  <a:ext uri="{0D108BD9-81ED-4DB2-BD59-A6C34878D82A}">
                    <a16:rowId xmlns:a16="http://schemas.microsoft.com/office/drawing/2014/main" val="10001"/>
                  </a:ext>
                </a:extLst>
              </a:tr>
              <a:tr h="391809">
                <a:tc>
                  <a:txBody>
                    <a:bodyPr/>
                    <a:lstStyle/>
                    <a:p>
                      <a:pPr algn="ctr" rtl="1">
                        <a:spcAft>
                          <a:spcPts val="0"/>
                        </a:spcAft>
                      </a:pPr>
                      <a:r>
                        <a:rPr lang="he-IL" sz="1400" dirty="0">
                          <a:effectLst/>
                        </a:rPr>
                        <a:t>1</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r>
                        <a:rPr lang="he-IL" sz="2000" b="1" dirty="0">
                          <a:effectLst/>
                        </a:rPr>
                        <a:t>50</a:t>
                      </a:r>
                      <a:endParaRPr lang="en-US" sz="2000" b="1" dirty="0">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b="1" dirty="0">
                          <a:solidFill>
                            <a:srgbClr val="C00000"/>
                          </a:solidFill>
                          <a:effectLst/>
                        </a:rPr>
                        <a:t>50</a:t>
                      </a:r>
                      <a:endParaRPr lang="en-US" sz="2000" b="1" dirty="0">
                        <a:solidFill>
                          <a:srgbClr val="C00000"/>
                        </a:solidFill>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dirty="0">
                          <a:solidFill>
                            <a:schemeClr val="tx2"/>
                          </a:solidFill>
                          <a:effectLst/>
                        </a:rPr>
                        <a:t>50</a:t>
                      </a:r>
                      <a:endParaRPr lang="en-US" sz="2000" dirty="0">
                        <a:solidFill>
                          <a:schemeClr val="tx2"/>
                        </a:solidFill>
                        <a:effectLst/>
                        <a:latin typeface="Times New Roman"/>
                        <a:ea typeface="Times New Roman"/>
                        <a:cs typeface="Miriam"/>
                      </a:endParaRPr>
                    </a:p>
                  </a:txBody>
                  <a:tcPr marL="68580" marR="68580" marT="0" marB="0" anchor="ctr">
                    <a:solidFill>
                      <a:srgbClr val="CCFFFF"/>
                    </a:solidFill>
                  </a:tcPr>
                </a:tc>
                <a:extLst>
                  <a:ext uri="{0D108BD9-81ED-4DB2-BD59-A6C34878D82A}">
                    <a16:rowId xmlns:a16="http://schemas.microsoft.com/office/drawing/2014/main" val="10002"/>
                  </a:ext>
                </a:extLst>
              </a:tr>
              <a:tr h="391809">
                <a:tc>
                  <a:txBody>
                    <a:bodyPr/>
                    <a:lstStyle/>
                    <a:p>
                      <a:pPr algn="ctr" rtl="1">
                        <a:spcAft>
                          <a:spcPts val="0"/>
                        </a:spcAft>
                      </a:pPr>
                      <a:r>
                        <a:rPr lang="he-IL" sz="1400" dirty="0">
                          <a:effectLst/>
                        </a:rPr>
                        <a:t>2</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endParaRPr lang="he-IL" dirty="0"/>
                    </a:p>
                  </a:txBody>
                  <a:tcPr marL="68580" marR="68580" marT="0" marB="0" anchor="ctr">
                    <a:solidFill>
                      <a:srgbClr val="CCFFFF"/>
                    </a:solidFill>
                  </a:tcPr>
                </a:tc>
                <a:tc>
                  <a:txBody>
                    <a:bodyPr/>
                    <a:lstStyle/>
                    <a:p>
                      <a:endParaRPr lang="he-IL" dirty="0"/>
                    </a:p>
                  </a:txBody>
                  <a:tcPr marL="68580" marR="68580" marT="0" marB="0" anchor="ctr">
                    <a:solidFill>
                      <a:srgbClr val="CCFFFF"/>
                    </a:solidFill>
                  </a:tcPr>
                </a:tc>
                <a:tc>
                  <a:txBody>
                    <a:bodyPr/>
                    <a:lstStyle/>
                    <a:p>
                      <a:endParaRPr lang="he-IL" dirty="0"/>
                    </a:p>
                  </a:txBody>
                  <a:tcPr marL="68580" marR="68580" marT="0" marB="0" anchor="ctr">
                    <a:solidFill>
                      <a:srgbClr val="CCFFFF"/>
                    </a:solidFill>
                  </a:tcPr>
                </a:tc>
                <a:extLst>
                  <a:ext uri="{0D108BD9-81ED-4DB2-BD59-A6C34878D82A}">
                    <a16:rowId xmlns:a16="http://schemas.microsoft.com/office/drawing/2014/main" val="10003"/>
                  </a:ext>
                </a:extLst>
              </a:tr>
              <a:tr h="391809">
                <a:tc>
                  <a:txBody>
                    <a:bodyPr/>
                    <a:lstStyle/>
                    <a:p>
                      <a:pPr algn="ctr" rtl="1">
                        <a:spcAft>
                          <a:spcPts val="0"/>
                        </a:spcAft>
                      </a:pPr>
                      <a:r>
                        <a:rPr lang="he-IL" sz="1400" dirty="0">
                          <a:effectLst/>
                        </a:rPr>
                        <a:t>3</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endParaRPr lang="he-IL"/>
                    </a:p>
                  </a:txBody>
                  <a:tcPr marL="68580" marR="68580" marT="0" marB="0" anchor="ctr">
                    <a:solidFill>
                      <a:srgbClr val="CCFFFF"/>
                    </a:solidFill>
                  </a:tcPr>
                </a:tc>
                <a:tc>
                  <a:txBody>
                    <a:bodyPr/>
                    <a:lstStyle/>
                    <a:p>
                      <a:endParaRPr lang="he-IL" dirty="0"/>
                    </a:p>
                  </a:txBody>
                  <a:tcPr marL="68580" marR="68580" marT="0" marB="0" anchor="ctr">
                    <a:solidFill>
                      <a:srgbClr val="CCFFFF"/>
                    </a:solidFill>
                  </a:tcPr>
                </a:tc>
                <a:tc>
                  <a:txBody>
                    <a:bodyPr/>
                    <a:lstStyle/>
                    <a:p>
                      <a:endParaRPr lang="he-IL" dirty="0"/>
                    </a:p>
                  </a:txBody>
                  <a:tcPr marL="68580" marR="68580" marT="0" marB="0" anchor="ctr">
                    <a:solidFill>
                      <a:srgbClr val="CCFFFF"/>
                    </a:solidFill>
                  </a:tcPr>
                </a:tc>
                <a:extLst>
                  <a:ext uri="{0D108BD9-81ED-4DB2-BD59-A6C34878D82A}">
                    <a16:rowId xmlns:a16="http://schemas.microsoft.com/office/drawing/2014/main" val="10004"/>
                  </a:ext>
                </a:extLst>
              </a:tr>
              <a:tr h="391809">
                <a:tc>
                  <a:txBody>
                    <a:bodyPr/>
                    <a:lstStyle/>
                    <a:p>
                      <a:pPr algn="ctr" rtl="1">
                        <a:spcAft>
                          <a:spcPts val="0"/>
                        </a:spcAft>
                      </a:pPr>
                      <a:r>
                        <a:rPr lang="he-IL" sz="1400" dirty="0">
                          <a:effectLst/>
                        </a:rPr>
                        <a:t>4</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endParaRPr lang="he-IL"/>
                    </a:p>
                  </a:txBody>
                  <a:tcPr marL="68580" marR="68580" marT="0" marB="0" anchor="ctr">
                    <a:solidFill>
                      <a:srgbClr val="CCFFFF"/>
                    </a:solidFill>
                  </a:tcPr>
                </a:tc>
                <a:tc>
                  <a:txBody>
                    <a:bodyPr/>
                    <a:lstStyle/>
                    <a:p>
                      <a:endParaRPr lang="he-IL"/>
                    </a:p>
                  </a:txBody>
                  <a:tcPr marL="68580" marR="68580" marT="0" marB="0" anchor="ctr">
                    <a:solidFill>
                      <a:srgbClr val="CCFFFF"/>
                    </a:solidFill>
                  </a:tcPr>
                </a:tc>
                <a:tc>
                  <a:txBody>
                    <a:bodyPr/>
                    <a:lstStyle/>
                    <a:p>
                      <a:endParaRPr lang="he-IL" dirty="0"/>
                    </a:p>
                  </a:txBody>
                  <a:tcPr marL="68580" marR="68580" marT="0" marB="0" anchor="ctr">
                    <a:solidFill>
                      <a:srgbClr val="CC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35581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9233" y="587619"/>
            <a:ext cx="8460432" cy="1152128"/>
          </a:xfrm>
        </p:spPr>
        <p:txBody>
          <a:bodyPr>
            <a:normAutofit fontScale="85000" lnSpcReduction="20000"/>
          </a:bodyPr>
          <a:lstStyle/>
          <a:p>
            <a:pPr marL="0" indent="0" algn="r" rtl="1">
              <a:buNone/>
            </a:pPr>
            <a:r>
              <a:rPr lang="he-IL" sz="2000" dirty="0"/>
              <a:t>פירמה תחרותית מייצרת כל יחידה בעלות שולית קבועה של 50 שקלים ליחידה (אין עלויות קבועות).</a:t>
            </a:r>
            <a:endParaRPr lang="en-US" sz="2000" b="1" dirty="0"/>
          </a:p>
          <a:p>
            <a:pPr marL="0" indent="0" algn="r" rtl="1">
              <a:buNone/>
            </a:pPr>
            <a:r>
              <a:rPr lang="he-IL" sz="2000" dirty="0"/>
              <a:t>א. תארו את מבנה העלויות של הפירמה </a:t>
            </a:r>
            <a:r>
              <a:rPr lang="en-US" sz="2000" dirty="0"/>
              <a:t>TC(X)</a:t>
            </a:r>
            <a:r>
              <a:rPr lang="he-IL" sz="2000" dirty="0"/>
              <a:t> ,</a:t>
            </a:r>
            <a:r>
              <a:rPr lang="en-US" sz="2000" dirty="0"/>
              <a:t>VC(X)</a:t>
            </a:r>
            <a:r>
              <a:rPr lang="he-IL" sz="2000" dirty="0"/>
              <a:t>, </a:t>
            </a:r>
            <a:r>
              <a:rPr lang="en-US" sz="2000" dirty="0"/>
              <a:t>AVC(X)</a:t>
            </a:r>
            <a:r>
              <a:rPr lang="he-IL" sz="2000" dirty="0"/>
              <a:t>, </a:t>
            </a:r>
            <a:r>
              <a:rPr lang="en-US" sz="2000" dirty="0"/>
              <a:t>MC(X)</a:t>
            </a:r>
            <a:r>
              <a:rPr lang="he-IL" sz="2000" dirty="0"/>
              <a:t>.</a:t>
            </a:r>
            <a:endParaRPr lang="en-US" sz="2000" dirty="0"/>
          </a:p>
          <a:p>
            <a:pPr marL="0" indent="0" algn="r" rtl="1">
              <a:buNone/>
            </a:pPr>
            <a:r>
              <a:rPr lang="he-IL" sz="2000" dirty="0"/>
              <a:t>ב. מהי עקומת ההיצע של הפירמה?</a:t>
            </a:r>
            <a:endParaRPr lang="en-US" sz="2000" dirty="0"/>
          </a:p>
          <a:p>
            <a:pPr marL="0" indent="0" algn="r" rtl="1">
              <a:buNone/>
            </a:pPr>
            <a:r>
              <a:rPr lang="he-IL" sz="2000" dirty="0"/>
              <a:t>ג. מהי גמישות ההיצע של הפירמה?</a:t>
            </a:r>
            <a:endParaRPr lang="en-US" sz="2000" dirty="0"/>
          </a:p>
        </p:txBody>
      </p:sp>
      <p:sp>
        <p:nvSpPr>
          <p:cNvPr id="4" name="כותרת 1"/>
          <p:cNvSpPr txBox="1">
            <a:spLocks/>
          </p:cNvSpPr>
          <p:nvPr/>
        </p:nvSpPr>
        <p:spPr>
          <a:xfrm>
            <a:off x="3048000" y="182956"/>
            <a:ext cx="9144000" cy="404663"/>
          </a:xfrm>
          <a:prstGeom prst="rect">
            <a:avLst/>
          </a:prstGeom>
        </p:spPr>
        <p:txBody>
          <a:bodyPr vert="horz" lIns="91440" tIns="45720" rIns="91440" bIns="45720" rtlCol="0" anchor="ctr">
            <a:noAutofit/>
          </a:bodyPr>
          <a:lstStyle>
            <a:lvl1pPr algn="l" defTabSz="914400" rtl="1" eaLnBrk="1" latinLnBrk="0" hangingPunct="1">
              <a:spcBef>
                <a:spcPct val="0"/>
              </a:spcBef>
              <a:buNone/>
              <a:defRPr sz="4000" kern="1200" spc="-100" baseline="0">
                <a:solidFill>
                  <a:schemeClr val="tx2"/>
                </a:solidFill>
                <a:latin typeface="+mj-lt"/>
                <a:ea typeface="+mj-ea"/>
                <a:cs typeface="+mj-cs"/>
              </a:defRPr>
            </a:lvl1pPr>
          </a:lstStyle>
          <a:p>
            <a:pPr algn="r"/>
            <a:r>
              <a:rPr lang="he-IL" b="1" dirty="0">
                <a:solidFill>
                  <a:srgbClr val="44546A"/>
                </a:solidFill>
                <a:latin typeface="Calibri Light" panose="020F0302020204030204"/>
                <a:cs typeface="Arial" panose="020B0604020202020204" pitchFamily="34" charset="0"/>
              </a:rPr>
              <a:t>שאלה 6</a:t>
            </a:r>
          </a:p>
        </p:txBody>
      </p:sp>
      <p:graphicFrame>
        <p:nvGraphicFramePr>
          <p:cNvPr id="5" name="טבלה 4"/>
          <p:cNvGraphicFramePr>
            <a:graphicFrameLocks noGrp="1"/>
          </p:cNvGraphicFramePr>
          <p:nvPr/>
        </p:nvGraphicFramePr>
        <p:xfrm>
          <a:off x="2423592" y="2054977"/>
          <a:ext cx="4104456" cy="2306633"/>
        </p:xfrm>
        <a:graphic>
          <a:graphicData uri="http://schemas.openxmlformats.org/drawingml/2006/table">
            <a:tbl>
              <a:tblPr rtl="1">
                <a:tableStyleId>{5C22544A-7EE6-4342-B048-85BDC9FD1C3A}</a:tableStyleId>
              </a:tblPr>
              <a:tblGrid>
                <a:gridCol w="724827">
                  <a:extLst>
                    <a:ext uri="{9D8B030D-6E8A-4147-A177-3AD203B41FA5}">
                      <a16:colId xmlns:a16="http://schemas.microsoft.com/office/drawing/2014/main" val="20000"/>
                    </a:ext>
                  </a:extLst>
                </a:gridCol>
                <a:gridCol w="1192533">
                  <a:extLst>
                    <a:ext uri="{9D8B030D-6E8A-4147-A177-3AD203B41FA5}">
                      <a16:colId xmlns:a16="http://schemas.microsoft.com/office/drawing/2014/main" val="20001"/>
                    </a:ext>
                  </a:extLst>
                </a:gridCol>
                <a:gridCol w="1176588">
                  <a:extLst>
                    <a:ext uri="{9D8B030D-6E8A-4147-A177-3AD203B41FA5}">
                      <a16:colId xmlns:a16="http://schemas.microsoft.com/office/drawing/2014/main" val="20002"/>
                    </a:ext>
                  </a:extLst>
                </a:gridCol>
                <a:gridCol w="1010508">
                  <a:extLst>
                    <a:ext uri="{9D8B030D-6E8A-4147-A177-3AD203B41FA5}">
                      <a16:colId xmlns:a16="http://schemas.microsoft.com/office/drawing/2014/main" val="20003"/>
                    </a:ext>
                  </a:extLst>
                </a:gridCol>
              </a:tblGrid>
              <a:tr h="288032">
                <a:tc rowSpan="2">
                  <a:txBody>
                    <a:bodyPr/>
                    <a:lstStyle/>
                    <a:p>
                      <a:pPr algn="ctr" rtl="1">
                        <a:spcAft>
                          <a:spcPts val="0"/>
                        </a:spcAft>
                      </a:pPr>
                      <a:r>
                        <a:rPr lang="he-IL" sz="1400" dirty="0">
                          <a:effectLst/>
                        </a:rPr>
                        <a:t>כמות מיוצרת</a:t>
                      </a:r>
                      <a:endParaRPr lang="en-US" sz="1400" dirty="0">
                        <a:effectLst/>
                      </a:endParaRPr>
                    </a:p>
                  </a:txBody>
                  <a:tcPr marL="68580" marR="68580" marT="0" marB="0" anchor="ctr"/>
                </a:tc>
                <a:tc gridSpan="3">
                  <a:txBody>
                    <a:bodyPr/>
                    <a:lstStyle/>
                    <a:p>
                      <a:pPr algn="ctr" rtl="1">
                        <a:spcAft>
                          <a:spcPts val="0"/>
                        </a:spcAft>
                      </a:pPr>
                      <a:r>
                        <a:rPr lang="he-IL" sz="1400" dirty="0">
                          <a:effectLst/>
                        </a:rPr>
                        <a:t>עלות (אלפי ש"ח)</a:t>
                      </a:r>
                      <a:endParaRPr lang="en-US" sz="1400" dirty="0">
                        <a:effectLst/>
                        <a:latin typeface="Times New Roman"/>
                        <a:ea typeface="Times New Roman"/>
                        <a:cs typeface="Miriam"/>
                      </a:endParaRPr>
                    </a:p>
                  </a:txBody>
                  <a:tcPr marL="68580" marR="68580" marT="0" marB="0" anchor="ctr"/>
                </a:tc>
                <a:tc hMerge="1">
                  <a:txBody>
                    <a:bodyPr/>
                    <a:lstStyle/>
                    <a:p>
                      <a:pPr rtl="1"/>
                      <a:endParaRPr lang="he-IL"/>
                    </a:p>
                  </a:txBody>
                  <a:tcPr/>
                </a:tc>
                <a:tc hMerge="1">
                  <a:txBody>
                    <a:bodyPr/>
                    <a:lstStyle/>
                    <a:p>
                      <a:pPr rtl="1"/>
                      <a:endParaRPr lang="he-IL"/>
                    </a:p>
                  </a:txBody>
                  <a:tcPr/>
                </a:tc>
                <a:extLst>
                  <a:ext uri="{0D108BD9-81ED-4DB2-BD59-A6C34878D82A}">
                    <a16:rowId xmlns:a16="http://schemas.microsoft.com/office/drawing/2014/main" val="10000"/>
                  </a:ext>
                </a:extLst>
              </a:tr>
              <a:tr h="451365">
                <a:tc vMerge="1">
                  <a:txBody>
                    <a:bodyPr/>
                    <a:lstStyle/>
                    <a:p>
                      <a:pPr rtl="1"/>
                      <a:endParaRPr lang="he-IL"/>
                    </a:p>
                  </a:txBody>
                  <a:tcPr/>
                </a:tc>
                <a:tc>
                  <a:txBody>
                    <a:bodyPr/>
                    <a:lstStyle/>
                    <a:p>
                      <a:pPr algn="ctr" rtl="1">
                        <a:spcAft>
                          <a:spcPts val="0"/>
                        </a:spcAft>
                      </a:pPr>
                      <a:r>
                        <a:rPr lang="he-IL" sz="1400" dirty="0">
                          <a:effectLst/>
                        </a:rPr>
                        <a:t>משתנה </a:t>
                      </a:r>
                      <a:r>
                        <a:rPr lang="en-US" sz="1400" dirty="0">
                          <a:effectLst/>
                        </a:rPr>
                        <a:t>VC</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r>
                        <a:rPr lang="he-IL" sz="1400" b="1" dirty="0">
                          <a:solidFill>
                            <a:srgbClr val="C00000"/>
                          </a:solidFill>
                          <a:effectLst/>
                        </a:rPr>
                        <a:t>משתנה ממוצעת </a:t>
                      </a:r>
                      <a:r>
                        <a:rPr lang="en-US" sz="1400" b="1" dirty="0">
                          <a:solidFill>
                            <a:srgbClr val="C00000"/>
                          </a:solidFill>
                          <a:effectLst/>
                        </a:rPr>
                        <a:t>AVC</a:t>
                      </a:r>
                      <a:endParaRPr lang="en-US" sz="1400" b="1" dirty="0">
                        <a:solidFill>
                          <a:srgbClr val="C00000"/>
                        </a:solidFill>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r>
                        <a:rPr lang="he-IL" sz="1400" b="1" dirty="0">
                          <a:solidFill>
                            <a:schemeClr val="tx2"/>
                          </a:solidFill>
                          <a:effectLst/>
                        </a:rPr>
                        <a:t>שולית </a:t>
                      </a:r>
                      <a:r>
                        <a:rPr lang="en-US" sz="1400" b="1" dirty="0">
                          <a:solidFill>
                            <a:schemeClr val="tx2"/>
                          </a:solidFill>
                          <a:effectLst/>
                        </a:rPr>
                        <a:t>MC</a:t>
                      </a:r>
                      <a:endParaRPr lang="en-US" sz="1400" b="1" dirty="0">
                        <a:solidFill>
                          <a:schemeClr val="tx2"/>
                        </a:solidFill>
                        <a:effectLst/>
                        <a:latin typeface="Times New Roman"/>
                        <a:ea typeface="Times New Roman"/>
                        <a:cs typeface="Miriam"/>
                      </a:endParaRPr>
                    </a:p>
                  </a:txBody>
                  <a:tcPr marL="68580" marR="68580" marT="0" marB="0" anchor="ctr">
                    <a:solidFill>
                      <a:schemeClr val="bg1">
                        <a:lumMod val="85000"/>
                      </a:schemeClr>
                    </a:solidFill>
                  </a:tcPr>
                </a:tc>
                <a:extLst>
                  <a:ext uri="{0D108BD9-81ED-4DB2-BD59-A6C34878D82A}">
                    <a16:rowId xmlns:a16="http://schemas.microsoft.com/office/drawing/2014/main" val="10001"/>
                  </a:ext>
                </a:extLst>
              </a:tr>
              <a:tr h="391809">
                <a:tc>
                  <a:txBody>
                    <a:bodyPr/>
                    <a:lstStyle/>
                    <a:p>
                      <a:pPr algn="ctr" rtl="1">
                        <a:spcAft>
                          <a:spcPts val="0"/>
                        </a:spcAft>
                      </a:pPr>
                      <a:r>
                        <a:rPr lang="he-IL" sz="1400" dirty="0">
                          <a:effectLst/>
                        </a:rPr>
                        <a:t>1</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r>
                        <a:rPr lang="he-IL" sz="2000" b="1" dirty="0">
                          <a:effectLst/>
                        </a:rPr>
                        <a:t>50</a:t>
                      </a:r>
                      <a:endParaRPr lang="en-US" sz="2000" b="1" dirty="0">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b="1" dirty="0">
                          <a:solidFill>
                            <a:srgbClr val="C00000"/>
                          </a:solidFill>
                          <a:effectLst/>
                        </a:rPr>
                        <a:t>50</a:t>
                      </a:r>
                      <a:endParaRPr lang="en-US" sz="2000" b="1" dirty="0">
                        <a:solidFill>
                          <a:srgbClr val="C00000"/>
                        </a:solidFill>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dirty="0">
                          <a:solidFill>
                            <a:schemeClr val="tx2"/>
                          </a:solidFill>
                          <a:effectLst/>
                        </a:rPr>
                        <a:t>50</a:t>
                      </a:r>
                      <a:endParaRPr lang="en-US" sz="2000" dirty="0">
                        <a:solidFill>
                          <a:schemeClr val="tx2"/>
                        </a:solidFill>
                        <a:effectLst/>
                        <a:latin typeface="Times New Roman"/>
                        <a:ea typeface="Times New Roman"/>
                        <a:cs typeface="Miriam"/>
                      </a:endParaRPr>
                    </a:p>
                  </a:txBody>
                  <a:tcPr marL="68580" marR="68580" marT="0" marB="0" anchor="ctr">
                    <a:solidFill>
                      <a:srgbClr val="CCFFFF"/>
                    </a:solidFill>
                  </a:tcPr>
                </a:tc>
                <a:extLst>
                  <a:ext uri="{0D108BD9-81ED-4DB2-BD59-A6C34878D82A}">
                    <a16:rowId xmlns:a16="http://schemas.microsoft.com/office/drawing/2014/main" val="10002"/>
                  </a:ext>
                </a:extLst>
              </a:tr>
              <a:tr h="391809">
                <a:tc>
                  <a:txBody>
                    <a:bodyPr/>
                    <a:lstStyle/>
                    <a:p>
                      <a:pPr algn="ctr" rtl="1">
                        <a:spcAft>
                          <a:spcPts val="0"/>
                        </a:spcAft>
                      </a:pPr>
                      <a:r>
                        <a:rPr lang="he-IL" sz="1400" dirty="0">
                          <a:effectLst/>
                        </a:rPr>
                        <a:t>2</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endParaRPr lang="en-US" sz="2000" b="1" dirty="0">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endParaRPr lang="en-US" sz="2000" b="1" dirty="0">
                        <a:solidFill>
                          <a:srgbClr val="C00000"/>
                        </a:solidFill>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dirty="0">
                          <a:solidFill>
                            <a:schemeClr val="tx2"/>
                          </a:solidFill>
                          <a:effectLst/>
                        </a:rPr>
                        <a:t>50</a:t>
                      </a:r>
                      <a:endParaRPr lang="en-US" sz="2000" dirty="0">
                        <a:solidFill>
                          <a:schemeClr val="tx2"/>
                        </a:solidFill>
                        <a:effectLst/>
                        <a:latin typeface="Times New Roman"/>
                        <a:ea typeface="Times New Roman"/>
                        <a:cs typeface="Miriam"/>
                      </a:endParaRPr>
                    </a:p>
                  </a:txBody>
                  <a:tcPr marL="68580" marR="68580" marT="0" marB="0" anchor="ctr">
                    <a:solidFill>
                      <a:srgbClr val="CCFFFF"/>
                    </a:solidFill>
                  </a:tcPr>
                </a:tc>
                <a:extLst>
                  <a:ext uri="{0D108BD9-81ED-4DB2-BD59-A6C34878D82A}">
                    <a16:rowId xmlns:a16="http://schemas.microsoft.com/office/drawing/2014/main" val="10003"/>
                  </a:ext>
                </a:extLst>
              </a:tr>
              <a:tr h="391809">
                <a:tc>
                  <a:txBody>
                    <a:bodyPr/>
                    <a:lstStyle/>
                    <a:p>
                      <a:pPr algn="ctr" rtl="1">
                        <a:spcAft>
                          <a:spcPts val="0"/>
                        </a:spcAft>
                      </a:pPr>
                      <a:r>
                        <a:rPr lang="he-IL" sz="1400" dirty="0">
                          <a:effectLst/>
                        </a:rPr>
                        <a:t>3</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endParaRPr lang="he-IL"/>
                    </a:p>
                  </a:txBody>
                  <a:tcPr marL="68580" marR="68580" marT="0" marB="0" anchor="ctr">
                    <a:solidFill>
                      <a:srgbClr val="CCFFFF"/>
                    </a:solidFill>
                  </a:tcPr>
                </a:tc>
                <a:tc>
                  <a:txBody>
                    <a:bodyPr/>
                    <a:lstStyle/>
                    <a:p>
                      <a:endParaRPr lang="he-IL" dirty="0"/>
                    </a:p>
                  </a:txBody>
                  <a:tcPr marL="68580" marR="68580" marT="0" marB="0" anchor="ctr">
                    <a:solidFill>
                      <a:srgbClr val="CCFFFF"/>
                    </a:solidFill>
                  </a:tcPr>
                </a:tc>
                <a:tc>
                  <a:txBody>
                    <a:bodyPr/>
                    <a:lstStyle/>
                    <a:p>
                      <a:endParaRPr lang="he-IL"/>
                    </a:p>
                  </a:txBody>
                  <a:tcPr marL="68580" marR="68580" marT="0" marB="0" anchor="ctr">
                    <a:solidFill>
                      <a:srgbClr val="CCFFFF"/>
                    </a:solidFill>
                  </a:tcPr>
                </a:tc>
                <a:extLst>
                  <a:ext uri="{0D108BD9-81ED-4DB2-BD59-A6C34878D82A}">
                    <a16:rowId xmlns:a16="http://schemas.microsoft.com/office/drawing/2014/main" val="10004"/>
                  </a:ext>
                </a:extLst>
              </a:tr>
              <a:tr h="391809">
                <a:tc>
                  <a:txBody>
                    <a:bodyPr/>
                    <a:lstStyle/>
                    <a:p>
                      <a:pPr algn="ctr" rtl="1">
                        <a:spcAft>
                          <a:spcPts val="0"/>
                        </a:spcAft>
                      </a:pPr>
                      <a:r>
                        <a:rPr lang="he-IL" sz="1400" dirty="0">
                          <a:effectLst/>
                        </a:rPr>
                        <a:t>4</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endParaRPr lang="he-IL"/>
                    </a:p>
                  </a:txBody>
                  <a:tcPr marL="68580" marR="68580" marT="0" marB="0" anchor="ctr">
                    <a:solidFill>
                      <a:srgbClr val="CCFFFF"/>
                    </a:solidFill>
                  </a:tcPr>
                </a:tc>
                <a:tc>
                  <a:txBody>
                    <a:bodyPr/>
                    <a:lstStyle/>
                    <a:p>
                      <a:endParaRPr lang="he-IL"/>
                    </a:p>
                  </a:txBody>
                  <a:tcPr marL="68580" marR="68580" marT="0" marB="0" anchor="ctr">
                    <a:solidFill>
                      <a:srgbClr val="CCFFFF"/>
                    </a:solidFill>
                  </a:tcPr>
                </a:tc>
                <a:tc>
                  <a:txBody>
                    <a:bodyPr/>
                    <a:lstStyle/>
                    <a:p>
                      <a:endParaRPr lang="he-IL" dirty="0"/>
                    </a:p>
                  </a:txBody>
                  <a:tcPr marL="68580" marR="68580" marT="0" marB="0" anchor="ctr">
                    <a:solidFill>
                      <a:srgbClr val="CC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693273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181200" y="587619"/>
            <a:ext cx="8460432" cy="1152128"/>
          </a:xfrm>
        </p:spPr>
        <p:txBody>
          <a:bodyPr>
            <a:normAutofit fontScale="85000" lnSpcReduction="20000"/>
          </a:bodyPr>
          <a:lstStyle/>
          <a:p>
            <a:pPr marL="0" indent="0" algn="r" rtl="1">
              <a:buNone/>
            </a:pPr>
            <a:r>
              <a:rPr lang="he-IL" sz="2000" dirty="0"/>
              <a:t>פירמה תחרותית מייצרת כל יחידה בעלות שולית קבועה של 50 שקלים ליחידה (אין עלויות קבועות).</a:t>
            </a:r>
            <a:endParaRPr lang="en-US" sz="2000" b="1" dirty="0"/>
          </a:p>
          <a:p>
            <a:pPr marL="0" indent="0" algn="r" rtl="1">
              <a:buNone/>
            </a:pPr>
            <a:r>
              <a:rPr lang="he-IL" sz="2000" dirty="0"/>
              <a:t>א. תארו את מבנה העלויות של הפירמה </a:t>
            </a:r>
            <a:r>
              <a:rPr lang="en-US" sz="2000" dirty="0"/>
              <a:t>TC(X)</a:t>
            </a:r>
            <a:r>
              <a:rPr lang="he-IL" sz="2000" dirty="0"/>
              <a:t> ,</a:t>
            </a:r>
            <a:r>
              <a:rPr lang="en-US" sz="2000" dirty="0"/>
              <a:t>VC(X)</a:t>
            </a:r>
            <a:r>
              <a:rPr lang="he-IL" sz="2000" dirty="0"/>
              <a:t>, </a:t>
            </a:r>
            <a:r>
              <a:rPr lang="en-US" sz="2000" dirty="0"/>
              <a:t>AVC(X)</a:t>
            </a:r>
            <a:r>
              <a:rPr lang="he-IL" sz="2000" dirty="0"/>
              <a:t>, </a:t>
            </a:r>
            <a:r>
              <a:rPr lang="en-US" sz="2000" dirty="0"/>
              <a:t>MC(X)</a:t>
            </a:r>
            <a:r>
              <a:rPr lang="he-IL" sz="2000" dirty="0"/>
              <a:t>.</a:t>
            </a:r>
            <a:endParaRPr lang="en-US" sz="2000" dirty="0"/>
          </a:p>
          <a:p>
            <a:pPr marL="0" indent="0" algn="r" rtl="1">
              <a:buNone/>
            </a:pPr>
            <a:r>
              <a:rPr lang="he-IL" sz="2000" dirty="0"/>
              <a:t>ב. מהי עקומת ההיצע של הפירמה?</a:t>
            </a:r>
            <a:endParaRPr lang="en-US" sz="2000" dirty="0"/>
          </a:p>
          <a:p>
            <a:pPr marL="0" indent="0" algn="r" rtl="1">
              <a:buNone/>
            </a:pPr>
            <a:r>
              <a:rPr lang="he-IL" sz="2000" dirty="0"/>
              <a:t>ג. מהי גמישות ההיצע של הפירמה?</a:t>
            </a:r>
            <a:endParaRPr lang="en-US" sz="2000" dirty="0"/>
          </a:p>
        </p:txBody>
      </p:sp>
      <p:sp>
        <p:nvSpPr>
          <p:cNvPr id="4" name="כותרת 1"/>
          <p:cNvSpPr txBox="1">
            <a:spLocks/>
          </p:cNvSpPr>
          <p:nvPr/>
        </p:nvSpPr>
        <p:spPr>
          <a:xfrm>
            <a:off x="3048000" y="182956"/>
            <a:ext cx="9144000" cy="404663"/>
          </a:xfrm>
          <a:prstGeom prst="rect">
            <a:avLst/>
          </a:prstGeom>
        </p:spPr>
        <p:txBody>
          <a:bodyPr vert="horz" lIns="91440" tIns="45720" rIns="91440" bIns="45720" rtlCol="0" anchor="ctr">
            <a:noAutofit/>
          </a:bodyPr>
          <a:lstStyle>
            <a:lvl1pPr algn="l" defTabSz="914400" rtl="1" eaLnBrk="1" latinLnBrk="0" hangingPunct="1">
              <a:spcBef>
                <a:spcPct val="0"/>
              </a:spcBef>
              <a:buNone/>
              <a:defRPr sz="4000" kern="1200" spc="-100" baseline="0">
                <a:solidFill>
                  <a:schemeClr val="tx2"/>
                </a:solidFill>
                <a:latin typeface="+mj-lt"/>
                <a:ea typeface="+mj-ea"/>
                <a:cs typeface="+mj-cs"/>
              </a:defRPr>
            </a:lvl1pPr>
          </a:lstStyle>
          <a:p>
            <a:pPr algn="r"/>
            <a:r>
              <a:rPr lang="he-IL" b="1" dirty="0">
                <a:solidFill>
                  <a:srgbClr val="44546A"/>
                </a:solidFill>
                <a:latin typeface="Calibri Light" panose="020F0302020204030204"/>
                <a:cs typeface="Arial" panose="020B0604020202020204" pitchFamily="34" charset="0"/>
              </a:rPr>
              <a:t>שאלה 6</a:t>
            </a:r>
          </a:p>
        </p:txBody>
      </p:sp>
      <p:graphicFrame>
        <p:nvGraphicFramePr>
          <p:cNvPr id="5" name="טבלה 4"/>
          <p:cNvGraphicFramePr>
            <a:graphicFrameLocks noGrp="1"/>
          </p:cNvGraphicFramePr>
          <p:nvPr/>
        </p:nvGraphicFramePr>
        <p:xfrm>
          <a:off x="2423592" y="2054977"/>
          <a:ext cx="4104456" cy="2306633"/>
        </p:xfrm>
        <a:graphic>
          <a:graphicData uri="http://schemas.openxmlformats.org/drawingml/2006/table">
            <a:tbl>
              <a:tblPr rtl="1">
                <a:tableStyleId>{5C22544A-7EE6-4342-B048-85BDC9FD1C3A}</a:tableStyleId>
              </a:tblPr>
              <a:tblGrid>
                <a:gridCol w="724827">
                  <a:extLst>
                    <a:ext uri="{9D8B030D-6E8A-4147-A177-3AD203B41FA5}">
                      <a16:colId xmlns:a16="http://schemas.microsoft.com/office/drawing/2014/main" val="20000"/>
                    </a:ext>
                  </a:extLst>
                </a:gridCol>
                <a:gridCol w="1192533">
                  <a:extLst>
                    <a:ext uri="{9D8B030D-6E8A-4147-A177-3AD203B41FA5}">
                      <a16:colId xmlns:a16="http://schemas.microsoft.com/office/drawing/2014/main" val="20001"/>
                    </a:ext>
                  </a:extLst>
                </a:gridCol>
                <a:gridCol w="1176588">
                  <a:extLst>
                    <a:ext uri="{9D8B030D-6E8A-4147-A177-3AD203B41FA5}">
                      <a16:colId xmlns:a16="http://schemas.microsoft.com/office/drawing/2014/main" val="20002"/>
                    </a:ext>
                  </a:extLst>
                </a:gridCol>
                <a:gridCol w="1010508">
                  <a:extLst>
                    <a:ext uri="{9D8B030D-6E8A-4147-A177-3AD203B41FA5}">
                      <a16:colId xmlns:a16="http://schemas.microsoft.com/office/drawing/2014/main" val="20003"/>
                    </a:ext>
                  </a:extLst>
                </a:gridCol>
              </a:tblGrid>
              <a:tr h="288032">
                <a:tc rowSpan="2">
                  <a:txBody>
                    <a:bodyPr/>
                    <a:lstStyle/>
                    <a:p>
                      <a:pPr algn="ctr" rtl="1">
                        <a:spcAft>
                          <a:spcPts val="0"/>
                        </a:spcAft>
                      </a:pPr>
                      <a:r>
                        <a:rPr lang="he-IL" sz="1400" dirty="0">
                          <a:effectLst/>
                        </a:rPr>
                        <a:t>כמות מיוצרת</a:t>
                      </a:r>
                      <a:endParaRPr lang="en-US" sz="1400" dirty="0">
                        <a:effectLst/>
                      </a:endParaRPr>
                    </a:p>
                  </a:txBody>
                  <a:tcPr marL="68580" marR="68580" marT="0" marB="0" anchor="ctr"/>
                </a:tc>
                <a:tc gridSpan="3">
                  <a:txBody>
                    <a:bodyPr/>
                    <a:lstStyle/>
                    <a:p>
                      <a:pPr algn="ctr" rtl="1">
                        <a:spcAft>
                          <a:spcPts val="0"/>
                        </a:spcAft>
                      </a:pPr>
                      <a:r>
                        <a:rPr lang="he-IL" sz="1400" dirty="0">
                          <a:effectLst/>
                        </a:rPr>
                        <a:t>עלות (אלפי ש"ח)</a:t>
                      </a:r>
                      <a:endParaRPr lang="en-US" sz="1400" dirty="0">
                        <a:effectLst/>
                        <a:latin typeface="Times New Roman"/>
                        <a:ea typeface="Times New Roman"/>
                        <a:cs typeface="Miriam"/>
                      </a:endParaRPr>
                    </a:p>
                  </a:txBody>
                  <a:tcPr marL="68580" marR="68580" marT="0" marB="0" anchor="ctr"/>
                </a:tc>
                <a:tc hMerge="1">
                  <a:txBody>
                    <a:bodyPr/>
                    <a:lstStyle/>
                    <a:p>
                      <a:pPr rtl="1"/>
                      <a:endParaRPr lang="he-IL"/>
                    </a:p>
                  </a:txBody>
                  <a:tcPr/>
                </a:tc>
                <a:tc hMerge="1">
                  <a:txBody>
                    <a:bodyPr/>
                    <a:lstStyle/>
                    <a:p>
                      <a:pPr rtl="1"/>
                      <a:endParaRPr lang="he-IL"/>
                    </a:p>
                  </a:txBody>
                  <a:tcPr/>
                </a:tc>
                <a:extLst>
                  <a:ext uri="{0D108BD9-81ED-4DB2-BD59-A6C34878D82A}">
                    <a16:rowId xmlns:a16="http://schemas.microsoft.com/office/drawing/2014/main" val="10000"/>
                  </a:ext>
                </a:extLst>
              </a:tr>
              <a:tr h="451365">
                <a:tc vMerge="1">
                  <a:txBody>
                    <a:bodyPr/>
                    <a:lstStyle/>
                    <a:p>
                      <a:pPr rtl="1"/>
                      <a:endParaRPr lang="he-IL"/>
                    </a:p>
                  </a:txBody>
                  <a:tcPr/>
                </a:tc>
                <a:tc>
                  <a:txBody>
                    <a:bodyPr/>
                    <a:lstStyle/>
                    <a:p>
                      <a:pPr algn="ctr" rtl="1">
                        <a:spcAft>
                          <a:spcPts val="0"/>
                        </a:spcAft>
                      </a:pPr>
                      <a:r>
                        <a:rPr lang="he-IL" sz="1400" dirty="0">
                          <a:effectLst/>
                        </a:rPr>
                        <a:t>משתנה </a:t>
                      </a:r>
                      <a:r>
                        <a:rPr lang="en-US" sz="1400" dirty="0">
                          <a:effectLst/>
                        </a:rPr>
                        <a:t>VC</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r>
                        <a:rPr lang="he-IL" sz="1400" b="1" dirty="0">
                          <a:solidFill>
                            <a:srgbClr val="C00000"/>
                          </a:solidFill>
                          <a:effectLst/>
                        </a:rPr>
                        <a:t>משתנה ממוצעת </a:t>
                      </a:r>
                      <a:r>
                        <a:rPr lang="en-US" sz="1400" b="1" dirty="0">
                          <a:solidFill>
                            <a:srgbClr val="C00000"/>
                          </a:solidFill>
                          <a:effectLst/>
                        </a:rPr>
                        <a:t>AVC</a:t>
                      </a:r>
                      <a:endParaRPr lang="en-US" sz="1400" b="1" dirty="0">
                        <a:solidFill>
                          <a:srgbClr val="C00000"/>
                        </a:solidFill>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r>
                        <a:rPr lang="he-IL" sz="1400" b="1" dirty="0">
                          <a:solidFill>
                            <a:schemeClr val="tx2"/>
                          </a:solidFill>
                          <a:effectLst/>
                        </a:rPr>
                        <a:t>שולית </a:t>
                      </a:r>
                      <a:r>
                        <a:rPr lang="en-US" sz="1400" b="1" dirty="0">
                          <a:solidFill>
                            <a:schemeClr val="tx2"/>
                          </a:solidFill>
                          <a:effectLst/>
                        </a:rPr>
                        <a:t>MC</a:t>
                      </a:r>
                      <a:endParaRPr lang="en-US" sz="1400" b="1" dirty="0">
                        <a:solidFill>
                          <a:schemeClr val="tx2"/>
                        </a:solidFill>
                        <a:effectLst/>
                        <a:latin typeface="Times New Roman"/>
                        <a:ea typeface="Times New Roman"/>
                        <a:cs typeface="Miriam"/>
                      </a:endParaRPr>
                    </a:p>
                  </a:txBody>
                  <a:tcPr marL="68580" marR="68580" marT="0" marB="0" anchor="ctr">
                    <a:solidFill>
                      <a:schemeClr val="bg1">
                        <a:lumMod val="85000"/>
                      </a:schemeClr>
                    </a:solidFill>
                  </a:tcPr>
                </a:tc>
                <a:extLst>
                  <a:ext uri="{0D108BD9-81ED-4DB2-BD59-A6C34878D82A}">
                    <a16:rowId xmlns:a16="http://schemas.microsoft.com/office/drawing/2014/main" val="10001"/>
                  </a:ext>
                </a:extLst>
              </a:tr>
              <a:tr h="391809">
                <a:tc>
                  <a:txBody>
                    <a:bodyPr/>
                    <a:lstStyle/>
                    <a:p>
                      <a:pPr algn="ctr" rtl="1">
                        <a:spcAft>
                          <a:spcPts val="0"/>
                        </a:spcAft>
                      </a:pPr>
                      <a:r>
                        <a:rPr lang="he-IL" sz="1400" dirty="0">
                          <a:effectLst/>
                        </a:rPr>
                        <a:t>1</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r>
                        <a:rPr lang="he-IL" sz="2000" b="1" dirty="0">
                          <a:effectLst/>
                        </a:rPr>
                        <a:t>50</a:t>
                      </a:r>
                      <a:endParaRPr lang="en-US" sz="2000" b="1" dirty="0">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b="1" dirty="0">
                          <a:solidFill>
                            <a:srgbClr val="C00000"/>
                          </a:solidFill>
                          <a:effectLst/>
                        </a:rPr>
                        <a:t>50</a:t>
                      </a:r>
                      <a:endParaRPr lang="en-US" sz="2000" b="1" dirty="0">
                        <a:solidFill>
                          <a:srgbClr val="C00000"/>
                        </a:solidFill>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dirty="0">
                          <a:solidFill>
                            <a:schemeClr val="tx2"/>
                          </a:solidFill>
                          <a:effectLst/>
                        </a:rPr>
                        <a:t>50</a:t>
                      </a:r>
                      <a:endParaRPr lang="en-US" sz="2000" dirty="0">
                        <a:solidFill>
                          <a:schemeClr val="tx2"/>
                        </a:solidFill>
                        <a:effectLst/>
                        <a:latin typeface="Times New Roman"/>
                        <a:ea typeface="Times New Roman"/>
                        <a:cs typeface="Miriam"/>
                      </a:endParaRPr>
                    </a:p>
                  </a:txBody>
                  <a:tcPr marL="68580" marR="68580" marT="0" marB="0" anchor="ctr">
                    <a:solidFill>
                      <a:srgbClr val="CCFFFF"/>
                    </a:solidFill>
                  </a:tcPr>
                </a:tc>
                <a:extLst>
                  <a:ext uri="{0D108BD9-81ED-4DB2-BD59-A6C34878D82A}">
                    <a16:rowId xmlns:a16="http://schemas.microsoft.com/office/drawing/2014/main" val="10002"/>
                  </a:ext>
                </a:extLst>
              </a:tr>
              <a:tr h="391809">
                <a:tc>
                  <a:txBody>
                    <a:bodyPr/>
                    <a:lstStyle/>
                    <a:p>
                      <a:pPr algn="ctr" rtl="1">
                        <a:spcAft>
                          <a:spcPts val="0"/>
                        </a:spcAft>
                      </a:pPr>
                      <a:r>
                        <a:rPr lang="he-IL" sz="1400" dirty="0">
                          <a:effectLst/>
                        </a:rPr>
                        <a:t>2</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r>
                        <a:rPr lang="he-IL" sz="2000" b="1" dirty="0">
                          <a:effectLst/>
                        </a:rPr>
                        <a:t>100</a:t>
                      </a:r>
                      <a:endParaRPr lang="en-US" sz="2000" b="1" dirty="0">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b="1" dirty="0">
                          <a:solidFill>
                            <a:srgbClr val="C00000"/>
                          </a:solidFill>
                          <a:effectLst/>
                        </a:rPr>
                        <a:t>50</a:t>
                      </a:r>
                      <a:endParaRPr lang="en-US" sz="2000" b="1" dirty="0">
                        <a:solidFill>
                          <a:srgbClr val="C00000"/>
                        </a:solidFill>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dirty="0">
                          <a:solidFill>
                            <a:schemeClr val="tx2"/>
                          </a:solidFill>
                          <a:effectLst/>
                        </a:rPr>
                        <a:t>50</a:t>
                      </a:r>
                      <a:endParaRPr lang="en-US" sz="2000" dirty="0">
                        <a:solidFill>
                          <a:schemeClr val="tx2"/>
                        </a:solidFill>
                        <a:effectLst/>
                        <a:latin typeface="Times New Roman"/>
                        <a:ea typeface="Times New Roman"/>
                        <a:cs typeface="Miriam"/>
                      </a:endParaRPr>
                    </a:p>
                  </a:txBody>
                  <a:tcPr marL="68580" marR="68580" marT="0" marB="0" anchor="ctr">
                    <a:solidFill>
                      <a:srgbClr val="CCFFFF"/>
                    </a:solidFill>
                  </a:tcPr>
                </a:tc>
                <a:extLst>
                  <a:ext uri="{0D108BD9-81ED-4DB2-BD59-A6C34878D82A}">
                    <a16:rowId xmlns:a16="http://schemas.microsoft.com/office/drawing/2014/main" val="10003"/>
                  </a:ext>
                </a:extLst>
              </a:tr>
              <a:tr h="391809">
                <a:tc>
                  <a:txBody>
                    <a:bodyPr/>
                    <a:lstStyle/>
                    <a:p>
                      <a:pPr algn="ctr" rtl="1">
                        <a:spcAft>
                          <a:spcPts val="0"/>
                        </a:spcAft>
                      </a:pPr>
                      <a:r>
                        <a:rPr lang="he-IL" sz="1400" dirty="0">
                          <a:effectLst/>
                        </a:rPr>
                        <a:t>3</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endParaRPr lang="he-IL" dirty="0"/>
                    </a:p>
                  </a:txBody>
                  <a:tcPr marL="68580" marR="68580" marT="0" marB="0" anchor="ctr">
                    <a:solidFill>
                      <a:srgbClr val="CCFFFF"/>
                    </a:solidFill>
                  </a:tcPr>
                </a:tc>
                <a:tc>
                  <a:txBody>
                    <a:bodyPr/>
                    <a:lstStyle/>
                    <a:p>
                      <a:endParaRPr lang="he-IL" dirty="0"/>
                    </a:p>
                  </a:txBody>
                  <a:tcPr marL="68580" marR="68580" marT="0" marB="0" anchor="ctr">
                    <a:solidFill>
                      <a:srgbClr val="CCFFFF"/>
                    </a:solidFill>
                  </a:tcPr>
                </a:tc>
                <a:tc>
                  <a:txBody>
                    <a:bodyPr/>
                    <a:lstStyle/>
                    <a:p>
                      <a:endParaRPr lang="he-IL" dirty="0"/>
                    </a:p>
                  </a:txBody>
                  <a:tcPr marL="68580" marR="68580" marT="0" marB="0" anchor="ctr">
                    <a:solidFill>
                      <a:srgbClr val="CCFFFF"/>
                    </a:solidFill>
                  </a:tcPr>
                </a:tc>
                <a:extLst>
                  <a:ext uri="{0D108BD9-81ED-4DB2-BD59-A6C34878D82A}">
                    <a16:rowId xmlns:a16="http://schemas.microsoft.com/office/drawing/2014/main" val="10004"/>
                  </a:ext>
                </a:extLst>
              </a:tr>
              <a:tr h="391809">
                <a:tc>
                  <a:txBody>
                    <a:bodyPr/>
                    <a:lstStyle/>
                    <a:p>
                      <a:pPr algn="ctr" rtl="1">
                        <a:spcAft>
                          <a:spcPts val="0"/>
                        </a:spcAft>
                      </a:pPr>
                      <a:r>
                        <a:rPr lang="he-IL" sz="1400" dirty="0">
                          <a:effectLst/>
                        </a:rPr>
                        <a:t>4</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endParaRPr lang="he-IL"/>
                    </a:p>
                  </a:txBody>
                  <a:tcPr marL="68580" marR="68580" marT="0" marB="0" anchor="ctr">
                    <a:solidFill>
                      <a:srgbClr val="CCFFFF"/>
                    </a:solidFill>
                  </a:tcPr>
                </a:tc>
                <a:tc>
                  <a:txBody>
                    <a:bodyPr/>
                    <a:lstStyle/>
                    <a:p>
                      <a:endParaRPr lang="he-IL" dirty="0"/>
                    </a:p>
                  </a:txBody>
                  <a:tcPr marL="68580" marR="68580" marT="0" marB="0" anchor="ctr">
                    <a:solidFill>
                      <a:srgbClr val="CCFFFF"/>
                    </a:solidFill>
                  </a:tcPr>
                </a:tc>
                <a:tc>
                  <a:txBody>
                    <a:bodyPr/>
                    <a:lstStyle/>
                    <a:p>
                      <a:endParaRPr lang="he-IL" dirty="0"/>
                    </a:p>
                  </a:txBody>
                  <a:tcPr marL="68580" marR="68580" marT="0" marB="0" anchor="ctr">
                    <a:solidFill>
                      <a:srgbClr val="CC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454616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660649" y="467690"/>
            <a:ext cx="8460432" cy="1152128"/>
          </a:xfrm>
        </p:spPr>
        <p:txBody>
          <a:bodyPr>
            <a:normAutofit fontScale="85000" lnSpcReduction="20000"/>
          </a:bodyPr>
          <a:lstStyle/>
          <a:p>
            <a:pPr marL="0" indent="0" algn="r" rtl="1">
              <a:buNone/>
            </a:pPr>
            <a:r>
              <a:rPr lang="he-IL" sz="2000" dirty="0"/>
              <a:t>פירמה תחרותית מייצרת כל יחידה בעלות שולית קבועה של 50 שקלים ליחידה (אין עלויות קבועות).</a:t>
            </a:r>
            <a:endParaRPr lang="en-US" sz="2000" b="1" dirty="0"/>
          </a:p>
          <a:p>
            <a:pPr marL="0" indent="0" algn="r" rtl="1">
              <a:buNone/>
            </a:pPr>
            <a:r>
              <a:rPr lang="he-IL" sz="2000" dirty="0"/>
              <a:t>א. תארו את מבנה העלויות של הפירמה </a:t>
            </a:r>
            <a:r>
              <a:rPr lang="en-US" sz="2000" dirty="0"/>
              <a:t>TC(X)</a:t>
            </a:r>
            <a:r>
              <a:rPr lang="he-IL" sz="2000" dirty="0"/>
              <a:t> ,</a:t>
            </a:r>
            <a:r>
              <a:rPr lang="en-US" sz="2000" dirty="0"/>
              <a:t>VC(X)</a:t>
            </a:r>
            <a:r>
              <a:rPr lang="he-IL" sz="2000" dirty="0"/>
              <a:t>, </a:t>
            </a:r>
            <a:r>
              <a:rPr lang="en-US" sz="2000" dirty="0"/>
              <a:t>AVC(X)</a:t>
            </a:r>
            <a:r>
              <a:rPr lang="he-IL" sz="2000" dirty="0"/>
              <a:t>, </a:t>
            </a:r>
            <a:r>
              <a:rPr lang="en-US" sz="2000" dirty="0"/>
              <a:t>MC(X)</a:t>
            </a:r>
            <a:r>
              <a:rPr lang="he-IL" sz="2000" dirty="0"/>
              <a:t>.</a:t>
            </a:r>
            <a:endParaRPr lang="en-US" sz="2000" dirty="0"/>
          </a:p>
          <a:p>
            <a:pPr marL="0" indent="0" algn="r" rtl="1">
              <a:buNone/>
            </a:pPr>
            <a:r>
              <a:rPr lang="he-IL" sz="2000" dirty="0"/>
              <a:t>ב. מהי עקומת ההיצע של הפירמה?</a:t>
            </a:r>
            <a:endParaRPr lang="en-US" sz="2000" dirty="0"/>
          </a:p>
          <a:p>
            <a:pPr marL="0" indent="0" algn="r" rtl="1">
              <a:buNone/>
            </a:pPr>
            <a:r>
              <a:rPr lang="he-IL" sz="2000" dirty="0"/>
              <a:t>ג. מהי גמישות ההיצע של הפירמה?</a:t>
            </a:r>
            <a:endParaRPr lang="en-US" sz="2000" dirty="0"/>
          </a:p>
        </p:txBody>
      </p:sp>
      <p:sp>
        <p:nvSpPr>
          <p:cNvPr id="4" name="כותרת 1"/>
          <p:cNvSpPr txBox="1">
            <a:spLocks/>
          </p:cNvSpPr>
          <p:nvPr/>
        </p:nvSpPr>
        <p:spPr>
          <a:xfrm>
            <a:off x="3048000" y="128694"/>
            <a:ext cx="9144000" cy="404663"/>
          </a:xfrm>
          <a:prstGeom prst="rect">
            <a:avLst/>
          </a:prstGeom>
        </p:spPr>
        <p:txBody>
          <a:bodyPr vert="horz" lIns="91440" tIns="45720" rIns="91440" bIns="45720" rtlCol="0" anchor="ctr">
            <a:noAutofit/>
          </a:bodyPr>
          <a:lstStyle>
            <a:lvl1pPr algn="l" defTabSz="914400" rtl="1" eaLnBrk="1" latinLnBrk="0" hangingPunct="1">
              <a:spcBef>
                <a:spcPct val="0"/>
              </a:spcBef>
              <a:buNone/>
              <a:defRPr sz="4000" kern="1200" spc="-100" baseline="0">
                <a:solidFill>
                  <a:schemeClr val="tx2"/>
                </a:solidFill>
                <a:latin typeface="+mj-lt"/>
                <a:ea typeface="+mj-ea"/>
                <a:cs typeface="+mj-cs"/>
              </a:defRPr>
            </a:lvl1pPr>
          </a:lstStyle>
          <a:p>
            <a:pPr algn="r"/>
            <a:r>
              <a:rPr lang="he-IL" b="1" dirty="0">
                <a:solidFill>
                  <a:srgbClr val="44546A"/>
                </a:solidFill>
                <a:latin typeface="Calibri Light" panose="020F0302020204030204"/>
                <a:cs typeface="Arial" panose="020B0604020202020204" pitchFamily="34" charset="0"/>
              </a:rPr>
              <a:t>שאלה 6</a:t>
            </a:r>
          </a:p>
        </p:txBody>
      </p:sp>
      <p:graphicFrame>
        <p:nvGraphicFramePr>
          <p:cNvPr id="5" name="טבלה 4"/>
          <p:cNvGraphicFramePr>
            <a:graphicFrameLocks noGrp="1"/>
          </p:cNvGraphicFramePr>
          <p:nvPr/>
        </p:nvGraphicFramePr>
        <p:xfrm>
          <a:off x="2033474" y="1359991"/>
          <a:ext cx="4104456" cy="2306633"/>
        </p:xfrm>
        <a:graphic>
          <a:graphicData uri="http://schemas.openxmlformats.org/drawingml/2006/table">
            <a:tbl>
              <a:tblPr rtl="1">
                <a:tableStyleId>{5C22544A-7EE6-4342-B048-85BDC9FD1C3A}</a:tableStyleId>
              </a:tblPr>
              <a:tblGrid>
                <a:gridCol w="724827">
                  <a:extLst>
                    <a:ext uri="{9D8B030D-6E8A-4147-A177-3AD203B41FA5}">
                      <a16:colId xmlns:a16="http://schemas.microsoft.com/office/drawing/2014/main" val="20000"/>
                    </a:ext>
                  </a:extLst>
                </a:gridCol>
                <a:gridCol w="1192533">
                  <a:extLst>
                    <a:ext uri="{9D8B030D-6E8A-4147-A177-3AD203B41FA5}">
                      <a16:colId xmlns:a16="http://schemas.microsoft.com/office/drawing/2014/main" val="20001"/>
                    </a:ext>
                  </a:extLst>
                </a:gridCol>
                <a:gridCol w="1176588">
                  <a:extLst>
                    <a:ext uri="{9D8B030D-6E8A-4147-A177-3AD203B41FA5}">
                      <a16:colId xmlns:a16="http://schemas.microsoft.com/office/drawing/2014/main" val="20002"/>
                    </a:ext>
                  </a:extLst>
                </a:gridCol>
                <a:gridCol w="1010508">
                  <a:extLst>
                    <a:ext uri="{9D8B030D-6E8A-4147-A177-3AD203B41FA5}">
                      <a16:colId xmlns:a16="http://schemas.microsoft.com/office/drawing/2014/main" val="20003"/>
                    </a:ext>
                  </a:extLst>
                </a:gridCol>
              </a:tblGrid>
              <a:tr h="288032">
                <a:tc rowSpan="2">
                  <a:txBody>
                    <a:bodyPr/>
                    <a:lstStyle/>
                    <a:p>
                      <a:pPr algn="ctr" rtl="1">
                        <a:spcAft>
                          <a:spcPts val="0"/>
                        </a:spcAft>
                      </a:pPr>
                      <a:r>
                        <a:rPr lang="he-IL" sz="1400" dirty="0">
                          <a:effectLst/>
                        </a:rPr>
                        <a:t>כמות מיוצרת</a:t>
                      </a:r>
                      <a:endParaRPr lang="en-US" sz="1400" dirty="0">
                        <a:effectLst/>
                      </a:endParaRPr>
                    </a:p>
                  </a:txBody>
                  <a:tcPr marL="68580" marR="68580" marT="0" marB="0" anchor="ctr"/>
                </a:tc>
                <a:tc gridSpan="3">
                  <a:txBody>
                    <a:bodyPr/>
                    <a:lstStyle/>
                    <a:p>
                      <a:pPr algn="ctr" rtl="1">
                        <a:spcAft>
                          <a:spcPts val="0"/>
                        </a:spcAft>
                      </a:pPr>
                      <a:r>
                        <a:rPr lang="he-IL" sz="1400" dirty="0">
                          <a:effectLst/>
                        </a:rPr>
                        <a:t>עלות (אלפי ש"ח)</a:t>
                      </a:r>
                      <a:endParaRPr lang="en-US" sz="1400" dirty="0">
                        <a:effectLst/>
                        <a:latin typeface="Times New Roman"/>
                        <a:ea typeface="Times New Roman"/>
                        <a:cs typeface="Miriam"/>
                      </a:endParaRPr>
                    </a:p>
                  </a:txBody>
                  <a:tcPr marL="68580" marR="68580" marT="0" marB="0" anchor="ctr"/>
                </a:tc>
                <a:tc hMerge="1">
                  <a:txBody>
                    <a:bodyPr/>
                    <a:lstStyle/>
                    <a:p>
                      <a:pPr rtl="1"/>
                      <a:endParaRPr lang="he-IL"/>
                    </a:p>
                  </a:txBody>
                  <a:tcPr/>
                </a:tc>
                <a:tc hMerge="1">
                  <a:txBody>
                    <a:bodyPr/>
                    <a:lstStyle/>
                    <a:p>
                      <a:pPr rtl="1"/>
                      <a:endParaRPr lang="he-IL"/>
                    </a:p>
                  </a:txBody>
                  <a:tcPr/>
                </a:tc>
                <a:extLst>
                  <a:ext uri="{0D108BD9-81ED-4DB2-BD59-A6C34878D82A}">
                    <a16:rowId xmlns:a16="http://schemas.microsoft.com/office/drawing/2014/main" val="10000"/>
                  </a:ext>
                </a:extLst>
              </a:tr>
              <a:tr h="451365">
                <a:tc vMerge="1">
                  <a:txBody>
                    <a:bodyPr/>
                    <a:lstStyle/>
                    <a:p>
                      <a:pPr rtl="1"/>
                      <a:endParaRPr lang="he-IL"/>
                    </a:p>
                  </a:txBody>
                  <a:tcPr/>
                </a:tc>
                <a:tc>
                  <a:txBody>
                    <a:bodyPr/>
                    <a:lstStyle/>
                    <a:p>
                      <a:pPr algn="ctr" rtl="1">
                        <a:spcAft>
                          <a:spcPts val="0"/>
                        </a:spcAft>
                      </a:pPr>
                      <a:r>
                        <a:rPr lang="he-IL" sz="1400" dirty="0">
                          <a:effectLst/>
                        </a:rPr>
                        <a:t>משתנה </a:t>
                      </a:r>
                      <a:r>
                        <a:rPr lang="en-US" sz="1400" dirty="0">
                          <a:effectLst/>
                        </a:rPr>
                        <a:t>VC</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r>
                        <a:rPr lang="he-IL" sz="1400" b="1" dirty="0">
                          <a:solidFill>
                            <a:srgbClr val="C00000"/>
                          </a:solidFill>
                          <a:effectLst/>
                        </a:rPr>
                        <a:t>משתנה ממוצעת </a:t>
                      </a:r>
                      <a:r>
                        <a:rPr lang="en-US" sz="1400" b="1" dirty="0">
                          <a:solidFill>
                            <a:srgbClr val="C00000"/>
                          </a:solidFill>
                          <a:effectLst/>
                        </a:rPr>
                        <a:t>AVC</a:t>
                      </a:r>
                      <a:endParaRPr lang="en-US" sz="1400" b="1" dirty="0">
                        <a:solidFill>
                          <a:srgbClr val="C00000"/>
                        </a:solidFill>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r>
                        <a:rPr lang="he-IL" sz="1400" b="1" dirty="0">
                          <a:solidFill>
                            <a:schemeClr val="tx2"/>
                          </a:solidFill>
                          <a:effectLst/>
                        </a:rPr>
                        <a:t>שולית </a:t>
                      </a:r>
                      <a:r>
                        <a:rPr lang="en-US" sz="1400" b="1" dirty="0">
                          <a:solidFill>
                            <a:schemeClr val="tx2"/>
                          </a:solidFill>
                          <a:effectLst/>
                        </a:rPr>
                        <a:t>MC</a:t>
                      </a:r>
                      <a:endParaRPr lang="en-US" sz="1400" b="1" dirty="0">
                        <a:solidFill>
                          <a:schemeClr val="tx2"/>
                        </a:solidFill>
                        <a:effectLst/>
                        <a:latin typeface="Times New Roman"/>
                        <a:ea typeface="Times New Roman"/>
                        <a:cs typeface="Miriam"/>
                      </a:endParaRPr>
                    </a:p>
                  </a:txBody>
                  <a:tcPr marL="68580" marR="68580" marT="0" marB="0" anchor="ctr">
                    <a:solidFill>
                      <a:schemeClr val="bg1">
                        <a:lumMod val="85000"/>
                      </a:schemeClr>
                    </a:solidFill>
                  </a:tcPr>
                </a:tc>
                <a:extLst>
                  <a:ext uri="{0D108BD9-81ED-4DB2-BD59-A6C34878D82A}">
                    <a16:rowId xmlns:a16="http://schemas.microsoft.com/office/drawing/2014/main" val="10001"/>
                  </a:ext>
                </a:extLst>
              </a:tr>
              <a:tr h="391809">
                <a:tc>
                  <a:txBody>
                    <a:bodyPr/>
                    <a:lstStyle/>
                    <a:p>
                      <a:pPr algn="ctr" rtl="1">
                        <a:spcAft>
                          <a:spcPts val="0"/>
                        </a:spcAft>
                      </a:pPr>
                      <a:r>
                        <a:rPr lang="he-IL" sz="1400" dirty="0">
                          <a:effectLst/>
                        </a:rPr>
                        <a:t>1</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r>
                        <a:rPr lang="he-IL" sz="2000" b="1" dirty="0">
                          <a:effectLst/>
                        </a:rPr>
                        <a:t>50</a:t>
                      </a:r>
                      <a:endParaRPr lang="en-US" sz="2000" b="1" dirty="0">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b="1" dirty="0">
                          <a:solidFill>
                            <a:srgbClr val="C00000"/>
                          </a:solidFill>
                          <a:effectLst/>
                        </a:rPr>
                        <a:t>50</a:t>
                      </a:r>
                      <a:endParaRPr lang="en-US" sz="2000" b="1" dirty="0">
                        <a:solidFill>
                          <a:srgbClr val="C00000"/>
                        </a:solidFill>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dirty="0">
                          <a:solidFill>
                            <a:schemeClr val="tx2"/>
                          </a:solidFill>
                          <a:effectLst/>
                        </a:rPr>
                        <a:t>50</a:t>
                      </a:r>
                      <a:endParaRPr lang="en-US" sz="2000" dirty="0">
                        <a:solidFill>
                          <a:schemeClr val="tx2"/>
                        </a:solidFill>
                        <a:effectLst/>
                        <a:latin typeface="Times New Roman"/>
                        <a:ea typeface="Times New Roman"/>
                        <a:cs typeface="Miriam"/>
                      </a:endParaRPr>
                    </a:p>
                  </a:txBody>
                  <a:tcPr marL="68580" marR="68580" marT="0" marB="0" anchor="ctr">
                    <a:solidFill>
                      <a:srgbClr val="CCFFFF"/>
                    </a:solidFill>
                  </a:tcPr>
                </a:tc>
                <a:extLst>
                  <a:ext uri="{0D108BD9-81ED-4DB2-BD59-A6C34878D82A}">
                    <a16:rowId xmlns:a16="http://schemas.microsoft.com/office/drawing/2014/main" val="10002"/>
                  </a:ext>
                </a:extLst>
              </a:tr>
              <a:tr h="391809">
                <a:tc>
                  <a:txBody>
                    <a:bodyPr/>
                    <a:lstStyle/>
                    <a:p>
                      <a:pPr algn="ctr" rtl="1">
                        <a:spcAft>
                          <a:spcPts val="0"/>
                        </a:spcAft>
                      </a:pPr>
                      <a:r>
                        <a:rPr lang="he-IL" sz="1400" dirty="0">
                          <a:effectLst/>
                        </a:rPr>
                        <a:t>2</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r>
                        <a:rPr lang="he-IL" sz="2000" b="1" dirty="0">
                          <a:effectLst/>
                        </a:rPr>
                        <a:t>100</a:t>
                      </a:r>
                      <a:endParaRPr lang="en-US" sz="2000" b="1" dirty="0">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b="1" dirty="0">
                          <a:solidFill>
                            <a:srgbClr val="C00000"/>
                          </a:solidFill>
                          <a:effectLst/>
                        </a:rPr>
                        <a:t>50</a:t>
                      </a:r>
                      <a:endParaRPr lang="en-US" sz="2000" b="1" dirty="0">
                        <a:solidFill>
                          <a:srgbClr val="C00000"/>
                        </a:solidFill>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dirty="0">
                          <a:solidFill>
                            <a:schemeClr val="tx2"/>
                          </a:solidFill>
                          <a:effectLst/>
                        </a:rPr>
                        <a:t>50</a:t>
                      </a:r>
                      <a:endParaRPr lang="en-US" sz="2000" dirty="0">
                        <a:solidFill>
                          <a:schemeClr val="tx2"/>
                        </a:solidFill>
                        <a:effectLst/>
                        <a:latin typeface="Times New Roman"/>
                        <a:ea typeface="Times New Roman"/>
                        <a:cs typeface="Miriam"/>
                      </a:endParaRPr>
                    </a:p>
                  </a:txBody>
                  <a:tcPr marL="68580" marR="68580" marT="0" marB="0" anchor="ctr">
                    <a:solidFill>
                      <a:srgbClr val="CCFFFF"/>
                    </a:solidFill>
                  </a:tcPr>
                </a:tc>
                <a:extLst>
                  <a:ext uri="{0D108BD9-81ED-4DB2-BD59-A6C34878D82A}">
                    <a16:rowId xmlns:a16="http://schemas.microsoft.com/office/drawing/2014/main" val="10003"/>
                  </a:ext>
                </a:extLst>
              </a:tr>
              <a:tr h="391809">
                <a:tc>
                  <a:txBody>
                    <a:bodyPr/>
                    <a:lstStyle/>
                    <a:p>
                      <a:pPr algn="ctr" rtl="1">
                        <a:spcAft>
                          <a:spcPts val="0"/>
                        </a:spcAft>
                      </a:pPr>
                      <a:r>
                        <a:rPr lang="he-IL" sz="1400" dirty="0">
                          <a:effectLst/>
                        </a:rPr>
                        <a:t>3</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r>
                        <a:rPr lang="he-IL" sz="2000" b="1" dirty="0">
                          <a:effectLst/>
                        </a:rPr>
                        <a:t>150</a:t>
                      </a:r>
                      <a:endParaRPr lang="en-US" sz="2000" b="1" dirty="0">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b="1" dirty="0">
                          <a:solidFill>
                            <a:srgbClr val="C00000"/>
                          </a:solidFill>
                          <a:effectLst/>
                        </a:rPr>
                        <a:t>50</a:t>
                      </a:r>
                      <a:endParaRPr lang="en-US" sz="2000" b="1" dirty="0">
                        <a:solidFill>
                          <a:srgbClr val="C00000"/>
                        </a:solidFill>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dirty="0">
                          <a:solidFill>
                            <a:schemeClr val="tx2"/>
                          </a:solidFill>
                          <a:effectLst/>
                        </a:rPr>
                        <a:t>50</a:t>
                      </a:r>
                      <a:endParaRPr lang="en-US" sz="2000" dirty="0">
                        <a:solidFill>
                          <a:schemeClr val="tx2"/>
                        </a:solidFill>
                        <a:effectLst/>
                        <a:latin typeface="Times New Roman"/>
                        <a:ea typeface="Times New Roman"/>
                        <a:cs typeface="Miriam"/>
                      </a:endParaRPr>
                    </a:p>
                  </a:txBody>
                  <a:tcPr marL="68580" marR="68580" marT="0" marB="0" anchor="ctr">
                    <a:solidFill>
                      <a:srgbClr val="CCFFFF"/>
                    </a:solidFill>
                  </a:tcPr>
                </a:tc>
                <a:extLst>
                  <a:ext uri="{0D108BD9-81ED-4DB2-BD59-A6C34878D82A}">
                    <a16:rowId xmlns:a16="http://schemas.microsoft.com/office/drawing/2014/main" val="10004"/>
                  </a:ext>
                </a:extLst>
              </a:tr>
              <a:tr h="391809">
                <a:tc>
                  <a:txBody>
                    <a:bodyPr/>
                    <a:lstStyle/>
                    <a:p>
                      <a:pPr algn="ctr" rtl="1">
                        <a:spcAft>
                          <a:spcPts val="0"/>
                        </a:spcAft>
                      </a:pPr>
                      <a:r>
                        <a:rPr lang="he-IL" sz="1400" dirty="0">
                          <a:effectLst/>
                        </a:rPr>
                        <a:t>4</a:t>
                      </a:r>
                      <a:endParaRPr lang="en-US" sz="1400" dirty="0">
                        <a:effectLst/>
                        <a:latin typeface="Times New Roman"/>
                        <a:ea typeface="Times New Roman"/>
                        <a:cs typeface="Miriam"/>
                      </a:endParaRPr>
                    </a:p>
                  </a:txBody>
                  <a:tcPr marL="68580" marR="68580" marT="0" marB="0" anchor="ctr">
                    <a:solidFill>
                      <a:schemeClr val="bg1">
                        <a:lumMod val="85000"/>
                      </a:schemeClr>
                    </a:solidFill>
                  </a:tcPr>
                </a:tc>
                <a:tc>
                  <a:txBody>
                    <a:bodyPr/>
                    <a:lstStyle/>
                    <a:p>
                      <a:pPr algn="ctr" rtl="1">
                        <a:spcAft>
                          <a:spcPts val="0"/>
                        </a:spcAft>
                      </a:pPr>
                      <a:r>
                        <a:rPr lang="he-IL" sz="2000" b="1" dirty="0">
                          <a:effectLst/>
                        </a:rPr>
                        <a:t>200</a:t>
                      </a:r>
                      <a:endParaRPr lang="en-US" sz="2000" b="1" dirty="0">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b="1" dirty="0">
                          <a:solidFill>
                            <a:srgbClr val="C00000"/>
                          </a:solidFill>
                          <a:effectLst/>
                        </a:rPr>
                        <a:t>50</a:t>
                      </a:r>
                      <a:endParaRPr lang="en-US" sz="2000" b="1" dirty="0">
                        <a:solidFill>
                          <a:srgbClr val="C00000"/>
                        </a:solidFill>
                        <a:effectLst/>
                        <a:latin typeface="Times New Roman"/>
                        <a:ea typeface="Times New Roman"/>
                        <a:cs typeface="Miriam"/>
                      </a:endParaRPr>
                    </a:p>
                  </a:txBody>
                  <a:tcPr marL="68580" marR="68580" marT="0" marB="0" anchor="ctr">
                    <a:solidFill>
                      <a:srgbClr val="CCFFFF"/>
                    </a:solidFill>
                  </a:tcPr>
                </a:tc>
                <a:tc>
                  <a:txBody>
                    <a:bodyPr/>
                    <a:lstStyle/>
                    <a:p>
                      <a:pPr algn="ctr" rtl="1">
                        <a:spcAft>
                          <a:spcPts val="0"/>
                        </a:spcAft>
                      </a:pPr>
                      <a:r>
                        <a:rPr lang="he-IL" sz="2000" dirty="0">
                          <a:solidFill>
                            <a:schemeClr val="tx2"/>
                          </a:solidFill>
                          <a:effectLst/>
                        </a:rPr>
                        <a:t>50</a:t>
                      </a:r>
                      <a:endParaRPr lang="en-US" sz="2000" dirty="0">
                        <a:solidFill>
                          <a:schemeClr val="tx2"/>
                        </a:solidFill>
                        <a:effectLst/>
                        <a:latin typeface="Times New Roman"/>
                        <a:ea typeface="Times New Roman"/>
                        <a:cs typeface="Miriam"/>
                      </a:endParaRPr>
                    </a:p>
                  </a:txBody>
                  <a:tcPr marL="68580" marR="68580" marT="0" marB="0" anchor="ctr">
                    <a:solidFill>
                      <a:srgbClr val="CC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6782315" y="1952166"/>
            <a:ext cx="2754495" cy="400110"/>
          </a:xfrm>
          <a:prstGeom prst="rect">
            <a:avLst/>
          </a:prstGeom>
          <a:noFill/>
        </p:spPr>
        <p:txBody>
          <a:bodyPr wrap="square" rtlCol="1">
            <a:spAutoFit/>
          </a:bodyPr>
          <a:lstStyle/>
          <a:p>
            <a:r>
              <a:rPr lang="en-US" sz="2000" dirty="0">
                <a:solidFill>
                  <a:srgbClr val="44546A"/>
                </a:solidFill>
                <a:latin typeface="Calibri" panose="020F0502020204030204"/>
              </a:rPr>
              <a:t>MC(X) = </a:t>
            </a:r>
            <a:r>
              <a:rPr lang="en-US" sz="2000" dirty="0">
                <a:solidFill>
                  <a:srgbClr val="C00000"/>
                </a:solidFill>
                <a:latin typeface="Calibri" panose="020F0502020204030204"/>
              </a:rPr>
              <a:t>AVC(X</a:t>
            </a:r>
            <a:r>
              <a:rPr lang="en-US" sz="2000" dirty="0">
                <a:solidFill>
                  <a:srgbClr val="44546A"/>
                </a:solidFill>
                <a:latin typeface="Calibri" panose="020F0502020204030204"/>
              </a:rPr>
              <a:t>)= </a:t>
            </a:r>
            <a:r>
              <a:rPr lang="en-US" sz="2000" b="1" dirty="0">
                <a:solidFill>
                  <a:srgbClr val="44546A"/>
                </a:solidFill>
                <a:latin typeface="Calibri" panose="020F0502020204030204"/>
              </a:rPr>
              <a:t>50</a:t>
            </a:r>
            <a:endParaRPr lang="he-IL" sz="2000" b="1" dirty="0">
              <a:solidFill>
                <a:srgbClr val="44546A"/>
              </a:solidFill>
              <a:latin typeface="Calibri" panose="020F0502020204030204"/>
              <a:cs typeface="Arial" panose="020B0604020202020204" pitchFamily="34" charset="0"/>
            </a:endParaRPr>
          </a:p>
        </p:txBody>
      </p:sp>
      <p:sp>
        <p:nvSpPr>
          <p:cNvPr id="8" name="TextBox 7"/>
          <p:cNvSpPr txBox="1"/>
          <p:nvPr/>
        </p:nvSpPr>
        <p:spPr>
          <a:xfrm>
            <a:off x="6979062" y="2413611"/>
            <a:ext cx="1651742" cy="400110"/>
          </a:xfrm>
          <a:prstGeom prst="rect">
            <a:avLst/>
          </a:prstGeom>
          <a:noFill/>
        </p:spPr>
        <p:txBody>
          <a:bodyPr wrap="square" rtlCol="1">
            <a:spAutoFit/>
          </a:bodyPr>
          <a:lstStyle/>
          <a:p>
            <a:r>
              <a:rPr lang="en-US" sz="2000" dirty="0">
                <a:solidFill>
                  <a:prstClr val="black"/>
                </a:solidFill>
                <a:latin typeface="Calibri" panose="020F0502020204030204"/>
              </a:rPr>
              <a:t>VC(X)= </a:t>
            </a:r>
            <a:r>
              <a:rPr lang="en-US" sz="2000" b="1" dirty="0">
                <a:solidFill>
                  <a:prstClr val="black"/>
                </a:solidFill>
                <a:latin typeface="Calibri" panose="020F0502020204030204"/>
              </a:rPr>
              <a:t>50X</a:t>
            </a:r>
            <a:endParaRPr lang="he-IL" sz="2000" b="1" dirty="0">
              <a:solidFill>
                <a:prstClr val="black"/>
              </a:solidFill>
              <a:latin typeface="Calibri" panose="020F0502020204030204"/>
              <a:cs typeface="Arial" panose="020B0604020202020204" pitchFamily="34" charset="0"/>
            </a:endParaRPr>
          </a:p>
        </p:txBody>
      </p:sp>
      <p:sp>
        <p:nvSpPr>
          <p:cNvPr id="9" name="TextBox 8"/>
          <p:cNvSpPr txBox="1"/>
          <p:nvPr/>
        </p:nvSpPr>
        <p:spPr>
          <a:xfrm>
            <a:off x="8688289" y="2413611"/>
            <a:ext cx="1707081" cy="400110"/>
          </a:xfrm>
          <a:prstGeom prst="rect">
            <a:avLst/>
          </a:prstGeom>
          <a:noFill/>
        </p:spPr>
        <p:txBody>
          <a:bodyPr wrap="square" rtlCol="1">
            <a:spAutoFit/>
          </a:bodyPr>
          <a:lstStyle/>
          <a:p>
            <a:r>
              <a:rPr lang="en-US" sz="2000" dirty="0">
                <a:solidFill>
                  <a:prstClr val="black"/>
                </a:solidFill>
                <a:latin typeface="Calibri" panose="020F0502020204030204"/>
              </a:rPr>
              <a:t>TC(X)= </a:t>
            </a:r>
            <a:r>
              <a:rPr lang="en-US" sz="2000" b="1" dirty="0">
                <a:solidFill>
                  <a:prstClr val="black"/>
                </a:solidFill>
                <a:latin typeface="Calibri" panose="020F0502020204030204"/>
              </a:rPr>
              <a:t>50X</a:t>
            </a:r>
            <a:endParaRPr lang="he-IL" sz="2000" b="1" dirty="0">
              <a:solidFill>
                <a:prstClr val="black"/>
              </a:solidFill>
              <a:latin typeface="Calibri" panose="020F0502020204030204"/>
              <a:cs typeface="Arial" panose="020B0604020202020204" pitchFamily="34" charset="0"/>
            </a:endParaRPr>
          </a:p>
        </p:txBody>
      </p:sp>
      <p:sp>
        <p:nvSpPr>
          <p:cNvPr id="10" name="TextBox 9"/>
          <p:cNvSpPr txBox="1"/>
          <p:nvPr/>
        </p:nvSpPr>
        <p:spPr>
          <a:xfrm>
            <a:off x="8858963" y="2876336"/>
            <a:ext cx="1275033" cy="369332"/>
          </a:xfrm>
          <a:prstGeom prst="rect">
            <a:avLst/>
          </a:prstGeom>
          <a:noFill/>
        </p:spPr>
        <p:txBody>
          <a:bodyPr wrap="square" rtlCol="1">
            <a:spAutoFit/>
          </a:bodyPr>
          <a:lstStyle/>
          <a:p>
            <a:pPr algn="l"/>
            <a:r>
              <a:rPr lang="en-US" b="1" dirty="0">
                <a:solidFill>
                  <a:srgbClr val="ED7D31">
                    <a:lumMod val="75000"/>
                  </a:srgbClr>
                </a:solidFill>
                <a:latin typeface="Calibri" panose="020F0502020204030204"/>
              </a:rPr>
              <a:t>AC(X)= 50</a:t>
            </a:r>
            <a:endParaRPr lang="he-IL" b="1" dirty="0">
              <a:solidFill>
                <a:srgbClr val="ED7D31">
                  <a:lumMod val="75000"/>
                </a:srgbClr>
              </a:solidFill>
              <a:latin typeface="Calibri" panose="020F0502020204030204"/>
              <a:cs typeface="Arial" panose="020B0604020202020204" pitchFamily="34" charset="0"/>
            </a:endParaRPr>
          </a:p>
        </p:txBody>
      </p:sp>
      <p:grpSp>
        <p:nvGrpSpPr>
          <p:cNvPr id="11" name="קבוצה 10"/>
          <p:cNvGrpSpPr/>
          <p:nvPr/>
        </p:nvGrpSpPr>
        <p:grpSpPr>
          <a:xfrm>
            <a:off x="4853575" y="4611307"/>
            <a:ext cx="4991333" cy="2009724"/>
            <a:chOff x="641321" y="3357562"/>
            <a:chExt cx="5288001" cy="2357454"/>
          </a:xfrm>
        </p:grpSpPr>
        <p:cxnSp>
          <p:nvCxnSpPr>
            <p:cNvPr id="12" name="מחבר חץ ישר 11"/>
            <p:cNvCxnSpPr/>
            <p:nvPr/>
          </p:nvCxnSpPr>
          <p:spPr>
            <a:xfrm rot="5400000" flipH="1" flipV="1">
              <a:off x="-536612" y="4535495"/>
              <a:ext cx="2357454"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מחבר חץ ישר 12"/>
            <p:cNvCxnSpPr/>
            <p:nvPr/>
          </p:nvCxnSpPr>
          <p:spPr>
            <a:xfrm flipV="1">
              <a:off x="642910" y="5715016"/>
              <a:ext cx="5286412"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4" name="TextBox 13"/>
          <p:cNvSpPr txBox="1"/>
          <p:nvPr/>
        </p:nvSpPr>
        <p:spPr>
          <a:xfrm>
            <a:off x="9290070" y="5279930"/>
            <a:ext cx="1072730" cy="369332"/>
          </a:xfrm>
          <a:prstGeom prst="rect">
            <a:avLst/>
          </a:prstGeom>
          <a:noFill/>
        </p:spPr>
        <p:txBody>
          <a:bodyPr wrap="none" rtlCol="1">
            <a:spAutoFit/>
          </a:bodyPr>
          <a:lstStyle/>
          <a:p>
            <a:r>
              <a:rPr lang="en-US" dirty="0">
                <a:solidFill>
                  <a:prstClr val="black"/>
                </a:solidFill>
                <a:latin typeface="Calibri" panose="020F0502020204030204"/>
              </a:rPr>
              <a:t>MC(x) = S</a:t>
            </a:r>
            <a:endParaRPr lang="he-IL" dirty="0">
              <a:solidFill>
                <a:prstClr val="black"/>
              </a:solidFill>
              <a:latin typeface="Calibri" panose="020F0502020204030204"/>
              <a:cs typeface="Arial" panose="020B0604020202020204" pitchFamily="34" charset="0"/>
            </a:endParaRPr>
          </a:p>
        </p:txBody>
      </p:sp>
      <p:sp>
        <p:nvSpPr>
          <p:cNvPr id="15" name="TextBox 14"/>
          <p:cNvSpPr txBox="1"/>
          <p:nvPr/>
        </p:nvSpPr>
        <p:spPr>
          <a:xfrm>
            <a:off x="4085702" y="5464597"/>
            <a:ext cx="648072" cy="461665"/>
          </a:xfrm>
          <a:prstGeom prst="rect">
            <a:avLst/>
          </a:prstGeom>
          <a:noFill/>
        </p:spPr>
        <p:txBody>
          <a:bodyPr wrap="square" rtlCol="1">
            <a:spAutoFit/>
          </a:bodyPr>
          <a:lstStyle/>
          <a:p>
            <a:r>
              <a:rPr lang="en-US" sz="2400" b="1" dirty="0">
                <a:solidFill>
                  <a:prstClr val="black"/>
                </a:solidFill>
                <a:latin typeface="Calibri" panose="020F0502020204030204"/>
              </a:rPr>
              <a:t>50</a:t>
            </a:r>
            <a:endParaRPr lang="he-IL" sz="2400" b="1" dirty="0">
              <a:solidFill>
                <a:prstClr val="black"/>
              </a:solidFill>
              <a:latin typeface="Calibri" panose="020F0502020204030204"/>
              <a:cs typeface="Arial" panose="020B0604020202020204" pitchFamily="34" charset="0"/>
            </a:endParaRPr>
          </a:p>
        </p:txBody>
      </p:sp>
      <p:cxnSp>
        <p:nvCxnSpPr>
          <p:cNvPr id="16" name="מחבר ישר 15"/>
          <p:cNvCxnSpPr/>
          <p:nvPr/>
        </p:nvCxnSpPr>
        <p:spPr>
          <a:xfrm>
            <a:off x="4831927" y="5691199"/>
            <a:ext cx="4804016" cy="1588"/>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0214239" y="6320158"/>
            <a:ext cx="304891" cy="369332"/>
          </a:xfrm>
          <a:prstGeom prst="rect">
            <a:avLst/>
          </a:prstGeom>
          <a:noFill/>
        </p:spPr>
        <p:txBody>
          <a:bodyPr wrap="none" rtlCol="1">
            <a:spAutoFit/>
          </a:bodyPr>
          <a:lstStyle/>
          <a:p>
            <a:r>
              <a:rPr lang="en-US" dirty="0">
                <a:solidFill>
                  <a:prstClr val="black"/>
                </a:solidFill>
                <a:latin typeface="Calibri" panose="020F0502020204030204"/>
              </a:rPr>
              <a:t>X</a:t>
            </a:r>
            <a:endParaRPr lang="he-IL" dirty="0">
              <a:solidFill>
                <a:prstClr val="black"/>
              </a:solidFill>
              <a:latin typeface="Calibri" panose="020F0502020204030204"/>
              <a:cs typeface="Arial" panose="020B0604020202020204" pitchFamily="34" charset="0"/>
            </a:endParaRPr>
          </a:p>
        </p:txBody>
      </p:sp>
      <p:sp>
        <p:nvSpPr>
          <p:cNvPr id="18" name="TextBox 17"/>
          <p:cNvSpPr txBox="1"/>
          <p:nvPr/>
        </p:nvSpPr>
        <p:spPr>
          <a:xfrm>
            <a:off x="3710790" y="4495100"/>
            <a:ext cx="1018227" cy="369332"/>
          </a:xfrm>
          <a:prstGeom prst="rect">
            <a:avLst/>
          </a:prstGeom>
          <a:noFill/>
        </p:spPr>
        <p:txBody>
          <a:bodyPr wrap="none" rtlCol="1">
            <a:spAutoFit/>
          </a:bodyPr>
          <a:lstStyle/>
          <a:p>
            <a:r>
              <a:rPr lang="he-IL" dirty="0">
                <a:solidFill>
                  <a:prstClr val="black"/>
                </a:solidFill>
                <a:latin typeface="Calibri" panose="020F0502020204030204"/>
                <a:cs typeface="Arial" panose="020B0604020202020204" pitchFamily="34" charset="0"/>
              </a:rPr>
              <a:t>עלויות, </a:t>
            </a:r>
            <a:r>
              <a:rPr lang="en-US" dirty="0">
                <a:solidFill>
                  <a:prstClr val="black"/>
                </a:solidFill>
                <a:latin typeface="Calibri" panose="020F0502020204030204"/>
              </a:rPr>
              <a:t>P</a:t>
            </a:r>
            <a:endParaRPr lang="he-IL" dirty="0">
              <a:solidFill>
                <a:prstClr val="black"/>
              </a:solidFill>
              <a:latin typeface="Calibri" panose="020F0502020204030204"/>
              <a:cs typeface="Arial" panose="020B0604020202020204" pitchFamily="34" charset="0"/>
            </a:endParaRPr>
          </a:p>
        </p:txBody>
      </p:sp>
      <mc:AlternateContent xmlns:mc="http://schemas.openxmlformats.org/markup-compatibility/2006" xmlns:a14="http://schemas.microsoft.com/office/drawing/2010/main">
        <mc:Choice Requires="a14">
          <p:sp>
            <p:nvSpPr>
              <p:cNvPr id="19" name="מלבן 18"/>
              <p:cNvSpPr/>
              <p:nvPr/>
            </p:nvSpPr>
            <p:spPr>
              <a:xfrm>
                <a:off x="10141686" y="3666623"/>
                <a:ext cx="255198" cy="437684"/>
              </a:xfrm>
              <a:prstGeom prst="rect">
                <a:avLst/>
              </a:prstGeom>
              <a:solidFill>
                <a:srgbClr val="CCFFFF"/>
              </a:solidFill>
            </p:spPr>
            <p:style>
              <a:lnRef idx="1">
                <a:schemeClr val="accent2"/>
              </a:lnRef>
              <a:fillRef idx="2">
                <a:schemeClr val="accent2"/>
              </a:fillRef>
              <a:effectRef idx="1">
                <a:schemeClr val="accent2"/>
              </a:effectRef>
              <a:fontRef idx="minor">
                <a:schemeClr val="dk1"/>
              </a:fontRef>
            </p:style>
            <p:txBody>
              <a:bodyPr wrap="none">
                <a:spAutoFit/>
              </a:bodyPr>
              <a:lstStyle/>
              <a:p>
                <a:pPr/>
                <a14:m>
                  <m:oMathPara xmlns:m="http://schemas.openxmlformats.org/officeDocument/2006/math">
                    <m:oMathParaPr>
                      <m:jc m:val="centerGroup"/>
                    </m:oMathParaPr>
                    <m:oMath xmlns:m="http://schemas.openxmlformats.org/officeDocument/2006/math">
                      <m:r>
                        <a:rPr lang="he-IL" sz="2000" b="1">
                          <a:solidFill>
                            <a:prstClr val="black"/>
                          </a:solidFill>
                          <a:latin typeface="Cambria Math"/>
                        </a:rPr>
                        <m:t>𝐏</m:t>
                      </m:r>
                      <m:r>
                        <a:rPr lang="he-IL" sz="2000">
                          <a:solidFill>
                            <a:prstClr val="black"/>
                          </a:solidFill>
                          <a:latin typeface="Cambria Math"/>
                        </a:rPr>
                        <m:t>≥</m:t>
                      </m:r>
                      <m:r>
                        <a:rPr lang="he-IL" sz="2000">
                          <a:solidFill>
                            <a:prstClr val="black"/>
                          </a:solidFill>
                          <a:latin typeface="Cambria Math"/>
                        </a:rPr>
                        <m:t>50</m:t>
                      </m:r>
                      <m:r>
                        <a:rPr lang="he-IL" sz="2000">
                          <a:solidFill>
                            <a:prstClr val="black"/>
                          </a:solidFill>
                          <a:latin typeface="Cambria Math"/>
                        </a:rPr>
                        <m:t>  </m:t>
                      </m:r>
                      <m:r>
                        <a:rPr lang="he-IL" sz="2000">
                          <a:solidFill>
                            <a:prstClr val="black"/>
                          </a:solidFill>
                          <a:latin typeface="Cambria Math"/>
                        </a:rPr>
                        <m:t>כאשר</m:t>
                      </m:r>
                    </m:oMath>
                  </m:oMathPara>
                </a14:m>
                <a:endParaRPr lang="he-IL" sz="2000" dirty="0">
                  <a:solidFill>
                    <a:prstClr val="black"/>
                  </a:solidFill>
                  <a:latin typeface="Calibri" panose="020F0502020204030204"/>
                  <a:cs typeface="Arial" panose="020B0604020202020204" pitchFamily="34" charset="0"/>
                </a:endParaRPr>
              </a:p>
            </p:txBody>
          </p:sp>
        </mc:Choice>
        <mc:Fallback xmlns="">
          <p:sp>
            <p:nvSpPr>
              <p:cNvPr id="19" name="מלבן 18"/>
              <p:cNvSpPr>
                <a:spLocks noRot="1" noChangeAspect="1" noMove="1" noResize="1" noEditPoints="1" noAdjustHandles="1" noChangeArrowheads="1" noChangeShapeType="1" noTextEdit="1"/>
              </p:cNvSpPr>
              <p:nvPr/>
            </p:nvSpPr>
            <p:spPr>
              <a:xfrm>
                <a:off x="10141686" y="3666623"/>
                <a:ext cx="255198" cy="437684"/>
              </a:xfrm>
              <a:prstGeom prst="rect">
                <a:avLst/>
              </a:prstGeom>
              <a:blipFill>
                <a:blip r:embed="rId2"/>
                <a:stretch>
                  <a:fillRect r="-544186" b="-23288"/>
                </a:stretch>
              </a:blipFill>
            </p:spPr>
            <p:txBody>
              <a:bodyPr/>
              <a:lstStyle/>
              <a:p>
                <a:r>
                  <a:rPr lang="en-IL">
                    <a:noFill/>
                  </a:rPr>
                  <a:t> </a:t>
                </a:r>
              </a:p>
            </p:txBody>
          </p:sp>
        </mc:Fallback>
      </mc:AlternateContent>
      <p:sp>
        <p:nvSpPr>
          <p:cNvPr id="20" name="מלבן 19"/>
          <p:cNvSpPr/>
          <p:nvPr/>
        </p:nvSpPr>
        <p:spPr>
          <a:xfrm>
            <a:off x="4352574" y="3733320"/>
            <a:ext cx="3486852" cy="400110"/>
          </a:xfrm>
          <a:prstGeom prst="rect">
            <a:avLst/>
          </a:prstGeom>
          <a:solidFill>
            <a:schemeClr val="bg1"/>
          </a:solidFill>
          <a:ln>
            <a:solidFill>
              <a:srgbClr val="CCCCFF"/>
            </a:solidFill>
          </a:ln>
        </p:spPr>
        <p:style>
          <a:lnRef idx="2">
            <a:schemeClr val="accent2"/>
          </a:lnRef>
          <a:fillRef idx="1">
            <a:schemeClr val="lt1"/>
          </a:fillRef>
          <a:effectRef idx="0">
            <a:schemeClr val="accent2"/>
          </a:effectRef>
          <a:fontRef idx="minor">
            <a:schemeClr val="dk1"/>
          </a:fontRef>
        </p:style>
        <p:txBody>
          <a:bodyPr wrap="none">
            <a:spAutoFit/>
          </a:bodyPr>
          <a:lstStyle/>
          <a:p>
            <a:r>
              <a:rPr lang="he-IL" sz="2000" dirty="0">
                <a:solidFill>
                  <a:prstClr val="black"/>
                </a:solidFill>
                <a:latin typeface="Calibri" panose="020F0502020204030204"/>
                <a:cs typeface="Arial" panose="020B0604020202020204" pitchFamily="34" charset="0"/>
              </a:rPr>
              <a:t>היצרן יסכים למכור אינסוף יחידות </a:t>
            </a:r>
          </a:p>
        </p:txBody>
      </p:sp>
      <p:sp>
        <p:nvSpPr>
          <p:cNvPr id="21" name="חץ שמאלה 20"/>
          <p:cNvSpPr/>
          <p:nvPr/>
        </p:nvSpPr>
        <p:spPr>
          <a:xfrm>
            <a:off x="7979256" y="3733320"/>
            <a:ext cx="360610" cy="287900"/>
          </a:xfrm>
          <a:prstGeom prst="leftArrow">
            <a:avLst/>
          </a:prstGeom>
          <a:solidFill>
            <a:schemeClr val="accent2"/>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prstClr val="white"/>
              </a:solidFill>
              <a:latin typeface="Calibri" panose="020F0502020204030204"/>
              <a:cs typeface="Arial" panose="020B0604020202020204" pitchFamily="34" charset="0"/>
            </a:endParaRPr>
          </a:p>
        </p:txBody>
      </p:sp>
      <mc:AlternateContent xmlns:mc="http://schemas.openxmlformats.org/markup-compatibility/2006" xmlns:a14="http://schemas.microsoft.com/office/drawing/2010/main">
        <mc:Choice Requires="a14">
          <p:sp>
            <p:nvSpPr>
              <p:cNvPr id="22" name="מלבן 21"/>
              <p:cNvSpPr/>
              <p:nvPr/>
            </p:nvSpPr>
            <p:spPr>
              <a:xfrm>
                <a:off x="10121081" y="4326435"/>
                <a:ext cx="255198" cy="437684"/>
              </a:xfrm>
              <a:prstGeom prst="rect">
                <a:avLst/>
              </a:prstGeom>
              <a:solidFill>
                <a:srgbClr val="CCFFFF"/>
              </a:solidFill>
            </p:spPr>
            <p:style>
              <a:lnRef idx="1">
                <a:schemeClr val="accent2"/>
              </a:lnRef>
              <a:fillRef idx="2">
                <a:schemeClr val="accent2"/>
              </a:fillRef>
              <a:effectRef idx="1">
                <a:schemeClr val="accent2"/>
              </a:effectRef>
              <a:fontRef idx="minor">
                <a:schemeClr val="dk1"/>
              </a:fontRef>
            </p:style>
            <p:txBody>
              <a:bodyPr wrap="none">
                <a:spAutoFit/>
              </a:bodyPr>
              <a:lstStyle/>
              <a:p>
                <a:pPr/>
                <a14:m>
                  <m:oMathPara xmlns:m="http://schemas.openxmlformats.org/officeDocument/2006/math">
                    <m:oMathParaPr>
                      <m:jc m:val="centerGroup"/>
                    </m:oMathParaPr>
                    <m:oMath xmlns:m="http://schemas.openxmlformats.org/officeDocument/2006/math">
                      <m:r>
                        <a:rPr lang="he-IL" sz="2000" b="1">
                          <a:solidFill>
                            <a:prstClr val="black"/>
                          </a:solidFill>
                          <a:latin typeface="Cambria Math"/>
                        </a:rPr>
                        <m:t>𝐏</m:t>
                      </m:r>
                      <m:r>
                        <a:rPr lang="he-IL" sz="2000">
                          <a:solidFill>
                            <a:prstClr val="black"/>
                          </a:solidFill>
                          <a:latin typeface="Cambria Math"/>
                        </a:rPr>
                        <m:t>&lt;</m:t>
                      </m:r>
                      <m:r>
                        <a:rPr lang="he-IL" sz="2000">
                          <a:solidFill>
                            <a:prstClr val="black"/>
                          </a:solidFill>
                          <a:latin typeface="Cambria Math"/>
                        </a:rPr>
                        <m:t>50</m:t>
                      </m:r>
                      <m:r>
                        <a:rPr lang="he-IL" sz="2000">
                          <a:solidFill>
                            <a:prstClr val="black"/>
                          </a:solidFill>
                          <a:latin typeface="Cambria Math"/>
                        </a:rPr>
                        <m:t>  </m:t>
                      </m:r>
                      <m:r>
                        <a:rPr lang="he-IL" sz="2000">
                          <a:solidFill>
                            <a:prstClr val="black"/>
                          </a:solidFill>
                          <a:latin typeface="Cambria Math"/>
                        </a:rPr>
                        <m:t>כאשר</m:t>
                      </m:r>
                    </m:oMath>
                  </m:oMathPara>
                </a14:m>
                <a:endParaRPr lang="he-IL" sz="2000" dirty="0">
                  <a:solidFill>
                    <a:prstClr val="black"/>
                  </a:solidFill>
                  <a:latin typeface="Calibri" panose="020F0502020204030204"/>
                  <a:cs typeface="Arial" panose="020B0604020202020204" pitchFamily="34" charset="0"/>
                </a:endParaRPr>
              </a:p>
            </p:txBody>
          </p:sp>
        </mc:Choice>
        <mc:Fallback xmlns="">
          <p:sp>
            <p:nvSpPr>
              <p:cNvPr id="22" name="מלבן 21"/>
              <p:cNvSpPr>
                <a:spLocks noRot="1" noChangeAspect="1" noMove="1" noResize="1" noEditPoints="1" noAdjustHandles="1" noChangeArrowheads="1" noChangeShapeType="1" noTextEdit="1"/>
              </p:cNvSpPr>
              <p:nvPr/>
            </p:nvSpPr>
            <p:spPr>
              <a:xfrm>
                <a:off x="10121081" y="4326435"/>
                <a:ext cx="255198" cy="437684"/>
              </a:xfrm>
              <a:prstGeom prst="rect">
                <a:avLst/>
              </a:prstGeom>
              <a:blipFill>
                <a:blip r:embed="rId3"/>
                <a:stretch>
                  <a:fillRect r="-546512" b="-23288"/>
                </a:stretch>
              </a:blipFill>
            </p:spPr>
            <p:txBody>
              <a:bodyPr/>
              <a:lstStyle/>
              <a:p>
                <a:r>
                  <a:rPr lang="en-IL">
                    <a:noFill/>
                  </a:rPr>
                  <a:t> </a:t>
                </a:r>
              </a:p>
            </p:txBody>
          </p:sp>
        </mc:Fallback>
      </mc:AlternateContent>
      <p:sp>
        <p:nvSpPr>
          <p:cNvPr id="23" name="מלבן 22"/>
          <p:cNvSpPr/>
          <p:nvPr/>
        </p:nvSpPr>
        <p:spPr>
          <a:xfrm>
            <a:off x="5037721" y="4411252"/>
            <a:ext cx="2746265" cy="400110"/>
          </a:xfrm>
          <a:prstGeom prst="rect">
            <a:avLst/>
          </a:prstGeom>
          <a:solidFill>
            <a:schemeClr val="bg1"/>
          </a:solidFill>
          <a:ln>
            <a:solidFill>
              <a:srgbClr val="CCCCFF"/>
            </a:solidFill>
          </a:ln>
        </p:spPr>
        <p:style>
          <a:lnRef idx="2">
            <a:schemeClr val="accent2"/>
          </a:lnRef>
          <a:fillRef idx="1">
            <a:schemeClr val="lt1"/>
          </a:fillRef>
          <a:effectRef idx="0">
            <a:schemeClr val="accent2"/>
          </a:effectRef>
          <a:fontRef idx="minor">
            <a:schemeClr val="dk1"/>
          </a:fontRef>
        </p:style>
        <p:txBody>
          <a:bodyPr wrap="none">
            <a:spAutoFit/>
          </a:bodyPr>
          <a:lstStyle/>
          <a:p>
            <a:r>
              <a:rPr lang="he-IL" sz="2000" dirty="0">
                <a:solidFill>
                  <a:prstClr val="black"/>
                </a:solidFill>
                <a:latin typeface="Calibri" panose="020F0502020204030204"/>
                <a:cs typeface="Arial" panose="020B0604020202020204" pitchFamily="34" charset="0"/>
              </a:rPr>
              <a:t>היצרן לא יסכים למכור כלל</a:t>
            </a:r>
          </a:p>
        </p:txBody>
      </p:sp>
      <p:sp>
        <p:nvSpPr>
          <p:cNvPr id="24" name="חץ שמאלה 23"/>
          <p:cNvSpPr/>
          <p:nvPr/>
        </p:nvSpPr>
        <p:spPr>
          <a:xfrm>
            <a:off x="7979256" y="4495100"/>
            <a:ext cx="360610" cy="287900"/>
          </a:xfrm>
          <a:prstGeom prst="leftArrow">
            <a:avLst/>
          </a:prstGeom>
          <a:solidFill>
            <a:schemeClr val="accent2"/>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prstClr val="white"/>
              </a:solidFill>
              <a:latin typeface="Calibri" panose="020F0502020204030204"/>
              <a:cs typeface="Arial" panose="020B0604020202020204" pitchFamily="34" charset="0"/>
            </a:endParaRPr>
          </a:p>
        </p:txBody>
      </p:sp>
      <mc:AlternateContent xmlns:mc="http://schemas.openxmlformats.org/markup-compatibility/2006" xmlns:a14="http://schemas.microsoft.com/office/drawing/2010/main">
        <mc:Choice Requires="a14">
          <p:sp>
            <p:nvSpPr>
              <p:cNvPr id="25" name="מלבן 24"/>
              <p:cNvSpPr/>
              <p:nvPr/>
            </p:nvSpPr>
            <p:spPr>
              <a:xfrm>
                <a:off x="3518766" y="5109427"/>
                <a:ext cx="28405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he-IL" sz="2800" i="1">
                          <a:solidFill>
                            <a:prstClr val="black"/>
                          </a:solidFill>
                          <a:latin typeface="Cambria Math" panose="02040503050406030204" pitchFamily="18" charset="0"/>
                        </a:rPr>
                        <m:t>𝜂</m:t>
                      </m:r>
                      <m:r>
                        <a:rPr lang="he-IL" sz="2800">
                          <a:solidFill>
                            <a:prstClr val="black"/>
                          </a:solidFill>
                          <a:latin typeface="Cambria Math" panose="02040503050406030204" pitchFamily="18" charset="0"/>
                        </a:rPr>
                        <m:t>=</m:t>
                      </m:r>
                      <m:r>
                        <a:rPr lang="he-IL" sz="2800">
                          <a:solidFill>
                            <a:prstClr val="black"/>
                          </a:solidFill>
                          <a:latin typeface="Cambria Math" panose="02040503050406030204" pitchFamily="18" charset="0"/>
                        </a:rPr>
                        <m:t>∞</m:t>
                      </m:r>
                    </m:oMath>
                  </m:oMathPara>
                </a14:m>
                <a:endParaRPr lang="he-IL" sz="2800" b="1" dirty="0">
                  <a:solidFill>
                    <a:srgbClr val="0070C0"/>
                  </a:solidFill>
                  <a:latin typeface="Calibri" panose="020F0502020204030204"/>
                  <a:cs typeface="Arial" panose="020B0604020202020204" pitchFamily="34" charset="0"/>
                </a:endParaRPr>
              </a:p>
            </p:txBody>
          </p:sp>
        </mc:Choice>
        <mc:Fallback xmlns="">
          <p:sp>
            <p:nvSpPr>
              <p:cNvPr id="25" name="מלבן 24"/>
              <p:cNvSpPr>
                <a:spLocks noRot="1" noChangeAspect="1" noMove="1" noResize="1" noEditPoints="1" noAdjustHandles="1" noChangeArrowheads="1" noChangeShapeType="1" noTextEdit="1"/>
              </p:cNvSpPr>
              <p:nvPr/>
            </p:nvSpPr>
            <p:spPr>
              <a:xfrm>
                <a:off x="3518766" y="5109427"/>
                <a:ext cx="284052" cy="523220"/>
              </a:xfrm>
              <a:prstGeom prst="rect">
                <a:avLst/>
              </a:prstGeom>
              <a:blipFill>
                <a:blip r:embed="rId4"/>
                <a:stretch>
                  <a:fillRect r="-261702"/>
                </a:stretch>
              </a:blipFill>
            </p:spPr>
            <p:txBody>
              <a:bodyPr/>
              <a:lstStyle/>
              <a:p>
                <a:r>
                  <a:rPr lang="en-IL">
                    <a:noFill/>
                  </a:rPr>
                  <a:t> </a:t>
                </a:r>
              </a:p>
            </p:txBody>
          </p:sp>
        </mc:Fallback>
      </mc:AlternateContent>
    </p:spTree>
    <p:extLst>
      <p:ext uri="{BB962C8B-B14F-4D97-AF65-F5344CB8AC3E}">
        <p14:creationId xmlns:p14="http://schemas.microsoft.com/office/powerpoint/2010/main" val="998701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down)">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wipe(down)">
                                      <p:cBhvr>
                                        <p:cTn id="44" dur="5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1000"/>
                                        <p:tgtEl>
                                          <p:spTgt spid="20"/>
                                        </p:tgtEl>
                                      </p:cBhvr>
                                    </p:animEffect>
                                    <p:anim calcmode="lin" valueType="num">
                                      <p:cBhvr>
                                        <p:cTn id="50" dur="1000" fill="hold"/>
                                        <p:tgtEl>
                                          <p:spTgt spid="20"/>
                                        </p:tgtEl>
                                        <p:attrNameLst>
                                          <p:attrName>ppt_x</p:attrName>
                                        </p:attrNameLst>
                                      </p:cBhvr>
                                      <p:tavLst>
                                        <p:tav tm="0">
                                          <p:val>
                                            <p:strVal val="#ppt_x"/>
                                          </p:val>
                                        </p:tav>
                                        <p:tav tm="100000">
                                          <p:val>
                                            <p:strVal val="#ppt_x"/>
                                          </p:val>
                                        </p:tav>
                                      </p:tavLst>
                                    </p:anim>
                                    <p:anim calcmode="lin" valueType="num">
                                      <p:cBhvr>
                                        <p:cTn id="51"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grpId="0"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barn(inVertical)">
                                      <p:cBhvr>
                                        <p:cTn id="56" dur="500"/>
                                        <p:tgtEl>
                                          <p:spTgt spid="22"/>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barn(inVertical)">
                                      <p:cBhvr>
                                        <p:cTn id="61" dur="500"/>
                                        <p:tgtEl>
                                          <p:spTgt spid="2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wipe(down)">
                                      <p:cBhvr>
                                        <p:cTn id="66" dur="500"/>
                                        <p:tgtEl>
                                          <p:spTgt spid="23"/>
                                        </p:tgtEl>
                                      </p:cBhvr>
                                    </p:animEffect>
                                  </p:childTnLst>
                                </p:cTn>
                              </p:par>
                            </p:childTnLst>
                          </p:cTn>
                        </p:par>
                      </p:childTnLst>
                    </p:cTn>
                  </p:par>
                  <p:par>
                    <p:cTn id="67" fill="hold">
                      <p:stCondLst>
                        <p:cond delay="indefinite"/>
                      </p:stCondLst>
                      <p:childTnLst>
                        <p:par>
                          <p:cTn id="68" fill="hold">
                            <p:stCondLst>
                              <p:cond delay="0"/>
                            </p:stCondLst>
                            <p:childTnLst>
                              <p:par>
                                <p:cTn id="69" presetID="26" presetClass="entr" presetSubtype="0" fill="hold" grpId="0" nodeType="click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wipe(down)">
                                      <p:cBhvr>
                                        <p:cTn id="71" dur="580">
                                          <p:stCondLst>
                                            <p:cond delay="0"/>
                                          </p:stCondLst>
                                        </p:cTn>
                                        <p:tgtEl>
                                          <p:spTgt spid="25"/>
                                        </p:tgtEl>
                                      </p:cBhvr>
                                    </p:animEffect>
                                    <p:anim calcmode="lin" valueType="num">
                                      <p:cBhvr>
                                        <p:cTn id="72" dur="1822"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25"/>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25"/>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25"/>
                                        </p:tgtEl>
                                        <p:attrNameLst>
                                          <p:attrName>ppt_y</p:attrName>
                                        </p:attrNameLst>
                                      </p:cBhvr>
                                      <p:tavLst>
                                        <p:tav tm="0" fmla="#ppt_y-sin(pi*$)/81">
                                          <p:val>
                                            <p:fltVal val="0"/>
                                          </p:val>
                                        </p:tav>
                                        <p:tav tm="100000">
                                          <p:val>
                                            <p:fltVal val="1"/>
                                          </p:val>
                                        </p:tav>
                                      </p:tavLst>
                                    </p:anim>
                                    <p:animScale>
                                      <p:cBhvr>
                                        <p:cTn id="77" dur="26">
                                          <p:stCondLst>
                                            <p:cond delay="650"/>
                                          </p:stCondLst>
                                        </p:cTn>
                                        <p:tgtEl>
                                          <p:spTgt spid="25"/>
                                        </p:tgtEl>
                                      </p:cBhvr>
                                      <p:to x="100000" y="60000"/>
                                    </p:animScale>
                                    <p:animScale>
                                      <p:cBhvr>
                                        <p:cTn id="78" dur="166" decel="50000">
                                          <p:stCondLst>
                                            <p:cond delay="676"/>
                                          </p:stCondLst>
                                        </p:cTn>
                                        <p:tgtEl>
                                          <p:spTgt spid="25"/>
                                        </p:tgtEl>
                                      </p:cBhvr>
                                      <p:to x="100000" y="100000"/>
                                    </p:animScale>
                                    <p:animScale>
                                      <p:cBhvr>
                                        <p:cTn id="79" dur="26">
                                          <p:stCondLst>
                                            <p:cond delay="1312"/>
                                          </p:stCondLst>
                                        </p:cTn>
                                        <p:tgtEl>
                                          <p:spTgt spid="25"/>
                                        </p:tgtEl>
                                      </p:cBhvr>
                                      <p:to x="100000" y="80000"/>
                                    </p:animScale>
                                    <p:animScale>
                                      <p:cBhvr>
                                        <p:cTn id="80" dur="166" decel="50000">
                                          <p:stCondLst>
                                            <p:cond delay="1338"/>
                                          </p:stCondLst>
                                        </p:cTn>
                                        <p:tgtEl>
                                          <p:spTgt spid="25"/>
                                        </p:tgtEl>
                                      </p:cBhvr>
                                      <p:to x="100000" y="100000"/>
                                    </p:animScale>
                                    <p:animScale>
                                      <p:cBhvr>
                                        <p:cTn id="81" dur="26">
                                          <p:stCondLst>
                                            <p:cond delay="1642"/>
                                          </p:stCondLst>
                                        </p:cTn>
                                        <p:tgtEl>
                                          <p:spTgt spid="25"/>
                                        </p:tgtEl>
                                      </p:cBhvr>
                                      <p:to x="100000" y="90000"/>
                                    </p:animScale>
                                    <p:animScale>
                                      <p:cBhvr>
                                        <p:cTn id="82" dur="166" decel="50000">
                                          <p:stCondLst>
                                            <p:cond delay="1668"/>
                                          </p:stCondLst>
                                        </p:cTn>
                                        <p:tgtEl>
                                          <p:spTgt spid="25"/>
                                        </p:tgtEl>
                                      </p:cBhvr>
                                      <p:to x="100000" y="100000"/>
                                    </p:animScale>
                                    <p:animScale>
                                      <p:cBhvr>
                                        <p:cTn id="83" dur="26">
                                          <p:stCondLst>
                                            <p:cond delay="1808"/>
                                          </p:stCondLst>
                                        </p:cTn>
                                        <p:tgtEl>
                                          <p:spTgt spid="25"/>
                                        </p:tgtEl>
                                      </p:cBhvr>
                                      <p:to x="100000" y="95000"/>
                                    </p:animScale>
                                    <p:animScale>
                                      <p:cBhvr>
                                        <p:cTn id="84" dur="166" decel="50000">
                                          <p:stCondLst>
                                            <p:cond delay="1834"/>
                                          </p:stCondLst>
                                        </p:cTn>
                                        <p:tgtEl>
                                          <p:spTgt spid="2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4" grpId="0"/>
      <p:bldP spid="15" grpId="0"/>
      <p:bldP spid="17" grpId="0"/>
      <p:bldP spid="18" grpId="0"/>
      <p:bldP spid="19" grpId="0" animBg="1"/>
      <p:bldP spid="20" grpId="0" animBg="1"/>
      <p:bldP spid="21" grpId="0" animBg="1"/>
      <p:bldP spid="22" grpId="0" animBg="1"/>
      <p:bldP spid="23" grpId="0" animBg="1"/>
      <p:bldP spid="24" grpId="0" animBg="1"/>
      <p:bldP spid="2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775520" y="1563294"/>
            <a:ext cx="8401080" cy="5000660"/>
          </a:xfrm>
        </p:spPr>
        <p:txBody>
          <a:bodyPr>
            <a:normAutofit/>
          </a:bodyPr>
          <a:lstStyle/>
          <a:p>
            <a:endParaRPr lang="he-IL" dirty="0"/>
          </a:p>
          <a:p>
            <a:endParaRPr lang="he-IL" dirty="0"/>
          </a:p>
          <a:p>
            <a:endParaRPr lang="he-IL" dirty="0"/>
          </a:p>
          <a:p>
            <a:endParaRPr lang="he-IL" dirty="0"/>
          </a:p>
        </p:txBody>
      </p:sp>
      <p:grpSp>
        <p:nvGrpSpPr>
          <p:cNvPr id="6" name="קבוצה 13"/>
          <p:cNvGrpSpPr/>
          <p:nvPr/>
        </p:nvGrpSpPr>
        <p:grpSpPr>
          <a:xfrm>
            <a:off x="2660332" y="2003116"/>
            <a:ext cx="6143668" cy="4214842"/>
            <a:chOff x="641321" y="3357562"/>
            <a:chExt cx="5288001" cy="2357454"/>
          </a:xfrm>
        </p:grpSpPr>
        <p:cxnSp>
          <p:nvCxnSpPr>
            <p:cNvPr id="11" name="מחבר חץ ישר 10"/>
            <p:cNvCxnSpPr/>
            <p:nvPr/>
          </p:nvCxnSpPr>
          <p:spPr>
            <a:xfrm rot="5400000" flipH="1" flipV="1">
              <a:off x="-536612" y="4535495"/>
              <a:ext cx="2357454"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מחבר חץ ישר 12"/>
            <p:cNvCxnSpPr/>
            <p:nvPr/>
          </p:nvCxnSpPr>
          <p:spPr>
            <a:xfrm flipV="1">
              <a:off x="642910" y="5715016"/>
              <a:ext cx="5286412"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8" name="TextBox 17"/>
          <p:cNvSpPr txBox="1"/>
          <p:nvPr/>
        </p:nvSpPr>
        <p:spPr>
          <a:xfrm>
            <a:off x="8783940" y="6072206"/>
            <a:ext cx="822661" cy="369332"/>
          </a:xfrm>
          <a:prstGeom prst="rect">
            <a:avLst/>
          </a:prstGeom>
          <a:noFill/>
        </p:spPr>
        <p:txBody>
          <a:bodyPr wrap="none" rtlCol="1">
            <a:spAutoFit/>
          </a:bodyPr>
          <a:lstStyle/>
          <a:p>
            <a:r>
              <a:rPr lang="en-US" dirty="0">
                <a:solidFill>
                  <a:prstClr val="black"/>
                </a:solidFill>
                <a:latin typeface="Calibri" panose="020F0502020204030204"/>
              </a:rPr>
              <a:t>X</a:t>
            </a:r>
            <a:r>
              <a:rPr lang="he-IL" dirty="0">
                <a:solidFill>
                  <a:prstClr val="black"/>
                </a:solidFill>
                <a:latin typeface="Calibri" panose="020F0502020204030204"/>
                <a:cs typeface="Arial" panose="020B0604020202020204" pitchFamily="34" charset="0"/>
              </a:rPr>
              <a:t> (ק"ג)</a:t>
            </a:r>
          </a:p>
        </p:txBody>
      </p:sp>
      <p:sp>
        <p:nvSpPr>
          <p:cNvPr id="19" name="TextBox 18"/>
          <p:cNvSpPr txBox="1"/>
          <p:nvPr/>
        </p:nvSpPr>
        <p:spPr>
          <a:xfrm>
            <a:off x="2282292" y="1743006"/>
            <a:ext cx="303288" cy="369332"/>
          </a:xfrm>
          <a:prstGeom prst="rect">
            <a:avLst/>
          </a:prstGeom>
          <a:noFill/>
        </p:spPr>
        <p:txBody>
          <a:bodyPr wrap="none" rtlCol="1">
            <a:spAutoFit/>
          </a:bodyPr>
          <a:lstStyle/>
          <a:p>
            <a:r>
              <a:rPr lang="en-US" dirty="0">
                <a:solidFill>
                  <a:prstClr val="black"/>
                </a:solidFill>
                <a:latin typeface="Calibri" panose="020F0502020204030204"/>
              </a:rPr>
              <a:t>P</a:t>
            </a:r>
            <a:endParaRPr lang="he-IL" dirty="0">
              <a:solidFill>
                <a:prstClr val="black"/>
              </a:solidFill>
              <a:latin typeface="Calibri" panose="020F0502020204030204"/>
              <a:cs typeface="Arial" panose="020B0604020202020204" pitchFamily="34" charset="0"/>
            </a:endParaRPr>
          </a:p>
        </p:txBody>
      </p:sp>
      <p:sp>
        <p:nvSpPr>
          <p:cNvPr id="30" name="TextBox 29"/>
          <p:cNvSpPr txBox="1"/>
          <p:nvPr/>
        </p:nvSpPr>
        <p:spPr>
          <a:xfrm>
            <a:off x="5161585" y="2343171"/>
            <a:ext cx="571504" cy="430887"/>
          </a:xfrm>
          <a:prstGeom prst="rect">
            <a:avLst/>
          </a:prstGeom>
          <a:noFill/>
          <a:ln>
            <a:noFill/>
          </a:ln>
        </p:spPr>
        <p:txBody>
          <a:bodyPr wrap="square" rtlCol="1">
            <a:spAutoFit/>
          </a:bodyPr>
          <a:lstStyle/>
          <a:p>
            <a:r>
              <a:rPr lang="en-US" sz="2200" dirty="0">
                <a:solidFill>
                  <a:prstClr val="black"/>
                </a:solidFill>
                <a:latin typeface="Calibri" panose="020F0502020204030204"/>
              </a:rPr>
              <a:t>S</a:t>
            </a:r>
            <a:endParaRPr lang="he-IL" sz="2200" baseline="-25000" dirty="0">
              <a:solidFill>
                <a:prstClr val="black"/>
              </a:solidFill>
              <a:latin typeface="Calibri" panose="020F0502020204030204"/>
              <a:cs typeface="Arial" panose="020B0604020202020204" pitchFamily="34" charset="0"/>
            </a:endParaRPr>
          </a:p>
        </p:txBody>
      </p:sp>
      <p:cxnSp>
        <p:nvCxnSpPr>
          <p:cNvPr id="36" name="מחבר ישר 35"/>
          <p:cNvCxnSpPr/>
          <p:nvPr/>
        </p:nvCxnSpPr>
        <p:spPr>
          <a:xfrm rot="16200000" flipH="1">
            <a:off x="3767239" y="4499616"/>
            <a:ext cx="3371636"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238744" y="6256872"/>
            <a:ext cx="418704" cy="369332"/>
          </a:xfrm>
          <a:prstGeom prst="rect">
            <a:avLst/>
          </a:prstGeom>
          <a:noFill/>
          <a:ln>
            <a:noFill/>
          </a:ln>
        </p:spPr>
        <p:txBody>
          <a:bodyPr wrap="none" rtlCol="1">
            <a:spAutoFit/>
          </a:bodyPr>
          <a:lstStyle/>
          <a:p>
            <a:r>
              <a:rPr lang="en-US" dirty="0">
                <a:solidFill>
                  <a:prstClr val="black"/>
                </a:solidFill>
                <a:latin typeface="Calibri" panose="020F0502020204030204"/>
              </a:rPr>
              <a:t>20</a:t>
            </a:r>
            <a:endParaRPr lang="he-IL" baseline="-25000" dirty="0">
              <a:solidFill>
                <a:prstClr val="black"/>
              </a:solidFill>
              <a:latin typeface="Calibri" panose="020F0502020204030204"/>
              <a:cs typeface="Arial" panose="020B0604020202020204" pitchFamily="34" charset="0"/>
            </a:endParaRPr>
          </a:p>
        </p:txBody>
      </p:sp>
      <p:sp>
        <p:nvSpPr>
          <p:cNvPr id="4" name="מלבן 3"/>
          <p:cNvSpPr/>
          <p:nvPr/>
        </p:nvSpPr>
        <p:spPr>
          <a:xfrm>
            <a:off x="3707996" y="1743006"/>
            <a:ext cx="4664920" cy="461665"/>
          </a:xfrm>
          <a:prstGeom prst="rect">
            <a:avLst/>
          </a:prstGeom>
          <a:solidFill>
            <a:srgbClr val="FFFFCC"/>
          </a:solidFill>
        </p:spPr>
        <p:txBody>
          <a:bodyPr wrap="square">
            <a:spAutoFit/>
          </a:bodyPr>
          <a:lstStyle/>
          <a:p>
            <a:r>
              <a:rPr lang="he-IL" sz="2400" dirty="0">
                <a:solidFill>
                  <a:prstClr val="black"/>
                </a:solidFill>
                <a:latin typeface="Calibri" panose="020F0502020204030204"/>
                <a:cs typeface="Arial" panose="020B0604020202020204" pitchFamily="34" charset="0"/>
              </a:rPr>
              <a:t>עקומת ההיצע תהיה </a:t>
            </a:r>
            <a:r>
              <a:rPr lang="he-IL" sz="2400" b="1" dirty="0">
                <a:solidFill>
                  <a:prstClr val="black"/>
                </a:solidFill>
                <a:latin typeface="Calibri" panose="020F0502020204030204"/>
                <a:cs typeface="Arial" panose="020B0604020202020204" pitchFamily="34" charset="0"/>
              </a:rPr>
              <a:t>קשיחה לחלוטין</a:t>
            </a:r>
            <a:r>
              <a:rPr lang="he-IL" sz="2400" dirty="0">
                <a:solidFill>
                  <a:prstClr val="black"/>
                </a:solidFill>
                <a:latin typeface="Calibri" panose="020F0502020204030204"/>
                <a:cs typeface="Arial" panose="020B0604020202020204" pitchFamily="34" charset="0"/>
              </a:rPr>
              <a:t>! </a:t>
            </a:r>
          </a:p>
        </p:txBody>
      </p:sp>
      <p:sp>
        <p:nvSpPr>
          <p:cNvPr id="15" name="מציין מיקום תוכן 2"/>
          <p:cNvSpPr txBox="1">
            <a:spLocks/>
          </p:cNvSpPr>
          <p:nvPr/>
        </p:nvSpPr>
        <p:spPr>
          <a:xfrm>
            <a:off x="550371" y="434800"/>
            <a:ext cx="9793932" cy="1440160"/>
          </a:xfrm>
          <a:prstGeom prst="rect">
            <a:avLst/>
          </a:prstGeom>
        </p:spPr>
        <p:txBody>
          <a:bodyPr vert="horz" lIns="91440" tIns="45720" rIns="91440" bIns="45720" rtlCol="0">
            <a:normAutofit/>
          </a:bodyPr>
          <a:lstStyle>
            <a:lvl1pPr marL="182880" indent="-182880" algn="r" defTabSz="914400" rtl="1"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r" defTabSz="914400" rtl="1"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r" defTabSz="914400" rtl="1"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r" defTabSz="914400" rtl="1"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r" defTabSz="914400" rtl="1"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r" defTabSz="914400" rtl="1"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r" defTabSz="914400" rtl="1"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r" defTabSz="914400" rtl="1"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r" defTabSz="914400" rtl="1"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Clr>
                <a:srgbClr val="5B9BD5"/>
              </a:buClr>
              <a:buNone/>
            </a:pPr>
            <a:r>
              <a:rPr lang="he-IL" sz="2000" dirty="0">
                <a:solidFill>
                  <a:prstClr val="black"/>
                </a:solidFill>
                <a:latin typeface="Calibri" panose="020F0502020204030204"/>
                <a:cs typeface="Arial" panose="020B0604020202020204" pitchFamily="34" charset="0"/>
              </a:rPr>
              <a:t>ביום שישי, שעה קלה לפני סגירת השוק נותרו למשה ירקוני, בעל דוכן למכירת עגבניות בשוק הכרמל עוד 20 ק"ג עגבניות. </a:t>
            </a:r>
            <a:r>
              <a:rPr lang="he-IL" sz="2000" u="sng" dirty="0">
                <a:solidFill>
                  <a:prstClr val="black"/>
                </a:solidFill>
                <a:latin typeface="Calibri" panose="020F0502020204030204"/>
                <a:cs typeface="Arial" panose="020B0604020202020204" pitchFamily="34" charset="0"/>
              </a:rPr>
              <a:t>מצב העגבניות אינו מאפשר לאחסן אותן עד ליום ראשון</a:t>
            </a:r>
            <a:r>
              <a:rPr lang="he-IL" sz="2000" dirty="0">
                <a:solidFill>
                  <a:prstClr val="black"/>
                </a:solidFill>
                <a:latin typeface="Calibri" panose="020F0502020204030204"/>
                <a:cs typeface="Arial" panose="020B0604020202020204" pitchFamily="34" charset="0"/>
              </a:rPr>
              <a:t>. כיצד תראה עקומת ההיצע שלו לעגבניות באותה שעה? מהי גמישות ההיצע שלו? הסבירו את תשובתכם. </a:t>
            </a:r>
            <a:endParaRPr lang="en-US" sz="2000" dirty="0">
              <a:solidFill>
                <a:prstClr val="black"/>
              </a:solidFill>
              <a:latin typeface="Calibri" panose="020F0502020204030204"/>
            </a:endParaRPr>
          </a:p>
        </p:txBody>
      </p:sp>
      <p:sp>
        <p:nvSpPr>
          <p:cNvPr id="16" name="כותרת 1"/>
          <p:cNvSpPr txBox="1">
            <a:spLocks/>
          </p:cNvSpPr>
          <p:nvPr/>
        </p:nvSpPr>
        <p:spPr>
          <a:xfrm>
            <a:off x="10176600" y="192729"/>
            <a:ext cx="2015400" cy="404663"/>
          </a:xfrm>
          <a:prstGeom prst="rect">
            <a:avLst/>
          </a:prstGeom>
        </p:spPr>
        <p:txBody>
          <a:bodyPr vert="horz" lIns="91440" tIns="45720" rIns="91440" bIns="45720" rtlCol="0" anchor="ctr">
            <a:noAutofit/>
          </a:bodyPr>
          <a:lstStyle>
            <a:lvl1pPr algn="l" defTabSz="914400" rtl="1" eaLnBrk="1" latinLnBrk="0" hangingPunct="1">
              <a:spcBef>
                <a:spcPct val="0"/>
              </a:spcBef>
              <a:buNone/>
              <a:defRPr sz="4000" kern="1200" spc="-100" baseline="0">
                <a:solidFill>
                  <a:schemeClr val="tx2"/>
                </a:solidFill>
                <a:latin typeface="+mj-lt"/>
                <a:ea typeface="+mj-ea"/>
                <a:cs typeface="+mj-cs"/>
              </a:defRPr>
            </a:lvl1pPr>
          </a:lstStyle>
          <a:p>
            <a:pPr algn="r"/>
            <a:r>
              <a:rPr lang="he-IL" b="1" dirty="0">
                <a:solidFill>
                  <a:srgbClr val="44546A"/>
                </a:solidFill>
                <a:latin typeface="Calibri Light" panose="020F0302020204030204"/>
                <a:cs typeface="Arial" panose="020B0604020202020204" pitchFamily="34" charset="0"/>
              </a:rPr>
              <a:t>שאלה 7</a:t>
            </a:r>
          </a:p>
        </p:txBody>
      </p:sp>
      <p:sp>
        <p:nvSpPr>
          <p:cNvPr id="2" name="מציין מיקום תוכן 2"/>
          <p:cNvSpPr txBox="1">
            <a:spLocks/>
          </p:cNvSpPr>
          <p:nvPr/>
        </p:nvSpPr>
        <p:spPr>
          <a:xfrm>
            <a:off x="6738944" y="3126120"/>
            <a:ext cx="4268012" cy="244827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r" rtl="1"/>
            <a:r>
              <a:rPr lang="he-IL" sz="1400" dirty="0"/>
              <a:t>ראשית, הכמות המקסימאלית שיכול הירקן להציע קבועה. הוא לא יכול להביא כעת עוד סחורה, גם אם המחיר יהיה גבוה מאוד.</a:t>
            </a:r>
          </a:p>
          <a:p>
            <a:pPr algn="r" rtl="1"/>
            <a:endParaRPr lang="he-IL" sz="1400" dirty="0"/>
          </a:p>
          <a:p>
            <a:pPr algn="r" rtl="1"/>
            <a:r>
              <a:rPr lang="he-IL" sz="1400" dirty="0"/>
              <a:t>שנית, כיוון שהוא אינו יכול לאחסן את העגבניות הוא יסכים למכור את המלאי שנותר לו בכל מחיר חיובי. גם מחיר נמוך עדיף מעגבניות רקובות שלא יתנו לו שום תועלת...</a:t>
            </a:r>
            <a:endParaRPr lang="en-US" sz="1400" dirty="0"/>
          </a:p>
          <a:p>
            <a:pPr algn="r" rtl="1"/>
            <a:endParaRPr lang="he-IL" dirty="0"/>
          </a:p>
        </p:txBody>
      </p:sp>
    </p:spTree>
    <p:extLst>
      <p:ext uri="{BB962C8B-B14F-4D97-AF65-F5344CB8AC3E}">
        <p14:creationId xmlns:p14="http://schemas.microsoft.com/office/powerpoint/2010/main" val="391153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30" grpId="0"/>
      <p:bldP spid="20" grpId="0"/>
      <p:bldP spid="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כותרת 1"/>
          <p:cNvSpPr>
            <a:spLocks noGrp="1"/>
          </p:cNvSpPr>
          <p:nvPr>
            <p:ph type="title"/>
          </p:nvPr>
        </p:nvSpPr>
        <p:spPr>
          <a:xfrm>
            <a:off x="3798849" y="141934"/>
            <a:ext cx="8229600" cy="1143000"/>
          </a:xfrm>
        </p:spPr>
        <p:txBody>
          <a:bodyPr>
            <a:normAutofit/>
          </a:bodyPr>
          <a:lstStyle/>
          <a:p>
            <a:pPr algn="r"/>
            <a:r>
              <a:rPr lang="he-IL" b="1" dirty="0">
                <a:solidFill>
                  <a:schemeClr val="tx2">
                    <a:lumMod val="75000"/>
                  </a:schemeClr>
                </a:solidFill>
                <a:cs typeface="+mn-cs"/>
              </a:rPr>
              <a:t>שאלת רשות ** (שאלת בחינה)</a:t>
            </a:r>
          </a:p>
        </p:txBody>
      </p:sp>
      <p:sp>
        <p:nvSpPr>
          <p:cNvPr id="3" name="מציין מיקום תוכן 2"/>
          <p:cNvSpPr>
            <a:spLocks noGrp="1"/>
          </p:cNvSpPr>
          <p:nvPr>
            <p:ph idx="1"/>
          </p:nvPr>
        </p:nvSpPr>
        <p:spPr>
          <a:xfrm>
            <a:off x="2793286" y="1211179"/>
            <a:ext cx="8401080" cy="4525963"/>
          </a:xfrm>
        </p:spPr>
        <p:txBody>
          <a:bodyPr>
            <a:normAutofit fontScale="85000" lnSpcReduction="10000"/>
          </a:bodyPr>
          <a:lstStyle/>
          <a:p>
            <a:pPr indent="0">
              <a:lnSpc>
                <a:spcPct val="170000"/>
              </a:lnSpc>
              <a:buNone/>
            </a:pPr>
            <a:r>
              <a:rPr lang="he-IL" dirty="0"/>
              <a:t>פירמה פועלת בשוק תחרותי ויש לה עלות קבועה חיובית. הפירמה ממקסמת את רווחיה וידוע שהיא בחרה לייצר כמות חיובית בתחום שבו העלות הכוללת הממוצעת ליחידה (</a:t>
            </a:r>
            <a:r>
              <a:rPr lang="en-US" dirty="0"/>
              <a:t>ATC</a:t>
            </a:r>
            <a:r>
              <a:rPr lang="he-IL" dirty="0"/>
              <a:t>) יורדת. לפיכך:</a:t>
            </a:r>
            <a:endParaRPr lang="en-US" dirty="0"/>
          </a:p>
          <a:p>
            <a:pPr marL="742950" lvl="1" indent="-285750">
              <a:lnSpc>
                <a:spcPct val="150000"/>
              </a:lnSpc>
              <a:spcAft>
                <a:spcPts val="1000"/>
              </a:spcAft>
              <a:buFont typeface="+mj-cs"/>
              <a:buAutoNum type="hebrew2Minus"/>
              <a:tabLst>
                <a:tab pos="914400" algn="l"/>
              </a:tabLst>
            </a:pPr>
            <a:r>
              <a:rPr lang="he-IL" sz="1900" dirty="0">
                <a:latin typeface="Calibri" panose="020F0502020204030204" pitchFamily="34" charset="0"/>
                <a:ea typeface="Calibri" panose="020F0502020204030204" pitchFamily="34" charset="0"/>
                <a:cs typeface="Arial" panose="020B0604020202020204" pitchFamily="34" charset="0"/>
              </a:rPr>
              <a:t>הרווח התפעולי של הפירמה שלילי</a:t>
            </a:r>
            <a:endParaRPr lang="en-IL" sz="1900" dirty="0">
              <a:latin typeface="Calibri" panose="020F0502020204030204" pitchFamily="34" charset="0"/>
              <a:ea typeface="Calibri" panose="020F0502020204030204" pitchFamily="34" charset="0"/>
              <a:cs typeface="Arial" panose="020B0604020202020204" pitchFamily="34" charset="0"/>
            </a:endParaRPr>
          </a:p>
          <a:p>
            <a:pPr marL="742950" lvl="1" indent="-285750">
              <a:lnSpc>
                <a:spcPct val="150000"/>
              </a:lnSpc>
              <a:spcAft>
                <a:spcPts val="1000"/>
              </a:spcAft>
              <a:buFont typeface="+mj-cs"/>
              <a:buAutoNum type="hebrew2Minus"/>
              <a:tabLst>
                <a:tab pos="914400" algn="l"/>
              </a:tabLst>
            </a:pPr>
            <a:r>
              <a:rPr lang="he-IL" sz="1900" dirty="0">
                <a:latin typeface="Calibri" panose="020F0502020204030204" pitchFamily="34" charset="0"/>
                <a:ea typeface="Calibri" panose="020F0502020204030204" pitchFamily="34" charset="0"/>
                <a:cs typeface="Arial" panose="020B0604020202020204" pitchFamily="34" charset="0"/>
              </a:rPr>
              <a:t>הרווח הכולל של הפירמה שלילי</a:t>
            </a:r>
            <a:endParaRPr lang="en-IL" sz="1900" dirty="0">
              <a:latin typeface="Calibri" panose="020F0502020204030204" pitchFamily="34" charset="0"/>
              <a:ea typeface="Calibri" panose="020F0502020204030204" pitchFamily="34" charset="0"/>
              <a:cs typeface="Arial" panose="020B0604020202020204" pitchFamily="34" charset="0"/>
            </a:endParaRPr>
          </a:p>
          <a:p>
            <a:pPr marL="742950" lvl="1" indent="-285750">
              <a:lnSpc>
                <a:spcPct val="150000"/>
              </a:lnSpc>
              <a:spcAft>
                <a:spcPts val="1000"/>
              </a:spcAft>
              <a:buFont typeface="+mj-cs"/>
              <a:buAutoNum type="hebrew2Minus"/>
              <a:tabLst>
                <a:tab pos="914400" algn="l"/>
              </a:tabLst>
            </a:pPr>
            <a:r>
              <a:rPr lang="he-IL" sz="1900" dirty="0">
                <a:latin typeface="Calibri" panose="020F0502020204030204" pitchFamily="34" charset="0"/>
                <a:ea typeface="Calibri" panose="020F0502020204030204" pitchFamily="34" charset="0"/>
                <a:cs typeface="Arial" panose="020B0604020202020204" pitchFamily="34" charset="0"/>
              </a:rPr>
              <a:t>בכמות המיוצרת מחיר המוצר גבוה מה- (</a:t>
            </a:r>
            <a:r>
              <a:rPr lang="en-US" sz="1900" dirty="0">
                <a:latin typeface="Calibri" panose="020F0502020204030204" pitchFamily="34" charset="0"/>
                <a:ea typeface="Calibri" panose="020F0502020204030204" pitchFamily="34" charset="0"/>
                <a:cs typeface="Arial" panose="020B0604020202020204" pitchFamily="34" charset="0"/>
              </a:rPr>
              <a:t>ATC</a:t>
            </a:r>
            <a:r>
              <a:rPr lang="he-IL" sz="1900" dirty="0">
                <a:latin typeface="Calibri" panose="020F0502020204030204" pitchFamily="34" charset="0"/>
                <a:ea typeface="Calibri" panose="020F0502020204030204" pitchFamily="34" charset="0"/>
                <a:cs typeface="Arial" panose="020B0604020202020204" pitchFamily="34" charset="0"/>
              </a:rPr>
              <a:t>)</a:t>
            </a:r>
            <a:endParaRPr lang="en-IL" sz="1900" dirty="0">
              <a:latin typeface="Calibri" panose="020F0502020204030204" pitchFamily="34" charset="0"/>
              <a:ea typeface="Calibri" panose="020F0502020204030204" pitchFamily="34" charset="0"/>
              <a:cs typeface="Arial" panose="020B0604020202020204" pitchFamily="34" charset="0"/>
            </a:endParaRPr>
          </a:p>
          <a:p>
            <a:pPr marL="742950" lvl="1" indent="-285750">
              <a:lnSpc>
                <a:spcPct val="150000"/>
              </a:lnSpc>
              <a:spcAft>
                <a:spcPts val="1000"/>
              </a:spcAft>
              <a:buFont typeface="+mj-cs"/>
              <a:buAutoNum type="hebrew2Minus"/>
              <a:tabLst>
                <a:tab pos="914400" algn="l"/>
              </a:tabLst>
            </a:pPr>
            <a:r>
              <a:rPr lang="he-IL" sz="1900" dirty="0">
                <a:latin typeface="Calibri" panose="020F0502020204030204" pitchFamily="34" charset="0"/>
                <a:ea typeface="Calibri" panose="020F0502020204030204" pitchFamily="34" charset="0"/>
                <a:cs typeface="Arial" panose="020B0604020202020204" pitchFamily="34" charset="0"/>
              </a:rPr>
              <a:t>ייתכן ובכמות המיוצרת העלות המשתנה הממוצעת (</a:t>
            </a:r>
            <a:r>
              <a:rPr lang="en-US" sz="1900" dirty="0">
                <a:latin typeface="Calibri" panose="020F0502020204030204" pitchFamily="34" charset="0"/>
                <a:ea typeface="Calibri" panose="020F0502020204030204" pitchFamily="34" charset="0"/>
                <a:cs typeface="Arial" panose="020B0604020202020204" pitchFamily="34" charset="0"/>
              </a:rPr>
              <a:t>AVC</a:t>
            </a:r>
            <a:r>
              <a:rPr lang="he-IL" sz="1900" dirty="0">
                <a:latin typeface="Calibri" panose="020F0502020204030204" pitchFamily="34" charset="0"/>
                <a:ea typeface="Calibri" panose="020F0502020204030204" pitchFamily="34" charset="0"/>
                <a:cs typeface="Arial" panose="020B0604020202020204" pitchFamily="34" charset="0"/>
              </a:rPr>
              <a:t>) יורדת</a:t>
            </a:r>
            <a:endParaRPr lang="en-IL" sz="1900" dirty="0">
              <a:latin typeface="Calibri" panose="020F0502020204030204" pitchFamily="34" charset="0"/>
              <a:ea typeface="Calibri" panose="020F0502020204030204" pitchFamily="34" charset="0"/>
              <a:cs typeface="Arial" panose="020B0604020202020204" pitchFamily="34" charset="0"/>
            </a:endParaRPr>
          </a:p>
          <a:p>
            <a:pPr marL="742950" lvl="1" indent="-285750">
              <a:lnSpc>
                <a:spcPct val="150000"/>
              </a:lnSpc>
              <a:spcAft>
                <a:spcPts val="1000"/>
              </a:spcAft>
              <a:buFont typeface="+mj-cs"/>
              <a:buAutoNum type="hebrew2Minus"/>
              <a:tabLst>
                <a:tab pos="914400" algn="l"/>
              </a:tabLst>
            </a:pPr>
            <a:r>
              <a:rPr lang="he-IL" sz="1900" dirty="0">
                <a:latin typeface="Calibri" panose="020F0502020204030204" pitchFamily="34" charset="0"/>
                <a:ea typeface="Calibri" panose="020F0502020204030204" pitchFamily="34" charset="0"/>
                <a:cs typeface="Arial" panose="020B0604020202020204" pitchFamily="34" charset="0"/>
              </a:rPr>
              <a:t>כל התשובות האחרות אינן נכונות</a:t>
            </a:r>
            <a:endParaRPr lang="en-IL" sz="19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6118335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כותרת 1"/>
          <p:cNvSpPr>
            <a:spLocks noGrp="1"/>
          </p:cNvSpPr>
          <p:nvPr>
            <p:ph type="title"/>
          </p:nvPr>
        </p:nvSpPr>
        <p:spPr>
          <a:xfrm>
            <a:off x="3962400" y="131948"/>
            <a:ext cx="8229600" cy="1124744"/>
          </a:xfrm>
        </p:spPr>
        <p:txBody>
          <a:bodyPr>
            <a:normAutofit/>
          </a:bodyPr>
          <a:lstStyle/>
          <a:p>
            <a:pPr algn="r"/>
            <a:r>
              <a:rPr lang="he-IL" b="1" dirty="0">
                <a:solidFill>
                  <a:schemeClr val="tx2">
                    <a:lumMod val="75000"/>
                  </a:schemeClr>
                </a:solidFill>
                <a:cs typeface="+mn-cs"/>
              </a:rPr>
              <a:t>שאלת רשות</a:t>
            </a:r>
          </a:p>
        </p:txBody>
      </p:sp>
      <p:sp>
        <p:nvSpPr>
          <p:cNvPr id="3" name="מציין מיקום תוכן 2"/>
          <p:cNvSpPr>
            <a:spLocks noGrp="1"/>
          </p:cNvSpPr>
          <p:nvPr>
            <p:ph idx="1"/>
          </p:nvPr>
        </p:nvSpPr>
        <p:spPr>
          <a:xfrm>
            <a:off x="1310299" y="131948"/>
            <a:ext cx="7416824" cy="2919760"/>
          </a:xfrm>
        </p:spPr>
        <p:txBody>
          <a:bodyPr>
            <a:normAutofit fontScale="55000" lnSpcReduction="20000"/>
          </a:bodyPr>
          <a:lstStyle/>
          <a:p>
            <a:pPr indent="0">
              <a:lnSpc>
                <a:spcPct val="170000"/>
              </a:lnSpc>
              <a:buNone/>
            </a:pPr>
            <a:r>
              <a:rPr lang="he-IL" dirty="0"/>
              <a:t>פירמה פועלת בשוק תחרותי ויש לה עלות קבועה חיובית. הפירמה ממקסמת את רווחיה וידוע שהיא בחרה לייצר כמות חיובית בתחום שבו העלות הכוללת הממוצעת ליחידה (</a:t>
            </a:r>
            <a:r>
              <a:rPr lang="en-US" dirty="0"/>
              <a:t>ATC</a:t>
            </a:r>
            <a:r>
              <a:rPr lang="he-IL" dirty="0"/>
              <a:t>) יורדת. לפיכך:</a:t>
            </a:r>
            <a:endParaRPr lang="en-US" dirty="0"/>
          </a:p>
          <a:p>
            <a:pPr marL="742950" lvl="1" indent="-285750">
              <a:lnSpc>
                <a:spcPct val="150000"/>
              </a:lnSpc>
              <a:spcAft>
                <a:spcPts val="1000"/>
              </a:spcAft>
              <a:buFont typeface="+mj-cs"/>
              <a:buAutoNum type="hebrew2Minus"/>
              <a:tabLst>
                <a:tab pos="914400" algn="l"/>
              </a:tabLst>
            </a:pPr>
            <a:r>
              <a:rPr lang="he-IL" sz="1800" dirty="0">
                <a:latin typeface="Calibri" panose="020F0502020204030204" pitchFamily="34" charset="0"/>
                <a:ea typeface="Calibri" panose="020F0502020204030204" pitchFamily="34" charset="0"/>
                <a:cs typeface="Arial" panose="020B0604020202020204" pitchFamily="34" charset="0"/>
              </a:rPr>
              <a:t>הרווח התפעולי של הפירמה שלילי</a:t>
            </a:r>
            <a:endParaRPr lang="en-IL" sz="1800" dirty="0">
              <a:latin typeface="Calibri" panose="020F0502020204030204" pitchFamily="34" charset="0"/>
              <a:ea typeface="Calibri" panose="020F0502020204030204" pitchFamily="34" charset="0"/>
              <a:cs typeface="Arial" panose="020B0604020202020204" pitchFamily="34" charset="0"/>
            </a:endParaRPr>
          </a:p>
          <a:p>
            <a:pPr marL="742950" lvl="1" indent="-285750">
              <a:lnSpc>
                <a:spcPct val="150000"/>
              </a:lnSpc>
              <a:spcAft>
                <a:spcPts val="1000"/>
              </a:spcAft>
              <a:buFont typeface="+mj-cs"/>
              <a:buAutoNum type="hebrew2Minus"/>
              <a:tabLst>
                <a:tab pos="914400" algn="l"/>
              </a:tabLst>
            </a:pPr>
            <a:r>
              <a:rPr lang="he-IL" sz="1800" dirty="0">
                <a:latin typeface="Calibri" panose="020F0502020204030204" pitchFamily="34" charset="0"/>
                <a:ea typeface="Calibri" panose="020F0502020204030204" pitchFamily="34" charset="0"/>
                <a:cs typeface="Arial" panose="020B0604020202020204" pitchFamily="34" charset="0"/>
              </a:rPr>
              <a:t>הרווח הכולל של הפירמה שלילי</a:t>
            </a:r>
            <a:endParaRPr lang="en-IL" sz="1800" dirty="0">
              <a:latin typeface="Calibri" panose="020F0502020204030204" pitchFamily="34" charset="0"/>
              <a:ea typeface="Calibri" panose="020F0502020204030204" pitchFamily="34" charset="0"/>
              <a:cs typeface="Arial" panose="020B0604020202020204" pitchFamily="34" charset="0"/>
            </a:endParaRPr>
          </a:p>
          <a:p>
            <a:pPr marL="742950" lvl="1" indent="-285750">
              <a:lnSpc>
                <a:spcPct val="150000"/>
              </a:lnSpc>
              <a:spcAft>
                <a:spcPts val="1000"/>
              </a:spcAft>
              <a:buFont typeface="+mj-cs"/>
              <a:buAutoNum type="hebrew2Minus"/>
              <a:tabLst>
                <a:tab pos="914400" algn="l"/>
              </a:tabLst>
            </a:pPr>
            <a:r>
              <a:rPr lang="he-IL" sz="1800" dirty="0">
                <a:latin typeface="Calibri" panose="020F0502020204030204" pitchFamily="34" charset="0"/>
                <a:ea typeface="Calibri" panose="020F0502020204030204" pitchFamily="34" charset="0"/>
                <a:cs typeface="Arial" panose="020B0604020202020204" pitchFamily="34" charset="0"/>
              </a:rPr>
              <a:t>בכמות המיוצרת מחיר המוצר גבוה מה- (</a:t>
            </a:r>
            <a:r>
              <a:rPr lang="en-US" sz="1800" dirty="0">
                <a:latin typeface="Calibri" panose="020F0502020204030204" pitchFamily="34" charset="0"/>
                <a:ea typeface="Calibri" panose="020F0502020204030204" pitchFamily="34" charset="0"/>
                <a:cs typeface="Arial" panose="020B0604020202020204" pitchFamily="34" charset="0"/>
              </a:rPr>
              <a:t>ATC</a:t>
            </a:r>
            <a:r>
              <a:rPr lang="he-IL" sz="1800" dirty="0">
                <a:latin typeface="Calibri" panose="020F0502020204030204" pitchFamily="34" charset="0"/>
                <a:ea typeface="Calibri" panose="020F0502020204030204" pitchFamily="34" charset="0"/>
                <a:cs typeface="Arial" panose="020B0604020202020204" pitchFamily="34" charset="0"/>
              </a:rPr>
              <a:t>)</a:t>
            </a:r>
            <a:endParaRPr lang="en-IL" sz="1800" dirty="0">
              <a:latin typeface="Calibri" panose="020F0502020204030204" pitchFamily="34" charset="0"/>
              <a:ea typeface="Calibri" panose="020F0502020204030204" pitchFamily="34" charset="0"/>
              <a:cs typeface="Arial" panose="020B0604020202020204" pitchFamily="34" charset="0"/>
            </a:endParaRPr>
          </a:p>
          <a:p>
            <a:pPr marL="742950" lvl="1" indent="-285750">
              <a:lnSpc>
                <a:spcPct val="150000"/>
              </a:lnSpc>
              <a:spcAft>
                <a:spcPts val="1000"/>
              </a:spcAft>
              <a:buFont typeface="+mj-cs"/>
              <a:buAutoNum type="hebrew2Minus"/>
              <a:tabLst>
                <a:tab pos="914400" algn="l"/>
              </a:tabLst>
            </a:pPr>
            <a:r>
              <a:rPr lang="he-IL" sz="1800" dirty="0">
                <a:latin typeface="Calibri" panose="020F0502020204030204" pitchFamily="34" charset="0"/>
                <a:ea typeface="Calibri" panose="020F0502020204030204" pitchFamily="34" charset="0"/>
                <a:cs typeface="Arial" panose="020B0604020202020204" pitchFamily="34" charset="0"/>
              </a:rPr>
              <a:t>ייתכן ובכמות המיוצרת העלות המשתנה הממוצעת (</a:t>
            </a:r>
            <a:r>
              <a:rPr lang="en-US" sz="1800" dirty="0">
                <a:latin typeface="Calibri" panose="020F0502020204030204" pitchFamily="34" charset="0"/>
                <a:ea typeface="Calibri" panose="020F0502020204030204" pitchFamily="34" charset="0"/>
                <a:cs typeface="Arial" panose="020B0604020202020204" pitchFamily="34" charset="0"/>
              </a:rPr>
              <a:t>AVC</a:t>
            </a:r>
            <a:r>
              <a:rPr lang="he-IL" sz="1800" dirty="0">
                <a:latin typeface="Calibri" panose="020F0502020204030204" pitchFamily="34" charset="0"/>
                <a:ea typeface="Calibri" panose="020F0502020204030204" pitchFamily="34" charset="0"/>
                <a:cs typeface="Arial" panose="020B0604020202020204" pitchFamily="34" charset="0"/>
              </a:rPr>
              <a:t>) יורדת</a:t>
            </a:r>
            <a:endParaRPr lang="en-IL" sz="1800" dirty="0">
              <a:latin typeface="Calibri" panose="020F0502020204030204" pitchFamily="34" charset="0"/>
              <a:ea typeface="Calibri" panose="020F0502020204030204" pitchFamily="34" charset="0"/>
              <a:cs typeface="Arial" panose="020B0604020202020204" pitchFamily="34" charset="0"/>
            </a:endParaRPr>
          </a:p>
          <a:p>
            <a:pPr marL="742950" lvl="1" indent="-285750">
              <a:lnSpc>
                <a:spcPct val="150000"/>
              </a:lnSpc>
              <a:spcAft>
                <a:spcPts val="1000"/>
              </a:spcAft>
              <a:buFont typeface="+mj-cs"/>
              <a:buAutoNum type="hebrew2Minus"/>
              <a:tabLst>
                <a:tab pos="914400" algn="l"/>
              </a:tabLst>
            </a:pPr>
            <a:r>
              <a:rPr lang="he-IL" sz="1800" dirty="0">
                <a:latin typeface="Calibri" panose="020F0502020204030204" pitchFamily="34" charset="0"/>
                <a:ea typeface="Calibri" panose="020F0502020204030204" pitchFamily="34" charset="0"/>
                <a:cs typeface="Arial" panose="020B0604020202020204" pitchFamily="34" charset="0"/>
              </a:rPr>
              <a:t>כל התשובות האחרות אינן נכונות</a:t>
            </a:r>
            <a:endParaRPr lang="en-IL" sz="1800" dirty="0">
              <a:latin typeface="Calibri" panose="020F0502020204030204" pitchFamily="34" charset="0"/>
              <a:ea typeface="Calibri" panose="020F0502020204030204" pitchFamily="34" charset="0"/>
              <a:cs typeface="Arial" panose="020B0604020202020204" pitchFamily="34" charset="0"/>
            </a:endParaRPr>
          </a:p>
        </p:txBody>
      </p:sp>
      <p:pic>
        <p:nvPicPr>
          <p:cNvPr id="2" name="Picture 1"/>
          <p:cNvPicPr>
            <a:picLocks noChangeAspect="1"/>
          </p:cNvPicPr>
          <p:nvPr/>
        </p:nvPicPr>
        <p:blipFill>
          <a:blip r:embed="rId2"/>
          <a:stretch>
            <a:fillRect/>
          </a:stretch>
        </p:blipFill>
        <p:spPr>
          <a:xfrm>
            <a:off x="1108502" y="2696977"/>
            <a:ext cx="4648200" cy="4029075"/>
          </a:xfrm>
          <a:prstGeom prst="rect">
            <a:avLst/>
          </a:prstGeom>
        </p:spPr>
      </p:pic>
    </p:spTree>
    <p:extLst>
      <p:ext uri="{BB962C8B-B14F-4D97-AF65-F5344CB8AC3E}">
        <p14:creationId xmlns:p14="http://schemas.microsoft.com/office/powerpoint/2010/main" val="9422121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כותרת 1"/>
          <p:cNvSpPr>
            <a:spLocks noGrp="1"/>
          </p:cNvSpPr>
          <p:nvPr>
            <p:ph type="title"/>
          </p:nvPr>
        </p:nvSpPr>
        <p:spPr>
          <a:xfrm>
            <a:off x="9517224" y="159916"/>
            <a:ext cx="2409678" cy="796908"/>
          </a:xfrm>
        </p:spPr>
        <p:txBody>
          <a:bodyPr>
            <a:normAutofit fontScale="90000"/>
          </a:bodyPr>
          <a:lstStyle/>
          <a:p>
            <a:pPr algn="r"/>
            <a:r>
              <a:rPr lang="he-IL" b="1" dirty="0">
                <a:solidFill>
                  <a:schemeClr val="tx2">
                    <a:lumMod val="75000"/>
                  </a:schemeClr>
                </a:solidFill>
                <a:cs typeface="+mn-cs"/>
              </a:rPr>
              <a:t>שאלת רשות</a:t>
            </a:r>
          </a:p>
        </p:txBody>
      </p:sp>
      <p:sp>
        <p:nvSpPr>
          <p:cNvPr id="3" name="מציין מיקום תוכן 2"/>
          <p:cNvSpPr>
            <a:spLocks noGrp="1"/>
          </p:cNvSpPr>
          <p:nvPr>
            <p:ph idx="1"/>
          </p:nvPr>
        </p:nvSpPr>
        <p:spPr>
          <a:xfrm>
            <a:off x="838200" y="256141"/>
            <a:ext cx="8878927" cy="700683"/>
          </a:xfrm>
        </p:spPr>
        <p:txBody>
          <a:bodyPr>
            <a:noAutofit/>
          </a:bodyPr>
          <a:lstStyle/>
          <a:p>
            <a:pPr indent="0">
              <a:lnSpc>
                <a:spcPct val="170000"/>
              </a:lnSpc>
              <a:buNone/>
            </a:pPr>
            <a:r>
              <a:rPr lang="he-IL" sz="1400" dirty="0"/>
              <a:t>פירמה פועלת בשוק תחרותי ויש לה עלות קבועה חיובית. העלות השולית פוחתת ולאחר מכן עולה. הפירמה ממקסמת את רווחיה </a:t>
            </a:r>
            <a:r>
              <a:rPr lang="he-IL" sz="1400" b="1" dirty="0"/>
              <a:t>וידוע שהיא בחרה לייצר כמות חיובית </a:t>
            </a:r>
            <a:r>
              <a:rPr lang="he-IL" sz="1400" dirty="0"/>
              <a:t>בתחום שבו </a:t>
            </a:r>
            <a:r>
              <a:rPr lang="he-IL" sz="1400" b="1" dirty="0">
                <a:solidFill>
                  <a:schemeClr val="tx2"/>
                </a:solidFill>
              </a:rPr>
              <a:t>העלות הכוללת הממוצעת ליחידה (</a:t>
            </a:r>
            <a:r>
              <a:rPr lang="en-US" sz="1400" b="1" dirty="0">
                <a:solidFill>
                  <a:schemeClr val="tx2"/>
                </a:solidFill>
              </a:rPr>
              <a:t>ATC</a:t>
            </a:r>
            <a:r>
              <a:rPr lang="he-IL" sz="1400" b="1" dirty="0">
                <a:solidFill>
                  <a:schemeClr val="tx2"/>
                </a:solidFill>
              </a:rPr>
              <a:t>) יורדת</a:t>
            </a:r>
            <a:r>
              <a:rPr lang="he-IL" sz="1400" dirty="0"/>
              <a:t>. לפיכך:</a:t>
            </a:r>
            <a:endParaRPr lang="en-US" sz="1400" dirty="0"/>
          </a:p>
        </p:txBody>
      </p:sp>
      <p:sp>
        <p:nvSpPr>
          <p:cNvPr id="2" name="Rectangle 1">
            <a:extLst>
              <a:ext uri="{FF2B5EF4-FFF2-40B4-BE49-F238E27FC236}">
                <a16:creationId xmlns:a16="http://schemas.microsoft.com/office/drawing/2014/main" id="{CA04278B-821F-4D8F-831E-7AF94CB6DF44}"/>
              </a:ext>
            </a:extLst>
          </p:cNvPr>
          <p:cNvSpPr/>
          <p:nvPr/>
        </p:nvSpPr>
        <p:spPr>
          <a:xfrm>
            <a:off x="4686429" y="1133209"/>
            <a:ext cx="7171916" cy="877356"/>
          </a:xfrm>
          <a:prstGeom prst="rect">
            <a:avLst/>
          </a:prstGeom>
        </p:spPr>
        <p:txBody>
          <a:bodyPr wrap="square">
            <a:spAutoFit/>
          </a:bodyPr>
          <a:lstStyle/>
          <a:p>
            <a:pPr marL="300038" lvl="1">
              <a:lnSpc>
                <a:spcPct val="170000"/>
              </a:lnSpc>
            </a:pPr>
            <a:r>
              <a:rPr lang="he-IL" sz="1600" dirty="0"/>
              <a:t>א. הרווח התפעולי של הפירמה שלילי</a:t>
            </a:r>
          </a:p>
          <a:p>
            <a:pPr marL="300038" lvl="1">
              <a:lnSpc>
                <a:spcPct val="170000"/>
              </a:lnSpc>
            </a:pPr>
            <a:r>
              <a:rPr lang="he-IL" sz="1600" dirty="0"/>
              <a:t>ג. בכמות המיוצרת מחיר המוצר </a:t>
            </a:r>
            <a:r>
              <a:rPr lang="en-US" sz="1600" dirty="0"/>
              <a:t> P</a:t>
            </a:r>
            <a:r>
              <a:rPr lang="he-IL" sz="1600" dirty="0"/>
              <a:t>גבוה מהעלות הכוללת הממוצעת ליחידה (</a:t>
            </a:r>
            <a:r>
              <a:rPr lang="en-US" sz="1600" dirty="0"/>
              <a:t>ATC</a:t>
            </a:r>
            <a:r>
              <a:rPr lang="he-IL" sz="1600" dirty="0"/>
              <a:t>)</a:t>
            </a:r>
          </a:p>
        </p:txBody>
      </p:sp>
      <p:cxnSp>
        <p:nvCxnSpPr>
          <p:cNvPr id="5" name="מחבר ישר 2">
            <a:extLst>
              <a:ext uri="{FF2B5EF4-FFF2-40B4-BE49-F238E27FC236}">
                <a16:creationId xmlns:a16="http://schemas.microsoft.com/office/drawing/2014/main" id="{BDD97B3F-29E5-4FC1-BE64-6F61565E2870}"/>
              </a:ext>
            </a:extLst>
          </p:cNvPr>
          <p:cNvCxnSpPr>
            <a:cxnSpLocks/>
          </p:cNvCxnSpPr>
          <p:nvPr/>
        </p:nvCxnSpPr>
        <p:spPr>
          <a:xfrm>
            <a:off x="3155805" y="2316638"/>
            <a:ext cx="21437" cy="3072672"/>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מחבר ישר 4">
            <a:extLst>
              <a:ext uri="{FF2B5EF4-FFF2-40B4-BE49-F238E27FC236}">
                <a16:creationId xmlns:a16="http://schemas.microsoft.com/office/drawing/2014/main" id="{1572BF88-AE4E-47F3-8B41-6CEC5AC5D789}"/>
              </a:ext>
            </a:extLst>
          </p:cNvPr>
          <p:cNvCxnSpPr>
            <a:cxnSpLocks/>
          </p:cNvCxnSpPr>
          <p:nvPr/>
        </p:nvCxnSpPr>
        <p:spPr>
          <a:xfrm>
            <a:off x="3150572" y="5421010"/>
            <a:ext cx="3711772" cy="16631"/>
          </a:xfrm>
          <a:prstGeom prst="line">
            <a:avLst/>
          </a:prstGeom>
        </p:spPr>
        <p:style>
          <a:lnRef idx="1">
            <a:schemeClr val="accent1"/>
          </a:lnRef>
          <a:fillRef idx="0">
            <a:schemeClr val="accent1"/>
          </a:fillRef>
          <a:effectRef idx="0">
            <a:schemeClr val="accent1"/>
          </a:effectRef>
          <a:fontRef idx="minor">
            <a:schemeClr val="tx1"/>
          </a:fontRef>
        </p:style>
      </p:cxnSp>
      <p:sp>
        <p:nvSpPr>
          <p:cNvPr id="8" name="צורה חופשית 5">
            <a:extLst>
              <a:ext uri="{FF2B5EF4-FFF2-40B4-BE49-F238E27FC236}">
                <a16:creationId xmlns:a16="http://schemas.microsoft.com/office/drawing/2014/main" id="{700D213E-E3C5-4CCF-A2BB-1E2BA78AB6AA}"/>
              </a:ext>
            </a:extLst>
          </p:cNvPr>
          <p:cNvSpPr/>
          <p:nvPr/>
        </p:nvSpPr>
        <p:spPr>
          <a:xfrm>
            <a:off x="3125670" y="2780929"/>
            <a:ext cx="3761510" cy="2416744"/>
          </a:xfrm>
          <a:custGeom>
            <a:avLst/>
            <a:gdLst>
              <a:gd name="connsiteX0" fmla="*/ 0 w 5015346"/>
              <a:gd name="connsiteY0" fmla="*/ 2281382 h 3222325"/>
              <a:gd name="connsiteX1" fmla="*/ 1099128 w 5015346"/>
              <a:gd name="connsiteY1" fmla="*/ 3149600 h 3222325"/>
              <a:gd name="connsiteX2" fmla="*/ 2419928 w 5015346"/>
              <a:gd name="connsiteY2" fmla="*/ 2817091 h 3222325"/>
              <a:gd name="connsiteX3" fmla="*/ 5015346 w 5015346"/>
              <a:gd name="connsiteY3" fmla="*/ 0 h 3222325"/>
            </a:gdLst>
            <a:ahLst/>
            <a:cxnLst>
              <a:cxn ang="0">
                <a:pos x="connsiteX0" y="connsiteY0"/>
              </a:cxn>
              <a:cxn ang="0">
                <a:pos x="connsiteX1" y="connsiteY1"/>
              </a:cxn>
              <a:cxn ang="0">
                <a:pos x="connsiteX2" y="connsiteY2"/>
              </a:cxn>
              <a:cxn ang="0">
                <a:pos x="connsiteX3" y="connsiteY3"/>
              </a:cxn>
            </a:cxnLst>
            <a:rect l="l" t="t" r="r" b="b"/>
            <a:pathLst>
              <a:path w="5015346" h="3222325">
                <a:moveTo>
                  <a:pt x="0" y="2281382"/>
                </a:moveTo>
                <a:cubicBezTo>
                  <a:pt x="347903" y="2670848"/>
                  <a:pt x="695807" y="3060315"/>
                  <a:pt x="1099128" y="3149600"/>
                </a:cubicBezTo>
                <a:cubicBezTo>
                  <a:pt x="1502449" y="3238885"/>
                  <a:pt x="1767225" y="3342024"/>
                  <a:pt x="2419928" y="2817091"/>
                </a:cubicBezTo>
                <a:cubicBezTo>
                  <a:pt x="3072631" y="2292158"/>
                  <a:pt x="4043988" y="1146079"/>
                  <a:pt x="5015346" y="0"/>
                </a:cubicBezTo>
              </a:path>
            </a:pathLst>
          </a:custGeom>
          <a:ln w="57150">
            <a:solidFill>
              <a:schemeClr val="tx1"/>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350"/>
          </a:p>
        </p:txBody>
      </p:sp>
      <p:sp>
        <p:nvSpPr>
          <p:cNvPr id="9" name="TextBox 8">
            <a:extLst>
              <a:ext uri="{FF2B5EF4-FFF2-40B4-BE49-F238E27FC236}">
                <a16:creationId xmlns:a16="http://schemas.microsoft.com/office/drawing/2014/main" id="{051D280E-40D6-4369-82C4-7A478E704038}"/>
              </a:ext>
            </a:extLst>
          </p:cNvPr>
          <p:cNvSpPr txBox="1"/>
          <p:nvPr/>
        </p:nvSpPr>
        <p:spPr>
          <a:xfrm>
            <a:off x="6119166" y="2753518"/>
            <a:ext cx="455574" cy="323165"/>
          </a:xfrm>
          <a:prstGeom prst="rect">
            <a:avLst/>
          </a:prstGeom>
          <a:noFill/>
        </p:spPr>
        <p:txBody>
          <a:bodyPr wrap="none" rtlCol="0">
            <a:spAutoFit/>
          </a:bodyPr>
          <a:lstStyle/>
          <a:p>
            <a:r>
              <a:rPr lang="en-US" sz="1500" b="1" dirty="0">
                <a:solidFill>
                  <a:schemeClr val="accent2">
                    <a:lumMod val="75000"/>
                  </a:schemeClr>
                </a:solidFill>
              </a:rPr>
              <a:t>MC</a:t>
            </a:r>
          </a:p>
        </p:txBody>
      </p:sp>
      <p:sp>
        <p:nvSpPr>
          <p:cNvPr id="10" name="צורה חופשית 7">
            <a:extLst>
              <a:ext uri="{FF2B5EF4-FFF2-40B4-BE49-F238E27FC236}">
                <a16:creationId xmlns:a16="http://schemas.microsoft.com/office/drawing/2014/main" id="{5D9DB8BA-B2CF-48B1-B348-EE54B37FD24E}"/>
              </a:ext>
            </a:extLst>
          </p:cNvPr>
          <p:cNvSpPr/>
          <p:nvPr/>
        </p:nvSpPr>
        <p:spPr>
          <a:xfrm>
            <a:off x="3122206" y="3175856"/>
            <a:ext cx="3934712" cy="1669710"/>
          </a:xfrm>
          <a:custGeom>
            <a:avLst/>
            <a:gdLst>
              <a:gd name="connsiteX0" fmla="*/ 0 w 5298831"/>
              <a:gd name="connsiteY0" fmla="*/ 0 h 2297730"/>
              <a:gd name="connsiteX1" fmla="*/ 1160584 w 5298831"/>
              <a:gd name="connsiteY1" fmla="*/ 1453662 h 2297730"/>
              <a:gd name="connsiteX2" fmla="*/ 2637692 w 5298831"/>
              <a:gd name="connsiteY2" fmla="*/ 2297724 h 2297730"/>
              <a:gd name="connsiteX3" fmla="*/ 5298831 w 5298831"/>
              <a:gd name="connsiteY3" fmla="*/ 1441939 h 2297730"/>
            </a:gdLst>
            <a:ahLst/>
            <a:cxnLst>
              <a:cxn ang="0">
                <a:pos x="connsiteX0" y="connsiteY0"/>
              </a:cxn>
              <a:cxn ang="0">
                <a:pos x="connsiteX1" y="connsiteY1"/>
              </a:cxn>
              <a:cxn ang="0">
                <a:pos x="connsiteX2" y="connsiteY2"/>
              </a:cxn>
              <a:cxn ang="0">
                <a:pos x="connsiteX3" y="connsiteY3"/>
              </a:cxn>
            </a:cxnLst>
            <a:rect l="l" t="t" r="r" b="b"/>
            <a:pathLst>
              <a:path w="5298831" h="2297730">
                <a:moveTo>
                  <a:pt x="0" y="0"/>
                </a:moveTo>
                <a:cubicBezTo>
                  <a:pt x="360484" y="535354"/>
                  <a:pt x="720969" y="1070708"/>
                  <a:pt x="1160584" y="1453662"/>
                </a:cubicBezTo>
                <a:cubicBezTo>
                  <a:pt x="1600199" y="1836616"/>
                  <a:pt x="1947984" y="2299678"/>
                  <a:pt x="2637692" y="2297724"/>
                </a:cubicBezTo>
                <a:cubicBezTo>
                  <a:pt x="3327400" y="2295770"/>
                  <a:pt x="4313115" y="1868854"/>
                  <a:pt x="5298831" y="1441939"/>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FF0000"/>
              </a:solidFill>
            </a:endParaRPr>
          </a:p>
        </p:txBody>
      </p:sp>
      <p:sp>
        <p:nvSpPr>
          <p:cNvPr id="11" name="TextBox 10">
            <a:extLst>
              <a:ext uri="{FF2B5EF4-FFF2-40B4-BE49-F238E27FC236}">
                <a16:creationId xmlns:a16="http://schemas.microsoft.com/office/drawing/2014/main" id="{BA38DA79-401E-47FD-AAAD-A3D882AB5A4B}"/>
              </a:ext>
            </a:extLst>
          </p:cNvPr>
          <p:cNvSpPr txBox="1"/>
          <p:nvPr/>
        </p:nvSpPr>
        <p:spPr>
          <a:xfrm>
            <a:off x="7146288" y="4230564"/>
            <a:ext cx="505138" cy="323165"/>
          </a:xfrm>
          <a:prstGeom prst="rect">
            <a:avLst/>
          </a:prstGeom>
          <a:noFill/>
        </p:spPr>
        <p:txBody>
          <a:bodyPr wrap="none" rtlCol="0">
            <a:spAutoFit/>
          </a:bodyPr>
          <a:lstStyle/>
          <a:p>
            <a:r>
              <a:rPr lang="en-US" sz="1500" b="1" dirty="0">
                <a:solidFill>
                  <a:schemeClr val="accent2">
                    <a:lumMod val="75000"/>
                  </a:schemeClr>
                </a:solidFill>
              </a:rPr>
              <a:t>AVC</a:t>
            </a:r>
          </a:p>
        </p:txBody>
      </p:sp>
      <p:sp>
        <p:nvSpPr>
          <p:cNvPr id="13" name="TextBox 12">
            <a:extLst>
              <a:ext uri="{FF2B5EF4-FFF2-40B4-BE49-F238E27FC236}">
                <a16:creationId xmlns:a16="http://schemas.microsoft.com/office/drawing/2014/main" id="{DD2C4480-CC24-4558-B302-61DE30E4419C}"/>
              </a:ext>
            </a:extLst>
          </p:cNvPr>
          <p:cNvSpPr txBox="1"/>
          <p:nvPr/>
        </p:nvSpPr>
        <p:spPr>
          <a:xfrm>
            <a:off x="2853479" y="2178898"/>
            <a:ext cx="287258" cy="323165"/>
          </a:xfrm>
          <a:prstGeom prst="rect">
            <a:avLst/>
          </a:prstGeom>
          <a:noFill/>
        </p:spPr>
        <p:txBody>
          <a:bodyPr wrap="none" rtlCol="0">
            <a:spAutoFit/>
          </a:bodyPr>
          <a:lstStyle/>
          <a:p>
            <a:r>
              <a:rPr lang="en-US" sz="1500" b="1" dirty="0">
                <a:solidFill>
                  <a:schemeClr val="accent2">
                    <a:lumMod val="75000"/>
                  </a:schemeClr>
                </a:solidFill>
              </a:rPr>
              <a:t>P</a:t>
            </a:r>
          </a:p>
        </p:txBody>
      </p:sp>
      <p:sp>
        <p:nvSpPr>
          <p:cNvPr id="14" name="TextBox 13">
            <a:extLst>
              <a:ext uri="{FF2B5EF4-FFF2-40B4-BE49-F238E27FC236}">
                <a16:creationId xmlns:a16="http://schemas.microsoft.com/office/drawing/2014/main" id="{DA629CBA-4D40-4D9C-BE7B-6AE9E26CD129}"/>
              </a:ext>
            </a:extLst>
          </p:cNvPr>
          <p:cNvSpPr txBox="1"/>
          <p:nvPr/>
        </p:nvSpPr>
        <p:spPr>
          <a:xfrm>
            <a:off x="2496777" y="4710552"/>
            <a:ext cx="715260" cy="253916"/>
          </a:xfrm>
          <a:prstGeom prst="rect">
            <a:avLst/>
          </a:prstGeom>
          <a:noFill/>
        </p:spPr>
        <p:txBody>
          <a:bodyPr wrap="none" rtlCol="0">
            <a:spAutoFit/>
          </a:bodyPr>
          <a:lstStyle/>
          <a:p>
            <a:r>
              <a:rPr lang="en-US" sz="1050" b="1" dirty="0">
                <a:solidFill>
                  <a:schemeClr val="accent2">
                    <a:lumMod val="75000"/>
                  </a:schemeClr>
                </a:solidFill>
              </a:rPr>
              <a:t>min(AVC)</a:t>
            </a:r>
          </a:p>
        </p:txBody>
      </p:sp>
      <p:cxnSp>
        <p:nvCxnSpPr>
          <p:cNvPr id="15" name="מחבר ישר 13">
            <a:extLst>
              <a:ext uri="{FF2B5EF4-FFF2-40B4-BE49-F238E27FC236}">
                <a16:creationId xmlns:a16="http://schemas.microsoft.com/office/drawing/2014/main" id="{893BC0FD-74C0-4B49-9501-1D33525468FD}"/>
              </a:ext>
            </a:extLst>
          </p:cNvPr>
          <p:cNvCxnSpPr>
            <a:cxnSpLocks/>
          </p:cNvCxnSpPr>
          <p:nvPr/>
        </p:nvCxnSpPr>
        <p:spPr>
          <a:xfrm flipH="1">
            <a:off x="3192307" y="4845568"/>
            <a:ext cx="4116815" cy="48385"/>
          </a:xfrm>
          <a:prstGeom prst="line">
            <a:avLst/>
          </a:prstGeom>
          <a:ln w="28575">
            <a:prstDash val="sysDash"/>
          </a:ln>
        </p:spPr>
        <p:style>
          <a:lnRef idx="3">
            <a:schemeClr val="accent2"/>
          </a:lnRef>
          <a:fillRef idx="0">
            <a:schemeClr val="accent2"/>
          </a:fillRef>
          <a:effectRef idx="2">
            <a:schemeClr val="accent2"/>
          </a:effectRef>
          <a:fontRef idx="minor">
            <a:schemeClr val="tx1"/>
          </a:fontRef>
        </p:style>
      </p:cxnSp>
      <p:sp>
        <p:nvSpPr>
          <p:cNvPr id="19" name="צורה חופשית 20">
            <a:extLst>
              <a:ext uri="{FF2B5EF4-FFF2-40B4-BE49-F238E27FC236}">
                <a16:creationId xmlns:a16="http://schemas.microsoft.com/office/drawing/2014/main" id="{6FF6AA0B-78D2-4F37-BB19-19444E9BD2D2}"/>
              </a:ext>
            </a:extLst>
          </p:cNvPr>
          <p:cNvSpPr/>
          <p:nvPr/>
        </p:nvSpPr>
        <p:spPr>
          <a:xfrm>
            <a:off x="3833105" y="2561544"/>
            <a:ext cx="3579656" cy="1723298"/>
          </a:xfrm>
          <a:custGeom>
            <a:avLst/>
            <a:gdLst>
              <a:gd name="connsiteX0" fmla="*/ 0 w 5298831"/>
              <a:gd name="connsiteY0" fmla="*/ 0 h 2297730"/>
              <a:gd name="connsiteX1" fmla="*/ 1160584 w 5298831"/>
              <a:gd name="connsiteY1" fmla="*/ 1453662 h 2297730"/>
              <a:gd name="connsiteX2" fmla="*/ 2637692 w 5298831"/>
              <a:gd name="connsiteY2" fmla="*/ 2297724 h 2297730"/>
              <a:gd name="connsiteX3" fmla="*/ 5298831 w 5298831"/>
              <a:gd name="connsiteY3" fmla="*/ 1441939 h 2297730"/>
            </a:gdLst>
            <a:ahLst/>
            <a:cxnLst>
              <a:cxn ang="0">
                <a:pos x="connsiteX0" y="connsiteY0"/>
              </a:cxn>
              <a:cxn ang="0">
                <a:pos x="connsiteX1" y="connsiteY1"/>
              </a:cxn>
              <a:cxn ang="0">
                <a:pos x="connsiteX2" y="connsiteY2"/>
              </a:cxn>
              <a:cxn ang="0">
                <a:pos x="connsiteX3" y="connsiteY3"/>
              </a:cxn>
            </a:cxnLst>
            <a:rect l="l" t="t" r="r" b="b"/>
            <a:pathLst>
              <a:path w="5298831" h="2297730">
                <a:moveTo>
                  <a:pt x="0" y="0"/>
                </a:moveTo>
                <a:cubicBezTo>
                  <a:pt x="360484" y="535354"/>
                  <a:pt x="720969" y="1070708"/>
                  <a:pt x="1160584" y="1453662"/>
                </a:cubicBezTo>
                <a:cubicBezTo>
                  <a:pt x="1600199" y="1836616"/>
                  <a:pt x="1947984" y="2299678"/>
                  <a:pt x="2637692" y="2297724"/>
                </a:cubicBezTo>
                <a:cubicBezTo>
                  <a:pt x="3327400" y="2295770"/>
                  <a:pt x="4313115" y="1868854"/>
                  <a:pt x="5298831" y="1441939"/>
                </a:cubicBezTo>
              </a:path>
            </a:pathLst>
          </a:custGeom>
          <a:noFill/>
          <a:ln w="571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FF0000"/>
              </a:solidFill>
            </a:endParaRPr>
          </a:p>
        </p:txBody>
      </p:sp>
      <p:sp>
        <p:nvSpPr>
          <p:cNvPr id="20" name="TextBox 19">
            <a:extLst>
              <a:ext uri="{FF2B5EF4-FFF2-40B4-BE49-F238E27FC236}">
                <a16:creationId xmlns:a16="http://schemas.microsoft.com/office/drawing/2014/main" id="{FAD2A819-9DF3-4E06-824E-2E6E2E61AD8D}"/>
              </a:ext>
            </a:extLst>
          </p:cNvPr>
          <p:cNvSpPr txBox="1"/>
          <p:nvPr/>
        </p:nvSpPr>
        <p:spPr>
          <a:xfrm>
            <a:off x="7262282" y="3216688"/>
            <a:ext cx="479618" cy="323165"/>
          </a:xfrm>
          <a:prstGeom prst="rect">
            <a:avLst/>
          </a:prstGeom>
          <a:noFill/>
        </p:spPr>
        <p:txBody>
          <a:bodyPr wrap="none" rtlCol="0">
            <a:spAutoFit/>
          </a:bodyPr>
          <a:lstStyle/>
          <a:p>
            <a:r>
              <a:rPr lang="en-US" sz="1500" b="1" dirty="0">
                <a:solidFill>
                  <a:schemeClr val="accent1"/>
                </a:solidFill>
              </a:rPr>
              <a:t>ATC</a:t>
            </a:r>
          </a:p>
        </p:txBody>
      </p:sp>
      <p:sp>
        <p:nvSpPr>
          <p:cNvPr id="28" name="Rectangle 27">
            <a:extLst>
              <a:ext uri="{FF2B5EF4-FFF2-40B4-BE49-F238E27FC236}">
                <a16:creationId xmlns:a16="http://schemas.microsoft.com/office/drawing/2014/main" id="{4BCD939D-BE59-4DAD-855F-AB869B219042}"/>
              </a:ext>
            </a:extLst>
          </p:cNvPr>
          <p:cNvSpPr/>
          <p:nvPr/>
        </p:nvSpPr>
        <p:spPr>
          <a:xfrm>
            <a:off x="5178887" y="1139762"/>
            <a:ext cx="3166572" cy="452945"/>
          </a:xfrm>
          <a:prstGeom prst="rect">
            <a:avLst/>
          </a:prstGeom>
        </p:spPr>
        <p:txBody>
          <a:bodyPr wrap="none">
            <a:spAutoFit/>
          </a:bodyPr>
          <a:lstStyle/>
          <a:p>
            <a:pPr marL="300038" lvl="1">
              <a:lnSpc>
                <a:spcPct val="170000"/>
              </a:lnSpc>
            </a:pPr>
            <a:r>
              <a:rPr lang="he-IL" sz="1600" dirty="0"/>
              <a:t>ב. הרווח הכולל של הפירמה שלילי</a:t>
            </a:r>
          </a:p>
        </p:txBody>
      </p:sp>
      <p:sp>
        <p:nvSpPr>
          <p:cNvPr id="30" name="Rectangle 29">
            <a:extLst>
              <a:ext uri="{FF2B5EF4-FFF2-40B4-BE49-F238E27FC236}">
                <a16:creationId xmlns:a16="http://schemas.microsoft.com/office/drawing/2014/main" id="{EC348D8F-6A02-45E7-A8BB-04C0FDF25C6B}"/>
              </a:ext>
            </a:extLst>
          </p:cNvPr>
          <p:cNvSpPr/>
          <p:nvPr/>
        </p:nvSpPr>
        <p:spPr>
          <a:xfrm>
            <a:off x="6258813" y="2014375"/>
            <a:ext cx="5637313" cy="458780"/>
          </a:xfrm>
          <a:prstGeom prst="rect">
            <a:avLst/>
          </a:prstGeom>
        </p:spPr>
        <p:txBody>
          <a:bodyPr wrap="none">
            <a:spAutoFit/>
          </a:bodyPr>
          <a:lstStyle/>
          <a:p>
            <a:pPr marL="300038" lvl="1">
              <a:lnSpc>
                <a:spcPct val="170000"/>
              </a:lnSpc>
            </a:pPr>
            <a:r>
              <a:rPr lang="he-IL" sz="1600" dirty="0"/>
              <a:t>ד. ייתכן ובכמות המיוצרת העלות המשתנה הממוצעת (</a:t>
            </a:r>
            <a:r>
              <a:rPr lang="en-US" sz="1600" dirty="0"/>
              <a:t>AVC</a:t>
            </a:r>
            <a:r>
              <a:rPr lang="he-IL" sz="1600" dirty="0"/>
              <a:t>) יורדת</a:t>
            </a:r>
          </a:p>
        </p:txBody>
      </p:sp>
      <p:sp>
        <p:nvSpPr>
          <p:cNvPr id="31" name="Rectangle 30">
            <a:extLst>
              <a:ext uri="{FF2B5EF4-FFF2-40B4-BE49-F238E27FC236}">
                <a16:creationId xmlns:a16="http://schemas.microsoft.com/office/drawing/2014/main" id="{B8748A77-E13C-4DD1-8DEA-ACD9F6C8C9B7}"/>
              </a:ext>
            </a:extLst>
          </p:cNvPr>
          <p:cNvSpPr/>
          <p:nvPr/>
        </p:nvSpPr>
        <p:spPr>
          <a:xfrm>
            <a:off x="8252793" y="2547019"/>
            <a:ext cx="3579656" cy="458780"/>
          </a:xfrm>
          <a:prstGeom prst="rect">
            <a:avLst/>
          </a:prstGeom>
        </p:spPr>
        <p:txBody>
          <a:bodyPr wrap="square">
            <a:spAutoFit/>
          </a:bodyPr>
          <a:lstStyle/>
          <a:p>
            <a:pPr marL="300038" lvl="1">
              <a:lnSpc>
                <a:spcPct val="170000"/>
              </a:lnSpc>
            </a:pPr>
            <a:r>
              <a:rPr lang="he-IL" sz="1600" dirty="0"/>
              <a:t>ה. כל התשובות האחרות אינן נכונות</a:t>
            </a:r>
            <a:endParaRPr lang="en-US" sz="1600" dirty="0"/>
          </a:p>
        </p:txBody>
      </p:sp>
      <p:sp>
        <p:nvSpPr>
          <p:cNvPr id="4" name="Oval 3"/>
          <p:cNvSpPr/>
          <p:nvPr/>
        </p:nvSpPr>
        <p:spPr>
          <a:xfrm>
            <a:off x="5499866" y="4221907"/>
            <a:ext cx="169739" cy="1363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350"/>
          </a:p>
        </p:txBody>
      </p:sp>
      <p:sp>
        <p:nvSpPr>
          <p:cNvPr id="24" name="Oval 23"/>
          <p:cNvSpPr/>
          <p:nvPr/>
        </p:nvSpPr>
        <p:spPr>
          <a:xfrm>
            <a:off x="4911125" y="4763469"/>
            <a:ext cx="169739" cy="13632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endParaRPr lang="he-IL" sz="1350"/>
          </a:p>
        </p:txBody>
      </p:sp>
      <p:sp>
        <p:nvSpPr>
          <p:cNvPr id="23" name="Slide Number Placeholder 22">
            <a:extLst>
              <a:ext uri="{FF2B5EF4-FFF2-40B4-BE49-F238E27FC236}">
                <a16:creationId xmlns:a16="http://schemas.microsoft.com/office/drawing/2014/main" id="{D559B2A4-9B1D-44B6-AC6A-F2D057E37FD0}"/>
              </a:ext>
            </a:extLst>
          </p:cNvPr>
          <p:cNvSpPr>
            <a:spLocks noGrp="1"/>
          </p:cNvSpPr>
          <p:nvPr>
            <p:ph type="sldNum" sz="quarter" idx="12"/>
          </p:nvPr>
        </p:nvSpPr>
        <p:spPr/>
        <p:txBody>
          <a:bodyPr/>
          <a:lstStyle/>
          <a:p>
            <a:fld id="{492DB488-E800-4C9D-A68D-A9C6D048BCD3}" type="slidenum">
              <a:rPr lang="he-IL" smtClean="0"/>
              <a:pPr/>
              <a:t>53</a:t>
            </a:fld>
            <a:endParaRPr lang="he-IL"/>
          </a:p>
        </p:txBody>
      </p:sp>
      <p:sp>
        <p:nvSpPr>
          <p:cNvPr id="25" name="TextBox 24">
            <a:extLst>
              <a:ext uri="{FF2B5EF4-FFF2-40B4-BE49-F238E27FC236}">
                <a16:creationId xmlns:a16="http://schemas.microsoft.com/office/drawing/2014/main" id="{D13DED1C-2B3D-4BEB-B97A-00932DF80474}"/>
              </a:ext>
            </a:extLst>
          </p:cNvPr>
          <p:cNvSpPr txBox="1"/>
          <p:nvPr/>
        </p:nvSpPr>
        <p:spPr>
          <a:xfrm>
            <a:off x="6452954" y="5477657"/>
            <a:ext cx="799898" cy="369332"/>
          </a:xfrm>
          <a:prstGeom prst="rect">
            <a:avLst/>
          </a:prstGeom>
          <a:noFill/>
        </p:spPr>
        <p:txBody>
          <a:bodyPr wrap="square">
            <a:spAutoFit/>
          </a:bodyPr>
          <a:lstStyle/>
          <a:p>
            <a:r>
              <a:rPr lang="en-US" b="1" dirty="0">
                <a:solidFill>
                  <a:schemeClr val="accent1"/>
                </a:solidFill>
              </a:rPr>
              <a:t>X</a:t>
            </a:r>
            <a:endParaRPr lang="en-IL" dirty="0"/>
          </a:p>
        </p:txBody>
      </p:sp>
    </p:spTree>
    <p:extLst>
      <p:ext uri="{BB962C8B-B14F-4D97-AF65-F5344CB8AC3E}">
        <p14:creationId xmlns:p14="http://schemas.microsoft.com/office/powerpoint/2010/main" val="21078887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כותרת 1"/>
          <p:cNvSpPr>
            <a:spLocks noGrp="1"/>
          </p:cNvSpPr>
          <p:nvPr>
            <p:ph type="title"/>
          </p:nvPr>
        </p:nvSpPr>
        <p:spPr>
          <a:xfrm>
            <a:off x="9968003" y="87548"/>
            <a:ext cx="2195554" cy="857250"/>
          </a:xfrm>
        </p:spPr>
        <p:txBody>
          <a:bodyPr>
            <a:normAutofit fontScale="90000"/>
          </a:bodyPr>
          <a:lstStyle/>
          <a:p>
            <a:pPr algn="r"/>
            <a:r>
              <a:rPr lang="he-IL" b="1" dirty="0">
                <a:solidFill>
                  <a:schemeClr val="tx2">
                    <a:lumMod val="75000"/>
                  </a:schemeClr>
                </a:solidFill>
                <a:cs typeface="+mn-cs"/>
              </a:rPr>
              <a:t>שאלת רשות</a:t>
            </a:r>
          </a:p>
        </p:txBody>
      </p:sp>
      <p:sp>
        <p:nvSpPr>
          <p:cNvPr id="3" name="מציין מיקום תוכן 2"/>
          <p:cNvSpPr>
            <a:spLocks noGrp="1"/>
          </p:cNvSpPr>
          <p:nvPr>
            <p:ph idx="1"/>
          </p:nvPr>
        </p:nvSpPr>
        <p:spPr>
          <a:xfrm>
            <a:off x="1631504" y="263509"/>
            <a:ext cx="6831868" cy="670936"/>
          </a:xfrm>
        </p:spPr>
        <p:txBody>
          <a:bodyPr>
            <a:noAutofit/>
          </a:bodyPr>
          <a:lstStyle/>
          <a:p>
            <a:pPr indent="0">
              <a:lnSpc>
                <a:spcPct val="170000"/>
              </a:lnSpc>
              <a:buNone/>
            </a:pPr>
            <a:r>
              <a:rPr lang="he-IL" sz="1400" dirty="0"/>
              <a:t>פירמה פועלת בשוק תחרותי ויש לה עלות קבועה חיובית. העלות השולית פוחתת ולאחר מכן עולה. הפירמה ממקסמת את רווחיה </a:t>
            </a:r>
            <a:r>
              <a:rPr lang="he-IL" sz="1400" b="1" dirty="0"/>
              <a:t>וידוע שהיא בחרה לייצר כמות חיובית </a:t>
            </a:r>
            <a:r>
              <a:rPr lang="he-IL" sz="1400" dirty="0"/>
              <a:t>בתחום שבו </a:t>
            </a:r>
            <a:r>
              <a:rPr lang="he-IL" sz="1400" b="1" dirty="0">
                <a:solidFill>
                  <a:schemeClr val="tx2"/>
                </a:solidFill>
              </a:rPr>
              <a:t>העלות הכוללת הממוצעת ליחידה (</a:t>
            </a:r>
            <a:r>
              <a:rPr lang="en-US" sz="1400" b="1" dirty="0">
                <a:solidFill>
                  <a:schemeClr val="tx2"/>
                </a:solidFill>
              </a:rPr>
              <a:t>ATC</a:t>
            </a:r>
            <a:r>
              <a:rPr lang="he-IL" sz="1400" b="1" dirty="0">
                <a:solidFill>
                  <a:schemeClr val="tx2"/>
                </a:solidFill>
              </a:rPr>
              <a:t>) יורדת</a:t>
            </a:r>
            <a:r>
              <a:rPr lang="he-IL" sz="1400" dirty="0"/>
              <a:t>. לפיכך:</a:t>
            </a:r>
            <a:endParaRPr lang="en-US" sz="1400" dirty="0"/>
          </a:p>
        </p:txBody>
      </p:sp>
      <p:sp>
        <p:nvSpPr>
          <p:cNvPr id="2" name="Rectangle 1">
            <a:extLst>
              <a:ext uri="{FF2B5EF4-FFF2-40B4-BE49-F238E27FC236}">
                <a16:creationId xmlns:a16="http://schemas.microsoft.com/office/drawing/2014/main" id="{CA04278B-821F-4D8F-831E-7AF94CB6DF44}"/>
              </a:ext>
            </a:extLst>
          </p:cNvPr>
          <p:cNvSpPr/>
          <p:nvPr/>
        </p:nvSpPr>
        <p:spPr>
          <a:xfrm>
            <a:off x="6135443" y="1321431"/>
            <a:ext cx="6096000" cy="779252"/>
          </a:xfrm>
          <a:prstGeom prst="rect">
            <a:avLst/>
          </a:prstGeom>
        </p:spPr>
        <p:txBody>
          <a:bodyPr wrap="square">
            <a:spAutoFit/>
          </a:bodyPr>
          <a:lstStyle/>
          <a:p>
            <a:pPr marL="300038" lvl="1">
              <a:lnSpc>
                <a:spcPct val="170000"/>
              </a:lnSpc>
            </a:pPr>
            <a:r>
              <a:rPr lang="he-IL" sz="1400" dirty="0"/>
              <a:t>א. הרווח התפעולי של הפירמה שלילי</a:t>
            </a:r>
          </a:p>
          <a:p>
            <a:pPr marL="300038" lvl="1">
              <a:lnSpc>
                <a:spcPct val="170000"/>
              </a:lnSpc>
            </a:pPr>
            <a:r>
              <a:rPr lang="he-IL" sz="1400" dirty="0"/>
              <a:t>ג. בכמות המיוצרת מחיר המוצר גבוה מהעלות הכוללת הממוצעת ליחידה (</a:t>
            </a:r>
            <a:r>
              <a:rPr lang="en-US" sz="1400" dirty="0"/>
              <a:t>ATC</a:t>
            </a:r>
            <a:r>
              <a:rPr lang="he-IL" sz="1400" dirty="0"/>
              <a:t>)</a:t>
            </a:r>
          </a:p>
        </p:txBody>
      </p:sp>
      <p:cxnSp>
        <p:nvCxnSpPr>
          <p:cNvPr id="5" name="מחבר ישר 2">
            <a:extLst>
              <a:ext uri="{FF2B5EF4-FFF2-40B4-BE49-F238E27FC236}">
                <a16:creationId xmlns:a16="http://schemas.microsoft.com/office/drawing/2014/main" id="{BDD97B3F-29E5-4FC1-BE64-6F61565E2870}"/>
              </a:ext>
            </a:extLst>
          </p:cNvPr>
          <p:cNvCxnSpPr>
            <a:cxnSpLocks/>
          </p:cNvCxnSpPr>
          <p:nvPr/>
        </p:nvCxnSpPr>
        <p:spPr>
          <a:xfrm>
            <a:off x="3155805" y="2316638"/>
            <a:ext cx="21437" cy="3072672"/>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מחבר ישר 4">
            <a:extLst>
              <a:ext uri="{FF2B5EF4-FFF2-40B4-BE49-F238E27FC236}">
                <a16:creationId xmlns:a16="http://schemas.microsoft.com/office/drawing/2014/main" id="{1572BF88-AE4E-47F3-8B41-6CEC5AC5D789}"/>
              </a:ext>
            </a:extLst>
          </p:cNvPr>
          <p:cNvCxnSpPr>
            <a:cxnSpLocks/>
          </p:cNvCxnSpPr>
          <p:nvPr/>
        </p:nvCxnSpPr>
        <p:spPr>
          <a:xfrm>
            <a:off x="3150572" y="5421010"/>
            <a:ext cx="3711772" cy="16631"/>
          </a:xfrm>
          <a:prstGeom prst="line">
            <a:avLst/>
          </a:prstGeom>
        </p:spPr>
        <p:style>
          <a:lnRef idx="1">
            <a:schemeClr val="accent1"/>
          </a:lnRef>
          <a:fillRef idx="0">
            <a:schemeClr val="accent1"/>
          </a:fillRef>
          <a:effectRef idx="0">
            <a:schemeClr val="accent1"/>
          </a:effectRef>
          <a:fontRef idx="minor">
            <a:schemeClr val="tx1"/>
          </a:fontRef>
        </p:style>
      </p:cxnSp>
      <p:sp>
        <p:nvSpPr>
          <p:cNvPr id="8" name="צורה חופשית 5">
            <a:extLst>
              <a:ext uri="{FF2B5EF4-FFF2-40B4-BE49-F238E27FC236}">
                <a16:creationId xmlns:a16="http://schemas.microsoft.com/office/drawing/2014/main" id="{700D213E-E3C5-4CCF-A2BB-1E2BA78AB6AA}"/>
              </a:ext>
            </a:extLst>
          </p:cNvPr>
          <p:cNvSpPr/>
          <p:nvPr/>
        </p:nvSpPr>
        <p:spPr>
          <a:xfrm>
            <a:off x="3125670" y="2780929"/>
            <a:ext cx="3761510" cy="2416744"/>
          </a:xfrm>
          <a:custGeom>
            <a:avLst/>
            <a:gdLst>
              <a:gd name="connsiteX0" fmla="*/ 0 w 5015346"/>
              <a:gd name="connsiteY0" fmla="*/ 2281382 h 3222325"/>
              <a:gd name="connsiteX1" fmla="*/ 1099128 w 5015346"/>
              <a:gd name="connsiteY1" fmla="*/ 3149600 h 3222325"/>
              <a:gd name="connsiteX2" fmla="*/ 2419928 w 5015346"/>
              <a:gd name="connsiteY2" fmla="*/ 2817091 h 3222325"/>
              <a:gd name="connsiteX3" fmla="*/ 5015346 w 5015346"/>
              <a:gd name="connsiteY3" fmla="*/ 0 h 3222325"/>
            </a:gdLst>
            <a:ahLst/>
            <a:cxnLst>
              <a:cxn ang="0">
                <a:pos x="connsiteX0" y="connsiteY0"/>
              </a:cxn>
              <a:cxn ang="0">
                <a:pos x="connsiteX1" y="connsiteY1"/>
              </a:cxn>
              <a:cxn ang="0">
                <a:pos x="connsiteX2" y="connsiteY2"/>
              </a:cxn>
              <a:cxn ang="0">
                <a:pos x="connsiteX3" y="connsiteY3"/>
              </a:cxn>
            </a:cxnLst>
            <a:rect l="l" t="t" r="r" b="b"/>
            <a:pathLst>
              <a:path w="5015346" h="3222325">
                <a:moveTo>
                  <a:pt x="0" y="2281382"/>
                </a:moveTo>
                <a:cubicBezTo>
                  <a:pt x="347903" y="2670848"/>
                  <a:pt x="695807" y="3060315"/>
                  <a:pt x="1099128" y="3149600"/>
                </a:cubicBezTo>
                <a:cubicBezTo>
                  <a:pt x="1502449" y="3238885"/>
                  <a:pt x="1767225" y="3342024"/>
                  <a:pt x="2419928" y="2817091"/>
                </a:cubicBezTo>
                <a:cubicBezTo>
                  <a:pt x="3072631" y="2292158"/>
                  <a:pt x="4043988" y="1146079"/>
                  <a:pt x="5015346" y="0"/>
                </a:cubicBezTo>
              </a:path>
            </a:pathLst>
          </a:custGeom>
          <a:ln w="57150">
            <a:solidFill>
              <a:schemeClr val="tx1"/>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350"/>
          </a:p>
        </p:txBody>
      </p:sp>
      <p:sp>
        <p:nvSpPr>
          <p:cNvPr id="9" name="TextBox 8">
            <a:extLst>
              <a:ext uri="{FF2B5EF4-FFF2-40B4-BE49-F238E27FC236}">
                <a16:creationId xmlns:a16="http://schemas.microsoft.com/office/drawing/2014/main" id="{051D280E-40D6-4369-82C4-7A478E704038}"/>
              </a:ext>
            </a:extLst>
          </p:cNvPr>
          <p:cNvSpPr txBox="1"/>
          <p:nvPr/>
        </p:nvSpPr>
        <p:spPr>
          <a:xfrm>
            <a:off x="6119167" y="2753518"/>
            <a:ext cx="455574" cy="323165"/>
          </a:xfrm>
          <a:prstGeom prst="rect">
            <a:avLst/>
          </a:prstGeom>
          <a:noFill/>
        </p:spPr>
        <p:txBody>
          <a:bodyPr wrap="none" rtlCol="0">
            <a:spAutoFit/>
          </a:bodyPr>
          <a:lstStyle/>
          <a:p>
            <a:r>
              <a:rPr lang="en-US" sz="1500" b="1" dirty="0">
                <a:solidFill>
                  <a:schemeClr val="accent2">
                    <a:lumMod val="75000"/>
                  </a:schemeClr>
                </a:solidFill>
              </a:rPr>
              <a:t>MC</a:t>
            </a:r>
          </a:p>
        </p:txBody>
      </p:sp>
      <p:sp>
        <p:nvSpPr>
          <p:cNvPr id="10" name="צורה חופשית 7">
            <a:extLst>
              <a:ext uri="{FF2B5EF4-FFF2-40B4-BE49-F238E27FC236}">
                <a16:creationId xmlns:a16="http://schemas.microsoft.com/office/drawing/2014/main" id="{5D9DB8BA-B2CF-48B1-B348-EE54B37FD24E}"/>
              </a:ext>
            </a:extLst>
          </p:cNvPr>
          <p:cNvSpPr/>
          <p:nvPr/>
        </p:nvSpPr>
        <p:spPr>
          <a:xfrm>
            <a:off x="3122206" y="3175856"/>
            <a:ext cx="3934712" cy="1669710"/>
          </a:xfrm>
          <a:custGeom>
            <a:avLst/>
            <a:gdLst>
              <a:gd name="connsiteX0" fmla="*/ 0 w 5298831"/>
              <a:gd name="connsiteY0" fmla="*/ 0 h 2297730"/>
              <a:gd name="connsiteX1" fmla="*/ 1160584 w 5298831"/>
              <a:gd name="connsiteY1" fmla="*/ 1453662 h 2297730"/>
              <a:gd name="connsiteX2" fmla="*/ 2637692 w 5298831"/>
              <a:gd name="connsiteY2" fmla="*/ 2297724 h 2297730"/>
              <a:gd name="connsiteX3" fmla="*/ 5298831 w 5298831"/>
              <a:gd name="connsiteY3" fmla="*/ 1441939 h 2297730"/>
            </a:gdLst>
            <a:ahLst/>
            <a:cxnLst>
              <a:cxn ang="0">
                <a:pos x="connsiteX0" y="connsiteY0"/>
              </a:cxn>
              <a:cxn ang="0">
                <a:pos x="connsiteX1" y="connsiteY1"/>
              </a:cxn>
              <a:cxn ang="0">
                <a:pos x="connsiteX2" y="connsiteY2"/>
              </a:cxn>
              <a:cxn ang="0">
                <a:pos x="connsiteX3" y="connsiteY3"/>
              </a:cxn>
            </a:cxnLst>
            <a:rect l="l" t="t" r="r" b="b"/>
            <a:pathLst>
              <a:path w="5298831" h="2297730">
                <a:moveTo>
                  <a:pt x="0" y="0"/>
                </a:moveTo>
                <a:cubicBezTo>
                  <a:pt x="360484" y="535354"/>
                  <a:pt x="720969" y="1070708"/>
                  <a:pt x="1160584" y="1453662"/>
                </a:cubicBezTo>
                <a:cubicBezTo>
                  <a:pt x="1600199" y="1836616"/>
                  <a:pt x="1947984" y="2299678"/>
                  <a:pt x="2637692" y="2297724"/>
                </a:cubicBezTo>
                <a:cubicBezTo>
                  <a:pt x="3327400" y="2295770"/>
                  <a:pt x="4313115" y="1868854"/>
                  <a:pt x="5298831" y="1441939"/>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FF0000"/>
              </a:solidFill>
            </a:endParaRPr>
          </a:p>
        </p:txBody>
      </p:sp>
      <p:sp>
        <p:nvSpPr>
          <p:cNvPr id="11" name="TextBox 10">
            <a:extLst>
              <a:ext uri="{FF2B5EF4-FFF2-40B4-BE49-F238E27FC236}">
                <a16:creationId xmlns:a16="http://schemas.microsoft.com/office/drawing/2014/main" id="{BA38DA79-401E-47FD-AAAD-A3D882AB5A4B}"/>
              </a:ext>
            </a:extLst>
          </p:cNvPr>
          <p:cNvSpPr txBox="1"/>
          <p:nvPr/>
        </p:nvSpPr>
        <p:spPr>
          <a:xfrm>
            <a:off x="7146289" y="4230564"/>
            <a:ext cx="505139" cy="323165"/>
          </a:xfrm>
          <a:prstGeom prst="rect">
            <a:avLst/>
          </a:prstGeom>
          <a:noFill/>
        </p:spPr>
        <p:txBody>
          <a:bodyPr wrap="none" rtlCol="0">
            <a:spAutoFit/>
          </a:bodyPr>
          <a:lstStyle/>
          <a:p>
            <a:r>
              <a:rPr lang="en-US" sz="1500" b="1" dirty="0">
                <a:solidFill>
                  <a:schemeClr val="accent2">
                    <a:lumMod val="75000"/>
                  </a:schemeClr>
                </a:solidFill>
              </a:rPr>
              <a:t>AVC</a:t>
            </a:r>
          </a:p>
        </p:txBody>
      </p:sp>
      <p:sp>
        <p:nvSpPr>
          <p:cNvPr id="12" name="TextBox 11">
            <a:extLst>
              <a:ext uri="{FF2B5EF4-FFF2-40B4-BE49-F238E27FC236}">
                <a16:creationId xmlns:a16="http://schemas.microsoft.com/office/drawing/2014/main" id="{24B52F36-C69C-44D2-862D-DCF656D45E67}"/>
              </a:ext>
            </a:extLst>
          </p:cNvPr>
          <p:cNvSpPr txBox="1"/>
          <p:nvPr/>
        </p:nvSpPr>
        <p:spPr>
          <a:xfrm>
            <a:off x="4561849" y="5434315"/>
            <a:ext cx="519014" cy="323165"/>
          </a:xfrm>
          <a:prstGeom prst="rect">
            <a:avLst/>
          </a:prstGeom>
          <a:noFill/>
        </p:spPr>
        <p:txBody>
          <a:bodyPr wrap="square" rtlCol="0">
            <a:spAutoFit/>
          </a:bodyPr>
          <a:lstStyle/>
          <a:p>
            <a:r>
              <a:rPr lang="en-US" sz="1500" b="1" dirty="0">
                <a:solidFill>
                  <a:schemeClr val="accent2">
                    <a:lumMod val="75000"/>
                  </a:schemeClr>
                </a:solidFill>
              </a:rPr>
              <a:t>X3</a:t>
            </a:r>
          </a:p>
        </p:txBody>
      </p:sp>
      <p:sp>
        <p:nvSpPr>
          <p:cNvPr id="13" name="TextBox 12">
            <a:extLst>
              <a:ext uri="{FF2B5EF4-FFF2-40B4-BE49-F238E27FC236}">
                <a16:creationId xmlns:a16="http://schemas.microsoft.com/office/drawing/2014/main" id="{DD2C4480-CC24-4558-B302-61DE30E4419C}"/>
              </a:ext>
            </a:extLst>
          </p:cNvPr>
          <p:cNvSpPr txBox="1"/>
          <p:nvPr/>
        </p:nvSpPr>
        <p:spPr>
          <a:xfrm>
            <a:off x="2853479" y="2178898"/>
            <a:ext cx="287258" cy="323165"/>
          </a:xfrm>
          <a:prstGeom prst="rect">
            <a:avLst/>
          </a:prstGeom>
          <a:noFill/>
        </p:spPr>
        <p:txBody>
          <a:bodyPr wrap="none" rtlCol="0">
            <a:spAutoFit/>
          </a:bodyPr>
          <a:lstStyle/>
          <a:p>
            <a:r>
              <a:rPr lang="en-US" sz="1500" b="1" dirty="0">
                <a:solidFill>
                  <a:schemeClr val="accent2">
                    <a:lumMod val="75000"/>
                  </a:schemeClr>
                </a:solidFill>
              </a:rPr>
              <a:t>P</a:t>
            </a:r>
          </a:p>
        </p:txBody>
      </p:sp>
      <p:sp>
        <p:nvSpPr>
          <p:cNvPr id="14" name="TextBox 13">
            <a:extLst>
              <a:ext uri="{FF2B5EF4-FFF2-40B4-BE49-F238E27FC236}">
                <a16:creationId xmlns:a16="http://schemas.microsoft.com/office/drawing/2014/main" id="{DA629CBA-4D40-4D9C-BE7B-6AE9E26CD129}"/>
              </a:ext>
            </a:extLst>
          </p:cNvPr>
          <p:cNvSpPr txBox="1"/>
          <p:nvPr/>
        </p:nvSpPr>
        <p:spPr>
          <a:xfrm>
            <a:off x="2496777" y="4710552"/>
            <a:ext cx="715260" cy="253916"/>
          </a:xfrm>
          <a:prstGeom prst="rect">
            <a:avLst/>
          </a:prstGeom>
          <a:noFill/>
        </p:spPr>
        <p:txBody>
          <a:bodyPr wrap="none" rtlCol="0">
            <a:spAutoFit/>
          </a:bodyPr>
          <a:lstStyle/>
          <a:p>
            <a:r>
              <a:rPr lang="en-US" sz="1050" b="1" dirty="0">
                <a:solidFill>
                  <a:schemeClr val="accent2">
                    <a:lumMod val="75000"/>
                  </a:schemeClr>
                </a:solidFill>
              </a:rPr>
              <a:t>min(AVC)</a:t>
            </a:r>
          </a:p>
        </p:txBody>
      </p:sp>
      <p:cxnSp>
        <p:nvCxnSpPr>
          <p:cNvPr id="15" name="מחבר ישר 13">
            <a:extLst>
              <a:ext uri="{FF2B5EF4-FFF2-40B4-BE49-F238E27FC236}">
                <a16:creationId xmlns:a16="http://schemas.microsoft.com/office/drawing/2014/main" id="{893BC0FD-74C0-4B49-9501-1D33525468FD}"/>
              </a:ext>
            </a:extLst>
          </p:cNvPr>
          <p:cNvCxnSpPr>
            <a:cxnSpLocks/>
          </p:cNvCxnSpPr>
          <p:nvPr/>
        </p:nvCxnSpPr>
        <p:spPr>
          <a:xfrm flipH="1">
            <a:off x="3192307" y="4845568"/>
            <a:ext cx="4116815" cy="48385"/>
          </a:xfrm>
          <a:prstGeom prst="line">
            <a:avLst/>
          </a:prstGeom>
          <a:ln w="28575">
            <a:prstDash val="sysDash"/>
          </a:ln>
        </p:spPr>
        <p:style>
          <a:lnRef idx="3">
            <a:schemeClr val="accent2"/>
          </a:lnRef>
          <a:fillRef idx="0">
            <a:schemeClr val="accent2"/>
          </a:fillRef>
          <a:effectRef idx="2">
            <a:schemeClr val="accent2"/>
          </a:effectRef>
          <a:fontRef idx="minor">
            <a:schemeClr val="tx1"/>
          </a:fontRef>
        </p:style>
      </p:cxnSp>
      <p:cxnSp>
        <p:nvCxnSpPr>
          <p:cNvPr id="16" name="מחבר ישר 15">
            <a:extLst>
              <a:ext uri="{FF2B5EF4-FFF2-40B4-BE49-F238E27FC236}">
                <a16:creationId xmlns:a16="http://schemas.microsoft.com/office/drawing/2014/main" id="{8AB66E53-A0C0-4E2B-A258-59D43EAF79BA}"/>
              </a:ext>
            </a:extLst>
          </p:cNvPr>
          <p:cNvCxnSpPr>
            <a:cxnSpLocks/>
          </p:cNvCxnSpPr>
          <p:nvPr/>
        </p:nvCxnSpPr>
        <p:spPr>
          <a:xfrm flipV="1">
            <a:off x="3166522" y="4929124"/>
            <a:ext cx="6927" cy="491192"/>
          </a:xfrm>
          <a:prstGeom prst="line">
            <a:avLst/>
          </a:prstGeom>
          <a:ln w="1397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7" name="מחבר ישר 17">
            <a:extLst>
              <a:ext uri="{FF2B5EF4-FFF2-40B4-BE49-F238E27FC236}">
                <a16:creationId xmlns:a16="http://schemas.microsoft.com/office/drawing/2014/main" id="{B09C483D-3911-491A-8209-0AEAD7E4413A}"/>
              </a:ext>
            </a:extLst>
          </p:cNvPr>
          <p:cNvCxnSpPr/>
          <p:nvPr/>
        </p:nvCxnSpPr>
        <p:spPr>
          <a:xfrm flipV="1">
            <a:off x="5061956" y="3945695"/>
            <a:ext cx="801698" cy="868866"/>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8" name="מחבר ישר 18">
            <a:extLst>
              <a:ext uri="{FF2B5EF4-FFF2-40B4-BE49-F238E27FC236}">
                <a16:creationId xmlns:a16="http://schemas.microsoft.com/office/drawing/2014/main" id="{51C0C3E2-3ED0-47F1-BD80-F7AD59EE6576}"/>
              </a:ext>
            </a:extLst>
          </p:cNvPr>
          <p:cNvCxnSpPr>
            <a:cxnSpLocks/>
          </p:cNvCxnSpPr>
          <p:nvPr/>
        </p:nvCxnSpPr>
        <p:spPr>
          <a:xfrm flipV="1">
            <a:off x="5842315" y="2753224"/>
            <a:ext cx="1020029" cy="120587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sp>
        <p:nvSpPr>
          <p:cNvPr id="19" name="צורה חופשית 20">
            <a:extLst>
              <a:ext uri="{FF2B5EF4-FFF2-40B4-BE49-F238E27FC236}">
                <a16:creationId xmlns:a16="http://schemas.microsoft.com/office/drawing/2014/main" id="{6FF6AA0B-78D2-4F37-BB19-19444E9BD2D2}"/>
              </a:ext>
            </a:extLst>
          </p:cNvPr>
          <p:cNvSpPr/>
          <p:nvPr/>
        </p:nvSpPr>
        <p:spPr>
          <a:xfrm>
            <a:off x="3833105" y="2561544"/>
            <a:ext cx="3579656" cy="1723298"/>
          </a:xfrm>
          <a:custGeom>
            <a:avLst/>
            <a:gdLst>
              <a:gd name="connsiteX0" fmla="*/ 0 w 5298831"/>
              <a:gd name="connsiteY0" fmla="*/ 0 h 2297730"/>
              <a:gd name="connsiteX1" fmla="*/ 1160584 w 5298831"/>
              <a:gd name="connsiteY1" fmla="*/ 1453662 h 2297730"/>
              <a:gd name="connsiteX2" fmla="*/ 2637692 w 5298831"/>
              <a:gd name="connsiteY2" fmla="*/ 2297724 h 2297730"/>
              <a:gd name="connsiteX3" fmla="*/ 5298831 w 5298831"/>
              <a:gd name="connsiteY3" fmla="*/ 1441939 h 2297730"/>
            </a:gdLst>
            <a:ahLst/>
            <a:cxnLst>
              <a:cxn ang="0">
                <a:pos x="connsiteX0" y="connsiteY0"/>
              </a:cxn>
              <a:cxn ang="0">
                <a:pos x="connsiteX1" y="connsiteY1"/>
              </a:cxn>
              <a:cxn ang="0">
                <a:pos x="connsiteX2" y="connsiteY2"/>
              </a:cxn>
              <a:cxn ang="0">
                <a:pos x="connsiteX3" y="connsiteY3"/>
              </a:cxn>
            </a:cxnLst>
            <a:rect l="l" t="t" r="r" b="b"/>
            <a:pathLst>
              <a:path w="5298831" h="2297730">
                <a:moveTo>
                  <a:pt x="0" y="0"/>
                </a:moveTo>
                <a:cubicBezTo>
                  <a:pt x="360484" y="535354"/>
                  <a:pt x="720969" y="1070708"/>
                  <a:pt x="1160584" y="1453662"/>
                </a:cubicBezTo>
                <a:cubicBezTo>
                  <a:pt x="1600199" y="1836616"/>
                  <a:pt x="1947984" y="2299678"/>
                  <a:pt x="2637692" y="2297724"/>
                </a:cubicBezTo>
                <a:cubicBezTo>
                  <a:pt x="3327400" y="2295770"/>
                  <a:pt x="4313115" y="1868854"/>
                  <a:pt x="5298831" y="1441939"/>
                </a:cubicBezTo>
              </a:path>
            </a:pathLst>
          </a:custGeom>
          <a:noFill/>
          <a:ln w="571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FF0000"/>
              </a:solidFill>
            </a:endParaRPr>
          </a:p>
        </p:txBody>
      </p:sp>
      <p:sp>
        <p:nvSpPr>
          <p:cNvPr id="20" name="TextBox 19">
            <a:extLst>
              <a:ext uri="{FF2B5EF4-FFF2-40B4-BE49-F238E27FC236}">
                <a16:creationId xmlns:a16="http://schemas.microsoft.com/office/drawing/2014/main" id="{FAD2A819-9DF3-4E06-824E-2E6E2E61AD8D}"/>
              </a:ext>
            </a:extLst>
          </p:cNvPr>
          <p:cNvSpPr txBox="1"/>
          <p:nvPr/>
        </p:nvSpPr>
        <p:spPr>
          <a:xfrm>
            <a:off x="7262282" y="3216688"/>
            <a:ext cx="479619" cy="323165"/>
          </a:xfrm>
          <a:prstGeom prst="rect">
            <a:avLst/>
          </a:prstGeom>
          <a:noFill/>
        </p:spPr>
        <p:txBody>
          <a:bodyPr wrap="none" rtlCol="0">
            <a:spAutoFit/>
          </a:bodyPr>
          <a:lstStyle/>
          <a:p>
            <a:r>
              <a:rPr lang="en-US" sz="1500" b="1" dirty="0">
                <a:solidFill>
                  <a:schemeClr val="accent1"/>
                </a:solidFill>
              </a:rPr>
              <a:t>ATC</a:t>
            </a:r>
          </a:p>
        </p:txBody>
      </p:sp>
      <p:sp>
        <p:nvSpPr>
          <p:cNvPr id="28" name="Rectangle 27">
            <a:extLst>
              <a:ext uri="{FF2B5EF4-FFF2-40B4-BE49-F238E27FC236}">
                <a16:creationId xmlns:a16="http://schemas.microsoft.com/office/drawing/2014/main" id="{4BCD939D-BE59-4DAD-855F-AB869B219042}"/>
              </a:ext>
            </a:extLst>
          </p:cNvPr>
          <p:cNvSpPr/>
          <p:nvPr/>
        </p:nvSpPr>
        <p:spPr>
          <a:xfrm>
            <a:off x="6247775" y="1330047"/>
            <a:ext cx="2828339" cy="407869"/>
          </a:xfrm>
          <a:prstGeom prst="rect">
            <a:avLst/>
          </a:prstGeom>
        </p:spPr>
        <p:txBody>
          <a:bodyPr wrap="none">
            <a:spAutoFit/>
          </a:bodyPr>
          <a:lstStyle/>
          <a:p>
            <a:pPr marL="300038" lvl="1">
              <a:lnSpc>
                <a:spcPct val="170000"/>
              </a:lnSpc>
            </a:pPr>
            <a:r>
              <a:rPr lang="he-IL" sz="1400" dirty="0"/>
              <a:t>ב. הרווח הכולל של הפירמה שלילי</a:t>
            </a:r>
          </a:p>
        </p:txBody>
      </p:sp>
      <p:sp>
        <p:nvSpPr>
          <p:cNvPr id="30" name="Rectangle 29">
            <a:extLst>
              <a:ext uri="{FF2B5EF4-FFF2-40B4-BE49-F238E27FC236}">
                <a16:creationId xmlns:a16="http://schemas.microsoft.com/office/drawing/2014/main" id="{EC348D8F-6A02-45E7-A8BB-04C0FDF25C6B}"/>
              </a:ext>
            </a:extLst>
          </p:cNvPr>
          <p:cNvSpPr/>
          <p:nvPr/>
        </p:nvSpPr>
        <p:spPr>
          <a:xfrm>
            <a:off x="7213902" y="2056943"/>
            <a:ext cx="4986173" cy="412998"/>
          </a:xfrm>
          <a:prstGeom prst="rect">
            <a:avLst/>
          </a:prstGeom>
        </p:spPr>
        <p:txBody>
          <a:bodyPr wrap="none">
            <a:spAutoFit/>
          </a:bodyPr>
          <a:lstStyle/>
          <a:p>
            <a:pPr marL="300038" lvl="1">
              <a:lnSpc>
                <a:spcPct val="170000"/>
              </a:lnSpc>
            </a:pPr>
            <a:r>
              <a:rPr lang="he-IL" sz="1400" dirty="0"/>
              <a:t>ד. ייתכן ובכמות המיוצרת העלות המשתנה הממוצעת (</a:t>
            </a:r>
            <a:r>
              <a:rPr lang="en-US" sz="1400" dirty="0"/>
              <a:t>AVC</a:t>
            </a:r>
            <a:r>
              <a:rPr lang="he-IL" sz="1400" dirty="0"/>
              <a:t>) יורדת</a:t>
            </a:r>
          </a:p>
        </p:txBody>
      </p:sp>
      <p:sp>
        <p:nvSpPr>
          <p:cNvPr id="31" name="Rectangle 30">
            <a:extLst>
              <a:ext uri="{FF2B5EF4-FFF2-40B4-BE49-F238E27FC236}">
                <a16:creationId xmlns:a16="http://schemas.microsoft.com/office/drawing/2014/main" id="{B8748A77-E13C-4DD1-8DEA-ACD9F6C8C9B7}"/>
              </a:ext>
            </a:extLst>
          </p:cNvPr>
          <p:cNvSpPr/>
          <p:nvPr/>
        </p:nvSpPr>
        <p:spPr>
          <a:xfrm>
            <a:off x="9076114" y="2449517"/>
            <a:ext cx="3169356" cy="412998"/>
          </a:xfrm>
          <a:prstGeom prst="rect">
            <a:avLst/>
          </a:prstGeom>
        </p:spPr>
        <p:txBody>
          <a:bodyPr wrap="square">
            <a:spAutoFit/>
          </a:bodyPr>
          <a:lstStyle/>
          <a:p>
            <a:pPr marL="300038" lvl="1">
              <a:lnSpc>
                <a:spcPct val="170000"/>
              </a:lnSpc>
            </a:pPr>
            <a:r>
              <a:rPr lang="he-IL" sz="1400" dirty="0"/>
              <a:t>ה. כל התשובות האחרות אינן נכונות</a:t>
            </a:r>
            <a:endParaRPr lang="en-US" sz="1400" dirty="0"/>
          </a:p>
        </p:txBody>
      </p:sp>
      <p:sp>
        <p:nvSpPr>
          <p:cNvPr id="4" name="Oval 3"/>
          <p:cNvSpPr/>
          <p:nvPr/>
        </p:nvSpPr>
        <p:spPr>
          <a:xfrm>
            <a:off x="5499866" y="4221907"/>
            <a:ext cx="169739" cy="1363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350"/>
          </a:p>
        </p:txBody>
      </p:sp>
      <p:sp>
        <p:nvSpPr>
          <p:cNvPr id="24" name="Oval 23"/>
          <p:cNvSpPr/>
          <p:nvPr/>
        </p:nvSpPr>
        <p:spPr>
          <a:xfrm>
            <a:off x="4911125" y="4763469"/>
            <a:ext cx="169739" cy="13632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endParaRPr lang="he-IL" sz="1350"/>
          </a:p>
        </p:txBody>
      </p:sp>
      <p:cxnSp>
        <p:nvCxnSpPr>
          <p:cNvPr id="22" name="Straight Connector 21"/>
          <p:cNvCxnSpPr>
            <a:cxnSpLocks/>
          </p:cNvCxnSpPr>
          <p:nvPr/>
        </p:nvCxnSpPr>
        <p:spPr>
          <a:xfrm flipV="1">
            <a:off x="3207373" y="4999889"/>
            <a:ext cx="1610558" cy="25157"/>
          </a:xfrm>
          <a:prstGeom prst="line">
            <a:avLst/>
          </a:prstGeom>
          <a:ln w="28575">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D2C4480-CC24-4558-B302-61DE30E4419C}"/>
              </a:ext>
            </a:extLst>
          </p:cNvPr>
          <p:cNvSpPr txBox="1"/>
          <p:nvPr/>
        </p:nvSpPr>
        <p:spPr>
          <a:xfrm>
            <a:off x="2723876" y="4935110"/>
            <a:ext cx="385042" cy="323165"/>
          </a:xfrm>
          <a:prstGeom prst="rect">
            <a:avLst/>
          </a:prstGeom>
          <a:noFill/>
        </p:spPr>
        <p:txBody>
          <a:bodyPr wrap="none" rtlCol="0">
            <a:spAutoFit/>
          </a:bodyPr>
          <a:lstStyle/>
          <a:p>
            <a:r>
              <a:rPr lang="en-US" sz="1500" b="1" dirty="0">
                <a:solidFill>
                  <a:schemeClr val="bg2">
                    <a:lumMod val="25000"/>
                  </a:schemeClr>
                </a:solidFill>
              </a:rPr>
              <a:t>P3</a:t>
            </a:r>
          </a:p>
        </p:txBody>
      </p:sp>
      <p:cxnSp>
        <p:nvCxnSpPr>
          <p:cNvPr id="35" name="Straight Connector 34"/>
          <p:cNvCxnSpPr>
            <a:cxnSpLocks/>
          </p:cNvCxnSpPr>
          <p:nvPr/>
        </p:nvCxnSpPr>
        <p:spPr>
          <a:xfrm flipV="1">
            <a:off x="4810440" y="4967822"/>
            <a:ext cx="0" cy="466493"/>
          </a:xfrm>
          <a:prstGeom prst="line">
            <a:avLst/>
          </a:prstGeom>
          <a:ln w="28575">
            <a:solidFill>
              <a:schemeClr val="bg2">
                <a:lumMod val="25000"/>
              </a:schemeClr>
            </a:solidFill>
            <a:prstDash val="dash"/>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8303465" y="4010711"/>
            <a:ext cx="2825746" cy="1996509"/>
          </a:xfrm>
          <a:prstGeom prst="rect">
            <a:avLst/>
          </a:prstGeom>
          <a:solidFill>
            <a:schemeClr val="accent4">
              <a:lumMod val="20000"/>
              <a:lumOff val="80000"/>
            </a:schemeClr>
          </a:solidFill>
        </p:spPr>
        <p:txBody>
          <a:bodyPr wrap="square" rtlCol="1">
            <a:spAutoFit/>
          </a:bodyPr>
          <a:lstStyle/>
          <a:p>
            <a:pPr>
              <a:lnSpc>
                <a:spcPct val="150000"/>
              </a:lnSpc>
            </a:pPr>
            <a:r>
              <a:rPr lang="he-IL" sz="1400" dirty="0"/>
              <a:t>במחיר </a:t>
            </a:r>
            <a:r>
              <a:rPr lang="en-US" sz="1400" dirty="0"/>
              <a:t>P3</a:t>
            </a:r>
            <a:r>
              <a:rPr lang="he-IL" sz="1400" dirty="0"/>
              <a:t> הנמוך ממינימום </a:t>
            </a:r>
            <a:r>
              <a:rPr lang="en-US" sz="1400" dirty="0"/>
              <a:t>AVC</a:t>
            </a:r>
            <a:r>
              <a:rPr lang="he-IL" sz="1400" dirty="0"/>
              <a:t>, הפירמה לא תייצר כלל (לא מתאים לנתוני השאלה שבה כתוב </a:t>
            </a:r>
            <a:r>
              <a:rPr lang="he-IL" sz="1400" b="1" dirty="0"/>
              <a:t>שהפירמה בחרה לייצר כמות חיובית)</a:t>
            </a:r>
            <a:r>
              <a:rPr lang="he-IL" sz="1400" dirty="0"/>
              <a:t>. מכיוון שההכנסות לא מכסות את העלויות המשתנות אפילו</a:t>
            </a:r>
            <a:r>
              <a:rPr lang="en-US" sz="1400" dirty="0"/>
              <a:t>!</a:t>
            </a:r>
            <a:endParaRPr lang="he-IL" sz="1400" dirty="0"/>
          </a:p>
        </p:txBody>
      </p:sp>
      <p:sp>
        <p:nvSpPr>
          <p:cNvPr id="21" name="Date Placeholder 20">
            <a:extLst>
              <a:ext uri="{FF2B5EF4-FFF2-40B4-BE49-F238E27FC236}">
                <a16:creationId xmlns:a16="http://schemas.microsoft.com/office/drawing/2014/main" id="{582AD878-3978-467F-A519-AE546A86CC80}"/>
              </a:ext>
            </a:extLst>
          </p:cNvPr>
          <p:cNvSpPr>
            <a:spLocks noGrp="1"/>
          </p:cNvSpPr>
          <p:nvPr>
            <p:ph type="dt" sz="half" idx="10"/>
          </p:nvPr>
        </p:nvSpPr>
        <p:spPr>
          <a:xfrm>
            <a:off x="5000478" y="5771442"/>
            <a:ext cx="1600200" cy="273844"/>
          </a:xfrm>
        </p:spPr>
        <p:txBody>
          <a:bodyPr/>
          <a:lstStyle/>
          <a:p>
            <a:fld id="{821DC2ED-81EB-45D1-8A46-49E9924F7306}" type="datetime8">
              <a:rPr lang="he-IL" smtClean="0"/>
              <a:t>03 ינואר 26</a:t>
            </a:fld>
            <a:endParaRPr lang="he-IL" dirty="0"/>
          </a:p>
        </p:txBody>
      </p:sp>
      <p:sp>
        <p:nvSpPr>
          <p:cNvPr id="23" name="Slide Number Placeholder 22">
            <a:extLst>
              <a:ext uri="{FF2B5EF4-FFF2-40B4-BE49-F238E27FC236}">
                <a16:creationId xmlns:a16="http://schemas.microsoft.com/office/drawing/2014/main" id="{609B1839-8563-4969-91DF-71CD08AB1BB2}"/>
              </a:ext>
            </a:extLst>
          </p:cNvPr>
          <p:cNvSpPr>
            <a:spLocks noGrp="1"/>
          </p:cNvSpPr>
          <p:nvPr>
            <p:ph type="sldNum" sz="quarter" idx="12"/>
          </p:nvPr>
        </p:nvSpPr>
        <p:spPr/>
        <p:txBody>
          <a:bodyPr/>
          <a:lstStyle/>
          <a:p>
            <a:fld id="{492DB488-E800-4C9D-A68D-A9C6D048BCD3}" type="slidenum">
              <a:rPr lang="he-IL" smtClean="0"/>
              <a:pPr/>
              <a:t>54</a:t>
            </a:fld>
            <a:endParaRPr lang="he-IL"/>
          </a:p>
        </p:txBody>
      </p:sp>
      <p:sp>
        <p:nvSpPr>
          <p:cNvPr id="26" name="TextBox 25">
            <a:extLst>
              <a:ext uri="{FF2B5EF4-FFF2-40B4-BE49-F238E27FC236}">
                <a16:creationId xmlns:a16="http://schemas.microsoft.com/office/drawing/2014/main" id="{390F7DB5-E6A6-44FA-A8C7-DDC1EC09AB5A}"/>
              </a:ext>
            </a:extLst>
          </p:cNvPr>
          <p:cNvSpPr txBox="1"/>
          <p:nvPr/>
        </p:nvSpPr>
        <p:spPr>
          <a:xfrm>
            <a:off x="9033181" y="3097952"/>
            <a:ext cx="2096030" cy="791179"/>
          </a:xfrm>
          <a:prstGeom prst="rect">
            <a:avLst/>
          </a:prstGeom>
          <a:solidFill>
            <a:schemeClr val="accent4">
              <a:lumMod val="40000"/>
              <a:lumOff val="60000"/>
            </a:schemeClr>
          </a:solidFill>
        </p:spPr>
        <p:txBody>
          <a:bodyPr wrap="square" rtlCol="0">
            <a:spAutoFit/>
          </a:bodyPr>
          <a:lstStyle/>
          <a:p>
            <a:pPr>
              <a:lnSpc>
                <a:spcPct val="150000"/>
              </a:lnSpc>
            </a:pPr>
            <a:r>
              <a:rPr lang="he-IL" sz="1600" dirty="0"/>
              <a:t>האם ייתכן שהמחיר בשוק הינו </a:t>
            </a:r>
            <a:r>
              <a:rPr lang="en-US" sz="1600" b="1" dirty="0"/>
              <a:t>P3</a:t>
            </a:r>
            <a:r>
              <a:rPr lang="he-IL" sz="1600" dirty="0"/>
              <a:t>?</a:t>
            </a:r>
            <a:r>
              <a:rPr lang="en-US" sz="1600" dirty="0"/>
              <a:t> </a:t>
            </a:r>
            <a:endParaRPr lang="en-IL" sz="1600" dirty="0"/>
          </a:p>
        </p:txBody>
      </p:sp>
      <p:cxnSp>
        <p:nvCxnSpPr>
          <p:cNvPr id="39" name="Straight Connector 38">
            <a:extLst>
              <a:ext uri="{FF2B5EF4-FFF2-40B4-BE49-F238E27FC236}">
                <a16:creationId xmlns:a16="http://schemas.microsoft.com/office/drawing/2014/main" id="{F44A2003-66E0-4FAB-8C14-EF5699650734}"/>
              </a:ext>
            </a:extLst>
          </p:cNvPr>
          <p:cNvCxnSpPr/>
          <p:nvPr/>
        </p:nvCxnSpPr>
        <p:spPr>
          <a:xfrm>
            <a:off x="7598765" y="2346833"/>
            <a:ext cx="3728483" cy="0"/>
          </a:xfrm>
          <a:prstGeom prst="line">
            <a:avLst/>
          </a:prstGeom>
          <a:ln w="1905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68887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barn(inVertical)">
                                      <p:cBhvr>
                                        <p:cTn id="3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כותרת 1"/>
          <p:cNvSpPr>
            <a:spLocks noGrp="1"/>
          </p:cNvSpPr>
          <p:nvPr>
            <p:ph type="title"/>
          </p:nvPr>
        </p:nvSpPr>
        <p:spPr>
          <a:xfrm>
            <a:off x="9272545" y="91084"/>
            <a:ext cx="2776756" cy="857250"/>
          </a:xfrm>
        </p:spPr>
        <p:txBody>
          <a:bodyPr>
            <a:normAutofit fontScale="90000"/>
          </a:bodyPr>
          <a:lstStyle/>
          <a:p>
            <a:pPr algn="r"/>
            <a:r>
              <a:rPr lang="he-IL" b="1" dirty="0">
                <a:solidFill>
                  <a:schemeClr val="tx2">
                    <a:lumMod val="75000"/>
                  </a:schemeClr>
                </a:solidFill>
                <a:cs typeface="+mn-cs"/>
              </a:rPr>
              <a:t>שאלת רשות</a:t>
            </a:r>
          </a:p>
        </p:txBody>
      </p:sp>
      <p:sp>
        <p:nvSpPr>
          <p:cNvPr id="3" name="מציין מיקום תוכן 2"/>
          <p:cNvSpPr>
            <a:spLocks noGrp="1"/>
          </p:cNvSpPr>
          <p:nvPr>
            <p:ph idx="1"/>
          </p:nvPr>
        </p:nvSpPr>
        <p:spPr>
          <a:xfrm>
            <a:off x="1940974" y="288526"/>
            <a:ext cx="6763947" cy="670936"/>
          </a:xfrm>
        </p:spPr>
        <p:txBody>
          <a:bodyPr>
            <a:noAutofit/>
          </a:bodyPr>
          <a:lstStyle/>
          <a:p>
            <a:pPr indent="0">
              <a:lnSpc>
                <a:spcPct val="170000"/>
              </a:lnSpc>
              <a:buNone/>
            </a:pPr>
            <a:r>
              <a:rPr lang="he-IL" sz="1050" dirty="0"/>
              <a:t>פירמה פועלת בשוק תחרותי ויש לה עלות קבועה חיובית. העלות השולית פוחתת ולאחר מכן עולה. הפירמה ממקסמת את רווחיה </a:t>
            </a:r>
            <a:r>
              <a:rPr lang="he-IL" sz="1050" b="1" dirty="0"/>
              <a:t>וידוע שהיא בחרה לייצר כמות חיובית </a:t>
            </a:r>
            <a:r>
              <a:rPr lang="he-IL" sz="1050" dirty="0"/>
              <a:t>בתחום שבו </a:t>
            </a:r>
            <a:r>
              <a:rPr lang="he-IL" sz="1050" b="1" dirty="0">
                <a:solidFill>
                  <a:schemeClr val="tx2"/>
                </a:solidFill>
              </a:rPr>
              <a:t>העלות הכוללת הממוצעת ליחידה (</a:t>
            </a:r>
            <a:r>
              <a:rPr lang="en-US" sz="1050" b="1" dirty="0">
                <a:solidFill>
                  <a:schemeClr val="tx2"/>
                </a:solidFill>
              </a:rPr>
              <a:t>ATC</a:t>
            </a:r>
            <a:r>
              <a:rPr lang="he-IL" sz="1050" b="1" dirty="0">
                <a:solidFill>
                  <a:schemeClr val="tx2"/>
                </a:solidFill>
              </a:rPr>
              <a:t>) יורדת</a:t>
            </a:r>
            <a:r>
              <a:rPr lang="he-IL" sz="1050" dirty="0"/>
              <a:t>. לפיכך:</a:t>
            </a:r>
            <a:endParaRPr lang="en-US" sz="1050" dirty="0"/>
          </a:p>
        </p:txBody>
      </p:sp>
      <p:cxnSp>
        <p:nvCxnSpPr>
          <p:cNvPr id="5" name="מחבר ישר 2">
            <a:extLst>
              <a:ext uri="{FF2B5EF4-FFF2-40B4-BE49-F238E27FC236}">
                <a16:creationId xmlns:a16="http://schemas.microsoft.com/office/drawing/2014/main" id="{BDD97B3F-29E5-4FC1-BE64-6F61565E2870}"/>
              </a:ext>
            </a:extLst>
          </p:cNvPr>
          <p:cNvCxnSpPr>
            <a:cxnSpLocks/>
          </p:cNvCxnSpPr>
          <p:nvPr/>
        </p:nvCxnSpPr>
        <p:spPr>
          <a:xfrm>
            <a:off x="3155805" y="2316638"/>
            <a:ext cx="21437" cy="3072672"/>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מחבר ישר 4">
            <a:extLst>
              <a:ext uri="{FF2B5EF4-FFF2-40B4-BE49-F238E27FC236}">
                <a16:creationId xmlns:a16="http://schemas.microsoft.com/office/drawing/2014/main" id="{1572BF88-AE4E-47F3-8B41-6CEC5AC5D789}"/>
              </a:ext>
            </a:extLst>
          </p:cNvPr>
          <p:cNvCxnSpPr>
            <a:cxnSpLocks/>
          </p:cNvCxnSpPr>
          <p:nvPr/>
        </p:nvCxnSpPr>
        <p:spPr>
          <a:xfrm>
            <a:off x="3150572" y="5421010"/>
            <a:ext cx="3711772" cy="16631"/>
          </a:xfrm>
          <a:prstGeom prst="line">
            <a:avLst/>
          </a:prstGeom>
        </p:spPr>
        <p:style>
          <a:lnRef idx="1">
            <a:schemeClr val="accent1"/>
          </a:lnRef>
          <a:fillRef idx="0">
            <a:schemeClr val="accent1"/>
          </a:fillRef>
          <a:effectRef idx="0">
            <a:schemeClr val="accent1"/>
          </a:effectRef>
          <a:fontRef idx="minor">
            <a:schemeClr val="tx1"/>
          </a:fontRef>
        </p:style>
      </p:cxnSp>
      <p:sp>
        <p:nvSpPr>
          <p:cNvPr id="8" name="צורה חופשית 5">
            <a:extLst>
              <a:ext uri="{FF2B5EF4-FFF2-40B4-BE49-F238E27FC236}">
                <a16:creationId xmlns:a16="http://schemas.microsoft.com/office/drawing/2014/main" id="{700D213E-E3C5-4CCF-A2BB-1E2BA78AB6AA}"/>
              </a:ext>
            </a:extLst>
          </p:cNvPr>
          <p:cNvSpPr/>
          <p:nvPr/>
        </p:nvSpPr>
        <p:spPr>
          <a:xfrm>
            <a:off x="3125670" y="2780929"/>
            <a:ext cx="3761510" cy="2416744"/>
          </a:xfrm>
          <a:custGeom>
            <a:avLst/>
            <a:gdLst>
              <a:gd name="connsiteX0" fmla="*/ 0 w 5015346"/>
              <a:gd name="connsiteY0" fmla="*/ 2281382 h 3222325"/>
              <a:gd name="connsiteX1" fmla="*/ 1099128 w 5015346"/>
              <a:gd name="connsiteY1" fmla="*/ 3149600 h 3222325"/>
              <a:gd name="connsiteX2" fmla="*/ 2419928 w 5015346"/>
              <a:gd name="connsiteY2" fmla="*/ 2817091 h 3222325"/>
              <a:gd name="connsiteX3" fmla="*/ 5015346 w 5015346"/>
              <a:gd name="connsiteY3" fmla="*/ 0 h 3222325"/>
            </a:gdLst>
            <a:ahLst/>
            <a:cxnLst>
              <a:cxn ang="0">
                <a:pos x="connsiteX0" y="connsiteY0"/>
              </a:cxn>
              <a:cxn ang="0">
                <a:pos x="connsiteX1" y="connsiteY1"/>
              </a:cxn>
              <a:cxn ang="0">
                <a:pos x="connsiteX2" y="connsiteY2"/>
              </a:cxn>
              <a:cxn ang="0">
                <a:pos x="connsiteX3" y="connsiteY3"/>
              </a:cxn>
            </a:cxnLst>
            <a:rect l="l" t="t" r="r" b="b"/>
            <a:pathLst>
              <a:path w="5015346" h="3222325">
                <a:moveTo>
                  <a:pt x="0" y="2281382"/>
                </a:moveTo>
                <a:cubicBezTo>
                  <a:pt x="347903" y="2670848"/>
                  <a:pt x="695807" y="3060315"/>
                  <a:pt x="1099128" y="3149600"/>
                </a:cubicBezTo>
                <a:cubicBezTo>
                  <a:pt x="1502449" y="3238885"/>
                  <a:pt x="1767225" y="3342024"/>
                  <a:pt x="2419928" y="2817091"/>
                </a:cubicBezTo>
                <a:cubicBezTo>
                  <a:pt x="3072631" y="2292158"/>
                  <a:pt x="4043988" y="1146079"/>
                  <a:pt x="5015346" y="0"/>
                </a:cubicBezTo>
              </a:path>
            </a:pathLst>
          </a:custGeom>
          <a:ln w="57150">
            <a:solidFill>
              <a:schemeClr val="tx1"/>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350"/>
          </a:p>
        </p:txBody>
      </p:sp>
      <p:sp>
        <p:nvSpPr>
          <p:cNvPr id="9" name="TextBox 8">
            <a:extLst>
              <a:ext uri="{FF2B5EF4-FFF2-40B4-BE49-F238E27FC236}">
                <a16:creationId xmlns:a16="http://schemas.microsoft.com/office/drawing/2014/main" id="{051D280E-40D6-4369-82C4-7A478E704038}"/>
              </a:ext>
            </a:extLst>
          </p:cNvPr>
          <p:cNvSpPr txBox="1"/>
          <p:nvPr/>
        </p:nvSpPr>
        <p:spPr>
          <a:xfrm>
            <a:off x="6119167" y="2753518"/>
            <a:ext cx="455574" cy="323165"/>
          </a:xfrm>
          <a:prstGeom prst="rect">
            <a:avLst/>
          </a:prstGeom>
          <a:noFill/>
        </p:spPr>
        <p:txBody>
          <a:bodyPr wrap="none" rtlCol="0">
            <a:spAutoFit/>
          </a:bodyPr>
          <a:lstStyle/>
          <a:p>
            <a:r>
              <a:rPr lang="en-US" sz="1500" b="1" dirty="0">
                <a:solidFill>
                  <a:schemeClr val="accent2">
                    <a:lumMod val="75000"/>
                  </a:schemeClr>
                </a:solidFill>
              </a:rPr>
              <a:t>MC</a:t>
            </a:r>
          </a:p>
        </p:txBody>
      </p:sp>
      <p:sp>
        <p:nvSpPr>
          <p:cNvPr id="10" name="צורה חופשית 7">
            <a:extLst>
              <a:ext uri="{FF2B5EF4-FFF2-40B4-BE49-F238E27FC236}">
                <a16:creationId xmlns:a16="http://schemas.microsoft.com/office/drawing/2014/main" id="{5D9DB8BA-B2CF-48B1-B348-EE54B37FD24E}"/>
              </a:ext>
            </a:extLst>
          </p:cNvPr>
          <p:cNvSpPr/>
          <p:nvPr/>
        </p:nvSpPr>
        <p:spPr>
          <a:xfrm>
            <a:off x="3122206" y="3175856"/>
            <a:ext cx="3934712" cy="1669710"/>
          </a:xfrm>
          <a:custGeom>
            <a:avLst/>
            <a:gdLst>
              <a:gd name="connsiteX0" fmla="*/ 0 w 5298831"/>
              <a:gd name="connsiteY0" fmla="*/ 0 h 2297730"/>
              <a:gd name="connsiteX1" fmla="*/ 1160584 w 5298831"/>
              <a:gd name="connsiteY1" fmla="*/ 1453662 h 2297730"/>
              <a:gd name="connsiteX2" fmla="*/ 2637692 w 5298831"/>
              <a:gd name="connsiteY2" fmla="*/ 2297724 h 2297730"/>
              <a:gd name="connsiteX3" fmla="*/ 5298831 w 5298831"/>
              <a:gd name="connsiteY3" fmla="*/ 1441939 h 2297730"/>
            </a:gdLst>
            <a:ahLst/>
            <a:cxnLst>
              <a:cxn ang="0">
                <a:pos x="connsiteX0" y="connsiteY0"/>
              </a:cxn>
              <a:cxn ang="0">
                <a:pos x="connsiteX1" y="connsiteY1"/>
              </a:cxn>
              <a:cxn ang="0">
                <a:pos x="connsiteX2" y="connsiteY2"/>
              </a:cxn>
              <a:cxn ang="0">
                <a:pos x="connsiteX3" y="connsiteY3"/>
              </a:cxn>
            </a:cxnLst>
            <a:rect l="l" t="t" r="r" b="b"/>
            <a:pathLst>
              <a:path w="5298831" h="2297730">
                <a:moveTo>
                  <a:pt x="0" y="0"/>
                </a:moveTo>
                <a:cubicBezTo>
                  <a:pt x="360484" y="535354"/>
                  <a:pt x="720969" y="1070708"/>
                  <a:pt x="1160584" y="1453662"/>
                </a:cubicBezTo>
                <a:cubicBezTo>
                  <a:pt x="1600199" y="1836616"/>
                  <a:pt x="1947984" y="2299678"/>
                  <a:pt x="2637692" y="2297724"/>
                </a:cubicBezTo>
                <a:cubicBezTo>
                  <a:pt x="3327400" y="2295770"/>
                  <a:pt x="4313115" y="1868854"/>
                  <a:pt x="5298831" y="1441939"/>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FF0000"/>
              </a:solidFill>
            </a:endParaRPr>
          </a:p>
        </p:txBody>
      </p:sp>
      <p:sp>
        <p:nvSpPr>
          <p:cNvPr id="11" name="TextBox 10">
            <a:extLst>
              <a:ext uri="{FF2B5EF4-FFF2-40B4-BE49-F238E27FC236}">
                <a16:creationId xmlns:a16="http://schemas.microsoft.com/office/drawing/2014/main" id="{BA38DA79-401E-47FD-AAAD-A3D882AB5A4B}"/>
              </a:ext>
            </a:extLst>
          </p:cNvPr>
          <p:cNvSpPr txBox="1"/>
          <p:nvPr/>
        </p:nvSpPr>
        <p:spPr>
          <a:xfrm>
            <a:off x="4075039" y="3959094"/>
            <a:ext cx="505139" cy="323165"/>
          </a:xfrm>
          <a:prstGeom prst="rect">
            <a:avLst/>
          </a:prstGeom>
          <a:noFill/>
        </p:spPr>
        <p:txBody>
          <a:bodyPr wrap="none" rtlCol="0">
            <a:spAutoFit/>
          </a:bodyPr>
          <a:lstStyle/>
          <a:p>
            <a:r>
              <a:rPr lang="en-US" sz="1500" b="1" dirty="0">
                <a:solidFill>
                  <a:schemeClr val="accent2">
                    <a:lumMod val="75000"/>
                  </a:schemeClr>
                </a:solidFill>
              </a:rPr>
              <a:t>AVC</a:t>
            </a:r>
          </a:p>
        </p:txBody>
      </p:sp>
      <p:sp>
        <p:nvSpPr>
          <p:cNvPr id="12" name="TextBox 11">
            <a:extLst>
              <a:ext uri="{FF2B5EF4-FFF2-40B4-BE49-F238E27FC236}">
                <a16:creationId xmlns:a16="http://schemas.microsoft.com/office/drawing/2014/main" id="{24B52F36-C69C-44D2-862D-DCF656D45E67}"/>
              </a:ext>
            </a:extLst>
          </p:cNvPr>
          <p:cNvSpPr txBox="1"/>
          <p:nvPr/>
        </p:nvSpPr>
        <p:spPr>
          <a:xfrm>
            <a:off x="6301474" y="5459539"/>
            <a:ext cx="431323" cy="323165"/>
          </a:xfrm>
          <a:prstGeom prst="rect">
            <a:avLst/>
          </a:prstGeom>
          <a:noFill/>
        </p:spPr>
        <p:txBody>
          <a:bodyPr wrap="square" rtlCol="0">
            <a:spAutoFit/>
          </a:bodyPr>
          <a:lstStyle/>
          <a:p>
            <a:r>
              <a:rPr lang="en-US" sz="1500" b="1" dirty="0">
                <a:solidFill>
                  <a:schemeClr val="accent2">
                    <a:lumMod val="75000"/>
                  </a:schemeClr>
                </a:solidFill>
              </a:rPr>
              <a:t>X1</a:t>
            </a:r>
          </a:p>
        </p:txBody>
      </p:sp>
      <p:sp>
        <p:nvSpPr>
          <p:cNvPr id="13" name="TextBox 12">
            <a:extLst>
              <a:ext uri="{FF2B5EF4-FFF2-40B4-BE49-F238E27FC236}">
                <a16:creationId xmlns:a16="http://schemas.microsoft.com/office/drawing/2014/main" id="{DD2C4480-CC24-4558-B302-61DE30E4419C}"/>
              </a:ext>
            </a:extLst>
          </p:cNvPr>
          <p:cNvSpPr txBox="1"/>
          <p:nvPr/>
        </p:nvSpPr>
        <p:spPr>
          <a:xfrm>
            <a:off x="2853479" y="2178898"/>
            <a:ext cx="287258" cy="323165"/>
          </a:xfrm>
          <a:prstGeom prst="rect">
            <a:avLst/>
          </a:prstGeom>
          <a:noFill/>
        </p:spPr>
        <p:txBody>
          <a:bodyPr wrap="none" rtlCol="0">
            <a:spAutoFit/>
          </a:bodyPr>
          <a:lstStyle/>
          <a:p>
            <a:r>
              <a:rPr lang="en-US" sz="1500" b="1" dirty="0">
                <a:solidFill>
                  <a:schemeClr val="accent2">
                    <a:lumMod val="75000"/>
                  </a:schemeClr>
                </a:solidFill>
              </a:rPr>
              <a:t>P</a:t>
            </a:r>
          </a:p>
        </p:txBody>
      </p:sp>
      <p:sp>
        <p:nvSpPr>
          <p:cNvPr id="14" name="TextBox 13">
            <a:extLst>
              <a:ext uri="{FF2B5EF4-FFF2-40B4-BE49-F238E27FC236}">
                <a16:creationId xmlns:a16="http://schemas.microsoft.com/office/drawing/2014/main" id="{DA629CBA-4D40-4D9C-BE7B-6AE9E26CD129}"/>
              </a:ext>
            </a:extLst>
          </p:cNvPr>
          <p:cNvSpPr txBox="1"/>
          <p:nvPr/>
        </p:nvSpPr>
        <p:spPr>
          <a:xfrm>
            <a:off x="2496777" y="4710552"/>
            <a:ext cx="715260" cy="253916"/>
          </a:xfrm>
          <a:prstGeom prst="rect">
            <a:avLst/>
          </a:prstGeom>
          <a:noFill/>
        </p:spPr>
        <p:txBody>
          <a:bodyPr wrap="none" rtlCol="0">
            <a:spAutoFit/>
          </a:bodyPr>
          <a:lstStyle/>
          <a:p>
            <a:r>
              <a:rPr lang="en-US" sz="1050" b="1" dirty="0">
                <a:solidFill>
                  <a:schemeClr val="accent2">
                    <a:lumMod val="75000"/>
                  </a:schemeClr>
                </a:solidFill>
              </a:rPr>
              <a:t>min(AVC)</a:t>
            </a:r>
          </a:p>
        </p:txBody>
      </p:sp>
      <p:cxnSp>
        <p:nvCxnSpPr>
          <p:cNvPr id="15" name="מחבר ישר 13">
            <a:extLst>
              <a:ext uri="{FF2B5EF4-FFF2-40B4-BE49-F238E27FC236}">
                <a16:creationId xmlns:a16="http://schemas.microsoft.com/office/drawing/2014/main" id="{893BC0FD-74C0-4B49-9501-1D33525468FD}"/>
              </a:ext>
            </a:extLst>
          </p:cNvPr>
          <p:cNvCxnSpPr>
            <a:cxnSpLocks/>
          </p:cNvCxnSpPr>
          <p:nvPr/>
        </p:nvCxnSpPr>
        <p:spPr>
          <a:xfrm flipH="1">
            <a:off x="3192307" y="4845568"/>
            <a:ext cx="4116815" cy="48385"/>
          </a:xfrm>
          <a:prstGeom prst="line">
            <a:avLst/>
          </a:prstGeom>
          <a:ln w="28575">
            <a:prstDash val="sysDash"/>
          </a:ln>
        </p:spPr>
        <p:style>
          <a:lnRef idx="3">
            <a:schemeClr val="accent2"/>
          </a:lnRef>
          <a:fillRef idx="0">
            <a:schemeClr val="accent2"/>
          </a:fillRef>
          <a:effectRef idx="2">
            <a:schemeClr val="accent2"/>
          </a:effectRef>
          <a:fontRef idx="minor">
            <a:schemeClr val="tx1"/>
          </a:fontRef>
        </p:style>
      </p:cxnSp>
      <p:cxnSp>
        <p:nvCxnSpPr>
          <p:cNvPr id="16" name="מחבר ישר 15">
            <a:extLst>
              <a:ext uri="{FF2B5EF4-FFF2-40B4-BE49-F238E27FC236}">
                <a16:creationId xmlns:a16="http://schemas.microsoft.com/office/drawing/2014/main" id="{8AB66E53-A0C0-4E2B-A258-59D43EAF79BA}"/>
              </a:ext>
            </a:extLst>
          </p:cNvPr>
          <p:cNvCxnSpPr>
            <a:cxnSpLocks/>
          </p:cNvCxnSpPr>
          <p:nvPr/>
        </p:nvCxnSpPr>
        <p:spPr>
          <a:xfrm flipV="1">
            <a:off x="3166522" y="4929124"/>
            <a:ext cx="6927" cy="491192"/>
          </a:xfrm>
          <a:prstGeom prst="line">
            <a:avLst/>
          </a:prstGeom>
          <a:ln w="1397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7" name="מחבר ישר 17">
            <a:extLst>
              <a:ext uri="{FF2B5EF4-FFF2-40B4-BE49-F238E27FC236}">
                <a16:creationId xmlns:a16="http://schemas.microsoft.com/office/drawing/2014/main" id="{B09C483D-3911-491A-8209-0AEAD7E4413A}"/>
              </a:ext>
            </a:extLst>
          </p:cNvPr>
          <p:cNvCxnSpPr/>
          <p:nvPr/>
        </p:nvCxnSpPr>
        <p:spPr>
          <a:xfrm flipV="1">
            <a:off x="5061956" y="3945695"/>
            <a:ext cx="801698" cy="868866"/>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8" name="מחבר ישר 18">
            <a:extLst>
              <a:ext uri="{FF2B5EF4-FFF2-40B4-BE49-F238E27FC236}">
                <a16:creationId xmlns:a16="http://schemas.microsoft.com/office/drawing/2014/main" id="{51C0C3E2-3ED0-47F1-BD80-F7AD59EE6576}"/>
              </a:ext>
            </a:extLst>
          </p:cNvPr>
          <p:cNvCxnSpPr>
            <a:cxnSpLocks/>
          </p:cNvCxnSpPr>
          <p:nvPr/>
        </p:nvCxnSpPr>
        <p:spPr>
          <a:xfrm flipV="1">
            <a:off x="5842315" y="2753224"/>
            <a:ext cx="1020029" cy="120587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sp>
        <p:nvSpPr>
          <p:cNvPr id="19" name="צורה חופשית 20">
            <a:extLst>
              <a:ext uri="{FF2B5EF4-FFF2-40B4-BE49-F238E27FC236}">
                <a16:creationId xmlns:a16="http://schemas.microsoft.com/office/drawing/2014/main" id="{6FF6AA0B-78D2-4F37-BB19-19444E9BD2D2}"/>
              </a:ext>
            </a:extLst>
          </p:cNvPr>
          <p:cNvSpPr/>
          <p:nvPr/>
        </p:nvSpPr>
        <p:spPr>
          <a:xfrm>
            <a:off x="3833105" y="2561544"/>
            <a:ext cx="3579656" cy="1723298"/>
          </a:xfrm>
          <a:custGeom>
            <a:avLst/>
            <a:gdLst>
              <a:gd name="connsiteX0" fmla="*/ 0 w 5298831"/>
              <a:gd name="connsiteY0" fmla="*/ 0 h 2297730"/>
              <a:gd name="connsiteX1" fmla="*/ 1160584 w 5298831"/>
              <a:gd name="connsiteY1" fmla="*/ 1453662 h 2297730"/>
              <a:gd name="connsiteX2" fmla="*/ 2637692 w 5298831"/>
              <a:gd name="connsiteY2" fmla="*/ 2297724 h 2297730"/>
              <a:gd name="connsiteX3" fmla="*/ 5298831 w 5298831"/>
              <a:gd name="connsiteY3" fmla="*/ 1441939 h 2297730"/>
            </a:gdLst>
            <a:ahLst/>
            <a:cxnLst>
              <a:cxn ang="0">
                <a:pos x="connsiteX0" y="connsiteY0"/>
              </a:cxn>
              <a:cxn ang="0">
                <a:pos x="connsiteX1" y="connsiteY1"/>
              </a:cxn>
              <a:cxn ang="0">
                <a:pos x="connsiteX2" y="connsiteY2"/>
              </a:cxn>
              <a:cxn ang="0">
                <a:pos x="connsiteX3" y="connsiteY3"/>
              </a:cxn>
            </a:cxnLst>
            <a:rect l="l" t="t" r="r" b="b"/>
            <a:pathLst>
              <a:path w="5298831" h="2297730">
                <a:moveTo>
                  <a:pt x="0" y="0"/>
                </a:moveTo>
                <a:cubicBezTo>
                  <a:pt x="360484" y="535354"/>
                  <a:pt x="720969" y="1070708"/>
                  <a:pt x="1160584" y="1453662"/>
                </a:cubicBezTo>
                <a:cubicBezTo>
                  <a:pt x="1600199" y="1836616"/>
                  <a:pt x="1947984" y="2299678"/>
                  <a:pt x="2637692" y="2297724"/>
                </a:cubicBezTo>
                <a:cubicBezTo>
                  <a:pt x="3327400" y="2295770"/>
                  <a:pt x="4313115" y="1868854"/>
                  <a:pt x="5298831" y="1441939"/>
                </a:cubicBezTo>
              </a:path>
            </a:pathLst>
          </a:custGeom>
          <a:noFill/>
          <a:ln w="571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FF0000"/>
              </a:solidFill>
            </a:endParaRPr>
          </a:p>
        </p:txBody>
      </p:sp>
      <p:sp>
        <p:nvSpPr>
          <p:cNvPr id="20" name="TextBox 19">
            <a:extLst>
              <a:ext uri="{FF2B5EF4-FFF2-40B4-BE49-F238E27FC236}">
                <a16:creationId xmlns:a16="http://schemas.microsoft.com/office/drawing/2014/main" id="{FAD2A819-9DF3-4E06-824E-2E6E2E61AD8D}"/>
              </a:ext>
            </a:extLst>
          </p:cNvPr>
          <p:cNvSpPr txBox="1"/>
          <p:nvPr/>
        </p:nvSpPr>
        <p:spPr>
          <a:xfrm>
            <a:off x="7131065" y="3323749"/>
            <a:ext cx="479619" cy="323165"/>
          </a:xfrm>
          <a:prstGeom prst="rect">
            <a:avLst/>
          </a:prstGeom>
          <a:noFill/>
        </p:spPr>
        <p:txBody>
          <a:bodyPr wrap="none" rtlCol="0">
            <a:spAutoFit/>
          </a:bodyPr>
          <a:lstStyle/>
          <a:p>
            <a:r>
              <a:rPr lang="en-US" sz="1500" b="1" dirty="0">
                <a:solidFill>
                  <a:schemeClr val="accent1"/>
                </a:solidFill>
              </a:rPr>
              <a:t>ATC</a:t>
            </a:r>
          </a:p>
        </p:txBody>
      </p:sp>
      <p:sp>
        <p:nvSpPr>
          <p:cNvPr id="4" name="Oval 3"/>
          <p:cNvSpPr/>
          <p:nvPr/>
        </p:nvSpPr>
        <p:spPr>
          <a:xfrm>
            <a:off x="5499866" y="4221907"/>
            <a:ext cx="169739" cy="1363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350"/>
          </a:p>
        </p:txBody>
      </p:sp>
      <p:sp>
        <p:nvSpPr>
          <p:cNvPr id="24" name="Oval 23"/>
          <p:cNvSpPr/>
          <p:nvPr/>
        </p:nvSpPr>
        <p:spPr>
          <a:xfrm>
            <a:off x="4911125" y="4763469"/>
            <a:ext cx="169739" cy="13632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endParaRPr lang="he-IL" sz="1350"/>
          </a:p>
        </p:txBody>
      </p:sp>
      <p:cxnSp>
        <p:nvCxnSpPr>
          <p:cNvPr id="22" name="Straight Connector 21"/>
          <p:cNvCxnSpPr/>
          <p:nvPr/>
        </p:nvCxnSpPr>
        <p:spPr>
          <a:xfrm flipV="1">
            <a:off x="3166522" y="3053601"/>
            <a:ext cx="3408218" cy="30093"/>
          </a:xfrm>
          <a:prstGeom prst="line">
            <a:avLst/>
          </a:prstGeom>
          <a:ln w="571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D2C4480-CC24-4558-B302-61DE30E4419C}"/>
              </a:ext>
            </a:extLst>
          </p:cNvPr>
          <p:cNvSpPr txBox="1"/>
          <p:nvPr/>
        </p:nvSpPr>
        <p:spPr>
          <a:xfrm>
            <a:off x="2770761" y="2899369"/>
            <a:ext cx="385042" cy="323165"/>
          </a:xfrm>
          <a:prstGeom prst="rect">
            <a:avLst/>
          </a:prstGeom>
          <a:noFill/>
        </p:spPr>
        <p:txBody>
          <a:bodyPr wrap="none" rtlCol="0">
            <a:spAutoFit/>
          </a:bodyPr>
          <a:lstStyle/>
          <a:p>
            <a:r>
              <a:rPr lang="en-US" sz="1500" b="1" dirty="0">
                <a:solidFill>
                  <a:schemeClr val="bg2">
                    <a:lumMod val="25000"/>
                  </a:schemeClr>
                </a:solidFill>
              </a:rPr>
              <a:t>P1</a:t>
            </a:r>
          </a:p>
        </p:txBody>
      </p:sp>
      <p:sp>
        <p:nvSpPr>
          <p:cNvPr id="34" name="Oval 33"/>
          <p:cNvSpPr/>
          <p:nvPr/>
        </p:nvSpPr>
        <p:spPr>
          <a:xfrm>
            <a:off x="6483964" y="2980500"/>
            <a:ext cx="215660" cy="21616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1" anchor="ctr"/>
          <a:lstStyle/>
          <a:p>
            <a:pPr algn="ctr"/>
            <a:r>
              <a:rPr lang="en-US" sz="1350" dirty="0"/>
              <a:t>A</a:t>
            </a:r>
            <a:endParaRPr lang="he-IL" sz="1350" dirty="0"/>
          </a:p>
        </p:txBody>
      </p:sp>
      <p:cxnSp>
        <p:nvCxnSpPr>
          <p:cNvPr id="35" name="Straight Connector 34"/>
          <p:cNvCxnSpPr/>
          <p:nvPr/>
        </p:nvCxnSpPr>
        <p:spPr>
          <a:xfrm flipV="1">
            <a:off x="6591795" y="3081632"/>
            <a:ext cx="17800" cy="2368380"/>
          </a:xfrm>
          <a:prstGeom prst="line">
            <a:avLst/>
          </a:prstGeom>
          <a:ln w="57150">
            <a:solidFill>
              <a:schemeClr val="bg2">
                <a:lumMod val="25000"/>
              </a:schemeClr>
            </a:solidFill>
            <a:prstDash val="dash"/>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6483965" y="3938284"/>
            <a:ext cx="235795" cy="20875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1" anchor="ctr"/>
          <a:lstStyle/>
          <a:p>
            <a:pPr algn="ctr"/>
            <a:r>
              <a:rPr lang="en-US" sz="1350" dirty="0"/>
              <a:t>B</a:t>
            </a:r>
            <a:endParaRPr lang="he-IL" sz="1350" dirty="0"/>
          </a:p>
        </p:txBody>
      </p:sp>
      <p:sp>
        <p:nvSpPr>
          <p:cNvPr id="23" name="Slide Number Placeholder 22">
            <a:extLst>
              <a:ext uri="{FF2B5EF4-FFF2-40B4-BE49-F238E27FC236}">
                <a16:creationId xmlns:a16="http://schemas.microsoft.com/office/drawing/2014/main" id="{D559B2A4-9B1D-44B6-AC6A-F2D057E37FD0}"/>
              </a:ext>
            </a:extLst>
          </p:cNvPr>
          <p:cNvSpPr>
            <a:spLocks noGrp="1"/>
          </p:cNvSpPr>
          <p:nvPr>
            <p:ph type="sldNum" sz="quarter" idx="12"/>
          </p:nvPr>
        </p:nvSpPr>
        <p:spPr/>
        <p:txBody>
          <a:bodyPr/>
          <a:lstStyle/>
          <a:p>
            <a:fld id="{492DB488-E800-4C9D-A68D-A9C6D048BCD3}" type="slidenum">
              <a:rPr lang="he-IL" smtClean="0"/>
              <a:pPr/>
              <a:t>55</a:t>
            </a:fld>
            <a:endParaRPr lang="he-IL"/>
          </a:p>
        </p:txBody>
      </p:sp>
      <p:sp>
        <p:nvSpPr>
          <p:cNvPr id="32" name="TextBox 31">
            <a:extLst>
              <a:ext uri="{FF2B5EF4-FFF2-40B4-BE49-F238E27FC236}">
                <a16:creationId xmlns:a16="http://schemas.microsoft.com/office/drawing/2014/main" id="{30F25A99-F747-4992-A1B1-F154D8693E4F}"/>
              </a:ext>
            </a:extLst>
          </p:cNvPr>
          <p:cNvSpPr txBox="1"/>
          <p:nvPr/>
        </p:nvSpPr>
        <p:spPr>
          <a:xfrm>
            <a:off x="7719189" y="3728305"/>
            <a:ext cx="4063414" cy="2632003"/>
          </a:xfrm>
          <a:prstGeom prst="rect">
            <a:avLst/>
          </a:prstGeom>
          <a:solidFill>
            <a:schemeClr val="bg2">
              <a:lumMod val="90000"/>
            </a:schemeClr>
          </a:solidFill>
        </p:spPr>
        <p:txBody>
          <a:bodyPr wrap="square" rtlCol="1">
            <a:spAutoFit/>
          </a:bodyPr>
          <a:lstStyle/>
          <a:p>
            <a:pPr>
              <a:lnSpc>
                <a:spcPct val="150000"/>
              </a:lnSpc>
            </a:pPr>
            <a:r>
              <a:rPr lang="he-IL" sz="1600" dirty="0"/>
              <a:t>במחיר </a:t>
            </a:r>
            <a:r>
              <a:rPr lang="en-US" sz="1600" dirty="0"/>
              <a:t>P1</a:t>
            </a:r>
            <a:r>
              <a:rPr lang="he-IL" sz="1600" dirty="0"/>
              <a:t> (הגבוה ממינימום </a:t>
            </a:r>
            <a:r>
              <a:rPr lang="en-US" sz="1600" dirty="0"/>
              <a:t>ATC</a:t>
            </a:r>
            <a:r>
              <a:rPr lang="he-IL" sz="1600" dirty="0"/>
              <a:t>), הפירמה תייצר הן בטווח הקצר והן בטווח הארוך אך לא ייתכן שזהו המחיר כיוון שבנתוני השאלה נתון</a:t>
            </a:r>
            <a:r>
              <a:rPr lang="he-IL" sz="1600" b="1" dirty="0"/>
              <a:t> שהפירמה מייצרת כמות חיובית </a:t>
            </a:r>
            <a:r>
              <a:rPr lang="he-IL" sz="1600" dirty="0"/>
              <a:t>בתחום שבו </a:t>
            </a:r>
            <a:r>
              <a:rPr lang="he-IL" sz="1600" b="1" dirty="0">
                <a:solidFill>
                  <a:schemeClr val="tx2"/>
                </a:solidFill>
              </a:rPr>
              <a:t>העלות הכוללת הממוצעת (</a:t>
            </a:r>
            <a:r>
              <a:rPr lang="en-US" sz="1600" b="1" dirty="0">
                <a:solidFill>
                  <a:schemeClr val="tx2"/>
                </a:solidFill>
              </a:rPr>
              <a:t>ATC</a:t>
            </a:r>
            <a:r>
              <a:rPr lang="he-IL" sz="1600" b="1" dirty="0">
                <a:solidFill>
                  <a:schemeClr val="tx2"/>
                </a:solidFill>
              </a:rPr>
              <a:t>) במגמת ירידה </a:t>
            </a:r>
            <a:r>
              <a:rPr lang="he-IL" sz="1600" b="1" dirty="0">
                <a:solidFill>
                  <a:srgbClr val="FF0000"/>
                </a:solidFill>
              </a:rPr>
              <a:t>ואילו בנקודה </a:t>
            </a:r>
            <a:r>
              <a:rPr lang="en-US" sz="1600" b="1" dirty="0">
                <a:solidFill>
                  <a:srgbClr val="FF0000"/>
                </a:solidFill>
              </a:rPr>
              <a:t>B</a:t>
            </a:r>
            <a:r>
              <a:rPr lang="he-IL" sz="1600" b="1" dirty="0">
                <a:solidFill>
                  <a:srgbClr val="FF0000"/>
                </a:solidFill>
              </a:rPr>
              <a:t> העלות הכוללת ממוצעת הינה במגמת עלייה</a:t>
            </a:r>
            <a:r>
              <a:rPr lang="he-IL" sz="1600" dirty="0"/>
              <a:t>.</a:t>
            </a:r>
          </a:p>
        </p:txBody>
      </p:sp>
      <p:sp>
        <p:nvSpPr>
          <p:cNvPr id="36" name="TextBox 35">
            <a:extLst>
              <a:ext uri="{FF2B5EF4-FFF2-40B4-BE49-F238E27FC236}">
                <a16:creationId xmlns:a16="http://schemas.microsoft.com/office/drawing/2014/main" id="{2DF4EEE0-D005-4D89-9B29-5BDDB1E9363A}"/>
              </a:ext>
            </a:extLst>
          </p:cNvPr>
          <p:cNvSpPr txBox="1"/>
          <p:nvPr/>
        </p:nvSpPr>
        <p:spPr>
          <a:xfrm>
            <a:off x="9617124" y="2980500"/>
            <a:ext cx="2087598" cy="584775"/>
          </a:xfrm>
          <a:prstGeom prst="rect">
            <a:avLst/>
          </a:prstGeom>
          <a:solidFill>
            <a:schemeClr val="bg2">
              <a:lumMod val="90000"/>
            </a:schemeClr>
          </a:solidFill>
        </p:spPr>
        <p:txBody>
          <a:bodyPr wrap="square" rtlCol="0">
            <a:spAutoFit/>
          </a:bodyPr>
          <a:lstStyle/>
          <a:p>
            <a:r>
              <a:rPr lang="he-IL" sz="1600" dirty="0"/>
              <a:t>האם ייתכן שהמחיר בשוק הינו </a:t>
            </a:r>
            <a:r>
              <a:rPr lang="en-US" sz="1600" b="1" dirty="0"/>
              <a:t>P1</a:t>
            </a:r>
            <a:r>
              <a:rPr lang="he-IL" sz="1600" dirty="0"/>
              <a:t>?</a:t>
            </a:r>
            <a:r>
              <a:rPr lang="en-US" sz="1600" dirty="0"/>
              <a:t> </a:t>
            </a:r>
            <a:endParaRPr lang="en-IL" sz="1600" dirty="0"/>
          </a:p>
        </p:txBody>
      </p:sp>
      <p:sp>
        <p:nvSpPr>
          <p:cNvPr id="21" name="Rectangle 1">
            <a:extLst>
              <a:ext uri="{FF2B5EF4-FFF2-40B4-BE49-F238E27FC236}">
                <a16:creationId xmlns:a16="http://schemas.microsoft.com/office/drawing/2014/main" id="{8778F2F2-F8F4-F847-236D-BB4A2610395F}"/>
              </a:ext>
            </a:extLst>
          </p:cNvPr>
          <p:cNvSpPr/>
          <p:nvPr/>
        </p:nvSpPr>
        <p:spPr>
          <a:xfrm>
            <a:off x="4686429" y="1133209"/>
            <a:ext cx="7171916" cy="877356"/>
          </a:xfrm>
          <a:prstGeom prst="rect">
            <a:avLst/>
          </a:prstGeom>
        </p:spPr>
        <p:txBody>
          <a:bodyPr wrap="square">
            <a:spAutoFit/>
          </a:bodyPr>
          <a:lstStyle/>
          <a:p>
            <a:pPr marL="300038" lvl="1">
              <a:lnSpc>
                <a:spcPct val="170000"/>
              </a:lnSpc>
            </a:pPr>
            <a:r>
              <a:rPr lang="he-IL" sz="1600" dirty="0"/>
              <a:t>א. הרווח התפעולי של הפירמה שלילי</a:t>
            </a:r>
          </a:p>
          <a:p>
            <a:pPr marL="300038" lvl="1">
              <a:lnSpc>
                <a:spcPct val="170000"/>
              </a:lnSpc>
            </a:pPr>
            <a:r>
              <a:rPr lang="he-IL" sz="1600" dirty="0"/>
              <a:t>ג. בכמות המיוצרת מחיר המוצר </a:t>
            </a:r>
            <a:r>
              <a:rPr lang="en-US" sz="1600" dirty="0"/>
              <a:t> P</a:t>
            </a:r>
            <a:r>
              <a:rPr lang="he-IL" sz="1600" dirty="0"/>
              <a:t>גבוה מהעלות הכוללת הממוצעת ליחידה (</a:t>
            </a:r>
            <a:r>
              <a:rPr lang="en-US" sz="1600" dirty="0"/>
              <a:t>ATC</a:t>
            </a:r>
            <a:r>
              <a:rPr lang="he-IL" sz="1600" dirty="0"/>
              <a:t>)</a:t>
            </a:r>
          </a:p>
        </p:txBody>
      </p:sp>
      <p:sp>
        <p:nvSpPr>
          <p:cNvPr id="25" name="Rectangle 27">
            <a:extLst>
              <a:ext uri="{FF2B5EF4-FFF2-40B4-BE49-F238E27FC236}">
                <a16:creationId xmlns:a16="http://schemas.microsoft.com/office/drawing/2014/main" id="{14D02C37-6B8B-C5E5-3AFC-70961BEC799F}"/>
              </a:ext>
            </a:extLst>
          </p:cNvPr>
          <p:cNvSpPr/>
          <p:nvPr/>
        </p:nvSpPr>
        <p:spPr>
          <a:xfrm>
            <a:off x="5178887" y="1139762"/>
            <a:ext cx="3166572" cy="452945"/>
          </a:xfrm>
          <a:prstGeom prst="rect">
            <a:avLst/>
          </a:prstGeom>
        </p:spPr>
        <p:txBody>
          <a:bodyPr wrap="none">
            <a:spAutoFit/>
          </a:bodyPr>
          <a:lstStyle/>
          <a:p>
            <a:pPr marL="300038" lvl="1">
              <a:lnSpc>
                <a:spcPct val="170000"/>
              </a:lnSpc>
            </a:pPr>
            <a:r>
              <a:rPr lang="he-IL" sz="1600" dirty="0"/>
              <a:t>ב. הרווח הכולל של הפירמה שלילי</a:t>
            </a:r>
          </a:p>
        </p:txBody>
      </p:sp>
      <p:sp>
        <p:nvSpPr>
          <p:cNvPr id="26" name="Rectangle 29">
            <a:extLst>
              <a:ext uri="{FF2B5EF4-FFF2-40B4-BE49-F238E27FC236}">
                <a16:creationId xmlns:a16="http://schemas.microsoft.com/office/drawing/2014/main" id="{50974EF0-6FF5-CFBE-180C-643667D8D49B}"/>
              </a:ext>
            </a:extLst>
          </p:cNvPr>
          <p:cNvSpPr/>
          <p:nvPr/>
        </p:nvSpPr>
        <p:spPr>
          <a:xfrm>
            <a:off x="6258813" y="2014375"/>
            <a:ext cx="5637313" cy="458780"/>
          </a:xfrm>
          <a:prstGeom prst="rect">
            <a:avLst/>
          </a:prstGeom>
        </p:spPr>
        <p:txBody>
          <a:bodyPr wrap="none">
            <a:spAutoFit/>
          </a:bodyPr>
          <a:lstStyle/>
          <a:p>
            <a:pPr marL="300038" lvl="1">
              <a:lnSpc>
                <a:spcPct val="170000"/>
              </a:lnSpc>
            </a:pPr>
            <a:r>
              <a:rPr lang="he-IL" sz="1600" dirty="0"/>
              <a:t>ד. ייתכן ובכמות המיוצרת העלות המשתנה הממוצעת (</a:t>
            </a:r>
            <a:r>
              <a:rPr lang="en-US" sz="1600" dirty="0"/>
              <a:t>AVC</a:t>
            </a:r>
            <a:r>
              <a:rPr lang="he-IL" sz="1600" dirty="0"/>
              <a:t>) יורדת</a:t>
            </a:r>
          </a:p>
        </p:txBody>
      </p:sp>
      <p:sp>
        <p:nvSpPr>
          <p:cNvPr id="27" name="Rectangle 30">
            <a:extLst>
              <a:ext uri="{FF2B5EF4-FFF2-40B4-BE49-F238E27FC236}">
                <a16:creationId xmlns:a16="http://schemas.microsoft.com/office/drawing/2014/main" id="{3E89F689-758D-72A2-1CA0-66BD725041BB}"/>
              </a:ext>
            </a:extLst>
          </p:cNvPr>
          <p:cNvSpPr/>
          <p:nvPr/>
        </p:nvSpPr>
        <p:spPr>
          <a:xfrm>
            <a:off x="8252793" y="2547019"/>
            <a:ext cx="3579656" cy="458780"/>
          </a:xfrm>
          <a:prstGeom prst="rect">
            <a:avLst/>
          </a:prstGeom>
        </p:spPr>
        <p:txBody>
          <a:bodyPr wrap="square">
            <a:spAutoFit/>
          </a:bodyPr>
          <a:lstStyle/>
          <a:p>
            <a:pPr marL="300038" lvl="1">
              <a:lnSpc>
                <a:spcPct val="170000"/>
              </a:lnSpc>
            </a:pPr>
            <a:r>
              <a:rPr lang="he-IL" sz="1600" dirty="0"/>
              <a:t>ה. כל התשובות האחרות אינן נכונות</a:t>
            </a:r>
            <a:endParaRPr lang="en-US" sz="1600" dirty="0"/>
          </a:p>
        </p:txBody>
      </p:sp>
    </p:spTree>
    <p:extLst>
      <p:ext uri="{BB962C8B-B14F-4D97-AF65-F5344CB8AC3E}">
        <p14:creationId xmlns:p14="http://schemas.microsoft.com/office/powerpoint/2010/main" val="90303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down)">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8" grpId="0" animBg="1"/>
      <p:bldP spid="32" grpId="0" animBg="1"/>
      <p:bldP spid="3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כותרת 1"/>
          <p:cNvSpPr>
            <a:spLocks noGrp="1"/>
          </p:cNvSpPr>
          <p:nvPr>
            <p:ph type="title"/>
          </p:nvPr>
        </p:nvSpPr>
        <p:spPr>
          <a:xfrm>
            <a:off x="9304218" y="126110"/>
            <a:ext cx="2795631" cy="857250"/>
          </a:xfrm>
        </p:spPr>
        <p:txBody>
          <a:bodyPr>
            <a:normAutofit fontScale="90000"/>
          </a:bodyPr>
          <a:lstStyle/>
          <a:p>
            <a:pPr algn="r"/>
            <a:r>
              <a:rPr lang="he-IL" b="1" dirty="0">
                <a:solidFill>
                  <a:schemeClr val="tx2">
                    <a:lumMod val="75000"/>
                  </a:schemeClr>
                </a:solidFill>
                <a:cs typeface="+mn-cs"/>
              </a:rPr>
              <a:t>שאלת רשות</a:t>
            </a:r>
          </a:p>
        </p:txBody>
      </p:sp>
      <p:sp>
        <p:nvSpPr>
          <p:cNvPr id="3" name="מציין מיקום תוכן 2"/>
          <p:cNvSpPr>
            <a:spLocks noGrp="1"/>
          </p:cNvSpPr>
          <p:nvPr>
            <p:ph idx="1"/>
          </p:nvPr>
        </p:nvSpPr>
        <p:spPr>
          <a:xfrm>
            <a:off x="2227708" y="297601"/>
            <a:ext cx="6244577" cy="670936"/>
          </a:xfrm>
        </p:spPr>
        <p:txBody>
          <a:bodyPr>
            <a:normAutofit/>
          </a:bodyPr>
          <a:lstStyle/>
          <a:p>
            <a:pPr indent="0">
              <a:lnSpc>
                <a:spcPct val="170000"/>
              </a:lnSpc>
              <a:buNone/>
            </a:pPr>
            <a:r>
              <a:rPr lang="he-IL" sz="900" dirty="0"/>
              <a:t>פירמה פועלת בשוק תחרותי ויש לה עלות קבועה חיובית. העלות השולית פוחתת ולאחר מכן עולה. הפירמה ממקסמת את רווחיה וידוע </a:t>
            </a:r>
            <a:r>
              <a:rPr lang="he-IL" sz="900" b="1" dirty="0"/>
              <a:t>שהיא בחרה לייצר כמות חיובית</a:t>
            </a:r>
            <a:r>
              <a:rPr lang="he-IL" sz="900" dirty="0"/>
              <a:t> בתחום שבו </a:t>
            </a:r>
            <a:r>
              <a:rPr lang="he-IL" sz="900" b="1" dirty="0">
                <a:solidFill>
                  <a:schemeClr val="tx2"/>
                </a:solidFill>
              </a:rPr>
              <a:t>העלות הכוללת הממוצעת ליחידה (</a:t>
            </a:r>
            <a:r>
              <a:rPr lang="en-US" sz="900" b="1" dirty="0">
                <a:solidFill>
                  <a:schemeClr val="tx2"/>
                </a:solidFill>
              </a:rPr>
              <a:t>ATC</a:t>
            </a:r>
            <a:r>
              <a:rPr lang="he-IL" sz="900" b="1" dirty="0">
                <a:solidFill>
                  <a:schemeClr val="tx2"/>
                </a:solidFill>
              </a:rPr>
              <a:t>) יורדת. </a:t>
            </a:r>
            <a:r>
              <a:rPr lang="he-IL" sz="900" dirty="0"/>
              <a:t>לפיכך:</a:t>
            </a:r>
            <a:endParaRPr lang="en-US" sz="900" dirty="0"/>
          </a:p>
        </p:txBody>
      </p:sp>
      <p:sp>
        <p:nvSpPr>
          <p:cNvPr id="2" name="Rectangle 1">
            <a:extLst>
              <a:ext uri="{FF2B5EF4-FFF2-40B4-BE49-F238E27FC236}">
                <a16:creationId xmlns:a16="http://schemas.microsoft.com/office/drawing/2014/main" id="{CA04278B-821F-4D8F-831E-7AF94CB6DF44}"/>
              </a:ext>
            </a:extLst>
          </p:cNvPr>
          <p:cNvSpPr/>
          <p:nvPr/>
        </p:nvSpPr>
        <p:spPr>
          <a:xfrm>
            <a:off x="6766480" y="1348071"/>
            <a:ext cx="5075477" cy="681149"/>
          </a:xfrm>
          <a:prstGeom prst="rect">
            <a:avLst/>
          </a:prstGeom>
        </p:spPr>
        <p:txBody>
          <a:bodyPr wrap="square">
            <a:spAutoFit/>
          </a:bodyPr>
          <a:lstStyle/>
          <a:p>
            <a:pPr marL="300038" lvl="1">
              <a:lnSpc>
                <a:spcPct val="170000"/>
              </a:lnSpc>
            </a:pPr>
            <a:r>
              <a:rPr lang="he-IL" sz="1200" dirty="0"/>
              <a:t>א. הרווח התפעולי של הפירמה שלילי</a:t>
            </a:r>
          </a:p>
          <a:p>
            <a:pPr marL="300038" lvl="1">
              <a:lnSpc>
                <a:spcPct val="170000"/>
              </a:lnSpc>
            </a:pPr>
            <a:r>
              <a:rPr lang="he-IL" sz="1200" dirty="0"/>
              <a:t>ג. בכמות המיוצרת מחיר המוצר גבוה מהעלות הכוללת הממוצעת ליחידה (</a:t>
            </a:r>
            <a:r>
              <a:rPr lang="en-US" sz="1200" dirty="0"/>
              <a:t>ATC</a:t>
            </a:r>
            <a:r>
              <a:rPr lang="he-IL" sz="1050" dirty="0"/>
              <a:t>)</a:t>
            </a:r>
          </a:p>
        </p:txBody>
      </p:sp>
      <p:cxnSp>
        <p:nvCxnSpPr>
          <p:cNvPr id="5" name="מחבר ישר 2">
            <a:extLst>
              <a:ext uri="{FF2B5EF4-FFF2-40B4-BE49-F238E27FC236}">
                <a16:creationId xmlns:a16="http://schemas.microsoft.com/office/drawing/2014/main" id="{BDD97B3F-29E5-4FC1-BE64-6F61565E2870}"/>
              </a:ext>
            </a:extLst>
          </p:cNvPr>
          <p:cNvCxnSpPr>
            <a:cxnSpLocks/>
          </p:cNvCxnSpPr>
          <p:nvPr/>
        </p:nvCxnSpPr>
        <p:spPr>
          <a:xfrm>
            <a:off x="3155805" y="2316638"/>
            <a:ext cx="21437" cy="3072672"/>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מחבר ישר 4">
            <a:extLst>
              <a:ext uri="{FF2B5EF4-FFF2-40B4-BE49-F238E27FC236}">
                <a16:creationId xmlns:a16="http://schemas.microsoft.com/office/drawing/2014/main" id="{1572BF88-AE4E-47F3-8B41-6CEC5AC5D789}"/>
              </a:ext>
            </a:extLst>
          </p:cNvPr>
          <p:cNvCxnSpPr>
            <a:cxnSpLocks/>
          </p:cNvCxnSpPr>
          <p:nvPr/>
        </p:nvCxnSpPr>
        <p:spPr>
          <a:xfrm>
            <a:off x="3150572" y="5421010"/>
            <a:ext cx="3711772" cy="16631"/>
          </a:xfrm>
          <a:prstGeom prst="line">
            <a:avLst/>
          </a:prstGeom>
        </p:spPr>
        <p:style>
          <a:lnRef idx="1">
            <a:schemeClr val="accent1"/>
          </a:lnRef>
          <a:fillRef idx="0">
            <a:schemeClr val="accent1"/>
          </a:fillRef>
          <a:effectRef idx="0">
            <a:schemeClr val="accent1"/>
          </a:effectRef>
          <a:fontRef idx="minor">
            <a:schemeClr val="tx1"/>
          </a:fontRef>
        </p:style>
      </p:cxnSp>
      <p:sp>
        <p:nvSpPr>
          <p:cNvPr id="8" name="צורה חופשית 5">
            <a:extLst>
              <a:ext uri="{FF2B5EF4-FFF2-40B4-BE49-F238E27FC236}">
                <a16:creationId xmlns:a16="http://schemas.microsoft.com/office/drawing/2014/main" id="{700D213E-E3C5-4CCF-A2BB-1E2BA78AB6AA}"/>
              </a:ext>
            </a:extLst>
          </p:cNvPr>
          <p:cNvSpPr/>
          <p:nvPr/>
        </p:nvSpPr>
        <p:spPr>
          <a:xfrm>
            <a:off x="3125670" y="2780929"/>
            <a:ext cx="3761510" cy="2416744"/>
          </a:xfrm>
          <a:custGeom>
            <a:avLst/>
            <a:gdLst>
              <a:gd name="connsiteX0" fmla="*/ 0 w 5015346"/>
              <a:gd name="connsiteY0" fmla="*/ 2281382 h 3222325"/>
              <a:gd name="connsiteX1" fmla="*/ 1099128 w 5015346"/>
              <a:gd name="connsiteY1" fmla="*/ 3149600 h 3222325"/>
              <a:gd name="connsiteX2" fmla="*/ 2419928 w 5015346"/>
              <a:gd name="connsiteY2" fmla="*/ 2817091 h 3222325"/>
              <a:gd name="connsiteX3" fmla="*/ 5015346 w 5015346"/>
              <a:gd name="connsiteY3" fmla="*/ 0 h 3222325"/>
            </a:gdLst>
            <a:ahLst/>
            <a:cxnLst>
              <a:cxn ang="0">
                <a:pos x="connsiteX0" y="connsiteY0"/>
              </a:cxn>
              <a:cxn ang="0">
                <a:pos x="connsiteX1" y="connsiteY1"/>
              </a:cxn>
              <a:cxn ang="0">
                <a:pos x="connsiteX2" y="connsiteY2"/>
              </a:cxn>
              <a:cxn ang="0">
                <a:pos x="connsiteX3" y="connsiteY3"/>
              </a:cxn>
            </a:cxnLst>
            <a:rect l="l" t="t" r="r" b="b"/>
            <a:pathLst>
              <a:path w="5015346" h="3222325">
                <a:moveTo>
                  <a:pt x="0" y="2281382"/>
                </a:moveTo>
                <a:cubicBezTo>
                  <a:pt x="347903" y="2670848"/>
                  <a:pt x="695807" y="3060315"/>
                  <a:pt x="1099128" y="3149600"/>
                </a:cubicBezTo>
                <a:cubicBezTo>
                  <a:pt x="1502449" y="3238885"/>
                  <a:pt x="1767225" y="3342024"/>
                  <a:pt x="2419928" y="2817091"/>
                </a:cubicBezTo>
                <a:cubicBezTo>
                  <a:pt x="3072631" y="2292158"/>
                  <a:pt x="4043988" y="1146079"/>
                  <a:pt x="5015346" y="0"/>
                </a:cubicBezTo>
              </a:path>
            </a:pathLst>
          </a:custGeom>
          <a:ln w="57150">
            <a:solidFill>
              <a:schemeClr val="tx1"/>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350"/>
          </a:p>
        </p:txBody>
      </p:sp>
      <p:sp>
        <p:nvSpPr>
          <p:cNvPr id="9" name="TextBox 8">
            <a:extLst>
              <a:ext uri="{FF2B5EF4-FFF2-40B4-BE49-F238E27FC236}">
                <a16:creationId xmlns:a16="http://schemas.microsoft.com/office/drawing/2014/main" id="{051D280E-40D6-4369-82C4-7A478E704038}"/>
              </a:ext>
            </a:extLst>
          </p:cNvPr>
          <p:cNvSpPr txBox="1"/>
          <p:nvPr/>
        </p:nvSpPr>
        <p:spPr>
          <a:xfrm>
            <a:off x="6657964" y="2928940"/>
            <a:ext cx="455574" cy="323165"/>
          </a:xfrm>
          <a:prstGeom prst="rect">
            <a:avLst/>
          </a:prstGeom>
          <a:noFill/>
        </p:spPr>
        <p:txBody>
          <a:bodyPr wrap="none" rtlCol="0">
            <a:spAutoFit/>
          </a:bodyPr>
          <a:lstStyle/>
          <a:p>
            <a:r>
              <a:rPr lang="en-US" sz="1500" b="1" dirty="0">
                <a:solidFill>
                  <a:schemeClr val="accent3">
                    <a:lumMod val="75000"/>
                  </a:schemeClr>
                </a:solidFill>
              </a:rPr>
              <a:t>MC</a:t>
            </a:r>
          </a:p>
        </p:txBody>
      </p:sp>
      <p:sp>
        <p:nvSpPr>
          <p:cNvPr id="10" name="צורה חופשית 7">
            <a:extLst>
              <a:ext uri="{FF2B5EF4-FFF2-40B4-BE49-F238E27FC236}">
                <a16:creationId xmlns:a16="http://schemas.microsoft.com/office/drawing/2014/main" id="{5D9DB8BA-B2CF-48B1-B348-EE54B37FD24E}"/>
              </a:ext>
            </a:extLst>
          </p:cNvPr>
          <p:cNvSpPr/>
          <p:nvPr/>
        </p:nvSpPr>
        <p:spPr>
          <a:xfrm>
            <a:off x="3122206" y="3175856"/>
            <a:ext cx="3934712" cy="1669710"/>
          </a:xfrm>
          <a:custGeom>
            <a:avLst/>
            <a:gdLst>
              <a:gd name="connsiteX0" fmla="*/ 0 w 5298831"/>
              <a:gd name="connsiteY0" fmla="*/ 0 h 2297730"/>
              <a:gd name="connsiteX1" fmla="*/ 1160584 w 5298831"/>
              <a:gd name="connsiteY1" fmla="*/ 1453662 h 2297730"/>
              <a:gd name="connsiteX2" fmla="*/ 2637692 w 5298831"/>
              <a:gd name="connsiteY2" fmla="*/ 2297724 h 2297730"/>
              <a:gd name="connsiteX3" fmla="*/ 5298831 w 5298831"/>
              <a:gd name="connsiteY3" fmla="*/ 1441939 h 2297730"/>
            </a:gdLst>
            <a:ahLst/>
            <a:cxnLst>
              <a:cxn ang="0">
                <a:pos x="connsiteX0" y="connsiteY0"/>
              </a:cxn>
              <a:cxn ang="0">
                <a:pos x="connsiteX1" y="connsiteY1"/>
              </a:cxn>
              <a:cxn ang="0">
                <a:pos x="connsiteX2" y="connsiteY2"/>
              </a:cxn>
              <a:cxn ang="0">
                <a:pos x="connsiteX3" y="connsiteY3"/>
              </a:cxn>
            </a:cxnLst>
            <a:rect l="l" t="t" r="r" b="b"/>
            <a:pathLst>
              <a:path w="5298831" h="2297730">
                <a:moveTo>
                  <a:pt x="0" y="0"/>
                </a:moveTo>
                <a:cubicBezTo>
                  <a:pt x="360484" y="535354"/>
                  <a:pt x="720969" y="1070708"/>
                  <a:pt x="1160584" y="1453662"/>
                </a:cubicBezTo>
                <a:cubicBezTo>
                  <a:pt x="1600199" y="1836616"/>
                  <a:pt x="1947984" y="2299678"/>
                  <a:pt x="2637692" y="2297724"/>
                </a:cubicBezTo>
                <a:cubicBezTo>
                  <a:pt x="3327400" y="2295770"/>
                  <a:pt x="4313115" y="1868854"/>
                  <a:pt x="5298831" y="1441939"/>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FF0000"/>
              </a:solidFill>
            </a:endParaRPr>
          </a:p>
        </p:txBody>
      </p:sp>
      <p:sp>
        <p:nvSpPr>
          <p:cNvPr id="11" name="TextBox 10">
            <a:extLst>
              <a:ext uri="{FF2B5EF4-FFF2-40B4-BE49-F238E27FC236}">
                <a16:creationId xmlns:a16="http://schemas.microsoft.com/office/drawing/2014/main" id="{BA38DA79-401E-47FD-AAAD-A3D882AB5A4B}"/>
              </a:ext>
            </a:extLst>
          </p:cNvPr>
          <p:cNvSpPr txBox="1"/>
          <p:nvPr/>
        </p:nvSpPr>
        <p:spPr>
          <a:xfrm>
            <a:off x="6845861" y="4270560"/>
            <a:ext cx="505139" cy="323165"/>
          </a:xfrm>
          <a:prstGeom prst="rect">
            <a:avLst/>
          </a:prstGeom>
          <a:noFill/>
        </p:spPr>
        <p:txBody>
          <a:bodyPr wrap="none" rtlCol="0">
            <a:spAutoFit/>
          </a:bodyPr>
          <a:lstStyle/>
          <a:p>
            <a:r>
              <a:rPr lang="en-US" sz="1500" b="1" dirty="0">
                <a:solidFill>
                  <a:schemeClr val="accent2">
                    <a:lumMod val="75000"/>
                  </a:schemeClr>
                </a:solidFill>
              </a:rPr>
              <a:t>AVC</a:t>
            </a:r>
          </a:p>
        </p:txBody>
      </p:sp>
      <p:sp>
        <p:nvSpPr>
          <p:cNvPr id="12" name="TextBox 11">
            <a:extLst>
              <a:ext uri="{FF2B5EF4-FFF2-40B4-BE49-F238E27FC236}">
                <a16:creationId xmlns:a16="http://schemas.microsoft.com/office/drawing/2014/main" id="{24B52F36-C69C-44D2-862D-DCF656D45E67}"/>
              </a:ext>
            </a:extLst>
          </p:cNvPr>
          <p:cNvSpPr txBox="1"/>
          <p:nvPr/>
        </p:nvSpPr>
        <p:spPr>
          <a:xfrm>
            <a:off x="5127218" y="5423805"/>
            <a:ext cx="426754" cy="323165"/>
          </a:xfrm>
          <a:prstGeom prst="rect">
            <a:avLst/>
          </a:prstGeom>
          <a:noFill/>
        </p:spPr>
        <p:txBody>
          <a:bodyPr wrap="square" rtlCol="0">
            <a:spAutoFit/>
          </a:bodyPr>
          <a:lstStyle/>
          <a:p>
            <a:r>
              <a:rPr lang="en-US" sz="1500" b="1" dirty="0">
                <a:solidFill>
                  <a:schemeClr val="bg2">
                    <a:lumMod val="25000"/>
                  </a:schemeClr>
                </a:solidFill>
              </a:rPr>
              <a:t>X2</a:t>
            </a:r>
          </a:p>
        </p:txBody>
      </p:sp>
      <p:sp>
        <p:nvSpPr>
          <p:cNvPr id="13" name="TextBox 12">
            <a:extLst>
              <a:ext uri="{FF2B5EF4-FFF2-40B4-BE49-F238E27FC236}">
                <a16:creationId xmlns:a16="http://schemas.microsoft.com/office/drawing/2014/main" id="{DD2C4480-CC24-4558-B302-61DE30E4419C}"/>
              </a:ext>
            </a:extLst>
          </p:cNvPr>
          <p:cNvSpPr txBox="1"/>
          <p:nvPr/>
        </p:nvSpPr>
        <p:spPr>
          <a:xfrm>
            <a:off x="2729910" y="4379130"/>
            <a:ext cx="385042" cy="323165"/>
          </a:xfrm>
          <a:prstGeom prst="rect">
            <a:avLst/>
          </a:prstGeom>
          <a:noFill/>
        </p:spPr>
        <p:txBody>
          <a:bodyPr wrap="none" rtlCol="0">
            <a:spAutoFit/>
          </a:bodyPr>
          <a:lstStyle/>
          <a:p>
            <a:r>
              <a:rPr lang="en-US" sz="1500" b="1" dirty="0">
                <a:solidFill>
                  <a:schemeClr val="bg2">
                    <a:lumMod val="25000"/>
                  </a:schemeClr>
                </a:solidFill>
              </a:rPr>
              <a:t>P2</a:t>
            </a:r>
          </a:p>
        </p:txBody>
      </p:sp>
      <p:sp>
        <p:nvSpPr>
          <p:cNvPr id="14" name="TextBox 13">
            <a:extLst>
              <a:ext uri="{FF2B5EF4-FFF2-40B4-BE49-F238E27FC236}">
                <a16:creationId xmlns:a16="http://schemas.microsoft.com/office/drawing/2014/main" id="{DA629CBA-4D40-4D9C-BE7B-6AE9E26CD129}"/>
              </a:ext>
            </a:extLst>
          </p:cNvPr>
          <p:cNvSpPr txBox="1"/>
          <p:nvPr/>
        </p:nvSpPr>
        <p:spPr>
          <a:xfrm>
            <a:off x="2496777" y="4710552"/>
            <a:ext cx="715260" cy="253916"/>
          </a:xfrm>
          <a:prstGeom prst="rect">
            <a:avLst/>
          </a:prstGeom>
          <a:noFill/>
        </p:spPr>
        <p:txBody>
          <a:bodyPr wrap="none" rtlCol="0">
            <a:spAutoFit/>
          </a:bodyPr>
          <a:lstStyle/>
          <a:p>
            <a:r>
              <a:rPr lang="en-US" sz="1050" b="1" dirty="0">
                <a:solidFill>
                  <a:schemeClr val="accent2">
                    <a:lumMod val="75000"/>
                  </a:schemeClr>
                </a:solidFill>
              </a:rPr>
              <a:t>min(AVC)</a:t>
            </a:r>
          </a:p>
        </p:txBody>
      </p:sp>
      <p:cxnSp>
        <p:nvCxnSpPr>
          <p:cNvPr id="15" name="מחבר ישר 13">
            <a:extLst>
              <a:ext uri="{FF2B5EF4-FFF2-40B4-BE49-F238E27FC236}">
                <a16:creationId xmlns:a16="http://schemas.microsoft.com/office/drawing/2014/main" id="{893BC0FD-74C0-4B49-9501-1D33525468FD}"/>
              </a:ext>
            </a:extLst>
          </p:cNvPr>
          <p:cNvCxnSpPr>
            <a:cxnSpLocks/>
          </p:cNvCxnSpPr>
          <p:nvPr/>
        </p:nvCxnSpPr>
        <p:spPr>
          <a:xfrm flipH="1">
            <a:off x="3192307" y="4845568"/>
            <a:ext cx="4116815" cy="48385"/>
          </a:xfrm>
          <a:prstGeom prst="line">
            <a:avLst/>
          </a:prstGeom>
          <a:ln w="28575">
            <a:prstDash val="sysDash"/>
          </a:ln>
        </p:spPr>
        <p:style>
          <a:lnRef idx="3">
            <a:schemeClr val="accent2"/>
          </a:lnRef>
          <a:fillRef idx="0">
            <a:schemeClr val="accent2"/>
          </a:fillRef>
          <a:effectRef idx="2">
            <a:schemeClr val="accent2"/>
          </a:effectRef>
          <a:fontRef idx="minor">
            <a:schemeClr val="tx1"/>
          </a:fontRef>
        </p:style>
      </p:cxnSp>
      <p:cxnSp>
        <p:nvCxnSpPr>
          <p:cNvPr id="16" name="מחבר ישר 15">
            <a:extLst>
              <a:ext uri="{FF2B5EF4-FFF2-40B4-BE49-F238E27FC236}">
                <a16:creationId xmlns:a16="http://schemas.microsoft.com/office/drawing/2014/main" id="{8AB66E53-A0C0-4E2B-A258-59D43EAF79BA}"/>
              </a:ext>
            </a:extLst>
          </p:cNvPr>
          <p:cNvCxnSpPr>
            <a:cxnSpLocks/>
          </p:cNvCxnSpPr>
          <p:nvPr/>
        </p:nvCxnSpPr>
        <p:spPr>
          <a:xfrm flipV="1">
            <a:off x="3166522" y="4929124"/>
            <a:ext cx="6927" cy="491192"/>
          </a:xfrm>
          <a:prstGeom prst="line">
            <a:avLst/>
          </a:prstGeom>
          <a:ln w="1397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7" name="מחבר ישר 17">
            <a:extLst>
              <a:ext uri="{FF2B5EF4-FFF2-40B4-BE49-F238E27FC236}">
                <a16:creationId xmlns:a16="http://schemas.microsoft.com/office/drawing/2014/main" id="{B09C483D-3911-491A-8209-0AEAD7E4413A}"/>
              </a:ext>
            </a:extLst>
          </p:cNvPr>
          <p:cNvCxnSpPr/>
          <p:nvPr/>
        </p:nvCxnSpPr>
        <p:spPr>
          <a:xfrm flipV="1">
            <a:off x="5061956" y="3945695"/>
            <a:ext cx="801698" cy="868866"/>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8" name="מחבר ישר 18">
            <a:extLst>
              <a:ext uri="{FF2B5EF4-FFF2-40B4-BE49-F238E27FC236}">
                <a16:creationId xmlns:a16="http://schemas.microsoft.com/office/drawing/2014/main" id="{51C0C3E2-3ED0-47F1-BD80-F7AD59EE6576}"/>
              </a:ext>
            </a:extLst>
          </p:cNvPr>
          <p:cNvCxnSpPr>
            <a:cxnSpLocks/>
          </p:cNvCxnSpPr>
          <p:nvPr/>
        </p:nvCxnSpPr>
        <p:spPr>
          <a:xfrm flipV="1">
            <a:off x="5842315" y="2753224"/>
            <a:ext cx="1020029" cy="120587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sp>
        <p:nvSpPr>
          <p:cNvPr id="19" name="צורה חופשית 20">
            <a:extLst>
              <a:ext uri="{FF2B5EF4-FFF2-40B4-BE49-F238E27FC236}">
                <a16:creationId xmlns:a16="http://schemas.microsoft.com/office/drawing/2014/main" id="{6FF6AA0B-78D2-4F37-BB19-19444E9BD2D2}"/>
              </a:ext>
            </a:extLst>
          </p:cNvPr>
          <p:cNvSpPr/>
          <p:nvPr/>
        </p:nvSpPr>
        <p:spPr>
          <a:xfrm>
            <a:off x="3950706" y="2479933"/>
            <a:ext cx="3579656" cy="1723298"/>
          </a:xfrm>
          <a:custGeom>
            <a:avLst/>
            <a:gdLst>
              <a:gd name="connsiteX0" fmla="*/ 0 w 5298831"/>
              <a:gd name="connsiteY0" fmla="*/ 0 h 2297730"/>
              <a:gd name="connsiteX1" fmla="*/ 1160584 w 5298831"/>
              <a:gd name="connsiteY1" fmla="*/ 1453662 h 2297730"/>
              <a:gd name="connsiteX2" fmla="*/ 2637692 w 5298831"/>
              <a:gd name="connsiteY2" fmla="*/ 2297724 h 2297730"/>
              <a:gd name="connsiteX3" fmla="*/ 5298831 w 5298831"/>
              <a:gd name="connsiteY3" fmla="*/ 1441939 h 2297730"/>
            </a:gdLst>
            <a:ahLst/>
            <a:cxnLst>
              <a:cxn ang="0">
                <a:pos x="connsiteX0" y="connsiteY0"/>
              </a:cxn>
              <a:cxn ang="0">
                <a:pos x="connsiteX1" y="connsiteY1"/>
              </a:cxn>
              <a:cxn ang="0">
                <a:pos x="connsiteX2" y="connsiteY2"/>
              </a:cxn>
              <a:cxn ang="0">
                <a:pos x="connsiteX3" y="connsiteY3"/>
              </a:cxn>
            </a:cxnLst>
            <a:rect l="l" t="t" r="r" b="b"/>
            <a:pathLst>
              <a:path w="5298831" h="2297730">
                <a:moveTo>
                  <a:pt x="0" y="0"/>
                </a:moveTo>
                <a:cubicBezTo>
                  <a:pt x="360484" y="535354"/>
                  <a:pt x="720969" y="1070708"/>
                  <a:pt x="1160584" y="1453662"/>
                </a:cubicBezTo>
                <a:cubicBezTo>
                  <a:pt x="1600199" y="1836616"/>
                  <a:pt x="1947984" y="2299678"/>
                  <a:pt x="2637692" y="2297724"/>
                </a:cubicBezTo>
                <a:cubicBezTo>
                  <a:pt x="3327400" y="2295770"/>
                  <a:pt x="4313115" y="1868854"/>
                  <a:pt x="5298831" y="1441939"/>
                </a:cubicBezTo>
              </a:path>
            </a:pathLst>
          </a:custGeom>
          <a:noFill/>
          <a:ln w="571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FF0000"/>
              </a:solidFill>
            </a:endParaRPr>
          </a:p>
        </p:txBody>
      </p:sp>
      <p:sp>
        <p:nvSpPr>
          <p:cNvPr id="20" name="TextBox 19">
            <a:extLst>
              <a:ext uri="{FF2B5EF4-FFF2-40B4-BE49-F238E27FC236}">
                <a16:creationId xmlns:a16="http://schemas.microsoft.com/office/drawing/2014/main" id="{FAD2A819-9DF3-4E06-824E-2E6E2E61AD8D}"/>
              </a:ext>
            </a:extLst>
          </p:cNvPr>
          <p:cNvSpPr txBox="1"/>
          <p:nvPr/>
        </p:nvSpPr>
        <p:spPr>
          <a:xfrm>
            <a:off x="7262282" y="3216688"/>
            <a:ext cx="479619" cy="323165"/>
          </a:xfrm>
          <a:prstGeom prst="rect">
            <a:avLst/>
          </a:prstGeom>
          <a:noFill/>
        </p:spPr>
        <p:txBody>
          <a:bodyPr wrap="none" rtlCol="0">
            <a:spAutoFit/>
          </a:bodyPr>
          <a:lstStyle/>
          <a:p>
            <a:r>
              <a:rPr lang="en-US" sz="1500" b="1" dirty="0">
                <a:solidFill>
                  <a:schemeClr val="accent1"/>
                </a:solidFill>
              </a:rPr>
              <a:t>ATC</a:t>
            </a:r>
          </a:p>
        </p:txBody>
      </p:sp>
      <p:sp>
        <p:nvSpPr>
          <p:cNvPr id="28" name="Rectangle 27">
            <a:extLst>
              <a:ext uri="{FF2B5EF4-FFF2-40B4-BE49-F238E27FC236}">
                <a16:creationId xmlns:a16="http://schemas.microsoft.com/office/drawing/2014/main" id="{4BCD939D-BE59-4DAD-855F-AB869B219042}"/>
              </a:ext>
            </a:extLst>
          </p:cNvPr>
          <p:cNvSpPr/>
          <p:nvPr/>
        </p:nvSpPr>
        <p:spPr>
          <a:xfrm>
            <a:off x="6737659" y="1364306"/>
            <a:ext cx="2401940" cy="340286"/>
          </a:xfrm>
          <a:prstGeom prst="rect">
            <a:avLst/>
          </a:prstGeom>
        </p:spPr>
        <p:txBody>
          <a:bodyPr wrap="none">
            <a:spAutoFit/>
          </a:bodyPr>
          <a:lstStyle/>
          <a:p>
            <a:pPr marL="300038" lvl="1">
              <a:lnSpc>
                <a:spcPct val="170000"/>
              </a:lnSpc>
            </a:pPr>
            <a:r>
              <a:rPr lang="he-IL" sz="1100" dirty="0"/>
              <a:t>ב. </a:t>
            </a:r>
            <a:r>
              <a:rPr lang="he-IL" sz="1100" b="1" dirty="0"/>
              <a:t>הרווח הכולל של הפירמה שלילי</a:t>
            </a:r>
          </a:p>
        </p:txBody>
      </p:sp>
      <p:sp>
        <p:nvSpPr>
          <p:cNvPr id="30" name="Rectangle 29">
            <a:extLst>
              <a:ext uri="{FF2B5EF4-FFF2-40B4-BE49-F238E27FC236}">
                <a16:creationId xmlns:a16="http://schemas.microsoft.com/office/drawing/2014/main" id="{EC348D8F-6A02-45E7-A8BB-04C0FDF25C6B}"/>
              </a:ext>
            </a:extLst>
          </p:cNvPr>
          <p:cNvSpPr/>
          <p:nvPr/>
        </p:nvSpPr>
        <p:spPr>
          <a:xfrm>
            <a:off x="7813511" y="2031918"/>
            <a:ext cx="4037003" cy="344325"/>
          </a:xfrm>
          <a:prstGeom prst="rect">
            <a:avLst/>
          </a:prstGeom>
        </p:spPr>
        <p:txBody>
          <a:bodyPr wrap="none">
            <a:spAutoFit/>
          </a:bodyPr>
          <a:lstStyle/>
          <a:p>
            <a:pPr marL="300038" lvl="1">
              <a:lnSpc>
                <a:spcPct val="170000"/>
              </a:lnSpc>
            </a:pPr>
            <a:r>
              <a:rPr lang="he-IL" sz="1100" dirty="0"/>
              <a:t>ד. ייתכן ובכמות המיוצרת העלות המשתנה הממוצעת (</a:t>
            </a:r>
            <a:r>
              <a:rPr lang="en-US" sz="1100" dirty="0"/>
              <a:t>AVC</a:t>
            </a:r>
            <a:r>
              <a:rPr lang="he-IL" sz="1100" dirty="0"/>
              <a:t>) יורדת</a:t>
            </a:r>
          </a:p>
        </p:txBody>
      </p:sp>
      <p:sp>
        <p:nvSpPr>
          <p:cNvPr id="31" name="Rectangle 30">
            <a:extLst>
              <a:ext uri="{FF2B5EF4-FFF2-40B4-BE49-F238E27FC236}">
                <a16:creationId xmlns:a16="http://schemas.microsoft.com/office/drawing/2014/main" id="{B8748A77-E13C-4DD1-8DEA-ACD9F6C8C9B7}"/>
              </a:ext>
            </a:extLst>
          </p:cNvPr>
          <p:cNvSpPr/>
          <p:nvPr/>
        </p:nvSpPr>
        <p:spPr>
          <a:xfrm>
            <a:off x="8628301" y="2341667"/>
            <a:ext cx="3242477" cy="344325"/>
          </a:xfrm>
          <a:prstGeom prst="rect">
            <a:avLst/>
          </a:prstGeom>
        </p:spPr>
        <p:txBody>
          <a:bodyPr wrap="square">
            <a:spAutoFit/>
          </a:bodyPr>
          <a:lstStyle/>
          <a:p>
            <a:pPr marL="300038" lvl="1">
              <a:lnSpc>
                <a:spcPct val="170000"/>
              </a:lnSpc>
            </a:pPr>
            <a:r>
              <a:rPr lang="he-IL" sz="1100" dirty="0"/>
              <a:t>ה. כל התשובות האחרות אינן נכונות</a:t>
            </a:r>
            <a:endParaRPr lang="en-US" sz="1100" dirty="0"/>
          </a:p>
        </p:txBody>
      </p:sp>
      <p:cxnSp>
        <p:nvCxnSpPr>
          <p:cNvPr id="21" name="Straight Arrow Connector 20"/>
          <p:cNvCxnSpPr>
            <a:cxnSpLocks/>
          </p:cNvCxnSpPr>
          <p:nvPr/>
        </p:nvCxnSpPr>
        <p:spPr>
          <a:xfrm flipH="1">
            <a:off x="6710972" y="793936"/>
            <a:ext cx="420473" cy="362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5974955" y="1172407"/>
            <a:ext cx="1012307" cy="300082"/>
          </a:xfrm>
          <a:prstGeom prst="rect">
            <a:avLst/>
          </a:prstGeom>
          <a:noFill/>
        </p:spPr>
        <p:txBody>
          <a:bodyPr wrap="square" rtlCol="1">
            <a:spAutoFit/>
          </a:bodyPr>
          <a:lstStyle/>
          <a:p>
            <a:r>
              <a:rPr lang="en-US" sz="1350" dirty="0"/>
              <a:t>P&gt;min AVC</a:t>
            </a:r>
            <a:endParaRPr lang="he-IL" sz="1350" dirty="0"/>
          </a:p>
        </p:txBody>
      </p:sp>
      <p:cxnSp>
        <p:nvCxnSpPr>
          <p:cNvPr id="24" name="Straight Connector 23"/>
          <p:cNvCxnSpPr/>
          <p:nvPr/>
        </p:nvCxnSpPr>
        <p:spPr>
          <a:xfrm flipV="1">
            <a:off x="3150572" y="4534444"/>
            <a:ext cx="2160016" cy="14123"/>
          </a:xfrm>
          <a:prstGeom prst="line">
            <a:avLst/>
          </a:prstGeom>
          <a:ln w="38100">
            <a:solidFill>
              <a:schemeClr val="bg2">
                <a:lumMod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H="1" flipV="1">
            <a:off x="5321305" y="4129191"/>
            <a:ext cx="5232" cy="1308451"/>
          </a:xfrm>
          <a:prstGeom prst="line">
            <a:avLst/>
          </a:prstGeom>
          <a:ln w="38100">
            <a:solidFill>
              <a:schemeClr val="bg2">
                <a:lumMod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flipV="1">
            <a:off x="5553974" y="4144609"/>
            <a:ext cx="162635" cy="144578"/>
          </a:xfrm>
          <a:prstGeom prst="ellipse">
            <a:avLst/>
          </a:prstGeom>
          <a:solidFill>
            <a:schemeClr val="tx2"/>
          </a:solidFill>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endParaRPr lang="he-IL" sz="1350"/>
          </a:p>
        </p:txBody>
      </p:sp>
      <p:sp>
        <p:nvSpPr>
          <p:cNvPr id="33" name="Oval 32"/>
          <p:cNvSpPr/>
          <p:nvPr/>
        </p:nvSpPr>
        <p:spPr>
          <a:xfrm>
            <a:off x="5186798" y="3984171"/>
            <a:ext cx="207125" cy="15465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350"/>
          </a:p>
        </p:txBody>
      </p:sp>
      <p:sp>
        <p:nvSpPr>
          <p:cNvPr id="35" name="TextBox 34">
            <a:extLst>
              <a:ext uri="{FF2B5EF4-FFF2-40B4-BE49-F238E27FC236}">
                <a16:creationId xmlns:a16="http://schemas.microsoft.com/office/drawing/2014/main" id="{DA629CBA-4D40-4D9C-BE7B-6AE9E26CD129}"/>
              </a:ext>
            </a:extLst>
          </p:cNvPr>
          <p:cNvSpPr txBox="1"/>
          <p:nvPr/>
        </p:nvSpPr>
        <p:spPr>
          <a:xfrm>
            <a:off x="2439502" y="4072694"/>
            <a:ext cx="702436" cy="253916"/>
          </a:xfrm>
          <a:prstGeom prst="rect">
            <a:avLst/>
          </a:prstGeom>
          <a:noFill/>
        </p:spPr>
        <p:txBody>
          <a:bodyPr wrap="none" rtlCol="0">
            <a:spAutoFit/>
          </a:bodyPr>
          <a:lstStyle/>
          <a:p>
            <a:r>
              <a:rPr lang="en-US" sz="1050" b="1" dirty="0">
                <a:solidFill>
                  <a:schemeClr val="tx2"/>
                </a:solidFill>
              </a:rPr>
              <a:t>min(ATC)</a:t>
            </a:r>
          </a:p>
        </p:txBody>
      </p:sp>
      <p:cxnSp>
        <p:nvCxnSpPr>
          <p:cNvPr id="36" name="מחבר ישר 13">
            <a:extLst>
              <a:ext uri="{FF2B5EF4-FFF2-40B4-BE49-F238E27FC236}">
                <a16:creationId xmlns:a16="http://schemas.microsoft.com/office/drawing/2014/main" id="{893BC0FD-74C0-4B49-9501-1D33525468FD}"/>
              </a:ext>
            </a:extLst>
          </p:cNvPr>
          <p:cNvCxnSpPr>
            <a:cxnSpLocks/>
          </p:cNvCxnSpPr>
          <p:nvPr/>
        </p:nvCxnSpPr>
        <p:spPr>
          <a:xfrm flipH="1">
            <a:off x="3113603" y="4218959"/>
            <a:ext cx="4116815" cy="48385"/>
          </a:xfrm>
          <a:prstGeom prst="line">
            <a:avLst/>
          </a:prstGeom>
          <a:ln w="28575">
            <a:solidFill>
              <a:schemeClr val="tx2"/>
            </a:solidFill>
            <a:prstDash val="sysDash"/>
          </a:ln>
        </p:spPr>
        <p:style>
          <a:lnRef idx="3">
            <a:schemeClr val="accent2"/>
          </a:lnRef>
          <a:fillRef idx="0">
            <a:schemeClr val="accent2"/>
          </a:fillRef>
          <a:effectRef idx="2">
            <a:schemeClr val="accent2"/>
          </a:effectRef>
          <a:fontRef idx="minor">
            <a:schemeClr val="tx1"/>
          </a:fontRef>
        </p:style>
      </p:cxnSp>
      <p:sp>
        <p:nvSpPr>
          <p:cNvPr id="34" name="Oval 33">
            <a:extLst>
              <a:ext uri="{FF2B5EF4-FFF2-40B4-BE49-F238E27FC236}">
                <a16:creationId xmlns:a16="http://schemas.microsoft.com/office/drawing/2014/main" id="{1D0791F5-051B-4220-A8A9-517CF2DB0FE6}"/>
              </a:ext>
            </a:extLst>
          </p:cNvPr>
          <p:cNvSpPr/>
          <p:nvPr/>
        </p:nvSpPr>
        <p:spPr>
          <a:xfrm>
            <a:off x="5216548" y="4458601"/>
            <a:ext cx="221878" cy="15317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350" dirty="0">
                <a:solidFill>
                  <a:schemeClr val="tx2"/>
                </a:solidFill>
              </a:rPr>
              <a:t>A</a:t>
            </a:r>
            <a:endParaRPr lang="he-IL" sz="1350" dirty="0">
              <a:solidFill>
                <a:schemeClr val="tx2"/>
              </a:solidFill>
            </a:endParaRPr>
          </a:p>
        </p:txBody>
      </p:sp>
      <p:sp>
        <p:nvSpPr>
          <p:cNvPr id="4" name="TextBox 3">
            <a:extLst>
              <a:ext uri="{FF2B5EF4-FFF2-40B4-BE49-F238E27FC236}">
                <a16:creationId xmlns:a16="http://schemas.microsoft.com/office/drawing/2014/main" id="{1DA9BEA1-7999-4C4E-AA92-5D65A72AE706}"/>
              </a:ext>
            </a:extLst>
          </p:cNvPr>
          <p:cNvSpPr txBox="1"/>
          <p:nvPr/>
        </p:nvSpPr>
        <p:spPr>
          <a:xfrm>
            <a:off x="8428956" y="3671529"/>
            <a:ext cx="3478221" cy="2268506"/>
          </a:xfrm>
          <a:prstGeom prst="rect">
            <a:avLst/>
          </a:prstGeom>
          <a:solidFill>
            <a:srgbClr val="FFCCFF"/>
          </a:solidFill>
          <a:ln>
            <a:solidFill>
              <a:schemeClr val="tx1"/>
            </a:solidFill>
          </a:ln>
        </p:spPr>
        <p:txBody>
          <a:bodyPr wrap="square" rtlCol="0">
            <a:spAutoFit/>
          </a:bodyPr>
          <a:lstStyle/>
          <a:p>
            <a:pPr>
              <a:lnSpc>
                <a:spcPct val="150000"/>
              </a:lnSpc>
            </a:pPr>
            <a:r>
              <a:rPr lang="he-IL" sz="1600" b="1" dirty="0"/>
              <a:t>כן! </a:t>
            </a:r>
            <a:r>
              <a:rPr lang="he-IL" sz="1600" dirty="0"/>
              <a:t>בנקודת הייצור הצהובה המחיר </a:t>
            </a:r>
            <a:r>
              <a:rPr lang="en-US" sz="1600" dirty="0"/>
              <a:t>P2</a:t>
            </a:r>
            <a:r>
              <a:rPr lang="he-IL" sz="1600" dirty="0"/>
              <a:t> הינו גבוה ממינימום </a:t>
            </a:r>
            <a:r>
              <a:rPr lang="en-US" sz="1600" b="1" dirty="0">
                <a:solidFill>
                  <a:srgbClr val="C00000"/>
                </a:solidFill>
              </a:rPr>
              <a:t>AVC</a:t>
            </a:r>
            <a:r>
              <a:rPr lang="he-IL" sz="1600" dirty="0"/>
              <a:t> אך נמוך ממינימום </a:t>
            </a:r>
            <a:r>
              <a:rPr lang="en-US" sz="1600" b="1" dirty="0">
                <a:solidFill>
                  <a:schemeClr val="tx2"/>
                </a:solidFill>
              </a:rPr>
              <a:t>ATC</a:t>
            </a:r>
            <a:r>
              <a:rPr lang="he-IL" sz="1600" dirty="0"/>
              <a:t>, הפירמה מייצרת כמות חיובית בתחום שבו עקומת </a:t>
            </a:r>
            <a:r>
              <a:rPr lang="en-US" sz="1600" dirty="0"/>
              <a:t>ATC</a:t>
            </a:r>
            <a:r>
              <a:rPr lang="he-IL" sz="1600" dirty="0"/>
              <a:t> במגמת ירידה</a:t>
            </a:r>
            <a:r>
              <a:rPr lang="en-US" sz="1600" dirty="0"/>
              <a:t> </a:t>
            </a:r>
            <a:r>
              <a:rPr lang="he-IL" sz="1600" dirty="0"/>
              <a:t>(מתאים לנתוני השאלה) לכן </a:t>
            </a:r>
            <a:r>
              <a:rPr lang="he-IL" sz="1600" b="1" dirty="0"/>
              <a:t>הרווח הכולל של הפירמה שלילי </a:t>
            </a:r>
            <a:r>
              <a:rPr lang="he-IL" sz="1600" dirty="0"/>
              <a:t>והרווח התפעולי חיובי. </a:t>
            </a:r>
            <a:endParaRPr lang="en-IL" sz="1600" dirty="0"/>
          </a:p>
        </p:txBody>
      </p:sp>
      <p:cxnSp>
        <p:nvCxnSpPr>
          <p:cNvPr id="37" name="Straight Arrow Connector 36">
            <a:extLst>
              <a:ext uri="{FF2B5EF4-FFF2-40B4-BE49-F238E27FC236}">
                <a16:creationId xmlns:a16="http://schemas.microsoft.com/office/drawing/2014/main" id="{95F8F393-7330-4FE8-A323-E3679A2ACE15}"/>
              </a:ext>
            </a:extLst>
          </p:cNvPr>
          <p:cNvCxnSpPr>
            <a:cxnSpLocks/>
          </p:cNvCxnSpPr>
          <p:nvPr/>
        </p:nvCxnSpPr>
        <p:spPr>
          <a:xfrm flipH="1" flipV="1">
            <a:off x="5186801" y="3461537"/>
            <a:ext cx="84539" cy="38834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B830791F-4C73-43E7-9490-E5527BDF6243}"/>
              </a:ext>
            </a:extLst>
          </p:cNvPr>
          <p:cNvSpPr txBox="1"/>
          <p:nvPr/>
        </p:nvSpPr>
        <p:spPr>
          <a:xfrm>
            <a:off x="4691844" y="2615147"/>
            <a:ext cx="1316304" cy="830997"/>
          </a:xfrm>
          <a:prstGeom prst="rect">
            <a:avLst/>
          </a:prstGeom>
          <a:solidFill>
            <a:schemeClr val="tx2">
              <a:lumMod val="20000"/>
              <a:lumOff val="80000"/>
            </a:schemeClr>
          </a:solidFill>
        </p:spPr>
        <p:txBody>
          <a:bodyPr wrap="square" rtlCol="0">
            <a:spAutoFit/>
          </a:bodyPr>
          <a:lstStyle/>
          <a:p>
            <a:r>
              <a:rPr lang="he-IL" sz="1200" dirty="0"/>
              <a:t>העלות כוללת ממוצעת</a:t>
            </a:r>
            <a:r>
              <a:rPr lang="en-US" sz="1200" dirty="0"/>
              <a:t> </a:t>
            </a:r>
            <a:r>
              <a:rPr lang="he-IL" sz="1200" dirty="0"/>
              <a:t> </a:t>
            </a:r>
            <a:r>
              <a:rPr lang="en-US" sz="1200" dirty="0"/>
              <a:t>ATC</a:t>
            </a:r>
            <a:r>
              <a:rPr lang="he-IL" sz="1200" dirty="0"/>
              <a:t> עבור </a:t>
            </a:r>
            <a:r>
              <a:rPr lang="en-US" sz="1200" b="1" dirty="0">
                <a:solidFill>
                  <a:schemeClr val="bg2">
                    <a:lumMod val="25000"/>
                  </a:schemeClr>
                </a:solidFill>
              </a:rPr>
              <a:t>X2</a:t>
            </a:r>
            <a:r>
              <a:rPr lang="he-IL" sz="1200" dirty="0"/>
              <a:t> הינה במגמת </a:t>
            </a:r>
            <a:r>
              <a:rPr lang="he-IL" sz="1200" b="1" dirty="0"/>
              <a:t>ירידה, כפי שנתון!</a:t>
            </a:r>
            <a:endParaRPr lang="en-IL" sz="1200" dirty="0"/>
          </a:p>
        </p:txBody>
      </p:sp>
      <p:sp>
        <p:nvSpPr>
          <p:cNvPr id="23" name="Date Placeholder 22">
            <a:extLst>
              <a:ext uri="{FF2B5EF4-FFF2-40B4-BE49-F238E27FC236}">
                <a16:creationId xmlns:a16="http://schemas.microsoft.com/office/drawing/2014/main" id="{0F1FB03A-6766-4471-9325-50B029013404}"/>
              </a:ext>
            </a:extLst>
          </p:cNvPr>
          <p:cNvSpPr>
            <a:spLocks noGrp="1"/>
          </p:cNvSpPr>
          <p:nvPr>
            <p:ph type="dt" sz="half" idx="10"/>
          </p:nvPr>
        </p:nvSpPr>
        <p:spPr>
          <a:xfrm>
            <a:off x="5110771" y="5824607"/>
            <a:ext cx="1600200" cy="273844"/>
          </a:xfrm>
        </p:spPr>
        <p:txBody>
          <a:bodyPr/>
          <a:lstStyle/>
          <a:p>
            <a:fld id="{1DCDE661-600A-4024-A0E9-6402C8A9CF65}" type="datetime8">
              <a:rPr lang="he-IL" smtClean="0"/>
              <a:t>03 ינואר 26</a:t>
            </a:fld>
            <a:endParaRPr lang="he-IL" dirty="0"/>
          </a:p>
        </p:txBody>
      </p:sp>
      <p:sp>
        <p:nvSpPr>
          <p:cNvPr id="25" name="Slide Number Placeholder 24">
            <a:extLst>
              <a:ext uri="{FF2B5EF4-FFF2-40B4-BE49-F238E27FC236}">
                <a16:creationId xmlns:a16="http://schemas.microsoft.com/office/drawing/2014/main" id="{B2634D3C-DBDD-4BDC-A0DE-9956BDB0C05E}"/>
              </a:ext>
            </a:extLst>
          </p:cNvPr>
          <p:cNvSpPr>
            <a:spLocks noGrp="1"/>
          </p:cNvSpPr>
          <p:nvPr>
            <p:ph type="sldNum" sz="quarter" idx="12"/>
          </p:nvPr>
        </p:nvSpPr>
        <p:spPr/>
        <p:txBody>
          <a:bodyPr/>
          <a:lstStyle/>
          <a:p>
            <a:fld id="{492DB488-E800-4C9D-A68D-A9C6D048BCD3}" type="slidenum">
              <a:rPr lang="he-IL" smtClean="0"/>
              <a:pPr/>
              <a:t>56</a:t>
            </a:fld>
            <a:endParaRPr lang="he-IL"/>
          </a:p>
        </p:txBody>
      </p:sp>
      <p:sp>
        <p:nvSpPr>
          <p:cNvPr id="39" name="TextBox 38">
            <a:extLst>
              <a:ext uri="{FF2B5EF4-FFF2-40B4-BE49-F238E27FC236}">
                <a16:creationId xmlns:a16="http://schemas.microsoft.com/office/drawing/2014/main" id="{22B87F8D-EB29-474A-A36F-6FFF1813B02F}"/>
              </a:ext>
            </a:extLst>
          </p:cNvPr>
          <p:cNvSpPr txBox="1"/>
          <p:nvPr/>
        </p:nvSpPr>
        <p:spPr>
          <a:xfrm>
            <a:off x="8949522" y="3125860"/>
            <a:ext cx="3242477" cy="338554"/>
          </a:xfrm>
          <a:prstGeom prst="rect">
            <a:avLst/>
          </a:prstGeom>
          <a:solidFill>
            <a:srgbClr val="FFCCFF"/>
          </a:solidFill>
        </p:spPr>
        <p:txBody>
          <a:bodyPr wrap="square" rtlCol="0">
            <a:spAutoFit/>
          </a:bodyPr>
          <a:lstStyle/>
          <a:p>
            <a:r>
              <a:rPr lang="he-IL" sz="1600" dirty="0"/>
              <a:t>האם ייתכן שהמחיר בשוק הינו </a:t>
            </a:r>
            <a:r>
              <a:rPr lang="en-US" sz="1600" dirty="0"/>
              <a:t>P2</a:t>
            </a:r>
            <a:r>
              <a:rPr lang="he-IL" sz="1600" dirty="0"/>
              <a:t>?</a:t>
            </a:r>
            <a:r>
              <a:rPr lang="en-US" sz="1600" dirty="0"/>
              <a:t> </a:t>
            </a:r>
            <a:endParaRPr lang="en-IL" sz="1600" dirty="0"/>
          </a:p>
        </p:txBody>
      </p:sp>
      <p:sp>
        <p:nvSpPr>
          <p:cNvPr id="40" name="Oval 39">
            <a:extLst>
              <a:ext uri="{FF2B5EF4-FFF2-40B4-BE49-F238E27FC236}">
                <a16:creationId xmlns:a16="http://schemas.microsoft.com/office/drawing/2014/main" id="{AF91992A-4BEF-4E39-9110-93CD5F2BFB9D}"/>
              </a:ext>
            </a:extLst>
          </p:cNvPr>
          <p:cNvSpPr/>
          <p:nvPr/>
        </p:nvSpPr>
        <p:spPr>
          <a:xfrm flipV="1">
            <a:off x="4934118" y="4765802"/>
            <a:ext cx="162635" cy="144578"/>
          </a:xfrm>
          <a:prstGeom prst="ellipse">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endParaRPr lang="he-IL" sz="1350"/>
          </a:p>
        </p:txBody>
      </p:sp>
      <p:cxnSp>
        <p:nvCxnSpPr>
          <p:cNvPr id="42" name="Straight Connector 41">
            <a:extLst>
              <a:ext uri="{FF2B5EF4-FFF2-40B4-BE49-F238E27FC236}">
                <a16:creationId xmlns:a16="http://schemas.microsoft.com/office/drawing/2014/main" id="{51F082BE-86AD-4F45-BE75-89231B901581}"/>
              </a:ext>
            </a:extLst>
          </p:cNvPr>
          <p:cNvCxnSpPr>
            <a:cxnSpLocks/>
          </p:cNvCxnSpPr>
          <p:nvPr/>
        </p:nvCxnSpPr>
        <p:spPr>
          <a:xfrm>
            <a:off x="9267533" y="1586906"/>
            <a:ext cx="2037117" cy="889"/>
          </a:xfrm>
          <a:prstGeom prst="line">
            <a:avLst/>
          </a:prstGeom>
          <a:ln w="1905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91720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down)">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barn(inVertical)">
                                      <p:cBhvr>
                                        <p:cTn id="2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4" grpId="0" animBg="1"/>
      <p:bldP spid="38" grpId="0" animBg="1"/>
      <p:bldP spid="3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כותרת 1"/>
          <p:cNvSpPr>
            <a:spLocks noGrp="1"/>
          </p:cNvSpPr>
          <p:nvPr>
            <p:ph type="title"/>
          </p:nvPr>
        </p:nvSpPr>
        <p:spPr>
          <a:xfrm>
            <a:off x="9117013" y="201554"/>
            <a:ext cx="2820798" cy="857250"/>
          </a:xfrm>
        </p:spPr>
        <p:txBody>
          <a:bodyPr>
            <a:normAutofit fontScale="90000"/>
          </a:bodyPr>
          <a:lstStyle/>
          <a:p>
            <a:pPr algn="r"/>
            <a:r>
              <a:rPr lang="he-IL" b="1" dirty="0">
                <a:solidFill>
                  <a:schemeClr val="tx2">
                    <a:lumMod val="75000"/>
                  </a:schemeClr>
                </a:solidFill>
                <a:cs typeface="+mn-cs"/>
              </a:rPr>
              <a:t>שאלת רשות</a:t>
            </a:r>
          </a:p>
        </p:txBody>
      </p:sp>
      <p:sp>
        <p:nvSpPr>
          <p:cNvPr id="3" name="מציין מיקום תוכן 2"/>
          <p:cNvSpPr>
            <a:spLocks noGrp="1"/>
          </p:cNvSpPr>
          <p:nvPr>
            <p:ph idx="1"/>
          </p:nvPr>
        </p:nvSpPr>
        <p:spPr>
          <a:xfrm>
            <a:off x="1981201" y="219731"/>
            <a:ext cx="6872855" cy="670936"/>
          </a:xfrm>
        </p:spPr>
        <p:txBody>
          <a:bodyPr>
            <a:noAutofit/>
          </a:bodyPr>
          <a:lstStyle/>
          <a:p>
            <a:pPr indent="0">
              <a:lnSpc>
                <a:spcPct val="170000"/>
              </a:lnSpc>
              <a:buNone/>
            </a:pPr>
            <a:r>
              <a:rPr lang="he-IL" sz="1200" dirty="0"/>
              <a:t>פירמה פועלת בשוק תחרותי ויש לה עלות קבועה חיובית. העלות השולית פוחתת ולאחר מכן עולה. הפירמה ממקסמת את רווחיה וידוע שהיא בחרה לייצר כמות חיובית בתחום שבו העלות הכוללת הממוצעת ליחידה (</a:t>
            </a:r>
            <a:r>
              <a:rPr lang="en-US" sz="1200" dirty="0"/>
              <a:t>ATC</a:t>
            </a:r>
            <a:r>
              <a:rPr lang="he-IL" sz="1200" dirty="0"/>
              <a:t>) יורדת. לפיכך:</a:t>
            </a:r>
            <a:endParaRPr lang="en-US" sz="1200" dirty="0"/>
          </a:p>
        </p:txBody>
      </p:sp>
      <p:sp>
        <p:nvSpPr>
          <p:cNvPr id="2" name="Rectangle 1">
            <a:extLst>
              <a:ext uri="{FF2B5EF4-FFF2-40B4-BE49-F238E27FC236}">
                <a16:creationId xmlns:a16="http://schemas.microsoft.com/office/drawing/2014/main" id="{CA04278B-821F-4D8F-831E-7AF94CB6DF44}"/>
              </a:ext>
            </a:extLst>
          </p:cNvPr>
          <p:cNvSpPr/>
          <p:nvPr/>
        </p:nvSpPr>
        <p:spPr>
          <a:xfrm>
            <a:off x="7142830" y="1246051"/>
            <a:ext cx="5075477" cy="1145506"/>
          </a:xfrm>
          <a:prstGeom prst="rect">
            <a:avLst/>
          </a:prstGeom>
        </p:spPr>
        <p:txBody>
          <a:bodyPr wrap="square">
            <a:spAutoFit/>
          </a:bodyPr>
          <a:lstStyle/>
          <a:p>
            <a:pPr marL="300038" lvl="1">
              <a:lnSpc>
                <a:spcPct val="170000"/>
              </a:lnSpc>
            </a:pPr>
            <a:r>
              <a:rPr lang="he-IL" sz="1400" dirty="0"/>
              <a:t>א. הרווח התפעולי של הפירמה שלילי</a:t>
            </a:r>
          </a:p>
          <a:p>
            <a:pPr marL="300038" lvl="1">
              <a:lnSpc>
                <a:spcPct val="170000"/>
              </a:lnSpc>
            </a:pPr>
            <a:r>
              <a:rPr lang="he-IL" sz="1400" dirty="0"/>
              <a:t>ג. בכמות המיוצרת מחיר המוצר גבוה מהעלות הכוללת הממוצעת ליחידה (</a:t>
            </a:r>
            <a:r>
              <a:rPr lang="en-US" sz="1400" dirty="0"/>
              <a:t>ATC</a:t>
            </a:r>
            <a:r>
              <a:rPr lang="he-IL" sz="1400" dirty="0"/>
              <a:t>)</a:t>
            </a:r>
          </a:p>
        </p:txBody>
      </p:sp>
      <p:cxnSp>
        <p:nvCxnSpPr>
          <p:cNvPr id="5" name="מחבר ישר 2">
            <a:extLst>
              <a:ext uri="{FF2B5EF4-FFF2-40B4-BE49-F238E27FC236}">
                <a16:creationId xmlns:a16="http://schemas.microsoft.com/office/drawing/2014/main" id="{BDD97B3F-29E5-4FC1-BE64-6F61565E2870}"/>
              </a:ext>
            </a:extLst>
          </p:cNvPr>
          <p:cNvCxnSpPr>
            <a:cxnSpLocks/>
          </p:cNvCxnSpPr>
          <p:nvPr/>
        </p:nvCxnSpPr>
        <p:spPr>
          <a:xfrm>
            <a:off x="3155805" y="2316638"/>
            <a:ext cx="21437" cy="3072672"/>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מחבר ישר 4">
            <a:extLst>
              <a:ext uri="{FF2B5EF4-FFF2-40B4-BE49-F238E27FC236}">
                <a16:creationId xmlns:a16="http://schemas.microsoft.com/office/drawing/2014/main" id="{1572BF88-AE4E-47F3-8B41-6CEC5AC5D789}"/>
              </a:ext>
            </a:extLst>
          </p:cNvPr>
          <p:cNvCxnSpPr>
            <a:cxnSpLocks/>
          </p:cNvCxnSpPr>
          <p:nvPr/>
        </p:nvCxnSpPr>
        <p:spPr>
          <a:xfrm>
            <a:off x="3150572" y="5421010"/>
            <a:ext cx="3711772" cy="16631"/>
          </a:xfrm>
          <a:prstGeom prst="line">
            <a:avLst/>
          </a:prstGeom>
        </p:spPr>
        <p:style>
          <a:lnRef idx="1">
            <a:schemeClr val="accent1"/>
          </a:lnRef>
          <a:fillRef idx="0">
            <a:schemeClr val="accent1"/>
          </a:fillRef>
          <a:effectRef idx="0">
            <a:schemeClr val="accent1"/>
          </a:effectRef>
          <a:fontRef idx="minor">
            <a:schemeClr val="tx1"/>
          </a:fontRef>
        </p:style>
      </p:cxnSp>
      <p:sp>
        <p:nvSpPr>
          <p:cNvPr id="8" name="צורה חופשית 5">
            <a:extLst>
              <a:ext uri="{FF2B5EF4-FFF2-40B4-BE49-F238E27FC236}">
                <a16:creationId xmlns:a16="http://schemas.microsoft.com/office/drawing/2014/main" id="{700D213E-E3C5-4CCF-A2BB-1E2BA78AB6AA}"/>
              </a:ext>
            </a:extLst>
          </p:cNvPr>
          <p:cNvSpPr/>
          <p:nvPr/>
        </p:nvSpPr>
        <p:spPr>
          <a:xfrm>
            <a:off x="3125670" y="2780929"/>
            <a:ext cx="3761510" cy="2416744"/>
          </a:xfrm>
          <a:custGeom>
            <a:avLst/>
            <a:gdLst>
              <a:gd name="connsiteX0" fmla="*/ 0 w 5015346"/>
              <a:gd name="connsiteY0" fmla="*/ 2281382 h 3222325"/>
              <a:gd name="connsiteX1" fmla="*/ 1099128 w 5015346"/>
              <a:gd name="connsiteY1" fmla="*/ 3149600 h 3222325"/>
              <a:gd name="connsiteX2" fmla="*/ 2419928 w 5015346"/>
              <a:gd name="connsiteY2" fmla="*/ 2817091 h 3222325"/>
              <a:gd name="connsiteX3" fmla="*/ 5015346 w 5015346"/>
              <a:gd name="connsiteY3" fmla="*/ 0 h 3222325"/>
            </a:gdLst>
            <a:ahLst/>
            <a:cxnLst>
              <a:cxn ang="0">
                <a:pos x="connsiteX0" y="connsiteY0"/>
              </a:cxn>
              <a:cxn ang="0">
                <a:pos x="connsiteX1" y="connsiteY1"/>
              </a:cxn>
              <a:cxn ang="0">
                <a:pos x="connsiteX2" y="connsiteY2"/>
              </a:cxn>
              <a:cxn ang="0">
                <a:pos x="connsiteX3" y="connsiteY3"/>
              </a:cxn>
            </a:cxnLst>
            <a:rect l="l" t="t" r="r" b="b"/>
            <a:pathLst>
              <a:path w="5015346" h="3222325">
                <a:moveTo>
                  <a:pt x="0" y="2281382"/>
                </a:moveTo>
                <a:cubicBezTo>
                  <a:pt x="347903" y="2670848"/>
                  <a:pt x="695807" y="3060315"/>
                  <a:pt x="1099128" y="3149600"/>
                </a:cubicBezTo>
                <a:cubicBezTo>
                  <a:pt x="1502449" y="3238885"/>
                  <a:pt x="1767225" y="3342024"/>
                  <a:pt x="2419928" y="2817091"/>
                </a:cubicBezTo>
                <a:cubicBezTo>
                  <a:pt x="3072631" y="2292158"/>
                  <a:pt x="4043988" y="1146079"/>
                  <a:pt x="5015346" y="0"/>
                </a:cubicBezTo>
              </a:path>
            </a:pathLst>
          </a:custGeom>
          <a:ln w="57150">
            <a:solidFill>
              <a:schemeClr val="tx1"/>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350"/>
          </a:p>
        </p:txBody>
      </p:sp>
      <p:sp>
        <p:nvSpPr>
          <p:cNvPr id="9" name="TextBox 8">
            <a:extLst>
              <a:ext uri="{FF2B5EF4-FFF2-40B4-BE49-F238E27FC236}">
                <a16:creationId xmlns:a16="http://schemas.microsoft.com/office/drawing/2014/main" id="{051D280E-40D6-4369-82C4-7A478E704038}"/>
              </a:ext>
            </a:extLst>
          </p:cNvPr>
          <p:cNvSpPr txBox="1"/>
          <p:nvPr/>
        </p:nvSpPr>
        <p:spPr>
          <a:xfrm>
            <a:off x="5894747" y="2753518"/>
            <a:ext cx="679994" cy="323165"/>
          </a:xfrm>
          <a:prstGeom prst="rect">
            <a:avLst/>
          </a:prstGeom>
          <a:noFill/>
        </p:spPr>
        <p:txBody>
          <a:bodyPr wrap="none" rtlCol="0">
            <a:spAutoFit/>
          </a:bodyPr>
          <a:lstStyle/>
          <a:p>
            <a:r>
              <a:rPr lang="en-US" sz="1500" b="1" dirty="0">
                <a:solidFill>
                  <a:schemeClr val="accent2">
                    <a:lumMod val="75000"/>
                  </a:schemeClr>
                </a:solidFill>
              </a:rPr>
              <a:t>MC(X)</a:t>
            </a:r>
          </a:p>
        </p:txBody>
      </p:sp>
      <p:sp>
        <p:nvSpPr>
          <p:cNvPr id="10" name="צורה חופשית 7">
            <a:extLst>
              <a:ext uri="{FF2B5EF4-FFF2-40B4-BE49-F238E27FC236}">
                <a16:creationId xmlns:a16="http://schemas.microsoft.com/office/drawing/2014/main" id="{5D9DB8BA-B2CF-48B1-B348-EE54B37FD24E}"/>
              </a:ext>
            </a:extLst>
          </p:cNvPr>
          <p:cNvSpPr/>
          <p:nvPr/>
        </p:nvSpPr>
        <p:spPr>
          <a:xfrm>
            <a:off x="3122206" y="3175856"/>
            <a:ext cx="3934712" cy="1669710"/>
          </a:xfrm>
          <a:custGeom>
            <a:avLst/>
            <a:gdLst>
              <a:gd name="connsiteX0" fmla="*/ 0 w 5298831"/>
              <a:gd name="connsiteY0" fmla="*/ 0 h 2297730"/>
              <a:gd name="connsiteX1" fmla="*/ 1160584 w 5298831"/>
              <a:gd name="connsiteY1" fmla="*/ 1453662 h 2297730"/>
              <a:gd name="connsiteX2" fmla="*/ 2637692 w 5298831"/>
              <a:gd name="connsiteY2" fmla="*/ 2297724 h 2297730"/>
              <a:gd name="connsiteX3" fmla="*/ 5298831 w 5298831"/>
              <a:gd name="connsiteY3" fmla="*/ 1441939 h 2297730"/>
            </a:gdLst>
            <a:ahLst/>
            <a:cxnLst>
              <a:cxn ang="0">
                <a:pos x="connsiteX0" y="connsiteY0"/>
              </a:cxn>
              <a:cxn ang="0">
                <a:pos x="connsiteX1" y="connsiteY1"/>
              </a:cxn>
              <a:cxn ang="0">
                <a:pos x="connsiteX2" y="connsiteY2"/>
              </a:cxn>
              <a:cxn ang="0">
                <a:pos x="connsiteX3" y="connsiteY3"/>
              </a:cxn>
            </a:cxnLst>
            <a:rect l="l" t="t" r="r" b="b"/>
            <a:pathLst>
              <a:path w="5298831" h="2297730">
                <a:moveTo>
                  <a:pt x="0" y="0"/>
                </a:moveTo>
                <a:cubicBezTo>
                  <a:pt x="360484" y="535354"/>
                  <a:pt x="720969" y="1070708"/>
                  <a:pt x="1160584" y="1453662"/>
                </a:cubicBezTo>
                <a:cubicBezTo>
                  <a:pt x="1600199" y="1836616"/>
                  <a:pt x="1947984" y="2299678"/>
                  <a:pt x="2637692" y="2297724"/>
                </a:cubicBezTo>
                <a:cubicBezTo>
                  <a:pt x="3327400" y="2295770"/>
                  <a:pt x="4313115" y="1868854"/>
                  <a:pt x="5298831" y="1441939"/>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FF0000"/>
              </a:solidFill>
            </a:endParaRPr>
          </a:p>
        </p:txBody>
      </p:sp>
      <p:sp>
        <p:nvSpPr>
          <p:cNvPr id="11" name="TextBox 10">
            <a:extLst>
              <a:ext uri="{FF2B5EF4-FFF2-40B4-BE49-F238E27FC236}">
                <a16:creationId xmlns:a16="http://schemas.microsoft.com/office/drawing/2014/main" id="{BA38DA79-401E-47FD-AAAD-A3D882AB5A4B}"/>
              </a:ext>
            </a:extLst>
          </p:cNvPr>
          <p:cNvSpPr txBox="1"/>
          <p:nvPr/>
        </p:nvSpPr>
        <p:spPr>
          <a:xfrm>
            <a:off x="6921866" y="4230564"/>
            <a:ext cx="729560" cy="323165"/>
          </a:xfrm>
          <a:prstGeom prst="rect">
            <a:avLst/>
          </a:prstGeom>
          <a:noFill/>
        </p:spPr>
        <p:txBody>
          <a:bodyPr wrap="none" rtlCol="0">
            <a:spAutoFit/>
          </a:bodyPr>
          <a:lstStyle/>
          <a:p>
            <a:r>
              <a:rPr lang="en-US" sz="1500" b="1" dirty="0">
                <a:solidFill>
                  <a:schemeClr val="accent2">
                    <a:lumMod val="75000"/>
                  </a:schemeClr>
                </a:solidFill>
              </a:rPr>
              <a:t>AVC(X)</a:t>
            </a:r>
          </a:p>
        </p:txBody>
      </p:sp>
      <p:sp>
        <p:nvSpPr>
          <p:cNvPr id="12" name="TextBox 11">
            <a:extLst>
              <a:ext uri="{FF2B5EF4-FFF2-40B4-BE49-F238E27FC236}">
                <a16:creationId xmlns:a16="http://schemas.microsoft.com/office/drawing/2014/main" id="{24B52F36-C69C-44D2-862D-DCF656D45E67}"/>
              </a:ext>
            </a:extLst>
          </p:cNvPr>
          <p:cNvSpPr txBox="1"/>
          <p:nvPr/>
        </p:nvSpPr>
        <p:spPr>
          <a:xfrm>
            <a:off x="6438901" y="5412739"/>
            <a:ext cx="349275" cy="323165"/>
          </a:xfrm>
          <a:prstGeom prst="rect">
            <a:avLst/>
          </a:prstGeom>
          <a:noFill/>
        </p:spPr>
        <p:txBody>
          <a:bodyPr wrap="square" rtlCol="0">
            <a:spAutoFit/>
          </a:bodyPr>
          <a:lstStyle/>
          <a:p>
            <a:r>
              <a:rPr lang="en-US" sz="1500" b="1" dirty="0">
                <a:solidFill>
                  <a:schemeClr val="accent2">
                    <a:lumMod val="75000"/>
                  </a:schemeClr>
                </a:solidFill>
              </a:rPr>
              <a:t>X</a:t>
            </a:r>
          </a:p>
        </p:txBody>
      </p:sp>
      <p:sp>
        <p:nvSpPr>
          <p:cNvPr id="13" name="TextBox 12">
            <a:extLst>
              <a:ext uri="{FF2B5EF4-FFF2-40B4-BE49-F238E27FC236}">
                <a16:creationId xmlns:a16="http://schemas.microsoft.com/office/drawing/2014/main" id="{DD2C4480-CC24-4558-B302-61DE30E4419C}"/>
              </a:ext>
            </a:extLst>
          </p:cNvPr>
          <p:cNvSpPr txBox="1"/>
          <p:nvPr/>
        </p:nvSpPr>
        <p:spPr>
          <a:xfrm>
            <a:off x="2765313" y="2178898"/>
            <a:ext cx="375424" cy="323165"/>
          </a:xfrm>
          <a:prstGeom prst="rect">
            <a:avLst/>
          </a:prstGeom>
          <a:noFill/>
        </p:spPr>
        <p:txBody>
          <a:bodyPr wrap="none" rtlCol="0">
            <a:spAutoFit/>
          </a:bodyPr>
          <a:lstStyle/>
          <a:p>
            <a:r>
              <a:rPr lang="en-US" sz="1500" b="1" dirty="0" err="1">
                <a:solidFill>
                  <a:schemeClr val="accent2">
                    <a:lumMod val="75000"/>
                  </a:schemeClr>
                </a:solidFill>
              </a:rPr>
              <a:t>Px</a:t>
            </a:r>
            <a:endParaRPr lang="en-US" sz="1500" b="1" dirty="0">
              <a:solidFill>
                <a:schemeClr val="accent2">
                  <a:lumMod val="75000"/>
                </a:schemeClr>
              </a:solidFill>
            </a:endParaRPr>
          </a:p>
        </p:txBody>
      </p:sp>
      <p:sp>
        <p:nvSpPr>
          <p:cNvPr id="14" name="TextBox 13">
            <a:extLst>
              <a:ext uri="{FF2B5EF4-FFF2-40B4-BE49-F238E27FC236}">
                <a16:creationId xmlns:a16="http://schemas.microsoft.com/office/drawing/2014/main" id="{DA629CBA-4D40-4D9C-BE7B-6AE9E26CD129}"/>
              </a:ext>
            </a:extLst>
          </p:cNvPr>
          <p:cNvSpPr txBox="1"/>
          <p:nvPr/>
        </p:nvSpPr>
        <p:spPr>
          <a:xfrm>
            <a:off x="2496777" y="4710552"/>
            <a:ext cx="715260" cy="253916"/>
          </a:xfrm>
          <a:prstGeom prst="rect">
            <a:avLst/>
          </a:prstGeom>
          <a:noFill/>
        </p:spPr>
        <p:txBody>
          <a:bodyPr wrap="none" rtlCol="0">
            <a:spAutoFit/>
          </a:bodyPr>
          <a:lstStyle/>
          <a:p>
            <a:r>
              <a:rPr lang="en-US" sz="1050" b="1" dirty="0">
                <a:solidFill>
                  <a:schemeClr val="accent2">
                    <a:lumMod val="75000"/>
                  </a:schemeClr>
                </a:solidFill>
              </a:rPr>
              <a:t>min(AVC)</a:t>
            </a:r>
          </a:p>
        </p:txBody>
      </p:sp>
      <p:cxnSp>
        <p:nvCxnSpPr>
          <p:cNvPr id="15" name="מחבר ישר 13">
            <a:extLst>
              <a:ext uri="{FF2B5EF4-FFF2-40B4-BE49-F238E27FC236}">
                <a16:creationId xmlns:a16="http://schemas.microsoft.com/office/drawing/2014/main" id="{893BC0FD-74C0-4B49-9501-1D33525468FD}"/>
              </a:ext>
            </a:extLst>
          </p:cNvPr>
          <p:cNvCxnSpPr>
            <a:cxnSpLocks/>
          </p:cNvCxnSpPr>
          <p:nvPr/>
        </p:nvCxnSpPr>
        <p:spPr>
          <a:xfrm flipH="1">
            <a:off x="3192307" y="4845568"/>
            <a:ext cx="4116815" cy="48385"/>
          </a:xfrm>
          <a:prstGeom prst="line">
            <a:avLst/>
          </a:prstGeom>
          <a:ln w="28575">
            <a:prstDash val="sysDash"/>
          </a:ln>
        </p:spPr>
        <p:style>
          <a:lnRef idx="3">
            <a:schemeClr val="accent2"/>
          </a:lnRef>
          <a:fillRef idx="0">
            <a:schemeClr val="accent2"/>
          </a:fillRef>
          <a:effectRef idx="2">
            <a:schemeClr val="accent2"/>
          </a:effectRef>
          <a:fontRef idx="minor">
            <a:schemeClr val="tx1"/>
          </a:fontRef>
        </p:style>
      </p:cxnSp>
      <p:cxnSp>
        <p:nvCxnSpPr>
          <p:cNvPr id="16" name="מחבר ישר 15">
            <a:extLst>
              <a:ext uri="{FF2B5EF4-FFF2-40B4-BE49-F238E27FC236}">
                <a16:creationId xmlns:a16="http://schemas.microsoft.com/office/drawing/2014/main" id="{8AB66E53-A0C0-4E2B-A258-59D43EAF79BA}"/>
              </a:ext>
            </a:extLst>
          </p:cNvPr>
          <p:cNvCxnSpPr>
            <a:cxnSpLocks/>
          </p:cNvCxnSpPr>
          <p:nvPr/>
        </p:nvCxnSpPr>
        <p:spPr>
          <a:xfrm flipV="1">
            <a:off x="3166522" y="4929124"/>
            <a:ext cx="6927" cy="491192"/>
          </a:xfrm>
          <a:prstGeom prst="line">
            <a:avLst/>
          </a:prstGeom>
          <a:ln w="1397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7" name="מחבר ישר 17">
            <a:extLst>
              <a:ext uri="{FF2B5EF4-FFF2-40B4-BE49-F238E27FC236}">
                <a16:creationId xmlns:a16="http://schemas.microsoft.com/office/drawing/2014/main" id="{B09C483D-3911-491A-8209-0AEAD7E4413A}"/>
              </a:ext>
            </a:extLst>
          </p:cNvPr>
          <p:cNvCxnSpPr/>
          <p:nvPr/>
        </p:nvCxnSpPr>
        <p:spPr>
          <a:xfrm flipV="1">
            <a:off x="5061956" y="3945695"/>
            <a:ext cx="801698" cy="868866"/>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8" name="מחבר ישר 18">
            <a:extLst>
              <a:ext uri="{FF2B5EF4-FFF2-40B4-BE49-F238E27FC236}">
                <a16:creationId xmlns:a16="http://schemas.microsoft.com/office/drawing/2014/main" id="{51C0C3E2-3ED0-47F1-BD80-F7AD59EE6576}"/>
              </a:ext>
            </a:extLst>
          </p:cNvPr>
          <p:cNvCxnSpPr>
            <a:cxnSpLocks/>
          </p:cNvCxnSpPr>
          <p:nvPr/>
        </p:nvCxnSpPr>
        <p:spPr>
          <a:xfrm flipV="1">
            <a:off x="5842315" y="2753224"/>
            <a:ext cx="1020029" cy="120587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sp>
        <p:nvSpPr>
          <p:cNvPr id="19" name="צורה חופשית 20">
            <a:extLst>
              <a:ext uri="{FF2B5EF4-FFF2-40B4-BE49-F238E27FC236}">
                <a16:creationId xmlns:a16="http://schemas.microsoft.com/office/drawing/2014/main" id="{6FF6AA0B-78D2-4F37-BB19-19444E9BD2D2}"/>
              </a:ext>
            </a:extLst>
          </p:cNvPr>
          <p:cNvSpPr/>
          <p:nvPr/>
        </p:nvSpPr>
        <p:spPr>
          <a:xfrm>
            <a:off x="3811929" y="2427875"/>
            <a:ext cx="3579656" cy="1723298"/>
          </a:xfrm>
          <a:custGeom>
            <a:avLst/>
            <a:gdLst>
              <a:gd name="connsiteX0" fmla="*/ 0 w 5298831"/>
              <a:gd name="connsiteY0" fmla="*/ 0 h 2297730"/>
              <a:gd name="connsiteX1" fmla="*/ 1160584 w 5298831"/>
              <a:gd name="connsiteY1" fmla="*/ 1453662 h 2297730"/>
              <a:gd name="connsiteX2" fmla="*/ 2637692 w 5298831"/>
              <a:gd name="connsiteY2" fmla="*/ 2297724 h 2297730"/>
              <a:gd name="connsiteX3" fmla="*/ 5298831 w 5298831"/>
              <a:gd name="connsiteY3" fmla="*/ 1441939 h 2297730"/>
            </a:gdLst>
            <a:ahLst/>
            <a:cxnLst>
              <a:cxn ang="0">
                <a:pos x="connsiteX0" y="connsiteY0"/>
              </a:cxn>
              <a:cxn ang="0">
                <a:pos x="connsiteX1" y="connsiteY1"/>
              </a:cxn>
              <a:cxn ang="0">
                <a:pos x="connsiteX2" y="connsiteY2"/>
              </a:cxn>
              <a:cxn ang="0">
                <a:pos x="connsiteX3" y="connsiteY3"/>
              </a:cxn>
            </a:cxnLst>
            <a:rect l="l" t="t" r="r" b="b"/>
            <a:pathLst>
              <a:path w="5298831" h="2297730">
                <a:moveTo>
                  <a:pt x="0" y="0"/>
                </a:moveTo>
                <a:cubicBezTo>
                  <a:pt x="360484" y="535354"/>
                  <a:pt x="720969" y="1070708"/>
                  <a:pt x="1160584" y="1453662"/>
                </a:cubicBezTo>
                <a:cubicBezTo>
                  <a:pt x="1600199" y="1836616"/>
                  <a:pt x="1947984" y="2299678"/>
                  <a:pt x="2637692" y="2297724"/>
                </a:cubicBezTo>
                <a:cubicBezTo>
                  <a:pt x="3327400" y="2295770"/>
                  <a:pt x="4313115" y="1868854"/>
                  <a:pt x="5298831" y="1441939"/>
                </a:cubicBezTo>
              </a:path>
            </a:pathLst>
          </a:custGeom>
          <a:noFill/>
          <a:ln w="571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FF0000"/>
              </a:solidFill>
            </a:endParaRPr>
          </a:p>
        </p:txBody>
      </p:sp>
      <p:sp>
        <p:nvSpPr>
          <p:cNvPr id="20" name="TextBox 19">
            <a:extLst>
              <a:ext uri="{FF2B5EF4-FFF2-40B4-BE49-F238E27FC236}">
                <a16:creationId xmlns:a16="http://schemas.microsoft.com/office/drawing/2014/main" id="{FAD2A819-9DF3-4E06-824E-2E6E2E61AD8D}"/>
              </a:ext>
            </a:extLst>
          </p:cNvPr>
          <p:cNvSpPr txBox="1"/>
          <p:nvPr/>
        </p:nvSpPr>
        <p:spPr>
          <a:xfrm>
            <a:off x="7037860" y="3216688"/>
            <a:ext cx="704040" cy="323165"/>
          </a:xfrm>
          <a:prstGeom prst="rect">
            <a:avLst/>
          </a:prstGeom>
          <a:noFill/>
        </p:spPr>
        <p:txBody>
          <a:bodyPr wrap="none" rtlCol="0">
            <a:spAutoFit/>
          </a:bodyPr>
          <a:lstStyle/>
          <a:p>
            <a:r>
              <a:rPr lang="en-US" sz="1500" b="1" dirty="0">
                <a:solidFill>
                  <a:schemeClr val="accent1"/>
                </a:solidFill>
              </a:rPr>
              <a:t>ATC(X)</a:t>
            </a:r>
          </a:p>
        </p:txBody>
      </p:sp>
      <p:sp>
        <p:nvSpPr>
          <p:cNvPr id="28" name="Rectangle 27">
            <a:extLst>
              <a:ext uri="{FF2B5EF4-FFF2-40B4-BE49-F238E27FC236}">
                <a16:creationId xmlns:a16="http://schemas.microsoft.com/office/drawing/2014/main" id="{4BCD939D-BE59-4DAD-855F-AB869B219042}"/>
              </a:ext>
            </a:extLst>
          </p:cNvPr>
          <p:cNvSpPr/>
          <p:nvPr/>
        </p:nvSpPr>
        <p:spPr>
          <a:xfrm>
            <a:off x="4626527" y="1186678"/>
            <a:ext cx="2938946" cy="407869"/>
          </a:xfrm>
          <a:prstGeom prst="rect">
            <a:avLst/>
          </a:prstGeom>
        </p:spPr>
        <p:txBody>
          <a:bodyPr wrap="none">
            <a:spAutoFit/>
          </a:bodyPr>
          <a:lstStyle/>
          <a:p>
            <a:pPr marL="300038" lvl="1">
              <a:lnSpc>
                <a:spcPct val="170000"/>
              </a:lnSpc>
            </a:pPr>
            <a:r>
              <a:rPr lang="he-IL" sz="1400" b="1" dirty="0"/>
              <a:t>ב. הרווח הכולל של הפירמה שלילי</a:t>
            </a:r>
          </a:p>
        </p:txBody>
      </p:sp>
      <p:sp>
        <p:nvSpPr>
          <p:cNvPr id="30" name="Rectangle 29">
            <a:extLst>
              <a:ext uri="{FF2B5EF4-FFF2-40B4-BE49-F238E27FC236}">
                <a16:creationId xmlns:a16="http://schemas.microsoft.com/office/drawing/2014/main" id="{EC348D8F-6A02-45E7-A8BB-04C0FDF25C6B}"/>
              </a:ext>
            </a:extLst>
          </p:cNvPr>
          <p:cNvSpPr/>
          <p:nvPr/>
        </p:nvSpPr>
        <p:spPr>
          <a:xfrm>
            <a:off x="7231249" y="2381588"/>
            <a:ext cx="4986173" cy="412998"/>
          </a:xfrm>
          <a:prstGeom prst="rect">
            <a:avLst/>
          </a:prstGeom>
        </p:spPr>
        <p:txBody>
          <a:bodyPr wrap="none">
            <a:spAutoFit/>
          </a:bodyPr>
          <a:lstStyle/>
          <a:p>
            <a:pPr marL="300038" lvl="1">
              <a:lnSpc>
                <a:spcPct val="170000"/>
              </a:lnSpc>
            </a:pPr>
            <a:r>
              <a:rPr lang="he-IL" sz="1400" dirty="0"/>
              <a:t>ד. ייתכן ובכמות המיוצרת העלות המשתנה הממוצעת (</a:t>
            </a:r>
            <a:r>
              <a:rPr lang="en-US" sz="1400" dirty="0"/>
              <a:t>AVC</a:t>
            </a:r>
            <a:r>
              <a:rPr lang="he-IL" sz="1400" dirty="0"/>
              <a:t>) יורדת</a:t>
            </a:r>
          </a:p>
        </p:txBody>
      </p:sp>
      <p:sp>
        <p:nvSpPr>
          <p:cNvPr id="31" name="Rectangle 30">
            <a:extLst>
              <a:ext uri="{FF2B5EF4-FFF2-40B4-BE49-F238E27FC236}">
                <a16:creationId xmlns:a16="http://schemas.microsoft.com/office/drawing/2014/main" id="{B8748A77-E13C-4DD1-8DEA-ACD9F6C8C9B7}"/>
              </a:ext>
            </a:extLst>
          </p:cNvPr>
          <p:cNvSpPr/>
          <p:nvPr/>
        </p:nvSpPr>
        <p:spPr>
          <a:xfrm>
            <a:off x="9271255" y="2762858"/>
            <a:ext cx="2946610" cy="412998"/>
          </a:xfrm>
          <a:prstGeom prst="rect">
            <a:avLst/>
          </a:prstGeom>
        </p:spPr>
        <p:txBody>
          <a:bodyPr wrap="square">
            <a:spAutoFit/>
          </a:bodyPr>
          <a:lstStyle/>
          <a:p>
            <a:pPr marL="300038" lvl="1">
              <a:lnSpc>
                <a:spcPct val="170000"/>
              </a:lnSpc>
            </a:pPr>
            <a:r>
              <a:rPr lang="he-IL" sz="1400" dirty="0"/>
              <a:t>ה. כל התשובות האחרות אינן נכונות</a:t>
            </a:r>
            <a:endParaRPr lang="en-US" sz="1400" dirty="0"/>
          </a:p>
        </p:txBody>
      </p:sp>
      <p:sp>
        <p:nvSpPr>
          <p:cNvPr id="23" name="מלבן 5">
            <a:extLst>
              <a:ext uri="{FF2B5EF4-FFF2-40B4-BE49-F238E27FC236}">
                <a16:creationId xmlns:a16="http://schemas.microsoft.com/office/drawing/2014/main" id="{36FA391C-BDEC-4212-96E4-70FFD355FD30}"/>
              </a:ext>
            </a:extLst>
          </p:cNvPr>
          <p:cNvSpPr/>
          <p:nvPr/>
        </p:nvSpPr>
        <p:spPr>
          <a:xfrm>
            <a:off x="4191054" y="1170882"/>
            <a:ext cx="3407386" cy="46776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350"/>
          </a:p>
        </p:txBody>
      </p:sp>
      <p:sp>
        <p:nvSpPr>
          <p:cNvPr id="4" name="Date Placeholder 3">
            <a:extLst>
              <a:ext uri="{FF2B5EF4-FFF2-40B4-BE49-F238E27FC236}">
                <a16:creationId xmlns:a16="http://schemas.microsoft.com/office/drawing/2014/main" id="{5DB489FF-DB1E-44D4-8744-94A7C16CB72C}"/>
              </a:ext>
            </a:extLst>
          </p:cNvPr>
          <p:cNvSpPr>
            <a:spLocks noGrp="1"/>
          </p:cNvSpPr>
          <p:nvPr>
            <p:ph type="dt" sz="half" idx="10"/>
          </p:nvPr>
        </p:nvSpPr>
        <p:spPr/>
        <p:txBody>
          <a:bodyPr/>
          <a:lstStyle/>
          <a:p>
            <a:fld id="{0360239F-CFA9-4EC6-B3CC-680863AB40AA}" type="datetime8">
              <a:rPr lang="he-IL" smtClean="0"/>
              <a:t>03 ינואר 26</a:t>
            </a:fld>
            <a:endParaRPr lang="he-IL"/>
          </a:p>
        </p:txBody>
      </p:sp>
      <p:sp>
        <p:nvSpPr>
          <p:cNvPr id="21" name="Slide Number Placeholder 20">
            <a:extLst>
              <a:ext uri="{FF2B5EF4-FFF2-40B4-BE49-F238E27FC236}">
                <a16:creationId xmlns:a16="http://schemas.microsoft.com/office/drawing/2014/main" id="{DF8063C4-E327-4664-99BA-D03F1999EE4C}"/>
              </a:ext>
            </a:extLst>
          </p:cNvPr>
          <p:cNvSpPr>
            <a:spLocks noGrp="1"/>
          </p:cNvSpPr>
          <p:nvPr>
            <p:ph type="sldNum" sz="quarter" idx="12"/>
          </p:nvPr>
        </p:nvSpPr>
        <p:spPr/>
        <p:txBody>
          <a:bodyPr/>
          <a:lstStyle/>
          <a:p>
            <a:fld id="{492DB488-E800-4C9D-A68D-A9C6D048BCD3}" type="slidenum">
              <a:rPr lang="he-IL" smtClean="0"/>
              <a:pPr/>
              <a:t>57</a:t>
            </a:fld>
            <a:endParaRPr lang="he-IL"/>
          </a:p>
        </p:txBody>
      </p:sp>
      <p:sp>
        <p:nvSpPr>
          <p:cNvPr id="22" name="TextBox 21">
            <a:extLst>
              <a:ext uri="{FF2B5EF4-FFF2-40B4-BE49-F238E27FC236}">
                <a16:creationId xmlns:a16="http://schemas.microsoft.com/office/drawing/2014/main" id="{3A0BFF04-BFAD-4E1F-A44C-EEA56C308CE2}"/>
              </a:ext>
            </a:extLst>
          </p:cNvPr>
          <p:cNvSpPr txBox="1"/>
          <p:nvPr/>
        </p:nvSpPr>
        <p:spPr>
          <a:xfrm>
            <a:off x="8306945" y="3552432"/>
            <a:ext cx="1766888" cy="707886"/>
          </a:xfrm>
          <a:prstGeom prst="rect">
            <a:avLst/>
          </a:prstGeom>
          <a:noFill/>
        </p:spPr>
        <p:txBody>
          <a:bodyPr wrap="square" rtlCol="0">
            <a:spAutoFit/>
          </a:bodyPr>
          <a:lstStyle/>
          <a:p>
            <a:r>
              <a:rPr lang="he-IL" sz="2000" b="1" dirty="0">
                <a:solidFill>
                  <a:srgbClr val="00B050"/>
                </a:solidFill>
                <a:highlight>
                  <a:srgbClr val="FFFF00"/>
                </a:highlight>
              </a:rPr>
              <a:t>היצע הפירמה בטווח הקצר</a:t>
            </a:r>
            <a:endParaRPr lang="en-IL" sz="2000" b="1" dirty="0">
              <a:solidFill>
                <a:srgbClr val="00B050"/>
              </a:solidFill>
              <a:highlight>
                <a:srgbClr val="FFFF00"/>
              </a:highlight>
            </a:endParaRPr>
          </a:p>
        </p:txBody>
      </p:sp>
    </p:spTree>
    <p:extLst>
      <p:ext uri="{BB962C8B-B14F-4D97-AF65-F5344CB8AC3E}">
        <p14:creationId xmlns:p14="http://schemas.microsoft.com/office/powerpoint/2010/main" val="995155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randombar(horizontal)">
                                      <p:cBhvr>
                                        <p:cTn id="2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מציין מיקום תוכן 5"/>
          <p:cNvGraphicFramePr>
            <a:graphicFrameLocks noGrp="1"/>
          </p:cNvGraphicFramePr>
          <p:nvPr>
            <p:ph idx="1"/>
            <p:extLst>
              <p:ext uri="{D42A27DB-BD31-4B8C-83A1-F6EECF244321}">
                <p14:modId xmlns:p14="http://schemas.microsoft.com/office/powerpoint/2010/main" val="3740865454"/>
              </p:ext>
            </p:extLst>
          </p:nvPr>
        </p:nvGraphicFramePr>
        <p:xfrm>
          <a:off x="2390274" y="2022964"/>
          <a:ext cx="9322400" cy="1865638"/>
        </p:xfrm>
        <a:graphic>
          <a:graphicData uri="http://schemas.openxmlformats.org/drawingml/2006/table">
            <a:tbl>
              <a:tblPr rtl="1">
                <a:tableStyleId>{5C22544A-7EE6-4342-B048-85BDC9FD1C3A}</a:tableStyleId>
              </a:tblPr>
              <a:tblGrid>
                <a:gridCol w="2476451">
                  <a:extLst>
                    <a:ext uri="{9D8B030D-6E8A-4147-A177-3AD203B41FA5}">
                      <a16:colId xmlns:a16="http://schemas.microsoft.com/office/drawing/2014/main" val="20000"/>
                    </a:ext>
                  </a:extLst>
                </a:gridCol>
                <a:gridCol w="974539">
                  <a:extLst>
                    <a:ext uri="{9D8B030D-6E8A-4147-A177-3AD203B41FA5}">
                      <a16:colId xmlns:a16="http://schemas.microsoft.com/office/drawing/2014/main" val="20001"/>
                    </a:ext>
                  </a:extLst>
                </a:gridCol>
                <a:gridCol w="705852">
                  <a:extLst>
                    <a:ext uri="{9D8B030D-6E8A-4147-A177-3AD203B41FA5}">
                      <a16:colId xmlns:a16="http://schemas.microsoft.com/office/drawing/2014/main" val="20002"/>
                    </a:ext>
                  </a:extLst>
                </a:gridCol>
                <a:gridCol w="705853">
                  <a:extLst>
                    <a:ext uri="{9D8B030D-6E8A-4147-A177-3AD203B41FA5}">
                      <a16:colId xmlns:a16="http://schemas.microsoft.com/office/drawing/2014/main" val="20003"/>
                    </a:ext>
                  </a:extLst>
                </a:gridCol>
                <a:gridCol w="770021">
                  <a:extLst>
                    <a:ext uri="{9D8B030D-6E8A-4147-A177-3AD203B41FA5}">
                      <a16:colId xmlns:a16="http://schemas.microsoft.com/office/drawing/2014/main" val="20004"/>
                    </a:ext>
                  </a:extLst>
                </a:gridCol>
                <a:gridCol w="721895">
                  <a:extLst>
                    <a:ext uri="{9D8B030D-6E8A-4147-A177-3AD203B41FA5}">
                      <a16:colId xmlns:a16="http://schemas.microsoft.com/office/drawing/2014/main" val="20005"/>
                    </a:ext>
                  </a:extLst>
                </a:gridCol>
                <a:gridCol w="705852">
                  <a:extLst>
                    <a:ext uri="{9D8B030D-6E8A-4147-A177-3AD203B41FA5}">
                      <a16:colId xmlns:a16="http://schemas.microsoft.com/office/drawing/2014/main" val="20006"/>
                    </a:ext>
                  </a:extLst>
                </a:gridCol>
                <a:gridCol w="737937">
                  <a:extLst>
                    <a:ext uri="{9D8B030D-6E8A-4147-A177-3AD203B41FA5}">
                      <a16:colId xmlns:a16="http://schemas.microsoft.com/office/drawing/2014/main" val="20007"/>
                    </a:ext>
                  </a:extLst>
                </a:gridCol>
                <a:gridCol w="721895">
                  <a:extLst>
                    <a:ext uri="{9D8B030D-6E8A-4147-A177-3AD203B41FA5}">
                      <a16:colId xmlns:a16="http://schemas.microsoft.com/office/drawing/2014/main" val="20008"/>
                    </a:ext>
                  </a:extLst>
                </a:gridCol>
                <a:gridCol w="802105">
                  <a:extLst>
                    <a:ext uri="{9D8B030D-6E8A-4147-A177-3AD203B41FA5}">
                      <a16:colId xmlns:a16="http://schemas.microsoft.com/office/drawing/2014/main" val="20009"/>
                    </a:ext>
                  </a:extLst>
                </a:gridCol>
              </a:tblGrid>
              <a:tr h="412758">
                <a:tc>
                  <a:txBody>
                    <a:bodyPr/>
                    <a:lstStyle/>
                    <a:p>
                      <a:pPr algn="r" rtl="1">
                        <a:lnSpc>
                          <a:spcPct val="150000"/>
                        </a:lnSpc>
                        <a:spcAft>
                          <a:spcPts val="0"/>
                        </a:spcAft>
                      </a:pPr>
                      <a:r>
                        <a:rPr lang="he-IL" sz="1600" dirty="0">
                          <a:effectLst/>
                        </a:rPr>
                        <a:t>כמות מיוצרת</a:t>
                      </a:r>
                      <a:endParaRPr lang="en-US" sz="1600" dirty="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dirty="0">
                          <a:effectLst/>
                        </a:rPr>
                        <a:t>0</a:t>
                      </a:r>
                      <a:endParaRPr lang="en-US" sz="1800" b="0" dirty="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a:effectLst/>
                        </a:rPr>
                        <a:t>1</a:t>
                      </a:r>
                      <a:endParaRPr lang="en-US" sz="1800" b="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a:effectLst/>
                        </a:rPr>
                        <a:t>2</a:t>
                      </a:r>
                      <a:endParaRPr lang="en-US" sz="1800" b="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a:effectLst/>
                        </a:rPr>
                        <a:t>3</a:t>
                      </a:r>
                      <a:endParaRPr lang="en-US" sz="1800" b="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a:effectLst/>
                        </a:rPr>
                        <a:t>4</a:t>
                      </a:r>
                      <a:endParaRPr lang="en-US" sz="1800" b="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a:effectLst/>
                        </a:rPr>
                        <a:t>5</a:t>
                      </a:r>
                      <a:endParaRPr lang="en-US" sz="1800" b="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a:effectLst/>
                        </a:rPr>
                        <a:t>6</a:t>
                      </a:r>
                      <a:endParaRPr lang="en-US" sz="1800" b="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a:effectLst/>
                        </a:rPr>
                        <a:t>7</a:t>
                      </a:r>
                      <a:endParaRPr lang="en-US" sz="1800" b="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a:effectLst/>
                        </a:rPr>
                        <a:t>8</a:t>
                      </a:r>
                      <a:endParaRPr lang="en-US" sz="1800" b="0">
                        <a:effectLst/>
                        <a:latin typeface="Times New Roman"/>
                        <a:ea typeface="Times New Roman"/>
                        <a:cs typeface="David"/>
                      </a:endParaRPr>
                    </a:p>
                  </a:txBody>
                  <a:tcPr marL="68580" marR="68580" marT="0" marB="0"/>
                </a:tc>
                <a:extLst>
                  <a:ext uri="{0D108BD9-81ED-4DB2-BD59-A6C34878D82A}">
                    <a16:rowId xmlns:a16="http://schemas.microsoft.com/office/drawing/2014/main" val="10000"/>
                  </a:ext>
                </a:extLst>
              </a:tr>
              <a:tr h="658149">
                <a:tc>
                  <a:txBody>
                    <a:bodyPr/>
                    <a:lstStyle/>
                    <a:p>
                      <a:pPr algn="r" rtl="1">
                        <a:lnSpc>
                          <a:spcPct val="150000"/>
                        </a:lnSpc>
                        <a:spcAft>
                          <a:spcPts val="0"/>
                        </a:spcAft>
                      </a:pPr>
                      <a:r>
                        <a:rPr lang="he-IL" sz="1600" dirty="0">
                          <a:effectLst/>
                        </a:rPr>
                        <a:t>עלות היצור הכוללת </a:t>
                      </a:r>
                      <a:r>
                        <a:rPr lang="en-US" sz="1600" dirty="0">
                          <a:effectLst/>
                        </a:rPr>
                        <a:t>TC(X)</a:t>
                      </a:r>
                      <a:r>
                        <a:rPr lang="he-IL" sz="1600" dirty="0">
                          <a:effectLst/>
                        </a:rPr>
                        <a:t> </a:t>
                      </a:r>
                      <a:r>
                        <a:rPr lang="en-US" sz="1600" dirty="0">
                          <a:effectLst/>
                        </a:rPr>
                        <a:t>  </a:t>
                      </a:r>
                      <a:r>
                        <a:rPr lang="he-IL" sz="1600" dirty="0">
                          <a:effectLst/>
                        </a:rPr>
                        <a:t>עם טכנולוגיה</a:t>
                      </a:r>
                      <a:r>
                        <a:rPr lang="he-IL" sz="1800" b="1" dirty="0">
                          <a:effectLst/>
                        </a:rPr>
                        <a:t> א' </a:t>
                      </a:r>
                      <a:r>
                        <a:rPr lang="he-IL" sz="1600" dirty="0">
                          <a:effectLst/>
                        </a:rPr>
                        <a:t>בש"ח</a:t>
                      </a:r>
                      <a:endParaRPr lang="en-US" sz="1600" dirty="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a:effectLst/>
                        </a:rPr>
                        <a:t>80</a:t>
                      </a:r>
                      <a:endParaRPr lang="en-US" sz="1800" b="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dirty="0">
                          <a:effectLst/>
                        </a:rPr>
                        <a:t>85</a:t>
                      </a:r>
                      <a:endParaRPr lang="en-US" sz="1800" b="0" dirty="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a:effectLst/>
                        </a:rPr>
                        <a:t>110</a:t>
                      </a:r>
                      <a:endParaRPr lang="en-US" sz="1800" b="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a:effectLst/>
                        </a:rPr>
                        <a:t>150</a:t>
                      </a:r>
                      <a:endParaRPr lang="en-US" sz="1800" b="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dirty="0">
                          <a:effectLst/>
                        </a:rPr>
                        <a:t>200</a:t>
                      </a:r>
                      <a:endParaRPr lang="en-US" sz="1800" b="0" dirty="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dirty="0">
                          <a:effectLst/>
                        </a:rPr>
                        <a:t>270</a:t>
                      </a:r>
                      <a:endParaRPr lang="en-US" sz="1800" b="0" dirty="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a:effectLst/>
                        </a:rPr>
                        <a:t>370</a:t>
                      </a:r>
                      <a:endParaRPr lang="en-US" sz="1800" b="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a:effectLst/>
                        </a:rPr>
                        <a:t>480</a:t>
                      </a:r>
                      <a:endParaRPr lang="en-US" sz="1800" b="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dirty="0">
                          <a:effectLst/>
                        </a:rPr>
                        <a:t>610</a:t>
                      </a:r>
                      <a:endParaRPr lang="en-US" sz="1800" b="0" dirty="0">
                        <a:effectLst/>
                        <a:latin typeface="Times New Roman"/>
                        <a:ea typeface="Times New Roman"/>
                        <a:cs typeface="David"/>
                      </a:endParaRPr>
                    </a:p>
                  </a:txBody>
                  <a:tcPr marL="68580" marR="68580" marT="0" marB="0"/>
                </a:tc>
                <a:extLst>
                  <a:ext uri="{0D108BD9-81ED-4DB2-BD59-A6C34878D82A}">
                    <a16:rowId xmlns:a16="http://schemas.microsoft.com/office/drawing/2014/main" val="10001"/>
                  </a:ext>
                </a:extLst>
              </a:tr>
              <a:tr h="658149">
                <a:tc>
                  <a:txBody>
                    <a:bodyPr/>
                    <a:lstStyle/>
                    <a:p>
                      <a:pPr algn="r" rtl="1">
                        <a:lnSpc>
                          <a:spcPct val="150000"/>
                        </a:lnSpc>
                        <a:spcAft>
                          <a:spcPts val="0"/>
                        </a:spcAft>
                      </a:pPr>
                      <a:r>
                        <a:rPr lang="he-IL" sz="1600" dirty="0">
                          <a:effectLst/>
                        </a:rPr>
                        <a:t>עלות היצור הכוללת </a:t>
                      </a:r>
                      <a:r>
                        <a:rPr lang="en-US" sz="1600" dirty="0">
                          <a:effectLst/>
                        </a:rPr>
                        <a:t>TC(X)</a:t>
                      </a:r>
                      <a:r>
                        <a:rPr lang="he-IL" sz="1600" dirty="0">
                          <a:effectLst/>
                        </a:rPr>
                        <a:t> </a:t>
                      </a:r>
                      <a:r>
                        <a:rPr lang="en-US" sz="1600" dirty="0">
                          <a:effectLst/>
                        </a:rPr>
                        <a:t>  </a:t>
                      </a:r>
                      <a:r>
                        <a:rPr lang="he-IL" sz="1600" dirty="0">
                          <a:effectLst/>
                        </a:rPr>
                        <a:t>עם טכנולוגיה </a:t>
                      </a:r>
                      <a:r>
                        <a:rPr lang="he-IL" sz="1800" b="1" dirty="0">
                          <a:effectLst/>
                        </a:rPr>
                        <a:t>ב' </a:t>
                      </a:r>
                      <a:r>
                        <a:rPr lang="he-IL" sz="1600" dirty="0">
                          <a:effectLst/>
                        </a:rPr>
                        <a:t>בש"ח</a:t>
                      </a:r>
                      <a:endParaRPr lang="en-US" sz="1600" dirty="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dirty="0">
                          <a:effectLst/>
                        </a:rPr>
                        <a:t>200</a:t>
                      </a:r>
                      <a:endParaRPr lang="en-US" sz="1800" b="0" dirty="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a:effectLst/>
                        </a:rPr>
                        <a:t>210</a:t>
                      </a:r>
                      <a:endParaRPr lang="en-US" sz="1800" b="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dirty="0">
                          <a:effectLst/>
                        </a:rPr>
                        <a:t>230</a:t>
                      </a:r>
                      <a:endParaRPr lang="en-US" sz="1800" b="0" dirty="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a:effectLst/>
                        </a:rPr>
                        <a:t>255</a:t>
                      </a:r>
                      <a:endParaRPr lang="en-US" sz="1800" b="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dirty="0">
                          <a:effectLst/>
                        </a:rPr>
                        <a:t>290</a:t>
                      </a:r>
                      <a:endParaRPr lang="en-US" sz="1800" b="0" dirty="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dirty="0">
                          <a:effectLst/>
                        </a:rPr>
                        <a:t>330</a:t>
                      </a:r>
                      <a:endParaRPr lang="en-US" sz="1800" b="0" dirty="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dirty="0">
                          <a:effectLst/>
                        </a:rPr>
                        <a:t>375</a:t>
                      </a:r>
                      <a:endParaRPr lang="en-US" sz="1800" b="0" dirty="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dirty="0">
                          <a:effectLst/>
                        </a:rPr>
                        <a:t>425</a:t>
                      </a:r>
                      <a:endParaRPr lang="en-US" sz="1800" b="0" dirty="0">
                        <a:effectLst/>
                        <a:latin typeface="Times New Roman"/>
                        <a:ea typeface="Times New Roman"/>
                        <a:cs typeface="David"/>
                      </a:endParaRPr>
                    </a:p>
                  </a:txBody>
                  <a:tcPr marL="68580" marR="68580" marT="0" marB="0"/>
                </a:tc>
                <a:tc>
                  <a:txBody>
                    <a:bodyPr/>
                    <a:lstStyle/>
                    <a:p>
                      <a:pPr algn="ctr" rtl="1">
                        <a:lnSpc>
                          <a:spcPct val="150000"/>
                        </a:lnSpc>
                        <a:spcAft>
                          <a:spcPts val="0"/>
                        </a:spcAft>
                      </a:pPr>
                      <a:r>
                        <a:rPr lang="he-IL" sz="1800" b="0" dirty="0">
                          <a:effectLst/>
                        </a:rPr>
                        <a:t>555</a:t>
                      </a:r>
                      <a:endParaRPr lang="en-US" sz="1800" b="0" dirty="0">
                        <a:effectLst/>
                        <a:latin typeface="Times New Roman"/>
                        <a:ea typeface="Times New Roman"/>
                        <a:cs typeface="David"/>
                      </a:endParaRPr>
                    </a:p>
                  </a:txBody>
                  <a:tcPr marL="68580" marR="68580" marT="0" marB="0"/>
                </a:tc>
                <a:extLst>
                  <a:ext uri="{0D108BD9-81ED-4DB2-BD59-A6C34878D82A}">
                    <a16:rowId xmlns:a16="http://schemas.microsoft.com/office/drawing/2014/main" val="10002"/>
                  </a:ext>
                </a:extLst>
              </a:tr>
            </a:tbl>
          </a:graphicData>
        </a:graphic>
      </p:graphicFrame>
      <p:sp>
        <p:nvSpPr>
          <p:cNvPr id="4" name="מציין מיקום של תאריך 3"/>
          <p:cNvSpPr>
            <a:spLocks noGrp="1"/>
          </p:cNvSpPr>
          <p:nvPr>
            <p:ph type="dt" sz="half" idx="10"/>
          </p:nvPr>
        </p:nvSpPr>
        <p:spPr/>
        <p:txBody>
          <a:bodyPr/>
          <a:lstStyle/>
          <a:p>
            <a:fld id="{DC71C973-E3AB-4157-8B6F-295912650650}" type="datetime8">
              <a:rPr lang="he-IL" smtClean="0"/>
              <a:t>03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a:t>
            </a:r>
          </a:p>
        </p:txBody>
      </p:sp>
      <p:sp>
        <p:nvSpPr>
          <p:cNvPr id="7" name="מלבן 6"/>
          <p:cNvSpPr/>
          <p:nvPr/>
        </p:nvSpPr>
        <p:spPr>
          <a:xfrm>
            <a:off x="1952786" y="3822080"/>
            <a:ext cx="9813964" cy="2540567"/>
          </a:xfrm>
          <a:prstGeom prst="rect">
            <a:avLst/>
          </a:prstGeom>
        </p:spPr>
        <p:txBody>
          <a:bodyPr wrap="square">
            <a:spAutoFit/>
          </a:bodyPr>
          <a:lstStyle/>
          <a:p>
            <a:pPr lvl="0">
              <a:lnSpc>
                <a:spcPct val="150000"/>
              </a:lnSpc>
            </a:pPr>
            <a:r>
              <a:rPr lang="he-IL" dirty="0"/>
              <a:t>א. אם מחיר השוק של מוצר </a:t>
            </a:r>
            <a:r>
              <a:rPr lang="en-US" dirty="0"/>
              <a:t>X</a:t>
            </a:r>
            <a:r>
              <a:rPr lang="he-IL" dirty="0"/>
              <a:t> הוא  </a:t>
            </a:r>
            <a:r>
              <a:rPr lang="en-US" dirty="0"/>
              <a:t>PX=75</a:t>
            </a:r>
            <a:r>
              <a:rPr lang="he-IL" dirty="0"/>
              <a:t>  היצרן יכנס לענף עם  טכנולוגיה א' וייצר 5 יחידות.</a:t>
            </a:r>
            <a:endParaRPr lang="en-US" dirty="0"/>
          </a:p>
          <a:p>
            <a:pPr lvl="0">
              <a:lnSpc>
                <a:spcPct val="150000"/>
              </a:lnSpc>
            </a:pPr>
            <a:r>
              <a:rPr lang="he-IL" dirty="0"/>
              <a:t>ב. אם מחיר השוק של מוצר </a:t>
            </a:r>
            <a:r>
              <a:rPr lang="en-US" dirty="0"/>
              <a:t>X</a:t>
            </a:r>
            <a:r>
              <a:rPr lang="he-IL" dirty="0"/>
              <a:t> הוא  </a:t>
            </a:r>
            <a:r>
              <a:rPr lang="en-US" dirty="0"/>
              <a:t>PX=130</a:t>
            </a:r>
            <a:r>
              <a:rPr lang="he-IL" dirty="0"/>
              <a:t>  לא יהיה אכפת ליצרן באיזה טכנולוגיה להשתמש והוא ייצר 8 יחידות</a:t>
            </a:r>
            <a:endParaRPr lang="en-US" dirty="0"/>
          </a:p>
          <a:p>
            <a:pPr lvl="0">
              <a:lnSpc>
                <a:spcPct val="150000"/>
              </a:lnSpc>
            </a:pPr>
            <a:r>
              <a:rPr lang="he-IL" dirty="0"/>
              <a:t>ג. אם מחיר השוק של מוצר </a:t>
            </a:r>
            <a:r>
              <a:rPr lang="en-US" dirty="0"/>
              <a:t>X</a:t>
            </a:r>
            <a:r>
              <a:rPr lang="he-IL" dirty="0"/>
              <a:t> הוא  </a:t>
            </a:r>
            <a:r>
              <a:rPr lang="en-US" dirty="0"/>
              <a:t>PX=25</a:t>
            </a:r>
            <a:r>
              <a:rPr lang="he-IL" dirty="0"/>
              <a:t>  היצרן יכנס לענף עם טכנולוגיה א' וייצר 2 יחידות.</a:t>
            </a:r>
            <a:endParaRPr lang="en-US" dirty="0"/>
          </a:p>
          <a:p>
            <a:pPr lvl="0">
              <a:lnSpc>
                <a:spcPct val="150000"/>
              </a:lnSpc>
            </a:pPr>
            <a:r>
              <a:rPr lang="he-IL" dirty="0"/>
              <a:t>ד. אם מחיר השוק של מוצר </a:t>
            </a:r>
            <a:r>
              <a:rPr lang="en-US" dirty="0"/>
              <a:t>X</a:t>
            </a:r>
            <a:r>
              <a:rPr lang="he-IL" dirty="0"/>
              <a:t> הוא  </a:t>
            </a:r>
            <a:r>
              <a:rPr lang="en-US" dirty="0"/>
              <a:t>PX=40</a:t>
            </a:r>
            <a:r>
              <a:rPr lang="he-IL" dirty="0"/>
              <a:t>  היצרן בהכרח יכנס לענף עם טכנולוגיה ב' וייצר 5 יחידות.</a:t>
            </a:r>
            <a:endParaRPr lang="en-US" dirty="0"/>
          </a:p>
          <a:p>
            <a:pPr lvl="0">
              <a:lnSpc>
                <a:spcPct val="150000"/>
              </a:lnSpc>
            </a:pPr>
            <a:r>
              <a:rPr lang="he-IL" dirty="0"/>
              <a:t>ה. כל התשובות האחרות אינן נכונות.</a:t>
            </a:r>
            <a:endParaRPr lang="en-US" dirty="0"/>
          </a:p>
        </p:txBody>
      </p:sp>
      <p:sp>
        <p:nvSpPr>
          <p:cNvPr id="8" name="כותרת 1"/>
          <p:cNvSpPr>
            <a:spLocks noGrp="1"/>
          </p:cNvSpPr>
          <p:nvPr>
            <p:ph type="title"/>
          </p:nvPr>
        </p:nvSpPr>
        <p:spPr>
          <a:xfrm>
            <a:off x="7464203" y="190500"/>
            <a:ext cx="4600623" cy="1143000"/>
          </a:xfrm>
        </p:spPr>
        <p:txBody>
          <a:bodyPr>
            <a:normAutofit/>
          </a:bodyPr>
          <a:lstStyle/>
          <a:p>
            <a:pPr algn="r"/>
            <a:r>
              <a:rPr lang="he-IL" b="1" dirty="0">
                <a:solidFill>
                  <a:schemeClr val="tx2">
                    <a:lumMod val="75000"/>
                  </a:schemeClr>
                </a:solidFill>
              </a:rPr>
              <a:t>שאלה 4 </a:t>
            </a:r>
            <a:r>
              <a:rPr lang="he-IL" sz="3600" b="1" dirty="0">
                <a:solidFill>
                  <a:schemeClr val="tx2">
                    <a:lumMod val="75000"/>
                  </a:schemeClr>
                </a:solidFill>
              </a:rPr>
              <a:t>(שאלה מבחינה)</a:t>
            </a:r>
          </a:p>
        </p:txBody>
      </p:sp>
      <p:sp>
        <p:nvSpPr>
          <p:cNvPr id="9" name="מציין מיקום תוכן 2"/>
          <p:cNvSpPr txBox="1">
            <a:spLocks/>
          </p:cNvSpPr>
          <p:nvPr/>
        </p:nvSpPr>
        <p:spPr>
          <a:xfrm>
            <a:off x="751892" y="443299"/>
            <a:ext cx="6573416" cy="1108720"/>
          </a:xfrm>
          <a:prstGeom prst="rect">
            <a:avLst/>
          </a:prstGeom>
        </p:spPr>
        <p:txBody>
          <a:bodyPr vert="horz" lIns="91440" tIns="45720" rIns="91440" bIns="45720" rtlCol="1">
            <a:norm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he-IL" sz="1800" dirty="0"/>
              <a:t>את המוצר</a:t>
            </a:r>
            <a:r>
              <a:rPr lang="en-US" sz="1800" dirty="0"/>
              <a:t>X  </a:t>
            </a:r>
            <a:r>
              <a:rPr lang="he-IL" sz="1800" dirty="0"/>
              <a:t> ניתן לייצר באמצעות </a:t>
            </a:r>
            <a:r>
              <a:rPr lang="he-IL" sz="1800" u="sng" dirty="0"/>
              <a:t>רק אחת</a:t>
            </a:r>
            <a:r>
              <a:rPr lang="he-IL" sz="1800" dirty="0"/>
              <a:t> משתי טכנולוגיות </a:t>
            </a:r>
            <a:r>
              <a:rPr lang="he-IL" sz="1800" u="sng" dirty="0"/>
              <a:t>חלופיות</a:t>
            </a:r>
            <a:r>
              <a:rPr lang="he-IL" sz="1800" dirty="0"/>
              <a:t> : טכנולוגיה א' </a:t>
            </a:r>
            <a:r>
              <a:rPr lang="he-IL" sz="1800" b="1" u="sng" dirty="0"/>
              <a:t>או</a:t>
            </a:r>
            <a:r>
              <a:rPr lang="he-IL" sz="1800" dirty="0"/>
              <a:t> טכנולוגיה ב'. (לא ניתן להשתמש בשתיהן).</a:t>
            </a:r>
            <a:endParaRPr lang="en-US" sz="1800" dirty="0"/>
          </a:p>
          <a:p>
            <a:pPr marL="0" indent="0">
              <a:buNone/>
            </a:pPr>
            <a:r>
              <a:rPr lang="he-IL" sz="1800" dirty="0"/>
              <a:t>הוצאות היצור בכל אחת מהטכנולוגיות הללו נתונה בטבלה הבאה: </a:t>
            </a:r>
            <a:endParaRPr lang="en-US" sz="1800" dirty="0"/>
          </a:p>
        </p:txBody>
      </p:sp>
      <p:sp>
        <p:nvSpPr>
          <p:cNvPr id="10" name="מלבן 1">
            <a:extLst>
              <a:ext uri="{FF2B5EF4-FFF2-40B4-BE49-F238E27FC236}">
                <a16:creationId xmlns:a16="http://schemas.microsoft.com/office/drawing/2014/main" id="{0A144CE4-9FC3-42C7-9A97-7B47B37522B0}"/>
              </a:ext>
            </a:extLst>
          </p:cNvPr>
          <p:cNvSpPr/>
          <p:nvPr/>
        </p:nvSpPr>
        <p:spPr>
          <a:xfrm>
            <a:off x="3926419" y="1530141"/>
            <a:ext cx="7786256" cy="307777"/>
          </a:xfrm>
          <a:prstGeom prst="rect">
            <a:avLst/>
          </a:prstGeom>
        </p:spPr>
        <p:txBody>
          <a:bodyPr wrap="square">
            <a:spAutoFit/>
          </a:bodyPr>
          <a:lstStyle/>
          <a:p>
            <a:pPr algn="r" rtl="1"/>
            <a:r>
              <a:rPr lang="he-IL" sz="1400" dirty="0"/>
              <a:t>יזם שוקל להיכנס לענף תחרותי </a:t>
            </a:r>
            <a:r>
              <a:rPr lang="en-US" sz="1400" dirty="0"/>
              <a:t>X</a:t>
            </a:r>
            <a:r>
              <a:rPr lang="he-IL" sz="1400" dirty="0"/>
              <a:t> ולפיכך הוא שוקל באיזה טכנולוגיה להשתמש (אם יכנס לענף).</a:t>
            </a:r>
            <a:endParaRPr lang="en-US" sz="1400" dirty="0"/>
          </a:p>
        </p:txBody>
      </p:sp>
    </p:spTree>
    <p:extLst>
      <p:ext uri="{BB962C8B-B14F-4D97-AF65-F5344CB8AC3E}">
        <p14:creationId xmlns:p14="http://schemas.microsoft.com/office/powerpoint/2010/main" val="13296419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כותרת 1"/>
          <p:cNvSpPr>
            <a:spLocks noGrp="1"/>
          </p:cNvSpPr>
          <p:nvPr>
            <p:ph type="title"/>
          </p:nvPr>
        </p:nvSpPr>
        <p:spPr>
          <a:xfrm>
            <a:off x="8904312" y="-87605"/>
            <a:ext cx="3287688" cy="1143000"/>
          </a:xfrm>
        </p:spPr>
        <p:txBody>
          <a:bodyPr>
            <a:normAutofit/>
          </a:bodyPr>
          <a:lstStyle/>
          <a:p>
            <a:pPr algn="r"/>
            <a:r>
              <a:rPr lang="he-IL" b="1" dirty="0">
                <a:solidFill>
                  <a:schemeClr val="tx2">
                    <a:lumMod val="75000"/>
                  </a:schemeClr>
                </a:solidFill>
              </a:rPr>
              <a:t>שאלה 4 </a:t>
            </a:r>
            <a:r>
              <a:rPr lang="he-IL" sz="3600" b="1" dirty="0">
                <a:solidFill>
                  <a:schemeClr val="tx2">
                    <a:lumMod val="75000"/>
                  </a:schemeClr>
                </a:solidFill>
              </a:rPr>
              <a:t>מבחינה</a:t>
            </a:r>
            <a:endParaRPr lang="he-IL" b="1" dirty="0">
              <a:solidFill>
                <a:schemeClr val="tx2">
                  <a:lumMod val="75000"/>
                </a:schemeClr>
              </a:solidFill>
            </a:endParaRPr>
          </a:p>
        </p:txBody>
      </p:sp>
      <p:sp>
        <p:nvSpPr>
          <p:cNvPr id="2" name="מלבן 1"/>
          <p:cNvSpPr/>
          <p:nvPr/>
        </p:nvSpPr>
        <p:spPr>
          <a:xfrm>
            <a:off x="9981127" y="995234"/>
            <a:ext cx="2210873" cy="954107"/>
          </a:xfrm>
          <a:prstGeom prst="rect">
            <a:avLst/>
          </a:prstGeom>
        </p:spPr>
        <p:txBody>
          <a:bodyPr wrap="square">
            <a:spAutoFit/>
          </a:bodyPr>
          <a:lstStyle/>
          <a:p>
            <a:pPr algn="r" rtl="1"/>
            <a:r>
              <a:rPr lang="he-IL" sz="1400" dirty="0"/>
              <a:t>יזם שוקל להיכנס לענף תחרותי </a:t>
            </a:r>
            <a:r>
              <a:rPr lang="en-US" sz="1400" dirty="0"/>
              <a:t>X</a:t>
            </a:r>
            <a:r>
              <a:rPr lang="he-IL" sz="1400" dirty="0"/>
              <a:t> ולפיכך הוא שוקל באיזה טכנולוגיה להשתמש (אם יכנס לענף).</a:t>
            </a:r>
            <a:endParaRPr lang="en-US" sz="1400" dirty="0"/>
          </a:p>
        </p:txBody>
      </p:sp>
      <p:sp>
        <p:nvSpPr>
          <p:cNvPr id="3" name="Date Placeholder 2"/>
          <p:cNvSpPr>
            <a:spLocks noGrp="1"/>
          </p:cNvSpPr>
          <p:nvPr>
            <p:ph type="dt" sz="half" idx="10"/>
          </p:nvPr>
        </p:nvSpPr>
        <p:spPr>
          <a:xfrm>
            <a:off x="1979111" y="6352504"/>
            <a:ext cx="1167617" cy="365125"/>
          </a:xfrm>
        </p:spPr>
        <p:txBody>
          <a:bodyPr/>
          <a:lstStyle/>
          <a:p>
            <a:fld id="{62CD0F34-E9CA-4458-8B01-ACE383DBFE35}" type="datetime8">
              <a:rPr lang="he-IL" smtClean="0"/>
              <a:t>03 ינואר 26</a:t>
            </a:fld>
            <a:endParaRPr lang="he-IL" dirty="0"/>
          </a:p>
        </p:txBody>
      </p:sp>
      <p:graphicFrame>
        <p:nvGraphicFramePr>
          <p:cNvPr id="5" name="Table 6">
            <a:extLst>
              <a:ext uri="{FF2B5EF4-FFF2-40B4-BE49-F238E27FC236}">
                <a16:creationId xmlns:a16="http://schemas.microsoft.com/office/drawing/2014/main" id="{1787060A-0DE0-467D-9AEB-BAE25A6BB039}"/>
              </a:ext>
            </a:extLst>
          </p:cNvPr>
          <p:cNvGraphicFramePr>
            <a:graphicFrameLocks noGrp="1"/>
          </p:cNvGraphicFramePr>
          <p:nvPr>
            <p:extLst>
              <p:ext uri="{D42A27DB-BD31-4B8C-83A1-F6EECF244321}">
                <p14:modId xmlns:p14="http://schemas.microsoft.com/office/powerpoint/2010/main" val="3488754718"/>
              </p:ext>
            </p:extLst>
          </p:nvPr>
        </p:nvGraphicFramePr>
        <p:xfrm>
          <a:off x="4986414" y="605643"/>
          <a:ext cx="4080094" cy="4397500"/>
        </p:xfrm>
        <a:graphic>
          <a:graphicData uri="http://schemas.openxmlformats.org/drawingml/2006/table">
            <a:tbl>
              <a:tblPr firstRow="1" bandRow="1">
                <a:tableStyleId>{5C22544A-7EE6-4342-B048-85BDC9FD1C3A}</a:tableStyleId>
              </a:tblPr>
              <a:tblGrid>
                <a:gridCol w="1908128">
                  <a:extLst>
                    <a:ext uri="{9D8B030D-6E8A-4147-A177-3AD203B41FA5}">
                      <a16:colId xmlns:a16="http://schemas.microsoft.com/office/drawing/2014/main" val="877989887"/>
                    </a:ext>
                  </a:extLst>
                </a:gridCol>
                <a:gridCol w="829613">
                  <a:extLst>
                    <a:ext uri="{9D8B030D-6E8A-4147-A177-3AD203B41FA5}">
                      <a16:colId xmlns:a16="http://schemas.microsoft.com/office/drawing/2014/main" val="2893910380"/>
                    </a:ext>
                  </a:extLst>
                </a:gridCol>
                <a:gridCol w="608384">
                  <a:extLst>
                    <a:ext uri="{9D8B030D-6E8A-4147-A177-3AD203B41FA5}">
                      <a16:colId xmlns:a16="http://schemas.microsoft.com/office/drawing/2014/main" val="4127186392"/>
                    </a:ext>
                  </a:extLst>
                </a:gridCol>
                <a:gridCol w="733969">
                  <a:extLst>
                    <a:ext uri="{9D8B030D-6E8A-4147-A177-3AD203B41FA5}">
                      <a16:colId xmlns:a16="http://schemas.microsoft.com/office/drawing/2014/main" val="250261459"/>
                    </a:ext>
                  </a:extLst>
                </a:gridCol>
              </a:tblGrid>
              <a:tr h="865541">
                <a:tc>
                  <a:txBody>
                    <a:bodyPr/>
                    <a:lstStyle/>
                    <a:p>
                      <a:pPr algn="ctr"/>
                      <a:r>
                        <a:rPr lang="he-IL" dirty="0"/>
                        <a:t>רווח נקי</a:t>
                      </a:r>
                    </a:p>
                    <a:p>
                      <a:pPr algn="ctr"/>
                      <a:r>
                        <a:rPr lang="en-US" dirty="0"/>
                        <a:t>P*X-TC</a:t>
                      </a:r>
                      <a:endParaRPr lang="en-IL" dirty="0"/>
                    </a:p>
                  </a:txBody>
                  <a:tcPr>
                    <a:solidFill>
                      <a:srgbClr val="EB1DBF"/>
                    </a:solidFill>
                  </a:tcPr>
                </a:tc>
                <a:tc>
                  <a:txBody>
                    <a:bodyPr/>
                    <a:lstStyle/>
                    <a:p>
                      <a:pPr algn="ctr"/>
                      <a:r>
                        <a:rPr lang="en-US" dirty="0"/>
                        <a:t>MC</a:t>
                      </a:r>
                      <a:endParaRPr lang="en-IL" dirty="0"/>
                    </a:p>
                  </a:txBody>
                  <a:tcPr>
                    <a:solidFill>
                      <a:srgbClr val="EB1DBF"/>
                    </a:solidFill>
                  </a:tcPr>
                </a:tc>
                <a:tc>
                  <a:txBody>
                    <a:bodyPr/>
                    <a:lstStyle/>
                    <a:p>
                      <a:pPr algn="ctr"/>
                      <a:r>
                        <a:rPr lang="en-US" dirty="0"/>
                        <a:t>TC</a:t>
                      </a:r>
                      <a:endParaRPr lang="en-IL" dirty="0"/>
                    </a:p>
                  </a:txBody>
                  <a:tcPr>
                    <a:solidFill>
                      <a:srgbClr val="EB1DBF"/>
                    </a:solidFill>
                  </a:tcPr>
                </a:tc>
                <a:tc>
                  <a:txBody>
                    <a:bodyPr/>
                    <a:lstStyle/>
                    <a:p>
                      <a:pPr algn="ctr" rtl="1"/>
                      <a:r>
                        <a:rPr lang="he-IL" sz="1500" dirty="0"/>
                        <a:t>כמות מיוצרת</a:t>
                      </a:r>
                      <a:r>
                        <a:rPr lang="he-IL" sz="1400" dirty="0"/>
                        <a:t> </a:t>
                      </a:r>
                      <a:r>
                        <a:rPr lang="en-US" sz="1600" dirty="0"/>
                        <a:t>X</a:t>
                      </a:r>
                      <a:endParaRPr lang="en-IL" dirty="0"/>
                    </a:p>
                  </a:txBody>
                  <a:tcPr>
                    <a:solidFill>
                      <a:srgbClr val="EB1DBF"/>
                    </a:solidFill>
                  </a:tcPr>
                </a:tc>
                <a:extLst>
                  <a:ext uri="{0D108BD9-81ED-4DB2-BD59-A6C34878D82A}">
                    <a16:rowId xmlns:a16="http://schemas.microsoft.com/office/drawing/2014/main" val="2821387179"/>
                  </a:ext>
                </a:extLst>
              </a:tr>
              <a:tr h="346216">
                <a:tc>
                  <a:txBody>
                    <a:bodyPr/>
                    <a:lstStyle/>
                    <a:p>
                      <a:pPr algn="ctr"/>
                      <a:endParaRPr lang="en-IL" dirty="0"/>
                    </a:p>
                  </a:txBody>
                  <a:tcPr>
                    <a:solidFill>
                      <a:srgbClr val="F5DEF6"/>
                    </a:solidFill>
                  </a:tcPr>
                </a:tc>
                <a:tc>
                  <a:txBody>
                    <a:bodyPr/>
                    <a:lstStyle/>
                    <a:p>
                      <a:pPr algn="ctr"/>
                      <a:endParaRPr lang="en-IL" dirty="0"/>
                    </a:p>
                  </a:txBody>
                  <a:tcPr>
                    <a:solidFill>
                      <a:srgbClr val="F5DEF6"/>
                    </a:solidFill>
                  </a:tcPr>
                </a:tc>
                <a:tc>
                  <a:txBody>
                    <a:bodyPr/>
                    <a:lstStyle/>
                    <a:p>
                      <a:pPr algn="ctr"/>
                      <a:r>
                        <a:rPr lang="en-US" dirty="0"/>
                        <a:t>80</a:t>
                      </a:r>
                      <a:endParaRPr lang="en-IL" dirty="0"/>
                    </a:p>
                  </a:txBody>
                  <a:tcPr>
                    <a:solidFill>
                      <a:srgbClr val="F5DEF6"/>
                    </a:solidFill>
                  </a:tcPr>
                </a:tc>
                <a:tc>
                  <a:txBody>
                    <a:bodyPr/>
                    <a:lstStyle/>
                    <a:p>
                      <a:pPr algn="ctr"/>
                      <a:r>
                        <a:rPr lang="en-US" dirty="0"/>
                        <a:t>0</a:t>
                      </a:r>
                      <a:endParaRPr lang="en-IL" dirty="0"/>
                    </a:p>
                  </a:txBody>
                  <a:tcPr>
                    <a:solidFill>
                      <a:srgbClr val="F5DEF6"/>
                    </a:solidFill>
                  </a:tcPr>
                </a:tc>
                <a:extLst>
                  <a:ext uri="{0D108BD9-81ED-4DB2-BD59-A6C34878D82A}">
                    <a16:rowId xmlns:a16="http://schemas.microsoft.com/office/drawing/2014/main" val="90168298"/>
                  </a:ext>
                </a:extLst>
              </a:tr>
              <a:tr h="346216">
                <a:tc>
                  <a:txBody>
                    <a:bodyPr/>
                    <a:lstStyle/>
                    <a:p>
                      <a:pPr algn="ctr"/>
                      <a:endParaRPr lang="en-IL" dirty="0"/>
                    </a:p>
                  </a:txBody>
                  <a:tcPr/>
                </a:tc>
                <a:tc>
                  <a:txBody>
                    <a:bodyPr/>
                    <a:lstStyle/>
                    <a:p>
                      <a:pPr algn="ctr"/>
                      <a:endParaRPr lang="en-IL" dirty="0"/>
                    </a:p>
                  </a:txBody>
                  <a:tcPr/>
                </a:tc>
                <a:tc>
                  <a:txBody>
                    <a:bodyPr/>
                    <a:lstStyle/>
                    <a:p>
                      <a:pPr algn="ctr"/>
                      <a:r>
                        <a:rPr lang="en-US" dirty="0"/>
                        <a:t>85</a:t>
                      </a:r>
                      <a:endParaRPr lang="en-IL" dirty="0"/>
                    </a:p>
                  </a:txBody>
                  <a:tcPr/>
                </a:tc>
                <a:tc>
                  <a:txBody>
                    <a:bodyPr/>
                    <a:lstStyle/>
                    <a:p>
                      <a:pPr algn="ctr"/>
                      <a:r>
                        <a:rPr lang="en-US" dirty="0"/>
                        <a:t>1</a:t>
                      </a:r>
                      <a:endParaRPr lang="en-IL" dirty="0"/>
                    </a:p>
                  </a:txBody>
                  <a:tcPr/>
                </a:tc>
                <a:extLst>
                  <a:ext uri="{0D108BD9-81ED-4DB2-BD59-A6C34878D82A}">
                    <a16:rowId xmlns:a16="http://schemas.microsoft.com/office/drawing/2014/main" val="1110799114"/>
                  </a:ext>
                </a:extLst>
              </a:tr>
              <a:tr h="346216">
                <a:tc>
                  <a:txBody>
                    <a:bodyPr/>
                    <a:lstStyle/>
                    <a:p>
                      <a:pPr algn="ctr"/>
                      <a:endParaRPr lang="en-IL" dirty="0"/>
                    </a:p>
                  </a:txBody>
                  <a:tcPr>
                    <a:solidFill>
                      <a:srgbClr val="F5DEF6"/>
                    </a:solidFill>
                  </a:tcPr>
                </a:tc>
                <a:tc>
                  <a:txBody>
                    <a:bodyPr/>
                    <a:lstStyle/>
                    <a:p>
                      <a:pPr algn="ctr"/>
                      <a:endParaRPr lang="en-IL" dirty="0"/>
                    </a:p>
                  </a:txBody>
                  <a:tcPr>
                    <a:solidFill>
                      <a:srgbClr val="F5DEF6"/>
                    </a:solidFill>
                  </a:tcPr>
                </a:tc>
                <a:tc>
                  <a:txBody>
                    <a:bodyPr/>
                    <a:lstStyle/>
                    <a:p>
                      <a:pPr algn="ctr"/>
                      <a:r>
                        <a:rPr lang="en-US" dirty="0"/>
                        <a:t>110</a:t>
                      </a:r>
                      <a:endParaRPr lang="en-IL" dirty="0"/>
                    </a:p>
                  </a:txBody>
                  <a:tcPr>
                    <a:solidFill>
                      <a:srgbClr val="F5DEF6"/>
                    </a:solidFill>
                  </a:tcPr>
                </a:tc>
                <a:tc>
                  <a:txBody>
                    <a:bodyPr/>
                    <a:lstStyle/>
                    <a:p>
                      <a:pPr algn="ctr"/>
                      <a:r>
                        <a:rPr lang="en-US" dirty="0"/>
                        <a:t>2</a:t>
                      </a:r>
                      <a:endParaRPr lang="en-IL" dirty="0"/>
                    </a:p>
                  </a:txBody>
                  <a:tcPr>
                    <a:solidFill>
                      <a:srgbClr val="F5DEF6"/>
                    </a:solidFill>
                  </a:tcPr>
                </a:tc>
                <a:extLst>
                  <a:ext uri="{0D108BD9-81ED-4DB2-BD59-A6C34878D82A}">
                    <a16:rowId xmlns:a16="http://schemas.microsoft.com/office/drawing/2014/main" val="3140096073"/>
                  </a:ext>
                </a:extLst>
              </a:tr>
              <a:tr h="346216">
                <a:tc>
                  <a:txBody>
                    <a:bodyPr/>
                    <a:lstStyle/>
                    <a:p>
                      <a:pPr algn="ctr"/>
                      <a:endParaRPr lang="en-IL" dirty="0"/>
                    </a:p>
                  </a:txBody>
                  <a:tcPr/>
                </a:tc>
                <a:tc>
                  <a:txBody>
                    <a:bodyPr/>
                    <a:lstStyle/>
                    <a:p>
                      <a:pPr algn="ctr"/>
                      <a:endParaRPr lang="en-IL" dirty="0"/>
                    </a:p>
                  </a:txBody>
                  <a:tcPr/>
                </a:tc>
                <a:tc>
                  <a:txBody>
                    <a:bodyPr/>
                    <a:lstStyle/>
                    <a:p>
                      <a:pPr algn="ctr"/>
                      <a:r>
                        <a:rPr lang="en-US" dirty="0"/>
                        <a:t>150</a:t>
                      </a:r>
                      <a:endParaRPr lang="en-IL" dirty="0"/>
                    </a:p>
                  </a:txBody>
                  <a:tcPr/>
                </a:tc>
                <a:tc>
                  <a:txBody>
                    <a:bodyPr/>
                    <a:lstStyle/>
                    <a:p>
                      <a:pPr algn="ctr"/>
                      <a:r>
                        <a:rPr lang="en-US" dirty="0"/>
                        <a:t>3</a:t>
                      </a:r>
                      <a:endParaRPr lang="en-IL" dirty="0"/>
                    </a:p>
                  </a:txBody>
                  <a:tcPr/>
                </a:tc>
                <a:extLst>
                  <a:ext uri="{0D108BD9-81ED-4DB2-BD59-A6C34878D82A}">
                    <a16:rowId xmlns:a16="http://schemas.microsoft.com/office/drawing/2014/main" val="2363313943"/>
                  </a:ext>
                </a:extLst>
              </a:tr>
              <a:tr h="346216">
                <a:tc>
                  <a:txBody>
                    <a:bodyPr/>
                    <a:lstStyle/>
                    <a:p>
                      <a:pPr algn="ctr"/>
                      <a:endParaRPr lang="en-IL" dirty="0"/>
                    </a:p>
                  </a:txBody>
                  <a:tcPr>
                    <a:solidFill>
                      <a:srgbClr val="F5DEF6"/>
                    </a:solidFill>
                  </a:tcPr>
                </a:tc>
                <a:tc>
                  <a:txBody>
                    <a:bodyPr/>
                    <a:lstStyle/>
                    <a:p>
                      <a:pPr algn="ctr"/>
                      <a:endParaRPr lang="en-IL" dirty="0"/>
                    </a:p>
                  </a:txBody>
                  <a:tcPr>
                    <a:solidFill>
                      <a:srgbClr val="F5DEF6"/>
                    </a:solidFill>
                  </a:tcPr>
                </a:tc>
                <a:tc>
                  <a:txBody>
                    <a:bodyPr/>
                    <a:lstStyle/>
                    <a:p>
                      <a:pPr algn="ctr"/>
                      <a:r>
                        <a:rPr lang="en-US" dirty="0"/>
                        <a:t>200</a:t>
                      </a:r>
                      <a:endParaRPr lang="en-IL" dirty="0"/>
                    </a:p>
                  </a:txBody>
                  <a:tcPr>
                    <a:solidFill>
                      <a:srgbClr val="F5DEF6"/>
                    </a:solidFill>
                  </a:tcPr>
                </a:tc>
                <a:tc>
                  <a:txBody>
                    <a:bodyPr/>
                    <a:lstStyle/>
                    <a:p>
                      <a:pPr algn="ctr"/>
                      <a:r>
                        <a:rPr lang="en-US" dirty="0"/>
                        <a:t>4</a:t>
                      </a:r>
                      <a:endParaRPr lang="en-IL" dirty="0"/>
                    </a:p>
                  </a:txBody>
                  <a:tcPr>
                    <a:solidFill>
                      <a:srgbClr val="F5DEF6"/>
                    </a:solidFill>
                  </a:tcPr>
                </a:tc>
                <a:extLst>
                  <a:ext uri="{0D108BD9-81ED-4DB2-BD59-A6C34878D82A}">
                    <a16:rowId xmlns:a16="http://schemas.microsoft.com/office/drawing/2014/main" val="3086807375"/>
                  </a:ext>
                </a:extLst>
              </a:tr>
              <a:tr h="346216">
                <a:tc>
                  <a:txBody>
                    <a:bodyPr/>
                    <a:lstStyle/>
                    <a:p>
                      <a:pPr algn="ctr"/>
                      <a:endParaRPr lang="en-IL" dirty="0"/>
                    </a:p>
                  </a:txBody>
                  <a:tcPr/>
                </a:tc>
                <a:tc>
                  <a:txBody>
                    <a:bodyPr/>
                    <a:lstStyle/>
                    <a:p>
                      <a:pPr algn="ctr"/>
                      <a:endParaRPr lang="en-IL"/>
                    </a:p>
                  </a:txBody>
                  <a:tcPr/>
                </a:tc>
                <a:tc>
                  <a:txBody>
                    <a:bodyPr/>
                    <a:lstStyle/>
                    <a:p>
                      <a:pPr algn="ctr"/>
                      <a:r>
                        <a:rPr lang="en-US" dirty="0"/>
                        <a:t>270</a:t>
                      </a:r>
                      <a:endParaRPr lang="en-IL" dirty="0"/>
                    </a:p>
                  </a:txBody>
                  <a:tcPr/>
                </a:tc>
                <a:tc>
                  <a:txBody>
                    <a:bodyPr/>
                    <a:lstStyle/>
                    <a:p>
                      <a:pPr algn="ctr"/>
                      <a:r>
                        <a:rPr lang="en-US" dirty="0"/>
                        <a:t>5</a:t>
                      </a:r>
                      <a:endParaRPr lang="en-IL" dirty="0"/>
                    </a:p>
                  </a:txBody>
                  <a:tcPr/>
                </a:tc>
                <a:extLst>
                  <a:ext uri="{0D108BD9-81ED-4DB2-BD59-A6C34878D82A}">
                    <a16:rowId xmlns:a16="http://schemas.microsoft.com/office/drawing/2014/main" val="2488581084"/>
                  </a:ext>
                </a:extLst>
              </a:tr>
              <a:tr h="346216">
                <a:tc>
                  <a:txBody>
                    <a:bodyPr/>
                    <a:lstStyle/>
                    <a:p>
                      <a:pPr algn="ctr"/>
                      <a:endParaRPr lang="en-IL" dirty="0"/>
                    </a:p>
                  </a:txBody>
                  <a:tcPr>
                    <a:solidFill>
                      <a:srgbClr val="F5DEF6"/>
                    </a:solidFill>
                  </a:tcPr>
                </a:tc>
                <a:tc>
                  <a:txBody>
                    <a:bodyPr/>
                    <a:lstStyle/>
                    <a:p>
                      <a:pPr algn="ctr"/>
                      <a:endParaRPr lang="en-IL" dirty="0"/>
                    </a:p>
                  </a:txBody>
                  <a:tcPr>
                    <a:solidFill>
                      <a:srgbClr val="F5DEF6"/>
                    </a:solidFill>
                  </a:tcPr>
                </a:tc>
                <a:tc>
                  <a:txBody>
                    <a:bodyPr/>
                    <a:lstStyle/>
                    <a:p>
                      <a:pPr algn="ctr"/>
                      <a:r>
                        <a:rPr lang="en-US" dirty="0"/>
                        <a:t>370</a:t>
                      </a:r>
                      <a:endParaRPr lang="en-IL" dirty="0"/>
                    </a:p>
                  </a:txBody>
                  <a:tcPr>
                    <a:solidFill>
                      <a:srgbClr val="F5DEF6"/>
                    </a:solidFill>
                  </a:tcPr>
                </a:tc>
                <a:tc>
                  <a:txBody>
                    <a:bodyPr/>
                    <a:lstStyle/>
                    <a:p>
                      <a:pPr algn="ctr"/>
                      <a:r>
                        <a:rPr lang="en-US" dirty="0"/>
                        <a:t>6</a:t>
                      </a:r>
                      <a:endParaRPr lang="en-IL" dirty="0"/>
                    </a:p>
                  </a:txBody>
                  <a:tcPr>
                    <a:solidFill>
                      <a:srgbClr val="F5DEF6"/>
                    </a:solidFill>
                  </a:tcPr>
                </a:tc>
                <a:extLst>
                  <a:ext uri="{0D108BD9-81ED-4DB2-BD59-A6C34878D82A}">
                    <a16:rowId xmlns:a16="http://schemas.microsoft.com/office/drawing/2014/main" val="774215678"/>
                  </a:ext>
                </a:extLst>
              </a:tr>
              <a:tr h="346216">
                <a:tc>
                  <a:txBody>
                    <a:bodyPr/>
                    <a:lstStyle/>
                    <a:p>
                      <a:pPr algn="ctr"/>
                      <a:endParaRPr lang="en-IL"/>
                    </a:p>
                  </a:txBody>
                  <a:tcPr/>
                </a:tc>
                <a:tc>
                  <a:txBody>
                    <a:bodyPr/>
                    <a:lstStyle/>
                    <a:p>
                      <a:pPr algn="ctr"/>
                      <a:endParaRPr lang="en-IL"/>
                    </a:p>
                  </a:txBody>
                  <a:tcPr/>
                </a:tc>
                <a:tc>
                  <a:txBody>
                    <a:bodyPr/>
                    <a:lstStyle/>
                    <a:p>
                      <a:pPr algn="ctr"/>
                      <a:r>
                        <a:rPr lang="en-US" dirty="0"/>
                        <a:t>480</a:t>
                      </a:r>
                      <a:endParaRPr lang="en-IL" dirty="0"/>
                    </a:p>
                  </a:txBody>
                  <a:tcPr/>
                </a:tc>
                <a:tc>
                  <a:txBody>
                    <a:bodyPr/>
                    <a:lstStyle/>
                    <a:p>
                      <a:pPr algn="ctr"/>
                      <a:r>
                        <a:rPr lang="en-US" dirty="0"/>
                        <a:t>7</a:t>
                      </a:r>
                      <a:endParaRPr lang="en-IL" dirty="0"/>
                    </a:p>
                  </a:txBody>
                  <a:tcPr/>
                </a:tc>
                <a:extLst>
                  <a:ext uri="{0D108BD9-81ED-4DB2-BD59-A6C34878D82A}">
                    <a16:rowId xmlns:a16="http://schemas.microsoft.com/office/drawing/2014/main" val="3621824598"/>
                  </a:ext>
                </a:extLst>
              </a:tr>
              <a:tr h="605879">
                <a:tc>
                  <a:txBody>
                    <a:bodyPr/>
                    <a:lstStyle/>
                    <a:p>
                      <a:pPr algn="ctr"/>
                      <a:endParaRPr lang="en-IL" dirty="0"/>
                    </a:p>
                  </a:txBody>
                  <a:tcPr>
                    <a:solidFill>
                      <a:srgbClr val="F5DEF6"/>
                    </a:solidFill>
                  </a:tcPr>
                </a:tc>
                <a:tc>
                  <a:txBody>
                    <a:bodyPr/>
                    <a:lstStyle/>
                    <a:p>
                      <a:pPr algn="ctr"/>
                      <a:endParaRPr lang="en-IL" dirty="0"/>
                    </a:p>
                  </a:txBody>
                  <a:tcPr>
                    <a:solidFill>
                      <a:srgbClr val="F5DEF6"/>
                    </a:solidFill>
                  </a:tcPr>
                </a:tc>
                <a:tc>
                  <a:txBody>
                    <a:bodyPr/>
                    <a:lstStyle/>
                    <a:p>
                      <a:pPr algn="ctr"/>
                      <a:r>
                        <a:rPr lang="en-US" dirty="0"/>
                        <a:t>610</a:t>
                      </a:r>
                      <a:endParaRPr lang="en-IL" dirty="0"/>
                    </a:p>
                  </a:txBody>
                  <a:tcPr>
                    <a:solidFill>
                      <a:srgbClr val="F5DEF6"/>
                    </a:solidFill>
                  </a:tcPr>
                </a:tc>
                <a:tc>
                  <a:txBody>
                    <a:bodyPr/>
                    <a:lstStyle/>
                    <a:p>
                      <a:pPr algn="ctr"/>
                      <a:r>
                        <a:rPr lang="en-US" dirty="0"/>
                        <a:t>8</a:t>
                      </a:r>
                    </a:p>
                  </a:txBody>
                  <a:tcPr>
                    <a:solidFill>
                      <a:srgbClr val="F5DEF6"/>
                    </a:solidFill>
                  </a:tcPr>
                </a:tc>
                <a:extLst>
                  <a:ext uri="{0D108BD9-81ED-4DB2-BD59-A6C34878D82A}">
                    <a16:rowId xmlns:a16="http://schemas.microsoft.com/office/drawing/2014/main" val="2507032300"/>
                  </a:ext>
                </a:extLst>
              </a:tr>
            </a:tbl>
          </a:graphicData>
        </a:graphic>
      </p:graphicFrame>
      <p:sp>
        <p:nvSpPr>
          <p:cNvPr id="11" name="TextBox 10">
            <a:extLst>
              <a:ext uri="{FF2B5EF4-FFF2-40B4-BE49-F238E27FC236}">
                <a16:creationId xmlns:a16="http://schemas.microsoft.com/office/drawing/2014/main" id="{3BCADBEF-575C-469E-97AD-6DB6517E862C}"/>
              </a:ext>
            </a:extLst>
          </p:cNvPr>
          <p:cNvSpPr txBox="1"/>
          <p:nvPr/>
        </p:nvSpPr>
        <p:spPr>
          <a:xfrm>
            <a:off x="6905892" y="237617"/>
            <a:ext cx="1523934" cy="369332"/>
          </a:xfrm>
          <a:prstGeom prst="rect">
            <a:avLst/>
          </a:prstGeom>
          <a:noFill/>
        </p:spPr>
        <p:txBody>
          <a:bodyPr wrap="square">
            <a:spAutoFit/>
          </a:bodyPr>
          <a:lstStyle/>
          <a:p>
            <a:pPr algn="ctr" rtl="1" fontAlgn="ctr"/>
            <a:r>
              <a:rPr lang="he-IL" sz="1800" u="none" strike="noStrike" dirty="0">
                <a:solidFill>
                  <a:srgbClr val="FF00FF"/>
                </a:solidFill>
                <a:effectLst/>
              </a:rPr>
              <a:t>טכנולוגיה א'</a:t>
            </a:r>
            <a:endParaRPr lang="he-IL" sz="1800" b="0" i="0" u="none" strike="noStrike" dirty="0">
              <a:solidFill>
                <a:srgbClr val="FF00FF"/>
              </a:solidFill>
              <a:effectLst/>
              <a:latin typeface="Arial" panose="020B0604020202020204" pitchFamily="34" charset="0"/>
            </a:endParaRPr>
          </a:p>
        </p:txBody>
      </p:sp>
      <p:sp>
        <p:nvSpPr>
          <p:cNvPr id="13" name="TextBox 12">
            <a:extLst>
              <a:ext uri="{FF2B5EF4-FFF2-40B4-BE49-F238E27FC236}">
                <a16:creationId xmlns:a16="http://schemas.microsoft.com/office/drawing/2014/main" id="{451B9906-C744-4F35-904F-D423E81230F4}"/>
              </a:ext>
            </a:extLst>
          </p:cNvPr>
          <p:cNvSpPr txBox="1"/>
          <p:nvPr/>
        </p:nvSpPr>
        <p:spPr>
          <a:xfrm>
            <a:off x="2819433" y="237617"/>
            <a:ext cx="1523934" cy="369332"/>
          </a:xfrm>
          <a:prstGeom prst="rect">
            <a:avLst/>
          </a:prstGeom>
          <a:noFill/>
          <a:ln>
            <a:solidFill>
              <a:schemeClr val="bg1"/>
            </a:solidFill>
          </a:ln>
        </p:spPr>
        <p:txBody>
          <a:bodyPr wrap="square">
            <a:spAutoFit/>
          </a:bodyPr>
          <a:lstStyle/>
          <a:p>
            <a:pPr algn="ctr" rtl="1" fontAlgn="ctr"/>
            <a:r>
              <a:rPr lang="he-IL" sz="1800" u="none" strike="noStrike" dirty="0">
                <a:solidFill>
                  <a:schemeClr val="accent1"/>
                </a:solidFill>
                <a:effectLst/>
              </a:rPr>
              <a:t>טכנולוגיה ב'</a:t>
            </a:r>
            <a:endParaRPr lang="he-IL" sz="1800" b="0" i="0" u="none" strike="noStrike" dirty="0">
              <a:solidFill>
                <a:schemeClr val="accent1"/>
              </a:solidFill>
              <a:effectLst/>
              <a:latin typeface="Arial" panose="020B0604020202020204" pitchFamily="34" charset="0"/>
            </a:endParaRPr>
          </a:p>
        </p:txBody>
      </p:sp>
      <p:graphicFrame>
        <p:nvGraphicFramePr>
          <p:cNvPr id="14" name="Table 6">
            <a:extLst>
              <a:ext uri="{FF2B5EF4-FFF2-40B4-BE49-F238E27FC236}">
                <a16:creationId xmlns:a16="http://schemas.microsoft.com/office/drawing/2014/main" id="{A6F347B5-9FB6-40CD-87A9-1E5DCD90DFAB}"/>
              </a:ext>
            </a:extLst>
          </p:cNvPr>
          <p:cNvGraphicFramePr>
            <a:graphicFrameLocks noGrp="1"/>
          </p:cNvGraphicFramePr>
          <p:nvPr>
            <p:extLst>
              <p:ext uri="{D42A27DB-BD31-4B8C-83A1-F6EECF244321}">
                <p14:modId xmlns:p14="http://schemas.microsoft.com/office/powerpoint/2010/main" val="2032295495"/>
              </p:ext>
            </p:extLst>
          </p:nvPr>
        </p:nvGraphicFramePr>
        <p:xfrm>
          <a:off x="708951" y="605643"/>
          <a:ext cx="4135796" cy="4400463"/>
        </p:xfrm>
        <a:graphic>
          <a:graphicData uri="http://schemas.openxmlformats.org/drawingml/2006/table">
            <a:tbl>
              <a:tblPr firstRow="1" bandRow="1">
                <a:tableStyleId>{5C22544A-7EE6-4342-B048-85BDC9FD1C3A}</a:tableStyleId>
              </a:tblPr>
              <a:tblGrid>
                <a:gridCol w="1908129">
                  <a:extLst>
                    <a:ext uri="{9D8B030D-6E8A-4147-A177-3AD203B41FA5}">
                      <a16:colId xmlns:a16="http://schemas.microsoft.com/office/drawing/2014/main" val="877989887"/>
                    </a:ext>
                  </a:extLst>
                </a:gridCol>
                <a:gridCol w="829613">
                  <a:extLst>
                    <a:ext uri="{9D8B030D-6E8A-4147-A177-3AD203B41FA5}">
                      <a16:colId xmlns:a16="http://schemas.microsoft.com/office/drawing/2014/main" val="2893910380"/>
                    </a:ext>
                  </a:extLst>
                </a:gridCol>
                <a:gridCol w="608384">
                  <a:extLst>
                    <a:ext uri="{9D8B030D-6E8A-4147-A177-3AD203B41FA5}">
                      <a16:colId xmlns:a16="http://schemas.microsoft.com/office/drawing/2014/main" val="4127186392"/>
                    </a:ext>
                  </a:extLst>
                </a:gridCol>
                <a:gridCol w="789670">
                  <a:extLst>
                    <a:ext uri="{9D8B030D-6E8A-4147-A177-3AD203B41FA5}">
                      <a16:colId xmlns:a16="http://schemas.microsoft.com/office/drawing/2014/main" val="250261459"/>
                    </a:ext>
                  </a:extLst>
                </a:gridCol>
              </a:tblGrid>
              <a:tr h="867284">
                <a:tc>
                  <a:txBody>
                    <a:bodyPr/>
                    <a:lstStyle/>
                    <a:p>
                      <a:pPr algn="ctr"/>
                      <a:r>
                        <a:rPr lang="he-IL" dirty="0"/>
                        <a:t>רווח נקי</a:t>
                      </a:r>
                    </a:p>
                    <a:p>
                      <a:pPr algn="ctr"/>
                      <a:r>
                        <a:rPr lang="en-US" dirty="0"/>
                        <a:t>P*X-TC</a:t>
                      </a:r>
                      <a:endParaRPr lang="en-IL" dirty="0"/>
                    </a:p>
                  </a:txBody>
                  <a:tcPr>
                    <a:solidFill>
                      <a:schemeClr val="accent1"/>
                    </a:solidFill>
                  </a:tcPr>
                </a:tc>
                <a:tc>
                  <a:txBody>
                    <a:bodyPr/>
                    <a:lstStyle/>
                    <a:p>
                      <a:pPr algn="ctr"/>
                      <a:r>
                        <a:rPr lang="en-US" dirty="0"/>
                        <a:t>MC</a:t>
                      </a:r>
                      <a:endParaRPr lang="en-IL" dirty="0"/>
                    </a:p>
                  </a:txBody>
                  <a:tcPr>
                    <a:solidFill>
                      <a:schemeClr val="accent1"/>
                    </a:solidFill>
                  </a:tcPr>
                </a:tc>
                <a:tc>
                  <a:txBody>
                    <a:bodyPr/>
                    <a:lstStyle/>
                    <a:p>
                      <a:pPr algn="ctr"/>
                      <a:r>
                        <a:rPr lang="en-US" dirty="0"/>
                        <a:t>TC</a:t>
                      </a:r>
                      <a:endParaRPr lang="en-IL" dirty="0"/>
                    </a:p>
                  </a:txBody>
                  <a:tcPr>
                    <a:solidFill>
                      <a:schemeClr val="accent1"/>
                    </a:solidFill>
                  </a:tcPr>
                </a:tc>
                <a:tc>
                  <a:txBody>
                    <a:bodyPr/>
                    <a:lstStyle/>
                    <a:p>
                      <a:pPr algn="ctr" rtl="1"/>
                      <a:r>
                        <a:rPr lang="he-IL" sz="1600" dirty="0"/>
                        <a:t>כמות מיוצרת </a:t>
                      </a:r>
                      <a:r>
                        <a:rPr lang="en-US" dirty="0"/>
                        <a:t>X</a:t>
                      </a:r>
                      <a:endParaRPr lang="en-IL" dirty="0"/>
                    </a:p>
                  </a:txBody>
                  <a:tcPr>
                    <a:solidFill>
                      <a:schemeClr val="accent1"/>
                    </a:solidFill>
                  </a:tcPr>
                </a:tc>
                <a:extLst>
                  <a:ext uri="{0D108BD9-81ED-4DB2-BD59-A6C34878D82A}">
                    <a16:rowId xmlns:a16="http://schemas.microsoft.com/office/drawing/2014/main" val="2821387179"/>
                  </a:ext>
                </a:extLst>
              </a:tr>
              <a:tr h="346914">
                <a:tc>
                  <a:txBody>
                    <a:bodyPr/>
                    <a:lstStyle/>
                    <a:p>
                      <a:pPr algn="ctr"/>
                      <a:endParaRPr lang="en-IL" dirty="0"/>
                    </a:p>
                  </a:txBody>
                  <a:tcPr>
                    <a:solidFill>
                      <a:schemeClr val="accent1">
                        <a:lumMod val="20000"/>
                        <a:lumOff val="80000"/>
                      </a:schemeClr>
                    </a:solidFill>
                  </a:tcPr>
                </a:tc>
                <a:tc>
                  <a:txBody>
                    <a:bodyPr/>
                    <a:lstStyle/>
                    <a:p>
                      <a:pPr algn="ctr"/>
                      <a:endParaRPr lang="en-IL" dirty="0"/>
                    </a:p>
                  </a:txBody>
                  <a:tcPr>
                    <a:solidFill>
                      <a:schemeClr val="accent1">
                        <a:lumMod val="20000"/>
                        <a:lumOff val="80000"/>
                      </a:schemeClr>
                    </a:solidFill>
                  </a:tcPr>
                </a:tc>
                <a:tc>
                  <a:txBody>
                    <a:bodyPr/>
                    <a:lstStyle/>
                    <a:p>
                      <a:pPr algn="ctr"/>
                      <a:r>
                        <a:rPr lang="en-US" dirty="0"/>
                        <a:t>200</a:t>
                      </a:r>
                      <a:endParaRPr lang="en-IL" dirty="0"/>
                    </a:p>
                  </a:txBody>
                  <a:tcPr>
                    <a:solidFill>
                      <a:schemeClr val="accent1">
                        <a:lumMod val="20000"/>
                        <a:lumOff val="80000"/>
                      </a:schemeClr>
                    </a:solidFill>
                  </a:tcPr>
                </a:tc>
                <a:tc>
                  <a:txBody>
                    <a:bodyPr/>
                    <a:lstStyle/>
                    <a:p>
                      <a:pPr algn="ctr"/>
                      <a:r>
                        <a:rPr lang="en-US" dirty="0"/>
                        <a:t>0</a:t>
                      </a:r>
                      <a:endParaRPr lang="en-IL" dirty="0"/>
                    </a:p>
                  </a:txBody>
                  <a:tcPr>
                    <a:solidFill>
                      <a:schemeClr val="accent1">
                        <a:lumMod val="20000"/>
                        <a:lumOff val="80000"/>
                      </a:schemeClr>
                    </a:solidFill>
                  </a:tcPr>
                </a:tc>
                <a:extLst>
                  <a:ext uri="{0D108BD9-81ED-4DB2-BD59-A6C34878D82A}">
                    <a16:rowId xmlns:a16="http://schemas.microsoft.com/office/drawing/2014/main" val="90168298"/>
                  </a:ext>
                </a:extLst>
              </a:tr>
              <a:tr h="346914">
                <a:tc>
                  <a:txBody>
                    <a:bodyPr/>
                    <a:lstStyle/>
                    <a:p>
                      <a:pPr algn="ctr"/>
                      <a:endParaRPr lang="en-IL" dirty="0"/>
                    </a:p>
                  </a:txBody>
                  <a:tcPr/>
                </a:tc>
                <a:tc>
                  <a:txBody>
                    <a:bodyPr/>
                    <a:lstStyle/>
                    <a:p>
                      <a:pPr algn="ctr"/>
                      <a:endParaRPr lang="en-IL"/>
                    </a:p>
                  </a:txBody>
                  <a:tcPr/>
                </a:tc>
                <a:tc>
                  <a:txBody>
                    <a:bodyPr/>
                    <a:lstStyle/>
                    <a:p>
                      <a:pPr algn="ctr"/>
                      <a:r>
                        <a:rPr lang="en-US" dirty="0"/>
                        <a:t>210</a:t>
                      </a:r>
                      <a:endParaRPr lang="en-IL" dirty="0"/>
                    </a:p>
                  </a:txBody>
                  <a:tcPr/>
                </a:tc>
                <a:tc>
                  <a:txBody>
                    <a:bodyPr/>
                    <a:lstStyle/>
                    <a:p>
                      <a:pPr algn="ctr"/>
                      <a:r>
                        <a:rPr lang="en-US" dirty="0"/>
                        <a:t>1</a:t>
                      </a:r>
                      <a:endParaRPr lang="en-IL" dirty="0"/>
                    </a:p>
                  </a:txBody>
                  <a:tcPr/>
                </a:tc>
                <a:extLst>
                  <a:ext uri="{0D108BD9-81ED-4DB2-BD59-A6C34878D82A}">
                    <a16:rowId xmlns:a16="http://schemas.microsoft.com/office/drawing/2014/main" val="1110799114"/>
                  </a:ext>
                </a:extLst>
              </a:tr>
              <a:tr h="346914">
                <a:tc>
                  <a:txBody>
                    <a:bodyPr/>
                    <a:lstStyle/>
                    <a:p>
                      <a:pPr algn="ctr"/>
                      <a:endParaRPr lang="en-IL" dirty="0"/>
                    </a:p>
                  </a:txBody>
                  <a:tcPr>
                    <a:solidFill>
                      <a:schemeClr val="accent1">
                        <a:lumMod val="20000"/>
                        <a:lumOff val="80000"/>
                      </a:schemeClr>
                    </a:solidFill>
                  </a:tcPr>
                </a:tc>
                <a:tc>
                  <a:txBody>
                    <a:bodyPr/>
                    <a:lstStyle/>
                    <a:p>
                      <a:pPr algn="ctr"/>
                      <a:endParaRPr lang="en-IL" dirty="0"/>
                    </a:p>
                  </a:txBody>
                  <a:tcPr>
                    <a:solidFill>
                      <a:schemeClr val="accent1">
                        <a:lumMod val="20000"/>
                        <a:lumOff val="80000"/>
                      </a:schemeClr>
                    </a:solidFill>
                  </a:tcPr>
                </a:tc>
                <a:tc>
                  <a:txBody>
                    <a:bodyPr/>
                    <a:lstStyle/>
                    <a:p>
                      <a:pPr algn="ctr"/>
                      <a:r>
                        <a:rPr lang="en-US" dirty="0"/>
                        <a:t>230</a:t>
                      </a:r>
                      <a:endParaRPr lang="en-IL" dirty="0"/>
                    </a:p>
                  </a:txBody>
                  <a:tcPr>
                    <a:solidFill>
                      <a:schemeClr val="accent1">
                        <a:lumMod val="20000"/>
                        <a:lumOff val="80000"/>
                      </a:schemeClr>
                    </a:solidFill>
                  </a:tcPr>
                </a:tc>
                <a:tc>
                  <a:txBody>
                    <a:bodyPr/>
                    <a:lstStyle/>
                    <a:p>
                      <a:pPr algn="ctr"/>
                      <a:r>
                        <a:rPr lang="en-US" dirty="0"/>
                        <a:t>2</a:t>
                      </a:r>
                      <a:endParaRPr lang="en-IL" dirty="0"/>
                    </a:p>
                  </a:txBody>
                  <a:tcPr>
                    <a:solidFill>
                      <a:schemeClr val="accent1">
                        <a:lumMod val="20000"/>
                        <a:lumOff val="80000"/>
                      </a:schemeClr>
                    </a:solidFill>
                  </a:tcPr>
                </a:tc>
                <a:extLst>
                  <a:ext uri="{0D108BD9-81ED-4DB2-BD59-A6C34878D82A}">
                    <a16:rowId xmlns:a16="http://schemas.microsoft.com/office/drawing/2014/main" val="3140096073"/>
                  </a:ext>
                </a:extLst>
              </a:tr>
              <a:tr h="346914">
                <a:tc>
                  <a:txBody>
                    <a:bodyPr/>
                    <a:lstStyle/>
                    <a:p>
                      <a:pPr algn="ctr"/>
                      <a:endParaRPr lang="en-IL" dirty="0"/>
                    </a:p>
                  </a:txBody>
                  <a:tcPr/>
                </a:tc>
                <a:tc>
                  <a:txBody>
                    <a:bodyPr/>
                    <a:lstStyle/>
                    <a:p>
                      <a:pPr algn="ctr"/>
                      <a:endParaRPr lang="en-IL" dirty="0"/>
                    </a:p>
                  </a:txBody>
                  <a:tcPr/>
                </a:tc>
                <a:tc>
                  <a:txBody>
                    <a:bodyPr/>
                    <a:lstStyle/>
                    <a:p>
                      <a:pPr algn="ctr"/>
                      <a:r>
                        <a:rPr lang="en-US" dirty="0"/>
                        <a:t>255</a:t>
                      </a:r>
                      <a:endParaRPr lang="en-IL" dirty="0"/>
                    </a:p>
                  </a:txBody>
                  <a:tcPr/>
                </a:tc>
                <a:tc>
                  <a:txBody>
                    <a:bodyPr/>
                    <a:lstStyle/>
                    <a:p>
                      <a:pPr algn="ctr"/>
                      <a:r>
                        <a:rPr lang="en-US" dirty="0"/>
                        <a:t>3</a:t>
                      </a:r>
                      <a:endParaRPr lang="en-IL" dirty="0"/>
                    </a:p>
                  </a:txBody>
                  <a:tcPr/>
                </a:tc>
                <a:extLst>
                  <a:ext uri="{0D108BD9-81ED-4DB2-BD59-A6C34878D82A}">
                    <a16:rowId xmlns:a16="http://schemas.microsoft.com/office/drawing/2014/main" val="2363313943"/>
                  </a:ext>
                </a:extLst>
              </a:tr>
              <a:tr h="346914">
                <a:tc>
                  <a:txBody>
                    <a:bodyPr/>
                    <a:lstStyle/>
                    <a:p>
                      <a:pPr algn="ctr"/>
                      <a:endParaRPr lang="en-IL" dirty="0"/>
                    </a:p>
                  </a:txBody>
                  <a:tcPr>
                    <a:solidFill>
                      <a:schemeClr val="accent1">
                        <a:lumMod val="20000"/>
                        <a:lumOff val="80000"/>
                      </a:schemeClr>
                    </a:solidFill>
                  </a:tcPr>
                </a:tc>
                <a:tc>
                  <a:txBody>
                    <a:bodyPr/>
                    <a:lstStyle/>
                    <a:p>
                      <a:pPr algn="ctr"/>
                      <a:endParaRPr lang="en-IL" dirty="0"/>
                    </a:p>
                  </a:txBody>
                  <a:tcPr>
                    <a:solidFill>
                      <a:schemeClr val="accent1">
                        <a:lumMod val="20000"/>
                        <a:lumOff val="80000"/>
                      </a:schemeClr>
                    </a:solidFill>
                  </a:tcPr>
                </a:tc>
                <a:tc>
                  <a:txBody>
                    <a:bodyPr/>
                    <a:lstStyle/>
                    <a:p>
                      <a:pPr algn="ctr"/>
                      <a:r>
                        <a:rPr lang="en-US" dirty="0"/>
                        <a:t>290</a:t>
                      </a:r>
                      <a:endParaRPr lang="en-IL" dirty="0"/>
                    </a:p>
                  </a:txBody>
                  <a:tcPr>
                    <a:solidFill>
                      <a:schemeClr val="accent1">
                        <a:lumMod val="20000"/>
                        <a:lumOff val="80000"/>
                      </a:schemeClr>
                    </a:solidFill>
                  </a:tcPr>
                </a:tc>
                <a:tc>
                  <a:txBody>
                    <a:bodyPr/>
                    <a:lstStyle/>
                    <a:p>
                      <a:pPr algn="ctr"/>
                      <a:r>
                        <a:rPr lang="en-US" dirty="0"/>
                        <a:t>4</a:t>
                      </a:r>
                      <a:endParaRPr lang="en-IL" dirty="0"/>
                    </a:p>
                  </a:txBody>
                  <a:tcPr>
                    <a:solidFill>
                      <a:schemeClr val="accent1">
                        <a:lumMod val="20000"/>
                        <a:lumOff val="80000"/>
                      </a:schemeClr>
                    </a:solidFill>
                  </a:tcPr>
                </a:tc>
                <a:extLst>
                  <a:ext uri="{0D108BD9-81ED-4DB2-BD59-A6C34878D82A}">
                    <a16:rowId xmlns:a16="http://schemas.microsoft.com/office/drawing/2014/main" val="3086807375"/>
                  </a:ext>
                </a:extLst>
              </a:tr>
              <a:tr h="346914">
                <a:tc>
                  <a:txBody>
                    <a:bodyPr/>
                    <a:lstStyle/>
                    <a:p>
                      <a:pPr algn="ctr"/>
                      <a:endParaRPr lang="en-IL" dirty="0"/>
                    </a:p>
                  </a:txBody>
                  <a:tcPr/>
                </a:tc>
                <a:tc>
                  <a:txBody>
                    <a:bodyPr/>
                    <a:lstStyle/>
                    <a:p>
                      <a:pPr algn="ctr"/>
                      <a:endParaRPr lang="en-IL"/>
                    </a:p>
                  </a:txBody>
                  <a:tcPr/>
                </a:tc>
                <a:tc>
                  <a:txBody>
                    <a:bodyPr/>
                    <a:lstStyle/>
                    <a:p>
                      <a:pPr algn="ctr"/>
                      <a:r>
                        <a:rPr lang="en-US" dirty="0"/>
                        <a:t>330</a:t>
                      </a:r>
                      <a:endParaRPr lang="en-IL" dirty="0"/>
                    </a:p>
                  </a:txBody>
                  <a:tcPr/>
                </a:tc>
                <a:tc>
                  <a:txBody>
                    <a:bodyPr/>
                    <a:lstStyle/>
                    <a:p>
                      <a:pPr algn="ctr"/>
                      <a:r>
                        <a:rPr lang="en-US" dirty="0"/>
                        <a:t>5</a:t>
                      </a:r>
                      <a:endParaRPr lang="en-IL" dirty="0"/>
                    </a:p>
                  </a:txBody>
                  <a:tcPr/>
                </a:tc>
                <a:extLst>
                  <a:ext uri="{0D108BD9-81ED-4DB2-BD59-A6C34878D82A}">
                    <a16:rowId xmlns:a16="http://schemas.microsoft.com/office/drawing/2014/main" val="2488581084"/>
                  </a:ext>
                </a:extLst>
              </a:tr>
              <a:tr h="346914">
                <a:tc>
                  <a:txBody>
                    <a:bodyPr/>
                    <a:lstStyle/>
                    <a:p>
                      <a:pPr algn="ctr"/>
                      <a:endParaRPr lang="en-IL" dirty="0"/>
                    </a:p>
                  </a:txBody>
                  <a:tcPr>
                    <a:solidFill>
                      <a:schemeClr val="accent1">
                        <a:lumMod val="20000"/>
                        <a:lumOff val="80000"/>
                      </a:schemeClr>
                    </a:solidFill>
                  </a:tcPr>
                </a:tc>
                <a:tc>
                  <a:txBody>
                    <a:bodyPr/>
                    <a:lstStyle/>
                    <a:p>
                      <a:pPr algn="ctr"/>
                      <a:endParaRPr lang="en-IL" dirty="0"/>
                    </a:p>
                  </a:txBody>
                  <a:tcPr>
                    <a:solidFill>
                      <a:schemeClr val="accent1">
                        <a:lumMod val="20000"/>
                        <a:lumOff val="80000"/>
                      </a:schemeClr>
                    </a:solidFill>
                  </a:tcPr>
                </a:tc>
                <a:tc>
                  <a:txBody>
                    <a:bodyPr/>
                    <a:lstStyle/>
                    <a:p>
                      <a:pPr algn="ctr"/>
                      <a:r>
                        <a:rPr lang="en-US" dirty="0"/>
                        <a:t>375</a:t>
                      </a:r>
                      <a:endParaRPr lang="en-IL" dirty="0"/>
                    </a:p>
                  </a:txBody>
                  <a:tcPr>
                    <a:solidFill>
                      <a:schemeClr val="accent1">
                        <a:lumMod val="20000"/>
                        <a:lumOff val="80000"/>
                      </a:schemeClr>
                    </a:solidFill>
                  </a:tcPr>
                </a:tc>
                <a:tc>
                  <a:txBody>
                    <a:bodyPr/>
                    <a:lstStyle/>
                    <a:p>
                      <a:pPr algn="ctr"/>
                      <a:r>
                        <a:rPr lang="en-US" dirty="0"/>
                        <a:t>6</a:t>
                      </a:r>
                      <a:endParaRPr lang="en-IL" dirty="0"/>
                    </a:p>
                  </a:txBody>
                  <a:tcPr>
                    <a:solidFill>
                      <a:schemeClr val="accent1">
                        <a:lumMod val="20000"/>
                        <a:lumOff val="80000"/>
                      </a:schemeClr>
                    </a:solidFill>
                  </a:tcPr>
                </a:tc>
                <a:extLst>
                  <a:ext uri="{0D108BD9-81ED-4DB2-BD59-A6C34878D82A}">
                    <a16:rowId xmlns:a16="http://schemas.microsoft.com/office/drawing/2014/main" val="774215678"/>
                  </a:ext>
                </a:extLst>
              </a:tr>
              <a:tr h="346914">
                <a:tc>
                  <a:txBody>
                    <a:bodyPr/>
                    <a:lstStyle/>
                    <a:p>
                      <a:pPr algn="ctr"/>
                      <a:endParaRPr lang="en-IL"/>
                    </a:p>
                  </a:txBody>
                  <a:tcPr/>
                </a:tc>
                <a:tc>
                  <a:txBody>
                    <a:bodyPr/>
                    <a:lstStyle/>
                    <a:p>
                      <a:pPr algn="ctr"/>
                      <a:endParaRPr lang="en-IL"/>
                    </a:p>
                  </a:txBody>
                  <a:tcPr/>
                </a:tc>
                <a:tc>
                  <a:txBody>
                    <a:bodyPr/>
                    <a:lstStyle/>
                    <a:p>
                      <a:pPr algn="ctr"/>
                      <a:r>
                        <a:rPr lang="en-US" dirty="0"/>
                        <a:t>425</a:t>
                      </a:r>
                      <a:endParaRPr lang="en-IL" dirty="0"/>
                    </a:p>
                  </a:txBody>
                  <a:tcPr/>
                </a:tc>
                <a:tc>
                  <a:txBody>
                    <a:bodyPr/>
                    <a:lstStyle/>
                    <a:p>
                      <a:pPr algn="ctr"/>
                      <a:r>
                        <a:rPr lang="en-US" dirty="0"/>
                        <a:t>7</a:t>
                      </a:r>
                      <a:endParaRPr lang="en-IL" dirty="0"/>
                    </a:p>
                  </a:txBody>
                  <a:tcPr/>
                </a:tc>
                <a:extLst>
                  <a:ext uri="{0D108BD9-81ED-4DB2-BD59-A6C34878D82A}">
                    <a16:rowId xmlns:a16="http://schemas.microsoft.com/office/drawing/2014/main" val="3621824598"/>
                  </a:ext>
                </a:extLst>
              </a:tr>
              <a:tr h="607099">
                <a:tc>
                  <a:txBody>
                    <a:bodyPr/>
                    <a:lstStyle/>
                    <a:p>
                      <a:pPr algn="ctr"/>
                      <a:endParaRPr lang="en-IL" dirty="0"/>
                    </a:p>
                  </a:txBody>
                  <a:tcPr>
                    <a:solidFill>
                      <a:schemeClr val="accent1">
                        <a:lumMod val="20000"/>
                        <a:lumOff val="80000"/>
                      </a:schemeClr>
                    </a:solidFill>
                  </a:tcPr>
                </a:tc>
                <a:tc>
                  <a:txBody>
                    <a:bodyPr/>
                    <a:lstStyle/>
                    <a:p>
                      <a:pPr algn="ctr"/>
                      <a:endParaRPr lang="en-IL" dirty="0"/>
                    </a:p>
                  </a:txBody>
                  <a:tcPr>
                    <a:solidFill>
                      <a:schemeClr val="accent1">
                        <a:lumMod val="20000"/>
                        <a:lumOff val="80000"/>
                      </a:schemeClr>
                    </a:solidFill>
                  </a:tcPr>
                </a:tc>
                <a:tc>
                  <a:txBody>
                    <a:bodyPr/>
                    <a:lstStyle/>
                    <a:p>
                      <a:pPr algn="ctr"/>
                      <a:r>
                        <a:rPr lang="en-US" dirty="0"/>
                        <a:t>555</a:t>
                      </a:r>
                      <a:endParaRPr lang="en-IL" dirty="0"/>
                    </a:p>
                  </a:txBody>
                  <a:tcPr>
                    <a:solidFill>
                      <a:schemeClr val="accent1">
                        <a:lumMod val="20000"/>
                        <a:lumOff val="80000"/>
                      </a:schemeClr>
                    </a:solidFill>
                  </a:tcPr>
                </a:tc>
                <a:tc>
                  <a:txBody>
                    <a:bodyPr/>
                    <a:lstStyle/>
                    <a:p>
                      <a:pPr algn="ctr"/>
                      <a:r>
                        <a:rPr lang="en-US" dirty="0"/>
                        <a:t>8</a:t>
                      </a:r>
                    </a:p>
                  </a:txBody>
                  <a:tcPr>
                    <a:solidFill>
                      <a:schemeClr val="accent1">
                        <a:lumMod val="20000"/>
                        <a:lumOff val="80000"/>
                      </a:schemeClr>
                    </a:solidFill>
                  </a:tcPr>
                </a:tc>
                <a:extLst>
                  <a:ext uri="{0D108BD9-81ED-4DB2-BD59-A6C34878D82A}">
                    <a16:rowId xmlns:a16="http://schemas.microsoft.com/office/drawing/2014/main" val="2507032300"/>
                  </a:ext>
                </a:extLst>
              </a:tr>
            </a:tbl>
          </a:graphicData>
        </a:graphic>
      </p:graphicFrame>
      <p:sp>
        <p:nvSpPr>
          <p:cNvPr id="15" name="מלבן 6">
            <a:extLst>
              <a:ext uri="{FF2B5EF4-FFF2-40B4-BE49-F238E27FC236}">
                <a16:creationId xmlns:a16="http://schemas.microsoft.com/office/drawing/2014/main" id="{FE7977B6-E0B0-4449-8726-4CAE1246CEA4}"/>
              </a:ext>
            </a:extLst>
          </p:cNvPr>
          <p:cNvSpPr/>
          <p:nvPr/>
        </p:nvSpPr>
        <p:spPr>
          <a:xfrm>
            <a:off x="1114313" y="5163252"/>
            <a:ext cx="10870311" cy="1477328"/>
          </a:xfrm>
          <a:prstGeom prst="rect">
            <a:avLst/>
          </a:prstGeom>
        </p:spPr>
        <p:txBody>
          <a:bodyPr wrap="square">
            <a:spAutoFit/>
          </a:bodyPr>
          <a:lstStyle/>
          <a:p>
            <a:pPr lvl="0" algn="r" rtl="1"/>
            <a:r>
              <a:rPr lang="he-IL" dirty="0"/>
              <a:t>א. אם מחיר השוק של מוצר </a:t>
            </a:r>
            <a:r>
              <a:rPr lang="en-US" dirty="0"/>
              <a:t>X</a:t>
            </a:r>
            <a:r>
              <a:rPr lang="he-IL" dirty="0"/>
              <a:t> הוא  </a:t>
            </a:r>
            <a:r>
              <a:rPr lang="en-US" dirty="0"/>
              <a:t>PX=75</a:t>
            </a:r>
            <a:r>
              <a:rPr lang="he-IL" dirty="0"/>
              <a:t> , היצרן יכנס לענף עם  טכנולוגיה א' וייצר 5 יחידות.</a:t>
            </a:r>
            <a:endParaRPr lang="en-US" dirty="0"/>
          </a:p>
          <a:p>
            <a:pPr lvl="0" algn="r" rtl="1"/>
            <a:r>
              <a:rPr lang="he-IL" dirty="0"/>
              <a:t>ב. אם מחיר השוק של מוצר </a:t>
            </a:r>
            <a:r>
              <a:rPr lang="en-US" dirty="0"/>
              <a:t>X</a:t>
            </a:r>
            <a:r>
              <a:rPr lang="he-IL" dirty="0"/>
              <a:t> הוא  </a:t>
            </a:r>
            <a:r>
              <a:rPr lang="en-US" dirty="0"/>
              <a:t>PX=130</a:t>
            </a:r>
            <a:r>
              <a:rPr lang="he-IL" dirty="0"/>
              <a:t> , לא יהיה אכפת ליצרן באיזה טכנולוגיה להשתמש והוא ייצר 8 יחידות</a:t>
            </a:r>
            <a:endParaRPr lang="en-US" dirty="0"/>
          </a:p>
          <a:p>
            <a:pPr lvl="0" algn="r" rtl="1"/>
            <a:r>
              <a:rPr lang="he-IL" dirty="0"/>
              <a:t>ג. אם מחיר השוק של מוצר </a:t>
            </a:r>
            <a:r>
              <a:rPr lang="en-US" dirty="0"/>
              <a:t>X</a:t>
            </a:r>
            <a:r>
              <a:rPr lang="he-IL" dirty="0"/>
              <a:t> הוא  </a:t>
            </a:r>
            <a:r>
              <a:rPr lang="en-US" dirty="0"/>
              <a:t>PX=25</a:t>
            </a:r>
            <a:r>
              <a:rPr lang="he-IL" dirty="0"/>
              <a:t>, היצרן יכנס לענף עם טכנולוגיה א' וייצר 2 יחידות.</a:t>
            </a:r>
            <a:endParaRPr lang="en-US" dirty="0"/>
          </a:p>
          <a:p>
            <a:pPr lvl="0" algn="r" rtl="1"/>
            <a:r>
              <a:rPr lang="he-IL" dirty="0"/>
              <a:t>ד. אם מחיר השוק של מוצר </a:t>
            </a:r>
            <a:r>
              <a:rPr lang="en-US" dirty="0"/>
              <a:t>X</a:t>
            </a:r>
            <a:r>
              <a:rPr lang="he-IL" dirty="0"/>
              <a:t> הוא  </a:t>
            </a:r>
            <a:r>
              <a:rPr lang="en-US" dirty="0"/>
              <a:t>PX=40</a:t>
            </a:r>
            <a:r>
              <a:rPr lang="he-IL" dirty="0"/>
              <a:t>,  היצרן בהכרח יכנס לענף עם טכנולוגיה ב' וייצר 5 יחידות.</a:t>
            </a:r>
            <a:endParaRPr lang="en-US" dirty="0"/>
          </a:p>
          <a:p>
            <a:pPr lvl="0" algn="r" rtl="1"/>
            <a:r>
              <a:rPr lang="he-IL" dirty="0"/>
              <a:t>ה. כל התשובות האחרות אינן נכונות.</a:t>
            </a:r>
            <a:endParaRPr lang="en-US" dirty="0"/>
          </a:p>
        </p:txBody>
      </p:sp>
      <p:sp>
        <p:nvSpPr>
          <p:cNvPr id="16" name="Rectangle 15">
            <a:extLst>
              <a:ext uri="{FF2B5EF4-FFF2-40B4-BE49-F238E27FC236}">
                <a16:creationId xmlns:a16="http://schemas.microsoft.com/office/drawing/2014/main" id="{126C5157-BB78-4D5D-865A-66A9CB0B4416}"/>
              </a:ext>
            </a:extLst>
          </p:cNvPr>
          <p:cNvSpPr/>
          <p:nvPr/>
        </p:nvSpPr>
        <p:spPr>
          <a:xfrm>
            <a:off x="898307" y="615884"/>
            <a:ext cx="2483840" cy="8790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Rectangle 16">
            <a:extLst>
              <a:ext uri="{FF2B5EF4-FFF2-40B4-BE49-F238E27FC236}">
                <a16:creationId xmlns:a16="http://schemas.microsoft.com/office/drawing/2014/main" id="{84AD6805-70AB-4237-9114-2B207AC32BC8}"/>
              </a:ext>
            </a:extLst>
          </p:cNvPr>
          <p:cNvSpPr/>
          <p:nvPr/>
        </p:nvSpPr>
        <p:spPr>
          <a:xfrm>
            <a:off x="5107719" y="623477"/>
            <a:ext cx="2483840" cy="879023"/>
          </a:xfrm>
          <a:prstGeom prst="rect">
            <a:avLst/>
          </a:prstGeom>
          <a:solidFill>
            <a:srgbClr val="EB1D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241966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par>
                                <p:cTn id="8" presetID="14" presetClass="exit" presetSubtype="10" fill="hold" grpId="0" nodeType="withEffect">
                                  <p:stCondLst>
                                    <p:cond delay="0"/>
                                  </p:stCondLst>
                                  <p:childTnLst>
                                    <p:animEffect transition="out" filter="randombar(horizontal)">
                                      <p:cBhvr>
                                        <p:cTn id="9" dur="500"/>
                                        <p:tgtEl>
                                          <p:spTgt spid="17"/>
                                        </p:tgtEl>
                                      </p:cBhvr>
                                    </p:animEffect>
                                    <p:set>
                                      <p:cBhvr>
                                        <p:cTn id="10"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כותרת 1"/>
          <p:cNvSpPr>
            <a:spLocks noGrp="1"/>
          </p:cNvSpPr>
          <p:nvPr>
            <p:ph type="title"/>
          </p:nvPr>
        </p:nvSpPr>
        <p:spPr>
          <a:xfrm>
            <a:off x="8904312" y="35449"/>
            <a:ext cx="3287688" cy="859598"/>
          </a:xfrm>
        </p:spPr>
        <p:txBody>
          <a:bodyPr>
            <a:normAutofit fontScale="90000"/>
          </a:bodyPr>
          <a:lstStyle/>
          <a:p>
            <a:pPr algn="r"/>
            <a:r>
              <a:rPr lang="he-IL" b="1" dirty="0">
                <a:solidFill>
                  <a:schemeClr val="tx2">
                    <a:lumMod val="75000"/>
                  </a:schemeClr>
                </a:solidFill>
              </a:rPr>
              <a:t>שאלה 4 מבחינה</a:t>
            </a:r>
          </a:p>
        </p:txBody>
      </p:sp>
      <p:sp>
        <p:nvSpPr>
          <p:cNvPr id="2" name="מלבן 1"/>
          <p:cNvSpPr/>
          <p:nvPr/>
        </p:nvSpPr>
        <p:spPr>
          <a:xfrm>
            <a:off x="9981127" y="995234"/>
            <a:ext cx="2210873" cy="954107"/>
          </a:xfrm>
          <a:prstGeom prst="rect">
            <a:avLst/>
          </a:prstGeom>
        </p:spPr>
        <p:txBody>
          <a:bodyPr wrap="square">
            <a:spAutoFit/>
          </a:bodyPr>
          <a:lstStyle/>
          <a:p>
            <a:pPr algn="r" rtl="1"/>
            <a:r>
              <a:rPr lang="he-IL" sz="1400" dirty="0"/>
              <a:t>יזם שוקל להיכנס לענף תחרותי </a:t>
            </a:r>
            <a:r>
              <a:rPr lang="en-US" sz="1400" dirty="0"/>
              <a:t>X</a:t>
            </a:r>
            <a:r>
              <a:rPr lang="he-IL" sz="1400" dirty="0"/>
              <a:t> ולפיכך הוא שוקל באיזה טכנולוגיה להשתמש (אם יכנס לענף).</a:t>
            </a:r>
            <a:endParaRPr lang="en-US" sz="1400" dirty="0"/>
          </a:p>
        </p:txBody>
      </p:sp>
      <p:sp>
        <p:nvSpPr>
          <p:cNvPr id="3" name="Date Placeholder 2"/>
          <p:cNvSpPr>
            <a:spLocks noGrp="1"/>
          </p:cNvSpPr>
          <p:nvPr>
            <p:ph type="dt" sz="half" idx="10"/>
          </p:nvPr>
        </p:nvSpPr>
        <p:spPr>
          <a:xfrm>
            <a:off x="76233" y="6437820"/>
            <a:ext cx="2743200" cy="365125"/>
          </a:xfrm>
        </p:spPr>
        <p:txBody>
          <a:bodyPr/>
          <a:lstStyle/>
          <a:p>
            <a:fld id="{62CD0F34-E9CA-4458-8B01-ACE383DBFE35}" type="datetime8">
              <a:rPr lang="he-IL" smtClean="0"/>
              <a:t>03 ינואר 26</a:t>
            </a:fld>
            <a:endParaRPr lang="he-IL" dirty="0"/>
          </a:p>
        </p:txBody>
      </p:sp>
      <p:graphicFrame>
        <p:nvGraphicFramePr>
          <p:cNvPr id="5" name="Table 6">
            <a:extLst>
              <a:ext uri="{FF2B5EF4-FFF2-40B4-BE49-F238E27FC236}">
                <a16:creationId xmlns:a16="http://schemas.microsoft.com/office/drawing/2014/main" id="{1787060A-0DE0-467D-9AEB-BAE25A6BB039}"/>
              </a:ext>
            </a:extLst>
          </p:cNvPr>
          <p:cNvGraphicFramePr>
            <a:graphicFrameLocks noGrp="1"/>
          </p:cNvGraphicFramePr>
          <p:nvPr/>
        </p:nvGraphicFramePr>
        <p:xfrm>
          <a:off x="5345039" y="670126"/>
          <a:ext cx="4135795" cy="4166358"/>
        </p:xfrm>
        <a:graphic>
          <a:graphicData uri="http://schemas.openxmlformats.org/drawingml/2006/table">
            <a:tbl>
              <a:tblPr firstRow="1" bandRow="1">
                <a:tableStyleId>{5C22544A-7EE6-4342-B048-85BDC9FD1C3A}</a:tableStyleId>
              </a:tblPr>
              <a:tblGrid>
                <a:gridCol w="1908128">
                  <a:extLst>
                    <a:ext uri="{9D8B030D-6E8A-4147-A177-3AD203B41FA5}">
                      <a16:colId xmlns:a16="http://schemas.microsoft.com/office/drawing/2014/main" val="877989887"/>
                    </a:ext>
                  </a:extLst>
                </a:gridCol>
                <a:gridCol w="829613">
                  <a:extLst>
                    <a:ext uri="{9D8B030D-6E8A-4147-A177-3AD203B41FA5}">
                      <a16:colId xmlns:a16="http://schemas.microsoft.com/office/drawing/2014/main" val="2893910380"/>
                    </a:ext>
                  </a:extLst>
                </a:gridCol>
                <a:gridCol w="608384">
                  <a:extLst>
                    <a:ext uri="{9D8B030D-6E8A-4147-A177-3AD203B41FA5}">
                      <a16:colId xmlns:a16="http://schemas.microsoft.com/office/drawing/2014/main" val="4127186392"/>
                    </a:ext>
                  </a:extLst>
                </a:gridCol>
                <a:gridCol w="789670">
                  <a:extLst>
                    <a:ext uri="{9D8B030D-6E8A-4147-A177-3AD203B41FA5}">
                      <a16:colId xmlns:a16="http://schemas.microsoft.com/office/drawing/2014/main" val="250261459"/>
                    </a:ext>
                  </a:extLst>
                </a:gridCol>
              </a:tblGrid>
              <a:tr h="874518">
                <a:tc>
                  <a:txBody>
                    <a:bodyPr/>
                    <a:lstStyle/>
                    <a:p>
                      <a:pPr algn="ctr"/>
                      <a:r>
                        <a:rPr lang="he-IL" dirty="0"/>
                        <a:t>רווח נקי</a:t>
                      </a:r>
                    </a:p>
                    <a:p>
                      <a:pPr algn="ctr"/>
                      <a:r>
                        <a:rPr lang="en-US" dirty="0"/>
                        <a:t>P*X-TC</a:t>
                      </a:r>
                      <a:endParaRPr lang="en-IL" dirty="0"/>
                    </a:p>
                  </a:txBody>
                  <a:tcPr>
                    <a:solidFill>
                      <a:srgbClr val="EB1DBF"/>
                    </a:solidFill>
                  </a:tcPr>
                </a:tc>
                <a:tc>
                  <a:txBody>
                    <a:bodyPr/>
                    <a:lstStyle/>
                    <a:p>
                      <a:pPr algn="ctr"/>
                      <a:r>
                        <a:rPr lang="en-US" dirty="0"/>
                        <a:t>MC</a:t>
                      </a:r>
                      <a:endParaRPr lang="en-IL" dirty="0"/>
                    </a:p>
                  </a:txBody>
                  <a:tcPr>
                    <a:solidFill>
                      <a:srgbClr val="EB1DBF"/>
                    </a:solidFill>
                  </a:tcPr>
                </a:tc>
                <a:tc>
                  <a:txBody>
                    <a:bodyPr/>
                    <a:lstStyle/>
                    <a:p>
                      <a:pPr algn="ctr"/>
                      <a:r>
                        <a:rPr lang="en-US" dirty="0"/>
                        <a:t>TC</a:t>
                      </a:r>
                      <a:endParaRPr lang="en-IL" dirty="0"/>
                    </a:p>
                  </a:txBody>
                  <a:tcPr>
                    <a:solidFill>
                      <a:srgbClr val="EB1DBF"/>
                    </a:solidFill>
                  </a:tcPr>
                </a:tc>
                <a:tc>
                  <a:txBody>
                    <a:bodyPr/>
                    <a:lstStyle/>
                    <a:p>
                      <a:pPr algn="ctr" rtl="1"/>
                      <a:r>
                        <a:rPr lang="he-IL" sz="1600" dirty="0"/>
                        <a:t>כמות מיוצרת </a:t>
                      </a:r>
                      <a:r>
                        <a:rPr lang="en-US" dirty="0"/>
                        <a:t>X</a:t>
                      </a:r>
                      <a:endParaRPr lang="en-IL" dirty="0"/>
                    </a:p>
                  </a:txBody>
                  <a:tcPr>
                    <a:solidFill>
                      <a:srgbClr val="EB1DBF"/>
                    </a:solidFill>
                  </a:tcPr>
                </a:tc>
                <a:extLst>
                  <a:ext uri="{0D108BD9-81ED-4DB2-BD59-A6C34878D82A}">
                    <a16:rowId xmlns:a16="http://schemas.microsoft.com/office/drawing/2014/main" val="2821387179"/>
                  </a:ext>
                </a:extLst>
              </a:tr>
              <a:tr h="349807">
                <a:tc>
                  <a:txBody>
                    <a:bodyPr/>
                    <a:lstStyle/>
                    <a:p>
                      <a:pPr algn="ctr"/>
                      <a:endParaRPr lang="en-IL" dirty="0"/>
                    </a:p>
                  </a:txBody>
                  <a:tcPr>
                    <a:solidFill>
                      <a:srgbClr val="F5DEF6"/>
                    </a:solidFill>
                  </a:tcPr>
                </a:tc>
                <a:tc>
                  <a:txBody>
                    <a:bodyPr/>
                    <a:lstStyle/>
                    <a:p>
                      <a:pPr algn="ctr"/>
                      <a:r>
                        <a:rPr lang="he-IL" dirty="0"/>
                        <a:t>-</a:t>
                      </a:r>
                      <a:endParaRPr lang="en-IL" dirty="0"/>
                    </a:p>
                  </a:txBody>
                  <a:tcPr>
                    <a:solidFill>
                      <a:srgbClr val="F5DEF6"/>
                    </a:solidFill>
                  </a:tcPr>
                </a:tc>
                <a:tc>
                  <a:txBody>
                    <a:bodyPr/>
                    <a:lstStyle/>
                    <a:p>
                      <a:pPr algn="ctr"/>
                      <a:r>
                        <a:rPr lang="en-US" dirty="0">
                          <a:latin typeface="Arial" panose="020B0604020202020204" pitchFamily="34" charset="0"/>
                          <a:cs typeface="Arial" panose="020B0604020202020204" pitchFamily="34" charset="0"/>
                        </a:rPr>
                        <a:t>80</a:t>
                      </a:r>
                      <a:endParaRPr lang="en-IL" dirty="0">
                        <a:latin typeface="Arial" panose="020B0604020202020204" pitchFamily="34" charset="0"/>
                        <a:cs typeface="Arial" panose="020B0604020202020204" pitchFamily="34" charset="0"/>
                      </a:endParaRPr>
                    </a:p>
                  </a:txBody>
                  <a:tcPr>
                    <a:solidFill>
                      <a:srgbClr val="F5DEF6"/>
                    </a:solidFill>
                  </a:tcPr>
                </a:tc>
                <a:tc>
                  <a:txBody>
                    <a:bodyPr/>
                    <a:lstStyle/>
                    <a:p>
                      <a:pPr algn="ctr"/>
                      <a:r>
                        <a:rPr lang="en-US" dirty="0"/>
                        <a:t>0</a:t>
                      </a:r>
                      <a:endParaRPr lang="en-IL" dirty="0"/>
                    </a:p>
                  </a:txBody>
                  <a:tcPr>
                    <a:solidFill>
                      <a:srgbClr val="F5DEF6"/>
                    </a:solidFill>
                  </a:tcPr>
                </a:tc>
                <a:extLst>
                  <a:ext uri="{0D108BD9-81ED-4DB2-BD59-A6C34878D82A}">
                    <a16:rowId xmlns:a16="http://schemas.microsoft.com/office/drawing/2014/main" val="90168298"/>
                  </a:ext>
                </a:extLst>
              </a:tr>
              <a:tr h="349807">
                <a:tc>
                  <a:txBody>
                    <a:bodyPr/>
                    <a:lstStyle/>
                    <a:p>
                      <a:pPr algn="ctr"/>
                      <a:endParaRPr lang="en-IL" dirty="0"/>
                    </a:p>
                  </a:txBody>
                  <a:tcPr/>
                </a:tc>
                <a:tc>
                  <a:txBody>
                    <a:bodyPr/>
                    <a:lstStyle/>
                    <a:p>
                      <a:pPr algn="ctr" rtl="1" fontAlgn="b"/>
                      <a:r>
                        <a:rPr lang="he-IL" sz="1400" b="1" u="none" strike="noStrike" dirty="0">
                          <a:effectLst/>
                        </a:rPr>
                        <a:t>5</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latin typeface="Arial" panose="020B0604020202020204" pitchFamily="34" charset="0"/>
                          <a:cs typeface="Arial" panose="020B0604020202020204" pitchFamily="34" charset="0"/>
                        </a:rPr>
                        <a:t>85</a:t>
                      </a:r>
                      <a:endParaRPr lang="en-IL" dirty="0">
                        <a:latin typeface="Arial" panose="020B0604020202020204" pitchFamily="34" charset="0"/>
                        <a:cs typeface="Arial" panose="020B0604020202020204" pitchFamily="34" charset="0"/>
                      </a:endParaRPr>
                    </a:p>
                  </a:txBody>
                  <a:tcPr/>
                </a:tc>
                <a:tc>
                  <a:txBody>
                    <a:bodyPr/>
                    <a:lstStyle/>
                    <a:p>
                      <a:pPr algn="ctr"/>
                      <a:r>
                        <a:rPr lang="en-US" dirty="0"/>
                        <a:t>1</a:t>
                      </a:r>
                      <a:endParaRPr lang="en-IL" dirty="0"/>
                    </a:p>
                  </a:txBody>
                  <a:tcPr/>
                </a:tc>
                <a:extLst>
                  <a:ext uri="{0D108BD9-81ED-4DB2-BD59-A6C34878D82A}">
                    <a16:rowId xmlns:a16="http://schemas.microsoft.com/office/drawing/2014/main" val="1110799114"/>
                  </a:ext>
                </a:extLst>
              </a:tr>
              <a:tr h="349807">
                <a:tc>
                  <a:txBody>
                    <a:bodyPr/>
                    <a:lstStyle/>
                    <a:p>
                      <a:pPr algn="ctr"/>
                      <a:endParaRPr lang="en-IL" dirty="0"/>
                    </a:p>
                  </a:txBody>
                  <a:tcPr>
                    <a:solidFill>
                      <a:srgbClr val="F5DEF6"/>
                    </a:solidFill>
                  </a:tcPr>
                </a:tc>
                <a:tc>
                  <a:txBody>
                    <a:bodyPr/>
                    <a:lstStyle/>
                    <a:p>
                      <a:pPr algn="ctr" rtl="1" fontAlgn="b"/>
                      <a:r>
                        <a:rPr lang="he-IL" sz="1400" b="1" u="none" strike="noStrike" dirty="0">
                          <a:effectLst/>
                        </a:rPr>
                        <a:t>25</a:t>
                      </a:r>
                      <a:endParaRPr lang="he-IL" sz="1400" b="1" i="0" u="none" strike="noStrike" dirty="0">
                        <a:solidFill>
                          <a:srgbClr val="000000"/>
                        </a:solidFill>
                        <a:effectLst/>
                        <a:latin typeface="Arial" panose="020B0604020202020204" pitchFamily="34" charset="0"/>
                      </a:endParaRPr>
                    </a:p>
                  </a:txBody>
                  <a:tcPr marL="8332" marR="8332" marT="8332" marB="0" anchor="b">
                    <a:solidFill>
                      <a:srgbClr val="F5DEF6"/>
                    </a:solidFill>
                  </a:tcPr>
                </a:tc>
                <a:tc>
                  <a:txBody>
                    <a:bodyPr/>
                    <a:lstStyle/>
                    <a:p>
                      <a:pPr algn="ctr"/>
                      <a:r>
                        <a:rPr lang="en-US" dirty="0">
                          <a:latin typeface="Arial" panose="020B0604020202020204" pitchFamily="34" charset="0"/>
                          <a:cs typeface="Arial" panose="020B0604020202020204" pitchFamily="34" charset="0"/>
                        </a:rPr>
                        <a:t>110</a:t>
                      </a:r>
                      <a:endParaRPr lang="en-IL" dirty="0">
                        <a:latin typeface="Arial" panose="020B0604020202020204" pitchFamily="34" charset="0"/>
                        <a:cs typeface="Arial" panose="020B0604020202020204" pitchFamily="34" charset="0"/>
                      </a:endParaRPr>
                    </a:p>
                  </a:txBody>
                  <a:tcPr>
                    <a:solidFill>
                      <a:srgbClr val="F5DEF6"/>
                    </a:solidFill>
                  </a:tcPr>
                </a:tc>
                <a:tc>
                  <a:txBody>
                    <a:bodyPr/>
                    <a:lstStyle/>
                    <a:p>
                      <a:pPr algn="ctr"/>
                      <a:r>
                        <a:rPr lang="en-US" dirty="0"/>
                        <a:t>2</a:t>
                      </a:r>
                      <a:endParaRPr lang="en-IL" dirty="0"/>
                    </a:p>
                  </a:txBody>
                  <a:tcPr>
                    <a:solidFill>
                      <a:srgbClr val="F5DEF6"/>
                    </a:solidFill>
                  </a:tcPr>
                </a:tc>
                <a:extLst>
                  <a:ext uri="{0D108BD9-81ED-4DB2-BD59-A6C34878D82A}">
                    <a16:rowId xmlns:a16="http://schemas.microsoft.com/office/drawing/2014/main" val="3140096073"/>
                  </a:ext>
                </a:extLst>
              </a:tr>
              <a:tr h="349807">
                <a:tc>
                  <a:txBody>
                    <a:bodyPr/>
                    <a:lstStyle/>
                    <a:p>
                      <a:pPr algn="ctr"/>
                      <a:endParaRPr lang="en-IL" dirty="0"/>
                    </a:p>
                  </a:txBody>
                  <a:tcPr/>
                </a:tc>
                <a:tc>
                  <a:txBody>
                    <a:bodyPr/>
                    <a:lstStyle/>
                    <a:p>
                      <a:pPr algn="ctr" rtl="1" fontAlgn="b"/>
                      <a:r>
                        <a:rPr lang="he-IL" sz="1400" b="1" u="none" strike="noStrike" dirty="0">
                          <a:effectLst/>
                        </a:rPr>
                        <a:t>40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latin typeface="Arial" panose="020B0604020202020204" pitchFamily="34" charset="0"/>
                          <a:cs typeface="Arial" panose="020B0604020202020204" pitchFamily="34" charset="0"/>
                        </a:rPr>
                        <a:t>150</a:t>
                      </a:r>
                      <a:endParaRPr lang="en-IL" dirty="0">
                        <a:latin typeface="Arial" panose="020B0604020202020204" pitchFamily="34" charset="0"/>
                        <a:cs typeface="Arial" panose="020B0604020202020204" pitchFamily="34" charset="0"/>
                      </a:endParaRPr>
                    </a:p>
                  </a:txBody>
                  <a:tcPr/>
                </a:tc>
                <a:tc>
                  <a:txBody>
                    <a:bodyPr/>
                    <a:lstStyle/>
                    <a:p>
                      <a:pPr algn="ctr"/>
                      <a:r>
                        <a:rPr lang="en-US" dirty="0"/>
                        <a:t>3</a:t>
                      </a:r>
                      <a:endParaRPr lang="en-IL" dirty="0"/>
                    </a:p>
                  </a:txBody>
                  <a:tcPr/>
                </a:tc>
                <a:extLst>
                  <a:ext uri="{0D108BD9-81ED-4DB2-BD59-A6C34878D82A}">
                    <a16:rowId xmlns:a16="http://schemas.microsoft.com/office/drawing/2014/main" val="2363313943"/>
                  </a:ext>
                </a:extLst>
              </a:tr>
              <a:tr h="349807">
                <a:tc>
                  <a:txBody>
                    <a:bodyPr/>
                    <a:lstStyle/>
                    <a:p>
                      <a:pPr algn="ctr"/>
                      <a:endParaRPr lang="en-IL" dirty="0"/>
                    </a:p>
                  </a:txBody>
                  <a:tcPr>
                    <a:solidFill>
                      <a:srgbClr val="F5DEF6"/>
                    </a:solidFill>
                  </a:tcPr>
                </a:tc>
                <a:tc>
                  <a:txBody>
                    <a:bodyPr/>
                    <a:lstStyle/>
                    <a:p>
                      <a:pPr algn="ctr" rtl="1" fontAlgn="b"/>
                      <a:r>
                        <a:rPr lang="he-IL" sz="1400" b="1" u="none" strike="noStrike" dirty="0">
                          <a:effectLst/>
                        </a:rPr>
                        <a:t>50</a:t>
                      </a:r>
                      <a:endParaRPr lang="he-IL" sz="1400" b="1" i="0" u="none" strike="noStrike" dirty="0">
                        <a:solidFill>
                          <a:srgbClr val="000000"/>
                        </a:solidFill>
                        <a:effectLst/>
                        <a:latin typeface="Arial" panose="020B0604020202020204" pitchFamily="34" charset="0"/>
                      </a:endParaRPr>
                    </a:p>
                  </a:txBody>
                  <a:tcPr marL="8332" marR="8332" marT="8332" marB="0" anchor="b">
                    <a:solidFill>
                      <a:srgbClr val="F5DEF6"/>
                    </a:solidFill>
                  </a:tcPr>
                </a:tc>
                <a:tc>
                  <a:txBody>
                    <a:bodyPr/>
                    <a:lstStyle/>
                    <a:p>
                      <a:pPr algn="ctr"/>
                      <a:r>
                        <a:rPr lang="en-US" dirty="0">
                          <a:latin typeface="Arial" panose="020B0604020202020204" pitchFamily="34" charset="0"/>
                          <a:cs typeface="Arial" panose="020B0604020202020204" pitchFamily="34" charset="0"/>
                        </a:rPr>
                        <a:t>200</a:t>
                      </a:r>
                      <a:endParaRPr lang="en-IL" dirty="0">
                        <a:latin typeface="Arial" panose="020B0604020202020204" pitchFamily="34" charset="0"/>
                        <a:cs typeface="Arial" panose="020B0604020202020204" pitchFamily="34" charset="0"/>
                      </a:endParaRPr>
                    </a:p>
                  </a:txBody>
                  <a:tcPr>
                    <a:solidFill>
                      <a:srgbClr val="F5DEF6"/>
                    </a:solidFill>
                  </a:tcPr>
                </a:tc>
                <a:tc>
                  <a:txBody>
                    <a:bodyPr/>
                    <a:lstStyle/>
                    <a:p>
                      <a:pPr algn="ctr"/>
                      <a:r>
                        <a:rPr lang="en-US" dirty="0"/>
                        <a:t>4</a:t>
                      </a:r>
                      <a:endParaRPr lang="en-IL" dirty="0"/>
                    </a:p>
                  </a:txBody>
                  <a:tcPr>
                    <a:solidFill>
                      <a:srgbClr val="F5DEF6"/>
                    </a:solidFill>
                  </a:tcPr>
                </a:tc>
                <a:extLst>
                  <a:ext uri="{0D108BD9-81ED-4DB2-BD59-A6C34878D82A}">
                    <a16:rowId xmlns:a16="http://schemas.microsoft.com/office/drawing/2014/main" val="3086807375"/>
                  </a:ext>
                </a:extLst>
              </a:tr>
              <a:tr h="349807">
                <a:tc>
                  <a:txBody>
                    <a:bodyPr/>
                    <a:lstStyle/>
                    <a:p>
                      <a:pPr algn="ctr"/>
                      <a:endParaRPr lang="en-IL" dirty="0"/>
                    </a:p>
                  </a:txBody>
                  <a:tcPr/>
                </a:tc>
                <a:tc>
                  <a:txBody>
                    <a:bodyPr/>
                    <a:lstStyle/>
                    <a:p>
                      <a:pPr algn="ctr" rtl="1" fontAlgn="b"/>
                      <a:r>
                        <a:rPr lang="he-IL" sz="1400" b="1" u="none" strike="noStrike" dirty="0">
                          <a:effectLst/>
                        </a:rPr>
                        <a:t>70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latin typeface="Arial" panose="020B0604020202020204" pitchFamily="34" charset="0"/>
                          <a:cs typeface="Arial" panose="020B0604020202020204" pitchFamily="34" charset="0"/>
                        </a:rPr>
                        <a:t>270</a:t>
                      </a:r>
                      <a:endParaRPr lang="en-IL" dirty="0">
                        <a:latin typeface="Arial" panose="020B0604020202020204" pitchFamily="34" charset="0"/>
                        <a:cs typeface="Arial" panose="020B0604020202020204" pitchFamily="34" charset="0"/>
                      </a:endParaRPr>
                    </a:p>
                  </a:txBody>
                  <a:tcPr/>
                </a:tc>
                <a:tc>
                  <a:txBody>
                    <a:bodyPr/>
                    <a:lstStyle/>
                    <a:p>
                      <a:pPr algn="ctr"/>
                      <a:r>
                        <a:rPr lang="en-US" dirty="0"/>
                        <a:t>5</a:t>
                      </a:r>
                      <a:endParaRPr lang="en-IL" dirty="0"/>
                    </a:p>
                  </a:txBody>
                  <a:tcPr/>
                </a:tc>
                <a:extLst>
                  <a:ext uri="{0D108BD9-81ED-4DB2-BD59-A6C34878D82A}">
                    <a16:rowId xmlns:a16="http://schemas.microsoft.com/office/drawing/2014/main" val="2488581084"/>
                  </a:ext>
                </a:extLst>
              </a:tr>
              <a:tr h="349807">
                <a:tc>
                  <a:txBody>
                    <a:bodyPr/>
                    <a:lstStyle/>
                    <a:p>
                      <a:pPr algn="ctr"/>
                      <a:endParaRPr lang="en-IL" dirty="0"/>
                    </a:p>
                  </a:txBody>
                  <a:tcPr>
                    <a:solidFill>
                      <a:srgbClr val="F5DEF6"/>
                    </a:solidFill>
                  </a:tcPr>
                </a:tc>
                <a:tc>
                  <a:txBody>
                    <a:bodyPr/>
                    <a:lstStyle/>
                    <a:p>
                      <a:pPr algn="ctr" rtl="1" fontAlgn="b"/>
                      <a:r>
                        <a:rPr lang="he-IL" sz="1400" b="1" u="none" strike="noStrike" dirty="0">
                          <a:effectLst/>
                        </a:rPr>
                        <a:t>100</a:t>
                      </a:r>
                      <a:endParaRPr lang="he-IL" sz="1400" b="1" i="0" u="none" strike="noStrike" dirty="0">
                        <a:solidFill>
                          <a:srgbClr val="000000"/>
                        </a:solidFill>
                        <a:effectLst/>
                        <a:latin typeface="Arial" panose="020B0604020202020204" pitchFamily="34" charset="0"/>
                      </a:endParaRPr>
                    </a:p>
                  </a:txBody>
                  <a:tcPr marL="8332" marR="8332" marT="8332" marB="0" anchor="b">
                    <a:solidFill>
                      <a:srgbClr val="F5DEF6"/>
                    </a:solidFill>
                  </a:tcPr>
                </a:tc>
                <a:tc>
                  <a:txBody>
                    <a:bodyPr/>
                    <a:lstStyle/>
                    <a:p>
                      <a:pPr algn="ctr"/>
                      <a:r>
                        <a:rPr lang="en-US" dirty="0">
                          <a:latin typeface="Arial" panose="020B0604020202020204" pitchFamily="34" charset="0"/>
                          <a:cs typeface="Arial" panose="020B0604020202020204" pitchFamily="34" charset="0"/>
                        </a:rPr>
                        <a:t>370</a:t>
                      </a:r>
                      <a:endParaRPr lang="en-IL" dirty="0">
                        <a:latin typeface="Arial" panose="020B0604020202020204" pitchFamily="34" charset="0"/>
                        <a:cs typeface="Arial" panose="020B0604020202020204" pitchFamily="34" charset="0"/>
                      </a:endParaRPr>
                    </a:p>
                  </a:txBody>
                  <a:tcPr>
                    <a:solidFill>
                      <a:srgbClr val="F5DEF6"/>
                    </a:solidFill>
                  </a:tcPr>
                </a:tc>
                <a:tc>
                  <a:txBody>
                    <a:bodyPr/>
                    <a:lstStyle/>
                    <a:p>
                      <a:pPr algn="ctr"/>
                      <a:r>
                        <a:rPr lang="en-US" dirty="0"/>
                        <a:t>6</a:t>
                      </a:r>
                      <a:endParaRPr lang="en-IL" dirty="0"/>
                    </a:p>
                  </a:txBody>
                  <a:tcPr>
                    <a:solidFill>
                      <a:srgbClr val="F5DEF6"/>
                    </a:solidFill>
                  </a:tcPr>
                </a:tc>
                <a:extLst>
                  <a:ext uri="{0D108BD9-81ED-4DB2-BD59-A6C34878D82A}">
                    <a16:rowId xmlns:a16="http://schemas.microsoft.com/office/drawing/2014/main" val="774215678"/>
                  </a:ext>
                </a:extLst>
              </a:tr>
              <a:tr h="349807">
                <a:tc>
                  <a:txBody>
                    <a:bodyPr/>
                    <a:lstStyle/>
                    <a:p>
                      <a:pPr algn="ctr"/>
                      <a:endParaRPr lang="en-IL" dirty="0"/>
                    </a:p>
                  </a:txBody>
                  <a:tcPr/>
                </a:tc>
                <a:tc>
                  <a:txBody>
                    <a:bodyPr/>
                    <a:lstStyle/>
                    <a:p>
                      <a:pPr algn="ctr" rtl="1" fontAlgn="b"/>
                      <a:r>
                        <a:rPr lang="he-IL" sz="1400" b="1" u="none" strike="noStrike" dirty="0">
                          <a:effectLst/>
                        </a:rPr>
                        <a:t>110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latin typeface="Arial" panose="020B0604020202020204" pitchFamily="34" charset="0"/>
                          <a:cs typeface="Arial" panose="020B0604020202020204" pitchFamily="34" charset="0"/>
                        </a:rPr>
                        <a:t>480</a:t>
                      </a:r>
                      <a:endParaRPr lang="en-IL" dirty="0">
                        <a:latin typeface="Arial" panose="020B0604020202020204" pitchFamily="34" charset="0"/>
                        <a:cs typeface="Arial" panose="020B0604020202020204" pitchFamily="34" charset="0"/>
                      </a:endParaRPr>
                    </a:p>
                  </a:txBody>
                  <a:tcPr/>
                </a:tc>
                <a:tc>
                  <a:txBody>
                    <a:bodyPr/>
                    <a:lstStyle/>
                    <a:p>
                      <a:pPr algn="ctr"/>
                      <a:r>
                        <a:rPr lang="en-US" dirty="0"/>
                        <a:t>7</a:t>
                      </a:r>
                      <a:endParaRPr lang="en-IL" dirty="0"/>
                    </a:p>
                  </a:txBody>
                  <a:tcPr/>
                </a:tc>
                <a:extLst>
                  <a:ext uri="{0D108BD9-81ED-4DB2-BD59-A6C34878D82A}">
                    <a16:rowId xmlns:a16="http://schemas.microsoft.com/office/drawing/2014/main" val="3621824598"/>
                  </a:ext>
                </a:extLst>
              </a:tr>
              <a:tr h="349807">
                <a:tc>
                  <a:txBody>
                    <a:bodyPr/>
                    <a:lstStyle/>
                    <a:p>
                      <a:pPr algn="ctr"/>
                      <a:endParaRPr lang="en-IL" dirty="0"/>
                    </a:p>
                  </a:txBody>
                  <a:tcPr>
                    <a:solidFill>
                      <a:srgbClr val="F5DEF6"/>
                    </a:solidFill>
                  </a:tcPr>
                </a:tc>
                <a:tc>
                  <a:txBody>
                    <a:bodyPr/>
                    <a:lstStyle/>
                    <a:p>
                      <a:pPr algn="ctr" rtl="1" fontAlgn="b"/>
                      <a:r>
                        <a:rPr lang="he-IL" sz="1400" b="1" i="0" u="none" strike="noStrike" dirty="0">
                          <a:solidFill>
                            <a:srgbClr val="000000"/>
                          </a:solidFill>
                          <a:effectLst/>
                          <a:latin typeface="Arial" panose="020B0604020202020204" pitchFamily="34" charset="0"/>
                        </a:rPr>
                        <a:t>130</a:t>
                      </a:r>
                    </a:p>
                  </a:txBody>
                  <a:tcPr marL="8332" marR="8332" marT="8332" marB="0" anchor="b">
                    <a:solidFill>
                      <a:srgbClr val="F5DEF6"/>
                    </a:solidFill>
                  </a:tcPr>
                </a:tc>
                <a:tc>
                  <a:txBody>
                    <a:bodyPr/>
                    <a:lstStyle/>
                    <a:p>
                      <a:pPr algn="ctr"/>
                      <a:r>
                        <a:rPr lang="he-IL" dirty="0">
                          <a:latin typeface="Arial" panose="020B0604020202020204" pitchFamily="34" charset="0"/>
                          <a:cs typeface="Arial" panose="020B0604020202020204" pitchFamily="34" charset="0"/>
                        </a:rPr>
                        <a:t>610</a:t>
                      </a:r>
                      <a:endParaRPr lang="en-IL" dirty="0">
                        <a:latin typeface="Arial" panose="020B0604020202020204" pitchFamily="34" charset="0"/>
                        <a:cs typeface="Arial" panose="020B0604020202020204" pitchFamily="34" charset="0"/>
                      </a:endParaRPr>
                    </a:p>
                  </a:txBody>
                  <a:tcPr>
                    <a:solidFill>
                      <a:srgbClr val="F5DEF6"/>
                    </a:solidFill>
                  </a:tcPr>
                </a:tc>
                <a:tc>
                  <a:txBody>
                    <a:bodyPr/>
                    <a:lstStyle/>
                    <a:p>
                      <a:pPr algn="ctr"/>
                      <a:r>
                        <a:rPr lang="he-IL" dirty="0"/>
                        <a:t>8</a:t>
                      </a:r>
                      <a:endParaRPr lang="en-IL" dirty="0"/>
                    </a:p>
                  </a:txBody>
                  <a:tcPr>
                    <a:solidFill>
                      <a:srgbClr val="F5DEF6"/>
                    </a:solidFill>
                  </a:tcPr>
                </a:tc>
                <a:extLst>
                  <a:ext uri="{0D108BD9-81ED-4DB2-BD59-A6C34878D82A}">
                    <a16:rowId xmlns:a16="http://schemas.microsoft.com/office/drawing/2014/main" val="1058415926"/>
                  </a:ext>
                </a:extLst>
              </a:tr>
            </a:tbl>
          </a:graphicData>
        </a:graphic>
      </p:graphicFrame>
      <p:sp>
        <p:nvSpPr>
          <p:cNvPr id="11" name="TextBox 10">
            <a:extLst>
              <a:ext uri="{FF2B5EF4-FFF2-40B4-BE49-F238E27FC236}">
                <a16:creationId xmlns:a16="http://schemas.microsoft.com/office/drawing/2014/main" id="{3BCADBEF-575C-469E-97AD-6DB6517E862C}"/>
              </a:ext>
            </a:extLst>
          </p:cNvPr>
          <p:cNvSpPr txBox="1"/>
          <p:nvPr/>
        </p:nvSpPr>
        <p:spPr>
          <a:xfrm>
            <a:off x="6905892" y="237617"/>
            <a:ext cx="1523934" cy="369332"/>
          </a:xfrm>
          <a:prstGeom prst="rect">
            <a:avLst/>
          </a:prstGeom>
          <a:noFill/>
        </p:spPr>
        <p:txBody>
          <a:bodyPr wrap="square">
            <a:spAutoFit/>
          </a:bodyPr>
          <a:lstStyle/>
          <a:p>
            <a:pPr algn="ctr" rtl="1" fontAlgn="ctr"/>
            <a:r>
              <a:rPr lang="he-IL" sz="1800" u="none" strike="noStrike" dirty="0">
                <a:solidFill>
                  <a:srgbClr val="FF00FF"/>
                </a:solidFill>
                <a:effectLst/>
              </a:rPr>
              <a:t>טכנולוגיה א'</a:t>
            </a:r>
            <a:endParaRPr lang="he-IL" sz="1800" b="0" i="0" u="none" strike="noStrike" dirty="0">
              <a:solidFill>
                <a:srgbClr val="FF00FF"/>
              </a:solidFill>
              <a:effectLst/>
              <a:latin typeface="Arial" panose="020B0604020202020204" pitchFamily="34" charset="0"/>
            </a:endParaRPr>
          </a:p>
        </p:txBody>
      </p:sp>
      <p:sp>
        <p:nvSpPr>
          <p:cNvPr id="13" name="TextBox 12">
            <a:extLst>
              <a:ext uri="{FF2B5EF4-FFF2-40B4-BE49-F238E27FC236}">
                <a16:creationId xmlns:a16="http://schemas.microsoft.com/office/drawing/2014/main" id="{451B9906-C744-4F35-904F-D423E81230F4}"/>
              </a:ext>
            </a:extLst>
          </p:cNvPr>
          <p:cNvSpPr txBox="1"/>
          <p:nvPr/>
        </p:nvSpPr>
        <p:spPr>
          <a:xfrm>
            <a:off x="2819433" y="237617"/>
            <a:ext cx="1523934" cy="369332"/>
          </a:xfrm>
          <a:prstGeom prst="rect">
            <a:avLst/>
          </a:prstGeom>
          <a:noFill/>
          <a:ln>
            <a:solidFill>
              <a:schemeClr val="bg1"/>
            </a:solidFill>
          </a:ln>
        </p:spPr>
        <p:txBody>
          <a:bodyPr wrap="square">
            <a:spAutoFit/>
          </a:bodyPr>
          <a:lstStyle/>
          <a:p>
            <a:pPr algn="ctr" rtl="1" fontAlgn="ctr"/>
            <a:r>
              <a:rPr lang="he-IL" sz="1800" u="none" strike="noStrike" dirty="0">
                <a:solidFill>
                  <a:schemeClr val="accent1"/>
                </a:solidFill>
                <a:effectLst/>
              </a:rPr>
              <a:t>טכנולוגיה ב'</a:t>
            </a:r>
            <a:endParaRPr lang="he-IL" sz="1800" b="0" i="0" u="none" strike="noStrike" dirty="0">
              <a:solidFill>
                <a:schemeClr val="accent1"/>
              </a:solidFill>
              <a:effectLst/>
              <a:latin typeface="Arial" panose="020B0604020202020204" pitchFamily="34" charset="0"/>
            </a:endParaRPr>
          </a:p>
        </p:txBody>
      </p:sp>
      <p:graphicFrame>
        <p:nvGraphicFramePr>
          <p:cNvPr id="14" name="Table 6">
            <a:extLst>
              <a:ext uri="{FF2B5EF4-FFF2-40B4-BE49-F238E27FC236}">
                <a16:creationId xmlns:a16="http://schemas.microsoft.com/office/drawing/2014/main" id="{A6F347B5-9FB6-40CD-87A9-1E5DCD90DFAB}"/>
              </a:ext>
            </a:extLst>
          </p:cNvPr>
          <p:cNvGraphicFramePr>
            <a:graphicFrameLocks noGrp="1"/>
          </p:cNvGraphicFramePr>
          <p:nvPr/>
        </p:nvGraphicFramePr>
        <p:xfrm>
          <a:off x="1063826" y="620760"/>
          <a:ext cx="4135796" cy="4206240"/>
        </p:xfrm>
        <a:graphic>
          <a:graphicData uri="http://schemas.openxmlformats.org/drawingml/2006/table">
            <a:tbl>
              <a:tblPr firstRow="1" bandRow="1">
                <a:tableStyleId>{5C22544A-7EE6-4342-B048-85BDC9FD1C3A}</a:tableStyleId>
              </a:tblPr>
              <a:tblGrid>
                <a:gridCol w="1908129">
                  <a:extLst>
                    <a:ext uri="{9D8B030D-6E8A-4147-A177-3AD203B41FA5}">
                      <a16:colId xmlns:a16="http://schemas.microsoft.com/office/drawing/2014/main" val="877989887"/>
                    </a:ext>
                  </a:extLst>
                </a:gridCol>
                <a:gridCol w="829613">
                  <a:extLst>
                    <a:ext uri="{9D8B030D-6E8A-4147-A177-3AD203B41FA5}">
                      <a16:colId xmlns:a16="http://schemas.microsoft.com/office/drawing/2014/main" val="2893910380"/>
                    </a:ext>
                  </a:extLst>
                </a:gridCol>
                <a:gridCol w="608384">
                  <a:extLst>
                    <a:ext uri="{9D8B030D-6E8A-4147-A177-3AD203B41FA5}">
                      <a16:colId xmlns:a16="http://schemas.microsoft.com/office/drawing/2014/main" val="4127186392"/>
                    </a:ext>
                  </a:extLst>
                </a:gridCol>
                <a:gridCol w="789670">
                  <a:extLst>
                    <a:ext uri="{9D8B030D-6E8A-4147-A177-3AD203B41FA5}">
                      <a16:colId xmlns:a16="http://schemas.microsoft.com/office/drawing/2014/main" val="250261459"/>
                    </a:ext>
                  </a:extLst>
                </a:gridCol>
              </a:tblGrid>
              <a:tr h="867284">
                <a:tc>
                  <a:txBody>
                    <a:bodyPr/>
                    <a:lstStyle/>
                    <a:p>
                      <a:pPr algn="ctr"/>
                      <a:r>
                        <a:rPr lang="he-IL" dirty="0"/>
                        <a:t>רווח נקי</a:t>
                      </a:r>
                    </a:p>
                    <a:p>
                      <a:pPr algn="ctr"/>
                      <a:r>
                        <a:rPr lang="en-US" dirty="0"/>
                        <a:t>P*X-TC</a:t>
                      </a:r>
                      <a:endParaRPr lang="en-IL" dirty="0"/>
                    </a:p>
                  </a:txBody>
                  <a:tcPr>
                    <a:solidFill>
                      <a:schemeClr val="accent1"/>
                    </a:solidFill>
                  </a:tcPr>
                </a:tc>
                <a:tc>
                  <a:txBody>
                    <a:bodyPr/>
                    <a:lstStyle/>
                    <a:p>
                      <a:pPr algn="ctr"/>
                      <a:r>
                        <a:rPr lang="en-US" dirty="0"/>
                        <a:t>MC</a:t>
                      </a:r>
                      <a:endParaRPr lang="en-IL" dirty="0"/>
                    </a:p>
                  </a:txBody>
                  <a:tcPr>
                    <a:solidFill>
                      <a:schemeClr val="accent1"/>
                    </a:solidFill>
                  </a:tcPr>
                </a:tc>
                <a:tc>
                  <a:txBody>
                    <a:bodyPr/>
                    <a:lstStyle/>
                    <a:p>
                      <a:pPr algn="ctr"/>
                      <a:r>
                        <a:rPr lang="en-US" dirty="0"/>
                        <a:t>TC</a:t>
                      </a:r>
                      <a:endParaRPr lang="en-IL" dirty="0"/>
                    </a:p>
                  </a:txBody>
                  <a:tcPr>
                    <a:solidFill>
                      <a:schemeClr val="accent1"/>
                    </a:solidFill>
                  </a:tcPr>
                </a:tc>
                <a:tc>
                  <a:txBody>
                    <a:bodyPr/>
                    <a:lstStyle/>
                    <a:p>
                      <a:pPr algn="ctr" rtl="1"/>
                      <a:r>
                        <a:rPr lang="he-IL" dirty="0"/>
                        <a:t>כמות מיוצרת </a:t>
                      </a:r>
                      <a:r>
                        <a:rPr lang="en-US" dirty="0"/>
                        <a:t>X</a:t>
                      </a:r>
                      <a:endParaRPr lang="en-IL" dirty="0"/>
                    </a:p>
                  </a:txBody>
                  <a:tcPr>
                    <a:solidFill>
                      <a:schemeClr val="accent1"/>
                    </a:solidFill>
                  </a:tcPr>
                </a:tc>
                <a:extLst>
                  <a:ext uri="{0D108BD9-81ED-4DB2-BD59-A6C34878D82A}">
                    <a16:rowId xmlns:a16="http://schemas.microsoft.com/office/drawing/2014/main" val="2821387179"/>
                  </a:ext>
                </a:extLst>
              </a:tr>
              <a:tr h="346914">
                <a:tc>
                  <a:txBody>
                    <a:bodyPr/>
                    <a:lstStyle/>
                    <a:p>
                      <a:pPr algn="ctr"/>
                      <a:endParaRPr lang="en-IL" dirty="0"/>
                    </a:p>
                  </a:txBody>
                  <a:tcPr>
                    <a:solidFill>
                      <a:schemeClr val="accent1">
                        <a:lumMod val="20000"/>
                        <a:lumOff val="80000"/>
                      </a:schemeClr>
                    </a:solidFill>
                  </a:tcPr>
                </a:tc>
                <a:tc>
                  <a:txBody>
                    <a:bodyPr/>
                    <a:lstStyle/>
                    <a:p>
                      <a:pPr algn="ctr"/>
                      <a:r>
                        <a:rPr lang="he-IL" dirty="0"/>
                        <a:t>-</a:t>
                      </a:r>
                      <a:endParaRPr lang="en-IL" dirty="0"/>
                    </a:p>
                  </a:txBody>
                  <a:tcPr>
                    <a:solidFill>
                      <a:schemeClr val="accent1">
                        <a:lumMod val="20000"/>
                        <a:lumOff val="80000"/>
                      </a:schemeClr>
                    </a:solidFill>
                  </a:tcPr>
                </a:tc>
                <a:tc>
                  <a:txBody>
                    <a:bodyPr/>
                    <a:lstStyle/>
                    <a:p>
                      <a:pPr algn="ctr"/>
                      <a:r>
                        <a:rPr lang="en-US" dirty="0"/>
                        <a:t>200</a:t>
                      </a:r>
                      <a:endParaRPr lang="en-IL" dirty="0"/>
                    </a:p>
                  </a:txBody>
                  <a:tcPr>
                    <a:solidFill>
                      <a:schemeClr val="accent1">
                        <a:lumMod val="20000"/>
                        <a:lumOff val="80000"/>
                      </a:schemeClr>
                    </a:solidFill>
                  </a:tcPr>
                </a:tc>
                <a:tc>
                  <a:txBody>
                    <a:bodyPr/>
                    <a:lstStyle/>
                    <a:p>
                      <a:pPr algn="ctr"/>
                      <a:r>
                        <a:rPr lang="en-US" dirty="0"/>
                        <a:t>0</a:t>
                      </a:r>
                      <a:endParaRPr lang="en-IL" dirty="0"/>
                    </a:p>
                  </a:txBody>
                  <a:tcPr>
                    <a:solidFill>
                      <a:schemeClr val="accent1">
                        <a:lumMod val="20000"/>
                        <a:lumOff val="80000"/>
                      </a:schemeClr>
                    </a:solidFill>
                  </a:tcPr>
                </a:tc>
                <a:extLst>
                  <a:ext uri="{0D108BD9-81ED-4DB2-BD59-A6C34878D82A}">
                    <a16:rowId xmlns:a16="http://schemas.microsoft.com/office/drawing/2014/main" val="90168298"/>
                  </a:ext>
                </a:extLst>
              </a:tr>
              <a:tr h="346914">
                <a:tc>
                  <a:txBody>
                    <a:bodyPr/>
                    <a:lstStyle/>
                    <a:p>
                      <a:pPr algn="ctr"/>
                      <a:endParaRPr lang="en-IL" dirty="0"/>
                    </a:p>
                  </a:txBody>
                  <a:tcPr/>
                </a:tc>
                <a:tc>
                  <a:txBody>
                    <a:bodyPr/>
                    <a:lstStyle/>
                    <a:p>
                      <a:pPr algn="ctr" rtl="0" fontAlgn="b"/>
                      <a:r>
                        <a:rPr lang="he-IL" sz="1400" b="1" u="none" strike="noStrike" dirty="0">
                          <a:effectLst/>
                        </a:rPr>
                        <a:t>10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t>210</a:t>
                      </a:r>
                      <a:endParaRPr lang="en-IL" dirty="0"/>
                    </a:p>
                  </a:txBody>
                  <a:tcPr/>
                </a:tc>
                <a:tc>
                  <a:txBody>
                    <a:bodyPr/>
                    <a:lstStyle/>
                    <a:p>
                      <a:pPr algn="ctr"/>
                      <a:r>
                        <a:rPr lang="en-US" dirty="0"/>
                        <a:t>1</a:t>
                      </a:r>
                      <a:endParaRPr lang="en-IL" dirty="0"/>
                    </a:p>
                  </a:txBody>
                  <a:tcPr/>
                </a:tc>
                <a:extLst>
                  <a:ext uri="{0D108BD9-81ED-4DB2-BD59-A6C34878D82A}">
                    <a16:rowId xmlns:a16="http://schemas.microsoft.com/office/drawing/2014/main" val="1110799114"/>
                  </a:ext>
                </a:extLst>
              </a:tr>
              <a:tr h="346914">
                <a:tc>
                  <a:txBody>
                    <a:bodyPr/>
                    <a:lstStyle/>
                    <a:p>
                      <a:pPr algn="ctr"/>
                      <a:endParaRPr lang="en-IL" dirty="0"/>
                    </a:p>
                  </a:txBody>
                  <a:tcPr>
                    <a:solidFill>
                      <a:schemeClr val="accent1">
                        <a:lumMod val="20000"/>
                        <a:lumOff val="80000"/>
                      </a:schemeClr>
                    </a:solidFill>
                  </a:tcPr>
                </a:tc>
                <a:tc>
                  <a:txBody>
                    <a:bodyPr/>
                    <a:lstStyle/>
                    <a:p>
                      <a:pPr algn="ctr" rtl="0" fontAlgn="b"/>
                      <a:r>
                        <a:rPr lang="he-IL" sz="1400" b="1" u="none" strike="noStrike" dirty="0">
                          <a:effectLst/>
                        </a:rPr>
                        <a:t>20</a:t>
                      </a:r>
                      <a:endParaRPr lang="he-IL" sz="1400" b="1" i="0" u="none" strike="noStrike" dirty="0">
                        <a:solidFill>
                          <a:srgbClr val="000000"/>
                        </a:solidFill>
                        <a:effectLst/>
                        <a:latin typeface="Arial" panose="020B0604020202020204" pitchFamily="34" charset="0"/>
                      </a:endParaRPr>
                    </a:p>
                  </a:txBody>
                  <a:tcPr marL="8332" marR="8332" marT="8332" marB="0" anchor="b">
                    <a:solidFill>
                      <a:schemeClr val="accent1">
                        <a:lumMod val="20000"/>
                        <a:lumOff val="80000"/>
                      </a:schemeClr>
                    </a:solidFill>
                  </a:tcPr>
                </a:tc>
                <a:tc>
                  <a:txBody>
                    <a:bodyPr/>
                    <a:lstStyle/>
                    <a:p>
                      <a:pPr algn="ctr"/>
                      <a:r>
                        <a:rPr lang="en-US" dirty="0"/>
                        <a:t>230</a:t>
                      </a:r>
                      <a:endParaRPr lang="en-IL" dirty="0"/>
                    </a:p>
                  </a:txBody>
                  <a:tcPr>
                    <a:solidFill>
                      <a:schemeClr val="accent1">
                        <a:lumMod val="20000"/>
                        <a:lumOff val="80000"/>
                      </a:schemeClr>
                    </a:solidFill>
                  </a:tcPr>
                </a:tc>
                <a:tc>
                  <a:txBody>
                    <a:bodyPr/>
                    <a:lstStyle/>
                    <a:p>
                      <a:pPr algn="ctr"/>
                      <a:r>
                        <a:rPr lang="en-US" dirty="0"/>
                        <a:t>2</a:t>
                      </a:r>
                      <a:endParaRPr lang="en-IL" dirty="0"/>
                    </a:p>
                  </a:txBody>
                  <a:tcPr>
                    <a:solidFill>
                      <a:schemeClr val="accent1">
                        <a:lumMod val="20000"/>
                        <a:lumOff val="80000"/>
                      </a:schemeClr>
                    </a:solidFill>
                  </a:tcPr>
                </a:tc>
                <a:extLst>
                  <a:ext uri="{0D108BD9-81ED-4DB2-BD59-A6C34878D82A}">
                    <a16:rowId xmlns:a16="http://schemas.microsoft.com/office/drawing/2014/main" val="3140096073"/>
                  </a:ext>
                </a:extLst>
              </a:tr>
              <a:tr h="346914">
                <a:tc>
                  <a:txBody>
                    <a:bodyPr/>
                    <a:lstStyle/>
                    <a:p>
                      <a:pPr algn="ctr"/>
                      <a:endParaRPr lang="en-IL" dirty="0"/>
                    </a:p>
                  </a:txBody>
                  <a:tcPr/>
                </a:tc>
                <a:tc>
                  <a:txBody>
                    <a:bodyPr/>
                    <a:lstStyle/>
                    <a:p>
                      <a:pPr algn="ctr" rtl="0" fontAlgn="b"/>
                      <a:r>
                        <a:rPr lang="he-IL" sz="1400" b="1" u="none" strike="noStrike" dirty="0">
                          <a:effectLst/>
                        </a:rPr>
                        <a:t>25</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t>255</a:t>
                      </a:r>
                      <a:endParaRPr lang="en-IL" dirty="0"/>
                    </a:p>
                  </a:txBody>
                  <a:tcPr/>
                </a:tc>
                <a:tc>
                  <a:txBody>
                    <a:bodyPr/>
                    <a:lstStyle/>
                    <a:p>
                      <a:pPr algn="ctr"/>
                      <a:r>
                        <a:rPr lang="en-US" dirty="0"/>
                        <a:t>3</a:t>
                      </a:r>
                      <a:endParaRPr lang="en-IL" dirty="0"/>
                    </a:p>
                  </a:txBody>
                  <a:tcPr/>
                </a:tc>
                <a:extLst>
                  <a:ext uri="{0D108BD9-81ED-4DB2-BD59-A6C34878D82A}">
                    <a16:rowId xmlns:a16="http://schemas.microsoft.com/office/drawing/2014/main" val="2363313943"/>
                  </a:ext>
                </a:extLst>
              </a:tr>
              <a:tr h="346914">
                <a:tc>
                  <a:txBody>
                    <a:bodyPr/>
                    <a:lstStyle/>
                    <a:p>
                      <a:pPr algn="ctr"/>
                      <a:endParaRPr lang="en-IL" dirty="0"/>
                    </a:p>
                  </a:txBody>
                  <a:tcPr>
                    <a:solidFill>
                      <a:schemeClr val="accent1">
                        <a:lumMod val="20000"/>
                        <a:lumOff val="80000"/>
                      </a:schemeClr>
                    </a:solidFill>
                  </a:tcPr>
                </a:tc>
                <a:tc>
                  <a:txBody>
                    <a:bodyPr/>
                    <a:lstStyle/>
                    <a:p>
                      <a:pPr algn="ctr" rtl="0" fontAlgn="b"/>
                      <a:r>
                        <a:rPr lang="he-IL" sz="1400" b="1" u="none" strike="noStrike" dirty="0">
                          <a:effectLst/>
                        </a:rPr>
                        <a:t>35</a:t>
                      </a:r>
                      <a:endParaRPr lang="he-IL" sz="1400" b="1" i="0" u="none" strike="noStrike" dirty="0">
                        <a:solidFill>
                          <a:srgbClr val="000000"/>
                        </a:solidFill>
                        <a:effectLst/>
                        <a:latin typeface="Arial" panose="020B0604020202020204" pitchFamily="34" charset="0"/>
                      </a:endParaRPr>
                    </a:p>
                  </a:txBody>
                  <a:tcPr marL="8332" marR="8332" marT="8332" marB="0" anchor="b">
                    <a:solidFill>
                      <a:schemeClr val="accent1">
                        <a:lumMod val="20000"/>
                        <a:lumOff val="80000"/>
                      </a:schemeClr>
                    </a:solidFill>
                  </a:tcPr>
                </a:tc>
                <a:tc>
                  <a:txBody>
                    <a:bodyPr/>
                    <a:lstStyle/>
                    <a:p>
                      <a:pPr algn="ctr"/>
                      <a:r>
                        <a:rPr lang="en-US" dirty="0"/>
                        <a:t>290</a:t>
                      </a:r>
                      <a:endParaRPr lang="en-IL" dirty="0"/>
                    </a:p>
                  </a:txBody>
                  <a:tcPr>
                    <a:solidFill>
                      <a:schemeClr val="accent1">
                        <a:lumMod val="20000"/>
                        <a:lumOff val="80000"/>
                      </a:schemeClr>
                    </a:solidFill>
                  </a:tcPr>
                </a:tc>
                <a:tc>
                  <a:txBody>
                    <a:bodyPr/>
                    <a:lstStyle/>
                    <a:p>
                      <a:pPr algn="ctr"/>
                      <a:r>
                        <a:rPr lang="en-US" dirty="0"/>
                        <a:t>4</a:t>
                      </a:r>
                      <a:endParaRPr lang="en-IL" dirty="0"/>
                    </a:p>
                  </a:txBody>
                  <a:tcPr>
                    <a:solidFill>
                      <a:schemeClr val="accent1">
                        <a:lumMod val="20000"/>
                        <a:lumOff val="80000"/>
                      </a:schemeClr>
                    </a:solidFill>
                  </a:tcPr>
                </a:tc>
                <a:extLst>
                  <a:ext uri="{0D108BD9-81ED-4DB2-BD59-A6C34878D82A}">
                    <a16:rowId xmlns:a16="http://schemas.microsoft.com/office/drawing/2014/main" val="3086807375"/>
                  </a:ext>
                </a:extLst>
              </a:tr>
              <a:tr h="346914">
                <a:tc>
                  <a:txBody>
                    <a:bodyPr/>
                    <a:lstStyle/>
                    <a:p>
                      <a:pPr algn="ctr"/>
                      <a:endParaRPr lang="en-IL" dirty="0"/>
                    </a:p>
                  </a:txBody>
                  <a:tcPr/>
                </a:tc>
                <a:tc>
                  <a:txBody>
                    <a:bodyPr/>
                    <a:lstStyle/>
                    <a:p>
                      <a:pPr algn="ctr" rtl="0" fontAlgn="b"/>
                      <a:r>
                        <a:rPr lang="he-IL" sz="1400" b="1" u="none" strike="noStrike" dirty="0">
                          <a:effectLst/>
                        </a:rPr>
                        <a:t>40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t>330</a:t>
                      </a:r>
                      <a:endParaRPr lang="en-IL" dirty="0"/>
                    </a:p>
                  </a:txBody>
                  <a:tcPr/>
                </a:tc>
                <a:tc>
                  <a:txBody>
                    <a:bodyPr/>
                    <a:lstStyle/>
                    <a:p>
                      <a:pPr algn="ctr"/>
                      <a:r>
                        <a:rPr lang="en-US" dirty="0"/>
                        <a:t>5</a:t>
                      </a:r>
                      <a:endParaRPr lang="en-IL" dirty="0"/>
                    </a:p>
                  </a:txBody>
                  <a:tcPr/>
                </a:tc>
                <a:extLst>
                  <a:ext uri="{0D108BD9-81ED-4DB2-BD59-A6C34878D82A}">
                    <a16:rowId xmlns:a16="http://schemas.microsoft.com/office/drawing/2014/main" val="2488581084"/>
                  </a:ext>
                </a:extLst>
              </a:tr>
              <a:tr h="346914">
                <a:tc>
                  <a:txBody>
                    <a:bodyPr/>
                    <a:lstStyle/>
                    <a:p>
                      <a:pPr algn="ctr"/>
                      <a:endParaRPr lang="en-IL" dirty="0"/>
                    </a:p>
                  </a:txBody>
                  <a:tcPr>
                    <a:solidFill>
                      <a:schemeClr val="accent1">
                        <a:lumMod val="20000"/>
                        <a:lumOff val="80000"/>
                      </a:schemeClr>
                    </a:solidFill>
                  </a:tcPr>
                </a:tc>
                <a:tc>
                  <a:txBody>
                    <a:bodyPr/>
                    <a:lstStyle/>
                    <a:p>
                      <a:pPr algn="ctr" rtl="0" fontAlgn="b"/>
                      <a:r>
                        <a:rPr lang="he-IL" sz="1400" b="1" u="none" strike="noStrike" dirty="0">
                          <a:effectLst/>
                        </a:rPr>
                        <a:t>45</a:t>
                      </a:r>
                      <a:endParaRPr lang="he-IL" sz="1400" b="1" i="0" u="none" strike="noStrike" dirty="0">
                        <a:solidFill>
                          <a:srgbClr val="000000"/>
                        </a:solidFill>
                        <a:effectLst/>
                        <a:latin typeface="Arial" panose="020B0604020202020204" pitchFamily="34" charset="0"/>
                      </a:endParaRPr>
                    </a:p>
                  </a:txBody>
                  <a:tcPr marL="8332" marR="8332" marT="8332" marB="0" anchor="b">
                    <a:solidFill>
                      <a:schemeClr val="accent1">
                        <a:lumMod val="20000"/>
                        <a:lumOff val="80000"/>
                      </a:schemeClr>
                    </a:solidFill>
                  </a:tcPr>
                </a:tc>
                <a:tc>
                  <a:txBody>
                    <a:bodyPr/>
                    <a:lstStyle/>
                    <a:p>
                      <a:pPr algn="ctr"/>
                      <a:r>
                        <a:rPr lang="en-US" dirty="0"/>
                        <a:t>375</a:t>
                      </a:r>
                      <a:endParaRPr lang="en-IL" dirty="0"/>
                    </a:p>
                  </a:txBody>
                  <a:tcPr>
                    <a:solidFill>
                      <a:schemeClr val="accent1">
                        <a:lumMod val="20000"/>
                        <a:lumOff val="80000"/>
                      </a:schemeClr>
                    </a:solidFill>
                  </a:tcPr>
                </a:tc>
                <a:tc>
                  <a:txBody>
                    <a:bodyPr/>
                    <a:lstStyle/>
                    <a:p>
                      <a:pPr algn="ctr"/>
                      <a:r>
                        <a:rPr lang="en-US" dirty="0"/>
                        <a:t>6</a:t>
                      </a:r>
                      <a:endParaRPr lang="en-IL" dirty="0"/>
                    </a:p>
                  </a:txBody>
                  <a:tcPr>
                    <a:solidFill>
                      <a:schemeClr val="accent1">
                        <a:lumMod val="20000"/>
                        <a:lumOff val="80000"/>
                      </a:schemeClr>
                    </a:solidFill>
                  </a:tcPr>
                </a:tc>
                <a:extLst>
                  <a:ext uri="{0D108BD9-81ED-4DB2-BD59-A6C34878D82A}">
                    <a16:rowId xmlns:a16="http://schemas.microsoft.com/office/drawing/2014/main" val="774215678"/>
                  </a:ext>
                </a:extLst>
              </a:tr>
              <a:tr h="346914">
                <a:tc>
                  <a:txBody>
                    <a:bodyPr/>
                    <a:lstStyle/>
                    <a:p>
                      <a:pPr algn="ctr"/>
                      <a:endParaRPr lang="en-IL" dirty="0"/>
                    </a:p>
                  </a:txBody>
                  <a:tcPr/>
                </a:tc>
                <a:tc>
                  <a:txBody>
                    <a:bodyPr/>
                    <a:lstStyle/>
                    <a:p>
                      <a:pPr algn="ctr" rtl="0" fontAlgn="b"/>
                      <a:r>
                        <a:rPr lang="he-IL" sz="1400" b="1" u="none" strike="noStrike" dirty="0">
                          <a:effectLst/>
                        </a:rPr>
                        <a:t>50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t>425</a:t>
                      </a:r>
                      <a:endParaRPr lang="en-IL" dirty="0"/>
                    </a:p>
                  </a:txBody>
                  <a:tcPr/>
                </a:tc>
                <a:tc>
                  <a:txBody>
                    <a:bodyPr/>
                    <a:lstStyle/>
                    <a:p>
                      <a:pPr algn="ctr"/>
                      <a:r>
                        <a:rPr lang="en-US" dirty="0"/>
                        <a:t>7</a:t>
                      </a:r>
                      <a:endParaRPr lang="en-IL" dirty="0"/>
                    </a:p>
                  </a:txBody>
                  <a:tcPr/>
                </a:tc>
                <a:extLst>
                  <a:ext uri="{0D108BD9-81ED-4DB2-BD59-A6C34878D82A}">
                    <a16:rowId xmlns:a16="http://schemas.microsoft.com/office/drawing/2014/main" val="3621824598"/>
                  </a:ext>
                </a:extLst>
              </a:tr>
              <a:tr h="346914">
                <a:tc>
                  <a:txBody>
                    <a:bodyPr/>
                    <a:lstStyle/>
                    <a:p>
                      <a:pPr algn="ctr"/>
                      <a:endParaRPr lang="en-IL" dirty="0"/>
                    </a:p>
                  </a:txBody>
                  <a:tcPr/>
                </a:tc>
                <a:tc>
                  <a:txBody>
                    <a:bodyPr/>
                    <a:lstStyle/>
                    <a:p>
                      <a:pPr algn="ctr" rtl="0" fontAlgn="b"/>
                      <a:r>
                        <a:rPr lang="he-IL" sz="1400" b="1" i="0" u="none" strike="noStrike" dirty="0">
                          <a:solidFill>
                            <a:srgbClr val="000000"/>
                          </a:solidFill>
                          <a:effectLst/>
                          <a:latin typeface="Arial" panose="020B0604020202020204" pitchFamily="34" charset="0"/>
                        </a:rPr>
                        <a:t>130</a:t>
                      </a:r>
                    </a:p>
                  </a:txBody>
                  <a:tcPr marL="8332" marR="8332" marT="8332" marB="0" anchor="b"/>
                </a:tc>
                <a:tc>
                  <a:txBody>
                    <a:bodyPr/>
                    <a:lstStyle/>
                    <a:p>
                      <a:pPr algn="ctr"/>
                      <a:r>
                        <a:rPr lang="he-IL" dirty="0"/>
                        <a:t>555</a:t>
                      </a:r>
                      <a:endParaRPr lang="en-IL" dirty="0"/>
                    </a:p>
                  </a:txBody>
                  <a:tcPr/>
                </a:tc>
                <a:tc>
                  <a:txBody>
                    <a:bodyPr/>
                    <a:lstStyle/>
                    <a:p>
                      <a:pPr algn="ctr"/>
                      <a:r>
                        <a:rPr lang="he-IL" dirty="0"/>
                        <a:t>8</a:t>
                      </a:r>
                      <a:endParaRPr lang="en-IL" dirty="0"/>
                    </a:p>
                  </a:txBody>
                  <a:tcPr/>
                </a:tc>
                <a:extLst>
                  <a:ext uri="{0D108BD9-81ED-4DB2-BD59-A6C34878D82A}">
                    <a16:rowId xmlns:a16="http://schemas.microsoft.com/office/drawing/2014/main" val="1064849030"/>
                  </a:ext>
                </a:extLst>
              </a:tr>
            </a:tbl>
          </a:graphicData>
        </a:graphic>
      </p:graphicFrame>
      <p:sp>
        <p:nvSpPr>
          <p:cNvPr id="15" name="מלבן 6">
            <a:extLst>
              <a:ext uri="{FF2B5EF4-FFF2-40B4-BE49-F238E27FC236}">
                <a16:creationId xmlns:a16="http://schemas.microsoft.com/office/drawing/2014/main" id="{FE7977B6-E0B0-4449-8726-4CAE1246CEA4}"/>
              </a:ext>
            </a:extLst>
          </p:cNvPr>
          <p:cNvSpPr/>
          <p:nvPr/>
        </p:nvSpPr>
        <p:spPr>
          <a:xfrm>
            <a:off x="1135113" y="5348541"/>
            <a:ext cx="10870311" cy="1354217"/>
          </a:xfrm>
          <a:prstGeom prst="rect">
            <a:avLst/>
          </a:prstGeom>
        </p:spPr>
        <p:txBody>
          <a:bodyPr wrap="square">
            <a:spAutoFit/>
          </a:bodyPr>
          <a:lstStyle/>
          <a:p>
            <a:pPr lvl="0" algn="r" rtl="1"/>
            <a:r>
              <a:rPr lang="he-IL" dirty="0"/>
              <a:t>א. אם מחיר השוק של מוצר </a:t>
            </a:r>
            <a:r>
              <a:rPr lang="en-US" dirty="0"/>
              <a:t>X</a:t>
            </a:r>
            <a:r>
              <a:rPr lang="he-IL" dirty="0"/>
              <a:t> הוא  </a:t>
            </a:r>
            <a:r>
              <a:rPr lang="en-US" dirty="0"/>
              <a:t>PX=75</a:t>
            </a:r>
            <a:r>
              <a:rPr lang="he-IL" dirty="0"/>
              <a:t> , היצרן יכנס לענף עם  טכנולוגיה א' וייצר 5 יחידות.</a:t>
            </a:r>
            <a:endParaRPr lang="en-US" dirty="0"/>
          </a:p>
          <a:p>
            <a:pPr lvl="0" algn="r" rtl="1"/>
            <a:r>
              <a:rPr lang="he-IL" sz="1600" dirty="0"/>
              <a:t>ב. אם מחיר השוק של מוצר </a:t>
            </a:r>
            <a:r>
              <a:rPr lang="en-US" sz="1600" dirty="0"/>
              <a:t>X</a:t>
            </a:r>
            <a:r>
              <a:rPr lang="he-IL" sz="1600" dirty="0"/>
              <a:t> הוא  </a:t>
            </a:r>
            <a:r>
              <a:rPr lang="en-US" sz="1600" dirty="0"/>
              <a:t>PX=130</a:t>
            </a:r>
            <a:r>
              <a:rPr lang="he-IL" sz="1600" dirty="0"/>
              <a:t> , לא יהיה אכפת ליצרן באיזה טכנולוגיה להשתמש והוא ייצר 8 יחידות</a:t>
            </a:r>
            <a:endParaRPr lang="en-US" sz="1600" dirty="0"/>
          </a:p>
          <a:p>
            <a:pPr lvl="0" algn="r" rtl="1"/>
            <a:r>
              <a:rPr lang="he-IL" sz="1600" dirty="0"/>
              <a:t>ג. אם מחיר השוק של מוצר </a:t>
            </a:r>
            <a:r>
              <a:rPr lang="en-US" sz="1600" dirty="0"/>
              <a:t>X</a:t>
            </a:r>
            <a:r>
              <a:rPr lang="he-IL" sz="1600" dirty="0"/>
              <a:t> הוא  </a:t>
            </a:r>
            <a:r>
              <a:rPr lang="en-US" sz="1600" dirty="0"/>
              <a:t>PX=25</a:t>
            </a:r>
            <a:r>
              <a:rPr lang="he-IL" sz="1600" dirty="0"/>
              <a:t>, היצרן יכנס לענף עם טכנולוגיה א' וייצר 2 יחידות.</a:t>
            </a:r>
            <a:endParaRPr lang="en-US" sz="1600" dirty="0"/>
          </a:p>
          <a:p>
            <a:pPr lvl="0" algn="r" rtl="1"/>
            <a:r>
              <a:rPr lang="he-IL" sz="1600" dirty="0"/>
              <a:t>ד. אם מחיר השוק של מוצר </a:t>
            </a:r>
            <a:r>
              <a:rPr lang="en-US" sz="1600" dirty="0"/>
              <a:t>X</a:t>
            </a:r>
            <a:r>
              <a:rPr lang="he-IL" sz="1600" dirty="0"/>
              <a:t> הוא  </a:t>
            </a:r>
            <a:r>
              <a:rPr lang="en-US" sz="1600" dirty="0"/>
              <a:t>PX=40</a:t>
            </a:r>
            <a:r>
              <a:rPr lang="he-IL" sz="1600" dirty="0"/>
              <a:t>,  היצרן בהכרח יכנס לענף עם טכנולוגיה ב' וייצר 5 יחידות.</a:t>
            </a:r>
            <a:endParaRPr lang="en-US" sz="1600" dirty="0"/>
          </a:p>
          <a:p>
            <a:pPr lvl="0" algn="r" rtl="1"/>
            <a:r>
              <a:rPr lang="he-IL" sz="1600" dirty="0"/>
              <a:t>ה. כל התשובות האחרות אינן נכונות.</a:t>
            </a:r>
            <a:endParaRPr lang="en-US" sz="1600" dirty="0"/>
          </a:p>
        </p:txBody>
      </p:sp>
      <p:sp>
        <p:nvSpPr>
          <p:cNvPr id="18" name="TextBox 17">
            <a:extLst>
              <a:ext uri="{FF2B5EF4-FFF2-40B4-BE49-F238E27FC236}">
                <a16:creationId xmlns:a16="http://schemas.microsoft.com/office/drawing/2014/main" id="{6B381748-8343-4280-A5DF-0D4E3645A4B3}"/>
              </a:ext>
            </a:extLst>
          </p:cNvPr>
          <p:cNvSpPr txBox="1"/>
          <p:nvPr/>
        </p:nvSpPr>
        <p:spPr>
          <a:xfrm>
            <a:off x="6450185" y="3429000"/>
            <a:ext cx="1114916" cy="369332"/>
          </a:xfrm>
          <a:prstGeom prst="rect">
            <a:avLst/>
          </a:prstGeom>
          <a:noFill/>
        </p:spPr>
        <p:txBody>
          <a:bodyPr wrap="square">
            <a:spAutoFit/>
          </a:bodyPr>
          <a:lstStyle/>
          <a:p>
            <a:r>
              <a:rPr lang="en-US" dirty="0">
                <a:highlight>
                  <a:srgbClr val="FFFF00"/>
                </a:highlight>
              </a:rPr>
              <a:t>Px=75 </a:t>
            </a:r>
            <a:r>
              <a:rPr lang="en-US" dirty="0">
                <a:highlight>
                  <a:srgbClr val="FFFF00"/>
                </a:highlight>
                <a:latin typeface="Perpetua" panose="02020502060401020303" pitchFamily="18" charset="0"/>
              </a:rPr>
              <a:t>≥</a:t>
            </a:r>
            <a:r>
              <a:rPr lang="he-IL" dirty="0">
                <a:highlight>
                  <a:srgbClr val="FFFF00"/>
                </a:highlight>
              </a:rPr>
              <a:t> </a:t>
            </a:r>
            <a:endParaRPr lang="en-IL" dirty="0">
              <a:highlight>
                <a:srgbClr val="FFFF00"/>
              </a:highlight>
            </a:endParaRPr>
          </a:p>
        </p:txBody>
      </p:sp>
      <p:sp>
        <p:nvSpPr>
          <p:cNvPr id="19" name="TextBox 18">
            <a:extLst>
              <a:ext uri="{FF2B5EF4-FFF2-40B4-BE49-F238E27FC236}">
                <a16:creationId xmlns:a16="http://schemas.microsoft.com/office/drawing/2014/main" id="{E6670D04-2EAD-4B8A-8F5C-94B590F697CF}"/>
              </a:ext>
            </a:extLst>
          </p:cNvPr>
          <p:cNvSpPr txBox="1"/>
          <p:nvPr/>
        </p:nvSpPr>
        <p:spPr>
          <a:xfrm>
            <a:off x="5199622" y="3429000"/>
            <a:ext cx="1567354" cy="369332"/>
          </a:xfrm>
          <a:prstGeom prst="rect">
            <a:avLst/>
          </a:prstGeom>
          <a:noFill/>
        </p:spPr>
        <p:txBody>
          <a:bodyPr wrap="square">
            <a:spAutoFit/>
          </a:bodyPr>
          <a:lstStyle/>
          <a:p>
            <a:pPr algn="l" rtl="0"/>
            <a:r>
              <a:rPr lang="en-US" dirty="0">
                <a:highlight>
                  <a:srgbClr val="00FF00"/>
                </a:highlight>
              </a:rPr>
              <a:t>75</a:t>
            </a:r>
            <a:r>
              <a:rPr lang="he-IL" dirty="0">
                <a:highlight>
                  <a:srgbClr val="00FF00"/>
                </a:highlight>
              </a:rPr>
              <a:t>*</a:t>
            </a:r>
            <a:r>
              <a:rPr lang="en-US" dirty="0">
                <a:highlight>
                  <a:srgbClr val="00FF00"/>
                </a:highlight>
              </a:rPr>
              <a:t>5-270=105</a:t>
            </a:r>
            <a:endParaRPr lang="en-IL" dirty="0">
              <a:highlight>
                <a:srgbClr val="00FF00"/>
              </a:highlight>
            </a:endParaRPr>
          </a:p>
        </p:txBody>
      </p:sp>
      <p:sp>
        <p:nvSpPr>
          <p:cNvPr id="20" name="TextBox 19">
            <a:extLst>
              <a:ext uri="{FF2B5EF4-FFF2-40B4-BE49-F238E27FC236}">
                <a16:creationId xmlns:a16="http://schemas.microsoft.com/office/drawing/2014/main" id="{9C593E8E-B551-4C25-9562-1D3705C425A3}"/>
              </a:ext>
            </a:extLst>
          </p:cNvPr>
          <p:cNvSpPr txBox="1"/>
          <p:nvPr/>
        </p:nvSpPr>
        <p:spPr>
          <a:xfrm>
            <a:off x="2153708" y="4161264"/>
            <a:ext cx="1114916" cy="369332"/>
          </a:xfrm>
          <a:prstGeom prst="rect">
            <a:avLst/>
          </a:prstGeom>
          <a:noFill/>
        </p:spPr>
        <p:txBody>
          <a:bodyPr wrap="square">
            <a:spAutoFit/>
          </a:bodyPr>
          <a:lstStyle/>
          <a:p>
            <a:r>
              <a:rPr lang="en-US" dirty="0">
                <a:highlight>
                  <a:srgbClr val="FFFF00"/>
                </a:highlight>
              </a:rPr>
              <a:t>Px=75 </a:t>
            </a:r>
            <a:r>
              <a:rPr lang="en-US" dirty="0">
                <a:highlight>
                  <a:srgbClr val="FFFF00"/>
                </a:highlight>
                <a:latin typeface="Perpetua" panose="02020502060401020303" pitchFamily="18" charset="0"/>
              </a:rPr>
              <a:t>≥</a:t>
            </a:r>
            <a:r>
              <a:rPr lang="he-IL" dirty="0">
                <a:highlight>
                  <a:srgbClr val="FFFF00"/>
                </a:highlight>
              </a:rPr>
              <a:t> </a:t>
            </a:r>
            <a:endParaRPr lang="en-IL" dirty="0">
              <a:highlight>
                <a:srgbClr val="FFFF00"/>
              </a:highlight>
            </a:endParaRPr>
          </a:p>
        </p:txBody>
      </p:sp>
      <p:sp>
        <p:nvSpPr>
          <p:cNvPr id="21" name="TextBox 20">
            <a:extLst>
              <a:ext uri="{FF2B5EF4-FFF2-40B4-BE49-F238E27FC236}">
                <a16:creationId xmlns:a16="http://schemas.microsoft.com/office/drawing/2014/main" id="{DCB67DDC-8B6A-4620-831E-ED58B37CA41C}"/>
              </a:ext>
            </a:extLst>
          </p:cNvPr>
          <p:cNvSpPr txBox="1"/>
          <p:nvPr/>
        </p:nvSpPr>
        <p:spPr>
          <a:xfrm>
            <a:off x="882950" y="4147453"/>
            <a:ext cx="1567354" cy="369332"/>
          </a:xfrm>
          <a:prstGeom prst="rect">
            <a:avLst/>
          </a:prstGeom>
          <a:noFill/>
        </p:spPr>
        <p:txBody>
          <a:bodyPr wrap="square">
            <a:spAutoFit/>
          </a:bodyPr>
          <a:lstStyle/>
          <a:p>
            <a:pPr algn="l" rtl="0"/>
            <a:r>
              <a:rPr lang="en-US" dirty="0">
                <a:highlight>
                  <a:srgbClr val="00FF00"/>
                </a:highlight>
              </a:rPr>
              <a:t>75</a:t>
            </a:r>
            <a:r>
              <a:rPr lang="he-IL" dirty="0">
                <a:highlight>
                  <a:srgbClr val="00FF00"/>
                </a:highlight>
              </a:rPr>
              <a:t>*</a:t>
            </a:r>
            <a:r>
              <a:rPr lang="en-US" dirty="0">
                <a:highlight>
                  <a:srgbClr val="00FF00"/>
                </a:highlight>
              </a:rPr>
              <a:t>7-425=100</a:t>
            </a:r>
            <a:endParaRPr lang="en-IL" dirty="0">
              <a:highlight>
                <a:srgbClr val="00FF00"/>
              </a:highlight>
            </a:endParaRPr>
          </a:p>
        </p:txBody>
      </p:sp>
      <p:sp>
        <p:nvSpPr>
          <p:cNvPr id="7" name="TextBox 6">
            <a:extLst>
              <a:ext uri="{FF2B5EF4-FFF2-40B4-BE49-F238E27FC236}">
                <a16:creationId xmlns:a16="http://schemas.microsoft.com/office/drawing/2014/main" id="{CE0E6DB9-DCE6-4E5F-B239-7A56FBFE741A}"/>
              </a:ext>
            </a:extLst>
          </p:cNvPr>
          <p:cNvSpPr txBox="1"/>
          <p:nvPr/>
        </p:nvSpPr>
        <p:spPr>
          <a:xfrm>
            <a:off x="1417739" y="5244147"/>
            <a:ext cx="2163661" cy="369332"/>
          </a:xfrm>
          <a:prstGeom prst="rect">
            <a:avLst/>
          </a:prstGeom>
          <a:solidFill>
            <a:srgbClr val="F5DEF6"/>
          </a:solidFill>
        </p:spPr>
        <p:txBody>
          <a:bodyPr wrap="square" rtlCol="0">
            <a:spAutoFit/>
          </a:bodyPr>
          <a:lstStyle/>
          <a:p>
            <a:pPr algn="r" rtl="1"/>
            <a:r>
              <a:rPr lang="he-IL" dirty="0"/>
              <a:t>א' הינה תשובה נכונה!</a:t>
            </a:r>
            <a:endParaRPr lang="en-IL" dirty="0"/>
          </a:p>
        </p:txBody>
      </p:sp>
    </p:spTree>
    <p:extLst>
      <p:ext uri="{BB962C8B-B14F-4D97-AF65-F5344CB8AC3E}">
        <p14:creationId xmlns:p14="http://schemas.microsoft.com/office/powerpoint/2010/main" val="524727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inVertic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arn(inVertic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arn(inVertical)">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arn(inVertical)">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7" grpId="0" animBg="1"/>
    </p:bld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כותרת 1"/>
          <p:cNvSpPr>
            <a:spLocks noGrp="1"/>
          </p:cNvSpPr>
          <p:nvPr>
            <p:ph type="title"/>
          </p:nvPr>
        </p:nvSpPr>
        <p:spPr>
          <a:xfrm>
            <a:off x="8904312" y="35449"/>
            <a:ext cx="3287688" cy="1143000"/>
          </a:xfrm>
        </p:spPr>
        <p:txBody>
          <a:bodyPr>
            <a:normAutofit fontScale="90000"/>
          </a:bodyPr>
          <a:lstStyle/>
          <a:p>
            <a:r>
              <a:rPr lang="he-IL" b="1" dirty="0">
                <a:solidFill>
                  <a:schemeClr val="tx2">
                    <a:lumMod val="75000"/>
                  </a:schemeClr>
                </a:solidFill>
              </a:rPr>
              <a:t>שאלה 4 מבחינה</a:t>
            </a:r>
          </a:p>
        </p:txBody>
      </p:sp>
      <p:sp>
        <p:nvSpPr>
          <p:cNvPr id="2" name="מלבן 1"/>
          <p:cNvSpPr/>
          <p:nvPr/>
        </p:nvSpPr>
        <p:spPr>
          <a:xfrm>
            <a:off x="9981127" y="995234"/>
            <a:ext cx="2210873" cy="954107"/>
          </a:xfrm>
          <a:prstGeom prst="rect">
            <a:avLst/>
          </a:prstGeom>
        </p:spPr>
        <p:txBody>
          <a:bodyPr wrap="square">
            <a:spAutoFit/>
          </a:bodyPr>
          <a:lstStyle/>
          <a:p>
            <a:pPr algn="r" rtl="1"/>
            <a:r>
              <a:rPr lang="he-IL" sz="1400" dirty="0"/>
              <a:t>יזם שוקל להיכנס לענף תחרותי </a:t>
            </a:r>
            <a:r>
              <a:rPr lang="en-US" sz="1400" dirty="0"/>
              <a:t>X</a:t>
            </a:r>
            <a:r>
              <a:rPr lang="he-IL" sz="1400" dirty="0"/>
              <a:t> ולפיכך הוא שוקל באיזה טכנולוגיה להשתמש (אם יכנס לענף).</a:t>
            </a:r>
            <a:endParaRPr lang="en-US" sz="1400" dirty="0"/>
          </a:p>
        </p:txBody>
      </p:sp>
      <p:sp>
        <p:nvSpPr>
          <p:cNvPr id="3" name="Date Placeholder 2"/>
          <p:cNvSpPr>
            <a:spLocks noGrp="1"/>
          </p:cNvSpPr>
          <p:nvPr>
            <p:ph type="dt" sz="half" idx="10"/>
          </p:nvPr>
        </p:nvSpPr>
        <p:spPr/>
        <p:txBody>
          <a:bodyPr/>
          <a:lstStyle/>
          <a:p>
            <a:fld id="{62CD0F34-E9CA-4458-8B01-ACE383DBFE35}" type="datetime8">
              <a:rPr lang="he-IL" smtClean="0"/>
              <a:t>03 ינואר 26</a:t>
            </a:fld>
            <a:endParaRPr lang="he-IL"/>
          </a:p>
        </p:txBody>
      </p:sp>
      <p:graphicFrame>
        <p:nvGraphicFramePr>
          <p:cNvPr id="5" name="Table 6">
            <a:extLst>
              <a:ext uri="{FF2B5EF4-FFF2-40B4-BE49-F238E27FC236}">
                <a16:creationId xmlns:a16="http://schemas.microsoft.com/office/drawing/2014/main" id="{1787060A-0DE0-467D-9AEB-BAE25A6BB039}"/>
              </a:ext>
            </a:extLst>
          </p:cNvPr>
          <p:cNvGraphicFramePr>
            <a:graphicFrameLocks noGrp="1"/>
          </p:cNvGraphicFramePr>
          <p:nvPr/>
        </p:nvGraphicFramePr>
        <p:xfrm>
          <a:off x="5019970" y="569466"/>
          <a:ext cx="4135795" cy="4166358"/>
        </p:xfrm>
        <a:graphic>
          <a:graphicData uri="http://schemas.openxmlformats.org/drawingml/2006/table">
            <a:tbl>
              <a:tblPr firstRow="1" bandRow="1">
                <a:tableStyleId>{5C22544A-7EE6-4342-B048-85BDC9FD1C3A}</a:tableStyleId>
              </a:tblPr>
              <a:tblGrid>
                <a:gridCol w="1908128">
                  <a:extLst>
                    <a:ext uri="{9D8B030D-6E8A-4147-A177-3AD203B41FA5}">
                      <a16:colId xmlns:a16="http://schemas.microsoft.com/office/drawing/2014/main" val="877989887"/>
                    </a:ext>
                  </a:extLst>
                </a:gridCol>
                <a:gridCol w="829613">
                  <a:extLst>
                    <a:ext uri="{9D8B030D-6E8A-4147-A177-3AD203B41FA5}">
                      <a16:colId xmlns:a16="http://schemas.microsoft.com/office/drawing/2014/main" val="2893910380"/>
                    </a:ext>
                  </a:extLst>
                </a:gridCol>
                <a:gridCol w="608384">
                  <a:extLst>
                    <a:ext uri="{9D8B030D-6E8A-4147-A177-3AD203B41FA5}">
                      <a16:colId xmlns:a16="http://schemas.microsoft.com/office/drawing/2014/main" val="4127186392"/>
                    </a:ext>
                  </a:extLst>
                </a:gridCol>
                <a:gridCol w="789670">
                  <a:extLst>
                    <a:ext uri="{9D8B030D-6E8A-4147-A177-3AD203B41FA5}">
                      <a16:colId xmlns:a16="http://schemas.microsoft.com/office/drawing/2014/main" val="250261459"/>
                    </a:ext>
                  </a:extLst>
                </a:gridCol>
              </a:tblGrid>
              <a:tr h="874518">
                <a:tc>
                  <a:txBody>
                    <a:bodyPr/>
                    <a:lstStyle/>
                    <a:p>
                      <a:pPr algn="ctr"/>
                      <a:r>
                        <a:rPr lang="he-IL" dirty="0"/>
                        <a:t>רווח נקי</a:t>
                      </a:r>
                    </a:p>
                    <a:p>
                      <a:pPr algn="ctr"/>
                      <a:r>
                        <a:rPr lang="en-US" dirty="0"/>
                        <a:t>P*X-TC</a:t>
                      </a:r>
                      <a:endParaRPr lang="en-IL" dirty="0"/>
                    </a:p>
                  </a:txBody>
                  <a:tcPr>
                    <a:solidFill>
                      <a:srgbClr val="EB1DBF"/>
                    </a:solidFill>
                  </a:tcPr>
                </a:tc>
                <a:tc>
                  <a:txBody>
                    <a:bodyPr/>
                    <a:lstStyle/>
                    <a:p>
                      <a:pPr algn="ctr"/>
                      <a:r>
                        <a:rPr lang="en-US" dirty="0"/>
                        <a:t>MC</a:t>
                      </a:r>
                      <a:endParaRPr lang="en-IL" dirty="0"/>
                    </a:p>
                  </a:txBody>
                  <a:tcPr>
                    <a:solidFill>
                      <a:srgbClr val="EB1DBF"/>
                    </a:solidFill>
                  </a:tcPr>
                </a:tc>
                <a:tc>
                  <a:txBody>
                    <a:bodyPr/>
                    <a:lstStyle/>
                    <a:p>
                      <a:pPr algn="ctr"/>
                      <a:r>
                        <a:rPr lang="en-US" dirty="0"/>
                        <a:t>TC</a:t>
                      </a:r>
                      <a:endParaRPr lang="en-IL" dirty="0"/>
                    </a:p>
                  </a:txBody>
                  <a:tcPr>
                    <a:solidFill>
                      <a:srgbClr val="EB1DBF"/>
                    </a:solidFill>
                  </a:tcPr>
                </a:tc>
                <a:tc>
                  <a:txBody>
                    <a:bodyPr/>
                    <a:lstStyle/>
                    <a:p>
                      <a:pPr algn="ctr" rtl="1"/>
                      <a:r>
                        <a:rPr lang="he-IL" sz="1600" dirty="0"/>
                        <a:t>כמות מיוצרת </a:t>
                      </a:r>
                      <a:r>
                        <a:rPr lang="en-US" dirty="0"/>
                        <a:t>X</a:t>
                      </a:r>
                      <a:endParaRPr lang="en-IL" dirty="0"/>
                    </a:p>
                  </a:txBody>
                  <a:tcPr>
                    <a:solidFill>
                      <a:srgbClr val="EB1DBF"/>
                    </a:solidFill>
                  </a:tcPr>
                </a:tc>
                <a:extLst>
                  <a:ext uri="{0D108BD9-81ED-4DB2-BD59-A6C34878D82A}">
                    <a16:rowId xmlns:a16="http://schemas.microsoft.com/office/drawing/2014/main" val="2821387179"/>
                  </a:ext>
                </a:extLst>
              </a:tr>
              <a:tr h="349807">
                <a:tc>
                  <a:txBody>
                    <a:bodyPr/>
                    <a:lstStyle/>
                    <a:p>
                      <a:pPr algn="ctr"/>
                      <a:endParaRPr lang="en-IL" dirty="0"/>
                    </a:p>
                  </a:txBody>
                  <a:tcPr>
                    <a:solidFill>
                      <a:srgbClr val="F5DEF6"/>
                    </a:solidFill>
                  </a:tcPr>
                </a:tc>
                <a:tc>
                  <a:txBody>
                    <a:bodyPr/>
                    <a:lstStyle/>
                    <a:p>
                      <a:pPr algn="ctr"/>
                      <a:r>
                        <a:rPr lang="he-IL" dirty="0"/>
                        <a:t>-</a:t>
                      </a:r>
                      <a:endParaRPr lang="en-IL" dirty="0"/>
                    </a:p>
                  </a:txBody>
                  <a:tcPr>
                    <a:solidFill>
                      <a:srgbClr val="F5DEF6"/>
                    </a:solidFill>
                  </a:tcPr>
                </a:tc>
                <a:tc>
                  <a:txBody>
                    <a:bodyPr/>
                    <a:lstStyle/>
                    <a:p>
                      <a:pPr algn="ctr"/>
                      <a:r>
                        <a:rPr lang="en-US" dirty="0">
                          <a:latin typeface="Arial" panose="020B0604020202020204" pitchFamily="34" charset="0"/>
                          <a:cs typeface="Arial" panose="020B0604020202020204" pitchFamily="34" charset="0"/>
                        </a:rPr>
                        <a:t>80</a:t>
                      </a:r>
                      <a:endParaRPr lang="en-IL" dirty="0">
                        <a:latin typeface="Arial" panose="020B0604020202020204" pitchFamily="34" charset="0"/>
                        <a:cs typeface="Arial" panose="020B0604020202020204" pitchFamily="34" charset="0"/>
                      </a:endParaRPr>
                    </a:p>
                  </a:txBody>
                  <a:tcPr>
                    <a:solidFill>
                      <a:srgbClr val="F5DEF6"/>
                    </a:solidFill>
                  </a:tcPr>
                </a:tc>
                <a:tc>
                  <a:txBody>
                    <a:bodyPr/>
                    <a:lstStyle/>
                    <a:p>
                      <a:pPr algn="ctr"/>
                      <a:r>
                        <a:rPr lang="en-US" dirty="0"/>
                        <a:t>0</a:t>
                      </a:r>
                      <a:endParaRPr lang="en-IL" dirty="0"/>
                    </a:p>
                  </a:txBody>
                  <a:tcPr>
                    <a:solidFill>
                      <a:srgbClr val="F5DEF6"/>
                    </a:solidFill>
                  </a:tcPr>
                </a:tc>
                <a:extLst>
                  <a:ext uri="{0D108BD9-81ED-4DB2-BD59-A6C34878D82A}">
                    <a16:rowId xmlns:a16="http://schemas.microsoft.com/office/drawing/2014/main" val="90168298"/>
                  </a:ext>
                </a:extLst>
              </a:tr>
              <a:tr h="349807">
                <a:tc>
                  <a:txBody>
                    <a:bodyPr/>
                    <a:lstStyle/>
                    <a:p>
                      <a:pPr algn="ctr"/>
                      <a:endParaRPr lang="en-IL" dirty="0"/>
                    </a:p>
                  </a:txBody>
                  <a:tcPr/>
                </a:tc>
                <a:tc>
                  <a:txBody>
                    <a:bodyPr/>
                    <a:lstStyle/>
                    <a:p>
                      <a:pPr algn="ctr" rtl="1" fontAlgn="b"/>
                      <a:r>
                        <a:rPr lang="he-IL" sz="1400" b="1" u="none" strike="noStrike" dirty="0">
                          <a:effectLst/>
                        </a:rPr>
                        <a:t>5</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latin typeface="Arial" panose="020B0604020202020204" pitchFamily="34" charset="0"/>
                          <a:cs typeface="Arial" panose="020B0604020202020204" pitchFamily="34" charset="0"/>
                        </a:rPr>
                        <a:t>85</a:t>
                      </a:r>
                      <a:endParaRPr lang="en-IL" dirty="0">
                        <a:latin typeface="Arial" panose="020B0604020202020204" pitchFamily="34" charset="0"/>
                        <a:cs typeface="Arial" panose="020B0604020202020204" pitchFamily="34" charset="0"/>
                      </a:endParaRPr>
                    </a:p>
                  </a:txBody>
                  <a:tcPr/>
                </a:tc>
                <a:tc>
                  <a:txBody>
                    <a:bodyPr/>
                    <a:lstStyle/>
                    <a:p>
                      <a:pPr algn="ctr"/>
                      <a:r>
                        <a:rPr lang="en-US" dirty="0"/>
                        <a:t>1</a:t>
                      </a:r>
                      <a:endParaRPr lang="en-IL" dirty="0"/>
                    </a:p>
                  </a:txBody>
                  <a:tcPr/>
                </a:tc>
                <a:extLst>
                  <a:ext uri="{0D108BD9-81ED-4DB2-BD59-A6C34878D82A}">
                    <a16:rowId xmlns:a16="http://schemas.microsoft.com/office/drawing/2014/main" val="1110799114"/>
                  </a:ext>
                </a:extLst>
              </a:tr>
              <a:tr h="349807">
                <a:tc>
                  <a:txBody>
                    <a:bodyPr/>
                    <a:lstStyle/>
                    <a:p>
                      <a:pPr algn="ctr"/>
                      <a:endParaRPr lang="en-IL" dirty="0"/>
                    </a:p>
                  </a:txBody>
                  <a:tcPr>
                    <a:solidFill>
                      <a:srgbClr val="F5DEF6"/>
                    </a:solidFill>
                  </a:tcPr>
                </a:tc>
                <a:tc>
                  <a:txBody>
                    <a:bodyPr/>
                    <a:lstStyle/>
                    <a:p>
                      <a:pPr algn="ctr" rtl="1" fontAlgn="b"/>
                      <a:r>
                        <a:rPr lang="he-IL" sz="1400" b="1" u="none" strike="noStrike" dirty="0">
                          <a:effectLst/>
                        </a:rPr>
                        <a:t>25</a:t>
                      </a:r>
                      <a:endParaRPr lang="he-IL" sz="1400" b="1" i="0" u="none" strike="noStrike" dirty="0">
                        <a:solidFill>
                          <a:srgbClr val="000000"/>
                        </a:solidFill>
                        <a:effectLst/>
                        <a:latin typeface="Arial" panose="020B0604020202020204" pitchFamily="34" charset="0"/>
                      </a:endParaRPr>
                    </a:p>
                  </a:txBody>
                  <a:tcPr marL="8332" marR="8332" marT="8332" marB="0" anchor="b">
                    <a:solidFill>
                      <a:srgbClr val="F5DEF6"/>
                    </a:solidFill>
                  </a:tcPr>
                </a:tc>
                <a:tc>
                  <a:txBody>
                    <a:bodyPr/>
                    <a:lstStyle/>
                    <a:p>
                      <a:pPr algn="ctr"/>
                      <a:r>
                        <a:rPr lang="en-US" dirty="0">
                          <a:latin typeface="Arial" panose="020B0604020202020204" pitchFamily="34" charset="0"/>
                          <a:cs typeface="Arial" panose="020B0604020202020204" pitchFamily="34" charset="0"/>
                        </a:rPr>
                        <a:t>110</a:t>
                      </a:r>
                      <a:endParaRPr lang="en-IL" dirty="0">
                        <a:latin typeface="Arial" panose="020B0604020202020204" pitchFamily="34" charset="0"/>
                        <a:cs typeface="Arial" panose="020B0604020202020204" pitchFamily="34" charset="0"/>
                      </a:endParaRPr>
                    </a:p>
                  </a:txBody>
                  <a:tcPr>
                    <a:solidFill>
                      <a:srgbClr val="F5DEF6"/>
                    </a:solidFill>
                  </a:tcPr>
                </a:tc>
                <a:tc>
                  <a:txBody>
                    <a:bodyPr/>
                    <a:lstStyle/>
                    <a:p>
                      <a:pPr algn="ctr"/>
                      <a:r>
                        <a:rPr lang="en-US" dirty="0"/>
                        <a:t>2</a:t>
                      </a:r>
                      <a:endParaRPr lang="en-IL" dirty="0"/>
                    </a:p>
                  </a:txBody>
                  <a:tcPr>
                    <a:solidFill>
                      <a:srgbClr val="F5DEF6"/>
                    </a:solidFill>
                  </a:tcPr>
                </a:tc>
                <a:extLst>
                  <a:ext uri="{0D108BD9-81ED-4DB2-BD59-A6C34878D82A}">
                    <a16:rowId xmlns:a16="http://schemas.microsoft.com/office/drawing/2014/main" val="3140096073"/>
                  </a:ext>
                </a:extLst>
              </a:tr>
              <a:tr h="349807">
                <a:tc>
                  <a:txBody>
                    <a:bodyPr/>
                    <a:lstStyle/>
                    <a:p>
                      <a:pPr algn="ctr"/>
                      <a:endParaRPr lang="en-IL" dirty="0"/>
                    </a:p>
                  </a:txBody>
                  <a:tcPr/>
                </a:tc>
                <a:tc>
                  <a:txBody>
                    <a:bodyPr/>
                    <a:lstStyle/>
                    <a:p>
                      <a:pPr algn="ctr" rtl="1" fontAlgn="b"/>
                      <a:r>
                        <a:rPr lang="he-IL" sz="1400" b="1" u="none" strike="noStrike" dirty="0">
                          <a:effectLst/>
                        </a:rPr>
                        <a:t>40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latin typeface="Arial" panose="020B0604020202020204" pitchFamily="34" charset="0"/>
                          <a:cs typeface="Arial" panose="020B0604020202020204" pitchFamily="34" charset="0"/>
                        </a:rPr>
                        <a:t>150</a:t>
                      </a:r>
                      <a:endParaRPr lang="en-IL" dirty="0">
                        <a:latin typeface="Arial" panose="020B0604020202020204" pitchFamily="34" charset="0"/>
                        <a:cs typeface="Arial" panose="020B0604020202020204" pitchFamily="34" charset="0"/>
                      </a:endParaRPr>
                    </a:p>
                  </a:txBody>
                  <a:tcPr/>
                </a:tc>
                <a:tc>
                  <a:txBody>
                    <a:bodyPr/>
                    <a:lstStyle/>
                    <a:p>
                      <a:pPr algn="ctr"/>
                      <a:r>
                        <a:rPr lang="en-US" dirty="0"/>
                        <a:t>3</a:t>
                      </a:r>
                      <a:endParaRPr lang="en-IL" dirty="0"/>
                    </a:p>
                  </a:txBody>
                  <a:tcPr/>
                </a:tc>
                <a:extLst>
                  <a:ext uri="{0D108BD9-81ED-4DB2-BD59-A6C34878D82A}">
                    <a16:rowId xmlns:a16="http://schemas.microsoft.com/office/drawing/2014/main" val="2363313943"/>
                  </a:ext>
                </a:extLst>
              </a:tr>
              <a:tr h="349807">
                <a:tc>
                  <a:txBody>
                    <a:bodyPr/>
                    <a:lstStyle/>
                    <a:p>
                      <a:pPr algn="ctr"/>
                      <a:endParaRPr lang="en-IL" dirty="0"/>
                    </a:p>
                  </a:txBody>
                  <a:tcPr>
                    <a:solidFill>
                      <a:srgbClr val="F5DEF6"/>
                    </a:solidFill>
                  </a:tcPr>
                </a:tc>
                <a:tc>
                  <a:txBody>
                    <a:bodyPr/>
                    <a:lstStyle/>
                    <a:p>
                      <a:pPr algn="ctr" rtl="1" fontAlgn="b"/>
                      <a:r>
                        <a:rPr lang="he-IL" sz="1400" b="1" u="none" strike="noStrike" dirty="0">
                          <a:effectLst/>
                        </a:rPr>
                        <a:t>50</a:t>
                      </a:r>
                      <a:endParaRPr lang="he-IL" sz="1400" b="1" i="0" u="none" strike="noStrike" dirty="0">
                        <a:solidFill>
                          <a:srgbClr val="000000"/>
                        </a:solidFill>
                        <a:effectLst/>
                        <a:latin typeface="Arial" panose="020B0604020202020204" pitchFamily="34" charset="0"/>
                      </a:endParaRPr>
                    </a:p>
                  </a:txBody>
                  <a:tcPr marL="8332" marR="8332" marT="8332" marB="0" anchor="b">
                    <a:solidFill>
                      <a:srgbClr val="F5DEF6"/>
                    </a:solidFill>
                  </a:tcPr>
                </a:tc>
                <a:tc>
                  <a:txBody>
                    <a:bodyPr/>
                    <a:lstStyle/>
                    <a:p>
                      <a:pPr algn="ctr"/>
                      <a:r>
                        <a:rPr lang="en-US" dirty="0">
                          <a:latin typeface="Arial" panose="020B0604020202020204" pitchFamily="34" charset="0"/>
                          <a:cs typeface="Arial" panose="020B0604020202020204" pitchFamily="34" charset="0"/>
                        </a:rPr>
                        <a:t>200</a:t>
                      </a:r>
                      <a:endParaRPr lang="en-IL" dirty="0">
                        <a:latin typeface="Arial" panose="020B0604020202020204" pitchFamily="34" charset="0"/>
                        <a:cs typeface="Arial" panose="020B0604020202020204" pitchFamily="34" charset="0"/>
                      </a:endParaRPr>
                    </a:p>
                  </a:txBody>
                  <a:tcPr>
                    <a:solidFill>
                      <a:srgbClr val="F5DEF6"/>
                    </a:solidFill>
                  </a:tcPr>
                </a:tc>
                <a:tc>
                  <a:txBody>
                    <a:bodyPr/>
                    <a:lstStyle/>
                    <a:p>
                      <a:pPr algn="ctr"/>
                      <a:r>
                        <a:rPr lang="en-US" dirty="0"/>
                        <a:t>4</a:t>
                      </a:r>
                      <a:endParaRPr lang="en-IL" dirty="0"/>
                    </a:p>
                  </a:txBody>
                  <a:tcPr>
                    <a:solidFill>
                      <a:srgbClr val="F5DEF6"/>
                    </a:solidFill>
                  </a:tcPr>
                </a:tc>
                <a:extLst>
                  <a:ext uri="{0D108BD9-81ED-4DB2-BD59-A6C34878D82A}">
                    <a16:rowId xmlns:a16="http://schemas.microsoft.com/office/drawing/2014/main" val="3086807375"/>
                  </a:ext>
                </a:extLst>
              </a:tr>
              <a:tr h="349807">
                <a:tc>
                  <a:txBody>
                    <a:bodyPr/>
                    <a:lstStyle/>
                    <a:p>
                      <a:pPr algn="ctr"/>
                      <a:endParaRPr lang="en-IL" dirty="0"/>
                    </a:p>
                  </a:txBody>
                  <a:tcPr/>
                </a:tc>
                <a:tc>
                  <a:txBody>
                    <a:bodyPr/>
                    <a:lstStyle/>
                    <a:p>
                      <a:pPr algn="ctr" rtl="1" fontAlgn="b"/>
                      <a:r>
                        <a:rPr lang="he-IL" sz="1400" b="1" u="none" strike="noStrike" dirty="0">
                          <a:effectLst/>
                        </a:rPr>
                        <a:t>70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latin typeface="Arial" panose="020B0604020202020204" pitchFamily="34" charset="0"/>
                          <a:cs typeface="Arial" panose="020B0604020202020204" pitchFamily="34" charset="0"/>
                        </a:rPr>
                        <a:t>270</a:t>
                      </a:r>
                      <a:endParaRPr lang="en-IL" dirty="0">
                        <a:latin typeface="Arial" panose="020B0604020202020204" pitchFamily="34" charset="0"/>
                        <a:cs typeface="Arial" panose="020B0604020202020204" pitchFamily="34" charset="0"/>
                      </a:endParaRPr>
                    </a:p>
                  </a:txBody>
                  <a:tcPr/>
                </a:tc>
                <a:tc>
                  <a:txBody>
                    <a:bodyPr/>
                    <a:lstStyle/>
                    <a:p>
                      <a:pPr algn="ctr"/>
                      <a:r>
                        <a:rPr lang="en-US" dirty="0"/>
                        <a:t>5</a:t>
                      </a:r>
                      <a:endParaRPr lang="en-IL" dirty="0"/>
                    </a:p>
                  </a:txBody>
                  <a:tcPr/>
                </a:tc>
                <a:extLst>
                  <a:ext uri="{0D108BD9-81ED-4DB2-BD59-A6C34878D82A}">
                    <a16:rowId xmlns:a16="http://schemas.microsoft.com/office/drawing/2014/main" val="2488581084"/>
                  </a:ext>
                </a:extLst>
              </a:tr>
              <a:tr h="349807">
                <a:tc>
                  <a:txBody>
                    <a:bodyPr/>
                    <a:lstStyle/>
                    <a:p>
                      <a:pPr algn="ctr"/>
                      <a:endParaRPr lang="en-IL" dirty="0"/>
                    </a:p>
                  </a:txBody>
                  <a:tcPr>
                    <a:solidFill>
                      <a:srgbClr val="F5DEF6"/>
                    </a:solidFill>
                  </a:tcPr>
                </a:tc>
                <a:tc>
                  <a:txBody>
                    <a:bodyPr/>
                    <a:lstStyle/>
                    <a:p>
                      <a:pPr algn="ctr" rtl="1" fontAlgn="b"/>
                      <a:r>
                        <a:rPr lang="he-IL" sz="1400" b="1" u="none" strike="noStrike" dirty="0">
                          <a:effectLst/>
                        </a:rPr>
                        <a:t>100</a:t>
                      </a:r>
                      <a:endParaRPr lang="he-IL" sz="1400" b="1" i="0" u="none" strike="noStrike" dirty="0">
                        <a:solidFill>
                          <a:srgbClr val="000000"/>
                        </a:solidFill>
                        <a:effectLst/>
                        <a:latin typeface="Arial" panose="020B0604020202020204" pitchFamily="34" charset="0"/>
                      </a:endParaRPr>
                    </a:p>
                  </a:txBody>
                  <a:tcPr marL="8332" marR="8332" marT="8332" marB="0" anchor="b">
                    <a:solidFill>
                      <a:srgbClr val="F5DEF6"/>
                    </a:solidFill>
                  </a:tcPr>
                </a:tc>
                <a:tc>
                  <a:txBody>
                    <a:bodyPr/>
                    <a:lstStyle/>
                    <a:p>
                      <a:pPr algn="ctr"/>
                      <a:r>
                        <a:rPr lang="en-US" dirty="0">
                          <a:latin typeface="Arial" panose="020B0604020202020204" pitchFamily="34" charset="0"/>
                          <a:cs typeface="Arial" panose="020B0604020202020204" pitchFamily="34" charset="0"/>
                        </a:rPr>
                        <a:t>370</a:t>
                      </a:r>
                      <a:endParaRPr lang="en-IL" dirty="0">
                        <a:latin typeface="Arial" panose="020B0604020202020204" pitchFamily="34" charset="0"/>
                        <a:cs typeface="Arial" panose="020B0604020202020204" pitchFamily="34" charset="0"/>
                      </a:endParaRPr>
                    </a:p>
                  </a:txBody>
                  <a:tcPr>
                    <a:solidFill>
                      <a:srgbClr val="F5DEF6"/>
                    </a:solidFill>
                  </a:tcPr>
                </a:tc>
                <a:tc>
                  <a:txBody>
                    <a:bodyPr/>
                    <a:lstStyle/>
                    <a:p>
                      <a:pPr algn="ctr"/>
                      <a:r>
                        <a:rPr lang="en-US" dirty="0"/>
                        <a:t>6</a:t>
                      </a:r>
                      <a:endParaRPr lang="en-IL" dirty="0"/>
                    </a:p>
                  </a:txBody>
                  <a:tcPr>
                    <a:solidFill>
                      <a:srgbClr val="F5DEF6"/>
                    </a:solidFill>
                  </a:tcPr>
                </a:tc>
                <a:extLst>
                  <a:ext uri="{0D108BD9-81ED-4DB2-BD59-A6C34878D82A}">
                    <a16:rowId xmlns:a16="http://schemas.microsoft.com/office/drawing/2014/main" val="774215678"/>
                  </a:ext>
                </a:extLst>
              </a:tr>
              <a:tr h="349807">
                <a:tc>
                  <a:txBody>
                    <a:bodyPr/>
                    <a:lstStyle/>
                    <a:p>
                      <a:pPr algn="ctr"/>
                      <a:endParaRPr lang="en-IL" dirty="0"/>
                    </a:p>
                  </a:txBody>
                  <a:tcPr/>
                </a:tc>
                <a:tc>
                  <a:txBody>
                    <a:bodyPr/>
                    <a:lstStyle/>
                    <a:p>
                      <a:pPr algn="ctr" rtl="1" fontAlgn="b"/>
                      <a:r>
                        <a:rPr lang="he-IL" sz="1400" b="1" u="none" strike="noStrike" dirty="0">
                          <a:effectLst/>
                        </a:rPr>
                        <a:t>110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latin typeface="Arial" panose="020B0604020202020204" pitchFamily="34" charset="0"/>
                          <a:cs typeface="Arial" panose="020B0604020202020204" pitchFamily="34" charset="0"/>
                        </a:rPr>
                        <a:t>480</a:t>
                      </a:r>
                      <a:endParaRPr lang="en-IL" dirty="0">
                        <a:latin typeface="Arial" panose="020B0604020202020204" pitchFamily="34" charset="0"/>
                        <a:cs typeface="Arial" panose="020B0604020202020204" pitchFamily="34" charset="0"/>
                      </a:endParaRPr>
                    </a:p>
                  </a:txBody>
                  <a:tcPr/>
                </a:tc>
                <a:tc>
                  <a:txBody>
                    <a:bodyPr/>
                    <a:lstStyle/>
                    <a:p>
                      <a:pPr algn="ctr"/>
                      <a:r>
                        <a:rPr lang="en-US" dirty="0"/>
                        <a:t>7</a:t>
                      </a:r>
                      <a:endParaRPr lang="en-IL" dirty="0"/>
                    </a:p>
                  </a:txBody>
                  <a:tcPr/>
                </a:tc>
                <a:extLst>
                  <a:ext uri="{0D108BD9-81ED-4DB2-BD59-A6C34878D82A}">
                    <a16:rowId xmlns:a16="http://schemas.microsoft.com/office/drawing/2014/main" val="3621824598"/>
                  </a:ext>
                </a:extLst>
              </a:tr>
              <a:tr h="349807">
                <a:tc>
                  <a:txBody>
                    <a:bodyPr/>
                    <a:lstStyle/>
                    <a:p>
                      <a:pPr algn="ctr"/>
                      <a:endParaRPr lang="en-IL" dirty="0"/>
                    </a:p>
                  </a:txBody>
                  <a:tcPr>
                    <a:solidFill>
                      <a:srgbClr val="F5DEF6"/>
                    </a:solidFill>
                  </a:tcPr>
                </a:tc>
                <a:tc>
                  <a:txBody>
                    <a:bodyPr/>
                    <a:lstStyle/>
                    <a:p>
                      <a:pPr algn="ctr" rtl="1" fontAlgn="b"/>
                      <a:r>
                        <a:rPr lang="he-IL" sz="1400" b="1" i="0" u="none" strike="noStrike" dirty="0">
                          <a:solidFill>
                            <a:srgbClr val="000000"/>
                          </a:solidFill>
                          <a:effectLst/>
                          <a:latin typeface="Arial" panose="020B0604020202020204" pitchFamily="34" charset="0"/>
                        </a:rPr>
                        <a:t>130</a:t>
                      </a:r>
                    </a:p>
                  </a:txBody>
                  <a:tcPr marL="8332" marR="8332" marT="8332" marB="0" anchor="b">
                    <a:solidFill>
                      <a:srgbClr val="F5DEF6"/>
                    </a:solidFill>
                  </a:tcPr>
                </a:tc>
                <a:tc>
                  <a:txBody>
                    <a:bodyPr/>
                    <a:lstStyle/>
                    <a:p>
                      <a:pPr algn="ctr"/>
                      <a:r>
                        <a:rPr lang="he-IL" dirty="0">
                          <a:latin typeface="Arial" panose="020B0604020202020204" pitchFamily="34" charset="0"/>
                          <a:cs typeface="Arial" panose="020B0604020202020204" pitchFamily="34" charset="0"/>
                        </a:rPr>
                        <a:t>610</a:t>
                      </a:r>
                      <a:endParaRPr lang="en-IL" dirty="0">
                        <a:latin typeface="Arial" panose="020B0604020202020204" pitchFamily="34" charset="0"/>
                        <a:cs typeface="Arial" panose="020B0604020202020204" pitchFamily="34" charset="0"/>
                      </a:endParaRPr>
                    </a:p>
                  </a:txBody>
                  <a:tcPr>
                    <a:solidFill>
                      <a:srgbClr val="F5DEF6"/>
                    </a:solidFill>
                  </a:tcPr>
                </a:tc>
                <a:tc>
                  <a:txBody>
                    <a:bodyPr/>
                    <a:lstStyle/>
                    <a:p>
                      <a:pPr algn="ctr"/>
                      <a:r>
                        <a:rPr lang="he-IL" dirty="0"/>
                        <a:t>8</a:t>
                      </a:r>
                      <a:endParaRPr lang="en-IL" dirty="0"/>
                    </a:p>
                  </a:txBody>
                  <a:tcPr>
                    <a:solidFill>
                      <a:srgbClr val="F5DEF6"/>
                    </a:solidFill>
                  </a:tcPr>
                </a:tc>
                <a:extLst>
                  <a:ext uri="{0D108BD9-81ED-4DB2-BD59-A6C34878D82A}">
                    <a16:rowId xmlns:a16="http://schemas.microsoft.com/office/drawing/2014/main" val="1058415926"/>
                  </a:ext>
                </a:extLst>
              </a:tr>
            </a:tbl>
          </a:graphicData>
        </a:graphic>
      </p:graphicFrame>
      <p:sp>
        <p:nvSpPr>
          <p:cNvPr id="11" name="TextBox 10">
            <a:extLst>
              <a:ext uri="{FF2B5EF4-FFF2-40B4-BE49-F238E27FC236}">
                <a16:creationId xmlns:a16="http://schemas.microsoft.com/office/drawing/2014/main" id="{3BCADBEF-575C-469E-97AD-6DB6517E862C}"/>
              </a:ext>
            </a:extLst>
          </p:cNvPr>
          <p:cNvSpPr txBox="1"/>
          <p:nvPr/>
        </p:nvSpPr>
        <p:spPr>
          <a:xfrm>
            <a:off x="6905892" y="237617"/>
            <a:ext cx="1523934" cy="369332"/>
          </a:xfrm>
          <a:prstGeom prst="rect">
            <a:avLst/>
          </a:prstGeom>
          <a:noFill/>
        </p:spPr>
        <p:txBody>
          <a:bodyPr wrap="square">
            <a:spAutoFit/>
          </a:bodyPr>
          <a:lstStyle/>
          <a:p>
            <a:pPr algn="ctr" rtl="1" fontAlgn="ctr"/>
            <a:r>
              <a:rPr lang="he-IL" sz="1800" u="none" strike="noStrike" dirty="0">
                <a:solidFill>
                  <a:srgbClr val="FF00FF"/>
                </a:solidFill>
                <a:effectLst/>
              </a:rPr>
              <a:t>טכנולוגיה א'</a:t>
            </a:r>
            <a:endParaRPr lang="he-IL" sz="1800" b="0" i="0" u="none" strike="noStrike" dirty="0">
              <a:solidFill>
                <a:srgbClr val="FF00FF"/>
              </a:solidFill>
              <a:effectLst/>
              <a:latin typeface="Arial" panose="020B0604020202020204" pitchFamily="34" charset="0"/>
            </a:endParaRPr>
          </a:p>
        </p:txBody>
      </p:sp>
      <p:sp>
        <p:nvSpPr>
          <p:cNvPr id="13" name="TextBox 12">
            <a:extLst>
              <a:ext uri="{FF2B5EF4-FFF2-40B4-BE49-F238E27FC236}">
                <a16:creationId xmlns:a16="http://schemas.microsoft.com/office/drawing/2014/main" id="{451B9906-C744-4F35-904F-D423E81230F4}"/>
              </a:ext>
            </a:extLst>
          </p:cNvPr>
          <p:cNvSpPr txBox="1"/>
          <p:nvPr/>
        </p:nvSpPr>
        <p:spPr>
          <a:xfrm>
            <a:off x="2819433" y="237617"/>
            <a:ext cx="1523934" cy="369332"/>
          </a:xfrm>
          <a:prstGeom prst="rect">
            <a:avLst/>
          </a:prstGeom>
          <a:noFill/>
          <a:ln>
            <a:solidFill>
              <a:schemeClr val="bg1"/>
            </a:solidFill>
          </a:ln>
        </p:spPr>
        <p:txBody>
          <a:bodyPr wrap="square">
            <a:spAutoFit/>
          </a:bodyPr>
          <a:lstStyle/>
          <a:p>
            <a:pPr algn="ctr" rtl="1" fontAlgn="ctr"/>
            <a:r>
              <a:rPr lang="he-IL" sz="1800" u="none" strike="noStrike" dirty="0">
                <a:solidFill>
                  <a:schemeClr val="accent1"/>
                </a:solidFill>
                <a:effectLst/>
              </a:rPr>
              <a:t>טכנולוגיה ב'</a:t>
            </a:r>
            <a:endParaRPr lang="he-IL" sz="1800" b="0" i="0" u="none" strike="noStrike" dirty="0">
              <a:solidFill>
                <a:schemeClr val="accent1"/>
              </a:solidFill>
              <a:effectLst/>
              <a:latin typeface="Arial" panose="020B0604020202020204" pitchFamily="34" charset="0"/>
            </a:endParaRPr>
          </a:p>
        </p:txBody>
      </p:sp>
      <p:graphicFrame>
        <p:nvGraphicFramePr>
          <p:cNvPr id="14" name="Table 6">
            <a:extLst>
              <a:ext uri="{FF2B5EF4-FFF2-40B4-BE49-F238E27FC236}">
                <a16:creationId xmlns:a16="http://schemas.microsoft.com/office/drawing/2014/main" id="{A6F347B5-9FB6-40CD-87A9-1E5DCD90DFAB}"/>
              </a:ext>
            </a:extLst>
          </p:cNvPr>
          <p:cNvGraphicFramePr>
            <a:graphicFrameLocks noGrp="1"/>
          </p:cNvGraphicFramePr>
          <p:nvPr/>
        </p:nvGraphicFramePr>
        <p:xfrm>
          <a:off x="708951" y="605643"/>
          <a:ext cx="4135796" cy="4206240"/>
        </p:xfrm>
        <a:graphic>
          <a:graphicData uri="http://schemas.openxmlformats.org/drawingml/2006/table">
            <a:tbl>
              <a:tblPr firstRow="1" bandRow="1">
                <a:tableStyleId>{5C22544A-7EE6-4342-B048-85BDC9FD1C3A}</a:tableStyleId>
              </a:tblPr>
              <a:tblGrid>
                <a:gridCol w="1908129">
                  <a:extLst>
                    <a:ext uri="{9D8B030D-6E8A-4147-A177-3AD203B41FA5}">
                      <a16:colId xmlns:a16="http://schemas.microsoft.com/office/drawing/2014/main" val="877989887"/>
                    </a:ext>
                  </a:extLst>
                </a:gridCol>
                <a:gridCol w="829613">
                  <a:extLst>
                    <a:ext uri="{9D8B030D-6E8A-4147-A177-3AD203B41FA5}">
                      <a16:colId xmlns:a16="http://schemas.microsoft.com/office/drawing/2014/main" val="2893910380"/>
                    </a:ext>
                  </a:extLst>
                </a:gridCol>
                <a:gridCol w="608384">
                  <a:extLst>
                    <a:ext uri="{9D8B030D-6E8A-4147-A177-3AD203B41FA5}">
                      <a16:colId xmlns:a16="http://schemas.microsoft.com/office/drawing/2014/main" val="4127186392"/>
                    </a:ext>
                  </a:extLst>
                </a:gridCol>
                <a:gridCol w="789670">
                  <a:extLst>
                    <a:ext uri="{9D8B030D-6E8A-4147-A177-3AD203B41FA5}">
                      <a16:colId xmlns:a16="http://schemas.microsoft.com/office/drawing/2014/main" val="250261459"/>
                    </a:ext>
                  </a:extLst>
                </a:gridCol>
              </a:tblGrid>
              <a:tr h="867284">
                <a:tc>
                  <a:txBody>
                    <a:bodyPr/>
                    <a:lstStyle/>
                    <a:p>
                      <a:pPr algn="ctr"/>
                      <a:r>
                        <a:rPr lang="he-IL" dirty="0"/>
                        <a:t>רווח נקי</a:t>
                      </a:r>
                    </a:p>
                    <a:p>
                      <a:pPr algn="ctr"/>
                      <a:r>
                        <a:rPr lang="en-US" dirty="0"/>
                        <a:t>P*X-TC</a:t>
                      </a:r>
                      <a:endParaRPr lang="en-IL" dirty="0"/>
                    </a:p>
                  </a:txBody>
                  <a:tcPr>
                    <a:solidFill>
                      <a:schemeClr val="accent1"/>
                    </a:solidFill>
                  </a:tcPr>
                </a:tc>
                <a:tc>
                  <a:txBody>
                    <a:bodyPr/>
                    <a:lstStyle/>
                    <a:p>
                      <a:pPr algn="ctr"/>
                      <a:r>
                        <a:rPr lang="en-US" dirty="0"/>
                        <a:t>MC</a:t>
                      </a:r>
                      <a:endParaRPr lang="en-IL" dirty="0"/>
                    </a:p>
                  </a:txBody>
                  <a:tcPr>
                    <a:solidFill>
                      <a:schemeClr val="accent1"/>
                    </a:solidFill>
                  </a:tcPr>
                </a:tc>
                <a:tc>
                  <a:txBody>
                    <a:bodyPr/>
                    <a:lstStyle/>
                    <a:p>
                      <a:pPr algn="ctr"/>
                      <a:r>
                        <a:rPr lang="en-US" dirty="0"/>
                        <a:t>TC</a:t>
                      </a:r>
                      <a:endParaRPr lang="en-IL" dirty="0"/>
                    </a:p>
                  </a:txBody>
                  <a:tcPr>
                    <a:solidFill>
                      <a:schemeClr val="accent1"/>
                    </a:solidFill>
                  </a:tcPr>
                </a:tc>
                <a:tc>
                  <a:txBody>
                    <a:bodyPr/>
                    <a:lstStyle/>
                    <a:p>
                      <a:pPr algn="ctr" rtl="1"/>
                      <a:r>
                        <a:rPr lang="he-IL" dirty="0"/>
                        <a:t>כמות מיוצרת </a:t>
                      </a:r>
                      <a:r>
                        <a:rPr lang="en-US" dirty="0"/>
                        <a:t>X</a:t>
                      </a:r>
                      <a:endParaRPr lang="en-IL" dirty="0"/>
                    </a:p>
                  </a:txBody>
                  <a:tcPr>
                    <a:solidFill>
                      <a:schemeClr val="accent1"/>
                    </a:solidFill>
                  </a:tcPr>
                </a:tc>
                <a:extLst>
                  <a:ext uri="{0D108BD9-81ED-4DB2-BD59-A6C34878D82A}">
                    <a16:rowId xmlns:a16="http://schemas.microsoft.com/office/drawing/2014/main" val="2821387179"/>
                  </a:ext>
                </a:extLst>
              </a:tr>
              <a:tr h="346914">
                <a:tc>
                  <a:txBody>
                    <a:bodyPr/>
                    <a:lstStyle/>
                    <a:p>
                      <a:pPr algn="ctr"/>
                      <a:endParaRPr lang="en-IL" dirty="0"/>
                    </a:p>
                  </a:txBody>
                  <a:tcPr>
                    <a:solidFill>
                      <a:schemeClr val="accent1">
                        <a:lumMod val="20000"/>
                        <a:lumOff val="80000"/>
                      </a:schemeClr>
                    </a:solidFill>
                  </a:tcPr>
                </a:tc>
                <a:tc>
                  <a:txBody>
                    <a:bodyPr/>
                    <a:lstStyle/>
                    <a:p>
                      <a:pPr algn="ctr"/>
                      <a:r>
                        <a:rPr lang="he-IL" dirty="0"/>
                        <a:t>-</a:t>
                      </a:r>
                      <a:endParaRPr lang="en-IL" dirty="0"/>
                    </a:p>
                  </a:txBody>
                  <a:tcPr>
                    <a:solidFill>
                      <a:schemeClr val="accent1">
                        <a:lumMod val="20000"/>
                        <a:lumOff val="80000"/>
                      </a:schemeClr>
                    </a:solidFill>
                  </a:tcPr>
                </a:tc>
                <a:tc>
                  <a:txBody>
                    <a:bodyPr/>
                    <a:lstStyle/>
                    <a:p>
                      <a:pPr algn="ctr"/>
                      <a:r>
                        <a:rPr lang="en-US" dirty="0"/>
                        <a:t>200</a:t>
                      </a:r>
                      <a:endParaRPr lang="en-IL" dirty="0"/>
                    </a:p>
                  </a:txBody>
                  <a:tcPr>
                    <a:solidFill>
                      <a:schemeClr val="accent1">
                        <a:lumMod val="20000"/>
                        <a:lumOff val="80000"/>
                      </a:schemeClr>
                    </a:solidFill>
                  </a:tcPr>
                </a:tc>
                <a:tc>
                  <a:txBody>
                    <a:bodyPr/>
                    <a:lstStyle/>
                    <a:p>
                      <a:pPr algn="ctr"/>
                      <a:r>
                        <a:rPr lang="en-US" dirty="0"/>
                        <a:t>0</a:t>
                      </a:r>
                      <a:endParaRPr lang="en-IL" dirty="0"/>
                    </a:p>
                  </a:txBody>
                  <a:tcPr>
                    <a:solidFill>
                      <a:schemeClr val="accent1">
                        <a:lumMod val="20000"/>
                        <a:lumOff val="80000"/>
                      </a:schemeClr>
                    </a:solidFill>
                  </a:tcPr>
                </a:tc>
                <a:extLst>
                  <a:ext uri="{0D108BD9-81ED-4DB2-BD59-A6C34878D82A}">
                    <a16:rowId xmlns:a16="http://schemas.microsoft.com/office/drawing/2014/main" val="90168298"/>
                  </a:ext>
                </a:extLst>
              </a:tr>
              <a:tr h="346914">
                <a:tc>
                  <a:txBody>
                    <a:bodyPr/>
                    <a:lstStyle/>
                    <a:p>
                      <a:pPr algn="ctr"/>
                      <a:endParaRPr lang="en-IL" dirty="0"/>
                    </a:p>
                  </a:txBody>
                  <a:tcPr/>
                </a:tc>
                <a:tc>
                  <a:txBody>
                    <a:bodyPr/>
                    <a:lstStyle/>
                    <a:p>
                      <a:pPr algn="ctr" rtl="0" fontAlgn="b"/>
                      <a:r>
                        <a:rPr lang="he-IL" sz="1400" b="1" u="none" strike="noStrike" dirty="0">
                          <a:effectLst/>
                        </a:rPr>
                        <a:t>10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t>210</a:t>
                      </a:r>
                      <a:endParaRPr lang="en-IL" dirty="0"/>
                    </a:p>
                  </a:txBody>
                  <a:tcPr/>
                </a:tc>
                <a:tc>
                  <a:txBody>
                    <a:bodyPr/>
                    <a:lstStyle/>
                    <a:p>
                      <a:pPr algn="ctr"/>
                      <a:r>
                        <a:rPr lang="en-US" dirty="0"/>
                        <a:t>1</a:t>
                      </a:r>
                      <a:endParaRPr lang="en-IL" dirty="0"/>
                    </a:p>
                  </a:txBody>
                  <a:tcPr/>
                </a:tc>
                <a:extLst>
                  <a:ext uri="{0D108BD9-81ED-4DB2-BD59-A6C34878D82A}">
                    <a16:rowId xmlns:a16="http://schemas.microsoft.com/office/drawing/2014/main" val="1110799114"/>
                  </a:ext>
                </a:extLst>
              </a:tr>
              <a:tr h="346914">
                <a:tc>
                  <a:txBody>
                    <a:bodyPr/>
                    <a:lstStyle/>
                    <a:p>
                      <a:pPr algn="ctr"/>
                      <a:endParaRPr lang="en-IL" dirty="0"/>
                    </a:p>
                  </a:txBody>
                  <a:tcPr>
                    <a:solidFill>
                      <a:schemeClr val="accent1">
                        <a:lumMod val="20000"/>
                        <a:lumOff val="80000"/>
                      </a:schemeClr>
                    </a:solidFill>
                  </a:tcPr>
                </a:tc>
                <a:tc>
                  <a:txBody>
                    <a:bodyPr/>
                    <a:lstStyle/>
                    <a:p>
                      <a:pPr algn="ctr" rtl="0" fontAlgn="b"/>
                      <a:r>
                        <a:rPr lang="he-IL" sz="1400" b="1" u="none" strike="noStrike" dirty="0">
                          <a:effectLst/>
                        </a:rPr>
                        <a:t>20</a:t>
                      </a:r>
                      <a:endParaRPr lang="he-IL" sz="1400" b="1" i="0" u="none" strike="noStrike" dirty="0">
                        <a:solidFill>
                          <a:srgbClr val="000000"/>
                        </a:solidFill>
                        <a:effectLst/>
                        <a:latin typeface="Arial" panose="020B0604020202020204" pitchFamily="34" charset="0"/>
                      </a:endParaRPr>
                    </a:p>
                  </a:txBody>
                  <a:tcPr marL="8332" marR="8332" marT="8332" marB="0" anchor="b">
                    <a:solidFill>
                      <a:schemeClr val="accent1">
                        <a:lumMod val="20000"/>
                        <a:lumOff val="80000"/>
                      </a:schemeClr>
                    </a:solidFill>
                  </a:tcPr>
                </a:tc>
                <a:tc>
                  <a:txBody>
                    <a:bodyPr/>
                    <a:lstStyle/>
                    <a:p>
                      <a:pPr algn="ctr"/>
                      <a:r>
                        <a:rPr lang="en-US" dirty="0"/>
                        <a:t>230</a:t>
                      </a:r>
                      <a:endParaRPr lang="en-IL" dirty="0"/>
                    </a:p>
                  </a:txBody>
                  <a:tcPr>
                    <a:solidFill>
                      <a:schemeClr val="accent1">
                        <a:lumMod val="20000"/>
                        <a:lumOff val="80000"/>
                      </a:schemeClr>
                    </a:solidFill>
                  </a:tcPr>
                </a:tc>
                <a:tc>
                  <a:txBody>
                    <a:bodyPr/>
                    <a:lstStyle/>
                    <a:p>
                      <a:pPr algn="ctr"/>
                      <a:r>
                        <a:rPr lang="en-US" dirty="0"/>
                        <a:t>2</a:t>
                      </a:r>
                      <a:endParaRPr lang="en-IL" dirty="0"/>
                    </a:p>
                  </a:txBody>
                  <a:tcPr>
                    <a:solidFill>
                      <a:schemeClr val="accent1">
                        <a:lumMod val="20000"/>
                        <a:lumOff val="80000"/>
                      </a:schemeClr>
                    </a:solidFill>
                  </a:tcPr>
                </a:tc>
                <a:extLst>
                  <a:ext uri="{0D108BD9-81ED-4DB2-BD59-A6C34878D82A}">
                    <a16:rowId xmlns:a16="http://schemas.microsoft.com/office/drawing/2014/main" val="3140096073"/>
                  </a:ext>
                </a:extLst>
              </a:tr>
              <a:tr h="346914">
                <a:tc>
                  <a:txBody>
                    <a:bodyPr/>
                    <a:lstStyle/>
                    <a:p>
                      <a:pPr algn="ctr"/>
                      <a:endParaRPr lang="en-IL" dirty="0"/>
                    </a:p>
                  </a:txBody>
                  <a:tcPr/>
                </a:tc>
                <a:tc>
                  <a:txBody>
                    <a:bodyPr/>
                    <a:lstStyle/>
                    <a:p>
                      <a:pPr algn="ctr" rtl="0" fontAlgn="b"/>
                      <a:r>
                        <a:rPr lang="he-IL" sz="1400" b="1" u="none" strike="noStrike" dirty="0">
                          <a:effectLst/>
                        </a:rPr>
                        <a:t>25</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t>255</a:t>
                      </a:r>
                      <a:endParaRPr lang="en-IL" dirty="0"/>
                    </a:p>
                  </a:txBody>
                  <a:tcPr/>
                </a:tc>
                <a:tc>
                  <a:txBody>
                    <a:bodyPr/>
                    <a:lstStyle/>
                    <a:p>
                      <a:pPr algn="ctr"/>
                      <a:r>
                        <a:rPr lang="en-US" dirty="0"/>
                        <a:t>3</a:t>
                      </a:r>
                      <a:endParaRPr lang="en-IL" dirty="0"/>
                    </a:p>
                  </a:txBody>
                  <a:tcPr/>
                </a:tc>
                <a:extLst>
                  <a:ext uri="{0D108BD9-81ED-4DB2-BD59-A6C34878D82A}">
                    <a16:rowId xmlns:a16="http://schemas.microsoft.com/office/drawing/2014/main" val="2363313943"/>
                  </a:ext>
                </a:extLst>
              </a:tr>
              <a:tr h="346914">
                <a:tc>
                  <a:txBody>
                    <a:bodyPr/>
                    <a:lstStyle/>
                    <a:p>
                      <a:pPr algn="ctr"/>
                      <a:endParaRPr lang="en-IL" dirty="0"/>
                    </a:p>
                  </a:txBody>
                  <a:tcPr>
                    <a:solidFill>
                      <a:schemeClr val="accent1">
                        <a:lumMod val="20000"/>
                        <a:lumOff val="80000"/>
                      </a:schemeClr>
                    </a:solidFill>
                  </a:tcPr>
                </a:tc>
                <a:tc>
                  <a:txBody>
                    <a:bodyPr/>
                    <a:lstStyle/>
                    <a:p>
                      <a:pPr algn="ctr" rtl="0" fontAlgn="b"/>
                      <a:r>
                        <a:rPr lang="he-IL" sz="1400" b="1" u="none" strike="noStrike" dirty="0">
                          <a:effectLst/>
                        </a:rPr>
                        <a:t>35</a:t>
                      </a:r>
                      <a:endParaRPr lang="he-IL" sz="1400" b="1" i="0" u="none" strike="noStrike" dirty="0">
                        <a:solidFill>
                          <a:srgbClr val="000000"/>
                        </a:solidFill>
                        <a:effectLst/>
                        <a:latin typeface="Arial" panose="020B0604020202020204" pitchFamily="34" charset="0"/>
                      </a:endParaRPr>
                    </a:p>
                  </a:txBody>
                  <a:tcPr marL="8332" marR="8332" marT="8332" marB="0" anchor="b">
                    <a:solidFill>
                      <a:schemeClr val="accent1">
                        <a:lumMod val="20000"/>
                        <a:lumOff val="80000"/>
                      </a:schemeClr>
                    </a:solidFill>
                  </a:tcPr>
                </a:tc>
                <a:tc>
                  <a:txBody>
                    <a:bodyPr/>
                    <a:lstStyle/>
                    <a:p>
                      <a:pPr algn="ctr"/>
                      <a:r>
                        <a:rPr lang="en-US" dirty="0"/>
                        <a:t>290</a:t>
                      </a:r>
                      <a:endParaRPr lang="en-IL" dirty="0"/>
                    </a:p>
                  </a:txBody>
                  <a:tcPr>
                    <a:solidFill>
                      <a:schemeClr val="accent1">
                        <a:lumMod val="20000"/>
                        <a:lumOff val="80000"/>
                      </a:schemeClr>
                    </a:solidFill>
                  </a:tcPr>
                </a:tc>
                <a:tc>
                  <a:txBody>
                    <a:bodyPr/>
                    <a:lstStyle/>
                    <a:p>
                      <a:pPr algn="ctr"/>
                      <a:r>
                        <a:rPr lang="en-US" dirty="0"/>
                        <a:t>4</a:t>
                      </a:r>
                      <a:endParaRPr lang="en-IL" dirty="0"/>
                    </a:p>
                  </a:txBody>
                  <a:tcPr>
                    <a:solidFill>
                      <a:schemeClr val="accent1">
                        <a:lumMod val="20000"/>
                        <a:lumOff val="80000"/>
                      </a:schemeClr>
                    </a:solidFill>
                  </a:tcPr>
                </a:tc>
                <a:extLst>
                  <a:ext uri="{0D108BD9-81ED-4DB2-BD59-A6C34878D82A}">
                    <a16:rowId xmlns:a16="http://schemas.microsoft.com/office/drawing/2014/main" val="3086807375"/>
                  </a:ext>
                </a:extLst>
              </a:tr>
              <a:tr h="346914">
                <a:tc>
                  <a:txBody>
                    <a:bodyPr/>
                    <a:lstStyle/>
                    <a:p>
                      <a:pPr algn="ctr"/>
                      <a:endParaRPr lang="en-IL" dirty="0"/>
                    </a:p>
                  </a:txBody>
                  <a:tcPr/>
                </a:tc>
                <a:tc>
                  <a:txBody>
                    <a:bodyPr/>
                    <a:lstStyle/>
                    <a:p>
                      <a:pPr algn="ctr" rtl="0" fontAlgn="b"/>
                      <a:r>
                        <a:rPr lang="he-IL" sz="1400" b="1" u="none" strike="noStrike" dirty="0">
                          <a:effectLst/>
                        </a:rPr>
                        <a:t>40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t>330</a:t>
                      </a:r>
                      <a:endParaRPr lang="en-IL" dirty="0"/>
                    </a:p>
                  </a:txBody>
                  <a:tcPr/>
                </a:tc>
                <a:tc>
                  <a:txBody>
                    <a:bodyPr/>
                    <a:lstStyle/>
                    <a:p>
                      <a:pPr algn="ctr"/>
                      <a:r>
                        <a:rPr lang="en-US" dirty="0"/>
                        <a:t>5</a:t>
                      </a:r>
                      <a:endParaRPr lang="en-IL" dirty="0"/>
                    </a:p>
                  </a:txBody>
                  <a:tcPr/>
                </a:tc>
                <a:extLst>
                  <a:ext uri="{0D108BD9-81ED-4DB2-BD59-A6C34878D82A}">
                    <a16:rowId xmlns:a16="http://schemas.microsoft.com/office/drawing/2014/main" val="2488581084"/>
                  </a:ext>
                </a:extLst>
              </a:tr>
              <a:tr h="346914">
                <a:tc>
                  <a:txBody>
                    <a:bodyPr/>
                    <a:lstStyle/>
                    <a:p>
                      <a:pPr algn="ctr"/>
                      <a:endParaRPr lang="en-IL" dirty="0"/>
                    </a:p>
                  </a:txBody>
                  <a:tcPr>
                    <a:solidFill>
                      <a:schemeClr val="accent1">
                        <a:lumMod val="20000"/>
                        <a:lumOff val="80000"/>
                      </a:schemeClr>
                    </a:solidFill>
                  </a:tcPr>
                </a:tc>
                <a:tc>
                  <a:txBody>
                    <a:bodyPr/>
                    <a:lstStyle/>
                    <a:p>
                      <a:pPr algn="ctr" rtl="0" fontAlgn="b"/>
                      <a:r>
                        <a:rPr lang="he-IL" sz="1400" b="1" u="none" strike="noStrike" dirty="0">
                          <a:effectLst/>
                        </a:rPr>
                        <a:t>45</a:t>
                      </a:r>
                      <a:endParaRPr lang="he-IL" sz="1400" b="1" i="0" u="none" strike="noStrike" dirty="0">
                        <a:solidFill>
                          <a:srgbClr val="000000"/>
                        </a:solidFill>
                        <a:effectLst/>
                        <a:latin typeface="Arial" panose="020B0604020202020204" pitchFamily="34" charset="0"/>
                      </a:endParaRPr>
                    </a:p>
                  </a:txBody>
                  <a:tcPr marL="8332" marR="8332" marT="8332" marB="0" anchor="b">
                    <a:solidFill>
                      <a:schemeClr val="accent1">
                        <a:lumMod val="20000"/>
                        <a:lumOff val="80000"/>
                      </a:schemeClr>
                    </a:solidFill>
                  </a:tcPr>
                </a:tc>
                <a:tc>
                  <a:txBody>
                    <a:bodyPr/>
                    <a:lstStyle/>
                    <a:p>
                      <a:pPr algn="ctr"/>
                      <a:r>
                        <a:rPr lang="en-US" dirty="0"/>
                        <a:t>375</a:t>
                      </a:r>
                      <a:endParaRPr lang="en-IL" dirty="0"/>
                    </a:p>
                  </a:txBody>
                  <a:tcPr>
                    <a:solidFill>
                      <a:schemeClr val="accent1">
                        <a:lumMod val="20000"/>
                        <a:lumOff val="80000"/>
                      </a:schemeClr>
                    </a:solidFill>
                  </a:tcPr>
                </a:tc>
                <a:tc>
                  <a:txBody>
                    <a:bodyPr/>
                    <a:lstStyle/>
                    <a:p>
                      <a:pPr algn="ctr"/>
                      <a:r>
                        <a:rPr lang="en-US" dirty="0"/>
                        <a:t>6</a:t>
                      </a:r>
                      <a:endParaRPr lang="en-IL" dirty="0"/>
                    </a:p>
                  </a:txBody>
                  <a:tcPr>
                    <a:solidFill>
                      <a:schemeClr val="accent1">
                        <a:lumMod val="20000"/>
                        <a:lumOff val="80000"/>
                      </a:schemeClr>
                    </a:solidFill>
                  </a:tcPr>
                </a:tc>
                <a:extLst>
                  <a:ext uri="{0D108BD9-81ED-4DB2-BD59-A6C34878D82A}">
                    <a16:rowId xmlns:a16="http://schemas.microsoft.com/office/drawing/2014/main" val="774215678"/>
                  </a:ext>
                </a:extLst>
              </a:tr>
              <a:tr h="346914">
                <a:tc>
                  <a:txBody>
                    <a:bodyPr/>
                    <a:lstStyle/>
                    <a:p>
                      <a:pPr algn="ctr"/>
                      <a:endParaRPr lang="en-IL" dirty="0"/>
                    </a:p>
                  </a:txBody>
                  <a:tcPr/>
                </a:tc>
                <a:tc>
                  <a:txBody>
                    <a:bodyPr/>
                    <a:lstStyle/>
                    <a:p>
                      <a:pPr algn="ctr" rtl="0" fontAlgn="b"/>
                      <a:r>
                        <a:rPr lang="he-IL" sz="1400" b="1" u="none" strike="noStrike" dirty="0">
                          <a:effectLst/>
                        </a:rPr>
                        <a:t>50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t>425</a:t>
                      </a:r>
                      <a:endParaRPr lang="en-IL" dirty="0"/>
                    </a:p>
                  </a:txBody>
                  <a:tcPr/>
                </a:tc>
                <a:tc>
                  <a:txBody>
                    <a:bodyPr/>
                    <a:lstStyle/>
                    <a:p>
                      <a:pPr algn="ctr"/>
                      <a:r>
                        <a:rPr lang="en-US" dirty="0"/>
                        <a:t>7</a:t>
                      </a:r>
                      <a:endParaRPr lang="en-IL" dirty="0"/>
                    </a:p>
                  </a:txBody>
                  <a:tcPr/>
                </a:tc>
                <a:extLst>
                  <a:ext uri="{0D108BD9-81ED-4DB2-BD59-A6C34878D82A}">
                    <a16:rowId xmlns:a16="http://schemas.microsoft.com/office/drawing/2014/main" val="3621824598"/>
                  </a:ext>
                </a:extLst>
              </a:tr>
              <a:tr h="346914">
                <a:tc>
                  <a:txBody>
                    <a:bodyPr/>
                    <a:lstStyle/>
                    <a:p>
                      <a:pPr algn="ctr"/>
                      <a:endParaRPr lang="en-IL" dirty="0"/>
                    </a:p>
                  </a:txBody>
                  <a:tcPr/>
                </a:tc>
                <a:tc>
                  <a:txBody>
                    <a:bodyPr/>
                    <a:lstStyle/>
                    <a:p>
                      <a:pPr algn="ctr" rtl="0" fontAlgn="b"/>
                      <a:r>
                        <a:rPr lang="he-IL" sz="1400" b="1" i="0" u="none" strike="noStrike" dirty="0">
                          <a:solidFill>
                            <a:srgbClr val="000000"/>
                          </a:solidFill>
                          <a:effectLst/>
                          <a:latin typeface="Arial" panose="020B0604020202020204" pitchFamily="34" charset="0"/>
                        </a:rPr>
                        <a:t>130</a:t>
                      </a:r>
                    </a:p>
                  </a:txBody>
                  <a:tcPr marL="8332" marR="8332" marT="8332" marB="0" anchor="b"/>
                </a:tc>
                <a:tc>
                  <a:txBody>
                    <a:bodyPr/>
                    <a:lstStyle/>
                    <a:p>
                      <a:pPr algn="ctr"/>
                      <a:r>
                        <a:rPr lang="he-IL" dirty="0"/>
                        <a:t>555</a:t>
                      </a:r>
                      <a:endParaRPr lang="en-IL" dirty="0"/>
                    </a:p>
                  </a:txBody>
                  <a:tcPr/>
                </a:tc>
                <a:tc>
                  <a:txBody>
                    <a:bodyPr/>
                    <a:lstStyle/>
                    <a:p>
                      <a:pPr algn="ctr"/>
                      <a:r>
                        <a:rPr lang="he-IL" dirty="0"/>
                        <a:t>8</a:t>
                      </a:r>
                      <a:endParaRPr lang="en-IL" dirty="0"/>
                    </a:p>
                  </a:txBody>
                  <a:tcPr/>
                </a:tc>
                <a:extLst>
                  <a:ext uri="{0D108BD9-81ED-4DB2-BD59-A6C34878D82A}">
                    <a16:rowId xmlns:a16="http://schemas.microsoft.com/office/drawing/2014/main" val="1064849030"/>
                  </a:ext>
                </a:extLst>
              </a:tr>
            </a:tbl>
          </a:graphicData>
        </a:graphic>
      </p:graphicFrame>
      <p:sp>
        <p:nvSpPr>
          <p:cNvPr id="15" name="מלבן 6">
            <a:extLst>
              <a:ext uri="{FF2B5EF4-FFF2-40B4-BE49-F238E27FC236}">
                <a16:creationId xmlns:a16="http://schemas.microsoft.com/office/drawing/2014/main" id="{FE7977B6-E0B0-4449-8726-4CAE1246CEA4}"/>
              </a:ext>
            </a:extLst>
          </p:cNvPr>
          <p:cNvSpPr/>
          <p:nvPr/>
        </p:nvSpPr>
        <p:spPr>
          <a:xfrm>
            <a:off x="1151891" y="5307324"/>
            <a:ext cx="10870311" cy="1415772"/>
          </a:xfrm>
          <a:prstGeom prst="rect">
            <a:avLst/>
          </a:prstGeom>
        </p:spPr>
        <p:txBody>
          <a:bodyPr wrap="square">
            <a:spAutoFit/>
          </a:bodyPr>
          <a:lstStyle/>
          <a:p>
            <a:pPr lvl="0" algn="r" rtl="1"/>
            <a:r>
              <a:rPr lang="he-IL" dirty="0"/>
              <a:t>א. אם מחיר השוק של מוצר </a:t>
            </a:r>
            <a:r>
              <a:rPr lang="en-US" dirty="0"/>
              <a:t>X</a:t>
            </a:r>
            <a:r>
              <a:rPr lang="he-IL" dirty="0"/>
              <a:t> הוא  </a:t>
            </a:r>
            <a:r>
              <a:rPr lang="en-US" dirty="0"/>
              <a:t>PX=75</a:t>
            </a:r>
            <a:r>
              <a:rPr lang="he-IL" dirty="0"/>
              <a:t> , היצרן יכנס לענף עם  טכנולוגיה א' וייצר 5 יחידות.</a:t>
            </a:r>
            <a:endParaRPr lang="en-US" dirty="0"/>
          </a:p>
          <a:p>
            <a:pPr lvl="0" algn="r" rtl="1"/>
            <a:r>
              <a:rPr lang="he-IL" dirty="0"/>
              <a:t>ב. אם מחיר השוק של מוצר </a:t>
            </a:r>
            <a:r>
              <a:rPr lang="en-US" dirty="0"/>
              <a:t>X</a:t>
            </a:r>
            <a:r>
              <a:rPr lang="he-IL" dirty="0"/>
              <a:t> הוא  </a:t>
            </a:r>
            <a:r>
              <a:rPr lang="en-US" dirty="0"/>
              <a:t>PX=130</a:t>
            </a:r>
            <a:r>
              <a:rPr lang="he-IL" dirty="0"/>
              <a:t> , לא יהיה אכפת ליצרן באיזה טכנולוגיה להשתמש והוא ייצר 8 יחידות</a:t>
            </a:r>
            <a:endParaRPr lang="en-US" dirty="0"/>
          </a:p>
          <a:p>
            <a:pPr lvl="0" algn="r" rtl="1"/>
            <a:r>
              <a:rPr lang="he-IL" sz="1600" dirty="0"/>
              <a:t>ג. אם מחיר השוק של מוצר </a:t>
            </a:r>
            <a:r>
              <a:rPr lang="en-US" sz="1600" dirty="0"/>
              <a:t>X</a:t>
            </a:r>
            <a:r>
              <a:rPr lang="he-IL" sz="1600" dirty="0"/>
              <a:t> הוא  </a:t>
            </a:r>
            <a:r>
              <a:rPr lang="en-US" sz="1600" dirty="0"/>
              <a:t>PX=25</a:t>
            </a:r>
            <a:r>
              <a:rPr lang="he-IL" sz="1600" dirty="0"/>
              <a:t>, היצרן יכנס לענף עם טכנולוגיה א' וייצר 2 יחידות.</a:t>
            </a:r>
            <a:endParaRPr lang="en-US" sz="1600" dirty="0"/>
          </a:p>
          <a:p>
            <a:pPr lvl="0" algn="r" rtl="1"/>
            <a:r>
              <a:rPr lang="he-IL" sz="1600" dirty="0"/>
              <a:t>ד. אם מחיר השוק של מוצר </a:t>
            </a:r>
            <a:r>
              <a:rPr lang="en-US" sz="1600" dirty="0"/>
              <a:t>X</a:t>
            </a:r>
            <a:r>
              <a:rPr lang="he-IL" sz="1600" dirty="0"/>
              <a:t> הוא  </a:t>
            </a:r>
            <a:r>
              <a:rPr lang="en-US" sz="1600" dirty="0"/>
              <a:t>PX=40</a:t>
            </a:r>
            <a:r>
              <a:rPr lang="he-IL" sz="1600" dirty="0"/>
              <a:t>,  היצרן בהכרח יכנס לענף עם טכנולוגיה ב' וייצר 5 יחידות.</a:t>
            </a:r>
            <a:endParaRPr lang="en-US" sz="1600" dirty="0"/>
          </a:p>
          <a:p>
            <a:pPr lvl="0" algn="r" rtl="1"/>
            <a:r>
              <a:rPr lang="he-IL" sz="1600" dirty="0"/>
              <a:t>ה. כל התשובות האחרות אינן נכונות.</a:t>
            </a:r>
            <a:endParaRPr lang="en-US" sz="1600" dirty="0"/>
          </a:p>
        </p:txBody>
      </p:sp>
      <p:sp>
        <p:nvSpPr>
          <p:cNvPr id="18" name="TextBox 17">
            <a:extLst>
              <a:ext uri="{FF2B5EF4-FFF2-40B4-BE49-F238E27FC236}">
                <a16:creationId xmlns:a16="http://schemas.microsoft.com/office/drawing/2014/main" id="{6B381748-8343-4280-A5DF-0D4E3645A4B3}"/>
              </a:ext>
            </a:extLst>
          </p:cNvPr>
          <p:cNvSpPr txBox="1"/>
          <p:nvPr/>
        </p:nvSpPr>
        <p:spPr>
          <a:xfrm>
            <a:off x="6232339" y="4426017"/>
            <a:ext cx="1114916" cy="369332"/>
          </a:xfrm>
          <a:prstGeom prst="rect">
            <a:avLst/>
          </a:prstGeom>
          <a:noFill/>
        </p:spPr>
        <p:txBody>
          <a:bodyPr wrap="square">
            <a:spAutoFit/>
          </a:bodyPr>
          <a:lstStyle/>
          <a:p>
            <a:pPr algn="l" rtl="0"/>
            <a:r>
              <a:rPr lang="en-US" dirty="0">
                <a:highlight>
                  <a:srgbClr val="FFFF00"/>
                </a:highlight>
              </a:rPr>
              <a:t>Px=</a:t>
            </a:r>
            <a:r>
              <a:rPr lang="he-IL" sz="1400" b="1" dirty="0">
                <a:highlight>
                  <a:srgbClr val="FFFF00"/>
                </a:highlight>
              </a:rPr>
              <a:t>130</a:t>
            </a:r>
            <a:r>
              <a:rPr lang="en-US" dirty="0">
                <a:highlight>
                  <a:srgbClr val="FFFF00"/>
                </a:highlight>
              </a:rPr>
              <a:t> </a:t>
            </a:r>
            <a:r>
              <a:rPr lang="en-US" dirty="0">
                <a:highlight>
                  <a:srgbClr val="FFFF00"/>
                </a:highlight>
                <a:latin typeface="Perpetua" panose="02020502060401020303" pitchFamily="18" charset="0"/>
              </a:rPr>
              <a:t>≥</a:t>
            </a:r>
            <a:r>
              <a:rPr lang="he-IL" dirty="0">
                <a:highlight>
                  <a:srgbClr val="FFFF00"/>
                </a:highlight>
              </a:rPr>
              <a:t> </a:t>
            </a:r>
            <a:endParaRPr lang="en-IL" dirty="0">
              <a:highlight>
                <a:srgbClr val="FFFF00"/>
              </a:highlight>
            </a:endParaRPr>
          </a:p>
        </p:txBody>
      </p:sp>
      <p:sp>
        <p:nvSpPr>
          <p:cNvPr id="19" name="TextBox 18">
            <a:extLst>
              <a:ext uri="{FF2B5EF4-FFF2-40B4-BE49-F238E27FC236}">
                <a16:creationId xmlns:a16="http://schemas.microsoft.com/office/drawing/2014/main" id="{E6670D04-2EAD-4B8A-8F5C-94B590F697CF}"/>
              </a:ext>
            </a:extLst>
          </p:cNvPr>
          <p:cNvSpPr txBox="1"/>
          <p:nvPr/>
        </p:nvSpPr>
        <p:spPr>
          <a:xfrm>
            <a:off x="5019970" y="4430855"/>
            <a:ext cx="1414386" cy="307777"/>
          </a:xfrm>
          <a:prstGeom prst="rect">
            <a:avLst/>
          </a:prstGeom>
          <a:noFill/>
        </p:spPr>
        <p:txBody>
          <a:bodyPr wrap="square">
            <a:spAutoFit/>
          </a:bodyPr>
          <a:lstStyle/>
          <a:p>
            <a:pPr algn="l" rtl="0"/>
            <a:r>
              <a:rPr lang="en-US" sz="1400" dirty="0">
                <a:highlight>
                  <a:srgbClr val="00FF00"/>
                </a:highlight>
              </a:rPr>
              <a:t>130</a:t>
            </a:r>
            <a:r>
              <a:rPr lang="he-IL" sz="1400" dirty="0">
                <a:highlight>
                  <a:srgbClr val="00FF00"/>
                </a:highlight>
              </a:rPr>
              <a:t>*</a:t>
            </a:r>
            <a:r>
              <a:rPr lang="en-US" sz="1400" dirty="0">
                <a:highlight>
                  <a:srgbClr val="00FF00"/>
                </a:highlight>
              </a:rPr>
              <a:t>8-610=430</a:t>
            </a:r>
            <a:endParaRPr lang="en-IL" sz="1400" dirty="0">
              <a:highlight>
                <a:srgbClr val="00FF00"/>
              </a:highlight>
            </a:endParaRPr>
          </a:p>
        </p:txBody>
      </p:sp>
      <p:sp>
        <p:nvSpPr>
          <p:cNvPr id="20" name="TextBox 19">
            <a:extLst>
              <a:ext uri="{FF2B5EF4-FFF2-40B4-BE49-F238E27FC236}">
                <a16:creationId xmlns:a16="http://schemas.microsoft.com/office/drawing/2014/main" id="{9C593E8E-B551-4C25-9562-1D3705C425A3}"/>
              </a:ext>
            </a:extLst>
          </p:cNvPr>
          <p:cNvSpPr txBox="1"/>
          <p:nvPr/>
        </p:nvSpPr>
        <p:spPr>
          <a:xfrm>
            <a:off x="1920845" y="4474140"/>
            <a:ext cx="1114916" cy="369332"/>
          </a:xfrm>
          <a:prstGeom prst="rect">
            <a:avLst/>
          </a:prstGeom>
          <a:noFill/>
        </p:spPr>
        <p:txBody>
          <a:bodyPr wrap="square">
            <a:spAutoFit/>
          </a:bodyPr>
          <a:lstStyle/>
          <a:p>
            <a:pPr algn="l" rtl="0"/>
            <a:r>
              <a:rPr lang="en-US" dirty="0">
                <a:highlight>
                  <a:srgbClr val="FFFF00"/>
                </a:highlight>
              </a:rPr>
              <a:t>Px=</a:t>
            </a:r>
            <a:r>
              <a:rPr lang="he-IL" sz="1400" b="1" dirty="0">
                <a:highlight>
                  <a:srgbClr val="FFFF00"/>
                </a:highlight>
              </a:rPr>
              <a:t> 130</a:t>
            </a:r>
            <a:r>
              <a:rPr lang="en-US" sz="1400" dirty="0">
                <a:highlight>
                  <a:srgbClr val="FFFF00"/>
                </a:highlight>
              </a:rPr>
              <a:t> </a:t>
            </a:r>
            <a:r>
              <a:rPr lang="en-US" dirty="0">
                <a:highlight>
                  <a:srgbClr val="FFFF00"/>
                </a:highlight>
                <a:latin typeface="Perpetua" panose="02020502060401020303" pitchFamily="18" charset="0"/>
              </a:rPr>
              <a:t>≥</a:t>
            </a:r>
            <a:r>
              <a:rPr lang="he-IL" dirty="0">
                <a:highlight>
                  <a:srgbClr val="FFFF00"/>
                </a:highlight>
              </a:rPr>
              <a:t> </a:t>
            </a:r>
            <a:endParaRPr lang="en-IL" dirty="0">
              <a:highlight>
                <a:srgbClr val="FFFF00"/>
              </a:highlight>
            </a:endParaRPr>
          </a:p>
        </p:txBody>
      </p:sp>
      <p:sp>
        <p:nvSpPr>
          <p:cNvPr id="21" name="TextBox 20">
            <a:extLst>
              <a:ext uri="{FF2B5EF4-FFF2-40B4-BE49-F238E27FC236}">
                <a16:creationId xmlns:a16="http://schemas.microsoft.com/office/drawing/2014/main" id="{DCB67DDC-8B6A-4620-831E-ED58B37CA41C}"/>
              </a:ext>
            </a:extLst>
          </p:cNvPr>
          <p:cNvSpPr txBox="1"/>
          <p:nvPr/>
        </p:nvSpPr>
        <p:spPr>
          <a:xfrm>
            <a:off x="111859" y="4487572"/>
            <a:ext cx="1897113" cy="307777"/>
          </a:xfrm>
          <a:prstGeom prst="rect">
            <a:avLst/>
          </a:prstGeom>
          <a:noFill/>
        </p:spPr>
        <p:txBody>
          <a:bodyPr wrap="square">
            <a:spAutoFit/>
          </a:bodyPr>
          <a:lstStyle/>
          <a:p>
            <a:pPr algn="r" rtl="0"/>
            <a:r>
              <a:rPr lang="en-US" sz="1400" b="1" dirty="0">
                <a:highlight>
                  <a:srgbClr val="00FF00"/>
                </a:highlight>
              </a:rPr>
              <a:t>130</a:t>
            </a:r>
            <a:r>
              <a:rPr lang="he-IL" sz="1400" b="1" dirty="0">
                <a:highlight>
                  <a:srgbClr val="00FF00"/>
                </a:highlight>
              </a:rPr>
              <a:t>*</a:t>
            </a:r>
            <a:r>
              <a:rPr lang="en-US" sz="1400" b="1" dirty="0">
                <a:highlight>
                  <a:srgbClr val="00FF00"/>
                </a:highlight>
              </a:rPr>
              <a:t>8-555=485</a:t>
            </a:r>
            <a:endParaRPr lang="en-IL" sz="1400" b="1" dirty="0">
              <a:highlight>
                <a:srgbClr val="00FF00"/>
              </a:highlight>
            </a:endParaRPr>
          </a:p>
        </p:txBody>
      </p:sp>
      <p:sp>
        <p:nvSpPr>
          <p:cNvPr id="7" name="TextBox 6">
            <a:extLst>
              <a:ext uri="{FF2B5EF4-FFF2-40B4-BE49-F238E27FC236}">
                <a16:creationId xmlns:a16="http://schemas.microsoft.com/office/drawing/2014/main" id="{CE0E6DB9-DCE6-4E5F-B239-7A56FBFE741A}"/>
              </a:ext>
            </a:extLst>
          </p:cNvPr>
          <p:cNvSpPr txBox="1"/>
          <p:nvPr/>
        </p:nvSpPr>
        <p:spPr>
          <a:xfrm>
            <a:off x="251670" y="5559927"/>
            <a:ext cx="1825206" cy="369332"/>
          </a:xfrm>
          <a:prstGeom prst="rect">
            <a:avLst/>
          </a:prstGeom>
          <a:solidFill>
            <a:srgbClr val="FFC000"/>
          </a:solidFill>
        </p:spPr>
        <p:txBody>
          <a:bodyPr wrap="square" rtlCol="0">
            <a:spAutoFit/>
          </a:bodyPr>
          <a:lstStyle/>
          <a:p>
            <a:pPr algn="r" rtl="1"/>
            <a:r>
              <a:rPr lang="he-IL" dirty="0"/>
              <a:t>ב' תשובה שגויה!</a:t>
            </a:r>
            <a:endParaRPr lang="en-IL" dirty="0"/>
          </a:p>
        </p:txBody>
      </p:sp>
    </p:spTree>
    <p:extLst>
      <p:ext uri="{BB962C8B-B14F-4D97-AF65-F5344CB8AC3E}">
        <p14:creationId xmlns:p14="http://schemas.microsoft.com/office/powerpoint/2010/main" val="3842372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inVertic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arn(inVertic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arn(inVertical)">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arn(inVertical)">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7"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כותרת 1"/>
          <p:cNvSpPr>
            <a:spLocks noGrp="1"/>
          </p:cNvSpPr>
          <p:nvPr>
            <p:ph type="title"/>
          </p:nvPr>
        </p:nvSpPr>
        <p:spPr>
          <a:xfrm>
            <a:off x="8911129" y="-100779"/>
            <a:ext cx="3287688" cy="1143000"/>
          </a:xfrm>
        </p:spPr>
        <p:txBody>
          <a:bodyPr>
            <a:normAutofit fontScale="90000"/>
          </a:bodyPr>
          <a:lstStyle/>
          <a:p>
            <a:pPr algn="r"/>
            <a:r>
              <a:rPr lang="he-IL" b="1" dirty="0">
                <a:solidFill>
                  <a:schemeClr val="tx2">
                    <a:lumMod val="75000"/>
                  </a:schemeClr>
                </a:solidFill>
              </a:rPr>
              <a:t>שאלה 4 מבחינה</a:t>
            </a:r>
          </a:p>
        </p:txBody>
      </p:sp>
      <p:sp>
        <p:nvSpPr>
          <p:cNvPr id="2" name="מלבן 1"/>
          <p:cNvSpPr/>
          <p:nvPr/>
        </p:nvSpPr>
        <p:spPr>
          <a:xfrm>
            <a:off x="9981127" y="995234"/>
            <a:ext cx="2210873" cy="954107"/>
          </a:xfrm>
          <a:prstGeom prst="rect">
            <a:avLst/>
          </a:prstGeom>
        </p:spPr>
        <p:txBody>
          <a:bodyPr wrap="square">
            <a:spAutoFit/>
          </a:bodyPr>
          <a:lstStyle/>
          <a:p>
            <a:pPr algn="r" rtl="1"/>
            <a:r>
              <a:rPr lang="he-IL" sz="1400" dirty="0"/>
              <a:t>יזם שוקל להיכנס לענף תחרותי </a:t>
            </a:r>
            <a:r>
              <a:rPr lang="en-US" sz="1400" dirty="0"/>
              <a:t>X</a:t>
            </a:r>
            <a:r>
              <a:rPr lang="he-IL" sz="1400" dirty="0"/>
              <a:t> ולפיכך הוא שוקל באיזה טכנולוגיה להשתמש (אם יכנס לענף).</a:t>
            </a:r>
            <a:endParaRPr lang="en-US" sz="1400" dirty="0"/>
          </a:p>
        </p:txBody>
      </p:sp>
      <p:sp>
        <p:nvSpPr>
          <p:cNvPr id="3" name="Date Placeholder 2"/>
          <p:cNvSpPr>
            <a:spLocks noGrp="1"/>
          </p:cNvSpPr>
          <p:nvPr>
            <p:ph type="dt" sz="half" idx="10"/>
          </p:nvPr>
        </p:nvSpPr>
        <p:spPr>
          <a:xfrm>
            <a:off x="-954339" y="135967"/>
            <a:ext cx="2743200" cy="365125"/>
          </a:xfrm>
        </p:spPr>
        <p:txBody>
          <a:bodyPr/>
          <a:lstStyle/>
          <a:p>
            <a:fld id="{62CD0F34-E9CA-4458-8B01-ACE383DBFE35}" type="datetime8">
              <a:rPr lang="he-IL" smtClean="0"/>
              <a:t>03 ינואר 26</a:t>
            </a:fld>
            <a:endParaRPr lang="he-IL"/>
          </a:p>
        </p:txBody>
      </p:sp>
      <p:graphicFrame>
        <p:nvGraphicFramePr>
          <p:cNvPr id="5" name="Table 6">
            <a:extLst>
              <a:ext uri="{FF2B5EF4-FFF2-40B4-BE49-F238E27FC236}">
                <a16:creationId xmlns:a16="http://schemas.microsoft.com/office/drawing/2014/main" id="{1787060A-0DE0-467D-9AEB-BAE25A6BB039}"/>
              </a:ext>
            </a:extLst>
          </p:cNvPr>
          <p:cNvGraphicFramePr>
            <a:graphicFrameLocks noGrp="1"/>
          </p:cNvGraphicFramePr>
          <p:nvPr/>
        </p:nvGraphicFramePr>
        <p:xfrm>
          <a:off x="5168929" y="700023"/>
          <a:ext cx="4135795" cy="4166358"/>
        </p:xfrm>
        <a:graphic>
          <a:graphicData uri="http://schemas.openxmlformats.org/drawingml/2006/table">
            <a:tbl>
              <a:tblPr firstRow="1" bandRow="1">
                <a:tableStyleId>{5C22544A-7EE6-4342-B048-85BDC9FD1C3A}</a:tableStyleId>
              </a:tblPr>
              <a:tblGrid>
                <a:gridCol w="1908128">
                  <a:extLst>
                    <a:ext uri="{9D8B030D-6E8A-4147-A177-3AD203B41FA5}">
                      <a16:colId xmlns:a16="http://schemas.microsoft.com/office/drawing/2014/main" val="877989887"/>
                    </a:ext>
                  </a:extLst>
                </a:gridCol>
                <a:gridCol w="829613">
                  <a:extLst>
                    <a:ext uri="{9D8B030D-6E8A-4147-A177-3AD203B41FA5}">
                      <a16:colId xmlns:a16="http://schemas.microsoft.com/office/drawing/2014/main" val="2893910380"/>
                    </a:ext>
                  </a:extLst>
                </a:gridCol>
                <a:gridCol w="608384">
                  <a:extLst>
                    <a:ext uri="{9D8B030D-6E8A-4147-A177-3AD203B41FA5}">
                      <a16:colId xmlns:a16="http://schemas.microsoft.com/office/drawing/2014/main" val="4127186392"/>
                    </a:ext>
                  </a:extLst>
                </a:gridCol>
                <a:gridCol w="789670">
                  <a:extLst>
                    <a:ext uri="{9D8B030D-6E8A-4147-A177-3AD203B41FA5}">
                      <a16:colId xmlns:a16="http://schemas.microsoft.com/office/drawing/2014/main" val="250261459"/>
                    </a:ext>
                  </a:extLst>
                </a:gridCol>
              </a:tblGrid>
              <a:tr h="874518">
                <a:tc>
                  <a:txBody>
                    <a:bodyPr/>
                    <a:lstStyle/>
                    <a:p>
                      <a:pPr algn="ctr"/>
                      <a:r>
                        <a:rPr lang="he-IL" dirty="0"/>
                        <a:t>רווח נקי</a:t>
                      </a:r>
                    </a:p>
                    <a:p>
                      <a:pPr algn="ctr"/>
                      <a:r>
                        <a:rPr lang="en-US" dirty="0"/>
                        <a:t>P*X-TC</a:t>
                      </a:r>
                      <a:endParaRPr lang="en-IL" dirty="0"/>
                    </a:p>
                  </a:txBody>
                  <a:tcPr>
                    <a:solidFill>
                      <a:srgbClr val="EB1DBF"/>
                    </a:solidFill>
                  </a:tcPr>
                </a:tc>
                <a:tc>
                  <a:txBody>
                    <a:bodyPr/>
                    <a:lstStyle/>
                    <a:p>
                      <a:pPr algn="ctr"/>
                      <a:r>
                        <a:rPr lang="en-US" dirty="0"/>
                        <a:t>MC</a:t>
                      </a:r>
                      <a:endParaRPr lang="en-IL" dirty="0"/>
                    </a:p>
                  </a:txBody>
                  <a:tcPr>
                    <a:solidFill>
                      <a:srgbClr val="EB1DBF"/>
                    </a:solidFill>
                  </a:tcPr>
                </a:tc>
                <a:tc>
                  <a:txBody>
                    <a:bodyPr/>
                    <a:lstStyle/>
                    <a:p>
                      <a:pPr algn="ctr"/>
                      <a:r>
                        <a:rPr lang="en-US" dirty="0"/>
                        <a:t>TC</a:t>
                      </a:r>
                      <a:endParaRPr lang="en-IL" dirty="0"/>
                    </a:p>
                  </a:txBody>
                  <a:tcPr>
                    <a:solidFill>
                      <a:srgbClr val="EB1DBF"/>
                    </a:solidFill>
                  </a:tcPr>
                </a:tc>
                <a:tc>
                  <a:txBody>
                    <a:bodyPr/>
                    <a:lstStyle/>
                    <a:p>
                      <a:pPr algn="ctr" rtl="1"/>
                      <a:r>
                        <a:rPr lang="he-IL" sz="1600" dirty="0"/>
                        <a:t>כמות מיוצרת </a:t>
                      </a:r>
                      <a:r>
                        <a:rPr lang="en-US" dirty="0"/>
                        <a:t>X</a:t>
                      </a:r>
                      <a:endParaRPr lang="en-IL" dirty="0"/>
                    </a:p>
                  </a:txBody>
                  <a:tcPr>
                    <a:solidFill>
                      <a:srgbClr val="EB1DBF"/>
                    </a:solidFill>
                  </a:tcPr>
                </a:tc>
                <a:extLst>
                  <a:ext uri="{0D108BD9-81ED-4DB2-BD59-A6C34878D82A}">
                    <a16:rowId xmlns:a16="http://schemas.microsoft.com/office/drawing/2014/main" val="2821387179"/>
                  </a:ext>
                </a:extLst>
              </a:tr>
              <a:tr h="349807">
                <a:tc>
                  <a:txBody>
                    <a:bodyPr/>
                    <a:lstStyle/>
                    <a:p>
                      <a:pPr algn="ctr"/>
                      <a:endParaRPr lang="en-IL" dirty="0"/>
                    </a:p>
                  </a:txBody>
                  <a:tcPr>
                    <a:solidFill>
                      <a:srgbClr val="F5DEF6"/>
                    </a:solidFill>
                  </a:tcPr>
                </a:tc>
                <a:tc>
                  <a:txBody>
                    <a:bodyPr/>
                    <a:lstStyle/>
                    <a:p>
                      <a:pPr algn="ctr"/>
                      <a:r>
                        <a:rPr lang="he-IL" dirty="0"/>
                        <a:t>-</a:t>
                      </a:r>
                      <a:endParaRPr lang="en-IL" dirty="0"/>
                    </a:p>
                  </a:txBody>
                  <a:tcPr>
                    <a:solidFill>
                      <a:srgbClr val="F5DEF6"/>
                    </a:solidFill>
                  </a:tcPr>
                </a:tc>
                <a:tc>
                  <a:txBody>
                    <a:bodyPr/>
                    <a:lstStyle/>
                    <a:p>
                      <a:pPr algn="ctr"/>
                      <a:r>
                        <a:rPr lang="en-US" dirty="0">
                          <a:latin typeface="Arial" panose="020B0604020202020204" pitchFamily="34" charset="0"/>
                          <a:cs typeface="Arial" panose="020B0604020202020204" pitchFamily="34" charset="0"/>
                        </a:rPr>
                        <a:t>80</a:t>
                      </a:r>
                      <a:endParaRPr lang="en-IL" dirty="0">
                        <a:latin typeface="Arial" panose="020B0604020202020204" pitchFamily="34" charset="0"/>
                        <a:cs typeface="Arial" panose="020B0604020202020204" pitchFamily="34" charset="0"/>
                      </a:endParaRPr>
                    </a:p>
                  </a:txBody>
                  <a:tcPr>
                    <a:solidFill>
                      <a:srgbClr val="F5DEF6"/>
                    </a:solidFill>
                  </a:tcPr>
                </a:tc>
                <a:tc>
                  <a:txBody>
                    <a:bodyPr/>
                    <a:lstStyle/>
                    <a:p>
                      <a:pPr algn="ctr"/>
                      <a:r>
                        <a:rPr lang="en-US" dirty="0"/>
                        <a:t>0</a:t>
                      </a:r>
                      <a:endParaRPr lang="en-IL" dirty="0"/>
                    </a:p>
                  </a:txBody>
                  <a:tcPr>
                    <a:solidFill>
                      <a:srgbClr val="F5DEF6"/>
                    </a:solidFill>
                  </a:tcPr>
                </a:tc>
                <a:extLst>
                  <a:ext uri="{0D108BD9-81ED-4DB2-BD59-A6C34878D82A}">
                    <a16:rowId xmlns:a16="http://schemas.microsoft.com/office/drawing/2014/main" val="90168298"/>
                  </a:ext>
                </a:extLst>
              </a:tr>
              <a:tr h="349807">
                <a:tc>
                  <a:txBody>
                    <a:bodyPr/>
                    <a:lstStyle/>
                    <a:p>
                      <a:pPr algn="ctr"/>
                      <a:endParaRPr lang="en-IL" dirty="0"/>
                    </a:p>
                  </a:txBody>
                  <a:tcPr/>
                </a:tc>
                <a:tc>
                  <a:txBody>
                    <a:bodyPr/>
                    <a:lstStyle/>
                    <a:p>
                      <a:pPr algn="ctr" rtl="1" fontAlgn="b"/>
                      <a:r>
                        <a:rPr lang="he-IL" sz="1400" b="1" u="none" strike="noStrike" dirty="0">
                          <a:effectLst/>
                        </a:rPr>
                        <a:t>5</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latin typeface="Arial" panose="020B0604020202020204" pitchFamily="34" charset="0"/>
                          <a:cs typeface="Arial" panose="020B0604020202020204" pitchFamily="34" charset="0"/>
                        </a:rPr>
                        <a:t>85</a:t>
                      </a:r>
                      <a:endParaRPr lang="en-IL" dirty="0">
                        <a:latin typeface="Arial" panose="020B0604020202020204" pitchFamily="34" charset="0"/>
                        <a:cs typeface="Arial" panose="020B0604020202020204" pitchFamily="34" charset="0"/>
                      </a:endParaRPr>
                    </a:p>
                  </a:txBody>
                  <a:tcPr/>
                </a:tc>
                <a:tc>
                  <a:txBody>
                    <a:bodyPr/>
                    <a:lstStyle/>
                    <a:p>
                      <a:pPr algn="ctr"/>
                      <a:r>
                        <a:rPr lang="en-US" dirty="0"/>
                        <a:t>1</a:t>
                      </a:r>
                      <a:endParaRPr lang="en-IL" dirty="0"/>
                    </a:p>
                  </a:txBody>
                  <a:tcPr/>
                </a:tc>
                <a:extLst>
                  <a:ext uri="{0D108BD9-81ED-4DB2-BD59-A6C34878D82A}">
                    <a16:rowId xmlns:a16="http://schemas.microsoft.com/office/drawing/2014/main" val="1110799114"/>
                  </a:ext>
                </a:extLst>
              </a:tr>
              <a:tr h="349807">
                <a:tc>
                  <a:txBody>
                    <a:bodyPr/>
                    <a:lstStyle/>
                    <a:p>
                      <a:pPr algn="ctr"/>
                      <a:endParaRPr lang="en-IL" dirty="0"/>
                    </a:p>
                  </a:txBody>
                  <a:tcPr>
                    <a:solidFill>
                      <a:srgbClr val="F5DEF6"/>
                    </a:solidFill>
                  </a:tcPr>
                </a:tc>
                <a:tc>
                  <a:txBody>
                    <a:bodyPr/>
                    <a:lstStyle/>
                    <a:p>
                      <a:pPr algn="ctr" rtl="1" fontAlgn="b"/>
                      <a:r>
                        <a:rPr lang="he-IL" sz="1400" b="1" u="none" strike="noStrike" dirty="0">
                          <a:effectLst/>
                        </a:rPr>
                        <a:t>25</a:t>
                      </a:r>
                      <a:endParaRPr lang="he-IL" sz="1400" b="1" i="0" u="none" strike="noStrike" dirty="0">
                        <a:solidFill>
                          <a:srgbClr val="000000"/>
                        </a:solidFill>
                        <a:effectLst/>
                        <a:latin typeface="Arial" panose="020B0604020202020204" pitchFamily="34" charset="0"/>
                      </a:endParaRPr>
                    </a:p>
                  </a:txBody>
                  <a:tcPr marL="8332" marR="8332" marT="8332" marB="0" anchor="b">
                    <a:solidFill>
                      <a:srgbClr val="F5DEF6"/>
                    </a:solidFill>
                  </a:tcPr>
                </a:tc>
                <a:tc>
                  <a:txBody>
                    <a:bodyPr/>
                    <a:lstStyle/>
                    <a:p>
                      <a:pPr algn="ctr"/>
                      <a:r>
                        <a:rPr lang="en-US" dirty="0">
                          <a:latin typeface="Arial" panose="020B0604020202020204" pitchFamily="34" charset="0"/>
                          <a:cs typeface="Arial" panose="020B0604020202020204" pitchFamily="34" charset="0"/>
                        </a:rPr>
                        <a:t>110</a:t>
                      </a:r>
                      <a:endParaRPr lang="en-IL" dirty="0">
                        <a:latin typeface="Arial" panose="020B0604020202020204" pitchFamily="34" charset="0"/>
                        <a:cs typeface="Arial" panose="020B0604020202020204" pitchFamily="34" charset="0"/>
                      </a:endParaRPr>
                    </a:p>
                  </a:txBody>
                  <a:tcPr>
                    <a:solidFill>
                      <a:srgbClr val="F5DEF6"/>
                    </a:solidFill>
                  </a:tcPr>
                </a:tc>
                <a:tc>
                  <a:txBody>
                    <a:bodyPr/>
                    <a:lstStyle/>
                    <a:p>
                      <a:pPr algn="ctr"/>
                      <a:r>
                        <a:rPr lang="en-US" dirty="0"/>
                        <a:t>2</a:t>
                      </a:r>
                      <a:endParaRPr lang="en-IL" dirty="0"/>
                    </a:p>
                  </a:txBody>
                  <a:tcPr>
                    <a:solidFill>
                      <a:srgbClr val="F5DEF6"/>
                    </a:solidFill>
                  </a:tcPr>
                </a:tc>
                <a:extLst>
                  <a:ext uri="{0D108BD9-81ED-4DB2-BD59-A6C34878D82A}">
                    <a16:rowId xmlns:a16="http://schemas.microsoft.com/office/drawing/2014/main" val="3140096073"/>
                  </a:ext>
                </a:extLst>
              </a:tr>
              <a:tr h="349807">
                <a:tc>
                  <a:txBody>
                    <a:bodyPr/>
                    <a:lstStyle/>
                    <a:p>
                      <a:pPr algn="ctr"/>
                      <a:endParaRPr lang="en-IL" dirty="0"/>
                    </a:p>
                  </a:txBody>
                  <a:tcPr/>
                </a:tc>
                <a:tc>
                  <a:txBody>
                    <a:bodyPr/>
                    <a:lstStyle/>
                    <a:p>
                      <a:pPr algn="ctr" rtl="1" fontAlgn="b"/>
                      <a:r>
                        <a:rPr lang="he-IL" sz="1400" b="1" u="none" strike="noStrike" dirty="0">
                          <a:effectLst/>
                        </a:rPr>
                        <a:t>40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latin typeface="Arial" panose="020B0604020202020204" pitchFamily="34" charset="0"/>
                          <a:cs typeface="Arial" panose="020B0604020202020204" pitchFamily="34" charset="0"/>
                        </a:rPr>
                        <a:t>150</a:t>
                      </a:r>
                      <a:endParaRPr lang="en-IL" dirty="0">
                        <a:latin typeface="Arial" panose="020B0604020202020204" pitchFamily="34" charset="0"/>
                        <a:cs typeface="Arial" panose="020B0604020202020204" pitchFamily="34" charset="0"/>
                      </a:endParaRPr>
                    </a:p>
                  </a:txBody>
                  <a:tcPr/>
                </a:tc>
                <a:tc>
                  <a:txBody>
                    <a:bodyPr/>
                    <a:lstStyle/>
                    <a:p>
                      <a:pPr algn="ctr"/>
                      <a:r>
                        <a:rPr lang="en-US" dirty="0"/>
                        <a:t>3</a:t>
                      </a:r>
                      <a:endParaRPr lang="en-IL" dirty="0"/>
                    </a:p>
                  </a:txBody>
                  <a:tcPr/>
                </a:tc>
                <a:extLst>
                  <a:ext uri="{0D108BD9-81ED-4DB2-BD59-A6C34878D82A}">
                    <a16:rowId xmlns:a16="http://schemas.microsoft.com/office/drawing/2014/main" val="2363313943"/>
                  </a:ext>
                </a:extLst>
              </a:tr>
              <a:tr h="349807">
                <a:tc>
                  <a:txBody>
                    <a:bodyPr/>
                    <a:lstStyle/>
                    <a:p>
                      <a:pPr algn="ctr"/>
                      <a:endParaRPr lang="en-IL" dirty="0"/>
                    </a:p>
                  </a:txBody>
                  <a:tcPr>
                    <a:solidFill>
                      <a:srgbClr val="F5DEF6"/>
                    </a:solidFill>
                  </a:tcPr>
                </a:tc>
                <a:tc>
                  <a:txBody>
                    <a:bodyPr/>
                    <a:lstStyle/>
                    <a:p>
                      <a:pPr algn="ctr" rtl="1" fontAlgn="b"/>
                      <a:r>
                        <a:rPr lang="he-IL" sz="1400" b="1" u="none" strike="noStrike" dirty="0">
                          <a:effectLst/>
                        </a:rPr>
                        <a:t>50</a:t>
                      </a:r>
                      <a:endParaRPr lang="he-IL" sz="1400" b="1" i="0" u="none" strike="noStrike" dirty="0">
                        <a:solidFill>
                          <a:srgbClr val="000000"/>
                        </a:solidFill>
                        <a:effectLst/>
                        <a:latin typeface="Arial" panose="020B0604020202020204" pitchFamily="34" charset="0"/>
                      </a:endParaRPr>
                    </a:p>
                  </a:txBody>
                  <a:tcPr marL="8332" marR="8332" marT="8332" marB="0" anchor="b">
                    <a:solidFill>
                      <a:srgbClr val="F5DEF6"/>
                    </a:solidFill>
                  </a:tcPr>
                </a:tc>
                <a:tc>
                  <a:txBody>
                    <a:bodyPr/>
                    <a:lstStyle/>
                    <a:p>
                      <a:pPr algn="ctr"/>
                      <a:r>
                        <a:rPr lang="en-US" dirty="0">
                          <a:latin typeface="Arial" panose="020B0604020202020204" pitchFamily="34" charset="0"/>
                          <a:cs typeface="Arial" panose="020B0604020202020204" pitchFamily="34" charset="0"/>
                        </a:rPr>
                        <a:t>200</a:t>
                      </a:r>
                      <a:endParaRPr lang="en-IL" dirty="0">
                        <a:latin typeface="Arial" panose="020B0604020202020204" pitchFamily="34" charset="0"/>
                        <a:cs typeface="Arial" panose="020B0604020202020204" pitchFamily="34" charset="0"/>
                      </a:endParaRPr>
                    </a:p>
                  </a:txBody>
                  <a:tcPr>
                    <a:solidFill>
                      <a:srgbClr val="F5DEF6"/>
                    </a:solidFill>
                  </a:tcPr>
                </a:tc>
                <a:tc>
                  <a:txBody>
                    <a:bodyPr/>
                    <a:lstStyle/>
                    <a:p>
                      <a:pPr algn="ctr"/>
                      <a:r>
                        <a:rPr lang="en-US" dirty="0"/>
                        <a:t>4</a:t>
                      </a:r>
                      <a:endParaRPr lang="en-IL" dirty="0"/>
                    </a:p>
                  </a:txBody>
                  <a:tcPr>
                    <a:solidFill>
                      <a:srgbClr val="F5DEF6"/>
                    </a:solidFill>
                  </a:tcPr>
                </a:tc>
                <a:extLst>
                  <a:ext uri="{0D108BD9-81ED-4DB2-BD59-A6C34878D82A}">
                    <a16:rowId xmlns:a16="http://schemas.microsoft.com/office/drawing/2014/main" val="3086807375"/>
                  </a:ext>
                </a:extLst>
              </a:tr>
              <a:tr h="349807">
                <a:tc>
                  <a:txBody>
                    <a:bodyPr/>
                    <a:lstStyle/>
                    <a:p>
                      <a:pPr algn="ctr"/>
                      <a:endParaRPr lang="en-IL" dirty="0"/>
                    </a:p>
                  </a:txBody>
                  <a:tcPr/>
                </a:tc>
                <a:tc>
                  <a:txBody>
                    <a:bodyPr/>
                    <a:lstStyle/>
                    <a:p>
                      <a:pPr algn="ctr" rtl="1" fontAlgn="b"/>
                      <a:r>
                        <a:rPr lang="he-IL" sz="1400" b="1" u="none" strike="noStrike" dirty="0">
                          <a:effectLst/>
                        </a:rPr>
                        <a:t>70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latin typeface="Arial" panose="020B0604020202020204" pitchFamily="34" charset="0"/>
                          <a:cs typeface="Arial" panose="020B0604020202020204" pitchFamily="34" charset="0"/>
                        </a:rPr>
                        <a:t>270</a:t>
                      </a:r>
                      <a:endParaRPr lang="en-IL" dirty="0">
                        <a:latin typeface="Arial" panose="020B0604020202020204" pitchFamily="34" charset="0"/>
                        <a:cs typeface="Arial" panose="020B0604020202020204" pitchFamily="34" charset="0"/>
                      </a:endParaRPr>
                    </a:p>
                  </a:txBody>
                  <a:tcPr/>
                </a:tc>
                <a:tc>
                  <a:txBody>
                    <a:bodyPr/>
                    <a:lstStyle/>
                    <a:p>
                      <a:pPr algn="ctr"/>
                      <a:r>
                        <a:rPr lang="en-US" dirty="0"/>
                        <a:t>5</a:t>
                      </a:r>
                      <a:endParaRPr lang="en-IL" dirty="0"/>
                    </a:p>
                  </a:txBody>
                  <a:tcPr/>
                </a:tc>
                <a:extLst>
                  <a:ext uri="{0D108BD9-81ED-4DB2-BD59-A6C34878D82A}">
                    <a16:rowId xmlns:a16="http://schemas.microsoft.com/office/drawing/2014/main" val="2488581084"/>
                  </a:ext>
                </a:extLst>
              </a:tr>
              <a:tr h="349807">
                <a:tc>
                  <a:txBody>
                    <a:bodyPr/>
                    <a:lstStyle/>
                    <a:p>
                      <a:pPr algn="ctr"/>
                      <a:endParaRPr lang="en-IL" dirty="0"/>
                    </a:p>
                  </a:txBody>
                  <a:tcPr>
                    <a:solidFill>
                      <a:srgbClr val="F5DEF6"/>
                    </a:solidFill>
                  </a:tcPr>
                </a:tc>
                <a:tc>
                  <a:txBody>
                    <a:bodyPr/>
                    <a:lstStyle/>
                    <a:p>
                      <a:pPr algn="ctr" rtl="1" fontAlgn="b"/>
                      <a:r>
                        <a:rPr lang="he-IL" sz="1400" b="1" u="none" strike="noStrike" dirty="0">
                          <a:effectLst/>
                        </a:rPr>
                        <a:t>100</a:t>
                      </a:r>
                      <a:endParaRPr lang="he-IL" sz="1400" b="1" i="0" u="none" strike="noStrike" dirty="0">
                        <a:solidFill>
                          <a:srgbClr val="000000"/>
                        </a:solidFill>
                        <a:effectLst/>
                        <a:latin typeface="Arial" panose="020B0604020202020204" pitchFamily="34" charset="0"/>
                      </a:endParaRPr>
                    </a:p>
                  </a:txBody>
                  <a:tcPr marL="8332" marR="8332" marT="8332" marB="0" anchor="b">
                    <a:solidFill>
                      <a:srgbClr val="F5DEF6"/>
                    </a:solidFill>
                  </a:tcPr>
                </a:tc>
                <a:tc>
                  <a:txBody>
                    <a:bodyPr/>
                    <a:lstStyle/>
                    <a:p>
                      <a:pPr algn="ctr"/>
                      <a:r>
                        <a:rPr lang="en-US" dirty="0">
                          <a:latin typeface="Arial" panose="020B0604020202020204" pitchFamily="34" charset="0"/>
                          <a:cs typeface="Arial" panose="020B0604020202020204" pitchFamily="34" charset="0"/>
                        </a:rPr>
                        <a:t>370</a:t>
                      </a:r>
                      <a:endParaRPr lang="en-IL" dirty="0">
                        <a:latin typeface="Arial" panose="020B0604020202020204" pitchFamily="34" charset="0"/>
                        <a:cs typeface="Arial" panose="020B0604020202020204" pitchFamily="34" charset="0"/>
                      </a:endParaRPr>
                    </a:p>
                  </a:txBody>
                  <a:tcPr>
                    <a:solidFill>
                      <a:srgbClr val="F5DEF6"/>
                    </a:solidFill>
                  </a:tcPr>
                </a:tc>
                <a:tc>
                  <a:txBody>
                    <a:bodyPr/>
                    <a:lstStyle/>
                    <a:p>
                      <a:pPr algn="ctr"/>
                      <a:r>
                        <a:rPr lang="en-US" dirty="0"/>
                        <a:t>6</a:t>
                      </a:r>
                      <a:endParaRPr lang="en-IL" dirty="0"/>
                    </a:p>
                  </a:txBody>
                  <a:tcPr>
                    <a:solidFill>
                      <a:srgbClr val="F5DEF6"/>
                    </a:solidFill>
                  </a:tcPr>
                </a:tc>
                <a:extLst>
                  <a:ext uri="{0D108BD9-81ED-4DB2-BD59-A6C34878D82A}">
                    <a16:rowId xmlns:a16="http://schemas.microsoft.com/office/drawing/2014/main" val="774215678"/>
                  </a:ext>
                </a:extLst>
              </a:tr>
              <a:tr h="349807">
                <a:tc>
                  <a:txBody>
                    <a:bodyPr/>
                    <a:lstStyle/>
                    <a:p>
                      <a:pPr algn="ctr"/>
                      <a:endParaRPr lang="en-IL" dirty="0"/>
                    </a:p>
                  </a:txBody>
                  <a:tcPr/>
                </a:tc>
                <a:tc>
                  <a:txBody>
                    <a:bodyPr/>
                    <a:lstStyle/>
                    <a:p>
                      <a:pPr algn="ctr" rtl="1" fontAlgn="b"/>
                      <a:r>
                        <a:rPr lang="he-IL" sz="1400" b="1" u="none" strike="noStrike" dirty="0">
                          <a:effectLst/>
                        </a:rPr>
                        <a:t>110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latin typeface="Arial" panose="020B0604020202020204" pitchFamily="34" charset="0"/>
                          <a:cs typeface="Arial" panose="020B0604020202020204" pitchFamily="34" charset="0"/>
                        </a:rPr>
                        <a:t>480</a:t>
                      </a:r>
                      <a:endParaRPr lang="en-IL" dirty="0">
                        <a:latin typeface="Arial" panose="020B0604020202020204" pitchFamily="34" charset="0"/>
                        <a:cs typeface="Arial" panose="020B0604020202020204" pitchFamily="34" charset="0"/>
                      </a:endParaRPr>
                    </a:p>
                  </a:txBody>
                  <a:tcPr/>
                </a:tc>
                <a:tc>
                  <a:txBody>
                    <a:bodyPr/>
                    <a:lstStyle/>
                    <a:p>
                      <a:pPr algn="ctr"/>
                      <a:r>
                        <a:rPr lang="en-US" dirty="0"/>
                        <a:t>7</a:t>
                      </a:r>
                      <a:endParaRPr lang="en-IL" dirty="0"/>
                    </a:p>
                  </a:txBody>
                  <a:tcPr/>
                </a:tc>
                <a:extLst>
                  <a:ext uri="{0D108BD9-81ED-4DB2-BD59-A6C34878D82A}">
                    <a16:rowId xmlns:a16="http://schemas.microsoft.com/office/drawing/2014/main" val="3621824598"/>
                  </a:ext>
                </a:extLst>
              </a:tr>
              <a:tr h="349807">
                <a:tc>
                  <a:txBody>
                    <a:bodyPr/>
                    <a:lstStyle/>
                    <a:p>
                      <a:pPr algn="ctr"/>
                      <a:endParaRPr lang="en-IL" dirty="0"/>
                    </a:p>
                  </a:txBody>
                  <a:tcPr>
                    <a:solidFill>
                      <a:srgbClr val="F5DEF6"/>
                    </a:solidFill>
                  </a:tcPr>
                </a:tc>
                <a:tc>
                  <a:txBody>
                    <a:bodyPr/>
                    <a:lstStyle/>
                    <a:p>
                      <a:pPr algn="ctr" rtl="1" fontAlgn="b"/>
                      <a:r>
                        <a:rPr lang="he-IL" sz="1400" b="1" i="0" u="none" strike="noStrike" dirty="0">
                          <a:solidFill>
                            <a:srgbClr val="000000"/>
                          </a:solidFill>
                          <a:effectLst/>
                          <a:latin typeface="Arial" panose="020B0604020202020204" pitchFamily="34" charset="0"/>
                        </a:rPr>
                        <a:t>130</a:t>
                      </a:r>
                    </a:p>
                  </a:txBody>
                  <a:tcPr marL="8332" marR="8332" marT="8332" marB="0" anchor="b">
                    <a:solidFill>
                      <a:srgbClr val="F5DEF6"/>
                    </a:solidFill>
                  </a:tcPr>
                </a:tc>
                <a:tc>
                  <a:txBody>
                    <a:bodyPr/>
                    <a:lstStyle/>
                    <a:p>
                      <a:pPr algn="ctr"/>
                      <a:r>
                        <a:rPr lang="he-IL" dirty="0">
                          <a:latin typeface="Arial" panose="020B0604020202020204" pitchFamily="34" charset="0"/>
                          <a:cs typeface="Arial" panose="020B0604020202020204" pitchFamily="34" charset="0"/>
                        </a:rPr>
                        <a:t>610</a:t>
                      </a:r>
                      <a:endParaRPr lang="en-IL" dirty="0">
                        <a:latin typeface="Arial" panose="020B0604020202020204" pitchFamily="34" charset="0"/>
                        <a:cs typeface="Arial" panose="020B0604020202020204" pitchFamily="34" charset="0"/>
                      </a:endParaRPr>
                    </a:p>
                  </a:txBody>
                  <a:tcPr>
                    <a:solidFill>
                      <a:srgbClr val="F5DEF6"/>
                    </a:solidFill>
                  </a:tcPr>
                </a:tc>
                <a:tc>
                  <a:txBody>
                    <a:bodyPr/>
                    <a:lstStyle/>
                    <a:p>
                      <a:pPr algn="ctr"/>
                      <a:r>
                        <a:rPr lang="he-IL" dirty="0"/>
                        <a:t>8</a:t>
                      </a:r>
                      <a:endParaRPr lang="en-IL" dirty="0"/>
                    </a:p>
                  </a:txBody>
                  <a:tcPr>
                    <a:solidFill>
                      <a:srgbClr val="F5DEF6"/>
                    </a:solidFill>
                  </a:tcPr>
                </a:tc>
                <a:extLst>
                  <a:ext uri="{0D108BD9-81ED-4DB2-BD59-A6C34878D82A}">
                    <a16:rowId xmlns:a16="http://schemas.microsoft.com/office/drawing/2014/main" val="1058415926"/>
                  </a:ext>
                </a:extLst>
              </a:tr>
            </a:tbl>
          </a:graphicData>
        </a:graphic>
      </p:graphicFrame>
      <p:sp>
        <p:nvSpPr>
          <p:cNvPr id="11" name="TextBox 10">
            <a:extLst>
              <a:ext uri="{FF2B5EF4-FFF2-40B4-BE49-F238E27FC236}">
                <a16:creationId xmlns:a16="http://schemas.microsoft.com/office/drawing/2014/main" id="{3BCADBEF-575C-469E-97AD-6DB6517E862C}"/>
              </a:ext>
            </a:extLst>
          </p:cNvPr>
          <p:cNvSpPr txBox="1"/>
          <p:nvPr/>
        </p:nvSpPr>
        <p:spPr>
          <a:xfrm>
            <a:off x="6905892" y="237617"/>
            <a:ext cx="1523934" cy="369332"/>
          </a:xfrm>
          <a:prstGeom prst="rect">
            <a:avLst/>
          </a:prstGeom>
          <a:noFill/>
        </p:spPr>
        <p:txBody>
          <a:bodyPr wrap="square">
            <a:spAutoFit/>
          </a:bodyPr>
          <a:lstStyle/>
          <a:p>
            <a:pPr algn="ctr" rtl="1" fontAlgn="ctr"/>
            <a:r>
              <a:rPr lang="he-IL" sz="1800" u="none" strike="noStrike" dirty="0">
                <a:solidFill>
                  <a:srgbClr val="FF00FF"/>
                </a:solidFill>
                <a:effectLst/>
              </a:rPr>
              <a:t>טכנולוגיה א'</a:t>
            </a:r>
            <a:endParaRPr lang="he-IL" sz="1800" b="0" i="0" u="none" strike="noStrike" dirty="0">
              <a:solidFill>
                <a:srgbClr val="FF00FF"/>
              </a:solidFill>
              <a:effectLst/>
              <a:latin typeface="Arial" panose="020B0604020202020204" pitchFamily="34" charset="0"/>
            </a:endParaRPr>
          </a:p>
        </p:txBody>
      </p:sp>
      <p:sp>
        <p:nvSpPr>
          <p:cNvPr id="13" name="TextBox 12">
            <a:extLst>
              <a:ext uri="{FF2B5EF4-FFF2-40B4-BE49-F238E27FC236}">
                <a16:creationId xmlns:a16="http://schemas.microsoft.com/office/drawing/2014/main" id="{451B9906-C744-4F35-904F-D423E81230F4}"/>
              </a:ext>
            </a:extLst>
          </p:cNvPr>
          <p:cNvSpPr txBox="1"/>
          <p:nvPr/>
        </p:nvSpPr>
        <p:spPr>
          <a:xfrm>
            <a:off x="2819433" y="237617"/>
            <a:ext cx="1523934" cy="369332"/>
          </a:xfrm>
          <a:prstGeom prst="rect">
            <a:avLst/>
          </a:prstGeom>
          <a:noFill/>
          <a:ln>
            <a:solidFill>
              <a:schemeClr val="bg1"/>
            </a:solidFill>
          </a:ln>
        </p:spPr>
        <p:txBody>
          <a:bodyPr wrap="square">
            <a:spAutoFit/>
          </a:bodyPr>
          <a:lstStyle/>
          <a:p>
            <a:pPr algn="ctr" rtl="1" fontAlgn="ctr"/>
            <a:r>
              <a:rPr lang="he-IL" sz="1800" u="none" strike="noStrike" dirty="0">
                <a:solidFill>
                  <a:schemeClr val="accent1"/>
                </a:solidFill>
                <a:effectLst/>
              </a:rPr>
              <a:t>טכנולוגיה ב'</a:t>
            </a:r>
            <a:endParaRPr lang="he-IL" sz="1800" b="0" i="0" u="none" strike="noStrike" dirty="0">
              <a:solidFill>
                <a:schemeClr val="accent1"/>
              </a:solidFill>
              <a:effectLst/>
              <a:latin typeface="Arial" panose="020B0604020202020204" pitchFamily="34" charset="0"/>
            </a:endParaRPr>
          </a:p>
        </p:txBody>
      </p:sp>
      <p:graphicFrame>
        <p:nvGraphicFramePr>
          <p:cNvPr id="14" name="Table 6">
            <a:extLst>
              <a:ext uri="{FF2B5EF4-FFF2-40B4-BE49-F238E27FC236}">
                <a16:creationId xmlns:a16="http://schemas.microsoft.com/office/drawing/2014/main" id="{A6F347B5-9FB6-40CD-87A9-1E5DCD90DFAB}"/>
              </a:ext>
            </a:extLst>
          </p:cNvPr>
          <p:cNvGraphicFramePr>
            <a:graphicFrameLocks noGrp="1"/>
          </p:cNvGraphicFramePr>
          <p:nvPr/>
        </p:nvGraphicFramePr>
        <p:xfrm>
          <a:off x="708951" y="605643"/>
          <a:ext cx="4135796" cy="4206240"/>
        </p:xfrm>
        <a:graphic>
          <a:graphicData uri="http://schemas.openxmlformats.org/drawingml/2006/table">
            <a:tbl>
              <a:tblPr firstRow="1" bandRow="1">
                <a:tableStyleId>{5C22544A-7EE6-4342-B048-85BDC9FD1C3A}</a:tableStyleId>
              </a:tblPr>
              <a:tblGrid>
                <a:gridCol w="1908129">
                  <a:extLst>
                    <a:ext uri="{9D8B030D-6E8A-4147-A177-3AD203B41FA5}">
                      <a16:colId xmlns:a16="http://schemas.microsoft.com/office/drawing/2014/main" val="877989887"/>
                    </a:ext>
                  </a:extLst>
                </a:gridCol>
                <a:gridCol w="829613">
                  <a:extLst>
                    <a:ext uri="{9D8B030D-6E8A-4147-A177-3AD203B41FA5}">
                      <a16:colId xmlns:a16="http://schemas.microsoft.com/office/drawing/2014/main" val="2893910380"/>
                    </a:ext>
                  </a:extLst>
                </a:gridCol>
                <a:gridCol w="608384">
                  <a:extLst>
                    <a:ext uri="{9D8B030D-6E8A-4147-A177-3AD203B41FA5}">
                      <a16:colId xmlns:a16="http://schemas.microsoft.com/office/drawing/2014/main" val="4127186392"/>
                    </a:ext>
                  </a:extLst>
                </a:gridCol>
                <a:gridCol w="789670">
                  <a:extLst>
                    <a:ext uri="{9D8B030D-6E8A-4147-A177-3AD203B41FA5}">
                      <a16:colId xmlns:a16="http://schemas.microsoft.com/office/drawing/2014/main" val="250261459"/>
                    </a:ext>
                  </a:extLst>
                </a:gridCol>
              </a:tblGrid>
              <a:tr h="867284">
                <a:tc>
                  <a:txBody>
                    <a:bodyPr/>
                    <a:lstStyle/>
                    <a:p>
                      <a:pPr algn="ctr"/>
                      <a:r>
                        <a:rPr lang="he-IL" dirty="0"/>
                        <a:t>רווח נקי</a:t>
                      </a:r>
                    </a:p>
                    <a:p>
                      <a:pPr algn="ctr"/>
                      <a:r>
                        <a:rPr lang="en-US" dirty="0"/>
                        <a:t>P*X-TC</a:t>
                      </a:r>
                      <a:endParaRPr lang="en-IL" dirty="0"/>
                    </a:p>
                  </a:txBody>
                  <a:tcPr>
                    <a:solidFill>
                      <a:schemeClr val="accent1"/>
                    </a:solidFill>
                  </a:tcPr>
                </a:tc>
                <a:tc>
                  <a:txBody>
                    <a:bodyPr/>
                    <a:lstStyle/>
                    <a:p>
                      <a:pPr algn="ctr"/>
                      <a:r>
                        <a:rPr lang="en-US" dirty="0"/>
                        <a:t>MC</a:t>
                      </a:r>
                      <a:endParaRPr lang="en-IL" dirty="0"/>
                    </a:p>
                  </a:txBody>
                  <a:tcPr>
                    <a:solidFill>
                      <a:schemeClr val="accent1"/>
                    </a:solidFill>
                  </a:tcPr>
                </a:tc>
                <a:tc>
                  <a:txBody>
                    <a:bodyPr/>
                    <a:lstStyle/>
                    <a:p>
                      <a:pPr algn="ctr"/>
                      <a:r>
                        <a:rPr lang="en-US" dirty="0"/>
                        <a:t>TC</a:t>
                      </a:r>
                      <a:endParaRPr lang="en-IL" dirty="0"/>
                    </a:p>
                  </a:txBody>
                  <a:tcPr>
                    <a:solidFill>
                      <a:schemeClr val="accent1"/>
                    </a:solidFill>
                  </a:tcPr>
                </a:tc>
                <a:tc>
                  <a:txBody>
                    <a:bodyPr/>
                    <a:lstStyle/>
                    <a:p>
                      <a:pPr algn="ctr" rtl="1"/>
                      <a:r>
                        <a:rPr lang="he-IL" dirty="0"/>
                        <a:t>כמות מיוצרת </a:t>
                      </a:r>
                      <a:r>
                        <a:rPr lang="en-US" dirty="0"/>
                        <a:t>X</a:t>
                      </a:r>
                      <a:endParaRPr lang="en-IL" dirty="0"/>
                    </a:p>
                  </a:txBody>
                  <a:tcPr>
                    <a:solidFill>
                      <a:schemeClr val="accent1"/>
                    </a:solidFill>
                  </a:tcPr>
                </a:tc>
                <a:extLst>
                  <a:ext uri="{0D108BD9-81ED-4DB2-BD59-A6C34878D82A}">
                    <a16:rowId xmlns:a16="http://schemas.microsoft.com/office/drawing/2014/main" val="2821387179"/>
                  </a:ext>
                </a:extLst>
              </a:tr>
              <a:tr h="346914">
                <a:tc>
                  <a:txBody>
                    <a:bodyPr/>
                    <a:lstStyle/>
                    <a:p>
                      <a:pPr algn="ctr"/>
                      <a:endParaRPr lang="en-IL" dirty="0"/>
                    </a:p>
                  </a:txBody>
                  <a:tcPr>
                    <a:solidFill>
                      <a:schemeClr val="accent1">
                        <a:lumMod val="20000"/>
                        <a:lumOff val="80000"/>
                      </a:schemeClr>
                    </a:solidFill>
                  </a:tcPr>
                </a:tc>
                <a:tc>
                  <a:txBody>
                    <a:bodyPr/>
                    <a:lstStyle/>
                    <a:p>
                      <a:pPr algn="ctr"/>
                      <a:r>
                        <a:rPr lang="he-IL" dirty="0"/>
                        <a:t>-</a:t>
                      </a:r>
                      <a:endParaRPr lang="en-IL" dirty="0"/>
                    </a:p>
                  </a:txBody>
                  <a:tcPr>
                    <a:solidFill>
                      <a:schemeClr val="accent1">
                        <a:lumMod val="20000"/>
                        <a:lumOff val="80000"/>
                      </a:schemeClr>
                    </a:solidFill>
                  </a:tcPr>
                </a:tc>
                <a:tc>
                  <a:txBody>
                    <a:bodyPr/>
                    <a:lstStyle/>
                    <a:p>
                      <a:pPr algn="ctr"/>
                      <a:r>
                        <a:rPr lang="en-US" dirty="0"/>
                        <a:t>200</a:t>
                      </a:r>
                      <a:endParaRPr lang="en-IL" dirty="0"/>
                    </a:p>
                  </a:txBody>
                  <a:tcPr>
                    <a:solidFill>
                      <a:schemeClr val="accent1">
                        <a:lumMod val="20000"/>
                        <a:lumOff val="80000"/>
                      </a:schemeClr>
                    </a:solidFill>
                  </a:tcPr>
                </a:tc>
                <a:tc>
                  <a:txBody>
                    <a:bodyPr/>
                    <a:lstStyle/>
                    <a:p>
                      <a:pPr algn="ctr"/>
                      <a:r>
                        <a:rPr lang="en-US" dirty="0"/>
                        <a:t>0</a:t>
                      </a:r>
                      <a:endParaRPr lang="en-IL" dirty="0"/>
                    </a:p>
                  </a:txBody>
                  <a:tcPr>
                    <a:solidFill>
                      <a:schemeClr val="accent1">
                        <a:lumMod val="20000"/>
                        <a:lumOff val="80000"/>
                      </a:schemeClr>
                    </a:solidFill>
                  </a:tcPr>
                </a:tc>
                <a:extLst>
                  <a:ext uri="{0D108BD9-81ED-4DB2-BD59-A6C34878D82A}">
                    <a16:rowId xmlns:a16="http://schemas.microsoft.com/office/drawing/2014/main" val="90168298"/>
                  </a:ext>
                </a:extLst>
              </a:tr>
              <a:tr h="346914">
                <a:tc>
                  <a:txBody>
                    <a:bodyPr/>
                    <a:lstStyle/>
                    <a:p>
                      <a:pPr algn="ctr"/>
                      <a:endParaRPr lang="en-IL" dirty="0"/>
                    </a:p>
                  </a:txBody>
                  <a:tcPr/>
                </a:tc>
                <a:tc>
                  <a:txBody>
                    <a:bodyPr/>
                    <a:lstStyle/>
                    <a:p>
                      <a:pPr algn="ctr" rtl="0" fontAlgn="b"/>
                      <a:r>
                        <a:rPr lang="he-IL" sz="1400" b="1" u="none" strike="noStrike" dirty="0">
                          <a:effectLst/>
                        </a:rPr>
                        <a:t>10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t>210</a:t>
                      </a:r>
                      <a:endParaRPr lang="en-IL" dirty="0"/>
                    </a:p>
                  </a:txBody>
                  <a:tcPr/>
                </a:tc>
                <a:tc>
                  <a:txBody>
                    <a:bodyPr/>
                    <a:lstStyle/>
                    <a:p>
                      <a:pPr algn="ctr"/>
                      <a:r>
                        <a:rPr lang="en-US" dirty="0"/>
                        <a:t>1</a:t>
                      </a:r>
                      <a:endParaRPr lang="en-IL" dirty="0"/>
                    </a:p>
                  </a:txBody>
                  <a:tcPr/>
                </a:tc>
                <a:extLst>
                  <a:ext uri="{0D108BD9-81ED-4DB2-BD59-A6C34878D82A}">
                    <a16:rowId xmlns:a16="http://schemas.microsoft.com/office/drawing/2014/main" val="1110799114"/>
                  </a:ext>
                </a:extLst>
              </a:tr>
              <a:tr h="346914">
                <a:tc>
                  <a:txBody>
                    <a:bodyPr/>
                    <a:lstStyle/>
                    <a:p>
                      <a:pPr algn="ctr"/>
                      <a:endParaRPr lang="en-IL" dirty="0"/>
                    </a:p>
                  </a:txBody>
                  <a:tcPr>
                    <a:solidFill>
                      <a:schemeClr val="accent1">
                        <a:lumMod val="20000"/>
                        <a:lumOff val="80000"/>
                      </a:schemeClr>
                    </a:solidFill>
                  </a:tcPr>
                </a:tc>
                <a:tc>
                  <a:txBody>
                    <a:bodyPr/>
                    <a:lstStyle/>
                    <a:p>
                      <a:pPr algn="ctr" rtl="0" fontAlgn="b"/>
                      <a:r>
                        <a:rPr lang="he-IL" sz="1400" b="1" u="none" strike="noStrike" dirty="0">
                          <a:effectLst/>
                        </a:rPr>
                        <a:t>20</a:t>
                      </a:r>
                      <a:endParaRPr lang="he-IL" sz="1400" b="1" i="0" u="none" strike="noStrike" dirty="0">
                        <a:solidFill>
                          <a:srgbClr val="000000"/>
                        </a:solidFill>
                        <a:effectLst/>
                        <a:latin typeface="Arial" panose="020B0604020202020204" pitchFamily="34" charset="0"/>
                      </a:endParaRPr>
                    </a:p>
                  </a:txBody>
                  <a:tcPr marL="8332" marR="8332" marT="8332" marB="0" anchor="b">
                    <a:solidFill>
                      <a:schemeClr val="accent1">
                        <a:lumMod val="20000"/>
                        <a:lumOff val="80000"/>
                      </a:schemeClr>
                    </a:solidFill>
                  </a:tcPr>
                </a:tc>
                <a:tc>
                  <a:txBody>
                    <a:bodyPr/>
                    <a:lstStyle/>
                    <a:p>
                      <a:pPr algn="ctr"/>
                      <a:r>
                        <a:rPr lang="en-US" dirty="0"/>
                        <a:t>230</a:t>
                      </a:r>
                      <a:endParaRPr lang="en-IL" dirty="0"/>
                    </a:p>
                  </a:txBody>
                  <a:tcPr>
                    <a:solidFill>
                      <a:schemeClr val="accent1">
                        <a:lumMod val="20000"/>
                        <a:lumOff val="80000"/>
                      </a:schemeClr>
                    </a:solidFill>
                  </a:tcPr>
                </a:tc>
                <a:tc>
                  <a:txBody>
                    <a:bodyPr/>
                    <a:lstStyle/>
                    <a:p>
                      <a:pPr algn="ctr"/>
                      <a:r>
                        <a:rPr lang="en-US" dirty="0"/>
                        <a:t>2</a:t>
                      </a:r>
                      <a:endParaRPr lang="en-IL" dirty="0"/>
                    </a:p>
                  </a:txBody>
                  <a:tcPr>
                    <a:solidFill>
                      <a:schemeClr val="accent1">
                        <a:lumMod val="20000"/>
                        <a:lumOff val="80000"/>
                      </a:schemeClr>
                    </a:solidFill>
                  </a:tcPr>
                </a:tc>
                <a:extLst>
                  <a:ext uri="{0D108BD9-81ED-4DB2-BD59-A6C34878D82A}">
                    <a16:rowId xmlns:a16="http://schemas.microsoft.com/office/drawing/2014/main" val="3140096073"/>
                  </a:ext>
                </a:extLst>
              </a:tr>
              <a:tr h="346914">
                <a:tc>
                  <a:txBody>
                    <a:bodyPr/>
                    <a:lstStyle/>
                    <a:p>
                      <a:pPr algn="ctr"/>
                      <a:endParaRPr lang="en-IL" dirty="0"/>
                    </a:p>
                  </a:txBody>
                  <a:tcPr/>
                </a:tc>
                <a:tc>
                  <a:txBody>
                    <a:bodyPr/>
                    <a:lstStyle/>
                    <a:p>
                      <a:pPr algn="ctr" rtl="0" fontAlgn="b"/>
                      <a:r>
                        <a:rPr lang="he-IL" sz="1400" b="1" u="none" strike="noStrike" dirty="0">
                          <a:effectLst/>
                        </a:rPr>
                        <a:t>25</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t>255</a:t>
                      </a:r>
                      <a:endParaRPr lang="en-IL" dirty="0"/>
                    </a:p>
                  </a:txBody>
                  <a:tcPr/>
                </a:tc>
                <a:tc>
                  <a:txBody>
                    <a:bodyPr/>
                    <a:lstStyle/>
                    <a:p>
                      <a:pPr algn="ctr"/>
                      <a:r>
                        <a:rPr lang="en-US" dirty="0"/>
                        <a:t>3</a:t>
                      </a:r>
                      <a:endParaRPr lang="en-IL" dirty="0"/>
                    </a:p>
                  </a:txBody>
                  <a:tcPr/>
                </a:tc>
                <a:extLst>
                  <a:ext uri="{0D108BD9-81ED-4DB2-BD59-A6C34878D82A}">
                    <a16:rowId xmlns:a16="http://schemas.microsoft.com/office/drawing/2014/main" val="2363313943"/>
                  </a:ext>
                </a:extLst>
              </a:tr>
              <a:tr h="346914">
                <a:tc>
                  <a:txBody>
                    <a:bodyPr/>
                    <a:lstStyle/>
                    <a:p>
                      <a:pPr algn="ctr"/>
                      <a:endParaRPr lang="en-IL" dirty="0"/>
                    </a:p>
                  </a:txBody>
                  <a:tcPr>
                    <a:solidFill>
                      <a:schemeClr val="accent1">
                        <a:lumMod val="20000"/>
                        <a:lumOff val="80000"/>
                      </a:schemeClr>
                    </a:solidFill>
                  </a:tcPr>
                </a:tc>
                <a:tc>
                  <a:txBody>
                    <a:bodyPr/>
                    <a:lstStyle/>
                    <a:p>
                      <a:pPr algn="ctr" rtl="0" fontAlgn="b"/>
                      <a:r>
                        <a:rPr lang="he-IL" sz="1400" b="1" u="none" strike="noStrike" dirty="0">
                          <a:effectLst/>
                        </a:rPr>
                        <a:t>35</a:t>
                      </a:r>
                      <a:endParaRPr lang="he-IL" sz="1400" b="1" i="0" u="none" strike="noStrike" dirty="0">
                        <a:solidFill>
                          <a:srgbClr val="000000"/>
                        </a:solidFill>
                        <a:effectLst/>
                        <a:latin typeface="Arial" panose="020B0604020202020204" pitchFamily="34" charset="0"/>
                      </a:endParaRPr>
                    </a:p>
                  </a:txBody>
                  <a:tcPr marL="8332" marR="8332" marT="8332" marB="0" anchor="b">
                    <a:solidFill>
                      <a:schemeClr val="accent1">
                        <a:lumMod val="20000"/>
                        <a:lumOff val="80000"/>
                      </a:schemeClr>
                    </a:solidFill>
                  </a:tcPr>
                </a:tc>
                <a:tc>
                  <a:txBody>
                    <a:bodyPr/>
                    <a:lstStyle/>
                    <a:p>
                      <a:pPr algn="ctr"/>
                      <a:r>
                        <a:rPr lang="en-US" dirty="0"/>
                        <a:t>290</a:t>
                      </a:r>
                      <a:endParaRPr lang="en-IL" dirty="0"/>
                    </a:p>
                  </a:txBody>
                  <a:tcPr>
                    <a:solidFill>
                      <a:schemeClr val="accent1">
                        <a:lumMod val="20000"/>
                        <a:lumOff val="80000"/>
                      </a:schemeClr>
                    </a:solidFill>
                  </a:tcPr>
                </a:tc>
                <a:tc>
                  <a:txBody>
                    <a:bodyPr/>
                    <a:lstStyle/>
                    <a:p>
                      <a:pPr algn="ctr"/>
                      <a:r>
                        <a:rPr lang="en-US" dirty="0"/>
                        <a:t>4</a:t>
                      </a:r>
                      <a:endParaRPr lang="en-IL" dirty="0"/>
                    </a:p>
                  </a:txBody>
                  <a:tcPr>
                    <a:solidFill>
                      <a:schemeClr val="accent1">
                        <a:lumMod val="20000"/>
                        <a:lumOff val="80000"/>
                      </a:schemeClr>
                    </a:solidFill>
                  </a:tcPr>
                </a:tc>
                <a:extLst>
                  <a:ext uri="{0D108BD9-81ED-4DB2-BD59-A6C34878D82A}">
                    <a16:rowId xmlns:a16="http://schemas.microsoft.com/office/drawing/2014/main" val="3086807375"/>
                  </a:ext>
                </a:extLst>
              </a:tr>
              <a:tr h="346914">
                <a:tc>
                  <a:txBody>
                    <a:bodyPr/>
                    <a:lstStyle/>
                    <a:p>
                      <a:pPr algn="ctr"/>
                      <a:endParaRPr lang="en-IL" dirty="0"/>
                    </a:p>
                  </a:txBody>
                  <a:tcPr/>
                </a:tc>
                <a:tc>
                  <a:txBody>
                    <a:bodyPr/>
                    <a:lstStyle/>
                    <a:p>
                      <a:pPr algn="ctr" rtl="0" fontAlgn="b"/>
                      <a:r>
                        <a:rPr lang="he-IL" sz="1400" b="1" u="none" strike="noStrike" dirty="0">
                          <a:effectLst/>
                        </a:rPr>
                        <a:t>40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t>330</a:t>
                      </a:r>
                      <a:endParaRPr lang="en-IL" dirty="0"/>
                    </a:p>
                  </a:txBody>
                  <a:tcPr/>
                </a:tc>
                <a:tc>
                  <a:txBody>
                    <a:bodyPr/>
                    <a:lstStyle/>
                    <a:p>
                      <a:pPr algn="ctr"/>
                      <a:r>
                        <a:rPr lang="en-US" dirty="0"/>
                        <a:t>5</a:t>
                      </a:r>
                      <a:endParaRPr lang="en-IL" dirty="0"/>
                    </a:p>
                  </a:txBody>
                  <a:tcPr/>
                </a:tc>
                <a:extLst>
                  <a:ext uri="{0D108BD9-81ED-4DB2-BD59-A6C34878D82A}">
                    <a16:rowId xmlns:a16="http://schemas.microsoft.com/office/drawing/2014/main" val="2488581084"/>
                  </a:ext>
                </a:extLst>
              </a:tr>
              <a:tr h="346914">
                <a:tc>
                  <a:txBody>
                    <a:bodyPr/>
                    <a:lstStyle/>
                    <a:p>
                      <a:pPr algn="ctr"/>
                      <a:endParaRPr lang="en-IL" dirty="0"/>
                    </a:p>
                  </a:txBody>
                  <a:tcPr>
                    <a:solidFill>
                      <a:schemeClr val="accent1">
                        <a:lumMod val="20000"/>
                        <a:lumOff val="80000"/>
                      </a:schemeClr>
                    </a:solidFill>
                  </a:tcPr>
                </a:tc>
                <a:tc>
                  <a:txBody>
                    <a:bodyPr/>
                    <a:lstStyle/>
                    <a:p>
                      <a:pPr algn="ctr" rtl="0" fontAlgn="b"/>
                      <a:r>
                        <a:rPr lang="he-IL" sz="1400" b="1" u="none" strike="noStrike" dirty="0">
                          <a:effectLst/>
                        </a:rPr>
                        <a:t>45</a:t>
                      </a:r>
                      <a:endParaRPr lang="he-IL" sz="1400" b="1" i="0" u="none" strike="noStrike" dirty="0">
                        <a:solidFill>
                          <a:srgbClr val="000000"/>
                        </a:solidFill>
                        <a:effectLst/>
                        <a:latin typeface="Arial" panose="020B0604020202020204" pitchFamily="34" charset="0"/>
                      </a:endParaRPr>
                    </a:p>
                  </a:txBody>
                  <a:tcPr marL="8332" marR="8332" marT="8332" marB="0" anchor="b">
                    <a:solidFill>
                      <a:schemeClr val="accent1">
                        <a:lumMod val="20000"/>
                        <a:lumOff val="80000"/>
                      </a:schemeClr>
                    </a:solidFill>
                  </a:tcPr>
                </a:tc>
                <a:tc>
                  <a:txBody>
                    <a:bodyPr/>
                    <a:lstStyle/>
                    <a:p>
                      <a:pPr algn="ctr"/>
                      <a:r>
                        <a:rPr lang="en-US" dirty="0"/>
                        <a:t>375</a:t>
                      </a:r>
                      <a:endParaRPr lang="en-IL" dirty="0"/>
                    </a:p>
                  </a:txBody>
                  <a:tcPr>
                    <a:solidFill>
                      <a:schemeClr val="accent1">
                        <a:lumMod val="20000"/>
                        <a:lumOff val="80000"/>
                      </a:schemeClr>
                    </a:solidFill>
                  </a:tcPr>
                </a:tc>
                <a:tc>
                  <a:txBody>
                    <a:bodyPr/>
                    <a:lstStyle/>
                    <a:p>
                      <a:pPr algn="ctr"/>
                      <a:r>
                        <a:rPr lang="en-US" dirty="0"/>
                        <a:t>6</a:t>
                      </a:r>
                      <a:endParaRPr lang="en-IL" dirty="0"/>
                    </a:p>
                  </a:txBody>
                  <a:tcPr>
                    <a:solidFill>
                      <a:schemeClr val="accent1">
                        <a:lumMod val="20000"/>
                        <a:lumOff val="80000"/>
                      </a:schemeClr>
                    </a:solidFill>
                  </a:tcPr>
                </a:tc>
                <a:extLst>
                  <a:ext uri="{0D108BD9-81ED-4DB2-BD59-A6C34878D82A}">
                    <a16:rowId xmlns:a16="http://schemas.microsoft.com/office/drawing/2014/main" val="774215678"/>
                  </a:ext>
                </a:extLst>
              </a:tr>
              <a:tr h="346914">
                <a:tc>
                  <a:txBody>
                    <a:bodyPr/>
                    <a:lstStyle/>
                    <a:p>
                      <a:pPr algn="ctr"/>
                      <a:endParaRPr lang="en-IL" dirty="0"/>
                    </a:p>
                  </a:txBody>
                  <a:tcPr/>
                </a:tc>
                <a:tc>
                  <a:txBody>
                    <a:bodyPr/>
                    <a:lstStyle/>
                    <a:p>
                      <a:pPr algn="ctr" rtl="0" fontAlgn="b"/>
                      <a:r>
                        <a:rPr lang="he-IL" sz="1400" b="1" u="none" strike="noStrike" dirty="0">
                          <a:effectLst/>
                        </a:rPr>
                        <a:t>50</a:t>
                      </a:r>
                      <a:endParaRPr lang="he-IL" sz="1400" b="1" i="0" u="none" strike="noStrike" dirty="0">
                        <a:solidFill>
                          <a:srgbClr val="000000"/>
                        </a:solidFill>
                        <a:effectLst/>
                        <a:latin typeface="Arial" panose="020B0604020202020204" pitchFamily="34" charset="0"/>
                      </a:endParaRPr>
                    </a:p>
                  </a:txBody>
                  <a:tcPr marL="8332" marR="8332" marT="8332" marB="0" anchor="b"/>
                </a:tc>
                <a:tc>
                  <a:txBody>
                    <a:bodyPr/>
                    <a:lstStyle/>
                    <a:p>
                      <a:pPr algn="ctr"/>
                      <a:r>
                        <a:rPr lang="en-US" dirty="0"/>
                        <a:t>425</a:t>
                      </a:r>
                      <a:endParaRPr lang="en-IL" dirty="0"/>
                    </a:p>
                  </a:txBody>
                  <a:tcPr/>
                </a:tc>
                <a:tc>
                  <a:txBody>
                    <a:bodyPr/>
                    <a:lstStyle/>
                    <a:p>
                      <a:pPr algn="ctr"/>
                      <a:r>
                        <a:rPr lang="en-US" dirty="0"/>
                        <a:t>7</a:t>
                      </a:r>
                      <a:endParaRPr lang="en-IL" dirty="0"/>
                    </a:p>
                  </a:txBody>
                  <a:tcPr/>
                </a:tc>
                <a:extLst>
                  <a:ext uri="{0D108BD9-81ED-4DB2-BD59-A6C34878D82A}">
                    <a16:rowId xmlns:a16="http://schemas.microsoft.com/office/drawing/2014/main" val="3621824598"/>
                  </a:ext>
                </a:extLst>
              </a:tr>
              <a:tr h="346914">
                <a:tc>
                  <a:txBody>
                    <a:bodyPr/>
                    <a:lstStyle/>
                    <a:p>
                      <a:pPr algn="ctr"/>
                      <a:endParaRPr lang="en-IL" dirty="0"/>
                    </a:p>
                  </a:txBody>
                  <a:tcPr/>
                </a:tc>
                <a:tc>
                  <a:txBody>
                    <a:bodyPr/>
                    <a:lstStyle/>
                    <a:p>
                      <a:pPr algn="ctr" rtl="0" fontAlgn="b"/>
                      <a:r>
                        <a:rPr lang="he-IL" sz="1400" b="1" i="0" u="none" strike="noStrike" dirty="0">
                          <a:solidFill>
                            <a:srgbClr val="000000"/>
                          </a:solidFill>
                          <a:effectLst/>
                          <a:latin typeface="Arial" panose="020B0604020202020204" pitchFamily="34" charset="0"/>
                        </a:rPr>
                        <a:t>130</a:t>
                      </a:r>
                    </a:p>
                  </a:txBody>
                  <a:tcPr marL="8332" marR="8332" marT="8332" marB="0" anchor="b"/>
                </a:tc>
                <a:tc>
                  <a:txBody>
                    <a:bodyPr/>
                    <a:lstStyle/>
                    <a:p>
                      <a:pPr algn="ctr"/>
                      <a:r>
                        <a:rPr lang="he-IL" dirty="0"/>
                        <a:t>555</a:t>
                      </a:r>
                      <a:endParaRPr lang="en-IL" dirty="0"/>
                    </a:p>
                  </a:txBody>
                  <a:tcPr/>
                </a:tc>
                <a:tc>
                  <a:txBody>
                    <a:bodyPr/>
                    <a:lstStyle/>
                    <a:p>
                      <a:pPr algn="ctr"/>
                      <a:r>
                        <a:rPr lang="he-IL" dirty="0"/>
                        <a:t>8</a:t>
                      </a:r>
                      <a:endParaRPr lang="en-IL" dirty="0"/>
                    </a:p>
                  </a:txBody>
                  <a:tcPr/>
                </a:tc>
                <a:extLst>
                  <a:ext uri="{0D108BD9-81ED-4DB2-BD59-A6C34878D82A}">
                    <a16:rowId xmlns:a16="http://schemas.microsoft.com/office/drawing/2014/main" val="1064849030"/>
                  </a:ext>
                </a:extLst>
              </a:tr>
            </a:tbl>
          </a:graphicData>
        </a:graphic>
      </p:graphicFrame>
      <p:sp>
        <p:nvSpPr>
          <p:cNvPr id="15" name="מלבן 6">
            <a:extLst>
              <a:ext uri="{FF2B5EF4-FFF2-40B4-BE49-F238E27FC236}">
                <a16:creationId xmlns:a16="http://schemas.microsoft.com/office/drawing/2014/main" id="{FE7977B6-E0B0-4449-8726-4CAE1246CEA4}"/>
              </a:ext>
            </a:extLst>
          </p:cNvPr>
          <p:cNvSpPr/>
          <p:nvPr/>
        </p:nvSpPr>
        <p:spPr>
          <a:xfrm>
            <a:off x="1204674" y="5229317"/>
            <a:ext cx="10870311" cy="1492716"/>
          </a:xfrm>
          <a:prstGeom prst="rect">
            <a:avLst/>
          </a:prstGeom>
        </p:spPr>
        <p:txBody>
          <a:bodyPr wrap="square">
            <a:spAutoFit/>
          </a:bodyPr>
          <a:lstStyle/>
          <a:p>
            <a:pPr lvl="0" algn="r" rtl="1"/>
            <a:r>
              <a:rPr lang="he-IL" sz="1600" dirty="0"/>
              <a:t>א. אם מחיר השוק של מוצר </a:t>
            </a:r>
            <a:r>
              <a:rPr lang="en-US" sz="1600" dirty="0"/>
              <a:t>X</a:t>
            </a:r>
            <a:r>
              <a:rPr lang="he-IL" sz="1600" dirty="0"/>
              <a:t> הוא  </a:t>
            </a:r>
            <a:r>
              <a:rPr lang="en-US" sz="1600" dirty="0"/>
              <a:t>PX=75</a:t>
            </a:r>
            <a:r>
              <a:rPr lang="he-IL" sz="1600" dirty="0"/>
              <a:t> , היצרן יכנס לענף עם  טכנולוגיה א' וייצר 5 יחידות.</a:t>
            </a:r>
            <a:endParaRPr lang="en-US" sz="1600" dirty="0"/>
          </a:p>
          <a:p>
            <a:pPr lvl="0" algn="r" rtl="1"/>
            <a:r>
              <a:rPr lang="he-IL" sz="1600" dirty="0"/>
              <a:t>ב. אם מחיר השוק של מוצר </a:t>
            </a:r>
            <a:r>
              <a:rPr lang="en-US" sz="1600" dirty="0"/>
              <a:t>X</a:t>
            </a:r>
            <a:r>
              <a:rPr lang="he-IL" sz="1600" dirty="0"/>
              <a:t> הוא  </a:t>
            </a:r>
            <a:r>
              <a:rPr lang="en-US" sz="1600" dirty="0"/>
              <a:t>PX=130</a:t>
            </a:r>
            <a:r>
              <a:rPr lang="he-IL" sz="1600" dirty="0"/>
              <a:t> , לא יהיה אכפת ליצרן באיזה טכנולוגיה להשתמש והוא ייצר 8 יחידות</a:t>
            </a:r>
            <a:endParaRPr lang="en-US" sz="1600" dirty="0"/>
          </a:p>
          <a:p>
            <a:pPr lvl="0" algn="r" rtl="1">
              <a:lnSpc>
                <a:spcPct val="150000"/>
              </a:lnSpc>
            </a:pPr>
            <a:r>
              <a:rPr lang="he-IL" dirty="0"/>
              <a:t>ג. אם מחיר השוק של מוצר </a:t>
            </a:r>
            <a:r>
              <a:rPr lang="en-US" dirty="0"/>
              <a:t>X</a:t>
            </a:r>
            <a:r>
              <a:rPr lang="he-IL" dirty="0"/>
              <a:t> הוא  </a:t>
            </a:r>
            <a:r>
              <a:rPr lang="en-US" dirty="0"/>
              <a:t>PX=25</a:t>
            </a:r>
            <a:r>
              <a:rPr lang="he-IL" dirty="0"/>
              <a:t>, היצרן יכנס לענף עם טכנולוגיה א' וייצר 2 יחידות.</a:t>
            </a:r>
            <a:endParaRPr lang="en-US" dirty="0"/>
          </a:p>
          <a:p>
            <a:pPr lvl="0" algn="r" rtl="1"/>
            <a:r>
              <a:rPr lang="he-IL" sz="1600" dirty="0"/>
              <a:t>ד. אם מחיר השוק של מוצר </a:t>
            </a:r>
            <a:r>
              <a:rPr lang="en-US" sz="1600" dirty="0"/>
              <a:t>X</a:t>
            </a:r>
            <a:r>
              <a:rPr lang="he-IL" sz="1600" dirty="0"/>
              <a:t> הוא  </a:t>
            </a:r>
            <a:r>
              <a:rPr lang="en-US" sz="1600" dirty="0"/>
              <a:t>PX=40</a:t>
            </a:r>
            <a:r>
              <a:rPr lang="he-IL" sz="1600" dirty="0"/>
              <a:t>,  היצרן בהכרח יכנס לענף עם טכנולוגיה ב' וייצר 5 יחידות.</a:t>
            </a:r>
            <a:endParaRPr lang="en-US" sz="1600" dirty="0"/>
          </a:p>
          <a:p>
            <a:pPr lvl="0" algn="r" rtl="1"/>
            <a:r>
              <a:rPr lang="he-IL" sz="1600" dirty="0"/>
              <a:t>ה. כל התשובות האחרות אינן נכונות.</a:t>
            </a:r>
            <a:endParaRPr lang="en-US" sz="1600" dirty="0"/>
          </a:p>
        </p:txBody>
      </p:sp>
      <p:sp>
        <p:nvSpPr>
          <p:cNvPr id="18" name="TextBox 17">
            <a:extLst>
              <a:ext uri="{FF2B5EF4-FFF2-40B4-BE49-F238E27FC236}">
                <a16:creationId xmlns:a16="http://schemas.microsoft.com/office/drawing/2014/main" id="{6B381748-8343-4280-A5DF-0D4E3645A4B3}"/>
              </a:ext>
            </a:extLst>
          </p:cNvPr>
          <p:cNvSpPr txBox="1"/>
          <p:nvPr/>
        </p:nvSpPr>
        <p:spPr>
          <a:xfrm>
            <a:off x="6552943" y="2371727"/>
            <a:ext cx="1114916" cy="369332"/>
          </a:xfrm>
          <a:prstGeom prst="rect">
            <a:avLst/>
          </a:prstGeom>
          <a:noFill/>
        </p:spPr>
        <p:txBody>
          <a:bodyPr wrap="square">
            <a:spAutoFit/>
          </a:bodyPr>
          <a:lstStyle/>
          <a:p>
            <a:pPr algn="l" rtl="0"/>
            <a:r>
              <a:rPr lang="en-US" dirty="0">
                <a:highlight>
                  <a:srgbClr val="FFFF00"/>
                </a:highlight>
              </a:rPr>
              <a:t>Px=</a:t>
            </a:r>
            <a:r>
              <a:rPr lang="he-IL" sz="1400" b="1" dirty="0">
                <a:highlight>
                  <a:srgbClr val="FFFF00"/>
                </a:highlight>
              </a:rPr>
              <a:t>25</a:t>
            </a:r>
            <a:r>
              <a:rPr lang="en-US" dirty="0">
                <a:highlight>
                  <a:srgbClr val="FFFF00"/>
                </a:highlight>
              </a:rPr>
              <a:t> </a:t>
            </a:r>
            <a:r>
              <a:rPr lang="en-US" dirty="0">
                <a:highlight>
                  <a:srgbClr val="FFFF00"/>
                </a:highlight>
                <a:latin typeface="Perpetua" panose="02020502060401020303" pitchFamily="18" charset="0"/>
              </a:rPr>
              <a:t>≥</a:t>
            </a:r>
            <a:r>
              <a:rPr lang="he-IL" dirty="0">
                <a:highlight>
                  <a:srgbClr val="FFFF00"/>
                </a:highlight>
              </a:rPr>
              <a:t> </a:t>
            </a:r>
            <a:endParaRPr lang="en-IL" dirty="0">
              <a:highlight>
                <a:srgbClr val="FFFF00"/>
              </a:highlight>
            </a:endParaRPr>
          </a:p>
        </p:txBody>
      </p:sp>
      <p:sp>
        <p:nvSpPr>
          <p:cNvPr id="19" name="TextBox 18">
            <a:extLst>
              <a:ext uri="{FF2B5EF4-FFF2-40B4-BE49-F238E27FC236}">
                <a16:creationId xmlns:a16="http://schemas.microsoft.com/office/drawing/2014/main" id="{E6670D04-2EAD-4B8A-8F5C-94B590F697CF}"/>
              </a:ext>
            </a:extLst>
          </p:cNvPr>
          <p:cNvSpPr txBox="1"/>
          <p:nvPr/>
        </p:nvSpPr>
        <p:spPr>
          <a:xfrm>
            <a:off x="4985589" y="2371727"/>
            <a:ext cx="1567354" cy="338554"/>
          </a:xfrm>
          <a:prstGeom prst="rect">
            <a:avLst/>
          </a:prstGeom>
          <a:noFill/>
        </p:spPr>
        <p:txBody>
          <a:bodyPr wrap="square">
            <a:spAutoFit/>
          </a:bodyPr>
          <a:lstStyle/>
          <a:p>
            <a:r>
              <a:rPr lang="en-US" sz="1400" dirty="0">
                <a:highlight>
                  <a:srgbClr val="00FF00"/>
                </a:highlight>
              </a:rPr>
              <a:t>25*2-110= </a:t>
            </a:r>
            <a:r>
              <a:rPr lang="en-US" sz="1600" b="1" dirty="0">
                <a:highlight>
                  <a:srgbClr val="00FF00"/>
                </a:highlight>
              </a:rPr>
              <a:t>-60</a:t>
            </a:r>
            <a:endParaRPr lang="en-IL" sz="1400" b="1" dirty="0">
              <a:highlight>
                <a:srgbClr val="00FF00"/>
              </a:highlight>
            </a:endParaRPr>
          </a:p>
        </p:txBody>
      </p:sp>
      <p:sp>
        <p:nvSpPr>
          <p:cNvPr id="20" name="TextBox 19">
            <a:extLst>
              <a:ext uri="{FF2B5EF4-FFF2-40B4-BE49-F238E27FC236}">
                <a16:creationId xmlns:a16="http://schemas.microsoft.com/office/drawing/2014/main" id="{9C593E8E-B551-4C25-9562-1D3705C425A3}"/>
              </a:ext>
            </a:extLst>
          </p:cNvPr>
          <p:cNvSpPr txBox="1"/>
          <p:nvPr/>
        </p:nvSpPr>
        <p:spPr>
          <a:xfrm>
            <a:off x="2046417" y="2710281"/>
            <a:ext cx="1114916" cy="369332"/>
          </a:xfrm>
          <a:prstGeom prst="rect">
            <a:avLst/>
          </a:prstGeom>
          <a:noFill/>
        </p:spPr>
        <p:txBody>
          <a:bodyPr wrap="square">
            <a:spAutoFit/>
          </a:bodyPr>
          <a:lstStyle/>
          <a:p>
            <a:pPr algn="l" rtl="0"/>
            <a:r>
              <a:rPr lang="en-US" dirty="0">
                <a:highlight>
                  <a:srgbClr val="FFFF00"/>
                </a:highlight>
              </a:rPr>
              <a:t>Px=</a:t>
            </a:r>
            <a:r>
              <a:rPr lang="he-IL" sz="1400" b="1" dirty="0">
                <a:highlight>
                  <a:srgbClr val="FFFF00"/>
                </a:highlight>
              </a:rPr>
              <a:t> </a:t>
            </a:r>
            <a:r>
              <a:rPr lang="en-US" sz="1400" b="1" dirty="0">
                <a:highlight>
                  <a:srgbClr val="FFFF00"/>
                </a:highlight>
              </a:rPr>
              <a:t>25</a:t>
            </a:r>
            <a:r>
              <a:rPr lang="en-US" sz="1400" dirty="0">
                <a:highlight>
                  <a:srgbClr val="FFFF00"/>
                </a:highlight>
              </a:rPr>
              <a:t> </a:t>
            </a:r>
            <a:r>
              <a:rPr lang="en-US" dirty="0">
                <a:highlight>
                  <a:srgbClr val="FFFF00"/>
                </a:highlight>
                <a:latin typeface="Perpetua" panose="02020502060401020303" pitchFamily="18" charset="0"/>
              </a:rPr>
              <a:t>≥</a:t>
            </a:r>
            <a:r>
              <a:rPr lang="he-IL" dirty="0">
                <a:highlight>
                  <a:srgbClr val="FFFF00"/>
                </a:highlight>
              </a:rPr>
              <a:t> </a:t>
            </a:r>
            <a:endParaRPr lang="en-IL" dirty="0">
              <a:highlight>
                <a:srgbClr val="FFFF00"/>
              </a:highlight>
            </a:endParaRPr>
          </a:p>
        </p:txBody>
      </p:sp>
      <p:sp>
        <p:nvSpPr>
          <p:cNvPr id="21" name="TextBox 20">
            <a:extLst>
              <a:ext uri="{FF2B5EF4-FFF2-40B4-BE49-F238E27FC236}">
                <a16:creationId xmlns:a16="http://schemas.microsoft.com/office/drawing/2014/main" id="{DCB67DDC-8B6A-4620-831E-ED58B37CA41C}"/>
              </a:ext>
            </a:extLst>
          </p:cNvPr>
          <p:cNvSpPr txBox="1"/>
          <p:nvPr/>
        </p:nvSpPr>
        <p:spPr>
          <a:xfrm>
            <a:off x="708951" y="2741059"/>
            <a:ext cx="1391496" cy="338554"/>
          </a:xfrm>
          <a:prstGeom prst="rect">
            <a:avLst/>
          </a:prstGeom>
          <a:noFill/>
        </p:spPr>
        <p:txBody>
          <a:bodyPr wrap="square">
            <a:spAutoFit/>
          </a:bodyPr>
          <a:lstStyle/>
          <a:p>
            <a:pPr algn="l" rtl="0"/>
            <a:r>
              <a:rPr lang="en-US" sz="1400" b="1" dirty="0">
                <a:highlight>
                  <a:srgbClr val="00FF00"/>
                </a:highlight>
              </a:rPr>
              <a:t>25</a:t>
            </a:r>
            <a:r>
              <a:rPr lang="he-IL" sz="1400" b="1" dirty="0">
                <a:highlight>
                  <a:srgbClr val="00FF00"/>
                </a:highlight>
              </a:rPr>
              <a:t>*</a:t>
            </a:r>
            <a:r>
              <a:rPr lang="en-US" sz="1400" b="1" dirty="0">
                <a:highlight>
                  <a:srgbClr val="00FF00"/>
                </a:highlight>
              </a:rPr>
              <a:t>3-255= -</a:t>
            </a:r>
            <a:r>
              <a:rPr lang="en-US" sz="1600" b="1" dirty="0">
                <a:highlight>
                  <a:srgbClr val="00FF00"/>
                </a:highlight>
              </a:rPr>
              <a:t>180</a:t>
            </a:r>
            <a:endParaRPr lang="en-IL" sz="1400" b="1" dirty="0">
              <a:highlight>
                <a:srgbClr val="00FF00"/>
              </a:highlight>
            </a:endParaRPr>
          </a:p>
        </p:txBody>
      </p:sp>
      <p:sp>
        <p:nvSpPr>
          <p:cNvPr id="7" name="TextBox 6">
            <a:extLst>
              <a:ext uri="{FF2B5EF4-FFF2-40B4-BE49-F238E27FC236}">
                <a16:creationId xmlns:a16="http://schemas.microsoft.com/office/drawing/2014/main" id="{CE0E6DB9-DCE6-4E5F-B239-7A56FBFE741A}"/>
              </a:ext>
            </a:extLst>
          </p:cNvPr>
          <p:cNvSpPr txBox="1"/>
          <p:nvPr/>
        </p:nvSpPr>
        <p:spPr>
          <a:xfrm>
            <a:off x="217910" y="5878842"/>
            <a:ext cx="3689452" cy="369332"/>
          </a:xfrm>
          <a:prstGeom prst="rect">
            <a:avLst/>
          </a:prstGeom>
          <a:solidFill>
            <a:srgbClr val="FFC000"/>
          </a:solidFill>
        </p:spPr>
        <p:txBody>
          <a:bodyPr wrap="square" rtlCol="0">
            <a:spAutoFit/>
          </a:bodyPr>
          <a:lstStyle/>
          <a:p>
            <a:pPr algn="r" rtl="1"/>
            <a:r>
              <a:rPr lang="he-IL" dirty="0"/>
              <a:t>ג' תשובה שגויה, היצרן לא יכנס לענף!</a:t>
            </a:r>
            <a:endParaRPr lang="en-IL" dirty="0"/>
          </a:p>
        </p:txBody>
      </p:sp>
    </p:spTree>
    <p:extLst>
      <p:ext uri="{BB962C8B-B14F-4D97-AF65-F5344CB8AC3E}">
        <p14:creationId xmlns:p14="http://schemas.microsoft.com/office/powerpoint/2010/main" val="3256133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inVertic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arn(inVertic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arn(inVertical)">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arn(inVertical)">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7" grpId="0" animBg="1"/>
    </p:bld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כותרת 1"/>
          <p:cNvSpPr>
            <a:spLocks noGrp="1"/>
          </p:cNvSpPr>
          <p:nvPr>
            <p:ph type="title"/>
          </p:nvPr>
        </p:nvSpPr>
        <p:spPr>
          <a:xfrm>
            <a:off x="8904312" y="35449"/>
            <a:ext cx="3287688" cy="1143000"/>
          </a:xfrm>
        </p:spPr>
        <p:txBody>
          <a:bodyPr>
            <a:normAutofit fontScale="90000"/>
          </a:bodyPr>
          <a:lstStyle/>
          <a:p>
            <a:pPr algn="r"/>
            <a:r>
              <a:rPr lang="he-IL" b="1" dirty="0">
                <a:solidFill>
                  <a:schemeClr val="tx2">
                    <a:lumMod val="75000"/>
                  </a:schemeClr>
                </a:solidFill>
              </a:rPr>
              <a:t>שאלה 4 מבחינה</a:t>
            </a:r>
          </a:p>
        </p:txBody>
      </p:sp>
      <p:sp>
        <p:nvSpPr>
          <p:cNvPr id="2" name="מלבן 1"/>
          <p:cNvSpPr/>
          <p:nvPr/>
        </p:nvSpPr>
        <p:spPr>
          <a:xfrm>
            <a:off x="10391800" y="995234"/>
            <a:ext cx="1800200" cy="1169551"/>
          </a:xfrm>
          <a:prstGeom prst="rect">
            <a:avLst/>
          </a:prstGeom>
        </p:spPr>
        <p:txBody>
          <a:bodyPr wrap="square">
            <a:spAutoFit/>
          </a:bodyPr>
          <a:lstStyle/>
          <a:p>
            <a:r>
              <a:rPr lang="he-IL" sz="1400" dirty="0"/>
              <a:t>יזם שוקל להיכנס לענף תחרותי </a:t>
            </a:r>
            <a:r>
              <a:rPr lang="en-US" sz="1400" dirty="0"/>
              <a:t>X</a:t>
            </a:r>
            <a:r>
              <a:rPr lang="he-IL" sz="1400" dirty="0"/>
              <a:t> ולפיכך הוא שוקל באיזה טכנולוגיה להשתמש (אם יכנס לענף).</a:t>
            </a:r>
            <a:endParaRPr lang="en-US" sz="1400" dirty="0"/>
          </a:p>
        </p:txBody>
      </p:sp>
      <p:graphicFrame>
        <p:nvGraphicFramePr>
          <p:cNvPr id="4" name="Table 3"/>
          <p:cNvGraphicFramePr>
            <a:graphicFrameLocks noGrp="1"/>
          </p:cNvGraphicFramePr>
          <p:nvPr/>
        </p:nvGraphicFramePr>
        <p:xfrm>
          <a:off x="1767362" y="995234"/>
          <a:ext cx="6963218" cy="5656568"/>
        </p:xfrm>
        <a:graphic>
          <a:graphicData uri="http://schemas.openxmlformats.org/drawingml/2006/table">
            <a:tbl>
              <a:tblPr rtl="1">
                <a:tableStyleId>{5C22544A-7EE6-4342-B048-85BDC9FD1C3A}</a:tableStyleId>
              </a:tblPr>
              <a:tblGrid>
                <a:gridCol w="873889">
                  <a:extLst>
                    <a:ext uri="{9D8B030D-6E8A-4147-A177-3AD203B41FA5}">
                      <a16:colId xmlns:a16="http://schemas.microsoft.com/office/drawing/2014/main" val="20000"/>
                    </a:ext>
                  </a:extLst>
                </a:gridCol>
                <a:gridCol w="1004042">
                  <a:extLst>
                    <a:ext uri="{9D8B030D-6E8A-4147-A177-3AD203B41FA5}">
                      <a16:colId xmlns:a16="http://schemas.microsoft.com/office/drawing/2014/main" val="20001"/>
                    </a:ext>
                  </a:extLst>
                </a:gridCol>
                <a:gridCol w="1004042">
                  <a:extLst>
                    <a:ext uri="{9D8B030D-6E8A-4147-A177-3AD203B41FA5}">
                      <a16:colId xmlns:a16="http://schemas.microsoft.com/office/drawing/2014/main" val="20002"/>
                    </a:ext>
                  </a:extLst>
                </a:gridCol>
                <a:gridCol w="1004042">
                  <a:extLst>
                    <a:ext uri="{9D8B030D-6E8A-4147-A177-3AD203B41FA5}">
                      <a16:colId xmlns:a16="http://schemas.microsoft.com/office/drawing/2014/main" val="20003"/>
                    </a:ext>
                  </a:extLst>
                </a:gridCol>
                <a:gridCol w="1208570">
                  <a:extLst>
                    <a:ext uri="{9D8B030D-6E8A-4147-A177-3AD203B41FA5}">
                      <a16:colId xmlns:a16="http://schemas.microsoft.com/office/drawing/2014/main" val="20004"/>
                    </a:ext>
                  </a:extLst>
                </a:gridCol>
                <a:gridCol w="796379">
                  <a:extLst>
                    <a:ext uri="{9D8B030D-6E8A-4147-A177-3AD203B41FA5}">
                      <a16:colId xmlns:a16="http://schemas.microsoft.com/office/drawing/2014/main" val="20005"/>
                    </a:ext>
                  </a:extLst>
                </a:gridCol>
                <a:gridCol w="1072254">
                  <a:extLst>
                    <a:ext uri="{9D8B030D-6E8A-4147-A177-3AD203B41FA5}">
                      <a16:colId xmlns:a16="http://schemas.microsoft.com/office/drawing/2014/main" val="20006"/>
                    </a:ext>
                  </a:extLst>
                </a:gridCol>
              </a:tblGrid>
              <a:tr h="335754">
                <a:tc>
                  <a:txBody>
                    <a:bodyPr/>
                    <a:lstStyle/>
                    <a:p>
                      <a:pPr algn="ctr" rtl="0" fontAlgn="b"/>
                      <a:endParaRPr lang="he-IL" sz="1400" b="0" i="0" u="none" strike="noStrike" dirty="0">
                        <a:solidFill>
                          <a:srgbClr val="000000"/>
                        </a:solidFill>
                        <a:effectLst/>
                        <a:latin typeface="Arial" panose="020B0604020202020204" pitchFamily="34" charset="0"/>
                      </a:endParaRPr>
                    </a:p>
                  </a:txBody>
                  <a:tcPr marL="8332" marR="8332" marT="8332" marB="0" anchor="b"/>
                </a:tc>
                <a:tc gridSpan="6">
                  <a:txBody>
                    <a:bodyPr/>
                    <a:lstStyle/>
                    <a:p>
                      <a:pPr algn="ctr" rtl="1" fontAlgn="ctr"/>
                      <a:r>
                        <a:rPr lang="he-IL" sz="1400" u="none" strike="noStrike" dirty="0">
                          <a:solidFill>
                            <a:srgbClr val="FF00FF"/>
                          </a:solidFill>
                          <a:effectLst/>
                        </a:rPr>
                        <a:t>טכנולוגיה א'</a:t>
                      </a:r>
                      <a:endParaRPr lang="he-IL" sz="1400" b="0" i="0" u="none" strike="noStrike" dirty="0">
                        <a:solidFill>
                          <a:srgbClr val="FF00FF"/>
                        </a:solidFill>
                        <a:effectLst/>
                        <a:latin typeface="Arial" panose="020B0604020202020204" pitchFamily="34" charset="0"/>
                      </a:endParaRPr>
                    </a:p>
                  </a:txBody>
                  <a:tcPr marL="8332" marR="8332" marT="8332" marB="0" anchor="ct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extLst>
                  <a:ext uri="{0D108BD9-81ED-4DB2-BD59-A6C34878D82A}">
                    <a16:rowId xmlns:a16="http://schemas.microsoft.com/office/drawing/2014/main" val="10000"/>
                  </a:ext>
                </a:extLst>
              </a:tr>
              <a:tr h="344589">
                <a:tc>
                  <a:txBody>
                    <a:bodyPr/>
                    <a:lstStyle/>
                    <a:p>
                      <a:pPr algn="ctr" rtl="0" fontAlgn="b"/>
                      <a:r>
                        <a:rPr lang="en-US" sz="1400" u="none" strike="noStrike">
                          <a:effectLst/>
                        </a:rPr>
                        <a:t>X </a:t>
                      </a:r>
                      <a:r>
                        <a:rPr lang="he-IL" sz="1400" u="none" strike="noStrike">
                          <a:effectLst/>
                        </a:rPr>
                        <a:t>כמות מיוצרת</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en-US" sz="1400" u="none" strike="noStrike">
                          <a:effectLst/>
                        </a:rPr>
                        <a:t>AC=TC/X</a:t>
                      </a:r>
                      <a:endParaRPr lang="en-US"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en-US" sz="1400" u="none" strike="noStrike" dirty="0">
                          <a:effectLst/>
                        </a:rPr>
                        <a:t>TC</a:t>
                      </a:r>
                      <a:endParaRPr lang="en-US" sz="1400" b="0" i="0" u="none" strike="noStrike" dirty="0">
                        <a:solidFill>
                          <a:srgbClr val="000000"/>
                        </a:solidFill>
                        <a:effectLst/>
                        <a:latin typeface="Arial" panose="020B0604020202020204" pitchFamily="34" charset="0"/>
                      </a:endParaRPr>
                    </a:p>
                  </a:txBody>
                  <a:tcPr marL="8332" marR="8332" marT="8332" marB="0" anchor="b">
                    <a:solidFill>
                      <a:schemeClr val="accent2">
                        <a:lumMod val="20000"/>
                        <a:lumOff val="80000"/>
                      </a:schemeClr>
                    </a:solidFill>
                  </a:tcPr>
                </a:tc>
                <a:tc>
                  <a:txBody>
                    <a:bodyPr/>
                    <a:lstStyle/>
                    <a:p>
                      <a:pPr algn="ctr" rtl="0" fontAlgn="b"/>
                      <a:r>
                        <a:rPr lang="en-US" sz="1400" u="none" strike="noStrike">
                          <a:effectLst/>
                        </a:rPr>
                        <a:t>FC</a:t>
                      </a:r>
                      <a:endParaRPr lang="en-US"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en-US" sz="1400" u="none" strike="noStrike" dirty="0">
                          <a:effectLst/>
                        </a:rPr>
                        <a:t>VC=TC-FC</a:t>
                      </a:r>
                      <a:endParaRPr lang="en-US" sz="1400" b="0" i="0" u="none" strike="noStrike" dirty="0">
                        <a:solidFill>
                          <a:srgbClr val="000000"/>
                        </a:solidFill>
                        <a:effectLst/>
                        <a:latin typeface="Arial" panose="020B0604020202020204" pitchFamily="34" charset="0"/>
                      </a:endParaRPr>
                    </a:p>
                  </a:txBody>
                  <a:tcPr marL="8332" marR="8332" marT="8332" marB="0" anchor="b"/>
                </a:tc>
                <a:tc>
                  <a:txBody>
                    <a:bodyPr/>
                    <a:lstStyle/>
                    <a:p>
                      <a:pPr algn="ctr" rtl="0" fontAlgn="b"/>
                      <a:r>
                        <a:rPr lang="en-US" sz="1400" u="none" strike="noStrike" dirty="0">
                          <a:effectLst/>
                        </a:rPr>
                        <a:t>AVC=VC/X</a:t>
                      </a:r>
                      <a:endParaRPr lang="en-US" sz="1400" b="0" i="0" u="none" strike="noStrike" dirty="0">
                        <a:solidFill>
                          <a:srgbClr val="000000"/>
                        </a:solidFill>
                        <a:effectLst/>
                        <a:latin typeface="Arial" panose="020B0604020202020204" pitchFamily="34" charset="0"/>
                      </a:endParaRPr>
                    </a:p>
                  </a:txBody>
                  <a:tcPr marL="8332" marR="8332" marT="8332" marB="0" anchor="b"/>
                </a:tc>
                <a:tc>
                  <a:txBody>
                    <a:bodyPr/>
                    <a:lstStyle/>
                    <a:p>
                      <a:pPr algn="ctr" rtl="0" fontAlgn="b"/>
                      <a:r>
                        <a:rPr lang="en-US" sz="1400" b="1" u="none" strike="noStrike" dirty="0">
                          <a:effectLst/>
                        </a:rPr>
                        <a:t>MC</a:t>
                      </a:r>
                      <a:endParaRPr lang="en-US"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01"/>
                  </a:ext>
                </a:extLst>
              </a:tr>
              <a:tr h="170447">
                <a:tc>
                  <a:txBody>
                    <a:bodyPr/>
                    <a:lstStyle/>
                    <a:p>
                      <a:pPr algn="ctr" rtl="0" fontAlgn="b"/>
                      <a:r>
                        <a:rPr lang="he-IL" sz="1400" u="none" strike="noStrike">
                          <a:effectLst/>
                        </a:rPr>
                        <a:t>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 </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80</a:t>
                      </a:r>
                      <a:endParaRPr lang="he-IL" sz="1400" b="0" i="0" u="none" strike="noStrike">
                        <a:solidFill>
                          <a:srgbClr val="000000"/>
                        </a:solidFill>
                        <a:effectLst/>
                        <a:latin typeface="Arial" panose="020B0604020202020204" pitchFamily="34" charset="0"/>
                      </a:endParaRPr>
                    </a:p>
                  </a:txBody>
                  <a:tcPr marL="8332" marR="8332" marT="8332" marB="0" anchor="b">
                    <a:solidFill>
                      <a:schemeClr val="accent2">
                        <a:lumMod val="20000"/>
                        <a:lumOff val="80000"/>
                      </a:schemeClr>
                    </a:solidFill>
                  </a:tcPr>
                </a:tc>
                <a:tc>
                  <a:txBody>
                    <a:bodyPr/>
                    <a:lstStyle/>
                    <a:p>
                      <a:pPr algn="ctr" rtl="0" fontAlgn="b"/>
                      <a:r>
                        <a:rPr lang="he-IL" sz="1400" u="none" strike="noStrike">
                          <a:effectLst/>
                        </a:rPr>
                        <a:t>80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0</a:t>
                      </a:r>
                      <a:endParaRPr lang="he-IL" sz="1400" b="0" i="0" u="none" strike="noStrike" dirty="0">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0</a:t>
                      </a:r>
                      <a:endParaRPr lang="he-IL" sz="1400" b="0" i="0" u="none" strike="noStrike" dirty="0">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0</a:t>
                      </a:r>
                      <a:endParaRPr lang="he-IL"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02"/>
                  </a:ext>
                </a:extLst>
              </a:tr>
              <a:tr h="170447">
                <a:tc>
                  <a:txBody>
                    <a:bodyPr/>
                    <a:lstStyle/>
                    <a:p>
                      <a:pPr algn="ctr" rtl="0" fontAlgn="b"/>
                      <a:r>
                        <a:rPr lang="he-IL" sz="1400" u="none" strike="noStrike">
                          <a:effectLst/>
                        </a:rPr>
                        <a:t>1</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85</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85</a:t>
                      </a:r>
                      <a:endParaRPr lang="he-IL" sz="1400" b="0" i="0" u="none" strike="noStrike" dirty="0">
                        <a:solidFill>
                          <a:srgbClr val="000000"/>
                        </a:solidFill>
                        <a:effectLst/>
                        <a:latin typeface="Arial" panose="020B0604020202020204" pitchFamily="34" charset="0"/>
                      </a:endParaRPr>
                    </a:p>
                  </a:txBody>
                  <a:tcPr marL="8332" marR="8332" marT="8332" marB="0" anchor="b">
                    <a:solidFill>
                      <a:schemeClr val="accent2">
                        <a:lumMod val="20000"/>
                        <a:lumOff val="80000"/>
                      </a:schemeClr>
                    </a:solidFill>
                  </a:tcPr>
                </a:tc>
                <a:tc>
                  <a:txBody>
                    <a:bodyPr/>
                    <a:lstStyle/>
                    <a:p>
                      <a:pPr algn="ctr" rtl="0" fontAlgn="b"/>
                      <a:r>
                        <a:rPr lang="he-IL" sz="1400" u="none" strike="noStrike">
                          <a:effectLst/>
                        </a:rPr>
                        <a:t>80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5</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5.00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a:effectLst/>
                        </a:rPr>
                        <a:t>5</a:t>
                      </a:r>
                      <a:endParaRPr lang="he-IL" sz="1400" b="1" i="0" u="none" strike="noStrike">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03"/>
                  </a:ext>
                </a:extLst>
              </a:tr>
              <a:tr h="170447">
                <a:tc>
                  <a:txBody>
                    <a:bodyPr/>
                    <a:lstStyle/>
                    <a:p>
                      <a:pPr algn="ctr" rtl="0" fontAlgn="b"/>
                      <a:r>
                        <a:rPr lang="he-IL" sz="1400" u="none" strike="noStrike">
                          <a:effectLst/>
                        </a:rPr>
                        <a:t>2</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55</a:t>
                      </a:r>
                      <a:endParaRPr lang="he-IL" sz="1400" b="0" i="0" u="none" strike="noStrike" dirty="0">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110</a:t>
                      </a:r>
                      <a:endParaRPr lang="he-IL" sz="1400" b="0" i="0" u="none" strike="noStrike" dirty="0">
                        <a:solidFill>
                          <a:srgbClr val="000000"/>
                        </a:solidFill>
                        <a:effectLst/>
                        <a:latin typeface="Arial" panose="020B0604020202020204" pitchFamily="34" charset="0"/>
                      </a:endParaRPr>
                    </a:p>
                  </a:txBody>
                  <a:tcPr marL="8332" marR="8332" marT="8332" marB="0" anchor="b">
                    <a:solidFill>
                      <a:schemeClr val="accent2">
                        <a:lumMod val="20000"/>
                        <a:lumOff val="80000"/>
                      </a:schemeClr>
                    </a:solidFill>
                  </a:tcPr>
                </a:tc>
                <a:tc>
                  <a:txBody>
                    <a:bodyPr/>
                    <a:lstStyle/>
                    <a:p>
                      <a:pPr algn="ctr" rtl="0" fontAlgn="b"/>
                      <a:r>
                        <a:rPr lang="he-IL" sz="1400" u="none" strike="noStrike">
                          <a:effectLst/>
                        </a:rPr>
                        <a:t>80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30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15.00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25</a:t>
                      </a:r>
                      <a:endParaRPr lang="he-IL"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04"/>
                  </a:ext>
                </a:extLst>
              </a:tr>
              <a:tr h="176713">
                <a:tc>
                  <a:txBody>
                    <a:bodyPr/>
                    <a:lstStyle/>
                    <a:p>
                      <a:pPr algn="ctr" rtl="0" fontAlgn="b"/>
                      <a:r>
                        <a:rPr lang="he-IL" sz="1400" u="none" strike="noStrike">
                          <a:effectLst/>
                        </a:rPr>
                        <a:t>3</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50</a:t>
                      </a:r>
                      <a:endParaRPr lang="he-IL" sz="1400" b="1"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150</a:t>
                      </a:r>
                      <a:endParaRPr lang="he-IL" sz="1400" b="0" i="0" u="none" strike="noStrike" dirty="0">
                        <a:solidFill>
                          <a:srgbClr val="000000"/>
                        </a:solidFill>
                        <a:effectLst/>
                        <a:latin typeface="Arial" panose="020B0604020202020204" pitchFamily="34" charset="0"/>
                      </a:endParaRPr>
                    </a:p>
                  </a:txBody>
                  <a:tcPr marL="8332" marR="8332" marT="8332" marB="0" anchor="b">
                    <a:solidFill>
                      <a:schemeClr val="accent2">
                        <a:lumMod val="20000"/>
                        <a:lumOff val="80000"/>
                      </a:schemeClr>
                    </a:solidFill>
                  </a:tcPr>
                </a:tc>
                <a:tc>
                  <a:txBody>
                    <a:bodyPr/>
                    <a:lstStyle/>
                    <a:p>
                      <a:pPr algn="ctr" rtl="0" fontAlgn="b"/>
                      <a:r>
                        <a:rPr lang="he-IL" sz="1400" u="none" strike="noStrike">
                          <a:effectLst/>
                        </a:rPr>
                        <a:t>80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70</a:t>
                      </a:r>
                      <a:endParaRPr lang="he-IL" sz="1400" b="0" i="0" u="none" strike="noStrike" dirty="0">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23.33</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a:effectLst/>
                        </a:rPr>
                        <a:t>40</a:t>
                      </a:r>
                      <a:endParaRPr lang="he-IL" sz="1400" b="1" i="0" u="none" strike="noStrike">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05"/>
                  </a:ext>
                </a:extLst>
              </a:tr>
              <a:tr h="176713">
                <a:tc>
                  <a:txBody>
                    <a:bodyPr/>
                    <a:lstStyle/>
                    <a:p>
                      <a:pPr algn="ctr" rtl="0" fontAlgn="b"/>
                      <a:r>
                        <a:rPr lang="he-IL" sz="1400" u="none" strike="noStrike">
                          <a:effectLst/>
                        </a:rPr>
                        <a:t>4</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50</a:t>
                      </a:r>
                      <a:endParaRPr lang="he-IL" sz="1400" b="1"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200</a:t>
                      </a:r>
                      <a:endParaRPr lang="he-IL" sz="1400" b="0" i="0" u="none" strike="noStrike" dirty="0">
                        <a:solidFill>
                          <a:srgbClr val="000000"/>
                        </a:solidFill>
                        <a:effectLst/>
                        <a:latin typeface="Arial" panose="020B0604020202020204" pitchFamily="34" charset="0"/>
                      </a:endParaRPr>
                    </a:p>
                  </a:txBody>
                  <a:tcPr marL="8332" marR="8332" marT="8332" marB="0" anchor="b">
                    <a:solidFill>
                      <a:schemeClr val="accent2">
                        <a:lumMod val="20000"/>
                        <a:lumOff val="80000"/>
                      </a:schemeClr>
                    </a:solidFill>
                  </a:tcPr>
                </a:tc>
                <a:tc>
                  <a:txBody>
                    <a:bodyPr/>
                    <a:lstStyle/>
                    <a:p>
                      <a:pPr algn="ctr" rtl="0" fontAlgn="b"/>
                      <a:r>
                        <a:rPr lang="he-IL" sz="1400" u="none" strike="noStrike">
                          <a:effectLst/>
                        </a:rPr>
                        <a:t>80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120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30.00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50</a:t>
                      </a:r>
                      <a:endParaRPr lang="he-IL"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06"/>
                  </a:ext>
                </a:extLst>
              </a:tr>
              <a:tr h="176713">
                <a:tc>
                  <a:txBody>
                    <a:bodyPr/>
                    <a:lstStyle/>
                    <a:p>
                      <a:pPr algn="ctr" rtl="0" fontAlgn="b"/>
                      <a:r>
                        <a:rPr lang="he-IL" sz="1400" u="none" strike="noStrike">
                          <a:effectLst/>
                        </a:rPr>
                        <a:t>5</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54</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270</a:t>
                      </a:r>
                      <a:endParaRPr lang="he-IL" sz="1400" b="1" i="0" u="none" strike="noStrike" dirty="0">
                        <a:solidFill>
                          <a:srgbClr val="000000"/>
                        </a:solidFill>
                        <a:effectLst/>
                        <a:latin typeface="Arial" panose="020B0604020202020204" pitchFamily="34" charset="0"/>
                      </a:endParaRPr>
                    </a:p>
                  </a:txBody>
                  <a:tcPr marL="8332" marR="8332" marT="8332" marB="0" anchor="b">
                    <a:solidFill>
                      <a:schemeClr val="accent2">
                        <a:lumMod val="20000"/>
                        <a:lumOff val="80000"/>
                      </a:schemeClr>
                    </a:solidFill>
                  </a:tcPr>
                </a:tc>
                <a:tc>
                  <a:txBody>
                    <a:bodyPr/>
                    <a:lstStyle/>
                    <a:p>
                      <a:pPr algn="ctr" rtl="0" fontAlgn="b"/>
                      <a:r>
                        <a:rPr lang="he-IL" sz="1400" u="none" strike="noStrike">
                          <a:effectLst/>
                        </a:rPr>
                        <a:t>80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190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38.00</a:t>
                      </a:r>
                      <a:endParaRPr lang="he-IL" sz="1400" b="0" i="0" u="none" strike="noStrike" dirty="0">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a:effectLst/>
                        </a:rPr>
                        <a:t>70</a:t>
                      </a:r>
                      <a:endParaRPr lang="he-IL" sz="1400" b="1" i="0" u="none" strike="noStrike">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07"/>
                  </a:ext>
                </a:extLst>
              </a:tr>
              <a:tr h="170447">
                <a:tc>
                  <a:txBody>
                    <a:bodyPr/>
                    <a:lstStyle/>
                    <a:p>
                      <a:pPr algn="ctr" rtl="0" fontAlgn="b"/>
                      <a:r>
                        <a:rPr lang="he-IL" sz="1400" u="none" strike="noStrike">
                          <a:effectLst/>
                        </a:rPr>
                        <a:t>6</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61.66667</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370</a:t>
                      </a:r>
                      <a:endParaRPr lang="he-IL" sz="1400" b="0" i="0" u="none" strike="noStrike" dirty="0">
                        <a:solidFill>
                          <a:srgbClr val="000000"/>
                        </a:solidFill>
                        <a:effectLst/>
                        <a:latin typeface="Arial" panose="020B0604020202020204" pitchFamily="34" charset="0"/>
                      </a:endParaRPr>
                    </a:p>
                  </a:txBody>
                  <a:tcPr marL="8332" marR="8332" marT="8332" marB="0" anchor="b">
                    <a:solidFill>
                      <a:schemeClr val="accent2">
                        <a:lumMod val="20000"/>
                        <a:lumOff val="80000"/>
                      </a:schemeClr>
                    </a:solidFill>
                  </a:tcPr>
                </a:tc>
                <a:tc>
                  <a:txBody>
                    <a:bodyPr/>
                    <a:lstStyle/>
                    <a:p>
                      <a:pPr algn="ctr" rtl="0" fontAlgn="b"/>
                      <a:r>
                        <a:rPr lang="he-IL" sz="1400" u="none" strike="noStrike">
                          <a:effectLst/>
                        </a:rPr>
                        <a:t>80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290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48.33</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100</a:t>
                      </a:r>
                      <a:endParaRPr lang="he-IL"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08"/>
                  </a:ext>
                </a:extLst>
              </a:tr>
              <a:tr h="170447">
                <a:tc>
                  <a:txBody>
                    <a:bodyPr/>
                    <a:lstStyle/>
                    <a:p>
                      <a:pPr algn="ctr" rtl="0" fontAlgn="b"/>
                      <a:r>
                        <a:rPr lang="he-IL" sz="1400" u="none" strike="noStrike">
                          <a:effectLst/>
                        </a:rPr>
                        <a:t>7</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68.57143</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480</a:t>
                      </a:r>
                      <a:endParaRPr lang="he-IL" sz="1400" b="0" i="0" u="none" strike="noStrike" dirty="0">
                        <a:solidFill>
                          <a:srgbClr val="000000"/>
                        </a:solidFill>
                        <a:effectLst/>
                        <a:latin typeface="Arial" panose="020B0604020202020204" pitchFamily="34" charset="0"/>
                      </a:endParaRPr>
                    </a:p>
                  </a:txBody>
                  <a:tcPr marL="8332" marR="8332" marT="8332" marB="0" anchor="b">
                    <a:solidFill>
                      <a:schemeClr val="accent2">
                        <a:lumMod val="20000"/>
                        <a:lumOff val="80000"/>
                      </a:schemeClr>
                    </a:solidFill>
                  </a:tcPr>
                </a:tc>
                <a:tc>
                  <a:txBody>
                    <a:bodyPr/>
                    <a:lstStyle/>
                    <a:p>
                      <a:pPr algn="ctr" rtl="0" fontAlgn="b"/>
                      <a:r>
                        <a:rPr lang="he-IL" sz="1400" u="none" strike="noStrike">
                          <a:effectLst/>
                        </a:rPr>
                        <a:t>80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400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57.14</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110</a:t>
                      </a:r>
                      <a:endParaRPr lang="he-IL"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09"/>
                  </a:ext>
                </a:extLst>
              </a:tr>
              <a:tr h="170447">
                <a:tc>
                  <a:txBody>
                    <a:bodyPr/>
                    <a:lstStyle/>
                    <a:p>
                      <a:pPr algn="ctr" rtl="0" fontAlgn="b"/>
                      <a:r>
                        <a:rPr lang="he-IL" sz="1400" u="none" strike="noStrike">
                          <a:effectLst/>
                        </a:rPr>
                        <a:t>8</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76.25</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610</a:t>
                      </a:r>
                      <a:endParaRPr lang="he-IL" sz="1400" b="1" i="0" u="none" strike="noStrike" dirty="0">
                        <a:solidFill>
                          <a:srgbClr val="000000"/>
                        </a:solidFill>
                        <a:effectLst/>
                        <a:latin typeface="Arial" panose="020B0604020202020204" pitchFamily="34" charset="0"/>
                      </a:endParaRPr>
                    </a:p>
                  </a:txBody>
                  <a:tcPr marL="8332" marR="8332" marT="8332" marB="0" anchor="b">
                    <a:solidFill>
                      <a:schemeClr val="accent2">
                        <a:lumMod val="20000"/>
                        <a:lumOff val="80000"/>
                      </a:schemeClr>
                    </a:solidFill>
                  </a:tcPr>
                </a:tc>
                <a:tc>
                  <a:txBody>
                    <a:bodyPr/>
                    <a:lstStyle/>
                    <a:p>
                      <a:pPr algn="ctr" rtl="0" fontAlgn="b"/>
                      <a:r>
                        <a:rPr lang="he-IL" sz="1400" u="none" strike="noStrike">
                          <a:effectLst/>
                        </a:rPr>
                        <a:t>80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530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66.25</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130</a:t>
                      </a:r>
                      <a:endParaRPr lang="he-IL"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10"/>
                  </a:ext>
                </a:extLst>
              </a:tr>
              <a:tr h="170447">
                <a:tc>
                  <a:txBody>
                    <a:bodyPr/>
                    <a:lstStyle/>
                    <a:p>
                      <a:pPr algn="ctr" rtl="0" fontAlgn="b"/>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 </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 </a:t>
                      </a:r>
                      <a:endParaRPr lang="he-IL" sz="1400" b="0" i="0" u="none" strike="noStrike" dirty="0">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 </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 </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 </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 </a:t>
                      </a:r>
                      <a:endParaRPr lang="he-IL" sz="1400" b="0"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11"/>
                  </a:ext>
                </a:extLst>
              </a:tr>
              <a:tr h="238562">
                <a:tc>
                  <a:txBody>
                    <a:bodyPr/>
                    <a:lstStyle/>
                    <a:p>
                      <a:pPr algn="ctr" rtl="0" fontAlgn="b"/>
                      <a:endParaRPr lang="he-IL" sz="1400" b="0" i="0" u="none" strike="noStrike" dirty="0">
                        <a:solidFill>
                          <a:srgbClr val="000000"/>
                        </a:solidFill>
                        <a:effectLst/>
                        <a:latin typeface="Arial" panose="020B0604020202020204" pitchFamily="34" charset="0"/>
                      </a:endParaRPr>
                    </a:p>
                  </a:txBody>
                  <a:tcPr marL="8332" marR="8332" marT="8332" marB="0" anchor="b"/>
                </a:tc>
                <a:tc gridSpan="6">
                  <a:txBody>
                    <a:bodyPr/>
                    <a:lstStyle/>
                    <a:p>
                      <a:pPr algn="ctr" rtl="1" fontAlgn="ctr"/>
                      <a:r>
                        <a:rPr lang="he-IL" sz="1400" u="none" strike="noStrike" dirty="0">
                          <a:solidFill>
                            <a:schemeClr val="tx2"/>
                          </a:solidFill>
                          <a:effectLst/>
                        </a:rPr>
                        <a:t>טכנולוגיה ב'</a:t>
                      </a:r>
                      <a:endParaRPr lang="he-IL" sz="1400" b="0" i="0" u="none" strike="noStrike" dirty="0">
                        <a:solidFill>
                          <a:schemeClr val="tx2"/>
                        </a:solidFill>
                        <a:effectLst/>
                        <a:latin typeface="Arial" panose="020B0604020202020204" pitchFamily="34" charset="0"/>
                      </a:endParaRPr>
                    </a:p>
                  </a:txBody>
                  <a:tcPr marL="8332" marR="8332" marT="8332" marB="0" anchor="ct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extLst>
                  <a:ext uri="{0D108BD9-81ED-4DB2-BD59-A6C34878D82A}">
                    <a16:rowId xmlns:a16="http://schemas.microsoft.com/office/drawing/2014/main" val="10012"/>
                  </a:ext>
                </a:extLst>
              </a:tr>
              <a:tr h="332058">
                <a:tc>
                  <a:txBody>
                    <a:bodyPr/>
                    <a:lstStyle/>
                    <a:p>
                      <a:pPr algn="ctr" rtl="1" fontAlgn="b"/>
                      <a:r>
                        <a:rPr lang="he-IL" sz="1400" u="none" strike="noStrike" dirty="0">
                          <a:effectLst/>
                        </a:rPr>
                        <a:t>כמות </a:t>
                      </a:r>
                      <a:r>
                        <a:rPr lang="en-US" sz="1400" u="none" strike="noStrike" dirty="0">
                          <a:effectLst/>
                        </a:rPr>
                        <a:t>X </a:t>
                      </a:r>
                      <a:r>
                        <a:rPr lang="he-IL" sz="1400" u="none" strike="noStrike" dirty="0">
                          <a:effectLst/>
                        </a:rPr>
                        <a:t>מיוצרת</a:t>
                      </a:r>
                      <a:endParaRPr lang="he-IL" sz="1400" b="0" i="0" u="none" strike="noStrike" dirty="0">
                        <a:solidFill>
                          <a:srgbClr val="000000"/>
                        </a:solidFill>
                        <a:effectLst/>
                        <a:latin typeface="Arial" panose="020B0604020202020204" pitchFamily="34" charset="0"/>
                      </a:endParaRPr>
                    </a:p>
                  </a:txBody>
                  <a:tcPr marL="8332" marR="8332" marT="8332" marB="0" anchor="b"/>
                </a:tc>
                <a:tc>
                  <a:txBody>
                    <a:bodyPr/>
                    <a:lstStyle/>
                    <a:p>
                      <a:pPr algn="ctr" rtl="0" fontAlgn="b"/>
                      <a:r>
                        <a:rPr lang="en-US" sz="1400" u="none" strike="noStrike">
                          <a:effectLst/>
                        </a:rPr>
                        <a:t>AC=TC/X</a:t>
                      </a:r>
                      <a:endParaRPr lang="en-US"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en-US" sz="1400" u="none" strike="noStrike">
                          <a:effectLst/>
                        </a:rPr>
                        <a:t>TC</a:t>
                      </a:r>
                      <a:endParaRPr lang="en-US" sz="1400" b="0" i="0" u="none" strike="noStrike">
                        <a:solidFill>
                          <a:srgbClr val="000000"/>
                        </a:solidFill>
                        <a:effectLst/>
                        <a:latin typeface="Arial" panose="020B0604020202020204" pitchFamily="34" charset="0"/>
                      </a:endParaRPr>
                    </a:p>
                  </a:txBody>
                  <a:tcPr marL="8332" marR="8332" marT="8332" marB="0" anchor="b">
                    <a:solidFill>
                      <a:schemeClr val="accent1">
                        <a:lumMod val="40000"/>
                        <a:lumOff val="60000"/>
                      </a:schemeClr>
                    </a:solidFill>
                  </a:tcPr>
                </a:tc>
                <a:tc>
                  <a:txBody>
                    <a:bodyPr/>
                    <a:lstStyle/>
                    <a:p>
                      <a:pPr algn="ctr" rtl="0" fontAlgn="b"/>
                      <a:r>
                        <a:rPr lang="en-US" sz="1400" u="none" strike="noStrike">
                          <a:effectLst/>
                        </a:rPr>
                        <a:t>FC</a:t>
                      </a:r>
                      <a:endParaRPr lang="en-US"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en-US" sz="1400" u="none" strike="noStrike">
                          <a:effectLst/>
                        </a:rPr>
                        <a:t>VC=TC-FC</a:t>
                      </a:r>
                      <a:endParaRPr lang="en-US"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en-US" sz="1400" u="none" strike="noStrike">
                          <a:effectLst/>
                        </a:rPr>
                        <a:t>AVC=VC/X</a:t>
                      </a:r>
                      <a:endParaRPr lang="en-US"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en-US" sz="1400" b="1" u="none" strike="noStrike" dirty="0">
                          <a:effectLst/>
                        </a:rPr>
                        <a:t>MC</a:t>
                      </a:r>
                      <a:endParaRPr lang="en-US"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13"/>
                  </a:ext>
                </a:extLst>
              </a:tr>
              <a:tr h="170447">
                <a:tc>
                  <a:txBody>
                    <a:bodyPr/>
                    <a:lstStyle/>
                    <a:p>
                      <a:pPr algn="ctr" rtl="0" fontAlgn="b"/>
                      <a:r>
                        <a:rPr lang="he-IL" sz="1400" u="none" strike="noStrike">
                          <a:effectLst/>
                        </a:rPr>
                        <a:t>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 </a:t>
                      </a:r>
                      <a:endParaRPr lang="he-IL" sz="1400" b="0" i="0" u="none" strike="noStrike" dirty="0">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200</a:t>
                      </a:r>
                      <a:endParaRPr lang="he-IL" sz="1400" b="0" i="0" u="none" strike="noStrike">
                        <a:solidFill>
                          <a:srgbClr val="000000"/>
                        </a:solidFill>
                        <a:effectLst/>
                        <a:latin typeface="Arial" panose="020B0604020202020204" pitchFamily="34" charset="0"/>
                      </a:endParaRPr>
                    </a:p>
                  </a:txBody>
                  <a:tcPr marL="8332" marR="8332" marT="8332" marB="0" anchor="b">
                    <a:solidFill>
                      <a:schemeClr val="accent1">
                        <a:lumMod val="40000"/>
                        <a:lumOff val="60000"/>
                      </a:schemeClr>
                    </a:solidFill>
                  </a:tcPr>
                </a:tc>
                <a:tc>
                  <a:txBody>
                    <a:bodyPr/>
                    <a:lstStyle/>
                    <a:p>
                      <a:pPr algn="ctr" rtl="0" fontAlgn="b"/>
                      <a:r>
                        <a:rPr lang="he-IL" sz="1400" u="none" strike="noStrike">
                          <a:effectLst/>
                        </a:rPr>
                        <a:t>200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0</a:t>
                      </a:r>
                      <a:endParaRPr lang="he-IL"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14"/>
                  </a:ext>
                </a:extLst>
              </a:tr>
              <a:tr h="170447">
                <a:tc>
                  <a:txBody>
                    <a:bodyPr/>
                    <a:lstStyle/>
                    <a:p>
                      <a:pPr algn="ctr" rtl="0" fontAlgn="b"/>
                      <a:r>
                        <a:rPr lang="he-IL" sz="1400" u="none" strike="noStrike">
                          <a:effectLst/>
                        </a:rPr>
                        <a:t>1</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210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210</a:t>
                      </a:r>
                      <a:endParaRPr lang="he-IL" sz="1400" b="0" i="0" u="none" strike="noStrike" dirty="0">
                        <a:solidFill>
                          <a:srgbClr val="000000"/>
                        </a:solidFill>
                        <a:effectLst/>
                        <a:latin typeface="Arial" panose="020B0604020202020204" pitchFamily="34" charset="0"/>
                      </a:endParaRPr>
                    </a:p>
                  </a:txBody>
                  <a:tcPr marL="8332" marR="8332" marT="8332" marB="0" anchor="b">
                    <a:solidFill>
                      <a:schemeClr val="accent1">
                        <a:lumMod val="40000"/>
                        <a:lumOff val="60000"/>
                      </a:schemeClr>
                    </a:solidFill>
                  </a:tcPr>
                </a:tc>
                <a:tc>
                  <a:txBody>
                    <a:bodyPr/>
                    <a:lstStyle/>
                    <a:p>
                      <a:pPr algn="ctr" rtl="0" fontAlgn="b"/>
                      <a:r>
                        <a:rPr lang="he-IL" sz="1400" u="none" strike="noStrike" dirty="0">
                          <a:effectLst/>
                        </a:rPr>
                        <a:t>200</a:t>
                      </a:r>
                      <a:endParaRPr lang="he-IL" sz="1400" b="0" i="0" u="none" strike="noStrike" dirty="0">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10</a:t>
                      </a:r>
                      <a:endParaRPr lang="he-IL" sz="1400" b="0" i="0" u="none" strike="noStrike" dirty="0">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10.00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10</a:t>
                      </a:r>
                      <a:endParaRPr lang="he-IL"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15"/>
                  </a:ext>
                </a:extLst>
              </a:tr>
              <a:tr h="170447">
                <a:tc>
                  <a:txBody>
                    <a:bodyPr/>
                    <a:lstStyle/>
                    <a:p>
                      <a:pPr algn="ctr" rtl="0" fontAlgn="b"/>
                      <a:r>
                        <a:rPr lang="he-IL" sz="1400" u="none" strike="noStrike">
                          <a:effectLst/>
                        </a:rPr>
                        <a:t>2</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115</a:t>
                      </a:r>
                      <a:endParaRPr lang="he-IL" sz="1400" b="0" i="0" u="none" strike="noStrike" dirty="0">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230</a:t>
                      </a:r>
                      <a:endParaRPr lang="he-IL" sz="1400" b="0" i="0" u="none" strike="noStrike">
                        <a:solidFill>
                          <a:srgbClr val="000000"/>
                        </a:solidFill>
                        <a:effectLst/>
                        <a:latin typeface="Arial" panose="020B0604020202020204" pitchFamily="34" charset="0"/>
                      </a:endParaRPr>
                    </a:p>
                  </a:txBody>
                  <a:tcPr marL="8332" marR="8332" marT="8332" marB="0" anchor="b">
                    <a:solidFill>
                      <a:schemeClr val="accent1">
                        <a:lumMod val="40000"/>
                        <a:lumOff val="60000"/>
                      </a:schemeClr>
                    </a:solidFill>
                  </a:tcPr>
                </a:tc>
                <a:tc>
                  <a:txBody>
                    <a:bodyPr/>
                    <a:lstStyle/>
                    <a:p>
                      <a:pPr algn="ctr" rtl="0" fontAlgn="b"/>
                      <a:r>
                        <a:rPr lang="he-IL" sz="1400" u="none" strike="noStrike">
                          <a:effectLst/>
                        </a:rPr>
                        <a:t>200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30</a:t>
                      </a:r>
                      <a:endParaRPr lang="he-IL" sz="1400" b="0" i="0" u="none" strike="noStrike" dirty="0">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15.00</a:t>
                      </a:r>
                      <a:endParaRPr lang="he-IL" sz="1400" b="0" i="0" u="none" strike="noStrike" dirty="0">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20</a:t>
                      </a:r>
                      <a:endParaRPr lang="he-IL"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16"/>
                  </a:ext>
                </a:extLst>
              </a:tr>
              <a:tr h="170447">
                <a:tc>
                  <a:txBody>
                    <a:bodyPr/>
                    <a:lstStyle/>
                    <a:p>
                      <a:pPr algn="ctr" rtl="0" fontAlgn="b"/>
                      <a:r>
                        <a:rPr lang="he-IL" sz="1400" u="none" strike="noStrike">
                          <a:effectLst/>
                        </a:rPr>
                        <a:t>3</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85</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255</a:t>
                      </a:r>
                      <a:endParaRPr lang="he-IL" sz="1400" b="0" i="0" u="none" strike="noStrike">
                        <a:solidFill>
                          <a:srgbClr val="000000"/>
                        </a:solidFill>
                        <a:effectLst/>
                        <a:latin typeface="Arial" panose="020B0604020202020204" pitchFamily="34" charset="0"/>
                      </a:endParaRPr>
                    </a:p>
                  </a:txBody>
                  <a:tcPr marL="8332" marR="8332" marT="8332" marB="0" anchor="b">
                    <a:solidFill>
                      <a:schemeClr val="accent1">
                        <a:lumMod val="40000"/>
                        <a:lumOff val="60000"/>
                      </a:schemeClr>
                    </a:solidFill>
                  </a:tcPr>
                </a:tc>
                <a:tc>
                  <a:txBody>
                    <a:bodyPr/>
                    <a:lstStyle/>
                    <a:p>
                      <a:pPr algn="ctr" rtl="0" fontAlgn="b"/>
                      <a:r>
                        <a:rPr lang="he-IL" sz="1400" u="none" strike="noStrike">
                          <a:effectLst/>
                        </a:rPr>
                        <a:t>200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55</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18.33</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25</a:t>
                      </a:r>
                      <a:endParaRPr lang="he-IL"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17"/>
                  </a:ext>
                </a:extLst>
              </a:tr>
              <a:tr h="170447">
                <a:tc>
                  <a:txBody>
                    <a:bodyPr/>
                    <a:lstStyle/>
                    <a:p>
                      <a:pPr algn="ctr" rtl="0" fontAlgn="b"/>
                      <a:r>
                        <a:rPr lang="he-IL" sz="1400" u="none" strike="noStrike">
                          <a:effectLst/>
                        </a:rPr>
                        <a:t>4</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72.5</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290</a:t>
                      </a:r>
                      <a:endParaRPr lang="he-IL" sz="1400" b="0" i="0" u="none" strike="noStrike">
                        <a:solidFill>
                          <a:srgbClr val="000000"/>
                        </a:solidFill>
                        <a:effectLst/>
                        <a:latin typeface="Arial" panose="020B0604020202020204" pitchFamily="34" charset="0"/>
                      </a:endParaRPr>
                    </a:p>
                  </a:txBody>
                  <a:tcPr marL="8332" marR="8332" marT="8332" marB="0" anchor="b">
                    <a:solidFill>
                      <a:schemeClr val="accent1">
                        <a:lumMod val="40000"/>
                        <a:lumOff val="60000"/>
                      </a:schemeClr>
                    </a:solidFill>
                  </a:tcPr>
                </a:tc>
                <a:tc>
                  <a:txBody>
                    <a:bodyPr/>
                    <a:lstStyle/>
                    <a:p>
                      <a:pPr algn="ctr" rtl="0" fontAlgn="b"/>
                      <a:r>
                        <a:rPr lang="he-IL" sz="1400" u="none" strike="noStrike" dirty="0">
                          <a:effectLst/>
                        </a:rPr>
                        <a:t>200</a:t>
                      </a:r>
                      <a:endParaRPr lang="he-IL" sz="1400" b="0" i="0" u="none" strike="noStrike" dirty="0">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90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22.50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35</a:t>
                      </a:r>
                      <a:endParaRPr lang="he-IL"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18"/>
                  </a:ext>
                </a:extLst>
              </a:tr>
              <a:tr h="170447">
                <a:tc>
                  <a:txBody>
                    <a:bodyPr/>
                    <a:lstStyle/>
                    <a:p>
                      <a:pPr algn="ctr" rtl="0" fontAlgn="b"/>
                      <a:r>
                        <a:rPr lang="he-IL" sz="1400" u="none" strike="noStrike">
                          <a:effectLst/>
                        </a:rPr>
                        <a:t>5</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66</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330</a:t>
                      </a:r>
                      <a:endParaRPr lang="he-IL" sz="1400" b="0" i="0" u="none" strike="noStrike">
                        <a:solidFill>
                          <a:srgbClr val="000000"/>
                        </a:solidFill>
                        <a:effectLst/>
                        <a:latin typeface="Arial" panose="020B0604020202020204" pitchFamily="34" charset="0"/>
                      </a:endParaRPr>
                    </a:p>
                  </a:txBody>
                  <a:tcPr marL="8332" marR="8332" marT="8332" marB="0" anchor="b">
                    <a:solidFill>
                      <a:schemeClr val="accent1">
                        <a:lumMod val="40000"/>
                        <a:lumOff val="60000"/>
                      </a:schemeClr>
                    </a:solidFill>
                  </a:tcPr>
                </a:tc>
                <a:tc>
                  <a:txBody>
                    <a:bodyPr/>
                    <a:lstStyle/>
                    <a:p>
                      <a:pPr algn="ctr" rtl="0" fontAlgn="b"/>
                      <a:r>
                        <a:rPr lang="he-IL" sz="1400" u="none" strike="noStrike">
                          <a:effectLst/>
                        </a:rPr>
                        <a:t>200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130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26.00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40</a:t>
                      </a:r>
                      <a:endParaRPr lang="he-IL"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19"/>
                  </a:ext>
                </a:extLst>
              </a:tr>
              <a:tr h="170447">
                <a:tc>
                  <a:txBody>
                    <a:bodyPr/>
                    <a:lstStyle/>
                    <a:p>
                      <a:pPr algn="ctr" rtl="0" fontAlgn="b"/>
                      <a:r>
                        <a:rPr lang="he-IL" sz="1400" u="none" strike="noStrike">
                          <a:effectLst/>
                        </a:rPr>
                        <a:t>6</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62.5</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dirty="0">
                          <a:effectLst/>
                        </a:rPr>
                        <a:t>375</a:t>
                      </a:r>
                      <a:endParaRPr lang="he-IL" sz="1400" b="0" i="0" u="none" strike="noStrike" dirty="0">
                        <a:solidFill>
                          <a:srgbClr val="000000"/>
                        </a:solidFill>
                        <a:effectLst/>
                        <a:latin typeface="Arial" panose="020B0604020202020204" pitchFamily="34" charset="0"/>
                      </a:endParaRPr>
                    </a:p>
                  </a:txBody>
                  <a:tcPr marL="8332" marR="8332" marT="8332" marB="0" anchor="b">
                    <a:solidFill>
                      <a:schemeClr val="accent1">
                        <a:lumMod val="40000"/>
                        <a:lumOff val="60000"/>
                      </a:schemeClr>
                    </a:solidFill>
                  </a:tcPr>
                </a:tc>
                <a:tc>
                  <a:txBody>
                    <a:bodyPr/>
                    <a:lstStyle/>
                    <a:p>
                      <a:pPr algn="ctr" rtl="0" fontAlgn="b"/>
                      <a:r>
                        <a:rPr lang="he-IL" sz="1400" u="none" strike="noStrike">
                          <a:effectLst/>
                        </a:rPr>
                        <a:t>200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175</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29.17</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45</a:t>
                      </a:r>
                      <a:endParaRPr lang="he-IL"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20"/>
                  </a:ext>
                </a:extLst>
              </a:tr>
              <a:tr h="176713">
                <a:tc>
                  <a:txBody>
                    <a:bodyPr/>
                    <a:lstStyle/>
                    <a:p>
                      <a:pPr algn="ctr" rtl="0" fontAlgn="b"/>
                      <a:r>
                        <a:rPr lang="he-IL" sz="1400" u="none" strike="noStrike">
                          <a:effectLst/>
                        </a:rPr>
                        <a:t>7</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60.71429</a:t>
                      </a:r>
                      <a:endParaRPr lang="he-IL" sz="1400" b="1"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425</a:t>
                      </a:r>
                      <a:endParaRPr lang="he-IL" sz="1400" b="1" i="0" u="none" strike="noStrike" dirty="0">
                        <a:solidFill>
                          <a:srgbClr val="000000"/>
                        </a:solidFill>
                        <a:effectLst/>
                        <a:latin typeface="Arial" panose="020B0604020202020204" pitchFamily="34" charset="0"/>
                      </a:endParaRPr>
                    </a:p>
                  </a:txBody>
                  <a:tcPr marL="8332" marR="8332" marT="8332" marB="0" anchor="b">
                    <a:solidFill>
                      <a:schemeClr val="accent1">
                        <a:lumMod val="40000"/>
                        <a:lumOff val="60000"/>
                      </a:schemeClr>
                    </a:solidFill>
                  </a:tcPr>
                </a:tc>
                <a:tc>
                  <a:txBody>
                    <a:bodyPr/>
                    <a:lstStyle/>
                    <a:p>
                      <a:pPr algn="ctr" rtl="0" fontAlgn="b"/>
                      <a:r>
                        <a:rPr lang="he-IL" sz="1400" u="none" strike="noStrike">
                          <a:effectLst/>
                        </a:rPr>
                        <a:t>200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225</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32.14</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50</a:t>
                      </a:r>
                      <a:endParaRPr lang="he-IL"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21"/>
                  </a:ext>
                </a:extLst>
              </a:tr>
              <a:tr h="170447">
                <a:tc>
                  <a:txBody>
                    <a:bodyPr/>
                    <a:lstStyle/>
                    <a:p>
                      <a:pPr algn="ctr" rtl="0" fontAlgn="b"/>
                      <a:r>
                        <a:rPr lang="he-IL" sz="1400" u="none" strike="noStrike">
                          <a:effectLst/>
                        </a:rPr>
                        <a:t>8</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69.375</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555</a:t>
                      </a:r>
                      <a:endParaRPr lang="he-IL" sz="1400" b="1" i="0" u="none" strike="noStrike" dirty="0">
                        <a:solidFill>
                          <a:srgbClr val="000000"/>
                        </a:solidFill>
                        <a:effectLst/>
                        <a:latin typeface="Arial" panose="020B0604020202020204" pitchFamily="34" charset="0"/>
                      </a:endParaRPr>
                    </a:p>
                  </a:txBody>
                  <a:tcPr marL="8332" marR="8332" marT="8332" marB="0" anchor="b">
                    <a:solidFill>
                      <a:schemeClr val="accent1">
                        <a:lumMod val="40000"/>
                        <a:lumOff val="60000"/>
                      </a:schemeClr>
                    </a:solidFill>
                  </a:tcPr>
                </a:tc>
                <a:tc>
                  <a:txBody>
                    <a:bodyPr/>
                    <a:lstStyle/>
                    <a:p>
                      <a:pPr algn="ctr" rtl="0" fontAlgn="b"/>
                      <a:r>
                        <a:rPr lang="he-IL" sz="1400" u="none" strike="noStrike">
                          <a:effectLst/>
                        </a:rPr>
                        <a:t>200</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355</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u="none" strike="noStrike">
                          <a:effectLst/>
                        </a:rPr>
                        <a:t>44.38</a:t>
                      </a:r>
                      <a:endParaRPr lang="he-IL" sz="1400" b="0" i="0" u="none" strike="noStrike">
                        <a:solidFill>
                          <a:srgbClr val="000000"/>
                        </a:solidFill>
                        <a:effectLst/>
                        <a:latin typeface="Arial" panose="020B0604020202020204" pitchFamily="34" charset="0"/>
                      </a:endParaRPr>
                    </a:p>
                  </a:txBody>
                  <a:tcPr marL="8332" marR="8332" marT="8332" marB="0" anchor="b"/>
                </a:tc>
                <a:tc>
                  <a:txBody>
                    <a:bodyPr/>
                    <a:lstStyle/>
                    <a:p>
                      <a:pPr algn="ctr" rtl="0" fontAlgn="b"/>
                      <a:r>
                        <a:rPr lang="he-IL" sz="1400" b="1" u="none" strike="noStrike" dirty="0">
                          <a:effectLst/>
                        </a:rPr>
                        <a:t>130</a:t>
                      </a:r>
                      <a:endParaRPr lang="he-IL" sz="1400" b="1" i="0" u="none" strike="noStrike" dirty="0">
                        <a:solidFill>
                          <a:srgbClr val="000000"/>
                        </a:solidFill>
                        <a:effectLst/>
                        <a:latin typeface="Arial" panose="020B0604020202020204" pitchFamily="34" charset="0"/>
                      </a:endParaRPr>
                    </a:p>
                  </a:txBody>
                  <a:tcPr marL="8332" marR="8332" marT="8332" marB="0" anchor="b"/>
                </a:tc>
                <a:extLst>
                  <a:ext uri="{0D108BD9-81ED-4DB2-BD59-A6C34878D82A}">
                    <a16:rowId xmlns:a16="http://schemas.microsoft.com/office/drawing/2014/main" val="10022"/>
                  </a:ext>
                </a:extLst>
              </a:tr>
            </a:tbl>
          </a:graphicData>
        </a:graphic>
      </p:graphicFrame>
      <p:sp>
        <p:nvSpPr>
          <p:cNvPr id="8" name="Content Placeholder 7"/>
          <p:cNvSpPr>
            <a:spLocks noGrp="1"/>
          </p:cNvSpPr>
          <p:nvPr>
            <p:ph idx="1"/>
          </p:nvPr>
        </p:nvSpPr>
        <p:spPr>
          <a:xfrm>
            <a:off x="2135560" y="196985"/>
            <a:ext cx="6768752" cy="819929"/>
          </a:xfrm>
        </p:spPr>
        <p:txBody>
          <a:bodyPr>
            <a:normAutofit fontScale="77500" lnSpcReduction="20000"/>
          </a:bodyPr>
          <a:lstStyle/>
          <a:p>
            <a:pPr marL="0" indent="0">
              <a:buNone/>
            </a:pPr>
            <a:r>
              <a:rPr lang="he-IL" sz="2000" dirty="0"/>
              <a:t>תשובה נכונה: </a:t>
            </a:r>
            <a:r>
              <a:rPr lang="he-IL" sz="2000" b="1" dirty="0"/>
              <a:t>א. </a:t>
            </a:r>
            <a:r>
              <a:rPr lang="he-IL" sz="2000" dirty="0"/>
              <a:t>אם מחיר השוק של מוצר </a:t>
            </a:r>
            <a:r>
              <a:rPr lang="en-US" sz="2000" dirty="0"/>
              <a:t>X</a:t>
            </a:r>
            <a:r>
              <a:rPr lang="he-IL" sz="2000" dirty="0"/>
              <a:t> הוא  </a:t>
            </a:r>
            <a:r>
              <a:rPr lang="en-US" sz="2000" dirty="0"/>
              <a:t>PX=75</a:t>
            </a:r>
            <a:r>
              <a:rPr lang="he-IL" sz="2000" dirty="0"/>
              <a:t>  היצרן יכנס לענף עם  טכנולוגיה א' וייצר 5 יחידות. </a:t>
            </a:r>
          </a:p>
          <a:p>
            <a:pPr marL="0" indent="0">
              <a:buNone/>
            </a:pPr>
            <a:r>
              <a:rPr lang="he-IL" sz="2000" dirty="0"/>
              <a:t>הרווח הכולל של טכנולוגיה א' (</a:t>
            </a:r>
            <a:r>
              <a:rPr lang="en-US" sz="2000" dirty="0"/>
              <a:t>75*5-270=105</a:t>
            </a:r>
            <a:r>
              <a:rPr lang="he-IL" sz="2000" dirty="0"/>
              <a:t>) גבוה מרווח של ב' (</a:t>
            </a:r>
            <a:r>
              <a:rPr lang="en-US" sz="2000" dirty="0"/>
              <a:t>75*7-425=100</a:t>
            </a:r>
            <a:r>
              <a:rPr lang="he-IL" sz="2000" dirty="0"/>
              <a:t>).</a:t>
            </a:r>
            <a:endParaRPr lang="en-US" sz="2000" dirty="0"/>
          </a:p>
        </p:txBody>
      </p:sp>
      <p:sp>
        <p:nvSpPr>
          <p:cNvPr id="3" name="Date Placeholder 2"/>
          <p:cNvSpPr>
            <a:spLocks noGrp="1"/>
          </p:cNvSpPr>
          <p:nvPr>
            <p:ph type="dt" sz="half" idx="10"/>
          </p:nvPr>
        </p:nvSpPr>
        <p:spPr/>
        <p:txBody>
          <a:bodyPr/>
          <a:lstStyle/>
          <a:p>
            <a:fld id="{62CD0F34-E9CA-4458-8B01-ACE383DBFE35}" type="datetime8">
              <a:rPr lang="he-IL" smtClean="0"/>
              <a:t>03 ינואר 26</a:t>
            </a:fld>
            <a:endParaRPr lang="he-IL"/>
          </a:p>
        </p:txBody>
      </p:sp>
    </p:spTree>
    <p:extLst>
      <p:ext uri="{BB962C8B-B14F-4D97-AF65-F5344CB8AC3E}">
        <p14:creationId xmlns:p14="http://schemas.microsoft.com/office/powerpoint/2010/main" val="1655142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6714</TotalTime>
  <Words>7070</Words>
  <Application>Microsoft Office PowerPoint</Application>
  <PresentationFormat>מסך רחב</PresentationFormat>
  <Paragraphs>2234</Paragraphs>
  <Slides>63</Slides>
  <Notes>4</Notes>
  <HiddenSlides>6</HiddenSlides>
  <MMClips>0</MMClips>
  <ScaleCrop>false</ScaleCrop>
  <HeadingPairs>
    <vt:vector size="6" baseType="variant">
      <vt:variant>
        <vt:lpstr>גופנים בשימוש</vt:lpstr>
      </vt:variant>
      <vt:variant>
        <vt:i4>8</vt:i4>
      </vt:variant>
      <vt:variant>
        <vt:lpstr>ערכת נושא</vt:lpstr>
      </vt:variant>
      <vt:variant>
        <vt:i4>2</vt:i4>
      </vt:variant>
      <vt:variant>
        <vt:lpstr>כותרות שקופיות</vt:lpstr>
      </vt:variant>
      <vt:variant>
        <vt:i4>63</vt:i4>
      </vt:variant>
    </vt:vector>
  </HeadingPairs>
  <TitlesOfParts>
    <vt:vector size="73" baseType="lpstr">
      <vt:lpstr>Arial</vt:lpstr>
      <vt:lpstr>Calibri</vt:lpstr>
      <vt:lpstr>Calibri Light</vt:lpstr>
      <vt:lpstr>Cambria Math</vt:lpstr>
      <vt:lpstr>David</vt:lpstr>
      <vt:lpstr>Franklin Gothic Book</vt:lpstr>
      <vt:lpstr>Perpetua</vt:lpstr>
      <vt:lpstr>Times New Roman</vt:lpstr>
      <vt:lpstr>ערכת נושא Office</vt:lpstr>
      <vt:lpstr>1_Office Theme</vt:lpstr>
      <vt:lpstr>מצגת של PowerPoint‏</vt:lpstr>
      <vt:lpstr>רווח כולל ורווח תפעולי</vt:lpstr>
      <vt:lpstr>רווח נקי/כולל:</vt:lpstr>
      <vt:lpstr>החלטות ייצור</vt:lpstr>
      <vt:lpstr>החלטות ייצור</vt:lpstr>
      <vt:lpstr>שאלה 1</vt:lpstr>
      <vt:lpstr>שאלה 1</vt:lpstr>
      <vt:lpstr>שאלה 1</vt:lpstr>
      <vt:lpstr>שאלה 1</vt:lpstr>
      <vt:lpstr>שאלה 1</vt:lpstr>
      <vt:lpstr>שאלה 1</vt:lpstr>
      <vt:lpstr>שאלה 1</vt:lpstr>
      <vt:lpstr>שאלה 1</vt:lpstr>
      <vt:lpstr>שאלה 1</vt:lpstr>
      <vt:lpstr>שאלה 1</vt:lpstr>
      <vt:lpstr>שאלה 1</vt:lpstr>
      <vt:lpstr>שאלה 1</vt:lpstr>
      <vt:lpstr>שאלה 1</vt:lpstr>
      <vt:lpstr>שאלה 1</vt:lpstr>
      <vt:lpstr>שאלה 1</vt:lpstr>
      <vt:lpstr>שאלה 1</vt:lpstr>
      <vt:lpstr>שאלה 1</vt:lpstr>
      <vt:lpstr>שאלה 1</vt:lpstr>
      <vt:lpstr>שאלה 1</vt:lpstr>
      <vt:lpstr>שאלה 1</vt:lpstr>
      <vt:lpstr>שאלה 1</vt:lpstr>
      <vt:lpstr>שאלה 1</vt:lpstr>
      <vt:lpstr>שאלה 1</vt:lpstr>
      <vt:lpstr>שאלה - הרחבה</vt:lpstr>
      <vt:lpstr>שאלה 1- הרחבה</vt:lpstr>
      <vt:lpstr>שאלה 2</vt:lpstr>
      <vt:lpstr>שאלה 2</vt:lpstr>
      <vt:lpstr>שאלה 2</vt:lpstr>
      <vt:lpstr>שאלה 2</vt:lpstr>
      <vt:lpstr>שאלה 3</vt:lpstr>
      <vt:lpstr>שאלה 3</vt:lpstr>
      <vt:lpstr>שאלה 3</vt:lpstr>
      <vt:lpstr>שאלה 3</vt:lpstr>
      <vt:lpstr>שאלה 3</vt:lpstr>
      <vt:lpstr>שאלה 3</vt:lpstr>
      <vt:lpstr>שאלה 3</vt:lpstr>
      <vt:lpstr>שאלה 4</vt:lpstr>
      <vt:lpstr>שאלה 4</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שאלת רשות ** (שאלת בחינה)</vt:lpstr>
      <vt:lpstr>שאלת רשות</vt:lpstr>
      <vt:lpstr>שאלת רשות</vt:lpstr>
      <vt:lpstr>שאלת רשות</vt:lpstr>
      <vt:lpstr>שאלת רשות</vt:lpstr>
      <vt:lpstr>שאלת רשות</vt:lpstr>
      <vt:lpstr>שאלת רשות</vt:lpstr>
      <vt:lpstr>שאלה 4 (שאלה מבחינה)</vt:lpstr>
      <vt:lpstr>שאלה 4 מבחינה</vt:lpstr>
      <vt:lpstr>שאלה 4 מבחינה</vt:lpstr>
      <vt:lpstr>שאלה 4 מבחינה</vt:lpstr>
      <vt:lpstr>שאלה 4 מבחינה</vt:lpstr>
      <vt:lpstr>שאלה 4 מבחינה</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Stasi</dc:creator>
  <cp:lastModifiedBy>איתן משקוביץ'</cp:lastModifiedBy>
  <cp:revision>263</cp:revision>
  <cp:lastPrinted>2015-11-21T14:43:06Z</cp:lastPrinted>
  <dcterms:created xsi:type="dcterms:W3CDTF">2015-11-01T12:01:30Z</dcterms:created>
  <dcterms:modified xsi:type="dcterms:W3CDTF">2026-01-03T19:14:36Z</dcterms:modified>
</cp:coreProperties>
</file>