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9" r:id="rId1"/>
    <p:sldMasterId id="2147483701" r:id="rId2"/>
    <p:sldMasterId id="2147483713" r:id="rId3"/>
    <p:sldMasterId id="2147483725" r:id="rId4"/>
    <p:sldMasterId id="2147483737" r:id="rId5"/>
  </p:sldMasterIdLst>
  <p:notesMasterIdLst>
    <p:notesMasterId r:id="rId30"/>
  </p:notesMasterIdLst>
  <p:handoutMasterIdLst>
    <p:handoutMasterId r:id="rId31"/>
  </p:handoutMasterIdLst>
  <p:sldIdLst>
    <p:sldId id="379" r:id="rId6"/>
    <p:sldId id="393" r:id="rId7"/>
    <p:sldId id="443" r:id="rId8"/>
    <p:sldId id="444" r:id="rId9"/>
    <p:sldId id="395" r:id="rId10"/>
    <p:sldId id="396" r:id="rId11"/>
    <p:sldId id="397" r:id="rId12"/>
    <p:sldId id="465" r:id="rId13"/>
    <p:sldId id="398" r:id="rId14"/>
    <p:sldId id="517" r:id="rId15"/>
    <p:sldId id="519" r:id="rId16"/>
    <p:sldId id="406" r:id="rId17"/>
    <p:sldId id="462" r:id="rId18"/>
    <p:sldId id="404" r:id="rId19"/>
    <p:sldId id="457" r:id="rId20"/>
    <p:sldId id="524" r:id="rId21"/>
    <p:sldId id="525" r:id="rId22"/>
    <p:sldId id="526" r:id="rId23"/>
    <p:sldId id="528" r:id="rId24"/>
    <p:sldId id="527" r:id="rId25"/>
    <p:sldId id="463" r:id="rId26"/>
    <p:sldId id="468" r:id="rId27"/>
    <p:sldId id="467" r:id="rId28"/>
    <p:sldId id="471" r:id="rId29"/>
  </p:sldIdLst>
  <p:sldSz cx="9144000" cy="6858000" type="screen4x3"/>
  <p:notesSz cx="6997700" cy="92837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364" autoAdjust="0"/>
    <p:restoredTop sz="87431" autoAdjust="0"/>
  </p:normalViewPr>
  <p:slideViewPr>
    <p:cSldViewPr>
      <p:cViewPr varScale="1">
        <p:scale>
          <a:sx n="59" d="100"/>
          <a:sy n="59" d="100"/>
        </p:scale>
        <p:origin x="72" y="33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2125"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63988" y="0"/>
            <a:ext cx="3032125" cy="463550"/>
          </a:xfrm>
          <a:prstGeom prst="rect">
            <a:avLst/>
          </a:prstGeom>
        </p:spPr>
        <p:txBody>
          <a:bodyPr vert="horz" lIns="91440" tIns="45720" rIns="91440" bIns="45720" rtlCol="0"/>
          <a:lstStyle>
            <a:lvl1pPr algn="r">
              <a:defRPr sz="1200"/>
            </a:lvl1pPr>
          </a:lstStyle>
          <a:p>
            <a:fld id="{8046A23F-44EA-4998-B353-629424D5D89F}" type="datetimeFigureOut">
              <a:rPr lang="en-US" smtClean="0"/>
              <a:pPr/>
              <a:t>1/10/2026</a:t>
            </a:fld>
            <a:endParaRPr lang="en-US"/>
          </a:p>
        </p:txBody>
      </p:sp>
      <p:sp>
        <p:nvSpPr>
          <p:cNvPr id="4" name="Footer Placeholder 3"/>
          <p:cNvSpPr>
            <a:spLocks noGrp="1"/>
          </p:cNvSpPr>
          <p:nvPr>
            <p:ph type="ftr" sz="quarter" idx="2"/>
          </p:nvPr>
        </p:nvSpPr>
        <p:spPr>
          <a:xfrm>
            <a:off x="0" y="8818563"/>
            <a:ext cx="3032125" cy="4635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63988" y="8818563"/>
            <a:ext cx="3032125" cy="463550"/>
          </a:xfrm>
          <a:prstGeom prst="rect">
            <a:avLst/>
          </a:prstGeom>
        </p:spPr>
        <p:txBody>
          <a:bodyPr vert="horz" lIns="91440" tIns="45720" rIns="91440" bIns="45720" rtlCol="0" anchor="b"/>
          <a:lstStyle>
            <a:lvl1pPr algn="r">
              <a:defRPr sz="1200"/>
            </a:lvl1pPr>
          </a:lstStyle>
          <a:p>
            <a:fld id="{86BAE303-0884-410C-9092-ECA29FC93440}" type="slidenum">
              <a:rPr lang="en-US" smtClean="0"/>
              <a:pPr/>
              <a:t>‹#›</a:t>
            </a:fld>
            <a:endParaRPr lang="en-US"/>
          </a:p>
        </p:txBody>
      </p:sp>
    </p:spTree>
    <p:extLst>
      <p:ext uri="{BB962C8B-B14F-4D97-AF65-F5344CB8AC3E}">
        <p14:creationId xmlns:p14="http://schemas.microsoft.com/office/powerpoint/2010/main" val="2044992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965575" y="0"/>
            <a:ext cx="3032125" cy="46355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3032125" cy="463550"/>
          </a:xfrm>
          <a:prstGeom prst="rect">
            <a:avLst/>
          </a:prstGeom>
        </p:spPr>
        <p:txBody>
          <a:bodyPr vert="horz" lIns="91440" tIns="45720" rIns="91440" bIns="45720" rtlCol="1"/>
          <a:lstStyle>
            <a:lvl1pPr algn="l">
              <a:defRPr sz="1200"/>
            </a:lvl1pPr>
          </a:lstStyle>
          <a:p>
            <a:fld id="{505E6B3D-C821-4564-B313-E92657ECA99A}" type="datetimeFigureOut">
              <a:rPr lang="he-IL" smtClean="0"/>
              <a:t>כ"א/טבת/תשפ"ו</a:t>
            </a:fld>
            <a:endParaRPr lang="he-IL"/>
          </a:p>
        </p:txBody>
      </p:sp>
      <p:sp>
        <p:nvSpPr>
          <p:cNvPr id="4" name="מציין מיקום של תמונת שקופית 3"/>
          <p:cNvSpPr>
            <a:spLocks noGrp="1" noRot="1" noChangeAspect="1"/>
          </p:cNvSpPr>
          <p:nvPr>
            <p:ph type="sldImg" idx="2"/>
          </p:nvPr>
        </p:nvSpPr>
        <p:spPr>
          <a:xfrm>
            <a:off x="1177925" y="696913"/>
            <a:ext cx="4641850" cy="3481387"/>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700088" y="4410075"/>
            <a:ext cx="5597525" cy="4176713"/>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965575" y="8818563"/>
            <a:ext cx="3032125" cy="463550"/>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818563"/>
            <a:ext cx="3032125" cy="463550"/>
          </a:xfrm>
          <a:prstGeom prst="rect">
            <a:avLst/>
          </a:prstGeom>
        </p:spPr>
        <p:txBody>
          <a:bodyPr vert="horz" lIns="91440" tIns="45720" rIns="91440" bIns="45720" rtlCol="1" anchor="b"/>
          <a:lstStyle>
            <a:lvl1pPr algn="l">
              <a:defRPr sz="1200"/>
            </a:lvl1pPr>
          </a:lstStyle>
          <a:p>
            <a:fld id="{050D2172-BA09-43AD-821A-4F8719DBAD90}" type="slidenum">
              <a:rPr lang="he-IL" smtClean="0"/>
              <a:t>‹#›</a:t>
            </a:fld>
            <a:endParaRPr lang="he-IL"/>
          </a:p>
        </p:txBody>
      </p:sp>
    </p:spTree>
    <p:extLst>
      <p:ext uri="{BB962C8B-B14F-4D97-AF65-F5344CB8AC3E}">
        <p14:creationId xmlns:p14="http://schemas.microsoft.com/office/powerpoint/2010/main" val="8788720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endParaRPr lang="he-IL" dirty="0"/>
          </a:p>
        </p:txBody>
      </p:sp>
      <p:sp>
        <p:nvSpPr>
          <p:cNvPr id="4" name="מציין מיקום של מספר שקופית 3"/>
          <p:cNvSpPr>
            <a:spLocks noGrp="1"/>
          </p:cNvSpPr>
          <p:nvPr>
            <p:ph type="sldNum" sz="quarter" idx="10"/>
          </p:nvPr>
        </p:nvSpPr>
        <p:spPr/>
        <p:txBody>
          <a:bodyPr/>
          <a:lstStyle/>
          <a:p>
            <a:fld id="{D2C82395-937F-4E84-B28A-7B6CEAC8931B}" type="slidenum">
              <a:rPr lang="he-IL" smtClean="0"/>
              <a:pPr/>
              <a:t>15</a:t>
            </a:fld>
            <a:endParaRPr lang="he-IL"/>
          </a:p>
        </p:txBody>
      </p:sp>
    </p:spTree>
    <p:extLst>
      <p:ext uri="{BB962C8B-B14F-4D97-AF65-F5344CB8AC3E}">
        <p14:creationId xmlns:p14="http://schemas.microsoft.com/office/powerpoint/2010/main" val="3954081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7CA60DE1-AB4D-4545-A09E-7FC73E7DFC7E}"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solidFill>
                <a:srgbClr val="EBDDC3"/>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solidFill>
                  <a:srgbClr val="EBDDC3"/>
                </a:solidFill>
              </a:rPr>
              <a:pPr/>
              <a:t>‹#›</a:t>
            </a:fld>
            <a:endParaRPr lang="en-US">
              <a:solidFill>
                <a:srgbClr val="EBDDC3"/>
              </a:solidFill>
            </a:endParaRPr>
          </a:p>
        </p:txBody>
      </p:sp>
    </p:spTree>
    <p:extLst>
      <p:ext uri="{BB962C8B-B14F-4D97-AF65-F5344CB8AC3E}">
        <p14:creationId xmlns:p14="http://schemas.microsoft.com/office/powerpoint/2010/main" val="2782590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1340418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21535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4116047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8" name="Footer Placeholder 7"/>
          <p:cNvSpPr>
            <a:spLocks noGrp="1"/>
          </p:cNvSpPr>
          <p:nvPr>
            <p:ph type="ftr" sz="quarter" idx="11"/>
          </p:nvPr>
        </p:nvSpPr>
        <p:spPr/>
        <p:txBody>
          <a:bodyPr/>
          <a:lstStyle/>
          <a:p>
            <a:endParaRPr lang="en-US">
              <a:solidFill>
                <a:srgbClr val="775F55"/>
              </a:solidFill>
            </a:endParaRPr>
          </a:p>
        </p:txBody>
      </p:sp>
      <p:sp>
        <p:nvSpPr>
          <p:cNvPr id="9" name="Slide Number Placeholder 8"/>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498007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4" name="Footer Placeholder 3"/>
          <p:cNvSpPr>
            <a:spLocks noGrp="1"/>
          </p:cNvSpPr>
          <p:nvPr>
            <p:ph type="ftr" sz="quarter" idx="11"/>
          </p:nvPr>
        </p:nvSpPr>
        <p:spPr/>
        <p:txBody>
          <a:bodyPr/>
          <a:lstStyle/>
          <a:p>
            <a:endParaRPr lang="en-US">
              <a:solidFill>
                <a:srgbClr val="775F55"/>
              </a:solidFill>
            </a:endParaRPr>
          </a:p>
        </p:txBody>
      </p:sp>
      <p:sp>
        <p:nvSpPr>
          <p:cNvPr id="5" name="Slide Number Placeholder 4"/>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2167908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3" name="Footer Placeholder 2"/>
          <p:cNvSpPr>
            <a:spLocks noGrp="1"/>
          </p:cNvSpPr>
          <p:nvPr>
            <p:ph type="ftr" sz="quarter" idx="11"/>
          </p:nvPr>
        </p:nvSpPr>
        <p:spPr/>
        <p:txBody>
          <a:bodyPr/>
          <a:lstStyle/>
          <a:p>
            <a:endParaRPr lang="en-US">
              <a:solidFill>
                <a:srgbClr val="775F55"/>
              </a:solidFill>
            </a:endParaRPr>
          </a:p>
        </p:txBody>
      </p:sp>
      <p:sp>
        <p:nvSpPr>
          <p:cNvPr id="4" name="Slide Number Placeholder 3"/>
          <p:cNvSpPr>
            <a:spLocks noGrp="1"/>
          </p:cNvSpPr>
          <p:nvPr>
            <p:ph type="sldNum" sz="quarter" idx="12"/>
          </p:nvPr>
        </p:nvSpPr>
        <p:spPr/>
        <p:txBody>
          <a:bodyPr/>
          <a:lstStyle/>
          <a:p>
            <a:fld id="{6078E1E5-739E-47A9-8EFC-15BF9D407EC4}" type="slidenum">
              <a:rPr lang="en-US" smtClean="0">
                <a:solidFill>
                  <a:srgbClr val="775F55"/>
                </a:solidFill>
              </a:rPr>
              <a:pPr/>
              <a:t>‹#›</a:t>
            </a:fld>
            <a:endParaRPr lang="en-US">
              <a:solidFill>
                <a:srgbClr val="775F55"/>
              </a:solidFill>
            </a:endParaRPr>
          </a:p>
        </p:txBody>
      </p:sp>
    </p:spTree>
    <p:extLst>
      <p:ext uri="{BB962C8B-B14F-4D97-AF65-F5344CB8AC3E}">
        <p14:creationId xmlns:p14="http://schemas.microsoft.com/office/powerpoint/2010/main" val="3922759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1580929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6" name="Footer Placeholder 5"/>
          <p:cNvSpPr>
            <a:spLocks noGrp="1"/>
          </p:cNvSpPr>
          <p:nvPr>
            <p:ph type="ftr" sz="quarter" idx="11"/>
          </p:nvPr>
        </p:nvSpPr>
        <p:spPr/>
        <p:txBody>
          <a:bodyPr/>
          <a:lstStyle/>
          <a:p>
            <a:endParaRPr lang="en-US">
              <a:solidFill>
                <a:srgbClr val="775F55"/>
              </a:solidFill>
            </a:endParaRPr>
          </a:p>
        </p:txBody>
      </p:sp>
      <p:sp>
        <p:nvSpPr>
          <p:cNvPr id="7" name="Slide Number Placeholder 6"/>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287388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887125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A60DE1-AB4D-4545-A09E-7FC73E7DFC7E}" type="datetimeFigureOut">
              <a:rPr lang="en-US" smtClean="0">
                <a:solidFill>
                  <a:srgbClr val="775F55"/>
                </a:solidFill>
              </a:rPr>
              <a:pPr/>
              <a:t>1/10/2026</a:t>
            </a:fld>
            <a:endParaRPr lang="en-US">
              <a:solidFill>
                <a:srgbClr val="775F55"/>
              </a:solidFill>
            </a:endParaRPr>
          </a:p>
        </p:txBody>
      </p:sp>
      <p:sp>
        <p:nvSpPr>
          <p:cNvPr id="5" name="Footer Placeholder 4"/>
          <p:cNvSpPr>
            <a:spLocks noGrp="1"/>
          </p:cNvSpPr>
          <p:nvPr>
            <p:ph type="ftr" sz="quarter" idx="11"/>
          </p:nvPr>
        </p:nvSpPr>
        <p:spPr/>
        <p:txBody>
          <a:bodyPr/>
          <a:lstStyle/>
          <a:p>
            <a:endParaRPr lang="en-US">
              <a:solidFill>
                <a:srgbClr val="775F55"/>
              </a:solidFill>
            </a:endParaRPr>
          </a:p>
        </p:txBody>
      </p:sp>
      <p:sp>
        <p:nvSpPr>
          <p:cNvPr id="6" name="Slide Number Placeholder 5"/>
          <p:cNvSpPr>
            <a:spLocks noGrp="1"/>
          </p:cNvSpPr>
          <p:nvPr>
            <p:ph type="sldNum" sz="quarter" idx="12"/>
          </p:nvPr>
        </p:nvSpPr>
        <p:spPr/>
        <p:txBody>
          <a:bodyPr/>
          <a:lstStyle/>
          <a:p>
            <a:fld id="{6078E1E5-739E-47A9-8EFC-15BF9D407EC4}" type="slidenum">
              <a:rPr lang="en-US" smtClean="0"/>
              <a:pPr/>
              <a:t>‹#›</a:t>
            </a:fld>
            <a:endParaRPr lang="en-US"/>
          </a:p>
        </p:txBody>
      </p:sp>
    </p:spTree>
    <p:extLst>
      <p:ext uri="{BB962C8B-B14F-4D97-AF65-F5344CB8AC3E}">
        <p14:creationId xmlns:p14="http://schemas.microsoft.com/office/powerpoint/2010/main" val="3662147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65651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464026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5415619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585819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757684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788157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093641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531152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4905307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364386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0148783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6631964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6248793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715829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9292634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endParaRPr lang="he-IL">
              <a:solidFill>
                <a:prstClr val="black">
                  <a:tint val="75000"/>
                </a:prstClr>
              </a:solidFill>
            </a:endParaRPr>
          </a:p>
        </p:txBody>
      </p:sp>
      <p:sp>
        <p:nvSpPr>
          <p:cNvPr id="9" name="Slide Number Placeholder 8"/>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8281829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endParaRPr lang="he-IL">
              <a:solidFill>
                <a:prstClr val="black">
                  <a:tint val="75000"/>
                </a:prstClr>
              </a:solidFill>
            </a:endParaRPr>
          </a:p>
        </p:txBody>
      </p:sp>
      <p:sp>
        <p:nvSpPr>
          <p:cNvPr id="5" name="Slide Number Placeholder 4"/>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9115322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3" name="Footer Placeholder 2"/>
          <p:cNvSpPr>
            <a:spLocks noGrp="1"/>
          </p:cNvSpPr>
          <p:nvPr>
            <p:ph type="ftr" sz="quarter" idx="11"/>
          </p:nvPr>
        </p:nvSpPr>
        <p:spPr/>
        <p:txBody>
          <a:bodyPr/>
          <a:lstStyle/>
          <a:p>
            <a:endParaRPr lang="he-IL">
              <a:solidFill>
                <a:prstClr val="black">
                  <a:tint val="75000"/>
                </a:prstClr>
              </a:solidFill>
            </a:endParaRPr>
          </a:p>
        </p:txBody>
      </p:sp>
      <p:sp>
        <p:nvSpPr>
          <p:cNvPr id="4" name="Slide Number Placeholder 3"/>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011342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87151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endParaRPr lang="he-IL">
              <a:solidFill>
                <a:prstClr val="black">
                  <a:tint val="75000"/>
                </a:prstClr>
              </a:solidFill>
            </a:endParaRPr>
          </a:p>
        </p:txBody>
      </p:sp>
      <p:sp>
        <p:nvSpPr>
          <p:cNvPr id="7" name="Slide Number Placeholder 6"/>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26466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022344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endParaRPr lang="he-IL">
              <a:solidFill>
                <a:prstClr val="black">
                  <a:tint val="75000"/>
                </a:prstClr>
              </a:solidFill>
            </a:endParaRPr>
          </a:p>
        </p:txBody>
      </p:sp>
      <p:sp>
        <p:nvSpPr>
          <p:cNvPr id="6" name="Slide Number Placeholder 5"/>
          <p:cNvSpPr>
            <a:spLocks noGrp="1"/>
          </p:cNvSpPr>
          <p:nvPr>
            <p:ph type="sldNum" sz="quarter" idx="12"/>
          </p:nvPr>
        </p:nvSpPr>
        <p:spPr/>
        <p:txBody>
          <a:body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7775863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143000" y="1122363"/>
            <a:ext cx="6858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FBAE8DB-14DA-4A44-B7A2-D14F91560996}" type="datetime8">
              <a:rPr lang="he-IL" smtClean="0"/>
              <a:t>10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9223607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43BFCA6B-8B65-4F97-899C-22DFF02D76A8}" type="datetime8">
              <a:rPr lang="he-IL" smtClean="0"/>
              <a:t>10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39164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623888" y="1709739"/>
            <a:ext cx="78867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1785767D-A391-4425-87D6-04DF0887B84A}" type="datetime8">
              <a:rPr lang="he-IL" smtClean="0"/>
              <a:t>10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964671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286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29150" y="1825625"/>
            <a:ext cx="38862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D5785FAF-0D78-49E4-8A40-FCBD26DDA1D1}" type="datetime8">
              <a:rPr lang="he-IL" smtClean="0"/>
              <a:t>10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538880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365126"/>
            <a:ext cx="78867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29842" y="2505075"/>
            <a:ext cx="3868340"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29150" y="2505075"/>
            <a:ext cx="3887391"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5F3002B9-64BC-4A0B-B381-449BF5F4AA64}" type="datetime8">
              <a:rPr lang="he-IL" smtClean="0"/>
              <a:t>10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5841600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2EE39670-4D47-476C-BA07-7EC70258AA07}" type="datetime8">
              <a:rPr lang="he-IL" smtClean="0"/>
              <a:t>10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1438244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807EDDCF-873D-4D61-81D5-81AE9D1AB848}" type="datetime8">
              <a:rPr lang="he-IL" smtClean="0"/>
              <a:t>10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0794276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AB9753BA-6B9F-4FA6-9F81-E0DB7F7F2288}" type="datetime8">
              <a:rPr lang="he-IL" smtClean="0"/>
              <a:t>10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205430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8EF45A28-DED8-445F-82DA-EB5684E216E4}" type="datetime8">
              <a:rPr lang="he-IL" smtClean="0"/>
              <a:t>10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9107078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04DD203A-5443-4D58-AA65-6F93DC1F6E15}" type="datetime8">
              <a:rPr lang="he-IL" smtClean="0"/>
              <a:t>10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7208846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28650" y="365125"/>
            <a:ext cx="5800725"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2F4C2359-F6F0-4218-A5AE-871BE472C295}" type="datetime8">
              <a:rPr lang="he-IL" smtClean="0"/>
              <a:t>10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9256754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0454576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0230336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133574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33371293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3784658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8412168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587014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0414044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5293137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54306620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1D493A8E-DA1F-4800-885D-206C46E27BAB}" type="slidenum">
              <a:rPr lang="he-IL" smtClean="0"/>
              <a:pPr/>
              <a:t>‹#›</a:t>
            </a:fld>
            <a:endParaRPr lang="he-IL"/>
          </a:p>
        </p:txBody>
      </p:sp>
    </p:spTree>
    <p:extLst>
      <p:ext uri="{BB962C8B-B14F-4D97-AF65-F5344CB8AC3E}">
        <p14:creationId xmlns:p14="http://schemas.microsoft.com/office/powerpoint/2010/main" val="2074225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pPr/>
              <a:t>‹#›</a:t>
            </a:fld>
            <a:endParaRPr lang="he-IL"/>
          </a:p>
        </p:txBody>
      </p:sp>
    </p:spTree>
    <p:extLst>
      <p:ext uri="{BB962C8B-B14F-4D97-AF65-F5344CB8AC3E}">
        <p14:creationId xmlns:p14="http://schemas.microsoft.com/office/powerpoint/2010/main" val="301036013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265627720"/>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solidFill>
                  <a:prstClr val="black">
                    <a:tint val="75000"/>
                  </a:prstClr>
                </a:solidFill>
              </a:rPr>
              <a:pPr/>
              <a:t>כ"א/טבת/תשפ"ו</a:t>
            </a:fld>
            <a:endParaRPr lang="he-IL">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95134297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628650" y="365126"/>
            <a:ext cx="78867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8650" y="1825625"/>
            <a:ext cx="78867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457950" y="6356351"/>
            <a:ext cx="2057400" cy="365125"/>
          </a:xfrm>
          <a:prstGeom prst="rect">
            <a:avLst/>
          </a:prstGeom>
        </p:spPr>
        <p:txBody>
          <a:bodyPr vert="horz" lIns="91440" tIns="45720" rIns="91440" bIns="45720" rtlCol="1" anchor="ctr"/>
          <a:lstStyle>
            <a:lvl1pPr algn="r">
              <a:defRPr sz="900">
                <a:solidFill>
                  <a:schemeClr val="tx1">
                    <a:tint val="75000"/>
                  </a:schemeClr>
                </a:solidFill>
              </a:defRPr>
            </a:lvl1pPr>
          </a:lstStyle>
          <a:p>
            <a:fld id="{5787C4DA-7EA6-4C7C-8E9E-B03D80C15E76}" type="datetime8">
              <a:rPr lang="he-IL" smtClean="0"/>
              <a:t>10 ינואר 26</a:t>
            </a:fld>
            <a:endParaRPr lang="he-IL"/>
          </a:p>
        </p:txBody>
      </p:sp>
      <p:sp>
        <p:nvSpPr>
          <p:cNvPr id="5" name="מציין מיקום של כותרת תחתונה 4"/>
          <p:cNvSpPr>
            <a:spLocks noGrp="1"/>
          </p:cNvSpPr>
          <p:nvPr>
            <p:ph type="ftr" sz="quarter" idx="3"/>
          </p:nvPr>
        </p:nvSpPr>
        <p:spPr>
          <a:xfrm>
            <a:off x="3028950" y="6356351"/>
            <a:ext cx="30861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628650" y="6356351"/>
            <a:ext cx="2057400" cy="365125"/>
          </a:xfrm>
          <a:prstGeom prst="rect">
            <a:avLst/>
          </a:prstGeom>
        </p:spPr>
        <p:txBody>
          <a:bodyPr vert="horz" lIns="91440" tIns="45720" rIns="91440" bIns="45720" rtlCol="1" anchor="ctr"/>
          <a:lstStyle>
            <a:lvl1pPr algn="l">
              <a:defRPr sz="900">
                <a:solidFill>
                  <a:schemeClr val="tx1">
                    <a:tint val="75000"/>
                  </a:schemeClr>
                </a:solidFill>
              </a:defRPr>
            </a:lvl1pPr>
          </a:lstStyle>
          <a:p>
            <a:fld id="{D69A981F-4466-4789-9E41-1885E502A96E}" type="slidenum">
              <a:rPr lang="he-IL" smtClean="0"/>
              <a:t>‹#›</a:t>
            </a:fld>
            <a:endParaRPr lang="he-IL"/>
          </a:p>
        </p:txBody>
      </p:sp>
    </p:spTree>
    <p:extLst>
      <p:ext uri="{BB962C8B-B14F-4D97-AF65-F5344CB8AC3E}">
        <p14:creationId xmlns:p14="http://schemas.microsoft.com/office/powerpoint/2010/main" val="119520081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ftr="0"/>
  <p:txStyles>
    <p:titleStyle>
      <a:lvl1pPr algn="r"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AC72585-8C17-46D3-B0CA-329696EF4D7C}" type="datetimeFigureOut">
              <a:rPr lang="he-IL" smtClean="0"/>
              <a:pPr/>
              <a:t>כ"א/טבת/תשפ"ו</a:t>
            </a:fld>
            <a:endParaRPr lang="he-I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493A8E-DA1F-4800-885D-206C46E27BAB}" type="slidenum">
              <a:rPr lang="he-IL" smtClean="0"/>
              <a:pPr/>
              <a:t>‹#›</a:t>
            </a:fld>
            <a:endParaRPr lang="he-IL"/>
          </a:p>
        </p:txBody>
      </p:sp>
    </p:spTree>
    <p:extLst>
      <p:ext uri="{BB962C8B-B14F-4D97-AF65-F5344CB8AC3E}">
        <p14:creationId xmlns:p14="http://schemas.microsoft.com/office/powerpoint/2010/main" val="282049847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18" Type="http://schemas.openxmlformats.org/officeDocument/2006/relationships/oleObject" Target="../embeddings/oleObject9.bin"/><Relationship Id="rId3" Type="http://schemas.openxmlformats.org/officeDocument/2006/relationships/image" Target="../media/image1.wmf"/><Relationship Id="rId21" Type="http://schemas.openxmlformats.org/officeDocument/2006/relationships/image" Target="../media/image10.wmf"/><Relationship Id="rId7"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8.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12.x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5" Type="http://schemas.openxmlformats.org/officeDocument/2006/relationships/image" Target="../media/image7.wmf"/><Relationship Id="rId10" Type="http://schemas.openxmlformats.org/officeDocument/2006/relationships/oleObject" Target="../embeddings/oleObject5.bin"/><Relationship Id="rId19" Type="http://schemas.openxmlformats.org/officeDocument/2006/relationships/image" Target="../media/image9.wmf"/><Relationship Id="rId4" Type="http://schemas.openxmlformats.org/officeDocument/2006/relationships/oleObject" Target="../embeddings/oleObject2.bin"/><Relationship Id="rId9" Type="http://schemas.openxmlformats.org/officeDocument/2006/relationships/image" Target="../media/image4.wmf"/><Relationship Id="rId1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2.wmf"/><Relationship Id="rId18" Type="http://schemas.openxmlformats.org/officeDocument/2006/relationships/oleObject" Target="../embeddings/oleObject19.bin"/><Relationship Id="rId3" Type="http://schemas.openxmlformats.org/officeDocument/2006/relationships/image" Target="../media/image1.wmf"/><Relationship Id="rId21" Type="http://schemas.openxmlformats.org/officeDocument/2006/relationships/oleObject" Target="../embeddings/oleObject20.bin"/><Relationship Id="rId7" Type="http://schemas.openxmlformats.org/officeDocument/2006/relationships/image" Target="../media/image4.wmf"/><Relationship Id="rId12" Type="http://schemas.openxmlformats.org/officeDocument/2006/relationships/oleObject" Target="../embeddings/oleObject16.bin"/><Relationship Id="rId17" Type="http://schemas.openxmlformats.org/officeDocument/2006/relationships/image" Target="../media/image14.wmf"/><Relationship Id="rId2" Type="http://schemas.openxmlformats.org/officeDocument/2006/relationships/oleObject" Target="../embeddings/oleObject11.bin"/><Relationship Id="rId16" Type="http://schemas.openxmlformats.org/officeDocument/2006/relationships/oleObject" Target="../embeddings/oleObject18.bin"/><Relationship Id="rId20"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oleObject" Target="../embeddings/oleObject13.bin"/><Relationship Id="rId11" Type="http://schemas.openxmlformats.org/officeDocument/2006/relationships/image" Target="../media/image6.wmf"/><Relationship Id="rId24" Type="http://schemas.openxmlformats.org/officeDocument/2006/relationships/image" Target="../media/image34.png"/><Relationship Id="rId5" Type="http://schemas.openxmlformats.org/officeDocument/2006/relationships/image" Target="../media/image11.wmf"/><Relationship Id="rId15" Type="http://schemas.openxmlformats.org/officeDocument/2006/relationships/image" Target="../media/image13.wmf"/><Relationship Id="rId10" Type="http://schemas.openxmlformats.org/officeDocument/2006/relationships/oleObject" Target="../embeddings/oleObject15.bin"/><Relationship Id="rId19" Type="http://schemas.openxmlformats.org/officeDocument/2006/relationships/image" Target="../media/image15.wmf"/><Relationship Id="rId4" Type="http://schemas.openxmlformats.org/officeDocument/2006/relationships/oleObject" Target="../embeddings/oleObject12.bin"/><Relationship Id="rId9" Type="http://schemas.openxmlformats.org/officeDocument/2006/relationships/image" Target="../media/image5.wmf"/><Relationship Id="rId14" Type="http://schemas.openxmlformats.org/officeDocument/2006/relationships/oleObject" Target="../embeddings/oleObject17.bin"/><Relationship Id="rId22" Type="http://schemas.openxmlformats.org/officeDocument/2006/relationships/image" Target="../media/image2.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2.wmf"/><Relationship Id="rId18" Type="http://schemas.openxmlformats.org/officeDocument/2006/relationships/oleObject" Target="../embeddings/oleObject19.bin"/><Relationship Id="rId26" Type="http://schemas.openxmlformats.org/officeDocument/2006/relationships/image" Target="../media/image330.png"/><Relationship Id="rId3" Type="http://schemas.openxmlformats.org/officeDocument/2006/relationships/image" Target="../media/image1.wmf"/><Relationship Id="rId7" Type="http://schemas.openxmlformats.org/officeDocument/2006/relationships/image" Target="../media/image4.wmf"/><Relationship Id="rId12" Type="http://schemas.openxmlformats.org/officeDocument/2006/relationships/oleObject" Target="../embeddings/oleObject16.bin"/><Relationship Id="rId17" Type="http://schemas.openxmlformats.org/officeDocument/2006/relationships/image" Target="../media/image14.wmf"/><Relationship Id="rId25" Type="http://schemas.openxmlformats.org/officeDocument/2006/relationships/image" Target="../media/image32.png"/><Relationship Id="rId2" Type="http://schemas.openxmlformats.org/officeDocument/2006/relationships/oleObject" Target="../embeddings/oleObject11.bin"/><Relationship Id="rId16" Type="http://schemas.openxmlformats.org/officeDocument/2006/relationships/oleObject" Target="../embeddings/oleObject21.bin"/><Relationship Id="rId20"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oleObject" Target="../embeddings/oleObject13.bin"/><Relationship Id="rId11" Type="http://schemas.openxmlformats.org/officeDocument/2006/relationships/image" Target="../media/image6.wmf"/><Relationship Id="rId24" Type="http://schemas.openxmlformats.org/officeDocument/2006/relationships/image" Target="../media/image41.png"/><Relationship Id="rId5" Type="http://schemas.openxmlformats.org/officeDocument/2006/relationships/image" Target="../media/image11.wmf"/><Relationship Id="rId15" Type="http://schemas.openxmlformats.org/officeDocument/2006/relationships/image" Target="../media/image13.wmf"/><Relationship Id="rId10" Type="http://schemas.openxmlformats.org/officeDocument/2006/relationships/oleObject" Target="../embeddings/oleObject15.bin"/><Relationship Id="rId19" Type="http://schemas.openxmlformats.org/officeDocument/2006/relationships/image" Target="../media/image15.wmf"/><Relationship Id="rId4" Type="http://schemas.openxmlformats.org/officeDocument/2006/relationships/oleObject" Target="../embeddings/oleObject12.bin"/><Relationship Id="rId9" Type="http://schemas.openxmlformats.org/officeDocument/2006/relationships/image" Target="../media/image5.wmf"/><Relationship Id="rId14"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27.bin"/><Relationship Id="rId18" Type="http://schemas.openxmlformats.org/officeDocument/2006/relationships/image" Target="../media/image10.wmf"/><Relationship Id="rId26" Type="http://schemas.openxmlformats.org/officeDocument/2006/relationships/image" Target="../media/image22.wmf"/><Relationship Id="rId3" Type="http://schemas.openxmlformats.org/officeDocument/2006/relationships/oleObject" Target="../embeddings/oleObject22.bin"/><Relationship Id="rId21" Type="http://schemas.openxmlformats.org/officeDocument/2006/relationships/oleObject" Target="../embeddings/oleObject31.bin"/><Relationship Id="rId7" Type="http://schemas.openxmlformats.org/officeDocument/2006/relationships/oleObject" Target="../embeddings/oleObject24.bin"/><Relationship Id="rId12" Type="http://schemas.openxmlformats.org/officeDocument/2006/relationships/image" Target="../media/image19.wmf"/><Relationship Id="rId17" Type="http://schemas.openxmlformats.org/officeDocument/2006/relationships/oleObject" Target="../embeddings/oleObject29.bin"/><Relationship Id="rId25" Type="http://schemas.openxmlformats.org/officeDocument/2006/relationships/oleObject" Target="../embeddings/oleObject33.bin"/><Relationship Id="rId2" Type="http://schemas.openxmlformats.org/officeDocument/2006/relationships/image" Target="../media/image17.jpeg"/><Relationship Id="rId16" Type="http://schemas.openxmlformats.org/officeDocument/2006/relationships/image" Target="../media/image9.wmf"/><Relationship Id="rId20" Type="http://schemas.openxmlformats.org/officeDocument/2006/relationships/image" Target="../media/image20.wmf"/><Relationship Id="rId1" Type="http://schemas.openxmlformats.org/officeDocument/2006/relationships/slideLayout" Target="../slideLayouts/slideLayout12.xml"/><Relationship Id="rId6" Type="http://schemas.openxmlformats.org/officeDocument/2006/relationships/image" Target="../media/image18.wmf"/><Relationship Id="rId11" Type="http://schemas.openxmlformats.org/officeDocument/2006/relationships/oleObject" Target="../embeddings/oleObject26.bin"/><Relationship Id="rId24" Type="http://schemas.openxmlformats.org/officeDocument/2006/relationships/image" Target="../media/image21.wmf"/><Relationship Id="rId5" Type="http://schemas.openxmlformats.org/officeDocument/2006/relationships/oleObject" Target="../embeddings/oleObject23.bin"/><Relationship Id="rId15" Type="http://schemas.openxmlformats.org/officeDocument/2006/relationships/oleObject" Target="../embeddings/oleObject28.bin"/><Relationship Id="rId23" Type="http://schemas.openxmlformats.org/officeDocument/2006/relationships/oleObject" Target="../embeddings/oleObject32.bin"/><Relationship Id="rId10" Type="http://schemas.openxmlformats.org/officeDocument/2006/relationships/image" Target="../media/image5.wmf"/><Relationship Id="rId19" Type="http://schemas.openxmlformats.org/officeDocument/2006/relationships/oleObject" Target="../embeddings/oleObject30.bin"/><Relationship Id="rId4" Type="http://schemas.openxmlformats.org/officeDocument/2006/relationships/image" Target="../media/image1.wmf"/><Relationship Id="rId9" Type="http://schemas.openxmlformats.org/officeDocument/2006/relationships/oleObject" Target="../embeddings/oleObject25.bin"/><Relationship Id="rId14" Type="http://schemas.openxmlformats.org/officeDocument/2006/relationships/image" Target="../media/image6.wmf"/><Relationship Id="rId22" Type="http://schemas.openxmlformats.org/officeDocument/2006/relationships/image" Target="../media/image2.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5.xml"/><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1.wmf"/><Relationship Id="rId13" Type="http://schemas.openxmlformats.org/officeDocument/2006/relationships/oleObject" Target="../embeddings/oleObject39.bin"/><Relationship Id="rId18" Type="http://schemas.openxmlformats.org/officeDocument/2006/relationships/image" Target="../media/image30.wmf"/><Relationship Id="rId26" Type="http://schemas.openxmlformats.org/officeDocument/2006/relationships/image" Target="../media/image34.wmf"/><Relationship Id="rId3" Type="http://schemas.openxmlformats.org/officeDocument/2006/relationships/oleObject" Target="../embeddings/oleObject34.bin"/><Relationship Id="rId21" Type="http://schemas.openxmlformats.org/officeDocument/2006/relationships/oleObject" Target="../embeddings/oleObject43.bin"/><Relationship Id="rId7" Type="http://schemas.openxmlformats.org/officeDocument/2006/relationships/oleObject" Target="../embeddings/oleObject36.bin"/><Relationship Id="rId12" Type="http://schemas.openxmlformats.org/officeDocument/2006/relationships/image" Target="../media/image27.wmf"/><Relationship Id="rId17" Type="http://schemas.openxmlformats.org/officeDocument/2006/relationships/oleObject" Target="../embeddings/oleObject41.bin"/><Relationship Id="rId25" Type="http://schemas.openxmlformats.org/officeDocument/2006/relationships/oleObject" Target="../embeddings/oleObject45.bin"/><Relationship Id="rId2" Type="http://schemas.openxmlformats.org/officeDocument/2006/relationships/notesSlide" Target="../notesSlides/notesSlide1.xml"/><Relationship Id="rId16" Type="http://schemas.openxmlformats.org/officeDocument/2006/relationships/image" Target="../media/image29.wmf"/><Relationship Id="rId20" Type="http://schemas.openxmlformats.org/officeDocument/2006/relationships/image" Target="../media/image31.wmf"/><Relationship Id="rId29"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25.wmf"/><Relationship Id="rId11" Type="http://schemas.openxmlformats.org/officeDocument/2006/relationships/oleObject" Target="../embeddings/oleObject38.bin"/><Relationship Id="rId24" Type="http://schemas.openxmlformats.org/officeDocument/2006/relationships/image" Target="../media/image33.wmf"/><Relationship Id="rId5" Type="http://schemas.openxmlformats.org/officeDocument/2006/relationships/oleObject" Target="../embeddings/oleObject35.bin"/><Relationship Id="rId15" Type="http://schemas.openxmlformats.org/officeDocument/2006/relationships/oleObject" Target="../embeddings/oleObject40.bin"/><Relationship Id="rId23" Type="http://schemas.openxmlformats.org/officeDocument/2006/relationships/oleObject" Target="../embeddings/oleObject44.bin"/><Relationship Id="rId28" Type="http://schemas.openxmlformats.org/officeDocument/2006/relationships/image" Target="../media/image44.png"/><Relationship Id="rId10" Type="http://schemas.openxmlformats.org/officeDocument/2006/relationships/image" Target="../media/image26.wmf"/><Relationship Id="rId19" Type="http://schemas.openxmlformats.org/officeDocument/2006/relationships/oleObject" Target="../embeddings/oleObject42.bin"/><Relationship Id="rId4" Type="http://schemas.openxmlformats.org/officeDocument/2006/relationships/image" Target="../media/image24.wmf"/><Relationship Id="rId9" Type="http://schemas.openxmlformats.org/officeDocument/2006/relationships/oleObject" Target="../embeddings/oleObject37.bin"/><Relationship Id="rId14" Type="http://schemas.openxmlformats.org/officeDocument/2006/relationships/image" Target="../media/image28.wmf"/><Relationship Id="rId22" Type="http://schemas.openxmlformats.org/officeDocument/2006/relationships/image" Target="../media/image32.wmf"/><Relationship Id="rId30" Type="http://schemas.openxmlformats.org/officeDocument/2006/relationships/image" Target="../media/image7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58231" y="4962453"/>
            <a:ext cx="6477000" cy="1036927"/>
          </a:xfrm>
        </p:spPr>
        <p:txBody>
          <a:bodyPr anchor="t">
            <a:normAutofit/>
          </a:bodyPr>
          <a:lstStyle/>
          <a:p>
            <a:pPr algn="ctr"/>
            <a:r>
              <a:rPr lang="he-IL" sz="3200" b="1" dirty="0">
                <a:solidFill>
                  <a:schemeClr val="accent4">
                    <a:lumMod val="75000"/>
                  </a:schemeClr>
                </a:solidFill>
                <a:latin typeface="Arial" pitchFamily="34" charset="0"/>
                <a:cs typeface="Arial" pitchFamily="34" charset="0"/>
              </a:rPr>
              <a:t>מבוא למיקרו כלכלה</a:t>
            </a:r>
            <a:endParaRPr lang="en-US" sz="3200" b="1" dirty="0">
              <a:solidFill>
                <a:schemeClr val="accent4">
                  <a:lumMod val="75000"/>
                </a:schemeClr>
              </a:solidFill>
              <a:latin typeface="Arial" pitchFamily="34" charset="0"/>
              <a:cs typeface="Arial" pitchFamily="34" charset="0"/>
            </a:endParaRPr>
          </a:p>
        </p:txBody>
      </p:sp>
      <p:sp>
        <p:nvSpPr>
          <p:cNvPr id="4" name="Subtitle 3"/>
          <p:cNvSpPr>
            <a:spLocks noGrp="1"/>
          </p:cNvSpPr>
          <p:nvPr>
            <p:ph type="subTitle" idx="1"/>
          </p:nvPr>
        </p:nvSpPr>
        <p:spPr>
          <a:xfrm>
            <a:off x="810070" y="193043"/>
            <a:ext cx="7762908" cy="2500330"/>
          </a:xfrm>
          <a:solidFill>
            <a:schemeClr val="accent1">
              <a:lumMod val="20000"/>
              <a:lumOff val="80000"/>
            </a:schemeClr>
          </a:solidFill>
        </p:spPr>
        <p:txBody>
          <a:bodyPr>
            <a:noAutofit/>
          </a:bodyPr>
          <a:lstStyle/>
          <a:p>
            <a:pPr rtl="1"/>
            <a:br>
              <a:rPr lang="en-US" sz="6000" b="1" spc="-100" dirty="0">
                <a:solidFill>
                  <a:schemeClr val="accent4">
                    <a:lumMod val="75000"/>
                  </a:schemeClr>
                </a:solidFill>
                <a:latin typeface="Arial" pitchFamily="34" charset="0"/>
                <a:ea typeface="+mj-ea"/>
                <a:cs typeface="Arial" pitchFamily="34" charset="0"/>
              </a:rPr>
            </a:br>
            <a:r>
              <a:rPr lang="he-IL" sz="6000" b="1" spc="-100" dirty="0">
                <a:solidFill>
                  <a:schemeClr val="accent4">
                    <a:lumMod val="50000"/>
                  </a:schemeClr>
                </a:solidFill>
                <a:latin typeface="Arial" pitchFamily="34" charset="0"/>
                <a:ea typeface="+mj-ea"/>
                <a:cs typeface="Arial" pitchFamily="34" charset="0"/>
              </a:rPr>
              <a:t>פתרון </a:t>
            </a:r>
            <a:r>
              <a:rPr lang="he-IL" sz="6000" b="1" spc="-100" dirty="0">
                <a:solidFill>
                  <a:schemeClr val="accent4">
                    <a:lumMod val="50000"/>
                  </a:schemeClr>
                </a:solidFill>
                <a:latin typeface="Arial" pitchFamily="34" charset="0"/>
                <a:ea typeface="+mj-ea"/>
              </a:rPr>
              <a:t>תרגיל בית</a:t>
            </a:r>
            <a:r>
              <a:rPr lang="en-US" sz="6000" b="1" spc="-100" dirty="0">
                <a:solidFill>
                  <a:schemeClr val="accent4">
                    <a:lumMod val="50000"/>
                  </a:schemeClr>
                </a:solidFill>
                <a:latin typeface="Arial" pitchFamily="34" charset="0"/>
                <a:ea typeface="+mj-ea"/>
              </a:rPr>
              <a:t> </a:t>
            </a:r>
            <a:r>
              <a:rPr lang="he-IL" sz="6000" b="1" spc="-100" dirty="0">
                <a:solidFill>
                  <a:schemeClr val="accent4">
                    <a:lumMod val="50000"/>
                  </a:schemeClr>
                </a:solidFill>
                <a:latin typeface="Arial" pitchFamily="34" charset="0"/>
                <a:ea typeface="+mj-ea"/>
              </a:rPr>
              <a:t>11</a:t>
            </a:r>
            <a:r>
              <a:rPr lang="en-US" sz="6000" b="1" spc="-100" dirty="0">
                <a:solidFill>
                  <a:schemeClr val="accent4">
                    <a:lumMod val="50000"/>
                  </a:schemeClr>
                </a:solidFill>
                <a:latin typeface="Arial" pitchFamily="34" charset="0"/>
                <a:ea typeface="+mj-ea"/>
              </a:rPr>
              <a:t> </a:t>
            </a:r>
            <a:endParaRPr lang="he-IL" sz="6000" b="1" spc="-100" dirty="0">
              <a:solidFill>
                <a:schemeClr val="accent4">
                  <a:lumMod val="50000"/>
                </a:schemeClr>
              </a:solidFill>
              <a:latin typeface="Arial" pitchFamily="34" charset="0"/>
              <a:ea typeface="+mj-ea"/>
              <a:cs typeface="Arial" pitchFamily="34" charset="0"/>
            </a:endParaRPr>
          </a:p>
          <a:p>
            <a:pPr algn="ctr"/>
            <a:endParaRPr lang="he-IL" sz="3200" b="1" spc="-100" dirty="0">
              <a:solidFill>
                <a:schemeClr val="accent4">
                  <a:lumMod val="50000"/>
                </a:schemeClr>
              </a:solidFill>
              <a:latin typeface="Arial" pitchFamily="34" charset="0"/>
              <a:ea typeface="+mj-ea"/>
              <a:cs typeface="Arial" pitchFamily="34" charset="0"/>
            </a:endParaRPr>
          </a:p>
        </p:txBody>
      </p:sp>
      <p:sp>
        <p:nvSpPr>
          <p:cNvPr id="5" name="Subtitle 3"/>
          <p:cNvSpPr txBox="1">
            <a:spLocks/>
          </p:cNvSpPr>
          <p:nvPr/>
        </p:nvSpPr>
        <p:spPr>
          <a:xfrm>
            <a:off x="-108520" y="3485966"/>
            <a:ext cx="9144000" cy="1928826"/>
          </a:xfrm>
          <a:prstGeom prst="rect">
            <a:avLst/>
          </a:prstGeom>
        </p:spPr>
        <p:txBody>
          <a:bodyPr vert="horz" anchor="ctr">
            <a:noAutofit/>
          </a:bodyPr>
          <a:lstStyle/>
          <a:p>
            <a:pPr algn="ctr">
              <a:spcBef>
                <a:spcPts val="700"/>
              </a:spcBef>
              <a:buClr>
                <a:srgbClr val="DD8047"/>
              </a:buClr>
              <a:buSzPct val="60000"/>
              <a:buFont typeface="Wingdings"/>
              <a:buNone/>
              <a:defRPr/>
            </a:pPr>
            <a:endParaRPr lang="he-IL" sz="3200" spc="-100" dirty="0">
              <a:solidFill>
                <a:prstClr val="white">
                  <a:lumMod val="65000"/>
                </a:prstClr>
              </a:solidFill>
              <a:latin typeface="Arial" pitchFamily="34" charset="0"/>
              <a:cs typeface="Arial" pitchFamily="34" charset="0"/>
            </a:endParaRPr>
          </a:p>
        </p:txBody>
      </p:sp>
      <p:sp>
        <p:nvSpPr>
          <p:cNvPr id="6" name="Subtitle 3"/>
          <p:cNvSpPr txBox="1">
            <a:spLocks/>
          </p:cNvSpPr>
          <p:nvPr/>
        </p:nvSpPr>
        <p:spPr>
          <a:xfrm>
            <a:off x="385746" y="6260275"/>
            <a:ext cx="2357454" cy="638818"/>
          </a:xfrm>
          <a:prstGeom prst="rect">
            <a:avLst/>
          </a:prstGeom>
        </p:spPr>
        <p:txBody>
          <a:bodyPr vert="horz" anchor="ctr">
            <a:noAutofit/>
          </a:bodyPr>
          <a:lstStyle/>
          <a:p>
            <a:pPr algn="l">
              <a:spcBef>
                <a:spcPts val="700"/>
              </a:spcBef>
              <a:buClr>
                <a:srgbClr val="DD8047"/>
              </a:buClr>
              <a:buSzPct val="60000"/>
              <a:buFont typeface="Wingdings"/>
              <a:buNone/>
              <a:defRPr/>
            </a:pPr>
            <a:endParaRPr lang="he-IL" sz="2000" spc="-100" dirty="0">
              <a:solidFill>
                <a:prstClr val="white"/>
              </a:solidFill>
              <a:latin typeface="Arial" pitchFamily="34" charset="0"/>
              <a:cs typeface="Arial" pitchFamily="34" charset="0"/>
            </a:endParaRPr>
          </a:p>
        </p:txBody>
      </p:sp>
      <p:sp>
        <p:nvSpPr>
          <p:cNvPr id="7" name="Subtitle 3"/>
          <p:cNvSpPr txBox="1">
            <a:spLocks/>
          </p:cNvSpPr>
          <p:nvPr/>
        </p:nvSpPr>
        <p:spPr>
          <a:xfrm>
            <a:off x="-464032" y="5936582"/>
            <a:ext cx="2643206" cy="921418"/>
          </a:xfrm>
          <a:prstGeom prst="rect">
            <a:avLst/>
          </a:prstGeom>
        </p:spPr>
        <p:txBody>
          <a:bodyPr vert="horz" anchor="ctr">
            <a:noAutofit/>
          </a:bodyPr>
          <a:lstStyle/>
          <a:p>
            <a:pPr>
              <a:spcBef>
                <a:spcPts val="700"/>
              </a:spcBef>
              <a:buClr>
                <a:srgbClr val="DD8047"/>
              </a:buClr>
              <a:buSzPct val="60000"/>
              <a:buFont typeface="Wingdings"/>
              <a:buNone/>
              <a:defRPr/>
            </a:pPr>
            <a:endParaRPr lang="he-IL" sz="2000" spc="-100" dirty="0">
              <a:solidFill>
                <a:prstClr val="white"/>
              </a:solidFill>
              <a:latin typeface="Arial" pitchFamily="34" charset="0"/>
              <a:cs typeface="Arial" pitchFamily="34" charset="0"/>
            </a:endParaRPr>
          </a:p>
        </p:txBody>
      </p:sp>
      <p:sp>
        <p:nvSpPr>
          <p:cNvPr id="10" name="TextBox 9">
            <a:extLst>
              <a:ext uri="{FF2B5EF4-FFF2-40B4-BE49-F238E27FC236}">
                <a16:creationId xmlns:a16="http://schemas.microsoft.com/office/drawing/2014/main" id="{79CE07A3-F6FA-48F4-A6CF-BF87DF8FCB23}"/>
              </a:ext>
            </a:extLst>
          </p:cNvPr>
          <p:cNvSpPr txBox="1"/>
          <p:nvPr/>
        </p:nvSpPr>
        <p:spPr>
          <a:xfrm>
            <a:off x="1530919" y="3167503"/>
            <a:ext cx="6408712" cy="932115"/>
          </a:xfrm>
          <a:prstGeom prst="rect">
            <a:avLst/>
          </a:prstGeom>
          <a:noFill/>
        </p:spPr>
        <p:txBody>
          <a:bodyPr wrap="square">
            <a:spAutoFit/>
          </a:bodyPr>
          <a:lstStyle/>
          <a:p>
            <a:pPr algn="ctr" rtl="1">
              <a:lnSpc>
                <a:spcPct val="150000"/>
              </a:lnSpc>
            </a:pPr>
            <a:r>
              <a:rPr lang="he-IL" sz="4000" b="1" u="sng" kern="0" dirty="0">
                <a:effectLst/>
                <a:latin typeface="Times New Roman" panose="02020603050405020304" pitchFamily="18" charset="0"/>
                <a:ea typeface="Times New Roman" panose="02020603050405020304" pitchFamily="18" charset="0"/>
                <a:cs typeface="David" panose="020E0502060401010101" pitchFamily="34" charset="-79"/>
              </a:rPr>
              <a:t>שיווי משקל בשוק המוצר </a:t>
            </a:r>
            <a:endParaRPr lang="en-IL" sz="3200" b="1" kern="0" dirty="0">
              <a:effectLst/>
              <a:latin typeface="Times New Roman" panose="02020603050405020304" pitchFamily="18" charset="0"/>
              <a:ea typeface="Times New Roman" panose="02020603050405020304" pitchFamily="18" charset="0"/>
              <a:cs typeface="David" panose="020E0502060401010101" pitchFamily="34" charset="-79"/>
            </a:endParaRPr>
          </a:p>
        </p:txBody>
      </p:sp>
    </p:spTree>
    <p:extLst>
      <p:ext uri="{BB962C8B-B14F-4D97-AF65-F5344CB8AC3E}">
        <p14:creationId xmlns:p14="http://schemas.microsoft.com/office/powerpoint/2010/main" val="451350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642574" y="980728"/>
            <a:ext cx="8280920" cy="2862322"/>
          </a:xfrm>
          <a:prstGeom prst="rect">
            <a:avLst/>
          </a:prstGeom>
        </p:spPr>
        <p:txBody>
          <a:bodyPr wrap="square">
            <a:spAutoFit/>
          </a:bodyPr>
          <a:lstStyle/>
          <a:p>
            <a:pPr>
              <a:lnSpc>
                <a:spcPct val="150000"/>
              </a:lnSpc>
            </a:pPr>
            <a:r>
              <a:rPr lang="he-IL" sz="2000" b="1" dirty="0">
                <a:solidFill>
                  <a:prstClr val="black"/>
                </a:solidFill>
              </a:rPr>
              <a:t>הביקוש המצרפי </a:t>
            </a:r>
            <a:r>
              <a:rPr lang="he-IL" sz="2000" dirty="0">
                <a:solidFill>
                  <a:prstClr val="black"/>
                </a:solidFill>
              </a:rPr>
              <a:t>לאפרסקים במשק נתון ע"י        </a:t>
            </a:r>
            <a:r>
              <a:rPr lang="en-US" sz="2000" b="1" dirty="0">
                <a:solidFill>
                  <a:prstClr val="black"/>
                </a:solidFill>
              </a:rPr>
              <a:t>P</a:t>
            </a:r>
            <a:r>
              <a:rPr lang="en-US" sz="2000" b="1" baseline="-25000" dirty="0">
                <a:solidFill>
                  <a:prstClr val="black"/>
                </a:solidFill>
              </a:rPr>
              <a:t>X</a:t>
            </a:r>
            <a:r>
              <a:rPr lang="en-US" sz="2000" b="1" dirty="0">
                <a:solidFill>
                  <a:prstClr val="black"/>
                </a:solidFill>
              </a:rPr>
              <a:t>=700-0.3X</a:t>
            </a:r>
          </a:p>
          <a:p>
            <a:pPr>
              <a:lnSpc>
                <a:spcPct val="150000"/>
              </a:lnSpc>
            </a:pPr>
            <a:r>
              <a:rPr lang="he-IL" sz="2000" b="1" dirty="0">
                <a:solidFill>
                  <a:srgbClr val="A5A5A5">
                    <a:lumMod val="50000"/>
                  </a:srgbClr>
                </a:solidFill>
              </a:rPr>
              <a:t>ההיצע המצרפי </a:t>
            </a:r>
            <a:r>
              <a:rPr lang="he-IL" sz="2000" dirty="0">
                <a:solidFill>
                  <a:prstClr val="black"/>
                </a:solidFill>
              </a:rPr>
              <a:t>של האפרסקים נתון ע"י            </a:t>
            </a:r>
            <a:r>
              <a:rPr lang="en-US" sz="2000" b="1" dirty="0">
                <a:solidFill>
                  <a:srgbClr val="A5A5A5">
                    <a:lumMod val="50000"/>
                  </a:srgbClr>
                </a:solidFill>
              </a:rPr>
              <a:t>P</a:t>
            </a:r>
            <a:r>
              <a:rPr lang="en-US" sz="2000" b="1" baseline="-25000" dirty="0">
                <a:solidFill>
                  <a:srgbClr val="A5A5A5">
                    <a:lumMod val="50000"/>
                  </a:srgbClr>
                </a:solidFill>
              </a:rPr>
              <a:t>X</a:t>
            </a:r>
            <a:r>
              <a:rPr lang="en-US" sz="2000" b="1" dirty="0">
                <a:solidFill>
                  <a:srgbClr val="A5A5A5">
                    <a:lumMod val="50000"/>
                  </a:srgbClr>
                </a:solidFill>
              </a:rPr>
              <a:t>=100+0.25X</a:t>
            </a:r>
          </a:p>
          <a:p>
            <a:pPr>
              <a:lnSpc>
                <a:spcPct val="150000"/>
              </a:lnSpc>
            </a:pPr>
            <a:r>
              <a:rPr lang="he-IL" sz="2000" dirty="0">
                <a:solidFill>
                  <a:prstClr val="black"/>
                </a:solidFill>
              </a:rPr>
              <a:t>כאשר </a:t>
            </a:r>
            <a:r>
              <a:rPr lang="en-US" sz="2000" dirty="0">
                <a:solidFill>
                  <a:prstClr val="black"/>
                </a:solidFill>
              </a:rPr>
              <a:t>X</a:t>
            </a:r>
            <a:r>
              <a:rPr lang="he-IL" sz="2000" dirty="0">
                <a:solidFill>
                  <a:prstClr val="black"/>
                </a:solidFill>
              </a:rPr>
              <a:t>- כמות בטון אפרסקים.</a:t>
            </a:r>
            <a:r>
              <a:rPr lang="en-US" sz="2000" dirty="0">
                <a:solidFill>
                  <a:prstClr val="black"/>
                </a:solidFill>
              </a:rPr>
              <a:t>P</a:t>
            </a:r>
            <a:r>
              <a:rPr lang="en-US" sz="2000" baseline="-25000" dirty="0">
                <a:solidFill>
                  <a:prstClr val="black"/>
                </a:solidFill>
              </a:rPr>
              <a:t>X</a:t>
            </a:r>
            <a:r>
              <a:rPr lang="en-US" sz="2000" dirty="0">
                <a:solidFill>
                  <a:prstClr val="black"/>
                </a:solidFill>
              </a:rPr>
              <a:t>   </a:t>
            </a:r>
            <a:r>
              <a:rPr lang="he-IL" sz="2000" dirty="0">
                <a:solidFill>
                  <a:prstClr val="black"/>
                </a:solidFill>
              </a:rPr>
              <a:t>-מחיר לטון.</a:t>
            </a:r>
          </a:p>
          <a:p>
            <a:pPr>
              <a:lnSpc>
                <a:spcPct val="150000"/>
              </a:lnSpc>
            </a:pPr>
            <a:endParaRPr lang="en-US" sz="2000" dirty="0">
              <a:solidFill>
                <a:prstClr val="black"/>
              </a:solidFill>
            </a:endParaRPr>
          </a:p>
          <a:p>
            <a:pPr>
              <a:lnSpc>
                <a:spcPct val="150000"/>
              </a:lnSpc>
            </a:pPr>
            <a:r>
              <a:rPr lang="he-IL" sz="2000" dirty="0">
                <a:solidFill>
                  <a:prstClr val="black"/>
                </a:solidFill>
              </a:rPr>
              <a:t>א) ציירו את עקומות הביקוש וההיצע (וציינו נקודות חיתוך של העקומות עם הצירים).</a:t>
            </a:r>
            <a:endParaRPr lang="en-US" sz="2000" dirty="0">
              <a:solidFill>
                <a:prstClr val="black"/>
              </a:solidFill>
            </a:endParaRPr>
          </a:p>
          <a:p>
            <a:pPr>
              <a:lnSpc>
                <a:spcPct val="150000"/>
              </a:lnSpc>
            </a:pPr>
            <a:r>
              <a:rPr lang="he-IL" sz="2000" dirty="0">
                <a:solidFill>
                  <a:prstClr val="black"/>
                </a:solidFill>
              </a:rPr>
              <a:t>ב) חשבו את מחיר וכמות שיווי המשקל.</a:t>
            </a:r>
            <a:endParaRPr lang="en-US" sz="2000" dirty="0">
              <a:solidFill>
                <a:prstClr val="black"/>
              </a:solidFill>
            </a:endParaRPr>
          </a:p>
        </p:txBody>
      </p:sp>
      <p:sp>
        <p:nvSpPr>
          <p:cNvPr id="3" name="כותרת 1"/>
          <p:cNvSpPr txBox="1">
            <a:spLocks/>
          </p:cNvSpPr>
          <p:nvPr/>
        </p:nvSpPr>
        <p:spPr>
          <a:xfrm>
            <a:off x="0" y="1"/>
            <a:ext cx="9144000"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a:t>
            </a:r>
            <a:endParaRPr lang="he-IL" sz="2400" b="1" dirty="0">
              <a:solidFill>
                <a:prstClr val="black"/>
              </a:solidFill>
              <a:cs typeface="Arial" panose="020B0604020202020204" pitchFamily="34" charset="0"/>
            </a:endParaRPr>
          </a:p>
        </p:txBody>
      </p:sp>
    </p:spTree>
    <p:extLst>
      <p:ext uri="{BB962C8B-B14F-4D97-AF65-F5344CB8AC3E}">
        <p14:creationId xmlns:p14="http://schemas.microsoft.com/office/powerpoint/2010/main" val="3377396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24128" y="0"/>
            <a:ext cx="3419872" cy="1143000"/>
          </a:xfrm>
        </p:spPr>
        <p:txBody>
          <a:bodyPr/>
          <a:lstStyle/>
          <a:p>
            <a:pPr algn="r"/>
            <a:r>
              <a:rPr lang="he-IL" b="1" dirty="0">
                <a:solidFill>
                  <a:schemeClr val="tx2">
                    <a:lumMod val="75000"/>
                  </a:schemeClr>
                </a:solidFill>
              </a:rPr>
              <a:t>שאלה 1</a:t>
            </a:r>
            <a:endParaRPr lang="he-IL"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prstClr val="black"/>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771286" y="5929330"/>
            <a:ext cx="954108" cy="369332"/>
          </a:xfrm>
          <a:prstGeom prst="rect">
            <a:avLst/>
          </a:prstGeom>
          <a:noFill/>
        </p:spPr>
        <p:txBody>
          <a:bodyPr wrap="none" rtlCol="1">
            <a:spAutoFit/>
          </a:bodyPr>
          <a:lstStyle/>
          <a:p>
            <a:r>
              <a:rPr lang="he-IL" dirty="0">
                <a:solidFill>
                  <a:prstClr val="black"/>
                </a:solidFill>
              </a:rPr>
              <a:t>1,090.9</a:t>
            </a:r>
          </a:p>
        </p:txBody>
      </p:sp>
      <p:sp>
        <p:nvSpPr>
          <p:cNvPr id="27" name="TextBox 26"/>
          <p:cNvSpPr txBox="1"/>
          <p:nvPr/>
        </p:nvSpPr>
        <p:spPr>
          <a:xfrm>
            <a:off x="24038" y="4274114"/>
            <a:ext cx="761748" cy="369332"/>
          </a:xfrm>
          <a:prstGeom prst="rect">
            <a:avLst/>
          </a:prstGeom>
          <a:noFill/>
        </p:spPr>
        <p:txBody>
          <a:bodyPr wrap="none" rtlCol="1">
            <a:spAutoFit/>
          </a:bodyPr>
          <a:lstStyle/>
          <a:p>
            <a:r>
              <a:rPr lang="he-IL" dirty="0">
                <a:solidFill>
                  <a:prstClr val="black"/>
                </a:solidFill>
              </a:rPr>
              <a:t>372.7</a:t>
            </a:r>
          </a:p>
        </p:txBody>
      </p:sp>
      <p:sp>
        <p:nvSpPr>
          <p:cNvPr id="28" name="מלבן 27"/>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P=100+0.25X</a:t>
            </a:r>
          </a:p>
        </p:txBody>
      </p:sp>
      <p:sp>
        <p:nvSpPr>
          <p:cNvPr id="29" name="מלבן 28"/>
          <p:cNvSpPr/>
          <p:nvPr/>
        </p:nvSpPr>
        <p:spPr>
          <a:xfrm>
            <a:off x="3820751" y="1889610"/>
            <a:ext cx="5323249" cy="837152"/>
          </a:xfrm>
          <a:prstGeom prst="rect">
            <a:avLst/>
          </a:prstGeom>
        </p:spPr>
        <p:txBody>
          <a:bodyPr wrap="square">
            <a:spAutoFit/>
          </a:bodyPr>
          <a:lstStyle/>
          <a:p>
            <a:pPr>
              <a:spcBef>
                <a:spcPct val="20000"/>
              </a:spcBef>
            </a:pPr>
            <a:r>
              <a:rPr lang="he-IL" sz="2200" b="1" dirty="0">
                <a:solidFill>
                  <a:prstClr val="black"/>
                </a:solidFill>
              </a:rPr>
              <a:t>             היצע שווה ל</a:t>
            </a:r>
            <a:r>
              <a:rPr lang="he-IL" sz="2200" b="1" dirty="0">
                <a:solidFill>
                  <a:srgbClr val="7030A0"/>
                </a:solidFill>
              </a:rPr>
              <a:t>ביקוש</a:t>
            </a:r>
            <a:r>
              <a:rPr lang="he-IL" sz="2200" b="1" dirty="0">
                <a:solidFill>
                  <a:prstClr val="black"/>
                </a:solidFill>
              </a:rPr>
              <a:t> (כמויות ומחירים)</a:t>
            </a:r>
          </a:p>
          <a:p>
            <a:pPr marL="342900" indent="-342900" algn="ctr">
              <a:spcBef>
                <a:spcPct val="20000"/>
              </a:spcBef>
            </a:pPr>
            <a:r>
              <a:rPr lang="en-US" sz="2200" dirty="0">
                <a:solidFill>
                  <a:srgbClr val="7030A0"/>
                </a:solidFill>
              </a:rPr>
              <a:t>700-0.3X</a:t>
            </a:r>
            <a:r>
              <a:rPr lang="en-US" sz="2200" dirty="0">
                <a:solidFill>
                  <a:prstClr val="black"/>
                </a:solidFill>
              </a:rPr>
              <a:t> = 100+0.25X</a:t>
            </a:r>
            <a:r>
              <a:rPr lang="he-IL" sz="2200" dirty="0">
                <a:solidFill>
                  <a:prstClr val="black"/>
                </a:solidFill>
              </a:rPr>
              <a:t> 	</a:t>
            </a:r>
            <a:endParaRPr lang="he-IL" dirty="0">
              <a:solidFill>
                <a:prstClr val="black"/>
              </a:solidFill>
            </a:endParaRPr>
          </a:p>
        </p:txBody>
      </p:sp>
      <p:sp>
        <p:nvSpPr>
          <p:cNvPr id="30" name="מלבן 29"/>
          <p:cNvSpPr/>
          <p:nvPr/>
        </p:nvSpPr>
        <p:spPr>
          <a:xfrm>
            <a:off x="5292080" y="2746385"/>
            <a:ext cx="2877468" cy="769441"/>
          </a:xfrm>
          <a:prstGeom prst="rect">
            <a:avLst/>
          </a:prstGeom>
        </p:spPr>
        <p:txBody>
          <a:bodyPr wrap="square">
            <a:spAutoFit/>
          </a:bodyPr>
          <a:lstStyle/>
          <a:p>
            <a:r>
              <a:rPr lang="he-IL" sz="2200" dirty="0">
                <a:solidFill>
                  <a:prstClr val="black"/>
                </a:solidFill>
              </a:rPr>
              <a:t>	</a:t>
            </a:r>
            <a:r>
              <a:rPr lang="en-US" sz="2200" dirty="0">
                <a:solidFill>
                  <a:prstClr val="black"/>
                </a:solidFill>
              </a:rPr>
              <a:t>600 = 0.55X</a:t>
            </a:r>
            <a:r>
              <a:rPr lang="he-IL" sz="2200" dirty="0">
                <a:solidFill>
                  <a:prstClr val="black"/>
                </a:solidFill>
              </a:rPr>
              <a:t>	</a:t>
            </a:r>
            <a:endParaRPr lang="he-IL" dirty="0">
              <a:solidFill>
                <a:prstClr val="black"/>
              </a:solidFill>
            </a:endParaRPr>
          </a:p>
        </p:txBody>
      </p:sp>
      <p:sp>
        <p:nvSpPr>
          <p:cNvPr id="31" name="מלבן 30"/>
          <p:cNvSpPr/>
          <p:nvPr/>
        </p:nvSpPr>
        <p:spPr>
          <a:xfrm>
            <a:off x="5062496" y="3312567"/>
            <a:ext cx="3268704" cy="430887"/>
          </a:xfrm>
          <a:prstGeom prst="rect">
            <a:avLst/>
          </a:prstGeom>
        </p:spPr>
        <p:txBody>
          <a:bodyPr wrap="square">
            <a:spAutoFit/>
          </a:bodyPr>
          <a:lstStyle/>
          <a:p>
            <a:r>
              <a:rPr lang="en-US" sz="2200" dirty="0">
                <a:solidFill>
                  <a:prstClr val="black"/>
                </a:solidFill>
              </a:rPr>
              <a:t>	</a:t>
            </a:r>
            <a:r>
              <a:rPr lang="en-US" sz="2200" b="1" dirty="0">
                <a:solidFill>
                  <a:prstClr val="black"/>
                </a:solidFill>
              </a:rPr>
              <a:t>X = 1,090.91</a:t>
            </a:r>
            <a:r>
              <a:rPr lang="he-IL" sz="2200" dirty="0">
                <a:solidFill>
                  <a:prstClr val="black"/>
                </a:solidFill>
              </a:rPr>
              <a:t>	</a:t>
            </a:r>
            <a:endParaRPr lang="he-IL" dirty="0">
              <a:solidFill>
                <a:prstClr val="black"/>
              </a:solidFill>
            </a:endParaRPr>
          </a:p>
        </p:txBody>
      </p:sp>
      <p:sp>
        <p:nvSpPr>
          <p:cNvPr id="32" name="מלבן 31"/>
          <p:cNvSpPr/>
          <p:nvPr/>
        </p:nvSpPr>
        <p:spPr>
          <a:xfrm>
            <a:off x="4030304" y="3910942"/>
            <a:ext cx="4512816" cy="430887"/>
          </a:xfrm>
          <a:prstGeom prst="rect">
            <a:avLst/>
          </a:prstGeom>
        </p:spPr>
        <p:txBody>
          <a:bodyPr wrap="square">
            <a:spAutoFit/>
          </a:bodyPr>
          <a:lstStyle/>
          <a:p>
            <a:r>
              <a:rPr lang="en-US" sz="2200" b="1" dirty="0">
                <a:solidFill>
                  <a:prstClr val="black"/>
                </a:solidFill>
              </a:rPr>
              <a:t>P = </a:t>
            </a:r>
            <a:r>
              <a:rPr lang="en-US" sz="2200" dirty="0">
                <a:solidFill>
                  <a:prstClr val="black"/>
                </a:solidFill>
              </a:rPr>
              <a:t>700-0.3</a:t>
            </a:r>
            <a:r>
              <a:rPr lang="en-US" sz="2200" dirty="0">
                <a:solidFill>
                  <a:prstClr val="black"/>
                </a:solidFill>
                <a:cs typeface="Calibri"/>
              </a:rPr>
              <a:t>∙1,090.91 </a:t>
            </a:r>
            <a:r>
              <a:rPr lang="en-US" sz="2200" b="1" dirty="0">
                <a:solidFill>
                  <a:prstClr val="black"/>
                </a:solidFill>
                <a:cs typeface="Calibri"/>
              </a:rPr>
              <a:t>= 372.73</a:t>
            </a:r>
            <a:r>
              <a:rPr lang="en-US" sz="2200" dirty="0">
                <a:solidFill>
                  <a:prstClr val="black"/>
                </a:solidFill>
                <a:cs typeface="Calibri"/>
              </a:rPr>
              <a:t>	</a:t>
            </a:r>
            <a:endParaRPr lang="he-IL" dirty="0">
              <a:solidFill>
                <a:prstClr val="black"/>
              </a:solidFill>
            </a:endParaRPr>
          </a:p>
        </p:txBody>
      </p:sp>
      <p:sp>
        <p:nvSpPr>
          <p:cNvPr id="33" name="מלבן 32"/>
          <p:cNvSpPr/>
          <p:nvPr/>
        </p:nvSpPr>
        <p:spPr>
          <a:xfrm>
            <a:off x="3556560" y="1268760"/>
            <a:ext cx="5326061" cy="430887"/>
          </a:xfrm>
          <a:prstGeom prst="rect">
            <a:avLst/>
          </a:prstGeom>
        </p:spPr>
        <p:txBody>
          <a:bodyPr wrap="square">
            <a:spAutoFit/>
          </a:bodyPr>
          <a:lstStyle/>
          <a:p>
            <a:pPr>
              <a:spcBef>
                <a:spcPct val="20000"/>
              </a:spcBef>
            </a:pPr>
            <a:r>
              <a:rPr lang="he-IL" sz="2200" b="1" dirty="0">
                <a:solidFill>
                  <a:prstClr val="black"/>
                </a:solidFill>
              </a:rPr>
              <a:t>סעיף א2</a:t>
            </a:r>
            <a:r>
              <a:rPr lang="he-IL" sz="2200" dirty="0">
                <a:solidFill>
                  <a:prstClr val="black"/>
                </a:solidFill>
              </a:rPr>
              <a:t> – נחשב את מחיר וכמות ש"מ</a:t>
            </a:r>
          </a:p>
        </p:txBody>
      </p:sp>
    </p:spTree>
    <p:extLst>
      <p:ext uri="{BB962C8B-B14F-4D97-AF65-F5344CB8AC3E}">
        <p14:creationId xmlns:p14="http://schemas.microsoft.com/office/powerpoint/2010/main" val="74694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par>
                                <p:cTn id="8" presetID="6" presetClass="entr" presetSubtype="16"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circle(in)">
                                      <p:cBhvr>
                                        <p:cTn id="10" dur="2000"/>
                                        <p:tgtEl>
                                          <p:spTgt spid="24"/>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circle(in)">
                                      <p:cBhvr>
                                        <p:cTn id="13" dur="2000"/>
                                        <p:tgtEl>
                                          <p:spTgt spid="2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circle(in)">
                                      <p:cBhvr>
                                        <p:cTn id="16"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829400" y="0"/>
            <a:ext cx="2314600" cy="1143000"/>
          </a:xfrm>
        </p:spPr>
        <p:txBody>
          <a:bodyPr/>
          <a:lstStyle/>
          <a:p>
            <a:pPr algn="r"/>
            <a:r>
              <a:rPr lang="he-IL" b="1" dirty="0">
                <a:solidFill>
                  <a:schemeClr val="tx2">
                    <a:lumMod val="75000"/>
                  </a:schemeClr>
                </a:solidFill>
              </a:rPr>
              <a:t>שאלה 1</a:t>
            </a:r>
            <a:endParaRPr lang="he-IL" dirty="0"/>
          </a:p>
        </p:txBody>
      </p:sp>
      <p:grpSp>
        <p:nvGrpSpPr>
          <p:cNvPr id="3" name="קבוצה 11"/>
          <p:cNvGrpSpPr/>
          <p:nvPr/>
        </p:nvGrpSpPr>
        <p:grpSpPr>
          <a:xfrm>
            <a:off x="713554" y="2786852"/>
            <a:ext cx="4428794" cy="3143272"/>
            <a:chOff x="713554" y="2786852"/>
            <a:chExt cx="4428794" cy="3143272"/>
          </a:xfrm>
        </p:grpSpPr>
        <p:cxnSp>
          <p:nvCxnSpPr>
            <p:cNvPr id="10" name="מחבר חץ ישר 9"/>
            <p:cNvCxnSpPr/>
            <p:nvPr/>
          </p:nvCxnSpPr>
          <p:spPr>
            <a:xfrm rot="5400000" flipH="1" flipV="1">
              <a:off x="-857288" y="4357694"/>
              <a:ext cx="3143272" cy="158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rot="5400000" flipH="1" flipV="1">
              <a:off x="2928348" y="3715330"/>
              <a:ext cx="0" cy="4428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14" name="מחבר ישר 13"/>
          <p:cNvCxnSpPr/>
          <p:nvPr/>
        </p:nvCxnSpPr>
        <p:spPr>
          <a:xfrm>
            <a:off x="714348" y="3071810"/>
            <a:ext cx="3286148" cy="285752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מחבר ישר 15"/>
          <p:cNvCxnSpPr/>
          <p:nvPr/>
        </p:nvCxnSpPr>
        <p:spPr>
          <a:xfrm flipV="1">
            <a:off x="714348" y="3357562"/>
            <a:ext cx="3143272" cy="21431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45798" y="313110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18" name="TextBox 17"/>
          <p:cNvSpPr txBox="1"/>
          <p:nvPr/>
        </p:nvSpPr>
        <p:spPr>
          <a:xfrm>
            <a:off x="3820751" y="5429264"/>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19" name="TextBox 18"/>
          <p:cNvSpPr txBox="1"/>
          <p:nvPr/>
        </p:nvSpPr>
        <p:spPr>
          <a:xfrm>
            <a:off x="142844" y="2928934"/>
            <a:ext cx="569387" cy="369332"/>
          </a:xfrm>
          <a:prstGeom prst="rect">
            <a:avLst/>
          </a:prstGeom>
          <a:noFill/>
        </p:spPr>
        <p:txBody>
          <a:bodyPr wrap="none" rtlCol="1">
            <a:spAutoFit/>
          </a:bodyPr>
          <a:lstStyle/>
          <a:p>
            <a:r>
              <a:rPr lang="he-IL" dirty="0">
                <a:solidFill>
                  <a:srgbClr val="7030A0"/>
                </a:solidFill>
              </a:rPr>
              <a:t>700</a:t>
            </a:r>
          </a:p>
        </p:txBody>
      </p:sp>
      <p:sp>
        <p:nvSpPr>
          <p:cNvPr id="20" name="TextBox 19"/>
          <p:cNvSpPr txBox="1"/>
          <p:nvPr/>
        </p:nvSpPr>
        <p:spPr>
          <a:xfrm>
            <a:off x="142844" y="5286388"/>
            <a:ext cx="569387" cy="369332"/>
          </a:xfrm>
          <a:prstGeom prst="rect">
            <a:avLst/>
          </a:prstGeom>
          <a:noFill/>
        </p:spPr>
        <p:txBody>
          <a:bodyPr wrap="none" rtlCol="1">
            <a:spAutoFit/>
          </a:bodyPr>
          <a:lstStyle/>
          <a:p>
            <a:r>
              <a:rPr lang="he-IL" dirty="0">
                <a:solidFill>
                  <a:prstClr val="black"/>
                </a:solidFill>
              </a:rPr>
              <a:t>100</a:t>
            </a:r>
          </a:p>
        </p:txBody>
      </p:sp>
      <p:sp>
        <p:nvSpPr>
          <p:cNvPr id="21" name="TextBox 20"/>
          <p:cNvSpPr txBox="1"/>
          <p:nvPr/>
        </p:nvSpPr>
        <p:spPr>
          <a:xfrm>
            <a:off x="3561090" y="5929330"/>
            <a:ext cx="1082349" cy="369332"/>
          </a:xfrm>
          <a:prstGeom prst="rect">
            <a:avLst/>
          </a:prstGeom>
          <a:noFill/>
        </p:spPr>
        <p:txBody>
          <a:bodyPr wrap="none" rtlCol="1">
            <a:spAutoFit/>
          </a:bodyPr>
          <a:lstStyle/>
          <a:p>
            <a:r>
              <a:rPr lang="he-IL" dirty="0">
                <a:solidFill>
                  <a:prstClr val="black"/>
                </a:solidFill>
              </a:rPr>
              <a:t>2,333.33</a:t>
            </a:r>
          </a:p>
        </p:txBody>
      </p:sp>
      <p:sp>
        <p:nvSpPr>
          <p:cNvPr id="22" name="TextBox 21"/>
          <p:cNvSpPr txBox="1"/>
          <p:nvPr/>
        </p:nvSpPr>
        <p:spPr>
          <a:xfrm>
            <a:off x="4910050" y="5929330"/>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sp>
        <p:nvSpPr>
          <p:cNvPr id="23" name="TextBox 22"/>
          <p:cNvSpPr txBox="1"/>
          <p:nvPr/>
        </p:nvSpPr>
        <p:spPr>
          <a:xfrm>
            <a:off x="428596" y="2357430"/>
            <a:ext cx="304892" cy="369332"/>
          </a:xfrm>
          <a:prstGeom prst="rect">
            <a:avLst/>
          </a:prstGeom>
          <a:noFill/>
        </p:spPr>
        <p:txBody>
          <a:bodyPr wrap="none" rtlCol="1">
            <a:spAutoFit/>
          </a:bodyPr>
          <a:lstStyle/>
          <a:p>
            <a:r>
              <a:rPr lang="en-US" dirty="0">
                <a:solidFill>
                  <a:prstClr val="black"/>
                </a:solidFill>
              </a:rPr>
              <a:t>P</a:t>
            </a:r>
            <a:endParaRPr lang="he-IL" dirty="0">
              <a:solidFill>
                <a:prstClr val="black"/>
              </a:solidFill>
            </a:endParaRPr>
          </a:p>
        </p:txBody>
      </p:sp>
      <p:cxnSp>
        <p:nvCxnSpPr>
          <p:cNvPr id="24" name="מחבר ישר 23"/>
          <p:cNvCxnSpPr/>
          <p:nvPr/>
        </p:nvCxnSpPr>
        <p:spPr>
          <a:xfrm rot="5400000">
            <a:off x="1500447" y="5179231"/>
            <a:ext cx="1500198"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מחבר ישר 24"/>
          <p:cNvCxnSpPr/>
          <p:nvPr/>
        </p:nvCxnSpPr>
        <p:spPr>
          <a:xfrm rot="5400000">
            <a:off x="1493984" y="3637132"/>
            <a:ext cx="0" cy="1584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771286" y="5929330"/>
            <a:ext cx="954108" cy="369332"/>
          </a:xfrm>
          <a:prstGeom prst="rect">
            <a:avLst/>
          </a:prstGeom>
          <a:noFill/>
        </p:spPr>
        <p:txBody>
          <a:bodyPr wrap="none" rtlCol="1">
            <a:spAutoFit/>
          </a:bodyPr>
          <a:lstStyle/>
          <a:p>
            <a:r>
              <a:rPr lang="he-IL" dirty="0">
                <a:solidFill>
                  <a:prstClr val="black"/>
                </a:solidFill>
              </a:rPr>
              <a:t>1,090.9</a:t>
            </a:r>
          </a:p>
        </p:txBody>
      </p:sp>
      <p:sp>
        <p:nvSpPr>
          <p:cNvPr id="27" name="TextBox 26"/>
          <p:cNvSpPr txBox="1"/>
          <p:nvPr/>
        </p:nvSpPr>
        <p:spPr>
          <a:xfrm>
            <a:off x="24038" y="4274114"/>
            <a:ext cx="761748" cy="369332"/>
          </a:xfrm>
          <a:prstGeom prst="rect">
            <a:avLst/>
          </a:prstGeom>
          <a:noFill/>
        </p:spPr>
        <p:txBody>
          <a:bodyPr wrap="none" rtlCol="1">
            <a:spAutoFit/>
          </a:bodyPr>
          <a:lstStyle/>
          <a:p>
            <a:r>
              <a:rPr lang="he-IL" dirty="0">
                <a:solidFill>
                  <a:srgbClr val="7030A0"/>
                </a:solidFill>
              </a:rPr>
              <a:t>372.7</a:t>
            </a:r>
          </a:p>
        </p:txBody>
      </p:sp>
      <p:sp>
        <p:nvSpPr>
          <p:cNvPr id="4" name="מלבן 3"/>
          <p:cNvSpPr/>
          <p:nvPr/>
        </p:nvSpPr>
        <p:spPr>
          <a:xfrm>
            <a:off x="2248340" y="1284456"/>
            <a:ext cx="6871500" cy="430887"/>
          </a:xfrm>
          <a:prstGeom prst="rect">
            <a:avLst/>
          </a:prstGeom>
        </p:spPr>
        <p:txBody>
          <a:bodyPr wrap="square">
            <a:spAutoFit/>
          </a:bodyPr>
          <a:lstStyle/>
          <a:p>
            <a:pPr>
              <a:spcBef>
                <a:spcPct val="20000"/>
              </a:spcBef>
            </a:pPr>
            <a:r>
              <a:rPr lang="he-IL" sz="2200" b="1" dirty="0">
                <a:solidFill>
                  <a:prstClr val="black"/>
                </a:solidFill>
              </a:rPr>
              <a:t>סעיף אקסטרה</a:t>
            </a:r>
            <a:r>
              <a:rPr lang="he-IL" sz="2200" dirty="0">
                <a:solidFill>
                  <a:prstClr val="black"/>
                </a:solidFill>
              </a:rPr>
              <a:t> – נחשב את עודף הצרכנים ורווחי היצרנים</a:t>
            </a:r>
          </a:p>
        </p:txBody>
      </p:sp>
      <p:sp>
        <p:nvSpPr>
          <p:cNvPr id="28" name="מלבן 27"/>
          <p:cNvSpPr/>
          <p:nvPr/>
        </p:nvSpPr>
        <p:spPr>
          <a:xfrm>
            <a:off x="142844" y="188639"/>
            <a:ext cx="6827432" cy="769441"/>
          </a:xfrm>
          <a:prstGeom prst="rect">
            <a:avLst/>
          </a:prstGeom>
        </p:spPr>
        <p:txBody>
          <a:bodyPr wrap="square">
            <a:spAutoFit/>
          </a:bodyPr>
          <a:lstStyle/>
          <a:p>
            <a:pPr>
              <a:spcBef>
                <a:spcPct val="20000"/>
              </a:spcBef>
            </a:pPr>
            <a:r>
              <a:rPr lang="he-IL" sz="2000" dirty="0">
                <a:solidFill>
                  <a:prstClr val="black"/>
                </a:solidFill>
              </a:rPr>
              <a:t>הביקוש המצרפי לאפרסקים במשק נתון ע"י        </a:t>
            </a:r>
            <a:r>
              <a:rPr lang="en-US" sz="2000" dirty="0">
                <a:solidFill>
                  <a:srgbClr val="7030A0"/>
                </a:solidFill>
              </a:rPr>
              <a:t>P=700-0.3X</a:t>
            </a:r>
          </a:p>
          <a:p>
            <a:pPr>
              <a:spcBef>
                <a:spcPct val="20000"/>
              </a:spcBef>
            </a:pPr>
            <a:r>
              <a:rPr lang="he-IL" sz="2000" dirty="0">
                <a:solidFill>
                  <a:prstClr val="black"/>
                </a:solidFill>
              </a:rPr>
              <a:t>ההיצע המצרפי של האפרסקים נתון ע"י           </a:t>
            </a:r>
            <a:r>
              <a:rPr lang="en-US" sz="2000" dirty="0">
                <a:solidFill>
                  <a:prstClr val="black"/>
                </a:solidFill>
              </a:rPr>
              <a:t>P=100+0.25X</a:t>
            </a:r>
          </a:p>
        </p:txBody>
      </p:sp>
      <p:sp>
        <p:nvSpPr>
          <p:cNvPr id="5" name="מלבן 4"/>
          <p:cNvSpPr/>
          <p:nvPr/>
        </p:nvSpPr>
        <p:spPr>
          <a:xfrm>
            <a:off x="7308304" y="2160163"/>
            <a:ext cx="1594823" cy="369332"/>
          </a:xfrm>
          <a:prstGeom prst="rect">
            <a:avLst/>
          </a:prstGeom>
        </p:spPr>
        <p:txBody>
          <a:bodyPr wrap="square">
            <a:spAutoFit/>
          </a:bodyPr>
          <a:lstStyle/>
          <a:p>
            <a:r>
              <a:rPr lang="he-IL" b="1" dirty="0">
                <a:solidFill>
                  <a:srgbClr val="00B050"/>
                </a:solidFill>
              </a:rPr>
              <a:t>עודף הצרכן </a:t>
            </a:r>
            <a:r>
              <a:rPr lang="he-IL" b="1" dirty="0">
                <a:solidFill>
                  <a:prstClr val="black"/>
                </a:solidFill>
              </a:rPr>
              <a:t>–</a:t>
            </a:r>
            <a:endParaRPr lang="en-US" b="1" dirty="0">
              <a:solidFill>
                <a:prstClr val="black"/>
              </a:solidFill>
            </a:endParaRPr>
          </a:p>
        </p:txBody>
      </p:sp>
      <p:sp>
        <p:nvSpPr>
          <p:cNvPr id="8" name="מלבן 7"/>
          <p:cNvSpPr/>
          <p:nvPr/>
        </p:nvSpPr>
        <p:spPr>
          <a:xfrm>
            <a:off x="5654295" y="2228067"/>
            <a:ext cx="1390124" cy="369332"/>
          </a:xfrm>
          <a:prstGeom prst="rect">
            <a:avLst/>
          </a:prstGeom>
        </p:spPr>
        <p:txBody>
          <a:bodyPr wrap="none">
            <a:spAutoFit/>
          </a:bodyPr>
          <a:lstStyle/>
          <a:p>
            <a:r>
              <a:rPr lang="he-IL" dirty="0">
                <a:solidFill>
                  <a:srgbClr val="00B050"/>
                </a:solidFill>
              </a:rPr>
              <a:t>178,525.8</a:t>
            </a:r>
            <a:r>
              <a:rPr lang="en-US" dirty="0">
                <a:solidFill>
                  <a:prstClr val="black"/>
                </a:solidFill>
              </a:rPr>
              <a:t>=</a:t>
            </a:r>
            <a:r>
              <a:rPr lang="he-IL" dirty="0">
                <a:solidFill>
                  <a:prstClr val="black"/>
                </a:solidFill>
              </a:rPr>
              <a:t> </a:t>
            </a:r>
          </a:p>
        </p:txBody>
      </p:sp>
      <mc:AlternateContent xmlns:mc="http://schemas.openxmlformats.org/markup-compatibility/2006" xmlns:a14="http://schemas.microsoft.com/office/drawing/2010/main">
        <mc:Choice Requires="a14">
          <p:sp>
            <p:nvSpPr>
              <p:cNvPr id="9" name="מלבן 8"/>
              <p:cNvSpPr/>
              <p:nvPr/>
            </p:nvSpPr>
            <p:spPr>
              <a:xfrm>
                <a:off x="3059832" y="2098705"/>
                <a:ext cx="2567947"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smtClean="0">
                              <a:solidFill>
                                <a:prstClr val="black"/>
                              </a:solidFill>
                              <a:latin typeface="Cambria Math" panose="02040503050406030204" pitchFamily="18" charset="0"/>
                            </a:rPr>
                          </m:ctrlPr>
                        </m:fPr>
                        <m:num>
                          <m:d>
                            <m:dPr>
                              <m:endChr m:val=""/>
                              <m:ctrlPr>
                                <a:rPr lang="he-IL" i="1">
                                  <a:solidFill>
                                    <a:prstClr val="black"/>
                                  </a:solidFill>
                                  <a:latin typeface="Cambria Math" panose="02040503050406030204" pitchFamily="18" charset="0"/>
                                </a:rPr>
                              </m:ctrlPr>
                            </m:dPr>
                            <m:e>
                              <m:r>
                                <m:rPr>
                                  <m:nor/>
                                </m:rPr>
                                <a:rPr lang="he-IL">
                                  <a:solidFill>
                                    <a:srgbClr val="7030A0"/>
                                  </a:solidFill>
                                </a:rPr>
                                <m:t>7</m:t>
                              </m:r>
                              <m:r>
                                <a:rPr lang="he-IL">
                                  <a:solidFill>
                                    <a:srgbClr val="7030A0"/>
                                  </a:solidFill>
                                  <a:latin typeface="Cambria Math"/>
                                </a:rPr>
                                <m:t>00</m:t>
                              </m:r>
                              <m:r>
                                <a:rPr lang="he-IL">
                                  <a:solidFill>
                                    <a:prstClr val="black"/>
                                  </a:solidFill>
                                  <a:latin typeface="Cambria Math"/>
                                </a:rPr>
                                <m:t>−</m:t>
                              </m:r>
                              <m:r>
                                <m:rPr>
                                  <m:nor/>
                                </m:rPr>
                                <a:rPr lang="he-IL">
                                  <a:solidFill>
                                    <a:srgbClr val="7030A0"/>
                                  </a:solidFill>
                                </a:rPr>
                                <m:t>372</m:t>
                              </m:r>
                              <m:r>
                                <a:rPr lang="he-IL">
                                  <a:solidFill>
                                    <a:srgbClr val="7030A0"/>
                                  </a:solidFill>
                                  <a:latin typeface="Cambria Math"/>
                                </a:rPr>
                                <m:t>.</m:t>
                              </m:r>
                              <m:r>
                                <m:rPr>
                                  <m:nor/>
                                </m:rPr>
                                <a:rPr lang="he-IL">
                                  <a:solidFill>
                                    <a:srgbClr val="7030A0"/>
                                  </a:solidFill>
                                </a:rPr>
                                <m:t>7</m:t>
                              </m:r>
                              <m:r>
                                <a:rPr lang="he-IL">
                                  <a:solidFill>
                                    <a:prstClr val="black"/>
                                  </a:solidFill>
                                  <a:latin typeface="Cambria Math"/>
                                </a:rPr>
                                <m:t>)·</m:t>
                              </m:r>
                              <m:r>
                                <m:rPr>
                                  <m:nor/>
                                </m:rPr>
                                <a:rPr lang="he-IL">
                                  <a:solidFill>
                                    <a:prstClr val="black"/>
                                  </a:solidFill>
                                </a:rPr>
                                <m:t>1</m:t>
                              </m:r>
                              <m:r>
                                <a:rPr lang="he-IL">
                                  <a:solidFill>
                                    <a:prstClr val="black"/>
                                  </a:solidFill>
                                  <a:latin typeface="Cambria Math"/>
                                </a:rPr>
                                <m:t>,</m:t>
                              </m:r>
                              <m:r>
                                <a:rPr lang="he-IL" smtClean="0">
                                  <a:solidFill>
                                    <a:prstClr val="black"/>
                                  </a:solidFill>
                                  <a:latin typeface="Cambria Math"/>
                                </a:rPr>
                                <m:t>0</m:t>
                              </m:r>
                              <m:r>
                                <m:rPr>
                                  <m:nor/>
                                </m:rPr>
                                <a:rPr lang="he-IL">
                                  <a:solidFill>
                                    <a:prstClr val="black"/>
                                  </a:solidFill>
                                </a:rPr>
                                <m:t>9</m:t>
                              </m:r>
                              <m:r>
                                <a:rPr lang="he-IL">
                                  <a:solidFill>
                                    <a:prstClr val="black"/>
                                  </a:solidFill>
                                  <a:latin typeface="Cambria Math"/>
                                </a:rPr>
                                <m:t>0</m:t>
                              </m:r>
                              <m:r>
                                <a:rPr lang="he-IL">
                                  <a:solidFill>
                                    <a:prstClr val="black"/>
                                  </a:solidFill>
                                  <a:latin typeface="Cambria Math"/>
                                </a:rPr>
                                <m:t>.</m:t>
                              </m:r>
                              <m:r>
                                <m:rPr>
                                  <m:nor/>
                                </m:rPr>
                                <a:rPr lang="he-IL">
                                  <a:solidFill>
                                    <a:prstClr val="black"/>
                                  </a:solidFill>
                                </a:rPr>
                                <m:t>9</m:t>
                              </m:r>
                            </m:e>
                          </m:d>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9" name="מלבן 8"/>
              <p:cNvSpPr>
                <a:spLocks noRot="1" noChangeAspect="1" noMove="1" noResize="1" noEditPoints="1" noAdjustHandles="1" noChangeArrowheads="1" noChangeShapeType="1" noTextEdit="1"/>
              </p:cNvSpPr>
              <p:nvPr/>
            </p:nvSpPr>
            <p:spPr>
              <a:xfrm>
                <a:off x="3059832" y="2098705"/>
                <a:ext cx="2567947" cy="628057"/>
              </a:xfrm>
              <a:prstGeom prst="rect">
                <a:avLst/>
              </a:prstGeom>
              <a:blipFill>
                <a:blip r:embed="rId2"/>
                <a:stretch>
                  <a:fillRect/>
                </a:stretch>
              </a:blipFill>
            </p:spPr>
            <p:txBody>
              <a:bodyPr/>
              <a:lstStyle/>
              <a:p>
                <a:r>
                  <a:rPr lang="en-IL">
                    <a:noFill/>
                  </a:rPr>
                  <a:t> </a:t>
                </a:r>
              </a:p>
            </p:txBody>
          </p:sp>
        </mc:Fallback>
      </mc:AlternateContent>
      <p:sp>
        <p:nvSpPr>
          <p:cNvPr id="29" name="משולש ישר-זווית 28"/>
          <p:cNvSpPr/>
          <p:nvPr/>
        </p:nvSpPr>
        <p:spPr>
          <a:xfrm>
            <a:off x="714348" y="3071810"/>
            <a:ext cx="1571636" cy="1357322"/>
          </a:xfrm>
          <a:prstGeom prst="rtTriangl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prstClr val="white"/>
                </a:solidFill>
              </a:rPr>
              <a:t>עודף</a:t>
            </a:r>
          </a:p>
          <a:p>
            <a:pPr algn="ctr"/>
            <a:r>
              <a:rPr lang="he-IL" dirty="0">
                <a:solidFill>
                  <a:prstClr val="white"/>
                </a:solidFill>
              </a:rPr>
              <a:t>הצרכן</a:t>
            </a:r>
          </a:p>
        </p:txBody>
      </p:sp>
      <p:sp>
        <p:nvSpPr>
          <p:cNvPr id="12" name="מלבן 11"/>
          <p:cNvSpPr/>
          <p:nvPr/>
        </p:nvSpPr>
        <p:spPr>
          <a:xfrm>
            <a:off x="7288582" y="3131106"/>
            <a:ext cx="1614545" cy="369332"/>
          </a:xfrm>
          <a:prstGeom prst="rect">
            <a:avLst/>
          </a:prstGeom>
        </p:spPr>
        <p:txBody>
          <a:bodyPr wrap="none">
            <a:spAutoFit/>
          </a:bodyPr>
          <a:lstStyle/>
          <a:p>
            <a:r>
              <a:rPr lang="he-IL" b="1" dirty="0">
                <a:solidFill>
                  <a:srgbClr val="C00000"/>
                </a:solidFill>
              </a:rPr>
              <a:t>רווחי היצרנים </a:t>
            </a:r>
            <a:r>
              <a:rPr lang="he-IL" b="1" dirty="0">
                <a:solidFill>
                  <a:prstClr val="black"/>
                </a:solidFill>
              </a:rPr>
              <a:t>–</a:t>
            </a:r>
          </a:p>
        </p:txBody>
      </p:sp>
      <p:sp>
        <p:nvSpPr>
          <p:cNvPr id="30" name="משולש ישר-זווית 29"/>
          <p:cNvSpPr/>
          <p:nvPr/>
        </p:nvSpPr>
        <p:spPr>
          <a:xfrm flipV="1">
            <a:off x="714348" y="4429132"/>
            <a:ext cx="1571636" cy="1071570"/>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prstClr val="white"/>
              </a:solidFill>
            </a:endParaRPr>
          </a:p>
        </p:txBody>
      </p:sp>
      <mc:AlternateContent xmlns:mc="http://schemas.openxmlformats.org/markup-compatibility/2006" xmlns:a14="http://schemas.microsoft.com/office/drawing/2010/main">
        <mc:Choice Requires="a14">
          <p:sp>
            <p:nvSpPr>
              <p:cNvPr id="13" name="מלבן 12"/>
              <p:cNvSpPr/>
              <p:nvPr/>
            </p:nvSpPr>
            <p:spPr>
              <a:xfrm>
                <a:off x="4323093" y="3436442"/>
                <a:ext cx="2567562" cy="6280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he-IL" i="1" smtClean="0">
                              <a:solidFill>
                                <a:prstClr val="black"/>
                              </a:solidFill>
                              <a:latin typeface="Cambria Math" panose="02040503050406030204" pitchFamily="18" charset="0"/>
                            </a:rPr>
                          </m:ctrlPr>
                        </m:fPr>
                        <m:num>
                          <m:d>
                            <m:dPr>
                              <m:ctrlPr>
                                <a:rPr lang="he-IL" i="1">
                                  <a:solidFill>
                                    <a:prstClr val="black"/>
                                  </a:solidFill>
                                  <a:latin typeface="Cambria Math" panose="02040503050406030204" pitchFamily="18" charset="0"/>
                                </a:rPr>
                              </m:ctrlPr>
                            </m:dPr>
                            <m:e>
                              <m:r>
                                <m:rPr>
                                  <m:nor/>
                                </m:rPr>
                                <a:rPr lang="he-IL">
                                  <a:solidFill>
                                    <a:prstClr val="black"/>
                                  </a:solidFill>
                                </a:rPr>
                                <m:t>372</m:t>
                              </m:r>
                              <m:r>
                                <a:rPr lang="he-IL">
                                  <a:solidFill>
                                    <a:prstClr val="black"/>
                                  </a:solidFill>
                                  <a:latin typeface="Cambria Math"/>
                                </a:rPr>
                                <m:t>.</m:t>
                              </m:r>
                              <m:r>
                                <m:rPr>
                                  <m:nor/>
                                </m:rPr>
                                <a:rPr lang="he-IL" i="1">
                                  <a:solidFill>
                                    <a:prstClr val="black"/>
                                  </a:solidFill>
                                </a:rPr>
                                <m:t>7</m:t>
                              </m:r>
                              <m:r>
                                <a:rPr lang="he-IL">
                                  <a:solidFill>
                                    <a:prstClr val="black"/>
                                  </a:solidFill>
                                  <a:latin typeface="Cambria Math"/>
                                </a:rPr>
                                <m:t>−</m:t>
                              </m:r>
                              <m:r>
                                <m:rPr>
                                  <m:nor/>
                                </m:rPr>
                                <a:rPr lang="he-IL" i="1">
                                  <a:solidFill>
                                    <a:prstClr val="black"/>
                                  </a:solidFill>
                                </a:rPr>
                                <m:t>1</m:t>
                              </m:r>
                              <m:r>
                                <a:rPr lang="he-IL" smtClean="0">
                                  <a:solidFill>
                                    <a:prstClr val="black"/>
                                  </a:solidFill>
                                  <a:latin typeface="Cambria Math"/>
                                </a:rPr>
                                <m:t>0</m:t>
                              </m:r>
                              <m:r>
                                <a:rPr lang="he-IL">
                                  <a:solidFill>
                                    <a:prstClr val="black"/>
                                  </a:solidFill>
                                  <a:latin typeface="Cambria Math"/>
                                </a:rPr>
                                <m:t>0</m:t>
                              </m:r>
                            </m:e>
                          </m:d>
                          <m:r>
                            <a:rPr lang="he-IL">
                              <a:solidFill>
                                <a:prstClr val="black"/>
                              </a:solidFill>
                              <a:latin typeface="Cambria Math"/>
                            </a:rPr>
                            <m:t>·</m:t>
                          </m:r>
                          <m:r>
                            <m:rPr>
                              <m:nor/>
                            </m:rPr>
                            <a:rPr lang="he-IL" i="1">
                              <a:solidFill>
                                <a:prstClr val="black"/>
                              </a:solidFill>
                            </a:rPr>
                            <m:t>1</m:t>
                          </m:r>
                          <m:r>
                            <a:rPr lang="he-IL">
                              <a:solidFill>
                                <a:prstClr val="black"/>
                              </a:solidFill>
                              <a:latin typeface="Cambria Math"/>
                            </a:rPr>
                            <m:t>,</m:t>
                          </m:r>
                          <m:r>
                            <a:rPr lang="he-IL">
                              <a:solidFill>
                                <a:prstClr val="black"/>
                              </a:solidFill>
                              <a:latin typeface="Cambria Math"/>
                            </a:rPr>
                            <m:t>0</m:t>
                          </m:r>
                          <m:r>
                            <m:rPr>
                              <m:nor/>
                            </m:rPr>
                            <a:rPr lang="he-IL" i="1">
                              <a:solidFill>
                                <a:prstClr val="black"/>
                              </a:solidFill>
                            </a:rPr>
                            <m:t>9</m:t>
                          </m:r>
                          <m:r>
                            <a:rPr lang="he-IL">
                              <a:solidFill>
                                <a:prstClr val="black"/>
                              </a:solidFill>
                              <a:latin typeface="Cambria Math"/>
                            </a:rPr>
                            <m:t>0</m:t>
                          </m:r>
                          <m:r>
                            <a:rPr lang="he-IL">
                              <a:solidFill>
                                <a:prstClr val="black"/>
                              </a:solidFill>
                              <a:latin typeface="Cambria Math"/>
                            </a:rPr>
                            <m:t>.</m:t>
                          </m:r>
                          <m:r>
                            <m:rPr>
                              <m:nor/>
                            </m:rPr>
                            <a:rPr lang="he-IL" i="1">
                              <a:solidFill>
                                <a:prstClr val="black"/>
                              </a:solidFill>
                            </a:rPr>
                            <m:t>9</m:t>
                          </m:r>
                        </m:num>
                        <m:den>
                          <m:r>
                            <a:rPr lang="he-IL">
                              <a:solidFill>
                                <a:prstClr val="black"/>
                              </a:solidFill>
                              <a:latin typeface="Cambria Math"/>
                            </a:rPr>
                            <m:t>2</m:t>
                          </m:r>
                        </m:den>
                      </m:f>
                    </m:oMath>
                  </m:oMathPara>
                </a14:m>
                <a:endParaRPr lang="he-IL" dirty="0">
                  <a:solidFill>
                    <a:prstClr val="black"/>
                  </a:solidFill>
                </a:endParaRPr>
              </a:p>
            </p:txBody>
          </p:sp>
        </mc:Choice>
        <mc:Fallback xmlns="">
          <p:sp>
            <p:nvSpPr>
              <p:cNvPr id="13" name="מלבן 12"/>
              <p:cNvSpPr>
                <a:spLocks noRot="1" noChangeAspect="1" noMove="1" noResize="1" noEditPoints="1" noAdjustHandles="1" noChangeArrowheads="1" noChangeShapeType="1" noTextEdit="1"/>
              </p:cNvSpPr>
              <p:nvPr/>
            </p:nvSpPr>
            <p:spPr>
              <a:xfrm>
                <a:off x="4323093" y="3436442"/>
                <a:ext cx="2567562" cy="628057"/>
              </a:xfrm>
              <a:prstGeom prst="rect">
                <a:avLst/>
              </a:prstGeom>
              <a:blipFill>
                <a:blip r:embed="rId3"/>
                <a:stretch>
                  <a:fillRect/>
                </a:stretch>
              </a:blipFill>
            </p:spPr>
            <p:txBody>
              <a:bodyPr/>
              <a:lstStyle/>
              <a:p>
                <a:r>
                  <a:rPr lang="en-IL">
                    <a:noFill/>
                  </a:rPr>
                  <a:t> </a:t>
                </a:r>
              </a:p>
            </p:txBody>
          </p:sp>
        </mc:Fallback>
      </mc:AlternateContent>
      <p:sp>
        <p:nvSpPr>
          <p:cNvPr id="15" name="מלבן 14"/>
          <p:cNvSpPr/>
          <p:nvPr/>
        </p:nvSpPr>
        <p:spPr>
          <a:xfrm>
            <a:off x="6890655" y="3565805"/>
            <a:ext cx="1390124" cy="369332"/>
          </a:xfrm>
          <a:prstGeom prst="rect">
            <a:avLst/>
          </a:prstGeom>
        </p:spPr>
        <p:txBody>
          <a:bodyPr wrap="none">
            <a:spAutoFit/>
          </a:bodyPr>
          <a:lstStyle/>
          <a:p>
            <a:r>
              <a:rPr lang="he-IL" b="1" dirty="0">
                <a:solidFill>
                  <a:prstClr val="black"/>
                </a:solidFill>
              </a:rPr>
              <a:t> </a:t>
            </a:r>
            <a:r>
              <a:rPr lang="he-IL" dirty="0">
                <a:solidFill>
                  <a:srgbClr val="C00000"/>
                </a:solidFill>
              </a:rPr>
              <a:t>148,744.2</a:t>
            </a:r>
            <a:r>
              <a:rPr lang="en-US" dirty="0">
                <a:solidFill>
                  <a:prstClr val="black"/>
                </a:solidFill>
              </a:rPr>
              <a:t>=</a:t>
            </a:r>
            <a:endParaRPr lang="he-IL" dirty="0">
              <a:solidFill>
                <a:prstClr val="black"/>
              </a:solidFill>
            </a:endParaRPr>
          </a:p>
        </p:txBody>
      </p:sp>
      <p:sp>
        <p:nvSpPr>
          <p:cNvPr id="31" name="TextBox 30"/>
          <p:cNvSpPr txBox="1"/>
          <p:nvPr/>
        </p:nvSpPr>
        <p:spPr>
          <a:xfrm>
            <a:off x="785786" y="4429132"/>
            <a:ext cx="886781" cy="646331"/>
          </a:xfrm>
          <a:prstGeom prst="rect">
            <a:avLst/>
          </a:prstGeom>
          <a:noFill/>
        </p:spPr>
        <p:txBody>
          <a:bodyPr wrap="none" rtlCol="1">
            <a:spAutoFit/>
          </a:bodyPr>
          <a:lstStyle/>
          <a:p>
            <a:pPr algn="ctr"/>
            <a:r>
              <a:rPr lang="he-IL" dirty="0">
                <a:solidFill>
                  <a:prstClr val="black"/>
                </a:solidFill>
              </a:rPr>
              <a:t>רווחי</a:t>
            </a:r>
          </a:p>
          <a:p>
            <a:pPr algn="ctr"/>
            <a:r>
              <a:rPr lang="he-IL" dirty="0">
                <a:solidFill>
                  <a:prstClr val="black"/>
                </a:solidFill>
              </a:rPr>
              <a:t>היצרנים</a:t>
            </a:r>
          </a:p>
        </p:txBody>
      </p:sp>
      <p:sp>
        <p:nvSpPr>
          <p:cNvPr id="32" name="מלבן 31"/>
          <p:cNvSpPr/>
          <p:nvPr/>
        </p:nvSpPr>
        <p:spPr>
          <a:xfrm>
            <a:off x="4128705" y="4643446"/>
            <a:ext cx="4572000" cy="677108"/>
          </a:xfrm>
          <a:prstGeom prst="rect">
            <a:avLst/>
          </a:prstGeom>
        </p:spPr>
        <p:txBody>
          <a:bodyPr>
            <a:spAutoFit/>
          </a:bodyPr>
          <a:lstStyle/>
          <a:p>
            <a:r>
              <a:rPr lang="he-IL" b="1" dirty="0">
                <a:solidFill>
                  <a:prstClr val="black"/>
                </a:solidFill>
              </a:rPr>
              <a:t>סה"כ רווחה חברתית –</a:t>
            </a:r>
          </a:p>
          <a:p>
            <a:r>
              <a:rPr lang="he-IL" b="1" dirty="0">
                <a:solidFill>
                  <a:prstClr val="black"/>
                </a:solidFill>
              </a:rPr>
              <a:t>	 </a:t>
            </a:r>
            <a:r>
              <a:rPr lang="he-IL" dirty="0">
                <a:solidFill>
                  <a:prstClr val="black"/>
                </a:solidFill>
              </a:rPr>
              <a:t>327,270</a:t>
            </a:r>
            <a:r>
              <a:rPr lang="en-US" sz="2000" b="1" dirty="0">
                <a:solidFill>
                  <a:srgbClr val="00B050"/>
                </a:solidFill>
              </a:rPr>
              <a:t>178,525.8</a:t>
            </a:r>
            <a:r>
              <a:rPr lang="en-US" sz="2000" b="1" dirty="0">
                <a:solidFill>
                  <a:prstClr val="black"/>
                </a:solidFill>
              </a:rPr>
              <a:t> + </a:t>
            </a:r>
            <a:r>
              <a:rPr lang="en-US" sz="2000" b="1" dirty="0">
                <a:solidFill>
                  <a:srgbClr val="C00000"/>
                </a:solidFill>
              </a:rPr>
              <a:t>148,744.2</a:t>
            </a:r>
            <a:r>
              <a:rPr lang="en-US" sz="2000" b="1" dirty="0">
                <a:solidFill>
                  <a:prstClr val="black"/>
                </a:solidFill>
              </a:rPr>
              <a:t> </a:t>
            </a:r>
            <a:r>
              <a:rPr lang="en-US" dirty="0">
                <a:solidFill>
                  <a:prstClr val="black"/>
                </a:solidFill>
              </a:rPr>
              <a:t>= </a:t>
            </a:r>
            <a:endParaRPr lang="he-IL" dirty="0">
              <a:solidFill>
                <a:prstClr val="black"/>
              </a:solidFill>
            </a:endParaRPr>
          </a:p>
        </p:txBody>
      </p:sp>
    </p:spTree>
    <p:extLst>
      <p:ext uri="{BB962C8B-B14F-4D97-AF65-F5344CB8AC3E}">
        <p14:creationId xmlns:p14="http://schemas.microsoft.com/office/powerpoint/2010/main" val="35091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barn(inVertical)">
                                      <p:cBhvr>
                                        <p:cTn id="11" dur="5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barn(inVertical)">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arn(inVertical)">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down)">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barn(inVertical)">
                                      <p:cBhvr>
                                        <p:cTn id="4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29" grpId="0" animBg="1"/>
      <p:bldP spid="12" grpId="0"/>
      <p:bldP spid="30" grpId="0" animBg="1"/>
      <p:bldP spid="13" grpId="0"/>
      <p:bldP spid="15" grpId="0"/>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p:cNvSpPr/>
          <p:nvPr/>
        </p:nvSpPr>
        <p:spPr>
          <a:xfrm>
            <a:off x="19214" y="908720"/>
            <a:ext cx="8964488" cy="4708981"/>
          </a:xfrm>
          <a:prstGeom prst="rect">
            <a:avLst/>
          </a:prstGeom>
        </p:spPr>
        <p:txBody>
          <a:bodyPr wrap="square">
            <a:spAutoFit/>
          </a:bodyPr>
          <a:lstStyle/>
          <a:p>
            <a:pPr>
              <a:lnSpc>
                <a:spcPct val="150000"/>
              </a:lnSpc>
            </a:pPr>
            <a:r>
              <a:rPr lang="he-IL" sz="2000" b="1" dirty="0">
                <a:solidFill>
                  <a:prstClr val="black"/>
                </a:solidFill>
              </a:rPr>
              <a:t>הביקוש המצרפי </a:t>
            </a:r>
            <a:r>
              <a:rPr lang="he-IL" sz="2000" dirty="0">
                <a:solidFill>
                  <a:prstClr val="black"/>
                </a:solidFill>
              </a:rPr>
              <a:t>לאפרסקים במשק נתון ע"י        </a:t>
            </a:r>
            <a:r>
              <a:rPr lang="en-US" sz="2000" b="1" dirty="0">
                <a:solidFill>
                  <a:prstClr val="black"/>
                </a:solidFill>
              </a:rPr>
              <a:t>P</a:t>
            </a:r>
            <a:r>
              <a:rPr lang="en-US" sz="2000" b="1" baseline="-25000" dirty="0">
                <a:solidFill>
                  <a:prstClr val="black"/>
                </a:solidFill>
              </a:rPr>
              <a:t>X</a:t>
            </a:r>
            <a:r>
              <a:rPr lang="en-US" sz="2000" b="1" dirty="0">
                <a:solidFill>
                  <a:prstClr val="black"/>
                </a:solidFill>
              </a:rPr>
              <a:t>=700-0.3X</a:t>
            </a:r>
          </a:p>
          <a:p>
            <a:pPr>
              <a:lnSpc>
                <a:spcPct val="150000"/>
              </a:lnSpc>
            </a:pPr>
            <a:r>
              <a:rPr lang="he-IL" sz="2000" b="1" dirty="0">
                <a:solidFill>
                  <a:srgbClr val="A5A5A5">
                    <a:lumMod val="50000"/>
                  </a:srgbClr>
                </a:solidFill>
              </a:rPr>
              <a:t>ההיצע המצרפי </a:t>
            </a:r>
            <a:r>
              <a:rPr lang="he-IL" sz="2000" dirty="0">
                <a:solidFill>
                  <a:prstClr val="black"/>
                </a:solidFill>
              </a:rPr>
              <a:t>של האפרסקים נתון ע"י            </a:t>
            </a:r>
            <a:r>
              <a:rPr lang="en-US" sz="2000" b="1" dirty="0">
                <a:solidFill>
                  <a:srgbClr val="A5A5A5">
                    <a:lumMod val="50000"/>
                  </a:srgbClr>
                </a:solidFill>
              </a:rPr>
              <a:t>P</a:t>
            </a:r>
            <a:r>
              <a:rPr lang="en-US" sz="2000" b="1" baseline="-25000" dirty="0">
                <a:solidFill>
                  <a:srgbClr val="A5A5A5">
                    <a:lumMod val="50000"/>
                  </a:srgbClr>
                </a:solidFill>
              </a:rPr>
              <a:t>X</a:t>
            </a:r>
            <a:r>
              <a:rPr lang="en-US" sz="2000" b="1" dirty="0">
                <a:solidFill>
                  <a:srgbClr val="A5A5A5">
                    <a:lumMod val="50000"/>
                  </a:srgbClr>
                </a:solidFill>
              </a:rPr>
              <a:t>=100+0.25X</a:t>
            </a:r>
          </a:p>
          <a:p>
            <a:pPr>
              <a:lnSpc>
                <a:spcPct val="150000"/>
              </a:lnSpc>
            </a:pPr>
            <a:r>
              <a:rPr lang="he-IL" sz="2000" dirty="0">
                <a:solidFill>
                  <a:prstClr val="black"/>
                </a:solidFill>
              </a:rPr>
              <a:t>כאשר </a:t>
            </a:r>
            <a:r>
              <a:rPr lang="en-US" sz="2000" dirty="0">
                <a:solidFill>
                  <a:prstClr val="black"/>
                </a:solidFill>
              </a:rPr>
              <a:t>X</a:t>
            </a:r>
            <a:r>
              <a:rPr lang="he-IL" sz="2000" dirty="0">
                <a:solidFill>
                  <a:prstClr val="black"/>
                </a:solidFill>
              </a:rPr>
              <a:t>- כמות בטון אפרסקים.</a:t>
            </a:r>
            <a:r>
              <a:rPr lang="en-US" sz="2000" dirty="0">
                <a:solidFill>
                  <a:prstClr val="black"/>
                </a:solidFill>
              </a:rPr>
              <a:t>P</a:t>
            </a:r>
            <a:r>
              <a:rPr lang="en-US" sz="2000" baseline="-25000" dirty="0">
                <a:solidFill>
                  <a:prstClr val="black"/>
                </a:solidFill>
              </a:rPr>
              <a:t>X</a:t>
            </a:r>
            <a:r>
              <a:rPr lang="en-US" sz="2000" dirty="0">
                <a:solidFill>
                  <a:prstClr val="black"/>
                </a:solidFill>
              </a:rPr>
              <a:t>   </a:t>
            </a:r>
            <a:r>
              <a:rPr lang="he-IL" sz="2000" dirty="0">
                <a:solidFill>
                  <a:prstClr val="black"/>
                </a:solidFill>
              </a:rPr>
              <a:t>-מחיר לטון.</a:t>
            </a:r>
          </a:p>
          <a:p>
            <a:pPr>
              <a:lnSpc>
                <a:spcPct val="150000"/>
              </a:lnSpc>
            </a:pPr>
            <a:endParaRPr lang="he-IL" sz="2000" u="sng" dirty="0">
              <a:solidFill>
                <a:prstClr val="black"/>
              </a:solidFill>
            </a:endParaRPr>
          </a:p>
          <a:p>
            <a:pPr>
              <a:lnSpc>
                <a:spcPct val="150000"/>
              </a:lnSpc>
            </a:pPr>
            <a:r>
              <a:rPr lang="he-IL" sz="2000" dirty="0">
                <a:solidFill>
                  <a:prstClr val="black"/>
                </a:solidFill>
              </a:rPr>
              <a:t>ג) נתחו באמצעות משוואות וציורים מה יקרה למחיר ולכמות של שיווי משקל בכל אחד מהמקרים הבאים:</a:t>
            </a:r>
            <a:br>
              <a:rPr lang="en-US" sz="2000" dirty="0">
                <a:solidFill>
                  <a:prstClr val="black"/>
                </a:solidFill>
              </a:rPr>
            </a:br>
            <a:r>
              <a:rPr lang="he-IL" sz="2000" dirty="0">
                <a:solidFill>
                  <a:prstClr val="black"/>
                </a:solidFill>
              </a:rPr>
              <a:t>1) ההוצאה השולית ליצור כל כמות גדלה ב-50 ₪.</a:t>
            </a:r>
            <a:endParaRPr lang="en-US" sz="2000" dirty="0">
              <a:solidFill>
                <a:prstClr val="black"/>
              </a:solidFill>
            </a:endParaRPr>
          </a:p>
          <a:p>
            <a:pPr>
              <a:lnSpc>
                <a:spcPct val="150000"/>
              </a:lnSpc>
            </a:pPr>
            <a:r>
              <a:rPr lang="he-IL" sz="2000" dirty="0">
                <a:solidFill>
                  <a:prstClr val="black"/>
                </a:solidFill>
              </a:rPr>
              <a:t>2) כתוצאה משינוי בטעמי הצרכנים, הם מעוניינים לקנות עוד 100 טון אפרסקים בכל מחיר שעשוי להתקיים בשוק.</a:t>
            </a:r>
            <a:endParaRPr lang="en-US" sz="2000" dirty="0">
              <a:solidFill>
                <a:prstClr val="black"/>
              </a:solidFill>
            </a:endParaRPr>
          </a:p>
          <a:p>
            <a:pPr>
              <a:lnSpc>
                <a:spcPct val="150000"/>
              </a:lnSpc>
            </a:pPr>
            <a:r>
              <a:rPr lang="he-IL" sz="2000" dirty="0">
                <a:solidFill>
                  <a:prstClr val="black"/>
                </a:solidFill>
              </a:rPr>
              <a:t>3) שני  השינויים 1) ו-2) מתרחשים בו זמנית.</a:t>
            </a:r>
            <a:endParaRPr lang="en-US" sz="2000" dirty="0">
              <a:solidFill>
                <a:prstClr val="black"/>
              </a:solidFill>
            </a:endParaRPr>
          </a:p>
        </p:txBody>
      </p:sp>
      <p:sp>
        <p:nvSpPr>
          <p:cNvPr id="3" name="כותרת 1"/>
          <p:cNvSpPr txBox="1">
            <a:spLocks/>
          </p:cNvSpPr>
          <p:nvPr/>
        </p:nvSpPr>
        <p:spPr>
          <a:xfrm>
            <a:off x="0" y="1"/>
            <a:ext cx="9144000"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 – </a:t>
            </a:r>
            <a:endParaRPr lang="he-IL" sz="2400" b="1" dirty="0">
              <a:solidFill>
                <a:prstClr val="black"/>
              </a:solidFill>
              <a:cs typeface="Arial" panose="020B0604020202020204" pitchFamily="34" charset="0"/>
            </a:endParaRPr>
          </a:p>
        </p:txBody>
      </p:sp>
    </p:spTree>
    <p:extLst>
      <p:ext uri="{BB962C8B-B14F-4D97-AF65-F5344CB8AC3E}">
        <p14:creationId xmlns:p14="http://schemas.microsoft.com/office/powerpoint/2010/main" val="1437969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solidFill>
                <a:prstClr val="black"/>
              </a:solidFill>
            </a:endParaRPr>
          </a:p>
        </p:txBody>
      </p:sp>
      <p:cxnSp>
        <p:nvCxnSpPr>
          <p:cNvPr id="70" name="מחבר ישר 69"/>
          <p:cNvCxnSpPr/>
          <p:nvPr/>
        </p:nvCxnSpPr>
        <p:spPr>
          <a:xfrm>
            <a:off x="2297078" y="5500702"/>
            <a:ext cx="607223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5537" name="Object 1"/>
          <p:cNvGraphicFramePr>
            <a:graphicFrameLocks noChangeAspect="1"/>
          </p:cNvGraphicFramePr>
          <p:nvPr/>
        </p:nvGraphicFramePr>
        <p:xfrm>
          <a:off x="1688252" y="1068340"/>
          <a:ext cx="566737" cy="469900"/>
        </p:xfrm>
        <a:graphic>
          <a:graphicData uri="http://schemas.openxmlformats.org/presentationml/2006/ole">
            <mc:AlternateContent xmlns:mc="http://schemas.openxmlformats.org/markup-compatibility/2006">
              <mc:Choice xmlns:v="urn:schemas-microsoft-com:vml" Requires="v">
                <p:oleObj name="Equation" r:id="rId2" imgW="215640" imgH="177480" progId="Equation.3">
                  <p:embed/>
                </p:oleObj>
              </mc:Choice>
              <mc:Fallback>
                <p:oleObj name="Equation" r:id="rId2" imgW="215640" imgH="1774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8252" y="1068340"/>
                        <a:ext cx="5667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38" name="Object 2"/>
          <p:cNvGraphicFramePr>
            <a:graphicFrameLocks noChangeAspect="1"/>
          </p:cNvGraphicFramePr>
          <p:nvPr/>
        </p:nvGraphicFramePr>
        <p:xfrm>
          <a:off x="8012118" y="5500702"/>
          <a:ext cx="466725" cy="434975"/>
        </p:xfrm>
        <a:graphic>
          <a:graphicData uri="http://schemas.openxmlformats.org/presentationml/2006/ole">
            <mc:AlternateContent xmlns:mc="http://schemas.openxmlformats.org/markup-compatibility/2006">
              <mc:Choice xmlns:v="urn:schemas-microsoft-com:vml" Requires="v">
                <p:oleObj name="Equation" r:id="rId4" imgW="177480" imgH="164880" progId="Equation.3">
                  <p:embed/>
                </p:oleObj>
              </mc:Choice>
              <mc:Fallback>
                <p:oleObj name="Equation" r:id="rId4" imgW="177480" imgH="164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12118" y="5500702"/>
                        <a:ext cx="4667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39" name="Object 3"/>
          <p:cNvGraphicFramePr>
            <a:graphicFrameLocks noChangeAspect="1"/>
          </p:cNvGraphicFramePr>
          <p:nvPr/>
        </p:nvGraphicFramePr>
        <p:xfrm>
          <a:off x="1571604" y="3143248"/>
          <a:ext cx="733425" cy="469900"/>
        </p:xfrm>
        <a:graphic>
          <a:graphicData uri="http://schemas.openxmlformats.org/presentationml/2006/ole">
            <mc:AlternateContent xmlns:mc="http://schemas.openxmlformats.org/markup-compatibility/2006">
              <mc:Choice xmlns:v="urn:schemas-microsoft-com:vml" Requires="v">
                <p:oleObj name="Equation" r:id="rId6" imgW="279360" imgH="177480" progId="Equation.3">
                  <p:embed/>
                </p:oleObj>
              </mc:Choice>
              <mc:Fallback>
                <p:oleObj name="Equation" r:id="rId6" imgW="279360" imgH="177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1604" y="3143248"/>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0" name="Object 4"/>
          <p:cNvGraphicFramePr>
            <a:graphicFrameLocks noChangeAspect="1"/>
          </p:cNvGraphicFramePr>
          <p:nvPr/>
        </p:nvGraphicFramePr>
        <p:xfrm>
          <a:off x="1616054" y="4910504"/>
          <a:ext cx="666750" cy="469900"/>
        </p:xfrm>
        <a:graphic>
          <a:graphicData uri="http://schemas.openxmlformats.org/presentationml/2006/ole">
            <mc:AlternateContent xmlns:mc="http://schemas.openxmlformats.org/markup-compatibility/2006">
              <mc:Choice xmlns:v="urn:schemas-microsoft-com:vml" Requires="v">
                <p:oleObj name="Equation" r:id="rId8" imgW="253800" imgH="177480" progId="Equation.3">
                  <p:embed/>
                </p:oleObj>
              </mc:Choice>
              <mc:Fallback>
                <p:oleObj name="Equation" r:id="rId8" imgW="253800" imgH="177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6054" y="4910504"/>
                        <a:ext cx="6667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1" name="מחבר ישר 70"/>
          <p:cNvCxnSpPr/>
          <p:nvPr/>
        </p:nvCxnSpPr>
        <p:spPr>
          <a:xfrm>
            <a:off x="2285984" y="3429000"/>
            <a:ext cx="5726134"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מחבר ישר 76"/>
          <p:cNvCxnSpPr/>
          <p:nvPr/>
        </p:nvCxnSpPr>
        <p:spPr>
          <a:xfrm flipV="1">
            <a:off x="2285984" y="3286124"/>
            <a:ext cx="4286280" cy="18573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5541" name="Object 5"/>
          <p:cNvGraphicFramePr>
            <a:graphicFrameLocks noChangeAspect="1"/>
          </p:cNvGraphicFramePr>
          <p:nvPr/>
        </p:nvGraphicFramePr>
        <p:xfrm>
          <a:off x="5444290" y="785794"/>
          <a:ext cx="3482975" cy="600075"/>
        </p:xfrm>
        <a:graphic>
          <a:graphicData uri="http://schemas.openxmlformats.org/presentationml/2006/ole">
            <mc:AlternateContent xmlns:mc="http://schemas.openxmlformats.org/markup-compatibility/2006">
              <mc:Choice xmlns:v="urn:schemas-microsoft-com:vml" Requires="v">
                <p:oleObj name="Equation" r:id="rId10" imgW="1041120" imgH="177480" progId="Equation.3">
                  <p:embed/>
                </p:oleObj>
              </mc:Choice>
              <mc:Fallback>
                <p:oleObj name="Equation" r:id="rId10" imgW="1041120" imgH="177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44290" y="785794"/>
                        <a:ext cx="3482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2" name="Object 6"/>
          <p:cNvGraphicFramePr>
            <a:graphicFrameLocks noChangeAspect="1"/>
          </p:cNvGraphicFramePr>
          <p:nvPr/>
        </p:nvGraphicFramePr>
        <p:xfrm>
          <a:off x="5429256" y="1357313"/>
          <a:ext cx="3736975" cy="600075"/>
        </p:xfrm>
        <a:graphic>
          <a:graphicData uri="http://schemas.openxmlformats.org/presentationml/2006/ole">
            <mc:AlternateContent xmlns:mc="http://schemas.openxmlformats.org/markup-compatibility/2006">
              <mc:Choice xmlns:v="urn:schemas-microsoft-com:vml" Requires="v">
                <p:oleObj name="Equation" r:id="rId12" imgW="1117440" imgH="177480" progId="Equation.3">
                  <p:embed/>
                </p:oleObj>
              </mc:Choice>
              <mc:Fallback>
                <p:oleObj name="Equation" r:id="rId12" imgW="1117440" imgH="177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29256" y="1357313"/>
                        <a:ext cx="3736975" cy="600075"/>
                      </a:xfrm>
                      <a:prstGeom prst="rect">
                        <a:avLst/>
                      </a:prstGeom>
                      <a:solidFill>
                        <a:schemeClr val="accent6">
                          <a:lumMod val="60000"/>
                          <a:lumOff val="40000"/>
                        </a:schemeClr>
                      </a:solidFill>
                      <a:ln>
                        <a:noFill/>
                      </a:ln>
                    </p:spPr>
                  </p:pic>
                </p:oleObj>
              </mc:Fallback>
            </mc:AlternateContent>
          </a:graphicData>
        </a:graphic>
      </p:graphicFrame>
      <p:cxnSp>
        <p:nvCxnSpPr>
          <p:cNvPr id="79" name="מחבר ישר 78"/>
          <p:cNvCxnSpPr/>
          <p:nvPr/>
        </p:nvCxnSpPr>
        <p:spPr>
          <a:xfrm rot="10800000">
            <a:off x="2285984" y="4070354"/>
            <a:ext cx="1785950" cy="1589"/>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0" name="מחבר ישר 79"/>
          <p:cNvCxnSpPr/>
          <p:nvPr/>
        </p:nvCxnSpPr>
        <p:spPr>
          <a:xfrm rot="5400000" flipH="1" flipV="1">
            <a:off x="3356364" y="4785925"/>
            <a:ext cx="1429555" cy="159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65543" name="Object 7"/>
          <p:cNvGraphicFramePr>
            <a:graphicFrameLocks noChangeAspect="1"/>
          </p:cNvGraphicFramePr>
          <p:nvPr/>
        </p:nvGraphicFramePr>
        <p:xfrm>
          <a:off x="1657350" y="3900488"/>
          <a:ext cx="490538" cy="314325"/>
        </p:xfrm>
        <a:graphic>
          <a:graphicData uri="http://schemas.openxmlformats.org/presentationml/2006/ole">
            <mc:AlternateContent xmlns:mc="http://schemas.openxmlformats.org/markup-compatibility/2006">
              <mc:Choice xmlns:v="urn:schemas-microsoft-com:vml" Requires="v">
                <p:oleObj name="Equation" r:id="rId14" imgW="279360" imgH="177480" progId="Equation.3">
                  <p:embed/>
                </p:oleObj>
              </mc:Choice>
              <mc:Fallback>
                <p:oleObj name="Equation" r:id="rId14" imgW="279360" imgH="177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57350" y="3900488"/>
                        <a:ext cx="4905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4" name="Object 8"/>
          <p:cNvGraphicFramePr>
            <a:graphicFrameLocks noChangeAspect="1"/>
          </p:cNvGraphicFramePr>
          <p:nvPr/>
        </p:nvGraphicFramePr>
        <p:xfrm>
          <a:off x="3798888" y="5549900"/>
          <a:ext cx="581025" cy="315913"/>
        </p:xfrm>
        <a:graphic>
          <a:graphicData uri="http://schemas.openxmlformats.org/presentationml/2006/ole">
            <mc:AlternateContent xmlns:mc="http://schemas.openxmlformats.org/markup-compatibility/2006">
              <mc:Choice xmlns:v="urn:schemas-microsoft-com:vml" Requires="v">
                <p:oleObj name="Equation" r:id="rId16" imgW="330120" imgH="177480" progId="Equation.3">
                  <p:embed/>
                </p:oleObj>
              </mc:Choice>
              <mc:Fallback>
                <p:oleObj name="Equation" r:id="rId16" imgW="330120" imgH="177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98888" y="5549900"/>
                        <a:ext cx="5810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8" name="מחבר ישר 17"/>
          <p:cNvCxnSpPr/>
          <p:nvPr/>
        </p:nvCxnSpPr>
        <p:spPr>
          <a:xfrm flipV="1">
            <a:off x="2301439" y="3286124"/>
            <a:ext cx="4286280" cy="1857388"/>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69643" name="Object 11"/>
          <p:cNvGraphicFramePr>
            <a:graphicFrameLocks noChangeAspect="1"/>
          </p:cNvGraphicFramePr>
          <p:nvPr>
            <p:extLst>
              <p:ext uri="{D42A27DB-BD31-4B8C-83A1-F6EECF244321}">
                <p14:modId xmlns:p14="http://schemas.microsoft.com/office/powerpoint/2010/main" val="3841568372"/>
              </p:ext>
            </p:extLst>
          </p:nvPr>
        </p:nvGraphicFramePr>
        <p:xfrm>
          <a:off x="5407025" y="1340768"/>
          <a:ext cx="3736975" cy="600075"/>
        </p:xfrm>
        <a:graphic>
          <a:graphicData uri="http://schemas.openxmlformats.org/presentationml/2006/ole">
            <mc:AlternateContent xmlns:mc="http://schemas.openxmlformats.org/markup-compatibility/2006">
              <mc:Choice xmlns:v="urn:schemas-microsoft-com:vml" Requires="v">
                <p:oleObj name="Equation" r:id="rId18" imgW="1117440" imgH="177480" progId="Equation.3">
                  <p:embed/>
                </p:oleObj>
              </mc:Choice>
              <mc:Fallback>
                <p:oleObj name="Equation" r:id="rId18" imgW="1117440" imgH="177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07025" y="1340768"/>
                        <a:ext cx="3736975" cy="600075"/>
                      </a:xfrm>
                      <a:prstGeom prst="rect">
                        <a:avLst/>
                      </a:prstGeom>
                      <a:solidFill>
                        <a:schemeClr val="accent2">
                          <a:lumMod val="40000"/>
                          <a:lumOff val="60000"/>
                        </a:schemeClr>
                      </a:solidFill>
                      <a:ln>
                        <a:noFill/>
                      </a:ln>
                    </p:spPr>
                  </p:pic>
                </p:oleObj>
              </mc:Fallback>
            </mc:AlternateContent>
          </a:graphicData>
        </a:graphic>
      </p:graphicFrame>
      <p:graphicFrame>
        <p:nvGraphicFramePr>
          <p:cNvPr id="69644" name="Object 12"/>
          <p:cNvGraphicFramePr>
            <a:graphicFrameLocks noChangeAspect="1"/>
          </p:cNvGraphicFramePr>
          <p:nvPr/>
        </p:nvGraphicFramePr>
        <p:xfrm>
          <a:off x="1624381" y="4917660"/>
          <a:ext cx="666750" cy="469900"/>
        </p:xfrm>
        <a:graphic>
          <a:graphicData uri="http://schemas.openxmlformats.org/presentationml/2006/ole">
            <mc:AlternateContent xmlns:mc="http://schemas.openxmlformats.org/markup-compatibility/2006">
              <mc:Choice xmlns:v="urn:schemas-microsoft-com:vml" Requires="v">
                <p:oleObj name="Equation" r:id="rId20" imgW="253800" imgH="177480" progId="Equation.3">
                  <p:embed/>
                </p:oleObj>
              </mc:Choice>
              <mc:Fallback>
                <p:oleObj name="Equation" r:id="rId20" imgW="253800" imgH="1774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24381" y="4917660"/>
                        <a:ext cx="6667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68" name="מחבר ישר 67"/>
          <p:cNvCxnSpPr/>
          <p:nvPr/>
        </p:nvCxnSpPr>
        <p:spPr>
          <a:xfrm rot="5400000">
            <a:off x="153938" y="3357562"/>
            <a:ext cx="428628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מלבן 1"/>
          <p:cNvSpPr/>
          <p:nvPr/>
        </p:nvSpPr>
        <p:spPr>
          <a:xfrm>
            <a:off x="1619672" y="200270"/>
            <a:ext cx="4615366" cy="463075"/>
          </a:xfrm>
          <a:prstGeom prst="rect">
            <a:avLst/>
          </a:prstGeom>
          <a:solidFill>
            <a:schemeClr val="bg1"/>
          </a:solidFill>
        </p:spPr>
        <p:txBody>
          <a:bodyPr wrap="none">
            <a:spAutoFit/>
          </a:bodyPr>
          <a:lstStyle/>
          <a:p>
            <a:pPr>
              <a:lnSpc>
                <a:spcPct val="150000"/>
              </a:lnSpc>
            </a:pPr>
            <a:r>
              <a:rPr lang="he-IL" dirty="0">
                <a:solidFill>
                  <a:prstClr val="black"/>
                </a:solidFill>
              </a:rPr>
              <a:t>(1) ההוצאה השולית ליצור כל כמות גדלה ב-50 ₪.</a:t>
            </a:r>
            <a:endParaRPr lang="en-US" dirty="0">
              <a:solidFill>
                <a:prstClr val="black"/>
              </a:solidFill>
            </a:endParaRPr>
          </a:p>
        </p:txBody>
      </p:sp>
      <p:sp>
        <p:nvSpPr>
          <p:cNvPr id="22" name="כותרת 1"/>
          <p:cNvSpPr txBox="1">
            <a:spLocks/>
          </p:cNvSpPr>
          <p:nvPr/>
        </p:nvSpPr>
        <p:spPr>
          <a:xfrm>
            <a:off x="6572264" y="1"/>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 ג'</a:t>
            </a:r>
            <a:endParaRPr lang="he-IL" sz="2400" b="1" dirty="0">
              <a:solidFill>
                <a:prstClr val="black"/>
              </a:solidFill>
              <a:cs typeface="Arial" panose="020B0604020202020204" pitchFamily="34" charset="0"/>
            </a:endParaRPr>
          </a:p>
        </p:txBody>
      </p:sp>
    </p:spTree>
    <p:extLst>
      <p:ext uri="{BB962C8B-B14F-4D97-AF65-F5344CB8AC3E}">
        <p14:creationId xmlns:p14="http://schemas.microsoft.com/office/powerpoint/2010/main" val="3876753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500"/>
                                        <p:tgtEl>
                                          <p:spTgt spid="65542"/>
                                        </p:tgtEl>
                                        <p:attrNameLst>
                                          <p:attrName>ppt_x</p:attrName>
                                        </p:attrNameLst>
                                      </p:cBhvr>
                                      <p:tavLst>
                                        <p:tav tm="0">
                                          <p:val>
                                            <p:strVal val="ppt_x"/>
                                          </p:val>
                                        </p:tav>
                                        <p:tav tm="100000">
                                          <p:val>
                                            <p:strVal val="1+ppt_w/2"/>
                                          </p:val>
                                        </p:tav>
                                      </p:tavLst>
                                    </p:anim>
                                    <p:anim calcmode="lin" valueType="num">
                                      <p:cBhvr additive="base">
                                        <p:cTn id="7" dur="500"/>
                                        <p:tgtEl>
                                          <p:spTgt spid="65542"/>
                                        </p:tgtEl>
                                        <p:attrNameLst>
                                          <p:attrName>ppt_y</p:attrName>
                                        </p:attrNameLst>
                                      </p:cBhvr>
                                      <p:tavLst>
                                        <p:tav tm="0">
                                          <p:val>
                                            <p:strVal val="ppt_y"/>
                                          </p:val>
                                        </p:tav>
                                        <p:tav tm="100000">
                                          <p:val>
                                            <p:strVal val="ppt_y"/>
                                          </p:val>
                                        </p:tav>
                                      </p:tavLst>
                                    </p:anim>
                                    <p:set>
                                      <p:cBhvr>
                                        <p:cTn id="8" dur="1" fill="hold">
                                          <p:stCondLst>
                                            <p:cond delay="499"/>
                                          </p:stCondLst>
                                        </p:cTn>
                                        <p:tgtEl>
                                          <p:spTgt spid="65542"/>
                                        </p:tgtEl>
                                        <p:attrNameLst>
                                          <p:attrName>style.visibility</p:attrName>
                                        </p:attrNameLst>
                                      </p:cBhvr>
                                      <p:to>
                                        <p:strVal val="hidden"/>
                                      </p:to>
                                    </p:set>
                                  </p:childTnLst>
                                </p:cTn>
                              </p:par>
                              <p:par>
                                <p:cTn id="9" presetID="22" presetClass="entr" presetSubtype="8" fill="hold" nodeType="withEffect">
                                  <p:stCondLst>
                                    <p:cond delay="0"/>
                                  </p:stCondLst>
                                  <p:childTnLst>
                                    <p:set>
                                      <p:cBhvr>
                                        <p:cTn id="10" dur="1" fill="hold">
                                          <p:stCondLst>
                                            <p:cond delay="0"/>
                                          </p:stCondLst>
                                        </p:cTn>
                                        <p:tgtEl>
                                          <p:spTgt spid="69643"/>
                                        </p:tgtEl>
                                        <p:attrNameLst>
                                          <p:attrName>style.visibility</p:attrName>
                                        </p:attrNameLst>
                                      </p:cBhvr>
                                      <p:to>
                                        <p:strVal val="visible"/>
                                      </p:to>
                                    </p:set>
                                    <p:animEffect transition="in" filter="wipe(left)">
                                      <p:cBhvr>
                                        <p:cTn id="11" dur="1000"/>
                                        <p:tgtEl>
                                          <p:spTgt spid="6964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par>
                                <p:cTn id="16" presetID="64" presetClass="path" presetSubtype="0" accel="50000" decel="50000" fill="hold" nodeType="withEffect">
                                  <p:stCondLst>
                                    <p:cond delay="0"/>
                                  </p:stCondLst>
                                  <p:childTnLst>
                                    <p:animMotion origin="layout" path="M -1.66667E-6 2.75543E-6 L -1.66667E-6 -0.0393 " pathEditMode="relative" rAng="0" ptsTypes="AA">
                                      <p:cBhvr>
                                        <p:cTn id="17" dur="1000" fill="hold"/>
                                        <p:tgtEl>
                                          <p:spTgt spid="18"/>
                                        </p:tgtEl>
                                        <p:attrNameLst>
                                          <p:attrName>ppt_x</p:attrName>
                                          <p:attrName>ppt_y</p:attrName>
                                        </p:attrNameLst>
                                      </p:cBhvr>
                                      <p:rCtr x="0" y="-20"/>
                                    </p:animMotion>
                                  </p:childTnLst>
                                </p:cTn>
                              </p:par>
                              <p:par>
                                <p:cTn id="18" presetID="1" presetClass="entr" presetSubtype="0" fill="hold" nodeType="withEffect">
                                  <p:stCondLst>
                                    <p:cond delay="0"/>
                                  </p:stCondLst>
                                  <p:childTnLst>
                                    <p:set>
                                      <p:cBhvr>
                                        <p:cTn id="19" dur="1" fill="hold">
                                          <p:stCondLst>
                                            <p:cond delay="0"/>
                                          </p:stCondLst>
                                        </p:cTn>
                                        <p:tgtEl>
                                          <p:spTgt spid="69644"/>
                                        </p:tgtEl>
                                        <p:attrNameLst>
                                          <p:attrName>style.visibility</p:attrName>
                                        </p:attrNameLst>
                                      </p:cBhvr>
                                      <p:to>
                                        <p:strVal val="visible"/>
                                      </p:to>
                                    </p:set>
                                  </p:childTnLst>
                                </p:cTn>
                              </p:par>
                              <p:par>
                                <p:cTn id="20" presetID="64" presetClass="path" presetSubtype="0" accel="50000" decel="50000" fill="hold" nodeType="withEffect">
                                  <p:stCondLst>
                                    <p:cond delay="0"/>
                                  </p:stCondLst>
                                  <p:childTnLst>
                                    <p:animMotion origin="layout" path="M -2.5E-6 4.99421E-6 L -0.00017 -0.04814 " pathEditMode="relative" rAng="0" ptsTypes="AA">
                                      <p:cBhvr>
                                        <p:cTn id="21" dur="1000" fill="hold"/>
                                        <p:tgtEl>
                                          <p:spTgt spid="69644"/>
                                        </p:tgtEl>
                                        <p:attrNameLst>
                                          <p:attrName>ppt_x</p:attrName>
                                          <p:attrName>ppt_y</p:attrName>
                                        </p:attrNameLst>
                                      </p:cBhvr>
                                      <p:rCtr x="0" y="-24"/>
                                    </p:animMotion>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65543"/>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65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solidFill>
                <a:prstClr val="black"/>
              </a:solidFill>
            </a:endParaRPr>
          </a:p>
        </p:txBody>
      </p:sp>
      <p:graphicFrame>
        <p:nvGraphicFramePr>
          <p:cNvPr id="65537" name="Object 1"/>
          <p:cNvGraphicFramePr>
            <a:graphicFrameLocks noChangeAspect="1"/>
          </p:cNvGraphicFramePr>
          <p:nvPr/>
        </p:nvGraphicFramePr>
        <p:xfrm>
          <a:off x="1719246" y="2309308"/>
          <a:ext cx="566737" cy="469900"/>
        </p:xfrm>
        <a:graphic>
          <a:graphicData uri="http://schemas.openxmlformats.org/presentationml/2006/ole">
            <mc:AlternateContent xmlns:mc="http://schemas.openxmlformats.org/markup-compatibility/2006">
              <mc:Choice xmlns:v="urn:schemas-microsoft-com:vml" Requires="v">
                <p:oleObj name="Equation" r:id="rId2" imgW="215640" imgH="177480" progId="Equation.3">
                  <p:embed/>
                </p:oleObj>
              </mc:Choice>
              <mc:Fallback>
                <p:oleObj name="Equation" r:id="rId2" imgW="215640" imgH="17748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46" y="2309308"/>
                        <a:ext cx="5667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39" name="Object 3"/>
          <p:cNvGraphicFramePr>
            <a:graphicFrameLocks noChangeAspect="1"/>
          </p:cNvGraphicFramePr>
          <p:nvPr/>
        </p:nvGraphicFramePr>
        <p:xfrm>
          <a:off x="1571604" y="3143248"/>
          <a:ext cx="733425" cy="469900"/>
        </p:xfrm>
        <a:graphic>
          <a:graphicData uri="http://schemas.openxmlformats.org/presentationml/2006/ole">
            <mc:AlternateContent xmlns:mc="http://schemas.openxmlformats.org/markup-compatibility/2006">
              <mc:Choice xmlns:v="urn:schemas-microsoft-com:vml" Requires="v">
                <p:oleObj name="Equation" r:id="rId4" imgW="279360" imgH="177480" progId="Equation.3">
                  <p:embed/>
                </p:oleObj>
              </mc:Choice>
              <mc:Fallback>
                <p:oleObj name="Equation" r:id="rId4" imgW="279360" imgH="177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04" y="3143248"/>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0" name="Object 4"/>
          <p:cNvGraphicFramePr>
            <a:graphicFrameLocks noChangeAspect="1"/>
          </p:cNvGraphicFramePr>
          <p:nvPr/>
        </p:nvGraphicFramePr>
        <p:xfrm>
          <a:off x="1616054" y="4910504"/>
          <a:ext cx="666750" cy="469900"/>
        </p:xfrm>
        <a:graphic>
          <a:graphicData uri="http://schemas.openxmlformats.org/presentationml/2006/ole">
            <mc:AlternateContent xmlns:mc="http://schemas.openxmlformats.org/markup-compatibility/2006">
              <mc:Choice xmlns:v="urn:schemas-microsoft-com:vml" Requires="v">
                <p:oleObj name="Equation" r:id="rId6" imgW="253800" imgH="177480" progId="Equation.3">
                  <p:embed/>
                </p:oleObj>
              </mc:Choice>
              <mc:Fallback>
                <p:oleObj name="Equation" r:id="rId6" imgW="253800" imgH="1774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6054" y="4910504"/>
                        <a:ext cx="6667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1" name="מחבר ישר 70"/>
          <p:cNvCxnSpPr/>
          <p:nvPr/>
        </p:nvCxnSpPr>
        <p:spPr>
          <a:xfrm>
            <a:off x="2285984" y="3429000"/>
            <a:ext cx="5726134"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מחבר ישר 76"/>
          <p:cNvCxnSpPr/>
          <p:nvPr/>
        </p:nvCxnSpPr>
        <p:spPr>
          <a:xfrm flipV="1">
            <a:off x="2285984" y="3286124"/>
            <a:ext cx="4286280" cy="18573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5541" name="Object 5"/>
          <p:cNvGraphicFramePr>
            <a:graphicFrameLocks noChangeAspect="1"/>
          </p:cNvGraphicFramePr>
          <p:nvPr/>
        </p:nvGraphicFramePr>
        <p:xfrm>
          <a:off x="5444290" y="785794"/>
          <a:ext cx="3482975" cy="600075"/>
        </p:xfrm>
        <a:graphic>
          <a:graphicData uri="http://schemas.openxmlformats.org/presentationml/2006/ole">
            <mc:AlternateContent xmlns:mc="http://schemas.openxmlformats.org/markup-compatibility/2006">
              <mc:Choice xmlns:v="urn:schemas-microsoft-com:vml" Requires="v">
                <p:oleObj name="Equation" r:id="rId8" imgW="1041120" imgH="177480" progId="Equation.3">
                  <p:embed/>
                </p:oleObj>
              </mc:Choice>
              <mc:Fallback>
                <p:oleObj name="Equation" r:id="rId8" imgW="1041120" imgH="177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4290" y="785794"/>
                        <a:ext cx="3482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2" name="Object 6"/>
          <p:cNvGraphicFramePr>
            <a:graphicFrameLocks noChangeAspect="1"/>
          </p:cNvGraphicFramePr>
          <p:nvPr/>
        </p:nvGraphicFramePr>
        <p:xfrm>
          <a:off x="5429256" y="1357313"/>
          <a:ext cx="3736975" cy="600075"/>
        </p:xfrm>
        <a:graphic>
          <a:graphicData uri="http://schemas.openxmlformats.org/presentationml/2006/ole">
            <mc:AlternateContent xmlns:mc="http://schemas.openxmlformats.org/markup-compatibility/2006">
              <mc:Choice xmlns:v="urn:schemas-microsoft-com:vml" Requires="v">
                <p:oleObj name="Equation" r:id="rId10" imgW="1117440" imgH="177480" progId="Equation.3">
                  <p:embed/>
                </p:oleObj>
              </mc:Choice>
              <mc:Fallback>
                <p:oleObj name="Equation" r:id="rId10" imgW="1117440" imgH="177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9256" y="1357313"/>
                        <a:ext cx="3736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9" name="מחבר ישר 78"/>
          <p:cNvCxnSpPr/>
          <p:nvPr/>
        </p:nvCxnSpPr>
        <p:spPr>
          <a:xfrm rot="10800000">
            <a:off x="2285984" y="4046714"/>
            <a:ext cx="2514616" cy="19044"/>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0" name="מחבר ישר 79"/>
          <p:cNvCxnSpPr/>
          <p:nvPr/>
        </p:nvCxnSpPr>
        <p:spPr>
          <a:xfrm rot="5400000" flipH="1" flipV="1">
            <a:off x="4086196" y="4785925"/>
            <a:ext cx="1429555" cy="159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65543" name="Object 7"/>
          <p:cNvGraphicFramePr>
            <a:graphicFrameLocks noChangeAspect="1"/>
          </p:cNvGraphicFramePr>
          <p:nvPr/>
        </p:nvGraphicFramePr>
        <p:xfrm>
          <a:off x="1486785" y="3824288"/>
          <a:ext cx="803275" cy="314325"/>
        </p:xfrm>
        <a:graphic>
          <a:graphicData uri="http://schemas.openxmlformats.org/presentationml/2006/ole">
            <mc:AlternateContent xmlns:mc="http://schemas.openxmlformats.org/markup-compatibility/2006">
              <mc:Choice xmlns:v="urn:schemas-microsoft-com:vml" Requires="v">
                <p:oleObj name="Equation" r:id="rId12" imgW="457200" imgH="177480" progId="Equation.3">
                  <p:embed/>
                </p:oleObj>
              </mc:Choice>
              <mc:Fallback>
                <p:oleObj name="Equation" r:id="rId12" imgW="457200" imgH="17748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6785" y="3824288"/>
                        <a:ext cx="8032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4" name="Object 8"/>
          <p:cNvGraphicFramePr>
            <a:graphicFrameLocks noChangeAspect="1"/>
          </p:cNvGraphicFramePr>
          <p:nvPr/>
        </p:nvGraphicFramePr>
        <p:xfrm>
          <a:off x="4429124" y="5549900"/>
          <a:ext cx="915988" cy="315913"/>
        </p:xfrm>
        <a:graphic>
          <a:graphicData uri="http://schemas.openxmlformats.org/presentationml/2006/ole">
            <mc:AlternateContent xmlns:mc="http://schemas.openxmlformats.org/markup-compatibility/2006">
              <mc:Choice xmlns:v="urn:schemas-microsoft-com:vml" Requires="v">
                <p:oleObj name="Equation" r:id="rId14" imgW="520560" imgH="177480" progId="Equation.3">
                  <p:embed/>
                </p:oleObj>
              </mc:Choice>
              <mc:Fallback>
                <p:oleObj name="Equation" r:id="rId14" imgW="520560" imgH="17748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29124" y="5549900"/>
                        <a:ext cx="9159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8" name="מחבר ישר 17"/>
          <p:cNvCxnSpPr/>
          <p:nvPr/>
        </p:nvCxnSpPr>
        <p:spPr>
          <a:xfrm>
            <a:off x="2285984" y="3429000"/>
            <a:ext cx="6500858" cy="2357454"/>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72715" name="Object 11"/>
          <p:cNvGraphicFramePr>
            <a:graphicFrameLocks noChangeAspect="1"/>
          </p:cNvGraphicFramePr>
          <p:nvPr/>
        </p:nvGraphicFramePr>
        <p:xfrm>
          <a:off x="5421106" y="785813"/>
          <a:ext cx="3482975" cy="600075"/>
        </p:xfrm>
        <a:graphic>
          <a:graphicData uri="http://schemas.openxmlformats.org/presentationml/2006/ole">
            <mc:AlternateContent xmlns:mc="http://schemas.openxmlformats.org/markup-compatibility/2006">
              <mc:Choice xmlns:v="urn:schemas-microsoft-com:vml" Requires="v">
                <p:oleObj name="Equation" r:id="rId16" imgW="1041120" imgH="177480" progId="Equation.3">
                  <p:embed/>
                </p:oleObj>
              </mc:Choice>
              <mc:Fallback>
                <p:oleObj name="Equation" r:id="rId16" imgW="1041120" imgH="1774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21106" y="785813"/>
                        <a:ext cx="3482975" cy="600075"/>
                      </a:xfrm>
                      <a:prstGeom prst="rect">
                        <a:avLst/>
                      </a:prstGeom>
                      <a:solidFill>
                        <a:srgbClr val="FF0000"/>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0" name="מחבר ישר 69"/>
          <p:cNvCxnSpPr/>
          <p:nvPr/>
        </p:nvCxnSpPr>
        <p:spPr>
          <a:xfrm>
            <a:off x="2297078" y="5500702"/>
            <a:ext cx="663264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2717" name="Object 13"/>
          <p:cNvGraphicFramePr>
            <a:graphicFrameLocks noChangeAspect="1"/>
          </p:cNvGraphicFramePr>
          <p:nvPr/>
        </p:nvGraphicFramePr>
        <p:xfrm>
          <a:off x="1576347" y="3140968"/>
          <a:ext cx="733425" cy="469900"/>
        </p:xfrm>
        <a:graphic>
          <a:graphicData uri="http://schemas.openxmlformats.org/presentationml/2006/ole">
            <mc:AlternateContent xmlns:mc="http://schemas.openxmlformats.org/markup-compatibility/2006">
              <mc:Choice xmlns:v="urn:schemas-microsoft-com:vml" Requires="v">
                <p:oleObj name="Equation" r:id="rId18" imgW="279360" imgH="177480" progId="Equation.3">
                  <p:embed/>
                </p:oleObj>
              </mc:Choice>
              <mc:Fallback>
                <p:oleObj name="Equation" r:id="rId18" imgW="279360" imgH="17748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76347" y="3140968"/>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68" name="מחבר ישר 67"/>
          <p:cNvCxnSpPr/>
          <p:nvPr/>
        </p:nvCxnSpPr>
        <p:spPr>
          <a:xfrm>
            <a:off x="2285983" y="2492896"/>
            <a:ext cx="10301" cy="300860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pic>
        <p:nvPicPr>
          <p:cNvPr id="72718" name="Picture 14"/>
          <p:cNvPicPr>
            <a:picLocks noChangeAspect="1" noChangeArrowheads="1"/>
          </p:cNvPicPr>
          <p:nvPr/>
        </p:nvPicPr>
        <p:blipFill>
          <a:blip r:embed="rId20" cstate="print"/>
          <a:srcRect l="44532" t="43125" r="43748" b="53125"/>
          <a:stretch>
            <a:fillRect/>
          </a:stretch>
        </p:blipFill>
        <p:spPr bwMode="auto">
          <a:xfrm>
            <a:off x="6816558" y="5530682"/>
            <a:ext cx="2143140" cy="428628"/>
          </a:xfrm>
          <a:prstGeom prst="rect">
            <a:avLst/>
          </a:prstGeom>
          <a:noFill/>
          <a:ln w="9525">
            <a:noFill/>
            <a:miter lim="800000"/>
            <a:headEnd/>
            <a:tailEnd/>
          </a:ln>
          <a:effectLst/>
        </p:spPr>
      </p:pic>
      <p:graphicFrame>
        <p:nvGraphicFramePr>
          <p:cNvPr id="65538" name="Object 2"/>
          <p:cNvGraphicFramePr>
            <a:graphicFrameLocks noChangeAspect="1"/>
          </p:cNvGraphicFramePr>
          <p:nvPr/>
        </p:nvGraphicFramePr>
        <p:xfrm>
          <a:off x="8012118" y="5500702"/>
          <a:ext cx="466725" cy="434975"/>
        </p:xfrm>
        <a:graphic>
          <a:graphicData uri="http://schemas.openxmlformats.org/presentationml/2006/ole">
            <mc:AlternateContent xmlns:mc="http://schemas.openxmlformats.org/markup-compatibility/2006">
              <mc:Choice xmlns:v="urn:schemas-microsoft-com:vml" Requires="v">
                <p:oleObj name="Equation" r:id="rId21" imgW="177480" imgH="164880" progId="Equation.3">
                  <p:embed/>
                </p:oleObj>
              </mc:Choice>
              <mc:Fallback>
                <p:oleObj name="Equation" r:id="rId21" imgW="177480" imgH="16488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12118" y="5500702"/>
                        <a:ext cx="4667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מלבן 1"/>
          <p:cNvSpPr/>
          <p:nvPr/>
        </p:nvSpPr>
        <p:spPr>
          <a:xfrm>
            <a:off x="0" y="6862"/>
            <a:ext cx="6444208" cy="646331"/>
          </a:xfrm>
          <a:prstGeom prst="rect">
            <a:avLst/>
          </a:prstGeom>
          <a:solidFill>
            <a:schemeClr val="bg1"/>
          </a:solidFill>
        </p:spPr>
        <p:txBody>
          <a:bodyPr wrap="square">
            <a:spAutoFit/>
          </a:bodyPr>
          <a:lstStyle/>
          <a:p>
            <a:r>
              <a:rPr lang="he-IL" dirty="0">
                <a:solidFill>
                  <a:prstClr val="black"/>
                </a:solidFill>
              </a:rPr>
              <a:t>(2) כתוצאה משינוי בטעמי הצרכנים, </a:t>
            </a:r>
            <a:r>
              <a:rPr lang="he-IL" b="1" dirty="0">
                <a:solidFill>
                  <a:srgbClr val="C00000"/>
                </a:solidFill>
              </a:rPr>
              <a:t>הם מעוניינים לקנות עוד 100 טון </a:t>
            </a:r>
            <a:r>
              <a:rPr lang="he-IL" dirty="0">
                <a:solidFill>
                  <a:prstClr val="black"/>
                </a:solidFill>
              </a:rPr>
              <a:t>אפרסקים בכל מחיר שעשוי להתקיים בשוק.</a:t>
            </a:r>
            <a:endParaRPr lang="en-US" dirty="0">
              <a:solidFill>
                <a:prstClr val="black"/>
              </a:solidFill>
            </a:endParaRPr>
          </a:p>
        </p:txBody>
      </p:sp>
      <mc:AlternateContent xmlns:mc="http://schemas.openxmlformats.org/markup-compatibility/2006" xmlns:a14="http://schemas.microsoft.com/office/drawing/2010/main">
        <mc:Choice Requires="a14">
          <p:sp>
            <p:nvSpPr>
              <p:cNvPr id="6" name="מלבן 5"/>
              <p:cNvSpPr/>
              <p:nvPr/>
            </p:nvSpPr>
            <p:spPr>
              <a:xfrm>
                <a:off x="481188" y="937966"/>
                <a:ext cx="4248472" cy="1296144"/>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lnSpc>
                    <a:spcPct val="150000"/>
                  </a:lnSpc>
                </a:pPr>
                <a:br>
                  <a:rPr lang="en-US" dirty="0">
                    <a:solidFill>
                      <a:prstClr val="black"/>
                    </a:solidFill>
                  </a:rPr>
                </a:br>
                <a:r>
                  <a:rPr lang="he-IL" dirty="0">
                    <a:solidFill>
                      <a:prstClr val="black"/>
                    </a:solidFill>
                  </a:rPr>
                  <a:t>נבודד מעקומת הביקוש את </a:t>
                </a:r>
                <a:r>
                  <a:rPr lang="en-US" dirty="0">
                    <a:solidFill>
                      <a:prstClr val="black"/>
                    </a:solidFill>
                  </a:rPr>
                  <a:t>X</a:t>
                </a:r>
                <a:r>
                  <a:rPr lang="he-IL" dirty="0">
                    <a:solidFill>
                      <a:prstClr val="black"/>
                    </a:solidFill>
                  </a:rPr>
                  <a:t> ונוסיף 100 </a:t>
                </a:r>
                <a:r>
                  <a:rPr lang="he-IL" dirty="0" err="1">
                    <a:solidFill>
                      <a:prstClr val="black"/>
                    </a:solidFill>
                  </a:rPr>
                  <a:t>יח</a:t>
                </a:r>
                <a:r>
                  <a:rPr lang="he-IL" dirty="0">
                    <a:solidFill>
                      <a:prstClr val="black"/>
                    </a:solidFill>
                  </a:rPr>
                  <a:t>':</a:t>
                </a:r>
              </a:p>
              <a:p>
                <a:pPr algn="ctr">
                  <a:lnSpc>
                    <a:spcPct val="150000"/>
                  </a:lnSpc>
                </a:pPr>
                <a14:m>
                  <m:oMathPara xmlns:m="http://schemas.openxmlformats.org/officeDocument/2006/math">
                    <m:oMathParaPr>
                      <m:jc m:val="centerGroup"/>
                    </m:oMathParaPr>
                    <m:oMath xmlns:m="http://schemas.openxmlformats.org/officeDocument/2006/math">
                      <m:r>
                        <a:rPr lang="he-IL" i="1">
                          <a:solidFill>
                            <a:prstClr val="black"/>
                          </a:solidFill>
                          <a:latin typeface="Cambria Math"/>
                        </a:rPr>
                        <m:t>𝑋</m:t>
                      </m:r>
                      <m:r>
                        <a:rPr lang="he-IL">
                          <a:solidFill>
                            <a:prstClr val="black"/>
                          </a:solidFill>
                          <a:latin typeface="Cambria Math"/>
                        </a:rPr>
                        <m:t>=</m:t>
                      </m:r>
                      <m:f>
                        <m:fPr>
                          <m:ctrlPr>
                            <a:rPr lang="he-IL" i="1">
                              <a:solidFill>
                                <a:prstClr val="black"/>
                              </a:solidFill>
                              <a:latin typeface="Cambria Math" panose="02040503050406030204" pitchFamily="18" charset="0"/>
                            </a:rPr>
                          </m:ctrlPr>
                        </m:fPr>
                        <m:num>
                          <m:r>
                            <a:rPr lang="he-IL">
                              <a:solidFill>
                                <a:prstClr val="black"/>
                              </a:solidFill>
                              <a:latin typeface="Cambria Math"/>
                            </a:rPr>
                            <m:t>700</m:t>
                          </m:r>
                          <m:r>
                            <a:rPr lang="he-IL">
                              <a:solidFill>
                                <a:prstClr val="black"/>
                              </a:solidFill>
                              <a:latin typeface="Cambria Math"/>
                            </a:rPr>
                            <m:t>−</m:t>
                          </m:r>
                          <m:sSub>
                            <m:sSubPr>
                              <m:ctrlPr>
                                <a:rPr lang="he-IL" i="1">
                                  <a:solidFill>
                                    <a:prstClr val="black"/>
                                  </a:solidFill>
                                  <a:latin typeface="Cambria Math" panose="02040503050406030204" pitchFamily="18" charset="0"/>
                                </a:rPr>
                              </m:ctrlPr>
                            </m:sSubPr>
                            <m:e>
                              <m:r>
                                <a:rPr lang="he-IL" i="1">
                                  <a:solidFill>
                                    <a:prstClr val="black"/>
                                  </a:solidFill>
                                  <a:latin typeface="Cambria Math"/>
                                </a:rPr>
                                <m:t>𝑃</m:t>
                              </m:r>
                            </m:e>
                            <m:sub>
                              <m:r>
                                <a:rPr lang="he-IL" i="1">
                                  <a:solidFill>
                                    <a:prstClr val="black"/>
                                  </a:solidFill>
                                  <a:latin typeface="Cambria Math"/>
                                </a:rPr>
                                <m:t>𝑥</m:t>
                              </m:r>
                            </m:sub>
                          </m:sSub>
                        </m:num>
                        <m:den>
                          <m:r>
                            <a:rPr lang="he-IL">
                              <a:solidFill>
                                <a:prstClr val="black"/>
                              </a:solidFill>
                              <a:latin typeface="Cambria Math"/>
                            </a:rPr>
                            <m:t>0</m:t>
                          </m:r>
                          <m:r>
                            <a:rPr lang="he-IL">
                              <a:solidFill>
                                <a:prstClr val="black"/>
                              </a:solidFill>
                              <a:latin typeface="Cambria Math"/>
                            </a:rPr>
                            <m:t>.</m:t>
                          </m:r>
                          <m:r>
                            <a:rPr lang="he-IL">
                              <a:solidFill>
                                <a:prstClr val="black"/>
                              </a:solidFill>
                              <a:latin typeface="Cambria Math"/>
                            </a:rPr>
                            <m:t>3</m:t>
                          </m:r>
                        </m:den>
                      </m:f>
                      <m:r>
                        <a:rPr lang="he-IL" b="1" smtClean="0">
                          <a:solidFill>
                            <a:srgbClr val="C00000"/>
                          </a:solidFill>
                          <a:latin typeface="Cambria Math"/>
                        </a:rPr>
                        <m:t>+</m:t>
                      </m:r>
                      <m:r>
                        <a:rPr lang="he-IL" b="1" i="1">
                          <a:solidFill>
                            <a:srgbClr val="C00000"/>
                          </a:solidFill>
                          <a:latin typeface="Cambria Math"/>
                        </a:rPr>
                        <m:t>𝟏𝟎𝟎</m:t>
                      </m:r>
                      <m:r>
                        <a:rPr lang="he-IL">
                          <a:solidFill>
                            <a:prstClr val="black"/>
                          </a:solidFill>
                          <a:latin typeface="Cambria Math"/>
                        </a:rPr>
                        <m:t>=</m:t>
                      </m:r>
                      <m:r>
                        <a:rPr lang="he-IL">
                          <a:solidFill>
                            <a:prstClr val="black"/>
                          </a:solidFill>
                          <a:latin typeface="Cambria Math"/>
                        </a:rPr>
                        <m:t>2433</m:t>
                      </m:r>
                      <m:f>
                        <m:fPr>
                          <m:ctrlPr>
                            <a:rPr lang="he-IL" i="1">
                              <a:solidFill>
                                <a:prstClr val="black"/>
                              </a:solidFill>
                              <a:latin typeface="Cambria Math" panose="02040503050406030204" pitchFamily="18" charset="0"/>
                            </a:rPr>
                          </m:ctrlPr>
                        </m:fPr>
                        <m:num>
                          <m:r>
                            <a:rPr lang="he-IL">
                              <a:solidFill>
                                <a:prstClr val="black"/>
                              </a:solidFill>
                              <a:latin typeface="Cambria Math"/>
                            </a:rPr>
                            <m:t>1</m:t>
                          </m:r>
                        </m:num>
                        <m:den>
                          <m:r>
                            <a:rPr lang="he-IL">
                              <a:solidFill>
                                <a:prstClr val="black"/>
                              </a:solidFill>
                              <a:latin typeface="Cambria Math"/>
                            </a:rPr>
                            <m:t>3</m:t>
                          </m:r>
                        </m:den>
                      </m:f>
                      <m:r>
                        <a:rPr lang="he-IL">
                          <a:solidFill>
                            <a:prstClr val="black"/>
                          </a:solidFill>
                          <a:latin typeface="Cambria Math"/>
                        </a:rPr>
                        <m:t>−</m:t>
                      </m:r>
                      <m:r>
                        <a:rPr lang="he-IL">
                          <a:solidFill>
                            <a:prstClr val="black"/>
                          </a:solidFill>
                          <a:latin typeface="Cambria Math"/>
                        </a:rPr>
                        <m:t>3</m:t>
                      </m:r>
                      <m:f>
                        <m:fPr>
                          <m:ctrlPr>
                            <a:rPr lang="he-IL" i="1">
                              <a:solidFill>
                                <a:prstClr val="black"/>
                              </a:solidFill>
                              <a:latin typeface="Cambria Math" panose="02040503050406030204" pitchFamily="18" charset="0"/>
                            </a:rPr>
                          </m:ctrlPr>
                        </m:fPr>
                        <m:num>
                          <m:r>
                            <a:rPr lang="he-IL">
                              <a:solidFill>
                                <a:prstClr val="black"/>
                              </a:solidFill>
                              <a:latin typeface="Cambria Math"/>
                            </a:rPr>
                            <m:t>1</m:t>
                          </m:r>
                        </m:num>
                        <m:den>
                          <m:r>
                            <a:rPr lang="he-IL">
                              <a:solidFill>
                                <a:prstClr val="black"/>
                              </a:solidFill>
                              <a:latin typeface="Cambria Math"/>
                            </a:rPr>
                            <m:t>3</m:t>
                          </m:r>
                        </m:den>
                      </m:f>
                      <m:r>
                        <a:rPr lang="he-IL">
                          <a:solidFill>
                            <a:prstClr val="black"/>
                          </a:solidFill>
                          <a:latin typeface="Cambria Math"/>
                        </a:rPr>
                        <m:t>⋅</m:t>
                      </m:r>
                      <m:sSub>
                        <m:sSubPr>
                          <m:ctrlPr>
                            <a:rPr lang="he-IL" i="1">
                              <a:solidFill>
                                <a:prstClr val="black"/>
                              </a:solidFill>
                              <a:latin typeface="Cambria Math" panose="02040503050406030204" pitchFamily="18" charset="0"/>
                            </a:rPr>
                          </m:ctrlPr>
                        </m:sSubPr>
                        <m:e>
                          <m:r>
                            <a:rPr lang="he-IL" i="1">
                              <a:solidFill>
                                <a:prstClr val="black"/>
                              </a:solidFill>
                              <a:latin typeface="Cambria Math"/>
                            </a:rPr>
                            <m:t>𝑃</m:t>
                          </m:r>
                        </m:e>
                        <m:sub>
                          <m:r>
                            <a:rPr lang="he-IL" i="1">
                              <a:solidFill>
                                <a:prstClr val="black"/>
                              </a:solidFill>
                              <a:latin typeface="Cambria Math"/>
                            </a:rPr>
                            <m:t>𝑥</m:t>
                          </m:r>
                        </m:sub>
                      </m:sSub>
                    </m:oMath>
                  </m:oMathPara>
                </a14:m>
                <a:endParaRPr lang="he-IL" dirty="0">
                  <a:solidFill>
                    <a:prstClr val="black"/>
                  </a:solidFill>
                </a:endParaRPr>
              </a:p>
              <a:p>
                <a:pPr algn="ctr"/>
                <a:endParaRPr lang="he-IL" dirty="0">
                  <a:solidFill>
                    <a:prstClr val="black"/>
                  </a:solidFill>
                </a:endParaRPr>
              </a:p>
            </p:txBody>
          </p:sp>
        </mc:Choice>
        <mc:Fallback xmlns="">
          <p:sp>
            <p:nvSpPr>
              <p:cNvPr id="6" name="מלבן 5"/>
              <p:cNvSpPr>
                <a:spLocks noRot="1" noChangeAspect="1" noMove="1" noResize="1" noEditPoints="1" noAdjustHandles="1" noChangeArrowheads="1" noChangeShapeType="1" noTextEdit="1"/>
              </p:cNvSpPr>
              <p:nvPr/>
            </p:nvSpPr>
            <p:spPr>
              <a:xfrm>
                <a:off x="481188" y="937966"/>
                <a:ext cx="4248472" cy="1296144"/>
              </a:xfrm>
              <a:prstGeom prst="rect">
                <a:avLst/>
              </a:prstGeom>
              <a:blipFill>
                <a:blip r:embed="rId24"/>
                <a:stretch>
                  <a:fillRect/>
                </a:stretch>
              </a:blipFill>
            </p:spPr>
            <p:txBody>
              <a:bodyPr/>
              <a:lstStyle/>
              <a:p>
                <a:r>
                  <a:rPr lang="en-IL">
                    <a:noFill/>
                  </a:rPr>
                  <a:t> </a:t>
                </a:r>
              </a:p>
            </p:txBody>
          </p:sp>
        </mc:Fallback>
      </mc:AlternateContent>
      <p:sp>
        <p:nvSpPr>
          <p:cNvPr id="9" name="חץ למטה 8"/>
          <p:cNvSpPr/>
          <p:nvPr/>
        </p:nvSpPr>
        <p:spPr>
          <a:xfrm>
            <a:off x="2934072" y="653193"/>
            <a:ext cx="144016" cy="255527"/>
          </a:xfrm>
          <a:prstGeom prst="downArrow">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solidFill>
                <a:prstClr val="black"/>
              </a:solidFill>
            </a:endParaRPr>
          </a:p>
        </p:txBody>
      </p:sp>
      <p:sp>
        <p:nvSpPr>
          <p:cNvPr id="10" name="חץ ימינה 9"/>
          <p:cNvSpPr/>
          <p:nvPr/>
        </p:nvSpPr>
        <p:spPr>
          <a:xfrm flipV="1">
            <a:off x="4949673" y="1052736"/>
            <a:ext cx="289019" cy="144016"/>
          </a:xfrm>
          <a:prstGeom prst="rightArrow">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solidFill>
                <a:prstClr val="black"/>
              </a:solidFill>
            </a:endParaRPr>
          </a:p>
        </p:txBody>
      </p:sp>
      <p:sp>
        <p:nvSpPr>
          <p:cNvPr id="26" name="כותרת 1"/>
          <p:cNvSpPr txBox="1">
            <a:spLocks/>
          </p:cNvSpPr>
          <p:nvPr/>
        </p:nvSpPr>
        <p:spPr>
          <a:xfrm>
            <a:off x="6572264" y="1"/>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 ג'</a:t>
            </a:r>
            <a:endParaRPr lang="he-IL" sz="2400" b="1" dirty="0">
              <a:solidFill>
                <a:prstClr val="black"/>
              </a:solidFill>
              <a:cs typeface="Arial" panose="020B0604020202020204" pitchFamily="34" charset="0"/>
            </a:endParaRPr>
          </a:p>
        </p:txBody>
      </p:sp>
    </p:spTree>
    <p:extLst>
      <p:ext uri="{BB962C8B-B14F-4D97-AF65-F5344CB8AC3E}">
        <p14:creationId xmlns:p14="http://schemas.microsoft.com/office/powerpoint/2010/main" val="148329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xit" presetSubtype="2" fill="hold" nodeType="clickEffect">
                                  <p:stCondLst>
                                    <p:cond delay="0"/>
                                  </p:stCondLst>
                                  <p:childTnLst>
                                    <p:anim calcmode="lin" valueType="num">
                                      <p:cBhvr additive="base">
                                        <p:cTn id="19" dur="500"/>
                                        <p:tgtEl>
                                          <p:spTgt spid="65541"/>
                                        </p:tgtEl>
                                        <p:attrNameLst>
                                          <p:attrName>ppt_x</p:attrName>
                                        </p:attrNameLst>
                                      </p:cBhvr>
                                      <p:tavLst>
                                        <p:tav tm="0">
                                          <p:val>
                                            <p:strVal val="ppt_x"/>
                                          </p:val>
                                        </p:tav>
                                        <p:tav tm="100000">
                                          <p:val>
                                            <p:strVal val="1+ppt_w/2"/>
                                          </p:val>
                                        </p:tav>
                                      </p:tavLst>
                                    </p:anim>
                                    <p:anim calcmode="lin" valueType="num">
                                      <p:cBhvr additive="base">
                                        <p:cTn id="20" dur="500"/>
                                        <p:tgtEl>
                                          <p:spTgt spid="65541"/>
                                        </p:tgtEl>
                                        <p:attrNameLst>
                                          <p:attrName>ppt_y</p:attrName>
                                        </p:attrNameLst>
                                      </p:cBhvr>
                                      <p:tavLst>
                                        <p:tav tm="0">
                                          <p:val>
                                            <p:strVal val="ppt_y"/>
                                          </p:val>
                                        </p:tav>
                                        <p:tav tm="100000">
                                          <p:val>
                                            <p:strVal val="ppt_y"/>
                                          </p:val>
                                        </p:tav>
                                      </p:tavLst>
                                    </p:anim>
                                    <p:set>
                                      <p:cBhvr>
                                        <p:cTn id="21" dur="1" fill="hold">
                                          <p:stCondLst>
                                            <p:cond delay="499"/>
                                          </p:stCondLst>
                                        </p:cTn>
                                        <p:tgtEl>
                                          <p:spTgt spid="65541"/>
                                        </p:tgtEl>
                                        <p:attrNameLst>
                                          <p:attrName>style.visibility</p:attrName>
                                        </p:attrNameLst>
                                      </p:cBhvr>
                                      <p:to>
                                        <p:strVal val="hidden"/>
                                      </p:to>
                                    </p:set>
                                  </p:childTnLst>
                                </p:cTn>
                              </p:par>
                              <p:par>
                                <p:cTn id="22" presetID="22" presetClass="entr" presetSubtype="8" fill="hold" nodeType="withEffect">
                                  <p:stCondLst>
                                    <p:cond delay="0"/>
                                  </p:stCondLst>
                                  <p:childTnLst>
                                    <p:set>
                                      <p:cBhvr>
                                        <p:cTn id="23" dur="1" fill="hold">
                                          <p:stCondLst>
                                            <p:cond delay="0"/>
                                          </p:stCondLst>
                                        </p:cTn>
                                        <p:tgtEl>
                                          <p:spTgt spid="72715"/>
                                        </p:tgtEl>
                                        <p:attrNameLst>
                                          <p:attrName>style.visibility</p:attrName>
                                        </p:attrNameLst>
                                      </p:cBhvr>
                                      <p:to>
                                        <p:strVal val="visible"/>
                                      </p:to>
                                    </p:set>
                                    <p:animEffect transition="in" filter="wipe(left)">
                                      <p:cBhvr>
                                        <p:cTn id="24" dur="1000"/>
                                        <p:tgtEl>
                                          <p:spTgt spid="7271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64" presetClass="path" presetSubtype="0" accel="50000" decel="50000" fill="hold" nodeType="withEffect">
                                  <p:stCondLst>
                                    <p:cond delay="0"/>
                                  </p:stCondLst>
                                  <p:childTnLst>
                                    <p:animMotion origin="layout" path="M -3.33333E-6 3.33796E-6 L -3.33333E-6 -0.03933 " pathEditMode="relative" rAng="0" ptsTypes="AA">
                                      <p:cBhvr>
                                        <p:cTn id="30" dur="2000" fill="hold"/>
                                        <p:tgtEl>
                                          <p:spTgt spid="18"/>
                                        </p:tgtEl>
                                        <p:attrNameLst>
                                          <p:attrName>ppt_x</p:attrName>
                                          <p:attrName>ppt_y</p:attrName>
                                        </p:attrNameLst>
                                      </p:cBhvr>
                                      <p:rCtr x="0" y="-20"/>
                                    </p:animMotion>
                                  </p:childTnLst>
                                </p:cTn>
                              </p:par>
                              <p:par>
                                <p:cTn id="31" presetID="1" presetClass="entr" presetSubtype="0" fill="hold" nodeType="withEffect">
                                  <p:stCondLst>
                                    <p:cond delay="0"/>
                                  </p:stCondLst>
                                  <p:childTnLst>
                                    <p:set>
                                      <p:cBhvr>
                                        <p:cTn id="32" dur="1" fill="hold">
                                          <p:stCondLst>
                                            <p:cond delay="0"/>
                                          </p:stCondLst>
                                        </p:cTn>
                                        <p:tgtEl>
                                          <p:spTgt spid="72717"/>
                                        </p:tgtEl>
                                        <p:attrNameLst>
                                          <p:attrName>style.visibility</p:attrName>
                                        </p:attrNameLst>
                                      </p:cBhvr>
                                      <p:to>
                                        <p:strVal val="visible"/>
                                      </p:to>
                                    </p:set>
                                  </p:childTnLst>
                                </p:cTn>
                              </p:par>
                              <p:par>
                                <p:cTn id="33" presetID="64" presetClass="path" presetSubtype="0" accel="50000" decel="50000" fill="hold" nodeType="withEffect">
                                  <p:stCondLst>
                                    <p:cond delay="0"/>
                                  </p:stCondLst>
                                  <p:childTnLst>
                                    <p:animMotion origin="layout" path="M -4.72222E-6 -7.51793E-7 L -0.00017 -0.05251 " pathEditMode="relative" rAng="0" ptsTypes="AA">
                                      <p:cBhvr>
                                        <p:cTn id="34" dur="2000" fill="hold"/>
                                        <p:tgtEl>
                                          <p:spTgt spid="72717"/>
                                        </p:tgtEl>
                                        <p:attrNameLst>
                                          <p:attrName>ppt_x</p:attrName>
                                          <p:attrName>ppt_y</p:attrName>
                                        </p:attrNameLst>
                                      </p:cBhvr>
                                      <p:rCtr x="0" y="-26"/>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55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solidFill>
                <a:prstClr val="black"/>
              </a:solidFill>
            </a:endParaRPr>
          </a:p>
        </p:txBody>
      </p:sp>
      <p:graphicFrame>
        <p:nvGraphicFramePr>
          <p:cNvPr id="65537" name="Object 1"/>
          <p:cNvGraphicFramePr>
            <a:graphicFrameLocks noChangeAspect="1"/>
          </p:cNvGraphicFramePr>
          <p:nvPr/>
        </p:nvGraphicFramePr>
        <p:xfrm>
          <a:off x="1719246" y="2309308"/>
          <a:ext cx="566737" cy="469900"/>
        </p:xfrm>
        <a:graphic>
          <a:graphicData uri="http://schemas.openxmlformats.org/presentationml/2006/ole">
            <mc:AlternateContent xmlns:mc="http://schemas.openxmlformats.org/markup-compatibility/2006">
              <mc:Choice xmlns:v="urn:schemas-microsoft-com:vml" Requires="v">
                <p:oleObj name="Equation" r:id="rId2" imgW="215640" imgH="177480" progId="Equation.3">
                  <p:embed/>
                </p:oleObj>
              </mc:Choice>
              <mc:Fallback>
                <p:oleObj name="Equation" r:id="rId2" imgW="215640" imgH="177480" progId="Equation.3">
                  <p:embed/>
                  <p:pic>
                    <p:nvPicPr>
                      <p:cNvPr id="65537"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46" y="2309308"/>
                        <a:ext cx="5667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39" name="Object 3"/>
          <p:cNvGraphicFramePr>
            <a:graphicFrameLocks noChangeAspect="1"/>
          </p:cNvGraphicFramePr>
          <p:nvPr/>
        </p:nvGraphicFramePr>
        <p:xfrm>
          <a:off x="1571604" y="3143248"/>
          <a:ext cx="733425" cy="469900"/>
        </p:xfrm>
        <a:graphic>
          <a:graphicData uri="http://schemas.openxmlformats.org/presentationml/2006/ole">
            <mc:AlternateContent xmlns:mc="http://schemas.openxmlformats.org/markup-compatibility/2006">
              <mc:Choice xmlns:v="urn:schemas-microsoft-com:vml" Requires="v">
                <p:oleObj name="Equation" r:id="rId4" imgW="279360" imgH="177480" progId="Equation.3">
                  <p:embed/>
                </p:oleObj>
              </mc:Choice>
              <mc:Fallback>
                <p:oleObj name="Equation" r:id="rId4" imgW="279360" imgH="177480" progId="Equation.3">
                  <p:embed/>
                  <p:pic>
                    <p:nvPicPr>
                      <p:cNvPr id="6553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04" y="3143248"/>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0" name="Object 4"/>
          <p:cNvGraphicFramePr>
            <a:graphicFrameLocks noChangeAspect="1"/>
          </p:cNvGraphicFramePr>
          <p:nvPr/>
        </p:nvGraphicFramePr>
        <p:xfrm>
          <a:off x="1616054" y="4910504"/>
          <a:ext cx="666750" cy="469900"/>
        </p:xfrm>
        <a:graphic>
          <a:graphicData uri="http://schemas.openxmlformats.org/presentationml/2006/ole">
            <mc:AlternateContent xmlns:mc="http://schemas.openxmlformats.org/markup-compatibility/2006">
              <mc:Choice xmlns:v="urn:schemas-microsoft-com:vml" Requires="v">
                <p:oleObj name="Equation" r:id="rId6" imgW="253800" imgH="177480" progId="Equation.3">
                  <p:embed/>
                </p:oleObj>
              </mc:Choice>
              <mc:Fallback>
                <p:oleObj name="Equation" r:id="rId6" imgW="253800" imgH="177480" progId="Equation.3">
                  <p:embed/>
                  <p:pic>
                    <p:nvPicPr>
                      <p:cNvPr id="6554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6054" y="4910504"/>
                        <a:ext cx="6667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1" name="מחבר ישר 70"/>
          <p:cNvCxnSpPr/>
          <p:nvPr/>
        </p:nvCxnSpPr>
        <p:spPr>
          <a:xfrm>
            <a:off x="2285984" y="3429000"/>
            <a:ext cx="5726134"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מחבר ישר 76"/>
          <p:cNvCxnSpPr/>
          <p:nvPr/>
        </p:nvCxnSpPr>
        <p:spPr>
          <a:xfrm flipV="1">
            <a:off x="2285984" y="3286124"/>
            <a:ext cx="4286280" cy="18573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5541" name="Object 5"/>
          <p:cNvGraphicFramePr>
            <a:graphicFrameLocks noChangeAspect="1"/>
          </p:cNvGraphicFramePr>
          <p:nvPr/>
        </p:nvGraphicFramePr>
        <p:xfrm>
          <a:off x="5444290" y="785794"/>
          <a:ext cx="3482975" cy="600075"/>
        </p:xfrm>
        <a:graphic>
          <a:graphicData uri="http://schemas.openxmlformats.org/presentationml/2006/ole">
            <mc:AlternateContent xmlns:mc="http://schemas.openxmlformats.org/markup-compatibility/2006">
              <mc:Choice xmlns:v="urn:schemas-microsoft-com:vml" Requires="v">
                <p:oleObj name="Equation" r:id="rId8" imgW="1041120" imgH="177480" progId="Equation.3">
                  <p:embed/>
                </p:oleObj>
              </mc:Choice>
              <mc:Fallback>
                <p:oleObj name="Equation" r:id="rId8" imgW="1041120" imgH="177480" progId="Equation.3">
                  <p:embed/>
                  <p:pic>
                    <p:nvPicPr>
                      <p:cNvPr id="6554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4290" y="785794"/>
                        <a:ext cx="3482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2" name="Object 6"/>
          <p:cNvGraphicFramePr>
            <a:graphicFrameLocks noChangeAspect="1"/>
          </p:cNvGraphicFramePr>
          <p:nvPr/>
        </p:nvGraphicFramePr>
        <p:xfrm>
          <a:off x="5429256" y="1357313"/>
          <a:ext cx="3736975" cy="600075"/>
        </p:xfrm>
        <a:graphic>
          <a:graphicData uri="http://schemas.openxmlformats.org/presentationml/2006/ole">
            <mc:AlternateContent xmlns:mc="http://schemas.openxmlformats.org/markup-compatibility/2006">
              <mc:Choice xmlns:v="urn:schemas-microsoft-com:vml" Requires="v">
                <p:oleObj name="Equation" r:id="rId10" imgW="1117440" imgH="177480" progId="Equation.3">
                  <p:embed/>
                </p:oleObj>
              </mc:Choice>
              <mc:Fallback>
                <p:oleObj name="Equation" r:id="rId10" imgW="1117440" imgH="177480" progId="Equation.3">
                  <p:embed/>
                  <p:pic>
                    <p:nvPicPr>
                      <p:cNvPr id="65542"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9256" y="1357313"/>
                        <a:ext cx="3736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9" name="מחבר ישר 78"/>
          <p:cNvCxnSpPr/>
          <p:nvPr/>
        </p:nvCxnSpPr>
        <p:spPr>
          <a:xfrm rot="10800000">
            <a:off x="2285984" y="4046714"/>
            <a:ext cx="2514616" cy="19044"/>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0" name="מחבר ישר 79"/>
          <p:cNvCxnSpPr/>
          <p:nvPr/>
        </p:nvCxnSpPr>
        <p:spPr>
          <a:xfrm rot="5400000" flipH="1" flipV="1">
            <a:off x="4086196" y="4785925"/>
            <a:ext cx="1429555" cy="159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65543" name="Object 7"/>
          <p:cNvGraphicFramePr>
            <a:graphicFrameLocks noChangeAspect="1"/>
          </p:cNvGraphicFramePr>
          <p:nvPr/>
        </p:nvGraphicFramePr>
        <p:xfrm>
          <a:off x="1486785" y="3824288"/>
          <a:ext cx="803275" cy="314325"/>
        </p:xfrm>
        <a:graphic>
          <a:graphicData uri="http://schemas.openxmlformats.org/presentationml/2006/ole">
            <mc:AlternateContent xmlns:mc="http://schemas.openxmlformats.org/markup-compatibility/2006">
              <mc:Choice xmlns:v="urn:schemas-microsoft-com:vml" Requires="v">
                <p:oleObj name="Equation" r:id="rId12" imgW="457200" imgH="177480" progId="Equation.3">
                  <p:embed/>
                </p:oleObj>
              </mc:Choice>
              <mc:Fallback>
                <p:oleObj name="Equation" r:id="rId12" imgW="457200" imgH="177480" progId="Equation.3">
                  <p:embed/>
                  <p:pic>
                    <p:nvPicPr>
                      <p:cNvPr id="65543"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6785" y="3824288"/>
                        <a:ext cx="8032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4" name="Object 8"/>
          <p:cNvGraphicFramePr>
            <a:graphicFrameLocks noChangeAspect="1"/>
          </p:cNvGraphicFramePr>
          <p:nvPr/>
        </p:nvGraphicFramePr>
        <p:xfrm>
          <a:off x="4429124" y="5549900"/>
          <a:ext cx="915988" cy="315913"/>
        </p:xfrm>
        <a:graphic>
          <a:graphicData uri="http://schemas.openxmlformats.org/presentationml/2006/ole">
            <mc:AlternateContent xmlns:mc="http://schemas.openxmlformats.org/markup-compatibility/2006">
              <mc:Choice xmlns:v="urn:schemas-microsoft-com:vml" Requires="v">
                <p:oleObj name="Equation" r:id="rId14" imgW="520560" imgH="177480" progId="Equation.3">
                  <p:embed/>
                </p:oleObj>
              </mc:Choice>
              <mc:Fallback>
                <p:oleObj name="Equation" r:id="rId14" imgW="520560" imgH="177480" progId="Equation.3">
                  <p:embed/>
                  <p:pic>
                    <p:nvPicPr>
                      <p:cNvPr id="65544"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29124" y="5549900"/>
                        <a:ext cx="9159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8" name="מחבר ישר 17"/>
          <p:cNvCxnSpPr/>
          <p:nvPr/>
        </p:nvCxnSpPr>
        <p:spPr>
          <a:xfrm>
            <a:off x="2210010" y="3107629"/>
            <a:ext cx="6500858" cy="2357454"/>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72715" name="Object 11"/>
          <p:cNvGraphicFramePr>
            <a:graphicFrameLocks noChangeAspect="1"/>
          </p:cNvGraphicFramePr>
          <p:nvPr>
            <p:extLst>
              <p:ext uri="{D42A27DB-BD31-4B8C-83A1-F6EECF244321}">
                <p14:modId xmlns:p14="http://schemas.microsoft.com/office/powerpoint/2010/main" val="2776589974"/>
              </p:ext>
            </p:extLst>
          </p:nvPr>
        </p:nvGraphicFramePr>
        <p:xfrm>
          <a:off x="5956803" y="3932239"/>
          <a:ext cx="2816881" cy="485315"/>
        </p:xfrm>
        <a:graphic>
          <a:graphicData uri="http://schemas.openxmlformats.org/presentationml/2006/ole">
            <mc:AlternateContent xmlns:mc="http://schemas.openxmlformats.org/markup-compatibility/2006">
              <mc:Choice xmlns:v="urn:schemas-microsoft-com:vml" Requires="v">
                <p:oleObj name="Equation" r:id="rId16" imgW="1041120" imgH="177480" progId="Equation.3">
                  <p:embed/>
                </p:oleObj>
              </mc:Choice>
              <mc:Fallback>
                <p:oleObj name="Equation" r:id="rId16" imgW="1041120" imgH="177480" progId="Equation.3">
                  <p:embed/>
                  <p:pic>
                    <p:nvPicPr>
                      <p:cNvPr id="72715"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56803" y="3932239"/>
                        <a:ext cx="2816881" cy="485315"/>
                      </a:xfrm>
                      <a:prstGeom prst="rect">
                        <a:avLst/>
                      </a:prstGeom>
                      <a:solidFill>
                        <a:srgbClr val="FF0000"/>
                      </a:solidFill>
                      <a:ln>
                        <a:noFill/>
                      </a:ln>
                    </p:spPr>
                  </p:pic>
                </p:oleObj>
              </mc:Fallback>
            </mc:AlternateContent>
          </a:graphicData>
        </a:graphic>
      </p:graphicFrame>
      <p:cxnSp>
        <p:nvCxnSpPr>
          <p:cNvPr id="70" name="מחבר ישר 69"/>
          <p:cNvCxnSpPr/>
          <p:nvPr/>
        </p:nvCxnSpPr>
        <p:spPr>
          <a:xfrm>
            <a:off x="2297078" y="5500702"/>
            <a:ext cx="663264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2717" name="Object 13"/>
          <p:cNvGraphicFramePr>
            <a:graphicFrameLocks noChangeAspect="1"/>
          </p:cNvGraphicFramePr>
          <p:nvPr>
            <p:extLst>
              <p:ext uri="{D42A27DB-BD31-4B8C-83A1-F6EECF244321}">
                <p14:modId xmlns:p14="http://schemas.microsoft.com/office/powerpoint/2010/main" val="678162332"/>
              </p:ext>
            </p:extLst>
          </p:nvPr>
        </p:nvGraphicFramePr>
        <p:xfrm>
          <a:off x="1616054" y="2863405"/>
          <a:ext cx="733425" cy="469900"/>
        </p:xfrm>
        <a:graphic>
          <a:graphicData uri="http://schemas.openxmlformats.org/presentationml/2006/ole">
            <mc:AlternateContent xmlns:mc="http://schemas.openxmlformats.org/markup-compatibility/2006">
              <mc:Choice xmlns:v="urn:schemas-microsoft-com:vml" Requires="v">
                <p:oleObj name="Equation" r:id="rId18" imgW="279360" imgH="177480" progId="Equation.3">
                  <p:embed/>
                </p:oleObj>
              </mc:Choice>
              <mc:Fallback>
                <p:oleObj name="Equation" r:id="rId18" imgW="279360" imgH="177480" progId="Equation.3">
                  <p:embed/>
                  <p:pic>
                    <p:nvPicPr>
                      <p:cNvPr id="72717"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16054" y="2863405"/>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68" name="מחבר ישר 67"/>
          <p:cNvCxnSpPr/>
          <p:nvPr/>
        </p:nvCxnSpPr>
        <p:spPr>
          <a:xfrm>
            <a:off x="2285983" y="2492896"/>
            <a:ext cx="10301" cy="300860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pic>
        <p:nvPicPr>
          <p:cNvPr id="72718" name="Picture 14"/>
          <p:cNvPicPr>
            <a:picLocks noChangeAspect="1" noChangeArrowheads="1"/>
          </p:cNvPicPr>
          <p:nvPr/>
        </p:nvPicPr>
        <p:blipFill>
          <a:blip r:embed="rId20" cstate="print"/>
          <a:srcRect l="44532" t="43125" r="43748" b="53125"/>
          <a:stretch>
            <a:fillRect/>
          </a:stretch>
        </p:blipFill>
        <p:spPr bwMode="auto">
          <a:xfrm>
            <a:off x="6940547" y="5530660"/>
            <a:ext cx="2143140" cy="428628"/>
          </a:xfrm>
          <a:prstGeom prst="rect">
            <a:avLst/>
          </a:prstGeom>
          <a:noFill/>
          <a:ln w="9525">
            <a:noFill/>
            <a:miter lim="800000"/>
            <a:headEnd/>
            <a:tailEnd/>
          </a:ln>
          <a:effectLst/>
        </p:spPr>
      </p:pic>
      <p:sp>
        <p:nvSpPr>
          <p:cNvPr id="2" name="מלבן 1"/>
          <p:cNvSpPr/>
          <p:nvPr/>
        </p:nvSpPr>
        <p:spPr>
          <a:xfrm>
            <a:off x="0" y="6862"/>
            <a:ext cx="6444208" cy="646331"/>
          </a:xfrm>
          <a:prstGeom prst="rect">
            <a:avLst/>
          </a:prstGeom>
          <a:solidFill>
            <a:schemeClr val="bg1"/>
          </a:solidFill>
        </p:spPr>
        <p:txBody>
          <a:bodyPr wrap="square">
            <a:spAutoFit/>
          </a:bodyPr>
          <a:lstStyle/>
          <a:p>
            <a:r>
              <a:rPr lang="he-IL" dirty="0">
                <a:solidFill>
                  <a:prstClr val="black"/>
                </a:solidFill>
              </a:rPr>
              <a:t>(2) כתוצאה משינוי בטעמי הצרכנים, הם מעוניינים לקנות עוד 100 טון אפרסקים בכל מחיר שעשוי להתקיים בשוק.</a:t>
            </a:r>
            <a:endParaRPr lang="en-US" dirty="0">
              <a:solidFill>
                <a:prstClr val="black"/>
              </a:solidFill>
            </a:endParaRPr>
          </a:p>
        </p:txBody>
      </p:sp>
      <mc:AlternateContent xmlns:mc="http://schemas.openxmlformats.org/markup-compatibility/2006" xmlns:a14="http://schemas.microsoft.com/office/drawing/2010/main">
        <mc:Choice Requires="a14">
          <p:sp>
            <p:nvSpPr>
              <p:cNvPr id="6" name="מלבן 5"/>
              <p:cNvSpPr/>
              <p:nvPr/>
            </p:nvSpPr>
            <p:spPr>
              <a:xfrm>
                <a:off x="481188" y="937966"/>
                <a:ext cx="4248472" cy="1296144"/>
              </a:xfrm>
              <a:prstGeom prst="rect">
                <a:avLst/>
              </a:prstGeom>
            </p:spPr>
            <p:style>
              <a:lnRef idx="2">
                <a:schemeClr val="accent1"/>
              </a:lnRef>
              <a:fillRef idx="1">
                <a:schemeClr val="lt1"/>
              </a:fillRef>
              <a:effectRef idx="0">
                <a:schemeClr val="accent1"/>
              </a:effectRef>
              <a:fontRef idx="minor">
                <a:schemeClr val="dk1"/>
              </a:fontRef>
            </p:style>
            <p:txBody>
              <a:bodyPr rtlCol="1" anchor="ctr"/>
              <a:lstStyle/>
              <a:p>
                <a:pPr algn="ctr">
                  <a:lnSpc>
                    <a:spcPct val="150000"/>
                  </a:lnSpc>
                </a:pPr>
                <a:br>
                  <a:rPr lang="en-US" dirty="0">
                    <a:solidFill>
                      <a:prstClr val="black"/>
                    </a:solidFill>
                  </a:rPr>
                </a:br>
                <a:r>
                  <a:rPr lang="he-IL" dirty="0">
                    <a:solidFill>
                      <a:prstClr val="black"/>
                    </a:solidFill>
                  </a:rPr>
                  <a:t>נבודד מעקומת הביקוש את </a:t>
                </a:r>
                <a:r>
                  <a:rPr lang="en-US" dirty="0">
                    <a:solidFill>
                      <a:prstClr val="black"/>
                    </a:solidFill>
                  </a:rPr>
                  <a:t>X</a:t>
                </a:r>
                <a:r>
                  <a:rPr lang="he-IL" dirty="0">
                    <a:solidFill>
                      <a:prstClr val="black"/>
                    </a:solidFill>
                  </a:rPr>
                  <a:t> ונוסיף 100 </a:t>
                </a:r>
                <a:r>
                  <a:rPr lang="he-IL" dirty="0" err="1">
                    <a:solidFill>
                      <a:prstClr val="black"/>
                    </a:solidFill>
                  </a:rPr>
                  <a:t>יח</a:t>
                </a:r>
                <a:r>
                  <a:rPr lang="he-IL" dirty="0">
                    <a:solidFill>
                      <a:prstClr val="black"/>
                    </a:solidFill>
                  </a:rPr>
                  <a:t>':</a:t>
                </a:r>
              </a:p>
              <a:p>
                <a:pPr algn="ctr">
                  <a:lnSpc>
                    <a:spcPct val="150000"/>
                  </a:lnSpc>
                </a:pPr>
                <a14:m>
                  <m:oMathPara xmlns:m="http://schemas.openxmlformats.org/officeDocument/2006/math">
                    <m:oMathParaPr>
                      <m:jc m:val="centerGroup"/>
                    </m:oMathParaPr>
                    <m:oMath xmlns:m="http://schemas.openxmlformats.org/officeDocument/2006/math">
                      <m:r>
                        <a:rPr lang="he-IL" i="1">
                          <a:solidFill>
                            <a:prstClr val="black"/>
                          </a:solidFill>
                          <a:latin typeface="Cambria Math"/>
                        </a:rPr>
                        <m:t>𝑋</m:t>
                      </m:r>
                      <m:r>
                        <a:rPr lang="he-IL">
                          <a:solidFill>
                            <a:prstClr val="black"/>
                          </a:solidFill>
                          <a:latin typeface="Cambria Math"/>
                        </a:rPr>
                        <m:t>=</m:t>
                      </m:r>
                      <m:f>
                        <m:fPr>
                          <m:ctrlPr>
                            <a:rPr lang="he-IL" i="1">
                              <a:solidFill>
                                <a:prstClr val="black"/>
                              </a:solidFill>
                              <a:latin typeface="Cambria Math" panose="02040503050406030204" pitchFamily="18" charset="0"/>
                            </a:rPr>
                          </m:ctrlPr>
                        </m:fPr>
                        <m:num>
                          <m:r>
                            <a:rPr lang="he-IL">
                              <a:solidFill>
                                <a:prstClr val="black"/>
                              </a:solidFill>
                              <a:latin typeface="Cambria Math"/>
                            </a:rPr>
                            <m:t>700</m:t>
                          </m:r>
                          <m:r>
                            <a:rPr lang="he-IL">
                              <a:solidFill>
                                <a:prstClr val="black"/>
                              </a:solidFill>
                              <a:latin typeface="Cambria Math"/>
                            </a:rPr>
                            <m:t>−</m:t>
                          </m:r>
                          <m:sSub>
                            <m:sSubPr>
                              <m:ctrlPr>
                                <a:rPr lang="he-IL" i="1">
                                  <a:solidFill>
                                    <a:prstClr val="black"/>
                                  </a:solidFill>
                                  <a:latin typeface="Cambria Math" panose="02040503050406030204" pitchFamily="18" charset="0"/>
                                </a:rPr>
                              </m:ctrlPr>
                            </m:sSubPr>
                            <m:e>
                              <m:r>
                                <a:rPr lang="he-IL" i="1">
                                  <a:solidFill>
                                    <a:prstClr val="black"/>
                                  </a:solidFill>
                                  <a:latin typeface="Cambria Math"/>
                                </a:rPr>
                                <m:t>𝑃</m:t>
                              </m:r>
                            </m:e>
                            <m:sub>
                              <m:r>
                                <a:rPr lang="he-IL" i="1">
                                  <a:solidFill>
                                    <a:prstClr val="black"/>
                                  </a:solidFill>
                                  <a:latin typeface="Cambria Math"/>
                                </a:rPr>
                                <m:t>𝑥</m:t>
                              </m:r>
                            </m:sub>
                          </m:sSub>
                        </m:num>
                        <m:den>
                          <m:r>
                            <a:rPr lang="he-IL">
                              <a:solidFill>
                                <a:prstClr val="black"/>
                              </a:solidFill>
                              <a:latin typeface="Cambria Math"/>
                            </a:rPr>
                            <m:t>0</m:t>
                          </m:r>
                          <m:r>
                            <a:rPr lang="he-IL">
                              <a:solidFill>
                                <a:prstClr val="black"/>
                              </a:solidFill>
                              <a:latin typeface="Cambria Math"/>
                            </a:rPr>
                            <m:t>.</m:t>
                          </m:r>
                          <m:r>
                            <a:rPr lang="he-IL">
                              <a:solidFill>
                                <a:prstClr val="black"/>
                              </a:solidFill>
                              <a:latin typeface="Cambria Math"/>
                            </a:rPr>
                            <m:t>3</m:t>
                          </m:r>
                        </m:den>
                      </m:f>
                      <m:r>
                        <a:rPr lang="he-IL">
                          <a:solidFill>
                            <a:prstClr val="black"/>
                          </a:solidFill>
                          <a:latin typeface="Cambria Math"/>
                        </a:rPr>
                        <m:t>+</m:t>
                      </m:r>
                      <m:r>
                        <a:rPr lang="he-IL" b="1" i="1">
                          <a:solidFill>
                            <a:prstClr val="black"/>
                          </a:solidFill>
                          <a:latin typeface="Cambria Math"/>
                        </a:rPr>
                        <m:t>𝟏𝟎𝟎</m:t>
                      </m:r>
                      <m:r>
                        <a:rPr lang="he-IL">
                          <a:solidFill>
                            <a:prstClr val="black"/>
                          </a:solidFill>
                          <a:latin typeface="Cambria Math"/>
                        </a:rPr>
                        <m:t>=</m:t>
                      </m:r>
                      <m:r>
                        <a:rPr lang="he-IL">
                          <a:solidFill>
                            <a:prstClr val="black"/>
                          </a:solidFill>
                          <a:latin typeface="Cambria Math"/>
                        </a:rPr>
                        <m:t>2433</m:t>
                      </m:r>
                      <m:f>
                        <m:fPr>
                          <m:ctrlPr>
                            <a:rPr lang="he-IL" i="1">
                              <a:solidFill>
                                <a:prstClr val="black"/>
                              </a:solidFill>
                              <a:latin typeface="Cambria Math" panose="02040503050406030204" pitchFamily="18" charset="0"/>
                            </a:rPr>
                          </m:ctrlPr>
                        </m:fPr>
                        <m:num>
                          <m:r>
                            <a:rPr lang="he-IL">
                              <a:solidFill>
                                <a:prstClr val="black"/>
                              </a:solidFill>
                              <a:latin typeface="Cambria Math"/>
                            </a:rPr>
                            <m:t>1</m:t>
                          </m:r>
                        </m:num>
                        <m:den>
                          <m:r>
                            <a:rPr lang="he-IL">
                              <a:solidFill>
                                <a:prstClr val="black"/>
                              </a:solidFill>
                              <a:latin typeface="Cambria Math"/>
                            </a:rPr>
                            <m:t>3</m:t>
                          </m:r>
                        </m:den>
                      </m:f>
                      <m:r>
                        <a:rPr lang="he-IL">
                          <a:solidFill>
                            <a:prstClr val="black"/>
                          </a:solidFill>
                          <a:latin typeface="Cambria Math"/>
                        </a:rPr>
                        <m:t>−</m:t>
                      </m:r>
                      <m:r>
                        <a:rPr lang="he-IL">
                          <a:solidFill>
                            <a:prstClr val="black"/>
                          </a:solidFill>
                          <a:latin typeface="Cambria Math"/>
                        </a:rPr>
                        <m:t>3</m:t>
                      </m:r>
                      <m:f>
                        <m:fPr>
                          <m:ctrlPr>
                            <a:rPr lang="he-IL" i="1">
                              <a:solidFill>
                                <a:prstClr val="black"/>
                              </a:solidFill>
                              <a:latin typeface="Cambria Math" panose="02040503050406030204" pitchFamily="18" charset="0"/>
                            </a:rPr>
                          </m:ctrlPr>
                        </m:fPr>
                        <m:num>
                          <m:r>
                            <a:rPr lang="he-IL">
                              <a:solidFill>
                                <a:prstClr val="black"/>
                              </a:solidFill>
                              <a:latin typeface="Cambria Math"/>
                            </a:rPr>
                            <m:t>1</m:t>
                          </m:r>
                        </m:num>
                        <m:den>
                          <m:r>
                            <a:rPr lang="he-IL">
                              <a:solidFill>
                                <a:prstClr val="black"/>
                              </a:solidFill>
                              <a:latin typeface="Cambria Math"/>
                            </a:rPr>
                            <m:t>3</m:t>
                          </m:r>
                        </m:den>
                      </m:f>
                      <m:r>
                        <a:rPr lang="he-IL">
                          <a:solidFill>
                            <a:prstClr val="black"/>
                          </a:solidFill>
                          <a:latin typeface="Cambria Math"/>
                        </a:rPr>
                        <m:t>⋅</m:t>
                      </m:r>
                      <m:sSub>
                        <m:sSubPr>
                          <m:ctrlPr>
                            <a:rPr lang="he-IL" i="1">
                              <a:solidFill>
                                <a:prstClr val="black"/>
                              </a:solidFill>
                              <a:latin typeface="Cambria Math" panose="02040503050406030204" pitchFamily="18" charset="0"/>
                            </a:rPr>
                          </m:ctrlPr>
                        </m:sSubPr>
                        <m:e>
                          <m:r>
                            <a:rPr lang="he-IL" i="1">
                              <a:solidFill>
                                <a:prstClr val="black"/>
                              </a:solidFill>
                              <a:latin typeface="Cambria Math"/>
                            </a:rPr>
                            <m:t>𝑃</m:t>
                          </m:r>
                        </m:e>
                        <m:sub>
                          <m:r>
                            <a:rPr lang="he-IL" i="1">
                              <a:solidFill>
                                <a:prstClr val="black"/>
                              </a:solidFill>
                              <a:latin typeface="Cambria Math"/>
                            </a:rPr>
                            <m:t>𝑥</m:t>
                          </m:r>
                        </m:sub>
                      </m:sSub>
                    </m:oMath>
                  </m:oMathPara>
                </a14:m>
                <a:endParaRPr lang="he-IL" dirty="0">
                  <a:solidFill>
                    <a:prstClr val="black"/>
                  </a:solidFill>
                </a:endParaRPr>
              </a:p>
              <a:p>
                <a:pPr algn="ctr"/>
                <a:endParaRPr lang="he-IL" dirty="0">
                  <a:solidFill>
                    <a:prstClr val="black"/>
                  </a:solidFill>
                </a:endParaRPr>
              </a:p>
            </p:txBody>
          </p:sp>
        </mc:Choice>
        <mc:Fallback xmlns="">
          <p:sp>
            <p:nvSpPr>
              <p:cNvPr id="6" name="מלבן 5"/>
              <p:cNvSpPr>
                <a:spLocks noRot="1" noChangeAspect="1" noMove="1" noResize="1" noEditPoints="1" noAdjustHandles="1" noChangeArrowheads="1" noChangeShapeType="1" noTextEdit="1"/>
              </p:cNvSpPr>
              <p:nvPr/>
            </p:nvSpPr>
            <p:spPr>
              <a:xfrm>
                <a:off x="481188" y="937966"/>
                <a:ext cx="4248472" cy="1296144"/>
              </a:xfrm>
              <a:prstGeom prst="rect">
                <a:avLst/>
              </a:prstGeom>
              <a:blipFill rotWithShape="1">
                <a:blip r:embed="rId24"/>
                <a:stretch>
                  <a:fillRect/>
                </a:stretch>
              </a:blipFill>
            </p:spPr>
            <p:txBody>
              <a:bodyPr/>
              <a:lstStyle/>
              <a:p>
                <a:r>
                  <a:rPr lang="he-IL">
                    <a:noFill/>
                  </a:rPr>
                  <a:t> </a:t>
                </a:r>
              </a:p>
            </p:txBody>
          </p:sp>
        </mc:Fallback>
      </mc:AlternateContent>
      <p:sp>
        <p:nvSpPr>
          <p:cNvPr id="9" name="חץ למטה 8"/>
          <p:cNvSpPr/>
          <p:nvPr/>
        </p:nvSpPr>
        <p:spPr>
          <a:xfrm>
            <a:off x="2934072" y="653193"/>
            <a:ext cx="144016" cy="255527"/>
          </a:xfrm>
          <a:prstGeom prst="downArrow">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solidFill>
                <a:prstClr val="black"/>
              </a:solidFill>
            </a:endParaRPr>
          </a:p>
        </p:txBody>
      </p:sp>
      <p:sp>
        <p:nvSpPr>
          <p:cNvPr id="10" name="חץ ימינה 9"/>
          <p:cNvSpPr/>
          <p:nvPr/>
        </p:nvSpPr>
        <p:spPr>
          <a:xfrm flipV="1">
            <a:off x="4949673" y="1052736"/>
            <a:ext cx="289019" cy="144016"/>
          </a:xfrm>
          <a:prstGeom prst="rightArrow">
            <a:avLst/>
          </a:prstGeom>
        </p:spPr>
        <p:style>
          <a:lnRef idx="2">
            <a:schemeClr val="accent1"/>
          </a:lnRef>
          <a:fillRef idx="1">
            <a:schemeClr val="lt1"/>
          </a:fillRef>
          <a:effectRef idx="0">
            <a:schemeClr val="accent1"/>
          </a:effectRef>
          <a:fontRef idx="minor">
            <a:schemeClr val="dk1"/>
          </a:fontRef>
        </p:style>
        <p:txBody>
          <a:bodyPr rtlCol="1" anchor="ctr"/>
          <a:lstStyle/>
          <a:p>
            <a:pPr algn="ctr"/>
            <a:endParaRPr lang="he-IL">
              <a:solidFill>
                <a:prstClr val="black"/>
              </a:solidFill>
            </a:endParaRPr>
          </a:p>
        </p:txBody>
      </p:sp>
      <p:sp>
        <p:nvSpPr>
          <p:cNvPr id="26" name="כותרת 1"/>
          <p:cNvSpPr txBox="1">
            <a:spLocks/>
          </p:cNvSpPr>
          <p:nvPr/>
        </p:nvSpPr>
        <p:spPr>
          <a:xfrm>
            <a:off x="6572264" y="1"/>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 ג'</a:t>
            </a:r>
            <a:endParaRPr lang="he-IL" sz="2400" b="1" dirty="0">
              <a:solidFill>
                <a:prstClr val="black"/>
              </a:solidFill>
              <a:cs typeface="Arial" panose="020B0604020202020204" pitchFamily="34" charset="0"/>
            </a:endParaRPr>
          </a:p>
        </p:txBody>
      </p:sp>
      <p:sp>
        <p:nvSpPr>
          <p:cNvPr id="27" name="TextBox 26">
            <a:extLst>
              <a:ext uri="{FF2B5EF4-FFF2-40B4-BE49-F238E27FC236}">
                <a16:creationId xmlns:a16="http://schemas.microsoft.com/office/drawing/2014/main" id="{112FBBB2-FB86-4F9E-A162-D37D0DFC5F9A}"/>
              </a:ext>
            </a:extLst>
          </p:cNvPr>
          <p:cNvSpPr txBox="1"/>
          <p:nvPr/>
        </p:nvSpPr>
        <p:spPr>
          <a:xfrm>
            <a:off x="7322538" y="5516129"/>
            <a:ext cx="880369" cy="307777"/>
          </a:xfrm>
          <a:prstGeom prst="rect">
            <a:avLst/>
          </a:prstGeom>
          <a:noFill/>
        </p:spPr>
        <p:txBody>
          <a:bodyPr wrap="none" rtlCol="1">
            <a:spAutoFit/>
          </a:bodyPr>
          <a:lstStyle/>
          <a:p>
            <a:r>
              <a:rPr lang="he-IL" sz="1400" dirty="0">
                <a:solidFill>
                  <a:prstClr val="black"/>
                </a:solidFill>
              </a:rPr>
              <a:t>2,333.33</a:t>
            </a:r>
          </a:p>
        </p:txBody>
      </p:sp>
      <p:cxnSp>
        <p:nvCxnSpPr>
          <p:cNvPr id="4" name="Straight Arrow Connector 3">
            <a:extLst>
              <a:ext uri="{FF2B5EF4-FFF2-40B4-BE49-F238E27FC236}">
                <a16:creationId xmlns:a16="http://schemas.microsoft.com/office/drawing/2014/main" id="{2099B33C-8AE9-426D-A520-DDC7A1E2C903}"/>
              </a:ext>
            </a:extLst>
          </p:cNvPr>
          <p:cNvCxnSpPr>
            <a:cxnSpLocks/>
          </p:cNvCxnSpPr>
          <p:nvPr/>
        </p:nvCxnSpPr>
        <p:spPr>
          <a:xfrm>
            <a:off x="2904370" y="3610868"/>
            <a:ext cx="443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7909D56-19EA-46BF-BBC5-E720A36F3EF3}"/>
              </a:ext>
            </a:extLst>
          </p:cNvPr>
          <p:cNvCxnSpPr>
            <a:cxnSpLocks/>
          </p:cNvCxnSpPr>
          <p:nvPr/>
        </p:nvCxnSpPr>
        <p:spPr>
          <a:xfrm>
            <a:off x="3491880" y="3824288"/>
            <a:ext cx="443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1388A05-0647-420D-A10A-C56458D37B7E}"/>
              </a:ext>
            </a:extLst>
          </p:cNvPr>
          <p:cNvCxnSpPr>
            <a:cxnSpLocks/>
          </p:cNvCxnSpPr>
          <p:nvPr/>
        </p:nvCxnSpPr>
        <p:spPr>
          <a:xfrm>
            <a:off x="4516763" y="4223396"/>
            <a:ext cx="6458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0FC6EC3-F682-4867-A4E9-F5F187ACE52A}"/>
              </a:ext>
            </a:extLst>
          </p:cNvPr>
          <p:cNvCxnSpPr>
            <a:cxnSpLocks/>
          </p:cNvCxnSpPr>
          <p:nvPr/>
        </p:nvCxnSpPr>
        <p:spPr>
          <a:xfrm>
            <a:off x="8052562" y="5589613"/>
            <a:ext cx="443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59AD14D-BBA2-44F1-85F0-1366C2A3C820}"/>
              </a:ext>
            </a:extLst>
          </p:cNvPr>
          <p:cNvSpPr txBox="1"/>
          <p:nvPr/>
        </p:nvSpPr>
        <p:spPr>
          <a:xfrm>
            <a:off x="8361024" y="5500687"/>
            <a:ext cx="777778" cy="307777"/>
          </a:xfrm>
          <a:prstGeom prst="rect">
            <a:avLst/>
          </a:prstGeom>
          <a:noFill/>
        </p:spPr>
        <p:txBody>
          <a:bodyPr wrap="none" rtlCol="1">
            <a:spAutoFit/>
          </a:bodyPr>
          <a:lstStyle/>
          <a:p>
            <a:r>
              <a:rPr lang="en-US" sz="1400" dirty="0">
                <a:solidFill>
                  <a:prstClr val="black"/>
                </a:solidFill>
              </a:rPr>
              <a:t>2</a:t>
            </a:r>
            <a:r>
              <a:rPr lang="en-US" sz="1400" b="1" dirty="0">
                <a:solidFill>
                  <a:prstClr val="black"/>
                </a:solidFill>
              </a:rPr>
              <a:t>4</a:t>
            </a:r>
            <a:r>
              <a:rPr lang="en-US" sz="1400" dirty="0">
                <a:solidFill>
                  <a:prstClr val="black"/>
                </a:solidFill>
              </a:rPr>
              <a:t>33.33</a:t>
            </a:r>
            <a:endParaRPr lang="he-IL" sz="1400" dirty="0">
              <a:solidFill>
                <a:prstClr val="black"/>
              </a:solidFill>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966AF5D-39DD-46AA-8C22-9A8E6131D5BF}"/>
                  </a:ext>
                </a:extLst>
              </p:cNvPr>
              <p:cNvSpPr/>
              <p:nvPr/>
            </p:nvSpPr>
            <p:spPr>
              <a:xfrm>
                <a:off x="6692616" y="5162503"/>
                <a:ext cx="619656" cy="369332"/>
              </a:xfrm>
              <a:prstGeom prst="rect">
                <a:avLst/>
              </a:prstGeom>
            </p:spPr>
            <p:txBody>
              <a:bodyPr wrap="square">
                <a:spAutoFit/>
              </a:bodyPr>
              <a:lstStyle/>
              <a:p>
                <a:r>
                  <a:rPr lang="en-US" dirty="0">
                    <a:solidFill>
                      <a:prstClr val="black"/>
                    </a:solidFill>
                  </a:rPr>
                  <a:t>-</a:t>
                </a:r>
                <a14:m>
                  <m:oMath xmlns:m="http://schemas.openxmlformats.org/officeDocument/2006/math">
                    <m:r>
                      <a:rPr lang="he-IL">
                        <a:solidFill>
                          <a:prstClr val="black"/>
                        </a:solidFill>
                        <a:latin typeface="Cambria Math"/>
                      </a:rPr>
                      <m:t>0</m:t>
                    </m:r>
                    <m:r>
                      <a:rPr lang="he-IL">
                        <a:solidFill>
                          <a:prstClr val="black"/>
                        </a:solidFill>
                        <a:latin typeface="Cambria Math"/>
                      </a:rPr>
                      <m:t>.</m:t>
                    </m:r>
                    <m:r>
                      <a:rPr lang="he-IL">
                        <a:solidFill>
                          <a:prstClr val="black"/>
                        </a:solidFill>
                        <a:latin typeface="Cambria Math"/>
                      </a:rPr>
                      <m:t>3</m:t>
                    </m:r>
                  </m:oMath>
                </a14:m>
                <a:endParaRPr lang="en-IL" dirty="0"/>
              </a:p>
            </p:txBody>
          </p:sp>
        </mc:Choice>
        <mc:Fallback xmlns="">
          <p:sp>
            <p:nvSpPr>
              <p:cNvPr id="7" name="Rectangle 6">
                <a:extLst>
                  <a:ext uri="{FF2B5EF4-FFF2-40B4-BE49-F238E27FC236}">
                    <a16:creationId xmlns:a16="http://schemas.microsoft.com/office/drawing/2014/main" id="{F966AF5D-39DD-46AA-8C22-9A8E6131D5BF}"/>
                  </a:ext>
                </a:extLst>
              </p:cNvPr>
              <p:cNvSpPr>
                <a:spLocks noRot="1" noChangeAspect="1" noMove="1" noResize="1" noEditPoints="1" noAdjustHandles="1" noChangeArrowheads="1" noChangeShapeType="1" noTextEdit="1"/>
              </p:cNvSpPr>
              <p:nvPr/>
            </p:nvSpPr>
            <p:spPr>
              <a:xfrm>
                <a:off x="6692616" y="5162503"/>
                <a:ext cx="619656" cy="369332"/>
              </a:xfrm>
              <a:prstGeom prst="rect">
                <a:avLst/>
              </a:prstGeom>
              <a:blipFill>
                <a:blip r:embed="rId25"/>
                <a:stretch>
                  <a:fillRect t="-10000" b="-26667"/>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94B913E-1506-49C3-80C3-36F6481F26CB}"/>
                  </a:ext>
                </a:extLst>
              </p:cNvPr>
              <p:cNvSpPr/>
              <p:nvPr/>
            </p:nvSpPr>
            <p:spPr>
              <a:xfrm>
                <a:off x="7762723" y="5195738"/>
                <a:ext cx="619656" cy="369332"/>
              </a:xfrm>
              <a:prstGeom prst="rect">
                <a:avLst/>
              </a:prstGeom>
            </p:spPr>
            <p:txBody>
              <a:bodyPr wrap="square">
                <a:spAutoFit/>
              </a:bodyPr>
              <a:lstStyle/>
              <a:p>
                <a:r>
                  <a:rPr lang="en-US" dirty="0">
                    <a:solidFill>
                      <a:prstClr val="black"/>
                    </a:solidFill>
                  </a:rPr>
                  <a:t>-</a:t>
                </a:r>
                <a14:m>
                  <m:oMath xmlns:m="http://schemas.openxmlformats.org/officeDocument/2006/math">
                    <m:r>
                      <a:rPr lang="he-IL">
                        <a:solidFill>
                          <a:prstClr val="black"/>
                        </a:solidFill>
                        <a:latin typeface="Cambria Math"/>
                      </a:rPr>
                      <m:t>0</m:t>
                    </m:r>
                    <m:r>
                      <a:rPr lang="he-IL">
                        <a:solidFill>
                          <a:prstClr val="black"/>
                        </a:solidFill>
                        <a:latin typeface="Cambria Math"/>
                      </a:rPr>
                      <m:t>.</m:t>
                    </m:r>
                    <m:r>
                      <a:rPr lang="he-IL">
                        <a:solidFill>
                          <a:prstClr val="black"/>
                        </a:solidFill>
                        <a:latin typeface="Cambria Math"/>
                      </a:rPr>
                      <m:t>3</m:t>
                    </m:r>
                  </m:oMath>
                </a14:m>
                <a:endParaRPr lang="en-IL" dirty="0"/>
              </a:p>
            </p:txBody>
          </p:sp>
        </mc:Choice>
        <mc:Fallback xmlns="">
          <p:sp>
            <p:nvSpPr>
              <p:cNvPr id="35" name="Rectangle 34">
                <a:extLst>
                  <a:ext uri="{FF2B5EF4-FFF2-40B4-BE49-F238E27FC236}">
                    <a16:creationId xmlns:a16="http://schemas.microsoft.com/office/drawing/2014/main" id="{F94B913E-1506-49C3-80C3-36F6481F26CB}"/>
                  </a:ext>
                </a:extLst>
              </p:cNvPr>
              <p:cNvSpPr>
                <a:spLocks noRot="1" noChangeAspect="1" noMove="1" noResize="1" noEditPoints="1" noAdjustHandles="1" noChangeArrowheads="1" noChangeShapeType="1" noTextEdit="1"/>
              </p:cNvSpPr>
              <p:nvPr/>
            </p:nvSpPr>
            <p:spPr>
              <a:xfrm>
                <a:off x="7762723" y="5195738"/>
                <a:ext cx="619656" cy="369332"/>
              </a:xfrm>
              <a:prstGeom prst="rect">
                <a:avLst/>
              </a:prstGeom>
              <a:blipFill>
                <a:blip r:embed="rId26"/>
                <a:stretch>
                  <a:fillRect t="-8197" r="-980" b="-24590"/>
                </a:stretch>
              </a:blipFill>
            </p:spPr>
            <p:txBody>
              <a:bodyPr/>
              <a:lstStyle/>
              <a:p>
                <a:r>
                  <a:rPr lang="en-IL">
                    <a:noFill/>
                  </a:rPr>
                  <a:t> </a:t>
                </a:r>
              </a:p>
            </p:txBody>
          </p:sp>
        </mc:Fallback>
      </mc:AlternateContent>
      <p:cxnSp>
        <p:nvCxnSpPr>
          <p:cNvPr id="36" name="Straight Arrow Connector 35">
            <a:extLst>
              <a:ext uri="{FF2B5EF4-FFF2-40B4-BE49-F238E27FC236}">
                <a16:creationId xmlns:a16="http://schemas.microsoft.com/office/drawing/2014/main" id="{7EB019CB-AF5C-4411-95A4-B2EBEF23F7B4}"/>
              </a:ext>
            </a:extLst>
          </p:cNvPr>
          <p:cNvCxnSpPr>
            <a:cxnSpLocks/>
          </p:cNvCxnSpPr>
          <p:nvPr/>
        </p:nvCxnSpPr>
        <p:spPr>
          <a:xfrm>
            <a:off x="6000714" y="4725144"/>
            <a:ext cx="4434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6250FF6-09A7-4BC9-81B4-E0E43B1CF811}"/>
              </a:ext>
            </a:extLst>
          </p:cNvPr>
          <p:cNvSpPr txBox="1"/>
          <p:nvPr/>
        </p:nvSpPr>
        <p:spPr>
          <a:xfrm>
            <a:off x="4729660" y="3685460"/>
            <a:ext cx="220013" cy="369332"/>
          </a:xfrm>
          <a:prstGeom prst="rect">
            <a:avLst/>
          </a:prstGeom>
          <a:noFill/>
        </p:spPr>
        <p:txBody>
          <a:bodyPr wrap="square" rtlCol="0">
            <a:spAutoFit/>
          </a:bodyPr>
          <a:lstStyle/>
          <a:p>
            <a:r>
              <a:rPr lang="en-US" dirty="0"/>
              <a:t>B</a:t>
            </a:r>
            <a:endParaRPr lang="en-IL" dirty="0"/>
          </a:p>
        </p:txBody>
      </p:sp>
      <p:sp>
        <p:nvSpPr>
          <p:cNvPr id="38" name="TextBox 37">
            <a:extLst>
              <a:ext uri="{FF2B5EF4-FFF2-40B4-BE49-F238E27FC236}">
                <a16:creationId xmlns:a16="http://schemas.microsoft.com/office/drawing/2014/main" id="{2E747346-8EB5-4F5D-8E51-8C69F6887BE6}"/>
              </a:ext>
            </a:extLst>
          </p:cNvPr>
          <p:cNvSpPr txBox="1"/>
          <p:nvPr/>
        </p:nvSpPr>
        <p:spPr>
          <a:xfrm>
            <a:off x="4341265" y="4189893"/>
            <a:ext cx="220013" cy="369332"/>
          </a:xfrm>
          <a:prstGeom prst="rect">
            <a:avLst/>
          </a:prstGeom>
          <a:noFill/>
        </p:spPr>
        <p:txBody>
          <a:bodyPr wrap="square" rtlCol="0">
            <a:spAutoFit/>
          </a:bodyPr>
          <a:lstStyle/>
          <a:p>
            <a:r>
              <a:rPr lang="en-US" dirty="0"/>
              <a:t>A</a:t>
            </a:r>
            <a:endParaRPr lang="en-IL" dirty="0"/>
          </a:p>
        </p:txBody>
      </p:sp>
      <p:sp>
        <p:nvSpPr>
          <p:cNvPr id="40" name="TextBox 39">
            <a:extLst>
              <a:ext uri="{FF2B5EF4-FFF2-40B4-BE49-F238E27FC236}">
                <a16:creationId xmlns:a16="http://schemas.microsoft.com/office/drawing/2014/main" id="{34A0B3BF-B4E5-472A-942A-AE8AA86C5692}"/>
              </a:ext>
            </a:extLst>
          </p:cNvPr>
          <p:cNvSpPr txBox="1"/>
          <p:nvPr/>
        </p:nvSpPr>
        <p:spPr>
          <a:xfrm>
            <a:off x="5031947" y="4138613"/>
            <a:ext cx="389366" cy="369332"/>
          </a:xfrm>
          <a:prstGeom prst="rect">
            <a:avLst/>
          </a:prstGeom>
          <a:noFill/>
        </p:spPr>
        <p:txBody>
          <a:bodyPr wrap="square" rtlCol="0">
            <a:spAutoFit/>
          </a:bodyPr>
          <a:lstStyle/>
          <a:p>
            <a:r>
              <a:rPr lang="en-US" dirty="0"/>
              <a:t>A’</a:t>
            </a:r>
            <a:endParaRPr lang="en-IL" dirty="0"/>
          </a:p>
        </p:txBody>
      </p:sp>
    </p:spTree>
    <p:extLst>
      <p:ext uri="{BB962C8B-B14F-4D97-AF65-F5344CB8AC3E}">
        <p14:creationId xmlns:p14="http://schemas.microsoft.com/office/powerpoint/2010/main" val="94804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xit" presetSubtype="2" fill="hold" nodeType="clickEffect">
                                  <p:stCondLst>
                                    <p:cond delay="0"/>
                                  </p:stCondLst>
                                  <p:childTnLst>
                                    <p:anim calcmode="lin" valueType="num">
                                      <p:cBhvr additive="base">
                                        <p:cTn id="19" dur="500"/>
                                        <p:tgtEl>
                                          <p:spTgt spid="65541"/>
                                        </p:tgtEl>
                                        <p:attrNameLst>
                                          <p:attrName>ppt_x</p:attrName>
                                        </p:attrNameLst>
                                      </p:cBhvr>
                                      <p:tavLst>
                                        <p:tav tm="0">
                                          <p:val>
                                            <p:strVal val="ppt_x"/>
                                          </p:val>
                                        </p:tav>
                                        <p:tav tm="100000">
                                          <p:val>
                                            <p:strVal val="1+ppt_w/2"/>
                                          </p:val>
                                        </p:tav>
                                      </p:tavLst>
                                    </p:anim>
                                    <p:anim calcmode="lin" valueType="num">
                                      <p:cBhvr additive="base">
                                        <p:cTn id="20" dur="500"/>
                                        <p:tgtEl>
                                          <p:spTgt spid="65541"/>
                                        </p:tgtEl>
                                        <p:attrNameLst>
                                          <p:attrName>ppt_y</p:attrName>
                                        </p:attrNameLst>
                                      </p:cBhvr>
                                      <p:tavLst>
                                        <p:tav tm="0">
                                          <p:val>
                                            <p:strVal val="ppt_y"/>
                                          </p:val>
                                        </p:tav>
                                        <p:tav tm="100000">
                                          <p:val>
                                            <p:strVal val="ppt_y"/>
                                          </p:val>
                                        </p:tav>
                                      </p:tavLst>
                                    </p:anim>
                                    <p:set>
                                      <p:cBhvr>
                                        <p:cTn id="21" dur="1" fill="hold">
                                          <p:stCondLst>
                                            <p:cond delay="499"/>
                                          </p:stCondLst>
                                        </p:cTn>
                                        <p:tgtEl>
                                          <p:spTgt spid="65541"/>
                                        </p:tgtEl>
                                        <p:attrNameLst>
                                          <p:attrName>style.visibility</p:attrName>
                                        </p:attrNameLst>
                                      </p:cBhvr>
                                      <p:to>
                                        <p:strVal val="hidden"/>
                                      </p:to>
                                    </p:set>
                                  </p:childTnLst>
                                </p:cTn>
                              </p:par>
                              <p:par>
                                <p:cTn id="22" presetID="22" presetClass="entr" presetSubtype="8" fill="hold" nodeType="withEffect">
                                  <p:stCondLst>
                                    <p:cond delay="0"/>
                                  </p:stCondLst>
                                  <p:childTnLst>
                                    <p:set>
                                      <p:cBhvr>
                                        <p:cTn id="23" dur="1" fill="hold">
                                          <p:stCondLst>
                                            <p:cond delay="0"/>
                                          </p:stCondLst>
                                        </p:cTn>
                                        <p:tgtEl>
                                          <p:spTgt spid="72715"/>
                                        </p:tgtEl>
                                        <p:attrNameLst>
                                          <p:attrName>style.visibility</p:attrName>
                                        </p:attrNameLst>
                                      </p:cBhvr>
                                      <p:to>
                                        <p:strVal val="visible"/>
                                      </p:to>
                                    </p:set>
                                    <p:animEffect transition="in" filter="wipe(left)">
                                      <p:cBhvr>
                                        <p:cTn id="24" dur="1000"/>
                                        <p:tgtEl>
                                          <p:spTgt spid="7271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27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55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55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2"/>
          <p:cNvPicPr>
            <a:picLocks noChangeAspect="1" noChangeArrowheads="1"/>
          </p:cNvPicPr>
          <p:nvPr/>
        </p:nvPicPr>
        <p:blipFill>
          <a:blip r:embed="rId2" cstate="print"/>
          <a:srcRect l="48047" t="70313" r="43164" b="25000"/>
          <a:stretch>
            <a:fillRect/>
          </a:stretch>
        </p:blipFill>
        <p:spPr bwMode="auto">
          <a:xfrm>
            <a:off x="7805760" y="5538802"/>
            <a:ext cx="1071570" cy="357190"/>
          </a:xfrm>
          <a:prstGeom prst="rect">
            <a:avLst/>
          </a:prstGeom>
          <a:noFill/>
          <a:ln w="9525">
            <a:noFill/>
            <a:miter lim="800000"/>
            <a:headEnd/>
            <a:tailEnd/>
          </a:ln>
          <a:effectLst/>
        </p:spPr>
      </p:pic>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solidFill>
                <a:prstClr val="black"/>
              </a:solidFill>
            </a:endParaRPr>
          </a:p>
        </p:txBody>
      </p:sp>
      <p:cxnSp>
        <p:nvCxnSpPr>
          <p:cNvPr id="68" name="מחבר ישר 67"/>
          <p:cNvCxnSpPr/>
          <p:nvPr/>
        </p:nvCxnSpPr>
        <p:spPr>
          <a:xfrm rot="5400000">
            <a:off x="153938" y="3357562"/>
            <a:ext cx="428628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5537" name="Object 1"/>
          <p:cNvGraphicFramePr>
            <a:graphicFrameLocks noChangeAspect="1"/>
          </p:cNvGraphicFramePr>
          <p:nvPr/>
        </p:nvGraphicFramePr>
        <p:xfrm>
          <a:off x="1688252" y="1068340"/>
          <a:ext cx="566737" cy="469900"/>
        </p:xfrm>
        <a:graphic>
          <a:graphicData uri="http://schemas.openxmlformats.org/presentationml/2006/ole">
            <mc:AlternateContent xmlns:mc="http://schemas.openxmlformats.org/markup-compatibility/2006">
              <mc:Choice xmlns:v="urn:schemas-microsoft-com:vml" Requires="v">
                <p:oleObj name="Equation" r:id="rId3" imgW="215640" imgH="177480" progId="Equation.3">
                  <p:embed/>
                </p:oleObj>
              </mc:Choice>
              <mc:Fallback>
                <p:oleObj name="Equation" r:id="rId3" imgW="215640" imgH="177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8252" y="1068340"/>
                        <a:ext cx="5667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39" name="Object 3"/>
          <p:cNvGraphicFramePr>
            <a:graphicFrameLocks noChangeAspect="1"/>
          </p:cNvGraphicFramePr>
          <p:nvPr/>
        </p:nvGraphicFramePr>
        <p:xfrm>
          <a:off x="1571604" y="3143248"/>
          <a:ext cx="733425" cy="469900"/>
        </p:xfrm>
        <a:graphic>
          <a:graphicData uri="http://schemas.openxmlformats.org/presentationml/2006/ole">
            <mc:AlternateContent xmlns:mc="http://schemas.openxmlformats.org/markup-compatibility/2006">
              <mc:Choice xmlns:v="urn:schemas-microsoft-com:vml" Requires="v">
                <p:oleObj name="Equation" r:id="rId5" imgW="279360" imgH="177480" progId="Equation.3">
                  <p:embed/>
                </p:oleObj>
              </mc:Choice>
              <mc:Fallback>
                <p:oleObj name="Equation" r:id="rId5" imgW="279360" imgH="177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1604" y="3143248"/>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5540" name="Object 4"/>
          <p:cNvGraphicFramePr>
            <a:graphicFrameLocks noChangeAspect="1"/>
          </p:cNvGraphicFramePr>
          <p:nvPr/>
        </p:nvGraphicFramePr>
        <p:xfrm>
          <a:off x="1683146" y="5027678"/>
          <a:ext cx="613138" cy="417546"/>
        </p:xfrm>
        <a:graphic>
          <a:graphicData uri="http://schemas.openxmlformats.org/presentationml/2006/ole">
            <mc:AlternateContent xmlns:mc="http://schemas.openxmlformats.org/markup-compatibility/2006">
              <mc:Choice xmlns:v="urn:schemas-microsoft-com:vml" Requires="v">
                <p:oleObj name="Equation" r:id="rId7" imgW="253800" imgH="177480" progId="Equation.3">
                  <p:embed/>
                </p:oleObj>
              </mc:Choice>
              <mc:Fallback>
                <p:oleObj name="Equation" r:id="rId7" imgW="253800" imgH="177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83146" y="5027678"/>
                        <a:ext cx="613138" cy="417546"/>
                      </a:xfrm>
                      <a:prstGeom prst="rect">
                        <a:avLst/>
                      </a:prstGeom>
                      <a:noFill/>
                      <a:ln>
                        <a:noFill/>
                      </a:ln>
                    </p:spPr>
                  </p:pic>
                </p:oleObj>
              </mc:Fallback>
            </mc:AlternateContent>
          </a:graphicData>
        </a:graphic>
      </p:graphicFrame>
      <p:cxnSp>
        <p:nvCxnSpPr>
          <p:cNvPr id="71" name="מחבר ישר 70"/>
          <p:cNvCxnSpPr/>
          <p:nvPr/>
        </p:nvCxnSpPr>
        <p:spPr>
          <a:xfrm>
            <a:off x="2285984" y="3429000"/>
            <a:ext cx="5726134"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מחבר ישר 76"/>
          <p:cNvCxnSpPr/>
          <p:nvPr/>
        </p:nvCxnSpPr>
        <p:spPr>
          <a:xfrm flipV="1">
            <a:off x="2285984" y="3286124"/>
            <a:ext cx="4286280" cy="18573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3741" name="Object 13"/>
          <p:cNvGraphicFramePr>
            <a:graphicFrameLocks noChangeAspect="1"/>
          </p:cNvGraphicFramePr>
          <p:nvPr/>
        </p:nvGraphicFramePr>
        <p:xfrm>
          <a:off x="5443538" y="785813"/>
          <a:ext cx="3482975" cy="600075"/>
        </p:xfrm>
        <a:graphic>
          <a:graphicData uri="http://schemas.openxmlformats.org/presentationml/2006/ole">
            <mc:AlternateContent xmlns:mc="http://schemas.openxmlformats.org/markup-compatibility/2006">
              <mc:Choice xmlns:v="urn:schemas-microsoft-com:vml" Requires="v">
                <p:oleObj name="Equation" r:id="rId9" imgW="1041120" imgH="177480" progId="Equation.3">
                  <p:embed/>
                </p:oleObj>
              </mc:Choice>
              <mc:Fallback>
                <p:oleObj name="Equation" r:id="rId9" imgW="1041120" imgH="177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3538" y="785813"/>
                        <a:ext cx="3482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73742" name="Object 14"/>
          <p:cNvGraphicFramePr>
            <a:graphicFrameLocks noChangeAspect="1"/>
          </p:cNvGraphicFramePr>
          <p:nvPr>
            <p:extLst>
              <p:ext uri="{D42A27DB-BD31-4B8C-83A1-F6EECF244321}">
                <p14:modId xmlns:p14="http://schemas.microsoft.com/office/powerpoint/2010/main" val="2411655799"/>
              </p:ext>
            </p:extLst>
          </p:nvPr>
        </p:nvGraphicFramePr>
        <p:xfrm>
          <a:off x="5450760" y="746128"/>
          <a:ext cx="3482975" cy="600075"/>
        </p:xfrm>
        <a:graphic>
          <a:graphicData uri="http://schemas.openxmlformats.org/presentationml/2006/ole">
            <mc:AlternateContent xmlns:mc="http://schemas.openxmlformats.org/markup-compatibility/2006">
              <mc:Choice xmlns:v="urn:schemas-microsoft-com:vml" Requires="v">
                <p:oleObj name="Equation" r:id="rId11" imgW="1041120" imgH="177480" progId="Equation.3">
                  <p:embed/>
                </p:oleObj>
              </mc:Choice>
              <mc:Fallback>
                <p:oleObj name="Equation" r:id="rId11" imgW="1041120" imgH="177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50760" y="746128"/>
                        <a:ext cx="3482975" cy="600075"/>
                      </a:xfrm>
                      <a:prstGeom prst="rect">
                        <a:avLst/>
                      </a:prstGeom>
                      <a:solidFill>
                        <a:srgbClr val="FF0000"/>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73743" name="Object 15"/>
          <p:cNvGraphicFramePr>
            <a:graphicFrameLocks noChangeAspect="1"/>
          </p:cNvGraphicFramePr>
          <p:nvPr/>
        </p:nvGraphicFramePr>
        <p:xfrm>
          <a:off x="5429250" y="1357313"/>
          <a:ext cx="3736975" cy="600075"/>
        </p:xfrm>
        <a:graphic>
          <a:graphicData uri="http://schemas.openxmlformats.org/presentationml/2006/ole">
            <mc:AlternateContent xmlns:mc="http://schemas.openxmlformats.org/markup-compatibility/2006">
              <mc:Choice xmlns:v="urn:schemas-microsoft-com:vml" Requires="v">
                <p:oleObj name="Equation" r:id="rId13" imgW="1117440" imgH="177480" progId="Equation.3">
                  <p:embed/>
                </p:oleObj>
              </mc:Choice>
              <mc:Fallback>
                <p:oleObj name="Equation" r:id="rId13" imgW="1117440" imgH="17748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9250" y="1357313"/>
                        <a:ext cx="37369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73744" name="Object 16"/>
          <p:cNvGraphicFramePr>
            <a:graphicFrameLocks noChangeAspect="1"/>
          </p:cNvGraphicFramePr>
          <p:nvPr/>
        </p:nvGraphicFramePr>
        <p:xfrm>
          <a:off x="5426075" y="1357313"/>
          <a:ext cx="3736975" cy="600075"/>
        </p:xfrm>
        <a:graphic>
          <a:graphicData uri="http://schemas.openxmlformats.org/presentationml/2006/ole">
            <mc:AlternateContent xmlns:mc="http://schemas.openxmlformats.org/markup-compatibility/2006">
              <mc:Choice xmlns:v="urn:schemas-microsoft-com:vml" Requires="v">
                <p:oleObj name="Equation" r:id="rId15" imgW="1117440" imgH="177480" progId="Equation.3">
                  <p:embed/>
                </p:oleObj>
              </mc:Choice>
              <mc:Fallback>
                <p:oleObj name="Equation" r:id="rId15" imgW="1117440" imgH="17748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26075" y="1357313"/>
                        <a:ext cx="3736975" cy="600075"/>
                      </a:xfrm>
                      <a:prstGeom prst="rect">
                        <a:avLst/>
                      </a:prstGeom>
                      <a:solidFill>
                        <a:srgbClr val="FF0000"/>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29" name="מחבר ישר 28"/>
          <p:cNvCxnSpPr/>
          <p:nvPr/>
        </p:nvCxnSpPr>
        <p:spPr>
          <a:xfrm flipV="1">
            <a:off x="2296284" y="2997439"/>
            <a:ext cx="4286280" cy="1857388"/>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0" name="Object 12"/>
          <p:cNvGraphicFramePr>
            <a:graphicFrameLocks noChangeAspect="1"/>
          </p:cNvGraphicFramePr>
          <p:nvPr/>
        </p:nvGraphicFramePr>
        <p:xfrm>
          <a:off x="1688992" y="4933935"/>
          <a:ext cx="594744" cy="419153"/>
        </p:xfrm>
        <a:graphic>
          <a:graphicData uri="http://schemas.openxmlformats.org/presentationml/2006/ole">
            <mc:AlternateContent xmlns:mc="http://schemas.openxmlformats.org/markup-compatibility/2006">
              <mc:Choice xmlns:v="urn:schemas-microsoft-com:vml" Requires="v">
                <p:oleObj name="Equation" r:id="rId17" imgW="253800" imgH="177480" progId="Equation.3">
                  <p:embed/>
                </p:oleObj>
              </mc:Choice>
              <mc:Fallback>
                <p:oleObj name="Equation" r:id="rId17" imgW="253800" imgH="17748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88992" y="4933935"/>
                        <a:ext cx="594744" cy="419153"/>
                      </a:xfrm>
                      <a:prstGeom prst="rect">
                        <a:avLst/>
                      </a:prstGeom>
                      <a:noFill/>
                      <a:ln>
                        <a:noFill/>
                      </a:ln>
                    </p:spPr>
                  </p:pic>
                </p:oleObj>
              </mc:Fallback>
            </mc:AlternateContent>
          </a:graphicData>
        </a:graphic>
      </p:graphicFrame>
      <p:cxnSp>
        <p:nvCxnSpPr>
          <p:cNvPr id="31" name="מחבר ישר 30"/>
          <p:cNvCxnSpPr/>
          <p:nvPr/>
        </p:nvCxnSpPr>
        <p:spPr>
          <a:xfrm>
            <a:off x="2285984" y="3429000"/>
            <a:ext cx="6500858" cy="2357454"/>
          </a:xfrm>
          <a:prstGeom prst="line">
            <a:avLst/>
          </a:prstGeom>
          <a:ln w="412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2" name="Object 13"/>
          <p:cNvGraphicFramePr>
            <a:graphicFrameLocks noChangeAspect="1"/>
          </p:cNvGraphicFramePr>
          <p:nvPr/>
        </p:nvGraphicFramePr>
        <p:xfrm>
          <a:off x="1577644" y="3143250"/>
          <a:ext cx="733425" cy="469900"/>
        </p:xfrm>
        <a:graphic>
          <a:graphicData uri="http://schemas.openxmlformats.org/presentationml/2006/ole">
            <mc:AlternateContent xmlns:mc="http://schemas.openxmlformats.org/markup-compatibility/2006">
              <mc:Choice xmlns:v="urn:schemas-microsoft-com:vml" Requires="v">
                <p:oleObj name="Equation" r:id="rId19" imgW="279360" imgH="177480" progId="Equation.3">
                  <p:embed/>
                </p:oleObj>
              </mc:Choice>
              <mc:Fallback>
                <p:oleObj name="Equation" r:id="rId19" imgW="279360" imgH="17748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77644" y="3143250"/>
                        <a:ext cx="7334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72716" name="Picture 12"/>
          <p:cNvPicPr>
            <a:picLocks noChangeAspect="1" noChangeArrowheads="1"/>
          </p:cNvPicPr>
          <p:nvPr/>
        </p:nvPicPr>
        <p:blipFill>
          <a:blip r:embed="rId2" cstate="print"/>
          <a:srcRect l="48047" t="70313" r="43164" b="25000"/>
          <a:stretch>
            <a:fillRect/>
          </a:stretch>
        </p:blipFill>
        <p:spPr bwMode="auto">
          <a:xfrm>
            <a:off x="7786710" y="5519363"/>
            <a:ext cx="1071570" cy="357190"/>
          </a:xfrm>
          <a:prstGeom prst="rect">
            <a:avLst/>
          </a:prstGeom>
          <a:noFill/>
          <a:ln w="9525">
            <a:noFill/>
            <a:miter lim="800000"/>
            <a:headEnd/>
            <a:tailEnd/>
          </a:ln>
          <a:effectLst/>
        </p:spPr>
      </p:pic>
      <p:graphicFrame>
        <p:nvGraphicFramePr>
          <p:cNvPr id="65538" name="Object 2"/>
          <p:cNvGraphicFramePr>
            <a:graphicFrameLocks noChangeAspect="1"/>
          </p:cNvGraphicFramePr>
          <p:nvPr/>
        </p:nvGraphicFramePr>
        <p:xfrm>
          <a:off x="8012118" y="5500702"/>
          <a:ext cx="466725" cy="434975"/>
        </p:xfrm>
        <a:graphic>
          <a:graphicData uri="http://schemas.openxmlformats.org/presentationml/2006/ole">
            <mc:AlternateContent xmlns:mc="http://schemas.openxmlformats.org/markup-compatibility/2006">
              <mc:Choice xmlns:v="urn:schemas-microsoft-com:vml" Requires="v">
                <p:oleObj name="Equation" r:id="rId21" imgW="177480" imgH="164880" progId="Equation.3">
                  <p:embed/>
                </p:oleObj>
              </mc:Choice>
              <mc:Fallback>
                <p:oleObj name="Equation" r:id="rId21" imgW="177480" imgH="16488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12118" y="5500702"/>
                        <a:ext cx="4667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0" name="מחבר ישר 69"/>
          <p:cNvCxnSpPr/>
          <p:nvPr/>
        </p:nvCxnSpPr>
        <p:spPr>
          <a:xfrm>
            <a:off x="2297078" y="5500702"/>
            <a:ext cx="6632640"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מחבר ישר 32"/>
          <p:cNvCxnSpPr/>
          <p:nvPr/>
        </p:nvCxnSpPr>
        <p:spPr>
          <a:xfrm flipH="1">
            <a:off x="2297874" y="3861048"/>
            <a:ext cx="1942084" cy="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מחבר ישר 33"/>
          <p:cNvCxnSpPr/>
          <p:nvPr/>
        </p:nvCxnSpPr>
        <p:spPr>
          <a:xfrm flipV="1">
            <a:off x="4225959" y="3861048"/>
            <a:ext cx="13999" cy="1636725"/>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35" name="Object 7"/>
          <p:cNvGraphicFramePr>
            <a:graphicFrameLocks noChangeAspect="1"/>
          </p:cNvGraphicFramePr>
          <p:nvPr/>
        </p:nvGraphicFramePr>
        <p:xfrm>
          <a:off x="1460968" y="3773530"/>
          <a:ext cx="823912" cy="305205"/>
        </p:xfrm>
        <a:graphic>
          <a:graphicData uri="http://schemas.openxmlformats.org/presentationml/2006/ole">
            <mc:AlternateContent xmlns:mc="http://schemas.openxmlformats.org/markup-compatibility/2006">
              <mc:Choice xmlns:v="urn:schemas-microsoft-com:vml" Requires="v">
                <p:oleObj name="Equation" r:id="rId23" imgW="469800" imgH="177480" progId="Equation.3">
                  <p:embed/>
                </p:oleObj>
              </mc:Choice>
              <mc:Fallback>
                <p:oleObj name="Equation" r:id="rId23" imgW="469800" imgH="17748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60968" y="3773530"/>
                        <a:ext cx="823912" cy="305205"/>
                      </a:xfrm>
                      <a:prstGeom prst="rect">
                        <a:avLst/>
                      </a:prstGeom>
                      <a:noFill/>
                      <a:ln>
                        <a:noFill/>
                      </a:ln>
                    </p:spPr>
                  </p:pic>
                </p:oleObj>
              </mc:Fallback>
            </mc:AlternateContent>
          </a:graphicData>
        </a:graphic>
      </p:graphicFrame>
      <p:graphicFrame>
        <p:nvGraphicFramePr>
          <p:cNvPr id="36" name="Object 8"/>
          <p:cNvGraphicFramePr>
            <a:graphicFrameLocks noChangeAspect="1"/>
          </p:cNvGraphicFramePr>
          <p:nvPr/>
        </p:nvGraphicFramePr>
        <p:xfrm>
          <a:off x="3649165" y="5628498"/>
          <a:ext cx="915987" cy="315912"/>
        </p:xfrm>
        <a:graphic>
          <a:graphicData uri="http://schemas.openxmlformats.org/presentationml/2006/ole">
            <mc:AlternateContent xmlns:mc="http://schemas.openxmlformats.org/markup-compatibility/2006">
              <mc:Choice xmlns:v="urn:schemas-microsoft-com:vml" Requires="v">
                <p:oleObj name="Equation" r:id="rId25" imgW="520560" imgH="177480" progId="Equation.3">
                  <p:embed/>
                </p:oleObj>
              </mc:Choice>
              <mc:Fallback>
                <p:oleObj name="Equation" r:id="rId25" imgW="520560" imgH="17748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49165" y="5628498"/>
                        <a:ext cx="915987"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מלבן 1"/>
          <p:cNvSpPr/>
          <p:nvPr/>
        </p:nvSpPr>
        <p:spPr>
          <a:xfrm>
            <a:off x="1897702" y="65356"/>
            <a:ext cx="4455066" cy="369332"/>
          </a:xfrm>
          <a:prstGeom prst="rect">
            <a:avLst/>
          </a:prstGeom>
          <a:solidFill>
            <a:schemeClr val="bg1"/>
          </a:solidFill>
        </p:spPr>
        <p:txBody>
          <a:bodyPr wrap="none">
            <a:spAutoFit/>
          </a:bodyPr>
          <a:lstStyle/>
          <a:p>
            <a:r>
              <a:rPr lang="he-IL" dirty="0">
                <a:solidFill>
                  <a:prstClr val="black"/>
                </a:solidFill>
              </a:rPr>
              <a:t> (3) שני  השינויים (1) ו- (2) מתרחשים בו זמנית</a:t>
            </a:r>
          </a:p>
        </p:txBody>
      </p:sp>
      <p:sp>
        <p:nvSpPr>
          <p:cNvPr id="37" name="כותרת 1"/>
          <p:cNvSpPr txBox="1">
            <a:spLocks/>
          </p:cNvSpPr>
          <p:nvPr/>
        </p:nvSpPr>
        <p:spPr>
          <a:xfrm>
            <a:off x="6572264" y="1"/>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solidFill>
                  <a:prstClr val="black"/>
                </a:solidFill>
                <a:cs typeface="Arial" panose="020B0604020202020204" pitchFamily="34" charset="0"/>
              </a:rPr>
              <a:t>שאלה 1 ג'</a:t>
            </a:r>
            <a:endParaRPr lang="he-IL" sz="2400" b="1" dirty="0">
              <a:solidFill>
                <a:prstClr val="black"/>
              </a:solidFill>
              <a:cs typeface="Arial" panose="020B0604020202020204" pitchFamily="34" charset="0"/>
            </a:endParaRPr>
          </a:p>
        </p:txBody>
      </p:sp>
    </p:spTree>
    <p:extLst>
      <p:ext uri="{BB962C8B-B14F-4D97-AF65-F5344CB8AC3E}">
        <p14:creationId xmlns:p14="http://schemas.microsoft.com/office/powerpoint/2010/main" val="105572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500"/>
                                        <p:tgtEl>
                                          <p:spTgt spid="73741"/>
                                        </p:tgtEl>
                                        <p:attrNameLst>
                                          <p:attrName>ppt_x</p:attrName>
                                        </p:attrNameLst>
                                      </p:cBhvr>
                                      <p:tavLst>
                                        <p:tav tm="0">
                                          <p:val>
                                            <p:strVal val="ppt_x"/>
                                          </p:val>
                                        </p:tav>
                                        <p:tav tm="100000">
                                          <p:val>
                                            <p:strVal val="1+ppt_w/2"/>
                                          </p:val>
                                        </p:tav>
                                      </p:tavLst>
                                    </p:anim>
                                    <p:anim calcmode="lin" valueType="num">
                                      <p:cBhvr additive="base">
                                        <p:cTn id="7" dur="500"/>
                                        <p:tgtEl>
                                          <p:spTgt spid="73741"/>
                                        </p:tgtEl>
                                        <p:attrNameLst>
                                          <p:attrName>ppt_y</p:attrName>
                                        </p:attrNameLst>
                                      </p:cBhvr>
                                      <p:tavLst>
                                        <p:tav tm="0">
                                          <p:val>
                                            <p:strVal val="ppt_y"/>
                                          </p:val>
                                        </p:tav>
                                        <p:tav tm="100000">
                                          <p:val>
                                            <p:strVal val="ppt_y"/>
                                          </p:val>
                                        </p:tav>
                                      </p:tavLst>
                                    </p:anim>
                                    <p:set>
                                      <p:cBhvr>
                                        <p:cTn id="8" dur="1" fill="hold">
                                          <p:stCondLst>
                                            <p:cond delay="499"/>
                                          </p:stCondLst>
                                        </p:cTn>
                                        <p:tgtEl>
                                          <p:spTgt spid="73741"/>
                                        </p:tgtEl>
                                        <p:attrNameLst>
                                          <p:attrName>style.visibility</p:attrName>
                                        </p:attrNameLst>
                                      </p:cBhvr>
                                      <p:to>
                                        <p:strVal val="hidden"/>
                                      </p:to>
                                    </p:set>
                                  </p:childTnLst>
                                </p:cTn>
                              </p:par>
                              <p:par>
                                <p:cTn id="9" presetID="22" presetClass="entr" presetSubtype="8" fill="hold" nodeType="withEffect">
                                  <p:stCondLst>
                                    <p:cond delay="0"/>
                                  </p:stCondLst>
                                  <p:childTnLst>
                                    <p:set>
                                      <p:cBhvr>
                                        <p:cTn id="10" dur="1" fill="hold">
                                          <p:stCondLst>
                                            <p:cond delay="0"/>
                                          </p:stCondLst>
                                        </p:cTn>
                                        <p:tgtEl>
                                          <p:spTgt spid="73742"/>
                                        </p:tgtEl>
                                        <p:attrNameLst>
                                          <p:attrName>style.visibility</p:attrName>
                                        </p:attrNameLst>
                                      </p:cBhvr>
                                      <p:to>
                                        <p:strVal val="visible"/>
                                      </p:to>
                                    </p:set>
                                    <p:animEffect transition="in" filter="wipe(left)">
                                      <p:cBhvr>
                                        <p:cTn id="11" dur="1000"/>
                                        <p:tgtEl>
                                          <p:spTgt spid="7374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par>
                                <p:cTn id="16" presetID="64" presetClass="path" presetSubtype="0" accel="50000" decel="50000" fill="hold" nodeType="withEffect">
                                  <p:stCondLst>
                                    <p:cond delay="0"/>
                                  </p:stCondLst>
                                  <p:childTnLst>
                                    <p:animMotion origin="layout" path="M -1.94444E-6 7.40741E-7 L -1.94444E-6 -0.03935 " pathEditMode="relative" rAng="0" ptsTypes="AA">
                                      <p:cBhvr>
                                        <p:cTn id="17" dur="2000" fill="hold"/>
                                        <p:tgtEl>
                                          <p:spTgt spid="31"/>
                                        </p:tgtEl>
                                        <p:attrNameLst>
                                          <p:attrName>ppt_x</p:attrName>
                                          <p:attrName>ppt_y</p:attrName>
                                        </p:attrNameLst>
                                      </p:cBhvr>
                                      <p:rCtr x="0" y="-1968"/>
                                    </p:animMotion>
                                  </p:childTnLst>
                                </p:cTn>
                              </p:par>
                              <p:par>
                                <p:cTn id="18" presetID="1" presetClass="entr" presetSubtype="0" fill="hold" nodeType="withEffect">
                                  <p:stCondLst>
                                    <p:cond delay="0"/>
                                  </p:stCondLst>
                                  <p:childTnLst>
                                    <p:set>
                                      <p:cBhvr>
                                        <p:cTn id="19" dur="1" fill="hold">
                                          <p:stCondLst>
                                            <p:cond delay="0"/>
                                          </p:stCondLst>
                                        </p:cTn>
                                        <p:tgtEl>
                                          <p:spTgt spid="32"/>
                                        </p:tgtEl>
                                        <p:attrNameLst>
                                          <p:attrName>style.visibility</p:attrName>
                                        </p:attrNameLst>
                                      </p:cBhvr>
                                      <p:to>
                                        <p:strVal val="visible"/>
                                      </p:to>
                                    </p:set>
                                  </p:childTnLst>
                                </p:cTn>
                              </p:par>
                              <p:par>
                                <p:cTn id="20" presetID="64" presetClass="path" presetSubtype="0" accel="50000" decel="50000" fill="hold" nodeType="withEffect">
                                  <p:stCondLst>
                                    <p:cond delay="0"/>
                                  </p:stCondLst>
                                  <p:childTnLst>
                                    <p:animMotion origin="layout" path="M -4.72222E-6 -7.51793E-7 L -0.00017 -0.05251 " pathEditMode="relative" rAng="0" ptsTypes="AA">
                                      <p:cBhvr>
                                        <p:cTn id="21" dur="2000" fill="hold"/>
                                        <p:tgtEl>
                                          <p:spTgt spid="32"/>
                                        </p:tgtEl>
                                        <p:attrNameLst>
                                          <p:attrName>ppt_x</p:attrName>
                                          <p:attrName>ppt_y</p:attrName>
                                        </p:attrNameLst>
                                      </p:cBhvr>
                                      <p:rCtr x="0" y="-26"/>
                                    </p:animMotion>
                                  </p:childTnLst>
                                </p:cTn>
                              </p:par>
                            </p:childTnLst>
                          </p:cTn>
                        </p:par>
                      </p:childTnLst>
                    </p:cTn>
                  </p:par>
                  <p:par>
                    <p:cTn id="22" fill="hold">
                      <p:stCondLst>
                        <p:cond delay="indefinite"/>
                      </p:stCondLst>
                      <p:childTnLst>
                        <p:par>
                          <p:cTn id="23" fill="hold">
                            <p:stCondLst>
                              <p:cond delay="0"/>
                            </p:stCondLst>
                            <p:childTnLst>
                              <p:par>
                                <p:cTn id="24" presetID="2" presetClass="exit" presetSubtype="2" fill="hold" nodeType="clickEffect">
                                  <p:stCondLst>
                                    <p:cond delay="0"/>
                                  </p:stCondLst>
                                  <p:childTnLst>
                                    <p:anim calcmode="lin" valueType="num">
                                      <p:cBhvr additive="base">
                                        <p:cTn id="25" dur="500"/>
                                        <p:tgtEl>
                                          <p:spTgt spid="73743"/>
                                        </p:tgtEl>
                                        <p:attrNameLst>
                                          <p:attrName>ppt_x</p:attrName>
                                        </p:attrNameLst>
                                      </p:cBhvr>
                                      <p:tavLst>
                                        <p:tav tm="0">
                                          <p:val>
                                            <p:strVal val="ppt_x"/>
                                          </p:val>
                                        </p:tav>
                                        <p:tav tm="100000">
                                          <p:val>
                                            <p:strVal val="1+ppt_w/2"/>
                                          </p:val>
                                        </p:tav>
                                      </p:tavLst>
                                    </p:anim>
                                    <p:anim calcmode="lin" valueType="num">
                                      <p:cBhvr additive="base">
                                        <p:cTn id="26" dur="500"/>
                                        <p:tgtEl>
                                          <p:spTgt spid="73743"/>
                                        </p:tgtEl>
                                        <p:attrNameLst>
                                          <p:attrName>ppt_y</p:attrName>
                                        </p:attrNameLst>
                                      </p:cBhvr>
                                      <p:tavLst>
                                        <p:tav tm="0">
                                          <p:val>
                                            <p:strVal val="ppt_y"/>
                                          </p:val>
                                        </p:tav>
                                        <p:tav tm="100000">
                                          <p:val>
                                            <p:strVal val="ppt_y"/>
                                          </p:val>
                                        </p:tav>
                                      </p:tavLst>
                                    </p:anim>
                                    <p:set>
                                      <p:cBhvr>
                                        <p:cTn id="27" dur="1" fill="hold">
                                          <p:stCondLst>
                                            <p:cond delay="499"/>
                                          </p:stCondLst>
                                        </p:cTn>
                                        <p:tgtEl>
                                          <p:spTgt spid="73743"/>
                                        </p:tgtEl>
                                        <p:attrNameLst>
                                          <p:attrName>style.visibility</p:attrName>
                                        </p:attrNameLst>
                                      </p:cBhvr>
                                      <p:to>
                                        <p:strVal val="hidden"/>
                                      </p:to>
                                    </p:set>
                                  </p:childTnLst>
                                </p:cTn>
                              </p:par>
                              <p:par>
                                <p:cTn id="28" presetID="22" presetClass="entr" presetSubtype="8" fill="hold" nodeType="withEffect">
                                  <p:stCondLst>
                                    <p:cond delay="0"/>
                                  </p:stCondLst>
                                  <p:childTnLst>
                                    <p:set>
                                      <p:cBhvr>
                                        <p:cTn id="29" dur="1" fill="hold">
                                          <p:stCondLst>
                                            <p:cond delay="0"/>
                                          </p:stCondLst>
                                        </p:cTn>
                                        <p:tgtEl>
                                          <p:spTgt spid="73744"/>
                                        </p:tgtEl>
                                        <p:attrNameLst>
                                          <p:attrName>style.visibility</p:attrName>
                                        </p:attrNameLst>
                                      </p:cBhvr>
                                      <p:to>
                                        <p:strVal val="visible"/>
                                      </p:to>
                                    </p:set>
                                    <p:animEffect transition="in" filter="wipe(left)">
                                      <p:cBhvr>
                                        <p:cTn id="30" dur="1000"/>
                                        <p:tgtEl>
                                          <p:spTgt spid="7374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64" presetClass="path" presetSubtype="0" accel="50000" decel="50000" fill="hold" nodeType="withEffect">
                                  <p:stCondLst>
                                    <p:cond delay="0"/>
                                  </p:stCondLst>
                                  <p:childTnLst>
                                    <p:animMotion origin="layout" path="M 3.33333E-6 -3.7037E-6 L 3.33333E-6 -0.01828 " pathEditMode="relative" rAng="0" ptsTypes="AA">
                                      <p:cBhvr>
                                        <p:cTn id="36" dur="1000" fill="hold"/>
                                        <p:tgtEl>
                                          <p:spTgt spid="29"/>
                                        </p:tgtEl>
                                        <p:attrNameLst>
                                          <p:attrName>ppt_x</p:attrName>
                                          <p:attrName>ppt_y</p:attrName>
                                        </p:attrNameLst>
                                      </p:cBhvr>
                                      <p:rCtr x="0" y="-926"/>
                                    </p:animMotion>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64" presetClass="path" presetSubtype="0" accel="50000" decel="50000" fill="hold" nodeType="withEffect">
                                  <p:stCondLst>
                                    <p:cond delay="0"/>
                                  </p:stCondLst>
                                  <p:childTnLst>
                                    <p:animMotion origin="layout" path="M -2.5E-6 1.85185E-6 L -0.00017 -0.03843 " pathEditMode="relative" rAng="0" ptsTypes="AA">
                                      <p:cBhvr>
                                        <p:cTn id="40" dur="1000" fill="hold"/>
                                        <p:tgtEl>
                                          <p:spTgt spid="30"/>
                                        </p:tgtEl>
                                        <p:attrNameLst>
                                          <p:attrName>ppt_x</p:attrName>
                                          <p:attrName>ppt_y</p:attrName>
                                        </p:attrNameLst>
                                      </p:cBhvr>
                                      <p:rCtr x="0" y="-19"/>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305D9-E367-167C-2F15-FFB194C55025}"/>
              </a:ext>
            </a:extLst>
          </p:cNvPr>
          <p:cNvSpPr/>
          <p:nvPr/>
        </p:nvSpPr>
        <p:spPr>
          <a:xfrm>
            <a:off x="971601" y="980728"/>
            <a:ext cx="7841000" cy="4847994"/>
          </a:xfrm>
          <a:prstGeom prst="rect">
            <a:avLst/>
          </a:prstGeom>
        </p:spPr>
        <p:txBody>
          <a:bodyPr wrap="square">
            <a:spAutoFit/>
          </a:bodyPr>
          <a:lstStyle/>
          <a:p>
            <a:pPr defTabSz="685800">
              <a:lnSpc>
                <a:spcPct val="150000"/>
              </a:lnSpc>
            </a:pPr>
            <a:r>
              <a:rPr lang="he-IL" sz="1600" dirty="0">
                <a:solidFill>
                  <a:prstClr val="black"/>
                </a:solidFill>
                <a:latin typeface="Calibri" panose="020F0502020204030204"/>
                <a:cs typeface="Arial" panose="020B0604020202020204" pitchFamily="34" charset="0"/>
              </a:rPr>
              <a:t>מחיר שיווי משקל בשוק האורז בתחילת השנה היה 20 ש''ח וכמות שיווי משקל היתה 100 יח'.</a:t>
            </a:r>
            <a:endParaRPr lang="en-IL" sz="1600" dirty="0">
              <a:solidFill>
                <a:prstClr val="black"/>
              </a:solidFill>
              <a:latin typeface="Calibri" panose="020F0502020204030204"/>
            </a:endParaRPr>
          </a:p>
          <a:p>
            <a:pPr defTabSz="685800">
              <a:lnSpc>
                <a:spcPct val="150000"/>
              </a:lnSpc>
            </a:pPr>
            <a:r>
              <a:rPr lang="he-IL" sz="1600" dirty="0">
                <a:solidFill>
                  <a:prstClr val="black"/>
                </a:solidFill>
                <a:latin typeface="Calibri" panose="020F0502020204030204"/>
                <a:cs typeface="Arial" panose="020B0604020202020204" pitchFamily="34" charset="0"/>
              </a:rPr>
              <a:t>במשק קרו השנה הדברים הבאים:</a:t>
            </a:r>
            <a:endParaRPr lang="en-IL" sz="1600" dirty="0">
              <a:solidFill>
                <a:prstClr val="black"/>
              </a:solidFill>
              <a:latin typeface="Calibri" panose="020F0502020204030204"/>
            </a:endParaRPr>
          </a:p>
          <a:p>
            <a:pPr marL="342900" lvl="1" defTabSz="685800">
              <a:lnSpc>
                <a:spcPct val="150000"/>
              </a:lnSpc>
            </a:pPr>
            <a:r>
              <a:rPr lang="he-IL" sz="1600" dirty="0">
                <a:solidFill>
                  <a:prstClr val="black"/>
                </a:solidFill>
                <a:latin typeface="Calibri" panose="020F0502020204030204"/>
                <a:cs typeface="Arial" panose="020B0604020202020204" pitchFamily="34" charset="0"/>
              </a:rPr>
              <a:t>1. </a:t>
            </a:r>
            <a:r>
              <a:rPr lang="he-IL" sz="1600" dirty="0">
                <a:solidFill>
                  <a:srgbClr val="C00000"/>
                </a:solidFill>
                <a:latin typeface="Calibri" panose="020F0502020204030204"/>
                <a:cs typeface="Arial" panose="020B0604020202020204" pitchFamily="34" charset="0"/>
              </a:rPr>
              <a:t>עלה מחיר המים שמשמשים כגורם ייצור בייצור האורז</a:t>
            </a:r>
            <a:endParaRPr lang="en-IL" sz="1600" dirty="0">
              <a:solidFill>
                <a:srgbClr val="C00000"/>
              </a:solidFill>
              <a:latin typeface="Calibri" panose="020F0502020204030204"/>
            </a:endParaRPr>
          </a:p>
          <a:p>
            <a:pPr marL="342900" lvl="1" defTabSz="685800">
              <a:lnSpc>
                <a:spcPct val="150000"/>
              </a:lnSpc>
            </a:pPr>
            <a:r>
              <a:rPr lang="he-IL" sz="1600" dirty="0">
                <a:solidFill>
                  <a:prstClr val="black"/>
                </a:solidFill>
                <a:latin typeface="Calibri" panose="020F0502020204030204"/>
                <a:cs typeface="Arial" panose="020B0604020202020204" pitchFamily="34" charset="0"/>
              </a:rPr>
              <a:t>2</a:t>
            </a:r>
            <a:r>
              <a:rPr lang="he-IL" sz="1600" dirty="0">
                <a:solidFill>
                  <a:srgbClr val="C00000"/>
                </a:solidFill>
                <a:latin typeface="Calibri" panose="020F0502020204030204"/>
                <a:cs typeface="Arial" panose="020B0604020202020204" pitchFamily="34" charset="0"/>
              </a:rPr>
              <a:t>. </a:t>
            </a:r>
            <a:r>
              <a:rPr lang="he-IL" sz="1600" dirty="0">
                <a:solidFill>
                  <a:srgbClr val="5B9BD5"/>
                </a:solidFill>
                <a:latin typeface="Calibri" panose="020F0502020204030204"/>
                <a:cs typeface="Arial" panose="020B0604020202020204" pitchFamily="34" charset="0"/>
              </a:rPr>
              <a:t>הכנסות המשפחות במשק גדלו וידוע כי אורז הינו מוצר נחות עבור הצרכנים</a:t>
            </a:r>
            <a:endParaRPr lang="en-IL" sz="1600" dirty="0">
              <a:solidFill>
                <a:srgbClr val="5B9BD5"/>
              </a:solidFill>
              <a:latin typeface="Calibri" panose="020F0502020204030204"/>
            </a:endParaRPr>
          </a:p>
          <a:p>
            <a:pPr defTabSz="685800">
              <a:lnSpc>
                <a:spcPct val="150000"/>
              </a:lnSpc>
            </a:pPr>
            <a:r>
              <a:rPr lang="he-IL" sz="1600" dirty="0">
                <a:solidFill>
                  <a:prstClr val="black"/>
                </a:solidFill>
                <a:latin typeface="Calibri" panose="020F0502020204030204"/>
                <a:cs typeface="Arial" panose="020B0604020202020204" pitchFamily="34" charset="0"/>
              </a:rPr>
              <a:t>מכאן ש:</a:t>
            </a:r>
          </a:p>
          <a:p>
            <a:pPr defTabSz="685800">
              <a:lnSpc>
                <a:spcPct val="150000"/>
              </a:lnSpc>
            </a:pPr>
            <a:endParaRPr lang="en-IL" sz="1600" dirty="0">
              <a:solidFill>
                <a:prstClr val="black"/>
              </a:solidFill>
              <a:latin typeface="Calibri" panose="020F0502020204030204"/>
            </a:endParaRPr>
          </a:p>
          <a:p>
            <a:pPr defTabSz="685800">
              <a:lnSpc>
                <a:spcPct val="150000"/>
              </a:lnSpc>
            </a:pPr>
            <a:r>
              <a:rPr lang="he-IL" sz="1600" i="1" dirty="0">
                <a:solidFill>
                  <a:prstClr val="black"/>
                </a:solidFill>
                <a:latin typeface="Calibri" panose="020F0502020204030204"/>
                <a:cs typeface="Arial" panose="020B0604020202020204" pitchFamily="34" charset="0"/>
              </a:rPr>
              <a:t>א. ייתכן שהכמות של האורז לא תשתנה</a:t>
            </a:r>
            <a:endParaRPr lang="en-IL" sz="1600" i="1" dirty="0">
              <a:solidFill>
                <a:prstClr val="black"/>
              </a:solidFill>
              <a:latin typeface="Calibri" panose="020F0502020204030204"/>
            </a:endParaRPr>
          </a:p>
          <a:p>
            <a:pPr defTabSz="685800">
              <a:lnSpc>
                <a:spcPct val="150000"/>
              </a:lnSpc>
            </a:pPr>
            <a:r>
              <a:rPr lang="he-IL" sz="1600" i="1" dirty="0">
                <a:solidFill>
                  <a:prstClr val="black"/>
                </a:solidFill>
                <a:latin typeface="Calibri" panose="020F0502020204030204"/>
                <a:cs typeface="Arial" panose="020B0604020202020204" pitchFamily="34" charset="0"/>
              </a:rPr>
              <a:t>ב. מחיר האורז יעלה בוודאות</a:t>
            </a:r>
            <a:endParaRPr lang="en-IL" sz="1600" i="1" dirty="0">
              <a:solidFill>
                <a:prstClr val="black"/>
              </a:solidFill>
              <a:latin typeface="Calibri" panose="020F0502020204030204"/>
            </a:endParaRPr>
          </a:p>
          <a:p>
            <a:pPr defTabSz="685800">
              <a:lnSpc>
                <a:spcPct val="150000"/>
              </a:lnSpc>
            </a:pPr>
            <a:r>
              <a:rPr lang="he-IL" sz="1600" i="1" dirty="0">
                <a:solidFill>
                  <a:prstClr val="black"/>
                </a:solidFill>
                <a:latin typeface="Calibri" panose="020F0502020204030204"/>
                <a:cs typeface="Arial" panose="020B0604020202020204" pitchFamily="34" charset="0"/>
              </a:rPr>
              <a:t>ג. כמות האורז תקטן, אך אין אפשרות לדעת בוודאות האם מחיר האורז יעלה, ירד או ישאר ללא שינוי. </a:t>
            </a:r>
            <a:endParaRPr lang="en-IL" sz="1600" i="1" dirty="0">
              <a:solidFill>
                <a:prstClr val="black"/>
              </a:solidFill>
              <a:latin typeface="Calibri" panose="020F0502020204030204"/>
            </a:endParaRPr>
          </a:p>
          <a:p>
            <a:pPr defTabSz="685800">
              <a:lnSpc>
                <a:spcPct val="150000"/>
              </a:lnSpc>
            </a:pPr>
            <a:r>
              <a:rPr lang="he-IL" sz="1600" i="1" dirty="0">
                <a:solidFill>
                  <a:prstClr val="black"/>
                </a:solidFill>
                <a:latin typeface="Calibri" panose="020F0502020204030204"/>
                <a:cs typeface="Arial" panose="020B0604020202020204" pitchFamily="34" charset="0"/>
              </a:rPr>
              <a:t>ד. בהכרח יהיה שינוי במחיר האורז. </a:t>
            </a:r>
            <a:endParaRPr lang="en-IL" sz="1600" i="1" dirty="0">
              <a:solidFill>
                <a:prstClr val="black"/>
              </a:solidFill>
              <a:latin typeface="Calibri" panose="020F0502020204030204"/>
            </a:endParaRPr>
          </a:p>
          <a:p>
            <a:pPr defTabSz="685800">
              <a:lnSpc>
                <a:spcPct val="150000"/>
              </a:lnSpc>
            </a:pPr>
            <a:r>
              <a:rPr lang="he-IL" sz="1600" i="1" dirty="0">
                <a:solidFill>
                  <a:prstClr val="black"/>
                </a:solidFill>
                <a:latin typeface="Calibri" panose="020F0502020204030204"/>
                <a:cs typeface="Arial" panose="020B0604020202020204" pitchFamily="34" charset="0"/>
              </a:rPr>
              <a:t>ה. כל התשובות האחרות אינן נכונות </a:t>
            </a:r>
            <a:endParaRPr lang="en-IL" sz="1600" i="1" dirty="0">
              <a:solidFill>
                <a:prstClr val="black"/>
              </a:solidFill>
              <a:latin typeface="Calibri" panose="020F0502020204030204"/>
            </a:endParaRPr>
          </a:p>
          <a:p>
            <a:pPr marL="257175" indent="-257175" defTabSz="685800">
              <a:lnSpc>
                <a:spcPct val="150000"/>
              </a:lnSpc>
              <a:buFontTx/>
              <a:buAutoNum type="arabicPeriod"/>
            </a:pPr>
            <a:endParaRPr lang="he-IL" sz="1600" dirty="0">
              <a:solidFill>
                <a:prstClr val="black"/>
              </a:solidFill>
              <a:latin typeface="David" pitchFamily="34" charset="-79"/>
              <a:cs typeface="Arial" panose="020B0604020202020204" pitchFamily="34" charset="0"/>
            </a:endParaRPr>
          </a:p>
        </p:txBody>
      </p:sp>
      <p:sp>
        <p:nvSpPr>
          <p:cNvPr id="5" name="TextBox 4">
            <a:extLst>
              <a:ext uri="{FF2B5EF4-FFF2-40B4-BE49-F238E27FC236}">
                <a16:creationId xmlns:a16="http://schemas.microsoft.com/office/drawing/2014/main" id="{C1385203-EA9E-EBA9-DD52-EFF16DDF8852}"/>
              </a:ext>
            </a:extLst>
          </p:cNvPr>
          <p:cNvSpPr txBox="1"/>
          <p:nvPr/>
        </p:nvSpPr>
        <p:spPr>
          <a:xfrm>
            <a:off x="6500758" y="332656"/>
            <a:ext cx="2311842" cy="517193"/>
          </a:xfrm>
          <a:prstGeom prst="rect">
            <a:avLst/>
          </a:prstGeom>
          <a:noFill/>
        </p:spPr>
        <p:txBody>
          <a:bodyPr wrap="square">
            <a:spAutoFit/>
          </a:bodyPr>
          <a:lstStyle/>
          <a:p>
            <a:pPr defTabSz="685800">
              <a:lnSpc>
                <a:spcPct val="150000"/>
              </a:lnSpc>
            </a:pPr>
            <a:r>
              <a:rPr lang="he-IL" sz="2100" b="1" dirty="0">
                <a:solidFill>
                  <a:prstClr val="black"/>
                </a:solidFill>
                <a:latin typeface="David" pitchFamily="34" charset="-79"/>
                <a:cs typeface="Arial" panose="020B0604020202020204" pitchFamily="34" charset="0"/>
              </a:rPr>
              <a:t>שאלה 2:</a:t>
            </a:r>
          </a:p>
        </p:txBody>
      </p:sp>
    </p:spTree>
    <p:extLst>
      <p:ext uri="{BB962C8B-B14F-4D97-AF65-F5344CB8AC3E}">
        <p14:creationId xmlns:p14="http://schemas.microsoft.com/office/powerpoint/2010/main" val="3712204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1657351" y="3591692"/>
            <a:ext cx="2127121" cy="17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1666568" y="1543050"/>
            <a:ext cx="0" cy="2048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316792" y="1378097"/>
            <a:ext cx="349776" cy="300082"/>
          </a:xfrm>
          <a:prstGeom prst="rect">
            <a:avLst/>
          </a:prstGeom>
        </p:spPr>
        <p:txBody>
          <a:bodyPr wrap="none">
            <a:spAutoFit/>
          </a:bodyPr>
          <a:lstStyle/>
          <a:p>
            <a:pPr defTabSz="685800"/>
            <a:r>
              <a:rPr lang="en-US" sz="1350" dirty="0">
                <a:solidFill>
                  <a:prstClr val="black"/>
                </a:solidFill>
                <a:latin typeface="Calibri" panose="020F0502020204030204"/>
              </a:rPr>
              <a:t>Px</a:t>
            </a:r>
            <a:endParaRPr lang="he-IL" sz="1350" dirty="0">
              <a:solidFill>
                <a:prstClr val="black"/>
              </a:solidFill>
              <a:latin typeface="Calibri" panose="020F0502020204030204"/>
              <a:cs typeface="Arial" panose="020B0604020202020204" pitchFamily="34" charset="0"/>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3610881" y="3654568"/>
            <a:ext cx="275320" cy="300082"/>
          </a:xfrm>
          <a:prstGeom prst="rect">
            <a:avLst/>
          </a:prstGeom>
          <a:noFill/>
        </p:spPr>
        <p:txBody>
          <a:bodyPr wrap="square" rtlCol="1">
            <a:spAutoFit/>
          </a:bodyPr>
          <a:lstStyle/>
          <a:p>
            <a:pPr defTabSz="685800"/>
            <a:r>
              <a:rPr lang="en-US" sz="1350" dirty="0">
                <a:solidFill>
                  <a:prstClr val="black"/>
                </a:solidFill>
                <a:latin typeface="Calibri" panose="020F0502020204030204"/>
              </a:rPr>
              <a:t>X</a:t>
            </a:r>
            <a:endParaRPr lang="he-IL" sz="1350" dirty="0">
              <a:solidFill>
                <a:prstClr val="black"/>
              </a:solidFill>
              <a:latin typeface="Calibri" panose="020F0502020204030204"/>
              <a:cs typeface="Arial" panose="020B0604020202020204" pitchFamily="34" charset="0"/>
            </a:endParaRP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1657351" y="2014012"/>
            <a:ext cx="2023271" cy="15501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3445032" y="3309937"/>
            <a:ext cx="348173" cy="300082"/>
          </a:xfrm>
          <a:prstGeom prst="rect">
            <a:avLst/>
          </a:prstGeom>
          <a:noFill/>
        </p:spPr>
        <p:txBody>
          <a:bodyPr wrap="none" rtlCol="1">
            <a:spAutoFit/>
          </a:bodyPr>
          <a:lstStyle/>
          <a:p>
            <a:pPr defTabSz="685800"/>
            <a:r>
              <a:rPr lang="en-US" sz="1350" dirty="0">
                <a:solidFill>
                  <a:prstClr val="black"/>
                </a:solidFill>
                <a:latin typeface="Calibri" panose="020F0502020204030204"/>
              </a:rPr>
              <a:t>D</a:t>
            </a:r>
            <a:r>
              <a:rPr lang="en-US" sz="1350" baseline="-25000" dirty="0">
                <a:solidFill>
                  <a:prstClr val="black"/>
                </a:solidFill>
                <a:latin typeface="Calibri" panose="020F0502020204030204"/>
              </a:rPr>
              <a:t>0</a:t>
            </a:r>
            <a:endParaRPr lang="he-IL" sz="1350" baseline="-25000" dirty="0">
              <a:solidFill>
                <a:prstClr val="black"/>
              </a:solidFill>
              <a:latin typeface="Calibri" panose="020F0502020204030204"/>
              <a:cs typeface="Arial" panose="020B0604020202020204" pitchFamily="34" charset="0"/>
            </a:endParaRPr>
          </a:p>
        </p:txBody>
      </p:sp>
      <p:sp>
        <p:nvSpPr>
          <p:cNvPr id="26" name="TextBox 25">
            <a:extLst>
              <a:ext uri="{FF2B5EF4-FFF2-40B4-BE49-F238E27FC236}">
                <a16:creationId xmlns:a16="http://schemas.microsoft.com/office/drawing/2014/main" id="{CAF4B609-C3AF-40F7-B498-23D2A6E267C8}"/>
              </a:ext>
            </a:extLst>
          </p:cNvPr>
          <p:cNvSpPr txBox="1"/>
          <p:nvPr/>
        </p:nvSpPr>
        <p:spPr>
          <a:xfrm>
            <a:off x="2564481" y="3600523"/>
            <a:ext cx="598242" cy="253916"/>
          </a:xfrm>
          <a:prstGeom prst="rect">
            <a:avLst/>
          </a:prstGeom>
          <a:noFill/>
        </p:spPr>
        <p:txBody>
          <a:bodyPr wrap="none" rtlCol="1">
            <a:spAutoFit/>
          </a:bodyPr>
          <a:lstStyle/>
          <a:p>
            <a:pPr defTabSz="685800"/>
            <a:r>
              <a:rPr lang="en-US" sz="1050" dirty="0">
                <a:solidFill>
                  <a:prstClr val="black"/>
                </a:solidFill>
                <a:latin typeface="Calibri" panose="020F0502020204030204"/>
              </a:rPr>
              <a:t>X1=100</a:t>
            </a:r>
            <a:endParaRPr lang="he-IL" sz="1050" dirty="0">
              <a:solidFill>
                <a:prstClr val="black"/>
              </a:solidFill>
              <a:latin typeface="Calibri" panose="020F0502020204030204"/>
              <a:cs typeface="Arial" panose="020B0604020202020204" pitchFamily="34" charset="0"/>
            </a:endParaRP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1763809" y="2183854"/>
            <a:ext cx="2020663" cy="13022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3692518" y="2055897"/>
            <a:ext cx="322525" cy="300082"/>
          </a:xfrm>
          <a:prstGeom prst="rect">
            <a:avLst/>
          </a:prstGeom>
          <a:noFill/>
        </p:spPr>
        <p:txBody>
          <a:bodyPr wrap="none" rtlCol="1">
            <a:spAutoFit/>
          </a:bodyPr>
          <a:lstStyle/>
          <a:p>
            <a:pPr defTabSz="685800"/>
            <a:r>
              <a:rPr lang="en-US" sz="1350" dirty="0">
                <a:solidFill>
                  <a:prstClr val="black"/>
                </a:solidFill>
                <a:latin typeface="Calibri" panose="020F0502020204030204"/>
              </a:rPr>
              <a:t>S</a:t>
            </a:r>
            <a:r>
              <a:rPr lang="en-US" sz="1350" baseline="-25000" dirty="0">
                <a:solidFill>
                  <a:prstClr val="black"/>
                </a:solidFill>
                <a:latin typeface="Calibri" panose="020F0502020204030204"/>
              </a:rPr>
              <a:t>0</a:t>
            </a:r>
            <a:endParaRPr lang="he-IL" sz="1350" baseline="-25000" dirty="0">
              <a:solidFill>
                <a:prstClr val="black"/>
              </a:solidFill>
              <a:latin typeface="Calibri" panose="020F0502020204030204"/>
              <a:cs typeface="Arial" panose="020B0604020202020204" pitchFamily="34" charset="0"/>
            </a:endParaRPr>
          </a:p>
        </p:txBody>
      </p:sp>
      <p:cxnSp>
        <p:nvCxnSpPr>
          <p:cNvPr id="32" name="Straight Connector 31">
            <a:extLst>
              <a:ext uri="{FF2B5EF4-FFF2-40B4-BE49-F238E27FC236}">
                <a16:creationId xmlns:a16="http://schemas.microsoft.com/office/drawing/2014/main" id="{526C23A6-52A6-4311-8A5A-C246C96954BB}"/>
              </a:ext>
            </a:extLst>
          </p:cNvPr>
          <p:cNvCxnSpPr>
            <a:cxnSpLocks/>
          </p:cNvCxnSpPr>
          <p:nvPr/>
        </p:nvCxnSpPr>
        <p:spPr>
          <a:xfrm flipH="1">
            <a:off x="1666568" y="2852952"/>
            <a:ext cx="1098588"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p:cNvCxnSpPr>
          <p:nvPr/>
        </p:nvCxnSpPr>
        <p:spPr>
          <a:xfrm>
            <a:off x="2759780" y="2881068"/>
            <a:ext cx="0" cy="73304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384557" y="2712548"/>
                <a:ext cx="210314" cy="230832"/>
              </a:xfrm>
              <a:prstGeom prst="rect">
                <a:avLst/>
              </a:prstGeom>
            </p:spPr>
            <p:txBody>
              <a:bodyPr wrap="none">
                <a:spAutoFit/>
              </a:bodyPr>
              <a:lstStyle/>
              <a:p>
                <a:pPr defTabSz="685800"/>
                <a14:m>
                  <m:oMathPara xmlns:m="http://schemas.openxmlformats.org/officeDocument/2006/math">
                    <m:oMathParaPr>
                      <m:jc m:val="centerGroup"/>
                    </m:oMathParaPr>
                    <m:oMath xmlns:m="http://schemas.openxmlformats.org/officeDocument/2006/math">
                      <m:r>
                        <a:rPr lang="en-US" sz="900" b="1" i="1">
                          <a:solidFill>
                            <a:prstClr val="black"/>
                          </a:solidFill>
                          <a:latin typeface="Cambria Math" panose="02040503050406030204" pitchFamily="18" charset="0"/>
                          <a:cs typeface="David" pitchFamily="34" charset="-79"/>
                        </a:rPr>
                        <m:t>𝑷</m:t>
                      </m:r>
                      <m:r>
                        <a:rPr lang="en-US" sz="900" b="1" i="1">
                          <a:solidFill>
                            <a:prstClr val="black"/>
                          </a:solidFill>
                          <a:latin typeface="Cambria Math" panose="02040503050406030204" pitchFamily="18" charset="0"/>
                          <a:cs typeface="David" pitchFamily="34" charset="-79"/>
                        </a:rPr>
                        <m:t>𝟏</m:t>
                      </m:r>
                      <m:r>
                        <a:rPr lang="en-US" sz="900" b="1" i="1">
                          <a:solidFill>
                            <a:prstClr val="black"/>
                          </a:solidFill>
                          <a:latin typeface="Cambria Math" panose="02040503050406030204" pitchFamily="18" charset="0"/>
                          <a:cs typeface="David" pitchFamily="34" charset="-79"/>
                        </a:rPr>
                        <m:t>=</m:t>
                      </m:r>
                      <m:r>
                        <a:rPr lang="he-IL" sz="900" b="1" i="1">
                          <a:solidFill>
                            <a:prstClr val="black"/>
                          </a:solidFill>
                          <a:latin typeface="Cambria Math" panose="02040503050406030204" pitchFamily="18" charset="0"/>
                          <a:cs typeface="David" pitchFamily="34" charset="-79"/>
                        </a:rPr>
                        <m:t>𝟐𝟎</m:t>
                      </m:r>
                    </m:oMath>
                  </m:oMathPara>
                </a14:m>
                <a:endParaRPr lang="en-IL" sz="900" dirty="0">
                  <a:solidFill>
                    <a:prstClr val="black"/>
                  </a:solidFill>
                  <a:latin typeface="Calibri" panose="020F0502020204030204"/>
                </a:endParaRPr>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384557" y="2712548"/>
                <a:ext cx="210314" cy="230832"/>
              </a:xfrm>
              <a:prstGeom prst="rect">
                <a:avLst/>
              </a:prstGeom>
              <a:blipFill>
                <a:blip r:embed="rId2"/>
                <a:stretch>
                  <a:fillRect r="-162857"/>
                </a:stretch>
              </a:blipFill>
            </p:spPr>
            <p:txBody>
              <a:bodyPr/>
              <a:lstStyle/>
              <a:p>
                <a:r>
                  <a:rPr lang="en-IL">
                    <a:noFill/>
                  </a:rPr>
                  <a:t> </a:t>
                </a:r>
              </a:p>
            </p:txBody>
          </p:sp>
        </mc:Fallback>
      </mc:AlternateContent>
      <p:sp>
        <p:nvSpPr>
          <p:cNvPr id="67" name="Slide Number Placeholder 66">
            <a:extLst>
              <a:ext uri="{FF2B5EF4-FFF2-40B4-BE49-F238E27FC236}">
                <a16:creationId xmlns:a16="http://schemas.microsoft.com/office/drawing/2014/main" id="{D35F540A-7C1A-4524-9B8F-8C4EFF5AA37B}"/>
              </a:ext>
            </a:extLst>
          </p:cNvPr>
          <p:cNvSpPr>
            <a:spLocks noGrp="1"/>
          </p:cNvSpPr>
          <p:nvPr>
            <p:ph type="sldNum" sz="quarter" idx="12"/>
          </p:nvPr>
        </p:nvSpPr>
        <p:spPr/>
        <p:txBody>
          <a:bodyPr/>
          <a:lstStyle/>
          <a:p>
            <a:pPr defTabSz="685800"/>
            <a:fld id="{EE4A799E-BCDC-47C4-95D4-74FB8914F55A}" type="slidenum">
              <a:rPr lang="en-US">
                <a:solidFill>
                  <a:prstClr val="black">
                    <a:tint val="75000"/>
                  </a:prstClr>
                </a:solidFill>
                <a:latin typeface="Calibri" panose="020F0502020204030204"/>
              </a:rPr>
              <a:pPr defTabSz="685800"/>
              <a:t>11</a:t>
            </a:fld>
            <a:endParaRPr lang="en-US">
              <a:solidFill>
                <a:prstClr val="black">
                  <a:tint val="75000"/>
                </a:prstClr>
              </a:solidFill>
              <a:latin typeface="Calibri" panose="020F0502020204030204"/>
            </a:endParaRPr>
          </a:p>
        </p:txBody>
      </p:sp>
      <p:sp>
        <p:nvSpPr>
          <p:cNvPr id="36" name="Rectangle 35">
            <a:extLst>
              <a:ext uri="{FF2B5EF4-FFF2-40B4-BE49-F238E27FC236}">
                <a16:creationId xmlns:a16="http://schemas.microsoft.com/office/drawing/2014/main" id="{11705E92-817A-47E8-B611-634B6F0B4F79}"/>
              </a:ext>
            </a:extLst>
          </p:cNvPr>
          <p:cNvSpPr/>
          <p:nvPr/>
        </p:nvSpPr>
        <p:spPr>
          <a:xfrm>
            <a:off x="5157080" y="777577"/>
            <a:ext cx="3716759" cy="5505803"/>
          </a:xfrm>
          <a:prstGeom prst="rect">
            <a:avLst/>
          </a:prstGeom>
        </p:spPr>
        <p:txBody>
          <a:bodyPr wrap="square">
            <a:spAutoFit/>
          </a:bodyPr>
          <a:lstStyle/>
          <a:p>
            <a:pPr defTabSz="685800">
              <a:lnSpc>
                <a:spcPct val="150000"/>
              </a:lnSpc>
            </a:pPr>
            <a:r>
              <a:rPr lang="he-IL" sz="1400" dirty="0">
                <a:solidFill>
                  <a:prstClr val="black"/>
                </a:solidFill>
                <a:latin typeface="Calibri" panose="020F0502020204030204"/>
                <a:cs typeface="Arial" panose="020B0604020202020204" pitchFamily="34" charset="0"/>
              </a:rPr>
              <a:t>מחיר שיווי משקל בשוק האורז בתחילת השנה היה 20 ש''ח וכמות שיווי משקל היתה 100 יח'.</a:t>
            </a:r>
            <a:endParaRPr lang="en-IL" sz="1400" dirty="0">
              <a:solidFill>
                <a:prstClr val="black"/>
              </a:solidFill>
              <a:latin typeface="Calibri" panose="020F0502020204030204"/>
            </a:endParaRPr>
          </a:p>
          <a:p>
            <a:pPr defTabSz="685800">
              <a:lnSpc>
                <a:spcPct val="150000"/>
              </a:lnSpc>
            </a:pPr>
            <a:r>
              <a:rPr lang="he-IL" sz="1400" dirty="0">
                <a:solidFill>
                  <a:prstClr val="black"/>
                </a:solidFill>
                <a:latin typeface="Calibri" panose="020F0502020204030204"/>
                <a:cs typeface="Arial" panose="020B0604020202020204" pitchFamily="34" charset="0"/>
              </a:rPr>
              <a:t>במשק קרו השנה הדברים הבאים:</a:t>
            </a:r>
            <a:endParaRPr lang="en-IL" sz="1400" dirty="0">
              <a:solidFill>
                <a:prstClr val="black"/>
              </a:solidFill>
              <a:latin typeface="Calibri" panose="020F0502020204030204"/>
            </a:endParaRPr>
          </a:p>
          <a:p>
            <a:pPr marL="342900" lvl="1" defTabSz="685800">
              <a:lnSpc>
                <a:spcPct val="150000"/>
              </a:lnSpc>
            </a:pPr>
            <a:r>
              <a:rPr lang="he-IL" sz="1400" dirty="0">
                <a:solidFill>
                  <a:prstClr val="black"/>
                </a:solidFill>
                <a:latin typeface="Calibri" panose="020F0502020204030204"/>
                <a:cs typeface="Arial" panose="020B0604020202020204" pitchFamily="34" charset="0"/>
              </a:rPr>
              <a:t>1. </a:t>
            </a:r>
            <a:r>
              <a:rPr lang="he-IL" sz="1400" dirty="0">
                <a:solidFill>
                  <a:srgbClr val="C00000"/>
                </a:solidFill>
                <a:latin typeface="Calibri" panose="020F0502020204030204"/>
                <a:cs typeface="Arial" panose="020B0604020202020204" pitchFamily="34" charset="0"/>
              </a:rPr>
              <a:t>עלה מחיר המים שמשמשים כגורם ייצור בייצור האורז</a:t>
            </a:r>
            <a:endParaRPr lang="en-IL" sz="1400" dirty="0">
              <a:solidFill>
                <a:srgbClr val="C00000"/>
              </a:solidFill>
              <a:latin typeface="Calibri" panose="020F0502020204030204"/>
            </a:endParaRPr>
          </a:p>
          <a:p>
            <a:pPr marL="342900" lvl="1" defTabSz="685800">
              <a:lnSpc>
                <a:spcPct val="150000"/>
              </a:lnSpc>
            </a:pPr>
            <a:r>
              <a:rPr lang="he-IL" sz="1400" dirty="0">
                <a:solidFill>
                  <a:prstClr val="black"/>
                </a:solidFill>
                <a:latin typeface="Calibri" panose="020F0502020204030204"/>
                <a:cs typeface="Arial" panose="020B0604020202020204" pitchFamily="34" charset="0"/>
              </a:rPr>
              <a:t>2</a:t>
            </a:r>
            <a:r>
              <a:rPr lang="he-IL" sz="1400" dirty="0">
                <a:solidFill>
                  <a:srgbClr val="C00000"/>
                </a:solidFill>
                <a:latin typeface="Calibri" panose="020F0502020204030204"/>
                <a:cs typeface="Arial" panose="020B0604020202020204" pitchFamily="34" charset="0"/>
              </a:rPr>
              <a:t>. </a:t>
            </a:r>
            <a:r>
              <a:rPr lang="he-IL" sz="1400" dirty="0">
                <a:solidFill>
                  <a:srgbClr val="5B9BD5"/>
                </a:solidFill>
                <a:latin typeface="Calibri" panose="020F0502020204030204"/>
                <a:cs typeface="Arial" panose="020B0604020202020204" pitchFamily="34" charset="0"/>
              </a:rPr>
              <a:t>הכנסות המשפחות במשק גדלו וידוע כי אורז הינו מוצר נחות עבור הצרכנים</a:t>
            </a:r>
            <a:endParaRPr lang="en-IL" sz="1400" dirty="0">
              <a:solidFill>
                <a:srgbClr val="5B9BD5"/>
              </a:solidFill>
              <a:latin typeface="Calibri" panose="020F0502020204030204"/>
            </a:endParaRPr>
          </a:p>
          <a:p>
            <a:pPr defTabSz="685800">
              <a:lnSpc>
                <a:spcPct val="150000"/>
              </a:lnSpc>
            </a:pPr>
            <a:r>
              <a:rPr lang="he-IL" sz="1400" dirty="0">
                <a:solidFill>
                  <a:prstClr val="black"/>
                </a:solidFill>
                <a:latin typeface="Calibri" panose="020F0502020204030204"/>
                <a:cs typeface="Arial" panose="020B0604020202020204" pitchFamily="34" charset="0"/>
              </a:rPr>
              <a:t>מכאן ש:</a:t>
            </a:r>
          </a:p>
          <a:p>
            <a:pPr defTabSz="685800">
              <a:lnSpc>
                <a:spcPct val="150000"/>
              </a:lnSpc>
            </a:pPr>
            <a:endParaRPr lang="en-IL" sz="1400" dirty="0">
              <a:solidFill>
                <a:prstClr val="black"/>
              </a:solidFill>
              <a:latin typeface="Calibri" panose="020F0502020204030204"/>
            </a:endParaRPr>
          </a:p>
          <a:p>
            <a:pPr defTabSz="685800">
              <a:lnSpc>
                <a:spcPct val="150000"/>
              </a:lnSpc>
            </a:pPr>
            <a:r>
              <a:rPr lang="he-IL" sz="1400" i="1" dirty="0">
                <a:solidFill>
                  <a:prstClr val="black"/>
                </a:solidFill>
                <a:latin typeface="Calibri" panose="020F0502020204030204"/>
                <a:cs typeface="Arial" panose="020B0604020202020204" pitchFamily="34" charset="0"/>
              </a:rPr>
              <a:t>א. ייתכן שהכמות של האורז לא תשתנה</a:t>
            </a:r>
            <a:endParaRPr lang="en-IL" sz="1400" i="1" dirty="0">
              <a:solidFill>
                <a:prstClr val="black"/>
              </a:solidFill>
              <a:latin typeface="Calibri" panose="020F0502020204030204"/>
            </a:endParaRPr>
          </a:p>
          <a:p>
            <a:pPr defTabSz="685800">
              <a:lnSpc>
                <a:spcPct val="150000"/>
              </a:lnSpc>
            </a:pPr>
            <a:r>
              <a:rPr lang="he-IL" sz="1400" i="1" dirty="0">
                <a:solidFill>
                  <a:prstClr val="black"/>
                </a:solidFill>
                <a:latin typeface="Calibri" panose="020F0502020204030204"/>
                <a:cs typeface="Arial" panose="020B0604020202020204" pitchFamily="34" charset="0"/>
              </a:rPr>
              <a:t>ב. מחיר האורז יעלה בוודאות</a:t>
            </a:r>
            <a:endParaRPr lang="en-IL" sz="1400" i="1" dirty="0">
              <a:solidFill>
                <a:prstClr val="black"/>
              </a:solidFill>
              <a:latin typeface="Calibri" panose="020F0502020204030204"/>
            </a:endParaRPr>
          </a:p>
          <a:p>
            <a:pPr defTabSz="685800">
              <a:lnSpc>
                <a:spcPct val="150000"/>
              </a:lnSpc>
            </a:pPr>
            <a:r>
              <a:rPr lang="he-IL" sz="1400" i="1" dirty="0">
                <a:solidFill>
                  <a:prstClr val="black"/>
                </a:solidFill>
                <a:latin typeface="Calibri" panose="020F0502020204030204"/>
                <a:cs typeface="Arial" panose="020B0604020202020204" pitchFamily="34" charset="0"/>
              </a:rPr>
              <a:t>ג. כמות האורז תקטן, אך אין אפשרות לדעת בוודאות האם מחיר האורז יעלה, ירד או ישאר ללא שינוי. </a:t>
            </a:r>
            <a:endParaRPr lang="en-IL" sz="1400" i="1" dirty="0">
              <a:solidFill>
                <a:prstClr val="black"/>
              </a:solidFill>
              <a:latin typeface="Calibri" panose="020F0502020204030204"/>
            </a:endParaRPr>
          </a:p>
          <a:p>
            <a:pPr defTabSz="685800">
              <a:lnSpc>
                <a:spcPct val="150000"/>
              </a:lnSpc>
            </a:pPr>
            <a:r>
              <a:rPr lang="he-IL" sz="1400" i="1" dirty="0">
                <a:solidFill>
                  <a:prstClr val="black"/>
                </a:solidFill>
                <a:latin typeface="Calibri" panose="020F0502020204030204"/>
                <a:cs typeface="Arial" panose="020B0604020202020204" pitchFamily="34" charset="0"/>
              </a:rPr>
              <a:t>ד. בהכרח יהיה שינוי במחיר האורז. </a:t>
            </a:r>
            <a:endParaRPr lang="en-IL" sz="1400" i="1" dirty="0">
              <a:solidFill>
                <a:prstClr val="black"/>
              </a:solidFill>
              <a:latin typeface="Calibri" panose="020F0502020204030204"/>
            </a:endParaRPr>
          </a:p>
          <a:p>
            <a:pPr defTabSz="685800">
              <a:lnSpc>
                <a:spcPct val="150000"/>
              </a:lnSpc>
            </a:pPr>
            <a:r>
              <a:rPr lang="he-IL" sz="1400" i="1" dirty="0">
                <a:solidFill>
                  <a:prstClr val="black"/>
                </a:solidFill>
                <a:latin typeface="Calibri" panose="020F0502020204030204"/>
                <a:cs typeface="Arial" panose="020B0604020202020204" pitchFamily="34" charset="0"/>
              </a:rPr>
              <a:t>ה. כל התשובות האחרות אינן נכונות </a:t>
            </a:r>
            <a:endParaRPr lang="en-IL" sz="1400" i="1" dirty="0">
              <a:solidFill>
                <a:prstClr val="black"/>
              </a:solidFill>
              <a:latin typeface="Calibri" panose="020F0502020204030204"/>
            </a:endParaRPr>
          </a:p>
          <a:p>
            <a:pPr marL="257175" indent="-257175" defTabSz="685800">
              <a:lnSpc>
                <a:spcPct val="150000"/>
              </a:lnSpc>
              <a:buFontTx/>
              <a:buAutoNum type="arabicPeriod"/>
            </a:pPr>
            <a:endParaRPr lang="he-IL" sz="1200" dirty="0">
              <a:solidFill>
                <a:prstClr val="black"/>
              </a:solidFill>
              <a:latin typeface="David" pitchFamily="34" charset="-79"/>
              <a:cs typeface="Arial" panose="020B0604020202020204" pitchFamily="34" charset="0"/>
            </a:endParaRPr>
          </a:p>
        </p:txBody>
      </p:sp>
      <p:sp>
        <p:nvSpPr>
          <p:cNvPr id="58" name="Oval 57">
            <a:extLst>
              <a:ext uri="{FF2B5EF4-FFF2-40B4-BE49-F238E27FC236}">
                <a16:creationId xmlns:a16="http://schemas.microsoft.com/office/drawing/2014/main" id="{9197B85C-4AA9-4E39-B64C-0C17261F0A3D}"/>
              </a:ext>
            </a:extLst>
          </p:cNvPr>
          <p:cNvSpPr/>
          <p:nvPr/>
        </p:nvSpPr>
        <p:spPr>
          <a:xfrm>
            <a:off x="2697007" y="2777207"/>
            <a:ext cx="175888" cy="15775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1350" dirty="0">
                <a:solidFill>
                  <a:prstClr val="white"/>
                </a:solidFill>
                <a:latin typeface="Calibri" panose="020F0502020204030204"/>
              </a:rPr>
              <a:t>A</a:t>
            </a:r>
            <a:endParaRPr lang="en-IL" sz="1350" dirty="0">
              <a:solidFill>
                <a:prstClr val="white"/>
              </a:solidFill>
              <a:latin typeface="Calibri" panose="020F0502020204030204"/>
            </a:endParaRPr>
          </a:p>
        </p:txBody>
      </p:sp>
      <p:cxnSp>
        <p:nvCxnSpPr>
          <p:cNvPr id="19" name="מחבר ישר 15">
            <a:extLst>
              <a:ext uri="{FF2B5EF4-FFF2-40B4-BE49-F238E27FC236}">
                <a16:creationId xmlns:a16="http://schemas.microsoft.com/office/drawing/2014/main" id="{87F76BAC-94E7-47CE-942D-313606BF6A8E}"/>
              </a:ext>
            </a:extLst>
          </p:cNvPr>
          <p:cNvCxnSpPr>
            <a:cxnSpLocks/>
          </p:cNvCxnSpPr>
          <p:nvPr/>
        </p:nvCxnSpPr>
        <p:spPr>
          <a:xfrm flipV="1">
            <a:off x="1722963" y="1895512"/>
            <a:ext cx="1957660" cy="130269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C9DB6BC-52B3-4CA2-BE4B-F49FBCD5957D}"/>
              </a:ext>
            </a:extLst>
          </p:cNvPr>
          <p:cNvSpPr txBox="1"/>
          <p:nvPr/>
        </p:nvSpPr>
        <p:spPr>
          <a:xfrm>
            <a:off x="3318474" y="1677315"/>
            <a:ext cx="322525" cy="300082"/>
          </a:xfrm>
          <a:prstGeom prst="rect">
            <a:avLst/>
          </a:prstGeom>
          <a:noFill/>
          <a:ln>
            <a:noFill/>
          </a:ln>
        </p:spPr>
        <p:txBody>
          <a:bodyPr wrap="none" rtlCol="1">
            <a:spAutoFit/>
          </a:bodyPr>
          <a:lstStyle/>
          <a:p>
            <a:pPr defTabSz="685800"/>
            <a:r>
              <a:rPr lang="en-US" sz="1350" dirty="0">
                <a:solidFill>
                  <a:srgbClr val="C00000"/>
                </a:solidFill>
                <a:latin typeface="Calibri" panose="020F0502020204030204"/>
              </a:rPr>
              <a:t>S</a:t>
            </a:r>
            <a:r>
              <a:rPr lang="en-US" sz="1350" baseline="-25000" dirty="0">
                <a:solidFill>
                  <a:srgbClr val="C00000"/>
                </a:solidFill>
                <a:latin typeface="Calibri" panose="020F0502020204030204"/>
              </a:rPr>
              <a:t>1</a:t>
            </a:r>
            <a:endParaRPr lang="he-IL" sz="1350" baseline="-25000" dirty="0">
              <a:solidFill>
                <a:srgbClr val="C00000"/>
              </a:solidFill>
              <a:latin typeface="Calibri" panose="020F0502020204030204"/>
              <a:cs typeface="Arial" panose="020B0604020202020204" pitchFamily="34" charset="0"/>
            </a:endParaRPr>
          </a:p>
        </p:txBody>
      </p:sp>
      <p:cxnSp>
        <p:nvCxnSpPr>
          <p:cNvPr id="23" name="Straight Arrow Connector 22">
            <a:extLst>
              <a:ext uri="{FF2B5EF4-FFF2-40B4-BE49-F238E27FC236}">
                <a16:creationId xmlns:a16="http://schemas.microsoft.com/office/drawing/2014/main" id="{6A4148B7-C904-466D-A08A-E77EF22E3B49}"/>
              </a:ext>
            </a:extLst>
          </p:cNvPr>
          <p:cNvCxnSpPr>
            <a:cxnSpLocks/>
          </p:cNvCxnSpPr>
          <p:nvPr/>
        </p:nvCxnSpPr>
        <p:spPr>
          <a:xfrm flipH="1" flipV="1">
            <a:off x="1897717" y="3059291"/>
            <a:ext cx="223953" cy="1607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2D85167-F66B-4AA2-8C71-DB29756371C3}"/>
              </a:ext>
            </a:extLst>
          </p:cNvPr>
          <p:cNvCxnSpPr>
            <a:cxnSpLocks/>
          </p:cNvCxnSpPr>
          <p:nvPr/>
        </p:nvCxnSpPr>
        <p:spPr>
          <a:xfrm flipH="1" flipV="1">
            <a:off x="3364240" y="2141062"/>
            <a:ext cx="165689" cy="1387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AE54651-CDE5-42A3-9A45-AA0FA4562415}"/>
              </a:ext>
            </a:extLst>
          </p:cNvPr>
          <p:cNvSpPr/>
          <p:nvPr/>
        </p:nvSpPr>
        <p:spPr>
          <a:xfrm>
            <a:off x="2438785" y="2577401"/>
            <a:ext cx="167996" cy="1678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a:solidFill>
                  <a:prstClr val="white"/>
                </a:solidFill>
                <a:latin typeface="Calibri" panose="020F0502020204030204"/>
              </a:rPr>
              <a:t>B</a:t>
            </a:r>
            <a:endParaRPr lang="en-IL" sz="1350" dirty="0">
              <a:solidFill>
                <a:prstClr val="white"/>
              </a:solidFill>
              <a:latin typeface="Calibri" panose="020F0502020204030204"/>
            </a:endParaRPr>
          </a:p>
        </p:txBody>
      </p:sp>
      <p:cxnSp>
        <p:nvCxnSpPr>
          <p:cNvPr id="29" name="Straight Connector 28">
            <a:extLst>
              <a:ext uri="{FF2B5EF4-FFF2-40B4-BE49-F238E27FC236}">
                <a16:creationId xmlns:a16="http://schemas.microsoft.com/office/drawing/2014/main" id="{94D711F3-7897-424C-AF98-9EFFAF819961}"/>
              </a:ext>
            </a:extLst>
          </p:cNvPr>
          <p:cNvCxnSpPr>
            <a:cxnSpLocks/>
          </p:cNvCxnSpPr>
          <p:nvPr/>
        </p:nvCxnSpPr>
        <p:spPr>
          <a:xfrm flipH="1">
            <a:off x="1687531" y="2642666"/>
            <a:ext cx="770418"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5638DF55-C306-41EF-BCF9-FE1546E6FCD6}"/>
              </a:ext>
            </a:extLst>
          </p:cNvPr>
          <p:cNvCxnSpPr>
            <a:cxnSpLocks/>
          </p:cNvCxnSpPr>
          <p:nvPr/>
        </p:nvCxnSpPr>
        <p:spPr>
          <a:xfrm flipH="1">
            <a:off x="2493777" y="2715158"/>
            <a:ext cx="13979" cy="90907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79095AEE-EE7C-426C-B4CB-00FCC11B049F}"/>
              </a:ext>
            </a:extLst>
          </p:cNvPr>
          <p:cNvSpPr/>
          <p:nvPr/>
        </p:nvSpPr>
        <p:spPr>
          <a:xfrm>
            <a:off x="2338442" y="3588924"/>
            <a:ext cx="308098" cy="253916"/>
          </a:xfrm>
          <a:prstGeom prst="rect">
            <a:avLst/>
          </a:prstGeom>
        </p:spPr>
        <p:txBody>
          <a:bodyPr wrap="none">
            <a:spAutoFit/>
          </a:bodyPr>
          <a:lstStyle/>
          <a:p>
            <a:pPr defTabSz="685800"/>
            <a:r>
              <a:rPr lang="en-US" sz="1050" dirty="0">
                <a:solidFill>
                  <a:prstClr val="black"/>
                </a:solidFill>
                <a:latin typeface="Calibri" panose="020F0502020204030204"/>
              </a:rPr>
              <a:t>X</a:t>
            </a:r>
            <a:r>
              <a:rPr lang="en-US" sz="825" dirty="0">
                <a:solidFill>
                  <a:prstClr val="black"/>
                </a:solidFill>
                <a:latin typeface="Calibri" panose="020F0502020204030204"/>
              </a:rPr>
              <a:t>2</a:t>
            </a:r>
            <a:endParaRPr lang="he-IL" sz="1050" dirty="0">
              <a:solidFill>
                <a:prstClr val="black"/>
              </a:solidFill>
              <a:latin typeface="Calibri" panose="020F0502020204030204"/>
              <a:cs typeface="Arial" panose="020B0604020202020204" pitchFamily="34" charset="0"/>
            </a:endParaRP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3F6E758-EC65-47B3-B90E-22810FCD2340}"/>
                  </a:ext>
                </a:extLst>
              </p:cNvPr>
              <p:cNvSpPr/>
              <p:nvPr/>
            </p:nvSpPr>
            <p:spPr>
              <a:xfrm>
                <a:off x="1578928" y="2509049"/>
                <a:ext cx="210314" cy="230832"/>
              </a:xfrm>
              <a:prstGeom prst="rect">
                <a:avLst/>
              </a:prstGeom>
            </p:spPr>
            <p:txBody>
              <a:bodyPr wrap="none">
                <a:spAutoFit/>
              </a:bodyPr>
              <a:lstStyle/>
              <a:p>
                <a:pPr defTabSz="685800"/>
                <a14:m>
                  <m:oMathPara xmlns:m="http://schemas.openxmlformats.org/officeDocument/2006/math">
                    <m:oMathParaPr>
                      <m:jc m:val="centerGroup"/>
                    </m:oMathParaPr>
                    <m:oMath xmlns:m="http://schemas.openxmlformats.org/officeDocument/2006/math">
                      <m:r>
                        <a:rPr lang="en-US" sz="900" b="1" i="1">
                          <a:solidFill>
                            <a:prstClr val="black"/>
                          </a:solidFill>
                          <a:latin typeface="Cambria Math" panose="02040503050406030204" pitchFamily="18" charset="0"/>
                          <a:cs typeface="David" pitchFamily="34" charset="-79"/>
                        </a:rPr>
                        <m:t>𝑷</m:t>
                      </m:r>
                      <m:r>
                        <a:rPr lang="en-US" sz="900" b="1" i="1">
                          <a:solidFill>
                            <a:prstClr val="black"/>
                          </a:solidFill>
                          <a:latin typeface="Cambria Math" panose="02040503050406030204" pitchFamily="18" charset="0"/>
                          <a:cs typeface="David" pitchFamily="34" charset="-79"/>
                        </a:rPr>
                        <m:t>𝟐</m:t>
                      </m:r>
                    </m:oMath>
                  </m:oMathPara>
                </a14:m>
                <a:endParaRPr lang="en-IL" sz="900" dirty="0">
                  <a:solidFill>
                    <a:prstClr val="black"/>
                  </a:solidFill>
                  <a:latin typeface="Calibri" panose="020F0502020204030204"/>
                </a:endParaRPr>
              </a:p>
            </p:txBody>
          </p:sp>
        </mc:Choice>
        <mc:Fallback xmlns="">
          <p:sp>
            <p:nvSpPr>
              <p:cNvPr id="35" name="Rectangle 34">
                <a:extLst>
                  <a:ext uri="{FF2B5EF4-FFF2-40B4-BE49-F238E27FC236}">
                    <a16:creationId xmlns:a16="http://schemas.microsoft.com/office/drawing/2014/main" id="{A3F6E758-EC65-47B3-B90E-22810FCD2340}"/>
                  </a:ext>
                </a:extLst>
              </p:cNvPr>
              <p:cNvSpPr>
                <a:spLocks noRot="1" noChangeAspect="1" noMove="1" noResize="1" noEditPoints="1" noAdjustHandles="1" noChangeArrowheads="1" noChangeShapeType="1" noTextEdit="1"/>
              </p:cNvSpPr>
              <p:nvPr/>
            </p:nvSpPr>
            <p:spPr>
              <a:xfrm>
                <a:off x="1578928" y="2509049"/>
                <a:ext cx="210314" cy="230832"/>
              </a:xfrm>
              <a:prstGeom prst="rect">
                <a:avLst/>
              </a:prstGeom>
              <a:blipFill>
                <a:blip r:embed="rId3"/>
                <a:stretch>
                  <a:fillRect r="-31429"/>
                </a:stretch>
              </a:blipFill>
            </p:spPr>
            <p:txBody>
              <a:bodyPr/>
              <a:lstStyle/>
              <a:p>
                <a:r>
                  <a:rPr lang="en-IL">
                    <a:noFill/>
                  </a:rPr>
                  <a:t> </a:t>
                </a:r>
              </a:p>
            </p:txBody>
          </p:sp>
        </mc:Fallback>
      </mc:AlternateContent>
      <p:sp>
        <p:nvSpPr>
          <p:cNvPr id="6" name="TextBox 5">
            <a:extLst>
              <a:ext uri="{FF2B5EF4-FFF2-40B4-BE49-F238E27FC236}">
                <a16:creationId xmlns:a16="http://schemas.microsoft.com/office/drawing/2014/main" id="{CCA47B54-A372-4887-918B-AB5C94EE6F2B}"/>
              </a:ext>
            </a:extLst>
          </p:cNvPr>
          <p:cNvSpPr txBox="1"/>
          <p:nvPr/>
        </p:nvSpPr>
        <p:spPr>
          <a:xfrm>
            <a:off x="328811" y="4028268"/>
            <a:ext cx="4471339" cy="307777"/>
          </a:xfrm>
          <a:prstGeom prst="rect">
            <a:avLst/>
          </a:prstGeom>
          <a:solidFill>
            <a:schemeClr val="accent1">
              <a:lumMod val="20000"/>
              <a:lumOff val="80000"/>
            </a:schemeClr>
          </a:solidFill>
        </p:spPr>
        <p:txBody>
          <a:bodyPr wrap="square" rtlCol="0">
            <a:spAutoFit/>
          </a:bodyPr>
          <a:lstStyle/>
          <a:p>
            <a:pPr algn="ctr" defTabSz="685800"/>
            <a:r>
              <a:rPr lang="he-IL" sz="1400" dirty="0">
                <a:solidFill>
                  <a:prstClr val="black"/>
                </a:solidFill>
                <a:latin typeface="Calibri" panose="020F0502020204030204"/>
                <a:cs typeface="Arial" panose="020B0604020202020204" pitchFamily="34" charset="0"/>
              </a:rPr>
              <a:t>כיצד עלייה בהכנסות הצרכנים משפיעה על עקומת הביקוש?</a:t>
            </a:r>
            <a:endParaRPr lang="en-IL" sz="1400" dirty="0">
              <a:solidFill>
                <a:prstClr val="black"/>
              </a:solidFill>
              <a:latin typeface="Calibri" panose="020F0502020204030204"/>
            </a:endParaRPr>
          </a:p>
        </p:txBody>
      </p:sp>
      <p:sp>
        <p:nvSpPr>
          <p:cNvPr id="38" name="TextBox 37">
            <a:extLst>
              <a:ext uri="{FF2B5EF4-FFF2-40B4-BE49-F238E27FC236}">
                <a16:creationId xmlns:a16="http://schemas.microsoft.com/office/drawing/2014/main" id="{6C9C1AA2-9DB1-47F3-8D1B-CB24095E5805}"/>
              </a:ext>
            </a:extLst>
          </p:cNvPr>
          <p:cNvSpPr txBox="1"/>
          <p:nvPr/>
        </p:nvSpPr>
        <p:spPr>
          <a:xfrm>
            <a:off x="964778" y="4567205"/>
            <a:ext cx="3590004" cy="738664"/>
          </a:xfrm>
          <a:prstGeom prst="rect">
            <a:avLst/>
          </a:prstGeom>
          <a:solidFill>
            <a:schemeClr val="accent4">
              <a:lumMod val="20000"/>
              <a:lumOff val="80000"/>
            </a:schemeClr>
          </a:solidFill>
        </p:spPr>
        <p:txBody>
          <a:bodyPr wrap="square" rtlCol="0">
            <a:spAutoFit/>
          </a:bodyPr>
          <a:lstStyle/>
          <a:p>
            <a:pPr defTabSz="685800"/>
            <a:r>
              <a:rPr lang="he-IL" sz="1400" dirty="0">
                <a:solidFill>
                  <a:prstClr val="black"/>
                </a:solidFill>
                <a:latin typeface="Calibri" panose="020F0502020204030204"/>
                <a:cs typeface="Arial" panose="020B0604020202020204" pitchFamily="34" charset="0"/>
              </a:rPr>
              <a:t>- אם מוצר אורז הינו </a:t>
            </a:r>
            <a:r>
              <a:rPr lang="he-IL" sz="1400" b="1" dirty="0">
                <a:solidFill>
                  <a:prstClr val="black"/>
                </a:solidFill>
                <a:latin typeface="Calibri" panose="020F0502020204030204"/>
                <a:cs typeface="Arial" panose="020B0604020202020204" pitchFamily="34" charset="0"/>
              </a:rPr>
              <a:t>מוצר נחות</a:t>
            </a:r>
            <a:r>
              <a:rPr lang="he-IL" sz="1400" dirty="0">
                <a:solidFill>
                  <a:prstClr val="black"/>
                </a:solidFill>
                <a:latin typeface="Calibri" panose="020F0502020204030204"/>
                <a:cs typeface="Arial" panose="020B0604020202020204" pitchFamily="34" charset="0"/>
              </a:rPr>
              <a:t>, אזי </a:t>
            </a:r>
            <a:r>
              <a:rPr lang="he-IL" sz="1400" b="1" dirty="0">
                <a:solidFill>
                  <a:prstClr val="black"/>
                </a:solidFill>
                <a:latin typeface="Calibri" panose="020F0502020204030204"/>
                <a:cs typeface="Arial" panose="020B0604020202020204" pitchFamily="34" charset="0"/>
              </a:rPr>
              <a:t>עקומת הביקוש תצטמצם </a:t>
            </a:r>
            <a:r>
              <a:rPr lang="he-IL" sz="1400" dirty="0">
                <a:solidFill>
                  <a:prstClr val="black"/>
                </a:solidFill>
                <a:latin typeface="Calibri" panose="020F0502020204030204"/>
                <a:cs typeface="Arial" panose="020B0604020202020204" pitchFamily="34" charset="0"/>
              </a:rPr>
              <a:t>ונקודה </a:t>
            </a:r>
            <a:r>
              <a:rPr lang="en-US" sz="1400" dirty="0">
                <a:solidFill>
                  <a:prstClr val="black"/>
                </a:solidFill>
                <a:latin typeface="Calibri" panose="020F0502020204030204"/>
              </a:rPr>
              <a:t>C</a:t>
            </a:r>
            <a:r>
              <a:rPr lang="he-IL" sz="1400" dirty="0">
                <a:solidFill>
                  <a:prstClr val="black"/>
                </a:solidFill>
                <a:latin typeface="Calibri" panose="020F0502020204030204"/>
                <a:cs typeface="Arial" panose="020B0604020202020204" pitchFamily="34" charset="0"/>
              </a:rPr>
              <a:t> תהיה נקודת שיווי</a:t>
            </a:r>
            <a:r>
              <a:rPr lang="en-US" sz="1400" dirty="0">
                <a:solidFill>
                  <a:prstClr val="black"/>
                </a:solidFill>
                <a:latin typeface="Calibri" panose="020F0502020204030204"/>
              </a:rPr>
              <a:t> </a:t>
            </a:r>
            <a:r>
              <a:rPr lang="he-IL" sz="1400" dirty="0">
                <a:solidFill>
                  <a:prstClr val="black"/>
                </a:solidFill>
                <a:latin typeface="Calibri" panose="020F0502020204030204"/>
                <a:cs typeface="Arial" panose="020B0604020202020204" pitchFamily="34" charset="0"/>
              </a:rPr>
              <a:t>המשקל החדשה כלומר </a:t>
            </a:r>
            <a:r>
              <a:rPr lang="en-US" sz="1400" dirty="0">
                <a:solidFill>
                  <a:prstClr val="black"/>
                </a:solidFill>
                <a:latin typeface="Calibri" panose="020F0502020204030204"/>
              </a:rPr>
              <a:t>P3</a:t>
            </a:r>
            <a:r>
              <a:rPr lang="he-IL" sz="1400" dirty="0">
                <a:solidFill>
                  <a:prstClr val="black"/>
                </a:solidFill>
                <a:latin typeface="Calibri" panose="020F0502020204030204"/>
                <a:cs typeface="Arial" panose="020B0604020202020204" pitchFamily="34" charset="0"/>
              </a:rPr>
              <a:t> או </a:t>
            </a:r>
            <a:r>
              <a:rPr lang="en-US" sz="1400" dirty="0">
                <a:solidFill>
                  <a:prstClr val="black"/>
                </a:solidFill>
                <a:latin typeface="Calibri" panose="020F0502020204030204"/>
              </a:rPr>
              <a:t>P3’</a:t>
            </a:r>
            <a:r>
              <a:rPr lang="he-IL" sz="1400" dirty="0">
                <a:solidFill>
                  <a:prstClr val="black"/>
                </a:solidFill>
                <a:latin typeface="Calibri" panose="020F0502020204030204"/>
                <a:cs typeface="Arial" panose="020B0604020202020204" pitchFamily="34" charset="0"/>
              </a:rPr>
              <a:t> ש''ח. </a:t>
            </a:r>
            <a:endParaRPr lang="en-IL" sz="1400" dirty="0">
              <a:solidFill>
                <a:prstClr val="black"/>
              </a:solidFill>
              <a:latin typeface="Calibri" panose="020F0502020204030204"/>
            </a:endParaRPr>
          </a:p>
        </p:txBody>
      </p:sp>
      <p:cxnSp>
        <p:nvCxnSpPr>
          <p:cNvPr id="39" name="מחבר ישר 13">
            <a:extLst>
              <a:ext uri="{FF2B5EF4-FFF2-40B4-BE49-F238E27FC236}">
                <a16:creationId xmlns:a16="http://schemas.microsoft.com/office/drawing/2014/main" id="{E684CA77-9F96-4C05-8541-C56594F37001}"/>
              </a:ext>
            </a:extLst>
          </p:cNvPr>
          <p:cNvCxnSpPr>
            <a:cxnSpLocks/>
          </p:cNvCxnSpPr>
          <p:nvPr/>
        </p:nvCxnSpPr>
        <p:spPr>
          <a:xfrm>
            <a:off x="1778050" y="2308710"/>
            <a:ext cx="1691534" cy="126921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7C7B023-4437-402E-BCAC-ABA291FA1C73}"/>
              </a:ext>
            </a:extLst>
          </p:cNvPr>
          <p:cNvSpPr txBox="1"/>
          <p:nvPr/>
        </p:nvSpPr>
        <p:spPr>
          <a:xfrm>
            <a:off x="3061548" y="3345173"/>
            <a:ext cx="348173" cy="300082"/>
          </a:xfrm>
          <a:prstGeom prst="rect">
            <a:avLst/>
          </a:prstGeom>
          <a:noFill/>
        </p:spPr>
        <p:txBody>
          <a:bodyPr wrap="none" rtlCol="1">
            <a:spAutoFit/>
          </a:bodyPr>
          <a:lstStyle/>
          <a:p>
            <a:pPr defTabSz="685800"/>
            <a:r>
              <a:rPr lang="en-US" sz="1350" dirty="0">
                <a:solidFill>
                  <a:prstClr val="black"/>
                </a:solidFill>
                <a:latin typeface="Calibri" panose="020F0502020204030204"/>
              </a:rPr>
              <a:t>D</a:t>
            </a:r>
            <a:r>
              <a:rPr lang="en-US" sz="1350" baseline="-25000" dirty="0">
                <a:solidFill>
                  <a:prstClr val="black"/>
                </a:solidFill>
                <a:latin typeface="Calibri" panose="020F0502020204030204"/>
              </a:rPr>
              <a:t>1</a:t>
            </a:r>
            <a:endParaRPr lang="he-IL" sz="1350" baseline="-25000" dirty="0">
              <a:solidFill>
                <a:prstClr val="black"/>
              </a:solidFill>
              <a:latin typeface="Calibri" panose="020F0502020204030204"/>
              <a:cs typeface="Arial" panose="020B0604020202020204" pitchFamily="34" charset="0"/>
            </a:endParaRPr>
          </a:p>
        </p:txBody>
      </p:sp>
      <p:sp>
        <p:nvSpPr>
          <p:cNvPr id="41" name="Oval 40">
            <a:extLst>
              <a:ext uri="{FF2B5EF4-FFF2-40B4-BE49-F238E27FC236}">
                <a16:creationId xmlns:a16="http://schemas.microsoft.com/office/drawing/2014/main" id="{B4F14B23-C418-46C2-90E8-DB3D4C07A352}"/>
              </a:ext>
            </a:extLst>
          </p:cNvPr>
          <p:cNvSpPr/>
          <p:nvPr/>
        </p:nvSpPr>
        <p:spPr>
          <a:xfrm>
            <a:off x="2266236" y="2665922"/>
            <a:ext cx="167996" cy="167893"/>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1350" dirty="0">
                <a:solidFill>
                  <a:prstClr val="white"/>
                </a:solidFill>
                <a:latin typeface="Calibri" panose="020F0502020204030204"/>
              </a:rPr>
              <a:t>C</a:t>
            </a:r>
            <a:endParaRPr lang="en-IL" sz="1350" dirty="0">
              <a:solidFill>
                <a:prstClr val="white"/>
              </a:solidFill>
              <a:latin typeface="Calibri" panose="020F0502020204030204"/>
            </a:endParaRPr>
          </a:p>
        </p:txBody>
      </p:sp>
      <p:cxnSp>
        <p:nvCxnSpPr>
          <p:cNvPr id="42" name="Straight Connector 41">
            <a:extLst>
              <a:ext uri="{FF2B5EF4-FFF2-40B4-BE49-F238E27FC236}">
                <a16:creationId xmlns:a16="http://schemas.microsoft.com/office/drawing/2014/main" id="{0063006A-4978-4B09-A865-7D5720143E84}"/>
              </a:ext>
            </a:extLst>
          </p:cNvPr>
          <p:cNvCxnSpPr>
            <a:cxnSpLocks/>
            <a:stCxn id="41" idx="2"/>
          </p:cNvCxnSpPr>
          <p:nvPr/>
        </p:nvCxnSpPr>
        <p:spPr>
          <a:xfrm flipH="1" flipV="1">
            <a:off x="1702242" y="2738729"/>
            <a:ext cx="563993" cy="11139"/>
          </a:xfrm>
          <a:prstGeom prst="line">
            <a:avLst/>
          </a:prstGeom>
          <a:ln w="19050"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C476CE21-D311-4AE7-96A2-7609369B81AA}"/>
              </a:ext>
            </a:extLst>
          </p:cNvPr>
          <p:cNvCxnSpPr>
            <a:cxnSpLocks/>
          </p:cNvCxnSpPr>
          <p:nvPr/>
        </p:nvCxnSpPr>
        <p:spPr>
          <a:xfrm flipH="1">
            <a:off x="2321284" y="2777718"/>
            <a:ext cx="19485" cy="848146"/>
          </a:xfrm>
          <a:prstGeom prst="line">
            <a:avLst/>
          </a:prstGeom>
          <a:ln w="19050"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0652EE88-E40F-45E0-B1B7-0673DA2B1665}"/>
                  </a:ext>
                </a:extLst>
              </p:cNvPr>
              <p:cNvSpPr/>
              <p:nvPr/>
            </p:nvSpPr>
            <p:spPr>
              <a:xfrm>
                <a:off x="1316473" y="2583236"/>
                <a:ext cx="320922" cy="230832"/>
              </a:xfrm>
              <a:prstGeom prst="rect">
                <a:avLst/>
              </a:prstGeom>
              <a:solidFill>
                <a:schemeClr val="accent4">
                  <a:lumMod val="20000"/>
                  <a:lumOff val="80000"/>
                </a:schemeClr>
              </a:solidFill>
            </p:spPr>
            <p:txBody>
              <a:bodyPr wrap="none">
                <a:spAutoFit/>
              </a:bodyPr>
              <a:lstStyle/>
              <a:p>
                <a:pPr defTabSz="685800"/>
                <a14:m>
                  <m:oMath xmlns:m="http://schemas.openxmlformats.org/officeDocument/2006/math">
                    <m:r>
                      <a:rPr lang="en-US" sz="900" b="1" i="1">
                        <a:solidFill>
                          <a:prstClr val="black"/>
                        </a:solidFill>
                        <a:latin typeface="Cambria Math" panose="02040503050406030204" pitchFamily="18" charset="0"/>
                        <a:cs typeface="David" pitchFamily="34" charset="-79"/>
                      </a:rPr>
                      <m:t>𝑷</m:t>
                    </m:r>
                  </m:oMath>
                </a14:m>
                <a:r>
                  <a:rPr lang="en-US" sz="900" dirty="0">
                    <a:solidFill>
                      <a:prstClr val="black"/>
                    </a:solidFill>
                    <a:latin typeface="Calibri" panose="020F0502020204030204"/>
                  </a:rPr>
                  <a:t>3</a:t>
                </a:r>
                <a:endParaRPr lang="en-IL" sz="900" dirty="0">
                  <a:solidFill>
                    <a:prstClr val="black"/>
                  </a:solidFill>
                  <a:latin typeface="Calibri" panose="020F0502020204030204"/>
                </a:endParaRPr>
              </a:p>
            </p:txBody>
          </p:sp>
        </mc:Choice>
        <mc:Fallback xmlns="">
          <p:sp>
            <p:nvSpPr>
              <p:cNvPr id="44" name="Rectangle 43">
                <a:extLst>
                  <a:ext uri="{FF2B5EF4-FFF2-40B4-BE49-F238E27FC236}">
                    <a16:creationId xmlns:a16="http://schemas.microsoft.com/office/drawing/2014/main" id="{0652EE88-E40F-45E0-B1B7-0673DA2B1665}"/>
                  </a:ext>
                </a:extLst>
              </p:cNvPr>
              <p:cNvSpPr>
                <a:spLocks noRot="1" noChangeAspect="1" noMove="1" noResize="1" noEditPoints="1" noAdjustHandles="1" noChangeArrowheads="1" noChangeShapeType="1" noTextEdit="1"/>
              </p:cNvSpPr>
              <p:nvPr/>
            </p:nvSpPr>
            <p:spPr>
              <a:xfrm>
                <a:off x="1316473" y="2583236"/>
                <a:ext cx="320922" cy="230832"/>
              </a:xfrm>
              <a:prstGeom prst="rect">
                <a:avLst/>
              </a:prstGeom>
              <a:blipFill>
                <a:blip r:embed="rId4"/>
                <a:stretch>
                  <a:fillRect b="-10526"/>
                </a:stretch>
              </a:blipFill>
            </p:spPr>
            <p:txBody>
              <a:bodyPr/>
              <a:lstStyle/>
              <a:p>
                <a:r>
                  <a:rPr lang="en-IL">
                    <a:noFill/>
                  </a:rPr>
                  <a:t> </a:t>
                </a:r>
              </a:p>
            </p:txBody>
          </p:sp>
        </mc:Fallback>
      </mc:AlternateContent>
      <p:sp>
        <p:nvSpPr>
          <p:cNvPr id="45" name="TextBox 44">
            <a:extLst>
              <a:ext uri="{FF2B5EF4-FFF2-40B4-BE49-F238E27FC236}">
                <a16:creationId xmlns:a16="http://schemas.microsoft.com/office/drawing/2014/main" id="{986F6B5C-7DED-4501-BF49-71C6D1865B7C}"/>
              </a:ext>
            </a:extLst>
          </p:cNvPr>
          <p:cNvSpPr txBox="1"/>
          <p:nvPr/>
        </p:nvSpPr>
        <p:spPr>
          <a:xfrm>
            <a:off x="628650" y="5638781"/>
            <a:ext cx="3930631" cy="738664"/>
          </a:xfrm>
          <a:prstGeom prst="rect">
            <a:avLst/>
          </a:prstGeom>
          <a:solidFill>
            <a:schemeClr val="accent5">
              <a:lumMod val="20000"/>
              <a:lumOff val="80000"/>
            </a:schemeClr>
          </a:solidFill>
        </p:spPr>
        <p:txBody>
          <a:bodyPr wrap="square" rtlCol="0">
            <a:spAutoFit/>
          </a:bodyPr>
          <a:lstStyle/>
          <a:p>
            <a:pPr defTabSz="685800"/>
            <a:r>
              <a:rPr lang="he-IL" sz="1400" dirty="0">
                <a:solidFill>
                  <a:prstClr val="black"/>
                </a:solidFill>
                <a:latin typeface="Calibri" panose="020F0502020204030204"/>
                <a:cs typeface="Arial" panose="020B0604020202020204" pitchFamily="34" charset="0"/>
              </a:rPr>
              <a:t>שינוי 1 מקטין את הכמות, מעלה את המחיר</a:t>
            </a:r>
          </a:p>
          <a:p>
            <a:pPr defTabSz="685800"/>
            <a:r>
              <a:rPr lang="he-IL" sz="1400" dirty="0">
                <a:solidFill>
                  <a:prstClr val="black"/>
                </a:solidFill>
                <a:latin typeface="Calibri" panose="020F0502020204030204"/>
                <a:cs typeface="Arial" panose="020B0604020202020204" pitchFamily="34" charset="0"/>
              </a:rPr>
              <a:t>שינוי 2 מקטין את הכמות, מוריד את המחיר</a:t>
            </a:r>
          </a:p>
          <a:p>
            <a:pPr defTabSz="685800"/>
            <a:r>
              <a:rPr lang="he-IL" sz="1400" dirty="0">
                <a:solidFill>
                  <a:prstClr val="black"/>
                </a:solidFill>
                <a:latin typeface="Calibri" panose="020F0502020204030204"/>
                <a:cs typeface="Arial" panose="020B0604020202020204" pitchFamily="34" charset="0"/>
              </a:rPr>
              <a:t>מה נוכל להסיק?  </a:t>
            </a:r>
            <a:r>
              <a:rPr lang="he-IL" sz="1400" b="1" dirty="0">
                <a:solidFill>
                  <a:prstClr val="black"/>
                </a:solidFill>
                <a:highlight>
                  <a:srgbClr val="FFFF00"/>
                </a:highlight>
                <a:latin typeface="Calibri" panose="020F0502020204030204"/>
                <a:cs typeface="Arial" panose="020B0604020202020204" pitchFamily="34" charset="0"/>
              </a:rPr>
              <a:t>תשובה ג' נכונה </a:t>
            </a:r>
            <a:endParaRPr lang="en-IL" sz="1400" b="1" dirty="0">
              <a:solidFill>
                <a:prstClr val="black"/>
              </a:solidFill>
              <a:highlight>
                <a:srgbClr val="FFFF00"/>
              </a:highlight>
              <a:latin typeface="Calibri" panose="020F0502020204030204"/>
            </a:endParaRPr>
          </a:p>
        </p:txBody>
      </p:sp>
      <p:cxnSp>
        <p:nvCxnSpPr>
          <p:cNvPr id="46" name="מחבר ישר 13">
            <a:extLst>
              <a:ext uri="{FF2B5EF4-FFF2-40B4-BE49-F238E27FC236}">
                <a16:creationId xmlns:a16="http://schemas.microsoft.com/office/drawing/2014/main" id="{6BB44D30-2BD5-4BBE-BA06-357123CA31EE}"/>
              </a:ext>
            </a:extLst>
          </p:cNvPr>
          <p:cNvCxnSpPr>
            <a:cxnSpLocks/>
          </p:cNvCxnSpPr>
          <p:nvPr/>
        </p:nvCxnSpPr>
        <p:spPr>
          <a:xfrm>
            <a:off x="1644580" y="2494828"/>
            <a:ext cx="1376244" cy="108189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FC2D395-234D-4BA1-90CE-DE45E2C71FAE}"/>
              </a:ext>
            </a:extLst>
          </p:cNvPr>
          <p:cNvSpPr txBox="1"/>
          <p:nvPr/>
        </p:nvSpPr>
        <p:spPr>
          <a:xfrm>
            <a:off x="2748404" y="3346946"/>
            <a:ext cx="348173" cy="300082"/>
          </a:xfrm>
          <a:prstGeom prst="rect">
            <a:avLst/>
          </a:prstGeom>
          <a:noFill/>
        </p:spPr>
        <p:txBody>
          <a:bodyPr wrap="none" rtlCol="1">
            <a:spAutoFit/>
          </a:bodyPr>
          <a:lstStyle/>
          <a:p>
            <a:pPr defTabSz="685800"/>
            <a:r>
              <a:rPr lang="en-US" sz="1350" dirty="0">
                <a:solidFill>
                  <a:srgbClr val="5B9BD5"/>
                </a:solidFill>
                <a:latin typeface="Calibri" panose="020F0502020204030204"/>
              </a:rPr>
              <a:t>D</a:t>
            </a:r>
            <a:r>
              <a:rPr lang="en-US" sz="1350" baseline="-25000" dirty="0">
                <a:solidFill>
                  <a:srgbClr val="5B9BD5"/>
                </a:solidFill>
                <a:latin typeface="Calibri" panose="020F0502020204030204"/>
              </a:rPr>
              <a:t>1</a:t>
            </a:r>
            <a:endParaRPr lang="he-IL" sz="1350" baseline="-25000" dirty="0">
              <a:solidFill>
                <a:srgbClr val="5B9BD5"/>
              </a:solidFill>
              <a:latin typeface="Calibri" panose="020F0502020204030204"/>
              <a:cs typeface="Arial" panose="020B0604020202020204" pitchFamily="34" charset="0"/>
            </a:endParaRPr>
          </a:p>
        </p:txBody>
      </p:sp>
      <p:sp>
        <p:nvSpPr>
          <p:cNvPr id="48" name="Oval 47">
            <a:extLst>
              <a:ext uri="{FF2B5EF4-FFF2-40B4-BE49-F238E27FC236}">
                <a16:creationId xmlns:a16="http://schemas.microsoft.com/office/drawing/2014/main" id="{AEFE1259-1B62-49CB-A8B9-8B2054989E70}"/>
              </a:ext>
            </a:extLst>
          </p:cNvPr>
          <p:cNvSpPr/>
          <p:nvPr/>
        </p:nvSpPr>
        <p:spPr>
          <a:xfrm>
            <a:off x="1897717" y="2821326"/>
            <a:ext cx="350696" cy="183167"/>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lang="en-US" sz="900" dirty="0">
                <a:solidFill>
                  <a:prstClr val="white"/>
                </a:solidFill>
                <a:latin typeface="Calibri" panose="020F0502020204030204"/>
              </a:rPr>
              <a:t>C’</a:t>
            </a:r>
            <a:endParaRPr lang="en-IL" sz="900" dirty="0">
              <a:solidFill>
                <a:prstClr val="white"/>
              </a:solidFill>
              <a:latin typeface="Calibri" panose="020F0502020204030204"/>
            </a:endParaRPr>
          </a:p>
        </p:txBody>
      </p:sp>
      <p:cxnSp>
        <p:nvCxnSpPr>
          <p:cNvPr id="50" name="Straight Connector 49">
            <a:extLst>
              <a:ext uri="{FF2B5EF4-FFF2-40B4-BE49-F238E27FC236}">
                <a16:creationId xmlns:a16="http://schemas.microsoft.com/office/drawing/2014/main" id="{4FE941DA-3BF4-4553-B3DB-034A88DF74DE}"/>
              </a:ext>
            </a:extLst>
          </p:cNvPr>
          <p:cNvCxnSpPr>
            <a:cxnSpLocks/>
          </p:cNvCxnSpPr>
          <p:nvPr/>
        </p:nvCxnSpPr>
        <p:spPr>
          <a:xfrm flipH="1" flipV="1">
            <a:off x="1673467" y="2924551"/>
            <a:ext cx="399121" cy="112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2AB0C909-E29D-4306-93E7-BC755963AA36}"/>
              </a:ext>
            </a:extLst>
          </p:cNvPr>
          <p:cNvCxnSpPr>
            <a:cxnSpLocks/>
          </p:cNvCxnSpPr>
          <p:nvPr/>
        </p:nvCxnSpPr>
        <p:spPr>
          <a:xfrm flipH="1">
            <a:off x="2145769" y="2926190"/>
            <a:ext cx="21974" cy="687057"/>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9310EDB5-2C9B-4B4E-9696-C36DFD67B707}"/>
                  </a:ext>
                </a:extLst>
              </p:cNvPr>
              <p:cNvSpPr/>
              <p:nvPr/>
            </p:nvSpPr>
            <p:spPr>
              <a:xfrm>
                <a:off x="1268699" y="2852952"/>
                <a:ext cx="349776" cy="230832"/>
              </a:xfrm>
              <a:prstGeom prst="rect">
                <a:avLst/>
              </a:prstGeom>
              <a:solidFill>
                <a:srgbClr val="CCECFF"/>
              </a:solidFill>
            </p:spPr>
            <p:txBody>
              <a:bodyPr wrap="none">
                <a:spAutoFit/>
              </a:bodyPr>
              <a:lstStyle/>
              <a:p>
                <a:pPr defTabSz="685800"/>
                <a14:m>
                  <m:oMath xmlns:m="http://schemas.openxmlformats.org/officeDocument/2006/math">
                    <m:r>
                      <a:rPr lang="en-US" sz="900" b="1" i="1">
                        <a:solidFill>
                          <a:prstClr val="black"/>
                        </a:solidFill>
                        <a:latin typeface="Cambria Math" panose="02040503050406030204" pitchFamily="18" charset="0"/>
                        <a:cs typeface="David" pitchFamily="34" charset="-79"/>
                      </a:rPr>
                      <m:t>𝑷</m:t>
                    </m:r>
                  </m:oMath>
                </a14:m>
                <a:r>
                  <a:rPr lang="en-US" sz="900" dirty="0">
                    <a:solidFill>
                      <a:prstClr val="black"/>
                    </a:solidFill>
                    <a:latin typeface="Calibri" panose="020F0502020204030204"/>
                  </a:rPr>
                  <a:t>3’</a:t>
                </a:r>
                <a:endParaRPr lang="en-IL" sz="900" dirty="0">
                  <a:solidFill>
                    <a:prstClr val="black"/>
                  </a:solidFill>
                  <a:latin typeface="Calibri" panose="020F0502020204030204"/>
                </a:endParaRPr>
              </a:p>
            </p:txBody>
          </p:sp>
        </mc:Choice>
        <mc:Fallback xmlns="">
          <p:sp>
            <p:nvSpPr>
              <p:cNvPr id="60" name="Rectangle 59">
                <a:extLst>
                  <a:ext uri="{FF2B5EF4-FFF2-40B4-BE49-F238E27FC236}">
                    <a16:creationId xmlns:a16="http://schemas.microsoft.com/office/drawing/2014/main" id="{9310EDB5-2C9B-4B4E-9696-C36DFD67B707}"/>
                  </a:ext>
                </a:extLst>
              </p:cNvPr>
              <p:cNvSpPr>
                <a:spLocks noRot="1" noChangeAspect="1" noMove="1" noResize="1" noEditPoints="1" noAdjustHandles="1" noChangeArrowheads="1" noChangeShapeType="1" noTextEdit="1"/>
              </p:cNvSpPr>
              <p:nvPr/>
            </p:nvSpPr>
            <p:spPr>
              <a:xfrm>
                <a:off x="1268699" y="2852952"/>
                <a:ext cx="349776" cy="230832"/>
              </a:xfrm>
              <a:prstGeom prst="rect">
                <a:avLst/>
              </a:prstGeom>
              <a:blipFill>
                <a:blip r:embed="rId5"/>
                <a:stretch>
                  <a:fillRect b="-13158"/>
                </a:stretch>
              </a:blipFill>
            </p:spPr>
            <p:txBody>
              <a:bodyPr/>
              <a:lstStyle/>
              <a:p>
                <a:r>
                  <a:rPr lang="en-IL">
                    <a:noFill/>
                  </a:rPr>
                  <a:t> </a:t>
                </a:r>
              </a:p>
            </p:txBody>
          </p:sp>
        </mc:Fallback>
      </mc:AlternateContent>
      <p:sp>
        <p:nvSpPr>
          <p:cNvPr id="52" name="TextBox 51">
            <a:extLst>
              <a:ext uri="{FF2B5EF4-FFF2-40B4-BE49-F238E27FC236}">
                <a16:creationId xmlns:a16="http://schemas.microsoft.com/office/drawing/2014/main" id="{378E41CA-E6B6-444C-B136-C3D4FFF0861D}"/>
              </a:ext>
            </a:extLst>
          </p:cNvPr>
          <p:cNvSpPr txBox="1"/>
          <p:nvPr/>
        </p:nvSpPr>
        <p:spPr>
          <a:xfrm>
            <a:off x="6444208" y="278723"/>
            <a:ext cx="2311842" cy="517193"/>
          </a:xfrm>
          <a:prstGeom prst="rect">
            <a:avLst/>
          </a:prstGeom>
          <a:noFill/>
        </p:spPr>
        <p:txBody>
          <a:bodyPr wrap="square">
            <a:spAutoFit/>
          </a:bodyPr>
          <a:lstStyle/>
          <a:p>
            <a:pPr defTabSz="685800">
              <a:lnSpc>
                <a:spcPct val="150000"/>
              </a:lnSpc>
            </a:pPr>
            <a:r>
              <a:rPr lang="he-IL" sz="2100" b="1" dirty="0">
                <a:solidFill>
                  <a:prstClr val="black"/>
                </a:solidFill>
                <a:latin typeface="David" pitchFamily="34" charset="-79"/>
                <a:cs typeface="Arial" panose="020B0604020202020204" pitchFamily="34" charset="0"/>
              </a:rPr>
              <a:t>שאלה 2</a:t>
            </a:r>
          </a:p>
        </p:txBody>
      </p:sp>
      <p:sp>
        <p:nvSpPr>
          <p:cNvPr id="9" name="Rectangle 8">
            <a:extLst>
              <a:ext uri="{FF2B5EF4-FFF2-40B4-BE49-F238E27FC236}">
                <a16:creationId xmlns:a16="http://schemas.microsoft.com/office/drawing/2014/main" id="{E3B6185D-47B1-E60A-FF1C-3C727C8FF272}"/>
              </a:ext>
            </a:extLst>
          </p:cNvPr>
          <p:cNvSpPr/>
          <p:nvPr/>
        </p:nvSpPr>
        <p:spPr>
          <a:xfrm>
            <a:off x="2067572" y="3600395"/>
            <a:ext cx="308098" cy="253916"/>
          </a:xfrm>
          <a:prstGeom prst="rect">
            <a:avLst/>
          </a:prstGeom>
        </p:spPr>
        <p:txBody>
          <a:bodyPr wrap="none">
            <a:spAutoFit/>
          </a:bodyPr>
          <a:lstStyle/>
          <a:p>
            <a:pPr defTabSz="685800"/>
            <a:r>
              <a:rPr lang="en-US" sz="1050" dirty="0">
                <a:solidFill>
                  <a:prstClr val="black"/>
                </a:solidFill>
                <a:latin typeface="Calibri" panose="020F0502020204030204"/>
              </a:rPr>
              <a:t>X</a:t>
            </a:r>
            <a:r>
              <a:rPr lang="en-US" sz="825" dirty="0">
                <a:solidFill>
                  <a:prstClr val="black"/>
                </a:solidFill>
                <a:latin typeface="Calibri" panose="020F0502020204030204"/>
              </a:rPr>
              <a:t>3</a:t>
            </a:r>
            <a:endParaRPr lang="he-IL" sz="1050" dirty="0">
              <a:solidFill>
                <a:prstClr val="black"/>
              </a:solidFill>
              <a:latin typeface="Calibri" panose="020F0502020204030204"/>
              <a:cs typeface="Arial" panose="020B0604020202020204" pitchFamily="34" charset="0"/>
            </a:endParaRPr>
          </a:p>
        </p:txBody>
      </p:sp>
    </p:spTree>
    <p:extLst>
      <p:ext uri="{BB962C8B-B14F-4D97-AF65-F5344CB8AC3E}">
        <p14:creationId xmlns:p14="http://schemas.microsoft.com/office/powerpoint/2010/main" val="849250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p:cNvSpPr txBox="1">
            <a:spLocks/>
          </p:cNvSpPr>
          <p:nvPr/>
        </p:nvSpPr>
        <p:spPr>
          <a:xfrm>
            <a:off x="1819" y="192654"/>
            <a:ext cx="9144000" cy="500042"/>
          </a:xfrm>
          <a:prstGeom prst="rect">
            <a:avLst/>
          </a:prstGeom>
        </p:spPr>
        <p:txBody>
          <a:bodyPr vert="horz" lIns="91440" tIns="45720" rIns="91440" bIns="45720" rtlCol="1" anchor="ctr">
            <a:normAutofit fontScale="90000" lnSpcReduction="20000"/>
          </a:bodyPr>
          <a:lstStyle/>
          <a:p>
            <a:pPr>
              <a:spcBef>
                <a:spcPct val="0"/>
              </a:spcBef>
              <a:defRPr/>
            </a:pPr>
            <a:r>
              <a:rPr lang="he-IL" sz="3700" b="1" dirty="0">
                <a:solidFill>
                  <a:prstClr val="black"/>
                </a:solidFill>
                <a:latin typeface="Calibri Light" panose="020F0302020204030204"/>
                <a:cs typeface="Times New Roman" panose="02020603050405020304" pitchFamily="18" charset="0"/>
              </a:rPr>
              <a:t>שאלה 3</a:t>
            </a:r>
            <a:r>
              <a:rPr lang="he-IL" sz="2700" b="1" dirty="0">
                <a:solidFill>
                  <a:prstClr val="black"/>
                </a:solidFill>
                <a:latin typeface="Calibri Light" panose="020F0302020204030204"/>
                <a:cs typeface="Times New Roman" panose="02020603050405020304" pitchFamily="18" charset="0"/>
              </a:rPr>
              <a:t> </a:t>
            </a:r>
            <a:endParaRPr lang="he-IL" sz="4400" b="1" dirty="0">
              <a:solidFill>
                <a:prstClr val="black"/>
              </a:solidFill>
              <a:latin typeface="Calibri Light" panose="020F0302020204030204"/>
              <a:cs typeface="Times New Roman" panose="02020603050405020304" pitchFamily="18" charset="0"/>
            </a:endParaRPr>
          </a:p>
        </p:txBody>
      </p:sp>
      <p:sp>
        <p:nvSpPr>
          <p:cNvPr id="2" name="מלבן 1"/>
          <p:cNvSpPr/>
          <p:nvPr/>
        </p:nvSpPr>
        <p:spPr>
          <a:xfrm>
            <a:off x="1475656" y="692696"/>
            <a:ext cx="7254552" cy="3362011"/>
          </a:xfrm>
          <a:prstGeom prst="rect">
            <a:avLst/>
          </a:prstGeom>
        </p:spPr>
        <p:txBody>
          <a:bodyPr wrap="square">
            <a:spAutoFit/>
          </a:bodyPr>
          <a:lstStyle/>
          <a:p>
            <a:pPr algn="just" rtl="1">
              <a:lnSpc>
                <a:spcPct val="150000"/>
              </a:lnSpc>
            </a:pPr>
            <a:r>
              <a:rPr lang="he-IL" sz="1400" dirty="0">
                <a:effectLst/>
                <a:latin typeface="Times New Roman" panose="02020603050405020304" pitchFamily="18" charset="0"/>
                <a:ea typeface="Times New Roman" panose="02020603050405020304" pitchFamily="18" charset="0"/>
              </a:rPr>
              <a:t>מחיר שיווי משקל בשוק הקטניות בתחילת השנה היה 20 ש''ח  וכמות שיווי משקל היתה 60 ק''ג.</a:t>
            </a:r>
            <a:endParaRPr lang="en-IL" sz="1400" dirty="0">
              <a:effectLst/>
              <a:latin typeface="Times New Roman" panose="02020603050405020304" pitchFamily="18" charset="0"/>
              <a:ea typeface="Times New Roman" panose="02020603050405020304" pitchFamily="18" charset="0"/>
            </a:endParaRPr>
          </a:p>
          <a:p>
            <a:pPr algn="just" rtl="1">
              <a:lnSpc>
                <a:spcPct val="150000"/>
              </a:lnSpc>
            </a:pPr>
            <a:r>
              <a:rPr lang="he-IL" sz="1400" dirty="0">
                <a:effectLst/>
                <a:latin typeface="Times New Roman" panose="02020603050405020304" pitchFamily="18" charset="0"/>
                <a:ea typeface="Times New Roman" panose="02020603050405020304" pitchFamily="18" charset="0"/>
              </a:rPr>
              <a:t>במשק קרו השנה הדברים הבאים:</a:t>
            </a:r>
            <a:endParaRPr lang="en-IL" sz="1400" dirty="0">
              <a:effectLst/>
              <a:latin typeface="Times New Roman" panose="02020603050405020304" pitchFamily="18" charset="0"/>
              <a:ea typeface="Times New Roman" panose="02020603050405020304" pitchFamily="18" charset="0"/>
            </a:endParaRPr>
          </a:p>
          <a:p>
            <a:pPr marL="742950" lvl="1" indent="-285750" algn="just" rtl="1">
              <a:lnSpc>
                <a:spcPct val="150000"/>
              </a:lnSpc>
              <a:buFont typeface="+mj-lt"/>
              <a:buAutoNum type="arabicParenR"/>
            </a:pPr>
            <a:r>
              <a:rPr lang="he-IL" sz="1400" dirty="0">
                <a:effectLst/>
                <a:latin typeface="Times New Roman" panose="02020603050405020304" pitchFamily="18" charset="0"/>
                <a:ea typeface="Times New Roman" panose="02020603050405020304" pitchFamily="18" charset="0"/>
              </a:rPr>
              <a:t>הכנסות המשפחות במשק ירדו.</a:t>
            </a:r>
            <a:endParaRPr lang="en-IL" sz="1400" dirty="0">
              <a:effectLst/>
              <a:latin typeface="Times New Roman" panose="02020603050405020304" pitchFamily="18" charset="0"/>
              <a:ea typeface="Times New Roman" panose="02020603050405020304" pitchFamily="18" charset="0"/>
            </a:endParaRPr>
          </a:p>
          <a:p>
            <a:pPr marL="742950" lvl="1" indent="-285750" algn="just" rtl="1">
              <a:lnSpc>
                <a:spcPct val="150000"/>
              </a:lnSpc>
              <a:spcAft>
                <a:spcPts val="600"/>
              </a:spcAft>
              <a:buFont typeface="+mj-lt"/>
              <a:buAutoNum type="arabicParenR"/>
            </a:pPr>
            <a:r>
              <a:rPr lang="he-IL" sz="1400" dirty="0">
                <a:effectLst/>
                <a:latin typeface="Times New Roman" panose="02020603050405020304" pitchFamily="18" charset="0"/>
                <a:ea typeface="Times New Roman" panose="02020603050405020304" pitchFamily="18" charset="0"/>
              </a:rPr>
              <a:t>עלה מחיר המים שמשמשים כגורם ייצור בייצור הקטניות. </a:t>
            </a:r>
            <a:endParaRPr lang="en-IL" sz="1400" dirty="0">
              <a:effectLst/>
              <a:latin typeface="Times New Roman" panose="02020603050405020304" pitchFamily="18" charset="0"/>
              <a:ea typeface="Times New Roman" panose="02020603050405020304" pitchFamily="18" charset="0"/>
            </a:endParaRPr>
          </a:p>
          <a:p>
            <a:pPr algn="just" rtl="1">
              <a:lnSpc>
                <a:spcPct val="150000"/>
              </a:lnSpc>
            </a:pPr>
            <a:r>
              <a:rPr lang="he-IL" sz="1400" dirty="0">
                <a:effectLst/>
                <a:latin typeface="Times New Roman" panose="02020603050405020304" pitchFamily="18" charset="0"/>
                <a:ea typeface="Times New Roman" panose="02020603050405020304" pitchFamily="18" charset="0"/>
              </a:rPr>
              <a:t>בסוף השנה היה מחיר שיווי משקל 18 ש''ח. מכאן ש (יש לבחור בתשובה נכונה ולנמק):</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ייתכן שהמוצר הינו ניטרלי. </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המוצר בהכרח מוצר נחות</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45110" algn="l"/>
              </a:tabLst>
            </a:pPr>
            <a:r>
              <a:rPr lang="he-IL" sz="1400" dirty="0">
                <a:effectLst/>
                <a:latin typeface="Times New Roman" panose="02020603050405020304" pitchFamily="18" charset="0"/>
                <a:ea typeface="Times New Roman" panose="02020603050405020304" pitchFamily="18" charset="0"/>
              </a:rPr>
              <a:t>המוצר בהכרח נורמלי</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אין אפשרות לדעת בוודאות האם המוצר נורמלי, ניטרלי או נחות</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כל התשובות האחרות אינן נכונות. </a:t>
            </a:r>
            <a:endParaRPr lang="en-IL"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16123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p:cNvSpPr txBox="1">
            <a:spLocks/>
          </p:cNvSpPr>
          <p:nvPr/>
        </p:nvSpPr>
        <p:spPr>
          <a:xfrm>
            <a:off x="7668344" y="1"/>
            <a:ext cx="1475656" cy="500042"/>
          </a:xfrm>
          <a:prstGeom prst="rect">
            <a:avLst/>
          </a:prstGeom>
        </p:spPr>
        <p:txBody>
          <a:bodyPr vert="horz" lIns="91440" tIns="45720" rIns="91440" bIns="45720" rtlCol="1" anchor="ctr">
            <a:normAutofit fontScale="90000" lnSpcReduction="20000"/>
          </a:bodyPr>
          <a:lstStyle/>
          <a:p>
            <a:pPr>
              <a:spcBef>
                <a:spcPct val="0"/>
              </a:spcBef>
              <a:defRPr/>
            </a:pPr>
            <a:r>
              <a:rPr lang="he-IL" sz="3700" b="1" dirty="0">
                <a:solidFill>
                  <a:prstClr val="black"/>
                </a:solidFill>
                <a:latin typeface="Calibri Light" panose="020F0302020204030204"/>
                <a:cs typeface="Times New Roman" panose="02020603050405020304" pitchFamily="18" charset="0"/>
              </a:rPr>
              <a:t>שאלה 3</a:t>
            </a:r>
            <a:r>
              <a:rPr lang="he-IL" sz="2700" b="1" dirty="0">
                <a:solidFill>
                  <a:prstClr val="black"/>
                </a:solidFill>
                <a:latin typeface="Calibri Light" panose="020F0302020204030204"/>
                <a:cs typeface="Times New Roman" panose="02020603050405020304" pitchFamily="18" charset="0"/>
              </a:rPr>
              <a:t> </a:t>
            </a:r>
            <a:endParaRPr lang="he-IL" sz="4400" b="1" dirty="0">
              <a:solidFill>
                <a:prstClr val="black"/>
              </a:solidFill>
              <a:latin typeface="Calibri Light" panose="020F0302020204030204"/>
              <a:cs typeface="Times New Roman" panose="02020603050405020304" pitchFamily="18" charset="0"/>
            </a:endParaRPr>
          </a:p>
        </p:txBody>
      </p:sp>
      <p:sp>
        <p:nvSpPr>
          <p:cNvPr id="2" name="מלבן 1"/>
          <p:cNvSpPr/>
          <p:nvPr/>
        </p:nvSpPr>
        <p:spPr>
          <a:xfrm>
            <a:off x="1475656" y="692696"/>
            <a:ext cx="7254552" cy="3362011"/>
          </a:xfrm>
          <a:prstGeom prst="rect">
            <a:avLst/>
          </a:prstGeom>
        </p:spPr>
        <p:txBody>
          <a:bodyPr wrap="square">
            <a:spAutoFit/>
          </a:bodyPr>
          <a:lstStyle/>
          <a:p>
            <a:pPr algn="just" rtl="1">
              <a:lnSpc>
                <a:spcPct val="150000"/>
              </a:lnSpc>
            </a:pPr>
            <a:r>
              <a:rPr lang="he-IL" sz="1400" dirty="0">
                <a:effectLst/>
                <a:latin typeface="Times New Roman" panose="02020603050405020304" pitchFamily="18" charset="0"/>
                <a:ea typeface="Times New Roman" panose="02020603050405020304" pitchFamily="18" charset="0"/>
              </a:rPr>
              <a:t>מחיר שיווי משקל בשוק הקטניות בתחילת השנה היה 20 ש''ח  וכמות שיווי משקל היתה 60 ק''ג.</a:t>
            </a:r>
            <a:endParaRPr lang="en-IL" sz="1400" dirty="0">
              <a:effectLst/>
              <a:latin typeface="Times New Roman" panose="02020603050405020304" pitchFamily="18" charset="0"/>
              <a:ea typeface="Times New Roman" panose="02020603050405020304" pitchFamily="18" charset="0"/>
            </a:endParaRPr>
          </a:p>
          <a:p>
            <a:pPr algn="just" rtl="1">
              <a:lnSpc>
                <a:spcPct val="150000"/>
              </a:lnSpc>
            </a:pPr>
            <a:r>
              <a:rPr lang="he-IL" sz="1400" dirty="0">
                <a:effectLst/>
                <a:latin typeface="Times New Roman" panose="02020603050405020304" pitchFamily="18" charset="0"/>
                <a:ea typeface="Times New Roman" panose="02020603050405020304" pitchFamily="18" charset="0"/>
              </a:rPr>
              <a:t>במשק קרו השנה הדברים הבאים:</a:t>
            </a:r>
            <a:endParaRPr lang="en-IL" sz="1400" dirty="0">
              <a:effectLst/>
              <a:latin typeface="Times New Roman" panose="02020603050405020304" pitchFamily="18" charset="0"/>
              <a:ea typeface="Times New Roman" panose="02020603050405020304" pitchFamily="18" charset="0"/>
            </a:endParaRPr>
          </a:p>
          <a:p>
            <a:pPr marL="742950" lvl="1" indent="-285750" algn="just" rtl="1">
              <a:lnSpc>
                <a:spcPct val="150000"/>
              </a:lnSpc>
              <a:buFont typeface="+mj-lt"/>
              <a:buAutoNum type="arabicParenR"/>
            </a:pPr>
            <a:r>
              <a:rPr lang="he-IL" sz="1400" dirty="0">
                <a:effectLst/>
                <a:latin typeface="Times New Roman" panose="02020603050405020304" pitchFamily="18" charset="0"/>
                <a:ea typeface="Times New Roman" panose="02020603050405020304" pitchFamily="18" charset="0"/>
              </a:rPr>
              <a:t>הכנסות המשפחות במשק ירדו.</a:t>
            </a:r>
            <a:endParaRPr lang="en-IL" sz="1400" dirty="0">
              <a:effectLst/>
              <a:latin typeface="Times New Roman" panose="02020603050405020304" pitchFamily="18" charset="0"/>
              <a:ea typeface="Times New Roman" panose="02020603050405020304" pitchFamily="18" charset="0"/>
            </a:endParaRPr>
          </a:p>
          <a:p>
            <a:pPr marL="742950" lvl="1" indent="-285750" algn="just" rtl="1">
              <a:lnSpc>
                <a:spcPct val="150000"/>
              </a:lnSpc>
              <a:spcAft>
                <a:spcPts val="600"/>
              </a:spcAft>
              <a:buFont typeface="+mj-lt"/>
              <a:buAutoNum type="arabicParenR"/>
            </a:pPr>
            <a:r>
              <a:rPr lang="he-IL" sz="1400" dirty="0">
                <a:effectLst/>
                <a:latin typeface="Times New Roman" panose="02020603050405020304" pitchFamily="18" charset="0"/>
                <a:ea typeface="Times New Roman" panose="02020603050405020304" pitchFamily="18" charset="0"/>
              </a:rPr>
              <a:t>עלה מחיר המים שמשמשים כגורם ייצור בייצור הקטניות. </a:t>
            </a:r>
            <a:endParaRPr lang="en-IL" sz="1400" dirty="0">
              <a:effectLst/>
              <a:latin typeface="Times New Roman" panose="02020603050405020304" pitchFamily="18" charset="0"/>
              <a:ea typeface="Times New Roman" panose="02020603050405020304" pitchFamily="18" charset="0"/>
            </a:endParaRPr>
          </a:p>
          <a:p>
            <a:pPr algn="just" rtl="1">
              <a:lnSpc>
                <a:spcPct val="150000"/>
              </a:lnSpc>
            </a:pPr>
            <a:r>
              <a:rPr lang="he-IL" sz="1400" dirty="0">
                <a:effectLst/>
                <a:latin typeface="Times New Roman" panose="02020603050405020304" pitchFamily="18" charset="0"/>
                <a:ea typeface="Times New Roman" panose="02020603050405020304" pitchFamily="18" charset="0"/>
              </a:rPr>
              <a:t>בסוף השנה היה מחיר שיווי משקל 18 ש''ח. מכאן ש</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ייתכן שהמוצר הינו ניטרלי. </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המוצר בהכרח מוצר נחות</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45110" algn="l"/>
              </a:tabLst>
            </a:pPr>
            <a:r>
              <a:rPr lang="he-IL" sz="1400" dirty="0">
                <a:effectLst/>
                <a:highlight>
                  <a:srgbClr val="FFFF00"/>
                </a:highlight>
                <a:latin typeface="Times New Roman" panose="02020603050405020304" pitchFamily="18" charset="0"/>
                <a:ea typeface="Times New Roman" panose="02020603050405020304" pitchFamily="18" charset="0"/>
              </a:rPr>
              <a:t>המוצר בהכרח נורמלי</a:t>
            </a:r>
            <a:endParaRPr lang="en-IL" sz="1400" dirty="0">
              <a:effectLst/>
              <a:highlight>
                <a:srgbClr val="FFFF00"/>
              </a:highligh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אין אפשרות לדעת בוודאות האם המוצר נורמלי, ניטרלי או נחות</a:t>
            </a:r>
            <a:endParaRPr lang="en-IL" sz="1400" dirty="0">
              <a:effectLst/>
              <a:latin typeface="Times New Roman" panose="02020603050405020304" pitchFamily="18" charset="0"/>
              <a:ea typeface="Times New Roman" panose="02020603050405020304" pitchFamily="18" charset="0"/>
            </a:endParaRPr>
          </a:p>
          <a:p>
            <a:pPr marL="342900" lvl="0" indent="-342900" algn="just" rtl="1">
              <a:lnSpc>
                <a:spcPct val="150000"/>
              </a:lnSpc>
              <a:buFont typeface="+mj-lt"/>
              <a:buAutoNum type="arabicPeriod"/>
              <a:tabLst>
                <a:tab pos="228600" algn="l"/>
                <a:tab pos="245110" algn="l"/>
              </a:tabLst>
            </a:pPr>
            <a:r>
              <a:rPr lang="he-IL" sz="1400" dirty="0">
                <a:effectLst/>
                <a:latin typeface="Times New Roman" panose="02020603050405020304" pitchFamily="18" charset="0"/>
                <a:ea typeface="Times New Roman" panose="02020603050405020304" pitchFamily="18" charset="0"/>
              </a:rPr>
              <a:t>כל התשובות האחרות אינן נכונות. </a:t>
            </a:r>
            <a:endParaRPr lang="en-IL" sz="1400" dirty="0">
              <a:effectLst/>
              <a:latin typeface="Times New Roman" panose="02020603050405020304" pitchFamily="18" charset="0"/>
              <a:ea typeface="Times New Roman" panose="02020603050405020304" pitchFamily="18" charset="0"/>
            </a:endParaRPr>
          </a:p>
        </p:txBody>
      </p:sp>
      <p:pic>
        <p:nvPicPr>
          <p:cNvPr id="3" name="תמונה 2" descr="תמונה שמכילה קו, תרשים, עלילה, מספר&#10;&#10;תוכן בינה מלאכותית גנרטיבית עשוי להיות שגוי.">
            <a:extLst>
              <a:ext uri="{FF2B5EF4-FFF2-40B4-BE49-F238E27FC236}">
                <a16:creationId xmlns:a16="http://schemas.microsoft.com/office/drawing/2014/main" id="{5AFC629A-64AA-2665-7067-30BBCC9791B2}"/>
              </a:ext>
            </a:extLst>
          </p:cNvPr>
          <p:cNvPicPr>
            <a:picLocks noChangeAspect="1"/>
          </p:cNvPicPr>
          <p:nvPr/>
        </p:nvPicPr>
        <p:blipFill>
          <a:blip r:embed="rId2"/>
          <a:stretch>
            <a:fillRect/>
          </a:stretch>
        </p:blipFill>
        <p:spPr>
          <a:xfrm>
            <a:off x="1" y="1310127"/>
            <a:ext cx="3563888" cy="2779031"/>
          </a:xfrm>
          <a:prstGeom prst="rect">
            <a:avLst/>
          </a:prstGeom>
        </p:spPr>
      </p:pic>
      <p:sp>
        <p:nvSpPr>
          <p:cNvPr id="5" name="TextBox 4">
            <a:extLst>
              <a:ext uri="{FF2B5EF4-FFF2-40B4-BE49-F238E27FC236}">
                <a16:creationId xmlns:a16="http://schemas.microsoft.com/office/drawing/2014/main" id="{1319CE84-17BE-9DF8-E565-C4888151157C}"/>
              </a:ext>
            </a:extLst>
          </p:cNvPr>
          <p:cNvSpPr txBox="1"/>
          <p:nvPr/>
        </p:nvSpPr>
        <p:spPr>
          <a:xfrm>
            <a:off x="400012" y="4262370"/>
            <a:ext cx="8317822" cy="2132187"/>
          </a:xfrm>
          <a:prstGeom prst="rect">
            <a:avLst/>
          </a:prstGeom>
          <a:noFill/>
        </p:spPr>
        <p:txBody>
          <a:bodyPr wrap="square">
            <a:spAutoFit/>
          </a:bodyPr>
          <a:lstStyle/>
          <a:p>
            <a:pPr marL="16510" algn="just" rtl="1">
              <a:lnSpc>
                <a:spcPct val="150000"/>
              </a:lnSpc>
              <a:tabLst>
                <a:tab pos="457200" algn="l"/>
              </a:tabLst>
            </a:pPr>
            <a:r>
              <a:rPr lang="he-IL" sz="1800" dirty="0">
                <a:effectLst/>
                <a:highlight>
                  <a:srgbClr val="FFFF00"/>
                </a:highlight>
                <a:latin typeface="Times New Roman" panose="02020603050405020304" pitchFamily="18" charset="0"/>
                <a:ea typeface="Times New Roman" panose="02020603050405020304" pitchFamily="18" charset="0"/>
                <a:cs typeface="David" panose="020E0502060401010101" pitchFamily="34" charset="-79"/>
              </a:rPr>
              <a:t>הסבר</a:t>
            </a:r>
            <a:r>
              <a:rPr lang="he-IL" sz="1800" dirty="0">
                <a:effectLst/>
                <a:latin typeface="Times New Roman" panose="02020603050405020304" pitchFamily="18" charset="0"/>
                <a:ea typeface="Times New Roman" panose="02020603050405020304" pitchFamily="18" charset="0"/>
                <a:cs typeface="David" panose="020E0502060401010101" pitchFamily="34" charset="-79"/>
              </a:rPr>
              <a:t>: עליה במחיר גורם ייצור (מחיר המים המשמשים כגורם ייצור) תעלה כלפי מעלה את עקומת ההיצע (ההיצע מצטמצם) ולכן המחיר בשוק עולה. נתון שהמחיר בשוק לאחר שני השינויים ירד, מכאן שבהכרח שעקומת הביקוש הצטמצמה (זזה שמאלה) , כלומר בשיווי המשקל לאחר שני השינויים המחיר ירד והכמות בשוק ירדה. נתון שהכנסות המשפחות ירדו, אם הביקוש שלהם למוצר ירד גם הוא, מכאן שהמוצר הינו </a:t>
            </a:r>
            <a:r>
              <a:rPr lang="he-IL" sz="1800" u="sng" dirty="0">
                <a:effectLst/>
                <a:latin typeface="Times New Roman" panose="02020603050405020304" pitchFamily="18" charset="0"/>
                <a:ea typeface="Times New Roman" panose="02020603050405020304" pitchFamily="18" charset="0"/>
                <a:cs typeface="David" panose="020E0502060401010101" pitchFamily="34" charset="-79"/>
              </a:rPr>
              <a:t>מוצר נורמלי</a:t>
            </a:r>
            <a:r>
              <a:rPr lang="he-IL" sz="1800" dirty="0">
                <a:effectLst/>
                <a:latin typeface="Times New Roman" panose="02020603050405020304" pitchFamily="18" charset="0"/>
                <a:ea typeface="Times New Roman" panose="02020603050405020304" pitchFamily="18" charset="0"/>
                <a:cs typeface="David" panose="020E0502060401010101" pitchFamily="34" charset="-79"/>
              </a:rPr>
              <a:t>. </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30412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p:cNvSpPr txBox="1">
            <a:spLocks/>
          </p:cNvSpPr>
          <p:nvPr/>
        </p:nvSpPr>
        <p:spPr>
          <a:xfrm>
            <a:off x="0" y="1"/>
            <a:ext cx="9144000"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3600" b="1" dirty="0">
                <a:solidFill>
                  <a:prstClr val="black"/>
                </a:solidFill>
              </a:rPr>
              <a:t>שאלה 4 </a:t>
            </a:r>
          </a:p>
        </p:txBody>
      </p:sp>
      <p:sp>
        <p:nvSpPr>
          <p:cNvPr id="2" name="מלבן 1"/>
          <p:cNvSpPr/>
          <p:nvPr/>
        </p:nvSpPr>
        <p:spPr>
          <a:xfrm>
            <a:off x="539552" y="764704"/>
            <a:ext cx="7920880" cy="3785652"/>
          </a:xfrm>
          <a:prstGeom prst="rect">
            <a:avLst/>
          </a:prstGeom>
        </p:spPr>
        <p:txBody>
          <a:bodyPr wrap="square">
            <a:spAutoFit/>
          </a:bodyPr>
          <a:lstStyle/>
          <a:p>
            <a:pPr>
              <a:lnSpc>
                <a:spcPct val="150000"/>
              </a:lnSpc>
            </a:pPr>
            <a:r>
              <a:rPr lang="he-IL" sz="2000" dirty="0">
                <a:solidFill>
                  <a:prstClr val="black"/>
                </a:solidFill>
              </a:rPr>
              <a:t>הניחו שעקומות הביקוש לתה וקפה יורדות משמאל לימין. בגלל שיטפונות נפגעו מטעי התה וכתוצאה מכך קטן ההיצע. </a:t>
            </a:r>
            <a:endParaRPr lang="en-US" sz="2000" dirty="0">
              <a:solidFill>
                <a:prstClr val="black"/>
              </a:solidFill>
            </a:endParaRPr>
          </a:p>
          <a:p>
            <a:pPr>
              <a:lnSpc>
                <a:spcPct val="150000"/>
              </a:lnSpc>
            </a:pPr>
            <a:r>
              <a:rPr lang="he-IL" sz="2000" dirty="0">
                <a:solidFill>
                  <a:prstClr val="black"/>
                </a:solidFill>
              </a:rPr>
              <a:t>א. הראו בעזרת תרשימים את השינויים בענף התה. </a:t>
            </a:r>
          </a:p>
          <a:p>
            <a:pPr>
              <a:lnSpc>
                <a:spcPct val="150000"/>
              </a:lnSpc>
            </a:pPr>
            <a:r>
              <a:rPr lang="he-IL" sz="2000" dirty="0">
                <a:solidFill>
                  <a:prstClr val="black"/>
                </a:solidFill>
              </a:rPr>
              <a:t>    מה יקרה למחיר התה ולכמות הנמכרת ממנו?  </a:t>
            </a:r>
          </a:p>
          <a:p>
            <a:pPr>
              <a:lnSpc>
                <a:spcPct val="150000"/>
              </a:lnSpc>
            </a:pPr>
            <a:r>
              <a:rPr lang="he-IL" sz="2000" dirty="0">
                <a:solidFill>
                  <a:prstClr val="black"/>
                </a:solidFill>
              </a:rPr>
              <a:t>    מה יקרה להוצאות הצרכנים על תה?</a:t>
            </a:r>
          </a:p>
          <a:p>
            <a:pPr>
              <a:lnSpc>
                <a:spcPct val="150000"/>
              </a:lnSpc>
            </a:pPr>
            <a:r>
              <a:rPr lang="he-IL" sz="2000" dirty="0">
                <a:solidFill>
                  <a:prstClr val="black"/>
                </a:solidFill>
              </a:rPr>
              <a:t>ב. בהנחה שתה וקפה הם מוצרים תחליפיים עבור הצרכנים,</a:t>
            </a:r>
            <a:r>
              <a:rPr lang="he-IL" sz="2000" i="1" dirty="0">
                <a:solidFill>
                  <a:prstClr val="black"/>
                </a:solidFill>
              </a:rPr>
              <a:t> </a:t>
            </a:r>
          </a:p>
          <a:p>
            <a:pPr>
              <a:lnSpc>
                <a:spcPct val="150000"/>
              </a:lnSpc>
            </a:pPr>
            <a:r>
              <a:rPr lang="he-IL" sz="2000" i="1" dirty="0">
                <a:solidFill>
                  <a:prstClr val="black"/>
                </a:solidFill>
              </a:rPr>
              <a:t>    </a:t>
            </a:r>
            <a:r>
              <a:rPr lang="he-IL" sz="2000" dirty="0">
                <a:solidFill>
                  <a:prstClr val="black"/>
                </a:solidFill>
              </a:rPr>
              <a:t>הראו בעזרת תרשימים את השינויים שיתרחשו בענף הקפה. </a:t>
            </a:r>
          </a:p>
          <a:p>
            <a:pPr>
              <a:lnSpc>
                <a:spcPct val="150000"/>
              </a:lnSpc>
            </a:pPr>
            <a:r>
              <a:rPr lang="he-IL" sz="2000" dirty="0">
                <a:solidFill>
                  <a:prstClr val="black"/>
                </a:solidFill>
              </a:rPr>
              <a:t>    מה יקרה למחיר הקפה ולכמות הנמכרת ממנו?</a:t>
            </a:r>
            <a:endParaRPr lang="en-US" sz="2000" dirty="0">
              <a:solidFill>
                <a:prstClr val="black"/>
              </a:solidFill>
            </a:endParaRPr>
          </a:p>
        </p:txBody>
      </p:sp>
    </p:spTree>
    <p:extLst>
      <p:ext uri="{BB962C8B-B14F-4D97-AF65-F5344CB8AC3E}">
        <p14:creationId xmlns:p14="http://schemas.microsoft.com/office/powerpoint/2010/main" val="1686020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6351341" y="1"/>
            <a:ext cx="2792659" cy="485963"/>
          </a:xfrm>
        </p:spPr>
        <p:txBody>
          <a:bodyPr>
            <a:noAutofit/>
          </a:bodyPr>
          <a:lstStyle/>
          <a:p>
            <a:pPr algn="r"/>
            <a:r>
              <a:rPr lang="he-IL" sz="3600" b="1" dirty="0"/>
              <a:t>שאלה 4 </a:t>
            </a:r>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cxnSp>
        <p:nvCxnSpPr>
          <p:cNvPr id="43" name="מחבר ישר 42"/>
          <p:cNvCxnSpPr/>
          <p:nvPr/>
        </p:nvCxnSpPr>
        <p:spPr>
          <a:xfrm rot="5400000">
            <a:off x="-852782" y="4097980"/>
            <a:ext cx="2805593" cy="143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4" name="Object 1"/>
          <p:cNvGraphicFramePr>
            <a:graphicFrameLocks noChangeAspect="1"/>
          </p:cNvGraphicFramePr>
          <p:nvPr/>
        </p:nvGraphicFramePr>
        <p:xfrm>
          <a:off x="298450" y="2109788"/>
          <a:ext cx="566738" cy="536575"/>
        </p:xfrm>
        <a:graphic>
          <a:graphicData uri="http://schemas.openxmlformats.org/presentationml/2006/ole">
            <mc:AlternateContent xmlns:mc="http://schemas.openxmlformats.org/markup-compatibility/2006">
              <mc:Choice xmlns:v="urn:schemas-microsoft-com:vml" Requires="v">
                <p:oleObj name="Equation" r:id="rId3" imgW="215640" imgH="203040" progId="Equation.DSMT4">
                  <p:embed/>
                </p:oleObj>
              </mc:Choice>
              <mc:Fallback>
                <p:oleObj name="Equation" r:id="rId3" imgW="215640" imgH="203040" progId="Equation.DSMT4">
                  <p:embed/>
                  <p:pic>
                    <p:nvPicPr>
                      <p:cNvPr id="44" name="Object 1"/>
                      <p:cNvPicPr>
                        <a:picLocks noChangeAspect="1" noChangeArrowheads="1"/>
                      </p:cNvPicPr>
                      <p:nvPr/>
                    </p:nvPicPr>
                    <p:blipFill>
                      <a:blip r:embed="rId4"/>
                      <a:srcRect/>
                      <a:stretch>
                        <a:fillRect/>
                      </a:stretch>
                    </p:blipFill>
                    <p:spPr bwMode="auto">
                      <a:xfrm>
                        <a:off x="298450" y="2109788"/>
                        <a:ext cx="56673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47" name="מחבר ישר 46"/>
          <p:cNvCxnSpPr/>
          <p:nvPr/>
        </p:nvCxnSpPr>
        <p:spPr>
          <a:xfrm>
            <a:off x="538995" y="3429000"/>
            <a:ext cx="2188350"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מחבר ישר 47"/>
          <p:cNvCxnSpPr/>
          <p:nvPr/>
        </p:nvCxnSpPr>
        <p:spPr>
          <a:xfrm flipV="1">
            <a:off x="538995" y="4000504"/>
            <a:ext cx="2616978" cy="114300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מחבר ישר 50"/>
          <p:cNvCxnSpPr/>
          <p:nvPr/>
        </p:nvCxnSpPr>
        <p:spPr>
          <a:xfrm>
            <a:off x="554332" y="3442855"/>
            <a:ext cx="2188350"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4" name="Object 2"/>
          <p:cNvGraphicFramePr>
            <a:graphicFrameLocks noChangeAspect="1"/>
          </p:cNvGraphicFramePr>
          <p:nvPr/>
        </p:nvGraphicFramePr>
        <p:xfrm>
          <a:off x="4062413" y="5572125"/>
          <a:ext cx="366712" cy="434975"/>
        </p:xfrm>
        <a:graphic>
          <a:graphicData uri="http://schemas.openxmlformats.org/presentationml/2006/ole">
            <mc:AlternateContent xmlns:mc="http://schemas.openxmlformats.org/markup-compatibility/2006">
              <mc:Choice xmlns:v="urn:schemas-microsoft-com:vml" Requires="v">
                <p:oleObj name="Equation" r:id="rId5" imgW="139680" imgH="164880" progId="Equation.DSMT4">
                  <p:embed/>
                </p:oleObj>
              </mc:Choice>
              <mc:Fallback>
                <p:oleObj name="Equation" r:id="rId5" imgW="139680" imgH="164880" progId="Equation.DSMT4">
                  <p:embed/>
                  <p:pic>
                    <p:nvPicPr>
                      <p:cNvPr id="54" name="Object 2"/>
                      <p:cNvPicPr>
                        <a:picLocks noChangeAspect="1" noChangeArrowheads="1"/>
                      </p:cNvPicPr>
                      <p:nvPr/>
                    </p:nvPicPr>
                    <p:blipFill>
                      <a:blip r:embed="rId6"/>
                      <a:srcRect/>
                      <a:stretch>
                        <a:fillRect/>
                      </a:stretch>
                    </p:blipFill>
                    <p:spPr bwMode="auto">
                      <a:xfrm>
                        <a:off x="4062413" y="5572125"/>
                        <a:ext cx="36671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55" name="מחבר ישר 54"/>
          <p:cNvCxnSpPr/>
          <p:nvPr/>
        </p:nvCxnSpPr>
        <p:spPr>
          <a:xfrm>
            <a:off x="550089" y="5500702"/>
            <a:ext cx="3677454"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מחבר ישר 66"/>
          <p:cNvCxnSpPr/>
          <p:nvPr/>
        </p:nvCxnSpPr>
        <p:spPr>
          <a:xfrm rot="5400000">
            <a:off x="3719250" y="4091633"/>
            <a:ext cx="2805593" cy="143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9" name="Object 1"/>
          <p:cNvGraphicFramePr>
            <a:graphicFrameLocks noChangeAspect="1"/>
          </p:cNvGraphicFramePr>
          <p:nvPr/>
        </p:nvGraphicFramePr>
        <p:xfrm>
          <a:off x="4549440" y="2250101"/>
          <a:ext cx="566737" cy="469900"/>
        </p:xfrm>
        <a:graphic>
          <a:graphicData uri="http://schemas.openxmlformats.org/presentationml/2006/ole">
            <mc:AlternateContent xmlns:mc="http://schemas.openxmlformats.org/markup-compatibility/2006">
              <mc:Choice xmlns:v="urn:schemas-microsoft-com:vml" Requires="v">
                <p:oleObj name="Equation" r:id="rId7" imgW="215640" imgH="177480" progId="Equation.3">
                  <p:embed/>
                </p:oleObj>
              </mc:Choice>
              <mc:Fallback>
                <p:oleObj name="Equation" r:id="rId7" imgW="215640" imgH="177480" progId="Equation.3">
                  <p:embed/>
                  <p:pic>
                    <p:nvPicPr>
                      <p:cNvPr id="69"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49440" y="2250101"/>
                        <a:ext cx="5667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72" name="מחבר ישר 71"/>
          <p:cNvCxnSpPr/>
          <p:nvPr/>
        </p:nvCxnSpPr>
        <p:spPr>
          <a:xfrm>
            <a:off x="5111027" y="3422653"/>
            <a:ext cx="2188350" cy="2071702"/>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מחבר ישר 72"/>
          <p:cNvCxnSpPr/>
          <p:nvPr/>
        </p:nvCxnSpPr>
        <p:spPr>
          <a:xfrm flipV="1">
            <a:off x="5111027" y="3994157"/>
            <a:ext cx="2616978" cy="114300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מחבר ישר 73"/>
          <p:cNvCxnSpPr/>
          <p:nvPr/>
        </p:nvCxnSpPr>
        <p:spPr>
          <a:xfrm flipV="1">
            <a:off x="5140810" y="3526625"/>
            <a:ext cx="2601523" cy="1143008"/>
          </a:xfrm>
          <a:prstGeom prst="line">
            <a:avLst/>
          </a:prstGeom>
          <a:ln w="412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6" name="Object 2"/>
          <p:cNvGraphicFramePr>
            <a:graphicFrameLocks noChangeAspect="1"/>
          </p:cNvGraphicFramePr>
          <p:nvPr/>
        </p:nvGraphicFramePr>
        <p:xfrm>
          <a:off x="8637384" y="5565775"/>
          <a:ext cx="414541" cy="386341"/>
        </p:xfrm>
        <a:graphic>
          <a:graphicData uri="http://schemas.openxmlformats.org/presentationml/2006/ole">
            <mc:AlternateContent xmlns:mc="http://schemas.openxmlformats.org/markup-compatibility/2006">
              <mc:Choice xmlns:v="urn:schemas-microsoft-com:vml" Requires="v">
                <p:oleObj name="Equation" r:id="rId9" imgW="177480" imgH="164880" progId="Equation.DSMT4">
                  <p:embed/>
                </p:oleObj>
              </mc:Choice>
              <mc:Fallback>
                <p:oleObj name="Equation" r:id="rId9" imgW="177480" imgH="164880" progId="Equation.DSMT4">
                  <p:embed/>
                  <p:pic>
                    <p:nvPicPr>
                      <p:cNvPr id="76" name="Object 2"/>
                      <p:cNvPicPr>
                        <a:picLocks noChangeAspect="1" noChangeArrowheads="1"/>
                      </p:cNvPicPr>
                      <p:nvPr/>
                    </p:nvPicPr>
                    <p:blipFill>
                      <a:blip r:embed="rId10"/>
                      <a:srcRect/>
                      <a:stretch>
                        <a:fillRect/>
                      </a:stretch>
                    </p:blipFill>
                    <p:spPr bwMode="auto">
                      <a:xfrm>
                        <a:off x="8637384" y="5565775"/>
                        <a:ext cx="414541" cy="386341"/>
                      </a:xfrm>
                      <a:prstGeom prst="rect">
                        <a:avLst/>
                      </a:prstGeom>
                      <a:noFill/>
                      <a:ln>
                        <a:noFill/>
                      </a:ln>
                    </p:spPr>
                  </p:pic>
                </p:oleObj>
              </mc:Fallback>
            </mc:AlternateContent>
          </a:graphicData>
        </a:graphic>
      </p:graphicFrame>
      <p:cxnSp>
        <p:nvCxnSpPr>
          <p:cNvPr id="78" name="מחבר ישר 77"/>
          <p:cNvCxnSpPr/>
          <p:nvPr/>
        </p:nvCxnSpPr>
        <p:spPr>
          <a:xfrm>
            <a:off x="5122121" y="5494355"/>
            <a:ext cx="3677454" cy="158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כותרת 1"/>
          <p:cNvSpPr txBox="1">
            <a:spLocks/>
          </p:cNvSpPr>
          <p:nvPr/>
        </p:nvSpPr>
        <p:spPr>
          <a:xfrm>
            <a:off x="8078596" y="766227"/>
            <a:ext cx="714316" cy="500042"/>
          </a:xfrm>
          <a:prstGeom prst="rect">
            <a:avLst/>
          </a:prstGeom>
          <a:solidFill>
            <a:schemeClr val="accent6">
              <a:lumMod val="60000"/>
              <a:lumOff val="40000"/>
            </a:schemeClr>
          </a:solidFill>
        </p:spPr>
        <p:style>
          <a:lnRef idx="1">
            <a:schemeClr val="accent3"/>
          </a:lnRef>
          <a:fillRef idx="2">
            <a:schemeClr val="accent3"/>
          </a:fillRef>
          <a:effectRef idx="1">
            <a:schemeClr val="accent3"/>
          </a:effectRef>
          <a:fontRef idx="minor">
            <a:schemeClr val="dk1"/>
          </a:fontRef>
        </p:style>
        <p:txBody>
          <a:bodyPr vert="horz" lIns="91440" tIns="45720" rIns="91440" bIns="45720" rtlCol="1" anchor="ctr">
            <a:normAutofit fontScale="75000" lnSpcReduction="20000"/>
          </a:bodyPr>
          <a:lstStyle/>
          <a:p>
            <a:pPr marL="0" marR="0" lvl="0" indent="0" algn="r" defTabSz="914400" rtl="1" eaLnBrk="1" fontAlgn="auto" latinLnBrk="0" hangingPunct="1">
              <a:lnSpc>
                <a:spcPct val="100000"/>
              </a:lnSpc>
              <a:spcBef>
                <a:spcPct val="0"/>
              </a:spcBef>
              <a:spcAft>
                <a:spcPts val="0"/>
              </a:spcAft>
              <a:buClrTx/>
              <a:buSzTx/>
              <a:buFontTx/>
              <a:buNone/>
              <a:tabLst/>
              <a:defRPr/>
            </a:pPr>
            <a:r>
              <a:rPr lang="he-IL" sz="4400" b="1" u="sng" dirty="0">
                <a:latin typeface="+mj-lt"/>
                <a:ea typeface="+mj-ea"/>
                <a:cs typeface="+mj-cs"/>
              </a:rPr>
              <a:t>תה</a:t>
            </a:r>
            <a:endParaRPr kumimoji="0" lang="he-IL" sz="4400" b="1" i="0" u="sng" strike="noStrike" kern="1200" cap="none" spc="0" normalizeH="0" baseline="0" noProof="0" dirty="0">
              <a:ln>
                <a:noFill/>
              </a:ln>
              <a:solidFill>
                <a:schemeClr val="tx1"/>
              </a:solidFill>
              <a:effectLst/>
              <a:uLnTx/>
              <a:uFillTx/>
              <a:latin typeface="+mj-lt"/>
              <a:ea typeface="+mj-ea"/>
              <a:cs typeface="+mj-cs"/>
            </a:endParaRPr>
          </a:p>
        </p:txBody>
      </p:sp>
      <p:sp>
        <p:nvSpPr>
          <p:cNvPr id="80" name="כותרת 1"/>
          <p:cNvSpPr txBox="1">
            <a:spLocks/>
          </p:cNvSpPr>
          <p:nvPr/>
        </p:nvSpPr>
        <p:spPr>
          <a:xfrm>
            <a:off x="3059832" y="2044871"/>
            <a:ext cx="930340" cy="507001"/>
          </a:xfrm>
          <a:prstGeom prst="rect">
            <a:avLst/>
          </a:prstGeom>
          <a:solidFill>
            <a:schemeClr val="accent4">
              <a:lumMod val="75000"/>
            </a:schemeClr>
          </a:solidFill>
        </p:spPr>
        <p:style>
          <a:lnRef idx="1">
            <a:schemeClr val="accent3"/>
          </a:lnRef>
          <a:fillRef idx="1003">
            <a:schemeClr val="lt2"/>
          </a:fillRef>
          <a:effectRef idx="1">
            <a:schemeClr val="accent3"/>
          </a:effectRef>
          <a:fontRef idx="minor">
            <a:schemeClr val="dk1"/>
          </a:fontRef>
        </p:style>
        <p:txBody>
          <a:bodyPr vert="horz" lIns="91440" tIns="45720" rIns="91440" bIns="45720" rtlCol="1" anchor="ctr">
            <a:normAutofit fontScale="75000" lnSpcReduction="20000"/>
          </a:bodyPr>
          <a:lstStyle/>
          <a:p>
            <a:pPr marL="0" marR="0" lvl="0" indent="0" algn="r" defTabSz="914400" rtl="1" eaLnBrk="1" fontAlgn="auto" latinLnBrk="0" hangingPunct="1">
              <a:lnSpc>
                <a:spcPct val="100000"/>
              </a:lnSpc>
              <a:spcBef>
                <a:spcPct val="0"/>
              </a:spcBef>
              <a:spcAft>
                <a:spcPts val="0"/>
              </a:spcAft>
              <a:buClrTx/>
              <a:buSzTx/>
              <a:buFontTx/>
              <a:buNone/>
              <a:tabLst/>
              <a:defRPr/>
            </a:pPr>
            <a:r>
              <a:rPr lang="he-IL" sz="4400" b="1" u="sng" dirty="0">
                <a:solidFill>
                  <a:schemeClr val="bg2"/>
                </a:solidFill>
                <a:latin typeface="+mj-lt"/>
                <a:ea typeface="+mj-ea"/>
                <a:cs typeface="+mj-cs"/>
              </a:rPr>
              <a:t>קפה</a:t>
            </a:r>
            <a:endParaRPr kumimoji="0" lang="he-IL" sz="4400" b="1" i="0" u="sng" strike="noStrike" kern="1200" cap="none" spc="0" normalizeH="0" baseline="0" noProof="0" dirty="0">
              <a:ln>
                <a:noFill/>
              </a:ln>
              <a:solidFill>
                <a:schemeClr val="bg2"/>
              </a:solidFill>
              <a:effectLst/>
              <a:uLnTx/>
              <a:uFillTx/>
              <a:latin typeface="+mj-lt"/>
              <a:ea typeface="+mj-ea"/>
              <a:cs typeface="+mj-cs"/>
            </a:endParaRPr>
          </a:p>
        </p:txBody>
      </p:sp>
      <p:cxnSp>
        <p:nvCxnSpPr>
          <p:cNvPr id="81" name="מחבר ישר 80"/>
          <p:cNvCxnSpPr/>
          <p:nvPr/>
        </p:nvCxnSpPr>
        <p:spPr>
          <a:xfrm rot="10800000" flipV="1">
            <a:off x="5122897" y="4594174"/>
            <a:ext cx="1228445" cy="2"/>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2" name="מחבר ישר 81"/>
          <p:cNvCxnSpPr/>
          <p:nvPr/>
        </p:nvCxnSpPr>
        <p:spPr>
          <a:xfrm rot="5400000" flipH="1" flipV="1">
            <a:off x="5879995" y="5029357"/>
            <a:ext cx="928693" cy="13999"/>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83" name="Object 7"/>
          <p:cNvGraphicFramePr>
            <a:graphicFrameLocks noChangeAspect="1"/>
          </p:cNvGraphicFramePr>
          <p:nvPr/>
        </p:nvGraphicFramePr>
        <p:xfrm>
          <a:off x="4632325" y="4437063"/>
          <a:ext cx="455613" cy="452437"/>
        </p:xfrm>
        <a:graphic>
          <a:graphicData uri="http://schemas.openxmlformats.org/presentationml/2006/ole">
            <mc:AlternateContent xmlns:mc="http://schemas.openxmlformats.org/markup-compatibility/2006">
              <mc:Choice xmlns:v="urn:schemas-microsoft-com:vml" Requires="v">
                <p:oleObj name="Equation" r:id="rId11" imgW="241200" imgH="228600" progId="Equation.DSMT4">
                  <p:embed/>
                </p:oleObj>
              </mc:Choice>
              <mc:Fallback>
                <p:oleObj name="Equation" r:id="rId11" imgW="241200" imgH="228600" progId="Equation.DSMT4">
                  <p:embed/>
                  <p:pic>
                    <p:nvPicPr>
                      <p:cNvPr id="83" name="Object 7"/>
                      <p:cNvPicPr>
                        <a:picLocks noChangeAspect="1" noChangeArrowheads="1"/>
                      </p:cNvPicPr>
                      <p:nvPr/>
                    </p:nvPicPr>
                    <p:blipFill>
                      <a:blip r:embed="rId12"/>
                      <a:srcRect/>
                      <a:stretch>
                        <a:fillRect/>
                      </a:stretch>
                    </p:blipFill>
                    <p:spPr bwMode="auto">
                      <a:xfrm>
                        <a:off x="4632325" y="4437063"/>
                        <a:ext cx="455613"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84" name="Object 8"/>
          <p:cNvGraphicFramePr>
            <a:graphicFrameLocks noChangeAspect="1"/>
          </p:cNvGraphicFramePr>
          <p:nvPr/>
        </p:nvGraphicFramePr>
        <p:xfrm>
          <a:off x="6315075" y="5527675"/>
          <a:ext cx="355600" cy="406400"/>
        </p:xfrm>
        <a:graphic>
          <a:graphicData uri="http://schemas.openxmlformats.org/presentationml/2006/ole">
            <mc:AlternateContent xmlns:mc="http://schemas.openxmlformats.org/markup-compatibility/2006">
              <mc:Choice xmlns:v="urn:schemas-microsoft-com:vml" Requires="v">
                <p:oleObj name="Equation" r:id="rId13" imgW="203040" imgH="228600" progId="Equation.DSMT4">
                  <p:embed/>
                </p:oleObj>
              </mc:Choice>
              <mc:Fallback>
                <p:oleObj name="Equation" r:id="rId13" imgW="203040" imgH="228600" progId="Equation.DSMT4">
                  <p:embed/>
                  <p:pic>
                    <p:nvPicPr>
                      <p:cNvPr id="84" name="Object 8"/>
                      <p:cNvPicPr>
                        <a:picLocks noChangeAspect="1" noChangeArrowheads="1"/>
                      </p:cNvPicPr>
                      <p:nvPr/>
                    </p:nvPicPr>
                    <p:blipFill>
                      <a:blip r:embed="rId14"/>
                      <a:srcRect/>
                      <a:stretch>
                        <a:fillRect/>
                      </a:stretch>
                    </p:blipFill>
                    <p:spPr bwMode="auto">
                      <a:xfrm>
                        <a:off x="6315075" y="5527675"/>
                        <a:ext cx="355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87" name="מחבר ישר 86"/>
          <p:cNvCxnSpPr/>
          <p:nvPr/>
        </p:nvCxnSpPr>
        <p:spPr>
          <a:xfrm rot="10800000" flipV="1">
            <a:off x="5122897" y="4286252"/>
            <a:ext cx="871257" cy="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8" name="מחבר ישר 87"/>
          <p:cNvCxnSpPr/>
          <p:nvPr/>
        </p:nvCxnSpPr>
        <p:spPr>
          <a:xfrm rot="5400000" flipH="1" flipV="1">
            <a:off x="5379929" y="4886481"/>
            <a:ext cx="1214445" cy="1399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89" name="Object 7"/>
          <p:cNvGraphicFramePr>
            <a:graphicFrameLocks noChangeAspect="1"/>
          </p:cNvGraphicFramePr>
          <p:nvPr/>
        </p:nvGraphicFramePr>
        <p:xfrm>
          <a:off x="4573588" y="4079875"/>
          <a:ext cx="479425" cy="452438"/>
        </p:xfrm>
        <a:graphic>
          <a:graphicData uri="http://schemas.openxmlformats.org/presentationml/2006/ole">
            <mc:AlternateContent xmlns:mc="http://schemas.openxmlformats.org/markup-compatibility/2006">
              <mc:Choice xmlns:v="urn:schemas-microsoft-com:vml" Requires="v">
                <p:oleObj name="Equation" r:id="rId15" imgW="253800" imgH="228600" progId="Equation.DSMT4">
                  <p:embed/>
                </p:oleObj>
              </mc:Choice>
              <mc:Fallback>
                <p:oleObj name="Equation" r:id="rId15" imgW="253800" imgH="228600" progId="Equation.DSMT4">
                  <p:embed/>
                  <p:pic>
                    <p:nvPicPr>
                      <p:cNvPr id="89" name="Object 7"/>
                      <p:cNvPicPr>
                        <a:picLocks noChangeAspect="1" noChangeArrowheads="1"/>
                      </p:cNvPicPr>
                      <p:nvPr/>
                    </p:nvPicPr>
                    <p:blipFill>
                      <a:blip r:embed="rId16"/>
                      <a:srcRect/>
                      <a:stretch>
                        <a:fillRect/>
                      </a:stretch>
                    </p:blipFill>
                    <p:spPr bwMode="auto">
                      <a:xfrm>
                        <a:off x="4573588" y="4079875"/>
                        <a:ext cx="479425"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90" name="Object 8"/>
          <p:cNvGraphicFramePr>
            <a:graphicFrameLocks noChangeAspect="1"/>
          </p:cNvGraphicFramePr>
          <p:nvPr/>
        </p:nvGraphicFramePr>
        <p:xfrm>
          <a:off x="5705475" y="5508625"/>
          <a:ext cx="379413" cy="406400"/>
        </p:xfrm>
        <a:graphic>
          <a:graphicData uri="http://schemas.openxmlformats.org/presentationml/2006/ole">
            <mc:AlternateContent xmlns:mc="http://schemas.openxmlformats.org/markup-compatibility/2006">
              <mc:Choice xmlns:v="urn:schemas-microsoft-com:vml" Requires="v">
                <p:oleObj name="Equation" r:id="rId17" imgW="215640" imgH="228600" progId="Equation.DSMT4">
                  <p:embed/>
                </p:oleObj>
              </mc:Choice>
              <mc:Fallback>
                <p:oleObj name="Equation" r:id="rId17" imgW="215640" imgH="228600" progId="Equation.DSMT4">
                  <p:embed/>
                  <p:pic>
                    <p:nvPicPr>
                      <p:cNvPr id="90" name="Object 8"/>
                      <p:cNvPicPr>
                        <a:picLocks noChangeAspect="1" noChangeArrowheads="1"/>
                      </p:cNvPicPr>
                      <p:nvPr/>
                    </p:nvPicPr>
                    <p:blipFill>
                      <a:blip r:embed="rId18"/>
                      <a:srcRect/>
                      <a:stretch>
                        <a:fillRect/>
                      </a:stretch>
                    </p:blipFill>
                    <p:spPr bwMode="auto">
                      <a:xfrm>
                        <a:off x="5705475" y="5508625"/>
                        <a:ext cx="3794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94" name="מחבר ישר 93"/>
          <p:cNvCxnSpPr/>
          <p:nvPr/>
        </p:nvCxnSpPr>
        <p:spPr>
          <a:xfrm rot="5400000" flipH="1" flipV="1">
            <a:off x="5879995" y="5029355"/>
            <a:ext cx="928693" cy="1399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3" name="מחבר ישר 92"/>
          <p:cNvCxnSpPr/>
          <p:nvPr/>
        </p:nvCxnSpPr>
        <p:spPr>
          <a:xfrm rot="10800000" flipV="1">
            <a:off x="5122897" y="4594172"/>
            <a:ext cx="1228445" cy="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5" name="מחבר ישר 94"/>
          <p:cNvCxnSpPr>
            <a:cxnSpLocks/>
          </p:cNvCxnSpPr>
          <p:nvPr/>
        </p:nvCxnSpPr>
        <p:spPr>
          <a:xfrm>
            <a:off x="544829" y="2877702"/>
            <a:ext cx="2699335" cy="2565421"/>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מחבר ישר 103"/>
          <p:cNvCxnSpPr/>
          <p:nvPr/>
        </p:nvCxnSpPr>
        <p:spPr>
          <a:xfrm rot="5400000" flipH="1" flipV="1">
            <a:off x="1301956" y="5029357"/>
            <a:ext cx="928693" cy="13999"/>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05" name="Object 8"/>
          <p:cNvGraphicFramePr>
            <a:graphicFrameLocks noChangeAspect="1"/>
          </p:cNvGraphicFramePr>
          <p:nvPr/>
        </p:nvGraphicFramePr>
        <p:xfrm>
          <a:off x="1792288" y="5527675"/>
          <a:ext cx="244475" cy="406400"/>
        </p:xfrm>
        <a:graphic>
          <a:graphicData uri="http://schemas.openxmlformats.org/presentationml/2006/ole">
            <mc:AlternateContent xmlns:mc="http://schemas.openxmlformats.org/markup-compatibility/2006">
              <mc:Choice xmlns:v="urn:schemas-microsoft-com:vml" Requires="v">
                <p:oleObj name="Equation" r:id="rId19" imgW="139680" imgH="228600" progId="Equation.DSMT4">
                  <p:embed/>
                </p:oleObj>
              </mc:Choice>
              <mc:Fallback>
                <p:oleObj name="Equation" r:id="rId19" imgW="139680" imgH="228600" progId="Equation.DSMT4">
                  <p:embed/>
                  <p:pic>
                    <p:nvPicPr>
                      <p:cNvPr id="105" name="Object 8"/>
                      <p:cNvPicPr>
                        <a:picLocks noChangeAspect="1" noChangeArrowheads="1"/>
                      </p:cNvPicPr>
                      <p:nvPr/>
                    </p:nvPicPr>
                    <p:blipFill>
                      <a:blip r:embed="rId20"/>
                      <a:srcRect/>
                      <a:stretch>
                        <a:fillRect/>
                      </a:stretch>
                    </p:blipFill>
                    <p:spPr bwMode="auto">
                      <a:xfrm>
                        <a:off x="1792288" y="5527675"/>
                        <a:ext cx="2444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07" name="מחבר ישר 106"/>
          <p:cNvCxnSpPr/>
          <p:nvPr/>
        </p:nvCxnSpPr>
        <p:spPr>
          <a:xfrm rot="10800000" flipV="1">
            <a:off x="584205" y="4572010"/>
            <a:ext cx="1228445" cy="2"/>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08" name="Object 7"/>
          <p:cNvGraphicFramePr>
            <a:graphicFrameLocks noChangeAspect="1"/>
          </p:cNvGraphicFramePr>
          <p:nvPr/>
        </p:nvGraphicFramePr>
        <p:xfrm>
          <a:off x="60325" y="4416425"/>
          <a:ext cx="455613" cy="450850"/>
        </p:xfrm>
        <a:graphic>
          <a:graphicData uri="http://schemas.openxmlformats.org/presentationml/2006/ole">
            <mc:AlternateContent xmlns:mc="http://schemas.openxmlformats.org/markup-compatibility/2006">
              <mc:Choice xmlns:v="urn:schemas-microsoft-com:vml" Requires="v">
                <p:oleObj name="Equation" r:id="rId21" imgW="241200" imgH="228600" progId="Equation.DSMT4">
                  <p:embed/>
                </p:oleObj>
              </mc:Choice>
              <mc:Fallback>
                <p:oleObj name="Equation" r:id="rId21" imgW="241200" imgH="228600" progId="Equation.DSMT4">
                  <p:embed/>
                  <p:pic>
                    <p:nvPicPr>
                      <p:cNvPr id="108" name="Object 7"/>
                      <p:cNvPicPr>
                        <a:picLocks noChangeAspect="1" noChangeArrowheads="1"/>
                      </p:cNvPicPr>
                      <p:nvPr/>
                    </p:nvPicPr>
                    <p:blipFill>
                      <a:blip r:embed="rId22"/>
                      <a:srcRect/>
                      <a:stretch>
                        <a:fillRect/>
                      </a:stretch>
                    </p:blipFill>
                    <p:spPr bwMode="auto">
                      <a:xfrm>
                        <a:off x="60325" y="4416425"/>
                        <a:ext cx="455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10" name="מחבר ישר 109"/>
          <p:cNvCxnSpPr/>
          <p:nvPr/>
        </p:nvCxnSpPr>
        <p:spPr>
          <a:xfrm rot="5400000" flipH="1" flipV="1">
            <a:off x="1300314" y="5029355"/>
            <a:ext cx="928693" cy="1399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1" name="מחבר ישר 110"/>
          <p:cNvCxnSpPr/>
          <p:nvPr/>
        </p:nvCxnSpPr>
        <p:spPr>
          <a:xfrm rot="10800000" flipV="1">
            <a:off x="582563" y="4572008"/>
            <a:ext cx="1228445" cy="2"/>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2" name="מחבר ישר 111"/>
          <p:cNvCxnSpPr>
            <a:cxnSpLocks/>
          </p:cNvCxnSpPr>
          <p:nvPr/>
        </p:nvCxnSpPr>
        <p:spPr>
          <a:xfrm flipH="1" flipV="1">
            <a:off x="518357" y="4382890"/>
            <a:ext cx="1638451" cy="5576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3" name="מחבר ישר 112"/>
          <p:cNvCxnSpPr/>
          <p:nvPr/>
        </p:nvCxnSpPr>
        <p:spPr>
          <a:xfrm rot="5400000" flipH="1" flipV="1">
            <a:off x="1618934" y="4962834"/>
            <a:ext cx="1062043" cy="1369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114" name="Object 7"/>
          <p:cNvGraphicFramePr>
            <a:graphicFrameLocks noChangeAspect="1"/>
          </p:cNvGraphicFramePr>
          <p:nvPr/>
        </p:nvGraphicFramePr>
        <p:xfrm>
          <a:off x="-9525" y="4048125"/>
          <a:ext cx="504825" cy="450850"/>
        </p:xfrm>
        <a:graphic>
          <a:graphicData uri="http://schemas.openxmlformats.org/presentationml/2006/ole">
            <mc:AlternateContent xmlns:mc="http://schemas.openxmlformats.org/markup-compatibility/2006">
              <mc:Choice xmlns:v="urn:schemas-microsoft-com:vml" Requires="v">
                <p:oleObj name="Equation" r:id="rId23" imgW="266400" imgH="228600" progId="Equation.DSMT4">
                  <p:embed/>
                </p:oleObj>
              </mc:Choice>
              <mc:Fallback>
                <p:oleObj name="Equation" r:id="rId23" imgW="266400" imgH="228600" progId="Equation.DSMT4">
                  <p:embed/>
                  <p:pic>
                    <p:nvPicPr>
                      <p:cNvPr id="114" name="Object 7"/>
                      <p:cNvPicPr>
                        <a:picLocks noChangeAspect="1" noChangeArrowheads="1"/>
                      </p:cNvPicPr>
                      <p:nvPr/>
                    </p:nvPicPr>
                    <p:blipFill>
                      <a:blip r:embed="rId24"/>
                      <a:srcRect/>
                      <a:stretch>
                        <a:fillRect/>
                      </a:stretch>
                    </p:blipFill>
                    <p:spPr bwMode="auto">
                      <a:xfrm>
                        <a:off x="-9525" y="4048125"/>
                        <a:ext cx="5048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15" name="Object 8"/>
          <p:cNvGraphicFramePr>
            <a:graphicFrameLocks noChangeAspect="1"/>
          </p:cNvGraphicFramePr>
          <p:nvPr/>
        </p:nvGraphicFramePr>
        <p:xfrm>
          <a:off x="2154238" y="5516563"/>
          <a:ext cx="292100" cy="406400"/>
        </p:xfrm>
        <a:graphic>
          <a:graphicData uri="http://schemas.openxmlformats.org/presentationml/2006/ole">
            <mc:AlternateContent xmlns:mc="http://schemas.openxmlformats.org/markup-compatibility/2006">
              <mc:Choice xmlns:v="urn:schemas-microsoft-com:vml" Requires="v">
                <p:oleObj name="Equation" r:id="rId25" imgW="164880" imgH="228600" progId="Equation.DSMT4">
                  <p:embed/>
                </p:oleObj>
              </mc:Choice>
              <mc:Fallback>
                <p:oleObj name="Equation" r:id="rId25" imgW="164880" imgH="228600" progId="Equation.DSMT4">
                  <p:embed/>
                  <p:pic>
                    <p:nvPicPr>
                      <p:cNvPr id="115" name="Object 8"/>
                      <p:cNvPicPr>
                        <a:picLocks noChangeAspect="1" noChangeArrowheads="1"/>
                      </p:cNvPicPr>
                      <p:nvPr/>
                    </p:nvPicPr>
                    <p:blipFill>
                      <a:blip r:embed="rId26"/>
                      <a:srcRect/>
                      <a:stretch>
                        <a:fillRect/>
                      </a:stretch>
                    </p:blipFill>
                    <p:spPr bwMode="auto">
                      <a:xfrm>
                        <a:off x="2154238" y="5516563"/>
                        <a:ext cx="2921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 name="מלבן 2"/>
          <p:cNvSpPr/>
          <p:nvPr/>
        </p:nvSpPr>
        <p:spPr>
          <a:xfrm>
            <a:off x="6000423" y="1242137"/>
            <a:ext cx="2807179" cy="461665"/>
          </a:xfrm>
          <a:prstGeom prst="rect">
            <a:avLst/>
          </a:prstGeom>
        </p:spPr>
        <p:txBody>
          <a:bodyPr wrap="none">
            <a:spAutoFit/>
          </a:bodyPr>
          <a:lstStyle/>
          <a:p>
            <a:r>
              <a:rPr lang="he-IL" sz="2400" dirty="0"/>
              <a:t>קטן ההיצע בענף התה</a:t>
            </a:r>
          </a:p>
        </p:txBody>
      </p:sp>
      <mc:AlternateContent xmlns:mc="http://schemas.openxmlformats.org/markup-compatibility/2006" xmlns:a14="http://schemas.microsoft.com/office/drawing/2010/main">
        <mc:Choice Requires="a14">
          <p:sp>
            <p:nvSpPr>
              <p:cNvPr id="4" name="מלבן 3"/>
              <p:cNvSpPr/>
              <p:nvPr/>
            </p:nvSpPr>
            <p:spPr>
              <a:xfrm>
                <a:off x="5903762" y="1732977"/>
                <a:ext cx="1838571" cy="64492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he-IL" sz="3200" b="1" i="0">
                          <a:latin typeface="Cambria Math"/>
                        </a:rPr>
                        <m:t>𝐗</m:t>
                      </m:r>
                      <m:r>
                        <a:rPr lang="he-IL" sz="3200" b="1" i="0">
                          <a:latin typeface="Cambria Math"/>
                        </a:rPr>
                        <m:t>↓⋅</m:t>
                      </m:r>
                      <m:r>
                        <a:rPr lang="he-IL" sz="3200" b="1" i="0">
                          <a:latin typeface="Cambria Math"/>
                        </a:rPr>
                        <m:t>𝐏𝐱</m:t>
                      </m:r>
                      <m:r>
                        <a:rPr lang="he-IL" sz="3200" b="1" i="0">
                          <a:latin typeface="Cambria Math"/>
                        </a:rPr>
                        <m:t>↑</m:t>
                      </m:r>
                    </m:oMath>
                  </m:oMathPara>
                </a14:m>
                <a:endParaRPr lang="he-IL" sz="3200" b="1" dirty="0"/>
              </a:p>
            </p:txBody>
          </p:sp>
        </mc:Choice>
        <mc:Fallback xmlns="">
          <p:sp>
            <p:nvSpPr>
              <p:cNvPr id="4" name="מלבן 3"/>
              <p:cNvSpPr>
                <a:spLocks noRot="1" noChangeAspect="1" noMove="1" noResize="1" noEditPoints="1" noAdjustHandles="1" noChangeArrowheads="1" noChangeShapeType="1" noTextEdit="1"/>
              </p:cNvSpPr>
              <p:nvPr/>
            </p:nvSpPr>
            <p:spPr>
              <a:xfrm>
                <a:off x="5903762" y="1732977"/>
                <a:ext cx="1838571" cy="644920"/>
              </a:xfrm>
              <a:prstGeom prst="rect">
                <a:avLst/>
              </a:prstGeom>
              <a:blipFill>
                <a:blip r:embed="rId28"/>
                <a:stretch>
                  <a:fillRect/>
                </a:stretch>
              </a:blipFill>
            </p:spPr>
            <p:txBody>
              <a:bodyPr/>
              <a:lstStyle/>
              <a:p>
                <a:r>
                  <a:rPr lang="en-IL">
                    <a:noFill/>
                  </a:rPr>
                  <a:t> </a:t>
                </a:r>
              </a:p>
            </p:txBody>
          </p:sp>
        </mc:Fallback>
      </mc:AlternateContent>
      <p:sp>
        <p:nvSpPr>
          <p:cNvPr id="6" name="TextBox 5"/>
          <p:cNvSpPr txBox="1"/>
          <p:nvPr/>
        </p:nvSpPr>
        <p:spPr>
          <a:xfrm>
            <a:off x="3244164" y="371251"/>
            <a:ext cx="2370738" cy="769441"/>
          </a:xfrm>
          <a:prstGeom prst="rect">
            <a:avLst/>
          </a:prstGeom>
          <a:solidFill>
            <a:schemeClr val="accent3">
              <a:lumMod val="20000"/>
              <a:lumOff val="80000"/>
            </a:schemeClr>
          </a:solidFill>
        </p:spPr>
        <p:txBody>
          <a:bodyPr wrap="square" rtlCol="1">
            <a:spAutoFit/>
          </a:bodyPr>
          <a:lstStyle/>
          <a:p>
            <a:r>
              <a:rPr lang="he-IL" sz="2200" dirty="0"/>
              <a:t>תה וקפה הם מוצרים תחליפיים.</a:t>
            </a:r>
          </a:p>
        </p:txBody>
      </p:sp>
      <mc:AlternateContent xmlns:mc="http://schemas.openxmlformats.org/markup-compatibility/2006" xmlns:a14="http://schemas.microsoft.com/office/drawing/2010/main">
        <mc:Choice Requires="a14">
          <p:sp>
            <p:nvSpPr>
              <p:cNvPr id="7" name="TextBox 6"/>
              <p:cNvSpPr txBox="1"/>
              <p:nvPr/>
            </p:nvSpPr>
            <p:spPr>
              <a:xfrm>
                <a:off x="3323057" y="1321076"/>
                <a:ext cx="938425" cy="369332"/>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wrap="square" rtlCol="1">
                <a:spAutoFit/>
              </a:bodyPr>
              <a:lstStyle/>
              <a:p>
                <a:pPr/>
                <a14:m>
                  <m:oMathPara xmlns:m="http://schemas.openxmlformats.org/officeDocument/2006/math">
                    <m:oMathParaPr>
                      <m:jc m:val="centerGroup"/>
                    </m:oMathParaPr>
                    <m:oMath xmlns:m="http://schemas.openxmlformats.org/officeDocument/2006/math">
                      <m:r>
                        <a:rPr lang="en-US" b="1" i="0" smtClean="0">
                          <a:latin typeface="Cambria Math"/>
                        </a:rPr>
                        <m:t>𝐏</m:t>
                      </m:r>
                      <m:r>
                        <a:rPr lang="he-IL" b="1" i="0">
                          <a:latin typeface="Cambria Math"/>
                        </a:rPr>
                        <m:t>𝐱</m:t>
                      </m:r>
                      <m:r>
                        <a:rPr lang="he-IL" b="1" i="0">
                          <a:latin typeface="Cambria Math"/>
                        </a:rPr>
                        <m:t>↑</m:t>
                      </m:r>
                    </m:oMath>
                  </m:oMathPara>
                </a14:m>
                <a:endParaRPr lang="he-IL" b="1" dirty="0"/>
              </a:p>
            </p:txBody>
          </p:sp>
        </mc:Choice>
        <mc:Fallback xmlns="">
          <p:sp>
            <p:nvSpPr>
              <p:cNvPr id="7" name="TextBox 6"/>
              <p:cNvSpPr txBox="1">
                <a:spLocks noRot="1" noChangeAspect="1" noMove="1" noResize="1" noEditPoints="1" noAdjustHandles="1" noChangeArrowheads="1" noChangeShapeType="1" noTextEdit="1"/>
              </p:cNvSpPr>
              <p:nvPr/>
            </p:nvSpPr>
            <p:spPr>
              <a:xfrm>
                <a:off x="3323057" y="1321076"/>
                <a:ext cx="938425" cy="369332"/>
              </a:xfrm>
              <a:prstGeom prst="rect">
                <a:avLst/>
              </a:prstGeom>
              <a:blipFill>
                <a:blip r:embed="rId29"/>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242887" y="972583"/>
                <a:ext cx="2037064" cy="403124"/>
              </a:xfrm>
              <a:prstGeom prst="rect">
                <a:avLst/>
              </a:prstGeom>
            </p:spPr>
            <p:style>
              <a:lnRef idx="2">
                <a:schemeClr val="dk1"/>
              </a:lnRef>
              <a:fillRef idx="1">
                <a:schemeClr val="lt1"/>
              </a:fillRef>
              <a:effectRef idx="0">
                <a:schemeClr val="dk1"/>
              </a:effectRef>
              <a:fontRef idx="minor">
                <a:schemeClr val="dk1"/>
              </a:fontRef>
            </p:style>
            <p:txBody>
              <a:bodyPr wrap="square" rtlCol="1">
                <a:spAutoFit/>
              </a:bodyPr>
              <a:lstStyle/>
              <a:p>
                <a:pPr/>
                <a14:m>
                  <m:oMathPara xmlns:m="http://schemas.openxmlformats.org/officeDocument/2006/math">
                    <m:oMathParaPr>
                      <m:jc m:val="centerGroup"/>
                    </m:oMathParaPr>
                    <m:oMath xmlns:m="http://schemas.openxmlformats.org/officeDocument/2006/math">
                      <m:r>
                        <a:rPr lang="en-US" b="1" i="0" smtClean="0">
                          <a:latin typeface="Cambria Math"/>
                        </a:rPr>
                        <m:t> </m:t>
                      </m:r>
                      <m:r>
                        <a:rPr lang="he-IL" b="1" i="0" smtClean="0">
                          <a:latin typeface="Cambria Math"/>
                        </a:rPr>
                        <m:t> </m:t>
                      </m:r>
                      <m:r>
                        <a:rPr lang="he-IL" b="1" i="0" smtClean="0">
                          <a:latin typeface="Cambria Math"/>
                        </a:rPr>
                        <m:t>עולה</m:t>
                      </m:r>
                      <m:r>
                        <a:rPr lang="en-US" b="1" i="0" smtClean="0">
                          <a:latin typeface="Cambria Math" panose="02040503050406030204" pitchFamily="18" charset="0"/>
                        </a:rPr>
                        <m:t> </m:t>
                      </m:r>
                      <m:r>
                        <a:rPr lang="en-US" b="1" i="0" smtClean="0">
                          <a:latin typeface="Cambria Math"/>
                        </a:rPr>
                        <m:t>𝐘</m:t>
                      </m:r>
                      <m:r>
                        <a:rPr lang="he-IL" b="1" i="0" smtClean="0">
                          <a:latin typeface="Cambria Math"/>
                        </a:rPr>
                        <m:t>ל</m:t>
                      </m:r>
                      <m:r>
                        <a:rPr lang="he-IL" b="1" i="0" smtClean="0">
                          <a:latin typeface="Cambria Math"/>
                        </a:rPr>
                        <m:t> </m:t>
                      </m:r>
                      <m:r>
                        <a:rPr lang="he-IL" b="1" i="0" smtClean="0">
                          <a:latin typeface="Cambria Math"/>
                        </a:rPr>
                        <m:t>הביקוש</m:t>
                      </m:r>
                      <m:r>
                        <a:rPr lang="he-IL" b="1" i="0" smtClean="0">
                          <a:latin typeface="Cambria Math"/>
                        </a:rPr>
                        <m:t> ↑</m:t>
                      </m:r>
                    </m:oMath>
                  </m:oMathPara>
                </a14:m>
                <a:endParaRPr lang="he-IL" b="1" dirty="0"/>
              </a:p>
            </p:txBody>
          </p:sp>
        </mc:Choice>
        <mc:Fallback xmlns="">
          <p:sp>
            <p:nvSpPr>
              <p:cNvPr id="52" name="TextBox 51"/>
              <p:cNvSpPr txBox="1">
                <a:spLocks noRot="1" noChangeAspect="1" noMove="1" noResize="1" noEditPoints="1" noAdjustHandles="1" noChangeArrowheads="1" noChangeShapeType="1" noTextEdit="1"/>
              </p:cNvSpPr>
              <p:nvPr/>
            </p:nvSpPr>
            <p:spPr>
              <a:xfrm>
                <a:off x="242887" y="972583"/>
                <a:ext cx="2037064" cy="403124"/>
              </a:xfrm>
              <a:prstGeom prst="rect">
                <a:avLst/>
              </a:prstGeom>
              <a:blipFill>
                <a:blip r:embed="rId30"/>
                <a:stretch>
                  <a:fillRect b="-22059"/>
                </a:stretch>
              </a:blipFill>
            </p:spPr>
            <p:txBody>
              <a:bodyPr/>
              <a:lstStyle/>
              <a:p>
                <a:r>
                  <a:rPr lang="en-IL">
                    <a:noFill/>
                  </a:rPr>
                  <a:t> </a:t>
                </a:r>
              </a:p>
            </p:txBody>
          </p:sp>
        </mc:Fallback>
      </mc:AlternateContent>
      <p:sp>
        <p:nvSpPr>
          <p:cNvPr id="13" name="Arrow: Striped Right 12">
            <a:extLst>
              <a:ext uri="{FF2B5EF4-FFF2-40B4-BE49-F238E27FC236}">
                <a16:creationId xmlns:a16="http://schemas.microsoft.com/office/drawing/2014/main" id="{AE04682D-BEEC-47D3-AB23-93B929A4002C}"/>
              </a:ext>
            </a:extLst>
          </p:cNvPr>
          <p:cNvSpPr/>
          <p:nvPr/>
        </p:nvSpPr>
        <p:spPr>
          <a:xfrm rot="10800000">
            <a:off x="2481088" y="929781"/>
            <a:ext cx="644922" cy="566738"/>
          </a:xfrm>
          <a:prstGeom prst="strip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L"/>
          </a:p>
        </p:txBody>
      </p:sp>
      <p:sp>
        <p:nvSpPr>
          <p:cNvPr id="49" name="TextBox 48">
            <a:extLst>
              <a:ext uri="{FF2B5EF4-FFF2-40B4-BE49-F238E27FC236}">
                <a16:creationId xmlns:a16="http://schemas.microsoft.com/office/drawing/2014/main" id="{836A5769-84B0-4277-BF06-E1E90E2CB8A3}"/>
              </a:ext>
            </a:extLst>
          </p:cNvPr>
          <p:cNvSpPr txBox="1"/>
          <p:nvPr/>
        </p:nvSpPr>
        <p:spPr>
          <a:xfrm>
            <a:off x="5270087" y="2339358"/>
            <a:ext cx="3677455" cy="872034"/>
          </a:xfrm>
          <a:prstGeom prst="rect">
            <a:avLst/>
          </a:prstGeom>
          <a:noFill/>
        </p:spPr>
        <p:txBody>
          <a:bodyPr wrap="square">
            <a:spAutoFit/>
          </a:bodyPr>
          <a:lstStyle/>
          <a:p>
            <a:pPr>
              <a:lnSpc>
                <a:spcPct val="150000"/>
              </a:lnSpc>
            </a:pPr>
            <a:r>
              <a:rPr lang="he-IL" sz="1800" dirty="0">
                <a:solidFill>
                  <a:prstClr val="black"/>
                </a:solidFill>
              </a:rPr>
              <a:t>א. מה יקרה להוצאות הצרכנים על תה? </a:t>
            </a:r>
            <a:r>
              <a:rPr lang="he-IL" sz="1800" b="1" dirty="0">
                <a:solidFill>
                  <a:prstClr val="black"/>
                </a:solidFill>
                <a:highlight>
                  <a:srgbClr val="FFFF00"/>
                </a:highlight>
              </a:rPr>
              <a:t>לא ניתן לדעת </a:t>
            </a:r>
            <a:r>
              <a:rPr lang="he-IL" sz="1800" b="1" dirty="0">
                <a:solidFill>
                  <a:prstClr val="black"/>
                </a:solidFill>
              </a:rPr>
              <a:t>ללא גמישות הביקוש. </a:t>
            </a:r>
          </a:p>
        </p:txBody>
      </p:sp>
    </p:spTree>
    <p:extLst>
      <p:ext uri="{BB962C8B-B14F-4D97-AF65-F5344CB8AC3E}">
        <p14:creationId xmlns:p14="http://schemas.microsoft.com/office/powerpoint/2010/main" val="50619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right)">
                                      <p:cBhvr>
                                        <p:cTn id="7" dur="500"/>
                                        <p:tgtEl>
                                          <p:spTgt spid="7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80"/>
                                        </p:tgtEl>
                                        <p:attrNameLst>
                                          <p:attrName>style.visibility</p:attrName>
                                        </p:attrNameLst>
                                      </p:cBhvr>
                                      <p:to>
                                        <p:strVal val="visible"/>
                                      </p:to>
                                    </p:set>
                                    <p:animEffect transition="in" filter="wipe(right)">
                                      <p:cBhvr>
                                        <p:cTn id="10" dur="500"/>
                                        <p:tgtEl>
                                          <p:spTgt spid="80"/>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randombar(horizontal)">
                                      <p:cBhvr>
                                        <p:cTn id="15" dur="500"/>
                                        <p:tgtEl>
                                          <p:spTgt spid="78"/>
                                        </p:tgtEl>
                                      </p:cBhvr>
                                    </p:animEffect>
                                  </p:childTnLst>
                                </p:cTn>
                              </p:par>
                              <p:par>
                                <p:cTn id="16" presetID="14" presetClass="entr" presetSubtype="10" fill="hold" nodeType="with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randombar(horizontal)">
                                      <p:cBhvr>
                                        <p:cTn id="18" dur="500"/>
                                        <p:tgtEl>
                                          <p:spTgt spid="76"/>
                                        </p:tgtEl>
                                      </p:cBhvr>
                                    </p:animEffect>
                                  </p:childTnLst>
                                </p:cTn>
                              </p:par>
                              <p:par>
                                <p:cTn id="19" presetID="14" presetClass="entr" presetSubtype="1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randombar(horizontal)">
                                      <p:cBhvr>
                                        <p:cTn id="21" dur="500"/>
                                        <p:tgtEl>
                                          <p:spTgt spid="67"/>
                                        </p:tgtEl>
                                      </p:cBhvr>
                                    </p:animEffect>
                                  </p:childTnLst>
                                </p:cTn>
                              </p:par>
                              <p:par>
                                <p:cTn id="22" presetID="14" presetClass="entr" presetSubtype="10" fill="hold" nodeType="with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randombar(horizontal)">
                                      <p:cBhvr>
                                        <p:cTn id="24" dur="500"/>
                                        <p:tgtEl>
                                          <p:spTgt spid="69"/>
                                        </p:tgtEl>
                                      </p:cBhvr>
                                    </p:animEffect>
                                  </p:childTnLst>
                                </p:cTn>
                              </p:par>
                              <p:par>
                                <p:cTn id="25" presetID="14" presetClass="entr" presetSubtype="1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randombar(horizontal)">
                                      <p:cBhvr>
                                        <p:cTn id="27" dur="500"/>
                                        <p:tgtEl>
                                          <p:spTgt spid="44"/>
                                        </p:tgtEl>
                                      </p:cBhvr>
                                    </p:animEffect>
                                  </p:childTnLst>
                                </p:cTn>
                              </p:par>
                              <p:par>
                                <p:cTn id="28" presetID="14" presetClass="entr" presetSubtype="10" fill="hold"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randombar(horizontal)">
                                      <p:cBhvr>
                                        <p:cTn id="30" dur="500"/>
                                        <p:tgtEl>
                                          <p:spTgt spid="43"/>
                                        </p:tgtEl>
                                      </p:cBhvr>
                                    </p:animEffect>
                                  </p:childTnLst>
                                </p:cTn>
                              </p:par>
                              <p:par>
                                <p:cTn id="31" presetID="14" presetClass="entr" presetSubtype="1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animEffect transition="in" filter="randombar(horizontal)">
                                      <p:cBhvr>
                                        <p:cTn id="33" dur="500"/>
                                        <p:tgtEl>
                                          <p:spTgt spid="55"/>
                                        </p:tgtEl>
                                      </p:cBhvr>
                                    </p:animEffect>
                                  </p:childTnLst>
                                </p:cTn>
                              </p:par>
                              <p:par>
                                <p:cTn id="34" presetID="14" presetClass="entr" presetSubtype="10" fill="hold"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randombar(horizontal)">
                                      <p:cBhvr>
                                        <p:cTn id="36" dur="500"/>
                                        <p:tgtEl>
                                          <p:spTgt spid="5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left)">
                                      <p:cBhvr>
                                        <p:cTn id="41" dur="500"/>
                                        <p:tgtEl>
                                          <p:spTgt spid="47"/>
                                        </p:tgtEl>
                                      </p:cBhvr>
                                    </p:animEffect>
                                  </p:childTnLst>
                                </p:cTn>
                              </p:par>
                              <p:par>
                                <p:cTn id="42" presetID="22" presetClass="entr" presetSubtype="8" fill="hold" nodeType="with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wipe(left)">
                                      <p:cBhvr>
                                        <p:cTn id="44" dur="500"/>
                                        <p:tgtEl>
                                          <p:spTgt spid="7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par>
                                <p:cTn id="50" presetID="22" presetClass="entr" presetSubtype="8" fill="hold"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left)">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1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1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xit" presetSubtype="0" fill="hold" nodeType="withEffect">
                                  <p:stCondLst>
                                    <p:cond delay="0"/>
                                  </p:stCondLst>
                                  <p:childTnLst>
                                    <p:set>
                                      <p:cBhvr>
                                        <p:cTn id="84" dur="1" fill="hold">
                                          <p:stCondLst>
                                            <p:cond delay="0"/>
                                          </p:stCondLst>
                                        </p:cTn>
                                        <p:tgtEl>
                                          <p:spTgt spid="94"/>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9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6" presetClass="entr" presetSubtype="16" fill="hold" nodeType="clickEffect">
                                  <p:stCondLst>
                                    <p:cond delay="0"/>
                                  </p:stCondLst>
                                  <p:childTnLst>
                                    <p:set>
                                      <p:cBhvr>
                                        <p:cTn id="90" dur="1" fill="hold">
                                          <p:stCondLst>
                                            <p:cond delay="0"/>
                                          </p:stCondLst>
                                        </p:cTn>
                                        <p:tgtEl>
                                          <p:spTgt spid="74"/>
                                        </p:tgtEl>
                                        <p:attrNameLst>
                                          <p:attrName>style.visibility</p:attrName>
                                        </p:attrNameLst>
                                      </p:cBhvr>
                                      <p:to>
                                        <p:strVal val="visible"/>
                                      </p:to>
                                    </p:set>
                                    <p:animEffect transition="in" filter="circle(in)">
                                      <p:cBhvr>
                                        <p:cTn id="91" dur="2000"/>
                                        <p:tgtEl>
                                          <p:spTgt spid="74"/>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89"/>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87"/>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88"/>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90"/>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4"/>
                                        </p:tgtEl>
                                        <p:attrNameLst>
                                          <p:attrName>style.visibility</p:attrName>
                                        </p:attrNameLst>
                                      </p:cBhvr>
                                      <p:to>
                                        <p:strVal val="visible"/>
                                      </p:to>
                                    </p:set>
                                    <p:animEffect transition="in" filter="barn(inVertical)">
                                      <p:cBhvr>
                                        <p:cTn id="106" dur="500"/>
                                        <p:tgtEl>
                                          <p:spTgt spid="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fade">
                                      <p:cBhvr>
                                        <p:cTn id="111" dur="500"/>
                                        <p:tgtEl>
                                          <p:spTgt spid="49"/>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6"/>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6" presetClass="entr" presetSubtype="16" fill="hold" grpId="0" nodeType="clickEffect">
                                  <p:stCondLst>
                                    <p:cond delay="0"/>
                                  </p:stCondLst>
                                  <p:childTnLst>
                                    <p:set>
                                      <p:cBhvr>
                                        <p:cTn id="119" dur="1" fill="hold">
                                          <p:stCondLst>
                                            <p:cond delay="0"/>
                                          </p:stCondLst>
                                        </p:cTn>
                                        <p:tgtEl>
                                          <p:spTgt spid="7"/>
                                        </p:tgtEl>
                                        <p:attrNameLst>
                                          <p:attrName>style.visibility</p:attrName>
                                        </p:attrNameLst>
                                      </p:cBhvr>
                                      <p:to>
                                        <p:strVal val="visible"/>
                                      </p:to>
                                    </p:set>
                                    <p:animEffect transition="in" filter="circle(in)">
                                      <p:cBhvr>
                                        <p:cTn id="120" dur="2000"/>
                                        <p:tgtEl>
                                          <p:spTgt spid="7"/>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51"/>
                                        </p:tgtEl>
                                        <p:attrNameLst>
                                          <p:attrName>style.visibility</p:attrName>
                                        </p:attrNameLst>
                                      </p:cBhvr>
                                      <p:to>
                                        <p:strVal val="visible"/>
                                      </p:to>
                                    </p:set>
                                  </p:childTnLst>
                                </p:cTn>
                              </p:par>
                              <p:par>
                                <p:cTn id="129" presetID="22" presetClass="entr" presetSubtype="4"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wipe(down)">
                                      <p:cBhvr>
                                        <p:cTn id="131" dur="500"/>
                                        <p:tgtEl>
                                          <p:spTgt spid="52"/>
                                        </p:tgtEl>
                                      </p:cBhvr>
                                    </p:animEffect>
                                  </p:childTnLst>
                                </p:cTn>
                              </p:par>
                              <p:par>
                                <p:cTn id="132" presetID="1" presetClass="exit" presetSubtype="0" fill="hold" nodeType="withEffect">
                                  <p:stCondLst>
                                    <p:cond delay="0"/>
                                  </p:stCondLst>
                                  <p:childTnLst>
                                    <p:set>
                                      <p:cBhvr>
                                        <p:cTn id="133" dur="1" fill="hold">
                                          <p:stCondLst>
                                            <p:cond delay="0"/>
                                          </p:stCondLst>
                                        </p:cTn>
                                        <p:tgtEl>
                                          <p:spTgt spid="111"/>
                                        </p:tgtEl>
                                        <p:attrNameLst>
                                          <p:attrName>style.visibility</p:attrName>
                                        </p:attrNameLst>
                                      </p:cBhvr>
                                      <p:to>
                                        <p:strVal val="hidden"/>
                                      </p:to>
                                    </p:set>
                                  </p:childTnLst>
                                </p:cTn>
                              </p:par>
                              <p:par>
                                <p:cTn id="134" presetID="1" presetClass="exit" presetSubtype="0" fill="hold" nodeType="withEffect">
                                  <p:stCondLst>
                                    <p:cond delay="0"/>
                                  </p:stCondLst>
                                  <p:childTnLst>
                                    <p:set>
                                      <p:cBhvr>
                                        <p:cTn id="135" dur="1" fill="hold">
                                          <p:stCondLst>
                                            <p:cond delay="0"/>
                                          </p:stCondLst>
                                        </p:cTn>
                                        <p:tgtEl>
                                          <p:spTgt spid="110"/>
                                        </p:tgtEl>
                                        <p:attrNameLst>
                                          <p:attrName>style.visibility</p:attrName>
                                        </p:attrNameLst>
                                      </p:cBhvr>
                                      <p:to>
                                        <p:strVal val="hidden"/>
                                      </p:to>
                                    </p:set>
                                  </p:childTnLst>
                                </p:cTn>
                              </p:par>
                              <p:par>
                                <p:cTn id="136" presetID="1" presetClass="entr" presetSubtype="0" fill="hold" nodeType="withEffect">
                                  <p:stCondLst>
                                    <p:cond delay="0"/>
                                  </p:stCondLst>
                                  <p:childTnLst>
                                    <p:set>
                                      <p:cBhvr>
                                        <p:cTn id="137" dur="1" fill="hold">
                                          <p:stCondLst>
                                            <p:cond delay="0"/>
                                          </p:stCondLst>
                                        </p:cTn>
                                        <p:tgtEl>
                                          <p:spTgt spid="104"/>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95"/>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114"/>
                                        </p:tgtEl>
                                        <p:attrNameLst>
                                          <p:attrName>style.visibility</p:attrName>
                                        </p:attrNameLst>
                                      </p:cBhvr>
                                      <p:to>
                                        <p:strVal val="visible"/>
                                      </p:to>
                                    </p:set>
                                  </p:childTnLst>
                                </p:cTn>
                              </p:par>
                              <p:par>
                                <p:cTn id="146" presetID="1" presetClass="entr" presetSubtype="0" fill="hold" nodeType="withEffect">
                                  <p:stCondLst>
                                    <p:cond delay="0"/>
                                  </p:stCondLst>
                                  <p:childTnLst>
                                    <p:set>
                                      <p:cBhvr>
                                        <p:cTn id="147" dur="1" fill="hold">
                                          <p:stCondLst>
                                            <p:cond delay="0"/>
                                          </p:stCondLst>
                                        </p:cTn>
                                        <p:tgtEl>
                                          <p:spTgt spid="112"/>
                                        </p:tgtEl>
                                        <p:attrNameLst>
                                          <p:attrName>style.visibility</p:attrName>
                                        </p:attrNameLst>
                                      </p:cBhvr>
                                      <p:to>
                                        <p:strVal val="visible"/>
                                      </p:to>
                                    </p:set>
                                  </p:childTnLst>
                                </p:cTn>
                              </p:par>
                              <p:par>
                                <p:cTn id="148" presetID="1" presetClass="entr" presetSubtype="0" fill="hold" nodeType="withEffect">
                                  <p:stCondLst>
                                    <p:cond delay="0"/>
                                  </p:stCondLst>
                                  <p:childTnLst>
                                    <p:set>
                                      <p:cBhvr>
                                        <p:cTn id="149" dur="1" fill="hold">
                                          <p:stCondLst>
                                            <p:cond delay="0"/>
                                          </p:stCondLst>
                                        </p:cTn>
                                        <p:tgtEl>
                                          <p:spTgt spid="113"/>
                                        </p:tgtEl>
                                        <p:attrNameLst>
                                          <p:attrName>style.visibility</p:attrName>
                                        </p:attrNameLst>
                                      </p:cBhvr>
                                      <p:to>
                                        <p:strVal val="visible"/>
                                      </p:to>
                                    </p:set>
                                  </p:childTnLst>
                                </p:cTn>
                              </p:par>
                              <p:par>
                                <p:cTn id="150" presetID="1" presetClass="entr" presetSubtype="0" fill="hold" nodeType="withEffect">
                                  <p:stCondLst>
                                    <p:cond delay="0"/>
                                  </p:stCondLst>
                                  <p:childTnLst>
                                    <p:set>
                                      <p:cBhvr>
                                        <p:cTn id="151"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4" grpId="0" animBg="1"/>
      <p:bldP spid="6" grpId="0" animBg="1"/>
      <p:bldP spid="7" grpId="0" animBg="1"/>
      <p:bldP spid="52" grpId="0" animBg="1"/>
      <p:bldP spid="13" grpId="0" animBg="1"/>
      <p:bldP spid="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312C-767A-7747-17B7-EFC7240E966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F2827D5-3A0D-8714-C850-2491F9B26CDF}"/>
              </a:ext>
            </a:extLst>
          </p:cNvPr>
          <p:cNvSpPr/>
          <p:nvPr/>
        </p:nvSpPr>
        <p:spPr>
          <a:xfrm>
            <a:off x="154870" y="311691"/>
            <a:ext cx="7153434" cy="1555362"/>
          </a:xfrm>
          <a:prstGeom prst="rect">
            <a:avLst/>
          </a:prstGeom>
        </p:spPr>
        <p:txBody>
          <a:bodyPr wrap="square">
            <a:spAutoFit/>
          </a:bodyPr>
          <a:lstStyle/>
          <a:p>
            <a:pPr lvl="0" algn="r" rtl="1">
              <a:lnSpc>
                <a:spcPct val="150000"/>
              </a:lnSpc>
              <a:spcAft>
                <a:spcPts val="800"/>
              </a:spcAft>
            </a:pPr>
            <a:r>
              <a:rPr lang="he-IL" sz="1400" b="1" dirty="0">
                <a:effectLst/>
                <a:latin typeface="Calibri" panose="020F0502020204030204" pitchFamily="34" charset="0"/>
                <a:ea typeface="Calibri" panose="020F0502020204030204" pitchFamily="34" charset="0"/>
                <a:cs typeface="Arial" panose="020B0604020202020204" pitchFamily="34" charset="0"/>
              </a:rPr>
              <a:t>עקומת הביקוש לגבינות היא קשיחה. כעת חלו שני שינויים: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(1) הכנסת הצרכנים בשוק עלתה, (2) ומחיר החלב, המשמש כגורם ייצור משתנה ירד כך שכעת יצרני הגבינות מוכנים לייצר 100 יחידות יותר עבור כל רמת מחיר נתונה.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ידוע כי בנק' שיווי משקל החדשה </a:t>
            </a:r>
            <a:r>
              <a:rPr lang="he-IL" sz="1400" b="1" u="sng" dirty="0">
                <a:effectLst/>
                <a:latin typeface="Calibri" panose="020F0502020204030204" pitchFamily="34" charset="0"/>
                <a:ea typeface="Calibri" panose="020F0502020204030204" pitchFamily="34" charset="0"/>
                <a:cs typeface="Arial" panose="020B0604020202020204" pitchFamily="34" charset="0"/>
              </a:rPr>
              <a:t>רמת המחירים לא השתנתה.</a:t>
            </a:r>
            <a:r>
              <a:rPr lang="he-IL" sz="1400" dirty="0">
                <a:effectLst/>
                <a:latin typeface="Calibri" panose="020F0502020204030204" pitchFamily="34" charset="0"/>
                <a:ea typeface="Calibri" panose="020F0502020204030204" pitchFamily="34" charset="0"/>
                <a:cs typeface="Arial" panose="020B0604020202020204" pitchFamily="34" charset="0"/>
              </a:rPr>
              <a:t> סמנו את התשובה הנכונה ונמקו:</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D16BA622-BEB0-1DF1-E90E-2E4AE0524BCA}"/>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BF92039-BB9D-4F46-95B7-49E6508B93B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9" name="כותרת 1">
            <a:extLst>
              <a:ext uri="{FF2B5EF4-FFF2-40B4-BE49-F238E27FC236}">
                <a16:creationId xmlns:a16="http://schemas.microsoft.com/office/drawing/2014/main" id="{03185F7A-C56F-0E8C-E247-19AC5DBDB247}"/>
              </a:ext>
            </a:extLst>
          </p:cNvPr>
          <p:cNvSpPr>
            <a:spLocks noGrp="1"/>
          </p:cNvSpPr>
          <p:nvPr>
            <p:ph type="title"/>
          </p:nvPr>
        </p:nvSpPr>
        <p:spPr>
          <a:xfrm>
            <a:off x="7308304" y="3473"/>
            <a:ext cx="1835696" cy="977255"/>
          </a:xfrm>
        </p:spPr>
        <p:txBody>
          <a:bodyPr>
            <a:normAutofit/>
          </a:bodyPr>
          <a:lstStyle/>
          <a:p>
            <a:pPr algn="r"/>
            <a:r>
              <a:rPr lang="he-IL" sz="3600" b="1" dirty="0">
                <a:solidFill>
                  <a:schemeClr val="tx2">
                    <a:lumMod val="75000"/>
                  </a:schemeClr>
                </a:solidFill>
              </a:rPr>
              <a:t>שאלה </a:t>
            </a:r>
            <a:r>
              <a:rPr lang="he-IL" b="1" dirty="0">
                <a:solidFill>
                  <a:schemeClr val="tx2">
                    <a:lumMod val="75000"/>
                  </a:schemeClr>
                </a:solidFill>
              </a:rPr>
              <a:t>5</a:t>
            </a:r>
          </a:p>
        </p:txBody>
      </p:sp>
      <p:sp>
        <p:nvSpPr>
          <p:cNvPr id="3" name="TextBox 2">
            <a:extLst>
              <a:ext uri="{FF2B5EF4-FFF2-40B4-BE49-F238E27FC236}">
                <a16:creationId xmlns:a16="http://schemas.microsoft.com/office/drawing/2014/main" id="{DE7208DE-CB14-B46D-F31B-5E0980CA6B19}"/>
              </a:ext>
            </a:extLst>
          </p:cNvPr>
          <p:cNvSpPr txBox="1"/>
          <p:nvPr/>
        </p:nvSpPr>
        <p:spPr>
          <a:xfrm>
            <a:off x="5886546" y="3987229"/>
            <a:ext cx="28435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rPr>
              <a:t>3. </a:t>
            </a:r>
            <a:r>
              <a:rPr lang="he-IL" sz="1600" dirty="0">
                <a:effectLst/>
                <a:ea typeface="Calibri" panose="020F0502020204030204" pitchFamily="34" charset="0"/>
                <a:cs typeface="Arial" panose="020B0604020202020204" pitchFamily="34" charset="0"/>
              </a:rPr>
              <a:t>יתכן שגבינה מוצר ניטראלי.</a:t>
            </a:r>
            <a:endParaRPr lang="en-IL" sz="1600" dirty="0"/>
          </a:p>
        </p:txBody>
      </p:sp>
      <p:sp>
        <p:nvSpPr>
          <p:cNvPr id="5" name="TextBox 4">
            <a:extLst>
              <a:ext uri="{FF2B5EF4-FFF2-40B4-BE49-F238E27FC236}">
                <a16:creationId xmlns:a16="http://schemas.microsoft.com/office/drawing/2014/main" id="{7123DC27-6AE6-2474-2541-E10E87C4F6F1}"/>
              </a:ext>
            </a:extLst>
          </p:cNvPr>
          <p:cNvSpPr txBox="1"/>
          <p:nvPr/>
        </p:nvSpPr>
        <p:spPr>
          <a:xfrm>
            <a:off x="2964712" y="2175271"/>
            <a:ext cx="5746204" cy="338554"/>
          </a:xfrm>
          <a:prstGeom prst="rect">
            <a:avLst/>
          </a:prstGeom>
          <a:noFill/>
        </p:spPr>
        <p:txBody>
          <a:bodyPr wrap="square" rtlCol="0">
            <a:spAutoFit/>
          </a:bodyPr>
          <a:lstStyle/>
          <a:p>
            <a:pPr marL="342900" indent="-342900" algn="r" rtl="1">
              <a:buAutoNum type="arabicPeriod"/>
            </a:pPr>
            <a:r>
              <a:rPr lang="he-IL" sz="1600" dirty="0">
                <a:effectLst/>
                <a:ea typeface="Calibri" panose="020F0502020204030204" pitchFamily="34" charset="0"/>
                <a:cs typeface="Arial" panose="020B0604020202020204" pitchFamily="34" charset="0"/>
              </a:rPr>
              <a:t>עודף הצרכן ועודף היצרן בשוק הגבינות בהכרח עלה.</a:t>
            </a:r>
            <a:endParaRPr lang="en-IL" sz="1200" dirty="0"/>
          </a:p>
        </p:txBody>
      </p:sp>
      <p:sp>
        <p:nvSpPr>
          <p:cNvPr id="8" name="TextBox 7">
            <a:extLst>
              <a:ext uri="{FF2B5EF4-FFF2-40B4-BE49-F238E27FC236}">
                <a16:creationId xmlns:a16="http://schemas.microsoft.com/office/drawing/2014/main" id="{3A4992E2-A9C3-062C-CE52-699E104FB963}"/>
              </a:ext>
            </a:extLst>
          </p:cNvPr>
          <p:cNvSpPr txBox="1"/>
          <p:nvPr/>
        </p:nvSpPr>
        <p:spPr>
          <a:xfrm>
            <a:off x="4343400" y="2924918"/>
            <a:ext cx="4469758" cy="338554"/>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2</a:t>
            </a:r>
            <a:r>
              <a:rPr lang="he-IL" sz="1200" dirty="0">
                <a:effectLst/>
                <a:latin typeface="Calibri" panose="020F0502020204030204" pitchFamily="34" charset="0"/>
                <a:ea typeface="Times New Roman" panose="02020603050405020304" pitchFamily="18" charset="0"/>
                <a:cs typeface="Arial" panose="020B0604020202020204" pitchFamily="34" charset="0"/>
              </a:rPr>
              <a:t>.  </a:t>
            </a:r>
            <a:r>
              <a:rPr lang="he-IL" sz="1600" dirty="0">
                <a:effectLst/>
                <a:ea typeface="Calibri" panose="020F0502020204030204" pitchFamily="34" charset="0"/>
                <a:cs typeface="Arial" panose="020B0604020202020204" pitchFamily="34" charset="0"/>
              </a:rPr>
              <a:t>לא ניתן לדעת מה קרה להוצאות הצרכן על גבינה.</a:t>
            </a:r>
            <a:endParaRPr lang="en-IL" sz="1200" dirty="0"/>
          </a:p>
        </p:txBody>
      </p:sp>
      <p:sp>
        <p:nvSpPr>
          <p:cNvPr id="9" name="TextBox 8">
            <a:extLst>
              <a:ext uri="{FF2B5EF4-FFF2-40B4-BE49-F238E27FC236}">
                <a16:creationId xmlns:a16="http://schemas.microsoft.com/office/drawing/2014/main" id="{187DCDAE-05C4-74A6-4EE8-47D84155EA5B}"/>
              </a:ext>
            </a:extLst>
          </p:cNvPr>
          <p:cNvSpPr txBox="1"/>
          <p:nvPr/>
        </p:nvSpPr>
        <p:spPr>
          <a:xfrm>
            <a:off x="5638800" y="4736876"/>
            <a:ext cx="29959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cs typeface="Arial" panose="020B0604020202020204" pitchFamily="34" charset="0"/>
              </a:rPr>
              <a:t>4. </a:t>
            </a:r>
            <a:r>
              <a:rPr lang="he-IL" sz="1600" dirty="0">
                <a:effectLst/>
                <a:ea typeface="Calibri" panose="020F0502020204030204" pitchFamily="34" charset="0"/>
                <a:cs typeface="Arial" panose="020B0604020202020204" pitchFamily="34" charset="0"/>
              </a:rPr>
              <a:t>הוצאות הצרכן על גבינה ירדו.</a:t>
            </a:r>
            <a:endParaRPr lang="en-IL"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3948F3F-2627-7D47-EEAD-B0E0832951A2}"/>
              </a:ext>
            </a:extLst>
          </p:cNvPr>
          <p:cNvSpPr txBox="1"/>
          <p:nvPr/>
        </p:nvSpPr>
        <p:spPr>
          <a:xfrm>
            <a:off x="3834116" y="5691781"/>
            <a:ext cx="4800600" cy="307777"/>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5. כל התשובות האחרות אינן נכונות.</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1615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A054A-C24E-E432-D09A-B86247ADA9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FE8B4C-5FB2-A6D0-89EF-9AC0858D0F9B}"/>
              </a:ext>
            </a:extLst>
          </p:cNvPr>
          <p:cNvSpPr/>
          <p:nvPr/>
        </p:nvSpPr>
        <p:spPr>
          <a:xfrm>
            <a:off x="154870" y="311691"/>
            <a:ext cx="7153434" cy="1555362"/>
          </a:xfrm>
          <a:prstGeom prst="rect">
            <a:avLst/>
          </a:prstGeom>
        </p:spPr>
        <p:txBody>
          <a:bodyPr wrap="square">
            <a:spAutoFit/>
          </a:bodyPr>
          <a:lstStyle/>
          <a:p>
            <a:pPr lvl="0" algn="r" rtl="1">
              <a:lnSpc>
                <a:spcPct val="150000"/>
              </a:lnSpc>
              <a:spcAft>
                <a:spcPts val="800"/>
              </a:spcAft>
            </a:pPr>
            <a:r>
              <a:rPr lang="he-IL" sz="1400" b="1" dirty="0">
                <a:effectLst/>
                <a:latin typeface="Calibri" panose="020F0502020204030204" pitchFamily="34" charset="0"/>
                <a:ea typeface="Calibri" panose="020F0502020204030204" pitchFamily="34" charset="0"/>
                <a:cs typeface="Arial" panose="020B0604020202020204" pitchFamily="34" charset="0"/>
              </a:rPr>
              <a:t>עקומת הביקוש לגבינות היא קשיחה. כעת חלו שני שינויים: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(1) הכנסת הצרכנים בשוק עלתה, (2) ומחיר החלב, המשמש כגורם ייצור משתנה ירד כך שכעת יצרני הגבינות מוכנים לייצר 100 יחידות יותר עבור כל רמת מחיר נתונה.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ידוע כי בנק' שיווי משקל החדשה </a:t>
            </a:r>
            <a:r>
              <a:rPr lang="he-IL" sz="1400" b="1" u="sng" dirty="0">
                <a:effectLst/>
                <a:latin typeface="Calibri" panose="020F0502020204030204" pitchFamily="34" charset="0"/>
                <a:ea typeface="Calibri" panose="020F0502020204030204" pitchFamily="34" charset="0"/>
                <a:cs typeface="Arial" panose="020B0604020202020204" pitchFamily="34" charset="0"/>
              </a:rPr>
              <a:t>רמת המחירים לא השתנתה.</a:t>
            </a:r>
            <a:r>
              <a:rPr lang="he-IL" sz="1400" dirty="0">
                <a:effectLst/>
                <a:latin typeface="Calibri" panose="020F0502020204030204" pitchFamily="34" charset="0"/>
                <a:ea typeface="Calibri" panose="020F0502020204030204" pitchFamily="34" charset="0"/>
                <a:cs typeface="Arial" panose="020B0604020202020204" pitchFamily="34" charset="0"/>
              </a:rPr>
              <a:t> סמנו את התשובה הנכונה ונמקו:</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25785CF5-DDED-4F90-A520-EF39F71E9E1C}"/>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BF92039-BB9D-4F46-95B7-49E6508B93B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9" name="כותרת 1">
            <a:extLst>
              <a:ext uri="{FF2B5EF4-FFF2-40B4-BE49-F238E27FC236}">
                <a16:creationId xmlns:a16="http://schemas.microsoft.com/office/drawing/2014/main" id="{ADA49E02-7C3A-1AE4-33E9-4EF3EE351593}"/>
              </a:ext>
            </a:extLst>
          </p:cNvPr>
          <p:cNvSpPr>
            <a:spLocks noGrp="1"/>
          </p:cNvSpPr>
          <p:nvPr>
            <p:ph type="title"/>
          </p:nvPr>
        </p:nvSpPr>
        <p:spPr>
          <a:xfrm>
            <a:off x="7308304" y="3473"/>
            <a:ext cx="1835696" cy="977255"/>
          </a:xfrm>
        </p:spPr>
        <p:txBody>
          <a:bodyPr>
            <a:normAutofit/>
          </a:bodyPr>
          <a:lstStyle/>
          <a:p>
            <a:pPr algn="r"/>
            <a:r>
              <a:rPr lang="he-IL" sz="3600" b="1" dirty="0">
                <a:solidFill>
                  <a:schemeClr val="tx2">
                    <a:lumMod val="75000"/>
                  </a:schemeClr>
                </a:solidFill>
              </a:rPr>
              <a:t>שאלה </a:t>
            </a:r>
            <a:r>
              <a:rPr lang="he-IL" b="1" dirty="0">
                <a:solidFill>
                  <a:schemeClr val="tx2">
                    <a:lumMod val="75000"/>
                  </a:schemeClr>
                </a:solidFill>
              </a:rPr>
              <a:t>5</a:t>
            </a:r>
          </a:p>
        </p:txBody>
      </p:sp>
      <p:sp>
        <p:nvSpPr>
          <p:cNvPr id="3" name="TextBox 2">
            <a:extLst>
              <a:ext uri="{FF2B5EF4-FFF2-40B4-BE49-F238E27FC236}">
                <a16:creationId xmlns:a16="http://schemas.microsoft.com/office/drawing/2014/main" id="{357FEE8F-2EB8-547F-261A-33627DB0DB3F}"/>
              </a:ext>
            </a:extLst>
          </p:cNvPr>
          <p:cNvSpPr txBox="1"/>
          <p:nvPr/>
        </p:nvSpPr>
        <p:spPr>
          <a:xfrm>
            <a:off x="5886546" y="3987229"/>
            <a:ext cx="28435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rPr>
              <a:t>3. </a:t>
            </a:r>
            <a:r>
              <a:rPr lang="he-IL" sz="1600" dirty="0">
                <a:effectLst/>
                <a:ea typeface="Calibri" panose="020F0502020204030204" pitchFamily="34" charset="0"/>
                <a:cs typeface="Arial" panose="020B0604020202020204" pitchFamily="34" charset="0"/>
              </a:rPr>
              <a:t>יתכן שגבינה מוצר ניטראלי.</a:t>
            </a:r>
            <a:endParaRPr lang="en-IL" sz="1600" dirty="0"/>
          </a:p>
        </p:txBody>
      </p:sp>
      <p:sp>
        <p:nvSpPr>
          <p:cNvPr id="5" name="TextBox 4">
            <a:extLst>
              <a:ext uri="{FF2B5EF4-FFF2-40B4-BE49-F238E27FC236}">
                <a16:creationId xmlns:a16="http://schemas.microsoft.com/office/drawing/2014/main" id="{4B73E840-E188-CC00-DD41-8B43288D71E2}"/>
              </a:ext>
            </a:extLst>
          </p:cNvPr>
          <p:cNvSpPr txBox="1"/>
          <p:nvPr/>
        </p:nvSpPr>
        <p:spPr>
          <a:xfrm>
            <a:off x="2964712" y="2175271"/>
            <a:ext cx="5746204" cy="338554"/>
          </a:xfrm>
          <a:prstGeom prst="rect">
            <a:avLst/>
          </a:prstGeom>
          <a:noFill/>
        </p:spPr>
        <p:txBody>
          <a:bodyPr wrap="square" rtlCol="0">
            <a:spAutoFit/>
          </a:bodyPr>
          <a:lstStyle/>
          <a:p>
            <a:pPr marL="342900" indent="-342900" algn="r" rtl="1">
              <a:buAutoNum type="arabicPeriod"/>
            </a:pPr>
            <a:r>
              <a:rPr lang="he-IL" sz="1600" dirty="0">
                <a:effectLst/>
                <a:ea typeface="Calibri" panose="020F0502020204030204" pitchFamily="34" charset="0"/>
                <a:cs typeface="Arial" panose="020B0604020202020204" pitchFamily="34" charset="0"/>
              </a:rPr>
              <a:t>עודף הצרכן ועודף היצרן בשוק הגבינות בהכרח עלה.</a:t>
            </a:r>
            <a:endParaRPr lang="en-IL" sz="1200" dirty="0"/>
          </a:p>
        </p:txBody>
      </p:sp>
      <p:sp>
        <p:nvSpPr>
          <p:cNvPr id="8" name="TextBox 7">
            <a:extLst>
              <a:ext uri="{FF2B5EF4-FFF2-40B4-BE49-F238E27FC236}">
                <a16:creationId xmlns:a16="http://schemas.microsoft.com/office/drawing/2014/main" id="{D36E36A2-977F-CC32-36E3-8901C09D5786}"/>
              </a:ext>
            </a:extLst>
          </p:cNvPr>
          <p:cNvSpPr txBox="1"/>
          <p:nvPr/>
        </p:nvSpPr>
        <p:spPr>
          <a:xfrm>
            <a:off x="4343400" y="2924918"/>
            <a:ext cx="4469758" cy="338554"/>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2</a:t>
            </a:r>
            <a:r>
              <a:rPr lang="he-IL" sz="1200" dirty="0">
                <a:effectLst/>
                <a:latin typeface="Calibri" panose="020F0502020204030204" pitchFamily="34" charset="0"/>
                <a:ea typeface="Times New Roman" panose="02020603050405020304" pitchFamily="18" charset="0"/>
                <a:cs typeface="Arial" panose="020B0604020202020204" pitchFamily="34" charset="0"/>
              </a:rPr>
              <a:t>.  </a:t>
            </a:r>
            <a:r>
              <a:rPr lang="he-IL" sz="1600" dirty="0">
                <a:effectLst/>
                <a:ea typeface="Calibri" panose="020F0502020204030204" pitchFamily="34" charset="0"/>
                <a:cs typeface="Arial" panose="020B0604020202020204" pitchFamily="34" charset="0"/>
              </a:rPr>
              <a:t>לא ניתן לדעת מה קרה להוצאות הצרכן על גבינה.</a:t>
            </a:r>
            <a:endParaRPr lang="en-IL" sz="1200" dirty="0"/>
          </a:p>
        </p:txBody>
      </p:sp>
      <p:sp>
        <p:nvSpPr>
          <p:cNvPr id="9" name="TextBox 8">
            <a:extLst>
              <a:ext uri="{FF2B5EF4-FFF2-40B4-BE49-F238E27FC236}">
                <a16:creationId xmlns:a16="http://schemas.microsoft.com/office/drawing/2014/main" id="{F46FA648-DAF9-27EB-F958-1EACFCC4E010}"/>
              </a:ext>
            </a:extLst>
          </p:cNvPr>
          <p:cNvSpPr txBox="1"/>
          <p:nvPr/>
        </p:nvSpPr>
        <p:spPr>
          <a:xfrm>
            <a:off x="5638800" y="4736876"/>
            <a:ext cx="29959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cs typeface="Arial" panose="020B0604020202020204" pitchFamily="34" charset="0"/>
              </a:rPr>
              <a:t>4. </a:t>
            </a:r>
            <a:r>
              <a:rPr lang="he-IL" sz="1600" dirty="0">
                <a:effectLst/>
                <a:ea typeface="Calibri" panose="020F0502020204030204" pitchFamily="34" charset="0"/>
                <a:cs typeface="Arial" panose="020B0604020202020204" pitchFamily="34" charset="0"/>
              </a:rPr>
              <a:t>הוצאות הצרכן על גבינה ירדו.</a:t>
            </a:r>
            <a:endParaRPr lang="en-IL"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9C3824E-BD35-8469-D96B-D6A40FFEA005}"/>
              </a:ext>
            </a:extLst>
          </p:cNvPr>
          <p:cNvSpPr txBox="1"/>
          <p:nvPr/>
        </p:nvSpPr>
        <p:spPr>
          <a:xfrm>
            <a:off x="3834116" y="5691781"/>
            <a:ext cx="4800600" cy="307777"/>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5. כל התשובות האחרות אינן נכונות.</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8EBC1BBE-8962-7EF9-77D9-A957E41FC029}"/>
              </a:ext>
            </a:extLst>
          </p:cNvPr>
          <p:cNvCxnSpPr>
            <a:cxnSpLocks/>
          </p:cNvCxnSpPr>
          <p:nvPr/>
        </p:nvCxnSpPr>
        <p:spPr>
          <a:xfrm>
            <a:off x="1259504" y="5006680"/>
            <a:ext cx="2127121" cy="17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7BA3A8C-B19D-DD4B-6B23-7317F28CF4FC}"/>
              </a:ext>
            </a:extLst>
          </p:cNvPr>
          <p:cNvCxnSpPr>
            <a:cxnSpLocks/>
          </p:cNvCxnSpPr>
          <p:nvPr/>
        </p:nvCxnSpPr>
        <p:spPr>
          <a:xfrm flipV="1">
            <a:off x="1268721" y="2958038"/>
            <a:ext cx="0" cy="2048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04B7B96-0255-68BB-AD96-4B2D0E58974F}"/>
              </a:ext>
            </a:extLst>
          </p:cNvPr>
          <p:cNvSpPr/>
          <p:nvPr/>
        </p:nvSpPr>
        <p:spPr>
          <a:xfrm>
            <a:off x="964311" y="2793085"/>
            <a:ext cx="349776" cy="300082"/>
          </a:xfrm>
          <a:prstGeom prst="rect">
            <a:avLst/>
          </a:prstGeom>
        </p:spPr>
        <p:txBody>
          <a:bodyPr wrap="none">
            <a:spAutoFit/>
          </a:bodyPr>
          <a:lstStyle/>
          <a:p>
            <a:r>
              <a:rPr lang="en-US" sz="1350" dirty="0">
                <a:solidFill>
                  <a:prstClr val="black"/>
                </a:solidFill>
              </a:rPr>
              <a:t>Px</a:t>
            </a:r>
            <a:endParaRPr lang="he-IL" sz="1350" dirty="0">
              <a:solidFill>
                <a:prstClr val="black"/>
              </a:solidFill>
            </a:endParaRPr>
          </a:p>
        </p:txBody>
      </p:sp>
      <p:sp>
        <p:nvSpPr>
          <p:cNvPr id="12" name="TextBox 11">
            <a:extLst>
              <a:ext uri="{FF2B5EF4-FFF2-40B4-BE49-F238E27FC236}">
                <a16:creationId xmlns:a16="http://schemas.microsoft.com/office/drawing/2014/main" id="{C5C73D1F-B3E6-1DC8-E30B-3B9DEC81E032}"/>
              </a:ext>
            </a:extLst>
          </p:cNvPr>
          <p:cNvSpPr txBox="1"/>
          <p:nvPr/>
        </p:nvSpPr>
        <p:spPr>
          <a:xfrm>
            <a:off x="3213034" y="5069556"/>
            <a:ext cx="275320" cy="300082"/>
          </a:xfrm>
          <a:prstGeom prst="rect">
            <a:avLst/>
          </a:prstGeom>
          <a:noFill/>
        </p:spPr>
        <p:txBody>
          <a:bodyPr wrap="square" rtlCol="1">
            <a:spAutoFit/>
          </a:bodyPr>
          <a:lstStyle/>
          <a:p>
            <a:r>
              <a:rPr lang="en-US" sz="1350" dirty="0">
                <a:solidFill>
                  <a:prstClr val="black"/>
                </a:solidFill>
              </a:rPr>
              <a:t>Q</a:t>
            </a:r>
            <a:endParaRPr lang="he-IL" sz="1350" dirty="0">
              <a:solidFill>
                <a:prstClr val="black"/>
              </a:solidFill>
            </a:endParaRPr>
          </a:p>
        </p:txBody>
      </p:sp>
      <p:cxnSp>
        <p:nvCxnSpPr>
          <p:cNvPr id="13" name="מחבר ישר 13">
            <a:extLst>
              <a:ext uri="{FF2B5EF4-FFF2-40B4-BE49-F238E27FC236}">
                <a16:creationId xmlns:a16="http://schemas.microsoft.com/office/drawing/2014/main" id="{BB719D85-CBE9-6F1B-A5D7-31F5344A1AC5}"/>
              </a:ext>
            </a:extLst>
          </p:cNvPr>
          <p:cNvCxnSpPr>
            <a:cxnSpLocks/>
          </p:cNvCxnSpPr>
          <p:nvPr/>
        </p:nvCxnSpPr>
        <p:spPr>
          <a:xfrm>
            <a:off x="1259504" y="3429000"/>
            <a:ext cx="2023271" cy="15501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CE7E485-EAD9-CAA3-4D42-B71BF7AEC3A8}"/>
              </a:ext>
            </a:extLst>
          </p:cNvPr>
          <p:cNvSpPr txBox="1"/>
          <p:nvPr/>
        </p:nvSpPr>
        <p:spPr>
          <a:xfrm>
            <a:off x="3187155" y="4725074"/>
            <a:ext cx="348172" cy="300082"/>
          </a:xfrm>
          <a:prstGeom prst="rect">
            <a:avLst/>
          </a:prstGeom>
          <a:noFill/>
        </p:spPr>
        <p:txBody>
          <a:bodyPr wrap="none" rtlCol="1">
            <a:spAutoFit/>
          </a:bodyPr>
          <a:lstStyle/>
          <a:p>
            <a:r>
              <a:rPr lang="en-US" sz="1350" dirty="0">
                <a:solidFill>
                  <a:prstClr val="black"/>
                </a:solidFill>
              </a:rPr>
              <a:t>D</a:t>
            </a:r>
            <a:r>
              <a:rPr lang="en-US" sz="1350" baseline="-25000" dirty="0">
                <a:solidFill>
                  <a:prstClr val="black"/>
                </a:solidFill>
              </a:rPr>
              <a:t>0</a:t>
            </a:r>
            <a:endParaRPr lang="he-IL" sz="1350" baseline="-25000" dirty="0">
              <a:solidFill>
                <a:prstClr val="black"/>
              </a:solidFill>
            </a:endParaRPr>
          </a:p>
        </p:txBody>
      </p:sp>
      <p:sp>
        <p:nvSpPr>
          <p:cNvPr id="15" name="TextBox 14">
            <a:extLst>
              <a:ext uri="{FF2B5EF4-FFF2-40B4-BE49-F238E27FC236}">
                <a16:creationId xmlns:a16="http://schemas.microsoft.com/office/drawing/2014/main" id="{73B420E2-0601-72D4-8108-60EC5A430CF7}"/>
              </a:ext>
            </a:extLst>
          </p:cNvPr>
          <p:cNvSpPr txBox="1"/>
          <p:nvPr/>
        </p:nvSpPr>
        <p:spPr>
          <a:xfrm>
            <a:off x="2194767" y="5015511"/>
            <a:ext cx="344966" cy="253916"/>
          </a:xfrm>
          <a:prstGeom prst="rect">
            <a:avLst/>
          </a:prstGeom>
          <a:noFill/>
        </p:spPr>
        <p:txBody>
          <a:bodyPr wrap="none" rtlCol="1">
            <a:spAutoFit/>
          </a:bodyPr>
          <a:lstStyle/>
          <a:p>
            <a:r>
              <a:rPr lang="en-US" sz="1050" dirty="0">
                <a:solidFill>
                  <a:prstClr val="black"/>
                </a:solidFill>
              </a:rPr>
              <a:t>Q1</a:t>
            </a:r>
            <a:endParaRPr lang="he-IL" sz="1050" dirty="0">
              <a:solidFill>
                <a:prstClr val="black"/>
              </a:solidFill>
            </a:endParaRPr>
          </a:p>
        </p:txBody>
      </p:sp>
      <p:cxnSp>
        <p:nvCxnSpPr>
          <p:cNvPr id="16" name="מחבר ישר 15">
            <a:extLst>
              <a:ext uri="{FF2B5EF4-FFF2-40B4-BE49-F238E27FC236}">
                <a16:creationId xmlns:a16="http://schemas.microsoft.com/office/drawing/2014/main" id="{A51661EF-3DFD-75DF-7226-F32EE2A92594}"/>
              </a:ext>
            </a:extLst>
          </p:cNvPr>
          <p:cNvCxnSpPr>
            <a:cxnSpLocks/>
          </p:cNvCxnSpPr>
          <p:nvPr/>
        </p:nvCxnSpPr>
        <p:spPr>
          <a:xfrm flipV="1">
            <a:off x="1549135" y="3326374"/>
            <a:ext cx="1888861" cy="15908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D975CCC-4119-CBBA-E8E6-DD585CD275F9}"/>
              </a:ext>
            </a:extLst>
          </p:cNvPr>
          <p:cNvSpPr txBox="1"/>
          <p:nvPr/>
        </p:nvSpPr>
        <p:spPr>
          <a:xfrm>
            <a:off x="2819183" y="3326374"/>
            <a:ext cx="322524" cy="300082"/>
          </a:xfrm>
          <a:prstGeom prst="rect">
            <a:avLst/>
          </a:prstGeom>
          <a:noFill/>
        </p:spPr>
        <p:txBody>
          <a:bodyPr wrap="none" rtlCol="1">
            <a:spAutoFit/>
          </a:bodyPr>
          <a:lstStyle/>
          <a:p>
            <a:r>
              <a:rPr lang="en-US" sz="1350" dirty="0">
                <a:solidFill>
                  <a:prstClr val="black"/>
                </a:solidFill>
              </a:rPr>
              <a:t>S</a:t>
            </a:r>
            <a:r>
              <a:rPr lang="en-US" sz="1350" baseline="-25000" dirty="0">
                <a:solidFill>
                  <a:prstClr val="black"/>
                </a:solidFill>
              </a:rPr>
              <a:t>0</a:t>
            </a:r>
            <a:endParaRPr lang="he-IL" sz="1350" baseline="-25000" dirty="0">
              <a:solidFill>
                <a:prstClr val="black"/>
              </a:solidFill>
            </a:endParaRPr>
          </a:p>
        </p:txBody>
      </p:sp>
      <p:cxnSp>
        <p:nvCxnSpPr>
          <p:cNvPr id="18" name="Straight Connector 17">
            <a:extLst>
              <a:ext uri="{FF2B5EF4-FFF2-40B4-BE49-F238E27FC236}">
                <a16:creationId xmlns:a16="http://schemas.microsoft.com/office/drawing/2014/main" id="{1247884A-0E9F-5DA6-DF0E-5FB20D903A6E}"/>
              </a:ext>
            </a:extLst>
          </p:cNvPr>
          <p:cNvCxnSpPr>
            <a:cxnSpLocks/>
          </p:cNvCxnSpPr>
          <p:nvPr/>
        </p:nvCxnSpPr>
        <p:spPr>
          <a:xfrm flipH="1">
            <a:off x="1268721" y="4267940"/>
            <a:ext cx="1098588"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100CA14F-8631-8908-5297-1F2D8B514559}"/>
                  </a:ext>
                </a:extLst>
              </p:cNvPr>
              <p:cNvSpPr/>
              <p:nvPr/>
            </p:nvSpPr>
            <p:spPr>
              <a:xfrm>
                <a:off x="956913" y="4172773"/>
                <a:ext cx="357790"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b="1" i="1">
                          <a:latin typeface="Cambria Math" panose="02040503050406030204" pitchFamily="18" charset="0"/>
                          <a:cs typeface="David" pitchFamily="34" charset="-79"/>
                        </a:rPr>
                        <m:t>𝑷</m:t>
                      </m:r>
                      <m:r>
                        <a:rPr lang="en-US" sz="900" b="1" i="1">
                          <a:latin typeface="Cambria Math" panose="02040503050406030204" pitchFamily="18" charset="0"/>
                          <a:cs typeface="David" pitchFamily="34" charset="-79"/>
                        </a:rPr>
                        <m:t>𝟏</m:t>
                      </m:r>
                    </m:oMath>
                  </m:oMathPara>
                </a14:m>
                <a:endParaRPr lang="en-IL" sz="900" dirty="0"/>
              </a:p>
            </p:txBody>
          </p:sp>
        </mc:Choice>
        <mc:Fallback xmlns="">
          <p:sp>
            <p:nvSpPr>
              <p:cNvPr id="19" name="Rectangle 18">
                <a:extLst>
                  <a:ext uri="{FF2B5EF4-FFF2-40B4-BE49-F238E27FC236}">
                    <a16:creationId xmlns:a16="http://schemas.microsoft.com/office/drawing/2014/main" id="{100CA14F-8631-8908-5297-1F2D8B514559}"/>
                  </a:ext>
                </a:extLst>
              </p:cNvPr>
              <p:cNvSpPr>
                <a:spLocks noRot="1" noChangeAspect="1" noMove="1" noResize="1" noEditPoints="1" noAdjustHandles="1" noChangeArrowheads="1" noChangeShapeType="1" noTextEdit="1"/>
              </p:cNvSpPr>
              <p:nvPr/>
            </p:nvSpPr>
            <p:spPr>
              <a:xfrm>
                <a:off x="956913" y="4172773"/>
                <a:ext cx="357790" cy="230832"/>
              </a:xfrm>
              <a:prstGeom prst="rect">
                <a:avLst/>
              </a:prstGeom>
              <a:blipFill>
                <a:blip r:embed="rId2"/>
                <a:stretch>
                  <a:fillRect/>
                </a:stretch>
              </a:blipFill>
            </p:spPr>
            <p:txBody>
              <a:bodyPr/>
              <a:lstStyle/>
              <a:p>
                <a:r>
                  <a:rPr lang="en-IL">
                    <a:noFill/>
                  </a:rPr>
                  <a:t> </a:t>
                </a:r>
              </a:p>
            </p:txBody>
          </p:sp>
        </mc:Fallback>
      </mc:AlternateContent>
      <p:sp>
        <p:nvSpPr>
          <p:cNvPr id="20" name="Oval 19">
            <a:extLst>
              <a:ext uri="{FF2B5EF4-FFF2-40B4-BE49-F238E27FC236}">
                <a16:creationId xmlns:a16="http://schemas.microsoft.com/office/drawing/2014/main" id="{C897E9F2-B6BB-D819-A5FB-FFBE34DD25E9}"/>
              </a:ext>
            </a:extLst>
          </p:cNvPr>
          <p:cNvSpPr/>
          <p:nvPr/>
        </p:nvSpPr>
        <p:spPr>
          <a:xfrm>
            <a:off x="2299160" y="4192195"/>
            <a:ext cx="175888" cy="15775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50" dirty="0"/>
              <a:t>A</a:t>
            </a:r>
            <a:endParaRPr lang="en-IL" sz="1350" dirty="0"/>
          </a:p>
        </p:txBody>
      </p:sp>
      <p:sp>
        <p:nvSpPr>
          <p:cNvPr id="21" name="TextBox 20">
            <a:extLst>
              <a:ext uri="{FF2B5EF4-FFF2-40B4-BE49-F238E27FC236}">
                <a16:creationId xmlns:a16="http://schemas.microsoft.com/office/drawing/2014/main" id="{011C6FD9-1D30-249B-96DE-80039790A258}"/>
              </a:ext>
            </a:extLst>
          </p:cNvPr>
          <p:cNvSpPr txBox="1"/>
          <p:nvPr/>
        </p:nvSpPr>
        <p:spPr>
          <a:xfrm>
            <a:off x="2200143" y="5016768"/>
            <a:ext cx="344966" cy="253916"/>
          </a:xfrm>
          <a:prstGeom prst="rect">
            <a:avLst/>
          </a:prstGeom>
          <a:noFill/>
        </p:spPr>
        <p:txBody>
          <a:bodyPr wrap="none" rtlCol="1">
            <a:spAutoFit/>
          </a:bodyPr>
          <a:lstStyle/>
          <a:p>
            <a:r>
              <a:rPr lang="en-US" sz="1050" dirty="0">
                <a:solidFill>
                  <a:prstClr val="black"/>
                </a:solidFill>
              </a:rPr>
              <a:t>Q1</a:t>
            </a:r>
            <a:endParaRPr lang="he-IL" sz="1050" dirty="0">
              <a:solidFill>
                <a:prstClr val="black"/>
              </a:solidFill>
            </a:endParaRPr>
          </a:p>
        </p:txBody>
      </p:sp>
      <p:cxnSp>
        <p:nvCxnSpPr>
          <p:cNvPr id="22" name="Straight Connector 21">
            <a:extLst>
              <a:ext uri="{FF2B5EF4-FFF2-40B4-BE49-F238E27FC236}">
                <a16:creationId xmlns:a16="http://schemas.microsoft.com/office/drawing/2014/main" id="{A348D9B2-92F8-E869-821F-1EA6466CF3B7}"/>
              </a:ext>
            </a:extLst>
          </p:cNvPr>
          <p:cNvCxnSpPr>
            <a:cxnSpLocks/>
          </p:cNvCxnSpPr>
          <p:nvPr/>
        </p:nvCxnSpPr>
        <p:spPr>
          <a:xfrm>
            <a:off x="2367309" y="4297313"/>
            <a:ext cx="0" cy="73304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מחבר ישר 15">
            <a:extLst>
              <a:ext uri="{FF2B5EF4-FFF2-40B4-BE49-F238E27FC236}">
                <a16:creationId xmlns:a16="http://schemas.microsoft.com/office/drawing/2014/main" id="{37F80514-2496-9D07-88B2-8BAA162289F5}"/>
              </a:ext>
            </a:extLst>
          </p:cNvPr>
          <p:cNvCxnSpPr>
            <a:cxnSpLocks/>
            <a:endCxn id="24" idx="1"/>
          </p:cNvCxnSpPr>
          <p:nvPr/>
        </p:nvCxnSpPr>
        <p:spPr>
          <a:xfrm flipV="1">
            <a:off x="1913093" y="3734159"/>
            <a:ext cx="1657725" cy="1188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E763094-3E11-1FD0-7EC0-F1F242CB7528}"/>
              </a:ext>
            </a:extLst>
          </p:cNvPr>
          <p:cNvSpPr txBox="1"/>
          <p:nvPr/>
        </p:nvSpPr>
        <p:spPr>
          <a:xfrm>
            <a:off x="3570818" y="3584118"/>
            <a:ext cx="322524" cy="300082"/>
          </a:xfrm>
          <a:prstGeom prst="rect">
            <a:avLst/>
          </a:prstGeom>
          <a:noFill/>
          <a:ln>
            <a:noFill/>
          </a:ln>
        </p:spPr>
        <p:txBody>
          <a:bodyPr wrap="none" rtlCol="1">
            <a:spAutoFit/>
          </a:bodyPr>
          <a:lstStyle/>
          <a:p>
            <a:r>
              <a:rPr lang="en-US" sz="1350" dirty="0">
                <a:solidFill>
                  <a:srgbClr val="C00000"/>
                </a:solidFill>
              </a:rPr>
              <a:t>S</a:t>
            </a:r>
            <a:r>
              <a:rPr lang="en-US" sz="1350" baseline="-25000" dirty="0">
                <a:solidFill>
                  <a:srgbClr val="C00000"/>
                </a:solidFill>
              </a:rPr>
              <a:t>1</a:t>
            </a:r>
            <a:endParaRPr lang="he-IL" sz="1350" baseline="-25000" dirty="0">
              <a:solidFill>
                <a:srgbClr val="C00000"/>
              </a:solidFill>
            </a:endParaRPr>
          </a:p>
        </p:txBody>
      </p:sp>
      <p:cxnSp>
        <p:nvCxnSpPr>
          <p:cNvPr id="25" name="Straight Arrow Connector 24">
            <a:extLst>
              <a:ext uri="{FF2B5EF4-FFF2-40B4-BE49-F238E27FC236}">
                <a16:creationId xmlns:a16="http://schemas.microsoft.com/office/drawing/2014/main" id="{848F35A6-8719-DEA9-1EA6-C160FD549236}"/>
              </a:ext>
            </a:extLst>
          </p:cNvPr>
          <p:cNvCxnSpPr>
            <a:cxnSpLocks/>
          </p:cNvCxnSpPr>
          <p:nvPr/>
        </p:nvCxnSpPr>
        <p:spPr>
          <a:xfrm>
            <a:off x="2985965" y="3734159"/>
            <a:ext cx="156434" cy="1330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AD6A705D-CAF3-0FAE-5EBD-0165F0FE2448}"/>
              </a:ext>
            </a:extLst>
          </p:cNvPr>
          <p:cNvSpPr/>
          <p:nvPr/>
        </p:nvSpPr>
        <p:spPr>
          <a:xfrm>
            <a:off x="2498602" y="4403338"/>
            <a:ext cx="167996" cy="167893"/>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a:t>
            </a:r>
            <a:endParaRPr lang="en-IL" sz="1350" dirty="0"/>
          </a:p>
        </p:txBody>
      </p:sp>
      <p:sp>
        <p:nvSpPr>
          <p:cNvPr id="27" name="Rectangle 26">
            <a:extLst>
              <a:ext uri="{FF2B5EF4-FFF2-40B4-BE49-F238E27FC236}">
                <a16:creationId xmlns:a16="http://schemas.microsoft.com/office/drawing/2014/main" id="{3936A68A-07A5-969A-68E8-806F66D999CB}"/>
              </a:ext>
            </a:extLst>
          </p:cNvPr>
          <p:cNvSpPr/>
          <p:nvPr/>
        </p:nvSpPr>
        <p:spPr>
          <a:xfrm>
            <a:off x="2465000" y="5045256"/>
            <a:ext cx="344966" cy="253916"/>
          </a:xfrm>
          <a:prstGeom prst="rect">
            <a:avLst/>
          </a:prstGeom>
        </p:spPr>
        <p:txBody>
          <a:bodyPr wrap="none">
            <a:spAutoFit/>
          </a:bodyPr>
          <a:lstStyle/>
          <a:p>
            <a:r>
              <a:rPr lang="en-US" sz="1050" dirty="0">
                <a:solidFill>
                  <a:srgbClr val="FF0000"/>
                </a:solidFill>
              </a:rPr>
              <a:t>Q2</a:t>
            </a:r>
            <a:endParaRPr lang="he-IL" sz="1050" dirty="0">
              <a:solidFill>
                <a:srgbClr val="FF0000"/>
              </a:solidFill>
            </a:endParaRPr>
          </a:p>
        </p:txBody>
      </p:sp>
      <p:cxnSp>
        <p:nvCxnSpPr>
          <p:cNvPr id="28" name="Straight Connector 27">
            <a:extLst>
              <a:ext uri="{FF2B5EF4-FFF2-40B4-BE49-F238E27FC236}">
                <a16:creationId xmlns:a16="http://schemas.microsoft.com/office/drawing/2014/main" id="{9268E15B-AEBF-4DEF-7BF4-FA83C4AFBD11}"/>
              </a:ext>
            </a:extLst>
          </p:cNvPr>
          <p:cNvCxnSpPr>
            <a:cxnSpLocks/>
          </p:cNvCxnSpPr>
          <p:nvPr/>
        </p:nvCxnSpPr>
        <p:spPr>
          <a:xfrm flipH="1">
            <a:off x="1266024" y="4502538"/>
            <a:ext cx="1380668" cy="3672"/>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48F4A363-CFD5-68CA-E242-A5EE1776246B}"/>
                  </a:ext>
                </a:extLst>
              </p:cNvPr>
              <p:cNvSpPr/>
              <p:nvPr/>
            </p:nvSpPr>
            <p:spPr>
              <a:xfrm>
                <a:off x="960216" y="4422853"/>
                <a:ext cx="327334" cy="230832"/>
              </a:xfrm>
              <a:prstGeom prst="rect">
                <a:avLst/>
              </a:prstGeom>
              <a:solidFill>
                <a:schemeClr val="accent4">
                  <a:lumMod val="20000"/>
                  <a:lumOff val="80000"/>
                </a:schemeClr>
              </a:solidFill>
            </p:spPr>
            <p:txBody>
              <a:bodyPr wrap="none">
                <a:spAutoFit/>
              </a:bodyPr>
              <a:lstStyle/>
              <a:p>
                <a14:m>
                  <m:oMath xmlns:m="http://schemas.openxmlformats.org/officeDocument/2006/math">
                    <m:r>
                      <a:rPr lang="en-US" sz="900" b="1" i="1">
                        <a:latin typeface="Cambria Math" panose="02040503050406030204" pitchFamily="18" charset="0"/>
                        <a:cs typeface="David" pitchFamily="34" charset="-79"/>
                      </a:rPr>
                      <m:t>𝑷</m:t>
                    </m:r>
                  </m:oMath>
                </a14:m>
                <a:r>
                  <a:rPr lang="he-IL" sz="900" dirty="0"/>
                  <a:t>2</a:t>
                </a:r>
                <a:endParaRPr lang="en-IL" sz="900" dirty="0"/>
              </a:p>
            </p:txBody>
          </p:sp>
        </mc:Choice>
        <mc:Fallback xmlns="">
          <p:sp>
            <p:nvSpPr>
              <p:cNvPr id="30" name="Rectangle 29">
                <a:extLst>
                  <a:ext uri="{FF2B5EF4-FFF2-40B4-BE49-F238E27FC236}">
                    <a16:creationId xmlns:a16="http://schemas.microsoft.com/office/drawing/2014/main" id="{48F4A363-CFD5-68CA-E242-A5EE1776246B}"/>
                  </a:ext>
                </a:extLst>
              </p:cNvPr>
              <p:cNvSpPr>
                <a:spLocks noRot="1" noChangeAspect="1" noMove="1" noResize="1" noEditPoints="1" noAdjustHandles="1" noChangeArrowheads="1" noChangeShapeType="1" noTextEdit="1"/>
              </p:cNvSpPr>
              <p:nvPr/>
            </p:nvSpPr>
            <p:spPr>
              <a:xfrm>
                <a:off x="960216" y="4422853"/>
                <a:ext cx="327334" cy="230832"/>
              </a:xfrm>
              <a:prstGeom prst="rect">
                <a:avLst/>
              </a:prstGeom>
              <a:blipFill>
                <a:blip r:embed="rId3"/>
                <a:stretch>
                  <a:fillRect b="-10811"/>
                </a:stretch>
              </a:blipFill>
            </p:spPr>
            <p:txBody>
              <a:bodyPr/>
              <a:lstStyle/>
              <a:p>
                <a:r>
                  <a:rPr lang="en-IL">
                    <a:noFill/>
                  </a:rPr>
                  <a:t> </a:t>
                </a:r>
              </a:p>
            </p:txBody>
          </p:sp>
        </mc:Fallback>
      </mc:AlternateContent>
      <p:cxnSp>
        <p:nvCxnSpPr>
          <p:cNvPr id="31" name="Straight Connector 30">
            <a:extLst>
              <a:ext uri="{FF2B5EF4-FFF2-40B4-BE49-F238E27FC236}">
                <a16:creationId xmlns:a16="http://schemas.microsoft.com/office/drawing/2014/main" id="{6FC7AB5F-6ADD-DA87-F8F4-DF2103FEC56C}"/>
              </a:ext>
            </a:extLst>
          </p:cNvPr>
          <p:cNvCxnSpPr>
            <a:cxnSpLocks/>
          </p:cNvCxnSpPr>
          <p:nvPr/>
        </p:nvCxnSpPr>
        <p:spPr>
          <a:xfrm>
            <a:off x="2620676" y="4613306"/>
            <a:ext cx="0" cy="438902"/>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מחבר ישר 13">
            <a:extLst>
              <a:ext uri="{FF2B5EF4-FFF2-40B4-BE49-F238E27FC236}">
                <a16:creationId xmlns:a16="http://schemas.microsoft.com/office/drawing/2014/main" id="{106F741B-94A5-E631-11B8-6EA4A36E8EB7}"/>
              </a:ext>
            </a:extLst>
          </p:cNvPr>
          <p:cNvCxnSpPr>
            <a:cxnSpLocks/>
          </p:cNvCxnSpPr>
          <p:nvPr/>
        </p:nvCxnSpPr>
        <p:spPr>
          <a:xfrm>
            <a:off x="3064182" y="1839703"/>
            <a:ext cx="1988548" cy="1207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מחבר ישר 13">
            <a:extLst>
              <a:ext uri="{FF2B5EF4-FFF2-40B4-BE49-F238E27FC236}">
                <a16:creationId xmlns:a16="http://schemas.microsoft.com/office/drawing/2014/main" id="{A9F34A8A-16C0-1D46-EFCE-35B0A42BF3CA}"/>
              </a:ext>
            </a:extLst>
          </p:cNvPr>
          <p:cNvCxnSpPr>
            <a:cxnSpLocks/>
          </p:cNvCxnSpPr>
          <p:nvPr/>
        </p:nvCxnSpPr>
        <p:spPr>
          <a:xfrm>
            <a:off x="1361958" y="3148466"/>
            <a:ext cx="2108200" cy="16750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C4C9508-999F-9EC6-948E-DB9D5DE91D65}"/>
              </a:ext>
            </a:extLst>
          </p:cNvPr>
          <p:cNvSpPr/>
          <p:nvPr/>
        </p:nvSpPr>
        <p:spPr>
          <a:xfrm>
            <a:off x="2708852" y="4202867"/>
            <a:ext cx="167996" cy="167893"/>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a:t>
            </a:r>
            <a:endParaRPr lang="en-IL" sz="1350" dirty="0"/>
          </a:p>
        </p:txBody>
      </p:sp>
      <p:sp>
        <p:nvSpPr>
          <p:cNvPr id="37" name="TextBox 36">
            <a:extLst>
              <a:ext uri="{FF2B5EF4-FFF2-40B4-BE49-F238E27FC236}">
                <a16:creationId xmlns:a16="http://schemas.microsoft.com/office/drawing/2014/main" id="{EC216295-B7F3-1E4E-0089-DADD9E7CB935}"/>
              </a:ext>
            </a:extLst>
          </p:cNvPr>
          <p:cNvSpPr txBox="1"/>
          <p:nvPr/>
        </p:nvSpPr>
        <p:spPr>
          <a:xfrm>
            <a:off x="3440693" y="4523430"/>
            <a:ext cx="348172" cy="300082"/>
          </a:xfrm>
          <a:prstGeom prst="rect">
            <a:avLst/>
          </a:prstGeom>
          <a:noFill/>
        </p:spPr>
        <p:txBody>
          <a:bodyPr wrap="none" rtlCol="1">
            <a:spAutoFit/>
          </a:bodyPr>
          <a:lstStyle/>
          <a:p>
            <a:r>
              <a:rPr lang="en-US" sz="1350" b="1" dirty="0">
                <a:solidFill>
                  <a:srgbClr val="7030A0"/>
                </a:solidFill>
              </a:rPr>
              <a:t>D</a:t>
            </a:r>
            <a:r>
              <a:rPr lang="en-US" sz="1350" b="1" baseline="-25000" dirty="0">
                <a:solidFill>
                  <a:srgbClr val="7030A0"/>
                </a:solidFill>
              </a:rPr>
              <a:t>1</a:t>
            </a:r>
            <a:endParaRPr lang="he-IL" sz="1350" b="1" baseline="-25000" dirty="0">
              <a:solidFill>
                <a:srgbClr val="7030A0"/>
              </a:solidFill>
            </a:endParaRPr>
          </a:p>
        </p:txBody>
      </p:sp>
      <p:cxnSp>
        <p:nvCxnSpPr>
          <p:cNvPr id="38" name="Straight Connector 37">
            <a:extLst>
              <a:ext uri="{FF2B5EF4-FFF2-40B4-BE49-F238E27FC236}">
                <a16:creationId xmlns:a16="http://schemas.microsoft.com/office/drawing/2014/main" id="{EB7217F0-7B42-961F-0AE0-06C3A1402474}"/>
              </a:ext>
            </a:extLst>
          </p:cNvPr>
          <p:cNvCxnSpPr>
            <a:cxnSpLocks/>
          </p:cNvCxnSpPr>
          <p:nvPr/>
        </p:nvCxnSpPr>
        <p:spPr>
          <a:xfrm flipH="1" flipV="1">
            <a:off x="1176122" y="4271072"/>
            <a:ext cx="1643061" cy="2513"/>
          </a:xfrm>
          <a:prstGeom prst="line">
            <a:avLst/>
          </a:prstGeom>
          <a:ln w="9525"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Right Triangle 47">
            <a:extLst>
              <a:ext uri="{FF2B5EF4-FFF2-40B4-BE49-F238E27FC236}">
                <a16:creationId xmlns:a16="http://schemas.microsoft.com/office/drawing/2014/main" id="{1FD20EBB-49EE-6658-392C-DF9B239ADC7D}"/>
              </a:ext>
            </a:extLst>
          </p:cNvPr>
          <p:cNvSpPr/>
          <p:nvPr/>
        </p:nvSpPr>
        <p:spPr>
          <a:xfrm>
            <a:off x="1300392" y="3500952"/>
            <a:ext cx="933598" cy="730050"/>
          </a:xfrm>
          <a:prstGeom prst="rtTriangle">
            <a:avLst/>
          </a:prstGeom>
          <a:ln w="76200">
            <a:solidFill>
              <a:srgbClr val="0070C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L"/>
          </a:p>
        </p:txBody>
      </p:sp>
      <p:sp>
        <p:nvSpPr>
          <p:cNvPr id="51" name="Right Triangle 50">
            <a:extLst>
              <a:ext uri="{FF2B5EF4-FFF2-40B4-BE49-F238E27FC236}">
                <a16:creationId xmlns:a16="http://schemas.microsoft.com/office/drawing/2014/main" id="{5DE9E122-E053-3C24-5A9D-0C9DB6FD265D}"/>
              </a:ext>
            </a:extLst>
          </p:cNvPr>
          <p:cNvSpPr/>
          <p:nvPr/>
        </p:nvSpPr>
        <p:spPr>
          <a:xfrm flipV="1">
            <a:off x="1316368" y="4270763"/>
            <a:ext cx="933598" cy="732522"/>
          </a:xfrm>
          <a:prstGeom prst="rtTriangle">
            <a:avLst/>
          </a:prstGeom>
          <a:ln w="76200">
            <a:solidFill>
              <a:schemeClr val="accent3">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L"/>
          </a:p>
        </p:txBody>
      </p:sp>
    </p:spTree>
    <p:extLst>
      <p:ext uri="{BB962C8B-B14F-4D97-AF65-F5344CB8AC3E}">
        <p14:creationId xmlns:p14="http://schemas.microsoft.com/office/powerpoint/2010/main" val="266237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down)">
                                      <p:cBhvr>
                                        <p:cTn id="20" dur="580">
                                          <p:stCondLst>
                                            <p:cond delay="0"/>
                                          </p:stCondLst>
                                        </p:cTn>
                                        <p:tgtEl>
                                          <p:spTgt spid="26"/>
                                        </p:tgtEl>
                                      </p:cBhvr>
                                    </p:animEffect>
                                    <p:anim calcmode="lin" valueType="num">
                                      <p:cBhvr>
                                        <p:cTn id="21"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6" dur="26">
                                          <p:stCondLst>
                                            <p:cond delay="650"/>
                                          </p:stCondLst>
                                        </p:cTn>
                                        <p:tgtEl>
                                          <p:spTgt spid="26"/>
                                        </p:tgtEl>
                                      </p:cBhvr>
                                      <p:to x="100000" y="60000"/>
                                    </p:animScale>
                                    <p:animScale>
                                      <p:cBhvr>
                                        <p:cTn id="27" dur="166" decel="50000">
                                          <p:stCondLst>
                                            <p:cond delay="676"/>
                                          </p:stCondLst>
                                        </p:cTn>
                                        <p:tgtEl>
                                          <p:spTgt spid="26"/>
                                        </p:tgtEl>
                                      </p:cBhvr>
                                      <p:to x="100000" y="100000"/>
                                    </p:animScale>
                                    <p:animScale>
                                      <p:cBhvr>
                                        <p:cTn id="28" dur="26">
                                          <p:stCondLst>
                                            <p:cond delay="1312"/>
                                          </p:stCondLst>
                                        </p:cTn>
                                        <p:tgtEl>
                                          <p:spTgt spid="26"/>
                                        </p:tgtEl>
                                      </p:cBhvr>
                                      <p:to x="100000" y="80000"/>
                                    </p:animScale>
                                    <p:animScale>
                                      <p:cBhvr>
                                        <p:cTn id="29" dur="166" decel="50000">
                                          <p:stCondLst>
                                            <p:cond delay="1338"/>
                                          </p:stCondLst>
                                        </p:cTn>
                                        <p:tgtEl>
                                          <p:spTgt spid="26"/>
                                        </p:tgtEl>
                                      </p:cBhvr>
                                      <p:to x="100000" y="100000"/>
                                    </p:animScale>
                                    <p:animScale>
                                      <p:cBhvr>
                                        <p:cTn id="30" dur="26">
                                          <p:stCondLst>
                                            <p:cond delay="1642"/>
                                          </p:stCondLst>
                                        </p:cTn>
                                        <p:tgtEl>
                                          <p:spTgt spid="26"/>
                                        </p:tgtEl>
                                      </p:cBhvr>
                                      <p:to x="100000" y="90000"/>
                                    </p:animScale>
                                    <p:animScale>
                                      <p:cBhvr>
                                        <p:cTn id="31" dur="166" decel="50000">
                                          <p:stCondLst>
                                            <p:cond delay="1668"/>
                                          </p:stCondLst>
                                        </p:cTn>
                                        <p:tgtEl>
                                          <p:spTgt spid="26"/>
                                        </p:tgtEl>
                                      </p:cBhvr>
                                      <p:to x="100000" y="100000"/>
                                    </p:animScale>
                                    <p:animScale>
                                      <p:cBhvr>
                                        <p:cTn id="32" dur="26">
                                          <p:stCondLst>
                                            <p:cond delay="1808"/>
                                          </p:stCondLst>
                                        </p:cTn>
                                        <p:tgtEl>
                                          <p:spTgt spid="26"/>
                                        </p:tgtEl>
                                      </p:cBhvr>
                                      <p:to x="100000" y="95000"/>
                                    </p:animScale>
                                    <p:animScale>
                                      <p:cBhvr>
                                        <p:cTn id="33" dur="166" decel="50000">
                                          <p:stCondLst>
                                            <p:cond delay="1834"/>
                                          </p:stCondLst>
                                        </p:cTn>
                                        <p:tgtEl>
                                          <p:spTgt spid="26"/>
                                        </p:tgtEl>
                                      </p:cBhvr>
                                      <p:to x="100000" y="100000"/>
                                    </p:animScale>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arn(inVertical)">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barn(inVertical)">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down)">
                                      <p:cBhvr>
                                        <p:cTn id="62" dur="580">
                                          <p:stCondLst>
                                            <p:cond delay="0"/>
                                          </p:stCondLst>
                                        </p:cTn>
                                        <p:tgtEl>
                                          <p:spTgt spid="36"/>
                                        </p:tgtEl>
                                      </p:cBhvr>
                                    </p:animEffect>
                                    <p:anim calcmode="lin" valueType="num">
                                      <p:cBhvr>
                                        <p:cTn id="63"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68" dur="26">
                                          <p:stCondLst>
                                            <p:cond delay="650"/>
                                          </p:stCondLst>
                                        </p:cTn>
                                        <p:tgtEl>
                                          <p:spTgt spid="36"/>
                                        </p:tgtEl>
                                      </p:cBhvr>
                                      <p:to x="100000" y="60000"/>
                                    </p:animScale>
                                    <p:animScale>
                                      <p:cBhvr>
                                        <p:cTn id="69" dur="166" decel="50000">
                                          <p:stCondLst>
                                            <p:cond delay="676"/>
                                          </p:stCondLst>
                                        </p:cTn>
                                        <p:tgtEl>
                                          <p:spTgt spid="36"/>
                                        </p:tgtEl>
                                      </p:cBhvr>
                                      <p:to x="100000" y="100000"/>
                                    </p:animScale>
                                    <p:animScale>
                                      <p:cBhvr>
                                        <p:cTn id="70" dur="26">
                                          <p:stCondLst>
                                            <p:cond delay="1312"/>
                                          </p:stCondLst>
                                        </p:cTn>
                                        <p:tgtEl>
                                          <p:spTgt spid="36"/>
                                        </p:tgtEl>
                                      </p:cBhvr>
                                      <p:to x="100000" y="80000"/>
                                    </p:animScale>
                                    <p:animScale>
                                      <p:cBhvr>
                                        <p:cTn id="71" dur="166" decel="50000">
                                          <p:stCondLst>
                                            <p:cond delay="1338"/>
                                          </p:stCondLst>
                                        </p:cTn>
                                        <p:tgtEl>
                                          <p:spTgt spid="36"/>
                                        </p:tgtEl>
                                      </p:cBhvr>
                                      <p:to x="100000" y="100000"/>
                                    </p:animScale>
                                    <p:animScale>
                                      <p:cBhvr>
                                        <p:cTn id="72" dur="26">
                                          <p:stCondLst>
                                            <p:cond delay="1642"/>
                                          </p:stCondLst>
                                        </p:cTn>
                                        <p:tgtEl>
                                          <p:spTgt spid="36"/>
                                        </p:tgtEl>
                                      </p:cBhvr>
                                      <p:to x="100000" y="90000"/>
                                    </p:animScale>
                                    <p:animScale>
                                      <p:cBhvr>
                                        <p:cTn id="73" dur="166" decel="50000">
                                          <p:stCondLst>
                                            <p:cond delay="1668"/>
                                          </p:stCondLst>
                                        </p:cTn>
                                        <p:tgtEl>
                                          <p:spTgt spid="36"/>
                                        </p:tgtEl>
                                      </p:cBhvr>
                                      <p:to x="100000" y="100000"/>
                                    </p:animScale>
                                    <p:animScale>
                                      <p:cBhvr>
                                        <p:cTn id="74" dur="26">
                                          <p:stCondLst>
                                            <p:cond delay="1808"/>
                                          </p:stCondLst>
                                        </p:cTn>
                                        <p:tgtEl>
                                          <p:spTgt spid="36"/>
                                        </p:tgtEl>
                                      </p:cBhvr>
                                      <p:to x="100000" y="95000"/>
                                    </p:animScale>
                                    <p:animScale>
                                      <p:cBhvr>
                                        <p:cTn id="75" dur="166" decel="50000">
                                          <p:stCondLst>
                                            <p:cond delay="1834"/>
                                          </p:stCondLst>
                                        </p:cTn>
                                        <p:tgtEl>
                                          <p:spTgt spid="36"/>
                                        </p:tgtEl>
                                      </p:cBhvr>
                                      <p:to x="100000" y="100000"/>
                                    </p:animScale>
                                  </p:childTnLst>
                                </p:cTn>
                              </p:par>
                              <p:par>
                                <p:cTn id="76" presetID="16" presetClass="entr" presetSubtype="21"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barn(inVertical)">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1000"/>
                                        <p:tgtEl>
                                          <p:spTgt spid="38"/>
                                        </p:tgtEl>
                                      </p:cBhvr>
                                    </p:animEffect>
                                    <p:anim calcmode="lin" valueType="num">
                                      <p:cBhvr>
                                        <p:cTn id="84" dur="1000" fill="hold"/>
                                        <p:tgtEl>
                                          <p:spTgt spid="38"/>
                                        </p:tgtEl>
                                        <p:attrNameLst>
                                          <p:attrName>ppt_x</p:attrName>
                                        </p:attrNameLst>
                                      </p:cBhvr>
                                      <p:tavLst>
                                        <p:tav tm="0">
                                          <p:val>
                                            <p:strVal val="#ppt_x"/>
                                          </p:val>
                                        </p:tav>
                                        <p:tav tm="100000">
                                          <p:val>
                                            <p:strVal val="#ppt_x"/>
                                          </p:val>
                                        </p:tav>
                                      </p:tavLst>
                                    </p:anim>
                                    <p:anim calcmode="lin" valueType="num">
                                      <p:cBhvr>
                                        <p:cTn id="85"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4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animBg="1"/>
      <p:bldP spid="27" grpId="0"/>
      <p:bldP spid="30" grpId="0" animBg="1"/>
      <p:bldP spid="36" grpId="0" animBg="1"/>
      <p:bldP spid="37" grpId="0"/>
      <p:bldP spid="48" grpId="0" animBg="1"/>
      <p:bldP spid="5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8DAC2-0A5F-CEA3-F4C8-E8E7731CF4C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8115DB0-9C5A-C6EC-4BEB-89C640FFBB29}"/>
              </a:ext>
            </a:extLst>
          </p:cNvPr>
          <p:cNvSpPr/>
          <p:nvPr/>
        </p:nvSpPr>
        <p:spPr>
          <a:xfrm>
            <a:off x="154870" y="311691"/>
            <a:ext cx="7153434" cy="1555362"/>
          </a:xfrm>
          <a:prstGeom prst="rect">
            <a:avLst/>
          </a:prstGeom>
        </p:spPr>
        <p:txBody>
          <a:bodyPr wrap="square">
            <a:spAutoFit/>
          </a:bodyPr>
          <a:lstStyle/>
          <a:p>
            <a:pPr lvl="0" algn="r" rtl="1">
              <a:lnSpc>
                <a:spcPct val="150000"/>
              </a:lnSpc>
              <a:spcAft>
                <a:spcPts val="800"/>
              </a:spcAft>
            </a:pPr>
            <a:r>
              <a:rPr lang="he-IL" sz="1400" b="1" dirty="0">
                <a:effectLst/>
                <a:latin typeface="Calibri" panose="020F0502020204030204" pitchFamily="34" charset="0"/>
                <a:ea typeface="Calibri" panose="020F0502020204030204" pitchFamily="34" charset="0"/>
                <a:cs typeface="Arial" panose="020B0604020202020204" pitchFamily="34" charset="0"/>
              </a:rPr>
              <a:t>עקומת הביקוש לגבינות היא קשיחה. כעת חלו שני שינויים: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(1) הכנסת הצרכנים בשוק עלתה, (2) ומחיר החלב, המשמש כגורם ייצור משתנה ירד כך שכעת יצרני הגבינות מוכנים לייצר 100 יחידות יותר עבור כל רמת מחיר נתונה. </a:t>
            </a:r>
            <a:endParaRPr lang="en-IL" sz="14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r>
              <a:rPr lang="he-IL" sz="1400" dirty="0">
                <a:effectLst/>
                <a:latin typeface="Calibri" panose="020F0502020204030204" pitchFamily="34" charset="0"/>
                <a:ea typeface="Calibri" panose="020F0502020204030204" pitchFamily="34" charset="0"/>
                <a:cs typeface="Arial" panose="020B0604020202020204" pitchFamily="34" charset="0"/>
              </a:rPr>
              <a:t>ידוע כי בנק' שיווי משקל החדשה </a:t>
            </a:r>
            <a:r>
              <a:rPr lang="he-IL" sz="1400" b="1" u="sng" dirty="0">
                <a:effectLst/>
                <a:latin typeface="Calibri" panose="020F0502020204030204" pitchFamily="34" charset="0"/>
                <a:ea typeface="Calibri" panose="020F0502020204030204" pitchFamily="34" charset="0"/>
                <a:cs typeface="Arial" panose="020B0604020202020204" pitchFamily="34" charset="0"/>
              </a:rPr>
              <a:t>רמת המחירים לא השתנתה.</a:t>
            </a:r>
            <a:r>
              <a:rPr lang="he-IL" sz="1400" dirty="0">
                <a:effectLst/>
                <a:latin typeface="Calibri" panose="020F0502020204030204" pitchFamily="34" charset="0"/>
                <a:ea typeface="Calibri" panose="020F0502020204030204" pitchFamily="34" charset="0"/>
                <a:cs typeface="Arial" panose="020B0604020202020204" pitchFamily="34" charset="0"/>
              </a:rPr>
              <a:t> סמנו את התשובה הנכונה ונמקו:</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6C3C655B-505D-8990-478B-5FF63C87912E}"/>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BF92039-BB9D-4F46-95B7-49E6508B93B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9" name="כותרת 1">
            <a:extLst>
              <a:ext uri="{FF2B5EF4-FFF2-40B4-BE49-F238E27FC236}">
                <a16:creationId xmlns:a16="http://schemas.microsoft.com/office/drawing/2014/main" id="{50C15DC5-8D6E-63B0-DD79-AD4D6B3C9544}"/>
              </a:ext>
            </a:extLst>
          </p:cNvPr>
          <p:cNvSpPr>
            <a:spLocks noGrp="1"/>
          </p:cNvSpPr>
          <p:nvPr>
            <p:ph type="title"/>
          </p:nvPr>
        </p:nvSpPr>
        <p:spPr>
          <a:xfrm>
            <a:off x="7308304" y="3473"/>
            <a:ext cx="1835696" cy="977255"/>
          </a:xfrm>
        </p:spPr>
        <p:txBody>
          <a:bodyPr>
            <a:normAutofit/>
          </a:bodyPr>
          <a:lstStyle/>
          <a:p>
            <a:pPr algn="r"/>
            <a:r>
              <a:rPr lang="he-IL" sz="3600" b="1" dirty="0">
                <a:solidFill>
                  <a:schemeClr val="tx2">
                    <a:lumMod val="75000"/>
                  </a:schemeClr>
                </a:solidFill>
              </a:rPr>
              <a:t>שאלה </a:t>
            </a:r>
            <a:r>
              <a:rPr lang="he-IL" b="1" dirty="0">
                <a:solidFill>
                  <a:schemeClr val="tx2">
                    <a:lumMod val="75000"/>
                  </a:schemeClr>
                </a:solidFill>
              </a:rPr>
              <a:t>5</a:t>
            </a:r>
          </a:p>
        </p:txBody>
      </p:sp>
      <p:sp>
        <p:nvSpPr>
          <p:cNvPr id="3" name="TextBox 2">
            <a:extLst>
              <a:ext uri="{FF2B5EF4-FFF2-40B4-BE49-F238E27FC236}">
                <a16:creationId xmlns:a16="http://schemas.microsoft.com/office/drawing/2014/main" id="{0D809660-CF6A-9705-1702-06A11FB8181E}"/>
              </a:ext>
            </a:extLst>
          </p:cNvPr>
          <p:cNvSpPr txBox="1"/>
          <p:nvPr/>
        </p:nvSpPr>
        <p:spPr>
          <a:xfrm>
            <a:off x="5886546" y="3987229"/>
            <a:ext cx="28435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rPr>
              <a:t>3. </a:t>
            </a:r>
            <a:r>
              <a:rPr lang="he-IL" sz="1600" dirty="0">
                <a:effectLst/>
                <a:ea typeface="Calibri" panose="020F0502020204030204" pitchFamily="34" charset="0"/>
                <a:cs typeface="Arial" panose="020B0604020202020204" pitchFamily="34" charset="0"/>
              </a:rPr>
              <a:t>יתכן שגבינה מוצר ניטראלי.</a:t>
            </a:r>
            <a:endParaRPr lang="en-IL" sz="1600" dirty="0"/>
          </a:p>
        </p:txBody>
      </p:sp>
      <p:sp>
        <p:nvSpPr>
          <p:cNvPr id="5" name="TextBox 4">
            <a:extLst>
              <a:ext uri="{FF2B5EF4-FFF2-40B4-BE49-F238E27FC236}">
                <a16:creationId xmlns:a16="http://schemas.microsoft.com/office/drawing/2014/main" id="{357FB65D-37A9-E70C-0034-6D7B4318D772}"/>
              </a:ext>
            </a:extLst>
          </p:cNvPr>
          <p:cNvSpPr txBox="1"/>
          <p:nvPr/>
        </p:nvSpPr>
        <p:spPr>
          <a:xfrm>
            <a:off x="2964712" y="2175271"/>
            <a:ext cx="5746204" cy="338554"/>
          </a:xfrm>
          <a:prstGeom prst="rect">
            <a:avLst/>
          </a:prstGeom>
          <a:noFill/>
        </p:spPr>
        <p:txBody>
          <a:bodyPr wrap="square" rtlCol="0">
            <a:spAutoFit/>
          </a:bodyPr>
          <a:lstStyle/>
          <a:p>
            <a:pPr marL="342900" indent="-342900" algn="r" rtl="1">
              <a:buAutoNum type="arabicPeriod"/>
            </a:pPr>
            <a:r>
              <a:rPr lang="he-IL" sz="1600" dirty="0">
                <a:effectLst/>
                <a:highlight>
                  <a:srgbClr val="FFFF00"/>
                </a:highlight>
                <a:ea typeface="Calibri" panose="020F0502020204030204" pitchFamily="34" charset="0"/>
                <a:cs typeface="Arial" panose="020B0604020202020204" pitchFamily="34" charset="0"/>
              </a:rPr>
              <a:t>עודף הצרכן ועודף היצרן בשוק הגבינות בהכרח עלה</a:t>
            </a:r>
            <a:r>
              <a:rPr lang="he-IL" sz="1600" dirty="0">
                <a:effectLst/>
                <a:ea typeface="Calibri" panose="020F0502020204030204" pitchFamily="34" charset="0"/>
                <a:cs typeface="Arial" panose="020B0604020202020204" pitchFamily="34" charset="0"/>
              </a:rPr>
              <a:t>.</a:t>
            </a:r>
            <a:endParaRPr lang="en-IL" sz="1200" dirty="0"/>
          </a:p>
        </p:txBody>
      </p:sp>
      <p:sp>
        <p:nvSpPr>
          <p:cNvPr id="8" name="TextBox 7">
            <a:extLst>
              <a:ext uri="{FF2B5EF4-FFF2-40B4-BE49-F238E27FC236}">
                <a16:creationId xmlns:a16="http://schemas.microsoft.com/office/drawing/2014/main" id="{29793E0C-3675-B4E0-856B-69F0A5318312}"/>
              </a:ext>
            </a:extLst>
          </p:cNvPr>
          <p:cNvSpPr txBox="1"/>
          <p:nvPr/>
        </p:nvSpPr>
        <p:spPr>
          <a:xfrm>
            <a:off x="4343400" y="2924918"/>
            <a:ext cx="4469758" cy="338554"/>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2</a:t>
            </a:r>
            <a:r>
              <a:rPr lang="he-IL" sz="1200" dirty="0">
                <a:effectLst/>
                <a:latin typeface="Calibri" panose="020F0502020204030204" pitchFamily="34" charset="0"/>
                <a:ea typeface="Times New Roman" panose="02020603050405020304" pitchFamily="18" charset="0"/>
                <a:cs typeface="Arial" panose="020B0604020202020204" pitchFamily="34" charset="0"/>
              </a:rPr>
              <a:t>.  </a:t>
            </a:r>
            <a:r>
              <a:rPr lang="he-IL" sz="1600" dirty="0">
                <a:effectLst/>
                <a:ea typeface="Calibri" panose="020F0502020204030204" pitchFamily="34" charset="0"/>
                <a:cs typeface="Arial" panose="020B0604020202020204" pitchFamily="34" charset="0"/>
              </a:rPr>
              <a:t>לא ניתן לדעת מה קרה להוצאות הצרכן על גבינה.</a:t>
            </a:r>
            <a:endParaRPr lang="en-IL" sz="1200" dirty="0"/>
          </a:p>
        </p:txBody>
      </p:sp>
      <p:sp>
        <p:nvSpPr>
          <p:cNvPr id="9" name="TextBox 8">
            <a:extLst>
              <a:ext uri="{FF2B5EF4-FFF2-40B4-BE49-F238E27FC236}">
                <a16:creationId xmlns:a16="http://schemas.microsoft.com/office/drawing/2014/main" id="{BCD20998-A0E2-DA8B-810B-3D5DD108B3AE}"/>
              </a:ext>
            </a:extLst>
          </p:cNvPr>
          <p:cNvSpPr txBox="1"/>
          <p:nvPr/>
        </p:nvSpPr>
        <p:spPr>
          <a:xfrm>
            <a:off x="5638800" y="4736876"/>
            <a:ext cx="2995916" cy="338554"/>
          </a:xfrm>
          <a:prstGeom prst="rect">
            <a:avLst/>
          </a:prstGeom>
          <a:noFill/>
        </p:spPr>
        <p:txBody>
          <a:bodyPr wrap="square" rtlCol="0">
            <a:spAutoFit/>
          </a:bodyPr>
          <a:lstStyle/>
          <a:p>
            <a:pPr algn="r" rtl="1"/>
            <a:r>
              <a:rPr lang="he-IL" sz="1600" dirty="0">
                <a:effectLst/>
                <a:latin typeface="Calibri" panose="020F0502020204030204" pitchFamily="34" charset="0"/>
                <a:ea typeface="Times New Roman" panose="02020603050405020304" pitchFamily="18" charset="0"/>
                <a:cs typeface="Arial" panose="020B0604020202020204" pitchFamily="34" charset="0"/>
              </a:rPr>
              <a:t>4. </a:t>
            </a:r>
            <a:r>
              <a:rPr lang="he-IL" sz="1600" dirty="0">
                <a:effectLst/>
                <a:ea typeface="Calibri" panose="020F0502020204030204" pitchFamily="34" charset="0"/>
                <a:cs typeface="Arial" panose="020B0604020202020204" pitchFamily="34" charset="0"/>
              </a:rPr>
              <a:t>הוצאות הצרכן על גבינה ירדו.</a:t>
            </a:r>
            <a:endParaRPr lang="en-IL"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90934CC-3741-26C5-E66F-B56CABF9D416}"/>
              </a:ext>
            </a:extLst>
          </p:cNvPr>
          <p:cNvSpPr txBox="1"/>
          <p:nvPr/>
        </p:nvSpPr>
        <p:spPr>
          <a:xfrm>
            <a:off x="3834116" y="5691781"/>
            <a:ext cx="4800600" cy="307777"/>
          </a:xfrm>
          <a:prstGeom prst="rect">
            <a:avLst/>
          </a:prstGeom>
          <a:noFill/>
        </p:spPr>
        <p:txBody>
          <a:bodyPr wrap="square" rtlCol="0">
            <a:spAutoFit/>
          </a:bodyPr>
          <a:lstStyle/>
          <a:p>
            <a:pPr algn="r" rtl="1"/>
            <a:r>
              <a:rPr lang="he-IL" sz="1400" dirty="0">
                <a:effectLst/>
                <a:latin typeface="Calibri" panose="020F0502020204030204" pitchFamily="34" charset="0"/>
                <a:ea typeface="Times New Roman" panose="02020603050405020304" pitchFamily="18" charset="0"/>
                <a:cs typeface="Arial" panose="020B0604020202020204" pitchFamily="34" charset="0"/>
              </a:rPr>
              <a:t>5. כל התשובות האחרות אינן נכונות.</a:t>
            </a:r>
            <a:endParaRPr lang="en-IL"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6" name="Straight Arrow Connector 5">
            <a:extLst>
              <a:ext uri="{FF2B5EF4-FFF2-40B4-BE49-F238E27FC236}">
                <a16:creationId xmlns:a16="http://schemas.microsoft.com/office/drawing/2014/main" id="{65ACD36C-3F50-E1AA-34B6-9157A424E8F8}"/>
              </a:ext>
            </a:extLst>
          </p:cNvPr>
          <p:cNvCxnSpPr>
            <a:cxnSpLocks/>
          </p:cNvCxnSpPr>
          <p:nvPr/>
        </p:nvCxnSpPr>
        <p:spPr>
          <a:xfrm>
            <a:off x="1259504" y="5006680"/>
            <a:ext cx="2127121" cy="17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C281D36-5C2F-70E7-47E7-9ABF5C8762D2}"/>
              </a:ext>
            </a:extLst>
          </p:cNvPr>
          <p:cNvCxnSpPr>
            <a:cxnSpLocks/>
          </p:cNvCxnSpPr>
          <p:nvPr/>
        </p:nvCxnSpPr>
        <p:spPr>
          <a:xfrm flipV="1">
            <a:off x="1268721" y="2958038"/>
            <a:ext cx="0" cy="2048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27CAFD9C-44AA-2579-53E9-325DF52A5E64}"/>
              </a:ext>
            </a:extLst>
          </p:cNvPr>
          <p:cNvSpPr/>
          <p:nvPr/>
        </p:nvSpPr>
        <p:spPr>
          <a:xfrm>
            <a:off x="964311" y="2793085"/>
            <a:ext cx="349776" cy="300082"/>
          </a:xfrm>
          <a:prstGeom prst="rect">
            <a:avLst/>
          </a:prstGeom>
        </p:spPr>
        <p:txBody>
          <a:bodyPr wrap="none">
            <a:spAutoFit/>
          </a:bodyPr>
          <a:lstStyle/>
          <a:p>
            <a:r>
              <a:rPr lang="en-US" sz="1350" dirty="0">
                <a:solidFill>
                  <a:prstClr val="black"/>
                </a:solidFill>
              </a:rPr>
              <a:t>Px</a:t>
            </a:r>
            <a:endParaRPr lang="he-IL" sz="1350" dirty="0">
              <a:solidFill>
                <a:prstClr val="black"/>
              </a:solidFill>
            </a:endParaRPr>
          </a:p>
        </p:txBody>
      </p:sp>
      <p:sp>
        <p:nvSpPr>
          <p:cNvPr id="12" name="TextBox 11">
            <a:extLst>
              <a:ext uri="{FF2B5EF4-FFF2-40B4-BE49-F238E27FC236}">
                <a16:creationId xmlns:a16="http://schemas.microsoft.com/office/drawing/2014/main" id="{00F1EE91-35EB-1483-4808-57BF287C4121}"/>
              </a:ext>
            </a:extLst>
          </p:cNvPr>
          <p:cNvSpPr txBox="1"/>
          <p:nvPr/>
        </p:nvSpPr>
        <p:spPr>
          <a:xfrm>
            <a:off x="3213034" y="5069556"/>
            <a:ext cx="275320" cy="300082"/>
          </a:xfrm>
          <a:prstGeom prst="rect">
            <a:avLst/>
          </a:prstGeom>
          <a:noFill/>
        </p:spPr>
        <p:txBody>
          <a:bodyPr wrap="square" rtlCol="1">
            <a:spAutoFit/>
          </a:bodyPr>
          <a:lstStyle/>
          <a:p>
            <a:r>
              <a:rPr lang="en-US" sz="1350" dirty="0">
                <a:solidFill>
                  <a:prstClr val="black"/>
                </a:solidFill>
              </a:rPr>
              <a:t>Q</a:t>
            </a:r>
            <a:endParaRPr lang="he-IL" sz="1350" dirty="0">
              <a:solidFill>
                <a:prstClr val="black"/>
              </a:solidFill>
            </a:endParaRPr>
          </a:p>
        </p:txBody>
      </p:sp>
      <p:cxnSp>
        <p:nvCxnSpPr>
          <p:cNvPr id="13" name="מחבר ישר 13">
            <a:extLst>
              <a:ext uri="{FF2B5EF4-FFF2-40B4-BE49-F238E27FC236}">
                <a16:creationId xmlns:a16="http://schemas.microsoft.com/office/drawing/2014/main" id="{6881406D-67C5-7CED-CE32-3BD8ABA9176D}"/>
              </a:ext>
            </a:extLst>
          </p:cNvPr>
          <p:cNvCxnSpPr>
            <a:cxnSpLocks/>
          </p:cNvCxnSpPr>
          <p:nvPr/>
        </p:nvCxnSpPr>
        <p:spPr>
          <a:xfrm>
            <a:off x="1259504" y="3429000"/>
            <a:ext cx="2023271" cy="15501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3962EA2-D4C6-7E66-7CC9-90662FFB5263}"/>
              </a:ext>
            </a:extLst>
          </p:cNvPr>
          <p:cNvSpPr txBox="1"/>
          <p:nvPr/>
        </p:nvSpPr>
        <p:spPr>
          <a:xfrm>
            <a:off x="3187155" y="4725074"/>
            <a:ext cx="348172" cy="300082"/>
          </a:xfrm>
          <a:prstGeom prst="rect">
            <a:avLst/>
          </a:prstGeom>
          <a:noFill/>
        </p:spPr>
        <p:txBody>
          <a:bodyPr wrap="none" rtlCol="1">
            <a:spAutoFit/>
          </a:bodyPr>
          <a:lstStyle/>
          <a:p>
            <a:r>
              <a:rPr lang="en-US" sz="1350" dirty="0">
                <a:solidFill>
                  <a:prstClr val="black"/>
                </a:solidFill>
              </a:rPr>
              <a:t>D</a:t>
            </a:r>
            <a:r>
              <a:rPr lang="en-US" sz="1350" baseline="-25000" dirty="0">
                <a:solidFill>
                  <a:prstClr val="black"/>
                </a:solidFill>
              </a:rPr>
              <a:t>0</a:t>
            </a:r>
            <a:endParaRPr lang="he-IL" sz="1350" baseline="-25000" dirty="0">
              <a:solidFill>
                <a:prstClr val="black"/>
              </a:solidFill>
            </a:endParaRPr>
          </a:p>
        </p:txBody>
      </p:sp>
      <p:sp>
        <p:nvSpPr>
          <p:cNvPr id="15" name="TextBox 14">
            <a:extLst>
              <a:ext uri="{FF2B5EF4-FFF2-40B4-BE49-F238E27FC236}">
                <a16:creationId xmlns:a16="http://schemas.microsoft.com/office/drawing/2014/main" id="{3B95912D-E74B-753D-76C5-997A53F6BB08}"/>
              </a:ext>
            </a:extLst>
          </p:cNvPr>
          <p:cNvSpPr txBox="1"/>
          <p:nvPr/>
        </p:nvSpPr>
        <p:spPr>
          <a:xfrm>
            <a:off x="2194767" y="5015511"/>
            <a:ext cx="344966" cy="253916"/>
          </a:xfrm>
          <a:prstGeom prst="rect">
            <a:avLst/>
          </a:prstGeom>
          <a:noFill/>
        </p:spPr>
        <p:txBody>
          <a:bodyPr wrap="none" rtlCol="1">
            <a:spAutoFit/>
          </a:bodyPr>
          <a:lstStyle/>
          <a:p>
            <a:r>
              <a:rPr lang="en-US" sz="1050" dirty="0">
                <a:solidFill>
                  <a:prstClr val="black"/>
                </a:solidFill>
              </a:rPr>
              <a:t>Q1</a:t>
            </a:r>
            <a:endParaRPr lang="he-IL" sz="1050" dirty="0">
              <a:solidFill>
                <a:prstClr val="black"/>
              </a:solidFill>
            </a:endParaRPr>
          </a:p>
        </p:txBody>
      </p:sp>
      <p:cxnSp>
        <p:nvCxnSpPr>
          <p:cNvPr id="16" name="מחבר ישר 15">
            <a:extLst>
              <a:ext uri="{FF2B5EF4-FFF2-40B4-BE49-F238E27FC236}">
                <a16:creationId xmlns:a16="http://schemas.microsoft.com/office/drawing/2014/main" id="{165C8930-FB2C-76B2-57D9-8BF56702A80F}"/>
              </a:ext>
            </a:extLst>
          </p:cNvPr>
          <p:cNvCxnSpPr>
            <a:cxnSpLocks/>
          </p:cNvCxnSpPr>
          <p:nvPr/>
        </p:nvCxnSpPr>
        <p:spPr>
          <a:xfrm flipV="1">
            <a:off x="1549135" y="3326374"/>
            <a:ext cx="1888861" cy="15908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6693BC-E63F-45B9-4BC6-C63F598AB9B2}"/>
              </a:ext>
            </a:extLst>
          </p:cNvPr>
          <p:cNvSpPr txBox="1"/>
          <p:nvPr/>
        </p:nvSpPr>
        <p:spPr>
          <a:xfrm>
            <a:off x="2819183" y="3326374"/>
            <a:ext cx="322524" cy="300082"/>
          </a:xfrm>
          <a:prstGeom prst="rect">
            <a:avLst/>
          </a:prstGeom>
          <a:noFill/>
        </p:spPr>
        <p:txBody>
          <a:bodyPr wrap="none" rtlCol="1">
            <a:spAutoFit/>
          </a:bodyPr>
          <a:lstStyle/>
          <a:p>
            <a:r>
              <a:rPr lang="en-US" sz="1350" dirty="0">
                <a:solidFill>
                  <a:prstClr val="black"/>
                </a:solidFill>
              </a:rPr>
              <a:t>S</a:t>
            </a:r>
            <a:r>
              <a:rPr lang="en-US" sz="1350" baseline="-25000" dirty="0">
                <a:solidFill>
                  <a:prstClr val="black"/>
                </a:solidFill>
              </a:rPr>
              <a:t>0</a:t>
            </a:r>
            <a:endParaRPr lang="he-IL" sz="1350" baseline="-25000" dirty="0">
              <a:solidFill>
                <a:prstClr val="black"/>
              </a:solidFill>
            </a:endParaRPr>
          </a:p>
        </p:txBody>
      </p:sp>
      <p:cxnSp>
        <p:nvCxnSpPr>
          <p:cNvPr id="18" name="Straight Connector 17">
            <a:extLst>
              <a:ext uri="{FF2B5EF4-FFF2-40B4-BE49-F238E27FC236}">
                <a16:creationId xmlns:a16="http://schemas.microsoft.com/office/drawing/2014/main" id="{25B24A62-693A-3537-2274-B552B6F78970}"/>
              </a:ext>
            </a:extLst>
          </p:cNvPr>
          <p:cNvCxnSpPr>
            <a:cxnSpLocks/>
          </p:cNvCxnSpPr>
          <p:nvPr/>
        </p:nvCxnSpPr>
        <p:spPr>
          <a:xfrm flipH="1">
            <a:off x="1268721" y="4267940"/>
            <a:ext cx="1098588"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FD3D4207-5C85-A547-7B50-BDED83DD1F12}"/>
                  </a:ext>
                </a:extLst>
              </p:cNvPr>
              <p:cNvSpPr/>
              <p:nvPr/>
            </p:nvSpPr>
            <p:spPr>
              <a:xfrm>
                <a:off x="956913" y="4172773"/>
                <a:ext cx="357790"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b="1" i="1">
                          <a:latin typeface="Cambria Math" panose="02040503050406030204" pitchFamily="18" charset="0"/>
                          <a:cs typeface="David" pitchFamily="34" charset="-79"/>
                        </a:rPr>
                        <m:t>𝑷</m:t>
                      </m:r>
                      <m:r>
                        <a:rPr lang="en-US" sz="900" b="1" i="1">
                          <a:latin typeface="Cambria Math" panose="02040503050406030204" pitchFamily="18" charset="0"/>
                          <a:cs typeface="David" pitchFamily="34" charset="-79"/>
                        </a:rPr>
                        <m:t>𝟏</m:t>
                      </m:r>
                    </m:oMath>
                  </m:oMathPara>
                </a14:m>
                <a:endParaRPr lang="en-IL" sz="900" dirty="0"/>
              </a:p>
            </p:txBody>
          </p:sp>
        </mc:Choice>
        <mc:Fallback xmlns="">
          <p:sp>
            <p:nvSpPr>
              <p:cNvPr id="19" name="Rectangle 18">
                <a:extLst>
                  <a:ext uri="{FF2B5EF4-FFF2-40B4-BE49-F238E27FC236}">
                    <a16:creationId xmlns:a16="http://schemas.microsoft.com/office/drawing/2014/main" id="{FD3D4207-5C85-A547-7B50-BDED83DD1F12}"/>
                  </a:ext>
                </a:extLst>
              </p:cNvPr>
              <p:cNvSpPr>
                <a:spLocks noRot="1" noChangeAspect="1" noMove="1" noResize="1" noEditPoints="1" noAdjustHandles="1" noChangeArrowheads="1" noChangeShapeType="1" noTextEdit="1"/>
              </p:cNvSpPr>
              <p:nvPr/>
            </p:nvSpPr>
            <p:spPr>
              <a:xfrm>
                <a:off x="956913" y="4172773"/>
                <a:ext cx="357790" cy="230832"/>
              </a:xfrm>
              <a:prstGeom prst="rect">
                <a:avLst/>
              </a:prstGeom>
              <a:blipFill>
                <a:blip r:embed="rId2"/>
                <a:stretch>
                  <a:fillRect/>
                </a:stretch>
              </a:blipFill>
            </p:spPr>
            <p:txBody>
              <a:bodyPr/>
              <a:lstStyle/>
              <a:p>
                <a:r>
                  <a:rPr lang="en-IL">
                    <a:noFill/>
                  </a:rPr>
                  <a:t> </a:t>
                </a:r>
              </a:p>
            </p:txBody>
          </p:sp>
        </mc:Fallback>
      </mc:AlternateContent>
      <p:sp>
        <p:nvSpPr>
          <p:cNvPr id="20" name="Oval 19">
            <a:extLst>
              <a:ext uri="{FF2B5EF4-FFF2-40B4-BE49-F238E27FC236}">
                <a16:creationId xmlns:a16="http://schemas.microsoft.com/office/drawing/2014/main" id="{4CD18DCF-AB52-286E-00B3-298596C45A90}"/>
              </a:ext>
            </a:extLst>
          </p:cNvPr>
          <p:cNvSpPr/>
          <p:nvPr/>
        </p:nvSpPr>
        <p:spPr>
          <a:xfrm>
            <a:off x="2299160" y="4192195"/>
            <a:ext cx="175888" cy="15775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50" dirty="0"/>
              <a:t>A</a:t>
            </a:r>
            <a:endParaRPr lang="en-IL" sz="1350" dirty="0"/>
          </a:p>
        </p:txBody>
      </p:sp>
      <p:sp>
        <p:nvSpPr>
          <p:cNvPr id="21" name="TextBox 20">
            <a:extLst>
              <a:ext uri="{FF2B5EF4-FFF2-40B4-BE49-F238E27FC236}">
                <a16:creationId xmlns:a16="http://schemas.microsoft.com/office/drawing/2014/main" id="{E5E953DC-62F2-25D6-1B53-EFFD977ED2EA}"/>
              </a:ext>
            </a:extLst>
          </p:cNvPr>
          <p:cNvSpPr txBox="1"/>
          <p:nvPr/>
        </p:nvSpPr>
        <p:spPr>
          <a:xfrm>
            <a:off x="2200143" y="5016768"/>
            <a:ext cx="344966" cy="253916"/>
          </a:xfrm>
          <a:prstGeom prst="rect">
            <a:avLst/>
          </a:prstGeom>
          <a:noFill/>
        </p:spPr>
        <p:txBody>
          <a:bodyPr wrap="none" rtlCol="1">
            <a:spAutoFit/>
          </a:bodyPr>
          <a:lstStyle/>
          <a:p>
            <a:r>
              <a:rPr lang="en-US" sz="1050" dirty="0">
                <a:solidFill>
                  <a:prstClr val="black"/>
                </a:solidFill>
              </a:rPr>
              <a:t>Q1</a:t>
            </a:r>
            <a:endParaRPr lang="he-IL" sz="1050" dirty="0">
              <a:solidFill>
                <a:prstClr val="black"/>
              </a:solidFill>
            </a:endParaRPr>
          </a:p>
        </p:txBody>
      </p:sp>
      <p:cxnSp>
        <p:nvCxnSpPr>
          <p:cNvPr id="22" name="Straight Connector 21">
            <a:extLst>
              <a:ext uri="{FF2B5EF4-FFF2-40B4-BE49-F238E27FC236}">
                <a16:creationId xmlns:a16="http://schemas.microsoft.com/office/drawing/2014/main" id="{C3E6B3FE-406C-E522-F93D-F4DDBF2E61FB}"/>
              </a:ext>
            </a:extLst>
          </p:cNvPr>
          <p:cNvCxnSpPr>
            <a:cxnSpLocks/>
          </p:cNvCxnSpPr>
          <p:nvPr/>
        </p:nvCxnSpPr>
        <p:spPr>
          <a:xfrm>
            <a:off x="2367309" y="4297313"/>
            <a:ext cx="0" cy="73304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מחבר ישר 15">
            <a:extLst>
              <a:ext uri="{FF2B5EF4-FFF2-40B4-BE49-F238E27FC236}">
                <a16:creationId xmlns:a16="http://schemas.microsoft.com/office/drawing/2014/main" id="{C0054DD2-FEA5-F883-89E9-4F9CD7D4F7AD}"/>
              </a:ext>
            </a:extLst>
          </p:cNvPr>
          <p:cNvCxnSpPr>
            <a:cxnSpLocks/>
            <a:endCxn id="24" idx="1"/>
          </p:cNvCxnSpPr>
          <p:nvPr/>
        </p:nvCxnSpPr>
        <p:spPr>
          <a:xfrm flipV="1">
            <a:off x="1913093" y="3734159"/>
            <a:ext cx="1657725" cy="118837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A12F7C8-18FB-C3DD-B991-FE643E2CC861}"/>
              </a:ext>
            </a:extLst>
          </p:cNvPr>
          <p:cNvSpPr txBox="1"/>
          <p:nvPr/>
        </p:nvSpPr>
        <p:spPr>
          <a:xfrm>
            <a:off x="3570818" y="3584118"/>
            <a:ext cx="322524" cy="300082"/>
          </a:xfrm>
          <a:prstGeom prst="rect">
            <a:avLst/>
          </a:prstGeom>
          <a:noFill/>
          <a:ln>
            <a:noFill/>
          </a:ln>
        </p:spPr>
        <p:txBody>
          <a:bodyPr wrap="none" rtlCol="1">
            <a:spAutoFit/>
          </a:bodyPr>
          <a:lstStyle/>
          <a:p>
            <a:r>
              <a:rPr lang="en-US" sz="1350" dirty="0">
                <a:solidFill>
                  <a:srgbClr val="C00000"/>
                </a:solidFill>
              </a:rPr>
              <a:t>S</a:t>
            </a:r>
            <a:r>
              <a:rPr lang="en-US" sz="1350" baseline="-25000" dirty="0">
                <a:solidFill>
                  <a:srgbClr val="C00000"/>
                </a:solidFill>
              </a:rPr>
              <a:t>1</a:t>
            </a:r>
            <a:endParaRPr lang="he-IL" sz="1350" baseline="-25000" dirty="0">
              <a:solidFill>
                <a:srgbClr val="C00000"/>
              </a:solidFill>
            </a:endParaRPr>
          </a:p>
        </p:txBody>
      </p:sp>
      <p:cxnSp>
        <p:nvCxnSpPr>
          <p:cNvPr id="25" name="Straight Arrow Connector 24">
            <a:extLst>
              <a:ext uri="{FF2B5EF4-FFF2-40B4-BE49-F238E27FC236}">
                <a16:creationId xmlns:a16="http://schemas.microsoft.com/office/drawing/2014/main" id="{50152568-454E-6302-C703-F9C719E41E10}"/>
              </a:ext>
            </a:extLst>
          </p:cNvPr>
          <p:cNvCxnSpPr>
            <a:cxnSpLocks/>
          </p:cNvCxnSpPr>
          <p:nvPr/>
        </p:nvCxnSpPr>
        <p:spPr>
          <a:xfrm>
            <a:off x="2985965" y="3734159"/>
            <a:ext cx="156434" cy="1330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E93357FF-C33E-7EDD-E43E-4057FC982BBF}"/>
              </a:ext>
            </a:extLst>
          </p:cNvPr>
          <p:cNvSpPr/>
          <p:nvPr/>
        </p:nvSpPr>
        <p:spPr>
          <a:xfrm>
            <a:off x="2584220" y="4424612"/>
            <a:ext cx="167996" cy="167893"/>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a:t>
            </a:r>
            <a:endParaRPr lang="en-IL" sz="1350" dirty="0"/>
          </a:p>
        </p:txBody>
      </p:sp>
      <p:sp>
        <p:nvSpPr>
          <p:cNvPr id="27" name="Rectangle 26">
            <a:extLst>
              <a:ext uri="{FF2B5EF4-FFF2-40B4-BE49-F238E27FC236}">
                <a16:creationId xmlns:a16="http://schemas.microsoft.com/office/drawing/2014/main" id="{C9CEAC3C-1A51-FAA9-442F-9B9B6A13101F}"/>
              </a:ext>
            </a:extLst>
          </p:cNvPr>
          <p:cNvSpPr/>
          <p:nvPr/>
        </p:nvSpPr>
        <p:spPr>
          <a:xfrm>
            <a:off x="2465000" y="5045256"/>
            <a:ext cx="344966" cy="253916"/>
          </a:xfrm>
          <a:prstGeom prst="rect">
            <a:avLst/>
          </a:prstGeom>
        </p:spPr>
        <p:txBody>
          <a:bodyPr wrap="none">
            <a:spAutoFit/>
          </a:bodyPr>
          <a:lstStyle/>
          <a:p>
            <a:r>
              <a:rPr lang="en-US" sz="1050" dirty="0">
                <a:solidFill>
                  <a:srgbClr val="FF0000"/>
                </a:solidFill>
              </a:rPr>
              <a:t>Q2</a:t>
            </a:r>
            <a:endParaRPr lang="he-IL" sz="1050" dirty="0">
              <a:solidFill>
                <a:srgbClr val="FF0000"/>
              </a:solidFill>
            </a:endParaRPr>
          </a:p>
        </p:txBody>
      </p:sp>
      <p:cxnSp>
        <p:nvCxnSpPr>
          <p:cNvPr id="28" name="Straight Connector 27">
            <a:extLst>
              <a:ext uri="{FF2B5EF4-FFF2-40B4-BE49-F238E27FC236}">
                <a16:creationId xmlns:a16="http://schemas.microsoft.com/office/drawing/2014/main" id="{76293204-9619-4136-A620-8B58BB13456E}"/>
              </a:ext>
            </a:extLst>
          </p:cNvPr>
          <p:cNvCxnSpPr>
            <a:cxnSpLocks/>
          </p:cNvCxnSpPr>
          <p:nvPr/>
        </p:nvCxnSpPr>
        <p:spPr>
          <a:xfrm flipH="1">
            <a:off x="1266024" y="4502538"/>
            <a:ext cx="1380668" cy="3672"/>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3BC6130B-577E-7584-56B1-6E09DD3248E1}"/>
                  </a:ext>
                </a:extLst>
              </p:cNvPr>
              <p:cNvSpPr/>
              <p:nvPr/>
            </p:nvSpPr>
            <p:spPr>
              <a:xfrm>
                <a:off x="960216" y="4422853"/>
                <a:ext cx="327334" cy="230832"/>
              </a:xfrm>
              <a:prstGeom prst="rect">
                <a:avLst/>
              </a:prstGeom>
              <a:solidFill>
                <a:schemeClr val="accent4">
                  <a:lumMod val="20000"/>
                  <a:lumOff val="80000"/>
                </a:schemeClr>
              </a:solidFill>
            </p:spPr>
            <p:txBody>
              <a:bodyPr wrap="none">
                <a:spAutoFit/>
              </a:bodyPr>
              <a:lstStyle/>
              <a:p>
                <a14:m>
                  <m:oMath xmlns:m="http://schemas.openxmlformats.org/officeDocument/2006/math">
                    <m:r>
                      <a:rPr lang="en-US" sz="900" b="1" i="1">
                        <a:latin typeface="Cambria Math" panose="02040503050406030204" pitchFamily="18" charset="0"/>
                        <a:cs typeface="David" pitchFamily="34" charset="-79"/>
                      </a:rPr>
                      <m:t>𝑷</m:t>
                    </m:r>
                  </m:oMath>
                </a14:m>
                <a:r>
                  <a:rPr lang="he-IL" sz="900" dirty="0"/>
                  <a:t>2</a:t>
                </a:r>
                <a:endParaRPr lang="en-IL" sz="900" dirty="0"/>
              </a:p>
            </p:txBody>
          </p:sp>
        </mc:Choice>
        <mc:Fallback xmlns="">
          <p:sp>
            <p:nvSpPr>
              <p:cNvPr id="30" name="Rectangle 29">
                <a:extLst>
                  <a:ext uri="{FF2B5EF4-FFF2-40B4-BE49-F238E27FC236}">
                    <a16:creationId xmlns:a16="http://schemas.microsoft.com/office/drawing/2014/main" id="{3BC6130B-577E-7584-56B1-6E09DD3248E1}"/>
                  </a:ext>
                </a:extLst>
              </p:cNvPr>
              <p:cNvSpPr>
                <a:spLocks noRot="1" noChangeAspect="1" noMove="1" noResize="1" noEditPoints="1" noAdjustHandles="1" noChangeArrowheads="1" noChangeShapeType="1" noTextEdit="1"/>
              </p:cNvSpPr>
              <p:nvPr/>
            </p:nvSpPr>
            <p:spPr>
              <a:xfrm>
                <a:off x="960216" y="4422853"/>
                <a:ext cx="327334" cy="230832"/>
              </a:xfrm>
              <a:prstGeom prst="rect">
                <a:avLst/>
              </a:prstGeom>
              <a:blipFill>
                <a:blip r:embed="rId3"/>
                <a:stretch>
                  <a:fillRect b="-10811"/>
                </a:stretch>
              </a:blipFill>
            </p:spPr>
            <p:txBody>
              <a:bodyPr/>
              <a:lstStyle/>
              <a:p>
                <a:r>
                  <a:rPr lang="en-IL">
                    <a:noFill/>
                  </a:rPr>
                  <a:t> </a:t>
                </a:r>
              </a:p>
            </p:txBody>
          </p:sp>
        </mc:Fallback>
      </mc:AlternateContent>
      <p:cxnSp>
        <p:nvCxnSpPr>
          <p:cNvPr id="31" name="Straight Connector 30">
            <a:extLst>
              <a:ext uri="{FF2B5EF4-FFF2-40B4-BE49-F238E27FC236}">
                <a16:creationId xmlns:a16="http://schemas.microsoft.com/office/drawing/2014/main" id="{6D1D65A2-4572-E756-18B7-179D8EA5FD74}"/>
              </a:ext>
            </a:extLst>
          </p:cNvPr>
          <p:cNvCxnSpPr>
            <a:cxnSpLocks/>
          </p:cNvCxnSpPr>
          <p:nvPr/>
        </p:nvCxnSpPr>
        <p:spPr>
          <a:xfrm>
            <a:off x="2620676" y="4613306"/>
            <a:ext cx="0" cy="438902"/>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מחבר ישר 13">
            <a:extLst>
              <a:ext uri="{FF2B5EF4-FFF2-40B4-BE49-F238E27FC236}">
                <a16:creationId xmlns:a16="http://schemas.microsoft.com/office/drawing/2014/main" id="{A5092CB9-4332-6C87-0BAF-188F593139EC}"/>
              </a:ext>
            </a:extLst>
          </p:cNvPr>
          <p:cNvCxnSpPr>
            <a:cxnSpLocks/>
          </p:cNvCxnSpPr>
          <p:nvPr/>
        </p:nvCxnSpPr>
        <p:spPr>
          <a:xfrm>
            <a:off x="3064182" y="1839703"/>
            <a:ext cx="1988548" cy="1207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5" name="מחבר ישר 13">
            <a:extLst>
              <a:ext uri="{FF2B5EF4-FFF2-40B4-BE49-F238E27FC236}">
                <a16:creationId xmlns:a16="http://schemas.microsoft.com/office/drawing/2014/main" id="{1234282A-44C7-07D5-63B0-DE969A502B30}"/>
              </a:ext>
            </a:extLst>
          </p:cNvPr>
          <p:cNvCxnSpPr>
            <a:cxnSpLocks/>
          </p:cNvCxnSpPr>
          <p:nvPr/>
        </p:nvCxnSpPr>
        <p:spPr>
          <a:xfrm>
            <a:off x="1361958" y="3148466"/>
            <a:ext cx="2108200" cy="16750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7FC1C22-383A-FB56-7BBF-4931FE76C948}"/>
              </a:ext>
            </a:extLst>
          </p:cNvPr>
          <p:cNvSpPr/>
          <p:nvPr/>
        </p:nvSpPr>
        <p:spPr>
          <a:xfrm>
            <a:off x="2708852" y="4202867"/>
            <a:ext cx="167996" cy="167893"/>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C</a:t>
            </a:r>
            <a:endParaRPr lang="en-IL" sz="1350" dirty="0"/>
          </a:p>
        </p:txBody>
      </p:sp>
      <p:sp>
        <p:nvSpPr>
          <p:cNvPr id="37" name="TextBox 36">
            <a:extLst>
              <a:ext uri="{FF2B5EF4-FFF2-40B4-BE49-F238E27FC236}">
                <a16:creationId xmlns:a16="http://schemas.microsoft.com/office/drawing/2014/main" id="{0A371365-3E07-7D99-3C12-16FE5624535E}"/>
              </a:ext>
            </a:extLst>
          </p:cNvPr>
          <p:cNvSpPr txBox="1"/>
          <p:nvPr/>
        </p:nvSpPr>
        <p:spPr>
          <a:xfrm>
            <a:off x="3440693" y="4523430"/>
            <a:ext cx="348172" cy="300082"/>
          </a:xfrm>
          <a:prstGeom prst="rect">
            <a:avLst/>
          </a:prstGeom>
          <a:noFill/>
        </p:spPr>
        <p:txBody>
          <a:bodyPr wrap="none" rtlCol="1">
            <a:spAutoFit/>
          </a:bodyPr>
          <a:lstStyle/>
          <a:p>
            <a:r>
              <a:rPr lang="en-US" sz="1350" b="1" dirty="0">
                <a:solidFill>
                  <a:srgbClr val="7030A0"/>
                </a:solidFill>
              </a:rPr>
              <a:t>D</a:t>
            </a:r>
            <a:r>
              <a:rPr lang="en-US" sz="1350" b="1" baseline="-25000" dirty="0">
                <a:solidFill>
                  <a:srgbClr val="7030A0"/>
                </a:solidFill>
              </a:rPr>
              <a:t>1</a:t>
            </a:r>
            <a:endParaRPr lang="he-IL" sz="1350" b="1" baseline="-25000" dirty="0">
              <a:solidFill>
                <a:srgbClr val="7030A0"/>
              </a:solidFill>
            </a:endParaRPr>
          </a:p>
        </p:txBody>
      </p:sp>
      <p:cxnSp>
        <p:nvCxnSpPr>
          <p:cNvPr id="38" name="Straight Connector 37">
            <a:extLst>
              <a:ext uri="{FF2B5EF4-FFF2-40B4-BE49-F238E27FC236}">
                <a16:creationId xmlns:a16="http://schemas.microsoft.com/office/drawing/2014/main" id="{5E6829F2-E549-7729-930B-2B4C83E421D8}"/>
              </a:ext>
            </a:extLst>
          </p:cNvPr>
          <p:cNvCxnSpPr>
            <a:cxnSpLocks/>
          </p:cNvCxnSpPr>
          <p:nvPr/>
        </p:nvCxnSpPr>
        <p:spPr>
          <a:xfrm flipH="1" flipV="1">
            <a:off x="1176122" y="4271072"/>
            <a:ext cx="1643061" cy="2513"/>
          </a:xfrm>
          <a:prstGeom prst="line">
            <a:avLst/>
          </a:prstGeom>
          <a:ln w="9525"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Right Triangle 40">
            <a:extLst>
              <a:ext uri="{FF2B5EF4-FFF2-40B4-BE49-F238E27FC236}">
                <a16:creationId xmlns:a16="http://schemas.microsoft.com/office/drawing/2014/main" id="{1EF192B0-8462-99A1-140C-EA499F0B25EA}"/>
              </a:ext>
            </a:extLst>
          </p:cNvPr>
          <p:cNvSpPr/>
          <p:nvPr/>
        </p:nvSpPr>
        <p:spPr>
          <a:xfrm>
            <a:off x="1277939" y="3086520"/>
            <a:ext cx="1448149" cy="1161946"/>
          </a:xfrm>
          <a:prstGeom prst="rtTriangle">
            <a:avLst/>
          </a:prstGeom>
          <a:solidFill>
            <a:schemeClr val="accent1"/>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L"/>
          </a:p>
        </p:txBody>
      </p:sp>
      <p:sp>
        <p:nvSpPr>
          <p:cNvPr id="42" name="Right Triangle 41">
            <a:extLst>
              <a:ext uri="{FF2B5EF4-FFF2-40B4-BE49-F238E27FC236}">
                <a16:creationId xmlns:a16="http://schemas.microsoft.com/office/drawing/2014/main" id="{4852F8D4-0B1C-AF6F-C534-51544B266476}"/>
              </a:ext>
            </a:extLst>
          </p:cNvPr>
          <p:cNvSpPr/>
          <p:nvPr/>
        </p:nvSpPr>
        <p:spPr>
          <a:xfrm flipV="1">
            <a:off x="1398085" y="4295119"/>
            <a:ext cx="1413593" cy="870582"/>
          </a:xfrm>
          <a:prstGeom prst="rtTriangl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8" name="Right Triangle 47">
            <a:extLst>
              <a:ext uri="{FF2B5EF4-FFF2-40B4-BE49-F238E27FC236}">
                <a16:creationId xmlns:a16="http://schemas.microsoft.com/office/drawing/2014/main" id="{87DA1BF3-3189-BF77-91A9-61E3E9229F32}"/>
              </a:ext>
            </a:extLst>
          </p:cNvPr>
          <p:cNvSpPr/>
          <p:nvPr/>
        </p:nvSpPr>
        <p:spPr>
          <a:xfrm>
            <a:off x="1300392" y="3500952"/>
            <a:ext cx="933598" cy="730050"/>
          </a:xfrm>
          <a:prstGeom prst="rtTriangle">
            <a:avLst/>
          </a:prstGeom>
          <a:ln w="76200">
            <a:solidFill>
              <a:srgbClr val="0070C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L"/>
          </a:p>
        </p:txBody>
      </p:sp>
      <p:sp>
        <p:nvSpPr>
          <p:cNvPr id="51" name="Right Triangle 50">
            <a:extLst>
              <a:ext uri="{FF2B5EF4-FFF2-40B4-BE49-F238E27FC236}">
                <a16:creationId xmlns:a16="http://schemas.microsoft.com/office/drawing/2014/main" id="{F302F287-26D8-01B2-4180-873BA0D8E2FB}"/>
              </a:ext>
            </a:extLst>
          </p:cNvPr>
          <p:cNvSpPr/>
          <p:nvPr/>
        </p:nvSpPr>
        <p:spPr>
          <a:xfrm flipV="1">
            <a:off x="1316368" y="4270763"/>
            <a:ext cx="933598" cy="732522"/>
          </a:xfrm>
          <a:prstGeom prst="rtTriangle">
            <a:avLst/>
          </a:prstGeom>
          <a:ln w="76200">
            <a:solidFill>
              <a:schemeClr val="accent3">
                <a:lumMod val="60000"/>
                <a:lumOff val="4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IL"/>
          </a:p>
        </p:txBody>
      </p:sp>
      <p:sp>
        <p:nvSpPr>
          <p:cNvPr id="33" name="TextBox 32">
            <a:extLst>
              <a:ext uri="{FF2B5EF4-FFF2-40B4-BE49-F238E27FC236}">
                <a16:creationId xmlns:a16="http://schemas.microsoft.com/office/drawing/2014/main" id="{59B5E9A0-E41B-A0F1-99CB-FFF4D4D419ED}"/>
              </a:ext>
            </a:extLst>
          </p:cNvPr>
          <p:cNvSpPr txBox="1"/>
          <p:nvPr/>
        </p:nvSpPr>
        <p:spPr>
          <a:xfrm>
            <a:off x="947201" y="5520149"/>
            <a:ext cx="4981590" cy="1169551"/>
          </a:xfrm>
          <a:prstGeom prst="rect">
            <a:avLst/>
          </a:prstGeom>
          <a:solidFill>
            <a:schemeClr val="bg2"/>
          </a:solidFill>
        </p:spPr>
        <p:txBody>
          <a:bodyPr wrap="square" rtlCol="0">
            <a:spAutoFit/>
          </a:bodyPr>
          <a:lstStyle/>
          <a:p>
            <a:pPr algn="r" rtl="1"/>
            <a:r>
              <a:rPr lang="he-IL" sz="1400" dirty="0"/>
              <a:t>במעבר משיווי משקל בנקודה </a:t>
            </a:r>
            <a:r>
              <a:rPr lang="en-US" sz="1400" dirty="0"/>
              <a:t>A</a:t>
            </a:r>
            <a:r>
              <a:rPr lang="he-IL" sz="1400" dirty="0"/>
              <a:t> לשיווי משקל בנקודה </a:t>
            </a:r>
            <a:r>
              <a:rPr lang="en-US" sz="1400" dirty="0"/>
              <a:t>C</a:t>
            </a:r>
            <a:r>
              <a:rPr lang="he-IL" sz="1400" dirty="0"/>
              <a:t>, המחיר ללא שינוי ואילו הכמות עלתה, מכאן שהוצאות הצרכנים יעלו. כמו כן, המוצר בהכרח נורמלי כיוון שבעקבות עלייה בהכנסות, הביקוש גדל וזז ימינה. עודף הצרכן והן עודף היצרן- שניהם עלו (העודף המקורי מוכל בשטח העודף החדש)</a:t>
            </a:r>
            <a:endParaRPr lang="en-IL" sz="1400" dirty="0"/>
          </a:p>
        </p:txBody>
      </p:sp>
    </p:spTree>
    <p:extLst>
      <p:ext uri="{BB962C8B-B14F-4D97-AF65-F5344CB8AC3E}">
        <p14:creationId xmlns:p14="http://schemas.microsoft.com/office/powerpoint/2010/main" val="4269706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26" presetClass="entr" presetSubtype="0" fill="hold" grpId="0"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down)">
                                      <p:cBhvr>
                                        <p:cTn id="20" dur="580">
                                          <p:stCondLst>
                                            <p:cond delay="0"/>
                                          </p:stCondLst>
                                        </p:cTn>
                                        <p:tgtEl>
                                          <p:spTgt spid="26"/>
                                        </p:tgtEl>
                                      </p:cBhvr>
                                    </p:animEffect>
                                    <p:anim calcmode="lin" valueType="num">
                                      <p:cBhvr>
                                        <p:cTn id="21"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6" dur="26">
                                          <p:stCondLst>
                                            <p:cond delay="650"/>
                                          </p:stCondLst>
                                        </p:cTn>
                                        <p:tgtEl>
                                          <p:spTgt spid="26"/>
                                        </p:tgtEl>
                                      </p:cBhvr>
                                      <p:to x="100000" y="60000"/>
                                    </p:animScale>
                                    <p:animScale>
                                      <p:cBhvr>
                                        <p:cTn id="27" dur="166" decel="50000">
                                          <p:stCondLst>
                                            <p:cond delay="676"/>
                                          </p:stCondLst>
                                        </p:cTn>
                                        <p:tgtEl>
                                          <p:spTgt spid="26"/>
                                        </p:tgtEl>
                                      </p:cBhvr>
                                      <p:to x="100000" y="100000"/>
                                    </p:animScale>
                                    <p:animScale>
                                      <p:cBhvr>
                                        <p:cTn id="28" dur="26">
                                          <p:stCondLst>
                                            <p:cond delay="1312"/>
                                          </p:stCondLst>
                                        </p:cTn>
                                        <p:tgtEl>
                                          <p:spTgt spid="26"/>
                                        </p:tgtEl>
                                      </p:cBhvr>
                                      <p:to x="100000" y="80000"/>
                                    </p:animScale>
                                    <p:animScale>
                                      <p:cBhvr>
                                        <p:cTn id="29" dur="166" decel="50000">
                                          <p:stCondLst>
                                            <p:cond delay="1338"/>
                                          </p:stCondLst>
                                        </p:cTn>
                                        <p:tgtEl>
                                          <p:spTgt spid="26"/>
                                        </p:tgtEl>
                                      </p:cBhvr>
                                      <p:to x="100000" y="100000"/>
                                    </p:animScale>
                                    <p:animScale>
                                      <p:cBhvr>
                                        <p:cTn id="30" dur="26">
                                          <p:stCondLst>
                                            <p:cond delay="1642"/>
                                          </p:stCondLst>
                                        </p:cTn>
                                        <p:tgtEl>
                                          <p:spTgt spid="26"/>
                                        </p:tgtEl>
                                      </p:cBhvr>
                                      <p:to x="100000" y="90000"/>
                                    </p:animScale>
                                    <p:animScale>
                                      <p:cBhvr>
                                        <p:cTn id="31" dur="166" decel="50000">
                                          <p:stCondLst>
                                            <p:cond delay="1668"/>
                                          </p:stCondLst>
                                        </p:cTn>
                                        <p:tgtEl>
                                          <p:spTgt spid="26"/>
                                        </p:tgtEl>
                                      </p:cBhvr>
                                      <p:to x="100000" y="100000"/>
                                    </p:animScale>
                                    <p:animScale>
                                      <p:cBhvr>
                                        <p:cTn id="32" dur="26">
                                          <p:stCondLst>
                                            <p:cond delay="1808"/>
                                          </p:stCondLst>
                                        </p:cTn>
                                        <p:tgtEl>
                                          <p:spTgt spid="26"/>
                                        </p:tgtEl>
                                      </p:cBhvr>
                                      <p:to x="100000" y="95000"/>
                                    </p:animScale>
                                    <p:animScale>
                                      <p:cBhvr>
                                        <p:cTn id="33" dur="166" decel="50000">
                                          <p:stCondLst>
                                            <p:cond delay="1834"/>
                                          </p:stCondLst>
                                        </p:cTn>
                                        <p:tgtEl>
                                          <p:spTgt spid="26"/>
                                        </p:tgtEl>
                                      </p:cBhvr>
                                      <p:to x="100000" y="100000"/>
                                    </p:animScale>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barn(inVertical)">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barn(inVertical)">
                                      <p:cBhvr>
                                        <p:cTn id="57" dur="5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down)">
                                      <p:cBhvr>
                                        <p:cTn id="62" dur="580">
                                          <p:stCondLst>
                                            <p:cond delay="0"/>
                                          </p:stCondLst>
                                        </p:cTn>
                                        <p:tgtEl>
                                          <p:spTgt spid="36"/>
                                        </p:tgtEl>
                                      </p:cBhvr>
                                    </p:animEffect>
                                    <p:anim calcmode="lin" valueType="num">
                                      <p:cBhvr>
                                        <p:cTn id="63"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68" dur="26">
                                          <p:stCondLst>
                                            <p:cond delay="650"/>
                                          </p:stCondLst>
                                        </p:cTn>
                                        <p:tgtEl>
                                          <p:spTgt spid="36"/>
                                        </p:tgtEl>
                                      </p:cBhvr>
                                      <p:to x="100000" y="60000"/>
                                    </p:animScale>
                                    <p:animScale>
                                      <p:cBhvr>
                                        <p:cTn id="69" dur="166" decel="50000">
                                          <p:stCondLst>
                                            <p:cond delay="676"/>
                                          </p:stCondLst>
                                        </p:cTn>
                                        <p:tgtEl>
                                          <p:spTgt spid="36"/>
                                        </p:tgtEl>
                                      </p:cBhvr>
                                      <p:to x="100000" y="100000"/>
                                    </p:animScale>
                                    <p:animScale>
                                      <p:cBhvr>
                                        <p:cTn id="70" dur="26">
                                          <p:stCondLst>
                                            <p:cond delay="1312"/>
                                          </p:stCondLst>
                                        </p:cTn>
                                        <p:tgtEl>
                                          <p:spTgt spid="36"/>
                                        </p:tgtEl>
                                      </p:cBhvr>
                                      <p:to x="100000" y="80000"/>
                                    </p:animScale>
                                    <p:animScale>
                                      <p:cBhvr>
                                        <p:cTn id="71" dur="166" decel="50000">
                                          <p:stCondLst>
                                            <p:cond delay="1338"/>
                                          </p:stCondLst>
                                        </p:cTn>
                                        <p:tgtEl>
                                          <p:spTgt spid="36"/>
                                        </p:tgtEl>
                                      </p:cBhvr>
                                      <p:to x="100000" y="100000"/>
                                    </p:animScale>
                                    <p:animScale>
                                      <p:cBhvr>
                                        <p:cTn id="72" dur="26">
                                          <p:stCondLst>
                                            <p:cond delay="1642"/>
                                          </p:stCondLst>
                                        </p:cTn>
                                        <p:tgtEl>
                                          <p:spTgt spid="36"/>
                                        </p:tgtEl>
                                      </p:cBhvr>
                                      <p:to x="100000" y="90000"/>
                                    </p:animScale>
                                    <p:animScale>
                                      <p:cBhvr>
                                        <p:cTn id="73" dur="166" decel="50000">
                                          <p:stCondLst>
                                            <p:cond delay="1668"/>
                                          </p:stCondLst>
                                        </p:cTn>
                                        <p:tgtEl>
                                          <p:spTgt spid="36"/>
                                        </p:tgtEl>
                                      </p:cBhvr>
                                      <p:to x="100000" y="100000"/>
                                    </p:animScale>
                                    <p:animScale>
                                      <p:cBhvr>
                                        <p:cTn id="74" dur="26">
                                          <p:stCondLst>
                                            <p:cond delay="1808"/>
                                          </p:stCondLst>
                                        </p:cTn>
                                        <p:tgtEl>
                                          <p:spTgt spid="36"/>
                                        </p:tgtEl>
                                      </p:cBhvr>
                                      <p:to x="100000" y="95000"/>
                                    </p:animScale>
                                    <p:animScale>
                                      <p:cBhvr>
                                        <p:cTn id="75" dur="166" decel="50000">
                                          <p:stCondLst>
                                            <p:cond delay="1834"/>
                                          </p:stCondLst>
                                        </p:cTn>
                                        <p:tgtEl>
                                          <p:spTgt spid="36"/>
                                        </p:tgtEl>
                                      </p:cBhvr>
                                      <p:to x="100000" y="100000"/>
                                    </p:animScale>
                                  </p:childTnLst>
                                </p:cTn>
                              </p:par>
                              <p:par>
                                <p:cTn id="76" presetID="16" presetClass="entr" presetSubtype="21"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barn(inVertical)">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1000"/>
                                        <p:tgtEl>
                                          <p:spTgt spid="38"/>
                                        </p:tgtEl>
                                      </p:cBhvr>
                                    </p:animEffect>
                                    <p:anim calcmode="lin" valueType="num">
                                      <p:cBhvr>
                                        <p:cTn id="84" dur="1000" fill="hold"/>
                                        <p:tgtEl>
                                          <p:spTgt spid="38"/>
                                        </p:tgtEl>
                                        <p:attrNameLst>
                                          <p:attrName>ppt_x</p:attrName>
                                        </p:attrNameLst>
                                      </p:cBhvr>
                                      <p:tavLst>
                                        <p:tav tm="0">
                                          <p:val>
                                            <p:strVal val="#ppt_x"/>
                                          </p:val>
                                        </p:tav>
                                        <p:tav tm="100000">
                                          <p:val>
                                            <p:strVal val="#ppt_x"/>
                                          </p:val>
                                        </p:tav>
                                      </p:tavLst>
                                    </p:anim>
                                    <p:anim calcmode="lin" valueType="num">
                                      <p:cBhvr>
                                        <p:cTn id="85"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1"/>
                                        </p:tgtEl>
                                        <p:attrNameLst>
                                          <p:attrName>style.visibility</p:attrName>
                                        </p:attrNameLst>
                                      </p:cBhvr>
                                      <p:to>
                                        <p:strVal val="visible"/>
                                      </p:to>
                                    </p:set>
                                    <p:animEffect transition="in" filter="fade">
                                      <p:cBhvr>
                                        <p:cTn id="90" dur="500"/>
                                        <p:tgtEl>
                                          <p:spTgt spid="41"/>
                                        </p:tgtEl>
                                      </p:cBhvr>
                                    </p:animEffec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6" presetClass="entr" presetSubtype="21" fill="hold" grpId="0" nodeType="click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barn(inVertical)">
                                      <p:cBhvr>
                                        <p:cTn id="99" dur="500"/>
                                        <p:tgtEl>
                                          <p:spTgt spid="42"/>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animBg="1"/>
      <p:bldP spid="27" grpId="0"/>
      <p:bldP spid="30" grpId="0" animBg="1"/>
      <p:bldP spid="36" grpId="0" animBg="1"/>
      <p:bldP spid="37" grpId="0"/>
      <p:bldP spid="41" grpId="0" animBg="1"/>
      <p:bldP spid="42" grpId="0" animBg="1"/>
      <p:bldP spid="48" grpId="0" animBg="1"/>
      <p:bldP spid="5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A208D-A050-28E7-9C10-54FD621FA6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B97593-3804-4471-F57E-B9736C7C7D95}"/>
              </a:ext>
            </a:extLst>
          </p:cNvPr>
          <p:cNvSpPr/>
          <p:nvPr/>
        </p:nvSpPr>
        <p:spPr>
          <a:xfrm>
            <a:off x="154870" y="270635"/>
            <a:ext cx="7153434" cy="1034129"/>
          </a:xfrm>
          <a:prstGeom prst="rect">
            <a:avLst/>
          </a:prstGeom>
        </p:spPr>
        <p:txBody>
          <a:bodyPr wrap="square">
            <a:spAutoFit/>
          </a:bodyPr>
          <a:lstStyle/>
          <a:p>
            <a:pPr algn="r" rtl="1">
              <a:lnSpc>
                <a:spcPct val="150000"/>
              </a:lnSpc>
            </a:pPr>
            <a:r>
              <a:rPr lang="he-IL" sz="1400" dirty="0">
                <a:effectLst/>
                <a:latin typeface="Courier New" panose="02070309020205020404" pitchFamily="49" charset="0"/>
                <a:ea typeface="Times New Roman" panose="02020603050405020304" pitchFamily="18" charset="0"/>
                <a:cs typeface="Arial" panose="020B0604020202020204" pitchFamily="34" charset="0"/>
              </a:rPr>
              <a:t>בשוק מוצר </a:t>
            </a:r>
            <a:r>
              <a:rPr lang="en-US" sz="1400" dirty="0">
                <a:effectLst/>
                <a:latin typeface="Arial" panose="020B0604020202020204" pitchFamily="34" charset="0"/>
                <a:ea typeface="Times New Roman" panose="02020603050405020304" pitchFamily="18" charset="0"/>
                <a:cs typeface="Miriam" panose="020B0502050101010101" pitchFamily="34" charset="-79"/>
              </a:rPr>
              <a:t>x</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קיים שיווי משקל בו מחיר המוצר הינו 5 ש"ח והכמות 50. </a:t>
            </a:r>
            <a:r>
              <a:rPr lang="he-IL" sz="1400" b="1" dirty="0">
                <a:effectLst/>
                <a:latin typeface="Courier New" panose="02070309020205020404" pitchFamily="49" charset="0"/>
                <a:ea typeface="Times New Roman" panose="02020603050405020304" pitchFamily="18" charset="0"/>
                <a:cs typeface="Arial" panose="020B0604020202020204" pitchFamily="34" charset="0"/>
              </a:rPr>
              <a:t>כתוצאה מכניסת צרכנים חדשים לשוק אשר מעוניינים לרכוש </a:t>
            </a:r>
            <a:r>
              <a:rPr lang="en-US" sz="1400" b="1" dirty="0">
                <a:effectLst/>
                <a:latin typeface="Courier New" panose="02070309020205020404" pitchFamily="49" charset="0"/>
                <a:ea typeface="Times New Roman" panose="02020603050405020304" pitchFamily="18" charset="0"/>
                <a:cs typeface="Arial" panose="020B0604020202020204" pitchFamily="34" charset="0"/>
              </a:rPr>
              <a:t>10</a:t>
            </a:r>
            <a:r>
              <a:rPr lang="he-IL" sz="1400" b="1" dirty="0">
                <a:effectLst/>
                <a:latin typeface="Courier New" panose="02070309020205020404" pitchFamily="49" charset="0"/>
                <a:ea typeface="Times New Roman" panose="02020603050405020304" pitchFamily="18" charset="0"/>
                <a:cs typeface="Arial" panose="020B0604020202020204" pitchFamily="34" charset="0"/>
              </a:rPr>
              <a:t> יחידות מהמוצר ללא תלות במחירו</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(עקומת הביקוש הינה </a:t>
            </a:r>
            <a:r>
              <a:rPr lang="en-US" sz="1400" dirty="0">
                <a:effectLst/>
                <a:latin typeface="Arial" panose="020B0604020202020204" pitchFamily="34" charset="0"/>
                <a:ea typeface="Times New Roman" panose="02020603050405020304" pitchFamily="18" charset="0"/>
                <a:cs typeface="Miriam" panose="020B0502050101010101" pitchFamily="34" charset="-79"/>
              </a:rPr>
              <a:t>Q=10</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מה יקרה למחיר ולכמות בשיווי משקל? סמנו את התשובה הנכונה ונמקו</a:t>
            </a:r>
            <a:endParaRPr lang="en-IL" sz="1400" dirty="0">
              <a:effectLst/>
              <a:latin typeface="Courier New" panose="02070309020205020404" pitchFamily="49" charset="0"/>
              <a:ea typeface="Times New Roman" panose="02020603050405020304" pitchFamily="18" charset="0"/>
              <a:cs typeface="Miriam" panose="020B0502050101010101" pitchFamily="34" charset="-79"/>
            </a:endParaRPr>
          </a:p>
        </p:txBody>
      </p:sp>
      <p:sp>
        <p:nvSpPr>
          <p:cNvPr id="2" name="Slide Number Placeholder 1">
            <a:extLst>
              <a:ext uri="{FF2B5EF4-FFF2-40B4-BE49-F238E27FC236}">
                <a16:creationId xmlns:a16="http://schemas.microsoft.com/office/drawing/2014/main" id="{2F2AD7CA-4636-D7E8-B370-2EDF5BAEB95C}"/>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BF92039-BB9D-4F46-95B7-49E6508B93B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9" name="כותרת 1">
            <a:extLst>
              <a:ext uri="{FF2B5EF4-FFF2-40B4-BE49-F238E27FC236}">
                <a16:creationId xmlns:a16="http://schemas.microsoft.com/office/drawing/2014/main" id="{F46557FE-1D7B-BFAC-BBB5-A1271CD34D83}"/>
              </a:ext>
            </a:extLst>
          </p:cNvPr>
          <p:cNvSpPr>
            <a:spLocks noGrp="1"/>
          </p:cNvSpPr>
          <p:nvPr>
            <p:ph type="title"/>
          </p:nvPr>
        </p:nvSpPr>
        <p:spPr>
          <a:xfrm>
            <a:off x="7308304" y="3473"/>
            <a:ext cx="1835696" cy="977255"/>
          </a:xfrm>
        </p:spPr>
        <p:txBody>
          <a:bodyPr>
            <a:normAutofit/>
          </a:bodyPr>
          <a:lstStyle/>
          <a:p>
            <a:pPr algn="r"/>
            <a:r>
              <a:rPr lang="he-IL" sz="3600" b="1" dirty="0">
                <a:solidFill>
                  <a:schemeClr val="tx2">
                    <a:lumMod val="75000"/>
                  </a:schemeClr>
                </a:solidFill>
              </a:rPr>
              <a:t>שאלה </a:t>
            </a:r>
            <a:r>
              <a:rPr lang="he-IL" b="1" dirty="0">
                <a:solidFill>
                  <a:schemeClr val="tx2">
                    <a:lumMod val="75000"/>
                  </a:schemeClr>
                </a:solidFill>
              </a:rPr>
              <a:t>6</a:t>
            </a:r>
          </a:p>
        </p:txBody>
      </p:sp>
      <p:sp>
        <p:nvSpPr>
          <p:cNvPr id="20" name="TextBox 19">
            <a:extLst>
              <a:ext uri="{FF2B5EF4-FFF2-40B4-BE49-F238E27FC236}">
                <a16:creationId xmlns:a16="http://schemas.microsoft.com/office/drawing/2014/main" id="{1BEB37FF-A1B3-3307-710E-4E90737045F1}"/>
              </a:ext>
            </a:extLst>
          </p:cNvPr>
          <p:cNvSpPr txBox="1"/>
          <p:nvPr/>
        </p:nvSpPr>
        <p:spPr>
          <a:xfrm>
            <a:off x="3165100" y="1628800"/>
            <a:ext cx="5860516" cy="2268506"/>
          </a:xfrm>
          <a:prstGeom prst="rect">
            <a:avLst/>
          </a:prstGeom>
          <a:noFill/>
        </p:spPr>
        <p:txBody>
          <a:bodyPr wrap="square">
            <a:spAutoFit/>
          </a:bodyPr>
          <a:lstStyle/>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המחיר יעלה והכמות המצרפית תגדל ל- </a:t>
            </a:r>
            <a:r>
              <a:rPr lang="en-US" sz="1600" dirty="0">
                <a:effectLst/>
                <a:latin typeface="Courier New" panose="02070309020205020404" pitchFamily="49" charset="0"/>
                <a:ea typeface="Times New Roman" panose="02020603050405020304" pitchFamily="18" charset="0"/>
                <a:cs typeface="Arial" panose="020B0604020202020204" pitchFamily="34" charset="0"/>
              </a:rPr>
              <a:t>60</a:t>
            </a:r>
            <a:r>
              <a:rPr lang="he-IL" sz="1600" dirty="0">
                <a:effectLst/>
                <a:latin typeface="Courier New" panose="02070309020205020404" pitchFamily="49" charset="0"/>
                <a:ea typeface="Times New Roman" panose="02020603050405020304" pitchFamily="18" charset="0"/>
                <a:cs typeface="Arial" panose="020B0604020202020204" pitchFamily="34" charset="0"/>
              </a:rPr>
              <a:t> יחידות.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המחיר ישאר ללא שינוי והכמות המצרפית תגדל ל- </a:t>
            </a:r>
            <a:r>
              <a:rPr lang="en-US" sz="1600" dirty="0">
                <a:effectLst/>
                <a:latin typeface="Courier New" panose="02070309020205020404" pitchFamily="49" charset="0"/>
                <a:ea typeface="Times New Roman" panose="02020603050405020304" pitchFamily="18" charset="0"/>
                <a:cs typeface="Arial" panose="020B0604020202020204" pitchFamily="34" charset="0"/>
              </a:rPr>
              <a:t>60</a:t>
            </a:r>
            <a:r>
              <a:rPr lang="he-IL" sz="1600" dirty="0">
                <a:effectLst/>
                <a:latin typeface="Courier New" panose="02070309020205020404" pitchFamily="49" charset="0"/>
                <a:ea typeface="Times New Roman" panose="02020603050405020304" pitchFamily="18" charset="0"/>
                <a:cs typeface="Arial" panose="020B0604020202020204" pitchFamily="34" charset="0"/>
              </a:rPr>
              <a:t> יחידות.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המחיר יעלה, הכמות המצרפית תגדל אך הצרכנים הישנים ירכשו פחות מ- 50 יחידות.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לא ניתן לדעת מה יקרה למחיר ולכמות המצרפית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spcAft>
                <a:spcPts val="800"/>
              </a:spcAft>
              <a:buFont typeface="+mj-lt"/>
              <a:buAutoNum type="arabicPeriod"/>
            </a:pPr>
            <a:r>
              <a:rPr lang="he-IL" sz="1600" dirty="0">
                <a:effectLst/>
                <a:latin typeface="Calibri" panose="020F0502020204030204" pitchFamily="34" charset="0"/>
                <a:ea typeface="Calibri" panose="020F0502020204030204" pitchFamily="34" charset="0"/>
                <a:cs typeface="Arial" panose="020B0604020202020204" pitchFamily="34" charset="0"/>
              </a:rPr>
              <a:t>כל התשובות האחרות לא נכונות.</a:t>
            </a:r>
            <a:endParaRPr lang="en-IL"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143270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C783-52C7-1BCC-46F0-4A1B887E4B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DCC10E-07FA-D47B-1B37-77CDA5AC827D}"/>
              </a:ext>
            </a:extLst>
          </p:cNvPr>
          <p:cNvSpPr/>
          <p:nvPr/>
        </p:nvSpPr>
        <p:spPr>
          <a:xfrm>
            <a:off x="154870" y="270635"/>
            <a:ext cx="7153434" cy="1034129"/>
          </a:xfrm>
          <a:prstGeom prst="rect">
            <a:avLst/>
          </a:prstGeom>
        </p:spPr>
        <p:txBody>
          <a:bodyPr wrap="square">
            <a:spAutoFit/>
          </a:bodyPr>
          <a:lstStyle/>
          <a:p>
            <a:pPr algn="r" rtl="1">
              <a:lnSpc>
                <a:spcPct val="150000"/>
              </a:lnSpc>
            </a:pPr>
            <a:r>
              <a:rPr lang="he-IL" sz="1400" dirty="0">
                <a:effectLst/>
                <a:latin typeface="Courier New" panose="02070309020205020404" pitchFamily="49" charset="0"/>
                <a:ea typeface="Times New Roman" panose="02020603050405020304" pitchFamily="18" charset="0"/>
                <a:cs typeface="Arial" panose="020B0604020202020204" pitchFamily="34" charset="0"/>
              </a:rPr>
              <a:t>בשוק מוצר </a:t>
            </a:r>
            <a:r>
              <a:rPr lang="en-US" sz="1400" dirty="0">
                <a:effectLst/>
                <a:latin typeface="Arial" panose="020B0604020202020204" pitchFamily="34" charset="0"/>
                <a:ea typeface="Times New Roman" panose="02020603050405020304" pitchFamily="18" charset="0"/>
                <a:cs typeface="Miriam" panose="020B0502050101010101" pitchFamily="34" charset="-79"/>
              </a:rPr>
              <a:t>x</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קיים שיווי משקל בו מחיר המוצר הינו 5 ש"ח והכמות 50. </a:t>
            </a:r>
            <a:r>
              <a:rPr lang="he-IL" sz="1400" b="1" dirty="0">
                <a:effectLst/>
                <a:latin typeface="Courier New" panose="02070309020205020404" pitchFamily="49" charset="0"/>
                <a:ea typeface="Times New Roman" panose="02020603050405020304" pitchFamily="18" charset="0"/>
                <a:cs typeface="Arial" panose="020B0604020202020204" pitchFamily="34" charset="0"/>
              </a:rPr>
              <a:t>כתוצאה מכניסת צרכנים חדשים לשוק אשר מעוניינים לרכוש </a:t>
            </a:r>
            <a:r>
              <a:rPr lang="en-US" sz="1400" b="1" dirty="0">
                <a:effectLst/>
                <a:latin typeface="Courier New" panose="02070309020205020404" pitchFamily="49" charset="0"/>
                <a:ea typeface="Times New Roman" panose="02020603050405020304" pitchFamily="18" charset="0"/>
                <a:cs typeface="Arial" panose="020B0604020202020204" pitchFamily="34" charset="0"/>
              </a:rPr>
              <a:t>10</a:t>
            </a:r>
            <a:r>
              <a:rPr lang="he-IL" sz="1400" b="1" dirty="0">
                <a:effectLst/>
                <a:latin typeface="Courier New" panose="02070309020205020404" pitchFamily="49" charset="0"/>
                <a:ea typeface="Times New Roman" panose="02020603050405020304" pitchFamily="18" charset="0"/>
                <a:cs typeface="Arial" panose="020B0604020202020204" pitchFamily="34" charset="0"/>
              </a:rPr>
              <a:t> יחידות מהמוצר ללא תלות במחירו</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(עקומת הביקוש הינה </a:t>
            </a:r>
            <a:r>
              <a:rPr lang="en-US" sz="1400" dirty="0">
                <a:effectLst/>
                <a:latin typeface="Arial" panose="020B0604020202020204" pitchFamily="34" charset="0"/>
                <a:ea typeface="Times New Roman" panose="02020603050405020304" pitchFamily="18" charset="0"/>
                <a:cs typeface="Miriam" panose="020B0502050101010101" pitchFamily="34" charset="-79"/>
              </a:rPr>
              <a:t>Q=10</a:t>
            </a:r>
            <a:r>
              <a:rPr lang="he-IL" sz="1400" dirty="0">
                <a:effectLst/>
                <a:latin typeface="Courier New" panose="02070309020205020404" pitchFamily="49" charset="0"/>
                <a:ea typeface="Times New Roman" panose="02020603050405020304" pitchFamily="18" charset="0"/>
                <a:cs typeface="Arial" panose="020B0604020202020204" pitchFamily="34" charset="0"/>
              </a:rPr>
              <a:t>). מה יקרה למחיר ולכמות בשיווי משקל? סמנו את התשובה הנכונה ונמקו</a:t>
            </a:r>
            <a:endParaRPr lang="en-IL" sz="1400" dirty="0">
              <a:effectLst/>
              <a:latin typeface="Courier New" panose="02070309020205020404" pitchFamily="49" charset="0"/>
              <a:ea typeface="Times New Roman" panose="02020603050405020304" pitchFamily="18" charset="0"/>
              <a:cs typeface="Miriam" panose="020B0502050101010101" pitchFamily="34" charset="-79"/>
            </a:endParaRPr>
          </a:p>
        </p:txBody>
      </p:sp>
      <p:sp>
        <p:nvSpPr>
          <p:cNvPr id="2" name="Slide Number Placeholder 1">
            <a:extLst>
              <a:ext uri="{FF2B5EF4-FFF2-40B4-BE49-F238E27FC236}">
                <a16:creationId xmlns:a16="http://schemas.microsoft.com/office/drawing/2014/main" id="{FBD1F8D2-5F78-3B9F-95F6-205019FB7B1E}"/>
              </a:ext>
            </a:extLst>
          </p:cNvPr>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BF92039-BB9D-4F46-95B7-49E6508B93B0}"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9" name="כותרת 1">
            <a:extLst>
              <a:ext uri="{FF2B5EF4-FFF2-40B4-BE49-F238E27FC236}">
                <a16:creationId xmlns:a16="http://schemas.microsoft.com/office/drawing/2014/main" id="{BB4D2229-9FF0-B3FF-11D5-97DB7B1AC361}"/>
              </a:ext>
            </a:extLst>
          </p:cNvPr>
          <p:cNvSpPr>
            <a:spLocks noGrp="1"/>
          </p:cNvSpPr>
          <p:nvPr>
            <p:ph type="title"/>
          </p:nvPr>
        </p:nvSpPr>
        <p:spPr>
          <a:xfrm>
            <a:off x="7308304" y="3473"/>
            <a:ext cx="1835696" cy="977255"/>
          </a:xfrm>
        </p:spPr>
        <p:txBody>
          <a:bodyPr>
            <a:normAutofit/>
          </a:bodyPr>
          <a:lstStyle/>
          <a:p>
            <a:pPr algn="r"/>
            <a:r>
              <a:rPr lang="he-IL" sz="3600" b="1" dirty="0">
                <a:solidFill>
                  <a:schemeClr val="tx2">
                    <a:lumMod val="75000"/>
                  </a:schemeClr>
                </a:solidFill>
              </a:rPr>
              <a:t>שאלה </a:t>
            </a:r>
            <a:r>
              <a:rPr lang="he-IL" b="1" dirty="0">
                <a:solidFill>
                  <a:schemeClr val="tx2">
                    <a:lumMod val="75000"/>
                  </a:schemeClr>
                </a:solidFill>
              </a:rPr>
              <a:t>6</a:t>
            </a:r>
          </a:p>
        </p:txBody>
      </p:sp>
      <p:sp>
        <p:nvSpPr>
          <p:cNvPr id="20" name="TextBox 19">
            <a:extLst>
              <a:ext uri="{FF2B5EF4-FFF2-40B4-BE49-F238E27FC236}">
                <a16:creationId xmlns:a16="http://schemas.microsoft.com/office/drawing/2014/main" id="{56295892-69D2-BF14-A7BF-2F577DDF82C6}"/>
              </a:ext>
            </a:extLst>
          </p:cNvPr>
          <p:cNvSpPr txBox="1"/>
          <p:nvPr/>
        </p:nvSpPr>
        <p:spPr>
          <a:xfrm>
            <a:off x="3165100" y="1628800"/>
            <a:ext cx="5860516" cy="2268506"/>
          </a:xfrm>
          <a:prstGeom prst="rect">
            <a:avLst/>
          </a:prstGeom>
          <a:noFill/>
        </p:spPr>
        <p:txBody>
          <a:bodyPr wrap="square">
            <a:spAutoFit/>
          </a:bodyPr>
          <a:lstStyle/>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המחיר יעלה והכמות המצרפית תגדל ל- </a:t>
            </a:r>
            <a:r>
              <a:rPr lang="en-US" sz="1600" dirty="0">
                <a:effectLst/>
                <a:latin typeface="Courier New" panose="02070309020205020404" pitchFamily="49" charset="0"/>
                <a:ea typeface="Times New Roman" panose="02020603050405020304" pitchFamily="18" charset="0"/>
                <a:cs typeface="Arial" panose="020B0604020202020204" pitchFamily="34" charset="0"/>
              </a:rPr>
              <a:t>60</a:t>
            </a:r>
            <a:r>
              <a:rPr lang="he-IL" sz="1600" dirty="0">
                <a:effectLst/>
                <a:latin typeface="Courier New" panose="02070309020205020404" pitchFamily="49" charset="0"/>
                <a:ea typeface="Times New Roman" panose="02020603050405020304" pitchFamily="18" charset="0"/>
                <a:cs typeface="Arial" panose="020B0604020202020204" pitchFamily="34" charset="0"/>
              </a:rPr>
              <a:t> יחידות.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המחיר ישאר ללא שינוי והכמות המצרפית תגדל ל- </a:t>
            </a:r>
            <a:r>
              <a:rPr lang="en-US" sz="1600" dirty="0">
                <a:effectLst/>
                <a:latin typeface="Courier New" panose="02070309020205020404" pitchFamily="49" charset="0"/>
                <a:ea typeface="Times New Roman" panose="02020603050405020304" pitchFamily="18" charset="0"/>
                <a:cs typeface="Arial" panose="020B0604020202020204" pitchFamily="34" charset="0"/>
              </a:rPr>
              <a:t>60</a:t>
            </a:r>
            <a:r>
              <a:rPr lang="he-IL" sz="1600" dirty="0">
                <a:effectLst/>
                <a:latin typeface="Courier New" panose="02070309020205020404" pitchFamily="49" charset="0"/>
                <a:ea typeface="Times New Roman" panose="02020603050405020304" pitchFamily="18" charset="0"/>
                <a:cs typeface="Arial" panose="020B0604020202020204" pitchFamily="34" charset="0"/>
              </a:rPr>
              <a:t> יחידות.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highlight>
                  <a:srgbClr val="FFFF00"/>
                </a:highlight>
                <a:latin typeface="Courier New" panose="02070309020205020404" pitchFamily="49" charset="0"/>
                <a:ea typeface="Times New Roman" panose="02020603050405020304" pitchFamily="18" charset="0"/>
                <a:cs typeface="Arial" panose="020B0604020202020204" pitchFamily="34" charset="0"/>
              </a:rPr>
              <a:t>המחיר יעלה, הכמות המצרפית תגדל אך הצרכנים הישנים ירכשו פחות מ- 50 יחידות.</a:t>
            </a:r>
            <a:endParaRPr lang="en-IL" sz="1600" dirty="0">
              <a:effectLst/>
              <a:highlight>
                <a:srgbClr val="FFFF00"/>
              </a:highligh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buFont typeface="+mj-lt"/>
              <a:buAutoNum type="arabicPeriod"/>
            </a:pPr>
            <a:r>
              <a:rPr lang="he-IL" sz="1600" dirty="0">
                <a:effectLst/>
                <a:latin typeface="Courier New" panose="02070309020205020404" pitchFamily="49" charset="0"/>
                <a:ea typeface="Times New Roman" panose="02020603050405020304" pitchFamily="18" charset="0"/>
                <a:cs typeface="Arial" panose="020B0604020202020204" pitchFamily="34" charset="0"/>
              </a:rPr>
              <a:t>לא ניתן לדעת מה יקרה למחיר ולכמות המצרפית</a:t>
            </a:r>
            <a:endParaRPr lang="en-IL" sz="1600" dirty="0">
              <a:effectLst/>
              <a:latin typeface="Courier New" panose="02070309020205020404" pitchFamily="49" charset="0"/>
              <a:ea typeface="Times New Roman" panose="02020603050405020304" pitchFamily="18" charset="0"/>
              <a:cs typeface="Miriam" panose="020B0502050101010101" pitchFamily="34" charset="-79"/>
            </a:endParaRPr>
          </a:p>
          <a:p>
            <a:pPr marL="342900" lvl="0" indent="-342900" algn="just" rtl="1">
              <a:lnSpc>
                <a:spcPct val="150000"/>
              </a:lnSpc>
              <a:spcAft>
                <a:spcPts val="800"/>
              </a:spcAft>
              <a:buFont typeface="+mj-lt"/>
              <a:buAutoNum type="arabicPeriod"/>
            </a:pPr>
            <a:r>
              <a:rPr lang="he-IL" sz="1600" dirty="0">
                <a:effectLst/>
                <a:latin typeface="Calibri" panose="020F0502020204030204" pitchFamily="34" charset="0"/>
                <a:ea typeface="Calibri" panose="020F0502020204030204" pitchFamily="34" charset="0"/>
                <a:cs typeface="Arial" panose="020B0604020202020204" pitchFamily="34" charset="0"/>
              </a:rPr>
              <a:t>כל התשובות האחרות לא נכונות.</a:t>
            </a:r>
            <a:endParaRPr lang="en-IL" sz="16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3" name="מחבר ישר 42">
            <a:extLst>
              <a:ext uri="{FF2B5EF4-FFF2-40B4-BE49-F238E27FC236}">
                <a16:creationId xmlns:a16="http://schemas.microsoft.com/office/drawing/2014/main" id="{27469E41-73EC-1EC1-64B8-82D3CF20BD8B}"/>
              </a:ext>
            </a:extLst>
          </p:cNvPr>
          <p:cNvCxnSpPr>
            <a:cxnSpLocks/>
          </p:cNvCxnSpPr>
          <p:nvPr/>
        </p:nvCxnSpPr>
        <p:spPr>
          <a:xfrm flipH="1">
            <a:off x="1938775" y="3493280"/>
            <a:ext cx="1079" cy="2104196"/>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מחבר ישר 54">
            <a:extLst>
              <a:ext uri="{FF2B5EF4-FFF2-40B4-BE49-F238E27FC236}">
                <a16:creationId xmlns:a16="http://schemas.microsoft.com/office/drawing/2014/main" id="{3FFDDC47-B3D7-B38D-16BB-1B664562E173}"/>
              </a:ext>
            </a:extLst>
          </p:cNvPr>
          <p:cNvCxnSpPr>
            <a:cxnSpLocks/>
          </p:cNvCxnSpPr>
          <p:nvPr/>
        </p:nvCxnSpPr>
        <p:spPr>
          <a:xfrm>
            <a:off x="1939370" y="5596881"/>
            <a:ext cx="2308705" cy="23219"/>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BB07E83-54FD-0E1D-D6C3-AF30F29B8217}"/>
              </a:ext>
            </a:extLst>
          </p:cNvPr>
          <p:cNvCxnSpPr>
            <a:cxnSpLocks/>
          </p:cNvCxnSpPr>
          <p:nvPr/>
        </p:nvCxnSpPr>
        <p:spPr>
          <a:xfrm flipV="1">
            <a:off x="2121426" y="3786388"/>
            <a:ext cx="1792634" cy="142496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E01E173-6D62-0684-4D59-70ABCE47E86F}"/>
              </a:ext>
            </a:extLst>
          </p:cNvPr>
          <p:cNvSpPr/>
          <p:nvPr/>
        </p:nvSpPr>
        <p:spPr>
          <a:xfrm>
            <a:off x="2768917" y="4438965"/>
            <a:ext cx="367385" cy="2839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1"/>
            <a:r>
              <a:rPr lang="en-US" sz="1350" dirty="0">
                <a:solidFill>
                  <a:prstClr val="white"/>
                </a:solidFill>
                <a:latin typeface="Calibri" panose="020F0502020204030204"/>
              </a:rPr>
              <a:t>A</a:t>
            </a:r>
          </a:p>
        </p:txBody>
      </p:sp>
      <p:cxnSp>
        <p:nvCxnSpPr>
          <p:cNvPr id="8" name="Straight Connector 7">
            <a:extLst>
              <a:ext uri="{FF2B5EF4-FFF2-40B4-BE49-F238E27FC236}">
                <a16:creationId xmlns:a16="http://schemas.microsoft.com/office/drawing/2014/main" id="{5B1EA0AF-5597-70E0-9706-678604527B33}"/>
              </a:ext>
            </a:extLst>
          </p:cNvPr>
          <p:cNvCxnSpPr>
            <a:cxnSpLocks/>
          </p:cNvCxnSpPr>
          <p:nvPr/>
        </p:nvCxnSpPr>
        <p:spPr>
          <a:xfrm flipH="1" flipV="1">
            <a:off x="2052509" y="3634543"/>
            <a:ext cx="1642691" cy="180744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690BA90-3E75-66B5-605E-B5381C763DB2}"/>
              </a:ext>
            </a:extLst>
          </p:cNvPr>
          <p:cNvSpPr txBox="1"/>
          <p:nvPr/>
        </p:nvSpPr>
        <p:spPr>
          <a:xfrm>
            <a:off x="3878625" y="3563099"/>
            <a:ext cx="317716" cy="300082"/>
          </a:xfrm>
          <a:prstGeom prst="rect">
            <a:avLst/>
          </a:prstGeom>
          <a:noFill/>
        </p:spPr>
        <p:txBody>
          <a:bodyPr wrap="none" rtlCol="0">
            <a:spAutoFit/>
          </a:bodyPr>
          <a:lstStyle/>
          <a:p>
            <a:pPr algn="r" defTabSz="685800" rtl="1"/>
            <a:r>
              <a:rPr lang="en-US" sz="1350" dirty="0">
                <a:solidFill>
                  <a:prstClr val="black"/>
                </a:solidFill>
                <a:latin typeface="Calibri" panose="020F0502020204030204"/>
              </a:rPr>
              <a:t>S</a:t>
            </a:r>
            <a:r>
              <a:rPr lang="en-US" sz="825" dirty="0">
                <a:solidFill>
                  <a:prstClr val="black"/>
                </a:solidFill>
                <a:latin typeface="Calibri" panose="020F0502020204030204"/>
              </a:rPr>
              <a:t>0</a:t>
            </a:r>
          </a:p>
        </p:txBody>
      </p:sp>
      <p:sp>
        <p:nvSpPr>
          <p:cNvPr id="10" name="TextBox 9">
            <a:extLst>
              <a:ext uri="{FF2B5EF4-FFF2-40B4-BE49-F238E27FC236}">
                <a16:creationId xmlns:a16="http://schemas.microsoft.com/office/drawing/2014/main" id="{A2B3C3C6-4A7C-BCF8-8998-7ED99806444D}"/>
              </a:ext>
            </a:extLst>
          </p:cNvPr>
          <p:cNvSpPr txBox="1"/>
          <p:nvPr/>
        </p:nvSpPr>
        <p:spPr>
          <a:xfrm>
            <a:off x="3554666" y="5380933"/>
            <a:ext cx="359393" cy="307777"/>
          </a:xfrm>
          <a:prstGeom prst="rect">
            <a:avLst/>
          </a:prstGeom>
          <a:noFill/>
        </p:spPr>
        <p:txBody>
          <a:bodyPr wrap="none" rtlCol="0">
            <a:spAutoFit/>
          </a:bodyPr>
          <a:lstStyle/>
          <a:p>
            <a:pPr algn="r" defTabSz="685800" rtl="1"/>
            <a:r>
              <a:rPr lang="he-IL" sz="900" dirty="0">
                <a:solidFill>
                  <a:prstClr val="black"/>
                </a:solidFill>
                <a:latin typeface="Calibri" panose="020F0502020204030204"/>
                <a:cs typeface="Arial" panose="020B0604020202020204" pitchFamily="34" charset="0"/>
              </a:rPr>
              <a:t>0</a:t>
            </a:r>
            <a:r>
              <a:rPr lang="en-US" sz="1400" dirty="0">
                <a:solidFill>
                  <a:prstClr val="black"/>
                </a:solidFill>
              </a:rPr>
              <a:t>D</a:t>
            </a:r>
            <a:endParaRPr lang="en-US" sz="1350" dirty="0">
              <a:solidFill>
                <a:prstClr val="black"/>
              </a:solidFill>
              <a:latin typeface="Calibri" panose="020F0502020204030204"/>
            </a:endParaRPr>
          </a:p>
        </p:txBody>
      </p:sp>
      <p:sp>
        <p:nvSpPr>
          <p:cNvPr id="11" name="TextBox 10">
            <a:extLst>
              <a:ext uri="{FF2B5EF4-FFF2-40B4-BE49-F238E27FC236}">
                <a16:creationId xmlns:a16="http://schemas.microsoft.com/office/drawing/2014/main" id="{3BFECD0C-FA23-F045-4401-4E5F6CFACC29}"/>
              </a:ext>
            </a:extLst>
          </p:cNvPr>
          <p:cNvSpPr txBox="1"/>
          <p:nvPr/>
        </p:nvSpPr>
        <p:spPr>
          <a:xfrm flipH="1">
            <a:off x="4353011" y="5567876"/>
            <a:ext cx="187091" cy="300082"/>
          </a:xfrm>
          <a:prstGeom prst="rect">
            <a:avLst/>
          </a:prstGeom>
          <a:noFill/>
        </p:spPr>
        <p:txBody>
          <a:bodyPr wrap="square" rtlCol="0">
            <a:spAutoFit/>
          </a:bodyPr>
          <a:lstStyle/>
          <a:p>
            <a:pPr algn="r" defTabSz="685800" rtl="1"/>
            <a:r>
              <a:rPr lang="en-US" sz="1350" dirty="0">
                <a:solidFill>
                  <a:prstClr val="black"/>
                </a:solidFill>
                <a:latin typeface="Calibri" panose="020F0502020204030204"/>
              </a:rPr>
              <a:t>X</a:t>
            </a:r>
          </a:p>
        </p:txBody>
      </p:sp>
      <p:sp>
        <p:nvSpPr>
          <p:cNvPr id="12" name="TextBox 11">
            <a:extLst>
              <a:ext uri="{FF2B5EF4-FFF2-40B4-BE49-F238E27FC236}">
                <a16:creationId xmlns:a16="http://schemas.microsoft.com/office/drawing/2014/main" id="{9AB0074D-55D5-143E-EC5D-FBC091026EC4}"/>
              </a:ext>
            </a:extLst>
          </p:cNvPr>
          <p:cNvSpPr txBox="1"/>
          <p:nvPr/>
        </p:nvSpPr>
        <p:spPr>
          <a:xfrm flipH="1">
            <a:off x="1681343" y="3288159"/>
            <a:ext cx="198939" cy="300082"/>
          </a:xfrm>
          <a:prstGeom prst="rect">
            <a:avLst/>
          </a:prstGeom>
          <a:noFill/>
        </p:spPr>
        <p:txBody>
          <a:bodyPr wrap="square" rtlCol="0">
            <a:spAutoFit/>
          </a:bodyPr>
          <a:lstStyle/>
          <a:p>
            <a:pPr algn="r" defTabSz="685800" rtl="1"/>
            <a:r>
              <a:rPr lang="en-US" sz="1350" dirty="0">
                <a:solidFill>
                  <a:prstClr val="black"/>
                </a:solidFill>
                <a:latin typeface="Calibri" panose="020F0502020204030204"/>
              </a:rPr>
              <a:t>P</a:t>
            </a:r>
          </a:p>
        </p:txBody>
      </p:sp>
      <p:cxnSp>
        <p:nvCxnSpPr>
          <p:cNvPr id="13" name="Straight Connector 12">
            <a:extLst>
              <a:ext uri="{FF2B5EF4-FFF2-40B4-BE49-F238E27FC236}">
                <a16:creationId xmlns:a16="http://schemas.microsoft.com/office/drawing/2014/main" id="{7726F892-5442-009A-38B3-FCFBD018A99C}"/>
              </a:ext>
            </a:extLst>
          </p:cNvPr>
          <p:cNvCxnSpPr>
            <a:cxnSpLocks/>
            <a:endCxn id="14" idx="3"/>
          </p:cNvCxnSpPr>
          <p:nvPr/>
        </p:nvCxnSpPr>
        <p:spPr>
          <a:xfrm flipH="1" flipV="1">
            <a:off x="1991052" y="4592153"/>
            <a:ext cx="822673" cy="843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BE8E7D4-EBCB-C8C4-9426-3B5C04FBE9D8}"/>
              </a:ext>
            </a:extLst>
          </p:cNvPr>
          <p:cNvSpPr txBox="1"/>
          <p:nvPr/>
        </p:nvSpPr>
        <p:spPr>
          <a:xfrm>
            <a:off x="1497006" y="4422876"/>
            <a:ext cx="494046" cy="338554"/>
          </a:xfrm>
          <a:prstGeom prst="rect">
            <a:avLst/>
          </a:prstGeom>
          <a:noFill/>
        </p:spPr>
        <p:txBody>
          <a:bodyPr wrap="none" rtlCol="0">
            <a:spAutoFit/>
          </a:bodyPr>
          <a:lstStyle/>
          <a:p>
            <a:pPr algn="r" defTabSz="685800" rtl="1"/>
            <a:r>
              <a:rPr lang="en-US" sz="1350" dirty="0">
                <a:solidFill>
                  <a:prstClr val="black"/>
                </a:solidFill>
                <a:latin typeface="Calibri" panose="020F0502020204030204"/>
              </a:rPr>
              <a:t>P</a:t>
            </a:r>
            <a:r>
              <a:rPr lang="en-US" sz="900" dirty="0">
                <a:solidFill>
                  <a:prstClr val="black"/>
                </a:solidFill>
                <a:latin typeface="Calibri" panose="020F0502020204030204"/>
              </a:rPr>
              <a:t>0=</a:t>
            </a:r>
            <a:r>
              <a:rPr lang="en-US" sz="1600" dirty="0">
                <a:solidFill>
                  <a:prstClr val="black"/>
                </a:solidFill>
                <a:latin typeface="Calibri" panose="020F0502020204030204"/>
              </a:rPr>
              <a:t>5</a:t>
            </a:r>
            <a:endParaRPr lang="en-US" sz="1350" dirty="0">
              <a:solidFill>
                <a:prstClr val="black"/>
              </a:solidFill>
              <a:latin typeface="Calibri" panose="020F0502020204030204"/>
            </a:endParaRPr>
          </a:p>
        </p:txBody>
      </p:sp>
      <p:sp>
        <p:nvSpPr>
          <p:cNvPr id="15" name="TextBox 14">
            <a:extLst>
              <a:ext uri="{FF2B5EF4-FFF2-40B4-BE49-F238E27FC236}">
                <a16:creationId xmlns:a16="http://schemas.microsoft.com/office/drawing/2014/main" id="{297764B3-CB76-F9F9-0699-605584554E00}"/>
              </a:ext>
            </a:extLst>
          </p:cNvPr>
          <p:cNvSpPr txBox="1"/>
          <p:nvPr/>
        </p:nvSpPr>
        <p:spPr>
          <a:xfrm>
            <a:off x="2635114" y="5578400"/>
            <a:ext cx="393056" cy="338554"/>
          </a:xfrm>
          <a:prstGeom prst="rect">
            <a:avLst/>
          </a:prstGeom>
          <a:noFill/>
        </p:spPr>
        <p:txBody>
          <a:bodyPr wrap="none" rtlCol="0">
            <a:spAutoFit/>
          </a:bodyPr>
          <a:lstStyle/>
          <a:p>
            <a:pPr algn="r" defTabSz="685800" rtl="1"/>
            <a:r>
              <a:rPr lang="en-US" sz="1600" b="1" dirty="0">
                <a:solidFill>
                  <a:prstClr val="black"/>
                </a:solidFill>
                <a:latin typeface="Calibri" panose="020F0502020204030204"/>
              </a:rPr>
              <a:t>50</a:t>
            </a:r>
          </a:p>
        </p:txBody>
      </p:sp>
      <p:cxnSp>
        <p:nvCxnSpPr>
          <p:cNvPr id="16" name="Straight Connector 15">
            <a:extLst>
              <a:ext uri="{FF2B5EF4-FFF2-40B4-BE49-F238E27FC236}">
                <a16:creationId xmlns:a16="http://schemas.microsoft.com/office/drawing/2014/main" id="{2CF2894A-F6AF-792D-6341-59D6AEBAB37D}"/>
              </a:ext>
            </a:extLst>
          </p:cNvPr>
          <p:cNvCxnSpPr>
            <a:cxnSpLocks/>
          </p:cNvCxnSpPr>
          <p:nvPr/>
        </p:nvCxnSpPr>
        <p:spPr>
          <a:xfrm>
            <a:off x="2885485" y="4602107"/>
            <a:ext cx="10652" cy="94889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00C2996-4454-2271-3D84-A6DBFA10D170}"/>
              </a:ext>
            </a:extLst>
          </p:cNvPr>
          <p:cNvCxnSpPr>
            <a:cxnSpLocks/>
          </p:cNvCxnSpPr>
          <p:nvPr/>
        </p:nvCxnSpPr>
        <p:spPr>
          <a:xfrm flipV="1">
            <a:off x="2948868" y="4549212"/>
            <a:ext cx="347630" cy="244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3B37DA-56D2-799F-A110-E7652A3ECDCD}"/>
              </a:ext>
            </a:extLst>
          </p:cNvPr>
          <p:cNvCxnSpPr>
            <a:cxnSpLocks/>
          </p:cNvCxnSpPr>
          <p:nvPr/>
        </p:nvCxnSpPr>
        <p:spPr>
          <a:xfrm flipH="1" flipV="1">
            <a:off x="2268340" y="3463972"/>
            <a:ext cx="1670605" cy="1848466"/>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386342D-6637-8960-1840-8CAC6712E12F}"/>
              </a:ext>
            </a:extLst>
          </p:cNvPr>
          <p:cNvSpPr txBox="1"/>
          <p:nvPr/>
        </p:nvSpPr>
        <p:spPr>
          <a:xfrm>
            <a:off x="3873916" y="5196186"/>
            <a:ext cx="343364" cy="300082"/>
          </a:xfrm>
          <a:prstGeom prst="rect">
            <a:avLst/>
          </a:prstGeom>
          <a:noFill/>
        </p:spPr>
        <p:txBody>
          <a:bodyPr wrap="none" rtlCol="0">
            <a:spAutoFit/>
          </a:bodyPr>
          <a:lstStyle/>
          <a:p>
            <a:pPr algn="r" defTabSz="685800" rtl="1"/>
            <a:r>
              <a:rPr lang="en-US" sz="1350" dirty="0">
                <a:solidFill>
                  <a:srgbClr val="C00000"/>
                </a:solidFill>
                <a:latin typeface="Calibri" panose="020F0502020204030204"/>
              </a:rPr>
              <a:t>D</a:t>
            </a:r>
            <a:r>
              <a:rPr lang="en-US" sz="825" dirty="0">
                <a:solidFill>
                  <a:srgbClr val="C00000"/>
                </a:solidFill>
                <a:latin typeface="Calibri" panose="020F0502020204030204"/>
              </a:rPr>
              <a:t>1</a:t>
            </a:r>
          </a:p>
        </p:txBody>
      </p:sp>
      <p:sp>
        <p:nvSpPr>
          <p:cNvPr id="22" name="TextBox 21">
            <a:extLst>
              <a:ext uri="{FF2B5EF4-FFF2-40B4-BE49-F238E27FC236}">
                <a16:creationId xmlns:a16="http://schemas.microsoft.com/office/drawing/2014/main" id="{B6406798-C008-6EB5-07B0-0D2D871A31EB}"/>
              </a:ext>
            </a:extLst>
          </p:cNvPr>
          <p:cNvSpPr txBox="1"/>
          <p:nvPr/>
        </p:nvSpPr>
        <p:spPr>
          <a:xfrm>
            <a:off x="3144995" y="5614360"/>
            <a:ext cx="360996" cy="300082"/>
          </a:xfrm>
          <a:prstGeom prst="rect">
            <a:avLst/>
          </a:prstGeom>
          <a:noFill/>
          <a:ln>
            <a:noFill/>
          </a:ln>
        </p:spPr>
        <p:txBody>
          <a:bodyPr wrap="none" rtlCol="0">
            <a:spAutoFit/>
          </a:bodyPr>
          <a:lstStyle/>
          <a:p>
            <a:pPr algn="r" defTabSz="685800" rtl="1"/>
            <a:r>
              <a:rPr lang="en-US" sz="1350" dirty="0">
                <a:solidFill>
                  <a:srgbClr val="0070C0"/>
                </a:solidFill>
                <a:latin typeface="Calibri" panose="020F0502020204030204"/>
              </a:rPr>
              <a:t>60</a:t>
            </a:r>
          </a:p>
        </p:txBody>
      </p:sp>
      <p:cxnSp>
        <p:nvCxnSpPr>
          <p:cNvPr id="23" name="Straight Connector 22">
            <a:extLst>
              <a:ext uri="{FF2B5EF4-FFF2-40B4-BE49-F238E27FC236}">
                <a16:creationId xmlns:a16="http://schemas.microsoft.com/office/drawing/2014/main" id="{9F0D4F02-0DD6-88B5-6431-A79BCD3A227A}"/>
              </a:ext>
            </a:extLst>
          </p:cNvPr>
          <p:cNvCxnSpPr>
            <a:cxnSpLocks/>
            <a:endCxn id="22" idx="0"/>
          </p:cNvCxnSpPr>
          <p:nvPr/>
        </p:nvCxnSpPr>
        <p:spPr>
          <a:xfrm>
            <a:off x="3310928" y="4598688"/>
            <a:ext cx="14565" cy="101567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40D36CD-627D-BCBE-FA47-59F74E29C142}"/>
              </a:ext>
            </a:extLst>
          </p:cNvPr>
          <p:cNvSpPr/>
          <p:nvPr/>
        </p:nvSpPr>
        <p:spPr>
          <a:xfrm>
            <a:off x="3213131" y="4434250"/>
            <a:ext cx="411853" cy="28399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A’</a:t>
            </a:r>
            <a:endParaRPr lang="en-IL" sz="900" dirty="0"/>
          </a:p>
        </p:txBody>
      </p:sp>
      <p:sp>
        <p:nvSpPr>
          <p:cNvPr id="27" name="Oval 26">
            <a:extLst>
              <a:ext uri="{FF2B5EF4-FFF2-40B4-BE49-F238E27FC236}">
                <a16:creationId xmlns:a16="http://schemas.microsoft.com/office/drawing/2014/main" id="{F834FCCD-0A49-BCAC-206D-6655BFD127A0}"/>
              </a:ext>
            </a:extLst>
          </p:cNvPr>
          <p:cNvSpPr/>
          <p:nvPr/>
        </p:nvSpPr>
        <p:spPr>
          <a:xfrm>
            <a:off x="2959535" y="4295270"/>
            <a:ext cx="270054" cy="224432"/>
          </a:xfrm>
          <a:prstGeom prst="ellipse">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1"/>
            <a:r>
              <a:rPr lang="en-US" sz="1350" dirty="0">
                <a:solidFill>
                  <a:prstClr val="white"/>
                </a:solidFill>
                <a:latin typeface="Calibri" panose="020F0502020204030204"/>
              </a:rPr>
              <a:t>B</a:t>
            </a:r>
          </a:p>
        </p:txBody>
      </p:sp>
      <p:sp>
        <p:nvSpPr>
          <p:cNvPr id="28" name="TextBox 27">
            <a:extLst>
              <a:ext uri="{FF2B5EF4-FFF2-40B4-BE49-F238E27FC236}">
                <a16:creationId xmlns:a16="http://schemas.microsoft.com/office/drawing/2014/main" id="{D8F74662-5C2A-3FB7-D5C2-FFDF03CD7A7C}"/>
              </a:ext>
            </a:extLst>
          </p:cNvPr>
          <p:cNvSpPr txBox="1"/>
          <p:nvPr/>
        </p:nvSpPr>
        <p:spPr>
          <a:xfrm>
            <a:off x="2959698" y="5580965"/>
            <a:ext cx="351378" cy="300082"/>
          </a:xfrm>
          <a:prstGeom prst="rect">
            <a:avLst/>
          </a:prstGeom>
          <a:noFill/>
          <a:ln>
            <a:noFill/>
          </a:ln>
        </p:spPr>
        <p:txBody>
          <a:bodyPr wrap="none" rtlCol="0">
            <a:spAutoFit/>
          </a:bodyPr>
          <a:lstStyle/>
          <a:p>
            <a:pPr algn="r" defTabSz="685800" rtl="1"/>
            <a:r>
              <a:rPr lang="en-US" sz="1350" dirty="0">
                <a:solidFill>
                  <a:schemeClr val="accent2">
                    <a:lumMod val="75000"/>
                  </a:schemeClr>
                </a:solidFill>
                <a:latin typeface="Calibri" panose="020F0502020204030204"/>
              </a:rPr>
              <a:t>X</a:t>
            </a:r>
            <a:r>
              <a:rPr lang="en-US" sz="1100" b="1" dirty="0">
                <a:solidFill>
                  <a:schemeClr val="accent2">
                    <a:lumMod val="75000"/>
                  </a:schemeClr>
                </a:solidFill>
                <a:latin typeface="Calibri" panose="020F0502020204030204"/>
              </a:rPr>
              <a:t>B</a:t>
            </a:r>
            <a:endParaRPr lang="en-US" sz="1350" b="1" dirty="0">
              <a:solidFill>
                <a:schemeClr val="accent2">
                  <a:lumMod val="75000"/>
                </a:schemeClr>
              </a:solidFill>
              <a:latin typeface="Calibri" panose="020F0502020204030204"/>
            </a:endParaRPr>
          </a:p>
        </p:txBody>
      </p:sp>
      <p:cxnSp>
        <p:nvCxnSpPr>
          <p:cNvPr id="30" name="Straight Connector 29">
            <a:extLst>
              <a:ext uri="{FF2B5EF4-FFF2-40B4-BE49-F238E27FC236}">
                <a16:creationId xmlns:a16="http://schemas.microsoft.com/office/drawing/2014/main" id="{9B621EC6-03D2-12A8-D067-71625B520AB6}"/>
              </a:ext>
            </a:extLst>
          </p:cNvPr>
          <p:cNvCxnSpPr>
            <a:cxnSpLocks/>
          </p:cNvCxnSpPr>
          <p:nvPr/>
        </p:nvCxnSpPr>
        <p:spPr>
          <a:xfrm>
            <a:off x="3114053" y="4508362"/>
            <a:ext cx="3880" cy="1077318"/>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043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par>
                                <p:cTn id="16" presetID="16" presetClass="entr" presetSubtype="21"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barn(inVertical)">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arn(inVertical)">
                                      <p:cBhvr>
                                        <p:cTn id="23" dur="500"/>
                                        <p:tgtEl>
                                          <p:spTgt spid="24"/>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arn(inVertical)">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6"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down)">
                                      <p:cBhvr>
                                        <p:cTn id="31" dur="580">
                                          <p:stCondLst>
                                            <p:cond delay="0"/>
                                          </p:stCondLst>
                                        </p:cTn>
                                        <p:tgtEl>
                                          <p:spTgt spid="27"/>
                                        </p:tgtEl>
                                      </p:cBhvr>
                                    </p:animEffect>
                                    <p:anim calcmode="lin" valueType="num">
                                      <p:cBhvr>
                                        <p:cTn id="32"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7" dur="26">
                                          <p:stCondLst>
                                            <p:cond delay="650"/>
                                          </p:stCondLst>
                                        </p:cTn>
                                        <p:tgtEl>
                                          <p:spTgt spid="27"/>
                                        </p:tgtEl>
                                      </p:cBhvr>
                                      <p:to x="100000" y="60000"/>
                                    </p:animScale>
                                    <p:animScale>
                                      <p:cBhvr>
                                        <p:cTn id="38" dur="166" decel="50000">
                                          <p:stCondLst>
                                            <p:cond delay="676"/>
                                          </p:stCondLst>
                                        </p:cTn>
                                        <p:tgtEl>
                                          <p:spTgt spid="27"/>
                                        </p:tgtEl>
                                      </p:cBhvr>
                                      <p:to x="100000" y="100000"/>
                                    </p:animScale>
                                    <p:animScale>
                                      <p:cBhvr>
                                        <p:cTn id="39" dur="26">
                                          <p:stCondLst>
                                            <p:cond delay="1312"/>
                                          </p:stCondLst>
                                        </p:cTn>
                                        <p:tgtEl>
                                          <p:spTgt spid="27"/>
                                        </p:tgtEl>
                                      </p:cBhvr>
                                      <p:to x="100000" y="80000"/>
                                    </p:animScale>
                                    <p:animScale>
                                      <p:cBhvr>
                                        <p:cTn id="40" dur="166" decel="50000">
                                          <p:stCondLst>
                                            <p:cond delay="1338"/>
                                          </p:stCondLst>
                                        </p:cTn>
                                        <p:tgtEl>
                                          <p:spTgt spid="27"/>
                                        </p:tgtEl>
                                      </p:cBhvr>
                                      <p:to x="100000" y="100000"/>
                                    </p:animScale>
                                    <p:animScale>
                                      <p:cBhvr>
                                        <p:cTn id="41" dur="26">
                                          <p:stCondLst>
                                            <p:cond delay="1642"/>
                                          </p:stCondLst>
                                        </p:cTn>
                                        <p:tgtEl>
                                          <p:spTgt spid="27"/>
                                        </p:tgtEl>
                                      </p:cBhvr>
                                      <p:to x="100000" y="90000"/>
                                    </p:animScale>
                                    <p:animScale>
                                      <p:cBhvr>
                                        <p:cTn id="42" dur="166" decel="50000">
                                          <p:stCondLst>
                                            <p:cond delay="1668"/>
                                          </p:stCondLst>
                                        </p:cTn>
                                        <p:tgtEl>
                                          <p:spTgt spid="27"/>
                                        </p:tgtEl>
                                      </p:cBhvr>
                                      <p:to x="100000" y="100000"/>
                                    </p:animScale>
                                    <p:animScale>
                                      <p:cBhvr>
                                        <p:cTn id="43" dur="26">
                                          <p:stCondLst>
                                            <p:cond delay="1808"/>
                                          </p:stCondLst>
                                        </p:cTn>
                                        <p:tgtEl>
                                          <p:spTgt spid="27"/>
                                        </p:tgtEl>
                                      </p:cBhvr>
                                      <p:to x="100000" y="95000"/>
                                    </p:animScale>
                                    <p:animScale>
                                      <p:cBhvr>
                                        <p:cTn id="44" dur="166" decel="50000">
                                          <p:stCondLst>
                                            <p:cond delay="1834"/>
                                          </p:stCondLst>
                                        </p:cTn>
                                        <p:tgtEl>
                                          <p:spTgt spid="27"/>
                                        </p:tgtEl>
                                      </p:cBhvr>
                                      <p:to x="100000" y="100000"/>
                                    </p:animScale>
                                  </p:childTnLst>
                                </p:cTn>
                              </p:par>
                              <p:par>
                                <p:cTn id="45" presetID="16" presetClass="entr" presetSubtype="21"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barn(inVertical)">
                                      <p:cBhvr>
                                        <p:cTn id="47" dur="500"/>
                                        <p:tgtEl>
                                          <p:spTgt spid="30"/>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barn(inVertical)">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animBg="1"/>
      <p:bldP spid="24" grpId="0" animBg="1"/>
      <p:bldP spid="27" grpId="0" animBg="1"/>
      <p:bldP spid="2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A8C615C0-56DF-9771-F19E-3919D9D85975}"/>
              </a:ext>
            </a:extLst>
          </p:cNvPr>
          <p:cNvSpPr txBox="1">
            <a:spLocks/>
          </p:cNvSpPr>
          <p:nvPr/>
        </p:nvSpPr>
        <p:spPr>
          <a:xfrm>
            <a:off x="7668344" y="1"/>
            <a:ext cx="1475656" cy="500042"/>
          </a:xfrm>
          <a:prstGeom prst="rect">
            <a:avLst/>
          </a:prstGeom>
        </p:spPr>
        <p:txBody>
          <a:bodyPr vert="horz" lIns="91440" tIns="45720" rIns="91440" bIns="45720" rtlCol="1" anchor="ctr">
            <a:normAutofit fontScale="82500" lnSpcReduction="20000"/>
          </a:bodyPr>
          <a:lstStyle/>
          <a:p>
            <a:pPr>
              <a:spcBef>
                <a:spcPct val="0"/>
              </a:spcBef>
              <a:defRPr/>
            </a:pPr>
            <a:r>
              <a:rPr lang="he-IL" sz="3700" b="1" dirty="0">
                <a:solidFill>
                  <a:prstClr val="black"/>
                </a:solidFill>
                <a:latin typeface="Calibri Light" panose="020F0302020204030204"/>
                <a:cs typeface="Times New Roman" panose="02020603050405020304" pitchFamily="18" charset="0"/>
              </a:rPr>
              <a:t>שאלה </a:t>
            </a:r>
            <a:r>
              <a:rPr lang="en-US" sz="3700" b="1" dirty="0">
                <a:solidFill>
                  <a:prstClr val="black"/>
                </a:solidFill>
                <a:latin typeface="Calibri Light" panose="020F0302020204030204"/>
                <a:cs typeface="Times New Roman" panose="02020603050405020304" pitchFamily="18" charset="0"/>
              </a:rPr>
              <a:t>7</a:t>
            </a:r>
            <a:r>
              <a:rPr lang="he-IL" sz="2700" b="1" dirty="0">
                <a:solidFill>
                  <a:prstClr val="black"/>
                </a:solidFill>
                <a:latin typeface="Calibri Light" panose="020F0302020204030204"/>
                <a:cs typeface="Times New Roman" panose="02020603050405020304" pitchFamily="18" charset="0"/>
              </a:rPr>
              <a:t> </a:t>
            </a:r>
            <a:endParaRPr lang="he-IL" sz="4400" b="1" dirty="0">
              <a:solidFill>
                <a:prstClr val="black"/>
              </a:solidFill>
              <a:latin typeface="Calibri Light" panose="020F0302020204030204"/>
              <a:cs typeface="Times New Roman" panose="02020603050405020304" pitchFamily="18" charset="0"/>
            </a:endParaRPr>
          </a:p>
        </p:txBody>
      </p:sp>
      <p:sp>
        <p:nvSpPr>
          <p:cNvPr id="6" name="TextBox 5">
            <a:extLst>
              <a:ext uri="{FF2B5EF4-FFF2-40B4-BE49-F238E27FC236}">
                <a16:creationId xmlns:a16="http://schemas.microsoft.com/office/drawing/2014/main" id="{3AC65CA8-4340-8882-9E4E-C45F3CCB2474}"/>
              </a:ext>
            </a:extLst>
          </p:cNvPr>
          <p:cNvSpPr txBox="1"/>
          <p:nvPr/>
        </p:nvSpPr>
        <p:spPr>
          <a:xfrm>
            <a:off x="337235" y="46086"/>
            <a:ext cx="7302559" cy="3382914"/>
          </a:xfrm>
          <a:prstGeom prst="rect">
            <a:avLst/>
          </a:prstGeom>
          <a:noFill/>
        </p:spPr>
        <p:txBody>
          <a:bodyPr wrap="square">
            <a:spAutoFit/>
          </a:bodyPr>
          <a:lstStyle/>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בשוק מוצר </a:t>
            </a:r>
            <a:r>
              <a:rPr lang="en-US" sz="1600" dirty="0">
                <a:effectLst/>
                <a:latin typeface="David" panose="020E0502060401010101" pitchFamily="34" charset="-79"/>
                <a:ea typeface="Times New Roman" panose="02020603050405020304" pitchFamily="18" charset="0"/>
              </a:rPr>
              <a:t>X</a:t>
            </a:r>
            <a:r>
              <a:rPr lang="he-IL" sz="1600" dirty="0">
                <a:effectLst/>
                <a:latin typeface="Times New Roman" panose="02020603050405020304" pitchFamily="18" charset="0"/>
                <a:ea typeface="Times New Roman" panose="02020603050405020304" pitchFamily="18" charset="0"/>
                <a:cs typeface="David" panose="020E0502060401010101" pitchFamily="34" charset="-79"/>
              </a:rPr>
              <a:t> קיימים 3 סוגי צרכנים שונים א, ב ו-ג.</a:t>
            </a:r>
            <a:endParaRPr lang="en-IL" sz="1600" dirty="0">
              <a:effectLst/>
              <a:latin typeface="Times New Roman" panose="02020603050405020304" pitchFamily="18" charset="0"/>
              <a:ea typeface="Times New Roman" panose="02020603050405020304" pitchFamily="18" charset="0"/>
            </a:endParaRPr>
          </a:p>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מוצר </a:t>
            </a:r>
            <a:r>
              <a:rPr lang="en-US" sz="1600" dirty="0">
                <a:effectLst/>
                <a:latin typeface="David" panose="020E0502060401010101" pitchFamily="34" charset="-79"/>
                <a:ea typeface="Times New Roman" panose="02020603050405020304" pitchFamily="18" charset="0"/>
              </a:rPr>
              <a:t>X</a:t>
            </a:r>
            <a:r>
              <a:rPr lang="he-IL" sz="1600" dirty="0">
                <a:effectLst/>
                <a:latin typeface="Times New Roman" panose="02020603050405020304" pitchFamily="18" charset="0"/>
                <a:ea typeface="Times New Roman" panose="02020603050405020304" pitchFamily="18" charset="0"/>
                <a:cs typeface="David" panose="020E0502060401010101" pitchFamily="34" charset="-79"/>
              </a:rPr>
              <a:t> הינו נורמלי עבור צרכני א, ניטרלי עבור צרכני ב ונחות עבור צרכני ג.</a:t>
            </a:r>
            <a:endParaRPr lang="en-IL" sz="1600" dirty="0">
              <a:effectLst/>
              <a:latin typeface="Times New Roman" panose="02020603050405020304" pitchFamily="18" charset="0"/>
              <a:ea typeface="Times New Roman" panose="02020603050405020304" pitchFamily="18" charset="0"/>
            </a:endParaRPr>
          </a:p>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אם ידוע שהכנסת צרכני א עלתה, הכנסת צרכני ב ירדה והכנסת צרכני ג נשארה ללא שינוי, אז נוכל להסיק כי (בחרו בתשובה הנכונה ונמקו):</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הוצאת צרכני ב עלתה בהכרח.</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הוצאת צרכני ג ירדה בהכרח.</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רק אם הוצאת צרכני ב ירדה אז הוצאת צרכני א עלתה.</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הוצאת צרכני א עלתה בהכרח ולא ניתן לדעת מה קרה להוצאת צרכני ב.  </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כל התשובות האחרות לא נכונות.</a:t>
            </a:r>
            <a:endParaRPr lang="en-IL"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40416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8E342-0326-EB0F-8A3A-C528494E951F}"/>
            </a:ext>
          </a:extLst>
        </p:cNvPr>
        <p:cNvGrpSpPr/>
        <p:nvPr/>
      </p:nvGrpSpPr>
      <p:grpSpPr>
        <a:xfrm>
          <a:off x="0" y="0"/>
          <a:ext cx="0" cy="0"/>
          <a:chOff x="0" y="0"/>
          <a:chExt cx="0" cy="0"/>
        </a:xfrm>
      </p:grpSpPr>
      <p:sp>
        <p:nvSpPr>
          <p:cNvPr id="4" name="כותרת 1">
            <a:extLst>
              <a:ext uri="{FF2B5EF4-FFF2-40B4-BE49-F238E27FC236}">
                <a16:creationId xmlns:a16="http://schemas.microsoft.com/office/drawing/2014/main" id="{1EBF4A74-F8C9-A1BC-ADEE-6C1326377AF2}"/>
              </a:ext>
            </a:extLst>
          </p:cNvPr>
          <p:cNvSpPr txBox="1">
            <a:spLocks/>
          </p:cNvSpPr>
          <p:nvPr/>
        </p:nvSpPr>
        <p:spPr>
          <a:xfrm>
            <a:off x="7668344" y="1"/>
            <a:ext cx="1475656" cy="500042"/>
          </a:xfrm>
          <a:prstGeom prst="rect">
            <a:avLst/>
          </a:prstGeom>
        </p:spPr>
        <p:txBody>
          <a:bodyPr vert="horz" lIns="91440" tIns="45720" rIns="91440" bIns="45720" rtlCol="1" anchor="ctr">
            <a:normAutofit fontScale="82500" lnSpcReduction="20000"/>
          </a:bodyPr>
          <a:lstStyle/>
          <a:p>
            <a:pPr>
              <a:spcBef>
                <a:spcPct val="0"/>
              </a:spcBef>
              <a:defRPr/>
            </a:pPr>
            <a:r>
              <a:rPr lang="he-IL" sz="3700" b="1" dirty="0">
                <a:solidFill>
                  <a:prstClr val="black"/>
                </a:solidFill>
                <a:latin typeface="Calibri Light" panose="020F0302020204030204"/>
                <a:cs typeface="Times New Roman" panose="02020603050405020304" pitchFamily="18" charset="0"/>
              </a:rPr>
              <a:t>שאלה </a:t>
            </a:r>
            <a:r>
              <a:rPr lang="en-US" sz="3700" b="1" dirty="0">
                <a:solidFill>
                  <a:prstClr val="black"/>
                </a:solidFill>
                <a:latin typeface="Calibri Light" panose="020F0302020204030204"/>
                <a:cs typeface="Times New Roman" panose="02020603050405020304" pitchFamily="18" charset="0"/>
              </a:rPr>
              <a:t>7</a:t>
            </a:r>
            <a:r>
              <a:rPr lang="he-IL" sz="2700" b="1" dirty="0">
                <a:solidFill>
                  <a:prstClr val="black"/>
                </a:solidFill>
                <a:latin typeface="Calibri Light" panose="020F0302020204030204"/>
                <a:cs typeface="Times New Roman" panose="02020603050405020304" pitchFamily="18" charset="0"/>
              </a:rPr>
              <a:t> </a:t>
            </a:r>
            <a:endParaRPr lang="he-IL" sz="4400" b="1" dirty="0">
              <a:solidFill>
                <a:prstClr val="black"/>
              </a:solidFill>
              <a:latin typeface="Calibri Light" panose="020F0302020204030204"/>
              <a:cs typeface="Times New Roman" panose="02020603050405020304" pitchFamily="18" charset="0"/>
            </a:endParaRPr>
          </a:p>
        </p:txBody>
      </p:sp>
      <p:sp>
        <p:nvSpPr>
          <p:cNvPr id="6" name="TextBox 5">
            <a:extLst>
              <a:ext uri="{FF2B5EF4-FFF2-40B4-BE49-F238E27FC236}">
                <a16:creationId xmlns:a16="http://schemas.microsoft.com/office/drawing/2014/main" id="{BF0957FA-3F39-EF1A-21E3-7DEAE89E9FAC}"/>
              </a:ext>
            </a:extLst>
          </p:cNvPr>
          <p:cNvSpPr txBox="1"/>
          <p:nvPr/>
        </p:nvSpPr>
        <p:spPr>
          <a:xfrm>
            <a:off x="337235" y="46086"/>
            <a:ext cx="7302559" cy="3382914"/>
          </a:xfrm>
          <a:prstGeom prst="rect">
            <a:avLst/>
          </a:prstGeom>
          <a:noFill/>
        </p:spPr>
        <p:txBody>
          <a:bodyPr wrap="square">
            <a:spAutoFit/>
          </a:bodyPr>
          <a:lstStyle/>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בשוק מוצר </a:t>
            </a:r>
            <a:r>
              <a:rPr lang="en-US" sz="1600" dirty="0">
                <a:effectLst/>
                <a:latin typeface="David" panose="020E0502060401010101" pitchFamily="34" charset="-79"/>
                <a:ea typeface="Times New Roman" panose="02020603050405020304" pitchFamily="18" charset="0"/>
              </a:rPr>
              <a:t>X</a:t>
            </a:r>
            <a:r>
              <a:rPr lang="he-IL" sz="1600" dirty="0">
                <a:effectLst/>
                <a:latin typeface="Times New Roman" panose="02020603050405020304" pitchFamily="18" charset="0"/>
                <a:ea typeface="Times New Roman" panose="02020603050405020304" pitchFamily="18" charset="0"/>
                <a:cs typeface="David" panose="020E0502060401010101" pitchFamily="34" charset="-79"/>
              </a:rPr>
              <a:t> קיימים 3 סוגי צרכנים שונים א, ב ו-ג.</a:t>
            </a:r>
            <a:endParaRPr lang="en-IL" sz="1600" dirty="0">
              <a:effectLst/>
              <a:latin typeface="Times New Roman" panose="02020603050405020304" pitchFamily="18" charset="0"/>
              <a:ea typeface="Times New Roman" panose="02020603050405020304" pitchFamily="18" charset="0"/>
            </a:endParaRPr>
          </a:p>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מוצר </a:t>
            </a:r>
            <a:r>
              <a:rPr lang="en-US" sz="1600" dirty="0">
                <a:effectLst/>
                <a:latin typeface="David" panose="020E0502060401010101" pitchFamily="34" charset="-79"/>
                <a:ea typeface="Times New Roman" panose="02020603050405020304" pitchFamily="18" charset="0"/>
              </a:rPr>
              <a:t>X</a:t>
            </a:r>
            <a:r>
              <a:rPr lang="he-IL" sz="1600" dirty="0">
                <a:effectLst/>
                <a:latin typeface="Times New Roman" panose="02020603050405020304" pitchFamily="18" charset="0"/>
                <a:ea typeface="Times New Roman" panose="02020603050405020304" pitchFamily="18" charset="0"/>
                <a:cs typeface="David" panose="020E0502060401010101" pitchFamily="34" charset="-79"/>
              </a:rPr>
              <a:t> הינו נורמלי עבור צרכני א, ניטרלי עבור צרכני ב ונחות עבור צרכני ג.</a:t>
            </a:r>
            <a:endParaRPr lang="en-IL" sz="1600" dirty="0">
              <a:effectLst/>
              <a:latin typeface="Times New Roman" panose="02020603050405020304" pitchFamily="18" charset="0"/>
              <a:ea typeface="Times New Roman" panose="02020603050405020304" pitchFamily="18" charset="0"/>
            </a:endParaRPr>
          </a:p>
          <a:p>
            <a:pPr algn="just" rtl="1">
              <a:lnSpc>
                <a:spcPct val="150000"/>
              </a:lnSpc>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אם ידוע שהכנסת צרכני א עלתה, הכנסת צרכני ב ירדה והכנסת צרכני ג נשארה ללא שינוי, אז נוכל להסיק כי (בחרו בתשובה הנכונה ונמקו):</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הוצאת צרכני ב עלתה בהכרח.</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הוצאת צרכני ג ירדה בהכרח.</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רק אם הוצאת צרכני ב ירדה אז הוצאת צרכני א עלתה.</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highlight>
                  <a:srgbClr val="FFFF00"/>
                </a:highlight>
                <a:latin typeface="Times New Roman" panose="02020603050405020304" pitchFamily="18" charset="0"/>
                <a:ea typeface="Times New Roman" panose="02020603050405020304" pitchFamily="18" charset="0"/>
                <a:cs typeface="David" panose="020E0502060401010101" pitchFamily="34" charset="-79"/>
              </a:rPr>
              <a:t>הוצאת צרכני א עלתה בהכרח ולא ניתן לדעת מה קרה להוצאת צרכני ב.  </a:t>
            </a:r>
            <a:endParaRPr lang="en-IL" sz="1600" dirty="0">
              <a:effectLst/>
              <a:latin typeface="Times New Roman" panose="02020603050405020304" pitchFamily="18" charset="0"/>
              <a:ea typeface="Times New Roman" panose="02020603050405020304" pitchFamily="18" charset="0"/>
            </a:endParaRPr>
          </a:p>
          <a:p>
            <a:pPr marL="342900" lvl="0" indent="-342900" algn="r" rtl="1">
              <a:lnSpc>
                <a:spcPct val="150000"/>
              </a:lnSpc>
              <a:buFont typeface="+mj-lt"/>
              <a:buAutoNum type="arabicPeriod"/>
              <a:tabLst>
                <a:tab pos="318770" algn="l"/>
              </a:tabLst>
            </a:pPr>
            <a:r>
              <a:rPr lang="he-IL" sz="1600" dirty="0">
                <a:effectLst/>
                <a:latin typeface="Times New Roman" panose="02020603050405020304" pitchFamily="18" charset="0"/>
                <a:ea typeface="Times New Roman" panose="02020603050405020304" pitchFamily="18" charset="0"/>
                <a:cs typeface="David" panose="020E0502060401010101" pitchFamily="34" charset="-79"/>
              </a:rPr>
              <a:t>כל התשובות האחרות לא נכונות.</a:t>
            </a:r>
            <a:endParaRPr lang="en-IL" sz="16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96C7D530-DAE3-9CE3-879B-75C943C4F1FD}"/>
              </a:ext>
            </a:extLst>
          </p:cNvPr>
          <p:cNvPicPr>
            <a:picLocks noChangeAspect="1"/>
          </p:cNvPicPr>
          <p:nvPr/>
        </p:nvPicPr>
        <p:blipFill>
          <a:blip r:embed="rId2"/>
          <a:stretch>
            <a:fillRect/>
          </a:stretch>
        </p:blipFill>
        <p:spPr>
          <a:xfrm>
            <a:off x="337235" y="3789040"/>
            <a:ext cx="6247858" cy="1584176"/>
          </a:xfrm>
          <a:prstGeom prst="rect">
            <a:avLst/>
          </a:prstGeom>
        </p:spPr>
      </p:pic>
      <p:sp>
        <p:nvSpPr>
          <p:cNvPr id="9" name="TextBox 8">
            <a:extLst>
              <a:ext uri="{FF2B5EF4-FFF2-40B4-BE49-F238E27FC236}">
                <a16:creationId xmlns:a16="http://schemas.microsoft.com/office/drawing/2014/main" id="{46705FE2-8999-8840-AE01-103938BA537B}"/>
              </a:ext>
            </a:extLst>
          </p:cNvPr>
          <p:cNvSpPr txBox="1"/>
          <p:nvPr/>
        </p:nvSpPr>
        <p:spPr>
          <a:xfrm>
            <a:off x="107504" y="5342334"/>
            <a:ext cx="8443554" cy="1301190"/>
          </a:xfrm>
          <a:prstGeom prst="rect">
            <a:avLst/>
          </a:prstGeom>
          <a:noFill/>
        </p:spPr>
        <p:txBody>
          <a:bodyPr wrap="square">
            <a:spAutoFit/>
          </a:bodyPr>
          <a:lstStyle/>
          <a:p>
            <a:pPr algn="r" rtl="1">
              <a:lnSpc>
                <a:spcPct val="150000"/>
              </a:lnSpc>
            </a:pPr>
            <a:r>
              <a:rPr lang="he-IL" sz="1800" b="1" dirty="0">
                <a:effectLst/>
                <a:highlight>
                  <a:srgbClr val="FFFF00"/>
                </a:highlight>
                <a:latin typeface="Times New Roman" panose="02020603050405020304" pitchFamily="18" charset="0"/>
                <a:ea typeface="Times New Roman" panose="02020603050405020304" pitchFamily="18" charset="0"/>
                <a:cs typeface="David" panose="020E0502060401010101" pitchFamily="34" charset="-79"/>
              </a:rPr>
              <a:t>הסבר:</a:t>
            </a:r>
            <a:r>
              <a:rPr lang="he-IL" sz="1800" dirty="0">
                <a:effectLst/>
                <a:latin typeface="Times New Roman" panose="02020603050405020304" pitchFamily="18" charset="0"/>
                <a:ea typeface="Times New Roman" panose="02020603050405020304" pitchFamily="18" charset="0"/>
                <a:cs typeface="David" panose="020E0502060401010101" pitchFamily="34" charset="-79"/>
              </a:rPr>
              <a:t> המחיר עלה, לכן ישנה תזוזה על העקומה עבור צרכני ב' וצרכני ג'. לא ניתן לדעת מה קרה להוצאות צרכני ב' וצרכני ג' שכן המחיר עלה והכמות המבוקשת על ידם ירדה. </a:t>
            </a:r>
            <a:br>
              <a:rPr lang="he-IL" sz="1800" dirty="0">
                <a:effectLst/>
                <a:latin typeface="Times New Roman" panose="02020603050405020304" pitchFamily="18" charset="0"/>
                <a:ea typeface="Times New Roman" panose="02020603050405020304" pitchFamily="18" charset="0"/>
                <a:cs typeface="David" panose="020E0502060401010101" pitchFamily="34" charset="-79"/>
              </a:rPr>
            </a:br>
            <a:r>
              <a:rPr lang="he-IL" sz="1800" dirty="0">
                <a:effectLst/>
                <a:latin typeface="Times New Roman" panose="02020603050405020304" pitchFamily="18" charset="0"/>
                <a:ea typeface="Times New Roman" panose="02020603050405020304" pitchFamily="18" charset="0"/>
                <a:cs typeface="David" panose="020E0502060401010101" pitchFamily="34" charset="-79"/>
              </a:rPr>
              <a:t>עבור צרכני א', גם המחיר עלה והם גם קונים יותר. לכן הוצאת צרכני א' בהכרח עולה. </a:t>
            </a:r>
            <a:endParaRPr lang="en-IL"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46474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A8C615C0-56DF-9771-F19E-3919D9D85975}"/>
              </a:ext>
            </a:extLst>
          </p:cNvPr>
          <p:cNvSpPr txBox="1">
            <a:spLocks/>
          </p:cNvSpPr>
          <p:nvPr/>
        </p:nvSpPr>
        <p:spPr>
          <a:xfrm>
            <a:off x="7668344" y="1"/>
            <a:ext cx="1475656" cy="500042"/>
          </a:xfrm>
          <a:prstGeom prst="rect">
            <a:avLst/>
          </a:prstGeom>
        </p:spPr>
        <p:txBody>
          <a:bodyPr vert="horz" lIns="91440" tIns="45720" rIns="91440" bIns="45720" rtlCol="1" anchor="ctr">
            <a:normAutofit fontScale="82500" lnSpcReduction="20000"/>
          </a:bodyPr>
          <a:lstStyle/>
          <a:p>
            <a:pPr marL="0" marR="0" lvl="0" indent="0" algn="r" defTabSz="914400" rtl="1" eaLnBrk="1" fontAlgn="auto" latinLnBrk="0" hangingPunct="1">
              <a:lnSpc>
                <a:spcPct val="100000"/>
              </a:lnSpc>
              <a:spcBef>
                <a:spcPct val="0"/>
              </a:spcBef>
              <a:spcAft>
                <a:spcPts val="0"/>
              </a:spcAft>
              <a:buClrTx/>
              <a:buSzTx/>
              <a:buFontTx/>
              <a:buNone/>
              <a:tabLst/>
              <a:defRPr/>
            </a:pPr>
            <a:r>
              <a:rPr kumimoji="0" lang="he-IL" sz="3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שאלה </a:t>
            </a:r>
            <a:r>
              <a:rPr kumimoji="0" lang="en-US" sz="3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8</a:t>
            </a:r>
            <a:r>
              <a:rPr kumimoji="0" lang="he-IL" sz="2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 </a:t>
            </a:r>
            <a:endParaRPr kumimoji="0" lang="he-IL" sz="4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endParaRPr>
          </a:p>
        </p:txBody>
      </p:sp>
      <p:sp>
        <p:nvSpPr>
          <p:cNvPr id="6" name="TextBox 5">
            <a:extLst>
              <a:ext uri="{FF2B5EF4-FFF2-40B4-BE49-F238E27FC236}">
                <a16:creationId xmlns:a16="http://schemas.microsoft.com/office/drawing/2014/main" id="{3AC65CA8-4340-8882-9E4E-C45F3CCB2474}"/>
              </a:ext>
            </a:extLst>
          </p:cNvPr>
          <p:cNvSpPr txBox="1"/>
          <p:nvPr/>
        </p:nvSpPr>
        <p:spPr>
          <a:xfrm>
            <a:off x="899592" y="922448"/>
            <a:ext cx="7907173" cy="1449308"/>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אם מינימה פריטי הצליחה לייעל את עלויות הייצור שלה (שיפור טכנולוגי) כיצד תשתנה:</a:t>
            </a:r>
            <a:endParaRPr kumimoji="0" lang="en-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David" panose="020E0502060401010101" pitchFamily="34" charset="-79"/>
              </a:rPr>
              <a:t>א. </a:t>
            </a: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 כמות הסרטים </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ב. מחירם בשוק </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r" defTabSz="914400" rtl="1" eaLnBrk="1" fontAlgn="auto" latinLnBrk="0" hangingPunct="1">
              <a:lnSpc>
                <a:spcPct val="150000"/>
              </a:lnSpc>
              <a:spcBef>
                <a:spcPts val="0"/>
              </a:spcBef>
              <a:spcAft>
                <a:spcPts val="1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ג. הכנסות היצרנים (הוצאות הצרכנים)</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9EF6311F-2BC6-CA95-696B-0E410112CC61}"/>
              </a:ext>
            </a:extLst>
          </p:cNvPr>
          <p:cNvSpPr txBox="1"/>
          <p:nvPr/>
        </p:nvSpPr>
        <p:spPr>
          <a:xfrm>
            <a:off x="251520" y="124857"/>
            <a:ext cx="7163090" cy="7975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שוק הסרטים מורכב משני יצרנים, בלובוס קמס ומינימה פריטי. עקומת הביקוש של צרכני הסרטים יורדת משמאל לימין. ידוע שהביקוש לסרטים הינו </a:t>
            </a:r>
            <a:r>
              <a:rPr kumimoji="0" lang="he-IL" sz="1600" b="1" i="0" u="sng"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גמיש</a:t>
            </a:r>
            <a:r>
              <a:rPr kumimoji="0" lang="he-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(גמישות הביקוש גדולה מ-1).</a:t>
            </a:r>
            <a:endParaRPr kumimoji="0" lang="en-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665598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62D76-F52D-3FB7-8D61-766181C99919}"/>
            </a:ext>
          </a:extLst>
        </p:cNvPr>
        <p:cNvGrpSpPr/>
        <p:nvPr/>
      </p:nvGrpSpPr>
      <p:grpSpPr>
        <a:xfrm>
          <a:off x="0" y="0"/>
          <a:ext cx="0" cy="0"/>
          <a:chOff x="0" y="0"/>
          <a:chExt cx="0" cy="0"/>
        </a:xfrm>
      </p:grpSpPr>
      <p:sp>
        <p:nvSpPr>
          <p:cNvPr id="4" name="כותרת 1">
            <a:extLst>
              <a:ext uri="{FF2B5EF4-FFF2-40B4-BE49-F238E27FC236}">
                <a16:creationId xmlns:a16="http://schemas.microsoft.com/office/drawing/2014/main" id="{7BB32E6B-E1B8-E31A-7A7E-BC06AAEF92BE}"/>
              </a:ext>
            </a:extLst>
          </p:cNvPr>
          <p:cNvSpPr txBox="1">
            <a:spLocks/>
          </p:cNvSpPr>
          <p:nvPr/>
        </p:nvSpPr>
        <p:spPr>
          <a:xfrm>
            <a:off x="7668344" y="1"/>
            <a:ext cx="1475656" cy="500042"/>
          </a:xfrm>
          <a:prstGeom prst="rect">
            <a:avLst/>
          </a:prstGeom>
        </p:spPr>
        <p:txBody>
          <a:bodyPr vert="horz" lIns="91440" tIns="45720" rIns="91440" bIns="45720" rtlCol="1" anchor="ctr">
            <a:normAutofit fontScale="82500" lnSpcReduction="20000"/>
          </a:bodyPr>
          <a:lstStyle/>
          <a:p>
            <a:pPr marL="0" marR="0" lvl="0" indent="0" algn="r" defTabSz="914400" rtl="1" eaLnBrk="1" fontAlgn="auto" latinLnBrk="0" hangingPunct="1">
              <a:lnSpc>
                <a:spcPct val="100000"/>
              </a:lnSpc>
              <a:spcBef>
                <a:spcPct val="0"/>
              </a:spcBef>
              <a:spcAft>
                <a:spcPts val="0"/>
              </a:spcAft>
              <a:buClrTx/>
              <a:buSzTx/>
              <a:buFontTx/>
              <a:buNone/>
              <a:tabLst/>
              <a:defRPr/>
            </a:pPr>
            <a:r>
              <a:rPr kumimoji="0" lang="he-IL" sz="3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שאלה </a:t>
            </a:r>
            <a:r>
              <a:rPr kumimoji="0" lang="en-US" sz="3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8</a:t>
            </a:r>
            <a:r>
              <a:rPr kumimoji="0" lang="he-IL" sz="27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 </a:t>
            </a:r>
            <a:endParaRPr kumimoji="0" lang="he-IL" sz="4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endParaRPr>
          </a:p>
        </p:txBody>
      </p:sp>
      <p:sp>
        <p:nvSpPr>
          <p:cNvPr id="6" name="TextBox 5">
            <a:extLst>
              <a:ext uri="{FF2B5EF4-FFF2-40B4-BE49-F238E27FC236}">
                <a16:creationId xmlns:a16="http://schemas.microsoft.com/office/drawing/2014/main" id="{6D5F6B7B-18E5-AA73-5DC0-9C32EA18C76A}"/>
              </a:ext>
            </a:extLst>
          </p:cNvPr>
          <p:cNvSpPr txBox="1"/>
          <p:nvPr/>
        </p:nvSpPr>
        <p:spPr>
          <a:xfrm>
            <a:off x="6516216" y="922448"/>
            <a:ext cx="2290549" cy="3619132"/>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כיצד תשתנה:</a:t>
            </a:r>
            <a:endParaRPr kumimoji="0" lang="en-IL" sz="14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342900" marR="0" lvl="0" indent="-342900" algn="r" defTabSz="914400" rtl="1" eaLnBrk="1" fontAlgn="auto" latinLnBrk="0" hangingPunct="1">
              <a:lnSpc>
                <a:spcPct val="150000"/>
              </a:lnSpc>
              <a:spcBef>
                <a:spcPts val="0"/>
              </a:spcBef>
              <a:spcAft>
                <a:spcPts val="0"/>
              </a:spcAft>
              <a:buClrTx/>
              <a:buSzTx/>
              <a:buFont typeface="+mj-cs"/>
              <a:buAutoNum type="hebrew2Minus"/>
              <a:tabLst/>
              <a:defRPr/>
            </a:pP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 כמות הסרטים </a:t>
            </a:r>
            <a:r>
              <a:rPr kumimoji="0" lang="he-IL" sz="14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Calibri" panose="020F0502020204030204" pitchFamily="34" charset="0"/>
                <a:cs typeface="David" panose="020E0502060401010101" pitchFamily="34" charset="-79"/>
              </a:rPr>
              <a:t>תגדל</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r" defTabSz="914400" rtl="1" eaLnBrk="1" fontAlgn="auto" latinLnBrk="0" hangingPunct="1">
              <a:lnSpc>
                <a:spcPct val="150000"/>
              </a:lnSpc>
              <a:spcBef>
                <a:spcPts val="0"/>
              </a:spcBef>
              <a:spcAft>
                <a:spcPts val="0"/>
              </a:spcAft>
              <a:buClrTx/>
              <a:buSzTx/>
              <a:buFont typeface="+mj-cs"/>
              <a:buAutoNum type="hebrew2Minus"/>
              <a:tabLst/>
              <a:defRPr/>
            </a:pP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מחירם בשוק </a:t>
            </a:r>
            <a:r>
              <a:rPr kumimoji="0" lang="he-IL" sz="14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Calibri" panose="020F0502020204030204" pitchFamily="34" charset="0"/>
                <a:cs typeface="David" panose="020E0502060401010101" pitchFamily="34" charset="-79"/>
              </a:rPr>
              <a:t>ירד</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r" defTabSz="914400" rtl="1" eaLnBrk="1" fontAlgn="auto" latinLnBrk="0" hangingPunct="1">
              <a:lnSpc>
                <a:spcPct val="150000"/>
              </a:lnSpc>
              <a:spcBef>
                <a:spcPts val="0"/>
              </a:spcBef>
              <a:spcAft>
                <a:spcPts val="1000"/>
              </a:spcAft>
              <a:buClrTx/>
              <a:buSzTx/>
              <a:buFont typeface="+mj-cs"/>
              <a:buAutoNum type="hebrew2Minus"/>
              <a:tabLst/>
              <a:defRPr/>
            </a:pPr>
            <a:r>
              <a:rPr kumimoji="0" lang="he-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David" panose="020E0502060401010101" pitchFamily="34" charset="-79"/>
              </a:rPr>
              <a:t>הכנסות היצרנים (הוצאות הצרכנים) </a:t>
            </a:r>
            <a:r>
              <a:rPr kumimoji="0" lang="he-IL" sz="1400" b="1" i="0" u="none" strike="noStrike" kern="1200" cap="none" spc="0" normalizeH="0" baseline="0" noProof="0" dirty="0">
                <a:ln>
                  <a:noFill/>
                </a:ln>
                <a:solidFill>
                  <a:prstClr val="black"/>
                </a:solidFill>
                <a:effectLst/>
                <a:highlight>
                  <a:srgbClr val="FFFF00"/>
                </a:highlight>
                <a:uLnTx/>
                <a:uFillTx/>
                <a:latin typeface="Calibri" panose="020F0502020204030204" pitchFamily="34" charset="0"/>
                <a:ea typeface="Calibri" panose="020F0502020204030204" pitchFamily="34" charset="0"/>
                <a:cs typeface="David" panose="020E0502060401010101" pitchFamily="34" charset="-79"/>
              </a:rPr>
              <a:t>הכמות המצרפית עלתה והמחיר בשוק ירד. מכיוון שנתון שהביקוש הינו גמיש, מכאן שהוצאות הצרכנים עלו, כלומר ההכנסות של כל היצרנים עלו. </a:t>
            </a:r>
            <a:endParaRPr kumimoji="0" lang="en-IL"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C57102CD-9F61-D843-E70D-E35B1DAA76B6}"/>
              </a:ext>
            </a:extLst>
          </p:cNvPr>
          <p:cNvSpPr txBox="1"/>
          <p:nvPr/>
        </p:nvSpPr>
        <p:spPr>
          <a:xfrm>
            <a:off x="251520" y="124857"/>
            <a:ext cx="7163090" cy="7975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שוק הסרטים מורכב משני יצרנים, בלובוס קמס ומינימה פריטי. עקומת הביקוש של צרכני הסרטים יורדת משמאל לימין. ידוע שהביקוש לסרטים הינו </a:t>
            </a:r>
            <a:r>
              <a:rPr kumimoji="0" lang="he-IL" sz="1600" b="1" i="0" u="sng"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גמיש</a:t>
            </a:r>
            <a:r>
              <a:rPr kumimoji="0" lang="he-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(גמישות הביקוש גדולה מ-1).</a:t>
            </a:r>
            <a:endParaRPr kumimoji="0" lang="en-IL"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pic>
        <p:nvPicPr>
          <p:cNvPr id="2" name="תמונה 3">
            <a:extLst>
              <a:ext uri="{FF2B5EF4-FFF2-40B4-BE49-F238E27FC236}">
                <a16:creationId xmlns:a16="http://schemas.microsoft.com/office/drawing/2014/main" id="{C81CE01C-66FD-EBDC-BDCD-7C204F43254E}"/>
              </a:ext>
            </a:extLst>
          </p:cNvPr>
          <p:cNvPicPr>
            <a:picLocks noChangeAspect="1"/>
          </p:cNvPicPr>
          <p:nvPr/>
        </p:nvPicPr>
        <p:blipFill>
          <a:blip r:embed="rId2"/>
          <a:stretch>
            <a:fillRect/>
          </a:stretch>
        </p:blipFill>
        <p:spPr>
          <a:xfrm>
            <a:off x="433601" y="1361580"/>
            <a:ext cx="6082615" cy="4530105"/>
          </a:xfrm>
          <a:prstGeom prst="rect">
            <a:avLst/>
          </a:prstGeom>
        </p:spPr>
      </p:pic>
    </p:spTree>
    <p:extLst>
      <p:ext uri="{BB962C8B-B14F-4D97-AF65-F5344CB8AC3E}">
        <p14:creationId xmlns:p14="http://schemas.microsoft.com/office/powerpoint/2010/main" val="3460144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8335</TotalTime>
  <Words>2149</Words>
  <Application>Microsoft Office PowerPoint</Application>
  <PresentationFormat>‫הצגה על המסך (4:3)</PresentationFormat>
  <Paragraphs>287</Paragraphs>
  <Slides>24</Slides>
  <Notes>1</Notes>
  <HiddenSlides>0</HiddenSlides>
  <MMClips>0</MMClips>
  <ScaleCrop>false</ScaleCrop>
  <HeadingPairs>
    <vt:vector size="8" baseType="variant">
      <vt:variant>
        <vt:lpstr>גופנים בשימוש</vt:lpstr>
      </vt:variant>
      <vt:variant>
        <vt:i4>8</vt:i4>
      </vt:variant>
      <vt:variant>
        <vt:lpstr>ערכת נושא</vt:lpstr>
      </vt:variant>
      <vt:variant>
        <vt:i4>5</vt:i4>
      </vt:variant>
      <vt:variant>
        <vt:lpstr>שרתי OLE מוטבעים</vt:lpstr>
      </vt:variant>
      <vt:variant>
        <vt:i4>1</vt:i4>
      </vt:variant>
      <vt:variant>
        <vt:lpstr>כותרות שקופיות</vt:lpstr>
      </vt:variant>
      <vt:variant>
        <vt:i4>24</vt:i4>
      </vt:variant>
    </vt:vector>
  </HeadingPairs>
  <TitlesOfParts>
    <vt:vector size="38" baseType="lpstr">
      <vt:lpstr>Arial</vt:lpstr>
      <vt:lpstr>Calibri</vt:lpstr>
      <vt:lpstr>Calibri Light</vt:lpstr>
      <vt:lpstr>Cambria Math</vt:lpstr>
      <vt:lpstr>Courier New</vt:lpstr>
      <vt:lpstr>David</vt:lpstr>
      <vt:lpstr>Times New Roman</vt:lpstr>
      <vt:lpstr>Wingdings</vt:lpstr>
      <vt:lpstr>Office Theme</vt:lpstr>
      <vt:lpstr>1_Office Theme</vt:lpstr>
      <vt:lpstr>2_Office Theme</vt:lpstr>
      <vt:lpstr>ערכת נושא Office</vt:lpstr>
      <vt:lpstr>3_Office Theme</vt:lpstr>
      <vt:lpstr>Equation</vt:lpstr>
      <vt:lpstr>מבוא למיקרו כלכלה</vt:lpstr>
      <vt:lpstr>מצגת של PowerPoint‏</vt:lpstr>
      <vt:lpstr>שאלה 1</vt:lpstr>
      <vt:lpstr>שאלה 1</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שאלה 4 </vt:lpstr>
      <vt:lpstr>שאלה 5</vt:lpstr>
      <vt:lpstr>שאלה 5</vt:lpstr>
      <vt:lpstr>שאלה 5</vt:lpstr>
      <vt:lpstr>שאלה 6</vt:lpstr>
      <vt:lpstr>שאלה 6</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תרגיל 3 – שאלה 1</dc:title>
  <dc:creator>Eyal</dc:creator>
  <cp:lastModifiedBy>איתן משקוביץ'</cp:lastModifiedBy>
  <cp:revision>296</cp:revision>
  <dcterms:created xsi:type="dcterms:W3CDTF">2011-12-07T20:01:11Z</dcterms:created>
  <dcterms:modified xsi:type="dcterms:W3CDTF">2026-01-10T17:47:15Z</dcterms:modified>
</cp:coreProperties>
</file>