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</p:sldMasterIdLst>
  <p:notesMasterIdLst>
    <p:notesMasterId r:id="rId36"/>
  </p:notesMasterIdLst>
  <p:sldIdLst>
    <p:sldId id="343" r:id="rId4"/>
    <p:sldId id="413" r:id="rId5"/>
    <p:sldId id="344" r:id="rId6"/>
    <p:sldId id="388" r:id="rId7"/>
    <p:sldId id="422" r:id="rId8"/>
    <p:sldId id="389" r:id="rId9"/>
    <p:sldId id="390" r:id="rId10"/>
    <p:sldId id="391" r:id="rId11"/>
    <p:sldId id="507" r:id="rId12"/>
    <p:sldId id="508" r:id="rId13"/>
    <p:sldId id="509" r:id="rId14"/>
    <p:sldId id="510" r:id="rId15"/>
    <p:sldId id="511" r:id="rId16"/>
    <p:sldId id="401" r:id="rId17"/>
    <p:sldId id="399" r:id="rId18"/>
    <p:sldId id="405" r:id="rId19"/>
    <p:sldId id="402" r:id="rId20"/>
    <p:sldId id="408" r:id="rId21"/>
    <p:sldId id="406" r:id="rId22"/>
    <p:sldId id="407" r:id="rId23"/>
    <p:sldId id="409" r:id="rId24"/>
    <p:sldId id="410" r:id="rId25"/>
    <p:sldId id="411" r:id="rId26"/>
    <p:sldId id="412" r:id="rId27"/>
    <p:sldId id="414" r:id="rId28"/>
    <p:sldId id="415" r:id="rId29"/>
    <p:sldId id="416" r:id="rId30"/>
    <p:sldId id="420" r:id="rId31"/>
    <p:sldId id="419" r:id="rId32"/>
    <p:sldId id="421" r:id="rId33"/>
    <p:sldId id="333" r:id="rId34"/>
    <p:sldId id="396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941C"/>
    <a:srgbClr val="F4D9FB"/>
    <a:srgbClr val="F5ECD3"/>
    <a:srgbClr val="009A46"/>
    <a:srgbClr val="D4F9CF"/>
    <a:srgbClr val="B3DEFF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9" autoAdjust="0"/>
    <p:restoredTop sz="90027" autoAdjust="0"/>
  </p:normalViewPr>
  <p:slideViewPr>
    <p:cSldViewPr>
      <p:cViewPr varScale="1">
        <p:scale>
          <a:sx n="64" d="100"/>
          <a:sy n="64" d="100"/>
        </p:scale>
        <p:origin x="16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16074"/>
    </p:cViewPr>
  </p:sorterViewPr>
  <p:notesViewPr>
    <p:cSldViewPr>
      <p:cViewPr varScale="1">
        <p:scale>
          <a:sx n="57" d="100"/>
          <a:sy n="57" d="100"/>
        </p:scale>
        <p:origin x="-2862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theme" Target="theme/theme1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EAE62B-7350-44E0-A480-6FFD28146382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B52223-259B-4AEE-BC58-13D5B3BBB3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612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B52223-259B-4AEE-BC58-13D5B3BBB37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0133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87A51C3-D7A7-4AE0-B95D-CA1648E7F7C5}" type="slidenum">
              <a:rPr kumimoji="0" lang="he-I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he-I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395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224D2-C3E9-418E-AFC8-7E543783C0BE}" type="datetime1">
              <a:rPr lang="en-US" smtClean="0"/>
              <a:t>11/13/2025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0A24AF92-42DA-4C17-AB33-95A624A1878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2A199-D2B9-4E72-B799-4CB9AF3C8366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45A1E-E728-46B5-9DA1-7FC13EC768E9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A24AF92-42DA-4C17-AB33-95A624A1878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E0D0B-1CF0-4878-8A98-514C3CEBEB6C}" type="datetime1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DE8FA-A7BC-4CD9-B729-6C8992B44640}" type="datetime1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D39DD-937F-4A1F-8BCA-5A1E6F476C62}" type="datetime1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8A1D2-BFC6-48EF-9B79-D2551B120B78}" type="datetime1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86B62-7ADC-44ED-8F4F-7AFEAEABA9C3}" type="datetime1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A9EBA-2F4C-4CC1-A62B-EE0F167AC925}" type="datetime1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A24AF92-42DA-4C17-AB33-95A624A1878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33BF4-E731-4892-98A4-D6F864533690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D6158-4DB3-4350-A2FC-3B3195676D41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20A90-9C10-4B0F-BFE9-9042F6259F0C}" type="datetime8">
              <a:rPr lang="he-IL" smtClean="0"/>
              <a:t>13 נובמבר 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אשנב לכלכלה - תרגול מספר 1</a:t>
            </a: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0A24AF92-42DA-4C17-AB33-95A624A1878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125175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67D0B-FE72-4444-8FBE-70603E1DE41A}" type="datetime8">
              <a:rPr lang="he-IL" smtClean="0"/>
              <a:t>13 נובמבר 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אשנב לכלכלה - תרגול מספר 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7432096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611EE-11F4-4DBC-87A3-CD8A4E4E246E}" type="datetime8">
              <a:rPr lang="he-IL" smtClean="0"/>
              <a:t>13 נובמבר 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r>
              <a:rPr lang="he-IL"/>
              <a:t>אשנב לכלכלה - תרגול מספר 1</a:t>
            </a:r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A24AF92-42DA-4C17-AB33-95A624A18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7497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89436-330C-4725-9C1B-506145CA3BE6}" type="datetime8">
              <a:rPr lang="he-IL" smtClean="0"/>
              <a:t>13 נובמבר 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אשנב לכלכלה - תרגול מספר 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6815643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74A07-16F6-41DE-B61C-196F86950FCA}" type="datetime8">
              <a:rPr lang="he-IL" smtClean="0"/>
              <a:t>13 נובמבר 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אשנב לכלכלה - תרגול מספר 1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2420309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7E73D-BFC9-4FB2-8D9E-91801143D9DF}" type="datetime8">
              <a:rPr lang="he-IL" smtClean="0"/>
              <a:t>13 נובמבר 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אשנב לכלכלה - תרגול מספר 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186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FD4F4-43A6-4FC5-8AB9-CED918386E92}" type="datetime8">
              <a:rPr lang="he-IL" smtClean="0"/>
              <a:t>13 נובמבר 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אשנב לכלכלה - תרגול מספר 1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830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2F9A0-6DCC-4A2E-B148-9BCDDFC4547C}" type="datetime8">
              <a:rPr lang="he-IL" smtClean="0"/>
              <a:t>13 נובמבר 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אשנב לכלכלה - תרגול מספר 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797490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8CAB8-7918-48D6-92E9-E14801173C31}" type="datetime8">
              <a:rPr lang="he-IL" smtClean="0"/>
              <a:t>13 נובמבר 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r>
              <a:rPr lang="he-IL"/>
              <a:t>אשנב לכלכלה - תרגול מספר 1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A24AF92-42DA-4C17-AB33-95A624A1878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7195254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4C619-65CF-4AB5-8D7C-E1C02583BBA8}" type="datetime8">
              <a:rPr lang="he-IL" smtClean="0"/>
              <a:t>13 נובמבר 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אשנב לכלכלה - תרגול מספר 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2500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FB2AB-AEFD-41B4-A4FB-363F6BFB34AB}" type="datetime8">
              <a:rPr lang="he-IL" smtClean="0"/>
              <a:t>13 נובמבר 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אשנב לכלכלה - תרגול מספר 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1889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משולש ישר-זווית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כותרת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he-IL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17" name="כותרת משנה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he-IL"/>
              <a:t>לחץ כדי לערוך סגנון כותרת משנה של תבנית בסיס</a:t>
            </a:r>
            <a:endParaRPr kumimoji="0" lang="en-US"/>
          </a:p>
        </p:txBody>
      </p:sp>
      <p:grpSp>
        <p:nvGrpSpPr>
          <p:cNvPr id="2" name="קבוצה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צורה חופשית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צורה חופשית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צורה חופשית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מחבר ישר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מציין מיקום של תאריך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5D7A846C-0D8A-4C6A-BF61-D6EBD1D14F89}" type="datetime8">
              <a:rPr lang="he-IL" smtClean="0"/>
              <a:t>13 נובמבר 25</a:t>
            </a:fld>
            <a:endParaRPr lang="he-IL"/>
          </a:p>
        </p:txBody>
      </p:sp>
      <p:sp>
        <p:nvSpPr>
          <p:cNvPr id="19" name="מציין מיקום של כותרת תחתונה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r>
              <a:rPr lang="he-IL"/>
              <a:t>מיכאלה משקוביץ'</a:t>
            </a:r>
          </a:p>
        </p:txBody>
      </p:sp>
      <p:sp>
        <p:nvSpPr>
          <p:cNvPr id="27" name="מציין מיקום של מספר שקופית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FC6B3163-752A-4F30-8133-06B1B9326B1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585098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he-IL"/>
              <a:t>לחץ כדי לערוך סגנונות טקסט של תבנית בסיס</a:t>
            </a:r>
          </a:p>
          <a:p>
            <a:pPr lvl="1" eaLnBrk="1" latinLnBrk="0" hangingPunct="1"/>
            <a:r>
              <a:rPr lang="he-IL"/>
              <a:t>רמה שנייה</a:t>
            </a:r>
          </a:p>
          <a:p>
            <a:pPr lvl="2" eaLnBrk="1" latinLnBrk="0" hangingPunct="1"/>
            <a:r>
              <a:rPr lang="he-IL"/>
              <a:t>רמה שלישית</a:t>
            </a:r>
          </a:p>
          <a:p>
            <a:pPr lvl="3" eaLnBrk="1" latinLnBrk="0" hangingPunct="1"/>
            <a:r>
              <a:rPr lang="he-IL"/>
              <a:t>רמה רביעית</a:t>
            </a:r>
          </a:p>
          <a:p>
            <a:pPr lvl="4" eaLnBrk="1" latinLnBrk="0" hangingPunct="1"/>
            <a:r>
              <a:rPr lang="he-IL"/>
              <a:t>רמה חמישית</a:t>
            </a:r>
            <a:endParaRPr kumimoji="0"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CE0F0-30D3-4E27-BF48-93655BDC7BF3}" type="datetime8">
              <a:rPr lang="he-IL" smtClean="0"/>
              <a:t>13 נובמבר 25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מיכאלה משקוביץ'</a:t>
            </a: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B3163-752A-4F30-8133-06B1B9326B1F}" type="slidenum">
              <a:rPr lang="he-IL" smtClean="0"/>
              <a:t>‹#›</a:t>
            </a:fld>
            <a:endParaRPr lang="he-IL"/>
          </a:p>
        </p:txBody>
      </p:sp>
      <p:sp>
        <p:nvSpPr>
          <p:cNvPr id="7" name="כותרת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he-IL"/>
              <a:t>לחץ כדי לערוך סגנון כותרת של תבנית בסיס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406994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he-IL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C086A-1552-45D4-B035-B34097C7CBC3}" type="datetime8">
              <a:rPr lang="he-IL" smtClean="0"/>
              <a:t>13 נובמבר 25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מיכאלה משקוביץ'</a:t>
            </a: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B3163-752A-4F30-8133-06B1B9326B1F}" type="slidenum">
              <a:rPr lang="he-IL" smtClean="0"/>
              <a:t>‹#›</a:t>
            </a:fld>
            <a:endParaRPr lang="he-IL"/>
          </a:p>
        </p:txBody>
      </p:sp>
      <p:sp>
        <p:nvSpPr>
          <p:cNvPr id="7" name="סוגר זוויתי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סוגר זוויתי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9170814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he-IL"/>
              <a:t>לחץ כדי לערוך סגנונות טקסט של תבנית בסיס</a:t>
            </a:r>
          </a:p>
          <a:p>
            <a:pPr lvl="1" eaLnBrk="1" latinLnBrk="0" hangingPunct="1"/>
            <a:r>
              <a:rPr lang="he-IL"/>
              <a:t>רמה שנייה</a:t>
            </a:r>
          </a:p>
          <a:p>
            <a:pPr lvl="2" eaLnBrk="1" latinLnBrk="0" hangingPunct="1"/>
            <a:r>
              <a:rPr lang="he-IL"/>
              <a:t>רמה שלישית</a:t>
            </a:r>
          </a:p>
          <a:p>
            <a:pPr lvl="3" eaLnBrk="1" latinLnBrk="0" hangingPunct="1"/>
            <a:r>
              <a:rPr lang="he-IL"/>
              <a:t>רמה רביעית</a:t>
            </a:r>
          </a:p>
          <a:p>
            <a:pPr lvl="4" eaLnBrk="1" latinLnBrk="0" hangingPunct="1"/>
            <a:r>
              <a:rPr lang="he-IL"/>
              <a:t>רמה חמישית</a:t>
            </a:r>
            <a:endParaRPr kumimoji="0" lang="en-US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he-IL"/>
              <a:t>לחץ כדי לערוך סגנונות טקסט של תבנית בסיס</a:t>
            </a:r>
          </a:p>
          <a:p>
            <a:pPr lvl="1" eaLnBrk="1" latinLnBrk="0" hangingPunct="1"/>
            <a:r>
              <a:rPr lang="he-IL"/>
              <a:t>רמה שנייה</a:t>
            </a:r>
          </a:p>
          <a:p>
            <a:pPr lvl="2" eaLnBrk="1" latinLnBrk="0" hangingPunct="1"/>
            <a:r>
              <a:rPr lang="he-IL"/>
              <a:t>רמה שלישית</a:t>
            </a:r>
          </a:p>
          <a:p>
            <a:pPr lvl="3" eaLnBrk="1" latinLnBrk="0" hangingPunct="1"/>
            <a:r>
              <a:rPr lang="he-IL"/>
              <a:t>רמה רביעית</a:t>
            </a:r>
          </a:p>
          <a:p>
            <a:pPr lvl="4" eaLnBrk="1" latinLnBrk="0" hangingPunct="1"/>
            <a:r>
              <a:rPr lang="he-IL"/>
              <a:t>רמה חמישית</a:t>
            </a:r>
            <a:endParaRPr kumimoji="0" lang="en-US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AB039-0743-49C8-A13E-8100971A6224}" type="datetime8">
              <a:rPr lang="he-IL" smtClean="0"/>
              <a:t>13 נובמבר 25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מיכאלה משקוביץ'</a:t>
            </a:r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B3163-752A-4F30-8133-06B1B9326B1F}" type="slidenum">
              <a:rPr lang="he-IL" smtClean="0"/>
              <a:t>‹#›</a:t>
            </a:fld>
            <a:endParaRPr lang="he-IL"/>
          </a:p>
        </p:txBody>
      </p:sp>
      <p:sp>
        <p:nvSpPr>
          <p:cNvPr id="8" name="כותרת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he-IL"/>
              <a:t>לחץ כדי לערוך סגנון כותרת של תבנית בסיס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4409270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השוואה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he-IL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he-IL"/>
              <a:t>לחץ כדי לערוך סגנונות טקסט של תבנית בסיס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he-IL"/>
              <a:t>לחץ כדי לערוך סגנונות טקסט של תבנית בסיס</a:t>
            </a:r>
          </a:p>
        </p:txBody>
      </p:sp>
      <p:sp>
        <p:nvSpPr>
          <p:cNvPr id="5" name="מציין מיקום תוכן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he-IL"/>
              <a:t>לחץ כדי לערוך סגנונות טקסט של תבנית בסיס</a:t>
            </a:r>
          </a:p>
          <a:p>
            <a:pPr lvl="1" eaLnBrk="1" latinLnBrk="0" hangingPunct="1"/>
            <a:r>
              <a:rPr lang="he-IL"/>
              <a:t>רמה שנייה</a:t>
            </a:r>
          </a:p>
          <a:p>
            <a:pPr lvl="2" eaLnBrk="1" latinLnBrk="0" hangingPunct="1"/>
            <a:r>
              <a:rPr lang="he-IL"/>
              <a:t>רמה שלישית</a:t>
            </a:r>
          </a:p>
          <a:p>
            <a:pPr lvl="3" eaLnBrk="1" latinLnBrk="0" hangingPunct="1"/>
            <a:r>
              <a:rPr lang="he-IL"/>
              <a:t>רמה רביעית</a:t>
            </a:r>
          </a:p>
          <a:p>
            <a:pPr lvl="4" eaLnBrk="1" latinLnBrk="0" hangingPunct="1"/>
            <a:r>
              <a:rPr lang="he-IL"/>
              <a:t>רמה חמישית</a:t>
            </a:r>
            <a:endParaRPr kumimoji="0" lang="en-US"/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he-IL"/>
              <a:t>לחץ כדי לערוך סגנונות טקסט של תבנית בסיס</a:t>
            </a:r>
          </a:p>
          <a:p>
            <a:pPr lvl="1" eaLnBrk="1" latinLnBrk="0" hangingPunct="1"/>
            <a:r>
              <a:rPr lang="he-IL"/>
              <a:t>רמה שנייה</a:t>
            </a:r>
          </a:p>
          <a:p>
            <a:pPr lvl="2" eaLnBrk="1" latinLnBrk="0" hangingPunct="1"/>
            <a:r>
              <a:rPr lang="he-IL"/>
              <a:t>רמה שלישית</a:t>
            </a:r>
          </a:p>
          <a:p>
            <a:pPr lvl="3" eaLnBrk="1" latinLnBrk="0" hangingPunct="1"/>
            <a:r>
              <a:rPr lang="he-IL"/>
              <a:t>רמה רביעית</a:t>
            </a:r>
          </a:p>
          <a:p>
            <a:pPr lvl="4" eaLnBrk="1" latinLnBrk="0" hangingPunct="1"/>
            <a:r>
              <a:rPr lang="he-IL"/>
              <a:t>רמה חמישית</a:t>
            </a:r>
            <a:endParaRPr kumimoji="0" lang="en-US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C1FAE-8156-4CD8-9875-BB396665C8F1}" type="datetime8">
              <a:rPr lang="he-IL" smtClean="0"/>
              <a:t>13 נובמבר 25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מיכאלה משקוביץ'</a:t>
            </a:r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B3163-752A-4F30-8133-06B1B9326B1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852806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F2462-F0B8-45C8-B1C3-685A455C133A}" type="datetime8">
              <a:rPr lang="he-IL" smtClean="0"/>
              <a:t>13 נובמבר 25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מיכאלה משקוביץ'</a:t>
            </a:r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B3163-752A-4F30-8133-06B1B9326B1F}" type="slidenum">
              <a:rPr lang="he-IL" smtClean="0"/>
              <a:t>‹#›</a:t>
            </a:fld>
            <a:endParaRPr lang="he-IL"/>
          </a:p>
        </p:txBody>
      </p:sp>
      <p:sp>
        <p:nvSpPr>
          <p:cNvPr id="6" name="כותרת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he-IL"/>
              <a:t>לחץ כדי לערוך סגנון כותרת של תבנית בסיס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7013227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E6C03-DA3F-4D2B-8D52-BB702813B54E}" type="datetime8">
              <a:rPr lang="he-IL" smtClean="0"/>
              <a:t>13 נובמבר 25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מיכאלה משקוביץ'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B3163-752A-4F30-8133-06B1B9326B1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258915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תוכן עם כיתוב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he-IL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he-IL"/>
              <a:t>לחץ כדי לערוך סגנונות טקסט של תבנית בסיס</a:t>
            </a:r>
          </a:p>
          <a:p>
            <a:pPr lvl="1" eaLnBrk="1" latinLnBrk="0" hangingPunct="1"/>
            <a:r>
              <a:rPr lang="he-IL"/>
              <a:t>רמה שנייה</a:t>
            </a:r>
          </a:p>
          <a:p>
            <a:pPr lvl="2" eaLnBrk="1" latinLnBrk="0" hangingPunct="1"/>
            <a:r>
              <a:rPr lang="he-IL"/>
              <a:t>רמה שלישית</a:t>
            </a:r>
          </a:p>
          <a:p>
            <a:pPr lvl="3" eaLnBrk="1" latinLnBrk="0" hangingPunct="1"/>
            <a:r>
              <a:rPr lang="he-IL"/>
              <a:t>רמה רביעית</a:t>
            </a:r>
          </a:p>
          <a:p>
            <a:pPr lvl="4" eaLnBrk="1" latinLnBrk="0" hangingPunct="1"/>
            <a:r>
              <a:rPr lang="he-IL"/>
              <a:t>רמה חמישית</a:t>
            </a:r>
            <a:endParaRPr kumimoji="0" lang="en-US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219CB2EB-9F9C-4C72-AA4D-04E75042DE98}" type="datetime8">
              <a:rPr lang="he-IL" smtClean="0"/>
              <a:t>13 נובמבר 25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מיכאלה משקוביץ'</a:t>
            </a:r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B3163-752A-4F30-8133-06B1B9326B1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54263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תמונה עם כיתוב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he-IL"/>
              <a:t>לחץ כדי לערוך סגנונות טקסט של תבנית בסיס</a:t>
            </a:r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he-IL"/>
              <a:t>לחץ על הסמל כדי להוסיף תמונה</a:t>
            </a:r>
            <a:endParaRPr kumimoji="0" lang="en-US" dirty="0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542DE829-BF98-484E-80AF-8B8D3DC81ED4}" type="datetime8">
              <a:rPr lang="he-IL" smtClean="0"/>
              <a:t>13 נובמבר 25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r>
              <a:rPr lang="he-IL"/>
              <a:t>מיכאלה משקוביץ'</a:t>
            </a:r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C6B3163-752A-4F30-8133-06B1B9326B1F}" type="slidenum">
              <a:rPr lang="he-IL" smtClean="0"/>
              <a:t>‹#›</a:t>
            </a:fld>
            <a:endParaRPr lang="he-IL"/>
          </a:p>
        </p:txBody>
      </p:sp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he-IL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8" name="צורה חופשית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צורה חופשית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משולש ישר-זווית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מחבר ישר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סוגר זוויתי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סוגר זוויתי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6075484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he-IL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he-IL"/>
              <a:t>לחץ כדי לערוך סגנונות טקסט של תבנית בסיס</a:t>
            </a:r>
          </a:p>
          <a:p>
            <a:pPr lvl="1" eaLnBrk="1" latinLnBrk="0" hangingPunct="1"/>
            <a:r>
              <a:rPr lang="he-IL"/>
              <a:t>רמה שנייה</a:t>
            </a:r>
          </a:p>
          <a:p>
            <a:pPr lvl="2" eaLnBrk="1" latinLnBrk="0" hangingPunct="1"/>
            <a:r>
              <a:rPr lang="he-IL"/>
              <a:t>רמה שלישית</a:t>
            </a:r>
          </a:p>
          <a:p>
            <a:pPr lvl="3" eaLnBrk="1" latinLnBrk="0" hangingPunct="1"/>
            <a:r>
              <a:rPr lang="he-IL"/>
              <a:t>רמה רביעית</a:t>
            </a:r>
          </a:p>
          <a:p>
            <a:pPr lvl="4" eaLnBrk="1" latinLnBrk="0" hangingPunct="1"/>
            <a:r>
              <a:rPr lang="he-IL"/>
              <a:t>רמה חמישית</a:t>
            </a:r>
            <a:endParaRPr kumimoji="0"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CADCD-C198-4217-BE0B-9576AEF51443}" type="datetime8">
              <a:rPr lang="he-IL" smtClean="0"/>
              <a:t>13 נובמבר 25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מיכאלה משקוביץ'</a:t>
            </a: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B3163-752A-4F30-8133-06B1B9326B1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0078449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he-IL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he-IL"/>
              <a:t>לחץ כדי לערוך סגנונות טקסט של תבנית בסיס</a:t>
            </a:r>
          </a:p>
          <a:p>
            <a:pPr lvl="1" eaLnBrk="1" latinLnBrk="0" hangingPunct="1"/>
            <a:r>
              <a:rPr lang="he-IL"/>
              <a:t>רמה שנייה</a:t>
            </a:r>
          </a:p>
          <a:p>
            <a:pPr lvl="2" eaLnBrk="1" latinLnBrk="0" hangingPunct="1"/>
            <a:r>
              <a:rPr lang="he-IL"/>
              <a:t>רמה שלישית</a:t>
            </a:r>
          </a:p>
          <a:p>
            <a:pPr lvl="3" eaLnBrk="1" latinLnBrk="0" hangingPunct="1"/>
            <a:r>
              <a:rPr lang="he-IL"/>
              <a:t>רמה רביעית</a:t>
            </a:r>
          </a:p>
          <a:p>
            <a:pPr lvl="4" eaLnBrk="1" latinLnBrk="0" hangingPunct="1"/>
            <a:r>
              <a:rPr lang="he-IL"/>
              <a:t>רמה חמישית</a:t>
            </a:r>
            <a:endParaRPr kumimoji="0"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4D02F-7E40-4D63-8981-D12C602AA6E0}" type="datetime8">
              <a:rPr lang="he-IL" smtClean="0"/>
              <a:t>13 נובמבר 25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מיכאלה משקוביץ'</a:t>
            </a: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B3163-752A-4F30-8133-06B1B9326B1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40024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801DB473-3E96-4677-9A5F-5033A2EF991B}" type="datetime1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0A24AF92-42DA-4C17-AB33-95A624A1878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FAD12561-2794-4DB3-AF29-6D488383A28B}" type="datetime8">
              <a:rPr lang="he-IL" smtClean="0"/>
              <a:t>13 נובמבר 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he-IL"/>
              <a:t>אשנב לכלכלה - תרגול מספר 1</a:t>
            </a: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0A24AF92-42DA-4C17-AB33-95A624A18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015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צורה חופשית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צורה חופשית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משולש ישר-זווית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מחבר ישר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מציין מיקום של כותרת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he-IL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30" name="מציין מיקום טקסט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he-IL"/>
              <a:t>לחץ כדי לערוך סגנונות טקסט של תבנית בסיס</a:t>
            </a:r>
          </a:p>
          <a:p>
            <a:pPr lvl="1" eaLnBrk="1" latinLnBrk="0" hangingPunct="1"/>
            <a:r>
              <a:rPr kumimoji="0" lang="he-IL"/>
              <a:t>רמה שנייה</a:t>
            </a:r>
          </a:p>
          <a:p>
            <a:pPr lvl="2" eaLnBrk="1" latinLnBrk="0" hangingPunct="1"/>
            <a:r>
              <a:rPr kumimoji="0" lang="he-IL"/>
              <a:t>רמה שלישית</a:t>
            </a:r>
          </a:p>
          <a:p>
            <a:pPr lvl="3" eaLnBrk="1" latinLnBrk="0" hangingPunct="1"/>
            <a:r>
              <a:rPr kumimoji="0" lang="he-IL"/>
              <a:t>רמה רביעית</a:t>
            </a:r>
          </a:p>
          <a:p>
            <a:pPr lvl="4" eaLnBrk="1" latinLnBrk="0" hangingPunct="1"/>
            <a:r>
              <a:rPr kumimoji="0" lang="he-IL"/>
              <a:t>רמה חמישית</a:t>
            </a:r>
            <a:endParaRPr kumimoji="0" lang="en-US"/>
          </a:p>
        </p:txBody>
      </p:sp>
      <p:sp>
        <p:nvSpPr>
          <p:cNvPr id="10" name="מציין מיקום של תאריך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98E8534E-FC79-4FC5-B648-C5C36FCC4DD9}" type="datetime8">
              <a:rPr lang="he-IL" smtClean="0"/>
              <a:t>13 נובמבר 25</a:t>
            </a:fld>
            <a:endParaRPr lang="he-IL"/>
          </a:p>
        </p:txBody>
      </p:sp>
      <p:sp>
        <p:nvSpPr>
          <p:cNvPr id="22" name="מציין מיקום של כותרת תחתונה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r>
              <a:rPr lang="he-IL"/>
              <a:t>מיכאלה משקוביץ'</a:t>
            </a:r>
          </a:p>
        </p:txBody>
      </p:sp>
      <p:sp>
        <p:nvSpPr>
          <p:cNvPr id="18" name="מציין מיקום של מספר שקופית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FC6B3163-752A-4F30-8133-06B1B9326B1F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45850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rtl="1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r" rtl="1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r" rtl="1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r" rtl="1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r" rtl="1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r" rtl="1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r" rtl="1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r" rtl="1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r" rtl="1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r" rtl="1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30.png"/><Relationship Id="rId7" Type="http://schemas.openxmlformats.org/officeDocument/2006/relationships/image" Target="../media/image780.png"/><Relationship Id="rId12" Type="http://schemas.openxmlformats.org/officeDocument/2006/relationships/image" Target="../media/image9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86.png"/><Relationship Id="rId11" Type="http://schemas.openxmlformats.org/officeDocument/2006/relationships/image" Target="../media/image90.png"/><Relationship Id="rId5" Type="http://schemas.openxmlformats.org/officeDocument/2006/relationships/image" Target="../media/image850.png"/><Relationship Id="rId10" Type="http://schemas.openxmlformats.org/officeDocument/2006/relationships/image" Target="../media/image89.png"/><Relationship Id="rId4" Type="http://schemas.openxmlformats.org/officeDocument/2006/relationships/image" Target="../media/image840.png"/><Relationship Id="rId9" Type="http://schemas.openxmlformats.org/officeDocument/2006/relationships/image" Target="../media/image8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14.png"/><Relationship Id="rId7" Type="http://schemas.openxmlformats.org/officeDocument/2006/relationships/image" Target="../media/image118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png"/><Relationship Id="rId11" Type="http://schemas.openxmlformats.org/officeDocument/2006/relationships/image" Target="../media/image124.png"/><Relationship Id="rId5" Type="http://schemas.openxmlformats.org/officeDocument/2006/relationships/image" Target="../media/image116.png"/><Relationship Id="rId10" Type="http://schemas.openxmlformats.org/officeDocument/2006/relationships/image" Target="../media/image123.png"/><Relationship Id="rId4" Type="http://schemas.openxmlformats.org/officeDocument/2006/relationships/image" Target="../media/image115.png"/><Relationship Id="rId9" Type="http://schemas.openxmlformats.org/officeDocument/2006/relationships/image" Target="../media/image12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image" Target="../media/image114.png"/><Relationship Id="rId7" Type="http://schemas.openxmlformats.org/officeDocument/2006/relationships/image" Target="../media/image118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png"/><Relationship Id="rId11" Type="http://schemas.openxmlformats.org/officeDocument/2006/relationships/image" Target="../media/image124.png"/><Relationship Id="rId5" Type="http://schemas.openxmlformats.org/officeDocument/2006/relationships/image" Target="../media/image116.png"/><Relationship Id="rId10" Type="http://schemas.openxmlformats.org/officeDocument/2006/relationships/image" Target="../media/image123.png"/><Relationship Id="rId4" Type="http://schemas.openxmlformats.org/officeDocument/2006/relationships/image" Target="../media/image115.png"/><Relationship Id="rId9" Type="http://schemas.openxmlformats.org/officeDocument/2006/relationships/image" Target="../media/image12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image" Target="../media/image114.png"/><Relationship Id="rId7" Type="http://schemas.openxmlformats.org/officeDocument/2006/relationships/image" Target="../media/image118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png"/><Relationship Id="rId11" Type="http://schemas.openxmlformats.org/officeDocument/2006/relationships/image" Target="../media/image124.png"/><Relationship Id="rId5" Type="http://schemas.openxmlformats.org/officeDocument/2006/relationships/image" Target="../media/image116.png"/><Relationship Id="rId10" Type="http://schemas.openxmlformats.org/officeDocument/2006/relationships/image" Target="../media/image123.png"/><Relationship Id="rId4" Type="http://schemas.openxmlformats.org/officeDocument/2006/relationships/image" Target="../media/image115.png"/><Relationship Id="rId9" Type="http://schemas.openxmlformats.org/officeDocument/2006/relationships/image" Target="../media/image12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114.png"/><Relationship Id="rId7" Type="http://schemas.openxmlformats.org/officeDocument/2006/relationships/image" Target="../media/image118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png"/><Relationship Id="rId11" Type="http://schemas.openxmlformats.org/officeDocument/2006/relationships/image" Target="../media/image124.png"/><Relationship Id="rId5" Type="http://schemas.openxmlformats.org/officeDocument/2006/relationships/image" Target="../media/image116.png"/><Relationship Id="rId10" Type="http://schemas.openxmlformats.org/officeDocument/2006/relationships/image" Target="../media/image123.png"/><Relationship Id="rId4" Type="http://schemas.openxmlformats.org/officeDocument/2006/relationships/image" Target="../media/image115.png"/><Relationship Id="rId9" Type="http://schemas.openxmlformats.org/officeDocument/2006/relationships/image" Target="../media/image12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114.png"/><Relationship Id="rId7" Type="http://schemas.openxmlformats.org/officeDocument/2006/relationships/image" Target="../media/image118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png"/><Relationship Id="rId11" Type="http://schemas.openxmlformats.org/officeDocument/2006/relationships/image" Target="../media/image124.png"/><Relationship Id="rId5" Type="http://schemas.openxmlformats.org/officeDocument/2006/relationships/image" Target="../media/image116.png"/><Relationship Id="rId10" Type="http://schemas.openxmlformats.org/officeDocument/2006/relationships/image" Target="../media/image123.png"/><Relationship Id="rId4" Type="http://schemas.openxmlformats.org/officeDocument/2006/relationships/image" Target="../media/image115.png"/><Relationship Id="rId9" Type="http://schemas.openxmlformats.org/officeDocument/2006/relationships/image" Target="../media/image12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114.png"/><Relationship Id="rId7" Type="http://schemas.openxmlformats.org/officeDocument/2006/relationships/image" Target="../media/image118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png"/><Relationship Id="rId11" Type="http://schemas.openxmlformats.org/officeDocument/2006/relationships/image" Target="../media/image124.png"/><Relationship Id="rId5" Type="http://schemas.openxmlformats.org/officeDocument/2006/relationships/image" Target="../media/image116.png"/><Relationship Id="rId10" Type="http://schemas.openxmlformats.org/officeDocument/2006/relationships/image" Target="../media/image123.png"/><Relationship Id="rId4" Type="http://schemas.openxmlformats.org/officeDocument/2006/relationships/image" Target="../media/image115.png"/><Relationship Id="rId9" Type="http://schemas.openxmlformats.org/officeDocument/2006/relationships/image" Target="../media/image12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114.png"/><Relationship Id="rId7" Type="http://schemas.openxmlformats.org/officeDocument/2006/relationships/image" Target="../media/image118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png"/><Relationship Id="rId11" Type="http://schemas.openxmlformats.org/officeDocument/2006/relationships/image" Target="../media/image124.png"/><Relationship Id="rId5" Type="http://schemas.openxmlformats.org/officeDocument/2006/relationships/image" Target="../media/image116.png"/><Relationship Id="rId10" Type="http://schemas.openxmlformats.org/officeDocument/2006/relationships/image" Target="../media/image123.png"/><Relationship Id="rId4" Type="http://schemas.openxmlformats.org/officeDocument/2006/relationships/image" Target="../media/image115.png"/><Relationship Id="rId9" Type="http://schemas.openxmlformats.org/officeDocument/2006/relationships/image" Target="../media/image12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3" Type="http://schemas.openxmlformats.org/officeDocument/2006/relationships/image" Target="../media/image114.png"/><Relationship Id="rId7" Type="http://schemas.openxmlformats.org/officeDocument/2006/relationships/image" Target="../media/image118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png"/><Relationship Id="rId11" Type="http://schemas.openxmlformats.org/officeDocument/2006/relationships/image" Target="../media/image124.png"/><Relationship Id="rId5" Type="http://schemas.openxmlformats.org/officeDocument/2006/relationships/image" Target="../media/image116.png"/><Relationship Id="rId10" Type="http://schemas.openxmlformats.org/officeDocument/2006/relationships/image" Target="../media/image123.png"/><Relationship Id="rId4" Type="http://schemas.openxmlformats.org/officeDocument/2006/relationships/image" Target="../media/image115.png"/><Relationship Id="rId9" Type="http://schemas.openxmlformats.org/officeDocument/2006/relationships/image" Target="../media/image127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50.png"/><Relationship Id="rId7" Type="http://schemas.openxmlformats.org/officeDocument/2006/relationships/image" Target="../media/image9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11" Type="http://schemas.openxmlformats.org/officeDocument/2006/relationships/image" Target="../media/image130.png"/><Relationship Id="rId5" Type="http://schemas.openxmlformats.org/officeDocument/2006/relationships/image" Target="../media/image16.png"/><Relationship Id="rId10" Type="http://schemas.openxmlformats.org/officeDocument/2006/relationships/image" Target="../media/image120.png"/><Relationship Id="rId4" Type="http://schemas.openxmlformats.org/officeDocument/2006/relationships/image" Target="../media/image15.png"/><Relationship Id="rId9" Type="http://schemas.openxmlformats.org/officeDocument/2006/relationships/image" Target="../media/image11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7" Type="http://schemas.openxmlformats.org/officeDocument/2006/relationships/image" Target="../media/image200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e-IL" dirty="0"/>
              <a:t>המכללה האקדמית של תל אביב – יפו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rtl="1"/>
            <a:r>
              <a:rPr lang="he-IL" dirty="0"/>
              <a:t>עקומת התמורה- שאלות נוספות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636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21633-621B-1A09-A42C-523044472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3B4B21-DF21-FED2-D298-2B202E044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FC6B3163-752A-4F30-8133-06B1B9326B1F}" type="slidenum">
              <a:rPr lang="he-IL">
                <a:solidFill>
                  <a:prstClr val="black">
                    <a:tint val="75000"/>
                  </a:prstClr>
                </a:solidFill>
                <a:latin typeface="Calibri" panose="020F0502020204030204"/>
                <a:cs typeface="Arial" panose="020B0604020202020204" pitchFamily="34" charset="0"/>
              </a:rPr>
              <a:pPr defTabSz="685800"/>
              <a:t>2</a:t>
            </a:fld>
            <a:endParaRPr lang="he-IL">
              <a:solidFill>
                <a:prstClr val="black">
                  <a:tint val="75000"/>
                </a:prstClr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0EE2DF1A-9637-0140-3540-2B8D80565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8181" y="71199"/>
            <a:ext cx="1650014" cy="579030"/>
          </a:xfrm>
        </p:spPr>
        <p:txBody>
          <a:bodyPr>
            <a:normAutofit fontScale="90000"/>
          </a:bodyPr>
          <a:lstStyle/>
          <a:p>
            <a:pPr algn="r"/>
            <a:r>
              <a:rPr lang="he-IL" sz="3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שאלה 1</a:t>
            </a:r>
            <a:endParaRPr lang="en-US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865A7E4-F930-DA55-31CF-9BE974926DB0}"/>
              </a:ext>
            </a:extLst>
          </p:cNvPr>
          <p:cNvCxnSpPr>
            <a:cxnSpLocks/>
          </p:cNvCxnSpPr>
          <p:nvPr/>
        </p:nvCxnSpPr>
        <p:spPr>
          <a:xfrm>
            <a:off x="3594717" y="5198930"/>
            <a:ext cx="286749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946CD5D-8640-53C5-242C-73338319159B}"/>
              </a:ext>
            </a:extLst>
          </p:cNvPr>
          <p:cNvCxnSpPr>
            <a:cxnSpLocks/>
          </p:cNvCxnSpPr>
          <p:nvPr/>
        </p:nvCxnSpPr>
        <p:spPr>
          <a:xfrm flipV="1">
            <a:off x="3599893" y="1832833"/>
            <a:ext cx="26357" cy="33396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ADF1C97-CE77-7BC5-618B-CDEDCFD34F22}"/>
              </a:ext>
            </a:extLst>
          </p:cNvPr>
          <p:cNvSpPr txBox="1"/>
          <p:nvPr/>
        </p:nvSpPr>
        <p:spPr>
          <a:xfrm>
            <a:off x="6580799" y="5198930"/>
            <a:ext cx="1809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600" dirty="0">
                <a:solidFill>
                  <a:prstClr val="black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CA5BE23-D052-056A-67BF-69F4AD2C76B2}"/>
              </a:ext>
            </a:extLst>
          </p:cNvPr>
          <p:cNvSpPr txBox="1"/>
          <p:nvPr/>
        </p:nvSpPr>
        <p:spPr>
          <a:xfrm>
            <a:off x="3279358" y="1652035"/>
            <a:ext cx="2469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600" dirty="0">
                <a:solidFill>
                  <a:prstClr val="black"/>
                </a:solidFill>
                <a:latin typeface="Calibri" panose="020F0502020204030204"/>
              </a:rPr>
              <a:t>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497E116-6854-0207-B031-ADAA03F567D0}"/>
              </a:ext>
            </a:extLst>
          </p:cNvPr>
          <p:cNvSpPr txBox="1"/>
          <p:nvPr/>
        </p:nvSpPr>
        <p:spPr>
          <a:xfrm>
            <a:off x="5566950" y="4772290"/>
            <a:ext cx="621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he-IL" dirty="0">
                <a:solidFill>
                  <a:prstClr val="black"/>
                </a:solidFill>
                <a:latin typeface="Calibri" panose="020F0502020204030204"/>
              </a:rPr>
              <a:t>3-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B7728C0-16BC-6DE2-F413-5F8EC293B82A}"/>
              </a:ext>
            </a:extLst>
          </p:cNvPr>
          <p:cNvCxnSpPr>
            <a:cxnSpLocks/>
          </p:cNvCxnSpPr>
          <p:nvPr/>
        </p:nvCxnSpPr>
        <p:spPr>
          <a:xfrm>
            <a:off x="3626250" y="2119413"/>
            <a:ext cx="2561969" cy="305303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9320C0E2-665B-54EA-0897-CEF59253973A}"/>
              </a:ext>
            </a:extLst>
          </p:cNvPr>
          <p:cNvSpPr txBox="1"/>
          <p:nvPr/>
        </p:nvSpPr>
        <p:spPr>
          <a:xfrm>
            <a:off x="1117728" y="226662"/>
            <a:ext cx="6220453" cy="2764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685800" rtl="1">
              <a:lnSpc>
                <a:spcPct val="115000"/>
              </a:lnSpc>
              <a:spcAft>
                <a:spcPts val="600"/>
              </a:spcAft>
            </a:pPr>
            <a:r>
              <a:rPr lang="he-IL" sz="1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עקומת התמורה של משק מסוים הינה ליניארית. אם העלות הממוצעת לייצר 10 יחידות </a:t>
            </a:r>
            <a:r>
              <a:rPr lang="en-US" sz="1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lang="he-IL" sz="1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היא 3 יחידות, אז מה העלות השולית לייצור 5 יחידות </a:t>
            </a:r>
            <a:r>
              <a:rPr lang="en-US" sz="1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lang="he-IL" sz="1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? </a:t>
            </a:r>
          </a:p>
          <a:p>
            <a:pPr algn="r" rtl="1">
              <a:lnSpc>
                <a:spcPct val="150000"/>
              </a:lnSpc>
              <a:spcAft>
                <a:spcPts val="1000"/>
              </a:spcAft>
            </a:pPr>
            <a:r>
              <a:rPr lang="he-IL" sz="16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סמנו את התשובה הנכונה:</a:t>
            </a:r>
            <a:endParaRPr lang="en-IL" sz="1600" dirty="0">
              <a:effectLst/>
              <a:latin typeface="Cambria Math" panose="02040503050406030204" pitchFamily="18" charset="0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marL="342900" lvl="0" indent="-342900" algn="r" rtl="1">
              <a:buFont typeface="+mj-cs"/>
              <a:buAutoNum type="hebrew2Minus"/>
            </a:pPr>
            <a:r>
              <a:rPr lang="he-IL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1.5 </a:t>
            </a:r>
          </a:p>
          <a:p>
            <a:pPr marL="342900" lvl="0" indent="-342900" algn="r" rtl="1">
              <a:buFont typeface="+mj-cs"/>
              <a:buAutoNum type="hebrew2Minus"/>
            </a:pPr>
            <a:r>
              <a:rPr lang="he-IL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0.33 </a:t>
            </a:r>
          </a:p>
          <a:p>
            <a:pPr marL="342900" lvl="0" indent="-342900" algn="r" rtl="1">
              <a:buFont typeface="+mj-cs"/>
              <a:buAutoNum type="hebrew2Minus"/>
            </a:pPr>
            <a:r>
              <a:rPr lang="he-IL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10 </a:t>
            </a:r>
          </a:p>
          <a:p>
            <a:pPr marL="342900" lvl="0" indent="-342900" algn="r" rtl="1">
              <a:buFont typeface="+mj-cs"/>
              <a:buAutoNum type="hebrew2Minus"/>
            </a:pPr>
            <a:r>
              <a:rPr lang="he-IL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 </a:t>
            </a:r>
          </a:p>
          <a:p>
            <a:pPr marL="342900" lvl="0" indent="-342900" algn="r" rtl="1">
              <a:buFont typeface="+mj-cs"/>
              <a:buAutoNum type="hebrew2Minus"/>
            </a:pPr>
            <a:r>
              <a:rPr lang="he-IL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כל התשובות האחרות אינן נכונות. </a:t>
            </a:r>
            <a:endParaRPr lang="en-IL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defTabSz="685800">
              <a:lnSpc>
                <a:spcPct val="115000"/>
              </a:lnSpc>
              <a:spcAft>
                <a:spcPts val="600"/>
              </a:spcAft>
            </a:pPr>
            <a:endParaRPr lang="en-IL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A9BEFF7-FFE6-CFF3-A243-55E23475C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מיכאלה משקוביץ</a:t>
            </a:r>
          </a:p>
        </p:txBody>
      </p:sp>
    </p:spTree>
    <p:extLst>
      <p:ext uri="{BB962C8B-B14F-4D97-AF65-F5344CB8AC3E}">
        <p14:creationId xmlns:p14="http://schemas.microsoft.com/office/powerpoint/2010/main" val="2645456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/>
            <a:fld id="{FC6B3163-752A-4F30-8133-06B1B9326B1F}" type="slidenum">
              <a:rPr lang="he-IL">
                <a:solidFill>
                  <a:prstClr val="black">
                    <a:tint val="75000"/>
                  </a:prstClr>
                </a:solidFill>
                <a:latin typeface="Calibri" panose="020F0502020204030204"/>
                <a:cs typeface="Arial" panose="020B0604020202020204" pitchFamily="34" charset="0"/>
              </a:rPr>
              <a:pPr defTabSz="685800"/>
              <a:t>3</a:t>
            </a:fld>
            <a:endParaRPr lang="he-IL">
              <a:solidFill>
                <a:prstClr val="black">
                  <a:tint val="75000"/>
                </a:prstClr>
              </a:solidFill>
              <a:latin typeface="Calibri" panose="020F0502020204030204"/>
              <a:cs typeface="Arial" panose="020B0604020202020204" pitchFamily="34" charset="0"/>
            </a:endParaRPr>
          </a:p>
        </p:txBody>
      </p:sp>
      <p:sp>
        <p:nvSpPr>
          <p:cNvPr id="6" name="Title 4"/>
          <p:cNvSpPr>
            <a:spLocks noGrp="1"/>
          </p:cNvSpPr>
          <p:nvPr>
            <p:ph type="title"/>
          </p:nvPr>
        </p:nvSpPr>
        <p:spPr>
          <a:xfrm>
            <a:off x="7338181" y="71199"/>
            <a:ext cx="1650014" cy="579030"/>
          </a:xfrm>
        </p:spPr>
        <p:txBody>
          <a:bodyPr>
            <a:normAutofit fontScale="90000"/>
          </a:bodyPr>
          <a:lstStyle/>
          <a:p>
            <a:pPr algn="r"/>
            <a:r>
              <a:rPr lang="he-IL" sz="3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שאלה 1</a:t>
            </a:r>
            <a:endParaRPr lang="en-US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175902B6-EFA5-4793-9D6D-BEE5C74543AD}"/>
              </a:ext>
            </a:extLst>
          </p:cNvPr>
          <p:cNvCxnSpPr>
            <a:cxnSpLocks/>
          </p:cNvCxnSpPr>
          <p:nvPr/>
        </p:nvCxnSpPr>
        <p:spPr>
          <a:xfrm>
            <a:off x="3594717" y="5198930"/>
            <a:ext cx="286749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F974FE1-E254-4A0F-9CCF-DB5EF3DAB92B}"/>
              </a:ext>
            </a:extLst>
          </p:cNvPr>
          <p:cNvCxnSpPr>
            <a:cxnSpLocks/>
          </p:cNvCxnSpPr>
          <p:nvPr/>
        </p:nvCxnSpPr>
        <p:spPr>
          <a:xfrm flipV="1">
            <a:off x="3599893" y="1832833"/>
            <a:ext cx="26357" cy="33396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2FD477E5-976C-43F5-B4E5-9B6B2931B045}"/>
              </a:ext>
            </a:extLst>
          </p:cNvPr>
          <p:cNvSpPr txBox="1"/>
          <p:nvPr/>
        </p:nvSpPr>
        <p:spPr>
          <a:xfrm>
            <a:off x="6580799" y="5198930"/>
            <a:ext cx="1809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600" dirty="0">
                <a:solidFill>
                  <a:prstClr val="black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B7D8471-78EE-4F5F-8B77-5869535A46C3}"/>
              </a:ext>
            </a:extLst>
          </p:cNvPr>
          <p:cNvSpPr txBox="1"/>
          <p:nvPr/>
        </p:nvSpPr>
        <p:spPr>
          <a:xfrm>
            <a:off x="3279358" y="1652035"/>
            <a:ext cx="2469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en-US" sz="1600" dirty="0">
                <a:solidFill>
                  <a:prstClr val="black"/>
                </a:solidFill>
                <a:latin typeface="Calibri" panose="020F0502020204030204"/>
              </a:rPr>
              <a:t>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323D20D-8A7A-41E1-BDD7-0B0229571769}"/>
              </a:ext>
            </a:extLst>
          </p:cNvPr>
          <p:cNvSpPr txBox="1"/>
          <p:nvPr/>
        </p:nvSpPr>
        <p:spPr>
          <a:xfrm>
            <a:off x="5566950" y="4772290"/>
            <a:ext cx="621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he-IL" dirty="0">
                <a:solidFill>
                  <a:prstClr val="black"/>
                </a:solidFill>
                <a:latin typeface="Calibri" panose="020F0502020204030204"/>
              </a:rPr>
              <a:t>3-</a:t>
            </a:r>
            <a:endParaRPr lang="en-US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35F69F5-362D-4CB0-95BA-C0902D4BE49F}"/>
              </a:ext>
            </a:extLst>
          </p:cNvPr>
          <p:cNvCxnSpPr>
            <a:cxnSpLocks/>
          </p:cNvCxnSpPr>
          <p:nvPr/>
        </p:nvCxnSpPr>
        <p:spPr>
          <a:xfrm>
            <a:off x="3626250" y="2119413"/>
            <a:ext cx="2561969" cy="3053034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8D207C8D-5FE3-4755-8D6F-F57D4B7C92E1}"/>
              </a:ext>
            </a:extLst>
          </p:cNvPr>
          <p:cNvSpPr txBox="1"/>
          <p:nvPr/>
        </p:nvSpPr>
        <p:spPr>
          <a:xfrm>
            <a:off x="1117728" y="226662"/>
            <a:ext cx="6220453" cy="2764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685800" rtl="1">
              <a:lnSpc>
                <a:spcPct val="115000"/>
              </a:lnSpc>
              <a:spcAft>
                <a:spcPts val="600"/>
              </a:spcAft>
            </a:pPr>
            <a:r>
              <a:rPr lang="he-IL" sz="1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עקומת התמורה של משק מסוים הינה ליניארית. אם העלות הממוצעת לייצר 10 יחידות </a:t>
            </a:r>
            <a:r>
              <a:rPr lang="en-US" sz="1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lang="he-IL" sz="1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היא 3 יחידות, אז מה העלות השולית לייצור 5 יחידות </a:t>
            </a:r>
            <a:r>
              <a:rPr lang="en-US" sz="1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lang="he-IL" sz="1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? </a:t>
            </a:r>
          </a:p>
          <a:p>
            <a:pPr algn="r" rtl="1">
              <a:lnSpc>
                <a:spcPct val="150000"/>
              </a:lnSpc>
              <a:spcAft>
                <a:spcPts val="1000"/>
              </a:spcAft>
            </a:pPr>
            <a:r>
              <a:rPr lang="he-IL" sz="16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David" panose="020E0502060401010101" pitchFamily="34" charset="-79"/>
              </a:rPr>
              <a:t>סמנו את התשובה הנכונה:</a:t>
            </a:r>
            <a:endParaRPr lang="en-IL" sz="1600" dirty="0">
              <a:effectLst/>
              <a:latin typeface="Cambria Math" panose="02040503050406030204" pitchFamily="18" charset="0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marL="342900" lvl="0" indent="-342900" algn="r" rtl="1">
              <a:buFont typeface="+mj-cs"/>
              <a:buAutoNum type="hebrew2Minus"/>
            </a:pPr>
            <a:r>
              <a:rPr lang="he-IL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1.5 </a:t>
            </a:r>
          </a:p>
          <a:p>
            <a:pPr marL="342900" lvl="0" indent="-342900" algn="r" rtl="1">
              <a:buFont typeface="+mj-cs"/>
              <a:buAutoNum type="hebrew2Minus"/>
            </a:pPr>
            <a:r>
              <a:rPr lang="he-IL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0.33 </a:t>
            </a:r>
          </a:p>
          <a:p>
            <a:pPr marL="342900" lvl="0" indent="-342900" algn="r" rtl="1">
              <a:buFont typeface="+mj-cs"/>
              <a:buAutoNum type="hebrew2Minus"/>
            </a:pPr>
            <a:r>
              <a:rPr lang="he-IL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10 </a:t>
            </a:r>
          </a:p>
          <a:p>
            <a:pPr marL="342900" lvl="0" indent="-342900" algn="r" rtl="1">
              <a:buFont typeface="+mj-cs"/>
              <a:buAutoNum type="hebrew2Minus"/>
            </a:pPr>
            <a:r>
              <a:rPr lang="he-IL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 </a:t>
            </a:r>
          </a:p>
          <a:p>
            <a:pPr marL="342900" lvl="0" indent="-342900" algn="r" rtl="1">
              <a:buFont typeface="+mj-cs"/>
              <a:buAutoNum type="hebrew2Minus"/>
            </a:pPr>
            <a:r>
              <a:rPr lang="he-IL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כל התשובות האחרות אינן נכונות. </a:t>
            </a:r>
            <a:endParaRPr lang="en-IL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defTabSz="685800">
              <a:lnSpc>
                <a:spcPct val="115000"/>
              </a:lnSpc>
              <a:spcAft>
                <a:spcPts val="600"/>
              </a:spcAft>
            </a:pPr>
            <a:endParaRPr lang="en-IL" dirty="0">
              <a:solidFill>
                <a:prstClr val="black"/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CEAC86F-3AD4-419E-8D95-F5121E449919}"/>
              </a:ext>
            </a:extLst>
          </p:cNvPr>
          <p:cNvSpPr/>
          <p:nvPr/>
        </p:nvSpPr>
        <p:spPr>
          <a:xfrm>
            <a:off x="603504" y="1919486"/>
            <a:ext cx="2554662" cy="19965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r" defTabSz="685800" rtl="1">
              <a:lnSpc>
                <a:spcPct val="150000"/>
              </a:lnSpc>
            </a:pPr>
            <a:r>
              <a:rPr lang="he-IL" sz="1400" dirty="0">
                <a:solidFill>
                  <a:prstClr val="black"/>
                </a:solidFill>
                <a:latin typeface="Calibri" panose="020F0502020204030204"/>
                <a:cs typeface="Arial" panose="020B0604020202020204" pitchFamily="34" charset="0"/>
              </a:rPr>
              <a:t>לאורך עקומת תמורה ליניארית </a:t>
            </a:r>
            <a:br>
              <a:rPr lang="he-IL" sz="1400" dirty="0">
                <a:solidFill>
                  <a:prstClr val="black"/>
                </a:solidFill>
                <a:latin typeface="Calibri" panose="020F0502020204030204"/>
                <a:cs typeface="Arial" panose="020B0604020202020204" pitchFamily="34" charset="0"/>
              </a:rPr>
            </a:br>
            <a:r>
              <a:rPr lang="he-IL" sz="1400" dirty="0">
                <a:solidFill>
                  <a:prstClr val="black"/>
                </a:solidFill>
                <a:latin typeface="Calibri" panose="020F0502020204030204"/>
                <a:cs typeface="Arial" panose="020B0604020202020204" pitchFamily="34" charset="0"/>
              </a:rPr>
              <a:t>העלות האלטרנטיבית הממוצעת שווה לעלות השולית לייצור כל מוצר ולכן גם העלות השולית לייצור </a:t>
            </a:r>
            <a:r>
              <a:rPr lang="en-US" sz="1400" dirty="0">
                <a:solidFill>
                  <a:prstClr val="black"/>
                </a:solidFill>
                <a:latin typeface="Calibri" panose="020F0502020204030204"/>
                <a:cs typeface="Arial" panose="020B0604020202020204" pitchFamily="34" charset="0"/>
              </a:rPr>
              <a:t>10</a:t>
            </a:r>
            <a:r>
              <a:rPr lang="he-IL" sz="1400" dirty="0">
                <a:solidFill>
                  <a:prstClr val="black"/>
                </a:solidFill>
                <a:latin typeface="Calibri" panose="020F0502020204030204"/>
                <a:cs typeface="Arial" panose="020B0604020202020204" pitchFamily="34" charset="0"/>
              </a:rPr>
              <a:t> יחידות </a:t>
            </a:r>
            <a:r>
              <a:rPr lang="en-US" sz="1400" dirty="0">
                <a:solidFill>
                  <a:prstClr val="black"/>
                </a:solidFill>
                <a:latin typeface="Calibri" panose="020F0502020204030204"/>
                <a:cs typeface="Arial" panose="020B0604020202020204" pitchFamily="34" charset="0"/>
              </a:rPr>
              <a:t>X</a:t>
            </a:r>
            <a:r>
              <a:rPr lang="he-IL" sz="1400" dirty="0">
                <a:solidFill>
                  <a:prstClr val="black"/>
                </a:solidFill>
                <a:latin typeface="Calibri" panose="020F0502020204030204"/>
                <a:cs typeface="Arial" panose="020B0604020202020204" pitchFamily="34" charset="0"/>
              </a:rPr>
              <a:t> וגם לייצור 5 יחידות </a:t>
            </a:r>
            <a:r>
              <a:rPr lang="en-US" sz="1400" dirty="0">
                <a:solidFill>
                  <a:prstClr val="black"/>
                </a:solidFill>
                <a:latin typeface="Calibri" panose="020F0502020204030204"/>
                <a:cs typeface="Arial" panose="020B0604020202020204" pitchFamily="34" charset="0"/>
              </a:rPr>
              <a:t>X</a:t>
            </a:r>
            <a:r>
              <a:rPr lang="he-IL" sz="1400" dirty="0">
                <a:solidFill>
                  <a:prstClr val="black"/>
                </a:solidFill>
                <a:latin typeface="Calibri" panose="020F0502020204030204"/>
                <a:cs typeface="Arial" panose="020B0604020202020204" pitchFamily="34" charset="0"/>
              </a:rPr>
              <a:t> תהיה 3 יחידות </a:t>
            </a:r>
            <a:r>
              <a:rPr lang="en-US" sz="1400" dirty="0">
                <a:solidFill>
                  <a:prstClr val="black"/>
                </a:solidFill>
                <a:latin typeface="Calibri" panose="020F0502020204030204"/>
                <a:cs typeface="Arial" panose="020B0604020202020204" pitchFamily="34" charset="0"/>
              </a:rPr>
              <a:t>Y</a:t>
            </a:r>
            <a:r>
              <a:rPr lang="he-IL" sz="1400" dirty="0">
                <a:solidFill>
                  <a:prstClr val="black"/>
                </a:solidFill>
                <a:latin typeface="Calibri" panose="020F0502020204030204"/>
                <a:cs typeface="Arial" panose="020B0604020202020204" pitchFamily="34" charset="0"/>
              </a:rPr>
              <a:t>. </a:t>
            </a:r>
            <a:endParaRPr lang="en-IL" sz="14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2FF6538-A045-C948-25D2-D6AD6CAD8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מיכאלה משקוביץ</a:t>
            </a:r>
          </a:p>
        </p:txBody>
      </p:sp>
    </p:spTree>
    <p:extLst>
      <p:ext uri="{BB962C8B-B14F-4D97-AF65-F5344CB8AC3E}">
        <p14:creationId xmlns:p14="http://schemas.microsoft.com/office/powerpoint/2010/main" val="1642552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5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0159" y="861226"/>
            <a:ext cx="8229600" cy="3135630"/>
          </a:xfrm>
        </p:spPr>
        <p:txBody>
          <a:bodyPr>
            <a:normAutofit fontScale="85000" lnSpcReduction="20000"/>
          </a:bodyPr>
          <a:lstStyle/>
          <a:p>
            <a:pPr marL="0" indent="0" algn="r" rtl="1">
              <a:lnSpc>
                <a:spcPct val="150000"/>
              </a:lnSpc>
              <a:buNone/>
            </a:pPr>
            <a:r>
              <a:rPr lang="he-IL" sz="2000" dirty="0">
                <a:latin typeface="David" pitchFamily="34" charset="-79"/>
                <a:cs typeface="David" pitchFamily="34" charset="-79"/>
              </a:rPr>
              <a:t>שמעון הוא פקיד בבנק שעושה עבודות ניירת ולפעמים מחליף את משה המאבטח בבדיקת מבקרים, גם משה לפעמים עוזר לשמעון בעבודות הניירת.</a:t>
            </a:r>
          </a:p>
          <a:p>
            <a:pPr marL="0" indent="0" algn="r" rtl="1">
              <a:lnSpc>
                <a:spcPct val="150000"/>
              </a:lnSpc>
              <a:buNone/>
            </a:pPr>
            <a:r>
              <a:rPr lang="he-IL" sz="2000" dirty="0">
                <a:latin typeface="David" pitchFamily="34" charset="-79"/>
                <a:cs typeface="David" pitchFamily="34" charset="-79"/>
              </a:rPr>
              <a:t>שמעון יודע להדפיס </a:t>
            </a:r>
            <a:r>
              <a:rPr lang="he-IL" sz="2000" b="1" dirty="0">
                <a:solidFill>
                  <a:srgbClr val="C00000"/>
                </a:solidFill>
                <a:latin typeface="David" pitchFamily="34" charset="-79"/>
                <a:cs typeface="David" pitchFamily="34" charset="-79"/>
              </a:rPr>
              <a:t>2 מסמכים </a:t>
            </a:r>
            <a:r>
              <a:rPr lang="he-IL" sz="2000" dirty="0">
                <a:latin typeface="David" pitchFamily="34" charset="-79"/>
                <a:cs typeface="David" pitchFamily="34" charset="-79"/>
              </a:rPr>
              <a:t>בשעה ולבצע בדיקה של </a:t>
            </a:r>
            <a:r>
              <a:rPr lang="he-IL" sz="20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4 מבקרים </a:t>
            </a:r>
            <a:r>
              <a:rPr lang="he-IL" sz="2000" dirty="0">
                <a:latin typeface="David" pitchFamily="34" charset="-79"/>
                <a:cs typeface="David" pitchFamily="34" charset="-79"/>
              </a:rPr>
              <a:t>בשעה,</a:t>
            </a:r>
          </a:p>
          <a:p>
            <a:pPr marL="0" indent="0" algn="r" rtl="1">
              <a:lnSpc>
                <a:spcPct val="150000"/>
              </a:lnSpc>
              <a:buNone/>
            </a:pPr>
            <a:r>
              <a:rPr lang="he-IL" sz="2000" dirty="0">
                <a:latin typeface="David" pitchFamily="34" charset="-79"/>
                <a:cs typeface="David" pitchFamily="34" charset="-79"/>
              </a:rPr>
              <a:t>משה יודע להדפיס </a:t>
            </a:r>
            <a:r>
              <a:rPr lang="he-IL" sz="2000" b="1" dirty="0">
                <a:solidFill>
                  <a:srgbClr val="C00000"/>
                </a:solidFill>
                <a:latin typeface="David" pitchFamily="34" charset="-79"/>
                <a:cs typeface="David" pitchFamily="34" charset="-79"/>
              </a:rPr>
              <a:t>4 מסמכים </a:t>
            </a:r>
            <a:r>
              <a:rPr lang="he-IL" sz="2000" dirty="0">
                <a:latin typeface="David" pitchFamily="34" charset="-79"/>
                <a:cs typeface="David" pitchFamily="34" charset="-79"/>
              </a:rPr>
              <a:t>בשעה ולבצע בדיקה של </a:t>
            </a:r>
            <a:r>
              <a:rPr lang="he-IL" sz="20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12 מבקרים </a:t>
            </a:r>
            <a:r>
              <a:rPr lang="he-IL" sz="2000" dirty="0">
                <a:latin typeface="David" pitchFamily="34" charset="-79"/>
                <a:cs typeface="David" pitchFamily="34" charset="-79"/>
              </a:rPr>
              <a:t>בשעה.</a:t>
            </a:r>
          </a:p>
          <a:p>
            <a:pPr marL="0" indent="0" algn="r" rtl="1">
              <a:lnSpc>
                <a:spcPct val="150000"/>
              </a:lnSpc>
              <a:buNone/>
            </a:pPr>
            <a:r>
              <a:rPr lang="he-IL" sz="2000" dirty="0">
                <a:latin typeface="David" pitchFamily="34" charset="-79"/>
                <a:cs typeface="David" pitchFamily="34" charset="-79"/>
              </a:rPr>
              <a:t>יום עבודה בבנק הינו 10 שעות.</a:t>
            </a:r>
          </a:p>
          <a:p>
            <a:pPr marL="0" indent="0" algn="r" rtl="1">
              <a:lnSpc>
                <a:spcPct val="150000"/>
              </a:lnSpc>
              <a:buNone/>
            </a:pPr>
            <a:endParaRPr lang="he-IL" sz="2000" dirty="0">
              <a:latin typeface="David" pitchFamily="34" charset="-79"/>
              <a:cs typeface="David" pitchFamily="34" charset="-79"/>
            </a:endParaRPr>
          </a:p>
          <a:p>
            <a:pPr marL="457200" indent="-457200" algn="r" rtl="1">
              <a:lnSpc>
                <a:spcPct val="150000"/>
              </a:lnSpc>
              <a:buClrTx/>
              <a:buFont typeface="+mj-lt"/>
              <a:buAutoNum type="arabicPeriod"/>
            </a:pPr>
            <a:r>
              <a:rPr lang="he-IL" sz="2000" dirty="0">
                <a:latin typeface="David" pitchFamily="34" charset="-79"/>
                <a:cs typeface="David" pitchFamily="34" charset="-79"/>
              </a:rPr>
              <a:t>קבעו למי יש יתרון מוחלט.</a:t>
            </a:r>
          </a:p>
          <a:p>
            <a:pPr marL="457200" indent="-457200" algn="r" rtl="1">
              <a:lnSpc>
                <a:spcPct val="150000"/>
              </a:lnSpc>
              <a:buClrTx/>
              <a:buFont typeface="+mj-lt"/>
              <a:buAutoNum type="arabicPeriod"/>
            </a:pPr>
            <a:r>
              <a:rPr lang="he-IL" sz="2000" dirty="0">
                <a:latin typeface="David" pitchFamily="34" charset="-79"/>
                <a:cs typeface="David" pitchFamily="34" charset="-79"/>
              </a:rPr>
              <a:t>קבעו למי יש יתרון יחסי.</a:t>
            </a:r>
          </a:p>
          <a:p>
            <a:pPr algn="r" rtl="1"/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24AF92-42DA-4C17-AB33-95A624A1878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ea typeface="+mn-ea"/>
                <a:cs typeface="+mn-cs"/>
              </a:rPr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 Unicode"/>
              <a:ea typeface="+mn-ea"/>
              <a:cs typeface="+mn-cs"/>
            </a:endParaRPr>
          </a:p>
        </p:txBody>
      </p:sp>
      <p:sp>
        <p:nvSpPr>
          <p:cNvPr id="11" name="כותרת 1">
            <a:extLst>
              <a:ext uri="{FF2B5EF4-FFF2-40B4-BE49-F238E27FC236}">
                <a16:creationId xmlns:a16="http://schemas.microsoft.com/office/drawing/2014/main" id="{B4FAC048-C37C-904D-5A57-465DBBF54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361" y="304800"/>
            <a:ext cx="2012671" cy="418439"/>
          </a:xfrm>
        </p:spPr>
        <p:txBody>
          <a:bodyPr>
            <a:normAutofit fontScale="90000"/>
          </a:bodyPr>
          <a:lstStyle/>
          <a:p>
            <a:pPr algn="r"/>
            <a:r>
              <a:rPr lang="he-IL" sz="2400" u="sng" dirty="0"/>
              <a:t>שאלה </a:t>
            </a:r>
            <a:r>
              <a:rPr lang="en-US" sz="2400" u="sng" dirty="0"/>
              <a:t>2</a:t>
            </a:r>
            <a:endParaRPr lang="he-IL" sz="2400" u="sng" dirty="0"/>
          </a:p>
        </p:txBody>
      </p:sp>
    </p:spTree>
    <p:extLst>
      <p:ext uri="{BB962C8B-B14F-4D97-AF65-F5344CB8AC3E}">
        <p14:creationId xmlns:p14="http://schemas.microsoft.com/office/powerpoint/2010/main" val="3331276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E2BD9-953B-10CA-017E-233EC88F9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31BAA-256F-591C-0AC8-B60C4225F92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0159" y="861226"/>
            <a:ext cx="8229600" cy="3135630"/>
          </a:xfrm>
        </p:spPr>
        <p:txBody>
          <a:bodyPr>
            <a:normAutofit fontScale="85000" lnSpcReduction="20000"/>
          </a:bodyPr>
          <a:lstStyle/>
          <a:p>
            <a:pPr marL="0" indent="0" algn="r" rtl="1">
              <a:lnSpc>
                <a:spcPct val="150000"/>
              </a:lnSpc>
              <a:buNone/>
            </a:pPr>
            <a:r>
              <a:rPr lang="he-IL" sz="2000" dirty="0">
                <a:latin typeface="David" pitchFamily="34" charset="-79"/>
                <a:cs typeface="David" pitchFamily="34" charset="-79"/>
              </a:rPr>
              <a:t>שמעון הוא פקיד בבנק שעושה עבודות ניירת ולפעמים מחליף את משה המאבטח בבדיקת מבקרים, גם משה לפעמים עוזר לשמעון בעבודות הניירת.</a:t>
            </a:r>
          </a:p>
          <a:p>
            <a:pPr marL="0" indent="0" algn="r" rtl="1">
              <a:lnSpc>
                <a:spcPct val="150000"/>
              </a:lnSpc>
              <a:buNone/>
            </a:pPr>
            <a:r>
              <a:rPr lang="he-IL" sz="2000" dirty="0">
                <a:latin typeface="David" pitchFamily="34" charset="-79"/>
                <a:cs typeface="David" pitchFamily="34" charset="-79"/>
              </a:rPr>
              <a:t>שמעון יודע להדפיס </a:t>
            </a:r>
            <a:r>
              <a:rPr lang="he-IL" sz="2000" b="1" dirty="0">
                <a:solidFill>
                  <a:srgbClr val="C00000"/>
                </a:solidFill>
                <a:latin typeface="David" pitchFamily="34" charset="-79"/>
                <a:cs typeface="David" pitchFamily="34" charset="-79"/>
              </a:rPr>
              <a:t>2 מסמכים </a:t>
            </a:r>
            <a:r>
              <a:rPr lang="he-IL" sz="2000" dirty="0">
                <a:latin typeface="David" pitchFamily="34" charset="-79"/>
                <a:cs typeface="David" pitchFamily="34" charset="-79"/>
              </a:rPr>
              <a:t>בשעה ולבצע בדיקה של </a:t>
            </a:r>
            <a:r>
              <a:rPr lang="he-IL" sz="20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4 מבקרים </a:t>
            </a:r>
            <a:r>
              <a:rPr lang="he-IL" sz="2000" dirty="0">
                <a:latin typeface="David" pitchFamily="34" charset="-79"/>
                <a:cs typeface="David" pitchFamily="34" charset="-79"/>
              </a:rPr>
              <a:t>בשעה,</a:t>
            </a:r>
          </a:p>
          <a:p>
            <a:pPr marL="0" indent="0" algn="r" rtl="1">
              <a:lnSpc>
                <a:spcPct val="150000"/>
              </a:lnSpc>
              <a:buNone/>
            </a:pPr>
            <a:r>
              <a:rPr lang="he-IL" sz="2000" dirty="0">
                <a:latin typeface="David" pitchFamily="34" charset="-79"/>
                <a:cs typeface="David" pitchFamily="34" charset="-79"/>
              </a:rPr>
              <a:t>משה יודע להדפיס </a:t>
            </a:r>
            <a:r>
              <a:rPr lang="he-IL" sz="2000" b="1" dirty="0">
                <a:solidFill>
                  <a:srgbClr val="C00000"/>
                </a:solidFill>
                <a:latin typeface="David" pitchFamily="34" charset="-79"/>
                <a:cs typeface="David" pitchFamily="34" charset="-79"/>
              </a:rPr>
              <a:t>4 מסמכים </a:t>
            </a:r>
            <a:r>
              <a:rPr lang="he-IL" sz="2000" dirty="0">
                <a:latin typeface="David" pitchFamily="34" charset="-79"/>
                <a:cs typeface="David" pitchFamily="34" charset="-79"/>
              </a:rPr>
              <a:t>בשעה ולבצע בדיקה של </a:t>
            </a:r>
            <a:r>
              <a:rPr lang="he-IL" sz="2000" b="1" dirty="0">
                <a:solidFill>
                  <a:schemeClr val="bg2">
                    <a:lumMod val="50000"/>
                  </a:schemeClr>
                </a:solidFill>
                <a:latin typeface="David" pitchFamily="34" charset="-79"/>
                <a:cs typeface="David" pitchFamily="34" charset="-79"/>
              </a:rPr>
              <a:t>12 מבקרים </a:t>
            </a:r>
            <a:r>
              <a:rPr lang="he-IL" sz="2000" dirty="0">
                <a:latin typeface="David" pitchFamily="34" charset="-79"/>
                <a:cs typeface="David" pitchFamily="34" charset="-79"/>
              </a:rPr>
              <a:t>בשעה.</a:t>
            </a:r>
          </a:p>
          <a:p>
            <a:pPr marL="0" indent="0" algn="r" rtl="1">
              <a:lnSpc>
                <a:spcPct val="150000"/>
              </a:lnSpc>
              <a:buNone/>
            </a:pPr>
            <a:r>
              <a:rPr lang="he-IL" sz="2000" dirty="0">
                <a:latin typeface="David" pitchFamily="34" charset="-79"/>
                <a:cs typeface="David" pitchFamily="34" charset="-79"/>
              </a:rPr>
              <a:t>יום עבודה בבנק הינו 10 שעות.</a:t>
            </a:r>
          </a:p>
          <a:p>
            <a:pPr marL="0" indent="0" algn="r" rtl="1">
              <a:lnSpc>
                <a:spcPct val="150000"/>
              </a:lnSpc>
              <a:buNone/>
            </a:pPr>
            <a:endParaRPr lang="he-IL" sz="2000" dirty="0">
              <a:latin typeface="David" pitchFamily="34" charset="-79"/>
              <a:cs typeface="David" pitchFamily="34" charset="-79"/>
            </a:endParaRPr>
          </a:p>
          <a:p>
            <a:pPr marL="457200" indent="-457200" algn="r" rtl="1">
              <a:lnSpc>
                <a:spcPct val="150000"/>
              </a:lnSpc>
              <a:buClrTx/>
              <a:buFont typeface="+mj-lt"/>
              <a:buAutoNum type="arabicPeriod"/>
            </a:pPr>
            <a:r>
              <a:rPr lang="he-IL" sz="2000" dirty="0">
                <a:latin typeface="David" pitchFamily="34" charset="-79"/>
                <a:cs typeface="David" pitchFamily="34" charset="-79"/>
              </a:rPr>
              <a:t>קבעו למי יש יתרון מוחלט.</a:t>
            </a:r>
          </a:p>
          <a:p>
            <a:pPr marL="457200" indent="-457200" algn="r" rtl="1">
              <a:lnSpc>
                <a:spcPct val="150000"/>
              </a:lnSpc>
              <a:buClrTx/>
              <a:buFont typeface="+mj-lt"/>
              <a:buAutoNum type="arabicPeriod"/>
            </a:pPr>
            <a:r>
              <a:rPr lang="he-IL" sz="2000" dirty="0">
                <a:latin typeface="David" pitchFamily="34" charset="-79"/>
                <a:cs typeface="David" pitchFamily="34" charset="-79"/>
              </a:rPr>
              <a:t>קבעו למי יש יתרון יחסי.</a:t>
            </a:r>
          </a:p>
          <a:p>
            <a:pPr algn="r" rtl="1"/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B1DB2B-50B0-F61D-F51A-06B075296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24AF92-42DA-4C17-AB33-95A624A1878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ea typeface="+mn-ea"/>
                <a:cs typeface="+mn-cs"/>
              </a:rPr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 Unicode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2AA56D-89B8-4178-6B4B-C3DBE9C2E5BA}"/>
              </a:ext>
            </a:extLst>
          </p:cNvPr>
          <p:cNvSpPr/>
          <p:nvPr/>
        </p:nvSpPr>
        <p:spPr>
          <a:xfrm>
            <a:off x="572450" y="2923120"/>
            <a:ext cx="5464958" cy="785343"/>
          </a:xfrm>
          <a:prstGeom prst="rect">
            <a:avLst/>
          </a:prstGeom>
          <a:solidFill>
            <a:srgbClr val="F4D9FB"/>
          </a:solidFill>
        </p:spPr>
        <p:txBody>
          <a:bodyPr wrap="non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יתרון מוחלט יש ל</a:t>
            </a:r>
            <a:r>
              <a:rPr kumimoji="0" lang="he-IL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משה</a:t>
            </a: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 המאבטח הן בהדפסת מסמכים ( </a:t>
            </a: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4</a:t>
            </a: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 גדול מ</a:t>
            </a:r>
            <a:r>
              <a:rPr kumimoji="0" lang="he-IL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2</a:t>
            </a: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)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</a:b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		והן בבדיקת מבקרים (</a:t>
            </a:r>
            <a:r>
              <a:rPr kumimoji="0" lang="he-IL" sz="1600" b="1" i="0" u="none" strike="noStrike" kern="1200" cap="none" spc="0" normalizeH="0" baseline="0" noProof="0" dirty="0">
                <a:ln>
                  <a:noFill/>
                </a:ln>
                <a:solidFill>
                  <a:srgbClr val="DEF5FA">
                    <a:lumMod val="50000"/>
                  </a:srgbClr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12</a:t>
            </a: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 גדול מ</a:t>
            </a:r>
            <a:r>
              <a:rPr kumimoji="0" lang="he-IL" sz="1600" b="1" i="0" u="none" strike="noStrike" kern="1200" cap="none" spc="0" normalizeH="0" baseline="0" noProof="0" dirty="0">
                <a:ln>
                  <a:noFill/>
                </a:ln>
                <a:solidFill>
                  <a:srgbClr val="DEF5FA">
                    <a:lumMod val="50000"/>
                  </a:srgbClr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4</a:t>
            </a: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).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FAAD77-CA05-F43F-8240-B55D37A759C8}"/>
              </a:ext>
            </a:extLst>
          </p:cNvPr>
          <p:cNvSpPr/>
          <p:nvPr/>
        </p:nvSpPr>
        <p:spPr>
          <a:xfrm>
            <a:off x="2895600" y="4343401"/>
            <a:ext cx="5791200" cy="877163"/>
          </a:xfrm>
          <a:prstGeom prst="rect">
            <a:avLst/>
          </a:prstGeom>
          <a:solidFill>
            <a:srgbClr val="CCFFCC"/>
          </a:solidFill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למי מהם יש יתרון יחסי בייצור </a:t>
            </a:r>
            <a:r>
              <a:rPr kumimoji="0" lang="he-IL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מוצר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 X</a:t>
            </a:r>
            <a:r>
              <a:rPr kumimoji="0" lang="he-IL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(הדפסת מסמכים)? 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</a:b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למי שנאלץ לוותר על פחות יחידות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Y</a:t>
            </a: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 על מנת לייצר יחידת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X</a:t>
            </a: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 אחת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.</a:t>
            </a:r>
            <a:endParaRPr kumimoji="0" lang="he-IL" sz="20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avid" pitchFamily="34" charset="-79"/>
              <a:ea typeface="+mn-ea"/>
              <a:cs typeface="David" pitchFamily="34" charset="-79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349861-23A3-E8C5-27B8-2A12D44CAB8F}"/>
              </a:ext>
            </a:extLst>
          </p:cNvPr>
          <p:cNvSpPr/>
          <p:nvPr/>
        </p:nvSpPr>
        <p:spPr>
          <a:xfrm>
            <a:off x="2362200" y="5266731"/>
            <a:ext cx="6324600" cy="785343"/>
          </a:xfrm>
          <a:prstGeom prst="rect">
            <a:avLst/>
          </a:prstGeom>
          <a:solidFill>
            <a:srgbClr val="CCFFCC"/>
          </a:solidFill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שמעון יוותר על בדיקה של </a:t>
            </a:r>
            <a:r>
              <a:rPr kumimoji="0" lang="he-IL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2</a:t>
            </a: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 (=4:2) מבקרים כאשר מדפיס מסמך אחד,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</a:b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לעומת משה שיאלץ לותר על </a:t>
            </a:r>
            <a:r>
              <a:rPr kumimoji="0" lang="he-IL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3</a:t>
            </a: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 (=12:4) מבקרים כאשר מדפיס מסמך אחד. </a:t>
            </a:r>
            <a:endParaRPr kumimoji="0" lang="he-IL" sz="1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avid" pitchFamily="34" charset="-79"/>
              <a:ea typeface="+mn-ea"/>
              <a:cs typeface="David" pitchFamily="34" charset="-79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04E1FA-12F2-CEED-2299-60D4F0A04357}"/>
              </a:ext>
            </a:extLst>
          </p:cNvPr>
          <p:cNvSpPr/>
          <p:nvPr/>
        </p:nvSpPr>
        <p:spPr>
          <a:xfrm>
            <a:off x="614014" y="6143894"/>
            <a:ext cx="8083296" cy="461665"/>
          </a:xfrm>
          <a:prstGeom prst="rect">
            <a:avLst/>
          </a:prstGeom>
          <a:ln w="38100">
            <a:solidFill>
              <a:srgbClr val="CCFFCC"/>
            </a:solidFill>
          </a:ln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הויתור של </a:t>
            </a:r>
            <a:r>
              <a:rPr kumimoji="0" lang="he-IL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שמעון</a:t>
            </a: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 קטן יותר ולכן יש לו יתרון יחסי בהדפסת מסמכים (ייצור מוצר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X</a:t>
            </a: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)!</a:t>
            </a:r>
            <a:endParaRPr kumimoji="0" lang="he-IL" sz="1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David" pitchFamily="34" charset="-79"/>
              <a:ea typeface="+mn-ea"/>
              <a:cs typeface="David" pitchFamily="34" charset="-79"/>
            </a:endParaRPr>
          </a:p>
        </p:txBody>
      </p:sp>
      <p:sp>
        <p:nvSpPr>
          <p:cNvPr id="11" name="כותרת 1">
            <a:extLst>
              <a:ext uri="{FF2B5EF4-FFF2-40B4-BE49-F238E27FC236}">
                <a16:creationId xmlns:a16="http://schemas.microsoft.com/office/drawing/2014/main" id="{45DCEDEC-4440-711D-50A6-A28D5378B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4174" y="258707"/>
            <a:ext cx="2012671" cy="418439"/>
          </a:xfrm>
        </p:spPr>
        <p:txBody>
          <a:bodyPr>
            <a:normAutofit fontScale="90000"/>
          </a:bodyPr>
          <a:lstStyle/>
          <a:p>
            <a:pPr algn="r"/>
            <a:r>
              <a:rPr lang="he-IL" sz="2400" u="sng" dirty="0"/>
              <a:t>שאלה </a:t>
            </a:r>
            <a:r>
              <a:rPr lang="en-US" sz="2400" u="sng" dirty="0"/>
              <a:t>2</a:t>
            </a:r>
            <a:endParaRPr lang="he-IL" sz="2400" u="sng" dirty="0"/>
          </a:p>
        </p:txBody>
      </p:sp>
    </p:spTree>
    <p:extLst>
      <p:ext uri="{BB962C8B-B14F-4D97-AF65-F5344CB8AC3E}">
        <p14:creationId xmlns:p14="http://schemas.microsoft.com/office/powerpoint/2010/main" val="2875084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31364" y="908720"/>
            <a:ext cx="8604504" cy="1981199"/>
          </a:xfrm>
        </p:spPr>
        <p:txBody>
          <a:bodyPr>
            <a:noAutofit/>
          </a:bodyPr>
          <a:lstStyle/>
          <a:p>
            <a:pPr marL="0" indent="0" algn="r" rtl="1">
              <a:lnSpc>
                <a:spcPct val="150000"/>
              </a:lnSpc>
              <a:buNone/>
            </a:pPr>
            <a:r>
              <a:rPr lang="he-IL" sz="1800" dirty="0">
                <a:latin typeface="David" pitchFamily="34" charset="-79"/>
                <a:cs typeface="David" pitchFamily="34" charset="-79"/>
              </a:rPr>
              <a:t>שמעון הוא פקיד בבנק שעושה עבודות ניירת ולפעמים מחליף את משה המאבטח בבדיקת מבקרים, גם משה לפעמים עוזר לשמעון בעבודות הניירת. יום עבודה בבנק הינו 10 שעות.</a:t>
            </a:r>
          </a:p>
          <a:p>
            <a:pPr marL="0" indent="0" algn="r" rtl="1">
              <a:lnSpc>
                <a:spcPct val="150000"/>
              </a:lnSpc>
              <a:buNone/>
            </a:pPr>
            <a:r>
              <a:rPr lang="he-IL" sz="1800" dirty="0">
                <a:latin typeface="David" pitchFamily="34" charset="-79"/>
                <a:cs typeface="David" pitchFamily="34" charset="-79"/>
              </a:rPr>
              <a:t>שמעון יודע להדפיס 2 מסמכים בשעה ולבצע בדיקה של 4 מבקרים בשעה,</a:t>
            </a:r>
          </a:p>
          <a:p>
            <a:pPr marL="0" indent="0" algn="r" rtl="1">
              <a:lnSpc>
                <a:spcPct val="150000"/>
              </a:lnSpc>
              <a:buNone/>
            </a:pPr>
            <a:r>
              <a:rPr lang="he-IL" sz="1800" dirty="0">
                <a:latin typeface="David" pitchFamily="34" charset="-79"/>
                <a:cs typeface="David" pitchFamily="34" charset="-79"/>
              </a:rPr>
              <a:t>משה יודע להדפיס 4 מסמכים בשעה ולבצע בדיקה של 12 מבקרים בשעה.</a:t>
            </a:r>
          </a:p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800" dirty="0">
                <a:latin typeface="David" pitchFamily="34" charset="-79"/>
                <a:cs typeface="David" pitchFamily="34" charset="-79"/>
              </a:rPr>
              <a:t>ג. שרטטו את עקומת התמורה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24AF92-42DA-4C17-AB33-95A624A1878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ea typeface="+mn-ea"/>
                <a:cs typeface="+mn-cs"/>
              </a:rPr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 Unicode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טבלה 11"/>
              <p:cNvGraphicFramePr>
                <a:graphicFrameLocks noGrp="1"/>
              </p:cNvGraphicFramePr>
              <p:nvPr/>
            </p:nvGraphicFramePr>
            <p:xfrm>
              <a:off x="3428999" y="3581400"/>
              <a:ext cx="5382334" cy="2042309"/>
            </p:xfrm>
            <a:graphic>
              <a:graphicData uri="http://schemas.openxmlformats.org/drawingml/2006/table">
                <a:tbl>
                  <a:tblPr rtl="1" firstRow="1" bandRow="1">
                    <a:tableStyleId>{5C22544A-7EE6-4342-B048-85BDC9FD1C3A}</a:tableStyleId>
                  </a:tblPr>
                  <a:tblGrid>
                    <a:gridCol w="110962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0350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5105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21142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806715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29009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400" dirty="0"/>
                            <a:t>סוג</a:t>
                          </a:r>
                          <a:r>
                            <a:rPr lang="he-IL" sz="1400" baseline="0" dirty="0"/>
                            <a:t> עובד</a:t>
                          </a:r>
                          <a:endParaRPr lang="he-IL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400" dirty="0"/>
                            <a:t>כמות</a:t>
                          </a:r>
                          <a:r>
                            <a:rPr lang="he-IL" sz="1400" baseline="0" dirty="0"/>
                            <a:t> </a:t>
                          </a:r>
                          <a:r>
                            <a:rPr lang="en-US" sz="1400" baseline="0" dirty="0"/>
                            <a:t>X</a:t>
                          </a:r>
                          <a:r>
                            <a:rPr lang="he-IL" sz="1400" baseline="0" dirty="0"/>
                            <a:t> (מסמכים)</a:t>
                          </a:r>
                          <a:endParaRPr lang="he-IL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he-IL" sz="1400" dirty="0"/>
                            <a:t>כמות</a:t>
                          </a:r>
                          <a:r>
                            <a:rPr lang="he-IL" sz="1400" baseline="0" dirty="0"/>
                            <a:t> </a:t>
                          </a:r>
                          <a:r>
                            <a:rPr lang="en-US" sz="1400" baseline="0" dirty="0"/>
                            <a:t>Y</a:t>
                          </a:r>
                          <a:r>
                            <a:rPr lang="he-IL" sz="1400" baseline="0" dirty="0"/>
                            <a:t> (מבקרים)</a:t>
                          </a:r>
                          <a:endParaRPr lang="he-IL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1400" dirty="0" err="1"/>
                            <a:t>MCx</a:t>
                          </a:r>
                          <a:r>
                            <a:rPr lang="en-US" sz="1400" dirty="0"/>
                            <a:t> =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sz="18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num>
                                <m:den>
                                  <m:r>
                                    <a:rPr lang="en-US" sz="18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den>
                              </m:f>
                            </m:oMath>
                          </a14:m>
                          <a:endParaRPr lang="he-IL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MCY</a:t>
                          </a:r>
                          <a:r>
                            <a:rPr lang="en-US" sz="1100" dirty="0"/>
                            <a:t>=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sz="14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num>
                                <m:den>
                                  <m:r>
                                    <a:rPr lang="en-US" sz="14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den>
                              </m:f>
                            </m:oMath>
                          </a14:m>
                          <a:endParaRPr lang="he-IL" sz="1400" dirty="0"/>
                        </a:p>
                        <a:p>
                          <a:pPr algn="ctr" rtl="1"/>
                          <a:endParaRPr lang="he-IL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14072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400" b="1" baseline="0" dirty="0">
                              <a:solidFill>
                                <a:srgbClr val="7030A0"/>
                              </a:solidFill>
                            </a:rPr>
                            <a:t>שמעון הפקיד</a:t>
                          </a:r>
                          <a:endParaRPr lang="he-IL" sz="1400" b="1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endParaRPr lang="he-IL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95055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400" b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משה המאבטח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endParaRPr lang="he-IL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95055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400" b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</a:rPr>
                            <a:t>סה''כ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endParaRPr lang="he-IL" sz="1400" b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טבלה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20934237"/>
                  </p:ext>
                </p:extLst>
              </p:nvPr>
            </p:nvGraphicFramePr>
            <p:xfrm>
              <a:off x="3428999" y="3581400"/>
              <a:ext cx="5382334" cy="2042309"/>
            </p:xfrm>
            <a:graphic>
              <a:graphicData uri="http://schemas.openxmlformats.org/drawingml/2006/table">
                <a:tbl>
                  <a:tblPr rtl="1" firstRow="1" bandRow="1">
                    <a:tableStyleId>{5C22544A-7EE6-4342-B048-85BDC9FD1C3A}</a:tableStyleId>
                  </a:tblPr>
                  <a:tblGrid>
                    <a:gridCol w="110962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0350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05105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21142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806715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610934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400" dirty="0"/>
                            <a:t>סוג</a:t>
                          </a:r>
                          <a:r>
                            <a:rPr lang="he-IL" sz="1400" baseline="0" dirty="0"/>
                            <a:t> עובד</a:t>
                          </a:r>
                          <a:endParaRPr lang="he-IL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400" dirty="0"/>
                            <a:t>כמות</a:t>
                          </a:r>
                          <a:r>
                            <a:rPr lang="he-IL" sz="1400" baseline="0" dirty="0"/>
                            <a:t> </a:t>
                          </a:r>
                          <a:r>
                            <a:rPr lang="en-US" sz="1400" baseline="0" dirty="0"/>
                            <a:t>X</a:t>
                          </a:r>
                          <a:r>
                            <a:rPr lang="he-IL" sz="1400" baseline="0" dirty="0"/>
                            <a:t> (מסמכים)</a:t>
                          </a:r>
                          <a:endParaRPr lang="he-IL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he-IL" sz="1400" dirty="0"/>
                            <a:t>כמות</a:t>
                          </a:r>
                          <a:r>
                            <a:rPr lang="he-IL" sz="1400" baseline="0" dirty="0"/>
                            <a:t> </a:t>
                          </a:r>
                          <a:r>
                            <a:rPr lang="en-US" sz="1400" baseline="0" dirty="0"/>
                            <a:t>Y</a:t>
                          </a:r>
                          <a:r>
                            <a:rPr lang="he-IL" sz="1400" baseline="0" dirty="0"/>
                            <a:t> (מבקרים)</a:t>
                          </a:r>
                          <a:endParaRPr lang="he-IL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278392" t="-2970" r="-68342" b="-2346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570455" t="-2970" r="-3030" b="-2346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400" b="1" baseline="0" dirty="0">
                              <a:solidFill>
                                <a:srgbClr val="7030A0"/>
                              </a:solidFill>
                            </a:rPr>
                            <a:t>שמעון הפקיד</a:t>
                          </a:r>
                          <a:endParaRPr lang="he-IL" sz="1400" b="1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endParaRPr lang="he-IL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400" b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משה המאבטח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endParaRPr lang="he-IL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95055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400" b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</a:rPr>
                            <a:t>סה''כ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endParaRPr lang="he-IL" sz="1400" b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כותרת 1">
            <a:extLst>
              <a:ext uri="{FF2B5EF4-FFF2-40B4-BE49-F238E27FC236}">
                <a16:creationId xmlns:a16="http://schemas.microsoft.com/office/drawing/2014/main" id="{CBB9819A-1673-2276-620E-D100C0F67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7481" y="314310"/>
            <a:ext cx="2012671" cy="418439"/>
          </a:xfrm>
        </p:spPr>
        <p:txBody>
          <a:bodyPr>
            <a:normAutofit fontScale="90000"/>
          </a:bodyPr>
          <a:lstStyle/>
          <a:p>
            <a:pPr algn="r"/>
            <a:r>
              <a:rPr lang="he-IL" sz="2400" u="sng" dirty="0"/>
              <a:t>שאלה </a:t>
            </a:r>
            <a:r>
              <a:rPr lang="en-US" sz="2400" u="sng" dirty="0"/>
              <a:t>2</a:t>
            </a:r>
            <a:endParaRPr lang="he-IL" sz="2400" u="sng" dirty="0"/>
          </a:p>
        </p:txBody>
      </p:sp>
    </p:spTree>
    <p:extLst>
      <p:ext uri="{BB962C8B-B14F-4D97-AF65-F5344CB8AC3E}">
        <p14:creationId xmlns:p14="http://schemas.microsoft.com/office/powerpoint/2010/main" val="794315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990785" y="1286758"/>
            <a:ext cx="7004304" cy="1981199"/>
          </a:xfrm>
        </p:spPr>
        <p:txBody>
          <a:bodyPr>
            <a:noAutofit/>
          </a:bodyPr>
          <a:lstStyle/>
          <a:p>
            <a:pPr marL="0" indent="0" algn="r" rtl="1">
              <a:lnSpc>
                <a:spcPct val="150000"/>
              </a:lnSpc>
              <a:buNone/>
            </a:pPr>
            <a:r>
              <a:rPr lang="he-IL" sz="1400" dirty="0">
                <a:latin typeface="David" pitchFamily="34" charset="-79"/>
                <a:cs typeface="David" pitchFamily="34" charset="-79"/>
              </a:rPr>
              <a:t>שמעון הוא פקיד בבנק שעושה עבודות ניירת ולפעמים מחליף את משה המאבטח בבדיקת מבקרים, גם משה לפעמים עוזר לשמעון בעבודות הניירת. יום עבודה בבנק הינו 10 שעות.</a:t>
            </a:r>
          </a:p>
          <a:p>
            <a:pPr marL="0" indent="0" algn="r" rtl="1">
              <a:lnSpc>
                <a:spcPct val="150000"/>
              </a:lnSpc>
              <a:buNone/>
            </a:pPr>
            <a:r>
              <a:rPr lang="he-IL" sz="1400" dirty="0">
                <a:latin typeface="David" pitchFamily="34" charset="-79"/>
                <a:cs typeface="David" pitchFamily="34" charset="-79"/>
              </a:rPr>
              <a:t>שמעון יודע להדפיס 2 מסמכים בשעה ולבצע בדיקה של 4 מבקרים בשעה,</a:t>
            </a:r>
          </a:p>
          <a:p>
            <a:pPr marL="0" indent="0" algn="r" rtl="1">
              <a:lnSpc>
                <a:spcPct val="150000"/>
              </a:lnSpc>
              <a:buNone/>
            </a:pPr>
            <a:r>
              <a:rPr lang="he-IL" sz="1400" dirty="0">
                <a:latin typeface="David" pitchFamily="34" charset="-79"/>
                <a:cs typeface="David" pitchFamily="34" charset="-79"/>
              </a:rPr>
              <a:t>משה יודע להדפיס 4 מסמכים בשעה ולבצע בדיקה של 12 מבקרים בשעה.</a:t>
            </a:r>
          </a:p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400" dirty="0">
                <a:latin typeface="David" pitchFamily="34" charset="-79"/>
                <a:cs typeface="David" pitchFamily="34" charset="-79"/>
              </a:rPr>
              <a:t>ג. שרטטו את עקומת התמורה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24AF92-42DA-4C17-AB33-95A624A1878D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טבלה 11"/>
              <p:cNvGraphicFramePr>
                <a:graphicFrameLocks noGrp="1"/>
              </p:cNvGraphicFramePr>
              <p:nvPr/>
            </p:nvGraphicFramePr>
            <p:xfrm>
              <a:off x="3826403" y="3403648"/>
              <a:ext cx="5001332" cy="2482803"/>
            </p:xfrm>
            <a:graphic>
              <a:graphicData uri="http://schemas.openxmlformats.org/drawingml/2006/table">
                <a:tbl>
                  <a:tblPr rtl="1" firstRow="1" bandRow="1">
                    <a:tableStyleId>{5C22544A-7EE6-4342-B048-85BDC9FD1C3A}</a:tableStyleId>
                  </a:tblPr>
                  <a:tblGrid>
                    <a:gridCol w="86670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8699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7085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26034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11641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544830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400" dirty="0"/>
                            <a:t>סוג</a:t>
                          </a:r>
                          <a:r>
                            <a:rPr lang="he-IL" sz="1400" baseline="0" dirty="0"/>
                            <a:t> עובד</a:t>
                          </a:r>
                          <a:endParaRPr lang="he-IL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400" dirty="0"/>
                            <a:t>כמות</a:t>
                          </a:r>
                          <a:r>
                            <a:rPr lang="he-IL" sz="1400" baseline="0" dirty="0"/>
                            <a:t> </a:t>
                          </a:r>
                          <a:r>
                            <a:rPr lang="en-US" sz="1400" baseline="0" dirty="0"/>
                            <a:t>X</a:t>
                          </a:r>
                          <a:r>
                            <a:rPr lang="he-IL" sz="1400" baseline="0" dirty="0"/>
                            <a:t> (מסמכים)</a:t>
                          </a:r>
                          <a:endParaRPr lang="he-IL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he-IL" sz="1400" dirty="0"/>
                            <a:t>כמות</a:t>
                          </a:r>
                          <a:r>
                            <a:rPr lang="he-IL" sz="1400" baseline="0" dirty="0"/>
                            <a:t> </a:t>
                          </a:r>
                          <a:r>
                            <a:rPr lang="en-US" sz="1400" baseline="0" dirty="0"/>
                            <a:t>Y</a:t>
                          </a:r>
                          <a:r>
                            <a:rPr lang="he-IL" sz="1400" baseline="0" dirty="0"/>
                            <a:t> (מבקרים)</a:t>
                          </a:r>
                          <a:endParaRPr lang="he-IL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1400" dirty="0" err="1"/>
                            <a:t>MCx</a:t>
                          </a:r>
                          <a:r>
                            <a:rPr lang="en-US" sz="1400" dirty="0"/>
                            <a:t> =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sz="18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num>
                                <m:den>
                                  <m:r>
                                    <a:rPr lang="en-US" sz="18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den>
                              </m:f>
                            </m:oMath>
                          </a14:m>
                          <a:endParaRPr lang="he-IL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MCY</a:t>
                          </a:r>
                          <a:r>
                            <a:rPr lang="en-US" sz="1100" dirty="0"/>
                            <a:t>=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sz="14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num>
                                <m:den>
                                  <m:r>
                                    <a:rPr lang="en-US" sz="14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den>
                              </m:f>
                            </m:oMath>
                          </a14:m>
                          <a:endParaRPr lang="he-IL" sz="1400" dirty="0"/>
                        </a:p>
                        <a:p>
                          <a:pPr algn="ctr" rtl="1"/>
                          <a:endParaRPr lang="he-IL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95896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400" baseline="0" dirty="0">
                              <a:solidFill>
                                <a:srgbClr val="7030A0"/>
                              </a:solidFill>
                            </a:rPr>
                            <a:t>שמעון הפקיד</a:t>
                          </a:r>
                          <a:endParaRPr lang="he-IL" sz="1400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endParaRPr lang="he-IL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57813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400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משה המאבטח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endParaRPr lang="he-IL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26300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400" b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</a:rPr>
                            <a:t>סה''כ ביום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endParaRPr lang="he-IL" sz="1400" b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טבלה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75000193"/>
                  </p:ext>
                </p:extLst>
              </p:nvPr>
            </p:nvGraphicFramePr>
            <p:xfrm>
              <a:off x="3826403" y="3403648"/>
              <a:ext cx="5001332" cy="2482803"/>
            </p:xfrm>
            <a:graphic>
              <a:graphicData uri="http://schemas.openxmlformats.org/drawingml/2006/table">
                <a:tbl>
                  <a:tblPr rtl="1" firstRow="1" bandRow="1">
                    <a:tableStyleId>{5C22544A-7EE6-4342-B048-85BDC9FD1C3A}</a:tableStyleId>
                  </a:tblPr>
                  <a:tblGrid>
                    <a:gridCol w="86670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8699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7085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26034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11641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610934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400" dirty="0"/>
                            <a:t>סוג</a:t>
                          </a:r>
                          <a:r>
                            <a:rPr lang="he-IL" sz="1400" baseline="0" dirty="0"/>
                            <a:t> עובד</a:t>
                          </a:r>
                          <a:endParaRPr lang="he-IL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400" dirty="0"/>
                            <a:t>כמות</a:t>
                          </a:r>
                          <a:r>
                            <a:rPr lang="he-IL" sz="1400" baseline="0" dirty="0"/>
                            <a:t> </a:t>
                          </a:r>
                          <a:r>
                            <a:rPr lang="en-US" sz="1400" baseline="0" dirty="0"/>
                            <a:t>X</a:t>
                          </a:r>
                          <a:r>
                            <a:rPr lang="he-IL" sz="1400" baseline="0" dirty="0"/>
                            <a:t> (מסמכים)</a:t>
                          </a:r>
                          <a:endParaRPr lang="he-IL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he-IL" sz="1400" dirty="0"/>
                            <a:t>כמות</a:t>
                          </a:r>
                          <a:r>
                            <a:rPr lang="he-IL" sz="1400" baseline="0" dirty="0"/>
                            <a:t> </a:t>
                          </a:r>
                          <a:r>
                            <a:rPr lang="en-US" sz="1400" baseline="0" dirty="0"/>
                            <a:t>Y</a:t>
                          </a:r>
                          <a:r>
                            <a:rPr lang="he-IL" sz="1400" baseline="0" dirty="0"/>
                            <a:t> (מבקרים)</a:t>
                          </a:r>
                          <a:endParaRPr lang="he-IL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>
                        <a:blipFill>
                          <a:blip r:embed="rId2"/>
                          <a:stretch>
                            <a:fillRect l="-207692" t="-3000" r="-89904" b="-31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he-IL"/>
                        </a:p>
                      </a:txBody>
                      <a:tcPr>
                        <a:blipFill>
                          <a:blip r:embed="rId2"/>
                          <a:stretch>
                            <a:fillRect l="-349727" t="-3000" r="-2186" b="-31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95896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400" baseline="0" dirty="0">
                              <a:solidFill>
                                <a:srgbClr val="7030A0"/>
                              </a:solidFill>
                            </a:rPr>
                            <a:t>שמעון הפקיד</a:t>
                          </a:r>
                          <a:endParaRPr lang="he-IL" sz="1400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endParaRPr lang="he-IL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57813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400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משה המאבטח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endParaRPr lang="he-IL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400" b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</a:rPr>
                            <a:t>סה''כ ביום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endParaRPr lang="he-IL" sz="1400" b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/>
          <p:cNvSpPr txBox="1"/>
          <p:nvPr/>
        </p:nvSpPr>
        <p:spPr>
          <a:xfrm>
            <a:off x="7377739" y="4214069"/>
            <a:ext cx="553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Aharoni" panose="02010803020104030203" pitchFamily="2" charset="-79"/>
              </a:rPr>
              <a:t>20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40732" y="4223616"/>
            <a:ext cx="5152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erpetua"/>
                <a:ea typeface="+mn-ea"/>
                <a:cs typeface="Aharoni" panose="02010803020104030203" pitchFamily="2" charset="-79"/>
              </a:rPr>
              <a:t>40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267615" y="4161962"/>
                <a:ext cx="824265" cy="5524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he-IL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a:rPr kumimoji="0" lang="en-US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𝟒</m:t>
                          </m:r>
                        </m:num>
                        <m:den>
                          <m:r>
                            <a:rPr kumimoji="0" lang="en-US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𝟐</m:t>
                          </m:r>
                        </m:den>
                      </m:f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2</m:t>
                      </m:r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7615" y="4161962"/>
                <a:ext cx="824265" cy="55245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019749" y="4096987"/>
                <a:ext cx="1080734" cy="553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he-IL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a:rPr kumimoji="0" lang="en-US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𝟐</m:t>
                          </m:r>
                        </m:num>
                        <m:den>
                          <m:r>
                            <a:rPr kumimoji="0" lang="en-US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𝟒</m:t>
                          </m:r>
                        </m:den>
                      </m:f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he-IL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a:rPr kumimoji="0" lang="en-US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𝟏</m:t>
                          </m:r>
                        </m:num>
                        <m:den>
                          <m:r>
                            <a:rPr kumimoji="0" lang="en-US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𝟐</m:t>
                          </m:r>
                        </m:den>
                      </m:f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9749" y="4096987"/>
                <a:ext cx="1080734" cy="553357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7397802" y="4860837"/>
            <a:ext cx="51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erpetua"/>
                <a:ea typeface="+mn-ea"/>
                <a:cs typeface="Aharoni" panose="02010803020104030203" pitchFamily="2" charset="-79"/>
              </a:rPr>
              <a:t>40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99491" y="4861255"/>
            <a:ext cx="661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haroni" panose="02010803020104030203" pitchFamily="2" charset="-79"/>
              </a:rPr>
              <a:t>120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085750" y="4885102"/>
                <a:ext cx="1062550" cy="553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he-IL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a:rPr kumimoji="0" lang="en-US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𝟏𝟐</m:t>
                          </m:r>
                        </m:num>
                        <m:den>
                          <m:r>
                            <a:rPr kumimoji="0" lang="en-US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𝟒</m:t>
                          </m:r>
                        </m:den>
                      </m:f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3</m:t>
                      </m:r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5750" y="4885102"/>
                <a:ext cx="1062550" cy="55335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978878" y="4779253"/>
                <a:ext cx="1080734" cy="553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he-IL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a:rPr kumimoji="0" lang="en-US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𝟒</m:t>
                          </m:r>
                        </m:num>
                        <m:den>
                          <m:r>
                            <a:rPr kumimoji="0" lang="en-US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𝟏𝟐</m:t>
                          </m:r>
                        </m:den>
                      </m:f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he-IL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a:rPr kumimoji="0" lang="en-US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𝟏</m:t>
                          </m:r>
                        </m:num>
                        <m:den>
                          <m:r>
                            <a:rPr kumimoji="0" lang="en-US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𝟑</m:t>
                          </m:r>
                        </m:den>
                      </m:f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8878" y="4779253"/>
                <a:ext cx="1080734" cy="55335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7366395" y="5395062"/>
            <a:ext cx="585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Aharoni" panose="02010803020104030203" pitchFamily="2" charset="-79"/>
              </a:rPr>
              <a:t>60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90876" y="5368406"/>
            <a:ext cx="569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Aharoni" panose="02010803020104030203" pitchFamily="2" charset="-79"/>
              </a:rPr>
              <a:t>160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863319" y="2895600"/>
            <a:ext cx="0" cy="2971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863319" y="5867400"/>
            <a:ext cx="2108481" cy="14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3076456" y="5761592"/>
            <a:ext cx="83468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כמות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he-IL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he-IL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(מסמכים)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6304" y="2464713"/>
            <a:ext cx="83468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כמות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Y</a:t>
            </a:r>
            <a:r>
              <a:rPr kumimoji="0" lang="he-IL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he-IL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(מבקרים)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67270" y="5867400"/>
            <a:ext cx="690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Aharoni" panose="02010803020104030203" pitchFamily="2" charset="-79"/>
              </a:rPr>
              <a:t>60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06122" y="3144790"/>
            <a:ext cx="643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Aharoni" panose="02010803020104030203" pitchFamily="2" charset="-79"/>
              </a:rPr>
              <a:t>160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510801" y="5936375"/>
            <a:ext cx="3316934" cy="416011"/>
          </a:xfrm>
          <a:prstGeom prst="rect">
            <a:avLst/>
          </a:prstGeom>
          <a:ln w="28575"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מי מתמחה בייצור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X</a:t>
            </a: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 (יש לו יתרון יחסי)?</a:t>
            </a:r>
          </a:p>
        </p:txBody>
      </p:sp>
      <p:sp>
        <p:nvSpPr>
          <p:cNvPr id="28" name="Oval 27"/>
          <p:cNvSpPr/>
          <p:nvPr/>
        </p:nvSpPr>
        <p:spPr>
          <a:xfrm>
            <a:off x="5072923" y="3228574"/>
            <a:ext cx="1045778" cy="277169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29" name="5-Point Star 28"/>
          <p:cNvSpPr/>
          <p:nvPr/>
        </p:nvSpPr>
        <p:spPr>
          <a:xfrm>
            <a:off x="5856246" y="4080848"/>
            <a:ext cx="281244" cy="327434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318234" y="5874698"/>
            <a:ext cx="681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Aharoni" panose="02010803020104030203" pitchFamily="2" charset="-79"/>
              </a:rPr>
              <a:t>20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75504" y="3679622"/>
            <a:ext cx="672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Aharoni" panose="02010803020104030203" pitchFamily="2" charset="-79"/>
              </a:rPr>
              <a:t>120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1408388" y="3792785"/>
            <a:ext cx="148694" cy="1430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cxnSp>
        <p:nvCxnSpPr>
          <p:cNvPr id="34" name="Straight Connector 33"/>
          <p:cNvCxnSpPr/>
          <p:nvPr/>
        </p:nvCxnSpPr>
        <p:spPr>
          <a:xfrm>
            <a:off x="859148" y="3894021"/>
            <a:ext cx="607050" cy="0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V="1">
            <a:off x="1497917" y="3935793"/>
            <a:ext cx="16537" cy="1954494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855857" y="3321957"/>
            <a:ext cx="584284" cy="470828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1515753" y="3854275"/>
            <a:ext cx="1057427" cy="20131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/>
              <p:cNvSpPr/>
              <p:nvPr/>
            </p:nvSpPr>
            <p:spPr>
              <a:xfrm>
                <a:off x="975235" y="3643262"/>
                <a:ext cx="420308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he-IL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−</m:t>
                      </m:r>
                      <m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2</m:t>
                      </m:r>
                    </m:oMath>
                  </m:oMathPara>
                </a14:m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4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235" y="3643262"/>
                <a:ext cx="420308" cy="276999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2137818" y="5619106"/>
                <a:ext cx="420308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he-IL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−</m:t>
                      </m:r>
                      <m:r>
                        <a:rPr kumimoji="0" lang="he-IL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3</m:t>
                      </m:r>
                    </m:oMath>
                  </m:oMathPara>
                </a14:m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7818" y="5619106"/>
                <a:ext cx="420308" cy="276999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tangle 45"/>
          <p:cNvSpPr/>
          <p:nvPr/>
        </p:nvSpPr>
        <p:spPr>
          <a:xfrm rot="2317679">
            <a:off x="810929" y="3243153"/>
            <a:ext cx="7489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Perpetua"/>
                <a:ea typeface="+mn-ea"/>
                <a:cs typeface="Aharoni" panose="02010803020104030203" pitchFamily="2" charset="-79"/>
              </a:rPr>
              <a:t>שמעון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47" name="Rectangle 46"/>
          <p:cNvSpPr/>
          <p:nvPr/>
        </p:nvSpPr>
        <p:spPr>
          <a:xfrm rot="3409387">
            <a:off x="1962550" y="4460871"/>
            <a:ext cx="6399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Perpetua"/>
                <a:ea typeface="+mn-ea"/>
                <a:cs typeface="Aharoni" panose="02010803020104030203" pitchFamily="2" charset="-79"/>
              </a:rPr>
              <a:t>משה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Perpetua"/>
                <a:ea typeface="+mn-ea"/>
                <a:cs typeface="Aharoni" panose="02010803020104030203" pitchFamily="2" charset="-79"/>
              </a:rPr>
              <a:t>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898451" y="733553"/>
            <a:ext cx="7128097" cy="6155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ד. </a:t>
            </a: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מנהל הבנק מבקש לקבל 40 מבקרים (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Y</a:t>
            </a: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 ים) ביום, כמה מסמכים ניתן יהיה לייצר? </a:t>
            </a: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מהי הקצאת העובדים (מי מייצר איזה מוצר)?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David" pitchFamily="34" charset="-79"/>
              <a:ea typeface="+mn-ea"/>
              <a:cs typeface="David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/>
              <p:cNvSpPr/>
              <p:nvPr/>
            </p:nvSpPr>
            <p:spPr>
              <a:xfrm>
                <a:off x="1408388" y="2353759"/>
                <a:ext cx="1822935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𝐘</m:t>
                      </m:r>
                      <m:r>
                        <a:rPr kumimoji="0" lang="en-US" sz="1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=−</m:t>
                      </m:r>
                      <m:r>
                        <a:rPr kumimoji="0" lang="he-IL" sz="1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𝟑</m:t>
                      </m:r>
                      <m:r>
                        <a:rPr kumimoji="0" lang="en-US" sz="18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𝐗</m:t>
                      </m:r>
                      <m:r>
                        <a:rPr kumimoji="0" lang="en-US" sz="1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he-IL" sz="1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𝟏𝟖𝟎</m:t>
                      </m:r>
                    </m:oMath>
                  </m:oMathPara>
                </a14:m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Perpetua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9" name="Rectangle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388" y="2353759"/>
                <a:ext cx="1822935" cy="36933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/>
              <p:cNvSpPr/>
              <p:nvPr/>
            </p:nvSpPr>
            <p:spPr>
              <a:xfrm>
                <a:off x="1466198" y="2782022"/>
                <a:ext cx="2159757" cy="338554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6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𝐘</m:t>
                      </m:r>
                      <m:r>
                        <a:rPr kumimoji="0" lang="en-US" sz="16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he-IL" sz="16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𝟒𝟎</m:t>
                      </m:r>
                      <m:r>
                        <a:rPr kumimoji="0" lang="he-IL" sz="16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=−</m:t>
                      </m:r>
                      <m:r>
                        <a:rPr kumimoji="0" lang="he-IL" sz="16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𝟑</m:t>
                      </m:r>
                      <m:r>
                        <a:rPr kumimoji="0" lang="en-US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𝐗</m:t>
                      </m:r>
                      <m:r>
                        <a:rPr kumimoji="0" lang="en-US" sz="16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he-IL" sz="16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𝟏𝟖𝟎</m:t>
                      </m:r>
                    </m:oMath>
                  </m:oMathPara>
                </a14:m>
                <a:endPara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Perpetua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0" name="Rectangle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6198" y="2782022"/>
                <a:ext cx="2159757" cy="338554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/>
              <p:cNvSpPr/>
              <p:nvPr/>
            </p:nvSpPr>
            <p:spPr>
              <a:xfrm>
                <a:off x="1892923" y="3192954"/>
                <a:ext cx="1119409" cy="338554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he-IL" sz="16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𝟑</m:t>
                      </m:r>
                      <m:r>
                        <a:rPr kumimoji="0" lang="en-US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𝐗</m:t>
                      </m:r>
                      <m:r>
                        <a:rPr kumimoji="0" lang="he-IL" sz="16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r>
                        <a:rPr kumimoji="0" lang="he-IL" sz="16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𝟏𝟒𝟎</m:t>
                      </m:r>
                    </m:oMath>
                  </m:oMathPara>
                </a14:m>
                <a:endPara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Perpetua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1" name="Rectangle 5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2923" y="3192954"/>
                <a:ext cx="1119409" cy="338554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/>
              <p:cNvSpPr/>
              <p:nvPr/>
            </p:nvSpPr>
            <p:spPr>
              <a:xfrm>
                <a:off x="1889012" y="3635029"/>
                <a:ext cx="1318694" cy="338554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6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𝐗</m:t>
                      </m:r>
                      <m:r>
                        <a:rPr kumimoji="0" lang="he-IL" sz="16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r>
                        <a:rPr kumimoji="0" lang="he-IL" sz="16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𝟒𝟔</m:t>
                      </m:r>
                      <m:r>
                        <a:rPr kumimoji="0" lang="he-IL" sz="16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.</m:t>
                      </m:r>
                      <m:r>
                        <a:rPr kumimoji="0" lang="he-IL" sz="16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𝟔𝟔𝟕</m:t>
                      </m:r>
                    </m:oMath>
                  </m:oMathPara>
                </a14:m>
                <a:endPara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Perpetua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2" name="Rectangle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9012" y="3635029"/>
                <a:ext cx="1318694" cy="338554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Oval 42"/>
          <p:cNvSpPr/>
          <p:nvPr/>
        </p:nvSpPr>
        <p:spPr>
          <a:xfrm>
            <a:off x="2297381" y="5355060"/>
            <a:ext cx="148694" cy="14300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67628" y="5161774"/>
            <a:ext cx="1143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(46.7,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40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92937" y="6330884"/>
            <a:ext cx="3316934" cy="416011"/>
          </a:xfrm>
          <a:prstGeom prst="rect">
            <a:avLst/>
          </a:prstGeom>
          <a:ln w="28575">
            <a:solidFill>
              <a:srgbClr val="CCFFFF"/>
            </a:solidFill>
          </a:ln>
        </p:spPr>
        <p:txBody>
          <a:bodyPr wrap="non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מי מתמחה בייצור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Y</a:t>
            </a: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 (יש לו יתרון יחסי)?</a:t>
            </a:r>
          </a:p>
        </p:txBody>
      </p:sp>
      <p:sp>
        <p:nvSpPr>
          <p:cNvPr id="56" name="Oval 55"/>
          <p:cNvSpPr/>
          <p:nvPr/>
        </p:nvSpPr>
        <p:spPr>
          <a:xfrm>
            <a:off x="3961785" y="2995652"/>
            <a:ext cx="1045778" cy="2771695"/>
          </a:xfrm>
          <a:prstGeom prst="ellipse">
            <a:avLst/>
          </a:prstGeom>
          <a:noFill/>
          <a:ln w="28575">
            <a:solidFill>
              <a:srgbClr val="CC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92D050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57" name="5-Point Star 56"/>
          <p:cNvSpPr/>
          <p:nvPr/>
        </p:nvSpPr>
        <p:spPr>
          <a:xfrm>
            <a:off x="4739146" y="4670014"/>
            <a:ext cx="281244" cy="327434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6730D3-41E6-412A-ADBB-49340FDEBD58}"/>
              </a:ext>
            </a:extLst>
          </p:cNvPr>
          <p:cNvSpPr txBox="1"/>
          <p:nvPr/>
        </p:nvSpPr>
        <p:spPr>
          <a:xfrm>
            <a:off x="1408388" y="6174747"/>
            <a:ext cx="37161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Aharoni" panose="02010803020104030203" pitchFamily="2" charset="-79"/>
              </a:rPr>
              <a:t>4. משה בודק 40 יח'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Y</a:t>
            </a: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Aharoni" panose="02010803020104030203" pitchFamily="2" charset="-79"/>
              </a:rPr>
              <a:t> ומדפיס 26.66 יח'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X</a:t>
            </a: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Aharoni" panose="02010803020104030203" pitchFamily="2" charset="-79"/>
              </a:rPr>
              <a:t>.  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</a:b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Aharoni" panose="02010803020104030203" pitchFamily="2" charset="-79"/>
              </a:rPr>
              <a:t>שמעון מדפיס 20 יח'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X</a:t>
            </a: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Aharoni" panose="02010803020104030203" pitchFamily="2" charset="-79"/>
              </a:rPr>
              <a:t> </a:t>
            </a:r>
            <a:endParaRPr kumimoji="0" lang="en-IL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8DC65B-16E9-4BD7-A9BA-25D96E7D2A86}"/>
              </a:ext>
            </a:extLst>
          </p:cNvPr>
          <p:cNvSpPr txBox="1"/>
          <p:nvPr/>
        </p:nvSpPr>
        <p:spPr>
          <a:xfrm>
            <a:off x="666719" y="3120576"/>
            <a:ext cx="276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A</a:t>
            </a:r>
            <a:endParaRPr kumimoji="0" lang="en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72412B-565B-475E-8C97-191F1ECFC440}"/>
              </a:ext>
            </a:extLst>
          </p:cNvPr>
          <p:cNvSpPr txBox="1"/>
          <p:nvPr/>
        </p:nvSpPr>
        <p:spPr>
          <a:xfrm>
            <a:off x="1578564" y="3757679"/>
            <a:ext cx="80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B</a:t>
            </a:r>
            <a:endParaRPr kumimoji="0" lang="en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37CED7-EFD0-44A9-97AF-7BB05B8658DC}"/>
              </a:ext>
            </a:extLst>
          </p:cNvPr>
          <p:cNvSpPr txBox="1"/>
          <p:nvPr/>
        </p:nvSpPr>
        <p:spPr>
          <a:xfrm>
            <a:off x="2485248" y="5618774"/>
            <a:ext cx="260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C</a:t>
            </a:r>
            <a:endParaRPr kumimoji="0" lang="en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53" name="כותרת 1">
            <a:extLst>
              <a:ext uri="{FF2B5EF4-FFF2-40B4-BE49-F238E27FC236}">
                <a16:creationId xmlns:a16="http://schemas.microsoft.com/office/drawing/2014/main" id="{79E4D0DB-CC52-A438-953E-C528314FF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8423" y="149806"/>
            <a:ext cx="2012671" cy="418439"/>
          </a:xfrm>
        </p:spPr>
        <p:txBody>
          <a:bodyPr>
            <a:normAutofit fontScale="90000"/>
          </a:bodyPr>
          <a:lstStyle/>
          <a:p>
            <a:pPr algn="r"/>
            <a:r>
              <a:rPr lang="he-IL" sz="2400" u="sng" dirty="0"/>
              <a:t>שאלה </a:t>
            </a:r>
            <a:r>
              <a:rPr lang="en-US" sz="2400" u="sng" dirty="0"/>
              <a:t>2</a:t>
            </a:r>
            <a:endParaRPr lang="he-IL" sz="2400" u="sng" dirty="0"/>
          </a:p>
        </p:txBody>
      </p:sp>
    </p:spTree>
    <p:extLst>
      <p:ext uri="{BB962C8B-B14F-4D97-AF65-F5344CB8AC3E}">
        <p14:creationId xmlns:p14="http://schemas.microsoft.com/office/powerpoint/2010/main" val="4023249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9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2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5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5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23" grpId="0"/>
      <p:bldP spid="24" grpId="0"/>
      <p:bldP spid="25" grpId="0"/>
      <p:bldP spid="26" grpId="0"/>
      <p:bldP spid="27" grpId="0" animBg="1"/>
      <p:bldP spid="28" grpId="0" animBg="1"/>
      <p:bldP spid="29" grpId="0" animBg="1"/>
      <p:bldP spid="30" grpId="0"/>
      <p:bldP spid="31" grpId="0"/>
      <p:bldP spid="32" grpId="0" animBg="1"/>
      <p:bldP spid="44" grpId="0"/>
      <p:bldP spid="45" grpId="0"/>
      <p:bldP spid="46" grpId="0"/>
      <p:bldP spid="47" grpId="0"/>
      <p:bldP spid="48" grpId="0" animBg="1"/>
      <p:bldP spid="49" grpId="0" animBg="1"/>
      <p:bldP spid="50" grpId="0" animBg="1"/>
      <p:bldP spid="51" grpId="0" animBg="1"/>
      <p:bldP spid="52" grpId="0" animBg="1"/>
      <p:bldP spid="43" grpId="0" animBg="1"/>
      <p:bldP spid="16" grpId="0"/>
      <p:bldP spid="55" grpId="0" animBg="1"/>
      <p:bldP spid="56" grpId="0" animBg="1"/>
      <p:bldP spid="57" grpId="0" animBg="1"/>
      <p:bldP spid="19" grpId="0"/>
      <p:bldP spid="20" grpId="0"/>
      <p:bldP spid="21" grpId="0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66719" y="209298"/>
            <a:ext cx="7004304" cy="1549274"/>
          </a:xfrm>
        </p:spPr>
        <p:txBody>
          <a:bodyPr>
            <a:noAutofit/>
          </a:bodyPr>
          <a:lstStyle/>
          <a:p>
            <a:pPr marL="0" indent="0" algn="r" rtl="1">
              <a:lnSpc>
                <a:spcPct val="150000"/>
              </a:lnSpc>
              <a:buNone/>
            </a:pPr>
            <a:r>
              <a:rPr lang="he-IL" sz="1400" dirty="0">
                <a:latin typeface="David" pitchFamily="34" charset="-79"/>
                <a:cs typeface="David" pitchFamily="34" charset="-79"/>
              </a:rPr>
              <a:t>שמעון הוא פקיד בבנק שעושה עבודות ניירת ולפעמים מחליף את משה המאבטח בבדיקת מבקרים, גם משה לפעמים עוזר לשמעון בעבודות הניירת. יום עבודה בבנק הינו 10 שעות.</a:t>
            </a:r>
          </a:p>
          <a:p>
            <a:pPr marL="0" indent="0" algn="r" rtl="1">
              <a:lnSpc>
                <a:spcPct val="150000"/>
              </a:lnSpc>
              <a:buNone/>
            </a:pPr>
            <a:r>
              <a:rPr lang="he-IL" sz="1400" dirty="0">
                <a:latin typeface="David" pitchFamily="34" charset="-79"/>
                <a:cs typeface="David" pitchFamily="34" charset="-79"/>
              </a:rPr>
              <a:t>שמעון יודע להדפיס 2 מסמכים בשעה ולבצע בדיקה של 4 מבקרים בשעה,</a:t>
            </a:r>
          </a:p>
          <a:p>
            <a:pPr marL="0" indent="0" algn="r" rtl="1">
              <a:lnSpc>
                <a:spcPct val="150000"/>
              </a:lnSpc>
              <a:buNone/>
            </a:pPr>
            <a:r>
              <a:rPr lang="he-IL" sz="1400" dirty="0">
                <a:latin typeface="David" pitchFamily="34" charset="-79"/>
                <a:cs typeface="David" pitchFamily="34" charset="-79"/>
              </a:rPr>
              <a:t>משה יודע להדפיס 4 מסמכים בשעה ולבצע בדיקה של 12 מבקרים בשעה.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24AF92-42DA-4C17-AB33-95A624A1878D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טבלה 11"/>
              <p:cNvGraphicFramePr>
                <a:graphicFrameLocks noGrp="1"/>
              </p:cNvGraphicFramePr>
              <p:nvPr/>
            </p:nvGraphicFramePr>
            <p:xfrm>
              <a:off x="3826403" y="3403648"/>
              <a:ext cx="5001332" cy="2482803"/>
            </p:xfrm>
            <a:graphic>
              <a:graphicData uri="http://schemas.openxmlformats.org/drawingml/2006/table">
                <a:tbl>
                  <a:tblPr rtl="1" firstRow="1" bandRow="1">
                    <a:tableStyleId>{5C22544A-7EE6-4342-B048-85BDC9FD1C3A}</a:tableStyleId>
                  </a:tblPr>
                  <a:tblGrid>
                    <a:gridCol w="86670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8699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7085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26034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11641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544830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400" dirty="0"/>
                            <a:t>סוג</a:t>
                          </a:r>
                          <a:r>
                            <a:rPr lang="he-IL" sz="1400" baseline="0" dirty="0"/>
                            <a:t> עובד</a:t>
                          </a:r>
                          <a:endParaRPr lang="he-IL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400" dirty="0"/>
                            <a:t>כמות</a:t>
                          </a:r>
                          <a:r>
                            <a:rPr lang="he-IL" sz="1400" baseline="0" dirty="0"/>
                            <a:t> </a:t>
                          </a:r>
                          <a:r>
                            <a:rPr lang="en-US" sz="1400" baseline="0" dirty="0"/>
                            <a:t>X</a:t>
                          </a:r>
                          <a:r>
                            <a:rPr lang="he-IL" sz="1400" baseline="0" dirty="0"/>
                            <a:t> (מסמכים)</a:t>
                          </a:r>
                          <a:endParaRPr lang="he-IL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he-IL" sz="1400" dirty="0"/>
                            <a:t>כמות</a:t>
                          </a:r>
                          <a:r>
                            <a:rPr lang="he-IL" sz="1400" baseline="0" dirty="0"/>
                            <a:t> </a:t>
                          </a:r>
                          <a:r>
                            <a:rPr lang="en-US" sz="1400" baseline="0" dirty="0"/>
                            <a:t>Y</a:t>
                          </a:r>
                          <a:r>
                            <a:rPr lang="he-IL" sz="1400" baseline="0" dirty="0"/>
                            <a:t> (מבקרים)</a:t>
                          </a:r>
                          <a:endParaRPr lang="he-IL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1400" dirty="0" err="1"/>
                            <a:t>MCx</a:t>
                          </a:r>
                          <a:r>
                            <a:rPr lang="en-US" sz="1400" dirty="0"/>
                            <a:t> =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sz="18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num>
                                <m:den>
                                  <m:r>
                                    <a:rPr lang="en-US" sz="18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den>
                              </m:f>
                            </m:oMath>
                          </a14:m>
                          <a:endParaRPr lang="he-IL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400" dirty="0"/>
                            <a:t>MCY</a:t>
                          </a:r>
                          <a:r>
                            <a:rPr lang="en-US" sz="1100" dirty="0"/>
                            <a:t>=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sz="14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num>
                                <m:den>
                                  <m:r>
                                    <a:rPr lang="en-US" sz="14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den>
                              </m:f>
                            </m:oMath>
                          </a14:m>
                          <a:endParaRPr lang="he-IL" sz="1400" dirty="0"/>
                        </a:p>
                        <a:p>
                          <a:pPr algn="ctr" rtl="1"/>
                          <a:endParaRPr lang="he-IL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95896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400" baseline="0" dirty="0">
                              <a:solidFill>
                                <a:srgbClr val="7030A0"/>
                              </a:solidFill>
                            </a:rPr>
                            <a:t>שמעון הפקיד</a:t>
                          </a:r>
                          <a:endParaRPr lang="he-IL" sz="1400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endParaRPr lang="he-IL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57813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400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משה המאבטח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endParaRPr lang="he-IL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26300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400" b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</a:rPr>
                            <a:t>סה''כ ביום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endParaRPr lang="he-IL" sz="1400" b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טבלה 11"/>
              <p:cNvGraphicFramePr>
                <a:graphicFrameLocks noGrp="1"/>
              </p:cNvGraphicFramePr>
              <p:nvPr/>
            </p:nvGraphicFramePr>
            <p:xfrm>
              <a:off x="3826403" y="3403648"/>
              <a:ext cx="5001332" cy="2482803"/>
            </p:xfrm>
            <a:graphic>
              <a:graphicData uri="http://schemas.openxmlformats.org/drawingml/2006/table">
                <a:tbl>
                  <a:tblPr rtl="1" firstRow="1" bandRow="1">
                    <a:tableStyleId>{5C22544A-7EE6-4342-B048-85BDC9FD1C3A}</a:tableStyleId>
                  </a:tblPr>
                  <a:tblGrid>
                    <a:gridCol w="86670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8699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7085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26034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11641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610934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400" dirty="0"/>
                            <a:t>סוג</a:t>
                          </a:r>
                          <a:r>
                            <a:rPr lang="he-IL" sz="1400" baseline="0" dirty="0"/>
                            <a:t> עובד</a:t>
                          </a:r>
                          <a:endParaRPr lang="he-IL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400" dirty="0"/>
                            <a:t>כמות</a:t>
                          </a:r>
                          <a:r>
                            <a:rPr lang="he-IL" sz="1400" baseline="0" dirty="0"/>
                            <a:t> </a:t>
                          </a:r>
                          <a:r>
                            <a:rPr lang="en-US" sz="1400" baseline="0" dirty="0"/>
                            <a:t>X</a:t>
                          </a:r>
                          <a:r>
                            <a:rPr lang="he-IL" sz="1400" baseline="0" dirty="0"/>
                            <a:t> (מסמכים)</a:t>
                          </a:r>
                          <a:endParaRPr lang="he-IL" sz="1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he-IL" sz="1400" dirty="0"/>
                            <a:t>כמות</a:t>
                          </a:r>
                          <a:r>
                            <a:rPr lang="he-IL" sz="1400" baseline="0" dirty="0"/>
                            <a:t> </a:t>
                          </a:r>
                          <a:r>
                            <a:rPr lang="en-US" sz="1400" baseline="0" dirty="0"/>
                            <a:t>Y</a:t>
                          </a:r>
                          <a:r>
                            <a:rPr lang="he-IL" sz="1400" baseline="0" dirty="0"/>
                            <a:t> (מבקרים)</a:t>
                          </a:r>
                          <a:endParaRPr lang="he-IL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207692" t="-3000" r="-89904" b="-31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349727" t="-3000" r="-2186" b="-31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95896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400" baseline="0" dirty="0">
                              <a:solidFill>
                                <a:srgbClr val="7030A0"/>
                              </a:solidFill>
                            </a:rPr>
                            <a:t>שמעון הפקיד</a:t>
                          </a:r>
                          <a:endParaRPr lang="he-IL" sz="1400" dirty="0">
                            <a:solidFill>
                              <a:srgbClr val="7030A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endParaRPr lang="he-IL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57813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400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</a:rPr>
                            <a:t>משה המאבטח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endParaRPr lang="he-IL" sz="1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400" b="1" dirty="0">
                              <a:solidFill>
                                <a:schemeClr val="bg2">
                                  <a:lumMod val="50000"/>
                                </a:schemeClr>
                              </a:solidFill>
                            </a:rPr>
                            <a:t>סה''כ ביום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endParaRPr lang="he-IL" sz="1400" b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TextBox 5"/>
          <p:cNvSpPr txBox="1"/>
          <p:nvPr/>
        </p:nvSpPr>
        <p:spPr>
          <a:xfrm>
            <a:off x="7377739" y="4214069"/>
            <a:ext cx="553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Aharoni" panose="02010803020104030203" pitchFamily="2" charset="-79"/>
              </a:rPr>
              <a:t>20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40732" y="4223616"/>
            <a:ext cx="5152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erpetua"/>
                <a:ea typeface="+mn-ea"/>
                <a:cs typeface="Aharoni" panose="02010803020104030203" pitchFamily="2" charset="-79"/>
              </a:rPr>
              <a:t>40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267615" y="4161962"/>
                <a:ext cx="824265" cy="5524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he-IL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a:rPr kumimoji="0" lang="en-US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𝟒</m:t>
                          </m:r>
                        </m:num>
                        <m:den>
                          <m:r>
                            <a:rPr kumimoji="0" lang="en-US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𝟐</m:t>
                          </m:r>
                        </m:den>
                      </m:f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2</m:t>
                      </m:r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7615" y="4161962"/>
                <a:ext cx="824265" cy="5524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019749" y="4096987"/>
                <a:ext cx="1080734" cy="553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he-IL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a:rPr kumimoji="0" lang="en-US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𝟐</m:t>
                          </m:r>
                        </m:num>
                        <m:den>
                          <m:r>
                            <a:rPr kumimoji="0" lang="en-US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𝟒</m:t>
                          </m:r>
                        </m:den>
                      </m:f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he-IL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a:rPr kumimoji="0" lang="en-US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𝟏</m:t>
                          </m:r>
                        </m:num>
                        <m:den>
                          <m:r>
                            <a:rPr kumimoji="0" lang="en-US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𝟐</m:t>
                          </m:r>
                        </m:den>
                      </m:f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9749" y="4096987"/>
                <a:ext cx="1080734" cy="5533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7397802" y="4860837"/>
            <a:ext cx="512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Perpetua"/>
                <a:ea typeface="+mn-ea"/>
                <a:cs typeface="Aharoni" panose="02010803020104030203" pitchFamily="2" charset="-79"/>
              </a:rPr>
              <a:t>40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99491" y="4861255"/>
            <a:ext cx="661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Aharoni" panose="02010803020104030203" pitchFamily="2" charset="-79"/>
              </a:rPr>
              <a:t>120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085750" y="4885102"/>
                <a:ext cx="1062550" cy="553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he-IL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a:rPr kumimoji="0" lang="en-US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𝟏𝟐</m:t>
                          </m:r>
                        </m:num>
                        <m:den>
                          <m:r>
                            <a:rPr kumimoji="0" lang="en-US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𝟒</m:t>
                          </m:r>
                        </m:den>
                      </m:f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3</m:t>
                      </m:r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𝑦</m:t>
                      </m:r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5750" y="4885102"/>
                <a:ext cx="1062550" cy="55335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978878" y="4779253"/>
                <a:ext cx="1080734" cy="553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0" lang="he-IL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a:rPr kumimoji="0" lang="en-US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𝟒</m:t>
                          </m:r>
                        </m:num>
                        <m:den>
                          <m:r>
                            <a:rPr kumimoji="0" lang="en-US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𝟏𝟐</m:t>
                          </m:r>
                        </m:den>
                      </m:f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he-IL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r>
                            <a:rPr kumimoji="0" lang="en-US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𝟏</m:t>
                          </m:r>
                        </m:num>
                        <m:den>
                          <m:r>
                            <a:rPr kumimoji="0" lang="en-US" sz="16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𝟑</m:t>
                          </m:r>
                        </m:den>
                      </m:f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𝑥</m:t>
                      </m:r>
                    </m:oMath>
                  </m:oMathPara>
                </a14:m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8878" y="4779253"/>
                <a:ext cx="1080734" cy="55335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7366395" y="5395062"/>
            <a:ext cx="585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Aharoni" panose="02010803020104030203" pitchFamily="2" charset="-79"/>
              </a:rPr>
              <a:t>60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90876" y="5368406"/>
            <a:ext cx="569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Aharoni" panose="02010803020104030203" pitchFamily="2" charset="-79"/>
              </a:rPr>
              <a:t>160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863319" y="2895600"/>
            <a:ext cx="0" cy="2971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863319" y="5867400"/>
            <a:ext cx="2108481" cy="145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3076456" y="5761592"/>
            <a:ext cx="83468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כמות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he-IL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he-IL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(מסמכים)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6304" y="2464713"/>
            <a:ext cx="83468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כמות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Y</a:t>
            </a:r>
            <a:r>
              <a:rPr kumimoji="0" lang="he-IL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b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he-IL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(מבקרים)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67270" y="5867400"/>
            <a:ext cx="6903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Aharoni" panose="02010803020104030203" pitchFamily="2" charset="-79"/>
              </a:rPr>
              <a:t>60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06122" y="3144790"/>
            <a:ext cx="643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Aharoni" panose="02010803020104030203" pitchFamily="2" charset="-79"/>
              </a:rPr>
              <a:t>160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29" name="5-Point Star 28"/>
          <p:cNvSpPr/>
          <p:nvPr/>
        </p:nvSpPr>
        <p:spPr>
          <a:xfrm>
            <a:off x="5856246" y="4080848"/>
            <a:ext cx="281244" cy="327434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318234" y="5874698"/>
            <a:ext cx="681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Aharoni" panose="02010803020104030203" pitchFamily="2" charset="-79"/>
              </a:rPr>
              <a:t>20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75504" y="3679622"/>
            <a:ext cx="672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Aharoni" panose="02010803020104030203" pitchFamily="2" charset="-79"/>
              </a:rPr>
              <a:t>120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1408388" y="3792785"/>
            <a:ext cx="148694" cy="1430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cxnSp>
        <p:nvCxnSpPr>
          <p:cNvPr id="34" name="Straight Connector 33"/>
          <p:cNvCxnSpPr/>
          <p:nvPr/>
        </p:nvCxnSpPr>
        <p:spPr>
          <a:xfrm>
            <a:off x="859148" y="3894021"/>
            <a:ext cx="607050" cy="0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V="1">
            <a:off x="1497917" y="3935793"/>
            <a:ext cx="16537" cy="1954494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855857" y="3321957"/>
            <a:ext cx="584284" cy="470828"/>
          </a:xfrm>
          <a:prstGeom prst="line">
            <a:avLst/>
          </a:prstGeom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1515753" y="3854275"/>
            <a:ext cx="1057427" cy="20131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/>
              <p:cNvSpPr/>
              <p:nvPr/>
            </p:nvSpPr>
            <p:spPr>
              <a:xfrm>
                <a:off x="975235" y="3643262"/>
                <a:ext cx="420308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he-IL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−</m:t>
                      </m:r>
                      <m:r>
                        <a:rPr kumimoji="0" lang="en-US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2</m:t>
                      </m:r>
                    </m:oMath>
                  </m:oMathPara>
                </a14:m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4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235" y="3643262"/>
                <a:ext cx="420308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2137818" y="5619106"/>
                <a:ext cx="420308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he-IL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−</m:t>
                      </m:r>
                      <m:r>
                        <a:rPr kumimoji="0" lang="he-IL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</a:rPr>
                        <m:t>3</m:t>
                      </m:r>
                    </m:oMath>
                  </m:oMathPara>
                </a14:m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7818" y="5619106"/>
                <a:ext cx="420308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tangle 45"/>
          <p:cNvSpPr/>
          <p:nvPr/>
        </p:nvSpPr>
        <p:spPr>
          <a:xfrm rot="2317679">
            <a:off x="810929" y="3243153"/>
            <a:ext cx="7489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Perpetua"/>
                <a:ea typeface="+mn-ea"/>
                <a:cs typeface="Aharoni" panose="02010803020104030203" pitchFamily="2" charset="-79"/>
              </a:rPr>
              <a:t>שמעון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47" name="Rectangle 46"/>
          <p:cNvSpPr/>
          <p:nvPr/>
        </p:nvSpPr>
        <p:spPr>
          <a:xfrm rot="3409387">
            <a:off x="1962550" y="4460871"/>
            <a:ext cx="6399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Perpetua"/>
                <a:ea typeface="+mn-ea"/>
                <a:cs typeface="Aharoni" panose="02010803020104030203" pitchFamily="2" charset="-79"/>
              </a:rPr>
              <a:t>משה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Perpetua"/>
                <a:ea typeface="+mn-ea"/>
                <a:cs typeface="Aharoni" panose="02010803020104030203" pitchFamily="2" charset="-79"/>
              </a:rPr>
              <a:t>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1717181" y="1881880"/>
            <a:ext cx="7128097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ה</a:t>
            </a: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vid" pitchFamily="34" charset="-79"/>
                <a:ea typeface="+mn-ea"/>
                <a:cs typeface="David" pitchFamily="34" charset="-79"/>
              </a:rPr>
              <a:t>. 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Unicode"/>
                <a:ea typeface="+mn-ea"/>
                <a:cs typeface="Arial" panose="020B0604020202020204" pitchFamily="34" charset="0"/>
              </a:rPr>
              <a:t>אם ידוע כי הוחלט בבנק שמשה יעסוק גם בהדפסת מסמכים וגם בבדיקה של מבקרים, מה אפשר להסיק לגבי כמות המסמכים ששמעון יבדוק? </a:t>
            </a:r>
            <a:endParaRPr kumimoji="0" lang="en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 Unicode"/>
              <a:ea typeface="+mn-ea"/>
              <a:cs typeface="+mn-cs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1910996" y="4729848"/>
            <a:ext cx="363726" cy="391157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57" name="5-Point Star 56"/>
          <p:cNvSpPr/>
          <p:nvPr/>
        </p:nvSpPr>
        <p:spPr>
          <a:xfrm>
            <a:off x="4739146" y="4670014"/>
            <a:ext cx="281244" cy="327434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6730D3-41E6-412A-ADBB-49340FDEBD58}"/>
              </a:ext>
            </a:extLst>
          </p:cNvPr>
          <p:cNvSpPr txBox="1"/>
          <p:nvPr/>
        </p:nvSpPr>
        <p:spPr>
          <a:xfrm>
            <a:off x="3826403" y="2766009"/>
            <a:ext cx="33301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Perpetua"/>
                <a:ea typeface="+mn-ea"/>
                <a:cs typeface="Aharoni" panose="02010803020104030203" pitchFamily="2" charset="-79"/>
              </a:rPr>
              <a:t>שמעון יבדוק 20 מסמכים</a:t>
            </a:r>
            <a:endParaRPr kumimoji="0" lang="en-IL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8DC65B-16E9-4BD7-A9BA-25D96E7D2A86}"/>
              </a:ext>
            </a:extLst>
          </p:cNvPr>
          <p:cNvSpPr txBox="1"/>
          <p:nvPr/>
        </p:nvSpPr>
        <p:spPr>
          <a:xfrm>
            <a:off x="666719" y="3120576"/>
            <a:ext cx="276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A</a:t>
            </a:r>
            <a:endParaRPr kumimoji="0" lang="en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72412B-565B-475E-8C97-191F1ECFC440}"/>
              </a:ext>
            </a:extLst>
          </p:cNvPr>
          <p:cNvSpPr txBox="1"/>
          <p:nvPr/>
        </p:nvSpPr>
        <p:spPr>
          <a:xfrm>
            <a:off x="1578564" y="3757679"/>
            <a:ext cx="80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B</a:t>
            </a:r>
            <a:endParaRPr kumimoji="0" lang="en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37CED7-EFD0-44A9-97AF-7BB05B8658DC}"/>
              </a:ext>
            </a:extLst>
          </p:cNvPr>
          <p:cNvSpPr txBox="1"/>
          <p:nvPr/>
        </p:nvSpPr>
        <p:spPr>
          <a:xfrm>
            <a:off x="2485248" y="5618774"/>
            <a:ext cx="2607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C</a:t>
            </a:r>
            <a:endParaRPr kumimoji="0" lang="en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53" name="כותרת 1">
            <a:extLst>
              <a:ext uri="{FF2B5EF4-FFF2-40B4-BE49-F238E27FC236}">
                <a16:creationId xmlns:a16="http://schemas.microsoft.com/office/drawing/2014/main" id="{79E4D0DB-CC52-A438-953E-C528314FF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8423" y="149806"/>
            <a:ext cx="2012671" cy="418439"/>
          </a:xfrm>
        </p:spPr>
        <p:txBody>
          <a:bodyPr>
            <a:normAutofit fontScale="90000"/>
          </a:bodyPr>
          <a:lstStyle/>
          <a:p>
            <a:pPr algn="r"/>
            <a:r>
              <a:rPr lang="he-IL" sz="2400" u="sng" dirty="0"/>
              <a:t>שאלה </a:t>
            </a:r>
            <a:r>
              <a:rPr lang="en-US" sz="2400" u="sng" dirty="0"/>
              <a:t>2</a:t>
            </a:r>
            <a:endParaRPr lang="he-IL" sz="2400" u="sng" dirty="0"/>
          </a:p>
        </p:txBody>
      </p:sp>
    </p:spTree>
    <p:extLst>
      <p:ext uri="{BB962C8B-B14F-4D97-AF65-F5344CB8AC3E}">
        <p14:creationId xmlns:p14="http://schemas.microsoft.com/office/powerpoint/2010/main" val="2061894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494EE-F673-5036-0509-D79986349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2800" y="309746"/>
            <a:ext cx="1734444" cy="400132"/>
          </a:xfrm>
        </p:spPr>
        <p:txBody>
          <a:bodyPr>
            <a:normAutofit fontScale="90000"/>
          </a:bodyPr>
          <a:lstStyle/>
          <a:p>
            <a:pPr algn="r" rtl="1"/>
            <a:r>
              <a:rPr lang="he-IL" dirty="0"/>
              <a:t>שאלה 3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A47A3-6F71-89A9-0418-E7097145D6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0" y="2312249"/>
            <a:ext cx="4730681" cy="2131349"/>
          </a:xfrm>
        </p:spPr>
        <p:txBody>
          <a:bodyPr>
            <a:normAutofit fontScale="62500" lnSpcReduction="20000"/>
          </a:bodyPr>
          <a:lstStyle/>
          <a:p>
            <a:pPr marL="257175" indent="-257175">
              <a:lnSpc>
                <a:spcPct val="150000"/>
              </a:lnSpc>
              <a:buFont typeface="+mj-lt"/>
              <a:buAutoNum type="arabicPeriod"/>
            </a:pPr>
            <a:r>
              <a:rPr lang="he-IL" sz="23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במשק ב' ישנם יותר עובדים.</a:t>
            </a:r>
            <a:endParaRPr lang="en-IL" sz="23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57175" indent="-257175">
              <a:lnSpc>
                <a:spcPct val="150000"/>
              </a:lnSpc>
              <a:buFont typeface="+mj-lt"/>
              <a:buAutoNum type="arabicPeriod"/>
            </a:pPr>
            <a:r>
              <a:rPr lang="he-IL" sz="23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בשני המשקים מייצרים כמות זהה של מוצר </a:t>
            </a:r>
            <a:r>
              <a:rPr lang="en-US" sz="230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Y</a:t>
            </a:r>
            <a:r>
              <a:rPr lang="he-IL" sz="23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en-IL" sz="23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57175" indent="-257175">
              <a:lnSpc>
                <a:spcPct val="150000"/>
              </a:lnSpc>
              <a:buFont typeface="+mj-lt"/>
              <a:buAutoNum type="arabicPeriod"/>
            </a:pPr>
            <a:r>
              <a:rPr lang="he-IL" sz="230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העלות האלטרנטיבית הכוללת לייצור </a:t>
            </a:r>
            <a:r>
              <a:rPr lang="en-US" sz="2300" dirty="0">
                <a:latin typeface="Arial" panose="020B0604020202020204" pitchFamily="34" charset="0"/>
                <a:ea typeface="Times New Roman" panose="02020603050405020304" pitchFamily="18" charset="0"/>
              </a:rPr>
              <a:t>X</a:t>
            </a:r>
            <a:r>
              <a:rPr lang="he-IL" sz="230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גדולה יותר במשק ב.</a:t>
            </a:r>
            <a:endParaRPr lang="en-IL" sz="23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57175" indent="-257175">
              <a:lnSpc>
                <a:spcPct val="150000"/>
              </a:lnSpc>
              <a:buFont typeface="+mj-lt"/>
              <a:buAutoNum type="arabicPeriod"/>
            </a:pPr>
            <a:r>
              <a:rPr lang="he-IL" sz="230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העלות האלטרנטיבית הכוללת לייצור </a:t>
            </a:r>
            <a:r>
              <a:rPr lang="en-US" sz="2300" dirty="0">
                <a:latin typeface="Arial" panose="020B0604020202020204" pitchFamily="34" charset="0"/>
                <a:ea typeface="Times New Roman" panose="02020603050405020304" pitchFamily="18" charset="0"/>
              </a:rPr>
              <a:t>Y</a:t>
            </a:r>
            <a:r>
              <a:rPr lang="he-IL" sz="230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גדולה יותר במשק א.</a:t>
            </a:r>
            <a:endParaRPr lang="en-IL" sz="23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57175" indent="-257175">
              <a:lnSpc>
                <a:spcPct val="150000"/>
              </a:lnSpc>
              <a:buFont typeface="+mj-lt"/>
              <a:buAutoNum type="arabicPeriod"/>
            </a:pPr>
            <a:r>
              <a:rPr lang="he-IL" sz="230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כל התשובות האחרות לא נכונות.</a:t>
            </a:r>
            <a:endParaRPr lang="en-IL" sz="23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IL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D19AA31-3616-F913-AF2F-21CAA7EB0BE6}"/>
              </a:ext>
            </a:extLst>
          </p:cNvPr>
          <p:cNvSpPr txBox="1">
            <a:spLocks/>
          </p:cNvSpPr>
          <p:nvPr/>
        </p:nvSpPr>
        <p:spPr>
          <a:xfrm>
            <a:off x="676798" y="925179"/>
            <a:ext cx="8186718" cy="1144287"/>
          </a:xfrm>
          <a:prstGeom prst="rect">
            <a:avLst/>
          </a:prstGeom>
        </p:spPr>
        <p:txBody>
          <a:bodyPr vert="horz" lIns="68580" tIns="34290" rIns="68580" bIns="3429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rtl="1">
              <a:lnSpc>
                <a:spcPct val="107000"/>
              </a:lnSpc>
              <a:spcAft>
                <a:spcPts val="600"/>
              </a:spcAft>
              <a:buNone/>
            </a:pPr>
            <a:r>
              <a:rPr lang="he-IL" sz="21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נתון שני משקים סגורים, משק א' ומשק ב'. בכל אחד מהמשקים עקומת התמורה ליניארית.</a:t>
            </a:r>
            <a:endParaRPr lang="en-IL" sz="2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r" rtl="1">
              <a:lnSpc>
                <a:spcPct val="107000"/>
              </a:lnSpc>
              <a:spcAft>
                <a:spcPts val="600"/>
              </a:spcAft>
              <a:buNone/>
            </a:pPr>
            <a:r>
              <a:rPr lang="he-IL" sz="2100" b="1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למשק ב' עלות אלטרנטיבית שולית נמוכה יותר בייצור </a:t>
            </a:r>
            <a:r>
              <a:rPr lang="en-US" sz="21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Y</a:t>
            </a:r>
            <a:r>
              <a:rPr lang="he-IL" sz="2100" b="1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על פני משק א</a:t>
            </a:r>
            <a:r>
              <a:rPr lang="he-IL" sz="21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'. ידוע כי המשקים מייצרים כמויות זהות של מוצר </a:t>
            </a:r>
            <a:r>
              <a:rPr lang="en-US" sz="21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</a:t>
            </a:r>
            <a:r>
              <a:rPr lang="he-IL" sz="21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כלומר הכמות המיוצרת של </a:t>
            </a:r>
            <a:r>
              <a:rPr lang="en-US" sz="21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</a:t>
            </a:r>
            <a:r>
              <a:rPr lang="he-IL" sz="21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במשק א' זהה לכמות המיוצרת של </a:t>
            </a:r>
            <a:r>
              <a:rPr lang="en-US" sz="21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</a:t>
            </a:r>
            <a:r>
              <a:rPr lang="he-IL" sz="21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במשק ב'. לא ידוע מהי כמות </a:t>
            </a:r>
            <a:r>
              <a:rPr lang="en-US" sz="21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Y</a:t>
            </a:r>
            <a:r>
              <a:rPr lang="he-IL" sz="21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המיוצרת בכל משק. לאור זאת ניתן להגיד כי:</a:t>
            </a:r>
            <a:endParaRPr lang="en-IL" sz="2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r" rtl="1">
              <a:buNone/>
            </a:pPr>
            <a:endParaRPr lang="en-IL" sz="2100" dirty="0"/>
          </a:p>
        </p:txBody>
      </p:sp>
    </p:spTree>
    <p:extLst>
      <p:ext uri="{BB962C8B-B14F-4D97-AF65-F5344CB8AC3E}">
        <p14:creationId xmlns:p14="http://schemas.microsoft.com/office/powerpoint/2010/main" val="132895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494EE-F673-5036-0509-D79986349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8981" y="251892"/>
            <a:ext cx="3461753" cy="400132"/>
          </a:xfrm>
        </p:spPr>
        <p:txBody>
          <a:bodyPr>
            <a:normAutofit fontScale="90000"/>
          </a:bodyPr>
          <a:lstStyle/>
          <a:p>
            <a:pPr algn="r" rtl="1"/>
            <a:r>
              <a:rPr lang="he-IL" dirty="0"/>
              <a:t>פתרון שאלה 3</a:t>
            </a:r>
            <a:endParaRPr lang="en-I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231AE2-9CAF-B108-2CAA-D723E66C975F}"/>
              </a:ext>
            </a:extLst>
          </p:cNvPr>
          <p:cNvSpPr/>
          <p:nvPr/>
        </p:nvSpPr>
        <p:spPr>
          <a:xfrm>
            <a:off x="3810000" y="3051339"/>
            <a:ext cx="5110714" cy="4067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sz="1350"/>
          </a:p>
        </p:txBody>
      </p:sp>
      <p:cxnSp>
        <p:nvCxnSpPr>
          <p:cNvPr id="7" name="מחבר ישר 42">
            <a:extLst>
              <a:ext uri="{FF2B5EF4-FFF2-40B4-BE49-F238E27FC236}">
                <a16:creationId xmlns:a16="http://schemas.microsoft.com/office/drawing/2014/main" id="{DC950A56-E163-FD3D-C0B1-E7663187C2DE}"/>
              </a:ext>
            </a:extLst>
          </p:cNvPr>
          <p:cNvCxnSpPr>
            <a:cxnSpLocks/>
          </p:cNvCxnSpPr>
          <p:nvPr/>
        </p:nvCxnSpPr>
        <p:spPr>
          <a:xfrm flipH="1">
            <a:off x="625427" y="2180164"/>
            <a:ext cx="1523" cy="3168813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Object 2">
            <a:extLst>
              <a:ext uri="{FF2B5EF4-FFF2-40B4-BE49-F238E27FC236}">
                <a16:creationId xmlns:a16="http://schemas.microsoft.com/office/drawing/2014/main" id="{DBFB35CC-4BFC-5B3E-66E9-C7F8C5B7F7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0926" y="1993771"/>
          <a:ext cx="275034" cy="372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680" imgH="164880" progId="Equation.DSMT4">
                  <p:embed/>
                </p:oleObj>
              </mc:Choice>
              <mc:Fallback>
                <p:oleObj name="Equation" r:id="rId2" imgW="139680" imgH="164880" progId="Equation.DSMT4">
                  <p:embed/>
                  <p:pic>
                    <p:nvPicPr>
                      <p:cNvPr id="8" name="Object 2">
                        <a:extLst>
                          <a:ext uri="{FF2B5EF4-FFF2-40B4-BE49-F238E27FC236}">
                            <a16:creationId xmlns:a16="http://schemas.microsoft.com/office/drawing/2014/main" id="{DBFB35CC-4BFC-5B3E-66E9-C7F8C5B7F7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926" y="1993771"/>
                        <a:ext cx="275034" cy="3727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מחבר ישר 54">
            <a:extLst>
              <a:ext uri="{FF2B5EF4-FFF2-40B4-BE49-F238E27FC236}">
                <a16:creationId xmlns:a16="http://schemas.microsoft.com/office/drawing/2014/main" id="{9E425B57-ED91-5E7F-47C0-6998A09CCD91}"/>
              </a:ext>
            </a:extLst>
          </p:cNvPr>
          <p:cNvCxnSpPr/>
          <p:nvPr/>
        </p:nvCxnSpPr>
        <p:spPr>
          <a:xfrm>
            <a:off x="624531" y="5354608"/>
            <a:ext cx="2758091" cy="1191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מחבר ישר 94">
            <a:extLst>
              <a:ext uri="{FF2B5EF4-FFF2-40B4-BE49-F238E27FC236}">
                <a16:creationId xmlns:a16="http://schemas.microsoft.com/office/drawing/2014/main" id="{AD15A094-857E-9185-1E33-F51843B98128}"/>
              </a:ext>
            </a:extLst>
          </p:cNvPr>
          <p:cNvCxnSpPr>
            <a:cxnSpLocks/>
          </p:cNvCxnSpPr>
          <p:nvPr/>
        </p:nvCxnSpPr>
        <p:spPr>
          <a:xfrm>
            <a:off x="652648" y="3914981"/>
            <a:ext cx="2479222" cy="1433996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A5B2FE71-82DD-922C-1843-3DC41D1A163E}"/>
              </a:ext>
            </a:extLst>
          </p:cNvPr>
          <p:cNvSpPr/>
          <p:nvPr/>
        </p:nvSpPr>
        <p:spPr>
          <a:xfrm>
            <a:off x="1339644" y="4198966"/>
            <a:ext cx="272701" cy="32419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350" dirty="0"/>
              <a:t>A</a:t>
            </a:r>
            <a:endParaRPr lang="he-IL" sz="13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D655B0-AC93-8F48-1204-458215BBA292}"/>
              </a:ext>
            </a:extLst>
          </p:cNvPr>
          <p:cNvSpPr txBox="1"/>
          <p:nvPr/>
        </p:nvSpPr>
        <p:spPr>
          <a:xfrm>
            <a:off x="3542610" y="5361430"/>
            <a:ext cx="39008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/>
              <a:t>X</a:t>
            </a:r>
          </a:p>
        </p:txBody>
      </p:sp>
      <p:cxnSp>
        <p:nvCxnSpPr>
          <p:cNvPr id="13" name="מחבר ישר 94">
            <a:extLst>
              <a:ext uri="{FF2B5EF4-FFF2-40B4-BE49-F238E27FC236}">
                <a16:creationId xmlns:a16="http://schemas.microsoft.com/office/drawing/2014/main" id="{94C23A72-452C-CBC6-5A68-1399780CB7CE}"/>
              </a:ext>
            </a:extLst>
          </p:cNvPr>
          <p:cNvCxnSpPr>
            <a:cxnSpLocks/>
          </p:cNvCxnSpPr>
          <p:nvPr/>
        </p:nvCxnSpPr>
        <p:spPr>
          <a:xfrm>
            <a:off x="652648" y="2312249"/>
            <a:ext cx="1878785" cy="3039544"/>
          </a:xfrm>
          <a:prstGeom prst="line">
            <a:avLst/>
          </a:prstGeom>
          <a:ln w="41275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5A0BF37-B061-68A2-82AB-1EF39EC20306}"/>
              </a:ext>
            </a:extLst>
          </p:cNvPr>
          <p:cNvSpPr txBox="1"/>
          <p:nvPr/>
        </p:nvSpPr>
        <p:spPr>
          <a:xfrm>
            <a:off x="1339644" y="5399152"/>
            <a:ext cx="70620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/>
              <a:t>X</a:t>
            </a:r>
            <a:endParaRPr lang="en-IL" sz="21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4E41D06-37C0-8D82-0F57-653353C90BCE}"/>
              </a:ext>
            </a:extLst>
          </p:cNvPr>
          <p:cNvCxnSpPr>
            <a:cxnSpLocks/>
          </p:cNvCxnSpPr>
          <p:nvPr/>
        </p:nvCxnSpPr>
        <p:spPr>
          <a:xfrm>
            <a:off x="1508760" y="3719810"/>
            <a:ext cx="0" cy="1629167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71C8416F-6771-29A1-66F4-A4BDAC4DF3BF}"/>
              </a:ext>
            </a:extLst>
          </p:cNvPr>
          <p:cNvSpPr/>
          <p:nvPr/>
        </p:nvSpPr>
        <p:spPr>
          <a:xfrm>
            <a:off x="1372410" y="3590785"/>
            <a:ext cx="272701" cy="324197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350" dirty="0"/>
              <a:t>B</a:t>
            </a:r>
            <a:endParaRPr lang="he-IL" sz="1350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319B042-3141-FE99-BBD2-2037BFFDF2EE}"/>
              </a:ext>
            </a:extLst>
          </p:cNvPr>
          <p:cNvCxnSpPr>
            <a:cxnSpLocks/>
          </p:cNvCxnSpPr>
          <p:nvPr/>
        </p:nvCxnSpPr>
        <p:spPr>
          <a:xfrm>
            <a:off x="624531" y="3740913"/>
            <a:ext cx="851463" cy="32076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2F29A7B-2F42-C484-2636-185A9405D816}"/>
              </a:ext>
            </a:extLst>
          </p:cNvPr>
          <p:cNvCxnSpPr>
            <a:cxnSpLocks/>
          </p:cNvCxnSpPr>
          <p:nvPr/>
        </p:nvCxnSpPr>
        <p:spPr>
          <a:xfrm>
            <a:off x="657296" y="4345027"/>
            <a:ext cx="851463" cy="32076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45835F3-9FB4-16AB-5F9C-AF26BE30ECCE}"/>
              </a:ext>
            </a:extLst>
          </p:cNvPr>
          <p:cNvCxnSpPr>
            <a:cxnSpLocks/>
          </p:cNvCxnSpPr>
          <p:nvPr/>
        </p:nvCxnSpPr>
        <p:spPr>
          <a:xfrm>
            <a:off x="535748" y="3772989"/>
            <a:ext cx="0" cy="604114"/>
          </a:xfrm>
          <a:prstGeom prst="straightConnector1">
            <a:avLst/>
          </a:prstGeom>
          <a:ln w="76200">
            <a:solidFill>
              <a:schemeClr val="accent6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9B1D157-B760-5441-660F-F2AD93260626}"/>
              </a:ext>
            </a:extLst>
          </p:cNvPr>
          <p:cNvCxnSpPr>
            <a:cxnSpLocks/>
          </p:cNvCxnSpPr>
          <p:nvPr/>
        </p:nvCxnSpPr>
        <p:spPr>
          <a:xfrm>
            <a:off x="535748" y="2280526"/>
            <a:ext cx="0" cy="1439284"/>
          </a:xfrm>
          <a:prstGeom prst="straightConnector1">
            <a:avLst/>
          </a:prstGeom>
          <a:ln w="76200">
            <a:solidFill>
              <a:srgbClr val="ED5DE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B0A623D-98DE-69AE-1827-947262A0A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699" y="2363325"/>
            <a:ext cx="4730681" cy="2131349"/>
          </a:xfrm>
        </p:spPr>
        <p:txBody>
          <a:bodyPr>
            <a:normAutofit/>
          </a:bodyPr>
          <a:lstStyle/>
          <a:p>
            <a:pPr marL="257175" indent="-257175">
              <a:lnSpc>
                <a:spcPct val="150000"/>
              </a:lnSpc>
              <a:buFont typeface="+mj-lt"/>
              <a:buAutoNum type="arabicPeriod"/>
            </a:pPr>
            <a:r>
              <a:rPr lang="he-IL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במשק ב' ישנם יותר עובדים.</a:t>
            </a:r>
            <a:endParaRPr lang="en-IL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57175" indent="-257175">
              <a:lnSpc>
                <a:spcPct val="150000"/>
              </a:lnSpc>
              <a:buFont typeface="+mj-lt"/>
              <a:buAutoNum type="arabicPeriod"/>
            </a:pPr>
            <a:r>
              <a:rPr lang="he-IL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בשני המשקים מייצרים כמות זהה של מוצר 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Y</a:t>
            </a:r>
            <a:r>
              <a:rPr lang="he-IL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en-IL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57175" indent="-257175">
              <a:lnSpc>
                <a:spcPct val="150000"/>
              </a:lnSpc>
              <a:buFont typeface="+mj-lt"/>
              <a:buAutoNum type="arabicPeriod"/>
            </a:pPr>
            <a:r>
              <a:rPr lang="he-IL" sz="140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העלות האלטרנטיבית הכוללת לייצור </a:t>
            </a:r>
            <a:r>
              <a:rPr lang="en-US" sz="1400" dirty="0">
                <a:latin typeface="Arial" panose="020B0604020202020204" pitchFamily="34" charset="0"/>
                <a:ea typeface="Times New Roman" panose="02020603050405020304" pitchFamily="18" charset="0"/>
              </a:rPr>
              <a:t>X</a:t>
            </a:r>
            <a:r>
              <a:rPr lang="he-IL" sz="140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גדולה יותר במשק ב.</a:t>
            </a:r>
            <a:endParaRPr lang="en-IL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57175" indent="-257175">
              <a:lnSpc>
                <a:spcPct val="150000"/>
              </a:lnSpc>
              <a:buFont typeface="+mj-lt"/>
              <a:buAutoNum type="arabicPeriod"/>
            </a:pPr>
            <a:r>
              <a:rPr lang="he-IL" sz="140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העלות האלטרנטיבית הכוללת לייצור </a:t>
            </a:r>
            <a:r>
              <a:rPr lang="en-US" sz="1400" dirty="0">
                <a:latin typeface="Arial" panose="020B0604020202020204" pitchFamily="34" charset="0"/>
                <a:ea typeface="Times New Roman" panose="02020603050405020304" pitchFamily="18" charset="0"/>
              </a:rPr>
              <a:t>Y</a:t>
            </a:r>
            <a:r>
              <a:rPr lang="he-IL" sz="140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גדולה יותר במשק א.</a:t>
            </a:r>
            <a:endParaRPr lang="en-IL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57175" indent="-257175">
              <a:lnSpc>
                <a:spcPct val="150000"/>
              </a:lnSpc>
              <a:buFont typeface="+mj-lt"/>
              <a:buAutoNum type="arabicPeriod"/>
            </a:pPr>
            <a:r>
              <a:rPr lang="he-IL" sz="140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כל התשובות האחרות לא נכונות.</a:t>
            </a:r>
            <a:endParaRPr lang="en-IL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IL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7361DD8C-1A5A-A43C-A6BF-87B9AAD8E50D}"/>
              </a:ext>
            </a:extLst>
          </p:cNvPr>
          <p:cNvSpPr txBox="1">
            <a:spLocks/>
          </p:cNvSpPr>
          <p:nvPr/>
        </p:nvSpPr>
        <p:spPr>
          <a:xfrm>
            <a:off x="2209801" y="824003"/>
            <a:ext cx="6680934" cy="1144287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rtl="1">
              <a:lnSpc>
                <a:spcPct val="107000"/>
              </a:lnSpc>
              <a:spcAft>
                <a:spcPts val="600"/>
              </a:spcAft>
              <a:buNone/>
            </a:pPr>
            <a:r>
              <a:rPr lang="he-IL" sz="14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נתון שני משקים סגורים, משק א' ומשק ב'. בכל אחד מהמשקים עקומת התמורה ליניארית.</a:t>
            </a:r>
            <a:endParaRPr lang="en-IL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r" rtl="1">
              <a:lnSpc>
                <a:spcPct val="107000"/>
              </a:lnSpc>
              <a:spcAft>
                <a:spcPts val="600"/>
              </a:spcAft>
              <a:buNone/>
            </a:pPr>
            <a:r>
              <a:rPr lang="he-IL" sz="1400" b="1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למשק ב' עלות אלטרנטיבית שולית נמוכה יותר בייצור </a:t>
            </a:r>
            <a:r>
              <a:rPr lang="en-US" sz="1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Y</a:t>
            </a:r>
            <a:r>
              <a:rPr lang="he-IL" sz="1400" b="1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על פני משק א</a:t>
            </a:r>
            <a:r>
              <a:rPr lang="he-IL" sz="14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'. ידוע כי המשקים מייצרים כמויות זהות של מוצר </a:t>
            </a:r>
            <a:r>
              <a:rPr lang="en-US" sz="1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</a:t>
            </a:r>
            <a:r>
              <a:rPr lang="he-IL" sz="14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כלומר הכמות המיוצרת של </a:t>
            </a:r>
            <a:r>
              <a:rPr lang="en-US" sz="1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</a:t>
            </a:r>
            <a:r>
              <a:rPr lang="he-IL" sz="14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במשק א' זהה לכמות המיוצרת של </a:t>
            </a:r>
            <a:r>
              <a:rPr lang="en-US" sz="1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</a:t>
            </a:r>
            <a:r>
              <a:rPr lang="he-IL" sz="14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במשק ב'. לא ידוע מהי כמות </a:t>
            </a:r>
            <a:r>
              <a:rPr 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Y</a:t>
            </a:r>
            <a:r>
              <a:rPr lang="he-IL" sz="14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המיוצרת בכל משק. לאור זאת ניתן להגיד כי:</a:t>
            </a:r>
            <a:endParaRPr lang="en-IL" sz="14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0" name="תיבת טקסט 19">
            <a:extLst>
              <a:ext uri="{FF2B5EF4-FFF2-40B4-BE49-F238E27FC236}">
                <a16:creationId xmlns:a16="http://schemas.microsoft.com/office/drawing/2014/main" id="{83B3F62E-4983-BD20-5E9B-5D7292782FEC}"/>
              </a:ext>
            </a:extLst>
          </p:cNvPr>
          <p:cNvSpPr txBox="1"/>
          <p:nvPr/>
        </p:nvSpPr>
        <p:spPr>
          <a:xfrm>
            <a:off x="946678" y="2718665"/>
            <a:ext cx="85146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e-IL" sz="1350" b="1" dirty="0">
                <a:solidFill>
                  <a:srgbClr val="FF00FF"/>
                </a:solidFill>
              </a:rPr>
              <a:t>משק ב</a:t>
            </a:r>
            <a:endParaRPr lang="en-IL" sz="1350" b="1" dirty="0">
              <a:solidFill>
                <a:srgbClr val="FF00FF"/>
              </a:solidFill>
            </a:endParaRPr>
          </a:p>
        </p:txBody>
      </p:sp>
      <p:sp>
        <p:nvSpPr>
          <p:cNvPr id="22" name="תיבת טקסט 21">
            <a:extLst>
              <a:ext uri="{FF2B5EF4-FFF2-40B4-BE49-F238E27FC236}">
                <a16:creationId xmlns:a16="http://schemas.microsoft.com/office/drawing/2014/main" id="{2EA09852-4997-FFF6-796F-94A4F14DEF56}"/>
              </a:ext>
            </a:extLst>
          </p:cNvPr>
          <p:cNvSpPr txBox="1"/>
          <p:nvPr/>
        </p:nvSpPr>
        <p:spPr>
          <a:xfrm>
            <a:off x="674090" y="3821130"/>
            <a:ext cx="58391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e-IL" sz="1350" b="1" dirty="0"/>
              <a:t>משק א</a:t>
            </a:r>
            <a:endParaRPr lang="en-IL" sz="1350" b="1" dirty="0"/>
          </a:p>
        </p:txBody>
      </p:sp>
      <p:sp>
        <p:nvSpPr>
          <p:cNvPr id="5" name="TextBox 34">
            <a:extLst>
              <a:ext uri="{FF2B5EF4-FFF2-40B4-BE49-F238E27FC236}">
                <a16:creationId xmlns:a16="http://schemas.microsoft.com/office/drawing/2014/main" id="{222ABCB8-B057-DDF9-6321-AA99433281DA}"/>
              </a:ext>
            </a:extLst>
          </p:cNvPr>
          <p:cNvSpPr txBox="1"/>
          <p:nvPr/>
        </p:nvSpPr>
        <p:spPr>
          <a:xfrm>
            <a:off x="4424421" y="4787557"/>
            <a:ext cx="4036951" cy="1200329"/>
          </a:xfrm>
          <a:prstGeom prst="rect">
            <a:avLst/>
          </a:prstGeom>
          <a:solidFill>
            <a:srgbClr val="CC3399"/>
          </a:solidFill>
        </p:spPr>
        <p:txBody>
          <a:bodyPr wrap="square" rtlCol="0">
            <a:spAutoFit/>
          </a:bodyPr>
          <a:lstStyle/>
          <a:p>
            <a:pPr algn="r" rtl="1"/>
            <a:r>
              <a:rPr lang="he-IL" sz="1200" dirty="0">
                <a:solidFill>
                  <a:schemeClr val="bg1"/>
                </a:solidFill>
              </a:rPr>
              <a:t>למשק ב' </a:t>
            </a:r>
            <a:r>
              <a:rPr lang="he-IL" sz="1200" dirty="0" err="1">
                <a:solidFill>
                  <a:schemeClr val="bg1"/>
                </a:solidFill>
              </a:rPr>
              <a:t>ע.א.ש</a:t>
            </a:r>
            <a:r>
              <a:rPr lang="he-IL" sz="1200" dirty="0">
                <a:solidFill>
                  <a:schemeClr val="bg1"/>
                </a:solidFill>
              </a:rPr>
              <a:t> לייצור </a:t>
            </a:r>
            <a:r>
              <a:rPr lang="en-US" sz="1200" dirty="0">
                <a:solidFill>
                  <a:schemeClr val="bg1"/>
                </a:solidFill>
              </a:rPr>
              <a:t> Y</a:t>
            </a:r>
            <a:r>
              <a:rPr lang="he-IL" sz="1200" dirty="0">
                <a:solidFill>
                  <a:schemeClr val="bg1"/>
                </a:solidFill>
              </a:rPr>
              <a:t>נמוכה יותר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he-IL" sz="1200" dirty="0">
                <a:solidFill>
                  <a:schemeClr val="bg1"/>
                </a:solidFill>
              </a:rPr>
              <a:t>מאשר במשק א', לכן </a:t>
            </a:r>
            <a:r>
              <a:rPr lang="he-IL" sz="1200" dirty="0" err="1">
                <a:solidFill>
                  <a:schemeClr val="bg1"/>
                </a:solidFill>
              </a:rPr>
              <a:t>הע.א.ש</a:t>
            </a:r>
            <a:r>
              <a:rPr lang="he-IL" sz="1200" dirty="0">
                <a:solidFill>
                  <a:schemeClr val="bg1"/>
                </a:solidFill>
              </a:rPr>
              <a:t> לייצור </a:t>
            </a:r>
            <a:r>
              <a:rPr lang="en-US" sz="1200" dirty="0">
                <a:solidFill>
                  <a:schemeClr val="bg1"/>
                </a:solidFill>
              </a:rPr>
              <a:t>X</a:t>
            </a:r>
            <a:r>
              <a:rPr lang="he-IL" sz="1200" dirty="0">
                <a:solidFill>
                  <a:schemeClr val="bg1"/>
                </a:solidFill>
              </a:rPr>
              <a:t> במשק ב' גדולה יותר ממשק א', כלומר </a:t>
            </a:r>
            <a:r>
              <a:rPr lang="he-IL" sz="1200" b="1" u="sng" dirty="0">
                <a:solidFill>
                  <a:schemeClr val="bg1"/>
                </a:solidFill>
              </a:rPr>
              <a:t>השיפוע של עקומת התמורה של משק ב' הוא גדול יותר בערך מוחלט ותלול יותר</a:t>
            </a:r>
            <a:r>
              <a:rPr lang="he-IL" sz="1200" dirty="0">
                <a:solidFill>
                  <a:schemeClr val="bg1"/>
                </a:solidFill>
              </a:rPr>
              <a:t>. אם מייצרים את אותה כמות </a:t>
            </a:r>
            <a:r>
              <a:rPr lang="en-US" sz="1200" dirty="0">
                <a:solidFill>
                  <a:schemeClr val="bg1"/>
                </a:solidFill>
              </a:rPr>
              <a:t>X</a:t>
            </a:r>
            <a:r>
              <a:rPr lang="he-IL" sz="1200" dirty="0">
                <a:solidFill>
                  <a:schemeClr val="bg1"/>
                </a:solidFill>
              </a:rPr>
              <a:t>, אז הע.א.כ. לייצור </a:t>
            </a:r>
            <a:r>
              <a:rPr lang="en-US" sz="1200" dirty="0">
                <a:solidFill>
                  <a:schemeClr val="bg1"/>
                </a:solidFill>
              </a:rPr>
              <a:t>X</a:t>
            </a:r>
            <a:r>
              <a:rPr lang="he-IL" sz="1200" dirty="0">
                <a:solidFill>
                  <a:schemeClr val="bg1"/>
                </a:solidFill>
              </a:rPr>
              <a:t> (דלתא </a:t>
            </a:r>
            <a:r>
              <a:rPr lang="en-US" sz="1200" dirty="0">
                <a:solidFill>
                  <a:schemeClr val="bg1"/>
                </a:solidFill>
              </a:rPr>
              <a:t>Y</a:t>
            </a:r>
            <a:r>
              <a:rPr lang="he-IL" sz="1200" dirty="0">
                <a:solidFill>
                  <a:schemeClr val="bg1"/>
                </a:solidFill>
              </a:rPr>
              <a:t>=</a:t>
            </a:r>
            <a:r>
              <a:rPr lang="en-US" sz="1200" dirty="0">
                <a:solidFill>
                  <a:schemeClr val="bg1"/>
                </a:solidFill>
              </a:rPr>
              <a:t>Y</a:t>
            </a:r>
            <a:r>
              <a:rPr lang="he-IL" sz="1200" dirty="0">
                <a:solidFill>
                  <a:schemeClr val="bg1"/>
                </a:solidFill>
              </a:rPr>
              <a:t> מקסימום פחות כמות ה-</a:t>
            </a:r>
            <a:r>
              <a:rPr lang="en-US" sz="1200" dirty="0">
                <a:solidFill>
                  <a:schemeClr val="bg1"/>
                </a:solidFill>
              </a:rPr>
              <a:t>Y</a:t>
            </a:r>
            <a:r>
              <a:rPr lang="he-IL" sz="1200" dirty="0">
                <a:solidFill>
                  <a:schemeClr val="bg1"/>
                </a:solidFill>
              </a:rPr>
              <a:t> בנקודה) תהיה גדולה יותר במשק ב (שכן היא מול זווית גדולה יותר). </a:t>
            </a:r>
            <a:endParaRPr lang="en-IL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5177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9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4" grpId="0"/>
      <p:bldP spid="18" grpId="0" animBg="1"/>
      <p:bldP spid="20" grpId="0"/>
      <p:bldP spid="22" grpId="0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494EE-F673-5036-0509-D79986349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1" y="301027"/>
            <a:ext cx="3963012" cy="400132"/>
          </a:xfrm>
        </p:spPr>
        <p:txBody>
          <a:bodyPr>
            <a:normAutofit fontScale="90000"/>
          </a:bodyPr>
          <a:lstStyle/>
          <a:p>
            <a:pPr algn="r" rtl="1"/>
            <a:r>
              <a:rPr lang="he-IL" dirty="0"/>
              <a:t>פתרון שאלה 3</a:t>
            </a:r>
            <a:endParaRPr lang="en-I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231AE2-9CAF-B108-2CAA-D723E66C975F}"/>
              </a:ext>
            </a:extLst>
          </p:cNvPr>
          <p:cNvSpPr/>
          <p:nvPr/>
        </p:nvSpPr>
        <p:spPr>
          <a:xfrm>
            <a:off x="4542647" y="3000168"/>
            <a:ext cx="4290404" cy="3775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sz="1350"/>
          </a:p>
        </p:txBody>
      </p:sp>
      <p:cxnSp>
        <p:nvCxnSpPr>
          <p:cNvPr id="7" name="מחבר ישר 42">
            <a:extLst>
              <a:ext uri="{FF2B5EF4-FFF2-40B4-BE49-F238E27FC236}">
                <a16:creationId xmlns:a16="http://schemas.microsoft.com/office/drawing/2014/main" id="{DC950A56-E163-FD3D-C0B1-E7663187C2DE}"/>
              </a:ext>
            </a:extLst>
          </p:cNvPr>
          <p:cNvCxnSpPr>
            <a:cxnSpLocks/>
          </p:cNvCxnSpPr>
          <p:nvPr/>
        </p:nvCxnSpPr>
        <p:spPr>
          <a:xfrm flipH="1">
            <a:off x="625427" y="2180164"/>
            <a:ext cx="1523" cy="3168813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Object 2">
            <a:extLst>
              <a:ext uri="{FF2B5EF4-FFF2-40B4-BE49-F238E27FC236}">
                <a16:creationId xmlns:a16="http://schemas.microsoft.com/office/drawing/2014/main" id="{DBFB35CC-4BFC-5B3E-66E9-C7F8C5B7F7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0926" y="1993771"/>
          <a:ext cx="275034" cy="372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680" imgH="164880" progId="Equation.DSMT4">
                  <p:embed/>
                </p:oleObj>
              </mc:Choice>
              <mc:Fallback>
                <p:oleObj name="Equation" r:id="rId2" imgW="139680" imgH="164880" progId="Equation.DSMT4">
                  <p:embed/>
                  <p:pic>
                    <p:nvPicPr>
                      <p:cNvPr id="8" name="Object 2">
                        <a:extLst>
                          <a:ext uri="{FF2B5EF4-FFF2-40B4-BE49-F238E27FC236}">
                            <a16:creationId xmlns:a16="http://schemas.microsoft.com/office/drawing/2014/main" id="{DBFB35CC-4BFC-5B3E-66E9-C7F8C5B7F7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926" y="1993771"/>
                        <a:ext cx="275034" cy="3727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מחבר ישר 54">
            <a:extLst>
              <a:ext uri="{FF2B5EF4-FFF2-40B4-BE49-F238E27FC236}">
                <a16:creationId xmlns:a16="http://schemas.microsoft.com/office/drawing/2014/main" id="{9E425B57-ED91-5E7F-47C0-6998A09CCD91}"/>
              </a:ext>
            </a:extLst>
          </p:cNvPr>
          <p:cNvCxnSpPr>
            <a:cxnSpLocks/>
          </p:cNvCxnSpPr>
          <p:nvPr/>
        </p:nvCxnSpPr>
        <p:spPr>
          <a:xfrm flipV="1">
            <a:off x="624532" y="5348977"/>
            <a:ext cx="4986560" cy="5631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מחבר ישר 94">
            <a:extLst>
              <a:ext uri="{FF2B5EF4-FFF2-40B4-BE49-F238E27FC236}">
                <a16:creationId xmlns:a16="http://schemas.microsoft.com/office/drawing/2014/main" id="{AD15A094-857E-9185-1E33-F51843B98128}"/>
              </a:ext>
            </a:extLst>
          </p:cNvPr>
          <p:cNvCxnSpPr>
            <a:cxnSpLocks/>
          </p:cNvCxnSpPr>
          <p:nvPr/>
        </p:nvCxnSpPr>
        <p:spPr>
          <a:xfrm>
            <a:off x="581422" y="2306797"/>
            <a:ext cx="4578064" cy="3032956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A5B2FE71-82DD-922C-1843-3DC41D1A163E}"/>
              </a:ext>
            </a:extLst>
          </p:cNvPr>
          <p:cNvSpPr/>
          <p:nvPr/>
        </p:nvSpPr>
        <p:spPr>
          <a:xfrm>
            <a:off x="1404813" y="2748397"/>
            <a:ext cx="272701" cy="32419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350" dirty="0"/>
              <a:t>A</a:t>
            </a:r>
            <a:endParaRPr lang="he-IL" sz="13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D655B0-AC93-8F48-1204-458215BBA292}"/>
              </a:ext>
            </a:extLst>
          </p:cNvPr>
          <p:cNvSpPr txBox="1"/>
          <p:nvPr/>
        </p:nvSpPr>
        <p:spPr>
          <a:xfrm>
            <a:off x="5856952" y="5297623"/>
            <a:ext cx="39008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/>
              <a:t>X</a:t>
            </a:r>
          </a:p>
        </p:txBody>
      </p:sp>
      <p:cxnSp>
        <p:nvCxnSpPr>
          <p:cNvPr id="13" name="מחבר ישר 94">
            <a:extLst>
              <a:ext uri="{FF2B5EF4-FFF2-40B4-BE49-F238E27FC236}">
                <a16:creationId xmlns:a16="http://schemas.microsoft.com/office/drawing/2014/main" id="{94C23A72-452C-CBC6-5A68-1399780CB7CE}"/>
              </a:ext>
            </a:extLst>
          </p:cNvPr>
          <p:cNvCxnSpPr>
            <a:cxnSpLocks/>
          </p:cNvCxnSpPr>
          <p:nvPr/>
        </p:nvCxnSpPr>
        <p:spPr>
          <a:xfrm>
            <a:off x="598833" y="2280526"/>
            <a:ext cx="2092365" cy="3068451"/>
          </a:xfrm>
          <a:prstGeom prst="line">
            <a:avLst/>
          </a:prstGeom>
          <a:ln w="41275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5A0BF37-B061-68A2-82AB-1EF39EC20306}"/>
              </a:ext>
            </a:extLst>
          </p:cNvPr>
          <p:cNvSpPr txBox="1"/>
          <p:nvPr/>
        </p:nvSpPr>
        <p:spPr>
          <a:xfrm>
            <a:off x="1339644" y="5399152"/>
            <a:ext cx="70620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/>
              <a:t>X</a:t>
            </a:r>
            <a:endParaRPr lang="en-IL" sz="21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4E41D06-37C0-8D82-0F57-653353C90BCE}"/>
              </a:ext>
            </a:extLst>
          </p:cNvPr>
          <p:cNvCxnSpPr>
            <a:cxnSpLocks/>
          </p:cNvCxnSpPr>
          <p:nvPr/>
        </p:nvCxnSpPr>
        <p:spPr>
          <a:xfrm>
            <a:off x="1508760" y="2901423"/>
            <a:ext cx="0" cy="2447554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71C8416F-6771-29A1-66F4-A4BDAC4DF3BF}"/>
              </a:ext>
            </a:extLst>
          </p:cNvPr>
          <p:cNvSpPr/>
          <p:nvPr/>
        </p:nvSpPr>
        <p:spPr>
          <a:xfrm>
            <a:off x="1372410" y="3590785"/>
            <a:ext cx="272701" cy="324197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350" dirty="0"/>
              <a:t>B</a:t>
            </a:r>
            <a:endParaRPr lang="he-IL" sz="1350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319B042-3141-FE99-BBD2-2037BFFDF2EE}"/>
              </a:ext>
            </a:extLst>
          </p:cNvPr>
          <p:cNvCxnSpPr>
            <a:cxnSpLocks/>
          </p:cNvCxnSpPr>
          <p:nvPr/>
        </p:nvCxnSpPr>
        <p:spPr>
          <a:xfrm>
            <a:off x="624531" y="3740913"/>
            <a:ext cx="851463" cy="32076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2F29A7B-2F42-C484-2636-185A9405D816}"/>
              </a:ext>
            </a:extLst>
          </p:cNvPr>
          <p:cNvCxnSpPr>
            <a:cxnSpLocks/>
          </p:cNvCxnSpPr>
          <p:nvPr/>
        </p:nvCxnSpPr>
        <p:spPr>
          <a:xfrm>
            <a:off x="626828" y="2885385"/>
            <a:ext cx="851463" cy="32076"/>
          </a:xfrm>
          <a:prstGeom prst="line">
            <a:avLst/>
          </a:prstGeom>
          <a:ln w="2857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45835F3-9FB4-16AB-5F9C-AF26BE30ECCE}"/>
              </a:ext>
            </a:extLst>
          </p:cNvPr>
          <p:cNvCxnSpPr>
            <a:cxnSpLocks/>
          </p:cNvCxnSpPr>
          <p:nvPr/>
        </p:nvCxnSpPr>
        <p:spPr>
          <a:xfrm>
            <a:off x="686454" y="2313348"/>
            <a:ext cx="0" cy="604114"/>
          </a:xfrm>
          <a:prstGeom prst="straightConnector1">
            <a:avLst/>
          </a:prstGeom>
          <a:ln w="76200">
            <a:solidFill>
              <a:schemeClr val="accent6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9B1D157-B760-5441-660F-F2AD93260626}"/>
              </a:ext>
            </a:extLst>
          </p:cNvPr>
          <p:cNvCxnSpPr>
            <a:cxnSpLocks/>
          </p:cNvCxnSpPr>
          <p:nvPr/>
        </p:nvCxnSpPr>
        <p:spPr>
          <a:xfrm>
            <a:off x="535748" y="2280526"/>
            <a:ext cx="0" cy="1439284"/>
          </a:xfrm>
          <a:prstGeom prst="straightConnector1">
            <a:avLst/>
          </a:prstGeom>
          <a:ln w="76200">
            <a:solidFill>
              <a:srgbClr val="ED5DE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FA0DDD59-6CF4-2CDC-F698-AA292B5BC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3924" y="2354470"/>
            <a:ext cx="4027851" cy="2131349"/>
          </a:xfrm>
        </p:spPr>
        <p:txBody>
          <a:bodyPr>
            <a:normAutofit/>
          </a:bodyPr>
          <a:lstStyle/>
          <a:p>
            <a:pPr marL="257175" indent="-257175">
              <a:lnSpc>
                <a:spcPct val="150000"/>
              </a:lnSpc>
              <a:buFont typeface="+mj-lt"/>
              <a:buAutoNum type="arabicPeriod"/>
            </a:pPr>
            <a:r>
              <a:rPr lang="he-IL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במשק ב' ישנם יותר עובדים.</a:t>
            </a:r>
            <a:endParaRPr lang="en-IL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57175" indent="-257175">
              <a:lnSpc>
                <a:spcPct val="150000"/>
              </a:lnSpc>
              <a:buFont typeface="+mj-lt"/>
              <a:buAutoNum type="arabicPeriod"/>
            </a:pPr>
            <a:r>
              <a:rPr lang="he-IL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בשני המשקים מייצרים כמות זהה של מוצר </a:t>
            </a:r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Y</a:t>
            </a:r>
            <a:r>
              <a:rPr lang="he-IL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en-IL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57175" indent="-257175">
              <a:lnSpc>
                <a:spcPct val="150000"/>
              </a:lnSpc>
              <a:buFont typeface="+mj-lt"/>
              <a:buAutoNum type="arabicPeriod"/>
            </a:pPr>
            <a:r>
              <a:rPr lang="he-IL" sz="120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העלות האלטרנטיבית הכוללת לייצור </a:t>
            </a:r>
            <a:r>
              <a:rPr lang="en-US" sz="1200" dirty="0">
                <a:latin typeface="Arial" panose="020B0604020202020204" pitchFamily="34" charset="0"/>
                <a:ea typeface="Times New Roman" panose="02020603050405020304" pitchFamily="18" charset="0"/>
              </a:rPr>
              <a:t>X</a:t>
            </a:r>
            <a:r>
              <a:rPr lang="he-IL" sz="120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גדולה יותר במשק ב.</a:t>
            </a:r>
            <a:endParaRPr lang="en-IL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57175" indent="-257175">
              <a:lnSpc>
                <a:spcPct val="150000"/>
              </a:lnSpc>
              <a:buFont typeface="+mj-lt"/>
              <a:buAutoNum type="arabicPeriod"/>
            </a:pPr>
            <a:r>
              <a:rPr lang="he-IL" sz="120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העלות האלטרנטיבית הכוללת לייצור </a:t>
            </a:r>
            <a:r>
              <a:rPr lang="en-US" sz="1200" dirty="0">
                <a:latin typeface="Arial" panose="020B0604020202020204" pitchFamily="34" charset="0"/>
                <a:ea typeface="Times New Roman" panose="02020603050405020304" pitchFamily="18" charset="0"/>
              </a:rPr>
              <a:t>Y</a:t>
            </a:r>
            <a:r>
              <a:rPr lang="he-IL" sz="120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גדולה יותר במשק א.</a:t>
            </a:r>
            <a:endParaRPr lang="en-IL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57175" indent="-257175">
              <a:lnSpc>
                <a:spcPct val="150000"/>
              </a:lnSpc>
              <a:buFont typeface="+mj-lt"/>
              <a:buAutoNum type="arabicPeriod"/>
            </a:pPr>
            <a:r>
              <a:rPr lang="he-IL" sz="120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כל התשובות האחרות לא נכונות.</a:t>
            </a:r>
            <a:endParaRPr lang="en-IL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IL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E6A0DE84-7D03-9FAB-958A-E61D13315E71}"/>
              </a:ext>
            </a:extLst>
          </p:cNvPr>
          <p:cNvSpPr txBox="1">
            <a:spLocks/>
          </p:cNvSpPr>
          <p:nvPr/>
        </p:nvSpPr>
        <p:spPr>
          <a:xfrm>
            <a:off x="1928893" y="939064"/>
            <a:ext cx="7061293" cy="1144287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rtl="1">
              <a:lnSpc>
                <a:spcPct val="107000"/>
              </a:lnSpc>
              <a:spcAft>
                <a:spcPts val="600"/>
              </a:spcAft>
              <a:buNone/>
            </a:pPr>
            <a:r>
              <a:rPr lang="he-IL" sz="15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נתון שני משקים סגורים, משק א' ומשק ב'. בכל אחד מהמשקים עקומת התמורה ליניארית.</a:t>
            </a:r>
            <a:endParaRPr lang="en-IL" sz="15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r" rtl="1">
              <a:lnSpc>
                <a:spcPct val="107000"/>
              </a:lnSpc>
              <a:spcAft>
                <a:spcPts val="600"/>
              </a:spcAft>
              <a:buNone/>
            </a:pPr>
            <a:r>
              <a:rPr lang="he-IL" sz="1500" b="1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למשק ב' עלות אלטרנטיבית שולית נמוכה יותר בייצור </a:t>
            </a:r>
            <a:r>
              <a:rPr lang="en-US" sz="15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Y</a:t>
            </a:r>
            <a:r>
              <a:rPr lang="he-IL" sz="1500" b="1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על פני משק א</a:t>
            </a:r>
            <a:r>
              <a:rPr lang="he-IL" sz="15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'. ידוע כי המשקים מייצרים כמויות זהות של מוצר </a:t>
            </a:r>
            <a:r>
              <a:rPr lang="en-US" sz="15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</a:t>
            </a:r>
            <a:r>
              <a:rPr lang="he-IL" sz="15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כלומר הכמות המיוצרת של </a:t>
            </a:r>
            <a:r>
              <a:rPr lang="en-US" sz="15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</a:t>
            </a:r>
            <a:r>
              <a:rPr lang="he-IL" sz="15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במשק א' זהה לכמות המיוצרת של </a:t>
            </a:r>
            <a:r>
              <a:rPr lang="en-US" sz="15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</a:t>
            </a:r>
            <a:r>
              <a:rPr lang="he-IL" sz="15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במשק ב'. לא ידוע מהי כמות </a:t>
            </a:r>
            <a:r>
              <a:rPr lang="en-US" sz="15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Y</a:t>
            </a:r>
            <a:r>
              <a:rPr lang="he-IL" sz="15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המיוצרת בכל משק. לאור זאת ניתן להגיד כי:</a:t>
            </a:r>
            <a:endParaRPr lang="en-IL" sz="15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r" rtl="1">
              <a:buNone/>
            </a:pPr>
            <a:endParaRPr lang="en-IL" sz="2100" dirty="0"/>
          </a:p>
        </p:txBody>
      </p:sp>
      <p:sp>
        <p:nvSpPr>
          <p:cNvPr id="20" name="תיבת טקסט 19">
            <a:extLst>
              <a:ext uri="{FF2B5EF4-FFF2-40B4-BE49-F238E27FC236}">
                <a16:creationId xmlns:a16="http://schemas.microsoft.com/office/drawing/2014/main" id="{BE91367D-A0A0-4375-D8E4-D3DFFDD76F9A}"/>
              </a:ext>
            </a:extLst>
          </p:cNvPr>
          <p:cNvSpPr txBox="1"/>
          <p:nvPr/>
        </p:nvSpPr>
        <p:spPr>
          <a:xfrm>
            <a:off x="2014063" y="4125199"/>
            <a:ext cx="76660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e-IL" sz="1350" b="1" dirty="0">
                <a:solidFill>
                  <a:srgbClr val="FF00FF"/>
                </a:solidFill>
              </a:rPr>
              <a:t>משק ב</a:t>
            </a:r>
            <a:endParaRPr lang="en-IL" sz="1350" b="1" dirty="0">
              <a:solidFill>
                <a:srgbClr val="FF00FF"/>
              </a:solidFill>
            </a:endParaRPr>
          </a:p>
        </p:txBody>
      </p:sp>
      <p:sp>
        <p:nvSpPr>
          <p:cNvPr id="22" name="תיבת טקסט 21">
            <a:extLst>
              <a:ext uri="{FF2B5EF4-FFF2-40B4-BE49-F238E27FC236}">
                <a16:creationId xmlns:a16="http://schemas.microsoft.com/office/drawing/2014/main" id="{D5A02727-AC7D-40E6-772D-2B4C134D2D82}"/>
              </a:ext>
            </a:extLst>
          </p:cNvPr>
          <p:cNvSpPr txBox="1"/>
          <p:nvPr/>
        </p:nvSpPr>
        <p:spPr>
          <a:xfrm>
            <a:off x="2946613" y="3562905"/>
            <a:ext cx="54487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e-IL" sz="1350" b="1" dirty="0"/>
              <a:t>משק א</a:t>
            </a:r>
            <a:endParaRPr lang="en-IL" sz="1350" b="1" dirty="0"/>
          </a:p>
        </p:txBody>
      </p:sp>
    </p:spTree>
    <p:extLst>
      <p:ext uri="{BB962C8B-B14F-4D97-AF65-F5344CB8AC3E}">
        <p14:creationId xmlns:p14="http://schemas.microsoft.com/office/powerpoint/2010/main" val="4067277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4" grpId="0"/>
      <p:bldP spid="18" grpId="0" animBg="1"/>
      <p:bldP spid="20" grpId="0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494EE-F673-5036-0509-D79986349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7503" y="141925"/>
            <a:ext cx="2745171" cy="572144"/>
          </a:xfrm>
        </p:spPr>
        <p:txBody>
          <a:bodyPr>
            <a:normAutofit fontScale="90000"/>
          </a:bodyPr>
          <a:lstStyle/>
          <a:p>
            <a:pPr algn="r" rtl="1"/>
            <a:r>
              <a:rPr lang="he-IL" dirty="0"/>
              <a:t>פתרון שאלה</a:t>
            </a:r>
            <a:endParaRPr lang="en-I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231AE2-9CAF-B108-2CAA-D723E66C975F}"/>
              </a:ext>
            </a:extLst>
          </p:cNvPr>
          <p:cNvSpPr/>
          <p:nvPr/>
        </p:nvSpPr>
        <p:spPr>
          <a:xfrm>
            <a:off x="3474805" y="3066683"/>
            <a:ext cx="5516795" cy="4001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sz="1350"/>
          </a:p>
        </p:txBody>
      </p:sp>
      <p:cxnSp>
        <p:nvCxnSpPr>
          <p:cNvPr id="7" name="מחבר ישר 42">
            <a:extLst>
              <a:ext uri="{FF2B5EF4-FFF2-40B4-BE49-F238E27FC236}">
                <a16:creationId xmlns:a16="http://schemas.microsoft.com/office/drawing/2014/main" id="{DC950A56-E163-FD3D-C0B1-E7663187C2DE}"/>
              </a:ext>
            </a:extLst>
          </p:cNvPr>
          <p:cNvCxnSpPr>
            <a:cxnSpLocks/>
          </p:cNvCxnSpPr>
          <p:nvPr/>
        </p:nvCxnSpPr>
        <p:spPr>
          <a:xfrm flipH="1">
            <a:off x="625427" y="2180164"/>
            <a:ext cx="1523" cy="3168813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Object 2">
            <a:extLst>
              <a:ext uri="{FF2B5EF4-FFF2-40B4-BE49-F238E27FC236}">
                <a16:creationId xmlns:a16="http://schemas.microsoft.com/office/drawing/2014/main" id="{DBFB35CC-4BFC-5B3E-66E9-C7F8C5B7F7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0926" y="1993771"/>
          <a:ext cx="275034" cy="372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680" imgH="164880" progId="Equation.DSMT4">
                  <p:embed/>
                </p:oleObj>
              </mc:Choice>
              <mc:Fallback>
                <p:oleObj name="Equation" r:id="rId2" imgW="139680" imgH="164880" progId="Equation.DSMT4">
                  <p:embed/>
                  <p:pic>
                    <p:nvPicPr>
                      <p:cNvPr id="8" name="Object 2">
                        <a:extLst>
                          <a:ext uri="{FF2B5EF4-FFF2-40B4-BE49-F238E27FC236}">
                            <a16:creationId xmlns:a16="http://schemas.microsoft.com/office/drawing/2014/main" id="{DBFB35CC-4BFC-5B3E-66E9-C7F8C5B7F7F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926" y="1993771"/>
                        <a:ext cx="275034" cy="3727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מחבר ישר 54">
            <a:extLst>
              <a:ext uri="{FF2B5EF4-FFF2-40B4-BE49-F238E27FC236}">
                <a16:creationId xmlns:a16="http://schemas.microsoft.com/office/drawing/2014/main" id="{9E425B57-ED91-5E7F-47C0-6998A09CCD91}"/>
              </a:ext>
            </a:extLst>
          </p:cNvPr>
          <p:cNvCxnSpPr>
            <a:cxnSpLocks/>
          </p:cNvCxnSpPr>
          <p:nvPr/>
        </p:nvCxnSpPr>
        <p:spPr>
          <a:xfrm flipV="1">
            <a:off x="624532" y="5348977"/>
            <a:ext cx="4986560" cy="5631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מחבר ישר 94">
            <a:extLst>
              <a:ext uri="{FF2B5EF4-FFF2-40B4-BE49-F238E27FC236}">
                <a16:creationId xmlns:a16="http://schemas.microsoft.com/office/drawing/2014/main" id="{AD15A094-857E-9185-1E33-F51843B98128}"/>
              </a:ext>
            </a:extLst>
          </p:cNvPr>
          <p:cNvCxnSpPr>
            <a:cxnSpLocks/>
          </p:cNvCxnSpPr>
          <p:nvPr/>
        </p:nvCxnSpPr>
        <p:spPr>
          <a:xfrm>
            <a:off x="641019" y="4361065"/>
            <a:ext cx="2050179" cy="993543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A5B2FE71-82DD-922C-1843-3DC41D1A163E}"/>
              </a:ext>
            </a:extLst>
          </p:cNvPr>
          <p:cNvSpPr/>
          <p:nvPr/>
        </p:nvSpPr>
        <p:spPr>
          <a:xfrm>
            <a:off x="2432567" y="5135525"/>
            <a:ext cx="272701" cy="32419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350" dirty="0"/>
              <a:t>A</a:t>
            </a:r>
            <a:endParaRPr lang="he-IL" sz="13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D655B0-AC93-8F48-1204-458215BBA292}"/>
              </a:ext>
            </a:extLst>
          </p:cNvPr>
          <p:cNvSpPr txBox="1"/>
          <p:nvPr/>
        </p:nvSpPr>
        <p:spPr>
          <a:xfrm>
            <a:off x="5856952" y="5297623"/>
            <a:ext cx="39008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/>
              <a:t>X</a:t>
            </a:r>
          </a:p>
        </p:txBody>
      </p:sp>
      <p:cxnSp>
        <p:nvCxnSpPr>
          <p:cNvPr id="13" name="מחבר ישר 94">
            <a:extLst>
              <a:ext uri="{FF2B5EF4-FFF2-40B4-BE49-F238E27FC236}">
                <a16:creationId xmlns:a16="http://schemas.microsoft.com/office/drawing/2014/main" id="{94C23A72-452C-CBC6-5A68-1399780CB7CE}"/>
              </a:ext>
            </a:extLst>
          </p:cNvPr>
          <p:cNvCxnSpPr>
            <a:cxnSpLocks/>
          </p:cNvCxnSpPr>
          <p:nvPr/>
        </p:nvCxnSpPr>
        <p:spPr>
          <a:xfrm>
            <a:off x="598833" y="2280526"/>
            <a:ext cx="2092365" cy="3068451"/>
          </a:xfrm>
          <a:prstGeom prst="line">
            <a:avLst/>
          </a:prstGeom>
          <a:ln w="41275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5A0BF37-B061-68A2-82AB-1EF39EC20306}"/>
              </a:ext>
            </a:extLst>
          </p:cNvPr>
          <p:cNvSpPr txBox="1"/>
          <p:nvPr/>
        </p:nvSpPr>
        <p:spPr>
          <a:xfrm>
            <a:off x="1339644" y="5399152"/>
            <a:ext cx="70620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/>
              <a:t>X</a:t>
            </a:r>
            <a:endParaRPr lang="en-IL" sz="210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1C8416F-6771-29A1-66F4-A4BDAC4DF3BF}"/>
              </a:ext>
            </a:extLst>
          </p:cNvPr>
          <p:cNvSpPr/>
          <p:nvPr/>
        </p:nvSpPr>
        <p:spPr>
          <a:xfrm>
            <a:off x="2425532" y="5146788"/>
            <a:ext cx="272701" cy="314567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350" dirty="0"/>
              <a:t>B</a:t>
            </a:r>
            <a:endParaRPr lang="he-IL" sz="1350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45835F3-9FB4-16AB-5F9C-AF26BE30ECCE}"/>
              </a:ext>
            </a:extLst>
          </p:cNvPr>
          <p:cNvCxnSpPr>
            <a:cxnSpLocks/>
          </p:cNvCxnSpPr>
          <p:nvPr/>
        </p:nvCxnSpPr>
        <p:spPr>
          <a:xfrm>
            <a:off x="438731" y="4239975"/>
            <a:ext cx="0" cy="1159178"/>
          </a:xfrm>
          <a:prstGeom prst="straightConnector1">
            <a:avLst/>
          </a:prstGeom>
          <a:ln w="76200">
            <a:solidFill>
              <a:schemeClr val="accent6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9B1D157-B760-5441-660F-F2AD93260626}"/>
              </a:ext>
            </a:extLst>
          </p:cNvPr>
          <p:cNvCxnSpPr>
            <a:cxnSpLocks/>
          </p:cNvCxnSpPr>
          <p:nvPr/>
        </p:nvCxnSpPr>
        <p:spPr>
          <a:xfrm>
            <a:off x="260926" y="2267704"/>
            <a:ext cx="0" cy="3131449"/>
          </a:xfrm>
          <a:prstGeom prst="straightConnector1">
            <a:avLst/>
          </a:prstGeom>
          <a:ln w="76200">
            <a:solidFill>
              <a:srgbClr val="ED5DE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CB5DC52-6BC8-17D5-C3D4-B0EEF47DA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0" y="2312249"/>
            <a:ext cx="4730681" cy="2131349"/>
          </a:xfrm>
        </p:spPr>
        <p:txBody>
          <a:bodyPr>
            <a:normAutofit/>
          </a:bodyPr>
          <a:lstStyle/>
          <a:p>
            <a:pPr marL="257175" indent="-257175">
              <a:lnSpc>
                <a:spcPct val="150000"/>
              </a:lnSpc>
              <a:buFont typeface="+mj-lt"/>
              <a:buAutoNum type="arabicPeriod"/>
            </a:pPr>
            <a:r>
              <a:rPr lang="he-IL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במשק ב' ישנם יותר עובדים.</a:t>
            </a:r>
            <a:endParaRPr lang="en-IL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57175" indent="-257175">
              <a:lnSpc>
                <a:spcPct val="150000"/>
              </a:lnSpc>
              <a:buFont typeface="+mj-lt"/>
              <a:buAutoNum type="arabicPeriod"/>
            </a:pPr>
            <a:r>
              <a:rPr lang="he-IL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בשני המשקים מייצרים כמות זהה של מוצר </a:t>
            </a:r>
            <a: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Y</a:t>
            </a:r>
            <a:r>
              <a:rPr lang="he-IL" sz="1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en-IL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57175" indent="-257175">
              <a:lnSpc>
                <a:spcPct val="150000"/>
              </a:lnSpc>
              <a:buFont typeface="+mj-lt"/>
              <a:buAutoNum type="arabicPeriod"/>
            </a:pPr>
            <a:r>
              <a:rPr lang="he-IL" sz="140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העלות האלטרנטיבית הכוללת לייצור </a:t>
            </a:r>
            <a:r>
              <a:rPr lang="en-US" sz="1400" dirty="0">
                <a:latin typeface="Arial" panose="020B0604020202020204" pitchFamily="34" charset="0"/>
                <a:ea typeface="Times New Roman" panose="02020603050405020304" pitchFamily="18" charset="0"/>
              </a:rPr>
              <a:t>X</a:t>
            </a:r>
            <a:r>
              <a:rPr lang="he-IL" sz="140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גדולה יותר במשק ב.</a:t>
            </a:r>
            <a:endParaRPr lang="en-IL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57175" indent="-257175">
              <a:lnSpc>
                <a:spcPct val="150000"/>
              </a:lnSpc>
              <a:buFont typeface="+mj-lt"/>
              <a:buAutoNum type="arabicPeriod"/>
            </a:pPr>
            <a:r>
              <a:rPr lang="he-IL" sz="140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העלות האלטרנטיבית הכוללת לייצור </a:t>
            </a:r>
            <a:r>
              <a:rPr lang="en-US" sz="1400" dirty="0">
                <a:latin typeface="Arial" panose="020B0604020202020204" pitchFamily="34" charset="0"/>
                <a:ea typeface="Times New Roman" panose="02020603050405020304" pitchFamily="18" charset="0"/>
              </a:rPr>
              <a:t>Y</a:t>
            </a:r>
            <a:r>
              <a:rPr lang="he-IL" sz="140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גדולה יותר במשק א.</a:t>
            </a:r>
            <a:endParaRPr lang="en-IL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57175" indent="-257175">
              <a:lnSpc>
                <a:spcPct val="150000"/>
              </a:lnSpc>
              <a:buFont typeface="+mj-lt"/>
              <a:buAutoNum type="arabicPeriod"/>
            </a:pPr>
            <a:r>
              <a:rPr lang="he-IL" sz="1400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כל התשובות האחרות לא נכונות.</a:t>
            </a:r>
            <a:endParaRPr lang="en-IL" sz="1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IL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E2483FE5-4F11-E490-3EA4-6B0DD0AE6FE0}"/>
              </a:ext>
            </a:extLst>
          </p:cNvPr>
          <p:cNvSpPr txBox="1">
            <a:spLocks/>
          </p:cNvSpPr>
          <p:nvPr/>
        </p:nvSpPr>
        <p:spPr>
          <a:xfrm>
            <a:off x="1901953" y="995950"/>
            <a:ext cx="6480047" cy="1144287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rtl="1">
              <a:lnSpc>
                <a:spcPct val="107000"/>
              </a:lnSpc>
              <a:spcAft>
                <a:spcPts val="600"/>
              </a:spcAft>
              <a:buNone/>
            </a:pPr>
            <a:r>
              <a:rPr lang="he-IL" sz="15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נתון שני משקים סגורים, משק א' ומשק ב'. בכל אחד מהמשקים עקומת התמורה ליניארית.</a:t>
            </a:r>
            <a:endParaRPr lang="en-IL" sz="15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r" rtl="1">
              <a:lnSpc>
                <a:spcPct val="107000"/>
              </a:lnSpc>
              <a:spcAft>
                <a:spcPts val="600"/>
              </a:spcAft>
              <a:buNone/>
            </a:pPr>
            <a:r>
              <a:rPr lang="he-IL" sz="1500" b="1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למשק ב' עלות אלטרנטיבית שולית נמוכה יותר בייצור </a:t>
            </a:r>
            <a:r>
              <a:rPr lang="en-US" sz="15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Y</a:t>
            </a:r>
            <a:r>
              <a:rPr lang="he-IL" sz="1500" b="1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על פני משק א</a:t>
            </a:r>
            <a:r>
              <a:rPr lang="he-IL" sz="15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'. ידוע כי המשקים מייצרים כמויות זהות של מוצר </a:t>
            </a:r>
            <a:r>
              <a:rPr lang="en-US" sz="15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</a:t>
            </a:r>
            <a:r>
              <a:rPr lang="he-IL" sz="15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כלומר הכמות המיוצרת של </a:t>
            </a:r>
            <a:r>
              <a:rPr lang="en-US" sz="15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</a:t>
            </a:r>
            <a:r>
              <a:rPr lang="he-IL" sz="15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במשק א' זהה לכמות המיוצרת של </a:t>
            </a:r>
            <a:r>
              <a:rPr lang="en-US" sz="15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</a:t>
            </a:r>
            <a:r>
              <a:rPr lang="he-IL" sz="15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במשק ב'. לא ידוע מהי כמות </a:t>
            </a:r>
            <a:r>
              <a:rPr lang="en-US" sz="15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Y</a:t>
            </a:r>
            <a:r>
              <a:rPr lang="he-IL" sz="1500" dirty="0"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המיוצרת בכל משק. לאור זאת ניתן להגיד כי:</a:t>
            </a:r>
            <a:endParaRPr lang="en-IL" sz="15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r" rtl="1">
              <a:buNone/>
            </a:pPr>
            <a:endParaRPr lang="en-IL" sz="2100" dirty="0"/>
          </a:p>
        </p:txBody>
      </p:sp>
      <p:sp>
        <p:nvSpPr>
          <p:cNvPr id="20" name="תיבת טקסט 19">
            <a:extLst>
              <a:ext uri="{FF2B5EF4-FFF2-40B4-BE49-F238E27FC236}">
                <a16:creationId xmlns:a16="http://schemas.microsoft.com/office/drawing/2014/main" id="{AA6646FB-0F75-DD73-B5F3-355DBF2AA812}"/>
              </a:ext>
            </a:extLst>
          </p:cNvPr>
          <p:cNvSpPr txBox="1"/>
          <p:nvPr/>
        </p:nvSpPr>
        <p:spPr>
          <a:xfrm>
            <a:off x="1044594" y="2653347"/>
            <a:ext cx="49687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e-IL" sz="1350" b="1" dirty="0">
                <a:solidFill>
                  <a:srgbClr val="FF00FF"/>
                </a:solidFill>
              </a:rPr>
              <a:t>משק ב</a:t>
            </a:r>
            <a:endParaRPr lang="en-IL" sz="1350" b="1" dirty="0">
              <a:solidFill>
                <a:srgbClr val="FF00FF"/>
              </a:solidFill>
            </a:endParaRPr>
          </a:p>
        </p:txBody>
      </p:sp>
      <p:sp>
        <p:nvSpPr>
          <p:cNvPr id="22" name="תיבת טקסט 21">
            <a:extLst>
              <a:ext uri="{FF2B5EF4-FFF2-40B4-BE49-F238E27FC236}">
                <a16:creationId xmlns:a16="http://schemas.microsoft.com/office/drawing/2014/main" id="{D00ED89D-8491-4390-6ACB-3E15DEE854F5}"/>
              </a:ext>
            </a:extLst>
          </p:cNvPr>
          <p:cNvSpPr txBox="1"/>
          <p:nvPr/>
        </p:nvSpPr>
        <p:spPr>
          <a:xfrm>
            <a:off x="798487" y="4075227"/>
            <a:ext cx="47828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e-IL" sz="1350" b="1" dirty="0"/>
              <a:t>משק א</a:t>
            </a:r>
            <a:endParaRPr lang="en-IL" sz="1350" b="1" dirty="0"/>
          </a:p>
        </p:txBody>
      </p:sp>
    </p:spTree>
    <p:extLst>
      <p:ext uri="{BB962C8B-B14F-4D97-AF65-F5344CB8AC3E}">
        <p14:creationId xmlns:p14="http://schemas.microsoft.com/office/powerpoint/2010/main" val="509994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4" grpId="0"/>
      <p:bldP spid="18" grpId="0" animBg="1"/>
      <p:bldP spid="20" grpId="0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של מספר שקופית 2">
            <a:extLst>
              <a:ext uri="{FF2B5EF4-FFF2-40B4-BE49-F238E27FC236}">
                <a16:creationId xmlns:a16="http://schemas.microsoft.com/office/drawing/2014/main" id="{54A53B30-E103-C3B8-4B97-77000EE03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B3163-752A-4F30-8133-06B1B9326B1F}" type="slidenum">
              <a:rPr lang="he-IL" smtClean="0"/>
              <a:t>13</a:t>
            </a:fld>
            <a:endParaRPr lang="he-IL"/>
          </a:p>
        </p:txBody>
      </p:sp>
      <p:sp>
        <p:nvSpPr>
          <p:cNvPr id="4" name="כותרת 3">
            <a:extLst>
              <a:ext uri="{FF2B5EF4-FFF2-40B4-BE49-F238E27FC236}">
                <a16:creationId xmlns:a16="http://schemas.microsoft.com/office/drawing/2014/main" id="{C1DF296E-3413-2FFD-B7D5-432222322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164" y="2057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he-IL" dirty="0"/>
              <a:t>שאלה 4 ואילך אינן רלוונטיות לבוחן הקרוב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859904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של מספר שקופית 2">
            <a:extLst>
              <a:ext uri="{FF2B5EF4-FFF2-40B4-BE49-F238E27FC236}">
                <a16:creationId xmlns:a16="http://schemas.microsoft.com/office/drawing/2014/main" id="{30059E28-2552-144E-16AB-11E34828B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14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FD2F622-CD4B-3269-F1E0-E1423EAEA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4639"/>
            <a:ext cx="7848600" cy="604354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שאלה 4 (2 מגבלות)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A51B09E-7D73-1277-32A2-06E15085CFF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829981"/>
            <a:ext cx="8035395" cy="3176378"/>
          </a:xfrm>
        </p:spPr>
        <p:txBody>
          <a:bodyPr>
            <a:normAutofit/>
          </a:bodyPr>
          <a:lstStyle/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400" dirty="0">
                <a:latin typeface="Arial" panose="020B0604020202020204" pitchFamily="34" charset="0"/>
                <a:cs typeface="Arial" panose="020B0604020202020204" pitchFamily="34" charset="0"/>
              </a:rPr>
              <a:t>בטסמניה יש 100 רופאים ו- 120 אחיות. לביצוע ניתוח זקוקים ל- 2 רופאים ואחות אחת. לביצוע בדיקה זקוקים לרופא אחד ו- 2 אחיות. הניחו שהמשק מייצר ביעילות ושניתן לבצע גם חלקי ניתוחים ובדיקות. מכאן ניתן להסיק כי: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he-IL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400" dirty="0">
                <a:latin typeface="Arial" panose="020B0604020202020204" pitchFamily="34" charset="0"/>
                <a:cs typeface="Arial" panose="020B0604020202020204" pitchFamily="34" charset="0"/>
              </a:rPr>
              <a:t>1. יש יותר מתשובה אחת נכונה</a:t>
            </a:r>
          </a:p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400" dirty="0">
                <a:latin typeface="Arial" panose="020B0604020202020204" pitchFamily="34" charset="0"/>
                <a:cs typeface="Arial" panose="020B0604020202020204" pitchFamily="34" charset="0"/>
              </a:rPr>
              <a:t> 2. כאשר כל הרופאים וכל האחיות מועסקים, העלות האלטרנטיבית הכוללת לביצוע ניתוחים היא 22 בדיקות. </a:t>
            </a:r>
          </a:p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400" dirty="0">
                <a:latin typeface="Arial" panose="020B0604020202020204" pitchFamily="34" charset="0"/>
                <a:cs typeface="Arial" panose="020B0604020202020204" pitchFamily="34" charset="0"/>
              </a:rPr>
              <a:t>3. בנקודה שבה כל הרופאים וכל האחיות מועסקים, הייצור יעיל יותר מאשר בשאר הנקודות על עקומת התמורה</a:t>
            </a:r>
          </a:p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400" dirty="0">
                <a:latin typeface="Arial" panose="020B0604020202020204" pitchFamily="34" charset="0"/>
                <a:cs typeface="Arial" panose="020B0604020202020204" pitchFamily="34" charset="0"/>
              </a:rPr>
              <a:t>4. כאשר מבוצעות 50 בדיקות, מבוצעים 20 ניתוחים.	</a:t>
            </a:r>
          </a:p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400" dirty="0">
                <a:latin typeface="Arial" panose="020B0604020202020204" pitchFamily="34" charset="0"/>
                <a:cs typeface="Arial" panose="020B0604020202020204" pitchFamily="34" charset="0"/>
              </a:rPr>
              <a:t>5. כאשר מבוצעים 40 ניתוחים, קיימת אבטלה מבנית של אחיות</a:t>
            </a:r>
          </a:p>
        </p:txBody>
      </p:sp>
    </p:spTree>
    <p:extLst>
      <p:ext uri="{BB962C8B-B14F-4D97-AF65-F5344CB8AC3E}">
        <p14:creationId xmlns:p14="http://schemas.microsoft.com/office/powerpoint/2010/main" val="1707302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4639"/>
            <a:ext cx="7848600" cy="604354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שאלה 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829981"/>
            <a:ext cx="8035395" cy="3176378"/>
          </a:xfrm>
        </p:spPr>
        <p:txBody>
          <a:bodyPr>
            <a:normAutofit/>
          </a:bodyPr>
          <a:lstStyle/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400" dirty="0">
                <a:latin typeface="Arial" panose="020B0604020202020204" pitchFamily="34" charset="0"/>
                <a:cs typeface="Arial" panose="020B0604020202020204" pitchFamily="34" charset="0"/>
              </a:rPr>
              <a:t>בטסמניה יש 100 רופאים ו- 120 אחיות. לביצוע ניתוח זקוקים ל- 2 רופאים ואחות אחת. לביצוע בדיקה זקוקים לרופא אחד ו- 2 אחיות. הניחו שהמשק מייצר ביעילות ושניתן לבצע גם חלקי ניתוחים ובדיקות. מכאן ניתן להסיק כי: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he-IL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400" dirty="0">
                <a:latin typeface="Arial" panose="020B0604020202020204" pitchFamily="34" charset="0"/>
                <a:cs typeface="Arial" panose="020B0604020202020204" pitchFamily="34" charset="0"/>
              </a:rPr>
              <a:t>1. יש יותר מתשובה אחת נכונה</a:t>
            </a:r>
          </a:p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400" dirty="0">
                <a:latin typeface="Arial" panose="020B0604020202020204" pitchFamily="34" charset="0"/>
                <a:cs typeface="Arial" panose="020B0604020202020204" pitchFamily="34" charset="0"/>
              </a:rPr>
              <a:t> 2. כאשר כל הרופאים וכל האחיות מועסקים, העלות האלטרנטיבית הכוללת לביצוע ניתוחים היא 22 בדיקות. </a:t>
            </a:r>
          </a:p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400" dirty="0">
                <a:latin typeface="Arial" panose="020B0604020202020204" pitchFamily="34" charset="0"/>
                <a:cs typeface="Arial" panose="020B0604020202020204" pitchFamily="34" charset="0"/>
              </a:rPr>
              <a:t>3. בנקודה שבה כל הרופאים וכל האחיות מועסקים, הייצור יעיל יותר מאשר בשאר הנקודות על עקומת התמורה</a:t>
            </a:r>
          </a:p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400" dirty="0">
                <a:latin typeface="Arial" panose="020B0604020202020204" pitchFamily="34" charset="0"/>
                <a:cs typeface="Arial" panose="020B0604020202020204" pitchFamily="34" charset="0"/>
              </a:rPr>
              <a:t>4. כאשר מבוצעות 50 בדיקות, מבוצעים 20 ניתוחים.	</a:t>
            </a:r>
          </a:p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400" dirty="0">
                <a:latin typeface="Arial" panose="020B0604020202020204" pitchFamily="34" charset="0"/>
                <a:cs typeface="Arial" panose="020B0604020202020204" pitchFamily="34" charset="0"/>
              </a:rPr>
              <a:t>5. כאשר מבוצעים 40 ניתוחים, קיימת אבטלה מבנית של אחיות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15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טבלה 12">
                <a:extLst>
                  <a:ext uri="{FF2B5EF4-FFF2-40B4-BE49-F238E27FC236}">
                    <a16:creationId xmlns:a16="http://schemas.microsoft.com/office/drawing/2014/main" id="{5338B37B-9D51-E343-96DA-4274989EAE9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6918427"/>
                  </p:ext>
                </p:extLst>
              </p:nvPr>
            </p:nvGraphicFramePr>
            <p:xfrm>
              <a:off x="3512454" y="3619805"/>
              <a:ext cx="5259560" cy="2003755"/>
            </p:xfrm>
            <a:graphic>
              <a:graphicData uri="http://schemas.openxmlformats.org/drawingml/2006/table">
                <a:tbl>
                  <a:tblPr rtl="1" firstRow="1" bandRow="1">
                    <a:tableStyleId>{5940675A-B579-460E-94D1-54222C63F5DA}</a:tableStyleId>
                  </a:tblPr>
                  <a:tblGrid>
                    <a:gridCol w="80694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9397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9096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98159">
                      <a:extLst>
                        <a:ext uri="{9D8B030D-6E8A-4147-A177-3AD203B41FA5}">
                          <a16:colId xmlns:a16="http://schemas.microsoft.com/office/drawing/2014/main" val="729882449"/>
                        </a:ext>
                      </a:extLst>
                    </a:gridCol>
                    <a:gridCol w="1020901">
                      <a:extLst>
                        <a:ext uri="{9D8B030D-6E8A-4147-A177-3AD203B41FA5}">
                          <a16:colId xmlns:a16="http://schemas.microsoft.com/office/drawing/2014/main" val="1582318644"/>
                        </a:ext>
                      </a:extLst>
                    </a:gridCol>
                    <a:gridCol w="114861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14899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b="1" dirty="0"/>
                            <a:t>גורם ייצור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dirty="0"/>
                            <a:t>סך כמות גו''י</a:t>
                          </a:r>
                          <a:r>
                            <a:rPr lang="he-IL" baseline="0" dirty="0"/>
                            <a:t> 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 err="1"/>
                            <a:t>Xmax</a:t>
                          </a:r>
                          <a:r>
                            <a:rPr lang="he-IL" dirty="0"/>
                            <a:t> =</a:t>
                          </a:r>
                          <a:r>
                            <a:rPr lang="he-IL" sz="1600" dirty="0"/>
                            <a:t>מספר ניתוחים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/>
                            <a:t>Ymax</a:t>
                          </a:r>
                          <a:r>
                            <a:rPr lang="he-IL" dirty="0"/>
                            <a:t> =</a:t>
                          </a:r>
                          <a:r>
                            <a:rPr lang="he-IL" sz="1600" dirty="0"/>
                            <a:t>מספר בדיקות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600" dirty="0"/>
                            <a:t>ע.א.ש</a:t>
                          </a:r>
                          <a:r>
                            <a:rPr lang="en-US" sz="1600" dirty="0"/>
                            <a:t> </a:t>
                          </a:r>
                          <a:r>
                            <a:rPr lang="he-IL" sz="1600" dirty="0"/>
                            <a:t>ל-</a:t>
                          </a:r>
                          <a:r>
                            <a:rPr lang="en-US" sz="1600" dirty="0"/>
                            <a:t> X</a:t>
                          </a:r>
                        </a:p>
                        <a:p>
                          <a:pPr algn="ctr"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he-IL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400" dirty="0" err="1"/>
                            <a:t>ע.א.ש</a:t>
                          </a:r>
                          <a:r>
                            <a:rPr lang="he-IL" sz="1400" dirty="0"/>
                            <a:t> לייצור </a:t>
                          </a:r>
                          <a:r>
                            <a:rPr lang="en-US" sz="1400" dirty="0"/>
                            <a:t>Y</a:t>
                          </a:r>
                          <a:endParaRPr lang="he-IL" sz="1400" dirty="0"/>
                        </a:p>
                        <a:p>
                          <a:pPr algn="ctr"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he-IL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he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1140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b="1" dirty="0">
                              <a:solidFill>
                                <a:srgbClr val="FF0000"/>
                              </a:solidFill>
                            </a:rPr>
                            <a:t>רופאים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endParaRPr lang="he-IL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endParaRPr lang="he-IL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rtl="1"/>
                          <a:endParaRPr lang="he-IL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endParaRPr lang="he-IL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48215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b="1" dirty="0">
                              <a:solidFill>
                                <a:srgbClr val="0070C0"/>
                              </a:solidFill>
                            </a:rPr>
                            <a:t>אחיות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120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endParaRPr lang="he-IL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endParaRPr lang="he-IL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endParaRPr lang="he-IL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endParaRPr lang="he-IL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טבלה 12">
                <a:extLst>
                  <a:ext uri="{FF2B5EF4-FFF2-40B4-BE49-F238E27FC236}">
                    <a16:creationId xmlns:a16="http://schemas.microsoft.com/office/drawing/2014/main" id="{5338B37B-9D51-E343-96DA-4274989EAE9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6918427"/>
                  </p:ext>
                </p:extLst>
              </p:nvPr>
            </p:nvGraphicFramePr>
            <p:xfrm>
              <a:off x="3512454" y="3619805"/>
              <a:ext cx="5259560" cy="2003755"/>
            </p:xfrm>
            <a:graphic>
              <a:graphicData uri="http://schemas.openxmlformats.org/drawingml/2006/table">
                <a:tbl>
                  <a:tblPr rtl="1" firstRow="1" bandRow="1">
                    <a:tableStyleId>{5940675A-B579-460E-94D1-54222C63F5DA}</a:tableStyleId>
                  </a:tblPr>
                  <a:tblGrid>
                    <a:gridCol w="80694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9397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9096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98159">
                      <a:extLst>
                        <a:ext uri="{9D8B030D-6E8A-4147-A177-3AD203B41FA5}">
                          <a16:colId xmlns:a16="http://schemas.microsoft.com/office/drawing/2014/main" val="729882449"/>
                        </a:ext>
                      </a:extLst>
                    </a:gridCol>
                    <a:gridCol w="1020901">
                      <a:extLst>
                        <a:ext uri="{9D8B030D-6E8A-4147-A177-3AD203B41FA5}">
                          <a16:colId xmlns:a16="http://schemas.microsoft.com/office/drawing/2014/main" val="1582318644"/>
                        </a:ext>
                      </a:extLst>
                    </a:gridCol>
                    <a:gridCol w="114861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b="1" dirty="0"/>
                            <a:t>גורם ייצור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dirty="0"/>
                            <a:t>סך כמות גו''י</a:t>
                          </a:r>
                          <a:r>
                            <a:rPr lang="he-IL" baseline="0" dirty="0"/>
                            <a:t> 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 err="1"/>
                            <a:t>Xmax</a:t>
                          </a:r>
                          <a:r>
                            <a:rPr lang="he-IL" dirty="0"/>
                            <a:t> =</a:t>
                          </a:r>
                          <a:r>
                            <a:rPr lang="he-IL" sz="1600" dirty="0"/>
                            <a:t>מספר ניתוחים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/>
                            <a:t>Ymax</a:t>
                          </a:r>
                          <a:r>
                            <a:rPr lang="he-IL" dirty="0"/>
                            <a:t> =</a:t>
                          </a:r>
                          <a:r>
                            <a:rPr lang="he-IL" sz="1600" dirty="0"/>
                            <a:t>מספר בדיקות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302381" t="-3311" r="-113690" b="-1198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359574" t="-3311" r="-1596" b="-11986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1140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b="1" dirty="0">
                              <a:solidFill>
                                <a:srgbClr val="FF0000"/>
                              </a:solidFill>
                            </a:rPr>
                            <a:t>רופאים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endParaRPr lang="he-IL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endParaRPr lang="he-IL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rtl="1"/>
                          <a:endParaRPr lang="he-IL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endParaRPr lang="he-IL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48215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b="1" dirty="0">
                              <a:solidFill>
                                <a:srgbClr val="0070C0"/>
                              </a:solidFill>
                            </a:rPr>
                            <a:t>אחיות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120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endParaRPr lang="he-IL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endParaRPr lang="he-IL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endParaRPr lang="he-IL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endParaRPr lang="he-IL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30315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4639"/>
            <a:ext cx="7848600" cy="604354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שאלה 4 (2 מגבלות)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829981"/>
            <a:ext cx="8035395" cy="3176378"/>
          </a:xfrm>
        </p:spPr>
        <p:txBody>
          <a:bodyPr>
            <a:normAutofit/>
          </a:bodyPr>
          <a:lstStyle/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400" dirty="0">
                <a:latin typeface="Arial" panose="020B0604020202020204" pitchFamily="34" charset="0"/>
                <a:cs typeface="Arial" panose="020B0604020202020204" pitchFamily="34" charset="0"/>
              </a:rPr>
              <a:t>בטסמניה יש 100 רופאים ו- 120 אחיות. לביצוע ניתוח זקוקים ל- 2 רופאים ואחות אחת. לביצוע בדיקה זקוקים לרופא אחד ו- 2 אחיות. הניחו שהמשק מייצר ביעילות ושניתן לבצע גם חלקי ניתוחים ובדיקות. מכאן ניתן להסיק כי: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he-IL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400" dirty="0">
                <a:latin typeface="Arial" panose="020B0604020202020204" pitchFamily="34" charset="0"/>
                <a:cs typeface="Arial" panose="020B0604020202020204" pitchFamily="34" charset="0"/>
              </a:rPr>
              <a:t>1. יש יותר מתשובה אחת נכונה</a:t>
            </a:r>
          </a:p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400" dirty="0">
                <a:latin typeface="Arial" panose="020B0604020202020204" pitchFamily="34" charset="0"/>
                <a:cs typeface="Arial" panose="020B0604020202020204" pitchFamily="34" charset="0"/>
              </a:rPr>
              <a:t> 2. כאשר כל הרופאים וכל האחיות מועסקים, העלות האלטרנטיבית הכוללת לביצוע ניתוחים היא 22 בדיקות. </a:t>
            </a:r>
          </a:p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400" dirty="0">
                <a:latin typeface="Arial" panose="020B0604020202020204" pitchFamily="34" charset="0"/>
                <a:cs typeface="Arial" panose="020B0604020202020204" pitchFamily="34" charset="0"/>
              </a:rPr>
              <a:t>3. בנקודה שבה כל הרופאים וכל האחיות מועסקים, הייצור יעיל יותר מאשר בשאר הנקודות על עקומת התמורה</a:t>
            </a:r>
          </a:p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400" dirty="0">
                <a:latin typeface="Arial" panose="020B0604020202020204" pitchFamily="34" charset="0"/>
                <a:cs typeface="Arial" panose="020B0604020202020204" pitchFamily="34" charset="0"/>
              </a:rPr>
              <a:t>4. כאשר מבוצעות 50 בדיקות, מבוצעים 20 ניתוחים.	</a:t>
            </a:r>
          </a:p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400" dirty="0">
                <a:latin typeface="Arial" panose="020B0604020202020204" pitchFamily="34" charset="0"/>
                <a:cs typeface="Arial" panose="020B0604020202020204" pitchFamily="34" charset="0"/>
              </a:rPr>
              <a:t>5. כאשר מבוצעים 40 ניתוחים, קיימת אבטלה מבנית של אחיות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16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טבלה 12">
                <a:extLst>
                  <a:ext uri="{FF2B5EF4-FFF2-40B4-BE49-F238E27FC236}">
                    <a16:creationId xmlns:a16="http://schemas.microsoft.com/office/drawing/2014/main" id="{5338B37B-9D51-E343-96DA-4274989EAE9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3658392"/>
                  </p:ext>
                </p:extLst>
              </p:nvPr>
            </p:nvGraphicFramePr>
            <p:xfrm>
              <a:off x="3512454" y="3619805"/>
              <a:ext cx="5259560" cy="2003755"/>
            </p:xfrm>
            <a:graphic>
              <a:graphicData uri="http://schemas.openxmlformats.org/drawingml/2006/table">
                <a:tbl>
                  <a:tblPr rtl="1" firstRow="1" bandRow="1">
                    <a:tableStyleId>{5940675A-B579-460E-94D1-54222C63F5DA}</a:tableStyleId>
                  </a:tblPr>
                  <a:tblGrid>
                    <a:gridCol w="80694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9397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9096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98159">
                      <a:extLst>
                        <a:ext uri="{9D8B030D-6E8A-4147-A177-3AD203B41FA5}">
                          <a16:colId xmlns:a16="http://schemas.microsoft.com/office/drawing/2014/main" val="729882449"/>
                        </a:ext>
                      </a:extLst>
                    </a:gridCol>
                    <a:gridCol w="1020901">
                      <a:extLst>
                        <a:ext uri="{9D8B030D-6E8A-4147-A177-3AD203B41FA5}">
                          <a16:colId xmlns:a16="http://schemas.microsoft.com/office/drawing/2014/main" val="1582318644"/>
                        </a:ext>
                      </a:extLst>
                    </a:gridCol>
                    <a:gridCol w="114861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14899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b="1" dirty="0"/>
                            <a:t>גורם ייצור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dirty="0"/>
                            <a:t>סך כמות גו''י</a:t>
                          </a:r>
                          <a:r>
                            <a:rPr lang="he-IL" baseline="0" dirty="0"/>
                            <a:t> 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 err="1"/>
                            <a:t>Xmax</a:t>
                          </a:r>
                          <a:r>
                            <a:rPr lang="he-IL" dirty="0"/>
                            <a:t> =</a:t>
                          </a:r>
                          <a:r>
                            <a:rPr lang="he-IL" sz="1600" dirty="0"/>
                            <a:t>מספר ניתוחים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/>
                            <a:t>Ymax</a:t>
                          </a:r>
                          <a:r>
                            <a:rPr lang="he-IL" dirty="0"/>
                            <a:t> =</a:t>
                          </a:r>
                          <a:r>
                            <a:rPr lang="he-IL" sz="1600" dirty="0"/>
                            <a:t>מספר בדיקות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600" dirty="0"/>
                            <a:t>ע.א.ש</a:t>
                          </a:r>
                          <a:r>
                            <a:rPr lang="en-US" sz="1600" dirty="0"/>
                            <a:t> </a:t>
                          </a:r>
                          <a:r>
                            <a:rPr lang="he-IL" sz="1600" dirty="0"/>
                            <a:t>ל-</a:t>
                          </a:r>
                          <a:r>
                            <a:rPr lang="en-US" sz="1600" dirty="0"/>
                            <a:t> X</a:t>
                          </a:r>
                        </a:p>
                        <a:p>
                          <a:pPr algn="ctr"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he-IL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400" dirty="0" err="1"/>
                            <a:t>ע.א.ש</a:t>
                          </a:r>
                          <a:r>
                            <a:rPr lang="he-IL" sz="1400" dirty="0"/>
                            <a:t> לייצור </a:t>
                          </a:r>
                          <a:r>
                            <a:rPr lang="en-US" sz="1400" dirty="0"/>
                            <a:t>Y</a:t>
                          </a:r>
                          <a:endParaRPr lang="he-IL" sz="1400" dirty="0"/>
                        </a:p>
                        <a:p>
                          <a:pPr algn="ctr"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he-IL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he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1140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b="1" dirty="0">
                              <a:solidFill>
                                <a:srgbClr val="FF0000"/>
                              </a:solidFill>
                            </a:rPr>
                            <a:t>רופאים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rtl="1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he-IL" b="0" i="1" smtClean="0">
                                      <a:latin typeface="Cambria Math" panose="02040503050406030204" pitchFamily="18" charset="0"/>
                                    </a:rPr>
                                    <m:t>100</m:t>
                                  </m:r>
                                </m:num>
                                <m:den>
                                  <m:r>
                                    <a:rPr lang="he-IL" b="0" i="1" smtClean="0">
                                      <a:latin typeface="Cambria Math" panose="02040503050406030204" pitchFamily="18" charset="0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=2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endParaRPr lang="he-IL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48215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b="1" dirty="0">
                              <a:solidFill>
                                <a:srgbClr val="0070C0"/>
                              </a:solidFill>
                            </a:rPr>
                            <a:t>אחיות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120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120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60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endParaRPr lang="he-IL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endParaRPr lang="he-IL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טבלה 12">
                <a:extLst>
                  <a:ext uri="{FF2B5EF4-FFF2-40B4-BE49-F238E27FC236}">
                    <a16:creationId xmlns:a16="http://schemas.microsoft.com/office/drawing/2014/main" id="{5338B37B-9D51-E343-96DA-4274989EAE9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3658392"/>
                  </p:ext>
                </p:extLst>
              </p:nvPr>
            </p:nvGraphicFramePr>
            <p:xfrm>
              <a:off x="3512454" y="3619805"/>
              <a:ext cx="5259560" cy="2003755"/>
            </p:xfrm>
            <a:graphic>
              <a:graphicData uri="http://schemas.openxmlformats.org/drawingml/2006/table">
                <a:tbl>
                  <a:tblPr rtl="1" firstRow="1" bandRow="1">
                    <a:tableStyleId>{5940675A-B579-460E-94D1-54222C63F5DA}</a:tableStyleId>
                  </a:tblPr>
                  <a:tblGrid>
                    <a:gridCol w="80694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9397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9096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98159">
                      <a:extLst>
                        <a:ext uri="{9D8B030D-6E8A-4147-A177-3AD203B41FA5}">
                          <a16:colId xmlns:a16="http://schemas.microsoft.com/office/drawing/2014/main" val="729882449"/>
                        </a:ext>
                      </a:extLst>
                    </a:gridCol>
                    <a:gridCol w="1020901">
                      <a:extLst>
                        <a:ext uri="{9D8B030D-6E8A-4147-A177-3AD203B41FA5}">
                          <a16:colId xmlns:a16="http://schemas.microsoft.com/office/drawing/2014/main" val="1582318644"/>
                        </a:ext>
                      </a:extLst>
                    </a:gridCol>
                    <a:gridCol w="114861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b="1" dirty="0"/>
                            <a:t>גורם ייצור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dirty="0"/>
                            <a:t>סך כמות גו''י</a:t>
                          </a:r>
                          <a:r>
                            <a:rPr lang="he-IL" baseline="0" dirty="0"/>
                            <a:t> 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 err="1"/>
                            <a:t>Xmax</a:t>
                          </a:r>
                          <a:r>
                            <a:rPr lang="he-IL" dirty="0"/>
                            <a:t> =</a:t>
                          </a:r>
                          <a:r>
                            <a:rPr lang="he-IL" sz="1600" dirty="0"/>
                            <a:t>מספר ניתוחים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/>
                            <a:t>Ymax</a:t>
                          </a:r>
                          <a:r>
                            <a:rPr lang="he-IL" dirty="0"/>
                            <a:t> =</a:t>
                          </a:r>
                          <a:r>
                            <a:rPr lang="he-IL" sz="1600" dirty="0"/>
                            <a:t>מספר בדיקות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302381" t="-3311" r="-113690" b="-1198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359574" t="-3311" r="-1596" b="-11986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1140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b="1" dirty="0">
                              <a:solidFill>
                                <a:srgbClr val="FF0000"/>
                              </a:solidFill>
                            </a:rPr>
                            <a:t>רופאים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02381" t="-175281" r="-113690" b="-1033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r" rtl="1"/>
                          <a:endParaRPr lang="he-IL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48215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b="1" dirty="0">
                              <a:solidFill>
                                <a:srgbClr val="0070C0"/>
                              </a:solidFill>
                            </a:rPr>
                            <a:t>אחיות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120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120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60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endParaRPr lang="he-IL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endParaRPr lang="he-IL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74847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4639"/>
            <a:ext cx="7848600" cy="604354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שאלה 4 (2 מגבלות)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199" y="725252"/>
            <a:ext cx="8035395" cy="3176378"/>
          </a:xfrm>
        </p:spPr>
        <p:txBody>
          <a:bodyPr>
            <a:normAutofit/>
          </a:bodyPr>
          <a:lstStyle/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400" dirty="0">
                <a:latin typeface="Arial" panose="020B0604020202020204" pitchFamily="34" charset="0"/>
                <a:cs typeface="Arial" panose="020B0604020202020204" pitchFamily="34" charset="0"/>
              </a:rPr>
              <a:t>בטסמניה יש 100 רופאים ו- 120 אחיות. לביצוע ניתוח זקוקים ל- 2 רופאים ואחות אחת. לביצוע בדיקה זקוקים לרופא אחד ו- 2 אחיות. הניחו שהמשק מייצר ביעילות ושניתן לבצע גם חלקי ניתוחים ובדיקות. מכאן ניתן להסיק כי: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he-IL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400" dirty="0">
                <a:latin typeface="Arial" panose="020B0604020202020204" pitchFamily="34" charset="0"/>
                <a:cs typeface="Arial" panose="020B0604020202020204" pitchFamily="34" charset="0"/>
              </a:rPr>
              <a:t>1. יש יותר מתשובה אחת נכונה</a:t>
            </a:r>
          </a:p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400" dirty="0">
                <a:latin typeface="Arial" panose="020B0604020202020204" pitchFamily="34" charset="0"/>
                <a:cs typeface="Arial" panose="020B0604020202020204" pitchFamily="34" charset="0"/>
              </a:rPr>
              <a:t> 2. כאשר כל הרופאים וכל האחיות מועסקים, העלות האלטרנטיבית הכוללת לביצוע ניתוחים היא 22 בדיקות. </a:t>
            </a:r>
          </a:p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400" dirty="0">
                <a:latin typeface="Arial" panose="020B0604020202020204" pitchFamily="34" charset="0"/>
                <a:cs typeface="Arial" panose="020B0604020202020204" pitchFamily="34" charset="0"/>
              </a:rPr>
              <a:t>3. בנקודה שבה כל הרופאים וכל האחיות מועסקים, הייצור יעיל יותר מאשר בשאר הנקודות על עקומת התמורה</a:t>
            </a:r>
          </a:p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400" dirty="0">
                <a:latin typeface="Arial" panose="020B0604020202020204" pitchFamily="34" charset="0"/>
                <a:cs typeface="Arial" panose="020B0604020202020204" pitchFamily="34" charset="0"/>
              </a:rPr>
              <a:t>4. כאשר מבוצעות 50 בדיקות, מבוצעים 20 ניתוחים.	</a:t>
            </a:r>
          </a:p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400" dirty="0">
                <a:latin typeface="Arial" panose="020B0604020202020204" pitchFamily="34" charset="0"/>
                <a:cs typeface="Arial" panose="020B0604020202020204" pitchFamily="34" charset="0"/>
              </a:rPr>
              <a:t>5. כאשר מבוצעים 40 ניתוחים, קיימת אבטלה מבנית של אחיות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17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920405" y="5579837"/>
                <a:ext cx="102803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26</m:t>
                      </m:r>
                      <m:r>
                        <a:rPr lang="en-US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66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405" y="5579837"/>
                <a:ext cx="1028037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/>
          <p:cNvCxnSpPr>
            <a:cxnSpLocks/>
          </p:cNvCxnSpPr>
          <p:nvPr/>
        </p:nvCxnSpPr>
        <p:spPr>
          <a:xfrm>
            <a:off x="603504" y="3944511"/>
            <a:ext cx="2197681" cy="1613135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7849993-BEAC-CFB8-FCA6-FDF9672D63D6}"/>
              </a:ext>
            </a:extLst>
          </p:cNvPr>
          <p:cNvCxnSpPr>
            <a:cxnSpLocks/>
          </p:cNvCxnSpPr>
          <p:nvPr/>
        </p:nvCxnSpPr>
        <p:spPr>
          <a:xfrm>
            <a:off x="606463" y="5535929"/>
            <a:ext cx="2408031" cy="312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AE7AE45-E888-C845-165C-14566894A128}"/>
              </a:ext>
            </a:extLst>
          </p:cNvPr>
          <p:cNvCxnSpPr>
            <a:cxnSpLocks/>
          </p:cNvCxnSpPr>
          <p:nvPr/>
        </p:nvCxnSpPr>
        <p:spPr>
          <a:xfrm flipV="1">
            <a:off x="603504" y="2667000"/>
            <a:ext cx="0" cy="28940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3EA8E0CE-826E-02BF-0B9A-B15371B79292}"/>
              </a:ext>
            </a:extLst>
          </p:cNvPr>
          <p:cNvSpPr/>
          <p:nvPr/>
        </p:nvSpPr>
        <p:spPr>
          <a:xfrm>
            <a:off x="1449608" y="4552013"/>
            <a:ext cx="216928" cy="191787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B821780-CADC-1417-DF23-CAAD2948B857}"/>
              </a:ext>
            </a:extLst>
          </p:cNvPr>
          <p:cNvCxnSpPr>
            <a:cxnSpLocks/>
          </p:cNvCxnSpPr>
          <p:nvPr/>
        </p:nvCxnSpPr>
        <p:spPr>
          <a:xfrm>
            <a:off x="603503" y="3097521"/>
            <a:ext cx="1497566" cy="246693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FCC877B9-465E-C723-5E20-091E9A7AF895}"/>
                  </a:ext>
                </a:extLst>
              </p:cNvPr>
              <p:cNvSpPr/>
              <p:nvPr/>
            </p:nvSpPr>
            <p:spPr>
              <a:xfrm>
                <a:off x="2610171" y="5467563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FCC877B9-465E-C723-5E20-091E9A7AF8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171" y="5467563"/>
                <a:ext cx="1028037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0994878-2676-3B9F-1C2D-FACB13CDA04C}"/>
                  </a:ext>
                </a:extLst>
              </p:cNvPr>
              <p:cNvSpPr/>
              <p:nvPr/>
            </p:nvSpPr>
            <p:spPr>
              <a:xfrm>
                <a:off x="-56819" y="2469884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0994878-2676-3B9F-1C2D-FACB13CDA0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6819" y="2469884"/>
                <a:ext cx="1028037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4B38D71-CCD6-875B-030B-E8A95426CFCC}"/>
              </a:ext>
            </a:extLst>
          </p:cNvPr>
          <p:cNvCxnSpPr>
            <a:cxnSpLocks/>
          </p:cNvCxnSpPr>
          <p:nvPr/>
        </p:nvCxnSpPr>
        <p:spPr>
          <a:xfrm flipH="1">
            <a:off x="1513061" y="4647906"/>
            <a:ext cx="18041" cy="934449"/>
          </a:xfrm>
          <a:prstGeom prst="line">
            <a:avLst/>
          </a:prstGeom>
          <a:ln>
            <a:solidFill>
              <a:srgbClr val="00206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9C7CD899-CCED-4878-4633-B7ED46287F7F}"/>
              </a:ext>
            </a:extLst>
          </p:cNvPr>
          <p:cNvSpPr txBox="1"/>
          <p:nvPr/>
        </p:nvSpPr>
        <p:spPr>
          <a:xfrm>
            <a:off x="1962411" y="5297479"/>
            <a:ext cx="84627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70C0"/>
                </a:solidFill>
              </a:rPr>
              <a:t>-0.5</a:t>
            </a:r>
            <a:endParaRPr lang="en-US" b="1" dirty="0">
              <a:solidFill>
                <a:srgbClr val="0070C0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BF71CE-240F-CED1-B85A-61F6E2A4AED2}"/>
              </a:ext>
            </a:extLst>
          </p:cNvPr>
          <p:cNvCxnSpPr>
            <a:cxnSpLocks/>
          </p:cNvCxnSpPr>
          <p:nvPr/>
        </p:nvCxnSpPr>
        <p:spPr>
          <a:xfrm flipH="1" flipV="1">
            <a:off x="610229" y="4647906"/>
            <a:ext cx="842373" cy="22309"/>
          </a:xfrm>
          <a:prstGeom prst="line">
            <a:avLst/>
          </a:prstGeom>
          <a:ln>
            <a:solidFill>
              <a:srgbClr val="00206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7BF38D0-F16A-35C7-6A3B-9663490B8254}"/>
                  </a:ext>
                </a:extLst>
              </p:cNvPr>
              <p:cNvSpPr txBox="1"/>
              <p:nvPr/>
            </p:nvSpPr>
            <p:spPr>
              <a:xfrm>
                <a:off x="1339275" y="5274578"/>
                <a:ext cx="84627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he-IL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7BF38D0-F16A-35C7-6A3B-9663490B82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9275" y="5274578"/>
                <a:ext cx="84627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081ACF7-6578-0A31-347B-138BD7A1FE6F}"/>
                  </a:ext>
                </a:extLst>
              </p:cNvPr>
              <p:cNvSpPr/>
              <p:nvPr/>
            </p:nvSpPr>
            <p:spPr>
              <a:xfrm>
                <a:off x="146839" y="3767475"/>
                <a:ext cx="54886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he-IL" dirty="0">
                          <a:solidFill>
                            <a:srgbClr val="0070C0"/>
                          </a:solidFill>
                        </a:rPr>
                        <m:t>60</m:t>
                      </m:r>
                    </m:oMath>
                  </m:oMathPara>
                </a14:m>
                <a:endParaRPr lang="he-IL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081ACF7-6578-0A31-347B-138BD7A1FE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39" y="3767475"/>
                <a:ext cx="54886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B910252-F708-25AE-053F-7112439F183B}"/>
                  </a:ext>
                </a:extLst>
              </p:cNvPr>
              <p:cNvSpPr/>
              <p:nvPr/>
            </p:nvSpPr>
            <p:spPr>
              <a:xfrm>
                <a:off x="9525" y="2872051"/>
                <a:ext cx="7209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he-IL" dirty="0">
                          <a:solidFill>
                            <a:srgbClr val="FF0000"/>
                          </a:solidFill>
                        </a:rPr>
                        <m:t>100</m:t>
                      </m:r>
                    </m:oMath>
                  </m:oMathPara>
                </a14:m>
                <a:endParaRPr lang="he-I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B910252-F708-25AE-053F-7112439F18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" y="2872051"/>
                <a:ext cx="72093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טבלה 4">
                <a:extLst>
                  <a:ext uri="{FF2B5EF4-FFF2-40B4-BE49-F238E27FC236}">
                    <a16:creationId xmlns:a16="http://schemas.microsoft.com/office/drawing/2014/main" id="{4C52CB52-ABCA-1369-283E-8C43843D024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73264630"/>
                  </p:ext>
                </p:extLst>
              </p:nvPr>
            </p:nvGraphicFramePr>
            <p:xfrm>
              <a:off x="3512454" y="3619805"/>
              <a:ext cx="5259560" cy="2003755"/>
            </p:xfrm>
            <a:graphic>
              <a:graphicData uri="http://schemas.openxmlformats.org/drawingml/2006/table">
                <a:tbl>
                  <a:tblPr rtl="1" firstRow="1" bandRow="1">
                    <a:tableStyleId>{5940675A-B579-460E-94D1-54222C63F5DA}</a:tableStyleId>
                  </a:tblPr>
                  <a:tblGrid>
                    <a:gridCol w="80694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9397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9096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98159">
                      <a:extLst>
                        <a:ext uri="{9D8B030D-6E8A-4147-A177-3AD203B41FA5}">
                          <a16:colId xmlns:a16="http://schemas.microsoft.com/office/drawing/2014/main" val="729882449"/>
                        </a:ext>
                      </a:extLst>
                    </a:gridCol>
                    <a:gridCol w="1020901">
                      <a:extLst>
                        <a:ext uri="{9D8B030D-6E8A-4147-A177-3AD203B41FA5}">
                          <a16:colId xmlns:a16="http://schemas.microsoft.com/office/drawing/2014/main" val="1582318644"/>
                        </a:ext>
                      </a:extLst>
                    </a:gridCol>
                    <a:gridCol w="114861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14899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b="1" dirty="0"/>
                            <a:t>גורם ייצור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dirty="0"/>
                            <a:t>סך כמות גו''י</a:t>
                          </a:r>
                          <a:r>
                            <a:rPr lang="he-IL" baseline="0" dirty="0"/>
                            <a:t> 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 err="1"/>
                            <a:t>Xmax</a:t>
                          </a:r>
                          <a:r>
                            <a:rPr lang="he-IL" dirty="0"/>
                            <a:t> =</a:t>
                          </a:r>
                          <a:r>
                            <a:rPr lang="he-IL" sz="1600" dirty="0"/>
                            <a:t>מספר ניתוחים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/>
                            <a:t>Ymax</a:t>
                          </a:r>
                          <a:r>
                            <a:rPr lang="he-IL" dirty="0"/>
                            <a:t> =</a:t>
                          </a:r>
                          <a:r>
                            <a:rPr lang="he-IL" sz="1600" dirty="0"/>
                            <a:t>מספר בדיקות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600" dirty="0"/>
                            <a:t>ע.א.ש</a:t>
                          </a:r>
                          <a:r>
                            <a:rPr lang="en-US" sz="1600" dirty="0"/>
                            <a:t> </a:t>
                          </a:r>
                          <a:r>
                            <a:rPr lang="he-IL" sz="1600" dirty="0"/>
                            <a:t>ל-</a:t>
                          </a:r>
                          <a:r>
                            <a:rPr lang="en-US" sz="1600" dirty="0"/>
                            <a:t> X</a:t>
                          </a:r>
                        </a:p>
                        <a:p>
                          <a:pPr algn="ctr"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he-IL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400" dirty="0" err="1"/>
                            <a:t>ע.א.ש</a:t>
                          </a:r>
                          <a:r>
                            <a:rPr lang="he-IL" sz="1400" dirty="0"/>
                            <a:t> לייצור </a:t>
                          </a:r>
                          <a:r>
                            <a:rPr lang="en-US" sz="1400" dirty="0"/>
                            <a:t>Y</a:t>
                          </a:r>
                          <a:endParaRPr lang="he-IL" sz="1400" dirty="0"/>
                        </a:p>
                        <a:p>
                          <a:pPr algn="ctr"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he-IL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he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1140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b="1" dirty="0">
                              <a:solidFill>
                                <a:srgbClr val="FF0000"/>
                              </a:solidFill>
                            </a:rPr>
                            <a:t>רופאים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rtl="1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he-IL" b="0" i="1" smtClean="0">
                                      <a:latin typeface="Cambria Math" panose="02040503050406030204" pitchFamily="18" charset="0"/>
                                    </a:rPr>
                                    <m:t>100</m:t>
                                  </m:r>
                                </m:num>
                                <m:den>
                                  <m:r>
                                    <a:rPr lang="he-IL" b="0" i="1" smtClean="0">
                                      <a:latin typeface="Cambria Math" panose="02040503050406030204" pitchFamily="18" charset="0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=2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he-IL" b="0" i="1" smtClean="0">
                                      <a:latin typeface="Cambria Math" panose="02040503050406030204" pitchFamily="18" charset="0"/>
                                    </a:rPr>
                                    <m:t>50</m:t>
                                  </m:r>
                                </m:num>
                                <m:den>
                                  <m:r>
                                    <a:rPr lang="he-IL" b="0" i="1" smtClean="0">
                                      <a:latin typeface="Cambria Math" panose="02040503050406030204" pitchFamily="18" charset="0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=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he-IL" b="1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he-IL" dirty="0" smtClean="0">
                                      <a:solidFill>
                                        <a:srgbClr val="FF0000"/>
                                      </a:solidFill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he-IL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48215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b="1" dirty="0">
                              <a:solidFill>
                                <a:srgbClr val="0070C0"/>
                              </a:solidFill>
                            </a:rPr>
                            <a:t>אחיות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120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120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60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nor/>
                                    </m:rPr>
                                    <a:rPr lang="he-IL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60 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he-IL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120 </m:t>
                                  </m:r>
                                </m:den>
                              </m:f>
                            </m:oMath>
                          </a14:m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=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he-IL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he-IL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he-IL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nor/>
                                    </m:rPr>
                                    <a:rPr lang="he-IL" b="0" i="0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12</m:t>
                                  </m:r>
                                  <m:r>
                                    <m:rPr>
                                      <m:nor/>
                                    </m:rPr>
                                    <a:rPr lang="he-IL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0 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he-IL" b="0" i="0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6</m:t>
                                  </m:r>
                                  <m:r>
                                    <m:rPr>
                                      <m:nor/>
                                    </m:rPr>
                                    <a:rPr lang="he-IL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0 </m:t>
                                  </m:r>
                                </m:den>
                              </m:f>
                            </m:oMath>
                          </a14:m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=</a:t>
                          </a:r>
                          <a14:m>
                            <m:oMath xmlns:m="http://schemas.openxmlformats.org/officeDocument/2006/math">
                              <m:r>
                                <a:rPr lang="he-IL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oMath>
                          </a14:m>
                          <a:endParaRPr lang="he-IL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טבלה 4">
                <a:extLst>
                  <a:ext uri="{FF2B5EF4-FFF2-40B4-BE49-F238E27FC236}">
                    <a16:creationId xmlns:a16="http://schemas.microsoft.com/office/drawing/2014/main" id="{4C52CB52-ABCA-1369-283E-8C43843D024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73264630"/>
                  </p:ext>
                </p:extLst>
              </p:nvPr>
            </p:nvGraphicFramePr>
            <p:xfrm>
              <a:off x="3512454" y="3619805"/>
              <a:ext cx="5259560" cy="2003755"/>
            </p:xfrm>
            <a:graphic>
              <a:graphicData uri="http://schemas.openxmlformats.org/drawingml/2006/table">
                <a:tbl>
                  <a:tblPr rtl="1" firstRow="1" bandRow="1">
                    <a:tableStyleId>{5940675A-B579-460E-94D1-54222C63F5DA}</a:tableStyleId>
                  </a:tblPr>
                  <a:tblGrid>
                    <a:gridCol w="80694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9397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9096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98159">
                      <a:extLst>
                        <a:ext uri="{9D8B030D-6E8A-4147-A177-3AD203B41FA5}">
                          <a16:colId xmlns:a16="http://schemas.microsoft.com/office/drawing/2014/main" val="729882449"/>
                        </a:ext>
                      </a:extLst>
                    </a:gridCol>
                    <a:gridCol w="1020901">
                      <a:extLst>
                        <a:ext uri="{9D8B030D-6E8A-4147-A177-3AD203B41FA5}">
                          <a16:colId xmlns:a16="http://schemas.microsoft.com/office/drawing/2014/main" val="1582318644"/>
                        </a:ext>
                      </a:extLst>
                    </a:gridCol>
                    <a:gridCol w="114861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b="1" dirty="0"/>
                            <a:t>גורם ייצור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dirty="0"/>
                            <a:t>סך כמות גו''י</a:t>
                          </a:r>
                          <a:r>
                            <a:rPr lang="he-IL" baseline="0" dirty="0"/>
                            <a:t> 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 err="1"/>
                            <a:t>Xmax</a:t>
                          </a:r>
                          <a:r>
                            <a:rPr lang="he-IL" dirty="0"/>
                            <a:t> =</a:t>
                          </a:r>
                          <a:r>
                            <a:rPr lang="he-IL" sz="1600" dirty="0"/>
                            <a:t>מספר ניתוחים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/>
                            <a:t>Ymax</a:t>
                          </a:r>
                          <a:r>
                            <a:rPr lang="he-IL" dirty="0"/>
                            <a:t> =</a:t>
                          </a:r>
                          <a:r>
                            <a:rPr lang="he-IL" sz="1600" dirty="0"/>
                            <a:t>מספר בדיקות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8"/>
                          <a:stretch>
                            <a:fillRect l="-302381" t="-3311" r="-113690" b="-1205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8"/>
                          <a:stretch>
                            <a:fillRect l="-359574" t="-3311" r="-1596" b="-1205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1140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b="1" dirty="0">
                              <a:solidFill>
                                <a:srgbClr val="FF0000"/>
                              </a:solidFill>
                            </a:rPr>
                            <a:t>רופאים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302381" t="-175281" r="-113690" b="-1044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359574" t="-175281" r="-1596" b="-1044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48215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b="1" dirty="0">
                              <a:solidFill>
                                <a:srgbClr val="0070C0"/>
                              </a:solidFill>
                            </a:rPr>
                            <a:t>אחיות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120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120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60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302381" t="-272222" r="-113690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359574" t="-272222" r="-1596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27">
                <a:extLst>
                  <a:ext uri="{FF2B5EF4-FFF2-40B4-BE49-F238E27FC236}">
                    <a16:creationId xmlns:a16="http://schemas.microsoft.com/office/drawing/2014/main" id="{DC39A655-029D-3661-2C81-C886EFDE45FF}"/>
                  </a:ext>
                </a:extLst>
              </p:cNvPr>
              <p:cNvSpPr/>
              <p:nvPr/>
            </p:nvSpPr>
            <p:spPr>
              <a:xfrm>
                <a:off x="1585536" y="5514641"/>
                <a:ext cx="7209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he-IL" b="0" i="0" dirty="0" smtClean="0">
                          <a:solidFill>
                            <a:srgbClr val="FF0000"/>
                          </a:solidFill>
                        </a:rPr>
                        <m:t>50</m:t>
                      </m:r>
                    </m:oMath>
                  </m:oMathPara>
                </a14:m>
                <a:endParaRPr lang="he-I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Rectangle 27">
                <a:extLst>
                  <a:ext uri="{FF2B5EF4-FFF2-40B4-BE49-F238E27FC236}">
                    <a16:creationId xmlns:a16="http://schemas.microsoft.com/office/drawing/2014/main" id="{DC39A655-029D-3661-2C81-C886EFDE45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5536" y="5514641"/>
                <a:ext cx="720936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26">
                <a:extLst>
                  <a:ext uri="{FF2B5EF4-FFF2-40B4-BE49-F238E27FC236}">
                    <a16:creationId xmlns:a16="http://schemas.microsoft.com/office/drawing/2014/main" id="{BD962056-299B-2FAB-719E-1D0FD597A4B5}"/>
                  </a:ext>
                </a:extLst>
              </p:cNvPr>
              <p:cNvSpPr/>
              <p:nvPr/>
            </p:nvSpPr>
            <p:spPr>
              <a:xfrm>
                <a:off x="2501303" y="5514641"/>
                <a:ext cx="54886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he-IL" b="0" i="0" dirty="0" smtClean="0">
                          <a:solidFill>
                            <a:srgbClr val="0070C0"/>
                          </a:solidFill>
                        </a:rPr>
                        <m:t>12</m:t>
                      </m:r>
                      <m:r>
                        <m:rPr>
                          <m:nor/>
                        </m:rPr>
                        <a:rPr lang="he-IL" dirty="0">
                          <a:solidFill>
                            <a:srgbClr val="0070C0"/>
                          </a:solidFill>
                        </a:rPr>
                        <m:t>0</m:t>
                      </m:r>
                    </m:oMath>
                  </m:oMathPara>
                </a14:m>
                <a:endParaRPr lang="he-IL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3" name="Rectangle 26">
                <a:extLst>
                  <a:ext uri="{FF2B5EF4-FFF2-40B4-BE49-F238E27FC236}">
                    <a16:creationId xmlns:a16="http://schemas.microsoft.com/office/drawing/2014/main" id="{BD962056-299B-2FAB-719E-1D0FD597A4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1303" y="5514641"/>
                <a:ext cx="54886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4">
                <a:extLst>
                  <a:ext uri="{FF2B5EF4-FFF2-40B4-BE49-F238E27FC236}">
                    <a16:creationId xmlns:a16="http://schemas.microsoft.com/office/drawing/2014/main" id="{6FE6F570-9522-D38F-A765-436F06904882}"/>
                  </a:ext>
                </a:extLst>
              </p:cNvPr>
              <p:cNvSpPr/>
              <p:nvPr/>
            </p:nvSpPr>
            <p:spPr>
              <a:xfrm>
                <a:off x="-127464" y="4512462"/>
                <a:ext cx="102803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46</m:t>
                      </m:r>
                      <m:r>
                        <a:rPr lang="en-US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66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 14">
                <a:extLst>
                  <a:ext uri="{FF2B5EF4-FFF2-40B4-BE49-F238E27FC236}">
                    <a16:creationId xmlns:a16="http://schemas.microsoft.com/office/drawing/2014/main" id="{6FE6F570-9522-D38F-A765-436F069048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7464" y="4512462"/>
                <a:ext cx="1028037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מחבר ישר 20">
            <a:extLst>
              <a:ext uri="{FF2B5EF4-FFF2-40B4-BE49-F238E27FC236}">
                <a16:creationId xmlns:a16="http://schemas.microsoft.com/office/drawing/2014/main" id="{49078C39-3860-5569-615D-9D3982CA6A8D}"/>
              </a:ext>
            </a:extLst>
          </p:cNvPr>
          <p:cNvCxnSpPr>
            <a:cxnSpLocks/>
            <a:endCxn id="43" idx="2"/>
          </p:cNvCxnSpPr>
          <p:nvPr/>
        </p:nvCxnSpPr>
        <p:spPr>
          <a:xfrm>
            <a:off x="610228" y="4010079"/>
            <a:ext cx="839380" cy="637828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מחבר ישר 29">
            <a:extLst>
              <a:ext uri="{FF2B5EF4-FFF2-40B4-BE49-F238E27FC236}">
                <a16:creationId xmlns:a16="http://schemas.microsoft.com/office/drawing/2014/main" id="{A4530306-6043-9919-0DC7-820FD43C8446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1531102" y="4727093"/>
            <a:ext cx="414902" cy="787548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9617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43" grpId="0" animBg="1"/>
      <p:bldP spid="46" grpId="0"/>
      <p:bldP spid="47" grpId="0"/>
      <p:bldP spid="58" grpId="0"/>
      <p:bldP spid="24" grpId="0"/>
      <p:bldP spid="27" grpId="0"/>
      <p:bldP spid="28" grpId="0"/>
      <p:bldP spid="11" grpId="0"/>
      <p:bldP spid="13" grpId="0"/>
      <p:bldP spid="1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4639"/>
            <a:ext cx="7848600" cy="604354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שאלה 4 (2 מגבלות)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199" y="725252"/>
            <a:ext cx="8035395" cy="3176378"/>
          </a:xfrm>
        </p:spPr>
        <p:txBody>
          <a:bodyPr>
            <a:normAutofit/>
          </a:bodyPr>
          <a:lstStyle/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400" dirty="0">
                <a:latin typeface="Arial" panose="020B0604020202020204" pitchFamily="34" charset="0"/>
                <a:cs typeface="Arial" panose="020B0604020202020204" pitchFamily="34" charset="0"/>
              </a:rPr>
              <a:t>בטסמניה יש 100 רופאים ו- 120 אחיות. לביצוע ניתוח זקוקים ל- 2 רופאים ואחות אחת. לביצוע בדיקה זקוקים לרופא אחד ו- 2 אחיות. הניחו שהמשק מייצר ביעילות ושניתן לבצע גם חלקי ניתוחים ובדיקות. מכאן ניתן להסיק כי: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he-IL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400" dirty="0">
                <a:latin typeface="Arial" panose="020B0604020202020204" pitchFamily="34" charset="0"/>
                <a:cs typeface="Arial" panose="020B0604020202020204" pitchFamily="34" charset="0"/>
              </a:rPr>
              <a:t>1. יש יותר מתשובה אחת נכונה</a:t>
            </a:r>
          </a:p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400" dirty="0">
                <a:latin typeface="Arial" panose="020B0604020202020204" pitchFamily="34" charset="0"/>
                <a:cs typeface="Arial" panose="020B0604020202020204" pitchFamily="34" charset="0"/>
              </a:rPr>
              <a:t> 2. כאשר כל הרופאים וכל האחיות מועסקים, העלות האלטרנטיבית הכוללת לביצוע ניתוחים היא 22 בדיקות. </a:t>
            </a:r>
          </a:p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400" b="1" dirty="0">
                <a:latin typeface="Arial" panose="020B0604020202020204" pitchFamily="34" charset="0"/>
                <a:cs typeface="Arial" panose="020B0604020202020204" pitchFamily="34" charset="0"/>
              </a:rPr>
              <a:t>      נכון או לא?</a:t>
            </a:r>
            <a:endParaRPr lang="he-IL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18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920405" y="5579837"/>
                <a:ext cx="102803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26</m:t>
                      </m:r>
                      <m:r>
                        <a:rPr lang="en-US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66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405" y="5579837"/>
                <a:ext cx="1028037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/>
          <p:cNvCxnSpPr>
            <a:cxnSpLocks/>
          </p:cNvCxnSpPr>
          <p:nvPr/>
        </p:nvCxnSpPr>
        <p:spPr>
          <a:xfrm>
            <a:off x="603504" y="3944511"/>
            <a:ext cx="2197681" cy="1613135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7849993-BEAC-CFB8-FCA6-FDF9672D63D6}"/>
              </a:ext>
            </a:extLst>
          </p:cNvPr>
          <p:cNvCxnSpPr>
            <a:cxnSpLocks/>
          </p:cNvCxnSpPr>
          <p:nvPr/>
        </p:nvCxnSpPr>
        <p:spPr>
          <a:xfrm>
            <a:off x="606463" y="5535929"/>
            <a:ext cx="2408031" cy="312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AE7AE45-E888-C845-165C-14566894A128}"/>
              </a:ext>
            </a:extLst>
          </p:cNvPr>
          <p:cNvCxnSpPr>
            <a:cxnSpLocks/>
          </p:cNvCxnSpPr>
          <p:nvPr/>
        </p:nvCxnSpPr>
        <p:spPr>
          <a:xfrm flipV="1">
            <a:off x="603504" y="2667000"/>
            <a:ext cx="0" cy="28940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3EA8E0CE-826E-02BF-0B9A-B15371B79292}"/>
              </a:ext>
            </a:extLst>
          </p:cNvPr>
          <p:cNvSpPr/>
          <p:nvPr/>
        </p:nvSpPr>
        <p:spPr>
          <a:xfrm>
            <a:off x="1470643" y="4478370"/>
            <a:ext cx="302987" cy="311215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A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B821780-CADC-1417-DF23-CAAD2948B857}"/>
              </a:ext>
            </a:extLst>
          </p:cNvPr>
          <p:cNvCxnSpPr>
            <a:cxnSpLocks/>
          </p:cNvCxnSpPr>
          <p:nvPr/>
        </p:nvCxnSpPr>
        <p:spPr>
          <a:xfrm>
            <a:off x="603503" y="3097521"/>
            <a:ext cx="1497566" cy="246693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FCC877B9-465E-C723-5E20-091E9A7AF895}"/>
                  </a:ext>
                </a:extLst>
              </p:cNvPr>
              <p:cNvSpPr/>
              <p:nvPr/>
            </p:nvSpPr>
            <p:spPr>
              <a:xfrm>
                <a:off x="2610171" y="5467563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FCC877B9-465E-C723-5E20-091E9A7AF8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171" y="5467563"/>
                <a:ext cx="1028037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0994878-2676-3B9F-1C2D-FACB13CDA04C}"/>
                  </a:ext>
                </a:extLst>
              </p:cNvPr>
              <p:cNvSpPr/>
              <p:nvPr/>
            </p:nvSpPr>
            <p:spPr>
              <a:xfrm>
                <a:off x="-56819" y="2469884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0994878-2676-3B9F-1C2D-FACB13CDA0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6819" y="2469884"/>
                <a:ext cx="1028037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4B38D71-CCD6-875B-030B-E8A95426CFCC}"/>
              </a:ext>
            </a:extLst>
          </p:cNvPr>
          <p:cNvCxnSpPr>
            <a:cxnSpLocks/>
          </p:cNvCxnSpPr>
          <p:nvPr/>
        </p:nvCxnSpPr>
        <p:spPr>
          <a:xfrm flipH="1">
            <a:off x="1513061" y="4647906"/>
            <a:ext cx="18041" cy="934449"/>
          </a:xfrm>
          <a:prstGeom prst="line">
            <a:avLst/>
          </a:prstGeom>
          <a:ln>
            <a:solidFill>
              <a:srgbClr val="00206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9C7CD899-CCED-4878-4633-B7ED46287F7F}"/>
              </a:ext>
            </a:extLst>
          </p:cNvPr>
          <p:cNvSpPr txBox="1"/>
          <p:nvPr/>
        </p:nvSpPr>
        <p:spPr>
          <a:xfrm>
            <a:off x="1962411" y="5297479"/>
            <a:ext cx="84627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70C0"/>
                </a:solidFill>
              </a:rPr>
              <a:t>-0.5</a:t>
            </a:r>
            <a:endParaRPr lang="en-US" b="1" dirty="0">
              <a:solidFill>
                <a:srgbClr val="0070C0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BF71CE-240F-CED1-B85A-61F6E2A4AED2}"/>
              </a:ext>
            </a:extLst>
          </p:cNvPr>
          <p:cNvCxnSpPr>
            <a:cxnSpLocks/>
          </p:cNvCxnSpPr>
          <p:nvPr/>
        </p:nvCxnSpPr>
        <p:spPr>
          <a:xfrm flipH="1" flipV="1">
            <a:off x="610229" y="4647906"/>
            <a:ext cx="842373" cy="22309"/>
          </a:xfrm>
          <a:prstGeom prst="line">
            <a:avLst/>
          </a:prstGeom>
          <a:ln>
            <a:solidFill>
              <a:srgbClr val="00206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7BF38D0-F16A-35C7-6A3B-9663490B8254}"/>
                  </a:ext>
                </a:extLst>
              </p:cNvPr>
              <p:cNvSpPr txBox="1"/>
              <p:nvPr/>
            </p:nvSpPr>
            <p:spPr>
              <a:xfrm>
                <a:off x="1339275" y="5274578"/>
                <a:ext cx="84627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he-IL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7BF38D0-F16A-35C7-6A3B-9663490B82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9275" y="5274578"/>
                <a:ext cx="84627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081ACF7-6578-0A31-347B-138BD7A1FE6F}"/>
                  </a:ext>
                </a:extLst>
              </p:cNvPr>
              <p:cNvSpPr/>
              <p:nvPr/>
            </p:nvSpPr>
            <p:spPr>
              <a:xfrm>
                <a:off x="146839" y="3767475"/>
                <a:ext cx="54886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he-IL" dirty="0">
                          <a:solidFill>
                            <a:srgbClr val="0070C0"/>
                          </a:solidFill>
                        </a:rPr>
                        <m:t>60</m:t>
                      </m:r>
                    </m:oMath>
                  </m:oMathPara>
                </a14:m>
                <a:endParaRPr lang="he-IL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081ACF7-6578-0A31-347B-138BD7A1FE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39" y="3767475"/>
                <a:ext cx="54886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B910252-F708-25AE-053F-7112439F183B}"/>
                  </a:ext>
                </a:extLst>
              </p:cNvPr>
              <p:cNvSpPr/>
              <p:nvPr/>
            </p:nvSpPr>
            <p:spPr>
              <a:xfrm>
                <a:off x="9525" y="2872051"/>
                <a:ext cx="7209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he-IL" dirty="0">
                          <a:solidFill>
                            <a:srgbClr val="FF0000"/>
                          </a:solidFill>
                        </a:rPr>
                        <m:t>100</m:t>
                      </m:r>
                    </m:oMath>
                  </m:oMathPara>
                </a14:m>
                <a:endParaRPr lang="he-I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B910252-F708-25AE-053F-7112439F18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" y="2872051"/>
                <a:ext cx="72093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טבלה 4">
                <a:extLst>
                  <a:ext uri="{FF2B5EF4-FFF2-40B4-BE49-F238E27FC236}">
                    <a16:creationId xmlns:a16="http://schemas.microsoft.com/office/drawing/2014/main" id="{4C52CB52-ABCA-1369-283E-8C43843D024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972050" y="4432585"/>
              <a:ext cx="3714750" cy="1683985"/>
            </p:xfrm>
            <a:graphic>
              <a:graphicData uri="http://schemas.openxmlformats.org/drawingml/2006/table">
                <a:tbl>
                  <a:tblPr rtl="1" firstRow="1" bandRow="1">
                    <a:tableStyleId>{5940675A-B579-460E-94D1-54222C63F5DA}</a:tableStyleId>
                  </a:tblPr>
                  <a:tblGrid>
                    <a:gridCol w="48918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6331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76489">
                      <a:extLst>
                        <a:ext uri="{9D8B030D-6E8A-4147-A177-3AD203B41FA5}">
                          <a16:colId xmlns:a16="http://schemas.microsoft.com/office/drawing/2014/main" val="729882449"/>
                        </a:ext>
                      </a:extLst>
                    </a:gridCol>
                    <a:gridCol w="710984">
                      <a:extLst>
                        <a:ext uri="{9D8B030D-6E8A-4147-A177-3AD203B41FA5}">
                          <a16:colId xmlns:a16="http://schemas.microsoft.com/office/drawing/2014/main" val="1582318644"/>
                        </a:ext>
                      </a:extLst>
                    </a:gridCol>
                    <a:gridCol w="76517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535774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200" b="1" dirty="0"/>
                            <a:t>גורם ייצור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200" dirty="0"/>
                            <a:t>סך כמות גו''י</a:t>
                          </a:r>
                          <a:r>
                            <a:rPr lang="he-IL" sz="1200" baseline="0" dirty="0"/>
                            <a:t> </a:t>
                          </a:r>
                          <a:endParaRPr lang="he-IL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1200" dirty="0"/>
                            <a:t>X</a:t>
                          </a:r>
                          <a:r>
                            <a:rPr lang="he-IL" sz="1200" dirty="0"/>
                            <a:t> =</a:t>
                          </a:r>
                          <a:r>
                            <a:rPr lang="he-IL" sz="1100" dirty="0"/>
                            <a:t>מספר ניתוחים</a:t>
                          </a:r>
                          <a:endParaRPr lang="he-IL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/>
                            <a:t>Y</a:t>
                          </a:r>
                          <a:r>
                            <a:rPr lang="he-IL" sz="1200" dirty="0"/>
                            <a:t> =</a:t>
                          </a:r>
                          <a:r>
                            <a:rPr lang="he-IL" sz="1100" dirty="0"/>
                            <a:t>מספר בדיקות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100" dirty="0"/>
                            <a:t>ע.א.ש</a:t>
                          </a:r>
                          <a:r>
                            <a:rPr lang="en-US" sz="1100" dirty="0"/>
                            <a:t> </a:t>
                          </a:r>
                          <a:r>
                            <a:rPr lang="he-IL" sz="1100" dirty="0"/>
                            <a:t>ל-</a:t>
                          </a:r>
                          <a:r>
                            <a:rPr lang="en-US" sz="1100" dirty="0"/>
                            <a:t> X</a:t>
                          </a:r>
                        </a:p>
                        <a:p>
                          <a:pPr algn="ctr"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he-IL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num>
                                  <m:den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050" dirty="0" err="1"/>
                            <a:t>ע.א.ש</a:t>
                          </a:r>
                          <a:r>
                            <a:rPr lang="he-IL" sz="1050" dirty="0"/>
                            <a:t> לייצור </a:t>
                          </a:r>
                          <a:r>
                            <a:rPr lang="en-US" sz="1050" dirty="0"/>
                            <a:t>Y</a:t>
                          </a:r>
                          <a:endParaRPr lang="he-IL" sz="1050" dirty="0"/>
                        </a:p>
                        <a:p>
                          <a:pPr algn="ctr"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he-IL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num>
                                  <m:den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he-IL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2957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sz="1200" b="1" dirty="0">
                              <a:solidFill>
                                <a:srgbClr val="FF0000"/>
                              </a:solidFill>
                            </a:rPr>
                            <a:t>רופאים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sz="1200" dirty="0">
                              <a:solidFill>
                                <a:srgbClr val="FF0000"/>
                              </a:solidFill>
                            </a:rPr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sz="1200" dirty="0">
                              <a:solidFill>
                                <a:srgbClr val="FF0000"/>
                              </a:solidFill>
                            </a:rPr>
                            <a:t>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sz="1200" dirty="0">
                              <a:solidFill>
                                <a:srgbClr val="FF0000"/>
                              </a:solidFill>
                            </a:rPr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rtl="1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he-IL" sz="1200" b="0" i="1" smtClean="0">
                                      <a:latin typeface="Cambria Math" panose="02040503050406030204" pitchFamily="18" charset="0"/>
                                    </a:rPr>
                                    <m:t>100</m:t>
                                  </m:r>
                                </m:num>
                                <m:den>
                                  <m:r>
                                    <a:rPr lang="he-IL" sz="1200" b="0" i="1" smtClean="0">
                                      <a:latin typeface="Cambria Math" panose="02040503050406030204" pitchFamily="18" charset="0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r>
                            <a:rPr lang="he-IL" sz="1200" dirty="0">
                              <a:solidFill>
                                <a:srgbClr val="FF0000"/>
                              </a:solidFill>
                            </a:rPr>
                            <a:t>=</a:t>
                          </a:r>
                          <a:r>
                            <a:rPr lang="he-IL" sz="1400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he-IL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he-IL" sz="1200" b="0" i="1" smtClean="0">
                                      <a:latin typeface="Cambria Math" panose="02040503050406030204" pitchFamily="18" charset="0"/>
                                    </a:rPr>
                                    <m:t>50</m:t>
                                  </m:r>
                                </m:num>
                                <m:den>
                                  <m:r>
                                    <a:rPr lang="he-IL" sz="1200" b="0" i="1" smtClean="0">
                                      <a:latin typeface="Cambria Math" panose="02040503050406030204" pitchFamily="18" charset="0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r>
                            <a:rPr lang="he-IL" sz="1200" dirty="0">
                              <a:solidFill>
                                <a:srgbClr val="FF0000"/>
                              </a:solidFill>
                            </a:rPr>
                            <a:t>=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he-IL" sz="1400" b="1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he-IL" sz="1400" dirty="0" smtClean="0">
                                      <a:solidFill>
                                        <a:srgbClr val="FF0000"/>
                                      </a:solidFill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he-IL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8879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sz="1200" b="1" dirty="0">
                              <a:solidFill>
                                <a:srgbClr val="0070C0"/>
                              </a:solidFill>
                            </a:rPr>
                            <a:t>אחיות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sz="1200" dirty="0">
                              <a:solidFill>
                                <a:srgbClr val="0070C0"/>
                              </a:solidFill>
                            </a:rPr>
                            <a:t>120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sz="1200" dirty="0">
                              <a:solidFill>
                                <a:srgbClr val="0070C0"/>
                              </a:solidFill>
                            </a:rPr>
                            <a:t>120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sz="1200" dirty="0">
                              <a:solidFill>
                                <a:srgbClr val="0070C0"/>
                              </a:solidFill>
                            </a:rPr>
                            <a:t>60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nor/>
                                    </m:rPr>
                                    <a:rPr lang="he-IL" sz="1200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60 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he-IL" sz="1200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120 </m:t>
                                  </m:r>
                                </m:den>
                              </m:f>
                            </m:oMath>
                          </a14:m>
                          <a:r>
                            <a:rPr lang="he-IL" sz="1200" dirty="0">
                              <a:solidFill>
                                <a:srgbClr val="0070C0"/>
                              </a:solidFill>
                            </a:rPr>
                            <a:t>=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sz="140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he-IL" sz="1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he-IL" sz="1400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he-IL" sz="120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nor/>
                                    </m:rPr>
                                    <a:rPr lang="he-IL" sz="1200" b="0" i="0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12</m:t>
                                  </m:r>
                                  <m:r>
                                    <m:rPr>
                                      <m:nor/>
                                    </m:rPr>
                                    <a:rPr lang="he-IL" sz="1200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0 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he-IL" sz="1200" b="0" i="0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6</m:t>
                                  </m:r>
                                  <m:r>
                                    <m:rPr>
                                      <m:nor/>
                                    </m:rPr>
                                    <a:rPr lang="he-IL" sz="1200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0 </m:t>
                                  </m:r>
                                </m:den>
                              </m:f>
                            </m:oMath>
                          </a14:m>
                          <a:r>
                            <a:rPr lang="he-IL" sz="1200" dirty="0">
                              <a:solidFill>
                                <a:srgbClr val="0070C0"/>
                              </a:solidFill>
                            </a:rPr>
                            <a:t>=</a:t>
                          </a:r>
                          <a14:m>
                            <m:oMath xmlns:m="http://schemas.openxmlformats.org/officeDocument/2006/math">
                              <m:r>
                                <a:rPr lang="he-IL" sz="14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oMath>
                          </a14:m>
                          <a:endParaRPr lang="he-IL" sz="120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טבלה 4">
                <a:extLst>
                  <a:ext uri="{FF2B5EF4-FFF2-40B4-BE49-F238E27FC236}">
                    <a16:creationId xmlns:a16="http://schemas.microsoft.com/office/drawing/2014/main" id="{4C52CB52-ABCA-1369-283E-8C43843D024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972050" y="4432585"/>
              <a:ext cx="3714750" cy="1683985"/>
            </p:xfrm>
            <a:graphic>
              <a:graphicData uri="http://schemas.openxmlformats.org/drawingml/2006/table">
                <a:tbl>
                  <a:tblPr rtl="1" firstRow="1" bandRow="1">
                    <a:tableStyleId>{5940675A-B579-460E-94D1-54222C63F5DA}</a:tableStyleId>
                  </a:tblPr>
                  <a:tblGrid>
                    <a:gridCol w="48918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6331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76489">
                      <a:extLst>
                        <a:ext uri="{9D8B030D-6E8A-4147-A177-3AD203B41FA5}">
                          <a16:colId xmlns:a16="http://schemas.microsoft.com/office/drawing/2014/main" val="729882449"/>
                        </a:ext>
                      </a:extLst>
                    </a:gridCol>
                    <a:gridCol w="710984">
                      <a:extLst>
                        <a:ext uri="{9D8B030D-6E8A-4147-A177-3AD203B41FA5}">
                          <a16:colId xmlns:a16="http://schemas.microsoft.com/office/drawing/2014/main" val="1582318644"/>
                        </a:ext>
                      </a:extLst>
                    </a:gridCol>
                    <a:gridCol w="76517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767906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200" b="1" dirty="0"/>
                            <a:t>גורם ייצור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200" dirty="0"/>
                            <a:t>סך כמות גו''י</a:t>
                          </a:r>
                          <a:r>
                            <a:rPr lang="he-IL" sz="1200" baseline="0" dirty="0"/>
                            <a:t> </a:t>
                          </a:r>
                          <a:endParaRPr lang="he-IL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1200" dirty="0"/>
                            <a:t>X</a:t>
                          </a:r>
                          <a:r>
                            <a:rPr lang="he-IL" sz="1200" dirty="0"/>
                            <a:t> =</a:t>
                          </a:r>
                          <a:r>
                            <a:rPr lang="he-IL" sz="1100" dirty="0"/>
                            <a:t>מספר ניתוחים</a:t>
                          </a:r>
                          <a:endParaRPr lang="he-IL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/>
                            <a:t>Y</a:t>
                          </a:r>
                          <a:r>
                            <a:rPr lang="he-IL" sz="1200" dirty="0"/>
                            <a:t> =</a:t>
                          </a:r>
                          <a:r>
                            <a:rPr lang="he-IL" sz="1100" dirty="0"/>
                            <a:t>מספר בדיקות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8"/>
                          <a:stretch>
                            <a:fillRect l="-318103" t="-794" r="-111207" b="-1246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8"/>
                          <a:stretch>
                            <a:fillRect l="-384921" t="-794" r="-2381" b="-1246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sz="1200" b="1" dirty="0">
                              <a:solidFill>
                                <a:srgbClr val="FF0000"/>
                              </a:solidFill>
                            </a:rPr>
                            <a:t>רופאים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sz="1200" dirty="0">
                              <a:solidFill>
                                <a:srgbClr val="FF0000"/>
                              </a:solidFill>
                            </a:rPr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sz="1200" dirty="0">
                              <a:solidFill>
                                <a:srgbClr val="FF0000"/>
                              </a:solidFill>
                            </a:rPr>
                            <a:t>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sz="1200" dirty="0">
                              <a:solidFill>
                                <a:srgbClr val="FF0000"/>
                              </a:solidFill>
                            </a:rPr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318103" t="-167105" r="-111207" b="-1065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384921" t="-167105" r="-2381" b="-1065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8879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sz="1200" b="1" dirty="0">
                              <a:solidFill>
                                <a:srgbClr val="0070C0"/>
                              </a:solidFill>
                            </a:rPr>
                            <a:t>אחיות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sz="1200" dirty="0">
                              <a:solidFill>
                                <a:srgbClr val="0070C0"/>
                              </a:solidFill>
                            </a:rPr>
                            <a:t>120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sz="1200" dirty="0">
                              <a:solidFill>
                                <a:srgbClr val="0070C0"/>
                              </a:solidFill>
                            </a:rPr>
                            <a:t>120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sz="1200" dirty="0">
                              <a:solidFill>
                                <a:srgbClr val="0070C0"/>
                              </a:solidFill>
                            </a:rPr>
                            <a:t>60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318103" t="-270667" r="-111207" b="-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384921" t="-270667" r="-2381" b="-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27">
                <a:extLst>
                  <a:ext uri="{FF2B5EF4-FFF2-40B4-BE49-F238E27FC236}">
                    <a16:creationId xmlns:a16="http://schemas.microsoft.com/office/drawing/2014/main" id="{DC39A655-029D-3661-2C81-C886EFDE45FF}"/>
                  </a:ext>
                </a:extLst>
              </p:cNvPr>
              <p:cNvSpPr/>
              <p:nvPr/>
            </p:nvSpPr>
            <p:spPr>
              <a:xfrm>
                <a:off x="1585536" y="5514641"/>
                <a:ext cx="7209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he-IL" b="0" i="0" dirty="0" smtClean="0">
                          <a:solidFill>
                            <a:srgbClr val="FF0000"/>
                          </a:solidFill>
                        </a:rPr>
                        <m:t>50</m:t>
                      </m:r>
                    </m:oMath>
                  </m:oMathPara>
                </a14:m>
                <a:endParaRPr lang="he-I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Rectangle 27">
                <a:extLst>
                  <a:ext uri="{FF2B5EF4-FFF2-40B4-BE49-F238E27FC236}">
                    <a16:creationId xmlns:a16="http://schemas.microsoft.com/office/drawing/2014/main" id="{DC39A655-029D-3661-2C81-C886EFDE45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5536" y="5514641"/>
                <a:ext cx="720936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26">
                <a:extLst>
                  <a:ext uri="{FF2B5EF4-FFF2-40B4-BE49-F238E27FC236}">
                    <a16:creationId xmlns:a16="http://schemas.microsoft.com/office/drawing/2014/main" id="{BD962056-299B-2FAB-719E-1D0FD597A4B5}"/>
                  </a:ext>
                </a:extLst>
              </p:cNvPr>
              <p:cNvSpPr/>
              <p:nvPr/>
            </p:nvSpPr>
            <p:spPr>
              <a:xfrm>
                <a:off x="2501303" y="5514641"/>
                <a:ext cx="54886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he-IL" b="0" i="0" dirty="0" smtClean="0">
                          <a:solidFill>
                            <a:srgbClr val="0070C0"/>
                          </a:solidFill>
                        </a:rPr>
                        <m:t>12</m:t>
                      </m:r>
                      <m:r>
                        <m:rPr>
                          <m:nor/>
                        </m:rPr>
                        <a:rPr lang="he-IL" dirty="0">
                          <a:solidFill>
                            <a:srgbClr val="0070C0"/>
                          </a:solidFill>
                        </a:rPr>
                        <m:t>0</m:t>
                      </m:r>
                    </m:oMath>
                  </m:oMathPara>
                </a14:m>
                <a:endParaRPr lang="he-IL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3" name="Rectangle 26">
                <a:extLst>
                  <a:ext uri="{FF2B5EF4-FFF2-40B4-BE49-F238E27FC236}">
                    <a16:creationId xmlns:a16="http://schemas.microsoft.com/office/drawing/2014/main" id="{BD962056-299B-2FAB-719E-1D0FD597A4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1303" y="5514641"/>
                <a:ext cx="54886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4">
                <a:extLst>
                  <a:ext uri="{FF2B5EF4-FFF2-40B4-BE49-F238E27FC236}">
                    <a16:creationId xmlns:a16="http://schemas.microsoft.com/office/drawing/2014/main" id="{6FE6F570-9522-D38F-A765-436F06904882}"/>
                  </a:ext>
                </a:extLst>
              </p:cNvPr>
              <p:cNvSpPr/>
              <p:nvPr/>
            </p:nvSpPr>
            <p:spPr>
              <a:xfrm>
                <a:off x="-127464" y="4512462"/>
                <a:ext cx="102803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46</m:t>
                      </m:r>
                      <m:r>
                        <a:rPr lang="en-US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66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 14">
                <a:extLst>
                  <a:ext uri="{FF2B5EF4-FFF2-40B4-BE49-F238E27FC236}">
                    <a16:creationId xmlns:a16="http://schemas.microsoft.com/office/drawing/2014/main" id="{6FE6F570-9522-D38F-A765-436F069048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7464" y="4512462"/>
                <a:ext cx="1028037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מחבר ישר 20">
            <a:extLst>
              <a:ext uri="{FF2B5EF4-FFF2-40B4-BE49-F238E27FC236}">
                <a16:creationId xmlns:a16="http://schemas.microsoft.com/office/drawing/2014/main" id="{49078C39-3860-5569-615D-9D3982CA6A8D}"/>
              </a:ext>
            </a:extLst>
          </p:cNvPr>
          <p:cNvCxnSpPr>
            <a:cxnSpLocks/>
            <a:endCxn id="43" idx="2"/>
          </p:cNvCxnSpPr>
          <p:nvPr/>
        </p:nvCxnSpPr>
        <p:spPr>
          <a:xfrm>
            <a:off x="631264" y="4055864"/>
            <a:ext cx="839379" cy="578114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מחבר ישר 29">
            <a:extLst>
              <a:ext uri="{FF2B5EF4-FFF2-40B4-BE49-F238E27FC236}">
                <a16:creationId xmlns:a16="http://schemas.microsoft.com/office/drawing/2014/main" id="{A4530306-6043-9919-0DC7-820FD43C8446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1531102" y="4727093"/>
            <a:ext cx="414902" cy="787548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98436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4639"/>
            <a:ext cx="7848600" cy="604354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שאלה 4 (2 מגבלות)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199" y="725252"/>
            <a:ext cx="8035395" cy="3176378"/>
          </a:xfrm>
        </p:spPr>
        <p:txBody>
          <a:bodyPr>
            <a:normAutofit/>
          </a:bodyPr>
          <a:lstStyle/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400" dirty="0">
                <a:latin typeface="Arial" panose="020B0604020202020204" pitchFamily="34" charset="0"/>
                <a:cs typeface="Arial" panose="020B0604020202020204" pitchFamily="34" charset="0"/>
              </a:rPr>
              <a:t>בטסמניה יש 100 רופאים ו- 120 אחיות. לביצוע ניתוח זקוקים ל- 2 רופאים ואחות אחת. לביצוע בדיקה זקוקים לרופא אחד ו- 2 אחיות. הניחו שהמשק מייצר ביעילות ושניתן לבצע גם חלקי ניתוחים ובדיקות. מכאן ניתן להסיק כי: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he-IL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400" dirty="0">
                <a:latin typeface="Arial" panose="020B0604020202020204" pitchFamily="34" charset="0"/>
                <a:cs typeface="Arial" panose="020B0604020202020204" pitchFamily="34" charset="0"/>
              </a:rPr>
              <a:t>1. יש יותר מתשובה אחת נכונה</a:t>
            </a:r>
          </a:p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400" dirty="0">
                <a:latin typeface="Arial" panose="020B0604020202020204" pitchFamily="34" charset="0"/>
                <a:cs typeface="Arial" panose="020B0604020202020204" pitchFamily="34" charset="0"/>
              </a:rPr>
              <a:t> 2. כאשר כל הרופאים וכל האחיות מועסקים, העלות האלטרנטיבית הכוללת לביצוע ניתוחים היא 22 בדיקות. </a:t>
            </a:r>
          </a:p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400" b="1" dirty="0">
                <a:latin typeface="Arial" panose="020B0604020202020204" pitchFamily="34" charset="0"/>
                <a:cs typeface="Arial" panose="020B0604020202020204" pitchFamily="34" charset="0"/>
              </a:rPr>
              <a:t>     לא נכון</a:t>
            </a:r>
            <a:r>
              <a:rPr lang="he-IL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e-IL" sz="1400" dirty="0">
                <a:latin typeface="Arial" panose="020B0604020202020204" pitchFamily="34" charset="0"/>
                <a:cs typeface="Arial" panose="020B0604020202020204" pitchFamily="34" charset="0"/>
              </a:rPr>
              <a:t>כאשר המשק מייצר בנקודת החיתוך של שתי המגבלות, </a:t>
            </a:r>
            <a:r>
              <a:rPr lang="he-IL" sz="1400" dirty="0" err="1">
                <a:latin typeface="Arial" panose="020B0604020202020204" pitchFamily="34" charset="0"/>
                <a:cs typeface="Arial" panose="020B0604020202020204" pitchFamily="34" charset="0"/>
              </a:rPr>
              <a:t>הע.א.כ</a:t>
            </a:r>
            <a:r>
              <a:rPr lang="he-IL" sz="1400" dirty="0">
                <a:latin typeface="Arial" panose="020B0604020202020204" pitchFamily="34" charset="0"/>
                <a:cs typeface="Arial" panose="020B0604020202020204" pitchFamily="34" charset="0"/>
              </a:rPr>
              <a:t> לייצור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he-IL" sz="1400" dirty="0">
                <a:latin typeface="Arial" panose="020B0604020202020204" pitchFamily="34" charset="0"/>
                <a:cs typeface="Arial" panose="020B0604020202020204" pitchFamily="34" charset="0"/>
              </a:rPr>
              <a:t>=26.667 (ניתוחים) </a:t>
            </a:r>
            <a:b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e-IL" sz="1400" dirty="0">
                <a:latin typeface="Arial" panose="020B0604020202020204" pitchFamily="34" charset="0"/>
                <a:cs typeface="Arial" panose="020B0604020202020204" pitchFamily="34" charset="0"/>
              </a:rPr>
              <a:t>הינה 13.33 (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60-46.66=</a:t>
            </a:r>
            <a:r>
              <a:rPr lang="he-IL" sz="1400" dirty="0"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19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920405" y="5579837"/>
                <a:ext cx="102803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26</m:t>
                      </m:r>
                      <m:r>
                        <a:rPr lang="en-US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66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405" y="5579837"/>
                <a:ext cx="1028037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/>
          <p:cNvCxnSpPr>
            <a:cxnSpLocks/>
          </p:cNvCxnSpPr>
          <p:nvPr/>
        </p:nvCxnSpPr>
        <p:spPr>
          <a:xfrm>
            <a:off x="603504" y="3944511"/>
            <a:ext cx="2197681" cy="1613135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7849993-BEAC-CFB8-FCA6-FDF9672D63D6}"/>
              </a:ext>
            </a:extLst>
          </p:cNvPr>
          <p:cNvCxnSpPr>
            <a:cxnSpLocks/>
          </p:cNvCxnSpPr>
          <p:nvPr/>
        </p:nvCxnSpPr>
        <p:spPr>
          <a:xfrm>
            <a:off x="606463" y="5535929"/>
            <a:ext cx="2408031" cy="312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AE7AE45-E888-C845-165C-14566894A128}"/>
              </a:ext>
            </a:extLst>
          </p:cNvPr>
          <p:cNvCxnSpPr>
            <a:cxnSpLocks/>
          </p:cNvCxnSpPr>
          <p:nvPr/>
        </p:nvCxnSpPr>
        <p:spPr>
          <a:xfrm flipV="1">
            <a:off x="603504" y="2667000"/>
            <a:ext cx="0" cy="28940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3EA8E0CE-826E-02BF-0B9A-B15371B79292}"/>
              </a:ext>
            </a:extLst>
          </p:cNvPr>
          <p:cNvSpPr/>
          <p:nvPr/>
        </p:nvSpPr>
        <p:spPr>
          <a:xfrm>
            <a:off x="1470643" y="4478370"/>
            <a:ext cx="302987" cy="311215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A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B821780-CADC-1417-DF23-CAAD2948B857}"/>
              </a:ext>
            </a:extLst>
          </p:cNvPr>
          <p:cNvCxnSpPr>
            <a:cxnSpLocks/>
          </p:cNvCxnSpPr>
          <p:nvPr/>
        </p:nvCxnSpPr>
        <p:spPr>
          <a:xfrm>
            <a:off x="603503" y="3097521"/>
            <a:ext cx="1497566" cy="246693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FCC877B9-465E-C723-5E20-091E9A7AF895}"/>
                  </a:ext>
                </a:extLst>
              </p:cNvPr>
              <p:cNvSpPr/>
              <p:nvPr/>
            </p:nvSpPr>
            <p:spPr>
              <a:xfrm>
                <a:off x="2610171" y="5467563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FCC877B9-465E-C723-5E20-091E9A7AF8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171" y="5467563"/>
                <a:ext cx="1028037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0994878-2676-3B9F-1C2D-FACB13CDA04C}"/>
                  </a:ext>
                </a:extLst>
              </p:cNvPr>
              <p:cNvSpPr/>
              <p:nvPr/>
            </p:nvSpPr>
            <p:spPr>
              <a:xfrm>
                <a:off x="-56819" y="2469884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0994878-2676-3B9F-1C2D-FACB13CDA0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6819" y="2469884"/>
                <a:ext cx="1028037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4B38D71-CCD6-875B-030B-E8A95426CFCC}"/>
              </a:ext>
            </a:extLst>
          </p:cNvPr>
          <p:cNvCxnSpPr>
            <a:cxnSpLocks/>
          </p:cNvCxnSpPr>
          <p:nvPr/>
        </p:nvCxnSpPr>
        <p:spPr>
          <a:xfrm flipH="1">
            <a:off x="1513061" y="4647906"/>
            <a:ext cx="18041" cy="934449"/>
          </a:xfrm>
          <a:prstGeom prst="line">
            <a:avLst/>
          </a:prstGeom>
          <a:ln>
            <a:solidFill>
              <a:srgbClr val="00206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9C7CD899-CCED-4878-4633-B7ED46287F7F}"/>
              </a:ext>
            </a:extLst>
          </p:cNvPr>
          <p:cNvSpPr txBox="1"/>
          <p:nvPr/>
        </p:nvSpPr>
        <p:spPr>
          <a:xfrm>
            <a:off x="1962411" y="5297479"/>
            <a:ext cx="84627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70C0"/>
                </a:solidFill>
              </a:rPr>
              <a:t>-0.5</a:t>
            </a:r>
            <a:endParaRPr lang="en-US" b="1" dirty="0">
              <a:solidFill>
                <a:srgbClr val="0070C0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BF71CE-240F-CED1-B85A-61F6E2A4AED2}"/>
              </a:ext>
            </a:extLst>
          </p:cNvPr>
          <p:cNvCxnSpPr>
            <a:cxnSpLocks/>
          </p:cNvCxnSpPr>
          <p:nvPr/>
        </p:nvCxnSpPr>
        <p:spPr>
          <a:xfrm flipH="1" flipV="1">
            <a:off x="610229" y="4647906"/>
            <a:ext cx="842373" cy="22309"/>
          </a:xfrm>
          <a:prstGeom prst="line">
            <a:avLst/>
          </a:prstGeom>
          <a:ln>
            <a:solidFill>
              <a:srgbClr val="00206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7BF38D0-F16A-35C7-6A3B-9663490B8254}"/>
                  </a:ext>
                </a:extLst>
              </p:cNvPr>
              <p:cNvSpPr txBox="1"/>
              <p:nvPr/>
            </p:nvSpPr>
            <p:spPr>
              <a:xfrm>
                <a:off x="1339275" y="5274578"/>
                <a:ext cx="84627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he-IL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7BF38D0-F16A-35C7-6A3B-9663490B82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9275" y="5274578"/>
                <a:ext cx="84627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081ACF7-6578-0A31-347B-138BD7A1FE6F}"/>
                  </a:ext>
                </a:extLst>
              </p:cNvPr>
              <p:cNvSpPr/>
              <p:nvPr/>
            </p:nvSpPr>
            <p:spPr>
              <a:xfrm>
                <a:off x="146839" y="3767475"/>
                <a:ext cx="54886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he-IL" dirty="0">
                          <a:solidFill>
                            <a:srgbClr val="0070C0"/>
                          </a:solidFill>
                        </a:rPr>
                        <m:t>60</m:t>
                      </m:r>
                    </m:oMath>
                  </m:oMathPara>
                </a14:m>
                <a:endParaRPr lang="he-IL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081ACF7-6578-0A31-347B-138BD7A1FE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39" y="3767475"/>
                <a:ext cx="54886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B910252-F708-25AE-053F-7112439F183B}"/>
                  </a:ext>
                </a:extLst>
              </p:cNvPr>
              <p:cNvSpPr/>
              <p:nvPr/>
            </p:nvSpPr>
            <p:spPr>
              <a:xfrm>
                <a:off x="9525" y="2872051"/>
                <a:ext cx="7209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he-IL" dirty="0">
                          <a:solidFill>
                            <a:srgbClr val="FF0000"/>
                          </a:solidFill>
                        </a:rPr>
                        <m:t>100</m:t>
                      </m:r>
                    </m:oMath>
                  </m:oMathPara>
                </a14:m>
                <a:endParaRPr lang="he-I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B910252-F708-25AE-053F-7112439F18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" y="2872051"/>
                <a:ext cx="72093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טבלה 4">
                <a:extLst>
                  <a:ext uri="{FF2B5EF4-FFF2-40B4-BE49-F238E27FC236}">
                    <a16:creationId xmlns:a16="http://schemas.microsoft.com/office/drawing/2014/main" id="{4C52CB52-ABCA-1369-283E-8C43843D024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03227963"/>
                  </p:ext>
                </p:extLst>
              </p:nvPr>
            </p:nvGraphicFramePr>
            <p:xfrm>
              <a:off x="4972050" y="4432585"/>
              <a:ext cx="3714750" cy="1683985"/>
            </p:xfrm>
            <a:graphic>
              <a:graphicData uri="http://schemas.openxmlformats.org/drawingml/2006/table">
                <a:tbl>
                  <a:tblPr rtl="1" firstRow="1" bandRow="1">
                    <a:tableStyleId>{5940675A-B579-460E-94D1-54222C63F5DA}</a:tableStyleId>
                  </a:tblPr>
                  <a:tblGrid>
                    <a:gridCol w="48918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6331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76489">
                      <a:extLst>
                        <a:ext uri="{9D8B030D-6E8A-4147-A177-3AD203B41FA5}">
                          <a16:colId xmlns:a16="http://schemas.microsoft.com/office/drawing/2014/main" val="729882449"/>
                        </a:ext>
                      </a:extLst>
                    </a:gridCol>
                    <a:gridCol w="710984">
                      <a:extLst>
                        <a:ext uri="{9D8B030D-6E8A-4147-A177-3AD203B41FA5}">
                          <a16:colId xmlns:a16="http://schemas.microsoft.com/office/drawing/2014/main" val="1582318644"/>
                        </a:ext>
                      </a:extLst>
                    </a:gridCol>
                    <a:gridCol w="76517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535774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200" b="1" dirty="0"/>
                            <a:t>גורם ייצור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200" dirty="0"/>
                            <a:t>סך כמות גו''י</a:t>
                          </a:r>
                          <a:r>
                            <a:rPr lang="he-IL" sz="1200" baseline="0" dirty="0"/>
                            <a:t> </a:t>
                          </a:r>
                          <a:endParaRPr lang="he-IL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1200" dirty="0"/>
                            <a:t>X</a:t>
                          </a:r>
                          <a:r>
                            <a:rPr lang="he-IL" sz="1200" dirty="0"/>
                            <a:t> =</a:t>
                          </a:r>
                          <a:r>
                            <a:rPr lang="he-IL" sz="1100" dirty="0"/>
                            <a:t>מספר ניתוחים</a:t>
                          </a:r>
                          <a:endParaRPr lang="he-IL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/>
                            <a:t>Y</a:t>
                          </a:r>
                          <a:r>
                            <a:rPr lang="he-IL" sz="1200" dirty="0"/>
                            <a:t> =</a:t>
                          </a:r>
                          <a:r>
                            <a:rPr lang="he-IL" sz="1100" dirty="0"/>
                            <a:t>מספר בדיקות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100" dirty="0"/>
                            <a:t>ע.א.ש</a:t>
                          </a:r>
                          <a:r>
                            <a:rPr lang="en-US" sz="1100" dirty="0"/>
                            <a:t> </a:t>
                          </a:r>
                          <a:r>
                            <a:rPr lang="he-IL" sz="1100" dirty="0"/>
                            <a:t>ל-</a:t>
                          </a:r>
                          <a:r>
                            <a:rPr lang="en-US" sz="1100" dirty="0"/>
                            <a:t> X</a:t>
                          </a:r>
                        </a:p>
                        <a:p>
                          <a:pPr algn="ctr"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he-IL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num>
                                  <m:den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050" dirty="0" err="1"/>
                            <a:t>ע.א.ש</a:t>
                          </a:r>
                          <a:r>
                            <a:rPr lang="he-IL" sz="1050" dirty="0"/>
                            <a:t> לייצור </a:t>
                          </a:r>
                          <a:r>
                            <a:rPr lang="en-US" sz="1050" dirty="0"/>
                            <a:t>Y</a:t>
                          </a:r>
                          <a:endParaRPr lang="he-IL" sz="1050" dirty="0"/>
                        </a:p>
                        <a:p>
                          <a:pPr algn="ctr"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he-IL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num>
                                  <m:den>
                                    <m:r>
                                      <a:rPr lang="en-US" sz="12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he-IL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2957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sz="1200" b="1" dirty="0">
                              <a:solidFill>
                                <a:srgbClr val="FF0000"/>
                              </a:solidFill>
                            </a:rPr>
                            <a:t>רופאים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sz="1200" dirty="0">
                              <a:solidFill>
                                <a:srgbClr val="FF0000"/>
                              </a:solidFill>
                            </a:rPr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sz="1200" dirty="0">
                              <a:solidFill>
                                <a:srgbClr val="FF0000"/>
                              </a:solidFill>
                            </a:rPr>
                            <a:t>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sz="1200" dirty="0">
                              <a:solidFill>
                                <a:srgbClr val="FF0000"/>
                              </a:solidFill>
                            </a:rPr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rtl="1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he-IL" sz="1200" b="0" i="1" smtClean="0">
                                      <a:latin typeface="Cambria Math" panose="02040503050406030204" pitchFamily="18" charset="0"/>
                                    </a:rPr>
                                    <m:t>100</m:t>
                                  </m:r>
                                </m:num>
                                <m:den>
                                  <m:r>
                                    <a:rPr lang="he-IL" sz="1200" b="0" i="1" smtClean="0">
                                      <a:latin typeface="Cambria Math" panose="02040503050406030204" pitchFamily="18" charset="0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r>
                            <a:rPr lang="he-IL" sz="1200" dirty="0">
                              <a:solidFill>
                                <a:srgbClr val="FF0000"/>
                              </a:solidFill>
                            </a:rPr>
                            <a:t>=</a:t>
                          </a:r>
                          <a:r>
                            <a:rPr lang="he-IL" sz="1400" dirty="0">
                              <a:solidFill>
                                <a:srgbClr val="FF0000"/>
                              </a:solidFill>
                            </a:rPr>
                            <a:t>2</a:t>
                          </a:r>
                          <a:endParaRPr lang="he-IL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he-IL" sz="1200" b="0" i="1" smtClean="0">
                                      <a:latin typeface="Cambria Math" panose="02040503050406030204" pitchFamily="18" charset="0"/>
                                    </a:rPr>
                                    <m:t>50</m:t>
                                  </m:r>
                                </m:num>
                                <m:den>
                                  <m:r>
                                    <a:rPr lang="he-IL" sz="1200" b="0" i="1" smtClean="0">
                                      <a:latin typeface="Cambria Math" panose="02040503050406030204" pitchFamily="18" charset="0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r>
                            <a:rPr lang="he-IL" sz="1200" dirty="0">
                              <a:solidFill>
                                <a:srgbClr val="FF0000"/>
                              </a:solidFill>
                            </a:rPr>
                            <a:t>=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he-IL" sz="1400" b="1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he-IL" sz="1400" dirty="0" smtClean="0">
                                      <a:solidFill>
                                        <a:srgbClr val="FF0000"/>
                                      </a:solidFill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he-IL" sz="12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8879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sz="1200" b="1" dirty="0">
                              <a:solidFill>
                                <a:srgbClr val="0070C0"/>
                              </a:solidFill>
                            </a:rPr>
                            <a:t>אחיות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sz="1200" dirty="0">
                              <a:solidFill>
                                <a:srgbClr val="0070C0"/>
                              </a:solidFill>
                            </a:rPr>
                            <a:t>120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sz="1200" dirty="0">
                              <a:solidFill>
                                <a:srgbClr val="0070C0"/>
                              </a:solidFill>
                            </a:rPr>
                            <a:t>120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sz="1200" dirty="0">
                              <a:solidFill>
                                <a:srgbClr val="0070C0"/>
                              </a:solidFill>
                            </a:rPr>
                            <a:t>60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nor/>
                                    </m:rPr>
                                    <a:rPr lang="he-IL" sz="1200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60 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he-IL" sz="1200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120 </m:t>
                                  </m:r>
                                </m:den>
                              </m:f>
                            </m:oMath>
                          </a14:m>
                          <a:r>
                            <a:rPr lang="he-IL" sz="1200" dirty="0">
                              <a:solidFill>
                                <a:srgbClr val="0070C0"/>
                              </a:solidFill>
                            </a:rPr>
                            <a:t>=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sz="140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he-IL" sz="14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he-IL" sz="1400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he-IL" sz="120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nor/>
                                    </m:rPr>
                                    <a:rPr lang="he-IL" sz="1200" b="0" i="0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12</m:t>
                                  </m:r>
                                  <m:r>
                                    <m:rPr>
                                      <m:nor/>
                                    </m:rPr>
                                    <a:rPr lang="he-IL" sz="1200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0 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he-IL" sz="1200" b="0" i="0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6</m:t>
                                  </m:r>
                                  <m:r>
                                    <m:rPr>
                                      <m:nor/>
                                    </m:rPr>
                                    <a:rPr lang="he-IL" sz="1200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0 </m:t>
                                  </m:r>
                                </m:den>
                              </m:f>
                            </m:oMath>
                          </a14:m>
                          <a:r>
                            <a:rPr lang="he-IL" sz="1200" dirty="0">
                              <a:solidFill>
                                <a:srgbClr val="0070C0"/>
                              </a:solidFill>
                            </a:rPr>
                            <a:t>=</a:t>
                          </a:r>
                          <a14:m>
                            <m:oMath xmlns:m="http://schemas.openxmlformats.org/officeDocument/2006/math">
                              <m:r>
                                <a:rPr lang="he-IL" sz="14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oMath>
                          </a14:m>
                          <a:endParaRPr lang="he-IL" sz="120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טבלה 4">
                <a:extLst>
                  <a:ext uri="{FF2B5EF4-FFF2-40B4-BE49-F238E27FC236}">
                    <a16:creationId xmlns:a16="http://schemas.microsoft.com/office/drawing/2014/main" id="{4C52CB52-ABCA-1369-283E-8C43843D024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03227963"/>
                  </p:ext>
                </p:extLst>
              </p:nvPr>
            </p:nvGraphicFramePr>
            <p:xfrm>
              <a:off x="4972050" y="4432585"/>
              <a:ext cx="3714750" cy="1683985"/>
            </p:xfrm>
            <a:graphic>
              <a:graphicData uri="http://schemas.openxmlformats.org/drawingml/2006/table">
                <a:tbl>
                  <a:tblPr rtl="1" firstRow="1" bandRow="1">
                    <a:tableStyleId>{5940675A-B579-460E-94D1-54222C63F5DA}</a:tableStyleId>
                  </a:tblPr>
                  <a:tblGrid>
                    <a:gridCol w="48918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6331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9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76489">
                      <a:extLst>
                        <a:ext uri="{9D8B030D-6E8A-4147-A177-3AD203B41FA5}">
                          <a16:colId xmlns:a16="http://schemas.microsoft.com/office/drawing/2014/main" val="729882449"/>
                        </a:ext>
                      </a:extLst>
                    </a:gridCol>
                    <a:gridCol w="710984">
                      <a:extLst>
                        <a:ext uri="{9D8B030D-6E8A-4147-A177-3AD203B41FA5}">
                          <a16:colId xmlns:a16="http://schemas.microsoft.com/office/drawing/2014/main" val="1582318644"/>
                        </a:ext>
                      </a:extLst>
                    </a:gridCol>
                    <a:gridCol w="76517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767906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200" b="1" dirty="0"/>
                            <a:t>גורם ייצור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200" dirty="0"/>
                            <a:t>סך כמות גו''י</a:t>
                          </a:r>
                          <a:r>
                            <a:rPr lang="he-IL" sz="1200" baseline="0" dirty="0"/>
                            <a:t> </a:t>
                          </a:r>
                          <a:endParaRPr lang="he-IL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1200" dirty="0"/>
                            <a:t>X</a:t>
                          </a:r>
                          <a:r>
                            <a:rPr lang="he-IL" sz="1200" dirty="0"/>
                            <a:t> =</a:t>
                          </a:r>
                          <a:r>
                            <a:rPr lang="he-IL" sz="1100" dirty="0"/>
                            <a:t>מספר ניתוחים</a:t>
                          </a:r>
                          <a:endParaRPr lang="he-IL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200" dirty="0"/>
                            <a:t>Y</a:t>
                          </a:r>
                          <a:r>
                            <a:rPr lang="he-IL" sz="1200" dirty="0"/>
                            <a:t> =</a:t>
                          </a:r>
                          <a:r>
                            <a:rPr lang="he-IL" sz="1100" dirty="0"/>
                            <a:t>מספר בדיקות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8"/>
                          <a:stretch>
                            <a:fillRect l="-318103" t="-794" r="-111207" b="-1246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8"/>
                          <a:stretch>
                            <a:fillRect l="-384921" t="-794" r="-2381" b="-1246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sz="1200" b="1" dirty="0">
                              <a:solidFill>
                                <a:srgbClr val="FF0000"/>
                              </a:solidFill>
                            </a:rPr>
                            <a:t>רופאים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sz="1200" dirty="0">
                              <a:solidFill>
                                <a:srgbClr val="FF0000"/>
                              </a:solidFill>
                            </a:rPr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sz="1200" dirty="0">
                              <a:solidFill>
                                <a:srgbClr val="FF0000"/>
                              </a:solidFill>
                            </a:rPr>
                            <a:t>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sz="1200" dirty="0">
                              <a:solidFill>
                                <a:srgbClr val="FF0000"/>
                              </a:solidFill>
                            </a:rPr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318103" t="-167105" r="-111207" b="-1065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384921" t="-167105" r="-2381" b="-1065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8879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sz="1200" b="1" dirty="0">
                              <a:solidFill>
                                <a:srgbClr val="0070C0"/>
                              </a:solidFill>
                            </a:rPr>
                            <a:t>אחיות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sz="1200" dirty="0">
                              <a:solidFill>
                                <a:srgbClr val="0070C0"/>
                              </a:solidFill>
                            </a:rPr>
                            <a:t>120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sz="1200" dirty="0">
                              <a:solidFill>
                                <a:srgbClr val="0070C0"/>
                              </a:solidFill>
                            </a:rPr>
                            <a:t>120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sz="1200" dirty="0">
                              <a:solidFill>
                                <a:srgbClr val="0070C0"/>
                              </a:solidFill>
                            </a:rPr>
                            <a:t>60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318103" t="-270667" r="-111207" b="-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384921" t="-270667" r="-2381" b="-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27">
                <a:extLst>
                  <a:ext uri="{FF2B5EF4-FFF2-40B4-BE49-F238E27FC236}">
                    <a16:creationId xmlns:a16="http://schemas.microsoft.com/office/drawing/2014/main" id="{DC39A655-029D-3661-2C81-C886EFDE45FF}"/>
                  </a:ext>
                </a:extLst>
              </p:cNvPr>
              <p:cNvSpPr/>
              <p:nvPr/>
            </p:nvSpPr>
            <p:spPr>
              <a:xfrm>
                <a:off x="1585536" y="5514641"/>
                <a:ext cx="7209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he-IL" b="0" i="0" dirty="0" smtClean="0">
                          <a:solidFill>
                            <a:srgbClr val="FF0000"/>
                          </a:solidFill>
                        </a:rPr>
                        <m:t>50</m:t>
                      </m:r>
                    </m:oMath>
                  </m:oMathPara>
                </a14:m>
                <a:endParaRPr lang="he-I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Rectangle 27">
                <a:extLst>
                  <a:ext uri="{FF2B5EF4-FFF2-40B4-BE49-F238E27FC236}">
                    <a16:creationId xmlns:a16="http://schemas.microsoft.com/office/drawing/2014/main" id="{DC39A655-029D-3661-2C81-C886EFDE45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5536" y="5514641"/>
                <a:ext cx="720936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26">
                <a:extLst>
                  <a:ext uri="{FF2B5EF4-FFF2-40B4-BE49-F238E27FC236}">
                    <a16:creationId xmlns:a16="http://schemas.microsoft.com/office/drawing/2014/main" id="{BD962056-299B-2FAB-719E-1D0FD597A4B5}"/>
                  </a:ext>
                </a:extLst>
              </p:cNvPr>
              <p:cNvSpPr/>
              <p:nvPr/>
            </p:nvSpPr>
            <p:spPr>
              <a:xfrm>
                <a:off x="2501303" y="5514641"/>
                <a:ext cx="54886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he-IL" b="0" i="0" dirty="0" smtClean="0">
                          <a:solidFill>
                            <a:srgbClr val="0070C0"/>
                          </a:solidFill>
                        </a:rPr>
                        <m:t>12</m:t>
                      </m:r>
                      <m:r>
                        <m:rPr>
                          <m:nor/>
                        </m:rPr>
                        <a:rPr lang="he-IL" dirty="0">
                          <a:solidFill>
                            <a:srgbClr val="0070C0"/>
                          </a:solidFill>
                        </a:rPr>
                        <m:t>0</m:t>
                      </m:r>
                    </m:oMath>
                  </m:oMathPara>
                </a14:m>
                <a:endParaRPr lang="he-IL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3" name="Rectangle 26">
                <a:extLst>
                  <a:ext uri="{FF2B5EF4-FFF2-40B4-BE49-F238E27FC236}">
                    <a16:creationId xmlns:a16="http://schemas.microsoft.com/office/drawing/2014/main" id="{BD962056-299B-2FAB-719E-1D0FD597A4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1303" y="5514641"/>
                <a:ext cx="54886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4">
                <a:extLst>
                  <a:ext uri="{FF2B5EF4-FFF2-40B4-BE49-F238E27FC236}">
                    <a16:creationId xmlns:a16="http://schemas.microsoft.com/office/drawing/2014/main" id="{6FE6F570-9522-D38F-A765-436F06904882}"/>
                  </a:ext>
                </a:extLst>
              </p:cNvPr>
              <p:cNvSpPr/>
              <p:nvPr/>
            </p:nvSpPr>
            <p:spPr>
              <a:xfrm>
                <a:off x="-127464" y="4512462"/>
                <a:ext cx="102803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46</m:t>
                      </m:r>
                      <m:r>
                        <a:rPr lang="en-US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66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 14">
                <a:extLst>
                  <a:ext uri="{FF2B5EF4-FFF2-40B4-BE49-F238E27FC236}">
                    <a16:creationId xmlns:a16="http://schemas.microsoft.com/office/drawing/2014/main" id="{6FE6F570-9522-D38F-A765-436F069048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7464" y="4512462"/>
                <a:ext cx="1028037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מחבר ישר 20">
            <a:extLst>
              <a:ext uri="{FF2B5EF4-FFF2-40B4-BE49-F238E27FC236}">
                <a16:creationId xmlns:a16="http://schemas.microsoft.com/office/drawing/2014/main" id="{49078C39-3860-5569-615D-9D3982CA6A8D}"/>
              </a:ext>
            </a:extLst>
          </p:cNvPr>
          <p:cNvCxnSpPr>
            <a:cxnSpLocks/>
            <a:endCxn id="43" idx="2"/>
          </p:cNvCxnSpPr>
          <p:nvPr/>
        </p:nvCxnSpPr>
        <p:spPr>
          <a:xfrm>
            <a:off x="631264" y="4055864"/>
            <a:ext cx="839379" cy="578114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מחבר ישר 29">
            <a:extLst>
              <a:ext uri="{FF2B5EF4-FFF2-40B4-BE49-F238E27FC236}">
                <a16:creationId xmlns:a16="http://schemas.microsoft.com/office/drawing/2014/main" id="{A4530306-6043-9919-0DC7-820FD43C8446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1531102" y="4727093"/>
            <a:ext cx="414902" cy="787548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25246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4639"/>
            <a:ext cx="7848600" cy="604354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שאלה 4 (2 מגבלות)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199" y="725252"/>
            <a:ext cx="8035395" cy="3176378"/>
          </a:xfrm>
        </p:spPr>
        <p:txBody>
          <a:bodyPr>
            <a:normAutofit/>
          </a:bodyPr>
          <a:lstStyle/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400" dirty="0">
                <a:latin typeface="Arial" panose="020B0604020202020204" pitchFamily="34" charset="0"/>
                <a:cs typeface="Arial" panose="020B0604020202020204" pitchFamily="34" charset="0"/>
              </a:rPr>
              <a:t>בטסמניה יש 100 רופאים ו- 120 אחיות. לביצוע ניתוח זקוקים ל- 2 רופאים ואחות אחת. לביצוע בדיקה זקוקים לרופא אחד ו- 2 אחיות. הניחו שהמשק מייצר ביעילות ושניתן לבצע גם חלקי ניתוחים ובדיקות. מכאן ניתן להסיק כי: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he-IL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100" dirty="0">
                <a:solidFill>
                  <a:schemeClr val="accent3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יש יותר מתשובה אחת נכונה</a:t>
            </a:r>
          </a:p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100" dirty="0">
                <a:solidFill>
                  <a:schemeClr val="accent3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2. כאשר כל הרופאים וכל האחיות מועסקים, העלות האלטרנטיבית הכוללת לביצוע ניתוחים היא 22 בדיקות. </a:t>
            </a:r>
          </a:p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400" dirty="0">
                <a:latin typeface="Arial" panose="020B0604020202020204" pitchFamily="34" charset="0"/>
                <a:cs typeface="Arial" panose="020B0604020202020204" pitchFamily="34" charset="0"/>
              </a:rPr>
              <a:t>3. בנקודה שבה כל הרופאים וכל האחיות מועסקים, הייצור יעיל יותר מאשר בשאר הנקודות על עקומת התמורה</a:t>
            </a:r>
          </a:p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400" b="1" dirty="0">
                <a:latin typeface="Arial" panose="020B0604020202020204" pitchFamily="34" charset="0"/>
                <a:cs typeface="Arial" panose="020B0604020202020204" pitchFamily="34" charset="0"/>
              </a:rPr>
              <a:t>לא נכון</a:t>
            </a:r>
            <a:r>
              <a:rPr lang="he-IL" sz="1400" dirty="0">
                <a:latin typeface="Arial" panose="020B0604020202020204" pitchFamily="34" charset="0"/>
                <a:cs typeface="Arial" panose="020B0604020202020204" pitchFamily="34" charset="0"/>
              </a:rPr>
              <a:t>, הייצור יעיל באותו אופן לאורך כל עקומת התמורה (הסלים הצהובים).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20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920405" y="5579837"/>
                <a:ext cx="102803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26</m:t>
                      </m:r>
                      <m:r>
                        <a:rPr lang="en-US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66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405" y="5579837"/>
                <a:ext cx="1028037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/>
          <p:cNvCxnSpPr>
            <a:cxnSpLocks/>
          </p:cNvCxnSpPr>
          <p:nvPr/>
        </p:nvCxnSpPr>
        <p:spPr>
          <a:xfrm>
            <a:off x="603504" y="3944511"/>
            <a:ext cx="2197681" cy="1613135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7849993-BEAC-CFB8-FCA6-FDF9672D63D6}"/>
              </a:ext>
            </a:extLst>
          </p:cNvPr>
          <p:cNvCxnSpPr>
            <a:cxnSpLocks/>
          </p:cNvCxnSpPr>
          <p:nvPr/>
        </p:nvCxnSpPr>
        <p:spPr>
          <a:xfrm>
            <a:off x="606463" y="5535929"/>
            <a:ext cx="2408031" cy="312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AE7AE45-E888-C845-165C-14566894A128}"/>
              </a:ext>
            </a:extLst>
          </p:cNvPr>
          <p:cNvCxnSpPr>
            <a:cxnSpLocks/>
          </p:cNvCxnSpPr>
          <p:nvPr/>
        </p:nvCxnSpPr>
        <p:spPr>
          <a:xfrm flipV="1">
            <a:off x="603504" y="2667000"/>
            <a:ext cx="0" cy="28940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3EA8E0CE-826E-02BF-0B9A-B15371B79292}"/>
              </a:ext>
            </a:extLst>
          </p:cNvPr>
          <p:cNvSpPr/>
          <p:nvPr/>
        </p:nvSpPr>
        <p:spPr>
          <a:xfrm>
            <a:off x="1449608" y="4552013"/>
            <a:ext cx="216928" cy="191787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B821780-CADC-1417-DF23-CAAD2948B857}"/>
              </a:ext>
            </a:extLst>
          </p:cNvPr>
          <p:cNvCxnSpPr>
            <a:cxnSpLocks/>
          </p:cNvCxnSpPr>
          <p:nvPr/>
        </p:nvCxnSpPr>
        <p:spPr>
          <a:xfrm>
            <a:off x="603503" y="3097521"/>
            <a:ext cx="1497566" cy="246693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FCC877B9-465E-C723-5E20-091E9A7AF895}"/>
                  </a:ext>
                </a:extLst>
              </p:cNvPr>
              <p:cNvSpPr/>
              <p:nvPr/>
            </p:nvSpPr>
            <p:spPr>
              <a:xfrm>
                <a:off x="2610171" y="5467563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FCC877B9-465E-C723-5E20-091E9A7AF8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171" y="5467563"/>
                <a:ext cx="1028037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0994878-2676-3B9F-1C2D-FACB13CDA04C}"/>
                  </a:ext>
                </a:extLst>
              </p:cNvPr>
              <p:cNvSpPr/>
              <p:nvPr/>
            </p:nvSpPr>
            <p:spPr>
              <a:xfrm>
                <a:off x="-56819" y="2469884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0994878-2676-3B9F-1C2D-FACB13CDA0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6819" y="2469884"/>
                <a:ext cx="1028037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4B38D71-CCD6-875B-030B-E8A95426CFCC}"/>
              </a:ext>
            </a:extLst>
          </p:cNvPr>
          <p:cNvCxnSpPr>
            <a:cxnSpLocks/>
          </p:cNvCxnSpPr>
          <p:nvPr/>
        </p:nvCxnSpPr>
        <p:spPr>
          <a:xfrm flipH="1">
            <a:off x="1513061" y="4647906"/>
            <a:ext cx="18041" cy="934449"/>
          </a:xfrm>
          <a:prstGeom prst="line">
            <a:avLst/>
          </a:prstGeom>
          <a:ln>
            <a:solidFill>
              <a:srgbClr val="00206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9C7CD899-CCED-4878-4633-B7ED46287F7F}"/>
              </a:ext>
            </a:extLst>
          </p:cNvPr>
          <p:cNvSpPr txBox="1"/>
          <p:nvPr/>
        </p:nvSpPr>
        <p:spPr>
          <a:xfrm>
            <a:off x="1962411" y="5297479"/>
            <a:ext cx="84627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70C0"/>
                </a:solidFill>
              </a:rPr>
              <a:t>-0.5</a:t>
            </a:r>
            <a:endParaRPr lang="en-US" b="1" dirty="0">
              <a:solidFill>
                <a:srgbClr val="0070C0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BF71CE-240F-CED1-B85A-61F6E2A4AED2}"/>
              </a:ext>
            </a:extLst>
          </p:cNvPr>
          <p:cNvCxnSpPr>
            <a:cxnSpLocks/>
          </p:cNvCxnSpPr>
          <p:nvPr/>
        </p:nvCxnSpPr>
        <p:spPr>
          <a:xfrm flipH="1" flipV="1">
            <a:off x="610229" y="4647906"/>
            <a:ext cx="842373" cy="22309"/>
          </a:xfrm>
          <a:prstGeom prst="line">
            <a:avLst/>
          </a:prstGeom>
          <a:ln>
            <a:solidFill>
              <a:srgbClr val="00206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7BF38D0-F16A-35C7-6A3B-9663490B8254}"/>
                  </a:ext>
                </a:extLst>
              </p:cNvPr>
              <p:cNvSpPr txBox="1"/>
              <p:nvPr/>
            </p:nvSpPr>
            <p:spPr>
              <a:xfrm>
                <a:off x="1339275" y="5274578"/>
                <a:ext cx="84627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he-IL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7BF38D0-F16A-35C7-6A3B-9663490B82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9275" y="5274578"/>
                <a:ext cx="84627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081ACF7-6578-0A31-347B-138BD7A1FE6F}"/>
                  </a:ext>
                </a:extLst>
              </p:cNvPr>
              <p:cNvSpPr/>
              <p:nvPr/>
            </p:nvSpPr>
            <p:spPr>
              <a:xfrm>
                <a:off x="146839" y="3767475"/>
                <a:ext cx="54886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he-IL" dirty="0">
                          <a:solidFill>
                            <a:srgbClr val="0070C0"/>
                          </a:solidFill>
                        </a:rPr>
                        <m:t>60</m:t>
                      </m:r>
                    </m:oMath>
                  </m:oMathPara>
                </a14:m>
                <a:endParaRPr lang="he-IL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081ACF7-6578-0A31-347B-138BD7A1FE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39" y="3767475"/>
                <a:ext cx="54886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B910252-F708-25AE-053F-7112439F183B}"/>
                  </a:ext>
                </a:extLst>
              </p:cNvPr>
              <p:cNvSpPr/>
              <p:nvPr/>
            </p:nvSpPr>
            <p:spPr>
              <a:xfrm>
                <a:off x="9525" y="2872051"/>
                <a:ext cx="7209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he-IL" dirty="0">
                          <a:solidFill>
                            <a:srgbClr val="FF0000"/>
                          </a:solidFill>
                        </a:rPr>
                        <m:t>100</m:t>
                      </m:r>
                    </m:oMath>
                  </m:oMathPara>
                </a14:m>
                <a:endParaRPr lang="he-I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B910252-F708-25AE-053F-7112439F18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" y="2872051"/>
                <a:ext cx="72093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טבלה 4">
                <a:extLst>
                  <a:ext uri="{FF2B5EF4-FFF2-40B4-BE49-F238E27FC236}">
                    <a16:creationId xmlns:a16="http://schemas.microsoft.com/office/drawing/2014/main" id="{4C52CB52-ABCA-1369-283E-8C43843D024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512454" y="3619805"/>
              <a:ext cx="5259560" cy="2003755"/>
            </p:xfrm>
            <a:graphic>
              <a:graphicData uri="http://schemas.openxmlformats.org/drawingml/2006/table">
                <a:tbl>
                  <a:tblPr rtl="1" firstRow="1" bandRow="1">
                    <a:tableStyleId>{5940675A-B579-460E-94D1-54222C63F5DA}</a:tableStyleId>
                  </a:tblPr>
                  <a:tblGrid>
                    <a:gridCol w="80694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9397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9096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98159">
                      <a:extLst>
                        <a:ext uri="{9D8B030D-6E8A-4147-A177-3AD203B41FA5}">
                          <a16:colId xmlns:a16="http://schemas.microsoft.com/office/drawing/2014/main" val="729882449"/>
                        </a:ext>
                      </a:extLst>
                    </a:gridCol>
                    <a:gridCol w="1020901">
                      <a:extLst>
                        <a:ext uri="{9D8B030D-6E8A-4147-A177-3AD203B41FA5}">
                          <a16:colId xmlns:a16="http://schemas.microsoft.com/office/drawing/2014/main" val="1582318644"/>
                        </a:ext>
                      </a:extLst>
                    </a:gridCol>
                    <a:gridCol w="114861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14899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b="1" dirty="0"/>
                            <a:t>גורם ייצור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dirty="0"/>
                            <a:t>סך כמות גו''י</a:t>
                          </a:r>
                          <a:r>
                            <a:rPr lang="he-IL" baseline="0" dirty="0"/>
                            <a:t> 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/>
                            <a:t>X</a:t>
                          </a:r>
                          <a:r>
                            <a:rPr lang="he-IL" dirty="0"/>
                            <a:t> =</a:t>
                          </a:r>
                          <a:r>
                            <a:rPr lang="he-IL" sz="1600" dirty="0"/>
                            <a:t>מספר ניתוחים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Y</a:t>
                          </a:r>
                          <a:r>
                            <a:rPr lang="he-IL" dirty="0"/>
                            <a:t> =</a:t>
                          </a:r>
                          <a:r>
                            <a:rPr lang="he-IL" sz="1600" dirty="0"/>
                            <a:t>מספר בדיקות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600" dirty="0"/>
                            <a:t>ע.א.ש</a:t>
                          </a:r>
                          <a:r>
                            <a:rPr lang="en-US" sz="1600" dirty="0"/>
                            <a:t> </a:t>
                          </a:r>
                          <a:r>
                            <a:rPr lang="he-IL" sz="1600" dirty="0"/>
                            <a:t>ל-</a:t>
                          </a:r>
                          <a:r>
                            <a:rPr lang="en-US" sz="1600" dirty="0"/>
                            <a:t> X</a:t>
                          </a:r>
                        </a:p>
                        <a:p>
                          <a:pPr algn="ctr"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he-IL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400" dirty="0" err="1"/>
                            <a:t>ע.א.ש</a:t>
                          </a:r>
                          <a:r>
                            <a:rPr lang="he-IL" sz="1400" dirty="0"/>
                            <a:t> לייצור </a:t>
                          </a:r>
                          <a:r>
                            <a:rPr lang="en-US" sz="1400" dirty="0"/>
                            <a:t>Y</a:t>
                          </a:r>
                          <a:endParaRPr lang="he-IL" sz="1400" dirty="0"/>
                        </a:p>
                        <a:p>
                          <a:pPr algn="ctr"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he-IL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he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1140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b="1" dirty="0">
                              <a:solidFill>
                                <a:srgbClr val="FF0000"/>
                              </a:solidFill>
                            </a:rPr>
                            <a:t>רופאים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rtl="1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he-IL" b="0" i="1" smtClean="0">
                                      <a:latin typeface="Cambria Math" panose="02040503050406030204" pitchFamily="18" charset="0"/>
                                    </a:rPr>
                                    <m:t>100</m:t>
                                  </m:r>
                                </m:num>
                                <m:den>
                                  <m:r>
                                    <a:rPr lang="he-IL" b="0" i="1" smtClean="0">
                                      <a:latin typeface="Cambria Math" panose="02040503050406030204" pitchFamily="18" charset="0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=2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he-IL" b="0" i="1" smtClean="0">
                                      <a:latin typeface="Cambria Math" panose="02040503050406030204" pitchFamily="18" charset="0"/>
                                    </a:rPr>
                                    <m:t>50</m:t>
                                  </m:r>
                                </m:num>
                                <m:den>
                                  <m:r>
                                    <a:rPr lang="he-IL" b="0" i="1" smtClean="0">
                                      <a:latin typeface="Cambria Math" panose="02040503050406030204" pitchFamily="18" charset="0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=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he-IL" b="1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he-IL" dirty="0" smtClean="0">
                                      <a:solidFill>
                                        <a:srgbClr val="FF0000"/>
                                      </a:solidFill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he-IL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48215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b="1" dirty="0">
                              <a:solidFill>
                                <a:srgbClr val="0070C0"/>
                              </a:solidFill>
                            </a:rPr>
                            <a:t>אחיות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120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120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60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nor/>
                                    </m:rPr>
                                    <a:rPr lang="he-IL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60 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he-IL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120 </m:t>
                                  </m:r>
                                </m:den>
                              </m:f>
                            </m:oMath>
                          </a14:m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=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he-IL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he-IL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he-IL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nor/>
                                    </m:rPr>
                                    <a:rPr lang="he-IL" b="0" i="0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12</m:t>
                                  </m:r>
                                  <m:r>
                                    <m:rPr>
                                      <m:nor/>
                                    </m:rPr>
                                    <a:rPr lang="he-IL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0 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he-IL" b="0" i="0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6</m:t>
                                  </m:r>
                                  <m:r>
                                    <m:rPr>
                                      <m:nor/>
                                    </m:rPr>
                                    <a:rPr lang="he-IL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0 </m:t>
                                  </m:r>
                                </m:den>
                              </m:f>
                            </m:oMath>
                          </a14:m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=</a:t>
                          </a:r>
                          <a14:m>
                            <m:oMath xmlns:m="http://schemas.openxmlformats.org/officeDocument/2006/math">
                              <m:r>
                                <a:rPr lang="he-IL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oMath>
                          </a14:m>
                          <a:endParaRPr lang="he-IL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טבלה 4">
                <a:extLst>
                  <a:ext uri="{FF2B5EF4-FFF2-40B4-BE49-F238E27FC236}">
                    <a16:creationId xmlns:a16="http://schemas.microsoft.com/office/drawing/2014/main" id="{4C52CB52-ABCA-1369-283E-8C43843D024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512454" y="3619805"/>
              <a:ext cx="5259560" cy="2003755"/>
            </p:xfrm>
            <a:graphic>
              <a:graphicData uri="http://schemas.openxmlformats.org/drawingml/2006/table">
                <a:tbl>
                  <a:tblPr rtl="1" firstRow="1" bandRow="1">
                    <a:tableStyleId>{5940675A-B579-460E-94D1-54222C63F5DA}</a:tableStyleId>
                  </a:tblPr>
                  <a:tblGrid>
                    <a:gridCol w="80694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9397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9096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98159">
                      <a:extLst>
                        <a:ext uri="{9D8B030D-6E8A-4147-A177-3AD203B41FA5}">
                          <a16:colId xmlns:a16="http://schemas.microsoft.com/office/drawing/2014/main" val="729882449"/>
                        </a:ext>
                      </a:extLst>
                    </a:gridCol>
                    <a:gridCol w="1020901">
                      <a:extLst>
                        <a:ext uri="{9D8B030D-6E8A-4147-A177-3AD203B41FA5}">
                          <a16:colId xmlns:a16="http://schemas.microsoft.com/office/drawing/2014/main" val="1582318644"/>
                        </a:ext>
                      </a:extLst>
                    </a:gridCol>
                    <a:gridCol w="114861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b="1" dirty="0"/>
                            <a:t>גורם ייצור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dirty="0"/>
                            <a:t>סך כמות גו''י</a:t>
                          </a:r>
                          <a:r>
                            <a:rPr lang="he-IL" baseline="0" dirty="0"/>
                            <a:t> 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/>
                            <a:t>X</a:t>
                          </a:r>
                          <a:r>
                            <a:rPr lang="he-IL" dirty="0"/>
                            <a:t> =</a:t>
                          </a:r>
                          <a:r>
                            <a:rPr lang="he-IL" sz="1600" dirty="0"/>
                            <a:t>מספר ניתוחים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Y</a:t>
                          </a:r>
                          <a:r>
                            <a:rPr lang="he-IL" dirty="0"/>
                            <a:t> =</a:t>
                          </a:r>
                          <a:r>
                            <a:rPr lang="he-IL" sz="1600" dirty="0"/>
                            <a:t>מספר בדיקות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8"/>
                          <a:stretch>
                            <a:fillRect l="-302381" t="-3311" r="-113690" b="-1205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8"/>
                          <a:stretch>
                            <a:fillRect l="-359574" t="-3311" r="-1596" b="-1205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1140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b="1" dirty="0">
                              <a:solidFill>
                                <a:srgbClr val="FF0000"/>
                              </a:solidFill>
                            </a:rPr>
                            <a:t>רופאים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302381" t="-175281" r="-113690" b="-1044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359574" t="-175281" r="-1596" b="-1044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48215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b="1" dirty="0">
                              <a:solidFill>
                                <a:srgbClr val="0070C0"/>
                              </a:solidFill>
                            </a:rPr>
                            <a:t>אחיות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120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120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60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302381" t="-272222" r="-113690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359574" t="-272222" r="-1596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27">
                <a:extLst>
                  <a:ext uri="{FF2B5EF4-FFF2-40B4-BE49-F238E27FC236}">
                    <a16:creationId xmlns:a16="http://schemas.microsoft.com/office/drawing/2014/main" id="{DC39A655-029D-3661-2C81-C886EFDE45FF}"/>
                  </a:ext>
                </a:extLst>
              </p:cNvPr>
              <p:cNvSpPr/>
              <p:nvPr/>
            </p:nvSpPr>
            <p:spPr>
              <a:xfrm>
                <a:off x="1585536" y="5514641"/>
                <a:ext cx="7209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he-IL" b="0" i="0" dirty="0" smtClean="0">
                          <a:solidFill>
                            <a:srgbClr val="FF0000"/>
                          </a:solidFill>
                        </a:rPr>
                        <m:t>50</m:t>
                      </m:r>
                    </m:oMath>
                  </m:oMathPara>
                </a14:m>
                <a:endParaRPr lang="he-I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Rectangle 27">
                <a:extLst>
                  <a:ext uri="{FF2B5EF4-FFF2-40B4-BE49-F238E27FC236}">
                    <a16:creationId xmlns:a16="http://schemas.microsoft.com/office/drawing/2014/main" id="{DC39A655-029D-3661-2C81-C886EFDE45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5536" y="5514641"/>
                <a:ext cx="720936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26">
                <a:extLst>
                  <a:ext uri="{FF2B5EF4-FFF2-40B4-BE49-F238E27FC236}">
                    <a16:creationId xmlns:a16="http://schemas.microsoft.com/office/drawing/2014/main" id="{BD962056-299B-2FAB-719E-1D0FD597A4B5}"/>
                  </a:ext>
                </a:extLst>
              </p:cNvPr>
              <p:cNvSpPr/>
              <p:nvPr/>
            </p:nvSpPr>
            <p:spPr>
              <a:xfrm>
                <a:off x="2501303" y="5514641"/>
                <a:ext cx="54886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he-IL" b="0" i="0" dirty="0" smtClean="0">
                          <a:solidFill>
                            <a:srgbClr val="0070C0"/>
                          </a:solidFill>
                        </a:rPr>
                        <m:t>12</m:t>
                      </m:r>
                      <m:r>
                        <m:rPr>
                          <m:nor/>
                        </m:rPr>
                        <a:rPr lang="he-IL" dirty="0">
                          <a:solidFill>
                            <a:srgbClr val="0070C0"/>
                          </a:solidFill>
                        </a:rPr>
                        <m:t>0</m:t>
                      </m:r>
                    </m:oMath>
                  </m:oMathPara>
                </a14:m>
                <a:endParaRPr lang="he-IL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3" name="Rectangle 26">
                <a:extLst>
                  <a:ext uri="{FF2B5EF4-FFF2-40B4-BE49-F238E27FC236}">
                    <a16:creationId xmlns:a16="http://schemas.microsoft.com/office/drawing/2014/main" id="{BD962056-299B-2FAB-719E-1D0FD597A4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1303" y="5514641"/>
                <a:ext cx="54886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4">
                <a:extLst>
                  <a:ext uri="{FF2B5EF4-FFF2-40B4-BE49-F238E27FC236}">
                    <a16:creationId xmlns:a16="http://schemas.microsoft.com/office/drawing/2014/main" id="{6FE6F570-9522-D38F-A765-436F06904882}"/>
                  </a:ext>
                </a:extLst>
              </p:cNvPr>
              <p:cNvSpPr/>
              <p:nvPr/>
            </p:nvSpPr>
            <p:spPr>
              <a:xfrm>
                <a:off x="-127464" y="4512462"/>
                <a:ext cx="102803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46</m:t>
                      </m:r>
                      <m:r>
                        <a:rPr lang="en-US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66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 14">
                <a:extLst>
                  <a:ext uri="{FF2B5EF4-FFF2-40B4-BE49-F238E27FC236}">
                    <a16:creationId xmlns:a16="http://schemas.microsoft.com/office/drawing/2014/main" id="{6FE6F570-9522-D38F-A765-436F069048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7464" y="4512462"/>
                <a:ext cx="1028037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מחבר ישר 20">
            <a:extLst>
              <a:ext uri="{FF2B5EF4-FFF2-40B4-BE49-F238E27FC236}">
                <a16:creationId xmlns:a16="http://schemas.microsoft.com/office/drawing/2014/main" id="{49078C39-3860-5569-615D-9D3982CA6A8D}"/>
              </a:ext>
            </a:extLst>
          </p:cNvPr>
          <p:cNvCxnSpPr>
            <a:cxnSpLocks/>
            <a:endCxn id="43" idx="2"/>
          </p:cNvCxnSpPr>
          <p:nvPr/>
        </p:nvCxnSpPr>
        <p:spPr>
          <a:xfrm>
            <a:off x="610228" y="4010079"/>
            <a:ext cx="839380" cy="637828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מחבר ישר 29">
            <a:extLst>
              <a:ext uri="{FF2B5EF4-FFF2-40B4-BE49-F238E27FC236}">
                <a16:creationId xmlns:a16="http://schemas.microsoft.com/office/drawing/2014/main" id="{A4530306-6043-9919-0DC7-820FD43C8446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1531102" y="4727093"/>
            <a:ext cx="414902" cy="787548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18016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4639"/>
            <a:ext cx="7848600" cy="604354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שאלה 4 (2 מגבלות)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30461" y="541792"/>
            <a:ext cx="8035395" cy="3176378"/>
          </a:xfrm>
        </p:spPr>
        <p:txBody>
          <a:bodyPr>
            <a:normAutofit/>
          </a:bodyPr>
          <a:lstStyle/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400" dirty="0">
                <a:latin typeface="Arial" panose="020B0604020202020204" pitchFamily="34" charset="0"/>
                <a:cs typeface="Arial" panose="020B0604020202020204" pitchFamily="34" charset="0"/>
              </a:rPr>
              <a:t>בטסמניה יש 100 רופאים ו- 120 אחיות. לביצוע ניתוח זקוקים ל- 2 רופאים ואחות אחת. לביצוע בדיקה זקוקים לרופא אחד ו- 2 אחיות. הניחו שהמשק מייצר ביעילות ושניתן לבצע גם חלקי ניתוחים ובדיקות. מכאן ניתן להסיק כי: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he-IL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400" dirty="0">
                <a:solidFill>
                  <a:schemeClr val="accent3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he-IL" sz="1100" dirty="0">
                <a:solidFill>
                  <a:schemeClr val="accent3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יש יותר מתשובה אחת נכונה</a:t>
            </a:r>
          </a:p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100" dirty="0">
                <a:solidFill>
                  <a:schemeClr val="accent3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2. כאשר כל הרופאים וכל האחיות מועסקים, העלות האלטרנטיבית הכוללת לביצוע ניתוחים היא 22 בדיקות. </a:t>
            </a:r>
          </a:p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100" dirty="0">
                <a:solidFill>
                  <a:schemeClr val="accent3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בנקודה שבה כל הרופאים וכל האחיות מועסקים, הייצור יעיל יותר מאשר בשאר הנקודות על עקומת התמורה</a:t>
            </a:r>
          </a:p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400" dirty="0">
                <a:latin typeface="Arial" panose="020B0604020202020204" pitchFamily="34" charset="0"/>
                <a:cs typeface="Arial" panose="020B0604020202020204" pitchFamily="34" charset="0"/>
              </a:rPr>
              <a:t>4. כאשר מבוצעות 50 בדיקות, מבוצעים 20 ניתוחים.	</a:t>
            </a:r>
          </a:p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400" b="1" dirty="0">
                <a:latin typeface="Arial" panose="020B0604020202020204" pitchFamily="34" charset="0"/>
                <a:cs typeface="Arial" panose="020B0604020202020204" pitchFamily="34" charset="0"/>
              </a:rPr>
              <a:t>כן או לא?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21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920405" y="5579837"/>
                <a:ext cx="102803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26</m:t>
                      </m:r>
                      <m:r>
                        <a:rPr lang="en-US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66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405" y="5579837"/>
                <a:ext cx="1028037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/>
          <p:cNvCxnSpPr>
            <a:cxnSpLocks/>
          </p:cNvCxnSpPr>
          <p:nvPr/>
        </p:nvCxnSpPr>
        <p:spPr>
          <a:xfrm>
            <a:off x="603504" y="3944511"/>
            <a:ext cx="2197681" cy="1613135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7849993-BEAC-CFB8-FCA6-FDF9672D63D6}"/>
              </a:ext>
            </a:extLst>
          </p:cNvPr>
          <p:cNvCxnSpPr>
            <a:cxnSpLocks/>
          </p:cNvCxnSpPr>
          <p:nvPr/>
        </p:nvCxnSpPr>
        <p:spPr>
          <a:xfrm>
            <a:off x="606463" y="5535929"/>
            <a:ext cx="2408031" cy="312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AE7AE45-E888-C845-165C-14566894A128}"/>
              </a:ext>
            </a:extLst>
          </p:cNvPr>
          <p:cNvCxnSpPr>
            <a:cxnSpLocks/>
          </p:cNvCxnSpPr>
          <p:nvPr/>
        </p:nvCxnSpPr>
        <p:spPr>
          <a:xfrm flipV="1">
            <a:off x="603504" y="2667000"/>
            <a:ext cx="0" cy="28940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3EA8E0CE-826E-02BF-0B9A-B15371B79292}"/>
              </a:ext>
            </a:extLst>
          </p:cNvPr>
          <p:cNvSpPr/>
          <p:nvPr/>
        </p:nvSpPr>
        <p:spPr>
          <a:xfrm>
            <a:off x="1449608" y="4552013"/>
            <a:ext cx="216928" cy="191787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B821780-CADC-1417-DF23-CAAD2948B857}"/>
              </a:ext>
            </a:extLst>
          </p:cNvPr>
          <p:cNvCxnSpPr>
            <a:cxnSpLocks/>
          </p:cNvCxnSpPr>
          <p:nvPr/>
        </p:nvCxnSpPr>
        <p:spPr>
          <a:xfrm>
            <a:off x="603503" y="3097521"/>
            <a:ext cx="1497566" cy="246693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FCC877B9-465E-C723-5E20-091E9A7AF895}"/>
                  </a:ext>
                </a:extLst>
              </p:cNvPr>
              <p:cNvSpPr/>
              <p:nvPr/>
            </p:nvSpPr>
            <p:spPr>
              <a:xfrm>
                <a:off x="2610171" y="5467563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FCC877B9-465E-C723-5E20-091E9A7AF8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171" y="5467563"/>
                <a:ext cx="1028037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0994878-2676-3B9F-1C2D-FACB13CDA04C}"/>
                  </a:ext>
                </a:extLst>
              </p:cNvPr>
              <p:cNvSpPr/>
              <p:nvPr/>
            </p:nvSpPr>
            <p:spPr>
              <a:xfrm>
                <a:off x="-56819" y="2469884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0994878-2676-3B9F-1C2D-FACB13CDA0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6819" y="2469884"/>
                <a:ext cx="1028037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4B38D71-CCD6-875B-030B-E8A95426CFCC}"/>
              </a:ext>
            </a:extLst>
          </p:cNvPr>
          <p:cNvCxnSpPr>
            <a:cxnSpLocks/>
          </p:cNvCxnSpPr>
          <p:nvPr/>
        </p:nvCxnSpPr>
        <p:spPr>
          <a:xfrm flipH="1">
            <a:off x="1513061" y="4647906"/>
            <a:ext cx="18041" cy="934449"/>
          </a:xfrm>
          <a:prstGeom prst="line">
            <a:avLst/>
          </a:prstGeom>
          <a:ln>
            <a:solidFill>
              <a:srgbClr val="00206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9C7CD899-CCED-4878-4633-B7ED46287F7F}"/>
              </a:ext>
            </a:extLst>
          </p:cNvPr>
          <p:cNvSpPr txBox="1"/>
          <p:nvPr/>
        </p:nvSpPr>
        <p:spPr>
          <a:xfrm>
            <a:off x="1962411" y="5297479"/>
            <a:ext cx="84627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70C0"/>
                </a:solidFill>
              </a:rPr>
              <a:t>-0.5</a:t>
            </a:r>
            <a:endParaRPr lang="en-US" b="1" dirty="0">
              <a:solidFill>
                <a:srgbClr val="0070C0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BF71CE-240F-CED1-B85A-61F6E2A4AED2}"/>
              </a:ext>
            </a:extLst>
          </p:cNvPr>
          <p:cNvCxnSpPr>
            <a:cxnSpLocks/>
          </p:cNvCxnSpPr>
          <p:nvPr/>
        </p:nvCxnSpPr>
        <p:spPr>
          <a:xfrm flipH="1" flipV="1">
            <a:off x="610229" y="4647906"/>
            <a:ext cx="842373" cy="22309"/>
          </a:xfrm>
          <a:prstGeom prst="line">
            <a:avLst/>
          </a:prstGeom>
          <a:ln>
            <a:solidFill>
              <a:srgbClr val="00206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7BF38D0-F16A-35C7-6A3B-9663490B8254}"/>
                  </a:ext>
                </a:extLst>
              </p:cNvPr>
              <p:cNvSpPr txBox="1"/>
              <p:nvPr/>
            </p:nvSpPr>
            <p:spPr>
              <a:xfrm>
                <a:off x="1339275" y="5274578"/>
                <a:ext cx="84627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he-IL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7BF38D0-F16A-35C7-6A3B-9663490B82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9275" y="5274578"/>
                <a:ext cx="84627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081ACF7-6578-0A31-347B-138BD7A1FE6F}"/>
                  </a:ext>
                </a:extLst>
              </p:cNvPr>
              <p:cNvSpPr/>
              <p:nvPr/>
            </p:nvSpPr>
            <p:spPr>
              <a:xfrm>
                <a:off x="146839" y="3767475"/>
                <a:ext cx="54886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he-IL" dirty="0">
                          <a:solidFill>
                            <a:srgbClr val="0070C0"/>
                          </a:solidFill>
                        </a:rPr>
                        <m:t>60</m:t>
                      </m:r>
                    </m:oMath>
                  </m:oMathPara>
                </a14:m>
                <a:endParaRPr lang="he-IL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081ACF7-6578-0A31-347B-138BD7A1FE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39" y="3767475"/>
                <a:ext cx="54886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B910252-F708-25AE-053F-7112439F183B}"/>
                  </a:ext>
                </a:extLst>
              </p:cNvPr>
              <p:cNvSpPr/>
              <p:nvPr/>
            </p:nvSpPr>
            <p:spPr>
              <a:xfrm>
                <a:off x="9525" y="2872051"/>
                <a:ext cx="7209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he-IL" dirty="0">
                          <a:solidFill>
                            <a:srgbClr val="FF0000"/>
                          </a:solidFill>
                        </a:rPr>
                        <m:t>100</m:t>
                      </m:r>
                    </m:oMath>
                  </m:oMathPara>
                </a14:m>
                <a:endParaRPr lang="he-I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B910252-F708-25AE-053F-7112439F18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" y="2872051"/>
                <a:ext cx="72093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טבלה 4">
                <a:extLst>
                  <a:ext uri="{FF2B5EF4-FFF2-40B4-BE49-F238E27FC236}">
                    <a16:creationId xmlns:a16="http://schemas.microsoft.com/office/drawing/2014/main" id="{4C52CB52-ABCA-1369-283E-8C43843D024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512454" y="3619805"/>
              <a:ext cx="5259560" cy="2003755"/>
            </p:xfrm>
            <a:graphic>
              <a:graphicData uri="http://schemas.openxmlformats.org/drawingml/2006/table">
                <a:tbl>
                  <a:tblPr rtl="1" firstRow="1" bandRow="1">
                    <a:tableStyleId>{5940675A-B579-460E-94D1-54222C63F5DA}</a:tableStyleId>
                  </a:tblPr>
                  <a:tblGrid>
                    <a:gridCol w="80694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9397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9096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98159">
                      <a:extLst>
                        <a:ext uri="{9D8B030D-6E8A-4147-A177-3AD203B41FA5}">
                          <a16:colId xmlns:a16="http://schemas.microsoft.com/office/drawing/2014/main" val="729882449"/>
                        </a:ext>
                      </a:extLst>
                    </a:gridCol>
                    <a:gridCol w="1020901">
                      <a:extLst>
                        <a:ext uri="{9D8B030D-6E8A-4147-A177-3AD203B41FA5}">
                          <a16:colId xmlns:a16="http://schemas.microsoft.com/office/drawing/2014/main" val="1582318644"/>
                        </a:ext>
                      </a:extLst>
                    </a:gridCol>
                    <a:gridCol w="114861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14899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b="1" dirty="0"/>
                            <a:t>גורם ייצור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dirty="0"/>
                            <a:t>סך כמות גו''י</a:t>
                          </a:r>
                          <a:r>
                            <a:rPr lang="he-IL" baseline="0" dirty="0"/>
                            <a:t> 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/>
                            <a:t>X</a:t>
                          </a:r>
                          <a:r>
                            <a:rPr lang="he-IL" dirty="0"/>
                            <a:t> =</a:t>
                          </a:r>
                          <a:r>
                            <a:rPr lang="he-IL" sz="1600" dirty="0"/>
                            <a:t>מספר ניתוחים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Y</a:t>
                          </a:r>
                          <a:r>
                            <a:rPr lang="he-IL" dirty="0"/>
                            <a:t> =</a:t>
                          </a:r>
                          <a:r>
                            <a:rPr lang="he-IL" sz="1600" dirty="0"/>
                            <a:t>מספר בדיקות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600" dirty="0"/>
                            <a:t>ע.א.ש</a:t>
                          </a:r>
                          <a:r>
                            <a:rPr lang="en-US" sz="1600" dirty="0"/>
                            <a:t> </a:t>
                          </a:r>
                          <a:r>
                            <a:rPr lang="he-IL" sz="1600" dirty="0"/>
                            <a:t>ל-</a:t>
                          </a:r>
                          <a:r>
                            <a:rPr lang="en-US" sz="1600" dirty="0"/>
                            <a:t> X</a:t>
                          </a:r>
                        </a:p>
                        <a:p>
                          <a:pPr algn="ctr"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he-IL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400" dirty="0" err="1"/>
                            <a:t>ע.א.ש</a:t>
                          </a:r>
                          <a:r>
                            <a:rPr lang="he-IL" sz="1400" dirty="0"/>
                            <a:t> לייצור </a:t>
                          </a:r>
                          <a:r>
                            <a:rPr lang="en-US" sz="1400" dirty="0"/>
                            <a:t>Y</a:t>
                          </a:r>
                          <a:endParaRPr lang="he-IL" sz="1400" dirty="0"/>
                        </a:p>
                        <a:p>
                          <a:pPr algn="ctr"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he-IL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he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1140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b="1" dirty="0">
                              <a:solidFill>
                                <a:srgbClr val="FF0000"/>
                              </a:solidFill>
                            </a:rPr>
                            <a:t>רופאים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rtl="1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he-IL" b="0" i="1" smtClean="0">
                                      <a:latin typeface="Cambria Math" panose="02040503050406030204" pitchFamily="18" charset="0"/>
                                    </a:rPr>
                                    <m:t>100</m:t>
                                  </m:r>
                                </m:num>
                                <m:den>
                                  <m:r>
                                    <a:rPr lang="he-IL" b="0" i="1" smtClean="0">
                                      <a:latin typeface="Cambria Math" panose="02040503050406030204" pitchFamily="18" charset="0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=2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he-IL" b="0" i="1" smtClean="0">
                                      <a:latin typeface="Cambria Math" panose="02040503050406030204" pitchFamily="18" charset="0"/>
                                    </a:rPr>
                                    <m:t>50</m:t>
                                  </m:r>
                                </m:num>
                                <m:den>
                                  <m:r>
                                    <a:rPr lang="he-IL" b="0" i="1" smtClean="0">
                                      <a:latin typeface="Cambria Math" panose="02040503050406030204" pitchFamily="18" charset="0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=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he-IL" b="1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he-IL" dirty="0" smtClean="0">
                                      <a:solidFill>
                                        <a:srgbClr val="FF0000"/>
                                      </a:solidFill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he-IL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48215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b="1" dirty="0">
                              <a:solidFill>
                                <a:srgbClr val="0070C0"/>
                              </a:solidFill>
                            </a:rPr>
                            <a:t>אחיות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120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120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60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nor/>
                                    </m:rPr>
                                    <a:rPr lang="he-IL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60 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he-IL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120 </m:t>
                                  </m:r>
                                </m:den>
                              </m:f>
                            </m:oMath>
                          </a14:m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=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he-IL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he-IL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he-IL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nor/>
                                    </m:rPr>
                                    <a:rPr lang="he-IL" b="0" i="0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12</m:t>
                                  </m:r>
                                  <m:r>
                                    <m:rPr>
                                      <m:nor/>
                                    </m:rPr>
                                    <a:rPr lang="he-IL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0 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he-IL" b="0" i="0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6</m:t>
                                  </m:r>
                                  <m:r>
                                    <m:rPr>
                                      <m:nor/>
                                    </m:rPr>
                                    <a:rPr lang="he-IL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0 </m:t>
                                  </m:r>
                                </m:den>
                              </m:f>
                            </m:oMath>
                          </a14:m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=</a:t>
                          </a:r>
                          <a14:m>
                            <m:oMath xmlns:m="http://schemas.openxmlformats.org/officeDocument/2006/math">
                              <m:r>
                                <a:rPr lang="he-IL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oMath>
                          </a14:m>
                          <a:endParaRPr lang="he-IL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טבלה 4">
                <a:extLst>
                  <a:ext uri="{FF2B5EF4-FFF2-40B4-BE49-F238E27FC236}">
                    <a16:creationId xmlns:a16="http://schemas.microsoft.com/office/drawing/2014/main" id="{4C52CB52-ABCA-1369-283E-8C43843D024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512454" y="3619805"/>
              <a:ext cx="5259560" cy="2003755"/>
            </p:xfrm>
            <a:graphic>
              <a:graphicData uri="http://schemas.openxmlformats.org/drawingml/2006/table">
                <a:tbl>
                  <a:tblPr rtl="1" firstRow="1" bandRow="1">
                    <a:tableStyleId>{5940675A-B579-460E-94D1-54222C63F5DA}</a:tableStyleId>
                  </a:tblPr>
                  <a:tblGrid>
                    <a:gridCol w="80694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9397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9096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98159">
                      <a:extLst>
                        <a:ext uri="{9D8B030D-6E8A-4147-A177-3AD203B41FA5}">
                          <a16:colId xmlns:a16="http://schemas.microsoft.com/office/drawing/2014/main" val="729882449"/>
                        </a:ext>
                      </a:extLst>
                    </a:gridCol>
                    <a:gridCol w="1020901">
                      <a:extLst>
                        <a:ext uri="{9D8B030D-6E8A-4147-A177-3AD203B41FA5}">
                          <a16:colId xmlns:a16="http://schemas.microsoft.com/office/drawing/2014/main" val="1582318644"/>
                        </a:ext>
                      </a:extLst>
                    </a:gridCol>
                    <a:gridCol w="114861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b="1" dirty="0"/>
                            <a:t>גורם ייצור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dirty="0"/>
                            <a:t>סך כמות גו''י</a:t>
                          </a:r>
                          <a:r>
                            <a:rPr lang="he-IL" baseline="0" dirty="0"/>
                            <a:t> 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/>
                            <a:t>X</a:t>
                          </a:r>
                          <a:r>
                            <a:rPr lang="he-IL" dirty="0"/>
                            <a:t> =</a:t>
                          </a:r>
                          <a:r>
                            <a:rPr lang="he-IL" sz="1600" dirty="0"/>
                            <a:t>מספר ניתוחים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Y</a:t>
                          </a:r>
                          <a:r>
                            <a:rPr lang="he-IL" dirty="0"/>
                            <a:t> =</a:t>
                          </a:r>
                          <a:r>
                            <a:rPr lang="he-IL" sz="1600" dirty="0"/>
                            <a:t>מספר בדיקות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8"/>
                          <a:stretch>
                            <a:fillRect l="-302381" t="-3311" r="-113690" b="-1205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8"/>
                          <a:stretch>
                            <a:fillRect l="-359574" t="-3311" r="-1596" b="-1205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1140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b="1" dirty="0">
                              <a:solidFill>
                                <a:srgbClr val="FF0000"/>
                              </a:solidFill>
                            </a:rPr>
                            <a:t>רופאים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302381" t="-175281" r="-113690" b="-1044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359574" t="-175281" r="-1596" b="-1044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48215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b="1" dirty="0">
                              <a:solidFill>
                                <a:srgbClr val="0070C0"/>
                              </a:solidFill>
                            </a:rPr>
                            <a:t>אחיות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120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120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60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302381" t="-272222" r="-113690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359574" t="-272222" r="-1596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27">
                <a:extLst>
                  <a:ext uri="{FF2B5EF4-FFF2-40B4-BE49-F238E27FC236}">
                    <a16:creationId xmlns:a16="http://schemas.microsoft.com/office/drawing/2014/main" id="{DC39A655-029D-3661-2C81-C886EFDE45FF}"/>
                  </a:ext>
                </a:extLst>
              </p:cNvPr>
              <p:cNvSpPr/>
              <p:nvPr/>
            </p:nvSpPr>
            <p:spPr>
              <a:xfrm>
                <a:off x="1585536" y="5514641"/>
                <a:ext cx="7209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he-IL" b="0" i="0" dirty="0" smtClean="0">
                          <a:solidFill>
                            <a:srgbClr val="FF0000"/>
                          </a:solidFill>
                        </a:rPr>
                        <m:t>50</m:t>
                      </m:r>
                    </m:oMath>
                  </m:oMathPara>
                </a14:m>
                <a:endParaRPr lang="he-I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Rectangle 27">
                <a:extLst>
                  <a:ext uri="{FF2B5EF4-FFF2-40B4-BE49-F238E27FC236}">
                    <a16:creationId xmlns:a16="http://schemas.microsoft.com/office/drawing/2014/main" id="{DC39A655-029D-3661-2C81-C886EFDE45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5536" y="5514641"/>
                <a:ext cx="720936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26">
                <a:extLst>
                  <a:ext uri="{FF2B5EF4-FFF2-40B4-BE49-F238E27FC236}">
                    <a16:creationId xmlns:a16="http://schemas.microsoft.com/office/drawing/2014/main" id="{BD962056-299B-2FAB-719E-1D0FD597A4B5}"/>
                  </a:ext>
                </a:extLst>
              </p:cNvPr>
              <p:cNvSpPr/>
              <p:nvPr/>
            </p:nvSpPr>
            <p:spPr>
              <a:xfrm>
                <a:off x="2501303" y="5514641"/>
                <a:ext cx="54886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he-IL" b="0" i="0" dirty="0" smtClean="0">
                          <a:solidFill>
                            <a:srgbClr val="0070C0"/>
                          </a:solidFill>
                        </a:rPr>
                        <m:t>12</m:t>
                      </m:r>
                      <m:r>
                        <m:rPr>
                          <m:nor/>
                        </m:rPr>
                        <a:rPr lang="he-IL" dirty="0">
                          <a:solidFill>
                            <a:srgbClr val="0070C0"/>
                          </a:solidFill>
                        </a:rPr>
                        <m:t>0</m:t>
                      </m:r>
                    </m:oMath>
                  </m:oMathPara>
                </a14:m>
                <a:endParaRPr lang="he-IL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3" name="Rectangle 26">
                <a:extLst>
                  <a:ext uri="{FF2B5EF4-FFF2-40B4-BE49-F238E27FC236}">
                    <a16:creationId xmlns:a16="http://schemas.microsoft.com/office/drawing/2014/main" id="{BD962056-299B-2FAB-719E-1D0FD597A4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1303" y="5514641"/>
                <a:ext cx="54886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4">
                <a:extLst>
                  <a:ext uri="{FF2B5EF4-FFF2-40B4-BE49-F238E27FC236}">
                    <a16:creationId xmlns:a16="http://schemas.microsoft.com/office/drawing/2014/main" id="{6FE6F570-9522-D38F-A765-436F06904882}"/>
                  </a:ext>
                </a:extLst>
              </p:cNvPr>
              <p:cNvSpPr/>
              <p:nvPr/>
            </p:nvSpPr>
            <p:spPr>
              <a:xfrm>
                <a:off x="-127464" y="4512462"/>
                <a:ext cx="102803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46</m:t>
                      </m:r>
                      <m:r>
                        <a:rPr lang="en-US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66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 14">
                <a:extLst>
                  <a:ext uri="{FF2B5EF4-FFF2-40B4-BE49-F238E27FC236}">
                    <a16:creationId xmlns:a16="http://schemas.microsoft.com/office/drawing/2014/main" id="{6FE6F570-9522-D38F-A765-436F069048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7464" y="4512462"/>
                <a:ext cx="1028037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מחבר ישר 20">
            <a:extLst>
              <a:ext uri="{FF2B5EF4-FFF2-40B4-BE49-F238E27FC236}">
                <a16:creationId xmlns:a16="http://schemas.microsoft.com/office/drawing/2014/main" id="{49078C39-3860-5569-615D-9D3982CA6A8D}"/>
              </a:ext>
            </a:extLst>
          </p:cNvPr>
          <p:cNvCxnSpPr>
            <a:cxnSpLocks/>
            <a:endCxn id="43" idx="2"/>
          </p:cNvCxnSpPr>
          <p:nvPr/>
        </p:nvCxnSpPr>
        <p:spPr>
          <a:xfrm>
            <a:off x="610228" y="4010079"/>
            <a:ext cx="839380" cy="637828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מחבר ישר 29">
            <a:extLst>
              <a:ext uri="{FF2B5EF4-FFF2-40B4-BE49-F238E27FC236}">
                <a16:creationId xmlns:a16="http://schemas.microsoft.com/office/drawing/2014/main" id="{A4530306-6043-9919-0DC7-820FD43C8446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1531102" y="4727093"/>
            <a:ext cx="414902" cy="787548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30796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4639"/>
            <a:ext cx="7848600" cy="338554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שאלה 4 (2 מגבלות)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30461" y="541792"/>
            <a:ext cx="8035395" cy="3176378"/>
          </a:xfrm>
        </p:spPr>
        <p:txBody>
          <a:bodyPr>
            <a:normAutofit/>
          </a:bodyPr>
          <a:lstStyle/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400" dirty="0">
                <a:latin typeface="Arial" panose="020B0604020202020204" pitchFamily="34" charset="0"/>
                <a:cs typeface="Arial" panose="020B0604020202020204" pitchFamily="34" charset="0"/>
              </a:rPr>
              <a:t>בטסמניה יש 100 רופאים ו- 120 אחיות. לביצוע ניתוח זקוקים ל- 2 רופאים ואחות אחת. לביצוע בדיקה זקוקים לרופא אחד ו- 2 אחיות. הניחו שהמשק מייצר ביעילות ושניתן לבצע גם חלקי ניתוחים ובדיקות. מכאן ניתן להסיק כי: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he-IL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400" dirty="0">
                <a:solidFill>
                  <a:schemeClr val="accent3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he-IL" sz="1100" dirty="0">
                <a:solidFill>
                  <a:schemeClr val="accent3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יש יותר מתשובה אחת נכונה</a:t>
            </a:r>
          </a:p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100" dirty="0">
                <a:solidFill>
                  <a:schemeClr val="accent3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2. כאשר כל הרופאים וכל האחיות מועסקים, העלות האלטרנטיבית הכוללת לביצוע ניתוחים היא 22 בדיקות. </a:t>
            </a:r>
          </a:p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100" dirty="0">
                <a:solidFill>
                  <a:schemeClr val="accent3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בנקודה שבה כל הרופאים וכל האחיות מועסקים, הייצור יעיל יותר מאשר בשאר הנקודות על עקומת התמורה</a:t>
            </a:r>
          </a:p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400" dirty="0">
                <a:latin typeface="Arial" panose="020B0604020202020204" pitchFamily="34" charset="0"/>
                <a:cs typeface="Arial" panose="020B0604020202020204" pitchFamily="34" charset="0"/>
              </a:rPr>
              <a:t>4. כאשר מבוצעות 50 בדיקות, מבוצעים 20 ניתוחים.	</a:t>
            </a:r>
          </a:p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400" b="1" dirty="0">
                <a:latin typeface="Arial" panose="020B0604020202020204" pitchFamily="34" charset="0"/>
                <a:cs typeface="Arial" panose="020B0604020202020204" pitchFamily="34" charset="0"/>
              </a:rPr>
              <a:t>נציב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he-IL" sz="1400" b="1" dirty="0">
                <a:latin typeface="Arial" panose="020B0604020202020204" pitchFamily="34" charset="0"/>
                <a:cs typeface="Arial" panose="020B0604020202020204" pitchFamily="34" charset="0"/>
              </a:rPr>
              <a:t>=50 </a:t>
            </a:r>
            <a:r>
              <a:rPr lang="he-IL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במגבלת האחיות ונקבל: </a:t>
            </a:r>
            <a:br>
              <a:rPr lang="en-US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he-IL" sz="1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22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920405" y="5579837"/>
                <a:ext cx="102803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26</m:t>
                      </m:r>
                      <m:r>
                        <a:rPr lang="en-US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66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405" y="5579837"/>
                <a:ext cx="1028037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/>
          <p:cNvCxnSpPr>
            <a:cxnSpLocks/>
          </p:cNvCxnSpPr>
          <p:nvPr/>
        </p:nvCxnSpPr>
        <p:spPr>
          <a:xfrm>
            <a:off x="603504" y="3944511"/>
            <a:ext cx="2197681" cy="1613135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7849993-BEAC-CFB8-FCA6-FDF9672D63D6}"/>
              </a:ext>
            </a:extLst>
          </p:cNvPr>
          <p:cNvCxnSpPr>
            <a:cxnSpLocks/>
          </p:cNvCxnSpPr>
          <p:nvPr/>
        </p:nvCxnSpPr>
        <p:spPr>
          <a:xfrm>
            <a:off x="606463" y="5535929"/>
            <a:ext cx="2408031" cy="312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AE7AE45-E888-C845-165C-14566894A128}"/>
              </a:ext>
            </a:extLst>
          </p:cNvPr>
          <p:cNvCxnSpPr>
            <a:cxnSpLocks/>
          </p:cNvCxnSpPr>
          <p:nvPr/>
        </p:nvCxnSpPr>
        <p:spPr>
          <a:xfrm flipV="1">
            <a:off x="603504" y="2667000"/>
            <a:ext cx="0" cy="28940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3EA8E0CE-826E-02BF-0B9A-B15371B79292}"/>
              </a:ext>
            </a:extLst>
          </p:cNvPr>
          <p:cNvSpPr/>
          <p:nvPr/>
        </p:nvSpPr>
        <p:spPr>
          <a:xfrm>
            <a:off x="1449608" y="4552013"/>
            <a:ext cx="216928" cy="191787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B821780-CADC-1417-DF23-CAAD2948B857}"/>
              </a:ext>
            </a:extLst>
          </p:cNvPr>
          <p:cNvCxnSpPr>
            <a:cxnSpLocks/>
          </p:cNvCxnSpPr>
          <p:nvPr/>
        </p:nvCxnSpPr>
        <p:spPr>
          <a:xfrm>
            <a:off x="603503" y="3097521"/>
            <a:ext cx="1497566" cy="246693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FCC877B9-465E-C723-5E20-091E9A7AF895}"/>
                  </a:ext>
                </a:extLst>
              </p:cNvPr>
              <p:cNvSpPr/>
              <p:nvPr/>
            </p:nvSpPr>
            <p:spPr>
              <a:xfrm>
                <a:off x="2610171" y="5467563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FCC877B9-465E-C723-5E20-091E9A7AF8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171" y="5467563"/>
                <a:ext cx="1028037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0994878-2676-3B9F-1C2D-FACB13CDA04C}"/>
                  </a:ext>
                </a:extLst>
              </p:cNvPr>
              <p:cNvSpPr/>
              <p:nvPr/>
            </p:nvSpPr>
            <p:spPr>
              <a:xfrm>
                <a:off x="-56819" y="2469884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0994878-2676-3B9F-1C2D-FACB13CDA0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6819" y="2469884"/>
                <a:ext cx="1028037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4B38D71-CCD6-875B-030B-E8A95426CFCC}"/>
              </a:ext>
            </a:extLst>
          </p:cNvPr>
          <p:cNvCxnSpPr>
            <a:cxnSpLocks/>
          </p:cNvCxnSpPr>
          <p:nvPr/>
        </p:nvCxnSpPr>
        <p:spPr>
          <a:xfrm flipH="1">
            <a:off x="1513061" y="4647906"/>
            <a:ext cx="18041" cy="934449"/>
          </a:xfrm>
          <a:prstGeom prst="line">
            <a:avLst/>
          </a:prstGeom>
          <a:ln>
            <a:solidFill>
              <a:srgbClr val="00206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9C7CD899-CCED-4878-4633-B7ED46287F7F}"/>
              </a:ext>
            </a:extLst>
          </p:cNvPr>
          <p:cNvSpPr txBox="1"/>
          <p:nvPr/>
        </p:nvSpPr>
        <p:spPr>
          <a:xfrm>
            <a:off x="1962411" y="5297479"/>
            <a:ext cx="84627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70C0"/>
                </a:solidFill>
              </a:rPr>
              <a:t>-0.5</a:t>
            </a:r>
            <a:endParaRPr lang="en-US" b="1" dirty="0">
              <a:solidFill>
                <a:srgbClr val="0070C0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BF71CE-240F-CED1-B85A-61F6E2A4AED2}"/>
              </a:ext>
            </a:extLst>
          </p:cNvPr>
          <p:cNvCxnSpPr>
            <a:cxnSpLocks/>
          </p:cNvCxnSpPr>
          <p:nvPr/>
        </p:nvCxnSpPr>
        <p:spPr>
          <a:xfrm flipH="1" flipV="1">
            <a:off x="610229" y="4647906"/>
            <a:ext cx="842373" cy="22309"/>
          </a:xfrm>
          <a:prstGeom prst="line">
            <a:avLst/>
          </a:prstGeom>
          <a:ln>
            <a:solidFill>
              <a:srgbClr val="00206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7BF38D0-F16A-35C7-6A3B-9663490B8254}"/>
                  </a:ext>
                </a:extLst>
              </p:cNvPr>
              <p:cNvSpPr txBox="1"/>
              <p:nvPr/>
            </p:nvSpPr>
            <p:spPr>
              <a:xfrm>
                <a:off x="1339275" y="5274578"/>
                <a:ext cx="84627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he-IL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7BF38D0-F16A-35C7-6A3B-9663490B82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9275" y="5274578"/>
                <a:ext cx="84627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081ACF7-6578-0A31-347B-138BD7A1FE6F}"/>
                  </a:ext>
                </a:extLst>
              </p:cNvPr>
              <p:cNvSpPr/>
              <p:nvPr/>
            </p:nvSpPr>
            <p:spPr>
              <a:xfrm>
                <a:off x="146839" y="3767475"/>
                <a:ext cx="54886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he-IL" dirty="0">
                          <a:solidFill>
                            <a:srgbClr val="0070C0"/>
                          </a:solidFill>
                        </a:rPr>
                        <m:t>60</m:t>
                      </m:r>
                    </m:oMath>
                  </m:oMathPara>
                </a14:m>
                <a:endParaRPr lang="he-IL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081ACF7-6578-0A31-347B-138BD7A1FE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39" y="3767475"/>
                <a:ext cx="54886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B910252-F708-25AE-053F-7112439F183B}"/>
                  </a:ext>
                </a:extLst>
              </p:cNvPr>
              <p:cNvSpPr/>
              <p:nvPr/>
            </p:nvSpPr>
            <p:spPr>
              <a:xfrm>
                <a:off x="9525" y="2872051"/>
                <a:ext cx="7209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he-IL" dirty="0">
                          <a:solidFill>
                            <a:srgbClr val="FF0000"/>
                          </a:solidFill>
                        </a:rPr>
                        <m:t>100</m:t>
                      </m:r>
                    </m:oMath>
                  </m:oMathPara>
                </a14:m>
                <a:endParaRPr lang="he-I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B910252-F708-25AE-053F-7112439F18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" y="2872051"/>
                <a:ext cx="72093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טבלה 4">
                <a:extLst>
                  <a:ext uri="{FF2B5EF4-FFF2-40B4-BE49-F238E27FC236}">
                    <a16:creationId xmlns:a16="http://schemas.microsoft.com/office/drawing/2014/main" id="{4C52CB52-ABCA-1369-283E-8C43843D024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512454" y="3619805"/>
              <a:ext cx="5259560" cy="2003755"/>
            </p:xfrm>
            <a:graphic>
              <a:graphicData uri="http://schemas.openxmlformats.org/drawingml/2006/table">
                <a:tbl>
                  <a:tblPr rtl="1" firstRow="1" bandRow="1">
                    <a:tableStyleId>{5940675A-B579-460E-94D1-54222C63F5DA}</a:tableStyleId>
                  </a:tblPr>
                  <a:tblGrid>
                    <a:gridCol w="80694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9397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9096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98159">
                      <a:extLst>
                        <a:ext uri="{9D8B030D-6E8A-4147-A177-3AD203B41FA5}">
                          <a16:colId xmlns:a16="http://schemas.microsoft.com/office/drawing/2014/main" val="729882449"/>
                        </a:ext>
                      </a:extLst>
                    </a:gridCol>
                    <a:gridCol w="1020901">
                      <a:extLst>
                        <a:ext uri="{9D8B030D-6E8A-4147-A177-3AD203B41FA5}">
                          <a16:colId xmlns:a16="http://schemas.microsoft.com/office/drawing/2014/main" val="1582318644"/>
                        </a:ext>
                      </a:extLst>
                    </a:gridCol>
                    <a:gridCol w="114861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14899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b="1" dirty="0"/>
                            <a:t>גורם ייצור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dirty="0"/>
                            <a:t>סך כמות גו''י</a:t>
                          </a:r>
                          <a:r>
                            <a:rPr lang="he-IL" baseline="0" dirty="0"/>
                            <a:t> 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/>
                            <a:t>X</a:t>
                          </a:r>
                          <a:r>
                            <a:rPr lang="he-IL" dirty="0"/>
                            <a:t> =</a:t>
                          </a:r>
                          <a:r>
                            <a:rPr lang="he-IL" sz="1600" dirty="0"/>
                            <a:t>מספר ניתוחים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Y</a:t>
                          </a:r>
                          <a:r>
                            <a:rPr lang="he-IL" dirty="0"/>
                            <a:t> =</a:t>
                          </a:r>
                          <a:r>
                            <a:rPr lang="he-IL" sz="1600" dirty="0"/>
                            <a:t>מספר בדיקות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600" dirty="0"/>
                            <a:t>ע.א.ש</a:t>
                          </a:r>
                          <a:r>
                            <a:rPr lang="en-US" sz="1600" dirty="0"/>
                            <a:t> </a:t>
                          </a:r>
                          <a:r>
                            <a:rPr lang="he-IL" sz="1600" dirty="0"/>
                            <a:t>ל-</a:t>
                          </a:r>
                          <a:r>
                            <a:rPr lang="en-US" sz="1600" dirty="0"/>
                            <a:t> X</a:t>
                          </a:r>
                        </a:p>
                        <a:p>
                          <a:pPr algn="ctr"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he-IL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400" dirty="0" err="1"/>
                            <a:t>ע.א.ש</a:t>
                          </a:r>
                          <a:r>
                            <a:rPr lang="he-IL" sz="1400" dirty="0"/>
                            <a:t> לייצור </a:t>
                          </a:r>
                          <a:r>
                            <a:rPr lang="en-US" sz="1400" dirty="0"/>
                            <a:t>Y</a:t>
                          </a:r>
                          <a:endParaRPr lang="he-IL" sz="1400" dirty="0"/>
                        </a:p>
                        <a:p>
                          <a:pPr algn="ctr"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he-IL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he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1140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b="1" dirty="0">
                              <a:solidFill>
                                <a:srgbClr val="FF0000"/>
                              </a:solidFill>
                            </a:rPr>
                            <a:t>רופאים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rtl="1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he-IL" b="0" i="1" smtClean="0">
                                      <a:latin typeface="Cambria Math" panose="02040503050406030204" pitchFamily="18" charset="0"/>
                                    </a:rPr>
                                    <m:t>100</m:t>
                                  </m:r>
                                </m:num>
                                <m:den>
                                  <m:r>
                                    <a:rPr lang="he-IL" b="0" i="1" smtClean="0">
                                      <a:latin typeface="Cambria Math" panose="02040503050406030204" pitchFamily="18" charset="0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=2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he-IL" b="0" i="1" smtClean="0">
                                      <a:latin typeface="Cambria Math" panose="02040503050406030204" pitchFamily="18" charset="0"/>
                                    </a:rPr>
                                    <m:t>50</m:t>
                                  </m:r>
                                </m:num>
                                <m:den>
                                  <m:r>
                                    <a:rPr lang="he-IL" b="0" i="1" smtClean="0">
                                      <a:latin typeface="Cambria Math" panose="02040503050406030204" pitchFamily="18" charset="0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=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he-IL" b="1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he-IL" dirty="0" smtClean="0">
                                      <a:solidFill>
                                        <a:srgbClr val="FF0000"/>
                                      </a:solidFill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he-IL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48215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b="1" dirty="0">
                              <a:solidFill>
                                <a:srgbClr val="0070C0"/>
                              </a:solidFill>
                            </a:rPr>
                            <a:t>אחיות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120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120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60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nor/>
                                    </m:rPr>
                                    <a:rPr lang="he-IL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60 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he-IL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120 </m:t>
                                  </m:r>
                                </m:den>
                              </m:f>
                            </m:oMath>
                          </a14:m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=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he-IL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he-IL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he-IL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nor/>
                                    </m:rPr>
                                    <a:rPr lang="he-IL" b="0" i="0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12</m:t>
                                  </m:r>
                                  <m:r>
                                    <m:rPr>
                                      <m:nor/>
                                    </m:rPr>
                                    <a:rPr lang="he-IL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0 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he-IL" b="0" i="0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6</m:t>
                                  </m:r>
                                  <m:r>
                                    <m:rPr>
                                      <m:nor/>
                                    </m:rPr>
                                    <a:rPr lang="he-IL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0 </m:t>
                                  </m:r>
                                </m:den>
                              </m:f>
                            </m:oMath>
                          </a14:m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=</a:t>
                          </a:r>
                          <a14:m>
                            <m:oMath xmlns:m="http://schemas.openxmlformats.org/officeDocument/2006/math">
                              <m:r>
                                <a:rPr lang="he-IL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oMath>
                          </a14:m>
                          <a:endParaRPr lang="he-IL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טבלה 4">
                <a:extLst>
                  <a:ext uri="{FF2B5EF4-FFF2-40B4-BE49-F238E27FC236}">
                    <a16:creationId xmlns:a16="http://schemas.microsoft.com/office/drawing/2014/main" id="{4C52CB52-ABCA-1369-283E-8C43843D024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512454" y="3619805"/>
              <a:ext cx="5259560" cy="2003755"/>
            </p:xfrm>
            <a:graphic>
              <a:graphicData uri="http://schemas.openxmlformats.org/drawingml/2006/table">
                <a:tbl>
                  <a:tblPr rtl="1" firstRow="1" bandRow="1">
                    <a:tableStyleId>{5940675A-B579-460E-94D1-54222C63F5DA}</a:tableStyleId>
                  </a:tblPr>
                  <a:tblGrid>
                    <a:gridCol w="80694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9397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9096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98159">
                      <a:extLst>
                        <a:ext uri="{9D8B030D-6E8A-4147-A177-3AD203B41FA5}">
                          <a16:colId xmlns:a16="http://schemas.microsoft.com/office/drawing/2014/main" val="729882449"/>
                        </a:ext>
                      </a:extLst>
                    </a:gridCol>
                    <a:gridCol w="1020901">
                      <a:extLst>
                        <a:ext uri="{9D8B030D-6E8A-4147-A177-3AD203B41FA5}">
                          <a16:colId xmlns:a16="http://schemas.microsoft.com/office/drawing/2014/main" val="1582318644"/>
                        </a:ext>
                      </a:extLst>
                    </a:gridCol>
                    <a:gridCol w="114861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b="1" dirty="0"/>
                            <a:t>גורם ייצור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dirty="0"/>
                            <a:t>סך כמות גו''י</a:t>
                          </a:r>
                          <a:r>
                            <a:rPr lang="he-IL" baseline="0" dirty="0"/>
                            <a:t> 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/>
                            <a:t>X</a:t>
                          </a:r>
                          <a:r>
                            <a:rPr lang="he-IL" dirty="0"/>
                            <a:t> =</a:t>
                          </a:r>
                          <a:r>
                            <a:rPr lang="he-IL" sz="1600" dirty="0"/>
                            <a:t>מספר ניתוחים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Y</a:t>
                          </a:r>
                          <a:r>
                            <a:rPr lang="he-IL" dirty="0"/>
                            <a:t> =</a:t>
                          </a:r>
                          <a:r>
                            <a:rPr lang="he-IL" sz="1600" dirty="0"/>
                            <a:t>מספר בדיקות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8"/>
                          <a:stretch>
                            <a:fillRect l="-302381" t="-3311" r="-113690" b="-1205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8"/>
                          <a:stretch>
                            <a:fillRect l="-359574" t="-3311" r="-1596" b="-1205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1140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b="1" dirty="0">
                              <a:solidFill>
                                <a:srgbClr val="FF0000"/>
                              </a:solidFill>
                            </a:rPr>
                            <a:t>רופאים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302381" t="-175281" r="-113690" b="-1044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359574" t="-175281" r="-1596" b="-1044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48215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b="1" dirty="0">
                              <a:solidFill>
                                <a:srgbClr val="0070C0"/>
                              </a:solidFill>
                            </a:rPr>
                            <a:t>אחיות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120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120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60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302381" t="-272222" r="-113690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359574" t="-272222" r="-1596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27">
                <a:extLst>
                  <a:ext uri="{FF2B5EF4-FFF2-40B4-BE49-F238E27FC236}">
                    <a16:creationId xmlns:a16="http://schemas.microsoft.com/office/drawing/2014/main" id="{DC39A655-029D-3661-2C81-C886EFDE45FF}"/>
                  </a:ext>
                </a:extLst>
              </p:cNvPr>
              <p:cNvSpPr/>
              <p:nvPr/>
            </p:nvSpPr>
            <p:spPr>
              <a:xfrm>
                <a:off x="1585536" y="5514641"/>
                <a:ext cx="7209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he-IL" b="0" i="0" dirty="0" smtClean="0">
                          <a:solidFill>
                            <a:srgbClr val="FF0000"/>
                          </a:solidFill>
                        </a:rPr>
                        <m:t>50</m:t>
                      </m:r>
                    </m:oMath>
                  </m:oMathPara>
                </a14:m>
                <a:endParaRPr lang="he-I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Rectangle 27">
                <a:extLst>
                  <a:ext uri="{FF2B5EF4-FFF2-40B4-BE49-F238E27FC236}">
                    <a16:creationId xmlns:a16="http://schemas.microsoft.com/office/drawing/2014/main" id="{DC39A655-029D-3661-2C81-C886EFDE45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5536" y="5514641"/>
                <a:ext cx="720936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26">
                <a:extLst>
                  <a:ext uri="{FF2B5EF4-FFF2-40B4-BE49-F238E27FC236}">
                    <a16:creationId xmlns:a16="http://schemas.microsoft.com/office/drawing/2014/main" id="{BD962056-299B-2FAB-719E-1D0FD597A4B5}"/>
                  </a:ext>
                </a:extLst>
              </p:cNvPr>
              <p:cNvSpPr/>
              <p:nvPr/>
            </p:nvSpPr>
            <p:spPr>
              <a:xfrm>
                <a:off x="2501303" y="5514641"/>
                <a:ext cx="54886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he-IL" b="0" i="0" dirty="0" smtClean="0">
                          <a:solidFill>
                            <a:srgbClr val="0070C0"/>
                          </a:solidFill>
                        </a:rPr>
                        <m:t>12</m:t>
                      </m:r>
                      <m:r>
                        <m:rPr>
                          <m:nor/>
                        </m:rPr>
                        <a:rPr lang="he-IL" dirty="0">
                          <a:solidFill>
                            <a:srgbClr val="0070C0"/>
                          </a:solidFill>
                        </a:rPr>
                        <m:t>0</m:t>
                      </m:r>
                    </m:oMath>
                  </m:oMathPara>
                </a14:m>
                <a:endParaRPr lang="he-IL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3" name="Rectangle 26">
                <a:extLst>
                  <a:ext uri="{FF2B5EF4-FFF2-40B4-BE49-F238E27FC236}">
                    <a16:creationId xmlns:a16="http://schemas.microsoft.com/office/drawing/2014/main" id="{BD962056-299B-2FAB-719E-1D0FD597A4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1303" y="5514641"/>
                <a:ext cx="54886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4">
                <a:extLst>
                  <a:ext uri="{FF2B5EF4-FFF2-40B4-BE49-F238E27FC236}">
                    <a16:creationId xmlns:a16="http://schemas.microsoft.com/office/drawing/2014/main" id="{6FE6F570-9522-D38F-A765-436F06904882}"/>
                  </a:ext>
                </a:extLst>
              </p:cNvPr>
              <p:cNvSpPr/>
              <p:nvPr/>
            </p:nvSpPr>
            <p:spPr>
              <a:xfrm>
                <a:off x="-127464" y="4512462"/>
                <a:ext cx="102803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46</m:t>
                      </m:r>
                      <m:r>
                        <a:rPr lang="en-US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66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 14">
                <a:extLst>
                  <a:ext uri="{FF2B5EF4-FFF2-40B4-BE49-F238E27FC236}">
                    <a16:creationId xmlns:a16="http://schemas.microsoft.com/office/drawing/2014/main" id="{6FE6F570-9522-D38F-A765-436F069048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7464" y="4512462"/>
                <a:ext cx="1028037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מחבר ישר 20">
            <a:extLst>
              <a:ext uri="{FF2B5EF4-FFF2-40B4-BE49-F238E27FC236}">
                <a16:creationId xmlns:a16="http://schemas.microsoft.com/office/drawing/2014/main" id="{49078C39-3860-5569-615D-9D3982CA6A8D}"/>
              </a:ext>
            </a:extLst>
          </p:cNvPr>
          <p:cNvCxnSpPr>
            <a:cxnSpLocks/>
            <a:endCxn id="43" idx="2"/>
          </p:cNvCxnSpPr>
          <p:nvPr/>
        </p:nvCxnSpPr>
        <p:spPr>
          <a:xfrm>
            <a:off x="610228" y="4010079"/>
            <a:ext cx="839380" cy="637828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מחבר ישר 29">
            <a:extLst>
              <a:ext uri="{FF2B5EF4-FFF2-40B4-BE49-F238E27FC236}">
                <a16:creationId xmlns:a16="http://schemas.microsoft.com/office/drawing/2014/main" id="{A4530306-6043-9919-0DC7-820FD43C8446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1531102" y="4727093"/>
            <a:ext cx="414902" cy="787548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44C3ED03-27B6-0904-AB96-2055E7A14DCF}"/>
              </a:ext>
            </a:extLst>
          </p:cNvPr>
          <p:cNvSpPr txBox="1"/>
          <p:nvPr/>
        </p:nvSpPr>
        <p:spPr>
          <a:xfrm>
            <a:off x="3619158" y="2774355"/>
            <a:ext cx="266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Y=60-0.5*X</a:t>
            </a:r>
            <a:r>
              <a:rPr lang="en-US" dirty="0"/>
              <a:t>=50</a:t>
            </a:r>
          </a:p>
          <a:p>
            <a:r>
              <a:rPr lang="en-US" dirty="0"/>
              <a:t>10=0.5X 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b="1" dirty="0">
                <a:solidFill>
                  <a:srgbClr val="0070C0"/>
                </a:solidFill>
                <a:sym typeface="Wingdings" panose="05000000000000000000" pitchFamily="2" charset="2"/>
              </a:rPr>
              <a:t>20=X</a:t>
            </a:r>
            <a:endParaRPr lang="en-IL" b="1" dirty="0">
              <a:solidFill>
                <a:srgbClr val="0070C0"/>
              </a:solidFill>
            </a:endParaRPr>
          </a:p>
        </p:txBody>
      </p:sp>
      <p:sp>
        <p:nvSpPr>
          <p:cNvPr id="7" name="תרשים זרימה: סרט מנוקב 6">
            <a:extLst>
              <a:ext uri="{FF2B5EF4-FFF2-40B4-BE49-F238E27FC236}">
                <a16:creationId xmlns:a16="http://schemas.microsoft.com/office/drawing/2014/main" id="{D8C5BC54-5156-4725-2E06-7516C13A8A05}"/>
              </a:ext>
            </a:extLst>
          </p:cNvPr>
          <p:cNvSpPr/>
          <p:nvPr/>
        </p:nvSpPr>
        <p:spPr>
          <a:xfrm>
            <a:off x="2876625" y="2362586"/>
            <a:ext cx="1991911" cy="369332"/>
          </a:xfrm>
          <a:prstGeom prst="flowChartPunchedTape">
            <a:avLst/>
          </a:prstGeom>
          <a:solidFill>
            <a:srgbClr val="00B05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/>
              <a:t>טענה 4 נכונה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014047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3858" y="98061"/>
            <a:ext cx="7848600" cy="604354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שאלה 4 (2 מגבלות)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30461" y="541792"/>
            <a:ext cx="8035395" cy="3176378"/>
          </a:xfrm>
        </p:spPr>
        <p:txBody>
          <a:bodyPr>
            <a:normAutofit/>
          </a:bodyPr>
          <a:lstStyle/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400" dirty="0">
                <a:latin typeface="Arial" panose="020B0604020202020204" pitchFamily="34" charset="0"/>
                <a:cs typeface="Arial" panose="020B0604020202020204" pitchFamily="34" charset="0"/>
              </a:rPr>
              <a:t>בטסמניה יש 100 רופאים ו- 120 אחיות. לביצוע ניתוח זקוקים ל- 2 רופאים ואחות אחת. לביצוע בדיקה זקוקים לרופא אחד ו- 2 אחיות. הניחו שהמשק מייצר ביעילות ושניתן לבצע גם חלקי ניתוחים ובדיקות. מכאן ניתן להסיק כי: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he-IL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400" dirty="0">
                <a:solidFill>
                  <a:schemeClr val="accent3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he-IL" sz="1100" dirty="0">
                <a:solidFill>
                  <a:schemeClr val="accent3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יש יותר מתשובה אחת נכונה</a:t>
            </a:r>
          </a:p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100" dirty="0">
                <a:solidFill>
                  <a:schemeClr val="accent3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2. כאשר כל הרופאים וכל האחיות מועסקים, העלות האלטרנטיבית הכוללת לביצוע ניתוחים היא 22 בדיקות. </a:t>
            </a:r>
          </a:p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100" dirty="0">
                <a:solidFill>
                  <a:schemeClr val="accent3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בנקודה שבה כל הרופאים וכל האחיות מועסקים, הייצור יעיל יותר מאשר בשאר הנקודות על עקומת התמורה</a:t>
            </a:r>
          </a:p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1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כאשר מבוצעות 50 בדיקות, מבוצעים 20 ניתוחים.</a:t>
            </a:r>
            <a:r>
              <a:rPr lang="he-IL" sz="1400" dirty="0">
                <a:latin typeface="Arial" panose="020B0604020202020204" pitchFamily="34" charset="0"/>
                <a:cs typeface="Arial" panose="020B0604020202020204" pitchFamily="34" charset="0"/>
              </a:rPr>
              <a:t> טענה נכונה</a:t>
            </a:r>
          </a:p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400" dirty="0">
                <a:latin typeface="Arial" panose="020B0604020202020204" pitchFamily="34" charset="0"/>
                <a:cs typeface="Arial" panose="020B0604020202020204" pitchFamily="34" charset="0"/>
              </a:rPr>
              <a:t>5. כאשר מבוצעים 40 ניתוחים, קיימת אבטלה מבנית של אחיות</a:t>
            </a:r>
          </a:p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400" b="1" dirty="0">
                <a:latin typeface="Arial" panose="020B0604020202020204" pitchFamily="34" charset="0"/>
                <a:cs typeface="Arial" panose="020B0604020202020204" pitchFamily="34" charset="0"/>
              </a:rPr>
              <a:t>כן או לא?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23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920405" y="5579837"/>
                <a:ext cx="102803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26</m:t>
                      </m:r>
                      <m:r>
                        <a:rPr lang="en-US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66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405" y="5579837"/>
                <a:ext cx="1028037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/>
          <p:cNvCxnSpPr>
            <a:cxnSpLocks/>
          </p:cNvCxnSpPr>
          <p:nvPr/>
        </p:nvCxnSpPr>
        <p:spPr>
          <a:xfrm>
            <a:off x="603504" y="3944511"/>
            <a:ext cx="2197681" cy="1613135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7849993-BEAC-CFB8-FCA6-FDF9672D63D6}"/>
              </a:ext>
            </a:extLst>
          </p:cNvPr>
          <p:cNvCxnSpPr>
            <a:cxnSpLocks/>
          </p:cNvCxnSpPr>
          <p:nvPr/>
        </p:nvCxnSpPr>
        <p:spPr>
          <a:xfrm>
            <a:off x="606463" y="5535929"/>
            <a:ext cx="2408031" cy="312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AE7AE45-E888-C845-165C-14566894A128}"/>
              </a:ext>
            </a:extLst>
          </p:cNvPr>
          <p:cNvCxnSpPr>
            <a:cxnSpLocks/>
          </p:cNvCxnSpPr>
          <p:nvPr/>
        </p:nvCxnSpPr>
        <p:spPr>
          <a:xfrm flipV="1">
            <a:off x="603504" y="2667000"/>
            <a:ext cx="0" cy="28940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3EA8E0CE-826E-02BF-0B9A-B15371B79292}"/>
              </a:ext>
            </a:extLst>
          </p:cNvPr>
          <p:cNvSpPr/>
          <p:nvPr/>
        </p:nvSpPr>
        <p:spPr>
          <a:xfrm>
            <a:off x="1449608" y="4552013"/>
            <a:ext cx="216928" cy="191787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B821780-CADC-1417-DF23-CAAD2948B857}"/>
              </a:ext>
            </a:extLst>
          </p:cNvPr>
          <p:cNvCxnSpPr>
            <a:cxnSpLocks/>
          </p:cNvCxnSpPr>
          <p:nvPr/>
        </p:nvCxnSpPr>
        <p:spPr>
          <a:xfrm>
            <a:off x="603503" y="3097521"/>
            <a:ext cx="1497566" cy="246693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FCC877B9-465E-C723-5E20-091E9A7AF895}"/>
                  </a:ext>
                </a:extLst>
              </p:cNvPr>
              <p:cNvSpPr/>
              <p:nvPr/>
            </p:nvSpPr>
            <p:spPr>
              <a:xfrm>
                <a:off x="2610171" y="5467563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FCC877B9-465E-C723-5E20-091E9A7AF8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171" y="5467563"/>
                <a:ext cx="1028037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0994878-2676-3B9F-1C2D-FACB13CDA04C}"/>
                  </a:ext>
                </a:extLst>
              </p:cNvPr>
              <p:cNvSpPr/>
              <p:nvPr/>
            </p:nvSpPr>
            <p:spPr>
              <a:xfrm>
                <a:off x="-56819" y="2469884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0994878-2676-3B9F-1C2D-FACB13CDA0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6819" y="2469884"/>
                <a:ext cx="1028037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4B38D71-CCD6-875B-030B-E8A95426CFCC}"/>
              </a:ext>
            </a:extLst>
          </p:cNvPr>
          <p:cNvCxnSpPr>
            <a:cxnSpLocks/>
          </p:cNvCxnSpPr>
          <p:nvPr/>
        </p:nvCxnSpPr>
        <p:spPr>
          <a:xfrm flipH="1">
            <a:off x="1513061" y="4647906"/>
            <a:ext cx="18041" cy="934449"/>
          </a:xfrm>
          <a:prstGeom prst="line">
            <a:avLst/>
          </a:prstGeom>
          <a:ln>
            <a:solidFill>
              <a:srgbClr val="00206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9C7CD899-CCED-4878-4633-B7ED46287F7F}"/>
              </a:ext>
            </a:extLst>
          </p:cNvPr>
          <p:cNvSpPr txBox="1"/>
          <p:nvPr/>
        </p:nvSpPr>
        <p:spPr>
          <a:xfrm>
            <a:off x="1962411" y="5297479"/>
            <a:ext cx="84627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70C0"/>
                </a:solidFill>
              </a:rPr>
              <a:t>-0.5</a:t>
            </a:r>
            <a:endParaRPr lang="en-US" b="1" dirty="0">
              <a:solidFill>
                <a:srgbClr val="0070C0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BF71CE-240F-CED1-B85A-61F6E2A4AED2}"/>
              </a:ext>
            </a:extLst>
          </p:cNvPr>
          <p:cNvCxnSpPr>
            <a:cxnSpLocks/>
          </p:cNvCxnSpPr>
          <p:nvPr/>
        </p:nvCxnSpPr>
        <p:spPr>
          <a:xfrm flipH="1" flipV="1">
            <a:off x="610229" y="4647906"/>
            <a:ext cx="842373" cy="22309"/>
          </a:xfrm>
          <a:prstGeom prst="line">
            <a:avLst/>
          </a:prstGeom>
          <a:ln>
            <a:solidFill>
              <a:srgbClr val="00206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7BF38D0-F16A-35C7-6A3B-9663490B8254}"/>
                  </a:ext>
                </a:extLst>
              </p:cNvPr>
              <p:cNvSpPr txBox="1"/>
              <p:nvPr/>
            </p:nvSpPr>
            <p:spPr>
              <a:xfrm>
                <a:off x="1339275" y="5274578"/>
                <a:ext cx="84627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he-IL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7BF38D0-F16A-35C7-6A3B-9663490B82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9275" y="5274578"/>
                <a:ext cx="84627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081ACF7-6578-0A31-347B-138BD7A1FE6F}"/>
                  </a:ext>
                </a:extLst>
              </p:cNvPr>
              <p:cNvSpPr/>
              <p:nvPr/>
            </p:nvSpPr>
            <p:spPr>
              <a:xfrm>
                <a:off x="146839" y="3767475"/>
                <a:ext cx="54886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he-IL" dirty="0">
                          <a:solidFill>
                            <a:srgbClr val="0070C0"/>
                          </a:solidFill>
                        </a:rPr>
                        <m:t>60</m:t>
                      </m:r>
                    </m:oMath>
                  </m:oMathPara>
                </a14:m>
                <a:endParaRPr lang="he-IL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081ACF7-6578-0A31-347B-138BD7A1FE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39" y="3767475"/>
                <a:ext cx="54886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B910252-F708-25AE-053F-7112439F183B}"/>
                  </a:ext>
                </a:extLst>
              </p:cNvPr>
              <p:cNvSpPr/>
              <p:nvPr/>
            </p:nvSpPr>
            <p:spPr>
              <a:xfrm>
                <a:off x="9525" y="2872051"/>
                <a:ext cx="7209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he-IL" dirty="0">
                          <a:solidFill>
                            <a:srgbClr val="FF0000"/>
                          </a:solidFill>
                        </a:rPr>
                        <m:t>100</m:t>
                      </m:r>
                    </m:oMath>
                  </m:oMathPara>
                </a14:m>
                <a:endParaRPr lang="he-I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B910252-F708-25AE-053F-7112439F18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" y="2872051"/>
                <a:ext cx="72093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טבלה 4">
                <a:extLst>
                  <a:ext uri="{FF2B5EF4-FFF2-40B4-BE49-F238E27FC236}">
                    <a16:creationId xmlns:a16="http://schemas.microsoft.com/office/drawing/2014/main" id="{4C52CB52-ABCA-1369-283E-8C43843D024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512454" y="3619805"/>
              <a:ext cx="5259560" cy="2003755"/>
            </p:xfrm>
            <a:graphic>
              <a:graphicData uri="http://schemas.openxmlformats.org/drawingml/2006/table">
                <a:tbl>
                  <a:tblPr rtl="1" firstRow="1" bandRow="1">
                    <a:tableStyleId>{5940675A-B579-460E-94D1-54222C63F5DA}</a:tableStyleId>
                  </a:tblPr>
                  <a:tblGrid>
                    <a:gridCol w="80694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9397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9096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98159">
                      <a:extLst>
                        <a:ext uri="{9D8B030D-6E8A-4147-A177-3AD203B41FA5}">
                          <a16:colId xmlns:a16="http://schemas.microsoft.com/office/drawing/2014/main" val="729882449"/>
                        </a:ext>
                      </a:extLst>
                    </a:gridCol>
                    <a:gridCol w="1020901">
                      <a:extLst>
                        <a:ext uri="{9D8B030D-6E8A-4147-A177-3AD203B41FA5}">
                          <a16:colId xmlns:a16="http://schemas.microsoft.com/office/drawing/2014/main" val="1582318644"/>
                        </a:ext>
                      </a:extLst>
                    </a:gridCol>
                    <a:gridCol w="114861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14899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b="1" dirty="0"/>
                            <a:t>גורם ייצור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dirty="0"/>
                            <a:t>סך כמות גו''י</a:t>
                          </a:r>
                          <a:r>
                            <a:rPr lang="he-IL" baseline="0" dirty="0"/>
                            <a:t> 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/>
                            <a:t>X</a:t>
                          </a:r>
                          <a:r>
                            <a:rPr lang="he-IL" dirty="0"/>
                            <a:t> =</a:t>
                          </a:r>
                          <a:r>
                            <a:rPr lang="he-IL" sz="1600" dirty="0"/>
                            <a:t>מספר ניתוחים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Y</a:t>
                          </a:r>
                          <a:r>
                            <a:rPr lang="he-IL" dirty="0"/>
                            <a:t> =</a:t>
                          </a:r>
                          <a:r>
                            <a:rPr lang="he-IL" sz="1600" dirty="0"/>
                            <a:t>מספר בדיקות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600" dirty="0"/>
                            <a:t>ע.א.ש</a:t>
                          </a:r>
                          <a:r>
                            <a:rPr lang="en-US" sz="1600" dirty="0"/>
                            <a:t> </a:t>
                          </a:r>
                          <a:r>
                            <a:rPr lang="he-IL" sz="1600" dirty="0"/>
                            <a:t>ל-</a:t>
                          </a:r>
                          <a:r>
                            <a:rPr lang="en-US" sz="1600" dirty="0"/>
                            <a:t> X</a:t>
                          </a:r>
                        </a:p>
                        <a:p>
                          <a:pPr algn="ctr"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he-IL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400" dirty="0" err="1"/>
                            <a:t>ע.א.ש</a:t>
                          </a:r>
                          <a:r>
                            <a:rPr lang="he-IL" sz="1400" dirty="0"/>
                            <a:t> לייצור </a:t>
                          </a:r>
                          <a:r>
                            <a:rPr lang="en-US" sz="1400" dirty="0"/>
                            <a:t>Y</a:t>
                          </a:r>
                          <a:endParaRPr lang="he-IL" sz="1400" dirty="0"/>
                        </a:p>
                        <a:p>
                          <a:pPr algn="ctr"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he-IL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he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1140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b="1" dirty="0">
                              <a:solidFill>
                                <a:srgbClr val="FF0000"/>
                              </a:solidFill>
                            </a:rPr>
                            <a:t>רופאים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rtl="1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he-IL" b="0" i="1" smtClean="0">
                                      <a:latin typeface="Cambria Math" panose="02040503050406030204" pitchFamily="18" charset="0"/>
                                    </a:rPr>
                                    <m:t>100</m:t>
                                  </m:r>
                                </m:num>
                                <m:den>
                                  <m:r>
                                    <a:rPr lang="he-IL" b="0" i="1" smtClean="0">
                                      <a:latin typeface="Cambria Math" panose="02040503050406030204" pitchFamily="18" charset="0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=2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he-IL" b="0" i="1" smtClean="0">
                                      <a:latin typeface="Cambria Math" panose="02040503050406030204" pitchFamily="18" charset="0"/>
                                    </a:rPr>
                                    <m:t>50</m:t>
                                  </m:r>
                                </m:num>
                                <m:den>
                                  <m:r>
                                    <a:rPr lang="he-IL" b="0" i="1" smtClean="0">
                                      <a:latin typeface="Cambria Math" panose="02040503050406030204" pitchFamily="18" charset="0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=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he-IL" b="1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he-IL" dirty="0" smtClean="0">
                                      <a:solidFill>
                                        <a:srgbClr val="FF0000"/>
                                      </a:solidFill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he-IL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48215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b="1" dirty="0">
                              <a:solidFill>
                                <a:srgbClr val="0070C0"/>
                              </a:solidFill>
                            </a:rPr>
                            <a:t>אחיות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120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120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60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nor/>
                                    </m:rPr>
                                    <a:rPr lang="he-IL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60 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he-IL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120 </m:t>
                                  </m:r>
                                </m:den>
                              </m:f>
                            </m:oMath>
                          </a14:m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=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he-IL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he-IL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he-IL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nor/>
                                    </m:rPr>
                                    <a:rPr lang="he-IL" b="0" i="0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12</m:t>
                                  </m:r>
                                  <m:r>
                                    <m:rPr>
                                      <m:nor/>
                                    </m:rPr>
                                    <a:rPr lang="he-IL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0 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he-IL" b="0" i="0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6</m:t>
                                  </m:r>
                                  <m:r>
                                    <m:rPr>
                                      <m:nor/>
                                    </m:rPr>
                                    <a:rPr lang="he-IL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0 </m:t>
                                  </m:r>
                                </m:den>
                              </m:f>
                            </m:oMath>
                          </a14:m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=</a:t>
                          </a:r>
                          <a14:m>
                            <m:oMath xmlns:m="http://schemas.openxmlformats.org/officeDocument/2006/math">
                              <m:r>
                                <a:rPr lang="he-IL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oMath>
                          </a14:m>
                          <a:endParaRPr lang="he-IL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טבלה 4">
                <a:extLst>
                  <a:ext uri="{FF2B5EF4-FFF2-40B4-BE49-F238E27FC236}">
                    <a16:creationId xmlns:a16="http://schemas.microsoft.com/office/drawing/2014/main" id="{4C52CB52-ABCA-1369-283E-8C43843D024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512454" y="3619805"/>
              <a:ext cx="5259560" cy="2003755"/>
            </p:xfrm>
            <a:graphic>
              <a:graphicData uri="http://schemas.openxmlformats.org/drawingml/2006/table">
                <a:tbl>
                  <a:tblPr rtl="1" firstRow="1" bandRow="1">
                    <a:tableStyleId>{5940675A-B579-460E-94D1-54222C63F5DA}</a:tableStyleId>
                  </a:tblPr>
                  <a:tblGrid>
                    <a:gridCol w="80694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9397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9096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98159">
                      <a:extLst>
                        <a:ext uri="{9D8B030D-6E8A-4147-A177-3AD203B41FA5}">
                          <a16:colId xmlns:a16="http://schemas.microsoft.com/office/drawing/2014/main" val="729882449"/>
                        </a:ext>
                      </a:extLst>
                    </a:gridCol>
                    <a:gridCol w="1020901">
                      <a:extLst>
                        <a:ext uri="{9D8B030D-6E8A-4147-A177-3AD203B41FA5}">
                          <a16:colId xmlns:a16="http://schemas.microsoft.com/office/drawing/2014/main" val="1582318644"/>
                        </a:ext>
                      </a:extLst>
                    </a:gridCol>
                    <a:gridCol w="114861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b="1" dirty="0"/>
                            <a:t>גורם ייצור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dirty="0"/>
                            <a:t>סך כמות גו''י</a:t>
                          </a:r>
                          <a:r>
                            <a:rPr lang="he-IL" baseline="0" dirty="0"/>
                            <a:t> 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/>
                            <a:t>X</a:t>
                          </a:r>
                          <a:r>
                            <a:rPr lang="he-IL" dirty="0"/>
                            <a:t> =</a:t>
                          </a:r>
                          <a:r>
                            <a:rPr lang="he-IL" sz="1600" dirty="0"/>
                            <a:t>מספר ניתוחים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Y</a:t>
                          </a:r>
                          <a:r>
                            <a:rPr lang="he-IL" dirty="0"/>
                            <a:t> =</a:t>
                          </a:r>
                          <a:r>
                            <a:rPr lang="he-IL" sz="1600" dirty="0"/>
                            <a:t>מספר בדיקות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8"/>
                          <a:stretch>
                            <a:fillRect l="-302381" t="-3311" r="-113690" b="-1205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8"/>
                          <a:stretch>
                            <a:fillRect l="-359574" t="-3311" r="-1596" b="-1205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1140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b="1" dirty="0">
                              <a:solidFill>
                                <a:srgbClr val="FF0000"/>
                              </a:solidFill>
                            </a:rPr>
                            <a:t>רופאים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302381" t="-175281" r="-113690" b="-1044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359574" t="-175281" r="-1596" b="-1044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48215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b="1" dirty="0">
                              <a:solidFill>
                                <a:srgbClr val="0070C0"/>
                              </a:solidFill>
                            </a:rPr>
                            <a:t>אחיות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120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120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60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302381" t="-272222" r="-113690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359574" t="-272222" r="-1596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27">
                <a:extLst>
                  <a:ext uri="{FF2B5EF4-FFF2-40B4-BE49-F238E27FC236}">
                    <a16:creationId xmlns:a16="http://schemas.microsoft.com/office/drawing/2014/main" id="{DC39A655-029D-3661-2C81-C886EFDE45FF}"/>
                  </a:ext>
                </a:extLst>
              </p:cNvPr>
              <p:cNvSpPr/>
              <p:nvPr/>
            </p:nvSpPr>
            <p:spPr>
              <a:xfrm>
                <a:off x="1585536" y="5514641"/>
                <a:ext cx="7209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he-IL" b="0" i="0" dirty="0" smtClean="0">
                          <a:solidFill>
                            <a:srgbClr val="FF0000"/>
                          </a:solidFill>
                        </a:rPr>
                        <m:t>50</m:t>
                      </m:r>
                    </m:oMath>
                  </m:oMathPara>
                </a14:m>
                <a:endParaRPr lang="he-I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Rectangle 27">
                <a:extLst>
                  <a:ext uri="{FF2B5EF4-FFF2-40B4-BE49-F238E27FC236}">
                    <a16:creationId xmlns:a16="http://schemas.microsoft.com/office/drawing/2014/main" id="{DC39A655-029D-3661-2C81-C886EFDE45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5536" y="5514641"/>
                <a:ext cx="720936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26">
                <a:extLst>
                  <a:ext uri="{FF2B5EF4-FFF2-40B4-BE49-F238E27FC236}">
                    <a16:creationId xmlns:a16="http://schemas.microsoft.com/office/drawing/2014/main" id="{BD962056-299B-2FAB-719E-1D0FD597A4B5}"/>
                  </a:ext>
                </a:extLst>
              </p:cNvPr>
              <p:cNvSpPr/>
              <p:nvPr/>
            </p:nvSpPr>
            <p:spPr>
              <a:xfrm>
                <a:off x="2501303" y="5514641"/>
                <a:ext cx="54886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he-IL" b="0" i="0" dirty="0" smtClean="0">
                          <a:solidFill>
                            <a:srgbClr val="0070C0"/>
                          </a:solidFill>
                        </a:rPr>
                        <m:t>12</m:t>
                      </m:r>
                      <m:r>
                        <m:rPr>
                          <m:nor/>
                        </m:rPr>
                        <a:rPr lang="he-IL" dirty="0">
                          <a:solidFill>
                            <a:srgbClr val="0070C0"/>
                          </a:solidFill>
                        </a:rPr>
                        <m:t>0</m:t>
                      </m:r>
                    </m:oMath>
                  </m:oMathPara>
                </a14:m>
                <a:endParaRPr lang="he-IL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3" name="Rectangle 26">
                <a:extLst>
                  <a:ext uri="{FF2B5EF4-FFF2-40B4-BE49-F238E27FC236}">
                    <a16:creationId xmlns:a16="http://schemas.microsoft.com/office/drawing/2014/main" id="{BD962056-299B-2FAB-719E-1D0FD597A4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1303" y="5514641"/>
                <a:ext cx="54886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4">
                <a:extLst>
                  <a:ext uri="{FF2B5EF4-FFF2-40B4-BE49-F238E27FC236}">
                    <a16:creationId xmlns:a16="http://schemas.microsoft.com/office/drawing/2014/main" id="{6FE6F570-9522-D38F-A765-436F06904882}"/>
                  </a:ext>
                </a:extLst>
              </p:cNvPr>
              <p:cNvSpPr/>
              <p:nvPr/>
            </p:nvSpPr>
            <p:spPr>
              <a:xfrm>
                <a:off x="-127464" y="4512462"/>
                <a:ext cx="102803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46</m:t>
                      </m:r>
                      <m:r>
                        <a:rPr lang="en-US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66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 14">
                <a:extLst>
                  <a:ext uri="{FF2B5EF4-FFF2-40B4-BE49-F238E27FC236}">
                    <a16:creationId xmlns:a16="http://schemas.microsoft.com/office/drawing/2014/main" id="{6FE6F570-9522-D38F-A765-436F069048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7464" y="4512462"/>
                <a:ext cx="1028037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מחבר ישר 20">
            <a:extLst>
              <a:ext uri="{FF2B5EF4-FFF2-40B4-BE49-F238E27FC236}">
                <a16:creationId xmlns:a16="http://schemas.microsoft.com/office/drawing/2014/main" id="{49078C39-3860-5569-615D-9D3982CA6A8D}"/>
              </a:ext>
            </a:extLst>
          </p:cNvPr>
          <p:cNvCxnSpPr>
            <a:cxnSpLocks/>
            <a:endCxn id="43" idx="2"/>
          </p:cNvCxnSpPr>
          <p:nvPr/>
        </p:nvCxnSpPr>
        <p:spPr>
          <a:xfrm>
            <a:off x="610228" y="4010079"/>
            <a:ext cx="839380" cy="637828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מחבר ישר 29">
            <a:extLst>
              <a:ext uri="{FF2B5EF4-FFF2-40B4-BE49-F238E27FC236}">
                <a16:creationId xmlns:a16="http://schemas.microsoft.com/office/drawing/2014/main" id="{A4530306-6043-9919-0DC7-820FD43C8446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1531102" y="4727093"/>
            <a:ext cx="414902" cy="787548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10212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0461" y="129030"/>
            <a:ext cx="7848600" cy="604354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שאלה 4 (2 מגבלות)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30461" y="541792"/>
            <a:ext cx="8035395" cy="3176378"/>
          </a:xfrm>
        </p:spPr>
        <p:txBody>
          <a:bodyPr>
            <a:normAutofit fontScale="92500" lnSpcReduction="10000"/>
          </a:bodyPr>
          <a:lstStyle/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400" dirty="0">
                <a:latin typeface="Arial" panose="020B0604020202020204" pitchFamily="34" charset="0"/>
                <a:cs typeface="Arial" panose="020B0604020202020204" pitchFamily="34" charset="0"/>
              </a:rPr>
              <a:t>בטסמניה יש 100 רופאים ו- 120 אחיות. לביצוע ניתוח זקוקים ל- 2 רופאים ואחות אחת. לביצוע בדיקה זקוקים לרופא אחד ו- 2 אחיות. הניחו שהמשק מייצר ביעילות ושניתן לבצע גם חלקי ניתוחים ובדיקות. מכאן ניתן להסיק כי: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he-IL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2000" b="1" dirty="0">
                <a:solidFill>
                  <a:schemeClr val="accent6">
                    <a:lumMod val="50000"/>
                  </a:schemeClr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he-IL" sz="1600" b="1" dirty="0">
                <a:solidFill>
                  <a:schemeClr val="accent6">
                    <a:lumMod val="50000"/>
                  </a:schemeClr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. יש יותר מתשובה אחת נכונה</a:t>
            </a:r>
          </a:p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100" dirty="0">
                <a:solidFill>
                  <a:schemeClr val="accent3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2. כאשר כל הרופאים וכל האחיות מועסקים, העלות האלטרנטיבית הכוללת לביצוע ניתוחים היא 22 בדיקות. </a:t>
            </a:r>
          </a:p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100" dirty="0">
                <a:solidFill>
                  <a:schemeClr val="accent3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בנקודה שבה כל הרופאים וכל האחיות מועסקים, הייצור יעיל יותר מאשר בשאר הנקודות על עקומת התמורה</a:t>
            </a:r>
          </a:p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5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כאשר מבוצעות 50 בדיקות, מבוצעים 20 ניתוחים.</a:t>
            </a:r>
            <a:r>
              <a:rPr lang="he-IL" sz="1500" dirty="0">
                <a:latin typeface="Arial" panose="020B0604020202020204" pitchFamily="34" charset="0"/>
                <a:cs typeface="Arial" panose="020B0604020202020204" pitchFamily="34" charset="0"/>
              </a:rPr>
              <a:t> טענה 4 נכונה</a:t>
            </a:r>
          </a:p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5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כאשר מבוצעים 40 ניתוחים, קיימת אבטלה מבנית של אחיות</a:t>
            </a:r>
          </a:p>
          <a:p>
            <a:pPr marL="0" indent="0" algn="r" rtl="1">
              <a:lnSpc>
                <a:spcPct val="150000"/>
              </a:lnSpc>
              <a:buClrTx/>
              <a:buNone/>
            </a:pPr>
            <a:r>
              <a:rPr lang="he-IL" sz="1400" b="1" dirty="0">
                <a:latin typeface="Arial" panose="020B0604020202020204" pitchFamily="34" charset="0"/>
                <a:cs typeface="Arial" panose="020B0604020202020204" pitchFamily="34" charset="0"/>
              </a:rPr>
              <a:t>כן, כיוון שכאשר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X =40</a:t>
            </a:r>
            <a:r>
              <a:rPr lang="he-IL" sz="1400" b="1" dirty="0">
                <a:latin typeface="Arial" panose="020B0604020202020204" pitchFamily="34" charset="0"/>
                <a:cs typeface="Arial" panose="020B0604020202020204" pitchFamily="34" charset="0"/>
              </a:rPr>
              <a:t>המגבלה הפנימית היא של הרופאים, ואילו החיצונית היא של האחיות, החיצונית היא באבטלה מבנית.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24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920405" y="5579837"/>
                <a:ext cx="102803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26</m:t>
                      </m:r>
                      <m:r>
                        <a:rPr lang="en-US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66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405" y="5579837"/>
                <a:ext cx="1028037" cy="27699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/>
          <p:cNvCxnSpPr>
            <a:cxnSpLocks/>
          </p:cNvCxnSpPr>
          <p:nvPr/>
        </p:nvCxnSpPr>
        <p:spPr>
          <a:xfrm>
            <a:off x="603504" y="3944511"/>
            <a:ext cx="2197681" cy="1613135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7849993-BEAC-CFB8-FCA6-FDF9672D63D6}"/>
              </a:ext>
            </a:extLst>
          </p:cNvPr>
          <p:cNvCxnSpPr>
            <a:cxnSpLocks/>
          </p:cNvCxnSpPr>
          <p:nvPr/>
        </p:nvCxnSpPr>
        <p:spPr>
          <a:xfrm>
            <a:off x="606463" y="5535929"/>
            <a:ext cx="2408031" cy="312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AE7AE45-E888-C845-165C-14566894A128}"/>
              </a:ext>
            </a:extLst>
          </p:cNvPr>
          <p:cNvCxnSpPr>
            <a:cxnSpLocks/>
          </p:cNvCxnSpPr>
          <p:nvPr/>
        </p:nvCxnSpPr>
        <p:spPr>
          <a:xfrm flipV="1">
            <a:off x="603504" y="2667000"/>
            <a:ext cx="0" cy="28940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3EA8E0CE-826E-02BF-0B9A-B15371B79292}"/>
              </a:ext>
            </a:extLst>
          </p:cNvPr>
          <p:cNvSpPr/>
          <p:nvPr/>
        </p:nvSpPr>
        <p:spPr>
          <a:xfrm>
            <a:off x="1449608" y="4552013"/>
            <a:ext cx="216928" cy="191787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B821780-CADC-1417-DF23-CAAD2948B857}"/>
              </a:ext>
            </a:extLst>
          </p:cNvPr>
          <p:cNvCxnSpPr>
            <a:cxnSpLocks/>
          </p:cNvCxnSpPr>
          <p:nvPr/>
        </p:nvCxnSpPr>
        <p:spPr>
          <a:xfrm>
            <a:off x="603503" y="3097521"/>
            <a:ext cx="1497566" cy="246693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FCC877B9-465E-C723-5E20-091E9A7AF895}"/>
                  </a:ext>
                </a:extLst>
              </p:cNvPr>
              <p:cNvSpPr/>
              <p:nvPr/>
            </p:nvSpPr>
            <p:spPr>
              <a:xfrm>
                <a:off x="2610171" y="5467563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FCC877B9-465E-C723-5E20-091E9A7AF8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171" y="5467563"/>
                <a:ext cx="1028037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0994878-2676-3B9F-1C2D-FACB13CDA04C}"/>
                  </a:ext>
                </a:extLst>
              </p:cNvPr>
              <p:cNvSpPr/>
              <p:nvPr/>
            </p:nvSpPr>
            <p:spPr>
              <a:xfrm>
                <a:off x="-56819" y="2469884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0994878-2676-3B9F-1C2D-FACB13CDA0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6819" y="2469884"/>
                <a:ext cx="1028037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4B38D71-CCD6-875B-030B-E8A95426CFCC}"/>
              </a:ext>
            </a:extLst>
          </p:cNvPr>
          <p:cNvCxnSpPr>
            <a:cxnSpLocks/>
          </p:cNvCxnSpPr>
          <p:nvPr/>
        </p:nvCxnSpPr>
        <p:spPr>
          <a:xfrm flipH="1">
            <a:off x="1513061" y="4647906"/>
            <a:ext cx="18041" cy="934449"/>
          </a:xfrm>
          <a:prstGeom prst="line">
            <a:avLst/>
          </a:prstGeom>
          <a:ln>
            <a:solidFill>
              <a:srgbClr val="00206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9C7CD899-CCED-4878-4633-B7ED46287F7F}"/>
              </a:ext>
            </a:extLst>
          </p:cNvPr>
          <p:cNvSpPr txBox="1"/>
          <p:nvPr/>
        </p:nvSpPr>
        <p:spPr>
          <a:xfrm>
            <a:off x="1962411" y="5297479"/>
            <a:ext cx="84627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70C0"/>
                </a:solidFill>
              </a:rPr>
              <a:t>-0.5</a:t>
            </a:r>
            <a:endParaRPr lang="en-US" b="1" dirty="0">
              <a:solidFill>
                <a:srgbClr val="0070C0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BF71CE-240F-CED1-B85A-61F6E2A4AED2}"/>
              </a:ext>
            </a:extLst>
          </p:cNvPr>
          <p:cNvCxnSpPr>
            <a:cxnSpLocks/>
          </p:cNvCxnSpPr>
          <p:nvPr/>
        </p:nvCxnSpPr>
        <p:spPr>
          <a:xfrm flipH="1" flipV="1">
            <a:off x="610229" y="4647906"/>
            <a:ext cx="842373" cy="22309"/>
          </a:xfrm>
          <a:prstGeom prst="line">
            <a:avLst/>
          </a:prstGeom>
          <a:ln>
            <a:solidFill>
              <a:srgbClr val="00206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7BF38D0-F16A-35C7-6A3B-9663490B8254}"/>
                  </a:ext>
                </a:extLst>
              </p:cNvPr>
              <p:cNvSpPr txBox="1"/>
              <p:nvPr/>
            </p:nvSpPr>
            <p:spPr>
              <a:xfrm>
                <a:off x="1339275" y="5274578"/>
                <a:ext cx="84627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he-IL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7BF38D0-F16A-35C7-6A3B-9663490B82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9275" y="5274578"/>
                <a:ext cx="84627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081ACF7-6578-0A31-347B-138BD7A1FE6F}"/>
                  </a:ext>
                </a:extLst>
              </p:cNvPr>
              <p:cNvSpPr/>
              <p:nvPr/>
            </p:nvSpPr>
            <p:spPr>
              <a:xfrm>
                <a:off x="146839" y="3767475"/>
                <a:ext cx="54886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he-IL" dirty="0">
                          <a:solidFill>
                            <a:srgbClr val="0070C0"/>
                          </a:solidFill>
                        </a:rPr>
                        <m:t>60</m:t>
                      </m:r>
                    </m:oMath>
                  </m:oMathPara>
                </a14:m>
                <a:endParaRPr lang="he-IL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6081ACF7-6578-0A31-347B-138BD7A1FE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839" y="3767475"/>
                <a:ext cx="54886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B910252-F708-25AE-053F-7112439F183B}"/>
                  </a:ext>
                </a:extLst>
              </p:cNvPr>
              <p:cNvSpPr/>
              <p:nvPr/>
            </p:nvSpPr>
            <p:spPr>
              <a:xfrm>
                <a:off x="9525" y="2872051"/>
                <a:ext cx="7209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he-IL" dirty="0">
                          <a:solidFill>
                            <a:srgbClr val="FF0000"/>
                          </a:solidFill>
                        </a:rPr>
                        <m:t>100</m:t>
                      </m:r>
                    </m:oMath>
                  </m:oMathPara>
                </a14:m>
                <a:endParaRPr lang="he-I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B910252-F708-25AE-053F-7112439F18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" y="2872051"/>
                <a:ext cx="72093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טבלה 4">
                <a:extLst>
                  <a:ext uri="{FF2B5EF4-FFF2-40B4-BE49-F238E27FC236}">
                    <a16:creationId xmlns:a16="http://schemas.microsoft.com/office/drawing/2014/main" id="{4C52CB52-ABCA-1369-283E-8C43843D024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1530241"/>
                  </p:ext>
                </p:extLst>
              </p:nvPr>
            </p:nvGraphicFramePr>
            <p:xfrm>
              <a:off x="3506296" y="3880218"/>
              <a:ext cx="5259560" cy="2003755"/>
            </p:xfrm>
            <a:graphic>
              <a:graphicData uri="http://schemas.openxmlformats.org/drawingml/2006/table">
                <a:tbl>
                  <a:tblPr rtl="1" firstRow="1" bandRow="1">
                    <a:tableStyleId>{5940675A-B579-460E-94D1-54222C63F5DA}</a:tableStyleId>
                  </a:tblPr>
                  <a:tblGrid>
                    <a:gridCol w="80694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9397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9096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98159">
                      <a:extLst>
                        <a:ext uri="{9D8B030D-6E8A-4147-A177-3AD203B41FA5}">
                          <a16:colId xmlns:a16="http://schemas.microsoft.com/office/drawing/2014/main" val="729882449"/>
                        </a:ext>
                      </a:extLst>
                    </a:gridCol>
                    <a:gridCol w="1020901">
                      <a:extLst>
                        <a:ext uri="{9D8B030D-6E8A-4147-A177-3AD203B41FA5}">
                          <a16:colId xmlns:a16="http://schemas.microsoft.com/office/drawing/2014/main" val="1582318644"/>
                        </a:ext>
                      </a:extLst>
                    </a:gridCol>
                    <a:gridCol w="114861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14899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b="1" dirty="0"/>
                            <a:t>גורם ייצור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dirty="0"/>
                            <a:t>סך כמות גו''י</a:t>
                          </a:r>
                          <a:r>
                            <a:rPr lang="he-IL" baseline="0" dirty="0"/>
                            <a:t> 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/>
                            <a:t>X</a:t>
                          </a:r>
                          <a:r>
                            <a:rPr lang="he-IL" dirty="0"/>
                            <a:t> =</a:t>
                          </a:r>
                          <a:r>
                            <a:rPr lang="he-IL" sz="1600" dirty="0"/>
                            <a:t>מספר ניתוחים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Y</a:t>
                          </a:r>
                          <a:r>
                            <a:rPr lang="he-IL" dirty="0"/>
                            <a:t> =</a:t>
                          </a:r>
                          <a:r>
                            <a:rPr lang="he-IL" sz="1600" dirty="0"/>
                            <a:t>מספר בדיקות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600" dirty="0"/>
                            <a:t>ע.א.ש</a:t>
                          </a:r>
                          <a:r>
                            <a:rPr lang="en-US" sz="1600" dirty="0"/>
                            <a:t> </a:t>
                          </a:r>
                          <a:r>
                            <a:rPr lang="he-IL" sz="1600" dirty="0"/>
                            <a:t>ל-</a:t>
                          </a:r>
                          <a:r>
                            <a:rPr lang="en-US" sz="1600" dirty="0"/>
                            <a:t> X</a:t>
                          </a:r>
                        </a:p>
                        <a:p>
                          <a:pPr algn="ctr"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he-IL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400" dirty="0" err="1"/>
                            <a:t>ע.א.ש</a:t>
                          </a:r>
                          <a:r>
                            <a:rPr lang="he-IL" sz="1400" dirty="0"/>
                            <a:t> לייצור </a:t>
                          </a:r>
                          <a:r>
                            <a:rPr lang="en-US" sz="1400" dirty="0"/>
                            <a:t>Y</a:t>
                          </a:r>
                          <a:endParaRPr lang="he-IL" sz="1400" dirty="0"/>
                        </a:p>
                        <a:p>
                          <a:pPr algn="ctr"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he-IL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he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1140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b="1" dirty="0">
                              <a:solidFill>
                                <a:srgbClr val="FF0000"/>
                              </a:solidFill>
                            </a:rPr>
                            <a:t>רופאים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rtl="1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he-IL" b="0" i="1" smtClean="0">
                                      <a:latin typeface="Cambria Math" panose="02040503050406030204" pitchFamily="18" charset="0"/>
                                    </a:rPr>
                                    <m:t>100</m:t>
                                  </m:r>
                                </m:num>
                                <m:den>
                                  <m:r>
                                    <a:rPr lang="he-IL" b="0" i="1" smtClean="0">
                                      <a:latin typeface="Cambria Math" panose="02040503050406030204" pitchFamily="18" charset="0"/>
                                    </a:rPr>
                                    <m:t>50</m:t>
                                  </m:r>
                                </m:den>
                              </m:f>
                            </m:oMath>
                          </a14:m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=2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he-IL" b="0" i="1" smtClean="0">
                                      <a:latin typeface="Cambria Math" panose="02040503050406030204" pitchFamily="18" charset="0"/>
                                    </a:rPr>
                                    <m:t>50</m:t>
                                  </m:r>
                                </m:num>
                                <m:den>
                                  <m:r>
                                    <a:rPr lang="he-IL" b="0" i="1" smtClean="0">
                                      <a:latin typeface="Cambria Math" panose="02040503050406030204" pitchFamily="18" charset="0"/>
                                    </a:rPr>
                                    <m:t>100</m:t>
                                  </m:r>
                                </m:den>
                              </m:f>
                            </m:oMath>
                          </a14:m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=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he-IL" b="1" i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he-IL" dirty="0" smtClean="0">
                                      <a:solidFill>
                                        <a:srgbClr val="FF0000"/>
                                      </a:solidFill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he-IL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48215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b="1" dirty="0">
                              <a:solidFill>
                                <a:srgbClr val="0070C0"/>
                              </a:solidFill>
                            </a:rPr>
                            <a:t>אחיות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120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120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60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nor/>
                                    </m:rPr>
                                    <a:rPr lang="he-IL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60 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he-IL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120 </m:t>
                                  </m:r>
                                </m:den>
                              </m:f>
                            </m:oMath>
                          </a14:m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=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he-IL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he-IL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he-IL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he-IL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nor/>
                                    </m:rPr>
                                    <a:rPr lang="he-IL" b="0" i="0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12</m:t>
                                  </m:r>
                                  <m:r>
                                    <m:rPr>
                                      <m:nor/>
                                    </m:rPr>
                                    <a:rPr lang="he-IL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0 </m:t>
                                  </m:r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he-IL" b="0" i="0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6</m:t>
                                  </m:r>
                                  <m:r>
                                    <m:rPr>
                                      <m:nor/>
                                    </m:rPr>
                                    <a:rPr lang="he-IL" dirty="0" smtClean="0">
                                      <a:solidFill>
                                        <a:srgbClr val="0070C0"/>
                                      </a:solidFill>
                                    </a:rPr>
                                    <m:t>0 </m:t>
                                  </m:r>
                                </m:den>
                              </m:f>
                            </m:oMath>
                          </a14:m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=</a:t>
                          </a:r>
                          <a14:m>
                            <m:oMath xmlns:m="http://schemas.openxmlformats.org/officeDocument/2006/math">
                              <m:r>
                                <a:rPr lang="he-IL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oMath>
                          </a14:m>
                          <a:endParaRPr lang="he-IL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טבלה 4">
                <a:extLst>
                  <a:ext uri="{FF2B5EF4-FFF2-40B4-BE49-F238E27FC236}">
                    <a16:creationId xmlns:a16="http://schemas.microsoft.com/office/drawing/2014/main" id="{4C52CB52-ABCA-1369-283E-8C43843D024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91530241"/>
                  </p:ext>
                </p:extLst>
              </p:nvPr>
            </p:nvGraphicFramePr>
            <p:xfrm>
              <a:off x="3506296" y="3880218"/>
              <a:ext cx="5259560" cy="2003755"/>
            </p:xfrm>
            <a:graphic>
              <a:graphicData uri="http://schemas.openxmlformats.org/drawingml/2006/table">
                <a:tbl>
                  <a:tblPr rtl="1" firstRow="1" bandRow="1">
                    <a:tableStyleId>{5940675A-B579-460E-94D1-54222C63F5DA}</a:tableStyleId>
                  </a:tblPr>
                  <a:tblGrid>
                    <a:gridCol w="80694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9397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9096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98159">
                      <a:extLst>
                        <a:ext uri="{9D8B030D-6E8A-4147-A177-3AD203B41FA5}">
                          <a16:colId xmlns:a16="http://schemas.microsoft.com/office/drawing/2014/main" val="729882449"/>
                        </a:ext>
                      </a:extLst>
                    </a:gridCol>
                    <a:gridCol w="1020901">
                      <a:extLst>
                        <a:ext uri="{9D8B030D-6E8A-4147-A177-3AD203B41FA5}">
                          <a16:colId xmlns:a16="http://schemas.microsoft.com/office/drawing/2014/main" val="1582318644"/>
                        </a:ext>
                      </a:extLst>
                    </a:gridCol>
                    <a:gridCol w="114861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b="1" dirty="0"/>
                            <a:t>גורם ייצור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dirty="0"/>
                            <a:t>סך כמות גו''י</a:t>
                          </a:r>
                          <a:r>
                            <a:rPr lang="he-IL" baseline="0" dirty="0"/>
                            <a:t> 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/>
                            <a:t>X</a:t>
                          </a:r>
                          <a:r>
                            <a:rPr lang="he-IL" dirty="0"/>
                            <a:t> =</a:t>
                          </a:r>
                          <a:r>
                            <a:rPr lang="he-IL" sz="1600" dirty="0"/>
                            <a:t>מספר ניתוחים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Y</a:t>
                          </a:r>
                          <a:r>
                            <a:rPr lang="he-IL" dirty="0"/>
                            <a:t> =</a:t>
                          </a:r>
                          <a:r>
                            <a:rPr lang="he-IL" sz="1600" dirty="0"/>
                            <a:t>מספר בדיקות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8"/>
                          <a:stretch>
                            <a:fillRect l="-302381" t="-3311" r="-113690" b="-1205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8"/>
                          <a:stretch>
                            <a:fillRect l="-359574" t="-3311" r="-1596" b="-1205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1140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b="1" dirty="0">
                              <a:solidFill>
                                <a:srgbClr val="FF0000"/>
                              </a:solidFill>
                            </a:rPr>
                            <a:t>רופאים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50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100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302381" t="-175281" r="-113690" b="-1044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359574" t="-175281" r="-1596" b="-1044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48215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b="1" dirty="0">
                              <a:solidFill>
                                <a:srgbClr val="0070C0"/>
                              </a:solidFill>
                            </a:rPr>
                            <a:t>אחיות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120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120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60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302381" t="-272222" r="-113690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359574" t="-272222" r="-1596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27">
                <a:extLst>
                  <a:ext uri="{FF2B5EF4-FFF2-40B4-BE49-F238E27FC236}">
                    <a16:creationId xmlns:a16="http://schemas.microsoft.com/office/drawing/2014/main" id="{DC39A655-029D-3661-2C81-C886EFDE45FF}"/>
                  </a:ext>
                </a:extLst>
              </p:cNvPr>
              <p:cNvSpPr/>
              <p:nvPr/>
            </p:nvSpPr>
            <p:spPr>
              <a:xfrm>
                <a:off x="1746289" y="5518649"/>
                <a:ext cx="7209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he-IL" b="0" i="0" dirty="0" smtClean="0">
                          <a:solidFill>
                            <a:srgbClr val="FF0000"/>
                          </a:solidFill>
                        </a:rPr>
                        <m:t>50</m:t>
                      </m:r>
                    </m:oMath>
                  </m:oMathPara>
                </a14:m>
                <a:endParaRPr lang="he-I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Rectangle 27">
                <a:extLst>
                  <a:ext uri="{FF2B5EF4-FFF2-40B4-BE49-F238E27FC236}">
                    <a16:creationId xmlns:a16="http://schemas.microsoft.com/office/drawing/2014/main" id="{DC39A655-029D-3661-2C81-C886EFDE45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6289" y="5518649"/>
                <a:ext cx="720936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26">
                <a:extLst>
                  <a:ext uri="{FF2B5EF4-FFF2-40B4-BE49-F238E27FC236}">
                    <a16:creationId xmlns:a16="http://schemas.microsoft.com/office/drawing/2014/main" id="{BD962056-299B-2FAB-719E-1D0FD597A4B5}"/>
                  </a:ext>
                </a:extLst>
              </p:cNvPr>
              <p:cNvSpPr/>
              <p:nvPr/>
            </p:nvSpPr>
            <p:spPr>
              <a:xfrm>
                <a:off x="2501303" y="5514641"/>
                <a:ext cx="54886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he-IL" b="0" i="0" dirty="0" smtClean="0">
                          <a:solidFill>
                            <a:srgbClr val="0070C0"/>
                          </a:solidFill>
                        </a:rPr>
                        <m:t>12</m:t>
                      </m:r>
                      <m:r>
                        <m:rPr>
                          <m:nor/>
                        </m:rPr>
                        <a:rPr lang="he-IL" dirty="0">
                          <a:solidFill>
                            <a:srgbClr val="0070C0"/>
                          </a:solidFill>
                        </a:rPr>
                        <m:t>0</m:t>
                      </m:r>
                    </m:oMath>
                  </m:oMathPara>
                </a14:m>
                <a:endParaRPr lang="he-IL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3" name="Rectangle 26">
                <a:extLst>
                  <a:ext uri="{FF2B5EF4-FFF2-40B4-BE49-F238E27FC236}">
                    <a16:creationId xmlns:a16="http://schemas.microsoft.com/office/drawing/2014/main" id="{BD962056-299B-2FAB-719E-1D0FD597A4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1303" y="5514641"/>
                <a:ext cx="54886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4">
                <a:extLst>
                  <a:ext uri="{FF2B5EF4-FFF2-40B4-BE49-F238E27FC236}">
                    <a16:creationId xmlns:a16="http://schemas.microsoft.com/office/drawing/2014/main" id="{6FE6F570-9522-D38F-A765-436F06904882}"/>
                  </a:ext>
                </a:extLst>
              </p:cNvPr>
              <p:cNvSpPr/>
              <p:nvPr/>
            </p:nvSpPr>
            <p:spPr>
              <a:xfrm>
                <a:off x="-127464" y="4512462"/>
                <a:ext cx="102803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46</m:t>
                      </m:r>
                      <m:r>
                        <a:rPr lang="en-US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2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66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 14">
                <a:extLst>
                  <a:ext uri="{FF2B5EF4-FFF2-40B4-BE49-F238E27FC236}">
                    <a16:creationId xmlns:a16="http://schemas.microsoft.com/office/drawing/2014/main" id="{6FE6F570-9522-D38F-A765-436F069048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7464" y="4512462"/>
                <a:ext cx="1028037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מחבר ישר 20">
            <a:extLst>
              <a:ext uri="{FF2B5EF4-FFF2-40B4-BE49-F238E27FC236}">
                <a16:creationId xmlns:a16="http://schemas.microsoft.com/office/drawing/2014/main" id="{49078C39-3860-5569-615D-9D3982CA6A8D}"/>
              </a:ext>
            </a:extLst>
          </p:cNvPr>
          <p:cNvCxnSpPr>
            <a:cxnSpLocks/>
            <a:endCxn id="43" idx="2"/>
          </p:cNvCxnSpPr>
          <p:nvPr/>
        </p:nvCxnSpPr>
        <p:spPr>
          <a:xfrm>
            <a:off x="610228" y="4010079"/>
            <a:ext cx="839380" cy="637828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מחבר ישר 29">
            <a:extLst>
              <a:ext uri="{FF2B5EF4-FFF2-40B4-BE49-F238E27FC236}">
                <a16:creationId xmlns:a16="http://schemas.microsoft.com/office/drawing/2014/main" id="{A4530306-6043-9919-0DC7-820FD43C8446}"/>
              </a:ext>
            </a:extLst>
          </p:cNvPr>
          <p:cNvCxnSpPr>
            <a:cxnSpLocks/>
            <a:stCxn id="43" idx="5"/>
            <a:endCxn id="11" idx="0"/>
          </p:cNvCxnSpPr>
          <p:nvPr/>
        </p:nvCxnSpPr>
        <p:spPr>
          <a:xfrm>
            <a:off x="1634768" y="4715713"/>
            <a:ext cx="471989" cy="802936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תרשים זרימה: סרט מנוקב 5">
            <a:extLst>
              <a:ext uri="{FF2B5EF4-FFF2-40B4-BE49-F238E27FC236}">
                <a16:creationId xmlns:a16="http://schemas.microsoft.com/office/drawing/2014/main" id="{BC19938B-4D6F-AC6E-C3D4-8BD09DF37EBB}"/>
              </a:ext>
            </a:extLst>
          </p:cNvPr>
          <p:cNvSpPr/>
          <p:nvPr/>
        </p:nvSpPr>
        <p:spPr>
          <a:xfrm>
            <a:off x="2054209" y="2643147"/>
            <a:ext cx="1991911" cy="369332"/>
          </a:xfrm>
          <a:prstGeom prst="flowChartPunchedTape">
            <a:avLst/>
          </a:prstGeom>
          <a:solidFill>
            <a:srgbClr val="00B05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  <a:r>
              <a:rPr lang="he-IL" dirty="0"/>
              <a:t>טענה 5 גם היא נכונה</a:t>
            </a:r>
            <a:endParaRPr lang="en-IL" dirty="0"/>
          </a:p>
        </p:txBody>
      </p:sp>
      <p:sp>
        <p:nvSpPr>
          <p:cNvPr id="7" name="Oval 42">
            <a:extLst>
              <a:ext uri="{FF2B5EF4-FFF2-40B4-BE49-F238E27FC236}">
                <a16:creationId xmlns:a16="http://schemas.microsoft.com/office/drawing/2014/main" id="{3BF62FBE-A941-73B6-C8E7-0ABFD15EEF2F}"/>
              </a:ext>
            </a:extLst>
          </p:cNvPr>
          <p:cNvSpPr/>
          <p:nvPr/>
        </p:nvSpPr>
        <p:spPr>
          <a:xfrm>
            <a:off x="1673806" y="4993930"/>
            <a:ext cx="302987" cy="311215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00"/>
                </a:solidFill>
              </a:rPr>
              <a:t>B</a:t>
            </a:r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9223F6D2-5D42-4665-FC67-98C34777576A}"/>
              </a:ext>
            </a:extLst>
          </p:cNvPr>
          <p:cNvSpPr txBox="1"/>
          <p:nvPr/>
        </p:nvSpPr>
        <p:spPr>
          <a:xfrm>
            <a:off x="2048262" y="4887846"/>
            <a:ext cx="800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b="1" dirty="0">
                <a:solidFill>
                  <a:srgbClr val="0070C0"/>
                </a:solidFill>
              </a:rPr>
              <a:t>אחיות</a:t>
            </a: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BA7211A0-92DD-6EA1-D6DE-67968885E528}"/>
              </a:ext>
            </a:extLst>
          </p:cNvPr>
          <p:cNvSpPr txBox="1"/>
          <p:nvPr/>
        </p:nvSpPr>
        <p:spPr>
          <a:xfrm>
            <a:off x="920405" y="3551668"/>
            <a:ext cx="800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b="1" dirty="0">
                <a:solidFill>
                  <a:srgbClr val="FF0000"/>
                </a:solidFill>
              </a:rPr>
              <a:t>רופאים</a:t>
            </a:r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5392F523-1B76-9562-B87A-BFEEBA848CFC}"/>
              </a:ext>
            </a:extLst>
          </p:cNvPr>
          <p:cNvSpPr/>
          <p:nvPr/>
        </p:nvSpPr>
        <p:spPr>
          <a:xfrm>
            <a:off x="5867400" y="1219200"/>
            <a:ext cx="3025412" cy="457200"/>
          </a:xfrm>
          <a:prstGeom prst="rect">
            <a:avLst/>
          </a:prstGeom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תרשים זרימה: סרט מנוקב 15">
            <a:extLst>
              <a:ext uri="{FF2B5EF4-FFF2-40B4-BE49-F238E27FC236}">
                <a16:creationId xmlns:a16="http://schemas.microsoft.com/office/drawing/2014/main" id="{EA056C53-CD15-2112-8DEE-8C1F7254F0F4}"/>
              </a:ext>
            </a:extLst>
          </p:cNvPr>
          <p:cNvSpPr/>
          <p:nvPr/>
        </p:nvSpPr>
        <p:spPr>
          <a:xfrm>
            <a:off x="1976793" y="6252686"/>
            <a:ext cx="5878111" cy="369332"/>
          </a:xfrm>
          <a:prstGeom prst="flowChartPunchedTape">
            <a:avLst/>
          </a:prstGeom>
          <a:solidFill>
            <a:srgbClr val="00B050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  <a:r>
              <a:rPr lang="he-IL" dirty="0"/>
              <a:t>תשובה 1 היא הנכונה (יש יותר מתשובה אחת נכונה)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27142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 animBg="1"/>
      <p:bldP spid="1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FD2F622-CD4B-3269-F1E0-E1423EAEA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4639"/>
            <a:ext cx="7848600" cy="604354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>
                <a:cs typeface="+mn-cs"/>
              </a:rPr>
              <a:t>שאלה 5</a:t>
            </a:r>
            <a:endParaRPr lang="en-US" dirty="0"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A51B09E-7D73-1277-32A2-06E15085C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71800"/>
            <a:ext cx="8035395" cy="2921875"/>
          </a:xfrm>
        </p:spPr>
        <p:txBody>
          <a:bodyPr>
            <a:noAutofit/>
          </a:bodyPr>
          <a:lstStyle/>
          <a:p>
            <a:pPr marL="0" indent="0" algn="r" rtl="1">
              <a:lnSpc>
                <a:spcPct val="150000"/>
              </a:lnSpc>
              <a:spcAft>
                <a:spcPts val="1000"/>
              </a:spcAft>
              <a:buNone/>
            </a:pPr>
            <a:r>
              <a:rPr lang="he-IL" sz="16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1. הואיל והייצור יעיל, אזי כל העובדים מועסקים וכל המכונות מנוצלות</a:t>
            </a:r>
            <a:endParaRPr lang="en-IL" sz="1600" dirty="0">
              <a:effectLst/>
              <a:latin typeface="Cambria Math" panose="02040503050406030204" pitchFamily="18" charset="0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marL="0" indent="0" algn="r" rtl="1">
              <a:lnSpc>
                <a:spcPct val="150000"/>
              </a:lnSpc>
              <a:spcAft>
                <a:spcPts val="1000"/>
              </a:spcAft>
              <a:buNone/>
            </a:pPr>
            <a:r>
              <a:rPr lang="he-IL" sz="16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2. אם יש מכונות שאינן מנוצלות, פירוש הדבר שהייצור במשק הוא מתחת לעקומת התמורה שלו</a:t>
            </a:r>
            <a:endParaRPr lang="en-IL" sz="1600" dirty="0">
              <a:effectLst/>
              <a:latin typeface="Cambria Math" panose="02040503050406030204" pitchFamily="18" charset="0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marL="0" indent="0" algn="r" rtl="1">
              <a:lnSpc>
                <a:spcPct val="150000"/>
              </a:lnSpc>
              <a:spcAft>
                <a:spcPts val="1000"/>
              </a:spcAft>
              <a:buNone/>
            </a:pPr>
            <a:r>
              <a:rPr lang="he-IL" sz="16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3. כל המכונות מנוצלות, אך יש 200 עובדים שאינם מועסקים</a:t>
            </a:r>
            <a:endParaRPr lang="en-IL" sz="1600" dirty="0">
              <a:effectLst/>
              <a:latin typeface="Cambria Math" panose="02040503050406030204" pitchFamily="18" charset="0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marL="0" indent="0" algn="r" rtl="1">
              <a:lnSpc>
                <a:spcPct val="150000"/>
              </a:lnSpc>
              <a:spcAft>
                <a:spcPts val="1000"/>
              </a:spcAft>
              <a:buNone/>
            </a:pPr>
            <a:r>
              <a:rPr lang="he-IL" sz="16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4. כל העובדים מועסקים, אך יש 850 מכונות שאינן מנוצלות</a:t>
            </a:r>
            <a:endParaRPr lang="en-IL" sz="1600" dirty="0">
              <a:effectLst/>
              <a:latin typeface="Cambria Math" panose="02040503050406030204" pitchFamily="18" charset="0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marL="0" indent="0" algn="r" rtl="1">
              <a:lnSpc>
                <a:spcPct val="150000"/>
              </a:lnSpc>
              <a:spcAft>
                <a:spcPts val="1000"/>
              </a:spcAft>
              <a:buNone/>
            </a:pPr>
            <a:r>
              <a:rPr lang="he-IL" sz="16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5. כל התשובות האחרות אינן נכונות</a:t>
            </a:r>
            <a:endParaRPr lang="en-IL" sz="1600" dirty="0">
              <a:effectLst/>
              <a:latin typeface="Cambria Math" panose="02040503050406030204" pitchFamily="18" charset="0"/>
              <a:ea typeface="Calibri" panose="020F0502020204030204" pitchFamily="34" charset="0"/>
              <a:cs typeface="David" panose="020E0502060401010101" pitchFamily="34" charset="-79"/>
            </a:endParaRPr>
          </a:p>
        </p:txBody>
      </p:sp>
      <p:sp>
        <p:nvSpPr>
          <p:cNvPr id="3" name="מציין מיקום של מספר שקופית 2">
            <a:extLst>
              <a:ext uri="{FF2B5EF4-FFF2-40B4-BE49-F238E27FC236}">
                <a16:creationId xmlns:a16="http://schemas.microsoft.com/office/drawing/2014/main" id="{30059E28-2552-144E-16AB-11E34828B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25</a:t>
            </a:fld>
            <a:endParaRPr lang="en-US"/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2E67853D-FB7B-CAD8-6BDA-5960E5FE57EB}"/>
              </a:ext>
            </a:extLst>
          </p:cNvPr>
          <p:cNvSpPr txBox="1"/>
          <p:nvPr/>
        </p:nvSpPr>
        <p:spPr>
          <a:xfrm>
            <a:off x="4191000" y="811925"/>
            <a:ext cx="4724400" cy="1780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 rtl="1">
              <a:lnSpc>
                <a:spcPct val="150000"/>
              </a:lnSpc>
              <a:spcAft>
                <a:spcPts val="1000"/>
              </a:spcAft>
              <a:buNone/>
            </a:pPr>
            <a:r>
              <a:rPr lang="he-IL" sz="16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במשק 1,200 עובדים ו 1,200 מכונות. </a:t>
            </a:r>
          </a:p>
          <a:p>
            <a:pPr marL="0" indent="0" algn="r" rtl="1">
              <a:lnSpc>
                <a:spcPct val="150000"/>
              </a:lnSpc>
              <a:spcAft>
                <a:spcPts val="1000"/>
              </a:spcAft>
              <a:buNone/>
            </a:pPr>
            <a:r>
              <a:rPr lang="he-IL" sz="16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לייצור יחידה אחת של </a:t>
            </a:r>
            <a:r>
              <a:rPr lang="en-IL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X</a:t>
            </a:r>
            <a:r>
              <a:rPr lang="he-IL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r>
              <a:rPr lang="he-IL" sz="16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נחוצים 3 עובדים ו 2 מכונות.</a:t>
            </a:r>
          </a:p>
          <a:p>
            <a:pPr marL="0" indent="0" algn="r" rtl="1">
              <a:lnSpc>
                <a:spcPct val="150000"/>
              </a:lnSpc>
              <a:spcAft>
                <a:spcPts val="1000"/>
              </a:spcAft>
              <a:buNone/>
            </a:pPr>
            <a:r>
              <a:rPr lang="he-IL" sz="16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לייצור יחידה אחת של </a:t>
            </a:r>
            <a:r>
              <a:rPr lang="en-IL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Y</a:t>
            </a:r>
            <a:r>
              <a:rPr lang="he-IL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r>
              <a:rPr lang="he-IL" sz="16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נחוצים 60 עובדים ו 10 מכונות. ידוע שמייצרים 100 יחידות של </a:t>
            </a:r>
            <a:r>
              <a:rPr lang="en-IL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X</a:t>
            </a:r>
            <a:r>
              <a:rPr lang="he-IL" sz="16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, מכאן</a:t>
            </a:r>
            <a:endParaRPr lang="en-IL" sz="1600" dirty="0">
              <a:effectLst/>
              <a:latin typeface="Cambria Math" panose="02040503050406030204" pitchFamily="18" charset="0"/>
              <a:ea typeface="Calibri" panose="020F0502020204030204" pitchFamily="34" charset="0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5849507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4639"/>
            <a:ext cx="7848600" cy="604354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פתרון שאלה 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26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טבלה 12">
                <a:extLst>
                  <a:ext uri="{FF2B5EF4-FFF2-40B4-BE49-F238E27FC236}">
                    <a16:creationId xmlns:a16="http://schemas.microsoft.com/office/drawing/2014/main" id="{5338B37B-9D51-E343-96DA-4274989EAE9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2185368"/>
                  </p:ext>
                </p:extLst>
              </p:nvPr>
            </p:nvGraphicFramePr>
            <p:xfrm>
              <a:off x="3512454" y="3619805"/>
              <a:ext cx="5259560" cy="2003755"/>
            </p:xfrm>
            <a:graphic>
              <a:graphicData uri="http://schemas.openxmlformats.org/drawingml/2006/table">
                <a:tbl>
                  <a:tblPr rtl="1" firstRow="1" bandRow="1">
                    <a:tableStyleId>{5940675A-B579-460E-94D1-54222C63F5DA}</a:tableStyleId>
                  </a:tblPr>
                  <a:tblGrid>
                    <a:gridCol w="72252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4121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2736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65826">
                      <a:extLst>
                        <a:ext uri="{9D8B030D-6E8A-4147-A177-3AD203B41FA5}">
                          <a16:colId xmlns:a16="http://schemas.microsoft.com/office/drawing/2014/main" val="729882449"/>
                        </a:ext>
                      </a:extLst>
                    </a:gridCol>
                    <a:gridCol w="1067938">
                      <a:extLst>
                        <a:ext uri="{9D8B030D-6E8A-4147-A177-3AD203B41FA5}">
                          <a16:colId xmlns:a16="http://schemas.microsoft.com/office/drawing/2014/main" val="1582318644"/>
                        </a:ext>
                      </a:extLst>
                    </a:gridCol>
                    <a:gridCol w="123469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14899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b="1" dirty="0"/>
                            <a:t>גורם ייצור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dirty="0"/>
                            <a:t>סך כמות גו''י</a:t>
                          </a:r>
                          <a:r>
                            <a:rPr lang="he-IL" baseline="0" dirty="0"/>
                            <a:t> 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 err="1"/>
                            <a:t>Xmax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/>
                            <a:t>Ymax</a:t>
                          </a:r>
                          <a:endParaRPr lang="he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600" dirty="0"/>
                            <a:t>ע.א.ש</a:t>
                          </a:r>
                          <a:r>
                            <a:rPr lang="en-US" sz="1600" dirty="0"/>
                            <a:t> </a:t>
                          </a:r>
                          <a:r>
                            <a:rPr lang="he-IL" sz="1600" dirty="0"/>
                            <a:t>ל-</a:t>
                          </a:r>
                          <a:r>
                            <a:rPr lang="en-US" sz="1600" dirty="0"/>
                            <a:t> X</a:t>
                          </a:r>
                        </a:p>
                        <a:p>
                          <a:pPr algn="ctr"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he-IL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num>
                                  <m:den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400" dirty="0" err="1"/>
                            <a:t>ע.א.ש</a:t>
                          </a:r>
                          <a:r>
                            <a:rPr lang="he-IL" sz="1400" dirty="0"/>
                            <a:t> לייצור </a:t>
                          </a:r>
                          <a:r>
                            <a:rPr lang="en-US" sz="1400" dirty="0"/>
                            <a:t>Y</a:t>
                          </a:r>
                          <a:endParaRPr lang="he-IL" sz="1400" dirty="0"/>
                        </a:p>
                        <a:p>
                          <a:pPr algn="ctr"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he-IL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he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1140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b="1" dirty="0">
                              <a:solidFill>
                                <a:srgbClr val="FF0000"/>
                              </a:solidFill>
                            </a:rPr>
                            <a:t>עובדים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1200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endParaRPr lang="he-IL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endParaRPr lang="he-IL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rtl="1"/>
                          <a:endParaRPr lang="he-IL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endParaRPr lang="he-IL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48215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b="1" dirty="0">
                              <a:solidFill>
                                <a:srgbClr val="0070C0"/>
                              </a:solidFill>
                            </a:rPr>
                            <a:t>מכונות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1200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endParaRPr lang="he-IL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endParaRPr lang="he-IL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endParaRPr lang="he-IL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endParaRPr lang="he-IL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טבלה 12">
                <a:extLst>
                  <a:ext uri="{FF2B5EF4-FFF2-40B4-BE49-F238E27FC236}">
                    <a16:creationId xmlns:a16="http://schemas.microsoft.com/office/drawing/2014/main" id="{5338B37B-9D51-E343-96DA-4274989EAE9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2185368"/>
                  </p:ext>
                </p:extLst>
              </p:nvPr>
            </p:nvGraphicFramePr>
            <p:xfrm>
              <a:off x="3512454" y="3619805"/>
              <a:ext cx="5259560" cy="2003755"/>
            </p:xfrm>
            <a:graphic>
              <a:graphicData uri="http://schemas.openxmlformats.org/drawingml/2006/table">
                <a:tbl>
                  <a:tblPr rtl="1" firstRow="1" bandRow="1">
                    <a:tableStyleId>{5940675A-B579-460E-94D1-54222C63F5DA}</a:tableStyleId>
                  </a:tblPr>
                  <a:tblGrid>
                    <a:gridCol w="72252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74121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2736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65826">
                      <a:extLst>
                        <a:ext uri="{9D8B030D-6E8A-4147-A177-3AD203B41FA5}">
                          <a16:colId xmlns:a16="http://schemas.microsoft.com/office/drawing/2014/main" val="729882449"/>
                        </a:ext>
                      </a:extLst>
                    </a:gridCol>
                    <a:gridCol w="1067938">
                      <a:extLst>
                        <a:ext uri="{9D8B030D-6E8A-4147-A177-3AD203B41FA5}">
                          <a16:colId xmlns:a16="http://schemas.microsoft.com/office/drawing/2014/main" val="1582318644"/>
                        </a:ext>
                      </a:extLst>
                    </a:gridCol>
                    <a:gridCol w="123469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b="1" dirty="0"/>
                            <a:t>גורם ייצור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dirty="0"/>
                            <a:t>סך כמות גו''י</a:t>
                          </a:r>
                          <a:r>
                            <a:rPr lang="he-IL" baseline="0" dirty="0"/>
                            <a:t> 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 err="1"/>
                            <a:t>Xmax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/>
                            <a:t>Ymax</a:t>
                          </a:r>
                          <a:endParaRPr lang="he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277714" t="-3311" r="-117714" b="-1198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325616" t="-3311" r="-1478" b="-11986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1140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b="1" dirty="0">
                              <a:solidFill>
                                <a:srgbClr val="FF0000"/>
                              </a:solidFill>
                            </a:rPr>
                            <a:t>עובדים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FF0000"/>
                              </a:solidFill>
                            </a:rPr>
                            <a:t>1200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endParaRPr lang="he-IL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endParaRPr lang="he-IL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rtl="1"/>
                          <a:endParaRPr lang="he-IL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endParaRPr lang="he-IL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48215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b="1" dirty="0">
                              <a:solidFill>
                                <a:srgbClr val="0070C0"/>
                              </a:solidFill>
                            </a:rPr>
                            <a:t>מכונות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dirty="0">
                              <a:solidFill>
                                <a:srgbClr val="0070C0"/>
                              </a:solidFill>
                            </a:rPr>
                            <a:t>1200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endParaRPr lang="he-IL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endParaRPr lang="he-IL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endParaRPr lang="he-IL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endParaRPr lang="he-IL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5CB388D-53B8-6886-6B04-92795356B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5842" y="878993"/>
            <a:ext cx="4343401" cy="2359202"/>
          </a:xfrm>
        </p:spPr>
        <p:txBody>
          <a:bodyPr>
            <a:normAutofit/>
          </a:bodyPr>
          <a:lstStyle/>
          <a:p>
            <a:pPr marL="0" indent="0" algn="r" rtl="1">
              <a:lnSpc>
                <a:spcPct val="150000"/>
              </a:lnSpc>
              <a:spcAft>
                <a:spcPts val="1000"/>
              </a:spcAft>
              <a:buNone/>
            </a:pPr>
            <a:r>
              <a:rPr lang="he-IL" sz="15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במשק 1,200 עובדים ו 1,200 מכונות. </a:t>
            </a:r>
          </a:p>
          <a:p>
            <a:pPr marL="0" indent="0" algn="r" rtl="1">
              <a:lnSpc>
                <a:spcPct val="150000"/>
              </a:lnSpc>
              <a:spcAft>
                <a:spcPts val="1000"/>
              </a:spcAft>
              <a:buNone/>
            </a:pPr>
            <a:r>
              <a:rPr lang="he-IL" sz="15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לייצור יחידה אחת של </a:t>
            </a:r>
            <a:r>
              <a:rPr lang="en-IL" sz="15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X</a:t>
            </a:r>
            <a:r>
              <a:rPr lang="he-IL" sz="15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r>
              <a:rPr lang="en-IL" sz="15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r>
              <a:rPr lang="he-IL" sz="15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נחוצים 3 עובדים ו 2 מכונות.</a:t>
            </a:r>
          </a:p>
          <a:p>
            <a:pPr marL="0" indent="0" algn="r" rtl="1">
              <a:lnSpc>
                <a:spcPct val="150000"/>
              </a:lnSpc>
              <a:spcAft>
                <a:spcPts val="1000"/>
              </a:spcAft>
              <a:buNone/>
            </a:pPr>
            <a:r>
              <a:rPr lang="he-IL" sz="15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לייצור יחידה אחת של </a:t>
            </a:r>
            <a:r>
              <a:rPr lang="en-IL" sz="15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Y</a:t>
            </a:r>
            <a:r>
              <a:rPr lang="he-IL" sz="15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r>
              <a:rPr lang="en-IL" sz="15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r>
              <a:rPr lang="he-IL" sz="15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נחוצים 60 עובדים ו 10 מכונות. </a:t>
            </a:r>
            <a:endParaRPr lang="en-US" sz="1500" dirty="0">
              <a:effectLst/>
              <a:latin typeface="Cambria Math" panose="020405030504060302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r" rtl="1">
              <a:lnSpc>
                <a:spcPct val="150000"/>
              </a:lnSpc>
              <a:spcAft>
                <a:spcPts val="1000"/>
              </a:spcAft>
              <a:buNone/>
            </a:pPr>
            <a:r>
              <a:rPr lang="he-IL" sz="15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ידוע שמייצרים 100 יחידות של </a:t>
            </a:r>
            <a:r>
              <a:rPr lang="en-IL" sz="15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X</a:t>
            </a:r>
            <a:r>
              <a:rPr lang="he-IL" sz="15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,</a:t>
            </a:r>
            <a:endParaRPr lang="he-IL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5896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4639"/>
            <a:ext cx="7848600" cy="604354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פתרון שאלה 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688798"/>
            <a:ext cx="4343401" cy="2359202"/>
          </a:xfrm>
        </p:spPr>
        <p:txBody>
          <a:bodyPr>
            <a:normAutofit/>
          </a:bodyPr>
          <a:lstStyle/>
          <a:p>
            <a:pPr marL="0" indent="0" algn="r" rtl="1">
              <a:lnSpc>
                <a:spcPct val="150000"/>
              </a:lnSpc>
              <a:spcAft>
                <a:spcPts val="1000"/>
              </a:spcAft>
              <a:buNone/>
            </a:pPr>
            <a:r>
              <a:rPr lang="he-IL" sz="15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במשק 1,200 עובדים ו 1,200 מכונות. </a:t>
            </a:r>
          </a:p>
          <a:p>
            <a:pPr marL="0" indent="0" algn="r" rtl="1">
              <a:lnSpc>
                <a:spcPct val="150000"/>
              </a:lnSpc>
              <a:spcAft>
                <a:spcPts val="1000"/>
              </a:spcAft>
              <a:buNone/>
            </a:pPr>
            <a:r>
              <a:rPr lang="he-IL" sz="15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לייצור יחידה אחת של </a:t>
            </a:r>
            <a:r>
              <a:rPr lang="en-IL" sz="15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X</a:t>
            </a:r>
            <a:r>
              <a:rPr lang="he-IL" sz="15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r>
              <a:rPr lang="en-IL" sz="15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r>
              <a:rPr lang="he-IL" sz="15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נחוצים 3 עובדים ו 2 מכונות.</a:t>
            </a:r>
          </a:p>
          <a:p>
            <a:pPr marL="0" indent="0" algn="r" rtl="1">
              <a:lnSpc>
                <a:spcPct val="150000"/>
              </a:lnSpc>
              <a:spcAft>
                <a:spcPts val="1000"/>
              </a:spcAft>
              <a:buNone/>
            </a:pPr>
            <a:r>
              <a:rPr lang="he-IL" sz="15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לייצור יחידה אחת של </a:t>
            </a:r>
            <a:r>
              <a:rPr lang="en-IL" sz="15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Y</a:t>
            </a:r>
            <a:r>
              <a:rPr lang="he-IL" sz="15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r>
              <a:rPr lang="en-IL" sz="15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r>
              <a:rPr lang="he-IL" sz="15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נחוצים 60 עובדים ו 10 מכונות. </a:t>
            </a:r>
            <a:endParaRPr lang="en-US" sz="1500" dirty="0">
              <a:effectLst/>
              <a:latin typeface="Cambria Math" panose="020405030504060302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r" rtl="1">
              <a:lnSpc>
                <a:spcPct val="150000"/>
              </a:lnSpc>
              <a:spcAft>
                <a:spcPts val="1000"/>
              </a:spcAft>
              <a:buNone/>
            </a:pPr>
            <a:r>
              <a:rPr lang="he-IL" sz="15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ידוע שמייצרים 100 יחידות של </a:t>
            </a:r>
            <a:r>
              <a:rPr lang="en-IL" sz="15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X</a:t>
            </a:r>
            <a:r>
              <a:rPr lang="he-IL" sz="15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,</a:t>
            </a:r>
            <a:endParaRPr lang="he-IL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27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טבלה 12">
                <a:extLst>
                  <a:ext uri="{FF2B5EF4-FFF2-40B4-BE49-F238E27FC236}">
                    <a16:creationId xmlns:a16="http://schemas.microsoft.com/office/drawing/2014/main" id="{5338B37B-9D51-E343-96DA-4274989EAE9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4898313"/>
                  </p:ext>
                </p:extLst>
              </p:nvPr>
            </p:nvGraphicFramePr>
            <p:xfrm>
              <a:off x="3655841" y="2894448"/>
              <a:ext cx="5259560" cy="1914355"/>
            </p:xfrm>
            <a:graphic>
              <a:graphicData uri="http://schemas.openxmlformats.org/drawingml/2006/table">
                <a:tbl>
                  <a:tblPr rtl="1" firstRow="1" bandRow="1">
                    <a:tableStyleId>{5940675A-B579-460E-94D1-54222C63F5DA}</a:tableStyleId>
                  </a:tblPr>
                  <a:tblGrid>
                    <a:gridCol w="77585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9338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1196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875730">
                      <a:extLst>
                        <a:ext uri="{9D8B030D-6E8A-4147-A177-3AD203B41FA5}">
                          <a16:colId xmlns:a16="http://schemas.microsoft.com/office/drawing/2014/main" val="729882449"/>
                        </a:ext>
                      </a:extLst>
                    </a:gridCol>
                    <a:gridCol w="1067938">
                      <a:extLst>
                        <a:ext uri="{9D8B030D-6E8A-4147-A177-3AD203B41FA5}">
                          <a16:colId xmlns:a16="http://schemas.microsoft.com/office/drawing/2014/main" val="1582318644"/>
                        </a:ext>
                      </a:extLst>
                    </a:gridCol>
                    <a:gridCol w="123469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14899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b="1" dirty="0"/>
                            <a:t>גורם ייצור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dirty="0"/>
                            <a:t>כמות גו''י</a:t>
                          </a:r>
                          <a:r>
                            <a:rPr lang="he-IL" baseline="0" dirty="0"/>
                            <a:t> 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 err="1"/>
                            <a:t>Xmax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/>
                            <a:t>Ymax</a:t>
                          </a:r>
                          <a:endParaRPr lang="he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600" dirty="0"/>
                            <a:t>ע.א.ש</a:t>
                          </a:r>
                          <a:r>
                            <a:rPr lang="en-US" sz="1600" dirty="0"/>
                            <a:t> </a:t>
                          </a:r>
                          <a:r>
                            <a:rPr lang="he-IL" sz="1600" dirty="0"/>
                            <a:t>ל-</a:t>
                          </a:r>
                          <a:r>
                            <a:rPr lang="en-US" sz="1600" dirty="0"/>
                            <a:t> X</a:t>
                          </a:r>
                        </a:p>
                        <a:p>
                          <a:pPr algn="ctr"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he-IL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num>
                                  <m:den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400" dirty="0" err="1"/>
                            <a:t>ע.א.ש</a:t>
                          </a:r>
                          <a:r>
                            <a:rPr lang="he-IL" sz="1400" dirty="0"/>
                            <a:t> לייצור </a:t>
                          </a:r>
                          <a:r>
                            <a:rPr lang="en-US" sz="1400" dirty="0"/>
                            <a:t>Y</a:t>
                          </a:r>
                          <a:endParaRPr lang="he-IL" sz="1400" dirty="0"/>
                        </a:p>
                        <a:p>
                          <a:pPr algn="ctr"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he-IL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he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1140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b="1" dirty="0">
                              <a:solidFill>
                                <a:srgbClr val="C00000"/>
                              </a:solidFill>
                            </a:rPr>
                            <a:t>עובדים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sz="1600" dirty="0">
                              <a:solidFill>
                                <a:srgbClr val="C00000"/>
                              </a:solidFill>
                            </a:rPr>
                            <a:t>1200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1600" dirty="0">
                              <a:solidFill>
                                <a:srgbClr val="C00000"/>
                              </a:solidFill>
                            </a:rPr>
                            <a:t>400</a:t>
                          </a:r>
                          <a:endParaRPr lang="he-IL" sz="16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1600" dirty="0">
                              <a:solidFill>
                                <a:srgbClr val="FF0000"/>
                              </a:solidFill>
                            </a:rPr>
                            <a:t>20</a:t>
                          </a:r>
                          <a:endParaRPr lang="he-IL" sz="16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rtl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he-IL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num>
                                  <m:den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400</m:t>
                                    </m:r>
                                  </m:den>
                                </m:f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he-IL" sz="160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6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he-IL" sz="16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1600" dirty="0">
                              <a:solidFill>
                                <a:srgbClr val="FF0000"/>
                              </a:solidFill>
                            </a:rPr>
                            <a:t>20</a:t>
                          </a:r>
                          <a:endParaRPr lang="he-IL" sz="16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48215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b="1" dirty="0">
                              <a:solidFill>
                                <a:srgbClr val="0070C0"/>
                              </a:solidFill>
                            </a:rPr>
                            <a:t>מכונות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sz="1600" dirty="0">
                              <a:solidFill>
                                <a:srgbClr val="0070C0"/>
                              </a:solidFill>
                            </a:rPr>
                            <a:t>1200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1600" dirty="0">
                              <a:solidFill>
                                <a:srgbClr val="0070C0"/>
                              </a:solidFill>
                            </a:rPr>
                            <a:t>600</a:t>
                          </a:r>
                          <a:endParaRPr lang="he-IL" sz="160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1600" dirty="0">
                              <a:solidFill>
                                <a:srgbClr val="0070C0"/>
                              </a:solidFill>
                            </a:rPr>
                            <a:t>120</a:t>
                          </a:r>
                          <a:endParaRPr lang="he-IL" sz="160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he-IL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sz="1600" dirty="0" smtClean="0">
                                        <a:solidFill>
                                          <a:srgbClr val="0070C0"/>
                                        </a:solidFill>
                                      </a:rPr>
                                      <m:t>120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he-IL" sz="1600" dirty="0" smtClean="0">
                                        <a:solidFill>
                                          <a:srgbClr val="0070C0"/>
                                        </a:solidFill>
                                      </a:rPr>
                                      <m:t> 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1600" dirty="0" smtClean="0">
                                        <a:solidFill>
                                          <a:srgbClr val="0070C0"/>
                                        </a:solidFill>
                                      </a:rPr>
                                      <m:t>600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he-IL" sz="1600" dirty="0" smtClean="0">
                                        <a:solidFill>
                                          <a:srgbClr val="0070C0"/>
                                        </a:solidFill>
                                      </a:rPr>
                                      <m:t> </m:t>
                                    </m:r>
                                  </m:den>
                                </m:f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he-IL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sz="1600" dirty="0" smtClean="0">
                                        <a:solidFill>
                                          <a:srgbClr val="0070C0"/>
                                        </a:solidFill>
                                      </a:rPr>
                                      <m:t>1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he-IL" sz="1600" dirty="0" smtClean="0">
                                        <a:solidFill>
                                          <a:srgbClr val="0070C0"/>
                                        </a:solidFill>
                                      </a:rPr>
                                      <m:t> 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1600" b="0" i="0" dirty="0" smtClean="0">
                                        <a:solidFill>
                                          <a:srgbClr val="0070C0"/>
                                        </a:solidFill>
                                      </a:rPr>
                                      <m:t>5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he-IL" sz="1600" dirty="0" smtClean="0">
                                        <a:solidFill>
                                          <a:srgbClr val="0070C0"/>
                                        </a:solidFill>
                                      </a:rPr>
                                      <m:t>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he-IL" sz="160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1600" dirty="0">
                              <a:solidFill>
                                <a:srgbClr val="0070C0"/>
                              </a:solidFill>
                            </a:rPr>
                            <a:t>5</a:t>
                          </a:r>
                          <a:endParaRPr lang="he-IL" sz="160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טבלה 12">
                <a:extLst>
                  <a:ext uri="{FF2B5EF4-FFF2-40B4-BE49-F238E27FC236}">
                    <a16:creationId xmlns:a16="http://schemas.microsoft.com/office/drawing/2014/main" id="{5338B37B-9D51-E343-96DA-4274989EAE9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4898313"/>
                  </p:ext>
                </p:extLst>
              </p:nvPr>
            </p:nvGraphicFramePr>
            <p:xfrm>
              <a:off x="3655841" y="2894448"/>
              <a:ext cx="5259560" cy="1914355"/>
            </p:xfrm>
            <a:graphic>
              <a:graphicData uri="http://schemas.openxmlformats.org/drawingml/2006/table">
                <a:tbl>
                  <a:tblPr rtl="1" firstRow="1" bandRow="1">
                    <a:tableStyleId>{5940675A-B579-460E-94D1-54222C63F5DA}</a:tableStyleId>
                  </a:tblPr>
                  <a:tblGrid>
                    <a:gridCol w="77585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9338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1196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875730">
                      <a:extLst>
                        <a:ext uri="{9D8B030D-6E8A-4147-A177-3AD203B41FA5}">
                          <a16:colId xmlns:a16="http://schemas.microsoft.com/office/drawing/2014/main" val="729882449"/>
                        </a:ext>
                      </a:extLst>
                    </a:gridCol>
                    <a:gridCol w="1067938">
                      <a:extLst>
                        <a:ext uri="{9D8B030D-6E8A-4147-A177-3AD203B41FA5}">
                          <a16:colId xmlns:a16="http://schemas.microsoft.com/office/drawing/2014/main" val="1582318644"/>
                        </a:ext>
                      </a:extLst>
                    </a:gridCol>
                    <a:gridCol w="123469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816547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b="1" dirty="0"/>
                            <a:t>גורם ייצור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dirty="0"/>
                            <a:t>כמות גו''י</a:t>
                          </a:r>
                          <a:r>
                            <a:rPr lang="he-IL" baseline="0" dirty="0"/>
                            <a:t> 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 err="1"/>
                            <a:t>Xmax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/>
                            <a:t>Ymax</a:t>
                          </a:r>
                          <a:endParaRPr lang="he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278286" t="-3731" r="-117143" b="-1365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326108" t="-3731" r="-985" b="-1365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9593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b="1" dirty="0">
                              <a:solidFill>
                                <a:srgbClr val="C00000"/>
                              </a:solidFill>
                            </a:rPr>
                            <a:t>עובדים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sz="1600" dirty="0">
                              <a:solidFill>
                                <a:srgbClr val="C00000"/>
                              </a:solidFill>
                            </a:rPr>
                            <a:t>1200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1600" dirty="0">
                              <a:solidFill>
                                <a:srgbClr val="C00000"/>
                              </a:solidFill>
                            </a:rPr>
                            <a:t>400</a:t>
                          </a:r>
                          <a:endParaRPr lang="he-IL" sz="16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1600" dirty="0">
                              <a:solidFill>
                                <a:srgbClr val="FF0000"/>
                              </a:solidFill>
                            </a:rPr>
                            <a:t>20</a:t>
                          </a:r>
                          <a:endParaRPr lang="he-IL" sz="16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8286" t="-152747" r="-117143" b="-1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1600" dirty="0">
                              <a:solidFill>
                                <a:srgbClr val="FF0000"/>
                              </a:solidFill>
                            </a:rPr>
                            <a:t>20</a:t>
                          </a:r>
                          <a:endParaRPr lang="he-IL" sz="16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48215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b="1" dirty="0">
                              <a:solidFill>
                                <a:srgbClr val="0070C0"/>
                              </a:solidFill>
                            </a:rPr>
                            <a:t>מכונות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sz="1600" dirty="0">
                              <a:solidFill>
                                <a:srgbClr val="0070C0"/>
                              </a:solidFill>
                            </a:rPr>
                            <a:t>1200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1600" dirty="0">
                              <a:solidFill>
                                <a:srgbClr val="0070C0"/>
                              </a:solidFill>
                            </a:rPr>
                            <a:t>600</a:t>
                          </a:r>
                          <a:endParaRPr lang="he-IL" sz="160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1600" dirty="0">
                              <a:solidFill>
                                <a:srgbClr val="0070C0"/>
                              </a:solidFill>
                            </a:rPr>
                            <a:t>120</a:t>
                          </a:r>
                          <a:endParaRPr lang="he-IL" sz="160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8286" t="-255556" r="-117143" b="-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1600" dirty="0">
                              <a:solidFill>
                                <a:srgbClr val="0070C0"/>
                              </a:solidFill>
                            </a:rPr>
                            <a:t>5</a:t>
                          </a:r>
                          <a:endParaRPr lang="he-IL" sz="160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90687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4639"/>
            <a:ext cx="7848600" cy="604354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/>
              <a:t>פתרון שאלה 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688798"/>
            <a:ext cx="4343401" cy="2359202"/>
          </a:xfrm>
        </p:spPr>
        <p:txBody>
          <a:bodyPr>
            <a:normAutofit/>
          </a:bodyPr>
          <a:lstStyle/>
          <a:p>
            <a:pPr marL="0" indent="0" algn="r" rtl="1">
              <a:lnSpc>
                <a:spcPct val="150000"/>
              </a:lnSpc>
              <a:spcAft>
                <a:spcPts val="1000"/>
              </a:spcAft>
              <a:buNone/>
            </a:pPr>
            <a:r>
              <a:rPr lang="he-IL" sz="15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במשק 1,200 עובדים ו 1,200 מכונות. </a:t>
            </a:r>
          </a:p>
          <a:p>
            <a:pPr marL="0" indent="0" algn="r" rtl="1">
              <a:lnSpc>
                <a:spcPct val="150000"/>
              </a:lnSpc>
              <a:spcAft>
                <a:spcPts val="1000"/>
              </a:spcAft>
              <a:buNone/>
            </a:pPr>
            <a:r>
              <a:rPr lang="he-IL" sz="15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לייצור יחידה אחת של </a:t>
            </a:r>
            <a:r>
              <a:rPr lang="en-IL" sz="15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X</a:t>
            </a:r>
            <a:r>
              <a:rPr lang="he-IL" sz="15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r>
              <a:rPr lang="en-IL" sz="15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r>
              <a:rPr lang="he-IL" sz="15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נחוצים 3 עובדים ו 2 מכונות.</a:t>
            </a:r>
          </a:p>
          <a:p>
            <a:pPr marL="0" indent="0" algn="r" rtl="1">
              <a:lnSpc>
                <a:spcPct val="150000"/>
              </a:lnSpc>
              <a:spcAft>
                <a:spcPts val="1000"/>
              </a:spcAft>
              <a:buNone/>
            </a:pPr>
            <a:r>
              <a:rPr lang="he-IL" sz="15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לייצור יחידה אחת של </a:t>
            </a:r>
            <a:r>
              <a:rPr lang="en-IL" sz="15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Y</a:t>
            </a:r>
            <a:r>
              <a:rPr lang="he-IL" sz="15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r>
              <a:rPr lang="en-IL" sz="15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r>
              <a:rPr lang="he-IL" sz="15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נחוצים 60 עובדים ו 10 מכונות. </a:t>
            </a:r>
            <a:endParaRPr lang="en-US" sz="1500" dirty="0">
              <a:effectLst/>
              <a:latin typeface="Cambria Math" panose="020405030504060302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r" rtl="1">
              <a:lnSpc>
                <a:spcPct val="150000"/>
              </a:lnSpc>
              <a:spcAft>
                <a:spcPts val="1000"/>
              </a:spcAft>
              <a:buNone/>
            </a:pPr>
            <a:r>
              <a:rPr lang="he-IL" sz="15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ידוע שמייצרים 100 יחידות של </a:t>
            </a:r>
            <a:r>
              <a:rPr lang="en-IL" sz="15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X</a:t>
            </a:r>
            <a:r>
              <a:rPr lang="he-IL" sz="15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,</a:t>
            </a:r>
            <a:endParaRPr lang="he-IL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28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טבלה 12">
                <a:extLst>
                  <a:ext uri="{FF2B5EF4-FFF2-40B4-BE49-F238E27FC236}">
                    <a16:creationId xmlns:a16="http://schemas.microsoft.com/office/drawing/2014/main" id="{5338B37B-9D51-E343-96DA-4274989EAE9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02537953"/>
                  </p:ext>
                </p:extLst>
              </p:nvPr>
            </p:nvGraphicFramePr>
            <p:xfrm>
              <a:off x="3655841" y="2852823"/>
              <a:ext cx="5259560" cy="1914355"/>
            </p:xfrm>
            <a:graphic>
              <a:graphicData uri="http://schemas.openxmlformats.org/drawingml/2006/table">
                <a:tbl>
                  <a:tblPr rtl="1" firstRow="1" bandRow="1">
                    <a:tableStyleId>{5940675A-B579-460E-94D1-54222C63F5DA}</a:tableStyleId>
                  </a:tblPr>
                  <a:tblGrid>
                    <a:gridCol w="74814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2109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1196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875730">
                      <a:extLst>
                        <a:ext uri="{9D8B030D-6E8A-4147-A177-3AD203B41FA5}">
                          <a16:colId xmlns:a16="http://schemas.microsoft.com/office/drawing/2014/main" val="729882449"/>
                        </a:ext>
                      </a:extLst>
                    </a:gridCol>
                    <a:gridCol w="1067938">
                      <a:extLst>
                        <a:ext uri="{9D8B030D-6E8A-4147-A177-3AD203B41FA5}">
                          <a16:colId xmlns:a16="http://schemas.microsoft.com/office/drawing/2014/main" val="1582318644"/>
                        </a:ext>
                      </a:extLst>
                    </a:gridCol>
                    <a:gridCol w="123469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14899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b="1" dirty="0"/>
                            <a:t>גורם ייצור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dirty="0"/>
                            <a:t>כמות גו''י</a:t>
                          </a:r>
                          <a:r>
                            <a:rPr lang="he-IL" baseline="0" dirty="0"/>
                            <a:t> 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 err="1"/>
                            <a:t>Xmax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/>
                            <a:t>Ymax</a:t>
                          </a:r>
                          <a:endParaRPr lang="he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600" dirty="0"/>
                            <a:t>ע.א.ש</a:t>
                          </a:r>
                          <a:r>
                            <a:rPr lang="en-US" sz="1600" dirty="0"/>
                            <a:t> </a:t>
                          </a:r>
                          <a:r>
                            <a:rPr lang="he-IL" sz="1600" dirty="0"/>
                            <a:t>ל-</a:t>
                          </a:r>
                          <a:r>
                            <a:rPr lang="en-US" sz="1600" dirty="0"/>
                            <a:t> X</a:t>
                          </a:r>
                        </a:p>
                        <a:p>
                          <a:pPr algn="ctr"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he-IL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num>
                                  <m:den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400" dirty="0" err="1"/>
                            <a:t>ע.א.ש</a:t>
                          </a:r>
                          <a:r>
                            <a:rPr lang="he-IL" sz="1400" dirty="0"/>
                            <a:t> לייצור </a:t>
                          </a:r>
                          <a:r>
                            <a:rPr lang="en-US" sz="1400" dirty="0"/>
                            <a:t>Y</a:t>
                          </a:r>
                          <a:endParaRPr lang="he-IL" sz="1400" dirty="0"/>
                        </a:p>
                        <a:p>
                          <a:pPr algn="ctr"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he-IL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he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1140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b="1" dirty="0">
                              <a:solidFill>
                                <a:srgbClr val="C00000"/>
                              </a:solidFill>
                            </a:rPr>
                            <a:t>עובדים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sz="1600" dirty="0">
                              <a:solidFill>
                                <a:srgbClr val="C00000"/>
                              </a:solidFill>
                            </a:rPr>
                            <a:t>1200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1600" dirty="0">
                              <a:solidFill>
                                <a:srgbClr val="C00000"/>
                              </a:solidFill>
                            </a:rPr>
                            <a:t>400</a:t>
                          </a:r>
                          <a:endParaRPr lang="he-IL" sz="16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1600" dirty="0">
                              <a:solidFill>
                                <a:srgbClr val="FF0000"/>
                              </a:solidFill>
                            </a:rPr>
                            <a:t>20</a:t>
                          </a:r>
                          <a:endParaRPr lang="he-IL" sz="16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rtl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he-IL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num>
                                  <m:den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400</m:t>
                                    </m:r>
                                  </m:den>
                                </m:f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he-IL" sz="160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6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he-IL" sz="16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1600" dirty="0">
                              <a:solidFill>
                                <a:srgbClr val="FF0000"/>
                              </a:solidFill>
                            </a:rPr>
                            <a:t>20</a:t>
                          </a:r>
                          <a:endParaRPr lang="he-IL" sz="16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48215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b="1" dirty="0">
                              <a:solidFill>
                                <a:srgbClr val="0070C0"/>
                              </a:solidFill>
                            </a:rPr>
                            <a:t>מכונות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sz="1600" dirty="0">
                              <a:solidFill>
                                <a:srgbClr val="0070C0"/>
                              </a:solidFill>
                            </a:rPr>
                            <a:t>1200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1600" dirty="0">
                              <a:solidFill>
                                <a:srgbClr val="0070C0"/>
                              </a:solidFill>
                            </a:rPr>
                            <a:t>600</a:t>
                          </a:r>
                          <a:endParaRPr lang="he-IL" sz="160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1600" dirty="0">
                              <a:solidFill>
                                <a:srgbClr val="0070C0"/>
                              </a:solidFill>
                            </a:rPr>
                            <a:t>120</a:t>
                          </a:r>
                          <a:endParaRPr lang="he-IL" sz="160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he-IL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sz="1600" dirty="0" smtClean="0">
                                        <a:solidFill>
                                          <a:srgbClr val="0070C0"/>
                                        </a:solidFill>
                                      </a:rPr>
                                      <m:t>120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he-IL" sz="1600" dirty="0" smtClean="0">
                                        <a:solidFill>
                                          <a:srgbClr val="0070C0"/>
                                        </a:solidFill>
                                      </a:rPr>
                                      <m:t> 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1600" dirty="0" smtClean="0">
                                        <a:solidFill>
                                          <a:srgbClr val="0070C0"/>
                                        </a:solidFill>
                                      </a:rPr>
                                      <m:t>600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he-IL" sz="1600" dirty="0" smtClean="0">
                                        <a:solidFill>
                                          <a:srgbClr val="0070C0"/>
                                        </a:solidFill>
                                      </a:rPr>
                                      <m:t> </m:t>
                                    </m:r>
                                  </m:den>
                                </m:f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he-IL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sz="1600" dirty="0" smtClean="0">
                                        <a:solidFill>
                                          <a:srgbClr val="0070C0"/>
                                        </a:solidFill>
                                      </a:rPr>
                                      <m:t>1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he-IL" sz="1600" dirty="0" smtClean="0">
                                        <a:solidFill>
                                          <a:srgbClr val="0070C0"/>
                                        </a:solidFill>
                                      </a:rPr>
                                      <m:t> 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1600" b="0" i="0" dirty="0" smtClean="0">
                                        <a:solidFill>
                                          <a:srgbClr val="0070C0"/>
                                        </a:solidFill>
                                      </a:rPr>
                                      <m:t>5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he-IL" sz="1600" dirty="0" smtClean="0">
                                        <a:solidFill>
                                          <a:srgbClr val="0070C0"/>
                                        </a:solidFill>
                                      </a:rPr>
                                      <m:t>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he-IL" sz="160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1600" dirty="0">
                              <a:solidFill>
                                <a:srgbClr val="0070C0"/>
                              </a:solidFill>
                            </a:rPr>
                            <a:t>5</a:t>
                          </a:r>
                          <a:endParaRPr lang="he-IL" sz="160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טבלה 12">
                <a:extLst>
                  <a:ext uri="{FF2B5EF4-FFF2-40B4-BE49-F238E27FC236}">
                    <a16:creationId xmlns:a16="http://schemas.microsoft.com/office/drawing/2014/main" id="{5338B37B-9D51-E343-96DA-4274989EAE9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02537953"/>
                  </p:ext>
                </p:extLst>
              </p:nvPr>
            </p:nvGraphicFramePr>
            <p:xfrm>
              <a:off x="3655841" y="2852823"/>
              <a:ext cx="5259560" cy="1914355"/>
            </p:xfrm>
            <a:graphic>
              <a:graphicData uri="http://schemas.openxmlformats.org/drawingml/2006/table">
                <a:tbl>
                  <a:tblPr rtl="1" firstRow="1" bandRow="1">
                    <a:tableStyleId>{5940675A-B579-460E-94D1-54222C63F5DA}</a:tableStyleId>
                  </a:tblPr>
                  <a:tblGrid>
                    <a:gridCol w="74814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2109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1196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875730">
                      <a:extLst>
                        <a:ext uri="{9D8B030D-6E8A-4147-A177-3AD203B41FA5}">
                          <a16:colId xmlns:a16="http://schemas.microsoft.com/office/drawing/2014/main" val="729882449"/>
                        </a:ext>
                      </a:extLst>
                    </a:gridCol>
                    <a:gridCol w="1067938">
                      <a:extLst>
                        <a:ext uri="{9D8B030D-6E8A-4147-A177-3AD203B41FA5}">
                          <a16:colId xmlns:a16="http://schemas.microsoft.com/office/drawing/2014/main" val="1582318644"/>
                        </a:ext>
                      </a:extLst>
                    </a:gridCol>
                    <a:gridCol w="123469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816547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b="1" dirty="0"/>
                            <a:t>גורם ייצור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dirty="0"/>
                            <a:t>כמות גו''י</a:t>
                          </a:r>
                          <a:r>
                            <a:rPr lang="he-IL" baseline="0" dirty="0"/>
                            <a:t> 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dirty="0" err="1"/>
                            <a:t>Xmax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 err="1"/>
                            <a:t>Ymax</a:t>
                          </a:r>
                          <a:endParaRPr lang="he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278286" t="-3704" r="-117143" b="-13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326108" t="-3704" r="-985" b="-13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9593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b="1" dirty="0">
                              <a:solidFill>
                                <a:srgbClr val="C00000"/>
                              </a:solidFill>
                            </a:rPr>
                            <a:t>עובדים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sz="1600" dirty="0">
                              <a:solidFill>
                                <a:srgbClr val="C00000"/>
                              </a:solidFill>
                            </a:rPr>
                            <a:t>1200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1600" dirty="0">
                              <a:solidFill>
                                <a:srgbClr val="C00000"/>
                              </a:solidFill>
                            </a:rPr>
                            <a:t>400</a:t>
                          </a:r>
                          <a:endParaRPr lang="he-IL" sz="16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1600" dirty="0">
                              <a:solidFill>
                                <a:srgbClr val="FF0000"/>
                              </a:solidFill>
                            </a:rPr>
                            <a:t>20</a:t>
                          </a:r>
                          <a:endParaRPr lang="he-IL" sz="16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8286" t="-153846" r="-117143" b="-1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1600" dirty="0">
                              <a:solidFill>
                                <a:srgbClr val="FF0000"/>
                              </a:solidFill>
                            </a:rPr>
                            <a:t>20</a:t>
                          </a:r>
                          <a:endParaRPr lang="he-IL" sz="16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48215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b="1" dirty="0">
                              <a:solidFill>
                                <a:srgbClr val="0070C0"/>
                              </a:solidFill>
                            </a:rPr>
                            <a:t>מכונות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sz="1600" dirty="0">
                              <a:solidFill>
                                <a:srgbClr val="0070C0"/>
                              </a:solidFill>
                            </a:rPr>
                            <a:t>1200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1600" dirty="0">
                              <a:solidFill>
                                <a:srgbClr val="0070C0"/>
                              </a:solidFill>
                            </a:rPr>
                            <a:t>600</a:t>
                          </a:r>
                          <a:endParaRPr lang="he-IL" sz="160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1600" dirty="0">
                              <a:solidFill>
                                <a:srgbClr val="0070C0"/>
                              </a:solidFill>
                            </a:rPr>
                            <a:t>120</a:t>
                          </a:r>
                          <a:endParaRPr lang="he-IL" sz="160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8286" t="-256667" r="-117143" b="-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1600" dirty="0">
                              <a:solidFill>
                                <a:srgbClr val="0070C0"/>
                              </a:solidFill>
                            </a:rPr>
                            <a:t>5</a:t>
                          </a:r>
                          <a:endParaRPr lang="he-IL" sz="160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5" name="Straight Arrow Connector 39">
            <a:extLst>
              <a:ext uri="{FF2B5EF4-FFF2-40B4-BE49-F238E27FC236}">
                <a16:creationId xmlns:a16="http://schemas.microsoft.com/office/drawing/2014/main" id="{440D3F45-D95F-A65C-2F38-9C799F77E3B8}"/>
              </a:ext>
            </a:extLst>
          </p:cNvPr>
          <p:cNvCxnSpPr>
            <a:cxnSpLocks/>
          </p:cNvCxnSpPr>
          <p:nvPr/>
        </p:nvCxnSpPr>
        <p:spPr>
          <a:xfrm>
            <a:off x="603503" y="6017797"/>
            <a:ext cx="61401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41">
            <a:extLst>
              <a:ext uri="{FF2B5EF4-FFF2-40B4-BE49-F238E27FC236}">
                <a16:creationId xmlns:a16="http://schemas.microsoft.com/office/drawing/2014/main" id="{19992493-7E0D-7011-A185-FF95B024CAA3}"/>
              </a:ext>
            </a:extLst>
          </p:cNvPr>
          <p:cNvCxnSpPr>
            <a:cxnSpLocks/>
          </p:cNvCxnSpPr>
          <p:nvPr/>
        </p:nvCxnSpPr>
        <p:spPr>
          <a:xfrm flipV="1">
            <a:off x="603503" y="3429000"/>
            <a:ext cx="0" cy="2588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45">
                <a:extLst>
                  <a:ext uri="{FF2B5EF4-FFF2-40B4-BE49-F238E27FC236}">
                    <a16:creationId xmlns:a16="http://schemas.microsoft.com/office/drawing/2014/main" id="{D87B31BA-DCF8-C098-F0E7-A1098AB814A9}"/>
                  </a:ext>
                </a:extLst>
              </p:cNvPr>
              <p:cNvSpPr/>
              <p:nvPr/>
            </p:nvSpPr>
            <p:spPr>
              <a:xfrm>
                <a:off x="6457952" y="6057664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45">
                <a:extLst>
                  <a:ext uri="{FF2B5EF4-FFF2-40B4-BE49-F238E27FC236}">
                    <a16:creationId xmlns:a16="http://schemas.microsoft.com/office/drawing/2014/main" id="{D87B31BA-DCF8-C098-F0E7-A1098AB814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7952" y="6057664"/>
                <a:ext cx="1028037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46">
                <a:extLst>
                  <a:ext uri="{FF2B5EF4-FFF2-40B4-BE49-F238E27FC236}">
                    <a16:creationId xmlns:a16="http://schemas.microsoft.com/office/drawing/2014/main" id="{6D9D14CF-7F9A-163C-7F95-F40B7EF1A21A}"/>
                  </a:ext>
                </a:extLst>
              </p:cNvPr>
              <p:cNvSpPr/>
              <p:nvPr/>
            </p:nvSpPr>
            <p:spPr>
              <a:xfrm>
                <a:off x="-182911" y="3411558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46">
                <a:extLst>
                  <a:ext uri="{FF2B5EF4-FFF2-40B4-BE49-F238E27FC236}">
                    <a16:creationId xmlns:a16="http://schemas.microsoft.com/office/drawing/2014/main" id="{6D9D14CF-7F9A-163C-7F95-F40B7EF1A2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2911" y="3411558"/>
                <a:ext cx="1028037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44">
            <a:extLst>
              <a:ext uri="{FF2B5EF4-FFF2-40B4-BE49-F238E27FC236}">
                <a16:creationId xmlns:a16="http://schemas.microsoft.com/office/drawing/2014/main" id="{3ECB9874-D716-4BB5-7776-4C4FCE026F1A}"/>
              </a:ext>
            </a:extLst>
          </p:cNvPr>
          <p:cNvCxnSpPr>
            <a:cxnSpLocks/>
          </p:cNvCxnSpPr>
          <p:nvPr/>
        </p:nvCxnSpPr>
        <p:spPr>
          <a:xfrm>
            <a:off x="603502" y="5428466"/>
            <a:ext cx="3395747" cy="58933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23">
                <a:extLst>
                  <a:ext uri="{FF2B5EF4-FFF2-40B4-BE49-F238E27FC236}">
                    <a16:creationId xmlns:a16="http://schemas.microsoft.com/office/drawing/2014/main" id="{A310F3C3-D427-2A90-CC7C-BD6DDCE63445}"/>
                  </a:ext>
                </a:extLst>
              </p:cNvPr>
              <p:cNvSpPr txBox="1"/>
              <p:nvPr/>
            </p:nvSpPr>
            <p:spPr>
              <a:xfrm>
                <a:off x="1657350" y="5639069"/>
                <a:ext cx="846278" cy="5145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he-IL" sz="1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23">
                <a:extLst>
                  <a:ext uri="{FF2B5EF4-FFF2-40B4-BE49-F238E27FC236}">
                    <a16:creationId xmlns:a16="http://schemas.microsoft.com/office/drawing/2014/main" id="{A310F3C3-D427-2A90-CC7C-BD6DDCE634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7350" y="5639069"/>
                <a:ext cx="846278" cy="5145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27">
                <a:extLst>
                  <a:ext uri="{FF2B5EF4-FFF2-40B4-BE49-F238E27FC236}">
                    <a16:creationId xmlns:a16="http://schemas.microsoft.com/office/drawing/2014/main" id="{F02C6720-358B-39CD-7D38-0C7881893645}"/>
                  </a:ext>
                </a:extLst>
              </p:cNvPr>
              <p:cNvSpPr/>
              <p:nvPr/>
            </p:nvSpPr>
            <p:spPr>
              <a:xfrm>
                <a:off x="117264" y="5274578"/>
                <a:ext cx="7209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rgbClr val="FF0000"/>
                          </a:solidFill>
                        </a:rPr>
                        <m:t>20</m:t>
                      </m:r>
                    </m:oMath>
                  </m:oMathPara>
                </a14:m>
                <a:endParaRPr lang="he-I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Rectangle 27">
                <a:extLst>
                  <a:ext uri="{FF2B5EF4-FFF2-40B4-BE49-F238E27FC236}">
                    <a16:creationId xmlns:a16="http://schemas.microsoft.com/office/drawing/2014/main" id="{F02C6720-358B-39CD-7D38-0C78818936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264" y="5274578"/>
                <a:ext cx="72093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27">
                <a:extLst>
                  <a:ext uri="{FF2B5EF4-FFF2-40B4-BE49-F238E27FC236}">
                    <a16:creationId xmlns:a16="http://schemas.microsoft.com/office/drawing/2014/main" id="{096A083F-83D3-EA8D-4369-780E217A8959}"/>
                  </a:ext>
                </a:extLst>
              </p:cNvPr>
              <p:cNvSpPr/>
              <p:nvPr/>
            </p:nvSpPr>
            <p:spPr>
              <a:xfrm>
                <a:off x="3655841" y="5984799"/>
                <a:ext cx="7209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rgbClr val="FF0000"/>
                          </a:solidFill>
                        </a:rPr>
                        <m:t>400</m:t>
                      </m:r>
                    </m:oMath>
                  </m:oMathPara>
                </a14:m>
                <a:endParaRPr lang="he-I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Rectangle 27">
                <a:extLst>
                  <a:ext uri="{FF2B5EF4-FFF2-40B4-BE49-F238E27FC236}">
                    <a16:creationId xmlns:a16="http://schemas.microsoft.com/office/drawing/2014/main" id="{096A083F-83D3-EA8D-4369-780E217A89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5841" y="5984799"/>
                <a:ext cx="72093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28">
            <a:extLst>
              <a:ext uri="{FF2B5EF4-FFF2-40B4-BE49-F238E27FC236}">
                <a16:creationId xmlns:a16="http://schemas.microsoft.com/office/drawing/2014/main" id="{DAD626BB-85E3-3151-D851-AE81D2BD3655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628650" y="4042957"/>
            <a:ext cx="4531071" cy="1931835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57">
                <a:extLst>
                  <a:ext uri="{FF2B5EF4-FFF2-40B4-BE49-F238E27FC236}">
                    <a16:creationId xmlns:a16="http://schemas.microsoft.com/office/drawing/2014/main" id="{BDFB2076-522A-B4B6-F37A-FD21D2EA2C32}"/>
                  </a:ext>
                </a:extLst>
              </p:cNvPr>
              <p:cNvSpPr txBox="1"/>
              <p:nvPr/>
            </p:nvSpPr>
            <p:spPr>
              <a:xfrm>
                <a:off x="3916222" y="5602433"/>
                <a:ext cx="846278" cy="4788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rgbClr val="0070C0"/>
                    </a:solidFill>
                  </a:rPr>
                  <a:t>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e-IL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dirty="0" smtClean="0">
                            <a:solidFill>
                              <a:srgbClr val="0070C0"/>
                            </a:solidFill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he-IL" sz="1600" dirty="0" smtClean="0">
                            <a:solidFill>
                              <a:srgbClr val="0070C0"/>
                            </a:solidFill>
                          </a:rPr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b="0" i="0" dirty="0" smtClean="0">
                            <a:solidFill>
                              <a:srgbClr val="0070C0"/>
                            </a:solidFill>
                          </a:rPr>
                          <m:t>5</m:t>
                        </m:r>
                        <m:r>
                          <m:rPr>
                            <m:nor/>
                          </m:rPr>
                          <a:rPr lang="he-IL" sz="1600" dirty="0" smtClean="0">
                            <a:solidFill>
                              <a:srgbClr val="0070C0"/>
                            </a:solidFill>
                          </a:rPr>
                          <m:t> </m:t>
                        </m:r>
                      </m:den>
                    </m:f>
                  </m:oMath>
                </a14:m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9" name="TextBox 57">
                <a:extLst>
                  <a:ext uri="{FF2B5EF4-FFF2-40B4-BE49-F238E27FC236}">
                    <a16:creationId xmlns:a16="http://schemas.microsoft.com/office/drawing/2014/main" id="{BDFB2076-522A-B4B6-F37A-FD21D2EA2C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6222" y="5602433"/>
                <a:ext cx="846278" cy="478849"/>
              </a:xfrm>
              <a:prstGeom prst="rect">
                <a:avLst/>
              </a:prstGeom>
              <a:blipFill>
                <a:blip r:embed="rId8"/>
                <a:stretch>
                  <a:fillRect b="-506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26">
                <a:extLst>
                  <a:ext uri="{FF2B5EF4-FFF2-40B4-BE49-F238E27FC236}">
                    <a16:creationId xmlns:a16="http://schemas.microsoft.com/office/drawing/2014/main" id="{A78F0051-B9D3-1676-3B8D-EC15C0D94FFB}"/>
                  </a:ext>
                </a:extLst>
              </p:cNvPr>
              <p:cNvSpPr/>
              <p:nvPr/>
            </p:nvSpPr>
            <p:spPr>
              <a:xfrm>
                <a:off x="117264" y="3938675"/>
                <a:ext cx="54886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rgbClr val="0070C0"/>
                          </a:solidFill>
                        </a:rPr>
                        <m:t>120</m:t>
                      </m:r>
                    </m:oMath>
                  </m:oMathPara>
                </a14:m>
                <a:endParaRPr lang="he-IL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0" name="Rectangle 26">
                <a:extLst>
                  <a:ext uri="{FF2B5EF4-FFF2-40B4-BE49-F238E27FC236}">
                    <a16:creationId xmlns:a16="http://schemas.microsoft.com/office/drawing/2014/main" id="{A78F0051-B9D3-1676-3B8D-EC15C0D94F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264" y="3938675"/>
                <a:ext cx="54886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6">
                <a:extLst>
                  <a:ext uri="{FF2B5EF4-FFF2-40B4-BE49-F238E27FC236}">
                    <a16:creationId xmlns:a16="http://schemas.microsoft.com/office/drawing/2014/main" id="{FD635238-3F7F-A758-9997-81D527A1FDB0}"/>
                  </a:ext>
                </a:extLst>
              </p:cNvPr>
              <p:cNvSpPr/>
              <p:nvPr/>
            </p:nvSpPr>
            <p:spPr>
              <a:xfrm>
                <a:off x="4736582" y="5974792"/>
                <a:ext cx="84627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rgbClr val="0070C0"/>
                          </a:solidFill>
                        </a:rPr>
                        <m:t>600</m:t>
                      </m:r>
                    </m:oMath>
                  </m:oMathPara>
                </a14:m>
                <a:endParaRPr lang="he-IL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1" name="Rectangle 26">
                <a:extLst>
                  <a:ext uri="{FF2B5EF4-FFF2-40B4-BE49-F238E27FC236}">
                    <a16:creationId xmlns:a16="http://schemas.microsoft.com/office/drawing/2014/main" id="{FD635238-3F7F-A758-9997-81D527A1FD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6582" y="5974792"/>
                <a:ext cx="846278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מלבן 24">
            <a:extLst>
              <a:ext uri="{FF2B5EF4-FFF2-40B4-BE49-F238E27FC236}">
                <a16:creationId xmlns:a16="http://schemas.microsoft.com/office/drawing/2014/main" id="{B542333C-16C8-4D48-1E61-DA1FE983BC35}"/>
              </a:ext>
            </a:extLst>
          </p:cNvPr>
          <p:cNvSpPr/>
          <p:nvPr/>
        </p:nvSpPr>
        <p:spPr>
          <a:xfrm>
            <a:off x="6248400" y="2413176"/>
            <a:ext cx="2286000" cy="244546"/>
          </a:xfrm>
          <a:prstGeom prst="rect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תיבת טקסט 25">
                <a:extLst>
                  <a:ext uri="{FF2B5EF4-FFF2-40B4-BE49-F238E27FC236}">
                    <a16:creationId xmlns:a16="http://schemas.microsoft.com/office/drawing/2014/main" id="{1FD624BD-2D50-9E9A-9D2B-1B3AC3021E6F}"/>
                  </a:ext>
                </a:extLst>
              </p:cNvPr>
              <p:cNvSpPr txBox="1"/>
              <p:nvPr/>
            </p:nvSpPr>
            <p:spPr>
              <a:xfrm>
                <a:off x="4818989" y="4805350"/>
                <a:ext cx="2667000" cy="10572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b="1" dirty="0">
                    <a:solidFill>
                      <a:srgbClr val="C00000"/>
                    </a:solidFill>
                  </a:rPr>
                  <a:t>Y=20 -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e-IL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r>
                  <a:rPr lang="en-US" b="1" dirty="0">
                    <a:solidFill>
                      <a:srgbClr val="C00000"/>
                    </a:solidFill>
                  </a:rPr>
                  <a:t> *(100)</a:t>
                </a:r>
                <a:r>
                  <a:rPr lang="en-US" dirty="0"/>
                  <a:t>=</a:t>
                </a:r>
                <a:r>
                  <a:rPr lang="en-US" b="1" dirty="0">
                    <a:solidFill>
                      <a:srgbClr val="C00000"/>
                    </a:solidFill>
                  </a:rPr>
                  <a:t>15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b="1" dirty="0">
                    <a:solidFill>
                      <a:srgbClr val="C00000"/>
                    </a:solidFill>
                  </a:rPr>
                  <a:t>(100,15)</a:t>
                </a:r>
                <a:endParaRPr lang="en-IL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6" name="תיבת טקסט 25">
                <a:extLst>
                  <a:ext uri="{FF2B5EF4-FFF2-40B4-BE49-F238E27FC236}">
                    <a16:creationId xmlns:a16="http://schemas.microsoft.com/office/drawing/2014/main" id="{1FD624BD-2D50-9E9A-9D2B-1B3AC3021E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8989" y="4805350"/>
                <a:ext cx="2667000" cy="1057212"/>
              </a:xfrm>
              <a:prstGeom prst="rect">
                <a:avLst/>
              </a:prstGeom>
              <a:blipFill>
                <a:blip r:embed="rId11"/>
                <a:stretch>
                  <a:fillRect r="-2059" b="-804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תיבת טקסט 26">
            <a:extLst>
              <a:ext uri="{FF2B5EF4-FFF2-40B4-BE49-F238E27FC236}">
                <a16:creationId xmlns:a16="http://schemas.microsoft.com/office/drawing/2014/main" id="{2F5D2646-DE82-F1BE-F6C7-31027D33EC6A}"/>
              </a:ext>
            </a:extLst>
          </p:cNvPr>
          <p:cNvSpPr txBox="1"/>
          <p:nvPr/>
        </p:nvSpPr>
        <p:spPr>
          <a:xfrm>
            <a:off x="443345" y="99228"/>
            <a:ext cx="3033497" cy="2966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he-IL" b="1" dirty="0">
                <a:solidFill>
                  <a:srgbClr val="C00000"/>
                </a:solidFill>
              </a:rPr>
              <a:t>כל העובדים מועסקים,</a:t>
            </a:r>
          </a:p>
          <a:p>
            <a:pPr algn="r" rtl="1">
              <a:lnSpc>
                <a:spcPct val="150000"/>
              </a:lnSpc>
            </a:pPr>
            <a:r>
              <a:rPr lang="he-IL" b="1" u="sng" dirty="0">
                <a:solidFill>
                  <a:schemeClr val="tx1">
                    <a:lumMod val="65000"/>
                    <a:lumOff val="35000"/>
                  </a:schemeClr>
                </a:solidFill>
              </a:rPr>
              <a:t>קיימת אבטלה מבנית</a:t>
            </a:r>
            <a:r>
              <a:rPr lang="he-IL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he-IL" b="1" dirty="0">
                <a:solidFill>
                  <a:srgbClr val="0070C0"/>
                </a:solidFill>
              </a:rPr>
              <a:t>של מכונות, מועסקות </a:t>
            </a:r>
            <a:r>
              <a:rPr lang="en-US" b="1" dirty="0">
                <a:solidFill>
                  <a:srgbClr val="0070C0"/>
                </a:solidFill>
              </a:rPr>
              <a:t>200</a:t>
            </a:r>
            <a:r>
              <a:rPr lang="he-IL" b="1" dirty="0">
                <a:solidFill>
                  <a:srgbClr val="0070C0"/>
                </a:solidFill>
              </a:rPr>
              <a:t> מכונות בייצור </a:t>
            </a:r>
            <a:r>
              <a:rPr lang="en-US" b="1" dirty="0">
                <a:solidFill>
                  <a:srgbClr val="0070C0"/>
                </a:solidFill>
              </a:rPr>
              <a:t>X</a:t>
            </a:r>
            <a:r>
              <a:rPr lang="he-IL" b="1" dirty="0">
                <a:solidFill>
                  <a:srgbClr val="0070C0"/>
                </a:solidFill>
              </a:rPr>
              <a:t> (100*2מכונות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he-IL" b="1" dirty="0">
                <a:solidFill>
                  <a:srgbClr val="0070C0"/>
                </a:solidFill>
              </a:rPr>
              <a:t>) ועוד 150 מכונות (15*10מכונות) כלומר 350 מכונות מועסקות מתוך 1200, </a:t>
            </a:r>
            <a:r>
              <a:rPr lang="he-IL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השאר 850 מכונות הן באבטלה.   </a:t>
            </a:r>
            <a:endParaRPr lang="en-US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1" name="תיבת טקסט 30">
            <a:extLst>
              <a:ext uri="{FF2B5EF4-FFF2-40B4-BE49-F238E27FC236}">
                <a16:creationId xmlns:a16="http://schemas.microsoft.com/office/drawing/2014/main" id="{71EDB77A-F0D6-2011-756B-5EFEF0FAB3B9}"/>
              </a:ext>
            </a:extLst>
          </p:cNvPr>
          <p:cNvSpPr txBox="1"/>
          <p:nvPr/>
        </p:nvSpPr>
        <p:spPr>
          <a:xfrm>
            <a:off x="2630432" y="6301360"/>
            <a:ext cx="6140197" cy="41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685800" rtl="1" eaLnBrk="1" fontAlgn="auto" latinLnBrk="0" hangingPunct="1">
              <a:lnSpc>
                <a:spcPct val="150000"/>
              </a:lnSpc>
              <a:spcBef>
                <a:spcPts val="75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4. כל העובדים מועסקים, אך יש 850 מכונות שאינן מנוצלות</a:t>
            </a:r>
            <a:endParaRPr kumimoji="0" lang="en-IL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mbria Math" panose="02040503050406030204" pitchFamily="18" charset="0"/>
              <a:ea typeface="Calibri" panose="020F0502020204030204" pitchFamily="34" charset="0"/>
              <a:cs typeface="David" panose="020E0502060401010101" pitchFamily="34" charset="-79"/>
            </a:endParaRPr>
          </a:p>
        </p:txBody>
      </p:sp>
      <p:sp>
        <p:nvSpPr>
          <p:cNvPr id="33" name="אליפסה 32">
            <a:extLst>
              <a:ext uri="{FF2B5EF4-FFF2-40B4-BE49-F238E27FC236}">
                <a16:creationId xmlns:a16="http://schemas.microsoft.com/office/drawing/2014/main" id="{4E901EAA-B503-1D98-BCAB-3AE7F71627F3}"/>
              </a:ext>
            </a:extLst>
          </p:cNvPr>
          <p:cNvSpPr/>
          <p:nvPr/>
        </p:nvSpPr>
        <p:spPr>
          <a:xfrm>
            <a:off x="1333538" y="5440007"/>
            <a:ext cx="237420" cy="29422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4" name="תיבת טקסט 33">
            <a:extLst>
              <a:ext uri="{FF2B5EF4-FFF2-40B4-BE49-F238E27FC236}">
                <a16:creationId xmlns:a16="http://schemas.microsoft.com/office/drawing/2014/main" id="{7E6EC2FD-45E5-0CF0-8BEB-76569FA97C24}"/>
              </a:ext>
            </a:extLst>
          </p:cNvPr>
          <p:cNvSpPr txBox="1"/>
          <p:nvPr/>
        </p:nvSpPr>
        <p:spPr>
          <a:xfrm>
            <a:off x="323850" y="4985699"/>
            <a:ext cx="2667000" cy="467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solidFill>
                  <a:srgbClr val="C00000"/>
                </a:solidFill>
              </a:rPr>
              <a:t>(100,15)</a:t>
            </a:r>
            <a:endParaRPr lang="en-IL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3197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2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8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1" grpId="0"/>
      <p:bldP spid="12" grpId="0"/>
      <p:bldP spid="19" grpId="0"/>
      <p:bldP spid="20" grpId="0"/>
      <p:bldP spid="21" grpId="0"/>
      <p:bldP spid="25" grpId="0" animBg="1"/>
      <p:bldP spid="26" grpId="0"/>
      <p:bldP spid="27" grpId="0"/>
      <p:bldP spid="31" grpId="0"/>
      <p:bldP spid="33" grpId="0" animBg="1"/>
      <p:bldP spid="3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4639"/>
            <a:ext cx="7848600" cy="604354"/>
          </a:xfrm>
        </p:spPr>
        <p:txBody>
          <a:bodyPr>
            <a:normAutofit fontScale="90000"/>
          </a:bodyPr>
          <a:lstStyle/>
          <a:p>
            <a:pPr algn="ctr" rtl="1"/>
            <a:r>
              <a:rPr lang="he-IL" dirty="0"/>
              <a:t>פתרון שאלה 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2499" y="566358"/>
            <a:ext cx="4343401" cy="2359202"/>
          </a:xfrm>
        </p:spPr>
        <p:txBody>
          <a:bodyPr>
            <a:normAutofit/>
          </a:bodyPr>
          <a:lstStyle/>
          <a:p>
            <a:pPr marL="0" indent="0" algn="r" rtl="1">
              <a:lnSpc>
                <a:spcPct val="150000"/>
              </a:lnSpc>
              <a:spcAft>
                <a:spcPts val="1000"/>
              </a:spcAft>
              <a:buNone/>
            </a:pPr>
            <a:r>
              <a:rPr lang="he-IL" sz="15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במשק 1,200 עובדים ו 1,200 מכונות. </a:t>
            </a:r>
          </a:p>
          <a:p>
            <a:pPr marL="0" indent="0" algn="r" rtl="1">
              <a:lnSpc>
                <a:spcPct val="150000"/>
              </a:lnSpc>
              <a:spcAft>
                <a:spcPts val="1000"/>
              </a:spcAft>
              <a:buNone/>
            </a:pPr>
            <a:r>
              <a:rPr lang="he-IL" sz="15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לייצור יחידה אחת של </a:t>
            </a:r>
            <a:r>
              <a:rPr lang="en-IL" sz="15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X</a:t>
            </a:r>
            <a:r>
              <a:rPr lang="he-IL" sz="15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r>
              <a:rPr lang="en-IL" sz="15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r>
              <a:rPr lang="he-IL" sz="15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נחוצים 3 עובדים ו 2 מכונות.</a:t>
            </a:r>
          </a:p>
          <a:p>
            <a:pPr marL="0" indent="0" algn="r" rtl="1">
              <a:lnSpc>
                <a:spcPct val="150000"/>
              </a:lnSpc>
              <a:spcAft>
                <a:spcPts val="1000"/>
              </a:spcAft>
              <a:buNone/>
            </a:pPr>
            <a:r>
              <a:rPr lang="he-IL" sz="15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לייצור יחידה אחת של </a:t>
            </a:r>
            <a:r>
              <a:rPr lang="en-IL" sz="15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Y</a:t>
            </a:r>
            <a:r>
              <a:rPr lang="he-IL" sz="15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r>
              <a:rPr lang="en-IL" sz="15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r>
              <a:rPr lang="he-IL" sz="15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נחוצים 60 עובדים ו 10 מכונות. </a:t>
            </a:r>
            <a:endParaRPr lang="en-US" sz="1500" dirty="0">
              <a:effectLst/>
              <a:latin typeface="Cambria Math" panose="020405030504060302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 algn="r" rtl="1">
              <a:lnSpc>
                <a:spcPct val="150000"/>
              </a:lnSpc>
              <a:spcAft>
                <a:spcPts val="1000"/>
              </a:spcAft>
              <a:buNone/>
            </a:pPr>
            <a:r>
              <a:rPr lang="he-IL" sz="15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ידוע שמייצרים 100 יחידות של </a:t>
            </a:r>
            <a:r>
              <a:rPr lang="en-IL" sz="15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X</a:t>
            </a:r>
            <a:r>
              <a:rPr lang="he-IL" sz="15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, מכאן:</a:t>
            </a:r>
            <a:endParaRPr lang="he-IL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29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4A9614E-74E3-825A-942F-AADCDFC2509E}"/>
              </a:ext>
            </a:extLst>
          </p:cNvPr>
          <p:cNvSpPr txBox="1">
            <a:spLocks/>
          </p:cNvSpPr>
          <p:nvPr/>
        </p:nvSpPr>
        <p:spPr>
          <a:xfrm>
            <a:off x="-53445" y="4118257"/>
            <a:ext cx="8568795" cy="2718961"/>
          </a:xfrm>
          <a:prstGeom prst="rect">
            <a:avLst/>
          </a:prstGeom>
        </p:spPr>
        <p:txBody>
          <a:bodyPr vert="horz" lIns="91440" tIns="45720" rIns="91440" bIns="45720" rtlCol="1">
            <a:noAutofit/>
          </a:bodyPr>
          <a:lstStyle>
            <a:lvl1pPr marL="171450" indent="-171450" algn="r" defTabSz="685800" rtl="1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r" defTabSz="685800" rtl="1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r" defTabSz="685800" rtl="1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r" defTabSz="685800" rtl="1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r" defTabSz="685800" rtl="1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r" defTabSz="685800" rtl="1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r" defTabSz="685800" rtl="1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r" defTabSz="685800" rtl="1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r" defTabSz="685800" rtl="1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None/>
            </a:pPr>
            <a:r>
              <a:rPr lang="he-IL" sz="1600" dirty="0"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</a:t>
            </a:r>
            <a:r>
              <a:rPr lang="he-IL" sz="1400" dirty="0"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. העלות האלטרנטיבית השולית בייצור </a:t>
            </a:r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X</a:t>
            </a:r>
            <a:r>
              <a:rPr lang="he-IL" sz="1400" dirty="0"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r>
              <a:rPr lang="he-IL" sz="1400" dirty="0"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היא 20 והעלות האלטרנטיבית הממוצעת בייצור </a:t>
            </a:r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X</a:t>
            </a:r>
            <a:r>
              <a:rPr lang="he-IL" sz="1400" dirty="0"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r>
              <a:rPr lang="he-IL" sz="1400" dirty="0"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היא 0.05</a:t>
            </a:r>
            <a:endParaRPr lang="en-IL" sz="1400" dirty="0">
              <a:latin typeface="Cambria Math" panose="02040503050406030204" pitchFamily="18" charset="0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marL="0" indent="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None/>
            </a:pPr>
            <a:r>
              <a:rPr lang="he-IL" sz="1400" dirty="0"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2. העלות האלטרנטיבית השולית בייצור </a:t>
            </a:r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Y</a:t>
            </a:r>
            <a:r>
              <a:rPr lang="he-IL" sz="1400" dirty="0"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r>
              <a:rPr lang="he-IL" sz="1400" dirty="0"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היא 60 והעלות האלטרנטיבית הכוללת בייצור </a:t>
            </a:r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Y</a:t>
            </a:r>
            <a:r>
              <a:rPr lang="he-IL" sz="1400" dirty="0"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r>
              <a:rPr lang="he-IL" sz="1400" dirty="0"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היא 200</a:t>
            </a:r>
            <a:endParaRPr lang="en-IL" sz="1400" dirty="0">
              <a:latin typeface="Cambria Math" panose="02040503050406030204" pitchFamily="18" charset="0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marL="0" indent="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None/>
            </a:pPr>
            <a:r>
              <a:rPr lang="he-IL" sz="1400" dirty="0"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3. העלות האלטרנטיבית השולית בייצור </a:t>
            </a:r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Y</a:t>
            </a:r>
            <a:r>
              <a:rPr lang="he-IL" sz="1400" dirty="0"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r>
              <a:rPr lang="he-IL" sz="1400" dirty="0"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היא 20 והעלות האלטרנטיבית הכוללת בייצור </a:t>
            </a:r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Y</a:t>
            </a:r>
            <a:r>
              <a:rPr lang="he-IL" sz="1400" dirty="0"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r>
              <a:rPr lang="he-IL" sz="1400" dirty="0"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היא 300</a:t>
            </a:r>
            <a:endParaRPr lang="en-IL" sz="1400" dirty="0">
              <a:latin typeface="Cambria Math" panose="02040503050406030204" pitchFamily="18" charset="0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marL="0" indent="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None/>
            </a:pPr>
            <a:r>
              <a:rPr lang="he-IL" sz="1400" dirty="0"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4. העלות האלטרנטיבית השולית בייצור </a:t>
            </a:r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X</a:t>
            </a:r>
            <a:r>
              <a:rPr lang="he-IL" sz="1400" dirty="0"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r>
              <a:rPr lang="he-IL" sz="1400" dirty="0"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היא 0.05 והעלות האלטרנטיבית הכוללת בייצור </a:t>
            </a:r>
            <a:r>
              <a:rPr lang="en-US" sz="1400" dirty="0"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X</a:t>
            </a:r>
            <a:r>
              <a:rPr lang="he-IL" sz="1400" dirty="0"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r>
              <a:rPr lang="he-IL" sz="1400" dirty="0"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היא 115</a:t>
            </a:r>
            <a:endParaRPr lang="en-IL" sz="1400" dirty="0">
              <a:latin typeface="Cambria Math" panose="02040503050406030204" pitchFamily="18" charset="0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marL="0" indent="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None/>
            </a:pPr>
            <a:r>
              <a:rPr lang="he-IL" sz="1400" dirty="0"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5. כל התשובות האחרות אינן נכונות</a:t>
            </a:r>
            <a:endParaRPr lang="en-IL" sz="1400" dirty="0">
              <a:latin typeface="Cambria Math" panose="02040503050406030204" pitchFamily="18" charset="0"/>
              <a:ea typeface="Calibri" panose="020F0502020204030204" pitchFamily="34" charset="0"/>
              <a:cs typeface="David" panose="020E0502060401010101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טבלה 5">
                <a:extLst>
                  <a:ext uri="{FF2B5EF4-FFF2-40B4-BE49-F238E27FC236}">
                    <a16:creationId xmlns:a16="http://schemas.microsoft.com/office/drawing/2014/main" id="{0ADE917E-D4E4-CE8C-97E0-BAE61048EC4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28650" y="2101931"/>
              <a:ext cx="5259560" cy="2096707"/>
            </p:xfrm>
            <a:graphic>
              <a:graphicData uri="http://schemas.openxmlformats.org/drawingml/2006/table">
                <a:tbl>
                  <a:tblPr rtl="1" firstRow="1" bandRow="1">
                    <a:tableStyleId>{5940675A-B579-460E-94D1-54222C63F5DA}</a:tableStyleId>
                  </a:tblPr>
                  <a:tblGrid>
                    <a:gridCol w="6959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7328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1196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875730">
                      <a:extLst>
                        <a:ext uri="{9D8B030D-6E8A-4147-A177-3AD203B41FA5}">
                          <a16:colId xmlns:a16="http://schemas.microsoft.com/office/drawing/2014/main" val="729882449"/>
                        </a:ext>
                      </a:extLst>
                    </a:gridCol>
                    <a:gridCol w="1075184">
                      <a:extLst>
                        <a:ext uri="{9D8B030D-6E8A-4147-A177-3AD203B41FA5}">
                          <a16:colId xmlns:a16="http://schemas.microsoft.com/office/drawing/2014/main" val="1582318644"/>
                        </a:ext>
                      </a:extLst>
                    </a:gridCol>
                    <a:gridCol w="122744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14899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b="1" dirty="0"/>
                            <a:t>גורם ייצור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dirty="0"/>
                            <a:t>כמות גו''י</a:t>
                          </a:r>
                          <a:r>
                            <a:rPr lang="he-IL" baseline="0" dirty="0"/>
                            <a:t> 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600" dirty="0"/>
                            <a:t>כמות </a:t>
                          </a:r>
                          <a:r>
                            <a:rPr lang="en-US" sz="1600" dirty="0"/>
                            <a:t>X</a:t>
                          </a:r>
                          <a:endParaRPr lang="he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he-IL" sz="1600" dirty="0"/>
                            <a:t>כמות</a:t>
                          </a:r>
                          <a:endParaRPr lang="en-US" sz="1600" dirty="0"/>
                        </a:p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he-IL" sz="1600" dirty="0"/>
                            <a:t> </a:t>
                          </a:r>
                          <a:r>
                            <a:rPr lang="en-US" sz="1600" dirty="0"/>
                            <a:t>Y</a:t>
                          </a:r>
                          <a:endParaRPr lang="he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600" dirty="0"/>
                            <a:t>ע.א.ש</a:t>
                          </a:r>
                          <a:r>
                            <a:rPr lang="en-US" sz="1600" dirty="0"/>
                            <a:t> </a:t>
                          </a:r>
                          <a:r>
                            <a:rPr lang="he-IL" sz="1600" dirty="0"/>
                            <a:t>ל-</a:t>
                          </a:r>
                          <a:r>
                            <a:rPr lang="en-US" sz="1600" dirty="0"/>
                            <a:t> X</a:t>
                          </a:r>
                        </a:p>
                        <a:p>
                          <a:pPr algn="ctr"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he-IL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num>
                                  <m:den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400" dirty="0" err="1"/>
                            <a:t>ע.א.ש</a:t>
                          </a:r>
                          <a:r>
                            <a:rPr lang="he-IL" sz="1400" dirty="0"/>
                            <a:t> לייצור </a:t>
                          </a:r>
                          <a:r>
                            <a:rPr lang="en-US" sz="1400" dirty="0"/>
                            <a:t>Y</a:t>
                          </a:r>
                          <a:endParaRPr lang="he-IL" sz="1400" dirty="0"/>
                        </a:p>
                        <a:p>
                          <a:pPr algn="ctr"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he-IL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he-I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1140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b="1" dirty="0">
                              <a:solidFill>
                                <a:srgbClr val="C00000"/>
                              </a:solidFill>
                            </a:rPr>
                            <a:t>עובדים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sz="1600" dirty="0">
                              <a:solidFill>
                                <a:srgbClr val="C00000"/>
                              </a:solidFill>
                            </a:rPr>
                            <a:t>1200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1600" dirty="0">
                              <a:solidFill>
                                <a:srgbClr val="C00000"/>
                              </a:solidFill>
                            </a:rPr>
                            <a:t>400</a:t>
                          </a:r>
                          <a:endParaRPr lang="he-IL" sz="16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1600" dirty="0">
                              <a:solidFill>
                                <a:srgbClr val="FF0000"/>
                              </a:solidFill>
                            </a:rPr>
                            <a:t>20</a:t>
                          </a:r>
                          <a:endParaRPr lang="he-IL" sz="16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rtl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he-IL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num>
                                  <m:den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400</m:t>
                                    </m:r>
                                  </m:den>
                                </m:f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he-IL" sz="160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6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he-IL" sz="16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1600" dirty="0">
                              <a:solidFill>
                                <a:srgbClr val="FF0000"/>
                              </a:solidFill>
                            </a:rPr>
                            <a:t>20</a:t>
                          </a:r>
                          <a:endParaRPr lang="he-IL" sz="16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48215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b="1" dirty="0">
                              <a:solidFill>
                                <a:srgbClr val="0070C0"/>
                              </a:solidFill>
                            </a:rPr>
                            <a:t>מכונות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sz="1600" dirty="0">
                              <a:solidFill>
                                <a:srgbClr val="0070C0"/>
                              </a:solidFill>
                            </a:rPr>
                            <a:t>1200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1600" dirty="0">
                              <a:solidFill>
                                <a:srgbClr val="0070C0"/>
                              </a:solidFill>
                            </a:rPr>
                            <a:t>600</a:t>
                          </a:r>
                          <a:endParaRPr lang="he-IL" sz="160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1600" dirty="0">
                              <a:solidFill>
                                <a:srgbClr val="0070C0"/>
                              </a:solidFill>
                            </a:rPr>
                            <a:t>120</a:t>
                          </a:r>
                          <a:endParaRPr lang="he-IL" sz="160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he-IL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sz="1600" dirty="0" smtClean="0">
                                        <a:solidFill>
                                          <a:srgbClr val="0070C0"/>
                                        </a:solidFill>
                                      </a:rPr>
                                      <m:t>120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he-IL" sz="1600" dirty="0" smtClean="0">
                                        <a:solidFill>
                                          <a:srgbClr val="0070C0"/>
                                        </a:solidFill>
                                      </a:rPr>
                                      <m:t> 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1600" dirty="0" smtClean="0">
                                        <a:solidFill>
                                          <a:srgbClr val="0070C0"/>
                                        </a:solidFill>
                                      </a:rPr>
                                      <m:t>600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he-IL" sz="1600" dirty="0" smtClean="0">
                                        <a:solidFill>
                                          <a:srgbClr val="0070C0"/>
                                        </a:solidFill>
                                      </a:rPr>
                                      <m:t> </m:t>
                                    </m:r>
                                  </m:den>
                                </m:f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he-IL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en-US" sz="1600" dirty="0" smtClean="0">
                                        <a:solidFill>
                                          <a:srgbClr val="0070C0"/>
                                        </a:solidFill>
                                      </a:rPr>
                                      <m:t>1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he-IL" sz="1600" dirty="0" smtClean="0">
                                        <a:solidFill>
                                          <a:srgbClr val="0070C0"/>
                                        </a:solidFill>
                                      </a:rPr>
                                      <m:t> </m:t>
                                    </m:r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en-US" sz="1600" b="0" i="0" dirty="0" smtClean="0">
                                        <a:solidFill>
                                          <a:srgbClr val="0070C0"/>
                                        </a:solidFill>
                                      </a:rPr>
                                      <m:t>5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he-IL" sz="1600" dirty="0" smtClean="0">
                                        <a:solidFill>
                                          <a:srgbClr val="0070C0"/>
                                        </a:solidFill>
                                      </a:rPr>
                                      <m:t> 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he-IL" sz="160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1600" dirty="0">
                              <a:solidFill>
                                <a:srgbClr val="0070C0"/>
                              </a:solidFill>
                            </a:rPr>
                            <a:t>5</a:t>
                          </a:r>
                          <a:endParaRPr lang="he-IL" sz="160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טבלה 5">
                <a:extLst>
                  <a:ext uri="{FF2B5EF4-FFF2-40B4-BE49-F238E27FC236}">
                    <a16:creationId xmlns:a16="http://schemas.microsoft.com/office/drawing/2014/main" id="{0ADE917E-D4E4-CE8C-97E0-BAE61048EC4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62413080"/>
                  </p:ext>
                </p:extLst>
              </p:nvPr>
            </p:nvGraphicFramePr>
            <p:xfrm>
              <a:off x="628650" y="2101931"/>
              <a:ext cx="5259560" cy="1831106"/>
            </p:xfrm>
            <a:graphic>
              <a:graphicData uri="http://schemas.openxmlformats.org/drawingml/2006/table">
                <a:tbl>
                  <a:tblPr rtl="1" firstRow="1" bandRow="1">
                    <a:tableStyleId>{5940675A-B579-460E-94D1-54222C63F5DA}</a:tableStyleId>
                  </a:tblPr>
                  <a:tblGrid>
                    <a:gridCol w="6959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7328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1196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875730">
                      <a:extLst>
                        <a:ext uri="{9D8B030D-6E8A-4147-A177-3AD203B41FA5}">
                          <a16:colId xmlns:a16="http://schemas.microsoft.com/office/drawing/2014/main" val="729882449"/>
                        </a:ext>
                      </a:extLst>
                    </a:gridCol>
                    <a:gridCol w="1075184">
                      <a:extLst>
                        <a:ext uri="{9D8B030D-6E8A-4147-A177-3AD203B41FA5}">
                          <a16:colId xmlns:a16="http://schemas.microsoft.com/office/drawing/2014/main" val="1582318644"/>
                        </a:ext>
                      </a:extLst>
                    </a:gridCol>
                    <a:gridCol w="122744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733298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b="1" dirty="0"/>
                            <a:t>גורם ייצור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dirty="0"/>
                            <a:t>כמות גו''י</a:t>
                          </a:r>
                          <a:r>
                            <a:rPr lang="he-IL" baseline="0" dirty="0"/>
                            <a:t> </a:t>
                          </a:r>
                          <a:endParaRPr lang="he-I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sz="1600" dirty="0"/>
                            <a:t>כמות </a:t>
                          </a:r>
                          <a:r>
                            <a:rPr lang="en-US" sz="1600" dirty="0"/>
                            <a:t>X</a:t>
                          </a:r>
                          <a:endParaRPr lang="he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he-IL" sz="1600" dirty="0"/>
                            <a:t>כמות</a:t>
                          </a:r>
                          <a:endParaRPr lang="en-US" sz="1600" dirty="0"/>
                        </a:p>
                        <a:p>
                          <a:pPr marL="0" marR="0" lvl="0" indent="0" algn="ctr" defTabSz="914400" rtl="1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he-IL" sz="1600" dirty="0"/>
                            <a:t> </a:t>
                          </a:r>
                          <a:r>
                            <a:rPr lang="en-US" sz="1600" dirty="0"/>
                            <a:t>Y</a:t>
                          </a:r>
                          <a:endParaRPr lang="he-IL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274576" t="-2479" r="-114689" b="-1512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>
                        <a:blipFill>
                          <a:blip r:embed="rId2"/>
                          <a:stretch>
                            <a:fillRect l="-329851" t="-2479" r="-995" b="-1512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49593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b="1" dirty="0">
                              <a:solidFill>
                                <a:srgbClr val="C00000"/>
                              </a:solidFill>
                            </a:rPr>
                            <a:t>עובדים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sz="1600" dirty="0">
                              <a:solidFill>
                                <a:srgbClr val="C00000"/>
                              </a:solidFill>
                            </a:rPr>
                            <a:t>1200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1600" dirty="0">
                              <a:solidFill>
                                <a:srgbClr val="C00000"/>
                              </a:solidFill>
                            </a:rPr>
                            <a:t>400</a:t>
                          </a:r>
                          <a:endParaRPr lang="he-IL" sz="160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1600" dirty="0">
                              <a:solidFill>
                                <a:srgbClr val="FF0000"/>
                              </a:solidFill>
                            </a:rPr>
                            <a:t>20</a:t>
                          </a:r>
                          <a:endParaRPr lang="he-IL" sz="16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4576" t="-136264" r="-114689" b="-10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1600" dirty="0">
                              <a:solidFill>
                                <a:srgbClr val="FF0000"/>
                              </a:solidFill>
                            </a:rPr>
                            <a:t>20</a:t>
                          </a:r>
                          <a:endParaRPr lang="he-IL" sz="1600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48215"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b="1" dirty="0">
                              <a:solidFill>
                                <a:srgbClr val="0070C0"/>
                              </a:solidFill>
                            </a:rPr>
                            <a:t>מכונות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r" rtl="1"/>
                          <a:r>
                            <a:rPr lang="he-IL" sz="1600" dirty="0">
                              <a:solidFill>
                                <a:srgbClr val="0070C0"/>
                              </a:solidFill>
                            </a:rPr>
                            <a:t>1200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1600" dirty="0">
                              <a:solidFill>
                                <a:srgbClr val="0070C0"/>
                              </a:solidFill>
                            </a:rPr>
                            <a:t>600</a:t>
                          </a:r>
                          <a:endParaRPr lang="he-IL" sz="160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1600" dirty="0">
                              <a:solidFill>
                                <a:srgbClr val="0070C0"/>
                              </a:solidFill>
                            </a:rPr>
                            <a:t>120</a:t>
                          </a:r>
                          <a:endParaRPr lang="he-IL" sz="160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IL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74576" t="-238889" r="-114689" b="-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en-US" sz="1600" dirty="0">
                              <a:solidFill>
                                <a:srgbClr val="0070C0"/>
                              </a:solidFill>
                            </a:rPr>
                            <a:t>5</a:t>
                          </a:r>
                          <a:endParaRPr lang="he-IL" sz="1600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34138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FD2F622-CD4B-3269-F1E0-E1423EAEA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4639"/>
            <a:ext cx="7848600" cy="604354"/>
          </a:xfrm>
        </p:spPr>
        <p:txBody>
          <a:bodyPr>
            <a:normAutofit fontScale="90000"/>
          </a:bodyPr>
          <a:lstStyle/>
          <a:p>
            <a:pPr algn="ctr"/>
            <a:r>
              <a:rPr lang="he-IL" dirty="0">
                <a:cs typeface="+mn-cs"/>
              </a:rPr>
              <a:t>שאלה 5</a:t>
            </a:r>
            <a:endParaRPr lang="en-US" dirty="0"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A51B09E-7D73-1277-32A2-06E15085C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102" y="3840516"/>
            <a:ext cx="8568795" cy="2718961"/>
          </a:xfrm>
        </p:spPr>
        <p:txBody>
          <a:bodyPr>
            <a:noAutofit/>
          </a:bodyPr>
          <a:lstStyle/>
          <a:p>
            <a:pPr marL="0" indent="0" algn="r" rtl="1">
              <a:lnSpc>
                <a:spcPct val="150000"/>
              </a:lnSpc>
              <a:spcAft>
                <a:spcPts val="1000"/>
              </a:spcAft>
              <a:buNone/>
            </a:pPr>
            <a:r>
              <a:rPr lang="he-IL" sz="16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1. העלות האלטרנטיבית השולית בייצור </a:t>
            </a:r>
            <a:r>
              <a:rPr lang="en-US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X</a:t>
            </a:r>
            <a:r>
              <a:rPr lang="he-IL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r>
              <a:rPr lang="he-IL" sz="16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היא 20 והעלות האלטרנטיבית הממוצעת בייצור </a:t>
            </a:r>
            <a:r>
              <a:rPr lang="en-US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X</a:t>
            </a:r>
            <a:r>
              <a:rPr lang="he-IL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r>
              <a:rPr lang="he-IL" sz="16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היא 0.05</a:t>
            </a:r>
            <a:endParaRPr lang="en-IL" sz="1600" dirty="0">
              <a:effectLst/>
              <a:latin typeface="Cambria Math" panose="02040503050406030204" pitchFamily="18" charset="0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marL="0" indent="0" algn="r" rtl="1">
              <a:lnSpc>
                <a:spcPct val="150000"/>
              </a:lnSpc>
              <a:spcAft>
                <a:spcPts val="1000"/>
              </a:spcAft>
              <a:buNone/>
            </a:pPr>
            <a:r>
              <a:rPr lang="he-IL" sz="16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2. העלות האלטרנטיבית השולית בייצור </a:t>
            </a:r>
            <a:r>
              <a:rPr lang="en-US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Y</a:t>
            </a:r>
            <a:r>
              <a:rPr lang="he-IL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r>
              <a:rPr lang="he-IL" sz="16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היא 60 והעלות האלטרנטיבית הכוללת בייצור </a:t>
            </a:r>
            <a:r>
              <a:rPr lang="en-US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Y</a:t>
            </a:r>
            <a:r>
              <a:rPr lang="he-IL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r>
              <a:rPr lang="he-IL" sz="16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היא 200</a:t>
            </a:r>
            <a:endParaRPr lang="en-IL" sz="1600" dirty="0">
              <a:effectLst/>
              <a:latin typeface="Cambria Math" panose="02040503050406030204" pitchFamily="18" charset="0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marL="0" indent="0" algn="r" rtl="1">
              <a:lnSpc>
                <a:spcPct val="150000"/>
              </a:lnSpc>
              <a:spcAft>
                <a:spcPts val="1000"/>
              </a:spcAft>
              <a:buNone/>
            </a:pPr>
            <a:r>
              <a:rPr lang="he-IL" sz="16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3</a:t>
            </a:r>
            <a:r>
              <a:rPr lang="he-IL" sz="1600" dirty="0">
                <a:effectLst/>
                <a:highlight>
                  <a:srgbClr val="FFFF00"/>
                </a:highlight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. העלות האלטרנטיבית השולית בייצור </a:t>
            </a:r>
            <a:r>
              <a:rPr lang="en-US" sz="16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Y</a:t>
            </a:r>
            <a:r>
              <a:rPr lang="he-IL" sz="16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r>
              <a:rPr lang="he-IL" sz="1600" dirty="0">
                <a:effectLst/>
                <a:highlight>
                  <a:srgbClr val="FFFF00"/>
                </a:highlight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היא 20 והעלות האלטרנטיבית הכוללת בייצור </a:t>
            </a:r>
            <a:r>
              <a:rPr lang="en-US" sz="16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Y</a:t>
            </a:r>
            <a:r>
              <a:rPr lang="he-IL" sz="1600" dirty="0">
                <a:effectLst/>
                <a:highlight>
                  <a:srgbClr val="FFFF00"/>
                </a:highlight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r>
              <a:rPr lang="he-IL" sz="1600" dirty="0">
                <a:effectLst/>
                <a:highlight>
                  <a:srgbClr val="FFFF00"/>
                </a:highlight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היא 300</a:t>
            </a:r>
            <a:endParaRPr lang="en-IL" sz="1600" dirty="0">
              <a:effectLst/>
              <a:highlight>
                <a:srgbClr val="FFFF00"/>
              </a:highlight>
              <a:latin typeface="Cambria Math" panose="02040503050406030204" pitchFamily="18" charset="0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marL="0" indent="0" algn="r" rtl="1">
              <a:lnSpc>
                <a:spcPct val="150000"/>
              </a:lnSpc>
              <a:spcAft>
                <a:spcPts val="1000"/>
              </a:spcAft>
              <a:buNone/>
            </a:pPr>
            <a:r>
              <a:rPr lang="he-IL" sz="16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4. העלות האלטרנטיבית השולית בייצור </a:t>
            </a:r>
            <a:r>
              <a:rPr lang="en-US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X</a:t>
            </a:r>
            <a:r>
              <a:rPr lang="he-IL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r>
              <a:rPr lang="en-US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r>
              <a:rPr lang="he-IL" sz="16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היא 0.05 והעלות האלטרנטיבית הכוללת בייצור </a:t>
            </a:r>
            <a:r>
              <a:rPr lang="en-US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X</a:t>
            </a:r>
            <a:r>
              <a:rPr lang="he-IL" sz="16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 </a:t>
            </a:r>
            <a:r>
              <a:rPr lang="he-IL" sz="16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היא 115</a:t>
            </a:r>
            <a:endParaRPr lang="en-IL" sz="1600" dirty="0">
              <a:effectLst/>
              <a:latin typeface="Cambria Math" panose="02040503050406030204" pitchFamily="18" charset="0"/>
              <a:ea typeface="Calibri" panose="020F0502020204030204" pitchFamily="34" charset="0"/>
              <a:cs typeface="David" panose="020E0502060401010101" pitchFamily="34" charset="-79"/>
            </a:endParaRPr>
          </a:p>
          <a:p>
            <a:pPr marL="0" indent="0" algn="r" rtl="1">
              <a:lnSpc>
                <a:spcPct val="150000"/>
              </a:lnSpc>
              <a:spcAft>
                <a:spcPts val="1000"/>
              </a:spcAft>
              <a:buNone/>
            </a:pPr>
            <a:r>
              <a:rPr lang="he-IL" sz="16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5. כל התשובות האחרות אינן נכונות</a:t>
            </a:r>
            <a:endParaRPr lang="en-IL" sz="1600" dirty="0">
              <a:effectLst/>
              <a:latin typeface="Cambria Math" panose="02040503050406030204" pitchFamily="18" charset="0"/>
              <a:ea typeface="Calibri" panose="020F0502020204030204" pitchFamily="34" charset="0"/>
              <a:cs typeface="David" panose="020E0502060401010101" pitchFamily="34" charset="-79"/>
            </a:endParaRPr>
          </a:p>
        </p:txBody>
      </p:sp>
      <p:sp>
        <p:nvSpPr>
          <p:cNvPr id="3" name="מציין מיקום של מספר שקופית 2">
            <a:extLst>
              <a:ext uri="{FF2B5EF4-FFF2-40B4-BE49-F238E27FC236}">
                <a16:creationId xmlns:a16="http://schemas.microsoft.com/office/drawing/2014/main" id="{30059E28-2552-144E-16AB-11E34828B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4AF92-42DA-4C17-AB33-95A624A1878D}" type="slidenum">
              <a:rPr lang="en-US" smtClean="0"/>
              <a:t>30</a:t>
            </a:fld>
            <a:endParaRPr lang="en-US"/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2E67853D-FB7B-CAD8-6BDA-5960E5FE57EB}"/>
              </a:ext>
            </a:extLst>
          </p:cNvPr>
          <p:cNvSpPr txBox="1"/>
          <p:nvPr/>
        </p:nvSpPr>
        <p:spPr>
          <a:xfrm>
            <a:off x="4343400" y="811925"/>
            <a:ext cx="4572000" cy="1021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  <a:spcAft>
                <a:spcPts val="1000"/>
              </a:spcAft>
            </a:pPr>
            <a:r>
              <a:rPr lang="he-IL" sz="14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במשק 1,200 עובדים ו 1,200 מכונות. לייצור יחידה אחת של 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X </a:t>
            </a:r>
            <a:r>
              <a:rPr lang="he-IL" sz="14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נחוצים 3 עובדים ו 2 מכונות. לייצור יחידה אחת של 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Y </a:t>
            </a:r>
            <a:r>
              <a:rPr lang="he-IL" sz="14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נחוצים 60 עובדים ו 10 מכונות. ידוע שמייצרים 100 יחידות של </a:t>
            </a:r>
            <a:r>
              <a:rPr lang="en-US" sz="14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David" panose="020E0502060401010101" pitchFamily="34" charset="-79"/>
              </a:rPr>
              <a:t>X</a:t>
            </a:r>
            <a:r>
              <a:rPr lang="he-IL" sz="1400" dirty="0">
                <a:effectLst/>
                <a:latin typeface="Cambria Math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, מכאן</a:t>
            </a:r>
            <a:endParaRPr lang="en-IL" sz="1400" dirty="0">
              <a:effectLst/>
              <a:latin typeface="Cambria Math" panose="02040503050406030204" pitchFamily="18" charset="0"/>
              <a:ea typeface="Calibri" panose="020F0502020204030204" pitchFamily="34" charset="0"/>
              <a:cs typeface="David" panose="020E0502060401010101" pitchFamily="34" charset="-79"/>
            </a:endParaRPr>
          </a:p>
        </p:txBody>
      </p:sp>
      <p:cxnSp>
        <p:nvCxnSpPr>
          <p:cNvPr id="2" name="Straight Arrow Connector 39">
            <a:extLst>
              <a:ext uri="{FF2B5EF4-FFF2-40B4-BE49-F238E27FC236}">
                <a16:creationId xmlns:a16="http://schemas.microsoft.com/office/drawing/2014/main" id="{2B24AB7D-CE69-7ADE-AAE2-3689AE466545}"/>
              </a:ext>
            </a:extLst>
          </p:cNvPr>
          <p:cNvCxnSpPr>
            <a:cxnSpLocks/>
          </p:cNvCxnSpPr>
          <p:nvPr/>
        </p:nvCxnSpPr>
        <p:spPr>
          <a:xfrm>
            <a:off x="628650" y="3283155"/>
            <a:ext cx="41338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41">
            <a:extLst>
              <a:ext uri="{FF2B5EF4-FFF2-40B4-BE49-F238E27FC236}">
                <a16:creationId xmlns:a16="http://schemas.microsoft.com/office/drawing/2014/main" id="{2FCB5A14-0343-A3AF-ED4B-FF9E9EDDAFE1}"/>
              </a:ext>
            </a:extLst>
          </p:cNvPr>
          <p:cNvCxnSpPr>
            <a:cxnSpLocks/>
          </p:cNvCxnSpPr>
          <p:nvPr/>
        </p:nvCxnSpPr>
        <p:spPr>
          <a:xfrm flipV="1">
            <a:off x="628650" y="2057400"/>
            <a:ext cx="0" cy="12257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45">
                <a:extLst>
                  <a:ext uri="{FF2B5EF4-FFF2-40B4-BE49-F238E27FC236}">
                    <a16:creationId xmlns:a16="http://schemas.microsoft.com/office/drawing/2014/main" id="{A3C6D1DB-86FB-BC18-F664-9F9DD30CC537}"/>
                  </a:ext>
                </a:extLst>
              </p:cNvPr>
              <p:cNvSpPr/>
              <p:nvPr/>
            </p:nvSpPr>
            <p:spPr>
              <a:xfrm>
                <a:off x="4527645" y="3140932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X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45">
                <a:extLst>
                  <a:ext uri="{FF2B5EF4-FFF2-40B4-BE49-F238E27FC236}">
                    <a16:creationId xmlns:a16="http://schemas.microsoft.com/office/drawing/2014/main" id="{A3C6D1DB-86FB-BC18-F664-9F9DD30CC5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7645" y="3140932"/>
                <a:ext cx="1028037" cy="3385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46">
                <a:extLst>
                  <a:ext uri="{FF2B5EF4-FFF2-40B4-BE49-F238E27FC236}">
                    <a16:creationId xmlns:a16="http://schemas.microsoft.com/office/drawing/2014/main" id="{55E54CF4-A4CA-F71C-678E-387351DC9A08}"/>
                  </a:ext>
                </a:extLst>
              </p:cNvPr>
              <p:cNvSpPr/>
              <p:nvPr/>
            </p:nvSpPr>
            <p:spPr>
              <a:xfrm>
                <a:off x="146960" y="1664531"/>
                <a:ext cx="102803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Rectangle 46">
                <a:extLst>
                  <a:ext uri="{FF2B5EF4-FFF2-40B4-BE49-F238E27FC236}">
                    <a16:creationId xmlns:a16="http://schemas.microsoft.com/office/drawing/2014/main" id="{55E54CF4-A4CA-F71C-678E-387351DC9A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960" y="1664531"/>
                <a:ext cx="1028037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44">
            <a:extLst>
              <a:ext uri="{FF2B5EF4-FFF2-40B4-BE49-F238E27FC236}">
                <a16:creationId xmlns:a16="http://schemas.microsoft.com/office/drawing/2014/main" id="{52B1D1F0-68B5-8EC2-1DE6-D2AFB79C9798}"/>
              </a:ext>
            </a:extLst>
          </p:cNvPr>
          <p:cNvCxnSpPr>
            <a:cxnSpLocks/>
          </p:cNvCxnSpPr>
          <p:nvPr/>
        </p:nvCxnSpPr>
        <p:spPr>
          <a:xfrm>
            <a:off x="628649" y="2693824"/>
            <a:ext cx="3395747" cy="589331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23">
                <a:extLst>
                  <a:ext uri="{FF2B5EF4-FFF2-40B4-BE49-F238E27FC236}">
                    <a16:creationId xmlns:a16="http://schemas.microsoft.com/office/drawing/2014/main" id="{4AD7CF9B-5E36-5B27-1BA8-101E746539F1}"/>
                  </a:ext>
                </a:extLst>
              </p:cNvPr>
              <p:cNvSpPr txBox="1"/>
              <p:nvPr/>
            </p:nvSpPr>
            <p:spPr>
              <a:xfrm>
                <a:off x="1820757" y="2964922"/>
                <a:ext cx="846278" cy="5145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sz="1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he-IL" sz="14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1" name="TextBox 23">
                <a:extLst>
                  <a:ext uri="{FF2B5EF4-FFF2-40B4-BE49-F238E27FC236}">
                    <a16:creationId xmlns:a16="http://schemas.microsoft.com/office/drawing/2014/main" id="{4AD7CF9B-5E36-5B27-1BA8-101E746539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0757" y="2964922"/>
                <a:ext cx="846278" cy="5145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27">
                <a:extLst>
                  <a:ext uri="{FF2B5EF4-FFF2-40B4-BE49-F238E27FC236}">
                    <a16:creationId xmlns:a16="http://schemas.microsoft.com/office/drawing/2014/main" id="{C3B40137-8937-440A-010C-980A55F41B5D}"/>
                  </a:ext>
                </a:extLst>
              </p:cNvPr>
              <p:cNvSpPr/>
              <p:nvPr/>
            </p:nvSpPr>
            <p:spPr>
              <a:xfrm>
                <a:off x="142411" y="2539936"/>
                <a:ext cx="7209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rgbClr val="FF0000"/>
                          </a:solidFill>
                        </a:rPr>
                        <m:t>20</m:t>
                      </m:r>
                    </m:oMath>
                  </m:oMathPara>
                </a14:m>
                <a:endParaRPr lang="he-I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Rectangle 27">
                <a:extLst>
                  <a:ext uri="{FF2B5EF4-FFF2-40B4-BE49-F238E27FC236}">
                    <a16:creationId xmlns:a16="http://schemas.microsoft.com/office/drawing/2014/main" id="{C3B40137-8937-440A-010C-980A55F41B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411" y="2539936"/>
                <a:ext cx="72093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27">
                <a:extLst>
                  <a:ext uri="{FF2B5EF4-FFF2-40B4-BE49-F238E27FC236}">
                    <a16:creationId xmlns:a16="http://schemas.microsoft.com/office/drawing/2014/main" id="{7CA879F7-C0B1-E4B1-BC52-6DDED311C061}"/>
                  </a:ext>
                </a:extLst>
              </p:cNvPr>
              <p:cNvSpPr/>
              <p:nvPr/>
            </p:nvSpPr>
            <p:spPr>
              <a:xfrm>
                <a:off x="3680988" y="3250157"/>
                <a:ext cx="7209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rgbClr val="FF0000"/>
                          </a:solidFill>
                        </a:rPr>
                        <m:t>400</m:t>
                      </m:r>
                    </m:oMath>
                  </m:oMathPara>
                </a14:m>
                <a:endParaRPr lang="he-I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Rectangle 27">
                <a:extLst>
                  <a:ext uri="{FF2B5EF4-FFF2-40B4-BE49-F238E27FC236}">
                    <a16:creationId xmlns:a16="http://schemas.microsoft.com/office/drawing/2014/main" id="{7CA879F7-C0B1-E4B1-BC52-6DDED311C0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0988" y="3250157"/>
                <a:ext cx="72093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תיבת טקסט 16">
                <a:extLst>
                  <a:ext uri="{FF2B5EF4-FFF2-40B4-BE49-F238E27FC236}">
                    <a16:creationId xmlns:a16="http://schemas.microsoft.com/office/drawing/2014/main" id="{6C4F6EFD-A148-8016-95A5-378127C07CDE}"/>
                  </a:ext>
                </a:extLst>
              </p:cNvPr>
              <p:cNvSpPr txBox="1"/>
              <p:nvPr/>
            </p:nvSpPr>
            <p:spPr>
              <a:xfrm>
                <a:off x="275521" y="1695506"/>
                <a:ext cx="2667000" cy="10572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b="1" dirty="0">
                    <a:solidFill>
                      <a:srgbClr val="C00000"/>
                    </a:solidFill>
                  </a:rPr>
                  <a:t>Y=20 -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e-IL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r>
                  <a:rPr lang="en-US" b="1" dirty="0">
                    <a:solidFill>
                      <a:srgbClr val="C00000"/>
                    </a:solidFill>
                  </a:rPr>
                  <a:t> *(100)</a:t>
                </a:r>
                <a:r>
                  <a:rPr lang="en-US" dirty="0"/>
                  <a:t>=</a:t>
                </a:r>
                <a:r>
                  <a:rPr lang="en-US" b="1" dirty="0">
                    <a:solidFill>
                      <a:srgbClr val="C00000"/>
                    </a:solidFill>
                  </a:rPr>
                  <a:t>15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b="1" dirty="0">
                    <a:solidFill>
                      <a:srgbClr val="C00000"/>
                    </a:solidFill>
                  </a:rPr>
                  <a:t>(100,15)</a:t>
                </a:r>
                <a:endParaRPr lang="en-IL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7" name="תיבת טקסט 16">
                <a:extLst>
                  <a:ext uri="{FF2B5EF4-FFF2-40B4-BE49-F238E27FC236}">
                    <a16:creationId xmlns:a16="http://schemas.microsoft.com/office/drawing/2014/main" id="{6C4F6EFD-A148-8016-95A5-378127C07C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521" y="1695506"/>
                <a:ext cx="2667000" cy="1057212"/>
              </a:xfrm>
              <a:prstGeom prst="rect">
                <a:avLst/>
              </a:prstGeom>
              <a:blipFill>
                <a:blip r:embed="rId7"/>
                <a:stretch>
                  <a:fillRect r="-2055" b="-8046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אליפסה 17">
            <a:extLst>
              <a:ext uri="{FF2B5EF4-FFF2-40B4-BE49-F238E27FC236}">
                <a16:creationId xmlns:a16="http://schemas.microsoft.com/office/drawing/2014/main" id="{40927F08-3D2D-9943-521B-F40A9D22B02D}"/>
              </a:ext>
            </a:extLst>
          </p:cNvPr>
          <p:cNvSpPr/>
          <p:nvPr/>
        </p:nvSpPr>
        <p:spPr>
          <a:xfrm>
            <a:off x="1358319" y="2659564"/>
            <a:ext cx="250702" cy="28725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תיבת טקסט 18">
            <a:extLst>
              <a:ext uri="{FF2B5EF4-FFF2-40B4-BE49-F238E27FC236}">
                <a16:creationId xmlns:a16="http://schemas.microsoft.com/office/drawing/2014/main" id="{F4BDAB93-592D-DDF9-D166-100F34AD517A}"/>
              </a:ext>
            </a:extLst>
          </p:cNvPr>
          <p:cNvSpPr txBox="1"/>
          <p:nvPr/>
        </p:nvSpPr>
        <p:spPr>
          <a:xfrm>
            <a:off x="5555682" y="2054835"/>
            <a:ext cx="2667000" cy="465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he-IL" b="1" dirty="0" err="1">
                <a:solidFill>
                  <a:srgbClr val="C00000"/>
                </a:solidFill>
              </a:rPr>
              <a:t>ע.א.ש</a:t>
            </a:r>
            <a:r>
              <a:rPr lang="he-IL" b="1" dirty="0">
                <a:solidFill>
                  <a:srgbClr val="C00000"/>
                </a:solidFill>
              </a:rPr>
              <a:t> לייצור </a:t>
            </a:r>
            <a:r>
              <a:rPr lang="en-US" b="1" dirty="0">
                <a:solidFill>
                  <a:srgbClr val="C00000"/>
                </a:solidFill>
              </a:rPr>
              <a:t>Y</a:t>
            </a:r>
            <a:r>
              <a:rPr lang="he-IL" b="1" dirty="0">
                <a:solidFill>
                  <a:srgbClr val="C00000"/>
                </a:solidFill>
              </a:rPr>
              <a:t>15= </a:t>
            </a:r>
            <a:r>
              <a:rPr lang="en-US" b="1" dirty="0">
                <a:solidFill>
                  <a:srgbClr val="C00000"/>
                </a:solidFill>
              </a:rPr>
              <a:t>X</a:t>
            </a:r>
            <a:r>
              <a:rPr lang="he-IL" b="1" dirty="0">
                <a:solidFill>
                  <a:srgbClr val="C00000"/>
                </a:solidFill>
              </a:rPr>
              <a:t>20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20" name="תיבת טקסט 19">
            <a:extLst>
              <a:ext uri="{FF2B5EF4-FFF2-40B4-BE49-F238E27FC236}">
                <a16:creationId xmlns:a16="http://schemas.microsoft.com/office/drawing/2014/main" id="{AFE417E9-AD0F-4FCF-A18E-D5D5384EED3D}"/>
              </a:ext>
            </a:extLst>
          </p:cNvPr>
          <p:cNvSpPr txBox="1"/>
          <p:nvPr/>
        </p:nvSpPr>
        <p:spPr>
          <a:xfrm>
            <a:off x="5573511" y="2712413"/>
            <a:ext cx="2667000" cy="883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he-IL" b="1" dirty="0" err="1">
                <a:solidFill>
                  <a:srgbClr val="C00000"/>
                </a:solidFill>
              </a:rPr>
              <a:t>ע.א.כ</a:t>
            </a:r>
            <a:r>
              <a:rPr lang="he-IL" b="1" dirty="0">
                <a:solidFill>
                  <a:srgbClr val="C00000"/>
                </a:solidFill>
              </a:rPr>
              <a:t> לייצור </a:t>
            </a:r>
            <a:r>
              <a:rPr lang="en-US" b="1" dirty="0">
                <a:solidFill>
                  <a:srgbClr val="C00000"/>
                </a:solidFill>
              </a:rPr>
              <a:t> 15=Y</a:t>
            </a:r>
          </a:p>
          <a:p>
            <a:pPr algn="l">
              <a:lnSpc>
                <a:spcPct val="150000"/>
              </a:lnSpc>
            </a:pPr>
            <a:r>
              <a:rPr lang="en-US" b="1" dirty="0">
                <a:solidFill>
                  <a:srgbClr val="C00000"/>
                </a:solidFill>
              </a:rPr>
              <a:t>400 – 100= 300X</a:t>
            </a:r>
          </a:p>
        </p:txBody>
      </p:sp>
    </p:spTree>
    <p:extLst>
      <p:ext uri="{BB962C8B-B14F-4D97-AF65-F5344CB8AC3E}">
        <p14:creationId xmlns:p14="http://schemas.microsoft.com/office/powerpoint/2010/main" val="3539933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/>
      <p:bldP spid="13" grpId="0"/>
      <p:bldP spid="1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400" b="0" i="0" u="none" strike="noStrike" kern="1200" cap="none" spc="0" normalizeH="0" baseline="0" noProof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Perpetua"/>
                <a:ea typeface="+mn-ea"/>
                <a:cs typeface="Aharoni" panose="02010803020104030203" pitchFamily="2" charset="-79"/>
              </a:rPr>
              <a:t>מיכאלה משקוביץ'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6B3163-752A-4F30-8133-06B1B9326B1F}" type="slidenum">
              <a:rPr kumimoji="0" lang="he-IL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Aharoni" panose="02010803020104030203" pitchFamily="2" charset="-79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he-IL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Aharoni" panose="02010803020104030203" pitchFamily="2" charset="-79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74904" y="881498"/>
            <a:ext cx="8117889" cy="43564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משק עם עקומת תמורה קעורה (כללית) מייצר כמויות חיוביות משני המוצרים. ידוע כי בנקודת הייצור העלות האלטרנטיבית השולית ליצור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הינה 3 יחידות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וכן כי המשק מייצר 100 יחידות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</a:p>
          <a:p>
            <a:pPr marL="0" marR="0" lvl="0" indent="0" algn="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מה ניתן לומר על העלות האלטרנטיבית הכוללת לייצור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בנקודת הייצור?</a:t>
            </a:r>
          </a:p>
          <a:p>
            <a:pPr marL="0" marR="0" lvl="0" indent="0" algn="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IL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1. קטנה מ- 300 יחידות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</a:t>
            </a:r>
            <a:endParaRPr kumimoji="0" lang="en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2. שווה ל- 300 יחידות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</a:t>
            </a:r>
            <a:endParaRPr kumimoji="0" lang="en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3. גדולה מ- 300 יחידות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</a:t>
            </a:r>
            <a:endParaRPr kumimoji="0" lang="en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4. כל התשובות האחרות לא נכונות</a:t>
            </a:r>
            <a:endParaRPr kumimoji="0" lang="en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כותרת 2"/>
          <p:cNvSpPr>
            <a:spLocks noGrp="1"/>
          </p:cNvSpPr>
          <p:nvPr>
            <p:ph type="title"/>
          </p:nvPr>
        </p:nvSpPr>
        <p:spPr>
          <a:xfrm>
            <a:off x="4038600" y="835779"/>
            <a:ext cx="4285740" cy="45719"/>
          </a:xfrm>
        </p:spPr>
        <p:txBody>
          <a:bodyPr>
            <a:normAutofit fontScale="90000"/>
          </a:bodyPr>
          <a:lstStyle/>
          <a:p>
            <a:pPr algn="r"/>
            <a:r>
              <a:rPr lang="he-IL" dirty="0"/>
              <a:t>שאלה 6</a:t>
            </a:r>
          </a:p>
        </p:txBody>
      </p:sp>
    </p:spTree>
    <p:extLst>
      <p:ext uri="{BB962C8B-B14F-4D97-AF65-F5344CB8AC3E}">
        <p14:creationId xmlns:p14="http://schemas.microsoft.com/office/powerpoint/2010/main" val="7747077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6858000" y="267862"/>
            <a:ext cx="1920752" cy="418439"/>
          </a:xfrm>
        </p:spPr>
        <p:txBody>
          <a:bodyPr>
            <a:normAutofit fontScale="90000"/>
          </a:bodyPr>
          <a:lstStyle/>
          <a:p>
            <a:pPr algn="r" rtl="1"/>
            <a:r>
              <a:rPr lang="he-IL" sz="2400" u="sng" dirty="0"/>
              <a:t>שאלה 6</a:t>
            </a:r>
          </a:p>
        </p:txBody>
      </p:sp>
      <p:sp>
        <p:nvSpPr>
          <p:cNvPr id="3" name="מציין מיקום של מספר שקופית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9A981F-4466-4789-9E41-1885E502A96E}" type="slidenum">
              <a:rPr kumimoji="0" lang="he-IL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+mj-ea"/>
                <a:cs typeface="Aharoni" panose="02010803020104030203" pitchFamily="2" charset="-79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he-IL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+mj-ea"/>
              <a:cs typeface="Aharoni" panose="02010803020104030203" pitchFamily="2" charset="-79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CA23D0-4F6A-FEFF-26A3-0972F9B5CC0E}"/>
              </a:ext>
            </a:extLst>
          </p:cNvPr>
          <p:cNvSpPr txBox="1"/>
          <p:nvPr/>
        </p:nvSpPr>
        <p:spPr>
          <a:xfrm>
            <a:off x="1277667" y="785482"/>
            <a:ext cx="7672352" cy="3688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משק עם עקומת תמורה קעורה (כללית) מייצר כמויות חיוביות משני המוצרים. ידוע כי בנקודת הייצור העלות האלטרנטיבית השולית ליצור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הינה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</a:t>
            </a: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יחידות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</a:t>
            </a: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, וכן כי המשק מייצר 100 יחידות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מה ניתן לומר על העלות האלטרנטיבית הכוללת לייצור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X</a:t>
            </a:r>
            <a:r>
              <a:rPr kumimoji="0" lang="he-I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בנקודת הייצור?</a:t>
            </a:r>
          </a:p>
          <a:p>
            <a:pPr marL="0" marR="0" lvl="0" indent="0" algn="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endParaRPr kumimoji="0" lang="en-IL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1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1. קטנה מ- 300 יחידות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</a:t>
            </a:r>
            <a:endParaRPr kumimoji="0" lang="en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1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2. שווה ל- 300 יחידות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</a:t>
            </a:r>
            <a:endParaRPr kumimoji="0" lang="en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1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3. גדולה מ- 300 יחידות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Y</a:t>
            </a:r>
            <a:endParaRPr kumimoji="0" lang="en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1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4. כל התשובות האחרות לא נכונות</a:t>
            </a:r>
            <a:endParaRPr kumimoji="0" lang="en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lvl="0" indent="0" algn="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Times New Roman" panose="02020603050405020304" pitchFamily="18" charset="0"/>
                <a:cs typeface="+mn-cs"/>
              </a:rPr>
              <a:t> </a:t>
            </a:r>
            <a:endParaRPr kumimoji="0" lang="en-IL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Times New Roman" panose="02020603050405020304" pitchFamily="18" charset="0"/>
              <a:cs typeface="+mn-cs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E5691B1-2DAC-0BC0-A4A1-3879DE8ABBBA}"/>
              </a:ext>
            </a:extLst>
          </p:cNvPr>
          <p:cNvCxnSpPr>
            <a:cxnSpLocks/>
          </p:cNvCxnSpPr>
          <p:nvPr/>
        </p:nvCxnSpPr>
        <p:spPr>
          <a:xfrm>
            <a:off x="1027436" y="5943600"/>
            <a:ext cx="2960364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5714AE4-4158-1FE5-E040-2F11BCD64840}"/>
              </a:ext>
            </a:extLst>
          </p:cNvPr>
          <p:cNvCxnSpPr>
            <a:cxnSpLocks/>
          </p:cNvCxnSpPr>
          <p:nvPr/>
        </p:nvCxnSpPr>
        <p:spPr>
          <a:xfrm flipV="1">
            <a:off x="1010848" y="2754868"/>
            <a:ext cx="0" cy="323953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6BA6B19-E28C-9B37-C8A5-D3E81F3A1D53}"/>
              </a:ext>
            </a:extLst>
          </p:cNvPr>
          <p:cNvSpPr txBox="1"/>
          <p:nvPr/>
        </p:nvSpPr>
        <p:spPr>
          <a:xfrm>
            <a:off x="547863" y="2582795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Y</a:t>
            </a:r>
            <a:endParaRPr kumimoji="0" lang="en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341575-985B-342E-C67C-40AC74823A7C}"/>
              </a:ext>
            </a:extLst>
          </p:cNvPr>
          <p:cNvSpPr txBox="1"/>
          <p:nvPr/>
        </p:nvSpPr>
        <p:spPr>
          <a:xfrm>
            <a:off x="4114800" y="5527596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X</a:t>
            </a:r>
            <a:endParaRPr kumimoji="0" lang="en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0A74FCE9-2216-3584-F23E-39961E09E0B1}"/>
              </a:ext>
            </a:extLst>
          </p:cNvPr>
          <p:cNvSpPr/>
          <p:nvPr/>
        </p:nvSpPr>
        <p:spPr>
          <a:xfrm>
            <a:off x="-906139" y="3941640"/>
            <a:ext cx="3867149" cy="3981450"/>
          </a:xfrm>
          <a:prstGeom prst="arc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D7A8059-28D0-2FC6-20FE-F06EA10F5031}"/>
              </a:ext>
            </a:extLst>
          </p:cNvPr>
          <p:cNvCxnSpPr>
            <a:cxnSpLocks/>
          </p:cNvCxnSpPr>
          <p:nvPr/>
        </p:nvCxnSpPr>
        <p:spPr>
          <a:xfrm>
            <a:off x="2270719" y="4422674"/>
            <a:ext cx="0" cy="15096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986E5C2-6B24-62D4-3F4E-78288EAE6256}"/>
              </a:ext>
            </a:extLst>
          </p:cNvPr>
          <p:cNvCxnSpPr>
            <a:cxnSpLocks/>
          </p:cNvCxnSpPr>
          <p:nvPr/>
        </p:nvCxnSpPr>
        <p:spPr>
          <a:xfrm flipH="1" flipV="1">
            <a:off x="1031528" y="4385641"/>
            <a:ext cx="1198952" cy="108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7CA47E1-7B0F-E901-75B0-45348D68969B}"/>
              </a:ext>
            </a:extLst>
          </p:cNvPr>
          <p:cNvSpPr txBox="1"/>
          <p:nvPr/>
        </p:nvSpPr>
        <p:spPr>
          <a:xfrm>
            <a:off x="2209686" y="4009492"/>
            <a:ext cx="1152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a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Aharoni" panose="02010803020104030203" pitchFamily="2" charset="-79"/>
              </a:rPr>
              <a:t>)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100,Y</a:t>
            </a: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Aharoni" panose="02010803020104030203" pitchFamily="2" charset="-79"/>
              </a:rPr>
              <a:t>(</a:t>
            </a:r>
            <a:endParaRPr kumimoji="0" lang="en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1016187-7174-D84A-7AAC-7C54535E6C72}"/>
              </a:ext>
            </a:extLst>
          </p:cNvPr>
          <p:cNvCxnSpPr>
            <a:cxnSpLocks/>
          </p:cNvCxnSpPr>
          <p:nvPr/>
        </p:nvCxnSpPr>
        <p:spPr>
          <a:xfrm flipH="1" flipV="1">
            <a:off x="1027435" y="3372376"/>
            <a:ext cx="1906494" cy="154229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2" name="Arc 21">
            <a:extLst>
              <a:ext uri="{FF2B5EF4-FFF2-40B4-BE49-F238E27FC236}">
                <a16:creationId xmlns:a16="http://schemas.microsoft.com/office/drawing/2014/main" id="{5FEEA9B1-A1B0-2DF4-67C2-294E96899B5B}"/>
              </a:ext>
            </a:extLst>
          </p:cNvPr>
          <p:cNvSpPr/>
          <p:nvPr/>
        </p:nvSpPr>
        <p:spPr>
          <a:xfrm rot="15685708">
            <a:off x="1435344" y="3952227"/>
            <a:ext cx="762000" cy="788431"/>
          </a:xfrm>
          <a:prstGeom prst="arc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FE854B-A26B-D70F-631D-618324C4C8B4}"/>
              </a:ext>
            </a:extLst>
          </p:cNvPr>
          <p:cNvSpPr txBox="1"/>
          <p:nvPr/>
        </p:nvSpPr>
        <p:spPr>
          <a:xfrm>
            <a:off x="1570533" y="4053342"/>
            <a:ext cx="463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-3</a:t>
            </a:r>
            <a:endParaRPr kumimoji="0" lang="en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C052C33-0790-2AD7-18A4-4860A9939F49}"/>
              </a:ext>
            </a:extLst>
          </p:cNvPr>
          <p:cNvSpPr txBox="1"/>
          <p:nvPr/>
        </p:nvSpPr>
        <p:spPr>
          <a:xfrm>
            <a:off x="1955733" y="5961115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100</a:t>
            </a:r>
            <a:endParaRPr kumimoji="0" lang="en-I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B03F111-7EDF-A617-6144-1D219D22FFA0}"/>
              </a:ext>
            </a:extLst>
          </p:cNvPr>
          <p:cNvCxnSpPr>
            <a:cxnSpLocks/>
          </p:cNvCxnSpPr>
          <p:nvPr/>
        </p:nvCxnSpPr>
        <p:spPr>
          <a:xfrm>
            <a:off x="945538" y="3351454"/>
            <a:ext cx="0" cy="1098034"/>
          </a:xfrm>
          <a:prstGeom prst="straightConnector1">
            <a:avLst/>
          </a:prstGeom>
          <a:ln w="57150">
            <a:solidFill>
              <a:srgbClr val="C00000"/>
            </a:solidFill>
            <a:prstDash val="sysDash"/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082643E-DAEF-8432-6FF0-FA12A7C570F7}"/>
              </a:ext>
            </a:extLst>
          </p:cNvPr>
          <p:cNvSpPr txBox="1"/>
          <p:nvPr/>
        </p:nvSpPr>
        <p:spPr>
          <a:xfrm>
            <a:off x="304755" y="3736389"/>
            <a:ext cx="62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B2D1F">
                    <a:lumMod val="75000"/>
                  </a:srgbClr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300</a:t>
            </a:r>
            <a:endParaRPr kumimoji="0" lang="en-IL" sz="1800" b="0" i="0" u="none" strike="noStrike" kern="1200" cap="none" spc="0" normalizeH="0" baseline="0" noProof="0" dirty="0">
              <a:ln>
                <a:noFill/>
              </a:ln>
              <a:solidFill>
                <a:srgbClr val="9B2D1F">
                  <a:lumMod val="75000"/>
                </a:srgbClr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C78581E-4A7F-7699-6B75-D710AA9736F9}"/>
              </a:ext>
            </a:extLst>
          </p:cNvPr>
          <p:cNvCxnSpPr>
            <a:cxnSpLocks/>
          </p:cNvCxnSpPr>
          <p:nvPr/>
        </p:nvCxnSpPr>
        <p:spPr>
          <a:xfrm>
            <a:off x="1115616" y="3900471"/>
            <a:ext cx="0" cy="557731"/>
          </a:xfrm>
          <a:prstGeom prst="straightConnector1">
            <a:avLst/>
          </a:prstGeom>
          <a:ln w="57150">
            <a:solidFill>
              <a:srgbClr val="7030A0"/>
            </a:solidFill>
            <a:prstDash val="solid"/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E5B99C2-3673-90E8-6BD1-F37A5298606B}"/>
              </a:ext>
            </a:extLst>
          </p:cNvPr>
          <p:cNvSpPr txBox="1"/>
          <p:nvPr/>
        </p:nvSpPr>
        <p:spPr>
          <a:xfrm>
            <a:off x="1366786" y="2848508"/>
            <a:ext cx="1685800" cy="52322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Ymax-Ya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4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Perpetua"/>
                <a:ea typeface="+mn-ea"/>
                <a:cs typeface="Aharoni" panose="02010803020104030203" pitchFamily="2" charset="-79"/>
              </a:rPr>
              <a:t>פחות מ-300</a:t>
            </a:r>
            <a:endParaRPr kumimoji="0" lang="en-IL" sz="14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104AE92-6E59-8065-9FBA-B4AAA9F199A8}"/>
              </a:ext>
            </a:extLst>
          </p:cNvPr>
          <p:cNvSpPr txBox="1"/>
          <p:nvPr/>
        </p:nvSpPr>
        <p:spPr>
          <a:xfrm>
            <a:off x="781875" y="3767167"/>
            <a:ext cx="849129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Ymax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26A62A-FF03-F650-0325-2829DE81C50F}"/>
              </a:ext>
            </a:extLst>
          </p:cNvPr>
          <p:cNvSpPr txBox="1"/>
          <p:nvPr/>
        </p:nvSpPr>
        <p:spPr>
          <a:xfrm>
            <a:off x="678979" y="4360451"/>
            <a:ext cx="682990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Perpetua"/>
                <a:ea typeface="+mn-ea"/>
                <a:cs typeface="+mn-cs"/>
              </a:rPr>
              <a:t>Ya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Perpetu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2712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/>
      <p:bldP spid="24" grpId="0"/>
      <p:bldP spid="28" grpId="0"/>
      <p:bldP spid="30" grpId="0" animBg="1"/>
      <p:bldP spid="33" grpId="0"/>
      <p:bldP spid="34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רחבה">
  <a:themeElements>
    <a:clrScheme name="רחבה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רחבה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רחבה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19686</TotalTime>
  <Words>4259</Words>
  <Application>Microsoft Office PowerPoint</Application>
  <PresentationFormat>‫הצגה על המסך (4:3)</PresentationFormat>
  <Paragraphs>742</Paragraphs>
  <Slides>32</Slides>
  <Notes>2</Notes>
  <HiddenSlides>0</HiddenSlides>
  <MMClips>0</MMClips>
  <ScaleCrop>false</ScaleCrop>
  <HeadingPairs>
    <vt:vector size="8" baseType="variant">
      <vt:variant>
        <vt:lpstr>גופנים בשימוש</vt:lpstr>
      </vt:variant>
      <vt:variant>
        <vt:i4>14</vt:i4>
      </vt:variant>
      <vt:variant>
        <vt:lpstr>ערכת נושא</vt:lpstr>
      </vt:variant>
      <vt:variant>
        <vt:i4>3</vt:i4>
      </vt:variant>
      <vt:variant>
        <vt:lpstr>שרתי OLE מוטבעים</vt:lpstr>
      </vt:variant>
      <vt:variant>
        <vt:i4>1</vt:i4>
      </vt:variant>
      <vt:variant>
        <vt:lpstr>כותרות שקופיות</vt:lpstr>
      </vt:variant>
      <vt:variant>
        <vt:i4>32</vt:i4>
      </vt:variant>
    </vt:vector>
  </HeadingPairs>
  <TitlesOfParts>
    <vt:vector size="50" baseType="lpstr">
      <vt:lpstr>Arial</vt:lpstr>
      <vt:lpstr>Calibri</vt:lpstr>
      <vt:lpstr>Cambria</vt:lpstr>
      <vt:lpstr>Cambria Math</vt:lpstr>
      <vt:lpstr>Courier New</vt:lpstr>
      <vt:lpstr>David</vt:lpstr>
      <vt:lpstr>Franklin Gothic Book</vt:lpstr>
      <vt:lpstr>Lucida Sans Unicode</vt:lpstr>
      <vt:lpstr>Perpetua</vt:lpstr>
      <vt:lpstr>Times New Roman</vt:lpstr>
      <vt:lpstr>Verdana</vt:lpstr>
      <vt:lpstr>Wingdings</vt:lpstr>
      <vt:lpstr>Wingdings 2</vt:lpstr>
      <vt:lpstr>Wingdings 3</vt:lpstr>
      <vt:lpstr>Equity</vt:lpstr>
      <vt:lpstr>1_Equity</vt:lpstr>
      <vt:lpstr>רחבה</vt:lpstr>
      <vt:lpstr>Equation</vt:lpstr>
      <vt:lpstr>עקומת התמורה- שאלות נוספות</vt:lpstr>
      <vt:lpstr>שאלה 1</vt:lpstr>
      <vt:lpstr>שאלה 1</vt:lpstr>
      <vt:lpstr>שאלה 2</vt:lpstr>
      <vt:lpstr>שאלה 2</vt:lpstr>
      <vt:lpstr>שאלה 2</vt:lpstr>
      <vt:lpstr>שאלה 2</vt:lpstr>
      <vt:lpstr>שאלה 2</vt:lpstr>
      <vt:lpstr>שאלה 3</vt:lpstr>
      <vt:lpstr>פתרון שאלה 3</vt:lpstr>
      <vt:lpstr>פתרון שאלה 3</vt:lpstr>
      <vt:lpstr>פתרון שאלה</vt:lpstr>
      <vt:lpstr>שאלה 4 ואילך אינן רלוונטיות לבוחן הקרוב </vt:lpstr>
      <vt:lpstr>שאלה 4 (2 מגבלות)</vt:lpstr>
      <vt:lpstr>שאלה 4</vt:lpstr>
      <vt:lpstr>שאלה 4 (2 מגבלות) </vt:lpstr>
      <vt:lpstr>שאלה 4 (2 מגבלות) </vt:lpstr>
      <vt:lpstr>שאלה 4 (2 מגבלות)</vt:lpstr>
      <vt:lpstr>שאלה 4 (2 מגבלות) </vt:lpstr>
      <vt:lpstr>שאלה 4 (2 מגבלות) </vt:lpstr>
      <vt:lpstr>שאלה 4 (2 מגבלות) </vt:lpstr>
      <vt:lpstr>שאלה 4 (2 מגבלות) </vt:lpstr>
      <vt:lpstr>שאלה 4 (2 מגבלות) </vt:lpstr>
      <vt:lpstr>שאלה 4 (2 מגבלות) </vt:lpstr>
      <vt:lpstr>שאלה 5</vt:lpstr>
      <vt:lpstr>פתרון שאלה 5</vt:lpstr>
      <vt:lpstr>פתרון שאלה 5</vt:lpstr>
      <vt:lpstr>פתרון שאלה 5</vt:lpstr>
      <vt:lpstr>פתרון שאלה 5</vt:lpstr>
      <vt:lpstr>שאלה 5</vt:lpstr>
      <vt:lpstr>שאלה 6</vt:lpstr>
      <vt:lpstr>שאלה 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</dc:creator>
  <cp:lastModifiedBy>איתן משקוביץ</cp:lastModifiedBy>
  <cp:revision>371</cp:revision>
  <dcterms:created xsi:type="dcterms:W3CDTF">2012-05-12T09:11:43Z</dcterms:created>
  <dcterms:modified xsi:type="dcterms:W3CDTF">2025-11-13T11:29:03Z</dcterms:modified>
</cp:coreProperties>
</file>