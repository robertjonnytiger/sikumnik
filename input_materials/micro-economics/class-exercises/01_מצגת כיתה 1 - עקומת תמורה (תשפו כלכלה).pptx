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</p:sldMasterIdLst>
  <p:notesMasterIdLst>
    <p:notesMasterId r:id="rId33"/>
  </p:notesMasterIdLst>
  <p:sldIdLst>
    <p:sldId id="328" r:id="rId2"/>
    <p:sldId id="343" r:id="rId3"/>
    <p:sldId id="311" r:id="rId4"/>
    <p:sldId id="292" r:id="rId5"/>
    <p:sldId id="327" r:id="rId6"/>
    <p:sldId id="344" r:id="rId7"/>
    <p:sldId id="326" r:id="rId8"/>
    <p:sldId id="313" r:id="rId9"/>
    <p:sldId id="263" r:id="rId10"/>
    <p:sldId id="325" r:id="rId11"/>
    <p:sldId id="319" r:id="rId12"/>
    <p:sldId id="393" r:id="rId13"/>
    <p:sldId id="336" r:id="rId14"/>
    <p:sldId id="320" r:id="rId15"/>
    <p:sldId id="394" r:id="rId16"/>
    <p:sldId id="345" r:id="rId17"/>
    <p:sldId id="351" r:id="rId18"/>
    <p:sldId id="352" r:id="rId19"/>
    <p:sldId id="388" r:id="rId20"/>
    <p:sldId id="390" r:id="rId21"/>
    <p:sldId id="381" r:id="rId22"/>
    <p:sldId id="389" r:id="rId23"/>
    <p:sldId id="259" r:id="rId24"/>
    <p:sldId id="341" r:id="rId25"/>
    <p:sldId id="342" r:id="rId26"/>
    <p:sldId id="338" r:id="rId27"/>
    <p:sldId id="395" r:id="rId28"/>
    <p:sldId id="391" r:id="rId29"/>
    <p:sldId id="340" r:id="rId30"/>
    <p:sldId id="322" r:id="rId31"/>
    <p:sldId id="392" r:id="rId32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CC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סגנון ביניים 1 - הדגשה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סגנון ביניים 1 - הדגשה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סגנון ביניים 1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512" autoAdjust="0"/>
    <p:restoredTop sz="94660"/>
  </p:normalViewPr>
  <p:slideViewPr>
    <p:cSldViewPr>
      <p:cViewPr varScale="1">
        <p:scale>
          <a:sx n="77" d="100"/>
          <a:sy n="77" d="100"/>
        </p:scale>
        <p:origin x="56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436F6FC-ECCF-45E8-9622-D03699E1BFD3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1D2C83C-81EC-490A-A715-2EB9735762F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7835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לחזור, להוסיף משוואת שיפוע ומשוואת קו ישר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2223-259B-4AEE-BC58-13D5B3BBB3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05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2223-259B-4AEE-BC58-13D5B3BBB3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20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2223-259B-4AEE-BC58-13D5B3BBB3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06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2223-259B-4AEE-BC58-13D5B3BBB3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4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he-IL" dirty="0"/>
              <a:t>סוגי</a:t>
            </a:r>
            <a:r>
              <a:rPr lang="he-IL" baseline="0" dirty="0"/>
              <a:t> גורמי ייצור: טבעיים- קרקע, מחצבים, מים, נפט  גו''י עבודה- מאמץ פיזי או מחשבתי (רמת ידע והכשרה מקצועית). הון פיזי- מבנים, מכונות. </a:t>
            </a: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dirty="0">
                <a:latin typeface="David" panose="020E0502060401010101" pitchFamily="34" charset="-79"/>
                <a:cs typeface="David" panose="020E0502060401010101" pitchFamily="34" charset="-79"/>
              </a:rPr>
              <a:t>ישנם סוגי מוצרים שונים כגון </a:t>
            </a:r>
            <a:r>
              <a:rPr lang="he-IL" sz="1200" b="1" dirty="0">
                <a:latin typeface="David" panose="020E0502060401010101" pitchFamily="34" charset="-79"/>
                <a:cs typeface="David" panose="020E0502060401010101" pitchFamily="34" charset="-79"/>
              </a:rPr>
              <a:t>מוצר פרטי </a:t>
            </a:r>
            <a:r>
              <a:rPr lang="he-IL" sz="1200" dirty="0">
                <a:latin typeface="David" panose="020E0502060401010101" pitchFamily="34" charset="-79"/>
                <a:cs typeface="David" panose="020E0502060401010101" pitchFamily="34" charset="-79"/>
              </a:rPr>
              <a:t>(רק האדם שבבעלותו המוצר יכול להנות ממנ), </a:t>
            </a:r>
            <a:r>
              <a:rPr lang="he-IL" sz="1200" b="1" dirty="0">
                <a:latin typeface="David" panose="020E0502060401010101" pitchFamily="34" charset="-79"/>
                <a:cs typeface="David" panose="020E0502060401010101" pitchFamily="34" charset="-79"/>
              </a:rPr>
              <a:t>מוצר ציבורי </a:t>
            </a:r>
            <a:r>
              <a:rPr lang="he-IL" sz="1200" dirty="0">
                <a:latin typeface="David" panose="020E0502060401010101" pitchFamily="34" charset="-79"/>
                <a:cs typeface="David" panose="020E0502060401010101" pitchFamily="34" charset="-79"/>
              </a:rPr>
              <a:t>(אנשים רבים יכולים לצרוך אותו בו זמנית כמו ביטחון), </a:t>
            </a:r>
            <a:r>
              <a:rPr lang="he-IL" sz="1200" b="1" dirty="0">
                <a:latin typeface="David" panose="020E0502060401010101" pitchFamily="34" charset="-79"/>
                <a:cs typeface="David" panose="020E0502060401010101" pitchFamily="34" charset="-79"/>
              </a:rPr>
              <a:t>מוצרי השקעה </a:t>
            </a:r>
            <a:r>
              <a:rPr lang="he-IL" sz="1200" dirty="0">
                <a:latin typeface="David" panose="020E0502060401010101" pitchFamily="34" charset="-79"/>
                <a:cs typeface="David" panose="020E0502060401010101" pitchFamily="34" charset="-79"/>
              </a:rPr>
              <a:t>(התועלת ממנו מתקבלת בטווח הארוך כגון לימודים אקדמיים). </a:t>
            </a:r>
          </a:p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2223-259B-4AEE-BC58-13D5B3BBB3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7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שולש ישר-זווית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כותרת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7" name="כותרת משנה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he-IL"/>
              <a:t>לחץ כדי לערוך סגנון כותרת משנה של תבנית בסיס</a:t>
            </a:r>
            <a:endParaRPr kumimoji="0" lang="en-US"/>
          </a:p>
        </p:txBody>
      </p:sp>
      <p:grpSp>
        <p:nvGrpSpPr>
          <p:cNvPr id="2" name="קבוצה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צורה חופשית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צורה חופשית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צורה חופשית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מחבר ישר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מציין מיקום של תאריך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43F00F6-1105-48EE-98C1-02E8D9046F93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19" name="מציין מיקום של כותרת תחתונה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he-IL"/>
              <a:t>מיכאלה משקוביץ'</a:t>
            </a:r>
          </a:p>
        </p:txBody>
      </p:sp>
      <p:sp>
        <p:nvSpPr>
          <p:cNvPr id="27" name="מציין מיקום של מספר שקופית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F927E-C9A0-476E-BC59-7798FCB8EA03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  <p:sp>
        <p:nvSpPr>
          <p:cNvPr id="7" name="כותרת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EFD6-17C1-4D65-BB35-A27C4271C816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  <p:sp>
        <p:nvSpPr>
          <p:cNvPr id="7" name="סוגר זוויתי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סוגר זוויתי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45658-C0EC-44A1-A310-D2F47DEC4FB9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  <p:sp>
        <p:nvSpPr>
          <p:cNvPr id="8" name="כותרת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השוואה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5" name="מציין מיקום תוכן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A1A-427C-4966-AE91-15D61E588558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075A-F12D-48A3-BB83-22F4D52479AB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  <p:sp>
        <p:nvSpPr>
          <p:cNvPr id="6" name="כותרת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95969-5200-40FE-8E5D-0871233EB410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A5ED3A47-D6FF-473E-9A2A-D702CAF14264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he-IL"/>
              <a:t>לחץ על הסמל כדי להוסיף תמונה</a:t>
            </a:r>
            <a:endParaRPr kumimoji="0" lang="en-US" dirty="0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C0928FC-8C62-4AA5-9D23-5C7FDABEC846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he-IL"/>
              <a:t>מיכאלה משקוביץ'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8" name="צורה חופשית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צורה חופשית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משולש ישר-זווית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מחבר ישר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סוגר זוויתי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סוגר זוויתי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EB6E1-70A7-4CB9-B984-DA4F52DB8EE8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34A0-9C93-424F-9474-2BAF7BFF28B7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צורה חופשית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צורה חופשית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משולש ישר-זווית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מחבר ישר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מציין מיקום של כותרת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0" name="מציין מיקום טקסט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  <a:p>
            <a:pPr lvl="1" eaLnBrk="1" latinLnBrk="0" hangingPunct="1"/>
            <a:r>
              <a:rPr kumimoji="0" lang="he-IL"/>
              <a:t>רמה שנייה</a:t>
            </a:r>
          </a:p>
          <a:p>
            <a:pPr lvl="2" eaLnBrk="1" latinLnBrk="0" hangingPunct="1"/>
            <a:r>
              <a:rPr kumimoji="0" lang="he-IL"/>
              <a:t>רמה שלישית</a:t>
            </a:r>
          </a:p>
          <a:p>
            <a:pPr lvl="3" eaLnBrk="1" latinLnBrk="0" hangingPunct="1"/>
            <a:r>
              <a:rPr kumimoji="0" lang="he-IL"/>
              <a:t>רמה רביעית</a:t>
            </a:r>
          </a:p>
          <a:p>
            <a:pPr lvl="4" eaLnBrk="1" latinLnBrk="0" hangingPunct="1"/>
            <a:r>
              <a:rPr kumimoji="0" lang="he-IL"/>
              <a:t>רמה חמישית</a:t>
            </a:r>
            <a:endParaRPr kumimoji="0" lang="en-US"/>
          </a:p>
        </p:txBody>
      </p:sp>
      <p:sp>
        <p:nvSpPr>
          <p:cNvPr id="10" name="מציין מיקום של תאריך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7A93259-EC58-4496-A7E9-4DB291B3A174}" type="datetime8">
              <a:rPr lang="he-IL" smtClean="0"/>
              <a:t>05 נובמבר 25</a:t>
            </a:fld>
            <a:endParaRPr lang="he-IL"/>
          </a:p>
        </p:txBody>
      </p:sp>
      <p:sp>
        <p:nvSpPr>
          <p:cNvPr id="22" name="מציין מיקום של כותרת תחתונה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he-IL"/>
              <a:t>מיכאלה משקוביץ'</a:t>
            </a:r>
          </a:p>
        </p:txBody>
      </p:sp>
      <p:sp>
        <p:nvSpPr>
          <p:cNvPr id="18" name="מציין מיקום של מספר שקופית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1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r" rtl="1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r" rtl="1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r" rtl="1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r" rtl="1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r" rtl="1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michaelananchev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7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9" Type="http://schemas.openxmlformats.org/officeDocument/2006/relationships/image" Target="../media/image32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36.png"/><Relationship Id="rId13" Type="http://schemas.openxmlformats.org/officeDocument/2006/relationships/image" Target="../media/image281.png"/><Relationship Id="rId3" Type="http://schemas.openxmlformats.org/officeDocument/2006/relationships/image" Target="../media/image7.png"/><Relationship Id="rId21" Type="http://schemas.openxmlformats.org/officeDocument/2006/relationships/image" Target="../media/image39.png"/><Relationship Id="rId7" Type="http://schemas.openxmlformats.org/officeDocument/2006/relationships/image" Target="../media/image31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15" Type="http://schemas.openxmlformats.org/officeDocument/2006/relationships/image" Target="../media/image33.png"/><Relationship Id="rId19" Type="http://schemas.openxmlformats.org/officeDocument/2006/relationships/image" Target="../media/image37.png"/><Relationship Id="rId4" Type="http://schemas.openxmlformats.org/officeDocument/2006/relationships/image" Target="../media/image19.png"/><Relationship Id="rId22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44.png"/><Relationship Id="rId12" Type="http://schemas.openxmlformats.org/officeDocument/2006/relationships/image" Target="../media/image1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20.png"/><Relationship Id="rId5" Type="http://schemas.openxmlformats.org/officeDocument/2006/relationships/image" Target="../media/image110.png"/><Relationship Id="rId15" Type="http://schemas.openxmlformats.org/officeDocument/2006/relationships/image" Target="../media/image18.png"/><Relationship Id="rId10" Type="http://schemas.openxmlformats.org/officeDocument/2006/relationships/image" Target="../media/image47.png"/><Relationship Id="rId4" Type="http://schemas.openxmlformats.org/officeDocument/2006/relationships/image" Target="../media/image100.png"/><Relationship Id="rId9" Type="http://schemas.openxmlformats.org/officeDocument/2006/relationships/image" Target="../media/image46.png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51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40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6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99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0.png"/><Relationship Id="rId3" Type="http://schemas.openxmlformats.org/officeDocument/2006/relationships/image" Target="../media/image121.png"/><Relationship Id="rId7" Type="http://schemas.openxmlformats.org/officeDocument/2006/relationships/image" Target="../media/image15.png"/><Relationship Id="rId12" Type="http://schemas.openxmlformats.org/officeDocument/2006/relationships/image" Target="../media/image210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00.png"/><Relationship Id="rId5" Type="http://schemas.openxmlformats.org/officeDocument/2006/relationships/image" Target="../media/image141.png"/><Relationship Id="rId10" Type="http://schemas.openxmlformats.org/officeDocument/2006/relationships/image" Target="../media/image190.png"/><Relationship Id="rId4" Type="http://schemas.openxmlformats.org/officeDocument/2006/relationships/image" Target="../media/image1300.png"/><Relationship Id="rId9" Type="http://schemas.openxmlformats.org/officeDocument/2006/relationships/image" Target="../media/image180.png"/><Relationship Id="rId1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7.png"/><Relationship Id="rId7" Type="http://schemas.openxmlformats.org/officeDocument/2006/relationships/image" Target="../media/image7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122.png"/><Relationship Id="rId5" Type="http://schemas.openxmlformats.org/officeDocument/2006/relationships/image" Target="../media/image69.png"/><Relationship Id="rId10" Type="http://schemas.openxmlformats.org/officeDocument/2006/relationships/image" Target="../media/image75.png"/><Relationship Id="rId4" Type="http://schemas.openxmlformats.org/officeDocument/2006/relationships/image" Target="../media/image68.png"/><Relationship Id="rId9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64.png"/><Relationship Id="rId3" Type="http://schemas.openxmlformats.org/officeDocument/2006/relationships/image" Target="../media/image78.png"/><Relationship Id="rId7" Type="http://schemas.openxmlformats.org/officeDocument/2006/relationships/image" Target="../media/image262.png"/><Relationship Id="rId12" Type="http://schemas.openxmlformats.org/officeDocument/2006/relationships/image" Target="../media/image4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41.png"/><Relationship Id="rId5" Type="http://schemas.openxmlformats.org/officeDocument/2006/relationships/image" Target="../media/image801.png"/><Relationship Id="rId10" Type="http://schemas.openxmlformats.org/officeDocument/2006/relationships/image" Target="../media/image30.png"/><Relationship Id="rId4" Type="http://schemas.openxmlformats.org/officeDocument/2006/relationships/image" Target="../media/image151.png"/><Relationship Id="rId9" Type="http://schemas.openxmlformats.org/officeDocument/2006/relationships/image" Target="../media/image84.png"/><Relationship Id="rId14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8" Type="http://schemas.openxmlformats.org/officeDocument/2006/relationships/image" Target="../media/image880.png"/><Relationship Id="rId3" Type="http://schemas.openxmlformats.org/officeDocument/2006/relationships/image" Target="../media/image800.png"/><Relationship Id="rId7" Type="http://schemas.openxmlformats.org/officeDocument/2006/relationships/image" Target="../media/image72.png"/><Relationship Id="rId12" Type="http://schemas.openxmlformats.org/officeDocument/2006/relationships/image" Target="../media/image65.png"/><Relationship Id="rId17" Type="http://schemas.openxmlformats.org/officeDocument/2006/relationships/image" Target="../media/image870.png"/><Relationship Id="rId2" Type="http://schemas.openxmlformats.org/officeDocument/2006/relationships/image" Target="../media/image66.png"/><Relationship Id="rId16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85.png"/><Relationship Id="rId5" Type="http://schemas.openxmlformats.org/officeDocument/2006/relationships/image" Target="../media/image69.png"/><Relationship Id="rId10" Type="http://schemas.openxmlformats.org/officeDocument/2006/relationships/image" Target="../media/image75.png"/><Relationship Id="rId4" Type="http://schemas.openxmlformats.org/officeDocument/2006/relationships/image" Target="../media/image68.png"/><Relationship Id="rId9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94.png"/><Relationship Id="rId18" Type="http://schemas.openxmlformats.org/officeDocument/2006/relationships/image" Target="../media/image98.png"/><Relationship Id="rId3" Type="http://schemas.openxmlformats.org/officeDocument/2006/relationships/image" Target="../media/image91.png"/><Relationship Id="rId7" Type="http://schemas.openxmlformats.org/officeDocument/2006/relationships/image" Target="../media/image820.png"/><Relationship Id="rId12" Type="http://schemas.openxmlformats.org/officeDocument/2006/relationships/image" Target="../media/image93.png"/><Relationship Id="rId17" Type="http://schemas.openxmlformats.org/officeDocument/2006/relationships/image" Target="../media/image97.png"/><Relationship Id="rId2" Type="http://schemas.openxmlformats.org/officeDocument/2006/relationships/image" Target="../media/image77.png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92.png"/><Relationship Id="rId5" Type="http://schemas.openxmlformats.org/officeDocument/2006/relationships/image" Target="../media/image801.png"/><Relationship Id="rId15" Type="http://schemas.openxmlformats.org/officeDocument/2006/relationships/image" Target="../media/image90.png"/><Relationship Id="rId10" Type="http://schemas.openxmlformats.org/officeDocument/2006/relationships/image" Target="../media/image850.png"/><Relationship Id="rId4" Type="http://schemas.openxmlformats.org/officeDocument/2006/relationships/image" Target="../media/image790.png"/><Relationship Id="rId9" Type="http://schemas.openxmlformats.org/officeDocument/2006/relationships/image" Target="../media/image84.png"/><Relationship Id="rId14" Type="http://schemas.openxmlformats.org/officeDocument/2006/relationships/image" Target="../media/image9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0.png"/><Relationship Id="rId4" Type="http://schemas.openxmlformats.org/officeDocument/2006/relationships/image" Target="../media/image2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720.png"/><Relationship Id="rId4" Type="http://schemas.openxmlformats.org/officeDocument/2006/relationships/image" Target="../media/image7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102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620688"/>
            <a:ext cx="7772400" cy="1829761"/>
          </a:xfrm>
        </p:spPr>
        <p:txBody>
          <a:bodyPr>
            <a:normAutofit fontScale="90000"/>
          </a:bodyPr>
          <a:lstStyle/>
          <a:p>
            <a:pPr algn="ctr"/>
            <a:r>
              <a:rPr lang="he-IL" sz="6000" dirty="0"/>
              <a:t>תרגול מס' 1 – </a:t>
            </a:r>
            <a:br>
              <a:rPr lang="en-US" sz="6000" dirty="0"/>
            </a:br>
            <a:r>
              <a:rPr lang="he-IL" sz="6000" dirty="0"/>
              <a:t>מבוא למיקרו כלכלה </a:t>
            </a:r>
            <a:endParaRPr lang="en-US" sz="6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954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20990-1403-44CD-8E96-47AB56D3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הקדמה ונהלים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7EB0BA-1797-4DE9-BBF6-AD039B1F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</a:t>
            </a:fld>
            <a:endParaRPr lang="en-US"/>
          </a:p>
        </p:txBody>
      </p:sp>
      <p:sp>
        <p:nvSpPr>
          <p:cNvPr id="27" name="מציין מיקום תוכן 2">
            <a:extLst>
              <a:ext uri="{FF2B5EF4-FFF2-40B4-BE49-F238E27FC236}">
                <a16:creationId xmlns:a16="http://schemas.microsoft.com/office/drawing/2014/main" id="{7F0B2CF0-5F4A-4D5D-8004-B7425E2A6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11422"/>
            <a:ext cx="4701178" cy="2190034"/>
          </a:xfrm>
          <a:ln w="1270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he-IL" dirty="0"/>
              <a:t>הגשת מטלות</a:t>
            </a:r>
            <a:endParaRPr lang="he-IL" sz="1200" dirty="0"/>
          </a:p>
          <a:p>
            <a:pPr marL="171450" indent="-171450" algn="ctr" rtl="1">
              <a:buFont typeface="Arial" panose="020B0604020202020204" pitchFamily="34" charset="0"/>
              <a:buChar char="•"/>
            </a:pPr>
            <a:r>
              <a:rPr lang="he-IL" sz="1200" dirty="0"/>
              <a:t>הגשת תרגילים ל</a:t>
            </a:r>
            <a:r>
              <a:rPr lang="en-US" sz="1200" dirty="0"/>
              <a:t>MAMA</a:t>
            </a:r>
            <a:r>
              <a:rPr lang="he-IL" sz="1200" dirty="0"/>
              <a:t> בלבד</a:t>
            </a:r>
          </a:p>
          <a:p>
            <a:pPr marL="171450" indent="-171450" algn="ctr" rtl="1">
              <a:buFont typeface="Arial" panose="020B0604020202020204" pitchFamily="34" charset="0"/>
              <a:buChar char="•"/>
            </a:pPr>
            <a:r>
              <a:rPr lang="he-IL" sz="1200" dirty="0"/>
              <a:t> </a:t>
            </a:r>
            <a:r>
              <a:rPr lang="he-IL" sz="1400" dirty="0"/>
              <a:t>יש לשים לב לדד ליין, הארכות למשרתי מילואים ומקרים חריגים לפי תקנון לימודים</a:t>
            </a:r>
          </a:p>
          <a:p>
            <a:pPr marL="171450" indent="-171450" algn="ctr" rtl="1">
              <a:buFont typeface="Arial" panose="020B0604020202020204" pitchFamily="34" charset="0"/>
              <a:buChar char="•"/>
            </a:pPr>
            <a:r>
              <a:rPr lang="he-IL" sz="1400" dirty="0"/>
              <a:t>יש לכתוב שם מלא+ת.ז על העמוד הראשון</a:t>
            </a:r>
          </a:p>
          <a:p>
            <a:pPr marL="171450" indent="-171450" algn="ctr" rtl="1">
              <a:buFont typeface="Arial" panose="020B0604020202020204" pitchFamily="34" charset="0"/>
              <a:buChar char="•"/>
            </a:pPr>
            <a:r>
              <a:rPr lang="he-IL" sz="1400" dirty="0"/>
              <a:t>יש להגיש תרגיל מלא, לכלול הסברים ושרטוטים מתאימים</a:t>
            </a:r>
          </a:p>
          <a:p>
            <a:pPr marL="171450" indent="-171450" algn="ctr" rtl="1">
              <a:buFont typeface="Arial" panose="020B0604020202020204" pitchFamily="34" charset="0"/>
              <a:buChar char="•"/>
            </a:pPr>
            <a:r>
              <a:rPr lang="he-IL" sz="1200" dirty="0"/>
              <a:t>הגשה אישית (כל סטודנט מגיש את עבודתו)</a:t>
            </a:r>
          </a:p>
          <a:p>
            <a:pPr marL="171450" indent="-171450" algn="ctr" rtl="1">
              <a:buFont typeface="Arial" panose="020B0604020202020204" pitchFamily="34" charset="0"/>
              <a:buChar char="•"/>
            </a:pPr>
            <a:r>
              <a:rPr lang="he-IL" sz="2000" b="1" dirty="0" err="1"/>
              <a:t>מבדקונים</a:t>
            </a:r>
            <a:r>
              <a:rPr lang="he-IL" sz="2000" b="1" dirty="0"/>
              <a:t>- להגשה באתר </a:t>
            </a:r>
          </a:p>
        </p:txBody>
      </p:sp>
      <p:sp>
        <p:nvSpPr>
          <p:cNvPr id="31" name="מציין מיקום תוכן 2">
            <a:extLst>
              <a:ext uri="{FF2B5EF4-FFF2-40B4-BE49-F238E27FC236}">
                <a16:creationId xmlns:a16="http://schemas.microsoft.com/office/drawing/2014/main" id="{31B8B353-5ED1-4C42-A3FE-EF2308EB03B6}"/>
              </a:ext>
            </a:extLst>
          </p:cNvPr>
          <p:cNvSpPr txBox="1">
            <a:spLocks/>
          </p:cNvSpPr>
          <p:nvPr/>
        </p:nvSpPr>
        <p:spPr>
          <a:xfrm>
            <a:off x="5364088" y="980072"/>
            <a:ext cx="3386711" cy="148961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68580" tIns="34290" rIns="68580" bIns="34290" rtlCol="1">
            <a:normAutofit fontScale="70000" lnSpcReduction="20000"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ts val="750"/>
              </a:spcBef>
              <a:buNone/>
            </a:pPr>
            <a:r>
              <a:rPr lang="he-IL" sz="2100" b="1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דיבור</a:t>
            </a:r>
            <a:r>
              <a:rPr lang="en-US" sz="2100" b="1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 </a:t>
            </a:r>
            <a:r>
              <a:rPr lang="he-IL" sz="2100" b="1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ונוכחות בשיעור</a:t>
            </a:r>
          </a:p>
          <a:p>
            <a:pPr marL="0" indent="0" algn="ctr" defTabSz="685800">
              <a:spcBef>
                <a:spcPts val="750"/>
              </a:spcBef>
              <a:buNone/>
            </a:pPr>
            <a:endParaRPr lang="he-IL" sz="2100" dirty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defTabSz="685800">
              <a:spcBef>
                <a:spcPts val="750"/>
              </a:spcBef>
            </a:pPr>
            <a:r>
              <a:rPr lang="he-IL" sz="2100" dirty="0">
                <a:solidFill>
                  <a:prstClr val="black"/>
                </a:solidFill>
                <a:latin typeface="Calibri" panose="020F0502020204030204"/>
              </a:rPr>
              <a:t>נוכחות חשובה להצלחה בקורס </a:t>
            </a:r>
            <a:endParaRPr lang="he-IL" sz="2100" dirty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defTabSz="685800">
              <a:spcBef>
                <a:spcPts val="750"/>
              </a:spcBef>
            </a:pPr>
            <a:r>
              <a:rPr lang="he-IL" sz="21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התרגולים מוקלטים, כולל 5 דק' לאחר סיום התרגול</a:t>
            </a:r>
          </a:p>
          <a:p>
            <a:pPr defTabSz="685800">
              <a:spcBef>
                <a:spcPts val="750"/>
              </a:spcBef>
            </a:pPr>
            <a:r>
              <a:rPr lang="he-IL" sz="21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דיבור בהצבעה בלבד</a:t>
            </a:r>
          </a:p>
          <a:p>
            <a:pPr marL="0" indent="0" defTabSz="685800">
              <a:spcBef>
                <a:spcPts val="750"/>
              </a:spcBef>
              <a:buNone/>
            </a:pPr>
            <a:endParaRPr lang="he-IL" sz="2100" dirty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32" name="מציין מיקום תוכן 2">
            <a:extLst>
              <a:ext uri="{FF2B5EF4-FFF2-40B4-BE49-F238E27FC236}">
                <a16:creationId xmlns:a16="http://schemas.microsoft.com/office/drawing/2014/main" id="{95042A7B-439B-4899-BE87-DFA25E878494}"/>
              </a:ext>
            </a:extLst>
          </p:cNvPr>
          <p:cNvSpPr txBox="1">
            <a:spLocks/>
          </p:cNvSpPr>
          <p:nvPr/>
        </p:nvSpPr>
        <p:spPr>
          <a:xfrm>
            <a:off x="5736516" y="2861292"/>
            <a:ext cx="2913877" cy="1915167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68580" tIns="34290" rIns="68580" bIns="34290" rtlCol="1">
            <a:normAutofit fontScale="70000" lnSpcReduction="20000"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ts val="750"/>
              </a:spcBef>
              <a:buNone/>
            </a:pPr>
            <a:r>
              <a:rPr lang="he-IL" sz="2200" b="1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שעת קבלה</a:t>
            </a:r>
            <a:r>
              <a:rPr lang="en-US" sz="2200" b="1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 </a:t>
            </a:r>
            <a:r>
              <a:rPr lang="he-IL" sz="21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(</a:t>
            </a:r>
            <a:r>
              <a:rPr lang="he-IL" sz="26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בתיאום מראש!)</a:t>
            </a:r>
            <a:endParaRPr lang="he-IL" sz="2100" dirty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marL="0" indent="0" defTabSz="685800">
              <a:spcBef>
                <a:spcPts val="750"/>
              </a:spcBef>
              <a:buNone/>
            </a:pPr>
            <a:r>
              <a:rPr lang="he-IL" sz="21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ימי א' או ג' שעה 11:10</a:t>
            </a:r>
          </a:p>
          <a:p>
            <a:pPr marL="0" indent="0" algn="ctr" defTabSz="685800">
              <a:spcBef>
                <a:spcPts val="750"/>
              </a:spcBef>
              <a:buNone/>
            </a:pPr>
            <a:endParaRPr lang="he-IL" sz="2100" dirty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marL="0" indent="0" algn="ctr" defTabSz="685800">
              <a:spcBef>
                <a:spcPts val="750"/>
              </a:spcBef>
              <a:buNone/>
            </a:pPr>
            <a:endParaRPr lang="he-IL" sz="1200" dirty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marL="0" indent="0" algn="ctr" defTabSz="685800">
              <a:spcBef>
                <a:spcPts val="750"/>
              </a:spcBef>
              <a:buNone/>
            </a:pPr>
            <a:endParaRPr lang="he-IL" sz="2200" b="1" dirty="0">
              <a:solidFill>
                <a:srgbClr val="CC9900"/>
              </a:solidFill>
              <a:latin typeface="Calibri" panose="020F0502020204030204"/>
              <a:cs typeface="Arial" panose="020B0604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 algn="ctr" defTabSz="685800">
              <a:spcBef>
                <a:spcPts val="750"/>
              </a:spcBef>
              <a:buNone/>
            </a:pPr>
            <a:r>
              <a:rPr lang="en-US" sz="2200" b="1" u="sng" dirty="0">
                <a:latin typeface="Calibri" panose="020F0502020204030204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michaelananchev@gmail.com</a:t>
            </a:r>
            <a:endParaRPr lang="en-US" sz="2600" b="1" u="sng" dirty="0">
              <a:latin typeface="Calibri" panose="020F0502020204030204"/>
              <a:cs typeface="Arial" panose="020B0604020202020204" pitchFamily="34" charset="0"/>
            </a:endParaRPr>
          </a:p>
          <a:p>
            <a:pPr marL="0" indent="0" algn="ctr" defTabSz="685800">
              <a:spcBef>
                <a:spcPts val="750"/>
              </a:spcBef>
              <a:buNone/>
            </a:pPr>
            <a:r>
              <a:rPr lang="en-US" sz="2600" b="1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michaela@mta.ac.il</a:t>
            </a:r>
            <a:endParaRPr lang="he-IL" sz="2600" b="1" dirty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33" name="מציין מיקום תוכן 2">
            <a:extLst>
              <a:ext uri="{FF2B5EF4-FFF2-40B4-BE49-F238E27FC236}">
                <a16:creationId xmlns:a16="http://schemas.microsoft.com/office/drawing/2014/main" id="{70393DE3-AAF8-48C7-9A3E-F76DCB5EB4B5}"/>
              </a:ext>
            </a:extLst>
          </p:cNvPr>
          <p:cNvSpPr txBox="1">
            <a:spLocks/>
          </p:cNvSpPr>
          <p:nvPr/>
        </p:nvSpPr>
        <p:spPr>
          <a:xfrm>
            <a:off x="2051719" y="4077806"/>
            <a:ext cx="2644047" cy="201549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68580" tIns="34290" rIns="68580" bIns="34290" rtlCol="1">
            <a:normAutofit lnSpcReduction="10000"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ts val="750"/>
              </a:spcBef>
              <a:buNone/>
            </a:pPr>
            <a:r>
              <a:rPr lang="he-IL" sz="21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מה נעשה בתרגול</a:t>
            </a:r>
          </a:p>
          <a:p>
            <a:pPr marL="0" indent="0" defTabSz="685800">
              <a:spcBef>
                <a:spcPts val="750"/>
              </a:spcBef>
              <a:buNone/>
            </a:pPr>
            <a:endParaRPr lang="he-IL" sz="2100" dirty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marL="0" indent="0" defTabSz="685800">
              <a:spcBef>
                <a:spcPts val="750"/>
              </a:spcBef>
              <a:buNone/>
            </a:pPr>
            <a:endParaRPr lang="he-IL" sz="2100" dirty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marL="0" indent="0" defTabSz="685800">
              <a:spcBef>
                <a:spcPts val="750"/>
              </a:spcBef>
              <a:buNone/>
            </a:pPr>
            <a:endParaRPr lang="he-IL" sz="2100" dirty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marL="171450" indent="-171450" algn="ctr" defTabSz="685800">
              <a:spcBef>
                <a:spcPts val="750"/>
              </a:spcBef>
            </a:pPr>
            <a:r>
              <a:rPr lang="he-IL" sz="15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נפתור שאלות מתרגילי בית</a:t>
            </a:r>
          </a:p>
          <a:p>
            <a:pPr marL="171450" indent="-171450" algn="ctr" defTabSz="685800">
              <a:spcBef>
                <a:spcPts val="750"/>
              </a:spcBef>
            </a:pPr>
            <a:r>
              <a:rPr lang="he-IL" sz="15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נפתור שאלות נוספות </a:t>
            </a:r>
          </a:p>
        </p:txBody>
      </p:sp>
      <p:pic>
        <p:nvPicPr>
          <p:cNvPr id="34" name="Picture 4" descr="http://s3-ap-southeast-2.amazonaws.com/wc-prod-pim/JPEG_1000x1000/CA82AUPLII_casio_casio_fx82auplusii_sci_calc_black.jpg">
            <a:extLst>
              <a:ext uri="{FF2B5EF4-FFF2-40B4-BE49-F238E27FC236}">
                <a16:creationId xmlns:a16="http://schemas.microsoft.com/office/drawing/2014/main" id="{AC0A45CD-414B-4244-8482-A61274520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616" y="5070839"/>
            <a:ext cx="499326" cy="49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http://www.tourmat.com/images/products3/prod2.jpg">
            <a:extLst>
              <a:ext uri="{FF2B5EF4-FFF2-40B4-BE49-F238E27FC236}">
                <a16:creationId xmlns:a16="http://schemas.microsoft.com/office/drawing/2014/main" id="{DD5F8BA7-6514-490B-AFE4-3DB13960E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456" y="3281286"/>
            <a:ext cx="914400" cy="75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1F62463-C4C1-4D24-AFA2-4A1E69EB5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674" y="2056483"/>
            <a:ext cx="293586" cy="598822"/>
          </a:xfrm>
          <a:prstGeom prst="rect">
            <a:avLst/>
          </a:prstGeom>
        </p:spPr>
      </p:pic>
      <p:sp>
        <p:nvSpPr>
          <p:cNvPr id="39" name="מציין מיקום תוכן 2">
            <a:extLst>
              <a:ext uri="{FF2B5EF4-FFF2-40B4-BE49-F238E27FC236}">
                <a16:creationId xmlns:a16="http://schemas.microsoft.com/office/drawing/2014/main" id="{00B4EDAD-D2EB-4680-B24F-C8591C89E337}"/>
              </a:ext>
            </a:extLst>
          </p:cNvPr>
          <p:cNvSpPr txBox="1">
            <a:spLocks/>
          </p:cNvSpPr>
          <p:nvPr/>
        </p:nvSpPr>
        <p:spPr>
          <a:xfrm>
            <a:off x="5616643" y="5093750"/>
            <a:ext cx="3068034" cy="148961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68580" tIns="34290" rIns="68580" bIns="34290" rtlCol="1">
            <a:normAutofit lnSpcReduction="10000"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ts val="750"/>
              </a:spcBef>
              <a:buNone/>
            </a:pPr>
            <a:r>
              <a:rPr lang="he-IL" sz="21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הרכב הציון </a:t>
            </a:r>
          </a:p>
          <a:p>
            <a:pPr marL="457200" indent="-457200" defTabSz="685800">
              <a:spcBef>
                <a:spcPts val="750"/>
              </a:spcBef>
              <a:buAutoNum type="arabicPeriod"/>
            </a:pPr>
            <a:r>
              <a:rPr lang="he-IL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בחינת סוף סמסטר</a:t>
            </a:r>
          </a:p>
          <a:p>
            <a:pPr marL="457200" indent="-457200" defTabSz="685800">
              <a:spcBef>
                <a:spcPts val="750"/>
              </a:spcBef>
              <a:buAutoNum type="arabicPeriod"/>
            </a:pPr>
            <a:r>
              <a:rPr lang="he-IL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הפחתת ציון בשל אי עמידה בהגשות בית, 3 נק' על כל תרגיל חסר</a:t>
            </a:r>
          </a:p>
          <a:p>
            <a:pPr marL="457200" indent="-457200" defTabSz="685800">
              <a:spcBef>
                <a:spcPts val="750"/>
              </a:spcBef>
              <a:buAutoNum type="arabicPeriod"/>
            </a:pPr>
            <a:r>
              <a:rPr lang="he-IL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5% בחנים, 95% בחינה (אמריקאית)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AE65FC6-410E-48ED-B268-2A40378F2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964" y="4493590"/>
            <a:ext cx="1065556" cy="82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9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 animBg="1"/>
      <p:bldP spid="31" grpId="0" animBg="1"/>
      <p:bldP spid="32" grpId="0" animBg="1"/>
      <p:bldP spid="33" grpId="0" animBg="1"/>
      <p:bldP spid="39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/>
          <a:lstStyle/>
          <a:p>
            <a:pPr algn="ctr" rtl="1"/>
            <a:r>
              <a:rPr lang="he-IL" dirty="0"/>
              <a:t>תחום מיקרו כלכלה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40632" y="2046019"/>
            <a:ext cx="7772400" cy="653214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תוצאה סופית – התנהגות שוק של מוצר מסויים או מספר שווקים מצומצם.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3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95536" y="2871130"/>
            <a:ext cx="8567392" cy="1051701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  <a:buClrTx/>
            </a:pPr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כלכלה היא תחום השייך למדעי החברה מאחר וכלכלה קשורה בהתנהגות ובחירות של אנשים. </a:t>
            </a:r>
          </a:p>
          <a:p>
            <a:pPr algn="r" rtl="1">
              <a:lnSpc>
                <a:spcPct val="150000"/>
              </a:lnSpc>
              <a:buClrTx/>
            </a:pPr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הנחה בקורס: אנשים הם רציונאליים. </a:t>
            </a:r>
            <a:endParaRPr lang="en-US" sz="1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9972" y="1358596"/>
            <a:ext cx="8077200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יחידות כלכליות קטנות – פרטים (צרכנים), חברות (יצרנים)</a:t>
            </a:r>
          </a:p>
        </p:txBody>
      </p:sp>
      <p:pic>
        <p:nvPicPr>
          <p:cNvPr id="10" name="Picture 2" descr="מושגי יסוד בניהול תהליכי קבלת החלטות משתפים | תובנות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16" y="4963209"/>
            <a:ext cx="6779230" cy="158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3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חזרה על מתמטיקה –</a:t>
            </a:r>
            <a:br>
              <a:rPr lang="en-US" dirty="0"/>
            </a:br>
            <a:r>
              <a:rPr lang="he-IL" dirty="0"/>
              <a:t>משוואת קו ליניארי</a:t>
            </a:r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11" y="311852"/>
            <a:ext cx="1768317" cy="14537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18770" y="596464"/>
            <a:ext cx="21353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dirty="0"/>
              <a:t>Y=</a:t>
            </a:r>
            <a:r>
              <a:rPr lang="en-GB" dirty="0"/>
              <a:t>m*</a:t>
            </a:r>
            <a:r>
              <a:rPr lang="en-US" dirty="0" err="1"/>
              <a:t>X+n</a:t>
            </a:r>
            <a:endParaRPr lang="he-IL" dirty="0"/>
          </a:p>
          <a:p>
            <a:pPr lvl="1" algn="r" rtl="1"/>
            <a:r>
              <a:rPr lang="en-US" dirty="0"/>
              <a:t>-m</a:t>
            </a:r>
            <a:r>
              <a:rPr lang="he-IL" dirty="0"/>
              <a:t>שיפוע </a:t>
            </a:r>
            <a:br>
              <a:rPr lang="en-US" dirty="0"/>
            </a:br>
            <a:r>
              <a:rPr lang="en-US" dirty="0"/>
              <a:t>-n</a:t>
            </a:r>
            <a:r>
              <a:rPr lang="he-IL" dirty="0"/>
              <a:t>חותך/קבוע</a:t>
            </a:r>
          </a:p>
        </p:txBody>
      </p:sp>
      <p:sp>
        <p:nvSpPr>
          <p:cNvPr id="8" name="Rectangle 7"/>
          <p:cNvSpPr/>
          <p:nvPr/>
        </p:nvSpPr>
        <p:spPr>
          <a:xfrm>
            <a:off x="2939142" y="3364623"/>
            <a:ext cx="57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/>
              <a:t>חישוב משוואת קו</a:t>
            </a:r>
          </a:p>
          <a:p>
            <a:pPr lvl="1" algn="r" rtl="1"/>
            <a:r>
              <a:rPr lang="he-IL" dirty="0"/>
              <a:t>בין שתי נקודות עובר קו ישר אחד.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683568" y="1596583"/>
                <a:ext cx="2671820" cy="1180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 rtl="1">
                  <a:lnSpc>
                    <a:spcPct val="200000"/>
                  </a:lnSpc>
                  <a:spcAft>
                    <a:spcPts val="800"/>
                  </a:spcAft>
                  <a:buSzPts val="1100"/>
                </a:pPr>
                <a:r>
                  <a:rPr lang="en-US" sz="4000" b="1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ΔY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ΔX</m:t>
                        </m:r>
                      </m:den>
                    </m:f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Y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Y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X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X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</m:t>
                        </m:r>
                      </m:den>
                    </m:f>
                  </m:oMath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596583"/>
                <a:ext cx="2671820" cy="1180323"/>
              </a:xfrm>
              <a:prstGeom prst="rect">
                <a:avLst/>
              </a:prstGeom>
              <a:blipFill>
                <a:blip r:embed="rId4"/>
                <a:stretch>
                  <a:fillRect b="-180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844611" y="1794959"/>
            <a:ext cx="3899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כאשר נתונות 2 נקודות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X1,Y1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ו-(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X2,Y2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),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898746" y="2172280"/>
            <a:ext cx="48236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נוכל לחשב את שיפוע הישר העובר דרך נקודות אלו: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173785" y="4010954"/>
            <a:ext cx="468997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כאשר נתונה נקודה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X1,Y1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 ושיפוע </a:t>
            </a: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</a:t>
            </a:r>
            <a:r>
              <a:rPr lang="he-IL" b="1" dirty="0">
                <a:solidFill>
                  <a:srgbClr val="5B9BD5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ניתן לחשב את משוואת הישר על ידי הצבה בנוסחה: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79343" y="4226398"/>
                <a:ext cx="3506857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𝐦</m:t>
                          </m:r>
                          <m:r>
                            <a:rPr lang="he-IL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43" y="4226398"/>
                <a:ext cx="3506857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699041" y="5090321"/>
            <a:ext cx="504497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תרגילון:</a:t>
            </a:r>
            <a:br>
              <a:rPr lang="en-US" dirty="0"/>
            </a:br>
            <a:r>
              <a:rPr lang="he-IL" dirty="0"/>
              <a:t>1. מצאו את שיפוע הישר העובר דרך שתי נק' (4,10), (10,22).</a:t>
            </a:r>
            <a:br>
              <a:rPr lang="en-US" dirty="0"/>
            </a:br>
            <a:r>
              <a:rPr lang="he-IL" dirty="0"/>
              <a:t>2. מצאו את משוואת הישר של הקו.</a:t>
            </a:r>
            <a:br>
              <a:rPr lang="en-US" dirty="0"/>
            </a:br>
            <a:r>
              <a:rPr lang="he-IL" dirty="0"/>
              <a:t>3. שרטטו את משוואת קו הישר שמצאתם.  </a:t>
            </a:r>
            <a:endParaRPr lang="en-US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2828D87-3015-2B60-0FBE-D5984A6D8DA7}"/>
              </a:ext>
            </a:extLst>
          </p:cNvPr>
          <p:cNvSpPr txBox="1"/>
          <p:nvPr/>
        </p:nvSpPr>
        <p:spPr>
          <a:xfrm>
            <a:off x="355410" y="2867974"/>
            <a:ext cx="5152693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e-IL" sz="1600" i="1" dirty="0"/>
              <a:t>משמעות השיפוע: </a:t>
            </a:r>
          </a:p>
          <a:p>
            <a:r>
              <a:rPr lang="he-IL" sz="1600" b="1" i="1" dirty="0">
                <a:solidFill>
                  <a:schemeClr val="accent1">
                    <a:lumMod val="50000"/>
                  </a:schemeClr>
                </a:solidFill>
              </a:rPr>
              <a:t>בכמה יחידות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Y</a:t>
            </a:r>
            <a:r>
              <a:rPr lang="he-IL" sz="1600" b="1" i="1" dirty="0">
                <a:solidFill>
                  <a:schemeClr val="accent1">
                    <a:lumMod val="50000"/>
                  </a:schemeClr>
                </a:solidFill>
              </a:rPr>
              <a:t> משתנה כאשר מגדילים את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he-IL" sz="1600" b="1" i="1" dirty="0">
                <a:solidFill>
                  <a:schemeClr val="accent1">
                    <a:lumMod val="50000"/>
                  </a:schemeClr>
                </a:solidFill>
              </a:rPr>
              <a:t> ביחידה אחת</a:t>
            </a:r>
            <a:endParaRPr lang="en-IL" sz="16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8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 animBg="1"/>
      <p:bldP spid="14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משוואת קו ליניארי</a:t>
            </a:r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11" y="311852"/>
            <a:ext cx="1981200" cy="16287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72611" y="6324599"/>
            <a:ext cx="176843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 rtl="1"/>
            <a:r>
              <a:rPr lang="en-US" dirty="0"/>
              <a:t>Y=AX+B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8339" y="2096642"/>
                <a:ext cx="3045200" cy="1180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 rtl="1">
                  <a:lnSpc>
                    <a:spcPct val="200000"/>
                  </a:lnSpc>
                  <a:spcAft>
                    <a:spcPts val="800"/>
                  </a:spcAft>
                  <a:buSzPts val="1100"/>
                </a:pPr>
                <a:r>
                  <a:rPr lang="en-US" sz="4000" b="1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 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ΔY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ΔX</m:t>
                        </m:r>
                      </m:den>
                    </m:f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Y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800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Y</m:t>
                        </m:r>
                        <m:r>
                          <a:rPr lang="en-US" sz="2800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X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800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X</m:t>
                        </m:r>
                        <m:r>
                          <a:rPr lang="en-US" sz="2800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</m:t>
                        </m:r>
                      </m:den>
                    </m:f>
                    <m:r>
                      <a:rPr lang="he-IL" sz="2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39" y="2096642"/>
                <a:ext cx="3045200" cy="1180323"/>
              </a:xfrm>
              <a:prstGeom prst="rect">
                <a:avLst/>
              </a:prstGeom>
              <a:blipFill>
                <a:blip r:embed="rId4"/>
                <a:stretch>
                  <a:fillRect l="-1200" b="-180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54714" y="3846594"/>
                <a:ext cx="3506857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𝐦</m:t>
                          </m:r>
                          <m:r>
                            <a:rPr lang="he-IL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4" y="3846594"/>
                <a:ext cx="3506857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733800" y="1331181"/>
            <a:ext cx="504497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תרגילון:</a:t>
            </a:r>
            <a:br>
              <a:rPr lang="en-US" dirty="0"/>
            </a:br>
            <a:r>
              <a:rPr lang="he-IL" dirty="0"/>
              <a:t>1. מצאו את שיפוע הישר העובר דרך שתי נק' (</a:t>
            </a:r>
            <a:r>
              <a:rPr lang="he-IL" dirty="0">
                <a:solidFill>
                  <a:srgbClr val="7030A0"/>
                </a:solidFill>
              </a:rPr>
              <a:t>4,10</a:t>
            </a:r>
            <a:r>
              <a:rPr lang="he-IL" dirty="0"/>
              <a:t>), (10,22).</a:t>
            </a:r>
            <a:br>
              <a:rPr lang="en-US" dirty="0"/>
            </a:br>
            <a:r>
              <a:rPr lang="he-IL" dirty="0"/>
              <a:t>2. מצאו את משוואת הישר של הקו.</a:t>
            </a:r>
            <a:br>
              <a:rPr lang="en-US" dirty="0"/>
            </a:br>
            <a:r>
              <a:rPr lang="he-IL" dirty="0"/>
              <a:t>3. שרטטו את משוואת קו הישר שמצאתם. 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841043" y="2180688"/>
                <a:ext cx="1610578" cy="1351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 rtl="1">
                  <a:lnSpc>
                    <a:spcPct val="200000"/>
                  </a:lnSpc>
                  <a:spcAft>
                    <a:spcPts val="800"/>
                  </a:spcAft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he-IL" sz="2000" b="0" i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22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he-IL" sz="2000" b="1" i="0" smtClean="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𝟏𝟎</m:t>
                          </m:r>
                        </m:num>
                        <m:den>
                          <m:r>
                            <a:rPr lang="he-IL" sz="2000" b="0" i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10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he-IL" sz="2000" b="1" i="0" smtClean="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𝟒</m:t>
                          </m:r>
                          <m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</m:den>
                      </m:f>
                      <m:r>
                        <a:rPr lang="he-IL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043" y="2180688"/>
                <a:ext cx="1610578" cy="1351396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063966" y="2172187"/>
                <a:ext cx="957690" cy="1351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 rtl="1">
                  <a:lnSpc>
                    <a:spcPct val="200000"/>
                  </a:lnSpc>
                  <a:spcAft>
                    <a:spcPts val="800"/>
                  </a:spcAft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he-IL" sz="20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12</m:t>
                          </m:r>
                        </m:num>
                        <m:den>
                          <m:r>
                            <a:rPr lang="he-IL" sz="20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6</m:t>
                          </m:r>
                        </m:den>
                      </m:f>
                      <m:r>
                        <a:rPr lang="he-IL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66" y="2172187"/>
                <a:ext cx="957690" cy="1351396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623037" y="2508117"/>
                <a:ext cx="957690" cy="8104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 rtl="1">
                  <a:lnSpc>
                    <a:spcPct val="200000"/>
                  </a:lnSpc>
                  <a:spcAft>
                    <a:spcPts val="800"/>
                  </a:spcAft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2</m:t>
                      </m:r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037" y="2508117"/>
                <a:ext cx="957690" cy="81047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54714" y="4602515"/>
                <a:ext cx="3216714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he-IL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4" y="4602515"/>
                <a:ext cx="3216714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09208" y="5206352"/>
                <a:ext cx="2474331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08" y="5206352"/>
                <a:ext cx="2474331" cy="46166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260290" y="5765476"/>
                <a:ext cx="1768433" cy="46166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𝟐𝐗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290" y="5765476"/>
                <a:ext cx="1768433" cy="461665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4800600" y="6324600"/>
            <a:ext cx="2667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800600" y="3955804"/>
            <a:ext cx="0" cy="2368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396782" y="3759464"/>
                <a:ext cx="44275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782" y="3759464"/>
                <a:ext cx="442750" cy="46166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7467600" y="6093767"/>
                <a:ext cx="42992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6093767"/>
                <a:ext cx="429925" cy="46166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/>
          <p:cNvCxnSpPr/>
          <p:nvPr/>
        </p:nvCxnSpPr>
        <p:spPr>
          <a:xfrm flipV="1">
            <a:off x="4800281" y="4083865"/>
            <a:ext cx="2454044" cy="172008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961571" y="5516313"/>
                <a:ext cx="912429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571" y="5516313"/>
                <a:ext cx="912429" cy="461665"/>
              </a:xfrm>
              <a:prstGeom prst="rect">
                <a:avLst/>
              </a:prstGeom>
              <a:blipFill rotWithShape="0">
                <a:blip r:embed="rId18"/>
                <a:stretch>
                  <a:fillRect l="-2000" r="-1333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092423" y="5500665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Arc 28"/>
          <p:cNvSpPr/>
          <p:nvPr/>
        </p:nvSpPr>
        <p:spPr>
          <a:xfrm rot="1613593">
            <a:off x="4748853" y="5478300"/>
            <a:ext cx="833938" cy="409190"/>
          </a:xfrm>
          <a:prstGeom prst="arc">
            <a:avLst>
              <a:gd name="adj1" fmla="val 16200000"/>
              <a:gd name="adj2" fmla="val 210353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4839532" y="5801007"/>
            <a:ext cx="1222000" cy="2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839532" y="2626913"/>
            <a:ext cx="410561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כאשר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X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=1,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Y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=4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כאשר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X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=2,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Y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=6,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כאשר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X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=3,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Y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=8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כלומר הגדלת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X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 ביחידה, מגדילה את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Y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 ב2 יחידות.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5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5" grpId="0"/>
      <p:bldP spid="16" grpId="0"/>
      <p:bldP spid="17" grpId="0"/>
      <p:bldP spid="18" grpId="0"/>
      <p:bldP spid="19" grpId="0"/>
      <p:bldP spid="20" grpId="0" animBg="1"/>
      <p:bldP spid="23" grpId="0"/>
      <p:bldP spid="24" grpId="0"/>
      <p:bldP spid="27" grpId="0"/>
      <p:bldP spid="28" grpId="0"/>
      <p:bldP spid="29" grpId="0" animBg="1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משוואת קו ליניארי</a:t>
            </a:r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11" y="311852"/>
            <a:ext cx="1981200" cy="16287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0316" y="6277671"/>
            <a:ext cx="2165233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 rtl="1"/>
            <a:r>
              <a:rPr lang="en-US" dirty="0"/>
              <a:t>Y=AX+B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8339" y="2096642"/>
                <a:ext cx="3045200" cy="1180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 rtl="1">
                  <a:lnSpc>
                    <a:spcPct val="200000"/>
                  </a:lnSpc>
                  <a:spcAft>
                    <a:spcPts val="800"/>
                  </a:spcAft>
                  <a:buSzPts val="1100"/>
                </a:pPr>
                <a:r>
                  <a:rPr lang="en-US" sz="4000" b="1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ΔY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ΔX</m:t>
                        </m:r>
                      </m:den>
                    </m:f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Y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800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Y</m:t>
                        </m:r>
                        <m:r>
                          <a:rPr lang="en-US" sz="2800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X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800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X</m:t>
                        </m:r>
                        <m:r>
                          <a:rPr lang="en-US" sz="2800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</m:t>
                        </m:r>
                      </m:den>
                    </m:f>
                    <m:r>
                      <a:rPr lang="he-IL" sz="2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39" y="2096642"/>
                <a:ext cx="3045200" cy="1180323"/>
              </a:xfrm>
              <a:prstGeom prst="rect">
                <a:avLst/>
              </a:prstGeom>
              <a:blipFill rotWithShape="0">
                <a:blip r:embed="rId4"/>
                <a:stretch>
                  <a:fillRect b="-18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54714" y="3846594"/>
                <a:ext cx="3506857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𝐦</m:t>
                          </m:r>
                          <m:r>
                            <a:rPr lang="he-IL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4" y="3846594"/>
                <a:ext cx="3506857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733800" y="1331181"/>
            <a:ext cx="504497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תרגילון2:</a:t>
            </a:r>
            <a:br>
              <a:rPr lang="en-US" dirty="0"/>
            </a:br>
            <a:r>
              <a:rPr lang="he-IL" dirty="0"/>
              <a:t>1. מצאו את שיפוע הישר העובר דרך שתי נק' (</a:t>
            </a:r>
            <a:r>
              <a:rPr lang="he-IL" dirty="0">
                <a:solidFill>
                  <a:srgbClr val="7030A0"/>
                </a:solidFill>
              </a:rPr>
              <a:t>4,10</a:t>
            </a:r>
            <a:r>
              <a:rPr lang="he-IL" dirty="0"/>
              <a:t>), (</a:t>
            </a:r>
            <a:r>
              <a:rPr lang="he-IL" b="1" dirty="0">
                <a:solidFill>
                  <a:srgbClr val="C00000"/>
                </a:solidFill>
              </a:rPr>
              <a:t>2,12</a:t>
            </a:r>
            <a:r>
              <a:rPr lang="he-IL" dirty="0"/>
              <a:t>).</a:t>
            </a:r>
            <a:br>
              <a:rPr lang="en-US" dirty="0"/>
            </a:br>
            <a:r>
              <a:rPr lang="he-IL" dirty="0"/>
              <a:t>2. מצאו את משוואת הישר של הקו.</a:t>
            </a:r>
            <a:br>
              <a:rPr lang="en-US" dirty="0"/>
            </a:br>
            <a:r>
              <a:rPr lang="he-IL" dirty="0"/>
              <a:t>3. שרטטו את משוואת קו הישר שמצאתם. 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841043" y="2180688"/>
                <a:ext cx="1610578" cy="1351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 rtl="1">
                  <a:lnSpc>
                    <a:spcPct val="200000"/>
                  </a:lnSpc>
                  <a:spcAft>
                    <a:spcPts val="800"/>
                  </a:spcAft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he-IL" sz="2000" b="1" i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𝟏𝟐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he-IL" sz="2000" b="1" i="0" smtClean="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𝟏𝟎</m:t>
                          </m:r>
                        </m:num>
                        <m:den>
                          <m:r>
                            <a:rPr lang="he-IL" sz="2000" b="1" i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he-IL" sz="2000" b="1" i="0" smtClean="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𝟒</m:t>
                          </m:r>
                          <m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</m:den>
                      </m:f>
                      <m:r>
                        <a:rPr lang="he-IL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043" y="2180688"/>
                <a:ext cx="1610578" cy="1351396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063966" y="2172187"/>
                <a:ext cx="957690" cy="1351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 rtl="1">
                  <a:lnSpc>
                    <a:spcPct val="200000"/>
                  </a:lnSpc>
                  <a:spcAft>
                    <a:spcPts val="800"/>
                  </a:spcAft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he-IL" sz="20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he-IL" sz="20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he-IL" sz="20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he-IL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66" y="2172187"/>
                <a:ext cx="957690" cy="135139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623037" y="2508117"/>
                <a:ext cx="957690" cy="8104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 rtl="1">
                  <a:lnSpc>
                    <a:spcPct val="200000"/>
                  </a:lnSpc>
                  <a:spcAft>
                    <a:spcPts val="800"/>
                  </a:spcAft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he-IL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1</m:t>
                      </m:r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037" y="2508117"/>
                <a:ext cx="957690" cy="810478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54714" y="4602515"/>
                <a:ext cx="3500445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e-IL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he-IL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he-IL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4" y="4602515"/>
                <a:ext cx="3500445" cy="52322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09208" y="5206352"/>
                <a:ext cx="2519216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he-IL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he-IL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08" y="5206352"/>
                <a:ext cx="2519216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057887" y="5765476"/>
                <a:ext cx="1997662" cy="46166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he-I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US" sz="3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87" y="5765476"/>
                <a:ext cx="1997662" cy="461665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4800600" y="6324600"/>
            <a:ext cx="2667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800600" y="3955804"/>
            <a:ext cx="0" cy="2368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435713" y="3626433"/>
                <a:ext cx="44275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713" y="3626433"/>
                <a:ext cx="442750" cy="461665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7467600" y="6093767"/>
                <a:ext cx="42992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6093767"/>
                <a:ext cx="429925" cy="46166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/>
          <p:cNvCxnSpPr/>
          <p:nvPr/>
        </p:nvCxnSpPr>
        <p:spPr>
          <a:xfrm>
            <a:off x="4807012" y="4293087"/>
            <a:ext cx="2165233" cy="203151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948595" y="4088098"/>
                <a:ext cx="93487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595" y="4088098"/>
                <a:ext cx="934871" cy="400110"/>
              </a:xfrm>
              <a:prstGeom prst="rect">
                <a:avLst/>
              </a:prstGeom>
              <a:blipFill rotWithShape="0">
                <a:blip r:embed="rId21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896149" y="6069390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b="1" dirty="0">
                <a:solidFill>
                  <a:schemeClr val="accent1">
                    <a:lumMod val="75000"/>
                  </a:schemeClr>
                </a:solidFill>
              </a:rPr>
              <a:t>1-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Arc 28"/>
          <p:cNvSpPr/>
          <p:nvPr/>
        </p:nvSpPr>
        <p:spPr>
          <a:xfrm rot="18186735">
            <a:off x="6012105" y="6073076"/>
            <a:ext cx="833938" cy="409190"/>
          </a:xfrm>
          <a:prstGeom prst="arc">
            <a:avLst>
              <a:gd name="adj1" fmla="val 14484198"/>
              <a:gd name="adj2" fmla="val 210353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274743" y="2626913"/>
            <a:ext cx="3670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כאשר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X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=1,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Y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=13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כאשר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X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=2,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Y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=12,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כאשר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X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=3,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Y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=11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כלומר הגדלת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X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 ביחידה, </a:t>
            </a:r>
            <a:r>
              <a:rPr lang="he-IL" u="sng" dirty="0">
                <a:solidFill>
                  <a:schemeClr val="accent4">
                    <a:lumMod val="75000"/>
                  </a:schemeClr>
                </a:solidFill>
              </a:rPr>
              <a:t>מקטינה 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את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Y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 ביחידה אחת.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6605697" y="6349252"/>
                <a:ext cx="93487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697" y="6349252"/>
                <a:ext cx="934871" cy="400110"/>
              </a:xfrm>
              <a:prstGeom prst="rect">
                <a:avLst/>
              </a:prstGeom>
              <a:blipFill rotWithShape="0">
                <a:blip r:embed="rId22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65EF07E-13A4-0AB1-B04E-891C90E40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72850" y="6374665"/>
            <a:ext cx="1357072" cy="457200"/>
          </a:xfrm>
        </p:spPr>
        <p:txBody>
          <a:bodyPr/>
          <a:lstStyle/>
          <a:p>
            <a:r>
              <a:rPr lang="he-IL" dirty="0"/>
              <a:t>מיכאלה משקוביץ'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4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5" grpId="0"/>
      <p:bldP spid="16" grpId="0"/>
      <p:bldP spid="17" grpId="0"/>
      <p:bldP spid="18" grpId="0"/>
      <p:bldP spid="19" grpId="0"/>
      <p:bldP spid="20" grpId="0" animBg="1"/>
      <p:bldP spid="23" grpId="0"/>
      <p:bldP spid="24" grpId="0"/>
      <p:bldP spid="27" grpId="0"/>
      <p:bldP spid="28" grpId="0"/>
      <p:bldP spid="29" grpId="0" animBg="1"/>
      <p:bldP spid="32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99495" y="106863"/>
            <a:ext cx="7772400" cy="871060"/>
          </a:xfrm>
        </p:spPr>
        <p:txBody>
          <a:bodyPr/>
          <a:lstStyle/>
          <a:p>
            <a:pPr algn="ctr"/>
            <a:r>
              <a:rPr lang="he-IL" dirty="0"/>
              <a:t>משוואת קו ליניארי</a:t>
            </a:r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11" y="311852"/>
            <a:ext cx="1981200" cy="16287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21771" y="127186"/>
            <a:ext cx="137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dirty="0"/>
              <a:t>Y=AX+B</a:t>
            </a:r>
            <a:endParaRPr lang="he-IL" dirty="0"/>
          </a:p>
        </p:txBody>
      </p:sp>
      <p:sp>
        <p:nvSpPr>
          <p:cNvPr id="7" name="Rectangle 6"/>
          <p:cNvSpPr/>
          <p:nvPr/>
        </p:nvSpPr>
        <p:spPr>
          <a:xfrm>
            <a:off x="3597765" y="1952771"/>
            <a:ext cx="45720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r" rtl="1"/>
            <a:r>
              <a:rPr lang="he-IL" dirty="0"/>
              <a:t>יחס בין קווים ישרים:</a:t>
            </a:r>
          </a:p>
          <a:p>
            <a:pPr lvl="1" algn="r" rtl="1"/>
            <a:r>
              <a:rPr lang="he-IL" dirty="0"/>
              <a:t>נחתכים – נפגשים בנק' אחת</a:t>
            </a:r>
          </a:p>
          <a:p>
            <a:pPr lvl="1" algn="r" rtl="1"/>
            <a:r>
              <a:rPr lang="he-IL" dirty="0"/>
              <a:t>מקבילים – לא נפגשים כלל</a:t>
            </a:r>
          </a:p>
          <a:p>
            <a:pPr lvl="1" algn="r" rtl="1"/>
            <a:r>
              <a:rPr lang="he-IL" dirty="0"/>
              <a:t>מתלכדים – אינסוף נקודות מפגש.</a:t>
            </a:r>
          </a:p>
        </p:txBody>
      </p:sp>
      <p:sp>
        <p:nvSpPr>
          <p:cNvPr id="4" name="Rectangle 3"/>
          <p:cNvSpPr/>
          <p:nvPr/>
        </p:nvSpPr>
        <p:spPr>
          <a:xfrm>
            <a:off x="2177434" y="879187"/>
            <a:ext cx="6781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u="sng" dirty="0">
                <a:solidFill>
                  <a:schemeClr val="accent4">
                    <a:lumMod val="75000"/>
                  </a:schemeClr>
                </a:solidFill>
              </a:rPr>
              <a:t>תרגילון3 :</a:t>
            </a:r>
            <a:br>
              <a:rPr lang="en-US" dirty="0"/>
            </a:br>
            <a:r>
              <a:rPr lang="he-IL" dirty="0"/>
              <a:t>1. האם הישרים שמצאתם בתרגיל 1 ו2 נחתכים?</a:t>
            </a:r>
            <a:br>
              <a:rPr lang="en-US" dirty="0"/>
            </a:br>
            <a:r>
              <a:rPr lang="he-IL" dirty="0"/>
              <a:t>2. אם כן נחתכים, מצאו את נקודת החיתוך בין הישרים. אם לא, הסבירו מדוע.</a:t>
            </a:r>
          </a:p>
          <a:p>
            <a:pPr algn="r" rtl="1"/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228095" y="3166530"/>
                <a:ext cx="1768433" cy="46166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𝟐𝐗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095" y="3166530"/>
                <a:ext cx="1768433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197067" y="3786162"/>
                <a:ext cx="1997662" cy="46166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he-I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US" sz="3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067" y="3786162"/>
                <a:ext cx="1997662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5447965" y="5954054"/>
            <a:ext cx="2667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447965" y="3585258"/>
            <a:ext cx="0" cy="2368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083078" y="3255887"/>
                <a:ext cx="44275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078" y="3255887"/>
                <a:ext cx="44275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8114965" y="5723221"/>
                <a:ext cx="42992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965" y="5723221"/>
                <a:ext cx="429925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5454377" y="3922541"/>
            <a:ext cx="2317063" cy="200331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595960" y="3717552"/>
                <a:ext cx="93487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960" y="3717552"/>
                <a:ext cx="934871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060511" y="5615500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b="1" dirty="0">
                <a:solidFill>
                  <a:schemeClr val="accent1">
                    <a:lumMod val="75000"/>
                  </a:schemeClr>
                </a:solidFill>
              </a:rPr>
              <a:t>1-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Arc 17"/>
          <p:cNvSpPr/>
          <p:nvPr/>
        </p:nvSpPr>
        <p:spPr>
          <a:xfrm rot="18186735">
            <a:off x="6659470" y="5702530"/>
            <a:ext cx="833938" cy="409190"/>
          </a:xfrm>
          <a:prstGeom prst="arc">
            <a:avLst>
              <a:gd name="adj1" fmla="val 14484198"/>
              <a:gd name="adj2" fmla="val 210353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253062" y="5978706"/>
                <a:ext cx="93487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062" y="5978706"/>
                <a:ext cx="934871" cy="400110"/>
              </a:xfrm>
              <a:prstGeom prst="rect">
                <a:avLst/>
              </a:prstGeom>
              <a:blipFill rotWithShape="0">
                <a:blip r:embed="rId9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 flipV="1">
            <a:off x="5454377" y="3973037"/>
            <a:ext cx="1591601" cy="1759187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615667" y="5444591"/>
                <a:ext cx="912429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667" y="5444591"/>
                <a:ext cx="912429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333" r="-2000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5622481" y="5457392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Arc 22"/>
          <p:cNvSpPr/>
          <p:nvPr/>
        </p:nvSpPr>
        <p:spPr>
          <a:xfrm rot="1613593">
            <a:off x="5222484" y="5425886"/>
            <a:ext cx="833938" cy="409190"/>
          </a:xfrm>
          <a:prstGeom prst="arc">
            <a:avLst>
              <a:gd name="adj1" fmla="val 16200000"/>
              <a:gd name="adj2" fmla="val 210353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>
            <a:off x="5493628" y="5729285"/>
            <a:ext cx="669176" cy="11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952685" y="4318566"/>
            <a:ext cx="23877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eft Brace 25"/>
          <p:cNvSpPr/>
          <p:nvPr/>
        </p:nvSpPr>
        <p:spPr>
          <a:xfrm>
            <a:off x="770895" y="3101182"/>
            <a:ext cx="457200" cy="12052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050390" y="4460915"/>
                <a:ext cx="2734018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𝟐𝐗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he-IL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U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90" y="4460915"/>
                <a:ext cx="2734018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066432" y="4989888"/>
                <a:ext cx="1397562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𝟑𝐗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432" y="4989888"/>
                <a:ext cx="1397562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066432" y="5535263"/>
                <a:ext cx="1028871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432" y="5535263"/>
                <a:ext cx="1028871" cy="46166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2195898" y="5535263"/>
                <a:ext cx="1057212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Y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U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898" y="5535263"/>
                <a:ext cx="1057212" cy="461665"/>
              </a:xfrm>
              <a:prstGeom prst="rect">
                <a:avLst/>
              </a:prstGeom>
              <a:blipFill rotWithShape="0">
                <a:blip r:embed="rId14"/>
                <a:stretch>
                  <a:fillRect l="-8621" t="-9211" r="-575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6326361" y="4460914"/>
                <a:ext cx="1082348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361" y="4460914"/>
                <a:ext cx="1082348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1695" r="-1695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/>
          <p:cNvSpPr/>
          <p:nvPr/>
        </p:nvSpPr>
        <p:spPr>
          <a:xfrm>
            <a:off x="6236340" y="4599798"/>
            <a:ext cx="228600" cy="23083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62DF6471-F3B4-3B2C-9DCC-97DF50E89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6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3" grpId="0"/>
      <p:bldP spid="14" grpId="0"/>
      <p:bldP spid="16" grpId="0"/>
      <p:bldP spid="17" grpId="0"/>
      <p:bldP spid="18" grpId="0" animBg="1"/>
      <p:bldP spid="19" grpId="0"/>
      <p:bldP spid="21" grpId="0"/>
      <p:bldP spid="22" grpId="0"/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תחום מיקרו כלכלה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4907" y="1412322"/>
            <a:ext cx="7772400" cy="1066800"/>
          </a:xfrm>
        </p:spPr>
        <p:txBody>
          <a:bodyPr>
            <a:no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מושגים בהם נשתמש במהלך הקורס: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endParaRPr lang="he-IL" sz="1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 rtl="1">
              <a:lnSpc>
                <a:spcPct val="150000"/>
              </a:lnSpc>
              <a:buClrTx/>
            </a:pPr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מוצר –  סחורה או שירות המיועדים להשביע את רצונם של בני האדם.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8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29509" y="3218103"/>
            <a:ext cx="7772400" cy="6096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  <a:buClrTx/>
            </a:pPr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גורם ייצור  –  כל אמצעי המאפשר ייצורם של מוצרים, כגון עובדים, מכונות, קרקע.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45551" y="4035989"/>
            <a:ext cx="7772400" cy="6096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תופעת המחסור –  המשק מוגבל מבחינת גורמי ייצור ולכן </a:t>
            </a:r>
            <a:r>
              <a:rPr lang="he-IL" sz="1800" b="1" dirty="0">
                <a:latin typeface="David" panose="020E0502060401010101" pitchFamily="34" charset="-79"/>
                <a:cs typeface="David" panose="020E0502060401010101" pitchFamily="34" charset="-79"/>
              </a:rPr>
              <a:t>הגדלת הייצור ממוצר אחד             מחייבת ויתור על מוצר אחר</a:t>
            </a:r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2452"/>
            <a:ext cx="1376056" cy="139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3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4" y="76200"/>
            <a:ext cx="7848600" cy="1143000"/>
          </a:xfrm>
        </p:spPr>
        <p:txBody>
          <a:bodyPr/>
          <a:lstStyle/>
          <a:p>
            <a:pPr algn="ctr"/>
            <a:r>
              <a:rPr lang="he-IL" dirty="0"/>
              <a:t>הגדרות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1631" y="1077349"/>
            <a:ext cx="8429184" cy="732127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  <a:buClrTx/>
            </a:pPr>
            <a:r>
              <a:rPr lang="he-IL" sz="2000" b="1" dirty="0">
                <a:latin typeface="David" pitchFamily="34" charset="-79"/>
                <a:cs typeface="David" pitchFamily="34" charset="-79"/>
              </a:rPr>
              <a:t>עקומת תמורה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  הינה גבול אפשרויות הייצור של המשק. אוסף נקודות הייצור היעילות.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61631" y="5422883"/>
            <a:ext cx="8756904" cy="47320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buClrTx/>
            </a:pPr>
            <a:r>
              <a:rPr lang="he-IL" b="1" dirty="0">
                <a:latin typeface="David" pitchFamily="34" charset="-79"/>
                <a:cs typeface="David" pitchFamily="34" charset="-79"/>
              </a:rPr>
              <a:t>ייצור יעיל – כאשר </a:t>
            </a:r>
            <a:r>
              <a:rPr lang="he-IL" dirty="0">
                <a:latin typeface="David" pitchFamily="34" charset="-79"/>
                <a:cs typeface="David" pitchFamily="34" charset="-79"/>
              </a:rPr>
              <a:t>לא ניתן להגדיל כמות מיוצרת של מוצר מסוים, מבלי לפגוע בכמות של המוצר האחר.</a:t>
            </a:r>
            <a:endParaRPr lang="he-IL" b="1" dirty="0">
              <a:latin typeface="David" pitchFamily="34" charset="-79"/>
              <a:cs typeface="David" pitchFamily="34" charset="-79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971834" y="5106187"/>
            <a:ext cx="3066766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971834" y="2413829"/>
            <a:ext cx="0" cy="2698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03504" y="2007803"/>
                <a:ext cx="44275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" y="2007803"/>
                <a:ext cx="44275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166871" y="4875354"/>
                <a:ext cx="42992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871" y="4875354"/>
                <a:ext cx="429925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c 11"/>
          <p:cNvSpPr/>
          <p:nvPr/>
        </p:nvSpPr>
        <p:spPr>
          <a:xfrm>
            <a:off x="-1956170" y="2875494"/>
            <a:ext cx="5448700" cy="4829534"/>
          </a:xfrm>
          <a:prstGeom prst="arc">
            <a:avLst>
              <a:gd name="adj1" fmla="val 16464258"/>
              <a:gd name="adj2" fmla="val 21363576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752600" y="2964656"/>
            <a:ext cx="228600" cy="23083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048000" y="3931791"/>
            <a:ext cx="228600" cy="23083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783830" y="2593569"/>
                <a:ext cx="45217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30" y="2593569"/>
                <a:ext cx="452175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150198" y="3619045"/>
                <a:ext cx="4580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198" y="3619045"/>
                <a:ext cx="458054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1413348" y="3625043"/>
            <a:ext cx="228600" cy="230833"/>
          </a:xfrm>
          <a:prstGeom prst="ellipse">
            <a:avLst/>
          </a:prstGeom>
          <a:solidFill>
            <a:srgbClr val="F4D9FB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158381" y="3913111"/>
            <a:ext cx="228600" cy="230833"/>
          </a:xfrm>
          <a:prstGeom prst="ellipse">
            <a:avLst/>
          </a:prstGeom>
          <a:solidFill>
            <a:srgbClr val="F4D9FB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300425" y="3284651"/>
                <a:ext cx="42672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425" y="3284651"/>
                <a:ext cx="42672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2286710" y="3669976"/>
                <a:ext cx="4580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710" y="3669976"/>
                <a:ext cx="458054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/>
          <p:cNvSpPr/>
          <p:nvPr/>
        </p:nvSpPr>
        <p:spPr>
          <a:xfrm>
            <a:off x="2600892" y="2094222"/>
            <a:ext cx="228600" cy="230833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264925" y="2745609"/>
            <a:ext cx="228600" cy="230833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2487969" y="1753830"/>
                <a:ext cx="42672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969" y="1753830"/>
                <a:ext cx="42672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244234" y="2378552"/>
                <a:ext cx="4580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234" y="2378552"/>
                <a:ext cx="458054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/>
          <p:cNvSpPr/>
          <p:nvPr/>
        </p:nvSpPr>
        <p:spPr>
          <a:xfrm>
            <a:off x="4320953" y="2425947"/>
            <a:ext cx="228600" cy="230833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4405896" y="2067182"/>
                <a:ext cx="4580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896" y="2067182"/>
                <a:ext cx="458054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1367610" y="4319601"/>
            <a:ext cx="1276022" cy="646331"/>
          </a:xfrm>
          <a:prstGeom prst="rect">
            <a:avLst/>
          </a:prstGeom>
          <a:solidFill>
            <a:srgbClr val="F4D9FB"/>
          </a:solidFill>
        </p:spPr>
        <p:txBody>
          <a:bodyPr wrap="square">
            <a:spAutoFit/>
          </a:bodyPr>
          <a:lstStyle/>
          <a:p>
            <a:pPr algn="r" rtl="1">
              <a:buClrTx/>
            </a:pPr>
            <a:r>
              <a:rPr lang="he-IL" dirty="0">
                <a:latin typeface="David" pitchFamily="34" charset="-79"/>
                <a:cs typeface="David" pitchFamily="34" charset="-79"/>
              </a:rPr>
              <a:t>נקודות ייצור לא יעילות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9527" y="2810625"/>
            <a:ext cx="154494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r" rtl="1">
              <a:buClrTx/>
            </a:pPr>
            <a:r>
              <a:rPr lang="he-IL" dirty="0">
                <a:latin typeface="David" pitchFamily="34" charset="-79"/>
                <a:cs typeface="David" pitchFamily="34" charset="-79"/>
              </a:rPr>
              <a:t>נקודות ייצור לא אפשריות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144023-1BF5-4D35-8F17-C4F57726F1B0}"/>
              </a:ext>
            </a:extLst>
          </p:cNvPr>
          <p:cNvSpPr txBox="1"/>
          <p:nvPr/>
        </p:nvSpPr>
        <p:spPr>
          <a:xfrm>
            <a:off x="5472744" y="2567030"/>
            <a:ext cx="3440958" cy="2062103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he-IL" sz="1600" dirty="0"/>
              <a:t>נקודות ייצור על עקומת התמורה הינן יעילות.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he-IL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he-IL" sz="1600" dirty="0"/>
              <a:t>נקודות ייצור בתוך עקומת התמורה הינן אפשריות לייצור אך אינן יעילות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he-IL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he-IL" sz="1600" dirty="0"/>
              <a:t>נקודות ייצור מחוץ לעקומת התמורה אינן אפשריות לייצור. 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41899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 animBg="1"/>
      <p:bldP spid="27" grpId="0"/>
      <p:bldP spid="28" grpId="0"/>
      <p:bldP spid="29" grpId="0" animBg="1"/>
      <p:bldP spid="30" grpId="0"/>
      <p:bldP spid="31" grpId="0" animBg="1"/>
      <p:bldP spid="32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561" y="119332"/>
            <a:ext cx="7848600" cy="1143000"/>
          </a:xfrm>
        </p:spPr>
        <p:txBody>
          <a:bodyPr/>
          <a:lstStyle/>
          <a:p>
            <a:pPr algn="ctr"/>
            <a:r>
              <a:rPr lang="he-IL" dirty="0"/>
              <a:t>עלויות אלטרנטיביות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4349" y="833732"/>
            <a:ext cx="8995301" cy="1697293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2000" b="1" u="sng" dirty="0">
                <a:latin typeface="David" pitchFamily="34" charset="-79"/>
                <a:cs typeface="David" pitchFamily="34" charset="-79"/>
              </a:rPr>
              <a:t>עלויות</a:t>
            </a:r>
            <a:r>
              <a:rPr lang="he-IL" sz="2000" b="1" dirty="0">
                <a:latin typeface="David" pitchFamily="34" charset="-79"/>
                <a:cs typeface="David" pitchFamily="34" charset="-79"/>
              </a:rPr>
              <a:t>:</a:t>
            </a:r>
          </a:p>
          <a:p>
            <a:pPr algn="r" rtl="1">
              <a:lnSpc>
                <a:spcPct val="150000"/>
              </a:lnSpc>
              <a:buClrTx/>
            </a:pPr>
            <a:r>
              <a:rPr lang="he-IL" sz="2000" b="1" dirty="0">
                <a:latin typeface="David" pitchFamily="34" charset="-79"/>
                <a:cs typeface="David" pitchFamily="34" charset="-79"/>
              </a:rPr>
              <a:t>עלות אלטרנטיבית כוללת</a:t>
            </a:r>
            <a:r>
              <a:rPr lang="en-US" sz="2000" b="1" dirty="0">
                <a:latin typeface="David" pitchFamily="34" charset="-79"/>
                <a:cs typeface="David" pitchFamily="34" charset="-79"/>
              </a:rPr>
              <a:t> (Total</a:t>
            </a:r>
            <a:r>
              <a:rPr lang="en-US" sz="2000" b="1" dirty="0">
                <a:solidFill>
                  <a:srgbClr val="FF0000"/>
                </a:solidFill>
              </a:rPr>
              <a:t> Opportunity</a:t>
            </a:r>
            <a:r>
              <a:rPr lang="en-US" sz="2000" b="1" dirty="0">
                <a:latin typeface="David" pitchFamily="34" charset="-79"/>
                <a:cs typeface="David" pitchFamily="34" charset="-79"/>
              </a:rPr>
              <a:t> Cost) 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 הינה סך הוויתור ממוצר אחד הדרוש לייצור כמות נתונה ממוצר אחר.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10</a:t>
            </a:fld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030498" y="5616801"/>
            <a:ext cx="3066766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3030498" y="2937612"/>
            <a:ext cx="0" cy="2698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587748" y="2537396"/>
                <a:ext cx="44275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748" y="2537396"/>
                <a:ext cx="44275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151115" y="5404947"/>
                <a:ext cx="42992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115" y="5404947"/>
                <a:ext cx="429925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c 15"/>
          <p:cNvSpPr/>
          <p:nvPr/>
        </p:nvSpPr>
        <p:spPr>
          <a:xfrm>
            <a:off x="28074" y="3405087"/>
            <a:ext cx="5448700" cy="4829534"/>
          </a:xfrm>
          <a:prstGeom prst="arc">
            <a:avLst>
              <a:gd name="adj1" fmla="val 16600308"/>
              <a:gd name="adj2" fmla="val 21363576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958005" y="4351839"/>
            <a:ext cx="228600" cy="23083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102388" y="4267200"/>
                <a:ext cx="1008609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388" y="4267200"/>
                <a:ext cx="1008609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163564" y="2969884"/>
                <a:ext cx="990977" cy="70788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Ymax</m:t>
                      </m:r>
                    </m:oMath>
                  </m:oMathPara>
                </a14:m>
                <a:endParaRPr lang="he-IL" sz="2000" b="0" i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564" y="2969884"/>
                <a:ext cx="990977" cy="707886"/>
              </a:xfrm>
              <a:prstGeom prst="rect">
                <a:avLst/>
              </a:prstGeom>
              <a:blipFill rotWithShape="0">
                <a:blip r:embed="rId5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>
            <a:stCxn id="17" idx="2"/>
          </p:cNvCxnSpPr>
          <p:nvPr/>
        </p:nvCxnSpPr>
        <p:spPr>
          <a:xfrm flipH="1" flipV="1">
            <a:off x="3030498" y="4451752"/>
            <a:ext cx="1927507" cy="15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7" idx="4"/>
          </p:cNvCxnSpPr>
          <p:nvPr/>
        </p:nvCxnSpPr>
        <p:spPr>
          <a:xfrm>
            <a:off x="5072305" y="4582672"/>
            <a:ext cx="0" cy="1053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914774" y="4286695"/>
                <a:ext cx="123764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774" y="4286695"/>
                <a:ext cx="1237647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269881" y="5602801"/>
                <a:ext cx="1028037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881" y="5602801"/>
                <a:ext cx="1028037" cy="338554"/>
              </a:xfrm>
              <a:prstGeom prst="rect">
                <a:avLst/>
              </a:prstGeom>
              <a:blipFill>
                <a:blip r:embed="rId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611278" y="5996389"/>
            <a:ext cx="8098101" cy="75790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1600" b="1" dirty="0"/>
              <a:t>הסבר</a:t>
            </a:r>
            <a:r>
              <a:rPr lang="he-IL" sz="1600" b="1" dirty="0">
                <a:solidFill>
                  <a:srgbClr val="7030A0"/>
                </a:solidFill>
              </a:rPr>
              <a:t>: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he-IL" sz="1400" dirty="0">
                <a:solidFill>
                  <a:srgbClr val="7030A0"/>
                </a:solidFill>
              </a:rPr>
              <a:t>המשק יכול היה לייצר 10 יחידות של </a:t>
            </a:r>
            <a:r>
              <a:rPr lang="en-US" sz="1400" dirty="0">
                <a:solidFill>
                  <a:srgbClr val="7030A0"/>
                </a:solidFill>
              </a:rPr>
              <a:t>Y</a:t>
            </a:r>
            <a:r>
              <a:rPr lang="he-IL" sz="1400" dirty="0">
                <a:solidFill>
                  <a:srgbClr val="7030A0"/>
                </a:solidFill>
              </a:rPr>
              <a:t>, </a:t>
            </a:r>
            <a:r>
              <a:rPr lang="he-IL" sz="1400" dirty="0"/>
              <a:t>אבל כאשר המשק בחר לייצר ביעילות 5 יחידות של </a:t>
            </a:r>
            <a:r>
              <a:rPr lang="en-US" sz="1400" dirty="0"/>
              <a:t>X</a:t>
            </a:r>
            <a:r>
              <a:rPr lang="he-IL" sz="1400" dirty="0"/>
              <a:t> הוא </a:t>
            </a:r>
            <a:r>
              <a:rPr lang="he-IL" sz="1400" dirty="0">
                <a:solidFill>
                  <a:srgbClr val="7030A0"/>
                </a:solidFill>
              </a:rPr>
              <a:t>מייצר רק 4 יחידות של </a:t>
            </a:r>
            <a:r>
              <a:rPr lang="en-US" sz="1400" dirty="0">
                <a:solidFill>
                  <a:srgbClr val="7030A0"/>
                </a:solidFill>
              </a:rPr>
              <a:t>Y</a:t>
            </a:r>
            <a:r>
              <a:rPr lang="he-IL" sz="1400" dirty="0">
                <a:solidFill>
                  <a:srgbClr val="7030A0"/>
                </a:solidFill>
              </a:rPr>
              <a:t>, ולכן הוויתור הכולל במונחי יח' </a:t>
            </a:r>
            <a:r>
              <a:rPr lang="en-US" sz="1400" dirty="0">
                <a:solidFill>
                  <a:srgbClr val="7030A0"/>
                </a:solidFill>
              </a:rPr>
              <a:t>Y</a:t>
            </a:r>
            <a:r>
              <a:rPr lang="he-IL" sz="1400" dirty="0">
                <a:solidFill>
                  <a:srgbClr val="7030A0"/>
                </a:solidFill>
              </a:rPr>
              <a:t> הוא 6 יחידות של </a:t>
            </a:r>
            <a:r>
              <a:rPr lang="en-US" sz="1400" dirty="0">
                <a:solidFill>
                  <a:srgbClr val="7030A0"/>
                </a:solidFill>
              </a:rPr>
              <a:t>Y</a:t>
            </a:r>
            <a:r>
              <a:rPr lang="he-IL" sz="1400" dirty="0">
                <a:solidFill>
                  <a:srgbClr val="7030A0"/>
                </a:solidFill>
              </a:rPr>
              <a:t>. </a:t>
            </a:r>
            <a:endParaRPr lang="he-IL" sz="1600" dirty="0">
              <a:solidFill>
                <a:srgbClr val="7030A0"/>
              </a:solidFill>
            </a:endParaRPr>
          </a:p>
        </p:txBody>
      </p:sp>
      <p:sp>
        <p:nvSpPr>
          <p:cNvPr id="30" name="סוגר מסולסל שמאלי 1"/>
          <p:cNvSpPr/>
          <p:nvPr/>
        </p:nvSpPr>
        <p:spPr>
          <a:xfrm>
            <a:off x="1606184" y="3388143"/>
            <a:ext cx="385854" cy="1238164"/>
          </a:xfrm>
          <a:prstGeom prst="leftBrace">
            <a:avLst>
              <a:gd name="adj1" fmla="val 8333"/>
              <a:gd name="adj2" fmla="val 50972"/>
            </a:avLst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27056" y="3405087"/>
            <a:ext cx="1102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rgbClr val="7030A0"/>
                </a:solidFill>
              </a:rPr>
              <a:t>וויתור על 6 יחידות</a:t>
            </a:r>
          </a:p>
          <a:p>
            <a:pPr algn="r" rtl="1"/>
            <a:r>
              <a:rPr lang="he-IL" dirty="0">
                <a:solidFill>
                  <a:srgbClr val="7030A0"/>
                </a:solidFill>
              </a:rPr>
              <a:t> של </a:t>
            </a:r>
            <a:r>
              <a:rPr lang="en-US" dirty="0">
                <a:solidFill>
                  <a:srgbClr val="7030A0"/>
                </a:solidFill>
              </a:rPr>
              <a:t>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30749" y="2065257"/>
            <a:ext cx="2818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000" b="1" dirty="0" err="1">
                <a:solidFill>
                  <a:srgbClr val="7030A0"/>
                </a:solidFill>
              </a:rPr>
              <a:t>TCx</a:t>
            </a:r>
            <a:r>
              <a:rPr lang="en-US" sz="2000" b="1" dirty="0">
                <a:solidFill>
                  <a:srgbClr val="7030A0"/>
                </a:solidFill>
              </a:rPr>
              <a:t>(A)=</a:t>
            </a:r>
            <a:r>
              <a:rPr lang="en-US" sz="2000" b="1" dirty="0" err="1">
                <a:solidFill>
                  <a:srgbClr val="7030A0"/>
                </a:solidFill>
              </a:rPr>
              <a:t>Ymax</a:t>
            </a:r>
            <a:r>
              <a:rPr lang="en-US" sz="2000" b="1" dirty="0">
                <a:solidFill>
                  <a:srgbClr val="7030A0"/>
                </a:solidFill>
              </a:rPr>
              <a:t>-Y(A)</a:t>
            </a:r>
            <a:endParaRPr lang="he-IL" sz="20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257176" y="5642945"/>
                <a:ext cx="732893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176" y="5642945"/>
                <a:ext cx="732893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6AF9858-2115-458E-BF49-8FD912D04EFE}"/>
              </a:ext>
            </a:extLst>
          </p:cNvPr>
          <p:cNvSpPr txBox="1"/>
          <p:nvPr/>
        </p:nvSpPr>
        <p:spPr>
          <a:xfrm>
            <a:off x="3891315" y="2738082"/>
            <a:ext cx="4752525" cy="369332"/>
          </a:xfrm>
          <a:prstGeom prst="rect">
            <a:avLst/>
          </a:prstGeom>
          <a:solidFill>
            <a:schemeClr val="bg2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he-IL" i="1" dirty="0"/>
              <a:t>מהי העלות האלטרנטיבית ה</a:t>
            </a:r>
            <a:r>
              <a:rPr lang="he-IL" b="1" i="1" dirty="0"/>
              <a:t>כוללת</a:t>
            </a:r>
            <a:r>
              <a:rPr lang="he-IL" i="1" dirty="0"/>
              <a:t> לייצור 5 יח' </a:t>
            </a:r>
            <a:r>
              <a:rPr lang="en-US" b="1" i="1" dirty="0"/>
              <a:t>X</a:t>
            </a:r>
            <a:r>
              <a:rPr lang="he-IL" i="1" dirty="0"/>
              <a:t>?</a:t>
            </a:r>
            <a:r>
              <a:rPr lang="en-US" i="1" dirty="0"/>
              <a:t> </a:t>
            </a:r>
            <a:endParaRPr lang="en-IL" i="1" dirty="0"/>
          </a:p>
        </p:txBody>
      </p:sp>
    </p:spTree>
    <p:extLst>
      <p:ext uri="{BB962C8B-B14F-4D97-AF65-F5344CB8AC3E}">
        <p14:creationId xmlns:p14="http://schemas.microsoft.com/office/powerpoint/2010/main" val="64343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7" grpId="0"/>
      <p:bldP spid="29" grpId="0" animBg="1"/>
      <p:bldP spid="30" grpId="0" animBg="1"/>
      <p:bldP spid="31" grpId="0"/>
      <p:bldP spid="32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עלות אלטרנטיבית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15892" y="1417638"/>
            <a:ext cx="8332340" cy="60960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600" dirty="0">
                <a:latin typeface="David" pitchFamily="34" charset="-79"/>
                <a:cs typeface="David" pitchFamily="34" charset="-79"/>
              </a:rPr>
              <a:t>להלן עקומת תמורה של משק ובו 3 גורמי ייצור המייצרים 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 ואת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: </a:t>
            </a:r>
          </a:p>
          <a:p>
            <a:pPr marL="0" indent="0" algn="r" rtl="1"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algn="r" rtl="1"/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35098" y="1676400"/>
            <a:ext cx="6070501" cy="35946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81200" y="5282506"/>
            <a:ext cx="6792428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r" rtl="1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א. מהי העלות האלטרנטיבית הכוללת לייצור 9 יח'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81200" y="5737215"/>
            <a:ext cx="695170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מהי העלות האלטרנטיבית הכוללת לייצור 9 יח'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11879" y="6210300"/>
            <a:ext cx="7021029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מהי העלות האלטרנטיבית הכוללת לייצור 14 יח'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46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D9757-5355-EAAC-177C-847D37AF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2A9C8A-E261-7F4B-4FB1-DE966D96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עלות אלטרנטיבית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B364-2DE3-083A-66E8-4CEC81FB8D3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15892" y="1417638"/>
            <a:ext cx="8332340" cy="60960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600" dirty="0">
                <a:latin typeface="David" pitchFamily="34" charset="-79"/>
                <a:cs typeface="David" pitchFamily="34" charset="-79"/>
              </a:rPr>
              <a:t>להלן עקומת תמורה של משק ובו 3 גורמי ייצור המייצרים 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 ואת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: </a:t>
            </a:r>
          </a:p>
          <a:p>
            <a:pPr marL="0" indent="0" algn="r" rtl="1"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algn="r" rtl="1"/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377DFA-891C-CC0E-71C6-619FCB494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620CBD-2EED-2DD9-5BD5-518C4F5557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5098" y="1676400"/>
            <a:ext cx="6070501" cy="35946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31F042-E0E1-92BD-48B3-15B2C9DCD056}"/>
              </a:ext>
            </a:extLst>
          </p:cNvPr>
          <p:cNvSpPr/>
          <p:nvPr/>
        </p:nvSpPr>
        <p:spPr>
          <a:xfrm>
            <a:off x="1981200" y="5282506"/>
            <a:ext cx="6792428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r" rtl="1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א. מהי העלות האלטרנטיבית הכוללת לייצור 9 יח'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80B774-E8E7-FFEE-AD7D-4CA4F6B19CD9}"/>
              </a:ext>
            </a:extLst>
          </p:cNvPr>
          <p:cNvSpPr/>
          <p:nvPr/>
        </p:nvSpPr>
        <p:spPr>
          <a:xfrm>
            <a:off x="1981200" y="5737215"/>
            <a:ext cx="695170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מהי העלות האלטרנטיבית הכוללת לייצור 9 יח'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FF1D4D-0828-CD1B-9840-DB0468BD7990}"/>
              </a:ext>
            </a:extLst>
          </p:cNvPr>
          <p:cNvSpPr/>
          <p:nvPr/>
        </p:nvSpPr>
        <p:spPr>
          <a:xfrm>
            <a:off x="1911879" y="6210300"/>
            <a:ext cx="7021029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מהי העלות האלטרנטיבית הכוללת לייצור 14 יח'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4E2C23-65C5-D520-F60C-1E4FEBE48D6E}"/>
              </a:ext>
            </a:extLst>
          </p:cNvPr>
          <p:cNvSpPr/>
          <p:nvPr/>
        </p:nvSpPr>
        <p:spPr>
          <a:xfrm>
            <a:off x="515892" y="6262931"/>
            <a:ext cx="1377696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ג. 12 יחידות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</a:rPr>
              <a:t>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2BD702-DF52-A4BE-8833-78E061F30FEA}"/>
              </a:ext>
            </a:extLst>
          </p:cNvPr>
          <p:cNvSpPr/>
          <p:nvPr/>
        </p:nvSpPr>
        <p:spPr>
          <a:xfrm>
            <a:off x="622693" y="5307381"/>
            <a:ext cx="1420581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lvl="0" algn="r" rtl="1">
              <a:lnSpc>
                <a:spcPct val="150000"/>
              </a:lnSpc>
              <a:defRPr/>
            </a:pPr>
            <a:r>
              <a:rPr lang="he-IL" kern="0" dirty="0">
                <a:solidFill>
                  <a:prstClr val="black"/>
                </a:solidFill>
                <a:latin typeface="Lucida Sans Unicode"/>
                <a:cs typeface="Arial" panose="020B0604020202020204" pitchFamily="34" charset="0"/>
              </a:rPr>
              <a:t>א. 3 יחידות </a:t>
            </a:r>
            <a:r>
              <a:rPr lang="en-US" kern="0" dirty="0">
                <a:solidFill>
                  <a:prstClr val="black"/>
                </a:solidFill>
                <a:latin typeface="Lucida Sans Unicode"/>
              </a:rPr>
              <a:t>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332DF3-11BB-A807-A65C-BD614E09D9D3}"/>
              </a:ext>
            </a:extLst>
          </p:cNvPr>
          <p:cNvSpPr/>
          <p:nvPr/>
        </p:nvSpPr>
        <p:spPr>
          <a:xfrm>
            <a:off x="653386" y="5851531"/>
            <a:ext cx="1479892" cy="3693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 algn="r" rtl="1"/>
            <a:r>
              <a:rPr lang="he-IL" kern="0" dirty="0">
                <a:solidFill>
                  <a:prstClr val="black"/>
                </a:solidFill>
                <a:latin typeface="Lucida Sans Unicode"/>
                <a:cs typeface="Arial" panose="020B0604020202020204" pitchFamily="34" charset="0"/>
              </a:rPr>
              <a:t> ב. 5 יחידות </a:t>
            </a:r>
            <a:r>
              <a:rPr lang="en-US" kern="0" dirty="0">
                <a:solidFill>
                  <a:prstClr val="black"/>
                </a:solidFill>
                <a:latin typeface="Lucida Sans Unicode"/>
              </a:rPr>
              <a:t>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19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1" grpId="0" animBg="1"/>
      <p:bldP spid="4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561" y="119332"/>
            <a:ext cx="7848600" cy="1143000"/>
          </a:xfrm>
        </p:spPr>
        <p:txBody>
          <a:bodyPr/>
          <a:lstStyle/>
          <a:p>
            <a:pPr algn="ctr"/>
            <a:r>
              <a:rPr lang="he-IL" dirty="0"/>
              <a:t>עלויות אלטרנטיביות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65098" y="537741"/>
            <a:ext cx="8185814" cy="1697293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2000" b="1" u="sng" dirty="0">
                <a:latin typeface="David" pitchFamily="34" charset="-79"/>
                <a:cs typeface="David" pitchFamily="34" charset="-79"/>
              </a:rPr>
              <a:t>עלויות</a:t>
            </a:r>
            <a:r>
              <a:rPr lang="he-IL" sz="2000" b="1" dirty="0">
                <a:latin typeface="David" pitchFamily="34" charset="-79"/>
                <a:cs typeface="David" pitchFamily="34" charset="-79"/>
              </a:rPr>
              <a:t>:</a:t>
            </a:r>
          </a:p>
          <a:p>
            <a:pPr algn="r" rtl="1">
              <a:lnSpc>
                <a:spcPct val="150000"/>
              </a:lnSpc>
              <a:buClrTx/>
            </a:pPr>
            <a:r>
              <a:rPr lang="he-IL" sz="2000" b="1" dirty="0">
                <a:latin typeface="David" pitchFamily="34" charset="-79"/>
                <a:cs typeface="David" pitchFamily="34" charset="-79"/>
              </a:rPr>
              <a:t>עלות אלטרנטיבית ממוצעת</a:t>
            </a:r>
            <a:r>
              <a:rPr lang="en-US" sz="2000" b="1" dirty="0">
                <a:latin typeface="David" pitchFamily="34" charset="-79"/>
                <a:cs typeface="David" pitchFamily="34" charset="-79"/>
              </a:rPr>
              <a:t> (</a:t>
            </a:r>
            <a:r>
              <a:rPr lang="en-US" sz="2000" b="1" dirty="0"/>
              <a:t>Average</a:t>
            </a:r>
            <a:r>
              <a:rPr lang="en-US" sz="2000" b="1" dirty="0">
                <a:solidFill>
                  <a:srgbClr val="FF0000"/>
                </a:solidFill>
              </a:rPr>
              <a:t> Opportunity</a:t>
            </a:r>
            <a:r>
              <a:rPr lang="en-US" sz="2000" b="1" dirty="0">
                <a:latin typeface="David" pitchFamily="34" charset="-79"/>
                <a:cs typeface="David" pitchFamily="34" charset="-79"/>
              </a:rPr>
              <a:t> Cost) 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הינה גודל הוויתור הממוצע ליחידה</a:t>
            </a:r>
            <a:r>
              <a:rPr lang="en-US" sz="2000" dirty="0">
                <a:latin typeface="David" pitchFamily="34" charset="-79"/>
                <a:cs typeface="David" pitchFamily="34" charset="-79"/>
              </a:rPr>
              <a:t> 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הנדרש ממוצר אחד לייצור כמות נתונה ממוצר אחר.</a:t>
            </a:r>
          </a:p>
          <a:p>
            <a:pPr algn="r" rtl="1">
              <a:lnSpc>
                <a:spcPct val="150000"/>
              </a:lnSpc>
              <a:buClrTx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13</a:t>
            </a:fld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030498" y="5616801"/>
            <a:ext cx="3066766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3030498" y="2937612"/>
            <a:ext cx="0" cy="2698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826493" y="2537502"/>
                <a:ext cx="26642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493" y="2537502"/>
                <a:ext cx="266420" cy="400110"/>
              </a:xfrm>
              <a:prstGeom prst="rect">
                <a:avLst/>
              </a:prstGeom>
              <a:blipFill>
                <a:blip r:embed="rId2"/>
                <a:stretch>
                  <a:fillRect r="-2325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043956" y="5412112"/>
                <a:ext cx="42992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956" y="5412112"/>
                <a:ext cx="4299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c 15"/>
          <p:cNvSpPr/>
          <p:nvPr/>
        </p:nvSpPr>
        <p:spPr>
          <a:xfrm>
            <a:off x="28074" y="3405087"/>
            <a:ext cx="5448700" cy="4829534"/>
          </a:xfrm>
          <a:prstGeom prst="arc">
            <a:avLst>
              <a:gd name="adj1" fmla="val 16600308"/>
              <a:gd name="adj2" fmla="val 21363576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958005" y="4351839"/>
            <a:ext cx="228600" cy="23083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761861" y="3990087"/>
                <a:ext cx="1008609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861" y="3990087"/>
                <a:ext cx="1008609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163564" y="2969884"/>
                <a:ext cx="990977" cy="70788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Ymax</m:t>
                      </m:r>
                    </m:oMath>
                  </m:oMathPara>
                </a14:m>
                <a:endParaRPr lang="he-IL" sz="2000" b="0" i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564" y="2969884"/>
                <a:ext cx="990977" cy="707886"/>
              </a:xfrm>
              <a:prstGeom prst="rect">
                <a:avLst/>
              </a:prstGeom>
              <a:blipFill rotWithShape="0">
                <a:blip r:embed="rId5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>
            <a:stCxn id="17" idx="2"/>
          </p:cNvCxnSpPr>
          <p:nvPr/>
        </p:nvCxnSpPr>
        <p:spPr>
          <a:xfrm flipH="1" flipV="1">
            <a:off x="3030498" y="4451752"/>
            <a:ext cx="1927507" cy="15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7" idx="4"/>
          </p:cNvCxnSpPr>
          <p:nvPr/>
        </p:nvCxnSpPr>
        <p:spPr>
          <a:xfrm>
            <a:off x="5072305" y="4582672"/>
            <a:ext cx="0" cy="1053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914774" y="4286695"/>
                <a:ext cx="123764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774" y="4286695"/>
                <a:ext cx="1237647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305417" y="5642945"/>
                <a:ext cx="1028037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417" y="5642945"/>
                <a:ext cx="1028037" cy="338554"/>
              </a:xfrm>
              <a:prstGeom prst="rect">
                <a:avLst/>
              </a:prstGeom>
              <a:blipFill rotWithShape="0">
                <a:blip r:embed="rId7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6482587" y="4323650"/>
            <a:ext cx="2530445" cy="153888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1600" b="1" dirty="0"/>
              <a:t>הסבר</a:t>
            </a:r>
            <a:r>
              <a:rPr lang="he-IL" sz="1600" dirty="0"/>
              <a:t>: הוויתור הכולל לייצור 5 יחידות </a:t>
            </a:r>
            <a:r>
              <a:rPr lang="en-US" sz="1600" dirty="0"/>
              <a:t>X</a:t>
            </a:r>
            <a:r>
              <a:rPr lang="he-IL" sz="1600" dirty="0"/>
              <a:t> הוא 6 יחידות של </a:t>
            </a:r>
            <a:r>
              <a:rPr lang="en-US" sz="1600" dirty="0"/>
              <a:t>Y</a:t>
            </a:r>
            <a:r>
              <a:rPr lang="he-IL" sz="1600" dirty="0"/>
              <a:t>, </a:t>
            </a:r>
            <a:r>
              <a:rPr lang="he-IL" sz="1600" u="sng" dirty="0"/>
              <a:t>כלומר בממוצע מוותרים על 1.2 יחידת </a:t>
            </a:r>
            <a:r>
              <a:rPr lang="en-US" sz="1600" u="sng" dirty="0"/>
              <a:t>Y</a:t>
            </a:r>
            <a:r>
              <a:rPr lang="he-IL" sz="1600" u="sng" dirty="0"/>
              <a:t>. </a:t>
            </a:r>
          </a:p>
        </p:txBody>
      </p:sp>
      <p:sp>
        <p:nvSpPr>
          <p:cNvPr id="30" name="סוגר מסולסל שמאלי 1"/>
          <p:cNvSpPr/>
          <p:nvPr/>
        </p:nvSpPr>
        <p:spPr>
          <a:xfrm>
            <a:off x="1606184" y="3388143"/>
            <a:ext cx="385854" cy="1238164"/>
          </a:xfrm>
          <a:prstGeom prst="leftBrace">
            <a:avLst>
              <a:gd name="adj1" fmla="val 8333"/>
              <a:gd name="adj2" fmla="val 50972"/>
            </a:avLst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27056" y="3405087"/>
            <a:ext cx="1102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rgbClr val="7030A0"/>
                </a:solidFill>
              </a:rPr>
              <a:t>וויתור על 6 יחידות</a:t>
            </a:r>
          </a:p>
          <a:p>
            <a:pPr algn="r" rtl="1"/>
            <a:r>
              <a:rPr lang="he-IL" dirty="0">
                <a:solidFill>
                  <a:srgbClr val="7030A0"/>
                </a:solidFill>
              </a:rPr>
              <a:t> של </a:t>
            </a:r>
            <a:r>
              <a:rPr lang="en-US" dirty="0">
                <a:solidFill>
                  <a:srgbClr val="7030A0"/>
                </a:solidFill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993082" y="3030393"/>
                <a:ext cx="2907966" cy="676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en-US" sz="2000" b="1" dirty="0">
                    <a:solidFill>
                      <a:srgbClr val="7030A0"/>
                    </a:solidFill>
                  </a:rPr>
                  <a:t>A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Cx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(A)=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Ymax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1" i="0" dirty="0" smtClean="0">
                            <a:solidFill>
                              <a:srgbClr val="7030A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)</m:t>
                        </m:r>
                      </m:den>
                    </m:f>
                    <m:r>
                      <a:rPr lang="he-IL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he-IL" sz="2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082" y="3030393"/>
                <a:ext cx="2907966" cy="676275"/>
              </a:xfrm>
              <a:prstGeom prst="rect">
                <a:avLst/>
              </a:prstGeom>
              <a:blipFill>
                <a:blip r:embed="rId8"/>
                <a:stretch>
                  <a:fillRect l="-167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257176" y="5642945"/>
                <a:ext cx="732893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176" y="5642945"/>
                <a:ext cx="732893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6918335" y="2984650"/>
            <a:ext cx="136549" cy="791561"/>
            <a:chOff x="6518283" y="2040242"/>
            <a:chExt cx="1794081" cy="791561"/>
          </a:xfrm>
        </p:grpSpPr>
        <p:sp>
          <p:nvSpPr>
            <p:cNvPr id="24" name="Rectangle 23"/>
            <p:cNvSpPr/>
            <p:nvPr/>
          </p:nvSpPr>
          <p:spPr>
            <a:xfrm>
              <a:off x="7980446" y="204024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he-IL" dirty="0"/>
                <a:t>6</a:t>
              </a:r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99458" y="2462471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 rtl="1"/>
              <a:r>
                <a:rPr lang="he-IL" dirty="0"/>
                <a:t>5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6518283" y="2433482"/>
              <a:ext cx="17940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BCB71B0-74A8-431F-A811-9A46355E7A27}"/>
              </a:ext>
            </a:extLst>
          </p:cNvPr>
          <p:cNvSpPr txBox="1"/>
          <p:nvPr/>
        </p:nvSpPr>
        <p:spPr>
          <a:xfrm>
            <a:off x="3454681" y="2165019"/>
            <a:ext cx="5089529" cy="369332"/>
          </a:xfrm>
          <a:prstGeom prst="rect">
            <a:avLst/>
          </a:prstGeom>
          <a:solidFill>
            <a:schemeClr val="bg2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he-IL" i="1" dirty="0"/>
              <a:t>מהי העלות האלטרנטיבית ה</a:t>
            </a:r>
            <a:r>
              <a:rPr lang="he-IL" b="1" i="1" dirty="0"/>
              <a:t>ממוצעת</a:t>
            </a:r>
            <a:r>
              <a:rPr lang="he-IL" i="1" dirty="0"/>
              <a:t> לייצור 5 יח' </a:t>
            </a:r>
            <a:r>
              <a:rPr lang="en-US" b="1" i="1" dirty="0"/>
              <a:t>X</a:t>
            </a:r>
            <a:r>
              <a:rPr lang="he-IL" i="1" dirty="0"/>
              <a:t>?</a:t>
            </a:r>
            <a:r>
              <a:rPr lang="en-US" i="1" dirty="0"/>
              <a:t> </a:t>
            </a:r>
            <a:endParaRPr lang="en-I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561541-90BD-46A0-A65E-3272E9F5D2B4}"/>
                  </a:ext>
                </a:extLst>
              </p:cNvPr>
              <p:cNvSpPr txBox="1"/>
              <p:nvPr/>
            </p:nvSpPr>
            <p:spPr>
              <a:xfrm>
                <a:off x="7053437" y="3220421"/>
                <a:ext cx="9993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he-IL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he-IL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561541-90BD-46A0-A65E-3272E9F5D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437" y="3220421"/>
                <a:ext cx="999322" cy="369332"/>
              </a:xfrm>
              <a:prstGeom prst="rect">
                <a:avLst/>
              </a:prstGeom>
              <a:blipFill>
                <a:blip r:embed="rId10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7081022-FBD8-6834-FB4F-48E03A8DAC91}"/>
              </a:ext>
            </a:extLst>
          </p:cNvPr>
          <p:cNvSpPr txBox="1"/>
          <p:nvPr/>
        </p:nvSpPr>
        <p:spPr>
          <a:xfrm>
            <a:off x="4426526" y="6179496"/>
            <a:ext cx="46243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latin typeface="David" pitchFamily="34" charset="-79"/>
                <a:cs typeface="David" pitchFamily="34" charset="-79"/>
              </a:rPr>
              <a:t>T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C= Total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(אלט') </a:t>
            </a:r>
            <a:r>
              <a:rPr lang="he-IL" sz="1200" b="1" dirty="0">
                <a:latin typeface="David" pitchFamily="34" charset="-79"/>
                <a:cs typeface="David" pitchFamily="34" charset="-79"/>
              </a:rPr>
              <a:t>כוללת</a:t>
            </a:r>
          </a:p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A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C= A</a:t>
            </a:r>
            <a:r>
              <a:rPr lang="en-GB" sz="1200" b="1" dirty="0" err="1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verage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(אלט') </a:t>
            </a:r>
            <a:r>
              <a:rPr lang="he-IL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ממוצעת</a:t>
            </a:r>
          </a:p>
        </p:txBody>
      </p:sp>
    </p:spTree>
    <p:extLst>
      <p:ext uri="{BB962C8B-B14F-4D97-AF65-F5344CB8AC3E}">
        <p14:creationId xmlns:p14="http://schemas.microsoft.com/office/powerpoint/2010/main" val="395145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/>
      <p:bldP spid="32" grpId="0"/>
      <p:bldP spid="34" grpId="0" animBg="1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5146"/>
          </a:xfrm>
        </p:spPr>
        <p:txBody>
          <a:bodyPr/>
          <a:lstStyle/>
          <a:p>
            <a:pPr algn="ctr"/>
            <a:r>
              <a:rPr lang="he-IL" dirty="0"/>
              <a:t>עלות אלטרנטיבית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97812" y="1187387"/>
            <a:ext cx="8332340" cy="60960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600" dirty="0">
                <a:latin typeface="David" pitchFamily="34" charset="-79"/>
                <a:cs typeface="David" pitchFamily="34" charset="-79"/>
              </a:rPr>
              <a:t>להלן עקומת תמורה של משק ובו 3 גורמי ייצור המייצרים 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 ואת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: </a:t>
            </a:r>
          </a:p>
          <a:p>
            <a:pPr marL="0" indent="0" algn="r" rtl="1"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algn="r" rtl="1"/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35098" y="1676400"/>
            <a:ext cx="6070501" cy="35946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77806" y="5125408"/>
            <a:ext cx="61828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א. מהי העלות האלטרנטיבית הממוצעת לייצור 9 יח'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50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10904" y="5540018"/>
            <a:ext cx="69517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מהי העלות האלטרנטיבית הממוצעת לייצור 13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41583" y="5910328"/>
            <a:ext cx="7021029" cy="47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מהי העלות האלטרנטיבית הממוצעת לייצור 5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82062" y="1882641"/>
            <a:ext cx="4572000" cy="79117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2.ד. מהי העלות האלטרנטיבית הממוצעת לייצור 8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6D120C-5ECB-3259-4FF2-2AC7C0799F93}"/>
              </a:ext>
            </a:extLst>
          </p:cNvPr>
          <p:cNvSpPr txBox="1"/>
          <p:nvPr/>
        </p:nvSpPr>
        <p:spPr>
          <a:xfrm>
            <a:off x="4776564" y="3192489"/>
            <a:ext cx="4032362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 rtl="1"/>
            <a:r>
              <a:rPr lang="he-IL" sz="1400" dirty="0"/>
              <a:t>שימו לב: </a:t>
            </a:r>
            <a:r>
              <a:rPr lang="he-IL" sz="1400" b="1" dirty="0"/>
              <a:t>למציאת ערך ה</a:t>
            </a:r>
            <a:r>
              <a:rPr lang="en-US" sz="1400" b="1" dirty="0"/>
              <a:t>X-</a:t>
            </a:r>
            <a:r>
              <a:rPr lang="he-IL" sz="1400" b="1" dirty="0"/>
              <a:t> עבור </a:t>
            </a:r>
            <a:r>
              <a:rPr lang="en-US" sz="1400" b="1" dirty="0"/>
              <a:t>Y</a:t>
            </a:r>
            <a:r>
              <a:rPr lang="he-IL" sz="1400" b="1" dirty="0"/>
              <a:t>=8, נמצא את שיפוע הקטע </a:t>
            </a:r>
            <a:r>
              <a:rPr lang="en-US" sz="1400" b="1" dirty="0"/>
              <a:t>BC</a:t>
            </a:r>
            <a:r>
              <a:rPr lang="he-IL" sz="1400" b="1" dirty="0"/>
              <a:t> ואת משוואת הישר </a:t>
            </a:r>
            <a:r>
              <a:rPr lang="en-US" sz="1400" b="1" dirty="0"/>
              <a:t>BC</a:t>
            </a:r>
            <a:r>
              <a:rPr lang="he-IL" sz="1400" b="1" dirty="0"/>
              <a:t> (</a:t>
            </a:r>
            <a:r>
              <a:rPr lang="en-US" sz="1400" b="1" dirty="0"/>
              <a:t>Y=-X+18</a:t>
            </a:r>
            <a:r>
              <a:rPr lang="he-IL" sz="1400" b="1" dirty="0"/>
              <a:t>)</a:t>
            </a:r>
            <a:endParaRPr lang="en-IL" sz="1400" b="1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4087B6A5-3460-A67C-7530-7DE93F33F59F}"/>
              </a:ext>
            </a:extLst>
          </p:cNvPr>
          <p:cNvSpPr txBox="1"/>
          <p:nvPr/>
        </p:nvSpPr>
        <p:spPr>
          <a:xfrm>
            <a:off x="4136248" y="6399690"/>
            <a:ext cx="46243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latin typeface="David" pitchFamily="34" charset="-79"/>
                <a:cs typeface="David" pitchFamily="34" charset="-79"/>
              </a:rPr>
              <a:t>T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C= Total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(אלט') </a:t>
            </a:r>
            <a:r>
              <a:rPr lang="he-IL" sz="1200" b="1" dirty="0">
                <a:latin typeface="David" pitchFamily="34" charset="-79"/>
                <a:cs typeface="David" pitchFamily="34" charset="-79"/>
              </a:rPr>
              <a:t>כוללת</a:t>
            </a:r>
          </a:p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A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C= A</a:t>
            </a:r>
            <a:r>
              <a:rPr lang="en-GB" sz="1200" b="1" dirty="0" err="1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verage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(אלט') </a:t>
            </a:r>
            <a:r>
              <a:rPr lang="he-IL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ממוצעת</a:t>
            </a:r>
          </a:p>
        </p:txBody>
      </p:sp>
    </p:spTree>
    <p:extLst>
      <p:ext uri="{BB962C8B-B14F-4D97-AF65-F5344CB8AC3E}">
        <p14:creationId xmlns:p14="http://schemas.microsoft.com/office/powerpoint/2010/main" val="131734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4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07B1F-CF34-D25C-3CC3-62891AA1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2183666-EEC7-364A-76D7-7F268E1B9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5146"/>
          </a:xfrm>
        </p:spPr>
        <p:txBody>
          <a:bodyPr/>
          <a:lstStyle/>
          <a:p>
            <a:pPr algn="ctr"/>
            <a:r>
              <a:rPr lang="he-IL" dirty="0"/>
              <a:t>עלות אלטרנטיבית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7682D-6AD9-C4C6-AB1F-C4D882E014A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7812" y="1187387"/>
            <a:ext cx="8332340" cy="60960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600" dirty="0">
                <a:latin typeface="David" pitchFamily="34" charset="-79"/>
                <a:cs typeface="David" pitchFamily="34" charset="-79"/>
              </a:rPr>
              <a:t>להלן עקומת תמורה של משק ובו 3 גורמי ייצור המייצרים 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 ואת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: </a:t>
            </a:r>
          </a:p>
          <a:p>
            <a:pPr marL="0" indent="0" algn="r" rtl="1"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algn="r" rtl="1"/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486FDD-0A74-C33B-1E14-40566CF0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B682DF-507B-9E19-B696-9504269509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5098" y="1676400"/>
            <a:ext cx="6070501" cy="35946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ACE5641-0FDA-DAAC-FE57-A120442E41FB}"/>
              </a:ext>
            </a:extLst>
          </p:cNvPr>
          <p:cNvSpPr/>
          <p:nvPr/>
        </p:nvSpPr>
        <p:spPr>
          <a:xfrm>
            <a:off x="2577806" y="5125408"/>
            <a:ext cx="61828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א. מהי העלות האלטרנטיבית הממוצעת לייצור 9 יח'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50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E29C9E-9594-CC77-B0E8-2C7AD80F7B77}"/>
              </a:ext>
            </a:extLst>
          </p:cNvPr>
          <p:cNvSpPr/>
          <p:nvPr/>
        </p:nvSpPr>
        <p:spPr>
          <a:xfrm>
            <a:off x="2010904" y="5540018"/>
            <a:ext cx="69517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מהי העלות האלטרנטיבית הממוצעת לייצור 13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9C1B15-3B78-FE55-65B5-99E3857CB530}"/>
              </a:ext>
            </a:extLst>
          </p:cNvPr>
          <p:cNvSpPr/>
          <p:nvPr/>
        </p:nvSpPr>
        <p:spPr>
          <a:xfrm>
            <a:off x="1941583" y="5910328"/>
            <a:ext cx="7021029" cy="47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מהי העלות האלטרנטיבית הממוצעת לייצור 5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3DCCC-E321-9E58-CB0B-6C1C0072FB9E}"/>
              </a:ext>
            </a:extLst>
          </p:cNvPr>
          <p:cNvSpPr/>
          <p:nvPr/>
        </p:nvSpPr>
        <p:spPr>
          <a:xfrm>
            <a:off x="4682062" y="1882641"/>
            <a:ext cx="4572000" cy="79117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2.ד. מהי העלות האלטרנטיבית הממוצעת לייצור 8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ED3611-2795-057C-13CD-79DF43EF1605}"/>
              </a:ext>
            </a:extLst>
          </p:cNvPr>
          <p:cNvSpPr/>
          <p:nvPr/>
        </p:nvSpPr>
        <p:spPr>
          <a:xfrm>
            <a:off x="852092" y="5850375"/>
            <a:ext cx="1618267" cy="430887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ג. 1/5 יחידת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</a:rPr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EB72D6-F99F-64BE-3AFA-4D99F2BBE980}"/>
              </a:ext>
            </a:extLst>
          </p:cNvPr>
          <p:cNvSpPr/>
          <p:nvPr/>
        </p:nvSpPr>
        <p:spPr>
          <a:xfrm>
            <a:off x="987912" y="5066215"/>
            <a:ext cx="1555233" cy="5078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 lvl="0" algn="r" rtl="1">
              <a:lnSpc>
                <a:spcPct val="150000"/>
              </a:lnSpc>
              <a:defRPr/>
            </a:pPr>
            <a:r>
              <a:rPr lang="he-IL" kern="0" dirty="0">
                <a:solidFill>
                  <a:prstClr val="black"/>
                </a:solidFill>
                <a:latin typeface="Lucida Sans Unicode"/>
                <a:cs typeface="Arial" panose="020B0604020202020204" pitchFamily="34" charset="0"/>
              </a:rPr>
              <a:t>א. 1/3 יחידת </a:t>
            </a:r>
            <a:r>
              <a:rPr lang="en-US" kern="0" dirty="0">
                <a:solidFill>
                  <a:prstClr val="black"/>
                </a:solidFill>
                <a:latin typeface="Lucida Sans Unicode"/>
              </a:rPr>
              <a:t>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4083F7-668B-39AF-B495-14D748C8E579}"/>
              </a:ext>
            </a:extLst>
          </p:cNvPr>
          <p:cNvSpPr/>
          <p:nvPr/>
        </p:nvSpPr>
        <p:spPr>
          <a:xfrm>
            <a:off x="791694" y="5533186"/>
            <a:ext cx="167866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 algn="r" rtl="1"/>
            <a:r>
              <a:rPr lang="he-IL" kern="0" dirty="0">
                <a:solidFill>
                  <a:prstClr val="black"/>
                </a:solidFill>
                <a:latin typeface="Lucida Sans Unicode"/>
                <a:cs typeface="Arial" panose="020B0604020202020204" pitchFamily="34" charset="0"/>
              </a:rPr>
              <a:t>ב. 7/13 יחידת </a:t>
            </a:r>
            <a:r>
              <a:rPr lang="en-US" kern="0" dirty="0">
                <a:solidFill>
                  <a:prstClr val="black"/>
                </a:solidFill>
                <a:latin typeface="Lucida Sans Unicode"/>
              </a:rPr>
              <a:t>Y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3BF23-E7BA-506D-E84D-A781F2CC78B0}"/>
              </a:ext>
            </a:extLst>
          </p:cNvPr>
          <p:cNvSpPr/>
          <p:nvPr/>
        </p:nvSpPr>
        <p:spPr>
          <a:xfrm>
            <a:off x="4776564" y="2315656"/>
            <a:ext cx="1542409" cy="5078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kern="0" dirty="0">
                <a:solidFill>
                  <a:prstClr val="black"/>
                </a:solidFill>
                <a:latin typeface="Lucida Sans Unicode"/>
                <a:cs typeface="Arial" panose="020B0604020202020204" pitchFamily="34" charset="0"/>
              </a:rPr>
              <a:t>ד. 0.5 יחידת </a:t>
            </a:r>
            <a:r>
              <a:rPr lang="en-US" kern="0" dirty="0">
                <a:solidFill>
                  <a:prstClr val="black"/>
                </a:solidFill>
                <a:latin typeface="Lucida Sans Unicode"/>
              </a:rPr>
              <a:t>X</a:t>
            </a:r>
            <a:endParaRPr lang="he-IL" kern="0" dirty="0">
              <a:solidFill>
                <a:prstClr val="black"/>
              </a:solidFill>
              <a:latin typeface="Lucida Sans Unicode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22F60C-BC85-9247-1D64-A84EF443157B}"/>
              </a:ext>
            </a:extLst>
          </p:cNvPr>
          <p:cNvSpPr txBox="1"/>
          <p:nvPr/>
        </p:nvSpPr>
        <p:spPr>
          <a:xfrm>
            <a:off x="4776564" y="3192489"/>
            <a:ext cx="4032362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 rtl="1"/>
            <a:r>
              <a:rPr lang="he-IL" sz="1400" dirty="0"/>
              <a:t>שימו לב: </a:t>
            </a:r>
            <a:r>
              <a:rPr lang="he-IL" sz="1400" b="1" dirty="0"/>
              <a:t>למציאת ערך ה</a:t>
            </a:r>
            <a:r>
              <a:rPr lang="en-US" sz="1400" b="1" dirty="0"/>
              <a:t>X-</a:t>
            </a:r>
            <a:r>
              <a:rPr lang="he-IL" sz="1400" b="1" dirty="0"/>
              <a:t> עבור </a:t>
            </a:r>
            <a:r>
              <a:rPr lang="en-US" sz="1400" b="1" dirty="0"/>
              <a:t>Y</a:t>
            </a:r>
            <a:r>
              <a:rPr lang="he-IL" sz="1400" b="1" dirty="0"/>
              <a:t>=8, נמצא את שיפוע הקטע </a:t>
            </a:r>
            <a:r>
              <a:rPr lang="en-US" sz="1400" b="1" dirty="0"/>
              <a:t>BC</a:t>
            </a:r>
            <a:r>
              <a:rPr lang="he-IL" sz="1400" b="1" dirty="0"/>
              <a:t> ואת משוואת הישר </a:t>
            </a:r>
            <a:r>
              <a:rPr lang="en-US" sz="1400" b="1" dirty="0"/>
              <a:t>BC</a:t>
            </a:r>
            <a:r>
              <a:rPr lang="he-IL" sz="1400" b="1" dirty="0"/>
              <a:t> (</a:t>
            </a:r>
            <a:r>
              <a:rPr lang="en-US" sz="1400" b="1" dirty="0"/>
              <a:t>Y=-X+18</a:t>
            </a:r>
            <a:r>
              <a:rPr lang="he-IL" sz="1400" b="1" dirty="0"/>
              <a:t>)</a:t>
            </a:r>
            <a:endParaRPr lang="en-IL" sz="1400" b="1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7EEC2AD4-B1AE-4729-FD6C-13EE4A328FF5}"/>
              </a:ext>
            </a:extLst>
          </p:cNvPr>
          <p:cNvSpPr txBox="1"/>
          <p:nvPr/>
        </p:nvSpPr>
        <p:spPr>
          <a:xfrm>
            <a:off x="4136248" y="6399690"/>
            <a:ext cx="46243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latin typeface="David" pitchFamily="34" charset="-79"/>
                <a:cs typeface="David" pitchFamily="34" charset="-79"/>
              </a:rPr>
              <a:t>T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C= Total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(אלט') </a:t>
            </a:r>
            <a:r>
              <a:rPr lang="he-IL" sz="1200" b="1" dirty="0">
                <a:latin typeface="David" pitchFamily="34" charset="-79"/>
                <a:cs typeface="David" pitchFamily="34" charset="-79"/>
              </a:rPr>
              <a:t>כוללת</a:t>
            </a:r>
          </a:p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A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C= A</a:t>
            </a:r>
            <a:r>
              <a:rPr lang="en-GB" sz="1200" b="1" dirty="0" err="1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verage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(אלט') </a:t>
            </a:r>
            <a:r>
              <a:rPr lang="he-IL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ממוצעת</a:t>
            </a:r>
          </a:p>
        </p:txBody>
      </p:sp>
    </p:spTree>
    <p:extLst>
      <p:ext uri="{BB962C8B-B14F-4D97-AF65-F5344CB8AC3E}">
        <p14:creationId xmlns:p14="http://schemas.microsoft.com/office/powerpoint/2010/main" val="260455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4" grpId="0"/>
      <p:bldP spid="11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564" y="108713"/>
            <a:ext cx="7848600" cy="1143000"/>
          </a:xfrm>
        </p:spPr>
        <p:txBody>
          <a:bodyPr/>
          <a:lstStyle/>
          <a:p>
            <a:pPr algn="ctr"/>
            <a:r>
              <a:rPr lang="he-IL" dirty="0"/>
              <a:t>הגדרות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21108" y="1823069"/>
            <a:ext cx="8391924" cy="1472761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he-IL" sz="2000" b="1" dirty="0">
                <a:latin typeface="David" pitchFamily="34" charset="-79"/>
                <a:cs typeface="David" pitchFamily="34" charset="-79"/>
              </a:rPr>
              <a:t>עלות אלטרנטיבית </a:t>
            </a:r>
            <a:r>
              <a:rPr lang="he-IL" sz="2000" b="1" u="sng" dirty="0">
                <a:latin typeface="David" pitchFamily="34" charset="-79"/>
                <a:cs typeface="David" pitchFamily="34" charset="-79"/>
              </a:rPr>
              <a:t>שולית</a:t>
            </a:r>
            <a:r>
              <a:rPr lang="he-IL" sz="2000" b="1" dirty="0">
                <a:latin typeface="David" pitchFamily="34" charset="-79"/>
                <a:cs typeface="David" pitchFamily="34" charset="-79"/>
              </a:rPr>
              <a:t> 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(</a:t>
            </a:r>
            <a:r>
              <a:rPr lang="en-US" sz="1800" b="1" dirty="0">
                <a:latin typeface="David" pitchFamily="34" charset="-79"/>
                <a:cs typeface="David" pitchFamily="34" charset="-79"/>
              </a:rPr>
              <a:t>Marginal Opportunity Cost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)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 </a:t>
            </a:r>
            <a:r>
              <a:rPr lang="he-IL" sz="2000" b="1" dirty="0">
                <a:latin typeface="David" pitchFamily="34" charset="-79"/>
                <a:cs typeface="David" pitchFamily="34" charset="-79"/>
              </a:rPr>
              <a:t>בייצור </a:t>
            </a:r>
            <a:r>
              <a:rPr lang="en-US" sz="2000" b="1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 שווה ל</a:t>
            </a:r>
            <a:r>
              <a:rPr lang="he-IL" sz="2000" b="1" dirty="0">
                <a:latin typeface="David" pitchFamily="34" charset="-79"/>
                <a:cs typeface="David" pitchFamily="34" charset="-79"/>
              </a:rPr>
              <a:t>שיפוע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 עקומת התמורה (בערך מוחלט) בתחום שבין נקודת הייצור לבין נקודת ייצור שבה מייצרים יחידת </a:t>
            </a:r>
            <a:r>
              <a:rPr lang="en-US" sz="2000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 אחת פחות. </a:t>
            </a:r>
            <a:endParaRPr lang="en-US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24AF92-42DA-4C17-AB33-95A624A1878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56734" y="2936872"/>
                <a:ext cx="2259082" cy="62529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lvl="0" algn="r" rtl="0"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Perpetua"/>
                  </a:rPr>
                  <a:t>MC(X)   =</a:t>
                </a:r>
                <a:r>
                  <a:rPr kumimoji="0" lang="he-IL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Perpetu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  <m:f>
                      <m:fPr>
                        <m:ctrlPr>
                          <a:rPr lang="en-US" sz="24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ΔY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ΔX</m:t>
                        </m:r>
                      </m:den>
                    </m:f>
                    <m:r>
                      <a:rPr lang="en-US" sz="24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Perpetua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34" y="2936872"/>
                <a:ext cx="2259082" cy="625299"/>
              </a:xfrm>
              <a:prstGeom prst="rect">
                <a:avLst/>
              </a:prstGeom>
              <a:blipFill>
                <a:blip r:embed="rId2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C94784A-650A-4DB0-ACA4-41E35ED02425}"/>
              </a:ext>
            </a:extLst>
          </p:cNvPr>
          <p:cNvSpPr txBox="1"/>
          <p:nvPr/>
        </p:nvSpPr>
        <p:spPr>
          <a:xfrm>
            <a:off x="697230" y="1159438"/>
            <a:ext cx="799205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r" rtl="1"/>
            <a:r>
              <a:rPr lang="he-IL" sz="1800" b="1" dirty="0">
                <a:latin typeface="David" pitchFamily="34" charset="-79"/>
                <a:cs typeface="David" pitchFamily="34" charset="-79"/>
              </a:rPr>
              <a:t>עלות אלטרנטיבית </a:t>
            </a:r>
            <a:r>
              <a:rPr lang="he-IL" sz="1800" b="1" u="sng" dirty="0">
                <a:latin typeface="David" pitchFamily="34" charset="-79"/>
                <a:cs typeface="David" pitchFamily="34" charset="-79"/>
              </a:rPr>
              <a:t>שולית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 (</a:t>
            </a:r>
            <a:r>
              <a:rPr lang="en-US" sz="1800" b="1" dirty="0">
                <a:latin typeface="David" pitchFamily="34" charset="-79"/>
                <a:cs typeface="David" pitchFamily="34" charset="-79"/>
              </a:rPr>
              <a:t>Marginal Opportunity Cost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)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 הינה הוויתור הנדרש ממוצר אחד כדי לייצר את היחידה האחרונה ממוצר אחר.</a:t>
            </a:r>
            <a:endParaRPr lang="en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4BC75A9-61B7-C3F9-D5C8-EC43EA41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612576" y="6407944"/>
            <a:ext cx="2350681" cy="365125"/>
          </a:xfrm>
        </p:spPr>
        <p:txBody>
          <a:bodyPr/>
          <a:lstStyle/>
          <a:p>
            <a:r>
              <a:rPr lang="he-IL" dirty="0"/>
              <a:t>מיכאלה משקוביץ'</a:t>
            </a:r>
            <a:endParaRPr lang="en-US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9CE63E0-F99A-AD62-6C0E-C618D3F1A210}"/>
              </a:ext>
            </a:extLst>
          </p:cNvPr>
          <p:cNvSpPr txBox="1"/>
          <p:nvPr/>
        </p:nvSpPr>
        <p:spPr>
          <a:xfrm>
            <a:off x="4205766" y="6465174"/>
            <a:ext cx="4624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**MC= Marginal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(אלטרנטיבית) שולית</a:t>
            </a:r>
            <a:endParaRPr lang="en-IL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71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1143000"/>
          </a:xfrm>
        </p:spPr>
        <p:txBody>
          <a:bodyPr/>
          <a:lstStyle/>
          <a:p>
            <a:pPr algn="ctr"/>
            <a:r>
              <a:rPr lang="he-IL" dirty="0"/>
              <a:t>הגדרות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87318" y="545515"/>
            <a:ext cx="8391924" cy="2057400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2000" b="1" u="sng" dirty="0">
                <a:latin typeface="David" pitchFamily="34" charset="-79"/>
                <a:cs typeface="David" pitchFamily="34" charset="-79"/>
              </a:rPr>
              <a:t>עלויות</a:t>
            </a:r>
            <a:r>
              <a:rPr lang="he-IL" sz="2000" b="1" dirty="0">
                <a:latin typeface="David" pitchFamily="34" charset="-79"/>
                <a:cs typeface="David" pitchFamily="34" charset="-79"/>
              </a:rPr>
              <a:t>:</a:t>
            </a:r>
          </a:p>
          <a:p>
            <a:pPr algn="r" rtl="1">
              <a:lnSpc>
                <a:spcPct val="150000"/>
              </a:lnSpc>
              <a:buClrTx/>
            </a:pPr>
            <a:r>
              <a:rPr lang="he-IL" sz="2000" b="1" dirty="0">
                <a:latin typeface="David" pitchFamily="34" charset="-79"/>
                <a:cs typeface="David" pitchFamily="34" charset="-79"/>
              </a:rPr>
              <a:t>עלות אלטרנטיבית </a:t>
            </a:r>
            <a:r>
              <a:rPr lang="he-IL" sz="2000" b="1" u="sng" dirty="0">
                <a:latin typeface="David" pitchFamily="34" charset="-79"/>
                <a:cs typeface="David" pitchFamily="34" charset="-79"/>
              </a:rPr>
              <a:t>שולית</a:t>
            </a:r>
            <a:r>
              <a:rPr lang="he-IL" sz="2000" b="1" dirty="0">
                <a:latin typeface="David" pitchFamily="34" charset="-79"/>
                <a:cs typeface="David" pitchFamily="34" charset="-79"/>
              </a:rPr>
              <a:t> (</a:t>
            </a:r>
            <a:r>
              <a:rPr lang="en-US" sz="2000" b="1" dirty="0">
                <a:latin typeface="David" pitchFamily="34" charset="-79"/>
                <a:cs typeface="David" pitchFamily="34" charset="-79"/>
              </a:rPr>
              <a:t>Marginal Opportunity Cost</a:t>
            </a:r>
            <a:r>
              <a:rPr lang="he-IL" sz="2000" b="1" dirty="0">
                <a:latin typeface="David" pitchFamily="34" charset="-79"/>
                <a:cs typeface="David" pitchFamily="34" charset="-79"/>
              </a:rPr>
              <a:t>)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 הינה הוויתור הנדרש ממוצר אחד כדי לייצר את היחידה האחרונה ממוצר אחר.</a:t>
            </a:r>
            <a:endParaRPr lang="en-US" sz="2000" dirty="0">
              <a:latin typeface="David" pitchFamily="34" charset="-79"/>
              <a:cs typeface="David" pitchFamily="34" charset="-79"/>
            </a:endParaRPr>
          </a:p>
          <a:p>
            <a:pPr algn="r" rtl="1">
              <a:lnSpc>
                <a:spcPct val="150000"/>
              </a:lnSpc>
              <a:buClrTx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17</a:t>
            </a:fld>
            <a:endParaRPr lang="en-US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V="1">
            <a:off x="6043108" y="6169911"/>
            <a:ext cx="2126165" cy="3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H="1" flipV="1">
            <a:off x="6026183" y="2958679"/>
            <a:ext cx="15042" cy="3205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31854" y="5360944"/>
            <a:ext cx="228600" cy="23083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305857" y="5258514"/>
                <a:ext cx="100860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857" y="5258514"/>
                <a:ext cx="1008609" cy="400110"/>
              </a:xfrm>
              <a:prstGeom prst="rect">
                <a:avLst/>
              </a:prstGeom>
              <a:blipFill>
                <a:blip r:embed="rId2"/>
                <a:stretch>
                  <a:fillRect r="-1807" b="-1230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>
            <a:cxnSpLocks/>
          </p:cNvCxnSpPr>
          <p:nvPr/>
        </p:nvCxnSpPr>
        <p:spPr>
          <a:xfrm flipH="1">
            <a:off x="6048459" y="5489163"/>
            <a:ext cx="1090559" cy="1460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7234712" y="5496688"/>
            <a:ext cx="0" cy="673223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4882360" y="5343582"/>
                <a:ext cx="123764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360" y="5343582"/>
                <a:ext cx="1237647" cy="400110"/>
              </a:xfrm>
              <a:prstGeom prst="rect">
                <a:avLst/>
              </a:prstGeom>
              <a:blipFill>
                <a:blip r:embed="rId3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990579" y="6020366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579" y="6020366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6857879" y="4974677"/>
            <a:ext cx="228600" cy="23083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043107" y="4840282"/>
                <a:ext cx="100860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he-IL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107" y="4840282"/>
                <a:ext cx="1008609" cy="400110"/>
              </a:xfrm>
              <a:prstGeom prst="rect">
                <a:avLst/>
              </a:prstGeom>
              <a:blipFill>
                <a:blip r:embed="rId5"/>
                <a:stretch>
                  <a:fillRect r="-1807" b="-121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04438" y="2362014"/>
                <a:ext cx="3358896" cy="62529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algn="l" rtl="0"/>
                <a:r>
                  <a:rPr lang="en-US" sz="2400" dirty="0"/>
                  <a:t>MC(X=5) = </a:t>
                </a:r>
                <a14:m>
                  <m:oMath xmlns:m="http://schemas.openxmlformats.org/officeDocument/2006/math">
                    <m:r>
                      <a:rPr lang="en-US" sz="24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  <m:f>
                      <m:fPr>
                        <m:ctrlPr>
                          <a:rPr lang="en-US" sz="24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ΔY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ΔX</m:t>
                        </m:r>
                      </m:den>
                    </m:f>
                    <m:r>
                      <a:rPr lang="en-US" sz="24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38" y="2362014"/>
                <a:ext cx="3358896" cy="625299"/>
              </a:xfrm>
              <a:prstGeom prst="rect">
                <a:avLst/>
              </a:prstGeom>
              <a:blipFill>
                <a:blip r:embed="rId6"/>
                <a:stretch>
                  <a:fillRect l="-2904" b="-126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068325" y="2515461"/>
                <a:ext cx="74628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dirty="0">
                          <a:solidFill>
                            <a:srgbClr val="C00000"/>
                          </a:solidFill>
                        </a:rPr>
                        <m:t>=</m:t>
                      </m:r>
                      <m:r>
                        <a:rPr lang="he-IL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325" y="2515461"/>
                <a:ext cx="746286" cy="400110"/>
              </a:xfrm>
              <a:prstGeom prst="rect">
                <a:avLst/>
              </a:prstGeom>
              <a:blipFill>
                <a:blip r:embed="rId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>
            <a:cxnSpLocks/>
          </p:cNvCxnSpPr>
          <p:nvPr/>
        </p:nvCxnSpPr>
        <p:spPr>
          <a:xfrm flipH="1">
            <a:off x="6026183" y="5090093"/>
            <a:ext cx="822097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cxnSpLocks/>
          </p:cNvCxnSpPr>
          <p:nvPr/>
        </p:nvCxnSpPr>
        <p:spPr>
          <a:xfrm flipH="1">
            <a:off x="6959992" y="5059223"/>
            <a:ext cx="12187" cy="110947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4889157" y="4868700"/>
                <a:ext cx="123764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157" y="4868700"/>
                <a:ext cx="1237647" cy="400110"/>
              </a:xfrm>
              <a:prstGeom prst="rect">
                <a:avLst/>
              </a:prstGeom>
              <a:blipFill>
                <a:blip r:embed="rId9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B3C05B43-9D2A-4D20-BA85-72F44D803401}"/>
              </a:ext>
            </a:extLst>
          </p:cNvPr>
          <p:cNvSpPr txBox="1"/>
          <p:nvPr/>
        </p:nvSpPr>
        <p:spPr>
          <a:xfrm>
            <a:off x="3863334" y="1957546"/>
            <a:ext cx="5147793" cy="400110"/>
          </a:xfrm>
          <a:prstGeom prst="rect">
            <a:avLst/>
          </a:prstGeom>
          <a:solidFill>
            <a:schemeClr val="bg2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sz="2000" dirty="0"/>
              <a:t>מהי העלות האלטרנטיבית ה</a:t>
            </a:r>
            <a:r>
              <a:rPr lang="he-IL" sz="2000" b="1" dirty="0"/>
              <a:t>שולית</a:t>
            </a:r>
            <a:r>
              <a:rPr lang="he-IL" sz="2000" dirty="0"/>
              <a:t> לייצור 5 יח' </a:t>
            </a:r>
            <a:r>
              <a:rPr lang="en-US" sz="2000" b="1" dirty="0"/>
              <a:t>X</a:t>
            </a:r>
            <a:r>
              <a:rPr lang="he-IL" sz="2000" dirty="0"/>
              <a:t>?</a:t>
            </a:r>
            <a:r>
              <a:rPr lang="en-US" sz="2000" dirty="0"/>
              <a:t> </a:t>
            </a:r>
            <a:endParaRPr lang="en-I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C89E11-AB90-49EB-A750-F8B9C8F87DE8}"/>
              </a:ext>
            </a:extLst>
          </p:cNvPr>
          <p:cNvCxnSpPr>
            <a:cxnSpLocks/>
          </p:cNvCxnSpPr>
          <p:nvPr/>
        </p:nvCxnSpPr>
        <p:spPr>
          <a:xfrm>
            <a:off x="6050342" y="3628337"/>
            <a:ext cx="1609983" cy="253562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C35B0D5-C592-427B-B4AC-7A16D8B80679}"/>
                  </a:ext>
                </a:extLst>
              </p:cNvPr>
              <p:cNvSpPr txBox="1"/>
              <p:nvPr/>
            </p:nvSpPr>
            <p:spPr>
              <a:xfrm>
                <a:off x="6878992" y="6168698"/>
                <a:ext cx="735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C35B0D5-C592-427B-B4AC-7A16D8B80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992" y="6168698"/>
                <a:ext cx="73517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97C05D9-CA09-4AA6-A3DA-D0891CAFF07F}"/>
                  </a:ext>
                </a:extLst>
              </p:cNvPr>
              <p:cNvSpPr txBox="1"/>
              <p:nvPr/>
            </p:nvSpPr>
            <p:spPr>
              <a:xfrm>
                <a:off x="6797808" y="6168698"/>
                <a:ext cx="3657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97C05D9-CA09-4AA6-A3DA-D0891CAFF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808" y="6168698"/>
                <a:ext cx="36575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BF5C0C1-B08C-4166-A7DE-87D25A7910DB}"/>
                  </a:ext>
                </a:extLst>
              </p:cNvPr>
              <p:cNvSpPr txBox="1"/>
              <p:nvPr/>
            </p:nvSpPr>
            <p:spPr>
              <a:xfrm>
                <a:off x="7323830" y="6160521"/>
                <a:ext cx="6652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BF5C0C1-B08C-4166-A7DE-87D25A791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830" y="6160521"/>
                <a:ext cx="6652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58C6E9B-1409-4246-83CD-F4D337F7E7E2}"/>
                  </a:ext>
                </a:extLst>
              </p:cNvPr>
              <p:cNvSpPr txBox="1"/>
              <p:nvPr/>
            </p:nvSpPr>
            <p:spPr>
              <a:xfrm>
                <a:off x="5615093" y="3603817"/>
                <a:ext cx="5327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58C6E9B-1409-4246-83CD-F4D337F7E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093" y="3603817"/>
                <a:ext cx="53271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3ACBA890-8A07-42D1-8AEC-31DE1D3C3296}"/>
                  </a:ext>
                </a:extLst>
              </p:cNvPr>
              <p:cNvSpPr/>
              <p:nvPr/>
            </p:nvSpPr>
            <p:spPr>
              <a:xfrm>
                <a:off x="5367429" y="3099731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3ACBA890-8A07-42D1-8AEC-31DE1D3C3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429" y="3099731"/>
                <a:ext cx="1028037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D21C8EEE-CB3A-41BF-AE86-E2E593F8D85E}"/>
              </a:ext>
            </a:extLst>
          </p:cNvPr>
          <p:cNvSpPr txBox="1"/>
          <p:nvPr/>
        </p:nvSpPr>
        <p:spPr>
          <a:xfrm>
            <a:off x="6285046" y="3814860"/>
            <a:ext cx="1275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Y=14-2X</a:t>
            </a:r>
            <a:endParaRPr lang="en-IL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9C971B2-0D3E-467B-936E-A78EFE9AAC7A}"/>
              </a:ext>
            </a:extLst>
          </p:cNvPr>
          <p:cNvSpPr txBox="1"/>
          <p:nvPr/>
        </p:nvSpPr>
        <p:spPr>
          <a:xfrm>
            <a:off x="344403" y="3112096"/>
            <a:ext cx="4335034" cy="264687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1600" dirty="0"/>
              <a:t>העלות האלטרנטיבית השולית לייצור </a:t>
            </a:r>
            <a:r>
              <a:rPr lang="en-US" sz="1600" dirty="0"/>
              <a:t>X</a:t>
            </a:r>
            <a:r>
              <a:rPr lang="he-IL" sz="1600" dirty="0"/>
              <a:t> שווה לשיפוע (בערך מוחלט) שבין נקודה </a:t>
            </a:r>
            <a:r>
              <a:rPr lang="en-US" sz="1600" dirty="0"/>
              <a:t>B</a:t>
            </a:r>
            <a:r>
              <a:rPr lang="he-IL" sz="1600" dirty="0"/>
              <a:t> ל-</a:t>
            </a:r>
            <a:r>
              <a:rPr lang="en-US" sz="1600" dirty="0"/>
              <a:t>A</a:t>
            </a:r>
            <a:r>
              <a:rPr lang="he-IL" sz="1600" dirty="0"/>
              <a:t>!</a:t>
            </a:r>
          </a:p>
          <a:p>
            <a:pPr algn="r" rtl="1">
              <a:lnSpc>
                <a:spcPct val="150000"/>
              </a:lnSpc>
            </a:pPr>
            <a:endParaRPr lang="he-IL" sz="1600" dirty="0"/>
          </a:p>
          <a:p>
            <a:pPr algn="r" rtl="1">
              <a:lnSpc>
                <a:spcPct val="150000"/>
              </a:lnSpc>
            </a:pPr>
            <a:r>
              <a:rPr lang="he-IL" sz="1600" dirty="0"/>
              <a:t>כאשר המשק מגדיל את ייצור ה-</a:t>
            </a:r>
            <a:r>
              <a:rPr lang="en-US" sz="1600" dirty="0"/>
              <a:t>X</a:t>
            </a:r>
            <a:r>
              <a:rPr lang="he-IL" sz="1600" dirty="0"/>
              <a:t> מ-4 ל-5 יחידות, הוא נאלץ להקטין את ייצור ה-</a:t>
            </a:r>
            <a:r>
              <a:rPr lang="en-US" sz="1600" dirty="0"/>
              <a:t>Y</a:t>
            </a:r>
            <a:r>
              <a:rPr lang="he-IL" sz="1600" dirty="0"/>
              <a:t> מ6 ל-4 יחידות, כלומר המשק מוותר של 2 יחידות </a:t>
            </a:r>
            <a:r>
              <a:rPr lang="en-US" sz="1600" dirty="0"/>
              <a:t>Y</a:t>
            </a:r>
            <a:r>
              <a:rPr lang="he-IL" sz="1600" dirty="0"/>
              <a:t> על מנת לייצר את יחידת </a:t>
            </a:r>
            <a:r>
              <a:rPr lang="en-US" sz="1600" dirty="0"/>
              <a:t>X</a:t>
            </a:r>
            <a:r>
              <a:rPr lang="he-IL" sz="1600" dirty="0"/>
              <a:t> האחרונה. </a:t>
            </a:r>
            <a:endParaRPr lang="en-IL" sz="1600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6A387D9-9382-339E-D487-5E148E99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2196752" y="6309430"/>
            <a:ext cx="3962400" cy="457200"/>
          </a:xfrm>
        </p:spPr>
        <p:txBody>
          <a:bodyPr/>
          <a:lstStyle/>
          <a:p>
            <a:r>
              <a:rPr lang="he-IL" dirty="0"/>
              <a:t>מיכאלה משקוביץ'</a:t>
            </a:r>
            <a:endParaRPr lang="en-US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E7A6CEF4-25C2-0DAD-335C-9CE19D3F9A97}"/>
              </a:ext>
            </a:extLst>
          </p:cNvPr>
          <p:cNvSpPr txBox="1"/>
          <p:nvPr/>
        </p:nvSpPr>
        <p:spPr>
          <a:xfrm>
            <a:off x="3880211" y="6570940"/>
            <a:ext cx="4624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solidFill>
                  <a:schemeClr val="accent5"/>
                </a:solidFill>
                <a:latin typeface="David" pitchFamily="34" charset="-79"/>
                <a:cs typeface="David" pitchFamily="34" charset="-79"/>
              </a:rPr>
              <a:t>MC=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 </a:t>
            </a:r>
            <a:r>
              <a:rPr lang="en-US" sz="1200" b="1" dirty="0">
                <a:solidFill>
                  <a:schemeClr val="accent5"/>
                </a:solidFill>
                <a:latin typeface="David" pitchFamily="34" charset="-79"/>
                <a:cs typeface="David" pitchFamily="34" charset="-79"/>
              </a:rPr>
              <a:t>M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arginal (Opportunity) </a:t>
            </a:r>
            <a:r>
              <a:rPr lang="en-US" sz="1200" b="1" dirty="0">
                <a:solidFill>
                  <a:schemeClr val="accent5"/>
                </a:solidFill>
                <a:latin typeface="David" pitchFamily="34" charset="-79"/>
                <a:cs typeface="David" pitchFamily="34" charset="-79"/>
              </a:rPr>
              <a:t>C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(אלטרנטיבית) שולית</a:t>
            </a:r>
            <a:endParaRPr lang="en-IL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48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 animBg="1"/>
      <p:bldP spid="27" grpId="0"/>
      <p:bldP spid="41" grpId="0"/>
      <p:bldP spid="30" grpId="0" animBg="1"/>
      <p:bldP spid="64" grpId="0"/>
      <p:bldP spid="8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675921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תרגיל חישוב עלויות אלט' שוליות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674328" y="829981"/>
            <a:ext cx="5289661" cy="2057400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2000" b="1" u="sng" dirty="0">
                <a:latin typeface="David" pitchFamily="34" charset="-79"/>
                <a:cs typeface="David" pitchFamily="34" charset="-79"/>
              </a:rPr>
              <a:t>3. א. חשבו את העלות האלט' השולית לייצור </a:t>
            </a:r>
            <a:r>
              <a:rPr lang="en-US" sz="2000" b="1" u="sng" dirty="0">
                <a:highlight>
                  <a:srgbClr val="FFFF00"/>
                </a:highlight>
                <a:latin typeface="David" pitchFamily="34" charset="-79"/>
                <a:cs typeface="David" pitchFamily="34" charset="-79"/>
              </a:rPr>
              <a:t>X</a:t>
            </a:r>
            <a:r>
              <a:rPr lang="en-US" sz="2000" b="1" u="sng" dirty="0">
                <a:latin typeface="David" pitchFamily="34" charset="-79"/>
                <a:cs typeface="David" pitchFamily="34" charset="-79"/>
              </a:rPr>
              <a:t>=3</a:t>
            </a:r>
            <a:r>
              <a:rPr lang="he-IL" sz="2000" b="1" u="sng" dirty="0">
                <a:latin typeface="David" pitchFamily="34" charset="-79"/>
                <a:cs typeface="David" pitchFamily="34" charset="-79"/>
              </a:rPr>
              <a:t> יחידות בכל אחת מעקומות התמורה הבאות:</a:t>
            </a:r>
            <a:endParaRPr lang="en-US" sz="2000" dirty="0">
              <a:latin typeface="David" pitchFamily="34" charset="-79"/>
              <a:cs typeface="David" pitchFamily="34" charset="-79"/>
            </a:endParaRPr>
          </a:p>
          <a:p>
            <a:pPr algn="r" rtl="1">
              <a:lnSpc>
                <a:spcPct val="150000"/>
              </a:lnSpc>
              <a:buClrTx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18</a:t>
            </a:fld>
            <a:endParaRPr lang="en-US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6553200" y="5321720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6553200" y="3125057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57083" y="4223388"/>
            <a:ext cx="228600" cy="230833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757364" y="537736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364" y="5377364"/>
                <a:ext cx="1028037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553199" y="3628393"/>
            <a:ext cx="1664966" cy="169623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7F813F-7A49-BA23-9D7E-28F25078B23D}"/>
                  </a:ext>
                </a:extLst>
              </p:cNvPr>
              <p:cNvSpPr/>
              <p:nvPr/>
            </p:nvSpPr>
            <p:spPr>
              <a:xfrm>
                <a:off x="8218165" y="541862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7F813F-7A49-BA23-9D7E-28F25078B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165" y="541862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6611D6-F96F-3693-2A6F-D5D138FEC2E5}"/>
                  </a:ext>
                </a:extLst>
              </p:cNvPr>
              <p:cNvSpPr/>
              <p:nvPr/>
            </p:nvSpPr>
            <p:spPr>
              <a:xfrm>
                <a:off x="5821337" y="2952875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6611D6-F96F-3693-2A6F-D5D138FEC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337" y="2952875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76EAD8-CFD8-7F3B-DA6E-28E8F4FD501A}"/>
              </a:ext>
            </a:extLst>
          </p:cNvPr>
          <p:cNvCxnSpPr>
            <a:cxnSpLocks/>
          </p:cNvCxnSpPr>
          <p:nvPr/>
        </p:nvCxnSpPr>
        <p:spPr>
          <a:xfrm>
            <a:off x="7271382" y="4412426"/>
            <a:ext cx="0" cy="90929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6456601-ED25-0B75-7F99-61D8BB9458C9}"/>
              </a:ext>
            </a:extLst>
          </p:cNvPr>
          <p:cNvCxnSpPr>
            <a:cxnSpLocks/>
          </p:cNvCxnSpPr>
          <p:nvPr/>
        </p:nvCxnSpPr>
        <p:spPr>
          <a:xfrm>
            <a:off x="3792335" y="5333598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9C1A892-6271-1CA2-4DEF-D045FCD07D5D}"/>
              </a:ext>
            </a:extLst>
          </p:cNvPr>
          <p:cNvCxnSpPr>
            <a:cxnSpLocks/>
          </p:cNvCxnSpPr>
          <p:nvPr/>
        </p:nvCxnSpPr>
        <p:spPr>
          <a:xfrm flipV="1">
            <a:off x="3792335" y="3136935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CE0192B-D7E6-F81F-B792-640FE6DC5BC3}"/>
              </a:ext>
            </a:extLst>
          </p:cNvPr>
          <p:cNvSpPr/>
          <p:nvPr/>
        </p:nvSpPr>
        <p:spPr>
          <a:xfrm>
            <a:off x="4225985" y="4480338"/>
            <a:ext cx="228600" cy="230833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89816A5-CB70-562C-263A-21D7E028A369}"/>
                  </a:ext>
                </a:extLst>
              </p:cNvPr>
              <p:cNvSpPr/>
              <p:nvPr/>
            </p:nvSpPr>
            <p:spPr>
              <a:xfrm>
                <a:off x="3996499" y="5389242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89816A5-CB70-562C-263A-21D7E028A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499" y="5389242"/>
                <a:ext cx="1028037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06FDA3-663D-F821-8CCD-BD9527F8A8AC}"/>
              </a:ext>
            </a:extLst>
          </p:cNvPr>
          <p:cNvCxnSpPr>
            <a:cxnSpLocks/>
          </p:cNvCxnSpPr>
          <p:nvPr/>
        </p:nvCxnSpPr>
        <p:spPr>
          <a:xfrm>
            <a:off x="3788230" y="4313121"/>
            <a:ext cx="1669070" cy="102338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E292898-6B20-7F2F-6FF1-648984A533D8}"/>
                  </a:ext>
                </a:extLst>
              </p:cNvPr>
              <p:cNvSpPr/>
              <p:nvPr/>
            </p:nvSpPr>
            <p:spPr>
              <a:xfrm>
                <a:off x="5457300" y="5430501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E292898-6B20-7F2F-6FF1-648984A53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300" y="5430501"/>
                <a:ext cx="1028037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6441301-083E-5BB2-13FC-E5F82BDDA7B3}"/>
                  </a:ext>
                </a:extLst>
              </p:cNvPr>
              <p:cNvSpPr/>
              <p:nvPr/>
            </p:nvSpPr>
            <p:spPr>
              <a:xfrm>
                <a:off x="3060472" y="296475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6441301-083E-5BB2-13FC-E5F82BDDA7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472" y="2964753"/>
                <a:ext cx="1028037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2EE50C5-5D64-F1E6-5EEE-35D12F95C2E3}"/>
              </a:ext>
            </a:extLst>
          </p:cNvPr>
          <p:cNvCxnSpPr>
            <a:cxnSpLocks/>
          </p:cNvCxnSpPr>
          <p:nvPr/>
        </p:nvCxnSpPr>
        <p:spPr>
          <a:xfrm>
            <a:off x="4342285" y="4671436"/>
            <a:ext cx="1" cy="63079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1027365" y="5411453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1027365" y="3214790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541384" y="4288551"/>
            <a:ext cx="216928" cy="191787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FA2A055-4849-734D-4088-9DDA6C7971AE}"/>
                  </a:ext>
                </a:extLst>
              </p:cNvPr>
              <p:cNvSpPr/>
              <p:nvPr/>
            </p:nvSpPr>
            <p:spPr>
              <a:xfrm>
                <a:off x="1231529" y="5467097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FA2A055-4849-734D-4088-9DDA6C7971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529" y="5467097"/>
                <a:ext cx="1028037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1016636" y="3392267"/>
            <a:ext cx="1274663" cy="200808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92330" y="5508356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330" y="5508356"/>
                <a:ext cx="1028037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298455" y="319510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55" y="3195104"/>
                <a:ext cx="102803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>
            <a:off x="1638130" y="4435336"/>
            <a:ext cx="1" cy="96493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96E676A-4B4F-C1DF-C815-E6A4530613D9}"/>
              </a:ext>
            </a:extLst>
          </p:cNvPr>
          <p:cNvSpPr txBox="1"/>
          <p:nvPr/>
        </p:nvSpPr>
        <p:spPr>
          <a:xfrm>
            <a:off x="4590059" y="5091947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-0.5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81213403-5E67-2AA3-29FD-F347D6DE322A}"/>
              </a:ext>
            </a:extLst>
          </p:cNvPr>
          <p:cNvSpPr/>
          <p:nvPr/>
        </p:nvSpPr>
        <p:spPr>
          <a:xfrm rot="18186735">
            <a:off x="4543337" y="5149194"/>
            <a:ext cx="833938" cy="409190"/>
          </a:xfrm>
          <a:prstGeom prst="arc">
            <a:avLst>
              <a:gd name="adj1" fmla="val 14484198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EE5B8B-AD90-B968-69D1-136460561C42}"/>
              </a:ext>
            </a:extLst>
          </p:cNvPr>
          <p:cNvSpPr txBox="1"/>
          <p:nvPr/>
        </p:nvSpPr>
        <p:spPr>
          <a:xfrm>
            <a:off x="7481071" y="5040812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-1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6A10DA78-2B7D-0912-A8ED-C9AB092913A7}"/>
              </a:ext>
            </a:extLst>
          </p:cNvPr>
          <p:cNvSpPr/>
          <p:nvPr/>
        </p:nvSpPr>
        <p:spPr>
          <a:xfrm rot="18186735">
            <a:off x="7434349" y="5098059"/>
            <a:ext cx="833938" cy="409190"/>
          </a:xfrm>
          <a:prstGeom prst="arc">
            <a:avLst>
              <a:gd name="adj1" fmla="val 14484198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658087" y="5161955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-1.5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0EAC058E-E028-2063-BCEF-630C2788EECA}"/>
              </a:ext>
            </a:extLst>
          </p:cNvPr>
          <p:cNvSpPr/>
          <p:nvPr/>
        </p:nvSpPr>
        <p:spPr>
          <a:xfrm rot="18186735">
            <a:off x="1671478" y="5206858"/>
            <a:ext cx="833938" cy="409190"/>
          </a:xfrm>
          <a:prstGeom prst="arc">
            <a:avLst>
              <a:gd name="adj1" fmla="val 14484198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1C87964-6E44-2B09-CADD-4F9B5B3CB230}"/>
                  </a:ext>
                </a:extLst>
              </p:cNvPr>
              <p:cNvSpPr txBox="1"/>
              <p:nvPr/>
            </p:nvSpPr>
            <p:spPr>
              <a:xfrm>
                <a:off x="486875" y="1018777"/>
                <a:ext cx="3233492" cy="802977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MC(</a:t>
                </a:r>
                <a:r>
                  <a:rPr lang="en-US" sz="3200" dirty="0">
                    <a:highlight>
                      <a:srgbClr val="FFFF00"/>
                    </a:highlight>
                  </a:rPr>
                  <a:t>X</a:t>
                </a:r>
                <a:r>
                  <a:rPr lang="en-US" sz="3200" dirty="0"/>
                  <a:t>)   =</a:t>
                </a:r>
                <a:r>
                  <a:rPr lang="en-US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ΔY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ΔX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1C87964-6E44-2B09-CADD-4F9B5B3CB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75" y="1018777"/>
                <a:ext cx="3233492" cy="802977"/>
              </a:xfrm>
              <a:prstGeom prst="rect">
                <a:avLst/>
              </a:prstGeom>
              <a:blipFill>
                <a:blip r:embed="rId11"/>
                <a:stretch>
                  <a:fillRect b="-1590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7D9B951-00C9-7765-D77A-492159D9DA1A}"/>
              </a:ext>
            </a:extLst>
          </p:cNvPr>
          <p:cNvSpPr txBox="1"/>
          <p:nvPr/>
        </p:nvSpPr>
        <p:spPr>
          <a:xfrm>
            <a:off x="3549362" y="6463723"/>
            <a:ext cx="4624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**MC= Marginal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(אלטרנטיבית) שולית</a:t>
            </a:r>
            <a:endParaRPr lang="en-IL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מציין מיקום של כותרת תחתונה 6">
            <a:extLst>
              <a:ext uri="{FF2B5EF4-FFF2-40B4-BE49-F238E27FC236}">
                <a16:creationId xmlns:a16="http://schemas.microsoft.com/office/drawing/2014/main" id="{3B56EE5E-BB8B-E5AA-4504-629D5160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0904" y="0"/>
            <a:ext cx="3962400" cy="457200"/>
          </a:xfrm>
        </p:spPr>
        <p:txBody>
          <a:bodyPr/>
          <a:lstStyle/>
          <a:p>
            <a:r>
              <a:rPr lang="he-IL" dirty="0"/>
              <a:t>מיכאלה משקוביץ'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25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 animBg="1"/>
      <p:bldP spid="56" grpId="0"/>
      <p:bldP spid="57" grpId="0" animBg="1"/>
      <p:bldP spid="58" grpId="0"/>
      <p:bldP spid="59" grpId="0" animBg="1"/>
      <p:bldP spid="6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675921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תרגיל חישוב עלויות אלט' שוליות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674328" y="829981"/>
            <a:ext cx="5289661" cy="2057400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2000" b="1" u="sng" dirty="0">
                <a:latin typeface="David" pitchFamily="34" charset="-79"/>
                <a:cs typeface="David" pitchFamily="34" charset="-79"/>
              </a:rPr>
              <a:t>3. א. חשבו את העלות האלט' השולית לייצור </a:t>
            </a:r>
            <a:r>
              <a:rPr lang="en-US" sz="2000" b="1" u="sng" dirty="0">
                <a:highlight>
                  <a:srgbClr val="FFFF00"/>
                </a:highlight>
                <a:latin typeface="David" pitchFamily="34" charset="-79"/>
                <a:cs typeface="David" pitchFamily="34" charset="-79"/>
              </a:rPr>
              <a:t>X</a:t>
            </a:r>
            <a:r>
              <a:rPr lang="en-US" sz="2000" b="1" u="sng" dirty="0">
                <a:latin typeface="David" pitchFamily="34" charset="-79"/>
                <a:cs typeface="David" pitchFamily="34" charset="-79"/>
              </a:rPr>
              <a:t>=3</a:t>
            </a:r>
            <a:r>
              <a:rPr lang="he-IL" sz="2000" b="1" u="sng" dirty="0">
                <a:latin typeface="David" pitchFamily="34" charset="-79"/>
                <a:cs typeface="David" pitchFamily="34" charset="-79"/>
              </a:rPr>
              <a:t> יחידות בכל אחת מעקומות התמורה הבאות:</a:t>
            </a:r>
            <a:endParaRPr lang="en-US" sz="2000" dirty="0">
              <a:latin typeface="David" pitchFamily="34" charset="-79"/>
              <a:cs typeface="David" pitchFamily="34" charset="-79"/>
            </a:endParaRPr>
          </a:p>
          <a:p>
            <a:pPr algn="r" rtl="1">
              <a:lnSpc>
                <a:spcPct val="150000"/>
              </a:lnSpc>
              <a:buClrTx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19</a:t>
            </a:fld>
            <a:endParaRPr lang="en-US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6553200" y="5321720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6553200" y="3125057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57083" y="4223388"/>
            <a:ext cx="228600" cy="230833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757364" y="537736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364" y="5377364"/>
                <a:ext cx="1028037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553199" y="3628393"/>
            <a:ext cx="1664966" cy="169623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7F813F-7A49-BA23-9D7E-28F25078B23D}"/>
                  </a:ext>
                </a:extLst>
              </p:cNvPr>
              <p:cNvSpPr/>
              <p:nvPr/>
            </p:nvSpPr>
            <p:spPr>
              <a:xfrm>
                <a:off x="8218165" y="541862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7F813F-7A49-BA23-9D7E-28F25078B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165" y="541862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6611D6-F96F-3693-2A6F-D5D138FEC2E5}"/>
                  </a:ext>
                </a:extLst>
              </p:cNvPr>
              <p:cNvSpPr/>
              <p:nvPr/>
            </p:nvSpPr>
            <p:spPr>
              <a:xfrm>
                <a:off x="5910907" y="3357022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6611D6-F96F-3693-2A6F-D5D138FEC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907" y="3357022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76EAD8-CFD8-7F3B-DA6E-28E8F4FD501A}"/>
              </a:ext>
            </a:extLst>
          </p:cNvPr>
          <p:cNvCxnSpPr>
            <a:cxnSpLocks/>
          </p:cNvCxnSpPr>
          <p:nvPr/>
        </p:nvCxnSpPr>
        <p:spPr>
          <a:xfrm>
            <a:off x="7271382" y="4412426"/>
            <a:ext cx="0" cy="90929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6456601-ED25-0B75-7F99-61D8BB9458C9}"/>
              </a:ext>
            </a:extLst>
          </p:cNvPr>
          <p:cNvCxnSpPr>
            <a:cxnSpLocks/>
          </p:cNvCxnSpPr>
          <p:nvPr/>
        </p:nvCxnSpPr>
        <p:spPr>
          <a:xfrm>
            <a:off x="3792335" y="5333598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9C1A892-6271-1CA2-4DEF-D045FCD07D5D}"/>
              </a:ext>
            </a:extLst>
          </p:cNvPr>
          <p:cNvCxnSpPr>
            <a:cxnSpLocks/>
          </p:cNvCxnSpPr>
          <p:nvPr/>
        </p:nvCxnSpPr>
        <p:spPr>
          <a:xfrm flipV="1">
            <a:off x="3792335" y="3136935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CE0192B-D7E6-F81F-B792-640FE6DC5BC3}"/>
              </a:ext>
            </a:extLst>
          </p:cNvPr>
          <p:cNvSpPr/>
          <p:nvPr/>
        </p:nvSpPr>
        <p:spPr>
          <a:xfrm>
            <a:off x="4225985" y="4480338"/>
            <a:ext cx="228600" cy="230833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89816A5-CB70-562C-263A-21D7E028A369}"/>
                  </a:ext>
                </a:extLst>
              </p:cNvPr>
              <p:cNvSpPr/>
              <p:nvPr/>
            </p:nvSpPr>
            <p:spPr>
              <a:xfrm>
                <a:off x="3996499" y="5389242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89816A5-CB70-562C-263A-21D7E028A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499" y="5389242"/>
                <a:ext cx="1028037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06FDA3-663D-F821-8CCD-BD9527F8A8AC}"/>
              </a:ext>
            </a:extLst>
          </p:cNvPr>
          <p:cNvCxnSpPr>
            <a:cxnSpLocks/>
          </p:cNvCxnSpPr>
          <p:nvPr/>
        </p:nvCxnSpPr>
        <p:spPr>
          <a:xfrm>
            <a:off x="3788230" y="4313121"/>
            <a:ext cx="1669070" cy="102338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E292898-6B20-7F2F-6FF1-648984A533D8}"/>
                  </a:ext>
                </a:extLst>
              </p:cNvPr>
              <p:cNvSpPr/>
              <p:nvPr/>
            </p:nvSpPr>
            <p:spPr>
              <a:xfrm>
                <a:off x="5457300" y="5430501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E292898-6B20-7F2F-6FF1-648984A53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300" y="5430501"/>
                <a:ext cx="1028037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6441301-083E-5BB2-13FC-E5F82BDDA7B3}"/>
                  </a:ext>
                </a:extLst>
              </p:cNvPr>
              <p:cNvSpPr/>
              <p:nvPr/>
            </p:nvSpPr>
            <p:spPr>
              <a:xfrm>
                <a:off x="3147476" y="335077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6441301-083E-5BB2-13FC-E5F82BDDA7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476" y="3350774"/>
                <a:ext cx="1028037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2EE50C5-5D64-F1E6-5EEE-35D12F95C2E3}"/>
              </a:ext>
            </a:extLst>
          </p:cNvPr>
          <p:cNvCxnSpPr>
            <a:cxnSpLocks/>
          </p:cNvCxnSpPr>
          <p:nvPr/>
        </p:nvCxnSpPr>
        <p:spPr>
          <a:xfrm>
            <a:off x="4342285" y="4671436"/>
            <a:ext cx="1" cy="63079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1027365" y="5411453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1027365" y="3214790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541384" y="4288551"/>
            <a:ext cx="216928" cy="191787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FA2A055-4849-734D-4088-9DDA6C7971AE}"/>
                  </a:ext>
                </a:extLst>
              </p:cNvPr>
              <p:cNvSpPr/>
              <p:nvPr/>
            </p:nvSpPr>
            <p:spPr>
              <a:xfrm>
                <a:off x="1231529" y="5467097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FA2A055-4849-734D-4088-9DDA6C7971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529" y="5467097"/>
                <a:ext cx="1028037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1071190" y="3402983"/>
            <a:ext cx="1274663" cy="200808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92330" y="5508356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330" y="5508356"/>
                <a:ext cx="1028037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255770" y="330117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70" y="3301173"/>
                <a:ext cx="102803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>
            <a:off x="1638130" y="4435336"/>
            <a:ext cx="1" cy="96493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96E676A-4B4F-C1DF-C815-E6A4530613D9}"/>
              </a:ext>
            </a:extLst>
          </p:cNvPr>
          <p:cNvSpPr txBox="1"/>
          <p:nvPr/>
        </p:nvSpPr>
        <p:spPr>
          <a:xfrm>
            <a:off x="4590059" y="5091947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-0.5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81213403-5E67-2AA3-29FD-F347D6DE322A}"/>
              </a:ext>
            </a:extLst>
          </p:cNvPr>
          <p:cNvSpPr/>
          <p:nvPr/>
        </p:nvSpPr>
        <p:spPr>
          <a:xfrm rot="18186735">
            <a:off x="4543337" y="5149194"/>
            <a:ext cx="833938" cy="409190"/>
          </a:xfrm>
          <a:prstGeom prst="arc">
            <a:avLst>
              <a:gd name="adj1" fmla="val 14484198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EE5B8B-AD90-B968-69D1-136460561C42}"/>
              </a:ext>
            </a:extLst>
          </p:cNvPr>
          <p:cNvSpPr txBox="1"/>
          <p:nvPr/>
        </p:nvSpPr>
        <p:spPr>
          <a:xfrm>
            <a:off x="7481071" y="5040812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-1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6A10DA78-2B7D-0912-A8ED-C9AB092913A7}"/>
              </a:ext>
            </a:extLst>
          </p:cNvPr>
          <p:cNvSpPr/>
          <p:nvPr/>
        </p:nvSpPr>
        <p:spPr>
          <a:xfrm rot="18186735">
            <a:off x="7434349" y="5098059"/>
            <a:ext cx="833938" cy="409190"/>
          </a:xfrm>
          <a:prstGeom prst="arc">
            <a:avLst>
              <a:gd name="adj1" fmla="val 14484198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629710" y="5164321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-1.5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0EAC058E-E028-2063-BCEF-630C2788EECA}"/>
              </a:ext>
            </a:extLst>
          </p:cNvPr>
          <p:cNvSpPr/>
          <p:nvPr/>
        </p:nvSpPr>
        <p:spPr>
          <a:xfrm rot="18186735">
            <a:off x="1598266" y="5205416"/>
            <a:ext cx="833938" cy="409190"/>
          </a:xfrm>
          <a:prstGeom prst="arc">
            <a:avLst>
              <a:gd name="adj1" fmla="val 14484198"/>
              <a:gd name="adj2" fmla="val 205198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1C87964-6E44-2B09-CADD-4F9B5B3CB230}"/>
                  </a:ext>
                </a:extLst>
              </p:cNvPr>
              <p:cNvSpPr txBox="1"/>
              <p:nvPr/>
            </p:nvSpPr>
            <p:spPr>
              <a:xfrm>
                <a:off x="486875" y="1018777"/>
                <a:ext cx="2674090" cy="802977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algn="l" rtl="0"/>
                <a:r>
                  <a:rPr lang="en-US" sz="3200" dirty="0"/>
                  <a:t>MC(</a:t>
                </a:r>
                <a:r>
                  <a:rPr lang="en-US" sz="3200" dirty="0">
                    <a:highlight>
                      <a:srgbClr val="FFFF00"/>
                    </a:highlight>
                  </a:rPr>
                  <a:t>X</a:t>
                </a:r>
                <a:r>
                  <a:rPr lang="en-US" sz="3200" dirty="0"/>
                  <a:t>) =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ΔY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ΔX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1C87964-6E44-2B09-CADD-4F9B5B3CB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75" y="1018777"/>
                <a:ext cx="2674090" cy="802977"/>
              </a:xfrm>
              <a:prstGeom prst="rect">
                <a:avLst/>
              </a:prstGeom>
              <a:blipFill>
                <a:blip r:embed="rId11"/>
                <a:stretch>
                  <a:fillRect l="-5923" b="-1590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0E039F8-B2E8-455F-A55C-8135B257BB42}"/>
                  </a:ext>
                </a:extLst>
              </p:cNvPr>
              <p:cNvSpPr txBox="1"/>
              <p:nvPr/>
            </p:nvSpPr>
            <p:spPr>
              <a:xfrm>
                <a:off x="6364615" y="2519961"/>
                <a:ext cx="2779385" cy="369332"/>
              </a:xfrm>
              <a:prstGeom prst="rect">
                <a:avLst/>
              </a:prstGeom>
              <a:solidFill>
                <a:srgbClr val="B3DEFF"/>
              </a:solidFill>
            </p:spPr>
            <p:txBody>
              <a:bodyPr wrap="square" rtlCol="0">
                <a:spAutoFit/>
              </a:bodyPr>
              <a:lstStyle/>
              <a:p>
                <a:pPr algn="l" rtl="0"/>
                <a:r>
                  <a:rPr lang="en-US" dirty="0"/>
                  <a:t>MC(X=3) </a:t>
                </a:r>
                <a:r>
                  <a:rPr lang="en-US" sz="1600" dirty="0"/>
                  <a:t>=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0E039F8-B2E8-455F-A55C-8135B257B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615" y="2519961"/>
                <a:ext cx="2779385" cy="369332"/>
              </a:xfrm>
              <a:prstGeom prst="rect">
                <a:avLst/>
              </a:prstGeom>
              <a:blipFill>
                <a:blip r:embed="rId12"/>
                <a:stretch>
                  <a:fillRect l="-1754" t="-6557" b="-2623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5543722-9A8E-87BA-B80B-CA861BDE326A}"/>
                  </a:ext>
                </a:extLst>
              </p:cNvPr>
              <p:cNvSpPr txBox="1"/>
              <p:nvPr/>
            </p:nvSpPr>
            <p:spPr>
              <a:xfrm>
                <a:off x="3249797" y="2533273"/>
                <a:ext cx="2934807" cy="400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l" rtl="0"/>
                <a:r>
                  <a:rPr lang="en-US" sz="2000" dirty="0"/>
                  <a:t>MC</a:t>
                </a:r>
                <a:r>
                  <a:rPr lang="en-US" dirty="0"/>
                  <a:t>(X=3)</a:t>
                </a:r>
                <a:r>
                  <a:rPr lang="en-US" sz="2000" dirty="0"/>
                  <a:t> </a:t>
                </a:r>
                <a:r>
                  <a:rPr lang="en-US" sz="19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5543722-9A8E-87BA-B80B-CA861BDE3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797" y="2533273"/>
                <a:ext cx="2934807" cy="400110"/>
              </a:xfrm>
              <a:prstGeom prst="rect">
                <a:avLst/>
              </a:prstGeom>
              <a:blipFill>
                <a:blip r:embed="rId13"/>
                <a:stretch>
                  <a:fillRect l="-2075" t="-9231" b="-2769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D90B569-E198-1965-876B-7C7B579FA10B}"/>
                  </a:ext>
                </a:extLst>
              </p:cNvPr>
              <p:cNvSpPr txBox="1"/>
              <p:nvPr/>
            </p:nvSpPr>
            <p:spPr>
              <a:xfrm>
                <a:off x="99001" y="2625331"/>
                <a:ext cx="2961471" cy="400110"/>
              </a:xfrm>
              <a:prstGeom prst="rect">
                <a:avLst/>
              </a:prstGeom>
              <a:solidFill>
                <a:srgbClr val="D4F9CF"/>
              </a:solidFill>
            </p:spPr>
            <p:txBody>
              <a:bodyPr wrap="square" rtlCol="0">
                <a:spAutoFit/>
              </a:bodyPr>
              <a:lstStyle/>
              <a:p>
                <a:pPr algn="l" rtl="0"/>
                <a:r>
                  <a:rPr lang="en-US" sz="2000" dirty="0"/>
                  <a:t>MC</a:t>
                </a:r>
                <a:r>
                  <a:rPr lang="en-US" dirty="0"/>
                  <a:t>(X=3)</a:t>
                </a:r>
                <a:r>
                  <a:rPr lang="en-US" sz="2000" dirty="0"/>
                  <a:t> </a:t>
                </a:r>
                <a:r>
                  <a:rPr lang="en-US" sz="19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900" b="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he-IL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5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D90B569-E198-1965-876B-7C7B579FA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1" y="2625331"/>
                <a:ext cx="2961471" cy="400110"/>
              </a:xfrm>
              <a:prstGeom prst="rect">
                <a:avLst/>
              </a:prstGeom>
              <a:blipFill>
                <a:blip r:embed="rId14"/>
                <a:stretch>
                  <a:fillRect l="-2058" t="-9231" b="-2769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6C82EB1-23C5-DBEF-F773-E490CDDE0475}"/>
              </a:ext>
            </a:extLst>
          </p:cNvPr>
          <p:cNvSpPr txBox="1"/>
          <p:nvPr/>
        </p:nvSpPr>
        <p:spPr>
          <a:xfrm>
            <a:off x="3574490" y="6396458"/>
            <a:ext cx="4624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**MC= Marginal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(אלטרנטיבית) שולית</a:t>
            </a:r>
            <a:endParaRPr lang="en-IL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CBDE6C1-B53B-07F0-2945-23066092E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13279" y="-45056"/>
            <a:ext cx="3962400" cy="457200"/>
          </a:xfrm>
        </p:spPr>
        <p:txBody>
          <a:bodyPr/>
          <a:lstStyle/>
          <a:p>
            <a:r>
              <a:rPr lang="he-IL"/>
              <a:t>מיכאלה משקוביץ'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71F50-9807-ED13-569D-73597F7F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A3E6-832E-E12B-D59F-DE31791C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564" y="108713"/>
            <a:ext cx="7848600" cy="1143000"/>
          </a:xfrm>
        </p:spPr>
        <p:txBody>
          <a:bodyPr/>
          <a:lstStyle/>
          <a:p>
            <a:pPr algn="ctr"/>
            <a:r>
              <a:rPr lang="he-IL" dirty="0"/>
              <a:t>הגדרות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96ACE-91E1-2583-9819-3CB8564D26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1108" y="1823069"/>
            <a:ext cx="8391924" cy="1472761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he-IL" sz="1800" b="1" dirty="0">
                <a:solidFill>
                  <a:schemeClr val="bg1">
                    <a:lumMod val="65000"/>
                  </a:schemeClr>
                </a:solidFill>
                <a:latin typeface="David" pitchFamily="34" charset="-79"/>
                <a:cs typeface="David" pitchFamily="34" charset="-79"/>
              </a:rPr>
              <a:t>עלות אלטרנטיבית </a:t>
            </a:r>
            <a:r>
              <a:rPr lang="he-IL" sz="1800" b="1" u="sng" dirty="0">
                <a:latin typeface="David" pitchFamily="34" charset="-79"/>
                <a:cs typeface="David" pitchFamily="34" charset="-79"/>
              </a:rPr>
              <a:t>שולית</a:t>
            </a:r>
            <a:r>
              <a:rPr lang="he-IL" sz="1800" b="1" dirty="0">
                <a:solidFill>
                  <a:schemeClr val="bg1">
                    <a:lumMod val="65000"/>
                  </a:schemeClr>
                </a:solidFill>
                <a:latin typeface="David" pitchFamily="34" charset="-79"/>
                <a:cs typeface="David" pitchFamily="34" charset="-79"/>
              </a:rPr>
              <a:t> </a:t>
            </a:r>
            <a:r>
              <a:rPr lang="he-IL" sz="1600" b="1" dirty="0">
                <a:solidFill>
                  <a:schemeClr val="bg1">
                    <a:lumMod val="65000"/>
                  </a:schemeClr>
                </a:solidFill>
                <a:latin typeface="David" pitchFamily="34" charset="-79"/>
                <a:cs typeface="David" pitchFamily="34" charset="-79"/>
              </a:rPr>
              <a:t>(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David" pitchFamily="34" charset="-79"/>
                <a:cs typeface="David" pitchFamily="34" charset="-79"/>
              </a:rPr>
              <a:t>Marginal Opportunity Cost</a:t>
            </a:r>
            <a:r>
              <a:rPr lang="he-IL" sz="1600" b="1" dirty="0">
                <a:solidFill>
                  <a:schemeClr val="bg1">
                    <a:lumMod val="65000"/>
                  </a:schemeClr>
                </a:solidFill>
                <a:latin typeface="David" pitchFamily="34" charset="-79"/>
                <a:cs typeface="David" pitchFamily="34" charset="-79"/>
              </a:rPr>
              <a:t>)</a:t>
            </a:r>
            <a:r>
              <a:rPr lang="he-IL" sz="1600" dirty="0">
                <a:solidFill>
                  <a:schemeClr val="bg1">
                    <a:lumMod val="65000"/>
                  </a:schemeClr>
                </a:solidFill>
                <a:latin typeface="David" pitchFamily="34" charset="-79"/>
                <a:cs typeface="David" pitchFamily="34" charset="-79"/>
              </a:rPr>
              <a:t> 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בייצור </a:t>
            </a: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David" pitchFamily="34" charset="-79"/>
                <a:cs typeface="David" pitchFamily="34" charset="-79"/>
              </a:rPr>
              <a:t>X</a:t>
            </a:r>
            <a:r>
              <a:rPr lang="he-IL" sz="1800" dirty="0">
                <a:solidFill>
                  <a:schemeClr val="bg1">
                    <a:lumMod val="65000"/>
                  </a:schemeClr>
                </a:solidFill>
                <a:latin typeface="David" pitchFamily="34" charset="-79"/>
                <a:cs typeface="David" pitchFamily="34" charset="-79"/>
              </a:rPr>
              <a:t> שווה ל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שיפוע</a:t>
            </a:r>
            <a:r>
              <a:rPr lang="he-IL" sz="1800" dirty="0">
                <a:solidFill>
                  <a:schemeClr val="bg1">
                    <a:lumMod val="65000"/>
                  </a:schemeClr>
                </a:solidFill>
                <a:latin typeface="David" pitchFamily="34" charset="-79"/>
                <a:cs typeface="David" pitchFamily="34" charset="-79"/>
              </a:rPr>
              <a:t> עקומת התמורה (בערך מוחלט) בתחום שבין נקודת הייצור לבין נקודת ייצור שבה מייצרים יחידת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David" pitchFamily="34" charset="-79"/>
                <a:cs typeface="David" pitchFamily="34" charset="-79"/>
              </a:rPr>
              <a:t>X</a:t>
            </a:r>
            <a:r>
              <a:rPr lang="he-IL" sz="1800" dirty="0">
                <a:solidFill>
                  <a:schemeClr val="bg1">
                    <a:lumMod val="65000"/>
                  </a:schemeClr>
                </a:solidFill>
                <a:latin typeface="David" pitchFamily="34" charset="-79"/>
                <a:cs typeface="David" pitchFamily="34" charset="-79"/>
              </a:rPr>
              <a:t> אחת פחות. </a:t>
            </a:r>
            <a:endParaRPr lang="en-US" sz="1800" dirty="0">
              <a:solidFill>
                <a:schemeClr val="bg1">
                  <a:lumMod val="65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1FA8B-F27F-E47A-E562-CBBB907E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24AF92-42DA-4C17-AB33-95A624A1878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06B9CB-A2AA-9982-3341-672293AA0A2A}"/>
                  </a:ext>
                </a:extLst>
              </p:cNvPr>
              <p:cNvSpPr txBox="1"/>
              <p:nvPr/>
            </p:nvSpPr>
            <p:spPr>
              <a:xfrm>
                <a:off x="787564" y="2825332"/>
                <a:ext cx="2016224" cy="536494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lvl="0" algn="r" rtl="0"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</a:rPr>
                  <a:t>MC(X) =</a:t>
                </a:r>
                <a:r>
                  <a:rPr kumimoji="0" lang="he-IL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ΔY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ΔX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06B9CB-A2AA-9982-3341-672293AA0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64" y="2825332"/>
                <a:ext cx="2016224" cy="536494"/>
              </a:xfrm>
              <a:prstGeom prst="rect">
                <a:avLst/>
              </a:prstGeom>
              <a:blipFill>
                <a:blip r:embed="rId2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6D74AD1-EAC9-A930-5564-0E2585076F02}"/>
              </a:ext>
            </a:extLst>
          </p:cNvPr>
          <p:cNvSpPr txBox="1">
            <a:spLocks/>
          </p:cNvSpPr>
          <p:nvPr/>
        </p:nvSpPr>
        <p:spPr>
          <a:xfrm>
            <a:off x="438228" y="3771247"/>
            <a:ext cx="8391924" cy="147276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  <a:buClrTx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עלות אלטרנטיבית </a:t>
            </a:r>
            <a:r>
              <a:rPr kumimoji="0" lang="he-IL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שולית</a:t>
            </a: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</a:t>
            </a: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Marginal Opportunity Cost</a:t>
            </a: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)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</a:t>
            </a: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בייצור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Y</a:t>
            </a: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שווה לשיפוע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</a:t>
            </a: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ההופכי של עקומת התמורה (בערך מוחלט) בתחום שבין נקודת הייצור לבין נקודת ייצור שבה מייצרים יחידת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Y</a:t>
            </a: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אחת פחות.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avid" pitchFamily="34" charset="-79"/>
              <a:ea typeface="+mn-ea"/>
              <a:cs typeface="David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686E75-E63A-8229-30AA-295D07ABCBDE}"/>
                  </a:ext>
                </a:extLst>
              </p:cNvPr>
              <p:cNvSpPr txBox="1"/>
              <p:nvPr/>
            </p:nvSpPr>
            <p:spPr>
              <a:xfrm>
                <a:off x="685800" y="5013176"/>
                <a:ext cx="2013992" cy="994631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lvl="0" algn="l"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Perpetua"/>
                  </a:rPr>
                  <a:t>MC(Y)</a:t>
                </a:r>
                <a:r>
                  <a:rPr lang="en-US" sz="2400" dirty="0">
                    <a:solidFill>
                      <a:prstClr val="black"/>
                    </a:solidFill>
                    <a:highlight>
                      <a:srgbClr val="FFFF00"/>
                    </a:highlight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  <m:f>
                      <m:fPr>
                        <m:ctrlPr>
                          <a:rPr lang="en-US" sz="24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ΔY</m:t>
                        </m:r>
                      </m:den>
                    </m:f>
                    <m:r>
                      <a:rPr lang="en-US" sz="24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Perpetua"/>
                  </a:rPr>
                  <a:t>                      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686E75-E63A-8229-30AA-295D07ABC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013176"/>
                <a:ext cx="2013992" cy="994631"/>
              </a:xfrm>
              <a:prstGeom prst="rect">
                <a:avLst/>
              </a:prstGeom>
              <a:blipFill>
                <a:blip r:embed="rId3"/>
                <a:stretch>
                  <a:fillRect l="-454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11C4135-6D6C-BB35-2C64-E6C32971B1EC}"/>
              </a:ext>
            </a:extLst>
          </p:cNvPr>
          <p:cNvSpPr txBox="1"/>
          <p:nvPr/>
        </p:nvSpPr>
        <p:spPr>
          <a:xfrm>
            <a:off x="697230" y="1159438"/>
            <a:ext cx="799205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r" rtl="1"/>
            <a:r>
              <a:rPr lang="he-IL" sz="1800" b="1" dirty="0">
                <a:latin typeface="David" pitchFamily="34" charset="-79"/>
                <a:cs typeface="David" pitchFamily="34" charset="-79"/>
              </a:rPr>
              <a:t>עלות אלטרנטיבית </a:t>
            </a:r>
            <a:r>
              <a:rPr lang="he-IL" sz="1800" b="1" u="sng" dirty="0">
                <a:latin typeface="David" pitchFamily="34" charset="-79"/>
                <a:cs typeface="David" pitchFamily="34" charset="-79"/>
              </a:rPr>
              <a:t>שולית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 (</a:t>
            </a:r>
            <a:r>
              <a:rPr lang="en-US" sz="1800" b="1" dirty="0">
                <a:latin typeface="David" pitchFamily="34" charset="-79"/>
                <a:cs typeface="David" pitchFamily="34" charset="-79"/>
              </a:rPr>
              <a:t>Marginal Opportunity Cost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)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 הינה הוויתור הנדרש ממוצר אחד כדי לייצר את היחידה האחרונה ממוצר אחר.</a:t>
            </a:r>
            <a:endParaRPr lang="en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F8DC81-1DCD-3878-7769-00FF25AD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89541" y="6483302"/>
            <a:ext cx="2350681" cy="365125"/>
          </a:xfrm>
        </p:spPr>
        <p:txBody>
          <a:bodyPr/>
          <a:lstStyle/>
          <a:p>
            <a:r>
              <a:rPr lang="he-IL" dirty="0"/>
              <a:t>מיכאלה משקוביץ'</a:t>
            </a:r>
            <a:endParaRPr lang="en-US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35F3D91E-6F69-7A53-09E8-B99C3EFFD201}"/>
              </a:ext>
            </a:extLst>
          </p:cNvPr>
          <p:cNvSpPr txBox="1"/>
          <p:nvPr/>
        </p:nvSpPr>
        <p:spPr>
          <a:xfrm>
            <a:off x="3064627" y="6269444"/>
            <a:ext cx="4624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**MC= Marginal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(אלטרנטיבית) שולית</a:t>
            </a:r>
            <a:endParaRPr lang="en-IL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54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0" grpId="0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675921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תרגיל חישוב עלויות אלט' שוליות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365386" y="829981"/>
            <a:ext cx="5598604" cy="2057400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2000" b="1" u="sng" dirty="0">
                <a:latin typeface="David" pitchFamily="34" charset="-79"/>
                <a:cs typeface="David" pitchFamily="34" charset="-79"/>
              </a:rPr>
              <a:t>3.ב. חשבו את העלות האלט' השולית לייצור </a:t>
            </a:r>
            <a:r>
              <a:rPr lang="en-US" sz="2000" b="1" u="sng" dirty="0">
                <a:highlight>
                  <a:srgbClr val="FFFF00"/>
                </a:highlight>
                <a:latin typeface="David" pitchFamily="34" charset="-79"/>
                <a:cs typeface="David" pitchFamily="34" charset="-79"/>
              </a:rPr>
              <a:t>Y</a:t>
            </a:r>
            <a:r>
              <a:rPr lang="he-IL" sz="2000" b="1" u="sng" dirty="0">
                <a:latin typeface="David" pitchFamily="34" charset="-79"/>
                <a:cs typeface="David" pitchFamily="34" charset="-79"/>
              </a:rPr>
              <a:t> יחידות</a:t>
            </a:r>
            <a:r>
              <a:rPr lang="en-US" sz="2000" b="1" u="sng" dirty="0">
                <a:latin typeface="David" pitchFamily="34" charset="-79"/>
                <a:cs typeface="David" pitchFamily="34" charset="-79"/>
              </a:rPr>
              <a:t> </a:t>
            </a:r>
            <a:r>
              <a:rPr lang="he-IL" sz="2000" b="1" u="sng" dirty="0">
                <a:latin typeface="David" pitchFamily="34" charset="-79"/>
                <a:cs typeface="David" pitchFamily="34" charset="-79"/>
              </a:rPr>
              <a:t> בנקודת הייצור המסומנת, בכל אחת מעקומות התמורה הבאות:</a:t>
            </a:r>
            <a:endParaRPr lang="en-US" sz="2000" dirty="0">
              <a:latin typeface="David" pitchFamily="34" charset="-79"/>
              <a:cs typeface="David" pitchFamily="34" charset="-79"/>
            </a:endParaRPr>
          </a:p>
          <a:p>
            <a:pPr algn="r" rtl="1">
              <a:lnSpc>
                <a:spcPct val="150000"/>
              </a:lnSpc>
              <a:buClrTx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21</a:t>
            </a:fld>
            <a:endParaRPr lang="en-US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6553200" y="5321720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6553200" y="3125057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57083" y="4223388"/>
            <a:ext cx="228600" cy="230833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757364" y="537736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364" y="5377364"/>
                <a:ext cx="1028037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553199" y="3628393"/>
            <a:ext cx="1664966" cy="169623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7F813F-7A49-BA23-9D7E-28F25078B23D}"/>
                  </a:ext>
                </a:extLst>
              </p:cNvPr>
              <p:cNvSpPr/>
              <p:nvPr/>
            </p:nvSpPr>
            <p:spPr>
              <a:xfrm>
                <a:off x="8033262" y="545180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7F813F-7A49-BA23-9D7E-28F25078B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262" y="545180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6611D6-F96F-3693-2A6F-D5D138FEC2E5}"/>
                  </a:ext>
                </a:extLst>
              </p:cNvPr>
              <p:cNvSpPr/>
              <p:nvPr/>
            </p:nvSpPr>
            <p:spPr>
              <a:xfrm>
                <a:off x="5821337" y="2952875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6611D6-F96F-3693-2A6F-D5D138FEC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337" y="2952875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76EAD8-CFD8-7F3B-DA6E-28E8F4FD501A}"/>
              </a:ext>
            </a:extLst>
          </p:cNvPr>
          <p:cNvCxnSpPr>
            <a:cxnSpLocks/>
          </p:cNvCxnSpPr>
          <p:nvPr/>
        </p:nvCxnSpPr>
        <p:spPr>
          <a:xfrm>
            <a:off x="7271382" y="4412426"/>
            <a:ext cx="0" cy="90929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6456601-ED25-0B75-7F99-61D8BB9458C9}"/>
              </a:ext>
            </a:extLst>
          </p:cNvPr>
          <p:cNvCxnSpPr>
            <a:cxnSpLocks/>
          </p:cNvCxnSpPr>
          <p:nvPr/>
        </p:nvCxnSpPr>
        <p:spPr>
          <a:xfrm>
            <a:off x="3792335" y="5333598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9C1A892-6271-1CA2-4DEF-D045FCD07D5D}"/>
              </a:ext>
            </a:extLst>
          </p:cNvPr>
          <p:cNvCxnSpPr>
            <a:cxnSpLocks/>
          </p:cNvCxnSpPr>
          <p:nvPr/>
        </p:nvCxnSpPr>
        <p:spPr>
          <a:xfrm flipV="1">
            <a:off x="3792335" y="3136935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CE0192B-D7E6-F81F-B792-640FE6DC5BC3}"/>
              </a:ext>
            </a:extLst>
          </p:cNvPr>
          <p:cNvSpPr/>
          <p:nvPr/>
        </p:nvSpPr>
        <p:spPr>
          <a:xfrm>
            <a:off x="4252559" y="4546547"/>
            <a:ext cx="228600" cy="230833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89816A5-CB70-562C-263A-21D7E028A369}"/>
                  </a:ext>
                </a:extLst>
              </p:cNvPr>
              <p:cNvSpPr/>
              <p:nvPr/>
            </p:nvSpPr>
            <p:spPr>
              <a:xfrm>
                <a:off x="3996499" y="5389242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89816A5-CB70-562C-263A-21D7E028A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499" y="5389242"/>
                <a:ext cx="1028037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06FDA3-663D-F821-8CCD-BD9527F8A8AC}"/>
              </a:ext>
            </a:extLst>
          </p:cNvPr>
          <p:cNvCxnSpPr>
            <a:cxnSpLocks/>
          </p:cNvCxnSpPr>
          <p:nvPr/>
        </p:nvCxnSpPr>
        <p:spPr>
          <a:xfrm>
            <a:off x="3788230" y="4313121"/>
            <a:ext cx="1669070" cy="102338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E292898-6B20-7F2F-6FF1-648984A533D8}"/>
                  </a:ext>
                </a:extLst>
              </p:cNvPr>
              <p:cNvSpPr/>
              <p:nvPr/>
            </p:nvSpPr>
            <p:spPr>
              <a:xfrm>
                <a:off x="5457300" y="5430501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E292898-6B20-7F2F-6FF1-648984A53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300" y="5430501"/>
                <a:ext cx="1028037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6441301-083E-5BB2-13FC-E5F82BDDA7B3}"/>
                  </a:ext>
                </a:extLst>
              </p:cNvPr>
              <p:cNvSpPr/>
              <p:nvPr/>
            </p:nvSpPr>
            <p:spPr>
              <a:xfrm>
                <a:off x="3060472" y="296475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6441301-083E-5BB2-13FC-E5F82BDDA7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472" y="2964753"/>
                <a:ext cx="1028037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2EE50C5-5D64-F1E6-5EEE-35D12F95C2E3}"/>
              </a:ext>
            </a:extLst>
          </p:cNvPr>
          <p:cNvCxnSpPr>
            <a:cxnSpLocks/>
            <a:stCxn id="34" idx="4"/>
          </p:cNvCxnSpPr>
          <p:nvPr/>
        </p:nvCxnSpPr>
        <p:spPr>
          <a:xfrm>
            <a:off x="4366859" y="4777380"/>
            <a:ext cx="896" cy="54857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1027365" y="5411453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1027365" y="3214790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541384" y="4288551"/>
            <a:ext cx="216928" cy="191787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FA2A055-4849-734D-4088-9DDA6C7971AE}"/>
                  </a:ext>
                </a:extLst>
              </p:cNvPr>
              <p:cNvSpPr/>
              <p:nvPr/>
            </p:nvSpPr>
            <p:spPr>
              <a:xfrm>
                <a:off x="1231529" y="5467097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FA2A055-4849-734D-4088-9DDA6C7971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529" y="5467097"/>
                <a:ext cx="1028037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1016636" y="3392267"/>
            <a:ext cx="1274663" cy="200808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92330" y="5508356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330" y="5508356"/>
                <a:ext cx="1028037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298455" y="319510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55" y="3195104"/>
                <a:ext cx="102803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>
            <a:off x="1638130" y="4435336"/>
            <a:ext cx="1" cy="96493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96E676A-4B4F-C1DF-C815-E6A4530613D9}"/>
              </a:ext>
            </a:extLst>
          </p:cNvPr>
          <p:cNvSpPr txBox="1"/>
          <p:nvPr/>
        </p:nvSpPr>
        <p:spPr>
          <a:xfrm>
            <a:off x="4590059" y="5091947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-0.5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81213403-5E67-2AA3-29FD-F347D6DE322A}"/>
              </a:ext>
            </a:extLst>
          </p:cNvPr>
          <p:cNvSpPr/>
          <p:nvPr/>
        </p:nvSpPr>
        <p:spPr>
          <a:xfrm rot="18186735">
            <a:off x="4543337" y="5149194"/>
            <a:ext cx="833938" cy="409190"/>
          </a:xfrm>
          <a:prstGeom prst="arc">
            <a:avLst>
              <a:gd name="adj1" fmla="val 14484198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EE5B8B-AD90-B968-69D1-136460561C42}"/>
              </a:ext>
            </a:extLst>
          </p:cNvPr>
          <p:cNvSpPr txBox="1"/>
          <p:nvPr/>
        </p:nvSpPr>
        <p:spPr>
          <a:xfrm>
            <a:off x="7481071" y="5040812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-1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6A10DA78-2B7D-0912-A8ED-C9AB092913A7}"/>
              </a:ext>
            </a:extLst>
          </p:cNvPr>
          <p:cNvSpPr/>
          <p:nvPr/>
        </p:nvSpPr>
        <p:spPr>
          <a:xfrm rot="18186735">
            <a:off x="7434349" y="5098059"/>
            <a:ext cx="833938" cy="409190"/>
          </a:xfrm>
          <a:prstGeom prst="arc">
            <a:avLst>
              <a:gd name="adj1" fmla="val 14484198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658087" y="5161955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-1.5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0EAC058E-E028-2063-BCEF-630C2788EECA}"/>
              </a:ext>
            </a:extLst>
          </p:cNvPr>
          <p:cNvSpPr/>
          <p:nvPr/>
        </p:nvSpPr>
        <p:spPr>
          <a:xfrm rot="18186735">
            <a:off x="1671478" y="5206858"/>
            <a:ext cx="833938" cy="409190"/>
          </a:xfrm>
          <a:prstGeom prst="arc">
            <a:avLst>
              <a:gd name="adj1" fmla="val 14484198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1C87964-6E44-2B09-CADD-4F9B5B3CB230}"/>
                  </a:ext>
                </a:extLst>
              </p:cNvPr>
              <p:cNvSpPr txBox="1"/>
              <p:nvPr/>
            </p:nvSpPr>
            <p:spPr>
              <a:xfrm>
                <a:off x="35496" y="1018777"/>
                <a:ext cx="3125469" cy="802977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MC(</a:t>
                </a:r>
                <a:r>
                  <a:rPr lang="en-US" sz="3200" dirty="0">
                    <a:highlight>
                      <a:srgbClr val="FFFF00"/>
                    </a:highlight>
                  </a:rPr>
                  <a:t>Y</a:t>
                </a:r>
                <a:r>
                  <a:rPr lang="en-US" sz="3200" dirty="0"/>
                  <a:t>) =</a:t>
                </a:r>
                <a:r>
                  <a:rPr lang="en-US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  <m:f>
                      <m:fPr>
                        <m:ctrlPr>
                          <a:rPr lang="en-US" sz="32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20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20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ΔY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1C87964-6E44-2B09-CADD-4F9B5B3CB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1018777"/>
                <a:ext cx="3125469" cy="802977"/>
              </a:xfrm>
              <a:prstGeom prst="rect">
                <a:avLst/>
              </a:prstGeom>
              <a:blipFill>
                <a:blip r:embed="rId11"/>
                <a:stretch>
                  <a:fillRect b="-1590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0FE242-6C3B-8B01-67B1-B40CC042BB0F}"/>
              </a:ext>
            </a:extLst>
          </p:cNvPr>
          <p:cNvCxnSpPr>
            <a:cxnSpLocks/>
          </p:cNvCxnSpPr>
          <p:nvPr/>
        </p:nvCxnSpPr>
        <p:spPr>
          <a:xfrm flipH="1">
            <a:off x="6553199" y="4412426"/>
            <a:ext cx="681999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EF1C83-E77D-3329-6C47-88CDABEC07C6}"/>
              </a:ext>
            </a:extLst>
          </p:cNvPr>
          <p:cNvCxnSpPr>
            <a:cxnSpLocks/>
          </p:cNvCxnSpPr>
          <p:nvPr/>
        </p:nvCxnSpPr>
        <p:spPr>
          <a:xfrm flipH="1">
            <a:off x="3788229" y="4661964"/>
            <a:ext cx="49513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F71CE-240F-CED1-B85A-61F6E2A4AED2}"/>
              </a:ext>
            </a:extLst>
          </p:cNvPr>
          <p:cNvCxnSpPr>
            <a:cxnSpLocks/>
            <a:stCxn id="43" idx="3"/>
          </p:cNvCxnSpPr>
          <p:nvPr/>
        </p:nvCxnSpPr>
        <p:spPr>
          <a:xfrm flipH="1" flipV="1">
            <a:off x="1016635" y="4429942"/>
            <a:ext cx="556517" cy="2230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9761AF8-DA85-529B-6C42-B876E30F26B6}"/>
              </a:ext>
            </a:extLst>
          </p:cNvPr>
          <p:cNvSpPr txBox="1"/>
          <p:nvPr/>
        </p:nvSpPr>
        <p:spPr>
          <a:xfrm>
            <a:off x="6310805" y="3845900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600" b="1" dirty="0">
                <a:solidFill>
                  <a:schemeClr val="accent1">
                    <a:lumMod val="75000"/>
                  </a:schemeClr>
                </a:solidFill>
              </a:rPr>
              <a:t>1-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B9094D0F-E080-8F78-577E-65B62A1F28A4}"/>
              </a:ext>
            </a:extLst>
          </p:cNvPr>
          <p:cNvSpPr/>
          <p:nvPr/>
        </p:nvSpPr>
        <p:spPr>
          <a:xfrm rot="7982729">
            <a:off x="6223721" y="3291346"/>
            <a:ext cx="833938" cy="947104"/>
          </a:xfrm>
          <a:prstGeom prst="arc">
            <a:avLst>
              <a:gd name="adj1" fmla="val 16112485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D8A93B-64EA-1879-BE97-7C7B14244BBF}"/>
              </a:ext>
            </a:extLst>
          </p:cNvPr>
          <p:cNvSpPr txBox="1"/>
          <p:nvPr/>
        </p:nvSpPr>
        <p:spPr>
          <a:xfrm>
            <a:off x="3486795" y="4338804"/>
            <a:ext cx="84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/>
              <p:nvPr/>
            </p:nvSpPr>
            <p:spPr>
              <a:xfrm>
                <a:off x="726874" y="3567136"/>
                <a:ext cx="846278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74" y="3567136"/>
                <a:ext cx="846278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82C7FC4-BE6F-89E5-073C-384422E56684}"/>
                  </a:ext>
                </a:extLst>
              </p:cNvPr>
              <p:cNvSpPr/>
              <p:nvPr/>
            </p:nvSpPr>
            <p:spPr>
              <a:xfrm>
                <a:off x="7943734" y="5339079"/>
                <a:ext cx="54886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82C7FC4-BE6F-89E5-073C-384422E56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734" y="5339079"/>
                <a:ext cx="548862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/>
              <p:nvPr/>
            </p:nvSpPr>
            <p:spPr>
              <a:xfrm>
                <a:off x="6164688" y="3484026"/>
                <a:ext cx="54886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688" y="3484026"/>
                <a:ext cx="548862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/>
              <p:nvPr/>
            </p:nvSpPr>
            <p:spPr>
              <a:xfrm>
                <a:off x="5895697" y="4233240"/>
                <a:ext cx="72093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697" y="4233240"/>
                <a:ext cx="720936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AA2FF8B-BFA3-3C84-AE9F-7085DC27D064}"/>
              </a:ext>
            </a:extLst>
          </p:cNvPr>
          <p:cNvSpPr txBox="1"/>
          <p:nvPr/>
        </p:nvSpPr>
        <p:spPr>
          <a:xfrm>
            <a:off x="3038566" y="6384443"/>
            <a:ext cx="4624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**MC= Marginal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(אלטרנטיבית) שולית</a:t>
            </a:r>
            <a:endParaRPr lang="en-IL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מציין מיקום של כותרת תחתונה 6">
            <a:extLst>
              <a:ext uri="{FF2B5EF4-FFF2-40B4-BE49-F238E27FC236}">
                <a16:creationId xmlns:a16="http://schemas.microsoft.com/office/drawing/2014/main" id="{8C692D5D-E218-2A96-7899-BE18546E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0" y="26572"/>
            <a:ext cx="3962400" cy="457200"/>
          </a:xfrm>
        </p:spPr>
        <p:txBody>
          <a:bodyPr/>
          <a:lstStyle/>
          <a:p>
            <a:r>
              <a:rPr lang="he-IL"/>
              <a:t>מיכאלה משקוביץ'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8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20" grpId="0"/>
      <p:bldP spid="21" grpId="0" animBg="1"/>
      <p:bldP spid="23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675921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תרגיל חישוב עלויות אלט' שוליות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365386" y="829981"/>
            <a:ext cx="5598604" cy="2057400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2000" b="1" u="sng" dirty="0">
                <a:latin typeface="David" pitchFamily="34" charset="-79"/>
                <a:cs typeface="David" pitchFamily="34" charset="-79"/>
              </a:rPr>
              <a:t>3.ב. חשבו את העלות האלט' השולית לייצור </a:t>
            </a:r>
            <a:r>
              <a:rPr lang="en-US" sz="2000" b="1" u="sng" dirty="0">
                <a:highlight>
                  <a:srgbClr val="FFFF00"/>
                </a:highlight>
                <a:latin typeface="David" pitchFamily="34" charset="-79"/>
                <a:cs typeface="David" pitchFamily="34" charset="-79"/>
              </a:rPr>
              <a:t>Y</a:t>
            </a:r>
            <a:r>
              <a:rPr lang="he-IL" sz="2000" b="1" u="sng" dirty="0">
                <a:latin typeface="David" pitchFamily="34" charset="-79"/>
                <a:cs typeface="David" pitchFamily="34" charset="-79"/>
              </a:rPr>
              <a:t> יחידות</a:t>
            </a:r>
            <a:r>
              <a:rPr lang="en-US" sz="2000" b="1" u="sng" dirty="0">
                <a:latin typeface="David" pitchFamily="34" charset="-79"/>
                <a:cs typeface="David" pitchFamily="34" charset="-79"/>
              </a:rPr>
              <a:t> </a:t>
            </a:r>
            <a:r>
              <a:rPr lang="he-IL" sz="2000" b="1" u="sng" dirty="0">
                <a:latin typeface="David" pitchFamily="34" charset="-79"/>
                <a:cs typeface="David" pitchFamily="34" charset="-79"/>
              </a:rPr>
              <a:t> בנקודת הייצור המסומנת, בכל אחת מעקומות התמורה הבאות:</a:t>
            </a:r>
            <a:endParaRPr lang="en-US" sz="2000" dirty="0">
              <a:latin typeface="David" pitchFamily="34" charset="-79"/>
              <a:cs typeface="David" pitchFamily="34" charset="-79"/>
            </a:endParaRPr>
          </a:p>
          <a:p>
            <a:pPr algn="r" rtl="1">
              <a:lnSpc>
                <a:spcPct val="150000"/>
              </a:lnSpc>
              <a:buClrTx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22</a:t>
            </a:fld>
            <a:endParaRPr lang="en-US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6553200" y="5321720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6553200" y="3125057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57083" y="4223388"/>
            <a:ext cx="228600" cy="230833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757364" y="537736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364" y="5377364"/>
                <a:ext cx="1028037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553199" y="3628393"/>
            <a:ext cx="1664966" cy="169623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7F813F-7A49-BA23-9D7E-28F25078B23D}"/>
                  </a:ext>
                </a:extLst>
              </p:cNvPr>
              <p:cNvSpPr/>
              <p:nvPr/>
            </p:nvSpPr>
            <p:spPr>
              <a:xfrm>
                <a:off x="8033262" y="545180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7F813F-7A49-BA23-9D7E-28F25078B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262" y="545180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6611D6-F96F-3693-2A6F-D5D138FEC2E5}"/>
                  </a:ext>
                </a:extLst>
              </p:cNvPr>
              <p:cNvSpPr/>
              <p:nvPr/>
            </p:nvSpPr>
            <p:spPr>
              <a:xfrm>
                <a:off x="5821337" y="2952875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6611D6-F96F-3693-2A6F-D5D138FEC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337" y="2952875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76EAD8-CFD8-7F3B-DA6E-28E8F4FD501A}"/>
              </a:ext>
            </a:extLst>
          </p:cNvPr>
          <p:cNvCxnSpPr>
            <a:cxnSpLocks/>
          </p:cNvCxnSpPr>
          <p:nvPr/>
        </p:nvCxnSpPr>
        <p:spPr>
          <a:xfrm>
            <a:off x="7271382" y="4412426"/>
            <a:ext cx="0" cy="90929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6456601-ED25-0B75-7F99-61D8BB9458C9}"/>
              </a:ext>
            </a:extLst>
          </p:cNvPr>
          <p:cNvCxnSpPr>
            <a:cxnSpLocks/>
          </p:cNvCxnSpPr>
          <p:nvPr/>
        </p:nvCxnSpPr>
        <p:spPr>
          <a:xfrm>
            <a:off x="3792335" y="5333598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9C1A892-6271-1CA2-4DEF-D045FCD07D5D}"/>
              </a:ext>
            </a:extLst>
          </p:cNvPr>
          <p:cNvCxnSpPr>
            <a:cxnSpLocks/>
          </p:cNvCxnSpPr>
          <p:nvPr/>
        </p:nvCxnSpPr>
        <p:spPr>
          <a:xfrm flipV="1">
            <a:off x="3792335" y="3136935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CE0192B-D7E6-F81F-B792-640FE6DC5BC3}"/>
              </a:ext>
            </a:extLst>
          </p:cNvPr>
          <p:cNvSpPr/>
          <p:nvPr/>
        </p:nvSpPr>
        <p:spPr>
          <a:xfrm>
            <a:off x="4252559" y="4546547"/>
            <a:ext cx="228600" cy="230833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89816A5-CB70-562C-263A-21D7E028A369}"/>
                  </a:ext>
                </a:extLst>
              </p:cNvPr>
              <p:cNvSpPr/>
              <p:nvPr/>
            </p:nvSpPr>
            <p:spPr>
              <a:xfrm>
                <a:off x="3996499" y="5389242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89816A5-CB70-562C-263A-21D7E028A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499" y="5389242"/>
                <a:ext cx="1028037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06FDA3-663D-F821-8CCD-BD9527F8A8AC}"/>
              </a:ext>
            </a:extLst>
          </p:cNvPr>
          <p:cNvCxnSpPr>
            <a:cxnSpLocks/>
          </p:cNvCxnSpPr>
          <p:nvPr/>
        </p:nvCxnSpPr>
        <p:spPr>
          <a:xfrm>
            <a:off x="3788230" y="4313121"/>
            <a:ext cx="1669070" cy="102338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E292898-6B20-7F2F-6FF1-648984A533D8}"/>
                  </a:ext>
                </a:extLst>
              </p:cNvPr>
              <p:cNvSpPr/>
              <p:nvPr/>
            </p:nvSpPr>
            <p:spPr>
              <a:xfrm>
                <a:off x="5457300" y="5430501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E292898-6B20-7F2F-6FF1-648984A53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300" y="5430501"/>
                <a:ext cx="1028037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6441301-083E-5BB2-13FC-E5F82BDDA7B3}"/>
                  </a:ext>
                </a:extLst>
              </p:cNvPr>
              <p:cNvSpPr/>
              <p:nvPr/>
            </p:nvSpPr>
            <p:spPr>
              <a:xfrm>
                <a:off x="3060472" y="296475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6441301-083E-5BB2-13FC-E5F82BDDA7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472" y="2964753"/>
                <a:ext cx="1028037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2EE50C5-5D64-F1E6-5EEE-35D12F95C2E3}"/>
              </a:ext>
            </a:extLst>
          </p:cNvPr>
          <p:cNvCxnSpPr>
            <a:cxnSpLocks/>
            <a:stCxn id="34" idx="4"/>
          </p:cNvCxnSpPr>
          <p:nvPr/>
        </p:nvCxnSpPr>
        <p:spPr>
          <a:xfrm>
            <a:off x="4366859" y="4777380"/>
            <a:ext cx="896" cy="54857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1027365" y="5411453"/>
            <a:ext cx="2133600" cy="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1027365" y="3214790"/>
            <a:ext cx="0" cy="2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541384" y="4288551"/>
            <a:ext cx="216928" cy="191787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FA2A055-4849-734D-4088-9DDA6C7971AE}"/>
                  </a:ext>
                </a:extLst>
              </p:cNvPr>
              <p:cNvSpPr/>
              <p:nvPr/>
            </p:nvSpPr>
            <p:spPr>
              <a:xfrm>
                <a:off x="1231529" y="5467097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FA2A055-4849-734D-4088-9DDA6C7971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529" y="5467097"/>
                <a:ext cx="1028037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1016636" y="3392267"/>
            <a:ext cx="1274663" cy="200808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92330" y="5508356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330" y="5508356"/>
                <a:ext cx="1028037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298455" y="319510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55" y="3195104"/>
                <a:ext cx="102803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>
            <a:off x="1638130" y="4435336"/>
            <a:ext cx="1" cy="96493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96E676A-4B4F-C1DF-C815-E6A4530613D9}"/>
              </a:ext>
            </a:extLst>
          </p:cNvPr>
          <p:cNvSpPr txBox="1"/>
          <p:nvPr/>
        </p:nvSpPr>
        <p:spPr>
          <a:xfrm>
            <a:off x="4590059" y="5091947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-0.5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81213403-5E67-2AA3-29FD-F347D6DE322A}"/>
              </a:ext>
            </a:extLst>
          </p:cNvPr>
          <p:cNvSpPr/>
          <p:nvPr/>
        </p:nvSpPr>
        <p:spPr>
          <a:xfrm rot="18186735">
            <a:off x="4543337" y="5149194"/>
            <a:ext cx="833938" cy="409190"/>
          </a:xfrm>
          <a:prstGeom prst="arc">
            <a:avLst>
              <a:gd name="adj1" fmla="val 14484198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EE5B8B-AD90-B968-69D1-136460561C42}"/>
              </a:ext>
            </a:extLst>
          </p:cNvPr>
          <p:cNvSpPr txBox="1"/>
          <p:nvPr/>
        </p:nvSpPr>
        <p:spPr>
          <a:xfrm>
            <a:off x="7481071" y="5040812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-1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6A10DA78-2B7D-0912-A8ED-C9AB092913A7}"/>
              </a:ext>
            </a:extLst>
          </p:cNvPr>
          <p:cNvSpPr/>
          <p:nvPr/>
        </p:nvSpPr>
        <p:spPr>
          <a:xfrm rot="18186735">
            <a:off x="7434349" y="5098059"/>
            <a:ext cx="833938" cy="409190"/>
          </a:xfrm>
          <a:prstGeom prst="arc">
            <a:avLst>
              <a:gd name="adj1" fmla="val 14484198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658087" y="5161955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-1.5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0EAC058E-E028-2063-BCEF-630C2788EECA}"/>
              </a:ext>
            </a:extLst>
          </p:cNvPr>
          <p:cNvSpPr/>
          <p:nvPr/>
        </p:nvSpPr>
        <p:spPr>
          <a:xfrm rot="18186735">
            <a:off x="1671478" y="5206858"/>
            <a:ext cx="833938" cy="409190"/>
          </a:xfrm>
          <a:prstGeom prst="arc">
            <a:avLst>
              <a:gd name="adj1" fmla="val 14484198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1C87964-6E44-2B09-CADD-4F9B5B3CB230}"/>
                  </a:ext>
                </a:extLst>
              </p:cNvPr>
              <p:cNvSpPr txBox="1"/>
              <p:nvPr/>
            </p:nvSpPr>
            <p:spPr>
              <a:xfrm>
                <a:off x="486875" y="1018777"/>
                <a:ext cx="2674090" cy="802977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MC(</a:t>
                </a:r>
                <a:r>
                  <a:rPr lang="en-US" sz="3200" dirty="0">
                    <a:highlight>
                      <a:srgbClr val="FFFF00"/>
                    </a:highlight>
                  </a:rPr>
                  <a:t>Y</a:t>
                </a:r>
                <a:r>
                  <a:rPr lang="en-US" sz="3200" dirty="0"/>
                  <a:t>)   =</a:t>
                </a:r>
                <a:r>
                  <a:rPr lang="en-US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  <m:f>
                      <m:fPr>
                        <m:ctrlPr>
                          <a:rPr lang="en-US" sz="32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20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20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ΔY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|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1C87964-6E44-2B09-CADD-4F9B5B3CB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75" y="1018777"/>
                <a:ext cx="2674090" cy="802977"/>
              </a:xfrm>
              <a:prstGeom prst="rect">
                <a:avLst/>
              </a:prstGeom>
              <a:blipFill>
                <a:blip r:embed="rId11"/>
                <a:stretch>
                  <a:fillRect l="-5923" b="-1590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0E039F8-B2E8-455F-A55C-8135B257BB42}"/>
                  </a:ext>
                </a:extLst>
              </p:cNvPr>
              <p:cNvSpPr txBox="1"/>
              <p:nvPr/>
            </p:nvSpPr>
            <p:spPr>
              <a:xfrm>
                <a:off x="6364615" y="2519961"/>
                <a:ext cx="2565379" cy="400110"/>
              </a:xfrm>
              <a:prstGeom prst="rect">
                <a:avLst/>
              </a:prstGeom>
              <a:solidFill>
                <a:srgbClr val="B3DEFF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MC(Y) </a:t>
                </a:r>
                <a:r>
                  <a:rPr lang="en-US" dirty="0"/>
                  <a:t>=</a:t>
                </a:r>
                <a:r>
                  <a:rPr lang="en-US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he-I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he-I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0E039F8-B2E8-455F-A55C-8135B257B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615" y="2519961"/>
                <a:ext cx="2565379" cy="400110"/>
              </a:xfrm>
              <a:prstGeom prst="rect">
                <a:avLst/>
              </a:prstGeom>
              <a:blipFill>
                <a:blip r:embed="rId12"/>
                <a:stretch>
                  <a:fillRect l="-2375" t="-4545" b="-2878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5543722-9A8E-87BA-B80B-CA861BDE326A}"/>
                  </a:ext>
                </a:extLst>
              </p:cNvPr>
              <p:cNvSpPr txBox="1"/>
              <p:nvPr/>
            </p:nvSpPr>
            <p:spPr>
              <a:xfrm>
                <a:off x="3788229" y="2525741"/>
                <a:ext cx="2371385" cy="400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MC</a:t>
                </a:r>
                <a:r>
                  <a:rPr lang="en-US" dirty="0"/>
                  <a:t>(Y)</a:t>
                </a:r>
                <a:r>
                  <a:rPr lang="en-US" sz="2000" dirty="0"/>
                  <a:t> </a:t>
                </a:r>
                <a:r>
                  <a:rPr lang="en-US" sz="19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900" b="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he-IL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5543722-9A8E-87BA-B80B-CA861BDE3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229" y="2525741"/>
                <a:ext cx="2371385" cy="400110"/>
              </a:xfrm>
              <a:prstGeom prst="rect">
                <a:avLst/>
              </a:prstGeom>
              <a:blipFill>
                <a:blip r:embed="rId13"/>
                <a:stretch>
                  <a:fillRect l="-2571" t="-6061" b="-2727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D90B569-E198-1965-876B-7C7B579FA10B}"/>
                  </a:ext>
                </a:extLst>
              </p:cNvPr>
              <p:cNvSpPr txBox="1"/>
              <p:nvPr/>
            </p:nvSpPr>
            <p:spPr>
              <a:xfrm>
                <a:off x="416684" y="2510595"/>
                <a:ext cx="2794230" cy="507383"/>
              </a:xfrm>
              <a:prstGeom prst="rect">
                <a:avLst/>
              </a:prstGeom>
              <a:solidFill>
                <a:srgbClr val="D4F9CF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MC</a:t>
                </a:r>
                <a:r>
                  <a:rPr lang="en-US" dirty="0"/>
                  <a:t>(Y)</a:t>
                </a:r>
                <a:r>
                  <a:rPr lang="en-US" sz="2000" dirty="0"/>
                  <a:t> </a:t>
                </a:r>
                <a:r>
                  <a:rPr lang="en-US" sz="19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900" b="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he-IL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667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num>
                      <m:den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r>
                      <a:rPr lang="en-US" sz="19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D90B569-E198-1965-876B-7C7B579FA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84" y="2510595"/>
                <a:ext cx="2794230" cy="507383"/>
              </a:xfrm>
              <a:prstGeom prst="rect">
                <a:avLst/>
              </a:prstGeom>
              <a:blipFill>
                <a:blip r:embed="rId14"/>
                <a:stretch>
                  <a:fillRect l="-2179" b="-1445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0FE242-6C3B-8B01-67B1-B40CC042BB0F}"/>
              </a:ext>
            </a:extLst>
          </p:cNvPr>
          <p:cNvCxnSpPr>
            <a:cxnSpLocks/>
          </p:cNvCxnSpPr>
          <p:nvPr/>
        </p:nvCxnSpPr>
        <p:spPr>
          <a:xfrm flipH="1">
            <a:off x="6553199" y="4412426"/>
            <a:ext cx="681999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EF1C83-E77D-3329-6C47-88CDABEC07C6}"/>
              </a:ext>
            </a:extLst>
          </p:cNvPr>
          <p:cNvCxnSpPr>
            <a:cxnSpLocks/>
          </p:cNvCxnSpPr>
          <p:nvPr/>
        </p:nvCxnSpPr>
        <p:spPr>
          <a:xfrm flipH="1">
            <a:off x="3788229" y="4661964"/>
            <a:ext cx="49513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F71CE-240F-CED1-B85A-61F6E2A4AED2}"/>
              </a:ext>
            </a:extLst>
          </p:cNvPr>
          <p:cNvCxnSpPr>
            <a:cxnSpLocks/>
            <a:stCxn id="43" idx="3"/>
          </p:cNvCxnSpPr>
          <p:nvPr/>
        </p:nvCxnSpPr>
        <p:spPr>
          <a:xfrm flipH="1" flipV="1">
            <a:off x="1016635" y="4429942"/>
            <a:ext cx="556517" cy="2230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9761AF8-DA85-529B-6C42-B876E30F26B6}"/>
              </a:ext>
            </a:extLst>
          </p:cNvPr>
          <p:cNvSpPr txBox="1"/>
          <p:nvPr/>
        </p:nvSpPr>
        <p:spPr>
          <a:xfrm>
            <a:off x="6267608" y="3820567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B9094D0F-E080-8F78-577E-65B62A1F28A4}"/>
              </a:ext>
            </a:extLst>
          </p:cNvPr>
          <p:cNvSpPr/>
          <p:nvPr/>
        </p:nvSpPr>
        <p:spPr>
          <a:xfrm rot="7982729">
            <a:off x="6223721" y="3291346"/>
            <a:ext cx="833938" cy="947104"/>
          </a:xfrm>
          <a:prstGeom prst="arc">
            <a:avLst>
              <a:gd name="adj1" fmla="val 16112485"/>
              <a:gd name="adj2" fmla="val 196964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D8A93B-64EA-1879-BE97-7C7B14244BBF}"/>
              </a:ext>
            </a:extLst>
          </p:cNvPr>
          <p:cNvSpPr txBox="1"/>
          <p:nvPr/>
        </p:nvSpPr>
        <p:spPr>
          <a:xfrm>
            <a:off x="3486795" y="4338804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/>
              <p:nvPr/>
            </p:nvSpPr>
            <p:spPr>
              <a:xfrm>
                <a:off x="726874" y="3567136"/>
                <a:ext cx="846278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74" y="3567136"/>
                <a:ext cx="846278" cy="439223"/>
              </a:xfrm>
              <a:prstGeom prst="rect">
                <a:avLst/>
              </a:prstGeom>
              <a:blipFill>
                <a:blip r:embed="rId1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82C7FC4-BE6F-89E5-073C-384422E56684}"/>
                  </a:ext>
                </a:extLst>
              </p:cNvPr>
              <p:cNvSpPr/>
              <p:nvPr/>
            </p:nvSpPr>
            <p:spPr>
              <a:xfrm>
                <a:off x="7943734" y="5339079"/>
                <a:ext cx="54886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82C7FC4-BE6F-89E5-073C-384422E56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734" y="5339079"/>
                <a:ext cx="548862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/>
              <p:nvPr/>
            </p:nvSpPr>
            <p:spPr>
              <a:xfrm>
                <a:off x="6164688" y="3484026"/>
                <a:ext cx="54886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688" y="3484026"/>
                <a:ext cx="548862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/>
              <p:nvPr/>
            </p:nvSpPr>
            <p:spPr>
              <a:xfrm>
                <a:off x="5895697" y="4233240"/>
                <a:ext cx="72093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697" y="4233240"/>
                <a:ext cx="720936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5E0B9E3-17A7-E241-0056-C677E5112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758657" y="6296317"/>
            <a:ext cx="2350681" cy="365125"/>
          </a:xfrm>
        </p:spPr>
        <p:txBody>
          <a:bodyPr/>
          <a:lstStyle/>
          <a:p>
            <a:r>
              <a:rPr lang="he-IL"/>
              <a:t>מיכאלה משקוביץ'</a:t>
            </a:r>
            <a:endParaRPr lang="en-US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2FEA1641-B858-2B74-B6B5-501A3B102C6A}"/>
              </a:ext>
            </a:extLst>
          </p:cNvPr>
          <p:cNvSpPr txBox="1"/>
          <p:nvPr/>
        </p:nvSpPr>
        <p:spPr>
          <a:xfrm>
            <a:off x="3038566" y="6384443"/>
            <a:ext cx="4624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**MC= Marginal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(אלטרנטיבית) שולית</a:t>
            </a:r>
            <a:endParaRPr lang="en-IL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82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20" grpId="0"/>
      <p:bldP spid="21" grpId="0" animBg="1"/>
      <p:bldP spid="23" grpId="0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42374"/>
            <a:ext cx="7772400" cy="1143000"/>
          </a:xfrm>
        </p:spPr>
        <p:txBody>
          <a:bodyPr/>
          <a:lstStyle/>
          <a:p>
            <a:pPr algn="ctr"/>
            <a:r>
              <a:rPr lang="he-IL" dirty="0"/>
              <a:t>דוגמא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14350" y="914400"/>
            <a:ext cx="7171154" cy="3270584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מבנה המשק </a:t>
            </a:r>
          </a:p>
          <a:p>
            <a:pPr algn="r" rtl="1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מוצרים : כיסאות </a:t>
            </a:r>
            <a:r>
              <a:rPr lang="en-US" sz="1800" dirty="0">
                <a:latin typeface="David" pitchFamily="34" charset="-79"/>
                <a:cs typeface="David" pitchFamily="34" charset="-79"/>
              </a:rPr>
              <a:t>(X)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 וספרים (</a:t>
            </a:r>
            <a:r>
              <a:rPr lang="en-US" sz="18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) </a:t>
            </a:r>
          </a:p>
          <a:p>
            <a:pPr algn="r" rtl="1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גורמי ייצור: 3 פועלים, כל פועל יכול לייצר ביום כיסא אחד 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או 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שני ספרים.</a:t>
            </a:r>
          </a:p>
          <a:p>
            <a:pPr marL="0" indent="0" algn="r" rtl="1">
              <a:buNone/>
            </a:pPr>
            <a:endParaRPr lang="he-IL" sz="1800" dirty="0">
              <a:latin typeface="David" pitchFamily="34" charset="-79"/>
              <a:cs typeface="David" pitchFamily="34" charset="-79"/>
            </a:endParaRPr>
          </a:p>
          <a:p>
            <a:pPr marL="457200" indent="-457200" algn="r" rtl="1">
              <a:buClrTx/>
              <a:buFont typeface="+mj-lt"/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התוו/ציירו את עקומת התמורה.</a:t>
            </a:r>
          </a:p>
          <a:p>
            <a:pPr marL="457200" indent="-457200" algn="r" rtl="1">
              <a:buClrTx/>
              <a:buFont typeface="+mj-lt"/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הציגו בטבלה את אפשרויות הייצור של המשק והקצאת עובדים עבור כל הרכב ייצור.</a:t>
            </a:r>
          </a:p>
          <a:p>
            <a:pPr marL="457200" indent="-457200" algn="r" rtl="1">
              <a:buClrTx/>
              <a:buFont typeface="+mj-lt"/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האם שיפוע עקומת תמורה עולה או יורד? הסבר.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23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371600" y="6367873"/>
            <a:ext cx="2667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392857" y="3011871"/>
            <a:ext cx="6412" cy="3396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90600" y="2740966"/>
                <a:ext cx="44275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740966"/>
                <a:ext cx="44275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038600" y="6137040"/>
                <a:ext cx="42992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6137040"/>
                <a:ext cx="429925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>
            <a:off x="1383358" y="3422795"/>
            <a:ext cx="2109895" cy="29344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51977" y="3222740"/>
                <a:ext cx="79220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77" y="3222740"/>
                <a:ext cx="792204" cy="400110"/>
              </a:xfrm>
              <a:prstGeom prst="rect">
                <a:avLst/>
              </a:prstGeom>
              <a:blipFill>
                <a:blip r:embed="rId4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465671" y="6041646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b="1" dirty="0">
                <a:solidFill>
                  <a:schemeClr val="accent1">
                    <a:lumMod val="75000"/>
                  </a:schemeClr>
                </a:solidFill>
              </a:rPr>
              <a:t>2-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Arc 11"/>
          <p:cNvSpPr/>
          <p:nvPr/>
        </p:nvSpPr>
        <p:spPr>
          <a:xfrm rot="18186735">
            <a:off x="2583105" y="6116349"/>
            <a:ext cx="833938" cy="409190"/>
          </a:xfrm>
          <a:prstGeom prst="arc">
            <a:avLst>
              <a:gd name="adj1" fmla="val 14484198"/>
              <a:gd name="adj2" fmla="val 210353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176697" y="6392525"/>
                <a:ext cx="79220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697" y="6392525"/>
                <a:ext cx="792204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EED51A01-8A2A-4789-B5EE-01D7F200898B}"/>
              </a:ext>
            </a:extLst>
          </p:cNvPr>
          <p:cNvSpPr/>
          <p:nvPr/>
        </p:nvSpPr>
        <p:spPr>
          <a:xfrm>
            <a:off x="1315883" y="3444660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0919A91-3ADC-4A55-9A7B-29ABA908F5D7}"/>
              </a:ext>
            </a:extLst>
          </p:cNvPr>
          <p:cNvSpPr/>
          <p:nvPr/>
        </p:nvSpPr>
        <p:spPr>
          <a:xfrm>
            <a:off x="3364521" y="6161194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9368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 animBg="1"/>
      <p:bldP spid="13" grpId="0"/>
      <p:bldP spid="20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42374"/>
            <a:ext cx="7772400" cy="1143000"/>
          </a:xfrm>
        </p:spPr>
        <p:txBody>
          <a:bodyPr/>
          <a:lstStyle/>
          <a:p>
            <a:pPr algn="ctr"/>
            <a:r>
              <a:rPr lang="he-IL" dirty="0"/>
              <a:t>דוגמא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14350" y="914400"/>
            <a:ext cx="7171154" cy="3270584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מבנה המשק </a:t>
            </a:r>
          </a:p>
          <a:p>
            <a:pPr algn="r" rtl="1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מוצרים : כיסאות </a:t>
            </a:r>
            <a:r>
              <a:rPr lang="en-US" sz="1800" dirty="0">
                <a:latin typeface="David" pitchFamily="34" charset="-79"/>
                <a:cs typeface="David" pitchFamily="34" charset="-79"/>
              </a:rPr>
              <a:t>(X)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 וספרים (</a:t>
            </a:r>
            <a:r>
              <a:rPr lang="en-US" sz="18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) </a:t>
            </a:r>
          </a:p>
          <a:p>
            <a:pPr algn="r" rtl="1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גורמי ייצור: 3 פועלים, כל פועל יכול לייצר ביום אחד כיסא אחד 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או 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שני ספרים.</a:t>
            </a:r>
          </a:p>
          <a:p>
            <a:pPr marL="0" indent="0" algn="r" rtl="1">
              <a:buNone/>
            </a:pPr>
            <a:endParaRPr lang="he-IL" sz="1800" dirty="0">
              <a:latin typeface="David" pitchFamily="34" charset="-79"/>
              <a:cs typeface="David" pitchFamily="34" charset="-79"/>
            </a:endParaRPr>
          </a:p>
          <a:p>
            <a:pPr marL="457200" indent="-457200" algn="r" rtl="1">
              <a:buClrTx/>
              <a:buFont typeface="+mj-lt"/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התוו/ציירו את עקומת התמורה.</a:t>
            </a:r>
          </a:p>
          <a:p>
            <a:pPr marL="457200" indent="-457200" algn="r" rtl="1">
              <a:buClrTx/>
              <a:buFont typeface="+mj-lt"/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הציגו בטבלה את אפשרויות הייצור של המשק 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והקצאת עובדים עבור כל הרכב ייצור.</a:t>
            </a:r>
          </a:p>
          <a:p>
            <a:pPr marL="457200" indent="-457200" algn="r" rtl="1">
              <a:buClrTx/>
              <a:buFont typeface="+mj-lt"/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האם שיפוע עקומת תמורה עולה או יורד? הסבר.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24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371600" y="6367873"/>
            <a:ext cx="2667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392857" y="3011871"/>
            <a:ext cx="6412" cy="3396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90600" y="2740966"/>
                <a:ext cx="44275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740966"/>
                <a:ext cx="44275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038600" y="6137040"/>
                <a:ext cx="42992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6137040"/>
                <a:ext cx="4299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>
            <a:off x="1383358" y="3422795"/>
            <a:ext cx="2109895" cy="29344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41146" y="3233409"/>
                <a:ext cx="79220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46" y="3233409"/>
                <a:ext cx="792204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465671" y="6041646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b="1" dirty="0">
                <a:solidFill>
                  <a:schemeClr val="accent1">
                    <a:lumMod val="75000"/>
                  </a:schemeClr>
                </a:solidFill>
              </a:rPr>
              <a:t>2-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Arc 11"/>
          <p:cNvSpPr/>
          <p:nvPr/>
        </p:nvSpPr>
        <p:spPr>
          <a:xfrm rot="18186735">
            <a:off x="2583105" y="6116349"/>
            <a:ext cx="833938" cy="409190"/>
          </a:xfrm>
          <a:prstGeom prst="arc">
            <a:avLst>
              <a:gd name="adj1" fmla="val 14484198"/>
              <a:gd name="adj2" fmla="val 210353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176697" y="6392525"/>
                <a:ext cx="79220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697" y="6392525"/>
                <a:ext cx="792204" cy="400110"/>
              </a:xfrm>
              <a:prstGeom prst="rect">
                <a:avLst/>
              </a:prstGeom>
              <a:blipFill>
                <a:blip r:embed="rId5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A5E0E0A-ADF1-4418-8520-9B72F704C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833381"/>
              </p:ext>
            </p:extLst>
          </p:nvPr>
        </p:nvGraphicFramePr>
        <p:xfrm>
          <a:off x="3990235" y="3854697"/>
          <a:ext cx="4860608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152">
                  <a:extLst>
                    <a:ext uri="{9D8B030D-6E8A-4147-A177-3AD203B41FA5}">
                      <a16:colId xmlns:a16="http://schemas.microsoft.com/office/drawing/2014/main" val="3126991519"/>
                    </a:ext>
                  </a:extLst>
                </a:gridCol>
                <a:gridCol w="1215152">
                  <a:extLst>
                    <a:ext uri="{9D8B030D-6E8A-4147-A177-3AD203B41FA5}">
                      <a16:colId xmlns:a16="http://schemas.microsoft.com/office/drawing/2014/main" val="4157019145"/>
                    </a:ext>
                  </a:extLst>
                </a:gridCol>
                <a:gridCol w="1215152">
                  <a:extLst>
                    <a:ext uri="{9D8B030D-6E8A-4147-A177-3AD203B41FA5}">
                      <a16:colId xmlns:a16="http://schemas.microsoft.com/office/drawing/2014/main" val="3100063029"/>
                    </a:ext>
                  </a:extLst>
                </a:gridCol>
                <a:gridCol w="1215152">
                  <a:extLst>
                    <a:ext uri="{9D8B030D-6E8A-4147-A177-3AD203B41FA5}">
                      <a16:colId xmlns:a16="http://schemas.microsoft.com/office/drawing/2014/main" val="2310030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e-IL" dirty="0"/>
                        <a:t>כמות </a:t>
                      </a:r>
                      <a:r>
                        <a:rPr lang="en-US" dirty="0"/>
                        <a:t>Y</a:t>
                      </a:r>
                      <a:r>
                        <a:rPr lang="he-IL" dirty="0"/>
                        <a:t> (ספרים)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כמות </a:t>
                      </a:r>
                      <a:r>
                        <a:rPr lang="en-US" dirty="0"/>
                        <a:t>X</a:t>
                      </a:r>
                      <a:r>
                        <a:rPr lang="he-IL" dirty="0"/>
                        <a:t> (כיסאות)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מס' עובדים בענף </a:t>
                      </a:r>
                      <a:r>
                        <a:rPr lang="en-US" dirty="0"/>
                        <a:t>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מס' עובדים בענף </a:t>
                      </a:r>
                      <a:r>
                        <a:rPr lang="en-US" dirty="0"/>
                        <a:t>X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7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5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9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806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48968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23C275-25C3-4E20-8C46-D1D415C84249}"/>
              </a:ext>
            </a:extLst>
          </p:cNvPr>
          <p:cNvSpPr txBox="1"/>
          <p:nvPr/>
        </p:nvSpPr>
        <p:spPr>
          <a:xfrm>
            <a:off x="2004380" y="4195654"/>
            <a:ext cx="84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(1,4)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101358-F88C-41A5-AF5D-F25B0BA66E80}"/>
              </a:ext>
            </a:extLst>
          </p:cNvPr>
          <p:cNvSpPr txBox="1"/>
          <p:nvPr/>
        </p:nvSpPr>
        <p:spPr>
          <a:xfrm>
            <a:off x="2757037" y="5190509"/>
            <a:ext cx="84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(2,2)</a:t>
            </a:r>
            <a:endParaRPr lang="en-IL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04849F5-0E84-4748-9F37-E48B6F3EA7D8}"/>
              </a:ext>
            </a:extLst>
          </p:cNvPr>
          <p:cNvSpPr/>
          <p:nvPr/>
        </p:nvSpPr>
        <p:spPr>
          <a:xfrm>
            <a:off x="2004380" y="4405149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D51A01-8A2A-4789-B5EE-01D7F200898B}"/>
              </a:ext>
            </a:extLst>
          </p:cNvPr>
          <p:cNvSpPr/>
          <p:nvPr/>
        </p:nvSpPr>
        <p:spPr>
          <a:xfrm>
            <a:off x="1315883" y="3444660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59C290C-EB25-45E2-A205-864E25A679C8}"/>
              </a:ext>
            </a:extLst>
          </p:cNvPr>
          <p:cNvSpPr/>
          <p:nvPr/>
        </p:nvSpPr>
        <p:spPr>
          <a:xfrm>
            <a:off x="2705100" y="5337100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0919A91-3ADC-4A55-9A7B-29ABA908F5D7}"/>
              </a:ext>
            </a:extLst>
          </p:cNvPr>
          <p:cNvSpPr/>
          <p:nvPr/>
        </p:nvSpPr>
        <p:spPr>
          <a:xfrm>
            <a:off x="3364521" y="6161194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309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42374"/>
            <a:ext cx="7772400" cy="1143000"/>
          </a:xfrm>
        </p:spPr>
        <p:txBody>
          <a:bodyPr/>
          <a:lstStyle/>
          <a:p>
            <a:pPr algn="ctr"/>
            <a:r>
              <a:rPr lang="he-IL" dirty="0"/>
              <a:t>דוגמא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14350" y="914400"/>
            <a:ext cx="7171154" cy="3270584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מבנה המשק </a:t>
            </a:r>
          </a:p>
          <a:p>
            <a:pPr algn="r" rtl="1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מוצרים : כיסאות </a:t>
            </a:r>
            <a:r>
              <a:rPr lang="en-US" sz="1800" dirty="0">
                <a:latin typeface="David" pitchFamily="34" charset="-79"/>
                <a:cs typeface="David" pitchFamily="34" charset="-79"/>
              </a:rPr>
              <a:t>(X)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 וספרים (</a:t>
            </a:r>
            <a:r>
              <a:rPr lang="en-US" sz="18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) </a:t>
            </a:r>
          </a:p>
          <a:p>
            <a:pPr algn="r" rtl="1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גורמי ייצור: 3 פועלים, כל פועל יכול לייצר ביום אחד כיסא אחד 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או 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שני ספרים.</a:t>
            </a:r>
          </a:p>
          <a:p>
            <a:pPr marL="0" indent="0" algn="r" rtl="1">
              <a:buNone/>
            </a:pPr>
            <a:endParaRPr lang="he-IL" sz="1800" dirty="0">
              <a:latin typeface="David" pitchFamily="34" charset="-79"/>
              <a:cs typeface="David" pitchFamily="34" charset="-79"/>
            </a:endParaRPr>
          </a:p>
          <a:p>
            <a:pPr marL="457200" indent="-457200" algn="r" rtl="1">
              <a:buClrTx/>
              <a:buFont typeface="+mj-lt"/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התוו/ציירו את עקומת התמורה.</a:t>
            </a:r>
          </a:p>
          <a:p>
            <a:pPr marL="457200" indent="-457200" algn="r" rtl="1">
              <a:buClrTx/>
              <a:buFont typeface="+mj-lt"/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הציגו בטבלה את אפשרויות הייצור של המשק והקצאת עובדים עבור כל הרכב ייצור.</a:t>
            </a:r>
          </a:p>
          <a:p>
            <a:pPr marL="457200" indent="-457200" algn="r" rtl="1">
              <a:buClrTx/>
              <a:buFont typeface="+mj-lt"/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האם שיפוע עקומת תמורה עולה או </a:t>
            </a:r>
            <a:r>
              <a:rPr lang="he-IL" sz="1800" b="1" dirty="0">
                <a:latin typeface="David" pitchFamily="34" charset="-79"/>
                <a:cs typeface="David" pitchFamily="34" charset="-79"/>
              </a:rPr>
              <a:t>יורד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? הסבר.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25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371600" y="6367873"/>
            <a:ext cx="2667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392857" y="3011871"/>
            <a:ext cx="6412" cy="3396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90600" y="2740966"/>
                <a:ext cx="44275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740966"/>
                <a:ext cx="44275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038600" y="6137040"/>
                <a:ext cx="42992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6137040"/>
                <a:ext cx="4299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>
            <a:off x="1383358" y="3422795"/>
            <a:ext cx="2109895" cy="29344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41146" y="3233409"/>
                <a:ext cx="79220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46" y="3233409"/>
                <a:ext cx="792204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465671" y="6041646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b="1" dirty="0">
                <a:solidFill>
                  <a:schemeClr val="accent1">
                    <a:lumMod val="75000"/>
                  </a:schemeClr>
                </a:solidFill>
              </a:rPr>
              <a:t>2-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Arc 11"/>
          <p:cNvSpPr/>
          <p:nvPr/>
        </p:nvSpPr>
        <p:spPr>
          <a:xfrm rot="18186735">
            <a:off x="2583105" y="6116349"/>
            <a:ext cx="833938" cy="409190"/>
          </a:xfrm>
          <a:prstGeom prst="arc">
            <a:avLst>
              <a:gd name="adj1" fmla="val 14484198"/>
              <a:gd name="adj2" fmla="val 210353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176697" y="6392525"/>
                <a:ext cx="79220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697" y="6392525"/>
                <a:ext cx="792204" cy="400110"/>
              </a:xfrm>
              <a:prstGeom prst="rect">
                <a:avLst/>
              </a:prstGeom>
              <a:blipFill>
                <a:blip r:embed="rId5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A5E0E0A-ADF1-4418-8520-9B72F704C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404811"/>
              </p:ext>
            </p:extLst>
          </p:nvPr>
        </p:nvGraphicFramePr>
        <p:xfrm>
          <a:off x="4052311" y="3823276"/>
          <a:ext cx="4860608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152">
                  <a:extLst>
                    <a:ext uri="{9D8B030D-6E8A-4147-A177-3AD203B41FA5}">
                      <a16:colId xmlns:a16="http://schemas.microsoft.com/office/drawing/2014/main" val="3126991519"/>
                    </a:ext>
                  </a:extLst>
                </a:gridCol>
                <a:gridCol w="1215152">
                  <a:extLst>
                    <a:ext uri="{9D8B030D-6E8A-4147-A177-3AD203B41FA5}">
                      <a16:colId xmlns:a16="http://schemas.microsoft.com/office/drawing/2014/main" val="4157019145"/>
                    </a:ext>
                  </a:extLst>
                </a:gridCol>
                <a:gridCol w="1215152">
                  <a:extLst>
                    <a:ext uri="{9D8B030D-6E8A-4147-A177-3AD203B41FA5}">
                      <a16:colId xmlns:a16="http://schemas.microsoft.com/office/drawing/2014/main" val="3100063029"/>
                    </a:ext>
                  </a:extLst>
                </a:gridCol>
                <a:gridCol w="1215152">
                  <a:extLst>
                    <a:ext uri="{9D8B030D-6E8A-4147-A177-3AD203B41FA5}">
                      <a16:colId xmlns:a16="http://schemas.microsoft.com/office/drawing/2014/main" val="2310030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e-IL" dirty="0"/>
                        <a:t>כמות </a:t>
                      </a:r>
                      <a:r>
                        <a:rPr lang="en-US" dirty="0"/>
                        <a:t>Y</a:t>
                      </a:r>
                      <a:r>
                        <a:rPr lang="he-IL" dirty="0"/>
                        <a:t> (ספרים)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כמות </a:t>
                      </a:r>
                      <a:r>
                        <a:rPr lang="en-US" dirty="0"/>
                        <a:t>X</a:t>
                      </a:r>
                      <a:r>
                        <a:rPr lang="he-IL" dirty="0"/>
                        <a:t> (כיסאות)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מס' עובדים בענף </a:t>
                      </a:r>
                      <a:r>
                        <a:rPr lang="en-US" dirty="0"/>
                        <a:t>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מס' עובדים בענף </a:t>
                      </a:r>
                      <a:r>
                        <a:rPr lang="en-US" dirty="0"/>
                        <a:t>X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7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5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9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806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48968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23C275-25C3-4E20-8C46-D1D415C84249}"/>
              </a:ext>
            </a:extLst>
          </p:cNvPr>
          <p:cNvSpPr txBox="1"/>
          <p:nvPr/>
        </p:nvSpPr>
        <p:spPr>
          <a:xfrm>
            <a:off x="2004380" y="4195654"/>
            <a:ext cx="84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(1,4)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101358-F88C-41A5-AF5D-F25B0BA66E80}"/>
              </a:ext>
            </a:extLst>
          </p:cNvPr>
          <p:cNvSpPr txBox="1"/>
          <p:nvPr/>
        </p:nvSpPr>
        <p:spPr>
          <a:xfrm>
            <a:off x="2757037" y="5190509"/>
            <a:ext cx="84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(2,2)</a:t>
            </a:r>
            <a:endParaRPr lang="en-IL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04849F5-0E84-4748-9F37-E48B6F3EA7D8}"/>
              </a:ext>
            </a:extLst>
          </p:cNvPr>
          <p:cNvSpPr/>
          <p:nvPr/>
        </p:nvSpPr>
        <p:spPr>
          <a:xfrm>
            <a:off x="2004380" y="4405149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D51A01-8A2A-4789-B5EE-01D7F200898B}"/>
              </a:ext>
            </a:extLst>
          </p:cNvPr>
          <p:cNvSpPr/>
          <p:nvPr/>
        </p:nvSpPr>
        <p:spPr>
          <a:xfrm>
            <a:off x="1315883" y="3444660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59C290C-EB25-45E2-A205-864E25A679C8}"/>
              </a:ext>
            </a:extLst>
          </p:cNvPr>
          <p:cNvSpPr/>
          <p:nvPr/>
        </p:nvSpPr>
        <p:spPr>
          <a:xfrm>
            <a:off x="2705100" y="5337100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0919A91-3ADC-4A55-9A7B-29ABA908F5D7}"/>
              </a:ext>
            </a:extLst>
          </p:cNvPr>
          <p:cNvSpPr/>
          <p:nvPr/>
        </p:nvSpPr>
        <p:spPr>
          <a:xfrm>
            <a:off x="3364521" y="6161194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76029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14400" y="93248"/>
            <a:ext cx="7772400" cy="1143000"/>
          </a:xfrm>
        </p:spPr>
        <p:txBody>
          <a:bodyPr/>
          <a:lstStyle/>
          <a:p>
            <a:pPr algn="ctr"/>
            <a:r>
              <a:rPr lang="he-IL" dirty="0"/>
              <a:t>עלות אלטרנטיבית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131878" y="932198"/>
            <a:ext cx="4975471" cy="2743200"/>
          </a:xfrm>
        </p:spPr>
        <p:txBody>
          <a:bodyPr>
            <a:normAutofit fontScale="77500" lnSpcReduction="20000"/>
          </a:bodyPr>
          <a:lstStyle/>
          <a:p>
            <a:pPr marL="0" indent="0" algn="r" rtl="1">
              <a:buNone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מבנה המשק </a:t>
            </a:r>
          </a:p>
          <a:p>
            <a:pPr algn="r" rtl="1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מוצרים :  כיסאות </a:t>
            </a:r>
            <a:r>
              <a:rPr lang="en-US" sz="1700" dirty="0">
                <a:latin typeface="David" pitchFamily="34" charset="-79"/>
                <a:cs typeface="David" pitchFamily="34" charset="-79"/>
              </a:rPr>
              <a:t>(X)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 וספרים (</a:t>
            </a:r>
            <a:r>
              <a:rPr lang="en-US" sz="17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) </a:t>
            </a:r>
          </a:p>
          <a:p>
            <a:pPr algn="r" rtl="1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גורמי ייצור: 3 פועלים, כל פועל יכול לייצר כיסא אחד </a:t>
            </a:r>
            <a:r>
              <a:rPr lang="he-IL" sz="1700" b="1" dirty="0">
                <a:latin typeface="David" pitchFamily="34" charset="-79"/>
                <a:cs typeface="David" pitchFamily="34" charset="-79"/>
              </a:rPr>
              <a:t>או 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שני ספרים.</a:t>
            </a:r>
          </a:p>
          <a:p>
            <a:pPr marL="0" indent="0" algn="r" rtl="1">
              <a:buNone/>
            </a:pPr>
            <a:endParaRPr lang="he-IL" sz="1700" dirty="0">
              <a:latin typeface="David" pitchFamily="34" charset="-79"/>
              <a:cs typeface="David" pitchFamily="34" charset="-79"/>
            </a:endParaRPr>
          </a:p>
          <a:p>
            <a:pPr marL="0" indent="0" algn="r" rtl="1">
              <a:buNone/>
            </a:pPr>
            <a:r>
              <a:rPr lang="he-IL" sz="1700" b="1" dirty="0">
                <a:latin typeface="David" pitchFamily="34" charset="-79"/>
                <a:cs typeface="David" pitchFamily="34" charset="-79"/>
              </a:rPr>
              <a:t>המשק מעוניין לייצר 2 כיסאות (</a:t>
            </a:r>
            <a:r>
              <a:rPr lang="en-US" sz="1700" b="1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700" b="1" dirty="0">
                <a:latin typeface="David" pitchFamily="34" charset="-79"/>
                <a:cs typeface="David" pitchFamily="34" charset="-79"/>
              </a:rPr>
              <a:t>).</a:t>
            </a:r>
          </a:p>
          <a:p>
            <a:pPr marL="0" indent="0" algn="r" rtl="1">
              <a:buNone/>
            </a:pPr>
            <a:endParaRPr lang="he-IL" sz="1700" dirty="0">
              <a:latin typeface="David" pitchFamily="34" charset="-79"/>
              <a:cs typeface="David" pitchFamily="34" charset="-79"/>
            </a:endParaRP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קבעו מהי כמות ספרים (</a:t>
            </a:r>
            <a:r>
              <a:rPr lang="en-US" sz="17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) שהמשק  מייצר?</a:t>
            </a: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חשבו את העלות האלטרנטיבית ה</a:t>
            </a:r>
            <a:r>
              <a:rPr lang="he-IL" sz="1700" b="1" dirty="0">
                <a:latin typeface="David" pitchFamily="34" charset="-79"/>
                <a:cs typeface="David" pitchFamily="34" charset="-79"/>
              </a:rPr>
              <a:t>כוללת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 לייצור 2 כיסאות.</a:t>
            </a: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חשבו את העלות האלטרנטיבית ה</a:t>
            </a:r>
            <a:r>
              <a:rPr lang="he-IL" sz="1700" b="1" dirty="0">
                <a:latin typeface="David" pitchFamily="34" charset="-79"/>
                <a:cs typeface="David" pitchFamily="34" charset="-79"/>
              </a:rPr>
              <a:t>ממוצעת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 לייצור 2 כיסאות</a:t>
            </a: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חשבו את העלות האלטרנטיבית ה</a:t>
            </a:r>
            <a:r>
              <a:rPr lang="he-IL" sz="1700" b="1" dirty="0">
                <a:latin typeface="David" pitchFamily="34" charset="-79"/>
                <a:cs typeface="David" pitchFamily="34" charset="-79"/>
              </a:rPr>
              <a:t>שולית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 לייצור 2 כיסאות. </a:t>
            </a:r>
          </a:p>
          <a:p>
            <a:pPr algn="r" rtl="1"/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26</a:t>
            </a:fld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761196" y="4922103"/>
            <a:ext cx="2667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761196" y="1526030"/>
            <a:ext cx="6412" cy="3396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0196" y="1295196"/>
                <a:ext cx="44275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96" y="1295196"/>
                <a:ext cx="44275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379271" y="4587955"/>
                <a:ext cx="42992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271" y="4587955"/>
                <a:ext cx="4299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772954" y="1977025"/>
            <a:ext cx="2109895" cy="29344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0742" y="1787639"/>
                <a:ext cx="79220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2" y="1787639"/>
                <a:ext cx="792204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881385" y="4608201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b="1" dirty="0">
                <a:solidFill>
                  <a:schemeClr val="accent1">
                    <a:lumMod val="75000"/>
                  </a:schemeClr>
                </a:solidFill>
              </a:rPr>
              <a:t>2-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Arc 12"/>
          <p:cNvSpPr/>
          <p:nvPr/>
        </p:nvSpPr>
        <p:spPr>
          <a:xfrm rot="18186735">
            <a:off x="1992921" y="4681249"/>
            <a:ext cx="833938" cy="409190"/>
          </a:xfrm>
          <a:prstGeom prst="arc">
            <a:avLst>
              <a:gd name="adj1" fmla="val 14484198"/>
              <a:gd name="adj2" fmla="val 210353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566293" y="4946755"/>
                <a:ext cx="79220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293" y="4946755"/>
                <a:ext cx="792204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923928" y="4113488"/>
            <a:ext cx="3282776" cy="400110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2.   </a:t>
            </a:r>
            <a:r>
              <a:rPr lang="en-US" sz="2000" b="1" dirty="0" err="1"/>
              <a:t>TC</a:t>
            </a:r>
            <a:r>
              <a:rPr lang="en-US" sz="2000" b="1" dirty="0" err="1">
                <a:solidFill>
                  <a:srgbClr val="7030A0"/>
                </a:solidFill>
              </a:rPr>
              <a:t>x</a:t>
            </a:r>
            <a:r>
              <a:rPr lang="en-US" sz="2000" b="1" dirty="0">
                <a:solidFill>
                  <a:srgbClr val="7030A0"/>
                </a:solidFill>
              </a:rPr>
              <a:t>(A)=</a:t>
            </a:r>
            <a:r>
              <a:rPr lang="en-US" sz="2000" b="1" dirty="0" err="1">
                <a:solidFill>
                  <a:srgbClr val="7030A0"/>
                </a:solidFill>
              </a:rPr>
              <a:t>Ymax</a:t>
            </a:r>
            <a:r>
              <a:rPr lang="en-US" sz="2000" b="1" dirty="0">
                <a:solidFill>
                  <a:srgbClr val="7030A0"/>
                </a:solidFill>
              </a:rPr>
              <a:t>-Y(A)=</a:t>
            </a:r>
            <a:endParaRPr lang="he-IL" sz="20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854919" y="4672722"/>
                <a:ext cx="3200190" cy="676275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rtl="1"/>
                <a:r>
                  <a:rPr lang="en-US" sz="2000" b="1" dirty="0">
                    <a:solidFill>
                      <a:srgbClr val="7030A0"/>
                    </a:solidFill>
                  </a:rPr>
                  <a:t>3. 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AC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(A)=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Ymax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1" i="0" dirty="0" smtClean="0">
                            <a:solidFill>
                              <a:srgbClr val="7030A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)</m:t>
                        </m:r>
                      </m:den>
                    </m:f>
                  </m:oMath>
                </a14:m>
                <a:endParaRPr lang="he-IL" sz="2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919" y="4672722"/>
                <a:ext cx="3200190" cy="6762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1881385" y="1801918"/>
            <a:ext cx="3017034" cy="16812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e-IL" sz="1400" dirty="0">
                <a:latin typeface="David" pitchFamily="34" charset="-79"/>
                <a:cs typeface="David" pitchFamily="34" charset="-79"/>
              </a:rPr>
              <a:t>1. כאשר המשק מייצר </a:t>
            </a:r>
            <a:r>
              <a:rPr lang="he-IL" sz="1400" b="1" dirty="0">
                <a:latin typeface="David" pitchFamily="34" charset="-79"/>
                <a:cs typeface="David" pitchFamily="34" charset="-79"/>
              </a:rPr>
              <a:t>2 כיסאות (</a:t>
            </a:r>
            <a:r>
              <a:rPr lang="en-US" sz="1400" b="1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400" b="1" dirty="0">
                <a:latin typeface="David" pitchFamily="34" charset="-79"/>
                <a:cs typeface="David" pitchFamily="34" charset="-79"/>
              </a:rPr>
              <a:t>), הוא מייצר אותם באמצעות 2 פועלים ולכן הפועל השלישי מייצר ספרים (</a:t>
            </a:r>
            <a:r>
              <a:rPr lang="en-US" sz="1400" b="1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400" b="1" dirty="0">
                <a:latin typeface="David" pitchFamily="34" charset="-79"/>
                <a:cs typeface="David" pitchFamily="34" charset="-79"/>
              </a:rPr>
              <a:t>), </a:t>
            </a:r>
            <a:r>
              <a:rPr lang="he-IL" sz="14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הוא יכול לייצר 2 ספרים</a:t>
            </a:r>
            <a:r>
              <a:rPr lang="he-IL" sz="1400" dirty="0">
                <a:latin typeface="David" pitchFamily="34" charset="-79"/>
                <a:cs typeface="David" pitchFamily="34" charset="-79"/>
              </a:rPr>
              <a:t>, </a:t>
            </a:r>
            <a:br>
              <a:rPr lang="en-US" sz="1400" dirty="0">
                <a:latin typeface="David" pitchFamily="34" charset="-79"/>
                <a:cs typeface="David" pitchFamily="34" charset="-79"/>
              </a:rPr>
            </a:br>
            <a:r>
              <a:rPr lang="he-IL" sz="1400" dirty="0">
                <a:latin typeface="David" pitchFamily="34" charset="-79"/>
                <a:cs typeface="David" pitchFamily="34" charset="-79"/>
              </a:rPr>
              <a:t>כלומר סה''כ מייצרים 2 כיסאות ו-2 ספרים.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F1858F-7008-414B-AB5E-CE5AB5D126A6}"/>
              </a:ext>
            </a:extLst>
          </p:cNvPr>
          <p:cNvSpPr txBox="1"/>
          <p:nvPr/>
        </p:nvSpPr>
        <p:spPr>
          <a:xfrm>
            <a:off x="3882559" y="5525692"/>
            <a:ext cx="2561649" cy="400110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pPr algn="l" rtl="0"/>
            <a:r>
              <a:rPr lang="en-US" sz="2000" b="1" dirty="0">
                <a:solidFill>
                  <a:srgbClr val="7030A0"/>
                </a:solidFill>
              </a:rPr>
              <a:t>4.  </a:t>
            </a:r>
            <a:r>
              <a:rPr lang="en-US" sz="2000" b="1" dirty="0" err="1">
                <a:solidFill>
                  <a:srgbClr val="002060"/>
                </a:solidFill>
              </a:rPr>
              <a:t>MC</a:t>
            </a:r>
            <a:r>
              <a:rPr lang="en-US" sz="2000" b="1" dirty="0" err="1">
                <a:solidFill>
                  <a:srgbClr val="7030A0"/>
                </a:solidFill>
              </a:rPr>
              <a:t>x</a:t>
            </a:r>
            <a:r>
              <a:rPr lang="en-US" sz="2000" b="1" dirty="0">
                <a:solidFill>
                  <a:srgbClr val="7030A0"/>
                </a:solidFill>
              </a:rPr>
              <a:t>(A)=</a:t>
            </a:r>
            <a:r>
              <a:rPr lang="he-IL" sz="2000" b="1" dirty="0">
                <a:solidFill>
                  <a:srgbClr val="7030A0"/>
                </a:solidFill>
              </a:rPr>
              <a:t>  </a:t>
            </a:r>
            <a:r>
              <a:rPr lang="en-GB" sz="2000" b="1" dirty="0">
                <a:solidFill>
                  <a:srgbClr val="7030A0"/>
                </a:solidFill>
              </a:rPr>
              <a:t> </a:t>
            </a:r>
            <a:endParaRPr lang="he-IL" sz="2000" b="1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371D5-28E0-44DF-AB2A-25567A301B83}"/>
              </a:ext>
            </a:extLst>
          </p:cNvPr>
          <p:cNvSpPr txBox="1"/>
          <p:nvPr/>
        </p:nvSpPr>
        <p:spPr>
          <a:xfrm>
            <a:off x="2132242" y="3751425"/>
            <a:ext cx="84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(2,2)</a:t>
            </a:r>
            <a:endParaRPr lang="en-IL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2ED4B58-C61E-4916-8ACA-29A957CA11D0}"/>
              </a:ext>
            </a:extLst>
          </p:cNvPr>
          <p:cNvSpPr/>
          <p:nvPr/>
        </p:nvSpPr>
        <p:spPr>
          <a:xfrm>
            <a:off x="2080305" y="3898016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C20B4CFA-056C-4C1B-291D-EEEE88FE0465}"/>
              </a:ext>
            </a:extLst>
          </p:cNvPr>
          <p:cNvSpPr txBox="1"/>
          <p:nvPr/>
        </p:nvSpPr>
        <p:spPr>
          <a:xfrm>
            <a:off x="4062414" y="6127702"/>
            <a:ext cx="46243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latin typeface="David" pitchFamily="34" charset="-79"/>
                <a:cs typeface="David" pitchFamily="34" charset="-79"/>
              </a:rPr>
              <a:t>T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C= Total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(אלט') </a:t>
            </a:r>
            <a:r>
              <a:rPr lang="he-IL" sz="1200" b="1" dirty="0">
                <a:latin typeface="David" pitchFamily="34" charset="-79"/>
                <a:cs typeface="David" pitchFamily="34" charset="-79"/>
              </a:rPr>
              <a:t>כוללת</a:t>
            </a:r>
          </a:p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A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C= </a:t>
            </a:r>
            <a:r>
              <a:rPr lang="en-US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A</a:t>
            </a:r>
            <a:r>
              <a:rPr lang="en-GB" sz="1200" b="1" dirty="0" err="1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verage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(אלט') </a:t>
            </a:r>
            <a:r>
              <a:rPr lang="he-IL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ממוצעת</a:t>
            </a:r>
          </a:p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solidFill>
                  <a:srgbClr val="002060"/>
                </a:solidFill>
                <a:latin typeface="David" pitchFamily="34" charset="-79"/>
                <a:cs typeface="David" pitchFamily="34" charset="-79"/>
              </a:rPr>
              <a:t>MC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= Marginal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(אלטרנטיבית) שולית</a:t>
            </a:r>
            <a:endParaRPr lang="en-IL" sz="1200" dirty="0">
              <a:solidFill>
                <a:schemeClr val="bg2">
                  <a:lumMod val="50000"/>
                </a:schemeClr>
              </a:solidFill>
            </a:endParaRPr>
          </a:p>
          <a:p>
            <a:pPr algn="l" rtl="0"/>
            <a:endParaRPr lang="he-IL" sz="1200" b="1" dirty="0">
              <a:solidFill>
                <a:srgbClr val="C00000"/>
              </a:solidFill>
              <a:latin typeface="David" pitchFamily="34" charset="-79"/>
              <a:cs typeface="David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6306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2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319C2-CE62-BAF4-9CDA-B2EA8C02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3685F1D-3A64-A0B8-E3C5-0CA5E9055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3248"/>
            <a:ext cx="7772400" cy="1143000"/>
          </a:xfrm>
        </p:spPr>
        <p:txBody>
          <a:bodyPr/>
          <a:lstStyle/>
          <a:p>
            <a:pPr algn="ctr"/>
            <a:r>
              <a:rPr lang="he-IL" dirty="0"/>
              <a:t>עלות אלטרנטיבית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FC28C-94E3-8D0C-8DC4-9A64AE0A6F2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131878" y="932198"/>
            <a:ext cx="4975471" cy="2743200"/>
          </a:xfrm>
        </p:spPr>
        <p:txBody>
          <a:bodyPr>
            <a:normAutofit fontScale="77500" lnSpcReduction="20000"/>
          </a:bodyPr>
          <a:lstStyle/>
          <a:p>
            <a:pPr marL="0" indent="0" algn="r" rtl="1">
              <a:buNone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מבנה המשק </a:t>
            </a:r>
          </a:p>
          <a:p>
            <a:pPr algn="r" rtl="1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מוצרים :  כיסאות </a:t>
            </a:r>
            <a:r>
              <a:rPr lang="en-US" sz="1700" dirty="0">
                <a:latin typeface="David" pitchFamily="34" charset="-79"/>
                <a:cs typeface="David" pitchFamily="34" charset="-79"/>
              </a:rPr>
              <a:t>(X)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 וספרים (</a:t>
            </a:r>
            <a:r>
              <a:rPr lang="en-US" sz="17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) </a:t>
            </a:r>
          </a:p>
          <a:p>
            <a:pPr algn="r" rtl="1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גורמי ייצור: 3 פועלים, כל פועל יכול לייצר כיסא אחד </a:t>
            </a:r>
            <a:r>
              <a:rPr lang="he-IL" sz="1700" b="1" dirty="0">
                <a:latin typeface="David" pitchFamily="34" charset="-79"/>
                <a:cs typeface="David" pitchFamily="34" charset="-79"/>
              </a:rPr>
              <a:t>או 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שני ספרים.</a:t>
            </a:r>
          </a:p>
          <a:p>
            <a:pPr marL="0" indent="0" algn="r" rtl="1">
              <a:buNone/>
            </a:pPr>
            <a:endParaRPr lang="he-IL" sz="1700" dirty="0">
              <a:latin typeface="David" pitchFamily="34" charset="-79"/>
              <a:cs typeface="David" pitchFamily="34" charset="-79"/>
            </a:endParaRPr>
          </a:p>
          <a:p>
            <a:pPr marL="0" indent="0" algn="r" rtl="1">
              <a:buNone/>
            </a:pPr>
            <a:r>
              <a:rPr lang="he-IL" sz="1700" b="1" dirty="0">
                <a:latin typeface="David" pitchFamily="34" charset="-79"/>
                <a:cs typeface="David" pitchFamily="34" charset="-79"/>
              </a:rPr>
              <a:t>המשק מעוניין לייצר 2 כיסאות (</a:t>
            </a:r>
            <a:r>
              <a:rPr lang="en-US" sz="1700" b="1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700" b="1" dirty="0">
                <a:latin typeface="David" pitchFamily="34" charset="-79"/>
                <a:cs typeface="David" pitchFamily="34" charset="-79"/>
              </a:rPr>
              <a:t>).</a:t>
            </a:r>
          </a:p>
          <a:p>
            <a:pPr marL="0" indent="0" algn="r" rtl="1">
              <a:buNone/>
            </a:pPr>
            <a:endParaRPr lang="he-IL" sz="1700" dirty="0">
              <a:latin typeface="David" pitchFamily="34" charset="-79"/>
              <a:cs typeface="David" pitchFamily="34" charset="-79"/>
            </a:endParaRP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קבעו מהי כמות ספרים (</a:t>
            </a:r>
            <a:r>
              <a:rPr lang="en-US" sz="17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) שהמשק  מייצר?</a:t>
            </a: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חשבו את העלות האלטרנטיבית ה</a:t>
            </a:r>
            <a:r>
              <a:rPr lang="he-IL" sz="1700" b="1" dirty="0">
                <a:latin typeface="David" pitchFamily="34" charset="-79"/>
                <a:cs typeface="David" pitchFamily="34" charset="-79"/>
              </a:rPr>
              <a:t>כוללת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 לייצור 2 כיסאות.</a:t>
            </a: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חשבו את העלות האלטרנטיבית ה</a:t>
            </a:r>
            <a:r>
              <a:rPr lang="he-IL" sz="1700" b="1" dirty="0">
                <a:latin typeface="David" pitchFamily="34" charset="-79"/>
                <a:cs typeface="David" pitchFamily="34" charset="-79"/>
              </a:rPr>
              <a:t>ממוצעת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 לייצור 2 כיסאות</a:t>
            </a: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1700" dirty="0">
                <a:latin typeface="David" pitchFamily="34" charset="-79"/>
                <a:cs typeface="David" pitchFamily="34" charset="-79"/>
              </a:rPr>
              <a:t>חשבו את העלות האלטרנטיבית ה</a:t>
            </a:r>
            <a:r>
              <a:rPr lang="he-IL" sz="1700" b="1" dirty="0">
                <a:latin typeface="David" pitchFamily="34" charset="-79"/>
                <a:cs typeface="David" pitchFamily="34" charset="-79"/>
              </a:rPr>
              <a:t>שולית</a:t>
            </a:r>
            <a:r>
              <a:rPr lang="he-IL" sz="1700" dirty="0">
                <a:latin typeface="David" pitchFamily="34" charset="-79"/>
                <a:cs typeface="David" pitchFamily="34" charset="-79"/>
              </a:rPr>
              <a:t> לייצור 2 כיסאות. </a:t>
            </a:r>
          </a:p>
          <a:p>
            <a:pPr algn="r" rtl="1"/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BBBEBF-BB9B-DCBB-208E-CFCDAA7E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27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46AC1E-9691-897B-4D94-3175FDC53034}"/>
              </a:ext>
            </a:extLst>
          </p:cNvPr>
          <p:cNvCxnSpPr/>
          <p:nvPr/>
        </p:nvCxnSpPr>
        <p:spPr>
          <a:xfrm>
            <a:off x="761196" y="4922103"/>
            <a:ext cx="2667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048FFE-06D9-E682-91E8-331C41B9A9A3}"/>
              </a:ext>
            </a:extLst>
          </p:cNvPr>
          <p:cNvCxnSpPr/>
          <p:nvPr/>
        </p:nvCxnSpPr>
        <p:spPr>
          <a:xfrm flipV="1">
            <a:off x="761196" y="1526030"/>
            <a:ext cx="6412" cy="3396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1B3B792-C992-0501-B315-0C41D486FC53}"/>
                  </a:ext>
                </a:extLst>
              </p:cNvPr>
              <p:cNvSpPr/>
              <p:nvPr/>
            </p:nvSpPr>
            <p:spPr>
              <a:xfrm>
                <a:off x="380196" y="1295196"/>
                <a:ext cx="44275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1B3B792-C992-0501-B315-0C41D486FC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96" y="1295196"/>
                <a:ext cx="44275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216A09B-C000-0BEB-9929-0FEC6D956761}"/>
                  </a:ext>
                </a:extLst>
              </p:cNvPr>
              <p:cNvSpPr/>
              <p:nvPr/>
            </p:nvSpPr>
            <p:spPr>
              <a:xfrm>
                <a:off x="3379271" y="4587955"/>
                <a:ext cx="429925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216A09B-C000-0BEB-9929-0FEC6D9567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271" y="4587955"/>
                <a:ext cx="4299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387D0F-97E3-E922-1DAD-50058EF18F36}"/>
              </a:ext>
            </a:extLst>
          </p:cNvPr>
          <p:cNvCxnSpPr/>
          <p:nvPr/>
        </p:nvCxnSpPr>
        <p:spPr>
          <a:xfrm>
            <a:off x="772954" y="1977025"/>
            <a:ext cx="2109895" cy="29344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327863E-E090-9B2C-A6F1-0440D5CBBF35}"/>
                  </a:ext>
                </a:extLst>
              </p:cNvPr>
              <p:cNvSpPr/>
              <p:nvPr/>
            </p:nvSpPr>
            <p:spPr>
              <a:xfrm>
                <a:off x="30742" y="1787639"/>
                <a:ext cx="79220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327863E-E090-9B2C-A6F1-0440D5CBBF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2" y="1787639"/>
                <a:ext cx="792204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9B0E820-5245-26C1-5CCE-E3A17CA984FA}"/>
              </a:ext>
            </a:extLst>
          </p:cNvPr>
          <p:cNvSpPr txBox="1"/>
          <p:nvPr/>
        </p:nvSpPr>
        <p:spPr>
          <a:xfrm>
            <a:off x="1881385" y="4608201"/>
            <a:ext cx="84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b="1" dirty="0">
                <a:solidFill>
                  <a:schemeClr val="accent1">
                    <a:lumMod val="75000"/>
                  </a:schemeClr>
                </a:solidFill>
              </a:rPr>
              <a:t>2-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22063C8-C311-8B53-222D-EB0816F10C9C}"/>
              </a:ext>
            </a:extLst>
          </p:cNvPr>
          <p:cNvSpPr/>
          <p:nvPr/>
        </p:nvSpPr>
        <p:spPr>
          <a:xfrm rot="18186735">
            <a:off x="1992921" y="4681249"/>
            <a:ext cx="833938" cy="409190"/>
          </a:xfrm>
          <a:prstGeom prst="arc">
            <a:avLst>
              <a:gd name="adj1" fmla="val 14484198"/>
              <a:gd name="adj2" fmla="val 210353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17DAC7C-DB03-F88F-31F6-6ACF1E510F21}"/>
                  </a:ext>
                </a:extLst>
              </p:cNvPr>
              <p:cNvSpPr/>
              <p:nvPr/>
            </p:nvSpPr>
            <p:spPr>
              <a:xfrm>
                <a:off x="2566293" y="4946755"/>
                <a:ext cx="79220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17DAC7C-DB03-F88F-31F6-6ACF1E510F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293" y="4946755"/>
                <a:ext cx="792204" cy="400110"/>
              </a:xfrm>
              <a:prstGeom prst="rect">
                <a:avLst/>
              </a:prstGeom>
              <a:blipFill>
                <a:blip r:embed="rId5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7B49726-C8DF-6290-582A-D2CAA2C0C4CA}"/>
              </a:ext>
            </a:extLst>
          </p:cNvPr>
          <p:cNvSpPr txBox="1"/>
          <p:nvPr/>
        </p:nvSpPr>
        <p:spPr>
          <a:xfrm>
            <a:off x="3923928" y="4113488"/>
            <a:ext cx="3282776" cy="400110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2.   </a:t>
            </a:r>
            <a:r>
              <a:rPr lang="en-US" sz="2000" b="1" dirty="0" err="1"/>
              <a:t>TC</a:t>
            </a:r>
            <a:r>
              <a:rPr lang="en-US" sz="2000" b="1" dirty="0" err="1">
                <a:solidFill>
                  <a:srgbClr val="7030A0"/>
                </a:solidFill>
              </a:rPr>
              <a:t>x</a:t>
            </a:r>
            <a:r>
              <a:rPr lang="en-US" sz="2000" b="1" dirty="0">
                <a:solidFill>
                  <a:srgbClr val="7030A0"/>
                </a:solidFill>
              </a:rPr>
              <a:t>(A)=</a:t>
            </a:r>
            <a:r>
              <a:rPr lang="en-US" sz="2000" b="1" dirty="0" err="1">
                <a:solidFill>
                  <a:srgbClr val="7030A0"/>
                </a:solidFill>
              </a:rPr>
              <a:t>Ymax</a:t>
            </a:r>
            <a:r>
              <a:rPr lang="en-US" sz="2000" b="1" dirty="0">
                <a:solidFill>
                  <a:srgbClr val="7030A0"/>
                </a:solidFill>
              </a:rPr>
              <a:t>-Y(A)=</a:t>
            </a:r>
            <a:endParaRPr lang="he-IL" sz="20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C1F5392-CBE5-FEE3-DD01-054EFF121F84}"/>
                  </a:ext>
                </a:extLst>
              </p:cNvPr>
              <p:cNvSpPr txBox="1"/>
              <p:nvPr/>
            </p:nvSpPr>
            <p:spPr>
              <a:xfrm>
                <a:off x="3854919" y="4672722"/>
                <a:ext cx="3200190" cy="676275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rtl="1"/>
                <a:r>
                  <a:rPr lang="en-US" sz="2000" b="1" dirty="0">
                    <a:solidFill>
                      <a:srgbClr val="7030A0"/>
                    </a:solidFill>
                  </a:rPr>
                  <a:t>3. 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AC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(A)=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Ymax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1" i="0" dirty="0" smtClean="0">
                            <a:solidFill>
                              <a:srgbClr val="7030A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b="1" dirty="0">
                            <a:solidFill>
                              <a:srgbClr val="7030A0"/>
                            </a:solidFill>
                          </a:rPr>
                          <m:t>)</m:t>
                        </m:r>
                      </m:den>
                    </m:f>
                  </m:oMath>
                </a14:m>
                <a:endParaRPr lang="he-IL" sz="20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C1F5392-CBE5-FEE3-DD01-054EFF121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919" y="4672722"/>
                <a:ext cx="3200190" cy="6762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AD609F23-7327-5EED-4051-37E7979634DA}"/>
              </a:ext>
            </a:extLst>
          </p:cNvPr>
          <p:cNvSpPr/>
          <p:nvPr/>
        </p:nvSpPr>
        <p:spPr>
          <a:xfrm>
            <a:off x="1881385" y="1801918"/>
            <a:ext cx="3017034" cy="16812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e-IL" sz="1400" dirty="0">
                <a:latin typeface="David" pitchFamily="34" charset="-79"/>
                <a:cs typeface="David" pitchFamily="34" charset="-79"/>
              </a:rPr>
              <a:t>1. כאשר המשק מייצר </a:t>
            </a:r>
            <a:r>
              <a:rPr lang="he-IL" sz="1400" b="1" dirty="0">
                <a:latin typeface="David" pitchFamily="34" charset="-79"/>
                <a:cs typeface="David" pitchFamily="34" charset="-79"/>
              </a:rPr>
              <a:t>2 כיסאות (</a:t>
            </a:r>
            <a:r>
              <a:rPr lang="en-US" sz="1400" b="1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400" b="1" dirty="0">
                <a:latin typeface="David" pitchFamily="34" charset="-79"/>
                <a:cs typeface="David" pitchFamily="34" charset="-79"/>
              </a:rPr>
              <a:t>), הוא מייצר אותם באמצעות 2 פועלים ולכן הפועל השלישי מייצר ספרים (</a:t>
            </a:r>
            <a:r>
              <a:rPr lang="en-US" sz="1400" b="1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400" b="1" dirty="0">
                <a:latin typeface="David" pitchFamily="34" charset="-79"/>
                <a:cs typeface="David" pitchFamily="34" charset="-79"/>
              </a:rPr>
              <a:t>), </a:t>
            </a:r>
            <a:r>
              <a:rPr lang="he-IL" sz="14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הוא יכול לייצר 2 ספרים</a:t>
            </a:r>
            <a:r>
              <a:rPr lang="he-IL" sz="1400" dirty="0">
                <a:latin typeface="David" pitchFamily="34" charset="-79"/>
                <a:cs typeface="David" pitchFamily="34" charset="-79"/>
              </a:rPr>
              <a:t>, </a:t>
            </a:r>
            <a:br>
              <a:rPr lang="en-US" sz="1400" dirty="0">
                <a:latin typeface="David" pitchFamily="34" charset="-79"/>
                <a:cs typeface="David" pitchFamily="34" charset="-79"/>
              </a:rPr>
            </a:br>
            <a:r>
              <a:rPr lang="he-IL" sz="1400" dirty="0">
                <a:latin typeface="David" pitchFamily="34" charset="-79"/>
                <a:cs typeface="David" pitchFamily="34" charset="-79"/>
              </a:rPr>
              <a:t>כלומר סה''כ מייצרים 2 כיסאות ו-2 ספרים.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0903A3-1E53-1CC9-6B8E-5114DF7ADC0E}"/>
              </a:ext>
            </a:extLst>
          </p:cNvPr>
          <p:cNvSpPr/>
          <p:nvPr/>
        </p:nvSpPr>
        <p:spPr>
          <a:xfrm>
            <a:off x="7460619" y="4071823"/>
            <a:ext cx="1354859" cy="461665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6-2=4y</a:t>
            </a:r>
            <a:endParaRPr lang="he-IL" sz="24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D69F770-F524-7674-26EC-654B3DD1CABB}"/>
                  </a:ext>
                </a:extLst>
              </p:cNvPr>
              <p:cNvSpPr/>
              <p:nvPr/>
            </p:nvSpPr>
            <p:spPr>
              <a:xfrm>
                <a:off x="7350053" y="4714045"/>
                <a:ext cx="1250086" cy="65723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 rtl="1"/>
                <a14:m>
                  <m:oMath xmlns:m="http://schemas.openxmlformats.org/officeDocument/2006/math">
                    <m:r>
                      <a:rPr lang="he-IL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7030A0"/>
                            </a:solidFill>
                          </a:rPr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7030A0"/>
                            </a:solidFill>
                          </a:rPr>
                          <m:t>2</m:t>
                        </m:r>
                      </m:den>
                    </m:f>
                    <m:r>
                      <a:rPr lang="he-IL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2y</a:t>
                </a:r>
                <a:endParaRPr lang="he-IL" sz="2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D69F770-F524-7674-26EC-654B3DD1C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053" y="4714045"/>
                <a:ext cx="1250086" cy="657231"/>
              </a:xfrm>
              <a:prstGeom prst="rect">
                <a:avLst/>
              </a:prstGeom>
              <a:blipFill>
                <a:blip r:embed="rId7"/>
                <a:stretch>
                  <a:fillRect r="-7805" b="-1851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8F25A7B-1F89-F473-A6E4-F879C5C5EE45}"/>
              </a:ext>
            </a:extLst>
          </p:cNvPr>
          <p:cNvSpPr txBox="1"/>
          <p:nvPr/>
        </p:nvSpPr>
        <p:spPr>
          <a:xfrm>
            <a:off x="3882559" y="5525692"/>
            <a:ext cx="2031719" cy="400110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pPr rtl="1"/>
            <a:r>
              <a:rPr lang="en-US" sz="2000" b="1" dirty="0">
                <a:solidFill>
                  <a:srgbClr val="7030A0"/>
                </a:solidFill>
              </a:rPr>
              <a:t>4.  </a:t>
            </a:r>
            <a:r>
              <a:rPr lang="en-US" sz="2000" b="1" dirty="0" err="1">
                <a:solidFill>
                  <a:srgbClr val="002060"/>
                </a:solidFill>
              </a:rPr>
              <a:t>MC</a:t>
            </a:r>
            <a:r>
              <a:rPr lang="en-US" sz="2000" b="1" dirty="0" err="1">
                <a:solidFill>
                  <a:srgbClr val="7030A0"/>
                </a:solidFill>
              </a:rPr>
              <a:t>x</a:t>
            </a:r>
            <a:r>
              <a:rPr lang="en-US" sz="2000" b="1" dirty="0">
                <a:solidFill>
                  <a:srgbClr val="7030A0"/>
                </a:solidFill>
              </a:rPr>
              <a:t>(A)=2y</a:t>
            </a:r>
            <a:endParaRPr lang="he-IL" sz="2000" b="1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859B78-79BB-A9DD-79B6-B1082633797E}"/>
              </a:ext>
            </a:extLst>
          </p:cNvPr>
          <p:cNvSpPr txBox="1"/>
          <p:nvPr/>
        </p:nvSpPr>
        <p:spPr>
          <a:xfrm>
            <a:off x="2132242" y="3751425"/>
            <a:ext cx="100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A(2,2)</a:t>
            </a:r>
            <a:endParaRPr lang="en-IL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F51210-2E9B-8609-80F8-789B1F8FA75A}"/>
              </a:ext>
            </a:extLst>
          </p:cNvPr>
          <p:cNvSpPr/>
          <p:nvPr/>
        </p:nvSpPr>
        <p:spPr>
          <a:xfrm>
            <a:off x="2080305" y="3898016"/>
            <a:ext cx="254723" cy="247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D94800E5-BCF6-EF94-4F49-2E8F7A8A94FB}"/>
              </a:ext>
            </a:extLst>
          </p:cNvPr>
          <p:cNvSpPr txBox="1"/>
          <p:nvPr/>
        </p:nvSpPr>
        <p:spPr>
          <a:xfrm>
            <a:off x="4062414" y="6127702"/>
            <a:ext cx="46243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latin typeface="David" pitchFamily="34" charset="-79"/>
                <a:cs typeface="David" pitchFamily="34" charset="-79"/>
              </a:rPr>
              <a:t>T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C= Total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(אלט') </a:t>
            </a:r>
            <a:r>
              <a:rPr lang="he-IL" sz="1200" b="1" dirty="0">
                <a:latin typeface="David" pitchFamily="34" charset="-79"/>
                <a:cs typeface="David" pitchFamily="34" charset="-79"/>
              </a:rPr>
              <a:t>כוללת</a:t>
            </a:r>
          </a:p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A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C= </a:t>
            </a:r>
            <a:r>
              <a:rPr lang="en-US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A</a:t>
            </a:r>
            <a:r>
              <a:rPr lang="en-GB" sz="1200" b="1" dirty="0" err="1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verage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(אלט') </a:t>
            </a:r>
            <a:r>
              <a:rPr lang="he-IL" sz="12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ממוצעת</a:t>
            </a:r>
          </a:p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</a:t>
            </a:r>
            <a:r>
              <a:rPr lang="en-US" sz="1200" b="1" dirty="0">
                <a:solidFill>
                  <a:srgbClr val="002060"/>
                </a:solidFill>
                <a:latin typeface="David" pitchFamily="34" charset="-79"/>
                <a:cs typeface="David" pitchFamily="34" charset="-79"/>
              </a:rPr>
              <a:t>MC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= Marginal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(אלטרנטיבית) שולית</a:t>
            </a:r>
            <a:endParaRPr lang="en-IL" sz="1200" dirty="0">
              <a:solidFill>
                <a:schemeClr val="bg2">
                  <a:lumMod val="50000"/>
                </a:schemeClr>
              </a:solidFill>
            </a:endParaRPr>
          </a:p>
          <a:p>
            <a:pPr algn="l" rtl="0"/>
            <a:endParaRPr lang="he-IL" sz="1200" b="1" dirty="0">
              <a:solidFill>
                <a:srgbClr val="C00000"/>
              </a:solidFill>
              <a:latin typeface="David" pitchFamily="34" charset="-79"/>
              <a:cs typeface="David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2626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2" grpId="0" animBg="1"/>
      <p:bldP spid="23" grpId="0" animBg="1"/>
      <p:bldP spid="24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3A4CA-7A3D-FD2C-4C42-9E3AB9E91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31CE3F7-75CA-A7F5-A277-595E70DB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עלות אלטרנטיבית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61EC2-1D41-6D9B-84A9-8FAD8D03AE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7812" y="1144236"/>
            <a:ext cx="8332340" cy="60960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600" dirty="0">
                <a:latin typeface="David" pitchFamily="34" charset="-79"/>
                <a:cs typeface="David" pitchFamily="34" charset="-79"/>
              </a:rPr>
              <a:t>להלן עקומת תמורה של משק ובו 3 גורמי ייצור המייצרים 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 ואת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:</a:t>
            </a:r>
            <a:br>
              <a:rPr lang="en-US" sz="1600" dirty="0">
                <a:latin typeface="David" pitchFamily="34" charset="-79"/>
                <a:cs typeface="David" pitchFamily="34" charset="-79"/>
              </a:rPr>
            </a:br>
            <a:r>
              <a:rPr lang="he-IL" sz="1600" dirty="0">
                <a:latin typeface="David" pitchFamily="34" charset="-79"/>
                <a:cs typeface="David" pitchFamily="34" charset="-79"/>
              </a:rPr>
              <a:t>ראשית </a:t>
            </a:r>
            <a:r>
              <a:rPr lang="he-IL" sz="1600" b="1" dirty="0">
                <a:latin typeface="David" pitchFamily="34" charset="-79"/>
                <a:cs typeface="David" pitchFamily="34" charset="-79"/>
              </a:rPr>
              <a:t>מצאו את שיפועי שלושת המקטעים 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של עקומת התמורה הנתונה: </a:t>
            </a:r>
          </a:p>
          <a:p>
            <a:pPr marL="0" indent="0" algn="r" rtl="1"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algn="r" rtl="1"/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062E77-1421-1B32-8D64-47DB3D5E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F83FDE-E36B-D7CA-9CBB-E0BFBF92714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3568" y="1710332"/>
            <a:ext cx="6070501" cy="35946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BAE621-A7FE-33C0-3A41-A608A85ECF14}"/>
              </a:ext>
            </a:extLst>
          </p:cNvPr>
          <p:cNvSpPr/>
          <p:nvPr/>
        </p:nvSpPr>
        <p:spPr>
          <a:xfrm>
            <a:off x="1947116" y="5135931"/>
            <a:ext cx="679242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א. מהי העלות האלטרנטיבית השולית לייצור 13 יח'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50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F69D2-0A71-6378-F317-D6A5CA67AEB4}"/>
              </a:ext>
            </a:extLst>
          </p:cNvPr>
          <p:cNvSpPr/>
          <p:nvPr/>
        </p:nvSpPr>
        <p:spPr>
          <a:xfrm>
            <a:off x="2625460" y="5626409"/>
            <a:ext cx="63421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מהי העלות האלטרנטיבית השולית לייצור 10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9DA992-CB83-4D67-9AF4-F576E27537B8}"/>
              </a:ext>
            </a:extLst>
          </p:cNvPr>
          <p:cNvSpPr/>
          <p:nvPr/>
        </p:nvSpPr>
        <p:spPr>
          <a:xfrm>
            <a:off x="2590800" y="5986941"/>
            <a:ext cx="63767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מהי העלות האלטרנטיבית השולית לייצור 14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8F39935E-E366-3898-5595-100B426652C2}"/>
              </a:ext>
            </a:extLst>
          </p:cNvPr>
          <p:cNvSpPr txBox="1"/>
          <p:nvPr/>
        </p:nvSpPr>
        <p:spPr>
          <a:xfrm>
            <a:off x="3635896" y="6581001"/>
            <a:ext cx="4624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**MC= Marginal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(אלטרנטיבית) שולית</a:t>
            </a:r>
            <a:endParaRPr lang="en-IL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11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עלות אלטרנטיבית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97812" y="1144236"/>
            <a:ext cx="8332340" cy="60960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600" dirty="0">
                <a:latin typeface="David" pitchFamily="34" charset="-79"/>
                <a:cs typeface="David" pitchFamily="34" charset="-79"/>
              </a:rPr>
              <a:t>להלן עקומת תמורה של משק ובו 3 גורמי ייצור המייצרים 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 ואת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:</a:t>
            </a:r>
            <a:br>
              <a:rPr lang="en-US" sz="1600" dirty="0">
                <a:latin typeface="David" pitchFamily="34" charset="-79"/>
                <a:cs typeface="David" pitchFamily="34" charset="-79"/>
              </a:rPr>
            </a:br>
            <a:r>
              <a:rPr lang="he-IL" sz="1600" dirty="0">
                <a:latin typeface="David" pitchFamily="34" charset="-79"/>
                <a:cs typeface="David" pitchFamily="34" charset="-79"/>
              </a:rPr>
              <a:t>ראשית </a:t>
            </a:r>
            <a:r>
              <a:rPr lang="he-IL" sz="1600" b="1" dirty="0">
                <a:latin typeface="David" pitchFamily="34" charset="-79"/>
                <a:cs typeface="David" pitchFamily="34" charset="-79"/>
              </a:rPr>
              <a:t>מצאו את שיפועי שלושת המקטעים 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של עקומת התמורה הנתונה: </a:t>
            </a:r>
          </a:p>
          <a:p>
            <a:pPr marL="0" indent="0" algn="r" rtl="1"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algn="r" rtl="1"/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29</a:t>
            </a:fld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83568" y="1710332"/>
            <a:ext cx="6070501" cy="35946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47116" y="5135931"/>
            <a:ext cx="679242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א. מהי העלות האלטרנטיבית השולית לייצור 13 יח'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50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25460" y="5626409"/>
            <a:ext cx="63421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מהי העלות האלטרנטיבית השולית לייצור 10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90800" y="5986941"/>
            <a:ext cx="63767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מהי העלות האלטרנטיבית השולית לייצור 14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54689" y="5100493"/>
            <a:ext cx="1544614" cy="430887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א. 1 יחידת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</a:rPr>
              <a:t>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1339" y="5633259"/>
            <a:ext cx="161131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r" rtl="1"/>
            <a:r>
              <a:rPr lang="he-IL" kern="0" dirty="0">
                <a:solidFill>
                  <a:prstClr val="black"/>
                </a:solidFill>
                <a:latin typeface="Lucida Sans Unicode"/>
                <a:cs typeface="Arial" panose="020B0604020202020204" pitchFamily="34" charset="0"/>
              </a:rPr>
              <a:t>ב. 1 יחידת </a:t>
            </a:r>
            <a:r>
              <a:rPr lang="en-US" kern="0" dirty="0">
                <a:solidFill>
                  <a:prstClr val="black"/>
                </a:solidFill>
                <a:latin typeface="Lucida Sans Unicode"/>
              </a:rPr>
              <a:t>Y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373798" y="5986941"/>
            <a:ext cx="1324401" cy="5078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 lvl="0" algn="r" rtl="1">
              <a:lnSpc>
                <a:spcPct val="150000"/>
              </a:lnSpc>
              <a:defRPr/>
            </a:pPr>
            <a:r>
              <a:rPr lang="he-IL" kern="0" dirty="0">
                <a:solidFill>
                  <a:prstClr val="black"/>
                </a:solidFill>
                <a:latin typeface="Lucida Sans Unicode"/>
                <a:cs typeface="Arial" panose="020B0604020202020204" pitchFamily="34" charset="0"/>
              </a:rPr>
              <a:t>ג. 5 יחידת </a:t>
            </a:r>
            <a:r>
              <a:rPr lang="en-US" kern="0" dirty="0">
                <a:solidFill>
                  <a:prstClr val="black"/>
                </a:solidFill>
                <a:latin typeface="Lucida Sans Unicode"/>
              </a:rPr>
              <a:t>Y</a:t>
            </a:r>
            <a:endParaRPr lang="he-IL" kern="0" dirty="0">
              <a:solidFill>
                <a:prstClr val="black"/>
              </a:solidFill>
              <a:latin typeface="Lucida Sans Unicode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BFA77C-6B86-4941-A0B1-F6CF40657AE4}"/>
                  </a:ext>
                </a:extLst>
              </p:cNvPr>
              <p:cNvSpPr txBox="1"/>
              <p:nvPr/>
            </p:nvSpPr>
            <p:spPr>
              <a:xfrm>
                <a:off x="2447275" y="2770833"/>
                <a:ext cx="504056" cy="484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kumimoji="0" lang="he-IL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kumimoji="0" lang="he-IL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cs typeface="Arial" panose="020B0604020202020204" pitchFamily="34" charset="0"/>
                  </a:rPr>
                  <a:t> -</a:t>
                </a:r>
                <a:endParaRPr lang="en-IL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BFA77C-6B86-4941-A0B1-F6CF40657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275" y="2770833"/>
                <a:ext cx="504056" cy="484876"/>
              </a:xfrm>
              <a:prstGeom prst="rect">
                <a:avLst/>
              </a:prstGeom>
              <a:blipFill>
                <a:blip r:embed="rId3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1821706-37C6-475F-9C14-510ADF27F945}"/>
              </a:ext>
            </a:extLst>
          </p:cNvPr>
          <p:cNvSpPr txBox="1"/>
          <p:nvPr/>
        </p:nvSpPr>
        <p:spPr>
          <a:xfrm>
            <a:off x="3833327" y="3772655"/>
            <a:ext cx="440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1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-</a:t>
            </a:r>
            <a:endParaRPr lang="en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7959CD-5F62-4527-BDEE-9D6F07B3150D}"/>
              </a:ext>
            </a:extLst>
          </p:cNvPr>
          <p:cNvSpPr txBox="1"/>
          <p:nvPr/>
        </p:nvSpPr>
        <p:spPr>
          <a:xfrm>
            <a:off x="4268531" y="4674494"/>
            <a:ext cx="4402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5-</a:t>
            </a:r>
            <a:endParaRPr lang="en-IL" sz="1400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16F57D5E-CE57-77EA-4994-875B06E49F96}"/>
              </a:ext>
            </a:extLst>
          </p:cNvPr>
          <p:cNvSpPr txBox="1"/>
          <p:nvPr/>
        </p:nvSpPr>
        <p:spPr>
          <a:xfrm>
            <a:off x="3718818" y="6556145"/>
            <a:ext cx="4624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**MC= Marginal (Opportunity) Cost=</a:t>
            </a:r>
            <a:r>
              <a:rPr lang="he-IL" sz="12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עלות (אלטרנטיבית) שולית</a:t>
            </a:r>
            <a:endParaRPr lang="en-IL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69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 animBg="1"/>
      <p:bldP spid="4" grpId="0" animBg="1"/>
      <p:bldP spid="10" grpId="0" animBg="1"/>
      <p:bldP spid="13" grpId="0"/>
      <p:bldP spid="14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עלות אלטרנטיבית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15892" y="1417638"/>
            <a:ext cx="8332340" cy="60960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600" dirty="0">
                <a:latin typeface="David" pitchFamily="34" charset="-79"/>
                <a:cs typeface="David" pitchFamily="34" charset="-79"/>
              </a:rPr>
              <a:t>להלן עקומת תמורה של משק ובו 3 גורמי ייצור המייצרים 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 ואת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: </a:t>
            </a:r>
          </a:p>
          <a:p>
            <a:pPr marL="0" indent="0" algn="r" rtl="1"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algn="r" rtl="1"/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35098" y="1676400"/>
            <a:ext cx="6070501" cy="35946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81200" y="5282506"/>
            <a:ext cx="679242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א. מהי העלות האלטרנטיבית השולית לייצור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 יח'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50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56097" y="5722690"/>
            <a:ext cx="6951708" cy="416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מהי העלות האלטרנטיבית השולית לייצור 10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46539" y="6153226"/>
            <a:ext cx="7021029" cy="416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מהי העלות האלטרנטיבית השולית לייצור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E444A6-2B8D-4337-A819-166B0362B368}"/>
              </a:ext>
            </a:extLst>
          </p:cNvPr>
          <p:cNvSpPr txBox="1"/>
          <p:nvPr/>
        </p:nvSpPr>
        <p:spPr>
          <a:xfrm>
            <a:off x="1026137" y="2476643"/>
            <a:ext cx="504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3</a:t>
            </a:r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018C1F-2EF8-40BB-8286-97384346D7B2}"/>
              </a:ext>
            </a:extLst>
          </p:cNvPr>
          <p:cNvSpPr txBox="1"/>
          <p:nvPr/>
        </p:nvSpPr>
        <p:spPr>
          <a:xfrm>
            <a:off x="3256319" y="3170238"/>
            <a:ext cx="4402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1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4F0722-25AD-4B56-A417-494977048C6C}"/>
                  </a:ext>
                </a:extLst>
              </p:cNvPr>
              <p:cNvSpPr txBox="1"/>
              <p:nvPr/>
            </p:nvSpPr>
            <p:spPr>
              <a:xfrm>
                <a:off x="4130659" y="4172346"/>
                <a:ext cx="440275" cy="554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he-IL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e-IL" sz="16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IL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4F0722-25AD-4B56-A417-494977048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659" y="4172346"/>
                <a:ext cx="440275" cy="554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B21B5D-B8A1-45BF-B8D5-B4A3D390CFAB}"/>
                  </a:ext>
                </a:extLst>
              </p:cNvPr>
              <p:cNvSpPr txBox="1"/>
              <p:nvPr/>
            </p:nvSpPr>
            <p:spPr>
              <a:xfrm>
                <a:off x="2447275" y="2770833"/>
                <a:ext cx="504056" cy="484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kumimoji="0" lang="he-IL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kumimoji="0" lang="he-IL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cs typeface="Arial" panose="020B0604020202020204" pitchFamily="34" charset="0"/>
                  </a:rPr>
                  <a:t> -</a:t>
                </a:r>
                <a:endParaRPr lang="en-IL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B21B5D-B8A1-45BF-B8D5-B4A3D390C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275" y="2770833"/>
                <a:ext cx="504056" cy="484876"/>
              </a:xfrm>
              <a:prstGeom prst="rect">
                <a:avLst/>
              </a:prstGeom>
              <a:blipFill>
                <a:blip r:embed="rId4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84BDE1D-4B16-4A33-B569-5985BD4F34B8}"/>
              </a:ext>
            </a:extLst>
          </p:cNvPr>
          <p:cNvSpPr txBox="1"/>
          <p:nvPr/>
        </p:nvSpPr>
        <p:spPr>
          <a:xfrm>
            <a:off x="3833327" y="3772655"/>
            <a:ext cx="440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1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-</a:t>
            </a:r>
            <a:endParaRPr lang="en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3C320C-5BFC-4E88-B4AC-E105D68F1B36}"/>
              </a:ext>
            </a:extLst>
          </p:cNvPr>
          <p:cNvSpPr txBox="1"/>
          <p:nvPr/>
        </p:nvSpPr>
        <p:spPr>
          <a:xfrm>
            <a:off x="4239338" y="4644237"/>
            <a:ext cx="4402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5-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281862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24FF6-CB5B-CECE-BB1D-047826D5B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8FB9FAF-3B1B-0611-D07F-67A07DAC8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עלות אלטרנטיבית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88A7A-4D6A-0CE6-22FB-C763672EE61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15892" y="1417638"/>
            <a:ext cx="8332340" cy="60960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600" dirty="0">
                <a:latin typeface="David" pitchFamily="34" charset="-79"/>
                <a:cs typeface="David" pitchFamily="34" charset="-79"/>
              </a:rPr>
              <a:t>להלן עקומת תמורה של משק ובו 3 גורמי ייצור המייצרים 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X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 ואת מוצר </a:t>
            </a:r>
            <a:r>
              <a:rPr lang="en-US" sz="1600" dirty="0">
                <a:latin typeface="David" pitchFamily="34" charset="-79"/>
                <a:cs typeface="David" pitchFamily="34" charset="-79"/>
              </a:rPr>
              <a:t>Y</a:t>
            </a:r>
            <a:r>
              <a:rPr lang="he-IL" sz="1600" dirty="0">
                <a:latin typeface="David" pitchFamily="34" charset="-79"/>
                <a:cs typeface="David" pitchFamily="34" charset="-79"/>
              </a:rPr>
              <a:t>: </a:t>
            </a:r>
          </a:p>
          <a:p>
            <a:pPr marL="0" indent="0" algn="r" rtl="1"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algn="r" rtl="1"/>
            <a:endParaRPr lang="he-IL" sz="20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9B7137-0B5B-A4A2-C912-C3D177D0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3E1373-3FF1-5164-1914-46AFA36346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5098" y="1676400"/>
            <a:ext cx="6070501" cy="35946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E645A4-93CA-49C2-32BF-DC60CE769CF0}"/>
              </a:ext>
            </a:extLst>
          </p:cNvPr>
          <p:cNvSpPr/>
          <p:nvPr/>
        </p:nvSpPr>
        <p:spPr>
          <a:xfrm>
            <a:off x="1981200" y="5282506"/>
            <a:ext cx="679242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א. מהי העלות האלטרנטיבית השולית לייצור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 יח'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50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D9C611-1107-96AF-6F9D-BFDE3E7DBFF2}"/>
              </a:ext>
            </a:extLst>
          </p:cNvPr>
          <p:cNvSpPr/>
          <p:nvPr/>
        </p:nvSpPr>
        <p:spPr>
          <a:xfrm>
            <a:off x="2056097" y="5722690"/>
            <a:ext cx="6951708" cy="416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מהי העלות האלטרנטיבית השולית לייצור 10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A5C1D3-5D9C-5FA8-FC24-AACCE93EC827}"/>
              </a:ext>
            </a:extLst>
          </p:cNvPr>
          <p:cNvSpPr/>
          <p:nvPr/>
        </p:nvSpPr>
        <p:spPr>
          <a:xfrm>
            <a:off x="1946539" y="6153226"/>
            <a:ext cx="7021029" cy="416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מהי העלות האלטרנטיבית השולית לייצור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יח'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7606EE-0EB0-4A61-DED1-17E0A136C6A4}"/>
              </a:ext>
            </a:extLst>
          </p:cNvPr>
          <p:cNvSpPr/>
          <p:nvPr/>
        </p:nvSpPr>
        <p:spPr>
          <a:xfrm>
            <a:off x="1220077" y="5271923"/>
            <a:ext cx="1522245" cy="430887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א. 1 יחידת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2FFC83-727D-0AA6-47CE-F1137AB0347B}"/>
              </a:ext>
            </a:extLst>
          </p:cNvPr>
          <p:cNvSpPr txBox="1"/>
          <p:nvPr/>
        </p:nvSpPr>
        <p:spPr>
          <a:xfrm>
            <a:off x="1026137" y="2476643"/>
            <a:ext cx="504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3</a:t>
            </a:r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20402E-BD34-E7C0-30E8-7B439F3FD658}"/>
              </a:ext>
            </a:extLst>
          </p:cNvPr>
          <p:cNvSpPr txBox="1"/>
          <p:nvPr/>
        </p:nvSpPr>
        <p:spPr>
          <a:xfrm>
            <a:off x="3256319" y="3170238"/>
            <a:ext cx="4402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1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70B34E-87EA-400A-DFD3-D3C9E968DE53}"/>
                  </a:ext>
                </a:extLst>
              </p:cNvPr>
              <p:cNvSpPr txBox="1"/>
              <p:nvPr/>
            </p:nvSpPr>
            <p:spPr>
              <a:xfrm>
                <a:off x="4130659" y="4172346"/>
                <a:ext cx="440275" cy="554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he-IL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e-IL" sz="16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IL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4F0722-25AD-4B56-A417-494977048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659" y="4172346"/>
                <a:ext cx="440275" cy="554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60FF82-3C62-A49F-8B41-4FC57D0080C6}"/>
                  </a:ext>
                </a:extLst>
              </p:cNvPr>
              <p:cNvSpPr txBox="1"/>
              <p:nvPr/>
            </p:nvSpPr>
            <p:spPr>
              <a:xfrm>
                <a:off x="2447275" y="2770833"/>
                <a:ext cx="504056" cy="484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kumimoji="0" lang="he-IL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kumimoji="0" lang="he-IL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cs typeface="Arial" panose="020B0604020202020204" pitchFamily="34" charset="0"/>
                  </a:rPr>
                  <a:t> -</a:t>
                </a:r>
                <a:endParaRPr lang="en-IL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B21B5D-B8A1-45BF-B8D5-B4A3D390C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275" y="2770833"/>
                <a:ext cx="504056" cy="484876"/>
              </a:xfrm>
              <a:prstGeom prst="rect">
                <a:avLst/>
              </a:prstGeom>
              <a:blipFill>
                <a:blip r:embed="rId4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F958952-C477-1D4E-947A-E5D983A80161}"/>
              </a:ext>
            </a:extLst>
          </p:cNvPr>
          <p:cNvSpPr txBox="1"/>
          <p:nvPr/>
        </p:nvSpPr>
        <p:spPr>
          <a:xfrm>
            <a:off x="3833327" y="3772655"/>
            <a:ext cx="440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1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-</a:t>
            </a:r>
            <a:endParaRPr lang="en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90BCF0-63B6-15E0-E5E3-DF6FDCD90446}"/>
              </a:ext>
            </a:extLst>
          </p:cNvPr>
          <p:cNvSpPr txBox="1"/>
          <p:nvPr/>
        </p:nvSpPr>
        <p:spPr>
          <a:xfrm>
            <a:off x="4239338" y="4644237"/>
            <a:ext cx="4402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5-</a:t>
            </a:r>
            <a:endParaRPr lang="en-IL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1188DD-8793-AF84-D348-809AFCCD0DAA}"/>
              </a:ext>
            </a:extLst>
          </p:cNvPr>
          <p:cNvSpPr/>
          <p:nvPr/>
        </p:nvSpPr>
        <p:spPr>
          <a:xfrm>
            <a:off x="1231360" y="5733950"/>
            <a:ext cx="1522245" cy="430887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ב. 3 יחידת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</a:rPr>
              <a:t>X</a:t>
            </a:r>
            <a:endParaRPr kumimoji="0" lang="he-IL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87605A-7C83-1E15-333B-74D37E7BAAC7}"/>
              </a:ext>
            </a:extLst>
          </p:cNvPr>
          <p:cNvSpPr/>
          <p:nvPr/>
        </p:nvSpPr>
        <p:spPr>
          <a:xfrm>
            <a:off x="1193831" y="6194015"/>
            <a:ext cx="1522245" cy="430887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cs typeface="Arial" panose="020B0604020202020204" pitchFamily="34" charset="0"/>
              </a:rPr>
              <a:t>ג. 1/5 יחידת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</a:rPr>
              <a:t>X</a:t>
            </a:r>
            <a:endParaRPr kumimoji="0" lang="he-IL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71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 animBg="1"/>
      <p:bldP spid="10" grpId="0"/>
      <p:bldP spid="12" grpId="0"/>
      <p:bldP spid="13" grpId="0"/>
      <p:bldP spid="17" grpId="0" animBg="1"/>
      <p:bldP spid="18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רחבה">
  <a:themeElements>
    <a:clrScheme name="רחבה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רחבה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רחבה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14821</TotalTime>
  <Words>3420</Words>
  <Application>Microsoft Office PowerPoint</Application>
  <PresentationFormat>‫הצגה על המסך (4:3)</PresentationFormat>
  <Paragraphs>523</Paragraphs>
  <Slides>31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11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31</vt:i4>
      </vt:variant>
    </vt:vector>
  </HeadingPairs>
  <TitlesOfParts>
    <vt:vector size="43" baseType="lpstr">
      <vt:lpstr>Arial</vt:lpstr>
      <vt:lpstr>Calibri</vt:lpstr>
      <vt:lpstr>Cambria Math</vt:lpstr>
      <vt:lpstr>David</vt:lpstr>
      <vt:lpstr>Franklin Gothic Book</vt:lpstr>
      <vt:lpstr>Lucida Sans Unicode</vt:lpstr>
      <vt:lpstr>Perpetua</vt:lpstr>
      <vt:lpstr>Verdana</vt:lpstr>
      <vt:lpstr>Wingdings</vt:lpstr>
      <vt:lpstr>Wingdings 2</vt:lpstr>
      <vt:lpstr>Wingdings 3</vt:lpstr>
      <vt:lpstr>רחבה</vt:lpstr>
      <vt:lpstr>תרגול מס' 1 –  מבוא למיקרו כלכלה </vt:lpstr>
      <vt:lpstr>הקדמה ונהלים</vt:lpstr>
      <vt:lpstr>תחום מיקרו כלכלה</vt:lpstr>
      <vt:lpstr>חזרה על מתמטיקה – משוואת קו ליניארי</vt:lpstr>
      <vt:lpstr>משוואת קו ליניארי</vt:lpstr>
      <vt:lpstr>משוואת קו ליניארי</vt:lpstr>
      <vt:lpstr>משוואת קו ליניארי</vt:lpstr>
      <vt:lpstr>תחום מיקרו כלכלה</vt:lpstr>
      <vt:lpstr>הגדרות</vt:lpstr>
      <vt:lpstr>עלויות אלטרנטיביות</vt:lpstr>
      <vt:lpstr>עלות אלטרנטיבית</vt:lpstr>
      <vt:lpstr>עלות אלטרנטיבית</vt:lpstr>
      <vt:lpstr>עלויות אלטרנטיביות</vt:lpstr>
      <vt:lpstr>עלות אלטרנטיבית</vt:lpstr>
      <vt:lpstr>עלות אלטרנטיבית</vt:lpstr>
      <vt:lpstr>הגדרות</vt:lpstr>
      <vt:lpstr>הגדרות</vt:lpstr>
      <vt:lpstr>תרגיל חישוב עלויות אלט' שוליות</vt:lpstr>
      <vt:lpstr>תרגיל חישוב עלויות אלט' שוליות</vt:lpstr>
      <vt:lpstr>הגדרות</vt:lpstr>
      <vt:lpstr>תרגיל חישוב עלויות אלט' שוליות</vt:lpstr>
      <vt:lpstr>תרגיל חישוב עלויות אלט' שוליות</vt:lpstr>
      <vt:lpstr>דוגמא</vt:lpstr>
      <vt:lpstr>דוגמא</vt:lpstr>
      <vt:lpstr>דוגמא</vt:lpstr>
      <vt:lpstr>עלות אלטרנטיבית</vt:lpstr>
      <vt:lpstr>עלות אלטרנטיבית</vt:lpstr>
      <vt:lpstr>עלות אלטרנטיבית</vt:lpstr>
      <vt:lpstr>עלות אלטרנטיבית</vt:lpstr>
      <vt:lpstr>עלות אלטרנטיבית</vt:lpstr>
      <vt:lpstr>עלות אלטרנטיבית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מבוא למיקרו כלכלה  עקומת התמורה – חלק א'</dc:title>
  <dc:creator>Michaela</dc:creator>
  <cp:lastModifiedBy>איתן משקוביץ</cp:lastModifiedBy>
  <cp:revision>145</cp:revision>
  <dcterms:created xsi:type="dcterms:W3CDTF">2014-11-10T16:48:44Z</dcterms:created>
  <dcterms:modified xsi:type="dcterms:W3CDTF">2025-11-05T11:08:31Z</dcterms:modified>
</cp:coreProperties>
</file>