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3648" r:id="rId1"/>
    <p:sldMasterId id="2147483684" r:id="rId2"/>
    <p:sldMasterId id="2147483696" r:id="rId3"/>
    <p:sldMasterId id="2147483708" r:id="rId4"/>
  </p:sldMasterIdLst>
  <p:notesMasterIdLst>
    <p:notesMasterId r:id="rId51"/>
  </p:notesMasterIdLst>
  <p:sldIdLst>
    <p:sldId id="391" r:id="rId5"/>
    <p:sldId id="431" r:id="rId6"/>
    <p:sldId id="277" r:id="rId7"/>
    <p:sldId id="658" r:id="rId8"/>
    <p:sldId id="276" r:id="rId9"/>
    <p:sldId id="659" r:id="rId10"/>
    <p:sldId id="487" r:id="rId11"/>
    <p:sldId id="283" r:id="rId12"/>
    <p:sldId id="537" r:id="rId13"/>
    <p:sldId id="505" r:id="rId14"/>
    <p:sldId id="538" r:id="rId15"/>
    <p:sldId id="297" r:id="rId16"/>
    <p:sldId id="299" r:id="rId17"/>
    <p:sldId id="298" r:id="rId18"/>
    <p:sldId id="302" r:id="rId19"/>
    <p:sldId id="303" r:id="rId20"/>
    <p:sldId id="306" r:id="rId21"/>
    <p:sldId id="309" r:id="rId22"/>
    <p:sldId id="519" r:id="rId23"/>
    <p:sldId id="259" r:id="rId24"/>
    <p:sldId id="517" r:id="rId25"/>
    <p:sldId id="434" r:id="rId26"/>
    <p:sldId id="435" r:id="rId27"/>
    <p:sldId id="436" r:id="rId28"/>
    <p:sldId id="504" r:id="rId29"/>
    <p:sldId id="258" r:id="rId30"/>
    <p:sldId id="488" r:id="rId31"/>
    <p:sldId id="489" r:id="rId32"/>
    <p:sldId id="503" r:id="rId33"/>
    <p:sldId id="512" r:id="rId34"/>
    <p:sldId id="513" r:id="rId35"/>
    <p:sldId id="514" r:id="rId36"/>
    <p:sldId id="515" r:id="rId37"/>
    <p:sldId id="267" r:id="rId38"/>
    <p:sldId id="472" r:id="rId39"/>
    <p:sldId id="469" r:id="rId40"/>
    <p:sldId id="471" r:id="rId41"/>
    <p:sldId id="361" r:id="rId42"/>
    <p:sldId id="539" r:id="rId43"/>
    <p:sldId id="508" r:id="rId44"/>
    <p:sldId id="655" r:id="rId45"/>
    <p:sldId id="656" r:id="rId46"/>
    <p:sldId id="657" r:id="rId47"/>
    <p:sldId id="521" r:id="rId48"/>
    <p:sldId id="518" r:id="rId49"/>
    <p:sldId id="660" r:id="rId50"/>
  </p:sldIdLst>
  <p:sldSz cx="12192000" cy="6858000"/>
  <p:notesSz cx="7099300" cy="10234613"/>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F7DDF9"/>
    <a:srgbClr val="06060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0162" autoAdjust="0"/>
    <p:restoredTop sz="94404" autoAdjust="0"/>
  </p:normalViewPr>
  <p:slideViewPr>
    <p:cSldViewPr snapToGrid="0">
      <p:cViewPr varScale="1">
        <p:scale>
          <a:sx n="62" d="100"/>
          <a:sy n="62" d="100"/>
        </p:scale>
        <p:origin x="66" y="390"/>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4022937" y="0"/>
            <a:ext cx="3076363" cy="513508"/>
          </a:xfrm>
          <a:prstGeom prst="rect">
            <a:avLst/>
          </a:prstGeom>
        </p:spPr>
        <p:txBody>
          <a:bodyPr vert="horz" lIns="99048" tIns="49524" rIns="99048" bIns="49524" rtlCol="1"/>
          <a:lstStyle>
            <a:lvl1pPr algn="r">
              <a:defRPr sz="1300"/>
            </a:lvl1pPr>
          </a:lstStyle>
          <a:p>
            <a:endParaRPr lang="he-IL"/>
          </a:p>
        </p:txBody>
      </p:sp>
      <p:sp>
        <p:nvSpPr>
          <p:cNvPr id="3" name="מציין מיקום של תאריך 2"/>
          <p:cNvSpPr>
            <a:spLocks noGrp="1"/>
          </p:cNvSpPr>
          <p:nvPr>
            <p:ph type="dt" idx="1"/>
          </p:nvPr>
        </p:nvSpPr>
        <p:spPr>
          <a:xfrm>
            <a:off x="1644" y="0"/>
            <a:ext cx="3076363" cy="513508"/>
          </a:xfrm>
          <a:prstGeom prst="rect">
            <a:avLst/>
          </a:prstGeom>
        </p:spPr>
        <p:txBody>
          <a:bodyPr vert="horz" lIns="99048" tIns="49524" rIns="99048" bIns="49524" rtlCol="1"/>
          <a:lstStyle>
            <a:lvl1pPr algn="l">
              <a:defRPr sz="1300"/>
            </a:lvl1pPr>
          </a:lstStyle>
          <a:p>
            <a:fld id="{7281268D-D0F9-4339-8AC4-FC73E7FD81CF}" type="datetimeFigureOut">
              <a:rPr lang="he-IL" smtClean="0"/>
              <a:t>כ'/טבת/תשפ"ו</a:t>
            </a:fld>
            <a:endParaRPr lang="he-IL"/>
          </a:p>
        </p:txBody>
      </p:sp>
      <p:sp>
        <p:nvSpPr>
          <p:cNvPr id="4" name="מציין מיקום של תמונת שקופית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9048" tIns="49524" rIns="99048" bIns="49524" rtlCol="1" anchor="ctr"/>
          <a:lstStyle/>
          <a:p>
            <a:endParaRPr lang="he-IL"/>
          </a:p>
        </p:txBody>
      </p:sp>
      <p:sp>
        <p:nvSpPr>
          <p:cNvPr id="5" name="מציין מיקום של הערות 4"/>
          <p:cNvSpPr>
            <a:spLocks noGrp="1"/>
          </p:cNvSpPr>
          <p:nvPr>
            <p:ph type="body" sz="quarter" idx="3"/>
          </p:nvPr>
        </p:nvSpPr>
        <p:spPr>
          <a:xfrm>
            <a:off x="709930" y="4925407"/>
            <a:ext cx="5679440" cy="4029879"/>
          </a:xfrm>
          <a:prstGeom prst="rect">
            <a:avLst/>
          </a:prstGeom>
        </p:spPr>
        <p:txBody>
          <a:bodyPr vert="horz" lIns="99048" tIns="49524" rIns="99048" bIns="49524"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4022937" y="9721107"/>
            <a:ext cx="3076363" cy="513507"/>
          </a:xfrm>
          <a:prstGeom prst="rect">
            <a:avLst/>
          </a:prstGeom>
        </p:spPr>
        <p:txBody>
          <a:bodyPr vert="horz" lIns="99048" tIns="49524" rIns="99048" bIns="49524" rtlCol="1" anchor="b"/>
          <a:lstStyle>
            <a:lvl1pPr algn="r">
              <a:defRPr sz="1300"/>
            </a:lvl1pPr>
          </a:lstStyle>
          <a:p>
            <a:endParaRPr lang="he-IL"/>
          </a:p>
        </p:txBody>
      </p:sp>
      <p:sp>
        <p:nvSpPr>
          <p:cNvPr id="7" name="מציין מיקום של מספר שקופית 6"/>
          <p:cNvSpPr>
            <a:spLocks noGrp="1"/>
          </p:cNvSpPr>
          <p:nvPr>
            <p:ph type="sldNum" sz="quarter" idx="5"/>
          </p:nvPr>
        </p:nvSpPr>
        <p:spPr>
          <a:xfrm>
            <a:off x="1644" y="9721107"/>
            <a:ext cx="3076363" cy="513507"/>
          </a:xfrm>
          <a:prstGeom prst="rect">
            <a:avLst/>
          </a:prstGeom>
        </p:spPr>
        <p:txBody>
          <a:bodyPr vert="horz" lIns="99048" tIns="49524" rIns="99048" bIns="49524" rtlCol="1" anchor="b"/>
          <a:lstStyle>
            <a:lvl1pPr algn="l">
              <a:defRPr sz="1300"/>
            </a:lvl1pPr>
          </a:lstStyle>
          <a:p>
            <a:fld id="{B87A51C3-D7A7-4AE0-B95D-CA1648E7F7C5}" type="slidenum">
              <a:rPr lang="he-IL" smtClean="0"/>
              <a:t>‹#›</a:t>
            </a:fld>
            <a:endParaRPr lang="he-IL"/>
          </a:p>
        </p:txBody>
      </p:sp>
    </p:spTree>
    <p:extLst>
      <p:ext uri="{BB962C8B-B14F-4D97-AF65-F5344CB8AC3E}">
        <p14:creationId xmlns:p14="http://schemas.microsoft.com/office/powerpoint/2010/main" val="174846068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10"/>
          </p:nvPr>
        </p:nvSpPr>
        <p:spPr/>
        <p:txBody>
          <a:bodyPr/>
          <a:lstStyle/>
          <a:p>
            <a:fld id="{9EAFDAF1-DD2B-49E2-9590-ACBB8724862D}" type="slidenum">
              <a:rPr lang="en-US" smtClean="0"/>
              <a:t>1</a:t>
            </a:fld>
            <a:endParaRPr lang="en-US"/>
          </a:p>
        </p:txBody>
      </p:sp>
    </p:spTree>
    <p:extLst>
      <p:ext uri="{BB962C8B-B14F-4D97-AF65-F5344CB8AC3E}">
        <p14:creationId xmlns:p14="http://schemas.microsoft.com/office/powerpoint/2010/main" val="4224948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D4CB3E42-5139-4E3F-BE0D-8A7CD3B744ED}" type="slidenum">
              <a:rPr lang="he-IL" smtClean="0"/>
              <a:t>18</a:t>
            </a:fld>
            <a:endParaRPr lang="he-IL"/>
          </a:p>
        </p:txBody>
      </p:sp>
    </p:spTree>
    <p:extLst>
      <p:ext uri="{BB962C8B-B14F-4D97-AF65-F5344CB8AC3E}">
        <p14:creationId xmlns:p14="http://schemas.microsoft.com/office/powerpoint/2010/main" val="1971984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D4CB3E42-5139-4E3F-BE0D-8A7CD3B744ED}" type="slidenum">
              <a:rPr lang="he-IL" smtClean="0"/>
              <a:t>19</a:t>
            </a:fld>
            <a:endParaRPr lang="he-IL"/>
          </a:p>
        </p:txBody>
      </p:sp>
    </p:spTree>
    <p:extLst>
      <p:ext uri="{BB962C8B-B14F-4D97-AF65-F5344CB8AC3E}">
        <p14:creationId xmlns:p14="http://schemas.microsoft.com/office/powerpoint/2010/main" val="2410753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B87A51C3-D7A7-4AE0-B95D-CA1648E7F7C5}" type="slidenum">
              <a:rPr lang="he-IL" smtClean="0">
                <a:solidFill>
                  <a:prstClr val="black"/>
                </a:solidFill>
              </a:rPr>
              <a:pPr/>
              <a:t>31</a:t>
            </a:fld>
            <a:endParaRPr lang="he-IL">
              <a:solidFill>
                <a:prstClr val="black"/>
              </a:solidFill>
            </a:endParaRPr>
          </a:p>
        </p:txBody>
      </p:sp>
    </p:spTree>
    <p:extLst>
      <p:ext uri="{BB962C8B-B14F-4D97-AF65-F5344CB8AC3E}">
        <p14:creationId xmlns:p14="http://schemas.microsoft.com/office/powerpoint/2010/main" val="3160584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עבור תגבור</a:t>
            </a:r>
            <a:endParaRPr lang="en-IL" dirty="0"/>
          </a:p>
        </p:txBody>
      </p:sp>
      <p:sp>
        <p:nvSpPr>
          <p:cNvPr id="4" name="Slide Number Placeholder 3"/>
          <p:cNvSpPr>
            <a:spLocks noGrp="1"/>
          </p:cNvSpPr>
          <p:nvPr>
            <p:ph type="sldNum" sz="quarter" idx="5"/>
          </p:nvPr>
        </p:nvSpPr>
        <p:spPr/>
        <p:txBody>
          <a:bodyPr/>
          <a:lstStyle/>
          <a:p>
            <a:fld id="{B87A51C3-D7A7-4AE0-B95D-CA1648E7F7C5}" type="slidenum">
              <a:rPr lang="he-IL" smtClean="0"/>
              <a:t>45</a:t>
            </a:fld>
            <a:endParaRPr lang="he-IL"/>
          </a:p>
        </p:txBody>
      </p:sp>
    </p:spTree>
    <p:extLst>
      <p:ext uri="{BB962C8B-B14F-4D97-AF65-F5344CB8AC3E}">
        <p14:creationId xmlns:p14="http://schemas.microsoft.com/office/powerpoint/2010/main" val="2007777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2878-4F8F-53C2-2519-A3D0031C42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904F4-3649-3C66-DF8C-5F05056A06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8A9AE4-8CD6-984C-0F65-FA86AD8ED235}"/>
              </a:ext>
            </a:extLst>
          </p:cNvPr>
          <p:cNvSpPr>
            <a:spLocks noGrp="1"/>
          </p:cNvSpPr>
          <p:nvPr>
            <p:ph type="body" idx="1"/>
          </p:nvPr>
        </p:nvSpPr>
        <p:spPr/>
        <p:txBody>
          <a:bodyPr/>
          <a:lstStyle/>
          <a:p>
            <a:r>
              <a:rPr lang="he-IL" dirty="0"/>
              <a:t>עבור תגבור</a:t>
            </a:r>
            <a:endParaRPr lang="en-IL" dirty="0"/>
          </a:p>
        </p:txBody>
      </p:sp>
      <p:sp>
        <p:nvSpPr>
          <p:cNvPr id="4" name="Slide Number Placeholder 3">
            <a:extLst>
              <a:ext uri="{FF2B5EF4-FFF2-40B4-BE49-F238E27FC236}">
                <a16:creationId xmlns:a16="http://schemas.microsoft.com/office/drawing/2014/main" id="{1A340EDF-D29A-8A56-2855-D88D7C384E55}"/>
              </a:ext>
            </a:extLst>
          </p:cNvPr>
          <p:cNvSpPr>
            <a:spLocks noGrp="1"/>
          </p:cNvSpPr>
          <p:nvPr>
            <p:ph type="sldNum" sz="quarter" idx="5"/>
          </p:nvPr>
        </p:nvSpPr>
        <p:spPr/>
        <p:txBody>
          <a:bodyPr/>
          <a:lstStyle/>
          <a:p>
            <a:fld id="{B87A51C3-D7A7-4AE0-B95D-CA1648E7F7C5}" type="slidenum">
              <a:rPr lang="he-IL" smtClean="0"/>
              <a:t>46</a:t>
            </a:fld>
            <a:endParaRPr lang="he-IL"/>
          </a:p>
        </p:txBody>
      </p:sp>
    </p:spTree>
    <p:extLst>
      <p:ext uri="{BB962C8B-B14F-4D97-AF65-F5344CB8AC3E}">
        <p14:creationId xmlns:p14="http://schemas.microsoft.com/office/powerpoint/2010/main" val="2403729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FBAE8DB-14DA-4A44-B7A2-D14F91560996}" type="datetime8">
              <a:rPr lang="he-IL" smtClean="0"/>
              <a:t>09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3958115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43BFCA6B-8B65-4F97-899C-22DFF02D76A8}" type="datetime8">
              <a:rPr lang="he-IL" smtClean="0"/>
              <a:t>09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2785542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1785767D-A391-4425-87D6-04DF0887B84A}" type="datetime8">
              <a:rPr lang="he-IL" smtClean="0"/>
              <a:t>09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1920742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D5785FAF-0D78-49E4-8A40-FCBD26DDA1D1}" type="datetime8">
              <a:rPr lang="he-IL" smtClean="0"/>
              <a:t>09 ינואר 26</a:t>
            </a:fld>
            <a:endParaRPr lang="he-IL"/>
          </a:p>
        </p:txBody>
      </p:sp>
      <p:sp>
        <p:nvSpPr>
          <p:cNvPr id="6" name="מציין מיקום של כותרת תחתונה 5"/>
          <p:cNvSpPr>
            <a:spLocks noGrp="1"/>
          </p:cNvSpPr>
          <p:nvPr>
            <p:ph type="ftr" sz="quarter" idx="11"/>
          </p:nvPr>
        </p:nvSpPr>
        <p:spPr/>
        <p:txBody>
          <a:bodyPr/>
          <a:lstStyle/>
          <a:p>
            <a:r>
              <a:rPr lang="he-IL"/>
              <a:t>מבוא למיקרו כלכלה - תרגיל מספר 5</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2142007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5F3002B9-64BC-4A0B-B381-449BF5F4AA64}" type="datetime8">
              <a:rPr lang="he-IL" smtClean="0"/>
              <a:t>09 ינואר 26</a:t>
            </a:fld>
            <a:endParaRPr lang="he-IL"/>
          </a:p>
        </p:txBody>
      </p:sp>
      <p:sp>
        <p:nvSpPr>
          <p:cNvPr id="8" name="מציין מיקום של כותרת תחתונה 7"/>
          <p:cNvSpPr>
            <a:spLocks noGrp="1"/>
          </p:cNvSpPr>
          <p:nvPr>
            <p:ph type="ftr" sz="quarter" idx="11"/>
          </p:nvPr>
        </p:nvSpPr>
        <p:spPr/>
        <p:txBody>
          <a:bodyPr/>
          <a:lstStyle/>
          <a:p>
            <a:r>
              <a:rPr lang="he-IL"/>
              <a:t>מבוא למיקרו כלכלה - תרגיל מספר 5</a:t>
            </a:r>
          </a:p>
        </p:txBody>
      </p:sp>
      <p:sp>
        <p:nvSpPr>
          <p:cNvPr id="9" name="מציין מיקום של מספר שקופית 8"/>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4100088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2EE39670-4D47-476C-BA07-7EC70258AA07}" type="datetime8">
              <a:rPr lang="he-IL" smtClean="0"/>
              <a:t>09 ינואר 26</a:t>
            </a:fld>
            <a:endParaRPr lang="he-IL"/>
          </a:p>
        </p:txBody>
      </p:sp>
      <p:sp>
        <p:nvSpPr>
          <p:cNvPr id="4" name="מציין מיקום של כותרת תחתונה 3"/>
          <p:cNvSpPr>
            <a:spLocks noGrp="1"/>
          </p:cNvSpPr>
          <p:nvPr>
            <p:ph type="ftr" sz="quarter" idx="11"/>
          </p:nvPr>
        </p:nvSpPr>
        <p:spPr/>
        <p:txBody>
          <a:bodyPr/>
          <a:lstStyle/>
          <a:p>
            <a:r>
              <a:rPr lang="he-IL"/>
              <a:t>מבוא למיקרו כלכלה - תרגיל מספר 5</a:t>
            </a:r>
          </a:p>
        </p:txBody>
      </p:sp>
      <p:sp>
        <p:nvSpPr>
          <p:cNvPr id="5" name="מציין מיקום של מספר שקופית 4"/>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3771723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807EDDCF-873D-4D61-81D5-81AE9D1AB848}" type="datetime8">
              <a:rPr lang="he-IL" smtClean="0"/>
              <a:t>09 ינואר 26</a:t>
            </a:fld>
            <a:endParaRPr lang="he-IL"/>
          </a:p>
        </p:txBody>
      </p:sp>
      <p:sp>
        <p:nvSpPr>
          <p:cNvPr id="3" name="מציין מיקום של כותרת תחתונה 2"/>
          <p:cNvSpPr>
            <a:spLocks noGrp="1"/>
          </p:cNvSpPr>
          <p:nvPr>
            <p:ph type="ftr" sz="quarter" idx="11"/>
          </p:nvPr>
        </p:nvSpPr>
        <p:spPr/>
        <p:txBody>
          <a:bodyPr/>
          <a:lstStyle/>
          <a:p>
            <a:r>
              <a:rPr lang="he-IL"/>
              <a:t>מבוא למיקרו כלכלה - תרגיל מספר 5</a:t>
            </a:r>
          </a:p>
        </p:txBody>
      </p:sp>
      <p:sp>
        <p:nvSpPr>
          <p:cNvPr id="4" name="מציין מיקום של מספר שקופית 3"/>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1168599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AB9753BA-6B9F-4FA6-9F81-E0DB7F7F2288}" type="datetime8">
              <a:rPr lang="he-IL" smtClean="0"/>
              <a:t>09 ינואר 26</a:t>
            </a:fld>
            <a:endParaRPr lang="he-IL"/>
          </a:p>
        </p:txBody>
      </p:sp>
      <p:sp>
        <p:nvSpPr>
          <p:cNvPr id="6" name="מציין מיקום של כותרת תחתונה 5"/>
          <p:cNvSpPr>
            <a:spLocks noGrp="1"/>
          </p:cNvSpPr>
          <p:nvPr>
            <p:ph type="ftr" sz="quarter" idx="11"/>
          </p:nvPr>
        </p:nvSpPr>
        <p:spPr/>
        <p:txBody>
          <a:bodyPr/>
          <a:lstStyle/>
          <a:p>
            <a:r>
              <a:rPr lang="he-IL"/>
              <a:t>מבוא למיקרו כלכלה - תרגיל מספר 5</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1606597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8EF45A28-DED8-445F-82DA-EB5684E216E4}" type="datetime8">
              <a:rPr lang="he-IL" smtClean="0"/>
              <a:t>09 ינואר 26</a:t>
            </a:fld>
            <a:endParaRPr lang="he-IL"/>
          </a:p>
        </p:txBody>
      </p:sp>
      <p:sp>
        <p:nvSpPr>
          <p:cNvPr id="6" name="מציין מיקום של כותרת תחתונה 5"/>
          <p:cNvSpPr>
            <a:spLocks noGrp="1"/>
          </p:cNvSpPr>
          <p:nvPr>
            <p:ph type="ftr" sz="quarter" idx="11"/>
          </p:nvPr>
        </p:nvSpPr>
        <p:spPr/>
        <p:txBody>
          <a:bodyPr/>
          <a:lstStyle/>
          <a:p>
            <a:r>
              <a:rPr lang="he-IL"/>
              <a:t>מבוא למיקרו כלכלה - תרגיל מספר 5</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34081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04DD203A-5443-4D58-AA65-6F93DC1F6E15}" type="datetime8">
              <a:rPr lang="he-IL" smtClean="0"/>
              <a:t>09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41572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2F4C2359-F6F0-4218-A5AE-871BE472C295}" type="datetime8">
              <a:rPr lang="he-IL" smtClean="0"/>
              <a:t>09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6414933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45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E5C3747C-2834-4720-9BF8-45BB75481C2C}" type="datetime8">
              <a:rPr lang="he-IL" smtClean="0"/>
              <a:t>09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3814303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DF06695-15FE-40C0-A409-3277BA8F675D}" type="datetime8">
              <a:rPr lang="he-IL" smtClean="0"/>
              <a:t>09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30925179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1" y="1709740"/>
            <a:ext cx="10515600" cy="2852737"/>
          </a:xfrm>
        </p:spPr>
        <p:txBody>
          <a:bodyPr anchor="b"/>
          <a:lstStyle>
            <a:lvl1pPr>
              <a:defRPr sz="45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2C5D9B29-4598-4927-855B-CC366F1CE8EE}" type="datetime8">
              <a:rPr lang="he-IL" smtClean="0"/>
              <a:t>09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41657933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FB35019B-BF2E-4F1C-B357-20BBEE34A796}" type="datetime8">
              <a:rPr lang="he-IL" smtClean="0"/>
              <a:t>09 ינואר 26</a:t>
            </a:fld>
            <a:endParaRPr lang="he-IL"/>
          </a:p>
        </p:txBody>
      </p:sp>
      <p:sp>
        <p:nvSpPr>
          <p:cNvPr id="6" name="מציין מיקום של כותרת תחתונה 5"/>
          <p:cNvSpPr>
            <a:spLocks noGrp="1"/>
          </p:cNvSpPr>
          <p:nvPr>
            <p:ph type="ftr" sz="quarter" idx="11"/>
          </p:nvPr>
        </p:nvSpPr>
        <p:spPr/>
        <p:txBody>
          <a:bodyPr/>
          <a:lstStyle/>
          <a:p>
            <a:r>
              <a:rPr lang="he-IL"/>
              <a:t>מבוא למיקרו כלכלה - תרגיל מספר 5</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19575758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7"/>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839789"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6172201"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C87230F0-C08C-4B07-B9B4-27BA65A98A12}" type="datetime8">
              <a:rPr lang="he-IL" smtClean="0"/>
              <a:t>09 ינואר 26</a:t>
            </a:fld>
            <a:endParaRPr lang="he-IL"/>
          </a:p>
        </p:txBody>
      </p:sp>
      <p:sp>
        <p:nvSpPr>
          <p:cNvPr id="8" name="מציין מיקום של כותרת תחתונה 7"/>
          <p:cNvSpPr>
            <a:spLocks noGrp="1"/>
          </p:cNvSpPr>
          <p:nvPr>
            <p:ph type="ftr" sz="quarter" idx="11"/>
          </p:nvPr>
        </p:nvSpPr>
        <p:spPr/>
        <p:txBody>
          <a:bodyPr/>
          <a:lstStyle/>
          <a:p>
            <a:r>
              <a:rPr lang="he-IL"/>
              <a:t>מבוא למיקרו כלכלה - תרגיל מספר 5</a:t>
            </a:r>
          </a:p>
        </p:txBody>
      </p:sp>
      <p:sp>
        <p:nvSpPr>
          <p:cNvPr id="9" name="מציין מיקום של מספר שקופית 8"/>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304215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86941263-4945-40FC-B0BD-38B313C7A438}" type="datetime8">
              <a:rPr lang="he-IL" smtClean="0"/>
              <a:t>09 ינואר 26</a:t>
            </a:fld>
            <a:endParaRPr lang="he-IL"/>
          </a:p>
        </p:txBody>
      </p:sp>
      <p:sp>
        <p:nvSpPr>
          <p:cNvPr id="4" name="מציין מיקום של כותרת תחתונה 3"/>
          <p:cNvSpPr>
            <a:spLocks noGrp="1"/>
          </p:cNvSpPr>
          <p:nvPr>
            <p:ph type="ftr" sz="quarter" idx="11"/>
          </p:nvPr>
        </p:nvSpPr>
        <p:spPr/>
        <p:txBody>
          <a:bodyPr/>
          <a:lstStyle/>
          <a:p>
            <a:r>
              <a:rPr lang="he-IL"/>
              <a:t>מבוא למיקרו כלכלה - תרגיל מספר 5</a:t>
            </a:r>
          </a:p>
        </p:txBody>
      </p:sp>
      <p:sp>
        <p:nvSpPr>
          <p:cNvPr id="5" name="מציין מיקום של מספר שקופית 4"/>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29079760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9B3767A-1846-415B-A64B-1498B28D13B8}" type="datetime8">
              <a:rPr lang="he-IL" smtClean="0"/>
              <a:t>09 ינואר 26</a:t>
            </a:fld>
            <a:endParaRPr lang="he-IL"/>
          </a:p>
        </p:txBody>
      </p:sp>
      <p:sp>
        <p:nvSpPr>
          <p:cNvPr id="3" name="מציין מיקום של כותרת תחתונה 2"/>
          <p:cNvSpPr>
            <a:spLocks noGrp="1"/>
          </p:cNvSpPr>
          <p:nvPr>
            <p:ph type="ftr" sz="quarter" idx="11"/>
          </p:nvPr>
        </p:nvSpPr>
        <p:spPr/>
        <p:txBody>
          <a:bodyPr/>
          <a:lstStyle/>
          <a:p>
            <a:r>
              <a:rPr lang="he-IL"/>
              <a:t>מבוא למיקרו כלכלה - תרגיל מספר 5</a:t>
            </a:r>
          </a:p>
        </p:txBody>
      </p:sp>
      <p:sp>
        <p:nvSpPr>
          <p:cNvPr id="4" name="מציין מיקום של מספר שקופית 3"/>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2044712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24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B1430154-ADDA-47D9-BC3D-52EE5CE2462F}" type="datetime8">
              <a:rPr lang="he-IL" smtClean="0"/>
              <a:t>09 ינואר 26</a:t>
            </a:fld>
            <a:endParaRPr lang="he-IL"/>
          </a:p>
        </p:txBody>
      </p:sp>
      <p:sp>
        <p:nvSpPr>
          <p:cNvPr id="6" name="מציין מיקום של כותרת תחתונה 5"/>
          <p:cNvSpPr>
            <a:spLocks noGrp="1"/>
          </p:cNvSpPr>
          <p:nvPr>
            <p:ph type="ftr" sz="quarter" idx="11"/>
          </p:nvPr>
        </p:nvSpPr>
        <p:spPr/>
        <p:txBody>
          <a:bodyPr/>
          <a:lstStyle/>
          <a:p>
            <a:r>
              <a:rPr lang="he-IL"/>
              <a:t>מבוא למיקרו כלכלה - תרגיל מספר 5</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32418809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24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DF47281A-B767-45FD-BBAC-107E48724B8F}" type="datetime8">
              <a:rPr lang="he-IL" smtClean="0"/>
              <a:t>09 ינואר 26</a:t>
            </a:fld>
            <a:endParaRPr lang="he-IL"/>
          </a:p>
        </p:txBody>
      </p:sp>
      <p:sp>
        <p:nvSpPr>
          <p:cNvPr id="6" name="מציין מיקום של כותרת תחתונה 5"/>
          <p:cNvSpPr>
            <a:spLocks noGrp="1"/>
          </p:cNvSpPr>
          <p:nvPr>
            <p:ph type="ftr" sz="quarter" idx="11"/>
          </p:nvPr>
        </p:nvSpPr>
        <p:spPr/>
        <p:txBody>
          <a:bodyPr/>
          <a:lstStyle/>
          <a:p>
            <a:r>
              <a:rPr lang="he-IL"/>
              <a:t>מבוא למיקרו כלכלה - תרגיל מספר 5</a:t>
            </a:r>
          </a:p>
        </p:txBody>
      </p:sp>
      <p:sp>
        <p:nvSpPr>
          <p:cNvPr id="7" name="מציין מיקום של מספר שקופית 6"/>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2144502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2FF97638-012D-4F28-813A-4122E4D35109}" type="datetime8">
              <a:rPr lang="he-IL" smtClean="0"/>
              <a:t>09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1630745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1"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1"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AED023E-9CC0-4D53-BA4C-62BB011B54CB}" type="datetime8">
              <a:rPr lang="he-IL" smtClean="0"/>
              <a:t>09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D69A981F-4466-4789-9E41-1885E502A96E}" type="slidenum">
              <a:rPr lang="he-IL" smtClean="0"/>
              <a:t>‹#›</a:t>
            </a:fld>
            <a:endParaRPr lang="he-IL"/>
          </a:p>
        </p:txBody>
      </p:sp>
    </p:spTree>
    <p:extLst>
      <p:ext uri="{BB962C8B-B14F-4D97-AF65-F5344CB8AC3E}">
        <p14:creationId xmlns:p14="http://schemas.microsoft.com/office/powerpoint/2010/main" val="4676596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914400" y="2130426"/>
            <a:ext cx="10363200" cy="1470025"/>
          </a:xfrm>
        </p:spPr>
        <p:txBody>
          <a:bodyPr/>
          <a:lstStyle/>
          <a:p>
            <a:r>
              <a:rPr lang="he-IL"/>
              <a:t>לחץ כדי לערוך סגנון כותרת של תבנית בסיס</a:t>
            </a:r>
          </a:p>
        </p:txBody>
      </p:sp>
      <p:sp>
        <p:nvSpPr>
          <p:cNvPr id="3" name="כותרת משנה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0A6D5145-83F9-4C2D-A8C1-7B964B6FFE43}" type="datetime8">
              <a:rPr lang="he-IL" smtClean="0"/>
              <a:t>09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27860081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B3C32291-9B70-47FE-AF9D-43964C4FA791}" type="datetime8">
              <a:rPr lang="he-IL" smtClean="0"/>
              <a:t>09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38621250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963084" y="4406901"/>
            <a:ext cx="10363200" cy="1362075"/>
          </a:xfrm>
        </p:spPr>
        <p:txBody>
          <a:bodyPr anchor="t"/>
          <a:lstStyle>
            <a:lvl1pPr algn="r">
              <a:defRPr sz="4000" b="1" cap="all"/>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CFE148DA-34AB-47C9-BCD3-3889A4448EE4}" type="datetime8">
              <a:rPr lang="he-IL" smtClean="0"/>
              <a:t>09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7720209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0CBF67C2-0087-4BE3-B5EA-E789D37C997D}" type="datetime8">
              <a:rPr lang="he-IL" smtClean="0"/>
              <a:t>09 ינואר 26</a:t>
            </a:fld>
            <a:endParaRPr lang="he-IL"/>
          </a:p>
        </p:txBody>
      </p:sp>
      <p:sp>
        <p:nvSpPr>
          <p:cNvPr id="6" name="מציין מיקום של כותרת תחתונה 5"/>
          <p:cNvSpPr>
            <a:spLocks noGrp="1"/>
          </p:cNvSpPr>
          <p:nvPr>
            <p:ph type="ftr" sz="quarter" idx="11"/>
          </p:nvPr>
        </p:nvSpPr>
        <p:spPr/>
        <p:txBody>
          <a:bodyPr/>
          <a:lstStyle/>
          <a:p>
            <a:r>
              <a:rPr lang="he-IL"/>
              <a:t>מבוא למיקרו כלכלה - תרגיל מספר 5</a:t>
            </a:r>
          </a:p>
        </p:txBody>
      </p:sp>
      <p:sp>
        <p:nvSpPr>
          <p:cNvPr id="7" name="מציין מיקום של מספר שקופית 6"/>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36669711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lvl1pPr>
              <a:defRPr/>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0219365E-8D32-4B52-9A2A-BBB8F263AD94}" type="datetime8">
              <a:rPr lang="he-IL" smtClean="0"/>
              <a:t>09 ינואר 26</a:t>
            </a:fld>
            <a:endParaRPr lang="he-IL"/>
          </a:p>
        </p:txBody>
      </p:sp>
      <p:sp>
        <p:nvSpPr>
          <p:cNvPr id="8" name="מציין מיקום של כותרת תחתונה 7"/>
          <p:cNvSpPr>
            <a:spLocks noGrp="1"/>
          </p:cNvSpPr>
          <p:nvPr>
            <p:ph type="ftr" sz="quarter" idx="11"/>
          </p:nvPr>
        </p:nvSpPr>
        <p:spPr/>
        <p:txBody>
          <a:bodyPr/>
          <a:lstStyle/>
          <a:p>
            <a:r>
              <a:rPr lang="he-IL"/>
              <a:t>מבוא למיקרו כלכלה - תרגיל מספר 5</a:t>
            </a:r>
          </a:p>
        </p:txBody>
      </p:sp>
      <p:sp>
        <p:nvSpPr>
          <p:cNvPr id="9" name="מציין מיקום של מספר שקופית 8"/>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20138636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A22074D-7A57-453F-805B-3BB193C3852E}" type="datetime8">
              <a:rPr lang="he-IL" smtClean="0"/>
              <a:t>09 ינואר 26</a:t>
            </a:fld>
            <a:endParaRPr lang="he-IL"/>
          </a:p>
        </p:txBody>
      </p:sp>
      <p:sp>
        <p:nvSpPr>
          <p:cNvPr id="4" name="מציין מיקום של כותרת תחתונה 3"/>
          <p:cNvSpPr>
            <a:spLocks noGrp="1"/>
          </p:cNvSpPr>
          <p:nvPr>
            <p:ph type="ftr" sz="quarter" idx="11"/>
          </p:nvPr>
        </p:nvSpPr>
        <p:spPr/>
        <p:txBody>
          <a:bodyPr/>
          <a:lstStyle/>
          <a:p>
            <a:r>
              <a:rPr lang="he-IL"/>
              <a:t>מבוא למיקרו כלכלה - תרגיל מספר 5</a:t>
            </a:r>
          </a:p>
        </p:txBody>
      </p:sp>
      <p:sp>
        <p:nvSpPr>
          <p:cNvPr id="5" name="מציין מיקום של מספר שקופית 4"/>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56196944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25D58B65-41CB-4622-8485-F8338E21DAF6}" type="datetime8">
              <a:rPr lang="he-IL" smtClean="0"/>
              <a:t>09 ינואר 26</a:t>
            </a:fld>
            <a:endParaRPr lang="he-IL"/>
          </a:p>
        </p:txBody>
      </p:sp>
      <p:sp>
        <p:nvSpPr>
          <p:cNvPr id="3" name="מציין מיקום של כותרת תחתונה 2"/>
          <p:cNvSpPr>
            <a:spLocks noGrp="1"/>
          </p:cNvSpPr>
          <p:nvPr>
            <p:ph type="ftr" sz="quarter" idx="11"/>
          </p:nvPr>
        </p:nvSpPr>
        <p:spPr/>
        <p:txBody>
          <a:bodyPr/>
          <a:lstStyle/>
          <a:p>
            <a:r>
              <a:rPr lang="he-IL"/>
              <a:t>מבוא למיקרו כלכלה - תרגיל מספר 5</a:t>
            </a:r>
          </a:p>
        </p:txBody>
      </p:sp>
      <p:sp>
        <p:nvSpPr>
          <p:cNvPr id="4" name="מציין מיקום של מספר שקופית 3"/>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28082728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609601" y="273050"/>
            <a:ext cx="4011084" cy="1162050"/>
          </a:xfrm>
        </p:spPr>
        <p:txBody>
          <a:bodyPr anchor="b"/>
          <a:lstStyle>
            <a:lvl1pPr algn="r">
              <a:defRPr sz="2000" b="1"/>
            </a:lvl1pPr>
          </a:lstStyle>
          <a:p>
            <a:r>
              <a:rPr lang="he-IL"/>
              <a:t>לחץ כדי לערוך סגנון כותרת של תבנית בסיס</a:t>
            </a:r>
          </a:p>
        </p:txBody>
      </p:sp>
      <p:sp>
        <p:nvSpPr>
          <p:cNvPr id="3" name="מציין מיקום תוכן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79E6FF10-D84D-40AB-82CA-6776BDDB7FD4}" type="datetime8">
              <a:rPr lang="he-IL" smtClean="0"/>
              <a:t>09 ינואר 26</a:t>
            </a:fld>
            <a:endParaRPr lang="he-IL"/>
          </a:p>
        </p:txBody>
      </p:sp>
      <p:sp>
        <p:nvSpPr>
          <p:cNvPr id="6" name="מציין מיקום של כותרת תחתונה 5"/>
          <p:cNvSpPr>
            <a:spLocks noGrp="1"/>
          </p:cNvSpPr>
          <p:nvPr>
            <p:ph type="ftr" sz="quarter" idx="11"/>
          </p:nvPr>
        </p:nvSpPr>
        <p:spPr/>
        <p:txBody>
          <a:bodyPr/>
          <a:lstStyle/>
          <a:p>
            <a:r>
              <a:rPr lang="he-IL"/>
              <a:t>מבוא למיקרו כלכלה - תרגיל מספר 5</a:t>
            </a:r>
          </a:p>
        </p:txBody>
      </p:sp>
      <p:sp>
        <p:nvSpPr>
          <p:cNvPr id="7" name="מציין מיקום של מספר שקופית 6"/>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6371442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2389717" y="4800600"/>
            <a:ext cx="7315200" cy="566738"/>
          </a:xfrm>
        </p:spPr>
        <p:txBody>
          <a:bodyPr anchor="b"/>
          <a:lstStyle>
            <a:lvl1pPr algn="r">
              <a:defRPr sz="2000" b="1"/>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2DE4AC10-C72A-4F9B-A773-442DB09C5B61}" type="datetime8">
              <a:rPr lang="he-IL" smtClean="0"/>
              <a:t>09 ינואר 26</a:t>
            </a:fld>
            <a:endParaRPr lang="he-IL"/>
          </a:p>
        </p:txBody>
      </p:sp>
      <p:sp>
        <p:nvSpPr>
          <p:cNvPr id="6" name="מציין מיקום של כותרת תחתונה 5"/>
          <p:cNvSpPr>
            <a:spLocks noGrp="1"/>
          </p:cNvSpPr>
          <p:nvPr>
            <p:ph type="ftr" sz="quarter" idx="11"/>
          </p:nvPr>
        </p:nvSpPr>
        <p:spPr/>
        <p:txBody>
          <a:bodyPr/>
          <a:lstStyle/>
          <a:p>
            <a:r>
              <a:rPr lang="he-IL"/>
              <a:t>מבוא למיקרו כלכלה - תרגיל מספר 5</a:t>
            </a:r>
          </a:p>
        </p:txBody>
      </p:sp>
      <p:sp>
        <p:nvSpPr>
          <p:cNvPr id="7" name="מציין מיקום של מספר שקופית 6"/>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16198151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99648114-B66A-41C1-BE9E-FCC2465717D3}" type="datetime8">
              <a:rPr lang="he-IL" smtClean="0"/>
              <a:t>09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419688673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839200" y="274639"/>
            <a:ext cx="2743200" cy="5851525"/>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609600" y="274639"/>
            <a:ext cx="8026400" cy="5851525"/>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FAEE8686-B8A7-4995-AEE6-DB0DFB6AD97B}" type="datetime8">
              <a:rPr lang="he-IL" smtClean="0"/>
              <a:t>09 ינואר 26</a:t>
            </a:fld>
            <a:endParaRPr lang="he-IL"/>
          </a:p>
        </p:txBody>
      </p:sp>
      <p:sp>
        <p:nvSpPr>
          <p:cNvPr id="5" name="מציין מיקום של כותרת תחתונה 4"/>
          <p:cNvSpPr>
            <a:spLocks noGrp="1"/>
          </p:cNvSpPr>
          <p:nvPr>
            <p:ph type="ftr" sz="quarter" idx="11"/>
          </p:nvPr>
        </p:nvSpPr>
        <p:spPr/>
        <p:txBody>
          <a:bodyPr/>
          <a:lstStyle/>
          <a:p>
            <a:r>
              <a:rPr lang="he-IL"/>
              <a:t>מבוא למיקרו כלכלה - תרגיל מספר 5</a:t>
            </a:r>
          </a:p>
        </p:txBody>
      </p:sp>
      <p:sp>
        <p:nvSpPr>
          <p:cNvPr id="6" name="מציין מיקום של מספר שקופית 5"/>
          <p:cNvSpPr>
            <a:spLocks noGrp="1"/>
          </p:cNvSpPr>
          <p:nvPr>
            <p:ph type="sldNum" sz="quarter" idx="12"/>
          </p:nvPr>
        </p:nvSpPr>
        <p:spPr/>
        <p:txBody>
          <a:bodyPr/>
          <a:lstStyle/>
          <a:p>
            <a:fld id="{492DB488-E800-4C9D-A68D-A9C6D048BCD3}" type="slidenum">
              <a:rPr lang="he-IL" smtClean="0"/>
              <a:pPr/>
              <a:t>‹#›</a:t>
            </a:fld>
            <a:endParaRPr lang="he-IL"/>
          </a:p>
        </p:txBody>
      </p:sp>
    </p:spTree>
    <p:extLst>
      <p:ext uri="{BB962C8B-B14F-4D97-AF65-F5344CB8AC3E}">
        <p14:creationId xmlns:p14="http://schemas.microsoft.com/office/powerpoint/2010/main" val="16584177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CC69A58-7D03-47A3-B245-155B83797BB8}" type="datetime8">
              <a:rPr lang="he-IL" smtClean="0">
                <a:solidFill>
                  <a:prstClr val="black">
                    <a:tint val="75000"/>
                  </a:prstClr>
                </a:solidFill>
              </a:rPr>
              <a:t>09 ינואר 26</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r>
              <a:rPr lang="he-IL">
                <a:solidFill>
                  <a:prstClr val="black">
                    <a:tint val="75000"/>
                  </a:prstClr>
                </a:solidFill>
              </a:rPr>
              <a:t>מבוא למיקרו כלכלה - תרגיל מספר 5</a:t>
            </a:r>
          </a:p>
        </p:txBody>
      </p:sp>
      <p:sp>
        <p:nvSpPr>
          <p:cNvPr id="6" name="Slide Number Placeholder 5"/>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5550870"/>
      </p:ext>
    </p:extLst>
  </p:cSld>
  <p:clrMapOvr>
    <a:masterClrMapping/>
  </p:clrMapOvr>
  <p:hf hdr="0" ftr="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C69A58-7D03-47A3-B245-155B83797BB8}" type="datetime8">
              <a:rPr lang="he-IL" smtClean="0">
                <a:solidFill>
                  <a:prstClr val="black">
                    <a:tint val="75000"/>
                  </a:prstClr>
                </a:solidFill>
              </a:rPr>
              <a:t>09 ינואר 26</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r>
              <a:rPr lang="he-IL">
                <a:solidFill>
                  <a:prstClr val="black">
                    <a:tint val="75000"/>
                  </a:prstClr>
                </a:solidFill>
              </a:rPr>
              <a:t>מבוא למיקרו כלכלה - תרגיל מספר 5</a:t>
            </a:r>
          </a:p>
        </p:txBody>
      </p:sp>
      <p:sp>
        <p:nvSpPr>
          <p:cNvPr id="6" name="Slide Number Placeholder 5"/>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696967963"/>
      </p:ext>
    </p:extLst>
  </p:cSld>
  <p:clrMapOvr>
    <a:masterClrMapping/>
  </p:clrMapOvr>
  <p:hf hdr="0" ftr="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CC69A58-7D03-47A3-B245-155B83797BB8}" type="datetime8">
              <a:rPr lang="he-IL" smtClean="0">
                <a:solidFill>
                  <a:prstClr val="black">
                    <a:tint val="75000"/>
                  </a:prstClr>
                </a:solidFill>
              </a:rPr>
              <a:t>09 ינואר 26</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r>
              <a:rPr lang="he-IL">
                <a:solidFill>
                  <a:prstClr val="black">
                    <a:tint val="75000"/>
                  </a:prstClr>
                </a:solidFill>
              </a:rPr>
              <a:t>מבוא למיקרו כלכלה - תרגיל מספר 5</a:t>
            </a:r>
          </a:p>
        </p:txBody>
      </p:sp>
      <p:sp>
        <p:nvSpPr>
          <p:cNvPr id="6" name="Slide Number Placeholder 5"/>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9944489"/>
      </p:ext>
    </p:extLst>
  </p:cSld>
  <p:clrMapOvr>
    <a:masterClrMapping/>
  </p:clrMapOvr>
  <p:hf hdr="0" ftr="0"/>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CC69A58-7D03-47A3-B245-155B83797BB8}" type="datetime8">
              <a:rPr lang="he-IL" smtClean="0">
                <a:solidFill>
                  <a:prstClr val="black">
                    <a:tint val="75000"/>
                  </a:prstClr>
                </a:solidFill>
              </a:rPr>
              <a:t>09 ינואר 26</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r>
              <a:rPr lang="he-IL">
                <a:solidFill>
                  <a:prstClr val="black">
                    <a:tint val="75000"/>
                  </a:prstClr>
                </a:solidFill>
              </a:rPr>
              <a:t>מבוא למיקרו כלכלה - תרגיל מספר 5</a:t>
            </a:r>
          </a:p>
        </p:txBody>
      </p:sp>
      <p:sp>
        <p:nvSpPr>
          <p:cNvPr id="7" name="Slide Number Placeholder 6"/>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3373058312"/>
      </p:ext>
    </p:extLst>
  </p:cSld>
  <p:clrMapOvr>
    <a:masterClrMapping/>
  </p:clrMapOvr>
  <p:hf hdr="0" ftr="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CC69A58-7D03-47A3-B245-155B83797BB8}" type="datetime8">
              <a:rPr lang="he-IL" smtClean="0">
                <a:solidFill>
                  <a:prstClr val="black">
                    <a:tint val="75000"/>
                  </a:prstClr>
                </a:solidFill>
              </a:rPr>
              <a:t>09 ינואר 26</a:t>
            </a:fld>
            <a:endParaRPr lang="he-IL">
              <a:solidFill>
                <a:prstClr val="black">
                  <a:tint val="75000"/>
                </a:prstClr>
              </a:solidFill>
            </a:endParaRPr>
          </a:p>
        </p:txBody>
      </p:sp>
      <p:sp>
        <p:nvSpPr>
          <p:cNvPr id="8" name="Footer Placeholder 7"/>
          <p:cNvSpPr>
            <a:spLocks noGrp="1"/>
          </p:cNvSpPr>
          <p:nvPr>
            <p:ph type="ftr" sz="quarter" idx="11"/>
          </p:nvPr>
        </p:nvSpPr>
        <p:spPr/>
        <p:txBody>
          <a:bodyPr/>
          <a:lstStyle/>
          <a:p>
            <a:r>
              <a:rPr lang="he-IL">
                <a:solidFill>
                  <a:prstClr val="black">
                    <a:tint val="75000"/>
                  </a:prstClr>
                </a:solidFill>
              </a:rPr>
              <a:t>מבוא למיקרו כלכלה - תרגיל מספר 5</a:t>
            </a:r>
          </a:p>
        </p:txBody>
      </p:sp>
      <p:sp>
        <p:nvSpPr>
          <p:cNvPr id="9" name="Slide Number Placeholder 8"/>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220486772"/>
      </p:ext>
    </p:extLst>
  </p:cSld>
  <p:clrMapOvr>
    <a:masterClrMapping/>
  </p:clrMapOvr>
  <p:hf hdr="0" ftr="0"/>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CC69A58-7D03-47A3-B245-155B83797BB8}" type="datetime8">
              <a:rPr lang="he-IL" smtClean="0">
                <a:solidFill>
                  <a:prstClr val="black">
                    <a:tint val="75000"/>
                  </a:prstClr>
                </a:solidFill>
              </a:rPr>
              <a:t>09 ינואר 26</a:t>
            </a:fld>
            <a:endParaRPr lang="he-IL">
              <a:solidFill>
                <a:prstClr val="black">
                  <a:tint val="75000"/>
                </a:prstClr>
              </a:solidFill>
            </a:endParaRPr>
          </a:p>
        </p:txBody>
      </p:sp>
      <p:sp>
        <p:nvSpPr>
          <p:cNvPr id="4" name="Footer Placeholder 3"/>
          <p:cNvSpPr>
            <a:spLocks noGrp="1"/>
          </p:cNvSpPr>
          <p:nvPr>
            <p:ph type="ftr" sz="quarter" idx="11"/>
          </p:nvPr>
        </p:nvSpPr>
        <p:spPr/>
        <p:txBody>
          <a:bodyPr/>
          <a:lstStyle/>
          <a:p>
            <a:r>
              <a:rPr lang="he-IL">
                <a:solidFill>
                  <a:prstClr val="black">
                    <a:tint val="75000"/>
                  </a:prstClr>
                </a:solidFill>
              </a:rPr>
              <a:t>מבוא למיקרו כלכלה - תרגיל מספר 5</a:t>
            </a:r>
          </a:p>
        </p:txBody>
      </p:sp>
      <p:sp>
        <p:nvSpPr>
          <p:cNvPr id="5" name="Slide Number Placeholder 4"/>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430642321"/>
      </p:ext>
    </p:extLst>
  </p:cSld>
  <p:clrMapOvr>
    <a:masterClrMapping/>
  </p:clrMapOvr>
  <p:hf hdr="0" ftr="0"/>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CC69A58-7D03-47A3-B245-155B83797BB8}" type="datetime8">
              <a:rPr lang="he-IL" smtClean="0">
                <a:solidFill>
                  <a:prstClr val="black">
                    <a:tint val="75000"/>
                  </a:prstClr>
                </a:solidFill>
              </a:rPr>
              <a:t>09 ינואר 26</a:t>
            </a:fld>
            <a:endParaRPr lang="he-IL">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r>
              <a:rPr lang="he-IL">
                <a:solidFill>
                  <a:prstClr val="black">
                    <a:tint val="75000"/>
                  </a:prstClr>
                </a:solidFill>
              </a:rPr>
              <a:t>מבוא למיקרו כלכלה - תרגיל מספר 5</a:t>
            </a:r>
          </a:p>
        </p:txBody>
      </p:sp>
      <p:sp>
        <p:nvSpPr>
          <p:cNvPr id="9" name="Slide Number Placeholder 8"/>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957135828"/>
      </p:ext>
    </p:extLst>
  </p:cSld>
  <p:clrMapOvr>
    <a:masterClrMapping/>
  </p:clrMapOvr>
  <p:hf hdr="0" ftr="0"/>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CC69A58-7D03-47A3-B245-155B83797BB8}" type="datetime8">
              <a:rPr lang="he-IL" smtClean="0">
                <a:solidFill>
                  <a:prstClr val="black">
                    <a:tint val="75000"/>
                  </a:prstClr>
                </a:solidFill>
              </a:rPr>
              <a:t>09 ינואר 26</a:t>
            </a:fld>
            <a:endParaRPr lang="he-IL">
              <a:solidFill>
                <a:prstClr val="black">
                  <a:tint val="75000"/>
                </a:prstClr>
              </a:solidFill>
            </a:endParaRP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he-IL">
                <a:solidFill>
                  <a:prstClr val="black">
                    <a:tint val="75000"/>
                  </a:prstClr>
                </a:solidFill>
              </a:rPr>
              <a:t>מבוא למיקרו כלכלה - תרגיל מספר 5</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4059204882"/>
      </p:ext>
    </p:extLst>
  </p:cSld>
  <p:clrMapOvr>
    <a:masterClrMapping/>
  </p:clrMapOvr>
  <p:hf hdr="0" ftr="0"/>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C69A58-7D03-47A3-B245-155B83797BB8}" type="datetime8">
              <a:rPr lang="he-IL" smtClean="0">
                <a:solidFill>
                  <a:prstClr val="black">
                    <a:tint val="75000"/>
                  </a:prstClr>
                </a:solidFill>
              </a:rPr>
              <a:t>09 ינואר 26</a:t>
            </a:fld>
            <a:endParaRPr lang="he-IL">
              <a:solidFill>
                <a:prstClr val="black">
                  <a:tint val="75000"/>
                </a:prstClr>
              </a:solidFill>
            </a:endParaRPr>
          </a:p>
        </p:txBody>
      </p:sp>
      <p:sp>
        <p:nvSpPr>
          <p:cNvPr id="6" name="Footer Placeholder 5"/>
          <p:cNvSpPr>
            <a:spLocks noGrp="1"/>
          </p:cNvSpPr>
          <p:nvPr>
            <p:ph type="ftr" sz="quarter" idx="11"/>
          </p:nvPr>
        </p:nvSpPr>
        <p:spPr/>
        <p:txBody>
          <a:bodyPr/>
          <a:lstStyle/>
          <a:p>
            <a:r>
              <a:rPr lang="he-IL">
                <a:solidFill>
                  <a:prstClr val="black">
                    <a:tint val="75000"/>
                  </a:prstClr>
                </a:solidFill>
              </a:rPr>
              <a:t>מבוא למיקרו כלכלה - תרגיל מספר 5</a:t>
            </a:r>
          </a:p>
        </p:txBody>
      </p:sp>
      <p:sp>
        <p:nvSpPr>
          <p:cNvPr id="7" name="Slide Number Placeholder 6"/>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977254128"/>
      </p:ext>
    </p:extLst>
  </p:cSld>
  <p:clrMapOvr>
    <a:masterClrMapping/>
  </p:clrMapOvr>
  <p:hf hdr="0" ftr="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C69A58-7D03-47A3-B245-155B83797BB8}" type="datetime8">
              <a:rPr lang="he-IL" smtClean="0">
                <a:solidFill>
                  <a:prstClr val="black">
                    <a:tint val="75000"/>
                  </a:prstClr>
                </a:solidFill>
              </a:rPr>
              <a:t>09 ינואר 26</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r>
              <a:rPr lang="he-IL">
                <a:solidFill>
                  <a:prstClr val="black">
                    <a:tint val="75000"/>
                  </a:prstClr>
                </a:solidFill>
              </a:rPr>
              <a:t>מבוא למיקרו כלכלה - תרגיל מספר 5</a:t>
            </a:r>
          </a:p>
        </p:txBody>
      </p:sp>
      <p:sp>
        <p:nvSpPr>
          <p:cNvPr id="6" name="Slide Number Placeholder 5"/>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182798503"/>
      </p:ext>
    </p:extLst>
  </p:cSld>
  <p:clrMapOvr>
    <a:masterClrMapping/>
  </p:clrMapOvr>
  <p:hf hdr="0" ftr="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C69A58-7D03-47A3-B245-155B83797BB8}" type="datetime8">
              <a:rPr lang="he-IL" smtClean="0">
                <a:solidFill>
                  <a:prstClr val="black">
                    <a:tint val="75000"/>
                  </a:prstClr>
                </a:solidFill>
              </a:rPr>
              <a:t>09 ינואר 26</a:t>
            </a:fld>
            <a:endParaRPr lang="he-IL">
              <a:solidFill>
                <a:prstClr val="black">
                  <a:tint val="75000"/>
                </a:prstClr>
              </a:solidFill>
            </a:endParaRPr>
          </a:p>
        </p:txBody>
      </p:sp>
      <p:sp>
        <p:nvSpPr>
          <p:cNvPr id="5" name="Footer Placeholder 4"/>
          <p:cNvSpPr>
            <a:spLocks noGrp="1"/>
          </p:cNvSpPr>
          <p:nvPr>
            <p:ph type="ftr" sz="quarter" idx="11"/>
          </p:nvPr>
        </p:nvSpPr>
        <p:spPr/>
        <p:txBody>
          <a:bodyPr/>
          <a:lstStyle/>
          <a:p>
            <a:r>
              <a:rPr lang="he-IL">
                <a:solidFill>
                  <a:prstClr val="black">
                    <a:tint val="75000"/>
                  </a:prstClr>
                </a:solidFill>
              </a:rPr>
              <a:t>מבוא למיקרו כלכלה - תרגיל מספר 5</a:t>
            </a:r>
          </a:p>
        </p:txBody>
      </p:sp>
      <p:sp>
        <p:nvSpPr>
          <p:cNvPr id="6" name="Slide Number Placeholder 5"/>
          <p:cNvSpPr>
            <a:spLocks noGrp="1"/>
          </p:cNvSpPr>
          <p:nvPr>
            <p:ph type="sldNum" sz="quarter" idx="12"/>
          </p:nvPr>
        </p:nvSpPr>
        <p:spPr/>
        <p:txBody>
          <a:bodyPr/>
          <a:lstStyle/>
          <a:p>
            <a:fld id="{D69A981F-4466-4789-9E41-1885E502A96E}"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1847182070"/>
      </p:ext>
    </p:extLst>
  </p:cSld>
  <p:clrMapOvr>
    <a:masterClrMapping/>
  </p:clrMapOvr>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5787C4DA-7EA6-4C7C-8E9E-B03D80C15E76}" type="datetime8">
              <a:rPr lang="he-IL" smtClean="0"/>
              <a:t>09 ינואר 26</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r>
              <a:rPr lang="he-IL"/>
              <a:t>מבוא למיקרו כלכלה - תרגיל מספר 5</a:t>
            </a:r>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D69A981F-4466-4789-9E41-1885E502A96E}" type="slidenum">
              <a:rPr lang="he-IL" smtClean="0"/>
              <a:t>‹#›</a:t>
            </a:fld>
            <a:endParaRPr lang="he-IL"/>
          </a:p>
        </p:txBody>
      </p:sp>
    </p:spTree>
    <p:extLst>
      <p:ext uri="{BB962C8B-B14F-4D97-AF65-F5344CB8AC3E}">
        <p14:creationId xmlns:p14="http://schemas.microsoft.com/office/powerpoint/2010/main" val="1345430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7"/>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2"/>
            <a:ext cx="2743200" cy="365125"/>
          </a:xfrm>
          <a:prstGeom prst="rect">
            <a:avLst/>
          </a:prstGeom>
        </p:spPr>
        <p:txBody>
          <a:bodyPr vert="horz" lIns="91440" tIns="45720" rIns="91440" bIns="45720" rtlCol="1" anchor="ctr"/>
          <a:lstStyle>
            <a:lvl1pPr algn="r">
              <a:defRPr sz="900">
                <a:solidFill>
                  <a:schemeClr val="tx1">
                    <a:tint val="75000"/>
                  </a:schemeClr>
                </a:solidFill>
              </a:defRPr>
            </a:lvl1pPr>
          </a:lstStyle>
          <a:p>
            <a:fld id="{3628EF21-36F0-4298-813C-AAD04D9BD863}" type="datetime8">
              <a:rPr lang="he-IL" smtClean="0"/>
              <a:t>09 ינואר 26</a:t>
            </a:fld>
            <a:endParaRPr lang="he-IL"/>
          </a:p>
        </p:txBody>
      </p:sp>
      <p:sp>
        <p:nvSpPr>
          <p:cNvPr id="5" name="מציין מיקום של כותרת תחתונה 4"/>
          <p:cNvSpPr>
            <a:spLocks noGrp="1"/>
          </p:cNvSpPr>
          <p:nvPr>
            <p:ph type="ftr" sz="quarter" idx="3"/>
          </p:nvPr>
        </p:nvSpPr>
        <p:spPr>
          <a:xfrm>
            <a:off x="4038600" y="6356352"/>
            <a:ext cx="4114800" cy="365125"/>
          </a:xfrm>
          <a:prstGeom prst="rect">
            <a:avLst/>
          </a:prstGeom>
        </p:spPr>
        <p:txBody>
          <a:bodyPr vert="horz" lIns="91440" tIns="45720" rIns="91440" bIns="45720" rtlCol="1" anchor="ctr"/>
          <a:lstStyle>
            <a:lvl1pPr algn="ctr">
              <a:defRPr sz="900">
                <a:solidFill>
                  <a:schemeClr val="tx1">
                    <a:tint val="75000"/>
                  </a:schemeClr>
                </a:solidFill>
              </a:defRPr>
            </a:lvl1pPr>
          </a:lstStyle>
          <a:p>
            <a:r>
              <a:rPr lang="he-IL"/>
              <a:t>מבוא למיקרו כלכלה - תרגיל מספר 5</a:t>
            </a:r>
          </a:p>
        </p:txBody>
      </p:sp>
      <p:sp>
        <p:nvSpPr>
          <p:cNvPr id="6" name="מציין מיקום של מספר שקופית 5"/>
          <p:cNvSpPr>
            <a:spLocks noGrp="1"/>
          </p:cNvSpPr>
          <p:nvPr>
            <p:ph type="sldNum" sz="quarter" idx="4"/>
          </p:nvPr>
        </p:nvSpPr>
        <p:spPr>
          <a:xfrm>
            <a:off x="838200" y="6356352"/>
            <a:ext cx="2743200" cy="365125"/>
          </a:xfrm>
          <a:prstGeom prst="rect">
            <a:avLst/>
          </a:prstGeom>
        </p:spPr>
        <p:txBody>
          <a:bodyPr vert="horz" lIns="91440" tIns="45720" rIns="91440" bIns="45720" rtlCol="1" anchor="ctr"/>
          <a:lstStyle>
            <a:lvl1pPr algn="l">
              <a:defRPr sz="900">
                <a:solidFill>
                  <a:schemeClr val="tx1">
                    <a:tint val="75000"/>
                  </a:schemeClr>
                </a:solidFill>
              </a:defRPr>
            </a:lvl1pPr>
          </a:lstStyle>
          <a:p>
            <a:fld id="{D69A981F-4466-4789-9E41-1885E502A96E}" type="slidenum">
              <a:rPr lang="he-IL" smtClean="0"/>
              <a:t>‹#›</a:t>
            </a:fld>
            <a:endParaRPr lang="he-IL"/>
          </a:p>
        </p:txBody>
      </p:sp>
    </p:spTree>
    <p:extLst>
      <p:ext uri="{BB962C8B-B14F-4D97-AF65-F5344CB8AC3E}">
        <p14:creationId xmlns:p14="http://schemas.microsoft.com/office/powerpoint/2010/main" val="333853965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p:txStyles>
    <p:titleStyle>
      <a:lvl1pPr algn="r" defTabSz="685800" rtl="1"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r" defTabSz="685800" rtl="1"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r" defTabSz="685800" rtl="1"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r" defTabSz="685800" rtl="1"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r" defTabSz="685800" rtl="1"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he-IL"/>
      </a:defPPr>
      <a:lvl1pPr marL="0" algn="r" defTabSz="685800" rtl="1" eaLnBrk="1" latinLnBrk="0" hangingPunct="1">
        <a:defRPr sz="1350" kern="1200">
          <a:solidFill>
            <a:schemeClr val="tx1"/>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609600" y="274638"/>
            <a:ext cx="10972800" cy="1143000"/>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609600" y="1600201"/>
            <a:ext cx="10972800" cy="4525963"/>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737600" y="6356351"/>
            <a:ext cx="28448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D596F47D-E3C0-4F61-B56F-8D34C2B92AF3}" type="datetime8">
              <a:rPr lang="he-IL" smtClean="0"/>
              <a:t>09 ינואר 26</a:t>
            </a:fld>
            <a:endParaRPr lang="he-IL"/>
          </a:p>
        </p:txBody>
      </p:sp>
      <p:sp>
        <p:nvSpPr>
          <p:cNvPr id="5" name="מציין מיקום של כותרת תחתונה 4"/>
          <p:cNvSpPr>
            <a:spLocks noGrp="1"/>
          </p:cNvSpPr>
          <p:nvPr>
            <p:ph type="ftr" sz="quarter" idx="3"/>
          </p:nvPr>
        </p:nvSpPr>
        <p:spPr>
          <a:xfrm>
            <a:off x="4165600" y="6356351"/>
            <a:ext cx="3860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r>
              <a:rPr lang="he-IL"/>
              <a:t>מבוא למיקרו כלכלה - תרגיל מספר 5</a:t>
            </a:r>
          </a:p>
        </p:txBody>
      </p:sp>
      <p:sp>
        <p:nvSpPr>
          <p:cNvPr id="6" name="מציין מיקום של מספר שקופית 5"/>
          <p:cNvSpPr>
            <a:spLocks noGrp="1"/>
          </p:cNvSpPr>
          <p:nvPr>
            <p:ph type="sldNum" sz="quarter" idx="4"/>
          </p:nvPr>
        </p:nvSpPr>
        <p:spPr>
          <a:xfrm>
            <a:off x="609600" y="6356351"/>
            <a:ext cx="28448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492DB488-E800-4C9D-A68D-A9C6D048BCD3}" type="slidenum">
              <a:rPr lang="he-IL" smtClean="0"/>
              <a:pPr/>
              <a:t>‹#›</a:t>
            </a:fld>
            <a:endParaRPr lang="he-IL"/>
          </a:p>
        </p:txBody>
      </p:sp>
    </p:spTree>
    <p:extLst>
      <p:ext uri="{BB962C8B-B14F-4D97-AF65-F5344CB8AC3E}">
        <p14:creationId xmlns:p14="http://schemas.microsoft.com/office/powerpoint/2010/main" val="130507685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L"/>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787C4DA-7EA6-4C7C-8E9E-B03D80C15E76}" type="datetime8">
              <a:rPr lang="he-IL" smtClean="0"/>
              <a:t>09 ינואר 26</a:t>
            </a:fld>
            <a:endParaRPr lang="he-IL"/>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he-IL"/>
              <a:t>מבוא למיקרו כלכלה - תרגיל מספר 5</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69A981F-4466-4789-9E41-1885E502A96E}" type="slidenum">
              <a:rPr lang="he-IL" smtClean="0"/>
              <a:t>‹#›</a:t>
            </a:fld>
            <a:endParaRPr lang="he-IL"/>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130157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43.png"/><Relationship Id="rId1" Type="http://schemas.openxmlformats.org/officeDocument/2006/relationships/slideLayout" Target="../slideLayouts/slideLayout24.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2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9.png"/><Relationship Id="rId7" Type="http://schemas.openxmlformats.org/officeDocument/2006/relationships/image" Target="../media/image36.png"/><Relationship Id="rId2" Type="http://schemas.openxmlformats.org/officeDocument/2006/relationships/image" Target="../media/image50.png"/><Relationship Id="rId1" Type="http://schemas.openxmlformats.org/officeDocument/2006/relationships/slideLayout" Target="../slideLayouts/slideLayout24.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16.png"/><Relationship Id="rId4" Type="http://schemas.openxmlformats.org/officeDocument/2006/relationships/image" Target="../media/image40.png"/><Relationship Id="rId9"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8.png"/><Relationship Id="rId1" Type="http://schemas.openxmlformats.org/officeDocument/2006/relationships/slideLayout" Target="../slideLayouts/slideLayout24.xml"/><Relationship Id="rId5" Type="http://schemas.openxmlformats.org/officeDocument/2006/relationships/image" Target="../media/image51.png"/><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png"/><Relationship Id="rId1" Type="http://schemas.openxmlformats.org/officeDocument/2006/relationships/slideLayout" Target="../slideLayouts/slideLayout2.xml"/><Relationship Id="rId5" Type="http://schemas.openxmlformats.org/officeDocument/2006/relationships/image" Target="../media/image110.png"/><Relationship Id="rId4" Type="http://schemas.openxmlformats.org/officeDocument/2006/relationships/image" Target="../media/image10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70.png"/><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4.xml"/><Relationship Id="rId6" Type="http://schemas.openxmlformats.org/officeDocument/2006/relationships/image" Target="../media/image101.png"/><Relationship Id="rId5" Type="http://schemas.openxmlformats.org/officeDocument/2006/relationships/image" Target="../media/image91.png"/><Relationship Id="rId4" Type="http://schemas.openxmlformats.org/officeDocument/2006/relationships/image" Target="../media/image81.png"/></Relationships>
</file>

<file path=ppt/slides/_rels/slide46.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3" Type="http://schemas.openxmlformats.org/officeDocument/2006/relationships/image" Target="../media/image28.png"/><Relationship Id="rId7" Type="http://schemas.openxmlformats.org/officeDocument/2006/relationships/image" Target="../media/image53.png"/><Relationship Id="rId12" Type="http://schemas.openxmlformats.org/officeDocument/2006/relationships/image" Target="../media/image58.png"/><Relationship Id="rId2" Type="http://schemas.openxmlformats.org/officeDocument/2006/relationships/notesSlide" Target="../notesSlides/notesSlide6.xml"/><Relationship Id="rId16" Type="http://schemas.openxmlformats.org/officeDocument/2006/relationships/image" Target="../media/image62.png"/><Relationship Id="rId1" Type="http://schemas.openxmlformats.org/officeDocument/2006/relationships/slideLayout" Target="../slideLayouts/slideLayout24.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45.png"/><Relationship Id="rId15" Type="http://schemas.openxmlformats.org/officeDocument/2006/relationships/image" Target="../media/image61.png"/><Relationship Id="rId10" Type="http://schemas.openxmlformats.org/officeDocument/2006/relationships/image" Target="../media/image56.png"/><Relationship Id="rId4" Type="http://schemas.openxmlformats.org/officeDocument/2006/relationships/image" Target="../media/image44.png"/><Relationship Id="rId9" Type="http://schemas.openxmlformats.org/officeDocument/2006/relationships/image" Target="../media/image55.png"/><Relationship Id="rId1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5353" y="2746584"/>
            <a:ext cx="8660130" cy="2162775"/>
          </a:xfrm>
        </p:spPr>
        <p:txBody>
          <a:bodyPr>
            <a:noAutofit/>
          </a:bodyPr>
          <a:lstStyle/>
          <a:p>
            <a:pPr algn="ctr"/>
            <a:r>
              <a:rPr lang="he-IL" sz="5400" b="1" u="sng" dirty="0">
                <a:solidFill>
                  <a:srgbClr val="C00000"/>
                </a:solidFill>
                <a:cs typeface="+mn-cs"/>
              </a:rPr>
              <a:t>תרגול כיתה 11</a:t>
            </a:r>
            <a:br>
              <a:rPr lang="he-IL" sz="5400" b="1" u="sng" dirty="0">
                <a:solidFill>
                  <a:srgbClr val="C00000"/>
                </a:solidFill>
                <a:cs typeface="+mn-cs"/>
              </a:rPr>
            </a:br>
            <a:br>
              <a:rPr lang="he-IL" sz="4800" b="1" dirty="0">
                <a:solidFill>
                  <a:srgbClr val="C00000"/>
                </a:solidFill>
                <a:cs typeface="+mn-cs"/>
              </a:rPr>
            </a:br>
            <a:r>
              <a:rPr lang="he-IL" sz="4800" b="1" dirty="0">
                <a:solidFill>
                  <a:schemeClr val="bg2">
                    <a:lumMod val="50000"/>
                  </a:schemeClr>
                </a:solidFill>
                <a:cs typeface="+mn-cs"/>
              </a:rPr>
              <a:t>היצע הפירמה והענף</a:t>
            </a:r>
            <a:br>
              <a:rPr lang="he-IL" sz="4800" b="1" dirty="0">
                <a:solidFill>
                  <a:schemeClr val="bg2">
                    <a:lumMod val="50000"/>
                  </a:schemeClr>
                </a:solidFill>
                <a:cs typeface="+mn-cs"/>
              </a:rPr>
            </a:br>
            <a:r>
              <a:rPr lang="he-IL" sz="4800" b="1" dirty="0">
                <a:solidFill>
                  <a:srgbClr val="002060"/>
                </a:solidFill>
                <a:cs typeface="+mn-cs"/>
              </a:rPr>
              <a:t>הקשר בין עלויות לתפוקות </a:t>
            </a:r>
            <a:br>
              <a:rPr lang="he-IL" sz="4800" b="1" dirty="0">
                <a:solidFill>
                  <a:srgbClr val="002060"/>
                </a:solidFill>
                <a:cs typeface="+mn-cs"/>
              </a:rPr>
            </a:br>
            <a:r>
              <a:rPr lang="he-IL" sz="4800" b="1" dirty="0">
                <a:solidFill>
                  <a:srgbClr val="C00000"/>
                </a:solidFill>
                <a:cs typeface="+mn-cs"/>
              </a:rPr>
              <a:t>שיווי משקל בשוק המוצר</a:t>
            </a:r>
            <a:br>
              <a:rPr lang="he-IL" sz="6600" dirty="0">
                <a:cs typeface="+mn-cs"/>
              </a:rPr>
            </a:br>
            <a:endParaRPr lang="en-US" sz="6600" dirty="0">
              <a:cs typeface="+mn-cs"/>
            </a:endParaRPr>
          </a:p>
        </p:txBody>
      </p:sp>
      <p:sp>
        <p:nvSpPr>
          <p:cNvPr id="7" name="Subtitle 6">
            <a:extLst>
              <a:ext uri="{FF2B5EF4-FFF2-40B4-BE49-F238E27FC236}">
                <a16:creationId xmlns:a16="http://schemas.microsoft.com/office/drawing/2014/main" id="{9ADCB7EB-EAC4-A1DB-FB26-66F31C082F16}"/>
              </a:ext>
            </a:extLst>
          </p:cNvPr>
          <p:cNvSpPr>
            <a:spLocks noGrp="1"/>
          </p:cNvSpPr>
          <p:nvPr>
            <p:ph type="subTitle" idx="1"/>
          </p:nvPr>
        </p:nvSpPr>
        <p:spPr>
          <a:xfrm>
            <a:off x="3136773" y="4717335"/>
            <a:ext cx="5918454" cy="1069848"/>
          </a:xfrm>
        </p:spPr>
        <p:txBody>
          <a:bodyPr>
            <a:noAutofit/>
          </a:bodyPr>
          <a:lstStyle/>
          <a:p>
            <a:pPr algn="ctr"/>
            <a:br>
              <a:rPr lang="he-IL" sz="3600" dirty="0"/>
            </a:br>
            <a:r>
              <a:rPr lang="he-IL" sz="4400" dirty="0"/>
              <a:t>מבוא למיקרו כלכלה</a:t>
            </a:r>
            <a:endParaRPr lang="en-IL" sz="4400" dirty="0"/>
          </a:p>
        </p:txBody>
      </p:sp>
      <p:sp>
        <p:nvSpPr>
          <p:cNvPr id="5" name="Footer Placeholder 4">
            <a:extLst>
              <a:ext uri="{FF2B5EF4-FFF2-40B4-BE49-F238E27FC236}">
                <a16:creationId xmlns:a16="http://schemas.microsoft.com/office/drawing/2014/main" id="{1666C7DF-9E17-DF3D-3B00-509FDEBFA786}"/>
              </a:ext>
            </a:extLst>
          </p:cNvPr>
          <p:cNvSpPr>
            <a:spLocks noGrp="1"/>
          </p:cNvSpPr>
          <p:nvPr>
            <p:ph type="ftr" sz="quarter" idx="11"/>
          </p:nvPr>
        </p:nvSpPr>
        <p:spPr/>
        <p:txBody>
          <a:bodyPr/>
          <a:lstStyle/>
          <a:p>
            <a:r>
              <a:rPr lang="he-IL"/>
              <a:t>מיכאלה משקוביץ</a:t>
            </a:r>
            <a:endParaRPr lang="en-US"/>
          </a:p>
        </p:txBody>
      </p:sp>
      <p:sp>
        <p:nvSpPr>
          <p:cNvPr id="4" name="Slide Number Placeholder 3"/>
          <p:cNvSpPr>
            <a:spLocks noGrp="1"/>
          </p:cNvSpPr>
          <p:nvPr>
            <p:ph type="sldNum" sz="quarter" idx="12"/>
          </p:nvPr>
        </p:nvSpPr>
        <p:spPr/>
        <p:txBody>
          <a:bodyPr/>
          <a:lstStyle/>
          <a:p>
            <a:fld id="{88D84094-42EF-4077-B27C-6F8776346EB9}" type="slidenum">
              <a:rPr lang="en-US" smtClean="0"/>
              <a:t>1</a:t>
            </a:fld>
            <a:endParaRPr lang="en-US"/>
          </a:p>
        </p:txBody>
      </p:sp>
    </p:spTree>
    <p:extLst>
      <p:ext uri="{BB962C8B-B14F-4D97-AF65-F5344CB8AC3E}">
        <p14:creationId xmlns:p14="http://schemas.microsoft.com/office/powerpoint/2010/main" val="2762590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AAEE96-7E8B-4CB9-998C-5A8BB3061D18}"/>
              </a:ext>
            </a:extLst>
          </p:cNvPr>
          <p:cNvPicPr>
            <a:picLocks noChangeAspect="1"/>
          </p:cNvPicPr>
          <p:nvPr/>
        </p:nvPicPr>
        <p:blipFill>
          <a:blip r:embed="rId2"/>
          <a:stretch>
            <a:fillRect/>
          </a:stretch>
        </p:blipFill>
        <p:spPr>
          <a:xfrm>
            <a:off x="2422398" y="898715"/>
            <a:ext cx="8197208" cy="5325279"/>
          </a:xfrm>
          <a:prstGeom prst="rect">
            <a:avLst/>
          </a:prstGeom>
        </p:spPr>
      </p:pic>
      <p:sp>
        <p:nvSpPr>
          <p:cNvPr id="2" name="Date Placeholder 1">
            <a:extLst>
              <a:ext uri="{FF2B5EF4-FFF2-40B4-BE49-F238E27FC236}">
                <a16:creationId xmlns:a16="http://schemas.microsoft.com/office/drawing/2014/main" id="{6C1D9A31-9A6B-30EE-4B87-113B88EE1363}"/>
              </a:ext>
            </a:extLst>
          </p:cNvPr>
          <p:cNvSpPr>
            <a:spLocks noGrp="1"/>
          </p:cNvSpPr>
          <p:nvPr>
            <p:ph type="dt" sz="half" idx="10"/>
          </p:nvPr>
        </p:nvSpPr>
        <p:spPr/>
        <p:txBody>
          <a:bodyPr/>
          <a:lstStyle/>
          <a:p>
            <a:fld id="{0AE19F95-8DAE-4241-BEBA-134B9C74C7C4}" type="datetime8">
              <a:rPr lang="he-IL" smtClean="0"/>
              <a:t>09 ינואר 26</a:t>
            </a:fld>
            <a:endParaRPr lang="he-IL"/>
          </a:p>
        </p:txBody>
      </p:sp>
      <p:sp>
        <p:nvSpPr>
          <p:cNvPr id="3" name="Slide Number Placeholder 2">
            <a:extLst>
              <a:ext uri="{FF2B5EF4-FFF2-40B4-BE49-F238E27FC236}">
                <a16:creationId xmlns:a16="http://schemas.microsoft.com/office/drawing/2014/main" id="{29F8BB48-5631-9CCD-73A4-E771E9A5AC20}"/>
              </a:ext>
            </a:extLst>
          </p:cNvPr>
          <p:cNvSpPr>
            <a:spLocks noGrp="1"/>
          </p:cNvSpPr>
          <p:nvPr>
            <p:ph type="sldNum" sz="quarter" idx="12"/>
          </p:nvPr>
        </p:nvSpPr>
        <p:spPr/>
        <p:txBody>
          <a:bodyPr/>
          <a:lstStyle/>
          <a:p>
            <a:fld id="{D69A981F-4466-4789-9E41-1885E502A96E}" type="slidenum">
              <a:rPr lang="he-IL" smtClean="0"/>
              <a:t>2</a:t>
            </a:fld>
            <a:endParaRPr lang="he-IL"/>
          </a:p>
        </p:txBody>
      </p:sp>
      <p:sp>
        <p:nvSpPr>
          <p:cNvPr id="6" name="TextBox 5">
            <a:extLst>
              <a:ext uri="{FF2B5EF4-FFF2-40B4-BE49-F238E27FC236}">
                <a16:creationId xmlns:a16="http://schemas.microsoft.com/office/drawing/2014/main" id="{4F8F7C2C-2ECE-7CCF-D824-C31E3558529A}"/>
              </a:ext>
            </a:extLst>
          </p:cNvPr>
          <p:cNvSpPr txBox="1"/>
          <p:nvPr/>
        </p:nvSpPr>
        <p:spPr>
          <a:xfrm>
            <a:off x="2422398" y="809947"/>
            <a:ext cx="8197208" cy="1077218"/>
          </a:xfrm>
          <a:prstGeom prst="rect">
            <a:avLst/>
          </a:prstGeom>
          <a:solidFill>
            <a:schemeClr val="bg1">
              <a:lumMod val="95000"/>
            </a:schemeClr>
          </a:solidFill>
          <a:ln>
            <a:noFill/>
          </a:ln>
        </p:spPr>
        <p:txBody>
          <a:bodyPr wrap="square" rtlCol="0">
            <a:spAutoFit/>
          </a:bodyPr>
          <a:lstStyle/>
          <a:p>
            <a:pPr algn="ctr"/>
            <a:r>
              <a:rPr lang="he-IL" sz="2800" b="1" dirty="0"/>
              <a:t>הקשר בין סוג הביקוש לבין הוצאה של הצרכן על המוצר</a:t>
            </a:r>
          </a:p>
          <a:p>
            <a:endParaRPr lang="he-IL" dirty="0"/>
          </a:p>
          <a:p>
            <a:endParaRPr lang="en-IL" dirty="0"/>
          </a:p>
        </p:txBody>
      </p:sp>
    </p:spTree>
    <p:extLst>
      <p:ext uri="{BB962C8B-B14F-4D97-AF65-F5344CB8AC3E}">
        <p14:creationId xmlns:p14="http://schemas.microsoft.com/office/powerpoint/2010/main" val="2925357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3737788" y="875020"/>
            <a:ext cx="8229600" cy="1640296"/>
          </a:xfrm>
          <a:prstGeom prst="rect">
            <a:avLst/>
          </a:prstGeom>
        </p:spPr>
      </p:pic>
      <p:sp>
        <p:nvSpPr>
          <p:cNvPr id="4" name="כותרת 1"/>
          <p:cNvSpPr txBox="1">
            <a:spLocks/>
          </p:cNvSpPr>
          <p:nvPr/>
        </p:nvSpPr>
        <p:spPr>
          <a:xfrm>
            <a:off x="9769151" y="186885"/>
            <a:ext cx="2317102" cy="404663"/>
          </a:xfrm>
          <a:prstGeom prst="rect">
            <a:avLst/>
          </a:prstGeom>
        </p:spPr>
        <p:txBody>
          <a:bodyPr vert="horz" lIns="91440" tIns="45720" rIns="91440" bIns="45720" rtlCol="0" anchor="ctr">
            <a:noAutofit/>
          </a:bodyPr>
          <a:lstStyle>
            <a:lvl1pPr algn="l" defTabSz="914400" rtl="1" eaLnBrk="1" latinLnBrk="0" hangingPunct="1">
              <a:spcBef>
                <a:spcPct val="0"/>
              </a:spcBef>
              <a:buNone/>
              <a:defRPr sz="4000" kern="1200" spc="-100" baseline="0">
                <a:solidFill>
                  <a:schemeClr val="tx2"/>
                </a:solidFill>
                <a:latin typeface="+mj-lt"/>
                <a:ea typeface="+mj-ea"/>
                <a:cs typeface="+mj-cs"/>
              </a:defRPr>
            </a:lvl1pPr>
          </a:lstStyle>
          <a:p>
            <a:pPr algn="r"/>
            <a:r>
              <a:rPr lang="he-IL" b="1" dirty="0">
                <a:cs typeface="+mn-cs"/>
              </a:rPr>
              <a:t>שאלה 1 </a:t>
            </a:r>
          </a:p>
        </p:txBody>
      </p:sp>
    </p:spTree>
    <p:extLst>
      <p:ext uri="{BB962C8B-B14F-4D97-AF65-F5344CB8AC3E}">
        <p14:creationId xmlns:p14="http://schemas.microsoft.com/office/powerpoint/2010/main" val="1932892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DAB63-01D7-32E4-0058-64ACA429C3A0}"/>
            </a:ext>
          </a:extLst>
        </p:cNvPr>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1EFB9486-D4CF-4E74-01A3-245CCBEF9493}"/>
              </a:ext>
            </a:extLst>
          </p:cNvPr>
          <p:cNvPicPr>
            <a:picLocks noGrp="1" noChangeAspect="1"/>
          </p:cNvPicPr>
          <p:nvPr>
            <p:ph idx="1"/>
          </p:nvPr>
        </p:nvPicPr>
        <p:blipFill>
          <a:blip r:embed="rId2"/>
          <a:stretch>
            <a:fillRect/>
          </a:stretch>
        </p:blipFill>
        <p:spPr>
          <a:xfrm>
            <a:off x="3737788" y="875020"/>
            <a:ext cx="8229600" cy="1640296"/>
          </a:xfrm>
          <a:prstGeom prst="rect">
            <a:avLst/>
          </a:prstGeom>
        </p:spPr>
      </p:pic>
      <p:sp>
        <p:nvSpPr>
          <p:cNvPr id="4" name="כותרת 1">
            <a:extLst>
              <a:ext uri="{FF2B5EF4-FFF2-40B4-BE49-F238E27FC236}">
                <a16:creationId xmlns:a16="http://schemas.microsoft.com/office/drawing/2014/main" id="{CF68CAD5-3C6E-7414-4954-56AFFFCC4EF2}"/>
              </a:ext>
            </a:extLst>
          </p:cNvPr>
          <p:cNvSpPr txBox="1">
            <a:spLocks/>
          </p:cNvSpPr>
          <p:nvPr/>
        </p:nvSpPr>
        <p:spPr>
          <a:xfrm>
            <a:off x="9769151" y="186885"/>
            <a:ext cx="2317102" cy="404663"/>
          </a:xfrm>
          <a:prstGeom prst="rect">
            <a:avLst/>
          </a:prstGeom>
        </p:spPr>
        <p:txBody>
          <a:bodyPr vert="horz" lIns="91440" tIns="45720" rIns="91440" bIns="45720" rtlCol="0" anchor="ctr">
            <a:noAutofit/>
          </a:bodyPr>
          <a:lstStyle>
            <a:lvl1pPr algn="l" defTabSz="914400" rtl="1" eaLnBrk="1" latinLnBrk="0" hangingPunct="1">
              <a:spcBef>
                <a:spcPct val="0"/>
              </a:spcBef>
              <a:buNone/>
              <a:defRPr sz="4000" kern="1200" spc="-100" baseline="0">
                <a:solidFill>
                  <a:schemeClr val="tx2"/>
                </a:solidFill>
                <a:latin typeface="+mj-lt"/>
                <a:ea typeface="+mj-ea"/>
                <a:cs typeface="+mj-cs"/>
              </a:defRPr>
            </a:lvl1pPr>
          </a:lstStyle>
          <a:p>
            <a:pPr algn="r"/>
            <a:r>
              <a:rPr lang="he-IL" b="1" dirty="0">
                <a:cs typeface="+mn-cs"/>
              </a:rPr>
              <a:t>שאלה 1 </a:t>
            </a:r>
          </a:p>
        </p:txBody>
      </p:sp>
      <mc:AlternateContent xmlns:mc="http://schemas.openxmlformats.org/markup-compatibility/2006" xmlns:a14="http://schemas.microsoft.com/office/drawing/2010/main">
        <mc:Choice Requires="a14">
          <p:sp>
            <p:nvSpPr>
              <p:cNvPr id="6" name="מלבן 18">
                <a:extLst>
                  <a:ext uri="{FF2B5EF4-FFF2-40B4-BE49-F238E27FC236}">
                    <a16:creationId xmlns:a16="http://schemas.microsoft.com/office/drawing/2014/main" id="{F91406E3-6853-31F0-DD6A-C4BEDFBBDD70}"/>
                  </a:ext>
                </a:extLst>
              </p:cNvPr>
              <p:cNvSpPr/>
              <p:nvPr/>
            </p:nvSpPr>
            <p:spPr>
              <a:xfrm>
                <a:off x="7649287" y="2730820"/>
                <a:ext cx="1631089" cy="536942"/>
              </a:xfrm>
              <a:prstGeom prst="rect">
                <a:avLst/>
              </a:prstGeom>
            </p:spPr>
            <p:txBody>
              <a:bodyPr wrap="none">
                <a:spAutoFit/>
              </a:bodyPr>
              <a:lstStyle/>
              <a:p>
                <a:r>
                  <a:rPr lang="en-US" sz="2000" b="1" dirty="0"/>
                  <a:t>MC </a:t>
                </a:r>
                <a14:m>
                  <m:oMath xmlns:m="http://schemas.openxmlformats.org/officeDocument/2006/math">
                    <m:r>
                      <a:rPr lang="he-IL" sz="2000" b="1">
                        <a:latin typeface="Cambria Math"/>
                      </a:rPr>
                      <m:t>=</m:t>
                    </m:r>
                    <m:f>
                      <m:fPr>
                        <m:ctrlPr>
                          <a:rPr lang="he-IL" sz="2000" b="1" i="1">
                            <a:latin typeface="Cambria Math" panose="02040503050406030204" pitchFamily="18" charset="0"/>
                          </a:rPr>
                        </m:ctrlPr>
                      </m:fPr>
                      <m:num>
                        <m:r>
                          <a:rPr lang="en-US" sz="2000" b="1">
                            <a:latin typeface="Cambria Math" panose="02040503050406030204" pitchFamily="18" charset="0"/>
                          </a:rPr>
                          <m:t>𝟐𝟎</m:t>
                        </m:r>
                      </m:num>
                      <m:den>
                        <m:r>
                          <a:rPr lang="en-US" sz="2000" b="1">
                            <a:latin typeface="Cambria Math" panose="02040503050406030204" pitchFamily="18" charset="0"/>
                          </a:rPr>
                          <m:t>𝟐𝟎</m:t>
                        </m:r>
                      </m:den>
                    </m:f>
                    <m:r>
                      <a:rPr lang="he-IL" sz="2000" b="1">
                        <a:latin typeface="Cambria Math"/>
                      </a:rPr>
                      <m:t>=</m:t>
                    </m:r>
                    <m:r>
                      <a:rPr lang="en-US" sz="2000" b="1">
                        <a:latin typeface="Cambria Math" panose="02040503050406030204" pitchFamily="18" charset="0"/>
                      </a:rPr>
                      <m:t>𝟏</m:t>
                    </m:r>
                  </m:oMath>
                </a14:m>
                <a:endParaRPr lang="he-IL" sz="2000" b="1" dirty="0"/>
              </a:p>
            </p:txBody>
          </p:sp>
        </mc:Choice>
        <mc:Fallback xmlns="">
          <p:sp>
            <p:nvSpPr>
              <p:cNvPr id="6" name="מלבן 18">
                <a:extLst>
                  <a:ext uri="{FF2B5EF4-FFF2-40B4-BE49-F238E27FC236}">
                    <a16:creationId xmlns:a16="http://schemas.microsoft.com/office/drawing/2014/main" id="{F91406E3-6853-31F0-DD6A-C4BEDFBBDD70}"/>
                  </a:ext>
                </a:extLst>
              </p:cNvPr>
              <p:cNvSpPr>
                <a:spLocks noRot="1" noChangeAspect="1" noMove="1" noResize="1" noEditPoints="1" noAdjustHandles="1" noChangeArrowheads="1" noChangeShapeType="1" noTextEdit="1"/>
              </p:cNvSpPr>
              <p:nvPr/>
            </p:nvSpPr>
            <p:spPr>
              <a:xfrm>
                <a:off x="7649287" y="2730820"/>
                <a:ext cx="1631089" cy="536942"/>
              </a:xfrm>
              <a:prstGeom prst="rect">
                <a:avLst/>
              </a:prstGeom>
              <a:blipFill>
                <a:blip r:embed="rId3"/>
                <a:stretch>
                  <a:fillRect b="-7955"/>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7" name="מלבן 18">
                <a:extLst>
                  <a:ext uri="{FF2B5EF4-FFF2-40B4-BE49-F238E27FC236}">
                    <a16:creationId xmlns:a16="http://schemas.microsoft.com/office/drawing/2014/main" id="{F73E942F-BA1E-8369-B74D-A5D9109BF77D}"/>
                  </a:ext>
                </a:extLst>
              </p:cNvPr>
              <p:cNvSpPr/>
              <p:nvPr/>
            </p:nvSpPr>
            <p:spPr>
              <a:xfrm>
                <a:off x="5968008" y="2730820"/>
                <a:ext cx="1341767" cy="533992"/>
              </a:xfrm>
              <a:prstGeom prst="rect">
                <a:avLst/>
              </a:prstGeom>
            </p:spPr>
            <p:txBody>
              <a:bodyPr wrap="square">
                <a:spAutoFit/>
              </a:bodyPr>
              <a:lstStyle/>
              <a:p>
                <a:r>
                  <a:rPr lang="en-US" b="1" dirty="0"/>
                  <a:t>MC </a:t>
                </a:r>
                <a:r>
                  <a:rPr lang="en-US" dirty="0"/>
                  <a:t>=</a:t>
                </a:r>
                <a:r>
                  <a:rPr lang="en-US" b="1" dirty="0"/>
                  <a:t> </a:t>
                </a:r>
                <a14:m>
                  <m:oMath xmlns:m="http://schemas.openxmlformats.org/officeDocument/2006/math">
                    <m:f>
                      <m:fPr>
                        <m:ctrlPr>
                          <a:rPr lang="he-IL" sz="2000" b="1" i="1">
                            <a:latin typeface="Cambria Math" panose="02040503050406030204" pitchFamily="18" charset="0"/>
                          </a:rPr>
                        </m:ctrlPr>
                      </m:fPr>
                      <m:num>
                        <m:r>
                          <a:rPr lang="en-US" sz="2000" b="1">
                            <a:latin typeface="Cambria Math" panose="02040503050406030204" pitchFamily="18" charset="0"/>
                          </a:rPr>
                          <m:t>𝐏</m:t>
                        </m:r>
                        <m:r>
                          <a:rPr lang="en-US" sz="2000" b="1" i="1">
                            <a:latin typeface="Cambria Math" panose="02040503050406030204" pitchFamily="18" charset="0"/>
                          </a:rPr>
                          <m:t>𝑳</m:t>
                        </m:r>
                      </m:num>
                      <m:den>
                        <m:r>
                          <a:rPr lang="en-US" sz="2000" b="1">
                            <a:latin typeface="Cambria Math" panose="02040503050406030204" pitchFamily="18" charset="0"/>
                          </a:rPr>
                          <m:t>𝐌𝐏</m:t>
                        </m:r>
                        <m:r>
                          <a:rPr lang="en-US" sz="2000" b="1" i="1">
                            <a:latin typeface="Cambria Math" panose="02040503050406030204" pitchFamily="18" charset="0"/>
                          </a:rPr>
                          <m:t>𝑳</m:t>
                        </m:r>
                      </m:den>
                    </m:f>
                  </m:oMath>
                </a14:m>
                <a:endParaRPr lang="he-IL" b="1" dirty="0"/>
              </a:p>
            </p:txBody>
          </p:sp>
        </mc:Choice>
        <mc:Fallback xmlns="">
          <p:sp>
            <p:nvSpPr>
              <p:cNvPr id="7" name="מלבן 18">
                <a:extLst>
                  <a:ext uri="{FF2B5EF4-FFF2-40B4-BE49-F238E27FC236}">
                    <a16:creationId xmlns:a16="http://schemas.microsoft.com/office/drawing/2014/main" id="{F73E942F-BA1E-8369-B74D-A5D9109BF77D}"/>
                  </a:ext>
                </a:extLst>
              </p:cNvPr>
              <p:cNvSpPr>
                <a:spLocks noRot="1" noChangeAspect="1" noMove="1" noResize="1" noEditPoints="1" noAdjustHandles="1" noChangeArrowheads="1" noChangeShapeType="1" noTextEdit="1"/>
              </p:cNvSpPr>
              <p:nvPr/>
            </p:nvSpPr>
            <p:spPr>
              <a:xfrm>
                <a:off x="5968008" y="2730820"/>
                <a:ext cx="1341767" cy="533992"/>
              </a:xfrm>
              <a:prstGeom prst="rect">
                <a:avLst/>
              </a:prstGeom>
              <a:blipFill>
                <a:blip r:embed="rId4"/>
                <a:stretch>
                  <a:fillRect b="-4545"/>
                </a:stretch>
              </a:blipFill>
            </p:spPr>
            <p:txBody>
              <a:bodyPr/>
              <a:lstStyle/>
              <a:p>
                <a:r>
                  <a:rPr lang="en-IL">
                    <a:noFill/>
                  </a:rPr>
                  <a:t> </a:t>
                </a:r>
              </a:p>
            </p:txBody>
          </p:sp>
        </mc:Fallback>
      </mc:AlternateContent>
      <p:pic>
        <p:nvPicPr>
          <p:cNvPr id="5" name="Picture 4">
            <a:extLst>
              <a:ext uri="{FF2B5EF4-FFF2-40B4-BE49-F238E27FC236}">
                <a16:creationId xmlns:a16="http://schemas.microsoft.com/office/drawing/2014/main" id="{EAA5AD35-1C18-9CCC-908D-EF75C5F94F21}"/>
              </a:ext>
            </a:extLst>
          </p:cNvPr>
          <p:cNvPicPr>
            <a:picLocks noChangeAspect="1"/>
          </p:cNvPicPr>
          <p:nvPr/>
        </p:nvPicPr>
        <p:blipFill>
          <a:blip r:embed="rId5"/>
          <a:stretch>
            <a:fillRect/>
          </a:stretch>
        </p:blipFill>
        <p:spPr>
          <a:xfrm>
            <a:off x="3215680" y="3580628"/>
            <a:ext cx="7221488" cy="3277372"/>
          </a:xfrm>
          <a:prstGeom prst="rect">
            <a:avLst/>
          </a:prstGeom>
        </p:spPr>
      </p:pic>
    </p:spTree>
    <p:extLst>
      <p:ext uri="{BB962C8B-B14F-4D97-AF65-F5344CB8AC3E}">
        <p14:creationId xmlns:p14="http://schemas.microsoft.com/office/powerpoint/2010/main" val="2956684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4379697" y="930112"/>
            <a:ext cx="7539838" cy="1512168"/>
          </a:xfrm>
          <a:prstGeom prst="rect">
            <a:avLst/>
          </a:prstGeom>
        </p:spPr>
      </p:pic>
      <p:sp>
        <p:nvSpPr>
          <p:cNvPr id="4" name="כותרת 1"/>
          <p:cNvSpPr txBox="1">
            <a:spLocks/>
          </p:cNvSpPr>
          <p:nvPr/>
        </p:nvSpPr>
        <p:spPr>
          <a:xfrm>
            <a:off x="9806473" y="233267"/>
            <a:ext cx="2223796" cy="404663"/>
          </a:xfrm>
          <a:prstGeom prst="rect">
            <a:avLst/>
          </a:prstGeom>
        </p:spPr>
        <p:txBody>
          <a:bodyPr vert="horz" lIns="91440" tIns="45720" rIns="91440" bIns="45720" rtlCol="0" anchor="ctr">
            <a:noAutofit/>
          </a:bodyPr>
          <a:lstStyle>
            <a:lvl1pPr algn="l" defTabSz="914400" rtl="1" eaLnBrk="1" latinLnBrk="0" hangingPunct="1">
              <a:spcBef>
                <a:spcPct val="0"/>
              </a:spcBef>
              <a:buNone/>
              <a:defRPr sz="4000" kern="1200" spc="-100" baseline="0">
                <a:solidFill>
                  <a:schemeClr val="tx2"/>
                </a:solidFill>
                <a:latin typeface="+mj-lt"/>
                <a:ea typeface="+mj-ea"/>
                <a:cs typeface="+mj-cs"/>
              </a:defRPr>
            </a:lvl1pPr>
          </a:lstStyle>
          <a:p>
            <a:pPr algn="r"/>
            <a:r>
              <a:rPr lang="he-IL" b="1" dirty="0">
                <a:cs typeface="+mn-cs"/>
              </a:rPr>
              <a:t>שאלה  2</a:t>
            </a:r>
          </a:p>
        </p:txBody>
      </p:sp>
    </p:spTree>
    <p:extLst>
      <p:ext uri="{BB962C8B-B14F-4D97-AF65-F5344CB8AC3E}">
        <p14:creationId xmlns:p14="http://schemas.microsoft.com/office/powerpoint/2010/main" val="1836486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9FDBA-5A08-ADD9-9DAB-B20E0F1DD721}"/>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0A14C9A-BC44-8FE0-E0D7-E10504B8A81A}"/>
              </a:ext>
            </a:extLst>
          </p:cNvPr>
          <p:cNvPicPr>
            <a:picLocks noGrp="1" noChangeAspect="1"/>
          </p:cNvPicPr>
          <p:nvPr>
            <p:ph idx="1"/>
          </p:nvPr>
        </p:nvPicPr>
        <p:blipFill>
          <a:blip r:embed="rId2"/>
          <a:stretch>
            <a:fillRect/>
          </a:stretch>
        </p:blipFill>
        <p:spPr>
          <a:xfrm>
            <a:off x="4379697" y="930112"/>
            <a:ext cx="7539838" cy="1512168"/>
          </a:xfrm>
          <a:prstGeom prst="rect">
            <a:avLst/>
          </a:prstGeom>
        </p:spPr>
      </p:pic>
      <p:sp>
        <p:nvSpPr>
          <p:cNvPr id="4" name="כותרת 1">
            <a:extLst>
              <a:ext uri="{FF2B5EF4-FFF2-40B4-BE49-F238E27FC236}">
                <a16:creationId xmlns:a16="http://schemas.microsoft.com/office/drawing/2014/main" id="{C3C23587-6F13-C50C-13FF-181C8B3A0BB1}"/>
              </a:ext>
            </a:extLst>
          </p:cNvPr>
          <p:cNvSpPr txBox="1">
            <a:spLocks/>
          </p:cNvSpPr>
          <p:nvPr/>
        </p:nvSpPr>
        <p:spPr>
          <a:xfrm>
            <a:off x="9806473" y="233267"/>
            <a:ext cx="2223796" cy="404663"/>
          </a:xfrm>
          <a:prstGeom prst="rect">
            <a:avLst/>
          </a:prstGeom>
        </p:spPr>
        <p:txBody>
          <a:bodyPr vert="horz" lIns="91440" tIns="45720" rIns="91440" bIns="45720" rtlCol="0" anchor="ctr">
            <a:noAutofit/>
          </a:bodyPr>
          <a:lstStyle>
            <a:lvl1pPr algn="l" defTabSz="914400" rtl="1" eaLnBrk="1" latinLnBrk="0" hangingPunct="1">
              <a:spcBef>
                <a:spcPct val="0"/>
              </a:spcBef>
              <a:buNone/>
              <a:defRPr sz="4000" kern="1200" spc="-100" baseline="0">
                <a:solidFill>
                  <a:schemeClr val="tx2"/>
                </a:solidFill>
                <a:latin typeface="+mj-lt"/>
                <a:ea typeface="+mj-ea"/>
                <a:cs typeface="+mj-cs"/>
              </a:defRPr>
            </a:lvl1pPr>
          </a:lstStyle>
          <a:p>
            <a:pPr algn="r"/>
            <a:r>
              <a:rPr lang="he-IL" b="1" dirty="0">
                <a:cs typeface="+mn-cs"/>
              </a:rPr>
              <a:t>שאלה  2</a:t>
            </a:r>
          </a:p>
        </p:txBody>
      </p:sp>
      <mc:AlternateContent xmlns:mc="http://schemas.openxmlformats.org/markup-compatibility/2006" xmlns:a14="http://schemas.microsoft.com/office/drawing/2010/main">
        <mc:Choice Requires="a14">
          <p:sp>
            <p:nvSpPr>
              <p:cNvPr id="6" name="מלבן 18">
                <a:extLst>
                  <a:ext uri="{FF2B5EF4-FFF2-40B4-BE49-F238E27FC236}">
                    <a16:creationId xmlns:a16="http://schemas.microsoft.com/office/drawing/2014/main" id="{60704731-7D44-B34D-C1C4-7BE825CB94B6}"/>
                  </a:ext>
                </a:extLst>
              </p:cNvPr>
              <p:cNvSpPr/>
              <p:nvPr/>
            </p:nvSpPr>
            <p:spPr>
              <a:xfrm>
                <a:off x="4524867" y="2535293"/>
                <a:ext cx="2230995" cy="536942"/>
              </a:xfrm>
              <a:prstGeom prst="rect">
                <a:avLst/>
              </a:prstGeom>
            </p:spPr>
            <p:txBody>
              <a:bodyPr wrap="none">
                <a:spAutoFit/>
              </a:bodyPr>
              <a:lstStyle/>
              <a:p>
                <a:r>
                  <a:rPr lang="en-US" sz="2000" b="1" dirty="0"/>
                  <a:t>AVC </a:t>
                </a:r>
                <a14:m>
                  <m:oMath xmlns:m="http://schemas.openxmlformats.org/officeDocument/2006/math">
                    <m:r>
                      <a:rPr lang="he-IL" sz="2000" b="1">
                        <a:latin typeface="Cambria Math"/>
                      </a:rPr>
                      <m:t>=</m:t>
                    </m:r>
                    <m:f>
                      <m:fPr>
                        <m:ctrlPr>
                          <a:rPr lang="he-IL" sz="2000" b="1" i="1">
                            <a:latin typeface="Cambria Math" panose="02040503050406030204" pitchFamily="18" charset="0"/>
                          </a:rPr>
                        </m:ctrlPr>
                      </m:fPr>
                      <m:num>
                        <m:r>
                          <a:rPr lang="he-IL" sz="2000" b="1">
                            <a:latin typeface="Cambria Math"/>
                          </a:rPr>
                          <m:t>𝟏𝟎</m:t>
                        </m:r>
                      </m:num>
                      <m:den>
                        <m:r>
                          <a:rPr lang="he-IL" sz="2000" b="1">
                            <a:latin typeface="Cambria Math"/>
                          </a:rPr>
                          <m:t>𝟏𝟎𝟎</m:t>
                        </m:r>
                        <m:r>
                          <a:rPr lang="en-US" sz="2000" b="1">
                            <a:latin typeface="Cambria Math" panose="02040503050406030204" pitchFamily="18" charset="0"/>
                          </a:rPr>
                          <m:t>𝟎</m:t>
                        </m:r>
                      </m:den>
                    </m:f>
                    <m:r>
                      <a:rPr lang="he-IL" sz="2000" b="1">
                        <a:latin typeface="Cambria Math"/>
                      </a:rPr>
                      <m:t>=</m:t>
                    </m:r>
                    <m:r>
                      <a:rPr lang="he-IL" sz="2000" b="1">
                        <a:latin typeface="Cambria Math"/>
                      </a:rPr>
                      <m:t>𝟎</m:t>
                    </m:r>
                    <m:r>
                      <a:rPr lang="he-IL" sz="2000" b="1">
                        <a:latin typeface="Cambria Math"/>
                      </a:rPr>
                      <m:t>.</m:t>
                    </m:r>
                    <m:r>
                      <a:rPr lang="en-US" sz="2000" b="1">
                        <a:latin typeface="Cambria Math" panose="02040503050406030204" pitchFamily="18" charset="0"/>
                      </a:rPr>
                      <m:t>𝟎</m:t>
                    </m:r>
                    <m:r>
                      <a:rPr lang="he-IL" sz="2000" b="1">
                        <a:latin typeface="Cambria Math"/>
                      </a:rPr>
                      <m:t>𝟏</m:t>
                    </m:r>
                  </m:oMath>
                </a14:m>
                <a:endParaRPr lang="he-IL" sz="2000" b="1" dirty="0"/>
              </a:p>
            </p:txBody>
          </p:sp>
        </mc:Choice>
        <mc:Fallback xmlns="">
          <p:sp>
            <p:nvSpPr>
              <p:cNvPr id="6" name="מלבן 18">
                <a:extLst>
                  <a:ext uri="{FF2B5EF4-FFF2-40B4-BE49-F238E27FC236}">
                    <a16:creationId xmlns:a16="http://schemas.microsoft.com/office/drawing/2014/main" id="{60704731-7D44-B34D-C1C4-7BE825CB94B6}"/>
                  </a:ext>
                </a:extLst>
              </p:cNvPr>
              <p:cNvSpPr>
                <a:spLocks noRot="1" noChangeAspect="1" noMove="1" noResize="1" noEditPoints="1" noAdjustHandles="1" noChangeArrowheads="1" noChangeShapeType="1" noTextEdit="1"/>
              </p:cNvSpPr>
              <p:nvPr/>
            </p:nvSpPr>
            <p:spPr>
              <a:xfrm>
                <a:off x="4524867" y="2535293"/>
                <a:ext cx="2230995" cy="536942"/>
              </a:xfrm>
              <a:prstGeom prst="rect">
                <a:avLst/>
              </a:prstGeom>
              <a:blipFill>
                <a:blip r:embed="rId3"/>
                <a:stretch>
                  <a:fillRect l="-1639" b="-7955"/>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7" name="מלבן 18">
                <a:extLst>
                  <a:ext uri="{FF2B5EF4-FFF2-40B4-BE49-F238E27FC236}">
                    <a16:creationId xmlns:a16="http://schemas.microsoft.com/office/drawing/2014/main" id="{EE4F1E96-5559-C95B-1235-3DCA6AED1978}"/>
                  </a:ext>
                </a:extLst>
              </p:cNvPr>
              <p:cNvSpPr/>
              <p:nvPr/>
            </p:nvSpPr>
            <p:spPr>
              <a:xfrm>
                <a:off x="3074259" y="2535293"/>
                <a:ext cx="1100429" cy="491160"/>
              </a:xfrm>
              <a:prstGeom prst="rect">
                <a:avLst/>
              </a:prstGeom>
            </p:spPr>
            <p:txBody>
              <a:bodyPr wrap="none">
                <a:spAutoFit/>
              </a:bodyPr>
              <a:lstStyle/>
              <a:p>
                <a:r>
                  <a:rPr lang="en-US" b="1" dirty="0"/>
                  <a:t>AVC </a:t>
                </a:r>
                <a:r>
                  <a:rPr lang="en-US" dirty="0"/>
                  <a:t>=</a:t>
                </a:r>
                <a:r>
                  <a:rPr lang="en-US" b="1" dirty="0"/>
                  <a:t> </a:t>
                </a:r>
                <a14:m>
                  <m:oMath xmlns:m="http://schemas.openxmlformats.org/officeDocument/2006/math">
                    <m:f>
                      <m:fPr>
                        <m:ctrlPr>
                          <a:rPr lang="he-IL" b="1" i="1">
                            <a:latin typeface="Cambria Math" panose="02040503050406030204" pitchFamily="18" charset="0"/>
                          </a:rPr>
                        </m:ctrlPr>
                      </m:fPr>
                      <m:num>
                        <m:r>
                          <a:rPr lang="en-US" b="1">
                            <a:latin typeface="Cambria Math" panose="02040503050406030204" pitchFamily="18" charset="0"/>
                          </a:rPr>
                          <m:t>𝐏𝐚</m:t>
                        </m:r>
                      </m:num>
                      <m:den>
                        <m:r>
                          <a:rPr lang="en-US" b="1">
                            <a:latin typeface="Cambria Math" panose="02040503050406030204" pitchFamily="18" charset="0"/>
                          </a:rPr>
                          <m:t>𝐀𝐏𝐚</m:t>
                        </m:r>
                      </m:den>
                    </m:f>
                  </m:oMath>
                </a14:m>
                <a:endParaRPr lang="he-IL" b="1" dirty="0"/>
              </a:p>
            </p:txBody>
          </p:sp>
        </mc:Choice>
        <mc:Fallback xmlns="">
          <p:sp>
            <p:nvSpPr>
              <p:cNvPr id="7" name="מלבן 18">
                <a:extLst>
                  <a:ext uri="{FF2B5EF4-FFF2-40B4-BE49-F238E27FC236}">
                    <a16:creationId xmlns:a16="http://schemas.microsoft.com/office/drawing/2014/main" id="{EE4F1E96-5559-C95B-1235-3DCA6AED1978}"/>
                  </a:ext>
                </a:extLst>
              </p:cNvPr>
              <p:cNvSpPr>
                <a:spLocks noRot="1" noChangeAspect="1" noMove="1" noResize="1" noEditPoints="1" noAdjustHandles="1" noChangeArrowheads="1" noChangeShapeType="1" noTextEdit="1"/>
              </p:cNvSpPr>
              <p:nvPr/>
            </p:nvSpPr>
            <p:spPr>
              <a:xfrm>
                <a:off x="3074259" y="2535293"/>
                <a:ext cx="1100429" cy="491160"/>
              </a:xfrm>
              <a:prstGeom prst="rect">
                <a:avLst/>
              </a:prstGeom>
              <a:blipFill>
                <a:blip r:embed="rId4"/>
                <a:stretch>
                  <a:fillRect l="-3315" b="-8750"/>
                </a:stretch>
              </a:blipFill>
            </p:spPr>
            <p:txBody>
              <a:bodyPr/>
              <a:lstStyle/>
              <a:p>
                <a:r>
                  <a:rPr lang="en-IL">
                    <a:noFill/>
                  </a:rPr>
                  <a:t> </a:t>
                </a:r>
              </a:p>
            </p:txBody>
          </p:sp>
        </mc:Fallback>
      </mc:AlternateContent>
      <p:pic>
        <p:nvPicPr>
          <p:cNvPr id="3" name="Picture 2">
            <a:extLst>
              <a:ext uri="{FF2B5EF4-FFF2-40B4-BE49-F238E27FC236}">
                <a16:creationId xmlns:a16="http://schemas.microsoft.com/office/drawing/2014/main" id="{96288A8C-BBF1-F3D1-ADA4-25E3E24AA188}"/>
              </a:ext>
            </a:extLst>
          </p:cNvPr>
          <p:cNvPicPr>
            <a:picLocks noChangeAspect="1"/>
          </p:cNvPicPr>
          <p:nvPr/>
        </p:nvPicPr>
        <p:blipFill>
          <a:blip r:embed="rId5"/>
          <a:stretch>
            <a:fillRect/>
          </a:stretch>
        </p:blipFill>
        <p:spPr>
          <a:xfrm>
            <a:off x="550647" y="3429000"/>
            <a:ext cx="7658100" cy="3324225"/>
          </a:xfrm>
          <a:prstGeom prst="rect">
            <a:avLst/>
          </a:prstGeom>
        </p:spPr>
      </p:pic>
    </p:spTree>
    <p:extLst>
      <p:ext uri="{BB962C8B-B14F-4D97-AF65-F5344CB8AC3E}">
        <p14:creationId xmlns:p14="http://schemas.microsoft.com/office/powerpoint/2010/main" val="1699665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55D2B-8F9C-4268-ADDD-84D9631C7940}"/>
              </a:ext>
            </a:extLst>
          </p:cNvPr>
          <p:cNvSpPr>
            <a:spLocks noGrp="1"/>
          </p:cNvSpPr>
          <p:nvPr>
            <p:ph type="title"/>
          </p:nvPr>
        </p:nvSpPr>
        <p:spPr>
          <a:xfrm>
            <a:off x="3750906" y="48363"/>
            <a:ext cx="7137106" cy="1154163"/>
          </a:xfrm>
        </p:spPr>
        <p:txBody>
          <a:bodyPr>
            <a:normAutofit/>
          </a:bodyPr>
          <a:lstStyle/>
          <a:p>
            <a:pPr algn="ctr"/>
            <a:r>
              <a:rPr lang="he-IL" sz="4800" dirty="0"/>
              <a:t>תזכורת: היצע היצרן </a:t>
            </a:r>
            <a:endParaRPr lang="en-IL" sz="4800" dirty="0"/>
          </a:p>
        </p:txBody>
      </p:sp>
      <p:sp>
        <p:nvSpPr>
          <p:cNvPr id="4" name="Date Placeholder 3">
            <a:extLst>
              <a:ext uri="{FF2B5EF4-FFF2-40B4-BE49-F238E27FC236}">
                <a16:creationId xmlns:a16="http://schemas.microsoft.com/office/drawing/2014/main" id="{388E612B-43E9-480D-9B48-5FB11E1BABE4}"/>
              </a:ext>
            </a:extLst>
          </p:cNvPr>
          <p:cNvSpPr>
            <a:spLocks noGrp="1"/>
          </p:cNvSpPr>
          <p:nvPr>
            <p:ph type="dt" sz="half" idx="10"/>
          </p:nvPr>
        </p:nvSpPr>
        <p:spPr/>
        <p:txBody>
          <a:bodyPr/>
          <a:lstStyle/>
          <a:p>
            <a:pPr rtl="0"/>
            <a:fld id="{AA8E900C-6388-49E9-8C87-ACA57C8C0688}" type="datetime8">
              <a:rPr lang="he-IL" smtClean="0">
                <a:solidFill>
                  <a:prstClr val="black">
                    <a:tint val="75000"/>
                  </a:prstClr>
                </a:solidFill>
                <a:latin typeface="Calibri" panose="020F0502020204030204"/>
                <a:cs typeface="Arial" panose="020B0604020202020204" pitchFamily="34" charset="0"/>
              </a:rPr>
              <a:t>09 ינואר 26</a:t>
            </a:fld>
            <a:endParaRPr lang="he-IL">
              <a:solidFill>
                <a:prstClr val="black">
                  <a:tint val="75000"/>
                </a:prstClr>
              </a:solidFill>
              <a:latin typeface="Calibri" panose="020F0502020204030204"/>
              <a:cs typeface="Arial" panose="020B0604020202020204" pitchFamily="34" charset="0"/>
            </a:endParaRPr>
          </a:p>
        </p:txBody>
      </p:sp>
      <p:sp>
        <p:nvSpPr>
          <p:cNvPr id="6" name="Slide Number Placeholder 5">
            <a:extLst>
              <a:ext uri="{FF2B5EF4-FFF2-40B4-BE49-F238E27FC236}">
                <a16:creationId xmlns:a16="http://schemas.microsoft.com/office/drawing/2014/main" id="{EAF9C19A-CAE6-4E8E-B0D2-30ACD23BBC90}"/>
              </a:ext>
            </a:extLst>
          </p:cNvPr>
          <p:cNvSpPr>
            <a:spLocks noGrp="1"/>
          </p:cNvSpPr>
          <p:nvPr>
            <p:ph type="sldNum" sz="quarter" idx="12"/>
          </p:nvPr>
        </p:nvSpPr>
        <p:spPr/>
        <p:txBody>
          <a:bodyPr/>
          <a:lstStyle/>
          <a:p>
            <a:pPr rtl="0"/>
            <a:fld id="{D69A981F-4466-4789-9E41-1885E502A96E}" type="slidenum">
              <a:rPr lang="he-IL">
                <a:solidFill>
                  <a:prstClr val="black">
                    <a:tint val="75000"/>
                  </a:prstClr>
                </a:solidFill>
                <a:latin typeface="Calibri" panose="020F0502020204030204"/>
                <a:cs typeface="Arial" panose="020B0604020202020204" pitchFamily="34" charset="0"/>
              </a:rPr>
              <a:pPr rtl="0"/>
              <a:t>7</a:t>
            </a:fld>
            <a:endParaRPr lang="he-IL">
              <a:solidFill>
                <a:prstClr val="black">
                  <a:tint val="75000"/>
                </a:prstClr>
              </a:solidFill>
              <a:latin typeface="Calibri" panose="020F0502020204030204"/>
              <a:cs typeface="Arial" panose="020B0604020202020204" pitchFamily="34" charset="0"/>
            </a:endParaRPr>
          </a:p>
        </p:txBody>
      </p:sp>
      <p:sp>
        <p:nvSpPr>
          <p:cNvPr id="10" name="Rectangle 9">
            <a:extLst>
              <a:ext uri="{FF2B5EF4-FFF2-40B4-BE49-F238E27FC236}">
                <a16:creationId xmlns:a16="http://schemas.microsoft.com/office/drawing/2014/main" id="{B5BF18FE-9CA1-42C3-9E80-5424868B8BAB}"/>
              </a:ext>
            </a:extLst>
          </p:cNvPr>
          <p:cNvSpPr/>
          <p:nvPr/>
        </p:nvSpPr>
        <p:spPr>
          <a:xfrm>
            <a:off x="980880" y="1283576"/>
            <a:ext cx="10515600" cy="1154162"/>
          </a:xfrm>
          <a:prstGeom prst="rect">
            <a:avLst/>
          </a:prstGeom>
          <a:solidFill>
            <a:schemeClr val="accent2">
              <a:lumMod val="20000"/>
              <a:lumOff val="80000"/>
            </a:schemeClr>
          </a:solidFill>
        </p:spPr>
        <p:txBody>
          <a:bodyPr wrap="square">
            <a:spAutoFit/>
          </a:bodyPr>
          <a:lstStyle/>
          <a:p>
            <a:pPr>
              <a:lnSpc>
                <a:spcPct val="150000"/>
              </a:lnSpc>
            </a:pPr>
            <a:r>
              <a:rPr lang="he-IL" sz="2400" b="1" dirty="0">
                <a:solidFill>
                  <a:prstClr val="black"/>
                </a:solidFill>
                <a:latin typeface="David" pitchFamily="34" charset="-79"/>
                <a:cs typeface="David" pitchFamily="34" charset="-79"/>
              </a:rPr>
              <a:t>עקומת ההיצע </a:t>
            </a:r>
            <a:r>
              <a:rPr lang="he-IL" sz="2400" dirty="0">
                <a:solidFill>
                  <a:prstClr val="black"/>
                </a:solidFill>
                <a:latin typeface="David" pitchFamily="34" charset="-79"/>
                <a:cs typeface="David" pitchFamily="34" charset="-79"/>
              </a:rPr>
              <a:t>(</a:t>
            </a:r>
            <a:r>
              <a:rPr lang="en-US" sz="2400" dirty="0">
                <a:solidFill>
                  <a:prstClr val="black"/>
                </a:solidFill>
                <a:latin typeface="David" pitchFamily="34" charset="-79"/>
                <a:cs typeface="David" pitchFamily="34" charset="-79"/>
              </a:rPr>
              <a:t>S</a:t>
            </a:r>
            <a:r>
              <a:rPr lang="he-IL" sz="2400" dirty="0">
                <a:solidFill>
                  <a:prstClr val="black"/>
                </a:solidFill>
                <a:latin typeface="David" pitchFamily="34" charset="-79"/>
                <a:cs typeface="David" pitchFamily="34" charset="-79"/>
              </a:rPr>
              <a:t>) מתארת את </a:t>
            </a:r>
            <a:r>
              <a:rPr lang="he-IL" sz="2400" b="1" dirty="0">
                <a:solidFill>
                  <a:prstClr val="black"/>
                </a:solidFill>
                <a:latin typeface="David" pitchFamily="34" charset="-79"/>
                <a:cs typeface="David" pitchFamily="34" charset="-79"/>
              </a:rPr>
              <a:t>הכמות המוצעת (המיוצרת) על ידי היצרנים לכל מחיר ומחיר של המוצר. </a:t>
            </a:r>
            <a:r>
              <a:rPr lang="he-IL" sz="1600" b="1" dirty="0">
                <a:solidFill>
                  <a:schemeClr val="accent5"/>
                </a:solidFill>
                <a:latin typeface="David" pitchFamily="34" charset="-79"/>
                <a:cs typeface="David" pitchFamily="34" charset="-79"/>
              </a:rPr>
              <a:t>בטווח הקצר- זוהי עקומת </a:t>
            </a:r>
            <a:r>
              <a:rPr lang="he-IL" sz="1600" b="1" u="sng" dirty="0">
                <a:solidFill>
                  <a:schemeClr val="accent5"/>
                </a:solidFill>
                <a:latin typeface="David" pitchFamily="34" charset="-79"/>
                <a:cs typeface="David" pitchFamily="34" charset="-79"/>
              </a:rPr>
              <a:t>העלות השולית (</a:t>
            </a:r>
            <a:r>
              <a:rPr lang="en-US" sz="1600" b="1" u="sng" dirty="0">
                <a:solidFill>
                  <a:schemeClr val="accent5"/>
                </a:solidFill>
                <a:latin typeface="David" pitchFamily="34" charset="-79"/>
                <a:cs typeface="David" pitchFamily="34" charset="-79"/>
              </a:rPr>
              <a:t>MC</a:t>
            </a:r>
            <a:r>
              <a:rPr lang="he-IL" sz="1600" b="1" u="sng" dirty="0">
                <a:solidFill>
                  <a:schemeClr val="accent5"/>
                </a:solidFill>
                <a:latin typeface="David" pitchFamily="34" charset="-79"/>
                <a:cs typeface="David" pitchFamily="34" charset="-79"/>
              </a:rPr>
              <a:t>) </a:t>
            </a:r>
            <a:r>
              <a:rPr lang="he-IL" sz="1600" b="1" dirty="0">
                <a:solidFill>
                  <a:schemeClr val="accent5"/>
                </a:solidFill>
                <a:latin typeface="David" pitchFamily="34" charset="-79"/>
                <a:cs typeface="David" pitchFamily="34" charset="-79"/>
              </a:rPr>
              <a:t>החל מנקודת מינימום </a:t>
            </a:r>
            <a:r>
              <a:rPr lang="en-US" sz="1600" b="1" dirty="0">
                <a:solidFill>
                  <a:schemeClr val="accent5"/>
                </a:solidFill>
                <a:latin typeface="David" pitchFamily="34" charset="-79"/>
                <a:cs typeface="David" pitchFamily="34" charset="-79"/>
              </a:rPr>
              <a:t>AVC</a:t>
            </a:r>
            <a:r>
              <a:rPr lang="he-IL" sz="1600" b="1" dirty="0">
                <a:solidFill>
                  <a:schemeClr val="accent5"/>
                </a:solidFill>
                <a:latin typeface="David" pitchFamily="34" charset="-79"/>
                <a:cs typeface="David" pitchFamily="34" charset="-79"/>
              </a:rPr>
              <a:t>, ובטווח הארוך החל מנקודת מינימום </a:t>
            </a:r>
            <a:r>
              <a:rPr lang="en-US" sz="1600" b="1" dirty="0">
                <a:solidFill>
                  <a:schemeClr val="accent5"/>
                </a:solidFill>
                <a:latin typeface="David" pitchFamily="34" charset="-79"/>
                <a:cs typeface="David" pitchFamily="34" charset="-79"/>
              </a:rPr>
              <a:t>ATC</a:t>
            </a:r>
            <a:r>
              <a:rPr lang="he-IL" sz="1600" b="1" dirty="0">
                <a:solidFill>
                  <a:schemeClr val="accent5"/>
                </a:solidFill>
                <a:latin typeface="David" pitchFamily="34" charset="-79"/>
                <a:cs typeface="David" pitchFamily="34" charset="-79"/>
              </a:rPr>
              <a:t>. </a:t>
            </a:r>
            <a:endParaRPr lang="he-IL" sz="2400" b="1" dirty="0">
              <a:solidFill>
                <a:schemeClr val="accent5"/>
              </a:solidFill>
              <a:latin typeface="David" pitchFamily="34" charset="-79"/>
              <a:cs typeface="David" pitchFamily="34" charset="-79"/>
            </a:endParaRPr>
          </a:p>
        </p:txBody>
      </p:sp>
      <p:sp>
        <p:nvSpPr>
          <p:cNvPr id="11" name="Rectangle 10">
            <a:extLst>
              <a:ext uri="{FF2B5EF4-FFF2-40B4-BE49-F238E27FC236}">
                <a16:creationId xmlns:a16="http://schemas.microsoft.com/office/drawing/2014/main" id="{5F3BE111-BB21-45DC-8565-218D487E98EF}"/>
              </a:ext>
            </a:extLst>
          </p:cNvPr>
          <p:cNvSpPr/>
          <p:nvPr/>
        </p:nvSpPr>
        <p:spPr>
          <a:xfrm>
            <a:off x="2965098" y="3358584"/>
            <a:ext cx="8531382" cy="831510"/>
          </a:xfrm>
          <a:prstGeom prst="rect">
            <a:avLst/>
          </a:prstGeom>
          <a:solidFill>
            <a:schemeClr val="accent1">
              <a:lumMod val="20000"/>
              <a:lumOff val="80000"/>
            </a:schemeClr>
          </a:solidFill>
        </p:spPr>
        <p:txBody>
          <a:bodyPr wrap="square">
            <a:spAutoFit/>
          </a:bodyPr>
          <a:lstStyle/>
          <a:p>
            <a:pPr>
              <a:lnSpc>
                <a:spcPct val="150000"/>
              </a:lnSpc>
            </a:pPr>
            <a:r>
              <a:rPr lang="he-IL" b="1" u="sng" dirty="0">
                <a:solidFill>
                  <a:prstClr val="black"/>
                </a:solidFill>
                <a:latin typeface="David" pitchFamily="34" charset="-79"/>
              </a:rPr>
              <a:t>אם לא נאמר אחרת, נניח שעקומת ההיצע עולה משמאל לימין</a:t>
            </a:r>
            <a:r>
              <a:rPr lang="he-IL" dirty="0">
                <a:solidFill>
                  <a:prstClr val="black"/>
                </a:solidFill>
                <a:latin typeface="David" pitchFamily="34" charset="-79"/>
              </a:rPr>
              <a:t>, </a:t>
            </a:r>
            <a:r>
              <a:rPr lang="he-IL" sz="1600" dirty="0">
                <a:solidFill>
                  <a:prstClr val="black"/>
                </a:solidFill>
                <a:latin typeface="David" pitchFamily="34" charset="-79"/>
              </a:rPr>
              <a:t>כלומר ככל שמחיר השוק גבוה יותר, כך היצרן מעוניין לייצר כמות גדולה יותר (הסיבה לכך היא שהעלות השולית עולה משמאל לימין)</a:t>
            </a:r>
            <a:endParaRPr lang="he-IL" dirty="0">
              <a:solidFill>
                <a:prstClr val="black"/>
              </a:solidFill>
              <a:latin typeface="David" pitchFamily="34" charset="-79"/>
            </a:endParaRPr>
          </a:p>
        </p:txBody>
      </p:sp>
      <p:sp>
        <p:nvSpPr>
          <p:cNvPr id="3" name="Rectangle 2"/>
          <p:cNvSpPr/>
          <p:nvPr/>
        </p:nvSpPr>
        <p:spPr>
          <a:xfrm>
            <a:off x="1057841" y="2705825"/>
            <a:ext cx="10518913" cy="456535"/>
          </a:xfrm>
          <a:prstGeom prst="rect">
            <a:avLst/>
          </a:prstGeom>
        </p:spPr>
        <p:txBody>
          <a:bodyPr wrap="square">
            <a:spAutoFit/>
          </a:bodyPr>
          <a:lstStyle/>
          <a:p>
            <a:pPr>
              <a:lnSpc>
                <a:spcPct val="150000"/>
              </a:lnSpc>
            </a:pPr>
            <a:r>
              <a:rPr lang="he-IL" b="1" dirty="0">
                <a:solidFill>
                  <a:prstClr val="black"/>
                </a:solidFill>
                <a:latin typeface="David" pitchFamily="34" charset="-79"/>
              </a:rPr>
              <a:t>אנו מניחים שקיימים מספר רב של יצרנים וכל אחד רואה את המחיר כנתון ולא יכול להשפיע עליו לבדו. </a:t>
            </a:r>
          </a:p>
        </p:txBody>
      </p:sp>
      <p:sp>
        <p:nvSpPr>
          <p:cNvPr id="12" name="Rectangle 11">
            <a:extLst>
              <a:ext uri="{FF2B5EF4-FFF2-40B4-BE49-F238E27FC236}">
                <a16:creationId xmlns:a16="http://schemas.microsoft.com/office/drawing/2014/main" id="{5F3BE111-BB21-45DC-8565-218D487E98EF}"/>
              </a:ext>
            </a:extLst>
          </p:cNvPr>
          <p:cNvSpPr/>
          <p:nvPr/>
        </p:nvSpPr>
        <p:spPr>
          <a:xfrm>
            <a:off x="3581400" y="4372115"/>
            <a:ext cx="4794380" cy="885371"/>
          </a:xfrm>
          <a:prstGeom prst="rect">
            <a:avLst/>
          </a:prstGeom>
          <a:solidFill>
            <a:schemeClr val="accent1">
              <a:lumMod val="20000"/>
              <a:lumOff val="80000"/>
            </a:schemeClr>
          </a:solidFill>
        </p:spPr>
        <p:txBody>
          <a:bodyPr wrap="square">
            <a:spAutoFit/>
          </a:bodyPr>
          <a:lstStyle/>
          <a:p>
            <a:pPr>
              <a:lnSpc>
                <a:spcPct val="150000"/>
              </a:lnSpc>
            </a:pPr>
            <a:r>
              <a:rPr lang="he-IL" b="1" dirty="0">
                <a:solidFill>
                  <a:prstClr val="black"/>
                </a:solidFill>
                <a:latin typeface="David" pitchFamily="34" charset="-79"/>
              </a:rPr>
              <a:t>נסמן את עקומת ההיצע באות</a:t>
            </a:r>
            <a:r>
              <a:rPr lang="en-US" b="1" dirty="0">
                <a:solidFill>
                  <a:prstClr val="black"/>
                </a:solidFill>
                <a:latin typeface="David" pitchFamily="34" charset="-79"/>
              </a:rPr>
              <a:t>S </a:t>
            </a:r>
            <a:r>
              <a:rPr lang="he-IL" b="1" dirty="0">
                <a:solidFill>
                  <a:prstClr val="black"/>
                </a:solidFill>
                <a:latin typeface="David" pitchFamily="34" charset="-79"/>
              </a:rPr>
              <a:t> (מהמילה </a:t>
            </a:r>
            <a:r>
              <a:rPr lang="en-US" b="1" dirty="0">
                <a:solidFill>
                  <a:prstClr val="black"/>
                </a:solidFill>
                <a:latin typeface="David" pitchFamily="34" charset="-79"/>
              </a:rPr>
              <a:t>Supply</a:t>
            </a:r>
            <a:r>
              <a:rPr lang="he-IL" b="1" dirty="0">
                <a:solidFill>
                  <a:prstClr val="black"/>
                </a:solidFill>
                <a:latin typeface="David" pitchFamily="34" charset="-79"/>
              </a:rPr>
              <a:t> ) </a:t>
            </a:r>
            <a:r>
              <a:rPr lang="he-IL" dirty="0">
                <a:solidFill>
                  <a:prstClr val="black"/>
                </a:solidFill>
                <a:latin typeface="David" pitchFamily="34" charset="-79"/>
              </a:rPr>
              <a:t>ואת הכמות המיוצרת נסמן </a:t>
            </a:r>
            <a:r>
              <a:rPr lang="he-IL" b="1" dirty="0">
                <a:solidFill>
                  <a:prstClr val="black"/>
                </a:solidFill>
                <a:latin typeface="David" pitchFamily="34" charset="-79"/>
              </a:rPr>
              <a:t>ב- </a:t>
            </a:r>
            <a:r>
              <a:rPr lang="en-US" b="1" dirty="0" err="1">
                <a:solidFill>
                  <a:prstClr val="black"/>
                </a:solidFill>
                <a:latin typeface="David" pitchFamily="34" charset="-79"/>
              </a:rPr>
              <a:t>Xs</a:t>
            </a:r>
            <a:endParaRPr lang="he-IL" dirty="0">
              <a:solidFill>
                <a:prstClr val="black"/>
              </a:solidFill>
              <a:latin typeface="David" pitchFamily="34" charset="-79"/>
            </a:endParaRPr>
          </a:p>
        </p:txBody>
      </p:sp>
      <p:cxnSp>
        <p:nvCxnSpPr>
          <p:cNvPr id="5" name="Straight Connector 4">
            <a:extLst>
              <a:ext uri="{FF2B5EF4-FFF2-40B4-BE49-F238E27FC236}">
                <a16:creationId xmlns:a16="http://schemas.microsoft.com/office/drawing/2014/main" id="{0F2259FF-A3EF-1DBE-F21A-A8A60C9ABD15}"/>
              </a:ext>
            </a:extLst>
          </p:cNvPr>
          <p:cNvCxnSpPr>
            <a:cxnSpLocks/>
            <a:stCxn id="14" idx="1"/>
          </p:cNvCxnSpPr>
          <p:nvPr/>
        </p:nvCxnSpPr>
        <p:spPr>
          <a:xfrm flipH="1">
            <a:off x="1057841" y="4405385"/>
            <a:ext cx="1726470" cy="1728524"/>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F9EF246-7892-F3BE-7947-69040B0AB934}"/>
              </a:ext>
            </a:extLst>
          </p:cNvPr>
          <p:cNvCxnSpPr/>
          <p:nvPr/>
        </p:nvCxnSpPr>
        <p:spPr>
          <a:xfrm flipH="1">
            <a:off x="980880" y="4199359"/>
            <a:ext cx="9054" cy="2136618"/>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A2FC75A-7A4F-D80F-5F37-55264ED9FC24}"/>
              </a:ext>
            </a:extLst>
          </p:cNvPr>
          <p:cNvCxnSpPr/>
          <p:nvPr/>
        </p:nvCxnSpPr>
        <p:spPr>
          <a:xfrm flipH="1">
            <a:off x="980880" y="6335977"/>
            <a:ext cx="1984218" cy="0"/>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E110BEB-9EAD-637B-E874-575A0EC0A1CC}"/>
              </a:ext>
            </a:extLst>
          </p:cNvPr>
          <p:cNvSpPr txBox="1"/>
          <p:nvPr/>
        </p:nvSpPr>
        <p:spPr>
          <a:xfrm>
            <a:off x="265657" y="4052643"/>
            <a:ext cx="715223" cy="369332"/>
          </a:xfrm>
          <a:prstGeom prst="rect">
            <a:avLst/>
          </a:prstGeom>
          <a:noFill/>
        </p:spPr>
        <p:txBody>
          <a:bodyPr wrap="square" rtlCol="0">
            <a:spAutoFit/>
          </a:bodyPr>
          <a:lstStyle/>
          <a:p>
            <a:r>
              <a:rPr lang="en-US" dirty="0"/>
              <a:t>P</a:t>
            </a:r>
          </a:p>
        </p:txBody>
      </p:sp>
      <p:sp>
        <p:nvSpPr>
          <p:cNvPr id="13" name="TextBox 12">
            <a:extLst>
              <a:ext uri="{FF2B5EF4-FFF2-40B4-BE49-F238E27FC236}">
                <a16:creationId xmlns:a16="http://schemas.microsoft.com/office/drawing/2014/main" id="{C0B11D44-40B4-A677-A86D-BBBA8A15FE5F}"/>
              </a:ext>
            </a:extLst>
          </p:cNvPr>
          <p:cNvSpPr txBox="1"/>
          <p:nvPr/>
        </p:nvSpPr>
        <p:spPr>
          <a:xfrm>
            <a:off x="2286089" y="6335977"/>
            <a:ext cx="715223" cy="369332"/>
          </a:xfrm>
          <a:prstGeom prst="rect">
            <a:avLst/>
          </a:prstGeom>
          <a:noFill/>
        </p:spPr>
        <p:txBody>
          <a:bodyPr wrap="square" rtlCol="0">
            <a:spAutoFit/>
          </a:bodyPr>
          <a:lstStyle/>
          <a:p>
            <a:r>
              <a:rPr lang="en-US" b="1" dirty="0" err="1">
                <a:solidFill>
                  <a:prstClr val="black"/>
                </a:solidFill>
                <a:latin typeface="David" pitchFamily="34" charset="-79"/>
              </a:rPr>
              <a:t>Xs</a:t>
            </a:r>
            <a:endParaRPr lang="en-US" dirty="0"/>
          </a:p>
        </p:txBody>
      </p:sp>
      <p:sp>
        <p:nvSpPr>
          <p:cNvPr id="14" name="TextBox 13">
            <a:extLst>
              <a:ext uri="{FF2B5EF4-FFF2-40B4-BE49-F238E27FC236}">
                <a16:creationId xmlns:a16="http://schemas.microsoft.com/office/drawing/2014/main" id="{5E994306-2C71-27DB-9DB6-EB32EBAC0B3E}"/>
              </a:ext>
            </a:extLst>
          </p:cNvPr>
          <p:cNvSpPr txBox="1"/>
          <p:nvPr/>
        </p:nvSpPr>
        <p:spPr>
          <a:xfrm>
            <a:off x="2784311" y="4220719"/>
            <a:ext cx="715223" cy="369332"/>
          </a:xfrm>
          <a:prstGeom prst="rect">
            <a:avLst/>
          </a:prstGeom>
          <a:noFill/>
        </p:spPr>
        <p:txBody>
          <a:bodyPr wrap="square" rtlCol="0">
            <a:spAutoFit/>
          </a:bodyPr>
          <a:lstStyle/>
          <a:p>
            <a:pPr algn="l" rtl="0"/>
            <a:r>
              <a:rPr lang="en-US" dirty="0">
                <a:solidFill>
                  <a:prstClr val="black"/>
                </a:solidFill>
              </a:rPr>
              <a:t>S</a:t>
            </a:r>
            <a:r>
              <a:rPr lang="en-US" baseline="-25000" dirty="0">
                <a:solidFill>
                  <a:prstClr val="black"/>
                </a:solidFill>
              </a:rPr>
              <a:t>0</a:t>
            </a:r>
            <a:endParaRPr lang="he-IL" baseline="-25000" dirty="0">
              <a:solidFill>
                <a:prstClr val="black"/>
              </a:solidFill>
            </a:endParaRPr>
          </a:p>
        </p:txBody>
      </p:sp>
    </p:spTree>
    <p:extLst>
      <p:ext uri="{BB962C8B-B14F-4D97-AF65-F5344CB8AC3E}">
        <p14:creationId xmlns:p14="http://schemas.microsoft.com/office/powerpoint/2010/main" val="750274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p:cTn id="16" dur="1000" fill="hold"/>
                                        <p:tgtEl>
                                          <p:spTgt spid="10"/>
                                        </p:tgtEl>
                                        <p:attrNameLst>
                                          <p:attrName>ppt_w</p:attrName>
                                        </p:attrNameLst>
                                      </p:cBhvr>
                                      <p:tavLst>
                                        <p:tav tm="0">
                                          <p:val>
                                            <p:fltVal val="0"/>
                                          </p:val>
                                        </p:tav>
                                        <p:tav tm="100000">
                                          <p:val>
                                            <p:strVal val="#ppt_w"/>
                                          </p:val>
                                        </p:tav>
                                      </p:tavLst>
                                    </p:anim>
                                    <p:anim calcmode="lin" valueType="num">
                                      <p:cBhvr>
                                        <p:cTn id="17" dur="1000" fill="hold"/>
                                        <p:tgtEl>
                                          <p:spTgt spid="10"/>
                                        </p:tgtEl>
                                        <p:attrNameLst>
                                          <p:attrName>ppt_h</p:attrName>
                                        </p:attrNameLst>
                                      </p:cBhvr>
                                      <p:tavLst>
                                        <p:tav tm="0">
                                          <p:val>
                                            <p:fltVal val="0"/>
                                          </p:val>
                                        </p:tav>
                                        <p:tav tm="100000">
                                          <p:val>
                                            <p:strVal val="#ppt_h"/>
                                          </p:val>
                                        </p:tav>
                                      </p:tavLst>
                                    </p:anim>
                                    <p:anim calcmode="lin" valueType="num">
                                      <p:cBhvr>
                                        <p:cTn id="18" dur="1000" fill="hold"/>
                                        <p:tgtEl>
                                          <p:spTgt spid="10"/>
                                        </p:tgtEl>
                                        <p:attrNameLst>
                                          <p:attrName>style.rotation</p:attrName>
                                        </p:attrNameLst>
                                      </p:cBhvr>
                                      <p:tavLst>
                                        <p:tav tm="0">
                                          <p:val>
                                            <p:fltVal val="90"/>
                                          </p:val>
                                        </p:tav>
                                        <p:tav tm="100000">
                                          <p:val>
                                            <p:fltVal val="0"/>
                                          </p:val>
                                        </p:tav>
                                      </p:tavLst>
                                    </p:anim>
                                    <p:animEffect transition="in" filter="fade">
                                      <p:cBhvr>
                                        <p:cTn id="19" dur="10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barn(inVertical)">
                                      <p:cBhvr>
                                        <p:cTn id="24" dur="500"/>
                                        <p:tgtEl>
                                          <p:spTgt spid="7"/>
                                        </p:tgtEl>
                                      </p:cBhvr>
                                    </p:animEffect>
                                  </p:childTnLst>
                                </p:cTn>
                              </p:par>
                              <p:par>
                                <p:cTn id="25" presetID="16" presetClass="entr" presetSubtype="21"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arn(inVertical)">
                                      <p:cBhvr>
                                        <p:cTn id="27" dur="500"/>
                                        <p:tgtEl>
                                          <p:spTgt spid="8"/>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barn(inVertical)">
                                      <p:cBhvr>
                                        <p:cTn id="30" dur="500"/>
                                        <p:tgtEl>
                                          <p:spTgt spid="9"/>
                                        </p:tgtEl>
                                      </p:cBhvr>
                                    </p:animEffect>
                                  </p:childTnLst>
                                </p:cTn>
                              </p:par>
                              <p:par>
                                <p:cTn id="31" presetID="16" presetClass="entr" presetSubtype="21"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barn(inVertical)">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barn(inVertical)">
                                      <p:cBhvr>
                                        <p:cTn id="38" dur="500"/>
                                        <p:tgtEl>
                                          <p:spTgt spid="5"/>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barn(inVertical)">
                                      <p:cBhvr>
                                        <p:cTn id="4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9" grpId="0"/>
      <p:bldP spid="13"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274639"/>
            <a:ext cx="7772400" cy="636545"/>
          </a:xfrm>
        </p:spPr>
        <p:txBody>
          <a:bodyPr/>
          <a:lstStyle/>
          <a:p>
            <a:pPr algn="ctr"/>
            <a:r>
              <a:rPr lang="he-IL" dirty="0"/>
              <a:t>עקומת היצע הענף (=היצע מצרפי)</a:t>
            </a:r>
            <a:endParaRPr lang="en-US" dirty="0"/>
          </a:p>
        </p:txBody>
      </p:sp>
      <p:sp>
        <p:nvSpPr>
          <p:cNvPr id="4" name="Slide Number Placeholder 3"/>
          <p:cNvSpPr>
            <a:spLocks noGrp="1"/>
          </p:cNvSpPr>
          <p:nvPr>
            <p:ph type="sldNum" sz="quarter" idx="12"/>
          </p:nvPr>
        </p:nvSpPr>
        <p:spPr/>
        <p:txBody>
          <a:bodyPr/>
          <a:lstStyle/>
          <a:p>
            <a:pPr defTabSz="685800" rtl="0"/>
            <a:fld id="{CBF92039-BB9D-4F46-95B7-49E6508B93B0}" type="slidenum">
              <a:rPr lang="en-US">
                <a:latin typeface="Franklin Gothic Book"/>
              </a:rPr>
              <a:pPr defTabSz="685800" rtl="0"/>
              <a:t>8</a:t>
            </a:fld>
            <a:endParaRPr lang="en-US">
              <a:latin typeface="Franklin Gothic Book"/>
            </a:endParaRPr>
          </a:p>
        </p:txBody>
      </p:sp>
      <p:sp>
        <p:nvSpPr>
          <p:cNvPr id="5" name="Rectangle 4">
            <a:extLst>
              <a:ext uri="{FF2B5EF4-FFF2-40B4-BE49-F238E27FC236}">
                <a16:creationId xmlns:a16="http://schemas.microsoft.com/office/drawing/2014/main" id="{C9B22733-4B4E-4921-848C-450490D30C3D}"/>
              </a:ext>
            </a:extLst>
          </p:cNvPr>
          <p:cNvSpPr/>
          <p:nvPr/>
        </p:nvSpPr>
        <p:spPr>
          <a:xfrm>
            <a:off x="3072984" y="1346764"/>
            <a:ext cx="8604354" cy="496996"/>
          </a:xfrm>
          <a:prstGeom prst="rect">
            <a:avLst/>
          </a:prstGeom>
        </p:spPr>
        <p:txBody>
          <a:bodyPr wrap="square">
            <a:spAutoFit/>
          </a:bodyPr>
          <a:lstStyle/>
          <a:p>
            <a:pPr marL="214313" indent="-214313" defTabSz="685800">
              <a:lnSpc>
                <a:spcPct val="150000"/>
              </a:lnSpc>
              <a:buFont typeface="Arial" panose="020B0604020202020204" pitchFamily="34" charset="0"/>
              <a:buChar char="•"/>
            </a:pPr>
            <a:r>
              <a:rPr lang="he-IL" sz="2000" dirty="0">
                <a:solidFill>
                  <a:prstClr val="black"/>
                </a:solidFill>
                <a:latin typeface="Arial" panose="020B0604020202020204" pitchFamily="34" charset="0"/>
                <a:cs typeface="Arial" panose="020B0604020202020204" pitchFamily="34" charset="0"/>
              </a:rPr>
              <a:t>עקומת היצע של יצרן יחיד מראה את הכמות המיוצרת של היצרן בכל מחיר ומחיר.</a:t>
            </a:r>
          </a:p>
        </p:txBody>
      </p:sp>
      <p:sp>
        <p:nvSpPr>
          <p:cNvPr id="6" name="Rectangle 5">
            <a:extLst>
              <a:ext uri="{FF2B5EF4-FFF2-40B4-BE49-F238E27FC236}">
                <a16:creationId xmlns:a16="http://schemas.microsoft.com/office/drawing/2014/main" id="{50421CCC-3184-4F27-BBDD-99275A1633A5}"/>
              </a:ext>
            </a:extLst>
          </p:cNvPr>
          <p:cNvSpPr/>
          <p:nvPr/>
        </p:nvSpPr>
        <p:spPr>
          <a:xfrm>
            <a:off x="2563319" y="2075741"/>
            <a:ext cx="9184066" cy="496996"/>
          </a:xfrm>
          <a:prstGeom prst="rect">
            <a:avLst/>
          </a:prstGeom>
        </p:spPr>
        <p:txBody>
          <a:bodyPr wrap="square">
            <a:spAutoFit/>
          </a:bodyPr>
          <a:lstStyle/>
          <a:p>
            <a:pPr marL="214313" indent="-214313" defTabSz="685800">
              <a:lnSpc>
                <a:spcPct val="150000"/>
              </a:lnSpc>
              <a:buFont typeface="Arial" panose="020B0604020202020204" pitchFamily="34" charset="0"/>
              <a:buChar char="•"/>
            </a:pPr>
            <a:r>
              <a:rPr lang="he-IL" sz="2000" dirty="0">
                <a:solidFill>
                  <a:prstClr val="black"/>
                </a:solidFill>
                <a:latin typeface="Arial" panose="020B0604020202020204" pitchFamily="34" charset="0"/>
                <a:cs typeface="Arial" panose="020B0604020202020204" pitchFamily="34" charset="0"/>
              </a:rPr>
              <a:t>עקומת היצע בענף מראה את </a:t>
            </a:r>
            <a:r>
              <a:rPr lang="he-IL" sz="2000" b="1" dirty="0">
                <a:solidFill>
                  <a:prstClr val="black"/>
                </a:solidFill>
                <a:latin typeface="Arial" panose="020B0604020202020204" pitchFamily="34" charset="0"/>
                <a:cs typeface="Arial" panose="020B0604020202020204" pitchFamily="34" charset="0"/>
              </a:rPr>
              <a:t>הכמות המיוצרת של </a:t>
            </a:r>
            <a:r>
              <a:rPr lang="he-IL" sz="2000" b="1" u="sng" dirty="0">
                <a:solidFill>
                  <a:prstClr val="black"/>
                </a:solidFill>
                <a:latin typeface="Arial" panose="020B0604020202020204" pitchFamily="34" charset="0"/>
                <a:cs typeface="Arial" panose="020B0604020202020204" pitchFamily="34" charset="0"/>
              </a:rPr>
              <a:t>כל היצרנים בשוק </a:t>
            </a:r>
            <a:r>
              <a:rPr lang="he-IL" sz="2000" b="1" dirty="0">
                <a:solidFill>
                  <a:prstClr val="black"/>
                </a:solidFill>
                <a:latin typeface="Arial" panose="020B0604020202020204" pitchFamily="34" charset="0"/>
                <a:cs typeface="Arial" panose="020B0604020202020204" pitchFamily="34" charset="0"/>
              </a:rPr>
              <a:t>בכל מחיר ומחיר</a:t>
            </a:r>
            <a:r>
              <a:rPr lang="he-IL" sz="2000" dirty="0">
                <a:solidFill>
                  <a:prstClr val="black"/>
                </a:solidFill>
                <a:latin typeface="Arial" panose="020B0604020202020204" pitchFamily="34" charset="0"/>
                <a:cs typeface="Arial" panose="020B0604020202020204" pitchFamily="34" charset="0"/>
              </a:rPr>
              <a:t>.</a:t>
            </a:r>
          </a:p>
        </p:txBody>
      </p:sp>
      <p:sp>
        <p:nvSpPr>
          <p:cNvPr id="7" name="Rectangle 6">
            <a:extLst>
              <a:ext uri="{FF2B5EF4-FFF2-40B4-BE49-F238E27FC236}">
                <a16:creationId xmlns:a16="http://schemas.microsoft.com/office/drawing/2014/main" id="{32D7A24E-FCB5-4899-AA7B-F719063453C0}"/>
              </a:ext>
            </a:extLst>
          </p:cNvPr>
          <p:cNvSpPr/>
          <p:nvPr/>
        </p:nvSpPr>
        <p:spPr>
          <a:xfrm>
            <a:off x="2173575" y="3148203"/>
            <a:ext cx="9573810" cy="958660"/>
          </a:xfrm>
          <a:prstGeom prst="rect">
            <a:avLst/>
          </a:prstGeom>
        </p:spPr>
        <p:txBody>
          <a:bodyPr wrap="square">
            <a:spAutoFit/>
          </a:bodyPr>
          <a:lstStyle/>
          <a:p>
            <a:pPr marL="214313" indent="-214313" defTabSz="685800">
              <a:lnSpc>
                <a:spcPct val="150000"/>
              </a:lnSpc>
              <a:buFont typeface="Arial" panose="020B0604020202020204" pitchFamily="34" charset="0"/>
              <a:buChar char="•"/>
            </a:pPr>
            <a:r>
              <a:rPr lang="he-IL" sz="2000" dirty="0">
                <a:solidFill>
                  <a:prstClr val="black"/>
                </a:solidFill>
                <a:latin typeface="Arial" panose="020B0604020202020204" pitchFamily="34" charset="0"/>
                <a:cs typeface="Arial" panose="020B0604020202020204" pitchFamily="34" charset="0"/>
              </a:rPr>
              <a:t>היות וכל אחד מהיצרנים קובע את כמותו באופן בלתי תלוי ביצרנים אחרים, הכמות הכוללת הינה סכום הכמויות של כל היצרנים</a:t>
            </a:r>
            <a:r>
              <a:rPr lang="en-US" sz="2000" dirty="0">
                <a:solidFill>
                  <a:prstClr val="black"/>
                </a:solidFill>
                <a:latin typeface="Arial" panose="020B0604020202020204" pitchFamily="34" charset="0"/>
                <a:cs typeface="Arial" panose="020B0604020202020204" pitchFamily="34" charset="0"/>
              </a:rPr>
              <a:t> </a:t>
            </a:r>
            <a:r>
              <a:rPr lang="he-IL" sz="2000" dirty="0">
                <a:solidFill>
                  <a:prstClr val="black"/>
                </a:solidFill>
                <a:latin typeface="Arial" panose="020B0604020202020204" pitchFamily="34" charset="0"/>
                <a:cs typeface="Arial" panose="020B0604020202020204" pitchFamily="34" charset="0"/>
              </a:rPr>
              <a:t>עבור המחיר </a:t>
            </a:r>
            <a:r>
              <a:rPr lang="en-US" sz="2000" dirty="0">
                <a:solidFill>
                  <a:prstClr val="black"/>
                </a:solidFill>
                <a:latin typeface="Arial" panose="020B0604020202020204" pitchFamily="34" charset="0"/>
                <a:cs typeface="Arial" panose="020B0604020202020204" pitchFamily="34" charset="0"/>
              </a:rPr>
              <a:t>P</a:t>
            </a:r>
            <a:r>
              <a:rPr lang="he-IL" sz="2000" dirty="0">
                <a:solidFill>
                  <a:prstClr val="black"/>
                </a:solidFill>
                <a:latin typeface="Arial" panose="020B0604020202020204" pitchFamily="34" charset="0"/>
                <a:cs typeface="Arial" panose="020B0604020202020204" pitchFamily="34" charset="0"/>
              </a:rPr>
              <a:t> בשוק:</a:t>
            </a:r>
            <a:endParaRPr lang="en-US" sz="2000" dirty="0">
              <a:solidFill>
                <a:prstClr val="black"/>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0194247-8F6D-40C1-B4B9-6D78178F9ACC}"/>
              </a:ext>
            </a:extLst>
          </p:cNvPr>
          <p:cNvSpPr txBox="1"/>
          <p:nvPr/>
        </p:nvSpPr>
        <p:spPr>
          <a:xfrm>
            <a:off x="877236" y="4557129"/>
            <a:ext cx="6586915" cy="523220"/>
          </a:xfrm>
          <a:prstGeom prst="rect">
            <a:avLst/>
          </a:prstGeom>
          <a:noFill/>
          <a:ln>
            <a:solidFill>
              <a:schemeClr val="accent1">
                <a:lumMod val="60000"/>
                <a:lumOff val="40000"/>
              </a:schemeClr>
            </a:solidFill>
          </a:ln>
        </p:spPr>
        <p:txBody>
          <a:bodyPr wrap="square" rtlCol="0">
            <a:spAutoFit/>
          </a:bodyPr>
          <a:lstStyle/>
          <a:p>
            <a:pPr algn="l" defTabSz="685800" rtl="0"/>
            <a:r>
              <a:rPr lang="he-IL" sz="2800" dirty="0">
                <a:solidFill>
                  <a:prstClr val="black"/>
                </a:solidFill>
                <a:latin typeface="Perpetua"/>
                <a:cs typeface="Aharoni" panose="02010803020104030203" pitchFamily="2" charset="-79"/>
              </a:rPr>
              <a:t>מצרפי</a:t>
            </a:r>
            <a:r>
              <a:rPr lang="en-US" sz="2800" dirty="0">
                <a:solidFill>
                  <a:prstClr val="black"/>
                </a:solidFill>
                <a:latin typeface="Perpetua"/>
              </a:rPr>
              <a:t>X(P)=X</a:t>
            </a:r>
            <a:r>
              <a:rPr lang="he-IL" sz="2800" dirty="0">
                <a:solidFill>
                  <a:prstClr val="black"/>
                </a:solidFill>
                <a:latin typeface="Perpetua"/>
                <a:cs typeface="Aharoni" panose="02010803020104030203" pitchFamily="2" charset="-79"/>
              </a:rPr>
              <a:t>1</a:t>
            </a:r>
            <a:r>
              <a:rPr lang="en-US" sz="2800" dirty="0">
                <a:solidFill>
                  <a:prstClr val="black"/>
                </a:solidFill>
                <a:latin typeface="Perpetua"/>
              </a:rPr>
              <a:t>(P)+ X</a:t>
            </a:r>
            <a:r>
              <a:rPr lang="he-IL" sz="2800" dirty="0">
                <a:solidFill>
                  <a:prstClr val="black"/>
                </a:solidFill>
                <a:latin typeface="Perpetua"/>
                <a:cs typeface="Aharoni" panose="02010803020104030203" pitchFamily="2" charset="-79"/>
              </a:rPr>
              <a:t>2</a:t>
            </a:r>
            <a:r>
              <a:rPr lang="en-US" sz="2800" dirty="0">
                <a:solidFill>
                  <a:prstClr val="black"/>
                </a:solidFill>
                <a:latin typeface="Perpetua"/>
              </a:rPr>
              <a:t>(P)</a:t>
            </a:r>
            <a:r>
              <a:rPr lang="he-IL" sz="2800" dirty="0">
                <a:solidFill>
                  <a:prstClr val="black"/>
                </a:solidFill>
                <a:latin typeface="Perpetua"/>
                <a:cs typeface="Aharoni" panose="02010803020104030203" pitchFamily="2" charset="-79"/>
              </a:rPr>
              <a:t>+</a:t>
            </a:r>
            <a:r>
              <a:rPr lang="en-US" sz="2800" dirty="0">
                <a:solidFill>
                  <a:prstClr val="black"/>
                </a:solidFill>
                <a:latin typeface="Perpetua"/>
              </a:rPr>
              <a:t>…+ </a:t>
            </a:r>
            <a:r>
              <a:rPr lang="en-US" sz="2800" dirty="0" err="1">
                <a:solidFill>
                  <a:prstClr val="black"/>
                </a:solidFill>
                <a:latin typeface="Perpetua"/>
              </a:rPr>
              <a:t>X</a:t>
            </a:r>
            <a:r>
              <a:rPr lang="en-US" sz="2800" b="1" dirty="0" err="1">
                <a:solidFill>
                  <a:prstClr val="black"/>
                </a:solidFill>
                <a:latin typeface="Perpetua"/>
              </a:rPr>
              <a:t>n</a:t>
            </a:r>
            <a:r>
              <a:rPr lang="en-US" sz="2800" dirty="0">
                <a:solidFill>
                  <a:prstClr val="black"/>
                </a:solidFill>
                <a:latin typeface="Perpetua"/>
              </a:rPr>
              <a:t>(P)</a:t>
            </a:r>
            <a:endParaRPr lang="x-none" sz="2800" dirty="0">
              <a:solidFill>
                <a:prstClr val="black"/>
              </a:solidFill>
              <a:latin typeface="Perpetua"/>
            </a:endParaRPr>
          </a:p>
        </p:txBody>
      </p:sp>
      <p:sp>
        <p:nvSpPr>
          <p:cNvPr id="10" name="TextBox 9">
            <a:extLst>
              <a:ext uri="{FF2B5EF4-FFF2-40B4-BE49-F238E27FC236}">
                <a16:creationId xmlns:a16="http://schemas.microsoft.com/office/drawing/2014/main" id="{1499213E-6E70-4372-B96C-39BC236C28C2}"/>
              </a:ext>
            </a:extLst>
          </p:cNvPr>
          <p:cNvSpPr txBox="1"/>
          <p:nvPr/>
        </p:nvSpPr>
        <p:spPr>
          <a:xfrm>
            <a:off x="4895850" y="5172682"/>
            <a:ext cx="2568302" cy="338554"/>
          </a:xfrm>
          <a:prstGeom prst="rect">
            <a:avLst/>
          </a:prstGeom>
          <a:noFill/>
        </p:spPr>
        <p:txBody>
          <a:bodyPr wrap="square" rtlCol="0">
            <a:spAutoFit/>
          </a:bodyPr>
          <a:lstStyle/>
          <a:p>
            <a:pPr algn="l" defTabSz="685800" rtl="0"/>
            <a:r>
              <a:rPr lang="en-US" sz="1600" dirty="0">
                <a:solidFill>
                  <a:prstClr val="black"/>
                </a:solidFill>
                <a:latin typeface="Perpetua"/>
              </a:rPr>
              <a:t>n=</a:t>
            </a:r>
            <a:r>
              <a:rPr lang="he-IL" sz="1600" dirty="0">
                <a:solidFill>
                  <a:prstClr val="black"/>
                </a:solidFill>
                <a:latin typeface="Perpetua"/>
                <a:cs typeface="Aharoni" panose="02010803020104030203" pitchFamily="2" charset="-79"/>
              </a:rPr>
              <a:t>מספר הפירמות בענף</a:t>
            </a:r>
            <a:r>
              <a:rPr lang="en-US" sz="1600" dirty="0">
                <a:solidFill>
                  <a:prstClr val="black"/>
                </a:solidFill>
                <a:latin typeface="Perpetua"/>
              </a:rPr>
              <a:t>*</a:t>
            </a:r>
            <a:endParaRPr lang="x-none" sz="1600" dirty="0">
              <a:solidFill>
                <a:prstClr val="black"/>
              </a:solidFill>
              <a:latin typeface="Perpetua"/>
            </a:endParaRPr>
          </a:p>
        </p:txBody>
      </p:sp>
    </p:spTree>
    <p:extLst>
      <p:ext uri="{BB962C8B-B14F-4D97-AF65-F5344CB8AC3E}">
        <p14:creationId xmlns:p14="http://schemas.microsoft.com/office/powerpoint/2010/main" val="4263773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circle(in)">
                                      <p:cBhvr>
                                        <p:cTn id="19" dur="20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animBg="1"/>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AF663-24FB-C7C0-9279-1547B9183FB4}"/>
              </a:ext>
            </a:extLst>
          </p:cNvPr>
          <p:cNvSpPr>
            <a:spLocks noGrp="1"/>
          </p:cNvSpPr>
          <p:nvPr>
            <p:ph type="title"/>
          </p:nvPr>
        </p:nvSpPr>
        <p:spPr>
          <a:xfrm>
            <a:off x="4790388" y="437683"/>
            <a:ext cx="3000670" cy="994172"/>
          </a:xfrm>
        </p:spPr>
        <p:txBody>
          <a:bodyPr/>
          <a:lstStyle/>
          <a:p>
            <a:r>
              <a:rPr lang="he-IL" sz="4000" dirty="0"/>
              <a:t>היצע היצרנים</a:t>
            </a:r>
            <a:endParaRPr lang="en-IL" sz="4000" dirty="0"/>
          </a:p>
        </p:txBody>
      </p:sp>
      <p:sp>
        <p:nvSpPr>
          <p:cNvPr id="3" name="Content Placeholder 2">
            <a:extLst>
              <a:ext uri="{FF2B5EF4-FFF2-40B4-BE49-F238E27FC236}">
                <a16:creationId xmlns:a16="http://schemas.microsoft.com/office/drawing/2014/main" id="{01059466-E201-0BFE-0C92-896648D02145}"/>
              </a:ext>
            </a:extLst>
          </p:cNvPr>
          <p:cNvSpPr>
            <a:spLocks noGrp="1"/>
          </p:cNvSpPr>
          <p:nvPr>
            <p:ph idx="1"/>
          </p:nvPr>
        </p:nvSpPr>
        <p:spPr>
          <a:xfrm>
            <a:off x="1371600" y="3220641"/>
            <a:ext cx="8816222" cy="2243604"/>
          </a:xfrm>
        </p:spPr>
        <p:txBody>
          <a:bodyPr/>
          <a:lstStyle/>
          <a:p>
            <a:r>
              <a:rPr lang="he-IL" sz="1800" dirty="0"/>
              <a:t>אם נתון </a:t>
            </a:r>
            <a:r>
              <a:rPr lang="he-IL" sz="2000" b="1" u="sng" dirty="0"/>
              <a:t>עקומת היצע קשיחה לחלוטין</a:t>
            </a:r>
            <a:r>
              <a:rPr lang="he-IL" sz="2000" dirty="0"/>
              <a:t>- </a:t>
            </a:r>
            <a:r>
              <a:rPr lang="he-IL" sz="1800" dirty="0"/>
              <a:t>עקומת ההיצע מקבילה לציר האנכי (המחיר).</a:t>
            </a:r>
          </a:p>
          <a:p>
            <a:endParaRPr lang="he-IL" sz="2800" dirty="0"/>
          </a:p>
          <a:p>
            <a:r>
              <a:rPr lang="he-IL" sz="1800" dirty="0"/>
              <a:t>אם נתון </a:t>
            </a:r>
            <a:r>
              <a:rPr lang="he-IL" sz="2000" b="1" u="sng" dirty="0"/>
              <a:t>עקומת היצע גמישה לחלוטין</a:t>
            </a:r>
            <a:r>
              <a:rPr lang="he-IL" sz="2000" dirty="0"/>
              <a:t>- </a:t>
            </a:r>
            <a:r>
              <a:rPr lang="he-IL" sz="1800" dirty="0"/>
              <a:t>עקומת ההיצע מקבילה לציר האופקי (הכמות) </a:t>
            </a:r>
            <a:endParaRPr lang="en-IL" sz="1800" dirty="0"/>
          </a:p>
        </p:txBody>
      </p:sp>
      <p:sp>
        <p:nvSpPr>
          <p:cNvPr id="4" name="Slide Number Placeholder 3">
            <a:extLst>
              <a:ext uri="{FF2B5EF4-FFF2-40B4-BE49-F238E27FC236}">
                <a16:creationId xmlns:a16="http://schemas.microsoft.com/office/drawing/2014/main" id="{BF35FCC1-F5B8-872A-F14B-17628ECF4780}"/>
              </a:ext>
            </a:extLst>
          </p:cNvPr>
          <p:cNvSpPr>
            <a:spLocks noGrp="1"/>
          </p:cNvSpPr>
          <p:nvPr>
            <p:ph type="sldNum" sz="quarter" idx="12"/>
          </p:nvPr>
        </p:nvSpPr>
        <p:spPr/>
        <p:txBody>
          <a:bodyPr/>
          <a:lstStyle/>
          <a:p>
            <a:pPr defTabSz="685800"/>
            <a:fld id="{D69A981F-4466-4789-9E41-1885E502A96E}" type="slidenum">
              <a:rPr lang="he-IL" sz="1050">
                <a:solidFill>
                  <a:prstClr val="black">
                    <a:tint val="75000"/>
                  </a:prstClr>
                </a:solidFill>
                <a:latin typeface="Calibri" panose="020F0502020204030204"/>
                <a:cs typeface="Arial" panose="020B0604020202020204" pitchFamily="34" charset="0"/>
              </a:rPr>
              <a:pPr defTabSz="685800"/>
              <a:t>9</a:t>
            </a:fld>
            <a:endParaRPr lang="he-IL" sz="1050">
              <a:solidFill>
                <a:prstClr val="black">
                  <a:tint val="75000"/>
                </a:prstClr>
              </a:solidFill>
              <a:latin typeface="Calibri" panose="020F0502020204030204"/>
              <a:cs typeface="Arial" panose="020B0604020202020204" pitchFamily="34" charset="0"/>
            </a:endParaRPr>
          </a:p>
        </p:txBody>
      </p:sp>
      <p:sp>
        <p:nvSpPr>
          <p:cNvPr id="6" name="TextBox 5">
            <a:extLst>
              <a:ext uri="{FF2B5EF4-FFF2-40B4-BE49-F238E27FC236}">
                <a16:creationId xmlns:a16="http://schemas.microsoft.com/office/drawing/2014/main" id="{3D9B91FD-85E1-4D81-E3CC-73A6A0784879}"/>
              </a:ext>
            </a:extLst>
          </p:cNvPr>
          <p:cNvSpPr txBox="1"/>
          <p:nvPr/>
        </p:nvSpPr>
        <p:spPr>
          <a:xfrm>
            <a:off x="4790388" y="1792925"/>
            <a:ext cx="5397434" cy="707886"/>
          </a:xfrm>
          <a:prstGeom prst="rect">
            <a:avLst/>
          </a:prstGeom>
          <a:noFill/>
        </p:spPr>
        <p:txBody>
          <a:bodyPr wrap="square">
            <a:spAutoFit/>
          </a:bodyPr>
          <a:lstStyle/>
          <a:p>
            <a:pPr marL="214313" indent="-214313" defTabSz="685800">
              <a:buFont typeface="Arial" panose="020B0604020202020204" pitchFamily="34" charset="0"/>
              <a:buChar char="•"/>
            </a:pPr>
            <a:r>
              <a:rPr lang="he-IL" sz="1600" dirty="0">
                <a:solidFill>
                  <a:prstClr val="black"/>
                </a:solidFill>
                <a:latin typeface="Calibri" panose="020F0502020204030204"/>
                <a:cs typeface="Arial" panose="020B0604020202020204" pitchFamily="34" charset="0"/>
              </a:rPr>
              <a:t>אם לא נתון אחרת,</a:t>
            </a:r>
            <a:br>
              <a:rPr lang="en-US" sz="1600" dirty="0">
                <a:solidFill>
                  <a:prstClr val="black"/>
                </a:solidFill>
                <a:latin typeface="Calibri" panose="020F0502020204030204"/>
              </a:rPr>
            </a:br>
            <a:r>
              <a:rPr lang="he-IL" sz="1600" dirty="0">
                <a:solidFill>
                  <a:prstClr val="black"/>
                </a:solidFill>
                <a:latin typeface="Calibri" panose="020F0502020204030204"/>
                <a:cs typeface="Arial" panose="020B0604020202020204" pitchFamily="34" charset="0"/>
              </a:rPr>
              <a:t> אז נניח </a:t>
            </a:r>
            <a:r>
              <a:rPr lang="he-IL" sz="2400" u="sng" dirty="0">
                <a:solidFill>
                  <a:prstClr val="black"/>
                </a:solidFill>
                <a:latin typeface="Calibri" panose="020F0502020204030204"/>
                <a:cs typeface="Arial" panose="020B0604020202020204" pitchFamily="34" charset="0"/>
              </a:rPr>
              <a:t>שעקומת ההיצע עולה משמאל לימין</a:t>
            </a:r>
            <a:endParaRPr lang="he-IL" sz="1600" u="sng" dirty="0">
              <a:solidFill>
                <a:prstClr val="black"/>
              </a:solidFill>
              <a:latin typeface="Calibri" panose="020F0502020204030204"/>
              <a:cs typeface="Arial" panose="020B0604020202020204" pitchFamily="34" charset="0"/>
            </a:endParaRPr>
          </a:p>
        </p:txBody>
      </p:sp>
    </p:spTree>
    <p:extLst>
      <p:ext uri="{BB962C8B-B14F-4D97-AF65-F5344CB8AC3E}">
        <p14:creationId xmlns:p14="http://schemas.microsoft.com/office/powerpoint/2010/main" val="1834350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3749" y="525397"/>
            <a:ext cx="2939498" cy="994172"/>
          </a:xfrm>
        </p:spPr>
        <p:txBody>
          <a:bodyPr/>
          <a:lstStyle/>
          <a:p>
            <a:r>
              <a:rPr lang="he-IL" dirty="0"/>
              <a:t>מקרים מיוחדים</a:t>
            </a:r>
          </a:p>
        </p:txBody>
      </p:sp>
      <p:sp>
        <p:nvSpPr>
          <p:cNvPr id="3" name="Content Placeholder 2"/>
          <p:cNvSpPr>
            <a:spLocks noGrp="1"/>
          </p:cNvSpPr>
          <p:nvPr>
            <p:ph idx="1"/>
          </p:nvPr>
        </p:nvSpPr>
        <p:spPr>
          <a:xfrm>
            <a:off x="6918258" y="2005242"/>
            <a:ext cx="3401667" cy="449642"/>
          </a:xfrm>
        </p:spPr>
        <p:txBody>
          <a:bodyPr/>
          <a:lstStyle/>
          <a:p>
            <a:r>
              <a:rPr lang="he-IL" dirty="0"/>
              <a:t>עקומת היצע קשיחה לחלוטין</a:t>
            </a:r>
          </a:p>
        </p:txBody>
      </p:sp>
      <p:sp>
        <p:nvSpPr>
          <p:cNvPr id="5" name="Content Placeholder 2"/>
          <p:cNvSpPr txBox="1">
            <a:spLocks/>
          </p:cNvSpPr>
          <p:nvPr/>
        </p:nvSpPr>
        <p:spPr>
          <a:xfrm>
            <a:off x="2586523" y="2035928"/>
            <a:ext cx="3401667" cy="449642"/>
          </a:xfrm>
          <a:prstGeom prst="rect">
            <a:avLst/>
          </a:prstGeom>
        </p:spPr>
        <p:txBody>
          <a:bodyPr vert="horz" lIns="68580" tIns="34290" rIns="68580" bIns="3429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defTabSz="685800">
              <a:spcBef>
                <a:spcPts val="750"/>
              </a:spcBef>
            </a:pPr>
            <a:r>
              <a:rPr lang="he-IL" sz="2100" dirty="0">
                <a:solidFill>
                  <a:prstClr val="black"/>
                </a:solidFill>
                <a:latin typeface="Calibri" panose="020F0502020204030204"/>
                <a:cs typeface="Arial" panose="020B0604020202020204" pitchFamily="34" charset="0"/>
              </a:rPr>
              <a:t>עקומת ביקוש קשיחה לחלוטין</a:t>
            </a:r>
          </a:p>
        </p:txBody>
      </p:sp>
      <p:cxnSp>
        <p:nvCxnSpPr>
          <p:cNvPr id="6" name="Straight Arrow Connector 5">
            <a:extLst>
              <a:ext uri="{FF2B5EF4-FFF2-40B4-BE49-F238E27FC236}">
                <a16:creationId xmlns:a16="http://schemas.microsoft.com/office/drawing/2014/main" id="{5655D781-E1A9-4EA4-A6E0-B74BE5C5E234}"/>
              </a:ext>
            </a:extLst>
          </p:cNvPr>
          <p:cNvCxnSpPr>
            <a:cxnSpLocks/>
          </p:cNvCxnSpPr>
          <p:nvPr/>
        </p:nvCxnSpPr>
        <p:spPr>
          <a:xfrm>
            <a:off x="7488730" y="5375809"/>
            <a:ext cx="2476507" cy="349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41FAD8C-7A86-4789-84D4-3F45882EDF9B}"/>
              </a:ext>
            </a:extLst>
          </p:cNvPr>
          <p:cNvCxnSpPr>
            <a:cxnSpLocks/>
          </p:cNvCxnSpPr>
          <p:nvPr/>
        </p:nvCxnSpPr>
        <p:spPr>
          <a:xfrm flipV="1">
            <a:off x="7514090" y="2908264"/>
            <a:ext cx="0" cy="2467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EA45035-F9A1-4C23-83C2-1F18C061532A}"/>
              </a:ext>
            </a:extLst>
          </p:cNvPr>
          <p:cNvSpPr/>
          <p:nvPr/>
        </p:nvSpPr>
        <p:spPr>
          <a:xfrm>
            <a:off x="7209680" y="2816602"/>
            <a:ext cx="349776" cy="300082"/>
          </a:xfrm>
          <a:prstGeom prst="rect">
            <a:avLst/>
          </a:prstGeom>
        </p:spPr>
        <p:txBody>
          <a:bodyPr wrap="none">
            <a:spAutoFit/>
          </a:bodyPr>
          <a:lstStyle/>
          <a:p>
            <a:pPr defTabSz="685800"/>
            <a:r>
              <a:rPr lang="en-US" sz="1350" dirty="0">
                <a:solidFill>
                  <a:prstClr val="black"/>
                </a:solidFill>
                <a:latin typeface="Calibri"/>
              </a:rPr>
              <a:t>Px</a:t>
            </a:r>
            <a:endParaRPr lang="he-IL" sz="1350" dirty="0">
              <a:solidFill>
                <a:prstClr val="black"/>
              </a:solidFill>
              <a:latin typeface="Calibri"/>
              <a:cs typeface="Arial" panose="020B0604020202020204" pitchFamily="34" charset="0"/>
            </a:endParaRPr>
          </a:p>
        </p:txBody>
      </p:sp>
      <p:sp>
        <p:nvSpPr>
          <p:cNvPr id="9" name="TextBox 8">
            <a:extLst>
              <a:ext uri="{FF2B5EF4-FFF2-40B4-BE49-F238E27FC236}">
                <a16:creationId xmlns:a16="http://schemas.microsoft.com/office/drawing/2014/main" id="{5D7F713F-E0FB-40DD-B29A-B016CECBCDFF}"/>
              </a:ext>
            </a:extLst>
          </p:cNvPr>
          <p:cNvSpPr txBox="1"/>
          <p:nvPr/>
        </p:nvSpPr>
        <p:spPr>
          <a:xfrm>
            <a:off x="9994066" y="5347513"/>
            <a:ext cx="274434" cy="300082"/>
          </a:xfrm>
          <a:prstGeom prst="rect">
            <a:avLst/>
          </a:prstGeom>
          <a:noFill/>
        </p:spPr>
        <p:txBody>
          <a:bodyPr wrap="none" rtlCol="1">
            <a:spAutoFit/>
          </a:bodyPr>
          <a:lstStyle/>
          <a:p>
            <a:pPr defTabSz="685800"/>
            <a:r>
              <a:rPr lang="en-US" sz="1350" dirty="0">
                <a:solidFill>
                  <a:prstClr val="black"/>
                </a:solidFill>
                <a:latin typeface="Calibri"/>
              </a:rPr>
              <a:t>X</a:t>
            </a:r>
            <a:endParaRPr lang="he-IL" sz="1350" dirty="0">
              <a:solidFill>
                <a:prstClr val="black"/>
              </a:solidFill>
              <a:latin typeface="Calibri"/>
              <a:cs typeface="Arial" panose="020B0604020202020204" pitchFamily="34" charset="0"/>
            </a:endParaRPr>
          </a:p>
        </p:txBody>
      </p:sp>
      <p:sp>
        <p:nvSpPr>
          <p:cNvPr id="10" name="TextBox 9">
            <a:extLst>
              <a:ext uri="{FF2B5EF4-FFF2-40B4-BE49-F238E27FC236}">
                <a16:creationId xmlns:a16="http://schemas.microsoft.com/office/drawing/2014/main" id="{F65F1A90-2B7B-43D2-AC75-9B82D3884CE9}"/>
              </a:ext>
            </a:extLst>
          </p:cNvPr>
          <p:cNvSpPr txBox="1"/>
          <p:nvPr/>
        </p:nvSpPr>
        <p:spPr>
          <a:xfrm>
            <a:off x="9631994" y="5128083"/>
            <a:ext cx="348172" cy="300082"/>
          </a:xfrm>
          <a:prstGeom prst="rect">
            <a:avLst/>
          </a:prstGeom>
          <a:noFill/>
        </p:spPr>
        <p:txBody>
          <a:bodyPr wrap="none" rtlCol="1">
            <a:spAutoFit/>
          </a:bodyPr>
          <a:lstStyle/>
          <a:p>
            <a:pPr defTabSz="685800"/>
            <a:r>
              <a:rPr lang="en-US" sz="1350" dirty="0">
                <a:solidFill>
                  <a:prstClr val="black"/>
                </a:solidFill>
                <a:latin typeface="Calibri"/>
              </a:rPr>
              <a:t>D</a:t>
            </a:r>
            <a:r>
              <a:rPr lang="en-US" sz="1350" baseline="-25000" dirty="0">
                <a:solidFill>
                  <a:prstClr val="black"/>
                </a:solidFill>
                <a:latin typeface="Calibri"/>
              </a:rPr>
              <a:t>0</a:t>
            </a:r>
            <a:endParaRPr lang="he-IL" sz="1350" baseline="-25000" dirty="0">
              <a:solidFill>
                <a:prstClr val="black"/>
              </a:solidFill>
              <a:latin typeface="Calibri"/>
              <a:cs typeface="Arial" panose="020B0604020202020204" pitchFamily="34" charset="0"/>
            </a:endParaRPr>
          </a:p>
        </p:txBody>
      </p:sp>
      <p:sp>
        <p:nvSpPr>
          <p:cNvPr id="11" name="TextBox 10">
            <a:extLst>
              <a:ext uri="{FF2B5EF4-FFF2-40B4-BE49-F238E27FC236}">
                <a16:creationId xmlns:a16="http://schemas.microsoft.com/office/drawing/2014/main" id="{ED07CF66-401A-4FC4-A759-5F26AD3AB943}"/>
              </a:ext>
            </a:extLst>
          </p:cNvPr>
          <p:cNvSpPr txBox="1"/>
          <p:nvPr/>
        </p:nvSpPr>
        <p:spPr>
          <a:xfrm>
            <a:off x="8596190" y="2602894"/>
            <a:ext cx="322524" cy="300082"/>
          </a:xfrm>
          <a:prstGeom prst="rect">
            <a:avLst/>
          </a:prstGeom>
          <a:noFill/>
        </p:spPr>
        <p:txBody>
          <a:bodyPr wrap="none" rtlCol="1">
            <a:spAutoFit/>
          </a:bodyPr>
          <a:lstStyle/>
          <a:p>
            <a:pPr defTabSz="685800"/>
            <a:r>
              <a:rPr lang="en-US" sz="1350" dirty="0">
                <a:solidFill>
                  <a:prstClr val="black"/>
                </a:solidFill>
                <a:latin typeface="Calibri"/>
              </a:rPr>
              <a:t>S</a:t>
            </a:r>
            <a:r>
              <a:rPr lang="en-US" sz="1350" baseline="-25000" dirty="0">
                <a:solidFill>
                  <a:prstClr val="black"/>
                </a:solidFill>
                <a:latin typeface="Calibri"/>
              </a:rPr>
              <a:t>0</a:t>
            </a:r>
            <a:endParaRPr lang="he-IL" sz="1350" baseline="-25000" dirty="0">
              <a:solidFill>
                <a:prstClr val="black"/>
              </a:solidFill>
              <a:latin typeface="Calibri"/>
              <a:cs typeface="Arial" panose="020B0604020202020204" pitchFamily="34" charset="0"/>
            </a:endParaRPr>
          </a:p>
        </p:txBody>
      </p:sp>
      <p:cxnSp>
        <p:nvCxnSpPr>
          <p:cNvPr id="12" name="מחבר ישר 15">
            <a:extLst>
              <a:ext uri="{FF2B5EF4-FFF2-40B4-BE49-F238E27FC236}">
                <a16:creationId xmlns:a16="http://schemas.microsoft.com/office/drawing/2014/main" id="{06441D8A-9EBD-4A34-918C-A34EC1CCE90E}"/>
              </a:ext>
            </a:extLst>
          </p:cNvPr>
          <p:cNvCxnSpPr>
            <a:cxnSpLocks/>
          </p:cNvCxnSpPr>
          <p:nvPr/>
        </p:nvCxnSpPr>
        <p:spPr>
          <a:xfrm flipV="1">
            <a:off x="8607835" y="2925725"/>
            <a:ext cx="22512" cy="246754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9197B85C-4AA9-4E39-B64C-0C17261F0A3D}"/>
              </a:ext>
            </a:extLst>
          </p:cNvPr>
          <p:cNvSpPr/>
          <p:nvPr/>
        </p:nvSpPr>
        <p:spPr>
          <a:xfrm>
            <a:off x="8527245" y="4026982"/>
            <a:ext cx="215476" cy="207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685800"/>
            <a:r>
              <a:rPr lang="en-US" sz="1350" dirty="0">
                <a:solidFill>
                  <a:prstClr val="white"/>
                </a:solidFill>
                <a:latin typeface="Calibri"/>
              </a:rPr>
              <a:t>A</a:t>
            </a:r>
            <a:endParaRPr lang="en-IL" sz="1350" dirty="0">
              <a:solidFill>
                <a:prstClr val="white"/>
              </a:solidFill>
              <a:latin typeface="Calibri"/>
            </a:endParaRPr>
          </a:p>
        </p:txBody>
      </p:sp>
      <p:cxnSp>
        <p:nvCxnSpPr>
          <p:cNvPr id="14" name="מחבר ישר 13">
            <a:extLst>
              <a:ext uri="{FF2B5EF4-FFF2-40B4-BE49-F238E27FC236}">
                <a16:creationId xmlns:a16="http://schemas.microsoft.com/office/drawing/2014/main" id="{820B12E4-C110-446B-93C2-A733E41394FB}"/>
              </a:ext>
            </a:extLst>
          </p:cNvPr>
          <p:cNvCxnSpPr>
            <a:cxnSpLocks/>
          </p:cNvCxnSpPr>
          <p:nvPr/>
        </p:nvCxnSpPr>
        <p:spPr>
          <a:xfrm>
            <a:off x="7628701" y="3214273"/>
            <a:ext cx="2228851" cy="2031506"/>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655D781-E1A9-4EA4-A6E0-B74BE5C5E234}"/>
              </a:ext>
            </a:extLst>
          </p:cNvPr>
          <p:cNvCxnSpPr>
            <a:cxnSpLocks/>
          </p:cNvCxnSpPr>
          <p:nvPr/>
        </p:nvCxnSpPr>
        <p:spPr>
          <a:xfrm>
            <a:off x="3246225" y="5315794"/>
            <a:ext cx="2476507" cy="349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41FAD8C-7A86-4789-84D4-3F45882EDF9B}"/>
              </a:ext>
            </a:extLst>
          </p:cNvPr>
          <p:cNvCxnSpPr>
            <a:cxnSpLocks/>
          </p:cNvCxnSpPr>
          <p:nvPr/>
        </p:nvCxnSpPr>
        <p:spPr>
          <a:xfrm flipV="1">
            <a:off x="3271585" y="2848249"/>
            <a:ext cx="0" cy="2467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DEA45035-F9A1-4C23-83C2-1F18C061532A}"/>
              </a:ext>
            </a:extLst>
          </p:cNvPr>
          <p:cNvSpPr/>
          <p:nvPr/>
        </p:nvSpPr>
        <p:spPr>
          <a:xfrm>
            <a:off x="2967175" y="2756587"/>
            <a:ext cx="349776" cy="300082"/>
          </a:xfrm>
          <a:prstGeom prst="rect">
            <a:avLst/>
          </a:prstGeom>
        </p:spPr>
        <p:txBody>
          <a:bodyPr wrap="none">
            <a:spAutoFit/>
          </a:bodyPr>
          <a:lstStyle/>
          <a:p>
            <a:pPr defTabSz="685800"/>
            <a:r>
              <a:rPr lang="en-US" sz="1350" dirty="0">
                <a:solidFill>
                  <a:prstClr val="black"/>
                </a:solidFill>
                <a:latin typeface="Calibri"/>
              </a:rPr>
              <a:t>Px</a:t>
            </a:r>
            <a:endParaRPr lang="he-IL" sz="1350" dirty="0">
              <a:solidFill>
                <a:prstClr val="black"/>
              </a:solidFill>
              <a:latin typeface="Calibri"/>
              <a:cs typeface="Arial" panose="020B0604020202020204" pitchFamily="34" charset="0"/>
            </a:endParaRPr>
          </a:p>
        </p:txBody>
      </p:sp>
      <p:sp>
        <p:nvSpPr>
          <p:cNvPr id="20" name="TextBox 19">
            <a:extLst>
              <a:ext uri="{FF2B5EF4-FFF2-40B4-BE49-F238E27FC236}">
                <a16:creationId xmlns:a16="http://schemas.microsoft.com/office/drawing/2014/main" id="{5D7F713F-E0FB-40DD-B29A-B016CECBCDFF}"/>
              </a:ext>
            </a:extLst>
          </p:cNvPr>
          <p:cNvSpPr txBox="1"/>
          <p:nvPr/>
        </p:nvSpPr>
        <p:spPr>
          <a:xfrm>
            <a:off x="5751561" y="5287498"/>
            <a:ext cx="274434" cy="300082"/>
          </a:xfrm>
          <a:prstGeom prst="rect">
            <a:avLst/>
          </a:prstGeom>
          <a:noFill/>
        </p:spPr>
        <p:txBody>
          <a:bodyPr wrap="none" rtlCol="1">
            <a:spAutoFit/>
          </a:bodyPr>
          <a:lstStyle/>
          <a:p>
            <a:pPr defTabSz="685800"/>
            <a:r>
              <a:rPr lang="en-US" sz="1350" dirty="0">
                <a:solidFill>
                  <a:prstClr val="black"/>
                </a:solidFill>
                <a:latin typeface="Calibri"/>
              </a:rPr>
              <a:t>X</a:t>
            </a:r>
            <a:endParaRPr lang="he-IL" sz="1350" dirty="0">
              <a:solidFill>
                <a:prstClr val="black"/>
              </a:solidFill>
              <a:latin typeface="Calibri"/>
              <a:cs typeface="Arial" panose="020B0604020202020204" pitchFamily="34" charset="0"/>
            </a:endParaRPr>
          </a:p>
        </p:txBody>
      </p:sp>
      <p:sp>
        <p:nvSpPr>
          <p:cNvPr id="21" name="TextBox 20">
            <a:extLst>
              <a:ext uri="{FF2B5EF4-FFF2-40B4-BE49-F238E27FC236}">
                <a16:creationId xmlns:a16="http://schemas.microsoft.com/office/drawing/2014/main" id="{F65F1A90-2B7B-43D2-AC75-9B82D3884CE9}"/>
              </a:ext>
            </a:extLst>
          </p:cNvPr>
          <p:cNvSpPr txBox="1"/>
          <p:nvPr/>
        </p:nvSpPr>
        <p:spPr>
          <a:xfrm>
            <a:off x="4525577" y="2697966"/>
            <a:ext cx="348172" cy="300082"/>
          </a:xfrm>
          <a:prstGeom prst="rect">
            <a:avLst/>
          </a:prstGeom>
          <a:noFill/>
        </p:spPr>
        <p:txBody>
          <a:bodyPr wrap="none" rtlCol="1">
            <a:spAutoFit/>
          </a:bodyPr>
          <a:lstStyle/>
          <a:p>
            <a:pPr defTabSz="685800"/>
            <a:r>
              <a:rPr lang="en-US" sz="1350" dirty="0">
                <a:solidFill>
                  <a:prstClr val="black"/>
                </a:solidFill>
                <a:latin typeface="Calibri"/>
              </a:rPr>
              <a:t>D</a:t>
            </a:r>
            <a:r>
              <a:rPr lang="en-US" sz="1350" baseline="-25000" dirty="0">
                <a:solidFill>
                  <a:prstClr val="black"/>
                </a:solidFill>
                <a:latin typeface="Calibri"/>
              </a:rPr>
              <a:t>0</a:t>
            </a:r>
            <a:endParaRPr lang="he-IL" sz="1350" baseline="-25000" dirty="0">
              <a:solidFill>
                <a:prstClr val="black"/>
              </a:solidFill>
              <a:latin typeface="Calibri"/>
              <a:cs typeface="Arial" panose="020B0604020202020204" pitchFamily="34" charset="0"/>
            </a:endParaRPr>
          </a:p>
        </p:txBody>
      </p:sp>
      <p:sp>
        <p:nvSpPr>
          <p:cNvPr id="22" name="TextBox 21">
            <a:extLst>
              <a:ext uri="{FF2B5EF4-FFF2-40B4-BE49-F238E27FC236}">
                <a16:creationId xmlns:a16="http://schemas.microsoft.com/office/drawing/2014/main" id="{ED07CF66-401A-4FC4-A759-5F26AD3AB943}"/>
              </a:ext>
            </a:extLst>
          </p:cNvPr>
          <p:cNvSpPr txBox="1"/>
          <p:nvPr/>
        </p:nvSpPr>
        <p:spPr>
          <a:xfrm flipH="1">
            <a:off x="5780027" y="2841557"/>
            <a:ext cx="913309" cy="300082"/>
          </a:xfrm>
          <a:prstGeom prst="rect">
            <a:avLst/>
          </a:prstGeom>
          <a:noFill/>
        </p:spPr>
        <p:txBody>
          <a:bodyPr wrap="square" rtlCol="1">
            <a:spAutoFit/>
          </a:bodyPr>
          <a:lstStyle/>
          <a:p>
            <a:pPr defTabSz="685800"/>
            <a:r>
              <a:rPr lang="en-US" sz="1350" dirty="0">
                <a:solidFill>
                  <a:prstClr val="black"/>
                </a:solidFill>
                <a:latin typeface="Calibri"/>
              </a:rPr>
              <a:t>S</a:t>
            </a:r>
            <a:r>
              <a:rPr lang="en-US" sz="1350" baseline="-25000" dirty="0">
                <a:solidFill>
                  <a:prstClr val="black"/>
                </a:solidFill>
                <a:latin typeface="Calibri"/>
              </a:rPr>
              <a:t>0</a:t>
            </a:r>
            <a:endParaRPr lang="he-IL" sz="1350" baseline="-25000" dirty="0">
              <a:solidFill>
                <a:prstClr val="black"/>
              </a:solidFill>
              <a:latin typeface="Calibri"/>
              <a:cs typeface="Arial" panose="020B0604020202020204" pitchFamily="34" charset="0"/>
            </a:endParaRPr>
          </a:p>
        </p:txBody>
      </p:sp>
      <p:cxnSp>
        <p:nvCxnSpPr>
          <p:cNvPr id="23" name="מחבר ישר 15">
            <a:extLst>
              <a:ext uri="{FF2B5EF4-FFF2-40B4-BE49-F238E27FC236}">
                <a16:creationId xmlns:a16="http://schemas.microsoft.com/office/drawing/2014/main" id="{06441D8A-9EBD-4A34-918C-A34EC1CCE90E}"/>
              </a:ext>
            </a:extLst>
          </p:cNvPr>
          <p:cNvCxnSpPr>
            <a:cxnSpLocks/>
          </p:cNvCxnSpPr>
          <p:nvPr/>
        </p:nvCxnSpPr>
        <p:spPr>
          <a:xfrm flipV="1">
            <a:off x="3270853" y="2925724"/>
            <a:ext cx="2417504" cy="211627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9197B85C-4AA9-4E39-B64C-0C17261F0A3D}"/>
              </a:ext>
            </a:extLst>
          </p:cNvPr>
          <p:cNvSpPr/>
          <p:nvPr/>
        </p:nvSpPr>
        <p:spPr>
          <a:xfrm>
            <a:off x="4287356" y="3849992"/>
            <a:ext cx="384497" cy="26773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685800"/>
            <a:r>
              <a:rPr lang="en-US" sz="1350" dirty="0">
                <a:solidFill>
                  <a:prstClr val="white"/>
                </a:solidFill>
                <a:latin typeface="Calibri"/>
              </a:rPr>
              <a:t>A</a:t>
            </a:r>
            <a:endParaRPr lang="en-IL" sz="1350" dirty="0">
              <a:solidFill>
                <a:prstClr val="white"/>
              </a:solidFill>
              <a:latin typeface="Calibri"/>
            </a:endParaRPr>
          </a:p>
        </p:txBody>
      </p:sp>
      <p:cxnSp>
        <p:nvCxnSpPr>
          <p:cNvPr id="25" name="מחבר ישר 13">
            <a:extLst>
              <a:ext uri="{FF2B5EF4-FFF2-40B4-BE49-F238E27FC236}">
                <a16:creationId xmlns:a16="http://schemas.microsoft.com/office/drawing/2014/main" id="{820B12E4-C110-446B-93C2-A733E41394FB}"/>
              </a:ext>
            </a:extLst>
          </p:cNvPr>
          <p:cNvCxnSpPr>
            <a:cxnSpLocks/>
          </p:cNvCxnSpPr>
          <p:nvPr/>
        </p:nvCxnSpPr>
        <p:spPr>
          <a:xfrm flipH="1">
            <a:off x="4479939" y="2805835"/>
            <a:ext cx="20278" cy="2472629"/>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15" name="Date Placeholder 14">
            <a:extLst>
              <a:ext uri="{FF2B5EF4-FFF2-40B4-BE49-F238E27FC236}">
                <a16:creationId xmlns:a16="http://schemas.microsoft.com/office/drawing/2014/main" id="{1985903E-2831-8C17-8908-6608EBCF2074}"/>
              </a:ext>
            </a:extLst>
          </p:cNvPr>
          <p:cNvSpPr>
            <a:spLocks noGrp="1"/>
          </p:cNvSpPr>
          <p:nvPr>
            <p:ph type="dt" sz="half" idx="10"/>
          </p:nvPr>
        </p:nvSpPr>
        <p:spPr/>
        <p:txBody>
          <a:bodyPr/>
          <a:lstStyle/>
          <a:p>
            <a:pPr defTabSz="685800"/>
            <a:fld id="{50BFFE6E-6C90-4A0D-BE0C-ECDB5FB50308}" type="datetime8">
              <a:rPr lang="he-IL">
                <a:solidFill>
                  <a:prstClr val="black">
                    <a:tint val="75000"/>
                  </a:prstClr>
                </a:solidFill>
                <a:latin typeface="Calibri" panose="020F0502020204030204"/>
                <a:cs typeface="Arial" panose="020B0604020202020204" pitchFamily="34" charset="0"/>
              </a:rPr>
              <a:pPr defTabSz="685800"/>
              <a:t>09 ינואר 26</a:t>
            </a:fld>
            <a:endParaRPr lang="he-IL">
              <a:solidFill>
                <a:prstClr val="black">
                  <a:tint val="75000"/>
                </a:prstClr>
              </a:solidFill>
              <a:latin typeface="Calibri" panose="020F0502020204030204"/>
              <a:cs typeface="Arial" panose="020B0604020202020204" pitchFamily="34" charset="0"/>
            </a:endParaRPr>
          </a:p>
        </p:txBody>
      </p:sp>
      <p:sp>
        <p:nvSpPr>
          <p:cNvPr id="16" name="Slide Number Placeholder 15">
            <a:extLst>
              <a:ext uri="{FF2B5EF4-FFF2-40B4-BE49-F238E27FC236}">
                <a16:creationId xmlns:a16="http://schemas.microsoft.com/office/drawing/2014/main" id="{2E53EB70-EE95-9F9D-8F9C-747B7A8FF494}"/>
              </a:ext>
            </a:extLst>
          </p:cNvPr>
          <p:cNvSpPr>
            <a:spLocks noGrp="1"/>
          </p:cNvSpPr>
          <p:nvPr>
            <p:ph type="sldNum" sz="quarter" idx="12"/>
          </p:nvPr>
        </p:nvSpPr>
        <p:spPr/>
        <p:txBody>
          <a:bodyPr/>
          <a:lstStyle/>
          <a:p>
            <a:pPr defTabSz="685800"/>
            <a:fld id="{D69A981F-4466-4789-9E41-1885E502A96E}" type="slidenum">
              <a:rPr lang="he-IL">
                <a:solidFill>
                  <a:prstClr val="black">
                    <a:tint val="75000"/>
                  </a:prstClr>
                </a:solidFill>
                <a:latin typeface="Calibri" panose="020F0502020204030204"/>
                <a:cs typeface="Arial" panose="020B0604020202020204" pitchFamily="34" charset="0"/>
              </a:rPr>
              <a:pPr defTabSz="685800"/>
              <a:t>10</a:t>
            </a:fld>
            <a:endParaRPr lang="he-IL">
              <a:solidFill>
                <a:prstClr val="black">
                  <a:tint val="75000"/>
                </a:prstClr>
              </a:solidFill>
              <a:latin typeface="Calibri" panose="020F0502020204030204"/>
              <a:cs typeface="Arial" panose="020B0604020202020204" pitchFamily="34" charset="0"/>
            </a:endParaRPr>
          </a:p>
        </p:txBody>
      </p:sp>
      <p:sp>
        <p:nvSpPr>
          <p:cNvPr id="4" name="TextBox 3">
            <a:extLst>
              <a:ext uri="{FF2B5EF4-FFF2-40B4-BE49-F238E27FC236}">
                <a16:creationId xmlns:a16="http://schemas.microsoft.com/office/drawing/2014/main" id="{BA08AD54-516B-0DA3-733D-90F401C0CD4C}"/>
              </a:ext>
            </a:extLst>
          </p:cNvPr>
          <p:cNvSpPr txBox="1"/>
          <p:nvPr/>
        </p:nvSpPr>
        <p:spPr>
          <a:xfrm>
            <a:off x="8983538" y="2909575"/>
            <a:ext cx="1447341" cy="738664"/>
          </a:xfrm>
          <a:prstGeom prst="rect">
            <a:avLst/>
          </a:prstGeom>
          <a:noFill/>
        </p:spPr>
        <p:txBody>
          <a:bodyPr wrap="square" rtlCol="0">
            <a:spAutoFit/>
          </a:bodyPr>
          <a:lstStyle/>
          <a:p>
            <a:pPr defTabSz="685800"/>
            <a:r>
              <a:rPr lang="he-IL" sz="1400" dirty="0">
                <a:solidFill>
                  <a:prstClr val="black"/>
                </a:solidFill>
                <a:latin typeface="Calibri" panose="020F0502020204030204"/>
                <a:cs typeface="Arial" panose="020B0604020202020204" pitchFamily="34" charset="0"/>
              </a:rPr>
              <a:t>היצרן מייצר כמות מסוימת ללא תלות במחיר המוצר. </a:t>
            </a:r>
            <a:endParaRPr lang="en-IL" sz="1400" dirty="0">
              <a:solidFill>
                <a:prstClr val="black"/>
              </a:solidFill>
              <a:latin typeface="Calibri" panose="020F0502020204030204"/>
            </a:endParaRPr>
          </a:p>
        </p:txBody>
      </p:sp>
      <p:sp>
        <p:nvSpPr>
          <p:cNvPr id="27" name="TextBox 26">
            <a:extLst>
              <a:ext uri="{FF2B5EF4-FFF2-40B4-BE49-F238E27FC236}">
                <a16:creationId xmlns:a16="http://schemas.microsoft.com/office/drawing/2014/main" id="{D511D6DA-3E89-2F11-C224-936A34DEA5F9}"/>
              </a:ext>
            </a:extLst>
          </p:cNvPr>
          <p:cNvSpPr txBox="1"/>
          <p:nvPr/>
        </p:nvSpPr>
        <p:spPr>
          <a:xfrm>
            <a:off x="7365518" y="5873589"/>
            <a:ext cx="3016380" cy="523220"/>
          </a:xfrm>
          <a:prstGeom prst="rect">
            <a:avLst/>
          </a:prstGeom>
          <a:noFill/>
        </p:spPr>
        <p:txBody>
          <a:bodyPr wrap="square">
            <a:spAutoFit/>
          </a:bodyPr>
          <a:lstStyle/>
          <a:p>
            <a:pPr defTabSz="685800"/>
            <a:r>
              <a:rPr lang="he-IL" sz="1400" dirty="0">
                <a:solidFill>
                  <a:prstClr val="black"/>
                </a:solidFill>
                <a:latin typeface="Calibri" panose="020F0502020204030204"/>
                <a:cs typeface="Arial" panose="020B0604020202020204" pitchFamily="34" charset="0"/>
              </a:rPr>
              <a:t>לדוגמא ביום שישי בצהריים ירקן מוכר 30 ק''ג מלפפונים לכל רמת מחיר </a:t>
            </a:r>
            <a:endParaRPr lang="en-IL" sz="1400" dirty="0">
              <a:solidFill>
                <a:prstClr val="black"/>
              </a:solidFill>
              <a:latin typeface="Calibri" panose="020F0502020204030204"/>
            </a:endParaRPr>
          </a:p>
        </p:txBody>
      </p:sp>
      <p:sp>
        <p:nvSpPr>
          <p:cNvPr id="28" name="TextBox 27">
            <a:extLst>
              <a:ext uri="{FF2B5EF4-FFF2-40B4-BE49-F238E27FC236}">
                <a16:creationId xmlns:a16="http://schemas.microsoft.com/office/drawing/2014/main" id="{408416A3-DEAB-01F8-D7D4-BDA2857508FA}"/>
              </a:ext>
            </a:extLst>
          </p:cNvPr>
          <p:cNvSpPr txBox="1"/>
          <p:nvPr/>
        </p:nvSpPr>
        <p:spPr>
          <a:xfrm>
            <a:off x="5083689" y="3310305"/>
            <a:ext cx="1569250" cy="738664"/>
          </a:xfrm>
          <a:prstGeom prst="rect">
            <a:avLst/>
          </a:prstGeom>
          <a:noFill/>
        </p:spPr>
        <p:txBody>
          <a:bodyPr wrap="square" rtlCol="0">
            <a:spAutoFit/>
          </a:bodyPr>
          <a:lstStyle/>
          <a:p>
            <a:pPr defTabSz="685800"/>
            <a:r>
              <a:rPr lang="he-IL" sz="1400" dirty="0">
                <a:solidFill>
                  <a:prstClr val="black"/>
                </a:solidFill>
                <a:latin typeface="Calibri" panose="020F0502020204030204"/>
                <a:cs typeface="Arial" panose="020B0604020202020204" pitchFamily="34" charset="0"/>
              </a:rPr>
              <a:t>הצרכן מבקש לקנות כמות מסוימת ללא תלות במחיר המוצר. </a:t>
            </a:r>
            <a:endParaRPr lang="en-IL" sz="1400" dirty="0">
              <a:solidFill>
                <a:prstClr val="black"/>
              </a:solidFill>
              <a:latin typeface="Calibri" panose="020F0502020204030204"/>
            </a:endParaRPr>
          </a:p>
        </p:txBody>
      </p:sp>
      <p:sp>
        <p:nvSpPr>
          <p:cNvPr id="29" name="TextBox 28">
            <a:extLst>
              <a:ext uri="{FF2B5EF4-FFF2-40B4-BE49-F238E27FC236}">
                <a16:creationId xmlns:a16="http://schemas.microsoft.com/office/drawing/2014/main" id="{343BEDBD-1561-6C4A-2513-B3C8F16AAFCF}"/>
              </a:ext>
            </a:extLst>
          </p:cNvPr>
          <p:cNvSpPr txBox="1"/>
          <p:nvPr/>
        </p:nvSpPr>
        <p:spPr>
          <a:xfrm>
            <a:off x="2967176" y="5771575"/>
            <a:ext cx="3341901" cy="523220"/>
          </a:xfrm>
          <a:prstGeom prst="rect">
            <a:avLst/>
          </a:prstGeom>
          <a:noFill/>
        </p:spPr>
        <p:txBody>
          <a:bodyPr wrap="square">
            <a:spAutoFit/>
          </a:bodyPr>
          <a:lstStyle/>
          <a:p>
            <a:pPr defTabSz="685800"/>
            <a:r>
              <a:rPr lang="he-IL" sz="1400" dirty="0">
                <a:solidFill>
                  <a:prstClr val="black"/>
                </a:solidFill>
                <a:latin typeface="Calibri" panose="020F0502020204030204"/>
                <a:cs typeface="Arial" panose="020B0604020202020204" pitchFamily="34" charset="0"/>
              </a:rPr>
              <a:t>לדוגמא תרופות מצילות חיים, מי שזקוק ירכוש את הכמות שהוא צריך בכל רמת מחיר</a:t>
            </a:r>
            <a:endParaRPr lang="en-IL" sz="1400" dirty="0">
              <a:solidFill>
                <a:prstClr val="black"/>
              </a:solidFill>
              <a:latin typeface="Calibri" panose="020F0502020204030204"/>
            </a:endParaRPr>
          </a:p>
        </p:txBody>
      </p:sp>
      <p:sp>
        <p:nvSpPr>
          <p:cNvPr id="30" name="Rectangle 29">
            <a:extLst>
              <a:ext uri="{FF2B5EF4-FFF2-40B4-BE49-F238E27FC236}">
                <a16:creationId xmlns:a16="http://schemas.microsoft.com/office/drawing/2014/main" id="{D7AA9F38-5E24-E946-D541-3968D1A1A388}"/>
              </a:ext>
            </a:extLst>
          </p:cNvPr>
          <p:cNvSpPr/>
          <p:nvPr/>
        </p:nvSpPr>
        <p:spPr>
          <a:xfrm>
            <a:off x="8492287" y="5465711"/>
            <a:ext cx="389850" cy="369332"/>
          </a:xfrm>
          <a:prstGeom prst="rect">
            <a:avLst/>
          </a:prstGeom>
        </p:spPr>
        <p:txBody>
          <a:bodyPr wrap="none">
            <a:spAutoFit/>
          </a:bodyPr>
          <a:lstStyle/>
          <a:p>
            <a:pPr defTabSz="685800"/>
            <a:r>
              <a:rPr lang="en-US" dirty="0">
                <a:solidFill>
                  <a:prstClr val="black"/>
                </a:solidFill>
                <a:latin typeface="Calibri"/>
              </a:rPr>
              <a:t>X</a:t>
            </a:r>
            <a:r>
              <a:rPr lang="he-IL" sz="1200" dirty="0">
                <a:solidFill>
                  <a:prstClr val="black"/>
                </a:solidFill>
                <a:latin typeface="Calibri"/>
                <a:cs typeface="Arial" panose="020B0604020202020204" pitchFamily="34" charset="0"/>
              </a:rPr>
              <a:t>0</a:t>
            </a:r>
            <a:endParaRPr lang="he-IL" sz="825" dirty="0">
              <a:solidFill>
                <a:prstClr val="black"/>
              </a:solidFill>
              <a:latin typeface="Calibri"/>
              <a:cs typeface="Arial" panose="020B0604020202020204" pitchFamily="34" charset="0"/>
            </a:endParaRPr>
          </a:p>
        </p:txBody>
      </p:sp>
      <p:sp>
        <p:nvSpPr>
          <p:cNvPr id="31" name="Rectangle 30">
            <a:extLst>
              <a:ext uri="{FF2B5EF4-FFF2-40B4-BE49-F238E27FC236}">
                <a16:creationId xmlns:a16="http://schemas.microsoft.com/office/drawing/2014/main" id="{2B7BCAC5-419B-9077-68A2-248019AFCE31}"/>
              </a:ext>
            </a:extLst>
          </p:cNvPr>
          <p:cNvSpPr/>
          <p:nvPr/>
        </p:nvSpPr>
        <p:spPr>
          <a:xfrm>
            <a:off x="4312786" y="5330548"/>
            <a:ext cx="380232" cy="369332"/>
          </a:xfrm>
          <a:prstGeom prst="rect">
            <a:avLst/>
          </a:prstGeom>
        </p:spPr>
        <p:txBody>
          <a:bodyPr wrap="none">
            <a:spAutoFit/>
          </a:bodyPr>
          <a:lstStyle/>
          <a:p>
            <a:pPr defTabSz="685800"/>
            <a:r>
              <a:rPr lang="en-US" dirty="0">
                <a:solidFill>
                  <a:prstClr val="black"/>
                </a:solidFill>
                <a:latin typeface="Calibri"/>
              </a:rPr>
              <a:t>X</a:t>
            </a:r>
            <a:r>
              <a:rPr lang="he-IL" sz="1050" dirty="0">
                <a:solidFill>
                  <a:prstClr val="black"/>
                </a:solidFill>
                <a:latin typeface="Calibri"/>
                <a:cs typeface="Arial" panose="020B0604020202020204" pitchFamily="34" charset="0"/>
              </a:rPr>
              <a:t>0</a:t>
            </a:r>
          </a:p>
        </p:txBody>
      </p:sp>
    </p:spTree>
    <p:extLst>
      <p:ext uri="{BB962C8B-B14F-4D97-AF65-F5344CB8AC3E}">
        <p14:creationId xmlns:p14="http://schemas.microsoft.com/office/powerpoint/2010/main" val="1897137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ppt_x"/>
                                          </p:val>
                                        </p:tav>
                                        <p:tav tm="100000">
                                          <p:val>
                                            <p:strVal val="#ppt_x"/>
                                          </p:val>
                                        </p:tav>
                                      </p:tavLst>
                                    </p:anim>
                                    <p:anim calcmode="lin" valueType="num">
                                      <p:cBhvr additive="base">
                                        <p:cTn id="1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randombar(horizontal)">
                                      <p:cBhvr>
                                        <p:cTn id="27" dur="500"/>
                                        <p:tgtEl>
                                          <p:spTgt spid="25"/>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randombar(horizontal)">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500"/>
                                        <p:tgtEl>
                                          <p:spTgt spid="27"/>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8"/>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21" grpId="0"/>
      <p:bldP spid="4" grpId="0"/>
      <p:bldP spid="27" grpId="0"/>
      <p:bldP spid="28" grpId="0"/>
      <p:bldP spid="2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06447" y="483496"/>
            <a:ext cx="2939498" cy="994172"/>
          </a:xfrm>
        </p:spPr>
        <p:txBody>
          <a:bodyPr/>
          <a:lstStyle/>
          <a:p>
            <a:r>
              <a:rPr lang="he-IL" dirty="0"/>
              <a:t>מקרים מיוחדים</a:t>
            </a:r>
          </a:p>
        </p:txBody>
      </p:sp>
      <p:sp>
        <p:nvSpPr>
          <p:cNvPr id="3" name="Content Placeholder 2"/>
          <p:cNvSpPr>
            <a:spLocks noGrp="1"/>
          </p:cNvSpPr>
          <p:nvPr>
            <p:ph idx="1"/>
          </p:nvPr>
        </p:nvSpPr>
        <p:spPr>
          <a:xfrm>
            <a:off x="6918258" y="2005242"/>
            <a:ext cx="3401667" cy="449642"/>
          </a:xfrm>
        </p:spPr>
        <p:txBody>
          <a:bodyPr/>
          <a:lstStyle/>
          <a:p>
            <a:r>
              <a:rPr lang="he-IL" dirty="0"/>
              <a:t>עקומת היצע גמישה לחלוטין</a:t>
            </a:r>
          </a:p>
        </p:txBody>
      </p:sp>
      <p:sp>
        <p:nvSpPr>
          <p:cNvPr id="5" name="Content Placeholder 2"/>
          <p:cNvSpPr txBox="1">
            <a:spLocks/>
          </p:cNvSpPr>
          <p:nvPr/>
        </p:nvSpPr>
        <p:spPr>
          <a:xfrm>
            <a:off x="2586523" y="2035928"/>
            <a:ext cx="3401667" cy="449642"/>
          </a:xfrm>
          <a:prstGeom prst="rect">
            <a:avLst/>
          </a:prstGeom>
        </p:spPr>
        <p:txBody>
          <a:bodyPr vert="horz" lIns="68580" tIns="34290" rIns="68580" bIns="3429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defTabSz="685800">
              <a:spcBef>
                <a:spcPts val="750"/>
              </a:spcBef>
            </a:pPr>
            <a:r>
              <a:rPr lang="he-IL" sz="2100" dirty="0">
                <a:solidFill>
                  <a:prstClr val="black"/>
                </a:solidFill>
                <a:latin typeface="Calibri" panose="020F0502020204030204"/>
                <a:cs typeface="Arial" panose="020B0604020202020204" pitchFamily="34" charset="0"/>
              </a:rPr>
              <a:t>עקומת ביקוש גמישה לחלוטין</a:t>
            </a:r>
          </a:p>
        </p:txBody>
      </p:sp>
      <p:cxnSp>
        <p:nvCxnSpPr>
          <p:cNvPr id="6" name="Straight Arrow Connector 5">
            <a:extLst>
              <a:ext uri="{FF2B5EF4-FFF2-40B4-BE49-F238E27FC236}">
                <a16:creationId xmlns:a16="http://schemas.microsoft.com/office/drawing/2014/main" id="{5655D781-E1A9-4EA4-A6E0-B74BE5C5E234}"/>
              </a:ext>
            </a:extLst>
          </p:cNvPr>
          <p:cNvCxnSpPr>
            <a:cxnSpLocks/>
          </p:cNvCxnSpPr>
          <p:nvPr/>
        </p:nvCxnSpPr>
        <p:spPr>
          <a:xfrm>
            <a:off x="7488730" y="5375809"/>
            <a:ext cx="2476507" cy="349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041FAD8C-7A86-4789-84D4-3F45882EDF9B}"/>
              </a:ext>
            </a:extLst>
          </p:cNvPr>
          <p:cNvCxnSpPr>
            <a:cxnSpLocks/>
          </p:cNvCxnSpPr>
          <p:nvPr/>
        </p:nvCxnSpPr>
        <p:spPr>
          <a:xfrm flipV="1">
            <a:off x="7514090" y="2908264"/>
            <a:ext cx="0" cy="2467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EA45035-F9A1-4C23-83C2-1F18C061532A}"/>
              </a:ext>
            </a:extLst>
          </p:cNvPr>
          <p:cNvSpPr/>
          <p:nvPr/>
        </p:nvSpPr>
        <p:spPr>
          <a:xfrm>
            <a:off x="7209680" y="2816602"/>
            <a:ext cx="349776" cy="300082"/>
          </a:xfrm>
          <a:prstGeom prst="rect">
            <a:avLst/>
          </a:prstGeom>
        </p:spPr>
        <p:txBody>
          <a:bodyPr wrap="none">
            <a:spAutoFit/>
          </a:bodyPr>
          <a:lstStyle/>
          <a:p>
            <a:pPr defTabSz="685800"/>
            <a:r>
              <a:rPr lang="en-US" sz="1350" dirty="0">
                <a:solidFill>
                  <a:prstClr val="black"/>
                </a:solidFill>
                <a:latin typeface="Calibri"/>
              </a:rPr>
              <a:t>Px</a:t>
            </a:r>
            <a:endParaRPr lang="he-IL" sz="1350" dirty="0">
              <a:solidFill>
                <a:prstClr val="black"/>
              </a:solidFill>
              <a:latin typeface="Calibri"/>
              <a:cs typeface="Arial" panose="020B0604020202020204" pitchFamily="34" charset="0"/>
            </a:endParaRPr>
          </a:p>
        </p:txBody>
      </p:sp>
      <p:sp>
        <p:nvSpPr>
          <p:cNvPr id="9" name="TextBox 8">
            <a:extLst>
              <a:ext uri="{FF2B5EF4-FFF2-40B4-BE49-F238E27FC236}">
                <a16:creationId xmlns:a16="http://schemas.microsoft.com/office/drawing/2014/main" id="{5D7F713F-E0FB-40DD-B29A-B016CECBCDFF}"/>
              </a:ext>
            </a:extLst>
          </p:cNvPr>
          <p:cNvSpPr txBox="1"/>
          <p:nvPr/>
        </p:nvSpPr>
        <p:spPr>
          <a:xfrm>
            <a:off x="9994066" y="5347513"/>
            <a:ext cx="274434" cy="300082"/>
          </a:xfrm>
          <a:prstGeom prst="rect">
            <a:avLst/>
          </a:prstGeom>
          <a:noFill/>
        </p:spPr>
        <p:txBody>
          <a:bodyPr wrap="none" rtlCol="1">
            <a:spAutoFit/>
          </a:bodyPr>
          <a:lstStyle/>
          <a:p>
            <a:pPr defTabSz="685800"/>
            <a:r>
              <a:rPr lang="en-US" sz="1350" dirty="0">
                <a:solidFill>
                  <a:prstClr val="black"/>
                </a:solidFill>
                <a:latin typeface="Calibri"/>
              </a:rPr>
              <a:t>X</a:t>
            </a:r>
            <a:endParaRPr lang="he-IL" sz="1350" dirty="0">
              <a:solidFill>
                <a:prstClr val="black"/>
              </a:solidFill>
              <a:latin typeface="Calibri"/>
              <a:cs typeface="Arial" panose="020B0604020202020204" pitchFamily="34" charset="0"/>
            </a:endParaRPr>
          </a:p>
        </p:txBody>
      </p:sp>
      <p:sp>
        <p:nvSpPr>
          <p:cNvPr id="10" name="TextBox 9">
            <a:extLst>
              <a:ext uri="{FF2B5EF4-FFF2-40B4-BE49-F238E27FC236}">
                <a16:creationId xmlns:a16="http://schemas.microsoft.com/office/drawing/2014/main" id="{F65F1A90-2B7B-43D2-AC75-9B82D3884CE9}"/>
              </a:ext>
            </a:extLst>
          </p:cNvPr>
          <p:cNvSpPr txBox="1"/>
          <p:nvPr/>
        </p:nvSpPr>
        <p:spPr>
          <a:xfrm>
            <a:off x="9631994" y="5128083"/>
            <a:ext cx="348172" cy="300082"/>
          </a:xfrm>
          <a:prstGeom prst="rect">
            <a:avLst/>
          </a:prstGeom>
          <a:noFill/>
        </p:spPr>
        <p:txBody>
          <a:bodyPr wrap="none" rtlCol="1">
            <a:spAutoFit/>
          </a:bodyPr>
          <a:lstStyle/>
          <a:p>
            <a:pPr defTabSz="685800"/>
            <a:r>
              <a:rPr lang="en-US" sz="1350" dirty="0">
                <a:solidFill>
                  <a:prstClr val="black"/>
                </a:solidFill>
                <a:latin typeface="Calibri"/>
              </a:rPr>
              <a:t>D</a:t>
            </a:r>
            <a:r>
              <a:rPr lang="en-US" sz="1350" baseline="-25000" dirty="0">
                <a:solidFill>
                  <a:prstClr val="black"/>
                </a:solidFill>
                <a:latin typeface="Calibri"/>
              </a:rPr>
              <a:t>0</a:t>
            </a:r>
            <a:endParaRPr lang="he-IL" sz="1350" baseline="-25000" dirty="0">
              <a:solidFill>
                <a:prstClr val="black"/>
              </a:solidFill>
              <a:latin typeface="Calibri"/>
              <a:cs typeface="Arial" panose="020B0604020202020204" pitchFamily="34" charset="0"/>
            </a:endParaRPr>
          </a:p>
        </p:txBody>
      </p:sp>
      <p:sp>
        <p:nvSpPr>
          <p:cNvPr id="11" name="TextBox 10">
            <a:extLst>
              <a:ext uri="{FF2B5EF4-FFF2-40B4-BE49-F238E27FC236}">
                <a16:creationId xmlns:a16="http://schemas.microsoft.com/office/drawing/2014/main" id="{ED07CF66-401A-4FC4-A759-5F26AD3AB943}"/>
              </a:ext>
            </a:extLst>
          </p:cNvPr>
          <p:cNvSpPr txBox="1"/>
          <p:nvPr/>
        </p:nvSpPr>
        <p:spPr>
          <a:xfrm>
            <a:off x="9900971" y="3795357"/>
            <a:ext cx="322524" cy="300082"/>
          </a:xfrm>
          <a:prstGeom prst="rect">
            <a:avLst/>
          </a:prstGeom>
          <a:noFill/>
        </p:spPr>
        <p:txBody>
          <a:bodyPr wrap="none" rtlCol="1">
            <a:spAutoFit/>
          </a:bodyPr>
          <a:lstStyle/>
          <a:p>
            <a:pPr defTabSz="685800"/>
            <a:r>
              <a:rPr lang="en-US" sz="1350" dirty="0">
                <a:solidFill>
                  <a:prstClr val="black"/>
                </a:solidFill>
                <a:latin typeface="Calibri"/>
              </a:rPr>
              <a:t>S</a:t>
            </a:r>
            <a:r>
              <a:rPr lang="en-US" sz="1350" baseline="-25000" dirty="0">
                <a:solidFill>
                  <a:prstClr val="black"/>
                </a:solidFill>
                <a:latin typeface="Calibri"/>
              </a:rPr>
              <a:t>0</a:t>
            </a:r>
            <a:endParaRPr lang="he-IL" sz="1350" baseline="-25000" dirty="0">
              <a:solidFill>
                <a:prstClr val="black"/>
              </a:solidFill>
              <a:latin typeface="Calibri"/>
              <a:cs typeface="Arial" panose="020B0604020202020204" pitchFamily="34" charset="0"/>
            </a:endParaRPr>
          </a:p>
        </p:txBody>
      </p:sp>
      <p:cxnSp>
        <p:nvCxnSpPr>
          <p:cNvPr id="12" name="מחבר ישר 15">
            <a:extLst>
              <a:ext uri="{FF2B5EF4-FFF2-40B4-BE49-F238E27FC236}">
                <a16:creationId xmlns:a16="http://schemas.microsoft.com/office/drawing/2014/main" id="{06441D8A-9EBD-4A34-918C-A34EC1CCE90E}"/>
              </a:ext>
            </a:extLst>
          </p:cNvPr>
          <p:cNvCxnSpPr>
            <a:cxnSpLocks/>
          </p:cNvCxnSpPr>
          <p:nvPr/>
        </p:nvCxnSpPr>
        <p:spPr>
          <a:xfrm flipH="1">
            <a:off x="7514090" y="4117730"/>
            <a:ext cx="252526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9197B85C-4AA9-4E39-B64C-0C17261F0A3D}"/>
              </a:ext>
            </a:extLst>
          </p:cNvPr>
          <p:cNvSpPr/>
          <p:nvPr/>
        </p:nvSpPr>
        <p:spPr>
          <a:xfrm>
            <a:off x="8527245" y="4026982"/>
            <a:ext cx="215476" cy="207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685800"/>
            <a:r>
              <a:rPr lang="en-US" sz="1350" dirty="0">
                <a:solidFill>
                  <a:prstClr val="white"/>
                </a:solidFill>
                <a:latin typeface="Calibri"/>
              </a:rPr>
              <a:t>A</a:t>
            </a:r>
            <a:endParaRPr lang="en-IL" sz="1350" dirty="0">
              <a:solidFill>
                <a:prstClr val="white"/>
              </a:solidFill>
              <a:latin typeface="Calibri"/>
            </a:endParaRPr>
          </a:p>
        </p:txBody>
      </p:sp>
      <p:cxnSp>
        <p:nvCxnSpPr>
          <p:cNvPr id="17" name="Straight Arrow Connector 16">
            <a:extLst>
              <a:ext uri="{FF2B5EF4-FFF2-40B4-BE49-F238E27FC236}">
                <a16:creationId xmlns:a16="http://schemas.microsoft.com/office/drawing/2014/main" id="{5655D781-E1A9-4EA4-A6E0-B74BE5C5E234}"/>
              </a:ext>
            </a:extLst>
          </p:cNvPr>
          <p:cNvCxnSpPr>
            <a:cxnSpLocks/>
          </p:cNvCxnSpPr>
          <p:nvPr/>
        </p:nvCxnSpPr>
        <p:spPr>
          <a:xfrm>
            <a:off x="3246225" y="5315794"/>
            <a:ext cx="2476507" cy="349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41FAD8C-7A86-4789-84D4-3F45882EDF9B}"/>
              </a:ext>
            </a:extLst>
          </p:cNvPr>
          <p:cNvCxnSpPr>
            <a:cxnSpLocks/>
          </p:cNvCxnSpPr>
          <p:nvPr/>
        </p:nvCxnSpPr>
        <p:spPr>
          <a:xfrm flipV="1">
            <a:off x="3271585" y="2848249"/>
            <a:ext cx="0" cy="24675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DEA45035-F9A1-4C23-83C2-1F18C061532A}"/>
              </a:ext>
            </a:extLst>
          </p:cNvPr>
          <p:cNvSpPr/>
          <p:nvPr/>
        </p:nvSpPr>
        <p:spPr>
          <a:xfrm>
            <a:off x="2967175" y="2756587"/>
            <a:ext cx="349776" cy="300082"/>
          </a:xfrm>
          <a:prstGeom prst="rect">
            <a:avLst/>
          </a:prstGeom>
        </p:spPr>
        <p:txBody>
          <a:bodyPr wrap="none">
            <a:spAutoFit/>
          </a:bodyPr>
          <a:lstStyle/>
          <a:p>
            <a:pPr defTabSz="685800"/>
            <a:r>
              <a:rPr lang="en-US" sz="1350" dirty="0">
                <a:solidFill>
                  <a:prstClr val="black"/>
                </a:solidFill>
                <a:latin typeface="Calibri"/>
              </a:rPr>
              <a:t>Px</a:t>
            </a:r>
            <a:endParaRPr lang="he-IL" sz="1350" dirty="0">
              <a:solidFill>
                <a:prstClr val="black"/>
              </a:solidFill>
              <a:latin typeface="Calibri"/>
              <a:cs typeface="Arial" panose="020B0604020202020204" pitchFamily="34" charset="0"/>
            </a:endParaRPr>
          </a:p>
        </p:txBody>
      </p:sp>
      <p:sp>
        <p:nvSpPr>
          <p:cNvPr id="20" name="TextBox 19">
            <a:extLst>
              <a:ext uri="{FF2B5EF4-FFF2-40B4-BE49-F238E27FC236}">
                <a16:creationId xmlns:a16="http://schemas.microsoft.com/office/drawing/2014/main" id="{5D7F713F-E0FB-40DD-B29A-B016CECBCDFF}"/>
              </a:ext>
            </a:extLst>
          </p:cNvPr>
          <p:cNvSpPr txBox="1"/>
          <p:nvPr/>
        </p:nvSpPr>
        <p:spPr>
          <a:xfrm>
            <a:off x="5751561" y="5287498"/>
            <a:ext cx="274434" cy="300082"/>
          </a:xfrm>
          <a:prstGeom prst="rect">
            <a:avLst/>
          </a:prstGeom>
          <a:noFill/>
        </p:spPr>
        <p:txBody>
          <a:bodyPr wrap="none" rtlCol="1">
            <a:spAutoFit/>
          </a:bodyPr>
          <a:lstStyle/>
          <a:p>
            <a:pPr defTabSz="685800"/>
            <a:r>
              <a:rPr lang="en-US" sz="1350" dirty="0">
                <a:solidFill>
                  <a:prstClr val="black"/>
                </a:solidFill>
                <a:latin typeface="Calibri"/>
              </a:rPr>
              <a:t>X</a:t>
            </a:r>
            <a:endParaRPr lang="he-IL" sz="1350" dirty="0">
              <a:solidFill>
                <a:prstClr val="black"/>
              </a:solidFill>
              <a:latin typeface="Calibri"/>
              <a:cs typeface="Arial" panose="020B0604020202020204" pitchFamily="34" charset="0"/>
            </a:endParaRPr>
          </a:p>
        </p:txBody>
      </p:sp>
      <p:sp>
        <p:nvSpPr>
          <p:cNvPr id="21" name="TextBox 20">
            <a:extLst>
              <a:ext uri="{FF2B5EF4-FFF2-40B4-BE49-F238E27FC236}">
                <a16:creationId xmlns:a16="http://schemas.microsoft.com/office/drawing/2014/main" id="{F65F1A90-2B7B-43D2-AC75-9B82D3884CE9}"/>
              </a:ext>
            </a:extLst>
          </p:cNvPr>
          <p:cNvSpPr txBox="1"/>
          <p:nvPr/>
        </p:nvSpPr>
        <p:spPr>
          <a:xfrm>
            <a:off x="5828024" y="3699899"/>
            <a:ext cx="348172" cy="300082"/>
          </a:xfrm>
          <a:prstGeom prst="rect">
            <a:avLst/>
          </a:prstGeom>
          <a:noFill/>
        </p:spPr>
        <p:txBody>
          <a:bodyPr wrap="none" rtlCol="1">
            <a:spAutoFit/>
          </a:bodyPr>
          <a:lstStyle/>
          <a:p>
            <a:pPr defTabSz="685800"/>
            <a:r>
              <a:rPr lang="en-US" sz="1350" dirty="0">
                <a:solidFill>
                  <a:prstClr val="black"/>
                </a:solidFill>
                <a:latin typeface="Calibri"/>
              </a:rPr>
              <a:t>D</a:t>
            </a:r>
            <a:r>
              <a:rPr lang="en-US" sz="1350" baseline="-25000" dirty="0">
                <a:solidFill>
                  <a:prstClr val="black"/>
                </a:solidFill>
                <a:latin typeface="Calibri"/>
              </a:rPr>
              <a:t>0</a:t>
            </a:r>
            <a:endParaRPr lang="he-IL" sz="1350" baseline="-25000" dirty="0">
              <a:solidFill>
                <a:prstClr val="black"/>
              </a:solidFill>
              <a:latin typeface="Calibri"/>
              <a:cs typeface="Arial" panose="020B0604020202020204" pitchFamily="34" charset="0"/>
            </a:endParaRPr>
          </a:p>
        </p:txBody>
      </p:sp>
      <p:sp>
        <p:nvSpPr>
          <p:cNvPr id="22" name="TextBox 21">
            <a:extLst>
              <a:ext uri="{FF2B5EF4-FFF2-40B4-BE49-F238E27FC236}">
                <a16:creationId xmlns:a16="http://schemas.microsoft.com/office/drawing/2014/main" id="{ED07CF66-401A-4FC4-A759-5F26AD3AB943}"/>
              </a:ext>
            </a:extLst>
          </p:cNvPr>
          <p:cNvSpPr txBox="1"/>
          <p:nvPr/>
        </p:nvSpPr>
        <p:spPr>
          <a:xfrm flipH="1">
            <a:off x="5780027" y="2841557"/>
            <a:ext cx="913309" cy="300082"/>
          </a:xfrm>
          <a:prstGeom prst="rect">
            <a:avLst/>
          </a:prstGeom>
          <a:noFill/>
        </p:spPr>
        <p:txBody>
          <a:bodyPr wrap="square" rtlCol="1">
            <a:spAutoFit/>
          </a:bodyPr>
          <a:lstStyle/>
          <a:p>
            <a:pPr defTabSz="685800"/>
            <a:r>
              <a:rPr lang="en-US" sz="1350" dirty="0">
                <a:solidFill>
                  <a:prstClr val="black"/>
                </a:solidFill>
                <a:latin typeface="Calibri"/>
              </a:rPr>
              <a:t>S</a:t>
            </a:r>
            <a:r>
              <a:rPr lang="en-US" sz="1350" baseline="-25000" dirty="0">
                <a:solidFill>
                  <a:prstClr val="black"/>
                </a:solidFill>
                <a:latin typeface="Calibri"/>
              </a:rPr>
              <a:t>0</a:t>
            </a:r>
            <a:endParaRPr lang="he-IL" sz="1350" baseline="-25000" dirty="0">
              <a:solidFill>
                <a:prstClr val="black"/>
              </a:solidFill>
              <a:latin typeface="Calibri"/>
              <a:cs typeface="Arial" panose="020B0604020202020204" pitchFamily="34" charset="0"/>
            </a:endParaRPr>
          </a:p>
        </p:txBody>
      </p:sp>
      <p:cxnSp>
        <p:nvCxnSpPr>
          <p:cNvPr id="23" name="מחבר ישר 15">
            <a:extLst>
              <a:ext uri="{FF2B5EF4-FFF2-40B4-BE49-F238E27FC236}">
                <a16:creationId xmlns:a16="http://schemas.microsoft.com/office/drawing/2014/main" id="{06441D8A-9EBD-4A34-918C-A34EC1CCE90E}"/>
              </a:ext>
            </a:extLst>
          </p:cNvPr>
          <p:cNvCxnSpPr>
            <a:cxnSpLocks/>
          </p:cNvCxnSpPr>
          <p:nvPr/>
        </p:nvCxnSpPr>
        <p:spPr>
          <a:xfrm flipV="1">
            <a:off x="3270853" y="2925724"/>
            <a:ext cx="2417504" cy="211627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9197B85C-4AA9-4E39-B64C-0C17261F0A3D}"/>
              </a:ext>
            </a:extLst>
          </p:cNvPr>
          <p:cNvSpPr/>
          <p:nvPr/>
        </p:nvSpPr>
        <p:spPr>
          <a:xfrm>
            <a:off x="4287356" y="3849992"/>
            <a:ext cx="384497" cy="26773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defTabSz="685800"/>
            <a:r>
              <a:rPr lang="en-US" sz="1350" dirty="0">
                <a:solidFill>
                  <a:prstClr val="white"/>
                </a:solidFill>
                <a:latin typeface="Calibri"/>
              </a:rPr>
              <a:t>A</a:t>
            </a:r>
            <a:endParaRPr lang="en-IL" sz="1350" dirty="0">
              <a:solidFill>
                <a:prstClr val="white"/>
              </a:solidFill>
              <a:latin typeface="Calibri"/>
            </a:endParaRPr>
          </a:p>
        </p:txBody>
      </p:sp>
      <p:cxnSp>
        <p:nvCxnSpPr>
          <p:cNvPr id="25" name="מחבר ישר 13">
            <a:extLst>
              <a:ext uri="{FF2B5EF4-FFF2-40B4-BE49-F238E27FC236}">
                <a16:creationId xmlns:a16="http://schemas.microsoft.com/office/drawing/2014/main" id="{820B12E4-C110-446B-93C2-A733E41394FB}"/>
              </a:ext>
            </a:extLst>
          </p:cNvPr>
          <p:cNvCxnSpPr>
            <a:cxnSpLocks/>
          </p:cNvCxnSpPr>
          <p:nvPr/>
        </p:nvCxnSpPr>
        <p:spPr>
          <a:xfrm>
            <a:off x="3246225" y="4003561"/>
            <a:ext cx="2704369"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15" name="Date Placeholder 14">
            <a:extLst>
              <a:ext uri="{FF2B5EF4-FFF2-40B4-BE49-F238E27FC236}">
                <a16:creationId xmlns:a16="http://schemas.microsoft.com/office/drawing/2014/main" id="{1985903E-2831-8C17-8908-6608EBCF2074}"/>
              </a:ext>
            </a:extLst>
          </p:cNvPr>
          <p:cNvSpPr>
            <a:spLocks noGrp="1"/>
          </p:cNvSpPr>
          <p:nvPr>
            <p:ph type="dt" sz="half" idx="10"/>
          </p:nvPr>
        </p:nvSpPr>
        <p:spPr/>
        <p:txBody>
          <a:bodyPr/>
          <a:lstStyle/>
          <a:p>
            <a:pPr defTabSz="685800"/>
            <a:fld id="{50BFFE6E-6C90-4A0D-BE0C-ECDB5FB50308}" type="datetime8">
              <a:rPr lang="he-IL">
                <a:solidFill>
                  <a:prstClr val="black">
                    <a:tint val="75000"/>
                  </a:prstClr>
                </a:solidFill>
                <a:latin typeface="Calibri" panose="020F0502020204030204"/>
                <a:cs typeface="Arial" panose="020B0604020202020204" pitchFamily="34" charset="0"/>
              </a:rPr>
              <a:pPr defTabSz="685800"/>
              <a:t>09 ינואר 26</a:t>
            </a:fld>
            <a:endParaRPr lang="he-IL">
              <a:solidFill>
                <a:prstClr val="black">
                  <a:tint val="75000"/>
                </a:prstClr>
              </a:solidFill>
              <a:latin typeface="Calibri" panose="020F0502020204030204"/>
              <a:cs typeface="Arial" panose="020B0604020202020204" pitchFamily="34" charset="0"/>
            </a:endParaRPr>
          </a:p>
        </p:txBody>
      </p:sp>
      <p:sp>
        <p:nvSpPr>
          <p:cNvPr id="16" name="Slide Number Placeholder 15">
            <a:extLst>
              <a:ext uri="{FF2B5EF4-FFF2-40B4-BE49-F238E27FC236}">
                <a16:creationId xmlns:a16="http://schemas.microsoft.com/office/drawing/2014/main" id="{2E53EB70-EE95-9F9D-8F9C-747B7A8FF494}"/>
              </a:ext>
            </a:extLst>
          </p:cNvPr>
          <p:cNvSpPr>
            <a:spLocks noGrp="1"/>
          </p:cNvSpPr>
          <p:nvPr>
            <p:ph type="sldNum" sz="quarter" idx="12"/>
          </p:nvPr>
        </p:nvSpPr>
        <p:spPr/>
        <p:txBody>
          <a:bodyPr/>
          <a:lstStyle/>
          <a:p>
            <a:pPr defTabSz="685800"/>
            <a:fld id="{D69A981F-4466-4789-9E41-1885E502A96E}" type="slidenum">
              <a:rPr lang="he-IL">
                <a:solidFill>
                  <a:prstClr val="black">
                    <a:tint val="75000"/>
                  </a:prstClr>
                </a:solidFill>
                <a:latin typeface="Calibri" panose="020F0502020204030204"/>
                <a:cs typeface="Arial" panose="020B0604020202020204" pitchFamily="34" charset="0"/>
              </a:rPr>
              <a:pPr defTabSz="685800"/>
              <a:t>11</a:t>
            </a:fld>
            <a:endParaRPr lang="he-IL">
              <a:solidFill>
                <a:prstClr val="black">
                  <a:tint val="75000"/>
                </a:prstClr>
              </a:solidFill>
              <a:latin typeface="Calibri" panose="020F0502020204030204"/>
              <a:cs typeface="Arial" panose="020B0604020202020204" pitchFamily="34" charset="0"/>
            </a:endParaRPr>
          </a:p>
        </p:txBody>
      </p:sp>
      <p:sp>
        <p:nvSpPr>
          <p:cNvPr id="31" name="TextBox 30">
            <a:extLst>
              <a:ext uri="{FF2B5EF4-FFF2-40B4-BE49-F238E27FC236}">
                <a16:creationId xmlns:a16="http://schemas.microsoft.com/office/drawing/2014/main" id="{928ECBDE-37F4-9921-F050-4470E04F61D2}"/>
              </a:ext>
            </a:extLst>
          </p:cNvPr>
          <p:cNvSpPr txBox="1"/>
          <p:nvPr/>
        </p:nvSpPr>
        <p:spPr>
          <a:xfrm>
            <a:off x="9631994" y="5128083"/>
            <a:ext cx="348172" cy="300082"/>
          </a:xfrm>
          <a:prstGeom prst="rect">
            <a:avLst/>
          </a:prstGeom>
          <a:noFill/>
        </p:spPr>
        <p:txBody>
          <a:bodyPr wrap="none" rtlCol="1">
            <a:spAutoFit/>
          </a:bodyPr>
          <a:lstStyle/>
          <a:p>
            <a:pPr defTabSz="685800"/>
            <a:r>
              <a:rPr lang="en-US" sz="1350" dirty="0">
                <a:solidFill>
                  <a:prstClr val="black"/>
                </a:solidFill>
                <a:latin typeface="Calibri"/>
              </a:rPr>
              <a:t>D</a:t>
            </a:r>
            <a:r>
              <a:rPr lang="en-US" sz="1350" baseline="-25000" dirty="0">
                <a:solidFill>
                  <a:prstClr val="black"/>
                </a:solidFill>
                <a:latin typeface="Calibri"/>
              </a:rPr>
              <a:t>0</a:t>
            </a:r>
            <a:endParaRPr lang="he-IL" sz="1350" baseline="-25000" dirty="0">
              <a:solidFill>
                <a:prstClr val="black"/>
              </a:solidFill>
              <a:latin typeface="Calibri"/>
              <a:cs typeface="Arial" panose="020B0604020202020204" pitchFamily="34" charset="0"/>
            </a:endParaRPr>
          </a:p>
        </p:txBody>
      </p:sp>
      <p:cxnSp>
        <p:nvCxnSpPr>
          <p:cNvPr id="32" name="מחבר ישר 13">
            <a:extLst>
              <a:ext uri="{FF2B5EF4-FFF2-40B4-BE49-F238E27FC236}">
                <a16:creationId xmlns:a16="http://schemas.microsoft.com/office/drawing/2014/main" id="{C7D2A79C-584B-9888-EFB8-A375B05BA378}"/>
              </a:ext>
            </a:extLst>
          </p:cNvPr>
          <p:cNvCxnSpPr>
            <a:cxnSpLocks/>
          </p:cNvCxnSpPr>
          <p:nvPr/>
        </p:nvCxnSpPr>
        <p:spPr>
          <a:xfrm>
            <a:off x="7628701" y="3214273"/>
            <a:ext cx="2228851" cy="2031506"/>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C2360F7B-DFAA-0850-FF4B-8F37561BC97A}"/>
              </a:ext>
            </a:extLst>
          </p:cNvPr>
          <p:cNvSpPr txBox="1"/>
          <p:nvPr/>
        </p:nvSpPr>
        <p:spPr>
          <a:xfrm>
            <a:off x="6608998" y="5601392"/>
            <a:ext cx="3401666" cy="738664"/>
          </a:xfrm>
          <a:prstGeom prst="rect">
            <a:avLst/>
          </a:prstGeom>
          <a:noFill/>
        </p:spPr>
        <p:txBody>
          <a:bodyPr wrap="square" rtlCol="0">
            <a:spAutoFit/>
          </a:bodyPr>
          <a:lstStyle/>
          <a:p>
            <a:pPr defTabSz="685800"/>
            <a:r>
              <a:rPr lang="he-IL" sz="1400" dirty="0">
                <a:solidFill>
                  <a:prstClr val="black"/>
                </a:solidFill>
                <a:latin typeface="Calibri" panose="020F0502020204030204"/>
                <a:cs typeface="Arial" panose="020B0604020202020204" pitchFamily="34" charset="0"/>
              </a:rPr>
              <a:t>במחיר מסוים (0</a:t>
            </a:r>
            <a:r>
              <a:rPr lang="en-US" sz="1400" dirty="0" err="1">
                <a:solidFill>
                  <a:prstClr val="black"/>
                </a:solidFill>
                <a:latin typeface="Calibri" panose="020F0502020204030204"/>
              </a:rPr>
              <a:t>Px</a:t>
            </a:r>
            <a:r>
              <a:rPr lang="he-IL" sz="1400" dirty="0">
                <a:solidFill>
                  <a:prstClr val="black"/>
                </a:solidFill>
                <a:latin typeface="Calibri" panose="020F0502020204030204"/>
                <a:cs typeface="Arial" panose="020B0604020202020204" pitchFamily="34" charset="0"/>
              </a:rPr>
              <a:t>) ומעליו היצרן מוכן לייצר כמות מאוד מאוד גדולה (זה קורה כאשר יש לייצרן את אותה עלות לייצור כל יחידה)</a:t>
            </a:r>
            <a:endParaRPr lang="en-IL" sz="1400" dirty="0">
              <a:solidFill>
                <a:prstClr val="black"/>
              </a:solidFill>
              <a:latin typeface="Calibri" panose="020F0502020204030204"/>
            </a:endParaRPr>
          </a:p>
        </p:txBody>
      </p:sp>
      <p:sp>
        <p:nvSpPr>
          <p:cNvPr id="36" name="TextBox 35">
            <a:extLst>
              <a:ext uri="{FF2B5EF4-FFF2-40B4-BE49-F238E27FC236}">
                <a16:creationId xmlns:a16="http://schemas.microsoft.com/office/drawing/2014/main" id="{12DCA4FD-7E63-77EB-0AAC-BC2D9C9EC576}"/>
              </a:ext>
            </a:extLst>
          </p:cNvPr>
          <p:cNvSpPr txBox="1"/>
          <p:nvPr/>
        </p:nvSpPr>
        <p:spPr>
          <a:xfrm>
            <a:off x="2967176" y="5600259"/>
            <a:ext cx="2997481" cy="830997"/>
          </a:xfrm>
          <a:prstGeom prst="rect">
            <a:avLst/>
          </a:prstGeom>
          <a:noFill/>
        </p:spPr>
        <p:txBody>
          <a:bodyPr wrap="square" rtlCol="0">
            <a:spAutoFit/>
          </a:bodyPr>
          <a:lstStyle/>
          <a:p>
            <a:pPr defTabSz="685800"/>
            <a:r>
              <a:rPr lang="he-IL" sz="1600" dirty="0">
                <a:solidFill>
                  <a:prstClr val="black"/>
                </a:solidFill>
                <a:latin typeface="Calibri" panose="020F0502020204030204"/>
                <a:cs typeface="Arial" panose="020B0604020202020204" pitchFamily="34" charset="0"/>
              </a:rPr>
              <a:t>במחיר מסוים (0</a:t>
            </a:r>
            <a:r>
              <a:rPr lang="en-US" sz="1600" dirty="0" err="1">
                <a:solidFill>
                  <a:prstClr val="black"/>
                </a:solidFill>
                <a:latin typeface="Calibri" panose="020F0502020204030204"/>
              </a:rPr>
              <a:t>Px</a:t>
            </a:r>
            <a:r>
              <a:rPr lang="he-IL" sz="1600" dirty="0">
                <a:solidFill>
                  <a:prstClr val="black"/>
                </a:solidFill>
                <a:latin typeface="Calibri" panose="020F0502020204030204"/>
                <a:cs typeface="Arial" panose="020B0604020202020204" pitchFamily="34" charset="0"/>
              </a:rPr>
              <a:t>) ומתחתיו, הצרכן מעוניין לקנות כמות מאוד מאוד גדולה </a:t>
            </a:r>
            <a:endParaRPr lang="en-IL" sz="1600" dirty="0">
              <a:solidFill>
                <a:prstClr val="black"/>
              </a:solidFill>
              <a:latin typeface="Calibri" panose="020F0502020204030204"/>
            </a:endParaRPr>
          </a:p>
        </p:txBody>
      </p:sp>
      <p:sp>
        <p:nvSpPr>
          <p:cNvPr id="37" name="Rectangle 36">
            <a:extLst>
              <a:ext uri="{FF2B5EF4-FFF2-40B4-BE49-F238E27FC236}">
                <a16:creationId xmlns:a16="http://schemas.microsoft.com/office/drawing/2014/main" id="{F2A1F198-B512-2A74-40A5-15BE7E85D00B}"/>
              </a:ext>
            </a:extLst>
          </p:cNvPr>
          <p:cNvSpPr/>
          <p:nvPr/>
        </p:nvSpPr>
        <p:spPr>
          <a:xfrm>
            <a:off x="7017180" y="3908897"/>
            <a:ext cx="487634" cy="369332"/>
          </a:xfrm>
          <a:prstGeom prst="rect">
            <a:avLst/>
          </a:prstGeom>
        </p:spPr>
        <p:txBody>
          <a:bodyPr wrap="none">
            <a:spAutoFit/>
          </a:bodyPr>
          <a:lstStyle/>
          <a:p>
            <a:pPr defTabSz="685800"/>
            <a:r>
              <a:rPr lang="en-US" dirty="0" err="1">
                <a:solidFill>
                  <a:prstClr val="black"/>
                </a:solidFill>
                <a:latin typeface="Calibri"/>
              </a:rPr>
              <a:t>Px</a:t>
            </a:r>
            <a:r>
              <a:rPr lang="he-IL" sz="1200" dirty="0">
                <a:solidFill>
                  <a:prstClr val="black"/>
                </a:solidFill>
                <a:latin typeface="Calibri"/>
                <a:cs typeface="Arial" panose="020B0604020202020204" pitchFamily="34" charset="0"/>
              </a:rPr>
              <a:t>0</a:t>
            </a:r>
            <a:endParaRPr lang="he-IL" sz="825" dirty="0">
              <a:solidFill>
                <a:prstClr val="black"/>
              </a:solidFill>
              <a:latin typeface="Calibri"/>
              <a:cs typeface="Arial" panose="020B0604020202020204" pitchFamily="34" charset="0"/>
            </a:endParaRPr>
          </a:p>
        </p:txBody>
      </p:sp>
      <p:sp>
        <p:nvSpPr>
          <p:cNvPr id="38" name="Rectangle 37">
            <a:extLst>
              <a:ext uri="{FF2B5EF4-FFF2-40B4-BE49-F238E27FC236}">
                <a16:creationId xmlns:a16="http://schemas.microsoft.com/office/drawing/2014/main" id="{C98E46CC-F0F0-C34B-EA5B-638FBFAAD05A}"/>
              </a:ext>
            </a:extLst>
          </p:cNvPr>
          <p:cNvSpPr/>
          <p:nvPr/>
        </p:nvSpPr>
        <p:spPr>
          <a:xfrm>
            <a:off x="2837679" y="3773733"/>
            <a:ext cx="478016" cy="369332"/>
          </a:xfrm>
          <a:prstGeom prst="rect">
            <a:avLst/>
          </a:prstGeom>
        </p:spPr>
        <p:txBody>
          <a:bodyPr wrap="none">
            <a:spAutoFit/>
          </a:bodyPr>
          <a:lstStyle/>
          <a:p>
            <a:pPr defTabSz="685800"/>
            <a:r>
              <a:rPr lang="en-US" dirty="0" err="1">
                <a:solidFill>
                  <a:prstClr val="black"/>
                </a:solidFill>
                <a:latin typeface="Calibri"/>
              </a:rPr>
              <a:t>Px</a:t>
            </a:r>
            <a:r>
              <a:rPr lang="he-IL" sz="1050" dirty="0">
                <a:solidFill>
                  <a:prstClr val="black"/>
                </a:solidFill>
                <a:latin typeface="Calibri"/>
                <a:cs typeface="Arial" panose="020B0604020202020204" pitchFamily="34" charset="0"/>
              </a:rPr>
              <a:t>0</a:t>
            </a:r>
          </a:p>
        </p:txBody>
      </p:sp>
    </p:spTree>
    <p:extLst>
      <p:ext uri="{BB962C8B-B14F-4D97-AF65-F5344CB8AC3E}">
        <p14:creationId xmlns:p14="http://schemas.microsoft.com/office/powerpoint/2010/main" val="702378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ppt_x"/>
                                          </p:val>
                                        </p:tav>
                                        <p:tav tm="100000">
                                          <p:val>
                                            <p:strVal val="#ppt_x"/>
                                          </p:val>
                                        </p:tav>
                                      </p:tavLst>
                                    </p:anim>
                                    <p:anim calcmode="lin" valueType="num">
                                      <p:cBhvr additive="base">
                                        <p:cTn id="1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randombar(horizontal)">
                                      <p:cBhvr>
                                        <p:cTn id="27" dur="500"/>
                                        <p:tgtEl>
                                          <p:spTgt spid="25"/>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randombar(horizontal)">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21" grpId="0"/>
      <p:bldP spid="35" grpId="0"/>
      <p:bldP spid="3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161037" y="83976"/>
            <a:ext cx="1897224" cy="1143000"/>
          </a:xfrm>
        </p:spPr>
        <p:txBody>
          <a:bodyPr>
            <a:normAutofit/>
          </a:bodyPr>
          <a:lstStyle/>
          <a:p>
            <a:pPr algn="r"/>
            <a:r>
              <a:rPr lang="he-IL" b="1" dirty="0">
                <a:solidFill>
                  <a:schemeClr val="tx2">
                    <a:lumMod val="75000"/>
                  </a:schemeClr>
                </a:solidFill>
              </a:rPr>
              <a:t>שאלה 3</a:t>
            </a:r>
          </a:p>
        </p:txBody>
      </p:sp>
      <p:sp>
        <p:nvSpPr>
          <p:cNvPr id="3" name="מציין מיקום תוכן 2"/>
          <p:cNvSpPr>
            <a:spLocks noGrp="1"/>
          </p:cNvSpPr>
          <p:nvPr>
            <p:ph idx="1"/>
          </p:nvPr>
        </p:nvSpPr>
        <p:spPr>
          <a:xfrm>
            <a:off x="1703512" y="1143000"/>
            <a:ext cx="8833128" cy="2718048"/>
          </a:xfrm>
        </p:spPr>
        <p:txBody>
          <a:bodyPr>
            <a:normAutofit fontScale="47500" lnSpcReduction="20000"/>
          </a:bodyPr>
          <a:lstStyle/>
          <a:p>
            <a:pPr indent="0">
              <a:lnSpc>
                <a:spcPct val="120000"/>
              </a:lnSpc>
              <a:buNone/>
            </a:pPr>
            <a:r>
              <a:rPr lang="he-IL" sz="3600" dirty="0"/>
              <a:t>פירמה פועלת בתנאי תפוקה שולית פוחתת. הפירמה מעסיקה גורם יצור משתנה אחד, עובדים, וגורם יצור קבוע אחד. כיצד ישפיעו השינויים הבאים על עקומת ההיצע של הפירמה בטווח הקצר:</a:t>
            </a:r>
          </a:p>
          <a:p>
            <a:pPr marL="0" indent="0">
              <a:lnSpc>
                <a:spcPct val="150000"/>
              </a:lnSpc>
              <a:buNone/>
            </a:pPr>
            <a:r>
              <a:rPr lang="he-IL" sz="3800" dirty="0">
                <a:latin typeface="Times New Roman" panose="02020603050405020304" pitchFamily="18" charset="0"/>
                <a:ea typeface="Times New Roman" panose="02020603050405020304" pitchFamily="18" charset="0"/>
                <a:cs typeface="Arial" panose="020B0604020202020204" pitchFamily="34" charset="0"/>
              </a:rPr>
              <a:t>הציגו בגרף את ההשפעות ונתחו.</a:t>
            </a:r>
            <a:endParaRPr lang="en-IL" sz="3800" dirty="0">
              <a:latin typeface="Times New Roman" panose="02020603050405020304" pitchFamily="18" charset="0"/>
              <a:ea typeface="Times New Roman" panose="02020603050405020304" pitchFamily="18" charset="0"/>
              <a:cs typeface="David" panose="020E0502060401010101" pitchFamily="34" charset="-79"/>
            </a:endParaRPr>
          </a:p>
          <a:p>
            <a:pPr marL="0" indent="0">
              <a:lnSpc>
                <a:spcPct val="150000"/>
              </a:lnSpc>
              <a:buNone/>
            </a:pPr>
            <a:r>
              <a:rPr lang="he-IL" sz="3800" dirty="0">
                <a:latin typeface="Times New Roman" panose="02020603050405020304" pitchFamily="18" charset="0"/>
                <a:ea typeface="Times New Roman" panose="02020603050405020304" pitchFamily="18" charset="0"/>
                <a:cs typeface="Arial" panose="020B0604020202020204" pitchFamily="34" charset="0"/>
              </a:rPr>
              <a:t>א) חלה עלייה במחיר גורם הייצור המשתנה (שכר העבודה עלה).</a:t>
            </a:r>
            <a:endParaRPr lang="en-IL" sz="3800" dirty="0">
              <a:latin typeface="Times New Roman" panose="02020603050405020304" pitchFamily="18" charset="0"/>
              <a:ea typeface="Times New Roman" panose="02020603050405020304" pitchFamily="18" charset="0"/>
              <a:cs typeface="David" panose="020E0502060401010101" pitchFamily="34" charset="-79"/>
            </a:endParaRPr>
          </a:p>
          <a:p>
            <a:pPr marL="0" indent="0">
              <a:lnSpc>
                <a:spcPct val="150000"/>
              </a:lnSpc>
              <a:buNone/>
            </a:pPr>
            <a:r>
              <a:rPr lang="he-IL" sz="3800" dirty="0">
                <a:latin typeface="Times New Roman" panose="02020603050405020304" pitchFamily="18" charset="0"/>
                <a:ea typeface="Times New Roman" panose="02020603050405020304" pitchFamily="18" charset="0"/>
                <a:cs typeface="Arial" panose="020B0604020202020204" pitchFamily="34" charset="0"/>
              </a:rPr>
              <a:t>ב) חל שיפור טכנולוגי שגרם לכך שהתפוקה השולית של עובד גדלה ב-</a:t>
            </a:r>
            <a:r>
              <a:rPr lang="en-US" sz="3800" dirty="0">
                <a:latin typeface="Arial" panose="020B0604020202020204" pitchFamily="34" charset="0"/>
                <a:ea typeface="Times New Roman" panose="02020603050405020304" pitchFamily="18" charset="0"/>
                <a:cs typeface="David" panose="020E0502060401010101" pitchFamily="34" charset="-79"/>
              </a:rPr>
              <a:t>A</a:t>
            </a:r>
            <a:r>
              <a:rPr lang="he-IL" sz="3800" dirty="0">
                <a:latin typeface="Times New Roman" panose="02020603050405020304" pitchFamily="18" charset="0"/>
                <a:ea typeface="Times New Roman" panose="02020603050405020304" pitchFamily="18" charset="0"/>
                <a:cs typeface="Arial" panose="020B0604020202020204" pitchFamily="34" charset="0"/>
              </a:rPr>
              <a:t> יחידות.</a:t>
            </a:r>
            <a:endParaRPr lang="en-IL" sz="3800" dirty="0">
              <a:latin typeface="Times New Roman" panose="02020603050405020304" pitchFamily="18" charset="0"/>
              <a:ea typeface="Times New Roman" panose="02020603050405020304" pitchFamily="18" charset="0"/>
              <a:cs typeface="David" panose="020E0502060401010101" pitchFamily="34" charset="-79"/>
            </a:endParaRPr>
          </a:p>
          <a:p>
            <a:pPr marL="0" indent="0">
              <a:lnSpc>
                <a:spcPct val="150000"/>
              </a:lnSpc>
              <a:buNone/>
            </a:pPr>
            <a:r>
              <a:rPr lang="he-IL" sz="3800" dirty="0">
                <a:latin typeface="Times New Roman" panose="02020603050405020304" pitchFamily="18" charset="0"/>
                <a:ea typeface="Times New Roman" panose="02020603050405020304" pitchFamily="18" charset="0"/>
                <a:cs typeface="Arial" panose="020B0604020202020204" pitchFamily="34" charset="0"/>
              </a:rPr>
              <a:t>ג) המחיר של המוצר שהפירמה מייצרת התייקר ולכן הפימה מוכרת כל יחידה במחיר גבוה יותר.</a:t>
            </a:r>
            <a:endParaRPr lang="he-IL" sz="3800" dirty="0"/>
          </a:p>
          <a:p>
            <a:pPr>
              <a:buNone/>
            </a:pPr>
            <a:endParaRPr lang="he-IL" dirty="0"/>
          </a:p>
        </p:txBody>
      </p:sp>
      <p:sp>
        <p:nvSpPr>
          <p:cNvPr id="5" name="מציין מיקום של כותרת תחתונה 4"/>
          <p:cNvSpPr>
            <a:spLocks noGrp="1"/>
          </p:cNvSpPr>
          <p:nvPr>
            <p:ph type="ftr" sz="quarter" idx="11"/>
          </p:nvPr>
        </p:nvSpPr>
        <p:spPr/>
        <p:txBody>
          <a:bodyPr/>
          <a:lstStyle/>
          <a:p>
            <a:r>
              <a:rPr lang="he-IL" dirty="0"/>
              <a:t>מבוא למיקרו כלכלה</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196296" y="136525"/>
            <a:ext cx="8229600" cy="1143000"/>
          </a:xfrm>
        </p:spPr>
        <p:txBody>
          <a:bodyPr>
            <a:normAutofit/>
          </a:bodyPr>
          <a:lstStyle/>
          <a:p>
            <a:pPr algn="r"/>
            <a:r>
              <a:rPr lang="he-IL" b="1" dirty="0">
                <a:solidFill>
                  <a:schemeClr val="tx2">
                    <a:lumMod val="75000"/>
                  </a:schemeClr>
                </a:solidFill>
              </a:rPr>
              <a:t>שאלה 3</a:t>
            </a:r>
          </a:p>
        </p:txBody>
      </p:sp>
      <p:sp>
        <p:nvSpPr>
          <p:cNvPr id="3" name="מציין מיקום תוכן 2"/>
          <p:cNvSpPr>
            <a:spLocks noGrp="1"/>
          </p:cNvSpPr>
          <p:nvPr>
            <p:ph idx="1"/>
          </p:nvPr>
        </p:nvSpPr>
        <p:spPr>
          <a:xfrm>
            <a:off x="1981200" y="1988840"/>
            <a:ext cx="8401080" cy="1512168"/>
          </a:xfrm>
        </p:spPr>
        <p:txBody>
          <a:bodyPr>
            <a:normAutofit/>
          </a:bodyPr>
          <a:lstStyle/>
          <a:p>
            <a:pPr lvl="0">
              <a:buNone/>
            </a:pPr>
            <a:endParaRPr lang="en-US" dirty="0"/>
          </a:p>
          <a:p>
            <a:endParaRPr lang="he-IL" dirty="0"/>
          </a:p>
          <a:p>
            <a:pPr indent="0">
              <a:buNone/>
            </a:pPr>
            <a:endParaRPr lang="he-IL" dirty="0"/>
          </a:p>
          <a:p>
            <a:pPr indent="0">
              <a:buNone/>
            </a:pPr>
            <a:endParaRPr lang="he-IL" dirty="0"/>
          </a:p>
          <a:p>
            <a:pPr indent="0">
              <a:buNone/>
            </a:pPr>
            <a:endParaRPr lang="he-IL" dirty="0"/>
          </a:p>
        </p:txBody>
      </p:sp>
      <p:sp>
        <p:nvSpPr>
          <p:cNvPr id="5" name="מציין מיקום של כותרת תחתונה 4"/>
          <p:cNvSpPr>
            <a:spLocks noGrp="1"/>
          </p:cNvSpPr>
          <p:nvPr>
            <p:ph type="ftr" sz="quarter" idx="11"/>
          </p:nvPr>
        </p:nvSpPr>
        <p:spPr/>
        <p:txBody>
          <a:bodyPr/>
          <a:lstStyle/>
          <a:p>
            <a:r>
              <a:rPr lang="he-IL" dirty="0"/>
              <a:t>מבוא למיקרו כלכלה</a:t>
            </a:r>
          </a:p>
        </p:txBody>
      </p:sp>
      <p:sp>
        <p:nvSpPr>
          <p:cNvPr id="6" name="מציין מיקום תוכן 10"/>
          <p:cNvSpPr txBox="1">
            <a:spLocks/>
          </p:cNvSpPr>
          <p:nvPr/>
        </p:nvSpPr>
        <p:spPr>
          <a:xfrm>
            <a:off x="2096791" y="1772816"/>
            <a:ext cx="8229600" cy="1643074"/>
          </a:xfrm>
          <a:prstGeom prst="rect">
            <a:avLst/>
          </a:prstGeom>
          <a:solidFill>
            <a:srgbClr val="FFFFC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1">
            <a:noAutofit/>
          </a:bodyPr>
          <a:lstStyle/>
          <a:p>
            <a:pPr marL="319950">
              <a:lnSpc>
                <a:spcPct val="150000"/>
              </a:lnSpc>
              <a:spcBef>
                <a:spcPct val="20000"/>
              </a:spcBef>
              <a:defRPr/>
            </a:pPr>
            <a:r>
              <a:rPr lang="he-IL" sz="3000" dirty="0">
                <a:solidFill>
                  <a:schemeClr val="tx1"/>
                </a:solidFill>
              </a:rPr>
              <a:t>עקומת ההיצע של היצרן, לטווח קצר, מתלכדת עם עקומת </a:t>
            </a:r>
            <a:r>
              <a:rPr lang="he-IL" sz="3000" b="1" dirty="0">
                <a:solidFill>
                  <a:schemeClr val="tx1"/>
                </a:solidFill>
              </a:rPr>
              <a:t>העלות השולית </a:t>
            </a:r>
            <a:r>
              <a:rPr lang="he-IL" sz="3000" dirty="0">
                <a:solidFill>
                  <a:schemeClr val="tx1"/>
                </a:solidFill>
              </a:rPr>
              <a:t>בתחום שמעל </a:t>
            </a:r>
            <a:r>
              <a:rPr lang="en-US" sz="3000" dirty="0">
                <a:solidFill>
                  <a:schemeClr val="tx1"/>
                </a:solidFill>
              </a:rPr>
              <a:t>Min(AVC)</a:t>
            </a:r>
            <a:r>
              <a:rPr lang="he-IL" sz="3000" dirty="0">
                <a:solidFill>
                  <a:schemeClr val="tx1"/>
                </a:solidFill>
              </a:rPr>
              <a:t>.</a:t>
            </a:r>
          </a:p>
        </p:txBody>
      </p:sp>
      <p:sp>
        <p:nvSpPr>
          <p:cNvPr id="4" name="מלבן 3"/>
          <p:cNvSpPr/>
          <p:nvPr/>
        </p:nvSpPr>
        <p:spPr>
          <a:xfrm>
            <a:off x="4295801" y="1196753"/>
            <a:ext cx="6030591" cy="429733"/>
          </a:xfrm>
          <a:prstGeom prst="rect">
            <a:avLst/>
          </a:prstGeom>
        </p:spPr>
        <p:txBody>
          <a:bodyPr wrap="square">
            <a:spAutoFit/>
          </a:bodyPr>
          <a:lstStyle/>
          <a:p>
            <a:pPr>
              <a:lnSpc>
                <a:spcPct val="120000"/>
              </a:lnSpc>
            </a:pPr>
            <a:r>
              <a:rPr lang="he-IL" sz="2000" dirty="0"/>
              <a:t>ראשית, נזכיר לעצמנו מה היא עקומת ההיצע</a:t>
            </a:r>
            <a:r>
              <a:rPr lang="he-IL" dirty="0"/>
              <a:t>:</a:t>
            </a:r>
            <a:endParaRPr lang="en-US" dirty="0"/>
          </a:p>
        </p:txBody>
      </p:sp>
      <p:sp>
        <p:nvSpPr>
          <p:cNvPr id="7" name="מלבן 6"/>
          <p:cNvSpPr/>
          <p:nvPr/>
        </p:nvSpPr>
        <p:spPr>
          <a:xfrm>
            <a:off x="2207569" y="3933057"/>
            <a:ext cx="8118823" cy="830997"/>
          </a:xfrm>
          <a:prstGeom prst="rect">
            <a:avLst/>
          </a:prstGeom>
        </p:spPr>
        <p:txBody>
          <a:bodyPr wrap="square">
            <a:spAutoFit/>
          </a:bodyPr>
          <a:lstStyle/>
          <a:p>
            <a:r>
              <a:rPr lang="he-IL" sz="2400" dirty="0"/>
              <a:t>כלומר, כדי להבין מה קרה לעקומת ההיצע יש להבין מה קורה לעקומת העלות השולית.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903475" y="123693"/>
            <a:ext cx="2123728" cy="1143000"/>
          </a:xfrm>
        </p:spPr>
        <p:txBody>
          <a:bodyPr>
            <a:normAutofit/>
          </a:bodyPr>
          <a:lstStyle/>
          <a:p>
            <a:pPr algn="r"/>
            <a:r>
              <a:rPr lang="he-IL" b="1" dirty="0">
                <a:solidFill>
                  <a:schemeClr val="tx2">
                    <a:lumMod val="75000"/>
                  </a:schemeClr>
                </a:solidFill>
              </a:rPr>
              <a:t>שאלה 3</a:t>
            </a:r>
          </a:p>
        </p:txBody>
      </p:sp>
      <p:sp>
        <p:nvSpPr>
          <p:cNvPr id="5" name="מציין מיקום של כותרת תחתונה 4"/>
          <p:cNvSpPr>
            <a:spLocks noGrp="1"/>
          </p:cNvSpPr>
          <p:nvPr>
            <p:ph type="ftr" sz="quarter" idx="11"/>
          </p:nvPr>
        </p:nvSpPr>
        <p:spPr/>
        <p:txBody>
          <a:bodyPr/>
          <a:lstStyle/>
          <a:p>
            <a:r>
              <a:rPr lang="he-IL" dirty="0"/>
              <a:t>מבוא למיקרו כלכלה</a:t>
            </a:r>
          </a:p>
        </p:txBody>
      </p:sp>
      <p:grpSp>
        <p:nvGrpSpPr>
          <p:cNvPr id="6" name="קבוצה 13"/>
          <p:cNvGrpSpPr/>
          <p:nvPr/>
        </p:nvGrpSpPr>
        <p:grpSpPr>
          <a:xfrm>
            <a:off x="2666976" y="2420888"/>
            <a:ext cx="6143671" cy="3579880"/>
            <a:chOff x="641321" y="3357562"/>
            <a:chExt cx="5288001" cy="2357454"/>
          </a:xfrm>
        </p:grpSpPr>
        <p:cxnSp>
          <p:nvCxnSpPr>
            <p:cNvPr id="11" name="מחבר חץ ישר 10"/>
            <p:cNvCxnSpPr/>
            <p:nvPr/>
          </p:nvCxnSpPr>
          <p:spPr>
            <a:xfrm rot="5400000" flipH="1" flipV="1">
              <a:off x="-536612" y="4535495"/>
              <a:ext cx="2357454"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מחבר חץ ישר 12"/>
            <p:cNvCxnSpPr/>
            <p:nvPr/>
          </p:nvCxnSpPr>
          <p:spPr>
            <a:xfrm flipV="1">
              <a:off x="642910" y="5715016"/>
              <a:ext cx="5286412"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7" name="TextBox 16"/>
          <p:cNvSpPr txBox="1"/>
          <p:nvPr/>
        </p:nvSpPr>
        <p:spPr>
          <a:xfrm>
            <a:off x="5721841" y="3050084"/>
            <a:ext cx="963725" cy="369332"/>
          </a:xfrm>
          <a:prstGeom prst="rect">
            <a:avLst/>
          </a:prstGeom>
          <a:noFill/>
        </p:spPr>
        <p:txBody>
          <a:bodyPr wrap="none" rtlCol="1">
            <a:spAutoFit/>
          </a:bodyPr>
          <a:lstStyle/>
          <a:p>
            <a:r>
              <a:rPr lang="en-US" dirty="0"/>
              <a:t> MC = S</a:t>
            </a:r>
            <a:r>
              <a:rPr lang="en-US" baseline="-25000" dirty="0"/>
              <a:t>0</a:t>
            </a:r>
            <a:endParaRPr lang="he-IL" baseline="-25000" dirty="0"/>
          </a:p>
        </p:txBody>
      </p:sp>
      <p:sp>
        <p:nvSpPr>
          <p:cNvPr id="18" name="TextBox 17"/>
          <p:cNvSpPr txBox="1"/>
          <p:nvPr/>
        </p:nvSpPr>
        <p:spPr>
          <a:xfrm>
            <a:off x="8669468" y="6000768"/>
            <a:ext cx="284052" cy="369332"/>
          </a:xfrm>
          <a:prstGeom prst="rect">
            <a:avLst/>
          </a:prstGeom>
          <a:noFill/>
        </p:spPr>
        <p:txBody>
          <a:bodyPr wrap="none" rtlCol="1">
            <a:spAutoFit/>
          </a:bodyPr>
          <a:lstStyle/>
          <a:p>
            <a:r>
              <a:rPr lang="en-US" dirty="0"/>
              <a:t>x</a:t>
            </a:r>
            <a:endParaRPr lang="he-IL" dirty="0"/>
          </a:p>
        </p:txBody>
      </p:sp>
      <p:sp>
        <p:nvSpPr>
          <p:cNvPr id="19" name="TextBox 18"/>
          <p:cNvSpPr txBox="1"/>
          <p:nvPr/>
        </p:nvSpPr>
        <p:spPr>
          <a:xfrm>
            <a:off x="2016470" y="2676743"/>
            <a:ext cx="505267" cy="369332"/>
          </a:xfrm>
          <a:prstGeom prst="rect">
            <a:avLst/>
          </a:prstGeom>
          <a:noFill/>
        </p:spPr>
        <p:txBody>
          <a:bodyPr wrap="none" rtlCol="1">
            <a:spAutoFit/>
          </a:bodyPr>
          <a:lstStyle/>
          <a:p>
            <a:r>
              <a:rPr lang="en-US" dirty="0"/>
              <a:t>MC</a:t>
            </a:r>
            <a:endParaRPr lang="he-IL" dirty="0"/>
          </a:p>
        </p:txBody>
      </p:sp>
      <p:sp>
        <p:nvSpPr>
          <p:cNvPr id="14" name="צורה חופשית 13"/>
          <p:cNvSpPr/>
          <p:nvPr/>
        </p:nvSpPr>
        <p:spPr>
          <a:xfrm rot="5400000">
            <a:off x="23770" y="-785842"/>
            <a:ext cx="5786478" cy="6929486"/>
          </a:xfrm>
          <a:custGeom>
            <a:avLst/>
            <a:gdLst>
              <a:gd name="connsiteX0" fmla="*/ 3717747 w 5786478"/>
              <a:gd name="connsiteY0" fmla="*/ 71094 h 3429024"/>
              <a:gd name="connsiteX1" fmla="*/ 5757518 w 5786478"/>
              <a:gd name="connsiteY1" fmla="*/ 1472535 h 3429024"/>
              <a:gd name="connsiteX2" fmla="*/ 2893239 w 5786478"/>
              <a:gd name="connsiteY2" fmla="*/ 1714512 h 3429024"/>
              <a:gd name="connsiteX3" fmla="*/ 3717747 w 5786478"/>
              <a:gd name="connsiteY3" fmla="*/ 71094 h 3429024"/>
              <a:gd name="connsiteX0" fmla="*/ 3717747 w 5786478"/>
              <a:gd name="connsiteY0" fmla="*/ 71094 h 3429024"/>
              <a:gd name="connsiteX1" fmla="*/ 5757518 w 5786478"/>
              <a:gd name="connsiteY1" fmla="*/ 1472535 h 3429024"/>
            </a:gdLst>
            <a:ahLst/>
            <a:cxnLst>
              <a:cxn ang="0">
                <a:pos x="connsiteX0" y="connsiteY0"/>
              </a:cxn>
              <a:cxn ang="0">
                <a:pos x="connsiteX1" y="connsiteY1"/>
              </a:cxn>
            </a:cxnLst>
            <a:rect l="l" t="t" r="r" b="b"/>
            <a:pathLst>
              <a:path w="5786478" h="3429024" stroke="0" extrusionOk="0">
                <a:moveTo>
                  <a:pt x="3717747" y="71094"/>
                </a:moveTo>
                <a:cubicBezTo>
                  <a:pt x="4801287" y="261993"/>
                  <a:pt x="5597977" y="809366"/>
                  <a:pt x="5757518" y="1472535"/>
                </a:cubicBezTo>
                <a:lnTo>
                  <a:pt x="2893239" y="1714512"/>
                </a:lnTo>
                <a:lnTo>
                  <a:pt x="3717747" y="71094"/>
                </a:lnTo>
                <a:close/>
              </a:path>
              <a:path w="5786478" h="3429024" fill="none">
                <a:moveTo>
                  <a:pt x="3717747" y="71094"/>
                </a:moveTo>
                <a:cubicBezTo>
                  <a:pt x="4801287" y="261993"/>
                  <a:pt x="5597977" y="809366"/>
                  <a:pt x="5757518" y="1472535"/>
                </a:cubicBezTo>
              </a:path>
            </a:pathLst>
          </a:cu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cxnSp>
        <p:nvCxnSpPr>
          <p:cNvPr id="33" name="מחבר ישר 32"/>
          <p:cNvCxnSpPr/>
          <p:nvPr/>
        </p:nvCxnSpPr>
        <p:spPr>
          <a:xfrm flipV="1">
            <a:off x="2666976" y="4714884"/>
            <a:ext cx="2714644" cy="36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מחבר ישר 34"/>
          <p:cNvCxnSpPr/>
          <p:nvPr/>
        </p:nvCxnSpPr>
        <p:spPr>
          <a:xfrm rot="5400000">
            <a:off x="4733620" y="5362884"/>
            <a:ext cx="1296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 name="מלבן 7"/>
          <p:cNvSpPr/>
          <p:nvPr/>
        </p:nvSpPr>
        <p:spPr>
          <a:xfrm>
            <a:off x="2804257" y="410319"/>
            <a:ext cx="5870955" cy="427746"/>
          </a:xfrm>
          <a:prstGeom prst="rect">
            <a:avLst/>
          </a:prstGeom>
        </p:spPr>
        <p:txBody>
          <a:bodyPr wrap="square">
            <a:spAutoFit/>
          </a:bodyPr>
          <a:lstStyle/>
          <a:p>
            <a:pPr lvl="1">
              <a:lnSpc>
                <a:spcPct val="120000"/>
              </a:lnSpc>
              <a:buNone/>
            </a:pPr>
            <a:r>
              <a:rPr lang="he-IL" sz="2000" dirty="0"/>
              <a:t>נתון: פירמה פועלת בתנאי תפוקה שולית פוחתת</a:t>
            </a:r>
            <a:endParaRPr lang="he-IL" sz="2000" b="1" dirty="0"/>
          </a:p>
        </p:txBody>
      </p:sp>
      <p:sp>
        <p:nvSpPr>
          <p:cNvPr id="3" name="Down Arrow 2"/>
          <p:cNvSpPr/>
          <p:nvPr/>
        </p:nvSpPr>
        <p:spPr>
          <a:xfrm>
            <a:off x="5807968" y="978661"/>
            <a:ext cx="288032" cy="288032"/>
          </a:xfrm>
          <a:prstGeom prst="downArrow">
            <a:avLst/>
          </a:prstGeom>
        </p:spPr>
        <p:style>
          <a:lnRef idx="2">
            <a:schemeClr val="accent6"/>
          </a:lnRef>
          <a:fillRef idx="1">
            <a:schemeClr val="lt1"/>
          </a:fillRef>
          <a:effectRef idx="0">
            <a:schemeClr val="accent6"/>
          </a:effectRef>
          <a:fontRef idx="minor">
            <a:schemeClr val="dk1"/>
          </a:fontRef>
        </p:style>
        <p:txBody>
          <a:bodyPr rtlCol="1" anchor="ctr"/>
          <a:lstStyle/>
          <a:p>
            <a:pPr algn="ctr"/>
            <a:endParaRPr lang="he-IL"/>
          </a:p>
        </p:txBody>
      </p:sp>
      <p:sp>
        <p:nvSpPr>
          <p:cNvPr id="15" name="מלבן 7"/>
          <p:cNvSpPr/>
          <p:nvPr/>
        </p:nvSpPr>
        <p:spPr>
          <a:xfrm>
            <a:off x="2521737" y="1300185"/>
            <a:ext cx="5870955" cy="427746"/>
          </a:xfrm>
          <a:prstGeom prst="rect">
            <a:avLst/>
          </a:prstGeom>
        </p:spPr>
        <p:txBody>
          <a:bodyPr wrap="square">
            <a:spAutoFit/>
          </a:bodyPr>
          <a:lstStyle/>
          <a:p>
            <a:pPr lvl="1">
              <a:lnSpc>
                <a:spcPct val="120000"/>
              </a:lnSpc>
              <a:buNone/>
            </a:pPr>
            <a:r>
              <a:rPr lang="he-IL" sz="2000" dirty="0"/>
              <a:t>עקומת העלות השולית עולה (משמאל לימין)</a:t>
            </a:r>
            <a:endParaRPr lang="he-IL"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p:cTn id="16" dur="500" fill="hold"/>
                                        <p:tgtEl>
                                          <p:spTgt spid="14"/>
                                        </p:tgtEl>
                                        <p:attrNameLst>
                                          <p:attrName>ppt_w</p:attrName>
                                        </p:attrNameLst>
                                      </p:cBhvr>
                                      <p:tavLst>
                                        <p:tav tm="0">
                                          <p:val>
                                            <p:fltVal val="0"/>
                                          </p:val>
                                        </p:tav>
                                        <p:tav tm="100000">
                                          <p:val>
                                            <p:strVal val="#ppt_w"/>
                                          </p:val>
                                        </p:tav>
                                      </p:tavLst>
                                    </p:anim>
                                    <p:anim calcmode="lin" valueType="num">
                                      <p:cBhvr>
                                        <p:cTn id="17" dur="500" fill="hold"/>
                                        <p:tgtEl>
                                          <p:spTgt spid="14"/>
                                        </p:tgtEl>
                                        <p:attrNameLst>
                                          <p:attrName>ppt_h</p:attrName>
                                        </p:attrNameLst>
                                      </p:cBhvr>
                                      <p:tavLst>
                                        <p:tav tm="0">
                                          <p:val>
                                            <p:fltVal val="0"/>
                                          </p:val>
                                        </p:tav>
                                        <p:tav tm="100000">
                                          <p:val>
                                            <p:strVal val="#ppt_h"/>
                                          </p:val>
                                        </p:tav>
                                      </p:tavLst>
                                    </p:anim>
                                    <p:animEffect transition="in" filter="fade">
                                      <p:cBhvr>
                                        <p:cTn id="18" dur="500"/>
                                        <p:tgtEl>
                                          <p:spTgt spid="14"/>
                                        </p:tgtEl>
                                      </p:cBhvr>
                                    </p:animEffect>
                                  </p:childTnLst>
                                </p:cTn>
                              </p:par>
                              <p:par>
                                <p:cTn id="19" presetID="53" presetClass="entr" presetSubtype="16"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anim calcmode="lin" valueType="num">
                                      <p:cBhvr>
                                        <p:cTn id="21" dur="500" fill="hold"/>
                                        <p:tgtEl>
                                          <p:spTgt spid="35"/>
                                        </p:tgtEl>
                                        <p:attrNameLst>
                                          <p:attrName>ppt_w</p:attrName>
                                        </p:attrNameLst>
                                      </p:cBhvr>
                                      <p:tavLst>
                                        <p:tav tm="0">
                                          <p:val>
                                            <p:fltVal val="0"/>
                                          </p:val>
                                        </p:tav>
                                        <p:tav tm="100000">
                                          <p:val>
                                            <p:strVal val="#ppt_w"/>
                                          </p:val>
                                        </p:tav>
                                      </p:tavLst>
                                    </p:anim>
                                    <p:anim calcmode="lin" valueType="num">
                                      <p:cBhvr>
                                        <p:cTn id="22" dur="500" fill="hold"/>
                                        <p:tgtEl>
                                          <p:spTgt spid="35"/>
                                        </p:tgtEl>
                                        <p:attrNameLst>
                                          <p:attrName>ppt_h</p:attrName>
                                        </p:attrNameLst>
                                      </p:cBhvr>
                                      <p:tavLst>
                                        <p:tav tm="0">
                                          <p:val>
                                            <p:fltVal val="0"/>
                                          </p:val>
                                        </p:tav>
                                        <p:tav tm="100000">
                                          <p:val>
                                            <p:strVal val="#ppt_h"/>
                                          </p:val>
                                        </p:tav>
                                      </p:tavLst>
                                    </p:anim>
                                    <p:animEffect transition="in" filter="fade">
                                      <p:cBhvr>
                                        <p:cTn id="23" dur="500"/>
                                        <p:tgtEl>
                                          <p:spTgt spid="35"/>
                                        </p:tgtEl>
                                      </p:cBhvr>
                                    </p:animEffect>
                                  </p:childTnLst>
                                </p:cTn>
                              </p:par>
                              <p:par>
                                <p:cTn id="24" presetID="53" presetClass="entr" presetSubtype="16" fill="hold" nodeType="withEffect">
                                  <p:stCondLst>
                                    <p:cond delay="0"/>
                                  </p:stCondLst>
                                  <p:childTnLst>
                                    <p:set>
                                      <p:cBhvr>
                                        <p:cTn id="25" dur="1" fill="hold">
                                          <p:stCondLst>
                                            <p:cond delay="0"/>
                                          </p:stCondLst>
                                        </p:cTn>
                                        <p:tgtEl>
                                          <p:spTgt spid="33"/>
                                        </p:tgtEl>
                                        <p:attrNameLst>
                                          <p:attrName>style.visibility</p:attrName>
                                        </p:attrNameLst>
                                      </p:cBhvr>
                                      <p:to>
                                        <p:strVal val="visible"/>
                                      </p:to>
                                    </p:set>
                                    <p:anim calcmode="lin" valueType="num">
                                      <p:cBhvr>
                                        <p:cTn id="26" dur="500" fill="hold"/>
                                        <p:tgtEl>
                                          <p:spTgt spid="33"/>
                                        </p:tgtEl>
                                        <p:attrNameLst>
                                          <p:attrName>ppt_w</p:attrName>
                                        </p:attrNameLst>
                                      </p:cBhvr>
                                      <p:tavLst>
                                        <p:tav tm="0">
                                          <p:val>
                                            <p:fltVal val="0"/>
                                          </p:val>
                                        </p:tav>
                                        <p:tav tm="100000">
                                          <p:val>
                                            <p:strVal val="#ppt_w"/>
                                          </p:val>
                                        </p:tav>
                                      </p:tavLst>
                                    </p:anim>
                                    <p:anim calcmode="lin" valueType="num">
                                      <p:cBhvr>
                                        <p:cTn id="27" dur="500" fill="hold"/>
                                        <p:tgtEl>
                                          <p:spTgt spid="33"/>
                                        </p:tgtEl>
                                        <p:attrNameLst>
                                          <p:attrName>ppt_h</p:attrName>
                                        </p:attrNameLst>
                                      </p:cBhvr>
                                      <p:tavLst>
                                        <p:tav tm="0">
                                          <p:val>
                                            <p:fltVal val="0"/>
                                          </p:val>
                                        </p:tav>
                                        <p:tav tm="100000">
                                          <p:val>
                                            <p:strVal val="#ppt_h"/>
                                          </p:val>
                                        </p:tav>
                                      </p:tavLst>
                                    </p:anim>
                                    <p:animEffect transition="in" filter="fade">
                                      <p:cBhvr>
                                        <p:cTn id="28" dur="500"/>
                                        <p:tgtEl>
                                          <p:spTgt spid="33"/>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500" fill="hold"/>
                                        <p:tgtEl>
                                          <p:spTgt spid="17"/>
                                        </p:tgtEl>
                                        <p:attrNameLst>
                                          <p:attrName>ppt_w</p:attrName>
                                        </p:attrNameLst>
                                      </p:cBhvr>
                                      <p:tavLst>
                                        <p:tav tm="0">
                                          <p:val>
                                            <p:fltVal val="0"/>
                                          </p:val>
                                        </p:tav>
                                        <p:tav tm="100000">
                                          <p:val>
                                            <p:strVal val="#ppt_w"/>
                                          </p:val>
                                        </p:tav>
                                      </p:tavLst>
                                    </p:anim>
                                    <p:anim calcmode="lin" valueType="num">
                                      <p:cBhvr>
                                        <p:cTn id="32" dur="500" fill="hold"/>
                                        <p:tgtEl>
                                          <p:spTgt spid="17"/>
                                        </p:tgtEl>
                                        <p:attrNameLst>
                                          <p:attrName>ppt_h</p:attrName>
                                        </p:attrNameLst>
                                      </p:cBhvr>
                                      <p:tavLst>
                                        <p:tav tm="0">
                                          <p:val>
                                            <p:fltVal val="0"/>
                                          </p:val>
                                        </p:tav>
                                        <p:tav tm="100000">
                                          <p:val>
                                            <p:strVal val="#ppt_h"/>
                                          </p:val>
                                        </p:tav>
                                      </p:tavLst>
                                    </p:anim>
                                    <p:animEffect transition="in" filter="fade">
                                      <p:cBhvr>
                                        <p:cTn id="3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4" grpId="0" animBg="1"/>
      <p:bldP spid="3" grpId="0" animBg="1"/>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966423" y="103146"/>
            <a:ext cx="1998532" cy="1143000"/>
          </a:xfrm>
        </p:spPr>
        <p:txBody>
          <a:bodyPr>
            <a:normAutofit/>
          </a:bodyPr>
          <a:lstStyle/>
          <a:p>
            <a:pPr algn="r"/>
            <a:r>
              <a:rPr lang="he-IL" b="1" dirty="0">
                <a:solidFill>
                  <a:schemeClr val="tx2">
                    <a:lumMod val="75000"/>
                  </a:schemeClr>
                </a:solidFill>
              </a:rPr>
              <a:t>שאלה 3</a:t>
            </a:r>
          </a:p>
        </p:txBody>
      </p:sp>
      <p:sp>
        <p:nvSpPr>
          <p:cNvPr id="3" name="מציין מיקום תוכן 2"/>
          <p:cNvSpPr>
            <a:spLocks noGrp="1"/>
          </p:cNvSpPr>
          <p:nvPr>
            <p:ph idx="1"/>
          </p:nvPr>
        </p:nvSpPr>
        <p:spPr>
          <a:xfrm>
            <a:off x="1963344" y="1357339"/>
            <a:ext cx="8401080" cy="5000660"/>
          </a:xfrm>
        </p:spPr>
        <p:txBody>
          <a:bodyPr>
            <a:normAutofit/>
          </a:bodyPr>
          <a:lstStyle/>
          <a:p>
            <a:endParaRPr lang="he-IL" dirty="0"/>
          </a:p>
          <a:p>
            <a:endParaRPr lang="he-IL" dirty="0"/>
          </a:p>
          <a:p>
            <a:endParaRPr lang="he-IL" dirty="0"/>
          </a:p>
          <a:p>
            <a:endParaRPr lang="he-IL" dirty="0"/>
          </a:p>
        </p:txBody>
      </p:sp>
      <p:sp>
        <p:nvSpPr>
          <p:cNvPr id="5" name="מציין מיקום של כותרת תחתונה 4"/>
          <p:cNvSpPr>
            <a:spLocks noGrp="1"/>
          </p:cNvSpPr>
          <p:nvPr>
            <p:ph type="ftr" sz="quarter" idx="11"/>
          </p:nvPr>
        </p:nvSpPr>
        <p:spPr/>
        <p:txBody>
          <a:bodyPr/>
          <a:lstStyle/>
          <a:p>
            <a:r>
              <a:rPr lang="he-IL" dirty="0"/>
              <a:t>מבוא למיקרו כלכלה</a:t>
            </a:r>
          </a:p>
        </p:txBody>
      </p:sp>
      <p:grpSp>
        <p:nvGrpSpPr>
          <p:cNvPr id="6" name="קבוצה 13"/>
          <p:cNvGrpSpPr/>
          <p:nvPr/>
        </p:nvGrpSpPr>
        <p:grpSpPr>
          <a:xfrm>
            <a:off x="2613811" y="2446868"/>
            <a:ext cx="4527053" cy="3781226"/>
            <a:chOff x="641321" y="3357562"/>
            <a:chExt cx="5288001" cy="2357454"/>
          </a:xfrm>
        </p:grpSpPr>
        <p:cxnSp>
          <p:nvCxnSpPr>
            <p:cNvPr id="11" name="מחבר חץ ישר 10"/>
            <p:cNvCxnSpPr/>
            <p:nvPr/>
          </p:nvCxnSpPr>
          <p:spPr>
            <a:xfrm rot="5400000" flipH="1" flipV="1">
              <a:off x="-536612" y="4535495"/>
              <a:ext cx="2357454"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מחבר חץ ישר 12"/>
            <p:cNvCxnSpPr/>
            <p:nvPr/>
          </p:nvCxnSpPr>
          <p:spPr>
            <a:xfrm flipV="1">
              <a:off x="642910" y="5715016"/>
              <a:ext cx="5286412"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7" name="TextBox 16"/>
          <p:cNvSpPr txBox="1"/>
          <p:nvPr/>
        </p:nvSpPr>
        <p:spPr>
          <a:xfrm>
            <a:off x="6211543" y="3359664"/>
            <a:ext cx="369012" cy="369332"/>
          </a:xfrm>
          <a:prstGeom prst="rect">
            <a:avLst/>
          </a:prstGeom>
          <a:noFill/>
        </p:spPr>
        <p:txBody>
          <a:bodyPr wrap="none" rtlCol="1">
            <a:spAutoFit/>
          </a:bodyPr>
          <a:lstStyle/>
          <a:p>
            <a:r>
              <a:rPr lang="en-US" dirty="0"/>
              <a:t>S</a:t>
            </a:r>
            <a:r>
              <a:rPr lang="en-US" baseline="-25000" dirty="0"/>
              <a:t>0</a:t>
            </a:r>
            <a:endParaRPr lang="he-IL" baseline="-25000" dirty="0"/>
          </a:p>
        </p:txBody>
      </p:sp>
      <p:sp>
        <p:nvSpPr>
          <p:cNvPr id="18" name="TextBox 17"/>
          <p:cNvSpPr txBox="1"/>
          <p:nvPr/>
        </p:nvSpPr>
        <p:spPr>
          <a:xfrm>
            <a:off x="7253898" y="6042634"/>
            <a:ext cx="284052" cy="369332"/>
          </a:xfrm>
          <a:prstGeom prst="rect">
            <a:avLst/>
          </a:prstGeom>
          <a:noFill/>
        </p:spPr>
        <p:txBody>
          <a:bodyPr wrap="none" rtlCol="1">
            <a:spAutoFit/>
          </a:bodyPr>
          <a:lstStyle/>
          <a:p>
            <a:r>
              <a:rPr lang="en-US" dirty="0"/>
              <a:t>x</a:t>
            </a:r>
            <a:endParaRPr lang="he-IL" dirty="0"/>
          </a:p>
        </p:txBody>
      </p:sp>
      <p:sp>
        <p:nvSpPr>
          <p:cNvPr id="19" name="TextBox 18"/>
          <p:cNvSpPr txBox="1"/>
          <p:nvPr/>
        </p:nvSpPr>
        <p:spPr>
          <a:xfrm>
            <a:off x="1797520" y="2171732"/>
            <a:ext cx="733471" cy="369332"/>
          </a:xfrm>
          <a:prstGeom prst="rect">
            <a:avLst/>
          </a:prstGeom>
          <a:noFill/>
        </p:spPr>
        <p:txBody>
          <a:bodyPr wrap="none" rtlCol="1">
            <a:spAutoFit/>
          </a:bodyPr>
          <a:lstStyle/>
          <a:p>
            <a:r>
              <a:rPr lang="en-US" dirty="0"/>
              <a:t>MC, P</a:t>
            </a:r>
            <a:endParaRPr lang="he-IL" dirty="0"/>
          </a:p>
        </p:txBody>
      </p:sp>
      <p:sp>
        <p:nvSpPr>
          <p:cNvPr id="14" name="צורה חופשית 13"/>
          <p:cNvSpPr/>
          <p:nvPr/>
        </p:nvSpPr>
        <p:spPr>
          <a:xfrm rot="5400000">
            <a:off x="3545" y="-569426"/>
            <a:ext cx="5786478" cy="6929486"/>
          </a:xfrm>
          <a:custGeom>
            <a:avLst/>
            <a:gdLst>
              <a:gd name="connsiteX0" fmla="*/ 3717747 w 5786478"/>
              <a:gd name="connsiteY0" fmla="*/ 71094 h 3429024"/>
              <a:gd name="connsiteX1" fmla="*/ 5757518 w 5786478"/>
              <a:gd name="connsiteY1" fmla="*/ 1472535 h 3429024"/>
              <a:gd name="connsiteX2" fmla="*/ 2893239 w 5786478"/>
              <a:gd name="connsiteY2" fmla="*/ 1714512 h 3429024"/>
              <a:gd name="connsiteX3" fmla="*/ 3717747 w 5786478"/>
              <a:gd name="connsiteY3" fmla="*/ 71094 h 3429024"/>
              <a:gd name="connsiteX0" fmla="*/ 3717747 w 5786478"/>
              <a:gd name="connsiteY0" fmla="*/ 71094 h 3429024"/>
              <a:gd name="connsiteX1" fmla="*/ 5757518 w 5786478"/>
              <a:gd name="connsiteY1" fmla="*/ 1472535 h 3429024"/>
            </a:gdLst>
            <a:ahLst/>
            <a:cxnLst>
              <a:cxn ang="0">
                <a:pos x="connsiteX0" y="connsiteY0"/>
              </a:cxn>
              <a:cxn ang="0">
                <a:pos x="connsiteX1" y="connsiteY1"/>
              </a:cxn>
            </a:cxnLst>
            <a:rect l="l" t="t" r="r" b="b"/>
            <a:pathLst>
              <a:path w="5786478" h="3429024" stroke="0" extrusionOk="0">
                <a:moveTo>
                  <a:pt x="3717747" y="71094"/>
                </a:moveTo>
                <a:cubicBezTo>
                  <a:pt x="4801287" y="261993"/>
                  <a:pt x="5597977" y="809366"/>
                  <a:pt x="5757518" y="1472535"/>
                </a:cubicBezTo>
                <a:lnTo>
                  <a:pt x="2893239" y="1714512"/>
                </a:lnTo>
                <a:lnTo>
                  <a:pt x="3717747" y="71094"/>
                </a:lnTo>
                <a:close/>
              </a:path>
              <a:path w="5786478" h="3429024" fill="none">
                <a:moveTo>
                  <a:pt x="3717747" y="71094"/>
                </a:moveTo>
                <a:cubicBezTo>
                  <a:pt x="4801287" y="261993"/>
                  <a:pt x="5597977" y="809366"/>
                  <a:pt x="5757518" y="1472535"/>
                </a:cubicBezTo>
              </a:path>
            </a:pathLst>
          </a:cu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sp>
        <p:nvSpPr>
          <p:cNvPr id="30" name="TextBox 29"/>
          <p:cNvSpPr txBox="1"/>
          <p:nvPr/>
        </p:nvSpPr>
        <p:spPr>
          <a:xfrm>
            <a:off x="5793042" y="2912378"/>
            <a:ext cx="369012" cy="369332"/>
          </a:xfrm>
          <a:prstGeom prst="rect">
            <a:avLst/>
          </a:prstGeom>
          <a:noFill/>
          <a:ln>
            <a:noFill/>
          </a:ln>
        </p:spPr>
        <p:txBody>
          <a:bodyPr wrap="none" rtlCol="1">
            <a:spAutoFit/>
          </a:bodyPr>
          <a:lstStyle/>
          <a:p>
            <a:r>
              <a:rPr lang="en-US" dirty="0">
                <a:solidFill>
                  <a:schemeClr val="tx2">
                    <a:lumMod val="75000"/>
                  </a:schemeClr>
                </a:solidFill>
              </a:rPr>
              <a:t>S</a:t>
            </a:r>
            <a:r>
              <a:rPr lang="en-US" baseline="-25000" dirty="0">
                <a:solidFill>
                  <a:schemeClr val="tx2">
                    <a:lumMod val="75000"/>
                  </a:schemeClr>
                </a:solidFill>
              </a:rPr>
              <a:t>1</a:t>
            </a:r>
            <a:endParaRPr lang="he-IL" baseline="-25000" dirty="0">
              <a:solidFill>
                <a:schemeClr val="tx2">
                  <a:lumMod val="75000"/>
                </a:schemeClr>
              </a:solidFill>
            </a:endParaRPr>
          </a:p>
        </p:txBody>
      </p:sp>
      <p:sp>
        <p:nvSpPr>
          <p:cNvPr id="31" name="צורה חופשית 30"/>
          <p:cNvSpPr/>
          <p:nvPr/>
        </p:nvSpPr>
        <p:spPr>
          <a:xfrm rot="5400000">
            <a:off x="-282207" y="-998053"/>
            <a:ext cx="5786478" cy="6929486"/>
          </a:xfrm>
          <a:custGeom>
            <a:avLst/>
            <a:gdLst>
              <a:gd name="connsiteX0" fmla="*/ 3717747 w 5786478"/>
              <a:gd name="connsiteY0" fmla="*/ 71094 h 3429024"/>
              <a:gd name="connsiteX1" fmla="*/ 5757518 w 5786478"/>
              <a:gd name="connsiteY1" fmla="*/ 1472535 h 3429024"/>
              <a:gd name="connsiteX2" fmla="*/ 2893239 w 5786478"/>
              <a:gd name="connsiteY2" fmla="*/ 1714512 h 3429024"/>
              <a:gd name="connsiteX3" fmla="*/ 3717747 w 5786478"/>
              <a:gd name="connsiteY3" fmla="*/ 71094 h 3429024"/>
              <a:gd name="connsiteX0" fmla="*/ 3717747 w 5786478"/>
              <a:gd name="connsiteY0" fmla="*/ 71094 h 3429024"/>
              <a:gd name="connsiteX1" fmla="*/ 5757518 w 5786478"/>
              <a:gd name="connsiteY1" fmla="*/ 1472535 h 3429024"/>
            </a:gdLst>
            <a:ahLst/>
            <a:cxnLst>
              <a:cxn ang="0">
                <a:pos x="connsiteX0" y="connsiteY0"/>
              </a:cxn>
              <a:cxn ang="0">
                <a:pos x="connsiteX1" y="connsiteY1"/>
              </a:cxn>
            </a:cxnLst>
            <a:rect l="l" t="t" r="r" b="b"/>
            <a:pathLst>
              <a:path w="5786478" h="3429024" stroke="0" extrusionOk="0">
                <a:moveTo>
                  <a:pt x="3717747" y="71094"/>
                </a:moveTo>
                <a:cubicBezTo>
                  <a:pt x="4801287" y="261993"/>
                  <a:pt x="5597977" y="809366"/>
                  <a:pt x="5757518" y="1472535"/>
                </a:cubicBezTo>
                <a:lnTo>
                  <a:pt x="2893239" y="1714512"/>
                </a:lnTo>
                <a:lnTo>
                  <a:pt x="3717747" y="71094"/>
                </a:lnTo>
                <a:close/>
              </a:path>
              <a:path w="5786478" h="3429024" fill="none">
                <a:moveTo>
                  <a:pt x="3717747" y="71094"/>
                </a:moveTo>
                <a:cubicBezTo>
                  <a:pt x="4801287" y="261993"/>
                  <a:pt x="5597977" y="809366"/>
                  <a:pt x="5757518" y="1472535"/>
                </a:cubicBezTo>
              </a:path>
            </a:pathLst>
          </a:custGeom>
          <a:ln w="38100">
            <a:solidFill>
              <a:srgbClr val="0070C0"/>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cxnSp>
        <p:nvCxnSpPr>
          <p:cNvPr id="33" name="מחבר ישר 32"/>
          <p:cNvCxnSpPr/>
          <p:nvPr/>
        </p:nvCxnSpPr>
        <p:spPr>
          <a:xfrm flipV="1">
            <a:off x="2646751" y="4931300"/>
            <a:ext cx="2714644" cy="36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מחבר ישר 34"/>
          <p:cNvCxnSpPr/>
          <p:nvPr/>
        </p:nvCxnSpPr>
        <p:spPr>
          <a:xfrm rot="5400000">
            <a:off x="4713395" y="5579300"/>
            <a:ext cx="1296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מחבר ישר 35"/>
          <p:cNvCxnSpPr/>
          <p:nvPr/>
        </p:nvCxnSpPr>
        <p:spPr>
          <a:xfrm rot="5400000">
            <a:off x="3714057" y="5578506"/>
            <a:ext cx="1296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0" name="מלבן 19"/>
          <p:cNvSpPr/>
          <p:nvPr/>
        </p:nvSpPr>
        <p:spPr>
          <a:xfrm>
            <a:off x="5414967" y="1118660"/>
            <a:ext cx="5307399" cy="726609"/>
          </a:xfrm>
          <a:prstGeom prst="rect">
            <a:avLst/>
          </a:prstGeom>
        </p:spPr>
        <p:txBody>
          <a:bodyPr wrap="square">
            <a:spAutoFit/>
          </a:bodyPr>
          <a:lstStyle/>
          <a:p>
            <a:pPr lvl="1">
              <a:lnSpc>
                <a:spcPct val="120000"/>
              </a:lnSpc>
            </a:pPr>
            <a:r>
              <a:rPr lang="he-IL" dirty="0"/>
              <a:t>עקומת </a:t>
            </a:r>
            <a:r>
              <a:rPr lang="en-US" dirty="0"/>
              <a:t>MC(X)</a:t>
            </a:r>
            <a:r>
              <a:rPr lang="he-IL" dirty="0"/>
              <a:t> </a:t>
            </a:r>
            <a:r>
              <a:rPr lang="he-IL" b="1" dirty="0"/>
              <a:t>עולה</a:t>
            </a:r>
            <a:r>
              <a:rPr lang="he-IL" dirty="0"/>
              <a:t> לכל תפוקה </a:t>
            </a:r>
            <a:r>
              <a:rPr lang="en-US" dirty="0"/>
              <a:t>X</a:t>
            </a:r>
            <a:r>
              <a:rPr lang="he-IL" dirty="0"/>
              <a:t>. יקר יותר לייצר כל יחידה!</a:t>
            </a:r>
            <a:endParaRPr lang="en-US" dirty="0"/>
          </a:p>
        </p:txBody>
      </p:sp>
      <p:sp>
        <p:nvSpPr>
          <p:cNvPr id="21" name="מלבן 20"/>
          <p:cNvSpPr/>
          <p:nvPr/>
        </p:nvSpPr>
        <p:spPr>
          <a:xfrm>
            <a:off x="8068666" y="2730026"/>
            <a:ext cx="3708399" cy="1397947"/>
          </a:xfrm>
          <a:prstGeom prst="rect">
            <a:avLst/>
          </a:prstGeom>
          <a:solidFill>
            <a:srgbClr val="FFFFCC"/>
          </a:solidFill>
        </p:spPr>
        <p:txBody>
          <a:bodyPr wrap="square">
            <a:spAutoFit/>
          </a:bodyPr>
          <a:lstStyle/>
          <a:p>
            <a:pPr lvl="1">
              <a:lnSpc>
                <a:spcPct val="120000"/>
              </a:lnSpc>
            </a:pPr>
            <a:r>
              <a:rPr lang="he-IL" dirty="0"/>
              <a:t>כלומר </a:t>
            </a:r>
            <a:r>
              <a:rPr lang="he-IL" b="1" dirty="0">
                <a:solidFill>
                  <a:srgbClr val="002060"/>
                </a:solidFill>
              </a:rPr>
              <a:t>ההיצע מצטמצם (תזוזה שמאלה ולמעלה) </a:t>
            </a:r>
            <a:r>
              <a:rPr lang="he-IL" dirty="0"/>
              <a:t>– בכל מחיר ומחיר היצרן מוכן כעת להציע פחות יחידות של </a:t>
            </a:r>
            <a:r>
              <a:rPr lang="en-US" dirty="0"/>
              <a:t>X</a:t>
            </a:r>
            <a:r>
              <a:rPr lang="he-IL" dirty="0"/>
              <a:t>.</a:t>
            </a:r>
          </a:p>
        </p:txBody>
      </p:sp>
      <p:sp>
        <p:nvSpPr>
          <p:cNvPr id="22" name="מלבן 21"/>
          <p:cNvSpPr/>
          <p:nvPr/>
        </p:nvSpPr>
        <p:spPr>
          <a:xfrm>
            <a:off x="1703513" y="320947"/>
            <a:ext cx="7453108" cy="427746"/>
          </a:xfrm>
          <a:prstGeom prst="rect">
            <a:avLst/>
          </a:prstGeom>
        </p:spPr>
        <p:txBody>
          <a:bodyPr wrap="square">
            <a:spAutoFit/>
          </a:bodyPr>
          <a:lstStyle/>
          <a:p>
            <a:pPr lvl="1">
              <a:lnSpc>
                <a:spcPct val="120000"/>
              </a:lnSpc>
              <a:buNone/>
            </a:pPr>
            <a:r>
              <a:rPr lang="he-IL" sz="2000" b="1" dirty="0"/>
              <a:t>א) חלה עלייה במחיר גורם הייצור המשתנה</a:t>
            </a:r>
            <a:r>
              <a:rPr lang="he-IL" sz="2000" dirty="0">
                <a:latin typeface="Times New Roman" panose="02020603050405020304" pitchFamily="18" charset="0"/>
                <a:ea typeface="Times New Roman" panose="02020603050405020304" pitchFamily="18" charset="0"/>
              </a:rPr>
              <a:t> (שכר העבודה עלה)</a:t>
            </a:r>
            <a:r>
              <a:rPr lang="he-IL" sz="2000" b="1" dirty="0"/>
              <a:t>.</a:t>
            </a:r>
          </a:p>
        </p:txBody>
      </p:sp>
      <mc:AlternateContent xmlns:mc="http://schemas.openxmlformats.org/markup-compatibility/2006" xmlns:a14="http://schemas.microsoft.com/office/drawing/2010/main">
        <mc:Choice Requires="a14">
          <p:sp>
            <p:nvSpPr>
              <p:cNvPr id="23" name="מציין מיקום תוכן 10"/>
              <p:cNvSpPr txBox="1">
                <a:spLocks/>
              </p:cNvSpPr>
              <p:nvPr/>
            </p:nvSpPr>
            <p:spPr>
              <a:xfrm>
                <a:off x="1785478" y="809508"/>
                <a:ext cx="3290264" cy="1337666"/>
              </a:xfrm>
              <a:prstGeom prst="rect">
                <a:avLst/>
              </a:prstGeom>
              <a:solidFill>
                <a:srgbClr val="CCFFFF"/>
              </a:solidFill>
            </p:spPr>
            <p:txBody>
              <a:bodyPr vert="horz" lIns="91440" tIns="45720" rIns="91440" bIns="45720" rtlCol="1">
                <a:noAutofit/>
              </a:bodyPr>
              <a:lstStyle/>
              <a:p>
                <a:pPr marL="319950" algn="ctr" rtl="0">
                  <a:spcBef>
                    <a:spcPct val="20000"/>
                  </a:spcBef>
                  <a:defRPr/>
                </a:pPr>
                <a14:m>
                  <m:oMathPara xmlns:m="http://schemas.openxmlformats.org/officeDocument/2006/math">
                    <m:oMathParaPr>
                      <m:jc m:val="centerGroup"/>
                    </m:oMathParaPr>
                    <m:oMath xmlns:m="http://schemas.openxmlformats.org/officeDocument/2006/math">
                      <m:r>
                        <m:rPr>
                          <m:sty m:val="p"/>
                        </m:rPr>
                        <a:rPr lang="he-IL" sz="3600">
                          <a:latin typeface="Cambria Math" panose="02040503050406030204" pitchFamily="18" charset="0"/>
                        </a:rPr>
                        <m:t>MC</m:t>
                      </m:r>
                      <m:r>
                        <a:rPr lang="he-IL" sz="3600">
                          <a:latin typeface="Cambria Math" panose="02040503050406030204" pitchFamily="18" charset="0"/>
                        </a:rPr>
                        <m:t>(</m:t>
                      </m:r>
                      <m:r>
                        <m:rPr>
                          <m:sty m:val="p"/>
                        </m:rPr>
                        <a:rPr lang="he-IL" sz="3600">
                          <a:latin typeface="Cambria Math" panose="02040503050406030204" pitchFamily="18" charset="0"/>
                        </a:rPr>
                        <m:t>X</m:t>
                      </m:r>
                      <m:r>
                        <a:rPr lang="he-IL" sz="3600">
                          <a:latin typeface="Cambria Math" panose="02040503050406030204" pitchFamily="18" charset="0"/>
                        </a:rPr>
                        <m:t>)=</m:t>
                      </m:r>
                      <m:f>
                        <m:fPr>
                          <m:ctrlPr>
                            <a:rPr lang="he-IL" sz="3600" i="1">
                              <a:latin typeface="Cambria Math" panose="02040503050406030204" pitchFamily="18" charset="0"/>
                            </a:rPr>
                          </m:ctrlPr>
                        </m:fPr>
                        <m:num>
                          <m:sSub>
                            <m:sSubPr>
                              <m:ctrlPr>
                                <a:rPr lang="he-IL" sz="3600" i="1">
                                  <a:latin typeface="Cambria Math" panose="02040503050406030204" pitchFamily="18" charset="0"/>
                                </a:rPr>
                              </m:ctrlPr>
                            </m:sSubPr>
                            <m:e>
                              <m:r>
                                <m:rPr>
                                  <m:sty m:val="p"/>
                                </m:rPr>
                                <a:rPr lang="he-IL" sz="3600">
                                  <a:latin typeface="Cambria Math" panose="02040503050406030204" pitchFamily="18" charset="0"/>
                                </a:rPr>
                                <m:t>P</m:t>
                              </m:r>
                            </m:e>
                            <m:sub>
                              <m:r>
                                <m:rPr>
                                  <m:sty m:val="p"/>
                                </m:rPr>
                                <a:rPr lang="he-IL" sz="3600">
                                  <a:latin typeface="Cambria Math" panose="02040503050406030204" pitchFamily="18" charset="0"/>
                                </a:rPr>
                                <m:t>L</m:t>
                              </m:r>
                            </m:sub>
                          </m:sSub>
                        </m:num>
                        <m:den>
                          <m:r>
                            <m:rPr>
                              <m:sty m:val="p"/>
                            </m:rPr>
                            <a:rPr lang="he-IL" sz="3600">
                              <a:latin typeface="Cambria Math" panose="02040503050406030204" pitchFamily="18" charset="0"/>
                            </a:rPr>
                            <m:t>M</m:t>
                          </m:r>
                          <m:sSub>
                            <m:sSubPr>
                              <m:ctrlPr>
                                <a:rPr lang="he-IL" sz="3600" i="1">
                                  <a:latin typeface="Cambria Math" panose="02040503050406030204" pitchFamily="18" charset="0"/>
                                </a:rPr>
                              </m:ctrlPr>
                            </m:sSubPr>
                            <m:e>
                              <m:r>
                                <m:rPr>
                                  <m:sty m:val="p"/>
                                </m:rPr>
                                <a:rPr lang="he-IL" sz="3600">
                                  <a:latin typeface="Cambria Math" panose="02040503050406030204" pitchFamily="18" charset="0"/>
                                </a:rPr>
                                <m:t>P</m:t>
                              </m:r>
                            </m:e>
                            <m:sub>
                              <m:r>
                                <m:rPr>
                                  <m:sty m:val="p"/>
                                </m:rPr>
                                <a:rPr lang="he-IL" sz="3600">
                                  <a:latin typeface="Cambria Math" panose="02040503050406030204" pitchFamily="18" charset="0"/>
                                </a:rPr>
                                <m:t>L</m:t>
                              </m:r>
                            </m:sub>
                          </m:sSub>
                        </m:den>
                      </m:f>
                    </m:oMath>
                  </m:oMathPara>
                </a14:m>
                <a:endParaRPr lang="he-IL" sz="3600" b="1" dirty="0"/>
              </a:p>
            </p:txBody>
          </p:sp>
        </mc:Choice>
        <mc:Fallback xmlns="">
          <p:sp>
            <p:nvSpPr>
              <p:cNvPr id="23" name="מציין מיקום תוכן 10"/>
              <p:cNvSpPr txBox="1">
                <a:spLocks noRot="1" noChangeAspect="1" noMove="1" noResize="1" noEditPoints="1" noAdjustHandles="1" noChangeArrowheads="1" noChangeShapeType="1" noTextEdit="1"/>
              </p:cNvSpPr>
              <p:nvPr/>
            </p:nvSpPr>
            <p:spPr>
              <a:xfrm>
                <a:off x="1785478" y="809508"/>
                <a:ext cx="3290264" cy="1337666"/>
              </a:xfrm>
              <a:prstGeom prst="rect">
                <a:avLst/>
              </a:prstGeom>
              <a:blipFill>
                <a:blip r:embed="rId2"/>
                <a:stretch>
                  <a:fillRect/>
                </a:stretch>
              </a:blipFill>
            </p:spPr>
            <p:txBody>
              <a:bodyPr/>
              <a:lstStyle/>
              <a:p>
                <a:r>
                  <a:rPr lang="en-IL">
                    <a:noFill/>
                  </a:rPr>
                  <a:t> </a:t>
                </a:r>
              </a:p>
            </p:txBody>
          </p:sp>
        </mc:Fallback>
      </mc:AlternateContent>
      <p:sp>
        <p:nvSpPr>
          <p:cNvPr id="28" name="TextBox 27">
            <a:extLst>
              <a:ext uri="{FF2B5EF4-FFF2-40B4-BE49-F238E27FC236}">
                <a16:creationId xmlns:a16="http://schemas.microsoft.com/office/drawing/2014/main" id="{8C369D00-2AF4-4EF9-A755-82A7F880D94E}"/>
              </a:ext>
            </a:extLst>
          </p:cNvPr>
          <p:cNvSpPr txBox="1"/>
          <p:nvPr/>
        </p:nvSpPr>
        <p:spPr>
          <a:xfrm>
            <a:off x="5189413" y="6272910"/>
            <a:ext cx="361749" cy="300082"/>
          </a:xfrm>
          <a:prstGeom prst="rect">
            <a:avLst/>
          </a:prstGeom>
          <a:noFill/>
        </p:spPr>
        <p:txBody>
          <a:bodyPr wrap="square" rtlCol="0">
            <a:spAutoFit/>
          </a:bodyPr>
          <a:lstStyle/>
          <a:p>
            <a:pPr algn="l" defTabSz="685800" rtl="0"/>
            <a:r>
              <a:rPr lang="en-US" sz="1350" dirty="0">
                <a:solidFill>
                  <a:prstClr val="black"/>
                </a:solidFill>
                <a:latin typeface="Perpetua"/>
              </a:rPr>
              <a:t>X</a:t>
            </a:r>
            <a:r>
              <a:rPr lang="he-IL" sz="1350" dirty="0">
                <a:solidFill>
                  <a:prstClr val="black"/>
                </a:solidFill>
                <a:latin typeface="Perpetua"/>
                <a:cs typeface="Aharoni" panose="02010803020104030203" pitchFamily="2" charset="-79"/>
              </a:rPr>
              <a:t>1</a:t>
            </a:r>
            <a:endParaRPr lang="x-none" sz="1350" dirty="0">
              <a:solidFill>
                <a:prstClr val="black"/>
              </a:solidFill>
              <a:latin typeface="Perpetua"/>
            </a:endParaRPr>
          </a:p>
        </p:txBody>
      </p:sp>
      <p:sp>
        <p:nvSpPr>
          <p:cNvPr id="29" name="TextBox 28">
            <a:extLst>
              <a:ext uri="{FF2B5EF4-FFF2-40B4-BE49-F238E27FC236}">
                <a16:creationId xmlns:a16="http://schemas.microsoft.com/office/drawing/2014/main" id="{4A8A8657-3F72-493F-AFBA-9141A66BD5D1}"/>
              </a:ext>
            </a:extLst>
          </p:cNvPr>
          <p:cNvSpPr txBox="1"/>
          <p:nvPr/>
        </p:nvSpPr>
        <p:spPr>
          <a:xfrm>
            <a:off x="5656371" y="3675079"/>
            <a:ext cx="1371600" cy="300082"/>
          </a:xfrm>
          <a:prstGeom prst="rect">
            <a:avLst/>
          </a:prstGeom>
          <a:noFill/>
          <a:ln>
            <a:noFill/>
          </a:ln>
        </p:spPr>
        <p:txBody>
          <a:bodyPr wrap="square" rtlCol="0">
            <a:spAutoFit/>
          </a:bodyPr>
          <a:lstStyle/>
          <a:p>
            <a:pPr defTabSz="685800"/>
            <a:r>
              <a:rPr lang="he-IL" sz="1350" dirty="0">
                <a:latin typeface="Perpetua"/>
                <a:cs typeface="Aharoni" panose="02010803020104030203" pitchFamily="2" charset="-79"/>
              </a:rPr>
              <a:t>היצע מקורי</a:t>
            </a:r>
            <a:endParaRPr lang="x-none" sz="1350" dirty="0">
              <a:latin typeface="Perpetua"/>
            </a:endParaRPr>
          </a:p>
        </p:txBody>
      </p:sp>
      <p:sp>
        <p:nvSpPr>
          <p:cNvPr id="32" name="TextBox 31">
            <a:extLst>
              <a:ext uri="{FF2B5EF4-FFF2-40B4-BE49-F238E27FC236}">
                <a16:creationId xmlns:a16="http://schemas.microsoft.com/office/drawing/2014/main" id="{124DE998-8207-47D5-AB67-B42673594204}"/>
              </a:ext>
            </a:extLst>
          </p:cNvPr>
          <p:cNvSpPr txBox="1"/>
          <p:nvPr/>
        </p:nvSpPr>
        <p:spPr>
          <a:xfrm>
            <a:off x="4503612" y="3032049"/>
            <a:ext cx="1371600" cy="300082"/>
          </a:xfrm>
          <a:prstGeom prst="rect">
            <a:avLst/>
          </a:prstGeom>
          <a:noFill/>
        </p:spPr>
        <p:txBody>
          <a:bodyPr wrap="square" rtlCol="0">
            <a:spAutoFit/>
          </a:bodyPr>
          <a:lstStyle/>
          <a:p>
            <a:pPr defTabSz="685800"/>
            <a:r>
              <a:rPr lang="he-IL" sz="1350" dirty="0">
                <a:solidFill>
                  <a:srgbClr val="0070C0"/>
                </a:solidFill>
                <a:latin typeface="Perpetua"/>
                <a:cs typeface="Aharoni" panose="02010803020104030203" pitchFamily="2" charset="-79"/>
              </a:rPr>
              <a:t>היצע חדש</a:t>
            </a:r>
            <a:endParaRPr lang="x-none" sz="1350" dirty="0">
              <a:solidFill>
                <a:srgbClr val="0070C0"/>
              </a:solidFill>
              <a:latin typeface="Perpetua"/>
            </a:endParaRPr>
          </a:p>
        </p:txBody>
      </p:sp>
      <p:sp>
        <p:nvSpPr>
          <p:cNvPr id="34" name="TextBox 33">
            <a:extLst>
              <a:ext uri="{FF2B5EF4-FFF2-40B4-BE49-F238E27FC236}">
                <a16:creationId xmlns:a16="http://schemas.microsoft.com/office/drawing/2014/main" id="{87A732FF-22AF-438E-8F57-2BD3AC8CEF0C}"/>
              </a:ext>
            </a:extLst>
          </p:cNvPr>
          <p:cNvSpPr txBox="1"/>
          <p:nvPr/>
        </p:nvSpPr>
        <p:spPr>
          <a:xfrm>
            <a:off x="4246550" y="6315455"/>
            <a:ext cx="361749" cy="300082"/>
          </a:xfrm>
          <a:prstGeom prst="rect">
            <a:avLst/>
          </a:prstGeom>
          <a:noFill/>
        </p:spPr>
        <p:txBody>
          <a:bodyPr wrap="square" rtlCol="0">
            <a:spAutoFit/>
          </a:bodyPr>
          <a:lstStyle/>
          <a:p>
            <a:pPr algn="l" defTabSz="685800" rtl="0"/>
            <a:r>
              <a:rPr lang="en-US" sz="1350" dirty="0">
                <a:solidFill>
                  <a:prstClr val="black"/>
                </a:solidFill>
                <a:latin typeface="Perpetua"/>
              </a:rPr>
              <a:t>X</a:t>
            </a:r>
            <a:r>
              <a:rPr lang="he-IL" sz="1350" dirty="0">
                <a:solidFill>
                  <a:prstClr val="black"/>
                </a:solidFill>
                <a:latin typeface="Perpetua"/>
                <a:cs typeface="Aharoni" panose="02010803020104030203" pitchFamily="2" charset="-79"/>
              </a:rPr>
              <a:t>2</a:t>
            </a:r>
            <a:endParaRPr lang="x-none" sz="1350" dirty="0">
              <a:solidFill>
                <a:prstClr val="black"/>
              </a:solidFill>
              <a:latin typeface="Perpetua"/>
            </a:endParaRPr>
          </a:p>
        </p:txBody>
      </p:sp>
      <p:sp>
        <p:nvSpPr>
          <p:cNvPr id="37" name="TextBox 36">
            <a:extLst>
              <a:ext uri="{FF2B5EF4-FFF2-40B4-BE49-F238E27FC236}">
                <a16:creationId xmlns:a16="http://schemas.microsoft.com/office/drawing/2014/main" id="{EF20F2B2-1028-4DE3-A055-066213F50054}"/>
              </a:ext>
            </a:extLst>
          </p:cNvPr>
          <p:cNvSpPr txBox="1"/>
          <p:nvPr/>
        </p:nvSpPr>
        <p:spPr>
          <a:xfrm>
            <a:off x="2278357" y="4781259"/>
            <a:ext cx="361749" cy="300082"/>
          </a:xfrm>
          <a:prstGeom prst="rect">
            <a:avLst/>
          </a:prstGeom>
          <a:noFill/>
        </p:spPr>
        <p:txBody>
          <a:bodyPr wrap="square" rtlCol="0">
            <a:spAutoFit/>
          </a:bodyPr>
          <a:lstStyle/>
          <a:p>
            <a:pPr algn="l" defTabSz="685800" rtl="0"/>
            <a:r>
              <a:rPr lang="en-US" sz="1350" dirty="0">
                <a:solidFill>
                  <a:prstClr val="black"/>
                </a:solidFill>
                <a:latin typeface="Perpetua"/>
              </a:rPr>
              <a:t>P</a:t>
            </a:r>
            <a:endParaRPr lang="x-none" sz="1350" dirty="0">
              <a:solidFill>
                <a:prstClr val="black"/>
              </a:solidFill>
              <a:latin typeface="Perpetu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barn(inVertical)">
                                      <p:cBhvr>
                                        <p:cTn id="15" dur="500"/>
                                        <p:tgtEl>
                                          <p:spTgt spid="31"/>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barn(inVertical)">
                                      <p:cBhvr>
                                        <p:cTn id="18" dur="500"/>
                                        <p:tgtEl>
                                          <p:spTgt spid="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6"/>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barn(inVertical)">
                                      <p:cBhvr>
                                        <p:cTn id="3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animBg="1"/>
      <p:bldP spid="20" grpId="0"/>
      <p:bldP spid="21" grpId="0" animBg="1"/>
      <p:bldP spid="23" grpId="0" animBg="1"/>
      <p:bldP spid="32" grpId="0"/>
      <p:bldP spid="3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853195" y="176420"/>
            <a:ext cx="2197596" cy="1143000"/>
          </a:xfrm>
        </p:spPr>
        <p:txBody>
          <a:bodyPr>
            <a:normAutofit/>
          </a:bodyPr>
          <a:lstStyle/>
          <a:p>
            <a:pPr algn="r"/>
            <a:r>
              <a:rPr lang="he-IL" dirty="0">
                <a:solidFill>
                  <a:schemeClr val="tx2">
                    <a:lumMod val="75000"/>
                  </a:schemeClr>
                </a:solidFill>
              </a:rPr>
              <a:t>שאלה 3</a:t>
            </a:r>
          </a:p>
        </p:txBody>
      </p:sp>
      <p:sp>
        <p:nvSpPr>
          <p:cNvPr id="3" name="מציין מיקום תוכן 2"/>
          <p:cNvSpPr>
            <a:spLocks noGrp="1"/>
          </p:cNvSpPr>
          <p:nvPr>
            <p:ph idx="1"/>
          </p:nvPr>
        </p:nvSpPr>
        <p:spPr>
          <a:xfrm>
            <a:off x="2135560" y="2924944"/>
            <a:ext cx="9173142" cy="3144982"/>
          </a:xfrm>
        </p:spPr>
        <p:txBody>
          <a:bodyPr>
            <a:normAutofit fontScale="85000" lnSpcReduction="20000"/>
          </a:bodyPr>
          <a:lstStyle/>
          <a:p>
            <a:pPr marL="0" indent="0">
              <a:buNone/>
            </a:pPr>
            <a:endParaRPr lang="he-IL" dirty="0"/>
          </a:p>
          <a:p>
            <a:pPr lvl="1" indent="0">
              <a:lnSpc>
                <a:spcPct val="120000"/>
              </a:lnSpc>
              <a:buNone/>
            </a:pPr>
            <a:r>
              <a:rPr lang="he-IL" sz="3200" dirty="0"/>
              <a:t>מהנוסחה קל לראות שאם </a:t>
            </a:r>
            <a:r>
              <a:rPr lang="en-US" sz="3200" dirty="0"/>
              <a:t>MP</a:t>
            </a:r>
            <a:r>
              <a:rPr lang="en-US" sz="3200" baseline="-25000" dirty="0"/>
              <a:t>L</a:t>
            </a:r>
            <a:r>
              <a:rPr lang="he-IL" sz="3200" dirty="0"/>
              <a:t> עולה אז עקומת </a:t>
            </a:r>
            <a:r>
              <a:rPr lang="en-US" sz="3200" dirty="0"/>
              <a:t>MC(X)</a:t>
            </a:r>
            <a:r>
              <a:rPr lang="he-IL" sz="3200" dirty="0"/>
              <a:t> </a:t>
            </a:r>
            <a:r>
              <a:rPr lang="he-IL" sz="3200" b="1" dirty="0"/>
              <a:t>יורדת</a:t>
            </a:r>
            <a:r>
              <a:rPr lang="he-IL" sz="3200" dirty="0"/>
              <a:t> לכל תפוקה </a:t>
            </a:r>
            <a:r>
              <a:rPr lang="en-US" sz="3200" dirty="0"/>
              <a:t>X</a:t>
            </a:r>
            <a:r>
              <a:rPr lang="he-IL" sz="3200" dirty="0"/>
              <a:t>.</a:t>
            </a:r>
          </a:p>
          <a:p>
            <a:pPr lvl="1" indent="0">
              <a:lnSpc>
                <a:spcPct val="120000"/>
              </a:lnSpc>
              <a:buNone/>
            </a:pPr>
            <a:r>
              <a:rPr lang="he-IL" sz="3200" dirty="0"/>
              <a:t>כלומר </a:t>
            </a:r>
            <a:r>
              <a:rPr lang="he-IL" sz="3200" b="1" dirty="0"/>
              <a:t>ההיצע מתרחב</a:t>
            </a:r>
            <a:r>
              <a:rPr lang="he-IL" sz="3200" dirty="0"/>
              <a:t>– בכל מחיר היצרן מוכן כעת להציע יותר יחידות של </a:t>
            </a:r>
            <a:r>
              <a:rPr lang="en-US" sz="3200" dirty="0"/>
              <a:t>X</a:t>
            </a:r>
            <a:r>
              <a:rPr lang="he-IL" sz="3200" dirty="0"/>
              <a:t>.</a:t>
            </a:r>
          </a:p>
          <a:p>
            <a:pPr lvl="1" indent="0">
              <a:lnSpc>
                <a:spcPct val="120000"/>
              </a:lnSpc>
              <a:buNone/>
            </a:pPr>
            <a:r>
              <a:rPr lang="he-IL" sz="3200" u="sng" dirty="0"/>
              <a:t>האינטואיציה</a:t>
            </a:r>
            <a:r>
              <a:rPr lang="he-IL" sz="3200" dirty="0"/>
              <a:t> –</a:t>
            </a:r>
            <a:r>
              <a:rPr lang="he-IL" sz="3200" dirty="0" err="1"/>
              <a:t> זו</a:t>
            </a:r>
            <a:r>
              <a:rPr lang="he-IL" sz="3200" dirty="0"/>
              <a:t>ל יותר לייצר! צריך פחות עובדים. לכן היצרן דורש מחיר נמוך יותר עבור כל תפוקה </a:t>
            </a:r>
            <a:r>
              <a:rPr lang="en-US" sz="3200" dirty="0"/>
              <a:t>X</a:t>
            </a:r>
          </a:p>
          <a:p>
            <a:pPr lvl="1">
              <a:buNone/>
            </a:pPr>
            <a:endParaRPr lang="he-IL" baseline="-25000" dirty="0"/>
          </a:p>
          <a:p>
            <a:pPr indent="0">
              <a:buNone/>
            </a:pPr>
            <a:endParaRPr lang="he-IL" dirty="0"/>
          </a:p>
          <a:p>
            <a:pPr indent="0">
              <a:buNone/>
            </a:pPr>
            <a:endParaRPr lang="he-IL" dirty="0"/>
          </a:p>
          <a:p>
            <a:pPr indent="0">
              <a:buNone/>
            </a:pPr>
            <a:endParaRPr lang="he-IL" dirty="0"/>
          </a:p>
        </p:txBody>
      </p:sp>
      <p:sp>
        <p:nvSpPr>
          <p:cNvPr id="5" name="מציין מיקום של כותרת תחתונה 4"/>
          <p:cNvSpPr>
            <a:spLocks noGrp="1"/>
          </p:cNvSpPr>
          <p:nvPr>
            <p:ph type="ftr" sz="quarter" idx="11"/>
          </p:nvPr>
        </p:nvSpPr>
        <p:spPr/>
        <p:txBody>
          <a:bodyPr/>
          <a:lstStyle/>
          <a:p>
            <a:r>
              <a:rPr lang="he-IL" dirty="0"/>
              <a:t>מבוא למיקרו כלכלה</a:t>
            </a:r>
          </a:p>
        </p:txBody>
      </p:sp>
      <mc:AlternateContent xmlns:mc="http://schemas.openxmlformats.org/markup-compatibility/2006" xmlns:a14="http://schemas.microsoft.com/office/drawing/2010/main">
        <mc:Choice Requires="a14">
          <p:sp>
            <p:nvSpPr>
              <p:cNvPr id="7" name="מציין מיקום תוכן 10"/>
              <p:cNvSpPr txBox="1">
                <a:spLocks/>
              </p:cNvSpPr>
              <p:nvPr/>
            </p:nvSpPr>
            <p:spPr>
              <a:xfrm>
                <a:off x="3575720" y="1114494"/>
                <a:ext cx="3744416" cy="1352762"/>
              </a:xfrm>
              <a:prstGeom prst="rect">
                <a:avLst/>
              </a:prstGeom>
              <a:solidFill>
                <a:srgbClr val="CCFFFF"/>
              </a:solidFill>
            </p:spPr>
            <p:txBody>
              <a:bodyPr vert="horz" lIns="91440" tIns="45720" rIns="91440" bIns="45720" rtlCol="1">
                <a:noAutofit/>
              </a:bodyPr>
              <a:lstStyle/>
              <a:p>
                <a:pPr marL="319950" algn="ctr" rtl="0">
                  <a:spcBef>
                    <a:spcPct val="20000"/>
                  </a:spcBef>
                  <a:defRPr/>
                </a:pPr>
                <a14:m>
                  <m:oMathPara xmlns:m="http://schemas.openxmlformats.org/officeDocument/2006/math">
                    <m:oMathParaPr>
                      <m:jc m:val="centerGroup"/>
                    </m:oMathParaPr>
                    <m:oMath xmlns:m="http://schemas.openxmlformats.org/officeDocument/2006/math">
                      <m:r>
                        <m:rPr>
                          <m:sty m:val="p"/>
                        </m:rPr>
                        <a:rPr lang="he-IL" sz="3600">
                          <a:latin typeface="Cambria Math" panose="02040503050406030204" pitchFamily="18" charset="0"/>
                        </a:rPr>
                        <m:t>MC</m:t>
                      </m:r>
                      <m:r>
                        <a:rPr lang="he-IL" sz="3600">
                          <a:latin typeface="Cambria Math" panose="02040503050406030204" pitchFamily="18" charset="0"/>
                        </a:rPr>
                        <m:t>(</m:t>
                      </m:r>
                      <m:r>
                        <m:rPr>
                          <m:sty m:val="p"/>
                        </m:rPr>
                        <a:rPr lang="he-IL" sz="3600">
                          <a:latin typeface="Cambria Math" panose="02040503050406030204" pitchFamily="18" charset="0"/>
                        </a:rPr>
                        <m:t>X</m:t>
                      </m:r>
                      <m:r>
                        <a:rPr lang="he-IL" sz="3600">
                          <a:latin typeface="Cambria Math" panose="02040503050406030204" pitchFamily="18" charset="0"/>
                        </a:rPr>
                        <m:t>)=</m:t>
                      </m:r>
                      <m:f>
                        <m:fPr>
                          <m:ctrlPr>
                            <a:rPr lang="he-IL" sz="3600" i="1">
                              <a:latin typeface="Cambria Math" panose="02040503050406030204" pitchFamily="18" charset="0"/>
                            </a:rPr>
                          </m:ctrlPr>
                        </m:fPr>
                        <m:num>
                          <m:sSub>
                            <m:sSubPr>
                              <m:ctrlPr>
                                <a:rPr lang="he-IL" sz="3600" i="1">
                                  <a:latin typeface="Cambria Math" panose="02040503050406030204" pitchFamily="18" charset="0"/>
                                </a:rPr>
                              </m:ctrlPr>
                            </m:sSubPr>
                            <m:e>
                              <m:r>
                                <m:rPr>
                                  <m:sty m:val="p"/>
                                </m:rPr>
                                <a:rPr lang="he-IL" sz="3600">
                                  <a:latin typeface="Cambria Math" panose="02040503050406030204" pitchFamily="18" charset="0"/>
                                </a:rPr>
                                <m:t>P</m:t>
                              </m:r>
                            </m:e>
                            <m:sub>
                              <m:r>
                                <m:rPr>
                                  <m:sty m:val="p"/>
                                </m:rPr>
                                <a:rPr lang="he-IL" sz="3600">
                                  <a:latin typeface="Cambria Math" panose="02040503050406030204" pitchFamily="18" charset="0"/>
                                </a:rPr>
                                <m:t>L</m:t>
                              </m:r>
                            </m:sub>
                          </m:sSub>
                        </m:num>
                        <m:den>
                          <m:r>
                            <m:rPr>
                              <m:sty m:val="p"/>
                            </m:rPr>
                            <a:rPr lang="he-IL" sz="3600">
                              <a:latin typeface="Cambria Math" panose="02040503050406030204" pitchFamily="18" charset="0"/>
                            </a:rPr>
                            <m:t>M</m:t>
                          </m:r>
                          <m:sSub>
                            <m:sSubPr>
                              <m:ctrlPr>
                                <a:rPr lang="he-IL" sz="3600" i="1">
                                  <a:latin typeface="Cambria Math" panose="02040503050406030204" pitchFamily="18" charset="0"/>
                                </a:rPr>
                              </m:ctrlPr>
                            </m:sSubPr>
                            <m:e>
                              <m:r>
                                <m:rPr>
                                  <m:sty m:val="p"/>
                                </m:rPr>
                                <a:rPr lang="he-IL" sz="3600">
                                  <a:latin typeface="Cambria Math" panose="02040503050406030204" pitchFamily="18" charset="0"/>
                                </a:rPr>
                                <m:t>P</m:t>
                              </m:r>
                            </m:e>
                            <m:sub>
                              <m:r>
                                <m:rPr>
                                  <m:sty m:val="p"/>
                                </m:rPr>
                                <a:rPr lang="he-IL" sz="3600">
                                  <a:latin typeface="Cambria Math" panose="02040503050406030204" pitchFamily="18" charset="0"/>
                                </a:rPr>
                                <m:t>L</m:t>
                              </m:r>
                            </m:sub>
                          </m:sSub>
                        </m:den>
                      </m:f>
                    </m:oMath>
                  </m:oMathPara>
                </a14:m>
                <a:endParaRPr lang="he-IL" sz="3600" b="1" dirty="0"/>
              </a:p>
            </p:txBody>
          </p:sp>
        </mc:Choice>
        <mc:Fallback xmlns="">
          <p:sp>
            <p:nvSpPr>
              <p:cNvPr id="7" name="מציין מיקום תוכן 10"/>
              <p:cNvSpPr txBox="1">
                <a:spLocks noRot="1" noChangeAspect="1" noMove="1" noResize="1" noEditPoints="1" noAdjustHandles="1" noChangeArrowheads="1" noChangeShapeType="1" noTextEdit="1"/>
              </p:cNvSpPr>
              <p:nvPr/>
            </p:nvSpPr>
            <p:spPr>
              <a:xfrm>
                <a:off x="3575720" y="1114494"/>
                <a:ext cx="3744416" cy="1352762"/>
              </a:xfrm>
              <a:prstGeom prst="rect">
                <a:avLst/>
              </a:prstGeom>
              <a:blipFill>
                <a:blip r:embed="rId2"/>
                <a:stretch>
                  <a:fillRect/>
                </a:stretch>
              </a:blipFill>
            </p:spPr>
            <p:txBody>
              <a:bodyPr/>
              <a:lstStyle/>
              <a:p>
                <a:r>
                  <a:rPr lang="en-IL">
                    <a:noFill/>
                  </a:rPr>
                  <a:t> </a:t>
                </a:r>
              </a:p>
            </p:txBody>
          </p:sp>
        </mc:Fallback>
      </mc:AlternateContent>
      <p:sp>
        <p:nvSpPr>
          <p:cNvPr id="4" name="מלבן 3"/>
          <p:cNvSpPr/>
          <p:nvPr/>
        </p:nvSpPr>
        <p:spPr>
          <a:xfrm>
            <a:off x="1919536" y="381346"/>
            <a:ext cx="7128792" cy="733149"/>
          </a:xfrm>
          <a:prstGeom prst="rect">
            <a:avLst/>
          </a:prstGeom>
        </p:spPr>
        <p:txBody>
          <a:bodyPr wrap="square">
            <a:spAutoFit/>
          </a:bodyPr>
          <a:lstStyle/>
          <a:p>
            <a:pPr lvl="1">
              <a:lnSpc>
                <a:spcPct val="120000"/>
              </a:lnSpc>
              <a:buNone/>
            </a:pPr>
            <a:r>
              <a:rPr lang="he-IL" dirty="0"/>
              <a:t>ב) חל שיפור טכנולוגי שגרם לכך שהתפוקה השולית של עובד גדלה ב-</a:t>
            </a:r>
            <a:r>
              <a:rPr lang="en-US" dirty="0"/>
              <a:t>A</a:t>
            </a:r>
            <a:r>
              <a:rPr lang="he-IL" dirty="0"/>
              <a:t> יחידות.</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703837" y="83852"/>
            <a:ext cx="2270448" cy="1143000"/>
          </a:xfrm>
        </p:spPr>
        <p:txBody>
          <a:bodyPr>
            <a:normAutofit/>
          </a:bodyPr>
          <a:lstStyle/>
          <a:p>
            <a:pPr algn="r"/>
            <a:r>
              <a:rPr lang="he-IL" b="1" dirty="0">
                <a:solidFill>
                  <a:schemeClr val="tx2">
                    <a:lumMod val="75000"/>
                  </a:schemeClr>
                </a:solidFill>
              </a:rPr>
              <a:t>שאלה 3</a:t>
            </a:r>
          </a:p>
        </p:txBody>
      </p:sp>
      <p:sp>
        <p:nvSpPr>
          <p:cNvPr id="5" name="מציין מיקום של כותרת תחתונה 4"/>
          <p:cNvSpPr>
            <a:spLocks noGrp="1"/>
          </p:cNvSpPr>
          <p:nvPr>
            <p:ph type="ftr" sz="quarter" idx="11"/>
          </p:nvPr>
        </p:nvSpPr>
        <p:spPr/>
        <p:txBody>
          <a:bodyPr/>
          <a:lstStyle/>
          <a:p>
            <a:r>
              <a:rPr lang="he-IL" dirty="0"/>
              <a:t>מבוא למיקרו כלכלה</a:t>
            </a:r>
          </a:p>
        </p:txBody>
      </p:sp>
      <p:grpSp>
        <p:nvGrpSpPr>
          <p:cNvPr id="6" name="קבוצה 13"/>
          <p:cNvGrpSpPr/>
          <p:nvPr/>
        </p:nvGrpSpPr>
        <p:grpSpPr>
          <a:xfrm>
            <a:off x="2666976" y="2299123"/>
            <a:ext cx="6141822" cy="3750495"/>
            <a:chOff x="641321" y="3357562"/>
            <a:chExt cx="5288001" cy="2357454"/>
          </a:xfrm>
        </p:grpSpPr>
        <p:cxnSp>
          <p:nvCxnSpPr>
            <p:cNvPr id="11" name="מחבר חץ ישר 10"/>
            <p:cNvCxnSpPr/>
            <p:nvPr/>
          </p:nvCxnSpPr>
          <p:spPr>
            <a:xfrm rot="5400000" flipH="1" flipV="1">
              <a:off x="-536612" y="4535495"/>
              <a:ext cx="2357454"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מחבר חץ ישר 12"/>
            <p:cNvCxnSpPr/>
            <p:nvPr/>
          </p:nvCxnSpPr>
          <p:spPr>
            <a:xfrm flipV="1">
              <a:off x="642910" y="5715016"/>
              <a:ext cx="5286412"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7" name="TextBox 16"/>
          <p:cNvSpPr txBox="1"/>
          <p:nvPr/>
        </p:nvSpPr>
        <p:spPr>
          <a:xfrm>
            <a:off x="6231768" y="3143248"/>
            <a:ext cx="369012" cy="369332"/>
          </a:xfrm>
          <a:prstGeom prst="rect">
            <a:avLst/>
          </a:prstGeom>
          <a:noFill/>
        </p:spPr>
        <p:txBody>
          <a:bodyPr wrap="none" rtlCol="1">
            <a:spAutoFit/>
          </a:bodyPr>
          <a:lstStyle/>
          <a:p>
            <a:r>
              <a:rPr lang="en-US" dirty="0">
                <a:solidFill>
                  <a:srgbClr val="0070C0"/>
                </a:solidFill>
              </a:rPr>
              <a:t>S</a:t>
            </a:r>
            <a:r>
              <a:rPr lang="en-US" baseline="-25000" dirty="0">
                <a:solidFill>
                  <a:srgbClr val="0070C0"/>
                </a:solidFill>
              </a:rPr>
              <a:t>1</a:t>
            </a:r>
            <a:endParaRPr lang="he-IL" baseline="-25000" dirty="0">
              <a:solidFill>
                <a:srgbClr val="0070C0"/>
              </a:solidFill>
            </a:endParaRPr>
          </a:p>
        </p:txBody>
      </p:sp>
      <p:sp>
        <p:nvSpPr>
          <p:cNvPr id="18" name="TextBox 17"/>
          <p:cNvSpPr txBox="1"/>
          <p:nvPr/>
        </p:nvSpPr>
        <p:spPr>
          <a:xfrm>
            <a:off x="8669468" y="6000768"/>
            <a:ext cx="284052" cy="369332"/>
          </a:xfrm>
          <a:prstGeom prst="rect">
            <a:avLst/>
          </a:prstGeom>
          <a:noFill/>
        </p:spPr>
        <p:txBody>
          <a:bodyPr wrap="none" rtlCol="1">
            <a:spAutoFit/>
          </a:bodyPr>
          <a:lstStyle/>
          <a:p>
            <a:r>
              <a:rPr lang="en-US" dirty="0"/>
              <a:t>x</a:t>
            </a:r>
            <a:endParaRPr lang="he-IL" dirty="0"/>
          </a:p>
        </p:txBody>
      </p:sp>
      <p:sp>
        <p:nvSpPr>
          <p:cNvPr id="19" name="TextBox 18"/>
          <p:cNvSpPr txBox="1"/>
          <p:nvPr/>
        </p:nvSpPr>
        <p:spPr>
          <a:xfrm>
            <a:off x="2024034" y="2362182"/>
            <a:ext cx="505267" cy="369332"/>
          </a:xfrm>
          <a:prstGeom prst="rect">
            <a:avLst/>
          </a:prstGeom>
          <a:noFill/>
        </p:spPr>
        <p:txBody>
          <a:bodyPr wrap="none" rtlCol="1">
            <a:spAutoFit/>
          </a:bodyPr>
          <a:lstStyle/>
          <a:p>
            <a:r>
              <a:rPr lang="en-US" dirty="0"/>
              <a:t>MC</a:t>
            </a:r>
            <a:endParaRPr lang="he-IL" dirty="0"/>
          </a:p>
        </p:txBody>
      </p:sp>
      <p:sp>
        <p:nvSpPr>
          <p:cNvPr id="14" name="צורה חופשית 13"/>
          <p:cNvSpPr/>
          <p:nvPr/>
        </p:nvSpPr>
        <p:spPr>
          <a:xfrm rot="5400000">
            <a:off x="23770" y="-785842"/>
            <a:ext cx="5786478" cy="6929486"/>
          </a:xfrm>
          <a:custGeom>
            <a:avLst/>
            <a:gdLst>
              <a:gd name="connsiteX0" fmla="*/ 3717747 w 5786478"/>
              <a:gd name="connsiteY0" fmla="*/ 71094 h 3429024"/>
              <a:gd name="connsiteX1" fmla="*/ 5757518 w 5786478"/>
              <a:gd name="connsiteY1" fmla="*/ 1472535 h 3429024"/>
              <a:gd name="connsiteX2" fmla="*/ 2893239 w 5786478"/>
              <a:gd name="connsiteY2" fmla="*/ 1714512 h 3429024"/>
              <a:gd name="connsiteX3" fmla="*/ 3717747 w 5786478"/>
              <a:gd name="connsiteY3" fmla="*/ 71094 h 3429024"/>
              <a:gd name="connsiteX0" fmla="*/ 3717747 w 5786478"/>
              <a:gd name="connsiteY0" fmla="*/ 71094 h 3429024"/>
              <a:gd name="connsiteX1" fmla="*/ 5757518 w 5786478"/>
              <a:gd name="connsiteY1" fmla="*/ 1472535 h 3429024"/>
            </a:gdLst>
            <a:ahLst/>
            <a:cxnLst>
              <a:cxn ang="0">
                <a:pos x="connsiteX0" y="connsiteY0"/>
              </a:cxn>
              <a:cxn ang="0">
                <a:pos x="connsiteX1" y="connsiteY1"/>
              </a:cxn>
            </a:cxnLst>
            <a:rect l="l" t="t" r="r" b="b"/>
            <a:pathLst>
              <a:path w="5786478" h="3429024" stroke="0" extrusionOk="0">
                <a:moveTo>
                  <a:pt x="3717747" y="71094"/>
                </a:moveTo>
                <a:cubicBezTo>
                  <a:pt x="4801287" y="261993"/>
                  <a:pt x="5597977" y="809366"/>
                  <a:pt x="5757518" y="1472535"/>
                </a:cubicBezTo>
                <a:lnTo>
                  <a:pt x="2893239" y="1714512"/>
                </a:lnTo>
                <a:lnTo>
                  <a:pt x="3717747" y="71094"/>
                </a:lnTo>
                <a:close/>
              </a:path>
              <a:path w="5786478" h="3429024" fill="none">
                <a:moveTo>
                  <a:pt x="3717747" y="71094"/>
                </a:moveTo>
                <a:cubicBezTo>
                  <a:pt x="4801287" y="261993"/>
                  <a:pt x="5597977" y="809366"/>
                  <a:pt x="5757518" y="1472535"/>
                </a:cubicBezTo>
              </a:path>
            </a:pathLst>
          </a:custGeom>
          <a:ln w="38100">
            <a:solidFill>
              <a:srgbClr val="0070C0"/>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sp>
        <p:nvSpPr>
          <p:cNvPr id="30" name="TextBox 29"/>
          <p:cNvSpPr txBox="1"/>
          <p:nvPr/>
        </p:nvSpPr>
        <p:spPr>
          <a:xfrm>
            <a:off x="5946016" y="2714621"/>
            <a:ext cx="369012" cy="369332"/>
          </a:xfrm>
          <a:prstGeom prst="rect">
            <a:avLst/>
          </a:prstGeom>
          <a:noFill/>
          <a:ln>
            <a:noFill/>
          </a:ln>
        </p:spPr>
        <p:txBody>
          <a:bodyPr wrap="none" rtlCol="1">
            <a:spAutoFit/>
          </a:bodyPr>
          <a:lstStyle/>
          <a:p>
            <a:r>
              <a:rPr lang="en-US" dirty="0"/>
              <a:t>S</a:t>
            </a:r>
            <a:r>
              <a:rPr lang="en-US" baseline="-25000" dirty="0"/>
              <a:t>0</a:t>
            </a:r>
            <a:endParaRPr lang="he-IL" baseline="-25000" dirty="0"/>
          </a:p>
        </p:txBody>
      </p:sp>
      <p:sp>
        <p:nvSpPr>
          <p:cNvPr id="31" name="צורה חופשית 30"/>
          <p:cNvSpPr/>
          <p:nvPr/>
        </p:nvSpPr>
        <p:spPr>
          <a:xfrm rot="5400000">
            <a:off x="-261982" y="-1214469"/>
            <a:ext cx="5786478" cy="6929486"/>
          </a:xfrm>
          <a:custGeom>
            <a:avLst/>
            <a:gdLst>
              <a:gd name="connsiteX0" fmla="*/ 3717747 w 5786478"/>
              <a:gd name="connsiteY0" fmla="*/ 71094 h 3429024"/>
              <a:gd name="connsiteX1" fmla="*/ 5757518 w 5786478"/>
              <a:gd name="connsiteY1" fmla="*/ 1472535 h 3429024"/>
              <a:gd name="connsiteX2" fmla="*/ 2893239 w 5786478"/>
              <a:gd name="connsiteY2" fmla="*/ 1714512 h 3429024"/>
              <a:gd name="connsiteX3" fmla="*/ 3717747 w 5786478"/>
              <a:gd name="connsiteY3" fmla="*/ 71094 h 3429024"/>
              <a:gd name="connsiteX0" fmla="*/ 3717747 w 5786478"/>
              <a:gd name="connsiteY0" fmla="*/ 71094 h 3429024"/>
              <a:gd name="connsiteX1" fmla="*/ 5757518 w 5786478"/>
              <a:gd name="connsiteY1" fmla="*/ 1472535 h 3429024"/>
            </a:gdLst>
            <a:ahLst/>
            <a:cxnLst>
              <a:cxn ang="0">
                <a:pos x="connsiteX0" y="connsiteY0"/>
              </a:cxn>
              <a:cxn ang="0">
                <a:pos x="connsiteX1" y="connsiteY1"/>
              </a:cxn>
            </a:cxnLst>
            <a:rect l="l" t="t" r="r" b="b"/>
            <a:pathLst>
              <a:path w="5786478" h="3429024" stroke="0" extrusionOk="0">
                <a:moveTo>
                  <a:pt x="3717747" y="71094"/>
                </a:moveTo>
                <a:cubicBezTo>
                  <a:pt x="4801287" y="261993"/>
                  <a:pt x="5597977" y="809366"/>
                  <a:pt x="5757518" y="1472535"/>
                </a:cubicBezTo>
                <a:lnTo>
                  <a:pt x="2893239" y="1714512"/>
                </a:lnTo>
                <a:lnTo>
                  <a:pt x="3717747" y="71094"/>
                </a:lnTo>
                <a:close/>
              </a:path>
              <a:path w="5786478" h="3429024" fill="none">
                <a:moveTo>
                  <a:pt x="3717747" y="71094"/>
                </a:moveTo>
                <a:cubicBezTo>
                  <a:pt x="4801287" y="261993"/>
                  <a:pt x="5597977" y="809366"/>
                  <a:pt x="5757518" y="1472535"/>
                </a:cubicBezTo>
              </a:path>
            </a:pathLst>
          </a:cu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cxnSp>
        <p:nvCxnSpPr>
          <p:cNvPr id="33" name="מחבר ישר 32"/>
          <p:cNvCxnSpPr/>
          <p:nvPr/>
        </p:nvCxnSpPr>
        <p:spPr>
          <a:xfrm flipV="1">
            <a:off x="2666976" y="4714884"/>
            <a:ext cx="2714644" cy="36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מחבר ישר 34"/>
          <p:cNvCxnSpPr/>
          <p:nvPr/>
        </p:nvCxnSpPr>
        <p:spPr>
          <a:xfrm rot="5400000">
            <a:off x="4733620" y="5362884"/>
            <a:ext cx="1296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מחבר ישר 35"/>
          <p:cNvCxnSpPr/>
          <p:nvPr/>
        </p:nvCxnSpPr>
        <p:spPr>
          <a:xfrm rot="5400000">
            <a:off x="3734282" y="5362090"/>
            <a:ext cx="1296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0" name="מלבן 19"/>
          <p:cNvSpPr/>
          <p:nvPr/>
        </p:nvSpPr>
        <p:spPr>
          <a:xfrm>
            <a:off x="352699" y="226434"/>
            <a:ext cx="9694506" cy="469359"/>
          </a:xfrm>
          <a:prstGeom prst="rect">
            <a:avLst/>
          </a:prstGeom>
        </p:spPr>
        <p:txBody>
          <a:bodyPr wrap="square">
            <a:spAutoFit/>
          </a:bodyPr>
          <a:lstStyle/>
          <a:p>
            <a:pPr lvl="1">
              <a:lnSpc>
                <a:spcPct val="120000"/>
              </a:lnSpc>
              <a:buNone/>
            </a:pPr>
            <a:r>
              <a:rPr lang="he-IL" sz="2200" dirty="0"/>
              <a:t>ב) חל שיפור טכנולוגי שגרם לכך שהתפוקה השולית של עובד גדלה ב-</a:t>
            </a:r>
            <a:r>
              <a:rPr lang="en-US" sz="2200" dirty="0"/>
              <a:t>A</a:t>
            </a:r>
            <a:r>
              <a:rPr lang="he-IL" sz="2200" dirty="0"/>
              <a:t> יחידות.</a:t>
            </a:r>
            <a:endParaRPr lang="en-US" sz="2200" dirty="0"/>
          </a:p>
        </p:txBody>
      </p:sp>
      <p:sp>
        <p:nvSpPr>
          <p:cNvPr id="21" name="מלבן 20"/>
          <p:cNvSpPr/>
          <p:nvPr/>
        </p:nvSpPr>
        <p:spPr>
          <a:xfrm>
            <a:off x="5330062" y="1259420"/>
            <a:ext cx="5595759" cy="1200329"/>
          </a:xfrm>
          <a:prstGeom prst="rect">
            <a:avLst/>
          </a:prstGeom>
        </p:spPr>
        <p:txBody>
          <a:bodyPr wrap="square">
            <a:spAutoFit/>
          </a:bodyPr>
          <a:lstStyle/>
          <a:p>
            <a:pPr lvl="1">
              <a:lnSpc>
                <a:spcPct val="120000"/>
              </a:lnSpc>
            </a:pPr>
            <a:r>
              <a:rPr lang="he-IL" sz="2000" dirty="0"/>
              <a:t>עקומת </a:t>
            </a:r>
            <a:r>
              <a:rPr lang="en-US" sz="2000" dirty="0"/>
              <a:t>MC(X)</a:t>
            </a:r>
            <a:r>
              <a:rPr lang="he-IL" sz="2000" dirty="0"/>
              <a:t> </a:t>
            </a:r>
            <a:r>
              <a:rPr lang="he-IL" sz="2000" b="1" dirty="0"/>
              <a:t>יורדת</a:t>
            </a:r>
            <a:r>
              <a:rPr lang="he-IL" sz="2000" dirty="0"/>
              <a:t> לכל תפוקה </a:t>
            </a:r>
            <a:r>
              <a:rPr lang="en-US" sz="2000" dirty="0"/>
              <a:t>X</a:t>
            </a:r>
            <a:r>
              <a:rPr lang="he-IL" sz="2000" dirty="0"/>
              <a:t>. זול יותר לייצר! צריך פחות עובדים. לכן היצרן מוכן לקבל מחיר נמוך יותר עבור כל תפוקה </a:t>
            </a:r>
            <a:r>
              <a:rPr lang="en-US" sz="2000" dirty="0"/>
              <a:t>X</a:t>
            </a:r>
            <a:r>
              <a:rPr lang="he-IL" sz="2000" dirty="0"/>
              <a:t>.</a:t>
            </a:r>
            <a:endParaRPr lang="en-US" sz="2000" dirty="0"/>
          </a:p>
        </p:txBody>
      </p:sp>
      <p:sp>
        <p:nvSpPr>
          <p:cNvPr id="4" name="מלבן 3"/>
          <p:cNvSpPr/>
          <p:nvPr/>
        </p:nvSpPr>
        <p:spPr>
          <a:xfrm>
            <a:off x="7391203" y="2675249"/>
            <a:ext cx="3124632" cy="1446550"/>
          </a:xfrm>
          <a:prstGeom prst="rect">
            <a:avLst/>
          </a:prstGeom>
          <a:solidFill>
            <a:srgbClr val="FFFFCC"/>
          </a:solidFill>
        </p:spPr>
        <p:txBody>
          <a:bodyPr wrap="square">
            <a:spAutoFit/>
          </a:bodyPr>
          <a:lstStyle/>
          <a:p>
            <a:pPr marL="0" lvl="1"/>
            <a:r>
              <a:rPr lang="he-IL" sz="2200" dirty="0"/>
              <a:t>כלומר </a:t>
            </a:r>
            <a:r>
              <a:rPr lang="he-IL" sz="2200" b="1" dirty="0">
                <a:solidFill>
                  <a:srgbClr val="002060"/>
                </a:solidFill>
              </a:rPr>
              <a:t>ההיצע מתרחב</a:t>
            </a:r>
            <a:r>
              <a:rPr lang="en-US" sz="2200" b="1" dirty="0">
                <a:solidFill>
                  <a:srgbClr val="002060"/>
                </a:solidFill>
              </a:rPr>
              <a:t> </a:t>
            </a:r>
            <a:r>
              <a:rPr lang="he-IL" sz="2200" b="1" dirty="0">
                <a:solidFill>
                  <a:srgbClr val="002060"/>
                </a:solidFill>
              </a:rPr>
              <a:t>(תזוזה ימינה ולמטה) </a:t>
            </a:r>
            <a:r>
              <a:rPr lang="he-IL" sz="2200" dirty="0"/>
              <a:t>– בכל מחיר היצרן מוכן כעת להציע יותר יחידות של </a:t>
            </a:r>
            <a:r>
              <a:rPr lang="en-US" sz="2200" dirty="0"/>
              <a:t>X</a:t>
            </a:r>
            <a:r>
              <a:rPr lang="he-IL" sz="2200" dirty="0"/>
              <a:t>.</a:t>
            </a:r>
          </a:p>
        </p:txBody>
      </p:sp>
      <mc:AlternateContent xmlns:mc="http://schemas.openxmlformats.org/markup-compatibility/2006" xmlns:a14="http://schemas.microsoft.com/office/drawing/2010/main">
        <mc:Choice Requires="a14">
          <p:sp>
            <p:nvSpPr>
              <p:cNvPr id="22" name="מציין מיקום תוכן 10"/>
              <p:cNvSpPr txBox="1">
                <a:spLocks/>
              </p:cNvSpPr>
              <p:nvPr/>
            </p:nvSpPr>
            <p:spPr>
              <a:xfrm>
                <a:off x="2024033" y="897511"/>
                <a:ext cx="3168352" cy="1352762"/>
              </a:xfrm>
              <a:prstGeom prst="rect">
                <a:avLst/>
              </a:prstGeom>
              <a:solidFill>
                <a:srgbClr val="CCFFFF"/>
              </a:solidFill>
            </p:spPr>
            <p:txBody>
              <a:bodyPr vert="horz" lIns="91440" tIns="45720" rIns="91440" bIns="45720" rtlCol="1">
                <a:noAutofit/>
              </a:bodyPr>
              <a:lstStyle/>
              <a:p>
                <a:pPr marL="319950" algn="ctr" rtl="0">
                  <a:spcBef>
                    <a:spcPct val="20000"/>
                  </a:spcBef>
                  <a:defRPr/>
                </a:pPr>
                <a14:m>
                  <m:oMathPara xmlns:m="http://schemas.openxmlformats.org/officeDocument/2006/math">
                    <m:oMathParaPr>
                      <m:jc m:val="centerGroup"/>
                    </m:oMathParaPr>
                    <m:oMath xmlns:m="http://schemas.openxmlformats.org/officeDocument/2006/math">
                      <m:r>
                        <m:rPr>
                          <m:sty m:val="p"/>
                        </m:rPr>
                        <a:rPr lang="he-IL" sz="3600">
                          <a:latin typeface="Cambria Math" panose="02040503050406030204" pitchFamily="18" charset="0"/>
                        </a:rPr>
                        <m:t>MC</m:t>
                      </m:r>
                      <m:r>
                        <a:rPr lang="he-IL" sz="3600">
                          <a:latin typeface="Cambria Math" panose="02040503050406030204" pitchFamily="18" charset="0"/>
                        </a:rPr>
                        <m:t>(</m:t>
                      </m:r>
                      <m:r>
                        <m:rPr>
                          <m:sty m:val="p"/>
                        </m:rPr>
                        <a:rPr lang="he-IL" sz="3600">
                          <a:latin typeface="Cambria Math" panose="02040503050406030204" pitchFamily="18" charset="0"/>
                        </a:rPr>
                        <m:t>X</m:t>
                      </m:r>
                      <m:r>
                        <a:rPr lang="he-IL" sz="3600">
                          <a:latin typeface="Cambria Math" panose="02040503050406030204" pitchFamily="18" charset="0"/>
                        </a:rPr>
                        <m:t>)=</m:t>
                      </m:r>
                      <m:f>
                        <m:fPr>
                          <m:ctrlPr>
                            <a:rPr lang="he-IL" sz="3600" i="1">
                              <a:latin typeface="Cambria Math" panose="02040503050406030204" pitchFamily="18" charset="0"/>
                            </a:rPr>
                          </m:ctrlPr>
                        </m:fPr>
                        <m:num>
                          <m:sSub>
                            <m:sSubPr>
                              <m:ctrlPr>
                                <a:rPr lang="he-IL" sz="3600" i="1">
                                  <a:latin typeface="Cambria Math" panose="02040503050406030204" pitchFamily="18" charset="0"/>
                                </a:rPr>
                              </m:ctrlPr>
                            </m:sSubPr>
                            <m:e>
                              <m:r>
                                <m:rPr>
                                  <m:sty m:val="p"/>
                                </m:rPr>
                                <a:rPr lang="he-IL" sz="3600">
                                  <a:latin typeface="Cambria Math" panose="02040503050406030204" pitchFamily="18" charset="0"/>
                                </a:rPr>
                                <m:t>P</m:t>
                              </m:r>
                            </m:e>
                            <m:sub>
                              <m:r>
                                <m:rPr>
                                  <m:sty m:val="p"/>
                                </m:rPr>
                                <a:rPr lang="he-IL" sz="3600">
                                  <a:latin typeface="Cambria Math" panose="02040503050406030204" pitchFamily="18" charset="0"/>
                                </a:rPr>
                                <m:t>L</m:t>
                              </m:r>
                            </m:sub>
                          </m:sSub>
                        </m:num>
                        <m:den>
                          <m:r>
                            <m:rPr>
                              <m:sty m:val="p"/>
                            </m:rPr>
                            <a:rPr lang="he-IL" sz="3600">
                              <a:latin typeface="Cambria Math" panose="02040503050406030204" pitchFamily="18" charset="0"/>
                            </a:rPr>
                            <m:t>M</m:t>
                          </m:r>
                          <m:sSub>
                            <m:sSubPr>
                              <m:ctrlPr>
                                <a:rPr lang="he-IL" sz="3600" i="1">
                                  <a:latin typeface="Cambria Math" panose="02040503050406030204" pitchFamily="18" charset="0"/>
                                </a:rPr>
                              </m:ctrlPr>
                            </m:sSubPr>
                            <m:e>
                              <m:r>
                                <m:rPr>
                                  <m:sty m:val="p"/>
                                </m:rPr>
                                <a:rPr lang="he-IL" sz="3600">
                                  <a:latin typeface="Cambria Math" panose="02040503050406030204" pitchFamily="18" charset="0"/>
                                </a:rPr>
                                <m:t>P</m:t>
                              </m:r>
                            </m:e>
                            <m:sub>
                              <m:r>
                                <m:rPr>
                                  <m:sty m:val="p"/>
                                </m:rPr>
                                <a:rPr lang="he-IL" sz="3600">
                                  <a:latin typeface="Cambria Math" panose="02040503050406030204" pitchFamily="18" charset="0"/>
                                </a:rPr>
                                <m:t>L</m:t>
                              </m:r>
                            </m:sub>
                          </m:sSub>
                        </m:den>
                      </m:f>
                    </m:oMath>
                  </m:oMathPara>
                </a14:m>
                <a:endParaRPr lang="he-IL" sz="3600" b="1" dirty="0"/>
              </a:p>
            </p:txBody>
          </p:sp>
        </mc:Choice>
        <mc:Fallback xmlns="">
          <p:sp>
            <p:nvSpPr>
              <p:cNvPr id="22" name="מציין מיקום תוכן 10"/>
              <p:cNvSpPr txBox="1">
                <a:spLocks noRot="1" noChangeAspect="1" noMove="1" noResize="1" noEditPoints="1" noAdjustHandles="1" noChangeArrowheads="1" noChangeShapeType="1" noTextEdit="1"/>
              </p:cNvSpPr>
              <p:nvPr/>
            </p:nvSpPr>
            <p:spPr>
              <a:xfrm>
                <a:off x="2024033" y="897511"/>
                <a:ext cx="3168352" cy="1352762"/>
              </a:xfrm>
              <a:prstGeom prst="rect">
                <a:avLst/>
              </a:prstGeom>
              <a:blipFill>
                <a:blip r:embed="rId2"/>
                <a:stretch>
                  <a:fillRect/>
                </a:stretch>
              </a:blipFill>
            </p:spPr>
            <p:txBody>
              <a:bodyPr/>
              <a:lstStyle/>
              <a:p>
                <a:r>
                  <a:rPr lang="en-IL">
                    <a:noFill/>
                  </a:rPr>
                  <a:t> </a:t>
                </a:r>
              </a:p>
            </p:txBody>
          </p:sp>
        </mc:Fallback>
      </mc:AlternateContent>
      <p:sp>
        <p:nvSpPr>
          <p:cNvPr id="23" name="TextBox 22">
            <a:extLst>
              <a:ext uri="{FF2B5EF4-FFF2-40B4-BE49-F238E27FC236}">
                <a16:creationId xmlns:a16="http://schemas.microsoft.com/office/drawing/2014/main" id="{A760905D-57D0-4A2D-AB65-918ECD7952B7}"/>
              </a:ext>
            </a:extLst>
          </p:cNvPr>
          <p:cNvSpPr txBox="1"/>
          <p:nvPr/>
        </p:nvSpPr>
        <p:spPr>
          <a:xfrm>
            <a:off x="4200614" y="6098467"/>
            <a:ext cx="361749" cy="300082"/>
          </a:xfrm>
          <a:prstGeom prst="rect">
            <a:avLst/>
          </a:prstGeom>
          <a:noFill/>
        </p:spPr>
        <p:txBody>
          <a:bodyPr wrap="square" rtlCol="0">
            <a:spAutoFit/>
          </a:bodyPr>
          <a:lstStyle/>
          <a:p>
            <a:pPr algn="l" defTabSz="685800" rtl="0"/>
            <a:r>
              <a:rPr lang="en-US" sz="1350" dirty="0">
                <a:solidFill>
                  <a:prstClr val="black"/>
                </a:solidFill>
                <a:latin typeface="Perpetua"/>
              </a:rPr>
              <a:t>X</a:t>
            </a:r>
            <a:r>
              <a:rPr lang="he-IL" sz="1350" dirty="0">
                <a:solidFill>
                  <a:prstClr val="black"/>
                </a:solidFill>
                <a:latin typeface="Perpetua"/>
                <a:cs typeface="Aharoni" panose="02010803020104030203" pitchFamily="2" charset="-79"/>
              </a:rPr>
              <a:t>1</a:t>
            </a:r>
            <a:endParaRPr lang="x-none" sz="1350" dirty="0">
              <a:solidFill>
                <a:prstClr val="black"/>
              </a:solidFill>
              <a:latin typeface="Perpetua"/>
            </a:endParaRPr>
          </a:p>
        </p:txBody>
      </p:sp>
      <p:sp>
        <p:nvSpPr>
          <p:cNvPr id="24" name="TextBox 23">
            <a:extLst>
              <a:ext uri="{FF2B5EF4-FFF2-40B4-BE49-F238E27FC236}">
                <a16:creationId xmlns:a16="http://schemas.microsoft.com/office/drawing/2014/main" id="{B42CDB30-ACE2-49C5-A5B3-1A43C1B78505}"/>
              </a:ext>
            </a:extLst>
          </p:cNvPr>
          <p:cNvSpPr txBox="1"/>
          <p:nvPr/>
        </p:nvSpPr>
        <p:spPr>
          <a:xfrm>
            <a:off x="5199952" y="6131142"/>
            <a:ext cx="361749" cy="300082"/>
          </a:xfrm>
          <a:prstGeom prst="rect">
            <a:avLst/>
          </a:prstGeom>
          <a:noFill/>
        </p:spPr>
        <p:txBody>
          <a:bodyPr wrap="square" rtlCol="0">
            <a:spAutoFit/>
          </a:bodyPr>
          <a:lstStyle/>
          <a:p>
            <a:pPr algn="l" defTabSz="685800" rtl="0"/>
            <a:r>
              <a:rPr lang="en-US" sz="1350" dirty="0">
                <a:solidFill>
                  <a:prstClr val="black"/>
                </a:solidFill>
                <a:latin typeface="Perpetua"/>
              </a:rPr>
              <a:t>X</a:t>
            </a:r>
            <a:r>
              <a:rPr lang="he-IL" sz="1350" dirty="0">
                <a:solidFill>
                  <a:prstClr val="black"/>
                </a:solidFill>
                <a:latin typeface="Perpetua"/>
                <a:cs typeface="Aharoni" panose="02010803020104030203" pitchFamily="2" charset="-79"/>
              </a:rPr>
              <a:t>2</a:t>
            </a:r>
            <a:endParaRPr lang="x-none" sz="1350" dirty="0">
              <a:solidFill>
                <a:prstClr val="black"/>
              </a:solidFill>
              <a:latin typeface="Perpetua"/>
            </a:endParaRPr>
          </a:p>
        </p:txBody>
      </p:sp>
      <p:sp>
        <p:nvSpPr>
          <p:cNvPr id="25" name="TextBox 24">
            <a:extLst>
              <a:ext uri="{FF2B5EF4-FFF2-40B4-BE49-F238E27FC236}">
                <a16:creationId xmlns:a16="http://schemas.microsoft.com/office/drawing/2014/main" id="{49672024-50E2-41A7-B55C-7E186301A22A}"/>
              </a:ext>
            </a:extLst>
          </p:cNvPr>
          <p:cNvSpPr txBox="1"/>
          <p:nvPr/>
        </p:nvSpPr>
        <p:spPr>
          <a:xfrm>
            <a:off x="2351164" y="4606665"/>
            <a:ext cx="361749" cy="300082"/>
          </a:xfrm>
          <a:prstGeom prst="rect">
            <a:avLst/>
          </a:prstGeom>
          <a:noFill/>
        </p:spPr>
        <p:txBody>
          <a:bodyPr wrap="square" rtlCol="0">
            <a:spAutoFit/>
          </a:bodyPr>
          <a:lstStyle/>
          <a:p>
            <a:pPr algn="l" defTabSz="685800" rtl="0"/>
            <a:r>
              <a:rPr lang="en-US" sz="1350" dirty="0">
                <a:solidFill>
                  <a:prstClr val="black"/>
                </a:solidFill>
                <a:latin typeface="Perpetua"/>
              </a:rPr>
              <a:t>P</a:t>
            </a:r>
            <a:endParaRPr lang="x-none" sz="1350" dirty="0">
              <a:solidFill>
                <a:prstClr val="black"/>
              </a:solidFill>
              <a:latin typeface="Perpetu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barn(inVertical)">
                                      <p:cBhvr>
                                        <p:cTn id="11" dur="5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down)">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barn(inVertical)">
                                      <p:cBhvr>
                                        <p:cTn id="21" dur="500"/>
                                        <p:tgtEl>
                                          <p:spTgt spid="4"/>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4" grpId="0" animBg="1"/>
      <p:bldP spid="21" grpId="0"/>
      <p:bldP spid="4" grpId="0" animBg="1"/>
      <p:bldP spid="22" grpId="0" animBg="1"/>
      <p:bldP spid="2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986516" y="63517"/>
            <a:ext cx="1998532" cy="1143000"/>
          </a:xfrm>
        </p:spPr>
        <p:txBody>
          <a:bodyPr>
            <a:normAutofit/>
          </a:bodyPr>
          <a:lstStyle/>
          <a:p>
            <a:pPr algn="r"/>
            <a:r>
              <a:rPr lang="he-IL" b="1" dirty="0">
                <a:solidFill>
                  <a:schemeClr val="tx2">
                    <a:lumMod val="75000"/>
                  </a:schemeClr>
                </a:solidFill>
              </a:rPr>
              <a:t>שאלה 3</a:t>
            </a:r>
          </a:p>
        </p:txBody>
      </p:sp>
      <p:sp>
        <p:nvSpPr>
          <p:cNvPr id="5" name="מציין מיקום של כותרת תחתונה 4"/>
          <p:cNvSpPr>
            <a:spLocks noGrp="1"/>
          </p:cNvSpPr>
          <p:nvPr>
            <p:ph type="ftr" sz="quarter" idx="11"/>
          </p:nvPr>
        </p:nvSpPr>
        <p:spPr/>
        <p:txBody>
          <a:bodyPr/>
          <a:lstStyle/>
          <a:p>
            <a:r>
              <a:rPr lang="he-IL" dirty="0"/>
              <a:t>מבוא למיקרו כלכלה</a:t>
            </a:r>
          </a:p>
        </p:txBody>
      </p:sp>
      <p:grpSp>
        <p:nvGrpSpPr>
          <p:cNvPr id="6" name="קבוצה 13"/>
          <p:cNvGrpSpPr/>
          <p:nvPr/>
        </p:nvGrpSpPr>
        <p:grpSpPr>
          <a:xfrm>
            <a:off x="2607361" y="2132856"/>
            <a:ext cx="6203285" cy="3867914"/>
            <a:chOff x="641320" y="3400648"/>
            <a:chExt cx="5288002" cy="2314369"/>
          </a:xfrm>
        </p:grpSpPr>
        <p:cxnSp>
          <p:nvCxnSpPr>
            <p:cNvPr id="11" name="מחבר חץ ישר 10"/>
            <p:cNvCxnSpPr/>
            <p:nvPr/>
          </p:nvCxnSpPr>
          <p:spPr>
            <a:xfrm flipV="1">
              <a:off x="641320" y="3400648"/>
              <a:ext cx="1592" cy="231436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מחבר חץ ישר 12"/>
            <p:cNvCxnSpPr/>
            <p:nvPr/>
          </p:nvCxnSpPr>
          <p:spPr>
            <a:xfrm flipV="1">
              <a:off x="642910" y="5715016"/>
              <a:ext cx="5286412"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8" name="TextBox 17"/>
          <p:cNvSpPr txBox="1"/>
          <p:nvPr/>
        </p:nvSpPr>
        <p:spPr>
          <a:xfrm>
            <a:off x="8669468" y="6000768"/>
            <a:ext cx="284052" cy="369332"/>
          </a:xfrm>
          <a:prstGeom prst="rect">
            <a:avLst/>
          </a:prstGeom>
          <a:noFill/>
        </p:spPr>
        <p:txBody>
          <a:bodyPr wrap="none" rtlCol="1">
            <a:spAutoFit/>
          </a:bodyPr>
          <a:lstStyle/>
          <a:p>
            <a:r>
              <a:rPr lang="en-US" dirty="0"/>
              <a:t>x</a:t>
            </a:r>
            <a:endParaRPr lang="he-IL" dirty="0"/>
          </a:p>
        </p:txBody>
      </p:sp>
      <p:sp>
        <p:nvSpPr>
          <p:cNvPr id="19" name="TextBox 18"/>
          <p:cNvSpPr txBox="1"/>
          <p:nvPr/>
        </p:nvSpPr>
        <p:spPr>
          <a:xfrm>
            <a:off x="1263448" y="1856198"/>
            <a:ext cx="1326157" cy="369332"/>
          </a:xfrm>
          <a:prstGeom prst="rect">
            <a:avLst/>
          </a:prstGeom>
          <a:noFill/>
        </p:spPr>
        <p:txBody>
          <a:bodyPr wrap="square" rtlCol="1">
            <a:spAutoFit/>
          </a:bodyPr>
          <a:lstStyle/>
          <a:p>
            <a:r>
              <a:rPr lang="en-US" dirty="0"/>
              <a:t>Px</a:t>
            </a:r>
            <a:r>
              <a:rPr lang="he-IL" dirty="0"/>
              <a:t>,</a:t>
            </a:r>
            <a:r>
              <a:rPr lang="en-US" dirty="0"/>
              <a:t>MC </a:t>
            </a:r>
            <a:endParaRPr lang="he-IL" dirty="0"/>
          </a:p>
        </p:txBody>
      </p:sp>
      <p:sp>
        <p:nvSpPr>
          <p:cNvPr id="30" name="TextBox 29"/>
          <p:cNvSpPr txBox="1"/>
          <p:nvPr/>
        </p:nvSpPr>
        <p:spPr>
          <a:xfrm>
            <a:off x="6024564" y="2714621"/>
            <a:ext cx="290464" cy="369332"/>
          </a:xfrm>
          <a:prstGeom prst="rect">
            <a:avLst/>
          </a:prstGeom>
          <a:noFill/>
          <a:ln>
            <a:noFill/>
          </a:ln>
        </p:spPr>
        <p:txBody>
          <a:bodyPr wrap="none" rtlCol="1">
            <a:spAutoFit/>
          </a:bodyPr>
          <a:lstStyle/>
          <a:p>
            <a:r>
              <a:rPr lang="en-US" dirty="0"/>
              <a:t>S</a:t>
            </a:r>
            <a:endParaRPr lang="he-IL" baseline="-25000" dirty="0"/>
          </a:p>
        </p:txBody>
      </p:sp>
      <p:sp>
        <p:nvSpPr>
          <p:cNvPr id="31" name="צורה חופשית 30"/>
          <p:cNvSpPr/>
          <p:nvPr/>
        </p:nvSpPr>
        <p:spPr>
          <a:xfrm rot="5400000">
            <a:off x="-283684" y="-1157598"/>
            <a:ext cx="5786478" cy="6929486"/>
          </a:xfrm>
          <a:custGeom>
            <a:avLst/>
            <a:gdLst>
              <a:gd name="connsiteX0" fmla="*/ 3717747 w 5786478"/>
              <a:gd name="connsiteY0" fmla="*/ 71094 h 3429024"/>
              <a:gd name="connsiteX1" fmla="*/ 5757518 w 5786478"/>
              <a:gd name="connsiteY1" fmla="*/ 1472535 h 3429024"/>
              <a:gd name="connsiteX2" fmla="*/ 2893239 w 5786478"/>
              <a:gd name="connsiteY2" fmla="*/ 1714512 h 3429024"/>
              <a:gd name="connsiteX3" fmla="*/ 3717747 w 5786478"/>
              <a:gd name="connsiteY3" fmla="*/ 71094 h 3429024"/>
              <a:gd name="connsiteX0" fmla="*/ 3717747 w 5786478"/>
              <a:gd name="connsiteY0" fmla="*/ 71094 h 3429024"/>
              <a:gd name="connsiteX1" fmla="*/ 5757518 w 5786478"/>
              <a:gd name="connsiteY1" fmla="*/ 1472535 h 3429024"/>
            </a:gdLst>
            <a:ahLst/>
            <a:cxnLst>
              <a:cxn ang="0">
                <a:pos x="connsiteX0" y="connsiteY0"/>
              </a:cxn>
              <a:cxn ang="0">
                <a:pos x="connsiteX1" y="connsiteY1"/>
              </a:cxn>
            </a:cxnLst>
            <a:rect l="l" t="t" r="r" b="b"/>
            <a:pathLst>
              <a:path w="5786478" h="3429024" stroke="0" extrusionOk="0">
                <a:moveTo>
                  <a:pt x="3717747" y="71094"/>
                </a:moveTo>
                <a:cubicBezTo>
                  <a:pt x="4801287" y="261993"/>
                  <a:pt x="5597977" y="809366"/>
                  <a:pt x="5757518" y="1472535"/>
                </a:cubicBezTo>
                <a:lnTo>
                  <a:pt x="2893239" y="1714512"/>
                </a:lnTo>
                <a:lnTo>
                  <a:pt x="3717747" y="71094"/>
                </a:lnTo>
                <a:close/>
              </a:path>
              <a:path w="5786478" h="3429024" fill="none">
                <a:moveTo>
                  <a:pt x="3717747" y="71094"/>
                </a:moveTo>
                <a:cubicBezTo>
                  <a:pt x="4801287" y="261993"/>
                  <a:pt x="5597977" y="809366"/>
                  <a:pt x="5757518" y="1472535"/>
                </a:cubicBezTo>
              </a:path>
            </a:pathLst>
          </a:cu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he-IL"/>
          </a:p>
        </p:txBody>
      </p:sp>
      <p:cxnSp>
        <p:nvCxnSpPr>
          <p:cNvPr id="33" name="מחבר ישר 32"/>
          <p:cNvCxnSpPr/>
          <p:nvPr/>
        </p:nvCxnSpPr>
        <p:spPr>
          <a:xfrm flipV="1">
            <a:off x="2666976" y="4714884"/>
            <a:ext cx="17280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מחבר ישר 35"/>
          <p:cNvCxnSpPr/>
          <p:nvPr/>
        </p:nvCxnSpPr>
        <p:spPr>
          <a:xfrm rot="5400000">
            <a:off x="3734282" y="5362090"/>
            <a:ext cx="1296000" cy="1588"/>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225525" y="4572008"/>
            <a:ext cx="381836" cy="369332"/>
          </a:xfrm>
          <a:prstGeom prst="rect">
            <a:avLst/>
          </a:prstGeom>
          <a:noFill/>
          <a:ln>
            <a:noFill/>
          </a:ln>
        </p:spPr>
        <p:txBody>
          <a:bodyPr wrap="none" rtlCol="1">
            <a:spAutoFit/>
          </a:bodyPr>
          <a:lstStyle/>
          <a:p>
            <a:r>
              <a:rPr lang="en-US" dirty="0"/>
              <a:t>P</a:t>
            </a:r>
            <a:r>
              <a:rPr lang="en-US" baseline="-25000" dirty="0"/>
              <a:t>0</a:t>
            </a:r>
            <a:endParaRPr lang="he-IL" baseline="-25000" dirty="0"/>
          </a:p>
        </p:txBody>
      </p:sp>
      <p:sp>
        <p:nvSpPr>
          <p:cNvPr id="16" name="TextBox 15"/>
          <p:cNvSpPr txBox="1"/>
          <p:nvPr/>
        </p:nvSpPr>
        <p:spPr>
          <a:xfrm>
            <a:off x="2238348" y="3714752"/>
            <a:ext cx="381836" cy="369332"/>
          </a:xfrm>
          <a:prstGeom prst="rect">
            <a:avLst/>
          </a:prstGeom>
          <a:noFill/>
          <a:ln>
            <a:noFill/>
          </a:ln>
        </p:spPr>
        <p:txBody>
          <a:bodyPr wrap="none" rtlCol="1">
            <a:spAutoFit/>
          </a:bodyPr>
          <a:lstStyle/>
          <a:p>
            <a:r>
              <a:rPr lang="en-US" dirty="0">
                <a:solidFill>
                  <a:schemeClr val="tx2">
                    <a:lumMod val="75000"/>
                  </a:schemeClr>
                </a:solidFill>
              </a:rPr>
              <a:t>P</a:t>
            </a:r>
            <a:r>
              <a:rPr lang="en-US" baseline="-25000" dirty="0">
                <a:solidFill>
                  <a:schemeClr val="tx2">
                    <a:lumMod val="75000"/>
                  </a:schemeClr>
                </a:solidFill>
              </a:rPr>
              <a:t>1</a:t>
            </a:r>
            <a:endParaRPr lang="he-IL" baseline="-25000" dirty="0">
              <a:solidFill>
                <a:schemeClr val="tx2">
                  <a:lumMod val="75000"/>
                </a:schemeClr>
              </a:solidFill>
            </a:endParaRPr>
          </a:p>
        </p:txBody>
      </p:sp>
      <p:sp>
        <p:nvSpPr>
          <p:cNvPr id="17" name="TextBox 16"/>
          <p:cNvSpPr txBox="1"/>
          <p:nvPr/>
        </p:nvSpPr>
        <p:spPr>
          <a:xfrm>
            <a:off x="5310182" y="6000768"/>
            <a:ext cx="381836" cy="369332"/>
          </a:xfrm>
          <a:prstGeom prst="rect">
            <a:avLst/>
          </a:prstGeom>
          <a:noFill/>
          <a:ln>
            <a:noFill/>
          </a:ln>
        </p:spPr>
        <p:txBody>
          <a:bodyPr wrap="none" rtlCol="1">
            <a:spAutoFit/>
          </a:bodyPr>
          <a:lstStyle/>
          <a:p>
            <a:r>
              <a:rPr lang="en-US" dirty="0">
                <a:solidFill>
                  <a:schemeClr val="tx2">
                    <a:lumMod val="75000"/>
                  </a:schemeClr>
                </a:solidFill>
              </a:rPr>
              <a:t>X</a:t>
            </a:r>
            <a:r>
              <a:rPr lang="en-US" baseline="-25000" dirty="0">
                <a:solidFill>
                  <a:schemeClr val="tx2">
                    <a:lumMod val="75000"/>
                  </a:schemeClr>
                </a:solidFill>
              </a:rPr>
              <a:t>1</a:t>
            </a:r>
            <a:endParaRPr lang="he-IL" baseline="-25000" dirty="0">
              <a:solidFill>
                <a:schemeClr val="tx2">
                  <a:lumMod val="75000"/>
                </a:schemeClr>
              </a:solidFill>
            </a:endParaRPr>
          </a:p>
        </p:txBody>
      </p:sp>
      <p:sp>
        <p:nvSpPr>
          <p:cNvPr id="20" name="TextBox 19"/>
          <p:cNvSpPr txBox="1"/>
          <p:nvPr/>
        </p:nvSpPr>
        <p:spPr>
          <a:xfrm>
            <a:off x="4167174" y="5988626"/>
            <a:ext cx="381836" cy="369332"/>
          </a:xfrm>
          <a:prstGeom prst="rect">
            <a:avLst/>
          </a:prstGeom>
          <a:noFill/>
          <a:ln>
            <a:noFill/>
          </a:ln>
        </p:spPr>
        <p:txBody>
          <a:bodyPr wrap="none" rtlCol="1">
            <a:spAutoFit/>
          </a:bodyPr>
          <a:lstStyle/>
          <a:p>
            <a:r>
              <a:rPr lang="en-US" dirty="0"/>
              <a:t>X</a:t>
            </a:r>
            <a:r>
              <a:rPr lang="en-US" baseline="-25000" dirty="0"/>
              <a:t>0</a:t>
            </a:r>
            <a:endParaRPr lang="he-IL" baseline="-25000" dirty="0"/>
          </a:p>
        </p:txBody>
      </p:sp>
      <p:cxnSp>
        <p:nvCxnSpPr>
          <p:cNvPr id="21" name="מחבר ישר 20"/>
          <p:cNvCxnSpPr/>
          <p:nvPr/>
        </p:nvCxnSpPr>
        <p:spPr>
          <a:xfrm flipV="1">
            <a:off x="2666976" y="3929066"/>
            <a:ext cx="2772000" cy="0"/>
          </a:xfrm>
          <a:prstGeom prst="line">
            <a:avLst/>
          </a:prstGeom>
          <a:ln>
            <a:solidFill>
              <a:schemeClr val="tx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מחבר ישר 21"/>
          <p:cNvCxnSpPr/>
          <p:nvPr/>
        </p:nvCxnSpPr>
        <p:spPr>
          <a:xfrm rot="5400000">
            <a:off x="4463852" y="4989710"/>
            <a:ext cx="1980000" cy="1588"/>
          </a:xfrm>
          <a:prstGeom prst="line">
            <a:avLst/>
          </a:prstGeom>
          <a:ln>
            <a:solidFill>
              <a:schemeClr val="tx2">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4" name="מלבן 3"/>
          <p:cNvSpPr/>
          <p:nvPr/>
        </p:nvSpPr>
        <p:spPr>
          <a:xfrm>
            <a:off x="3057030" y="360246"/>
            <a:ext cx="6929486" cy="726609"/>
          </a:xfrm>
          <a:prstGeom prst="rect">
            <a:avLst/>
          </a:prstGeom>
        </p:spPr>
        <p:txBody>
          <a:bodyPr wrap="square">
            <a:spAutoFit/>
          </a:bodyPr>
          <a:lstStyle/>
          <a:p>
            <a:pPr lvl="1">
              <a:lnSpc>
                <a:spcPct val="120000"/>
              </a:lnSpc>
              <a:buNone/>
            </a:pPr>
            <a:r>
              <a:rPr lang="he-IL" dirty="0"/>
              <a:t>ג) ''</a:t>
            </a:r>
            <a:r>
              <a:rPr lang="he-IL" dirty="0">
                <a:ea typeface="Times New Roman" panose="02020603050405020304" pitchFamily="18" charset="0"/>
                <a:cs typeface="Arial" panose="020B0604020202020204" pitchFamily="34" charset="0"/>
              </a:rPr>
              <a:t>המחיר של המוצר שהפירמה מייצרת התייקר ולכן הפירמה מוכרת כל יחידה במחיר גבוה יותר'' </a:t>
            </a:r>
            <a:r>
              <a:rPr lang="he-IL" dirty="0"/>
              <a:t>= מחיר המוצר עלה.</a:t>
            </a:r>
            <a:endParaRPr lang="en-US" dirty="0"/>
          </a:p>
        </p:txBody>
      </p:sp>
      <p:sp>
        <p:nvSpPr>
          <p:cNvPr id="7" name="מלבן 6"/>
          <p:cNvSpPr/>
          <p:nvPr/>
        </p:nvSpPr>
        <p:spPr>
          <a:xfrm>
            <a:off x="4038600" y="1289329"/>
            <a:ext cx="7829939" cy="797078"/>
          </a:xfrm>
          <a:prstGeom prst="rect">
            <a:avLst/>
          </a:prstGeom>
        </p:spPr>
        <p:txBody>
          <a:bodyPr wrap="square">
            <a:spAutoFit/>
          </a:bodyPr>
          <a:lstStyle/>
          <a:p>
            <a:pPr lvl="1">
              <a:lnSpc>
                <a:spcPct val="120000"/>
              </a:lnSpc>
            </a:pPr>
            <a:r>
              <a:rPr lang="he-IL" sz="2000" b="1" dirty="0"/>
              <a:t>עקומת ההיצע </a:t>
            </a:r>
            <a:r>
              <a:rPr lang="en-US" sz="2000" b="1" dirty="0"/>
              <a:t>–</a:t>
            </a:r>
            <a:r>
              <a:rPr lang="he-IL" sz="2000" dirty="0"/>
              <a:t>הכמות המיוצרת לכל </a:t>
            </a:r>
            <a:r>
              <a:rPr lang="en-US" sz="2000" dirty="0"/>
              <a:t>P</a:t>
            </a:r>
            <a:r>
              <a:rPr lang="he-IL" sz="2000" dirty="0"/>
              <a:t> ו</a:t>
            </a:r>
            <a:r>
              <a:rPr lang="en-US" sz="2000" dirty="0"/>
              <a:t>P-</a:t>
            </a:r>
            <a:r>
              <a:rPr lang="he-IL" sz="2000" dirty="0"/>
              <a:t> בשוק.  </a:t>
            </a:r>
          </a:p>
          <a:p>
            <a:pPr lvl="1">
              <a:lnSpc>
                <a:spcPct val="120000"/>
              </a:lnSpc>
            </a:pPr>
            <a:r>
              <a:rPr lang="he-IL" sz="2000" b="1" dirty="0"/>
              <a:t>המיקום</a:t>
            </a:r>
            <a:r>
              <a:rPr lang="he-IL" sz="2000" dirty="0"/>
              <a:t> בו יימצא היצרן </a:t>
            </a:r>
            <a:r>
              <a:rPr lang="he-IL" sz="2000" b="1" dirty="0"/>
              <a:t>על עקומת ההיצע </a:t>
            </a:r>
            <a:r>
              <a:rPr lang="he-IL" sz="2000" dirty="0"/>
              <a:t>תלוי במחיר. </a:t>
            </a:r>
          </a:p>
        </p:txBody>
      </p:sp>
      <p:sp>
        <p:nvSpPr>
          <p:cNvPr id="24" name="מציין מיקום תוכן 10"/>
          <p:cNvSpPr txBox="1">
            <a:spLocks/>
          </p:cNvSpPr>
          <p:nvPr/>
        </p:nvSpPr>
        <p:spPr>
          <a:xfrm>
            <a:off x="8669468" y="2237911"/>
            <a:ext cx="1715746" cy="804387"/>
          </a:xfrm>
          <a:prstGeom prst="rect">
            <a:avLst/>
          </a:prstGeom>
          <a:solidFill>
            <a:srgbClr val="FFFFC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1">
            <a:normAutofit lnSpcReduction="10000"/>
          </a:bodyPr>
          <a:lstStyle/>
          <a:p>
            <a:pPr marL="319950" algn="ctr">
              <a:lnSpc>
                <a:spcPct val="170000"/>
              </a:lnSpc>
              <a:spcBef>
                <a:spcPct val="20000"/>
              </a:spcBef>
              <a:defRPr/>
            </a:pPr>
            <a:r>
              <a:rPr lang="en-US" sz="3200" dirty="0">
                <a:solidFill>
                  <a:schemeClr val="tx1"/>
                </a:solidFill>
              </a:rPr>
              <a:t>P≥MC</a:t>
            </a:r>
            <a:endParaRPr lang="he-IL" sz="3200" dirty="0">
              <a:solidFill>
                <a:schemeClr val="tx1"/>
              </a:solidFill>
            </a:endParaRPr>
          </a:p>
        </p:txBody>
      </p:sp>
      <p:sp>
        <p:nvSpPr>
          <p:cNvPr id="10" name="מלבן 9"/>
          <p:cNvSpPr/>
          <p:nvPr/>
        </p:nvSpPr>
        <p:spPr>
          <a:xfrm>
            <a:off x="7349886" y="3130044"/>
            <a:ext cx="3635896" cy="804387"/>
          </a:xfrm>
          <a:prstGeom prst="rect">
            <a:avLst/>
          </a:prstGeom>
        </p:spPr>
        <p:txBody>
          <a:bodyPr wrap="square">
            <a:spAutoFit/>
          </a:bodyPr>
          <a:lstStyle/>
          <a:p>
            <a:pPr lvl="1">
              <a:lnSpc>
                <a:spcPct val="120000"/>
              </a:lnSpc>
            </a:pPr>
            <a:r>
              <a:rPr lang="he-IL" sz="2000" dirty="0"/>
              <a:t>הפעם תזוזה </a:t>
            </a:r>
            <a:r>
              <a:rPr lang="he-IL" sz="2000" b="1" u="sng" dirty="0"/>
              <a:t>על</a:t>
            </a:r>
            <a:r>
              <a:rPr lang="he-IL" sz="2000" dirty="0"/>
              <a:t> העקומה ולא תזוזה </a:t>
            </a:r>
            <a:r>
              <a:rPr lang="he-IL" sz="2000" b="1" dirty="0"/>
              <a:t>של</a:t>
            </a:r>
            <a:r>
              <a:rPr lang="he-IL" sz="2000" dirty="0"/>
              <a:t> העקומה.</a:t>
            </a:r>
            <a:endParaRPr lang="en-US" sz="2000" dirty="0"/>
          </a:p>
        </p:txBody>
      </p:sp>
      <p:sp>
        <p:nvSpPr>
          <p:cNvPr id="23" name="TextBox 22">
            <a:extLst>
              <a:ext uri="{FF2B5EF4-FFF2-40B4-BE49-F238E27FC236}">
                <a16:creationId xmlns:a16="http://schemas.microsoft.com/office/drawing/2014/main" id="{616FE304-29B6-483D-BA88-35361689DCD3}"/>
              </a:ext>
            </a:extLst>
          </p:cNvPr>
          <p:cNvSpPr txBox="1"/>
          <p:nvPr/>
        </p:nvSpPr>
        <p:spPr>
          <a:xfrm>
            <a:off x="4652964" y="2771727"/>
            <a:ext cx="1371600" cy="300082"/>
          </a:xfrm>
          <a:prstGeom prst="rect">
            <a:avLst/>
          </a:prstGeom>
          <a:noFill/>
        </p:spPr>
        <p:txBody>
          <a:bodyPr wrap="square" rtlCol="0">
            <a:spAutoFit/>
          </a:bodyPr>
          <a:lstStyle/>
          <a:p>
            <a:pPr defTabSz="685800"/>
            <a:r>
              <a:rPr lang="he-IL" sz="1350" dirty="0">
                <a:latin typeface="Perpetua"/>
                <a:cs typeface="Aharoni" panose="02010803020104030203" pitchFamily="2" charset="-79"/>
              </a:rPr>
              <a:t>היצע מקורי</a:t>
            </a:r>
            <a:endParaRPr lang="x-none" sz="1350" dirty="0">
              <a:latin typeface="Perpetua"/>
            </a:endParaRPr>
          </a:p>
        </p:txBody>
      </p:sp>
      <p:sp>
        <p:nvSpPr>
          <p:cNvPr id="25" name="Oval 24">
            <a:extLst>
              <a:ext uri="{FF2B5EF4-FFF2-40B4-BE49-F238E27FC236}">
                <a16:creationId xmlns:a16="http://schemas.microsoft.com/office/drawing/2014/main" id="{DA8F0FC0-1F6A-47CC-9155-277354503ACF}"/>
              </a:ext>
            </a:extLst>
          </p:cNvPr>
          <p:cNvSpPr/>
          <p:nvPr/>
        </p:nvSpPr>
        <p:spPr>
          <a:xfrm>
            <a:off x="4197688" y="4649561"/>
            <a:ext cx="306118" cy="273523"/>
          </a:xfrm>
          <a:prstGeom prst="ellips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r>
              <a:rPr lang="en-US" sz="1350" dirty="0">
                <a:solidFill>
                  <a:prstClr val="white"/>
                </a:solidFill>
                <a:latin typeface="Perpetua"/>
              </a:rPr>
              <a:t>A</a:t>
            </a:r>
            <a:endParaRPr lang="x-none" sz="1350" dirty="0">
              <a:solidFill>
                <a:prstClr val="white"/>
              </a:solidFill>
              <a:latin typeface="Perpetua"/>
            </a:endParaRPr>
          </a:p>
        </p:txBody>
      </p:sp>
      <p:sp>
        <p:nvSpPr>
          <p:cNvPr id="26" name="Oval 25">
            <a:extLst>
              <a:ext uri="{FF2B5EF4-FFF2-40B4-BE49-F238E27FC236}">
                <a16:creationId xmlns:a16="http://schemas.microsoft.com/office/drawing/2014/main" id="{27662B60-6B17-4476-ACC0-251FF7CF83C8}"/>
              </a:ext>
            </a:extLst>
          </p:cNvPr>
          <p:cNvSpPr/>
          <p:nvPr/>
        </p:nvSpPr>
        <p:spPr>
          <a:xfrm>
            <a:off x="5303888" y="3808082"/>
            <a:ext cx="286726" cy="276003"/>
          </a:xfrm>
          <a:prstGeom prst="ellips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r>
              <a:rPr lang="en-US" sz="1350" dirty="0">
                <a:solidFill>
                  <a:prstClr val="white"/>
                </a:solidFill>
                <a:latin typeface="Perpetua"/>
              </a:rPr>
              <a:t>B</a:t>
            </a:r>
            <a:endParaRPr lang="x-none" sz="1350" dirty="0">
              <a:solidFill>
                <a:prstClr val="white"/>
              </a:solidFill>
              <a:latin typeface="Perpetua"/>
            </a:endParaRPr>
          </a:p>
        </p:txBody>
      </p:sp>
      <p:sp>
        <p:nvSpPr>
          <p:cNvPr id="3" name="TextBox 2">
            <a:extLst>
              <a:ext uri="{FF2B5EF4-FFF2-40B4-BE49-F238E27FC236}">
                <a16:creationId xmlns:a16="http://schemas.microsoft.com/office/drawing/2014/main" id="{1E2A828C-9AC2-2376-7A14-BA474CC71BEF}"/>
              </a:ext>
            </a:extLst>
          </p:cNvPr>
          <p:cNvSpPr txBox="1"/>
          <p:nvPr/>
        </p:nvSpPr>
        <p:spPr>
          <a:xfrm>
            <a:off x="5983302" y="4212906"/>
            <a:ext cx="4465172" cy="937180"/>
          </a:xfrm>
          <a:prstGeom prst="rect">
            <a:avLst/>
          </a:prstGeom>
          <a:solidFill>
            <a:srgbClr val="CCECFF"/>
          </a:solidFill>
        </p:spPr>
        <p:txBody>
          <a:bodyPr wrap="square">
            <a:spAutoFit/>
          </a:bodyPr>
          <a:lstStyle/>
          <a:p>
            <a:pPr algn="r" rtl="1">
              <a:lnSpc>
                <a:spcPct val="160000"/>
              </a:lnSpc>
              <a:buClrTx/>
            </a:pPr>
            <a:r>
              <a:rPr lang="he-IL" dirty="0">
                <a:highlight>
                  <a:srgbClr val="FFFF00"/>
                </a:highlight>
                <a:latin typeface="David" pitchFamily="34" charset="-79"/>
                <a:cs typeface="David" pitchFamily="34" charset="-79"/>
              </a:rPr>
              <a:t>עודף היצרן= </a:t>
            </a:r>
            <a:r>
              <a:rPr lang="he-IL" dirty="0">
                <a:latin typeface="David" pitchFamily="34" charset="-79"/>
                <a:cs typeface="David" pitchFamily="34" charset="-79"/>
              </a:rPr>
              <a:t>השטח הכלוא בין </a:t>
            </a:r>
            <a:r>
              <a:rPr lang="he-IL" b="1" dirty="0">
                <a:latin typeface="David" pitchFamily="34" charset="-79"/>
                <a:cs typeface="David" pitchFamily="34" charset="-79"/>
              </a:rPr>
              <a:t>מחיר השוק לעקומת ההיצע</a:t>
            </a:r>
            <a:r>
              <a:rPr lang="he-IL" dirty="0">
                <a:latin typeface="David" pitchFamily="34" charset="-79"/>
                <a:cs typeface="David" pitchFamily="34" charset="-79"/>
              </a:rPr>
              <a:t>. זהו הרווח התפעולי של היצרן. </a:t>
            </a:r>
          </a:p>
        </p:txBody>
      </p:sp>
      <p:sp>
        <p:nvSpPr>
          <p:cNvPr id="8" name="TextBox 7">
            <a:extLst>
              <a:ext uri="{FF2B5EF4-FFF2-40B4-BE49-F238E27FC236}">
                <a16:creationId xmlns:a16="http://schemas.microsoft.com/office/drawing/2014/main" id="{6721E976-1054-A1FD-1C20-F8E5E196CB13}"/>
              </a:ext>
            </a:extLst>
          </p:cNvPr>
          <p:cNvSpPr txBox="1"/>
          <p:nvPr/>
        </p:nvSpPr>
        <p:spPr>
          <a:xfrm>
            <a:off x="7226906" y="5458913"/>
            <a:ext cx="3107986" cy="369332"/>
          </a:xfrm>
          <a:prstGeom prst="rect">
            <a:avLst/>
          </a:prstGeom>
          <a:solidFill>
            <a:srgbClr val="CCECFF"/>
          </a:solidFill>
        </p:spPr>
        <p:txBody>
          <a:bodyPr wrap="square" rtlCol="0">
            <a:spAutoFit/>
          </a:bodyPr>
          <a:lstStyle/>
          <a:p>
            <a:pPr algn="r" rtl="1"/>
            <a:r>
              <a:rPr lang="he-IL" dirty="0"/>
              <a:t>מנק' </a:t>
            </a:r>
            <a:r>
              <a:rPr lang="en-US" dirty="0"/>
              <a:t>A</a:t>
            </a:r>
            <a:r>
              <a:rPr lang="he-IL" dirty="0"/>
              <a:t> לנק' </a:t>
            </a:r>
            <a:r>
              <a:rPr lang="en-US" dirty="0"/>
              <a:t>B</a:t>
            </a:r>
            <a:r>
              <a:rPr lang="he-IL" dirty="0"/>
              <a:t> - עודף היצרן עולה!</a:t>
            </a:r>
            <a:endParaRPr lang="en-IL"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barn(inVertical)">
                                      <p:cBhvr>
                                        <p:cTn id="16" dur="500"/>
                                        <p:tgtEl>
                                          <p:spTgt spid="21"/>
                                        </p:tgtEl>
                                      </p:cBhvr>
                                    </p:animEffect>
                                  </p:childTnLst>
                                </p:cTn>
                              </p:par>
                              <p:par>
                                <p:cTn id="17" presetID="16" presetClass="entr" presetSubtype="21"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barn(inVertical)">
                                      <p:cBhvr>
                                        <p:cTn id="19" dur="500"/>
                                        <p:tgtEl>
                                          <p:spTgt spid="22"/>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arn(inVertical)">
                                      <p:cBhvr>
                                        <p:cTn id="22" dur="500"/>
                                        <p:tgtEl>
                                          <p:spTgt spid="17"/>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barn(inVertical)">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25"/>
                                        </p:tgtEl>
                                        <p:attrNameLst>
                                          <p:attrName>style.visibility</p:attrName>
                                        </p:attrNameLst>
                                      </p:cBhvr>
                                      <p:to>
                                        <p:strVal val="visible"/>
                                      </p:to>
                                    </p:set>
                                    <p:anim calcmode="lin" valueType="num">
                                      <p:cBhvr>
                                        <p:cTn id="30" dur="500" fill="hold"/>
                                        <p:tgtEl>
                                          <p:spTgt spid="25"/>
                                        </p:tgtEl>
                                        <p:attrNameLst>
                                          <p:attrName>ppt_w</p:attrName>
                                        </p:attrNameLst>
                                      </p:cBhvr>
                                      <p:tavLst>
                                        <p:tav tm="0">
                                          <p:val>
                                            <p:fltVal val="0"/>
                                          </p:val>
                                        </p:tav>
                                        <p:tav tm="100000">
                                          <p:val>
                                            <p:strVal val="#ppt_w"/>
                                          </p:val>
                                        </p:tav>
                                      </p:tavLst>
                                    </p:anim>
                                    <p:anim calcmode="lin" valueType="num">
                                      <p:cBhvr>
                                        <p:cTn id="31" dur="500" fill="hold"/>
                                        <p:tgtEl>
                                          <p:spTgt spid="25"/>
                                        </p:tgtEl>
                                        <p:attrNameLst>
                                          <p:attrName>ppt_h</p:attrName>
                                        </p:attrNameLst>
                                      </p:cBhvr>
                                      <p:tavLst>
                                        <p:tav tm="0">
                                          <p:val>
                                            <p:fltVal val="0"/>
                                          </p:val>
                                        </p:tav>
                                        <p:tav tm="100000">
                                          <p:val>
                                            <p:strVal val="#ppt_h"/>
                                          </p:val>
                                        </p:tav>
                                      </p:tavLst>
                                    </p:anim>
                                    <p:animEffect transition="in" filter="fade">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6" presetClass="entr" presetSubtype="0"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wipe(down)">
                                      <p:cBhvr>
                                        <p:cTn id="42" dur="580">
                                          <p:stCondLst>
                                            <p:cond delay="0"/>
                                          </p:stCondLst>
                                        </p:cTn>
                                        <p:tgtEl>
                                          <p:spTgt spid="26"/>
                                        </p:tgtEl>
                                      </p:cBhvr>
                                    </p:animEffect>
                                    <p:anim calcmode="lin" valueType="num">
                                      <p:cBhvr>
                                        <p:cTn id="43" dur="1822"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44" dur="664"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45" dur="664" tmFilter="0, 0; 0.125,0.2665; 0.25,0.4; 0.375,0.465; 0.5,0.5;  0.625,0.535; 0.75,0.6; 0.875,0.7335; 1,1">
                                          <p:stCondLst>
                                            <p:cond delay="664"/>
                                          </p:stCondLst>
                                        </p:cTn>
                                        <p:tgtEl>
                                          <p:spTgt spid="26"/>
                                        </p:tgtEl>
                                        <p:attrNameLst>
                                          <p:attrName>ppt_y</p:attrName>
                                        </p:attrNameLst>
                                      </p:cBhvr>
                                      <p:tavLst>
                                        <p:tav tm="0" fmla="#ppt_y-sin(pi*$)/9">
                                          <p:val>
                                            <p:fltVal val="0"/>
                                          </p:val>
                                        </p:tav>
                                        <p:tav tm="100000">
                                          <p:val>
                                            <p:fltVal val="1"/>
                                          </p:val>
                                        </p:tav>
                                      </p:tavLst>
                                    </p:anim>
                                    <p:anim calcmode="lin" valueType="num">
                                      <p:cBhvr>
                                        <p:cTn id="46" dur="332" tmFilter="0, 0; 0.125,0.2665; 0.25,0.4; 0.375,0.465; 0.5,0.5;  0.625,0.535; 0.75,0.6; 0.875,0.7335; 1,1">
                                          <p:stCondLst>
                                            <p:cond delay="1324"/>
                                          </p:stCondLst>
                                        </p:cTn>
                                        <p:tgtEl>
                                          <p:spTgt spid="26"/>
                                        </p:tgtEl>
                                        <p:attrNameLst>
                                          <p:attrName>ppt_y</p:attrName>
                                        </p:attrNameLst>
                                      </p:cBhvr>
                                      <p:tavLst>
                                        <p:tav tm="0" fmla="#ppt_y-sin(pi*$)/27">
                                          <p:val>
                                            <p:fltVal val="0"/>
                                          </p:val>
                                        </p:tav>
                                        <p:tav tm="100000">
                                          <p:val>
                                            <p:fltVal val="1"/>
                                          </p:val>
                                        </p:tav>
                                      </p:tavLst>
                                    </p:anim>
                                    <p:anim calcmode="lin" valueType="num">
                                      <p:cBhvr>
                                        <p:cTn id="47" dur="164" tmFilter="0, 0; 0.125,0.2665; 0.25,0.4; 0.375,0.465; 0.5,0.5;  0.625,0.535; 0.75,0.6; 0.875,0.7335; 1,1">
                                          <p:stCondLst>
                                            <p:cond delay="1656"/>
                                          </p:stCondLst>
                                        </p:cTn>
                                        <p:tgtEl>
                                          <p:spTgt spid="26"/>
                                        </p:tgtEl>
                                        <p:attrNameLst>
                                          <p:attrName>ppt_y</p:attrName>
                                        </p:attrNameLst>
                                      </p:cBhvr>
                                      <p:tavLst>
                                        <p:tav tm="0" fmla="#ppt_y-sin(pi*$)/81">
                                          <p:val>
                                            <p:fltVal val="0"/>
                                          </p:val>
                                        </p:tav>
                                        <p:tav tm="100000">
                                          <p:val>
                                            <p:fltVal val="1"/>
                                          </p:val>
                                        </p:tav>
                                      </p:tavLst>
                                    </p:anim>
                                    <p:animScale>
                                      <p:cBhvr>
                                        <p:cTn id="48" dur="26">
                                          <p:stCondLst>
                                            <p:cond delay="650"/>
                                          </p:stCondLst>
                                        </p:cTn>
                                        <p:tgtEl>
                                          <p:spTgt spid="26"/>
                                        </p:tgtEl>
                                      </p:cBhvr>
                                      <p:to x="100000" y="60000"/>
                                    </p:animScale>
                                    <p:animScale>
                                      <p:cBhvr>
                                        <p:cTn id="49" dur="166" decel="50000">
                                          <p:stCondLst>
                                            <p:cond delay="676"/>
                                          </p:stCondLst>
                                        </p:cTn>
                                        <p:tgtEl>
                                          <p:spTgt spid="26"/>
                                        </p:tgtEl>
                                      </p:cBhvr>
                                      <p:to x="100000" y="100000"/>
                                    </p:animScale>
                                    <p:animScale>
                                      <p:cBhvr>
                                        <p:cTn id="50" dur="26">
                                          <p:stCondLst>
                                            <p:cond delay="1312"/>
                                          </p:stCondLst>
                                        </p:cTn>
                                        <p:tgtEl>
                                          <p:spTgt spid="26"/>
                                        </p:tgtEl>
                                      </p:cBhvr>
                                      <p:to x="100000" y="80000"/>
                                    </p:animScale>
                                    <p:animScale>
                                      <p:cBhvr>
                                        <p:cTn id="51" dur="166" decel="50000">
                                          <p:stCondLst>
                                            <p:cond delay="1338"/>
                                          </p:stCondLst>
                                        </p:cTn>
                                        <p:tgtEl>
                                          <p:spTgt spid="26"/>
                                        </p:tgtEl>
                                      </p:cBhvr>
                                      <p:to x="100000" y="100000"/>
                                    </p:animScale>
                                    <p:animScale>
                                      <p:cBhvr>
                                        <p:cTn id="52" dur="26">
                                          <p:stCondLst>
                                            <p:cond delay="1642"/>
                                          </p:stCondLst>
                                        </p:cTn>
                                        <p:tgtEl>
                                          <p:spTgt spid="26"/>
                                        </p:tgtEl>
                                      </p:cBhvr>
                                      <p:to x="100000" y="90000"/>
                                    </p:animScale>
                                    <p:animScale>
                                      <p:cBhvr>
                                        <p:cTn id="53" dur="166" decel="50000">
                                          <p:stCondLst>
                                            <p:cond delay="1668"/>
                                          </p:stCondLst>
                                        </p:cTn>
                                        <p:tgtEl>
                                          <p:spTgt spid="26"/>
                                        </p:tgtEl>
                                      </p:cBhvr>
                                      <p:to x="100000" y="100000"/>
                                    </p:animScale>
                                    <p:animScale>
                                      <p:cBhvr>
                                        <p:cTn id="54" dur="26">
                                          <p:stCondLst>
                                            <p:cond delay="1808"/>
                                          </p:stCondLst>
                                        </p:cTn>
                                        <p:tgtEl>
                                          <p:spTgt spid="26"/>
                                        </p:tgtEl>
                                      </p:cBhvr>
                                      <p:to x="100000" y="95000"/>
                                    </p:animScale>
                                    <p:animScale>
                                      <p:cBhvr>
                                        <p:cTn id="55" dur="166" decel="50000">
                                          <p:stCondLst>
                                            <p:cond delay="1834"/>
                                          </p:stCondLst>
                                        </p:cTn>
                                        <p:tgtEl>
                                          <p:spTgt spid="26"/>
                                        </p:tgtEl>
                                      </p:cBhvr>
                                      <p:to x="100000" y="100000"/>
                                    </p:animScale>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grpId="0"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barn(inVertical)">
                                      <p:cBhvr>
                                        <p:cTn id="60" dur="500"/>
                                        <p:tgtEl>
                                          <p:spTgt spid="3"/>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0" nodeType="clickEffect">
                                  <p:stCondLst>
                                    <p:cond delay="0"/>
                                  </p:stCondLst>
                                  <p:childTnLst>
                                    <p:set>
                                      <p:cBhvr>
                                        <p:cTn id="64" dur="1" fill="hold">
                                          <p:stCondLst>
                                            <p:cond delay="0"/>
                                          </p:stCondLst>
                                        </p:cTn>
                                        <p:tgtEl>
                                          <p:spTgt spid="8"/>
                                        </p:tgtEl>
                                        <p:attrNameLst>
                                          <p:attrName>style.visibility</p:attrName>
                                        </p:attrNameLst>
                                      </p:cBhvr>
                                      <p:to>
                                        <p:strVal val="visible"/>
                                      </p:to>
                                    </p:set>
                                    <p:anim calcmode="lin" valueType="num">
                                      <p:cBhvr>
                                        <p:cTn id="65" dur="500" fill="hold"/>
                                        <p:tgtEl>
                                          <p:spTgt spid="8"/>
                                        </p:tgtEl>
                                        <p:attrNameLst>
                                          <p:attrName>ppt_w</p:attrName>
                                        </p:attrNameLst>
                                      </p:cBhvr>
                                      <p:tavLst>
                                        <p:tav tm="0">
                                          <p:val>
                                            <p:fltVal val="0"/>
                                          </p:val>
                                        </p:tav>
                                        <p:tav tm="100000">
                                          <p:val>
                                            <p:strVal val="#ppt_w"/>
                                          </p:val>
                                        </p:tav>
                                      </p:tavLst>
                                    </p:anim>
                                    <p:anim calcmode="lin" valueType="num">
                                      <p:cBhvr>
                                        <p:cTn id="66" dur="500" fill="hold"/>
                                        <p:tgtEl>
                                          <p:spTgt spid="8"/>
                                        </p:tgtEl>
                                        <p:attrNameLst>
                                          <p:attrName>ppt_h</p:attrName>
                                        </p:attrNameLst>
                                      </p:cBhvr>
                                      <p:tavLst>
                                        <p:tav tm="0">
                                          <p:val>
                                            <p:fltVal val="0"/>
                                          </p:val>
                                        </p:tav>
                                        <p:tav tm="100000">
                                          <p:val>
                                            <p:strVal val="#ppt_h"/>
                                          </p:val>
                                        </p:tav>
                                      </p:tavLst>
                                    </p:anim>
                                    <p:animEffect transition="in" filter="fade">
                                      <p:cBhvr>
                                        <p:cTn id="6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7" grpId="0"/>
      <p:bldP spid="24" grpId="0" animBg="1"/>
      <p:bldP spid="10" grpId="0"/>
      <p:bldP spid="25" grpId="0" animBg="1"/>
      <p:bldP spid="26" grpId="0" animBg="1"/>
      <p:bldP spid="3"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559338" y="197976"/>
            <a:ext cx="3311148" cy="636607"/>
          </a:xfrm>
        </p:spPr>
        <p:txBody>
          <a:bodyPr>
            <a:normAutofit/>
          </a:bodyPr>
          <a:lstStyle/>
          <a:p>
            <a:pPr algn="r"/>
            <a:r>
              <a:rPr lang="he-IL" sz="3600" dirty="0"/>
              <a:t>שאלה 3- סעיף נוסף</a:t>
            </a:r>
            <a:endParaRPr lang="en-US" sz="3600" dirty="0"/>
          </a:p>
        </p:txBody>
      </p:sp>
      <p:sp>
        <p:nvSpPr>
          <p:cNvPr id="4" name="Rectangle 3"/>
          <p:cNvSpPr/>
          <p:nvPr/>
        </p:nvSpPr>
        <p:spPr>
          <a:xfrm>
            <a:off x="1782042" y="844740"/>
            <a:ext cx="10038600" cy="1945404"/>
          </a:xfrm>
          <a:prstGeom prst="rect">
            <a:avLst/>
          </a:prstGeom>
        </p:spPr>
        <p:txBody>
          <a:bodyPr wrap="square">
            <a:spAutoFit/>
          </a:bodyPr>
          <a:lstStyle/>
          <a:p>
            <a:pPr defTabSz="685800">
              <a:lnSpc>
                <a:spcPct val="150000"/>
              </a:lnSpc>
            </a:pPr>
            <a:r>
              <a:rPr lang="he-IL" dirty="0">
                <a:solidFill>
                  <a:prstClr val="black"/>
                </a:solidFill>
                <a:latin typeface="Arial" panose="020B0604020202020204" pitchFamily="34" charset="0"/>
                <a:cs typeface="Arial" panose="020B0604020202020204" pitchFamily="34" charset="0"/>
              </a:rPr>
              <a:t>פירמה פועלת בתנאי תפוקה שולית פוחתת. הפירמה מעסיקה גורם יצור משתנה אחד, עובדים, וגורם יצור קבוע אחד. כיצד ישפיעו השינויים הבאים על עקומת ההיצע של הפירמה בטווח הקצר: הציגו בגרף את ההשפעות ונתחו.</a:t>
            </a:r>
          </a:p>
          <a:p>
            <a:pPr defTabSz="685800">
              <a:lnSpc>
                <a:spcPct val="200000"/>
              </a:lnSpc>
            </a:pPr>
            <a:endParaRPr lang="he-IL" b="1" dirty="0">
              <a:solidFill>
                <a:prstClr val="black"/>
              </a:solidFill>
              <a:latin typeface="Arial" panose="020B0604020202020204" pitchFamily="34" charset="0"/>
              <a:cs typeface="Arial" panose="020B0604020202020204" pitchFamily="34" charset="0"/>
            </a:endParaRPr>
          </a:p>
          <a:p>
            <a:pPr defTabSz="685800">
              <a:lnSpc>
                <a:spcPct val="200000"/>
              </a:lnSpc>
            </a:pPr>
            <a:r>
              <a:rPr lang="he-IL" b="1" dirty="0">
                <a:solidFill>
                  <a:prstClr val="black"/>
                </a:solidFill>
                <a:latin typeface="Arial" panose="020B0604020202020204" pitchFamily="34" charset="0"/>
                <a:cs typeface="Arial" panose="020B0604020202020204" pitchFamily="34" charset="0"/>
              </a:rPr>
              <a:t>4. חלה עלייה במחיר גורם הייצור </a:t>
            </a:r>
            <a:r>
              <a:rPr lang="he-IL" b="1" u="sng" dirty="0">
                <a:solidFill>
                  <a:prstClr val="black"/>
                </a:solidFill>
                <a:latin typeface="Arial" panose="020B0604020202020204" pitchFamily="34" charset="0"/>
                <a:cs typeface="Arial" panose="020B0604020202020204" pitchFamily="34" charset="0"/>
              </a:rPr>
              <a:t>הקבוע</a:t>
            </a:r>
            <a:r>
              <a:rPr lang="he-IL" b="1" dirty="0">
                <a:solidFill>
                  <a:prstClr val="black"/>
                </a:solidFill>
                <a:latin typeface="Arial" panose="020B0604020202020204" pitchFamily="34" charset="0"/>
                <a:cs typeface="Arial" panose="020B0604020202020204" pitchFamily="34" charset="0"/>
              </a:rPr>
              <a:t> </a:t>
            </a:r>
            <a:r>
              <a:rPr lang="he-IL" dirty="0">
                <a:solidFill>
                  <a:prstClr val="black"/>
                </a:solidFill>
                <a:latin typeface="Arial" panose="020B0604020202020204" pitchFamily="34" charset="0"/>
                <a:cs typeface="Arial" panose="020B0604020202020204" pitchFamily="34" charset="0"/>
              </a:rPr>
              <a:t>(למשל, עלו דמי שכירות על המבנה).</a:t>
            </a:r>
          </a:p>
        </p:txBody>
      </p:sp>
      <p:sp>
        <p:nvSpPr>
          <p:cNvPr id="2" name="Slide Number Placeholder 1"/>
          <p:cNvSpPr>
            <a:spLocks noGrp="1"/>
          </p:cNvSpPr>
          <p:nvPr>
            <p:ph type="sldNum" sz="quarter" idx="12"/>
          </p:nvPr>
        </p:nvSpPr>
        <p:spPr/>
        <p:txBody>
          <a:bodyPr/>
          <a:lstStyle/>
          <a:p>
            <a:pPr defTabSz="685800" rtl="0"/>
            <a:fld id="{CBF92039-BB9D-4F46-95B7-49E6508B93B0}" type="slidenum">
              <a:rPr lang="en-US">
                <a:latin typeface="Franklin Gothic Book"/>
              </a:rPr>
              <a:pPr defTabSz="685800" rtl="0"/>
              <a:t>19</a:t>
            </a:fld>
            <a:endParaRPr lang="en-US">
              <a:latin typeface="Franklin Gothic Book"/>
            </a:endParaRPr>
          </a:p>
        </p:txBody>
      </p:sp>
      <p:cxnSp>
        <p:nvCxnSpPr>
          <p:cNvPr id="5" name="Straight Arrow Connector 4">
            <a:extLst>
              <a:ext uri="{FF2B5EF4-FFF2-40B4-BE49-F238E27FC236}">
                <a16:creationId xmlns:a16="http://schemas.microsoft.com/office/drawing/2014/main" id="{6F6051ED-76AB-498E-B725-EF61419318ED}"/>
              </a:ext>
            </a:extLst>
          </p:cNvPr>
          <p:cNvCxnSpPr/>
          <p:nvPr/>
        </p:nvCxnSpPr>
        <p:spPr>
          <a:xfrm>
            <a:off x="4152900" y="5711071"/>
            <a:ext cx="20002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72FDC4B9-77A5-490D-A8F2-3D95E108F173}"/>
              </a:ext>
            </a:extLst>
          </p:cNvPr>
          <p:cNvCxnSpPr>
            <a:cxnSpLocks/>
          </p:cNvCxnSpPr>
          <p:nvPr/>
        </p:nvCxnSpPr>
        <p:spPr>
          <a:xfrm flipV="1">
            <a:off x="4152900" y="4005065"/>
            <a:ext cx="0" cy="17060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A37DC44-C300-4F44-AC03-F95E5C5BC1A1}"/>
              </a:ext>
            </a:extLst>
          </p:cNvPr>
          <p:cNvSpPr txBox="1"/>
          <p:nvPr/>
        </p:nvSpPr>
        <p:spPr>
          <a:xfrm>
            <a:off x="3430911" y="3735080"/>
            <a:ext cx="976508" cy="338554"/>
          </a:xfrm>
          <a:prstGeom prst="rect">
            <a:avLst/>
          </a:prstGeom>
          <a:noFill/>
        </p:spPr>
        <p:txBody>
          <a:bodyPr wrap="square" rtlCol="0">
            <a:spAutoFit/>
          </a:bodyPr>
          <a:lstStyle/>
          <a:p>
            <a:pPr algn="l" defTabSz="685800" rtl="0"/>
            <a:r>
              <a:rPr lang="en-US" sz="1600" dirty="0">
                <a:solidFill>
                  <a:prstClr val="black"/>
                </a:solidFill>
                <a:latin typeface="Perpetua"/>
              </a:rPr>
              <a:t>Px, MC</a:t>
            </a:r>
            <a:endParaRPr lang="x-none" sz="1600" dirty="0">
              <a:solidFill>
                <a:prstClr val="black"/>
              </a:solidFill>
              <a:latin typeface="Perpetua"/>
            </a:endParaRPr>
          </a:p>
        </p:txBody>
      </p:sp>
      <p:sp>
        <p:nvSpPr>
          <p:cNvPr id="8" name="TextBox 7">
            <a:extLst>
              <a:ext uri="{FF2B5EF4-FFF2-40B4-BE49-F238E27FC236}">
                <a16:creationId xmlns:a16="http://schemas.microsoft.com/office/drawing/2014/main" id="{8A8CBDA8-5B3A-4563-BE9C-690DAAFE2E4E}"/>
              </a:ext>
            </a:extLst>
          </p:cNvPr>
          <p:cNvSpPr txBox="1"/>
          <p:nvPr/>
        </p:nvSpPr>
        <p:spPr>
          <a:xfrm>
            <a:off x="6210301" y="5572571"/>
            <a:ext cx="361749" cy="300082"/>
          </a:xfrm>
          <a:prstGeom prst="rect">
            <a:avLst/>
          </a:prstGeom>
          <a:noFill/>
        </p:spPr>
        <p:txBody>
          <a:bodyPr wrap="square" rtlCol="0">
            <a:spAutoFit/>
          </a:bodyPr>
          <a:lstStyle/>
          <a:p>
            <a:pPr algn="l" defTabSz="685800" rtl="0"/>
            <a:r>
              <a:rPr lang="en-US" sz="1350" dirty="0">
                <a:solidFill>
                  <a:prstClr val="black"/>
                </a:solidFill>
                <a:latin typeface="Perpetua"/>
              </a:rPr>
              <a:t>X</a:t>
            </a:r>
            <a:endParaRPr lang="x-none" sz="1350" dirty="0">
              <a:solidFill>
                <a:prstClr val="black"/>
              </a:solidFill>
              <a:latin typeface="Perpetua"/>
            </a:endParaRPr>
          </a:p>
        </p:txBody>
      </p:sp>
      <p:cxnSp>
        <p:nvCxnSpPr>
          <p:cNvPr id="10" name="Straight Connector 9">
            <a:extLst>
              <a:ext uri="{FF2B5EF4-FFF2-40B4-BE49-F238E27FC236}">
                <a16:creationId xmlns:a16="http://schemas.microsoft.com/office/drawing/2014/main" id="{ACB9B356-B5DC-413B-A722-9A1E5093306B}"/>
              </a:ext>
            </a:extLst>
          </p:cNvPr>
          <p:cNvCxnSpPr>
            <a:cxnSpLocks/>
          </p:cNvCxnSpPr>
          <p:nvPr/>
        </p:nvCxnSpPr>
        <p:spPr>
          <a:xfrm flipV="1">
            <a:off x="4452863" y="4425903"/>
            <a:ext cx="1428901" cy="97671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6BF2756-94B3-4E04-8664-40790B5964DA}"/>
              </a:ext>
            </a:extLst>
          </p:cNvPr>
          <p:cNvCxnSpPr>
            <a:cxnSpLocks/>
          </p:cNvCxnSpPr>
          <p:nvPr/>
        </p:nvCxnSpPr>
        <p:spPr>
          <a:xfrm flipV="1">
            <a:off x="4440893" y="4403996"/>
            <a:ext cx="1452840" cy="976714"/>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2C361C5-AD9A-4A42-A0CC-338D51912D37}"/>
              </a:ext>
            </a:extLst>
          </p:cNvPr>
          <p:cNvSpPr txBox="1"/>
          <p:nvPr/>
        </p:nvSpPr>
        <p:spPr>
          <a:xfrm>
            <a:off x="4747346" y="3860952"/>
            <a:ext cx="1622906" cy="369332"/>
          </a:xfrm>
          <a:prstGeom prst="rect">
            <a:avLst/>
          </a:prstGeom>
          <a:noFill/>
        </p:spPr>
        <p:txBody>
          <a:bodyPr wrap="square" rtlCol="0">
            <a:spAutoFit/>
          </a:bodyPr>
          <a:lstStyle/>
          <a:p>
            <a:pPr defTabSz="685800"/>
            <a:r>
              <a:rPr lang="en-US" sz="1350" dirty="0">
                <a:solidFill>
                  <a:prstClr val="black"/>
                </a:solidFill>
                <a:latin typeface="Perpetua"/>
              </a:rPr>
              <a:t> </a:t>
            </a:r>
            <a:r>
              <a:rPr lang="en-US" dirty="0">
                <a:solidFill>
                  <a:srgbClr val="C00000"/>
                </a:solidFill>
                <a:latin typeface="Perpetua"/>
              </a:rPr>
              <a:t>S</a:t>
            </a:r>
            <a:r>
              <a:rPr lang="en-US" sz="1400" dirty="0">
                <a:solidFill>
                  <a:srgbClr val="C00000"/>
                </a:solidFill>
                <a:latin typeface="Perpetua"/>
              </a:rPr>
              <a:t>0</a:t>
            </a:r>
            <a:r>
              <a:rPr lang="he-IL" dirty="0">
                <a:solidFill>
                  <a:srgbClr val="C00000"/>
                </a:solidFill>
                <a:latin typeface="Perpetua"/>
                <a:cs typeface="Aharoni" panose="02010803020104030203" pitchFamily="2" charset="-79"/>
              </a:rPr>
              <a:t>=היצע מקורי</a:t>
            </a:r>
            <a:endParaRPr lang="x-none" dirty="0">
              <a:solidFill>
                <a:srgbClr val="C00000"/>
              </a:solidFill>
              <a:latin typeface="Perpetua"/>
            </a:endParaRPr>
          </a:p>
        </p:txBody>
      </p:sp>
      <p:sp>
        <p:nvSpPr>
          <p:cNvPr id="13" name="TextBox 12">
            <a:extLst>
              <a:ext uri="{FF2B5EF4-FFF2-40B4-BE49-F238E27FC236}">
                <a16:creationId xmlns:a16="http://schemas.microsoft.com/office/drawing/2014/main" id="{9D535167-71DE-4C5C-989D-E1434AE9CD1E}"/>
              </a:ext>
            </a:extLst>
          </p:cNvPr>
          <p:cNvSpPr txBox="1"/>
          <p:nvPr/>
        </p:nvSpPr>
        <p:spPr>
          <a:xfrm>
            <a:off x="6421977" y="3833126"/>
            <a:ext cx="1609117" cy="369332"/>
          </a:xfrm>
          <a:prstGeom prst="rect">
            <a:avLst/>
          </a:prstGeom>
          <a:noFill/>
        </p:spPr>
        <p:txBody>
          <a:bodyPr wrap="square" rtlCol="0">
            <a:spAutoFit/>
          </a:bodyPr>
          <a:lstStyle/>
          <a:p>
            <a:pPr defTabSz="685800"/>
            <a:r>
              <a:rPr lang="en-US" sz="1350" dirty="0">
                <a:solidFill>
                  <a:prstClr val="black"/>
                </a:solidFill>
                <a:latin typeface="Perpetua"/>
              </a:rPr>
              <a:t> </a:t>
            </a:r>
            <a:r>
              <a:rPr lang="en-US" dirty="0">
                <a:solidFill>
                  <a:srgbClr val="0070C0"/>
                </a:solidFill>
                <a:latin typeface="Perpetua"/>
              </a:rPr>
              <a:t>S</a:t>
            </a:r>
            <a:r>
              <a:rPr lang="en-US" sz="1400" dirty="0">
                <a:solidFill>
                  <a:srgbClr val="0070C0"/>
                </a:solidFill>
                <a:latin typeface="Perpetua"/>
              </a:rPr>
              <a:t>1</a:t>
            </a:r>
            <a:r>
              <a:rPr lang="he-IL" dirty="0">
                <a:solidFill>
                  <a:srgbClr val="0070C0"/>
                </a:solidFill>
                <a:latin typeface="Perpetua"/>
                <a:cs typeface="Aharoni" panose="02010803020104030203" pitchFamily="2" charset="-79"/>
              </a:rPr>
              <a:t>=היצע חדש</a:t>
            </a:r>
            <a:endParaRPr lang="x-none" sz="1350" dirty="0">
              <a:solidFill>
                <a:srgbClr val="0070C0"/>
              </a:solidFill>
              <a:latin typeface="Perpetua"/>
            </a:endParaRPr>
          </a:p>
        </p:txBody>
      </p:sp>
      <p:sp>
        <p:nvSpPr>
          <p:cNvPr id="14" name="Equals 13">
            <a:extLst>
              <a:ext uri="{FF2B5EF4-FFF2-40B4-BE49-F238E27FC236}">
                <a16:creationId xmlns:a16="http://schemas.microsoft.com/office/drawing/2014/main" id="{8676475D-5260-4A04-B9F6-5A1CBF779508}"/>
              </a:ext>
            </a:extLst>
          </p:cNvPr>
          <p:cNvSpPr/>
          <p:nvPr/>
        </p:nvSpPr>
        <p:spPr>
          <a:xfrm>
            <a:off x="6348624" y="3897767"/>
            <a:ext cx="285750" cy="240049"/>
          </a:xfrm>
          <a:prstGeom prst="mathEqual">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x-none" sz="1350">
              <a:solidFill>
                <a:prstClr val="white">
                  <a:lumMod val="50000"/>
                </a:prstClr>
              </a:solidFill>
              <a:latin typeface="Perpetua"/>
            </a:endParaRPr>
          </a:p>
        </p:txBody>
      </p:sp>
      <p:sp>
        <p:nvSpPr>
          <p:cNvPr id="15" name="TextBox 14">
            <a:extLst>
              <a:ext uri="{FF2B5EF4-FFF2-40B4-BE49-F238E27FC236}">
                <a16:creationId xmlns:a16="http://schemas.microsoft.com/office/drawing/2014/main" id="{FE22C0D9-04FB-478F-86D2-2BE2BE6FFF59}"/>
              </a:ext>
            </a:extLst>
          </p:cNvPr>
          <p:cNvSpPr txBox="1"/>
          <p:nvPr/>
        </p:nvSpPr>
        <p:spPr>
          <a:xfrm>
            <a:off x="8559338" y="3734401"/>
            <a:ext cx="2578562" cy="1345048"/>
          </a:xfrm>
          <a:prstGeom prst="rect">
            <a:avLst/>
          </a:prstGeom>
          <a:solidFill>
            <a:schemeClr val="bg2"/>
          </a:solidFill>
        </p:spPr>
        <p:txBody>
          <a:bodyPr wrap="square" rtlCol="0">
            <a:spAutoFit/>
          </a:bodyPr>
          <a:lstStyle/>
          <a:p>
            <a:pPr>
              <a:lnSpc>
                <a:spcPct val="150000"/>
              </a:lnSpc>
            </a:pPr>
            <a:r>
              <a:rPr lang="he-IL" sz="1400" dirty="0">
                <a:latin typeface="Arial" panose="020B0604020202020204" pitchFamily="34" charset="0"/>
                <a:cs typeface="Arial" panose="020B0604020202020204" pitchFamily="34" charset="0"/>
              </a:rPr>
              <a:t>שינוי בעלות הקבועה </a:t>
            </a:r>
            <a:r>
              <a:rPr lang="he-IL" sz="1400" b="1" dirty="0">
                <a:latin typeface="Arial" panose="020B0604020202020204" pitchFamily="34" charset="0"/>
                <a:cs typeface="Arial" panose="020B0604020202020204" pitchFamily="34" charset="0"/>
              </a:rPr>
              <a:t>לא משפיע </a:t>
            </a:r>
            <a:r>
              <a:rPr lang="he-IL" sz="1400" dirty="0">
                <a:latin typeface="Arial" panose="020B0604020202020204" pitchFamily="34" charset="0"/>
                <a:cs typeface="Arial" panose="020B0604020202020204" pitchFamily="34" charset="0"/>
              </a:rPr>
              <a:t>על עקומת ההיצע בטווח הקצר. בטווח הארוך ייתכן שהיצרן לא ייצר במחיר השוק (מינימום </a:t>
            </a:r>
            <a:r>
              <a:rPr lang="en-US" sz="1400" dirty="0">
                <a:latin typeface="Arial" panose="020B0604020202020204" pitchFamily="34" charset="0"/>
                <a:cs typeface="Arial" panose="020B0604020202020204" pitchFamily="34" charset="0"/>
              </a:rPr>
              <a:t>ATC</a:t>
            </a:r>
            <a:r>
              <a:rPr lang="he-IL" sz="1400" dirty="0">
                <a:latin typeface="Arial" panose="020B0604020202020204" pitchFamily="34" charset="0"/>
                <a:cs typeface="Arial" panose="020B0604020202020204" pitchFamily="34" charset="0"/>
              </a:rPr>
              <a:t> עלה)</a:t>
            </a:r>
            <a:endParaRPr lang="en-IL"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7612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randombar(horizontal)">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animBg="1"/>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48076"/>
          </a:xfrm>
        </p:spPr>
        <p:txBody>
          <a:bodyPr>
            <a:normAutofit fontScale="90000"/>
          </a:bodyPr>
          <a:lstStyle/>
          <a:p>
            <a:pPr algn="ctr"/>
            <a:r>
              <a:rPr lang="he-IL" dirty="0"/>
              <a:t>שינויים בנקודת שיווי המשקל</a:t>
            </a:r>
            <a:endParaRPr lang="en-US" dirty="0"/>
          </a:p>
        </p:txBody>
      </p:sp>
      <p:sp>
        <p:nvSpPr>
          <p:cNvPr id="10" name="Slide Number Placeholder 9">
            <a:extLst>
              <a:ext uri="{FF2B5EF4-FFF2-40B4-BE49-F238E27FC236}">
                <a16:creationId xmlns:a16="http://schemas.microsoft.com/office/drawing/2014/main" id="{DDF6615F-1E91-48A2-A586-3FE15E07A903}"/>
              </a:ext>
            </a:extLst>
          </p:cNvPr>
          <p:cNvSpPr>
            <a:spLocks noGrp="1"/>
          </p:cNvSpPr>
          <p:nvPr>
            <p:ph type="sldNum" sz="quarter" idx="12"/>
          </p:nvPr>
        </p:nvSpPr>
        <p:spPr/>
        <p:txBody>
          <a:bodyPr/>
          <a:lstStyle/>
          <a:p>
            <a:pPr rtl="0"/>
            <a:fld id="{EE4A799E-BCDC-47C4-95D4-74FB8914F55A}" type="slidenum">
              <a:rPr lang="en-US">
                <a:solidFill>
                  <a:prstClr val="black">
                    <a:tint val="75000"/>
                  </a:prstClr>
                </a:solidFill>
                <a:latin typeface="Calibri"/>
              </a:rPr>
              <a:pPr rtl="0"/>
              <a:t>20</a:t>
            </a:fld>
            <a:endParaRPr lang="en-US">
              <a:solidFill>
                <a:prstClr val="black">
                  <a:tint val="75000"/>
                </a:prstClr>
              </a:solidFill>
              <a:latin typeface="Calibri"/>
            </a:endParaRPr>
          </a:p>
        </p:txBody>
      </p:sp>
      <p:sp>
        <p:nvSpPr>
          <p:cNvPr id="4" name="Rectangle 3">
            <a:extLst>
              <a:ext uri="{FF2B5EF4-FFF2-40B4-BE49-F238E27FC236}">
                <a16:creationId xmlns:a16="http://schemas.microsoft.com/office/drawing/2014/main" id="{1BD1B921-C5E3-4E69-BB80-7282D0F289B8}"/>
              </a:ext>
            </a:extLst>
          </p:cNvPr>
          <p:cNvSpPr/>
          <p:nvPr/>
        </p:nvSpPr>
        <p:spPr>
          <a:xfrm>
            <a:off x="4253819" y="976049"/>
            <a:ext cx="7467600" cy="369332"/>
          </a:xfrm>
          <a:prstGeom prst="rect">
            <a:avLst/>
          </a:prstGeom>
        </p:spPr>
        <p:txBody>
          <a:bodyPr wrap="square">
            <a:spAutoFit/>
          </a:bodyPr>
          <a:lstStyle/>
          <a:p>
            <a:r>
              <a:rPr lang="he-IL" dirty="0">
                <a:solidFill>
                  <a:prstClr val="black"/>
                </a:solidFill>
                <a:latin typeface="David" pitchFamily="34" charset="-79"/>
                <a:cs typeface="David" pitchFamily="34" charset="-79"/>
              </a:rPr>
              <a:t>כל עוד אין שינוי בהיצע וביקוש של השוק לא יהיה שינוי בנקודת שיווי המשקל.</a:t>
            </a:r>
          </a:p>
        </p:txBody>
      </p:sp>
      <p:sp>
        <p:nvSpPr>
          <p:cNvPr id="5" name="Rectangle 4">
            <a:extLst>
              <a:ext uri="{FF2B5EF4-FFF2-40B4-BE49-F238E27FC236}">
                <a16:creationId xmlns:a16="http://schemas.microsoft.com/office/drawing/2014/main" id="{AF54B4BE-D10A-43C3-89AE-B293DB6A9795}"/>
              </a:ext>
            </a:extLst>
          </p:cNvPr>
          <p:cNvSpPr/>
          <p:nvPr/>
        </p:nvSpPr>
        <p:spPr>
          <a:xfrm>
            <a:off x="5212080" y="1560775"/>
            <a:ext cx="6320790" cy="2169825"/>
          </a:xfrm>
          <a:prstGeom prst="rect">
            <a:avLst/>
          </a:prstGeom>
        </p:spPr>
        <p:txBody>
          <a:bodyPr wrap="square">
            <a:spAutoFit/>
          </a:bodyPr>
          <a:lstStyle/>
          <a:p>
            <a:pPr marL="342900" indent="-342900">
              <a:buFont typeface="Arial" panose="020B0604020202020204" pitchFamily="34" charset="0"/>
              <a:buChar char="•"/>
            </a:pPr>
            <a:r>
              <a:rPr lang="he-IL" sz="2000" dirty="0">
                <a:solidFill>
                  <a:prstClr val="black"/>
                </a:solidFill>
                <a:latin typeface="David" pitchFamily="34" charset="-79"/>
                <a:cs typeface="David" pitchFamily="34" charset="-79"/>
              </a:rPr>
              <a:t>גורמים לשינוי של </a:t>
            </a:r>
            <a:r>
              <a:rPr lang="he-IL" sz="2000" u="sng" dirty="0">
                <a:solidFill>
                  <a:prstClr val="black"/>
                </a:solidFill>
                <a:latin typeface="David" pitchFamily="34" charset="-79"/>
                <a:cs typeface="David" pitchFamily="34" charset="-79"/>
              </a:rPr>
              <a:t>עקומת ההיצע </a:t>
            </a:r>
            <a:r>
              <a:rPr lang="he-IL" sz="2000" dirty="0">
                <a:solidFill>
                  <a:prstClr val="black"/>
                </a:solidFill>
                <a:latin typeface="David" pitchFamily="34" charset="-79"/>
                <a:cs typeface="David" pitchFamily="34" charset="-79"/>
              </a:rPr>
              <a:t>של השוק:</a:t>
            </a:r>
          </a:p>
          <a:p>
            <a:pPr lvl="1">
              <a:lnSpc>
                <a:spcPct val="200000"/>
              </a:lnSpc>
              <a:buFont typeface="Courier New" pitchFamily="49" charset="0"/>
              <a:buChar char="o"/>
            </a:pPr>
            <a:r>
              <a:rPr lang="he-IL" sz="2000" dirty="0">
                <a:solidFill>
                  <a:prstClr val="black"/>
                </a:solidFill>
                <a:latin typeface="David" pitchFamily="34" charset="-79"/>
                <a:cs typeface="David" pitchFamily="34" charset="-79"/>
              </a:rPr>
              <a:t> שינוי במבנה ההוצאות של היצרנים.</a:t>
            </a:r>
          </a:p>
          <a:p>
            <a:pPr lvl="1">
              <a:lnSpc>
                <a:spcPct val="200000"/>
              </a:lnSpc>
              <a:buFont typeface="Courier New" pitchFamily="49" charset="0"/>
              <a:buChar char="o"/>
            </a:pPr>
            <a:r>
              <a:rPr lang="he-IL" sz="2000" dirty="0">
                <a:solidFill>
                  <a:prstClr val="black"/>
                </a:solidFill>
                <a:latin typeface="David" pitchFamily="34" charset="-79"/>
                <a:cs typeface="David" pitchFamily="34" charset="-79"/>
              </a:rPr>
              <a:t> שינוי טכנולוגי (שיפור טכנולוגי) </a:t>
            </a:r>
          </a:p>
          <a:p>
            <a:pPr lvl="1">
              <a:lnSpc>
                <a:spcPct val="200000"/>
              </a:lnSpc>
              <a:buFont typeface="Courier New" pitchFamily="49" charset="0"/>
              <a:buChar char="o"/>
            </a:pPr>
            <a:r>
              <a:rPr lang="he-IL" sz="2000" dirty="0">
                <a:solidFill>
                  <a:prstClr val="black"/>
                </a:solidFill>
                <a:latin typeface="David" pitchFamily="34" charset="-79"/>
                <a:cs typeface="David" pitchFamily="34" charset="-79"/>
              </a:rPr>
              <a:t> שינוי בכמות יצרנים</a:t>
            </a:r>
          </a:p>
        </p:txBody>
      </p:sp>
      <p:sp>
        <p:nvSpPr>
          <p:cNvPr id="6" name="Rectangle 5">
            <a:extLst>
              <a:ext uri="{FF2B5EF4-FFF2-40B4-BE49-F238E27FC236}">
                <a16:creationId xmlns:a16="http://schemas.microsoft.com/office/drawing/2014/main" id="{6866E3B8-6D78-40B3-8D9F-EC04DC0E0128}"/>
              </a:ext>
            </a:extLst>
          </p:cNvPr>
          <p:cNvSpPr/>
          <p:nvPr/>
        </p:nvSpPr>
        <p:spPr>
          <a:xfrm>
            <a:off x="4331924" y="4046278"/>
            <a:ext cx="7311390" cy="400110"/>
          </a:xfrm>
          <a:prstGeom prst="rect">
            <a:avLst/>
          </a:prstGeom>
        </p:spPr>
        <p:txBody>
          <a:bodyPr wrap="square">
            <a:spAutoFit/>
          </a:bodyPr>
          <a:lstStyle/>
          <a:p>
            <a:pPr marL="342900" indent="-342900">
              <a:buFont typeface="Arial" panose="020B0604020202020204" pitchFamily="34" charset="0"/>
              <a:buChar char="•"/>
            </a:pPr>
            <a:r>
              <a:rPr lang="he-IL" sz="2000" dirty="0">
                <a:solidFill>
                  <a:prstClr val="black"/>
                </a:solidFill>
                <a:latin typeface="David" pitchFamily="34" charset="-79"/>
                <a:cs typeface="David" pitchFamily="34" charset="-79"/>
              </a:rPr>
              <a:t>גורמים לשינוי של </a:t>
            </a:r>
            <a:r>
              <a:rPr lang="he-IL" sz="2000" u="sng" dirty="0">
                <a:solidFill>
                  <a:prstClr val="black"/>
                </a:solidFill>
                <a:latin typeface="David" pitchFamily="34" charset="-79"/>
                <a:cs typeface="David" pitchFamily="34" charset="-79"/>
              </a:rPr>
              <a:t>עקומת הביקוש </a:t>
            </a:r>
            <a:r>
              <a:rPr lang="he-IL" sz="2000" dirty="0">
                <a:solidFill>
                  <a:prstClr val="black"/>
                </a:solidFill>
                <a:latin typeface="David" pitchFamily="34" charset="-79"/>
                <a:cs typeface="David" pitchFamily="34" charset="-79"/>
              </a:rPr>
              <a:t>של השוק:</a:t>
            </a:r>
          </a:p>
        </p:txBody>
      </p:sp>
      <p:sp>
        <p:nvSpPr>
          <p:cNvPr id="7" name="Rectangle 6">
            <a:extLst>
              <a:ext uri="{FF2B5EF4-FFF2-40B4-BE49-F238E27FC236}">
                <a16:creationId xmlns:a16="http://schemas.microsoft.com/office/drawing/2014/main" id="{AF411C16-F914-4EBD-9F3F-D8F43B1ED828}"/>
              </a:ext>
            </a:extLst>
          </p:cNvPr>
          <p:cNvSpPr/>
          <p:nvPr/>
        </p:nvSpPr>
        <p:spPr>
          <a:xfrm>
            <a:off x="6777990" y="5762754"/>
            <a:ext cx="4572000" cy="1015663"/>
          </a:xfrm>
          <a:prstGeom prst="rect">
            <a:avLst/>
          </a:prstGeom>
        </p:spPr>
        <p:txBody>
          <a:bodyPr>
            <a:spAutoFit/>
          </a:bodyPr>
          <a:lstStyle/>
          <a:p>
            <a:pPr lvl="1">
              <a:buFont typeface="Courier New" pitchFamily="49" charset="0"/>
              <a:buChar char="o"/>
            </a:pPr>
            <a:r>
              <a:rPr lang="he-IL" sz="2000" dirty="0">
                <a:solidFill>
                  <a:prstClr val="black"/>
                </a:solidFill>
                <a:latin typeface="David" pitchFamily="34" charset="-79"/>
                <a:cs typeface="David" pitchFamily="34" charset="-79"/>
              </a:rPr>
              <a:t> שינוי בטעמי הצרכנים.</a:t>
            </a:r>
          </a:p>
          <a:p>
            <a:pPr lvl="1"/>
            <a:endParaRPr lang="he-IL" sz="2000" dirty="0">
              <a:solidFill>
                <a:prstClr val="black"/>
              </a:solidFill>
              <a:latin typeface="David" pitchFamily="34" charset="-79"/>
              <a:cs typeface="David" pitchFamily="34" charset="-79"/>
            </a:endParaRPr>
          </a:p>
          <a:p>
            <a:pPr lvl="1">
              <a:buFont typeface="Courier New" pitchFamily="49" charset="0"/>
              <a:buChar char="o"/>
            </a:pPr>
            <a:r>
              <a:rPr lang="he-IL" sz="2000" dirty="0">
                <a:solidFill>
                  <a:prstClr val="black"/>
                </a:solidFill>
                <a:latin typeface="David" pitchFamily="34" charset="-79"/>
                <a:cs typeface="David" pitchFamily="34" charset="-79"/>
              </a:rPr>
              <a:t>שינוי בכמות צרכנים</a:t>
            </a:r>
          </a:p>
        </p:txBody>
      </p:sp>
      <p:sp>
        <p:nvSpPr>
          <p:cNvPr id="8" name="Rectangle 7">
            <a:extLst>
              <a:ext uri="{FF2B5EF4-FFF2-40B4-BE49-F238E27FC236}">
                <a16:creationId xmlns:a16="http://schemas.microsoft.com/office/drawing/2014/main" id="{D36FE89D-CAFB-4D63-8256-A1209D3DC543}"/>
              </a:ext>
            </a:extLst>
          </p:cNvPr>
          <p:cNvSpPr/>
          <p:nvPr/>
        </p:nvSpPr>
        <p:spPr>
          <a:xfrm>
            <a:off x="6761264" y="4485067"/>
            <a:ext cx="4572000" cy="400110"/>
          </a:xfrm>
          <a:prstGeom prst="rect">
            <a:avLst/>
          </a:prstGeom>
        </p:spPr>
        <p:txBody>
          <a:bodyPr>
            <a:spAutoFit/>
          </a:bodyPr>
          <a:lstStyle/>
          <a:p>
            <a:pPr lvl="1">
              <a:buFont typeface="Courier New" pitchFamily="49" charset="0"/>
              <a:buChar char="o"/>
            </a:pPr>
            <a:r>
              <a:rPr lang="he-IL" sz="2000" dirty="0">
                <a:solidFill>
                  <a:prstClr val="black"/>
                </a:solidFill>
                <a:latin typeface="David" pitchFamily="34" charset="-79"/>
                <a:cs typeface="David" pitchFamily="34" charset="-79"/>
              </a:rPr>
              <a:t> שינוי בהכנסה</a:t>
            </a:r>
          </a:p>
        </p:txBody>
      </p:sp>
      <p:sp>
        <p:nvSpPr>
          <p:cNvPr id="9" name="Rectangle 8">
            <a:extLst>
              <a:ext uri="{FF2B5EF4-FFF2-40B4-BE49-F238E27FC236}">
                <a16:creationId xmlns:a16="http://schemas.microsoft.com/office/drawing/2014/main" id="{4F90B703-43F4-4E1D-BCFA-850531167901}"/>
              </a:ext>
            </a:extLst>
          </p:cNvPr>
          <p:cNvSpPr/>
          <p:nvPr/>
        </p:nvSpPr>
        <p:spPr>
          <a:xfrm>
            <a:off x="7482531" y="5123910"/>
            <a:ext cx="3850733" cy="400110"/>
          </a:xfrm>
          <a:prstGeom prst="rect">
            <a:avLst/>
          </a:prstGeom>
        </p:spPr>
        <p:txBody>
          <a:bodyPr wrap="none">
            <a:spAutoFit/>
          </a:bodyPr>
          <a:lstStyle/>
          <a:p>
            <a:pPr lvl="1">
              <a:buFont typeface="Courier New" pitchFamily="49" charset="0"/>
              <a:buChar char="o"/>
            </a:pPr>
            <a:r>
              <a:rPr lang="he-IL" sz="2000" dirty="0">
                <a:solidFill>
                  <a:prstClr val="black"/>
                </a:solidFill>
                <a:latin typeface="David" pitchFamily="34" charset="-79"/>
                <a:cs typeface="David" pitchFamily="34" charset="-79"/>
              </a:rPr>
              <a:t> שינוי במחיר של מוצרים אחרים.</a:t>
            </a:r>
          </a:p>
        </p:txBody>
      </p:sp>
      <p:sp>
        <p:nvSpPr>
          <p:cNvPr id="3" name="Date Placeholder 2">
            <a:extLst>
              <a:ext uri="{FF2B5EF4-FFF2-40B4-BE49-F238E27FC236}">
                <a16:creationId xmlns:a16="http://schemas.microsoft.com/office/drawing/2014/main" id="{D75A1246-75CB-4B91-B427-93B96BD17144}"/>
              </a:ext>
            </a:extLst>
          </p:cNvPr>
          <p:cNvSpPr>
            <a:spLocks noGrp="1"/>
          </p:cNvSpPr>
          <p:nvPr>
            <p:ph type="dt" sz="half" idx="10"/>
          </p:nvPr>
        </p:nvSpPr>
        <p:spPr>
          <a:xfrm>
            <a:off x="11066106" y="6433701"/>
            <a:ext cx="1038808" cy="365125"/>
          </a:xfrm>
        </p:spPr>
        <p:txBody>
          <a:bodyPr/>
          <a:lstStyle/>
          <a:p>
            <a:fld id="{DECBDF0B-1BBD-41B4-B609-C0E3E476E401}" type="datetime8">
              <a:rPr lang="he-IL" smtClean="0"/>
              <a:t>09 ינואר 26</a:t>
            </a:fld>
            <a:endParaRPr lang="he-IL" dirty="0"/>
          </a:p>
        </p:txBody>
      </p:sp>
      <p:sp>
        <p:nvSpPr>
          <p:cNvPr id="11" name="TextBox 10">
            <a:extLst>
              <a:ext uri="{FF2B5EF4-FFF2-40B4-BE49-F238E27FC236}">
                <a16:creationId xmlns:a16="http://schemas.microsoft.com/office/drawing/2014/main" id="{F94E2A8D-707B-E7DB-D2CC-DCA4B0E42E22}"/>
              </a:ext>
            </a:extLst>
          </p:cNvPr>
          <p:cNvSpPr txBox="1"/>
          <p:nvPr/>
        </p:nvSpPr>
        <p:spPr>
          <a:xfrm>
            <a:off x="494522" y="1533948"/>
            <a:ext cx="6018247" cy="2031325"/>
          </a:xfrm>
          <a:prstGeom prst="rect">
            <a:avLst/>
          </a:prstGeom>
          <a:solidFill>
            <a:schemeClr val="accent5">
              <a:lumMod val="20000"/>
              <a:lumOff val="80000"/>
            </a:schemeClr>
          </a:solidFill>
        </p:spPr>
        <p:txBody>
          <a:bodyPr wrap="square" rtlCol="0">
            <a:spAutoFit/>
          </a:bodyPr>
          <a:lstStyle/>
          <a:p>
            <a:r>
              <a:rPr lang="he-IL" dirty="0"/>
              <a:t>ככל </a:t>
            </a:r>
            <a:r>
              <a:rPr lang="he-IL" b="1" dirty="0"/>
              <a:t>שעלויות היצרן גבוהות יותר</a:t>
            </a:r>
            <a:r>
              <a:rPr lang="he-IL" dirty="0"/>
              <a:t>/כאשר חלה נסיגה טכנולוגית/ככל שכמות היצרנים בענף יורדת, כך ה</a:t>
            </a:r>
            <a:r>
              <a:rPr lang="he-IL" b="1" dirty="0"/>
              <a:t>היצע קטן </a:t>
            </a:r>
            <a:r>
              <a:rPr lang="he-IL" dirty="0"/>
              <a:t>(תזוזה שמאלה ולמעלה של עקומת ההיצע)</a:t>
            </a:r>
          </a:p>
          <a:p>
            <a:endParaRPr lang="he-IL" dirty="0"/>
          </a:p>
          <a:p>
            <a:r>
              <a:rPr lang="he-IL" dirty="0"/>
              <a:t>ככל שעלויות היצרן נמוכות יותר/כאשר </a:t>
            </a:r>
            <a:r>
              <a:rPr lang="he-IL" b="1" dirty="0"/>
              <a:t>חל שיפור טכנולוגי</a:t>
            </a:r>
            <a:r>
              <a:rPr lang="he-IL" dirty="0"/>
              <a:t>/ככל שמתווספים יצרנים נוספים לשוק המוצר, כך </a:t>
            </a:r>
            <a:r>
              <a:rPr lang="he-IL" b="1" dirty="0"/>
              <a:t>ההיצע גדל </a:t>
            </a:r>
            <a:r>
              <a:rPr lang="he-IL" dirty="0"/>
              <a:t>(תזוזה ימינה ולמטה של עקומת ההיצע). </a:t>
            </a:r>
            <a:endParaRPr lang="en-IL" dirty="0"/>
          </a:p>
        </p:txBody>
      </p:sp>
    </p:spTree>
    <p:extLst>
      <p:ext uri="{BB962C8B-B14F-4D97-AF65-F5344CB8AC3E}">
        <p14:creationId xmlns:p14="http://schemas.microsoft.com/office/powerpoint/2010/main" val="2183608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922F9E-CB0C-4532-9759-F2DF4736A0A8}"/>
              </a:ext>
            </a:extLst>
          </p:cNvPr>
          <p:cNvSpPr>
            <a:spLocks noGrp="1"/>
          </p:cNvSpPr>
          <p:nvPr>
            <p:ph idx="1"/>
          </p:nvPr>
        </p:nvSpPr>
        <p:spPr>
          <a:xfrm>
            <a:off x="2177857" y="1185339"/>
            <a:ext cx="9426314" cy="771288"/>
          </a:xfrm>
        </p:spPr>
        <p:txBody>
          <a:bodyPr>
            <a:normAutofit/>
          </a:bodyPr>
          <a:lstStyle/>
          <a:p>
            <a:pPr marL="0" indent="0">
              <a:lnSpc>
                <a:spcPct val="107000"/>
              </a:lnSpc>
              <a:spcAft>
                <a:spcPts val="600"/>
              </a:spcAft>
              <a:buNone/>
            </a:pPr>
            <a:r>
              <a:rPr lang="he-IL" sz="1800" dirty="0">
                <a:latin typeface="Calibri" panose="020F0502020204030204" pitchFamily="34" charset="0"/>
                <a:ea typeface="Calibri" panose="020F0502020204030204" pitchFamily="34" charset="0"/>
              </a:rPr>
              <a:t>הניחו כי במשק ישנם שלוש פירמות תחרותיות. להלן עקומות ההיצע של פירמה 1 ושל פירמה 2 ואת עקומת העלות השולית של הפירמה השלישית. </a:t>
            </a:r>
            <a:endParaRPr lang="x-none" sz="1800" dirty="0">
              <a:latin typeface="Calibri" panose="020F0502020204030204" pitchFamily="34" charset="0"/>
              <a:ea typeface="Calibri" panose="020F0502020204030204" pitchFamily="34" charset="0"/>
            </a:endParaRPr>
          </a:p>
          <a:p>
            <a:pPr marL="0" indent="0">
              <a:buNone/>
            </a:pPr>
            <a:endParaRPr lang="x-none" sz="1800" dirty="0"/>
          </a:p>
        </p:txBody>
      </p:sp>
      <p:sp>
        <p:nvSpPr>
          <p:cNvPr id="6" name="Rectangle 5">
            <a:extLst>
              <a:ext uri="{FF2B5EF4-FFF2-40B4-BE49-F238E27FC236}">
                <a16:creationId xmlns:a16="http://schemas.microsoft.com/office/drawing/2014/main" id="{C2A3C78C-0D23-46BB-BC98-671E58476798}"/>
              </a:ext>
            </a:extLst>
          </p:cNvPr>
          <p:cNvSpPr/>
          <p:nvPr/>
        </p:nvSpPr>
        <p:spPr>
          <a:xfrm>
            <a:off x="3222170" y="5092405"/>
            <a:ext cx="8382001" cy="1160511"/>
          </a:xfrm>
          <a:prstGeom prst="rect">
            <a:avLst/>
          </a:prstGeom>
        </p:spPr>
        <p:txBody>
          <a:bodyPr wrap="square">
            <a:spAutoFit/>
          </a:bodyPr>
          <a:lstStyle/>
          <a:p>
            <a:pPr defTabSz="685800">
              <a:lnSpc>
                <a:spcPct val="150000"/>
              </a:lnSpc>
            </a:pPr>
            <a:r>
              <a:rPr lang="he-IL" sz="1600" dirty="0">
                <a:solidFill>
                  <a:prstClr val="black"/>
                </a:solidFill>
                <a:latin typeface="Calibri" panose="020F0502020204030204"/>
                <a:cs typeface="Arial" panose="020B0604020202020204" pitchFamily="34" charset="0"/>
              </a:rPr>
              <a:t>א. בנו את עקומת ההיצע של כלל המשק בטבלה (עבור מחירים </a:t>
            </a:r>
            <a:r>
              <a:rPr lang="en-US" sz="1600" dirty="0">
                <a:solidFill>
                  <a:prstClr val="black"/>
                </a:solidFill>
                <a:latin typeface="Calibri" panose="020F0502020204030204"/>
              </a:rPr>
              <a:t>P=1,2,3,4,5</a:t>
            </a:r>
            <a:r>
              <a:rPr lang="he-IL" sz="1600" dirty="0">
                <a:solidFill>
                  <a:prstClr val="black"/>
                </a:solidFill>
                <a:latin typeface="Calibri" panose="020F0502020204030204"/>
                <a:cs typeface="Arial" panose="020B0604020202020204" pitchFamily="34" charset="0"/>
              </a:rPr>
              <a:t>)</a:t>
            </a:r>
            <a:r>
              <a:rPr lang="en-US" sz="1600" dirty="0">
                <a:solidFill>
                  <a:prstClr val="black"/>
                </a:solidFill>
                <a:latin typeface="Calibri" panose="020F0502020204030204"/>
              </a:rPr>
              <a:t>.</a:t>
            </a:r>
            <a:endParaRPr lang="x-none" sz="1600" dirty="0">
              <a:solidFill>
                <a:prstClr val="black"/>
              </a:solidFill>
              <a:latin typeface="Calibri" panose="020F0502020204030204"/>
            </a:endParaRPr>
          </a:p>
          <a:p>
            <a:pPr defTabSz="685800">
              <a:lnSpc>
                <a:spcPct val="150000"/>
              </a:lnSpc>
            </a:pPr>
            <a:r>
              <a:rPr lang="he-IL" sz="1600" dirty="0">
                <a:solidFill>
                  <a:prstClr val="black"/>
                </a:solidFill>
                <a:latin typeface="Calibri" panose="020F0502020204030204"/>
                <a:cs typeface="Arial" panose="020B0604020202020204" pitchFamily="34" charset="0"/>
              </a:rPr>
              <a:t>ב. הציגו בגרף את עקומות ההיצע של כל יצרן ואת עקומת ההיצע של המשק כולו (רצוי לשרטט 4 שרטוטים לאורך אותה שורה). </a:t>
            </a:r>
            <a:endParaRPr lang="x-none" sz="1600" dirty="0">
              <a:solidFill>
                <a:prstClr val="black"/>
              </a:solidFill>
              <a:latin typeface="Calibri" panose="020F0502020204030204"/>
            </a:endParaRPr>
          </a:p>
        </p:txBody>
      </p:sp>
      <p:pic>
        <p:nvPicPr>
          <p:cNvPr id="8" name="Picture 7">
            <a:extLst>
              <a:ext uri="{FF2B5EF4-FFF2-40B4-BE49-F238E27FC236}">
                <a16:creationId xmlns:a16="http://schemas.microsoft.com/office/drawing/2014/main" id="{B995132A-1E61-4057-A914-79EEEAD901D5}"/>
              </a:ext>
            </a:extLst>
          </p:cNvPr>
          <p:cNvPicPr/>
          <p:nvPr/>
        </p:nvPicPr>
        <p:blipFill>
          <a:blip r:embed="rId2"/>
          <a:stretch>
            <a:fillRect/>
          </a:stretch>
        </p:blipFill>
        <p:spPr>
          <a:xfrm>
            <a:off x="1274165" y="1772817"/>
            <a:ext cx="6607094" cy="2859144"/>
          </a:xfrm>
          <a:prstGeom prst="rect">
            <a:avLst/>
          </a:prstGeom>
        </p:spPr>
      </p:pic>
      <p:sp>
        <p:nvSpPr>
          <p:cNvPr id="7" name="Title 1">
            <a:extLst>
              <a:ext uri="{FF2B5EF4-FFF2-40B4-BE49-F238E27FC236}">
                <a16:creationId xmlns:a16="http://schemas.microsoft.com/office/drawing/2014/main" id="{C0C823C1-3033-B976-BC1E-F61ACDE681C3}"/>
              </a:ext>
            </a:extLst>
          </p:cNvPr>
          <p:cNvSpPr>
            <a:spLocks noGrp="1"/>
          </p:cNvSpPr>
          <p:nvPr>
            <p:ph type="title"/>
          </p:nvPr>
        </p:nvSpPr>
        <p:spPr>
          <a:xfrm>
            <a:off x="7166583" y="68755"/>
            <a:ext cx="4791857" cy="994172"/>
          </a:xfrm>
        </p:spPr>
        <p:txBody>
          <a:bodyPr>
            <a:normAutofit/>
          </a:bodyPr>
          <a:lstStyle/>
          <a:p>
            <a:pPr algn="r" rtl="1"/>
            <a:r>
              <a:rPr lang="he-IL" dirty="0">
                <a:latin typeface="Arial" panose="020B0604020202020204" pitchFamily="34" charset="0"/>
                <a:cs typeface="Arial" panose="020B0604020202020204" pitchFamily="34" charset="0"/>
              </a:rPr>
              <a:t>היצע מצרפי- שאלה לדוגמא</a:t>
            </a:r>
            <a:endParaRPr lang="x-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82161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82547-AF50-4E16-BA1F-B5E15DD04AFA}"/>
              </a:ext>
            </a:extLst>
          </p:cNvPr>
          <p:cNvSpPr>
            <a:spLocks noGrp="1"/>
          </p:cNvSpPr>
          <p:nvPr>
            <p:ph type="title"/>
          </p:nvPr>
        </p:nvSpPr>
        <p:spPr>
          <a:xfrm>
            <a:off x="7166583" y="68755"/>
            <a:ext cx="4791857" cy="994172"/>
          </a:xfrm>
        </p:spPr>
        <p:txBody>
          <a:bodyPr>
            <a:normAutofit/>
          </a:bodyPr>
          <a:lstStyle/>
          <a:p>
            <a:pPr algn="r" rtl="1"/>
            <a:r>
              <a:rPr lang="he-IL" dirty="0">
                <a:latin typeface="Arial" panose="020B0604020202020204" pitchFamily="34" charset="0"/>
                <a:cs typeface="Arial" panose="020B0604020202020204" pitchFamily="34" charset="0"/>
              </a:rPr>
              <a:t>היצע מצרפי- שאלה לדוגמא</a:t>
            </a:r>
            <a:endParaRPr lang="x-none"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D922F9E-CB0C-4532-9759-F2DF4736A0A8}"/>
              </a:ext>
            </a:extLst>
          </p:cNvPr>
          <p:cNvSpPr>
            <a:spLocks noGrp="1"/>
          </p:cNvSpPr>
          <p:nvPr>
            <p:ph idx="1"/>
          </p:nvPr>
        </p:nvSpPr>
        <p:spPr>
          <a:xfrm>
            <a:off x="2629488" y="844102"/>
            <a:ext cx="7383235" cy="771288"/>
          </a:xfrm>
        </p:spPr>
        <p:txBody>
          <a:bodyPr>
            <a:normAutofit/>
          </a:bodyPr>
          <a:lstStyle/>
          <a:p>
            <a:pPr marL="0" indent="0">
              <a:buNone/>
            </a:pPr>
            <a:r>
              <a:rPr lang="he-IL" sz="1350" dirty="0"/>
              <a:t>א. בנו את עקומת ההיצע של כלל המשק בטבלה (עבור מחירים </a:t>
            </a:r>
            <a:r>
              <a:rPr lang="en-US" sz="1350" dirty="0"/>
              <a:t>P=1,2,3,4,5</a:t>
            </a:r>
            <a:r>
              <a:rPr lang="he-IL" sz="1350" dirty="0"/>
              <a:t>)</a:t>
            </a:r>
            <a:r>
              <a:rPr lang="en-US" sz="1350" dirty="0"/>
              <a:t>.</a:t>
            </a:r>
            <a:endParaRPr lang="x-none" sz="1350" dirty="0"/>
          </a:p>
          <a:p>
            <a:pPr marL="0" indent="0">
              <a:buNone/>
            </a:pPr>
            <a:r>
              <a:rPr lang="he-IL" sz="1350" dirty="0"/>
              <a:t>ב. הציגו בגרף את עקומות ההיצע של כל יצרן ואת עקומת ההיצע של המשק כולו (רצוי לשרטט 4 שרטוטים לאורך אותה שורה). </a:t>
            </a:r>
            <a:endParaRPr lang="x-none" sz="1350" dirty="0"/>
          </a:p>
          <a:p>
            <a:pPr marL="0" indent="0">
              <a:buNone/>
            </a:pPr>
            <a:endParaRPr lang="x-none" sz="1350" dirty="0"/>
          </a:p>
        </p:txBody>
      </p:sp>
      <p:pic>
        <p:nvPicPr>
          <p:cNvPr id="8" name="Picture 7">
            <a:extLst>
              <a:ext uri="{FF2B5EF4-FFF2-40B4-BE49-F238E27FC236}">
                <a16:creationId xmlns:a16="http://schemas.microsoft.com/office/drawing/2014/main" id="{B995132A-1E61-4057-A914-79EEEAD901D5}"/>
              </a:ext>
            </a:extLst>
          </p:cNvPr>
          <p:cNvPicPr/>
          <p:nvPr/>
        </p:nvPicPr>
        <p:blipFill>
          <a:blip r:embed="rId2"/>
          <a:stretch>
            <a:fillRect/>
          </a:stretch>
        </p:blipFill>
        <p:spPr>
          <a:xfrm>
            <a:off x="2056832" y="1588013"/>
            <a:ext cx="5711645" cy="2497325"/>
          </a:xfrm>
          <a:prstGeom prst="rect">
            <a:avLst/>
          </a:prstGeom>
        </p:spPr>
      </p:pic>
      <p:graphicFrame>
        <p:nvGraphicFramePr>
          <p:cNvPr id="7" name="Table 6">
            <a:extLst>
              <a:ext uri="{FF2B5EF4-FFF2-40B4-BE49-F238E27FC236}">
                <a16:creationId xmlns:a16="http://schemas.microsoft.com/office/drawing/2014/main" id="{DB867D8E-AC16-4315-8405-810615B01582}"/>
              </a:ext>
            </a:extLst>
          </p:cNvPr>
          <p:cNvGraphicFramePr>
            <a:graphicFrameLocks noGrp="1"/>
          </p:cNvGraphicFramePr>
          <p:nvPr/>
        </p:nvGraphicFramePr>
        <p:xfrm>
          <a:off x="5591945" y="2110039"/>
          <a:ext cx="1614377" cy="1818005"/>
        </p:xfrm>
        <a:graphic>
          <a:graphicData uri="http://schemas.openxmlformats.org/drawingml/2006/table">
            <a:tbl>
              <a:tblPr rtl="1" firstRow="1" bandRow="1">
                <a:tableStyleId>{5C22544A-7EE6-4342-B048-85BDC9FD1C3A}</a:tableStyleId>
              </a:tblPr>
              <a:tblGrid>
                <a:gridCol w="924888">
                  <a:extLst>
                    <a:ext uri="{9D8B030D-6E8A-4147-A177-3AD203B41FA5}">
                      <a16:colId xmlns:a16="http://schemas.microsoft.com/office/drawing/2014/main" val="3917732058"/>
                    </a:ext>
                  </a:extLst>
                </a:gridCol>
                <a:gridCol w="689489">
                  <a:extLst>
                    <a:ext uri="{9D8B030D-6E8A-4147-A177-3AD203B41FA5}">
                      <a16:colId xmlns:a16="http://schemas.microsoft.com/office/drawing/2014/main" val="3400975954"/>
                    </a:ext>
                  </a:extLst>
                </a:gridCol>
              </a:tblGrid>
              <a:tr h="480060">
                <a:tc>
                  <a:txBody>
                    <a:bodyPr/>
                    <a:lstStyle/>
                    <a:p>
                      <a:pPr algn="ctr" rtl="1"/>
                      <a:r>
                        <a:rPr lang="he-IL" sz="1400" b="0" dirty="0"/>
                        <a:t>כמות מוצעת</a:t>
                      </a:r>
                    </a:p>
                  </a:txBody>
                  <a:tcPr marL="68580" marR="68580" marT="34290" marB="34290">
                    <a:solidFill>
                      <a:schemeClr val="bg1">
                        <a:lumMod val="50000"/>
                      </a:schemeClr>
                    </a:solidFill>
                  </a:tcPr>
                </a:tc>
                <a:tc>
                  <a:txBody>
                    <a:bodyPr/>
                    <a:lstStyle/>
                    <a:p>
                      <a:pPr algn="ctr" rtl="1"/>
                      <a:r>
                        <a:rPr lang="he-IL" sz="1000" dirty="0"/>
                        <a:t>מחיר</a:t>
                      </a:r>
                    </a:p>
                  </a:txBody>
                  <a:tcPr marL="68580" marR="68580" marT="34290" marB="34290">
                    <a:solidFill>
                      <a:schemeClr val="bg1">
                        <a:lumMod val="50000"/>
                      </a:schemeClr>
                    </a:solidFill>
                  </a:tcPr>
                </a:tc>
                <a:extLst>
                  <a:ext uri="{0D108BD9-81ED-4DB2-BD59-A6C34878D82A}">
                    <a16:rowId xmlns:a16="http://schemas.microsoft.com/office/drawing/2014/main" val="4287946175"/>
                  </a:ext>
                </a:extLst>
              </a:tr>
              <a:tr h="264541">
                <a:tc>
                  <a:txBody>
                    <a:bodyPr/>
                    <a:lstStyle/>
                    <a:p>
                      <a:pPr algn="ctr"/>
                      <a:endParaRPr lang="he-IL" sz="1000" dirty="0"/>
                    </a:p>
                  </a:txBody>
                  <a:tcPr marL="68580" marR="68580" marT="34290" marB="34290">
                    <a:solidFill>
                      <a:schemeClr val="bg1">
                        <a:lumMod val="85000"/>
                      </a:schemeClr>
                    </a:solidFill>
                  </a:tcPr>
                </a:tc>
                <a:tc>
                  <a:txBody>
                    <a:bodyPr/>
                    <a:lstStyle/>
                    <a:p>
                      <a:pPr algn="ctr"/>
                      <a:r>
                        <a:rPr lang="he-IL" sz="1000" dirty="0"/>
                        <a:t>1</a:t>
                      </a:r>
                    </a:p>
                  </a:txBody>
                  <a:tcPr marL="68580" marR="68580" marT="34290" marB="34290">
                    <a:solidFill>
                      <a:schemeClr val="bg1">
                        <a:lumMod val="85000"/>
                      </a:schemeClr>
                    </a:solidFill>
                  </a:tcPr>
                </a:tc>
                <a:extLst>
                  <a:ext uri="{0D108BD9-81ED-4DB2-BD59-A6C34878D82A}">
                    <a16:rowId xmlns:a16="http://schemas.microsoft.com/office/drawing/2014/main" val="1765569055"/>
                  </a:ext>
                </a:extLst>
              </a:tr>
              <a:tr h="264541">
                <a:tc>
                  <a:txBody>
                    <a:bodyPr/>
                    <a:lstStyle/>
                    <a:p>
                      <a:pPr algn="ctr"/>
                      <a:endParaRPr lang="he-IL" sz="1000"/>
                    </a:p>
                  </a:txBody>
                  <a:tcPr marL="68580" marR="68580" marT="34290" marB="34290"/>
                </a:tc>
                <a:tc>
                  <a:txBody>
                    <a:bodyPr/>
                    <a:lstStyle/>
                    <a:p>
                      <a:pPr algn="ctr"/>
                      <a:r>
                        <a:rPr lang="he-IL" sz="1000" dirty="0"/>
                        <a:t>2</a:t>
                      </a:r>
                    </a:p>
                  </a:txBody>
                  <a:tcPr marL="68580" marR="68580" marT="34290" marB="34290"/>
                </a:tc>
                <a:extLst>
                  <a:ext uri="{0D108BD9-81ED-4DB2-BD59-A6C34878D82A}">
                    <a16:rowId xmlns:a16="http://schemas.microsoft.com/office/drawing/2014/main" val="2160829643"/>
                  </a:ext>
                </a:extLst>
              </a:tr>
              <a:tr h="264541">
                <a:tc>
                  <a:txBody>
                    <a:bodyPr/>
                    <a:lstStyle/>
                    <a:p>
                      <a:pPr algn="ctr"/>
                      <a:endParaRPr lang="he-IL" sz="1000"/>
                    </a:p>
                  </a:txBody>
                  <a:tcPr marL="68580" marR="68580" marT="34290" marB="34290">
                    <a:solidFill>
                      <a:schemeClr val="bg1">
                        <a:lumMod val="85000"/>
                      </a:schemeClr>
                    </a:solidFill>
                  </a:tcPr>
                </a:tc>
                <a:tc>
                  <a:txBody>
                    <a:bodyPr/>
                    <a:lstStyle/>
                    <a:p>
                      <a:pPr algn="ctr"/>
                      <a:r>
                        <a:rPr lang="he-IL" sz="1000" dirty="0"/>
                        <a:t>3</a:t>
                      </a:r>
                    </a:p>
                  </a:txBody>
                  <a:tcPr marL="68580" marR="68580" marT="34290" marB="34290">
                    <a:solidFill>
                      <a:schemeClr val="bg1">
                        <a:lumMod val="85000"/>
                      </a:schemeClr>
                    </a:solidFill>
                  </a:tcPr>
                </a:tc>
                <a:extLst>
                  <a:ext uri="{0D108BD9-81ED-4DB2-BD59-A6C34878D82A}">
                    <a16:rowId xmlns:a16="http://schemas.microsoft.com/office/drawing/2014/main" val="4290881610"/>
                  </a:ext>
                </a:extLst>
              </a:tr>
              <a:tr h="264541">
                <a:tc>
                  <a:txBody>
                    <a:bodyPr/>
                    <a:lstStyle/>
                    <a:p>
                      <a:pPr algn="ctr"/>
                      <a:endParaRPr lang="he-IL" sz="1000"/>
                    </a:p>
                  </a:txBody>
                  <a:tcPr marL="68580" marR="68580" marT="34290" marB="34290"/>
                </a:tc>
                <a:tc>
                  <a:txBody>
                    <a:bodyPr/>
                    <a:lstStyle/>
                    <a:p>
                      <a:pPr algn="ctr"/>
                      <a:r>
                        <a:rPr lang="he-IL" sz="1000" dirty="0"/>
                        <a:t>4</a:t>
                      </a:r>
                    </a:p>
                  </a:txBody>
                  <a:tcPr marL="68580" marR="68580" marT="34290" marB="34290"/>
                </a:tc>
                <a:extLst>
                  <a:ext uri="{0D108BD9-81ED-4DB2-BD59-A6C34878D82A}">
                    <a16:rowId xmlns:a16="http://schemas.microsoft.com/office/drawing/2014/main" val="2041548551"/>
                  </a:ext>
                </a:extLst>
              </a:tr>
              <a:tr h="264541">
                <a:tc>
                  <a:txBody>
                    <a:bodyPr/>
                    <a:lstStyle/>
                    <a:p>
                      <a:pPr algn="ctr"/>
                      <a:endParaRPr lang="he-IL" sz="1000" dirty="0"/>
                    </a:p>
                  </a:txBody>
                  <a:tcPr marL="68580" marR="68580" marT="34290" marB="34290">
                    <a:solidFill>
                      <a:schemeClr val="bg1">
                        <a:lumMod val="85000"/>
                      </a:schemeClr>
                    </a:solidFill>
                  </a:tcPr>
                </a:tc>
                <a:tc>
                  <a:txBody>
                    <a:bodyPr/>
                    <a:lstStyle/>
                    <a:p>
                      <a:pPr algn="ctr"/>
                      <a:r>
                        <a:rPr lang="he-IL" sz="1000" dirty="0"/>
                        <a:t>5</a:t>
                      </a:r>
                    </a:p>
                  </a:txBody>
                  <a:tcPr marL="68580" marR="68580" marT="34290" marB="34290">
                    <a:solidFill>
                      <a:schemeClr val="bg1">
                        <a:lumMod val="85000"/>
                      </a:schemeClr>
                    </a:solidFill>
                  </a:tcPr>
                </a:tc>
                <a:extLst>
                  <a:ext uri="{0D108BD9-81ED-4DB2-BD59-A6C34878D82A}">
                    <a16:rowId xmlns:a16="http://schemas.microsoft.com/office/drawing/2014/main" val="77295954"/>
                  </a:ext>
                </a:extLst>
              </a:tr>
            </a:tbl>
          </a:graphicData>
        </a:graphic>
      </p:graphicFrame>
      <p:sp>
        <p:nvSpPr>
          <p:cNvPr id="9" name="TextBox 8">
            <a:extLst>
              <a:ext uri="{FF2B5EF4-FFF2-40B4-BE49-F238E27FC236}">
                <a16:creationId xmlns:a16="http://schemas.microsoft.com/office/drawing/2014/main" id="{B7BF138E-D650-4619-BE46-654D47A7B2DD}"/>
              </a:ext>
            </a:extLst>
          </p:cNvPr>
          <p:cNvSpPr txBox="1"/>
          <p:nvPr/>
        </p:nvSpPr>
        <p:spPr>
          <a:xfrm>
            <a:off x="5686734" y="4230600"/>
            <a:ext cx="1567138" cy="300082"/>
          </a:xfrm>
          <a:prstGeom prst="rect">
            <a:avLst/>
          </a:prstGeom>
          <a:noFill/>
        </p:spPr>
        <p:txBody>
          <a:bodyPr wrap="square" rtlCol="1">
            <a:spAutoFit/>
          </a:bodyPr>
          <a:lstStyle/>
          <a:p>
            <a:pPr algn="l" defTabSz="685800" rtl="0"/>
            <a:r>
              <a:rPr lang="en-US" sz="1350" dirty="0">
                <a:solidFill>
                  <a:prstClr val="black"/>
                </a:solidFill>
                <a:latin typeface="Calibri" panose="020F0502020204030204"/>
              </a:rPr>
              <a:t>P= MC=0.5X</a:t>
            </a:r>
            <a:endParaRPr lang="he-IL" sz="1350" dirty="0">
              <a:solidFill>
                <a:prstClr val="black"/>
              </a:solidFill>
              <a:latin typeface="Calibri" panose="020F0502020204030204"/>
              <a:cs typeface="Arial" panose="020B0604020202020204" pitchFamily="34" charset="0"/>
            </a:endParaRPr>
          </a:p>
        </p:txBody>
      </p:sp>
      <p:sp>
        <p:nvSpPr>
          <p:cNvPr id="10" name="TextBox 9">
            <a:extLst>
              <a:ext uri="{FF2B5EF4-FFF2-40B4-BE49-F238E27FC236}">
                <a16:creationId xmlns:a16="http://schemas.microsoft.com/office/drawing/2014/main" id="{DAAE99B8-8D2D-4D7C-A90E-21D6282149C8}"/>
              </a:ext>
            </a:extLst>
          </p:cNvPr>
          <p:cNvSpPr txBox="1"/>
          <p:nvPr/>
        </p:nvSpPr>
        <p:spPr>
          <a:xfrm>
            <a:off x="6898000" y="4225893"/>
            <a:ext cx="870477" cy="300082"/>
          </a:xfrm>
          <a:prstGeom prst="rect">
            <a:avLst/>
          </a:prstGeom>
          <a:noFill/>
        </p:spPr>
        <p:txBody>
          <a:bodyPr wrap="square" rtlCol="1">
            <a:spAutoFit/>
          </a:bodyPr>
          <a:lstStyle/>
          <a:p>
            <a:pPr algn="l" defTabSz="685800"/>
            <a:r>
              <a:rPr lang="en-US" sz="1350" dirty="0">
                <a:solidFill>
                  <a:prstClr val="black"/>
                </a:solidFill>
                <a:latin typeface="Calibri" panose="020F0502020204030204"/>
              </a:rPr>
              <a:t>?=X</a:t>
            </a:r>
            <a:endParaRPr lang="he-IL" sz="1350" dirty="0">
              <a:solidFill>
                <a:prstClr val="black"/>
              </a:solidFill>
              <a:latin typeface="Calibri" panose="020F0502020204030204"/>
              <a:cs typeface="Arial" panose="020B0604020202020204" pitchFamily="34" charset="0"/>
            </a:endParaRPr>
          </a:p>
        </p:txBody>
      </p:sp>
      <p:graphicFrame>
        <p:nvGraphicFramePr>
          <p:cNvPr id="11" name="Table 10">
            <a:extLst>
              <a:ext uri="{FF2B5EF4-FFF2-40B4-BE49-F238E27FC236}">
                <a16:creationId xmlns:a16="http://schemas.microsoft.com/office/drawing/2014/main" id="{75927A30-2AE3-4B26-B829-DAF9127D03A5}"/>
              </a:ext>
            </a:extLst>
          </p:cNvPr>
          <p:cNvGraphicFramePr>
            <a:graphicFrameLocks noGrp="1"/>
          </p:cNvGraphicFramePr>
          <p:nvPr/>
        </p:nvGraphicFramePr>
        <p:xfrm>
          <a:off x="7665326" y="2140476"/>
          <a:ext cx="2347396" cy="1680888"/>
        </p:xfrm>
        <a:graphic>
          <a:graphicData uri="http://schemas.openxmlformats.org/drawingml/2006/table">
            <a:tbl>
              <a:tblPr rtl="1" firstRow="1" bandRow="1">
                <a:tableStyleId>{5C22544A-7EE6-4342-B048-85BDC9FD1C3A}</a:tableStyleId>
              </a:tblPr>
              <a:tblGrid>
                <a:gridCol w="1508688">
                  <a:extLst>
                    <a:ext uri="{9D8B030D-6E8A-4147-A177-3AD203B41FA5}">
                      <a16:colId xmlns:a16="http://schemas.microsoft.com/office/drawing/2014/main" val="3917732058"/>
                    </a:ext>
                  </a:extLst>
                </a:gridCol>
                <a:gridCol w="838708">
                  <a:extLst>
                    <a:ext uri="{9D8B030D-6E8A-4147-A177-3AD203B41FA5}">
                      <a16:colId xmlns:a16="http://schemas.microsoft.com/office/drawing/2014/main" val="3400975954"/>
                    </a:ext>
                  </a:extLst>
                </a:gridCol>
              </a:tblGrid>
              <a:tr h="358183">
                <a:tc>
                  <a:txBody>
                    <a:bodyPr/>
                    <a:lstStyle/>
                    <a:p>
                      <a:pPr algn="ctr" rtl="1"/>
                      <a:r>
                        <a:rPr lang="he-IL" sz="1400" b="0" dirty="0"/>
                        <a:t>כמות מצרפית</a:t>
                      </a:r>
                    </a:p>
                  </a:txBody>
                  <a:tcPr marL="68580" marR="68580" marT="34290" marB="34290"/>
                </a:tc>
                <a:tc>
                  <a:txBody>
                    <a:bodyPr/>
                    <a:lstStyle/>
                    <a:p>
                      <a:pPr algn="ctr" rtl="1"/>
                      <a:r>
                        <a:rPr lang="he-IL" sz="1000" dirty="0"/>
                        <a:t>מחיר</a:t>
                      </a:r>
                    </a:p>
                  </a:txBody>
                  <a:tcPr marL="68580" marR="68580" marT="34290" marB="34290"/>
                </a:tc>
                <a:extLst>
                  <a:ext uri="{0D108BD9-81ED-4DB2-BD59-A6C34878D82A}">
                    <a16:rowId xmlns:a16="http://schemas.microsoft.com/office/drawing/2014/main" val="4287946175"/>
                  </a:ext>
                </a:extLst>
              </a:tr>
              <a:tr h="264541">
                <a:tc>
                  <a:txBody>
                    <a:bodyPr/>
                    <a:lstStyle/>
                    <a:p>
                      <a:endParaRPr lang="he-IL" sz="1000" dirty="0"/>
                    </a:p>
                  </a:txBody>
                  <a:tcPr marL="68580" marR="68580" marT="34290" marB="34290"/>
                </a:tc>
                <a:tc>
                  <a:txBody>
                    <a:bodyPr/>
                    <a:lstStyle/>
                    <a:p>
                      <a:pPr algn="ctr"/>
                      <a:r>
                        <a:rPr lang="he-IL" sz="1100" dirty="0"/>
                        <a:t>1</a:t>
                      </a:r>
                    </a:p>
                  </a:txBody>
                  <a:tcPr marL="68580" marR="68580" marT="34290" marB="34290"/>
                </a:tc>
                <a:extLst>
                  <a:ext uri="{0D108BD9-81ED-4DB2-BD59-A6C34878D82A}">
                    <a16:rowId xmlns:a16="http://schemas.microsoft.com/office/drawing/2014/main" val="1765569055"/>
                  </a:ext>
                </a:extLst>
              </a:tr>
              <a:tr h="264541">
                <a:tc>
                  <a:txBody>
                    <a:bodyPr/>
                    <a:lstStyle/>
                    <a:p>
                      <a:endParaRPr lang="he-IL" sz="1000" dirty="0"/>
                    </a:p>
                  </a:txBody>
                  <a:tcPr marL="68580" marR="68580" marT="34290" marB="34290"/>
                </a:tc>
                <a:tc>
                  <a:txBody>
                    <a:bodyPr/>
                    <a:lstStyle/>
                    <a:p>
                      <a:pPr algn="ctr"/>
                      <a:r>
                        <a:rPr lang="he-IL" sz="1100" dirty="0"/>
                        <a:t>2</a:t>
                      </a:r>
                    </a:p>
                  </a:txBody>
                  <a:tcPr marL="68580" marR="68580" marT="34290" marB="34290"/>
                </a:tc>
                <a:extLst>
                  <a:ext uri="{0D108BD9-81ED-4DB2-BD59-A6C34878D82A}">
                    <a16:rowId xmlns:a16="http://schemas.microsoft.com/office/drawing/2014/main" val="2160829643"/>
                  </a:ext>
                </a:extLst>
              </a:tr>
              <a:tr h="264541">
                <a:tc>
                  <a:txBody>
                    <a:bodyPr/>
                    <a:lstStyle/>
                    <a:p>
                      <a:endParaRPr lang="he-IL" sz="1000" dirty="0"/>
                    </a:p>
                  </a:txBody>
                  <a:tcPr marL="68580" marR="68580" marT="34290" marB="34290"/>
                </a:tc>
                <a:tc>
                  <a:txBody>
                    <a:bodyPr/>
                    <a:lstStyle/>
                    <a:p>
                      <a:pPr algn="ctr"/>
                      <a:r>
                        <a:rPr lang="he-IL" sz="1100" dirty="0"/>
                        <a:t>3</a:t>
                      </a:r>
                    </a:p>
                  </a:txBody>
                  <a:tcPr marL="68580" marR="68580" marT="34290" marB="34290"/>
                </a:tc>
                <a:extLst>
                  <a:ext uri="{0D108BD9-81ED-4DB2-BD59-A6C34878D82A}">
                    <a16:rowId xmlns:a16="http://schemas.microsoft.com/office/drawing/2014/main" val="4290881610"/>
                  </a:ext>
                </a:extLst>
              </a:tr>
              <a:tr h="264541">
                <a:tc>
                  <a:txBody>
                    <a:bodyPr/>
                    <a:lstStyle/>
                    <a:p>
                      <a:endParaRPr lang="he-IL" sz="1000"/>
                    </a:p>
                  </a:txBody>
                  <a:tcPr marL="68580" marR="68580" marT="34290" marB="34290"/>
                </a:tc>
                <a:tc>
                  <a:txBody>
                    <a:bodyPr/>
                    <a:lstStyle/>
                    <a:p>
                      <a:pPr algn="ctr"/>
                      <a:r>
                        <a:rPr lang="he-IL" sz="1100" dirty="0"/>
                        <a:t>4</a:t>
                      </a:r>
                    </a:p>
                  </a:txBody>
                  <a:tcPr marL="68580" marR="68580" marT="34290" marB="34290"/>
                </a:tc>
                <a:extLst>
                  <a:ext uri="{0D108BD9-81ED-4DB2-BD59-A6C34878D82A}">
                    <a16:rowId xmlns:a16="http://schemas.microsoft.com/office/drawing/2014/main" val="2041548551"/>
                  </a:ext>
                </a:extLst>
              </a:tr>
              <a:tr h="264541">
                <a:tc>
                  <a:txBody>
                    <a:bodyPr/>
                    <a:lstStyle/>
                    <a:p>
                      <a:endParaRPr lang="he-IL" sz="1000" dirty="0"/>
                    </a:p>
                  </a:txBody>
                  <a:tcPr marL="68580" marR="68580" marT="34290" marB="34290"/>
                </a:tc>
                <a:tc>
                  <a:txBody>
                    <a:bodyPr/>
                    <a:lstStyle/>
                    <a:p>
                      <a:pPr algn="ctr"/>
                      <a:r>
                        <a:rPr lang="he-IL" sz="1100" dirty="0"/>
                        <a:t>5</a:t>
                      </a:r>
                    </a:p>
                  </a:txBody>
                  <a:tcPr marL="68580" marR="68580" marT="34290" marB="34290"/>
                </a:tc>
                <a:extLst>
                  <a:ext uri="{0D108BD9-81ED-4DB2-BD59-A6C34878D82A}">
                    <a16:rowId xmlns:a16="http://schemas.microsoft.com/office/drawing/2014/main" val="77295954"/>
                  </a:ext>
                </a:extLst>
              </a:tr>
            </a:tbl>
          </a:graphicData>
        </a:graphic>
      </p:graphicFrame>
    </p:spTree>
    <p:extLst>
      <p:ext uri="{BB962C8B-B14F-4D97-AF65-F5344CB8AC3E}">
        <p14:creationId xmlns:p14="http://schemas.microsoft.com/office/powerpoint/2010/main" val="1136829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922F9E-CB0C-4532-9759-F2DF4736A0A8}"/>
              </a:ext>
            </a:extLst>
          </p:cNvPr>
          <p:cNvSpPr>
            <a:spLocks noGrp="1"/>
          </p:cNvSpPr>
          <p:nvPr>
            <p:ph idx="1"/>
          </p:nvPr>
        </p:nvSpPr>
        <p:spPr>
          <a:xfrm>
            <a:off x="1775521" y="911146"/>
            <a:ext cx="7383235" cy="771288"/>
          </a:xfrm>
        </p:spPr>
        <p:txBody>
          <a:bodyPr>
            <a:normAutofit/>
          </a:bodyPr>
          <a:lstStyle/>
          <a:p>
            <a:pPr marL="0" indent="0">
              <a:buNone/>
            </a:pPr>
            <a:r>
              <a:rPr lang="he-IL" sz="1350" dirty="0"/>
              <a:t>א. בנו את עקומת ההיצע של כלל המשק בטבלה (עבור מחירים </a:t>
            </a:r>
            <a:r>
              <a:rPr lang="en-US" sz="1350" dirty="0"/>
              <a:t>P=1,2,3,4,5</a:t>
            </a:r>
            <a:r>
              <a:rPr lang="he-IL" sz="1350" dirty="0"/>
              <a:t>)</a:t>
            </a:r>
            <a:r>
              <a:rPr lang="en-US" sz="1350" dirty="0"/>
              <a:t>.</a:t>
            </a:r>
            <a:endParaRPr lang="x-none" sz="1350" dirty="0"/>
          </a:p>
          <a:p>
            <a:pPr marL="0" indent="0">
              <a:buNone/>
            </a:pPr>
            <a:r>
              <a:rPr lang="he-IL" sz="1350" dirty="0"/>
              <a:t>ב. הציגו בגרף את עקומות ההיצע של כל יצרן ואת עקומת ההיצע של המשק כולו (רצוי לשרטט 4 שרטוטים לאורך אותה שורה). </a:t>
            </a:r>
            <a:endParaRPr lang="x-none" sz="1350" dirty="0"/>
          </a:p>
          <a:p>
            <a:pPr marL="0" indent="0">
              <a:buNone/>
            </a:pPr>
            <a:endParaRPr lang="x-none" sz="1350" dirty="0"/>
          </a:p>
        </p:txBody>
      </p:sp>
      <p:pic>
        <p:nvPicPr>
          <p:cNvPr id="8" name="Picture 7">
            <a:extLst>
              <a:ext uri="{FF2B5EF4-FFF2-40B4-BE49-F238E27FC236}">
                <a16:creationId xmlns:a16="http://schemas.microsoft.com/office/drawing/2014/main" id="{B995132A-1E61-4057-A914-79EEEAD901D5}"/>
              </a:ext>
            </a:extLst>
          </p:cNvPr>
          <p:cNvPicPr/>
          <p:nvPr/>
        </p:nvPicPr>
        <p:blipFill>
          <a:blip r:embed="rId2"/>
          <a:stretch>
            <a:fillRect/>
          </a:stretch>
        </p:blipFill>
        <p:spPr>
          <a:xfrm>
            <a:off x="2033126" y="1720346"/>
            <a:ext cx="5711645" cy="2497325"/>
          </a:xfrm>
          <a:prstGeom prst="rect">
            <a:avLst/>
          </a:prstGeom>
        </p:spPr>
      </p:pic>
      <p:graphicFrame>
        <p:nvGraphicFramePr>
          <p:cNvPr id="7" name="Table 6">
            <a:extLst>
              <a:ext uri="{FF2B5EF4-FFF2-40B4-BE49-F238E27FC236}">
                <a16:creationId xmlns:a16="http://schemas.microsoft.com/office/drawing/2014/main" id="{DB867D8E-AC16-4315-8405-810615B01582}"/>
              </a:ext>
            </a:extLst>
          </p:cNvPr>
          <p:cNvGraphicFramePr>
            <a:graphicFrameLocks noGrp="1"/>
          </p:cNvGraphicFramePr>
          <p:nvPr/>
        </p:nvGraphicFramePr>
        <p:xfrm>
          <a:off x="5663953" y="2204772"/>
          <a:ext cx="1614377" cy="1939925"/>
        </p:xfrm>
        <a:graphic>
          <a:graphicData uri="http://schemas.openxmlformats.org/drawingml/2006/table">
            <a:tbl>
              <a:tblPr rtl="1" firstRow="1" bandRow="1">
                <a:tableStyleId>{5C22544A-7EE6-4342-B048-85BDC9FD1C3A}</a:tableStyleId>
              </a:tblPr>
              <a:tblGrid>
                <a:gridCol w="924888">
                  <a:extLst>
                    <a:ext uri="{9D8B030D-6E8A-4147-A177-3AD203B41FA5}">
                      <a16:colId xmlns:a16="http://schemas.microsoft.com/office/drawing/2014/main" val="3917732058"/>
                    </a:ext>
                  </a:extLst>
                </a:gridCol>
                <a:gridCol w="689489">
                  <a:extLst>
                    <a:ext uri="{9D8B030D-6E8A-4147-A177-3AD203B41FA5}">
                      <a16:colId xmlns:a16="http://schemas.microsoft.com/office/drawing/2014/main" val="3400975954"/>
                    </a:ext>
                  </a:extLst>
                </a:gridCol>
              </a:tblGrid>
              <a:tr h="480060">
                <a:tc>
                  <a:txBody>
                    <a:bodyPr/>
                    <a:lstStyle/>
                    <a:p>
                      <a:pPr algn="ctr" rtl="1"/>
                      <a:r>
                        <a:rPr lang="he-IL" sz="1800" b="0" dirty="0"/>
                        <a:t>כמות מוצעת</a:t>
                      </a:r>
                    </a:p>
                  </a:txBody>
                  <a:tcPr marL="68580" marR="68580" marT="34290" marB="34290">
                    <a:solidFill>
                      <a:schemeClr val="bg1">
                        <a:lumMod val="50000"/>
                      </a:schemeClr>
                    </a:solidFill>
                  </a:tcPr>
                </a:tc>
                <a:tc>
                  <a:txBody>
                    <a:bodyPr/>
                    <a:lstStyle/>
                    <a:p>
                      <a:pPr algn="ctr" rtl="1"/>
                      <a:r>
                        <a:rPr lang="he-IL" sz="1100" dirty="0"/>
                        <a:t>מחיר</a:t>
                      </a:r>
                    </a:p>
                  </a:txBody>
                  <a:tcPr marL="68580" marR="68580" marT="34290" marB="34290">
                    <a:solidFill>
                      <a:schemeClr val="bg1">
                        <a:lumMod val="50000"/>
                      </a:schemeClr>
                    </a:solidFill>
                  </a:tcPr>
                </a:tc>
                <a:extLst>
                  <a:ext uri="{0D108BD9-81ED-4DB2-BD59-A6C34878D82A}">
                    <a16:rowId xmlns:a16="http://schemas.microsoft.com/office/drawing/2014/main" val="4287946175"/>
                  </a:ext>
                </a:extLst>
              </a:tr>
              <a:tr h="264541">
                <a:tc>
                  <a:txBody>
                    <a:bodyPr/>
                    <a:lstStyle/>
                    <a:p>
                      <a:pPr algn="ctr"/>
                      <a:r>
                        <a:rPr lang="en-US" sz="1100" b="1" dirty="0"/>
                        <a:t>2</a:t>
                      </a:r>
                      <a:endParaRPr lang="he-IL" sz="1100" b="1" dirty="0"/>
                    </a:p>
                  </a:txBody>
                  <a:tcPr marL="68580" marR="68580" marT="34290" marB="34290">
                    <a:solidFill>
                      <a:schemeClr val="bg1">
                        <a:lumMod val="85000"/>
                      </a:schemeClr>
                    </a:solidFill>
                  </a:tcPr>
                </a:tc>
                <a:tc>
                  <a:txBody>
                    <a:bodyPr/>
                    <a:lstStyle/>
                    <a:p>
                      <a:pPr algn="ctr"/>
                      <a:r>
                        <a:rPr lang="en-US" sz="1100" dirty="0"/>
                        <a:t>1</a:t>
                      </a:r>
                      <a:endParaRPr lang="he-IL" sz="1100" dirty="0"/>
                    </a:p>
                  </a:txBody>
                  <a:tcPr marL="68580" marR="68580" marT="34290" marB="34290">
                    <a:solidFill>
                      <a:schemeClr val="bg1">
                        <a:lumMod val="85000"/>
                      </a:schemeClr>
                    </a:solidFill>
                  </a:tcPr>
                </a:tc>
                <a:extLst>
                  <a:ext uri="{0D108BD9-81ED-4DB2-BD59-A6C34878D82A}">
                    <a16:rowId xmlns:a16="http://schemas.microsoft.com/office/drawing/2014/main" val="1765569055"/>
                  </a:ext>
                </a:extLst>
              </a:tr>
              <a:tr h="264541">
                <a:tc>
                  <a:txBody>
                    <a:bodyPr/>
                    <a:lstStyle/>
                    <a:p>
                      <a:pPr algn="ctr"/>
                      <a:r>
                        <a:rPr lang="en-US" sz="1100" dirty="0"/>
                        <a:t>4</a:t>
                      </a:r>
                      <a:endParaRPr lang="he-IL" sz="1100" dirty="0"/>
                    </a:p>
                  </a:txBody>
                  <a:tcPr marL="68580" marR="68580" marT="34290" marB="34290"/>
                </a:tc>
                <a:tc>
                  <a:txBody>
                    <a:bodyPr/>
                    <a:lstStyle/>
                    <a:p>
                      <a:pPr algn="ctr"/>
                      <a:r>
                        <a:rPr lang="en-US" sz="1100" dirty="0"/>
                        <a:t>2</a:t>
                      </a:r>
                      <a:endParaRPr lang="he-IL" sz="1100" dirty="0"/>
                    </a:p>
                  </a:txBody>
                  <a:tcPr marL="68580" marR="68580" marT="34290" marB="34290"/>
                </a:tc>
                <a:extLst>
                  <a:ext uri="{0D108BD9-81ED-4DB2-BD59-A6C34878D82A}">
                    <a16:rowId xmlns:a16="http://schemas.microsoft.com/office/drawing/2014/main" val="2160829643"/>
                  </a:ext>
                </a:extLst>
              </a:tr>
              <a:tr h="264541">
                <a:tc>
                  <a:txBody>
                    <a:bodyPr/>
                    <a:lstStyle/>
                    <a:p>
                      <a:pPr algn="ctr"/>
                      <a:r>
                        <a:rPr lang="en-US" sz="1100" dirty="0"/>
                        <a:t>6</a:t>
                      </a:r>
                      <a:endParaRPr lang="he-IL" sz="1100" dirty="0"/>
                    </a:p>
                  </a:txBody>
                  <a:tcPr marL="68580" marR="68580" marT="34290" marB="34290">
                    <a:solidFill>
                      <a:schemeClr val="bg1">
                        <a:lumMod val="85000"/>
                      </a:schemeClr>
                    </a:solidFill>
                  </a:tcPr>
                </a:tc>
                <a:tc>
                  <a:txBody>
                    <a:bodyPr/>
                    <a:lstStyle/>
                    <a:p>
                      <a:pPr algn="ctr"/>
                      <a:r>
                        <a:rPr lang="en-US" sz="1100" dirty="0"/>
                        <a:t>3</a:t>
                      </a:r>
                      <a:endParaRPr lang="he-IL" sz="1100" dirty="0"/>
                    </a:p>
                  </a:txBody>
                  <a:tcPr marL="68580" marR="68580" marT="34290" marB="34290">
                    <a:solidFill>
                      <a:schemeClr val="bg1">
                        <a:lumMod val="85000"/>
                      </a:schemeClr>
                    </a:solidFill>
                  </a:tcPr>
                </a:tc>
                <a:extLst>
                  <a:ext uri="{0D108BD9-81ED-4DB2-BD59-A6C34878D82A}">
                    <a16:rowId xmlns:a16="http://schemas.microsoft.com/office/drawing/2014/main" val="4290881610"/>
                  </a:ext>
                </a:extLst>
              </a:tr>
              <a:tr h="264541">
                <a:tc>
                  <a:txBody>
                    <a:bodyPr/>
                    <a:lstStyle/>
                    <a:p>
                      <a:pPr algn="ctr"/>
                      <a:r>
                        <a:rPr lang="en-US" sz="1100" dirty="0"/>
                        <a:t>8</a:t>
                      </a:r>
                      <a:endParaRPr lang="he-IL" sz="1100" dirty="0"/>
                    </a:p>
                  </a:txBody>
                  <a:tcPr marL="68580" marR="68580" marT="34290" marB="34290"/>
                </a:tc>
                <a:tc>
                  <a:txBody>
                    <a:bodyPr/>
                    <a:lstStyle/>
                    <a:p>
                      <a:pPr algn="ctr"/>
                      <a:r>
                        <a:rPr lang="en-US" sz="1100" dirty="0"/>
                        <a:t>4</a:t>
                      </a:r>
                      <a:endParaRPr lang="he-IL" sz="1100" dirty="0"/>
                    </a:p>
                  </a:txBody>
                  <a:tcPr marL="68580" marR="68580" marT="34290" marB="34290"/>
                </a:tc>
                <a:extLst>
                  <a:ext uri="{0D108BD9-81ED-4DB2-BD59-A6C34878D82A}">
                    <a16:rowId xmlns:a16="http://schemas.microsoft.com/office/drawing/2014/main" val="2041548551"/>
                  </a:ext>
                </a:extLst>
              </a:tr>
              <a:tr h="264541">
                <a:tc>
                  <a:txBody>
                    <a:bodyPr/>
                    <a:lstStyle/>
                    <a:p>
                      <a:pPr algn="ctr"/>
                      <a:r>
                        <a:rPr lang="en-US" sz="1100" dirty="0"/>
                        <a:t>10</a:t>
                      </a:r>
                      <a:endParaRPr lang="he-IL" sz="1100" dirty="0"/>
                    </a:p>
                  </a:txBody>
                  <a:tcPr marL="68580" marR="68580" marT="34290" marB="34290">
                    <a:solidFill>
                      <a:schemeClr val="bg1">
                        <a:lumMod val="85000"/>
                      </a:schemeClr>
                    </a:solidFill>
                  </a:tcPr>
                </a:tc>
                <a:tc>
                  <a:txBody>
                    <a:bodyPr/>
                    <a:lstStyle/>
                    <a:p>
                      <a:pPr algn="ctr"/>
                      <a:r>
                        <a:rPr lang="en-US" sz="1100" dirty="0"/>
                        <a:t>5</a:t>
                      </a:r>
                      <a:endParaRPr lang="he-IL" sz="1100" dirty="0"/>
                    </a:p>
                  </a:txBody>
                  <a:tcPr marL="68580" marR="68580" marT="34290" marB="34290">
                    <a:solidFill>
                      <a:schemeClr val="bg1">
                        <a:lumMod val="85000"/>
                      </a:schemeClr>
                    </a:solidFill>
                  </a:tcPr>
                </a:tc>
                <a:extLst>
                  <a:ext uri="{0D108BD9-81ED-4DB2-BD59-A6C34878D82A}">
                    <a16:rowId xmlns:a16="http://schemas.microsoft.com/office/drawing/2014/main" val="77295954"/>
                  </a:ext>
                </a:extLst>
              </a:tr>
            </a:tbl>
          </a:graphicData>
        </a:graphic>
      </p:graphicFrame>
      <p:graphicFrame>
        <p:nvGraphicFramePr>
          <p:cNvPr id="11" name="Table 10">
            <a:extLst>
              <a:ext uri="{FF2B5EF4-FFF2-40B4-BE49-F238E27FC236}">
                <a16:creationId xmlns:a16="http://schemas.microsoft.com/office/drawing/2014/main" id="{75927A30-2AE3-4B26-B829-DAF9127D03A5}"/>
              </a:ext>
            </a:extLst>
          </p:cNvPr>
          <p:cNvGraphicFramePr>
            <a:graphicFrameLocks noGrp="1"/>
          </p:cNvGraphicFramePr>
          <p:nvPr/>
        </p:nvGraphicFramePr>
        <p:xfrm>
          <a:off x="7626976" y="2327248"/>
          <a:ext cx="2375806" cy="1851660"/>
        </p:xfrm>
        <a:graphic>
          <a:graphicData uri="http://schemas.openxmlformats.org/drawingml/2006/table">
            <a:tbl>
              <a:tblPr rtl="1" firstRow="1" bandRow="1">
                <a:tableStyleId>{5C22544A-7EE6-4342-B048-85BDC9FD1C3A}</a:tableStyleId>
              </a:tblPr>
              <a:tblGrid>
                <a:gridCol w="1526948">
                  <a:extLst>
                    <a:ext uri="{9D8B030D-6E8A-4147-A177-3AD203B41FA5}">
                      <a16:colId xmlns:a16="http://schemas.microsoft.com/office/drawing/2014/main" val="3917732058"/>
                    </a:ext>
                  </a:extLst>
                </a:gridCol>
                <a:gridCol w="848858">
                  <a:extLst>
                    <a:ext uri="{9D8B030D-6E8A-4147-A177-3AD203B41FA5}">
                      <a16:colId xmlns:a16="http://schemas.microsoft.com/office/drawing/2014/main" val="3400975954"/>
                    </a:ext>
                  </a:extLst>
                </a:gridCol>
              </a:tblGrid>
              <a:tr h="401570">
                <a:tc>
                  <a:txBody>
                    <a:bodyPr/>
                    <a:lstStyle/>
                    <a:p>
                      <a:pPr algn="ctr" rtl="1"/>
                      <a:r>
                        <a:rPr lang="he-IL" sz="1400" b="1" dirty="0"/>
                        <a:t>כמות מצרפית</a:t>
                      </a:r>
                    </a:p>
                  </a:txBody>
                  <a:tcPr marL="68580" marR="68580" marT="34290" marB="34290"/>
                </a:tc>
                <a:tc>
                  <a:txBody>
                    <a:bodyPr/>
                    <a:lstStyle/>
                    <a:p>
                      <a:pPr algn="ctr" rtl="1"/>
                      <a:r>
                        <a:rPr lang="he-IL" sz="1400" dirty="0"/>
                        <a:t>מחיר</a:t>
                      </a:r>
                    </a:p>
                  </a:txBody>
                  <a:tcPr marL="68580" marR="68580" marT="34290" marB="34290"/>
                </a:tc>
                <a:extLst>
                  <a:ext uri="{0D108BD9-81ED-4DB2-BD59-A6C34878D82A}">
                    <a16:rowId xmlns:a16="http://schemas.microsoft.com/office/drawing/2014/main" val="4287946175"/>
                  </a:ext>
                </a:extLst>
              </a:tr>
              <a:tr h="290018">
                <a:tc>
                  <a:txBody>
                    <a:bodyPr/>
                    <a:lstStyle/>
                    <a:p>
                      <a:pPr algn="ctr" rtl="1"/>
                      <a:r>
                        <a:rPr lang="en-US" sz="1400" b="0" dirty="0"/>
                        <a:t>0+1+</a:t>
                      </a:r>
                      <a:r>
                        <a:rPr lang="en-US" sz="1400" b="1" dirty="0"/>
                        <a:t>2</a:t>
                      </a:r>
                      <a:r>
                        <a:rPr lang="en-US" sz="1400" b="0" dirty="0"/>
                        <a:t> =  3</a:t>
                      </a:r>
                      <a:endParaRPr lang="he-IL" sz="1400" b="0" dirty="0"/>
                    </a:p>
                  </a:txBody>
                  <a:tcPr marL="68580" marR="68580" marT="34290" marB="34290"/>
                </a:tc>
                <a:tc>
                  <a:txBody>
                    <a:bodyPr/>
                    <a:lstStyle/>
                    <a:p>
                      <a:pPr algn="ctr"/>
                      <a:r>
                        <a:rPr lang="he-IL" sz="1400" dirty="0"/>
                        <a:t>1</a:t>
                      </a:r>
                    </a:p>
                  </a:txBody>
                  <a:tcPr marL="68580" marR="68580" marT="34290" marB="34290"/>
                </a:tc>
                <a:extLst>
                  <a:ext uri="{0D108BD9-81ED-4DB2-BD59-A6C34878D82A}">
                    <a16:rowId xmlns:a16="http://schemas.microsoft.com/office/drawing/2014/main" val="1765569055"/>
                  </a:ext>
                </a:extLst>
              </a:tr>
              <a:tr h="290018">
                <a:tc>
                  <a:txBody>
                    <a:bodyPr/>
                    <a:lstStyle/>
                    <a:p>
                      <a:pPr algn="ctr" rtl="1"/>
                      <a:r>
                        <a:rPr lang="en-US" sz="1400" b="0" dirty="0"/>
                        <a:t>2+2+4=8</a:t>
                      </a:r>
                      <a:endParaRPr lang="he-IL" sz="1400" b="0" dirty="0"/>
                    </a:p>
                  </a:txBody>
                  <a:tcPr marL="68580" marR="68580" marT="34290" marB="34290"/>
                </a:tc>
                <a:tc>
                  <a:txBody>
                    <a:bodyPr/>
                    <a:lstStyle/>
                    <a:p>
                      <a:pPr algn="ctr"/>
                      <a:r>
                        <a:rPr lang="he-IL" sz="1400" dirty="0"/>
                        <a:t>2</a:t>
                      </a:r>
                    </a:p>
                  </a:txBody>
                  <a:tcPr marL="68580" marR="68580" marT="34290" marB="34290"/>
                </a:tc>
                <a:extLst>
                  <a:ext uri="{0D108BD9-81ED-4DB2-BD59-A6C34878D82A}">
                    <a16:rowId xmlns:a16="http://schemas.microsoft.com/office/drawing/2014/main" val="2160829643"/>
                  </a:ext>
                </a:extLst>
              </a:tr>
              <a:tr h="290018">
                <a:tc>
                  <a:txBody>
                    <a:bodyPr/>
                    <a:lstStyle/>
                    <a:p>
                      <a:pPr algn="ctr" rtl="1"/>
                      <a:r>
                        <a:rPr lang="en-US" sz="1400" b="0" dirty="0"/>
                        <a:t>13</a:t>
                      </a:r>
                      <a:endParaRPr lang="he-IL" sz="1400" b="0" dirty="0"/>
                    </a:p>
                  </a:txBody>
                  <a:tcPr marL="68580" marR="68580" marT="34290" marB="34290"/>
                </a:tc>
                <a:tc>
                  <a:txBody>
                    <a:bodyPr/>
                    <a:lstStyle/>
                    <a:p>
                      <a:pPr algn="ctr"/>
                      <a:r>
                        <a:rPr lang="he-IL" sz="1400" dirty="0"/>
                        <a:t>3</a:t>
                      </a:r>
                    </a:p>
                  </a:txBody>
                  <a:tcPr marL="68580" marR="68580" marT="34290" marB="34290"/>
                </a:tc>
                <a:extLst>
                  <a:ext uri="{0D108BD9-81ED-4DB2-BD59-A6C34878D82A}">
                    <a16:rowId xmlns:a16="http://schemas.microsoft.com/office/drawing/2014/main" val="4290881610"/>
                  </a:ext>
                </a:extLst>
              </a:tr>
              <a:tr h="290018">
                <a:tc>
                  <a:txBody>
                    <a:bodyPr/>
                    <a:lstStyle/>
                    <a:p>
                      <a:pPr algn="ctr" rtl="1"/>
                      <a:r>
                        <a:rPr lang="en-US" sz="1400" b="0" dirty="0"/>
                        <a:t>18</a:t>
                      </a:r>
                      <a:endParaRPr lang="he-IL" sz="1400" b="0" dirty="0"/>
                    </a:p>
                  </a:txBody>
                  <a:tcPr marL="68580" marR="68580" marT="34290" marB="34290"/>
                </a:tc>
                <a:tc>
                  <a:txBody>
                    <a:bodyPr/>
                    <a:lstStyle/>
                    <a:p>
                      <a:pPr algn="ctr"/>
                      <a:r>
                        <a:rPr lang="he-IL" sz="1400" dirty="0"/>
                        <a:t>4</a:t>
                      </a:r>
                    </a:p>
                  </a:txBody>
                  <a:tcPr marL="68580" marR="68580" marT="34290" marB="34290"/>
                </a:tc>
                <a:extLst>
                  <a:ext uri="{0D108BD9-81ED-4DB2-BD59-A6C34878D82A}">
                    <a16:rowId xmlns:a16="http://schemas.microsoft.com/office/drawing/2014/main" val="2041548551"/>
                  </a:ext>
                </a:extLst>
              </a:tr>
              <a:tr h="290018">
                <a:tc>
                  <a:txBody>
                    <a:bodyPr/>
                    <a:lstStyle/>
                    <a:p>
                      <a:pPr algn="ctr" rtl="1"/>
                      <a:r>
                        <a:rPr lang="en-US" sz="1400" b="0" dirty="0"/>
                        <a:t>24</a:t>
                      </a:r>
                      <a:endParaRPr lang="he-IL" sz="1400" b="0" dirty="0"/>
                    </a:p>
                  </a:txBody>
                  <a:tcPr marL="68580" marR="68580" marT="34290" marB="34290"/>
                </a:tc>
                <a:tc>
                  <a:txBody>
                    <a:bodyPr/>
                    <a:lstStyle/>
                    <a:p>
                      <a:pPr algn="ctr"/>
                      <a:r>
                        <a:rPr lang="he-IL" sz="1400" dirty="0"/>
                        <a:t>5</a:t>
                      </a:r>
                    </a:p>
                  </a:txBody>
                  <a:tcPr marL="68580" marR="68580" marT="34290" marB="34290"/>
                </a:tc>
                <a:extLst>
                  <a:ext uri="{0D108BD9-81ED-4DB2-BD59-A6C34878D82A}">
                    <a16:rowId xmlns:a16="http://schemas.microsoft.com/office/drawing/2014/main" val="77295954"/>
                  </a:ext>
                </a:extLst>
              </a:tr>
            </a:tbl>
          </a:graphicData>
        </a:graphic>
      </p:graphicFrame>
      <p:sp>
        <p:nvSpPr>
          <p:cNvPr id="6" name="Title 1">
            <a:extLst>
              <a:ext uri="{FF2B5EF4-FFF2-40B4-BE49-F238E27FC236}">
                <a16:creationId xmlns:a16="http://schemas.microsoft.com/office/drawing/2014/main" id="{A46586B6-FC76-6B5C-551B-3C7653273F58}"/>
              </a:ext>
            </a:extLst>
          </p:cNvPr>
          <p:cNvSpPr>
            <a:spLocks noGrp="1"/>
          </p:cNvSpPr>
          <p:nvPr>
            <p:ph type="title"/>
          </p:nvPr>
        </p:nvSpPr>
        <p:spPr>
          <a:xfrm>
            <a:off x="7166583" y="68755"/>
            <a:ext cx="4791857" cy="994172"/>
          </a:xfrm>
        </p:spPr>
        <p:txBody>
          <a:bodyPr>
            <a:normAutofit/>
          </a:bodyPr>
          <a:lstStyle/>
          <a:p>
            <a:pPr algn="r" rtl="1"/>
            <a:r>
              <a:rPr lang="he-IL" dirty="0">
                <a:latin typeface="Arial" panose="020B0604020202020204" pitchFamily="34" charset="0"/>
                <a:cs typeface="Arial" panose="020B0604020202020204" pitchFamily="34" charset="0"/>
              </a:rPr>
              <a:t>היצע מצרפי- שאלה לדוגמא</a:t>
            </a:r>
            <a:endParaRPr lang="x-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1461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מחבר חץ ישר 7"/>
          <p:cNvCxnSpPr/>
          <p:nvPr/>
        </p:nvCxnSpPr>
        <p:spPr>
          <a:xfrm>
            <a:off x="3179676" y="3343554"/>
            <a:ext cx="1134126"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 name="מחבר חץ ישר 8"/>
          <p:cNvCxnSpPr/>
          <p:nvPr/>
        </p:nvCxnSpPr>
        <p:spPr>
          <a:xfrm flipV="1">
            <a:off x="3179676" y="1879104"/>
            <a:ext cx="0" cy="146445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1" name="מחבר חץ ישר 10"/>
          <p:cNvCxnSpPr/>
          <p:nvPr/>
        </p:nvCxnSpPr>
        <p:spPr>
          <a:xfrm>
            <a:off x="4428102" y="3343554"/>
            <a:ext cx="1134126"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2" name="מחבר חץ ישר 11"/>
          <p:cNvCxnSpPr/>
          <p:nvPr/>
        </p:nvCxnSpPr>
        <p:spPr>
          <a:xfrm flipV="1">
            <a:off x="4428102" y="1879104"/>
            <a:ext cx="0" cy="146445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מחבר חץ ישר 12"/>
          <p:cNvCxnSpPr/>
          <p:nvPr/>
        </p:nvCxnSpPr>
        <p:spPr>
          <a:xfrm>
            <a:off x="5717958" y="3343554"/>
            <a:ext cx="1134126" cy="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4" name="מחבר חץ ישר 13"/>
          <p:cNvCxnSpPr/>
          <p:nvPr/>
        </p:nvCxnSpPr>
        <p:spPr>
          <a:xfrm flipV="1">
            <a:off x="5717958" y="1879104"/>
            <a:ext cx="0" cy="146445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5" name="מחבר חץ ישר 14"/>
          <p:cNvCxnSpPr>
            <a:cxnSpLocks/>
            <a:endCxn id="51" idx="0"/>
          </p:cNvCxnSpPr>
          <p:nvPr/>
        </p:nvCxnSpPr>
        <p:spPr>
          <a:xfrm>
            <a:off x="7248129" y="3350323"/>
            <a:ext cx="3022579" cy="14839"/>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 name="מחבר חץ ישר 15"/>
          <p:cNvCxnSpPr/>
          <p:nvPr/>
        </p:nvCxnSpPr>
        <p:spPr>
          <a:xfrm flipV="1">
            <a:off x="7248128" y="1895413"/>
            <a:ext cx="0" cy="1464450"/>
          </a:xfrm>
          <a:prstGeom prst="straightConnector1">
            <a:avLst/>
          </a:prstGeom>
          <a:ln w="19050">
            <a:solidFill>
              <a:schemeClr val="bg2">
                <a:lumMod val="50000"/>
              </a:schemeClr>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9" name="מציין מיקום תוכן 5"/>
          <p:cNvGraphicFramePr>
            <a:graphicFrameLocks noGrp="1"/>
          </p:cNvGraphicFramePr>
          <p:nvPr>
            <p:ph idx="1"/>
            <p:extLst>
              <p:ext uri="{D42A27DB-BD31-4B8C-83A1-F6EECF244321}">
                <p14:modId xmlns:p14="http://schemas.microsoft.com/office/powerpoint/2010/main" val="431060594"/>
              </p:ext>
            </p:extLst>
          </p:nvPr>
        </p:nvGraphicFramePr>
        <p:xfrm>
          <a:off x="2555631" y="3868721"/>
          <a:ext cx="4293923" cy="1712358"/>
        </p:xfrm>
        <a:graphic>
          <a:graphicData uri="http://schemas.openxmlformats.org/drawingml/2006/table">
            <a:tbl>
              <a:tblPr rtl="1" firstRow="1" bandRow="1">
                <a:tableStyleId>{2D5ABB26-0587-4C30-8999-92F81FD0307C}</a:tableStyleId>
              </a:tblPr>
              <a:tblGrid>
                <a:gridCol w="681507">
                  <a:extLst>
                    <a:ext uri="{9D8B030D-6E8A-4147-A177-3AD203B41FA5}">
                      <a16:colId xmlns:a16="http://schemas.microsoft.com/office/drawing/2014/main" val="20000"/>
                    </a:ext>
                  </a:extLst>
                </a:gridCol>
                <a:gridCol w="524607">
                  <a:extLst>
                    <a:ext uri="{9D8B030D-6E8A-4147-A177-3AD203B41FA5}">
                      <a16:colId xmlns:a16="http://schemas.microsoft.com/office/drawing/2014/main" val="20001"/>
                    </a:ext>
                  </a:extLst>
                </a:gridCol>
                <a:gridCol w="351615">
                  <a:extLst>
                    <a:ext uri="{9D8B030D-6E8A-4147-A177-3AD203B41FA5}">
                      <a16:colId xmlns:a16="http://schemas.microsoft.com/office/drawing/2014/main" val="20002"/>
                    </a:ext>
                  </a:extLst>
                </a:gridCol>
                <a:gridCol w="681507">
                  <a:extLst>
                    <a:ext uri="{9D8B030D-6E8A-4147-A177-3AD203B41FA5}">
                      <a16:colId xmlns:a16="http://schemas.microsoft.com/office/drawing/2014/main" val="20003"/>
                    </a:ext>
                  </a:extLst>
                </a:gridCol>
                <a:gridCol w="562804">
                  <a:extLst>
                    <a:ext uri="{9D8B030D-6E8A-4147-A177-3AD203B41FA5}">
                      <a16:colId xmlns:a16="http://schemas.microsoft.com/office/drawing/2014/main" val="20004"/>
                    </a:ext>
                  </a:extLst>
                </a:gridCol>
                <a:gridCol w="313419">
                  <a:extLst>
                    <a:ext uri="{9D8B030D-6E8A-4147-A177-3AD203B41FA5}">
                      <a16:colId xmlns:a16="http://schemas.microsoft.com/office/drawing/2014/main" val="20005"/>
                    </a:ext>
                  </a:extLst>
                </a:gridCol>
                <a:gridCol w="712765">
                  <a:extLst>
                    <a:ext uri="{9D8B030D-6E8A-4147-A177-3AD203B41FA5}">
                      <a16:colId xmlns:a16="http://schemas.microsoft.com/office/drawing/2014/main" val="20006"/>
                    </a:ext>
                  </a:extLst>
                </a:gridCol>
                <a:gridCol w="465699">
                  <a:extLst>
                    <a:ext uri="{9D8B030D-6E8A-4147-A177-3AD203B41FA5}">
                      <a16:colId xmlns:a16="http://schemas.microsoft.com/office/drawing/2014/main" val="20007"/>
                    </a:ext>
                  </a:extLst>
                </a:gridCol>
              </a:tblGrid>
              <a:tr h="385883">
                <a:tc>
                  <a:txBody>
                    <a:bodyPr/>
                    <a:lstStyle/>
                    <a:p>
                      <a:pPr algn="ctr" rtl="1">
                        <a:spcAft>
                          <a:spcPts val="0"/>
                        </a:spcAft>
                      </a:pPr>
                      <a:r>
                        <a:rPr lang="he-IL" sz="1200" b="1" dirty="0">
                          <a:latin typeface="Times New Roman"/>
                          <a:ea typeface="Times New Roman"/>
                          <a:cs typeface="David"/>
                        </a:rPr>
                        <a:t>כמות מוצעת</a:t>
                      </a:r>
                      <a:endParaRPr lang="en-US" sz="1200" b="1"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200" b="1" dirty="0">
                          <a:latin typeface="Times New Roman"/>
                          <a:ea typeface="Times New Roman"/>
                          <a:cs typeface="David"/>
                        </a:rPr>
                        <a:t>מחיר</a:t>
                      </a:r>
                      <a:endParaRPr lang="en-US" sz="1200" b="1" dirty="0">
                        <a:latin typeface="Times New Roman"/>
                        <a:ea typeface="Times New Roman"/>
                        <a:cs typeface="Miriam"/>
                      </a:endParaRPr>
                    </a:p>
                  </a:txBody>
                  <a:tcPr marL="51435" marR="51435"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0">
                        <a:spcAft>
                          <a:spcPts val="0"/>
                        </a:spcAft>
                      </a:pPr>
                      <a:r>
                        <a:rPr lang="en-US" sz="1200" b="1" dirty="0">
                          <a:latin typeface="Times New Roman"/>
                          <a:ea typeface="Times New Roman"/>
                          <a:cs typeface="David"/>
                        </a:rPr>
                        <a:t> </a:t>
                      </a:r>
                      <a:endParaRPr lang="en-US" sz="1200" b="1" dirty="0">
                        <a:latin typeface="Times New Roman"/>
                        <a:ea typeface="Times New Roman"/>
                        <a:cs typeface="Miriam"/>
                      </a:endParaRPr>
                    </a:p>
                  </a:txBody>
                  <a:tcPr marL="51435" marR="51435"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200" b="1" dirty="0">
                          <a:latin typeface="Times New Roman"/>
                          <a:ea typeface="Times New Roman"/>
                          <a:cs typeface="David"/>
                        </a:rPr>
                        <a:t>כמות מוצעת</a:t>
                      </a:r>
                      <a:endParaRPr lang="en-US" sz="1200" b="1"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200" b="1" dirty="0">
                          <a:latin typeface="Times New Roman"/>
                          <a:ea typeface="Times New Roman"/>
                          <a:cs typeface="David"/>
                        </a:rPr>
                        <a:t>מחיר</a:t>
                      </a:r>
                      <a:endParaRPr lang="en-US" sz="1200" b="1" dirty="0">
                        <a:latin typeface="Times New Roman"/>
                        <a:ea typeface="Times New Roman"/>
                        <a:cs typeface="Miriam"/>
                      </a:endParaRPr>
                    </a:p>
                  </a:txBody>
                  <a:tcPr marL="51435" marR="51435"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0">
                        <a:spcAft>
                          <a:spcPts val="0"/>
                        </a:spcAft>
                      </a:pPr>
                      <a:r>
                        <a:rPr lang="en-US" sz="1200" b="1" dirty="0">
                          <a:latin typeface="Times New Roman"/>
                          <a:ea typeface="Times New Roman"/>
                          <a:cs typeface="David"/>
                        </a:rPr>
                        <a:t> </a:t>
                      </a:r>
                      <a:endParaRPr lang="en-US" sz="1200" b="1" dirty="0">
                        <a:latin typeface="Times New Roman"/>
                        <a:ea typeface="Times New Roman"/>
                        <a:cs typeface="Miriam"/>
                      </a:endParaRPr>
                    </a:p>
                  </a:txBody>
                  <a:tcPr marL="51435" marR="51435" marT="0" marB="0" anchor="b">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200" b="1" dirty="0">
                          <a:latin typeface="Times New Roman"/>
                          <a:ea typeface="Times New Roman"/>
                          <a:cs typeface="David"/>
                        </a:rPr>
                        <a:t>כמות מוצעת</a:t>
                      </a:r>
                      <a:endParaRPr lang="en-US" sz="1200" b="1"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rtl="1">
                        <a:spcAft>
                          <a:spcPts val="0"/>
                        </a:spcAft>
                      </a:pPr>
                      <a:r>
                        <a:rPr lang="he-IL" sz="1200" b="1" dirty="0">
                          <a:latin typeface="Times New Roman"/>
                          <a:ea typeface="Times New Roman"/>
                          <a:cs typeface="David"/>
                        </a:rPr>
                        <a:t>מחיר</a:t>
                      </a:r>
                      <a:endParaRPr lang="en-US" sz="1200" b="1" dirty="0">
                        <a:latin typeface="Times New Roman"/>
                        <a:ea typeface="Times New Roman"/>
                        <a:cs typeface="Miriam"/>
                      </a:endParaRPr>
                    </a:p>
                  </a:txBody>
                  <a:tcPr marL="51435" marR="51435"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265295">
                <a:tc>
                  <a:txBody>
                    <a:bodyPr/>
                    <a:lstStyle/>
                    <a:p>
                      <a:pPr algn="ctr" rtl="1">
                        <a:spcAft>
                          <a:spcPts val="0"/>
                        </a:spcAft>
                      </a:pPr>
                      <a:r>
                        <a:rPr lang="he-IL" sz="1200" dirty="0">
                          <a:latin typeface="Times New Roman"/>
                          <a:ea typeface="Times New Roman"/>
                          <a:cs typeface="David"/>
                        </a:rPr>
                        <a:t>2</a:t>
                      </a:r>
                      <a:endParaRPr lang="en-US" sz="1200"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9"/>
                    </a:solidFill>
                  </a:tcPr>
                </a:tc>
                <a:tc>
                  <a:txBody>
                    <a:bodyPr/>
                    <a:lstStyle/>
                    <a:p>
                      <a:pPr algn="ctr" rtl="1">
                        <a:spcAft>
                          <a:spcPts val="0"/>
                        </a:spcAft>
                      </a:pPr>
                      <a:r>
                        <a:rPr lang="he-IL" sz="1200" dirty="0">
                          <a:latin typeface="Times New Roman"/>
                          <a:ea typeface="Times New Roman"/>
                          <a:cs typeface="David"/>
                        </a:rPr>
                        <a:t>1</a:t>
                      </a:r>
                      <a:endParaRPr lang="en-US" sz="1200" dirty="0">
                        <a:latin typeface="Times New Roman"/>
                        <a:ea typeface="Times New Roman"/>
                        <a:cs typeface="Miriam"/>
                      </a:endParaRPr>
                    </a:p>
                  </a:txBody>
                  <a:tcPr marL="51435" marR="51435"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200" dirty="0">
                          <a:latin typeface="Times New Roman"/>
                          <a:ea typeface="Times New Roman"/>
                          <a:cs typeface="David"/>
                        </a:rPr>
                        <a:t> </a:t>
                      </a:r>
                      <a:endParaRPr lang="en-US" sz="1200"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200" dirty="0">
                          <a:latin typeface="Times New Roman"/>
                          <a:ea typeface="Times New Roman"/>
                          <a:cs typeface="David"/>
                        </a:rPr>
                        <a:t>1</a:t>
                      </a:r>
                      <a:endParaRPr lang="en-US" sz="1200"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9"/>
                    </a:solidFill>
                  </a:tcPr>
                </a:tc>
                <a:tc>
                  <a:txBody>
                    <a:bodyPr/>
                    <a:lstStyle/>
                    <a:p>
                      <a:pPr algn="ctr" rtl="1">
                        <a:spcAft>
                          <a:spcPts val="0"/>
                        </a:spcAft>
                      </a:pPr>
                      <a:r>
                        <a:rPr lang="he-IL" sz="1200" dirty="0">
                          <a:latin typeface="Times New Roman"/>
                          <a:ea typeface="Times New Roman"/>
                          <a:cs typeface="David"/>
                        </a:rPr>
                        <a:t>1</a:t>
                      </a:r>
                      <a:endParaRPr lang="en-US" sz="1200" dirty="0">
                        <a:latin typeface="Times New Roman"/>
                        <a:ea typeface="Times New Roman"/>
                        <a:cs typeface="Miriam"/>
                      </a:endParaRPr>
                    </a:p>
                  </a:txBody>
                  <a:tcPr marL="51435" marR="51435"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200" dirty="0">
                          <a:latin typeface="Times New Roman"/>
                          <a:ea typeface="Times New Roman"/>
                          <a:cs typeface="David"/>
                        </a:rPr>
                        <a:t> </a:t>
                      </a:r>
                      <a:endParaRPr lang="en-US" sz="1200"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a:r>
                        <a:rPr lang="he-IL" sz="1200" b="1" dirty="0"/>
                        <a:t>0</a:t>
                      </a:r>
                    </a:p>
                  </a:txBody>
                  <a:tcPr marL="68580" marR="68580" marT="34290" marB="3429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9"/>
                    </a:solidFill>
                  </a:tcPr>
                </a:tc>
                <a:tc>
                  <a:txBody>
                    <a:bodyPr/>
                    <a:lstStyle/>
                    <a:p>
                      <a:pPr algn="ctr"/>
                      <a:r>
                        <a:rPr lang="en-US" sz="1200" dirty="0"/>
                        <a:t>1</a:t>
                      </a:r>
                      <a:endParaRPr lang="he-IL" sz="1200" dirty="0"/>
                    </a:p>
                  </a:txBody>
                  <a:tcPr marL="68580" marR="68580" marT="34290" marB="3429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65295">
                <a:tc>
                  <a:txBody>
                    <a:bodyPr/>
                    <a:lstStyle/>
                    <a:p>
                      <a:pPr algn="ctr" rtl="1">
                        <a:spcAft>
                          <a:spcPts val="0"/>
                        </a:spcAft>
                      </a:pPr>
                      <a:r>
                        <a:rPr lang="he-IL" sz="1200" dirty="0">
                          <a:latin typeface="Times New Roman"/>
                          <a:ea typeface="Times New Roman"/>
                          <a:cs typeface="David"/>
                        </a:rPr>
                        <a:t>4</a:t>
                      </a:r>
                      <a:endParaRPr lang="en-US" sz="1200"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9"/>
                    </a:solidFill>
                  </a:tcPr>
                </a:tc>
                <a:tc>
                  <a:txBody>
                    <a:bodyPr/>
                    <a:lstStyle/>
                    <a:p>
                      <a:pPr algn="ctr" rtl="1">
                        <a:spcAft>
                          <a:spcPts val="0"/>
                        </a:spcAft>
                      </a:pPr>
                      <a:r>
                        <a:rPr lang="he-IL" sz="1200" dirty="0">
                          <a:latin typeface="Times New Roman"/>
                          <a:ea typeface="Times New Roman"/>
                          <a:cs typeface="David"/>
                        </a:rPr>
                        <a:t>2</a:t>
                      </a:r>
                      <a:endParaRPr lang="en-US" sz="1200" dirty="0">
                        <a:latin typeface="Times New Roman"/>
                        <a:ea typeface="Times New Roman"/>
                        <a:cs typeface="Miriam"/>
                      </a:endParaRPr>
                    </a:p>
                  </a:txBody>
                  <a:tcPr marL="51435" marR="51435"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200" dirty="0">
                          <a:latin typeface="Times New Roman"/>
                          <a:ea typeface="Times New Roman"/>
                          <a:cs typeface="David"/>
                        </a:rPr>
                        <a:t> </a:t>
                      </a:r>
                      <a:endParaRPr lang="en-US" sz="1200"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200" dirty="0">
                          <a:latin typeface="Times New Roman"/>
                          <a:ea typeface="Times New Roman"/>
                          <a:cs typeface="David"/>
                        </a:rPr>
                        <a:t>2</a:t>
                      </a:r>
                      <a:endParaRPr lang="en-US" sz="1200"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9"/>
                    </a:solidFill>
                  </a:tcPr>
                </a:tc>
                <a:tc>
                  <a:txBody>
                    <a:bodyPr/>
                    <a:lstStyle/>
                    <a:p>
                      <a:pPr algn="ctr" rtl="1">
                        <a:spcAft>
                          <a:spcPts val="0"/>
                        </a:spcAft>
                      </a:pPr>
                      <a:r>
                        <a:rPr lang="he-IL" sz="1200" dirty="0">
                          <a:latin typeface="Times New Roman"/>
                          <a:ea typeface="Times New Roman"/>
                          <a:cs typeface="David"/>
                        </a:rPr>
                        <a:t>2</a:t>
                      </a:r>
                      <a:endParaRPr lang="en-US" sz="1200" dirty="0">
                        <a:latin typeface="Times New Roman"/>
                        <a:ea typeface="Times New Roman"/>
                        <a:cs typeface="Miriam"/>
                      </a:endParaRPr>
                    </a:p>
                  </a:txBody>
                  <a:tcPr marL="51435" marR="51435"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200" dirty="0">
                          <a:latin typeface="Times New Roman"/>
                          <a:ea typeface="Times New Roman"/>
                          <a:cs typeface="David"/>
                        </a:rPr>
                        <a:t> </a:t>
                      </a:r>
                      <a:endParaRPr lang="en-US" sz="1200"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a:r>
                        <a:rPr lang="he-IL" sz="1200" b="1" dirty="0"/>
                        <a:t>2</a:t>
                      </a:r>
                    </a:p>
                  </a:txBody>
                  <a:tcPr marL="68580" marR="68580" marT="34290" marB="3429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9"/>
                    </a:solidFill>
                  </a:tcPr>
                </a:tc>
                <a:tc>
                  <a:txBody>
                    <a:bodyPr/>
                    <a:lstStyle/>
                    <a:p>
                      <a:pPr algn="ctr"/>
                      <a:r>
                        <a:rPr lang="en-US" sz="1200" dirty="0"/>
                        <a:t>2</a:t>
                      </a:r>
                      <a:endParaRPr lang="he-IL" sz="1200" dirty="0"/>
                    </a:p>
                  </a:txBody>
                  <a:tcPr marL="68580" marR="68580" marT="34290" marB="3429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65295">
                <a:tc>
                  <a:txBody>
                    <a:bodyPr/>
                    <a:lstStyle/>
                    <a:p>
                      <a:pPr algn="ctr" rtl="1">
                        <a:spcAft>
                          <a:spcPts val="0"/>
                        </a:spcAft>
                      </a:pPr>
                      <a:r>
                        <a:rPr lang="he-IL" sz="1200" dirty="0">
                          <a:latin typeface="Times New Roman"/>
                          <a:ea typeface="Times New Roman"/>
                          <a:cs typeface="David"/>
                        </a:rPr>
                        <a:t>6</a:t>
                      </a:r>
                      <a:endParaRPr lang="en-US" sz="1200"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9"/>
                    </a:solidFill>
                  </a:tcPr>
                </a:tc>
                <a:tc>
                  <a:txBody>
                    <a:bodyPr/>
                    <a:lstStyle/>
                    <a:p>
                      <a:pPr algn="ctr" rtl="1">
                        <a:spcAft>
                          <a:spcPts val="0"/>
                        </a:spcAft>
                      </a:pPr>
                      <a:r>
                        <a:rPr lang="he-IL" sz="1200" dirty="0">
                          <a:latin typeface="Times New Roman"/>
                          <a:ea typeface="Times New Roman"/>
                          <a:cs typeface="David"/>
                        </a:rPr>
                        <a:t>3</a:t>
                      </a:r>
                      <a:endParaRPr lang="en-US" sz="1200" dirty="0">
                        <a:latin typeface="Times New Roman"/>
                        <a:ea typeface="Times New Roman"/>
                        <a:cs typeface="Miriam"/>
                      </a:endParaRPr>
                    </a:p>
                  </a:txBody>
                  <a:tcPr marL="51435" marR="51435"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200" dirty="0">
                          <a:latin typeface="Times New Roman"/>
                          <a:ea typeface="Times New Roman"/>
                          <a:cs typeface="David"/>
                        </a:rPr>
                        <a:t> </a:t>
                      </a:r>
                      <a:endParaRPr lang="en-US" sz="1200"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200" dirty="0">
                          <a:latin typeface="Times New Roman"/>
                          <a:ea typeface="Times New Roman"/>
                          <a:cs typeface="David"/>
                        </a:rPr>
                        <a:t>4</a:t>
                      </a:r>
                      <a:endParaRPr lang="en-US" sz="1200"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9"/>
                    </a:solidFill>
                  </a:tcPr>
                </a:tc>
                <a:tc>
                  <a:txBody>
                    <a:bodyPr/>
                    <a:lstStyle/>
                    <a:p>
                      <a:pPr algn="ctr" rtl="1">
                        <a:spcAft>
                          <a:spcPts val="0"/>
                        </a:spcAft>
                      </a:pPr>
                      <a:r>
                        <a:rPr lang="he-IL" sz="1200" dirty="0">
                          <a:latin typeface="Times New Roman"/>
                          <a:ea typeface="Times New Roman"/>
                          <a:cs typeface="David"/>
                        </a:rPr>
                        <a:t>3</a:t>
                      </a:r>
                      <a:endParaRPr lang="en-US" sz="1200" dirty="0">
                        <a:latin typeface="Times New Roman"/>
                        <a:ea typeface="Times New Roman"/>
                        <a:cs typeface="Miriam"/>
                      </a:endParaRPr>
                    </a:p>
                  </a:txBody>
                  <a:tcPr marL="51435" marR="51435"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200" dirty="0">
                          <a:latin typeface="Times New Roman"/>
                          <a:ea typeface="Times New Roman"/>
                          <a:cs typeface="David"/>
                        </a:rPr>
                        <a:t> </a:t>
                      </a:r>
                      <a:endParaRPr lang="en-US" sz="1200"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a:r>
                        <a:rPr lang="he-IL" sz="1200" b="1" dirty="0"/>
                        <a:t>3</a:t>
                      </a:r>
                    </a:p>
                  </a:txBody>
                  <a:tcPr marL="68580" marR="68580" marT="34290" marB="3429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9"/>
                    </a:solidFill>
                  </a:tcPr>
                </a:tc>
                <a:tc>
                  <a:txBody>
                    <a:bodyPr/>
                    <a:lstStyle/>
                    <a:p>
                      <a:pPr algn="ctr"/>
                      <a:r>
                        <a:rPr lang="en-US" sz="1200" dirty="0"/>
                        <a:t>3</a:t>
                      </a:r>
                      <a:endParaRPr lang="he-IL" sz="1200" dirty="0"/>
                    </a:p>
                  </a:txBody>
                  <a:tcPr marL="68580" marR="68580" marT="34290" marB="3429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65295">
                <a:tc>
                  <a:txBody>
                    <a:bodyPr/>
                    <a:lstStyle/>
                    <a:p>
                      <a:pPr algn="ctr" rtl="1">
                        <a:spcAft>
                          <a:spcPts val="0"/>
                        </a:spcAft>
                      </a:pPr>
                      <a:r>
                        <a:rPr lang="he-IL" sz="1200" b="1" dirty="0">
                          <a:solidFill>
                            <a:srgbClr val="7030A0"/>
                          </a:solidFill>
                          <a:latin typeface="Times New Roman"/>
                          <a:ea typeface="Times New Roman"/>
                          <a:cs typeface="David"/>
                        </a:rPr>
                        <a:t>8</a:t>
                      </a:r>
                      <a:endParaRPr lang="en-US" sz="1200" b="1" dirty="0">
                        <a:solidFill>
                          <a:srgbClr val="7030A0"/>
                        </a:solidFill>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9"/>
                    </a:solidFill>
                  </a:tcPr>
                </a:tc>
                <a:tc>
                  <a:txBody>
                    <a:bodyPr/>
                    <a:lstStyle/>
                    <a:p>
                      <a:pPr algn="ctr" rtl="1">
                        <a:spcAft>
                          <a:spcPts val="0"/>
                        </a:spcAft>
                      </a:pPr>
                      <a:r>
                        <a:rPr lang="he-IL" sz="1200" dirty="0">
                          <a:latin typeface="Times New Roman"/>
                          <a:ea typeface="Times New Roman"/>
                          <a:cs typeface="David"/>
                        </a:rPr>
                        <a:t>4</a:t>
                      </a:r>
                      <a:endParaRPr lang="en-US" sz="1200" dirty="0">
                        <a:latin typeface="Times New Roman"/>
                        <a:ea typeface="Times New Roman"/>
                        <a:cs typeface="Miriam"/>
                      </a:endParaRPr>
                    </a:p>
                  </a:txBody>
                  <a:tcPr marL="51435" marR="51435"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200" dirty="0">
                          <a:latin typeface="Times New Roman"/>
                          <a:ea typeface="Times New Roman"/>
                          <a:cs typeface="David"/>
                        </a:rPr>
                        <a:t> </a:t>
                      </a:r>
                      <a:endParaRPr lang="en-US" sz="1200"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200" b="1" dirty="0">
                          <a:solidFill>
                            <a:srgbClr val="7030A0"/>
                          </a:solidFill>
                          <a:latin typeface="Times New Roman"/>
                          <a:ea typeface="Times New Roman"/>
                          <a:cs typeface="David"/>
                        </a:rPr>
                        <a:t>6</a:t>
                      </a:r>
                      <a:endParaRPr lang="en-US" sz="1200" b="1" dirty="0">
                        <a:solidFill>
                          <a:srgbClr val="7030A0"/>
                        </a:solidFill>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9"/>
                    </a:solidFill>
                  </a:tcPr>
                </a:tc>
                <a:tc>
                  <a:txBody>
                    <a:bodyPr/>
                    <a:lstStyle/>
                    <a:p>
                      <a:pPr algn="ctr" rtl="1">
                        <a:spcAft>
                          <a:spcPts val="0"/>
                        </a:spcAft>
                      </a:pPr>
                      <a:r>
                        <a:rPr lang="he-IL" sz="1200" dirty="0">
                          <a:latin typeface="Times New Roman"/>
                          <a:ea typeface="Times New Roman"/>
                          <a:cs typeface="David"/>
                        </a:rPr>
                        <a:t>4</a:t>
                      </a:r>
                      <a:endParaRPr lang="en-US" sz="1200" dirty="0">
                        <a:latin typeface="Times New Roman"/>
                        <a:ea typeface="Times New Roman"/>
                        <a:cs typeface="Miriam"/>
                      </a:endParaRPr>
                    </a:p>
                  </a:txBody>
                  <a:tcPr marL="51435" marR="51435"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200" dirty="0">
                          <a:latin typeface="Times New Roman"/>
                          <a:ea typeface="Times New Roman"/>
                          <a:cs typeface="David"/>
                        </a:rPr>
                        <a:t> </a:t>
                      </a:r>
                      <a:endParaRPr lang="en-US" sz="1200"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a:r>
                        <a:rPr lang="he-IL" sz="1200" b="1" dirty="0"/>
                        <a:t>4</a:t>
                      </a:r>
                    </a:p>
                  </a:txBody>
                  <a:tcPr marL="68580" marR="68580" marT="34290" marB="3429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9"/>
                    </a:solidFill>
                  </a:tcPr>
                </a:tc>
                <a:tc>
                  <a:txBody>
                    <a:bodyPr/>
                    <a:lstStyle/>
                    <a:p>
                      <a:pPr algn="ctr"/>
                      <a:r>
                        <a:rPr lang="en-US" sz="1200" dirty="0"/>
                        <a:t>4</a:t>
                      </a:r>
                      <a:endParaRPr lang="he-IL" sz="1200" dirty="0"/>
                    </a:p>
                  </a:txBody>
                  <a:tcPr marL="68580" marR="68580" marT="34290" marB="3429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65295">
                <a:tc>
                  <a:txBody>
                    <a:bodyPr/>
                    <a:lstStyle/>
                    <a:p>
                      <a:pPr algn="ctr" rtl="1">
                        <a:spcAft>
                          <a:spcPts val="0"/>
                        </a:spcAft>
                      </a:pPr>
                      <a:r>
                        <a:rPr lang="he-IL" sz="1200" dirty="0">
                          <a:latin typeface="Times New Roman"/>
                          <a:ea typeface="Times New Roman"/>
                          <a:cs typeface="David"/>
                        </a:rPr>
                        <a:t>10</a:t>
                      </a:r>
                      <a:endParaRPr lang="en-US" sz="1200"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9"/>
                    </a:solidFill>
                  </a:tcPr>
                </a:tc>
                <a:tc>
                  <a:txBody>
                    <a:bodyPr/>
                    <a:lstStyle/>
                    <a:p>
                      <a:pPr algn="ctr" rtl="1">
                        <a:spcAft>
                          <a:spcPts val="0"/>
                        </a:spcAft>
                      </a:pPr>
                      <a:r>
                        <a:rPr lang="he-IL" sz="1200" dirty="0">
                          <a:latin typeface="Times New Roman"/>
                          <a:ea typeface="Times New Roman"/>
                          <a:cs typeface="David"/>
                        </a:rPr>
                        <a:t>5</a:t>
                      </a:r>
                      <a:endParaRPr lang="en-US" sz="1200" dirty="0">
                        <a:latin typeface="Times New Roman"/>
                        <a:ea typeface="Times New Roman"/>
                        <a:cs typeface="Miriam"/>
                      </a:endParaRPr>
                    </a:p>
                  </a:txBody>
                  <a:tcPr marL="51435" marR="51435"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200" dirty="0">
                          <a:latin typeface="Times New Roman"/>
                          <a:ea typeface="Times New Roman"/>
                          <a:cs typeface="David"/>
                        </a:rPr>
                        <a:t> </a:t>
                      </a:r>
                      <a:endParaRPr lang="en-US" sz="1200"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rtl="1">
                        <a:spcAft>
                          <a:spcPts val="0"/>
                        </a:spcAft>
                      </a:pPr>
                      <a:r>
                        <a:rPr lang="he-IL" sz="1200" dirty="0">
                          <a:latin typeface="Times New Roman"/>
                          <a:ea typeface="Times New Roman"/>
                          <a:cs typeface="David"/>
                        </a:rPr>
                        <a:t>8</a:t>
                      </a:r>
                      <a:endParaRPr lang="en-US" sz="1200"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9"/>
                    </a:solidFill>
                  </a:tcPr>
                </a:tc>
                <a:tc>
                  <a:txBody>
                    <a:bodyPr/>
                    <a:lstStyle/>
                    <a:p>
                      <a:pPr algn="ctr" rtl="1">
                        <a:spcAft>
                          <a:spcPts val="0"/>
                        </a:spcAft>
                      </a:pPr>
                      <a:r>
                        <a:rPr lang="he-IL" sz="1200" dirty="0">
                          <a:latin typeface="Times New Roman"/>
                          <a:ea typeface="Times New Roman"/>
                          <a:cs typeface="David"/>
                        </a:rPr>
                        <a:t>5</a:t>
                      </a:r>
                      <a:endParaRPr lang="en-US" sz="1200" dirty="0">
                        <a:latin typeface="Times New Roman"/>
                        <a:ea typeface="Times New Roman"/>
                        <a:cs typeface="Miriam"/>
                      </a:endParaRPr>
                    </a:p>
                  </a:txBody>
                  <a:tcPr marL="51435" marR="51435" marT="0" marB="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a:spcAft>
                          <a:spcPts val="0"/>
                        </a:spcAft>
                      </a:pPr>
                      <a:r>
                        <a:rPr lang="en-US" sz="1200" dirty="0">
                          <a:latin typeface="Times New Roman"/>
                          <a:ea typeface="Times New Roman"/>
                          <a:cs typeface="David"/>
                        </a:rPr>
                        <a:t> </a:t>
                      </a:r>
                      <a:endParaRPr lang="en-US" sz="1200" dirty="0">
                        <a:latin typeface="Times New Roman"/>
                        <a:ea typeface="Times New Roman"/>
                        <a:cs typeface="Miriam"/>
                      </a:endParaRPr>
                    </a:p>
                  </a:txBody>
                  <a:tcPr marL="51435" marR="51435" marT="0" marB="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tcPr>
                </a:tc>
                <a:tc>
                  <a:txBody>
                    <a:bodyPr/>
                    <a:lstStyle/>
                    <a:p>
                      <a:pPr algn="ctr"/>
                      <a:r>
                        <a:rPr lang="he-IL" sz="1200" b="1" dirty="0"/>
                        <a:t>6</a:t>
                      </a:r>
                    </a:p>
                  </a:txBody>
                  <a:tcPr marL="68580" marR="68580" marT="34290" marB="34290">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9"/>
                    </a:solidFill>
                  </a:tcPr>
                </a:tc>
                <a:tc>
                  <a:txBody>
                    <a:bodyPr/>
                    <a:lstStyle/>
                    <a:p>
                      <a:pPr algn="ctr"/>
                      <a:r>
                        <a:rPr lang="en-US" sz="1200" dirty="0"/>
                        <a:t>5</a:t>
                      </a:r>
                      <a:endParaRPr lang="he-IL" sz="1200" dirty="0"/>
                    </a:p>
                  </a:txBody>
                  <a:tcPr marL="68580" marR="68580" marT="34290" marB="34290">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4" name="TextBox 23"/>
          <p:cNvSpPr txBox="1"/>
          <p:nvPr/>
        </p:nvSpPr>
        <p:spPr>
          <a:xfrm>
            <a:off x="3395700" y="1806454"/>
            <a:ext cx="834563" cy="338554"/>
          </a:xfrm>
          <a:prstGeom prst="rect">
            <a:avLst/>
          </a:prstGeom>
        </p:spPr>
        <p:style>
          <a:lnRef idx="1">
            <a:schemeClr val="dk1"/>
          </a:lnRef>
          <a:fillRef idx="2">
            <a:schemeClr val="dk1"/>
          </a:fillRef>
          <a:effectRef idx="1">
            <a:schemeClr val="dk1"/>
          </a:effectRef>
          <a:fontRef idx="minor">
            <a:schemeClr val="dk1"/>
          </a:fontRef>
        </p:style>
        <p:txBody>
          <a:bodyPr wrap="square" rtlCol="1">
            <a:spAutoFit/>
          </a:bodyPr>
          <a:lstStyle/>
          <a:p>
            <a:pPr algn="l" defTabSz="685800" rtl="0"/>
            <a:r>
              <a:rPr lang="he-IL" sz="1600" b="1" dirty="0">
                <a:solidFill>
                  <a:prstClr val="black"/>
                </a:solidFill>
                <a:latin typeface="Perpetua"/>
                <a:cs typeface="Aharoni" panose="02010803020104030203" pitchFamily="2" charset="-79"/>
              </a:rPr>
              <a:t>פירמה 1</a:t>
            </a:r>
          </a:p>
        </p:txBody>
      </p:sp>
      <p:sp>
        <p:nvSpPr>
          <p:cNvPr id="25" name="TextBox 24"/>
          <p:cNvSpPr txBox="1"/>
          <p:nvPr/>
        </p:nvSpPr>
        <p:spPr>
          <a:xfrm>
            <a:off x="4596165" y="1806454"/>
            <a:ext cx="862951" cy="338554"/>
          </a:xfrm>
          <a:prstGeom prst="rect">
            <a:avLst/>
          </a:prstGeom>
        </p:spPr>
        <p:style>
          <a:lnRef idx="1">
            <a:schemeClr val="dk1"/>
          </a:lnRef>
          <a:fillRef idx="2">
            <a:schemeClr val="dk1"/>
          </a:fillRef>
          <a:effectRef idx="1">
            <a:schemeClr val="dk1"/>
          </a:effectRef>
          <a:fontRef idx="minor">
            <a:schemeClr val="dk1"/>
          </a:fontRef>
        </p:style>
        <p:txBody>
          <a:bodyPr wrap="square" rtlCol="1">
            <a:spAutoFit/>
          </a:bodyPr>
          <a:lstStyle/>
          <a:p>
            <a:pPr algn="l" defTabSz="685800" rtl="0"/>
            <a:r>
              <a:rPr lang="he-IL" sz="1600" b="1" dirty="0">
                <a:solidFill>
                  <a:prstClr val="black"/>
                </a:solidFill>
                <a:latin typeface="Perpetua"/>
                <a:cs typeface="Aharoni" panose="02010803020104030203" pitchFamily="2" charset="-79"/>
              </a:rPr>
              <a:t>פירמה 2 </a:t>
            </a:r>
          </a:p>
        </p:txBody>
      </p:sp>
      <p:sp>
        <p:nvSpPr>
          <p:cNvPr id="26" name="TextBox 25"/>
          <p:cNvSpPr txBox="1"/>
          <p:nvPr/>
        </p:nvSpPr>
        <p:spPr>
          <a:xfrm>
            <a:off x="5969322" y="1719419"/>
            <a:ext cx="947955" cy="338554"/>
          </a:xfrm>
          <a:prstGeom prst="rect">
            <a:avLst/>
          </a:prstGeom>
        </p:spPr>
        <p:style>
          <a:lnRef idx="1">
            <a:schemeClr val="dk1"/>
          </a:lnRef>
          <a:fillRef idx="2">
            <a:schemeClr val="dk1"/>
          </a:fillRef>
          <a:effectRef idx="1">
            <a:schemeClr val="dk1"/>
          </a:effectRef>
          <a:fontRef idx="minor">
            <a:schemeClr val="dk1"/>
          </a:fontRef>
        </p:style>
        <p:txBody>
          <a:bodyPr wrap="square" rtlCol="1">
            <a:spAutoFit/>
          </a:bodyPr>
          <a:lstStyle/>
          <a:p>
            <a:pPr algn="l" defTabSz="685800" rtl="0"/>
            <a:r>
              <a:rPr lang="he-IL" sz="1600" b="1" dirty="0">
                <a:solidFill>
                  <a:prstClr val="black"/>
                </a:solidFill>
                <a:latin typeface="Perpetua"/>
                <a:cs typeface="Aharoni" panose="02010803020104030203" pitchFamily="2" charset="-79"/>
              </a:rPr>
              <a:t>פירמה 3</a:t>
            </a:r>
          </a:p>
        </p:txBody>
      </p:sp>
      <p:sp>
        <p:nvSpPr>
          <p:cNvPr id="44" name="TextBox 43"/>
          <p:cNvSpPr txBox="1"/>
          <p:nvPr/>
        </p:nvSpPr>
        <p:spPr>
          <a:xfrm>
            <a:off x="2696952" y="3096065"/>
            <a:ext cx="756624" cy="276999"/>
          </a:xfrm>
          <a:prstGeom prst="rect">
            <a:avLst/>
          </a:prstGeom>
          <a:noFill/>
        </p:spPr>
        <p:txBody>
          <a:bodyPr wrap="square" rtlCol="1">
            <a:spAutoFit/>
          </a:bodyPr>
          <a:lstStyle/>
          <a:p>
            <a:pPr algn="l" defTabSz="685800" rtl="0"/>
            <a:r>
              <a:rPr lang="he-IL" sz="1200" dirty="0">
                <a:solidFill>
                  <a:prstClr val="black"/>
                </a:solidFill>
                <a:latin typeface="Perpetua"/>
                <a:cs typeface="Aharoni" panose="02010803020104030203" pitchFamily="2" charset="-79"/>
              </a:rPr>
              <a:t>1 ש''ח</a:t>
            </a:r>
          </a:p>
        </p:txBody>
      </p:sp>
      <p:sp>
        <p:nvSpPr>
          <p:cNvPr id="46" name="TextBox 45"/>
          <p:cNvSpPr txBox="1"/>
          <p:nvPr/>
        </p:nvSpPr>
        <p:spPr>
          <a:xfrm>
            <a:off x="2943343" y="1740604"/>
            <a:ext cx="216024" cy="338554"/>
          </a:xfrm>
          <a:prstGeom prst="rect">
            <a:avLst/>
          </a:prstGeom>
          <a:noFill/>
        </p:spPr>
        <p:txBody>
          <a:bodyPr wrap="square" rtlCol="1">
            <a:spAutoFit/>
          </a:bodyPr>
          <a:lstStyle/>
          <a:p>
            <a:pPr algn="l" defTabSz="685800" rtl="0"/>
            <a:r>
              <a:rPr lang="en-US" sz="1600" dirty="0">
                <a:solidFill>
                  <a:prstClr val="black"/>
                </a:solidFill>
                <a:latin typeface="Perpetua"/>
              </a:rPr>
              <a:t>P</a:t>
            </a:r>
            <a:endParaRPr lang="he-IL" sz="1600" dirty="0">
              <a:solidFill>
                <a:prstClr val="black"/>
              </a:solidFill>
              <a:latin typeface="Perpetua"/>
              <a:cs typeface="Aharoni" panose="02010803020104030203" pitchFamily="2" charset="-79"/>
            </a:endParaRPr>
          </a:p>
        </p:txBody>
      </p:sp>
      <p:sp>
        <p:nvSpPr>
          <p:cNvPr id="48" name="TextBox 47"/>
          <p:cNvSpPr txBox="1"/>
          <p:nvPr/>
        </p:nvSpPr>
        <p:spPr>
          <a:xfrm>
            <a:off x="6922114" y="1752147"/>
            <a:ext cx="216024" cy="338554"/>
          </a:xfrm>
          <a:prstGeom prst="rect">
            <a:avLst/>
          </a:prstGeom>
          <a:noFill/>
        </p:spPr>
        <p:txBody>
          <a:bodyPr wrap="square" rtlCol="1">
            <a:spAutoFit/>
          </a:bodyPr>
          <a:lstStyle/>
          <a:p>
            <a:pPr algn="l" defTabSz="685800" rtl="0"/>
            <a:r>
              <a:rPr lang="en-US" sz="1600" dirty="0">
                <a:solidFill>
                  <a:prstClr val="black"/>
                </a:solidFill>
                <a:latin typeface="Perpetua"/>
              </a:rPr>
              <a:t>P</a:t>
            </a:r>
            <a:endParaRPr lang="he-IL" sz="1600" dirty="0">
              <a:solidFill>
                <a:prstClr val="black"/>
              </a:solidFill>
              <a:latin typeface="Perpetua"/>
              <a:cs typeface="Aharoni" panose="02010803020104030203" pitchFamily="2" charset="-79"/>
            </a:endParaRPr>
          </a:p>
        </p:txBody>
      </p:sp>
      <p:sp>
        <p:nvSpPr>
          <p:cNvPr id="49" name="TextBox 48"/>
          <p:cNvSpPr txBox="1"/>
          <p:nvPr/>
        </p:nvSpPr>
        <p:spPr>
          <a:xfrm>
            <a:off x="4212347" y="1752147"/>
            <a:ext cx="216024" cy="338554"/>
          </a:xfrm>
          <a:prstGeom prst="rect">
            <a:avLst/>
          </a:prstGeom>
          <a:noFill/>
        </p:spPr>
        <p:txBody>
          <a:bodyPr wrap="square" rtlCol="1">
            <a:spAutoFit/>
          </a:bodyPr>
          <a:lstStyle/>
          <a:p>
            <a:pPr algn="l" defTabSz="685800" rtl="0"/>
            <a:r>
              <a:rPr lang="en-US" sz="1600" dirty="0">
                <a:solidFill>
                  <a:prstClr val="black"/>
                </a:solidFill>
                <a:latin typeface="Perpetua"/>
              </a:rPr>
              <a:t>P</a:t>
            </a:r>
            <a:endParaRPr lang="he-IL" sz="1600" dirty="0">
              <a:solidFill>
                <a:prstClr val="black"/>
              </a:solidFill>
              <a:latin typeface="Perpetua"/>
              <a:cs typeface="Aharoni" panose="02010803020104030203" pitchFamily="2" charset="-79"/>
            </a:endParaRPr>
          </a:p>
        </p:txBody>
      </p:sp>
      <p:sp>
        <p:nvSpPr>
          <p:cNvPr id="50" name="TextBox 49"/>
          <p:cNvSpPr txBox="1"/>
          <p:nvPr/>
        </p:nvSpPr>
        <p:spPr>
          <a:xfrm>
            <a:off x="5414462" y="1745237"/>
            <a:ext cx="216024" cy="338554"/>
          </a:xfrm>
          <a:prstGeom prst="rect">
            <a:avLst/>
          </a:prstGeom>
          <a:noFill/>
        </p:spPr>
        <p:txBody>
          <a:bodyPr wrap="square" rtlCol="1">
            <a:spAutoFit/>
          </a:bodyPr>
          <a:lstStyle/>
          <a:p>
            <a:pPr algn="l" defTabSz="685800" rtl="0"/>
            <a:r>
              <a:rPr lang="en-US" sz="1600" dirty="0">
                <a:solidFill>
                  <a:prstClr val="black"/>
                </a:solidFill>
                <a:latin typeface="Perpetua"/>
              </a:rPr>
              <a:t>P</a:t>
            </a:r>
            <a:endParaRPr lang="he-IL" sz="1600" dirty="0">
              <a:solidFill>
                <a:prstClr val="black"/>
              </a:solidFill>
              <a:latin typeface="Perpetua"/>
              <a:cs typeface="Aharoni" panose="02010803020104030203" pitchFamily="2" charset="-79"/>
            </a:endParaRPr>
          </a:p>
        </p:txBody>
      </p:sp>
      <p:sp>
        <p:nvSpPr>
          <p:cNvPr id="51" name="TextBox 50"/>
          <p:cNvSpPr txBox="1"/>
          <p:nvPr/>
        </p:nvSpPr>
        <p:spPr>
          <a:xfrm>
            <a:off x="10162695" y="3365161"/>
            <a:ext cx="216024" cy="338554"/>
          </a:xfrm>
          <a:prstGeom prst="rect">
            <a:avLst/>
          </a:prstGeom>
          <a:noFill/>
        </p:spPr>
        <p:txBody>
          <a:bodyPr wrap="square" rtlCol="1">
            <a:spAutoFit/>
          </a:bodyPr>
          <a:lstStyle/>
          <a:p>
            <a:pPr algn="l" defTabSz="685800" rtl="0"/>
            <a:r>
              <a:rPr lang="en-US" sz="1600" dirty="0">
                <a:solidFill>
                  <a:prstClr val="black"/>
                </a:solidFill>
                <a:latin typeface="Perpetua"/>
              </a:rPr>
              <a:t>X</a:t>
            </a:r>
            <a:endParaRPr lang="he-IL" sz="1600" dirty="0">
              <a:solidFill>
                <a:prstClr val="black"/>
              </a:solidFill>
              <a:latin typeface="Perpetua"/>
              <a:cs typeface="Aharoni" panose="02010803020104030203" pitchFamily="2" charset="-79"/>
            </a:endParaRPr>
          </a:p>
        </p:txBody>
      </p:sp>
      <p:sp>
        <p:nvSpPr>
          <p:cNvPr id="52" name="TextBox 51"/>
          <p:cNvSpPr txBox="1"/>
          <p:nvPr/>
        </p:nvSpPr>
        <p:spPr>
          <a:xfrm>
            <a:off x="4171513" y="3340636"/>
            <a:ext cx="216024" cy="338554"/>
          </a:xfrm>
          <a:prstGeom prst="rect">
            <a:avLst/>
          </a:prstGeom>
          <a:noFill/>
        </p:spPr>
        <p:txBody>
          <a:bodyPr wrap="square" rtlCol="1">
            <a:spAutoFit/>
          </a:bodyPr>
          <a:lstStyle/>
          <a:p>
            <a:pPr algn="l" defTabSz="685800" rtl="0"/>
            <a:r>
              <a:rPr lang="en-US" sz="1600" dirty="0">
                <a:solidFill>
                  <a:prstClr val="black"/>
                </a:solidFill>
                <a:latin typeface="Perpetua"/>
              </a:rPr>
              <a:t>X</a:t>
            </a:r>
            <a:endParaRPr lang="he-IL" sz="1600" dirty="0">
              <a:solidFill>
                <a:prstClr val="black"/>
              </a:solidFill>
              <a:latin typeface="Perpetua"/>
              <a:cs typeface="Aharoni" panose="02010803020104030203" pitchFamily="2" charset="-79"/>
            </a:endParaRPr>
          </a:p>
        </p:txBody>
      </p:sp>
      <p:sp>
        <p:nvSpPr>
          <p:cNvPr id="53" name="TextBox 52"/>
          <p:cNvSpPr txBox="1"/>
          <p:nvPr/>
        </p:nvSpPr>
        <p:spPr>
          <a:xfrm>
            <a:off x="5376833" y="3351877"/>
            <a:ext cx="216024" cy="338554"/>
          </a:xfrm>
          <a:prstGeom prst="rect">
            <a:avLst/>
          </a:prstGeom>
          <a:noFill/>
        </p:spPr>
        <p:txBody>
          <a:bodyPr wrap="square" rtlCol="1">
            <a:spAutoFit/>
          </a:bodyPr>
          <a:lstStyle/>
          <a:p>
            <a:pPr algn="l" defTabSz="685800" rtl="0"/>
            <a:r>
              <a:rPr lang="en-US" sz="1600" dirty="0">
                <a:solidFill>
                  <a:prstClr val="black"/>
                </a:solidFill>
                <a:latin typeface="Perpetua"/>
              </a:rPr>
              <a:t>X</a:t>
            </a:r>
            <a:endParaRPr lang="he-IL" sz="1600" dirty="0">
              <a:solidFill>
                <a:prstClr val="black"/>
              </a:solidFill>
              <a:latin typeface="Perpetua"/>
              <a:cs typeface="Aharoni" panose="02010803020104030203" pitchFamily="2" charset="-79"/>
            </a:endParaRPr>
          </a:p>
        </p:txBody>
      </p:sp>
      <p:sp>
        <p:nvSpPr>
          <p:cNvPr id="54" name="TextBox 53"/>
          <p:cNvSpPr txBox="1"/>
          <p:nvPr/>
        </p:nvSpPr>
        <p:spPr>
          <a:xfrm>
            <a:off x="6741542" y="3340636"/>
            <a:ext cx="216024" cy="338554"/>
          </a:xfrm>
          <a:prstGeom prst="rect">
            <a:avLst/>
          </a:prstGeom>
          <a:noFill/>
        </p:spPr>
        <p:txBody>
          <a:bodyPr wrap="square" rtlCol="1">
            <a:spAutoFit/>
          </a:bodyPr>
          <a:lstStyle/>
          <a:p>
            <a:pPr algn="l" defTabSz="685800" rtl="0"/>
            <a:r>
              <a:rPr lang="en-US" sz="1600" dirty="0">
                <a:solidFill>
                  <a:prstClr val="black"/>
                </a:solidFill>
                <a:latin typeface="Perpetua"/>
              </a:rPr>
              <a:t>X</a:t>
            </a:r>
            <a:endParaRPr lang="he-IL" sz="1600" dirty="0">
              <a:solidFill>
                <a:prstClr val="black"/>
              </a:solidFill>
              <a:latin typeface="Perpetua"/>
              <a:cs typeface="Aharoni" panose="02010803020104030203" pitchFamily="2" charset="-79"/>
            </a:endParaRPr>
          </a:p>
        </p:txBody>
      </p:sp>
      <p:sp>
        <p:nvSpPr>
          <p:cNvPr id="55" name="TextBox 54"/>
          <p:cNvSpPr txBox="1"/>
          <p:nvPr/>
        </p:nvSpPr>
        <p:spPr>
          <a:xfrm>
            <a:off x="3102826" y="3325210"/>
            <a:ext cx="216024" cy="307777"/>
          </a:xfrm>
          <a:prstGeom prst="rect">
            <a:avLst/>
          </a:prstGeom>
          <a:noFill/>
        </p:spPr>
        <p:txBody>
          <a:bodyPr wrap="square" rtlCol="1">
            <a:spAutoFit/>
          </a:bodyPr>
          <a:lstStyle/>
          <a:p>
            <a:pPr algn="l" defTabSz="685800" rtl="0"/>
            <a:r>
              <a:rPr lang="he-IL" sz="1400" dirty="0">
                <a:solidFill>
                  <a:srgbClr val="7030A0"/>
                </a:solidFill>
                <a:latin typeface="Perpetua"/>
                <a:cs typeface="Aharoni" panose="02010803020104030203" pitchFamily="2" charset="-79"/>
              </a:rPr>
              <a:t>0</a:t>
            </a:r>
          </a:p>
        </p:txBody>
      </p:sp>
      <p:sp>
        <p:nvSpPr>
          <p:cNvPr id="42" name="TextBox 41"/>
          <p:cNvSpPr txBox="1"/>
          <p:nvPr/>
        </p:nvSpPr>
        <p:spPr>
          <a:xfrm>
            <a:off x="5630486" y="5854734"/>
            <a:ext cx="4134465" cy="830997"/>
          </a:xfrm>
          <a:prstGeom prst="rect">
            <a:avLst/>
          </a:prstGeom>
          <a:noFill/>
        </p:spPr>
        <p:txBody>
          <a:bodyPr wrap="none" rtlCol="1">
            <a:spAutoFit/>
          </a:bodyPr>
          <a:lstStyle/>
          <a:p>
            <a:pPr algn="r" defTabSz="685800"/>
            <a:r>
              <a:rPr lang="he-IL" sz="2400" b="1" dirty="0">
                <a:solidFill>
                  <a:prstClr val="black"/>
                </a:solidFill>
                <a:latin typeface="Perpetua"/>
                <a:cs typeface="Aharoni" panose="02010803020104030203" pitchFamily="2" charset="-79"/>
              </a:rPr>
              <a:t>חיבור אופקי </a:t>
            </a:r>
            <a:r>
              <a:rPr lang="he-IL" sz="2400" dirty="0">
                <a:solidFill>
                  <a:prstClr val="black"/>
                </a:solidFill>
                <a:latin typeface="Perpetua"/>
                <a:cs typeface="Aharoni" panose="02010803020104030203" pitchFamily="2" charset="-79"/>
              </a:rPr>
              <a:t>– </a:t>
            </a:r>
          </a:p>
          <a:p>
            <a:pPr algn="r" defTabSz="685800"/>
            <a:r>
              <a:rPr lang="he-IL" sz="2400" dirty="0">
                <a:solidFill>
                  <a:prstClr val="black"/>
                </a:solidFill>
                <a:latin typeface="Perpetua"/>
                <a:cs typeface="Aharoni" panose="02010803020104030203" pitchFamily="2" charset="-79"/>
              </a:rPr>
              <a:t>סוכמים את הכמות המוצעת בכל מחיר</a:t>
            </a:r>
          </a:p>
        </p:txBody>
      </p:sp>
      <p:sp>
        <p:nvSpPr>
          <p:cNvPr id="43" name="TextBox 42"/>
          <p:cNvSpPr txBox="1"/>
          <p:nvPr/>
        </p:nvSpPr>
        <p:spPr>
          <a:xfrm>
            <a:off x="7903805" y="1879104"/>
            <a:ext cx="1611441" cy="338554"/>
          </a:xfrm>
          <a:prstGeom prst="rect">
            <a:avLst/>
          </a:prstGeom>
        </p:spPr>
        <p:style>
          <a:lnRef idx="1">
            <a:schemeClr val="accent6"/>
          </a:lnRef>
          <a:fillRef idx="2">
            <a:schemeClr val="accent6"/>
          </a:fillRef>
          <a:effectRef idx="1">
            <a:schemeClr val="accent6"/>
          </a:effectRef>
          <a:fontRef idx="minor">
            <a:schemeClr val="dk1"/>
          </a:fontRef>
        </p:style>
        <p:txBody>
          <a:bodyPr wrap="square" rtlCol="1">
            <a:spAutoFit/>
          </a:bodyPr>
          <a:lstStyle/>
          <a:p>
            <a:pPr defTabSz="685800"/>
            <a:r>
              <a:rPr lang="he-IL" sz="1600" b="1" dirty="0">
                <a:solidFill>
                  <a:prstClr val="black"/>
                </a:solidFill>
                <a:latin typeface="Perpetua"/>
                <a:cs typeface="Aharoni" panose="02010803020104030203" pitchFamily="2" charset="-79"/>
              </a:rPr>
              <a:t>היצע מצרפי</a:t>
            </a:r>
          </a:p>
        </p:txBody>
      </p:sp>
      <p:sp>
        <p:nvSpPr>
          <p:cNvPr id="2" name="Date Placeholder 1"/>
          <p:cNvSpPr>
            <a:spLocks noGrp="1"/>
          </p:cNvSpPr>
          <p:nvPr>
            <p:ph type="dt" sz="half" idx="10"/>
          </p:nvPr>
        </p:nvSpPr>
        <p:spPr/>
        <p:txBody>
          <a:bodyPr/>
          <a:lstStyle/>
          <a:p>
            <a:pPr defTabSz="685800" rtl="0"/>
            <a:fld id="{65982EEB-C6ED-4E2E-BE54-54DB89C61B86}" type="datetime8">
              <a:rPr lang="he-IL" sz="1200">
                <a:solidFill>
                  <a:srgbClr val="696464"/>
                </a:solidFill>
                <a:latin typeface="Perpetua"/>
                <a:cs typeface="Aharoni" panose="02010803020104030203" pitchFamily="2" charset="-79"/>
              </a:rPr>
              <a:pPr defTabSz="685800" rtl="0"/>
              <a:t>09 ינואר 26</a:t>
            </a:fld>
            <a:endParaRPr lang="he-IL" sz="1200">
              <a:solidFill>
                <a:srgbClr val="696464"/>
              </a:solidFill>
              <a:latin typeface="Perpetua"/>
              <a:cs typeface="Aharoni" panose="02010803020104030203" pitchFamily="2" charset="-79"/>
            </a:endParaRPr>
          </a:p>
        </p:txBody>
      </p:sp>
      <p:sp>
        <p:nvSpPr>
          <p:cNvPr id="3" name="Oval 2"/>
          <p:cNvSpPr/>
          <p:nvPr/>
        </p:nvSpPr>
        <p:spPr>
          <a:xfrm>
            <a:off x="3149345" y="3194816"/>
            <a:ext cx="54006" cy="75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sp>
        <p:nvSpPr>
          <p:cNvPr id="47" name="TextBox 46"/>
          <p:cNvSpPr txBox="1"/>
          <p:nvPr/>
        </p:nvSpPr>
        <p:spPr>
          <a:xfrm>
            <a:off x="6715531" y="3044808"/>
            <a:ext cx="756624" cy="276999"/>
          </a:xfrm>
          <a:prstGeom prst="rect">
            <a:avLst/>
          </a:prstGeom>
          <a:noFill/>
        </p:spPr>
        <p:txBody>
          <a:bodyPr wrap="square" rtlCol="1">
            <a:spAutoFit/>
          </a:bodyPr>
          <a:lstStyle/>
          <a:p>
            <a:pPr algn="l" defTabSz="685800" rtl="0"/>
            <a:r>
              <a:rPr lang="he-IL" sz="1200" dirty="0">
                <a:solidFill>
                  <a:prstClr val="black"/>
                </a:solidFill>
                <a:latin typeface="Perpetua"/>
                <a:cs typeface="Aharoni" panose="02010803020104030203" pitchFamily="2" charset="-79"/>
              </a:rPr>
              <a:t>1 ש''ח</a:t>
            </a:r>
          </a:p>
        </p:txBody>
      </p:sp>
      <p:sp>
        <p:nvSpPr>
          <p:cNvPr id="59" name="TextBox 58"/>
          <p:cNvSpPr txBox="1"/>
          <p:nvPr/>
        </p:nvSpPr>
        <p:spPr>
          <a:xfrm flipH="1">
            <a:off x="4380345" y="3319807"/>
            <a:ext cx="232779" cy="307777"/>
          </a:xfrm>
          <a:prstGeom prst="rect">
            <a:avLst/>
          </a:prstGeom>
          <a:noFill/>
        </p:spPr>
        <p:txBody>
          <a:bodyPr wrap="square" rtlCol="1">
            <a:spAutoFit/>
          </a:bodyPr>
          <a:lstStyle/>
          <a:p>
            <a:pPr algn="l" defTabSz="685800" rtl="0"/>
            <a:r>
              <a:rPr lang="he-IL" sz="1400" dirty="0">
                <a:solidFill>
                  <a:srgbClr val="7030A0"/>
                </a:solidFill>
                <a:latin typeface="Perpetua"/>
                <a:cs typeface="Aharoni" panose="02010803020104030203" pitchFamily="2" charset="-79"/>
              </a:rPr>
              <a:t>1</a:t>
            </a:r>
          </a:p>
        </p:txBody>
      </p:sp>
      <p:sp>
        <p:nvSpPr>
          <p:cNvPr id="60" name="Oval 59"/>
          <p:cNvSpPr/>
          <p:nvPr/>
        </p:nvSpPr>
        <p:spPr>
          <a:xfrm flipH="1">
            <a:off x="4491517" y="3179472"/>
            <a:ext cx="58195" cy="6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sp>
        <p:nvSpPr>
          <p:cNvPr id="61" name="TextBox 60"/>
          <p:cNvSpPr txBox="1"/>
          <p:nvPr/>
        </p:nvSpPr>
        <p:spPr>
          <a:xfrm>
            <a:off x="5822769" y="3302602"/>
            <a:ext cx="150739" cy="307777"/>
          </a:xfrm>
          <a:prstGeom prst="rect">
            <a:avLst/>
          </a:prstGeom>
          <a:noFill/>
        </p:spPr>
        <p:txBody>
          <a:bodyPr wrap="square" rtlCol="1">
            <a:spAutoFit/>
          </a:bodyPr>
          <a:lstStyle/>
          <a:p>
            <a:pPr algn="l" defTabSz="685800" rtl="0"/>
            <a:r>
              <a:rPr lang="he-IL" sz="1400" dirty="0">
                <a:solidFill>
                  <a:srgbClr val="7030A0"/>
                </a:solidFill>
                <a:latin typeface="Perpetua"/>
                <a:cs typeface="Aharoni" panose="02010803020104030203" pitchFamily="2" charset="-79"/>
              </a:rPr>
              <a:t>2</a:t>
            </a:r>
          </a:p>
        </p:txBody>
      </p:sp>
      <p:sp>
        <p:nvSpPr>
          <p:cNvPr id="62" name="Oval 61"/>
          <p:cNvSpPr/>
          <p:nvPr/>
        </p:nvSpPr>
        <p:spPr>
          <a:xfrm>
            <a:off x="5903706" y="3169802"/>
            <a:ext cx="54006" cy="75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sp>
        <p:nvSpPr>
          <p:cNvPr id="63" name="TextBox 62"/>
          <p:cNvSpPr txBox="1"/>
          <p:nvPr/>
        </p:nvSpPr>
        <p:spPr>
          <a:xfrm flipH="1">
            <a:off x="7445498" y="3304574"/>
            <a:ext cx="232779" cy="369332"/>
          </a:xfrm>
          <a:prstGeom prst="rect">
            <a:avLst/>
          </a:prstGeom>
          <a:noFill/>
        </p:spPr>
        <p:txBody>
          <a:bodyPr wrap="square" rtlCol="1">
            <a:spAutoFit/>
          </a:bodyPr>
          <a:lstStyle/>
          <a:p>
            <a:pPr algn="l" defTabSz="685800" rtl="0"/>
            <a:r>
              <a:rPr lang="he-IL" dirty="0">
                <a:solidFill>
                  <a:srgbClr val="7030A0"/>
                </a:solidFill>
                <a:latin typeface="Perpetua"/>
                <a:cs typeface="Aharoni" panose="02010803020104030203" pitchFamily="2" charset="-79"/>
              </a:rPr>
              <a:t>3</a:t>
            </a:r>
          </a:p>
        </p:txBody>
      </p:sp>
      <p:sp>
        <p:nvSpPr>
          <p:cNvPr id="64" name="Oval 63"/>
          <p:cNvSpPr/>
          <p:nvPr/>
        </p:nvSpPr>
        <p:spPr>
          <a:xfrm flipH="1">
            <a:off x="7510867" y="3156552"/>
            <a:ext cx="58195" cy="6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sp>
        <p:nvSpPr>
          <p:cNvPr id="65" name="TextBox 64"/>
          <p:cNvSpPr txBox="1"/>
          <p:nvPr/>
        </p:nvSpPr>
        <p:spPr>
          <a:xfrm>
            <a:off x="2672219" y="2949530"/>
            <a:ext cx="756624" cy="276999"/>
          </a:xfrm>
          <a:prstGeom prst="rect">
            <a:avLst/>
          </a:prstGeom>
          <a:noFill/>
        </p:spPr>
        <p:txBody>
          <a:bodyPr wrap="square" rtlCol="1">
            <a:spAutoFit/>
          </a:bodyPr>
          <a:lstStyle/>
          <a:p>
            <a:pPr algn="l" defTabSz="685800" rtl="0"/>
            <a:r>
              <a:rPr lang="he-IL" sz="1200" dirty="0">
                <a:solidFill>
                  <a:prstClr val="black"/>
                </a:solidFill>
                <a:latin typeface="Perpetua"/>
                <a:cs typeface="Aharoni" panose="02010803020104030203" pitchFamily="2" charset="-79"/>
              </a:rPr>
              <a:t>2 ש''ח</a:t>
            </a:r>
          </a:p>
        </p:txBody>
      </p:sp>
      <p:sp>
        <p:nvSpPr>
          <p:cNvPr id="66" name="TextBox 65"/>
          <p:cNvSpPr txBox="1"/>
          <p:nvPr/>
        </p:nvSpPr>
        <p:spPr>
          <a:xfrm>
            <a:off x="6710759" y="2879395"/>
            <a:ext cx="756624" cy="276999"/>
          </a:xfrm>
          <a:prstGeom prst="rect">
            <a:avLst/>
          </a:prstGeom>
          <a:noFill/>
        </p:spPr>
        <p:txBody>
          <a:bodyPr wrap="square" rtlCol="1">
            <a:spAutoFit/>
          </a:bodyPr>
          <a:lstStyle/>
          <a:p>
            <a:pPr algn="l" defTabSz="685800" rtl="0"/>
            <a:r>
              <a:rPr lang="he-IL" sz="1200" dirty="0">
                <a:solidFill>
                  <a:prstClr val="black"/>
                </a:solidFill>
                <a:latin typeface="Perpetua"/>
                <a:cs typeface="Aharoni" panose="02010803020104030203" pitchFamily="2" charset="-79"/>
              </a:rPr>
              <a:t>2 ש''ח</a:t>
            </a:r>
          </a:p>
        </p:txBody>
      </p:sp>
      <p:sp>
        <p:nvSpPr>
          <p:cNvPr id="67" name="Oval 66"/>
          <p:cNvSpPr/>
          <p:nvPr/>
        </p:nvSpPr>
        <p:spPr>
          <a:xfrm>
            <a:off x="3377516" y="3022367"/>
            <a:ext cx="54006" cy="753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sp>
        <p:nvSpPr>
          <p:cNvPr id="68" name="TextBox 67"/>
          <p:cNvSpPr txBox="1"/>
          <p:nvPr/>
        </p:nvSpPr>
        <p:spPr>
          <a:xfrm flipH="1">
            <a:off x="4556169" y="3331032"/>
            <a:ext cx="232779" cy="307777"/>
          </a:xfrm>
          <a:prstGeom prst="rect">
            <a:avLst/>
          </a:prstGeom>
          <a:noFill/>
        </p:spPr>
        <p:txBody>
          <a:bodyPr wrap="square" rtlCol="1">
            <a:spAutoFit/>
          </a:bodyPr>
          <a:lstStyle/>
          <a:p>
            <a:pPr algn="l" defTabSz="685800" rtl="0"/>
            <a:r>
              <a:rPr lang="he-IL" sz="1400" dirty="0">
                <a:solidFill>
                  <a:srgbClr val="7030A0"/>
                </a:solidFill>
                <a:latin typeface="Perpetua"/>
                <a:cs typeface="Aharoni" panose="02010803020104030203" pitchFamily="2" charset="-79"/>
              </a:rPr>
              <a:t>2</a:t>
            </a:r>
          </a:p>
        </p:txBody>
      </p:sp>
      <p:sp>
        <p:nvSpPr>
          <p:cNvPr id="69" name="Oval 68"/>
          <p:cNvSpPr/>
          <p:nvPr/>
        </p:nvSpPr>
        <p:spPr>
          <a:xfrm flipH="1">
            <a:off x="4637272" y="3008611"/>
            <a:ext cx="58195" cy="6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sp>
        <p:nvSpPr>
          <p:cNvPr id="70" name="TextBox 69"/>
          <p:cNvSpPr txBox="1"/>
          <p:nvPr/>
        </p:nvSpPr>
        <p:spPr>
          <a:xfrm flipH="1">
            <a:off x="6004679" y="3302325"/>
            <a:ext cx="232779" cy="307777"/>
          </a:xfrm>
          <a:prstGeom prst="rect">
            <a:avLst/>
          </a:prstGeom>
          <a:noFill/>
        </p:spPr>
        <p:txBody>
          <a:bodyPr wrap="square" rtlCol="1">
            <a:spAutoFit/>
          </a:bodyPr>
          <a:lstStyle/>
          <a:p>
            <a:pPr algn="l" defTabSz="685800" rtl="0"/>
            <a:r>
              <a:rPr lang="he-IL" sz="1400" dirty="0">
                <a:solidFill>
                  <a:srgbClr val="7030A0"/>
                </a:solidFill>
                <a:latin typeface="Perpetua"/>
                <a:cs typeface="Aharoni" panose="02010803020104030203" pitchFamily="2" charset="-79"/>
              </a:rPr>
              <a:t>4</a:t>
            </a:r>
          </a:p>
        </p:txBody>
      </p:sp>
      <p:sp>
        <p:nvSpPr>
          <p:cNvPr id="71" name="Oval 70"/>
          <p:cNvSpPr/>
          <p:nvPr/>
        </p:nvSpPr>
        <p:spPr>
          <a:xfrm flipH="1">
            <a:off x="6116008" y="3068577"/>
            <a:ext cx="58195" cy="6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sp>
        <p:nvSpPr>
          <p:cNvPr id="72" name="TextBox 71"/>
          <p:cNvSpPr txBox="1"/>
          <p:nvPr/>
        </p:nvSpPr>
        <p:spPr>
          <a:xfrm flipH="1">
            <a:off x="8061366" y="3331030"/>
            <a:ext cx="232779" cy="369332"/>
          </a:xfrm>
          <a:prstGeom prst="rect">
            <a:avLst/>
          </a:prstGeom>
          <a:noFill/>
        </p:spPr>
        <p:txBody>
          <a:bodyPr wrap="square" rtlCol="1">
            <a:spAutoFit/>
          </a:bodyPr>
          <a:lstStyle/>
          <a:p>
            <a:pPr algn="l" defTabSz="685800" rtl="0"/>
            <a:r>
              <a:rPr lang="he-IL" dirty="0">
                <a:solidFill>
                  <a:srgbClr val="7030A0"/>
                </a:solidFill>
                <a:latin typeface="Perpetua"/>
                <a:cs typeface="Aharoni" panose="02010803020104030203" pitchFamily="2" charset="-79"/>
              </a:rPr>
              <a:t>8</a:t>
            </a:r>
          </a:p>
        </p:txBody>
      </p:sp>
      <p:sp>
        <p:nvSpPr>
          <p:cNvPr id="73" name="Oval 72"/>
          <p:cNvSpPr/>
          <p:nvPr/>
        </p:nvSpPr>
        <p:spPr>
          <a:xfrm flipH="1">
            <a:off x="8105234" y="2986200"/>
            <a:ext cx="58195" cy="6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sp>
        <p:nvSpPr>
          <p:cNvPr id="74" name="TextBox 73"/>
          <p:cNvSpPr txBox="1"/>
          <p:nvPr/>
        </p:nvSpPr>
        <p:spPr>
          <a:xfrm>
            <a:off x="2694690" y="2783604"/>
            <a:ext cx="756624" cy="276999"/>
          </a:xfrm>
          <a:prstGeom prst="rect">
            <a:avLst/>
          </a:prstGeom>
          <a:noFill/>
        </p:spPr>
        <p:txBody>
          <a:bodyPr wrap="square" rtlCol="1">
            <a:spAutoFit/>
          </a:bodyPr>
          <a:lstStyle/>
          <a:p>
            <a:pPr algn="l" defTabSz="685800" rtl="0"/>
            <a:r>
              <a:rPr lang="he-IL" sz="1200" dirty="0">
                <a:solidFill>
                  <a:prstClr val="black"/>
                </a:solidFill>
                <a:latin typeface="Perpetua"/>
                <a:cs typeface="Aharoni" panose="02010803020104030203" pitchFamily="2" charset="-79"/>
              </a:rPr>
              <a:t>3 ש''ח</a:t>
            </a:r>
          </a:p>
        </p:txBody>
      </p:sp>
      <p:sp>
        <p:nvSpPr>
          <p:cNvPr id="75" name="TextBox 74"/>
          <p:cNvSpPr txBox="1"/>
          <p:nvPr/>
        </p:nvSpPr>
        <p:spPr>
          <a:xfrm>
            <a:off x="6711147" y="2723082"/>
            <a:ext cx="756624" cy="276999"/>
          </a:xfrm>
          <a:prstGeom prst="rect">
            <a:avLst/>
          </a:prstGeom>
          <a:noFill/>
        </p:spPr>
        <p:txBody>
          <a:bodyPr wrap="square" rtlCol="1">
            <a:spAutoFit/>
          </a:bodyPr>
          <a:lstStyle/>
          <a:p>
            <a:pPr algn="l" defTabSz="685800" rtl="0"/>
            <a:r>
              <a:rPr lang="he-IL" sz="1200" dirty="0">
                <a:solidFill>
                  <a:prstClr val="black"/>
                </a:solidFill>
                <a:latin typeface="Perpetua"/>
                <a:cs typeface="Aharoni" panose="02010803020104030203" pitchFamily="2" charset="-79"/>
              </a:rPr>
              <a:t>3 ש''ח</a:t>
            </a:r>
          </a:p>
        </p:txBody>
      </p:sp>
      <p:sp>
        <p:nvSpPr>
          <p:cNvPr id="76" name="TextBox 75"/>
          <p:cNvSpPr txBox="1"/>
          <p:nvPr/>
        </p:nvSpPr>
        <p:spPr>
          <a:xfrm flipH="1">
            <a:off x="3323232" y="3318111"/>
            <a:ext cx="232779" cy="307777"/>
          </a:xfrm>
          <a:prstGeom prst="rect">
            <a:avLst/>
          </a:prstGeom>
          <a:noFill/>
        </p:spPr>
        <p:txBody>
          <a:bodyPr wrap="square" rtlCol="1">
            <a:spAutoFit/>
          </a:bodyPr>
          <a:lstStyle/>
          <a:p>
            <a:pPr algn="l" defTabSz="685800" rtl="0"/>
            <a:r>
              <a:rPr lang="he-IL" sz="1400" dirty="0">
                <a:solidFill>
                  <a:srgbClr val="7030A0"/>
                </a:solidFill>
                <a:latin typeface="Perpetua"/>
                <a:cs typeface="Aharoni" panose="02010803020104030203" pitchFamily="2" charset="-79"/>
              </a:rPr>
              <a:t>2</a:t>
            </a:r>
          </a:p>
        </p:txBody>
      </p:sp>
      <p:sp>
        <p:nvSpPr>
          <p:cNvPr id="77" name="Oval 76"/>
          <p:cNvSpPr/>
          <p:nvPr/>
        </p:nvSpPr>
        <p:spPr>
          <a:xfrm flipH="1">
            <a:off x="3623294" y="2929062"/>
            <a:ext cx="47749" cy="767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sp>
        <p:nvSpPr>
          <p:cNvPr id="78" name="TextBox 77"/>
          <p:cNvSpPr txBox="1"/>
          <p:nvPr/>
        </p:nvSpPr>
        <p:spPr>
          <a:xfrm flipH="1">
            <a:off x="4753074" y="3321894"/>
            <a:ext cx="232779" cy="307777"/>
          </a:xfrm>
          <a:prstGeom prst="rect">
            <a:avLst/>
          </a:prstGeom>
          <a:noFill/>
        </p:spPr>
        <p:txBody>
          <a:bodyPr wrap="square" rtlCol="1">
            <a:spAutoFit/>
          </a:bodyPr>
          <a:lstStyle/>
          <a:p>
            <a:pPr algn="l" defTabSz="685800" rtl="0"/>
            <a:r>
              <a:rPr lang="he-IL" sz="1400" dirty="0">
                <a:solidFill>
                  <a:srgbClr val="7030A0"/>
                </a:solidFill>
                <a:latin typeface="Perpetua"/>
                <a:cs typeface="Aharoni" panose="02010803020104030203" pitchFamily="2" charset="-79"/>
              </a:rPr>
              <a:t>4</a:t>
            </a:r>
          </a:p>
        </p:txBody>
      </p:sp>
      <p:sp>
        <p:nvSpPr>
          <p:cNvPr id="79" name="Oval 78"/>
          <p:cNvSpPr/>
          <p:nvPr/>
        </p:nvSpPr>
        <p:spPr>
          <a:xfrm flipH="1">
            <a:off x="4813918" y="2901952"/>
            <a:ext cx="58195" cy="6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sp>
        <p:nvSpPr>
          <p:cNvPr id="80" name="TextBox 79"/>
          <p:cNvSpPr txBox="1"/>
          <p:nvPr/>
        </p:nvSpPr>
        <p:spPr>
          <a:xfrm flipH="1">
            <a:off x="6216978" y="3303840"/>
            <a:ext cx="232779" cy="307777"/>
          </a:xfrm>
          <a:prstGeom prst="rect">
            <a:avLst/>
          </a:prstGeom>
          <a:noFill/>
        </p:spPr>
        <p:txBody>
          <a:bodyPr wrap="square" rtlCol="1">
            <a:spAutoFit/>
          </a:bodyPr>
          <a:lstStyle/>
          <a:p>
            <a:pPr algn="l" defTabSz="685800" rtl="0"/>
            <a:r>
              <a:rPr lang="he-IL" sz="1400" dirty="0">
                <a:solidFill>
                  <a:srgbClr val="7030A0"/>
                </a:solidFill>
                <a:latin typeface="Perpetua"/>
                <a:cs typeface="Aharoni" panose="02010803020104030203" pitchFamily="2" charset="-79"/>
              </a:rPr>
              <a:t>6</a:t>
            </a:r>
          </a:p>
        </p:txBody>
      </p:sp>
      <p:sp>
        <p:nvSpPr>
          <p:cNvPr id="81" name="Oval 80"/>
          <p:cNvSpPr/>
          <p:nvPr/>
        </p:nvSpPr>
        <p:spPr>
          <a:xfrm flipH="1">
            <a:off x="6324035" y="2913795"/>
            <a:ext cx="58195" cy="6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sp>
        <p:nvSpPr>
          <p:cNvPr id="82" name="TextBox 81"/>
          <p:cNvSpPr txBox="1"/>
          <p:nvPr/>
        </p:nvSpPr>
        <p:spPr>
          <a:xfrm flipH="1">
            <a:off x="8508841" y="3325209"/>
            <a:ext cx="414884" cy="369332"/>
          </a:xfrm>
          <a:prstGeom prst="rect">
            <a:avLst/>
          </a:prstGeom>
          <a:noFill/>
        </p:spPr>
        <p:txBody>
          <a:bodyPr wrap="square" rtlCol="1">
            <a:spAutoFit/>
          </a:bodyPr>
          <a:lstStyle/>
          <a:p>
            <a:pPr algn="l" defTabSz="685800" rtl="0"/>
            <a:r>
              <a:rPr lang="he-IL" dirty="0">
                <a:solidFill>
                  <a:srgbClr val="7030A0"/>
                </a:solidFill>
                <a:latin typeface="Perpetua"/>
                <a:cs typeface="Aharoni" panose="02010803020104030203" pitchFamily="2" charset="-79"/>
              </a:rPr>
              <a:t>13</a:t>
            </a:r>
          </a:p>
        </p:txBody>
      </p:sp>
      <p:sp>
        <p:nvSpPr>
          <p:cNvPr id="83" name="Oval 82"/>
          <p:cNvSpPr/>
          <p:nvPr/>
        </p:nvSpPr>
        <p:spPr>
          <a:xfrm flipH="1">
            <a:off x="8627987" y="2838564"/>
            <a:ext cx="58195" cy="6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cxnSp>
        <p:nvCxnSpPr>
          <p:cNvPr id="7" name="Straight Connector 6"/>
          <p:cNvCxnSpPr>
            <a:cxnSpLocks/>
            <a:endCxn id="67" idx="3"/>
          </p:cNvCxnSpPr>
          <p:nvPr/>
        </p:nvCxnSpPr>
        <p:spPr>
          <a:xfrm flipV="1">
            <a:off x="3159925" y="3086670"/>
            <a:ext cx="225501" cy="160498"/>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60" idx="6"/>
            <a:endCxn id="69" idx="1"/>
          </p:cNvCxnSpPr>
          <p:nvPr/>
        </p:nvCxnSpPr>
        <p:spPr>
          <a:xfrm flipV="1">
            <a:off x="4491515" y="3017895"/>
            <a:ext cx="195428" cy="193273"/>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69" idx="6"/>
            <a:endCxn id="79" idx="5"/>
          </p:cNvCxnSpPr>
          <p:nvPr/>
        </p:nvCxnSpPr>
        <p:spPr>
          <a:xfrm flipV="1">
            <a:off x="4637271" y="2956057"/>
            <a:ext cx="185168" cy="84248"/>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Straight Connector 85"/>
          <p:cNvCxnSpPr>
            <a:cxnSpLocks/>
          </p:cNvCxnSpPr>
          <p:nvPr/>
        </p:nvCxnSpPr>
        <p:spPr>
          <a:xfrm flipV="1">
            <a:off x="5962194" y="2818671"/>
            <a:ext cx="588317" cy="36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Straight Connector 86"/>
          <p:cNvCxnSpPr>
            <a:cxnSpLocks/>
          </p:cNvCxnSpPr>
          <p:nvPr/>
        </p:nvCxnSpPr>
        <p:spPr>
          <a:xfrm flipV="1">
            <a:off x="3404520" y="2976932"/>
            <a:ext cx="261301" cy="91605"/>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Straight Connector 87"/>
          <p:cNvCxnSpPr>
            <a:cxnSpLocks/>
          </p:cNvCxnSpPr>
          <p:nvPr/>
        </p:nvCxnSpPr>
        <p:spPr>
          <a:xfrm flipV="1">
            <a:off x="7552151" y="3031532"/>
            <a:ext cx="544694" cy="147941"/>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p:cNvCxnSpPr>
            <a:cxnSpLocks/>
            <a:endCxn id="83" idx="5"/>
          </p:cNvCxnSpPr>
          <p:nvPr/>
        </p:nvCxnSpPr>
        <p:spPr>
          <a:xfrm flipV="1">
            <a:off x="8149275" y="2892670"/>
            <a:ext cx="487234" cy="113156"/>
          </a:xfrm>
          <a:prstGeom prst="line">
            <a:avLst/>
          </a:prstGeom>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9EE46A08-3143-443A-B1A1-9661A6CD8403}"/>
              </a:ext>
            </a:extLst>
          </p:cNvPr>
          <p:cNvSpPr txBox="1"/>
          <p:nvPr/>
        </p:nvSpPr>
        <p:spPr>
          <a:xfrm flipH="1">
            <a:off x="3537248" y="3319408"/>
            <a:ext cx="205908" cy="307777"/>
          </a:xfrm>
          <a:prstGeom prst="rect">
            <a:avLst/>
          </a:prstGeom>
          <a:noFill/>
        </p:spPr>
        <p:txBody>
          <a:bodyPr wrap="square" rtlCol="1">
            <a:spAutoFit/>
          </a:bodyPr>
          <a:lstStyle/>
          <a:p>
            <a:pPr algn="l" defTabSz="685800" rtl="0"/>
            <a:r>
              <a:rPr lang="he-IL" sz="1400" dirty="0">
                <a:solidFill>
                  <a:srgbClr val="7030A0"/>
                </a:solidFill>
                <a:latin typeface="Perpetua"/>
                <a:cs typeface="Aharoni" panose="02010803020104030203" pitchFamily="2" charset="-79"/>
              </a:rPr>
              <a:t>3</a:t>
            </a:r>
          </a:p>
        </p:txBody>
      </p:sp>
      <p:sp>
        <p:nvSpPr>
          <p:cNvPr id="92" name="TextBox 91">
            <a:extLst>
              <a:ext uri="{FF2B5EF4-FFF2-40B4-BE49-F238E27FC236}">
                <a16:creationId xmlns:a16="http://schemas.microsoft.com/office/drawing/2014/main" id="{6E41DEF4-30BE-4920-9E56-6FD91F988078}"/>
              </a:ext>
            </a:extLst>
          </p:cNvPr>
          <p:cNvSpPr txBox="1"/>
          <p:nvPr/>
        </p:nvSpPr>
        <p:spPr>
          <a:xfrm>
            <a:off x="5962927" y="2115129"/>
            <a:ext cx="1044887" cy="338554"/>
          </a:xfrm>
          <a:prstGeom prst="rect">
            <a:avLst/>
          </a:prstGeom>
          <a:noFill/>
        </p:spPr>
        <p:txBody>
          <a:bodyPr wrap="square" rtlCol="1">
            <a:spAutoFit/>
          </a:bodyPr>
          <a:lstStyle/>
          <a:p>
            <a:pPr algn="l" defTabSz="685800" rtl="0"/>
            <a:r>
              <a:rPr lang="en-US" sz="1600" dirty="0">
                <a:solidFill>
                  <a:prstClr val="black"/>
                </a:solidFill>
                <a:latin typeface="Perpetua"/>
              </a:rPr>
              <a:t>MC=0.5X</a:t>
            </a:r>
            <a:endParaRPr lang="he-IL" sz="1600" dirty="0">
              <a:solidFill>
                <a:prstClr val="black"/>
              </a:solidFill>
              <a:latin typeface="Perpetua"/>
              <a:cs typeface="Aharoni" panose="02010803020104030203" pitchFamily="2" charset="-79"/>
            </a:endParaRPr>
          </a:p>
        </p:txBody>
      </p:sp>
      <p:graphicFrame>
        <p:nvGraphicFramePr>
          <p:cNvPr id="93" name="Table 92">
            <a:extLst>
              <a:ext uri="{FF2B5EF4-FFF2-40B4-BE49-F238E27FC236}">
                <a16:creationId xmlns:a16="http://schemas.microsoft.com/office/drawing/2014/main" id="{1D160CDA-4607-4868-BBD9-A79B829F3F4A}"/>
              </a:ext>
            </a:extLst>
          </p:cNvPr>
          <p:cNvGraphicFramePr>
            <a:graphicFrameLocks noGrp="1"/>
          </p:cNvGraphicFramePr>
          <p:nvPr>
            <p:extLst>
              <p:ext uri="{D42A27DB-BD31-4B8C-83A1-F6EECF244321}">
                <p14:modId xmlns:p14="http://schemas.microsoft.com/office/powerpoint/2010/main" val="451033144"/>
              </p:ext>
            </p:extLst>
          </p:nvPr>
        </p:nvGraphicFramePr>
        <p:xfrm>
          <a:off x="7638639" y="3813752"/>
          <a:ext cx="2095086" cy="1881770"/>
        </p:xfrm>
        <a:graphic>
          <a:graphicData uri="http://schemas.openxmlformats.org/drawingml/2006/table">
            <a:tbl>
              <a:tblPr rtl="1" firstRow="1" bandRow="1">
                <a:tableStyleId>{5C22544A-7EE6-4342-B048-85BDC9FD1C3A}</a:tableStyleId>
              </a:tblPr>
              <a:tblGrid>
                <a:gridCol w="1346527">
                  <a:extLst>
                    <a:ext uri="{9D8B030D-6E8A-4147-A177-3AD203B41FA5}">
                      <a16:colId xmlns:a16="http://schemas.microsoft.com/office/drawing/2014/main" val="3917732058"/>
                    </a:ext>
                  </a:extLst>
                </a:gridCol>
                <a:gridCol w="748559">
                  <a:extLst>
                    <a:ext uri="{9D8B030D-6E8A-4147-A177-3AD203B41FA5}">
                      <a16:colId xmlns:a16="http://schemas.microsoft.com/office/drawing/2014/main" val="3400975954"/>
                    </a:ext>
                  </a:extLst>
                </a:gridCol>
              </a:tblGrid>
              <a:tr h="348389">
                <a:tc>
                  <a:txBody>
                    <a:bodyPr/>
                    <a:lstStyle/>
                    <a:p>
                      <a:pPr algn="ctr" rtl="1"/>
                      <a:r>
                        <a:rPr lang="he-IL" sz="1500" b="1" dirty="0"/>
                        <a:t>כמות מצרפית</a:t>
                      </a:r>
                    </a:p>
                  </a:txBody>
                  <a:tcPr marL="68580" marR="68580" marT="34290" marB="34290"/>
                </a:tc>
                <a:tc>
                  <a:txBody>
                    <a:bodyPr/>
                    <a:lstStyle/>
                    <a:p>
                      <a:pPr algn="ctr" rtl="1"/>
                      <a:r>
                        <a:rPr lang="he-IL" sz="1400" dirty="0"/>
                        <a:t>מחיר</a:t>
                      </a:r>
                    </a:p>
                  </a:txBody>
                  <a:tcPr marL="68580" marR="68580" marT="34290" marB="34290"/>
                </a:tc>
                <a:extLst>
                  <a:ext uri="{0D108BD9-81ED-4DB2-BD59-A6C34878D82A}">
                    <a16:rowId xmlns:a16="http://schemas.microsoft.com/office/drawing/2014/main" val="4287946175"/>
                  </a:ext>
                </a:extLst>
              </a:tr>
              <a:tr h="274320">
                <a:tc>
                  <a:txBody>
                    <a:bodyPr/>
                    <a:lstStyle/>
                    <a:p>
                      <a:pPr algn="ctr" rtl="1"/>
                      <a:r>
                        <a:rPr lang="en-US" sz="1400" b="0" dirty="0"/>
                        <a:t>0+1+</a:t>
                      </a:r>
                      <a:r>
                        <a:rPr lang="en-US" sz="1400" b="1" dirty="0"/>
                        <a:t>2</a:t>
                      </a:r>
                      <a:r>
                        <a:rPr lang="en-US" sz="1400" b="0" dirty="0"/>
                        <a:t> =  3</a:t>
                      </a:r>
                      <a:endParaRPr lang="he-IL" sz="1400" b="0" dirty="0"/>
                    </a:p>
                  </a:txBody>
                  <a:tcPr marL="68580" marR="68580" marT="34290" marB="34290"/>
                </a:tc>
                <a:tc>
                  <a:txBody>
                    <a:bodyPr/>
                    <a:lstStyle/>
                    <a:p>
                      <a:pPr algn="ctr"/>
                      <a:r>
                        <a:rPr lang="he-IL" sz="1400" dirty="0"/>
                        <a:t>1</a:t>
                      </a:r>
                    </a:p>
                  </a:txBody>
                  <a:tcPr marL="68580" marR="68580" marT="34290" marB="34290"/>
                </a:tc>
                <a:extLst>
                  <a:ext uri="{0D108BD9-81ED-4DB2-BD59-A6C34878D82A}">
                    <a16:rowId xmlns:a16="http://schemas.microsoft.com/office/drawing/2014/main" val="1765569055"/>
                  </a:ext>
                </a:extLst>
              </a:tr>
              <a:tr h="274320">
                <a:tc>
                  <a:txBody>
                    <a:bodyPr/>
                    <a:lstStyle/>
                    <a:p>
                      <a:pPr algn="ctr" rtl="1"/>
                      <a:r>
                        <a:rPr lang="en-US" sz="1400" b="0" dirty="0"/>
                        <a:t>2+2+4=8</a:t>
                      </a:r>
                      <a:endParaRPr lang="he-IL" sz="1400" b="0" dirty="0"/>
                    </a:p>
                  </a:txBody>
                  <a:tcPr marL="68580" marR="68580" marT="34290" marB="34290"/>
                </a:tc>
                <a:tc>
                  <a:txBody>
                    <a:bodyPr/>
                    <a:lstStyle/>
                    <a:p>
                      <a:pPr algn="ctr"/>
                      <a:r>
                        <a:rPr lang="he-IL" sz="1400" dirty="0"/>
                        <a:t>2</a:t>
                      </a:r>
                    </a:p>
                  </a:txBody>
                  <a:tcPr marL="68580" marR="68580" marT="34290" marB="34290"/>
                </a:tc>
                <a:extLst>
                  <a:ext uri="{0D108BD9-81ED-4DB2-BD59-A6C34878D82A}">
                    <a16:rowId xmlns:a16="http://schemas.microsoft.com/office/drawing/2014/main" val="2160829643"/>
                  </a:ext>
                </a:extLst>
              </a:tr>
              <a:tr h="274320">
                <a:tc>
                  <a:txBody>
                    <a:bodyPr/>
                    <a:lstStyle/>
                    <a:p>
                      <a:pPr algn="ctr" rtl="1"/>
                      <a:r>
                        <a:rPr lang="en-US" sz="1400" b="0" dirty="0"/>
                        <a:t>13</a:t>
                      </a:r>
                      <a:endParaRPr lang="he-IL" sz="1400" b="0" dirty="0"/>
                    </a:p>
                  </a:txBody>
                  <a:tcPr marL="68580" marR="68580" marT="34290" marB="34290"/>
                </a:tc>
                <a:tc>
                  <a:txBody>
                    <a:bodyPr/>
                    <a:lstStyle/>
                    <a:p>
                      <a:pPr algn="ctr"/>
                      <a:r>
                        <a:rPr lang="he-IL" sz="1400" dirty="0"/>
                        <a:t>3</a:t>
                      </a:r>
                    </a:p>
                  </a:txBody>
                  <a:tcPr marL="68580" marR="68580" marT="34290" marB="34290"/>
                </a:tc>
                <a:extLst>
                  <a:ext uri="{0D108BD9-81ED-4DB2-BD59-A6C34878D82A}">
                    <a16:rowId xmlns:a16="http://schemas.microsoft.com/office/drawing/2014/main" val="4290881610"/>
                  </a:ext>
                </a:extLst>
              </a:tr>
              <a:tr h="274320">
                <a:tc>
                  <a:txBody>
                    <a:bodyPr/>
                    <a:lstStyle/>
                    <a:p>
                      <a:pPr algn="ctr" rtl="1"/>
                      <a:r>
                        <a:rPr lang="en-US" sz="1400" b="0" dirty="0"/>
                        <a:t>18</a:t>
                      </a:r>
                      <a:endParaRPr lang="he-IL" sz="1400" b="0" dirty="0"/>
                    </a:p>
                  </a:txBody>
                  <a:tcPr marL="68580" marR="68580" marT="34290" marB="34290"/>
                </a:tc>
                <a:tc>
                  <a:txBody>
                    <a:bodyPr/>
                    <a:lstStyle/>
                    <a:p>
                      <a:pPr algn="ctr"/>
                      <a:r>
                        <a:rPr lang="he-IL" sz="1400" dirty="0"/>
                        <a:t>4</a:t>
                      </a:r>
                    </a:p>
                  </a:txBody>
                  <a:tcPr marL="68580" marR="68580" marT="34290" marB="34290"/>
                </a:tc>
                <a:extLst>
                  <a:ext uri="{0D108BD9-81ED-4DB2-BD59-A6C34878D82A}">
                    <a16:rowId xmlns:a16="http://schemas.microsoft.com/office/drawing/2014/main" val="2041548551"/>
                  </a:ext>
                </a:extLst>
              </a:tr>
              <a:tr h="405621">
                <a:tc>
                  <a:txBody>
                    <a:bodyPr/>
                    <a:lstStyle/>
                    <a:p>
                      <a:pPr algn="ctr" rtl="1"/>
                      <a:r>
                        <a:rPr lang="en-US" sz="1400" b="0" dirty="0"/>
                        <a:t>24</a:t>
                      </a:r>
                      <a:endParaRPr lang="he-IL" sz="1400" b="0" dirty="0"/>
                    </a:p>
                  </a:txBody>
                  <a:tcPr marL="68580" marR="68580" marT="34290" marB="34290"/>
                </a:tc>
                <a:tc>
                  <a:txBody>
                    <a:bodyPr/>
                    <a:lstStyle/>
                    <a:p>
                      <a:pPr algn="ctr"/>
                      <a:r>
                        <a:rPr lang="he-IL" sz="1400" dirty="0"/>
                        <a:t>5</a:t>
                      </a:r>
                    </a:p>
                  </a:txBody>
                  <a:tcPr marL="68580" marR="68580" marT="34290" marB="34290"/>
                </a:tc>
                <a:extLst>
                  <a:ext uri="{0D108BD9-81ED-4DB2-BD59-A6C34878D82A}">
                    <a16:rowId xmlns:a16="http://schemas.microsoft.com/office/drawing/2014/main" val="77295954"/>
                  </a:ext>
                </a:extLst>
              </a:tr>
            </a:tbl>
          </a:graphicData>
        </a:graphic>
      </p:graphicFrame>
      <p:sp>
        <p:nvSpPr>
          <p:cNvPr id="94" name="TextBox 93">
            <a:extLst>
              <a:ext uri="{FF2B5EF4-FFF2-40B4-BE49-F238E27FC236}">
                <a16:creationId xmlns:a16="http://schemas.microsoft.com/office/drawing/2014/main" id="{0B09B0D6-5AFE-49FB-8BDC-F48A740FCE54}"/>
              </a:ext>
            </a:extLst>
          </p:cNvPr>
          <p:cNvSpPr txBox="1"/>
          <p:nvPr/>
        </p:nvSpPr>
        <p:spPr>
          <a:xfrm flipH="1">
            <a:off x="9100362" y="3336488"/>
            <a:ext cx="414884" cy="369332"/>
          </a:xfrm>
          <a:prstGeom prst="rect">
            <a:avLst/>
          </a:prstGeom>
          <a:noFill/>
        </p:spPr>
        <p:txBody>
          <a:bodyPr wrap="square" rtlCol="1">
            <a:spAutoFit/>
          </a:bodyPr>
          <a:lstStyle/>
          <a:p>
            <a:pPr algn="l" defTabSz="685800" rtl="0"/>
            <a:r>
              <a:rPr lang="he-IL" dirty="0">
                <a:solidFill>
                  <a:srgbClr val="7030A0"/>
                </a:solidFill>
                <a:latin typeface="Perpetua"/>
                <a:cs typeface="Aharoni" panose="02010803020104030203" pitchFamily="2" charset="-79"/>
              </a:rPr>
              <a:t>18</a:t>
            </a:r>
          </a:p>
        </p:txBody>
      </p:sp>
      <p:sp>
        <p:nvSpPr>
          <p:cNvPr id="95" name="TextBox 94">
            <a:extLst>
              <a:ext uri="{FF2B5EF4-FFF2-40B4-BE49-F238E27FC236}">
                <a16:creationId xmlns:a16="http://schemas.microsoft.com/office/drawing/2014/main" id="{DE52BCE6-5BD6-4A31-8927-756964A4A52C}"/>
              </a:ext>
            </a:extLst>
          </p:cNvPr>
          <p:cNvSpPr txBox="1"/>
          <p:nvPr/>
        </p:nvSpPr>
        <p:spPr>
          <a:xfrm flipH="1">
            <a:off x="9575179" y="3344577"/>
            <a:ext cx="414884" cy="369332"/>
          </a:xfrm>
          <a:prstGeom prst="rect">
            <a:avLst/>
          </a:prstGeom>
          <a:noFill/>
        </p:spPr>
        <p:txBody>
          <a:bodyPr wrap="square" rtlCol="1">
            <a:spAutoFit/>
          </a:bodyPr>
          <a:lstStyle/>
          <a:p>
            <a:pPr algn="l" defTabSz="685800" rtl="0"/>
            <a:r>
              <a:rPr lang="he-IL" dirty="0">
                <a:solidFill>
                  <a:srgbClr val="7030A0"/>
                </a:solidFill>
                <a:latin typeface="Perpetua"/>
                <a:cs typeface="Aharoni" panose="02010803020104030203" pitchFamily="2" charset="-79"/>
              </a:rPr>
              <a:t>24</a:t>
            </a:r>
          </a:p>
        </p:txBody>
      </p:sp>
      <p:sp>
        <p:nvSpPr>
          <p:cNvPr id="96" name="TextBox 95">
            <a:extLst>
              <a:ext uri="{FF2B5EF4-FFF2-40B4-BE49-F238E27FC236}">
                <a16:creationId xmlns:a16="http://schemas.microsoft.com/office/drawing/2014/main" id="{138CE840-CB3B-488A-B665-44956777E452}"/>
              </a:ext>
            </a:extLst>
          </p:cNvPr>
          <p:cNvSpPr txBox="1"/>
          <p:nvPr/>
        </p:nvSpPr>
        <p:spPr>
          <a:xfrm>
            <a:off x="2694690" y="2642479"/>
            <a:ext cx="756624" cy="276999"/>
          </a:xfrm>
          <a:prstGeom prst="rect">
            <a:avLst/>
          </a:prstGeom>
          <a:noFill/>
        </p:spPr>
        <p:txBody>
          <a:bodyPr wrap="square" rtlCol="1">
            <a:spAutoFit/>
          </a:bodyPr>
          <a:lstStyle/>
          <a:p>
            <a:pPr algn="l" defTabSz="685800" rtl="0"/>
            <a:r>
              <a:rPr lang="he-IL" sz="1200" dirty="0">
                <a:solidFill>
                  <a:prstClr val="black"/>
                </a:solidFill>
                <a:latin typeface="Perpetua"/>
                <a:cs typeface="Aharoni" panose="02010803020104030203" pitchFamily="2" charset="-79"/>
              </a:rPr>
              <a:t>4 ש''ח</a:t>
            </a:r>
          </a:p>
        </p:txBody>
      </p:sp>
      <p:sp>
        <p:nvSpPr>
          <p:cNvPr id="97" name="TextBox 96">
            <a:extLst>
              <a:ext uri="{FF2B5EF4-FFF2-40B4-BE49-F238E27FC236}">
                <a16:creationId xmlns:a16="http://schemas.microsoft.com/office/drawing/2014/main" id="{55C5260E-4CFB-4137-B0D6-70F9A90CA232}"/>
              </a:ext>
            </a:extLst>
          </p:cNvPr>
          <p:cNvSpPr txBox="1"/>
          <p:nvPr/>
        </p:nvSpPr>
        <p:spPr>
          <a:xfrm>
            <a:off x="6711147" y="2581957"/>
            <a:ext cx="756624" cy="276999"/>
          </a:xfrm>
          <a:prstGeom prst="rect">
            <a:avLst/>
          </a:prstGeom>
          <a:noFill/>
        </p:spPr>
        <p:txBody>
          <a:bodyPr wrap="square" rtlCol="1">
            <a:spAutoFit/>
          </a:bodyPr>
          <a:lstStyle/>
          <a:p>
            <a:pPr algn="l" defTabSz="685800" rtl="0"/>
            <a:r>
              <a:rPr lang="he-IL" sz="1200" dirty="0">
                <a:solidFill>
                  <a:prstClr val="black"/>
                </a:solidFill>
                <a:latin typeface="Perpetua"/>
                <a:cs typeface="Aharoni" panose="02010803020104030203" pitchFamily="2" charset="-79"/>
              </a:rPr>
              <a:t>4 ש''ח</a:t>
            </a:r>
          </a:p>
        </p:txBody>
      </p:sp>
      <p:sp>
        <p:nvSpPr>
          <p:cNvPr id="98" name="TextBox 97">
            <a:extLst>
              <a:ext uri="{FF2B5EF4-FFF2-40B4-BE49-F238E27FC236}">
                <a16:creationId xmlns:a16="http://schemas.microsoft.com/office/drawing/2014/main" id="{3602A36E-0F0B-434A-8B69-0B54B126D15A}"/>
              </a:ext>
            </a:extLst>
          </p:cNvPr>
          <p:cNvSpPr txBox="1"/>
          <p:nvPr/>
        </p:nvSpPr>
        <p:spPr>
          <a:xfrm>
            <a:off x="2694690" y="2500971"/>
            <a:ext cx="756624" cy="276999"/>
          </a:xfrm>
          <a:prstGeom prst="rect">
            <a:avLst/>
          </a:prstGeom>
          <a:noFill/>
        </p:spPr>
        <p:txBody>
          <a:bodyPr wrap="square" rtlCol="1">
            <a:spAutoFit/>
          </a:bodyPr>
          <a:lstStyle/>
          <a:p>
            <a:pPr algn="l" defTabSz="685800" rtl="0"/>
            <a:r>
              <a:rPr lang="he-IL" sz="1200" dirty="0">
                <a:solidFill>
                  <a:prstClr val="black"/>
                </a:solidFill>
                <a:latin typeface="Perpetua"/>
                <a:cs typeface="Aharoni" panose="02010803020104030203" pitchFamily="2" charset="-79"/>
              </a:rPr>
              <a:t>5 ש''ח</a:t>
            </a:r>
          </a:p>
        </p:txBody>
      </p:sp>
      <p:sp>
        <p:nvSpPr>
          <p:cNvPr id="99" name="TextBox 98">
            <a:extLst>
              <a:ext uri="{FF2B5EF4-FFF2-40B4-BE49-F238E27FC236}">
                <a16:creationId xmlns:a16="http://schemas.microsoft.com/office/drawing/2014/main" id="{BD36DDAE-DC7B-4972-ADB6-77EB098A5597}"/>
              </a:ext>
            </a:extLst>
          </p:cNvPr>
          <p:cNvSpPr txBox="1"/>
          <p:nvPr/>
        </p:nvSpPr>
        <p:spPr>
          <a:xfrm>
            <a:off x="6711147" y="2440449"/>
            <a:ext cx="756624" cy="276999"/>
          </a:xfrm>
          <a:prstGeom prst="rect">
            <a:avLst/>
          </a:prstGeom>
          <a:noFill/>
        </p:spPr>
        <p:txBody>
          <a:bodyPr wrap="square" rtlCol="1">
            <a:spAutoFit/>
          </a:bodyPr>
          <a:lstStyle/>
          <a:p>
            <a:pPr algn="l" defTabSz="685800" rtl="0"/>
            <a:r>
              <a:rPr lang="he-IL" sz="1200" dirty="0">
                <a:solidFill>
                  <a:prstClr val="black"/>
                </a:solidFill>
                <a:latin typeface="Perpetua"/>
                <a:cs typeface="Aharoni" panose="02010803020104030203" pitchFamily="2" charset="-79"/>
              </a:rPr>
              <a:t>5 ש''ח</a:t>
            </a:r>
          </a:p>
        </p:txBody>
      </p:sp>
      <p:sp>
        <p:nvSpPr>
          <p:cNvPr id="100" name="TextBox 99">
            <a:extLst>
              <a:ext uri="{FF2B5EF4-FFF2-40B4-BE49-F238E27FC236}">
                <a16:creationId xmlns:a16="http://schemas.microsoft.com/office/drawing/2014/main" id="{846107EE-8551-4FFE-B8B2-1BF842EFA44D}"/>
              </a:ext>
            </a:extLst>
          </p:cNvPr>
          <p:cNvSpPr txBox="1"/>
          <p:nvPr/>
        </p:nvSpPr>
        <p:spPr>
          <a:xfrm flipH="1">
            <a:off x="3759422" y="3302325"/>
            <a:ext cx="205908" cy="307777"/>
          </a:xfrm>
          <a:prstGeom prst="rect">
            <a:avLst/>
          </a:prstGeom>
          <a:noFill/>
        </p:spPr>
        <p:txBody>
          <a:bodyPr wrap="square" rtlCol="1">
            <a:spAutoFit/>
          </a:bodyPr>
          <a:lstStyle/>
          <a:p>
            <a:pPr algn="l" defTabSz="685800" rtl="0"/>
            <a:r>
              <a:rPr lang="he-IL" sz="1400" dirty="0">
                <a:solidFill>
                  <a:srgbClr val="7030A0"/>
                </a:solidFill>
                <a:latin typeface="Perpetua"/>
                <a:cs typeface="Aharoni" panose="02010803020104030203" pitchFamily="2" charset="-79"/>
              </a:rPr>
              <a:t>4</a:t>
            </a:r>
          </a:p>
        </p:txBody>
      </p:sp>
      <p:sp>
        <p:nvSpPr>
          <p:cNvPr id="101" name="TextBox 100">
            <a:extLst>
              <a:ext uri="{FF2B5EF4-FFF2-40B4-BE49-F238E27FC236}">
                <a16:creationId xmlns:a16="http://schemas.microsoft.com/office/drawing/2014/main" id="{B61ECACF-4014-45B0-A5D2-7F5C4973E755}"/>
              </a:ext>
            </a:extLst>
          </p:cNvPr>
          <p:cNvSpPr txBox="1"/>
          <p:nvPr/>
        </p:nvSpPr>
        <p:spPr>
          <a:xfrm flipH="1">
            <a:off x="4967488" y="3325210"/>
            <a:ext cx="232779" cy="307777"/>
          </a:xfrm>
          <a:prstGeom prst="rect">
            <a:avLst/>
          </a:prstGeom>
          <a:noFill/>
        </p:spPr>
        <p:txBody>
          <a:bodyPr wrap="square" rtlCol="1">
            <a:spAutoFit/>
          </a:bodyPr>
          <a:lstStyle/>
          <a:p>
            <a:pPr algn="l" defTabSz="685800" rtl="0"/>
            <a:r>
              <a:rPr lang="he-IL" sz="1400" dirty="0">
                <a:solidFill>
                  <a:srgbClr val="7030A0"/>
                </a:solidFill>
                <a:latin typeface="Perpetua"/>
                <a:cs typeface="Aharoni" panose="02010803020104030203" pitchFamily="2" charset="-79"/>
              </a:rPr>
              <a:t>6</a:t>
            </a:r>
          </a:p>
        </p:txBody>
      </p:sp>
      <p:sp>
        <p:nvSpPr>
          <p:cNvPr id="102" name="TextBox 101">
            <a:extLst>
              <a:ext uri="{FF2B5EF4-FFF2-40B4-BE49-F238E27FC236}">
                <a16:creationId xmlns:a16="http://schemas.microsoft.com/office/drawing/2014/main" id="{6DE919E2-FF1F-4658-B193-924D6F66A7DA}"/>
              </a:ext>
            </a:extLst>
          </p:cNvPr>
          <p:cNvSpPr txBox="1"/>
          <p:nvPr/>
        </p:nvSpPr>
        <p:spPr>
          <a:xfrm flipH="1">
            <a:off x="6407598" y="3299326"/>
            <a:ext cx="232779" cy="307777"/>
          </a:xfrm>
          <a:prstGeom prst="rect">
            <a:avLst/>
          </a:prstGeom>
          <a:noFill/>
        </p:spPr>
        <p:txBody>
          <a:bodyPr wrap="square" rtlCol="1">
            <a:spAutoFit/>
          </a:bodyPr>
          <a:lstStyle/>
          <a:p>
            <a:pPr algn="l" defTabSz="685800" rtl="0"/>
            <a:r>
              <a:rPr lang="he-IL" sz="1400" dirty="0">
                <a:solidFill>
                  <a:srgbClr val="7030A0"/>
                </a:solidFill>
                <a:latin typeface="Perpetua"/>
                <a:cs typeface="Aharoni" panose="02010803020104030203" pitchFamily="2" charset="-79"/>
              </a:rPr>
              <a:t>8</a:t>
            </a:r>
          </a:p>
        </p:txBody>
      </p:sp>
      <p:sp>
        <p:nvSpPr>
          <p:cNvPr id="103" name="Oval 102">
            <a:extLst>
              <a:ext uri="{FF2B5EF4-FFF2-40B4-BE49-F238E27FC236}">
                <a16:creationId xmlns:a16="http://schemas.microsoft.com/office/drawing/2014/main" id="{4F28472A-342D-4325-B333-E258593F78F8}"/>
              </a:ext>
            </a:extLst>
          </p:cNvPr>
          <p:cNvSpPr/>
          <p:nvPr/>
        </p:nvSpPr>
        <p:spPr>
          <a:xfrm flipH="1">
            <a:off x="3858132" y="2807343"/>
            <a:ext cx="47749" cy="767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sp>
        <p:nvSpPr>
          <p:cNvPr id="104" name="Oval 103">
            <a:extLst>
              <a:ext uri="{FF2B5EF4-FFF2-40B4-BE49-F238E27FC236}">
                <a16:creationId xmlns:a16="http://schemas.microsoft.com/office/drawing/2014/main" id="{35A411AC-AAD1-4B66-8D97-094E5ACA4C80}"/>
              </a:ext>
            </a:extLst>
          </p:cNvPr>
          <p:cNvSpPr/>
          <p:nvPr/>
        </p:nvSpPr>
        <p:spPr>
          <a:xfrm flipH="1">
            <a:off x="5050842" y="2858714"/>
            <a:ext cx="58195" cy="6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sp>
        <p:nvSpPr>
          <p:cNvPr id="105" name="Oval 104">
            <a:extLst>
              <a:ext uri="{FF2B5EF4-FFF2-40B4-BE49-F238E27FC236}">
                <a16:creationId xmlns:a16="http://schemas.microsoft.com/office/drawing/2014/main" id="{13AE5CC0-E515-4021-8594-CAA948645659}"/>
              </a:ext>
            </a:extLst>
          </p:cNvPr>
          <p:cNvSpPr/>
          <p:nvPr/>
        </p:nvSpPr>
        <p:spPr>
          <a:xfrm flipH="1">
            <a:off x="6513494" y="2792076"/>
            <a:ext cx="58195" cy="6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sp>
        <p:nvSpPr>
          <p:cNvPr id="106" name="Oval 105">
            <a:extLst>
              <a:ext uri="{FF2B5EF4-FFF2-40B4-BE49-F238E27FC236}">
                <a16:creationId xmlns:a16="http://schemas.microsoft.com/office/drawing/2014/main" id="{8FE432D2-BE5D-47AB-80CD-6146ECFCF275}"/>
              </a:ext>
            </a:extLst>
          </p:cNvPr>
          <p:cNvSpPr/>
          <p:nvPr/>
        </p:nvSpPr>
        <p:spPr>
          <a:xfrm flipH="1">
            <a:off x="9780709" y="2595944"/>
            <a:ext cx="58195" cy="6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sp>
        <p:nvSpPr>
          <p:cNvPr id="107" name="Oval 106">
            <a:extLst>
              <a:ext uri="{FF2B5EF4-FFF2-40B4-BE49-F238E27FC236}">
                <a16:creationId xmlns:a16="http://schemas.microsoft.com/office/drawing/2014/main" id="{BC89EAA2-536C-4AEC-B74D-C909AC806DDC}"/>
              </a:ext>
            </a:extLst>
          </p:cNvPr>
          <p:cNvSpPr/>
          <p:nvPr/>
        </p:nvSpPr>
        <p:spPr>
          <a:xfrm flipH="1">
            <a:off x="4087287" y="2759529"/>
            <a:ext cx="47749" cy="767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sp>
        <p:nvSpPr>
          <p:cNvPr id="108" name="Oval 107">
            <a:extLst>
              <a:ext uri="{FF2B5EF4-FFF2-40B4-BE49-F238E27FC236}">
                <a16:creationId xmlns:a16="http://schemas.microsoft.com/office/drawing/2014/main" id="{E38E89A8-A945-49D4-93B6-073B63B9C0F7}"/>
              </a:ext>
            </a:extLst>
          </p:cNvPr>
          <p:cNvSpPr/>
          <p:nvPr/>
        </p:nvSpPr>
        <p:spPr>
          <a:xfrm flipH="1">
            <a:off x="5271377" y="2797574"/>
            <a:ext cx="58195" cy="6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sp>
        <p:nvSpPr>
          <p:cNvPr id="109" name="Oval 108">
            <a:extLst>
              <a:ext uri="{FF2B5EF4-FFF2-40B4-BE49-F238E27FC236}">
                <a16:creationId xmlns:a16="http://schemas.microsoft.com/office/drawing/2014/main" id="{0EE69EA9-4BE8-40BB-A2DC-242AFDB60C25}"/>
              </a:ext>
            </a:extLst>
          </p:cNvPr>
          <p:cNvSpPr/>
          <p:nvPr/>
        </p:nvSpPr>
        <p:spPr>
          <a:xfrm flipH="1">
            <a:off x="6653458" y="2762337"/>
            <a:ext cx="58195" cy="6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sp>
        <p:nvSpPr>
          <p:cNvPr id="110" name="Oval 109">
            <a:extLst>
              <a:ext uri="{FF2B5EF4-FFF2-40B4-BE49-F238E27FC236}">
                <a16:creationId xmlns:a16="http://schemas.microsoft.com/office/drawing/2014/main" id="{94DF8A34-EB46-4BC9-B456-8B6ACB568A47}"/>
              </a:ext>
            </a:extLst>
          </p:cNvPr>
          <p:cNvSpPr/>
          <p:nvPr/>
        </p:nvSpPr>
        <p:spPr>
          <a:xfrm flipH="1">
            <a:off x="9307805" y="2685753"/>
            <a:ext cx="58195" cy="63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endParaRPr lang="en-US" sz="1600">
              <a:solidFill>
                <a:prstClr val="white"/>
              </a:solidFill>
              <a:latin typeface="Perpetua"/>
            </a:endParaRPr>
          </a:p>
        </p:txBody>
      </p:sp>
      <p:cxnSp>
        <p:nvCxnSpPr>
          <p:cNvPr id="111" name="Straight Connector 110">
            <a:extLst>
              <a:ext uri="{FF2B5EF4-FFF2-40B4-BE49-F238E27FC236}">
                <a16:creationId xmlns:a16="http://schemas.microsoft.com/office/drawing/2014/main" id="{83ED082A-E0CF-4B85-B9C4-A9B85E22E647}"/>
              </a:ext>
            </a:extLst>
          </p:cNvPr>
          <p:cNvCxnSpPr>
            <a:cxnSpLocks/>
            <a:endCxn id="110" idx="5"/>
          </p:cNvCxnSpPr>
          <p:nvPr/>
        </p:nvCxnSpPr>
        <p:spPr>
          <a:xfrm flipV="1">
            <a:off x="8709524" y="2739858"/>
            <a:ext cx="606802" cy="1353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EE005FE-4FBE-4B9C-95A7-A0C3996CB7C5}"/>
              </a:ext>
            </a:extLst>
          </p:cNvPr>
          <p:cNvCxnSpPr>
            <a:cxnSpLocks/>
          </p:cNvCxnSpPr>
          <p:nvPr/>
        </p:nvCxnSpPr>
        <p:spPr>
          <a:xfrm flipV="1">
            <a:off x="9331562" y="2629175"/>
            <a:ext cx="487234" cy="1131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6F0F86E5-6491-496F-8503-CECAA8906988}"/>
              </a:ext>
            </a:extLst>
          </p:cNvPr>
          <p:cNvCxnSpPr>
            <a:cxnSpLocks/>
            <a:endCxn id="103" idx="3"/>
          </p:cNvCxnSpPr>
          <p:nvPr/>
        </p:nvCxnSpPr>
        <p:spPr>
          <a:xfrm flipV="1">
            <a:off x="3681819" y="2872865"/>
            <a:ext cx="217068" cy="724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0AB8CD6F-BAA0-4E72-A78B-1394CFCE878C}"/>
              </a:ext>
            </a:extLst>
          </p:cNvPr>
          <p:cNvCxnSpPr>
            <a:cxnSpLocks/>
            <a:stCxn id="103" idx="2"/>
          </p:cNvCxnSpPr>
          <p:nvPr/>
        </p:nvCxnSpPr>
        <p:spPr>
          <a:xfrm flipV="1">
            <a:off x="3905881" y="2783605"/>
            <a:ext cx="266885" cy="62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558371C1-D75D-4DD5-8522-8E5FC8A5BDB4}"/>
              </a:ext>
            </a:extLst>
          </p:cNvPr>
          <p:cNvCxnSpPr>
            <a:cxnSpLocks/>
            <a:endCxn id="104" idx="5"/>
          </p:cNvCxnSpPr>
          <p:nvPr/>
        </p:nvCxnSpPr>
        <p:spPr>
          <a:xfrm flipV="1">
            <a:off x="4853211" y="2912819"/>
            <a:ext cx="206152" cy="312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04F61F05-B61A-4F22-B411-2576ACA8C4BB}"/>
              </a:ext>
            </a:extLst>
          </p:cNvPr>
          <p:cNvCxnSpPr/>
          <p:nvPr/>
        </p:nvCxnSpPr>
        <p:spPr>
          <a:xfrm flipV="1">
            <a:off x="5118114" y="2815368"/>
            <a:ext cx="185168" cy="8424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5BE1AE4B-65FF-4C60-B735-DDA83FCD98C9}"/>
              </a:ext>
            </a:extLst>
          </p:cNvPr>
          <p:cNvCxnSpPr>
            <a:cxnSpLocks/>
            <a:endCxn id="109" idx="2"/>
          </p:cNvCxnSpPr>
          <p:nvPr/>
        </p:nvCxnSpPr>
        <p:spPr>
          <a:xfrm flipV="1">
            <a:off x="6536794" y="2794031"/>
            <a:ext cx="174858" cy="43696"/>
          </a:xfrm>
          <a:prstGeom prst="line">
            <a:avLst/>
          </a:prstGeom>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A24B528C-8411-6BA8-7C78-901BE2263BAA}"/>
              </a:ext>
            </a:extLst>
          </p:cNvPr>
          <p:cNvSpPr txBox="1">
            <a:spLocks/>
          </p:cNvSpPr>
          <p:nvPr/>
        </p:nvSpPr>
        <p:spPr>
          <a:xfrm>
            <a:off x="7166583" y="68755"/>
            <a:ext cx="4791857" cy="994172"/>
          </a:xfrm>
          <a:prstGeom prst="rect">
            <a:avLst/>
          </a:prstGeom>
        </p:spPr>
        <p:txBody>
          <a:bodyPr vert="horz" lIns="91440" tIns="45720" rIns="91440" bIns="45720" rtlCol="1" anchor="ctr">
            <a:normAutofit/>
          </a:bodyPr>
          <a:lstStyle>
            <a:lvl1pPr algn="r" defTabSz="685800" rtl="1" eaLnBrk="1" latinLnBrk="0" hangingPunct="1">
              <a:lnSpc>
                <a:spcPct val="90000"/>
              </a:lnSpc>
              <a:spcBef>
                <a:spcPct val="0"/>
              </a:spcBef>
              <a:buNone/>
              <a:defRPr sz="3300" kern="1200">
                <a:solidFill>
                  <a:schemeClr val="tx1"/>
                </a:solidFill>
                <a:latin typeface="+mj-lt"/>
                <a:ea typeface="+mj-ea"/>
                <a:cs typeface="+mj-cs"/>
              </a:defRPr>
            </a:lvl1pPr>
          </a:lstStyle>
          <a:p>
            <a:r>
              <a:rPr lang="he-IL">
                <a:latin typeface="Arial" panose="020B0604020202020204" pitchFamily="34" charset="0"/>
                <a:cs typeface="Arial" panose="020B0604020202020204" pitchFamily="34" charset="0"/>
              </a:rPr>
              <a:t>היצע מצרפי- שאלה לדוגמא</a:t>
            </a:r>
            <a:endParaRPr lang="x-none" dirty="0">
              <a:latin typeface="Arial" panose="020B0604020202020204" pitchFamily="34" charset="0"/>
              <a:cs typeface="Arial" panose="020B0604020202020204" pitchFamily="34" charset="0"/>
            </a:endParaRPr>
          </a:p>
        </p:txBody>
      </p:sp>
      <p:sp>
        <p:nvSpPr>
          <p:cNvPr id="4" name="TextBox 91">
            <a:extLst>
              <a:ext uri="{FF2B5EF4-FFF2-40B4-BE49-F238E27FC236}">
                <a16:creationId xmlns:a16="http://schemas.microsoft.com/office/drawing/2014/main" id="{F52B288E-DB46-4135-1393-A0B6E43F2351}"/>
              </a:ext>
            </a:extLst>
          </p:cNvPr>
          <p:cNvSpPr txBox="1"/>
          <p:nvPr/>
        </p:nvSpPr>
        <p:spPr>
          <a:xfrm>
            <a:off x="5875060" y="1036563"/>
            <a:ext cx="1686827" cy="584775"/>
          </a:xfrm>
          <a:prstGeom prst="rect">
            <a:avLst/>
          </a:prstGeom>
          <a:noFill/>
        </p:spPr>
        <p:txBody>
          <a:bodyPr wrap="square" rtlCol="1">
            <a:spAutoFit/>
          </a:bodyPr>
          <a:lstStyle/>
          <a:p>
            <a:pPr algn="l" defTabSz="685800" rtl="0"/>
            <a:r>
              <a:rPr lang="en-US" sz="1600" dirty="0">
                <a:solidFill>
                  <a:prstClr val="black"/>
                </a:solidFill>
                <a:latin typeface="Perpetua"/>
              </a:rPr>
              <a:t>MC=</a:t>
            </a:r>
            <a:r>
              <a:rPr lang="en-US" sz="1600" dirty="0" err="1">
                <a:solidFill>
                  <a:prstClr val="black"/>
                </a:solidFill>
                <a:latin typeface="Perpetua"/>
              </a:rPr>
              <a:t>Px</a:t>
            </a:r>
            <a:br>
              <a:rPr lang="en-US" sz="1600" dirty="0">
                <a:solidFill>
                  <a:prstClr val="black"/>
                </a:solidFill>
                <a:latin typeface="Perpetua"/>
              </a:rPr>
            </a:br>
            <a:r>
              <a:rPr lang="en-US" sz="1600" b="1" dirty="0" err="1">
                <a:solidFill>
                  <a:prstClr val="black"/>
                </a:solidFill>
                <a:latin typeface="Perpetua"/>
              </a:rPr>
              <a:t>Px</a:t>
            </a:r>
            <a:r>
              <a:rPr lang="en-US" sz="1600" dirty="0">
                <a:solidFill>
                  <a:prstClr val="black"/>
                </a:solidFill>
                <a:latin typeface="Perpetua"/>
              </a:rPr>
              <a:t>=MC=</a:t>
            </a:r>
            <a:r>
              <a:rPr lang="en-US" sz="1600" b="1" dirty="0">
                <a:solidFill>
                  <a:prstClr val="black"/>
                </a:solidFill>
                <a:latin typeface="Perpetua"/>
              </a:rPr>
              <a:t>0.5X</a:t>
            </a:r>
            <a:endParaRPr lang="he-IL" sz="1600" b="1" dirty="0">
              <a:solidFill>
                <a:prstClr val="black"/>
              </a:solidFill>
              <a:latin typeface="Perpetua"/>
              <a:cs typeface="Aharoni" panose="02010803020104030203" pitchFamily="2" charset="-79"/>
            </a:endParaRPr>
          </a:p>
        </p:txBody>
      </p:sp>
    </p:spTree>
    <p:extLst>
      <p:ext uri="{BB962C8B-B14F-4D97-AF65-F5344CB8AC3E}">
        <p14:creationId xmlns:p14="http://schemas.microsoft.com/office/powerpoint/2010/main" val="2551113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92"/>
                                        </p:tgtEl>
                                        <p:attrNameLst>
                                          <p:attrName>style.visibility</p:attrName>
                                        </p:attrNameLst>
                                      </p:cBhvr>
                                      <p:to>
                                        <p:strVal val="visible"/>
                                      </p:to>
                                    </p:set>
                                    <p:animEffect transition="in" filter="wipe(down)">
                                      <p:cBhvr>
                                        <p:cTn id="42" dur="500"/>
                                        <p:tgtEl>
                                          <p:spTgt spid="92"/>
                                        </p:tgtEl>
                                      </p:cBhvr>
                                    </p:animEffect>
                                  </p:childTnLst>
                                </p:cTn>
                              </p:par>
                              <p:par>
                                <p:cTn id="43" presetID="10"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51"/>
                                        </p:tgtEl>
                                        <p:attrNameLst>
                                          <p:attrName>style.visibility</p:attrName>
                                        </p:attrNameLst>
                                      </p:cBhvr>
                                      <p:to>
                                        <p:strVal val="visible"/>
                                      </p:to>
                                    </p:set>
                                    <p:animEffect transition="in" filter="fade">
                                      <p:cBhvr>
                                        <p:cTn id="48" dur="500"/>
                                        <p:tgtEl>
                                          <p:spTgt spid="5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animEffect transition="in" filter="fade">
                                      <p:cBhvr>
                                        <p:cTn id="51" dur="500"/>
                                        <p:tgtEl>
                                          <p:spTgt spid="48"/>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42"/>
                                        </p:tgtEl>
                                        <p:attrNameLst>
                                          <p:attrName>style.visibility</p:attrName>
                                        </p:attrNameLst>
                                      </p:cBhvr>
                                      <p:to>
                                        <p:strVal val="visible"/>
                                      </p:to>
                                    </p:set>
                                  </p:childTnLst>
                                </p:cTn>
                              </p:par>
                              <p:par>
                                <p:cTn id="56" presetID="10" presetClass="entr" presetSubtype="0" fill="hold" grpId="0" nodeType="with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fade">
                                      <p:cBhvr>
                                        <p:cTn id="58" dur="500"/>
                                        <p:tgtEl>
                                          <p:spTgt spid="43"/>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5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4"/>
                                        </p:tgtEl>
                                        <p:attrNameLst>
                                          <p:attrName>style.visibility</p:attrName>
                                        </p:attrNameLst>
                                      </p:cBhvr>
                                      <p:to>
                                        <p:strVal val="visible"/>
                                      </p:to>
                                    </p:set>
                                    <p:animEffect transition="in" filter="wipe(down)">
                                      <p:cBhvr>
                                        <p:cTn id="73" dur="500"/>
                                        <p:tgtEl>
                                          <p:spTgt spid="4"/>
                                        </p:tgtEl>
                                      </p:cBhvr>
                                    </p:animEffect>
                                  </p:childTnLst>
                                </p:cTn>
                              </p:par>
                              <p:par>
                                <p:cTn id="74" presetID="1" presetClass="entr" presetSubtype="0" fill="hold" grpId="0" nodeType="withEffect">
                                  <p:stCondLst>
                                    <p:cond delay="0"/>
                                  </p:stCondLst>
                                  <p:childTnLst>
                                    <p:set>
                                      <p:cBhvr>
                                        <p:cTn id="75" dur="1" fill="hold">
                                          <p:stCondLst>
                                            <p:cond delay="0"/>
                                          </p:stCondLst>
                                        </p:cTn>
                                        <p:tgtEl>
                                          <p:spTgt spid="3"/>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59"/>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60"/>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61"/>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62"/>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63"/>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64"/>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65"/>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66"/>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67"/>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76"/>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68"/>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69"/>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70"/>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71"/>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72"/>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73"/>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74"/>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75"/>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77"/>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90"/>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78"/>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79"/>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grpId="0" nodeType="clickEffect">
                                  <p:stCondLst>
                                    <p:cond delay="0"/>
                                  </p:stCondLst>
                                  <p:childTnLst>
                                    <p:set>
                                      <p:cBhvr>
                                        <p:cTn id="145" dur="1" fill="hold">
                                          <p:stCondLst>
                                            <p:cond delay="0"/>
                                          </p:stCondLst>
                                        </p:cTn>
                                        <p:tgtEl>
                                          <p:spTgt spid="80"/>
                                        </p:tgtEl>
                                        <p:attrNameLst>
                                          <p:attrName>style.visibility</p:attrName>
                                        </p:attrNameLst>
                                      </p:cBhvr>
                                      <p:to>
                                        <p:strVal val="visible"/>
                                      </p:to>
                                    </p:set>
                                  </p:childTnLst>
                                </p:cTn>
                              </p:par>
                              <p:par>
                                <p:cTn id="146" presetID="1" presetClass="entr" presetSubtype="0" fill="hold" grpId="0" nodeType="withEffect">
                                  <p:stCondLst>
                                    <p:cond delay="0"/>
                                  </p:stCondLst>
                                  <p:childTnLst>
                                    <p:set>
                                      <p:cBhvr>
                                        <p:cTn id="147" dur="1" fill="hold">
                                          <p:stCondLst>
                                            <p:cond delay="0"/>
                                          </p:stCondLst>
                                        </p:cTn>
                                        <p:tgtEl>
                                          <p:spTgt spid="81"/>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0" nodeType="clickEffect">
                                  <p:stCondLst>
                                    <p:cond delay="0"/>
                                  </p:stCondLst>
                                  <p:childTnLst>
                                    <p:set>
                                      <p:cBhvr>
                                        <p:cTn id="151" dur="1" fill="hold">
                                          <p:stCondLst>
                                            <p:cond delay="0"/>
                                          </p:stCondLst>
                                        </p:cTn>
                                        <p:tgtEl>
                                          <p:spTgt spid="82"/>
                                        </p:tgtEl>
                                        <p:attrNameLst>
                                          <p:attrName>style.visibility</p:attrName>
                                        </p:attrNameLst>
                                      </p:cBhvr>
                                      <p:to>
                                        <p:strVal val="visible"/>
                                      </p:to>
                                    </p:set>
                                  </p:childTnLst>
                                </p:cTn>
                              </p:par>
                              <p:par>
                                <p:cTn id="152" presetID="1" presetClass="entr" presetSubtype="0" fill="hold" grpId="0" nodeType="withEffect">
                                  <p:stCondLst>
                                    <p:cond delay="0"/>
                                  </p:stCondLst>
                                  <p:childTnLst>
                                    <p:set>
                                      <p:cBhvr>
                                        <p:cTn id="153" dur="1" fill="hold">
                                          <p:stCondLst>
                                            <p:cond delay="0"/>
                                          </p:stCondLst>
                                        </p:cTn>
                                        <p:tgtEl>
                                          <p:spTgt spid="83"/>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nodeType="clickEffect">
                                  <p:stCondLst>
                                    <p:cond delay="0"/>
                                  </p:stCondLst>
                                  <p:childTnLst>
                                    <p:set>
                                      <p:cBhvr>
                                        <p:cTn id="157" dur="1" fill="hold">
                                          <p:stCondLst>
                                            <p:cond delay="0"/>
                                          </p:stCondLst>
                                        </p:cTn>
                                        <p:tgtEl>
                                          <p:spTgt spid="7"/>
                                        </p:tgtEl>
                                        <p:attrNameLst>
                                          <p:attrName>style.visibility</p:attrName>
                                        </p:attrNameLst>
                                      </p:cBhvr>
                                      <p:to>
                                        <p:strVal val="visible"/>
                                      </p:to>
                                    </p:set>
                                    <p:animEffect transition="in" filter="fade">
                                      <p:cBhvr>
                                        <p:cTn id="158" dur="500"/>
                                        <p:tgtEl>
                                          <p:spTgt spid="7"/>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nodeType="clickEffect">
                                  <p:stCondLst>
                                    <p:cond delay="0"/>
                                  </p:stCondLst>
                                  <p:childTnLst>
                                    <p:set>
                                      <p:cBhvr>
                                        <p:cTn id="162" dur="1" fill="hold">
                                          <p:stCondLst>
                                            <p:cond delay="0"/>
                                          </p:stCondLst>
                                        </p:cTn>
                                        <p:tgtEl>
                                          <p:spTgt spid="87"/>
                                        </p:tgtEl>
                                        <p:attrNameLst>
                                          <p:attrName>style.visibility</p:attrName>
                                        </p:attrNameLst>
                                      </p:cBhvr>
                                      <p:to>
                                        <p:strVal val="visible"/>
                                      </p:to>
                                    </p:set>
                                    <p:animEffect transition="in" filter="fade">
                                      <p:cBhvr>
                                        <p:cTn id="163" dur="500"/>
                                        <p:tgtEl>
                                          <p:spTgt spid="87"/>
                                        </p:tgtEl>
                                      </p:cBhvr>
                                    </p:animEffect>
                                  </p:childTnLst>
                                </p:cTn>
                              </p:par>
                            </p:childTnLst>
                          </p:cTn>
                        </p:par>
                      </p:childTnLst>
                    </p:cTn>
                  </p:par>
                  <p:par>
                    <p:cTn id="164" fill="hold">
                      <p:stCondLst>
                        <p:cond delay="indefinite"/>
                      </p:stCondLst>
                      <p:childTnLst>
                        <p:par>
                          <p:cTn id="165" fill="hold">
                            <p:stCondLst>
                              <p:cond delay="0"/>
                            </p:stCondLst>
                            <p:childTnLst>
                              <p:par>
                                <p:cTn id="166" presetID="10" presetClass="entr" presetSubtype="0" fill="hold" nodeType="clickEffect">
                                  <p:stCondLst>
                                    <p:cond delay="0"/>
                                  </p:stCondLst>
                                  <p:childTnLst>
                                    <p:set>
                                      <p:cBhvr>
                                        <p:cTn id="167" dur="1" fill="hold">
                                          <p:stCondLst>
                                            <p:cond delay="0"/>
                                          </p:stCondLst>
                                        </p:cTn>
                                        <p:tgtEl>
                                          <p:spTgt spid="84"/>
                                        </p:tgtEl>
                                        <p:attrNameLst>
                                          <p:attrName>style.visibility</p:attrName>
                                        </p:attrNameLst>
                                      </p:cBhvr>
                                      <p:to>
                                        <p:strVal val="visible"/>
                                      </p:to>
                                    </p:set>
                                    <p:animEffect transition="in" filter="fade">
                                      <p:cBhvr>
                                        <p:cTn id="168" dur="500"/>
                                        <p:tgtEl>
                                          <p:spTgt spid="84"/>
                                        </p:tgtEl>
                                      </p:cBhvr>
                                    </p:animEffect>
                                  </p:childTnLst>
                                </p:cTn>
                              </p:par>
                            </p:childTnLst>
                          </p:cTn>
                        </p:par>
                      </p:childTnLst>
                    </p:cTn>
                  </p:par>
                  <p:par>
                    <p:cTn id="169" fill="hold">
                      <p:stCondLst>
                        <p:cond delay="indefinite"/>
                      </p:stCondLst>
                      <p:childTnLst>
                        <p:par>
                          <p:cTn id="170" fill="hold">
                            <p:stCondLst>
                              <p:cond delay="0"/>
                            </p:stCondLst>
                            <p:childTnLst>
                              <p:par>
                                <p:cTn id="171" presetID="10" presetClass="entr" presetSubtype="0" fill="hold" nodeType="clickEffect">
                                  <p:stCondLst>
                                    <p:cond delay="0"/>
                                  </p:stCondLst>
                                  <p:childTnLst>
                                    <p:set>
                                      <p:cBhvr>
                                        <p:cTn id="172" dur="1" fill="hold">
                                          <p:stCondLst>
                                            <p:cond delay="0"/>
                                          </p:stCondLst>
                                        </p:cTn>
                                        <p:tgtEl>
                                          <p:spTgt spid="85"/>
                                        </p:tgtEl>
                                        <p:attrNameLst>
                                          <p:attrName>style.visibility</p:attrName>
                                        </p:attrNameLst>
                                      </p:cBhvr>
                                      <p:to>
                                        <p:strVal val="visible"/>
                                      </p:to>
                                    </p:set>
                                    <p:animEffect transition="in" filter="fade">
                                      <p:cBhvr>
                                        <p:cTn id="173" dur="500"/>
                                        <p:tgtEl>
                                          <p:spTgt spid="85"/>
                                        </p:tgtEl>
                                      </p:cBhvr>
                                    </p:animEffect>
                                  </p:childTnLst>
                                </p:cTn>
                              </p:par>
                            </p:childTnLst>
                          </p:cTn>
                        </p:par>
                      </p:childTnLst>
                    </p:cTn>
                  </p:par>
                  <p:par>
                    <p:cTn id="174" fill="hold">
                      <p:stCondLst>
                        <p:cond delay="indefinite"/>
                      </p:stCondLst>
                      <p:childTnLst>
                        <p:par>
                          <p:cTn id="175" fill="hold">
                            <p:stCondLst>
                              <p:cond delay="0"/>
                            </p:stCondLst>
                            <p:childTnLst>
                              <p:par>
                                <p:cTn id="176" presetID="10" presetClass="entr" presetSubtype="0" fill="hold" nodeType="clickEffect">
                                  <p:stCondLst>
                                    <p:cond delay="0"/>
                                  </p:stCondLst>
                                  <p:childTnLst>
                                    <p:set>
                                      <p:cBhvr>
                                        <p:cTn id="177" dur="1" fill="hold">
                                          <p:stCondLst>
                                            <p:cond delay="0"/>
                                          </p:stCondLst>
                                        </p:cTn>
                                        <p:tgtEl>
                                          <p:spTgt spid="86"/>
                                        </p:tgtEl>
                                        <p:attrNameLst>
                                          <p:attrName>style.visibility</p:attrName>
                                        </p:attrNameLst>
                                      </p:cBhvr>
                                      <p:to>
                                        <p:strVal val="visible"/>
                                      </p:to>
                                    </p:set>
                                    <p:animEffect transition="in" filter="fade">
                                      <p:cBhvr>
                                        <p:cTn id="178" dur="500"/>
                                        <p:tgtEl>
                                          <p:spTgt spid="86"/>
                                        </p:tgtEl>
                                      </p:cBhvr>
                                    </p:animEffect>
                                  </p:childTnLst>
                                </p:cTn>
                              </p:par>
                            </p:childTnLst>
                          </p:cTn>
                        </p:par>
                      </p:childTnLst>
                    </p:cTn>
                  </p:par>
                  <p:par>
                    <p:cTn id="179" fill="hold">
                      <p:stCondLst>
                        <p:cond delay="indefinite"/>
                      </p:stCondLst>
                      <p:childTnLst>
                        <p:par>
                          <p:cTn id="180" fill="hold">
                            <p:stCondLst>
                              <p:cond delay="0"/>
                            </p:stCondLst>
                            <p:childTnLst>
                              <p:par>
                                <p:cTn id="181" presetID="10" presetClass="entr" presetSubtype="0" fill="hold" nodeType="clickEffect">
                                  <p:stCondLst>
                                    <p:cond delay="0"/>
                                  </p:stCondLst>
                                  <p:childTnLst>
                                    <p:set>
                                      <p:cBhvr>
                                        <p:cTn id="182" dur="1" fill="hold">
                                          <p:stCondLst>
                                            <p:cond delay="0"/>
                                          </p:stCondLst>
                                        </p:cTn>
                                        <p:tgtEl>
                                          <p:spTgt spid="88"/>
                                        </p:tgtEl>
                                        <p:attrNameLst>
                                          <p:attrName>style.visibility</p:attrName>
                                        </p:attrNameLst>
                                      </p:cBhvr>
                                      <p:to>
                                        <p:strVal val="visible"/>
                                      </p:to>
                                    </p:set>
                                    <p:animEffect transition="in" filter="fade">
                                      <p:cBhvr>
                                        <p:cTn id="183" dur="500"/>
                                        <p:tgtEl>
                                          <p:spTgt spid="88"/>
                                        </p:tgtEl>
                                      </p:cBhvr>
                                    </p:animEffect>
                                  </p:childTnLst>
                                </p:cTn>
                              </p:par>
                            </p:childTnLst>
                          </p:cTn>
                        </p:par>
                      </p:childTnLst>
                    </p:cTn>
                  </p:par>
                  <p:par>
                    <p:cTn id="184" fill="hold">
                      <p:stCondLst>
                        <p:cond delay="indefinite"/>
                      </p:stCondLst>
                      <p:childTnLst>
                        <p:par>
                          <p:cTn id="185" fill="hold">
                            <p:stCondLst>
                              <p:cond delay="0"/>
                            </p:stCondLst>
                            <p:childTnLst>
                              <p:par>
                                <p:cTn id="186" presetID="10" presetClass="entr" presetSubtype="0" fill="hold" nodeType="clickEffect">
                                  <p:stCondLst>
                                    <p:cond delay="0"/>
                                  </p:stCondLst>
                                  <p:childTnLst>
                                    <p:set>
                                      <p:cBhvr>
                                        <p:cTn id="187" dur="1" fill="hold">
                                          <p:stCondLst>
                                            <p:cond delay="0"/>
                                          </p:stCondLst>
                                        </p:cTn>
                                        <p:tgtEl>
                                          <p:spTgt spid="89"/>
                                        </p:tgtEl>
                                        <p:attrNameLst>
                                          <p:attrName>style.visibility</p:attrName>
                                        </p:attrNameLst>
                                      </p:cBhvr>
                                      <p:to>
                                        <p:strVal val="visible"/>
                                      </p:to>
                                    </p:set>
                                    <p:animEffect transition="in" filter="fade">
                                      <p:cBhvr>
                                        <p:cTn id="188" dur="500"/>
                                        <p:tgtEl>
                                          <p:spTgt spid="89"/>
                                        </p:tgtEl>
                                      </p:cBhvr>
                                    </p:animEffec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0" nodeType="clickEffect">
                                  <p:stCondLst>
                                    <p:cond delay="0"/>
                                  </p:stCondLst>
                                  <p:childTnLst>
                                    <p:set>
                                      <p:cBhvr>
                                        <p:cTn id="192" dur="1" fill="hold">
                                          <p:stCondLst>
                                            <p:cond delay="0"/>
                                          </p:stCondLst>
                                        </p:cTn>
                                        <p:tgtEl>
                                          <p:spTgt spid="94"/>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grpId="0" nodeType="clickEffect">
                                  <p:stCondLst>
                                    <p:cond delay="0"/>
                                  </p:stCondLst>
                                  <p:childTnLst>
                                    <p:set>
                                      <p:cBhvr>
                                        <p:cTn id="196" dur="1" fill="hold">
                                          <p:stCondLst>
                                            <p:cond delay="0"/>
                                          </p:stCondLst>
                                        </p:cTn>
                                        <p:tgtEl>
                                          <p:spTgt spid="95"/>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96"/>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97"/>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grpId="0" nodeType="clickEffect">
                                  <p:stCondLst>
                                    <p:cond delay="0"/>
                                  </p:stCondLst>
                                  <p:childTnLst>
                                    <p:set>
                                      <p:cBhvr>
                                        <p:cTn id="206" dur="1" fill="hold">
                                          <p:stCondLst>
                                            <p:cond delay="0"/>
                                          </p:stCondLst>
                                        </p:cTn>
                                        <p:tgtEl>
                                          <p:spTgt spid="98"/>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99"/>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ID="1" presetClass="entr" presetSubtype="0" fill="hold" grpId="0" nodeType="clickEffect">
                                  <p:stCondLst>
                                    <p:cond delay="0"/>
                                  </p:stCondLst>
                                  <p:childTnLst>
                                    <p:set>
                                      <p:cBhvr>
                                        <p:cTn id="212" dur="1" fill="hold">
                                          <p:stCondLst>
                                            <p:cond delay="0"/>
                                          </p:stCondLst>
                                        </p:cTn>
                                        <p:tgtEl>
                                          <p:spTgt spid="100"/>
                                        </p:tgtEl>
                                        <p:attrNameLst>
                                          <p:attrName>style.visibility</p:attrName>
                                        </p:attrNameLst>
                                      </p:cBhvr>
                                      <p:to>
                                        <p:strVal val="visible"/>
                                      </p:to>
                                    </p:set>
                                  </p:childTnLst>
                                </p:cTn>
                              </p:par>
                            </p:childTnLst>
                          </p:cTn>
                        </p:par>
                      </p:childTnLst>
                    </p:cTn>
                  </p:par>
                  <p:par>
                    <p:cTn id="213" fill="hold">
                      <p:stCondLst>
                        <p:cond delay="indefinite"/>
                      </p:stCondLst>
                      <p:childTnLst>
                        <p:par>
                          <p:cTn id="214" fill="hold">
                            <p:stCondLst>
                              <p:cond delay="0"/>
                            </p:stCondLst>
                            <p:childTnLst>
                              <p:par>
                                <p:cTn id="215" presetID="1" presetClass="entr" presetSubtype="0" fill="hold" grpId="0" nodeType="clickEffect">
                                  <p:stCondLst>
                                    <p:cond delay="0"/>
                                  </p:stCondLst>
                                  <p:childTnLst>
                                    <p:set>
                                      <p:cBhvr>
                                        <p:cTn id="216" dur="1" fill="hold">
                                          <p:stCondLst>
                                            <p:cond delay="0"/>
                                          </p:stCondLst>
                                        </p:cTn>
                                        <p:tgtEl>
                                          <p:spTgt spid="101"/>
                                        </p:tgtEl>
                                        <p:attrNameLst>
                                          <p:attrName>style.visibility</p:attrName>
                                        </p:attrNameLst>
                                      </p:cBhvr>
                                      <p:to>
                                        <p:strVal val="visible"/>
                                      </p:to>
                                    </p:set>
                                  </p:childTnLst>
                                </p:cTn>
                              </p:par>
                            </p:childTnLst>
                          </p:cTn>
                        </p:par>
                      </p:childTnLst>
                    </p:cTn>
                  </p:par>
                  <p:par>
                    <p:cTn id="217" fill="hold">
                      <p:stCondLst>
                        <p:cond delay="indefinite"/>
                      </p:stCondLst>
                      <p:childTnLst>
                        <p:par>
                          <p:cTn id="218" fill="hold">
                            <p:stCondLst>
                              <p:cond delay="0"/>
                            </p:stCondLst>
                            <p:childTnLst>
                              <p:par>
                                <p:cTn id="219" presetID="1" presetClass="entr" presetSubtype="0" fill="hold" grpId="0" nodeType="clickEffect">
                                  <p:stCondLst>
                                    <p:cond delay="0"/>
                                  </p:stCondLst>
                                  <p:childTnLst>
                                    <p:set>
                                      <p:cBhvr>
                                        <p:cTn id="220" dur="1" fill="hold">
                                          <p:stCondLst>
                                            <p:cond delay="0"/>
                                          </p:stCondLst>
                                        </p:cTn>
                                        <p:tgtEl>
                                          <p:spTgt spid="102"/>
                                        </p:tgtEl>
                                        <p:attrNameLst>
                                          <p:attrName>style.visibility</p:attrName>
                                        </p:attrNameLst>
                                      </p:cBhvr>
                                      <p:to>
                                        <p:strVal val="visible"/>
                                      </p:to>
                                    </p:set>
                                  </p:childTnLst>
                                </p:cTn>
                              </p:par>
                              <p:par>
                                <p:cTn id="221" presetID="1" presetClass="entr" presetSubtype="0" fill="hold" grpId="0" nodeType="withEffect">
                                  <p:stCondLst>
                                    <p:cond delay="0"/>
                                  </p:stCondLst>
                                  <p:childTnLst>
                                    <p:set>
                                      <p:cBhvr>
                                        <p:cTn id="222" dur="1" fill="hold">
                                          <p:stCondLst>
                                            <p:cond delay="0"/>
                                          </p:stCondLst>
                                        </p:cTn>
                                        <p:tgtEl>
                                          <p:spTgt spid="103"/>
                                        </p:tgtEl>
                                        <p:attrNameLst>
                                          <p:attrName>style.visibility</p:attrName>
                                        </p:attrNameLst>
                                      </p:cBhvr>
                                      <p:to>
                                        <p:strVal val="visible"/>
                                      </p:to>
                                    </p:set>
                                  </p:childTnLst>
                                </p:cTn>
                              </p:par>
                              <p:par>
                                <p:cTn id="223" presetID="1" presetClass="entr" presetSubtype="0" fill="hold" grpId="0" nodeType="withEffect">
                                  <p:stCondLst>
                                    <p:cond delay="0"/>
                                  </p:stCondLst>
                                  <p:childTnLst>
                                    <p:set>
                                      <p:cBhvr>
                                        <p:cTn id="224" dur="1" fill="hold">
                                          <p:stCondLst>
                                            <p:cond delay="0"/>
                                          </p:stCondLst>
                                        </p:cTn>
                                        <p:tgtEl>
                                          <p:spTgt spid="104"/>
                                        </p:tgtEl>
                                        <p:attrNameLst>
                                          <p:attrName>style.visibility</p:attrName>
                                        </p:attrNameLst>
                                      </p:cBhvr>
                                      <p:to>
                                        <p:strVal val="visible"/>
                                      </p:to>
                                    </p:set>
                                  </p:childTnLst>
                                </p:cTn>
                              </p:par>
                              <p:par>
                                <p:cTn id="225" presetID="1" presetClass="entr" presetSubtype="0" fill="hold" grpId="0" nodeType="withEffect">
                                  <p:stCondLst>
                                    <p:cond delay="0"/>
                                  </p:stCondLst>
                                  <p:childTnLst>
                                    <p:set>
                                      <p:cBhvr>
                                        <p:cTn id="226" dur="1" fill="hold">
                                          <p:stCondLst>
                                            <p:cond delay="0"/>
                                          </p:stCondLst>
                                        </p:cTn>
                                        <p:tgtEl>
                                          <p:spTgt spid="105"/>
                                        </p:tgtEl>
                                        <p:attrNameLst>
                                          <p:attrName>style.visibility</p:attrName>
                                        </p:attrNameLst>
                                      </p:cBhvr>
                                      <p:to>
                                        <p:strVal val="visible"/>
                                      </p:to>
                                    </p:set>
                                  </p:childTnLst>
                                </p:cTn>
                              </p:par>
                              <p:par>
                                <p:cTn id="227" presetID="1" presetClass="entr" presetSubtype="0" fill="hold" grpId="0" nodeType="withEffect">
                                  <p:stCondLst>
                                    <p:cond delay="0"/>
                                  </p:stCondLst>
                                  <p:childTnLst>
                                    <p:set>
                                      <p:cBhvr>
                                        <p:cTn id="228" dur="1" fill="hold">
                                          <p:stCondLst>
                                            <p:cond delay="0"/>
                                          </p:stCondLst>
                                        </p:cTn>
                                        <p:tgtEl>
                                          <p:spTgt spid="106"/>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107"/>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108"/>
                                        </p:tgtEl>
                                        <p:attrNameLst>
                                          <p:attrName>style.visibility</p:attrName>
                                        </p:attrNameLst>
                                      </p:cBhvr>
                                      <p:to>
                                        <p:strVal val="visible"/>
                                      </p:to>
                                    </p:set>
                                  </p:childTnLst>
                                </p:cTn>
                              </p:par>
                              <p:par>
                                <p:cTn id="233" presetID="1" presetClass="entr" presetSubtype="0" fill="hold" grpId="0" nodeType="withEffect">
                                  <p:stCondLst>
                                    <p:cond delay="0"/>
                                  </p:stCondLst>
                                  <p:childTnLst>
                                    <p:set>
                                      <p:cBhvr>
                                        <p:cTn id="234" dur="1" fill="hold">
                                          <p:stCondLst>
                                            <p:cond delay="0"/>
                                          </p:stCondLst>
                                        </p:cTn>
                                        <p:tgtEl>
                                          <p:spTgt spid="109"/>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110"/>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10" presetClass="entr" presetSubtype="0" fill="hold" nodeType="clickEffect">
                                  <p:stCondLst>
                                    <p:cond delay="0"/>
                                  </p:stCondLst>
                                  <p:childTnLst>
                                    <p:set>
                                      <p:cBhvr>
                                        <p:cTn id="240" dur="1" fill="hold">
                                          <p:stCondLst>
                                            <p:cond delay="0"/>
                                          </p:stCondLst>
                                        </p:cTn>
                                        <p:tgtEl>
                                          <p:spTgt spid="111"/>
                                        </p:tgtEl>
                                        <p:attrNameLst>
                                          <p:attrName>style.visibility</p:attrName>
                                        </p:attrNameLst>
                                      </p:cBhvr>
                                      <p:to>
                                        <p:strVal val="visible"/>
                                      </p:to>
                                    </p:set>
                                    <p:animEffect transition="in" filter="fade">
                                      <p:cBhvr>
                                        <p:cTn id="241" dur="500"/>
                                        <p:tgtEl>
                                          <p:spTgt spid="111"/>
                                        </p:tgtEl>
                                      </p:cBhvr>
                                    </p:animEffect>
                                  </p:childTnLst>
                                </p:cTn>
                              </p:par>
                            </p:childTnLst>
                          </p:cTn>
                        </p:par>
                      </p:childTnLst>
                    </p:cTn>
                  </p:par>
                  <p:par>
                    <p:cTn id="242" fill="hold">
                      <p:stCondLst>
                        <p:cond delay="indefinite"/>
                      </p:stCondLst>
                      <p:childTnLst>
                        <p:par>
                          <p:cTn id="243" fill="hold">
                            <p:stCondLst>
                              <p:cond delay="0"/>
                            </p:stCondLst>
                            <p:childTnLst>
                              <p:par>
                                <p:cTn id="244" presetID="10" presetClass="entr" presetSubtype="0" fill="hold" nodeType="clickEffect">
                                  <p:stCondLst>
                                    <p:cond delay="0"/>
                                  </p:stCondLst>
                                  <p:childTnLst>
                                    <p:set>
                                      <p:cBhvr>
                                        <p:cTn id="245" dur="1" fill="hold">
                                          <p:stCondLst>
                                            <p:cond delay="0"/>
                                          </p:stCondLst>
                                        </p:cTn>
                                        <p:tgtEl>
                                          <p:spTgt spid="112"/>
                                        </p:tgtEl>
                                        <p:attrNameLst>
                                          <p:attrName>style.visibility</p:attrName>
                                        </p:attrNameLst>
                                      </p:cBhvr>
                                      <p:to>
                                        <p:strVal val="visible"/>
                                      </p:to>
                                    </p:set>
                                    <p:animEffect transition="in" filter="fade">
                                      <p:cBhvr>
                                        <p:cTn id="246" dur="500"/>
                                        <p:tgtEl>
                                          <p:spTgt spid="112"/>
                                        </p:tgtEl>
                                      </p:cBhvr>
                                    </p:animEffect>
                                  </p:childTnLst>
                                </p:cTn>
                              </p:par>
                            </p:childTnLst>
                          </p:cTn>
                        </p:par>
                      </p:childTnLst>
                    </p:cTn>
                  </p:par>
                  <p:par>
                    <p:cTn id="247" fill="hold">
                      <p:stCondLst>
                        <p:cond delay="indefinite"/>
                      </p:stCondLst>
                      <p:childTnLst>
                        <p:par>
                          <p:cTn id="248" fill="hold">
                            <p:stCondLst>
                              <p:cond delay="0"/>
                            </p:stCondLst>
                            <p:childTnLst>
                              <p:par>
                                <p:cTn id="249" presetID="10" presetClass="entr" presetSubtype="0" fill="hold" nodeType="clickEffect">
                                  <p:stCondLst>
                                    <p:cond delay="0"/>
                                  </p:stCondLst>
                                  <p:childTnLst>
                                    <p:set>
                                      <p:cBhvr>
                                        <p:cTn id="250" dur="1" fill="hold">
                                          <p:stCondLst>
                                            <p:cond delay="0"/>
                                          </p:stCondLst>
                                        </p:cTn>
                                        <p:tgtEl>
                                          <p:spTgt spid="113"/>
                                        </p:tgtEl>
                                        <p:attrNameLst>
                                          <p:attrName>style.visibility</p:attrName>
                                        </p:attrNameLst>
                                      </p:cBhvr>
                                      <p:to>
                                        <p:strVal val="visible"/>
                                      </p:to>
                                    </p:set>
                                    <p:animEffect transition="in" filter="fade">
                                      <p:cBhvr>
                                        <p:cTn id="251" dur="500"/>
                                        <p:tgtEl>
                                          <p:spTgt spid="113"/>
                                        </p:tgtEl>
                                      </p:cBhvr>
                                    </p:animEffect>
                                  </p:childTnLst>
                                </p:cTn>
                              </p:par>
                            </p:childTnLst>
                          </p:cTn>
                        </p:par>
                      </p:childTnLst>
                    </p:cTn>
                  </p:par>
                  <p:par>
                    <p:cTn id="252" fill="hold">
                      <p:stCondLst>
                        <p:cond delay="indefinite"/>
                      </p:stCondLst>
                      <p:childTnLst>
                        <p:par>
                          <p:cTn id="253" fill="hold">
                            <p:stCondLst>
                              <p:cond delay="0"/>
                            </p:stCondLst>
                            <p:childTnLst>
                              <p:par>
                                <p:cTn id="254" presetID="10" presetClass="entr" presetSubtype="0" fill="hold" nodeType="clickEffect">
                                  <p:stCondLst>
                                    <p:cond delay="0"/>
                                  </p:stCondLst>
                                  <p:childTnLst>
                                    <p:set>
                                      <p:cBhvr>
                                        <p:cTn id="255" dur="1" fill="hold">
                                          <p:stCondLst>
                                            <p:cond delay="0"/>
                                          </p:stCondLst>
                                        </p:cTn>
                                        <p:tgtEl>
                                          <p:spTgt spid="114"/>
                                        </p:tgtEl>
                                        <p:attrNameLst>
                                          <p:attrName>style.visibility</p:attrName>
                                        </p:attrNameLst>
                                      </p:cBhvr>
                                      <p:to>
                                        <p:strVal val="visible"/>
                                      </p:to>
                                    </p:set>
                                    <p:animEffect transition="in" filter="fade">
                                      <p:cBhvr>
                                        <p:cTn id="256" dur="500"/>
                                        <p:tgtEl>
                                          <p:spTgt spid="114"/>
                                        </p:tgtEl>
                                      </p:cBhvr>
                                    </p:animEffect>
                                  </p:childTnLst>
                                </p:cTn>
                              </p:par>
                            </p:childTnLst>
                          </p:cTn>
                        </p:par>
                      </p:childTnLst>
                    </p:cTn>
                  </p:par>
                  <p:par>
                    <p:cTn id="257" fill="hold">
                      <p:stCondLst>
                        <p:cond delay="indefinite"/>
                      </p:stCondLst>
                      <p:childTnLst>
                        <p:par>
                          <p:cTn id="258" fill="hold">
                            <p:stCondLst>
                              <p:cond delay="0"/>
                            </p:stCondLst>
                            <p:childTnLst>
                              <p:par>
                                <p:cTn id="259" presetID="10" presetClass="entr" presetSubtype="0" fill="hold" nodeType="clickEffect">
                                  <p:stCondLst>
                                    <p:cond delay="0"/>
                                  </p:stCondLst>
                                  <p:childTnLst>
                                    <p:set>
                                      <p:cBhvr>
                                        <p:cTn id="260" dur="1" fill="hold">
                                          <p:stCondLst>
                                            <p:cond delay="0"/>
                                          </p:stCondLst>
                                        </p:cTn>
                                        <p:tgtEl>
                                          <p:spTgt spid="115"/>
                                        </p:tgtEl>
                                        <p:attrNameLst>
                                          <p:attrName>style.visibility</p:attrName>
                                        </p:attrNameLst>
                                      </p:cBhvr>
                                      <p:to>
                                        <p:strVal val="visible"/>
                                      </p:to>
                                    </p:set>
                                    <p:animEffect transition="in" filter="fade">
                                      <p:cBhvr>
                                        <p:cTn id="261" dur="500"/>
                                        <p:tgtEl>
                                          <p:spTgt spid="115"/>
                                        </p:tgtEl>
                                      </p:cBhvr>
                                    </p:animEffect>
                                  </p:childTnLst>
                                </p:cTn>
                              </p:par>
                            </p:childTnLst>
                          </p:cTn>
                        </p:par>
                      </p:childTnLst>
                    </p:cTn>
                  </p:par>
                  <p:par>
                    <p:cTn id="262" fill="hold">
                      <p:stCondLst>
                        <p:cond delay="indefinite"/>
                      </p:stCondLst>
                      <p:childTnLst>
                        <p:par>
                          <p:cTn id="263" fill="hold">
                            <p:stCondLst>
                              <p:cond delay="0"/>
                            </p:stCondLst>
                            <p:childTnLst>
                              <p:par>
                                <p:cTn id="264" presetID="10" presetClass="entr" presetSubtype="0" fill="hold" nodeType="clickEffect">
                                  <p:stCondLst>
                                    <p:cond delay="0"/>
                                  </p:stCondLst>
                                  <p:childTnLst>
                                    <p:set>
                                      <p:cBhvr>
                                        <p:cTn id="265" dur="1" fill="hold">
                                          <p:stCondLst>
                                            <p:cond delay="0"/>
                                          </p:stCondLst>
                                        </p:cTn>
                                        <p:tgtEl>
                                          <p:spTgt spid="116"/>
                                        </p:tgtEl>
                                        <p:attrNameLst>
                                          <p:attrName>style.visibility</p:attrName>
                                        </p:attrNameLst>
                                      </p:cBhvr>
                                      <p:to>
                                        <p:strVal val="visible"/>
                                      </p:to>
                                    </p:set>
                                    <p:animEffect transition="in" filter="fade">
                                      <p:cBhvr>
                                        <p:cTn id="266" dur="500"/>
                                        <p:tgtEl>
                                          <p:spTgt spid="116"/>
                                        </p:tgtEl>
                                      </p:cBhvr>
                                    </p:animEffect>
                                  </p:childTnLst>
                                </p:cTn>
                              </p:par>
                            </p:childTnLst>
                          </p:cTn>
                        </p:par>
                      </p:childTnLst>
                    </p:cTn>
                  </p:par>
                  <p:par>
                    <p:cTn id="267" fill="hold">
                      <p:stCondLst>
                        <p:cond delay="indefinite"/>
                      </p:stCondLst>
                      <p:childTnLst>
                        <p:par>
                          <p:cTn id="268" fill="hold">
                            <p:stCondLst>
                              <p:cond delay="0"/>
                            </p:stCondLst>
                            <p:childTnLst>
                              <p:par>
                                <p:cTn id="269" presetID="10" presetClass="entr" presetSubtype="0" fill="hold" nodeType="clickEffect">
                                  <p:stCondLst>
                                    <p:cond delay="0"/>
                                  </p:stCondLst>
                                  <p:childTnLst>
                                    <p:set>
                                      <p:cBhvr>
                                        <p:cTn id="270" dur="1" fill="hold">
                                          <p:stCondLst>
                                            <p:cond delay="0"/>
                                          </p:stCondLst>
                                        </p:cTn>
                                        <p:tgtEl>
                                          <p:spTgt spid="117"/>
                                        </p:tgtEl>
                                        <p:attrNameLst>
                                          <p:attrName>style.visibility</p:attrName>
                                        </p:attrNameLst>
                                      </p:cBhvr>
                                      <p:to>
                                        <p:strVal val="visible"/>
                                      </p:to>
                                    </p:set>
                                    <p:animEffect transition="in" filter="fade">
                                      <p:cBhvr>
                                        <p:cTn id="271"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44" grpId="0"/>
      <p:bldP spid="46" grpId="0"/>
      <p:bldP spid="48" grpId="0"/>
      <p:bldP spid="49" grpId="0"/>
      <p:bldP spid="50" grpId="0"/>
      <p:bldP spid="51" grpId="0"/>
      <p:bldP spid="52" grpId="0"/>
      <p:bldP spid="53" grpId="0"/>
      <p:bldP spid="54" grpId="0"/>
      <p:bldP spid="55" grpId="0"/>
      <p:bldP spid="42" grpId="0"/>
      <p:bldP spid="43" grpId="0" animBg="1"/>
      <p:bldP spid="3" grpId="0" animBg="1"/>
      <p:bldP spid="47" grpId="0"/>
      <p:bldP spid="59" grpId="0"/>
      <p:bldP spid="60" grpId="0" animBg="1"/>
      <p:bldP spid="61" grpId="0"/>
      <p:bldP spid="62" grpId="0" animBg="1"/>
      <p:bldP spid="63" grpId="0"/>
      <p:bldP spid="64" grpId="0" animBg="1"/>
      <p:bldP spid="65" grpId="0"/>
      <p:bldP spid="66" grpId="0"/>
      <p:bldP spid="67" grpId="0" animBg="1"/>
      <p:bldP spid="68" grpId="0"/>
      <p:bldP spid="69" grpId="0" animBg="1"/>
      <p:bldP spid="70" grpId="0"/>
      <p:bldP spid="71" grpId="0" animBg="1"/>
      <p:bldP spid="72" grpId="0"/>
      <p:bldP spid="73" grpId="0" animBg="1"/>
      <p:bldP spid="74" grpId="0"/>
      <p:bldP spid="75" grpId="0"/>
      <p:bldP spid="76" grpId="0"/>
      <p:bldP spid="77" grpId="0" animBg="1"/>
      <p:bldP spid="78" grpId="0"/>
      <p:bldP spid="79" grpId="0" animBg="1"/>
      <p:bldP spid="80" grpId="0"/>
      <p:bldP spid="81" grpId="0" animBg="1"/>
      <p:bldP spid="82" grpId="0"/>
      <p:bldP spid="83" grpId="0" animBg="1"/>
      <p:bldP spid="90" grpId="0"/>
      <p:bldP spid="92" grpId="0"/>
      <p:bldP spid="94" grpId="0"/>
      <p:bldP spid="95" grpId="0"/>
      <p:bldP spid="96" grpId="0"/>
      <p:bldP spid="97" grpId="0"/>
      <p:bldP spid="98" grpId="0"/>
      <p:bldP spid="99" grpId="0"/>
      <p:bldP spid="100" grpId="0"/>
      <p:bldP spid="101" grpId="0"/>
      <p:bldP spid="102" grpId="0"/>
      <p:bldP spid="103" grpId="0" animBg="1"/>
      <p:bldP spid="104" grpId="0" animBg="1"/>
      <p:bldP spid="105" grpId="0" animBg="1"/>
      <p:bldP spid="106" grpId="0" animBg="1"/>
      <p:bldP spid="107" grpId="0" animBg="1"/>
      <p:bldP spid="108" grpId="0" animBg="1"/>
      <p:bldP spid="109" grpId="0" animBg="1"/>
      <p:bldP spid="110" grpId="0" animBg="1"/>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55D2B-8F9C-4268-ADDD-84D9631C7940}"/>
              </a:ext>
            </a:extLst>
          </p:cNvPr>
          <p:cNvSpPr>
            <a:spLocks noGrp="1"/>
          </p:cNvSpPr>
          <p:nvPr>
            <p:ph type="title"/>
          </p:nvPr>
        </p:nvSpPr>
        <p:spPr>
          <a:xfrm>
            <a:off x="2295330" y="173717"/>
            <a:ext cx="7886700" cy="1325563"/>
          </a:xfrm>
        </p:spPr>
        <p:txBody>
          <a:bodyPr>
            <a:normAutofit/>
          </a:bodyPr>
          <a:lstStyle/>
          <a:p>
            <a:pPr algn="ctr"/>
            <a:r>
              <a:rPr lang="he-IL" sz="4800" dirty="0"/>
              <a:t>שיווי משקל בשוק המוצר </a:t>
            </a:r>
            <a:endParaRPr lang="en-IL" sz="4800" dirty="0"/>
          </a:p>
        </p:txBody>
      </p:sp>
      <p:sp>
        <p:nvSpPr>
          <p:cNvPr id="4" name="Date Placeholder 3">
            <a:extLst>
              <a:ext uri="{FF2B5EF4-FFF2-40B4-BE49-F238E27FC236}">
                <a16:creationId xmlns:a16="http://schemas.microsoft.com/office/drawing/2014/main" id="{388E612B-43E9-480D-9B48-5FB11E1BABE4}"/>
              </a:ext>
            </a:extLst>
          </p:cNvPr>
          <p:cNvSpPr>
            <a:spLocks noGrp="1"/>
          </p:cNvSpPr>
          <p:nvPr>
            <p:ph type="dt" sz="half" idx="10"/>
          </p:nvPr>
        </p:nvSpPr>
        <p:spPr/>
        <p:txBody>
          <a:bodyPr/>
          <a:lstStyle/>
          <a:p>
            <a:pPr rtl="0"/>
            <a:fld id="{A51C08A1-7307-4925-A0D4-80EF20A70151}" type="datetime8">
              <a:rPr lang="he-IL" smtClean="0">
                <a:solidFill>
                  <a:prstClr val="black">
                    <a:tint val="75000"/>
                  </a:prstClr>
                </a:solidFill>
                <a:latin typeface="Calibri" panose="020F0502020204030204"/>
                <a:cs typeface="Arial" panose="020B0604020202020204" pitchFamily="34" charset="0"/>
              </a:rPr>
              <a:t>09 ינואר 26</a:t>
            </a:fld>
            <a:endParaRPr lang="he-IL">
              <a:solidFill>
                <a:prstClr val="black">
                  <a:tint val="75000"/>
                </a:prstClr>
              </a:solidFill>
              <a:latin typeface="Calibri" panose="020F0502020204030204"/>
              <a:cs typeface="Arial" panose="020B0604020202020204" pitchFamily="34" charset="0"/>
            </a:endParaRPr>
          </a:p>
        </p:txBody>
      </p:sp>
      <p:sp>
        <p:nvSpPr>
          <p:cNvPr id="6" name="Slide Number Placeholder 5">
            <a:extLst>
              <a:ext uri="{FF2B5EF4-FFF2-40B4-BE49-F238E27FC236}">
                <a16:creationId xmlns:a16="http://schemas.microsoft.com/office/drawing/2014/main" id="{EAF9C19A-CAE6-4E8E-B0D2-30ACD23BBC90}"/>
              </a:ext>
            </a:extLst>
          </p:cNvPr>
          <p:cNvSpPr>
            <a:spLocks noGrp="1"/>
          </p:cNvSpPr>
          <p:nvPr>
            <p:ph type="sldNum" sz="quarter" idx="12"/>
          </p:nvPr>
        </p:nvSpPr>
        <p:spPr/>
        <p:txBody>
          <a:bodyPr/>
          <a:lstStyle/>
          <a:p>
            <a:pPr rtl="0"/>
            <a:fld id="{D69A981F-4466-4789-9E41-1885E502A96E}" type="slidenum">
              <a:rPr lang="he-IL">
                <a:solidFill>
                  <a:prstClr val="black">
                    <a:tint val="75000"/>
                  </a:prstClr>
                </a:solidFill>
                <a:latin typeface="Calibri" panose="020F0502020204030204"/>
                <a:cs typeface="Arial" panose="020B0604020202020204" pitchFamily="34" charset="0"/>
              </a:rPr>
              <a:pPr rtl="0"/>
              <a:t>25</a:t>
            </a:fld>
            <a:endParaRPr lang="he-IL">
              <a:solidFill>
                <a:prstClr val="black">
                  <a:tint val="75000"/>
                </a:prstClr>
              </a:solidFill>
              <a:latin typeface="Calibri" panose="020F0502020204030204"/>
              <a:cs typeface="Arial" panose="020B0604020202020204" pitchFamily="34" charset="0"/>
            </a:endParaRP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FB365D06-51B9-480B-8741-BA47ECE14D7A}"/>
                  </a:ext>
                </a:extLst>
              </p:cNvPr>
              <p:cNvSpPr/>
              <p:nvPr/>
            </p:nvSpPr>
            <p:spPr>
              <a:xfrm>
                <a:off x="838199" y="2568599"/>
                <a:ext cx="5078913" cy="515269"/>
              </a:xfrm>
              <a:prstGeom prst="rect">
                <a:avLst/>
              </a:prstGeom>
              <a:solidFill>
                <a:schemeClr val="accent2">
                  <a:lumMod val="20000"/>
                  <a:lumOff val="80000"/>
                </a:schemeClr>
              </a:solidFill>
            </p:spPr>
            <p:txBody>
              <a:bodyPr wrap="square">
                <a:spAutoFit/>
              </a:bodyPr>
              <a:lstStyle/>
              <a:p>
                <a:pPr>
                  <a:lnSpc>
                    <a:spcPct val="150000"/>
                  </a:lnSpc>
                </a:pPr>
                <a:r>
                  <a:rPr lang="he-IL" dirty="0">
                    <a:solidFill>
                      <a:prstClr val="black"/>
                    </a:solidFill>
                    <a:latin typeface="David" pitchFamily="34" charset="-79"/>
                    <a:cs typeface="David" pitchFamily="34" charset="-79"/>
                  </a:rPr>
                  <a:t>נסמן את הכמות המוצעת על ידי היצרנים ב- (</a:t>
                </a:r>
                <a14:m>
                  <m:oMath xmlns:m="http://schemas.openxmlformats.org/officeDocument/2006/math">
                    <m:sSup>
                      <m:sSupPr>
                        <m:ctrlPr>
                          <a:rPr lang="en-US" i="1">
                            <a:solidFill>
                              <a:prstClr val="black"/>
                            </a:solidFill>
                            <a:latin typeface="Cambria Math" panose="02040503050406030204" pitchFamily="18" charset="0"/>
                          </a:rPr>
                        </m:ctrlPr>
                      </m:sSupPr>
                      <m:e>
                        <m:r>
                          <m:rPr>
                            <m:nor/>
                          </m:rPr>
                          <a:rPr lang="en-US" dirty="0">
                            <a:solidFill>
                              <a:prstClr val="black"/>
                            </a:solidFill>
                            <a:latin typeface="Calibri"/>
                          </a:rPr>
                          <m:t>X</m:t>
                        </m:r>
                      </m:e>
                      <m:sup>
                        <m:r>
                          <a:rPr lang="en-US" i="1">
                            <a:solidFill>
                              <a:prstClr val="black"/>
                            </a:solidFill>
                            <a:latin typeface="Cambria Math" panose="02040503050406030204" pitchFamily="18" charset="0"/>
                          </a:rPr>
                          <m:t>𝑠</m:t>
                        </m:r>
                      </m:sup>
                    </m:sSup>
                  </m:oMath>
                </a14:m>
                <a:r>
                  <a:rPr lang="he-IL" dirty="0">
                    <a:solidFill>
                      <a:prstClr val="black"/>
                    </a:solidFill>
                    <a:latin typeface="David" pitchFamily="34" charset="-79"/>
                    <a:cs typeface="David" pitchFamily="34" charset="-79"/>
                  </a:rPr>
                  <a:t>)</a:t>
                </a:r>
              </a:p>
            </p:txBody>
          </p:sp>
        </mc:Choice>
        <mc:Fallback xmlns="">
          <p:sp>
            <p:nvSpPr>
              <p:cNvPr id="7" name="Rectangle 6">
                <a:extLst>
                  <a:ext uri="{FF2B5EF4-FFF2-40B4-BE49-F238E27FC236}">
                    <a16:creationId xmlns:a16="http://schemas.microsoft.com/office/drawing/2014/main" id="{FB365D06-51B9-480B-8741-BA47ECE14D7A}"/>
                  </a:ext>
                </a:extLst>
              </p:cNvPr>
              <p:cNvSpPr>
                <a:spLocks noRot="1" noChangeAspect="1" noMove="1" noResize="1" noEditPoints="1" noAdjustHandles="1" noChangeArrowheads="1" noChangeShapeType="1" noTextEdit="1"/>
              </p:cNvSpPr>
              <p:nvPr/>
            </p:nvSpPr>
            <p:spPr>
              <a:xfrm>
                <a:off x="838199" y="2568599"/>
                <a:ext cx="5078913" cy="515269"/>
              </a:xfrm>
              <a:prstGeom prst="rect">
                <a:avLst/>
              </a:prstGeom>
              <a:blipFill>
                <a:blip r:embed="rId2"/>
                <a:stretch>
                  <a:fillRect r="-959" b="-7059"/>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FA08FB5E-949F-483B-9C56-7E73C30EADB9}"/>
                  </a:ext>
                </a:extLst>
              </p:cNvPr>
              <p:cNvSpPr/>
              <p:nvPr/>
            </p:nvSpPr>
            <p:spPr>
              <a:xfrm>
                <a:off x="6621648" y="2568600"/>
                <a:ext cx="5078913" cy="515269"/>
              </a:xfrm>
              <a:prstGeom prst="rect">
                <a:avLst/>
              </a:prstGeom>
              <a:solidFill>
                <a:srgbClr val="F7DDF9"/>
              </a:solidFill>
            </p:spPr>
            <p:txBody>
              <a:bodyPr wrap="square">
                <a:spAutoFit/>
              </a:bodyPr>
              <a:lstStyle/>
              <a:p>
                <a:pPr>
                  <a:lnSpc>
                    <a:spcPct val="150000"/>
                  </a:lnSpc>
                </a:pPr>
                <a:r>
                  <a:rPr lang="he-IL" dirty="0">
                    <a:solidFill>
                      <a:prstClr val="black"/>
                    </a:solidFill>
                    <a:latin typeface="David" pitchFamily="34" charset="-79"/>
                    <a:cs typeface="David" pitchFamily="34" charset="-79"/>
                  </a:rPr>
                  <a:t>נסמן את הכמות המבוקשת על ידי הצרכנים ב- (</a:t>
                </a:r>
                <a14:m>
                  <m:oMath xmlns:m="http://schemas.openxmlformats.org/officeDocument/2006/math">
                    <m:sSup>
                      <m:sSupPr>
                        <m:ctrlPr>
                          <a:rPr lang="en-US" i="1">
                            <a:solidFill>
                              <a:prstClr val="black"/>
                            </a:solidFill>
                            <a:latin typeface="Cambria Math" panose="02040503050406030204" pitchFamily="18" charset="0"/>
                          </a:rPr>
                        </m:ctrlPr>
                      </m:sSupPr>
                      <m:e>
                        <m:r>
                          <m:rPr>
                            <m:nor/>
                          </m:rPr>
                          <a:rPr lang="en-US" dirty="0">
                            <a:solidFill>
                              <a:prstClr val="black"/>
                            </a:solidFill>
                            <a:latin typeface="Calibri"/>
                          </a:rPr>
                          <m:t>X</m:t>
                        </m:r>
                      </m:e>
                      <m:sup>
                        <m:r>
                          <a:rPr lang="en-US" i="1">
                            <a:solidFill>
                              <a:prstClr val="black"/>
                            </a:solidFill>
                            <a:latin typeface="Cambria Math" panose="02040503050406030204" pitchFamily="18" charset="0"/>
                          </a:rPr>
                          <m:t>𝑑</m:t>
                        </m:r>
                      </m:sup>
                    </m:sSup>
                  </m:oMath>
                </a14:m>
                <a:r>
                  <a:rPr lang="he-IL" dirty="0">
                    <a:solidFill>
                      <a:prstClr val="black"/>
                    </a:solidFill>
                    <a:latin typeface="David" pitchFamily="34" charset="-79"/>
                    <a:cs typeface="David" pitchFamily="34" charset="-79"/>
                  </a:rPr>
                  <a:t>)</a:t>
                </a:r>
              </a:p>
            </p:txBody>
          </p:sp>
        </mc:Choice>
        <mc:Fallback xmlns="">
          <p:sp>
            <p:nvSpPr>
              <p:cNvPr id="8" name="Rectangle 7">
                <a:extLst>
                  <a:ext uri="{FF2B5EF4-FFF2-40B4-BE49-F238E27FC236}">
                    <a16:creationId xmlns:a16="http://schemas.microsoft.com/office/drawing/2014/main" id="{FA08FB5E-949F-483B-9C56-7E73C30EADB9}"/>
                  </a:ext>
                </a:extLst>
              </p:cNvPr>
              <p:cNvSpPr>
                <a:spLocks noRot="1" noChangeAspect="1" noMove="1" noResize="1" noEditPoints="1" noAdjustHandles="1" noChangeArrowheads="1" noChangeShapeType="1" noTextEdit="1"/>
              </p:cNvSpPr>
              <p:nvPr/>
            </p:nvSpPr>
            <p:spPr>
              <a:xfrm>
                <a:off x="6621648" y="2568600"/>
                <a:ext cx="5078913" cy="515269"/>
              </a:xfrm>
              <a:prstGeom prst="rect">
                <a:avLst/>
              </a:prstGeom>
              <a:blipFill>
                <a:blip r:embed="rId3"/>
                <a:stretch>
                  <a:fillRect r="-1080" b="-8235"/>
                </a:stretch>
              </a:blipFill>
            </p:spPr>
            <p:txBody>
              <a:bodyPr/>
              <a:lstStyle/>
              <a:p>
                <a:r>
                  <a:rPr lang="he-IL">
                    <a:noFill/>
                  </a:rPr>
                  <a:t> </a:t>
                </a:r>
              </a:p>
            </p:txBody>
          </p:sp>
        </mc:Fallback>
      </mc:AlternateContent>
      <p:sp>
        <p:nvSpPr>
          <p:cNvPr id="9" name="Rectangle 8">
            <a:extLst>
              <a:ext uri="{FF2B5EF4-FFF2-40B4-BE49-F238E27FC236}">
                <a16:creationId xmlns:a16="http://schemas.microsoft.com/office/drawing/2014/main" id="{47D923A1-7C4B-485C-9DF4-DE4E95425E45}"/>
              </a:ext>
            </a:extLst>
          </p:cNvPr>
          <p:cNvSpPr/>
          <p:nvPr/>
        </p:nvSpPr>
        <p:spPr>
          <a:xfrm>
            <a:off x="6621649" y="1577839"/>
            <a:ext cx="5078913" cy="888705"/>
          </a:xfrm>
          <a:prstGeom prst="rect">
            <a:avLst/>
          </a:prstGeom>
          <a:solidFill>
            <a:srgbClr val="F7DDF9"/>
          </a:solidFill>
        </p:spPr>
        <p:txBody>
          <a:bodyPr wrap="square">
            <a:spAutoFit/>
          </a:bodyPr>
          <a:lstStyle/>
          <a:p>
            <a:pPr>
              <a:lnSpc>
                <a:spcPct val="150000"/>
              </a:lnSpc>
            </a:pPr>
            <a:r>
              <a:rPr lang="he-IL" b="1" dirty="0">
                <a:solidFill>
                  <a:prstClr val="black"/>
                </a:solidFill>
                <a:latin typeface="David" pitchFamily="34" charset="-79"/>
                <a:cs typeface="David" pitchFamily="34" charset="-79"/>
              </a:rPr>
              <a:t>עקומת הביקוש </a:t>
            </a:r>
            <a:r>
              <a:rPr lang="he-IL" dirty="0">
                <a:solidFill>
                  <a:prstClr val="black"/>
                </a:solidFill>
                <a:latin typeface="David" pitchFamily="34" charset="-79"/>
                <a:cs typeface="David" pitchFamily="34" charset="-79"/>
              </a:rPr>
              <a:t>(</a:t>
            </a:r>
            <a:r>
              <a:rPr lang="en-US" dirty="0">
                <a:solidFill>
                  <a:prstClr val="black"/>
                </a:solidFill>
                <a:latin typeface="David" pitchFamily="34" charset="-79"/>
                <a:cs typeface="David" pitchFamily="34" charset="-79"/>
              </a:rPr>
              <a:t>D</a:t>
            </a:r>
            <a:r>
              <a:rPr lang="he-IL" dirty="0">
                <a:solidFill>
                  <a:prstClr val="black"/>
                </a:solidFill>
                <a:latin typeface="David" pitchFamily="34" charset="-79"/>
                <a:cs typeface="David" pitchFamily="34" charset="-79"/>
              </a:rPr>
              <a:t>) מתארת את הכמות המבוקשת על ידי הצרכנים לכל מחיר ומחיר של המוצר. </a:t>
            </a:r>
          </a:p>
        </p:txBody>
      </p:sp>
      <p:sp>
        <p:nvSpPr>
          <p:cNvPr id="10" name="Rectangle 9">
            <a:extLst>
              <a:ext uri="{FF2B5EF4-FFF2-40B4-BE49-F238E27FC236}">
                <a16:creationId xmlns:a16="http://schemas.microsoft.com/office/drawing/2014/main" id="{B5BF18FE-9CA1-42C3-9E80-5424868B8BAB}"/>
              </a:ext>
            </a:extLst>
          </p:cNvPr>
          <p:cNvSpPr/>
          <p:nvPr/>
        </p:nvSpPr>
        <p:spPr>
          <a:xfrm>
            <a:off x="838200" y="1577839"/>
            <a:ext cx="5078913" cy="888705"/>
          </a:xfrm>
          <a:prstGeom prst="rect">
            <a:avLst/>
          </a:prstGeom>
          <a:solidFill>
            <a:schemeClr val="accent2">
              <a:lumMod val="20000"/>
              <a:lumOff val="80000"/>
            </a:schemeClr>
          </a:solidFill>
        </p:spPr>
        <p:txBody>
          <a:bodyPr wrap="square">
            <a:spAutoFit/>
          </a:bodyPr>
          <a:lstStyle/>
          <a:p>
            <a:pPr>
              <a:lnSpc>
                <a:spcPct val="150000"/>
              </a:lnSpc>
            </a:pPr>
            <a:r>
              <a:rPr lang="he-IL" b="1" dirty="0">
                <a:solidFill>
                  <a:prstClr val="black"/>
                </a:solidFill>
                <a:latin typeface="David" pitchFamily="34" charset="-79"/>
                <a:cs typeface="David" pitchFamily="34" charset="-79"/>
              </a:rPr>
              <a:t>עקומת ההיצע </a:t>
            </a:r>
            <a:r>
              <a:rPr lang="he-IL" dirty="0">
                <a:solidFill>
                  <a:prstClr val="black"/>
                </a:solidFill>
                <a:latin typeface="David" pitchFamily="34" charset="-79"/>
                <a:cs typeface="David" pitchFamily="34" charset="-79"/>
              </a:rPr>
              <a:t>(</a:t>
            </a:r>
            <a:r>
              <a:rPr lang="en-US" dirty="0">
                <a:solidFill>
                  <a:prstClr val="black"/>
                </a:solidFill>
                <a:latin typeface="David" pitchFamily="34" charset="-79"/>
                <a:cs typeface="David" pitchFamily="34" charset="-79"/>
              </a:rPr>
              <a:t>S</a:t>
            </a:r>
            <a:r>
              <a:rPr lang="he-IL" dirty="0">
                <a:solidFill>
                  <a:prstClr val="black"/>
                </a:solidFill>
                <a:latin typeface="David" pitchFamily="34" charset="-79"/>
                <a:cs typeface="David" pitchFamily="34" charset="-79"/>
              </a:rPr>
              <a:t>) מתארת את הכמות המוצעת (המיוצרת) על ידי היצרנים לכל מחיר ומחיר של המוצר. </a:t>
            </a:r>
          </a:p>
        </p:txBody>
      </p:sp>
      <p:sp>
        <p:nvSpPr>
          <p:cNvPr id="11" name="Rectangle 10">
            <a:extLst>
              <a:ext uri="{FF2B5EF4-FFF2-40B4-BE49-F238E27FC236}">
                <a16:creationId xmlns:a16="http://schemas.microsoft.com/office/drawing/2014/main" id="{5F3BE111-BB21-45DC-8565-218D487E98EF}"/>
              </a:ext>
            </a:extLst>
          </p:cNvPr>
          <p:cNvSpPr/>
          <p:nvPr/>
        </p:nvSpPr>
        <p:spPr>
          <a:xfrm>
            <a:off x="3734161" y="3821396"/>
            <a:ext cx="6841073" cy="923330"/>
          </a:xfrm>
          <a:prstGeom prst="rect">
            <a:avLst/>
          </a:prstGeom>
          <a:solidFill>
            <a:schemeClr val="accent1">
              <a:lumMod val="20000"/>
              <a:lumOff val="80000"/>
            </a:schemeClr>
          </a:solidFill>
        </p:spPr>
        <p:txBody>
          <a:bodyPr wrap="square">
            <a:spAutoFit/>
          </a:bodyPr>
          <a:lstStyle/>
          <a:p>
            <a:pPr>
              <a:lnSpc>
                <a:spcPct val="150000"/>
              </a:lnSpc>
            </a:pPr>
            <a:r>
              <a:rPr lang="he-IL" b="1" dirty="0">
                <a:solidFill>
                  <a:prstClr val="black"/>
                </a:solidFill>
                <a:latin typeface="David" pitchFamily="34" charset="-79"/>
                <a:cs typeface="David" pitchFamily="34" charset="-79"/>
              </a:rPr>
              <a:t>במפגש בין עקומת ההיצע (</a:t>
            </a:r>
            <a:r>
              <a:rPr lang="en-US" b="1" dirty="0">
                <a:solidFill>
                  <a:prstClr val="black"/>
                </a:solidFill>
                <a:latin typeface="David" pitchFamily="34" charset="-79"/>
                <a:cs typeface="David" pitchFamily="34" charset="-79"/>
              </a:rPr>
              <a:t>S</a:t>
            </a:r>
            <a:r>
              <a:rPr lang="he-IL" b="1" dirty="0">
                <a:solidFill>
                  <a:prstClr val="black"/>
                </a:solidFill>
                <a:latin typeface="David" pitchFamily="34" charset="-79"/>
                <a:cs typeface="David" pitchFamily="34" charset="-79"/>
              </a:rPr>
              <a:t>) לבין עקומת הביקוש </a:t>
            </a:r>
            <a:r>
              <a:rPr lang="he-IL" dirty="0">
                <a:solidFill>
                  <a:prstClr val="black"/>
                </a:solidFill>
                <a:latin typeface="David" pitchFamily="34" charset="-79"/>
                <a:cs typeface="David" pitchFamily="34" charset="-79"/>
              </a:rPr>
              <a:t>(</a:t>
            </a:r>
            <a:r>
              <a:rPr lang="en-US" dirty="0">
                <a:solidFill>
                  <a:prstClr val="black"/>
                </a:solidFill>
                <a:latin typeface="David" pitchFamily="34" charset="-79"/>
                <a:cs typeface="David" pitchFamily="34" charset="-79"/>
              </a:rPr>
              <a:t>D</a:t>
            </a:r>
            <a:r>
              <a:rPr lang="he-IL" dirty="0">
                <a:solidFill>
                  <a:prstClr val="black"/>
                </a:solidFill>
                <a:latin typeface="David" pitchFamily="34" charset="-79"/>
                <a:cs typeface="David" pitchFamily="34" charset="-79"/>
              </a:rPr>
              <a:t>) נוצרת </a:t>
            </a:r>
            <a:r>
              <a:rPr lang="he-IL" u="sng" dirty="0">
                <a:solidFill>
                  <a:prstClr val="black"/>
                </a:solidFill>
                <a:latin typeface="David" pitchFamily="34" charset="-79"/>
                <a:cs typeface="David" pitchFamily="34" charset="-79"/>
              </a:rPr>
              <a:t>נקודת שיווי משקל </a:t>
            </a:r>
            <a:r>
              <a:rPr lang="he-IL" dirty="0">
                <a:solidFill>
                  <a:prstClr val="black"/>
                </a:solidFill>
                <a:latin typeface="David" pitchFamily="34" charset="-79"/>
                <a:cs typeface="David" pitchFamily="34" charset="-79"/>
              </a:rPr>
              <a:t>(הכמות בשיווי המשקל והמחיר בשיווי משקל). </a:t>
            </a:r>
          </a:p>
        </p:txBody>
      </p:sp>
    </p:spTree>
    <p:extLst>
      <p:ext uri="{BB962C8B-B14F-4D97-AF65-F5344CB8AC3E}">
        <p14:creationId xmlns:p14="http://schemas.microsoft.com/office/powerpoint/2010/main" val="1611623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p:cTn id="15" dur="1000" fill="hold"/>
                                        <p:tgtEl>
                                          <p:spTgt spid="10"/>
                                        </p:tgtEl>
                                        <p:attrNameLst>
                                          <p:attrName>ppt_w</p:attrName>
                                        </p:attrNameLst>
                                      </p:cBhvr>
                                      <p:tavLst>
                                        <p:tav tm="0">
                                          <p:val>
                                            <p:fltVal val="0"/>
                                          </p:val>
                                        </p:tav>
                                        <p:tav tm="100000">
                                          <p:val>
                                            <p:strVal val="#ppt_w"/>
                                          </p:val>
                                        </p:tav>
                                      </p:tavLst>
                                    </p:anim>
                                    <p:anim calcmode="lin" valueType="num">
                                      <p:cBhvr>
                                        <p:cTn id="16" dur="1000" fill="hold"/>
                                        <p:tgtEl>
                                          <p:spTgt spid="10"/>
                                        </p:tgtEl>
                                        <p:attrNameLst>
                                          <p:attrName>ppt_h</p:attrName>
                                        </p:attrNameLst>
                                      </p:cBhvr>
                                      <p:tavLst>
                                        <p:tav tm="0">
                                          <p:val>
                                            <p:fltVal val="0"/>
                                          </p:val>
                                        </p:tav>
                                        <p:tav tm="100000">
                                          <p:val>
                                            <p:strVal val="#ppt_h"/>
                                          </p:val>
                                        </p:tav>
                                      </p:tavLst>
                                    </p:anim>
                                    <p:anim calcmode="lin" valueType="num">
                                      <p:cBhvr>
                                        <p:cTn id="17" dur="1000" fill="hold"/>
                                        <p:tgtEl>
                                          <p:spTgt spid="10"/>
                                        </p:tgtEl>
                                        <p:attrNameLst>
                                          <p:attrName>style.rotation</p:attrName>
                                        </p:attrNameLst>
                                      </p:cBhvr>
                                      <p:tavLst>
                                        <p:tav tm="0">
                                          <p:val>
                                            <p:fltVal val="90"/>
                                          </p:val>
                                        </p:tav>
                                        <p:tav tm="100000">
                                          <p:val>
                                            <p:fltVal val="0"/>
                                          </p:val>
                                        </p:tav>
                                      </p:tavLst>
                                    </p:anim>
                                    <p:animEffect transition="in" filter="fade">
                                      <p:cBhvr>
                                        <p:cTn id="18" dur="10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1000" fill="hold"/>
                                        <p:tgtEl>
                                          <p:spTgt spid="11"/>
                                        </p:tgtEl>
                                        <p:attrNameLst>
                                          <p:attrName>ppt_w</p:attrName>
                                        </p:attrNameLst>
                                      </p:cBhvr>
                                      <p:tavLst>
                                        <p:tav tm="0">
                                          <p:val>
                                            <p:fltVal val="0"/>
                                          </p:val>
                                        </p:tav>
                                        <p:tav tm="100000">
                                          <p:val>
                                            <p:strVal val="#ppt_w"/>
                                          </p:val>
                                        </p:tav>
                                      </p:tavLst>
                                    </p:anim>
                                    <p:anim calcmode="lin" valueType="num">
                                      <p:cBhvr>
                                        <p:cTn id="32" dur="1000" fill="hold"/>
                                        <p:tgtEl>
                                          <p:spTgt spid="11"/>
                                        </p:tgtEl>
                                        <p:attrNameLst>
                                          <p:attrName>ppt_h</p:attrName>
                                        </p:attrNameLst>
                                      </p:cBhvr>
                                      <p:tavLst>
                                        <p:tav tm="0">
                                          <p:val>
                                            <p:fltVal val="0"/>
                                          </p:val>
                                        </p:tav>
                                        <p:tav tm="100000">
                                          <p:val>
                                            <p:strVal val="#ppt_h"/>
                                          </p:val>
                                        </p:tav>
                                      </p:tavLst>
                                    </p:anim>
                                    <p:anim calcmode="lin" valueType="num">
                                      <p:cBhvr>
                                        <p:cTn id="33" dur="1000" fill="hold"/>
                                        <p:tgtEl>
                                          <p:spTgt spid="11"/>
                                        </p:tgtEl>
                                        <p:attrNameLst>
                                          <p:attrName>style.rotation</p:attrName>
                                        </p:attrNameLst>
                                      </p:cBhvr>
                                      <p:tavLst>
                                        <p:tav tm="0">
                                          <p:val>
                                            <p:fltVal val="90"/>
                                          </p:val>
                                        </p:tav>
                                        <p:tav tm="100000">
                                          <p:val>
                                            <p:fltVal val="0"/>
                                          </p:val>
                                        </p:tav>
                                      </p:tavLst>
                                    </p:anim>
                                    <p:animEffect transition="in" filter="fade">
                                      <p:cBhvr>
                                        <p:cTn id="3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438400" y="274638"/>
            <a:ext cx="7772400" cy="563562"/>
          </a:xfrm>
        </p:spPr>
        <p:txBody>
          <a:bodyPr>
            <a:normAutofit fontScale="90000"/>
          </a:bodyPr>
          <a:lstStyle/>
          <a:p>
            <a:pPr algn="ctr"/>
            <a:r>
              <a:rPr lang="he-IL" dirty="0"/>
              <a:t>שיווי משקל בשוק- שאלה 1</a:t>
            </a:r>
            <a:endParaRPr lang="en-US" dirty="0"/>
          </a:p>
        </p:txBody>
      </p:sp>
      <p:sp>
        <p:nvSpPr>
          <p:cNvPr id="50" name="Slide Number Placeholder 49">
            <a:extLst>
              <a:ext uri="{FF2B5EF4-FFF2-40B4-BE49-F238E27FC236}">
                <a16:creationId xmlns:a16="http://schemas.microsoft.com/office/drawing/2014/main" id="{EB9602C5-B812-497E-A9C6-B053ECE23F79}"/>
              </a:ext>
            </a:extLst>
          </p:cNvPr>
          <p:cNvSpPr>
            <a:spLocks noGrp="1"/>
          </p:cNvSpPr>
          <p:nvPr>
            <p:ph type="sldNum" sz="quarter" idx="12"/>
          </p:nvPr>
        </p:nvSpPr>
        <p:spPr/>
        <p:txBody>
          <a:bodyPr/>
          <a:lstStyle/>
          <a:p>
            <a:pPr rtl="0"/>
            <a:fld id="{EE4A799E-BCDC-47C4-95D4-74FB8914F55A}" type="slidenum">
              <a:rPr lang="en-US">
                <a:solidFill>
                  <a:prstClr val="black">
                    <a:tint val="75000"/>
                  </a:prstClr>
                </a:solidFill>
                <a:latin typeface="Calibri"/>
              </a:rPr>
              <a:pPr rtl="0"/>
              <a:t>26</a:t>
            </a:fld>
            <a:endParaRPr lang="en-US">
              <a:solidFill>
                <a:prstClr val="black">
                  <a:tint val="75000"/>
                </a:prstClr>
              </a:solidFill>
              <a:latin typeface="Calibri"/>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3B9F380B-FCE6-462B-82C6-AEBCA0E2BA36}"/>
                  </a:ext>
                </a:extLst>
              </p:cNvPr>
              <p:cNvSpPr/>
              <p:nvPr/>
            </p:nvSpPr>
            <p:spPr>
              <a:xfrm>
                <a:off x="5248901" y="876843"/>
                <a:ext cx="6717812" cy="1338828"/>
              </a:xfrm>
              <a:prstGeom prst="rect">
                <a:avLst/>
              </a:prstGeom>
            </p:spPr>
            <p:txBody>
              <a:bodyPr wrap="square">
                <a:spAutoFit/>
              </a:bodyPr>
              <a:lstStyle/>
              <a:p>
                <a:pPr>
                  <a:lnSpc>
                    <a:spcPct val="150000"/>
                  </a:lnSpc>
                </a:pPr>
                <a:r>
                  <a:rPr lang="he-IL" dirty="0">
                    <a:solidFill>
                      <a:prstClr val="black"/>
                    </a:solidFill>
                    <a:latin typeface="David" pitchFamily="34" charset="-79"/>
                    <a:cs typeface="David" pitchFamily="34" charset="-79"/>
                  </a:rPr>
                  <a:t>הביקוש המצרפי לאפרסקים במשק נתון ע"י </a:t>
                </a:r>
                <a14:m>
                  <m:oMath xmlns:m="http://schemas.openxmlformats.org/officeDocument/2006/math">
                    <m:sSub>
                      <m:sSubPr>
                        <m:ctrlPr>
                          <a:rPr lang="he-IL" b="1" i="1">
                            <a:solidFill>
                              <a:srgbClr val="7030A0"/>
                            </a:solidFill>
                            <a:latin typeface="Cambria Math" panose="02040503050406030204" pitchFamily="18" charset="0"/>
                            <a:cs typeface="David" pitchFamily="34" charset="-79"/>
                          </a:rPr>
                        </m:ctrlPr>
                      </m:sSubPr>
                      <m:e>
                        <m:r>
                          <a:rPr lang="en-US" b="1" i="1">
                            <a:solidFill>
                              <a:srgbClr val="7030A0"/>
                            </a:solidFill>
                            <a:latin typeface="Cambria Math"/>
                            <a:cs typeface="David" pitchFamily="34" charset="-79"/>
                          </a:rPr>
                          <m:t>𝑷</m:t>
                        </m:r>
                      </m:e>
                      <m:sub>
                        <m:r>
                          <a:rPr lang="en-US" b="1" i="1">
                            <a:solidFill>
                              <a:srgbClr val="7030A0"/>
                            </a:solidFill>
                            <a:latin typeface="Cambria Math"/>
                            <a:cs typeface="David" pitchFamily="34" charset="-79"/>
                          </a:rPr>
                          <m:t>𝑿</m:t>
                        </m:r>
                      </m:sub>
                    </m:sSub>
                    <m:r>
                      <a:rPr lang="en-US" b="1" i="1">
                        <a:solidFill>
                          <a:srgbClr val="7030A0"/>
                        </a:solidFill>
                        <a:latin typeface="Cambria Math"/>
                        <a:cs typeface="David" pitchFamily="34" charset="-79"/>
                      </a:rPr>
                      <m:t>=</m:t>
                    </m:r>
                    <m:r>
                      <a:rPr lang="en-US" b="1" i="1">
                        <a:solidFill>
                          <a:srgbClr val="7030A0"/>
                        </a:solidFill>
                        <a:latin typeface="Cambria Math"/>
                        <a:cs typeface="David" pitchFamily="34" charset="-79"/>
                      </a:rPr>
                      <m:t>𝟕𝟎𝟎</m:t>
                    </m:r>
                    <m:r>
                      <a:rPr lang="en-US" b="1" i="1">
                        <a:solidFill>
                          <a:srgbClr val="7030A0"/>
                        </a:solidFill>
                        <a:latin typeface="Cambria Math"/>
                        <a:cs typeface="David" pitchFamily="34" charset="-79"/>
                      </a:rPr>
                      <m:t>−</m:t>
                    </m:r>
                    <m:r>
                      <a:rPr lang="en-US" b="1" i="1">
                        <a:solidFill>
                          <a:srgbClr val="7030A0"/>
                        </a:solidFill>
                        <a:latin typeface="Cambria Math"/>
                        <a:cs typeface="David" pitchFamily="34" charset="-79"/>
                      </a:rPr>
                      <m:t>𝑿</m:t>
                    </m:r>
                  </m:oMath>
                </a14:m>
                <a:r>
                  <a:rPr lang="he-IL" dirty="0">
                    <a:solidFill>
                      <a:prstClr val="black"/>
                    </a:solidFill>
                    <a:latin typeface="David" pitchFamily="34" charset="-79"/>
                    <a:cs typeface="David" pitchFamily="34" charset="-79"/>
                  </a:rPr>
                  <a:t>, </a:t>
                </a:r>
                <a:br>
                  <a:rPr lang="en-US" dirty="0">
                    <a:solidFill>
                      <a:prstClr val="black"/>
                    </a:solidFill>
                    <a:latin typeface="David" pitchFamily="34" charset="-79"/>
                    <a:cs typeface="David" pitchFamily="34" charset="-79"/>
                  </a:rPr>
                </a:br>
                <a:r>
                  <a:rPr lang="he-IL" dirty="0">
                    <a:solidFill>
                      <a:prstClr val="black"/>
                    </a:solidFill>
                    <a:latin typeface="David" pitchFamily="34" charset="-79"/>
                    <a:cs typeface="David" pitchFamily="34" charset="-79"/>
                  </a:rPr>
                  <a:t>ההיצע המצרפי של האפרסקים נתון ע"י </a:t>
                </a:r>
                <a14:m>
                  <m:oMath xmlns:m="http://schemas.openxmlformats.org/officeDocument/2006/math">
                    <m:sSub>
                      <m:sSubPr>
                        <m:ctrlPr>
                          <a:rPr lang="he-IL" b="1" i="1">
                            <a:solidFill>
                              <a:srgbClr val="EEECE1">
                                <a:lumMod val="50000"/>
                              </a:srgbClr>
                            </a:solidFill>
                            <a:latin typeface="Cambria Math" panose="02040503050406030204" pitchFamily="18" charset="0"/>
                            <a:cs typeface="David" pitchFamily="34" charset="-79"/>
                          </a:rPr>
                        </m:ctrlPr>
                      </m:sSubPr>
                      <m:e>
                        <m:r>
                          <a:rPr lang="en-US" b="1" i="1">
                            <a:solidFill>
                              <a:srgbClr val="EEECE1">
                                <a:lumMod val="50000"/>
                              </a:srgbClr>
                            </a:solidFill>
                            <a:latin typeface="Cambria Math"/>
                            <a:cs typeface="David" pitchFamily="34" charset="-79"/>
                          </a:rPr>
                          <m:t>𝑷</m:t>
                        </m:r>
                      </m:e>
                      <m:sub>
                        <m:r>
                          <a:rPr lang="en-US" b="1" i="1">
                            <a:solidFill>
                              <a:srgbClr val="EEECE1">
                                <a:lumMod val="50000"/>
                              </a:srgbClr>
                            </a:solidFill>
                            <a:latin typeface="Cambria Math"/>
                            <a:cs typeface="David" pitchFamily="34" charset="-79"/>
                          </a:rPr>
                          <m:t>𝑿</m:t>
                        </m:r>
                      </m:sub>
                    </m:sSub>
                    <m:r>
                      <a:rPr lang="en-US" b="1" i="1">
                        <a:solidFill>
                          <a:srgbClr val="EEECE1">
                            <a:lumMod val="50000"/>
                          </a:srgbClr>
                        </a:solidFill>
                        <a:latin typeface="Cambria Math"/>
                        <a:cs typeface="David" pitchFamily="34" charset="-79"/>
                      </a:rPr>
                      <m:t>=</m:t>
                    </m:r>
                    <m:r>
                      <a:rPr lang="en-US" b="1" i="1">
                        <a:solidFill>
                          <a:srgbClr val="EEECE1">
                            <a:lumMod val="50000"/>
                          </a:srgbClr>
                        </a:solidFill>
                        <a:latin typeface="Cambria Math"/>
                        <a:cs typeface="David" pitchFamily="34" charset="-79"/>
                      </a:rPr>
                      <m:t>𝟏𝟎𝟎</m:t>
                    </m:r>
                    <m:r>
                      <a:rPr lang="en-US" b="1" i="1">
                        <a:solidFill>
                          <a:srgbClr val="EEECE1">
                            <a:lumMod val="50000"/>
                          </a:srgbClr>
                        </a:solidFill>
                        <a:latin typeface="Cambria Math"/>
                        <a:cs typeface="David" pitchFamily="34" charset="-79"/>
                      </a:rPr>
                      <m:t>+</m:t>
                    </m:r>
                    <m:r>
                      <a:rPr lang="en-US" b="1" i="1">
                        <a:solidFill>
                          <a:srgbClr val="EEECE1">
                            <a:lumMod val="50000"/>
                          </a:srgbClr>
                        </a:solidFill>
                        <a:latin typeface="Cambria Math"/>
                        <a:cs typeface="David" pitchFamily="34" charset="-79"/>
                      </a:rPr>
                      <m:t>𝑿</m:t>
                    </m:r>
                  </m:oMath>
                </a14:m>
                <a:r>
                  <a:rPr lang="he-IL" b="1" dirty="0">
                    <a:solidFill>
                      <a:srgbClr val="EEECE1">
                        <a:lumMod val="50000"/>
                      </a:srgbClr>
                    </a:solidFill>
                    <a:latin typeface="David" pitchFamily="34" charset="-79"/>
                    <a:cs typeface="David" pitchFamily="34" charset="-79"/>
                  </a:rPr>
                  <a:t> </a:t>
                </a:r>
                <a:endParaRPr lang="he-IL" b="1" dirty="0">
                  <a:solidFill>
                    <a:prstClr val="black"/>
                  </a:solidFill>
                  <a:latin typeface="David" pitchFamily="34" charset="-79"/>
                  <a:cs typeface="David" pitchFamily="34" charset="-79"/>
                </a:endParaRPr>
              </a:p>
              <a:p>
                <a:pPr>
                  <a:lnSpc>
                    <a:spcPct val="150000"/>
                  </a:lnSpc>
                </a:pPr>
                <a:r>
                  <a:rPr lang="he-IL" dirty="0">
                    <a:solidFill>
                      <a:prstClr val="black"/>
                    </a:solidFill>
                    <a:latin typeface="David" pitchFamily="34" charset="-79"/>
                    <a:cs typeface="David" pitchFamily="34" charset="-79"/>
                  </a:rPr>
                  <a:t>כאשר </a:t>
                </a:r>
                <a:r>
                  <a:rPr lang="en-US" dirty="0">
                    <a:solidFill>
                      <a:prstClr val="black"/>
                    </a:solidFill>
                    <a:latin typeface="David" pitchFamily="34" charset="-79"/>
                    <a:cs typeface="David" pitchFamily="34" charset="-79"/>
                  </a:rPr>
                  <a:t>X </a:t>
                </a:r>
                <a:r>
                  <a:rPr lang="he-IL" dirty="0">
                    <a:solidFill>
                      <a:prstClr val="black"/>
                    </a:solidFill>
                    <a:latin typeface="David" pitchFamily="34" charset="-79"/>
                    <a:cs typeface="David" pitchFamily="34" charset="-79"/>
                  </a:rPr>
                  <a:t> - כמות (טון) אפרסקים,  </a:t>
                </a:r>
                <a14:m>
                  <m:oMath xmlns:m="http://schemas.openxmlformats.org/officeDocument/2006/math">
                    <m:sSub>
                      <m:sSubPr>
                        <m:ctrlPr>
                          <a:rPr lang="he-IL" i="1">
                            <a:solidFill>
                              <a:prstClr val="black"/>
                            </a:solidFill>
                            <a:latin typeface="Cambria Math" panose="02040503050406030204" pitchFamily="18" charset="0"/>
                            <a:cs typeface="David" pitchFamily="34" charset="-79"/>
                          </a:rPr>
                        </m:ctrlPr>
                      </m:sSubPr>
                      <m:e>
                        <m:r>
                          <a:rPr lang="en-US" i="1">
                            <a:solidFill>
                              <a:prstClr val="black"/>
                            </a:solidFill>
                            <a:latin typeface="Cambria Math"/>
                            <a:cs typeface="David" pitchFamily="34" charset="-79"/>
                          </a:rPr>
                          <m:t>𝑃</m:t>
                        </m:r>
                      </m:e>
                      <m:sub>
                        <m:r>
                          <a:rPr lang="en-US" i="1">
                            <a:solidFill>
                              <a:prstClr val="black"/>
                            </a:solidFill>
                            <a:latin typeface="Cambria Math"/>
                            <a:cs typeface="David" pitchFamily="34" charset="-79"/>
                          </a:rPr>
                          <m:t>𝑋</m:t>
                        </m:r>
                      </m:sub>
                    </m:sSub>
                  </m:oMath>
                </a14:m>
                <a:r>
                  <a:rPr lang="he-IL" dirty="0">
                    <a:solidFill>
                      <a:prstClr val="black"/>
                    </a:solidFill>
                    <a:latin typeface="David" pitchFamily="34" charset="-79"/>
                    <a:cs typeface="David" pitchFamily="34" charset="-79"/>
                  </a:rPr>
                  <a:t> - מחיר לטון.</a:t>
                </a:r>
              </a:p>
            </p:txBody>
          </p:sp>
        </mc:Choice>
        <mc:Fallback xmlns="">
          <p:sp>
            <p:nvSpPr>
              <p:cNvPr id="2" name="Rectangle 1">
                <a:extLst>
                  <a:ext uri="{FF2B5EF4-FFF2-40B4-BE49-F238E27FC236}">
                    <a16:creationId xmlns:a16="http://schemas.microsoft.com/office/drawing/2014/main" id="{3B9F380B-FCE6-462B-82C6-AEBCA0E2BA36}"/>
                  </a:ext>
                </a:extLst>
              </p:cNvPr>
              <p:cNvSpPr>
                <a:spLocks noRot="1" noChangeAspect="1" noMove="1" noResize="1" noEditPoints="1" noAdjustHandles="1" noChangeArrowheads="1" noChangeShapeType="1" noTextEdit="1"/>
              </p:cNvSpPr>
              <p:nvPr/>
            </p:nvSpPr>
            <p:spPr>
              <a:xfrm>
                <a:off x="5248901" y="876843"/>
                <a:ext cx="6717812" cy="1338828"/>
              </a:xfrm>
              <a:prstGeom prst="rect">
                <a:avLst/>
              </a:prstGeom>
              <a:blipFill>
                <a:blip r:embed="rId2"/>
                <a:stretch>
                  <a:fillRect r="-817" b="-3196"/>
                </a:stretch>
              </a:blipFill>
            </p:spPr>
            <p:txBody>
              <a:bodyPr/>
              <a:lstStyle/>
              <a:p>
                <a:r>
                  <a:rPr lang="he-IL">
                    <a:noFill/>
                  </a:rPr>
                  <a:t> </a:t>
                </a:r>
              </a:p>
            </p:txBody>
          </p:sp>
        </mc:Fallback>
      </mc:AlternateContent>
      <p:sp>
        <p:nvSpPr>
          <p:cNvPr id="5" name="Rectangle 4">
            <a:extLst>
              <a:ext uri="{FF2B5EF4-FFF2-40B4-BE49-F238E27FC236}">
                <a16:creationId xmlns:a16="http://schemas.microsoft.com/office/drawing/2014/main" id="{2C8BE548-3603-4BF7-A61F-739A1C497050}"/>
              </a:ext>
            </a:extLst>
          </p:cNvPr>
          <p:cNvSpPr/>
          <p:nvPr/>
        </p:nvSpPr>
        <p:spPr>
          <a:xfrm>
            <a:off x="6902440" y="2060909"/>
            <a:ext cx="4408290" cy="507831"/>
          </a:xfrm>
          <a:prstGeom prst="rect">
            <a:avLst/>
          </a:prstGeom>
        </p:spPr>
        <p:txBody>
          <a:bodyPr wrap="square">
            <a:spAutoFit/>
          </a:bodyPr>
          <a:lstStyle/>
          <a:p>
            <a:pPr>
              <a:lnSpc>
                <a:spcPct val="150000"/>
              </a:lnSpc>
            </a:pPr>
            <a:r>
              <a:rPr lang="he-IL" dirty="0">
                <a:solidFill>
                  <a:prstClr val="black"/>
                </a:solidFill>
                <a:latin typeface="David" pitchFamily="34" charset="-79"/>
                <a:cs typeface="David" pitchFamily="34" charset="-79"/>
              </a:rPr>
              <a:t>1. ציירו את עקומות הביקוש וההיצע</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CEA0A43D-3F79-4A86-AA1A-256A115171D6}"/>
                  </a:ext>
                </a:extLst>
              </p:cNvPr>
              <p:cNvSpPr/>
              <p:nvPr/>
            </p:nvSpPr>
            <p:spPr>
              <a:xfrm>
                <a:off x="2199969" y="5591690"/>
                <a:ext cx="8106697" cy="889987"/>
              </a:xfrm>
              <a:prstGeom prst="rect">
                <a:avLst/>
              </a:prstGeom>
              <a:solidFill>
                <a:schemeClr val="accent1">
                  <a:lumMod val="20000"/>
                  <a:lumOff val="80000"/>
                </a:schemeClr>
              </a:solidFill>
            </p:spPr>
            <p:txBody>
              <a:bodyPr wrap="square">
                <a:spAutoFit/>
              </a:bodyPr>
              <a:lstStyle/>
              <a:p>
                <a:pPr>
                  <a:lnSpc>
                    <a:spcPct val="150000"/>
                  </a:lnSpc>
                </a:pPr>
                <a:r>
                  <a:rPr lang="he-IL" dirty="0">
                    <a:solidFill>
                      <a:prstClr val="black"/>
                    </a:solidFill>
                    <a:latin typeface="David" pitchFamily="34" charset="-79"/>
                    <a:cs typeface="David" pitchFamily="34" charset="-79"/>
                  </a:rPr>
                  <a:t>מחיר שיווי משקל- זהו המחיר בשוק עבורו </a:t>
                </a:r>
                <a:br>
                  <a:rPr lang="en-US" dirty="0">
                    <a:solidFill>
                      <a:prstClr val="black"/>
                    </a:solidFill>
                    <a:latin typeface="David" pitchFamily="34" charset="-79"/>
                    <a:cs typeface="David" pitchFamily="34" charset="-79"/>
                  </a:rPr>
                </a:br>
                <a:r>
                  <a:rPr lang="he-IL" dirty="0">
                    <a:solidFill>
                      <a:prstClr val="black"/>
                    </a:solidFill>
                    <a:latin typeface="David" pitchFamily="34" charset="-79"/>
                    <a:cs typeface="David" pitchFamily="34" charset="-79"/>
                  </a:rPr>
                  <a:t>הכמות המוצעת על ידי היצרנים (</a:t>
                </a:r>
                <a14:m>
                  <m:oMath xmlns:m="http://schemas.openxmlformats.org/officeDocument/2006/math">
                    <m:sSup>
                      <m:sSupPr>
                        <m:ctrlPr>
                          <a:rPr lang="en-US" i="1">
                            <a:solidFill>
                              <a:prstClr val="black"/>
                            </a:solidFill>
                            <a:latin typeface="Cambria Math" panose="02040503050406030204" pitchFamily="18" charset="0"/>
                          </a:rPr>
                        </m:ctrlPr>
                      </m:sSupPr>
                      <m:e>
                        <m:r>
                          <m:rPr>
                            <m:nor/>
                          </m:rPr>
                          <a:rPr lang="en-US" dirty="0">
                            <a:solidFill>
                              <a:prstClr val="black"/>
                            </a:solidFill>
                            <a:latin typeface="Calibri"/>
                          </a:rPr>
                          <m:t>X</m:t>
                        </m:r>
                      </m:e>
                      <m:sup>
                        <m:r>
                          <a:rPr lang="en-US" i="1">
                            <a:solidFill>
                              <a:prstClr val="black"/>
                            </a:solidFill>
                            <a:latin typeface="Cambria Math" panose="02040503050406030204" pitchFamily="18" charset="0"/>
                          </a:rPr>
                          <m:t>𝑠</m:t>
                        </m:r>
                      </m:sup>
                    </m:sSup>
                  </m:oMath>
                </a14:m>
                <a:r>
                  <a:rPr lang="he-IL" dirty="0">
                    <a:solidFill>
                      <a:prstClr val="black"/>
                    </a:solidFill>
                    <a:latin typeface="David" pitchFamily="34" charset="-79"/>
                    <a:cs typeface="David" pitchFamily="34" charset="-79"/>
                  </a:rPr>
                  <a:t>) שווה לכמות המבוקשת על ידי הצרכנים (</a:t>
                </a:r>
                <a14:m>
                  <m:oMath xmlns:m="http://schemas.openxmlformats.org/officeDocument/2006/math">
                    <m:sSup>
                      <m:sSupPr>
                        <m:ctrlPr>
                          <a:rPr lang="en-US" i="1">
                            <a:solidFill>
                              <a:prstClr val="black"/>
                            </a:solidFill>
                            <a:latin typeface="Cambria Math" panose="02040503050406030204" pitchFamily="18" charset="0"/>
                          </a:rPr>
                        </m:ctrlPr>
                      </m:sSupPr>
                      <m:e>
                        <m:r>
                          <m:rPr>
                            <m:nor/>
                          </m:rPr>
                          <a:rPr lang="en-US" dirty="0">
                            <a:solidFill>
                              <a:prstClr val="black"/>
                            </a:solidFill>
                            <a:latin typeface="Calibri"/>
                          </a:rPr>
                          <m:t>X</m:t>
                        </m:r>
                      </m:e>
                      <m:sup>
                        <m:r>
                          <a:rPr lang="en-US" i="1">
                            <a:solidFill>
                              <a:prstClr val="black"/>
                            </a:solidFill>
                            <a:latin typeface="Cambria Math" panose="02040503050406030204" pitchFamily="18" charset="0"/>
                          </a:rPr>
                          <m:t>𝑑</m:t>
                        </m:r>
                      </m:sup>
                    </m:sSup>
                  </m:oMath>
                </a14:m>
                <a:r>
                  <a:rPr lang="he-IL" dirty="0">
                    <a:solidFill>
                      <a:prstClr val="black"/>
                    </a:solidFill>
                    <a:latin typeface="David" pitchFamily="34" charset="-79"/>
                    <a:cs typeface="David" pitchFamily="34" charset="-79"/>
                  </a:rPr>
                  <a:t>). </a:t>
                </a:r>
              </a:p>
            </p:txBody>
          </p:sp>
        </mc:Choice>
        <mc:Fallback xmlns="">
          <p:sp>
            <p:nvSpPr>
              <p:cNvPr id="7" name="Rectangle 6">
                <a:extLst>
                  <a:ext uri="{FF2B5EF4-FFF2-40B4-BE49-F238E27FC236}">
                    <a16:creationId xmlns:a16="http://schemas.microsoft.com/office/drawing/2014/main" id="{CEA0A43D-3F79-4A86-AA1A-256A115171D6}"/>
                  </a:ext>
                </a:extLst>
              </p:cNvPr>
              <p:cNvSpPr>
                <a:spLocks noRot="1" noChangeAspect="1" noMove="1" noResize="1" noEditPoints="1" noAdjustHandles="1" noChangeArrowheads="1" noChangeShapeType="1" noTextEdit="1"/>
              </p:cNvSpPr>
              <p:nvPr/>
            </p:nvSpPr>
            <p:spPr>
              <a:xfrm>
                <a:off x="2199969" y="5591690"/>
                <a:ext cx="8106697" cy="889987"/>
              </a:xfrm>
              <a:prstGeom prst="rect">
                <a:avLst/>
              </a:prstGeom>
              <a:blipFill>
                <a:blip r:embed="rId3"/>
                <a:stretch>
                  <a:fillRect r="-602" b="-10274"/>
                </a:stretch>
              </a:blipFill>
            </p:spPr>
            <p:txBody>
              <a:bodyPr/>
              <a:lstStyle/>
              <a:p>
                <a:r>
                  <a:rPr lang="en-IL">
                    <a:noFill/>
                  </a:rPr>
                  <a:t> </a:t>
                </a:r>
              </a:p>
            </p:txBody>
          </p:sp>
        </mc:Fallback>
      </mc:AlternateContent>
      <p:cxnSp>
        <p:nvCxnSpPr>
          <p:cNvPr id="13" name="Straight Arrow Connector 12">
            <a:extLst>
              <a:ext uri="{FF2B5EF4-FFF2-40B4-BE49-F238E27FC236}">
                <a16:creationId xmlns:a16="http://schemas.microsoft.com/office/drawing/2014/main" id="{5655D781-E1A9-4EA4-A6E0-B74BE5C5E234}"/>
              </a:ext>
            </a:extLst>
          </p:cNvPr>
          <p:cNvCxnSpPr>
            <a:cxnSpLocks/>
          </p:cNvCxnSpPr>
          <p:nvPr/>
        </p:nvCxnSpPr>
        <p:spPr>
          <a:xfrm>
            <a:off x="2209800" y="4204462"/>
            <a:ext cx="3512284" cy="465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41FAD8C-7A86-4789-84D4-3F45882EDF9B}"/>
              </a:ext>
            </a:extLst>
          </p:cNvPr>
          <p:cNvCxnSpPr>
            <a:cxnSpLocks/>
          </p:cNvCxnSpPr>
          <p:nvPr/>
        </p:nvCxnSpPr>
        <p:spPr>
          <a:xfrm flipV="1">
            <a:off x="2222090" y="1295400"/>
            <a:ext cx="0" cy="2909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DEA45035-F9A1-4C23-83C2-1F18C061532A}"/>
              </a:ext>
            </a:extLst>
          </p:cNvPr>
          <p:cNvSpPr/>
          <p:nvPr/>
        </p:nvSpPr>
        <p:spPr>
          <a:xfrm>
            <a:off x="1816210" y="1034081"/>
            <a:ext cx="405880" cy="369332"/>
          </a:xfrm>
          <a:prstGeom prst="rect">
            <a:avLst/>
          </a:prstGeom>
        </p:spPr>
        <p:txBody>
          <a:bodyPr wrap="none">
            <a:spAutoFit/>
          </a:bodyPr>
          <a:lstStyle/>
          <a:p>
            <a:pPr algn="l" rtl="0"/>
            <a:r>
              <a:rPr lang="en-US" dirty="0">
                <a:solidFill>
                  <a:prstClr val="black"/>
                </a:solidFill>
                <a:latin typeface="Calibri"/>
              </a:rPr>
              <a:t>Px</a:t>
            </a:r>
            <a:endParaRPr lang="he-IL" dirty="0">
              <a:solidFill>
                <a:prstClr val="black"/>
              </a:solidFill>
              <a:latin typeface="Calibri"/>
              <a:cs typeface="Arial" panose="020B0604020202020204" pitchFamily="34" charset="0"/>
            </a:endParaRPr>
          </a:p>
        </p:txBody>
      </p:sp>
      <p:sp>
        <p:nvSpPr>
          <p:cNvPr id="18" name="TextBox 17">
            <a:extLst>
              <a:ext uri="{FF2B5EF4-FFF2-40B4-BE49-F238E27FC236}">
                <a16:creationId xmlns:a16="http://schemas.microsoft.com/office/drawing/2014/main" id="{5D7F713F-E0FB-40DD-B29A-B016CECBCDFF}"/>
              </a:ext>
            </a:extLst>
          </p:cNvPr>
          <p:cNvSpPr txBox="1"/>
          <p:nvPr/>
        </p:nvSpPr>
        <p:spPr>
          <a:xfrm>
            <a:off x="5791108" y="4000673"/>
            <a:ext cx="304892" cy="369332"/>
          </a:xfrm>
          <a:prstGeom prst="rect">
            <a:avLst/>
          </a:prstGeom>
          <a:noFill/>
        </p:spPr>
        <p:txBody>
          <a:bodyPr wrap="none" rtlCol="1">
            <a:spAutoFit/>
          </a:bodyPr>
          <a:lstStyle/>
          <a:p>
            <a:pPr algn="l" rtl="0"/>
            <a:r>
              <a:rPr lang="en-US" dirty="0">
                <a:solidFill>
                  <a:prstClr val="black"/>
                </a:solidFill>
                <a:latin typeface="Calibri"/>
              </a:rPr>
              <a:t>X</a:t>
            </a:r>
            <a:endParaRPr lang="he-IL" dirty="0">
              <a:solidFill>
                <a:prstClr val="black"/>
              </a:solidFill>
              <a:latin typeface="Calibri"/>
              <a:cs typeface="Arial" panose="020B0604020202020204" pitchFamily="34" charset="0"/>
            </a:endParaRPr>
          </a:p>
        </p:txBody>
      </p:sp>
      <p:sp>
        <p:nvSpPr>
          <p:cNvPr id="19" name="Rectangle 18">
            <a:extLst>
              <a:ext uri="{FF2B5EF4-FFF2-40B4-BE49-F238E27FC236}">
                <a16:creationId xmlns:a16="http://schemas.microsoft.com/office/drawing/2014/main" id="{DAC95E95-B566-42C9-BD26-D2515D5B51A0}"/>
              </a:ext>
            </a:extLst>
          </p:cNvPr>
          <p:cNvSpPr/>
          <p:nvPr/>
        </p:nvSpPr>
        <p:spPr>
          <a:xfrm>
            <a:off x="6721920" y="2478379"/>
            <a:ext cx="4588810" cy="507831"/>
          </a:xfrm>
          <a:prstGeom prst="rect">
            <a:avLst/>
          </a:prstGeom>
        </p:spPr>
        <p:txBody>
          <a:bodyPr wrap="square">
            <a:spAutoFit/>
          </a:bodyPr>
          <a:lstStyle/>
          <a:p>
            <a:pPr>
              <a:lnSpc>
                <a:spcPct val="150000"/>
              </a:lnSpc>
            </a:pPr>
            <a:r>
              <a:rPr lang="en-US" dirty="0">
                <a:solidFill>
                  <a:prstClr val="black"/>
                </a:solidFill>
                <a:latin typeface="David" pitchFamily="34" charset="-79"/>
                <a:cs typeface="David" pitchFamily="34" charset="-79"/>
              </a:rPr>
              <a:t>2</a:t>
            </a:r>
            <a:r>
              <a:rPr lang="he-IL" dirty="0">
                <a:solidFill>
                  <a:prstClr val="black"/>
                </a:solidFill>
                <a:latin typeface="David" pitchFamily="34" charset="-79"/>
                <a:cs typeface="David" pitchFamily="34" charset="-79"/>
              </a:rPr>
              <a:t>. חשבו את מחיר וכמות שיווי המשקל</a:t>
            </a:r>
          </a:p>
        </p:txBody>
      </p:sp>
      <p:cxnSp>
        <p:nvCxnSpPr>
          <p:cNvPr id="20" name="מחבר ישר 13">
            <a:extLst>
              <a:ext uri="{FF2B5EF4-FFF2-40B4-BE49-F238E27FC236}">
                <a16:creationId xmlns:a16="http://schemas.microsoft.com/office/drawing/2014/main" id="{820B12E4-C110-446B-93C2-A733E41394FB}"/>
              </a:ext>
            </a:extLst>
          </p:cNvPr>
          <p:cNvCxnSpPr>
            <a:cxnSpLocks/>
          </p:cNvCxnSpPr>
          <p:nvPr/>
        </p:nvCxnSpPr>
        <p:spPr>
          <a:xfrm>
            <a:off x="2209801" y="1542350"/>
            <a:ext cx="2971801" cy="2708674"/>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65F1A90-2B7B-43D2-AC75-9B82D3884CE9}"/>
              </a:ext>
            </a:extLst>
          </p:cNvPr>
          <p:cNvSpPr txBox="1"/>
          <p:nvPr/>
        </p:nvSpPr>
        <p:spPr>
          <a:xfrm>
            <a:off x="5045962" y="3776437"/>
            <a:ext cx="405881" cy="369332"/>
          </a:xfrm>
          <a:prstGeom prst="rect">
            <a:avLst/>
          </a:prstGeom>
          <a:noFill/>
        </p:spPr>
        <p:txBody>
          <a:bodyPr wrap="none" rtlCol="1">
            <a:spAutoFit/>
          </a:bodyPr>
          <a:lstStyle/>
          <a:p>
            <a:pPr algn="l" rtl="0"/>
            <a:r>
              <a:rPr lang="en-US" dirty="0">
                <a:solidFill>
                  <a:prstClr val="black"/>
                </a:solidFill>
                <a:latin typeface="Calibri"/>
              </a:rPr>
              <a:t>D</a:t>
            </a:r>
            <a:r>
              <a:rPr lang="en-US" baseline="-25000" dirty="0">
                <a:solidFill>
                  <a:prstClr val="black"/>
                </a:solidFill>
                <a:latin typeface="Calibri"/>
              </a:rPr>
              <a:t>0</a:t>
            </a:r>
            <a:endParaRPr lang="he-IL" baseline="-25000" dirty="0">
              <a:solidFill>
                <a:prstClr val="black"/>
              </a:solidFill>
              <a:latin typeface="Calibri"/>
              <a:cs typeface="Arial" panose="020B0604020202020204" pitchFamily="34" charset="0"/>
            </a:endParaRPr>
          </a:p>
        </p:txBody>
      </p:sp>
      <p:sp>
        <p:nvSpPr>
          <p:cNvPr id="22" name="TextBox 21">
            <a:extLst>
              <a:ext uri="{FF2B5EF4-FFF2-40B4-BE49-F238E27FC236}">
                <a16:creationId xmlns:a16="http://schemas.microsoft.com/office/drawing/2014/main" id="{1C58733A-B2D6-4A60-B837-6C9A2473FC48}"/>
              </a:ext>
            </a:extLst>
          </p:cNvPr>
          <p:cNvSpPr txBox="1"/>
          <p:nvPr/>
        </p:nvSpPr>
        <p:spPr>
          <a:xfrm>
            <a:off x="1723260" y="1393009"/>
            <a:ext cx="612668" cy="400110"/>
          </a:xfrm>
          <a:prstGeom prst="rect">
            <a:avLst/>
          </a:prstGeom>
          <a:noFill/>
        </p:spPr>
        <p:txBody>
          <a:bodyPr wrap="none" rtlCol="1">
            <a:spAutoFit/>
          </a:bodyPr>
          <a:lstStyle/>
          <a:p>
            <a:pPr algn="l" rtl="0"/>
            <a:r>
              <a:rPr lang="he-IL" sz="2000" dirty="0">
                <a:solidFill>
                  <a:prstClr val="black"/>
                </a:solidFill>
                <a:latin typeface="Calibri"/>
                <a:cs typeface="Arial" panose="020B0604020202020204" pitchFamily="34" charset="0"/>
              </a:rPr>
              <a:t>700</a:t>
            </a:r>
          </a:p>
        </p:txBody>
      </p:sp>
      <p:sp>
        <p:nvSpPr>
          <p:cNvPr id="26" name="TextBox 25">
            <a:extLst>
              <a:ext uri="{FF2B5EF4-FFF2-40B4-BE49-F238E27FC236}">
                <a16:creationId xmlns:a16="http://schemas.microsoft.com/office/drawing/2014/main" id="{CAF4B609-C3AF-40F7-B498-23D2A6E267C8}"/>
              </a:ext>
            </a:extLst>
          </p:cNvPr>
          <p:cNvSpPr txBox="1"/>
          <p:nvPr/>
        </p:nvSpPr>
        <p:spPr>
          <a:xfrm>
            <a:off x="4917359" y="4254724"/>
            <a:ext cx="569387" cy="369332"/>
          </a:xfrm>
          <a:prstGeom prst="rect">
            <a:avLst/>
          </a:prstGeom>
          <a:noFill/>
        </p:spPr>
        <p:txBody>
          <a:bodyPr wrap="none" rtlCol="1">
            <a:spAutoFit/>
          </a:bodyPr>
          <a:lstStyle/>
          <a:p>
            <a:pPr algn="l" rtl="0"/>
            <a:r>
              <a:rPr lang="he-IL" dirty="0">
                <a:solidFill>
                  <a:prstClr val="black"/>
                </a:solidFill>
                <a:latin typeface="Calibri"/>
                <a:cs typeface="Arial" panose="020B0604020202020204" pitchFamily="34" charset="0"/>
              </a:rPr>
              <a:t>700</a:t>
            </a:r>
          </a:p>
        </p:txBody>
      </p:sp>
      <p:cxnSp>
        <p:nvCxnSpPr>
          <p:cNvPr id="27" name="מחבר ישר 15">
            <a:extLst>
              <a:ext uri="{FF2B5EF4-FFF2-40B4-BE49-F238E27FC236}">
                <a16:creationId xmlns:a16="http://schemas.microsoft.com/office/drawing/2014/main" id="{33B0FEB4-9EA7-4EE0-95C6-97B2D7C59C33}"/>
              </a:ext>
            </a:extLst>
          </p:cNvPr>
          <p:cNvCxnSpPr>
            <a:cxnSpLocks/>
          </p:cNvCxnSpPr>
          <p:nvPr/>
        </p:nvCxnSpPr>
        <p:spPr>
          <a:xfrm flipV="1">
            <a:off x="2199969" y="1768806"/>
            <a:ext cx="2845993" cy="2168130"/>
          </a:xfrm>
          <a:prstGeom prst="line">
            <a:avLst/>
          </a:prstGeom>
          <a:ln w="28575">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D07CF66-401A-4FC4-A759-5F26AD3AB943}"/>
              </a:ext>
            </a:extLst>
          </p:cNvPr>
          <p:cNvSpPr txBox="1"/>
          <p:nvPr/>
        </p:nvSpPr>
        <p:spPr>
          <a:xfrm>
            <a:off x="4611370" y="1449974"/>
            <a:ext cx="369012" cy="369332"/>
          </a:xfrm>
          <a:prstGeom prst="rect">
            <a:avLst/>
          </a:prstGeom>
          <a:noFill/>
        </p:spPr>
        <p:txBody>
          <a:bodyPr wrap="none" rtlCol="1">
            <a:spAutoFit/>
          </a:bodyPr>
          <a:lstStyle/>
          <a:p>
            <a:pPr algn="l" rtl="0"/>
            <a:r>
              <a:rPr lang="en-US" dirty="0">
                <a:solidFill>
                  <a:prstClr val="black"/>
                </a:solidFill>
                <a:latin typeface="Calibri"/>
              </a:rPr>
              <a:t>S</a:t>
            </a:r>
            <a:r>
              <a:rPr lang="en-US" baseline="-25000" dirty="0">
                <a:solidFill>
                  <a:prstClr val="black"/>
                </a:solidFill>
                <a:latin typeface="Calibri"/>
              </a:rPr>
              <a:t>0</a:t>
            </a:r>
            <a:endParaRPr lang="he-IL" baseline="-25000" dirty="0">
              <a:solidFill>
                <a:prstClr val="black"/>
              </a:solidFill>
              <a:latin typeface="Calibri"/>
              <a:cs typeface="Arial" panose="020B0604020202020204" pitchFamily="34" charset="0"/>
            </a:endParaRPr>
          </a:p>
        </p:txBody>
      </p:sp>
      <p:sp>
        <p:nvSpPr>
          <p:cNvPr id="29" name="TextBox 28">
            <a:extLst>
              <a:ext uri="{FF2B5EF4-FFF2-40B4-BE49-F238E27FC236}">
                <a16:creationId xmlns:a16="http://schemas.microsoft.com/office/drawing/2014/main" id="{D57B2ED9-DE99-4905-9D9A-2D04E5024C3F}"/>
              </a:ext>
            </a:extLst>
          </p:cNvPr>
          <p:cNvSpPr txBox="1"/>
          <p:nvPr/>
        </p:nvSpPr>
        <p:spPr>
          <a:xfrm>
            <a:off x="1628464" y="3722622"/>
            <a:ext cx="612668" cy="400110"/>
          </a:xfrm>
          <a:prstGeom prst="rect">
            <a:avLst/>
          </a:prstGeom>
          <a:noFill/>
        </p:spPr>
        <p:txBody>
          <a:bodyPr wrap="none" rtlCol="1">
            <a:spAutoFit/>
          </a:bodyPr>
          <a:lstStyle/>
          <a:p>
            <a:pPr algn="l" rtl="0"/>
            <a:r>
              <a:rPr lang="he-IL" sz="2000" dirty="0">
                <a:solidFill>
                  <a:prstClr val="black"/>
                </a:solidFill>
                <a:latin typeface="Calibri"/>
                <a:cs typeface="Arial" panose="020B0604020202020204" pitchFamily="34" charset="0"/>
              </a:rPr>
              <a:t>100</a:t>
            </a:r>
          </a:p>
        </p:txBody>
      </p:sp>
      <p:cxnSp>
        <p:nvCxnSpPr>
          <p:cNvPr id="32" name="Straight Connector 31">
            <a:extLst>
              <a:ext uri="{FF2B5EF4-FFF2-40B4-BE49-F238E27FC236}">
                <a16:creationId xmlns:a16="http://schemas.microsoft.com/office/drawing/2014/main" id="{526C23A6-52A6-4311-8A5A-C246C96954BB}"/>
              </a:ext>
            </a:extLst>
          </p:cNvPr>
          <p:cNvCxnSpPr/>
          <p:nvPr/>
        </p:nvCxnSpPr>
        <p:spPr>
          <a:xfrm flipH="1">
            <a:off x="2222090" y="2852871"/>
            <a:ext cx="1400874"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Straight Connector 32">
            <a:extLst>
              <a:ext uri="{FF2B5EF4-FFF2-40B4-BE49-F238E27FC236}">
                <a16:creationId xmlns:a16="http://schemas.microsoft.com/office/drawing/2014/main" id="{2DC2CB8E-11CC-4DB2-98CB-D5EB4265DADE}"/>
              </a:ext>
            </a:extLst>
          </p:cNvPr>
          <p:cNvCxnSpPr>
            <a:cxnSpLocks/>
          </p:cNvCxnSpPr>
          <p:nvPr/>
        </p:nvCxnSpPr>
        <p:spPr>
          <a:xfrm>
            <a:off x="3622964" y="2853826"/>
            <a:ext cx="0" cy="135063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3B8C2B49-25AE-41F8-90A0-4552E8AF8124}"/>
                  </a:ext>
                </a:extLst>
              </p:cNvPr>
              <p:cNvSpPr/>
              <p:nvPr/>
            </p:nvSpPr>
            <p:spPr>
              <a:xfrm>
                <a:off x="6825679" y="3138294"/>
                <a:ext cx="1672189" cy="369332"/>
              </a:xfrm>
              <a:prstGeom prst="rect">
                <a:avLst/>
              </a:prstGeom>
            </p:spPr>
            <p:txBody>
              <a:bodyPr wrap="none">
                <a:spAutoFit/>
              </a:bodyPr>
              <a:lstStyle/>
              <a:p>
                <a:pPr algn="l" rtl="0"/>
                <a14:m>
                  <m:oMathPara xmlns:m="http://schemas.openxmlformats.org/officeDocument/2006/math">
                    <m:oMathParaPr>
                      <m:jc m:val="centerGroup"/>
                    </m:oMathParaPr>
                    <m:oMath xmlns:m="http://schemas.openxmlformats.org/officeDocument/2006/math">
                      <m:sSub>
                        <m:sSubPr>
                          <m:ctrlPr>
                            <a:rPr lang="he-IL" b="1" i="1">
                              <a:solidFill>
                                <a:srgbClr val="7030A0"/>
                              </a:solidFill>
                              <a:latin typeface="Cambria Math" panose="02040503050406030204" pitchFamily="18" charset="0"/>
                              <a:cs typeface="David" pitchFamily="34" charset="-79"/>
                            </a:rPr>
                          </m:ctrlPr>
                        </m:sSubPr>
                        <m:e>
                          <m:r>
                            <a:rPr lang="en-US" b="1" i="1">
                              <a:solidFill>
                                <a:srgbClr val="7030A0"/>
                              </a:solidFill>
                              <a:latin typeface="Cambria Math"/>
                              <a:cs typeface="David" pitchFamily="34" charset="-79"/>
                            </a:rPr>
                            <m:t>𝑷</m:t>
                          </m:r>
                        </m:e>
                        <m:sub>
                          <m:r>
                            <a:rPr lang="en-US" b="1" i="1">
                              <a:solidFill>
                                <a:srgbClr val="7030A0"/>
                              </a:solidFill>
                              <a:latin typeface="Cambria Math"/>
                              <a:cs typeface="David" pitchFamily="34" charset="-79"/>
                            </a:rPr>
                            <m:t>𝑿</m:t>
                          </m:r>
                        </m:sub>
                      </m:sSub>
                      <m:r>
                        <a:rPr lang="en-US" b="1" i="1">
                          <a:solidFill>
                            <a:srgbClr val="7030A0"/>
                          </a:solidFill>
                          <a:latin typeface="Cambria Math"/>
                          <a:cs typeface="David" pitchFamily="34" charset="-79"/>
                        </a:rPr>
                        <m:t>=</m:t>
                      </m:r>
                      <m:r>
                        <a:rPr lang="en-US" b="1" i="1">
                          <a:solidFill>
                            <a:srgbClr val="7030A0"/>
                          </a:solidFill>
                          <a:latin typeface="Cambria Math"/>
                          <a:cs typeface="David" pitchFamily="34" charset="-79"/>
                        </a:rPr>
                        <m:t>𝟕𝟎𝟎</m:t>
                      </m:r>
                      <m:r>
                        <a:rPr lang="en-US" b="1" i="1">
                          <a:solidFill>
                            <a:srgbClr val="7030A0"/>
                          </a:solidFill>
                          <a:latin typeface="Cambria Math"/>
                          <a:cs typeface="David" pitchFamily="34" charset="-79"/>
                        </a:rPr>
                        <m:t>−</m:t>
                      </m:r>
                      <m:r>
                        <a:rPr lang="en-US" b="1" i="1">
                          <a:solidFill>
                            <a:srgbClr val="7030A0"/>
                          </a:solidFill>
                          <a:latin typeface="Cambria Math"/>
                          <a:cs typeface="David" pitchFamily="34" charset="-79"/>
                        </a:rPr>
                        <m:t>𝑿</m:t>
                      </m:r>
                    </m:oMath>
                  </m:oMathPara>
                </a14:m>
                <a:endParaRPr lang="en-IL" dirty="0">
                  <a:solidFill>
                    <a:prstClr val="black"/>
                  </a:solidFill>
                  <a:latin typeface="Calibri"/>
                </a:endParaRPr>
              </a:p>
            </p:txBody>
          </p:sp>
        </mc:Choice>
        <mc:Fallback xmlns="">
          <p:sp>
            <p:nvSpPr>
              <p:cNvPr id="38" name="Rectangle 37">
                <a:extLst>
                  <a:ext uri="{FF2B5EF4-FFF2-40B4-BE49-F238E27FC236}">
                    <a16:creationId xmlns:a16="http://schemas.microsoft.com/office/drawing/2014/main" id="{3B8C2B49-25AE-41F8-90A0-4552E8AF8124}"/>
                  </a:ext>
                </a:extLst>
              </p:cNvPr>
              <p:cNvSpPr>
                <a:spLocks noRot="1" noChangeAspect="1" noMove="1" noResize="1" noEditPoints="1" noAdjustHandles="1" noChangeArrowheads="1" noChangeShapeType="1" noTextEdit="1"/>
              </p:cNvSpPr>
              <p:nvPr/>
            </p:nvSpPr>
            <p:spPr>
              <a:xfrm>
                <a:off x="6825679" y="3138294"/>
                <a:ext cx="1672189" cy="369332"/>
              </a:xfrm>
              <a:prstGeom prst="rect">
                <a:avLst/>
              </a:prstGeom>
              <a:blipFill>
                <a:blip r:embed="rId4"/>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E0BD50A7-6F3F-4334-B16D-40F6A794D0A2}"/>
                  </a:ext>
                </a:extLst>
              </p:cNvPr>
              <p:cNvSpPr/>
              <p:nvPr/>
            </p:nvSpPr>
            <p:spPr>
              <a:xfrm>
                <a:off x="6844991" y="3433094"/>
                <a:ext cx="1672188" cy="471026"/>
              </a:xfrm>
              <a:prstGeom prst="rect">
                <a:avLst/>
              </a:prstGeom>
            </p:spPr>
            <p:txBody>
              <a:bodyPr wrap="none">
                <a:spAutoFit/>
              </a:bodyPr>
              <a:lstStyle/>
              <a:p>
                <a:pPr>
                  <a:lnSpc>
                    <a:spcPct val="150000"/>
                  </a:lnSpc>
                </a:pPr>
                <a14:m>
                  <m:oMath xmlns:m="http://schemas.openxmlformats.org/officeDocument/2006/math">
                    <m:sSub>
                      <m:sSubPr>
                        <m:ctrlPr>
                          <a:rPr lang="he-IL" b="1" i="1">
                            <a:solidFill>
                              <a:srgbClr val="EEECE1">
                                <a:lumMod val="50000"/>
                              </a:srgbClr>
                            </a:solidFill>
                            <a:latin typeface="Cambria Math" panose="02040503050406030204" pitchFamily="18" charset="0"/>
                            <a:cs typeface="David" pitchFamily="34" charset="-79"/>
                          </a:rPr>
                        </m:ctrlPr>
                      </m:sSubPr>
                      <m:e>
                        <m:r>
                          <a:rPr lang="en-US" b="1" i="1">
                            <a:solidFill>
                              <a:srgbClr val="EEECE1">
                                <a:lumMod val="50000"/>
                              </a:srgbClr>
                            </a:solidFill>
                            <a:latin typeface="Cambria Math"/>
                            <a:cs typeface="David" pitchFamily="34" charset="-79"/>
                          </a:rPr>
                          <m:t>𝑷</m:t>
                        </m:r>
                      </m:e>
                      <m:sub>
                        <m:r>
                          <a:rPr lang="en-US" b="1" i="1">
                            <a:solidFill>
                              <a:srgbClr val="EEECE1">
                                <a:lumMod val="50000"/>
                              </a:srgbClr>
                            </a:solidFill>
                            <a:latin typeface="Cambria Math"/>
                            <a:cs typeface="David" pitchFamily="34" charset="-79"/>
                          </a:rPr>
                          <m:t>𝑿</m:t>
                        </m:r>
                      </m:sub>
                    </m:sSub>
                    <m:r>
                      <a:rPr lang="en-US" b="1" i="1">
                        <a:solidFill>
                          <a:srgbClr val="EEECE1">
                            <a:lumMod val="50000"/>
                          </a:srgbClr>
                        </a:solidFill>
                        <a:latin typeface="Cambria Math"/>
                        <a:cs typeface="David" pitchFamily="34" charset="-79"/>
                      </a:rPr>
                      <m:t>=</m:t>
                    </m:r>
                    <m:r>
                      <a:rPr lang="en-US" b="1" i="1">
                        <a:solidFill>
                          <a:srgbClr val="EEECE1">
                            <a:lumMod val="50000"/>
                          </a:srgbClr>
                        </a:solidFill>
                        <a:latin typeface="Cambria Math"/>
                        <a:cs typeface="David" pitchFamily="34" charset="-79"/>
                      </a:rPr>
                      <m:t>𝟏𝟎𝟎</m:t>
                    </m:r>
                    <m:r>
                      <a:rPr lang="en-US" b="1" i="1">
                        <a:solidFill>
                          <a:srgbClr val="EEECE1">
                            <a:lumMod val="50000"/>
                          </a:srgbClr>
                        </a:solidFill>
                        <a:latin typeface="Cambria Math"/>
                        <a:cs typeface="David" pitchFamily="34" charset="-79"/>
                      </a:rPr>
                      <m:t>+</m:t>
                    </m:r>
                    <m:r>
                      <a:rPr lang="en-US" b="1" i="1">
                        <a:solidFill>
                          <a:srgbClr val="EEECE1">
                            <a:lumMod val="50000"/>
                          </a:srgbClr>
                        </a:solidFill>
                        <a:latin typeface="Cambria Math"/>
                        <a:cs typeface="David" pitchFamily="34" charset="-79"/>
                      </a:rPr>
                      <m:t>𝑿</m:t>
                    </m:r>
                  </m:oMath>
                </a14:m>
                <a:r>
                  <a:rPr lang="he-IL" b="1" dirty="0">
                    <a:solidFill>
                      <a:srgbClr val="EEECE1">
                        <a:lumMod val="50000"/>
                      </a:srgbClr>
                    </a:solidFill>
                    <a:latin typeface="David" pitchFamily="34" charset="-79"/>
                    <a:cs typeface="David" pitchFamily="34" charset="-79"/>
                  </a:rPr>
                  <a:t> </a:t>
                </a:r>
                <a:endParaRPr lang="he-IL" b="1" dirty="0">
                  <a:solidFill>
                    <a:prstClr val="black"/>
                  </a:solidFill>
                  <a:latin typeface="David" pitchFamily="34" charset="-79"/>
                  <a:cs typeface="David" pitchFamily="34" charset="-79"/>
                </a:endParaRPr>
              </a:p>
            </p:txBody>
          </p:sp>
        </mc:Choice>
        <mc:Fallback xmlns="">
          <p:sp>
            <p:nvSpPr>
              <p:cNvPr id="39" name="Rectangle 38">
                <a:extLst>
                  <a:ext uri="{FF2B5EF4-FFF2-40B4-BE49-F238E27FC236}">
                    <a16:creationId xmlns:a16="http://schemas.microsoft.com/office/drawing/2014/main" id="{E0BD50A7-6F3F-4334-B16D-40F6A794D0A2}"/>
                  </a:ext>
                </a:extLst>
              </p:cNvPr>
              <p:cNvSpPr>
                <a:spLocks noRot="1" noChangeAspect="1" noMove="1" noResize="1" noEditPoints="1" noAdjustHandles="1" noChangeArrowheads="1" noChangeShapeType="1" noTextEdit="1"/>
              </p:cNvSpPr>
              <p:nvPr/>
            </p:nvSpPr>
            <p:spPr>
              <a:xfrm>
                <a:off x="6844991" y="3433094"/>
                <a:ext cx="1672188" cy="471026"/>
              </a:xfrm>
              <a:prstGeom prst="rect">
                <a:avLst/>
              </a:prstGeom>
              <a:blipFill>
                <a:blip r:embed="rId5"/>
                <a:stretch>
                  <a:fillRect l="-5109" b="-20779"/>
                </a:stretch>
              </a:blipFill>
            </p:spPr>
            <p:txBody>
              <a:bodyPr/>
              <a:lstStyle/>
              <a:p>
                <a:r>
                  <a:rPr lang="en-IL">
                    <a:noFill/>
                  </a:rPr>
                  <a:t> </a:t>
                </a:r>
              </a:p>
            </p:txBody>
          </p:sp>
        </mc:Fallback>
      </mc:AlternateContent>
      <p:sp>
        <p:nvSpPr>
          <p:cNvPr id="40" name="Left Brace 39">
            <a:extLst>
              <a:ext uri="{FF2B5EF4-FFF2-40B4-BE49-F238E27FC236}">
                <a16:creationId xmlns:a16="http://schemas.microsoft.com/office/drawing/2014/main" id="{E8EC631D-05E0-4ADA-A53A-F0334C37542C}"/>
              </a:ext>
            </a:extLst>
          </p:cNvPr>
          <p:cNvSpPr/>
          <p:nvPr/>
        </p:nvSpPr>
        <p:spPr>
          <a:xfrm>
            <a:off x="6708698" y="3138295"/>
            <a:ext cx="272587" cy="8232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IL">
              <a:solidFill>
                <a:prstClr val="black"/>
              </a:solidFill>
              <a:latin typeface="Calibri"/>
            </a:endParaRPr>
          </a:p>
        </p:txBody>
      </p:sp>
      <p:cxnSp>
        <p:nvCxnSpPr>
          <p:cNvPr id="42" name="Straight Connector 41">
            <a:extLst>
              <a:ext uri="{FF2B5EF4-FFF2-40B4-BE49-F238E27FC236}">
                <a16:creationId xmlns:a16="http://schemas.microsoft.com/office/drawing/2014/main" id="{E1E951D8-A75C-4F99-8FA2-EAB430125456}"/>
              </a:ext>
            </a:extLst>
          </p:cNvPr>
          <p:cNvCxnSpPr>
            <a:cxnSpLocks/>
          </p:cNvCxnSpPr>
          <p:nvPr/>
        </p:nvCxnSpPr>
        <p:spPr>
          <a:xfrm flipH="1" flipV="1">
            <a:off x="7000314" y="3932352"/>
            <a:ext cx="1760340" cy="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ABAEDE3F-ED6D-4660-BB80-ED300832D3B6}"/>
                  </a:ext>
                </a:extLst>
              </p:cNvPr>
              <p:cNvSpPr/>
              <p:nvPr/>
            </p:nvSpPr>
            <p:spPr>
              <a:xfrm>
                <a:off x="6663339" y="4072057"/>
                <a:ext cx="2236510" cy="369332"/>
              </a:xfrm>
              <a:prstGeom prst="rect">
                <a:avLst/>
              </a:prstGeom>
            </p:spPr>
            <p:txBody>
              <a:bodyPr wrap="none">
                <a:spAutoFit/>
              </a:bodyPr>
              <a:lstStyle/>
              <a:p>
                <a:pPr algn="l" rtl="0"/>
                <a14:m>
                  <m:oMath xmlns:m="http://schemas.openxmlformats.org/officeDocument/2006/math">
                    <m:r>
                      <a:rPr lang="en-US" b="1" i="1">
                        <a:solidFill>
                          <a:srgbClr val="7030A0"/>
                        </a:solidFill>
                        <a:latin typeface="Cambria Math"/>
                        <a:cs typeface="David" pitchFamily="34" charset="-79"/>
                      </a:rPr>
                      <m:t>𝟕𝟎𝟎</m:t>
                    </m:r>
                    <m:r>
                      <a:rPr lang="en-US" b="1" i="1">
                        <a:solidFill>
                          <a:srgbClr val="7030A0"/>
                        </a:solidFill>
                        <a:latin typeface="Cambria Math"/>
                        <a:cs typeface="David" pitchFamily="34" charset="-79"/>
                      </a:rPr>
                      <m:t>−</m:t>
                    </m:r>
                    <m:r>
                      <a:rPr lang="en-US" b="1" i="1">
                        <a:solidFill>
                          <a:srgbClr val="7030A0"/>
                        </a:solidFill>
                        <a:latin typeface="Cambria Math"/>
                        <a:cs typeface="David" pitchFamily="34" charset="-79"/>
                      </a:rPr>
                      <m:t>𝑿</m:t>
                    </m:r>
                    <m:r>
                      <a:rPr lang="en-US" b="1" i="1">
                        <a:solidFill>
                          <a:srgbClr val="EEECE1">
                            <a:lumMod val="50000"/>
                          </a:srgbClr>
                        </a:solidFill>
                        <a:latin typeface="Cambria Math"/>
                        <a:cs typeface="David" pitchFamily="34" charset="-79"/>
                      </a:rPr>
                      <m:t>=</m:t>
                    </m:r>
                    <m:r>
                      <a:rPr lang="en-US" b="1" i="1">
                        <a:solidFill>
                          <a:srgbClr val="EEECE1">
                            <a:lumMod val="50000"/>
                          </a:srgbClr>
                        </a:solidFill>
                        <a:latin typeface="Cambria Math"/>
                        <a:cs typeface="David" pitchFamily="34" charset="-79"/>
                      </a:rPr>
                      <m:t>𝟏𝟎𝟎</m:t>
                    </m:r>
                    <m:r>
                      <a:rPr lang="en-US" b="1" i="1">
                        <a:solidFill>
                          <a:srgbClr val="EEECE1">
                            <a:lumMod val="50000"/>
                          </a:srgbClr>
                        </a:solidFill>
                        <a:latin typeface="Cambria Math"/>
                        <a:cs typeface="David" pitchFamily="34" charset="-79"/>
                      </a:rPr>
                      <m:t>+</m:t>
                    </m:r>
                    <m:r>
                      <a:rPr lang="en-US" b="1" i="1">
                        <a:solidFill>
                          <a:srgbClr val="EEECE1">
                            <a:lumMod val="50000"/>
                          </a:srgbClr>
                        </a:solidFill>
                        <a:latin typeface="Cambria Math"/>
                        <a:cs typeface="David" pitchFamily="34" charset="-79"/>
                      </a:rPr>
                      <m:t>𝑿</m:t>
                    </m:r>
                  </m:oMath>
                </a14:m>
                <a:r>
                  <a:rPr lang="he-IL" b="1" dirty="0">
                    <a:solidFill>
                      <a:srgbClr val="EEECE1">
                        <a:lumMod val="50000"/>
                      </a:srgbClr>
                    </a:solidFill>
                    <a:latin typeface="David" pitchFamily="34" charset="-79"/>
                    <a:cs typeface="David" pitchFamily="34" charset="-79"/>
                  </a:rPr>
                  <a:t> </a:t>
                </a:r>
                <a:endParaRPr lang="en-IL" dirty="0">
                  <a:solidFill>
                    <a:prstClr val="black"/>
                  </a:solidFill>
                  <a:latin typeface="Calibri"/>
                </a:endParaRPr>
              </a:p>
            </p:txBody>
          </p:sp>
        </mc:Choice>
        <mc:Fallback xmlns="">
          <p:sp>
            <p:nvSpPr>
              <p:cNvPr id="44" name="Rectangle 43">
                <a:extLst>
                  <a:ext uri="{FF2B5EF4-FFF2-40B4-BE49-F238E27FC236}">
                    <a16:creationId xmlns:a16="http://schemas.microsoft.com/office/drawing/2014/main" id="{ABAEDE3F-ED6D-4660-BB80-ED300832D3B6}"/>
                  </a:ext>
                </a:extLst>
              </p:cNvPr>
              <p:cNvSpPr>
                <a:spLocks noRot="1" noChangeAspect="1" noMove="1" noResize="1" noEditPoints="1" noAdjustHandles="1" noChangeArrowheads="1" noChangeShapeType="1" noTextEdit="1"/>
              </p:cNvSpPr>
              <p:nvPr/>
            </p:nvSpPr>
            <p:spPr>
              <a:xfrm>
                <a:off x="6663339" y="4072057"/>
                <a:ext cx="2236510" cy="369332"/>
              </a:xfrm>
              <a:prstGeom prst="rect">
                <a:avLst/>
              </a:prstGeom>
              <a:blipFill>
                <a:blip r:embed="rId6"/>
                <a:stretch>
                  <a:fillRect t="-9836" r="-1090" b="-24590"/>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8D307A55-27F7-4786-BCCA-2813D9BD54FB}"/>
                  </a:ext>
                </a:extLst>
              </p:cNvPr>
              <p:cNvSpPr/>
              <p:nvPr/>
            </p:nvSpPr>
            <p:spPr>
              <a:xfrm>
                <a:off x="7157064" y="4367677"/>
                <a:ext cx="1249060" cy="369332"/>
              </a:xfrm>
              <a:prstGeom prst="rect">
                <a:avLst/>
              </a:prstGeom>
            </p:spPr>
            <p:txBody>
              <a:bodyPr wrap="none">
                <a:spAutoFit/>
              </a:bodyPr>
              <a:lstStyle/>
              <a:p>
                <a:pPr algn="l" rtl="0"/>
                <a14:m>
                  <m:oMath xmlns:m="http://schemas.openxmlformats.org/officeDocument/2006/math">
                    <m:r>
                      <a:rPr lang="he-IL" b="1" i="1">
                        <a:solidFill>
                          <a:prstClr val="black"/>
                        </a:solidFill>
                        <a:latin typeface="Cambria Math" panose="02040503050406030204" pitchFamily="18" charset="0"/>
                        <a:cs typeface="David" pitchFamily="34" charset="-79"/>
                      </a:rPr>
                      <m:t>𝟔</m:t>
                    </m:r>
                    <m:r>
                      <a:rPr lang="en-US" b="1" i="1">
                        <a:solidFill>
                          <a:prstClr val="black"/>
                        </a:solidFill>
                        <a:latin typeface="Cambria Math"/>
                        <a:cs typeface="David" pitchFamily="34" charset="-79"/>
                      </a:rPr>
                      <m:t>𝟎𝟎</m:t>
                    </m:r>
                    <m:r>
                      <a:rPr lang="en-US" b="1" i="1">
                        <a:solidFill>
                          <a:prstClr val="black"/>
                        </a:solidFill>
                        <a:latin typeface="Cambria Math"/>
                        <a:cs typeface="David" pitchFamily="34" charset="-79"/>
                      </a:rPr>
                      <m:t>=</m:t>
                    </m:r>
                    <m:r>
                      <a:rPr lang="he-IL" b="1" i="1">
                        <a:solidFill>
                          <a:prstClr val="black"/>
                        </a:solidFill>
                        <a:latin typeface="Cambria Math" panose="02040503050406030204" pitchFamily="18" charset="0"/>
                        <a:cs typeface="David" pitchFamily="34" charset="-79"/>
                      </a:rPr>
                      <m:t>𝟐</m:t>
                    </m:r>
                    <m:r>
                      <a:rPr lang="en-US" b="1" i="1">
                        <a:solidFill>
                          <a:prstClr val="black"/>
                        </a:solidFill>
                        <a:latin typeface="Cambria Math"/>
                        <a:cs typeface="David" pitchFamily="34" charset="-79"/>
                      </a:rPr>
                      <m:t>𝑿</m:t>
                    </m:r>
                  </m:oMath>
                </a14:m>
                <a:r>
                  <a:rPr lang="he-IL" b="1" dirty="0">
                    <a:solidFill>
                      <a:prstClr val="black"/>
                    </a:solidFill>
                    <a:latin typeface="David" pitchFamily="34" charset="-79"/>
                    <a:cs typeface="David" pitchFamily="34" charset="-79"/>
                  </a:rPr>
                  <a:t> </a:t>
                </a:r>
                <a:endParaRPr lang="en-IL" dirty="0">
                  <a:solidFill>
                    <a:prstClr val="black"/>
                  </a:solidFill>
                  <a:latin typeface="Calibri"/>
                </a:endParaRPr>
              </a:p>
            </p:txBody>
          </p:sp>
        </mc:Choice>
        <mc:Fallback xmlns="">
          <p:sp>
            <p:nvSpPr>
              <p:cNvPr id="45" name="Rectangle 44">
                <a:extLst>
                  <a:ext uri="{FF2B5EF4-FFF2-40B4-BE49-F238E27FC236}">
                    <a16:creationId xmlns:a16="http://schemas.microsoft.com/office/drawing/2014/main" id="{8D307A55-27F7-4786-BCCA-2813D9BD54FB}"/>
                  </a:ext>
                </a:extLst>
              </p:cNvPr>
              <p:cNvSpPr>
                <a:spLocks noRot="1" noChangeAspect="1" noMove="1" noResize="1" noEditPoints="1" noAdjustHandles="1" noChangeArrowheads="1" noChangeShapeType="1" noTextEdit="1"/>
              </p:cNvSpPr>
              <p:nvPr/>
            </p:nvSpPr>
            <p:spPr>
              <a:xfrm>
                <a:off x="7157064" y="4367677"/>
                <a:ext cx="1249060" cy="369332"/>
              </a:xfrm>
              <a:prstGeom prst="rect">
                <a:avLst/>
              </a:prstGeom>
              <a:blipFill>
                <a:blip r:embed="rId7"/>
                <a:stretch>
                  <a:fillRect t="-8197" r="-2927" b="-24590"/>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946587AB-E0CC-40A8-9ED4-ECE90A66F0BB}"/>
                  </a:ext>
                </a:extLst>
              </p:cNvPr>
              <p:cNvSpPr/>
              <p:nvPr/>
            </p:nvSpPr>
            <p:spPr>
              <a:xfrm>
                <a:off x="7217998" y="4725330"/>
                <a:ext cx="1111202" cy="369332"/>
              </a:xfrm>
              <a:prstGeom prst="rect">
                <a:avLst/>
              </a:prstGeom>
            </p:spPr>
            <p:txBody>
              <a:bodyPr wrap="none">
                <a:spAutoFit/>
              </a:bodyPr>
              <a:lstStyle/>
              <a:p>
                <a:pPr algn="l" rtl="0"/>
                <a14:m>
                  <m:oMath xmlns:m="http://schemas.openxmlformats.org/officeDocument/2006/math">
                    <m:r>
                      <a:rPr lang="he-IL" b="1" i="1">
                        <a:solidFill>
                          <a:prstClr val="black"/>
                        </a:solidFill>
                        <a:latin typeface="Cambria Math" panose="02040503050406030204" pitchFamily="18" charset="0"/>
                        <a:cs typeface="David" pitchFamily="34" charset="-79"/>
                      </a:rPr>
                      <m:t>𝟑𝟎𝟎</m:t>
                    </m:r>
                    <m:r>
                      <a:rPr lang="en-US" b="1" i="1">
                        <a:solidFill>
                          <a:prstClr val="black"/>
                        </a:solidFill>
                        <a:latin typeface="Cambria Math"/>
                        <a:cs typeface="David" pitchFamily="34" charset="-79"/>
                      </a:rPr>
                      <m:t>=</m:t>
                    </m:r>
                    <m:r>
                      <a:rPr lang="en-US" b="1" i="1">
                        <a:solidFill>
                          <a:prstClr val="black"/>
                        </a:solidFill>
                        <a:latin typeface="Cambria Math"/>
                        <a:cs typeface="David" pitchFamily="34" charset="-79"/>
                      </a:rPr>
                      <m:t>𝑿</m:t>
                    </m:r>
                  </m:oMath>
                </a14:m>
                <a:r>
                  <a:rPr lang="he-IL" b="1" dirty="0">
                    <a:solidFill>
                      <a:prstClr val="black"/>
                    </a:solidFill>
                    <a:latin typeface="David" pitchFamily="34" charset="-79"/>
                    <a:cs typeface="David" pitchFamily="34" charset="-79"/>
                  </a:rPr>
                  <a:t> </a:t>
                </a:r>
                <a:endParaRPr lang="en-IL" dirty="0">
                  <a:solidFill>
                    <a:prstClr val="black"/>
                  </a:solidFill>
                  <a:latin typeface="Calibri"/>
                </a:endParaRPr>
              </a:p>
            </p:txBody>
          </p:sp>
        </mc:Choice>
        <mc:Fallback xmlns="">
          <p:sp>
            <p:nvSpPr>
              <p:cNvPr id="46" name="Rectangle 45">
                <a:extLst>
                  <a:ext uri="{FF2B5EF4-FFF2-40B4-BE49-F238E27FC236}">
                    <a16:creationId xmlns:a16="http://schemas.microsoft.com/office/drawing/2014/main" id="{946587AB-E0CC-40A8-9ED4-ECE90A66F0BB}"/>
                  </a:ext>
                </a:extLst>
              </p:cNvPr>
              <p:cNvSpPr>
                <a:spLocks noRot="1" noChangeAspect="1" noMove="1" noResize="1" noEditPoints="1" noAdjustHandles="1" noChangeArrowheads="1" noChangeShapeType="1" noTextEdit="1"/>
              </p:cNvSpPr>
              <p:nvPr/>
            </p:nvSpPr>
            <p:spPr>
              <a:xfrm>
                <a:off x="7217998" y="4725330"/>
                <a:ext cx="1111202" cy="369332"/>
              </a:xfrm>
              <a:prstGeom prst="rect">
                <a:avLst/>
              </a:prstGeom>
              <a:blipFill>
                <a:blip r:embed="rId8"/>
                <a:stretch>
                  <a:fillRect t="-8197" r="-3297" b="-24590"/>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A5E9052F-475A-4046-9E18-6F147443E440}"/>
                  </a:ext>
                </a:extLst>
              </p:cNvPr>
              <p:cNvSpPr/>
              <p:nvPr/>
            </p:nvSpPr>
            <p:spPr>
              <a:xfrm>
                <a:off x="6945500" y="5151506"/>
                <a:ext cx="2352695" cy="369332"/>
              </a:xfrm>
              <a:prstGeom prst="rect">
                <a:avLst/>
              </a:prstGeom>
            </p:spPr>
            <p:txBody>
              <a:bodyPr wrap="none">
                <a:spAutoFit/>
              </a:bodyPr>
              <a:lstStyle/>
              <a:p>
                <a:pPr algn="l" rtl="0"/>
                <a14:m>
                  <m:oMath xmlns:m="http://schemas.openxmlformats.org/officeDocument/2006/math">
                    <m:sSub>
                      <m:sSubPr>
                        <m:ctrlPr>
                          <a:rPr lang="he-IL" b="1" i="1">
                            <a:solidFill>
                              <a:prstClr val="black"/>
                            </a:solidFill>
                            <a:latin typeface="Cambria Math" panose="02040503050406030204" pitchFamily="18" charset="0"/>
                            <a:cs typeface="David" pitchFamily="34" charset="-79"/>
                          </a:rPr>
                        </m:ctrlPr>
                      </m:sSubPr>
                      <m:e>
                        <m:r>
                          <a:rPr lang="en-US" b="1" i="1">
                            <a:solidFill>
                              <a:prstClr val="black"/>
                            </a:solidFill>
                            <a:latin typeface="Cambria Math"/>
                            <a:cs typeface="David" pitchFamily="34" charset="-79"/>
                          </a:rPr>
                          <m:t>𝑷</m:t>
                        </m:r>
                      </m:e>
                      <m:sub>
                        <m:r>
                          <a:rPr lang="en-US" b="1" i="1">
                            <a:solidFill>
                              <a:prstClr val="black"/>
                            </a:solidFill>
                            <a:latin typeface="Cambria Math"/>
                            <a:cs typeface="David" pitchFamily="34" charset="-79"/>
                          </a:rPr>
                          <m:t>𝑿</m:t>
                        </m:r>
                      </m:sub>
                    </m:sSub>
                    <m:r>
                      <a:rPr lang="en-US" b="1" i="1">
                        <a:solidFill>
                          <a:prstClr val="black"/>
                        </a:solidFill>
                        <a:latin typeface="Cambria Math"/>
                        <a:cs typeface="David" pitchFamily="34" charset="-79"/>
                      </a:rPr>
                      <m:t>=</m:t>
                    </m:r>
                    <m:r>
                      <a:rPr lang="en-US" i="1">
                        <a:solidFill>
                          <a:prstClr val="black"/>
                        </a:solidFill>
                        <a:latin typeface="Cambria Math"/>
                        <a:cs typeface="David" pitchFamily="34" charset="-79"/>
                      </a:rPr>
                      <m:t>100</m:t>
                    </m:r>
                    <m:r>
                      <a:rPr lang="en-US" i="1">
                        <a:solidFill>
                          <a:prstClr val="black"/>
                        </a:solidFill>
                        <a:latin typeface="Cambria Math"/>
                        <a:cs typeface="David" pitchFamily="34" charset="-79"/>
                      </a:rPr>
                      <m:t>+</m:t>
                    </m:r>
                    <m:r>
                      <a:rPr lang="en-US" i="1">
                        <a:solidFill>
                          <a:prstClr val="black"/>
                        </a:solidFill>
                        <a:latin typeface="Cambria Math"/>
                        <a:cs typeface="David" pitchFamily="34" charset="-79"/>
                      </a:rPr>
                      <m:t>𝑋</m:t>
                    </m:r>
                    <m:r>
                      <a:rPr lang="he-IL" i="1">
                        <a:solidFill>
                          <a:prstClr val="black"/>
                        </a:solidFill>
                        <a:latin typeface="Cambria Math" panose="02040503050406030204" pitchFamily="18" charset="0"/>
                        <a:cs typeface="David" pitchFamily="34" charset="-79"/>
                      </a:rPr>
                      <m:t>=</m:t>
                    </m:r>
                    <m:r>
                      <a:rPr lang="he-IL" b="1" i="1">
                        <a:solidFill>
                          <a:prstClr val="black"/>
                        </a:solidFill>
                        <a:latin typeface="Cambria Math" panose="02040503050406030204" pitchFamily="18" charset="0"/>
                        <a:cs typeface="David" pitchFamily="34" charset="-79"/>
                      </a:rPr>
                      <m:t>𝟒𝟎𝟎</m:t>
                    </m:r>
                  </m:oMath>
                </a14:m>
                <a:r>
                  <a:rPr lang="he-IL" b="1" dirty="0">
                    <a:solidFill>
                      <a:prstClr val="black"/>
                    </a:solidFill>
                    <a:latin typeface="David" pitchFamily="34" charset="-79"/>
                    <a:cs typeface="David" pitchFamily="34" charset="-79"/>
                  </a:rPr>
                  <a:t> </a:t>
                </a:r>
                <a:endParaRPr lang="en-IL" b="1" dirty="0">
                  <a:solidFill>
                    <a:prstClr val="black"/>
                  </a:solidFill>
                  <a:latin typeface="Calibri"/>
                </a:endParaRPr>
              </a:p>
            </p:txBody>
          </p:sp>
        </mc:Choice>
        <mc:Fallback xmlns="">
          <p:sp>
            <p:nvSpPr>
              <p:cNvPr id="47" name="Rectangle 46">
                <a:extLst>
                  <a:ext uri="{FF2B5EF4-FFF2-40B4-BE49-F238E27FC236}">
                    <a16:creationId xmlns:a16="http://schemas.microsoft.com/office/drawing/2014/main" id="{A5E9052F-475A-4046-9E18-6F147443E440}"/>
                  </a:ext>
                </a:extLst>
              </p:cNvPr>
              <p:cNvSpPr>
                <a:spLocks noRot="1" noChangeAspect="1" noMove="1" noResize="1" noEditPoints="1" noAdjustHandles="1" noChangeArrowheads="1" noChangeShapeType="1" noTextEdit="1"/>
              </p:cNvSpPr>
              <p:nvPr/>
            </p:nvSpPr>
            <p:spPr>
              <a:xfrm>
                <a:off x="6945500" y="5151506"/>
                <a:ext cx="2352695" cy="369332"/>
              </a:xfrm>
              <a:prstGeom prst="rect">
                <a:avLst/>
              </a:prstGeom>
              <a:blipFill>
                <a:blip r:embed="rId9"/>
                <a:stretch>
                  <a:fillRect t="-8197" r="-1295" b="-24590"/>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D9DD4DA5-A3AE-4432-99C2-B6B5229BDD6D}"/>
                  </a:ext>
                </a:extLst>
              </p:cNvPr>
              <p:cNvSpPr/>
              <p:nvPr/>
            </p:nvSpPr>
            <p:spPr>
              <a:xfrm>
                <a:off x="3370932" y="4266272"/>
                <a:ext cx="649537" cy="369332"/>
              </a:xfrm>
              <a:prstGeom prst="rect">
                <a:avLst/>
              </a:prstGeom>
            </p:spPr>
            <p:txBody>
              <a:bodyPr wrap="none">
                <a:spAutoFit/>
              </a:bodyPr>
              <a:lstStyle/>
              <a:p>
                <a:pPr algn="l" rtl="0"/>
                <a14:m>
                  <m:oMathPara xmlns:m="http://schemas.openxmlformats.org/officeDocument/2006/math">
                    <m:oMathParaPr>
                      <m:jc m:val="centerGroup"/>
                    </m:oMathParaPr>
                    <m:oMath xmlns:m="http://schemas.openxmlformats.org/officeDocument/2006/math">
                      <m:r>
                        <a:rPr lang="he-IL" b="1" i="1">
                          <a:solidFill>
                            <a:prstClr val="black"/>
                          </a:solidFill>
                          <a:latin typeface="Cambria Math" panose="02040503050406030204" pitchFamily="18" charset="0"/>
                          <a:cs typeface="David" pitchFamily="34" charset="-79"/>
                        </a:rPr>
                        <m:t>𝟑𝟎𝟎</m:t>
                      </m:r>
                    </m:oMath>
                  </m:oMathPara>
                </a14:m>
                <a:endParaRPr lang="en-IL" dirty="0">
                  <a:solidFill>
                    <a:prstClr val="black"/>
                  </a:solidFill>
                  <a:latin typeface="Calibri"/>
                </a:endParaRPr>
              </a:p>
            </p:txBody>
          </p:sp>
        </mc:Choice>
        <mc:Fallback xmlns="">
          <p:sp>
            <p:nvSpPr>
              <p:cNvPr id="48" name="Rectangle 47">
                <a:extLst>
                  <a:ext uri="{FF2B5EF4-FFF2-40B4-BE49-F238E27FC236}">
                    <a16:creationId xmlns:a16="http://schemas.microsoft.com/office/drawing/2014/main" id="{D9DD4DA5-A3AE-4432-99C2-B6B5229BDD6D}"/>
                  </a:ext>
                </a:extLst>
              </p:cNvPr>
              <p:cNvSpPr>
                <a:spLocks noRot="1" noChangeAspect="1" noMove="1" noResize="1" noEditPoints="1" noAdjustHandles="1" noChangeArrowheads="1" noChangeShapeType="1" noTextEdit="1"/>
              </p:cNvSpPr>
              <p:nvPr/>
            </p:nvSpPr>
            <p:spPr>
              <a:xfrm>
                <a:off x="3370932" y="4266272"/>
                <a:ext cx="649537" cy="369332"/>
              </a:xfrm>
              <a:prstGeom prst="rect">
                <a:avLst/>
              </a:prstGeom>
              <a:blipFill>
                <a:blip r:embed="rId10"/>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C2D7CFAA-7220-46BC-B910-511D38A14197}"/>
                  </a:ext>
                </a:extLst>
              </p:cNvPr>
              <p:cNvSpPr/>
              <p:nvPr/>
            </p:nvSpPr>
            <p:spPr>
              <a:xfrm>
                <a:off x="1612584" y="2668205"/>
                <a:ext cx="601447" cy="338554"/>
              </a:xfrm>
              <a:prstGeom prst="rect">
                <a:avLst/>
              </a:prstGeom>
            </p:spPr>
            <p:txBody>
              <a:bodyPr wrap="none">
                <a:spAutoFit/>
              </a:bodyPr>
              <a:lstStyle/>
              <a:p>
                <a:pPr algn="l" rtl="0"/>
                <a14:m>
                  <m:oMathPara xmlns:m="http://schemas.openxmlformats.org/officeDocument/2006/math">
                    <m:oMathParaPr>
                      <m:jc m:val="centerGroup"/>
                    </m:oMathParaPr>
                    <m:oMath xmlns:m="http://schemas.openxmlformats.org/officeDocument/2006/math">
                      <m:r>
                        <a:rPr lang="he-IL" sz="1600" b="1" i="1">
                          <a:solidFill>
                            <a:prstClr val="black"/>
                          </a:solidFill>
                          <a:latin typeface="Cambria Math" panose="02040503050406030204" pitchFamily="18" charset="0"/>
                          <a:cs typeface="David" pitchFamily="34" charset="-79"/>
                        </a:rPr>
                        <m:t>𝟒𝟎𝟎</m:t>
                      </m:r>
                    </m:oMath>
                  </m:oMathPara>
                </a14:m>
                <a:endParaRPr lang="en-IL" sz="1600" dirty="0">
                  <a:solidFill>
                    <a:prstClr val="black"/>
                  </a:solidFill>
                  <a:latin typeface="Calibri"/>
                </a:endParaRPr>
              </a:p>
            </p:txBody>
          </p:sp>
        </mc:Choice>
        <mc:Fallback xmlns="">
          <p:sp>
            <p:nvSpPr>
              <p:cNvPr id="49" name="Rectangle 48">
                <a:extLst>
                  <a:ext uri="{FF2B5EF4-FFF2-40B4-BE49-F238E27FC236}">
                    <a16:creationId xmlns:a16="http://schemas.microsoft.com/office/drawing/2014/main" id="{C2D7CFAA-7220-46BC-B910-511D38A14197}"/>
                  </a:ext>
                </a:extLst>
              </p:cNvPr>
              <p:cNvSpPr>
                <a:spLocks noRot="1" noChangeAspect="1" noMove="1" noResize="1" noEditPoints="1" noAdjustHandles="1" noChangeArrowheads="1" noChangeShapeType="1" noTextEdit="1"/>
              </p:cNvSpPr>
              <p:nvPr/>
            </p:nvSpPr>
            <p:spPr>
              <a:xfrm>
                <a:off x="1612584" y="2668205"/>
                <a:ext cx="601447" cy="338554"/>
              </a:xfrm>
              <a:prstGeom prst="rect">
                <a:avLst/>
              </a:prstGeom>
              <a:blipFill>
                <a:blip r:embed="rId11"/>
                <a:stretch>
                  <a:fillRect/>
                </a:stretch>
              </a:blipFill>
            </p:spPr>
            <p:txBody>
              <a:bodyPr/>
              <a:lstStyle/>
              <a:p>
                <a:r>
                  <a:rPr lang="en-IL">
                    <a:noFill/>
                  </a:rPr>
                  <a:t> </a:t>
                </a:r>
              </a:p>
            </p:txBody>
          </p:sp>
        </mc:Fallback>
      </mc:AlternateContent>
      <p:sp>
        <p:nvSpPr>
          <p:cNvPr id="3" name="Date Placeholder 2">
            <a:extLst>
              <a:ext uri="{FF2B5EF4-FFF2-40B4-BE49-F238E27FC236}">
                <a16:creationId xmlns:a16="http://schemas.microsoft.com/office/drawing/2014/main" id="{883C2576-025D-84CD-9837-36CCDFDD18E0}"/>
              </a:ext>
            </a:extLst>
          </p:cNvPr>
          <p:cNvSpPr>
            <a:spLocks noGrp="1"/>
          </p:cNvSpPr>
          <p:nvPr>
            <p:ph type="dt" sz="half" idx="10"/>
          </p:nvPr>
        </p:nvSpPr>
        <p:spPr/>
        <p:txBody>
          <a:bodyPr/>
          <a:lstStyle/>
          <a:p>
            <a:fld id="{C900EC2F-8E71-4751-9930-F4F38CCD581D}" type="datetime8">
              <a:rPr lang="he-IL" smtClean="0"/>
              <a:t>09 ינואר 26</a:t>
            </a:fld>
            <a:endParaRPr lang="he-IL"/>
          </a:p>
        </p:txBody>
      </p:sp>
    </p:spTree>
    <p:extLst>
      <p:ext uri="{BB962C8B-B14F-4D97-AF65-F5344CB8AC3E}">
        <p14:creationId xmlns:p14="http://schemas.microsoft.com/office/powerpoint/2010/main" val="1117829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4" presetClass="entr" presetSubtype="1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randombar(horizontal)">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randombar(horizontal)">
                                      <p:cBhvr>
                                        <p:cTn id="20" dur="500"/>
                                        <p:tgtEl>
                                          <p:spTgt spid="18"/>
                                        </p:tgtEl>
                                      </p:cBhvr>
                                    </p:animEffect>
                                  </p:childTnLst>
                                </p:cTn>
                              </p:par>
                              <p:par>
                                <p:cTn id="21" presetID="14" presetClass="entr" presetSubtype="1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randombar(horizontal)">
                                      <p:cBhvr>
                                        <p:cTn id="23" dur="500"/>
                                        <p:tgtEl>
                                          <p:spTgt spid="13"/>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randombar(horizontal)">
                                      <p:cBhvr>
                                        <p:cTn id="26" dur="500"/>
                                        <p:tgtEl>
                                          <p:spTgt spid="17"/>
                                        </p:tgtEl>
                                      </p:cBhvr>
                                    </p:animEffect>
                                  </p:childTnLst>
                                </p:cTn>
                              </p:par>
                              <p:par>
                                <p:cTn id="27" presetID="22" presetClass="entr" presetSubtype="4"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down)">
                                      <p:cBhvr>
                                        <p:cTn id="29" dur="500"/>
                                        <p:tgtEl>
                                          <p:spTgt spid="20"/>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down)">
                                      <p:cBhvr>
                                        <p:cTn id="32" dur="500"/>
                                        <p:tgtEl>
                                          <p:spTgt spid="21"/>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wipe(down)">
                                      <p:cBhvr>
                                        <p:cTn id="35" dur="500"/>
                                        <p:tgtEl>
                                          <p:spTgt spid="22"/>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wipe(down)">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wipe(down)">
                                      <p:cBhvr>
                                        <p:cTn id="43" dur="500"/>
                                        <p:tgtEl>
                                          <p:spTgt spid="27"/>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wipe(down)">
                                      <p:cBhvr>
                                        <p:cTn id="46" dur="500"/>
                                        <p:tgtEl>
                                          <p:spTgt spid="28"/>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wipe(down)">
                                      <p:cBhvr>
                                        <p:cTn id="49" dur="500"/>
                                        <p:tgtEl>
                                          <p:spTgt spid="29"/>
                                        </p:tgtEl>
                                      </p:cBhvr>
                                    </p:animEffect>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barn(inVertical)">
                                      <p:cBhvr>
                                        <p:cTn id="54" dur="500"/>
                                        <p:tgtEl>
                                          <p:spTgt spid="1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500"/>
                                        <p:tgtEl>
                                          <p:spTgt spid="33"/>
                                        </p:tgtEl>
                                      </p:cBhvr>
                                    </p:animEffect>
                                  </p:childTnLst>
                                </p:cTn>
                              </p:par>
                              <p:par>
                                <p:cTn id="60" presetID="10" presetClass="entr" presetSubtype="0" fill="hold"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fade">
                                      <p:cBhvr>
                                        <p:cTn id="62" dur="500"/>
                                        <p:tgtEl>
                                          <p:spTgt spid="32"/>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grpId="0" nodeType="clickEffect">
                                  <p:stCondLst>
                                    <p:cond delay="0"/>
                                  </p:stCondLst>
                                  <p:childTnLst>
                                    <p:set>
                                      <p:cBhvr>
                                        <p:cTn id="66" dur="1" fill="hold">
                                          <p:stCondLst>
                                            <p:cond delay="0"/>
                                          </p:stCondLst>
                                        </p:cTn>
                                        <p:tgtEl>
                                          <p:spTgt spid="40"/>
                                        </p:tgtEl>
                                        <p:attrNameLst>
                                          <p:attrName>style.visibility</p:attrName>
                                        </p:attrNameLst>
                                      </p:cBhvr>
                                      <p:to>
                                        <p:strVal val="visible"/>
                                      </p:to>
                                    </p:set>
                                    <p:animEffect transition="in" filter="barn(inVertical)">
                                      <p:cBhvr>
                                        <p:cTn id="67" dur="500"/>
                                        <p:tgtEl>
                                          <p:spTgt spid="40"/>
                                        </p:tgtEl>
                                      </p:cBhvr>
                                    </p:animEffect>
                                  </p:childTnLst>
                                </p:cTn>
                              </p:par>
                              <p:par>
                                <p:cTn id="68" presetID="16" presetClass="entr" presetSubtype="21" fill="hold" grpId="0" nodeType="with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barn(inVertical)">
                                      <p:cBhvr>
                                        <p:cTn id="70" dur="500"/>
                                        <p:tgtEl>
                                          <p:spTgt spid="38"/>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barn(inVertical)">
                                      <p:cBhvr>
                                        <p:cTn id="73" dur="500"/>
                                        <p:tgtEl>
                                          <p:spTgt spid="39"/>
                                        </p:tgtEl>
                                      </p:cBhvr>
                                    </p:animEffect>
                                  </p:childTnLst>
                                </p:cTn>
                              </p:par>
                              <p:par>
                                <p:cTn id="74" presetID="16" presetClass="entr" presetSubtype="21" fill="hold" nodeType="withEffect">
                                  <p:stCondLst>
                                    <p:cond delay="0"/>
                                  </p:stCondLst>
                                  <p:childTnLst>
                                    <p:set>
                                      <p:cBhvr>
                                        <p:cTn id="75" dur="1" fill="hold">
                                          <p:stCondLst>
                                            <p:cond delay="0"/>
                                          </p:stCondLst>
                                        </p:cTn>
                                        <p:tgtEl>
                                          <p:spTgt spid="42"/>
                                        </p:tgtEl>
                                        <p:attrNameLst>
                                          <p:attrName>style.visibility</p:attrName>
                                        </p:attrNameLst>
                                      </p:cBhvr>
                                      <p:to>
                                        <p:strVal val="visible"/>
                                      </p:to>
                                    </p:set>
                                    <p:animEffect transition="in" filter="barn(inVertical)">
                                      <p:cBhvr>
                                        <p:cTn id="76" dur="500"/>
                                        <p:tgtEl>
                                          <p:spTgt spid="42"/>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4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5"/>
                                        </p:tgtEl>
                                        <p:attrNameLst>
                                          <p:attrName>style.visibility</p:attrName>
                                        </p:attrNameLst>
                                      </p:cBhvr>
                                      <p:to>
                                        <p:strVal val="visible"/>
                                      </p:to>
                                    </p:set>
                                    <p:animEffect transition="in" filter="fade">
                                      <p:cBhvr>
                                        <p:cTn id="85" dur="500"/>
                                        <p:tgtEl>
                                          <p:spTgt spid="45"/>
                                        </p:tgtEl>
                                      </p:cBhvr>
                                    </p:animEffect>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grpId="0" nodeType="clickEffect">
                                  <p:stCondLst>
                                    <p:cond delay="0"/>
                                  </p:stCondLst>
                                  <p:childTnLst>
                                    <p:set>
                                      <p:cBhvr>
                                        <p:cTn id="89" dur="1" fill="hold">
                                          <p:stCondLst>
                                            <p:cond delay="0"/>
                                          </p:stCondLst>
                                        </p:cTn>
                                        <p:tgtEl>
                                          <p:spTgt spid="46"/>
                                        </p:tgtEl>
                                        <p:attrNameLst>
                                          <p:attrName>style.visibility</p:attrName>
                                        </p:attrNameLst>
                                      </p:cBhvr>
                                      <p:to>
                                        <p:strVal val="visible"/>
                                      </p:to>
                                    </p:set>
                                    <p:animEffect transition="in" filter="fade">
                                      <p:cBhvr>
                                        <p:cTn id="90" dur="1000"/>
                                        <p:tgtEl>
                                          <p:spTgt spid="46"/>
                                        </p:tgtEl>
                                      </p:cBhvr>
                                    </p:animEffect>
                                    <p:anim calcmode="lin" valueType="num">
                                      <p:cBhvr>
                                        <p:cTn id="91" dur="1000" fill="hold"/>
                                        <p:tgtEl>
                                          <p:spTgt spid="46"/>
                                        </p:tgtEl>
                                        <p:attrNameLst>
                                          <p:attrName>ppt_x</p:attrName>
                                        </p:attrNameLst>
                                      </p:cBhvr>
                                      <p:tavLst>
                                        <p:tav tm="0">
                                          <p:val>
                                            <p:strVal val="#ppt_x"/>
                                          </p:val>
                                        </p:tav>
                                        <p:tav tm="100000">
                                          <p:val>
                                            <p:strVal val="#ppt_x"/>
                                          </p:val>
                                        </p:tav>
                                      </p:tavLst>
                                    </p:anim>
                                    <p:anim calcmode="lin" valueType="num">
                                      <p:cBhvr>
                                        <p:cTn id="92"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16" presetClass="entr" presetSubtype="21" fill="hold" grpId="0" nodeType="clickEffect">
                                  <p:stCondLst>
                                    <p:cond delay="0"/>
                                  </p:stCondLst>
                                  <p:childTnLst>
                                    <p:set>
                                      <p:cBhvr>
                                        <p:cTn id="96" dur="1" fill="hold">
                                          <p:stCondLst>
                                            <p:cond delay="0"/>
                                          </p:stCondLst>
                                        </p:cTn>
                                        <p:tgtEl>
                                          <p:spTgt spid="47"/>
                                        </p:tgtEl>
                                        <p:attrNameLst>
                                          <p:attrName>style.visibility</p:attrName>
                                        </p:attrNameLst>
                                      </p:cBhvr>
                                      <p:to>
                                        <p:strVal val="visible"/>
                                      </p:to>
                                    </p:set>
                                    <p:animEffect transition="in" filter="barn(inVertical)">
                                      <p:cBhvr>
                                        <p:cTn id="97" dur="500"/>
                                        <p:tgtEl>
                                          <p:spTgt spid="47"/>
                                        </p:tgtEl>
                                      </p:cBhvr>
                                    </p:animEffect>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grpId="0" nodeType="clickEffect">
                                  <p:stCondLst>
                                    <p:cond delay="0"/>
                                  </p:stCondLst>
                                  <p:childTnLst>
                                    <p:set>
                                      <p:cBhvr>
                                        <p:cTn id="101" dur="1" fill="hold">
                                          <p:stCondLst>
                                            <p:cond delay="0"/>
                                          </p:stCondLst>
                                        </p:cTn>
                                        <p:tgtEl>
                                          <p:spTgt spid="48"/>
                                        </p:tgtEl>
                                        <p:attrNameLst>
                                          <p:attrName>style.visibility</p:attrName>
                                        </p:attrNameLst>
                                      </p:cBhvr>
                                      <p:to>
                                        <p:strVal val="visible"/>
                                      </p:to>
                                    </p:set>
                                    <p:anim calcmode="lin" valueType="num">
                                      <p:cBhvr additive="base">
                                        <p:cTn id="102" dur="500" fill="hold"/>
                                        <p:tgtEl>
                                          <p:spTgt spid="48"/>
                                        </p:tgtEl>
                                        <p:attrNameLst>
                                          <p:attrName>ppt_x</p:attrName>
                                        </p:attrNameLst>
                                      </p:cBhvr>
                                      <p:tavLst>
                                        <p:tav tm="0">
                                          <p:val>
                                            <p:strVal val="#ppt_x"/>
                                          </p:val>
                                        </p:tav>
                                        <p:tav tm="100000">
                                          <p:val>
                                            <p:strVal val="#ppt_x"/>
                                          </p:val>
                                        </p:tav>
                                      </p:tavLst>
                                    </p:anim>
                                    <p:anim calcmode="lin" valueType="num">
                                      <p:cBhvr additive="base">
                                        <p:cTn id="103" dur="500" fill="hold"/>
                                        <p:tgtEl>
                                          <p:spTgt spid="48"/>
                                        </p:tgtEl>
                                        <p:attrNameLst>
                                          <p:attrName>ppt_y</p:attrName>
                                        </p:attrNameLst>
                                      </p:cBhvr>
                                      <p:tavLst>
                                        <p:tav tm="0">
                                          <p:val>
                                            <p:strVal val="1+#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49"/>
                                        </p:tgtEl>
                                        <p:attrNameLst>
                                          <p:attrName>style.visibility</p:attrName>
                                        </p:attrNameLst>
                                      </p:cBhvr>
                                      <p:to>
                                        <p:strVal val="visible"/>
                                      </p:to>
                                    </p:set>
                                    <p:anim calcmode="lin" valueType="num">
                                      <p:cBhvr additive="base">
                                        <p:cTn id="106" dur="500" fill="hold"/>
                                        <p:tgtEl>
                                          <p:spTgt spid="49"/>
                                        </p:tgtEl>
                                        <p:attrNameLst>
                                          <p:attrName>ppt_x</p:attrName>
                                        </p:attrNameLst>
                                      </p:cBhvr>
                                      <p:tavLst>
                                        <p:tav tm="0">
                                          <p:val>
                                            <p:strVal val="#ppt_x"/>
                                          </p:val>
                                        </p:tav>
                                        <p:tav tm="100000">
                                          <p:val>
                                            <p:strVal val="#ppt_x"/>
                                          </p:val>
                                        </p:tav>
                                      </p:tavLst>
                                    </p:anim>
                                    <p:anim calcmode="lin" valueType="num">
                                      <p:cBhvr additive="base">
                                        <p:cTn id="107"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31" presetClass="entr" presetSubtype="0" fill="hold" grpId="0" nodeType="clickEffect">
                                  <p:stCondLst>
                                    <p:cond delay="0"/>
                                  </p:stCondLst>
                                  <p:childTnLst>
                                    <p:set>
                                      <p:cBhvr>
                                        <p:cTn id="111" dur="1" fill="hold">
                                          <p:stCondLst>
                                            <p:cond delay="0"/>
                                          </p:stCondLst>
                                        </p:cTn>
                                        <p:tgtEl>
                                          <p:spTgt spid="7"/>
                                        </p:tgtEl>
                                        <p:attrNameLst>
                                          <p:attrName>style.visibility</p:attrName>
                                        </p:attrNameLst>
                                      </p:cBhvr>
                                      <p:to>
                                        <p:strVal val="visible"/>
                                      </p:to>
                                    </p:set>
                                    <p:anim calcmode="lin" valueType="num">
                                      <p:cBhvr>
                                        <p:cTn id="112" dur="1000" fill="hold"/>
                                        <p:tgtEl>
                                          <p:spTgt spid="7"/>
                                        </p:tgtEl>
                                        <p:attrNameLst>
                                          <p:attrName>ppt_w</p:attrName>
                                        </p:attrNameLst>
                                      </p:cBhvr>
                                      <p:tavLst>
                                        <p:tav tm="0">
                                          <p:val>
                                            <p:fltVal val="0"/>
                                          </p:val>
                                        </p:tav>
                                        <p:tav tm="100000">
                                          <p:val>
                                            <p:strVal val="#ppt_w"/>
                                          </p:val>
                                        </p:tav>
                                      </p:tavLst>
                                    </p:anim>
                                    <p:anim calcmode="lin" valueType="num">
                                      <p:cBhvr>
                                        <p:cTn id="113" dur="1000" fill="hold"/>
                                        <p:tgtEl>
                                          <p:spTgt spid="7"/>
                                        </p:tgtEl>
                                        <p:attrNameLst>
                                          <p:attrName>ppt_h</p:attrName>
                                        </p:attrNameLst>
                                      </p:cBhvr>
                                      <p:tavLst>
                                        <p:tav tm="0">
                                          <p:val>
                                            <p:fltVal val="0"/>
                                          </p:val>
                                        </p:tav>
                                        <p:tav tm="100000">
                                          <p:val>
                                            <p:strVal val="#ppt_h"/>
                                          </p:val>
                                        </p:tav>
                                      </p:tavLst>
                                    </p:anim>
                                    <p:anim calcmode="lin" valueType="num">
                                      <p:cBhvr>
                                        <p:cTn id="114" dur="1000" fill="hold"/>
                                        <p:tgtEl>
                                          <p:spTgt spid="7"/>
                                        </p:tgtEl>
                                        <p:attrNameLst>
                                          <p:attrName>style.rotation</p:attrName>
                                        </p:attrNameLst>
                                      </p:cBhvr>
                                      <p:tavLst>
                                        <p:tav tm="0">
                                          <p:val>
                                            <p:fltVal val="90"/>
                                          </p:val>
                                        </p:tav>
                                        <p:tav tm="100000">
                                          <p:val>
                                            <p:fltVal val="0"/>
                                          </p:val>
                                        </p:tav>
                                      </p:tavLst>
                                    </p:anim>
                                    <p:animEffect transition="in" filter="fade">
                                      <p:cBhvr>
                                        <p:cTn id="115"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animBg="1"/>
      <p:bldP spid="17" grpId="0"/>
      <p:bldP spid="18" grpId="0"/>
      <p:bldP spid="19" grpId="0"/>
      <p:bldP spid="21" grpId="0"/>
      <p:bldP spid="22" grpId="0"/>
      <p:bldP spid="26" grpId="0"/>
      <p:bldP spid="28" grpId="0"/>
      <p:bldP spid="29" grpId="0"/>
      <p:bldP spid="38" grpId="0"/>
      <p:bldP spid="39" grpId="0"/>
      <p:bldP spid="40" grpId="0" animBg="1"/>
      <p:bldP spid="44" grpId="0"/>
      <p:bldP spid="45" grpId="0"/>
      <p:bldP spid="46" grpId="0"/>
      <p:bldP spid="47" grpId="0"/>
      <p:bldP spid="48" grpId="0"/>
      <p:bldP spid="4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438400" y="274638"/>
            <a:ext cx="7772400" cy="367854"/>
          </a:xfrm>
        </p:spPr>
        <p:txBody>
          <a:bodyPr>
            <a:normAutofit fontScale="90000"/>
          </a:bodyPr>
          <a:lstStyle/>
          <a:p>
            <a:pPr algn="ctr"/>
            <a:r>
              <a:rPr lang="he-IL" dirty="0"/>
              <a:t>שיווי משקל בשוק</a:t>
            </a:r>
            <a:endParaRPr lang="en-US" dirty="0"/>
          </a:p>
        </p:txBody>
      </p:sp>
      <p:sp>
        <p:nvSpPr>
          <p:cNvPr id="3" name="Slide Number Placeholder 2">
            <a:extLst>
              <a:ext uri="{FF2B5EF4-FFF2-40B4-BE49-F238E27FC236}">
                <a16:creationId xmlns:a16="http://schemas.microsoft.com/office/drawing/2014/main" id="{9DE42679-A4AD-4FA3-BDCF-DCF70247B668}"/>
              </a:ext>
            </a:extLst>
          </p:cNvPr>
          <p:cNvSpPr>
            <a:spLocks noGrp="1"/>
          </p:cNvSpPr>
          <p:nvPr>
            <p:ph type="sldNum" sz="quarter" idx="12"/>
          </p:nvPr>
        </p:nvSpPr>
        <p:spPr>
          <a:xfrm>
            <a:off x="607194" y="6421723"/>
            <a:ext cx="2844800" cy="365125"/>
          </a:xfrm>
        </p:spPr>
        <p:txBody>
          <a:bodyPr/>
          <a:lstStyle/>
          <a:p>
            <a:pPr rtl="0"/>
            <a:fld id="{EE4A799E-BCDC-47C4-95D4-74FB8914F55A}" type="slidenum">
              <a:rPr lang="en-US">
                <a:solidFill>
                  <a:prstClr val="black">
                    <a:tint val="75000"/>
                  </a:prstClr>
                </a:solidFill>
                <a:latin typeface="Calibri"/>
              </a:rPr>
              <a:pPr rtl="0"/>
              <a:t>27</a:t>
            </a:fld>
            <a:endParaRPr lang="en-US">
              <a:solidFill>
                <a:prstClr val="black">
                  <a:tint val="75000"/>
                </a:prstClr>
              </a:solidFill>
              <a:latin typeface="Calibri"/>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3B9F380B-FCE6-462B-82C6-AEBCA0E2BA36}"/>
                  </a:ext>
                </a:extLst>
              </p:cNvPr>
              <p:cNvSpPr/>
              <p:nvPr/>
            </p:nvSpPr>
            <p:spPr>
              <a:xfrm>
                <a:off x="5191433" y="700690"/>
                <a:ext cx="6477106" cy="1338828"/>
              </a:xfrm>
              <a:prstGeom prst="rect">
                <a:avLst/>
              </a:prstGeom>
            </p:spPr>
            <p:txBody>
              <a:bodyPr wrap="square">
                <a:spAutoFit/>
              </a:bodyPr>
              <a:lstStyle/>
              <a:p>
                <a:pPr>
                  <a:lnSpc>
                    <a:spcPct val="150000"/>
                  </a:lnSpc>
                </a:pPr>
                <a:r>
                  <a:rPr lang="he-IL" dirty="0">
                    <a:solidFill>
                      <a:prstClr val="black"/>
                    </a:solidFill>
                    <a:latin typeface="David" pitchFamily="34" charset="-79"/>
                    <a:cs typeface="David" pitchFamily="34" charset="-79"/>
                  </a:rPr>
                  <a:t>הביקוש המצרפי לאפרסקים במשק נתון ע"י </a:t>
                </a:r>
                <a14:m>
                  <m:oMath xmlns:m="http://schemas.openxmlformats.org/officeDocument/2006/math">
                    <m:sSub>
                      <m:sSubPr>
                        <m:ctrlPr>
                          <a:rPr lang="he-IL" b="1" i="1">
                            <a:solidFill>
                              <a:srgbClr val="7030A0"/>
                            </a:solidFill>
                            <a:latin typeface="Cambria Math" panose="02040503050406030204" pitchFamily="18" charset="0"/>
                            <a:cs typeface="David" pitchFamily="34" charset="-79"/>
                          </a:rPr>
                        </m:ctrlPr>
                      </m:sSubPr>
                      <m:e>
                        <m:r>
                          <a:rPr lang="en-US" b="1" i="1">
                            <a:solidFill>
                              <a:srgbClr val="7030A0"/>
                            </a:solidFill>
                            <a:latin typeface="Cambria Math"/>
                            <a:cs typeface="David" pitchFamily="34" charset="-79"/>
                          </a:rPr>
                          <m:t>𝑷</m:t>
                        </m:r>
                      </m:e>
                      <m:sub>
                        <m:r>
                          <a:rPr lang="en-US" b="1" i="1">
                            <a:solidFill>
                              <a:srgbClr val="7030A0"/>
                            </a:solidFill>
                            <a:latin typeface="Cambria Math"/>
                            <a:cs typeface="David" pitchFamily="34" charset="-79"/>
                          </a:rPr>
                          <m:t>𝑿</m:t>
                        </m:r>
                      </m:sub>
                    </m:sSub>
                    <m:r>
                      <a:rPr lang="en-US" b="1" i="1">
                        <a:solidFill>
                          <a:srgbClr val="7030A0"/>
                        </a:solidFill>
                        <a:latin typeface="Cambria Math"/>
                        <a:cs typeface="David" pitchFamily="34" charset="-79"/>
                      </a:rPr>
                      <m:t>=</m:t>
                    </m:r>
                    <m:r>
                      <a:rPr lang="en-US" b="1" i="1">
                        <a:solidFill>
                          <a:srgbClr val="7030A0"/>
                        </a:solidFill>
                        <a:latin typeface="Cambria Math"/>
                        <a:cs typeface="David" pitchFamily="34" charset="-79"/>
                      </a:rPr>
                      <m:t>𝟕𝟎𝟎</m:t>
                    </m:r>
                    <m:r>
                      <a:rPr lang="en-US" b="1" i="1">
                        <a:solidFill>
                          <a:srgbClr val="7030A0"/>
                        </a:solidFill>
                        <a:latin typeface="Cambria Math"/>
                        <a:cs typeface="David" pitchFamily="34" charset="-79"/>
                      </a:rPr>
                      <m:t>−</m:t>
                    </m:r>
                    <m:r>
                      <a:rPr lang="en-US" b="1" i="1">
                        <a:solidFill>
                          <a:srgbClr val="7030A0"/>
                        </a:solidFill>
                        <a:latin typeface="Cambria Math"/>
                        <a:cs typeface="David" pitchFamily="34" charset="-79"/>
                      </a:rPr>
                      <m:t>𝑿</m:t>
                    </m:r>
                  </m:oMath>
                </a14:m>
                <a:r>
                  <a:rPr lang="he-IL" dirty="0">
                    <a:solidFill>
                      <a:prstClr val="black"/>
                    </a:solidFill>
                    <a:latin typeface="David" pitchFamily="34" charset="-79"/>
                    <a:cs typeface="David" pitchFamily="34" charset="-79"/>
                  </a:rPr>
                  <a:t>, </a:t>
                </a:r>
                <a:br>
                  <a:rPr lang="en-US" dirty="0">
                    <a:solidFill>
                      <a:prstClr val="black"/>
                    </a:solidFill>
                    <a:latin typeface="David" pitchFamily="34" charset="-79"/>
                    <a:cs typeface="David" pitchFamily="34" charset="-79"/>
                  </a:rPr>
                </a:br>
                <a:r>
                  <a:rPr lang="he-IL" dirty="0">
                    <a:solidFill>
                      <a:prstClr val="black"/>
                    </a:solidFill>
                    <a:latin typeface="David" pitchFamily="34" charset="-79"/>
                    <a:cs typeface="David" pitchFamily="34" charset="-79"/>
                  </a:rPr>
                  <a:t>ההיצע המצרפי של האפרסקים נתון ע"י </a:t>
                </a:r>
                <a14:m>
                  <m:oMath xmlns:m="http://schemas.openxmlformats.org/officeDocument/2006/math">
                    <m:sSub>
                      <m:sSubPr>
                        <m:ctrlPr>
                          <a:rPr lang="he-IL" b="1" i="1">
                            <a:solidFill>
                              <a:srgbClr val="EEECE1">
                                <a:lumMod val="50000"/>
                              </a:srgbClr>
                            </a:solidFill>
                            <a:latin typeface="Cambria Math" panose="02040503050406030204" pitchFamily="18" charset="0"/>
                            <a:cs typeface="David" pitchFamily="34" charset="-79"/>
                          </a:rPr>
                        </m:ctrlPr>
                      </m:sSubPr>
                      <m:e>
                        <m:r>
                          <a:rPr lang="en-US" b="1" i="1">
                            <a:solidFill>
                              <a:srgbClr val="EEECE1">
                                <a:lumMod val="50000"/>
                              </a:srgbClr>
                            </a:solidFill>
                            <a:latin typeface="Cambria Math"/>
                            <a:cs typeface="David" pitchFamily="34" charset="-79"/>
                          </a:rPr>
                          <m:t>𝑷</m:t>
                        </m:r>
                      </m:e>
                      <m:sub>
                        <m:r>
                          <a:rPr lang="en-US" b="1" i="1">
                            <a:solidFill>
                              <a:srgbClr val="EEECE1">
                                <a:lumMod val="50000"/>
                              </a:srgbClr>
                            </a:solidFill>
                            <a:latin typeface="Cambria Math"/>
                            <a:cs typeface="David" pitchFamily="34" charset="-79"/>
                          </a:rPr>
                          <m:t>𝑿</m:t>
                        </m:r>
                      </m:sub>
                    </m:sSub>
                    <m:r>
                      <a:rPr lang="en-US" b="1" i="1">
                        <a:solidFill>
                          <a:srgbClr val="EEECE1">
                            <a:lumMod val="50000"/>
                          </a:srgbClr>
                        </a:solidFill>
                        <a:latin typeface="Cambria Math"/>
                        <a:cs typeface="David" pitchFamily="34" charset="-79"/>
                      </a:rPr>
                      <m:t>=</m:t>
                    </m:r>
                    <m:r>
                      <a:rPr lang="en-US" b="1" i="1">
                        <a:solidFill>
                          <a:srgbClr val="EEECE1">
                            <a:lumMod val="50000"/>
                          </a:srgbClr>
                        </a:solidFill>
                        <a:latin typeface="Cambria Math"/>
                        <a:cs typeface="David" pitchFamily="34" charset="-79"/>
                      </a:rPr>
                      <m:t>𝟏𝟎𝟎</m:t>
                    </m:r>
                    <m:r>
                      <a:rPr lang="en-US" b="1" i="1">
                        <a:solidFill>
                          <a:srgbClr val="EEECE1">
                            <a:lumMod val="50000"/>
                          </a:srgbClr>
                        </a:solidFill>
                        <a:latin typeface="Cambria Math"/>
                        <a:cs typeface="David" pitchFamily="34" charset="-79"/>
                      </a:rPr>
                      <m:t>+</m:t>
                    </m:r>
                    <m:r>
                      <a:rPr lang="en-US" b="1" i="1">
                        <a:solidFill>
                          <a:srgbClr val="EEECE1">
                            <a:lumMod val="50000"/>
                          </a:srgbClr>
                        </a:solidFill>
                        <a:latin typeface="Cambria Math"/>
                        <a:cs typeface="David" pitchFamily="34" charset="-79"/>
                      </a:rPr>
                      <m:t>𝑿</m:t>
                    </m:r>
                  </m:oMath>
                </a14:m>
                <a:r>
                  <a:rPr lang="he-IL" b="1" dirty="0">
                    <a:solidFill>
                      <a:srgbClr val="EEECE1">
                        <a:lumMod val="50000"/>
                      </a:srgbClr>
                    </a:solidFill>
                    <a:latin typeface="David" pitchFamily="34" charset="-79"/>
                    <a:cs typeface="David" pitchFamily="34" charset="-79"/>
                  </a:rPr>
                  <a:t> </a:t>
                </a:r>
                <a:endParaRPr lang="he-IL" b="1" dirty="0">
                  <a:solidFill>
                    <a:prstClr val="black"/>
                  </a:solidFill>
                  <a:latin typeface="David" pitchFamily="34" charset="-79"/>
                  <a:cs typeface="David" pitchFamily="34" charset="-79"/>
                </a:endParaRPr>
              </a:p>
              <a:p>
                <a:pPr>
                  <a:lnSpc>
                    <a:spcPct val="150000"/>
                  </a:lnSpc>
                </a:pPr>
                <a:r>
                  <a:rPr lang="he-IL" dirty="0">
                    <a:solidFill>
                      <a:prstClr val="black"/>
                    </a:solidFill>
                    <a:latin typeface="David" pitchFamily="34" charset="-79"/>
                    <a:cs typeface="David" pitchFamily="34" charset="-79"/>
                  </a:rPr>
                  <a:t>כאשר </a:t>
                </a:r>
                <a:r>
                  <a:rPr lang="en-US" dirty="0">
                    <a:solidFill>
                      <a:prstClr val="black"/>
                    </a:solidFill>
                    <a:latin typeface="David" pitchFamily="34" charset="-79"/>
                    <a:cs typeface="David" pitchFamily="34" charset="-79"/>
                  </a:rPr>
                  <a:t>X </a:t>
                </a:r>
                <a:r>
                  <a:rPr lang="he-IL" dirty="0">
                    <a:solidFill>
                      <a:prstClr val="black"/>
                    </a:solidFill>
                    <a:latin typeface="David" pitchFamily="34" charset="-79"/>
                    <a:cs typeface="David" pitchFamily="34" charset="-79"/>
                  </a:rPr>
                  <a:t> - כמות (טון) אפרסקים,  </a:t>
                </a:r>
                <a14:m>
                  <m:oMath xmlns:m="http://schemas.openxmlformats.org/officeDocument/2006/math">
                    <m:sSub>
                      <m:sSubPr>
                        <m:ctrlPr>
                          <a:rPr lang="he-IL" i="1">
                            <a:solidFill>
                              <a:prstClr val="black"/>
                            </a:solidFill>
                            <a:latin typeface="Cambria Math" panose="02040503050406030204" pitchFamily="18" charset="0"/>
                            <a:cs typeface="David" pitchFamily="34" charset="-79"/>
                          </a:rPr>
                        </m:ctrlPr>
                      </m:sSubPr>
                      <m:e>
                        <m:r>
                          <a:rPr lang="en-US" i="1">
                            <a:solidFill>
                              <a:prstClr val="black"/>
                            </a:solidFill>
                            <a:latin typeface="Cambria Math"/>
                            <a:cs typeface="David" pitchFamily="34" charset="-79"/>
                          </a:rPr>
                          <m:t>𝑃</m:t>
                        </m:r>
                      </m:e>
                      <m:sub>
                        <m:r>
                          <a:rPr lang="en-US" i="1">
                            <a:solidFill>
                              <a:prstClr val="black"/>
                            </a:solidFill>
                            <a:latin typeface="Cambria Math"/>
                            <a:cs typeface="David" pitchFamily="34" charset="-79"/>
                          </a:rPr>
                          <m:t>𝑋</m:t>
                        </m:r>
                      </m:sub>
                    </m:sSub>
                  </m:oMath>
                </a14:m>
                <a:r>
                  <a:rPr lang="he-IL" dirty="0">
                    <a:solidFill>
                      <a:prstClr val="black"/>
                    </a:solidFill>
                    <a:latin typeface="David" pitchFamily="34" charset="-79"/>
                    <a:cs typeface="David" pitchFamily="34" charset="-79"/>
                  </a:rPr>
                  <a:t> - מחיר לטון.</a:t>
                </a:r>
              </a:p>
            </p:txBody>
          </p:sp>
        </mc:Choice>
        <mc:Fallback xmlns="">
          <p:sp>
            <p:nvSpPr>
              <p:cNvPr id="2" name="Rectangle 1">
                <a:extLst>
                  <a:ext uri="{FF2B5EF4-FFF2-40B4-BE49-F238E27FC236}">
                    <a16:creationId xmlns:a16="http://schemas.microsoft.com/office/drawing/2014/main" id="{3B9F380B-FCE6-462B-82C6-AEBCA0E2BA36}"/>
                  </a:ext>
                </a:extLst>
              </p:cNvPr>
              <p:cNvSpPr>
                <a:spLocks noRot="1" noChangeAspect="1" noMove="1" noResize="1" noEditPoints="1" noAdjustHandles="1" noChangeArrowheads="1" noChangeShapeType="1" noTextEdit="1"/>
              </p:cNvSpPr>
              <p:nvPr/>
            </p:nvSpPr>
            <p:spPr>
              <a:xfrm>
                <a:off x="5191433" y="700690"/>
                <a:ext cx="6477106" cy="1338828"/>
              </a:xfrm>
              <a:prstGeom prst="rect">
                <a:avLst/>
              </a:prstGeom>
              <a:blipFill>
                <a:blip r:embed="rId2"/>
                <a:stretch>
                  <a:fillRect r="-753" b="-2727"/>
                </a:stretch>
              </a:blipFill>
            </p:spPr>
            <p:txBody>
              <a:bodyPr/>
              <a:lstStyle/>
              <a:p>
                <a:r>
                  <a:rPr lang="he-IL">
                    <a:noFill/>
                  </a:rPr>
                  <a:t> </a:t>
                </a:r>
              </a:p>
            </p:txBody>
          </p:sp>
        </mc:Fallback>
      </mc:AlternateContent>
      <p:sp>
        <p:nvSpPr>
          <p:cNvPr id="5" name="Rectangle 4">
            <a:extLst>
              <a:ext uri="{FF2B5EF4-FFF2-40B4-BE49-F238E27FC236}">
                <a16:creationId xmlns:a16="http://schemas.microsoft.com/office/drawing/2014/main" id="{2C8BE548-3603-4BF7-A61F-739A1C497050}"/>
              </a:ext>
            </a:extLst>
          </p:cNvPr>
          <p:cNvSpPr/>
          <p:nvPr/>
        </p:nvSpPr>
        <p:spPr>
          <a:xfrm>
            <a:off x="6936959" y="2086812"/>
            <a:ext cx="4512919" cy="507831"/>
          </a:xfrm>
          <a:prstGeom prst="rect">
            <a:avLst/>
          </a:prstGeom>
        </p:spPr>
        <p:txBody>
          <a:bodyPr wrap="square">
            <a:spAutoFit/>
          </a:bodyPr>
          <a:lstStyle/>
          <a:p>
            <a:pPr>
              <a:lnSpc>
                <a:spcPct val="150000"/>
              </a:lnSpc>
            </a:pPr>
            <a:r>
              <a:rPr lang="he-IL" dirty="0">
                <a:solidFill>
                  <a:prstClr val="black"/>
                </a:solidFill>
                <a:latin typeface="David" pitchFamily="34" charset="-79"/>
                <a:cs typeface="David" pitchFamily="34" charset="-79"/>
              </a:rPr>
              <a:t>1. ציירו את עקומות הביקוש וההיצע</a:t>
            </a:r>
          </a:p>
        </p:txBody>
      </p:sp>
      <p:sp>
        <p:nvSpPr>
          <p:cNvPr id="6" name="Rectangle 5">
            <a:extLst>
              <a:ext uri="{FF2B5EF4-FFF2-40B4-BE49-F238E27FC236}">
                <a16:creationId xmlns:a16="http://schemas.microsoft.com/office/drawing/2014/main" id="{B1C58C73-D73D-4AA6-B2BE-6D9052973F00}"/>
              </a:ext>
            </a:extLst>
          </p:cNvPr>
          <p:cNvSpPr/>
          <p:nvPr/>
        </p:nvSpPr>
        <p:spPr>
          <a:xfrm>
            <a:off x="6612160" y="5699350"/>
            <a:ext cx="5470079" cy="473206"/>
          </a:xfrm>
          <a:prstGeom prst="rect">
            <a:avLst/>
          </a:prstGeom>
          <a:ln w="57150">
            <a:solidFill>
              <a:srgbClr val="CCFFFF"/>
            </a:solidFill>
          </a:ln>
        </p:spPr>
        <p:txBody>
          <a:bodyPr wrap="square">
            <a:spAutoFit/>
          </a:bodyPr>
          <a:lstStyle/>
          <a:p>
            <a:pPr>
              <a:lnSpc>
                <a:spcPct val="150000"/>
              </a:lnSpc>
            </a:pPr>
            <a:r>
              <a:rPr lang="he-IL" dirty="0">
                <a:solidFill>
                  <a:prstClr val="black"/>
                </a:solidFill>
                <a:latin typeface="David" pitchFamily="34" charset="-79"/>
                <a:cs typeface="David" pitchFamily="34" charset="-79"/>
              </a:rPr>
              <a:t>4. מה יקרה אם מסיבה כלשהי המחיר בשוק יעמוד על 500 ש"ח?</a:t>
            </a:r>
          </a:p>
        </p:txBody>
      </p:sp>
      <p:sp>
        <p:nvSpPr>
          <p:cNvPr id="7" name="Rectangle 6">
            <a:extLst>
              <a:ext uri="{FF2B5EF4-FFF2-40B4-BE49-F238E27FC236}">
                <a16:creationId xmlns:a16="http://schemas.microsoft.com/office/drawing/2014/main" id="{CEA0A43D-3F79-4A86-AA1A-256A115171D6}"/>
              </a:ext>
            </a:extLst>
          </p:cNvPr>
          <p:cNvSpPr/>
          <p:nvPr/>
        </p:nvSpPr>
        <p:spPr>
          <a:xfrm>
            <a:off x="6876454" y="4546869"/>
            <a:ext cx="4987564" cy="888705"/>
          </a:xfrm>
          <a:prstGeom prst="rect">
            <a:avLst/>
          </a:prstGeom>
          <a:ln w="38100">
            <a:solidFill>
              <a:srgbClr val="FFCCFF"/>
            </a:solidFill>
          </a:ln>
        </p:spPr>
        <p:txBody>
          <a:bodyPr wrap="square">
            <a:spAutoFit/>
          </a:bodyPr>
          <a:lstStyle/>
          <a:p>
            <a:pPr>
              <a:lnSpc>
                <a:spcPct val="150000"/>
              </a:lnSpc>
            </a:pPr>
            <a:r>
              <a:rPr lang="he-IL" dirty="0">
                <a:solidFill>
                  <a:prstClr val="black"/>
                </a:solidFill>
                <a:latin typeface="David" pitchFamily="34" charset="-79"/>
                <a:cs typeface="David" pitchFamily="34" charset="-79"/>
              </a:rPr>
              <a:t>3. מה יקרה אם מסיבה כלשהי המחיר בשוק יעמוד על 200 ש"ח</a:t>
            </a:r>
            <a:r>
              <a:rPr lang="en-US" dirty="0">
                <a:solidFill>
                  <a:prstClr val="black"/>
                </a:solidFill>
                <a:latin typeface="David" pitchFamily="34" charset="-79"/>
                <a:cs typeface="David" pitchFamily="34" charset="-79"/>
              </a:rPr>
              <a:t> </a:t>
            </a:r>
            <a:r>
              <a:rPr lang="he-IL" sz="1400" dirty="0">
                <a:solidFill>
                  <a:prstClr val="black"/>
                </a:solidFill>
                <a:latin typeface="David" pitchFamily="34" charset="-79"/>
                <a:cs typeface="David" pitchFamily="34" charset="-79"/>
              </a:rPr>
              <a:t>(כאשר אין שינוי בעקומת הביקוש ואין שינוי בעקומת ההיצע)</a:t>
            </a:r>
            <a:r>
              <a:rPr lang="en-US" dirty="0">
                <a:solidFill>
                  <a:prstClr val="black"/>
                </a:solidFill>
                <a:latin typeface="David" pitchFamily="34" charset="-79"/>
                <a:cs typeface="David" pitchFamily="34" charset="-79"/>
              </a:rPr>
              <a:t> </a:t>
            </a:r>
            <a:r>
              <a:rPr lang="he-IL" dirty="0">
                <a:solidFill>
                  <a:prstClr val="black"/>
                </a:solidFill>
                <a:latin typeface="David" pitchFamily="34" charset="-79"/>
                <a:cs typeface="David" pitchFamily="34" charset="-79"/>
              </a:rPr>
              <a:t>?</a:t>
            </a:r>
          </a:p>
        </p:txBody>
      </p:sp>
      <p:cxnSp>
        <p:nvCxnSpPr>
          <p:cNvPr id="13" name="Straight Arrow Connector 12">
            <a:extLst>
              <a:ext uri="{FF2B5EF4-FFF2-40B4-BE49-F238E27FC236}">
                <a16:creationId xmlns:a16="http://schemas.microsoft.com/office/drawing/2014/main" id="{5655D781-E1A9-4EA4-A6E0-B74BE5C5E234}"/>
              </a:ext>
            </a:extLst>
          </p:cNvPr>
          <p:cNvCxnSpPr>
            <a:cxnSpLocks/>
          </p:cNvCxnSpPr>
          <p:nvPr/>
        </p:nvCxnSpPr>
        <p:spPr>
          <a:xfrm>
            <a:off x="2209800" y="4204462"/>
            <a:ext cx="3512284" cy="465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41FAD8C-7A86-4789-84D4-3F45882EDF9B}"/>
              </a:ext>
            </a:extLst>
          </p:cNvPr>
          <p:cNvCxnSpPr>
            <a:cxnSpLocks/>
          </p:cNvCxnSpPr>
          <p:nvPr/>
        </p:nvCxnSpPr>
        <p:spPr>
          <a:xfrm flipV="1">
            <a:off x="2222090" y="1295400"/>
            <a:ext cx="0" cy="2909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DEA45035-F9A1-4C23-83C2-1F18C061532A}"/>
              </a:ext>
            </a:extLst>
          </p:cNvPr>
          <p:cNvSpPr/>
          <p:nvPr/>
        </p:nvSpPr>
        <p:spPr>
          <a:xfrm>
            <a:off x="1816210" y="1034081"/>
            <a:ext cx="405880" cy="369332"/>
          </a:xfrm>
          <a:prstGeom prst="rect">
            <a:avLst/>
          </a:prstGeom>
        </p:spPr>
        <p:txBody>
          <a:bodyPr wrap="none">
            <a:spAutoFit/>
          </a:bodyPr>
          <a:lstStyle/>
          <a:p>
            <a:pPr algn="l" rtl="0"/>
            <a:r>
              <a:rPr lang="en-US" dirty="0">
                <a:solidFill>
                  <a:prstClr val="black"/>
                </a:solidFill>
                <a:latin typeface="Calibri"/>
              </a:rPr>
              <a:t>Px</a:t>
            </a:r>
            <a:endParaRPr lang="he-IL" dirty="0">
              <a:solidFill>
                <a:prstClr val="black"/>
              </a:solidFill>
              <a:latin typeface="Calibri"/>
              <a:cs typeface="Arial" panose="020B0604020202020204" pitchFamily="34" charset="0"/>
            </a:endParaRPr>
          </a:p>
        </p:txBody>
      </p:sp>
      <p:sp>
        <p:nvSpPr>
          <p:cNvPr id="18" name="TextBox 17">
            <a:extLst>
              <a:ext uri="{FF2B5EF4-FFF2-40B4-BE49-F238E27FC236}">
                <a16:creationId xmlns:a16="http://schemas.microsoft.com/office/drawing/2014/main" id="{5D7F713F-E0FB-40DD-B29A-B016CECBCDFF}"/>
              </a:ext>
            </a:extLst>
          </p:cNvPr>
          <p:cNvSpPr txBox="1"/>
          <p:nvPr/>
        </p:nvSpPr>
        <p:spPr>
          <a:xfrm>
            <a:off x="5791108" y="4000673"/>
            <a:ext cx="304892" cy="369332"/>
          </a:xfrm>
          <a:prstGeom prst="rect">
            <a:avLst/>
          </a:prstGeom>
          <a:noFill/>
        </p:spPr>
        <p:txBody>
          <a:bodyPr wrap="none" rtlCol="1">
            <a:spAutoFit/>
          </a:bodyPr>
          <a:lstStyle/>
          <a:p>
            <a:pPr algn="l" rtl="0"/>
            <a:r>
              <a:rPr lang="en-US" dirty="0">
                <a:solidFill>
                  <a:prstClr val="black"/>
                </a:solidFill>
                <a:latin typeface="Calibri"/>
              </a:rPr>
              <a:t>X</a:t>
            </a:r>
            <a:endParaRPr lang="he-IL" dirty="0">
              <a:solidFill>
                <a:prstClr val="black"/>
              </a:solidFill>
              <a:latin typeface="Calibri"/>
              <a:cs typeface="Arial" panose="020B0604020202020204" pitchFamily="34" charset="0"/>
            </a:endParaRPr>
          </a:p>
        </p:txBody>
      </p:sp>
      <p:sp>
        <p:nvSpPr>
          <p:cNvPr id="19" name="Rectangle 18">
            <a:extLst>
              <a:ext uri="{FF2B5EF4-FFF2-40B4-BE49-F238E27FC236}">
                <a16:creationId xmlns:a16="http://schemas.microsoft.com/office/drawing/2014/main" id="{DAC95E95-B566-42C9-BD26-D2515D5B51A0}"/>
              </a:ext>
            </a:extLst>
          </p:cNvPr>
          <p:cNvSpPr/>
          <p:nvPr/>
        </p:nvSpPr>
        <p:spPr>
          <a:xfrm>
            <a:off x="8033558" y="2538623"/>
            <a:ext cx="3416320" cy="473206"/>
          </a:xfrm>
          <a:prstGeom prst="rect">
            <a:avLst/>
          </a:prstGeom>
        </p:spPr>
        <p:txBody>
          <a:bodyPr wrap="none">
            <a:spAutoFit/>
          </a:bodyPr>
          <a:lstStyle/>
          <a:p>
            <a:pPr>
              <a:lnSpc>
                <a:spcPct val="150000"/>
              </a:lnSpc>
            </a:pPr>
            <a:r>
              <a:rPr lang="en-US" dirty="0">
                <a:solidFill>
                  <a:prstClr val="black"/>
                </a:solidFill>
                <a:latin typeface="David" pitchFamily="34" charset="-79"/>
                <a:cs typeface="David" pitchFamily="34" charset="-79"/>
              </a:rPr>
              <a:t>2</a:t>
            </a:r>
            <a:r>
              <a:rPr lang="he-IL" dirty="0">
                <a:solidFill>
                  <a:prstClr val="black"/>
                </a:solidFill>
                <a:latin typeface="David" pitchFamily="34" charset="-79"/>
                <a:cs typeface="David" pitchFamily="34" charset="-79"/>
              </a:rPr>
              <a:t>. חשבו את מחיר וכמות שיווי המשקל</a:t>
            </a:r>
          </a:p>
        </p:txBody>
      </p:sp>
      <p:cxnSp>
        <p:nvCxnSpPr>
          <p:cNvPr id="20" name="מחבר ישר 13">
            <a:extLst>
              <a:ext uri="{FF2B5EF4-FFF2-40B4-BE49-F238E27FC236}">
                <a16:creationId xmlns:a16="http://schemas.microsoft.com/office/drawing/2014/main" id="{820B12E4-C110-446B-93C2-A733E41394FB}"/>
              </a:ext>
            </a:extLst>
          </p:cNvPr>
          <p:cNvCxnSpPr>
            <a:cxnSpLocks/>
          </p:cNvCxnSpPr>
          <p:nvPr/>
        </p:nvCxnSpPr>
        <p:spPr>
          <a:xfrm>
            <a:off x="2209801" y="1542350"/>
            <a:ext cx="2971801" cy="2708674"/>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65F1A90-2B7B-43D2-AC75-9B82D3884CE9}"/>
              </a:ext>
            </a:extLst>
          </p:cNvPr>
          <p:cNvSpPr txBox="1"/>
          <p:nvPr/>
        </p:nvSpPr>
        <p:spPr>
          <a:xfrm>
            <a:off x="5045962" y="3776437"/>
            <a:ext cx="405881" cy="369332"/>
          </a:xfrm>
          <a:prstGeom prst="rect">
            <a:avLst/>
          </a:prstGeom>
          <a:noFill/>
        </p:spPr>
        <p:txBody>
          <a:bodyPr wrap="none" rtlCol="1">
            <a:spAutoFit/>
          </a:bodyPr>
          <a:lstStyle/>
          <a:p>
            <a:pPr algn="l" rtl="0"/>
            <a:r>
              <a:rPr lang="en-US" dirty="0">
                <a:solidFill>
                  <a:prstClr val="black"/>
                </a:solidFill>
                <a:latin typeface="Calibri"/>
              </a:rPr>
              <a:t>D</a:t>
            </a:r>
            <a:r>
              <a:rPr lang="en-US" baseline="-25000" dirty="0">
                <a:solidFill>
                  <a:prstClr val="black"/>
                </a:solidFill>
                <a:latin typeface="Calibri"/>
              </a:rPr>
              <a:t>0</a:t>
            </a:r>
            <a:endParaRPr lang="he-IL" baseline="-25000" dirty="0">
              <a:solidFill>
                <a:prstClr val="black"/>
              </a:solidFill>
              <a:latin typeface="Calibri"/>
              <a:cs typeface="Arial" panose="020B0604020202020204" pitchFamily="34" charset="0"/>
            </a:endParaRPr>
          </a:p>
        </p:txBody>
      </p:sp>
      <p:sp>
        <p:nvSpPr>
          <p:cNvPr id="22" name="TextBox 21">
            <a:extLst>
              <a:ext uri="{FF2B5EF4-FFF2-40B4-BE49-F238E27FC236}">
                <a16:creationId xmlns:a16="http://schemas.microsoft.com/office/drawing/2014/main" id="{1C58733A-B2D6-4A60-B837-6C9A2473FC48}"/>
              </a:ext>
            </a:extLst>
          </p:cNvPr>
          <p:cNvSpPr txBox="1"/>
          <p:nvPr/>
        </p:nvSpPr>
        <p:spPr>
          <a:xfrm>
            <a:off x="1723260" y="1393009"/>
            <a:ext cx="612668" cy="400110"/>
          </a:xfrm>
          <a:prstGeom prst="rect">
            <a:avLst/>
          </a:prstGeom>
          <a:noFill/>
        </p:spPr>
        <p:txBody>
          <a:bodyPr wrap="none" rtlCol="1">
            <a:spAutoFit/>
          </a:bodyPr>
          <a:lstStyle/>
          <a:p>
            <a:pPr algn="l" rtl="0"/>
            <a:r>
              <a:rPr lang="he-IL" sz="2000" dirty="0">
                <a:solidFill>
                  <a:prstClr val="black"/>
                </a:solidFill>
                <a:latin typeface="Calibri"/>
                <a:cs typeface="Arial" panose="020B0604020202020204" pitchFamily="34" charset="0"/>
              </a:rPr>
              <a:t>700</a:t>
            </a:r>
          </a:p>
        </p:txBody>
      </p:sp>
      <p:sp>
        <p:nvSpPr>
          <p:cNvPr id="26" name="TextBox 25">
            <a:extLst>
              <a:ext uri="{FF2B5EF4-FFF2-40B4-BE49-F238E27FC236}">
                <a16:creationId xmlns:a16="http://schemas.microsoft.com/office/drawing/2014/main" id="{CAF4B609-C3AF-40F7-B498-23D2A6E267C8}"/>
              </a:ext>
            </a:extLst>
          </p:cNvPr>
          <p:cNvSpPr txBox="1"/>
          <p:nvPr/>
        </p:nvSpPr>
        <p:spPr>
          <a:xfrm>
            <a:off x="4917359" y="4254724"/>
            <a:ext cx="569387" cy="369332"/>
          </a:xfrm>
          <a:prstGeom prst="rect">
            <a:avLst/>
          </a:prstGeom>
          <a:noFill/>
        </p:spPr>
        <p:txBody>
          <a:bodyPr wrap="none" rtlCol="1">
            <a:spAutoFit/>
          </a:bodyPr>
          <a:lstStyle/>
          <a:p>
            <a:pPr algn="l" rtl="0"/>
            <a:r>
              <a:rPr lang="he-IL" dirty="0">
                <a:solidFill>
                  <a:prstClr val="black"/>
                </a:solidFill>
                <a:latin typeface="Calibri"/>
                <a:cs typeface="Arial" panose="020B0604020202020204" pitchFamily="34" charset="0"/>
              </a:rPr>
              <a:t>700</a:t>
            </a:r>
          </a:p>
        </p:txBody>
      </p:sp>
      <p:cxnSp>
        <p:nvCxnSpPr>
          <p:cNvPr id="27" name="מחבר ישר 15">
            <a:extLst>
              <a:ext uri="{FF2B5EF4-FFF2-40B4-BE49-F238E27FC236}">
                <a16:creationId xmlns:a16="http://schemas.microsoft.com/office/drawing/2014/main" id="{33B0FEB4-9EA7-4EE0-95C6-97B2D7C59C33}"/>
              </a:ext>
            </a:extLst>
          </p:cNvPr>
          <p:cNvCxnSpPr>
            <a:cxnSpLocks/>
          </p:cNvCxnSpPr>
          <p:nvPr/>
        </p:nvCxnSpPr>
        <p:spPr>
          <a:xfrm flipV="1">
            <a:off x="2199969" y="1768806"/>
            <a:ext cx="2845993" cy="2168130"/>
          </a:xfrm>
          <a:prstGeom prst="line">
            <a:avLst/>
          </a:prstGeom>
          <a:ln w="285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D07CF66-401A-4FC4-A759-5F26AD3AB943}"/>
              </a:ext>
            </a:extLst>
          </p:cNvPr>
          <p:cNvSpPr txBox="1"/>
          <p:nvPr/>
        </p:nvSpPr>
        <p:spPr>
          <a:xfrm>
            <a:off x="4611370" y="1449974"/>
            <a:ext cx="369012" cy="369332"/>
          </a:xfrm>
          <a:prstGeom prst="rect">
            <a:avLst/>
          </a:prstGeom>
          <a:noFill/>
        </p:spPr>
        <p:txBody>
          <a:bodyPr wrap="none" rtlCol="1">
            <a:spAutoFit/>
          </a:bodyPr>
          <a:lstStyle/>
          <a:p>
            <a:pPr algn="l" rtl="0"/>
            <a:r>
              <a:rPr lang="en-US" dirty="0">
                <a:solidFill>
                  <a:prstClr val="black"/>
                </a:solidFill>
                <a:latin typeface="Calibri"/>
              </a:rPr>
              <a:t>S</a:t>
            </a:r>
            <a:r>
              <a:rPr lang="en-US" baseline="-25000" dirty="0">
                <a:solidFill>
                  <a:prstClr val="black"/>
                </a:solidFill>
                <a:latin typeface="Calibri"/>
              </a:rPr>
              <a:t>0</a:t>
            </a:r>
            <a:endParaRPr lang="he-IL" baseline="-25000" dirty="0">
              <a:solidFill>
                <a:prstClr val="black"/>
              </a:solidFill>
              <a:latin typeface="Calibri"/>
              <a:cs typeface="Arial" panose="020B0604020202020204" pitchFamily="34" charset="0"/>
            </a:endParaRPr>
          </a:p>
        </p:txBody>
      </p:sp>
      <p:sp>
        <p:nvSpPr>
          <p:cNvPr id="29" name="TextBox 28">
            <a:extLst>
              <a:ext uri="{FF2B5EF4-FFF2-40B4-BE49-F238E27FC236}">
                <a16:creationId xmlns:a16="http://schemas.microsoft.com/office/drawing/2014/main" id="{D57B2ED9-DE99-4905-9D9A-2D04E5024C3F}"/>
              </a:ext>
            </a:extLst>
          </p:cNvPr>
          <p:cNvSpPr txBox="1"/>
          <p:nvPr/>
        </p:nvSpPr>
        <p:spPr>
          <a:xfrm>
            <a:off x="1628464" y="3722622"/>
            <a:ext cx="612668" cy="400110"/>
          </a:xfrm>
          <a:prstGeom prst="rect">
            <a:avLst/>
          </a:prstGeom>
          <a:noFill/>
        </p:spPr>
        <p:txBody>
          <a:bodyPr wrap="none" rtlCol="1">
            <a:spAutoFit/>
          </a:bodyPr>
          <a:lstStyle/>
          <a:p>
            <a:pPr algn="l" rtl="0"/>
            <a:r>
              <a:rPr lang="he-IL" sz="2000" dirty="0">
                <a:solidFill>
                  <a:prstClr val="black"/>
                </a:solidFill>
                <a:latin typeface="Calibri"/>
                <a:cs typeface="Arial" panose="020B0604020202020204" pitchFamily="34" charset="0"/>
              </a:rPr>
              <a:t>100</a:t>
            </a:r>
          </a:p>
        </p:txBody>
      </p:sp>
      <p:cxnSp>
        <p:nvCxnSpPr>
          <p:cNvPr id="32" name="Straight Connector 31">
            <a:extLst>
              <a:ext uri="{FF2B5EF4-FFF2-40B4-BE49-F238E27FC236}">
                <a16:creationId xmlns:a16="http://schemas.microsoft.com/office/drawing/2014/main" id="{526C23A6-52A6-4311-8A5A-C246C96954BB}"/>
              </a:ext>
            </a:extLst>
          </p:cNvPr>
          <p:cNvCxnSpPr/>
          <p:nvPr/>
        </p:nvCxnSpPr>
        <p:spPr>
          <a:xfrm flipH="1">
            <a:off x="2222090" y="2852871"/>
            <a:ext cx="1400874"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Straight Connector 32">
            <a:extLst>
              <a:ext uri="{FF2B5EF4-FFF2-40B4-BE49-F238E27FC236}">
                <a16:creationId xmlns:a16="http://schemas.microsoft.com/office/drawing/2014/main" id="{2DC2CB8E-11CC-4DB2-98CB-D5EB4265DADE}"/>
              </a:ext>
            </a:extLst>
          </p:cNvPr>
          <p:cNvCxnSpPr>
            <a:cxnSpLocks/>
          </p:cNvCxnSpPr>
          <p:nvPr/>
        </p:nvCxnSpPr>
        <p:spPr>
          <a:xfrm>
            <a:off x="3622964" y="2853826"/>
            <a:ext cx="0" cy="135063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3B8C2B49-25AE-41F8-90A0-4552E8AF8124}"/>
                  </a:ext>
                </a:extLst>
              </p:cNvPr>
              <p:cNvSpPr/>
              <p:nvPr/>
            </p:nvSpPr>
            <p:spPr>
              <a:xfrm>
                <a:off x="6830450" y="3059566"/>
                <a:ext cx="1672189" cy="369332"/>
              </a:xfrm>
              <a:prstGeom prst="rect">
                <a:avLst/>
              </a:prstGeom>
            </p:spPr>
            <p:txBody>
              <a:bodyPr wrap="none">
                <a:spAutoFit/>
              </a:bodyPr>
              <a:lstStyle/>
              <a:p>
                <a:pPr algn="l" rtl="0"/>
                <a14:m>
                  <m:oMathPara xmlns:m="http://schemas.openxmlformats.org/officeDocument/2006/math">
                    <m:oMathParaPr>
                      <m:jc m:val="centerGroup"/>
                    </m:oMathParaPr>
                    <m:oMath xmlns:m="http://schemas.openxmlformats.org/officeDocument/2006/math">
                      <m:sSub>
                        <m:sSubPr>
                          <m:ctrlPr>
                            <a:rPr lang="he-IL" b="1" i="1">
                              <a:solidFill>
                                <a:srgbClr val="7030A0"/>
                              </a:solidFill>
                              <a:latin typeface="Cambria Math" panose="02040503050406030204" pitchFamily="18" charset="0"/>
                              <a:cs typeface="David" pitchFamily="34" charset="-79"/>
                            </a:rPr>
                          </m:ctrlPr>
                        </m:sSubPr>
                        <m:e>
                          <m:r>
                            <a:rPr lang="en-US" b="1" i="1">
                              <a:solidFill>
                                <a:srgbClr val="7030A0"/>
                              </a:solidFill>
                              <a:latin typeface="Cambria Math"/>
                              <a:cs typeface="David" pitchFamily="34" charset="-79"/>
                            </a:rPr>
                            <m:t>𝑷</m:t>
                          </m:r>
                        </m:e>
                        <m:sub>
                          <m:r>
                            <a:rPr lang="en-US" b="1" i="1">
                              <a:solidFill>
                                <a:srgbClr val="7030A0"/>
                              </a:solidFill>
                              <a:latin typeface="Cambria Math"/>
                              <a:cs typeface="David" pitchFamily="34" charset="-79"/>
                            </a:rPr>
                            <m:t>𝑿</m:t>
                          </m:r>
                        </m:sub>
                      </m:sSub>
                      <m:r>
                        <a:rPr lang="en-US" b="1" i="1">
                          <a:solidFill>
                            <a:srgbClr val="7030A0"/>
                          </a:solidFill>
                          <a:latin typeface="Cambria Math"/>
                          <a:cs typeface="David" pitchFamily="34" charset="-79"/>
                        </a:rPr>
                        <m:t>=</m:t>
                      </m:r>
                      <m:r>
                        <a:rPr lang="en-US" b="1" i="1">
                          <a:solidFill>
                            <a:srgbClr val="7030A0"/>
                          </a:solidFill>
                          <a:latin typeface="Cambria Math"/>
                          <a:cs typeface="David" pitchFamily="34" charset="-79"/>
                        </a:rPr>
                        <m:t>𝟕𝟎𝟎</m:t>
                      </m:r>
                      <m:r>
                        <a:rPr lang="en-US" b="1" i="1">
                          <a:solidFill>
                            <a:srgbClr val="7030A0"/>
                          </a:solidFill>
                          <a:latin typeface="Cambria Math"/>
                          <a:cs typeface="David" pitchFamily="34" charset="-79"/>
                        </a:rPr>
                        <m:t>−</m:t>
                      </m:r>
                      <m:r>
                        <a:rPr lang="en-US" b="1" i="1">
                          <a:solidFill>
                            <a:srgbClr val="7030A0"/>
                          </a:solidFill>
                          <a:latin typeface="Cambria Math"/>
                          <a:cs typeface="David" pitchFamily="34" charset="-79"/>
                        </a:rPr>
                        <m:t>𝑿</m:t>
                      </m:r>
                    </m:oMath>
                  </m:oMathPara>
                </a14:m>
                <a:endParaRPr lang="en-IL" dirty="0">
                  <a:solidFill>
                    <a:prstClr val="black"/>
                  </a:solidFill>
                  <a:latin typeface="Calibri"/>
                </a:endParaRPr>
              </a:p>
            </p:txBody>
          </p:sp>
        </mc:Choice>
        <mc:Fallback xmlns="">
          <p:sp>
            <p:nvSpPr>
              <p:cNvPr id="38" name="Rectangle 37">
                <a:extLst>
                  <a:ext uri="{FF2B5EF4-FFF2-40B4-BE49-F238E27FC236}">
                    <a16:creationId xmlns:a16="http://schemas.microsoft.com/office/drawing/2014/main" id="{3B8C2B49-25AE-41F8-90A0-4552E8AF8124}"/>
                  </a:ext>
                </a:extLst>
              </p:cNvPr>
              <p:cNvSpPr>
                <a:spLocks noRot="1" noChangeAspect="1" noMove="1" noResize="1" noEditPoints="1" noAdjustHandles="1" noChangeArrowheads="1" noChangeShapeType="1" noTextEdit="1"/>
              </p:cNvSpPr>
              <p:nvPr/>
            </p:nvSpPr>
            <p:spPr>
              <a:xfrm>
                <a:off x="6830450" y="3059566"/>
                <a:ext cx="1672189" cy="369332"/>
              </a:xfrm>
              <a:prstGeom prst="rect">
                <a:avLst/>
              </a:prstGeom>
              <a:blipFill>
                <a:blip r:embed="rId3"/>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E0BD50A7-6F3F-4334-B16D-40F6A794D0A2}"/>
                  </a:ext>
                </a:extLst>
              </p:cNvPr>
              <p:cNvSpPr/>
              <p:nvPr/>
            </p:nvSpPr>
            <p:spPr>
              <a:xfrm>
                <a:off x="6823587" y="3276308"/>
                <a:ext cx="1688062" cy="471026"/>
              </a:xfrm>
              <a:prstGeom prst="rect">
                <a:avLst/>
              </a:prstGeom>
            </p:spPr>
            <p:txBody>
              <a:bodyPr wrap="square">
                <a:spAutoFit/>
              </a:bodyPr>
              <a:lstStyle/>
              <a:p>
                <a:pPr>
                  <a:lnSpc>
                    <a:spcPct val="150000"/>
                  </a:lnSpc>
                </a:pPr>
                <a14:m>
                  <m:oMath xmlns:m="http://schemas.openxmlformats.org/officeDocument/2006/math">
                    <m:sSub>
                      <m:sSubPr>
                        <m:ctrlPr>
                          <a:rPr lang="he-IL" b="1" i="1">
                            <a:solidFill>
                              <a:srgbClr val="EEECE1">
                                <a:lumMod val="50000"/>
                              </a:srgbClr>
                            </a:solidFill>
                            <a:latin typeface="Cambria Math" panose="02040503050406030204" pitchFamily="18" charset="0"/>
                            <a:cs typeface="David" pitchFamily="34" charset="-79"/>
                          </a:rPr>
                        </m:ctrlPr>
                      </m:sSubPr>
                      <m:e>
                        <m:r>
                          <a:rPr lang="en-US" b="1" i="1">
                            <a:solidFill>
                              <a:srgbClr val="EEECE1">
                                <a:lumMod val="50000"/>
                              </a:srgbClr>
                            </a:solidFill>
                            <a:latin typeface="Cambria Math"/>
                            <a:cs typeface="David" pitchFamily="34" charset="-79"/>
                          </a:rPr>
                          <m:t>𝑷</m:t>
                        </m:r>
                      </m:e>
                      <m:sub>
                        <m:r>
                          <a:rPr lang="en-US" b="1" i="1">
                            <a:solidFill>
                              <a:srgbClr val="EEECE1">
                                <a:lumMod val="50000"/>
                              </a:srgbClr>
                            </a:solidFill>
                            <a:latin typeface="Cambria Math"/>
                            <a:cs typeface="David" pitchFamily="34" charset="-79"/>
                          </a:rPr>
                          <m:t>𝑿</m:t>
                        </m:r>
                      </m:sub>
                    </m:sSub>
                    <m:r>
                      <a:rPr lang="en-US" b="1" i="1">
                        <a:solidFill>
                          <a:srgbClr val="EEECE1">
                            <a:lumMod val="50000"/>
                          </a:srgbClr>
                        </a:solidFill>
                        <a:latin typeface="Cambria Math"/>
                        <a:cs typeface="David" pitchFamily="34" charset="-79"/>
                      </a:rPr>
                      <m:t>=</m:t>
                    </m:r>
                    <m:r>
                      <a:rPr lang="en-US" b="1" i="1">
                        <a:solidFill>
                          <a:srgbClr val="EEECE1">
                            <a:lumMod val="50000"/>
                          </a:srgbClr>
                        </a:solidFill>
                        <a:latin typeface="Cambria Math"/>
                        <a:cs typeface="David" pitchFamily="34" charset="-79"/>
                      </a:rPr>
                      <m:t>𝟏𝟎𝟎</m:t>
                    </m:r>
                    <m:r>
                      <a:rPr lang="en-US" b="1" i="1">
                        <a:solidFill>
                          <a:srgbClr val="EEECE1">
                            <a:lumMod val="50000"/>
                          </a:srgbClr>
                        </a:solidFill>
                        <a:latin typeface="Cambria Math"/>
                        <a:cs typeface="David" pitchFamily="34" charset="-79"/>
                      </a:rPr>
                      <m:t>+</m:t>
                    </m:r>
                    <m:r>
                      <a:rPr lang="en-US" b="1" i="1">
                        <a:solidFill>
                          <a:srgbClr val="EEECE1">
                            <a:lumMod val="50000"/>
                          </a:srgbClr>
                        </a:solidFill>
                        <a:latin typeface="Cambria Math"/>
                        <a:cs typeface="David" pitchFamily="34" charset="-79"/>
                      </a:rPr>
                      <m:t>𝑿</m:t>
                    </m:r>
                  </m:oMath>
                </a14:m>
                <a:r>
                  <a:rPr lang="he-IL" b="1" dirty="0">
                    <a:solidFill>
                      <a:srgbClr val="EEECE1">
                        <a:lumMod val="50000"/>
                      </a:srgbClr>
                    </a:solidFill>
                    <a:latin typeface="David" pitchFamily="34" charset="-79"/>
                    <a:cs typeface="David" pitchFamily="34" charset="-79"/>
                  </a:rPr>
                  <a:t> </a:t>
                </a:r>
                <a:endParaRPr lang="he-IL" b="1" dirty="0">
                  <a:solidFill>
                    <a:prstClr val="black"/>
                  </a:solidFill>
                  <a:latin typeface="David" pitchFamily="34" charset="-79"/>
                  <a:cs typeface="David" pitchFamily="34" charset="-79"/>
                </a:endParaRPr>
              </a:p>
            </p:txBody>
          </p:sp>
        </mc:Choice>
        <mc:Fallback xmlns="">
          <p:sp>
            <p:nvSpPr>
              <p:cNvPr id="39" name="Rectangle 38">
                <a:extLst>
                  <a:ext uri="{FF2B5EF4-FFF2-40B4-BE49-F238E27FC236}">
                    <a16:creationId xmlns:a16="http://schemas.microsoft.com/office/drawing/2014/main" id="{E0BD50A7-6F3F-4334-B16D-40F6A794D0A2}"/>
                  </a:ext>
                </a:extLst>
              </p:cNvPr>
              <p:cNvSpPr>
                <a:spLocks noRot="1" noChangeAspect="1" noMove="1" noResize="1" noEditPoints="1" noAdjustHandles="1" noChangeArrowheads="1" noChangeShapeType="1" noTextEdit="1"/>
              </p:cNvSpPr>
              <p:nvPr/>
            </p:nvSpPr>
            <p:spPr>
              <a:xfrm>
                <a:off x="6823587" y="3276308"/>
                <a:ext cx="1688062" cy="471026"/>
              </a:xfrm>
              <a:prstGeom prst="rect">
                <a:avLst/>
              </a:prstGeom>
              <a:blipFill>
                <a:blip r:embed="rId4"/>
                <a:stretch>
                  <a:fillRect l="-3610" b="-19231"/>
                </a:stretch>
              </a:blipFill>
            </p:spPr>
            <p:txBody>
              <a:bodyPr/>
              <a:lstStyle/>
              <a:p>
                <a:r>
                  <a:rPr lang="en-IL">
                    <a:noFill/>
                  </a:rPr>
                  <a:t> </a:t>
                </a:r>
              </a:p>
            </p:txBody>
          </p:sp>
        </mc:Fallback>
      </mc:AlternateContent>
      <p:sp>
        <p:nvSpPr>
          <p:cNvPr id="40" name="Left Brace 39">
            <a:extLst>
              <a:ext uri="{FF2B5EF4-FFF2-40B4-BE49-F238E27FC236}">
                <a16:creationId xmlns:a16="http://schemas.microsoft.com/office/drawing/2014/main" id="{E8EC631D-05E0-4ADA-A53A-F0334C37542C}"/>
              </a:ext>
            </a:extLst>
          </p:cNvPr>
          <p:cNvSpPr/>
          <p:nvPr/>
        </p:nvSpPr>
        <p:spPr>
          <a:xfrm>
            <a:off x="6740161" y="3005038"/>
            <a:ext cx="272587" cy="82320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rtl="0"/>
            <a:endParaRPr lang="en-IL">
              <a:solidFill>
                <a:prstClr val="black"/>
              </a:solidFill>
              <a:latin typeface="Calibri"/>
            </a:endParaRPr>
          </a:p>
        </p:txBody>
      </p:sp>
      <p:cxnSp>
        <p:nvCxnSpPr>
          <p:cNvPr id="42" name="Straight Connector 41">
            <a:extLst>
              <a:ext uri="{FF2B5EF4-FFF2-40B4-BE49-F238E27FC236}">
                <a16:creationId xmlns:a16="http://schemas.microsoft.com/office/drawing/2014/main" id="{E1E951D8-A75C-4F99-8FA2-EAB430125456}"/>
              </a:ext>
            </a:extLst>
          </p:cNvPr>
          <p:cNvCxnSpPr>
            <a:cxnSpLocks/>
          </p:cNvCxnSpPr>
          <p:nvPr/>
        </p:nvCxnSpPr>
        <p:spPr>
          <a:xfrm flipH="1" flipV="1">
            <a:off x="6986057" y="3856659"/>
            <a:ext cx="1760340" cy="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946587AB-E0CC-40A8-9ED4-ECE90A66F0BB}"/>
                  </a:ext>
                </a:extLst>
              </p:cNvPr>
              <p:cNvSpPr/>
              <p:nvPr/>
            </p:nvSpPr>
            <p:spPr>
              <a:xfrm>
                <a:off x="7153633" y="3936936"/>
                <a:ext cx="1040670" cy="369332"/>
              </a:xfrm>
              <a:prstGeom prst="rect">
                <a:avLst/>
              </a:prstGeom>
            </p:spPr>
            <p:txBody>
              <a:bodyPr wrap="none">
                <a:spAutoFit/>
              </a:bodyPr>
              <a:lstStyle/>
              <a:p>
                <a:pPr algn="l" rtl="0"/>
                <a:r>
                  <a:rPr lang="en-US" b="1" dirty="0">
                    <a:solidFill>
                      <a:prstClr val="black"/>
                    </a:solidFill>
                    <a:latin typeface="Calibri"/>
                    <a:cs typeface="David" pitchFamily="34" charset="-79"/>
                  </a:rPr>
                  <a:t>X</a:t>
                </a:r>
                <a14:m>
                  <m:oMath xmlns:m="http://schemas.openxmlformats.org/officeDocument/2006/math">
                    <m:r>
                      <a:rPr lang="en-US" b="1" i="1">
                        <a:solidFill>
                          <a:prstClr val="black"/>
                        </a:solidFill>
                        <a:latin typeface="Cambria Math"/>
                        <a:cs typeface="David" pitchFamily="34" charset="-79"/>
                      </a:rPr>
                      <m:t>=</m:t>
                    </m:r>
                    <m:r>
                      <a:rPr lang="en-US" b="1" i="1">
                        <a:solidFill>
                          <a:prstClr val="black"/>
                        </a:solidFill>
                        <a:latin typeface="Cambria Math" panose="02040503050406030204" pitchFamily="18" charset="0"/>
                        <a:cs typeface="David" pitchFamily="34" charset="-79"/>
                      </a:rPr>
                      <m:t>𝟑𝟎𝟎</m:t>
                    </m:r>
                  </m:oMath>
                </a14:m>
                <a:r>
                  <a:rPr lang="he-IL" b="1" dirty="0">
                    <a:solidFill>
                      <a:prstClr val="black"/>
                    </a:solidFill>
                    <a:latin typeface="David" pitchFamily="34" charset="-79"/>
                    <a:cs typeface="David" pitchFamily="34" charset="-79"/>
                  </a:rPr>
                  <a:t> </a:t>
                </a:r>
                <a:endParaRPr lang="en-IL" dirty="0">
                  <a:solidFill>
                    <a:prstClr val="black"/>
                  </a:solidFill>
                  <a:latin typeface="Calibri"/>
                </a:endParaRPr>
              </a:p>
            </p:txBody>
          </p:sp>
        </mc:Choice>
        <mc:Fallback xmlns="">
          <p:sp>
            <p:nvSpPr>
              <p:cNvPr id="46" name="Rectangle 45">
                <a:extLst>
                  <a:ext uri="{FF2B5EF4-FFF2-40B4-BE49-F238E27FC236}">
                    <a16:creationId xmlns:a16="http://schemas.microsoft.com/office/drawing/2014/main" id="{946587AB-E0CC-40A8-9ED4-ECE90A66F0BB}"/>
                  </a:ext>
                </a:extLst>
              </p:cNvPr>
              <p:cNvSpPr>
                <a:spLocks noRot="1" noChangeAspect="1" noMove="1" noResize="1" noEditPoints="1" noAdjustHandles="1" noChangeArrowheads="1" noChangeShapeType="1" noTextEdit="1"/>
              </p:cNvSpPr>
              <p:nvPr/>
            </p:nvSpPr>
            <p:spPr>
              <a:xfrm>
                <a:off x="7153633" y="3936936"/>
                <a:ext cx="1040670" cy="369332"/>
              </a:xfrm>
              <a:prstGeom prst="rect">
                <a:avLst/>
              </a:prstGeom>
              <a:blipFill>
                <a:blip r:embed="rId5"/>
                <a:stretch>
                  <a:fillRect l="-4678" t="-11667" r="-1170" b="-26667"/>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A5E9052F-475A-4046-9E18-6F147443E440}"/>
                  </a:ext>
                </a:extLst>
              </p:cNvPr>
              <p:cNvSpPr/>
              <p:nvPr/>
            </p:nvSpPr>
            <p:spPr>
              <a:xfrm>
                <a:off x="8189534" y="3938518"/>
                <a:ext cx="1236172" cy="369332"/>
              </a:xfrm>
              <a:prstGeom prst="rect">
                <a:avLst/>
              </a:prstGeom>
            </p:spPr>
            <p:txBody>
              <a:bodyPr wrap="none">
                <a:spAutoFit/>
              </a:bodyPr>
              <a:lstStyle/>
              <a:p>
                <a:pPr algn="l" rtl="0"/>
                <a14:m>
                  <m:oMath xmlns:m="http://schemas.openxmlformats.org/officeDocument/2006/math">
                    <m:sSub>
                      <m:sSubPr>
                        <m:ctrlPr>
                          <a:rPr lang="he-IL" b="1" i="1">
                            <a:solidFill>
                              <a:prstClr val="black"/>
                            </a:solidFill>
                            <a:latin typeface="Cambria Math" panose="02040503050406030204" pitchFamily="18" charset="0"/>
                            <a:cs typeface="David" pitchFamily="34" charset="-79"/>
                          </a:rPr>
                        </m:ctrlPr>
                      </m:sSubPr>
                      <m:e>
                        <m:r>
                          <a:rPr lang="en-US" b="1" i="1">
                            <a:solidFill>
                              <a:prstClr val="black"/>
                            </a:solidFill>
                            <a:latin typeface="Cambria Math"/>
                            <a:cs typeface="David" pitchFamily="34" charset="-79"/>
                          </a:rPr>
                          <m:t>𝑷</m:t>
                        </m:r>
                      </m:e>
                      <m:sub>
                        <m:r>
                          <a:rPr lang="en-US" b="1" i="1">
                            <a:solidFill>
                              <a:prstClr val="black"/>
                            </a:solidFill>
                            <a:latin typeface="Cambria Math"/>
                            <a:cs typeface="David" pitchFamily="34" charset="-79"/>
                          </a:rPr>
                          <m:t>𝑿</m:t>
                        </m:r>
                      </m:sub>
                    </m:sSub>
                    <m:r>
                      <a:rPr lang="he-IL" i="1">
                        <a:solidFill>
                          <a:prstClr val="black"/>
                        </a:solidFill>
                        <a:latin typeface="Cambria Math" panose="02040503050406030204" pitchFamily="18" charset="0"/>
                        <a:cs typeface="David" pitchFamily="34" charset="-79"/>
                      </a:rPr>
                      <m:t>=</m:t>
                    </m:r>
                    <m:r>
                      <a:rPr lang="he-IL" b="1" i="1">
                        <a:solidFill>
                          <a:prstClr val="black"/>
                        </a:solidFill>
                        <a:latin typeface="Cambria Math" panose="02040503050406030204" pitchFamily="18" charset="0"/>
                        <a:cs typeface="David" pitchFamily="34" charset="-79"/>
                      </a:rPr>
                      <m:t>𝟒𝟎𝟎</m:t>
                    </m:r>
                  </m:oMath>
                </a14:m>
                <a:r>
                  <a:rPr lang="he-IL" b="1" dirty="0">
                    <a:solidFill>
                      <a:prstClr val="black"/>
                    </a:solidFill>
                    <a:latin typeface="David" pitchFamily="34" charset="-79"/>
                    <a:cs typeface="David" pitchFamily="34" charset="-79"/>
                  </a:rPr>
                  <a:t> </a:t>
                </a:r>
                <a:endParaRPr lang="en-IL" b="1" dirty="0">
                  <a:solidFill>
                    <a:prstClr val="black"/>
                  </a:solidFill>
                  <a:latin typeface="Calibri"/>
                </a:endParaRPr>
              </a:p>
            </p:txBody>
          </p:sp>
        </mc:Choice>
        <mc:Fallback xmlns="">
          <p:sp>
            <p:nvSpPr>
              <p:cNvPr id="47" name="Rectangle 46">
                <a:extLst>
                  <a:ext uri="{FF2B5EF4-FFF2-40B4-BE49-F238E27FC236}">
                    <a16:creationId xmlns:a16="http://schemas.microsoft.com/office/drawing/2014/main" id="{A5E9052F-475A-4046-9E18-6F147443E440}"/>
                  </a:ext>
                </a:extLst>
              </p:cNvPr>
              <p:cNvSpPr>
                <a:spLocks noRot="1" noChangeAspect="1" noMove="1" noResize="1" noEditPoints="1" noAdjustHandles="1" noChangeArrowheads="1" noChangeShapeType="1" noTextEdit="1"/>
              </p:cNvSpPr>
              <p:nvPr/>
            </p:nvSpPr>
            <p:spPr>
              <a:xfrm>
                <a:off x="8189534" y="3938518"/>
                <a:ext cx="1236172" cy="369332"/>
              </a:xfrm>
              <a:prstGeom prst="rect">
                <a:avLst/>
              </a:prstGeom>
              <a:blipFill>
                <a:blip r:embed="rId6"/>
                <a:stretch>
                  <a:fillRect t="-8197" r="-2956" b="-24590"/>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D9DD4DA5-A3AE-4432-99C2-B6B5229BDD6D}"/>
                  </a:ext>
                </a:extLst>
              </p:cNvPr>
              <p:cNvSpPr/>
              <p:nvPr/>
            </p:nvSpPr>
            <p:spPr>
              <a:xfrm>
                <a:off x="3370932" y="4266272"/>
                <a:ext cx="649537" cy="369332"/>
              </a:xfrm>
              <a:prstGeom prst="rect">
                <a:avLst/>
              </a:prstGeom>
            </p:spPr>
            <p:txBody>
              <a:bodyPr wrap="none">
                <a:spAutoFit/>
              </a:bodyPr>
              <a:lstStyle/>
              <a:p>
                <a:pPr algn="l" rtl="0"/>
                <a14:m>
                  <m:oMathPara xmlns:m="http://schemas.openxmlformats.org/officeDocument/2006/math">
                    <m:oMathParaPr>
                      <m:jc m:val="centerGroup"/>
                    </m:oMathParaPr>
                    <m:oMath xmlns:m="http://schemas.openxmlformats.org/officeDocument/2006/math">
                      <m:r>
                        <a:rPr lang="he-IL" b="1" i="1">
                          <a:solidFill>
                            <a:prstClr val="black"/>
                          </a:solidFill>
                          <a:latin typeface="Cambria Math" panose="02040503050406030204" pitchFamily="18" charset="0"/>
                          <a:cs typeface="David" pitchFamily="34" charset="-79"/>
                        </a:rPr>
                        <m:t>𝟑𝟎𝟎</m:t>
                      </m:r>
                    </m:oMath>
                  </m:oMathPara>
                </a14:m>
                <a:endParaRPr lang="en-IL" dirty="0">
                  <a:solidFill>
                    <a:prstClr val="black"/>
                  </a:solidFill>
                  <a:latin typeface="Calibri"/>
                </a:endParaRPr>
              </a:p>
            </p:txBody>
          </p:sp>
        </mc:Choice>
        <mc:Fallback xmlns="">
          <p:sp>
            <p:nvSpPr>
              <p:cNvPr id="48" name="Rectangle 47">
                <a:extLst>
                  <a:ext uri="{FF2B5EF4-FFF2-40B4-BE49-F238E27FC236}">
                    <a16:creationId xmlns:a16="http://schemas.microsoft.com/office/drawing/2014/main" id="{D9DD4DA5-A3AE-4432-99C2-B6B5229BDD6D}"/>
                  </a:ext>
                </a:extLst>
              </p:cNvPr>
              <p:cNvSpPr>
                <a:spLocks noRot="1" noChangeAspect="1" noMove="1" noResize="1" noEditPoints="1" noAdjustHandles="1" noChangeArrowheads="1" noChangeShapeType="1" noTextEdit="1"/>
              </p:cNvSpPr>
              <p:nvPr/>
            </p:nvSpPr>
            <p:spPr>
              <a:xfrm>
                <a:off x="3370932" y="4266272"/>
                <a:ext cx="649537" cy="369332"/>
              </a:xfrm>
              <a:prstGeom prst="rect">
                <a:avLst/>
              </a:prstGeom>
              <a:blipFill>
                <a:blip r:embed="rId7"/>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C2D7CFAA-7220-46BC-B910-511D38A14197}"/>
                  </a:ext>
                </a:extLst>
              </p:cNvPr>
              <p:cNvSpPr/>
              <p:nvPr/>
            </p:nvSpPr>
            <p:spPr>
              <a:xfrm>
                <a:off x="1612584" y="2668205"/>
                <a:ext cx="601447" cy="338554"/>
              </a:xfrm>
              <a:prstGeom prst="rect">
                <a:avLst/>
              </a:prstGeom>
            </p:spPr>
            <p:txBody>
              <a:bodyPr wrap="none">
                <a:spAutoFit/>
              </a:bodyPr>
              <a:lstStyle/>
              <a:p>
                <a:pPr algn="l" rtl="0"/>
                <a14:m>
                  <m:oMathPara xmlns:m="http://schemas.openxmlformats.org/officeDocument/2006/math">
                    <m:oMathParaPr>
                      <m:jc m:val="centerGroup"/>
                    </m:oMathParaPr>
                    <m:oMath xmlns:m="http://schemas.openxmlformats.org/officeDocument/2006/math">
                      <m:r>
                        <a:rPr lang="he-IL" sz="1600" b="1" i="1">
                          <a:solidFill>
                            <a:prstClr val="black"/>
                          </a:solidFill>
                          <a:latin typeface="Cambria Math" panose="02040503050406030204" pitchFamily="18" charset="0"/>
                          <a:cs typeface="David" pitchFamily="34" charset="-79"/>
                        </a:rPr>
                        <m:t>𝟒𝟎𝟎</m:t>
                      </m:r>
                    </m:oMath>
                  </m:oMathPara>
                </a14:m>
                <a:endParaRPr lang="en-IL" sz="1600" dirty="0">
                  <a:solidFill>
                    <a:prstClr val="black"/>
                  </a:solidFill>
                  <a:latin typeface="Calibri"/>
                </a:endParaRPr>
              </a:p>
            </p:txBody>
          </p:sp>
        </mc:Choice>
        <mc:Fallback xmlns="">
          <p:sp>
            <p:nvSpPr>
              <p:cNvPr id="49" name="Rectangle 48">
                <a:extLst>
                  <a:ext uri="{FF2B5EF4-FFF2-40B4-BE49-F238E27FC236}">
                    <a16:creationId xmlns:a16="http://schemas.microsoft.com/office/drawing/2014/main" id="{C2D7CFAA-7220-46BC-B910-511D38A14197}"/>
                  </a:ext>
                </a:extLst>
              </p:cNvPr>
              <p:cNvSpPr>
                <a:spLocks noRot="1" noChangeAspect="1" noMove="1" noResize="1" noEditPoints="1" noAdjustHandles="1" noChangeArrowheads="1" noChangeShapeType="1" noTextEdit="1"/>
              </p:cNvSpPr>
              <p:nvPr/>
            </p:nvSpPr>
            <p:spPr>
              <a:xfrm>
                <a:off x="1612584" y="2668205"/>
                <a:ext cx="601447" cy="338554"/>
              </a:xfrm>
              <a:prstGeom prst="rect">
                <a:avLst/>
              </a:prstGeom>
              <a:blipFill>
                <a:blip r:embed="rId8"/>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8E731851-EB88-43B8-A310-E130EBD6B061}"/>
                  </a:ext>
                </a:extLst>
              </p:cNvPr>
              <p:cNvSpPr/>
              <p:nvPr/>
            </p:nvSpPr>
            <p:spPr>
              <a:xfrm>
                <a:off x="4118680" y="4783176"/>
                <a:ext cx="2666326" cy="475258"/>
              </a:xfrm>
              <a:prstGeom prst="rect">
                <a:avLst/>
              </a:prstGeom>
              <a:solidFill>
                <a:srgbClr val="FFCCFF"/>
              </a:solidFill>
            </p:spPr>
            <p:txBody>
              <a:bodyPr wrap="square">
                <a:spAutoFit/>
              </a:bodyPr>
              <a:lstStyle/>
              <a:p>
                <a:pPr>
                  <a:lnSpc>
                    <a:spcPct val="150000"/>
                  </a:lnSpc>
                </a:pPr>
                <a:r>
                  <a:rPr lang="he-IL" dirty="0">
                    <a:solidFill>
                      <a:prstClr val="black"/>
                    </a:solidFill>
                    <a:latin typeface="David" pitchFamily="34" charset="-79"/>
                    <a:cs typeface="David" pitchFamily="34" charset="-79"/>
                  </a:rPr>
                  <a:t>ייווצר עודף ביקוש</a:t>
                </a:r>
                <a14:m>
                  <m:oMath xmlns:m="http://schemas.openxmlformats.org/officeDocument/2006/math">
                    <m:sSup>
                      <m:sSupPr>
                        <m:ctrlPr>
                          <a:rPr lang="en-US" i="1">
                            <a:solidFill>
                              <a:prstClr val="black"/>
                            </a:solidFill>
                            <a:latin typeface="Cambria Math" panose="02040503050406030204" pitchFamily="18" charset="0"/>
                          </a:rPr>
                        </m:ctrlPr>
                      </m:sSupPr>
                      <m:e>
                        <m:r>
                          <m:rPr>
                            <m:nor/>
                          </m:rPr>
                          <a:rPr lang="en-US">
                            <a:solidFill>
                              <a:prstClr val="black"/>
                            </a:solidFill>
                            <a:latin typeface="Cambria Math" panose="02040503050406030204" pitchFamily="18" charset="0"/>
                          </a:rPr>
                          <m:t>&gt;</m:t>
                        </m:r>
                        <m:r>
                          <m:rPr>
                            <m:nor/>
                          </m:rPr>
                          <a:rPr lang="en-US" dirty="0">
                            <a:solidFill>
                              <a:prstClr val="black"/>
                            </a:solidFill>
                            <a:latin typeface="Calibri"/>
                          </a:rPr>
                          <m:t>X</m:t>
                        </m:r>
                      </m:e>
                      <m:sup>
                        <m:r>
                          <a:rPr lang="en-US" i="1">
                            <a:solidFill>
                              <a:prstClr val="black"/>
                            </a:solidFill>
                            <a:latin typeface="Cambria Math" panose="02040503050406030204" pitchFamily="18" charset="0"/>
                          </a:rPr>
                          <m:t>𝑠</m:t>
                        </m:r>
                      </m:sup>
                    </m:sSup>
                    <m:r>
                      <a:rPr lang="en-US" i="1">
                        <a:solidFill>
                          <a:prstClr val="black"/>
                        </a:solidFill>
                        <a:latin typeface="Cambria Math" panose="02040503050406030204" pitchFamily="18" charset="0"/>
                      </a:rPr>
                      <m:t>) </m:t>
                    </m:r>
                  </m:oMath>
                </a14:m>
                <a:r>
                  <a:rPr lang="he-IL" dirty="0">
                    <a:solidFill>
                      <a:prstClr val="black"/>
                    </a:solidFill>
                    <a:latin typeface="David" pitchFamily="34" charset="-79"/>
                    <a:cs typeface="David" pitchFamily="34" charset="-79"/>
                  </a:rPr>
                  <a:t> </a:t>
                </a:r>
                <a14:m>
                  <m:oMath xmlns:m="http://schemas.openxmlformats.org/officeDocument/2006/math">
                    <m:sSup>
                      <m:sSupPr>
                        <m:ctrlPr>
                          <a:rPr lang="en-US" i="1">
                            <a:solidFill>
                              <a:prstClr val="black"/>
                            </a:solidFill>
                            <a:latin typeface="Cambria Math" panose="02040503050406030204" pitchFamily="18" charset="0"/>
                          </a:rPr>
                        </m:ctrlPr>
                      </m:sSupPr>
                      <m:e>
                        <m:r>
                          <m:rPr>
                            <m:nor/>
                          </m:rPr>
                          <a:rPr lang="en-US" dirty="0">
                            <a:solidFill>
                              <a:prstClr val="black"/>
                            </a:solidFill>
                            <a:latin typeface="Calibri"/>
                          </a:rPr>
                          <m:t>X</m:t>
                        </m:r>
                      </m:e>
                      <m:sup>
                        <m:r>
                          <a:rPr lang="en-US" i="1">
                            <a:solidFill>
                              <a:prstClr val="black"/>
                            </a:solidFill>
                            <a:latin typeface="Cambria Math" panose="02040503050406030204" pitchFamily="18" charset="0"/>
                          </a:rPr>
                          <m:t>𝑑</m:t>
                        </m:r>
                      </m:sup>
                    </m:sSup>
                  </m:oMath>
                </a14:m>
                <a:r>
                  <a:rPr lang="he-IL" dirty="0">
                    <a:solidFill>
                      <a:prstClr val="black"/>
                    </a:solidFill>
                    <a:latin typeface="David" pitchFamily="34" charset="-79"/>
                    <a:cs typeface="David" pitchFamily="34" charset="-79"/>
                  </a:rPr>
                  <a:t>)</a:t>
                </a:r>
              </a:p>
            </p:txBody>
          </p:sp>
        </mc:Choice>
        <mc:Fallback xmlns="">
          <p:sp>
            <p:nvSpPr>
              <p:cNvPr id="31" name="Rectangle 30">
                <a:extLst>
                  <a:ext uri="{FF2B5EF4-FFF2-40B4-BE49-F238E27FC236}">
                    <a16:creationId xmlns:a16="http://schemas.microsoft.com/office/drawing/2014/main" id="{8E731851-EB88-43B8-A310-E130EBD6B061}"/>
                  </a:ext>
                </a:extLst>
              </p:cNvPr>
              <p:cNvSpPr>
                <a:spLocks noRot="1" noChangeAspect="1" noMove="1" noResize="1" noEditPoints="1" noAdjustHandles="1" noChangeArrowheads="1" noChangeShapeType="1" noTextEdit="1"/>
              </p:cNvSpPr>
              <p:nvPr/>
            </p:nvSpPr>
            <p:spPr>
              <a:xfrm>
                <a:off x="4118680" y="4783176"/>
                <a:ext cx="2666326" cy="475258"/>
              </a:xfrm>
              <a:prstGeom prst="rect">
                <a:avLst/>
              </a:prstGeom>
              <a:blipFill>
                <a:blip r:embed="rId9"/>
                <a:stretch>
                  <a:fillRect l="-458" r="-1831" b="-20513"/>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304BAC6E-2BF7-4A17-A0F0-E583B434C702}"/>
                  </a:ext>
                </a:extLst>
              </p:cNvPr>
              <p:cNvSpPr/>
              <p:nvPr/>
            </p:nvSpPr>
            <p:spPr>
              <a:xfrm>
                <a:off x="4118680" y="5709025"/>
                <a:ext cx="2454721" cy="475258"/>
              </a:xfrm>
              <a:prstGeom prst="rect">
                <a:avLst/>
              </a:prstGeom>
              <a:solidFill>
                <a:srgbClr val="CCFFFF"/>
              </a:solidFill>
            </p:spPr>
            <p:txBody>
              <a:bodyPr wrap="square">
                <a:spAutoFit/>
              </a:bodyPr>
              <a:lstStyle/>
              <a:p>
                <a:pPr>
                  <a:lnSpc>
                    <a:spcPct val="150000"/>
                  </a:lnSpc>
                </a:pPr>
                <a:r>
                  <a:rPr lang="he-IL" dirty="0">
                    <a:solidFill>
                      <a:prstClr val="black"/>
                    </a:solidFill>
                    <a:latin typeface="David" pitchFamily="34" charset="-79"/>
                    <a:cs typeface="David" pitchFamily="34" charset="-79"/>
                  </a:rPr>
                  <a:t>ייווצר עודף היצע (</a:t>
                </a:r>
                <a14:m>
                  <m:oMath xmlns:m="http://schemas.openxmlformats.org/officeDocument/2006/math">
                    <m:sSup>
                      <m:sSupPr>
                        <m:ctrlPr>
                          <a:rPr lang="en-US" i="1">
                            <a:solidFill>
                              <a:prstClr val="black"/>
                            </a:solidFill>
                            <a:latin typeface="Cambria Math" panose="02040503050406030204" pitchFamily="18" charset="0"/>
                          </a:rPr>
                        </m:ctrlPr>
                      </m:sSupPr>
                      <m:e>
                        <m:sSup>
                          <m:sSupPr>
                            <m:ctrlPr>
                              <a:rPr lang="en-US" i="1">
                                <a:solidFill>
                                  <a:prstClr val="black"/>
                                </a:solidFill>
                                <a:latin typeface="Cambria Math" panose="02040503050406030204" pitchFamily="18" charset="0"/>
                              </a:rPr>
                            </m:ctrlPr>
                          </m:sSupPr>
                          <m:e>
                            <m:r>
                              <m:rPr>
                                <m:nor/>
                              </m:rPr>
                              <a:rPr lang="en-US" dirty="0">
                                <a:solidFill>
                                  <a:prstClr val="black"/>
                                </a:solidFill>
                                <a:latin typeface="Calibri"/>
                              </a:rPr>
                              <m:t>X</m:t>
                            </m:r>
                          </m:e>
                          <m:sup>
                            <m:r>
                              <a:rPr lang="en-US" i="1">
                                <a:solidFill>
                                  <a:prstClr val="black"/>
                                </a:solidFill>
                                <a:latin typeface="Cambria Math" panose="02040503050406030204" pitchFamily="18" charset="0"/>
                              </a:rPr>
                              <m:t>𝑠</m:t>
                            </m:r>
                          </m:sup>
                        </m:sSup>
                        <m:r>
                          <m:rPr>
                            <m:nor/>
                          </m:rPr>
                          <a:rPr lang="he-IL">
                            <a:solidFill>
                              <a:prstClr val="black"/>
                            </a:solidFill>
                            <a:latin typeface="Cambria Math" panose="02040503050406030204" pitchFamily="18" charset="0"/>
                            <a:cs typeface="Arial" panose="020B0604020202020204" pitchFamily="34" charset="0"/>
                          </a:rPr>
                          <m:t>&gt;</m:t>
                        </m:r>
                        <m:r>
                          <m:rPr>
                            <m:nor/>
                          </m:rPr>
                          <a:rPr lang="en-US" dirty="0">
                            <a:solidFill>
                              <a:prstClr val="black"/>
                            </a:solidFill>
                            <a:latin typeface="Calibri"/>
                          </a:rPr>
                          <m:t>X</m:t>
                        </m:r>
                      </m:e>
                      <m:sup>
                        <m:r>
                          <a:rPr lang="en-US" i="1">
                            <a:solidFill>
                              <a:prstClr val="black"/>
                            </a:solidFill>
                            <a:latin typeface="Cambria Math" panose="02040503050406030204" pitchFamily="18" charset="0"/>
                          </a:rPr>
                          <m:t>𝑑</m:t>
                        </m:r>
                      </m:sup>
                    </m:sSup>
                  </m:oMath>
                </a14:m>
                <a:r>
                  <a:rPr lang="he-IL" dirty="0">
                    <a:solidFill>
                      <a:prstClr val="black"/>
                    </a:solidFill>
                    <a:latin typeface="David" pitchFamily="34" charset="-79"/>
                    <a:cs typeface="David" pitchFamily="34" charset="-79"/>
                  </a:rPr>
                  <a:t>)</a:t>
                </a:r>
              </a:p>
            </p:txBody>
          </p:sp>
        </mc:Choice>
        <mc:Fallback xmlns="">
          <p:sp>
            <p:nvSpPr>
              <p:cNvPr id="34" name="Rectangle 33">
                <a:extLst>
                  <a:ext uri="{FF2B5EF4-FFF2-40B4-BE49-F238E27FC236}">
                    <a16:creationId xmlns:a16="http://schemas.microsoft.com/office/drawing/2014/main" id="{304BAC6E-2BF7-4A17-A0F0-E583B434C702}"/>
                  </a:ext>
                </a:extLst>
              </p:cNvPr>
              <p:cNvSpPr>
                <a:spLocks noRot="1" noChangeAspect="1" noMove="1" noResize="1" noEditPoints="1" noAdjustHandles="1" noChangeArrowheads="1" noChangeShapeType="1" noTextEdit="1"/>
              </p:cNvSpPr>
              <p:nvPr/>
            </p:nvSpPr>
            <p:spPr>
              <a:xfrm>
                <a:off x="4118680" y="5709025"/>
                <a:ext cx="2454721" cy="475258"/>
              </a:xfrm>
              <a:prstGeom prst="rect">
                <a:avLst/>
              </a:prstGeom>
              <a:blipFill>
                <a:blip r:embed="rId10"/>
                <a:stretch>
                  <a:fillRect r="-2239" b="-22078"/>
                </a:stretch>
              </a:blipFill>
            </p:spPr>
            <p:txBody>
              <a:bodyPr/>
              <a:lstStyle/>
              <a:p>
                <a:r>
                  <a:rPr lang="en-IL">
                    <a:noFill/>
                  </a:rPr>
                  <a:t> </a:t>
                </a:r>
              </a:p>
            </p:txBody>
          </p:sp>
        </mc:Fallback>
      </mc:AlternateContent>
      <p:sp>
        <p:nvSpPr>
          <p:cNvPr id="35" name="Rectangle 34">
            <a:extLst>
              <a:ext uri="{FF2B5EF4-FFF2-40B4-BE49-F238E27FC236}">
                <a16:creationId xmlns:a16="http://schemas.microsoft.com/office/drawing/2014/main" id="{FE35A170-5FED-4EC9-BE1C-73471848A4FA}"/>
              </a:ext>
            </a:extLst>
          </p:cNvPr>
          <p:cNvSpPr/>
          <p:nvPr/>
        </p:nvSpPr>
        <p:spPr>
          <a:xfrm>
            <a:off x="2465439" y="4748808"/>
            <a:ext cx="1599526" cy="888705"/>
          </a:xfrm>
          <a:prstGeom prst="rect">
            <a:avLst/>
          </a:prstGeom>
          <a:solidFill>
            <a:srgbClr val="FFCCFF"/>
          </a:solidFill>
        </p:spPr>
        <p:txBody>
          <a:bodyPr wrap="square">
            <a:spAutoFit/>
          </a:bodyPr>
          <a:lstStyle/>
          <a:p>
            <a:pPr>
              <a:lnSpc>
                <a:spcPct val="150000"/>
              </a:lnSpc>
            </a:pPr>
            <a:r>
              <a:rPr lang="he-IL" dirty="0">
                <a:solidFill>
                  <a:prstClr val="black"/>
                </a:solidFill>
                <a:latin typeface="David" pitchFamily="34" charset="-79"/>
                <a:cs typeface="David" pitchFamily="34" charset="-79"/>
              </a:rPr>
              <a:t>המחיר יעלה עד שיגיע ל400</a:t>
            </a:r>
            <a:r>
              <a:rPr lang="en-US" dirty="0">
                <a:solidFill>
                  <a:prstClr val="black"/>
                </a:solidFill>
                <a:latin typeface="Calibri"/>
              </a:rPr>
              <a:t>Px=</a:t>
            </a:r>
            <a:endParaRPr lang="he-IL" dirty="0">
              <a:solidFill>
                <a:prstClr val="black"/>
              </a:solidFill>
              <a:latin typeface="Calibri"/>
              <a:cs typeface="Arial" panose="020B0604020202020204" pitchFamily="34" charset="0"/>
            </a:endParaRPr>
          </a:p>
        </p:txBody>
      </p:sp>
      <p:sp>
        <p:nvSpPr>
          <p:cNvPr id="36" name="Rectangle 35">
            <a:extLst>
              <a:ext uri="{FF2B5EF4-FFF2-40B4-BE49-F238E27FC236}">
                <a16:creationId xmlns:a16="http://schemas.microsoft.com/office/drawing/2014/main" id="{3FCEA32E-5DFB-4E4D-92D5-F794D5C1CDF0}"/>
              </a:ext>
            </a:extLst>
          </p:cNvPr>
          <p:cNvSpPr/>
          <p:nvPr/>
        </p:nvSpPr>
        <p:spPr>
          <a:xfrm>
            <a:off x="2294247" y="5750717"/>
            <a:ext cx="1671695" cy="888705"/>
          </a:xfrm>
          <a:prstGeom prst="rect">
            <a:avLst/>
          </a:prstGeom>
          <a:solidFill>
            <a:srgbClr val="CCFFFF"/>
          </a:solidFill>
        </p:spPr>
        <p:txBody>
          <a:bodyPr wrap="square">
            <a:spAutoFit/>
          </a:bodyPr>
          <a:lstStyle/>
          <a:p>
            <a:pPr>
              <a:lnSpc>
                <a:spcPct val="150000"/>
              </a:lnSpc>
            </a:pPr>
            <a:r>
              <a:rPr lang="he-IL" dirty="0">
                <a:solidFill>
                  <a:prstClr val="black"/>
                </a:solidFill>
                <a:latin typeface="David" pitchFamily="34" charset="-79"/>
                <a:cs typeface="David" pitchFamily="34" charset="-79"/>
              </a:rPr>
              <a:t>המחיר ירד עד שיגיע ל400</a:t>
            </a:r>
            <a:r>
              <a:rPr lang="en-US" dirty="0">
                <a:solidFill>
                  <a:prstClr val="black"/>
                </a:solidFill>
                <a:latin typeface="Calibri"/>
              </a:rPr>
              <a:t>Px</a:t>
            </a:r>
            <a:r>
              <a:rPr lang="en-US" dirty="0">
                <a:solidFill>
                  <a:prstClr val="black"/>
                </a:solidFill>
                <a:latin typeface="David" pitchFamily="34" charset="-79"/>
                <a:cs typeface="David" pitchFamily="34" charset="-79"/>
              </a:rPr>
              <a:t>=</a:t>
            </a:r>
            <a:endParaRPr lang="he-IL" dirty="0">
              <a:solidFill>
                <a:prstClr val="black"/>
              </a:solidFill>
              <a:latin typeface="Calibri"/>
              <a:cs typeface="Arial" panose="020B0604020202020204" pitchFamily="34" charset="0"/>
            </a:endParaRPr>
          </a:p>
        </p:txBody>
      </p:sp>
      <p:sp>
        <p:nvSpPr>
          <p:cNvPr id="8" name="Date Placeholder 7">
            <a:extLst>
              <a:ext uri="{FF2B5EF4-FFF2-40B4-BE49-F238E27FC236}">
                <a16:creationId xmlns:a16="http://schemas.microsoft.com/office/drawing/2014/main" id="{0554D349-ADF2-1A18-27D4-C47D118C8979}"/>
              </a:ext>
            </a:extLst>
          </p:cNvPr>
          <p:cNvSpPr>
            <a:spLocks noGrp="1"/>
          </p:cNvSpPr>
          <p:nvPr>
            <p:ph type="dt" sz="half" idx="10"/>
          </p:nvPr>
        </p:nvSpPr>
        <p:spPr>
          <a:xfrm>
            <a:off x="9347200" y="6583362"/>
            <a:ext cx="2844800" cy="365125"/>
          </a:xfrm>
        </p:spPr>
        <p:txBody>
          <a:bodyPr/>
          <a:lstStyle/>
          <a:p>
            <a:fld id="{E2F8F158-4181-4D18-B2E5-4DE611430E8A}" type="datetime8">
              <a:rPr lang="he-IL" smtClean="0"/>
              <a:t>09 ינואר 26</a:t>
            </a:fld>
            <a:endParaRPr lang="he-IL" dirty="0"/>
          </a:p>
        </p:txBody>
      </p:sp>
    </p:spTree>
    <p:extLst>
      <p:ext uri="{BB962C8B-B14F-4D97-AF65-F5344CB8AC3E}">
        <p14:creationId xmlns:p14="http://schemas.microsoft.com/office/powerpoint/2010/main" val="1290347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barn(inVertical)">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1" grpId="0" animBg="1"/>
      <p:bldP spid="34" grpId="0" animBg="1"/>
      <p:bldP spid="35" grpId="0" animBg="1"/>
      <p:bldP spid="3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5655D781-E1A9-4EA4-A6E0-B74BE5C5E234}"/>
              </a:ext>
            </a:extLst>
          </p:cNvPr>
          <p:cNvCxnSpPr>
            <a:cxnSpLocks/>
          </p:cNvCxnSpPr>
          <p:nvPr/>
        </p:nvCxnSpPr>
        <p:spPr>
          <a:xfrm>
            <a:off x="2209801" y="4204462"/>
            <a:ext cx="3302009" cy="465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41FAD8C-7A86-4789-84D4-3F45882EDF9B}"/>
              </a:ext>
            </a:extLst>
          </p:cNvPr>
          <p:cNvCxnSpPr>
            <a:cxnSpLocks/>
          </p:cNvCxnSpPr>
          <p:nvPr/>
        </p:nvCxnSpPr>
        <p:spPr>
          <a:xfrm flipV="1">
            <a:off x="2222090" y="914400"/>
            <a:ext cx="0" cy="3290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DEA45035-F9A1-4C23-83C2-1F18C061532A}"/>
              </a:ext>
            </a:extLst>
          </p:cNvPr>
          <p:cNvSpPr/>
          <p:nvPr/>
        </p:nvSpPr>
        <p:spPr>
          <a:xfrm>
            <a:off x="1816210" y="694463"/>
            <a:ext cx="405880" cy="369332"/>
          </a:xfrm>
          <a:prstGeom prst="rect">
            <a:avLst/>
          </a:prstGeom>
        </p:spPr>
        <p:txBody>
          <a:bodyPr wrap="none">
            <a:spAutoFit/>
          </a:bodyPr>
          <a:lstStyle/>
          <a:p>
            <a:pPr algn="l" rtl="0"/>
            <a:r>
              <a:rPr lang="en-US" dirty="0">
                <a:solidFill>
                  <a:prstClr val="black"/>
                </a:solidFill>
                <a:latin typeface="Calibri"/>
              </a:rPr>
              <a:t>Px</a:t>
            </a:r>
            <a:endParaRPr lang="he-IL" dirty="0">
              <a:solidFill>
                <a:prstClr val="black"/>
              </a:solidFill>
              <a:latin typeface="Calibri"/>
              <a:cs typeface="Arial" panose="020B0604020202020204" pitchFamily="34" charset="0"/>
            </a:endParaRPr>
          </a:p>
        </p:txBody>
      </p:sp>
      <p:sp>
        <p:nvSpPr>
          <p:cNvPr id="18" name="TextBox 17">
            <a:extLst>
              <a:ext uri="{FF2B5EF4-FFF2-40B4-BE49-F238E27FC236}">
                <a16:creationId xmlns:a16="http://schemas.microsoft.com/office/drawing/2014/main" id="{5D7F713F-E0FB-40DD-B29A-B016CECBCDFF}"/>
              </a:ext>
            </a:extLst>
          </p:cNvPr>
          <p:cNvSpPr txBox="1"/>
          <p:nvPr/>
        </p:nvSpPr>
        <p:spPr>
          <a:xfrm>
            <a:off x="5528725" y="4069011"/>
            <a:ext cx="304892" cy="369332"/>
          </a:xfrm>
          <a:prstGeom prst="rect">
            <a:avLst/>
          </a:prstGeom>
          <a:noFill/>
        </p:spPr>
        <p:txBody>
          <a:bodyPr wrap="none" rtlCol="1">
            <a:spAutoFit/>
          </a:bodyPr>
          <a:lstStyle/>
          <a:p>
            <a:pPr algn="l" rtl="0"/>
            <a:r>
              <a:rPr lang="en-US" dirty="0">
                <a:solidFill>
                  <a:prstClr val="black"/>
                </a:solidFill>
                <a:latin typeface="Calibri"/>
              </a:rPr>
              <a:t>X</a:t>
            </a:r>
            <a:endParaRPr lang="he-IL" dirty="0">
              <a:solidFill>
                <a:prstClr val="black"/>
              </a:solidFill>
              <a:latin typeface="Calibri"/>
              <a:cs typeface="Arial" panose="020B0604020202020204" pitchFamily="34" charset="0"/>
            </a:endParaRPr>
          </a:p>
        </p:txBody>
      </p:sp>
      <p:cxnSp>
        <p:nvCxnSpPr>
          <p:cNvPr id="20" name="מחבר ישר 13">
            <a:extLst>
              <a:ext uri="{FF2B5EF4-FFF2-40B4-BE49-F238E27FC236}">
                <a16:creationId xmlns:a16="http://schemas.microsoft.com/office/drawing/2014/main" id="{820B12E4-C110-446B-93C2-A733E41394FB}"/>
              </a:ext>
            </a:extLst>
          </p:cNvPr>
          <p:cNvCxnSpPr>
            <a:cxnSpLocks/>
          </p:cNvCxnSpPr>
          <p:nvPr/>
        </p:nvCxnSpPr>
        <p:spPr>
          <a:xfrm>
            <a:off x="2209801" y="1542350"/>
            <a:ext cx="2971801" cy="2708674"/>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65F1A90-2B7B-43D2-AC75-9B82D3884CE9}"/>
              </a:ext>
            </a:extLst>
          </p:cNvPr>
          <p:cNvSpPr txBox="1"/>
          <p:nvPr/>
        </p:nvSpPr>
        <p:spPr>
          <a:xfrm>
            <a:off x="5045962" y="3776437"/>
            <a:ext cx="405881" cy="369332"/>
          </a:xfrm>
          <a:prstGeom prst="rect">
            <a:avLst/>
          </a:prstGeom>
          <a:noFill/>
        </p:spPr>
        <p:txBody>
          <a:bodyPr wrap="none" rtlCol="1">
            <a:spAutoFit/>
          </a:bodyPr>
          <a:lstStyle/>
          <a:p>
            <a:pPr algn="l" rtl="0"/>
            <a:r>
              <a:rPr lang="en-US" dirty="0">
                <a:solidFill>
                  <a:prstClr val="black"/>
                </a:solidFill>
                <a:latin typeface="Calibri"/>
              </a:rPr>
              <a:t>D</a:t>
            </a:r>
            <a:r>
              <a:rPr lang="en-US" baseline="-25000" dirty="0">
                <a:solidFill>
                  <a:prstClr val="black"/>
                </a:solidFill>
                <a:latin typeface="Calibri"/>
              </a:rPr>
              <a:t>0</a:t>
            </a:r>
            <a:endParaRPr lang="he-IL" baseline="-25000" dirty="0">
              <a:solidFill>
                <a:prstClr val="black"/>
              </a:solidFill>
              <a:latin typeface="Calibri"/>
              <a:cs typeface="Arial" panose="020B0604020202020204" pitchFamily="34" charset="0"/>
            </a:endParaRPr>
          </a:p>
        </p:txBody>
      </p:sp>
      <p:cxnSp>
        <p:nvCxnSpPr>
          <p:cNvPr id="27" name="מחבר ישר 15">
            <a:extLst>
              <a:ext uri="{FF2B5EF4-FFF2-40B4-BE49-F238E27FC236}">
                <a16:creationId xmlns:a16="http://schemas.microsoft.com/office/drawing/2014/main" id="{33B0FEB4-9EA7-4EE0-95C6-97B2D7C59C33}"/>
              </a:ext>
            </a:extLst>
          </p:cNvPr>
          <p:cNvCxnSpPr>
            <a:cxnSpLocks/>
          </p:cNvCxnSpPr>
          <p:nvPr/>
        </p:nvCxnSpPr>
        <p:spPr>
          <a:xfrm flipV="1">
            <a:off x="2199969" y="1768806"/>
            <a:ext cx="2845993" cy="2168130"/>
          </a:xfrm>
          <a:prstGeom prst="line">
            <a:avLst/>
          </a:prstGeom>
          <a:ln w="285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26C23A6-52A6-4311-8A5A-C246C96954BB}"/>
              </a:ext>
            </a:extLst>
          </p:cNvPr>
          <p:cNvCxnSpPr/>
          <p:nvPr/>
        </p:nvCxnSpPr>
        <p:spPr>
          <a:xfrm flipH="1">
            <a:off x="2222090" y="2852871"/>
            <a:ext cx="1400874"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Straight Connector 32">
            <a:extLst>
              <a:ext uri="{FF2B5EF4-FFF2-40B4-BE49-F238E27FC236}">
                <a16:creationId xmlns:a16="http://schemas.microsoft.com/office/drawing/2014/main" id="{2DC2CB8E-11CC-4DB2-98CB-D5EB4265DADE}"/>
              </a:ext>
            </a:extLst>
          </p:cNvPr>
          <p:cNvCxnSpPr>
            <a:cxnSpLocks/>
            <a:stCxn id="58" idx="4"/>
          </p:cNvCxnSpPr>
          <p:nvPr/>
        </p:nvCxnSpPr>
        <p:spPr>
          <a:xfrm flipH="1">
            <a:off x="3649445" y="2987473"/>
            <a:ext cx="15446" cy="124348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D9DD4DA5-A3AE-4432-99C2-B6B5229BDD6D}"/>
                  </a:ext>
                </a:extLst>
              </p:cNvPr>
              <p:cNvSpPr/>
              <p:nvPr/>
            </p:nvSpPr>
            <p:spPr>
              <a:xfrm>
                <a:off x="3370932" y="4266272"/>
                <a:ext cx="457176" cy="338554"/>
              </a:xfrm>
              <a:prstGeom prst="rect">
                <a:avLst/>
              </a:prstGeom>
            </p:spPr>
            <p:txBody>
              <a:bodyPr wrap="none">
                <a:spAutoFit/>
              </a:bodyPr>
              <a:lstStyle/>
              <a:p>
                <a:pPr algn="l" rtl="0"/>
                <a14:m>
                  <m:oMathPara xmlns:m="http://schemas.openxmlformats.org/officeDocument/2006/math">
                    <m:oMathParaPr>
                      <m:jc m:val="centerGroup"/>
                    </m:oMathParaPr>
                    <m:oMath xmlns:m="http://schemas.openxmlformats.org/officeDocument/2006/math">
                      <m:r>
                        <m:rPr>
                          <m:sty m:val="p"/>
                        </m:rPr>
                        <a:rPr lang="en-US" sz="1600" i="1">
                          <a:solidFill>
                            <a:prstClr val="black"/>
                          </a:solidFill>
                          <a:latin typeface="Cambria Math" panose="02040503050406030204" pitchFamily="18" charset="0"/>
                        </a:rPr>
                        <m:t>X</m:t>
                      </m:r>
                      <m:r>
                        <m:rPr>
                          <m:sty m:val="p"/>
                        </m:rPr>
                        <a:rPr lang="en-US" sz="1600" b="0" i="1" smtClean="0">
                          <a:solidFill>
                            <a:prstClr val="black"/>
                          </a:solidFill>
                          <a:latin typeface="Cambria Math" panose="02040503050406030204" pitchFamily="18" charset="0"/>
                        </a:rPr>
                        <m:t>o</m:t>
                      </m:r>
                    </m:oMath>
                  </m:oMathPara>
                </a14:m>
                <a:endParaRPr lang="en-IL" dirty="0">
                  <a:solidFill>
                    <a:prstClr val="black"/>
                  </a:solidFill>
                  <a:latin typeface="Calibri"/>
                </a:endParaRPr>
              </a:p>
            </p:txBody>
          </p:sp>
        </mc:Choice>
        <mc:Fallback xmlns="">
          <p:sp>
            <p:nvSpPr>
              <p:cNvPr id="48" name="Rectangle 47">
                <a:extLst>
                  <a:ext uri="{FF2B5EF4-FFF2-40B4-BE49-F238E27FC236}">
                    <a16:creationId xmlns:a16="http://schemas.microsoft.com/office/drawing/2014/main" id="{D9DD4DA5-A3AE-4432-99C2-B6B5229BDD6D}"/>
                  </a:ext>
                </a:extLst>
              </p:cNvPr>
              <p:cNvSpPr>
                <a:spLocks noRot="1" noChangeAspect="1" noMove="1" noResize="1" noEditPoints="1" noAdjustHandles="1" noChangeArrowheads="1" noChangeShapeType="1" noTextEdit="1"/>
              </p:cNvSpPr>
              <p:nvPr/>
            </p:nvSpPr>
            <p:spPr>
              <a:xfrm>
                <a:off x="3370932" y="4266272"/>
                <a:ext cx="457176" cy="338554"/>
              </a:xfrm>
              <a:prstGeom prst="rect">
                <a:avLst/>
              </a:prstGeom>
              <a:blipFill>
                <a:blip r:embed="rId2"/>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C2D7CFAA-7220-46BC-B910-511D38A14197}"/>
                  </a:ext>
                </a:extLst>
              </p:cNvPr>
              <p:cNvSpPr/>
              <p:nvPr/>
            </p:nvSpPr>
            <p:spPr>
              <a:xfrm>
                <a:off x="1612584" y="2668205"/>
                <a:ext cx="614271" cy="338554"/>
              </a:xfrm>
              <a:prstGeom prst="rect">
                <a:avLst/>
              </a:prstGeom>
            </p:spPr>
            <p:txBody>
              <a:bodyPr wrap="none">
                <a:spAutoFit/>
              </a:bodyPr>
              <a:lstStyle/>
              <a:p>
                <a:pPr algn="l" rtl="0"/>
                <a14:m>
                  <m:oMathPara xmlns:m="http://schemas.openxmlformats.org/officeDocument/2006/math">
                    <m:oMathParaPr>
                      <m:jc m:val="centerGroup"/>
                    </m:oMathParaPr>
                    <m:oMath xmlns:m="http://schemas.openxmlformats.org/officeDocument/2006/math">
                      <m:r>
                        <a:rPr lang="en-US" sz="1600" b="1" i="1" smtClean="0">
                          <a:solidFill>
                            <a:prstClr val="black"/>
                          </a:solidFill>
                          <a:latin typeface="Cambria Math" panose="02040503050406030204" pitchFamily="18" charset="0"/>
                          <a:cs typeface="David" pitchFamily="34" charset="-79"/>
                        </a:rPr>
                        <m:t>𝑷𝒙</m:t>
                      </m:r>
                      <m:r>
                        <a:rPr lang="en-US" sz="1600" b="1" i="1" smtClean="0">
                          <a:solidFill>
                            <a:prstClr val="black"/>
                          </a:solidFill>
                          <a:latin typeface="Cambria Math" panose="02040503050406030204" pitchFamily="18" charset="0"/>
                          <a:cs typeface="David" pitchFamily="34" charset="-79"/>
                        </a:rPr>
                        <m:t>𝟎</m:t>
                      </m:r>
                    </m:oMath>
                  </m:oMathPara>
                </a14:m>
                <a:endParaRPr lang="en-IL" sz="1600" dirty="0">
                  <a:solidFill>
                    <a:prstClr val="black"/>
                  </a:solidFill>
                  <a:latin typeface="Calibri"/>
                </a:endParaRPr>
              </a:p>
            </p:txBody>
          </p:sp>
        </mc:Choice>
        <mc:Fallback xmlns="">
          <p:sp>
            <p:nvSpPr>
              <p:cNvPr id="49" name="Rectangle 48">
                <a:extLst>
                  <a:ext uri="{FF2B5EF4-FFF2-40B4-BE49-F238E27FC236}">
                    <a16:creationId xmlns:a16="http://schemas.microsoft.com/office/drawing/2014/main" id="{C2D7CFAA-7220-46BC-B910-511D38A14197}"/>
                  </a:ext>
                </a:extLst>
              </p:cNvPr>
              <p:cNvSpPr>
                <a:spLocks noRot="1" noChangeAspect="1" noMove="1" noResize="1" noEditPoints="1" noAdjustHandles="1" noChangeArrowheads="1" noChangeShapeType="1" noTextEdit="1"/>
              </p:cNvSpPr>
              <p:nvPr/>
            </p:nvSpPr>
            <p:spPr>
              <a:xfrm>
                <a:off x="1612584" y="2668205"/>
                <a:ext cx="614271" cy="338554"/>
              </a:xfrm>
              <a:prstGeom prst="rect">
                <a:avLst/>
              </a:prstGeom>
              <a:blipFill>
                <a:blip r:embed="rId3"/>
                <a:stretch>
                  <a:fillRect/>
                </a:stretch>
              </a:blipFill>
            </p:spPr>
            <p:txBody>
              <a:bodyPr/>
              <a:lstStyle/>
              <a:p>
                <a:r>
                  <a:rPr lang="en-IL">
                    <a:noFill/>
                  </a:rPr>
                  <a:t> </a:t>
                </a:r>
              </a:p>
            </p:txBody>
          </p:sp>
        </mc:Fallback>
      </mc:AlternateContent>
      <p:sp>
        <p:nvSpPr>
          <p:cNvPr id="34" name="Title 1">
            <a:extLst>
              <a:ext uri="{FF2B5EF4-FFF2-40B4-BE49-F238E27FC236}">
                <a16:creationId xmlns:a16="http://schemas.microsoft.com/office/drawing/2014/main" id="{1FC4C539-9ECB-47DC-AFB1-7452654F7D5F}"/>
              </a:ext>
            </a:extLst>
          </p:cNvPr>
          <p:cNvSpPr>
            <a:spLocks noGrp="1"/>
          </p:cNvSpPr>
          <p:nvPr>
            <p:ph type="title"/>
          </p:nvPr>
        </p:nvSpPr>
        <p:spPr>
          <a:xfrm>
            <a:off x="2286001" y="228601"/>
            <a:ext cx="6428969" cy="321051"/>
          </a:xfrm>
        </p:spPr>
        <p:txBody>
          <a:bodyPr>
            <a:normAutofit fontScale="90000"/>
          </a:bodyPr>
          <a:lstStyle/>
          <a:p>
            <a:pPr algn="ctr"/>
            <a:r>
              <a:rPr lang="he-IL" dirty="0"/>
              <a:t>שינויים בנקודת שיווי המשקל</a:t>
            </a:r>
            <a:endParaRPr lang="en-US" dirty="0"/>
          </a:p>
        </p:txBody>
      </p:sp>
      <p:sp>
        <p:nvSpPr>
          <p:cNvPr id="67" name="Slide Number Placeholder 66">
            <a:extLst>
              <a:ext uri="{FF2B5EF4-FFF2-40B4-BE49-F238E27FC236}">
                <a16:creationId xmlns:a16="http://schemas.microsoft.com/office/drawing/2014/main" id="{D35F540A-7C1A-4524-9B8F-8C4EFF5AA37B}"/>
              </a:ext>
            </a:extLst>
          </p:cNvPr>
          <p:cNvSpPr>
            <a:spLocks noGrp="1"/>
          </p:cNvSpPr>
          <p:nvPr>
            <p:ph type="sldNum" sz="quarter" idx="12"/>
          </p:nvPr>
        </p:nvSpPr>
        <p:spPr/>
        <p:txBody>
          <a:bodyPr/>
          <a:lstStyle/>
          <a:p>
            <a:pPr rtl="0"/>
            <a:fld id="{EE4A799E-BCDC-47C4-95D4-74FB8914F55A}" type="slidenum">
              <a:rPr lang="en-US">
                <a:solidFill>
                  <a:prstClr val="black">
                    <a:tint val="75000"/>
                  </a:prstClr>
                </a:solidFill>
                <a:latin typeface="Calibri"/>
              </a:rPr>
              <a:pPr rtl="0"/>
              <a:t>28</a:t>
            </a:fld>
            <a:endParaRPr lang="en-US">
              <a:solidFill>
                <a:prstClr val="black">
                  <a:tint val="75000"/>
                </a:prstClr>
              </a:solidFill>
              <a:latin typeface="Calibri"/>
            </a:endParaRPr>
          </a:p>
        </p:txBody>
      </p:sp>
      <p:sp>
        <p:nvSpPr>
          <p:cNvPr id="36" name="Rectangle 35">
            <a:extLst>
              <a:ext uri="{FF2B5EF4-FFF2-40B4-BE49-F238E27FC236}">
                <a16:creationId xmlns:a16="http://schemas.microsoft.com/office/drawing/2014/main" id="{11705E92-817A-47E8-B611-634B6F0B4F79}"/>
              </a:ext>
            </a:extLst>
          </p:cNvPr>
          <p:cNvSpPr/>
          <p:nvPr/>
        </p:nvSpPr>
        <p:spPr>
          <a:xfrm>
            <a:off x="6012243" y="1345002"/>
            <a:ext cx="5874956" cy="3754874"/>
          </a:xfrm>
          <a:prstGeom prst="rect">
            <a:avLst/>
          </a:prstGeom>
        </p:spPr>
        <p:txBody>
          <a:bodyPr wrap="square">
            <a:spAutoFit/>
          </a:bodyPr>
          <a:lstStyle/>
          <a:p>
            <a:pPr>
              <a:lnSpc>
                <a:spcPct val="150000"/>
              </a:lnSpc>
            </a:pPr>
            <a:r>
              <a:rPr lang="he-IL" sz="1600" dirty="0">
                <a:solidFill>
                  <a:prstClr val="black"/>
                </a:solidFill>
                <a:latin typeface="David" pitchFamily="34" charset="-79"/>
                <a:cs typeface="David" pitchFamily="34" charset="-79"/>
              </a:rPr>
              <a:t>בשוק למוצר </a:t>
            </a:r>
            <a:r>
              <a:rPr lang="en-US" sz="1600" dirty="0">
                <a:solidFill>
                  <a:prstClr val="black"/>
                </a:solidFill>
                <a:latin typeface="David" pitchFamily="34" charset="-79"/>
                <a:cs typeface="David" pitchFamily="34" charset="-79"/>
              </a:rPr>
              <a:t>X</a:t>
            </a:r>
            <a:r>
              <a:rPr lang="he-IL" sz="1600" dirty="0">
                <a:solidFill>
                  <a:prstClr val="black"/>
                </a:solidFill>
                <a:latin typeface="David" pitchFamily="34" charset="-79"/>
                <a:cs typeface="David" pitchFamily="34" charset="-79"/>
              </a:rPr>
              <a:t> עקומת ביקוש יורדת משמאל לימין ועקומת היצע עולה משמאל לימין. </a:t>
            </a:r>
            <a:r>
              <a:rPr lang="he-IL" sz="1600" b="1" dirty="0">
                <a:solidFill>
                  <a:schemeClr val="accent6">
                    <a:lumMod val="75000"/>
                  </a:schemeClr>
                </a:solidFill>
                <a:latin typeface="David" pitchFamily="34" charset="-79"/>
                <a:cs typeface="David" pitchFamily="34" charset="-79"/>
              </a:rPr>
              <a:t>עקב עלייה בעלויות חומרי הגלם, חל גידול בעלויות הייצור של היצרנים</a:t>
            </a:r>
            <a:r>
              <a:rPr lang="he-IL" sz="1600" dirty="0">
                <a:solidFill>
                  <a:prstClr val="black"/>
                </a:solidFill>
                <a:latin typeface="David" pitchFamily="34" charset="-79"/>
                <a:cs typeface="David" pitchFamily="34" charset="-79"/>
              </a:rPr>
              <a:t>. כתוצאה משינוי זה, בשיווי המשקל החדש, </a:t>
            </a:r>
            <a:r>
              <a:rPr lang="he-IL" sz="1600" b="1" dirty="0">
                <a:solidFill>
                  <a:prstClr val="black"/>
                </a:solidFill>
                <a:latin typeface="David" pitchFamily="34" charset="-79"/>
                <a:cs typeface="David" pitchFamily="34" charset="-79"/>
              </a:rPr>
              <a:t>בחרו בתשובות הנכונות</a:t>
            </a:r>
            <a:r>
              <a:rPr lang="he-IL" sz="1600" dirty="0">
                <a:solidFill>
                  <a:prstClr val="black"/>
                </a:solidFill>
                <a:latin typeface="David" pitchFamily="34" charset="-79"/>
                <a:cs typeface="David" pitchFamily="34" charset="-79"/>
              </a:rPr>
              <a:t>:</a:t>
            </a:r>
          </a:p>
          <a:p>
            <a:pPr marL="342900" indent="-342900">
              <a:lnSpc>
                <a:spcPct val="150000"/>
              </a:lnSpc>
              <a:buFontTx/>
              <a:buAutoNum type="arabicPeriod"/>
            </a:pPr>
            <a:r>
              <a:rPr lang="he-IL" sz="1600" dirty="0">
                <a:solidFill>
                  <a:prstClr val="black"/>
                </a:solidFill>
                <a:latin typeface="David" pitchFamily="34" charset="-79"/>
                <a:cs typeface="David" pitchFamily="34" charset="-79"/>
              </a:rPr>
              <a:t>המחיר בשוק יעלה והכמות המיוצרת תקטן.</a:t>
            </a:r>
          </a:p>
          <a:p>
            <a:pPr marL="342900" indent="-342900">
              <a:lnSpc>
                <a:spcPct val="150000"/>
              </a:lnSpc>
              <a:buFontTx/>
              <a:buAutoNum type="arabicPeriod"/>
            </a:pPr>
            <a:r>
              <a:rPr lang="he-IL" sz="1600" dirty="0">
                <a:solidFill>
                  <a:prstClr val="black"/>
                </a:solidFill>
                <a:latin typeface="David" pitchFamily="34" charset="-79"/>
                <a:cs typeface="David" pitchFamily="34" charset="-79"/>
              </a:rPr>
              <a:t>עודף הצרכנים ישאר ללא שינוי מכיוון שאין תזוזה של עקומת הביקוש.</a:t>
            </a:r>
          </a:p>
          <a:p>
            <a:pPr marL="342900" indent="-342900">
              <a:lnSpc>
                <a:spcPct val="150000"/>
              </a:lnSpc>
              <a:buFontTx/>
              <a:buAutoNum type="arabicPeriod"/>
            </a:pPr>
            <a:r>
              <a:rPr lang="he-IL" sz="1600" dirty="0">
                <a:solidFill>
                  <a:prstClr val="black"/>
                </a:solidFill>
                <a:latin typeface="David" pitchFamily="34" charset="-79"/>
                <a:cs typeface="David" pitchFamily="34" charset="-79"/>
              </a:rPr>
              <a:t>הוצאות הצרכנים לא ישתנו מכיוון שהמחיר עולה והכמות המיוצרת קטנה.</a:t>
            </a:r>
          </a:p>
          <a:p>
            <a:pPr marL="342900" indent="-342900">
              <a:lnSpc>
                <a:spcPct val="150000"/>
              </a:lnSpc>
              <a:buFontTx/>
              <a:buAutoNum type="arabicPeriod"/>
            </a:pPr>
            <a:r>
              <a:rPr lang="he-IL" sz="1600" dirty="0">
                <a:solidFill>
                  <a:prstClr val="black"/>
                </a:solidFill>
                <a:latin typeface="David" pitchFamily="34" charset="-79"/>
                <a:cs typeface="David" pitchFamily="34" charset="-79"/>
              </a:rPr>
              <a:t>עודף הצרכנים קטן. </a:t>
            </a:r>
          </a:p>
          <a:p>
            <a:pPr marL="342900" indent="-342900">
              <a:lnSpc>
                <a:spcPct val="150000"/>
              </a:lnSpc>
              <a:buFontTx/>
              <a:buAutoNum type="arabicPeriod"/>
            </a:pPr>
            <a:r>
              <a:rPr lang="he-IL" sz="1600" dirty="0">
                <a:solidFill>
                  <a:prstClr val="black"/>
                </a:solidFill>
                <a:latin typeface="David" pitchFamily="34" charset="-79"/>
                <a:cs typeface="David" pitchFamily="34" charset="-79"/>
              </a:rPr>
              <a:t>לא ניתן לדעת מה קרה להוצאות הצרכנים.</a:t>
            </a:r>
          </a:p>
          <a:p>
            <a:pPr marL="342900" indent="-342900">
              <a:lnSpc>
                <a:spcPct val="150000"/>
              </a:lnSpc>
              <a:buFontTx/>
              <a:buAutoNum type="arabicPeriod"/>
            </a:pPr>
            <a:endParaRPr lang="he-IL" sz="1600" dirty="0">
              <a:solidFill>
                <a:prstClr val="black"/>
              </a:solidFill>
              <a:latin typeface="David" pitchFamily="34" charset="-79"/>
              <a:cs typeface="David" pitchFamily="34" charset="-79"/>
            </a:endParaRPr>
          </a:p>
        </p:txBody>
      </p:sp>
      <p:sp>
        <p:nvSpPr>
          <p:cNvPr id="58" name="Oval 57">
            <a:extLst>
              <a:ext uri="{FF2B5EF4-FFF2-40B4-BE49-F238E27FC236}">
                <a16:creationId xmlns:a16="http://schemas.microsoft.com/office/drawing/2014/main" id="{9197B85C-4AA9-4E39-B64C-0C17261F0A3D}"/>
              </a:ext>
            </a:extLst>
          </p:cNvPr>
          <p:cNvSpPr/>
          <p:nvPr/>
        </p:nvSpPr>
        <p:spPr>
          <a:xfrm>
            <a:off x="3521241" y="2710509"/>
            <a:ext cx="287301" cy="27696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rtl="0"/>
            <a:r>
              <a:rPr lang="en-US" dirty="0">
                <a:solidFill>
                  <a:prstClr val="white"/>
                </a:solidFill>
                <a:latin typeface="Calibri"/>
              </a:rPr>
              <a:t>A</a:t>
            </a:r>
            <a:endParaRPr lang="en-IL" dirty="0">
              <a:solidFill>
                <a:prstClr val="white"/>
              </a:solidFill>
              <a:latin typeface="Calibri"/>
            </a:endParaRPr>
          </a:p>
        </p:txBody>
      </p:sp>
      <p:sp>
        <p:nvSpPr>
          <p:cNvPr id="2" name="TextBox 1">
            <a:extLst>
              <a:ext uri="{FF2B5EF4-FFF2-40B4-BE49-F238E27FC236}">
                <a16:creationId xmlns:a16="http://schemas.microsoft.com/office/drawing/2014/main" id="{60C883E5-C434-4A31-8098-2B50D5710B72}"/>
              </a:ext>
            </a:extLst>
          </p:cNvPr>
          <p:cNvSpPr txBox="1"/>
          <p:nvPr/>
        </p:nvSpPr>
        <p:spPr>
          <a:xfrm>
            <a:off x="8593494" y="466531"/>
            <a:ext cx="2967135" cy="369332"/>
          </a:xfrm>
          <a:prstGeom prst="rect">
            <a:avLst/>
          </a:prstGeom>
          <a:noFill/>
        </p:spPr>
        <p:txBody>
          <a:bodyPr wrap="square" rtlCol="0">
            <a:spAutoFit/>
          </a:bodyPr>
          <a:lstStyle/>
          <a:p>
            <a:r>
              <a:rPr lang="he-IL" dirty="0"/>
              <a:t>שאלת כיתה 2</a:t>
            </a:r>
            <a:endParaRPr lang="en-IL" dirty="0"/>
          </a:p>
        </p:txBody>
      </p:sp>
      <p:sp>
        <p:nvSpPr>
          <p:cNvPr id="24" name="TextBox 23">
            <a:extLst>
              <a:ext uri="{FF2B5EF4-FFF2-40B4-BE49-F238E27FC236}">
                <a16:creationId xmlns:a16="http://schemas.microsoft.com/office/drawing/2014/main" id="{E88C5D44-CA73-4964-9957-748211B65A47}"/>
              </a:ext>
            </a:extLst>
          </p:cNvPr>
          <p:cNvSpPr txBox="1"/>
          <p:nvPr/>
        </p:nvSpPr>
        <p:spPr>
          <a:xfrm>
            <a:off x="4611370" y="1449974"/>
            <a:ext cx="369012" cy="369332"/>
          </a:xfrm>
          <a:prstGeom prst="rect">
            <a:avLst/>
          </a:prstGeom>
          <a:noFill/>
        </p:spPr>
        <p:txBody>
          <a:bodyPr wrap="none" rtlCol="1">
            <a:spAutoFit/>
          </a:bodyPr>
          <a:lstStyle/>
          <a:p>
            <a:pPr algn="l" rtl="0"/>
            <a:r>
              <a:rPr lang="en-US" dirty="0">
                <a:solidFill>
                  <a:prstClr val="black"/>
                </a:solidFill>
                <a:latin typeface="Calibri"/>
              </a:rPr>
              <a:t>S</a:t>
            </a:r>
            <a:r>
              <a:rPr lang="en-US" baseline="-25000" dirty="0">
                <a:solidFill>
                  <a:prstClr val="black"/>
                </a:solidFill>
                <a:latin typeface="Calibri"/>
              </a:rPr>
              <a:t>0</a:t>
            </a:r>
            <a:endParaRPr lang="he-IL" baseline="-25000" dirty="0">
              <a:solidFill>
                <a:prstClr val="black"/>
              </a:solidFill>
              <a:latin typeface="Calibri"/>
              <a:cs typeface="Arial" panose="020B0604020202020204" pitchFamily="34" charset="0"/>
            </a:endParaRPr>
          </a:p>
        </p:txBody>
      </p:sp>
      <p:sp>
        <p:nvSpPr>
          <p:cNvPr id="3" name="Date Placeholder 2">
            <a:extLst>
              <a:ext uri="{FF2B5EF4-FFF2-40B4-BE49-F238E27FC236}">
                <a16:creationId xmlns:a16="http://schemas.microsoft.com/office/drawing/2014/main" id="{69D30208-64B1-BBDF-3565-54002425C99D}"/>
              </a:ext>
            </a:extLst>
          </p:cNvPr>
          <p:cNvSpPr>
            <a:spLocks noGrp="1"/>
          </p:cNvSpPr>
          <p:nvPr>
            <p:ph type="dt" sz="half" idx="10"/>
          </p:nvPr>
        </p:nvSpPr>
        <p:spPr/>
        <p:txBody>
          <a:bodyPr/>
          <a:lstStyle/>
          <a:p>
            <a:fld id="{2A679540-EF92-4DED-9D58-B7F7E444899E}" type="datetime8">
              <a:rPr lang="he-IL" smtClean="0"/>
              <a:t>09 ינואר 26</a:t>
            </a:fld>
            <a:endParaRPr lang="he-IL"/>
          </a:p>
        </p:txBody>
      </p:sp>
    </p:spTree>
    <p:extLst>
      <p:ext uri="{BB962C8B-B14F-4D97-AF65-F5344CB8AC3E}">
        <p14:creationId xmlns:p14="http://schemas.microsoft.com/office/powerpoint/2010/main" val="1809389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barn(inVertical)">
                                      <p:cBhvr>
                                        <p:cTn id="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5655D781-E1A9-4EA4-A6E0-B74BE5C5E234}"/>
              </a:ext>
            </a:extLst>
          </p:cNvPr>
          <p:cNvCxnSpPr>
            <a:cxnSpLocks/>
          </p:cNvCxnSpPr>
          <p:nvPr/>
        </p:nvCxnSpPr>
        <p:spPr>
          <a:xfrm>
            <a:off x="2209801" y="4204462"/>
            <a:ext cx="3302009" cy="465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41FAD8C-7A86-4789-84D4-3F45882EDF9B}"/>
              </a:ext>
            </a:extLst>
          </p:cNvPr>
          <p:cNvCxnSpPr>
            <a:cxnSpLocks/>
          </p:cNvCxnSpPr>
          <p:nvPr/>
        </p:nvCxnSpPr>
        <p:spPr>
          <a:xfrm flipV="1">
            <a:off x="2222090" y="914400"/>
            <a:ext cx="0" cy="3290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DEA45035-F9A1-4C23-83C2-1F18C061532A}"/>
              </a:ext>
            </a:extLst>
          </p:cNvPr>
          <p:cNvSpPr/>
          <p:nvPr/>
        </p:nvSpPr>
        <p:spPr>
          <a:xfrm>
            <a:off x="1816210" y="694463"/>
            <a:ext cx="405880" cy="369332"/>
          </a:xfrm>
          <a:prstGeom prst="rect">
            <a:avLst/>
          </a:prstGeom>
        </p:spPr>
        <p:txBody>
          <a:bodyPr wrap="none">
            <a:spAutoFit/>
          </a:bodyPr>
          <a:lstStyle/>
          <a:p>
            <a:pPr algn="l" rtl="0"/>
            <a:r>
              <a:rPr lang="en-US" dirty="0">
                <a:solidFill>
                  <a:prstClr val="black"/>
                </a:solidFill>
                <a:latin typeface="Calibri"/>
              </a:rPr>
              <a:t>Px</a:t>
            </a:r>
            <a:endParaRPr lang="he-IL" dirty="0">
              <a:solidFill>
                <a:prstClr val="black"/>
              </a:solidFill>
              <a:latin typeface="Calibri"/>
              <a:cs typeface="Arial" panose="020B0604020202020204" pitchFamily="34" charset="0"/>
            </a:endParaRPr>
          </a:p>
        </p:txBody>
      </p:sp>
      <p:sp>
        <p:nvSpPr>
          <p:cNvPr id="18" name="TextBox 17">
            <a:extLst>
              <a:ext uri="{FF2B5EF4-FFF2-40B4-BE49-F238E27FC236}">
                <a16:creationId xmlns:a16="http://schemas.microsoft.com/office/drawing/2014/main" id="{5D7F713F-E0FB-40DD-B29A-B016CECBCDFF}"/>
              </a:ext>
            </a:extLst>
          </p:cNvPr>
          <p:cNvSpPr txBox="1"/>
          <p:nvPr/>
        </p:nvSpPr>
        <p:spPr>
          <a:xfrm>
            <a:off x="5528725" y="4069011"/>
            <a:ext cx="304892" cy="369332"/>
          </a:xfrm>
          <a:prstGeom prst="rect">
            <a:avLst/>
          </a:prstGeom>
          <a:noFill/>
        </p:spPr>
        <p:txBody>
          <a:bodyPr wrap="none" rtlCol="1">
            <a:spAutoFit/>
          </a:bodyPr>
          <a:lstStyle/>
          <a:p>
            <a:pPr algn="l" rtl="0"/>
            <a:r>
              <a:rPr lang="en-US" dirty="0">
                <a:solidFill>
                  <a:prstClr val="black"/>
                </a:solidFill>
                <a:latin typeface="Calibri"/>
              </a:rPr>
              <a:t>X</a:t>
            </a:r>
            <a:endParaRPr lang="he-IL" dirty="0">
              <a:solidFill>
                <a:prstClr val="black"/>
              </a:solidFill>
              <a:latin typeface="Calibri"/>
              <a:cs typeface="Arial" panose="020B0604020202020204" pitchFamily="34" charset="0"/>
            </a:endParaRPr>
          </a:p>
        </p:txBody>
      </p:sp>
      <p:cxnSp>
        <p:nvCxnSpPr>
          <p:cNvPr id="20" name="מחבר ישר 13">
            <a:extLst>
              <a:ext uri="{FF2B5EF4-FFF2-40B4-BE49-F238E27FC236}">
                <a16:creationId xmlns:a16="http://schemas.microsoft.com/office/drawing/2014/main" id="{820B12E4-C110-446B-93C2-A733E41394FB}"/>
              </a:ext>
            </a:extLst>
          </p:cNvPr>
          <p:cNvCxnSpPr>
            <a:cxnSpLocks/>
          </p:cNvCxnSpPr>
          <p:nvPr/>
        </p:nvCxnSpPr>
        <p:spPr>
          <a:xfrm>
            <a:off x="2209801" y="1542350"/>
            <a:ext cx="2971801" cy="2708674"/>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65F1A90-2B7B-43D2-AC75-9B82D3884CE9}"/>
              </a:ext>
            </a:extLst>
          </p:cNvPr>
          <p:cNvSpPr txBox="1"/>
          <p:nvPr/>
        </p:nvSpPr>
        <p:spPr>
          <a:xfrm>
            <a:off x="5045962" y="3776437"/>
            <a:ext cx="405881" cy="369332"/>
          </a:xfrm>
          <a:prstGeom prst="rect">
            <a:avLst/>
          </a:prstGeom>
          <a:noFill/>
        </p:spPr>
        <p:txBody>
          <a:bodyPr wrap="none" rtlCol="1">
            <a:spAutoFit/>
          </a:bodyPr>
          <a:lstStyle/>
          <a:p>
            <a:pPr algn="l" rtl="0"/>
            <a:r>
              <a:rPr lang="en-US" dirty="0">
                <a:solidFill>
                  <a:prstClr val="black"/>
                </a:solidFill>
                <a:latin typeface="Calibri"/>
              </a:rPr>
              <a:t>D</a:t>
            </a:r>
            <a:r>
              <a:rPr lang="en-US" baseline="-25000" dirty="0">
                <a:solidFill>
                  <a:prstClr val="black"/>
                </a:solidFill>
                <a:latin typeface="Calibri"/>
              </a:rPr>
              <a:t>0</a:t>
            </a:r>
            <a:endParaRPr lang="he-IL" baseline="-25000" dirty="0">
              <a:solidFill>
                <a:prstClr val="black"/>
              </a:solidFill>
              <a:latin typeface="Calibri"/>
              <a:cs typeface="Arial" panose="020B0604020202020204" pitchFamily="34" charset="0"/>
            </a:endParaRPr>
          </a:p>
        </p:txBody>
      </p:sp>
      <p:cxnSp>
        <p:nvCxnSpPr>
          <p:cNvPr id="27" name="מחבר ישר 15">
            <a:extLst>
              <a:ext uri="{FF2B5EF4-FFF2-40B4-BE49-F238E27FC236}">
                <a16:creationId xmlns:a16="http://schemas.microsoft.com/office/drawing/2014/main" id="{33B0FEB4-9EA7-4EE0-95C6-97B2D7C59C33}"/>
              </a:ext>
            </a:extLst>
          </p:cNvPr>
          <p:cNvCxnSpPr>
            <a:cxnSpLocks/>
          </p:cNvCxnSpPr>
          <p:nvPr/>
        </p:nvCxnSpPr>
        <p:spPr>
          <a:xfrm flipV="1">
            <a:off x="2199969" y="1768806"/>
            <a:ext cx="2845993" cy="2168130"/>
          </a:xfrm>
          <a:prstGeom prst="line">
            <a:avLst/>
          </a:prstGeom>
          <a:ln w="285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D07CF66-401A-4FC4-A759-5F26AD3AB943}"/>
              </a:ext>
            </a:extLst>
          </p:cNvPr>
          <p:cNvSpPr txBox="1"/>
          <p:nvPr/>
        </p:nvSpPr>
        <p:spPr>
          <a:xfrm>
            <a:off x="4984378" y="1598196"/>
            <a:ext cx="369012" cy="369332"/>
          </a:xfrm>
          <a:prstGeom prst="rect">
            <a:avLst/>
          </a:prstGeom>
          <a:noFill/>
        </p:spPr>
        <p:txBody>
          <a:bodyPr wrap="none" rtlCol="1">
            <a:spAutoFit/>
          </a:bodyPr>
          <a:lstStyle/>
          <a:p>
            <a:pPr algn="l" rtl="0"/>
            <a:r>
              <a:rPr lang="en-US" dirty="0">
                <a:solidFill>
                  <a:prstClr val="black"/>
                </a:solidFill>
                <a:latin typeface="Calibri"/>
              </a:rPr>
              <a:t>S</a:t>
            </a:r>
            <a:r>
              <a:rPr lang="en-US" baseline="-25000" dirty="0">
                <a:solidFill>
                  <a:prstClr val="black"/>
                </a:solidFill>
                <a:latin typeface="Calibri"/>
              </a:rPr>
              <a:t>0</a:t>
            </a:r>
            <a:endParaRPr lang="he-IL" baseline="-25000" dirty="0">
              <a:solidFill>
                <a:prstClr val="black"/>
              </a:solidFill>
              <a:latin typeface="Calibri"/>
              <a:cs typeface="Arial" panose="020B0604020202020204" pitchFamily="34" charset="0"/>
            </a:endParaRPr>
          </a:p>
        </p:txBody>
      </p:sp>
      <p:cxnSp>
        <p:nvCxnSpPr>
          <p:cNvPr id="32" name="Straight Connector 31">
            <a:extLst>
              <a:ext uri="{FF2B5EF4-FFF2-40B4-BE49-F238E27FC236}">
                <a16:creationId xmlns:a16="http://schemas.microsoft.com/office/drawing/2014/main" id="{526C23A6-52A6-4311-8A5A-C246C96954BB}"/>
              </a:ext>
            </a:extLst>
          </p:cNvPr>
          <p:cNvCxnSpPr/>
          <p:nvPr/>
        </p:nvCxnSpPr>
        <p:spPr>
          <a:xfrm flipH="1">
            <a:off x="2222090" y="2852871"/>
            <a:ext cx="1400874"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Straight Connector 32">
            <a:extLst>
              <a:ext uri="{FF2B5EF4-FFF2-40B4-BE49-F238E27FC236}">
                <a16:creationId xmlns:a16="http://schemas.microsoft.com/office/drawing/2014/main" id="{2DC2CB8E-11CC-4DB2-98CB-D5EB4265DADE}"/>
              </a:ext>
            </a:extLst>
          </p:cNvPr>
          <p:cNvCxnSpPr>
            <a:cxnSpLocks/>
            <a:stCxn id="58" idx="4"/>
          </p:cNvCxnSpPr>
          <p:nvPr/>
        </p:nvCxnSpPr>
        <p:spPr>
          <a:xfrm flipH="1">
            <a:off x="3649445" y="2987473"/>
            <a:ext cx="15446" cy="124348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D9DD4DA5-A3AE-4432-99C2-B6B5229BDD6D}"/>
                  </a:ext>
                </a:extLst>
              </p:cNvPr>
              <p:cNvSpPr/>
              <p:nvPr/>
            </p:nvSpPr>
            <p:spPr>
              <a:xfrm>
                <a:off x="3370932" y="4266272"/>
                <a:ext cx="490839" cy="369332"/>
              </a:xfrm>
              <a:prstGeom prst="rect">
                <a:avLst/>
              </a:prstGeom>
            </p:spPr>
            <p:txBody>
              <a:bodyPr wrap="none">
                <a:spAutoFit/>
              </a:bodyPr>
              <a:lstStyle/>
              <a:p>
                <a:pPr algn="l" rtl="0"/>
                <a14:m>
                  <m:oMathPara xmlns:m="http://schemas.openxmlformats.org/officeDocument/2006/math">
                    <m:oMathParaPr>
                      <m:jc m:val="centerGroup"/>
                    </m:oMathParaPr>
                    <m:oMath xmlns:m="http://schemas.openxmlformats.org/officeDocument/2006/math">
                      <m:r>
                        <m:rPr>
                          <m:sty m:val="p"/>
                        </m:rPr>
                        <a:rPr lang="en-US" i="1">
                          <a:solidFill>
                            <a:prstClr val="black"/>
                          </a:solidFill>
                          <a:latin typeface="Cambria Math" panose="02040503050406030204" pitchFamily="18" charset="0"/>
                        </a:rPr>
                        <m:t>Xo</m:t>
                      </m:r>
                    </m:oMath>
                  </m:oMathPara>
                </a14:m>
                <a:endParaRPr lang="en-IL" dirty="0">
                  <a:solidFill>
                    <a:prstClr val="black"/>
                  </a:solidFill>
                </a:endParaRPr>
              </a:p>
            </p:txBody>
          </p:sp>
        </mc:Choice>
        <mc:Fallback xmlns="">
          <p:sp>
            <p:nvSpPr>
              <p:cNvPr id="48" name="Rectangle 47">
                <a:extLst>
                  <a:ext uri="{FF2B5EF4-FFF2-40B4-BE49-F238E27FC236}">
                    <a16:creationId xmlns:a16="http://schemas.microsoft.com/office/drawing/2014/main" id="{D9DD4DA5-A3AE-4432-99C2-B6B5229BDD6D}"/>
                  </a:ext>
                </a:extLst>
              </p:cNvPr>
              <p:cNvSpPr>
                <a:spLocks noRot="1" noChangeAspect="1" noMove="1" noResize="1" noEditPoints="1" noAdjustHandles="1" noChangeArrowheads="1" noChangeShapeType="1" noTextEdit="1"/>
              </p:cNvSpPr>
              <p:nvPr/>
            </p:nvSpPr>
            <p:spPr>
              <a:xfrm>
                <a:off x="3370932" y="4266272"/>
                <a:ext cx="490839" cy="369332"/>
              </a:xfrm>
              <a:prstGeom prst="rect">
                <a:avLst/>
              </a:prstGeom>
              <a:blipFill>
                <a:blip r:embed="rId2"/>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C2D7CFAA-7220-46BC-B910-511D38A14197}"/>
                  </a:ext>
                </a:extLst>
              </p:cNvPr>
              <p:cNvSpPr/>
              <p:nvPr/>
            </p:nvSpPr>
            <p:spPr>
              <a:xfrm>
                <a:off x="1612584" y="2668205"/>
                <a:ext cx="614271" cy="338554"/>
              </a:xfrm>
              <a:prstGeom prst="rect">
                <a:avLst/>
              </a:prstGeom>
            </p:spPr>
            <p:txBody>
              <a:bodyPr wrap="none">
                <a:spAutoFit/>
              </a:bodyPr>
              <a:lstStyle/>
              <a:p>
                <a:pPr algn="l" rtl="0"/>
                <a14:m>
                  <m:oMathPara xmlns:m="http://schemas.openxmlformats.org/officeDocument/2006/math">
                    <m:oMathParaPr>
                      <m:jc m:val="centerGroup"/>
                    </m:oMathParaPr>
                    <m:oMath xmlns:m="http://schemas.openxmlformats.org/officeDocument/2006/math">
                      <m:r>
                        <a:rPr lang="en-US" sz="1600" b="1" i="1">
                          <a:solidFill>
                            <a:prstClr val="black"/>
                          </a:solidFill>
                          <a:latin typeface="Cambria Math" panose="02040503050406030204" pitchFamily="18" charset="0"/>
                          <a:cs typeface="David" pitchFamily="34" charset="-79"/>
                        </a:rPr>
                        <m:t>𝑷𝒙</m:t>
                      </m:r>
                      <m:r>
                        <a:rPr lang="en-US" sz="1600" b="1" i="1">
                          <a:solidFill>
                            <a:prstClr val="black"/>
                          </a:solidFill>
                          <a:latin typeface="Cambria Math" panose="02040503050406030204" pitchFamily="18" charset="0"/>
                          <a:cs typeface="David" pitchFamily="34" charset="-79"/>
                        </a:rPr>
                        <m:t>𝟎</m:t>
                      </m:r>
                    </m:oMath>
                  </m:oMathPara>
                </a14:m>
                <a:endParaRPr lang="en-IL" sz="1600" dirty="0">
                  <a:solidFill>
                    <a:prstClr val="black"/>
                  </a:solidFill>
                </a:endParaRPr>
              </a:p>
            </p:txBody>
          </p:sp>
        </mc:Choice>
        <mc:Fallback xmlns="">
          <p:sp>
            <p:nvSpPr>
              <p:cNvPr id="49" name="Rectangle 48">
                <a:extLst>
                  <a:ext uri="{FF2B5EF4-FFF2-40B4-BE49-F238E27FC236}">
                    <a16:creationId xmlns:a16="http://schemas.microsoft.com/office/drawing/2014/main" id="{C2D7CFAA-7220-46BC-B910-511D38A14197}"/>
                  </a:ext>
                </a:extLst>
              </p:cNvPr>
              <p:cNvSpPr>
                <a:spLocks noRot="1" noChangeAspect="1" noMove="1" noResize="1" noEditPoints="1" noAdjustHandles="1" noChangeArrowheads="1" noChangeShapeType="1" noTextEdit="1"/>
              </p:cNvSpPr>
              <p:nvPr/>
            </p:nvSpPr>
            <p:spPr>
              <a:xfrm>
                <a:off x="1612584" y="2668205"/>
                <a:ext cx="614271" cy="338554"/>
              </a:xfrm>
              <a:prstGeom prst="rect">
                <a:avLst/>
              </a:prstGeom>
              <a:blipFill>
                <a:blip r:embed="rId3"/>
                <a:stretch>
                  <a:fillRect/>
                </a:stretch>
              </a:blipFill>
            </p:spPr>
            <p:txBody>
              <a:bodyPr/>
              <a:lstStyle/>
              <a:p>
                <a:r>
                  <a:rPr lang="en-IL">
                    <a:noFill/>
                  </a:rPr>
                  <a:t> </a:t>
                </a:r>
              </a:p>
            </p:txBody>
          </p:sp>
        </mc:Fallback>
      </mc:AlternateContent>
      <p:sp>
        <p:nvSpPr>
          <p:cNvPr id="34" name="Title 1">
            <a:extLst>
              <a:ext uri="{FF2B5EF4-FFF2-40B4-BE49-F238E27FC236}">
                <a16:creationId xmlns:a16="http://schemas.microsoft.com/office/drawing/2014/main" id="{1FC4C539-9ECB-47DC-AFB1-7452654F7D5F}"/>
              </a:ext>
            </a:extLst>
          </p:cNvPr>
          <p:cNvSpPr>
            <a:spLocks noGrp="1"/>
          </p:cNvSpPr>
          <p:nvPr>
            <p:ph type="title"/>
          </p:nvPr>
        </p:nvSpPr>
        <p:spPr>
          <a:xfrm>
            <a:off x="2286001" y="228601"/>
            <a:ext cx="6428969" cy="321051"/>
          </a:xfrm>
        </p:spPr>
        <p:txBody>
          <a:bodyPr>
            <a:normAutofit fontScale="90000"/>
          </a:bodyPr>
          <a:lstStyle/>
          <a:p>
            <a:pPr algn="ctr"/>
            <a:r>
              <a:rPr lang="he-IL" dirty="0"/>
              <a:t>שינויים בנקודת שיווי המשקל</a:t>
            </a:r>
            <a:endParaRPr lang="en-US" dirty="0"/>
          </a:p>
        </p:txBody>
      </p:sp>
      <p:sp>
        <p:nvSpPr>
          <p:cNvPr id="67" name="Slide Number Placeholder 66">
            <a:extLst>
              <a:ext uri="{FF2B5EF4-FFF2-40B4-BE49-F238E27FC236}">
                <a16:creationId xmlns:a16="http://schemas.microsoft.com/office/drawing/2014/main" id="{D35F540A-7C1A-4524-9B8F-8C4EFF5AA37B}"/>
              </a:ext>
            </a:extLst>
          </p:cNvPr>
          <p:cNvSpPr>
            <a:spLocks noGrp="1"/>
          </p:cNvSpPr>
          <p:nvPr>
            <p:ph type="sldNum" sz="quarter" idx="12"/>
          </p:nvPr>
        </p:nvSpPr>
        <p:spPr/>
        <p:txBody>
          <a:bodyPr/>
          <a:lstStyle/>
          <a:p>
            <a:pPr rtl="0"/>
            <a:fld id="{EE4A799E-BCDC-47C4-95D4-74FB8914F55A}" type="slidenum">
              <a:rPr lang="en-US">
                <a:solidFill>
                  <a:prstClr val="black">
                    <a:tint val="75000"/>
                  </a:prstClr>
                </a:solidFill>
                <a:latin typeface="Calibri"/>
              </a:rPr>
              <a:pPr rtl="0"/>
              <a:t>29</a:t>
            </a:fld>
            <a:endParaRPr lang="en-US">
              <a:solidFill>
                <a:prstClr val="black">
                  <a:tint val="75000"/>
                </a:prstClr>
              </a:solidFill>
              <a:latin typeface="Calibri"/>
            </a:endParaRPr>
          </a:p>
        </p:txBody>
      </p:sp>
      <p:sp>
        <p:nvSpPr>
          <p:cNvPr id="36" name="Rectangle 35">
            <a:extLst>
              <a:ext uri="{FF2B5EF4-FFF2-40B4-BE49-F238E27FC236}">
                <a16:creationId xmlns:a16="http://schemas.microsoft.com/office/drawing/2014/main" id="{11705E92-817A-47E8-B611-634B6F0B4F79}"/>
              </a:ext>
            </a:extLst>
          </p:cNvPr>
          <p:cNvSpPr/>
          <p:nvPr/>
        </p:nvSpPr>
        <p:spPr>
          <a:xfrm>
            <a:off x="5850532" y="1073793"/>
            <a:ext cx="5890515" cy="4124206"/>
          </a:xfrm>
          <a:prstGeom prst="rect">
            <a:avLst/>
          </a:prstGeom>
        </p:spPr>
        <p:txBody>
          <a:bodyPr wrap="square">
            <a:spAutoFit/>
          </a:bodyPr>
          <a:lstStyle/>
          <a:p>
            <a:pPr>
              <a:lnSpc>
                <a:spcPct val="150000"/>
              </a:lnSpc>
            </a:pPr>
            <a:r>
              <a:rPr lang="he-IL" sz="1600" dirty="0">
                <a:solidFill>
                  <a:prstClr val="black"/>
                </a:solidFill>
                <a:latin typeface="David" pitchFamily="34" charset="-79"/>
                <a:cs typeface="David" pitchFamily="34" charset="-79"/>
              </a:rPr>
              <a:t>בשוק למוצר </a:t>
            </a:r>
            <a:r>
              <a:rPr lang="en-US" sz="1600" dirty="0">
                <a:solidFill>
                  <a:prstClr val="black"/>
                </a:solidFill>
                <a:latin typeface="David" pitchFamily="34" charset="-79"/>
                <a:cs typeface="David" pitchFamily="34" charset="-79"/>
              </a:rPr>
              <a:t>X</a:t>
            </a:r>
            <a:r>
              <a:rPr lang="he-IL" sz="1600" dirty="0">
                <a:solidFill>
                  <a:prstClr val="black"/>
                </a:solidFill>
                <a:latin typeface="David" pitchFamily="34" charset="-79"/>
                <a:cs typeface="David" pitchFamily="34" charset="-79"/>
              </a:rPr>
              <a:t> עקומת ביקוש יורדת משמאל לימין ועקומת היצע עולה משמאל לימין. </a:t>
            </a:r>
            <a:r>
              <a:rPr lang="he-IL" sz="1600" b="1" dirty="0">
                <a:solidFill>
                  <a:schemeClr val="accent6">
                    <a:lumMod val="75000"/>
                  </a:schemeClr>
                </a:solidFill>
                <a:latin typeface="David" pitchFamily="34" charset="-79"/>
                <a:cs typeface="David" pitchFamily="34" charset="-79"/>
              </a:rPr>
              <a:t>עקב עלייה בעלויות חומרי הגלם, חל גידול בעלויות הייצור של היצרנים</a:t>
            </a:r>
            <a:r>
              <a:rPr lang="he-IL" sz="1600" dirty="0">
                <a:solidFill>
                  <a:prstClr val="black"/>
                </a:solidFill>
                <a:latin typeface="David" pitchFamily="34" charset="-79"/>
                <a:cs typeface="David" pitchFamily="34" charset="-79"/>
              </a:rPr>
              <a:t>. כתוצאה משינוי זה, בשיווי המשקל החדש, </a:t>
            </a:r>
            <a:r>
              <a:rPr lang="he-IL" sz="1600" b="1" dirty="0">
                <a:solidFill>
                  <a:prstClr val="black"/>
                </a:solidFill>
                <a:latin typeface="David" pitchFamily="34" charset="-79"/>
                <a:cs typeface="David" pitchFamily="34" charset="-79"/>
              </a:rPr>
              <a:t>בחרו בתשובות הנכונות</a:t>
            </a:r>
            <a:r>
              <a:rPr lang="he-IL" sz="1600" dirty="0">
                <a:solidFill>
                  <a:prstClr val="black"/>
                </a:solidFill>
                <a:latin typeface="David" pitchFamily="34" charset="-79"/>
                <a:cs typeface="David" pitchFamily="34" charset="-79"/>
              </a:rPr>
              <a:t>:</a:t>
            </a:r>
          </a:p>
          <a:p>
            <a:pPr marL="342900" indent="-342900">
              <a:lnSpc>
                <a:spcPct val="150000"/>
              </a:lnSpc>
              <a:buFontTx/>
              <a:buAutoNum type="arabicPeriod"/>
            </a:pPr>
            <a:r>
              <a:rPr lang="he-IL" sz="1600" dirty="0">
                <a:solidFill>
                  <a:prstClr val="black"/>
                </a:solidFill>
                <a:latin typeface="David" pitchFamily="34" charset="-79"/>
                <a:cs typeface="David" pitchFamily="34" charset="-79"/>
              </a:rPr>
              <a:t>המחיר בשוק יעלה והכמות המיוצרת תקטן.</a:t>
            </a:r>
          </a:p>
          <a:p>
            <a:pPr marL="342900" indent="-342900">
              <a:lnSpc>
                <a:spcPct val="150000"/>
              </a:lnSpc>
              <a:buFontTx/>
              <a:buAutoNum type="arabicPeriod"/>
            </a:pPr>
            <a:r>
              <a:rPr lang="he-IL" sz="1600" dirty="0">
                <a:solidFill>
                  <a:prstClr val="black"/>
                </a:solidFill>
                <a:latin typeface="David" pitchFamily="34" charset="-79"/>
                <a:cs typeface="David" pitchFamily="34" charset="-79"/>
              </a:rPr>
              <a:t>עודף הצרכנים ישאר ללא שינוי מכיוון שאין תזוזה של עקומת הביקוש.</a:t>
            </a:r>
          </a:p>
          <a:p>
            <a:pPr marL="342900" indent="-342900">
              <a:lnSpc>
                <a:spcPct val="150000"/>
              </a:lnSpc>
              <a:buFontTx/>
              <a:buAutoNum type="arabicPeriod"/>
            </a:pPr>
            <a:r>
              <a:rPr lang="he-IL" sz="1600" dirty="0">
                <a:solidFill>
                  <a:prstClr val="black"/>
                </a:solidFill>
                <a:latin typeface="David" pitchFamily="34" charset="-79"/>
                <a:cs typeface="David" pitchFamily="34" charset="-79"/>
              </a:rPr>
              <a:t>הוצאות הצרכנים לא ישתנו מכיוון שהמחיר עולה והכמות המיוצרת קטנה.</a:t>
            </a:r>
          </a:p>
          <a:p>
            <a:pPr marL="342900" indent="-342900">
              <a:lnSpc>
                <a:spcPct val="150000"/>
              </a:lnSpc>
              <a:buFontTx/>
              <a:buAutoNum type="arabicPeriod"/>
            </a:pPr>
            <a:r>
              <a:rPr lang="he-IL" sz="1600" dirty="0">
                <a:solidFill>
                  <a:prstClr val="black"/>
                </a:solidFill>
                <a:latin typeface="David" pitchFamily="34" charset="-79"/>
                <a:cs typeface="David" pitchFamily="34" charset="-79"/>
              </a:rPr>
              <a:t>עודף הצרכנים קטן. </a:t>
            </a:r>
          </a:p>
          <a:p>
            <a:pPr marL="342900" indent="-342900">
              <a:lnSpc>
                <a:spcPct val="150000"/>
              </a:lnSpc>
              <a:buFontTx/>
              <a:buAutoNum type="arabicPeriod"/>
            </a:pPr>
            <a:r>
              <a:rPr lang="he-IL" sz="1600" dirty="0">
                <a:solidFill>
                  <a:prstClr val="black"/>
                </a:solidFill>
                <a:latin typeface="David" pitchFamily="34" charset="-79"/>
                <a:cs typeface="David" pitchFamily="34" charset="-79"/>
              </a:rPr>
              <a:t>לא ניתן לדעת מה קרה להוצאות הצרכנים</a:t>
            </a:r>
          </a:p>
          <a:p>
            <a:pPr>
              <a:lnSpc>
                <a:spcPct val="150000"/>
              </a:lnSpc>
            </a:pPr>
            <a:endParaRPr lang="he-IL" sz="1600" dirty="0">
              <a:solidFill>
                <a:prstClr val="black"/>
              </a:solidFill>
              <a:latin typeface="David" pitchFamily="34" charset="-79"/>
              <a:cs typeface="David" pitchFamily="34" charset="-79"/>
            </a:endParaRPr>
          </a:p>
          <a:p>
            <a:pPr marL="342900" indent="-342900">
              <a:lnSpc>
                <a:spcPct val="150000"/>
              </a:lnSpc>
              <a:buFontTx/>
              <a:buAutoNum type="arabicPeriod"/>
            </a:pPr>
            <a:endParaRPr lang="he-IL" sz="1600" dirty="0">
              <a:solidFill>
                <a:prstClr val="black"/>
              </a:solidFill>
              <a:latin typeface="David" pitchFamily="34" charset="-79"/>
              <a:cs typeface="David" pitchFamily="34" charset="-79"/>
            </a:endParaRPr>
          </a:p>
        </p:txBody>
      </p:sp>
      <p:cxnSp>
        <p:nvCxnSpPr>
          <p:cNvPr id="55" name="מחבר ישר 15">
            <a:extLst>
              <a:ext uri="{FF2B5EF4-FFF2-40B4-BE49-F238E27FC236}">
                <a16:creationId xmlns:a16="http://schemas.microsoft.com/office/drawing/2014/main" id="{06441D8A-9EBD-4A34-918C-A34EC1CCE90E}"/>
              </a:ext>
            </a:extLst>
          </p:cNvPr>
          <p:cNvCxnSpPr>
            <a:cxnSpLocks/>
          </p:cNvCxnSpPr>
          <p:nvPr/>
        </p:nvCxnSpPr>
        <p:spPr>
          <a:xfrm flipV="1">
            <a:off x="2205779" y="1290197"/>
            <a:ext cx="2845993" cy="216813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DB9ACB28-A290-434F-A7ED-E5A16496AA52}"/>
              </a:ext>
            </a:extLst>
          </p:cNvPr>
          <p:cNvSpPr txBox="1"/>
          <p:nvPr/>
        </p:nvSpPr>
        <p:spPr>
          <a:xfrm>
            <a:off x="4942568" y="953262"/>
            <a:ext cx="369012" cy="369332"/>
          </a:xfrm>
          <a:prstGeom prst="rect">
            <a:avLst/>
          </a:prstGeom>
          <a:noFill/>
          <a:ln>
            <a:noFill/>
          </a:ln>
        </p:spPr>
        <p:txBody>
          <a:bodyPr wrap="none" rtlCol="1">
            <a:spAutoFit/>
          </a:bodyPr>
          <a:lstStyle/>
          <a:p>
            <a:pPr algn="l" rtl="0"/>
            <a:r>
              <a:rPr lang="en-US" dirty="0">
                <a:solidFill>
                  <a:srgbClr val="C00000"/>
                </a:solidFill>
                <a:latin typeface="Calibri"/>
              </a:rPr>
              <a:t>S</a:t>
            </a:r>
            <a:r>
              <a:rPr lang="en-US" baseline="-25000" dirty="0">
                <a:solidFill>
                  <a:srgbClr val="C00000"/>
                </a:solidFill>
                <a:latin typeface="Calibri"/>
              </a:rPr>
              <a:t>1</a:t>
            </a:r>
            <a:endParaRPr lang="he-IL" baseline="-25000" dirty="0">
              <a:solidFill>
                <a:srgbClr val="C00000"/>
              </a:solidFill>
              <a:latin typeface="Calibri"/>
              <a:cs typeface="Arial" panose="020B0604020202020204" pitchFamily="34" charset="0"/>
            </a:endParaRPr>
          </a:p>
        </p:txBody>
      </p:sp>
      <p:cxnSp>
        <p:nvCxnSpPr>
          <p:cNvPr id="11" name="Straight Arrow Connector 10">
            <a:extLst>
              <a:ext uri="{FF2B5EF4-FFF2-40B4-BE49-F238E27FC236}">
                <a16:creationId xmlns:a16="http://schemas.microsoft.com/office/drawing/2014/main" id="{EB4C084F-9887-4577-B2D7-CCBCD9B3FDBA}"/>
              </a:ext>
            </a:extLst>
          </p:cNvPr>
          <p:cNvCxnSpPr>
            <a:cxnSpLocks/>
          </p:cNvCxnSpPr>
          <p:nvPr/>
        </p:nvCxnSpPr>
        <p:spPr>
          <a:xfrm flipH="1" flipV="1">
            <a:off x="2742869" y="3135086"/>
            <a:ext cx="94332" cy="309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6F8DBD8B-E9A7-4C80-AA84-8B897A92A9E8}"/>
              </a:ext>
            </a:extLst>
          </p:cNvPr>
          <p:cNvCxnSpPr>
            <a:cxnSpLocks/>
          </p:cNvCxnSpPr>
          <p:nvPr/>
        </p:nvCxnSpPr>
        <p:spPr>
          <a:xfrm flipH="1" flipV="1">
            <a:off x="4433004" y="1821038"/>
            <a:ext cx="80460" cy="244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12BA1302-67D8-44E8-9B42-1F77BD4740FB}"/>
              </a:ext>
            </a:extLst>
          </p:cNvPr>
          <p:cNvSpPr/>
          <p:nvPr/>
        </p:nvSpPr>
        <p:spPr>
          <a:xfrm>
            <a:off x="3224820" y="2417015"/>
            <a:ext cx="296420" cy="251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en-US" dirty="0">
                <a:solidFill>
                  <a:prstClr val="white"/>
                </a:solidFill>
                <a:latin typeface="Calibri"/>
              </a:rPr>
              <a:t>B</a:t>
            </a:r>
            <a:endParaRPr lang="en-IL" dirty="0">
              <a:solidFill>
                <a:prstClr val="white"/>
              </a:solidFill>
              <a:latin typeface="Calibri"/>
            </a:endParaRPr>
          </a:p>
        </p:txBody>
      </p:sp>
      <p:sp>
        <p:nvSpPr>
          <p:cNvPr id="58" name="Oval 57">
            <a:extLst>
              <a:ext uri="{FF2B5EF4-FFF2-40B4-BE49-F238E27FC236}">
                <a16:creationId xmlns:a16="http://schemas.microsoft.com/office/drawing/2014/main" id="{9197B85C-4AA9-4E39-B64C-0C17261F0A3D}"/>
              </a:ext>
            </a:extLst>
          </p:cNvPr>
          <p:cNvSpPr/>
          <p:nvPr/>
        </p:nvSpPr>
        <p:spPr>
          <a:xfrm>
            <a:off x="3521241" y="2710509"/>
            <a:ext cx="287301" cy="27696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rtl="0"/>
            <a:r>
              <a:rPr lang="en-US" dirty="0">
                <a:solidFill>
                  <a:prstClr val="white"/>
                </a:solidFill>
                <a:latin typeface="Calibri"/>
              </a:rPr>
              <a:t>A</a:t>
            </a:r>
            <a:endParaRPr lang="en-IL" dirty="0">
              <a:solidFill>
                <a:prstClr val="white"/>
              </a:solidFill>
              <a:latin typeface="Calibri"/>
            </a:endParaRPr>
          </a:p>
        </p:txBody>
      </p:sp>
      <p:cxnSp>
        <p:nvCxnSpPr>
          <p:cNvPr id="59" name="Straight Connector 58">
            <a:extLst>
              <a:ext uri="{FF2B5EF4-FFF2-40B4-BE49-F238E27FC236}">
                <a16:creationId xmlns:a16="http://schemas.microsoft.com/office/drawing/2014/main" id="{D1DCB6DB-525B-4FD2-9CE2-A6F3E1596727}"/>
              </a:ext>
            </a:extLst>
          </p:cNvPr>
          <p:cNvCxnSpPr>
            <a:cxnSpLocks/>
          </p:cNvCxnSpPr>
          <p:nvPr/>
        </p:nvCxnSpPr>
        <p:spPr>
          <a:xfrm flipH="1">
            <a:off x="2229257" y="2590800"/>
            <a:ext cx="1027224"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0" name="Straight Connector 59">
            <a:extLst>
              <a:ext uri="{FF2B5EF4-FFF2-40B4-BE49-F238E27FC236}">
                <a16:creationId xmlns:a16="http://schemas.microsoft.com/office/drawing/2014/main" id="{D761D5DC-2C4F-43A4-9F94-2DAEDA65AA6D}"/>
              </a:ext>
            </a:extLst>
          </p:cNvPr>
          <p:cNvCxnSpPr>
            <a:cxnSpLocks/>
          </p:cNvCxnSpPr>
          <p:nvPr/>
        </p:nvCxnSpPr>
        <p:spPr>
          <a:xfrm flipH="1">
            <a:off x="3353654" y="2595967"/>
            <a:ext cx="2099" cy="1598067"/>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61" name="Rectangle 60">
                <a:extLst>
                  <a:ext uri="{FF2B5EF4-FFF2-40B4-BE49-F238E27FC236}">
                    <a16:creationId xmlns:a16="http://schemas.microsoft.com/office/drawing/2014/main" id="{EDF1DC2A-4882-41AF-B7B6-6D8478815DC0}"/>
                  </a:ext>
                </a:extLst>
              </p:cNvPr>
              <p:cNvSpPr/>
              <p:nvPr/>
            </p:nvSpPr>
            <p:spPr>
              <a:xfrm>
                <a:off x="2843141" y="4253677"/>
                <a:ext cx="497251" cy="369332"/>
              </a:xfrm>
              <a:prstGeom prst="rect">
                <a:avLst/>
              </a:prstGeom>
            </p:spPr>
            <p:txBody>
              <a:bodyPr wrap="none">
                <a:spAutoFit/>
              </a:bodyPr>
              <a:lstStyle/>
              <a:p>
                <a:pPr algn="l" rtl="0"/>
                <a14:m>
                  <m:oMathPara xmlns:m="http://schemas.openxmlformats.org/officeDocument/2006/math">
                    <m:oMathParaPr>
                      <m:jc m:val="centerGroup"/>
                    </m:oMathParaPr>
                    <m:oMath xmlns:m="http://schemas.openxmlformats.org/officeDocument/2006/math">
                      <m:r>
                        <m:rPr>
                          <m:sty m:val="p"/>
                        </m:rPr>
                        <a:rPr lang="en-US" i="1" smtClean="0">
                          <a:solidFill>
                            <a:prstClr val="black"/>
                          </a:solidFill>
                          <a:latin typeface="Cambria Math" panose="02040503050406030204" pitchFamily="18" charset="0"/>
                        </a:rPr>
                        <m:t>X</m:t>
                      </m:r>
                      <m:r>
                        <a:rPr lang="he-IL" b="0" i="1" smtClean="0">
                          <a:solidFill>
                            <a:prstClr val="black"/>
                          </a:solidFill>
                          <a:latin typeface="Cambria Math" panose="02040503050406030204" pitchFamily="18" charset="0"/>
                        </a:rPr>
                        <m:t>1</m:t>
                      </m:r>
                    </m:oMath>
                  </m:oMathPara>
                </a14:m>
                <a:endParaRPr lang="en-IL" dirty="0">
                  <a:solidFill>
                    <a:prstClr val="black"/>
                  </a:solidFill>
                </a:endParaRPr>
              </a:p>
            </p:txBody>
          </p:sp>
        </mc:Choice>
        <mc:Fallback xmlns="">
          <p:sp>
            <p:nvSpPr>
              <p:cNvPr id="61" name="Rectangle 60">
                <a:extLst>
                  <a:ext uri="{FF2B5EF4-FFF2-40B4-BE49-F238E27FC236}">
                    <a16:creationId xmlns:a16="http://schemas.microsoft.com/office/drawing/2014/main" id="{EDF1DC2A-4882-41AF-B7B6-6D8478815DC0}"/>
                  </a:ext>
                </a:extLst>
              </p:cNvPr>
              <p:cNvSpPr>
                <a:spLocks noRot="1" noChangeAspect="1" noMove="1" noResize="1" noEditPoints="1" noAdjustHandles="1" noChangeArrowheads="1" noChangeShapeType="1" noTextEdit="1"/>
              </p:cNvSpPr>
              <p:nvPr/>
            </p:nvSpPr>
            <p:spPr>
              <a:xfrm>
                <a:off x="2843141" y="4253677"/>
                <a:ext cx="497251" cy="369332"/>
              </a:xfrm>
              <a:prstGeom prst="rect">
                <a:avLst/>
              </a:prstGeom>
              <a:blipFill>
                <a:blip r:embed="rId4"/>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7EB8A4F4-22F5-45F4-93E7-08D0B717A60A}"/>
                  </a:ext>
                </a:extLst>
              </p:cNvPr>
              <p:cNvSpPr/>
              <p:nvPr/>
            </p:nvSpPr>
            <p:spPr>
              <a:xfrm>
                <a:off x="1648595" y="2380554"/>
                <a:ext cx="614271" cy="338554"/>
              </a:xfrm>
              <a:prstGeom prst="rect">
                <a:avLst/>
              </a:prstGeom>
            </p:spPr>
            <p:txBody>
              <a:bodyPr wrap="none">
                <a:spAutoFit/>
              </a:bodyPr>
              <a:lstStyle/>
              <a:p>
                <a:pPr algn="l" rtl="0"/>
                <a14:m>
                  <m:oMathPara xmlns:m="http://schemas.openxmlformats.org/officeDocument/2006/math">
                    <m:oMathParaPr>
                      <m:jc m:val="centerGroup"/>
                    </m:oMathParaPr>
                    <m:oMath xmlns:m="http://schemas.openxmlformats.org/officeDocument/2006/math">
                      <m:r>
                        <a:rPr lang="en-US" sz="1600" b="1" i="1" smtClean="0">
                          <a:solidFill>
                            <a:prstClr val="black"/>
                          </a:solidFill>
                          <a:latin typeface="Cambria Math" panose="02040503050406030204" pitchFamily="18" charset="0"/>
                          <a:cs typeface="David" pitchFamily="34" charset="-79"/>
                        </a:rPr>
                        <m:t>𝑷𝒙</m:t>
                      </m:r>
                      <m:r>
                        <a:rPr lang="he-IL" sz="1600" b="1" i="1" smtClean="0">
                          <a:solidFill>
                            <a:prstClr val="black"/>
                          </a:solidFill>
                          <a:latin typeface="Cambria Math" panose="02040503050406030204" pitchFamily="18" charset="0"/>
                          <a:cs typeface="David" pitchFamily="34" charset="-79"/>
                        </a:rPr>
                        <m:t>𝟏</m:t>
                      </m:r>
                    </m:oMath>
                  </m:oMathPara>
                </a14:m>
                <a:endParaRPr lang="en-IL" sz="1600" dirty="0">
                  <a:solidFill>
                    <a:prstClr val="black"/>
                  </a:solidFill>
                </a:endParaRPr>
              </a:p>
            </p:txBody>
          </p:sp>
        </mc:Choice>
        <mc:Fallback xmlns="">
          <p:sp>
            <p:nvSpPr>
              <p:cNvPr id="62" name="Rectangle 61">
                <a:extLst>
                  <a:ext uri="{FF2B5EF4-FFF2-40B4-BE49-F238E27FC236}">
                    <a16:creationId xmlns:a16="http://schemas.microsoft.com/office/drawing/2014/main" id="{7EB8A4F4-22F5-45F4-93E7-08D0B717A60A}"/>
                  </a:ext>
                </a:extLst>
              </p:cNvPr>
              <p:cNvSpPr>
                <a:spLocks noRot="1" noChangeAspect="1" noMove="1" noResize="1" noEditPoints="1" noAdjustHandles="1" noChangeArrowheads="1" noChangeShapeType="1" noTextEdit="1"/>
              </p:cNvSpPr>
              <p:nvPr/>
            </p:nvSpPr>
            <p:spPr>
              <a:xfrm>
                <a:off x="1648595" y="2380554"/>
                <a:ext cx="614271" cy="338554"/>
              </a:xfrm>
              <a:prstGeom prst="rect">
                <a:avLst/>
              </a:prstGeom>
              <a:blipFill>
                <a:blip r:embed="rId5"/>
                <a:stretch>
                  <a:fillRect/>
                </a:stretch>
              </a:blipFill>
            </p:spPr>
            <p:txBody>
              <a:bodyPr/>
              <a:lstStyle/>
              <a:p>
                <a:r>
                  <a:rPr lang="en-IL">
                    <a:noFill/>
                  </a:rPr>
                  <a:t> </a:t>
                </a:r>
              </a:p>
            </p:txBody>
          </p:sp>
        </mc:Fallback>
      </mc:AlternateContent>
      <p:sp>
        <p:nvSpPr>
          <p:cNvPr id="2" name="Rectangle 1">
            <a:extLst>
              <a:ext uri="{FF2B5EF4-FFF2-40B4-BE49-F238E27FC236}">
                <a16:creationId xmlns:a16="http://schemas.microsoft.com/office/drawing/2014/main" id="{81DEC358-F910-4961-8291-6A308BAB9FCB}"/>
              </a:ext>
            </a:extLst>
          </p:cNvPr>
          <p:cNvSpPr/>
          <p:nvPr/>
        </p:nvSpPr>
        <p:spPr>
          <a:xfrm>
            <a:off x="8096424" y="2299240"/>
            <a:ext cx="3746971" cy="2721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solidFill>
                <a:prstClr val="white"/>
              </a:solidFill>
              <a:latin typeface="Calibri"/>
            </a:endParaRPr>
          </a:p>
        </p:txBody>
      </p:sp>
      <p:sp>
        <p:nvSpPr>
          <p:cNvPr id="53" name="Rectangle 52">
            <a:extLst>
              <a:ext uri="{FF2B5EF4-FFF2-40B4-BE49-F238E27FC236}">
                <a16:creationId xmlns:a16="http://schemas.microsoft.com/office/drawing/2014/main" id="{D110751A-9D34-4D46-A8B6-B3FD20195AA5}"/>
              </a:ext>
            </a:extLst>
          </p:cNvPr>
          <p:cNvSpPr/>
          <p:nvPr/>
        </p:nvSpPr>
        <p:spPr>
          <a:xfrm>
            <a:off x="8700800" y="3732601"/>
            <a:ext cx="3157080" cy="3364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solidFill>
                <a:prstClr val="white"/>
              </a:solidFill>
              <a:latin typeface="Calibri"/>
            </a:endParaRPr>
          </a:p>
        </p:txBody>
      </p:sp>
      <p:sp>
        <p:nvSpPr>
          <p:cNvPr id="29" name="TextBox 28">
            <a:extLst>
              <a:ext uri="{FF2B5EF4-FFF2-40B4-BE49-F238E27FC236}">
                <a16:creationId xmlns:a16="http://schemas.microsoft.com/office/drawing/2014/main" id="{299A6D3E-CC23-4359-B89C-2E34AE873669}"/>
              </a:ext>
            </a:extLst>
          </p:cNvPr>
          <p:cNvSpPr txBox="1"/>
          <p:nvPr/>
        </p:nvSpPr>
        <p:spPr>
          <a:xfrm>
            <a:off x="8593494" y="466531"/>
            <a:ext cx="2967135" cy="369332"/>
          </a:xfrm>
          <a:prstGeom prst="rect">
            <a:avLst/>
          </a:prstGeom>
          <a:noFill/>
        </p:spPr>
        <p:txBody>
          <a:bodyPr wrap="square" rtlCol="0">
            <a:spAutoFit/>
          </a:bodyPr>
          <a:lstStyle/>
          <a:p>
            <a:r>
              <a:rPr lang="he-IL" dirty="0"/>
              <a:t>שאלת (שיווי משקל)  2</a:t>
            </a:r>
            <a:endParaRPr lang="en-IL" dirty="0"/>
          </a:p>
        </p:txBody>
      </p:sp>
      <p:sp>
        <p:nvSpPr>
          <p:cNvPr id="3" name="Date Placeholder 2">
            <a:extLst>
              <a:ext uri="{FF2B5EF4-FFF2-40B4-BE49-F238E27FC236}">
                <a16:creationId xmlns:a16="http://schemas.microsoft.com/office/drawing/2014/main" id="{89B9FDB2-35AE-303C-F83B-EF5FB2161EA0}"/>
              </a:ext>
            </a:extLst>
          </p:cNvPr>
          <p:cNvSpPr>
            <a:spLocks noGrp="1"/>
          </p:cNvSpPr>
          <p:nvPr>
            <p:ph type="dt" sz="half" idx="10"/>
          </p:nvPr>
        </p:nvSpPr>
        <p:spPr/>
        <p:txBody>
          <a:bodyPr/>
          <a:lstStyle/>
          <a:p>
            <a:fld id="{348F7822-F9BD-461A-BA3C-D6D430AB3473}" type="datetime8">
              <a:rPr lang="he-IL" smtClean="0"/>
              <a:t>09 ינואר 26</a:t>
            </a:fld>
            <a:endParaRPr lang="he-IL"/>
          </a:p>
        </p:txBody>
      </p:sp>
      <p:sp>
        <p:nvSpPr>
          <p:cNvPr id="4" name="Rectangle 3">
            <a:extLst>
              <a:ext uri="{FF2B5EF4-FFF2-40B4-BE49-F238E27FC236}">
                <a16:creationId xmlns:a16="http://schemas.microsoft.com/office/drawing/2014/main" id="{8C300E68-7976-775C-D69F-18283A021B96}"/>
              </a:ext>
            </a:extLst>
          </p:cNvPr>
          <p:cNvSpPr/>
          <p:nvPr/>
        </p:nvSpPr>
        <p:spPr>
          <a:xfrm>
            <a:off x="8096424" y="4110432"/>
            <a:ext cx="3746971" cy="33641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IL">
              <a:solidFill>
                <a:prstClr val="white"/>
              </a:solidFill>
              <a:latin typeface="Calibri"/>
            </a:endParaRPr>
          </a:p>
        </p:txBody>
      </p:sp>
    </p:spTree>
    <p:extLst>
      <p:ext uri="{BB962C8B-B14F-4D97-AF65-F5344CB8AC3E}">
        <p14:creationId xmlns:p14="http://schemas.microsoft.com/office/powerpoint/2010/main" val="2671122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barn(inVertical)">
                                      <p:cBhvr>
                                        <p:cTn id="7" dur="500"/>
                                        <p:tgtEl>
                                          <p:spTgt spid="57"/>
                                        </p:tgtEl>
                                      </p:cBhvr>
                                    </p:animEffect>
                                  </p:childTnLst>
                                </p:cTn>
                              </p:par>
                              <p:par>
                                <p:cTn id="8" presetID="16" presetClass="entr" presetSubtype="21"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55"/>
                                        </p:tgtEl>
                                        <p:attrNameLst>
                                          <p:attrName>style.visibility</p:attrName>
                                        </p:attrNameLst>
                                      </p:cBhvr>
                                      <p:to>
                                        <p:strVal val="visible"/>
                                      </p:to>
                                    </p:set>
                                    <p:animEffect transition="in" filter="barn(inVertical)">
                                      <p:cBhvr>
                                        <p:cTn id="15" dur="500"/>
                                        <p:tgtEl>
                                          <p:spTgt spid="55"/>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56"/>
                                        </p:tgtEl>
                                        <p:attrNameLst>
                                          <p:attrName>style.visibility</p:attrName>
                                        </p:attrNameLst>
                                      </p:cBhvr>
                                      <p:to>
                                        <p:strVal val="visible"/>
                                      </p:to>
                                    </p:set>
                                    <p:animEffect transition="in" filter="barn(inVertical)">
                                      <p:cBhvr>
                                        <p:cTn id="18" dur="500"/>
                                        <p:tgtEl>
                                          <p:spTgt spid="56"/>
                                        </p:tgtEl>
                                      </p:cBhvr>
                                    </p:animEffect>
                                  </p:childTnLst>
                                </p:cTn>
                              </p:par>
                            </p:childTnLst>
                          </p:cTn>
                        </p:par>
                      </p:childTnLst>
                    </p:cTn>
                  </p:par>
                  <p:par>
                    <p:cTn id="19" fill="hold">
                      <p:stCondLst>
                        <p:cond delay="indefinite"/>
                      </p:stCondLst>
                      <p:childTnLst>
                        <p:par>
                          <p:cTn id="20" fill="hold">
                            <p:stCondLst>
                              <p:cond delay="0"/>
                            </p:stCondLst>
                            <p:childTnLst>
                              <p:par>
                                <p:cTn id="21" presetID="26"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down)">
                                      <p:cBhvr>
                                        <p:cTn id="23" dur="580">
                                          <p:stCondLst>
                                            <p:cond delay="0"/>
                                          </p:stCondLst>
                                        </p:cTn>
                                        <p:tgtEl>
                                          <p:spTgt spid="16"/>
                                        </p:tgtEl>
                                      </p:cBhvr>
                                    </p:animEffect>
                                    <p:anim calcmode="lin" valueType="num">
                                      <p:cBhvr>
                                        <p:cTn id="24"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29" dur="26">
                                          <p:stCondLst>
                                            <p:cond delay="650"/>
                                          </p:stCondLst>
                                        </p:cTn>
                                        <p:tgtEl>
                                          <p:spTgt spid="16"/>
                                        </p:tgtEl>
                                      </p:cBhvr>
                                      <p:to x="100000" y="60000"/>
                                    </p:animScale>
                                    <p:animScale>
                                      <p:cBhvr>
                                        <p:cTn id="30" dur="166" decel="50000">
                                          <p:stCondLst>
                                            <p:cond delay="676"/>
                                          </p:stCondLst>
                                        </p:cTn>
                                        <p:tgtEl>
                                          <p:spTgt spid="16"/>
                                        </p:tgtEl>
                                      </p:cBhvr>
                                      <p:to x="100000" y="100000"/>
                                    </p:animScale>
                                    <p:animScale>
                                      <p:cBhvr>
                                        <p:cTn id="31" dur="26">
                                          <p:stCondLst>
                                            <p:cond delay="1312"/>
                                          </p:stCondLst>
                                        </p:cTn>
                                        <p:tgtEl>
                                          <p:spTgt spid="16"/>
                                        </p:tgtEl>
                                      </p:cBhvr>
                                      <p:to x="100000" y="80000"/>
                                    </p:animScale>
                                    <p:animScale>
                                      <p:cBhvr>
                                        <p:cTn id="32" dur="166" decel="50000">
                                          <p:stCondLst>
                                            <p:cond delay="1338"/>
                                          </p:stCondLst>
                                        </p:cTn>
                                        <p:tgtEl>
                                          <p:spTgt spid="16"/>
                                        </p:tgtEl>
                                      </p:cBhvr>
                                      <p:to x="100000" y="100000"/>
                                    </p:animScale>
                                    <p:animScale>
                                      <p:cBhvr>
                                        <p:cTn id="33" dur="26">
                                          <p:stCondLst>
                                            <p:cond delay="1642"/>
                                          </p:stCondLst>
                                        </p:cTn>
                                        <p:tgtEl>
                                          <p:spTgt spid="16"/>
                                        </p:tgtEl>
                                      </p:cBhvr>
                                      <p:to x="100000" y="90000"/>
                                    </p:animScale>
                                    <p:animScale>
                                      <p:cBhvr>
                                        <p:cTn id="34" dur="166" decel="50000">
                                          <p:stCondLst>
                                            <p:cond delay="1668"/>
                                          </p:stCondLst>
                                        </p:cTn>
                                        <p:tgtEl>
                                          <p:spTgt spid="16"/>
                                        </p:tgtEl>
                                      </p:cBhvr>
                                      <p:to x="100000" y="100000"/>
                                    </p:animScale>
                                    <p:animScale>
                                      <p:cBhvr>
                                        <p:cTn id="35" dur="26">
                                          <p:stCondLst>
                                            <p:cond delay="1808"/>
                                          </p:stCondLst>
                                        </p:cTn>
                                        <p:tgtEl>
                                          <p:spTgt spid="16"/>
                                        </p:tgtEl>
                                      </p:cBhvr>
                                      <p:to x="100000" y="95000"/>
                                    </p:animScale>
                                    <p:animScale>
                                      <p:cBhvr>
                                        <p:cTn id="36" dur="166" decel="50000">
                                          <p:stCondLst>
                                            <p:cond delay="1834"/>
                                          </p:stCondLst>
                                        </p:cTn>
                                        <p:tgtEl>
                                          <p:spTgt spid="16"/>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fade">
                                      <p:cBhvr>
                                        <p:cTn id="41" dur="500"/>
                                        <p:tgtEl>
                                          <p:spTgt spid="60"/>
                                        </p:tgtEl>
                                      </p:cBhvr>
                                    </p:animEffect>
                                  </p:childTnLst>
                                </p:cTn>
                              </p:par>
                              <p:par>
                                <p:cTn id="42" presetID="10" presetClass="entr" presetSubtype="0" fill="hold" nodeType="withEffect">
                                  <p:stCondLst>
                                    <p:cond delay="0"/>
                                  </p:stCondLst>
                                  <p:childTnLst>
                                    <p:set>
                                      <p:cBhvr>
                                        <p:cTn id="43" dur="1" fill="hold">
                                          <p:stCondLst>
                                            <p:cond delay="0"/>
                                          </p:stCondLst>
                                        </p:cTn>
                                        <p:tgtEl>
                                          <p:spTgt spid="59"/>
                                        </p:tgtEl>
                                        <p:attrNameLst>
                                          <p:attrName>style.visibility</p:attrName>
                                        </p:attrNameLst>
                                      </p:cBhvr>
                                      <p:to>
                                        <p:strVal val="visible"/>
                                      </p:to>
                                    </p:set>
                                    <p:animEffect transition="in" filter="fade">
                                      <p:cBhvr>
                                        <p:cTn id="44" dur="500"/>
                                        <p:tgtEl>
                                          <p:spTgt spid="5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2"/>
                                        </p:tgtEl>
                                        <p:attrNameLst>
                                          <p:attrName>style.visibility</p:attrName>
                                        </p:attrNameLst>
                                      </p:cBhvr>
                                      <p:to>
                                        <p:strVal val="visible"/>
                                      </p:to>
                                    </p:set>
                                    <p:animEffect transition="in" filter="fade">
                                      <p:cBhvr>
                                        <p:cTn id="47" dur="500"/>
                                        <p:tgtEl>
                                          <p:spTgt spid="6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1"/>
                                        </p:tgtEl>
                                        <p:attrNameLst>
                                          <p:attrName>style.visibility</p:attrName>
                                        </p:attrNameLst>
                                      </p:cBhvr>
                                      <p:to>
                                        <p:strVal val="visible"/>
                                      </p:to>
                                    </p:set>
                                    <p:animEffect transition="in" filter="fade">
                                      <p:cBhvr>
                                        <p:cTn id="50" dur="500"/>
                                        <p:tgtEl>
                                          <p:spTgt spid="61"/>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2"/>
                                        </p:tgtEl>
                                        <p:attrNameLst>
                                          <p:attrName>style.visibility</p:attrName>
                                        </p:attrNameLst>
                                      </p:cBhvr>
                                      <p:to>
                                        <p:strVal val="visible"/>
                                      </p:to>
                                    </p:set>
                                    <p:animEffect transition="in" filter="barn(inVertical)">
                                      <p:cBhvr>
                                        <p:cTn id="55" dur="500"/>
                                        <p:tgtEl>
                                          <p:spTgt spid="2"/>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grpId="0" nodeType="clickEffect">
                                  <p:stCondLst>
                                    <p:cond delay="0"/>
                                  </p:stCondLst>
                                  <p:childTnLst>
                                    <p:set>
                                      <p:cBhvr>
                                        <p:cTn id="59" dur="1" fill="hold">
                                          <p:stCondLst>
                                            <p:cond delay="0"/>
                                          </p:stCondLst>
                                        </p:cTn>
                                        <p:tgtEl>
                                          <p:spTgt spid="53"/>
                                        </p:tgtEl>
                                        <p:attrNameLst>
                                          <p:attrName>style.visibility</p:attrName>
                                        </p:attrNameLst>
                                      </p:cBhvr>
                                      <p:to>
                                        <p:strVal val="visible"/>
                                      </p:to>
                                    </p:set>
                                    <p:animEffect transition="in" filter="barn(inVertical)">
                                      <p:cBhvr>
                                        <p:cTn id="60" dur="500"/>
                                        <p:tgtEl>
                                          <p:spTgt spid="53"/>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grpId="0" nodeType="clickEffect">
                                  <p:stCondLst>
                                    <p:cond delay="0"/>
                                  </p:stCondLst>
                                  <p:childTnLst>
                                    <p:set>
                                      <p:cBhvr>
                                        <p:cTn id="64" dur="1" fill="hold">
                                          <p:stCondLst>
                                            <p:cond delay="0"/>
                                          </p:stCondLst>
                                        </p:cTn>
                                        <p:tgtEl>
                                          <p:spTgt spid="4"/>
                                        </p:tgtEl>
                                        <p:attrNameLst>
                                          <p:attrName>style.visibility</p:attrName>
                                        </p:attrNameLst>
                                      </p:cBhvr>
                                      <p:to>
                                        <p:strVal val="visible"/>
                                      </p:to>
                                    </p:set>
                                    <p:animEffect transition="in" filter="barn(inVertical)">
                                      <p:cBhvr>
                                        <p:cTn id="6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16" grpId="0" animBg="1"/>
      <p:bldP spid="61" grpId="0"/>
      <p:bldP spid="62" grpId="0"/>
      <p:bldP spid="2" grpId="0" animBg="1"/>
      <p:bldP spid="53" grpId="0" animBg="1"/>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1">
            <a:extLst>
              <a:ext uri="{FF2B5EF4-FFF2-40B4-BE49-F238E27FC236}">
                <a16:creationId xmlns:a16="http://schemas.microsoft.com/office/drawing/2014/main" id="{4A2E2ABD-7609-184E-906D-B2B26A936A24}"/>
              </a:ext>
            </a:extLst>
          </p:cNvPr>
          <p:cNvSpPr>
            <a:spLocks noGrp="1"/>
          </p:cNvSpPr>
          <p:nvPr>
            <p:ph type="title"/>
          </p:nvPr>
        </p:nvSpPr>
        <p:spPr>
          <a:xfrm>
            <a:off x="8199184" y="261231"/>
            <a:ext cx="3992816" cy="557919"/>
          </a:xfrm>
        </p:spPr>
        <p:txBody>
          <a:bodyPr>
            <a:normAutofit/>
          </a:bodyPr>
          <a:lstStyle/>
          <a:p>
            <a:pPr algn="r"/>
            <a:r>
              <a:rPr lang="he-IL" sz="3200" u="sng" dirty="0"/>
              <a:t>שאלת כיתה 3</a:t>
            </a:r>
          </a:p>
        </p:txBody>
      </p:sp>
      <p:sp>
        <p:nvSpPr>
          <p:cNvPr id="5" name="Rectangle 4">
            <a:extLst>
              <a:ext uri="{FF2B5EF4-FFF2-40B4-BE49-F238E27FC236}">
                <a16:creationId xmlns:a16="http://schemas.microsoft.com/office/drawing/2014/main" id="{9E2491CA-3134-6018-64CB-2F06965F0023}"/>
              </a:ext>
            </a:extLst>
          </p:cNvPr>
          <p:cNvSpPr/>
          <p:nvPr/>
        </p:nvSpPr>
        <p:spPr>
          <a:xfrm>
            <a:off x="-90610" y="285843"/>
            <a:ext cx="10158767" cy="1709571"/>
          </a:xfrm>
          <a:prstGeom prst="rect">
            <a:avLst/>
          </a:prstGeom>
        </p:spPr>
        <p:txBody>
          <a:bodyPr wrap="square">
            <a:spAutoFit/>
          </a:bodyPr>
          <a:lstStyle/>
          <a:p>
            <a:pPr>
              <a:lnSpc>
                <a:spcPct val="150000"/>
              </a:lnSpc>
            </a:pPr>
            <a:r>
              <a:rPr lang="he-IL" dirty="0"/>
              <a:t>במשק מסוים צורכים את מוצר </a:t>
            </a:r>
            <a:r>
              <a:rPr lang="en-US" dirty="0"/>
              <a:t>X</a:t>
            </a:r>
            <a:r>
              <a:rPr lang="he-IL" dirty="0"/>
              <a:t> ואת מוצר </a:t>
            </a:r>
            <a:r>
              <a:rPr lang="en-US" dirty="0"/>
              <a:t>Y</a:t>
            </a:r>
            <a:r>
              <a:rPr lang="he-IL" dirty="0"/>
              <a:t>. ידוע כי במשק חל שיפור טכנולוגי בייצור מוצר </a:t>
            </a:r>
            <a:r>
              <a:rPr lang="en-US" dirty="0"/>
              <a:t>X</a:t>
            </a:r>
            <a:r>
              <a:rPr lang="he-IL" dirty="0"/>
              <a:t>. </a:t>
            </a:r>
          </a:p>
          <a:p>
            <a:pPr>
              <a:lnSpc>
                <a:spcPct val="150000"/>
              </a:lnSpc>
            </a:pPr>
            <a:r>
              <a:rPr lang="he-IL" dirty="0"/>
              <a:t>1. מה יקרה בשוק </a:t>
            </a:r>
            <a:r>
              <a:rPr lang="en-US" dirty="0"/>
              <a:t>X</a:t>
            </a:r>
            <a:r>
              <a:rPr lang="he-IL" dirty="0"/>
              <a:t> למחיר ולכמות המיוצרת בעקבות השיפור הטכנולוגי?</a:t>
            </a:r>
          </a:p>
          <a:p>
            <a:pPr>
              <a:lnSpc>
                <a:spcPct val="150000"/>
              </a:lnSpc>
            </a:pPr>
            <a:r>
              <a:rPr lang="he-IL" dirty="0"/>
              <a:t>2. אם ידוע ש-</a:t>
            </a:r>
            <a:r>
              <a:rPr lang="en-US" dirty="0"/>
              <a:t>Y</a:t>
            </a:r>
            <a:r>
              <a:rPr lang="he-IL" dirty="0"/>
              <a:t> הינו מוצר תחליפי ל-</a:t>
            </a:r>
            <a:r>
              <a:rPr lang="en-US" dirty="0"/>
              <a:t>X</a:t>
            </a:r>
            <a:r>
              <a:rPr lang="he-IL" dirty="0"/>
              <a:t>, בעקבות השינוי שחל במחיר מוצר </a:t>
            </a:r>
            <a:r>
              <a:rPr lang="en-US" dirty="0"/>
              <a:t>X</a:t>
            </a:r>
            <a:r>
              <a:rPr lang="he-IL" dirty="0"/>
              <a:t> (סעיף א'), מה יקרה לביקוש של הצרכנים למוצר </a:t>
            </a:r>
            <a:r>
              <a:rPr lang="en-US" dirty="0"/>
              <a:t>Y</a:t>
            </a:r>
            <a:r>
              <a:rPr lang="he-IL" sz="1600" dirty="0"/>
              <a:t>?</a:t>
            </a:r>
          </a:p>
        </p:txBody>
      </p:sp>
      <p:sp>
        <p:nvSpPr>
          <p:cNvPr id="6" name="TextBox 5">
            <a:extLst>
              <a:ext uri="{FF2B5EF4-FFF2-40B4-BE49-F238E27FC236}">
                <a16:creationId xmlns:a16="http://schemas.microsoft.com/office/drawing/2014/main" id="{D322E16F-FBBB-878E-E919-39E608BF4BC9}"/>
              </a:ext>
            </a:extLst>
          </p:cNvPr>
          <p:cNvSpPr txBox="1"/>
          <p:nvPr/>
        </p:nvSpPr>
        <p:spPr>
          <a:xfrm>
            <a:off x="3443591" y="2530069"/>
            <a:ext cx="7530638" cy="3336939"/>
          </a:xfrm>
          <a:prstGeom prst="rect">
            <a:avLst/>
          </a:prstGeom>
          <a:noFill/>
        </p:spPr>
        <p:txBody>
          <a:bodyPr wrap="square">
            <a:spAutoFit/>
          </a:bodyPr>
          <a:lstStyle/>
          <a:p>
            <a:pPr>
              <a:lnSpc>
                <a:spcPct val="200000"/>
              </a:lnSpc>
            </a:pPr>
            <a:r>
              <a:rPr lang="he-IL" dirty="0"/>
              <a:t>3. </a:t>
            </a:r>
            <a:r>
              <a:rPr lang="he-IL" sz="1800" dirty="0"/>
              <a:t>בחרו בתשובה הנכונה:</a:t>
            </a:r>
            <a:endParaRPr lang="en-US" sz="1800" dirty="0"/>
          </a:p>
          <a:p>
            <a:pPr>
              <a:lnSpc>
                <a:spcPct val="200000"/>
              </a:lnSpc>
            </a:pPr>
            <a:r>
              <a:rPr lang="he-IL" sz="1800" dirty="0"/>
              <a:t>א. הוצאות הצרכנים בשני המוצרים ירדו</a:t>
            </a:r>
            <a:endParaRPr lang="en-US" sz="1800" dirty="0"/>
          </a:p>
          <a:p>
            <a:pPr>
              <a:lnSpc>
                <a:spcPct val="200000"/>
              </a:lnSpc>
            </a:pPr>
            <a:r>
              <a:rPr lang="he-IL" sz="1800" dirty="0"/>
              <a:t>ב. ייתכן שהוצאות הצרכנים על מוצר </a:t>
            </a:r>
            <a:r>
              <a:rPr lang="en-US" sz="1800" dirty="0"/>
              <a:t>X</a:t>
            </a:r>
            <a:r>
              <a:rPr lang="he-IL" sz="1800" dirty="0"/>
              <a:t> עלו ואילו על מוצר </a:t>
            </a:r>
            <a:r>
              <a:rPr lang="en-US" sz="1800" dirty="0"/>
              <a:t>Y</a:t>
            </a:r>
            <a:r>
              <a:rPr lang="he-IL" sz="1800" dirty="0"/>
              <a:t> לא יתכן שעלו.</a:t>
            </a:r>
            <a:endParaRPr lang="en-US" sz="1800" dirty="0"/>
          </a:p>
          <a:p>
            <a:pPr>
              <a:lnSpc>
                <a:spcPct val="200000"/>
              </a:lnSpc>
            </a:pPr>
            <a:r>
              <a:rPr lang="he-IL" sz="1800" dirty="0"/>
              <a:t>ג. לא ניתן לדעת מה יקרה להוצאות הצרכנים במוצר </a:t>
            </a:r>
            <a:r>
              <a:rPr lang="en-US" sz="1800" dirty="0"/>
              <a:t>Y</a:t>
            </a:r>
          </a:p>
          <a:p>
            <a:pPr>
              <a:lnSpc>
                <a:spcPct val="200000"/>
              </a:lnSpc>
            </a:pPr>
            <a:r>
              <a:rPr lang="he-IL" sz="1800" dirty="0"/>
              <a:t>ד. מחיר מוצר </a:t>
            </a:r>
            <a:r>
              <a:rPr lang="en-US" sz="1800" dirty="0"/>
              <a:t>Y</a:t>
            </a:r>
            <a:r>
              <a:rPr lang="he-IL" sz="1800" dirty="0"/>
              <a:t> נמוך ממחיר מוצר </a:t>
            </a:r>
            <a:r>
              <a:rPr lang="en-US" sz="1800" dirty="0"/>
              <a:t>X</a:t>
            </a:r>
            <a:r>
              <a:rPr lang="he-IL" sz="1800" dirty="0"/>
              <a:t>.</a:t>
            </a:r>
            <a:endParaRPr lang="en-US" sz="1800" dirty="0"/>
          </a:p>
          <a:p>
            <a:pPr>
              <a:lnSpc>
                <a:spcPct val="200000"/>
              </a:lnSpc>
            </a:pPr>
            <a:r>
              <a:rPr lang="he-IL" sz="1800" dirty="0"/>
              <a:t>ה. כל התשובות לא נכונות</a:t>
            </a:r>
            <a:endParaRPr lang="en-US" sz="1800" dirty="0"/>
          </a:p>
        </p:txBody>
      </p:sp>
    </p:spTree>
    <p:extLst>
      <p:ext uri="{BB962C8B-B14F-4D97-AF65-F5344CB8AC3E}">
        <p14:creationId xmlns:p14="http://schemas.microsoft.com/office/powerpoint/2010/main" val="15790740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153400" y="51681"/>
            <a:ext cx="3992816" cy="557919"/>
          </a:xfrm>
        </p:spPr>
        <p:txBody>
          <a:bodyPr>
            <a:normAutofit/>
          </a:bodyPr>
          <a:lstStyle/>
          <a:p>
            <a:pPr algn="r"/>
            <a:r>
              <a:rPr lang="he-IL" sz="3200" u="sng" dirty="0"/>
              <a:t>שאלת כיתה 3</a:t>
            </a:r>
          </a:p>
        </p:txBody>
      </p:sp>
      <p:sp>
        <p:nvSpPr>
          <p:cNvPr id="3" name="Slide Number Placeholder 2"/>
          <p:cNvSpPr>
            <a:spLocks noGrp="1"/>
          </p:cNvSpPr>
          <p:nvPr>
            <p:ph type="sldNum" sz="quarter" idx="12"/>
          </p:nvPr>
        </p:nvSpPr>
        <p:spPr/>
        <p:txBody>
          <a:bodyPr/>
          <a:lstStyle/>
          <a:p>
            <a:fld id="{D69A981F-4466-4789-9E41-1885E502A96E}" type="slidenum">
              <a:rPr lang="he-IL" smtClean="0">
                <a:solidFill>
                  <a:prstClr val="black">
                    <a:tint val="75000"/>
                  </a:prstClr>
                </a:solidFill>
              </a:rPr>
              <a:pPr/>
              <a:t>31</a:t>
            </a:fld>
            <a:endParaRPr lang="he-IL">
              <a:solidFill>
                <a:prstClr val="black">
                  <a:tint val="75000"/>
                </a:prstClr>
              </a:solidFill>
            </a:endParaRPr>
          </a:p>
        </p:txBody>
      </p:sp>
      <p:sp>
        <p:nvSpPr>
          <p:cNvPr id="4" name="Rectangle 3"/>
          <p:cNvSpPr/>
          <p:nvPr/>
        </p:nvSpPr>
        <p:spPr>
          <a:xfrm>
            <a:off x="-136394" y="76293"/>
            <a:ext cx="10158767" cy="830997"/>
          </a:xfrm>
          <a:prstGeom prst="rect">
            <a:avLst/>
          </a:prstGeom>
        </p:spPr>
        <p:txBody>
          <a:bodyPr wrap="square">
            <a:spAutoFit/>
          </a:bodyPr>
          <a:lstStyle/>
          <a:p>
            <a:r>
              <a:rPr lang="he-IL" sz="1600" dirty="0"/>
              <a:t>במשק מסוים צורכים את מוצר </a:t>
            </a:r>
            <a:r>
              <a:rPr lang="en-US" sz="1600" dirty="0"/>
              <a:t>X</a:t>
            </a:r>
            <a:r>
              <a:rPr lang="he-IL" sz="1600" dirty="0"/>
              <a:t> ואת מוצר </a:t>
            </a:r>
            <a:r>
              <a:rPr lang="en-US" sz="1600" dirty="0"/>
              <a:t>Y</a:t>
            </a:r>
            <a:r>
              <a:rPr lang="he-IL" sz="1600" dirty="0"/>
              <a:t>. ידוע כי במשק חל שיפור טכנולוגי בייצור מוצר </a:t>
            </a:r>
            <a:r>
              <a:rPr lang="en-US" sz="1600" dirty="0"/>
              <a:t>X</a:t>
            </a:r>
            <a:r>
              <a:rPr lang="he-IL" sz="1600" dirty="0"/>
              <a:t>. </a:t>
            </a:r>
          </a:p>
          <a:p>
            <a:r>
              <a:rPr lang="he-IL" sz="1600" dirty="0"/>
              <a:t>א. מה יקרה בשוק </a:t>
            </a:r>
            <a:r>
              <a:rPr lang="en-US" sz="1600" dirty="0"/>
              <a:t>X</a:t>
            </a:r>
            <a:r>
              <a:rPr lang="he-IL" sz="1600" dirty="0"/>
              <a:t> למחיר ולכמות המיוצרת בעקבות השיפור הטכנולוגי?</a:t>
            </a:r>
          </a:p>
          <a:p>
            <a:r>
              <a:rPr lang="he-IL" sz="1600" dirty="0"/>
              <a:t>ב. אם ידוע ש</a:t>
            </a:r>
            <a:r>
              <a:rPr lang="en-US" sz="1600" dirty="0"/>
              <a:t>Y</a:t>
            </a:r>
            <a:r>
              <a:rPr lang="he-IL" sz="1600" dirty="0"/>
              <a:t> הינו מוצר תחליפי ל-</a:t>
            </a:r>
            <a:r>
              <a:rPr lang="en-US" sz="1600" dirty="0"/>
              <a:t>X</a:t>
            </a:r>
            <a:r>
              <a:rPr lang="he-IL" sz="1600" dirty="0"/>
              <a:t>, בעקבות השינוי שחל במחיר מוצר </a:t>
            </a:r>
            <a:r>
              <a:rPr lang="en-US" sz="1600" dirty="0"/>
              <a:t>X</a:t>
            </a:r>
            <a:r>
              <a:rPr lang="he-IL" sz="1600" dirty="0"/>
              <a:t> (סעיף א'), מה יקרה לביקוש של הצרכנים למוצר </a:t>
            </a:r>
            <a:r>
              <a:rPr lang="en-US" sz="1600" dirty="0"/>
              <a:t>Y</a:t>
            </a:r>
            <a:r>
              <a:rPr lang="he-IL" sz="1600" dirty="0"/>
              <a:t>?</a:t>
            </a:r>
          </a:p>
        </p:txBody>
      </p:sp>
      <p:sp>
        <p:nvSpPr>
          <p:cNvPr id="15" name="מלבן מעוגל 5"/>
          <p:cNvSpPr/>
          <p:nvPr/>
        </p:nvSpPr>
        <p:spPr>
          <a:xfrm>
            <a:off x="1682048" y="1487188"/>
            <a:ext cx="708328" cy="5963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err="1"/>
              <a:t>Qy</a:t>
            </a:r>
            <a:endParaRPr lang="en-US" dirty="0"/>
          </a:p>
        </p:txBody>
      </p:sp>
      <p:sp>
        <p:nvSpPr>
          <p:cNvPr id="16" name="מלבן מעוגל 5"/>
          <p:cNvSpPr/>
          <p:nvPr/>
        </p:nvSpPr>
        <p:spPr>
          <a:xfrm>
            <a:off x="1682048" y="2232842"/>
            <a:ext cx="708328" cy="5963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err="1"/>
              <a:t>Py</a:t>
            </a:r>
            <a:endParaRPr lang="en-US" dirty="0"/>
          </a:p>
        </p:txBody>
      </p:sp>
      <p:sp>
        <p:nvSpPr>
          <p:cNvPr id="17" name="מלבן מעוגל 5"/>
          <p:cNvSpPr/>
          <p:nvPr/>
        </p:nvSpPr>
        <p:spPr>
          <a:xfrm>
            <a:off x="4074528" y="1478029"/>
            <a:ext cx="708328" cy="5963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err="1"/>
              <a:t>Qx</a:t>
            </a:r>
            <a:endParaRPr lang="en-US" dirty="0"/>
          </a:p>
        </p:txBody>
      </p:sp>
      <p:sp>
        <p:nvSpPr>
          <p:cNvPr id="18" name="מלבן מעוגל 5"/>
          <p:cNvSpPr/>
          <p:nvPr/>
        </p:nvSpPr>
        <p:spPr>
          <a:xfrm>
            <a:off x="4038443" y="2270399"/>
            <a:ext cx="708328" cy="5963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dirty="0"/>
              <a:t>Px</a:t>
            </a:r>
          </a:p>
        </p:txBody>
      </p:sp>
      <p:sp>
        <p:nvSpPr>
          <p:cNvPr id="20" name="Down Arrow 19"/>
          <p:cNvSpPr/>
          <p:nvPr/>
        </p:nvSpPr>
        <p:spPr>
          <a:xfrm>
            <a:off x="4942990" y="2270399"/>
            <a:ext cx="533400" cy="587072"/>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own Arrow 22"/>
          <p:cNvSpPr/>
          <p:nvPr/>
        </p:nvSpPr>
        <p:spPr>
          <a:xfrm rot="10800000">
            <a:off x="4862761" y="1495621"/>
            <a:ext cx="533400" cy="587072"/>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529910" y="1394717"/>
            <a:ext cx="6545426" cy="534925"/>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ate Placeholder 5"/>
          <p:cNvSpPr>
            <a:spLocks noGrp="1"/>
          </p:cNvSpPr>
          <p:nvPr>
            <p:ph type="dt" sz="half" idx="10"/>
          </p:nvPr>
        </p:nvSpPr>
        <p:spPr/>
        <p:txBody>
          <a:bodyPr/>
          <a:lstStyle/>
          <a:p>
            <a:fld id="{048541F6-356B-43C8-A4E1-D83154714D31}" type="datetime8">
              <a:rPr lang="he-IL" smtClean="0">
                <a:solidFill>
                  <a:prstClr val="black">
                    <a:tint val="75000"/>
                  </a:prstClr>
                </a:solidFill>
              </a:rPr>
              <a:t>09 ינואר 26</a:t>
            </a:fld>
            <a:endParaRPr lang="he-IL">
              <a:solidFill>
                <a:prstClr val="black">
                  <a:tint val="75000"/>
                </a:prstClr>
              </a:solidFill>
            </a:endParaRPr>
          </a:p>
        </p:txBody>
      </p:sp>
      <p:sp>
        <p:nvSpPr>
          <p:cNvPr id="19" name="Rounded Rectangle 5">
            <a:extLst>
              <a:ext uri="{FF2B5EF4-FFF2-40B4-BE49-F238E27FC236}">
                <a16:creationId xmlns:a16="http://schemas.microsoft.com/office/drawing/2014/main" id="{4F9C2CD8-64A7-4FD7-9446-52088B0C54FE}"/>
              </a:ext>
            </a:extLst>
          </p:cNvPr>
          <p:cNvSpPr/>
          <p:nvPr/>
        </p:nvSpPr>
        <p:spPr>
          <a:xfrm>
            <a:off x="3750100" y="5283678"/>
            <a:ext cx="488887" cy="47719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r>
              <a:rPr lang="en-US" sz="1050" dirty="0">
                <a:solidFill>
                  <a:schemeClr val="tx1"/>
                </a:solidFill>
              </a:rPr>
              <a:t>0</a:t>
            </a:r>
            <a:endParaRPr lang="en-US" dirty="0">
              <a:solidFill>
                <a:schemeClr val="tx1"/>
              </a:solidFill>
            </a:endParaRPr>
          </a:p>
        </p:txBody>
      </p:sp>
      <p:sp>
        <p:nvSpPr>
          <p:cNvPr id="21" name="Rounded Rectangle 18">
            <a:extLst>
              <a:ext uri="{FF2B5EF4-FFF2-40B4-BE49-F238E27FC236}">
                <a16:creationId xmlns:a16="http://schemas.microsoft.com/office/drawing/2014/main" id="{DFB3B065-7F44-45A3-ACB7-D4889F98E88E}"/>
              </a:ext>
            </a:extLst>
          </p:cNvPr>
          <p:cNvSpPr/>
          <p:nvPr/>
        </p:nvSpPr>
        <p:spPr>
          <a:xfrm>
            <a:off x="9516499" y="2971122"/>
            <a:ext cx="488887" cy="42031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a:t>
            </a:r>
            <a:r>
              <a:rPr lang="en-US" sz="1050" dirty="0">
                <a:solidFill>
                  <a:schemeClr val="tx1"/>
                </a:solidFill>
              </a:rPr>
              <a:t>0</a:t>
            </a:r>
            <a:endParaRPr lang="en-US" dirty="0">
              <a:solidFill>
                <a:schemeClr val="tx1"/>
              </a:solidFill>
            </a:endParaRPr>
          </a:p>
        </p:txBody>
      </p:sp>
      <p:cxnSp>
        <p:nvCxnSpPr>
          <p:cNvPr id="22" name="Straight Connector 21">
            <a:extLst>
              <a:ext uri="{FF2B5EF4-FFF2-40B4-BE49-F238E27FC236}">
                <a16:creationId xmlns:a16="http://schemas.microsoft.com/office/drawing/2014/main" id="{345FE309-3734-4DD3-A3E5-9324D08EAE49}"/>
              </a:ext>
            </a:extLst>
          </p:cNvPr>
          <p:cNvCxnSpPr>
            <a:cxnSpLocks/>
          </p:cNvCxnSpPr>
          <p:nvPr/>
        </p:nvCxnSpPr>
        <p:spPr>
          <a:xfrm>
            <a:off x="1174565" y="4227011"/>
            <a:ext cx="2295920" cy="1750236"/>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Rounded Rectangle 24">
            <a:extLst>
              <a:ext uri="{FF2B5EF4-FFF2-40B4-BE49-F238E27FC236}">
                <a16:creationId xmlns:a16="http://schemas.microsoft.com/office/drawing/2014/main" id="{57F1A0C6-7292-4C5D-8BF8-93793BDC7A89}"/>
              </a:ext>
            </a:extLst>
          </p:cNvPr>
          <p:cNvSpPr/>
          <p:nvPr/>
        </p:nvSpPr>
        <p:spPr>
          <a:xfrm>
            <a:off x="3075294" y="5472049"/>
            <a:ext cx="488887" cy="42031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r>
              <a:rPr lang="en-US" sz="1050" dirty="0">
                <a:solidFill>
                  <a:schemeClr val="tx1"/>
                </a:solidFill>
              </a:rPr>
              <a:t>1</a:t>
            </a:r>
            <a:endParaRPr lang="en-US" dirty="0">
              <a:solidFill>
                <a:schemeClr val="tx1"/>
              </a:solidFill>
            </a:endParaRPr>
          </a:p>
        </p:txBody>
      </p:sp>
      <p:sp>
        <p:nvSpPr>
          <p:cNvPr id="26" name="Rounded Rectangle 26">
            <a:extLst>
              <a:ext uri="{FF2B5EF4-FFF2-40B4-BE49-F238E27FC236}">
                <a16:creationId xmlns:a16="http://schemas.microsoft.com/office/drawing/2014/main" id="{044602EB-AFF7-4C84-9DDE-92DF52AADD06}"/>
              </a:ext>
            </a:extLst>
          </p:cNvPr>
          <p:cNvSpPr/>
          <p:nvPr/>
        </p:nvSpPr>
        <p:spPr>
          <a:xfrm>
            <a:off x="10733575" y="3399179"/>
            <a:ext cx="488887" cy="42031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3">
                    <a:lumMod val="50000"/>
                  </a:schemeClr>
                </a:solidFill>
              </a:rPr>
              <a:t>S</a:t>
            </a:r>
            <a:r>
              <a:rPr lang="en-US" sz="1050" dirty="0">
                <a:solidFill>
                  <a:schemeClr val="accent3">
                    <a:lumMod val="50000"/>
                  </a:schemeClr>
                </a:solidFill>
              </a:rPr>
              <a:t>1</a:t>
            </a:r>
            <a:endParaRPr lang="en-US" dirty="0">
              <a:solidFill>
                <a:schemeClr val="accent3">
                  <a:lumMod val="50000"/>
                </a:schemeClr>
              </a:solidFill>
            </a:endParaRPr>
          </a:p>
        </p:txBody>
      </p:sp>
      <p:cxnSp>
        <p:nvCxnSpPr>
          <p:cNvPr id="27" name="Straight Connector 26">
            <a:extLst>
              <a:ext uri="{FF2B5EF4-FFF2-40B4-BE49-F238E27FC236}">
                <a16:creationId xmlns:a16="http://schemas.microsoft.com/office/drawing/2014/main" id="{4A877F65-CE4C-4C77-8EE4-007D4CDA77A2}"/>
              </a:ext>
            </a:extLst>
          </p:cNvPr>
          <p:cNvCxnSpPr>
            <a:cxnSpLocks/>
          </p:cNvCxnSpPr>
          <p:nvPr/>
        </p:nvCxnSpPr>
        <p:spPr>
          <a:xfrm flipH="1" flipV="1">
            <a:off x="993970" y="3428031"/>
            <a:ext cx="22978" cy="25776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DD9AB4-A59D-4143-BA06-8DCC8CDF0B52}"/>
              </a:ext>
            </a:extLst>
          </p:cNvPr>
          <p:cNvCxnSpPr>
            <a:cxnSpLocks/>
          </p:cNvCxnSpPr>
          <p:nvPr/>
        </p:nvCxnSpPr>
        <p:spPr>
          <a:xfrm>
            <a:off x="1024066" y="6029928"/>
            <a:ext cx="3303174" cy="167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Rounded Rectangle 19">
            <a:extLst>
              <a:ext uri="{FF2B5EF4-FFF2-40B4-BE49-F238E27FC236}">
                <a16:creationId xmlns:a16="http://schemas.microsoft.com/office/drawing/2014/main" id="{200235C8-F472-4658-A31E-B14B626B55CC}"/>
              </a:ext>
            </a:extLst>
          </p:cNvPr>
          <p:cNvSpPr/>
          <p:nvPr/>
        </p:nvSpPr>
        <p:spPr>
          <a:xfrm>
            <a:off x="4312235" y="5876948"/>
            <a:ext cx="488887" cy="42031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Qy</a:t>
            </a:r>
            <a:endParaRPr lang="en-US" dirty="0">
              <a:solidFill>
                <a:schemeClr val="tx1"/>
              </a:solidFill>
            </a:endParaRPr>
          </a:p>
        </p:txBody>
      </p:sp>
      <p:sp>
        <p:nvSpPr>
          <p:cNvPr id="30" name="Rounded Rectangle 20">
            <a:extLst>
              <a:ext uri="{FF2B5EF4-FFF2-40B4-BE49-F238E27FC236}">
                <a16:creationId xmlns:a16="http://schemas.microsoft.com/office/drawing/2014/main" id="{BF6CD5A6-2BB9-4013-BF55-307BFBE3DF17}"/>
              </a:ext>
            </a:extLst>
          </p:cNvPr>
          <p:cNvSpPr/>
          <p:nvPr/>
        </p:nvSpPr>
        <p:spPr>
          <a:xfrm>
            <a:off x="505083" y="3012450"/>
            <a:ext cx="488887" cy="42031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Py</a:t>
            </a:r>
            <a:endParaRPr lang="en-US" dirty="0">
              <a:solidFill>
                <a:schemeClr val="tx1"/>
              </a:solidFill>
            </a:endParaRPr>
          </a:p>
        </p:txBody>
      </p:sp>
      <p:pic>
        <p:nvPicPr>
          <p:cNvPr id="33" name="Picture 2">
            <a:extLst>
              <a:ext uri="{FF2B5EF4-FFF2-40B4-BE49-F238E27FC236}">
                <a16:creationId xmlns:a16="http://schemas.microsoft.com/office/drawing/2014/main" id="{393180B0-C666-4839-8C5D-797BD97156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2292" y="3257843"/>
            <a:ext cx="3760635" cy="2528110"/>
          </a:xfrm>
          <a:prstGeom prst="rect">
            <a:avLst/>
          </a:prstGeom>
          <a:noFill/>
          <a:ln w="9525">
            <a:noFill/>
            <a:miter lim="800000"/>
            <a:headEnd/>
            <a:tailEnd/>
          </a:ln>
          <a:effectLst/>
        </p:spPr>
      </p:pic>
      <p:cxnSp>
        <p:nvCxnSpPr>
          <p:cNvPr id="34" name="Straight Connector 33">
            <a:extLst>
              <a:ext uri="{FF2B5EF4-FFF2-40B4-BE49-F238E27FC236}">
                <a16:creationId xmlns:a16="http://schemas.microsoft.com/office/drawing/2014/main" id="{9AEBE8E5-FF24-42C9-9D7D-C163B132CBED}"/>
              </a:ext>
            </a:extLst>
          </p:cNvPr>
          <p:cNvCxnSpPr>
            <a:cxnSpLocks/>
          </p:cNvCxnSpPr>
          <p:nvPr/>
        </p:nvCxnSpPr>
        <p:spPr>
          <a:xfrm flipH="1" flipV="1">
            <a:off x="6840253" y="3450936"/>
            <a:ext cx="22978" cy="257768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844CB94-BE57-46BB-AA30-6A64D0081294}"/>
              </a:ext>
            </a:extLst>
          </p:cNvPr>
          <p:cNvCxnSpPr>
            <a:cxnSpLocks/>
          </p:cNvCxnSpPr>
          <p:nvPr/>
        </p:nvCxnSpPr>
        <p:spPr>
          <a:xfrm>
            <a:off x="6870349" y="6052833"/>
            <a:ext cx="3303174" cy="167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Rounded Rectangle 19">
            <a:extLst>
              <a:ext uri="{FF2B5EF4-FFF2-40B4-BE49-F238E27FC236}">
                <a16:creationId xmlns:a16="http://schemas.microsoft.com/office/drawing/2014/main" id="{408C95DA-19BD-4E69-A277-881F8DF02FE7}"/>
              </a:ext>
            </a:extLst>
          </p:cNvPr>
          <p:cNvSpPr/>
          <p:nvPr/>
        </p:nvSpPr>
        <p:spPr>
          <a:xfrm>
            <a:off x="10247225" y="5862251"/>
            <a:ext cx="488887" cy="42031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Qx</a:t>
            </a:r>
            <a:endParaRPr lang="en-US" dirty="0">
              <a:solidFill>
                <a:schemeClr val="tx1"/>
              </a:solidFill>
            </a:endParaRPr>
          </a:p>
        </p:txBody>
      </p:sp>
      <p:sp>
        <p:nvSpPr>
          <p:cNvPr id="37" name="Rounded Rectangle 20">
            <a:extLst>
              <a:ext uri="{FF2B5EF4-FFF2-40B4-BE49-F238E27FC236}">
                <a16:creationId xmlns:a16="http://schemas.microsoft.com/office/drawing/2014/main" id="{CC4E8D27-59B2-400D-B7BE-8589EA54C957}"/>
              </a:ext>
            </a:extLst>
          </p:cNvPr>
          <p:cNvSpPr/>
          <p:nvPr/>
        </p:nvSpPr>
        <p:spPr>
          <a:xfrm>
            <a:off x="6351366" y="3035355"/>
            <a:ext cx="488887" cy="42031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Px</a:t>
            </a:r>
          </a:p>
        </p:txBody>
      </p:sp>
      <p:sp>
        <p:nvSpPr>
          <p:cNvPr id="38" name="Oval 37">
            <a:extLst>
              <a:ext uri="{FF2B5EF4-FFF2-40B4-BE49-F238E27FC236}">
                <a16:creationId xmlns:a16="http://schemas.microsoft.com/office/drawing/2014/main" id="{6F1E35B8-19F1-40AA-8BDD-9B2139439FDF}"/>
              </a:ext>
            </a:extLst>
          </p:cNvPr>
          <p:cNvSpPr/>
          <p:nvPr/>
        </p:nvSpPr>
        <p:spPr>
          <a:xfrm>
            <a:off x="8299882" y="4332932"/>
            <a:ext cx="439606" cy="5006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endParaRPr lang="en-IL" sz="2400" b="1" dirty="0"/>
          </a:p>
        </p:txBody>
      </p:sp>
      <p:cxnSp>
        <p:nvCxnSpPr>
          <p:cNvPr id="39" name="Straight Connector 38">
            <a:extLst>
              <a:ext uri="{FF2B5EF4-FFF2-40B4-BE49-F238E27FC236}">
                <a16:creationId xmlns:a16="http://schemas.microsoft.com/office/drawing/2014/main" id="{380A46D7-DA97-4265-ABEC-14BF7B80BB6C}"/>
              </a:ext>
            </a:extLst>
          </p:cNvPr>
          <p:cNvCxnSpPr>
            <a:cxnSpLocks/>
          </p:cNvCxnSpPr>
          <p:nvPr/>
        </p:nvCxnSpPr>
        <p:spPr>
          <a:xfrm flipH="1">
            <a:off x="8034744" y="3765217"/>
            <a:ext cx="2406173" cy="209703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5F7FC95A-2AB6-4620-8187-9C322C867F85}"/>
              </a:ext>
            </a:extLst>
          </p:cNvPr>
          <p:cNvSpPr/>
          <p:nvPr/>
        </p:nvSpPr>
        <p:spPr>
          <a:xfrm>
            <a:off x="8894196" y="4739779"/>
            <a:ext cx="439606" cy="500658"/>
          </a:xfrm>
          <a:prstGeom prst="ellipse">
            <a:avLst/>
          </a:prstGeom>
          <a:solidFill>
            <a:schemeClr val="accent3">
              <a:lumMod val="50000"/>
            </a:schemeClr>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endParaRPr lang="en-IL" sz="2400" b="1" dirty="0"/>
          </a:p>
        </p:txBody>
      </p:sp>
      <p:sp>
        <p:nvSpPr>
          <p:cNvPr id="41" name="Arrow: Right 40">
            <a:extLst>
              <a:ext uri="{FF2B5EF4-FFF2-40B4-BE49-F238E27FC236}">
                <a16:creationId xmlns:a16="http://schemas.microsoft.com/office/drawing/2014/main" id="{E48FFF1F-E088-43B6-96D5-0B3BCFD00762}"/>
              </a:ext>
            </a:extLst>
          </p:cNvPr>
          <p:cNvSpPr/>
          <p:nvPr/>
        </p:nvSpPr>
        <p:spPr>
          <a:xfrm rot="10800000">
            <a:off x="1784019" y="4478073"/>
            <a:ext cx="439606" cy="2103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2" name="Arrow: Right 41">
            <a:extLst>
              <a:ext uri="{FF2B5EF4-FFF2-40B4-BE49-F238E27FC236}">
                <a16:creationId xmlns:a16="http://schemas.microsoft.com/office/drawing/2014/main" id="{C681E8BB-9940-44D6-9F3F-4E38A7D9AA0B}"/>
              </a:ext>
            </a:extLst>
          </p:cNvPr>
          <p:cNvSpPr/>
          <p:nvPr/>
        </p:nvSpPr>
        <p:spPr>
          <a:xfrm>
            <a:off x="9039764" y="4196702"/>
            <a:ext cx="439606" cy="2103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3" name="Rounded Rectangle 18">
            <a:extLst>
              <a:ext uri="{FF2B5EF4-FFF2-40B4-BE49-F238E27FC236}">
                <a16:creationId xmlns:a16="http://schemas.microsoft.com/office/drawing/2014/main" id="{6199CB18-0011-4D6A-9959-56FA8C734076}"/>
              </a:ext>
            </a:extLst>
          </p:cNvPr>
          <p:cNvSpPr/>
          <p:nvPr/>
        </p:nvSpPr>
        <p:spPr>
          <a:xfrm>
            <a:off x="3959774" y="3348901"/>
            <a:ext cx="488887" cy="44492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a:t>
            </a:r>
            <a:r>
              <a:rPr lang="en-US" sz="1050" dirty="0">
                <a:solidFill>
                  <a:schemeClr val="tx1"/>
                </a:solidFill>
              </a:rPr>
              <a:t>0</a:t>
            </a:r>
            <a:endParaRPr lang="en-US" dirty="0">
              <a:solidFill>
                <a:schemeClr val="tx1"/>
              </a:solidFill>
            </a:endParaRPr>
          </a:p>
        </p:txBody>
      </p:sp>
      <p:sp>
        <p:nvSpPr>
          <p:cNvPr id="44" name="Rounded Rectangle 5">
            <a:extLst>
              <a:ext uri="{FF2B5EF4-FFF2-40B4-BE49-F238E27FC236}">
                <a16:creationId xmlns:a16="http://schemas.microsoft.com/office/drawing/2014/main" id="{18532094-C29C-46E2-8865-0B55F2051010}"/>
              </a:ext>
            </a:extLst>
          </p:cNvPr>
          <p:cNvSpPr/>
          <p:nvPr/>
        </p:nvSpPr>
        <p:spPr>
          <a:xfrm>
            <a:off x="9960821" y="5448554"/>
            <a:ext cx="488887" cy="42031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r>
              <a:rPr lang="en-US" sz="1050" dirty="0">
                <a:solidFill>
                  <a:schemeClr val="tx1"/>
                </a:solidFill>
              </a:rPr>
              <a:t>0</a:t>
            </a:r>
            <a:endParaRPr lang="en-US" dirty="0">
              <a:solidFill>
                <a:schemeClr val="tx1"/>
              </a:solidFill>
            </a:endParaRPr>
          </a:p>
        </p:txBody>
      </p:sp>
      <p:cxnSp>
        <p:nvCxnSpPr>
          <p:cNvPr id="46" name="Straight Connector 45">
            <a:extLst>
              <a:ext uri="{FF2B5EF4-FFF2-40B4-BE49-F238E27FC236}">
                <a16:creationId xmlns:a16="http://schemas.microsoft.com/office/drawing/2014/main" id="{A45EC159-F5EB-4762-A7FE-1EBD8EB0F874}"/>
              </a:ext>
            </a:extLst>
          </p:cNvPr>
          <p:cNvCxnSpPr>
            <a:cxnSpLocks/>
          </p:cNvCxnSpPr>
          <p:nvPr/>
        </p:nvCxnSpPr>
        <p:spPr>
          <a:xfrm>
            <a:off x="1222760" y="3685707"/>
            <a:ext cx="2623460" cy="19853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B143B013-175C-44EC-85A3-35F658A4C18B}"/>
              </a:ext>
            </a:extLst>
          </p:cNvPr>
          <p:cNvCxnSpPr>
            <a:cxnSpLocks/>
          </p:cNvCxnSpPr>
          <p:nvPr/>
        </p:nvCxnSpPr>
        <p:spPr>
          <a:xfrm flipH="1">
            <a:off x="1751083" y="3450936"/>
            <a:ext cx="2287360" cy="237333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46048590-EF78-410D-B3B3-A15817FE9800}"/>
              </a:ext>
            </a:extLst>
          </p:cNvPr>
          <p:cNvSpPr/>
          <p:nvPr/>
        </p:nvSpPr>
        <p:spPr>
          <a:xfrm>
            <a:off x="2534490" y="4654094"/>
            <a:ext cx="288227" cy="3274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endParaRPr lang="en-IL" dirty="0"/>
          </a:p>
        </p:txBody>
      </p:sp>
      <p:sp>
        <p:nvSpPr>
          <p:cNvPr id="48" name="Oval 47">
            <a:extLst>
              <a:ext uri="{FF2B5EF4-FFF2-40B4-BE49-F238E27FC236}">
                <a16:creationId xmlns:a16="http://schemas.microsoft.com/office/drawing/2014/main" id="{B1A7E262-198E-4BA6-AF77-FE98A4D80E55}"/>
              </a:ext>
            </a:extLst>
          </p:cNvPr>
          <p:cNvSpPr/>
          <p:nvPr/>
        </p:nvSpPr>
        <p:spPr>
          <a:xfrm>
            <a:off x="2246263" y="4981579"/>
            <a:ext cx="288227" cy="3274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endParaRPr lang="en-IL" dirty="0"/>
          </a:p>
        </p:txBody>
      </p:sp>
      <p:sp>
        <p:nvSpPr>
          <p:cNvPr id="51" name="Down Arrow 19">
            <a:extLst>
              <a:ext uri="{FF2B5EF4-FFF2-40B4-BE49-F238E27FC236}">
                <a16:creationId xmlns:a16="http://schemas.microsoft.com/office/drawing/2014/main" id="{905365F6-EE2D-433C-8F58-87C56BD09BAF}"/>
              </a:ext>
            </a:extLst>
          </p:cNvPr>
          <p:cNvSpPr/>
          <p:nvPr/>
        </p:nvSpPr>
        <p:spPr>
          <a:xfrm>
            <a:off x="2506775" y="1530952"/>
            <a:ext cx="533400" cy="587072"/>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Down Arrow 19">
            <a:extLst>
              <a:ext uri="{FF2B5EF4-FFF2-40B4-BE49-F238E27FC236}">
                <a16:creationId xmlns:a16="http://schemas.microsoft.com/office/drawing/2014/main" id="{5D0B3F5A-6695-4072-B486-A6127E27FD33}"/>
              </a:ext>
            </a:extLst>
          </p:cNvPr>
          <p:cNvSpPr/>
          <p:nvPr/>
        </p:nvSpPr>
        <p:spPr>
          <a:xfrm>
            <a:off x="2560730" y="2310146"/>
            <a:ext cx="533400" cy="587072"/>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4349CFE-F646-EB8F-3B58-7C87589F36BA}"/>
              </a:ext>
            </a:extLst>
          </p:cNvPr>
          <p:cNvSpPr txBox="1"/>
          <p:nvPr/>
        </p:nvSpPr>
        <p:spPr>
          <a:xfrm>
            <a:off x="5459031" y="744831"/>
            <a:ext cx="6687185" cy="2462213"/>
          </a:xfrm>
          <a:prstGeom prst="rect">
            <a:avLst/>
          </a:prstGeom>
          <a:noFill/>
        </p:spPr>
        <p:txBody>
          <a:bodyPr wrap="square">
            <a:spAutoFit/>
          </a:bodyPr>
          <a:lstStyle/>
          <a:p>
            <a:r>
              <a:rPr lang="he-IL" sz="1800" dirty="0"/>
              <a:t>ג. בחרו בתשובה הנכונה:</a:t>
            </a:r>
            <a:endParaRPr lang="en-US" sz="1800" dirty="0"/>
          </a:p>
          <a:p>
            <a:r>
              <a:rPr lang="he-IL" sz="1800" dirty="0"/>
              <a:t>א. הוצאות הצרכנים בשני המוצרים ירדו</a:t>
            </a:r>
            <a:endParaRPr lang="en-US" sz="1800" dirty="0"/>
          </a:p>
          <a:p>
            <a:endParaRPr lang="en-US" sz="1000" dirty="0"/>
          </a:p>
          <a:p>
            <a:r>
              <a:rPr lang="he-IL" sz="1800" dirty="0"/>
              <a:t>ב. ייתכן שהוצאות הצרכנים על מוצר </a:t>
            </a:r>
            <a:r>
              <a:rPr lang="en-US" sz="1800" dirty="0"/>
              <a:t>X</a:t>
            </a:r>
            <a:r>
              <a:rPr lang="he-IL" sz="1800" dirty="0"/>
              <a:t> עלו ואילו על מוצר </a:t>
            </a:r>
            <a:r>
              <a:rPr lang="en-US" sz="1800" dirty="0"/>
              <a:t>Y</a:t>
            </a:r>
            <a:r>
              <a:rPr lang="he-IL" sz="1800" dirty="0"/>
              <a:t> לא יתכן שעלו</a:t>
            </a:r>
            <a:endParaRPr lang="en-US" sz="1800" dirty="0"/>
          </a:p>
          <a:p>
            <a:r>
              <a:rPr lang="he-IL" sz="1800" dirty="0"/>
              <a:t>.</a:t>
            </a:r>
            <a:endParaRPr lang="en-US" sz="1800" dirty="0"/>
          </a:p>
          <a:p>
            <a:r>
              <a:rPr lang="he-IL" sz="1800" dirty="0"/>
              <a:t>ג. לא ניתן לדעת מה יקרה להוצאות הצרכנים במוצר </a:t>
            </a:r>
            <a:r>
              <a:rPr lang="en-US" sz="1800" dirty="0"/>
              <a:t>Y</a:t>
            </a:r>
          </a:p>
          <a:p>
            <a:pPr>
              <a:lnSpc>
                <a:spcPct val="200000"/>
              </a:lnSpc>
            </a:pPr>
            <a:r>
              <a:rPr lang="he-IL" sz="1800" dirty="0"/>
              <a:t>ד. מחיר מוצר </a:t>
            </a:r>
            <a:r>
              <a:rPr lang="en-US" sz="1800" dirty="0"/>
              <a:t>Y</a:t>
            </a:r>
            <a:r>
              <a:rPr lang="he-IL" sz="1800" dirty="0"/>
              <a:t> נמוך ממחיר מוצר </a:t>
            </a:r>
            <a:r>
              <a:rPr lang="en-US" sz="1800" dirty="0"/>
              <a:t>X</a:t>
            </a:r>
            <a:r>
              <a:rPr lang="he-IL" sz="1800" dirty="0"/>
              <a:t>.</a:t>
            </a:r>
            <a:endParaRPr lang="en-US" sz="1800" dirty="0"/>
          </a:p>
          <a:p>
            <a:r>
              <a:rPr lang="he-IL" sz="1800" dirty="0"/>
              <a:t>ה. כל התשובות לא נכונות</a:t>
            </a:r>
            <a:endParaRPr lang="en-US" sz="1800" dirty="0"/>
          </a:p>
        </p:txBody>
      </p:sp>
    </p:spTree>
    <p:extLst>
      <p:ext uri="{BB962C8B-B14F-4D97-AF65-F5344CB8AC3E}">
        <p14:creationId xmlns:p14="http://schemas.microsoft.com/office/powerpoint/2010/main" val="3076193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down)">
                                      <p:cBhvr>
                                        <p:cTn id="7" dur="500"/>
                                        <p:tgtEl>
                                          <p:spTgt spid="42"/>
                                        </p:tgtEl>
                                      </p:cBhvr>
                                    </p:animEffect>
                                  </p:childTnLst>
                                </p:cTn>
                              </p:par>
                              <p:par>
                                <p:cTn id="8" presetID="22" presetClass="entr" presetSubtype="4" fill="hold" nodeType="withEffect">
                                  <p:stCondLst>
                                    <p:cond delay="0"/>
                                  </p:stCondLst>
                                  <p:childTnLst>
                                    <p:set>
                                      <p:cBhvr>
                                        <p:cTn id="9" dur="1" fill="hold">
                                          <p:stCondLst>
                                            <p:cond delay="0"/>
                                          </p:stCondLst>
                                        </p:cTn>
                                        <p:tgtEl>
                                          <p:spTgt spid="39"/>
                                        </p:tgtEl>
                                        <p:attrNameLst>
                                          <p:attrName>style.visibility</p:attrName>
                                        </p:attrNameLst>
                                      </p:cBhvr>
                                      <p:to>
                                        <p:strVal val="visible"/>
                                      </p:to>
                                    </p:set>
                                    <p:animEffect transition="in" filter="wipe(down)">
                                      <p:cBhvr>
                                        <p:cTn id="10" dur="500"/>
                                        <p:tgtEl>
                                          <p:spTgt spid="39"/>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ipe(down)">
                                      <p:cBhvr>
                                        <p:cTn id="13" dur="500"/>
                                        <p:tgtEl>
                                          <p:spTgt spid="26"/>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circle(in)">
                                      <p:cBhvr>
                                        <p:cTn id="18" dur="2000"/>
                                        <p:tgtEl>
                                          <p:spTgt spid="40"/>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barn(inVertical)">
                                      <p:cBhvr>
                                        <p:cTn id="23" dur="500"/>
                                        <p:tgtEl>
                                          <p:spTgt spid="23"/>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barn(inVertical)">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barn(inVertical)">
                                      <p:cBhvr>
                                        <p:cTn id="31" dur="500"/>
                                        <p:tgtEl>
                                          <p:spTgt spid="41"/>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circle(in)">
                                      <p:cBhvr>
                                        <p:cTn id="36" dur="2000"/>
                                        <p:tgtEl>
                                          <p:spTgt spid="22"/>
                                        </p:tgtEl>
                                      </p:cBhvr>
                                    </p:animEffect>
                                  </p:childTnLst>
                                </p:cTn>
                              </p:par>
                              <p:par>
                                <p:cTn id="37" presetID="6" presetClass="entr" presetSubtype="16"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circle(in)">
                                      <p:cBhvr>
                                        <p:cTn id="39" dur="2000"/>
                                        <p:tgtEl>
                                          <p:spTgt spid="25"/>
                                        </p:tgtEl>
                                      </p:cBhvr>
                                    </p:animEffect>
                                  </p:childTnLst>
                                </p:cTn>
                              </p:par>
                              <p:par>
                                <p:cTn id="40" presetID="6" presetClass="entr" presetSubtype="16" fill="hold" grpId="0" nodeType="with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circle(in)">
                                      <p:cBhvr>
                                        <p:cTn id="42" dur="2000"/>
                                        <p:tgtEl>
                                          <p:spTgt spid="4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51"/>
                                        </p:tgtEl>
                                        <p:attrNameLst>
                                          <p:attrName>style.visibility</p:attrName>
                                        </p:attrNameLst>
                                      </p:cBhvr>
                                      <p:to>
                                        <p:strVal val="visible"/>
                                      </p:to>
                                    </p:set>
                                    <p:animEffect transition="in" filter="wipe(down)">
                                      <p:cBhvr>
                                        <p:cTn id="47" dur="500"/>
                                        <p:tgtEl>
                                          <p:spTgt spid="51"/>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52"/>
                                        </p:tgtEl>
                                        <p:attrNameLst>
                                          <p:attrName>style.visibility</p:attrName>
                                        </p:attrNameLst>
                                      </p:cBhvr>
                                      <p:to>
                                        <p:strVal val="visible"/>
                                      </p:to>
                                    </p:set>
                                    <p:animEffect transition="in" filter="wipe(down)">
                                      <p:cBhvr>
                                        <p:cTn id="50" dur="500"/>
                                        <p:tgtEl>
                                          <p:spTgt spid="52"/>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p:cTn id="55" dur="1000" fill="hold"/>
                                        <p:tgtEl>
                                          <p:spTgt spid="13"/>
                                        </p:tgtEl>
                                        <p:attrNameLst>
                                          <p:attrName>ppt_w</p:attrName>
                                        </p:attrNameLst>
                                      </p:cBhvr>
                                      <p:tavLst>
                                        <p:tav tm="0">
                                          <p:val>
                                            <p:fltVal val="0"/>
                                          </p:val>
                                        </p:tav>
                                        <p:tav tm="100000">
                                          <p:val>
                                            <p:strVal val="#ppt_w"/>
                                          </p:val>
                                        </p:tav>
                                      </p:tavLst>
                                    </p:anim>
                                    <p:anim calcmode="lin" valueType="num">
                                      <p:cBhvr>
                                        <p:cTn id="56" dur="1000" fill="hold"/>
                                        <p:tgtEl>
                                          <p:spTgt spid="13"/>
                                        </p:tgtEl>
                                        <p:attrNameLst>
                                          <p:attrName>ppt_h</p:attrName>
                                        </p:attrNameLst>
                                      </p:cBhvr>
                                      <p:tavLst>
                                        <p:tav tm="0">
                                          <p:val>
                                            <p:fltVal val="0"/>
                                          </p:val>
                                        </p:tav>
                                        <p:tav tm="100000">
                                          <p:val>
                                            <p:strVal val="#ppt_h"/>
                                          </p:val>
                                        </p:tav>
                                      </p:tavLst>
                                    </p:anim>
                                    <p:anim calcmode="lin" valueType="num">
                                      <p:cBhvr>
                                        <p:cTn id="57" dur="1000" fill="hold"/>
                                        <p:tgtEl>
                                          <p:spTgt spid="13"/>
                                        </p:tgtEl>
                                        <p:attrNameLst>
                                          <p:attrName>style.rotation</p:attrName>
                                        </p:attrNameLst>
                                      </p:cBhvr>
                                      <p:tavLst>
                                        <p:tav tm="0">
                                          <p:val>
                                            <p:fltVal val="90"/>
                                          </p:val>
                                        </p:tav>
                                        <p:tav tm="100000">
                                          <p:val>
                                            <p:fltVal val="0"/>
                                          </p:val>
                                        </p:tav>
                                      </p:tavLst>
                                    </p:anim>
                                    <p:animEffect transition="in" filter="fade">
                                      <p:cBhvr>
                                        <p:cTn id="58"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3" grpId="0" animBg="1"/>
      <p:bldP spid="13" grpId="0" animBg="1"/>
      <p:bldP spid="25" grpId="0"/>
      <p:bldP spid="26" grpId="0"/>
      <p:bldP spid="40" grpId="0" animBg="1"/>
      <p:bldP spid="41" grpId="0" animBg="1"/>
      <p:bldP spid="42" grpId="0" animBg="1"/>
      <p:bldP spid="48" grpId="0" animBg="1"/>
      <p:bldP spid="51" grpId="0" animBg="1"/>
      <p:bldP spid="5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F8305D9-E367-167C-2F15-FFB194C55025}"/>
              </a:ext>
            </a:extLst>
          </p:cNvPr>
          <p:cNvSpPr/>
          <p:nvPr/>
        </p:nvSpPr>
        <p:spPr>
          <a:xfrm>
            <a:off x="6343162" y="659944"/>
            <a:ext cx="5410687" cy="4732578"/>
          </a:xfrm>
          <a:prstGeom prst="rect">
            <a:avLst/>
          </a:prstGeom>
        </p:spPr>
        <p:txBody>
          <a:bodyPr wrap="square">
            <a:spAutoFit/>
          </a:bodyPr>
          <a:lstStyle/>
          <a:p>
            <a:pPr algn="r" rtl="1">
              <a:lnSpc>
                <a:spcPct val="150000"/>
              </a:lnSpc>
            </a:pPr>
            <a:r>
              <a:rPr lang="he-IL" sz="1600" dirty="0"/>
              <a:t>מחיר שיווי משקל בשוק האורז בתחילת השנה היה 20 ש''ח וכמות שיווי משקל היתה 100 יח'.</a:t>
            </a:r>
            <a:endParaRPr lang="en-IL" sz="1600" dirty="0"/>
          </a:p>
          <a:p>
            <a:pPr algn="r" rtl="1">
              <a:lnSpc>
                <a:spcPct val="150000"/>
              </a:lnSpc>
            </a:pPr>
            <a:r>
              <a:rPr lang="he-IL" sz="1600" dirty="0"/>
              <a:t>במשק קרו השנה הדברים הבאים:</a:t>
            </a:r>
            <a:endParaRPr lang="en-IL" sz="1600" dirty="0"/>
          </a:p>
          <a:p>
            <a:pPr lvl="1" algn="r" rtl="1">
              <a:lnSpc>
                <a:spcPct val="150000"/>
              </a:lnSpc>
            </a:pPr>
            <a:r>
              <a:rPr lang="he-IL" sz="1600" dirty="0"/>
              <a:t>1. </a:t>
            </a:r>
            <a:r>
              <a:rPr lang="he-IL" sz="1600" dirty="0">
                <a:solidFill>
                  <a:schemeClr val="accent1"/>
                </a:solidFill>
              </a:rPr>
              <a:t>הכנסות המשפחות במשק גדלו</a:t>
            </a:r>
            <a:endParaRPr lang="en-IL" sz="1600" dirty="0">
              <a:solidFill>
                <a:schemeClr val="accent1"/>
              </a:solidFill>
            </a:endParaRPr>
          </a:p>
          <a:p>
            <a:pPr lvl="1" algn="r" rtl="1">
              <a:lnSpc>
                <a:spcPct val="150000"/>
              </a:lnSpc>
            </a:pPr>
            <a:r>
              <a:rPr lang="he-IL" sz="1600" dirty="0"/>
              <a:t>2</a:t>
            </a:r>
            <a:r>
              <a:rPr lang="he-IL" sz="1600" dirty="0">
                <a:solidFill>
                  <a:srgbClr val="C00000"/>
                </a:solidFill>
              </a:rPr>
              <a:t>. עלה מחיר המים שמשמשים כגורם ייצור בייצור האורז</a:t>
            </a:r>
            <a:endParaRPr lang="en-IL" sz="1600" dirty="0">
              <a:solidFill>
                <a:srgbClr val="C00000"/>
              </a:solidFill>
            </a:endParaRPr>
          </a:p>
          <a:p>
            <a:pPr algn="r" rtl="1">
              <a:lnSpc>
                <a:spcPct val="150000"/>
              </a:lnSpc>
            </a:pPr>
            <a:r>
              <a:rPr lang="he-IL" sz="1600" dirty="0"/>
              <a:t>בסוף השנה היה מחיר שיווי משקל 21. מכאן ש:</a:t>
            </a:r>
          </a:p>
          <a:p>
            <a:pPr algn="r" rtl="1">
              <a:lnSpc>
                <a:spcPct val="150000"/>
              </a:lnSpc>
            </a:pPr>
            <a:endParaRPr lang="en-IL" sz="1600" dirty="0"/>
          </a:p>
          <a:p>
            <a:pPr lvl="0" algn="r" rtl="1">
              <a:lnSpc>
                <a:spcPct val="150000"/>
              </a:lnSpc>
            </a:pPr>
            <a:r>
              <a:rPr lang="he-IL" sz="1500" i="1" dirty="0"/>
              <a:t>א. המוצר בהכרח נורמלי</a:t>
            </a:r>
            <a:endParaRPr lang="en-IL" sz="1500" i="1" dirty="0"/>
          </a:p>
          <a:p>
            <a:pPr algn="r" rtl="1">
              <a:lnSpc>
                <a:spcPct val="150000"/>
              </a:lnSpc>
            </a:pPr>
            <a:r>
              <a:rPr lang="he-IL" sz="1500" i="1" dirty="0"/>
              <a:t>ב. המוצר בהכרח מוצר נחות</a:t>
            </a:r>
            <a:endParaRPr lang="en-IL" sz="1500" i="1" dirty="0"/>
          </a:p>
          <a:p>
            <a:pPr algn="r" rtl="1">
              <a:lnSpc>
                <a:spcPct val="150000"/>
              </a:lnSpc>
            </a:pPr>
            <a:r>
              <a:rPr lang="he-IL" sz="1500" i="1" dirty="0"/>
              <a:t>ג. אין אפשרות לדעת בוודאות האם המוצר נורמלי, ניטרלי או נחות</a:t>
            </a:r>
            <a:endParaRPr lang="en-IL" sz="1500" i="1" dirty="0"/>
          </a:p>
          <a:p>
            <a:pPr lvl="0" algn="r" rtl="1">
              <a:lnSpc>
                <a:spcPct val="150000"/>
              </a:lnSpc>
            </a:pPr>
            <a:r>
              <a:rPr lang="he-IL" sz="1500" i="1" dirty="0"/>
              <a:t>ד. אם בסוף השנה כמות שיווי משקל היתה 95, המוצר היה בהכרח נחות</a:t>
            </a:r>
            <a:endParaRPr lang="en-IL" sz="1500" i="1" dirty="0"/>
          </a:p>
          <a:p>
            <a:pPr lvl="0" algn="r" rtl="1">
              <a:lnSpc>
                <a:spcPct val="150000"/>
              </a:lnSpc>
            </a:pPr>
            <a:r>
              <a:rPr lang="he-IL" sz="1500" i="1" dirty="0"/>
              <a:t>ה. יש יותר מתשובה אחת נכונה</a:t>
            </a:r>
            <a:endParaRPr lang="en-IL" sz="1500" i="1" dirty="0"/>
          </a:p>
          <a:p>
            <a:pPr marL="342900" indent="-342900">
              <a:lnSpc>
                <a:spcPct val="150000"/>
              </a:lnSpc>
              <a:buAutoNum type="arabicPeriod"/>
            </a:pPr>
            <a:endParaRPr lang="he-IL" sz="1600" dirty="0">
              <a:latin typeface="David" pitchFamily="34" charset="-79"/>
            </a:endParaRPr>
          </a:p>
        </p:txBody>
      </p:sp>
      <p:sp>
        <p:nvSpPr>
          <p:cNvPr id="5" name="TextBox 4">
            <a:extLst>
              <a:ext uri="{FF2B5EF4-FFF2-40B4-BE49-F238E27FC236}">
                <a16:creationId xmlns:a16="http://schemas.microsoft.com/office/drawing/2014/main" id="{C1385203-EA9E-EBA9-DD52-EFF16DDF8852}"/>
              </a:ext>
            </a:extLst>
          </p:cNvPr>
          <p:cNvSpPr txBox="1"/>
          <p:nvPr/>
        </p:nvSpPr>
        <p:spPr>
          <a:xfrm>
            <a:off x="8671393" y="1109"/>
            <a:ext cx="3082456" cy="658835"/>
          </a:xfrm>
          <a:prstGeom prst="rect">
            <a:avLst/>
          </a:prstGeom>
          <a:noFill/>
        </p:spPr>
        <p:txBody>
          <a:bodyPr wrap="square">
            <a:spAutoFit/>
          </a:bodyPr>
          <a:lstStyle/>
          <a:p>
            <a:pPr algn="r" rtl="1">
              <a:lnSpc>
                <a:spcPct val="150000"/>
              </a:lnSpc>
            </a:pPr>
            <a:r>
              <a:rPr lang="he-IL" sz="2800" b="1" dirty="0">
                <a:latin typeface="David" pitchFamily="34" charset="-79"/>
              </a:rPr>
              <a:t>שאלה 4:</a:t>
            </a:r>
          </a:p>
        </p:txBody>
      </p:sp>
    </p:spTree>
    <p:extLst>
      <p:ext uri="{BB962C8B-B14F-4D97-AF65-F5344CB8AC3E}">
        <p14:creationId xmlns:p14="http://schemas.microsoft.com/office/powerpoint/2010/main" val="27699811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5655D781-E1A9-4EA4-A6E0-B74BE5C5E234}"/>
              </a:ext>
            </a:extLst>
          </p:cNvPr>
          <p:cNvCxnSpPr>
            <a:cxnSpLocks/>
          </p:cNvCxnSpPr>
          <p:nvPr/>
        </p:nvCxnSpPr>
        <p:spPr>
          <a:xfrm>
            <a:off x="2209801" y="3645922"/>
            <a:ext cx="2836161" cy="235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41FAD8C-7A86-4789-84D4-3F45882EDF9B}"/>
              </a:ext>
            </a:extLst>
          </p:cNvPr>
          <p:cNvCxnSpPr>
            <a:cxnSpLocks/>
          </p:cNvCxnSpPr>
          <p:nvPr/>
        </p:nvCxnSpPr>
        <p:spPr>
          <a:xfrm flipV="1">
            <a:off x="2222090" y="914400"/>
            <a:ext cx="0" cy="27315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DEA45035-F9A1-4C23-83C2-1F18C061532A}"/>
              </a:ext>
            </a:extLst>
          </p:cNvPr>
          <p:cNvSpPr/>
          <p:nvPr/>
        </p:nvSpPr>
        <p:spPr>
          <a:xfrm>
            <a:off x="1816210" y="694463"/>
            <a:ext cx="405880" cy="369332"/>
          </a:xfrm>
          <a:prstGeom prst="rect">
            <a:avLst/>
          </a:prstGeom>
        </p:spPr>
        <p:txBody>
          <a:bodyPr wrap="none">
            <a:spAutoFit/>
          </a:bodyPr>
          <a:lstStyle/>
          <a:p>
            <a:r>
              <a:rPr lang="en-US" dirty="0">
                <a:solidFill>
                  <a:prstClr val="black"/>
                </a:solidFill>
              </a:rPr>
              <a:t>Px</a:t>
            </a:r>
            <a:endParaRPr lang="he-IL" dirty="0">
              <a:solidFill>
                <a:prstClr val="black"/>
              </a:solidFill>
            </a:endParaRPr>
          </a:p>
        </p:txBody>
      </p:sp>
      <p:sp>
        <p:nvSpPr>
          <p:cNvPr id="18" name="TextBox 17">
            <a:extLst>
              <a:ext uri="{FF2B5EF4-FFF2-40B4-BE49-F238E27FC236}">
                <a16:creationId xmlns:a16="http://schemas.microsoft.com/office/drawing/2014/main" id="{5D7F713F-E0FB-40DD-B29A-B016CECBCDFF}"/>
              </a:ext>
            </a:extLst>
          </p:cNvPr>
          <p:cNvSpPr txBox="1"/>
          <p:nvPr/>
        </p:nvSpPr>
        <p:spPr>
          <a:xfrm>
            <a:off x="4814508" y="3729757"/>
            <a:ext cx="367093" cy="369332"/>
          </a:xfrm>
          <a:prstGeom prst="rect">
            <a:avLst/>
          </a:prstGeom>
          <a:noFill/>
        </p:spPr>
        <p:txBody>
          <a:bodyPr wrap="square" rtlCol="1">
            <a:spAutoFit/>
          </a:bodyPr>
          <a:lstStyle/>
          <a:p>
            <a:r>
              <a:rPr lang="en-US" dirty="0">
                <a:solidFill>
                  <a:prstClr val="black"/>
                </a:solidFill>
              </a:rPr>
              <a:t>Q</a:t>
            </a:r>
            <a:endParaRPr lang="he-IL" dirty="0">
              <a:solidFill>
                <a:prstClr val="black"/>
              </a:solidFill>
            </a:endParaRPr>
          </a:p>
        </p:txBody>
      </p:sp>
      <p:cxnSp>
        <p:nvCxnSpPr>
          <p:cNvPr id="20" name="מחבר ישר 13">
            <a:extLst>
              <a:ext uri="{FF2B5EF4-FFF2-40B4-BE49-F238E27FC236}">
                <a16:creationId xmlns:a16="http://schemas.microsoft.com/office/drawing/2014/main" id="{820B12E4-C110-446B-93C2-A733E41394FB}"/>
              </a:ext>
            </a:extLst>
          </p:cNvPr>
          <p:cNvCxnSpPr>
            <a:cxnSpLocks/>
          </p:cNvCxnSpPr>
          <p:nvPr/>
        </p:nvCxnSpPr>
        <p:spPr>
          <a:xfrm>
            <a:off x="2209801" y="1542350"/>
            <a:ext cx="2697695" cy="206686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65F1A90-2B7B-43D2-AC75-9B82D3884CE9}"/>
              </a:ext>
            </a:extLst>
          </p:cNvPr>
          <p:cNvSpPr txBox="1"/>
          <p:nvPr/>
        </p:nvSpPr>
        <p:spPr>
          <a:xfrm>
            <a:off x="4651725" y="3270250"/>
            <a:ext cx="405881" cy="369332"/>
          </a:xfrm>
          <a:prstGeom prst="rect">
            <a:avLst/>
          </a:prstGeom>
          <a:noFill/>
        </p:spPr>
        <p:txBody>
          <a:bodyPr wrap="none" rtlCol="1">
            <a:spAutoFit/>
          </a:bodyPr>
          <a:lstStyle/>
          <a:p>
            <a:r>
              <a:rPr lang="en-US" dirty="0">
                <a:solidFill>
                  <a:prstClr val="black"/>
                </a:solidFill>
              </a:rPr>
              <a:t>D</a:t>
            </a:r>
            <a:r>
              <a:rPr lang="en-US" baseline="-25000" dirty="0">
                <a:solidFill>
                  <a:prstClr val="black"/>
                </a:solidFill>
              </a:rPr>
              <a:t>0</a:t>
            </a:r>
            <a:endParaRPr lang="he-IL" baseline="-25000" dirty="0">
              <a:solidFill>
                <a:prstClr val="black"/>
              </a:solidFill>
            </a:endParaRPr>
          </a:p>
        </p:txBody>
      </p:sp>
      <p:sp>
        <p:nvSpPr>
          <p:cNvPr id="26" name="TextBox 25">
            <a:extLst>
              <a:ext uri="{FF2B5EF4-FFF2-40B4-BE49-F238E27FC236}">
                <a16:creationId xmlns:a16="http://schemas.microsoft.com/office/drawing/2014/main" id="{CAF4B609-C3AF-40F7-B498-23D2A6E267C8}"/>
              </a:ext>
            </a:extLst>
          </p:cNvPr>
          <p:cNvSpPr txBox="1"/>
          <p:nvPr/>
        </p:nvSpPr>
        <p:spPr>
          <a:xfrm>
            <a:off x="3456819" y="3657697"/>
            <a:ext cx="760144" cy="307777"/>
          </a:xfrm>
          <a:prstGeom prst="rect">
            <a:avLst/>
          </a:prstGeom>
          <a:noFill/>
        </p:spPr>
        <p:txBody>
          <a:bodyPr wrap="none" rtlCol="1">
            <a:spAutoFit/>
          </a:bodyPr>
          <a:lstStyle/>
          <a:p>
            <a:r>
              <a:rPr lang="en-US" sz="1400" dirty="0">
                <a:solidFill>
                  <a:prstClr val="black"/>
                </a:solidFill>
              </a:rPr>
              <a:t>Q1=100</a:t>
            </a:r>
            <a:endParaRPr lang="he-IL" sz="1400" dirty="0">
              <a:solidFill>
                <a:prstClr val="black"/>
              </a:solidFill>
            </a:endParaRPr>
          </a:p>
        </p:txBody>
      </p:sp>
      <p:cxnSp>
        <p:nvCxnSpPr>
          <p:cNvPr id="27" name="מחבר ישר 15">
            <a:extLst>
              <a:ext uri="{FF2B5EF4-FFF2-40B4-BE49-F238E27FC236}">
                <a16:creationId xmlns:a16="http://schemas.microsoft.com/office/drawing/2014/main" id="{33B0FEB4-9EA7-4EE0-95C6-97B2D7C59C33}"/>
              </a:ext>
            </a:extLst>
          </p:cNvPr>
          <p:cNvCxnSpPr>
            <a:cxnSpLocks/>
          </p:cNvCxnSpPr>
          <p:nvPr/>
        </p:nvCxnSpPr>
        <p:spPr>
          <a:xfrm flipV="1">
            <a:off x="2351745" y="1768806"/>
            <a:ext cx="2694217" cy="173639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D07CF66-401A-4FC4-A759-5F26AD3AB943}"/>
              </a:ext>
            </a:extLst>
          </p:cNvPr>
          <p:cNvSpPr txBox="1"/>
          <p:nvPr/>
        </p:nvSpPr>
        <p:spPr>
          <a:xfrm>
            <a:off x="4984378" y="1598196"/>
            <a:ext cx="369012" cy="369332"/>
          </a:xfrm>
          <a:prstGeom prst="rect">
            <a:avLst/>
          </a:prstGeom>
          <a:noFill/>
        </p:spPr>
        <p:txBody>
          <a:bodyPr wrap="none" rtlCol="1">
            <a:spAutoFit/>
          </a:bodyPr>
          <a:lstStyle/>
          <a:p>
            <a:r>
              <a:rPr lang="en-US" dirty="0">
                <a:solidFill>
                  <a:prstClr val="black"/>
                </a:solidFill>
              </a:rPr>
              <a:t>S</a:t>
            </a:r>
            <a:r>
              <a:rPr lang="en-US" baseline="-25000" dirty="0">
                <a:solidFill>
                  <a:prstClr val="black"/>
                </a:solidFill>
              </a:rPr>
              <a:t>0</a:t>
            </a:r>
            <a:endParaRPr lang="he-IL" baseline="-25000" dirty="0">
              <a:solidFill>
                <a:prstClr val="black"/>
              </a:solidFill>
            </a:endParaRPr>
          </a:p>
        </p:txBody>
      </p:sp>
      <p:cxnSp>
        <p:nvCxnSpPr>
          <p:cNvPr id="32" name="Straight Connector 31">
            <a:extLst>
              <a:ext uri="{FF2B5EF4-FFF2-40B4-BE49-F238E27FC236}">
                <a16:creationId xmlns:a16="http://schemas.microsoft.com/office/drawing/2014/main" id="{526C23A6-52A6-4311-8A5A-C246C96954BB}"/>
              </a:ext>
            </a:extLst>
          </p:cNvPr>
          <p:cNvCxnSpPr>
            <a:cxnSpLocks/>
          </p:cNvCxnSpPr>
          <p:nvPr/>
        </p:nvCxnSpPr>
        <p:spPr>
          <a:xfrm flipH="1">
            <a:off x="2222090" y="2660936"/>
            <a:ext cx="1464784"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Straight Connector 32">
            <a:extLst>
              <a:ext uri="{FF2B5EF4-FFF2-40B4-BE49-F238E27FC236}">
                <a16:creationId xmlns:a16="http://schemas.microsoft.com/office/drawing/2014/main" id="{2DC2CB8E-11CC-4DB2-98CB-D5EB4265DADE}"/>
              </a:ext>
            </a:extLst>
          </p:cNvPr>
          <p:cNvCxnSpPr>
            <a:cxnSpLocks/>
          </p:cNvCxnSpPr>
          <p:nvPr/>
        </p:nvCxnSpPr>
        <p:spPr>
          <a:xfrm>
            <a:off x="3679706" y="2698424"/>
            <a:ext cx="0" cy="97738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C2D7CFAA-7220-46BC-B910-511D38A14197}"/>
                  </a:ext>
                </a:extLst>
              </p:cNvPr>
              <p:cNvSpPr/>
              <p:nvPr/>
            </p:nvSpPr>
            <p:spPr>
              <a:xfrm>
                <a:off x="2084570" y="2605369"/>
                <a:ext cx="219932"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b="1" i="1">
                          <a:latin typeface="Cambria Math" panose="02040503050406030204" pitchFamily="18" charset="0"/>
                          <a:cs typeface="David" pitchFamily="34" charset="-79"/>
                        </a:rPr>
                        <m:t>𝑷</m:t>
                      </m:r>
                      <m:r>
                        <a:rPr lang="en-US" sz="1200" b="1" i="1">
                          <a:latin typeface="Cambria Math" panose="02040503050406030204" pitchFamily="18" charset="0"/>
                          <a:cs typeface="David" pitchFamily="34" charset="-79"/>
                        </a:rPr>
                        <m:t>𝟏</m:t>
                      </m:r>
                      <m:r>
                        <a:rPr lang="en-US" sz="1200" b="1" i="1">
                          <a:latin typeface="Cambria Math" panose="02040503050406030204" pitchFamily="18" charset="0"/>
                          <a:cs typeface="David" pitchFamily="34" charset="-79"/>
                        </a:rPr>
                        <m:t>=</m:t>
                      </m:r>
                      <m:r>
                        <a:rPr lang="he-IL" sz="1200" b="1" i="1">
                          <a:latin typeface="Cambria Math" panose="02040503050406030204" pitchFamily="18" charset="0"/>
                          <a:cs typeface="David" pitchFamily="34" charset="-79"/>
                        </a:rPr>
                        <m:t>𝟐𝟎</m:t>
                      </m:r>
                    </m:oMath>
                  </m:oMathPara>
                </a14:m>
                <a:endParaRPr lang="en-IL" sz="1200" dirty="0"/>
              </a:p>
            </p:txBody>
          </p:sp>
        </mc:Choice>
        <mc:Fallback xmlns="">
          <p:sp>
            <p:nvSpPr>
              <p:cNvPr id="49" name="Rectangle 48">
                <a:extLst>
                  <a:ext uri="{FF2B5EF4-FFF2-40B4-BE49-F238E27FC236}">
                    <a16:creationId xmlns:a16="http://schemas.microsoft.com/office/drawing/2014/main" id="{C2D7CFAA-7220-46BC-B910-511D38A14197}"/>
                  </a:ext>
                </a:extLst>
              </p:cNvPr>
              <p:cNvSpPr>
                <a:spLocks noRot="1" noChangeAspect="1" noMove="1" noResize="1" noEditPoints="1" noAdjustHandles="1" noChangeArrowheads="1" noChangeShapeType="1" noTextEdit="1"/>
              </p:cNvSpPr>
              <p:nvPr/>
            </p:nvSpPr>
            <p:spPr>
              <a:xfrm>
                <a:off x="2084570" y="2605369"/>
                <a:ext cx="219932" cy="276999"/>
              </a:xfrm>
              <a:prstGeom prst="rect">
                <a:avLst/>
              </a:prstGeom>
              <a:blipFill>
                <a:blip r:embed="rId2"/>
                <a:stretch>
                  <a:fillRect r="-230556"/>
                </a:stretch>
              </a:blipFill>
            </p:spPr>
            <p:txBody>
              <a:bodyPr/>
              <a:lstStyle/>
              <a:p>
                <a:r>
                  <a:rPr lang="en-IL">
                    <a:noFill/>
                  </a:rPr>
                  <a:t> </a:t>
                </a:r>
              </a:p>
            </p:txBody>
          </p:sp>
        </mc:Fallback>
      </mc:AlternateContent>
      <p:sp>
        <p:nvSpPr>
          <p:cNvPr id="34" name="Title 1">
            <a:extLst>
              <a:ext uri="{FF2B5EF4-FFF2-40B4-BE49-F238E27FC236}">
                <a16:creationId xmlns:a16="http://schemas.microsoft.com/office/drawing/2014/main" id="{1FC4C539-9ECB-47DC-AFB1-7452654F7D5F}"/>
              </a:ext>
            </a:extLst>
          </p:cNvPr>
          <p:cNvSpPr>
            <a:spLocks noGrp="1"/>
          </p:cNvSpPr>
          <p:nvPr>
            <p:ph type="title"/>
          </p:nvPr>
        </p:nvSpPr>
        <p:spPr>
          <a:xfrm>
            <a:off x="2352281" y="87976"/>
            <a:ext cx="6428969" cy="321051"/>
          </a:xfrm>
        </p:spPr>
        <p:txBody>
          <a:bodyPr>
            <a:normAutofit fontScale="90000"/>
          </a:bodyPr>
          <a:lstStyle/>
          <a:p>
            <a:pPr algn="ctr"/>
            <a:r>
              <a:rPr lang="he-IL" dirty="0"/>
              <a:t>שינויים בנקודת שיווי המשקל</a:t>
            </a:r>
            <a:endParaRPr lang="en-US" dirty="0"/>
          </a:p>
        </p:txBody>
      </p:sp>
      <p:sp>
        <p:nvSpPr>
          <p:cNvPr id="67" name="Slide Number Placeholder 66">
            <a:extLst>
              <a:ext uri="{FF2B5EF4-FFF2-40B4-BE49-F238E27FC236}">
                <a16:creationId xmlns:a16="http://schemas.microsoft.com/office/drawing/2014/main" id="{D35F540A-7C1A-4524-9B8F-8C4EFF5AA37B}"/>
              </a:ext>
            </a:extLst>
          </p:cNvPr>
          <p:cNvSpPr>
            <a:spLocks noGrp="1"/>
          </p:cNvSpPr>
          <p:nvPr>
            <p:ph type="sldNum" sz="quarter" idx="12"/>
          </p:nvPr>
        </p:nvSpPr>
        <p:spPr/>
        <p:txBody>
          <a:bodyPr/>
          <a:lstStyle/>
          <a:p>
            <a:fld id="{EE4A799E-BCDC-47C4-95D4-74FB8914F55A}" type="slidenum">
              <a:rPr lang="en-US" smtClean="0"/>
              <a:t>33</a:t>
            </a:fld>
            <a:endParaRPr lang="en-US"/>
          </a:p>
        </p:txBody>
      </p:sp>
      <p:sp>
        <p:nvSpPr>
          <p:cNvPr id="36" name="Rectangle 35">
            <a:extLst>
              <a:ext uri="{FF2B5EF4-FFF2-40B4-BE49-F238E27FC236}">
                <a16:creationId xmlns:a16="http://schemas.microsoft.com/office/drawing/2014/main" id="{11705E92-817A-47E8-B611-634B6F0B4F79}"/>
              </a:ext>
            </a:extLst>
          </p:cNvPr>
          <p:cNvSpPr/>
          <p:nvPr/>
        </p:nvSpPr>
        <p:spPr>
          <a:xfrm>
            <a:off x="6836269" y="659944"/>
            <a:ext cx="4955678" cy="5448158"/>
          </a:xfrm>
          <a:prstGeom prst="rect">
            <a:avLst/>
          </a:prstGeom>
        </p:spPr>
        <p:txBody>
          <a:bodyPr wrap="square">
            <a:spAutoFit/>
          </a:bodyPr>
          <a:lstStyle/>
          <a:p>
            <a:pPr algn="r" rtl="1">
              <a:lnSpc>
                <a:spcPct val="150000"/>
              </a:lnSpc>
            </a:pPr>
            <a:r>
              <a:rPr lang="he-IL" sz="1600" dirty="0"/>
              <a:t>מחיר שיווי משקל בשוק האורז בתחילת השנה היה 20 ש''ח וכמות שיווי משקל היתה 100 יח'.</a:t>
            </a:r>
            <a:endParaRPr lang="en-IL" sz="1600" dirty="0"/>
          </a:p>
          <a:p>
            <a:pPr algn="r" rtl="1">
              <a:lnSpc>
                <a:spcPct val="150000"/>
              </a:lnSpc>
            </a:pPr>
            <a:r>
              <a:rPr lang="he-IL" sz="1600" dirty="0"/>
              <a:t>במשק קרו השנה הדברים הבאים:</a:t>
            </a:r>
            <a:endParaRPr lang="en-IL" sz="1600" dirty="0"/>
          </a:p>
          <a:p>
            <a:pPr lvl="1" algn="r" rtl="1">
              <a:lnSpc>
                <a:spcPct val="150000"/>
              </a:lnSpc>
            </a:pPr>
            <a:r>
              <a:rPr lang="he-IL" sz="1600" dirty="0"/>
              <a:t>1. </a:t>
            </a:r>
            <a:r>
              <a:rPr lang="he-IL" sz="1600" dirty="0">
                <a:solidFill>
                  <a:schemeClr val="accent1"/>
                </a:solidFill>
              </a:rPr>
              <a:t>הכנסות המשפחות במשק גדלו</a:t>
            </a:r>
            <a:endParaRPr lang="en-IL" sz="1600" dirty="0">
              <a:solidFill>
                <a:schemeClr val="accent1"/>
              </a:solidFill>
            </a:endParaRPr>
          </a:p>
          <a:p>
            <a:pPr lvl="1" algn="r" rtl="1">
              <a:lnSpc>
                <a:spcPct val="150000"/>
              </a:lnSpc>
            </a:pPr>
            <a:r>
              <a:rPr lang="he-IL" sz="1600" dirty="0"/>
              <a:t>2</a:t>
            </a:r>
            <a:r>
              <a:rPr lang="he-IL" sz="1600" dirty="0">
                <a:solidFill>
                  <a:srgbClr val="C00000"/>
                </a:solidFill>
              </a:rPr>
              <a:t>. עלה מחיר המים שמשמשים כגורם ייצור בייצור האורז</a:t>
            </a:r>
            <a:endParaRPr lang="en-IL" sz="1600" dirty="0">
              <a:solidFill>
                <a:srgbClr val="C00000"/>
              </a:solidFill>
            </a:endParaRPr>
          </a:p>
          <a:p>
            <a:pPr algn="r" rtl="1">
              <a:lnSpc>
                <a:spcPct val="150000"/>
              </a:lnSpc>
            </a:pPr>
            <a:r>
              <a:rPr lang="he-IL" sz="1600" dirty="0"/>
              <a:t>בסוף השנה היה מחיר שיווי משקל 21. מכאן ש:</a:t>
            </a:r>
          </a:p>
          <a:p>
            <a:pPr algn="r" rtl="1">
              <a:lnSpc>
                <a:spcPct val="150000"/>
              </a:lnSpc>
            </a:pPr>
            <a:endParaRPr lang="en-IL" sz="1600" dirty="0"/>
          </a:p>
          <a:p>
            <a:pPr lvl="0" algn="r" rtl="1">
              <a:lnSpc>
                <a:spcPct val="150000"/>
              </a:lnSpc>
            </a:pPr>
            <a:r>
              <a:rPr lang="he-IL" sz="1500" i="1" dirty="0"/>
              <a:t>א. המוצר בהכרח נורמלי</a:t>
            </a:r>
            <a:endParaRPr lang="en-IL" sz="1500" i="1" dirty="0"/>
          </a:p>
          <a:p>
            <a:pPr algn="r" rtl="1">
              <a:lnSpc>
                <a:spcPct val="150000"/>
              </a:lnSpc>
            </a:pPr>
            <a:r>
              <a:rPr lang="he-IL" sz="1500" i="1" dirty="0"/>
              <a:t>ב. המוצר בהכרח מוצר נחות</a:t>
            </a:r>
            <a:endParaRPr lang="en-IL" sz="1500" i="1" dirty="0"/>
          </a:p>
          <a:p>
            <a:pPr algn="r" rtl="1">
              <a:lnSpc>
                <a:spcPct val="150000"/>
              </a:lnSpc>
            </a:pPr>
            <a:r>
              <a:rPr lang="he-IL" sz="1500" i="1" dirty="0"/>
              <a:t>ג. אין אפשרות לדעת בוודאות האם המוצר נורמלי, ניטרלי או נחות</a:t>
            </a:r>
            <a:endParaRPr lang="en-IL" sz="1500" i="1" dirty="0"/>
          </a:p>
          <a:p>
            <a:pPr lvl="0" algn="r" rtl="1">
              <a:lnSpc>
                <a:spcPct val="150000"/>
              </a:lnSpc>
            </a:pPr>
            <a:r>
              <a:rPr lang="he-IL" sz="1500" i="1" dirty="0"/>
              <a:t>ד. אם בסוף השנה כמות שיווי משקל היתה 95, המוצר היה בהכרח נחות</a:t>
            </a:r>
            <a:endParaRPr lang="en-IL" sz="1500" i="1" dirty="0"/>
          </a:p>
          <a:p>
            <a:pPr lvl="0" algn="r" rtl="1">
              <a:lnSpc>
                <a:spcPct val="150000"/>
              </a:lnSpc>
            </a:pPr>
            <a:r>
              <a:rPr lang="he-IL" sz="1500" i="1" dirty="0"/>
              <a:t>ה. יש יותר מתשובה אחת נכונה</a:t>
            </a:r>
            <a:endParaRPr lang="en-IL" sz="1500" i="1" dirty="0"/>
          </a:p>
          <a:p>
            <a:pPr marL="342900" indent="-342900">
              <a:lnSpc>
                <a:spcPct val="150000"/>
              </a:lnSpc>
              <a:buAutoNum type="arabicPeriod"/>
            </a:pPr>
            <a:endParaRPr lang="he-IL" sz="1600" dirty="0">
              <a:latin typeface="David" pitchFamily="34" charset="-79"/>
            </a:endParaRPr>
          </a:p>
        </p:txBody>
      </p:sp>
      <p:sp>
        <p:nvSpPr>
          <p:cNvPr id="58" name="Oval 57">
            <a:extLst>
              <a:ext uri="{FF2B5EF4-FFF2-40B4-BE49-F238E27FC236}">
                <a16:creationId xmlns:a16="http://schemas.microsoft.com/office/drawing/2014/main" id="{9197B85C-4AA9-4E39-B64C-0C17261F0A3D}"/>
              </a:ext>
            </a:extLst>
          </p:cNvPr>
          <p:cNvSpPr/>
          <p:nvPr/>
        </p:nvSpPr>
        <p:spPr>
          <a:xfrm>
            <a:off x="3596009" y="2559942"/>
            <a:ext cx="234517" cy="21034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A</a:t>
            </a:r>
            <a:endParaRPr lang="en-IL" dirty="0"/>
          </a:p>
        </p:txBody>
      </p:sp>
      <p:cxnSp>
        <p:nvCxnSpPr>
          <p:cNvPr id="19" name="מחבר ישר 15">
            <a:extLst>
              <a:ext uri="{FF2B5EF4-FFF2-40B4-BE49-F238E27FC236}">
                <a16:creationId xmlns:a16="http://schemas.microsoft.com/office/drawing/2014/main" id="{87F76BAC-94E7-47CE-942D-313606BF6A8E}"/>
              </a:ext>
            </a:extLst>
          </p:cNvPr>
          <p:cNvCxnSpPr>
            <a:cxnSpLocks/>
          </p:cNvCxnSpPr>
          <p:nvPr/>
        </p:nvCxnSpPr>
        <p:spPr>
          <a:xfrm flipV="1">
            <a:off x="2297283" y="1290198"/>
            <a:ext cx="2754489" cy="175780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7C9DB6BC-52B3-4CA2-BE4B-F49FBCD5957D}"/>
              </a:ext>
            </a:extLst>
          </p:cNvPr>
          <p:cNvSpPr txBox="1"/>
          <p:nvPr/>
        </p:nvSpPr>
        <p:spPr>
          <a:xfrm>
            <a:off x="4924934" y="953262"/>
            <a:ext cx="369012" cy="369332"/>
          </a:xfrm>
          <a:prstGeom prst="rect">
            <a:avLst/>
          </a:prstGeom>
          <a:noFill/>
          <a:ln>
            <a:noFill/>
          </a:ln>
        </p:spPr>
        <p:txBody>
          <a:bodyPr wrap="none" rtlCol="1">
            <a:spAutoFit/>
          </a:bodyPr>
          <a:lstStyle/>
          <a:p>
            <a:r>
              <a:rPr lang="en-US" dirty="0">
                <a:solidFill>
                  <a:srgbClr val="C00000"/>
                </a:solidFill>
              </a:rPr>
              <a:t>S</a:t>
            </a:r>
            <a:r>
              <a:rPr lang="en-US" baseline="-25000" dirty="0">
                <a:solidFill>
                  <a:srgbClr val="C00000"/>
                </a:solidFill>
              </a:rPr>
              <a:t>1</a:t>
            </a:r>
            <a:endParaRPr lang="he-IL" baseline="-25000" dirty="0">
              <a:solidFill>
                <a:srgbClr val="C00000"/>
              </a:solidFill>
            </a:endParaRPr>
          </a:p>
        </p:txBody>
      </p:sp>
      <p:cxnSp>
        <p:nvCxnSpPr>
          <p:cNvPr id="23" name="Straight Arrow Connector 22">
            <a:extLst>
              <a:ext uri="{FF2B5EF4-FFF2-40B4-BE49-F238E27FC236}">
                <a16:creationId xmlns:a16="http://schemas.microsoft.com/office/drawing/2014/main" id="{6A4148B7-C904-466D-A08A-E77EF22E3B49}"/>
              </a:ext>
            </a:extLst>
          </p:cNvPr>
          <p:cNvCxnSpPr>
            <a:cxnSpLocks/>
          </p:cNvCxnSpPr>
          <p:nvPr/>
        </p:nvCxnSpPr>
        <p:spPr>
          <a:xfrm flipH="1" flipV="1">
            <a:off x="2734561" y="2841339"/>
            <a:ext cx="94332" cy="3090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2D85167-F66B-4AA2-8C71-DB29756371C3}"/>
              </a:ext>
            </a:extLst>
          </p:cNvPr>
          <p:cNvCxnSpPr>
            <a:cxnSpLocks/>
          </p:cNvCxnSpPr>
          <p:nvPr/>
        </p:nvCxnSpPr>
        <p:spPr>
          <a:xfrm flipH="1" flipV="1">
            <a:off x="4433004" y="1821038"/>
            <a:ext cx="80460" cy="24422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EAE54651-CDE5-42A3-9A45-AA0FA4562415}"/>
              </a:ext>
            </a:extLst>
          </p:cNvPr>
          <p:cNvSpPr/>
          <p:nvPr/>
        </p:nvSpPr>
        <p:spPr>
          <a:xfrm>
            <a:off x="3252409" y="2257596"/>
            <a:ext cx="223995" cy="2238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endParaRPr lang="en-IL" dirty="0"/>
          </a:p>
        </p:txBody>
      </p:sp>
      <p:cxnSp>
        <p:nvCxnSpPr>
          <p:cNvPr id="29" name="Straight Connector 28">
            <a:extLst>
              <a:ext uri="{FF2B5EF4-FFF2-40B4-BE49-F238E27FC236}">
                <a16:creationId xmlns:a16="http://schemas.microsoft.com/office/drawing/2014/main" id="{94D711F3-7897-424C-AF98-9EFFAF819961}"/>
              </a:ext>
            </a:extLst>
          </p:cNvPr>
          <p:cNvCxnSpPr>
            <a:cxnSpLocks/>
          </p:cNvCxnSpPr>
          <p:nvPr/>
        </p:nvCxnSpPr>
        <p:spPr>
          <a:xfrm flipH="1">
            <a:off x="2250041" y="2380554"/>
            <a:ext cx="1027224"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0" name="Straight Connector 29">
            <a:extLst>
              <a:ext uri="{FF2B5EF4-FFF2-40B4-BE49-F238E27FC236}">
                <a16:creationId xmlns:a16="http://schemas.microsoft.com/office/drawing/2014/main" id="{5638DF55-C306-41EF-BCF9-FE1546E6FCD6}"/>
              </a:ext>
            </a:extLst>
          </p:cNvPr>
          <p:cNvCxnSpPr>
            <a:cxnSpLocks/>
          </p:cNvCxnSpPr>
          <p:nvPr/>
        </p:nvCxnSpPr>
        <p:spPr>
          <a:xfrm flipH="1">
            <a:off x="3325036" y="2477211"/>
            <a:ext cx="18638" cy="1212102"/>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1" name="Rectangle 30">
            <a:extLst>
              <a:ext uri="{FF2B5EF4-FFF2-40B4-BE49-F238E27FC236}">
                <a16:creationId xmlns:a16="http://schemas.microsoft.com/office/drawing/2014/main" id="{79095AEE-EE7C-426C-B4CB-00FCC11B049F}"/>
              </a:ext>
            </a:extLst>
          </p:cNvPr>
          <p:cNvSpPr/>
          <p:nvPr/>
        </p:nvSpPr>
        <p:spPr>
          <a:xfrm>
            <a:off x="3122824" y="3625957"/>
            <a:ext cx="396262" cy="307777"/>
          </a:xfrm>
          <a:prstGeom prst="rect">
            <a:avLst/>
          </a:prstGeom>
        </p:spPr>
        <p:txBody>
          <a:bodyPr wrap="none">
            <a:spAutoFit/>
          </a:bodyPr>
          <a:lstStyle/>
          <a:p>
            <a:r>
              <a:rPr lang="en-US" sz="1400" dirty="0">
                <a:solidFill>
                  <a:prstClr val="black"/>
                </a:solidFill>
              </a:rPr>
              <a:t>Q2</a:t>
            </a:r>
            <a:endParaRPr lang="he-IL" sz="1400" dirty="0">
              <a:solidFill>
                <a:prstClr val="black"/>
              </a:solidFill>
            </a:endParaRPr>
          </a:p>
        </p:txBody>
      </p:sp>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A3F6E758-EC65-47B3-B90E-22810FCD2340}"/>
                  </a:ext>
                </a:extLst>
              </p:cNvPr>
              <p:cNvSpPr/>
              <p:nvPr/>
            </p:nvSpPr>
            <p:spPr>
              <a:xfrm>
                <a:off x="2004063" y="2184954"/>
                <a:ext cx="219932"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b="1" i="1">
                          <a:latin typeface="Cambria Math" panose="02040503050406030204" pitchFamily="18" charset="0"/>
                          <a:cs typeface="David" pitchFamily="34" charset="-79"/>
                        </a:rPr>
                        <m:t>𝑷</m:t>
                      </m:r>
                      <m:r>
                        <a:rPr lang="en-US" sz="1200" b="1" i="1">
                          <a:latin typeface="Cambria Math" panose="02040503050406030204" pitchFamily="18" charset="0"/>
                          <a:cs typeface="David" pitchFamily="34" charset="-79"/>
                        </a:rPr>
                        <m:t>𝟐</m:t>
                      </m:r>
                    </m:oMath>
                  </m:oMathPara>
                </a14:m>
                <a:endParaRPr lang="en-IL" sz="1200" dirty="0"/>
              </a:p>
            </p:txBody>
          </p:sp>
        </mc:Choice>
        <mc:Fallback xmlns="">
          <p:sp>
            <p:nvSpPr>
              <p:cNvPr id="35" name="Rectangle 34">
                <a:extLst>
                  <a:ext uri="{FF2B5EF4-FFF2-40B4-BE49-F238E27FC236}">
                    <a16:creationId xmlns:a16="http://schemas.microsoft.com/office/drawing/2014/main" id="{A3F6E758-EC65-47B3-B90E-22810FCD2340}"/>
                  </a:ext>
                </a:extLst>
              </p:cNvPr>
              <p:cNvSpPr>
                <a:spLocks noRot="1" noChangeAspect="1" noMove="1" noResize="1" noEditPoints="1" noAdjustHandles="1" noChangeArrowheads="1" noChangeShapeType="1" noTextEdit="1"/>
              </p:cNvSpPr>
              <p:nvPr/>
            </p:nvSpPr>
            <p:spPr>
              <a:xfrm>
                <a:off x="2004063" y="2184954"/>
                <a:ext cx="219932" cy="276999"/>
              </a:xfrm>
              <a:prstGeom prst="rect">
                <a:avLst/>
              </a:prstGeom>
              <a:blipFill>
                <a:blip r:embed="rId3"/>
                <a:stretch>
                  <a:fillRect r="-55556"/>
                </a:stretch>
              </a:blipFill>
            </p:spPr>
            <p:txBody>
              <a:bodyPr/>
              <a:lstStyle/>
              <a:p>
                <a:r>
                  <a:rPr lang="en-IL">
                    <a:noFill/>
                  </a:rPr>
                  <a:t> </a:t>
                </a:r>
              </a:p>
            </p:txBody>
          </p:sp>
        </mc:Fallback>
      </mc:AlternateContent>
      <p:sp>
        <p:nvSpPr>
          <p:cNvPr id="6" name="TextBox 5">
            <a:extLst>
              <a:ext uri="{FF2B5EF4-FFF2-40B4-BE49-F238E27FC236}">
                <a16:creationId xmlns:a16="http://schemas.microsoft.com/office/drawing/2014/main" id="{CCA47B54-A372-4887-918B-AB5C94EE6F2B}"/>
              </a:ext>
            </a:extLst>
          </p:cNvPr>
          <p:cNvSpPr txBox="1"/>
          <p:nvPr/>
        </p:nvSpPr>
        <p:spPr>
          <a:xfrm>
            <a:off x="1415707" y="4092834"/>
            <a:ext cx="4946129" cy="369332"/>
          </a:xfrm>
          <a:prstGeom prst="rect">
            <a:avLst/>
          </a:prstGeom>
          <a:solidFill>
            <a:schemeClr val="accent1">
              <a:lumMod val="20000"/>
              <a:lumOff val="80000"/>
            </a:schemeClr>
          </a:solidFill>
        </p:spPr>
        <p:txBody>
          <a:bodyPr wrap="square" rtlCol="0">
            <a:spAutoFit/>
          </a:bodyPr>
          <a:lstStyle/>
          <a:p>
            <a:pPr algn="ctr"/>
            <a:r>
              <a:rPr lang="he-IL" sz="1400" dirty="0"/>
              <a:t>כיצד עלייה בהכנסות הצרכנים משפיעה על עקומת הביקוש</a:t>
            </a:r>
            <a:r>
              <a:rPr lang="he-IL" dirty="0"/>
              <a:t>?</a:t>
            </a:r>
            <a:endParaRPr lang="en-IL" dirty="0"/>
          </a:p>
        </p:txBody>
      </p:sp>
      <p:sp>
        <p:nvSpPr>
          <p:cNvPr id="37" name="TextBox 36">
            <a:extLst>
              <a:ext uri="{FF2B5EF4-FFF2-40B4-BE49-F238E27FC236}">
                <a16:creationId xmlns:a16="http://schemas.microsoft.com/office/drawing/2014/main" id="{444F7770-DA24-4A8B-8661-07411A5506AA}"/>
              </a:ext>
            </a:extLst>
          </p:cNvPr>
          <p:cNvSpPr txBox="1"/>
          <p:nvPr/>
        </p:nvSpPr>
        <p:spPr>
          <a:xfrm>
            <a:off x="1558729" y="4608296"/>
            <a:ext cx="4518282" cy="738664"/>
          </a:xfrm>
          <a:prstGeom prst="rect">
            <a:avLst/>
          </a:prstGeom>
          <a:solidFill>
            <a:schemeClr val="bg1">
              <a:lumMod val="95000"/>
            </a:schemeClr>
          </a:solidFill>
        </p:spPr>
        <p:txBody>
          <a:bodyPr wrap="square" rtlCol="0">
            <a:spAutoFit/>
          </a:bodyPr>
          <a:lstStyle/>
          <a:p>
            <a:pPr algn="r" rtl="1"/>
            <a:r>
              <a:rPr lang="he-IL" sz="1400" dirty="0"/>
              <a:t>- אם מוצר אורז הינו </a:t>
            </a:r>
            <a:r>
              <a:rPr lang="he-IL" sz="1400" b="1" dirty="0"/>
              <a:t>מוצר נייטרלי</a:t>
            </a:r>
            <a:r>
              <a:rPr lang="he-IL" sz="1400" dirty="0"/>
              <a:t>, אזי לא תהיה תזוזה בעקומת הביקוש ונקודה </a:t>
            </a:r>
            <a:r>
              <a:rPr lang="en-US" sz="1400" dirty="0"/>
              <a:t>B</a:t>
            </a:r>
            <a:r>
              <a:rPr lang="he-IL" sz="1400" dirty="0"/>
              <a:t> תהיה נקודת שיווי</a:t>
            </a:r>
            <a:r>
              <a:rPr lang="en-US" sz="1400" dirty="0"/>
              <a:t> </a:t>
            </a:r>
            <a:r>
              <a:rPr lang="he-IL" sz="1400" dirty="0"/>
              <a:t>המשקל החדשה כלומר </a:t>
            </a:r>
            <a:r>
              <a:rPr lang="en-US" sz="1400" dirty="0"/>
              <a:t>P</a:t>
            </a:r>
            <a:r>
              <a:rPr lang="en-US" sz="1100" dirty="0"/>
              <a:t>2</a:t>
            </a:r>
            <a:r>
              <a:rPr lang="en-US" sz="1400" dirty="0"/>
              <a:t>=21</a:t>
            </a:r>
            <a:r>
              <a:rPr lang="he-IL" sz="1400" dirty="0"/>
              <a:t> ש''ח. </a:t>
            </a:r>
            <a:endParaRPr lang="en-IL" dirty="0"/>
          </a:p>
        </p:txBody>
      </p:sp>
      <p:sp>
        <p:nvSpPr>
          <p:cNvPr id="38" name="TextBox 37">
            <a:extLst>
              <a:ext uri="{FF2B5EF4-FFF2-40B4-BE49-F238E27FC236}">
                <a16:creationId xmlns:a16="http://schemas.microsoft.com/office/drawing/2014/main" id="{6C9C1AA2-9DB1-47F3-8D1B-CB24095E5805}"/>
              </a:ext>
            </a:extLst>
          </p:cNvPr>
          <p:cNvSpPr txBox="1"/>
          <p:nvPr/>
        </p:nvSpPr>
        <p:spPr>
          <a:xfrm>
            <a:off x="1584734" y="5351687"/>
            <a:ext cx="4511267" cy="523220"/>
          </a:xfrm>
          <a:prstGeom prst="rect">
            <a:avLst/>
          </a:prstGeom>
          <a:solidFill>
            <a:schemeClr val="accent4">
              <a:lumMod val="20000"/>
              <a:lumOff val="80000"/>
            </a:schemeClr>
          </a:solidFill>
        </p:spPr>
        <p:txBody>
          <a:bodyPr wrap="square" rtlCol="0">
            <a:spAutoFit/>
          </a:bodyPr>
          <a:lstStyle/>
          <a:p>
            <a:pPr algn="r" rtl="1"/>
            <a:r>
              <a:rPr lang="he-IL" sz="1400" dirty="0"/>
              <a:t>- אם מוצר אורז הינו </a:t>
            </a:r>
            <a:r>
              <a:rPr lang="he-IL" sz="1400" b="1" dirty="0"/>
              <a:t>מוצר נחות</a:t>
            </a:r>
            <a:r>
              <a:rPr lang="he-IL" sz="1400" dirty="0"/>
              <a:t>, אזי </a:t>
            </a:r>
            <a:r>
              <a:rPr lang="he-IL" sz="1400" b="1" dirty="0"/>
              <a:t>עקומת הביקוש תצטמצם </a:t>
            </a:r>
            <a:r>
              <a:rPr lang="he-IL" sz="1400" dirty="0"/>
              <a:t>ונקודה </a:t>
            </a:r>
            <a:r>
              <a:rPr lang="en-US" sz="1400" dirty="0"/>
              <a:t>C</a:t>
            </a:r>
            <a:r>
              <a:rPr lang="he-IL" sz="1400" dirty="0"/>
              <a:t> תהיה נקודת שיווי</a:t>
            </a:r>
            <a:r>
              <a:rPr lang="en-US" sz="1400" dirty="0"/>
              <a:t> </a:t>
            </a:r>
            <a:r>
              <a:rPr lang="he-IL" sz="1400" dirty="0"/>
              <a:t>המשקל החדשה כלומר </a:t>
            </a:r>
            <a:r>
              <a:rPr lang="en-US" sz="1400" dirty="0"/>
              <a:t>P</a:t>
            </a:r>
            <a:r>
              <a:rPr lang="en-US" sz="1100" dirty="0"/>
              <a:t>3 </a:t>
            </a:r>
            <a:r>
              <a:rPr lang="en-US" sz="1400" dirty="0"/>
              <a:t>=21</a:t>
            </a:r>
            <a:r>
              <a:rPr lang="he-IL" sz="1400" dirty="0"/>
              <a:t>ש''ח. </a:t>
            </a:r>
            <a:endParaRPr lang="en-IL" dirty="0"/>
          </a:p>
        </p:txBody>
      </p:sp>
      <p:cxnSp>
        <p:nvCxnSpPr>
          <p:cNvPr id="39" name="מחבר ישר 13">
            <a:extLst>
              <a:ext uri="{FF2B5EF4-FFF2-40B4-BE49-F238E27FC236}">
                <a16:creationId xmlns:a16="http://schemas.microsoft.com/office/drawing/2014/main" id="{E684CA77-9F96-4C05-8541-C56594F37001}"/>
              </a:ext>
            </a:extLst>
          </p:cNvPr>
          <p:cNvCxnSpPr>
            <a:cxnSpLocks/>
          </p:cNvCxnSpPr>
          <p:nvPr/>
        </p:nvCxnSpPr>
        <p:spPr>
          <a:xfrm>
            <a:off x="2370734" y="1935279"/>
            <a:ext cx="2255378" cy="169229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7C7B023-4437-402E-BCAC-ABA291FA1C73}"/>
              </a:ext>
            </a:extLst>
          </p:cNvPr>
          <p:cNvSpPr txBox="1"/>
          <p:nvPr/>
        </p:nvSpPr>
        <p:spPr>
          <a:xfrm>
            <a:off x="4140413" y="3317231"/>
            <a:ext cx="405881" cy="369332"/>
          </a:xfrm>
          <a:prstGeom prst="rect">
            <a:avLst/>
          </a:prstGeom>
          <a:noFill/>
        </p:spPr>
        <p:txBody>
          <a:bodyPr wrap="none" rtlCol="1">
            <a:spAutoFit/>
          </a:bodyPr>
          <a:lstStyle/>
          <a:p>
            <a:r>
              <a:rPr lang="en-US" dirty="0">
                <a:solidFill>
                  <a:prstClr val="black"/>
                </a:solidFill>
              </a:rPr>
              <a:t>D</a:t>
            </a:r>
            <a:r>
              <a:rPr lang="en-US" baseline="-25000" dirty="0">
                <a:solidFill>
                  <a:prstClr val="black"/>
                </a:solidFill>
              </a:rPr>
              <a:t>1</a:t>
            </a:r>
            <a:endParaRPr lang="he-IL" baseline="-25000" dirty="0">
              <a:solidFill>
                <a:prstClr val="black"/>
              </a:solidFill>
            </a:endParaRPr>
          </a:p>
        </p:txBody>
      </p:sp>
      <p:sp>
        <p:nvSpPr>
          <p:cNvPr id="41" name="Oval 40">
            <a:extLst>
              <a:ext uri="{FF2B5EF4-FFF2-40B4-BE49-F238E27FC236}">
                <a16:creationId xmlns:a16="http://schemas.microsoft.com/office/drawing/2014/main" id="{B4F14B23-C418-46C2-90E8-DB3D4C07A352}"/>
              </a:ext>
            </a:extLst>
          </p:cNvPr>
          <p:cNvSpPr/>
          <p:nvPr/>
        </p:nvSpPr>
        <p:spPr>
          <a:xfrm>
            <a:off x="3002034" y="2448014"/>
            <a:ext cx="223995" cy="223857"/>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endParaRPr lang="en-IL" dirty="0"/>
          </a:p>
        </p:txBody>
      </p:sp>
      <p:cxnSp>
        <p:nvCxnSpPr>
          <p:cNvPr id="42" name="Straight Connector 41">
            <a:extLst>
              <a:ext uri="{FF2B5EF4-FFF2-40B4-BE49-F238E27FC236}">
                <a16:creationId xmlns:a16="http://schemas.microsoft.com/office/drawing/2014/main" id="{0063006A-4978-4B09-A865-7D5720143E84}"/>
              </a:ext>
            </a:extLst>
          </p:cNvPr>
          <p:cNvCxnSpPr>
            <a:cxnSpLocks/>
            <a:stCxn id="41" idx="2"/>
          </p:cNvCxnSpPr>
          <p:nvPr/>
        </p:nvCxnSpPr>
        <p:spPr>
          <a:xfrm flipH="1" flipV="1">
            <a:off x="2250043" y="2545090"/>
            <a:ext cx="751990" cy="14852"/>
          </a:xfrm>
          <a:prstGeom prst="line">
            <a:avLst/>
          </a:prstGeom>
          <a:ln w="19050" cap="flat" cmpd="sng" algn="ctr">
            <a:solidFill>
              <a:srgbClr val="7030A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3" name="Straight Connector 42">
            <a:extLst>
              <a:ext uri="{FF2B5EF4-FFF2-40B4-BE49-F238E27FC236}">
                <a16:creationId xmlns:a16="http://schemas.microsoft.com/office/drawing/2014/main" id="{C476CE21-D311-4AE7-96A2-7609369B81AA}"/>
              </a:ext>
            </a:extLst>
          </p:cNvPr>
          <p:cNvCxnSpPr>
            <a:cxnSpLocks/>
          </p:cNvCxnSpPr>
          <p:nvPr/>
        </p:nvCxnSpPr>
        <p:spPr>
          <a:xfrm flipH="1">
            <a:off x="3095045" y="2560623"/>
            <a:ext cx="25980" cy="1130861"/>
          </a:xfrm>
          <a:prstGeom prst="line">
            <a:avLst/>
          </a:prstGeom>
          <a:ln w="19050" cap="flat" cmpd="sng" algn="ctr">
            <a:solidFill>
              <a:srgbClr val="7030A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0652EE88-E40F-45E0-B1B7-0673DA2B1665}"/>
                  </a:ext>
                </a:extLst>
              </p:cNvPr>
              <p:cNvSpPr/>
              <p:nvPr/>
            </p:nvSpPr>
            <p:spPr>
              <a:xfrm>
                <a:off x="1824212" y="2395791"/>
                <a:ext cx="369012" cy="276999"/>
              </a:xfrm>
              <a:prstGeom prst="rect">
                <a:avLst/>
              </a:prstGeom>
              <a:solidFill>
                <a:schemeClr val="accent4">
                  <a:lumMod val="20000"/>
                  <a:lumOff val="80000"/>
                </a:schemeClr>
              </a:solidFill>
            </p:spPr>
            <p:txBody>
              <a:bodyPr wrap="none">
                <a:spAutoFit/>
              </a:bodyPr>
              <a:lstStyle/>
              <a:p>
                <a14:m>
                  <m:oMath xmlns:m="http://schemas.openxmlformats.org/officeDocument/2006/math">
                    <m:r>
                      <a:rPr lang="en-US" sz="1200" b="1" i="1">
                        <a:latin typeface="Cambria Math" panose="02040503050406030204" pitchFamily="18" charset="0"/>
                        <a:cs typeface="David" pitchFamily="34" charset="-79"/>
                      </a:rPr>
                      <m:t>𝑷</m:t>
                    </m:r>
                  </m:oMath>
                </a14:m>
                <a:r>
                  <a:rPr lang="en-US" sz="1200" dirty="0"/>
                  <a:t>3</a:t>
                </a:r>
                <a:endParaRPr lang="en-IL" sz="1200" dirty="0"/>
              </a:p>
            </p:txBody>
          </p:sp>
        </mc:Choice>
        <mc:Fallback xmlns="">
          <p:sp>
            <p:nvSpPr>
              <p:cNvPr id="44" name="Rectangle 43">
                <a:extLst>
                  <a:ext uri="{FF2B5EF4-FFF2-40B4-BE49-F238E27FC236}">
                    <a16:creationId xmlns:a16="http://schemas.microsoft.com/office/drawing/2014/main" id="{0652EE88-E40F-45E0-B1B7-0673DA2B1665}"/>
                  </a:ext>
                </a:extLst>
              </p:cNvPr>
              <p:cNvSpPr>
                <a:spLocks noRot="1" noChangeAspect="1" noMove="1" noResize="1" noEditPoints="1" noAdjustHandles="1" noChangeArrowheads="1" noChangeShapeType="1" noTextEdit="1"/>
              </p:cNvSpPr>
              <p:nvPr/>
            </p:nvSpPr>
            <p:spPr>
              <a:xfrm>
                <a:off x="1824212" y="2395791"/>
                <a:ext cx="369012" cy="276999"/>
              </a:xfrm>
              <a:prstGeom prst="rect">
                <a:avLst/>
              </a:prstGeom>
              <a:blipFill>
                <a:blip r:embed="rId4"/>
                <a:stretch>
                  <a:fillRect r="-3279" b="-17778"/>
                </a:stretch>
              </a:blipFill>
            </p:spPr>
            <p:txBody>
              <a:bodyPr/>
              <a:lstStyle/>
              <a:p>
                <a:r>
                  <a:rPr lang="en-IL">
                    <a:noFill/>
                  </a:rPr>
                  <a:t> </a:t>
                </a:r>
              </a:p>
            </p:txBody>
          </p:sp>
        </mc:Fallback>
      </mc:AlternateContent>
      <p:sp>
        <p:nvSpPr>
          <p:cNvPr id="45" name="TextBox 44">
            <a:extLst>
              <a:ext uri="{FF2B5EF4-FFF2-40B4-BE49-F238E27FC236}">
                <a16:creationId xmlns:a16="http://schemas.microsoft.com/office/drawing/2014/main" id="{986F6B5C-7DED-4501-BF49-71C6D1865B7C}"/>
              </a:ext>
            </a:extLst>
          </p:cNvPr>
          <p:cNvSpPr txBox="1"/>
          <p:nvPr/>
        </p:nvSpPr>
        <p:spPr>
          <a:xfrm>
            <a:off x="1503707" y="5896247"/>
            <a:ext cx="4599543" cy="523220"/>
          </a:xfrm>
          <a:prstGeom prst="rect">
            <a:avLst/>
          </a:prstGeom>
          <a:solidFill>
            <a:schemeClr val="accent5">
              <a:lumMod val="20000"/>
              <a:lumOff val="80000"/>
            </a:schemeClr>
          </a:solidFill>
        </p:spPr>
        <p:txBody>
          <a:bodyPr wrap="square" rtlCol="0">
            <a:spAutoFit/>
          </a:bodyPr>
          <a:lstStyle/>
          <a:p>
            <a:pPr algn="r" rtl="1"/>
            <a:r>
              <a:rPr lang="he-IL" sz="1400" dirty="0"/>
              <a:t>- אם מוצר אורז הינו </a:t>
            </a:r>
            <a:r>
              <a:rPr lang="he-IL" sz="1400" b="1" dirty="0"/>
              <a:t>מוצר נורמלי</a:t>
            </a:r>
            <a:r>
              <a:rPr lang="he-IL" sz="1400" dirty="0"/>
              <a:t>, אזי </a:t>
            </a:r>
            <a:r>
              <a:rPr lang="he-IL" sz="1400" b="1" dirty="0"/>
              <a:t>עקומת הביקוש תתרחב </a:t>
            </a:r>
            <a:r>
              <a:rPr lang="he-IL" sz="1400" dirty="0"/>
              <a:t>ונקודה</a:t>
            </a:r>
            <a:r>
              <a:rPr lang="en-US" sz="1400" dirty="0"/>
              <a:t>D </a:t>
            </a:r>
            <a:r>
              <a:rPr lang="he-IL" sz="1400" dirty="0"/>
              <a:t> תהיה נקודת שיווי</a:t>
            </a:r>
            <a:r>
              <a:rPr lang="en-US" sz="1400" dirty="0"/>
              <a:t> </a:t>
            </a:r>
            <a:r>
              <a:rPr lang="he-IL" sz="1400" dirty="0"/>
              <a:t>המשקל החדשה כלומר </a:t>
            </a:r>
            <a:r>
              <a:rPr lang="en-US" sz="1400" dirty="0"/>
              <a:t> P4</a:t>
            </a:r>
            <a:r>
              <a:rPr lang="en-US" sz="1100" dirty="0"/>
              <a:t> </a:t>
            </a:r>
            <a:r>
              <a:rPr lang="en-US" sz="1400" dirty="0"/>
              <a:t>= 21</a:t>
            </a:r>
            <a:r>
              <a:rPr lang="he-IL" sz="1400" dirty="0"/>
              <a:t>ש''ח. </a:t>
            </a:r>
            <a:endParaRPr lang="en-IL" dirty="0"/>
          </a:p>
        </p:txBody>
      </p:sp>
      <p:cxnSp>
        <p:nvCxnSpPr>
          <p:cNvPr id="46" name="מחבר ישר 13">
            <a:extLst>
              <a:ext uri="{FF2B5EF4-FFF2-40B4-BE49-F238E27FC236}">
                <a16:creationId xmlns:a16="http://schemas.microsoft.com/office/drawing/2014/main" id="{6BB44D30-2BD5-4BBE-BA06-357123CA31EE}"/>
              </a:ext>
            </a:extLst>
          </p:cNvPr>
          <p:cNvCxnSpPr>
            <a:cxnSpLocks/>
          </p:cNvCxnSpPr>
          <p:nvPr/>
        </p:nvCxnSpPr>
        <p:spPr>
          <a:xfrm>
            <a:off x="2405824" y="1458050"/>
            <a:ext cx="2788781" cy="206389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2FC2D395-234D-4BA1-90CE-DE45E2C71FAE}"/>
              </a:ext>
            </a:extLst>
          </p:cNvPr>
          <p:cNvSpPr txBox="1"/>
          <p:nvPr/>
        </p:nvSpPr>
        <p:spPr>
          <a:xfrm>
            <a:off x="5123081" y="3283999"/>
            <a:ext cx="405881" cy="369332"/>
          </a:xfrm>
          <a:prstGeom prst="rect">
            <a:avLst/>
          </a:prstGeom>
          <a:noFill/>
        </p:spPr>
        <p:txBody>
          <a:bodyPr wrap="none" rtlCol="1">
            <a:spAutoFit/>
          </a:bodyPr>
          <a:lstStyle/>
          <a:p>
            <a:r>
              <a:rPr lang="en-US" dirty="0">
                <a:solidFill>
                  <a:schemeClr val="accent1"/>
                </a:solidFill>
              </a:rPr>
              <a:t>D</a:t>
            </a:r>
            <a:r>
              <a:rPr lang="en-US" baseline="-25000" dirty="0">
                <a:solidFill>
                  <a:schemeClr val="accent1"/>
                </a:solidFill>
              </a:rPr>
              <a:t>1</a:t>
            </a:r>
            <a:endParaRPr lang="he-IL" baseline="-25000" dirty="0">
              <a:solidFill>
                <a:schemeClr val="accent1"/>
              </a:solidFill>
            </a:endParaRPr>
          </a:p>
        </p:txBody>
      </p:sp>
      <p:sp>
        <p:nvSpPr>
          <p:cNvPr id="48" name="Oval 47">
            <a:extLst>
              <a:ext uri="{FF2B5EF4-FFF2-40B4-BE49-F238E27FC236}">
                <a16:creationId xmlns:a16="http://schemas.microsoft.com/office/drawing/2014/main" id="{AEFE1259-1B62-49CB-A8B9-8B2054989E70}"/>
              </a:ext>
            </a:extLst>
          </p:cNvPr>
          <p:cNvSpPr/>
          <p:nvPr/>
        </p:nvSpPr>
        <p:spPr>
          <a:xfrm>
            <a:off x="3419945" y="2113471"/>
            <a:ext cx="271702" cy="244222"/>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a:t>
            </a:r>
            <a:endParaRPr lang="en-IL" sz="1200" dirty="0"/>
          </a:p>
        </p:txBody>
      </p:sp>
      <p:cxnSp>
        <p:nvCxnSpPr>
          <p:cNvPr id="50" name="Straight Connector 49">
            <a:extLst>
              <a:ext uri="{FF2B5EF4-FFF2-40B4-BE49-F238E27FC236}">
                <a16:creationId xmlns:a16="http://schemas.microsoft.com/office/drawing/2014/main" id="{4FE941DA-3BF4-4553-B3DB-034A88DF74DE}"/>
              </a:ext>
            </a:extLst>
          </p:cNvPr>
          <p:cNvCxnSpPr>
            <a:cxnSpLocks/>
            <a:stCxn id="48" idx="2"/>
          </p:cNvCxnSpPr>
          <p:nvPr/>
        </p:nvCxnSpPr>
        <p:spPr>
          <a:xfrm flipH="1" flipV="1">
            <a:off x="2238667" y="2203594"/>
            <a:ext cx="1181278" cy="31988"/>
          </a:xfrm>
          <a:prstGeom prst="line">
            <a:avLst/>
          </a:prstGeom>
          <a:ln w="19050"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1" name="Straight Connector 50">
            <a:extLst>
              <a:ext uri="{FF2B5EF4-FFF2-40B4-BE49-F238E27FC236}">
                <a16:creationId xmlns:a16="http://schemas.microsoft.com/office/drawing/2014/main" id="{2AB0C909-E29D-4306-93E7-BC755963AA36}"/>
              </a:ext>
            </a:extLst>
          </p:cNvPr>
          <p:cNvCxnSpPr>
            <a:cxnSpLocks/>
          </p:cNvCxnSpPr>
          <p:nvPr/>
        </p:nvCxnSpPr>
        <p:spPr>
          <a:xfrm flipH="1">
            <a:off x="3528748" y="2302427"/>
            <a:ext cx="32138" cy="1392658"/>
          </a:xfrm>
          <a:prstGeom prst="line">
            <a:avLst/>
          </a:prstGeom>
          <a:ln w="19050"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9310EDB5-2C9B-4B4E-9696-C36DFD67B707}"/>
                  </a:ext>
                </a:extLst>
              </p:cNvPr>
              <p:cNvSpPr/>
              <p:nvPr/>
            </p:nvSpPr>
            <p:spPr>
              <a:xfrm>
                <a:off x="1823761" y="1970424"/>
                <a:ext cx="369012" cy="276999"/>
              </a:xfrm>
              <a:prstGeom prst="rect">
                <a:avLst/>
              </a:prstGeom>
              <a:solidFill>
                <a:srgbClr val="CCECFF"/>
              </a:solidFill>
            </p:spPr>
            <p:txBody>
              <a:bodyPr wrap="none">
                <a:spAutoFit/>
              </a:bodyPr>
              <a:lstStyle/>
              <a:p>
                <a14:m>
                  <m:oMath xmlns:m="http://schemas.openxmlformats.org/officeDocument/2006/math">
                    <m:r>
                      <a:rPr lang="en-US" sz="1200" b="1" i="1">
                        <a:latin typeface="Cambria Math" panose="02040503050406030204" pitchFamily="18" charset="0"/>
                        <a:cs typeface="David" pitchFamily="34" charset="-79"/>
                      </a:rPr>
                      <m:t>𝑷</m:t>
                    </m:r>
                  </m:oMath>
                </a14:m>
                <a:r>
                  <a:rPr lang="en-US" sz="1200" dirty="0"/>
                  <a:t>4</a:t>
                </a:r>
                <a:endParaRPr lang="en-IL" sz="1200" dirty="0"/>
              </a:p>
            </p:txBody>
          </p:sp>
        </mc:Choice>
        <mc:Fallback xmlns="">
          <p:sp>
            <p:nvSpPr>
              <p:cNvPr id="60" name="Rectangle 59">
                <a:extLst>
                  <a:ext uri="{FF2B5EF4-FFF2-40B4-BE49-F238E27FC236}">
                    <a16:creationId xmlns:a16="http://schemas.microsoft.com/office/drawing/2014/main" id="{9310EDB5-2C9B-4B4E-9696-C36DFD67B707}"/>
                  </a:ext>
                </a:extLst>
              </p:cNvPr>
              <p:cNvSpPr>
                <a:spLocks noRot="1" noChangeAspect="1" noMove="1" noResize="1" noEditPoints="1" noAdjustHandles="1" noChangeArrowheads="1" noChangeShapeType="1" noTextEdit="1"/>
              </p:cNvSpPr>
              <p:nvPr/>
            </p:nvSpPr>
            <p:spPr>
              <a:xfrm>
                <a:off x="1823761" y="1970424"/>
                <a:ext cx="369012" cy="276999"/>
              </a:xfrm>
              <a:prstGeom prst="rect">
                <a:avLst/>
              </a:prstGeom>
              <a:blipFill>
                <a:blip r:embed="rId5"/>
                <a:stretch>
                  <a:fillRect r="-3279" b="-15217"/>
                </a:stretch>
              </a:blipFill>
            </p:spPr>
            <p:txBody>
              <a:bodyPr/>
              <a:lstStyle/>
              <a:p>
                <a:r>
                  <a:rPr lang="en-IL">
                    <a:noFill/>
                  </a:rPr>
                  <a:t> </a:t>
                </a:r>
              </a:p>
            </p:txBody>
          </p:sp>
        </mc:Fallback>
      </mc:AlternateContent>
      <p:sp>
        <p:nvSpPr>
          <p:cNvPr id="61" name="Rectangle 60">
            <a:extLst>
              <a:ext uri="{FF2B5EF4-FFF2-40B4-BE49-F238E27FC236}">
                <a16:creationId xmlns:a16="http://schemas.microsoft.com/office/drawing/2014/main" id="{F4DB75B2-0801-46F3-A10A-94163FC7FAF1}"/>
              </a:ext>
            </a:extLst>
          </p:cNvPr>
          <p:cNvSpPr/>
          <p:nvPr/>
        </p:nvSpPr>
        <p:spPr>
          <a:xfrm>
            <a:off x="6641636" y="4277500"/>
            <a:ext cx="5150312" cy="36933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52" name="TextBox 51">
            <a:extLst>
              <a:ext uri="{FF2B5EF4-FFF2-40B4-BE49-F238E27FC236}">
                <a16:creationId xmlns:a16="http://schemas.microsoft.com/office/drawing/2014/main" id="{378E41CA-E6B6-444C-B136-C3D4FFF0861D}"/>
              </a:ext>
            </a:extLst>
          </p:cNvPr>
          <p:cNvSpPr txBox="1"/>
          <p:nvPr/>
        </p:nvSpPr>
        <p:spPr>
          <a:xfrm>
            <a:off x="8709491" y="16578"/>
            <a:ext cx="3082456" cy="658835"/>
          </a:xfrm>
          <a:prstGeom prst="rect">
            <a:avLst/>
          </a:prstGeom>
          <a:noFill/>
        </p:spPr>
        <p:txBody>
          <a:bodyPr wrap="square">
            <a:spAutoFit/>
          </a:bodyPr>
          <a:lstStyle/>
          <a:p>
            <a:pPr algn="r" rtl="1">
              <a:lnSpc>
                <a:spcPct val="150000"/>
              </a:lnSpc>
            </a:pPr>
            <a:r>
              <a:rPr lang="he-IL" sz="2800" b="1" dirty="0">
                <a:latin typeface="David" pitchFamily="34" charset="-79"/>
              </a:rPr>
              <a:t>שאלה 4:</a:t>
            </a:r>
          </a:p>
        </p:txBody>
      </p:sp>
    </p:spTree>
    <p:extLst>
      <p:ext uri="{BB962C8B-B14F-4D97-AF65-F5344CB8AC3E}">
        <p14:creationId xmlns:p14="http://schemas.microsoft.com/office/powerpoint/2010/main" val="1364464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inVertical)">
                                      <p:cBhvr>
                                        <p:cTn id="7" dur="500"/>
                                        <p:tgtEl>
                                          <p:spTgt spid="24"/>
                                        </p:tgtEl>
                                      </p:cBhvr>
                                    </p:animEffect>
                                  </p:childTnLst>
                                </p:cTn>
                              </p:par>
                              <p:par>
                                <p:cTn id="8" presetID="16" presetClass="entr" presetSubtype="21"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arn(inVertical)">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barn(inVertical)">
                                      <p:cBhvr>
                                        <p:cTn id="15" dur="500"/>
                                        <p:tgtEl>
                                          <p:spTgt spid="19"/>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barn(inVertical)">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26"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down)">
                                      <p:cBhvr>
                                        <p:cTn id="23" dur="580">
                                          <p:stCondLst>
                                            <p:cond delay="0"/>
                                          </p:stCondLst>
                                        </p:cTn>
                                        <p:tgtEl>
                                          <p:spTgt spid="25"/>
                                        </p:tgtEl>
                                      </p:cBhvr>
                                    </p:animEffect>
                                    <p:anim calcmode="lin" valueType="num">
                                      <p:cBhvr>
                                        <p:cTn id="24" dur="1822" tmFilter="0,0; 0.14,0.36; 0.43,0.73; 0.71,0.91; 1.0,1.0">
                                          <p:stCondLst>
                                            <p:cond delay="0"/>
                                          </p:stCondLst>
                                        </p:cTn>
                                        <p:tgtEl>
                                          <p:spTgt spid="25"/>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25"/>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25"/>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25"/>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25"/>
                                        </p:tgtEl>
                                        <p:attrNameLst>
                                          <p:attrName>ppt_y</p:attrName>
                                        </p:attrNameLst>
                                      </p:cBhvr>
                                      <p:tavLst>
                                        <p:tav tm="0" fmla="#ppt_y-sin(pi*$)/81">
                                          <p:val>
                                            <p:fltVal val="0"/>
                                          </p:val>
                                        </p:tav>
                                        <p:tav tm="100000">
                                          <p:val>
                                            <p:fltVal val="1"/>
                                          </p:val>
                                        </p:tav>
                                      </p:tavLst>
                                    </p:anim>
                                    <p:animScale>
                                      <p:cBhvr>
                                        <p:cTn id="29" dur="26">
                                          <p:stCondLst>
                                            <p:cond delay="650"/>
                                          </p:stCondLst>
                                        </p:cTn>
                                        <p:tgtEl>
                                          <p:spTgt spid="25"/>
                                        </p:tgtEl>
                                      </p:cBhvr>
                                      <p:to x="100000" y="60000"/>
                                    </p:animScale>
                                    <p:animScale>
                                      <p:cBhvr>
                                        <p:cTn id="30" dur="166" decel="50000">
                                          <p:stCondLst>
                                            <p:cond delay="676"/>
                                          </p:stCondLst>
                                        </p:cTn>
                                        <p:tgtEl>
                                          <p:spTgt spid="25"/>
                                        </p:tgtEl>
                                      </p:cBhvr>
                                      <p:to x="100000" y="100000"/>
                                    </p:animScale>
                                    <p:animScale>
                                      <p:cBhvr>
                                        <p:cTn id="31" dur="26">
                                          <p:stCondLst>
                                            <p:cond delay="1312"/>
                                          </p:stCondLst>
                                        </p:cTn>
                                        <p:tgtEl>
                                          <p:spTgt spid="25"/>
                                        </p:tgtEl>
                                      </p:cBhvr>
                                      <p:to x="100000" y="80000"/>
                                    </p:animScale>
                                    <p:animScale>
                                      <p:cBhvr>
                                        <p:cTn id="32" dur="166" decel="50000">
                                          <p:stCondLst>
                                            <p:cond delay="1338"/>
                                          </p:stCondLst>
                                        </p:cTn>
                                        <p:tgtEl>
                                          <p:spTgt spid="25"/>
                                        </p:tgtEl>
                                      </p:cBhvr>
                                      <p:to x="100000" y="100000"/>
                                    </p:animScale>
                                    <p:animScale>
                                      <p:cBhvr>
                                        <p:cTn id="33" dur="26">
                                          <p:stCondLst>
                                            <p:cond delay="1642"/>
                                          </p:stCondLst>
                                        </p:cTn>
                                        <p:tgtEl>
                                          <p:spTgt spid="25"/>
                                        </p:tgtEl>
                                      </p:cBhvr>
                                      <p:to x="100000" y="90000"/>
                                    </p:animScale>
                                    <p:animScale>
                                      <p:cBhvr>
                                        <p:cTn id="34" dur="166" decel="50000">
                                          <p:stCondLst>
                                            <p:cond delay="1668"/>
                                          </p:stCondLst>
                                        </p:cTn>
                                        <p:tgtEl>
                                          <p:spTgt spid="25"/>
                                        </p:tgtEl>
                                      </p:cBhvr>
                                      <p:to x="100000" y="100000"/>
                                    </p:animScale>
                                    <p:animScale>
                                      <p:cBhvr>
                                        <p:cTn id="35" dur="26">
                                          <p:stCondLst>
                                            <p:cond delay="1808"/>
                                          </p:stCondLst>
                                        </p:cTn>
                                        <p:tgtEl>
                                          <p:spTgt spid="25"/>
                                        </p:tgtEl>
                                      </p:cBhvr>
                                      <p:to x="100000" y="95000"/>
                                    </p:animScale>
                                    <p:animScale>
                                      <p:cBhvr>
                                        <p:cTn id="36" dur="166" decel="50000">
                                          <p:stCondLst>
                                            <p:cond delay="1834"/>
                                          </p:stCondLst>
                                        </p:cTn>
                                        <p:tgtEl>
                                          <p:spTgt spid="25"/>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par>
                                <p:cTn id="42" presetID="10" presetClass="entr" presetSubtype="0" fill="hold" nodeType="with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fade">
                                      <p:cBhvr>
                                        <p:cTn id="44" dur="500"/>
                                        <p:tgtEl>
                                          <p:spTgt spid="2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fade">
                                      <p:cBhvr>
                                        <p:cTn id="47" dur="500"/>
                                        <p:tgtEl>
                                          <p:spTgt spid="3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500"/>
                                        <p:tgtEl>
                                          <p:spTgt spid="31"/>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barn(inVertical)">
                                      <p:cBhvr>
                                        <p:cTn id="55" dur="500"/>
                                        <p:tgtEl>
                                          <p:spTgt spid="6"/>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grpId="0" nodeType="click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barn(inVertical)">
                                      <p:cBhvr>
                                        <p:cTn id="60" dur="500"/>
                                        <p:tgtEl>
                                          <p:spTgt spid="37"/>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grpId="0" nodeType="clickEffect">
                                  <p:stCondLst>
                                    <p:cond delay="0"/>
                                  </p:stCondLst>
                                  <p:childTnLst>
                                    <p:set>
                                      <p:cBhvr>
                                        <p:cTn id="64" dur="1" fill="hold">
                                          <p:stCondLst>
                                            <p:cond delay="0"/>
                                          </p:stCondLst>
                                        </p:cTn>
                                        <p:tgtEl>
                                          <p:spTgt spid="38"/>
                                        </p:tgtEl>
                                        <p:attrNameLst>
                                          <p:attrName>style.visibility</p:attrName>
                                        </p:attrNameLst>
                                      </p:cBhvr>
                                      <p:to>
                                        <p:strVal val="visible"/>
                                      </p:to>
                                    </p:set>
                                    <p:animEffect transition="in" filter="barn(inVertical)">
                                      <p:cBhvr>
                                        <p:cTn id="65" dur="500"/>
                                        <p:tgtEl>
                                          <p:spTgt spid="38"/>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nodeType="clickEffect">
                                  <p:stCondLst>
                                    <p:cond delay="0"/>
                                  </p:stCondLst>
                                  <p:childTnLst>
                                    <p:set>
                                      <p:cBhvr>
                                        <p:cTn id="69" dur="1" fill="hold">
                                          <p:stCondLst>
                                            <p:cond delay="0"/>
                                          </p:stCondLst>
                                        </p:cTn>
                                        <p:tgtEl>
                                          <p:spTgt spid="39"/>
                                        </p:tgtEl>
                                        <p:attrNameLst>
                                          <p:attrName>style.visibility</p:attrName>
                                        </p:attrNameLst>
                                      </p:cBhvr>
                                      <p:to>
                                        <p:strVal val="visible"/>
                                      </p:to>
                                    </p:set>
                                    <p:animEffect transition="in" filter="barn(inVertical)">
                                      <p:cBhvr>
                                        <p:cTn id="70" dur="500"/>
                                        <p:tgtEl>
                                          <p:spTgt spid="39"/>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40"/>
                                        </p:tgtEl>
                                        <p:attrNameLst>
                                          <p:attrName>style.visibility</p:attrName>
                                        </p:attrNameLst>
                                      </p:cBhvr>
                                      <p:to>
                                        <p:strVal val="visible"/>
                                      </p:to>
                                    </p:set>
                                    <p:animEffect transition="in" filter="barn(inVertical)">
                                      <p:cBhvr>
                                        <p:cTn id="73" dur="500"/>
                                        <p:tgtEl>
                                          <p:spTgt spid="40"/>
                                        </p:tgtEl>
                                      </p:cBhvr>
                                    </p:animEffect>
                                  </p:childTnLst>
                                </p:cTn>
                              </p:par>
                            </p:childTnLst>
                          </p:cTn>
                        </p:par>
                      </p:childTnLst>
                    </p:cTn>
                  </p:par>
                  <p:par>
                    <p:cTn id="74" fill="hold">
                      <p:stCondLst>
                        <p:cond delay="indefinite"/>
                      </p:stCondLst>
                      <p:childTnLst>
                        <p:par>
                          <p:cTn id="75" fill="hold">
                            <p:stCondLst>
                              <p:cond delay="0"/>
                            </p:stCondLst>
                            <p:childTnLst>
                              <p:par>
                                <p:cTn id="76" presetID="26" presetClass="entr" presetSubtype="0" fill="hold" grpId="0" nodeType="clickEffect">
                                  <p:stCondLst>
                                    <p:cond delay="0"/>
                                  </p:stCondLst>
                                  <p:childTnLst>
                                    <p:set>
                                      <p:cBhvr>
                                        <p:cTn id="77" dur="1" fill="hold">
                                          <p:stCondLst>
                                            <p:cond delay="0"/>
                                          </p:stCondLst>
                                        </p:cTn>
                                        <p:tgtEl>
                                          <p:spTgt spid="41"/>
                                        </p:tgtEl>
                                        <p:attrNameLst>
                                          <p:attrName>style.visibility</p:attrName>
                                        </p:attrNameLst>
                                      </p:cBhvr>
                                      <p:to>
                                        <p:strVal val="visible"/>
                                      </p:to>
                                    </p:set>
                                    <p:animEffect transition="in" filter="wipe(down)">
                                      <p:cBhvr>
                                        <p:cTn id="78" dur="580">
                                          <p:stCondLst>
                                            <p:cond delay="0"/>
                                          </p:stCondLst>
                                        </p:cTn>
                                        <p:tgtEl>
                                          <p:spTgt spid="41"/>
                                        </p:tgtEl>
                                      </p:cBhvr>
                                    </p:animEffect>
                                    <p:anim calcmode="lin" valueType="num">
                                      <p:cBhvr>
                                        <p:cTn id="79" dur="1822" tmFilter="0,0; 0.14,0.36; 0.43,0.73; 0.71,0.91; 1.0,1.0">
                                          <p:stCondLst>
                                            <p:cond delay="0"/>
                                          </p:stCondLst>
                                        </p:cTn>
                                        <p:tgtEl>
                                          <p:spTgt spid="41"/>
                                        </p:tgtEl>
                                        <p:attrNameLst>
                                          <p:attrName>ppt_x</p:attrName>
                                        </p:attrNameLst>
                                      </p:cBhvr>
                                      <p:tavLst>
                                        <p:tav tm="0">
                                          <p:val>
                                            <p:strVal val="#ppt_x-0.25"/>
                                          </p:val>
                                        </p:tav>
                                        <p:tav tm="100000">
                                          <p:val>
                                            <p:strVal val="#ppt_x"/>
                                          </p:val>
                                        </p:tav>
                                      </p:tavLst>
                                    </p:anim>
                                    <p:anim calcmode="lin" valueType="num">
                                      <p:cBhvr>
                                        <p:cTn id="80" dur="664" tmFilter="0.0,0.0; 0.25,0.07; 0.50,0.2; 0.75,0.467; 1.0,1.0">
                                          <p:stCondLst>
                                            <p:cond delay="0"/>
                                          </p:stCondLst>
                                        </p:cTn>
                                        <p:tgtEl>
                                          <p:spTgt spid="41"/>
                                        </p:tgtEl>
                                        <p:attrNameLst>
                                          <p:attrName>ppt_y</p:attrName>
                                        </p:attrNameLst>
                                      </p:cBhvr>
                                      <p:tavLst>
                                        <p:tav tm="0" fmla="#ppt_y-sin(pi*$)/3">
                                          <p:val>
                                            <p:fltVal val="0.5"/>
                                          </p:val>
                                        </p:tav>
                                        <p:tav tm="100000">
                                          <p:val>
                                            <p:fltVal val="1"/>
                                          </p:val>
                                        </p:tav>
                                      </p:tavLst>
                                    </p:anim>
                                    <p:anim calcmode="lin" valueType="num">
                                      <p:cBhvr>
                                        <p:cTn id="81" dur="664" tmFilter="0, 0; 0.125,0.2665; 0.25,0.4; 0.375,0.465; 0.5,0.5;  0.625,0.535; 0.75,0.6; 0.875,0.7335; 1,1">
                                          <p:stCondLst>
                                            <p:cond delay="664"/>
                                          </p:stCondLst>
                                        </p:cTn>
                                        <p:tgtEl>
                                          <p:spTgt spid="41"/>
                                        </p:tgtEl>
                                        <p:attrNameLst>
                                          <p:attrName>ppt_y</p:attrName>
                                        </p:attrNameLst>
                                      </p:cBhvr>
                                      <p:tavLst>
                                        <p:tav tm="0" fmla="#ppt_y-sin(pi*$)/9">
                                          <p:val>
                                            <p:fltVal val="0"/>
                                          </p:val>
                                        </p:tav>
                                        <p:tav tm="100000">
                                          <p:val>
                                            <p:fltVal val="1"/>
                                          </p:val>
                                        </p:tav>
                                      </p:tavLst>
                                    </p:anim>
                                    <p:anim calcmode="lin" valueType="num">
                                      <p:cBhvr>
                                        <p:cTn id="82" dur="332" tmFilter="0, 0; 0.125,0.2665; 0.25,0.4; 0.375,0.465; 0.5,0.5;  0.625,0.535; 0.75,0.6; 0.875,0.7335; 1,1">
                                          <p:stCondLst>
                                            <p:cond delay="1324"/>
                                          </p:stCondLst>
                                        </p:cTn>
                                        <p:tgtEl>
                                          <p:spTgt spid="41"/>
                                        </p:tgtEl>
                                        <p:attrNameLst>
                                          <p:attrName>ppt_y</p:attrName>
                                        </p:attrNameLst>
                                      </p:cBhvr>
                                      <p:tavLst>
                                        <p:tav tm="0" fmla="#ppt_y-sin(pi*$)/27">
                                          <p:val>
                                            <p:fltVal val="0"/>
                                          </p:val>
                                        </p:tav>
                                        <p:tav tm="100000">
                                          <p:val>
                                            <p:fltVal val="1"/>
                                          </p:val>
                                        </p:tav>
                                      </p:tavLst>
                                    </p:anim>
                                    <p:anim calcmode="lin" valueType="num">
                                      <p:cBhvr>
                                        <p:cTn id="83" dur="164" tmFilter="0, 0; 0.125,0.2665; 0.25,0.4; 0.375,0.465; 0.5,0.5;  0.625,0.535; 0.75,0.6; 0.875,0.7335; 1,1">
                                          <p:stCondLst>
                                            <p:cond delay="1656"/>
                                          </p:stCondLst>
                                        </p:cTn>
                                        <p:tgtEl>
                                          <p:spTgt spid="41"/>
                                        </p:tgtEl>
                                        <p:attrNameLst>
                                          <p:attrName>ppt_y</p:attrName>
                                        </p:attrNameLst>
                                      </p:cBhvr>
                                      <p:tavLst>
                                        <p:tav tm="0" fmla="#ppt_y-sin(pi*$)/81">
                                          <p:val>
                                            <p:fltVal val="0"/>
                                          </p:val>
                                        </p:tav>
                                        <p:tav tm="100000">
                                          <p:val>
                                            <p:fltVal val="1"/>
                                          </p:val>
                                        </p:tav>
                                      </p:tavLst>
                                    </p:anim>
                                    <p:animScale>
                                      <p:cBhvr>
                                        <p:cTn id="84" dur="26">
                                          <p:stCondLst>
                                            <p:cond delay="650"/>
                                          </p:stCondLst>
                                        </p:cTn>
                                        <p:tgtEl>
                                          <p:spTgt spid="41"/>
                                        </p:tgtEl>
                                      </p:cBhvr>
                                      <p:to x="100000" y="60000"/>
                                    </p:animScale>
                                    <p:animScale>
                                      <p:cBhvr>
                                        <p:cTn id="85" dur="166" decel="50000">
                                          <p:stCondLst>
                                            <p:cond delay="676"/>
                                          </p:stCondLst>
                                        </p:cTn>
                                        <p:tgtEl>
                                          <p:spTgt spid="41"/>
                                        </p:tgtEl>
                                      </p:cBhvr>
                                      <p:to x="100000" y="100000"/>
                                    </p:animScale>
                                    <p:animScale>
                                      <p:cBhvr>
                                        <p:cTn id="86" dur="26">
                                          <p:stCondLst>
                                            <p:cond delay="1312"/>
                                          </p:stCondLst>
                                        </p:cTn>
                                        <p:tgtEl>
                                          <p:spTgt spid="41"/>
                                        </p:tgtEl>
                                      </p:cBhvr>
                                      <p:to x="100000" y="80000"/>
                                    </p:animScale>
                                    <p:animScale>
                                      <p:cBhvr>
                                        <p:cTn id="87" dur="166" decel="50000">
                                          <p:stCondLst>
                                            <p:cond delay="1338"/>
                                          </p:stCondLst>
                                        </p:cTn>
                                        <p:tgtEl>
                                          <p:spTgt spid="41"/>
                                        </p:tgtEl>
                                      </p:cBhvr>
                                      <p:to x="100000" y="100000"/>
                                    </p:animScale>
                                    <p:animScale>
                                      <p:cBhvr>
                                        <p:cTn id="88" dur="26">
                                          <p:stCondLst>
                                            <p:cond delay="1642"/>
                                          </p:stCondLst>
                                        </p:cTn>
                                        <p:tgtEl>
                                          <p:spTgt spid="41"/>
                                        </p:tgtEl>
                                      </p:cBhvr>
                                      <p:to x="100000" y="90000"/>
                                    </p:animScale>
                                    <p:animScale>
                                      <p:cBhvr>
                                        <p:cTn id="89" dur="166" decel="50000">
                                          <p:stCondLst>
                                            <p:cond delay="1668"/>
                                          </p:stCondLst>
                                        </p:cTn>
                                        <p:tgtEl>
                                          <p:spTgt spid="41"/>
                                        </p:tgtEl>
                                      </p:cBhvr>
                                      <p:to x="100000" y="100000"/>
                                    </p:animScale>
                                    <p:animScale>
                                      <p:cBhvr>
                                        <p:cTn id="90" dur="26">
                                          <p:stCondLst>
                                            <p:cond delay="1808"/>
                                          </p:stCondLst>
                                        </p:cTn>
                                        <p:tgtEl>
                                          <p:spTgt spid="41"/>
                                        </p:tgtEl>
                                      </p:cBhvr>
                                      <p:to x="100000" y="95000"/>
                                    </p:animScale>
                                    <p:animScale>
                                      <p:cBhvr>
                                        <p:cTn id="91" dur="166" decel="50000">
                                          <p:stCondLst>
                                            <p:cond delay="1834"/>
                                          </p:stCondLst>
                                        </p:cTn>
                                        <p:tgtEl>
                                          <p:spTgt spid="41"/>
                                        </p:tgtEl>
                                      </p:cBhvr>
                                      <p:to x="100000" y="100000"/>
                                    </p:animScale>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43"/>
                                        </p:tgtEl>
                                        <p:attrNameLst>
                                          <p:attrName>style.visibility</p:attrName>
                                        </p:attrNameLst>
                                      </p:cBhvr>
                                      <p:to>
                                        <p:strVal val="visible"/>
                                      </p:to>
                                    </p:set>
                                    <p:animEffect transition="in" filter="fade">
                                      <p:cBhvr>
                                        <p:cTn id="96" dur="500"/>
                                        <p:tgtEl>
                                          <p:spTgt spid="43"/>
                                        </p:tgtEl>
                                      </p:cBhvr>
                                    </p:animEffect>
                                  </p:childTnLst>
                                </p:cTn>
                              </p:par>
                              <p:par>
                                <p:cTn id="97" presetID="10" presetClass="entr" presetSubtype="0" fill="hold" nodeType="withEffect">
                                  <p:stCondLst>
                                    <p:cond delay="0"/>
                                  </p:stCondLst>
                                  <p:childTnLst>
                                    <p:set>
                                      <p:cBhvr>
                                        <p:cTn id="98" dur="1" fill="hold">
                                          <p:stCondLst>
                                            <p:cond delay="0"/>
                                          </p:stCondLst>
                                        </p:cTn>
                                        <p:tgtEl>
                                          <p:spTgt spid="42"/>
                                        </p:tgtEl>
                                        <p:attrNameLst>
                                          <p:attrName>style.visibility</p:attrName>
                                        </p:attrNameLst>
                                      </p:cBhvr>
                                      <p:to>
                                        <p:strVal val="visible"/>
                                      </p:to>
                                    </p:set>
                                    <p:animEffect transition="in" filter="fade">
                                      <p:cBhvr>
                                        <p:cTn id="99" dur="500"/>
                                        <p:tgtEl>
                                          <p:spTgt spid="42"/>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4"/>
                                        </p:tgtEl>
                                        <p:attrNameLst>
                                          <p:attrName>style.visibility</p:attrName>
                                        </p:attrNameLst>
                                      </p:cBhvr>
                                      <p:to>
                                        <p:strVal val="visible"/>
                                      </p:to>
                                    </p:set>
                                    <p:animEffect transition="in" filter="fade">
                                      <p:cBhvr>
                                        <p:cTn id="102" dur="500"/>
                                        <p:tgtEl>
                                          <p:spTgt spid="44"/>
                                        </p:tgtEl>
                                      </p:cBhvr>
                                    </p:animEffect>
                                  </p:childTnLst>
                                </p:cTn>
                              </p:par>
                            </p:childTnLst>
                          </p:cTn>
                        </p:par>
                      </p:childTnLst>
                    </p:cTn>
                  </p:par>
                  <p:par>
                    <p:cTn id="103" fill="hold">
                      <p:stCondLst>
                        <p:cond delay="indefinite"/>
                      </p:stCondLst>
                      <p:childTnLst>
                        <p:par>
                          <p:cTn id="104" fill="hold">
                            <p:stCondLst>
                              <p:cond delay="0"/>
                            </p:stCondLst>
                            <p:childTnLst>
                              <p:par>
                                <p:cTn id="105" presetID="16" presetClass="entr" presetSubtype="21" fill="hold" grpId="0" nodeType="clickEffect">
                                  <p:stCondLst>
                                    <p:cond delay="0"/>
                                  </p:stCondLst>
                                  <p:childTnLst>
                                    <p:set>
                                      <p:cBhvr>
                                        <p:cTn id="106" dur="1" fill="hold">
                                          <p:stCondLst>
                                            <p:cond delay="0"/>
                                          </p:stCondLst>
                                        </p:cTn>
                                        <p:tgtEl>
                                          <p:spTgt spid="45"/>
                                        </p:tgtEl>
                                        <p:attrNameLst>
                                          <p:attrName>style.visibility</p:attrName>
                                        </p:attrNameLst>
                                      </p:cBhvr>
                                      <p:to>
                                        <p:strVal val="visible"/>
                                      </p:to>
                                    </p:set>
                                    <p:animEffect transition="in" filter="barn(inVertical)">
                                      <p:cBhvr>
                                        <p:cTn id="107" dur="500"/>
                                        <p:tgtEl>
                                          <p:spTgt spid="45"/>
                                        </p:tgtEl>
                                      </p:cBhvr>
                                    </p:animEffect>
                                  </p:childTnLst>
                                </p:cTn>
                              </p:par>
                            </p:childTnLst>
                          </p:cTn>
                        </p:par>
                      </p:childTnLst>
                    </p:cTn>
                  </p:par>
                  <p:par>
                    <p:cTn id="108" fill="hold">
                      <p:stCondLst>
                        <p:cond delay="indefinite"/>
                      </p:stCondLst>
                      <p:childTnLst>
                        <p:par>
                          <p:cTn id="109" fill="hold">
                            <p:stCondLst>
                              <p:cond delay="0"/>
                            </p:stCondLst>
                            <p:childTnLst>
                              <p:par>
                                <p:cTn id="110" presetID="16" presetClass="entr" presetSubtype="21" fill="hold" nodeType="clickEffect">
                                  <p:stCondLst>
                                    <p:cond delay="0"/>
                                  </p:stCondLst>
                                  <p:childTnLst>
                                    <p:set>
                                      <p:cBhvr>
                                        <p:cTn id="111" dur="1" fill="hold">
                                          <p:stCondLst>
                                            <p:cond delay="0"/>
                                          </p:stCondLst>
                                        </p:cTn>
                                        <p:tgtEl>
                                          <p:spTgt spid="46"/>
                                        </p:tgtEl>
                                        <p:attrNameLst>
                                          <p:attrName>style.visibility</p:attrName>
                                        </p:attrNameLst>
                                      </p:cBhvr>
                                      <p:to>
                                        <p:strVal val="visible"/>
                                      </p:to>
                                    </p:set>
                                    <p:animEffect transition="in" filter="barn(inVertical)">
                                      <p:cBhvr>
                                        <p:cTn id="112" dur="500"/>
                                        <p:tgtEl>
                                          <p:spTgt spid="46"/>
                                        </p:tgtEl>
                                      </p:cBhvr>
                                    </p:animEffect>
                                  </p:childTnLst>
                                </p:cTn>
                              </p:par>
                              <p:par>
                                <p:cTn id="113" presetID="16" presetClass="entr" presetSubtype="21" fill="hold" grpId="0" nodeType="withEffect">
                                  <p:stCondLst>
                                    <p:cond delay="0"/>
                                  </p:stCondLst>
                                  <p:childTnLst>
                                    <p:set>
                                      <p:cBhvr>
                                        <p:cTn id="114" dur="1" fill="hold">
                                          <p:stCondLst>
                                            <p:cond delay="0"/>
                                          </p:stCondLst>
                                        </p:cTn>
                                        <p:tgtEl>
                                          <p:spTgt spid="47"/>
                                        </p:tgtEl>
                                        <p:attrNameLst>
                                          <p:attrName>style.visibility</p:attrName>
                                        </p:attrNameLst>
                                      </p:cBhvr>
                                      <p:to>
                                        <p:strVal val="visible"/>
                                      </p:to>
                                    </p:set>
                                    <p:animEffect transition="in" filter="barn(inVertical)">
                                      <p:cBhvr>
                                        <p:cTn id="115" dur="500"/>
                                        <p:tgtEl>
                                          <p:spTgt spid="47"/>
                                        </p:tgtEl>
                                      </p:cBhvr>
                                    </p:animEffect>
                                  </p:childTnLst>
                                </p:cTn>
                              </p:par>
                            </p:childTnLst>
                          </p:cTn>
                        </p:par>
                      </p:childTnLst>
                    </p:cTn>
                  </p:par>
                  <p:par>
                    <p:cTn id="116" fill="hold">
                      <p:stCondLst>
                        <p:cond delay="indefinite"/>
                      </p:stCondLst>
                      <p:childTnLst>
                        <p:par>
                          <p:cTn id="117" fill="hold">
                            <p:stCondLst>
                              <p:cond delay="0"/>
                            </p:stCondLst>
                            <p:childTnLst>
                              <p:par>
                                <p:cTn id="118" presetID="26" presetClass="entr" presetSubtype="0" fill="hold" grpId="0" nodeType="clickEffect">
                                  <p:stCondLst>
                                    <p:cond delay="0"/>
                                  </p:stCondLst>
                                  <p:childTnLst>
                                    <p:set>
                                      <p:cBhvr>
                                        <p:cTn id="119" dur="1" fill="hold">
                                          <p:stCondLst>
                                            <p:cond delay="0"/>
                                          </p:stCondLst>
                                        </p:cTn>
                                        <p:tgtEl>
                                          <p:spTgt spid="48"/>
                                        </p:tgtEl>
                                        <p:attrNameLst>
                                          <p:attrName>style.visibility</p:attrName>
                                        </p:attrNameLst>
                                      </p:cBhvr>
                                      <p:to>
                                        <p:strVal val="visible"/>
                                      </p:to>
                                    </p:set>
                                    <p:animEffect transition="in" filter="wipe(down)">
                                      <p:cBhvr>
                                        <p:cTn id="120" dur="580">
                                          <p:stCondLst>
                                            <p:cond delay="0"/>
                                          </p:stCondLst>
                                        </p:cTn>
                                        <p:tgtEl>
                                          <p:spTgt spid="48"/>
                                        </p:tgtEl>
                                      </p:cBhvr>
                                    </p:animEffect>
                                    <p:anim calcmode="lin" valueType="num">
                                      <p:cBhvr>
                                        <p:cTn id="121" dur="1822" tmFilter="0,0; 0.14,0.36; 0.43,0.73; 0.71,0.91; 1.0,1.0">
                                          <p:stCondLst>
                                            <p:cond delay="0"/>
                                          </p:stCondLst>
                                        </p:cTn>
                                        <p:tgtEl>
                                          <p:spTgt spid="48"/>
                                        </p:tgtEl>
                                        <p:attrNameLst>
                                          <p:attrName>ppt_x</p:attrName>
                                        </p:attrNameLst>
                                      </p:cBhvr>
                                      <p:tavLst>
                                        <p:tav tm="0">
                                          <p:val>
                                            <p:strVal val="#ppt_x-0.25"/>
                                          </p:val>
                                        </p:tav>
                                        <p:tav tm="100000">
                                          <p:val>
                                            <p:strVal val="#ppt_x"/>
                                          </p:val>
                                        </p:tav>
                                      </p:tavLst>
                                    </p:anim>
                                    <p:anim calcmode="lin" valueType="num">
                                      <p:cBhvr>
                                        <p:cTn id="122" dur="664" tmFilter="0.0,0.0; 0.25,0.07; 0.50,0.2; 0.75,0.467; 1.0,1.0">
                                          <p:stCondLst>
                                            <p:cond delay="0"/>
                                          </p:stCondLst>
                                        </p:cTn>
                                        <p:tgtEl>
                                          <p:spTgt spid="48"/>
                                        </p:tgtEl>
                                        <p:attrNameLst>
                                          <p:attrName>ppt_y</p:attrName>
                                        </p:attrNameLst>
                                      </p:cBhvr>
                                      <p:tavLst>
                                        <p:tav tm="0" fmla="#ppt_y-sin(pi*$)/3">
                                          <p:val>
                                            <p:fltVal val="0.5"/>
                                          </p:val>
                                        </p:tav>
                                        <p:tav tm="100000">
                                          <p:val>
                                            <p:fltVal val="1"/>
                                          </p:val>
                                        </p:tav>
                                      </p:tavLst>
                                    </p:anim>
                                    <p:anim calcmode="lin" valueType="num">
                                      <p:cBhvr>
                                        <p:cTn id="123" dur="664" tmFilter="0, 0; 0.125,0.2665; 0.25,0.4; 0.375,0.465; 0.5,0.5;  0.625,0.535; 0.75,0.6; 0.875,0.7335; 1,1">
                                          <p:stCondLst>
                                            <p:cond delay="664"/>
                                          </p:stCondLst>
                                        </p:cTn>
                                        <p:tgtEl>
                                          <p:spTgt spid="48"/>
                                        </p:tgtEl>
                                        <p:attrNameLst>
                                          <p:attrName>ppt_y</p:attrName>
                                        </p:attrNameLst>
                                      </p:cBhvr>
                                      <p:tavLst>
                                        <p:tav tm="0" fmla="#ppt_y-sin(pi*$)/9">
                                          <p:val>
                                            <p:fltVal val="0"/>
                                          </p:val>
                                        </p:tav>
                                        <p:tav tm="100000">
                                          <p:val>
                                            <p:fltVal val="1"/>
                                          </p:val>
                                        </p:tav>
                                      </p:tavLst>
                                    </p:anim>
                                    <p:anim calcmode="lin" valueType="num">
                                      <p:cBhvr>
                                        <p:cTn id="124" dur="332" tmFilter="0, 0; 0.125,0.2665; 0.25,0.4; 0.375,0.465; 0.5,0.5;  0.625,0.535; 0.75,0.6; 0.875,0.7335; 1,1">
                                          <p:stCondLst>
                                            <p:cond delay="1324"/>
                                          </p:stCondLst>
                                        </p:cTn>
                                        <p:tgtEl>
                                          <p:spTgt spid="48"/>
                                        </p:tgtEl>
                                        <p:attrNameLst>
                                          <p:attrName>ppt_y</p:attrName>
                                        </p:attrNameLst>
                                      </p:cBhvr>
                                      <p:tavLst>
                                        <p:tav tm="0" fmla="#ppt_y-sin(pi*$)/27">
                                          <p:val>
                                            <p:fltVal val="0"/>
                                          </p:val>
                                        </p:tav>
                                        <p:tav tm="100000">
                                          <p:val>
                                            <p:fltVal val="1"/>
                                          </p:val>
                                        </p:tav>
                                      </p:tavLst>
                                    </p:anim>
                                    <p:anim calcmode="lin" valueType="num">
                                      <p:cBhvr>
                                        <p:cTn id="125" dur="164" tmFilter="0, 0; 0.125,0.2665; 0.25,0.4; 0.375,0.465; 0.5,0.5;  0.625,0.535; 0.75,0.6; 0.875,0.7335; 1,1">
                                          <p:stCondLst>
                                            <p:cond delay="1656"/>
                                          </p:stCondLst>
                                        </p:cTn>
                                        <p:tgtEl>
                                          <p:spTgt spid="48"/>
                                        </p:tgtEl>
                                        <p:attrNameLst>
                                          <p:attrName>ppt_y</p:attrName>
                                        </p:attrNameLst>
                                      </p:cBhvr>
                                      <p:tavLst>
                                        <p:tav tm="0" fmla="#ppt_y-sin(pi*$)/81">
                                          <p:val>
                                            <p:fltVal val="0"/>
                                          </p:val>
                                        </p:tav>
                                        <p:tav tm="100000">
                                          <p:val>
                                            <p:fltVal val="1"/>
                                          </p:val>
                                        </p:tav>
                                      </p:tavLst>
                                    </p:anim>
                                    <p:animScale>
                                      <p:cBhvr>
                                        <p:cTn id="126" dur="26">
                                          <p:stCondLst>
                                            <p:cond delay="650"/>
                                          </p:stCondLst>
                                        </p:cTn>
                                        <p:tgtEl>
                                          <p:spTgt spid="48"/>
                                        </p:tgtEl>
                                      </p:cBhvr>
                                      <p:to x="100000" y="60000"/>
                                    </p:animScale>
                                    <p:animScale>
                                      <p:cBhvr>
                                        <p:cTn id="127" dur="166" decel="50000">
                                          <p:stCondLst>
                                            <p:cond delay="676"/>
                                          </p:stCondLst>
                                        </p:cTn>
                                        <p:tgtEl>
                                          <p:spTgt spid="48"/>
                                        </p:tgtEl>
                                      </p:cBhvr>
                                      <p:to x="100000" y="100000"/>
                                    </p:animScale>
                                    <p:animScale>
                                      <p:cBhvr>
                                        <p:cTn id="128" dur="26">
                                          <p:stCondLst>
                                            <p:cond delay="1312"/>
                                          </p:stCondLst>
                                        </p:cTn>
                                        <p:tgtEl>
                                          <p:spTgt spid="48"/>
                                        </p:tgtEl>
                                      </p:cBhvr>
                                      <p:to x="100000" y="80000"/>
                                    </p:animScale>
                                    <p:animScale>
                                      <p:cBhvr>
                                        <p:cTn id="129" dur="166" decel="50000">
                                          <p:stCondLst>
                                            <p:cond delay="1338"/>
                                          </p:stCondLst>
                                        </p:cTn>
                                        <p:tgtEl>
                                          <p:spTgt spid="48"/>
                                        </p:tgtEl>
                                      </p:cBhvr>
                                      <p:to x="100000" y="100000"/>
                                    </p:animScale>
                                    <p:animScale>
                                      <p:cBhvr>
                                        <p:cTn id="130" dur="26">
                                          <p:stCondLst>
                                            <p:cond delay="1642"/>
                                          </p:stCondLst>
                                        </p:cTn>
                                        <p:tgtEl>
                                          <p:spTgt spid="48"/>
                                        </p:tgtEl>
                                      </p:cBhvr>
                                      <p:to x="100000" y="90000"/>
                                    </p:animScale>
                                    <p:animScale>
                                      <p:cBhvr>
                                        <p:cTn id="131" dur="166" decel="50000">
                                          <p:stCondLst>
                                            <p:cond delay="1668"/>
                                          </p:stCondLst>
                                        </p:cTn>
                                        <p:tgtEl>
                                          <p:spTgt spid="48"/>
                                        </p:tgtEl>
                                      </p:cBhvr>
                                      <p:to x="100000" y="100000"/>
                                    </p:animScale>
                                    <p:animScale>
                                      <p:cBhvr>
                                        <p:cTn id="132" dur="26">
                                          <p:stCondLst>
                                            <p:cond delay="1808"/>
                                          </p:stCondLst>
                                        </p:cTn>
                                        <p:tgtEl>
                                          <p:spTgt spid="48"/>
                                        </p:tgtEl>
                                      </p:cBhvr>
                                      <p:to x="100000" y="95000"/>
                                    </p:animScale>
                                    <p:animScale>
                                      <p:cBhvr>
                                        <p:cTn id="133" dur="166" decel="50000">
                                          <p:stCondLst>
                                            <p:cond delay="1834"/>
                                          </p:stCondLst>
                                        </p:cTn>
                                        <p:tgtEl>
                                          <p:spTgt spid="48"/>
                                        </p:tgtEl>
                                      </p:cBhvr>
                                      <p:to x="100000" y="100000"/>
                                    </p:animScale>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nodeType="clickEffect">
                                  <p:stCondLst>
                                    <p:cond delay="0"/>
                                  </p:stCondLst>
                                  <p:childTnLst>
                                    <p:set>
                                      <p:cBhvr>
                                        <p:cTn id="137" dur="1" fill="hold">
                                          <p:stCondLst>
                                            <p:cond delay="0"/>
                                          </p:stCondLst>
                                        </p:cTn>
                                        <p:tgtEl>
                                          <p:spTgt spid="51"/>
                                        </p:tgtEl>
                                        <p:attrNameLst>
                                          <p:attrName>style.visibility</p:attrName>
                                        </p:attrNameLst>
                                      </p:cBhvr>
                                      <p:to>
                                        <p:strVal val="visible"/>
                                      </p:to>
                                    </p:set>
                                    <p:animEffect transition="in" filter="fade">
                                      <p:cBhvr>
                                        <p:cTn id="138" dur="500"/>
                                        <p:tgtEl>
                                          <p:spTgt spid="51"/>
                                        </p:tgtEl>
                                      </p:cBhvr>
                                    </p:animEffect>
                                  </p:childTnLst>
                                </p:cTn>
                              </p:par>
                              <p:par>
                                <p:cTn id="139" presetID="10" presetClass="entr" presetSubtype="0" fill="hold" nodeType="withEffect">
                                  <p:stCondLst>
                                    <p:cond delay="0"/>
                                  </p:stCondLst>
                                  <p:childTnLst>
                                    <p:set>
                                      <p:cBhvr>
                                        <p:cTn id="140" dur="1" fill="hold">
                                          <p:stCondLst>
                                            <p:cond delay="0"/>
                                          </p:stCondLst>
                                        </p:cTn>
                                        <p:tgtEl>
                                          <p:spTgt spid="50"/>
                                        </p:tgtEl>
                                        <p:attrNameLst>
                                          <p:attrName>style.visibility</p:attrName>
                                        </p:attrNameLst>
                                      </p:cBhvr>
                                      <p:to>
                                        <p:strVal val="visible"/>
                                      </p:to>
                                    </p:set>
                                    <p:animEffect transition="in" filter="fade">
                                      <p:cBhvr>
                                        <p:cTn id="141" dur="500"/>
                                        <p:tgtEl>
                                          <p:spTgt spid="50"/>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60"/>
                                        </p:tgtEl>
                                        <p:attrNameLst>
                                          <p:attrName>style.visibility</p:attrName>
                                        </p:attrNameLst>
                                      </p:cBhvr>
                                      <p:to>
                                        <p:strVal val="visible"/>
                                      </p:to>
                                    </p:set>
                                    <p:animEffect transition="in" filter="fade">
                                      <p:cBhvr>
                                        <p:cTn id="144" dur="500"/>
                                        <p:tgtEl>
                                          <p:spTgt spid="60"/>
                                        </p:tgtEl>
                                      </p:cBhvr>
                                    </p:animEffect>
                                  </p:childTnLst>
                                </p:cTn>
                              </p:par>
                            </p:childTnLst>
                          </p:cTn>
                        </p:par>
                      </p:childTnLst>
                    </p:cTn>
                  </p:par>
                  <p:par>
                    <p:cTn id="145" fill="hold">
                      <p:stCondLst>
                        <p:cond delay="indefinite"/>
                      </p:stCondLst>
                      <p:childTnLst>
                        <p:par>
                          <p:cTn id="146" fill="hold">
                            <p:stCondLst>
                              <p:cond delay="0"/>
                            </p:stCondLst>
                            <p:childTnLst>
                              <p:par>
                                <p:cTn id="147" presetID="16" presetClass="entr" presetSubtype="21" fill="hold" grpId="0" nodeType="clickEffect">
                                  <p:stCondLst>
                                    <p:cond delay="0"/>
                                  </p:stCondLst>
                                  <p:childTnLst>
                                    <p:set>
                                      <p:cBhvr>
                                        <p:cTn id="148" dur="1" fill="hold">
                                          <p:stCondLst>
                                            <p:cond delay="0"/>
                                          </p:stCondLst>
                                        </p:cTn>
                                        <p:tgtEl>
                                          <p:spTgt spid="61"/>
                                        </p:tgtEl>
                                        <p:attrNameLst>
                                          <p:attrName>style.visibility</p:attrName>
                                        </p:attrNameLst>
                                      </p:cBhvr>
                                      <p:to>
                                        <p:strVal val="visible"/>
                                      </p:to>
                                    </p:set>
                                    <p:animEffect transition="in" filter="barn(inVertical)">
                                      <p:cBhvr>
                                        <p:cTn id="149"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5" grpId="0" animBg="1"/>
      <p:bldP spid="31" grpId="0"/>
      <p:bldP spid="35" grpId="0"/>
      <p:bldP spid="6" grpId="0" animBg="1"/>
      <p:bldP spid="37" grpId="0" animBg="1"/>
      <p:bldP spid="38" grpId="0" animBg="1"/>
      <p:bldP spid="40" grpId="0"/>
      <p:bldP spid="41" grpId="0" animBg="1"/>
      <p:bldP spid="44" grpId="0" animBg="1"/>
      <p:bldP spid="45" grpId="0" animBg="1"/>
      <p:bldP spid="47" grpId="0"/>
      <p:bldP spid="48" grpId="0" animBg="1"/>
      <p:bldP spid="60" grpId="0" animBg="1"/>
      <p:bldP spid="6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he-IL" dirty="0"/>
              <a:t>שיווי משקל ושווקים חלקיים</a:t>
            </a:r>
            <a:endParaRPr lang="en-US" dirty="0"/>
          </a:p>
        </p:txBody>
      </p:sp>
      <p:sp>
        <p:nvSpPr>
          <p:cNvPr id="3" name="Content Placeholder 2"/>
          <p:cNvSpPr>
            <a:spLocks noGrp="1"/>
          </p:cNvSpPr>
          <p:nvPr>
            <p:ph idx="1"/>
          </p:nvPr>
        </p:nvSpPr>
        <p:spPr>
          <a:xfrm>
            <a:off x="2362200" y="4920646"/>
            <a:ext cx="8991600" cy="1219200"/>
          </a:xfrm>
        </p:spPr>
        <p:txBody>
          <a:bodyPr>
            <a:normAutofit/>
          </a:bodyPr>
          <a:lstStyle/>
          <a:p>
            <a:pPr algn="r" rtl="1">
              <a:lnSpc>
                <a:spcPct val="150000"/>
              </a:lnSpc>
              <a:buClrTx/>
            </a:pPr>
            <a:r>
              <a:rPr lang="he-IL" sz="2400" b="1" dirty="0">
                <a:latin typeface="David" pitchFamily="34" charset="-79"/>
                <a:cs typeface="David" pitchFamily="34" charset="-79"/>
              </a:rPr>
              <a:t>עקומת ההיצע המצרפי </a:t>
            </a:r>
            <a:r>
              <a:rPr lang="he-IL" sz="2400" dirty="0">
                <a:latin typeface="David" pitchFamily="34" charset="-79"/>
                <a:cs typeface="David" pitchFamily="34" charset="-79"/>
              </a:rPr>
              <a:t>מורכבת מעקומות היצע של קבוצות של יצרנים, שינוי בהיצע של אחת הקבוצות ישנה את עקומת הביקוש המצרפית.</a:t>
            </a:r>
          </a:p>
          <a:p>
            <a:pPr algn="r" rtl="1">
              <a:lnSpc>
                <a:spcPct val="150000"/>
              </a:lnSpc>
            </a:pPr>
            <a:endParaRPr lang="he-IL" dirty="0">
              <a:latin typeface="David" pitchFamily="34" charset="-79"/>
              <a:cs typeface="David" pitchFamily="34" charset="-79"/>
            </a:endParaRPr>
          </a:p>
          <a:p>
            <a:pPr algn="r" rtl="1">
              <a:lnSpc>
                <a:spcPct val="150000"/>
              </a:lnSpc>
            </a:pPr>
            <a:endParaRPr lang="en-US" dirty="0">
              <a:latin typeface="David" pitchFamily="34" charset="-79"/>
              <a:cs typeface="David" pitchFamily="34" charset="-79"/>
            </a:endParaRPr>
          </a:p>
        </p:txBody>
      </p:sp>
      <p:sp>
        <p:nvSpPr>
          <p:cNvPr id="6" name="Slide Number Placeholder 5">
            <a:extLst>
              <a:ext uri="{FF2B5EF4-FFF2-40B4-BE49-F238E27FC236}">
                <a16:creationId xmlns:a16="http://schemas.microsoft.com/office/drawing/2014/main" id="{5CDC6873-C009-43D6-BA30-9DDBC24D5CFD}"/>
              </a:ext>
            </a:extLst>
          </p:cNvPr>
          <p:cNvSpPr>
            <a:spLocks noGrp="1"/>
          </p:cNvSpPr>
          <p:nvPr>
            <p:ph type="sldNum" sz="quarter" idx="12"/>
          </p:nvPr>
        </p:nvSpPr>
        <p:spPr/>
        <p:txBody>
          <a:bodyPr/>
          <a:lstStyle/>
          <a:p>
            <a:fld id="{EE4A799E-BCDC-47C4-95D4-74FB8914F55A}" type="slidenum">
              <a:rPr lang="en-US" smtClean="0"/>
              <a:t>34</a:t>
            </a:fld>
            <a:endParaRPr lang="en-US"/>
          </a:p>
        </p:txBody>
      </p:sp>
      <p:sp>
        <p:nvSpPr>
          <p:cNvPr id="4" name="Rectangle 3">
            <a:extLst>
              <a:ext uri="{FF2B5EF4-FFF2-40B4-BE49-F238E27FC236}">
                <a16:creationId xmlns:a16="http://schemas.microsoft.com/office/drawing/2014/main" id="{AF0345EF-C801-4506-B417-D1947D21CDC2}"/>
              </a:ext>
            </a:extLst>
          </p:cNvPr>
          <p:cNvSpPr/>
          <p:nvPr/>
        </p:nvSpPr>
        <p:spPr>
          <a:xfrm>
            <a:off x="2362201" y="1600201"/>
            <a:ext cx="9152466" cy="1154162"/>
          </a:xfrm>
          <a:prstGeom prst="rect">
            <a:avLst/>
          </a:prstGeom>
        </p:spPr>
        <p:txBody>
          <a:bodyPr wrap="square">
            <a:spAutoFit/>
          </a:bodyPr>
          <a:lstStyle/>
          <a:p>
            <a:pPr marL="285750" indent="-285750">
              <a:lnSpc>
                <a:spcPct val="150000"/>
              </a:lnSpc>
              <a:buFont typeface="Arial" panose="020B0604020202020204" pitchFamily="34" charset="0"/>
              <a:buChar char="•"/>
            </a:pPr>
            <a:r>
              <a:rPr lang="he-IL" sz="2400" dirty="0">
                <a:latin typeface="David" pitchFamily="34" charset="-79"/>
                <a:cs typeface="David" pitchFamily="34" charset="-79"/>
              </a:rPr>
              <a:t>לעיתים ניתן להבחין בשינויים בשוק שמקורם בשינויים בהתנהגות של קבוצות שונות של יצרנים או צרכנים.</a:t>
            </a:r>
          </a:p>
        </p:txBody>
      </p:sp>
      <p:sp>
        <p:nvSpPr>
          <p:cNvPr id="5" name="Rectangle 4">
            <a:extLst>
              <a:ext uri="{FF2B5EF4-FFF2-40B4-BE49-F238E27FC236}">
                <a16:creationId xmlns:a16="http://schemas.microsoft.com/office/drawing/2014/main" id="{F832099D-FE24-433C-B69A-1E46770DDFFC}"/>
              </a:ext>
            </a:extLst>
          </p:cNvPr>
          <p:cNvSpPr/>
          <p:nvPr/>
        </p:nvSpPr>
        <p:spPr>
          <a:xfrm>
            <a:off x="2438401" y="3171253"/>
            <a:ext cx="8915399" cy="1154162"/>
          </a:xfrm>
          <a:prstGeom prst="rect">
            <a:avLst/>
          </a:prstGeom>
        </p:spPr>
        <p:txBody>
          <a:bodyPr wrap="square">
            <a:spAutoFit/>
          </a:bodyPr>
          <a:lstStyle/>
          <a:p>
            <a:pPr marL="285750" indent="-285750">
              <a:lnSpc>
                <a:spcPct val="150000"/>
              </a:lnSpc>
              <a:buFont typeface="Arial" panose="020B0604020202020204" pitchFamily="34" charset="0"/>
              <a:buChar char="•"/>
            </a:pPr>
            <a:r>
              <a:rPr lang="he-IL" sz="2400" b="1" dirty="0">
                <a:latin typeface="David" pitchFamily="34" charset="-79"/>
                <a:cs typeface="David" pitchFamily="34" charset="-79"/>
              </a:rPr>
              <a:t>עקומת הביקוש המצרפי </a:t>
            </a:r>
            <a:r>
              <a:rPr lang="he-IL" sz="2400" dirty="0">
                <a:latin typeface="David" pitchFamily="34" charset="-79"/>
                <a:cs typeface="David" pitchFamily="34" charset="-79"/>
              </a:rPr>
              <a:t>מורכבת מעקומות ביקוש של קבוצות של צרכנים, שינוי בביקוש של אחת הקבוצות ישנה את עקומת הביקוש המצרפית.</a:t>
            </a:r>
          </a:p>
        </p:txBody>
      </p:sp>
      <p:sp>
        <p:nvSpPr>
          <p:cNvPr id="7" name="Date Placeholder 6">
            <a:extLst>
              <a:ext uri="{FF2B5EF4-FFF2-40B4-BE49-F238E27FC236}">
                <a16:creationId xmlns:a16="http://schemas.microsoft.com/office/drawing/2014/main" id="{A5D9F0E5-856D-AA7C-F0F8-AAC500266640}"/>
              </a:ext>
            </a:extLst>
          </p:cNvPr>
          <p:cNvSpPr>
            <a:spLocks noGrp="1"/>
          </p:cNvSpPr>
          <p:nvPr>
            <p:ph type="dt" sz="half" idx="10"/>
          </p:nvPr>
        </p:nvSpPr>
        <p:spPr/>
        <p:txBody>
          <a:bodyPr/>
          <a:lstStyle/>
          <a:p>
            <a:fld id="{E076E229-DEC3-48F6-805F-7A478548BF5B}" type="datetime8">
              <a:rPr lang="he-IL" smtClean="0"/>
              <a:t>09 ינואר 26</a:t>
            </a:fld>
            <a:endParaRPr lang="he-IL"/>
          </a:p>
        </p:txBody>
      </p:sp>
    </p:spTree>
    <p:extLst>
      <p:ext uri="{BB962C8B-B14F-4D97-AF65-F5344CB8AC3E}">
        <p14:creationId xmlns:p14="http://schemas.microsoft.com/office/powerpoint/2010/main" val="1009807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fade">
                                      <p:cBhvr>
                                        <p:cTn id="16"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79406" y="154126"/>
            <a:ext cx="7772400" cy="762000"/>
          </a:xfrm>
        </p:spPr>
        <p:txBody>
          <a:bodyPr>
            <a:normAutofit/>
          </a:bodyPr>
          <a:lstStyle/>
          <a:p>
            <a:pPr algn="ctr"/>
            <a:r>
              <a:rPr lang="he-IL" dirty="0"/>
              <a:t>שיווי משקל ושווקים חלקיים</a:t>
            </a:r>
            <a:endParaRPr lang="en-US" dirty="0"/>
          </a:p>
        </p:txBody>
      </p:sp>
      <p:sp>
        <p:nvSpPr>
          <p:cNvPr id="3" name="Content Placeholder 2"/>
          <p:cNvSpPr>
            <a:spLocks noGrp="1"/>
          </p:cNvSpPr>
          <p:nvPr>
            <p:ph idx="1"/>
          </p:nvPr>
        </p:nvSpPr>
        <p:spPr>
          <a:xfrm>
            <a:off x="3048001" y="2697627"/>
            <a:ext cx="8856131" cy="562612"/>
          </a:xfrm>
        </p:spPr>
        <p:txBody>
          <a:bodyPr>
            <a:noAutofit/>
          </a:bodyPr>
          <a:lstStyle/>
          <a:p>
            <a:pPr marL="0" indent="0">
              <a:lnSpc>
                <a:spcPct val="150000"/>
              </a:lnSpc>
              <a:buNone/>
            </a:pPr>
            <a:r>
              <a:rPr lang="he-IL" sz="2400" dirty="0">
                <a:latin typeface="David" pitchFamily="34" charset="-79"/>
                <a:cs typeface="David" pitchFamily="34" charset="-79"/>
              </a:rPr>
              <a:t>2. </a:t>
            </a:r>
            <a:r>
              <a:rPr lang="he-IL" sz="2400" dirty="0">
                <a:latin typeface="Arial" panose="020B0604020202020204" pitchFamily="34" charset="0"/>
                <a:cs typeface="Arial" panose="020B0604020202020204" pitchFamily="34" charset="0"/>
              </a:rPr>
              <a:t>בשוק המוצר ישנו </a:t>
            </a:r>
            <a:r>
              <a:rPr lang="he-IL" sz="2400" dirty="0">
                <a:solidFill>
                  <a:prstClr val="black"/>
                </a:solidFill>
                <a:latin typeface="Arial" panose="020B0604020202020204" pitchFamily="34" charset="0"/>
                <a:cs typeface="Arial" panose="020B0604020202020204" pitchFamily="34" charset="0"/>
              </a:rPr>
              <a:t>מספר רב של </a:t>
            </a:r>
            <a:r>
              <a:rPr lang="he-IL" sz="2400" b="1" dirty="0">
                <a:solidFill>
                  <a:srgbClr val="FF0000"/>
                </a:solidFill>
                <a:latin typeface="Arial" panose="020B0604020202020204" pitchFamily="34" charset="0"/>
                <a:cs typeface="Arial" panose="020B0604020202020204" pitchFamily="34" charset="0"/>
              </a:rPr>
              <a:t>יצרנים</a:t>
            </a:r>
            <a:r>
              <a:rPr lang="he-IL" sz="2400" dirty="0">
                <a:solidFill>
                  <a:prstClr val="black"/>
                </a:solidFill>
                <a:latin typeface="Arial" panose="020B0604020202020204" pitchFamily="34" charset="0"/>
                <a:cs typeface="Arial" panose="020B0604020202020204" pitchFamily="34" charset="0"/>
              </a:rPr>
              <a:t> פחות או יותר שווים בגודלם.</a:t>
            </a:r>
            <a:endParaRPr lang="he-IL" sz="2400" dirty="0">
              <a:latin typeface="Arial" panose="020B0604020202020204" pitchFamily="34" charset="0"/>
              <a:cs typeface="Arial" panose="020B0604020202020204" pitchFamily="34" charset="0"/>
            </a:endParaRPr>
          </a:p>
        </p:txBody>
      </p:sp>
      <p:sp>
        <p:nvSpPr>
          <p:cNvPr id="8" name="Slide Number Placeholder 7">
            <a:extLst>
              <a:ext uri="{FF2B5EF4-FFF2-40B4-BE49-F238E27FC236}">
                <a16:creationId xmlns:a16="http://schemas.microsoft.com/office/drawing/2014/main" id="{8199BC5A-D980-4D7A-A8B5-75EFAF12A600}"/>
              </a:ext>
            </a:extLst>
          </p:cNvPr>
          <p:cNvSpPr>
            <a:spLocks noGrp="1"/>
          </p:cNvSpPr>
          <p:nvPr>
            <p:ph type="sldNum" sz="quarter" idx="12"/>
          </p:nvPr>
        </p:nvSpPr>
        <p:spPr/>
        <p:txBody>
          <a:bodyPr/>
          <a:lstStyle/>
          <a:p>
            <a:fld id="{EE4A799E-BCDC-47C4-95D4-74FB8914F55A}" type="slidenum">
              <a:rPr lang="en-US" smtClean="0"/>
              <a:t>35</a:t>
            </a:fld>
            <a:endParaRPr lang="en-US"/>
          </a:p>
        </p:txBody>
      </p:sp>
      <p:sp>
        <p:nvSpPr>
          <p:cNvPr id="4" name="Rectangle 3">
            <a:extLst>
              <a:ext uri="{FF2B5EF4-FFF2-40B4-BE49-F238E27FC236}">
                <a16:creationId xmlns:a16="http://schemas.microsoft.com/office/drawing/2014/main" id="{4EDF4D82-B88C-4F46-A35C-FB66C6B9525E}"/>
              </a:ext>
            </a:extLst>
          </p:cNvPr>
          <p:cNvSpPr/>
          <p:nvPr/>
        </p:nvSpPr>
        <p:spPr>
          <a:xfrm>
            <a:off x="5630333" y="1072503"/>
            <a:ext cx="6239933" cy="1119537"/>
          </a:xfrm>
          <a:prstGeom prst="rect">
            <a:avLst/>
          </a:prstGeom>
        </p:spPr>
        <p:txBody>
          <a:bodyPr wrap="square">
            <a:spAutoFit/>
          </a:bodyPr>
          <a:lstStyle/>
          <a:p>
            <a:pPr algn="r" rtl="1">
              <a:lnSpc>
                <a:spcPct val="150000"/>
              </a:lnSpc>
            </a:pPr>
            <a:r>
              <a:rPr lang="he-IL" sz="2800" b="1" u="sng" dirty="0">
                <a:solidFill>
                  <a:prstClr val="black"/>
                </a:solidFill>
                <a:latin typeface="Calibri" panose="020F0502020204030204"/>
                <a:cs typeface="Arial" panose="020B0604020202020204" pitchFamily="34" charset="0"/>
              </a:rPr>
              <a:t>הנחות</a:t>
            </a:r>
            <a:r>
              <a:rPr lang="he-IL" sz="2000" b="1" dirty="0">
                <a:solidFill>
                  <a:prstClr val="black"/>
                </a:solidFill>
                <a:latin typeface="Calibri" panose="020F0502020204030204"/>
                <a:cs typeface="Arial" panose="020B0604020202020204" pitchFamily="34" charset="0"/>
              </a:rPr>
              <a:t> לגבי השוק למוצר </a:t>
            </a:r>
            <a:r>
              <a:rPr lang="he-IL" sz="2000" b="1" dirty="0">
                <a:solidFill>
                  <a:prstClr val="black"/>
                </a:solidFill>
                <a:latin typeface="Calibri" panose="020F0502020204030204"/>
              </a:rPr>
              <a:t>אותו ננתח בקורס:</a:t>
            </a:r>
            <a:endParaRPr lang="en-US" sz="2000" b="1" dirty="0">
              <a:solidFill>
                <a:prstClr val="black"/>
              </a:solidFill>
              <a:latin typeface="Calibri" panose="020F0502020204030204"/>
            </a:endParaRPr>
          </a:p>
          <a:p>
            <a:pPr algn="r" rtl="1">
              <a:lnSpc>
                <a:spcPct val="150000"/>
              </a:lnSpc>
              <a:buClrTx/>
            </a:pPr>
            <a:endParaRPr lang="he-IL" dirty="0">
              <a:latin typeface="David" pitchFamily="34" charset="-79"/>
              <a:cs typeface="David" pitchFamily="34" charset="-79"/>
            </a:endParaRPr>
          </a:p>
        </p:txBody>
      </p:sp>
      <p:sp>
        <p:nvSpPr>
          <p:cNvPr id="5" name="Rectangle 4">
            <a:extLst>
              <a:ext uri="{FF2B5EF4-FFF2-40B4-BE49-F238E27FC236}">
                <a16:creationId xmlns:a16="http://schemas.microsoft.com/office/drawing/2014/main" id="{9636624F-5C1E-40DE-955D-0B2FC2FBAABB}"/>
              </a:ext>
            </a:extLst>
          </p:cNvPr>
          <p:cNvSpPr/>
          <p:nvPr/>
        </p:nvSpPr>
        <p:spPr>
          <a:xfrm>
            <a:off x="3047999" y="1894170"/>
            <a:ext cx="8856133" cy="595741"/>
          </a:xfrm>
          <a:prstGeom prst="rect">
            <a:avLst/>
          </a:prstGeom>
        </p:spPr>
        <p:txBody>
          <a:bodyPr wrap="square">
            <a:spAutoFit/>
          </a:bodyPr>
          <a:lstStyle/>
          <a:p>
            <a:pPr algn="r" rtl="1">
              <a:lnSpc>
                <a:spcPct val="150000"/>
              </a:lnSpc>
              <a:buClrTx/>
            </a:pPr>
            <a:r>
              <a:rPr lang="he-IL" sz="2400" dirty="0">
                <a:latin typeface="David" pitchFamily="34" charset="-79"/>
                <a:cs typeface="David" pitchFamily="34" charset="-79"/>
              </a:rPr>
              <a:t>1</a:t>
            </a:r>
            <a:r>
              <a:rPr lang="he-IL" sz="2400" dirty="0">
                <a:latin typeface="Arial" panose="020B0604020202020204" pitchFamily="34" charset="0"/>
                <a:cs typeface="Arial" panose="020B0604020202020204" pitchFamily="34" charset="0"/>
              </a:rPr>
              <a:t>. בשוק המוצר ישנו </a:t>
            </a:r>
            <a:r>
              <a:rPr lang="he-IL" sz="2400" dirty="0">
                <a:solidFill>
                  <a:prstClr val="black"/>
                </a:solidFill>
                <a:latin typeface="Arial" panose="020B0604020202020204" pitchFamily="34" charset="0"/>
                <a:cs typeface="Arial" panose="020B0604020202020204" pitchFamily="34" charset="0"/>
              </a:rPr>
              <a:t>מספר רב של </a:t>
            </a:r>
            <a:r>
              <a:rPr lang="he-IL" sz="2400" b="1" dirty="0">
                <a:solidFill>
                  <a:srgbClr val="FF0000"/>
                </a:solidFill>
                <a:latin typeface="Arial" panose="020B0604020202020204" pitchFamily="34" charset="0"/>
                <a:cs typeface="Arial" panose="020B0604020202020204" pitchFamily="34" charset="0"/>
              </a:rPr>
              <a:t>צרכנים</a:t>
            </a:r>
            <a:r>
              <a:rPr lang="he-IL" sz="2400" b="1" dirty="0">
                <a:solidFill>
                  <a:prstClr val="black"/>
                </a:solidFill>
                <a:latin typeface="Arial" panose="020B0604020202020204" pitchFamily="34" charset="0"/>
                <a:cs typeface="Arial" panose="020B0604020202020204" pitchFamily="34" charset="0"/>
              </a:rPr>
              <a:t> </a:t>
            </a:r>
            <a:r>
              <a:rPr lang="he-IL" sz="2400" dirty="0">
                <a:solidFill>
                  <a:prstClr val="black"/>
                </a:solidFill>
                <a:latin typeface="Arial" panose="020B0604020202020204" pitchFamily="34" charset="0"/>
                <a:cs typeface="Arial" panose="020B0604020202020204" pitchFamily="34" charset="0"/>
              </a:rPr>
              <a:t>פחות או יותר שווים בגודלם.</a:t>
            </a:r>
            <a:endParaRPr lang="he-IL" sz="2400" dirty="0">
              <a:latin typeface="Arial" panose="020B060402020202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9BCC17C2-1215-4B1C-81DF-DF6CA7AA3316}"/>
              </a:ext>
            </a:extLst>
          </p:cNvPr>
          <p:cNvSpPr txBox="1">
            <a:spLocks/>
          </p:cNvSpPr>
          <p:nvPr/>
        </p:nvSpPr>
        <p:spPr>
          <a:xfrm>
            <a:off x="5943601" y="3467955"/>
            <a:ext cx="5960531" cy="562612"/>
          </a:xfrm>
          <a:prstGeom prst="rect">
            <a:avLst/>
          </a:prstGeom>
        </p:spPr>
        <p:txBody>
          <a:bodyPr vert="horz">
            <a:no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algn="r" rtl="1">
              <a:lnSpc>
                <a:spcPct val="150000"/>
              </a:lnSpc>
              <a:buClrTx/>
              <a:buNone/>
            </a:pPr>
            <a:r>
              <a:rPr lang="he-IL" sz="2400" dirty="0">
                <a:latin typeface="David" pitchFamily="34" charset="-79"/>
                <a:cs typeface="David" pitchFamily="34" charset="-79"/>
              </a:rPr>
              <a:t>3. </a:t>
            </a:r>
            <a:r>
              <a:rPr lang="he-IL" sz="2400" dirty="0">
                <a:solidFill>
                  <a:prstClr val="black"/>
                </a:solidFill>
                <a:latin typeface="Calibri" panose="020F0502020204030204"/>
                <a:cs typeface="Arial" panose="020B0604020202020204" pitchFamily="34" charset="0"/>
              </a:rPr>
              <a:t>אינפורמציה מלאה לגבי מחירי המוצרים.</a:t>
            </a:r>
            <a:endParaRPr lang="he-IL" sz="2400" dirty="0">
              <a:latin typeface="David" pitchFamily="34" charset="-79"/>
              <a:cs typeface="David" pitchFamily="34" charset="-79"/>
            </a:endParaRPr>
          </a:p>
        </p:txBody>
      </p:sp>
      <p:sp>
        <p:nvSpPr>
          <p:cNvPr id="6" name="Date Placeholder 5">
            <a:extLst>
              <a:ext uri="{FF2B5EF4-FFF2-40B4-BE49-F238E27FC236}">
                <a16:creationId xmlns:a16="http://schemas.microsoft.com/office/drawing/2014/main" id="{29C73323-2543-1B99-B46D-B91EEFB23B9D}"/>
              </a:ext>
            </a:extLst>
          </p:cNvPr>
          <p:cNvSpPr>
            <a:spLocks noGrp="1"/>
          </p:cNvSpPr>
          <p:nvPr>
            <p:ph type="dt" sz="half" idx="10"/>
          </p:nvPr>
        </p:nvSpPr>
        <p:spPr/>
        <p:txBody>
          <a:bodyPr/>
          <a:lstStyle/>
          <a:p>
            <a:fld id="{2547EA41-34F3-479D-AE90-F35F883C2011}" type="datetime8">
              <a:rPr lang="he-IL" smtClean="0"/>
              <a:t>09 ינואר 26</a:t>
            </a:fld>
            <a:endParaRPr lang="he-IL"/>
          </a:p>
        </p:txBody>
      </p:sp>
    </p:spTree>
    <p:extLst>
      <p:ext uri="{BB962C8B-B14F-4D97-AF65-F5344CB8AC3E}">
        <p14:creationId xmlns:p14="http://schemas.microsoft.com/office/powerpoint/2010/main" val="1382219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54000" y="557787"/>
            <a:ext cx="11430000" cy="769441"/>
          </a:xfrm>
          <a:prstGeom prst="rect">
            <a:avLst/>
          </a:prstGeom>
          <a:noFill/>
        </p:spPr>
        <p:txBody>
          <a:bodyPr wrap="square" rtlCol="0">
            <a:spAutoFit/>
          </a:bodyPr>
          <a:lstStyle/>
          <a:p>
            <a:pPr defTabSz="685800"/>
            <a:r>
              <a:rPr lang="he-IL" sz="4400" b="1" dirty="0">
                <a:solidFill>
                  <a:prstClr val="black"/>
                </a:solidFill>
                <a:latin typeface="Aharoni" panose="02010803020104030203" pitchFamily="2" charset="-79"/>
                <a:cs typeface="Aharoni" panose="02010803020104030203" pitchFamily="2" charset="-79"/>
              </a:rPr>
              <a:t>שיווי משקל בשוק המוצר התחרותי ושווקים חלקיים</a:t>
            </a:r>
            <a:endParaRPr lang="en-US" sz="4400" b="1" dirty="0">
              <a:solidFill>
                <a:prstClr val="black"/>
              </a:solidFill>
              <a:latin typeface="Aharoni" panose="02010803020104030203" pitchFamily="2" charset="-79"/>
              <a:cs typeface="Aharoni" panose="02010803020104030203" pitchFamily="2" charset="-79"/>
            </a:endParaRPr>
          </a:p>
        </p:txBody>
      </p:sp>
      <p:cxnSp>
        <p:nvCxnSpPr>
          <p:cNvPr id="4" name="מחבר ישר 3"/>
          <p:cNvCxnSpPr/>
          <p:nvPr/>
        </p:nvCxnSpPr>
        <p:spPr>
          <a:xfrm>
            <a:off x="2012515" y="2313401"/>
            <a:ext cx="0" cy="854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מחבר ישר 5"/>
          <p:cNvCxnSpPr/>
          <p:nvPr/>
        </p:nvCxnSpPr>
        <p:spPr>
          <a:xfrm>
            <a:off x="1984332" y="3168302"/>
            <a:ext cx="901874"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צורה חופשית 6"/>
          <p:cNvSpPr/>
          <p:nvPr/>
        </p:nvSpPr>
        <p:spPr>
          <a:xfrm>
            <a:off x="2200406" y="2379162"/>
            <a:ext cx="582461" cy="676406"/>
          </a:xfrm>
          <a:custGeom>
            <a:avLst/>
            <a:gdLst>
              <a:gd name="connsiteX0" fmla="*/ 0 w 776614"/>
              <a:gd name="connsiteY0" fmla="*/ 0 h 901874"/>
              <a:gd name="connsiteX1" fmla="*/ 338203 w 776614"/>
              <a:gd name="connsiteY1" fmla="*/ 613776 h 901874"/>
              <a:gd name="connsiteX2" fmla="*/ 776614 w 776614"/>
              <a:gd name="connsiteY2" fmla="*/ 901874 h 901874"/>
            </a:gdLst>
            <a:ahLst/>
            <a:cxnLst>
              <a:cxn ang="0">
                <a:pos x="connsiteX0" y="connsiteY0"/>
              </a:cxn>
              <a:cxn ang="0">
                <a:pos x="connsiteX1" y="connsiteY1"/>
              </a:cxn>
              <a:cxn ang="0">
                <a:pos x="connsiteX2" y="connsiteY2"/>
              </a:cxn>
            </a:cxnLst>
            <a:rect l="l" t="t" r="r" b="b"/>
            <a:pathLst>
              <a:path w="776614" h="901874">
                <a:moveTo>
                  <a:pt x="0" y="0"/>
                </a:moveTo>
                <a:cubicBezTo>
                  <a:pt x="104383" y="231732"/>
                  <a:pt x="208767" y="463464"/>
                  <a:pt x="338203" y="613776"/>
                </a:cubicBezTo>
                <a:cubicBezTo>
                  <a:pt x="467639" y="764088"/>
                  <a:pt x="622126" y="832981"/>
                  <a:pt x="776614" y="90187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a:solidFill>
                <a:prstClr val="white"/>
              </a:solidFill>
              <a:latin typeface="Calibri" panose="020F0502020204030204"/>
            </a:endParaRPr>
          </a:p>
        </p:txBody>
      </p:sp>
      <p:sp>
        <p:nvSpPr>
          <p:cNvPr id="8" name="TextBox 7"/>
          <p:cNvSpPr txBox="1"/>
          <p:nvPr/>
        </p:nvSpPr>
        <p:spPr>
          <a:xfrm>
            <a:off x="2855747" y="3224670"/>
            <a:ext cx="304892" cy="369332"/>
          </a:xfrm>
          <a:prstGeom prst="rect">
            <a:avLst/>
          </a:prstGeom>
          <a:noFill/>
        </p:spPr>
        <p:txBody>
          <a:bodyPr wrap="none" rtlCol="0">
            <a:spAutoFit/>
          </a:bodyPr>
          <a:lstStyle/>
          <a:p>
            <a:pPr defTabSz="685800"/>
            <a:r>
              <a:rPr lang="en-US" dirty="0">
                <a:solidFill>
                  <a:prstClr val="black"/>
                </a:solidFill>
                <a:latin typeface="Calibri" panose="020F0502020204030204"/>
              </a:rPr>
              <a:t>X</a:t>
            </a:r>
          </a:p>
        </p:txBody>
      </p:sp>
      <p:sp>
        <p:nvSpPr>
          <p:cNvPr id="10" name="TextBox 9"/>
          <p:cNvSpPr txBox="1"/>
          <p:nvPr/>
        </p:nvSpPr>
        <p:spPr>
          <a:xfrm>
            <a:off x="1817098" y="2057321"/>
            <a:ext cx="402675" cy="369332"/>
          </a:xfrm>
          <a:prstGeom prst="rect">
            <a:avLst/>
          </a:prstGeom>
          <a:noFill/>
        </p:spPr>
        <p:txBody>
          <a:bodyPr wrap="none" rtlCol="0">
            <a:spAutoFit/>
          </a:bodyPr>
          <a:lstStyle/>
          <a:p>
            <a:pPr defTabSz="685800"/>
            <a:r>
              <a:rPr lang="en-US" dirty="0">
                <a:solidFill>
                  <a:prstClr val="black"/>
                </a:solidFill>
                <a:latin typeface="Calibri" panose="020F0502020204030204"/>
              </a:rPr>
              <a:t>Px</a:t>
            </a:r>
          </a:p>
        </p:txBody>
      </p:sp>
      <p:sp>
        <p:nvSpPr>
          <p:cNvPr id="11" name="TextBox 10"/>
          <p:cNvSpPr txBox="1"/>
          <p:nvPr/>
        </p:nvSpPr>
        <p:spPr>
          <a:xfrm>
            <a:off x="2715888" y="2778568"/>
            <a:ext cx="444352" cy="369332"/>
          </a:xfrm>
          <a:prstGeom prst="rect">
            <a:avLst/>
          </a:prstGeom>
          <a:noFill/>
        </p:spPr>
        <p:txBody>
          <a:bodyPr wrap="none" rtlCol="0">
            <a:spAutoFit/>
          </a:bodyPr>
          <a:lstStyle/>
          <a:p>
            <a:pPr defTabSz="685800"/>
            <a:r>
              <a:rPr lang="en-US" dirty="0">
                <a:solidFill>
                  <a:prstClr val="black"/>
                </a:solidFill>
                <a:latin typeface="Calibri" panose="020F0502020204030204"/>
              </a:rPr>
              <a:t>D1</a:t>
            </a:r>
          </a:p>
        </p:txBody>
      </p:sp>
      <p:cxnSp>
        <p:nvCxnSpPr>
          <p:cNvPr id="12" name="מחבר ישר 11"/>
          <p:cNvCxnSpPr/>
          <p:nvPr/>
        </p:nvCxnSpPr>
        <p:spPr>
          <a:xfrm>
            <a:off x="3468527" y="2376745"/>
            <a:ext cx="0" cy="854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מחבר ישר 12"/>
          <p:cNvCxnSpPr/>
          <p:nvPr/>
        </p:nvCxnSpPr>
        <p:spPr>
          <a:xfrm>
            <a:off x="3440344" y="3231647"/>
            <a:ext cx="901874"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צורה חופשית 13"/>
          <p:cNvSpPr/>
          <p:nvPr/>
        </p:nvSpPr>
        <p:spPr>
          <a:xfrm>
            <a:off x="3656419" y="2442506"/>
            <a:ext cx="582461" cy="676406"/>
          </a:xfrm>
          <a:custGeom>
            <a:avLst/>
            <a:gdLst>
              <a:gd name="connsiteX0" fmla="*/ 0 w 776614"/>
              <a:gd name="connsiteY0" fmla="*/ 0 h 901874"/>
              <a:gd name="connsiteX1" fmla="*/ 338203 w 776614"/>
              <a:gd name="connsiteY1" fmla="*/ 613776 h 901874"/>
              <a:gd name="connsiteX2" fmla="*/ 776614 w 776614"/>
              <a:gd name="connsiteY2" fmla="*/ 901874 h 901874"/>
            </a:gdLst>
            <a:ahLst/>
            <a:cxnLst>
              <a:cxn ang="0">
                <a:pos x="connsiteX0" y="connsiteY0"/>
              </a:cxn>
              <a:cxn ang="0">
                <a:pos x="connsiteX1" y="connsiteY1"/>
              </a:cxn>
              <a:cxn ang="0">
                <a:pos x="connsiteX2" y="connsiteY2"/>
              </a:cxn>
            </a:cxnLst>
            <a:rect l="l" t="t" r="r" b="b"/>
            <a:pathLst>
              <a:path w="776614" h="901874">
                <a:moveTo>
                  <a:pt x="0" y="0"/>
                </a:moveTo>
                <a:cubicBezTo>
                  <a:pt x="104383" y="231732"/>
                  <a:pt x="208767" y="463464"/>
                  <a:pt x="338203" y="613776"/>
                </a:cubicBezTo>
                <a:cubicBezTo>
                  <a:pt x="467639" y="764088"/>
                  <a:pt x="622126" y="832981"/>
                  <a:pt x="776614" y="90187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a:solidFill>
                <a:prstClr val="white"/>
              </a:solidFill>
              <a:latin typeface="Calibri" panose="020F0502020204030204"/>
            </a:endParaRPr>
          </a:p>
        </p:txBody>
      </p:sp>
      <p:sp>
        <p:nvSpPr>
          <p:cNvPr id="15" name="TextBox 14"/>
          <p:cNvSpPr txBox="1"/>
          <p:nvPr/>
        </p:nvSpPr>
        <p:spPr>
          <a:xfrm>
            <a:off x="4305532" y="3258293"/>
            <a:ext cx="304892" cy="369332"/>
          </a:xfrm>
          <a:prstGeom prst="rect">
            <a:avLst/>
          </a:prstGeom>
          <a:noFill/>
        </p:spPr>
        <p:txBody>
          <a:bodyPr wrap="none" rtlCol="0">
            <a:spAutoFit/>
          </a:bodyPr>
          <a:lstStyle/>
          <a:p>
            <a:pPr defTabSz="685800"/>
            <a:r>
              <a:rPr lang="en-US" dirty="0">
                <a:solidFill>
                  <a:prstClr val="black"/>
                </a:solidFill>
                <a:latin typeface="Calibri" panose="020F0502020204030204"/>
              </a:rPr>
              <a:t>X</a:t>
            </a:r>
          </a:p>
        </p:txBody>
      </p:sp>
      <p:sp>
        <p:nvSpPr>
          <p:cNvPr id="16" name="TextBox 15"/>
          <p:cNvSpPr txBox="1"/>
          <p:nvPr/>
        </p:nvSpPr>
        <p:spPr>
          <a:xfrm>
            <a:off x="3269490" y="2130349"/>
            <a:ext cx="402675" cy="369332"/>
          </a:xfrm>
          <a:prstGeom prst="rect">
            <a:avLst/>
          </a:prstGeom>
          <a:noFill/>
        </p:spPr>
        <p:txBody>
          <a:bodyPr wrap="none" rtlCol="0">
            <a:spAutoFit/>
          </a:bodyPr>
          <a:lstStyle/>
          <a:p>
            <a:pPr defTabSz="685800"/>
            <a:r>
              <a:rPr lang="en-US" dirty="0">
                <a:solidFill>
                  <a:prstClr val="black"/>
                </a:solidFill>
                <a:latin typeface="Calibri" panose="020F0502020204030204"/>
              </a:rPr>
              <a:t>Px</a:t>
            </a:r>
          </a:p>
        </p:txBody>
      </p:sp>
      <p:sp>
        <p:nvSpPr>
          <p:cNvPr id="17" name="TextBox 16"/>
          <p:cNvSpPr txBox="1"/>
          <p:nvPr/>
        </p:nvSpPr>
        <p:spPr>
          <a:xfrm>
            <a:off x="4232724" y="2841913"/>
            <a:ext cx="444352" cy="369332"/>
          </a:xfrm>
          <a:prstGeom prst="rect">
            <a:avLst/>
          </a:prstGeom>
          <a:noFill/>
        </p:spPr>
        <p:txBody>
          <a:bodyPr wrap="none" rtlCol="0">
            <a:spAutoFit/>
          </a:bodyPr>
          <a:lstStyle/>
          <a:p>
            <a:pPr defTabSz="685800"/>
            <a:r>
              <a:rPr lang="en-US" dirty="0">
                <a:solidFill>
                  <a:prstClr val="black"/>
                </a:solidFill>
                <a:latin typeface="Calibri" panose="020F0502020204030204"/>
              </a:rPr>
              <a:t>D2</a:t>
            </a:r>
          </a:p>
        </p:txBody>
      </p:sp>
      <p:cxnSp>
        <p:nvCxnSpPr>
          <p:cNvPr id="18" name="מחבר ישר 17"/>
          <p:cNvCxnSpPr/>
          <p:nvPr/>
        </p:nvCxnSpPr>
        <p:spPr>
          <a:xfrm>
            <a:off x="4758777" y="2369769"/>
            <a:ext cx="0" cy="854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מחבר ישר 18"/>
          <p:cNvCxnSpPr/>
          <p:nvPr/>
        </p:nvCxnSpPr>
        <p:spPr>
          <a:xfrm>
            <a:off x="4730594" y="3224670"/>
            <a:ext cx="901874"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צורה חופשית 19"/>
          <p:cNvSpPr/>
          <p:nvPr/>
        </p:nvSpPr>
        <p:spPr>
          <a:xfrm>
            <a:off x="4946669" y="2435530"/>
            <a:ext cx="582461" cy="676406"/>
          </a:xfrm>
          <a:custGeom>
            <a:avLst/>
            <a:gdLst>
              <a:gd name="connsiteX0" fmla="*/ 0 w 776614"/>
              <a:gd name="connsiteY0" fmla="*/ 0 h 901874"/>
              <a:gd name="connsiteX1" fmla="*/ 338203 w 776614"/>
              <a:gd name="connsiteY1" fmla="*/ 613776 h 901874"/>
              <a:gd name="connsiteX2" fmla="*/ 776614 w 776614"/>
              <a:gd name="connsiteY2" fmla="*/ 901874 h 901874"/>
            </a:gdLst>
            <a:ahLst/>
            <a:cxnLst>
              <a:cxn ang="0">
                <a:pos x="connsiteX0" y="connsiteY0"/>
              </a:cxn>
              <a:cxn ang="0">
                <a:pos x="connsiteX1" y="connsiteY1"/>
              </a:cxn>
              <a:cxn ang="0">
                <a:pos x="connsiteX2" y="connsiteY2"/>
              </a:cxn>
            </a:cxnLst>
            <a:rect l="l" t="t" r="r" b="b"/>
            <a:pathLst>
              <a:path w="776614" h="901874">
                <a:moveTo>
                  <a:pt x="0" y="0"/>
                </a:moveTo>
                <a:cubicBezTo>
                  <a:pt x="104383" y="231732"/>
                  <a:pt x="208767" y="463464"/>
                  <a:pt x="338203" y="613776"/>
                </a:cubicBezTo>
                <a:cubicBezTo>
                  <a:pt x="467639" y="764088"/>
                  <a:pt x="622126" y="832981"/>
                  <a:pt x="776614" y="90187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a:solidFill>
                <a:prstClr val="white"/>
              </a:solidFill>
              <a:latin typeface="Calibri" panose="020F0502020204030204"/>
            </a:endParaRPr>
          </a:p>
        </p:txBody>
      </p:sp>
      <p:sp>
        <p:nvSpPr>
          <p:cNvPr id="21" name="TextBox 20"/>
          <p:cNvSpPr txBox="1"/>
          <p:nvPr/>
        </p:nvSpPr>
        <p:spPr>
          <a:xfrm>
            <a:off x="5602010" y="3281038"/>
            <a:ext cx="304892" cy="369332"/>
          </a:xfrm>
          <a:prstGeom prst="rect">
            <a:avLst/>
          </a:prstGeom>
          <a:noFill/>
        </p:spPr>
        <p:txBody>
          <a:bodyPr wrap="none" rtlCol="0">
            <a:spAutoFit/>
          </a:bodyPr>
          <a:lstStyle/>
          <a:p>
            <a:pPr defTabSz="685800"/>
            <a:r>
              <a:rPr lang="en-US" dirty="0">
                <a:solidFill>
                  <a:prstClr val="black"/>
                </a:solidFill>
                <a:latin typeface="Calibri" panose="020F0502020204030204"/>
              </a:rPr>
              <a:t>X</a:t>
            </a:r>
          </a:p>
        </p:txBody>
      </p:sp>
      <p:sp>
        <p:nvSpPr>
          <p:cNvPr id="22" name="TextBox 21"/>
          <p:cNvSpPr txBox="1"/>
          <p:nvPr/>
        </p:nvSpPr>
        <p:spPr>
          <a:xfrm>
            <a:off x="4602958" y="2057321"/>
            <a:ext cx="402675" cy="369332"/>
          </a:xfrm>
          <a:prstGeom prst="rect">
            <a:avLst/>
          </a:prstGeom>
          <a:noFill/>
        </p:spPr>
        <p:txBody>
          <a:bodyPr wrap="none" rtlCol="0">
            <a:spAutoFit/>
          </a:bodyPr>
          <a:lstStyle/>
          <a:p>
            <a:pPr defTabSz="685800"/>
            <a:r>
              <a:rPr lang="en-US" dirty="0">
                <a:solidFill>
                  <a:prstClr val="black"/>
                </a:solidFill>
                <a:latin typeface="Calibri" panose="020F0502020204030204"/>
              </a:rPr>
              <a:t>Px</a:t>
            </a:r>
          </a:p>
        </p:txBody>
      </p:sp>
      <p:sp>
        <p:nvSpPr>
          <p:cNvPr id="23" name="TextBox 22"/>
          <p:cNvSpPr txBox="1"/>
          <p:nvPr/>
        </p:nvSpPr>
        <p:spPr>
          <a:xfrm>
            <a:off x="5522973" y="2834936"/>
            <a:ext cx="444352" cy="369332"/>
          </a:xfrm>
          <a:prstGeom prst="rect">
            <a:avLst/>
          </a:prstGeom>
          <a:noFill/>
        </p:spPr>
        <p:txBody>
          <a:bodyPr wrap="none" rtlCol="0">
            <a:spAutoFit/>
          </a:bodyPr>
          <a:lstStyle/>
          <a:p>
            <a:pPr defTabSz="685800"/>
            <a:r>
              <a:rPr lang="en-US" dirty="0">
                <a:solidFill>
                  <a:prstClr val="black"/>
                </a:solidFill>
                <a:latin typeface="Calibri" panose="020F0502020204030204"/>
              </a:rPr>
              <a:t>D3</a:t>
            </a:r>
          </a:p>
        </p:txBody>
      </p:sp>
      <p:sp>
        <p:nvSpPr>
          <p:cNvPr id="24" name="אליפסה 23"/>
          <p:cNvSpPr/>
          <p:nvPr/>
        </p:nvSpPr>
        <p:spPr>
          <a:xfrm>
            <a:off x="5895375" y="2607843"/>
            <a:ext cx="118155" cy="12849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a:solidFill>
                <a:prstClr val="white"/>
              </a:solidFill>
              <a:latin typeface="Calibri" panose="020F0502020204030204"/>
            </a:endParaRPr>
          </a:p>
        </p:txBody>
      </p:sp>
      <p:sp>
        <p:nvSpPr>
          <p:cNvPr id="25" name="אליפסה 24"/>
          <p:cNvSpPr/>
          <p:nvPr/>
        </p:nvSpPr>
        <p:spPr>
          <a:xfrm>
            <a:off x="6127863" y="2623897"/>
            <a:ext cx="126786" cy="128491"/>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a:solidFill>
                <a:prstClr val="white"/>
              </a:solidFill>
              <a:latin typeface="Calibri" panose="020F0502020204030204"/>
            </a:endParaRPr>
          </a:p>
        </p:txBody>
      </p:sp>
      <p:sp>
        <p:nvSpPr>
          <p:cNvPr id="26" name="אליפסה 25"/>
          <p:cNvSpPr/>
          <p:nvPr/>
        </p:nvSpPr>
        <p:spPr>
          <a:xfrm>
            <a:off x="6366027" y="2607843"/>
            <a:ext cx="128780" cy="143359"/>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a:solidFill>
                <a:prstClr val="white"/>
              </a:solidFill>
              <a:latin typeface="Calibri" panose="020F0502020204030204"/>
            </a:endParaRPr>
          </a:p>
        </p:txBody>
      </p:sp>
      <p:cxnSp>
        <p:nvCxnSpPr>
          <p:cNvPr id="27" name="מחבר ישר 26"/>
          <p:cNvCxnSpPr/>
          <p:nvPr/>
        </p:nvCxnSpPr>
        <p:spPr>
          <a:xfrm>
            <a:off x="6665726" y="2369768"/>
            <a:ext cx="0" cy="854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מחבר ישר 27"/>
          <p:cNvCxnSpPr/>
          <p:nvPr/>
        </p:nvCxnSpPr>
        <p:spPr>
          <a:xfrm>
            <a:off x="6665726" y="3224670"/>
            <a:ext cx="901874"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צורה חופשית 28"/>
          <p:cNvSpPr/>
          <p:nvPr/>
        </p:nvSpPr>
        <p:spPr>
          <a:xfrm>
            <a:off x="6853618" y="2491897"/>
            <a:ext cx="582461" cy="676406"/>
          </a:xfrm>
          <a:custGeom>
            <a:avLst/>
            <a:gdLst>
              <a:gd name="connsiteX0" fmla="*/ 0 w 776614"/>
              <a:gd name="connsiteY0" fmla="*/ 0 h 901874"/>
              <a:gd name="connsiteX1" fmla="*/ 338203 w 776614"/>
              <a:gd name="connsiteY1" fmla="*/ 613776 h 901874"/>
              <a:gd name="connsiteX2" fmla="*/ 776614 w 776614"/>
              <a:gd name="connsiteY2" fmla="*/ 901874 h 901874"/>
            </a:gdLst>
            <a:ahLst/>
            <a:cxnLst>
              <a:cxn ang="0">
                <a:pos x="connsiteX0" y="connsiteY0"/>
              </a:cxn>
              <a:cxn ang="0">
                <a:pos x="connsiteX1" y="connsiteY1"/>
              </a:cxn>
              <a:cxn ang="0">
                <a:pos x="connsiteX2" y="connsiteY2"/>
              </a:cxn>
            </a:cxnLst>
            <a:rect l="l" t="t" r="r" b="b"/>
            <a:pathLst>
              <a:path w="776614" h="901874">
                <a:moveTo>
                  <a:pt x="0" y="0"/>
                </a:moveTo>
                <a:cubicBezTo>
                  <a:pt x="104383" y="231732"/>
                  <a:pt x="208767" y="463464"/>
                  <a:pt x="338203" y="613776"/>
                </a:cubicBezTo>
                <a:cubicBezTo>
                  <a:pt x="467639" y="764088"/>
                  <a:pt x="622126" y="832981"/>
                  <a:pt x="776614" y="90187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a:solidFill>
                <a:prstClr val="white"/>
              </a:solidFill>
              <a:latin typeface="Calibri" panose="020F0502020204030204"/>
            </a:endParaRPr>
          </a:p>
        </p:txBody>
      </p:sp>
      <p:sp>
        <p:nvSpPr>
          <p:cNvPr id="30" name="TextBox 29"/>
          <p:cNvSpPr txBox="1"/>
          <p:nvPr/>
        </p:nvSpPr>
        <p:spPr>
          <a:xfrm>
            <a:off x="7508959" y="3337405"/>
            <a:ext cx="304892" cy="369332"/>
          </a:xfrm>
          <a:prstGeom prst="rect">
            <a:avLst/>
          </a:prstGeom>
          <a:noFill/>
        </p:spPr>
        <p:txBody>
          <a:bodyPr wrap="none" rtlCol="0">
            <a:spAutoFit/>
          </a:bodyPr>
          <a:lstStyle/>
          <a:p>
            <a:pPr defTabSz="685800"/>
            <a:r>
              <a:rPr lang="en-US" dirty="0">
                <a:solidFill>
                  <a:prstClr val="black"/>
                </a:solidFill>
                <a:latin typeface="Calibri" panose="020F0502020204030204"/>
              </a:rPr>
              <a:t>X</a:t>
            </a:r>
          </a:p>
        </p:txBody>
      </p:sp>
      <p:sp>
        <p:nvSpPr>
          <p:cNvPr id="31" name="TextBox 30"/>
          <p:cNvSpPr txBox="1"/>
          <p:nvPr/>
        </p:nvSpPr>
        <p:spPr>
          <a:xfrm>
            <a:off x="6498493" y="2162571"/>
            <a:ext cx="402675" cy="369332"/>
          </a:xfrm>
          <a:prstGeom prst="rect">
            <a:avLst/>
          </a:prstGeom>
          <a:noFill/>
        </p:spPr>
        <p:txBody>
          <a:bodyPr wrap="none" rtlCol="0">
            <a:spAutoFit/>
          </a:bodyPr>
          <a:lstStyle/>
          <a:p>
            <a:pPr defTabSz="685800"/>
            <a:r>
              <a:rPr lang="en-US" dirty="0">
                <a:solidFill>
                  <a:prstClr val="black"/>
                </a:solidFill>
                <a:latin typeface="Calibri" panose="020F0502020204030204"/>
              </a:rPr>
              <a:t>Px</a:t>
            </a:r>
          </a:p>
        </p:txBody>
      </p:sp>
      <p:sp>
        <p:nvSpPr>
          <p:cNvPr id="32" name="TextBox 31"/>
          <p:cNvSpPr txBox="1"/>
          <p:nvPr/>
        </p:nvSpPr>
        <p:spPr>
          <a:xfrm>
            <a:off x="7445953" y="2891304"/>
            <a:ext cx="380232" cy="369332"/>
          </a:xfrm>
          <a:prstGeom prst="rect">
            <a:avLst/>
          </a:prstGeom>
          <a:noFill/>
        </p:spPr>
        <p:txBody>
          <a:bodyPr wrap="none" rtlCol="0">
            <a:spAutoFit/>
          </a:bodyPr>
          <a:lstStyle/>
          <a:p>
            <a:pPr defTabSz="685800"/>
            <a:r>
              <a:rPr lang="en-US" dirty="0">
                <a:solidFill>
                  <a:prstClr val="black"/>
                </a:solidFill>
                <a:latin typeface="Calibri" panose="020F0502020204030204"/>
              </a:rPr>
              <a:t>Di</a:t>
            </a:r>
          </a:p>
        </p:txBody>
      </p:sp>
      <p:cxnSp>
        <p:nvCxnSpPr>
          <p:cNvPr id="33" name="מחבר ישר 32"/>
          <p:cNvCxnSpPr/>
          <p:nvPr/>
        </p:nvCxnSpPr>
        <p:spPr>
          <a:xfrm>
            <a:off x="8237603" y="2382733"/>
            <a:ext cx="0" cy="854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מחבר ישר 33"/>
          <p:cNvCxnSpPr/>
          <p:nvPr/>
        </p:nvCxnSpPr>
        <p:spPr>
          <a:xfrm>
            <a:off x="8248761" y="3238148"/>
            <a:ext cx="1653227" cy="0"/>
          </a:xfrm>
          <a:prstGeom prst="line">
            <a:avLst/>
          </a:prstGeom>
        </p:spPr>
        <p:style>
          <a:lnRef idx="1">
            <a:schemeClr val="accent1"/>
          </a:lnRef>
          <a:fillRef idx="0">
            <a:schemeClr val="accent1"/>
          </a:fillRef>
          <a:effectRef idx="0">
            <a:schemeClr val="accent1"/>
          </a:effectRef>
          <a:fontRef idx="minor">
            <a:schemeClr val="tx1"/>
          </a:fontRef>
        </p:style>
      </p:cxnSp>
      <p:sp>
        <p:nvSpPr>
          <p:cNvPr id="35" name="צורה חופשית 34"/>
          <p:cNvSpPr/>
          <p:nvPr/>
        </p:nvSpPr>
        <p:spPr>
          <a:xfrm>
            <a:off x="8437985" y="2542159"/>
            <a:ext cx="1383986" cy="669429"/>
          </a:xfrm>
          <a:custGeom>
            <a:avLst/>
            <a:gdLst>
              <a:gd name="connsiteX0" fmla="*/ 0 w 776614"/>
              <a:gd name="connsiteY0" fmla="*/ 0 h 901874"/>
              <a:gd name="connsiteX1" fmla="*/ 338203 w 776614"/>
              <a:gd name="connsiteY1" fmla="*/ 613776 h 901874"/>
              <a:gd name="connsiteX2" fmla="*/ 776614 w 776614"/>
              <a:gd name="connsiteY2" fmla="*/ 901874 h 901874"/>
            </a:gdLst>
            <a:ahLst/>
            <a:cxnLst>
              <a:cxn ang="0">
                <a:pos x="connsiteX0" y="connsiteY0"/>
              </a:cxn>
              <a:cxn ang="0">
                <a:pos x="connsiteX1" y="connsiteY1"/>
              </a:cxn>
              <a:cxn ang="0">
                <a:pos x="connsiteX2" y="connsiteY2"/>
              </a:cxn>
            </a:cxnLst>
            <a:rect l="l" t="t" r="r" b="b"/>
            <a:pathLst>
              <a:path w="776614" h="901874">
                <a:moveTo>
                  <a:pt x="0" y="0"/>
                </a:moveTo>
                <a:cubicBezTo>
                  <a:pt x="104383" y="231732"/>
                  <a:pt x="208767" y="463464"/>
                  <a:pt x="338203" y="613776"/>
                </a:cubicBezTo>
                <a:cubicBezTo>
                  <a:pt x="467639" y="764088"/>
                  <a:pt x="622126" y="832981"/>
                  <a:pt x="776614" y="901874"/>
                </a:cubicBezTo>
              </a:path>
            </a:pathLst>
          </a:cu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a:solidFill>
                <a:prstClr val="white"/>
              </a:solidFill>
              <a:latin typeface="Calibri" panose="020F0502020204030204"/>
            </a:endParaRPr>
          </a:p>
        </p:txBody>
      </p:sp>
      <p:sp>
        <p:nvSpPr>
          <p:cNvPr id="36" name="TextBox 35"/>
          <p:cNvSpPr txBox="1"/>
          <p:nvPr/>
        </p:nvSpPr>
        <p:spPr>
          <a:xfrm>
            <a:off x="9618537" y="3439659"/>
            <a:ext cx="304892" cy="369332"/>
          </a:xfrm>
          <a:prstGeom prst="rect">
            <a:avLst/>
          </a:prstGeom>
          <a:noFill/>
        </p:spPr>
        <p:txBody>
          <a:bodyPr wrap="none" rtlCol="0">
            <a:spAutoFit/>
          </a:bodyPr>
          <a:lstStyle/>
          <a:p>
            <a:pPr defTabSz="685800"/>
            <a:r>
              <a:rPr lang="en-US" dirty="0">
                <a:solidFill>
                  <a:prstClr val="black"/>
                </a:solidFill>
                <a:latin typeface="Calibri" panose="020F0502020204030204"/>
              </a:rPr>
              <a:t>X</a:t>
            </a:r>
          </a:p>
        </p:txBody>
      </p:sp>
      <p:sp>
        <p:nvSpPr>
          <p:cNvPr id="37" name="TextBox 36"/>
          <p:cNvSpPr txBox="1"/>
          <p:nvPr/>
        </p:nvSpPr>
        <p:spPr>
          <a:xfrm>
            <a:off x="8002553" y="1973503"/>
            <a:ext cx="402675" cy="369332"/>
          </a:xfrm>
          <a:prstGeom prst="rect">
            <a:avLst/>
          </a:prstGeom>
          <a:noFill/>
        </p:spPr>
        <p:txBody>
          <a:bodyPr wrap="none" rtlCol="0">
            <a:spAutoFit/>
          </a:bodyPr>
          <a:lstStyle/>
          <a:p>
            <a:pPr defTabSz="685800"/>
            <a:r>
              <a:rPr lang="en-US" dirty="0">
                <a:solidFill>
                  <a:prstClr val="black"/>
                </a:solidFill>
                <a:latin typeface="Calibri" panose="020F0502020204030204"/>
              </a:rPr>
              <a:t>Px</a:t>
            </a:r>
          </a:p>
        </p:txBody>
      </p:sp>
      <p:sp>
        <p:nvSpPr>
          <p:cNvPr id="38" name="TextBox 37"/>
          <p:cNvSpPr txBox="1"/>
          <p:nvPr/>
        </p:nvSpPr>
        <p:spPr>
          <a:xfrm>
            <a:off x="9862647" y="2964040"/>
            <a:ext cx="266735" cy="461665"/>
          </a:xfrm>
          <a:prstGeom prst="rect">
            <a:avLst/>
          </a:prstGeom>
          <a:noFill/>
        </p:spPr>
        <p:txBody>
          <a:bodyPr wrap="square" rtlCol="0">
            <a:spAutoFit/>
          </a:bodyPr>
          <a:lstStyle/>
          <a:p>
            <a:pPr defTabSz="685800"/>
            <a:r>
              <a:rPr lang="en-US" sz="2400" b="1" dirty="0">
                <a:solidFill>
                  <a:prstClr val="black"/>
                </a:solidFill>
                <a:latin typeface="Calibri" panose="020F0502020204030204"/>
              </a:rPr>
              <a:t>D</a:t>
            </a:r>
          </a:p>
        </p:txBody>
      </p:sp>
      <p:cxnSp>
        <p:nvCxnSpPr>
          <p:cNvPr id="40" name="מחבר ישר 39"/>
          <p:cNvCxnSpPr/>
          <p:nvPr/>
        </p:nvCxnSpPr>
        <p:spPr>
          <a:xfrm>
            <a:off x="1976537" y="4026712"/>
            <a:ext cx="0" cy="854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מחבר ישר 40"/>
          <p:cNvCxnSpPr/>
          <p:nvPr/>
        </p:nvCxnSpPr>
        <p:spPr>
          <a:xfrm>
            <a:off x="1948354" y="4881614"/>
            <a:ext cx="901874" cy="0"/>
          </a:xfrm>
          <a:prstGeom prst="line">
            <a:avLst/>
          </a:prstGeom>
        </p:spPr>
        <p:style>
          <a:lnRef idx="1">
            <a:schemeClr val="accent1"/>
          </a:lnRef>
          <a:fillRef idx="0">
            <a:schemeClr val="accent1"/>
          </a:fillRef>
          <a:effectRef idx="0">
            <a:schemeClr val="accent1"/>
          </a:effectRef>
          <a:fontRef idx="minor">
            <a:schemeClr val="tx1"/>
          </a:fontRef>
        </p:style>
      </p:cxnSp>
      <p:sp>
        <p:nvSpPr>
          <p:cNvPr id="42" name="צורה חופשית 41"/>
          <p:cNvSpPr/>
          <p:nvPr/>
        </p:nvSpPr>
        <p:spPr>
          <a:xfrm rot="16778186">
            <a:off x="2068884" y="4165909"/>
            <a:ext cx="582461" cy="676406"/>
          </a:xfrm>
          <a:custGeom>
            <a:avLst/>
            <a:gdLst>
              <a:gd name="connsiteX0" fmla="*/ 0 w 776614"/>
              <a:gd name="connsiteY0" fmla="*/ 0 h 901874"/>
              <a:gd name="connsiteX1" fmla="*/ 338203 w 776614"/>
              <a:gd name="connsiteY1" fmla="*/ 613776 h 901874"/>
              <a:gd name="connsiteX2" fmla="*/ 776614 w 776614"/>
              <a:gd name="connsiteY2" fmla="*/ 901874 h 901874"/>
            </a:gdLst>
            <a:ahLst/>
            <a:cxnLst>
              <a:cxn ang="0">
                <a:pos x="connsiteX0" y="connsiteY0"/>
              </a:cxn>
              <a:cxn ang="0">
                <a:pos x="connsiteX1" y="connsiteY1"/>
              </a:cxn>
              <a:cxn ang="0">
                <a:pos x="connsiteX2" y="connsiteY2"/>
              </a:cxn>
            </a:cxnLst>
            <a:rect l="l" t="t" r="r" b="b"/>
            <a:pathLst>
              <a:path w="776614" h="901874">
                <a:moveTo>
                  <a:pt x="0" y="0"/>
                </a:moveTo>
                <a:cubicBezTo>
                  <a:pt x="104383" y="231732"/>
                  <a:pt x="208767" y="463464"/>
                  <a:pt x="338203" y="613776"/>
                </a:cubicBezTo>
                <a:cubicBezTo>
                  <a:pt x="467639" y="764088"/>
                  <a:pt x="622126" y="832981"/>
                  <a:pt x="776614" y="90187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a:solidFill>
                <a:prstClr val="white"/>
              </a:solidFill>
              <a:latin typeface="Calibri" panose="020F0502020204030204"/>
            </a:endParaRPr>
          </a:p>
        </p:txBody>
      </p:sp>
      <p:sp>
        <p:nvSpPr>
          <p:cNvPr id="43" name="TextBox 42"/>
          <p:cNvSpPr txBox="1"/>
          <p:nvPr/>
        </p:nvSpPr>
        <p:spPr>
          <a:xfrm>
            <a:off x="2819770" y="4853431"/>
            <a:ext cx="304892" cy="369332"/>
          </a:xfrm>
          <a:prstGeom prst="rect">
            <a:avLst/>
          </a:prstGeom>
          <a:noFill/>
        </p:spPr>
        <p:txBody>
          <a:bodyPr wrap="none" rtlCol="0">
            <a:spAutoFit/>
          </a:bodyPr>
          <a:lstStyle/>
          <a:p>
            <a:pPr defTabSz="685800"/>
            <a:r>
              <a:rPr lang="en-US" dirty="0">
                <a:solidFill>
                  <a:prstClr val="black"/>
                </a:solidFill>
                <a:latin typeface="Calibri" panose="020F0502020204030204"/>
              </a:rPr>
              <a:t>X</a:t>
            </a:r>
          </a:p>
        </p:txBody>
      </p:sp>
      <p:sp>
        <p:nvSpPr>
          <p:cNvPr id="44" name="TextBox 43"/>
          <p:cNvSpPr txBox="1"/>
          <p:nvPr/>
        </p:nvSpPr>
        <p:spPr>
          <a:xfrm>
            <a:off x="1786421" y="3772887"/>
            <a:ext cx="402675" cy="369332"/>
          </a:xfrm>
          <a:prstGeom prst="rect">
            <a:avLst/>
          </a:prstGeom>
          <a:noFill/>
        </p:spPr>
        <p:txBody>
          <a:bodyPr wrap="none" rtlCol="0">
            <a:spAutoFit/>
          </a:bodyPr>
          <a:lstStyle/>
          <a:p>
            <a:pPr defTabSz="685800"/>
            <a:r>
              <a:rPr lang="en-US" dirty="0">
                <a:solidFill>
                  <a:prstClr val="black"/>
                </a:solidFill>
                <a:latin typeface="Calibri" panose="020F0502020204030204"/>
              </a:rPr>
              <a:t>Px</a:t>
            </a:r>
          </a:p>
        </p:txBody>
      </p:sp>
      <p:sp>
        <p:nvSpPr>
          <p:cNvPr id="45" name="TextBox 44"/>
          <p:cNvSpPr txBox="1"/>
          <p:nvPr/>
        </p:nvSpPr>
        <p:spPr>
          <a:xfrm>
            <a:off x="2583154" y="4028303"/>
            <a:ext cx="418704" cy="369332"/>
          </a:xfrm>
          <a:prstGeom prst="rect">
            <a:avLst/>
          </a:prstGeom>
          <a:noFill/>
        </p:spPr>
        <p:txBody>
          <a:bodyPr wrap="none" rtlCol="0">
            <a:spAutoFit/>
          </a:bodyPr>
          <a:lstStyle/>
          <a:p>
            <a:pPr defTabSz="685800"/>
            <a:r>
              <a:rPr lang="en-US" dirty="0">
                <a:solidFill>
                  <a:prstClr val="black"/>
                </a:solidFill>
                <a:latin typeface="Calibri" panose="020F0502020204030204"/>
              </a:rPr>
              <a:t>S</a:t>
            </a:r>
            <a:r>
              <a:rPr lang="he-IL" dirty="0">
                <a:solidFill>
                  <a:prstClr val="black"/>
                </a:solidFill>
                <a:latin typeface="Calibri" panose="020F0502020204030204"/>
                <a:cs typeface="Arial" panose="020B0604020202020204" pitchFamily="34" charset="0"/>
              </a:rPr>
              <a:t>1</a:t>
            </a:r>
            <a:endParaRPr lang="en-US" dirty="0">
              <a:solidFill>
                <a:prstClr val="black"/>
              </a:solidFill>
              <a:latin typeface="Calibri" panose="020F0502020204030204"/>
            </a:endParaRPr>
          </a:p>
        </p:txBody>
      </p:sp>
      <p:cxnSp>
        <p:nvCxnSpPr>
          <p:cNvPr id="48" name="מחבר ישר 47"/>
          <p:cNvCxnSpPr/>
          <p:nvPr/>
        </p:nvCxnSpPr>
        <p:spPr>
          <a:xfrm>
            <a:off x="3359552" y="4048879"/>
            <a:ext cx="0" cy="854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מחבר ישר 48"/>
          <p:cNvCxnSpPr/>
          <p:nvPr/>
        </p:nvCxnSpPr>
        <p:spPr>
          <a:xfrm>
            <a:off x="3331369" y="4903781"/>
            <a:ext cx="901874" cy="0"/>
          </a:xfrm>
          <a:prstGeom prst="line">
            <a:avLst/>
          </a:prstGeom>
        </p:spPr>
        <p:style>
          <a:lnRef idx="1">
            <a:schemeClr val="accent1"/>
          </a:lnRef>
          <a:fillRef idx="0">
            <a:schemeClr val="accent1"/>
          </a:fillRef>
          <a:effectRef idx="0">
            <a:schemeClr val="accent1"/>
          </a:effectRef>
          <a:fontRef idx="minor">
            <a:schemeClr val="tx1"/>
          </a:fontRef>
        </p:style>
      </p:cxnSp>
      <p:sp>
        <p:nvSpPr>
          <p:cNvPr id="50" name="צורה חופשית 49"/>
          <p:cNvSpPr/>
          <p:nvPr/>
        </p:nvSpPr>
        <p:spPr>
          <a:xfrm rot="16778186">
            <a:off x="3451899" y="4188076"/>
            <a:ext cx="582461" cy="676406"/>
          </a:xfrm>
          <a:custGeom>
            <a:avLst/>
            <a:gdLst>
              <a:gd name="connsiteX0" fmla="*/ 0 w 776614"/>
              <a:gd name="connsiteY0" fmla="*/ 0 h 901874"/>
              <a:gd name="connsiteX1" fmla="*/ 338203 w 776614"/>
              <a:gd name="connsiteY1" fmla="*/ 613776 h 901874"/>
              <a:gd name="connsiteX2" fmla="*/ 776614 w 776614"/>
              <a:gd name="connsiteY2" fmla="*/ 901874 h 901874"/>
            </a:gdLst>
            <a:ahLst/>
            <a:cxnLst>
              <a:cxn ang="0">
                <a:pos x="connsiteX0" y="connsiteY0"/>
              </a:cxn>
              <a:cxn ang="0">
                <a:pos x="connsiteX1" y="connsiteY1"/>
              </a:cxn>
              <a:cxn ang="0">
                <a:pos x="connsiteX2" y="connsiteY2"/>
              </a:cxn>
            </a:cxnLst>
            <a:rect l="l" t="t" r="r" b="b"/>
            <a:pathLst>
              <a:path w="776614" h="901874">
                <a:moveTo>
                  <a:pt x="0" y="0"/>
                </a:moveTo>
                <a:cubicBezTo>
                  <a:pt x="104383" y="231732"/>
                  <a:pt x="208767" y="463464"/>
                  <a:pt x="338203" y="613776"/>
                </a:cubicBezTo>
                <a:cubicBezTo>
                  <a:pt x="467639" y="764088"/>
                  <a:pt x="622126" y="832981"/>
                  <a:pt x="776614" y="90187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a:solidFill>
                <a:prstClr val="white"/>
              </a:solidFill>
              <a:latin typeface="Calibri" panose="020F0502020204030204"/>
            </a:endParaRPr>
          </a:p>
        </p:txBody>
      </p:sp>
      <p:sp>
        <p:nvSpPr>
          <p:cNvPr id="51" name="TextBox 50"/>
          <p:cNvSpPr txBox="1"/>
          <p:nvPr/>
        </p:nvSpPr>
        <p:spPr>
          <a:xfrm>
            <a:off x="4202785" y="4960148"/>
            <a:ext cx="304892" cy="369332"/>
          </a:xfrm>
          <a:prstGeom prst="rect">
            <a:avLst/>
          </a:prstGeom>
          <a:noFill/>
        </p:spPr>
        <p:txBody>
          <a:bodyPr wrap="none" rtlCol="0">
            <a:spAutoFit/>
          </a:bodyPr>
          <a:lstStyle/>
          <a:p>
            <a:pPr defTabSz="685800"/>
            <a:r>
              <a:rPr lang="en-US" dirty="0">
                <a:solidFill>
                  <a:prstClr val="black"/>
                </a:solidFill>
                <a:latin typeface="Calibri" panose="020F0502020204030204"/>
              </a:rPr>
              <a:t>X</a:t>
            </a:r>
          </a:p>
        </p:txBody>
      </p:sp>
      <p:sp>
        <p:nvSpPr>
          <p:cNvPr id="52" name="TextBox 51"/>
          <p:cNvSpPr txBox="1"/>
          <p:nvPr/>
        </p:nvSpPr>
        <p:spPr>
          <a:xfrm>
            <a:off x="3220502" y="3888661"/>
            <a:ext cx="402675" cy="369332"/>
          </a:xfrm>
          <a:prstGeom prst="rect">
            <a:avLst/>
          </a:prstGeom>
          <a:noFill/>
        </p:spPr>
        <p:txBody>
          <a:bodyPr wrap="none" rtlCol="0">
            <a:spAutoFit/>
          </a:bodyPr>
          <a:lstStyle/>
          <a:p>
            <a:pPr defTabSz="685800"/>
            <a:r>
              <a:rPr lang="en-US" dirty="0">
                <a:solidFill>
                  <a:prstClr val="black"/>
                </a:solidFill>
                <a:latin typeface="Calibri" panose="020F0502020204030204"/>
              </a:rPr>
              <a:t>Px</a:t>
            </a:r>
          </a:p>
        </p:txBody>
      </p:sp>
      <p:sp>
        <p:nvSpPr>
          <p:cNvPr id="53" name="TextBox 52"/>
          <p:cNvSpPr txBox="1"/>
          <p:nvPr/>
        </p:nvSpPr>
        <p:spPr>
          <a:xfrm>
            <a:off x="4085136" y="4168314"/>
            <a:ext cx="418704" cy="369332"/>
          </a:xfrm>
          <a:prstGeom prst="rect">
            <a:avLst/>
          </a:prstGeom>
          <a:noFill/>
        </p:spPr>
        <p:txBody>
          <a:bodyPr wrap="none" rtlCol="0">
            <a:spAutoFit/>
          </a:bodyPr>
          <a:lstStyle/>
          <a:p>
            <a:pPr defTabSz="685800"/>
            <a:r>
              <a:rPr lang="en-US" dirty="0">
                <a:solidFill>
                  <a:prstClr val="black"/>
                </a:solidFill>
                <a:latin typeface="Calibri" panose="020F0502020204030204"/>
              </a:rPr>
              <a:t>S</a:t>
            </a:r>
            <a:r>
              <a:rPr lang="he-IL" dirty="0">
                <a:solidFill>
                  <a:prstClr val="black"/>
                </a:solidFill>
                <a:latin typeface="Calibri" panose="020F0502020204030204"/>
                <a:cs typeface="Arial" panose="020B0604020202020204" pitchFamily="34" charset="0"/>
              </a:rPr>
              <a:t>2</a:t>
            </a:r>
            <a:endParaRPr lang="en-US" dirty="0">
              <a:solidFill>
                <a:prstClr val="black"/>
              </a:solidFill>
              <a:latin typeface="Calibri" panose="020F0502020204030204"/>
            </a:endParaRPr>
          </a:p>
        </p:txBody>
      </p:sp>
      <p:cxnSp>
        <p:nvCxnSpPr>
          <p:cNvPr id="54" name="מחבר ישר 53"/>
          <p:cNvCxnSpPr/>
          <p:nvPr/>
        </p:nvCxnSpPr>
        <p:spPr>
          <a:xfrm>
            <a:off x="4770751" y="4066449"/>
            <a:ext cx="0" cy="854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מחבר ישר 54"/>
          <p:cNvCxnSpPr/>
          <p:nvPr/>
        </p:nvCxnSpPr>
        <p:spPr>
          <a:xfrm>
            <a:off x="4742568" y="4921351"/>
            <a:ext cx="901874" cy="0"/>
          </a:xfrm>
          <a:prstGeom prst="line">
            <a:avLst/>
          </a:prstGeom>
        </p:spPr>
        <p:style>
          <a:lnRef idx="1">
            <a:schemeClr val="accent1"/>
          </a:lnRef>
          <a:fillRef idx="0">
            <a:schemeClr val="accent1"/>
          </a:fillRef>
          <a:effectRef idx="0">
            <a:schemeClr val="accent1"/>
          </a:effectRef>
          <a:fontRef idx="minor">
            <a:schemeClr val="tx1"/>
          </a:fontRef>
        </p:style>
      </p:cxnSp>
      <p:sp>
        <p:nvSpPr>
          <p:cNvPr id="56" name="צורה חופשית 55"/>
          <p:cNvSpPr/>
          <p:nvPr/>
        </p:nvSpPr>
        <p:spPr>
          <a:xfrm rot="16778186">
            <a:off x="4863098" y="4205646"/>
            <a:ext cx="582461" cy="676406"/>
          </a:xfrm>
          <a:custGeom>
            <a:avLst/>
            <a:gdLst>
              <a:gd name="connsiteX0" fmla="*/ 0 w 776614"/>
              <a:gd name="connsiteY0" fmla="*/ 0 h 901874"/>
              <a:gd name="connsiteX1" fmla="*/ 338203 w 776614"/>
              <a:gd name="connsiteY1" fmla="*/ 613776 h 901874"/>
              <a:gd name="connsiteX2" fmla="*/ 776614 w 776614"/>
              <a:gd name="connsiteY2" fmla="*/ 901874 h 901874"/>
            </a:gdLst>
            <a:ahLst/>
            <a:cxnLst>
              <a:cxn ang="0">
                <a:pos x="connsiteX0" y="connsiteY0"/>
              </a:cxn>
              <a:cxn ang="0">
                <a:pos x="connsiteX1" y="connsiteY1"/>
              </a:cxn>
              <a:cxn ang="0">
                <a:pos x="connsiteX2" y="connsiteY2"/>
              </a:cxn>
            </a:cxnLst>
            <a:rect l="l" t="t" r="r" b="b"/>
            <a:pathLst>
              <a:path w="776614" h="901874">
                <a:moveTo>
                  <a:pt x="0" y="0"/>
                </a:moveTo>
                <a:cubicBezTo>
                  <a:pt x="104383" y="231732"/>
                  <a:pt x="208767" y="463464"/>
                  <a:pt x="338203" y="613776"/>
                </a:cubicBezTo>
                <a:cubicBezTo>
                  <a:pt x="467639" y="764088"/>
                  <a:pt x="622126" y="832981"/>
                  <a:pt x="776614" y="90187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a:solidFill>
                <a:prstClr val="white"/>
              </a:solidFill>
              <a:latin typeface="Calibri" panose="020F0502020204030204"/>
            </a:endParaRPr>
          </a:p>
        </p:txBody>
      </p:sp>
      <p:sp>
        <p:nvSpPr>
          <p:cNvPr id="57" name="TextBox 56"/>
          <p:cNvSpPr txBox="1"/>
          <p:nvPr/>
        </p:nvSpPr>
        <p:spPr>
          <a:xfrm>
            <a:off x="5613983" y="4977718"/>
            <a:ext cx="304892" cy="369332"/>
          </a:xfrm>
          <a:prstGeom prst="rect">
            <a:avLst/>
          </a:prstGeom>
          <a:noFill/>
        </p:spPr>
        <p:txBody>
          <a:bodyPr wrap="none" rtlCol="0">
            <a:spAutoFit/>
          </a:bodyPr>
          <a:lstStyle/>
          <a:p>
            <a:pPr defTabSz="685800"/>
            <a:r>
              <a:rPr lang="en-US" dirty="0">
                <a:solidFill>
                  <a:prstClr val="black"/>
                </a:solidFill>
                <a:latin typeface="Calibri" panose="020F0502020204030204"/>
              </a:rPr>
              <a:t>X</a:t>
            </a:r>
          </a:p>
        </p:txBody>
      </p:sp>
      <p:sp>
        <p:nvSpPr>
          <p:cNvPr id="58" name="TextBox 57"/>
          <p:cNvSpPr txBox="1"/>
          <p:nvPr/>
        </p:nvSpPr>
        <p:spPr>
          <a:xfrm>
            <a:off x="4571059" y="3739472"/>
            <a:ext cx="402675" cy="369332"/>
          </a:xfrm>
          <a:prstGeom prst="rect">
            <a:avLst/>
          </a:prstGeom>
          <a:noFill/>
        </p:spPr>
        <p:txBody>
          <a:bodyPr wrap="none" rtlCol="0">
            <a:spAutoFit/>
          </a:bodyPr>
          <a:lstStyle/>
          <a:p>
            <a:pPr defTabSz="685800"/>
            <a:r>
              <a:rPr lang="en-US" dirty="0">
                <a:solidFill>
                  <a:prstClr val="black"/>
                </a:solidFill>
                <a:latin typeface="Calibri" panose="020F0502020204030204"/>
              </a:rPr>
              <a:t>Px</a:t>
            </a:r>
          </a:p>
        </p:txBody>
      </p:sp>
      <p:sp>
        <p:nvSpPr>
          <p:cNvPr id="59" name="TextBox 58"/>
          <p:cNvSpPr txBox="1"/>
          <p:nvPr/>
        </p:nvSpPr>
        <p:spPr>
          <a:xfrm>
            <a:off x="5480305" y="4185884"/>
            <a:ext cx="434734" cy="400110"/>
          </a:xfrm>
          <a:prstGeom prst="rect">
            <a:avLst/>
          </a:prstGeom>
          <a:noFill/>
        </p:spPr>
        <p:txBody>
          <a:bodyPr wrap="none" rtlCol="0">
            <a:spAutoFit/>
          </a:bodyPr>
          <a:lstStyle/>
          <a:p>
            <a:pPr defTabSz="685800"/>
            <a:r>
              <a:rPr lang="en-US" sz="2000" b="1" dirty="0">
                <a:solidFill>
                  <a:prstClr val="black"/>
                </a:solidFill>
                <a:latin typeface="Calibri" panose="020F0502020204030204"/>
              </a:rPr>
              <a:t>S</a:t>
            </a:r>
            <a:r>
              <a:rPr lang="he-IL" dirty="0">
                <a:solidFill>
                  <a:prstClr val="black"/>
                </a:solidFill>
                <a:latin typeface="Calibri" panose="020F0502020204030204"/>
                <a:cs typeface="Arial" panose="020B0604020202020204" pitchFamily="34" charset="0"/>
              </a:rPr>
              <a:t>3</a:t>
            </a:r>
            <a:endParaRPr lang="en-US" dirty="0">
              <a:solidFill>
                <a:prstClr val="black"/>
              </a:solidFill>
              <a:latin typeface="Calibri" panose="020F0502020204030204"/>
            </a:endParaRPr>
          </a:p>
        </p:txBody>
      </p:sp>
      <p:cxnSp>
        <p:nvCxnSpPr>
          <p:cNvPr id="60" name="מחבר ישר 59"/>
          <p:cNvCxnSpPr/>
          <p:nvPr/>
        </p:nvCxnSpPr>
        <p:spPr>
          <a:xfrm>
            <a:off x="6503101" y="4071471"/>
            <a:ext cx="0" cy="854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מחבר ישר 60"/>
          <p:cNvCxnSpPr/>
          <p:nvPr/>
        </p:nvCxnSpPr>
        <p:spPr>
          <a:xfrm>
            <a:off x="6503101" y="4921351"/>
            <a:ext cx="901874" cy="0"/>
          </a:xfrm>
          <a:prstGeom prst="line">
            <a:avLst/>
          </a:prstGeom>
        </p:spPr>
        <p:style>
          <a:lnRef idx="1">
            <a:schemeClr val="accent1"/>
          </a:lnRef>
          <a:fillRef idx="0">
            <a:schemeClr val="accent1"/>
          </a:fillRef>
          <a:effectRef idx="0">
            <a:schemeClr val="accent1"/>
          </a:effectRef>
          <a:fontRef idx="minor">
            <a:schemeClr val="tx1"/>
          </a:fontRef>
        </p:style>
      </p:cxnSp>
      <p:sp>
        <p:nvSpPr>
          <p:cNvPr id="62" name="צורה חופשית 61"/>
          <p:cNvSpPr/>
          <p:nvPr/>
        </p:nvSpPr>
        <p:spPr>
          <a:xfrm rot="16778186">
            <a:off x="6595448" y="4210667"/>
            <a:ext cx="582461" cy="676406"/>
          </a:xfrm>
          <a:custGeom>
            <a:avLst/>
            <a:gdLst>
              <a:gd name="connsiteX0" fmla="*/ 0 w 776614"/>
              <a:gd name="connsiteY0" fmla="*/ 0 h 901874"/>
              <a:gd name="connsiteX1" fmla="*/ 338203 w 776614"/>
              <a:gd name="connsiteY1" fmla="*/ 613776 h 901874"/>
              <a:gd name="connsiteX2" fmla="*/ 776614 w 776614"/>
              <a:gd name="connsiteY2" fmla="*/ 901874 h 901874"/>
            </a:gdLst>
            <a:ahLst/>
            <a:cxnLst>
              <a:cxn ang="0">
                <a:pos x="connsiteX0" y="connsiteY0"/>
              </a:cxn>
              <a:cxn ang="0">
                <a:pos x="connsiteX1" y="connsiteY1"/>
              </a:cxn>
              <a:cxn ang="0">
                <a:pos x="connsiteX2" y="connsiteY2"/>
              </a:cxn>
            </a:cxnLst>
            <a:rect l="l" t="t" r="r" b="b"/>
            <a:pathLst>
              <a:path w="776614" h="901874">
                <a:moveTo>
                  <a:pt x="0" y="0"/>
                </a:moveTo>
                <a:cubicBezTo>
                  <a:pt x="104383" y="231732"/>
                  <a:pt x="208767" y="463464"/>
                  <a:pt x="338203" y="613776"/>
                </a:cubicBezTo>
                <a:cubicBezTo>
                  <a:pt x="467639" y="764088"/>
                  <a:pt x="622126" y="832981"/>
                  <a:pt x="776614" y="901874"/>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a:solidFill>
                <a:prstClr val="white"/>
              </a:solidFill>
              <a:latin typeface="Calibri" panose="020F0502020204030204"/>
            </a:endParaRPr>
          </a:p>
        </p:txBody>
      </p:sp>
      <p:sp>
        <p:nvSpPr>
          <p:cNvPr id="63" name="TextBox 62"/>
          <p:cNvSpPr txBox="1"/>
          <p:nvPr/>
        </p:nvSpPr>
        <p:spPr>
          <a:xfrm>
            <a:off x="7508959" y="4810993"/>
            <a:ext cx="304892" cy="369332"/>
          </a:xfrm>
          <a:prstGeom prst="rect">
            <a:avLst/>
          </a:prstGeom>
          <a:noFill/>
        </p:spPr>
        <p:txBody>
          <a:bodyPr wrap="none" rtlCol="0">
            <a:spAutoFit/>
          </a:bodyPr>
          <a:lstStyle/>
          <a:p>
            <a:pPr defTabSz="685800"/>
            <a:r>
              <a:rPr lang="en-US" dirty="0">
                <a:solidFill>
                  <a:prstClr val="black"/>
                </a:solidFill>
                <a:latin typeface="Calibri" panose="020F0502020204030204"/>
              </a:rPr>
              <a:t>X</a:t>
            </a:r>
          </a:p>
        </p:txBody>
      </p:sp>
      <p:sp>
        <p:nvSpPr>
          <p:cNvPr id="64" name="TextBox 63"/>
          <p:cNvSpPr txBox="1"/>
          <p:nvPr/>
        </p:nvSpPr>
        <p:spPr>
          <a:xfrm>
            <a:off x="6378954" y="3858940"/>
            <a:ext cx="402675" cy="369332"/>
          </a:xfrm>
          <a:prstGeom prst="rect">
            <a:avLst/>
          </a:prstGeom>
          <a:noFill/>
        </p:spPr>
        <p:txBody>
          <a:bodyPr wrap="none" rtlCol="0">
            <a:spAutoFit/>
          </a:bodyPr>
          <a:lstStyle/>
          <a:p>
            <a:pPr defTabSz="685800"/>
            <a:r>
              <a:rPr lang="en-US" dirty="0">
                <a:solidFill>
                  <a:prstClr val="black"/>
                </a:solidFill>
                <a:latin typeface="Calibri" panose="020F0502020204030204"/>
              </a:rPr>
              <a:t>Px</a:t>
            </a:r>
          </a:p>
        </p:txBody>
      </p:sp>
      <p:sp>
        <p:nvSpPr>
          <p:cNvPr id="65" name="TextBox 64"/>
          <p:cNvSpPr txBox="1"/>
          <p:nvPr/>
        </p:nvSpPr>
        <p:spPr>
          <a:xfrm>
            <a:off x="7247920" y="4190905"/>
            <a:ext cx="344966" cy="369332"/>
          </a:xfrm>
          <a:prstGeom prst="rect">
            <a:avLst/>
          </a:prstGeom>
          <a:noFill/>
        </p:spPr>
        <p:txBody>
          <a:bodyPr wrap="none" rtlCol="0">
            <a:spAutoFit/>
          </a:bodyPr>
          <a:lstStyle/>
          <a:p>
            <a:pPr defTabSz="685800"/>
            <a:r>
              <a:rPr lang="en-US" dirty="0" err="1">
                <a:solidFill>
                  <a:prstClr val="black"/>
                </a:solidFill>
                <a:latin typeface="Calibri" panose="020F0502020204030204"/>
              </a:rPr>
              <a:t>Sj</a:t>
            </a:r>
            <a:endParaRPr lang="en-US" dirty="0">
              <a:solidFill>
                <a:prstClr val="black"/>
              </a:solidFill>
              <a:latin typeface="Calibri" panose="020F0502020204030204"/>
            </a:endParaRPr>
          </a:p>
        </p:txBody>
      </p:sp>
      <p:cxnSp>
        <p:nvCxnSpPr>
          <p:cNvPr id="66" name="מחבר ישר 65"/>
          <p:cNvCxnSpPr/>
          <p:nvPr/>
        </p:nvCxnSpPr>
        <p:spPr>
          <a:xfrm>
            <a:off x="8237603" y="4158631"/>
            <a:ext cx="0" cy="854902"/>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מחבר ישר 66"/>
          <p:cNvCxnSpPr/>
          <p:nvPr/>
        </p:nvCxnSpPr>
        <p:spPr>
          <a:xfrm flipV="1">
            <a:off x="8209421" y="4982741"/>
            <a:ext cx="1653227" cy="30793"/>
          </a:xfrm>
          <a:prstGeom prst="line">
            <a:avLst/>
          </a:prstGeom>
        </p:spPr>
        <p:style>
          <a:lnRef idx="1">
            <a:schemeClr val="accent1"/>
          </a:lnRef>
          <a:fillRef idx="0">
            <a:schemeClr val="accent1"/>
          </a:fillRef>
          <a:effectRef idx="0">
            <a:schemeClr val="accent1"/>
          </a:effectRef>
          <a:fontRef idx="minor">
            <a:schemeClr val="tx1"/>
          </a:fontRef>
        </p:style>
      </p:cxnSp>
      <p:sp>
        <p:nvSpPr>
          <p:cNvPr id="68" name="צורה חופשית 67"/>
          <p:cNvSpPr/>
          <p:nvPr/>
        </p:nvSpPr>
        <p:spPr>
          <a:xfrm rot="16200000">
            <a:off x="8757987" y="3838037"/>
            <a:ext cx="686498" cy="1424279"/>
          </a:xfrm>
          <a:custGeom>
            <a:avLst/>
            <a:gdLst>
              <a:gd name="connsiteX0" fmla="*/ 0 w 776614"/>
              <a:gd name="connsiteY0" fmla="*/ 0 h 901874"/>
              <a:gd name="connsiteX1" fmla="*/ 338203 w 776614"/>
              <a:gd name="connsiteY1" fmla="*/ 613776 h 901874"/>
              <a:gd name="connsiteX2" fmla="*/ 776614 w 776614"/>
              <a:gd name="connsiteY2" fmla="*/ 901874 h 901874"/>
            </a:gdLst>
            <a:ahLst/>
            <a:cxnLst>
              <a:cxn ang="0">
                <a:pos x="connsiteX0" y="connsiteY0"/>
              </a:cxn>
              <a:cxn ang="0">
                <a:pos x="connsiteX1" y="connsiteY1"/>
              </a:cxn>
              <a:cxn ang="0">
                <a:pos x="connsiteX2" y="connsiteY2"/>
              </a:cxn>
            </a:cxnLst>
            <a:rect l="l" t="t" r="r" b="b"/>
            <a:pathLst>
              <a:path w="776614" h="901874">
                <a:moveTo>
                  <a:pt x="0" y="0"/>
                </a:moveTo>
                <a:cubicBezTo>
                  <a:pt x="104383" y="231732"/>
                  <a:pt x="208767" y="463464"/>
                  <a:pt x="338203" y="613776"/>
                </a:cubicBezTo>
                <a:cubicBezTo>
                  <a:pt x="467639" y="764088"/>
                  <a:pt x="622126" y="832981"/>
                  <a:pt x="776614" y="901874"/>
                </a:cubicBez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a:solidFill>
                <a:prstClr val="white"/>
              </a:solidFill>
              <a:latin typeface="Calibri" panose="020F0502020204030204"/>
            </a:endParaRPr>
          </a:p>
        </p:txBody>
      </p:sp>
      <p:sp>
        <p:nvSpPr>
          <p:cNvPr id="69" name="TextBox 68"/>
          <p:cNvSpPr txBox="1"/>
          <p:nvPr/>
        </p:nvSpPr>
        <p:spPr>
          <a:xfrm>
            <a:off x="9676925" y="5059111"/>
            <a:ext cx="304892" cy="369332"/>
          </a:xfrm>
          <a:prstGeom prst="rect">
            <a:avLst/>
          </a:prstGeom>
          <a:noFill/>
        </p:spPr>
        <p:txBody>
          <a:bodyPr wrap="none" rtlCol="0">
            <a:spAutoFit/>
          </a:bodyPr>
          <a:lstStyle/>
          <a:p>
            <a:pPr defTabSz="685800"/>
            <a:r>
              <a:rPr lang="en-US" dirty="0">
                <a:solidFill>
                  <a:prstClr val="black"/>
                </a:solidFill>
                <a:latin typeface="Calibri" panose="020F0502020204030204"/>
              </a:rPr>
              <a:t>X</a:t>
            </a:r>
          </a:p>
        </p:txBody>
      </p:sp>
      <p:sp>
        <p:nvSpPr>
          <p:cNvPr id="70" name="TextBox 69"/>
          <p:cNvSpPr txBox="1"/>
          <p:nvPr/>
        </p:nvSpPr>
        <p:spPr>
          <a:xfrm>
            <a:off x="8002553" y="3943558"/>
            <a:ext cx="402675" cy="369332"/>
          </a:xfrm>
          <a:prstGeom prst="rect">
            <a:avLst/>
          </a:prstGeom>
          <a:noFill/>
        </p:spPr>
        <p:txBody>
          <a:bodyPr wrap="none" rtlCol="0">
            <a:spAutoFit/>
          </a:bodyPr>
          <a:lstStyle/>
          <a:p>
            <a:pPr defTabSz="685800"/>
            <a:r>
              <a:rPr lang="en-US" dirty="0">
                <a:solidFill>
                  <a:prstClr val="black"/>
                </a:solidFill>
                <a:latin typeface="Calibri" panose="020F0502020204030204"/>
              </a:rPr>
              <a:t>Px</a:t>
            </a:r>
          </a:p>
        </p:txBody>
      </p:sp>
      <p:sp>
        <p:nvSpPr>
          <p:cNvPr id="71" name="TextBox 70"/>
          <p:cNvSpPr txBox="1"/>
          <p:nvPr/>
        </p:nvSpPr>
        <p:spPr>
          <a:xfrm>
            <a:off x="9789053" y="4065530"/>
            <a:ext cx="330540" cy="461665"/>
          </a:xfrm>
          <a:prstGeom prst="rect">
            <a:avLst/>
          </a:prstGeom>
          <a:noFill/>
        </p:spPr>
        <p:txBody>
          <a:bodyPr wrap="none" rtlCol="0">
            <a:spAutoFit/>
          </a:bodyPr>
          <a:lstStyle/>
          <a:p>
            <a:pPr defTabSz="685800"/>
            <a:r>
              <a:rPr lang="en-US" sz="2400" b="1" dirty="0">
                <a:solidFill>
                  <a:prstClr val="black"/>
                </a:solidFill>
                <a:latin typeface="Calibri" panose="020F0502020204030204"/>
              </a:rPr>
              <a:t>S</a:t>
            </a:r>
          </a:p>
        </p:txBody>
      </p:sp>
      <p:sp>
        <p:nvSpPr>
          <p:cNvPr id="73" name="צורה חופשית 72"/>
          <p:cNvSpPr/>
          <p:nvPr/>
        </p:nvSpPr>
        <p:spPr>
          <a:xfrm rot="16778186">
            <a:off x="8793058" y="2177561"/>
            <a:ext cx="686498" cy="1424279"/>
          </a:xfrm>
          <a:custGeom>
            <a:avLst/>
            <a:gdLst>
              <a:gd name="connsiteX0" fmla="*/ 0 w 776614"/>
              <a:gd name="connsiteY0" fmla="*/ 0 h 901874"/>
              <a:gd name="connsiteX1" fmla="*/ 338203 w 776614"/>
              <a:gd name="connsiteY1" fmla="*/ 613776 h 901874"/>
              <a:gd name="connsiteX2" fmla="*/ 776614 w 776614"/>
              <a:gd name="connsiteY2" fmla="*/ 901874 h 901874"/>
            </a:gdLst>
            <a:ahLst/>
            <a:cxnLst>
              <a:cxn ang="0">
                <a:pos x="connsiteX0" y="connsiteY0"/>
              </a:cxn>
              <a:cxn ang="0">
                <a:pos x="connsiteX1" y="connsiteY1"/>
              </a:cxn>
              <a:cxn ang="0">
                <a:pos x="connsiteX2" y="connsiteY2"/>
              </a:cxn>
            </a:cxnLst>
            <a:rect l="l" t="t" r="r" b="b"/>
            <a:pathLst>
              <a:path w="776614" h="901874">
                <a:moveTo>
                  <a:pt x="0" y="0"/>
                </a:moveTo>
                <a:cubicBezTo>
                  <a:pt x="104383" y="231732"/>
                  <a:pt x="208767" y="463464"/>
                  <a:pt x="338203" y="613776"/>
                </a:cubicBezTo>
                <a:cubicBezTo>
                  <a:pt x="467639" y="764088"/>
                  <a:pt x="622126" y="832981"/>
                  <a:pt x="776614" y="901874"/>
                </a:cubicBezTo>
              </a:path>
            </a:pathLst>
          </a:custGeom>
          <a:noFill/>
          <a:ln w="381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a:solidFill>
                <a:prstClr val="white"/>
              </a:solidFill>
              <a:latin typeface="Calibri" panose="020F0502020204030204"/>
            </a:endParaRPr>
          </a:p>
        </p:txBody>
      </p:sp>
      <p:sp>
        <p:nvSpPr>
          <p:cNvPr id="74" name="TextBox 73"/>
          <p:cNvSpPr txBox="1"/>
          <p:nvPr/>
        </p:nvSpPr>
        <p:spPr>
          <a:xfrm>
            <a:off x="9861442" y="2418981"/>
            <a:ext cx="290464" cy="369332"/>
          </a:xfrm>
          <a:prstGeom prst="rect">
            <a:avLst/>
          </a:prstGeom>
          <a:noFill/>
        </p:spPr>
        <p:txBody>
          <a:bodyPr wrap="none" rtlCol="0">
            <a:spAutoFit/>
          </a:bodyPr>
          <a:lstStyle/>
          <a:p>
            <a:pPr defTabSz="685800"/>
            <a:r>
              <a:rPr lang="en-US" dirty="0">
                <a:solidFill>
                  <a:prstClr val="black"/>
                </a:solidFill>
                <a:latin typeface="Calibri" panose="020F0502020204030204"/>
              </a:rPr>
              <a:t>S</a:t>
            </a:r>
          </a:p>
        </p:txBody>
      </p:sp>
      <p:sp>
        <p:nvSpPr>
          <p:cNvPr id="75" name="צורה חופשית 74"/>
          <p:cNvSpPr/>
          <p:nvPr/>
        </p:nvSpPr>
        <p:spPr>
          <a:xfrm>
            <a:off x="8415169" y="4193541"/>
            <a:ext cx="1383986" cy="669429"/>
          </a:xfrm>
          <a:custGeom>
            <a:avLst/>
            <a:gdLst>
              <a:gd name="connsiteX0" fmla="*/ 0 w 776614"/>
              <a:gd name="connsiteY0" fmla="*/ 0 h 901874"/>
              <a:gd name="connsiteX1" fmla="*/ 338203 w 776614"/>
              <a:gd name="connsiteY1" fmla="*/ 613776 h 901874"/>
              <a:gd name="connsiteX2" fmla="*/ 776614 w 776614"/>
              <a:gd name="connsiteY2" fmla="*/ 901874 h 901874"/>
            </a:gdLst>
            <a:ahLst/>
            <a:cxnLst>
              <a:cxn ang="0">
                <a:pos x="connsiteX0" y="connsiteY0"/>
              </a:cxn>
              <a:cxn ang="0">
                <a:pos x="connsiteX1" y="connsiteY1"/>
              </a:cxn>
              <a:cxn ang="0">
                <a:pos x="connsiteX2" y="connsiteY2"/>
              </a:cxn>
            </a:cxnLst>
            <a:rect l="l" t="t" r="r" b="b"/>
            <a:pathLst>
              <a:path w="776614" h="901874">
                <a:moveTo>
                  <a:pt x="0" y="0"/>
                </a:moveTo>
                <a:cubicBezTo>
                  <a:pt x="104383" y="231732"/>
                  <a:pt x="208767" y="463464"/>
                  <a:pt x="338203" y="613776"/>
                </a:cubicBezTo>
                <a:cubicBezTo>
                  <a:pt x="467639" y="764088"/>
                  <a:pt x="622126" y="832981"/>
                  <a:pt x="776614" y="901874"/>
                </a:cubicBezTo>
              </a:path>
            </a:pathLst>
          </a:cu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a:solidFill>
                <a:prstClr val="white"/>
              </a:solidFill>
              <a:latin typeface="Calibri" panose="020F0502020204030204"/>
            </a:endParaRPr>
          </a:p>
        </p:txBody>
      </p:sp>
      <p:sp>
        <p:nvSpPr>
          <p:cNvPr id="76" name="TextBox 75"/>
          <p:cNvSpPr txBox="1"/>
          <p:nvPr/>
        </p:nvSpPr>
        <p:spPr>
          <a:xfrm>
            <a:off x="9886736" y="4694026"/>
            <a:ext cx="266735" cy="369332"/>
          </a:xfrm>
          <a:prstGeom prst="rect">
            <a:avLst/>
          </a:prstGeom>
          <a:noFill/>
        </p:spPr>
        <p:txBody>
          <a:bodyPr wrap="square" rtlCol="0">
            <a:spAutoFit/>
          </a:bodyPr>
          <a:lstStyle/>
          <a:p>
            <a:pPr defTabSz="685800"/>
            <a:r>
              <a:rPr lang="en-US" dirty="0">
                <a:solidFill>
                  <a:prstClr val="black"/>
                </a:solidFill>
                <a:latin typeface="Calibri" panose="020F0502020204030204"/>
              </a:rPr>
              <a:t>D</a:t>
            </a:r>
          </a:p>
        </p:txBody>
      </p:sp>
      <p:sp>
        <p:nvSpPr>
          <p:cNvPr id="77" name="אליפסה 76"/>
          <p:cNvSpPr/>
          <p:nvPr/>
        </p:nvSpPr>
        <p:spPr>
          <a:xfrm>
            <a:off x="5899820" y="4450422"/>
            <a:ext cx="93552" cy="12551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a:solidFill>
                <a:prstClr val="white"/>
              </a:solidFill>
              <a:latin typeface="Calibri" panose="020F0502020204030204"/>
            </a:endParaRPr>
          </a:p>
        </p:txBody>
      </p:sp>
      <p:sp>
        <p:nvSpPr>
          <p:cNvPr id="78" name="אליפסה 77"/>
          <p:cNvSpPr/>
          <p:nvPr/>
        </p:nvSpPr>
        <p:spPr>
          <a:xfrm>
            <a:off x="6064620" y="4468396"/>
            <a:ext cx="127462" cy="11014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a:solidFill>
                <a:prstClr val="white"/>
              </a:solidFill>
              <a:latin typeface="Calibri" panose="020F0502020204030204"/>
            </a:endParaRPr>
          </a:p>
        </p:txBody>
      </p:sp>
      <p:sp>
        <p:nvSpPr>
          <p:cNvPr id="79" name="אליפסה 78"/>
          <p:cNvSpPr/>
          <p:nvPr/>
        </p:nvSpPr>
        <p:spPr>
          <a:xfrm>
            <a:off x="6250187" y="4468397"/>
            <a:ext cx="115840" cy="107543"/>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a:solidFill>
                <a:prstClr val="white"/>
              </a:solidFill>
              <a:latin typeface="Calibri" panose="020F0502020204030204"/>
            </a:endParaRPr>
          </a:p>
        </p:txBody>
      </p:sp>
      <p:cxnSp>
        <p:nvCxnSpPr>
          <p:cNvPr id="3" name="מחבר ישר 2"/>
          <p:cNvCxnSpPr/>
          <p:nvPr/>
        </p:nvCxnSpPr>
        <p:spPr>
          <a:xfrm flipH="1" flipV="1">
            <a:off x="2033435" y="2919512"/>
            <a:ext cx="7023518" cy="90713"/>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מחבר ישר 38"/>
          <p:cNvCxnSpPr>
            <a:cxnSpLocks/>
          </p:cNvCxnSpPr>
          <p:nvPr/>
        </p:nvCxnSpPr>
        <p:spPr>
          <a:xfrm flipH="1">
            <a:off x="9101237" y="3053062"/>
            <a:ext cx="10031" cy="185086"/>
          </a:xfrm>
          <a:prstGeom prst="line">
            <a:avLst/>
          </a:prstGeom>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8884361" y="3450616"/>
            <a:ext cx="420308" cy="369332"/>
          </a:xfrm>
          <a:prstGeom prst="rect">
            <a:avLst/>
          </a:prstGeom>
          <a:noFill/>
        </p:spPr>
        <p:txBody>
          <a:bodyPr wrap="none" rtlCol="0">
            <a:spAutoFit/>
          </a:bodyPr>
          <a:lstStyle/>
          <a:p>
            <a:pPr defTabSz="685800"/>
            <a:r>
              <a:rPr lang="en-US" dirty="0">
                <a:solidFill>
                  <a:prstClr val="black"/>
                </a:solidFill>
                <a:latin typeface="Calibri" panose="020F0502020204030204"/>
              </a:rPr>
              <a:t>X*</a:t>
            </a:r>
          </a:p>
        </p:txBody>
      </p:sp>
      <p:sp>
        <p:nvSpPr>
          <p:cNvPr id="81" name="TextBox 80"/>
          <p:cNvSpPr txBox="1"/>
          <p:nvPr/>
        </p:nvSpPr>
        <p:spPr>
          <a:xfrm>
            <a:off x="7839565" y="2503924"/>
            <a:ext cx="418704" cy="369332"/>
          </a:xfrm>
          <a:prstGeom prst="rect">
            <a:avLst/>
          </a:prstGeom>
          <a:noFill/>
        </p:spPr>
        <p:txBody>
          <a:bodyPr wrap="none" rtlCol="0">
            <a:spAutoFit/>
          </a:bodyPr>
          <a:lstStyle/>
          <a:p>
            <a:pPr defTabSz="685800"/>
            <a:r>
              <a:rPr lang="en-US" dirty="0">
                <a:solidFill>
                  <a:prstClr val="black"/>
                </a:solidFill>
                <a:latin typeface="Calibri" panose="020F0502020204030204"/>
              </a:rPr>
              <a:t>P*</a:t>
            </a:r>
          </a:p>
        </p:txBody>
      </p:sp>
      <p:cxnSp>
        <p:nvCxnSpPr>
          <p:cNvPr id="82" name="מחבר ישר 81"/>
          <p:cNvCxnSpPr>
            <a:cxnSpLocks/>
          </p:cNvCxnSpPr>
          <p:nvPr/>
        </p:nvCxnSpPr>
        <p:spPr>
          <a:xfrm flipH="1" flipV="1">
            <a:off x="1984332" y="4588384"/>
            <a:ext cx="7091042" cy="77949"/>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מחבר ישר 82"/>
          <p:cNvCxnSpPr/>
          <p:nvPr/>
        </p:nvCxnSpPr>
        <p:spPr>
          <a:xfrm>
            <a:off x="9129725" y="4732575"/>
            <a:ext cx="0" cy="294253"/>
          </a:xfrm>
          <a:prstGeom prst="line">
            <a:avLst/>
          </a:prstGeom>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8955923" y="5069193"/>
            <a:ext cx="420308" cy="369332"/>
          </a:xfrm>
          <a:prstGeom prst="rect">
            <a:avLst/>
          </a:prstGeom>
          <a:noFill/>
        </p:spPr>
        <p:txBody>
          <a:bodyPr wrap="none" rtlCol="0">
            <a:spAutoFit/>
          </a:bodyPr>
          <a:lstStyle/>
          <a:p>
            <a:pPr defTabSz="685800"/>
            <a:r>
              <a:rPr lang="en-US" dirty="0">
                <a:solidFill>
                  <a:prstClr val="black"/>
                </a:solidFill>
                <a:latin typeface="Calibri" panose="020F0502020204030204"/>
              </a:rPr>
              <a:t>X*</a:t>
            </a:r>
          </a:p>
        </p:txBody>
      </p:sp>
      <p:sp>
        <p:nvSpPr>
          <p:cNvPr id="85" name="TextBox 84"/>
          <p:cNvSpPr txBox="1"/>
          <p:nvPr/>
        </p:nvSpPr>
        <p:spPr>
          <a:xfrm>
            <a:off x="7911182" y="4498921"/>
            <a:ext cx="418704" cy="369332"/>
          </a:xfrm>
          <a:prstGeom prst="rect">
            <a:avLst/>
          </a:prstGeom>
          <a:noFill/>
        </p:spPr>
        <p:txBody>
          <a:bodyPr wrap="none" rtlCol="0">
            <a:spAutoFit/>
          </a:bodyPr>
          <a:lstStyle/>
          <a:p>
            <a:pPr defTabSz="685800"/>
            <a:r>
              <a:rPr lang="en-US" dirty="0">
                <a:solidFill>
                  <a:prstClr val="black"/>
                </a:solidFill>
                <a:latin typeface="Calibri" panose="020F0502020204030204"/>
              </a:rPr>
              <a:t>P*</a:t>
            </a:r>
          </a:p>
        </p:txBody>
      </p:sp>
      <p:sp>
        <p:nvSpPr>
          <p:cNvPr id="46" name="TextBox 45">
            <a:extLst>
              <a:ext uri="{FF2B5EF4-FFF2-40B4-BE49-F238E27FC236}">
                <a16:creationId xmlns:a16="http://schemas.microsoft.com/office/drawing/2014/main" id="{0F6AE8F2-E1CF-4F2D-8388-7CD49C9BED10}"/>
              </a:ext>
            </a:extLst>
          </p:cNvPr>
          <p:cNvSpPr txBox="1"/>
          <p:nvPr/>
        </p:nvSpPr>
        <p:spPr>
          <a:xfrm>
            <a:off x="1749472" y="1828800"/>
            <a:ext cx="1153784" cy="461665"/>
          </a:xfrm>
          <a:prstGeom prst="rect">
            <a:avLst/>
          </a:prstGeom>
          <a:noFill/>
        </p:spPr>
        <p:txBody>
          <a:bodyPr wrap="square" rtlCol="0">
            <a:spAutoFit/>
          </a:bodyPr>
          <a:lstStyle/>
          <a:p>
            <a:r>
              <a:rPr lang="he-IL" sz="2400" dirty="0"/>
              <a:t>צרכן1</a:t>
            </a:r>
            <a:endParaRPr lang="en-IL" sz="2400" dirty="0"/>
          </a:p>
        </p:txBody>
      </p:sp>
      <p:sp>
        <p:nvSpPr>
          <p:cNvPr id="86" name="TextBox 85">
            <a:extLst>
              <a:ext uri="{FF2B5EF4-FFF2-40B4-BE49-F238E27FC236}">
                <a16:creationId xmlns:a16="http://schemas.microsoft.com/office/drawing/2014/main" id="{364586A6-8D0B-40D6-9F1F-32B61365FF00}"/>
              </a:ext>
            </a:extLst>
          </p:cNvPr>
          <p:cNvSpPr txBox="1"/>
          <p:nvPr/>
        </p:nvSpPr>
        <p:spPr>
          <a:xfrm>
            <a:off x="3263360" y="1833049"/>
            <a:ext cx="976956" cy="461665"/>
          </a:xfrm>
          <a:prstGeom prst="rect">
            <a:avLst/>
          </a:prstGeom>
          <a:noFill/>
        </p:spPr>
        <p:txBody>
          <a:bodyPr wrap="square" rtlCol="0">
            <a:spAutoFit/>
          </a:bodyPr>
          <a:lstStyle/>
          <a:p>
            <a:r>
              <a:rPr lang="he-IL" sz="2400" dirty="0"/>
              <a:t>צרכן2</a:t>
            </a:r>
            <a:endParaRPr lang="en-IL" sz="2400" dirty="0"/>
          </a:p>
        </p:txBody>
      </p:sp>
      <p:sp>
        <p:nvSpPr>
          <p:cNvPr id="87" name="TextBox 86">
            <a:extLst>
              <a:ext uri="{FF2B5EF4-FFF2-40B4-BE49-F238E27FC236}">
                <a16:creationId xmlns:a16="http://schemas.microsoft.com/office/drawing/2014/main" id="{7CF72389-8FC2-4875-A90D-8CB24E8590A8}"/>
              </a:ext>
            </a:extLst>
          </p:cNvPr>
          <p:cNvSpPr txBox="1"/>
          <p:nvPr/>
        </p:nvSpPr>
        <p:spPr>
          <a:xfrm>
            <a:off x="4501786" y="1828051"/>
            <a:ext cx="1146685" cy="461665"/>
          </a:xfrm>
          <a:prstGeom prst="rect">
            <a:avLst/>
          </a:prstGeom>
          <a:noFill/>
        </p:spPr>
        <p:txBody>
          <a:bodyPr wrap="square" rtlCol="0">
            <a:spAutoFit/>
          </a:bodyPr>
          <a:lstStyle/>
          <a:p>
            <a:r>
              <a:rPr lang="he-IL" sz="2400" dirty="0"/>
              <a:t>צרכן3</a:t>
            </a:r>
            <a:endParaRPr lang="en-IL" sz="2400" dirty="0"/>
          </a:p>
        </p:txBody>
      </p:sp>
      <p:sp>
        <p:nvSpPr>
          <p:cNvPr id="88" name="TextBox 87">
            <a:extLst>
              <a:ext uri="{FF2B5EF4-FFF2-40B4-BE49-F238E27FC236}">
                <a16:creationId xmlns:a16="http://schemas.microsoft.com/office/drawing/2014/main" id="{DBCC7CA3-444A-44B0-9046-9C8637BDFF41}"/>
              </a:ext>
            </a:extLst>
          </p:cNvPr>
          <p:cNvSpPr txBox="1"/>
          <p:nvPr/>
        </p:nvSpPr>
        <p:spPr>
          <a:xfrm>
            <a:off x="5804290" y="1843083"/>
            <a:ext cx="1660961" cy="461665"/>
          </a:xfrm>
          <a:prstGeom prst="rect">
            <a:avLst/>
          </a:prstGeom>
          <a:noFill/>
        </p:spPr>
        <p:txBody>
          <a:bodyPr wrap="square" rtlCol="0">
            <a:spAutoFit/>
          </a:bodyPr>
          <a:lstStyle/>
          <a:p>
            <a:r>
              <a:rPr lang="en-US" sz="2400" dirty="0"/>
              <a:t> </a:t>
            </a:r>
            <a:r>
              <a:rPr lang="en-US" sz="2400" dirty="0" err="1"/>
              <a:t>i</a:t>
            </a:r>
            <a:r>
              <a:rPr lang="en-US" sz="2400" dirty="0"/>
              <a:t> </a:t>
            </a:r>
            <a:r>
              <a:rPr lang="he-IL" sz="2400" dirty="0"/>
              <a:t>צרכן</a:t>
            </a:r>
            <a:r>
              <a:rPr lang="en-US" sz="2400" dirty="0"/>
              <a:t>  </a:t>
            </a:r>
            <a:endParaRPr lang="en-IL" sz="2400" dirty="0"/>
          </a:p>
        </p:txBody>
      </p:sp>
      <p:sp>
        <p:nvSpPr>
          <p:cNvPr id="90" name="TextBox 89">
            <a:extLst>
              <a:ext uri="{FF2B5EF4-FFF2-40B4-BE49-F238E27FC236}">
                <a16:creationId xmlns:a16="http://schemas.microsoft.com/office/drawing/2014/main" id="{B63A2D13-6621-4420-A636-9F2281D615C0}"/>
              </a:ext>
            </a:extLst>
          </p:cNvPr>
          <p:cNvSpPr txBox="1"/>
          <p:nvPr/>
        </p:nvSpPr>
        <p:spPr>
          <a:xfrm>
            <a:off x="1730572" y="3622699"/>
            <a:ext cx="1167076" cy="461665"/>
          </a:xfrm>
          <a:prstGeom prst="rect">
            <a:avLst/>
          </a:prstGeom>
          <a:noFill/>
        </p:spPr>
        <p:txBody>
          <a:bodyPr wrap="square" rtlCol="0">
            <a:spAutoFit/>
          </a:bodyPr>
          <a:lstStyle/>
          <a:p>
            <a:r>
              <a:rPr lang="he-IL" sz="2400" dirty="0"/>
              <a:t>יצרן1</a:t>
            </a:r>
            <a:endParaRPr lang="en-IL" sz="2400" dirty="0"/>
          </a:p>
        </p:txBody>
      </p:sp>
      <p:sp>
        <p:nvSpPr>
          <p:cNvPr id="91" name="TextBox 90">
            <a:extLst>
              <a:ext uri="{FF2B5EF4-FFF2-40B4-BE49-F238E27FC236}">
                <a16:creationId xmlns:a16="http://schemas.microsoft.com/office/drawing/2014/main" id="{4B657C24-20AB-47DD-BDC3-F02442D4D7CA}"/>
              </a:ext>
            </a:extLst>
          </p:cNvPr>
          <p:cNvSpPr txBox="1"/>
          <p:nvPr/>
        </p:nvSpPr>
        <p:spPr>
          <a:xfrm>
            <a:off x="2866444" y="3626948"/>
            <a:ext cx="1368263" cy="461665"/>
          </a:xfrm>
          <a:prstGeom prst="rect">
            <a:avLst/>
          </a:prstGeom>
          <a:noFill/>
        </p:spPr>
        <p:txBody>
          <a:bodyPr wrap="square" rtlCol="0">
            <a:spAutoFit/>
          </a:bodyPr>
          <a:lstStyle/>
          <a:p>
            <a:r>
              <a:rPr lang="he-IL" sz="2400" dirty="0"/>
              <a:t>יצרן2</a:t>
            </a:r>
            <a:endParaRPr lang="en-IL" sz="2400" dirty="0"/>
          </a:p>
        </p:txBody>
      </p:sp>
      <p:sp>
        <p:nvSpPr>
          <p:cNvPr id="92" name="TextBox 91">
            <a:extLst>
              <a:ext uri="{FF2B5EF4-FFF2-40B4-BE49-F238E27FC236}">
                <a16:creationId xmlns:a16="http://schemas.microsoft.com/office/drawing/2014/main" id="{2DB32AFB-F186-4BBB-89AF-079998460EF3}"/>
              </a:ext>
            </a:extLst>
          </p:cNvPr>
          <p:cNvSpPr txBox="1"/>
          <p:nvPr/>
        </p:nvSpPr>
        <p:spPr>
          <a:xfrm>
            <a:off x="4569666" y="3621950"/>
            <a:ext cx="1073198" cy="461665"/>
          </a:xfrm>
          <a:prstGeom prst="rect">
            <a:avLst/>
          </a:prstGeom>
          <a:noFill/>
        </p:spPr>
        <p:txBody>
          <a:bodyPr wrap="square" rtlCol="0">
            <a:spAutoFit/>
          </a:bodyPr>
          <a:lstStyle/>
          <a:p>
            <a:r>
              <a:rPr lang="he-IL" sz="2400" dirty="0"/>
              <a:t>יצרן3</a:t>
            </a:r>
            <a:endParaRPr lang="en-IL" sz="2400" dirty="0"/>
          </a:p>
        </p:txBody>
      </p:sp>
      <p:sp>
        <p:nvSpPr>
          <p:cNvPr id="93" name="TextBox 92">
            <a:extLst>
              <a:ext uri="{FF2B5EF4-FFF2-40B4-BE49-F238E27FC236}">
                <a16:creationId xmlns:a16="http://schemas.microsoft.com/office/drawing/2014/main" id="{F8B8449F-7358-4E8E-8673-E9528A0A94B6}"/>
              </a:ext>
            </a:extLst>
          </p:cNvPr>
          <p:cNvSpPr txBox="1"/>
          <p:nvPr/>
        </p:nvSpPr>
        <p:spPr>
          <a:xfrm>
            <a:off x="6180372" y="3636982"/>
            <a:ext cx="1279271" cy="461665"/>
          </a:xfrm>
          <a:prstGeom prst="rect">
            <a:avLst/>
          </a:prstGeom>
          <a:noFill/>
        </p:spPr>
        <p:txBody>
          <a:bodyPr wrap="square" rtlCol="0">
            <a:spAutoFit/>
          </a:bodyPr>
          <a:lstStyle/>
          <a:p>
            <a:r>
              <a:rPr lang="en-US" sz="2400" dirty="0"/>
              <a:t> j </a:t>
            </a:r>
            <a:r>
              <a:rPr lang="he-IL" sz="2400" dirty="0"/>
              <a:t>יצרן</a:t>
            </a:r>
            <a:r>
              <a:rPr lang="en-US" sz="2400" dirty="0"/>
              <a:t>  </a:t>
            </a:r>
            <a:endParaRPr lang="en-IL" sz="2400" dirty="0"/>
          </a:p>
        </p:txBody>
      </p:sp>
      <p:sp>
        <p:nvSpPr>
          <p:cNvPr id="72" name="Slide Number Placeholder 71">
            <a:extLst>
              <a:ext uri="{FF2B5EF4-FFF2-40B4-BE49-F238E27FC236}">
                <a16:creationId xmlns:a16="http://schemas.microsoft.com/office/drawing/2014/main" id="{8C6088E5-CD69-4DD9-B2B6-0F3D197C4486}"/>
              </a:ext>
            </a:extLst>
          </p:cNvPr>
          <p:cNvSpPr>
            <a:spLocks noGrp="1"/>
          </p:cNvSpPr>
          <p:nvPr>
            <p:ph type="sldNum" sz="quarter" idx="12"/>
          </p:nvPr>
        </p:nvSpPr>
        <p:spPr/>
        <p:txBody>
          <a:bodyPr/>
          <a:lstStyle/>
          <a:p>
            <a:fld id="{8DC3450E-7AC5-4221-8DA1-528B2D17D4C0}" type="slidenum">
              <a:rPr lang="en-US" sz="1800" smtClean="0"/>
              <a:t>36</a:t>
            </a:fld>
            <a:endParaRPr lang="en-US" sz="1800"/>
          </a:p>
        </p:txBody>
      </p:sp>
      <p:sp>
        <p:nvSpPr>
          <p:cNvPr id="2" name="Date Placeholder 1">
            <a:extLst>
              <a:ext uri="{FF2B5EF4-FFF2-40B4-BE49-F238E27FC236}">
                <a16:creationId xmlns:a16="http://schemas.microsoft.com/office/drawing/2014/main" id="{4C431C3B-88A0-6537-914A-761FB7A77A31}"/>
              </a:ext>
            </a:extLst>
          </p:cNvPr>
          <p:cNvSpPr>
            <a:spLocks noGrp="1"/>
          </p:cNvSpPr>
          <p:nvPr>
            <p:ph type="dt" sz="half" idx="10"/>
          </p:nvPr>
        </p:nvSpPr>
        <p:spPr/>
        <p:txBody>
          <a:bodyPr/>
          <a:lstStyle/>
          <a:p>
            <a:fld id="{EBC07BEC-DCB1-4CAF-8457-EE7164EBDB0E}" type="datetime8">
              <a:rPr lang="he-IL" smtClean="0"/>
              <a:t>09 ינואר 26</a:t>
            </a:fld>
            <a:endParaRPr lang="he-IL"/>
          </a:p>
        </p:txBody>
      </p:sp>
    </p:spTree>
    <p:extLst>
      <p:ext uri="{BB962C8B-B14F-4D97-AF65-F5344CB8AC3E}">
        <p14:creationId xmlns:p14="http://schemas.microsoft.com/office/powerpoint/2010/main" val="3668480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7"/>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3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8"/>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90"/>
                                        </p:tgtEl>
                                        <p:attrNameLst>
                                          <p:attrName>style.visibility</p:attrName>
                                        </p:attrNameLst>
                                      </p:cBhvr>
                                      <p:to>
                                        <p:strVal val="visible"/>
                                      </p:to>
                                    </p:set>
                                    <p:animEffect transition="in" filter="fade">
                                      <p:cBhvr>
                                        <p:cTn id="93" dur="500"/>
                                        <p:tgtEl>
                                          <p:spTgt spid="90"/>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91"/>
                                        </p:tgtEl>
                                        <p:attrNameLst>
                                          <p:attrName>style.visibility</p:attrName>
                                        </p:attrNameLst>
                                      </p:cBhvr>
                                      <p:to>
                                        <p:strVal val="visible"/>
                                      </p:to>
                                    </p:set>
                                    <p:animEffect transition="in" filter="fade">
                                      <p:cBhvr>
                                        <p:cTn id="96" dur="500"/>
                                        <p:tgtEl>
                                          <p:spTgt spid="91"/>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92"/>
                                        </p:tgtEl>
                                        <p:attrNameLst>
                                          <p:attrName>style.visibility</p:attrName>
                                        </p:attrNameLst>
                                      </p:cBhvr>
                                      <p:to>
                                        <p:strVal val="visible"/>
                                      </p:to>
                                    </p:set>
                                    <p:animEffect transition="in" filter="fade">
                                      <p:cBhvr>
                                        <p:cTn id="99" dur="500"/>
                                        <p:tgtEl>
                                          <p:spTgt spid="92"/>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93"/>
                                        </p:tgtEl>
                                        <p:attrNameLst>
                                          <p:attrName>style.visibility</p:attrName>
                                        </p:attrNameLst>
                                      </p:cBhvr>
                                      <p:to>
                                        <p:strVal val="visible"/>
                                      </p:to>
                                    </p:set>
                                    <p:animEffect transition="in" filter="fade">
                                      <p:cBhvr>
                                        <p:cTn id="102" dur="500"/>
                                        <p:tgtEl>
                                          <p:spTgt spid="93"/>
                                        </p:tgtEl>
                                      </p:cBhvr>
                                    </p:animEffec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40"/>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41"/>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42"/>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43"/>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44"/>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45"/>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nodeType="clickEffect">
                                  <p:stCondLst>
                                    <p:cond delay="0"/>
                                  </p:stCondLst>
                                  <p:childTnLst>
                                    <p:set>
                                      <p:cBhvr>
                                        <p:cTn id="120" dur="1" fill="hold">
                                          <p:stCondLst>
                                            <p:cond delay="0"/>
                                          </p:stCondLst>
                                        </p:cTn>
                                        <p:tgtEl>
                                          <p:spTgt spid="48"/>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49"/>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50"/>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51"/>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52"/>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53"/>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54"/>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55"/>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6"/>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57"/>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59"/>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58"/>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77"/>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78"/>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79"/>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60"/>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61"/>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62"/>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63"/>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64"/>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65"/>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70"/>
                                        </p:tgtEl>
                                        <p:attrNameLst>
                                          <p:attrName>style.visibility</p:attrName>
                                        </p:attrNameLst>
                                      </p:cBhvr>
                                      <p:to>
                                        <p:strVal val="visible"/>
                                      </p:to>
                                    </p:set>
                                  </p:childTnLst>
                                </p:cTn>
                              </p:par>
                              <p:par>
                                <p:cTn id="175" presetID="1" presetClass="entr" presetSubtype="0" fill="hold" nodeType="withEffect">
                                  <p:stCondLst>
                                    <p:cond delay="0"/>
                                  </p:stCondLst>
                                  <p:childTnLst>
                                    <p:set>
                                      <p:cBhvr>
                                        <p:cTn id="176" dur="1" fill="hold">
                                          <p:stCondLst>
                                            <p:cond delay="0"/>
                                          </p:stCondLst>
                                        </p:cTn>
                                        <p:tgtEl>
                                          <p:spTgt spid="66"/>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67"/>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69"/>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68"/>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71"/>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42" presetClass="entr" presetSubtype="0" fill="hold" grpId="0" nodeType="clickEffect">
                                  <p:stCondLst>
                                    <p:cond delay="0"/>
                                  </p:stCondLst>
                                  <p:childTnLst>
                                    <p:set>
                                      <p:cBhvr>
                                        <p:cTn id="192" dur="1" fill="hold">
                                          <p:stCondLst>
                                            <p:cond delay="0"/>
                                          </p:stCondLst>
                                        </p:cTn>
                                        <p:tgtEl>
                                          <p:spTgt spid="73"/>
                                        </p:tgtEl>
                                        <p:attrNameLst>
                                          <p:attrName>style.visibility</p:attrName>
                                        </p:attrNameLst>
                                      </p:cBhvr>
                                      <p:to>
                                        <p:strVal val="visible"/>
                                      </p:to>
                                    </p:set>
                                    <p:animEffect transition="in" filter="fade">
                                      <p:cBhvr>
                                        <p:cTn id="193" dur="1000"/>
                                        <p:tgtEl>
                                          <p:spTgt spid="73"/>
                                        </p:tgtEl>
                                      </p:cBhvr>
                                    </p:animEffect>
                                    <p:anim calcmode="lin" valueType="num">
                                      <p:cBhvr>
                                        <p:cTn id="194" dur="1000" fill="hold"/>
                                        <p:tgtEl>
                                          <p:spTgt spid="73"/>
                                        </p:tgtEl>
                                        <p:attrNameLst>
                                          <p:attrName>ppt_x</p:attrName>
                                        </p:attrNameLst>
                                      </p:cBhvr>
                                      <p:tavLst>
                                        <p:tav tm="0">
                                          <p:val>
                                            <p:strVal val="#ppt_x"/>
                                          </p:val>
                                        </p:tav>
                                        <p:tav tm="100000">
                                          <p:val>
                                            <p:strVal val="#ppt_x"/>
                                          </p:val>
                                        </p:tav>
                                      </p:tavLst>
                                    </p:anim>
                                    <p:anim calcmode="lin" valueType="num">
                                      <p:cBhvr>
                                        <p:cTn id="195" dur="1000" fill="hold"/>
                                        <p:tgtEl>
                                          <p:spTgt spid="73"/>
                                        </p:tgtEl>
                                        <p:attrNameLst>
                                          <p:attrName>ppt_y</p:attrName>
                                        </p:attrNameLst>
                                      </p:cBhvr>
                                      <p:tavLst>
                                        <p:tav tm="0">
                                          <p:val>
                                            <p:strVal val="#ppt_y+.1"/>
                                          </p:val>
                                        </p:tav>
                                        <p:tav tm="100000">
                                          <p:val>
                                            <p:strVal val="#ppt_y"/>
                                          </p:val>
                                        </p:tav>
                                      </p:tavLst>
                                    </p:anim>
                                  </p:childTnLst>
                                </p:cTn>
                              </p:par>
                              <p:par>
                                <p:cTn id="196" presetID="42" presetClass="entr" presetSubtype="0" fill="hold" grpId="0" nodeType="withEffect">
                                  <p:stCondLst>
                                    <p:cond delay="0"/>
                                  </p:stCondLst>
                                  <p:childTnLst>
                                    <p:set>
                                      <p:cBhvr>
                                        <p:cTn id="197" dur="1" fill="hold">
                                          <p:stCondLst>
                                            <p:cond delay="0"/>
                                          </p:stCondLst>
                                        </p:cTn>
                                        <p:tgtEl>
                                          <p:spTgt spid="74"/>
                                        </p:tgtEl>
                                        <p:attrNameLst>
                                          <p:attrName>style.visibility</p:attrName>
                                        </p:attrNameLst>
                                      </p:cBhvr>
                                      <p:to>
                                        <p:strVal val="visible"/>
                                      </p:to>
                                    </p:set>
                                    <p:animEffect transition="in" filter="fade">
                                      <p:cBhvr>
                                        <p:cTn id="198" dur="1000"/>
                                        <p:tgtEl>
                                          <p:spTgt spid="74"/>
                                        </p:tgtEl>
                                      </p:cBhvr>
                                    </p:animEffect>
                                    <p:anim calcmode="lin" valueType="num">
                                      <p:cBhvr>
                                        <p:cTn id="199" dur="1000" fill="hold"/>
                                        <p:tgtEl>
                                          <p:spTgt spid="74"/>
                                        </p:tgtEl>
                                        <p:attrNameLst>
                                          <p:attrName>ppt_x</p:attrName>
                                        </p:attrNameLst>
                                      </p:cBhvr>
                                      <p:tavLst>
                                        <p:tav tm="0">
                                          <p:val>
                                            <p:strVal val="#ppt_x"/>
                                          </p:val>
                                        </p:tav>
                                        <p:tav tm="100000">
                                          <p:val>
                                            <p:strVal val="#ppt_x"/>
                                          </p:val>
                                        </p:tav>
                                      </p:tavLst>
                                    </p:anim>
                                    <p:anim calcmode="lin" valueType="num">
                                      <p:cBhvr>
                                        <p:cTn id="200" dur="1000" fill="hold"/>
                                        <p:tgtEl>
                                          <p:spTgt spid="74"/>
                                        </p:tgtEl>
                                        <p:attrNameLst>
                                          <p:attrName>ppt_y</p:attrName>
                                        </p:attrNameLst>
                                      </p:cBhvr>
                                      <p:tavLst>
                                        <p:tav tm="0">
                                          <p:val>
                                            <p:strVal val="#ppt_y+.1"/>
                                          </p:val>
                                        </p:tav>
                                        <p:tav tm="100000">
                                          <p:val>
                                            <p:strVal val="#ppt_y"/>
                                          </p:val>
                                        </p:tav>
                                      </p:tavLst>
                                    </p:anim>
                                  </p:childTnLst>
                                </p:cTn>
                              </p:par>
                            </p:childTnLst>
                          </p:cTn>
                        </p:par>
                      </p:childTnLst>
                    </p:cTn>
                  </p:par>
                  <p:par>
                    <p:cTn id="201" fill="hold">
                      <p:stCondLst>
                        <p:cond delay="indefinite"/>
                      </p:stCondLst>
                      <p:childTnLst>
                        <p:par>
                          <p:cTn id="202" fill="hold">
                            <p:stCondLst>
                              <p:cond delay="0"/>
                            </p:stCondLst>
                            <p:childTnLst>
                              <p:par>
                                <p:cTn id="203" presetID="16" presetClass="entr" presetSubtype="21" fill="hold" nodeType="clickEffect">
                                  <p:stCondLst>
                                    <p:cond delay="0"/>
                                  </p:stCondLst>
                                  <p:childTnLst>
                                    <p:set>
                                      <p:cBhvr>
                                        <p:cTn id="204" dur="1" fill="hold">
                                          <p:stCondLst>
                                            <p:cond delay="0"/>
                                          </p:stCondLst>
                                        </p:cTn>
                                        <p:tgtEl>
                                          <p:spTgt spid="3"/>
                                        </p:tgtEl>
                                        <p:attrNameLst>
                                          <p:attrName>style.visibility</p:attrName>
                                        </p:attrNameLst>
                                      </p:cBhvr>
                                      <p:to>
                                        <p:strVal val="visible"/>
                                      </p:to>
                                    </p:set>
                                    <p:animEffect transition="in" filter="barn(inVertical)">
                                      <p:cBhvr>
                                        <p:cTn id="205" dur="500"/>
                                        <p:tgtEl>
                                          <p:spTgt spid="3"/>
                                        </p:tgtEl>
                                      </p:cBhvr>
                                    </p:animEffect>
                                  </p:childTnLst>
                                </p:cTn>
                              </p:par>
                            </p:childTnLst>
                          </p:cTn>
                        </p:par>
                      </p:childTnLst>
                    </p:cTn>
                  </p:par>
                  <p:par>
                    <p:cTn id="206" fill="hold">
                      <p:stCondLst>
                        <p:cond delay="indefinite"/>
                      </p:stCondLst>
                      <p:childTnLst>
                        <p:par>
                          <p:cTn id="207" fill="hold">
                            <p:stCondLst>
                              <p:cond delay="0"/>
                            </p:stCondLst>
                            <p:childTnLst>
                              <p:par>
                                <p:cTn id="208" presetID="1" presetClass="entr" presetSubtype="0" fill="hold" nodeType="clickEffect">
                                  <p:stCondLst>
                                    <p:cond delay="0"/>
                                  </p:stCondLst>
                                  <p:childTnLst>
                                    <p:set>
                                      <p:cBhvr>
                                        <p:cTn id="209" dur="1" fill="hold">
                                          <p:stCondLst>
                                            <p:cond delay="0"/>
                                          </p:stCondLst>
                                        </p:cTn>
                                        <p:tgtEl>
                                          <p:spTgt spid="39"/>
                                        </p:tgtEl>
                                        <p:attrNameLst>
                                          <p:attrName>style.visibility</p:attrName>
                                        </p:attrNameLst>
                                      </p:cBhvr>
                                      <p:to>
                                        <p:strVal val="visible"/>
                                      </p:to>
                                    </p:set>
                                  </p:childTnLst>
                                </p:cTn>
                              </p:par>
                              <p:par>
                                <p:cTn id="210" presetID="1" presetClass="entr" presetSubtype="0" fill="hold" grpId="0" nodeType="withEffect">
                                  <p:stCondLst>
                                    <p:cond delay="0"/>
                                  </p:stCondLst>
                                  <p:childTnLst>
                                    <p:set>
                                      <p:cBhvr>
                                        <p:cTn id="211" dur="1" fill="hold">
                                          <p:stCondLst>
                                            <p:cond delay="0"/>
                                          </p:stCondLst>
                                        </p:cTn>
                                        <p:tgtEl>
                                          <p:spTgt spid="80"/>
                                        </p:tgtEl>
                                        <p:attrNameLst>
                                          <p:attrName>style.visibility</p:attrName>
                                        </p:attrNameLst>
                                      </p:cBhvr>
                                      <p:to>
                                        <p:strVal val="visible"/>
                                      </p:to>
                                    </p:set>
                                  </p:childTnLst>
                                </p:cTn>
                              </p:par>
                              <p:par>
                                <p:cTn id="212" presetID="1" presetClass="entr" presetSubtype="0" fill="hold" grpId="0" nodeType="withEffect">
                                  <p:stCondLst>
                                    <p:cond delay="0"/>
                                  </p:stCondLst>
                                  <p:childTnLst>
                                    <p:set>
                                      <p:cBhvr>
                                        <p:cTn id="213" dur="1" fill="hold">
                                          <p:stCondLst>
                                            <p:cond delay="0"/>
                                          </p:stCondLst>
                                        </p:cTn>
                                        <p:tgtEl>
                                          <p:spTgt spid="81"/>
                                        </p:tgtEl>
                                        <p:attrNameLst>
                                          <p:attrName>style.visibility</p:attrName>
                                        </p:attrNameLst>
                                      </p:cBhvr>
                                      <p:to>
                                        <p:strVal val="visible"/>
                                      </p:to>
                                    </p:set>
                                  </p:childTnLst>
                                </p:cTn>
                              </p:par>
                            </p:childTnLst>
                          </p:cTn>
                        </p:par>
                      </p:childTnLst>
                    </p:cTn>
                  </p:par>
                  <p:par>
                    <p:cTn id="214" fill="hold">
                      <p:stCondLst>
                        <p:cond delay="indefinite"/>
                      </p:stCondLst>
                      <p:childTnLst>
                        <p:par>
                          <p:cTn id="215" fill="hold">
                            <p:stCondLst>
                              <p:cond delay="0"/>
                            </p:stCondLst>
                            <p:childTnLst>
                              <p:par>
                                <p:cTn id="216" presetID="47" presetClass="entr" presetSubtype="0" fill="hold" grpId="0" nodeType="clickEffect">
                                  <p:stCondLst>
                                    <p:cond delay="0"/>
                                  </p:stCondLst>
                                  <p:childTnLst>
                                    <p:set>
                                      <p:cBhvr>
                                        <p:cTn id="217" dur="1" fill="hold">
                                          <p:stCondLst>
                                            <p:cond delay="0"/>
                                          </p:stCondLst>
                                        </p:cTn>
                                        <p:tgtEl>
                                          <p:spTgt spid="75"/>
                                        </p:tgtEl>
                                        <p:attrNameLst>
                                          <p:attrName>style.visibility</p:attrName>
                                        </p:attrNameLst>
                                      </p:cBhvr>
                                      <p:to>
                                        <p:strVal val="visible"/>
                                      </p:to>
                                    </p:set>
                                    <p:animEffect transition="in" filter="fade">
                                      <p:cBhvr>
                                        <p:cTn id="218" dur="1000"/>
                                        <p:tgtEl>
                                          <p:spTgt spid="75"/>
                                        </p:tgtEl>
                                      </p:cBhvr>
                                    </p:animEffect>
                                    <p:anim calcmode="lin" valueType="num">
                                      <p:cBhvr>
                                        <p:cTn id="219" dur="1000" fill="hold"/>
                                        <p:tgtEl>
                                          <p:spTgt spid="75"/>
                                        </p:tgtEl>
                                        <p:attrNameLst>
                                          <p:attrName>ppt_x</p:attrName>
                                        </p:attrNameLst>
                                      </p:cBhvr>
                                      <p:tavLst>
                                        <p:tav tm="0">
                                          <p:val>
                                            <p:strVal val="#ppt_x"/>
                                          </p:val>
                                        </p:tav>
                                        <p:tav tm="100000">
                                          <p:val>
                                            <p:strVal val="#ppt_x"/>
                                          </p:val>
                                        </p:tav>
                                      </p:tavLst>
                                    </p:anim>
                                    <p:anim calcmode="lin" valueType="num">
                                      <p:cBhvr>
                                        <p:cTn id="220" dur="1000" fill="hold"/>
                                        <p:tgtEl>
                                          <p:spTgt spid="75"/>
                                        </p:tgtEl>
                                        <p:attrNameLst>
                                          <p:attrName>ppt_y</p:attrName>
                                        </p:attrNameLst>
                                      </p:cBhvr>
                                      <p:tavLst>
                                        <p:tav tm="0">
                                          <p:val>
                                            <p:strVal val="#ppt_y-.1"/>
                                          </p:val>
                                        </p:tav>
                                        <p:tav tm="100000">
                                          <p:val>
                                            <p:strVal val="#ppt_y"/>
                                          </p:val>
                                        </p:tav>
                                      </p:tavLst>
                                    </p:anim>
                                  </p:childTnLst>
                                </p:cTn>
                              </p:par>
                              <p:par>
                                <p:cTn id="221" presetID="47" presetClass="entr" presetSubtype="0" fill="hold" grpId="0" nodeType="withEffect">
                                  <p:stCondLst>
                                    <p:cond delay="0"/>
                                  </p:stCondLst>
                                  <p:childTnLst>
                                    <p:set>
                                      <p:cBhvr>
                                        <p:cTn id="222" dur="1" fill="hold">
                                          <p:stCondLst>
                                            <p:cond delay="0"/>
                                          </p:stCondLst>
                                        </p:cTn>
                                        <p:tgtEl>
                                          <p:spTgt spid="76"/>
                                        </p:tgtEl>
                                        <p:attrNameLst>
                                          <p:attrName>style.visibility</p:attrName>
                                        </p:attrNameLst>
                                      </p:cBhvr>
                                      <p:to>
                                        <p:strVal val="visible"/>
                                      </p:to>
                                    </p:set>
                                    <p:animEffect transition="in" filter="fade">
                                      <p:cBhvr>
                                        <p:cTn id="223" dur="1000"/>
                                        <p:tgtEl>
                                          <p:spTgt spid="76"/>
                                        </p:tgtEl>
                                      </p:cBhvr>
                                    </p:animEffect>
                                    <p:anim calcmode="lin" valueType="num">
                                      <p:cBhvr>
                                        <p:cTn id="224" dur="1000" fill="hold"/>
                                        <p:tgtEl>
                                          <p:spTgt spid="76"/>
                                        </p:tgtEl>
                                        <p:attrNameLst>
                                          <p:attrName>ppt_x</p:attrName>
                                        </p:attrNameLst>
                                      </p:cBhvr>
                                      <p:tavLst>
                                        <p:tav tm="0">
                                          <p:val>
                                            <p:strVal val="#ppt_x"/>
                                          </p:val>
                                        </p:tav>
                                        <p:tav tm="100000">
                                          <p:val>
                                            <p:strVal val="#ppt_x"/>
                                          </p:val>
                                        </p:tav>
                                      </p:tavLst>
                                    </p:anim>
                                    <p:anim calcmode="lin" valueType="num">
                                      <p:cBhvr>
                                        <p:cTn id="225" dur="1000" fill="hold"/>
                                        <p:tgtEl>
                                          <p:spTgt spid="76"/>
                                        </p:tgtEl>
                                        <p:attrNameLst>
                                          <p:attrName>ppt_y</p:attrName>
                                        </p:attrNameLst>
                                      </p:cBhvr>
                                      <p:tavLst>
                                        <p:tav tm="0">
                                          <p:val>
                                            <p:strVal val="#ppt_y-.1"/>
                                          </p:val>
                                        </p:tav>
                                        <p:tav tm="100000">
                                          <p:val>
                                            <p:strVal val="#ppt_y"/>
                                          </p:val>
                                        </p:tav>
                                      </p:tavLst>
                                    </p:anim>
                                  </p:childTnLst>
                                </p:cTn>
                              </p:par>
                            </p:childTnLst>
                          </p:cTn>
                        </p:par>
                      </p:childTnLst>
                    </p:cTn>
                  </p:par>
                  <p:par>
                    <p:cTn id="226" fill="hold">
                      <p:stCondLst>
                        <p:cond delay="indefinite"/>
                      </p:stCondLst>
                      <p:childTnLst>
                        <p:par>
                          <p:cTn id="227" fill="hold">
                            <p:stCondLst>
                              <p:cond delay="0"/>
                            </p:stCondLst>
                            <p:childTnLst>
                              <p:par>
                                <p:cTn id="228" presetID="16" presetClass="entr" presetSubtype="21" fill="hold" nodeType="clickEffect">
                                  <p:stCondLst>
                                    <p:cond delay="0"/>
                                  </p:stCondLst>
                                  <p:childTnLst>
                                    <p:set>
                                      <p:cBhvr>
                                        <p:cTn id="229" dur="1" fill="hold">
                                          <p:stCondLst>
                                            <p:cond delay="0"/>
                                          </p:stCondLst>
                                        </p:cTn>
                                        <p:tgtEl>
                                          <p:spTgt spid="82"/>
                                        </p:tgtEl>
                                        <p:attrNameLst>
                                          <p:attrName>style.visibility</p:attrName>
                                        </p:attrNameLst>
                                      </p:cBhvr>
                                      <p:to>
                                        <p:strVal val="visible"/>
                                      </p:to>
                                    </p:set>
                                    <p:animEffect transition="in" filter="barn(inVertical)">
                                      <p:cBhvr>
                                        <p:cTn id="230" dur="500"/>
                                        <p:tgtEl>
                                          <p:spTgt spid="82"/>
                                        </p:tgtEl>
                                      </p:cBhvr>
                                    </p:animEffec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83"/>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84"/>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p:bldP spid="11" grpId="0"/>
      <p:bldP spid="14" grpId="0" animBg="1"/>
      <p:bldP spid="15" grpId="0"/>
      <p:bldP spid="16" grpId="0"/>
      <p:bldP spid="17" grpId="0"/>
      <p:bldP spid="20" grpId="0" animBg="1"/>
      <p:bldP spid="21" grpId="0"/>
      <p:bldP spid="22" grpId="0"/>
      <p:bldP spid="23" grpId="0"/>
      <p:bldP spid="24" grpId="0" animBg="1"/>
      <p:bldP spid="25" grpId="0" animBg="1"/>
      <p:bldP spid="26" grpId="0" animBg="1"/>
      <p:bldP spid="29" grpId="0" animBg="1"/>
      <p:bldP spid="30" grpId="0"/>
      <p:bldP spid="31" grpId="0"/>
      <p:bldP spid="32" grpId="0"/>
      <p:bldP spid="35" grpId="0" animBg="1"/>
      <p:bldP spid="36" grpId="0"/>
      <p:bldP spid="37" grpId="0"/>
      <p:bldP spid="38" grpId="0"/>
      <p:bldP spid="42" grpId="0" animBg="1"/>
      <p:bldP spid="43" grpId="0"/>
      <p:bldP spid="44" grpId="0"/>
      <p:bldP spid="45" grpId="0"/>
      <p:bldP spid="50" grpId="0" animBg="1"/>
      <p:bldP spid="51" grpId="0"/>
      <p:bldP spid="52" grpId="0"/>
      <p:bldP spid="53" grpId="0"/>
      <p:bldP spid="56" grpId="0" animBg="1"/>
      <p:bldP spid="57" grpId="0"/>
      <p:bldP spid="58" grpId="0"/>
      <p:bldP spid="59" grpId="0"/>
      <p:bldP spid="62" grpId="0" animBg="1"/>
      <p:bldP spid="63" grpId="0"/>
      <p:bldP spid="64" grpId="0"/>
      <p:bldP spid="65" grpId="0"/>
      <p:bldP spid="68" grpId="0" animBg="1"/>
      <p:bldP spid="69" grpId="0"/>
      <p:bldP spid="70" grpId="0"/>
      <p:bldP spid="71" grpId="0"/>
      <p:bldP spid="73" grpId="0" animBg="1"/>
      <p:bldP spid="74" grpId="0"/>
      <p:bldP spid="75" grpId="0" animBg="1"/>
      <p:bldP spid="76" grpId="0"/>
      <p:bldP spid="77" grpId="0" animBg="1"/>
      <p:bldP spid="78" grpId="0" animBg="1"/>
      <p:bldP spid="79" grpId="0" animBg="1"/>
      <p:bldP spid="80" grpId="0"/>
      <p:bldP spid="81" grpId="0"/>
      <p:bldP spid="84" grpId="0"/>
      <p:bldP spid="85" grpId="0"/>
      <p:bldP spid="90" grpId="0"/>
      <p:bldP spid="91" grpId="0"/>
      <p:bldP spid="92" grpId="0"/>
      <p:bldP spid="9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1048327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he-IL"/>
          </a:p>
        </p:txBody>
      </p:sp>
      <p:sp>
        <p:nvSpPr>
          <p:cNvPr id="48132" name="Text Box 13"/>
          <p:cNvSpPr txBox="1">
            <a:spLocks noChangeArrowheads="1"/>
          </p:cNvSpPr>
          <p:nvPr/>
        </p:nvSpPr>
        <p:spPr bwMode="auto">
          <a:xfrm>
            <a:off x="1765865" y="1386671"/>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a:t>
            </a:r>
            <a:endParaRPr lang="he-IL" sz="3600" dirty="0">
              <a:latin typeface="Arial" pitchFamily="34" charset="0"/>
              <a:cs typeface="Arial" pitchFamily="34" charset="0"/>
            </a:endParaRPr>
          </a:p>
        </p:txBody>
      </p:sp>
      <p:sp>
        <p:nvSpPr>
          <p:cNvPr id="48135" name="Line 3"/>
          <p:cNvSpPr>
            <a:spLocks noChangeShapeType="1"/>
          </p:cNvSpPr>
          <p:nvPr/>
        </p:nvSpPr>
        <p:spPr bwMode="auto">
          <a:xfrm>
            <a:off x="2125837" y="1600219"/>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8149" name="Text Box 18"/>
          <p:cNvSpPr txBox="1">
            <a:spLocks noChangeArrowheads="1"/>
          </p:cNvSpPr>
          <p:nvPr/>
        </p:nvSpPr>
        <p:spPr bwMode="auto">
          <a:xfrm>
            <a:off x="3667108" y="371795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X</a:t>
            </a:r>
            <a:endParaRPr lang="he-IL" sz="3600" dirty="0">
              <a:latin typeface="Arial" pitchFamily="34" charset="0"/>
              <a:cs typeface="Arial" pitchFamily="34" charset="0"/>
            </a:endParaRPr>
          </a:p>
        </p:txBody>
      </p:sp>
      <p:sp>
        <p:nvSpPr>
          <p:cNvPr id="28" name="Line 3"/>
          <p:cNvSpPr>
            <a:spLocks noChangeShapeType="1"/>
          </p:cNvSpPr>
          <p:nvPr/>
        </p:nvSpPr>
        <p:spPr bwMode="auto">
          <a:xfrm rot="16200000">
            <a:off x="3061076" y="2832912"/>
            <a:ext cx="14490" cy="1859228"/>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35" name="Text Box 13"/>
          <p:cNvSpPr txBox="1">
            <a:spLocks noChangeArrowheads="1"/>
          </p:cNvSpPr>
          <p:nvPr/>
        </p:nvSpPr>
        <p:spPr bwMode="auto">
          <a:xfrm>
            <a:off x="4245024" y="135729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a:t>
            </a:r>
            <a:endParaRPr lang="he-IL" sz="3600" dirty="0">
              <a:latin typeface="Arial" pitchFamily="34" charset="0"/>
              <a:cs typeface="Arial" pitchFamily="34" charset="0"/>
            </a:endParaRPr>
          </a:p>
        </p:txBody>
      </p:sp>
      <p:sp>
        <p:nvSpPr>
          <p:cNvPr id="36" name="Line 3"/>
          <p:cNvSpPr>
            <a:spLocks noChangeShapeType="1"/>
          </p:cNvSpPr>
          <p:nvPr/>
        </p:nvSpPr>
        <p:spPr bwMode="auto">
          <a:xfrm>
            <a:off x="4574307" y="1571613"/>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37" name="Text Box 18"/>
          <p:cNvSpPr txBox="1">
            <a:spLocks noChangeArrowheads="1"/>
          </p:cNvSpPr>
          <p:nvPr/>
        </p:nvSpPr>
        <p:spPr bwMode="auto">
          <a:xfrm>
            <a:off x="6388132" y="3714752"/>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X</a:t>
            </a:r>
            <a:endParaRPr lang="he-IL" sz="3600" dirty="0">
              <a:latin typeface="Arial" pitchFamily="34" charset="0"/>
              <a:cs typeface="Arial" pitchFamily="34" charset="0"/>
            </a:endParaRPr>
          </a:p>
        </p:txBody>
      </p:sp>
      <p:sp>
        <p:nvSpPr>
          <p:cNvPr id="39" name="Text Box 18"/>
          <p:cNvSpPr txBox="1">
            <a:spLocks noChangeArrowheads="1"/>
          </p:cNvSpPr>
          <p:nvPr/>
        </p:nvSpPr>
        <p:spPr bwMode="auto">
          <a:xfrm>
            <a:off x="4647257" y="3714752"/>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endParaRPr>
          </a:p>
        </p:txBody>
      </p:sp>
      <p:sp>
        <p:nvSpPr>
          <p:cNvPr id="40" name="Line 3"/>
          <p:cNvSpPr>
            <a:spLocks noChangeShapeType="1"/>
          </p:cNvSpPr>
          <p:nvPr/>
        </p:nvSpPr>
        <p:spPr bwMode="auto">
          <a:xfrm rot="16200000">
            <a:off x="5494996" y="2825536"/>
            <a:ext cx="0" cy="1853079"/>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1" name="Text Box 13"/>
          <p:cNvSpPr txBox="1">
            <a:spLocks noChangeArrowheads="1"/>
          </p:cNvSpPr>
          <p:nvPr/>
        </p:nvSpPr>
        <p:spPr bwMode="auto">
          <a:xfrm>
            <a:off x="7096132" y="137158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a:t>
            </a:r>
            <a:endParaRPr lang="he-IL" sz="3600" dirty="0">
              <a:latin typeface="Arial" pitchFamily="34" charset="0"/>
              <a:cs typeface="Arial" pitchFamily="34" charset="0"/>
            </a:endParaRPr>
          </a:p>
        </p:txBody>
      </p:sp>
      <p:sp>
        <p:nvSpPr>
          <p:cNvPr id="42" name="Line 3"/>
          <p:cNvSpPr>
            <a:spLocks noChangeShapeType="1"/>
          </p:cNvSpPr>
          <p:nvPr/>
        </p:nvSpPr>
        <p:spPr bwMode="auto">
          <a:xfrm>
            <a:off x="7414384" y="1585903"/>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6" name="Line 3"/>
          <p:cNvSpPr>
            <a:spLocks noChangeShapeType="1"/>
          </p:cNvSpPr>
          <p:nvPr/>
        </p:nvSpPr>
        <p:spPr bwMode="auto">
          <a:xfrm rot="16200000">
            <a:off x="8685329" y="2467262"/>
            <a:ext cx="14290" cy="258392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7" name="כותרת 1"/>
          <p:cNvSpPr txBox="1">
            <a:spLocks/>
          </p:cNvSpPr>
          <p:nvPr/>
        </p:nvSpPr>
        <p:spPr>
          <a:xfrm>
            <a:off x="4283655" y="785794"/>
            <a:ext cx="2643142" cy="500042"/>
          </a:xfrm>
          <a:prstGeom prst="rect">
            <a:avLst/>
          </a:prstGeom>
        </p:spPr>
        <p:txBody>
          <a:bodyPr vert="horz" lIns="91440" tIns="45720" rIns="91440" bIns="45720" rtlCol="1" anchor="ctr">
            <a:normAutofit fontScale="75000" lnSpcReduction="20000"/>
          </a:bodyPr>
          <a:lstStyle/>
          <a:p>
            <a:pPr algn="ctr">
              <a:spcBef>
                <a:spcPct val="0"/>
              </a:spcBef>
              <a:defRPr/>
            </a:pPr>
            <a:r>
              <a:rPr lang="he-IL" sz="4400" u="sng" dirty="0">
                <a:latin typeface="+mj-lt"/>
                <a:ea typeface="+mj-ea"/>
                <a:cs typeface="+mj-cs"/>
              </a:rPr>
              <a:t>עיר ב'</a:t>
            </a:r>
          </a:p>
        </p:txBody>
      </p:sp>
      <p:sp>
        <p:nvSpPr>
          <p:cNvPr id="48" name="כותרת 1"/>
          <p:cNvSpPr txBox="1">
            <a:spLocks/>
          </p:cNvSpPr>
          <p:nvPr/>
        </p:nvSpPr>
        <p:spPr>
          <a:xfrm>
            <a:off x="1524000" y="857232"/>
            <a:ext cx="2643142" cy="500042"/>
          </a:xfrm>
          <a:prstGeom prst="rect">
            <a:avLst/>
          </a:prstGeom>
        </p:spPr>
        <p:txBody>
          <a:bodyPr vert="horz" lIns="91440" tIns="45720" rIns="91440" bIns="45720" rtlCol="1" anchor="ctr">
            <a:normAutofit fontScale="75000" lnSpcReduction="20000"/>
          </a:bodyPr>
          <a:lstStyle/>
          <a:p>
            <a:pPr algn="ctr">
              <a:spcBef>
                <a:spcPct val="0"/>
              </a:spcBef>
              <a:defRPr/>
            </a:pPr>
            <a:r>
              <a:rPr lang="he-IL" sz="4400" u="sng" dirty="0">
                <a:latin typeface="+mj-lt"/>
                <a:ea typeface="+mj-ea"/>
                <a:cs typeface="+mj-cs"/>
              </a:rPr>
              <a:t>עיר א'</a:t>
            </a:r>
          </a:p>
        </p:txBody>
      </p:sp>
      <p:sp>
        <p:nvSpPr>
          <p:cNvPr id="49" name="כותרת 1"/>
          <p:cNvSpPr txBox="1">
            <a:spLocks/>
          </p:cNvSpPr>
          <p:nvPr/>
        </p:nvSpPr>
        <p:spPr>
          <a:xfrm>
            <a:off x="8024858" y="857232"/>
            <a:ext cx="2643142" cy="500042"/>
          </a:xfrm>
          <a:prstGeom prst="rect">
            <a:avLst/>
          </a:prstGeom>
        </p:spPr>
        <p:txBody>
          <a:bodyPr vert="horz" lIns="91440" tIns="45720" rIns="91440" bIns="45720" rtlCol="1" anchor="ctr">
            <a:normAutofit fontScale="75000" lnSpcReduction="20000"/>
          </a:bodyPr>
          <a:lstStyle/>
          <a:p>
            <a:pPr algn="ctr">
              <a:spcBef>
                <a:spcPct val="0"/>
              </a:spcBef>
              <a:defRPr/>
            </a:pPr>
            <a:r>
              <a:rPr lang="he-IL" sz="4400" u="sng" dirty="0">
                <a:latin typeface="+mj-lt"/>
                <a:ea typeface="+mj-ea"/>
                <a:cs typeface="+mj-cs"/>
              </a:rPr>
              <a:t>מצרפי</a:t>
            </a:r>
          </a:p>
        </p:txBody>
      </p:sp>
      <p:cxnSp>
        <p:nvCxnSpPr>
          <p:cNvPr id="34" name="מחבר ישר 33"/>
          <p:cNvCxnSpPr>
            <a:cxnSpLocks/>
          </p:cNvCxnSpPr>
          <p:nvPr/>
        </p:nvCxnSpPr>
        <p:spPr>
          <a:xfrm flipH="1">
            <a:off x="2138707" y="2876542"/>
            <a:ext cx="6243572" cy="0"/>
          </a:xfrm>
          <a:prstGeom prst="line">
            <a:avLst/>
          </a:prstGeom>
          <a:ln>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51" name="Text Box 13"/>
          <p:cNvSpPr txBox="1">
            <a:spLocks noChangeArrowheads="1"/>
          </p:cNvSpPr>
          <p:nvPr/>
        </p:nvSpPr>
        <p:spPr bwMode="auto">
          <a:xfrm>
            <a:off x="1381092" y="2658638"/>
            <a:ext cx="675399" cy="2750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cs typeface="Arial" pitchFamily="34" charset="0"/>
              </a:rPr>
              <a:t>Px</a:t>
            </a:r>
            <a:r>
              <a:rPr lang="en-US" sz="1600" dirty="0">
                <a:latin typeface="Calibri" pitchFamily="34" charset="0"/>
                <a:cs typeface="Arial" pitchFamily="34" charset="0"/>
              </a:rPr>
              <a:t>0</a:t>
            </a:r>
            <a:endParaRPr lang="he-IL" sz="3600" dirty="0">
              <a:latin typeface="Arial" pitchFamily="34" charset="0"/>
              <a:cs typeface="Arial" pitchFamily="34" charset="0"/>
            </a:endParaRPr>
          </a:p>
        </p:txBody>
      </p:sp>
      <p:cxnSp>
        <p:nvCxnSpPr>
          <p:cNvPr id="58" name="מחבר ישר 57"/>
          <p:cNvCxnSpPr>
            <a:cxnSpLocks/>
          </p:cNvCxnSpPr>
          <p:nvPr/>
        </p:nvCxnSpPr>
        <p:spPr>
          <a:xfrm flipV="1">
            <a:off x="8395146" y="2857498"/>
            <a:ext cx="0" cy="901673"/>
          </a:xfrm>
          <a:prstGeom prst="line">
            <a:avLst/>
          </a:prstGeom>
          <a:ln>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70" name="Text Box 18"/>
          <p:cNvSpPr txBox="1">
            <a:spLocks noChangeArrowheads="1"/>
          </p:cNvSpPr>
          <p:nvPr/>
        </p:nvSpPr>
        <p:spPr bwMode="auto">
          <a:xfrm>
            <a:off x="2278600" y="3773515"/>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endParaRPr>
          </a:p>
        </p:txBody>
      </p:sp>
      <p:sp>
        <p:nvSpPr>
          <p:cNvPr id="71" name="Text Box 18"/>
          <p:cNvSpPr txBox="1">
            <a:spLocks noChangeArrowheads="1"/>
          </p:cNvSpPr>
          <p:nvPr/>
        </p:nvSpPr>
        <p:spPr bwMode="auto">
          <a:xfrm>
            <a:off x="7930488" y="3783382"/>
            <a:ext cx="785786" cy="357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400" dirty="0">
                <a:solidFill>
                  <a:schemeClr val="tx2"/>
                </a:solidFill>
                <a:latin typeface="Bell MT" panose="02020503060305020303" pitchFamily="18" charset="0"/>
                <a:cs typeface="Arial" pitchFamily="34" charset="0"/>
              </a:rPr>
              <a:t>X</a:t>
            </a:r>
            <a:r>
              <a:rPr lang="en-US" sz="1600" dirty="0">
                <a:latin typeface="Calibri" pitchFamily="34" charset="0"/>
                <a:cs typeface="Arial" pitchFamily="34" charset="0"/>
              </a:rPr>
              <a:t>0</a:t>
            </a:r>
            <a:endParaRPr lang="he-IL" sz="3600" dirty="0">
              <a:latin typeface="Arial" pitchFamily="34" charset="0"/>
            </a:endParaRPr>
          </a:p>
        </p:txBody>
      </p:sp>
      <p:cxnSp>
        <p:nvCxnSpPr>
          <p:cNvPr id="72" name="מחבר ישר 71"/>
          <p:cNvCxnSpPr/>
          <p:nvPr/>
        </p:nvCxnSpPr>
        <p:spPr>
          <a:xfrm rot="16200000" flipV="1">
            <a:off x="4457899" y="3287531"/>
            <a:ext cx="947355" cy="18658"/>
          </a:xfrm>
          <a:prstGeom prst="line">
            <a:avLst/>
          </a:prstGeom>
          <a:ln>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73" name="מחבר ישר 72"/>
          <p:cNvCxnSpPr>
            <a:cxnSpLocks/>
          </p:cNvCxnSpPr>
          <p:nvPr/>
        </p:nvCxnSpPr>
        <p:spPr>
          <a:xfrm flipH="1" flipV="1">
            <a:off x="2499018" y="2857498"/>
            <a:ext cx="18658" cy="894577"/>
          </a:xfrm>
          <a:prstGeom prst="line">
            <a:avLst/>
          </a:prstGeom>
          <a:ln>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74" name="Text Box 18"/>
          <p:cNvSpPr txBox="1">
            <a:spLocks noChangeArrowheads="1"/>
          </p:cNvSpPr>
          <p:nvPr/>
        </p:nvSpPr>
        <p:spPr bwMode="auto">
          <a:xfrm>
            <a:off x="9434158" y="3788662"/>
            <a:ext cx="1150973"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X</a:t>
            </a:r>
            <a:r>
              <a:rPr lang="he-IL" sz="2000" dirty="0">
                <a:latin typeface="Calibri" pitchFamily="34" charset="0"/>
                <a:ea typeface="Arial" pitchFamily="34" charset="0"/>
                <a:cs typeface="Arial" pitchFamily="34" charset="0"/>
              </a:rPr>
              <a:t>מצרפי</a:t>
            </a:r>
            <a:endParaRPr lang="he-IL" sz="3600" dirty="0">
              <a:latin typeface="Arial" pitchFamily="34" charset="0"/>
              <a:cs typeface="Arial" pitchFamily="34" charset="0"/>
            </a:endParaRPr>
          </a:p>
        </p:txBody>
      </p:sp>
      <p:sp>
        <p:nvSpPr>
          <p:cNvPr id="43" name="כותרת 1"/>
          <p:cNvSpPr txBox="1">
            <a:spLocks/>
          </p:cNvSpPr>
          <p:nvPr/>
        </p:nvSpPr>
        <p:spPr>
          <a:xfrm>
            <a:off x="9234400" y="253278"/>
            <a:ext cx="2571736" cy="500042"/>
          </a:xfrm>
          <a:prstGeom prst="rect">
            <a:avLst/>
          </a:prstGeom>
        </p:spPr>
        <p:txBody>
          <a:bodyPr vert="horz" lIns="91440" tIns="45720" rIns="91440" bIns="45720" rtlCol="1" anchor="ctr">
            <a:no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lgn="r"/>
            <a:r>
              <a:rPr lang="he-IL" sz="4000" b="1" dirty="0">
                <a:cs typeface="+mn-cs"/>
              </a:rPr>
              <a:t>שאלה 5</a:t>
            </a:r>
            <a:endParaRPr lang="he-IL" sz="2400" b="1" dirty="0">
              <a:cs typeface="+mn-cs"/>
            </a:endParaRPr>
          </a:p>
        </p:txBody>
      </p:sp>
      <p:sp>
        <p:nvSpPr>
          <p:cNvPr id="2" name="Arc 1">
            <a:extLst>
              <a:ext uri="{FF2B5EF4-FFF2-40B4-BE49-F238E27FC236}">
                <a16:creationId xmlns:a16="http://schemas.microsoft.com/office/drawing/2014/main" id="{7D91DCF3-BE2D-43A2-98EF-18417A8F26F8}"/>
              </a:ext>
            </a:extLst>
          </p:cNvPr>
          <p:cNvSpPr/>
          <p:nvPr/>
        </p:nvSpPr>
        <p:spPr>
          <a:xfrm rot="10800000">
            <a:off x="2221309" y="250023"/>
            <a:ext cx="3197267" cy="3312367"/>
          </a:xfrm>
          <a:prstGeom prst="arc">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44" name="Arc 43">
            <a:extLst>
              <a:ext uri="{FF2B5EF4-FFF2-40B4-BE49-F238E27FC236}">
                <a16:creationId xmlns:a16="http://schemas.microsoft.com/office/drawing/2014/main" id="{2CF74A7F-E844-44E3-9EFA-BF3C771D26E9}"/>
              </a:ext>
            </a:extLst>
          </p:cNvPr>
          <p:cNvSpPr/>
          <p:nvPr/>
        </p:nvSpPr>
        <p:spPr>
          <a:xfrm rot="10800000">
            <a:off x="4701803" y="315284"/>
            <a:ext cx="3197267" cy="3312367"/>
          </a:xfrm>
          <a:prstGeom prst="arc">
            <a:avLst>
              <a:gd name="adj1" fmla="val 17209403"/>
              <a:gd name="adj2" fmla="val 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45" name="Arc 44">
            <a:extLst>
              <a:ext uri="{FF2B5EF4-FFF2-40B4-BE49-F238E27FC236}">
                <a16:creationId xmlns:a16="http://schemas.microsoft.com/office/drawing/2014/main" id="{F6087A3B-DECB-4F48-9CF8-0449A9B74D8B}"/>
              </a:ext>
            </a:extLst>
          </p:cNvPr>
          <p:cNvSpPr/>
          <p:nvPr/>
        </p:nvSpPr>
        <p:spPr>
          <a:xfrm rot="10800000">
            <a:off x="7600420" y="431389"/>
            <a:ext cx="4768031" cy="2819017"/>
          </a:xfrm>
          <a:prstGeom prst="arc">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31" name="TextBox 30">
            <a:extLst>
              <a:ext uri="{FF2B5EF4-FFF2-40B4-BE49-F238E27FC236}">
                <a16:creationId xmlns:a16="http://schemas.microsoft.com/office/drawing/2014/main" id="{94AA2BD9-023A-4D04-8829-D1A1D0DB44D2}"/>
              </a:ext>
            </a:extLst>
          </p:cNvPr>
          <p:cNvSpPr txBox="1"/>
          <p:nvPr/>
        </p:nvSpPr>
        <p:spPr>
          <a:xfrm>
            <a:off x="1381092" y="115603"/>
            <a:ext cx="7294018" cy="369332"/>
          </a:xfrm>
          <a:prstGeom prst="rect">
            <a:avLst/>
          </a:prstGeom>
          <a:noFill/>
        </p:spPr>
        <p:txBody>
          <a:bodyPr wrap="square">
            <a:spAutoFit/>
          </a:bodyPr>
          <a:lstStyle/>
          <a:p>
            <a:pPr algn="r" rtl="1"/>
            <a:r>
              <a:rPr lang="he-IL" dirty="0"/>
              <a:t>במשק מסוים ישנם צרכני עיר א' וצרכני עיר ב' המבקשים לרכוש את מוצר </a:t>
            </a:r>
            <a:r>
              <a:rPr lang="en-US" dirty="0"/>
              <a:t>X</a:t>
            </a:r>
            <a:r>
              <a:rPr lang="he-IL" dirty="0"/>
              <a:t>. </a:t>
            </a:r>
            <a:endParaRPr lang="en-IL" dirty="0"/>
          </a:p>
        </p:txBody>
      </p:sp>
      <p:sp>
        <p:nvSpPr>
          <p:cNvPr id="4" name="Arc 3">
            <a:extLst>
              <a:ext uri="{FF2B5EF4-FFF2-40B4-BE49-F238E27FC236}">
                <a16:creationId xmlns:a16="http://schemas.microsoft.com/office/drawing/2014/main" id="{81581997-EF4A-46C5-B617-17D35FA96D3C}"/>
              </a:ext>
            </a:extLst>
          </p:cNvPr>
          <p:cNvSpPr/>
          <p:nvPr/>
        </p:nvSpPr>
        <p:spPr>
          <a:xfrm rot="15717349" flipH="1" flipV="1">
            <a:off x="6043215" y="-413656"/>
            <a:ext cx="2797296" cy="4257979"/>
          </a:xfrm>
          <a:prstGeom prst="arc">
            <a:avLst>
              <a:gd name="adj1" fmla="val 17093280"/>
              <a:gd name="adj2" fmla="val 0"/>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sp>
        <p:nvSpPr>
          <p:cNvPr id="33" name="TextBox 32">
            <a:extLst>
              <a:ext uri="{FF2B5EF4-FFF2-40B4-BE49-F238E27FC236}">
                <a16:creationId xmlns:a16="http://schemas.microsoft.com/office/drawing/2014/main" id="{0B1DC290-FD94-45EB-B7A8-813735C784CF}"/>
              </a:ext>
            </a:extLst>
          </p:cNvPr>
          <p:cNvSpPr txBox="1"/>
          <p:nvPr/>
        </p:nvSpPr>
        <p:spPr>
          <a:xfrm>
            <a:off x="9439412" y="1699699"/>
            <a:ext cx="369012" cy="369332"/>
          </a:xfrm>
          <a:prstGeom prst="rect">
            <a:avLst/>
          </a:prstGeom>
          <a:noFill/>
        </p:spPr>
        <p:txBody>
          <a:bodyPr wrap="none" rtlCol="1">
            <a:spAutoFit/>
          </a:bodyPr>
          <a:lstStyle/>
          <a:p>
            <a:r>
              <a:rPr lang="en-US" dirty="0"/>
              <a:t>S</a:t>
            </a:r>
            <a:r>
              <a:rPr lang="en-US" baseline="-25000" dirty="0"/>
              <a:t>0</a:t>
            </a:r>
            <a:endParaRPr lang="he-IL" baseline="-25000" dirty="0"/>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6CBAAF2-0502-4C6B-AAC0-6BF84383C34F}"/>
                  </a:ext>
                </a:extLst>
              </p:cNvPr>
              <p:cNvSpPr txBox="1"/>
              <p:nvPr/>
            </p:nvSpPr>
            <p:spPr>
              <a:xfrm>
                <a:off x="9113852" y="2876542"/>
                <a:ext cx="1278065" cy="27629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b="1" i="1">
                              <a:solidFill>
                                <a:schemeClr val="accent5">
                                  <a:lumMod val="50000"/>
                                </a:schemeClr>
                              </a:solidFill>
                              <a:latin typeface="Cambria Math" panose="02040503050406030204" pitchFamily="18" charset="0"/>
                            </a:rPr>
                          </m:ctrlPr>
                        </m:sSubPr>
                        <m:e>
                          <m:r>
                            <a:rPr lang="en-US" sz="1600" b="1" i="1">
                              <a:solidFill>
                                <a:schemeClr val="accent5">
                                  <a:lumMod val="50000"/>
                                </a:schemeClr>
                              </a:solidFill>
                              <a:latin typeface="Cambria Math" panose="02040503050406030204" pitchFamily="18" charset="0"/>
                            </a:rPr>
                            <m:t>𝑫</m:t>
                          </m:r>
                        </m:e>
                        <m:sub>
                          <m:r>
                            <a:rPr lang="en-US" sz="1600" b="1" i="1">
                              <a:solidFill>
                                <a:schemeClr val="accent5">
                                  <a:lumMod val="50000"/>
                                </a:schemeClr>
                              </a:solidFill>
                              <a:latin typeface="Cambria Math" panose="02040503050406030204" pitchFamily="18" charset="0"/>
                            </a:rPr>
                            <m:t>𝟎</m:t>
                          </m:r>
                        </m:sub>
                      </m:sSub>
                      <m:r>
                        <a:rPr lang="he-IL" sz="1600" b="1">
                          <a:solidFill>
                            <a:schemeClr val="accent5">
                              <a:lumMod val="50000"/>
                            </a:schemeClr>
                          </a:solidFill>
                          <a:latin typeface="Cambria Math" panose="02040503050406030204" pitchFamily="18" charset="0"/>
                        </a:rPr>
                        <m:t>מצרפי</m:t>
                      </m:r>
                    </m:oMath>
                  </m:oMathPara>
                </a14:m>
                <a:endParaRPr lang="aa-ET" b="1" dirty="0"/>
              </a:p>
            </p:txBody>
          </p:sp>
        </mc:Choice>
        <mc:Fallback xmlns="">
          <p:sp>
            <p:nvSpPr>
              <p:cNvPr id="38" name="TextBox 37">
                <a:extLst>
                  <a:ext uri="{FF2B5EF4-FFF2-40B4-BE49-F238E27FC236}">
                    <a16:creationId xmlns:a16="http://schemas.microsoft.com/office/drawing/2014/main" id="{C6CBAAF2-0502-4C6B-AAC0-6BF84383C34F}"/>
                  </a:ext>
                </a:extLst>
              </p:cNvPr>
              <p:cNvSpPr txBox="1">
                <a:spLocks noRot="1" noChangeAspect="1" noMove="1" noResize="1" noEditPoints="1" noAdjustHandles="1" noChangeArrowheads="1" noChangeShapeType="1" noTextEdit="1"/>
              </p:cNvSpPr>
              <p:nvPr/>
            </p:nvSpPr>
            <p:spPr>
              <a:xfrm>
                <a:off x="9113852" y="2876542"/>
                <a:ext cx="1278065" cy="276294"/>
              </a:xfrm>
              <a:prstGeom prst="rect">
                <a:avLst/>
              </a:prstGeom>
              <a:blipFill>
                <a:blip r:embed="rId2"/>
                <a:stretch>
                  <a:fillRect t="-15556" b="-42222"/>
                </a:stretch>
              </a:blipFill>
            </p:spPr>
            <p:txBody>
              <a:bodyPr/>
              <a:lstStyle/>
              <a:p>
                <a:r>
                  <a:rPr lang="en-IL">
                    <a:noFill/>
                  </a:rPr>
                  <a:t> </a:t>
                </a:r>
              </a:p>
            </p:txBody>
          </p:sp>
        </mc:Fallback>
      </mc:AlternateContent>
      <p:sp>
        <p:nvSpPr>
          <p:cNvPr id="50" name="TextBox 49">
            <a:extLst>
              <a:ext uri="{FF2B5EF4-FFF2-40B4-BE49-F238E27FC236}">
                <a16:creationId xmlns:a16="http://schemas.microsoft.com/office/drawing/2014/main" id="{AC2BBE6C-974A-4235-8989-AC9CE171E456}"/>
              </a:ext>
            </a:extLst>
          </p:cNvPr>
          <p:cNvSpPr txBox="1"/>
          <p:nvPr/>
        </p:nvSpPr>
        <p:spPr>
          <a:xfrm>
            <a:off x="1676401" y="4278888"/>
            <a:ext cx="8843867" cy="703847"/>
          </a:xfrm>
          <a:prstGeom prst="rect">
            <a:avLst/>
          </a:prstGeom>
          <a:noFill/>
        </p:spPr>
        <p:txBody>
          <a:bodyPr wrap="square">
            <a:spAutoFit/>
          </a:bodyPr>
          <a:lstStyle/>
          <a:p>
            <a:pPr algn="r" rtl="1">
              <a:lnSpc>
                <a:spcPct val="150000"/>
              </a:lnSpc>
            </a:pPr>
            <a:r>
              <a:rPr lang="he-IL" sz="1400" dirty="0"/>
              <a:t>לאחרונה חלה </a:t>
            </a:r>
            <a:r>
              <a:rPr lang="he-IL" sz="1400" b="1" u="sng" dirty="0"/>
              <a:t>ירידה במחיר מוצר </a:t>
            </a:r>
            <a:r>
              <a:rPr lang="en-US" sz="1400" b="1" u="sng" dirty="0"/>
              <a:t>Y</a:t>
            </a:r>
            <a:r>
              <a:rPr lang="he-IL" sz="1400" dirty="0"/>
              <a:t>. ידוע שמוצר </a:t>
            </a:r>
            <a:r>
              <a:rPr lang="en-US" sz="1400" dirty="0"/>
              <a:t>Y</a:t>
            </a:r>
            <a:r>
              <a:rPr lang="he-IL" sz="1400" dirty="0"/>
              <a:t> הינו מוצר </a:t>
            </a:r>
            <a:r>
              <a:rPr lang="he-IL" sz="1400" b="1" dirty="0"/>
              <a:t>משלים ל-</a:t>
            </a:r>
            <a:r>
              <a:rPr lang="en-US" sz="1400" b="1" dirty="0"/>
              <a:t>X</a:t>
            </a:r>
            <a:r>
              <a:rPr lang="he-IL" sz="1400" b="1" dirty="0"/>
              <a:t> </a:t>
            </a:r>
            <a:r>
              <a:rPr lang="he-IL" sz="1400" dirty="0"/>
              <a:t>עבור עיר א' ומוצר בלתי תלוי ל</a:t>
            </a:r>
            <a:r>
              <a:rPr lang="en-US" sz="1400" dirty="0"/>
              <a:t>x</a:t>
            </a:r>
            <a:r>
              <a:rPr lang="he-IL" sz="1400" dirty="0"/>
              <a:t> עבור צרכני עיר ב'.</a:t>
            </a:r>
            <a:br>
              <a:rPr lang="en-US" sz="1400" dirty="0"/>
            </a:br>
            <a:r>
              <a:rPr lang="he-IL" sz="1400" dirty="0"/>
              <a:t>בחרו בתשובה הנכונה בעקבות השינוי המתואר (עליית </a:t>
            </a:r>
            <a:r>
              <a:rPr lang="en-US" sz="1400" dirty="0"/>
              <a:t>PY</a:t>
            </a:r>
            <a:r>
              <a:rPr lang="he-IL" sz="1400" dirty="0"/>
              <a:t>):</a:t>
            </a:r>
          </a:p>
        </p:txBody>
      </p:sp>
      <p:sp>
        <p:nvSpPr>
          <p:cNvPr id="52" name="TextBox 51">
            <a:extLst>
              <a:ext uri="{FF2B5EF4-FFF2-40B4-BE49-F238E27FC236}">
                <a16:creationId xmlns:a16="http://schemas.microsoft.com/office/drawing/2014/main" id="{A829B92F-3971-4AD8-B7D7-B7819D5697ED}"/>
              </a:ext>
            </a:extLst>
          </p:cNvPr>
          <p:cNvSpPr txBox="1"/>
          <p:nvPr/>
        </p:nvSpPr>
        <p:spPr>
          <a:xfrm>
            <a:off x="4790859" y="5054443"/>
            <a:ext cx="4729162" cy="1668214"/>
          </a:xfrm>
          <a:prstGeom prst="rect">
            <a:avLst/>
          </a:prstGeom>
          <a:noFill/>
        </p:spPr>
        <p:txBody>
          <a:bodyPr wrap="square">
            <a:spAutoFit/>
          </a:bodyPr>
          <a:lstStyle/>
          <a:p>
            <a:pPr algn="r" rtl="1">
              <a:lnSpc>
                <a:spcPct val="150000"/>
              </a:lnSpc>
            </a:pPr>
            <a:r>
              <a:rPr lang="he-IL" sz="1400" dirty="0"/>
              <a:t>א. הכמות שירכשו תושבי עיר ב' לא תשתנה. </a:t>
            </a:r>
          </a:p>
          <a:p>
            <a:pPr algn="r" rtl="1">
              <a:lnSpc>
                <a:spcPct val="150000"/>
              </a:lnSpc>
            </a:pPr>
            <a:r>
              <a:rPr lang="he-IL" sz="1400" dirty="0"/>
              <a:t>ב. הכמות שירכשו תושבי עיר א' תעלה.</a:t>
            </a:r>
          </a:p>
          <a:p>
            <a:pPr algn="r" rtl="1">
              <a:lnSpc>
                <a:spcPct val="150000"/>
              </a:lnSpc>
            </a:pPr>
            <a:r>
              <a:rPr lang="he-IL" sz="1400" dirty="0"/>
              <a:t>ג. לא ניתן לדעת מה יקרה להכנסות היצרנים בענף. </a:t>
            </a:r>
          </a:p>
          <a:p>
            <a:pPr algn="r" rtl="1">
              <a:lnSpc>
                <a:spcPct val="150000"/>
              </a:lnSpc>
            </a:pPr>
            <a:r>
              <a:rPr lang="he-IL" sz="1400" dirty="0"/>
              <a:t>ד. ייתכן שעודף צרכני עיר ב' יעלה. </a:t>
            </a:r>
          </a:p>
          <a:p>
            <a:pPr algn="r" rtl="1">
              <a:lnSpc>
                <a:spcPct val="150000"/>
              </a:lnSpc>
            </a:pPr>
            <a:r>
              <a:rPr lang="he-IL" sz="1400" dirty="0"/>
              <a:t>ה. כל התשובות אינן נכונות. </a:t>
            </a:r>
          </a:p>
        </p:txBody>
      </p:sp>
      <p:sp>
        <p:nvSpPr>
          <p:cNvPr id="3" name="Date Placeholder 2">
            <a:extLst>
              <a:ext uri="{FF2B5EF4-FFF2-40B4-BE49-F238E27FC236}">
                <a16:creationId xmlns:a16="http://schemas.microsoft.com/office/drawing/2014/main" id="{D49DC9F6-392E-4351-B944-D54EDECCF5D7}"/>
              </a:ext>
            </a:extLst>
          </p:cNvPr>
          <p:cNvSpPr>
            <a:spLocks noGrp="1"/>
          </p:cNvSpPr>
          <p:nvPr>
            <p:ph type="dt" sz="half" idx="10"/>
          </p:nvPr>
        </p:nvSpPr>
        <p:spPr>
          <a:xfrm>
            <a:off x="8526427" y="6445225"/>
            <a:ext cx="2133600" cy="365125"/>
          </a:xfrm>
        </p:spPr>
        <p:txBody>
          <a:bodyPr/>
          <a:lstStyle/>
          <a:p>
            <a:fld id="{B923787F-775F-4BB2-A743-E9108D724F94}" type="datetime8">
              <a:rPr lang="he-IL" smtClean="0"/>
              <a:t>09 ינואר 26</a:t>
            </a:fld>
            <a:endParaRPr lang="he-IL" dirty="0"/>
          </a:p>
        </p:txBody>
      </p:sp>
      <p:sp>
        <p:nvSpPr>
          <p:cNvPr id="5" name="Slide Number Placeholder 4">
            <a:extLst>
              <a:ext uri="{FF2B5EF4-FFF2-40B4-BE49-F238E27FC236}">
                <a16:creationId xmlns:a16="http://schemas.microsoft.com/office/drawing/2014/main" id="{6B80CAED-127C-4898-995A-1F22325B4F2D}"/>
              </a:ext>
            </a:extLst>
          </p:cNvPr>
          <p:cNvSpPr>
            <a:spLocks noGrp="1"/>
          </p:cNvSpPr>
          <p:nvPr>
            <p:ph type="sldNum" sz="quarter" idx="12"/>
          </p:nvPr>
        </p:nvSpPr>
        <p:spPr/>
        <p:txBody>
          <a:bodyPr/>
          <a:lstStyle/>
          <a:p>
            <a:fld id="{492DB488-E800-4C9D-A68D-A9C6D048BCD3}" type="slidenum">
              <a:rPr lang="he-IL" smtClean="0"/>
              <a:pPr/>
              <a:t>37</a:t>
            </a:fld>
            <a:endParaRPr lang="he-IL"/>
          </a:p>
        </p:txBody>
      </p:sp>
    </p:spTree>
    <p:extLst>
      <p:ext uri="{BB962C8B-B14F-4D97-AF65-F5344CB8AC3E}">
        <p14:creationId xmlns:p14="http://schemas.microsoft.com/office/powerpoint/2010/main" val="2412383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arn(inVertical)">
                                      <p:cBhvr>
                                        <p:cTn id="7" dur="500"/>
                                        <p:tgtEl>
                                          <p:spTgt spid="3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barn(inVertical)">
                                      <p:cBhvr>
                                        <p:cTn id="10" dur="500"/>
                                        <p:tgtEl>
                                          <p:spTgt spid="51"/>
                                        </p:tgtEl>
                                      </p:cBhvr>
                                    </p:animEffect>
                                  </p:childTnLst>
                                </p:cTn>
                              </p:par>
                              <p:par>
                                <p:cTn id="11" presetID="16" presetClass="entr" presetSubtype="21" fill="hold" nodeType="withEffect">
                                  <p:stCondLst>
                                    <p:cond delay="0"/>
                                  </p:stCondLst>
                                  <p:childTnLst>
                                    <p:set>
                                      <p:cBhvr>
                                        <p:cTn id="12" dur="1" fill="hold">
                                          <p:stCondLst>
                                            <p:cond delay="0"/>
                                          </p:stCondLst>
                                        </p:cTn>
                                        <p:tgtEl>
                                          <p:spTgt spid="73"/>
                                        </p:tgtEl>
                                        <p:attrNameLst>
                                          <p:attrName>style.visibility</p:attrName>
                                        </p:attrNameLst>
                                      </p:cBhvr>
                                      <p:to>
                                        <p:strVal val="visible"/>
                                      </p:to>
                                    </p:set>
                                    <p:animEffect transition="in" filter="barn(inVertical)">
                                      <p:cBhvr>
                                        <p:cTn id="13" dur="500"/>
                                        <p:tgtEl>
                                          <p:spTgt spid="73"/>
                                        </p:tgtEl>
                                      </p:cBhvr>
                                    </p:animEffect>
                                  </p:childTnLst>
                                </p:cTn>
                              </p:par>
                              <p:par>
                                <p:cTn id="14" presetID="16" presetClass="entr" presetSubtype="21" fill="hold" nodeType="withEffect">
                                  <p:stCondLst>
                                    <p:cond delay="0"/>
                                  </p:stCondLst>
                                  <p:childTnLst>
                                    <p:set>
                                      <p:cBhvr>
                                        <p:cTn id="15" dur="1" fill="hold">
                                          <p:stCondLst>
                                            <p:cond delay="0"/>
                                          </p:stCondLst>
                                        </p:cTn>
                                        <p:tgtEl>
                                          <p:spTgt spid="72"/>
                                        </p:tgtEl>
                                        <p:attrNameLst>
                                          <p:attrName>style.visibility</p:attrName>
                                        </p:attrNameLst>
                                      </p:cBhvr>
                                      <p:to>
                                        <p:strVal val="visible"/>
                                      </p:to>
                                    </p:set>
                                    <p:animEffect transition="in" filter="barn(inVertical)">
                                      <p:cBhvr>
                                        <p:cTn id="16" dur="500"/>
                                        <p:tgtEl>
                                          <p:spTgt spid="72"/>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58"/>
                                        </p:tgtEl>
                                        <p:attrNameLst>
                                          <p:attrName>style.visibility</p:attrName>
                                        </p:attrNameLst>
                                      </p:cBhvr>
                                      <p:to>
                                        <p:strVal val="visible"/>
                                      </p:to>
                                    </p:set>
                                    <p:animEffect transition="in" filter="barn(inVertical)">
                                      <p:cBhvr>
                                        <p:cTn id="21" dur="500"/>
                                        <p:tgtEl>
                                          <p:spTgt spid="5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0"/>
                                        </p:tgtEl>
                                        <p:attrNameLst>
                                          <p:attrName>style.visibility</p:attrName>
                                        </p:attrNameLst>
                                      </p:cBhvr>
                                      <p:to>
                                        <p:strVal val="visible"/>
                                      </p:to>
                                    </p:set>
                                    <p:animEffect transition="in" filter="fade">
                                      <p:cBhvr>
                                        <p:cTn id="26" dur="500"/>
                                        <p:tgtEl>
                                          <p:spTgt spid="7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fade">
                                      <p:cBhvr>
                                        <p:cTn id="29" dur="500"/>
                                        <p:tgtEl>
                                          <p:spTgt spid="39"/>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71"/>
                                        </p:tgtEl>
                                        <p:attrNameLst>
                                          <p:attrName>style.visibility</p:attrName>
                                        </p:attrNameLst>
                                      </p:cBhvr>
                                      <p:to>
                                        <p:strVal val="visible"/>
                                      </p:to>
                                    </p:set>
                                    <p:anim calcmode="lin" valueType="num">
                                      <p:cBhvr>
                                        <p:cTn id="34" dur="500" fill="hold"/>
                                        <p:tgtEl>
                                          <p:spTgt spid="71"/>
                                        </p:tgtEl>
                                        <p:attrNameLst>
                                          <p:attrName>ppt_w</p:attrName>
                                        </p:attrNameLst>
                                      </p:cBhvr>
                                      <p:tavLst>
                                        <p:tav tm="0">
                                          <p:val>
                                            <p:fltVal val="0"/>
                                          </p:val>
                                        </p:tav>
                                        <p:tav tm="100000">
                                          <p:val>
                                            <p:strVal val="#ppt_w"/>
                                          </p:val>
                                        </p:tav>
                                      </p:tavLst>
                                    </p:anim>
                                    <p:anim calcmode="lin" valueType="num">
                                      <p:cBhvr>
                                        <p:cTn id="35" dur="500" fill="hold"/>
                                        <p:tgtEl>
                                          <p:spTgt spid="71"/>
                                        </p:tgtEl>
                                        <p:attrNameLst>
                                          <p:attrName>ppt_h</p:attrName>
                                        </p:attrNameLst>
                                      </p:cBhvr>
                                      <p:tavLst>
                                        <p:tav tm="0">
                                          <p:val>
                                            <p:fltVal val="0"/>
                                          </p:val>
                                        </p:tav>
                                        <p:tav tm="100000">
                                          <p:val>
                                            <p:strVal val="#ppt_h"/>
                                          </p:val>
                                        </p:tav>
                                      </p:tavLst>
                                    </p:anim>
                                    <p:animEffect transition="in" filter="fade">
                                      <p:cBhvr>
                                        <p:cTn id="36"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51" grpId="0"/>
      <p:bldP spid="70" grpId="0"/>
      <p:bldP spid="7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1048327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he-IL"/>
          </a:p>
        </p:txBody>
      </p:sp>
      <p:sp>
        <p:nvSpPr>
          <p:cNvPr id="48132" name="Text Box 13"/>
          <p:cNvSpPr txBox="1">
            <a:spLocks noChangeArrowheads="1"/>
          </p:cNvSpPr>
          <p:nvPr/>
        </p:nvSpPr>
        <p:spPr bwMode="auto">
          <a:xfrm>
            <a:off x="1466166" y="1446172"/>
            <a:ext cx="4540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Px</a:t>
            </a:r>
            <a:endParaRPr lang="he-IL" sz="3600" dirty="0">
              <a:latin typeface="Arial" pitchFamily="34" charset="0"/>
              <a:cs typeface="Arial" pitchFamily="34" charset="0"/>
            </a:endParaRPr>
          </a:p>
        </p:txBody>
      </p:sp>
      <p:sp>
        <p:nvSpPr>
          <p:cNvPr id="48135" name="Line 3"/>
          <p:cNvSpPr>
            <a:spLocks noChangeShapeType="1"/>
          </p:cNvSpPr>
          <p:nvPr/>
        </p:nvSpPr>
        <p:spPr bwMode="auto">
          <a:xfrm>
            <a:off x="1934332" y="1571696"/>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8149" name="Text Box 18"/>
          <p:cNvSpPr txBox="1">
            <a:spLocks noChangeArrowheads="1"/>
          </p:cNvSpPr>
          <p:nvPr/>
        </p:nvSpPr>
        <p:spPr bwMode="auto">
          <a:xfrm>
            <a:off x="3667108" y="371795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X</a:t>
            </a:r>
            <a:endParaRPr lang="he-IL" sz="3600" dirty="0">
              <a:latin typeface="Arial" pitchFamily="34" charset="0"/>
              <a:cs typeface="Arial" pitchFamily="34" charset="0"/>
            </a:endParaRPr>
          </a:p>
        </p:txBody>
      </p:sp>
      <p:sp>
        <p:nvSpPr>
          <p:cNvPr id="28" name="Line 3"/>
          <p:cNvSpPr>
            <a:spLocks noChangeShapeType="1"/>
          </p:cNvSpPr>
          <p:nvPr/>
        </p:nvSpPr>
        <p:spPr bwMode="auto">
          <a:xfrm rot="16200000">
            <a:off x="2957420" y="2732196"/>
            <a:ext cx="17430" cy="206360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35" name="Text Box 13"/>
          <p:cNvSpPr txBox="1">
            <a:spLocks noChangeArrowheads="1"/>
          </p:cNvSpPr>
          <p:nvPr/>
        </p:nvSpPr>
        <p:spPr bwMode="auto">
          <a:xfrm>
            <a:off x="4245024" y="135729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a:t>
            </a:r>
            <a:endParaRPr lang="he-IL" sz="3600" dirty="0">
              <a:latin typeface="Arial" pitchFamily="34" charset="0"/>
              <a:cs typeface="Arial" pitchFamily="34" charset="0"/>
            </a:endParaRPr>
          </a:p>
        </p:txBody>
      </p:sp>
      <p:sp>
        <p:nvSpPr>
          <p:cNvPr id="36" name="Line 3"/>
          <p:cNvSpPr>
            <a:spLocks noChangeShapeType="1"/>
          </p:cNvSpPr>
          <p:nvPr/>
        </p:nvSpPr>
        <p:spPr bwMode="auto">
          <a:xfrm>
            <a:off x="4612680" y="1582522"/>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37" name="Text Box 18"/>
          <p:cNvSpPr txBox="1">
            <a:spLocks noChangeArrowheads="1"/>
          </p:cNvSpPr>
          <p:nvPr/>
        </p:nvSpPr>
        <p:spPr bwMode="auto">
          <a:xfrm>
            <a:off x="6388132" y="3714752"/>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X</a:t>
            </a:r>
            <a:endParaRPr lang="he-IL" sz="3600" dirty="0">
              <a:latin typeface="Arial" pitchFamily="34" charset="0"/>
              <a:cs typeface="Arial" pitchFamily="34" charset="0"/>
            </a:endParaRPr>
          </a:p>
        </p:txBody>
      </p:sp>
      <p:sp>
        <p:nvSpPr>
          <p:cNvPr id="39" name="Text Box 18"/>
          <p:cNvSpPr txBox="1">
            <a:spLocks noChangeArrowheads="1"/>
          </p:cNvSpPr>
          <p:nvPr/>
        </p:nvSpPr>
        <p:spPr bwMode="auto">
          <a:xfrm>
            <a:off x="5066368" y="3741248"/>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cs typeface="Arial" pitchFamily="34" charset="0"/>
            </a:endParaRPr>
          </a:p>
        </p:txBody>
      </p:sp>
      <p:sp>
        <p:nvSpPr>
          <p:cNvPr id="40" name="Line 3"/>
          <p:cNvSpPr>
            <a:spLocks noChangeShapeType="1"/>
          </p:cNvSpPr>
          <p:nvPr/>
        </p:nvSpPr>
        <p:spPr bwMode="auto">
          <a:xfrm rot="16200000">
            <a:off x="5494996" y="2825536"/>
            <a:ext cx="0" cy="1853079"/>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1" name="Text Box 13"/>
          <p:cNvSpPr txBox="1">
            <a:spLocks noChangeArrowheads="1"/>
          </p:cNvSpPr>
          <p:nvPr/>
        </p:nvSpPr>
        <p:spPr bwMode="auto">
          <a:xfrm>
            <a:off x="7096132" y="137158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a:t>
            </a:r>
            <a:endParaRPr lang="he-IL" sz="3600" dirty="0">
              <a:latin typeface="Arial" pitchFamily="34" charset="0"/>
              <a:cs typeface="Arial" pitchFamily="34" charset="0"/>
            </a:endParaRPr>
          </a:p>
        </p:txBody>
      </p:sp>
      <p:sp>
        <p:nvSpPr>
          <p:cNvPr id="42" name="Line 3"/>
          <p:cNvSpPr>
            <a:spLocks noChangeShapeType="1"/>
          </p:cNvSpPr>
          <p:nvPr/>
        </p:nvSpPr>
        <p:spPr bwMode="auto">
          <a:xfrm>
            <a:off x="7414384" y="1585903"/>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6" name="Line 3"/>
          <p:cNvSpPr>
            <a:spLocks noChangeShapeType="1"/>
          </p:cNvSpPr>
          <p:nvPr/>
        </p:nvSpPr>
        <p:spPr bwMode="auto">
          <a:xfrm rot="16200000">
            <a:off x="8685329" y="2467262"/>
            <a:ext cx="14290" cy="258392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7" name="כותרת 1"/>
          <p:cNvSpPr txBox="1">
            <a:spLocks/>
          </p:cNvSpPr>
          <p:nvPr/>
        </p:nvSpPr>
        <p:spPr>
          <a:xfrm>
            <a:off x="4454742" y="1172961"/>
            <a:ext cx="2643142" cy="500042"/>
          </a:xfrm>
          <a:prstGeom prst="rect">
            <a:avLst/>
          </a:prstGeom>
        </p:spPr>
        <p:txBody>
          <a:bodyPr vert="horz" lIns="91440" tIns="45720" rIns="91440" bIns="45720" rtlCol="1" anchor="ctr">
            <a:normAutofit fontScale="52500" lnSpcReduction="20000"/>
          </a:bodyPr>
          <a:lstStyle/>
          <a:p>
            <a:pPr algn="ctr">
              <a:spcBef>
                <a:spcPct val="0"/>
              </a:spcBef>
              <a:defRPr/>
            </a:pPr>
            <a:r>
              <a:rPr lang="he-IL" sz="4400" u="sng" dirty="0">
                <a:latin typeface="+mj-lt"/>
                <a:ea typeface="+mj-ea"/>
                <a:cs typeface="+mj-cs"/>
              </a:rPr>
              <a:t>עיר ב' – בלתי תלוי ב</a:t>
            </a:r>
            <a:r>
              <a:rPr lang="en-US" sz="4400" u="sng" dirty="0">
                <a:latin typeface="+mj-lt"/>
                <a:ea typeface="+mj-ea"/>
                <a:cs typeface="+mj-cs"/>
              </a:rPr>
              <a:t>Y</a:t>
            </a:r>
            <a:endParaRPr lang="he-IL" sz="4400" u="sng" dirty="0">
              <a:latin typeface="+mj-lt"/>
              <a:ea typeface="+mj-ea"/>
              <a:cs typeface="+mj-cs"/>
            </a:endParaRPr>
          </a:p>
        </p:txBody>
      </p:sp>
      <p:sp>
        <p:nvSpPr>
          <p:cNvPr id="48" name="כותרת 1"/>
          <p:cNvSpPr txBox="1">
            <a:spLocks/>
          </p:cNvSpPr>
          <p:nvPr/>
        </p:nvSpPr>
        <p:spPr>
          <a:xfrm>
            <a:off x="1683925" y="1157299"/>
            <a:ext cx="2643142" cy="500042"/>
          </a:xfrm>
          <a:prstGeom prst="rect">
            <a:avLst/>
          </a:prstGeom>
        </p:spPr>
        <p:txBody>
          <a:bodyPr vert="horz" lIns="91440" tIns="45720" rIns="91440" bIns="45720" rtlCol="1" anchor="ctr">
            <a:normAutofit fontScale="67500" lnSpcReduction="20000"/>
          </a:bodyPr>
          <a:lstStyle/>
          <a:p>
            <a:pPr algn="ctr">
              <a:spcBef>
                <a:spcPct val="0"/>
              </a:spcBef>
              <a:defRPr/>
            </a:pPr>
            <a:r>
              <a:rPr lang="he-IL" sz="4400" u="sng" dirty="0">
                <a:latin typeface="+mj-lt"/>
                <a:ea typeface="+mj-ea"/>
                <a:cs typeface="+mj-cs"/>
              </a:rPr>
              <a:t>עיר א’-משלים ל</a:t>
            </a:r>
            <a:r>
              <a:rPr lang="en-US" sz="4400" u="sng" dirty="0">
                <a:latin typeface="+mj-lt"/>
                <a:ea typeface="+mj-ea"/>
                <a:cs typeface="+mj-cs"/>
              </a:rPr>
              <a:t>Y</a:t>
            </a:r>
            <a:endParaRPr lang="he-IL" sz="4400" u="sng" dirty="0">
              <a:latin typeface="+mj-lt"/>
              <a:ea typeface="+mj-ea"/>
              <a:cs typeface="+mj-cs"/>
            </a:endParaRPr>
          </a:p>
        </p:txBody>
      </p:sp>
      <p:sp>
        <p:nvSpPr>
          <p:cNvPr id="49" name="כותרת 1"/>
          <p:cNvSpPr txBox="1">
            <a:spLocks/>
          </p:cNvSpPr>
          <p:nvPr/>
        </p:nvSpPr>
        <p:spPr>
          <a:xfrm>
            <a:off x="8344350" y="1196151"/>
            <a:ext cx="1862423" cy="500042"/>
          </a:xfrm>
          <a:prstGeom prst="rect">
            <a:avLst/>
          </a:prstGeom>
        </p:spPr>
        <p:txBody>
          <a:bodyPr vert="horz" lIns="91440" tIns="45720" rIns="91440" bIns="45720" rtlCol="1" anchor="ctr">
            <a:normAutofit fontScale="75000" lnSpcReduction="20000"/>
          </a:bodyPr>
          <a:lstStyle/>
          <a:p>
            <a:pPr algn="ctr">
              <a:spcBef>
                <a:spcPct val="0"/>
              </a:spcBef>
              <a:defRPr/>
            </a:pPr>
            <a:r>
              <a:rPr lang="he-IL" sz="4400" u="sng" dirty="0">
                <a:latin typeface="+mj-lt"/>
                <a:ea typeface="+mj-ea"/>
                <a:cs typeface="+mj-cs"/>
              </a:rPr>
              <a:t>מצרפי</a:t>
            </a:r>
          </a:p>
        </p:txBody>
      </p:sp>
      <p:cxnSp>
        <p:nvCxnSpPr>
          <p:cNvPr id="34" name="מחבר ישר 33"/>
          <p:cNvCxnSpPr>
            <a:cxnSpLocks/>
            <a:endCxn id="51" idx="3"/>
          </p:cNvCxnSpPr>
          <p:nvPr/>
        </p:nvCxnSpPr>
        <p:spPr>
          <a:xfrm flipH="1" flipV="1">
            <a:off x="1966200" y="2869792"/>
            <a:ext cx="6502446" cy="50292"/>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1" name="Text Box 13"/>
          <p:cNvSpPr txBox="1">
            <a:spLocks noChangeArrowheads="1"/>
          </p:cNvSpPr>
          <p:nvPr/>
        </p:nvSpPr>
        <p:spPr bwMode="auto">
          <a:xfrm>
            <a:off x="1466166" y="2734644"/>
            <a:ext cx="500034" cy="27029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a:t>
            </a:r>
            <a:r>
              <a:rPr lang="en-US" sz="1400" dirty="0">
                <a:latin typeface="Calibri" pitchFamily="34" charset="0"/>
                <a:ea typeface="Arial" pitchFamily="34" charset="0"/>
                <a:cs typeface="Arial" pitchFamily="34" charset="0"/>
              </a:rPr>
              <a:t>0</a:t>
            </a:r>
            <a:endParaRPr lang="he-IL" sz="3600" dirty="0">
              <a:latin typeface="Arial" pitchFamily="34" charset="0"/>
              <a:cs typeface="Arial" pitchFamily="34" charset="0"/>
            </a:endParaRPr>
          </a:p>
        </p:txBody>
      </p:sp>
      <p:cxnSp>
        <p:nvCxnSpPr>
          <p:cNvPr id="58" name="מחבר ישר 57"/>
          <p:cNvCxnSpPr>
            <a:cxnSpLocks/>
          </p:cNvCxnSpPr>
          <p:nvPr/>
        </p:nvCxnSpPr>
        <p:spPr>
          <a:xfrm flipV="1">
            <a:off x="8366292" y="2857497"/>
            <a:ext cx="0" cy="901673"/>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0" name="Text Box 18"/>
          <p:cNvSpPr txBox="1">
            <a:spLocks noChangeArrowheads="1"/>
          </p:cNvSpPr>
          <p:nvPr/>
        </p:nvSpPr>
        <p:spPr bwMode="auto">
          <a:xfrm>
            <a:off x="1934332" y="3763436"/>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cs typeface="Arial" pitchFamily="34" charset="0"/>
            </a:endParaRPr>
          </a:p>
        </p:txBody>
      </p:sp>
      <p:sp>
        <p:nvSpPr>
          <p:cNvPr id="71" name="Text Box 18"/>
          <p:cNvSpPr txBox="1">
            <a:spLocks noChangeArrowheads="1"/>
          </p:cNvSpPr>
          <p:nvPr/>
        </p:nvSpPr>
        <p:spPr bwMode="auto">
          <a:xfrm>
            <a:off x="7829008" y="3773489"/>
            <a:ext cx="785786" cy="357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cs typeface="Arial" pitchFamily="34" charset="0"/>
            </a:endParaRPr>
          </a:p>
        </p:txBody>
      </p:sp>
      <p:cxnSp>
        <p:nvCxnSpPr>
          <p:cNvPr id="72" name="מחבר ישר 71"/>
          <p:cNvCxnSpPr/>
          <p:nvPr/>
        </p:nvCxnSpPr>
        <p:spPr>
          <a:xfrm rot="16200000" flipV="1">
            <a:off x="4769545" y="3275946"/>
            <a:ext cx="947355" cy="18658"/>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3" name="מחבר ישר 72"/>
          <p:cNvCxnSpPr>
            <a:cxnSpLocks/>
          </p:cNvCxnSpPr>
          <p:nvPr/>
        </p:nvCxnSpPr>
        <p:spPr>
          <a:xfrm flipH="1" flipV="1">
            <a:off x="2192105" y="2849795"/>
            <a:ext cx="18658" cy="894577"/>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4" name="Text Box 18"/>
          <p:cNvSpPr txBox="1">
            <a:spLocks noChangeArrowheads="1"/>
          </p:cNvSpPr>
          <p:nvPr/>
        </p:nvSpPr>
        <p:spPr bwMode="auto">
          <a:xfrm>
            <a:off x="9777544" y="3787779"/>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X</a:t>
            </a:r>
            <a:endParaRPr lang="he-IL" sz="3600" dirty="0">
              <a:latin typeface="Arial" pitchFamily="34" charset="0"/>
              <a:cs typeface="Arial" pitchFamily="34" charset="0"/>
            </a:endParaRPr>
          </a:p>
        </p:txBody>
      </p:sp>
      <p:sp>
        <p:nvSpPr>
          <p:cNvPr id="43" name="כותרת 1"/>
          <p:cNvSpPr txBox="1">
            <a:spLocks/>
          </p:cNvSpPr>
          <p:nvPr/>
        </p:nvSpPr>
        <p:spPr>
          <a:xfrm>
            <a:off x="10248163" y="240002"/>
            <a:ext cx="1912106" cy="500042"/>
          </a:xfrm>
          <a:prstGeom prst="rect">
            <a:avLst/>
          </a:prstGeom>
        </p:spPr>
        <p:txBody>
          <a:bodyPr vert="horz" lIns="91440" tIns="45720" rIns="91440" bIns="45720" rtlCol="1" anchor="ctr">
            <a:no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lgn="r"/>
            <a:r>
              <a:rPr lang="he-IL" sz="4000" b="1" dirty="0">
                <a:cs typeface="+mn-cs"/>
              </a:rPr>
              <a:t>שאלה 5</a:t>
            </a:r>
            <a:endParaRPr lang="he-IL" sz="2400" b="1" dirty="0">
              <a:cs typeface="+mn-cs"/>
            </a:endParaRPr>
          </a:p>
        </p:txBody>
      </p:sp>
      <p:sp>
        <p:nvSpPr>
          <p:cNvPr id="2" name="Arc 1">
            <a:extLst>
              <a:ext uri="{FF2B5EF4-FFF2-40B4-BE49-F238E27FC236}">
                <a16:creationId xmlns:a16="http://schemas.microsoft.com/office/drawing/2014/main" id="{7D91DCF3-BE2D-43A2-98EF-18417A8F26F8}"/>
              </a:ext>
            </a:extLst>
          </p:cNvPr>
          <p:cNvSpPr/>
          <p:nvPr/>
        </p:nvSpPr>
        <p:spPr>
          <a:xfrm rot="10800000">
            <a:off x="1988504" y="381189"/>
            <a:ext cx="3197267" cy="3312367"/>
          </a:xfrm>
          <a:prstGeom prst="arc">
            <a:avLst>
              <a:gd name="adj1" fmla="val 17010548"/>
              <a:gd name="adj2" fmla="val 21202821"/>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44" name="Arc 43">
            <a:extLst>
              <a:ext uri="{FF2B5EF4-FFF2-40B4-BE49-F238E27FC236}">
                <a16:creationId xmlns:a16="http://schemas.microsoft.com/office/drawing/2014/main" id="{2CF74A7F-E844-44E3-9EFA-BF3C771D26E9}"/>
              </a:ext>
            </a:extLst>
          </p:cNvPr>
          <p:cNvSpPr/>
          <p:nvPr/>
        </p:nvSpPr>
        <p:spPr>
          <a:xfrm rot="10800000">
            <a:off x="4965753" y="276267"/>
            <a:ext cx="3197267" cy="3312367"/>
          </a:xfrm>
          <a:prstGeom prst="arc">
            <a:avLst>
              <a:gd name="adj1" fmla="val 17209403"/>
              <a:gd name="adj2" fmla="val 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45" name="Arc 44">
            <a:extLst>
              <a:ext uri="{FF2B5EF4-FFF2-40B4-BE49-F238E27FC236}">
                <a16:creationId xmlns:a16="http://schemas.microsoft.com/office/drawing/2014/main" id="{F6087A3B-DECB-4F48-9CF8-0449A9B74D8B}"/>
              </a:ext>
            </a:extLst>
          </p:cNvPr>
          <p:cNvSpPr/>
          <p:nvPr/>
        </p:nvSpPr>
        <p:spPr>
          <a:xfrm rot="10800000">
            <a:off x="7600420" y="431389"/>
            <a:ext cx="4768031" cy="2819017"/>
          </a:xfrm>
          <a:prstGeom prst="arc">
            <a:avLst>
              <a:gd name="adj1" fmla="val 17389242"/>
              <a:gd name="adj2" fmla="val 0"/>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31" name="TextBox 30">
            <a:extLst>
              <a:ext uri="{FF2B5EF4-FFF2-40B4-BE49-F238E27FC236}">
                <a16:creationId xmlns:a16="http://schemas.microsoft.com/office/drawing/2014/main" id="{3780DAF1-0A28-4965-BA36-F70463032355}"/>
              </a:ext>
            </a:extLst>
          </p:cNvPr>
          <p:cNvSpPr txBox="1"/>
          <p:nvPr/>
        </p:nvSpPr>
        <p:spPr>
          <a:xfrm>
            <a:off x="1590133" y="4271155"/>
            <a:ext cx="8791290" cy="703847"/>
          </a:xfrm>
          <a:prstGeom prst="rect">
            <a:avLst/>
          </a:prstGeom>
          <a:noFill/>
        </p:spPr>
        <p:txBody>
          <a:bodyPr wrap="square">
            <a:spAutoFit/>
          </a:bodyPr>
          <a:lstStyle/>
          <a:p>
            <a:pPr algn="r" rtl="1">
              <a:lnSpc>
                <a:spcPct val="150000"/>
              </a:lnSpc>
            </a:pPr>
            <a:r>
              <a:rPr lang="he-IL" sz="1400" dirty="0"/>
              <a:t>לאחרונה חלה ירידה במחיר מוצר </a:t>
            </a:r>
            <a:r>
              <a:rPr lang="en-US" sz="1400" dirty="0"/>
              <a:t>Y</a:t>
            </a:r>
            <a:r>
              <a:rPr lang="he-IL" sz="1400" dirty="0"/>
              <a:t>. ידוע שמוצר </a:t>
            </a:r>
            <a:r>
              <a:rPr lang="en-US" sz="1400" dirty="0"/>
              <a:t>Y</a:t>
            </a:r>
            <a:r>
              <a:rPr lang="he-IL" sz="1400" dirty="0"/>
              <a:t> הינו מוצר משלים ל-</a:t>
            </a:r>
            <a:r>
              <a:rPr lang="en-US" sz="1400" dirty="0"/>
              <a:t>X</a:t>
            </a:r>
            <a:r>
              <a:rPr lang="he-IL" sz="1400" dirty="0"/>
              <a:t> עבור עיר א' ומוצר בלתי תלוי ל</a:t>
            </a:r>
            <a:r>
              <a:rPr lang="en-US" sz="1400" dirty="0"/>
              <a:t>x</a:t>
            </a:r>
            <a:r>
              <a:rPr lang="he-IL" sz="1400" dirty="0"/>
              <a:t> עבור צרכני עיר ב'.</a:t>
            </a:r>
            <a:br>
              <a:rPr lang="en-US" sz="1400" dirty="0"/>
            </a:br>
            <a:r>
              <a:rPr lang="he-IL" sz="1400" dirty="0"/>
              <a:t>בחרו בתשובה הנכונה בעקבות השינוי המתואר (ירידת </a:t>
            </a:r>
            <a:r>
              <a:rPr lang="en-US" sz="1400" dirty="0"/>
              <a:t>PY</a:t>
            </a:r>
            <a:r>
              <a:rPr lang="he-IL" sz="1400" dirty="0"/>
              <a:t>):</a:t>
            </a:r>
          </a:p>
        </p:txBody>
      </p:sp>
      <p:sp>
        <p:nvSpPr>
          <p:cNvPr id="32" name="Arc 31">
            <a:extLst>
              <a:ext uri="{FF2B5EF4-FFF2-40B4-BE49-F238E27FC236}">
                <a16:creationId xmlns:a16="http://schemas.microsoft.com/office/drawing/2014/main" id="{538FCE8D-48CB-49AB-9DD4-B9650B70D9F0}"/>
              </a:ext>
            </a:extLst>
          </p:cNvPr>
          <p:cNvSpPr/>
          <p:nvPr/>
        </p:nvSpPr>
        <p:spPr>
          <a:xfrm rot="10800000">
            <a:off x="2331101" y="235974"/>
            <a:ext cx="3197267" cy="3312367"/>
          </a:xfrm>
          <a:prstGeom prst="arc">
            <a:avLst>
              <a:gd name="adj1" fmla="val 16840586"/>
              <a:gd name="adj2" fmla="val 21129184"/>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9A488D7C-3939-471A-AE64-6FED708BE0B3}"/>
                  </a:ext>
                </a:extLst>
              </p:cNvPr>
              <p:cNvSpPr txBox="1"/>
              <p:nvPr/>
            </p:nvSpPr>
            <p:spPr>
              <a:xfrm>
                <a:off x="2962455" y="3496238"/>
                <a:ext cx="1489167"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i="1">
                              <a:solidFill>
                                <a:schemeClr val="accent1"/>
                              </a:solidFill>
                              <a:latin typeface="Cambria Math" panose="02040503050406030204" pitchFamily="18" charset="0"/>
                            </a:rPr>
                          </m:ctrlPr>
                        </m:sSubPr>
                        <m:e>
                          <m:r>
                            <a:rPr lang="en-US" sz="1600" i="1">
                              <a:solidFill>
                                <a:schemeClr val="accent1"/>
                              </a:solidFill>
                              <a:latin typeface="Cambria Math" panose="02040503050406030204" pitchFamily="18" charset="0"/>
                            </a:rPr>
                            <m:t>𝐷</m:t>
                          </m:r>
                        </m:e>
                        <m:sub>
                          <m:r>
                            <a:rPr lang="en-US" sz="1600" i="1">
                              <a:solidFill>
                                <a:schemeClr val="accent1"/>
                              </a:solidFill>
                              <a:latin typeface="Cambria Math" panose="02040503050406030204" pitchFamily="18" charset="0"/>
                            </a:rPr>
                            <m:t>0</m:t>
                          </m:r>
                        </m:sub>
                      </m:sSub>
                      <m:r>
                        <a:rPr lang="en-US" sz="1600">
                          <a:solidFill>
                            <a:schemeClr val="accent1"/>
                          </a:solidFill>
                          <a:latin typeface="Cambria Math" panose="02040503050406030204" pitchFamily="18" charset="0"/>
                        </a:rPr>
                        <m:t>(</m:t>
                      </m:r>
                      <m:r>
                        <m:rPr>
                          <m:sty m:val="p"/>
                        </m:rPr>
                        <a:rPr lang="en-US" sz="1600">
                          <a:solidFill>
                            <a:schemeClr val="accent1"/>
                          </a:solidFill>
                          <a:latin typeface="Cambria Math" panose="02040503050406030204" pitchFamily="18" charset="0"/>
                        </a:rPr>
                        <m:t>Py</m:t>
                      </m:r>
                      <m:r>
                        <a:rPr lang="en-US" sz="1600">
                          <a:solidFill>
                            <a:schemeClr val="accent1"/>
                          </a:solidFill>
                          <a:latin typeface="Cambria Math" panose="02040503050406030204" pitchFamily="18" charset="0"/>
                        </a:rPr>
                        <m:t>=</m:t>
                      </m:r>
                      <m:r>
                        <a:rPr lang="en-US" sz="1600">
                          <a:solidFill>
                            <a:schemeClr val="accent1"/>
                          </a:solidFill>
                          <a:latin typeface="Cambria Math" panose="02040503050406030204" pitchFamily="18" charset="0"/>
                        </a:rPr>
                        <m:t>4</m:t>
                      </m:r>
                      <m:r>
                        <a:rPr lang="en-US" sz="1600">
                          <a:solidFill>
                            <a:schemeClr val="accent1"/>
                          </a:solidFill>
                          <a:latin typeface="Cambria Math" panose="02040503050406030204" pitchFamily="18" charset="0"/>
                        </a:rPr>
                        <m:t>)</m:t>
                      </m:r>
                    </m:oMath>
                  </m:oMathPara>
                </a14:m>
                <a:endParaRPr lang="aa-ET" dirty="0"/>
              </a:p>
            </p:txBody>
          </p:sp>
        </mc:Choice>
        <mc:Fallback xmlns="">
          <p:sp>
            <p:nvSpPr>
              <p:cNvPr id="33" name="TextBox 32">
                <a:extLst>
                  <a:ext uri="{FF2B5EF4-FFF2-40B4-BE49-F238E27FC236}">
                    <a16:creationId xmlns:a16="http://schemas.microsoft.com/office/drawing/2014/main" id="{9A488D7C-3939-471A-AE64-6FED708BE0B3}"/>
                  </a:ext>
                </a:extLst>
              </p:cNvPr>
              <p:cNvSpPr txBox="1">
                <a:spLocks noRot="1" noChangeAspect="1" noMove="1" noResize="1" noEditPoints="1" noAdjustHandles="1" noChangeArrowheads="1" noChangeShapeType="1" noTextEdit="1"/>
              </p:cNvSpPr>
              <p:nvPr/>
            </p:nvSpPr>
            <p:spPr>
              <a:xfrm>
                <a:off x="2962455" y="3496238"/>
                <a:ext cx="1489167" cy="246221"/>
              </a:xfrm>
              <a:prstGeom prst="rect">
                <a:avLst/>
              </a:prstGeom>
              <a:blipFill>
                <a:blip r:embed="rId2"/>
                <a:stretch>
                  <a:fillRect b="-32500"/>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C67CDBF-5276-4571-A5E7-8DA6453588B3}"/>
                  </a:ext>
                </a:extLst>
              </p:cNvPr>
              <p:cNvSpPr txBox="1"/>
              <p:nvPr/>
            </p:nvSpPr>
            <p:spPr>
              <a:xfrm>
                <a:off x="3160732" y="3151196"/>
                <a:ext cx="1253910" cy="276999"/>
              </a:xfrm>
              <a:prstGeom prst="rect">
                <a:avLst/>
              </a:prstGeom>
              <a:noFill/>
            </p:spPr>
            <p:txBody>
              <a:bodyPr wrap="square" lIns="0" tIns="0" rIns="0" bIns="0" rtlCol="0">
                <a:spAutoFit/>
              </a:bodyPr>
              <a:lstStyle/>
              <a:p>
                <a14:m>
                  <m:oMath xmlns:m="http://schemas.openxmlformats.org/officeDocument/2006/math">
                    <m:sSub>
                      <m:sSubPr>
                        <m:ctrlPr>
                          <a:rPr lang="aa-ET" sz="1600" b="1" i="1">
                            <a:solidFill>
                              <a:srgbClr val="C00000"/>
                            </a:solidFill>
                            <a:latin typeface="Cambria Math" panose="02040503050406030204" pitchFamily="18" charset="0"/>
                          </a:rPr>
                        </m:ctrlPr>
                      </m:sSubPr>
                      <m:e>
                        <m:r>
                          <a:rPr lang="en-US" sz="1600" b="1" i="1">
                            <a:solidFill>
                              <a:srgbClr val="C00000"/>
                            </a:solidFill>
                            <a:latin typeface="Cambria Math" panose="02040503050406030204" pitchFamily="18" charset="0"/>
                          </a:rPr>
                          <m:t>𝑫</m:t>
                        </m:r>
                      </m:e>
                      <m:sub>
                        <m:r>
                          <a:rPr lang="en-US" sz="1600" b="1" i="1">
                            <a:solidFill>
                              <a:srgbClr val="C00000"/>
                            </a:solidFill>
                            <a:latin typeface="Cambria Math" panose="02040503050406030204" pitchFamily="18" charset="0"/>
                          </a:rPr>
                          <m:t>𝟏</m:t>
                        </m:r>
                      </m:sub>
                    </m:sSub>
                  </m:oMath>
                </a14:m>
                <a:r>
                  <a:rPr lang="en-US" b="1" dirty="0"/>
                  <a:t>(</a:t>
                </a:r>
                <a14:m>
                  <m:oMath xmlns:m="http://schemas.openxmlformats.org/officeDocument/2006/math">
                    <m:r>
                      <a:rPr lang="en-US" sz="1400" b="1" i="1">
                        <a:solidFill>
                          <a:srgbClr val="C00000"/>
                        </a:solidFill>
                        <a:latin typeface="Cambria Math" panose="02040503050406030204" pitchFamily="18" charset="0"/>
                      </a:rPr>
                      <m:t>𝐏𝐲</m:t>
                    </m:r>
                    <m:r>
                      <a:rPr lang="en-US" sz="1400" b="1">
                        <a:solidFill>
                          <a:srgbClr val="C00000"/>
                        </a:solidFill>
                        <a:latin typeface="Cambria Math" panose="02040503050406030204" pitchFamily="18" charset="0"/>
                      </a:rPr>
                      <m:t>=</m:t>
                    </m:r>
                    <m:r>
                      <a:rPr lang="en-US" sz="1400" b="1">
                        <a:solidFill>
                          <a:srgbClr val="C00000"/>
                        </a:solidFill>
                        <a:latin typeface="Cambria Math" panose="02040503050406030204" pitchFamily="18" charset="0"/>
                      </a:rPr>
                      <m:t>𝟐</m:t>
                    </m:r>
                  </m:oMath>
                </a14:m>
                <a:r>
                  <a:rPr lang="en-US" b="1" dirty="0"/>
                  <a:t>)</a:t>
                </a:r>
                <a:endParaRPr lang="aa-ET" b="1" dirty="0"/>
              </a:p>
            </p:txBody>
          </p:sp>
        </mc:Choice>
        <mc:Fallback xmlns="">
          <p:sp>
            <p:nvSpPr>
              <p:cNvPr id="38" name="TextBox 37">
                <a:extLst>
                  <a:ext uri="{FF2B5EF4-FFF2-40B4-BE49-F238E27FC236}">
                    <a16:creationId xmlns:a16="http://schemas.microsoft.com/office/drawing/2014/main" id="{3C67CDBF-5276-4571-A5E7-8DA6453588B3}"/>
                  </a:ext>
                </a:extLst>
              </p:cNvPr>
              <p:cNvSpPr txBox="1">
                <a:spLocks noRot="1" noChangeAspect="1" noMove="1" noResize="1" noEditPoints="1" noAdjustHandles="1" noChangeArrowheads="1" noChangeShapeType="1" noTextEdit="1"/>
              </p:cNvSpPr>
              <p:nvPr/>
            </p:nvSpPr>
            <p:spPr>
              <a:xfrm>
                <a:off x="3160732" y="3151196"/>
                <a:ext cx="1253910" cy="276999"/>
              </a:xfrm>
              <a:prstGeom prst="rect">
                <a:avLst/>
              </a:prstGeom>
              <a:blipFill>
                <a:blip r:embed="rId3"/>
                <a:stretch>
                  <a:fillRect t="-28889" r="-11650" b="-51111"/>
                </a:stretch>
              </a:blipFill>
            </p:spPr>
            <p:txBody>
              <a:bodyPr/>
              <a:lstStyle/>
              <a:p>
                <a:r>
                  <a:rPr lang="en-IL">
                    <a:noFill/>
                  </a:rPr>
                  <a:t> </a:t>
                </a:r>
              </a:p>
            </p:txBody>
          </p:sp>
        </mc:Fallback>
      </mc:AlternateContent>
      <p:sp>
        <p:nvSpPr>
          <p:cNvPr id="50" name="Arc 49">
            <a:extLst>
              <a:ext uri="{FF2B5EF4-FFF2-40B4-BE49-F238E27FC236}">
                <a16:creationId xmlns:a16="http://schemas.microsoft.com/office/drawing/2014/main" id="{97823A7A-480F-4599-9E0D-9CE0BB87C8AD}"/>
              </a:ext>
            </a:extLst>
          </p:cNvPr>
          <p:cNvSpPr/>
          <p:nvPr/>
        </p:nvSpPr>
        <p:spPr>
          <a:xfrm rot="10800000">
            <a:off x="7856086" y="-245271"/>
            <a:ext cx="4151151" cy="3312367"/>
          </a:xfrm>
          <a:prstGeom prst="arc">
            <a:avLst>
              <a:gd name="adj1" fmla="val 16293465"/>
              <a:gd name="adj2" fmla="val 21129184"/>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5C1219DC-ECB0-49FD-80C8-7F053F05EF4B}"/>
                  </a:ext>
                </a:extLst>
              </p:cNvPr>
              <p:cNvSpPr txBox="1"/>
              <p:nvPr/>
            </p:nvSpPr>
            <p:spPr>
              <a:xfrm>
                <a:off x="8881505" y="2584368"/>
                <a:ext cx="1253910" cy="27629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b="1" i="1">
                              <a:solidFill>
                                <a:srgbClr val="C00000"/>
                              </a:solidFill>
                              <a:latin typeface="Cambria Math" panose="02040503050406030204" pitchFamily="18" charset="0"/>
                            </a:rPr>
                          </m:ctrlPr>
                        </m:sSubPr>
                        <m:e>
                          <m:r>
                            <a:rPr lang="en-US" sz="1600" b="1" i="1">
                              <a:solidFill>
                                <a:srgbClr val="C00000"/>
                              </a:solidFill>
                              <a:latin typeface="Cambria Math" panose="02040503050406030204" pitchFamily="18" charset="0"/>
                            </a:rPr>
                            <m:t>𝑫</m:t>
                          </m:r>
                        </m:e>
                        <m:sub>
                          <m:r>
                            <a:rPr lang="en-US" sz="1600" b="1" i="1">
                              <a:solidFill>
                                <a:srgbClr val="C00000"/>
                              </a:solidFill>
                              <a:latin typeface="Cambria Math" panose="02040503050406030204" pitchFamily="18" charset="0"/>
                            </a:rPr>
                            <m:t>𝟏</m:t>
                          </m:r>
                        </m:sub>
                      </m:sSub>
                      <m:r>
                        <a:rPr lang="he-IL" sz="1600" b="1">
                          <a:solidFill>
                            <a:srgbClr val="C00000"/>
                          </a:solidFill>
                          <a:latin typeface="Cambria Math" panose="02040503050406030204" pitchFamily="18" charset="0"/>
                        </a:rPr>
                        <m:t> </m:t>
                      </m:r>
                      <m:r>
                        <a:rPr lang="he-IL" sz="1600" b="1">
                          <a:solidFill>
                            <a:srgbClr val="C00000"/>
                          </a:solidFill>
                          <a:latin typeface="Cambria Math" panose="02040503050406030204" pitchFamily="18" charset="0"/>
                        </a:rPr>
                        <m:t>מצרפי</m:t>
                      </m:r>
                    </m:oMath>
                  </m:oMathPara>
                </a14:m>
                <a:endParaRPr lang="aa-ET" b="1" dirty="0"/>
              </a:p>
            </p:txBody>
          </p:sp>
        </mc:Choice>
        <mc:Fallback xmlns="">
          <p:sp>
            <p:nvSpPr>
              <p:cNvPr id="52" name="TextBox 51">
                <a:extLst>
                  <a:ext uri="{FF2B5EF4-FFF2-40B4-BE49-F238E27FC236}">
                    <a16:creationId xmlns:a16="http://schemas.microsoft.com/office/drawing/2014/main" id="{5C1219DC-ECB0-49FD-80C8-7F053F05EF4B}"/>
                  </a:ext>
                </a:extLst>
              </p:cNvPr>
              <p:cNvSpPr txBox="1">
                <a:spLocks noRot="1" noChangeAspect="1" noMove="1" noResize="1" noEditPoints="1" noAdjustHandles="1" noChangeArrowheads="1" noChangeShapeType="1" noTextEdit="1"/>
              </p:cNvSpPr>
              <p:nvPr/>
            </p:nvSpPr>
            <p:spPr>
              <a:xfrm>
                <a:off x="8881505" y="2584368"/>
                <a:ext cx="1253910" cy="276294"/>
              </a:xfrm>
              <a:prstGeom prst="rect">
                <a:avLst/>
              </a:prstGeom>
              <a:blipFill>
                <a:blip r:embed="rId4"/>
                <a:stretch>
                  <a:fillRect t="-15556" b="-42222"/>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1574BE7D-D022-490B-ABB6-1A86670495AB}"/>
                  </a:ext>
                </a:extLst>
              </p:cNvPr>
              <p:cNvSpPr txBox="1"/>
              <p:nvPr/>
            </p:nvSpPr>
            <p:spPr>
              <a:xfrm>
                <a:off x="8885207" y="3337797"/>
                <a:ext cx="1278065" cy="27629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b="1" i="1">
                              <a:solidFill>
                                <a:schemeClr val="accent5">
                                  <a:lumMod val="50000"/>
                                </a:schemeClr>
                              </a:solidFill>
                              <a:latin typeface="Cambria Math" panose="02040503050406030204" pitchFamily="18" charset="0"/>
                            </a:rPr>
                          </m:ctrlPr>
                        </m:sSubPr>
                        <m:e>
                          <m:r>
                            <a:rPr lang="en-US" sz="1600" b="1" i="1">
                              <a:solidFill>
                                <a:schemeClr val="accent5">
                                  <a:lumMod val="50000"/>
                                </a:schemeClr>
                              </a:solidFill>
                              <a:latin typeface="Cambria Math" panose="02040503050406030204" pitchFamily="18" charset="0"/>
                            </a:rPr>
                            <m:t>𝑫</m:t>
                          </m:r>
                        </m:e>
                        <m:sub>
                          <m:r>
                            <a:rPr lang="en-US" sz="1600" b="1" i="1">
                              <a:solidFill>
                                <a:schemeClr val="accent5">
                                  <a:lumMod val="50000"/>
                                </a:schemeClr>
                              </a:solidFill>
                              <a:latin typeface="Cambria Math" panose="02040503050406030204" pitchFamily="18" charset="0"/>
                            </a:rPr>
                            <m:t>𝟎</m:t>
                          </m:r>
                        </m:sub>
                      </m:sSub>
                      <m:r>
                        <a:rPr lang="he-IL" sz="1600" b="1">
                          <a:solidFill>
                            <a:schemeClr val="accent5">
                              <a:lumMod val="50000"/>
                            </a:schemeClr>
                          </a:solidFill>
                          <a:latin typeface="Cambria Math" panose="02040503050406030204" pitchFamily="18" charset="0"/>
                        </a:rPr>
                        <m:t>מצרפי</m:t>
                      </m:r>
                    </m:oMath>
                  </m:oMathPara>
                </a14:m>
                <a:endParaRPr lang="aa-ET" b="1" dirty="0"/>
              </a:p>
            </p:txBody>
          </p:sp>
        </mc:Choice>
        <mc:Fallback xmlns="">
          <p:sp>
            <p:nvSpPr>
              <p:cNvPr id="53" name="TextBox 52">
                <a:extLst>
                  <a:ext uri="{FF2B5EF4-FFF2-40B4-BE49-F238E27FC236}">
                    <a16:creationId xmlns:a16="http://schemas.microsoft.com/office/drawing/2014/main" id="{1574BE7D-D022-490B-ABB6-1A86670495AB}"/>
                  </a:ext>
                </a:extLst>
              </p:cNvPr>
              <p:cNvSpPr txBox="1">
                <a:spLocks noRot="1" noChangeAspect="1" noMove="1" noResize="1" noEditPoints="1" noAdjustHandles="1" noChangeArrowheads="1" noChangeShapeType="1" noTextEdit="1"/>
              </p:cNvSpPr>
              <p:nvPr/>
            </p:nvSpPr>
            <p:spPr>
              <a:xfrm>
                <a:off x="8885207" y="3337797"/>
                <a:ext cx="1278065" cy="276294"/>
              </a:xfrm>
              <a:prstGeom prst="rect">
                <a:avLst/>
              </a:prstGeom>
              <a:blipFill>
                <a:blip r:embed="rId5"/>
                <a:stretch>
                  <a:fillRect t="-15556" b="-42222"/>
                </a:stretch>
              </a:blipFill>
            </p:spPr>
            <p:txBody>
              <a:bodyPr/>
              <a:lstStyle/>
              <a:p>
                <a:r>
                  <a:rPr lang="en-IL">
                    <a:noFill/>
                  </a:rPr>
                  <a:t> </a:t>
                </a:r>
              </a:p>
            </p:txBody>
          </p:sp>
        </mc:Fallback>
      </mc:AlternateContent>
      <p:cxnSp>
        <p:nvCxnSpPr>
          <p:cNvPr id="54" name="מחבר ישר 57">
            <a:extLst>
              <a:ext uri="{FF2B5EF4-FFF2-40B4-BE49-F238E27FC236}">
                <a16:creationId xmlns:a16="http://schemas.microsoft.com/office/drawing/2014/main" id="{E470F5E4-A2C2-468E-A00E-775237584C15}"/>
              </a:ext>
            </a:extLst>
          </p:cNvPr>
          <p:cNvCxnSpPr>
            <a:cxnSpLocks/>
          </p:cNvCxnSpPr>
          <p:nvPr/>
        </p:nvCxnSpPr>
        <p:spPr>
          <a:xfrm flipV="1">
            <a:off x="8716274" y="2767173"/>
            <a:ext cx="0" cy="991780"/>
          </a:xfrm>
          <a:prstGeom prst="line">
            <a:avLst/>
          </a:prstGeom>
          <a:ln w="1905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55" name="Text Box 18">
            <a:extLst>
              <a:ext uri="{FF2B5EF4-FFF2-40B4-BE49-F238E27FC236}">
                <a16:creationId xmlns:a16="http://schemas.microsoft.com/office/drawing/2014/main" id="{7A1716D8-DC6B-44A6-B4A7-8C3C6A2BAA31}"/>
              </a:ext>
            </a:extLst>
          </p:cNvPr>
          <p:cNvSpPr txBox="1">
            <a:spLocks noChangeArrowheads="1"/>
          </p:cNvSpPr>
          <p:nvPr/>
        </p:nvSpPr>
        <p:spPr bwMode="auto">
          <a:xfrm>
            <a:off x="2410655" y="3778851"/>
            <a:ext cx="506371"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solidFill>
                  <a:srgbClr val="C00000"/>
                </a:solidFill>
                <a:latin typeface="Calibri" pitchFamily="34" charset="0"/>
                <a:ea typeface="Arial" pitchFamily="34" charset="0"/>
                <a:cs typeface="Arial" pitchFamily="34" charset="0"/>
              </a:rPr>
              <a:t>X1</a:t>
            </a:r>
          </a:p>
        </p:txBody>
      </p:sp>
      <p:sp>
        <p:nvSpPr>
          <p:cNvPr id="56" name="Text Box 18">
            <a:extLst>
              <a:ext uri="{FF2B5EF4-FFF2-40B4-BE49-F238E27FC236}">
                <a16:creationId xmlns:a16="http://schemas.microsoft.com/office/drawing/2014/main" id="{BC94EE0F-4E50-4097-8946-378C2B5B4B3E}"/>
              </a:ext>
            </a:extLst>
          </p:cNvPr>
          <p:cNvSpPr txBox="1">
            <a:spLocks noChangeArrowheads="1"/>
          </p:cNvSpPr>
          <p:nvPr/>
        </p:nvSpPr>
        <p:spPr bwMode="auto">
          <a:xfrm>
            <a:off x="8566090" y="3773912"/>
            <a:ext cx="873322" cy="3873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l" fontAlgn="base">
              <a:spcBef>
                <a:spcPct val="0"/>
              </a:spcBef>
              <a:spcAft>
                <a:spcPts val="1000"/>
              </a:spcAft>
            </a:pPr>
            <a:r>
              <a:rPr lang="en-US" sz="2000" dirty="0">
                <a:solidFill>
                  <a:srgbClr val="C00000"/>
                </a:solidFill>
                <a:latin typeface="Calibri" pitchFamily="34" charset="0"/>
                <a:ea typeface="Arial" pitchFamily="34" charset="0"/>
                <a:cs typeface="Arial" pitchFamily="34" charset="0"/>
              </a:rPr>
              <a:t>X</a:t>
            </a:r>
            <a:r>
              <a:rPr lang="en-US" sz="1600" dirty="0">
                <a:solidFill>
                  <a:srgbClr val="C00000"/>
                </a:solidFill>
                <a:latin typeface="Calibri" pitchFamily="34" charset="0"/>
                <a:ea typeface="Arial" pitchFamily="34" charset="0"/>
                <a:cs typeface="Arial" pitchFamily="34" charset="0"/>
              </a:rPr>
              <a:t>1</a:t>
            </a:r>
            <a:endParaRPr lang="he-IL" sz="3600" dirty="0">
              <a:solidFill>
                <a:srgbClr val="C00000"/>
              </a:solidFill>
              <a:latin typeface="Arial" pitchFamily="34" charset="0"/>
              <a:cs typeface="Arial" pitchFamily="34" charset="0"/>
            </a:endParaRPr>
          </a:p>
        </p:txBody>
      </p:sp>
      <p:cxnSp>
        <p:nvCxnSpPr>
          <p:cNvPr id="57" name="מחבר ישר 72">
            <a:extLst>
              <a:ext uri="{FF2B5EF4-FFF2-40B4-BE49-F238E27FC236}">
                <a16:creationId xmlns:a16="http://schemas.microsoft.com/office/drawing/2014/main" id="{B849846E-BDA0-4269-866D-32D68741B057}"/>
              </a:ext>
            </a:extLst>
          </p:cNvPr>
          <p:cNvCxnSpPr>
            <a:cxnSpLocks/>
          </p:cNvCxnSpPr>
          <p:nvPr/>
        </p:nvCxnSpPr>
        <p:spPr>
          <a:xfrm flipH="1" flipV="1">
            <a:off x="2565688" y="2722515"/>
            <a:ext cx="4236" cy="1062298"/>
          </a:xfrm>
          <a:prstGeom prst="line">
            <a:avLst/>
          </a:prstGeom>
          <a:ln>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C0E15388-A501-41C1-B2D6-000584F2E4C3}"/>
              </a:ext>
            </a:extLst>
          </p:cNvPr>
          <p:cNvSpPr txBox="1"/>
          <p:nvPr/>
        </p:nvSpPr>
        <p:spPr>
          <a:xfrm>
            <a:off x="1631509" y="182125"/>
            <a:ext cx="6879209" cy="369332"/>
          </a:xfrm>
          <a:prstGeom prst="rect">
            <a:avLst/>
          </a:prstGeom>
          <a:noFill/>
        </p:spPr>
        <p:txBody>
          <a:bodyPr wrap="square">
            <a:spAutoFit/>
          </a:bodyPr>
          <a:lstStyle/>
          <a:p>
            <a:pPr algn="r" rtl="1"/>
            <a:r>
              <a:rPr lang="he-IL" dirty="0"/>
              <a:t>במשק מסוים ישנם צרכני עיר א' וצרכני עיר ב' הבמקשים לרכוש את מוצר </a:t>
            </a:r>
            <a:r>
              <a:rPr lang="en-US" dirty="0"/>
              <a:t>X</a:t>
            </a:r>
            <a:r>
              <a:rPr lang="he-IL" dirty="0"/>
              <a:t>. </a:t>
            </a:r>
            <a:endParaRPr lang="en-IL" dirty="0"/>
          </a:p>
        </p:txBody>
      </p:sp>
      <p:sp>
        <p:nvSpPr>
          <p:cNvPr id="60" name="Arc 59">
            <a:extLst>
              <a:ext uri="{FF2B5EF4-FFF2-40B4-BE49-F238E27FC236}">
                <a16:creationId xmlns:a16="http://schemas.microsoft.com/office/drawing/2014/main" id="{66F0494A-24BD-49A2-A801-13DB8C58EC7A}"/>
              </a:ext>
            </a:extLst>
          </p:cNvPr>
          <p:cNvSpPr/>
          <p:nvPr/>
        </p:nvSpPr>
        <p:spPr>
          <a:xfrm rot="15717349" flipH="1" flipV="1">
            <a:off x="6043215" y="-413656"/>
            <a:ext cx="2797296" cy="4257979"/>
          </a:xfrm>
          <a:prstGeom prst="arc">
            <a:avLst>
              <a:gd name="adj1" fmla="val 17093280"/>
              <a:gd name="adj2" fmla="val 0"/>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sp>
        <p:nvSpPr>
          <p:cNvPr id="61" name="TextBox 60">
            <a:extLst>
              <a:ext uri="{FF2B5EF4-FFF2-40B4-BE49-F238E27FC236}">
                <a16:creationId xmlns:a16="http://schemas.microsoft.com/office/drawing/2014/main" id="{4E3F6882-4D41-4F27-8A2A-912692DEDFB0}"/>
              </a:ext>
            </a:extLst>
          </p:cNvPr>
          <p:cNvSpPr txBox="1"/>
          <p:nvPr/>
        </p:nvSpPr>
        <p:spPr>
          <a:xfrm>
            <a:off x="9439412" y="1699699"/>
            <a:ext cx="369012" cy="369332"/>
          </a:xfrm>
          <a:prstGeom prst="rect">
            <a:avLst/>
          </a:prstGeom>
          <a:noFill/>
        </p:spPr>
        <p:txBody>
          <a:bodyPr wrap="none" rtlCol="1">
            <a:spAutoFit/>
          </a:bodyPr>
          <a:lstStyle/>
          <a:p>
            <a:r>
              <a:rPr lang="en-US" dirty="0"/>
              <a:t>S</a:t>
            </a:r>
            <a:r>
              <a:rPr lang="en-US" baseline="-25000" dirty="0"/>
              <a:t>0</a:t>
            </a:r>
            <a:endParaRPr lang="he-IL" baseline="-25000" dirty="0"/>
          </a:p>
        </p:txBody>
      </p:sp>
      <p:cxnSp>
        <p:nvCxnSpPr>
          <p:cNvPr id="62" name="מחבר ישר 33">
            <a:extLst>
              <a:ext uri="{FF2B5EF4-FFF2-40B4-BE49-F238E27FC236}">
                <a16:creationId xmlns:a16="http://schemas.microsoft.com/office/drawing/2014/main" id="{520F4CF3-5B89-470F-86F4-87BC562A2A1C}"/>
              </a:ext>
            </a:extLst>
          </p:cNvPr>
          <p:cNvCxnSpPr>
            <a:cxnSpLocks/>
          </p:cNvCxnSpPr>
          <p:nvPr/>
        </p:nvCxnSpPr>
        <p:spPr>
          <a:xfrm flipH="1" flipV="1">
            <a:off x="1934332" y="2741422"/>
            <a:ext cx="6795296" cy="22667"/>
          </a:xfrm>
          <a:prstGeom prst="line">
            <a:avLst/>
          </a:prstGeom>
          <a:ln>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B69FE5DC-6024-4C88-B8EF-30918824D286}"/>
              </a:ext>
            </a:extLst>
          </p:cNvPr>
          <p:cNvSpPr txBox="1"/>
          <p:nvPr/>
        </p:nvSpPr>
        <p:spPr>
          <a:xfrm>
            <a:off x="4790859" y="5054443"/>
            <a:ext cx="4729162" cy="1668214"/>
          </a:xfrm>
          <a:prstGeom prst="rect">
            <a:avLst/>
          </a:prstGeom>
          <a:noFill/>
        </p:spPr>
        <p:txBody>
          <a:bodyPr wrap="square">
            <a:spAutoFit/>
          </a:bodyPr>
          <a:lstStyle/>
          <a:p>
            <a:pPr algn="r" rtl="1">
              <a:lnSpc>
                <a:spcPct val="150000"/>
              </a:lnSpc>
            </a:pPr>
            <a:r>
              <a:rPr lang="he-IL" sz="1400" dirty="0"/>
              <a:t>א. הכמות שירכשו תושבי עיר ב' לא תשתנה. </a:t>
            </a:r>
          </a:p>
          <a:p>
            <a:pPr algn="r" rtl="1">
              <a:lnSpc>
                <a:spcPct val="150000"/>
              </a:lnSpc>
            </a:pPr>
            <a:r>
              <a:rPr lang="he-IL" sz="1400" dirty="0"/>
              <a:t>ב. הכמות שירכשו תושבי עיר א' תעלה.</a:t>
            </a:r>
          </a:p>
          <a:p>
            <a:pPr algn="r" rtl="1">
              <a:lnSpc>
                <a:spcPct val="150000"/>
              </a:lnSpc>
            </a:pPr>
            <a:r>
              <a:rPr lang="he-IL" sz="1400" dirty="0"/>
              <a:t>ג. לא ניתן לדעת מה יקרה להכנסות היצרנים בענף. </a:t>
            </a:r>
          </a:p>
          <a:p>
            <a:pPr algn="r" rtl="1">
              <a:lnSpc>
                <a:spcPct val="150000"/>
              </a:lnSpc>
            </a:pPr>
            <a:r>
              <a:rPr lang="he-IL" sz="1400" dirty="0"/>
              <a:t>ד. ייתכן שעודף צרכני עיר ב' יעלה. </a:t>
            </a:r>
          </a:p>
          <a:p>
            <a:pPr algn="r" rtl="1">
              <a:lnSpc>
                <a:spcPct val="150000"/>
              </a:lnSpc>
            </a:pPr>
            <a:r>
              <a:rPr lang="he-IL" sz="1400" dirty="0"/>
              <a:t>ה. כל התשובות אינן נכונות. </a:t>
            </a:r>
          </a:p>
        </p:txBody>
      </p:sp>
      <p:sp>
        <p:nvSpPr>
          <p:cNvPr id="64" name="Text Box 18">
            <a:extLst>
              <a:ext uri="{FF2B5EF4-FFF2-40B4-BE49-F238E27FC236}">
                <a16:creationId xmlns:a16="http://schemas.microsoft.com/office/drawing/2014/main" id="{86D92EA5-19D7-4B34-8F3D-BBE46B7D82C2}"/>
              </a:ext>
            </a:extLst>
          </p:cNvPr>
          <p:cNvSpPr txBox="1">
            <a:spLocks noChangeArrowheads="1"/>
          </p:cNvSpPr>
          <p:nvPr/>
        </p:nvSpPr>
        <p:spPr bwMode="auto">
          <a:xfrm>
            <a:off x="4757495" y="3758386"/>
            <a:ext cx="495169" cy="4016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l" fontAlgn="base">
              <a:spcBef>
                <a:spcPct val="0"/>
              </a:spcBef>
              <a:spcAft>
                <a:spcPts val="1000"/>
              </a:spcAft>
            </a:pPr>
            <a:r>
              <a:rPr lang="en-US" sz="2000" dirty="0">
                <a:solidFill>
                  <a:srgbClr val="C00000"/>
                </a:solidFill>
                <a:latin typeface="Calibri" pitchFamily="34" charset="0"/>
                <a:ea typeface="Arial" pitchFamily="34" charset="0"/>
                <a:cs typeface="Arial" pitchFamily="34" charset="0"/>
              </a:rPr>
              <a:t>X</a:t>
            </a:r>
            <a:r>
              <a:rPr lang="en-US" sz="1600" dirty="0">
                <a:solidFill>
                  <a:srgbClr val="C00000"/>
                </a:solidFill>
                <a:latin typeface="Calibri" pitchFamily="34" charset="0"/>
                <a:ea typeface="Arial" pitchFamily="34" charset="0"/>
                <a:cs typeface="Arial" pitchFamily="34" charset="0"/>
              </a:rPr>
              <a:t>1</a:t>
            </a:r>
            <a:endParaRPr lang="he-IL" sz="3600" dirty="0">
              <a:solidFill>
                <a:srgbClr val="C00000"/>
              </a:solidFill>
              <a:latin typeface="Arial" pitchFamily="34" charset="0"/>
              <a:cs typeface="Arial" pitchFamily="34" charset="0"/>
            </a:endParaRPr>
          </a:p>
        </p:txBody>
      </p:sp>
      <p:cxnSp>
        <p:nvCxnSpPr>
          <p:cNvPr id="65" name="מחבר ישר 57">
            <a:extLst>
              <a:ext uri="{FF2B5EF4-FFF2-40B4-BE49-F238E27FC236}">
                <a16:creationId xmlns:a16="http://schemas.microsoft.com/office/drawing/2014/main" id="{AF6DA327-4AC1-4926-8417-194F7C57ED8F}"/>
              </a:ext>
            </a:extLst>
          </p:cNvPr>
          <p:cNvCxnSpPr>
            <a:cxnSpLocks/>
          </p:cNvCxnSpPr>
          <p:nvPr/>
        </p:nvCxnSpPr>
        <p:spPr>
          <a:xfrm flipV="1">
            <a:off x="5138099" y="2684552"/>
            <a:ext cx="0" cy="1057906"/>
          </a:xfrm>
          <a:prstGeom prst="line">
            <a:avLst/>
          </a:prstGeom>
          <a:ln w="1905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66" name="Text Box 13">
            <a:extLst>
              <a:ext uri="{FF2B5EF4-FFF2-40B4-BE49-F238E27FC236}">
                <a16:creationId xmlns:a16="http://schemas.microsoft.com/office/drawing/2014/main" id="{275D1FC8-E714-4520-B31D-2B00093DED1E}"/>
              </a:ext>
            </a:extLst>
          </p:cNvPr>
          <p:cNvSpPr txBox="1">
            <a:spLocks noChangeArrowheads="1"/>
          </p:cNvSpPr>
          <p:nvPr/>
        </p:nvSpPr>
        <p:spPr bwMode="auto">
          <a:xfrm>
            <a:off x="1450690" y="2433485"/>
            <a:ext cx="500034" cy="27029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b="1" dirty="0">
                <a:solidFill>
                  <a:srgbClr val="C00000"/>
                </a:solidFill>
                <a:latin typeface="Calibri" pitchFamily="34" charset="0"/>
                <a:ea typeface="Arial" pitchFamily="34" charset="0"/>
                <a:cs typeface="Arial" pitchFamily="34" charset="0"/>
              </a:rPr>
              <a:t>P</a:t>
            </a:r>
            <a:r>
              <a:rPr lang="en-US" sz="1400" b="1" dirty="0">
                <a:solidFill>
                  <a:srgbClr val="C00000"/>
                </a:solidFill>
                <a:latin typeface="Calibri" pitchFamily="34" charset="0"/>
                <a:ea typeface="Arial" pitchFamily="34" charset="0"/>
                <a:cs typeface="Arial" pitchFamily="34" charset="0"/>
              </a:rPr>
              <a:t>1</a:t>
            </a:r>
            <a:endParaRPr lang="he-IL" sz="3600" b="1" dirty="0">
              <a:solidFill>
                <a:srgbClr val="C00000"/>
              </a:solidFill>
              <a:latin typeface="Arial" pitchFamily="34" charset="0"/>
              <a:cs typeface="Arial" pitchFamily="34" charset="0"/>
            </a:endParaRPr>
          </a:p>
        </p:txBody>
      </p:sp>
      <p:sp>
        <p:nvSpPr>
          <p:cNvPr id="3" name="Date Placeholder 2">
            <a:extLst>
              <a:ext uri="{FF2B5EF4-FFF2-40B4-BE49-F238E27FC236}">
                <a16:creationId xmlns:a16="http://schemas.microsoft.com/office/drawing/2014/main" id="{BC785DD5-33F2-40FA-A3DD-2D16E8EFE7A5}"/>
              </a:ext>
            </a:extLst>
          </p:cNvPr>
          <p:cNvSpPr>
            <a:spLocks noGrp="1"/>
          </p:cNvSpPr>
          <p:nvPr>
            <p:ph type="dt" sz="half" idx="10"/>
          </p:nvPr>
        </p:nvSpPr>
        <p:spPr>
          <a:xfrm>
            <a:off x="8453221" y="6447434"/>
            <a:ext cx="2133600" cy="365125"/>
          </a:xfrm>
        </p:spPr>
        <p:txBody>
          <a:bodyPr/>
          <a:lstStyle/>
          <a:p>
            <a:fld id="{F71212E2-3AF9-4474-9128-C5D8B5FB5FE3}" type="datetime8">
              <a:rPr lang="he-IL" smtClean="0"/>
              <a:t>09 ינואר 26</a:t>
            </a:fld>
            <a:endParaRPr lang="he-IL"/>
          </a:p>
        </p:txBody>
      </p:sp>
      <p:sp>
        <p:nvSpPr>
          <p:cNvPr id="4" name="Slide Number Placeholder 3">
            <a:extLst>
              <a:ext uri="{FF2B5EF4-FFF2-40B4-BE49-F238E27FC236}">
                <a16:creationId xmlns:a16="http://schemas.microsoft.com/office/drawing/2014/main" id="{7CC55F32-7F07-452C-BE1A-6ACB862866CF}"/>
              </a:ext>
            </a:extLst>
          </p:cNvPr>
          <p:cNvSpPr>
            <a:spLocks noGrp="1"/>
          </p:cNvSpPr>
          <p:nvPr>
            <p:ph type="sldNum" sz="quarter" idx="12"/>
          </p:nvPr>
        </p:nvSpPr>
        <p:spPr/>
        <p:txBody>
          <a:bodyPr/>
          <a:lstStyle/>
          <a:p>
            <a:fld id="{492DB488-E800-4C9D-A68D-A9C6D048BCD3}" type="slidenum">
              <a:rPr lang="he-IL" smtClean="0"/>
              <a:pPr/>
              <a:t>38</a:t>
            </a:fld>
            <a:endParaRPr lang="he-IL"/>
          </a:p>
        </p:txBody>
      </p:sp>
    </p:spTree>
    <p:extLst>
      <p:ext uri="{BB962C8B-B14F-4D97-AF65-F5344CB8AC3E}">
        <p14:creationId xmlns:p14="http://schemas.microsoft.com/office/powerpoint/2010/main" val="1558429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arn(inVertical)">
                                      <p:cBhvr>
                                        <p:cTn id="7" dur="500"/>
                                        <p:tgtEl>
                                          <p:spTgt spid="32"/>
                                        </p:tgtEl>
                                      </p:cBhvr>
                                    </p:animEffect>
                                  </p:childTnLst>
                                </p:cTn>
                              </p:par>
                              <p:par>
                                <p:cTn id="8" presetID="16" presetClass="entr" presetSubtype="21" fill="hold" nodeType="withEffect">
                                  <p:stCondLst>
                                    <p:cond delay="0"/>
                                  </p:stCondLst>
                                  <p:childTnLst>
                                    <p:set>
                                      <p:cBhvr>
                                        <p:cTn id="9" dur="1" fill="hold">
                                          <p:stCondLst>
                                            <p:cond delay="0"/>
                                          </p:stCondLst>
                                        </p:cTn>
                                        <p:tgtEl>
                                          <p:spTgt spid="72"/>
                                        </p:tgtEl>
                                        <p:attrNameLst>
                                          <p:attrName>style.visibility</p:attrName>
                                        </p:attrNameLst>
                                      </p:cBhvr>
                                      <p:to>
                                        <p:strVal val="visible"/>
                                      </p:to>
                                    </p:set>
                                    <p:animEffect transition="in" filter="barn(inVertical)">
                                      <p:cBhvr>
                                        <p:cTn id="10" dur="500"/>
                                        <p:tgtEl>
                                          <p:spTgt spid="7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barn(inVertical)">
                                      <p:cBhvr>
                                        <p:cTn id="19" dur="500"/>
                                        <p:tgtEl>
                                          <p:spTgt spid="50"/>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2"/>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62"/>
                                        </p:tgtEl>
                                        <p:attrNameLst>
                                          <p:attrName>style.visibility</p:attrName>
                                        </p:attrNameLst>
                                      </p:cBhvr>
                                      <p:to>
                                        <p:strVal val="visible"/>
                                      </p:to>
                                    </p:set>
                                    <p:animEffect transition="in" filter="circle(in)">
                                      <p:cBhvr>
                                        <p:cTn id="28" dur="2000"/>
                                        <p:tgtEl>
                                          <p:spTgt spid="62"/>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fade">
                                      <p:cBhvr>
                                        <p:cTn id="37" dur="1000"/>
                                        <p:tgtEl>
                                          <p:spTgt spid="57"/>
                                        </p:tgtEl>
                                      </p:cBhvr>
                                    </p:animEffect>
                                    <p:anim calcmode="lin" valueType="num">
                                      <p:cBhvr>
                                        <p:cTn id="38" dur="1000" fill="hold"/>
                                        <p:tgtEl>
                                          <p:spTgt spid="57"/>
                                        </p:tgtEl>
                                        <p:attrNameLst>
                                          <p:attrName>ppt_x</p:attrName>
                                        </p:attrNameLst>
                                      </p:cBhvr>
                                      <p:tavLst>
                                        <p:tav tm="0">
                                          <p:val>
                                            <p:strVal val="#ppt_x"/>
                                          </p:val>
                                        </p:tav>
                                        <p:tav tm="100000">
                                          <p:val>
                                            <p:strVal val="#ppt_x"/>
                                          </p:val>
                                        </p:tav>
                                      </p:tavLst>
                                    </p:anim>
                                    <p:anim calcmode="lin" valueType="num">
                                      <p:cBhvr>
                                        <p:cTn id="39" dur="1000" fill="hold"/>
                                        <p:tgtEl>
                                          <p:spTgt spid="57"/>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55"/>
                                        </p:tgtEl>
                                        <p:attrNameLst>
                                          <p:attrName>style.visibility</p:attrName>
                                        </p:attrNameLst>
                                      </p:cBhvr>
                                      <p:to>
                                        <p:strVal val="visible"/>
                                      </p:to>
                                    </p:set>
                                    <p:animEffect transition="in" filter="fade">
                                      <p:cBhvr>
                                        <p:cTn id="42" dur="1000"/>
                                        <p:tgtEl>
                                          <p:spTgt spid="55"/>
                                        </p:tgtEl>
                                      </p:cBhvr>
                                    </p:animEffect>
                                    <p:anim calcmode="lin" valueType="num">
                                      <p:cBhvr>
                                        <p:cTn id="43" dur="1000" fill="hold"/>
                                        <p:tgtEl>
                                          <p:spTgt spid="55"/>
                                        </p:tgtEl>
                                        <p:attrNameLst>
                                          <p:attrName>ppt_x</p:attrName>
                                        </p:attrNameLst>
                                      </p:cBhvr>
                                      <p:tavLst>
                                        <p:tav tm="0">
                                          <p:val>
                                            <p:strVal val="#ppt_x"/>
                                          </p:val>
                                        </p:tav>
                                        <p:tav tm="100000">
                                          <p:val>
                                            <p:strVal val="#ppt_x"/>
                                          </p:val>
                                        </p:tav>
                                      </p:tavLst>
                                    </p:anim>
                                    <p:anim calcmode="lin" valueType="num">
                                      <p:cBhvr>
                                        <p:cTn id="44" dur="1000" fill="hold"/>
                                        <p:tgtEl>
                                          <p:spTgt spid="55"/>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54"/>
                                        </p:tgtEl>
                                        <p:attrNameLst>
                                          <p:attrName>style.visibility</p:attrName>
                                        </p:attrNameLst>
                                      </p:cBhvr>
                                      <p:to>
                                        <p:strVal val="visible"/>
                                      </p:to>
                                    </p:set>
                                    <p:animEffect transition="in" filter="fade">
                                      <p:cBhvr>
                                        <p:cTn id="49" dur="500"/>
                                        <p:tgtEl>
                                          <p:spTgt spid="5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6"/>
                                        </p:tgtEl>
                                        <p:attrNameLst>
                                          <p:attrName>style.visibility</p:attrName>
                                        </p:attrNameLst>
                                      </p:cBhvr>
                                      <p:to>
                                        <p:strVal val="visible"/>
                                      </p:to>
                                    </p:set>
                                    <p:animEffect transition="in" filter="fade">
                                      <p:cBhvr>
                                        <p:cTn id="52" dur="500"/>
                                        <p:tgtEl>
                                          <p:spTgt spid="5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4"/>
                                        </p:tgtEl>
                                        <p:attrNameLst>
                                          <p:attrName>style.visibility</p:attrName>
                                        </p:attrNameLst>
                                      </p:cBhvr>
                                      <p:to>
                                        <p:strVal val="visible"/>
                                      </p:to>
                                    </p:set>
                                    <p:animEffect transition="in" filter="fade">
                                      <p:cBhvr>
                                        <p:cTn id="55" dur="500"/>
                                        <p:tgtEl>
                                          <p:spTgt spid="64"/>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65"/>
                                        </p:tgtEl>
                                        <p:attrNameLst>
                                          <p:attrName>style.visibility</p:attrName>
                                        </p:attrNameLst>
                                      </p:cBhvr>
                                      <p:to>
                                        <p:strVal val="visible"/>
                                      </p:to>
                                    </p:set>
                                    <p:animEffect transition="in" filter="fade">
                                      <p:cBhvr>
                                        <p:cTn id="60"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8" grpId="0"/>
      <p:bldP spid="50" grpId="0" animBg="1"/>
      <p:bldP spid="52" grpId="0"/>
      <p:bldP spid="55" grpId="0"/>
      <p:bldP spid="56" grpId="0"/>
      <p:bldP spid="64" grpId="0"/>
      <p:bldP spid="6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1048327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he-IL"/>
          </a:p>
        </p:txBody>
      </p:sp>
      <p:sp>
        <p:nvSpPr>
          <p:cNvPr id="48132" name="Text Box 13"/>
          <p:cNvSpPr txBox="1">
            <a:spLocks noChangeArrowheads="1"/>
          </p:cNvSpPr>
          <p:nvPr/>
        </p:nvSpPr>
        <p:spPr bwMode="auto">
          <a:xfrm>
            <a:off x="1466166" y="1446172"/>
            <a:ext cx="4540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Px</a:t>
            </a:r>
            <a:endParaRPr lang="he-IL" sz="3600" dirty="0">
              <a:latin typeface="Arial" pitchFamily="34" charset="0"/>
              <a:cs typeface="Arial" pitchFamily="34" charset="0"/>
            </a:endParaRPr>
          </a:p>
        </p:txBody>
      </p:sp>
      <p:sp>
        <p:nvSpPr>
          <p:cNvPr id="48135" name="Line 3"/>
          <p:cNvSpPr>
            <a:spLocks noChangeShapeType="1"/>
          </p:cNvSpPr>
          <p:nvPr/>
        </p:nvSpPr>
        <p:spPr bwMode="auto">
          <a:xfrm>
            <a:off x="1934332" y="1571696"/>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8149" name="Text Box 18"/>
          <p:cNvSpPr txBox="1">
            <a:spLocks noChangeArrowheads="1"/>
          </p:cNvSpPr>
          <p:nvPr/>
        </p:nvSpPr>
        <p:spPr bwMode="auto">
          <a:xfrm>
            <a:off x="3667108" y="371795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X</a:t>
            </a:r>
            <a:endParaRPr lang="he-IL" sz="3600" dirty="0">
              <a:latin typeface="Arial" pitchFamily="34" charset="0"/>
              <a:cs typeface="Arial" pitchFamily="34" charset="0"/>
            </a:endParaRPr>
          </a:p>
        </p:txBody>
      </p:sp>
      <p:sp>
        <p:nvSpPr>
          <p:cNvPr id="28" name="Line 3"/>
          <p:cNvSpPr>
            <a:spLocks noChangeShapeType="1"/>
          </p:cNvSpPr>
          <p:nvPr/>
        </p:nvSpPr>
        <p:spPr bwMode="auto">
          <a:xfrm rot="16200000">
            <a:off x="2957420" y="2732196"/>
            <a:ext cx="17430" cy="206360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35" name="Text Box 13"/>
          <p:cNvSpPr txBox="1">
            <a:spLocks noChangeArrowheads="1"/>
          </p:cNvSpPr>
          <p:nvPr/>
        </p:nvSpPr>
        <p:spPr bwMode="auto">
          <a:xfrm>
            <a:off x="4245024" y="135729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a:t>
            </a:r>
            <a:endParaRPr lang="he-IL" sz="3600" dirty="0">
              <a:latin typeface="Arial" pitchFamily="34" charset="0"/>
              <a:cs typeface="Arial" pitchFamily="34" charset="0"/>
            </a:endParaRPr>
          </a:p>
        </p:txBody>
      </p:sp>
      <p:sp>
        <p:nvSpPr>
          <p:cNvPr id="36" name="Line 3"/>
          <p:cNvSpPr>
            <a:spLocks noChangeShapeType="1"/>
          </p:cNvSpPr>
          <p:nvPr/>
        </p:nvSpPr>
        <p:spPr bwMode="auto">
          <a:xfrm>
            <a:off x="4612680" y="1582522"/>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37" name="Text Box 18"/>
          <p:cNvSpPr txBox="1">
            <a:spLocks noChangeArrowheads="1"/>
          </p:cNvSpPr>
          <p:nvPr/>
        </p:nvSpPr>
        <p:spPr bwMode="auto">
          <a:xfrm>
            <a:off x="6388132" y="3714752"/>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X</a:t>
            </a:r>
            <a:endParaRPr lang="he-IL" sz="3600" dirty="0">
              <a:latin typeface="Arial" pitchFamily="34" charset="0"/>
              <a:cs typeface="Arial" pitchFamily="34" charset="0"/>
            </a:endParaRPr>
          </a:p>
        </p:txBody>
      </p:sp>
      <p:sp>
        <p:nvSpPr>
          <p:cNvPr id="39" name="Text Box 18"/>
          <p:cNvSpPr txBox="1">
            <a:spLocks noChangeArrowheads="1"/>
          </p:cNvSpPr>
          <p:nvPr/>
        </p:nvSpPr>
        <p:spPr bwMode="auto">
          <a:xfrm>
            <a:off x="5066368" y="3741248"/>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cs typeface="Arial" pitchFamily="34" charset="0"/>
            </a:endParaRPr>
          </a:p>
        </p:txBody>
      </p:sp>
      <p:sp>
        <p:nvSpPr>
          <p:cNvPr id="40" name="Line 3"/>
          <p:cNvSpPr>
            <a:spLocks noChangeShapeType="1"/>
          </p:cNvSpPr>
          <p:nvPr/>
        </p:nvSpPr>
        <p:spPr bwMode="auto">
          <a:xfrm rot="16200000">
            <a:off x="5494996" y="2825536"/>
            <a:ext cx="0" cy="1853079"/>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1" name="Text Box 13"/>
          <p:cNvSpPr txBox="1">
            <a:spLocks noChangeArrowheads="1"/>
          </p:cNvSpPr>
          <p:nvPr/>
        </p:nvSpPr>
        <p:spPr bwMode="auto">
          <a:xfrm>
            <a:off x="7096132" y="137158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a:t>
            </a:r>
            <a:endParaRPr lang="he-IL" sz="3600" dirty="0">
              <a:latin typeface="Arial" pitchFamily="34" charset="0"/>
              <a:cs typeface="Arial" pitchFamily="34" charset="0"/>
            </a:endParaRPr>
          </a:p>
        </p:txBody>
      </p:sp>
      <p:sp>
        <p:nvSpPr>
          <p:cNvPr id="42" name="Line 3"/>
          <p:cNvSpPr>
            <a:spLocks noChangeShapeType="1"/>
          </p:cNvSpPr>
          <p:nvPr/>
        </p:nvSpPr>
        <p:spPr bwMode="auto">
          <a:xfrm>
            <a:off x="7414384" y="1585903"/>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6" name="Line 3"/>
          <p:cNvSpPr>
            <a:spLocks noChangeShapeType="1"/>
          </p:cNvSpPr>
          <p:nvPr/>
        </p:nvSpPr>
        <p:spPr bwMode="auto">
          <a:xfrm rot="16200000">
            <a:off x="8685329" y="2467262"/>
            <a:ext cx="14290" cy="258392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7" name="כותרת 1"/>
          <p:cNvSpPr txBox="1">
            <a:spLocks/>
          </p:cNvSpPr>
          <p:nvPr/>
        </p:nvSpPr>
        <p:spPr>
          <a:xfrm>
            <a:off x="4454742" y="1172961"/>
            <a:ext cx="2643142" cy="500042"/>
          </a:xfrm>
          <a:prstGeom prst="rect">
            <a:avLst/>
          </a:prstGeom>
        </p:spPr>
        <p:txBody>
          <a:bodyPr vert="horz" lIns="91440" tIns="45720" rIns="91440" bIns="45720" rtlCol="1" anchor="ctr">
            <a:normAutofit fontScale="52500" lnSpcReduction="20000"/>
          </a:bodyPr>
          <a:lstStyle/>
          <a:p>
            <a:pPr algn="ctr">
              <a:spcBef>
                <a:spcPct val="0"/>
              </a:spcBef>
              <a:defRPr/>
            </a:pPr>
            <a:r>
              <a:rPr lang="he-IL" sz="4400" u="sng" dirty="0">
                <a:latin typeface="+mj-lt"/>
                <a:ea typeface="+mj-ea"/>
                <a:cs typeface="+mj-cs"/>
              </a:rPr>
              <a:t>עיר ב' – בלתי תלוי ב</a:t>
            </a:r>
            <a:r>
              <a:rPr lang="en-US" sz="4400" u="sng" dirty="0">
                <a:latin typeface="+mj-lt"/>
                <a:ea typeface="+mj-ea"/>
                <a:cs typeface="+mj-cs"/>
              </a:rPr>
              <a:t>Y</a:t>
            </a:r>
            <a:endParaRPr lang="he-IL" sz="4400" u="sng" dirty="0">
              <a:latin typeface="+mj-lt"/>
              <a:ea typeface="+mj-ea"/>
              <a:cs typeface="+mj-cs"/>
            </a:endParaRPr>
          </a:p>
        </p:txBody>
      </p:sp>
      <p:sp>
        <p:nvSpPr>
          <p:cNvPr id="48" name="כותרת 1"/>
          <p:cNvSpPr txBox="1">
            <a:spLocks/>
          </p:cNvSpPr>
          <p:nvPr/>
        </p:nvSpPr>
        <p:spPr>
          <a:xfrm>
            <a:off x="1683925" y="1157299"/>
            <a:ext cx="2643142" cy="500042"/>
          </a:xfrm>
          <a:prstGeom prst="rect">
            <a:avLst/>
          </a:prstGeom>
        </p:spPr>
        <p:txBody>
          <a:bodyPr vert="horz" lIns="91440" tIns="45720" rIns="91440" bIns="45720" rtlCol="1" anchor="ctr">
            <a:normAutofit fontScale="67500" lnSpcReduction="20000"/>
          </a:bodyPr>
          <a:lstStyle/>
          <a:p>
            <a:pPr algn="ctr">
              <a:spcBef>
                <a:spcPct val="0"/>
              </a:spcBef>
              <a:defRPr/>
            </a:pPr>
            <a:r>
              <a:rPr lang="he-IL" sz="4400" u="sng" dirty="0">
                <a:latin typeface="+mj-lt"/>
                <a:ea typeface="+mj-ea"/>
                <a:cs typeface="+mj-cs"/>
              </a:rPr>
              <a:t>עיר א’-משלים ל</a:t>
            </a:r>
            <a:r>
              <a:rPr lang="en-US" sz="4400" u="sng" dirty="0">
                <a:latin typeface="+mj-lt"/>
                <a:ea typeface="+mj-ea"/>
                <a:cs typeface="+mj-cs"/>
              </a:rPr>
              <a:t>Y</a:t>
            </a:r>
            <a:endParaRPr lang="he-IL" sz="4400" u="sng" dirty="0">
              <a:latin typeface="+mj-lt"/>
              <a:ea typeface="+mj-ea"/>
              <a:cs typeface="+mj-cs"/>
            </a:endParaRPr>
          </a:p>
        </p:txBody>
      </p:sp>
      <p:sp>
        <p:nvSpPr>
          <p:cNvPr id="49" name="כותרת 1"/>
          <p:cNvSpPr txBox="1">
            <a:spLocks/>
          </p:cNvSpPr>
          <p:nvPr/>
        </p:nvSpPr>
        <p:spPr>
          <a:xfrm>
            <a:off x="8344350" y="1196151"/>
            <a:ext cx="1862423" cy="500042"/>
          </a:xfrm>
          <a:prstGeom prst="rect">
            <a:avLst/>
          </a:prstGeom>
        </p:spPr>
        <p:txBody>
          <a:bodyPr vert="horz" lIns="91440" tIns="45720" rIns="91440" bIns="45720" rtlCol="1" anchor="ctr">
            <a:normAutofit fontScale="75000" lnSpcReduction="20000"/>
          </a:bodyPr>
          <a:lstStyle/>
          <a:p>
            <a:pPr algn="ctr">
              <a:spcBef>
                <a:spcPct val="0"/>
              </a:spcBef>
              <a:defRPr/>
            </a:pPr>
            <a:r>
              <a:rPr lang="he-IL" sz="4400" u="sng" dirty="0">
                <a:latin typeface="+mj-lt"/>
                <a:ea typeface="+mj-ea"/>
                <a:cs typeface="+mj-cs"/>
              </a:rPr>
              <a:t>מצרפי</a:t>
            </a:r>
          </a:p>
        </p:txBody>
      </p:sp>
      <p:cxnSp>
        <p:nvCxnSpPr>
          <p:cNvPr id="34" name="מחבר ישר 33"/>
          <p:cNvCxnSpPr>
            <a:cxnSpLocks/>
            <a:endCxn id="51" idx="3"/>
          </p:cNvCxnSpPr>
          <p:nvPr/>
        </p:nvCxnSpPr>
        <p:spPr>
          <a:xfrm flipH="1" flipV="1">
            <a:off x="1966200" y="2869792"/>
            <a:ext cx="6502446" cy="50292"/>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1" name="Text Box 13"/>
          <p:cNvSpPr txBox="1">
            <a:spLocks noChangeArrowheads="1"/>
          </p:cNvSpPr>
          <p:nvPr/>
        </p:nvSpPr>
        <p:spPr bwMode="auto">
          <a:xfrm>
            <a:off x="1466166" y="2734644"/>
            <a:ext cx="500034" cy="27029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a:t>
            </a:r>
            <a:r>
              <a:rPr lang="en-US" sz="1400" dirty="0">
                <a:latin typeface="Calibri" pitchFamily="34" charset="0"/>
                <a:ea typeface="Arial" pitchFamily="34" charset="0"/>
                <a:cs typeface="Arial" pitchFamily="34" charset="0"/>
              </a:rPr>
              <a:t>0</a:t>
            </a:r>
            <a:endParaRPr lang="he-IL" sz="3600" dirty="0">
              <a:latin typeface="Arial" pitchFamily="34" charset="0"/>
              <a:cs typeface="Arial" pitchFamily="34" charset="0"/>
            </a:endParaRPr>
          </a:p>
        </p:txBody>
      </p:sp>
      <p:cxnSp>
        <p:nvCxnSpPr>
          <p:cNvPr id="58" name="מחבר ישר 57"/>
          <p:cNvCxnSpPr>
            <a:cxnSpLocks/>
          </p:cNvCxnSpPr>
          <p:nvPr/>
        </p:nvCxnSpPr>
        <p:spPr>
          <a:xfrm flipV="1">
            <a:off x="8366292" y="2857497"/>
            <a:ext cx="0" cy="901673"/>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0" name="Text Box 18"/>
          <p:cNvSpPr txBox="1">
            <a:spLocks noChangeArrowheads="1"/>
          </p:cNvSpPr>
          <p:nvPr/>
        </p:nvSpPr>
        <p:spPr bwMode="auto">
          <a:xfrm>
            <a:off x="1934332" y="3763436"/>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cs typeface="Arial" pitchFamily="34" charset="0"/>
            </a:endParaRPr>
          </a:p>
        </p:txBody>
      </p:sp>
      <p:sp>
        <p:nvSpPr>
          <p:cNvPr id="71" name="Text Box 18"/>
          <p:cNvSpPr txBox="1">
            <a:spLocks noChangeArrowheads="1"/>
          </p:cNvSpPr>
          <p:nvPr/>
        </p:nvSpPr>
        <p:spPr bwMode="auto">
          <a:xfrm>
            <a:off x="7829008" y="3773489"/>
            <a:ext cx="785786" cy="357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cs typeface="Arial" pitchFamily="34" charset="0"/>
            </a:endParaRPr>
          </a:p>
        </p:txBody>
      </p:sp>
      <p:cxnSp>
        <p:nvCxnSpPr>
          <p:cNvPr id="72" name="מחבר ישר 71"/>
          <p:cNvCxnSpPr/>
          <p:nvPr/>
        </p:nvCxnSpPr>
        <p:spPr>
          <a:xfrm rot="16200000" flipV="1">
            <a:off x="4769545" y="3275946"/>
            <a:ext cx="947355" cy="18658"/>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3" name="מחבר ישר 72"/>
          <p:cNvCxnSpPr>
            <a:cxnSpLocks/>
          </p:cNvCxnSpPr>
          <p:nvPr/>
        </p:nvCxnSpPr>
        <p:spPr>
          <a:xfrm flipH="1" flipV="1">
            <a:off x="2192105" y="2849795"/>
            <a:ext cx="18658" cy="894577"/>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4" name="Text Box 18"/>
          <p:cNvSpPr txBox="1">
            <a:spLocks noChangeArrowheads="1"/>
          </p:cNvSpPr>
          <p:nvPr/>
        </p:nvSpPr>
        <p:spPr bwMode="auto">
          <a:xfrm>
            <a:off x="9777544" y="3787779"/>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X</a:t>
            </a:r>
            <a:endParaRPr lang="he-IL" sz="3600" dirty="0">
              <a:latin typeface="Arial" pitchFamily="34" charset="0"/>
              <a:cs typeface="Arial" pitchFamily="34" charset="0"/>
            </a:endParaRPr>
          </a:p>
        </p:txBody>
      </p:sp>
      <p:sp>
        <p:nvSpPr>
          <p:cNvPr id="43" name="כותרת 1"/>
          <p:cNvSpPr txBox="1">
            <a:spLocks/>
          </p:cNvSpPr>
          <p:nvPr/>
        </p:nvSpPr>
        <p:spPr>
          <a:xfrm>
            <a:off x="10216088" y="307481"/>
            <a:ext cx="1912106" cy="500042"/>
          </a:xfrm>
          <a:prstGeom prst="rect">
            <a:avLst/>
          </a:prstGeom>
        </p:spPr>
        <p:txBody>
          <a:bodyPr vert="horz" lIns="91440" tIns="45720" rIns="91440" bIns="45720" rtlCol="1" anchor="ctr">
            <a:no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lgn="r"/>
            <a:r>
              <a:rPr lang="he-IL" sz="4000" b="1" dirty="0">
                <a:cs typeface="+mn-cs"/>
              </a:rPr>
              <a:t>שאלה 5</a:t>
            </a:r>
            <a:endParaRPr lang="he-IL" sz="2400" b="1" dirty="0">
              <a:cs typeface="+mn-cs"/>
            </a:endParaRPr>
          </a:p>
        </p:txBody>
      </p:sp>
      <p:sp>
        <p:nvSpPr>
          <p:cNvPr id="2" name="Arc 1">
            <a:extLst>
              <a:ext uri="{FF2B5EF4-FFF2-40B4-BE49-F238E27FC236}">
                <a16:creationId xmlns:a16="http://schemas.microsoft.com/office/drawing/2014/main" id="{7D91DCF3-BE2D-43A2-98EF-18417A8F26F8}"/>
              </a:ext>
            </a:extLst>
          </p:cNvPr>
          <p:cNvSpPr/>
          <p:nvPr/>
        </p:nvSpPr>
        <p:spPr>
          <a:xfrm rot="10800000">
            <a:off x="1988504" y="381189"/>
            <a:ext cx="3197267" cy="3312367"/>
          </a:xfrm>
          <a:prstGeom prst="arc">
            <a:avLst>
              <a:gd name="adj1" fmla="val 17010548"/>
              <a:gd name="adj2" fmla="val 21202821"/>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44" name="Arc 43">
            <a:extLst>
              <a:ext uri="{FF2B5EF4-FFF2-40B4-BE49-F238E27FC236}">
                <a16:creationId xmlns:a16="http://schemas.microsoft.com/office/drawing/2014/main" id="{2CF74A7F-E844-44E3-9EFA-BF3C771D26E9}"/>
              </a:ext>
            </a:extLst>
          </p:cNvPr>
          <p:cNvSpPr/>
          <p:nvPr/>
        </p:nvSpPr>
        <p:spPr>
          <a:xfrm rot="10800000">
            <a:off x="4965753" y="276267"/>
            <a:ext cx="3197267" cy="3312367"/>
          </a:xfrm>
          <a:prstGeom prst="arc">
            <a:avLst>
              <a:gd name="adj1" fmla="val 17209403"/>
              <a:gd name="adj2" fmla="val 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45" name="Arc 44">
            <a:extLst>
              <a:ext uri="{FF2B5EF4-FFF2-40B4-BE49-F238E27FC236}">
                <a16:creationId xmlns:a16="http://schemas.microsoft.com/office/drawing/2014/main" id="{F6087A3B-DECB-4F48-9CF8-0449A9B74D8B}"/>
              </a:ext>
            </a:extLst>
          </p:cNvPr>
          <p:cNvSpPr/>
          <p:nvPr/>
        </p:nvSpPr>
        <p:spPr>
          <a:xfrm rot="10800000">
            <a:off x="7600420" y="431389"/>
            <a:ext cx="4768031" cy="2819017"/>
          </a:xfrm>
          <a:prstGeom prst="arc">
            <a:avLst>
              <a:gd name="adj1" fmla="val 17389242"/>
              <a:gd name="adj2" fmla="val 0"/>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sp>
        <p:nvSpPr>
          <p:cNvPr id="31" name="TextBox 30">
            <a:extLst>
              <a:ext uri="{FF2B5EF4-FFF2-40B4-BE49-F238E27FC236}">
                <a16:creationId xmlns:a16="http://schemas.microsoft.com/office/drawing/2014/main" id="{3780DAF1-0A28-4965-BA36-F70463032355}"/>
              </a:ext>
            </a:extLst>
          </p:cNvPr>
          <p:cNvSpPr txBox="1"/>
          <p:nvPr/>
        </p:nvSpPr>
        <p:spPr>
          <a:xfrm>
            <a:off x="1590133" y="4271155"/>
            <a:ext cx="8791290" cy="703847"/>
          </a:xfrm>
          <a:prstGeom prst="rect">
            <a:avLst/>
          </a:prstGeom>
          <a:noFill/>
        </p:spPr>
        <p:txBody>
          <a:bodyPr wrap="square">
            <a:spAutoFit/>
          </a:bodyPr>
          <a:lstStyle/>
          <a:p>
            <a:pPr algn="r" rtl="1">
              <a:lnSpc>
                <a:spcPct val="150000"/>
              </a:lnSpc>
            </a:pPr>
            <a:r>
              <a:rPr lang="he-IL" sz="1400" dirty="0"/>
              <a:t>לאחרונה חלה ירידה במחיר מוצר </a:t>
            </a:r>
            <a:r>
              <a:rPr lang="en-US" sz="1400" dirty="0"/>
              <a:t>Y</a:t>
            </a:r>
            <a:r>
              <a:rPr lang="he-IL" sz="1400" dirty="0"/>
              <a:t>. ידוע שמוצר </a:t>
            </a:r>
            <a:r>
              <a:rPr lang="en-US" sz="1400" dirty="0"/>
              <a:t>Y</a:t>
            </a:r>
            <a:r>
              <a:rPr lang="he-IL" sz="1400" dirty="0"/>
              <a:t> הינו מוצר משלים ל-</a:t>
            </a:r>
            <a:r>
              <a:rPr lang="en-US" sz="1400" dirty="0"/>
              <a:t>X</a:t>
            </a:r>
            <a:r>
              <a:rPr lang="he-IL" sz="1400" dirty="0"/>
              <a:t> עבור עיר א' ומוצר בלתי תלוי ל</a:t>
            </a:r>
            <a:r>
              <a:rPr lang="en-US" sz="1400" dirty="0"/>
              <a:t>x</a:t>
            </a:r>
            <a:r>
              <a:rPr lang="he-IL" sz="1400" dirty="0"/>
              <a:t> עבור צרכני עיר ב'.</a:t>
            </a:r>
            <a:br>
              <a:rPr lang="en-US" sz="1400" dirty="0"/>
            </a:br>
            <a:r>
              <a:rPr lang="he-IL" sz="1400" dirty="0"/>
              <a:t>בחרו בתשובה הנכונה בעקבות השינוי המתואר (ירידת </a:t>
            </a:r>
            <a:r>
              <a:rPr lang="en-US" sz="1400" dirty="0"/>
              <a:t>PY</a:t>
            </a:r>
            <a:r>
              <a:rPr lang="he-IL" sz="1400" dirty="0"/>
              <a:t>):</a:t>
            </a:r>
          </a:p>
        </p:txBody>
      </p:sp>
      <p:sp>
        <p:nvSpPr>
          <p:cNvPr id="32" name="Arc 31">
            <a:extLst>
              <a:ext uri="{FF2B5EF4-FFF2-40B4-BE49-F238E27FC236}">
                <a16:creationId xmlns:a16="http://schemas.microsoft.com/office/drawing/2014/main" id="{538FCE8D-48CB-49AB-9DD4-B9650B70D9F0}"/>
              </a:ext>
            </a:extLst>
          </p:cNvPr>
          <p:cNvSpPr/>
          <p:nvPr/>
        </p:nvSpPr>
        <p:spPr>
          <a:xfrm rot="10800000">
            <a:off x="2331101" y="235974"/>
            <a:ext cx="3197267" cy="3312367"/>
          </a:xfrm>
          <a:prstGeom prst="arc">
            <a:avLst>
              <a:gd name="adj1" fmla="val 16840586"/>
              <a:gd name="adj2" fmla="val 21129184"/>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9A488D7C-3939-471A-AE64-6FED708BE0B3}"/>
                  </a:ext>
                </a:extLst>
              </p:cNvPr>
              <p:cNvSpPr txBox="1"/>
              <p:nvPr/>
            </p:nvSpPr>
            <p:spPr>
              <a:xfrm>
                <a:off x="2962455" y="3496238"/>
                <a:ext cx="1489167"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i="1">
                              <a:solidFill>
                                <a:schemeClr val="accent1"/>
                              </a:solidFill>
                              <a:latin typeface="Cambria Math" panose="02040503050406030204" pitchFamily="18" charset="0"/>
                            </a:rPr>
                          </m:ctrlPr>
                        </m:sSubPr>
                        <m:e>
                          <m:r>
                            <a:rPr lang="en-US" sz="1600" i="1">
                              <a:solidFill>
                                <a:schemeClr val="accent1"/>
                              </a:solidFill>
                              <a:latin typeface="Cambria Math" panose="02040503050406030204" pitchFamily="18" charset="0"/>
                            </a:rPr>
                            <m:t>𝐷</m:t>
                          </m:r>
                        </m:e>
                        <m:sub>
                          <m:r>
                            <a:rPr lang="en-US" sz="1600" i="1">
                              <a:solidFill>
                                <a:schemeClr val="accent1"/>
                              </a:solidFill>
                              <a:latin typeface="Cambria Math" panose="02040503050406030204" pitchFamily="18" charset="0"/>
                            </a:rPr>
                            <m:t>0</m:t>
                          </m:r>
                        </m:sub>
                      </m:sSub>
                      <m:r>
                        <a:rPr lang="en-US" sz="1600">
                          <a:solidFill>
                            <a:schemeClr val="accent1"/>
                          </a:solidFill>
                          <a:latin typeface="Cambria Math" panose="02040503050406030204" pitchFamily="18" charset="0"/>
                        </a:rPr>
                        <m:t>(</m:t>
                      </m:r>
                      <m:r>
                        <m:rPr>
                          <m:sty m:val="p"/>
                        </m:rPr>
                        <a:rPr lang="en-US" sz="1600">
                          <a:solidFill>
                            <a:schemeClr val="accent1"/>
                          </a:solidFill>
                          <a:latin typeface="Cambria Math" panose="02040503050406030204" pitchFamily="18" charset="0"/>
                        </a:rPr>
                        <m:t>Py</m:t>
                      </m:r>
                      <m:r>
                        <a:rPr lang="en-US" sz="1600">
                          <a:solidFill>
                            <a:schemeClr val="accent1"/>
                          </a:solidFill>
                          <a:latin typeface="Cambria Math" panose="02040503050406030204" pitchFamily="18" charset="0"/>
                        </a:rPr>
                        <m:t>=</m:t>
                      </m:r>
                      <m:r>
                        <a:rPr lang="en-US" sz="1600">
                          <a:solidFill>
                            <a:schemeClr val="accent1"/>
                          </a:solidFill>
                          <a:latin typeface="Cambria Math" panose="02040503050406030204" pitchFamily="18" charset="0"/>
                        </a:rPr>
                        <m:t>4</m:t>
                      </m:r>
                      <m:r>
                        <a:rPr lang="en-US" sz="1600">
                          <a:solidFill>
                            <a:schemeClr val="accent1"/>
                          </a:solidFill>
                          <a:latin typeface="Cambria Math" panose="02040503050406030204" pitchFamily="18" charset="0"/>
                        </a:rPr>
                        <m:t>)</m:t>
                      </m:r>
                    </m:oMath>
                  </m:oMathPara>
                </a14:m>
                <a:endParaRPr lang="aa-ET" dirty="0"/>
              </a:p>
            </p:txBody>
          </p:sp>
        </mc:Choice>
        <mc:Fallback xmlns="">
          <p:sp>
            <p:nvSpPr>
              <p:cNvPr id="33" name="TextBox 32">
                <a:extLst>
                  <a:ext uri="{FF2B5EF4-FFF2-40B4-BE49-F238E27FC236}">
                    <a16:creationId xmlns:a16="http://schemas.microsoft.com/office/drawing/2014/main" id="{9A488D7C-3939-471A-AE64-6FED708BE0B3}"/>
                  </a:ext>
                </a:extLst>
              </p:cNvPr>
              <p:cNvSpPr txBox="1">
                <a:spLocks noRot="1" noChangeAspect="1" noMove="1" noResize="1" noEditPoints="1" noAdjustHandles="1" noChangeArrowheads="1" noChangeShapeType="1" noTextEdit="1"/>
              </p:cNvSpPr>
              <p:nvPr/>
            </p:nvSpPr>
            <p:spPr>
              <a:xfrm>
                <a:off x="2962455" y="3496238"/>
                <a:ext cx="1489167" cy="246221"/>
              </a:xfrm>
              <a:prstGeom prst="rect">
                <a:avLst/>
              </a:prstGeom>
              <a:blipFill>
                <a:blip r:embed="rId2"/>
                <a:stretch>
                  <a:fillRect b="-32500"/>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C67CDBF-5276-4571-A5E7-8DA6453588B3}"/>
                  </a:ext>
                </a:extLst>
              </p:cNvPr>
              <p:cNvSpPr txBox="1"/>
              <p:nvPr/>
            </p:nvSpPr>
            <p:spPr>
              <a:xfrm>
                <a:off x="3160732" y="3151196"/>
                <a:ext cx="1253910" cy="276999"/>
              </a:xfrm>
              <a:prstGeom prst="rect">
                <a:avLst/>
              </a:prstGeom>
              <a:noFill/>
            </p:spPr>
            <p:txBody>
              <a:bodyPr wrap="square" lIns="0" tIns="0" rIns="0" bIns="0" rtlCol="0">
                <a:spAutoFit/>
              </a:bodyPr>
              <a:lstStyle/>
              <a:p>
                <a14:m>
                  <m:oMath xmlns:m="http://schemas.openxmlformats.org/officeDocument/2006/math">
                    <m:sSub>
                      <m:sSubPr>
                        <m:ctrlPr>
                          <a:rPr lang="aa-ET" sz="1600" b="1" i="1">
                            <a:solidFill>
                              <a:srgbClr val="C00000"/>
                            </a:solidFill>
                            <a:latin typeface="Cambria Math" panose="02040503050406030204" pitchFamily="18" charset="0"/>
                          </a:rPr>
                        </m:ctrlPr>
                      </m:sSubPr>
                      <m:e>
                        <m:r>
                          <a:rPr lang="en-US" sz="1600" b="1" i="1">
                            <a:solidFill>
                              <a:srgbClr val="C00000"/>
                            </a:solidFill>
                            <a:latin typeface="Cambria Math" panose="02040503050406030204" pitchFamily="18" charset="0"/>
                          </a:rPr>
                          <m:t>𝑫</m:t>
                        </m:r>
                      </m:e>
                      <m:sub>
                        <m:r>
                          <a:rPr lang="en-US" sz="1600" b="1" i="1">
                            <a:solidFill>
                              <a:srgbClr val="C00000"/>
                            </a:solidFill>
                            <a:latin typeface="Cambria Math" panose="02040503050406030204" pitchFamily="18" charset="0"/>
                          </a:rPr>
                          <m:t>𝟏</m:t>
                        </m:r>
                      </m:sub>
                    </m:sSub>
                  </m:oMath>
                </a14:m>
                <a:r>
                  <a:rPr lang="en-US" b="1" dirty="0"/>
                  <a:t>(</a:t>
                </a:r>
                <a14:m>
                  <m:oMath xmlns:m="http://schemas.openxmlformats.org/officeDocument/2006/math">
                    <m:r>
                      <a:rPr lang="en-US" sz="1400" b="1" i="1">
                        <a:solidFill>
                          <a:srgbClr val="C00000"/>
                        </a:solidFill>
                        <a:latin typeface="Cambria Math" panose="02040503050406030204" pitchFamily="18" charset="0"/>
                      </a:rPr>
                      <m:t>𝐏𝐲</m:t>
                    </m:r>
                    <m:r>
                      <a:rPr lang="en-US" sz="1400" b="1">
                        <a:solidFill>
                          <a:srgbClr val="C00000"/>
                        </a:solidFill>
                        <a:latin typeface="Cambria Math" panose="02040503050406030204" pitchFamily="18" charset="0"/>
                      </a:rPr>
                      <m:t>=</m:t>
                    </m:r>
                    <m:r>
                      <a:rPr lang="en-US" sz="1400" b="1">
                        <a:solidFill>
                          <a:srgbClr val="C00000"/>
                        </a:solidFill>
                        <a:latin typeface="Cambria Math" panose="02040503050406030204" pitchFamily="18" charset="0"/>
                      </a:rPr>
                      <m:t>𝟐</m:t>
                    </m:r>
                  </m:oMath>
                </a14:m>
                <a:r>
                  <a:rPr lang="en-US" b="1" dirty="0"/>
                  <a:t>)</a:t>
                </a:r>
                <a:endParaRPr lang="aa-ET" b="1" dirty="0"/>
              </a:p>
            </p:txBody>
          </p:sp>
        </mc:Choice>
        <mc:Fallback xmlns="">
          <p:sp>
            <p:nvSpPr>
              <p:cNvPr id="38" name="TextBox 37">
                <a:extLst>
                  <a:ext uri="{FF2B5EF4-FFF2-40B4-BE49-F238E27FC236}">
                    <a16:creationId xmlns:a16="http://schemas.microsoft.com/office/drawing/2014/main" id="{3C67CDBF-5276-4571-A5E7-8DA6453588B3}"/>
                  </a:ext>
                </a:extLst>
              </p:cNvPr>
              <p:cNvSpPr txBox="1">
                <a:spLocks noRot="1" noChangeAspect="1" noMove="1" noResize="1" noEditPoints="1" noAdjustHandles="1" noChangeArrowheads="1" noChangeShapeType="1" noTextEdit="1"/>
              </p:cNvSpPr>
              <p:nvPr/>
            </p:nvSpPr>
            <p:spPr>
              <a:xfrm>
                <a:off x="3160732" y="3151196"/>
                <a:ext cx="1253910" cy="276999"/>
              </a:xfrm>
              <a:prstGeom prst="rect">
                <a:avLst/>
              </a:prstGeom>
              <a:blipFill>
                <a:blip r:embed="rId3"/>
                <a:stretch>
                  <a:fillRect t="-28889" r="-11650" b="-51111"/>
                </a:stretch>
              </a:blipFill>
            </p:spPr>
            <p:txBody>
              <a:bodyPr/>
              <a:lstStyle/>
              <a:p>
                <a:r>
                  <a:rPr lang="en-IL">
                    <a:noFill/>
                  </a:rPr>
                  <a:t> </a:t>
                </a:r>
              </a:p>
            </p:txBody>
          </p:sp>
        </mc:Fallback>
      </mc:AlternateContent>
      <p:sp>
        <p:nvSpPr>
          <p:cNvPr id="50" name="Arc 49">
            <a:extLst>
              <a:ext uri="{FF2B5EF4-FFF2-40B4-BE49-F238E27FC236}">
                <a16:creationId xmlns:a16="http://schemas.microsoft.com/office/drawing/2014/main" id="{97823A7A-480F-4599-9E0D-9CE0BB87C8AD}"/>
              </a:ext>
            </a:extLst>
          </p:cNvPr>
          <p:cNvSpPr/>
          <p:nvPr/>
        </p:nvSpPr>
        <p:spPr>
          <a:xfrm rot="10800000">
            <a:off x="7856086" y="-245271"/>
            <a:ext cx="4151151" cy="3312367"/>
          </a:xfrm>
          <a:prstGeom prst="arc">
            <a:avLst>
              <a:gd name="adj1" fmla="val 16293465"/>
              <a:gd name="adj2" fmla="val 21129184"/>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5C1219DC-ECB0-49FD-80C8-7F053F05EF4B}"/>
                  </a:ext>
                </a:extLst>
              </p:cNvPr>
              <p:cNvSpPr txBox="1"/>
              <p:nvPr/>
            </p:nvSpPr>
            <p:spPr>
              <a:xfrm>
                <a:off x="8881505" y="2584368"/>
                <a:ext cx="1253910" cy="27629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b="1" i="1">
                              <a:solidFill>
                                <a:srgbClr val="C00000"/>
                              </a:solidFill>
                              <a:latin typeface="Cambria Math" panose="02040503050406030204" pitchFamily="18" charset="0"/>
                            </a:rPr>
                          </m:ctrlPr>
                        </m:sSubPr>
                        <m:e>
                          <m:r>
                            <a:rPr lang="en-US" sz="1600" b="1" i="1">
                              <a:solidFill>
                                <a:srgbClr val="C00000"/>
                              </a:solidFill>
                              <a:latin typeface="Cambria Math" panose="02040503050406030204" pitchFamily="18" charset="0"/>
                            </a:rPr>
                            <m:t>𝑫</m:t>
                          </m:r>
                        </m:e>
                        <m:sub>
                          <m:r>
                            <a:rPr lang="en-US" sz="1600" b="1" i="1">
                              <a:solidFill>
                                <a:srgbClr val="C00000"/>
                              </a:solidFill>
                              <a:latin typeface="Cambria Math" panose="02040503050406030204" pitchFamily="18" charset="0"/>
                            </a:rPr>
                            <m:t>𝟏</m:t>
                          </m:r>
                        </m:sub>
                      </m:sSub>
                      <m:r>
                        <a:rPr lang="he-IL" sz="1600" b="1">
                          <a:solidFill>
                            <a:srgbClr val="C00000"/>
                          </a:solidFill>
                          <a:latin typeface="Cambria Math" panose="02040503050406030204" pitchFamily="18" charset="0"/>
                        </a:rPr>
                        <m:t> </m:t>
                      </m:r>
                      <m:r>
                        <a:rPr lang="he-IL" sz="1600" b="1">
                          <a:solidFill>
                            <a:srgbClr val="C00000"/>
                          </a:solidFill>
                          <a:latin typeface="Cambria Math" panose="02040503050406030204" pitchFamily="18" charset="0"/>
                        </a:rPr>
                        <m:t>מצרפי</m:t>
                      </m:r>
                    </m:oMath>
                  </m:oMathPara>
                </a14:m>
                <a:endParaRPr lang="aa-ET" b="1" dirty="0"/>
              </a:p>
            </p:txBody>
          </p:sp>
        </mc:Choice>
        <mc:Fallback xmlns="">
          <p:sp>
            <p:nvSpPr>
              <p:cNvPr id="52" name="TextBox 51">
                <a:extLst>
                  <a:ext uri="{FF2B5EF4-FFF2-40B4-BE49-F238E27FC236}">
                    <a16:creationId xmlns:a16="http://schemas.microsoft.com/office/drawing/2014/main" id="{5C1219DC-ECB0-49FD-80C8-7F053F05EF4B}"/>
                  </a:ext>
                </a:extLst>
              </p:cNvPr>
              <p:cNvSpPr txBox="1">
                <a:spLocks noRot="1" noChangeAspect="1" noMove="1" noResize="1" noEditPoints="1" noAdjustHandles="1" noChangeArrowheads="1" noChangeShapeType="1" noTextEdit="1"/>
              </p:cNvSpPr>
              <p:nvPr/>
            </p:nvSpPr>
            <p:spPr>
              <a:xfrm>
                <a:off x="8881505" y="2584368"/>
                <a:ext cx="1253910" cy="276294"/>
              </a:xfrm>
              <a:prstGeom prst="rect">
                <a:avLst/>
              </a:prstGeom>
              <a:blipFill>
                <a:blip r:embed="rId4"/>
                <a:stretch>
                  <a:fillRect t="-15556" b="-42222"/>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1574BE7D-D022-490B-ABB6-1A86670495AB}"/>
                  </a:ext>
                </a:extLst>
              </p:cNvPr>
              <p:cNvSpPr txBox="1"/>
              <p:nvPr/>
            </p:nvSpPr>
            <p:spPr>
              <a:xfrm>
                <a:off x="8885207" y="3337797"/>
                <a:ext cx="1278065" cy="27629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b="1" i="1">
                              <a:solidFill>
                                <a:schemeClr val="accent5">
                                  <a:lumMod val="50000"/>
                                </a:schemeClr>
                              </a:solidFill>
                              <a:latin typeface="Cambria Math" panose="02040503050406030204" pitchFamily="18" charset="0"/>
                            </a:rPr>
                          </m:ctrlPr>
                        </m:sSubPr>
                        <m:e>
                          <m:r>
                            <a:rPr lang="en-US" sz="1600" b="1" i="1">
                              <a:solidFill>
                                <a:schemeClr val="accent5">
                                  <a:lumMod val="50000"/>
                                </a:schemeClr>
                              </a:solidFill>
                              <a:latin typeface="Cambria Math" panose="02040503050406030204" pitchFamily="18" charset="0"/>
                            </a:rPr>
                            <m:t>𝑫</m:t>
                          </m:r>
                        </m:e>
                        <m:sub>
                          <m:r>
                            <a:rPr lang="en-US" sz="1600" b="1" i="1">
                              <a:solidFill>
                                <a:schemeClr val="accent5">
                                  <a:lumMod val="50000"/>
                                </a:schemeClr>
                              </a:solidFill>
                              <a:latin typeface="Cambria Math" panose="02040503050406030204" pitchFamily="18" charset="0"/>
                            </a:rPr>
                            <m:t>𝟎</m:t>
                          </m:r>
                        </m:sub>
                      </m:sSub>
                      <m:r>
                        <a:rPr lang="he-IL" sz="1600" b="1">
                          <a:solidFill>
                            <a:schemeClr val="accent5">
                              <a:lumMod val="50000"/>
                            </a:schemeClr>
                          </a:solidFill>
                          <a:latin typeface="Cambria Math" panose="02040503050406030204" pitchFamily="18" charset="0"/>
                        </a:rPr>
                        <m:t>מצרפי</m:t>
                      </m:r>
                    </m:oMath>
                  </m:oMathPara>
                </a14:m>
                <a:endParaRPr lang="aa-ET" b="1" dirty="0"/>
              </a:p>
            </p:txBody>
          </p:sp>
        </mc:Choice>
        <mc:Fallback xmlns="">
          <p:sp>
            <p:nvSpPr>
              <p:cNvPr id="53" name="TextBox 52">
                <a:extLst>
                  <a:ext uri="{FF2B5EF4-FFF2-40B4-BE49-F238E27FC236}">
                    <a16:creationId xmlns:a16="http://schemas.microsoft.com/office/drawing/2014/main" id="{1574BE7D-D022-490B-ABB6-1A86670495AB}"/>
                  </a:ext>
                </a:extLst>
              </p:cNvPr>
              <p:cNvSpPr txBox="1">
                <a:spLocks noRot="1" noChangeAspect="1" noMove="1" noResize="1" noEditPoints="1" noAdjustHandles="1" noChangeArrowheads="1" noChangeShapeType="1" noTextEdit="1"/>
              </p:cNvSpPr>
              <p:nvPr/>
            </p:nvSpPr>
            <p:spPr>
              <a:xfrm>
                <a:off x="8885207" y="3337797"/>
                <a:ext cx="1278065" cy="276294"/>
              </a:xfrm>
              <a:prstGeom prst="rect">
                <a:avLst/>
              </a:prstGeom>
              <a:blipFill>
                <a:blip r:embed="rId5"/>
                <a:stretch>
                  <a:fillRect t="-15556" b="-42222"/>
                </a:stretch>
              </a:blipFill>
            </p:spPr>
            <p:txBody>
              <a:bodyPr/>
              <a:lstStyle/>
              <a:p>
                <a:r>
                  <a:rPr lang="en-IL">
                    <a:noFill/>
                  </a:rPr>
                  <a:t> </a:t>
                </a:r>
              </a:p>
            </p:txBody>
          </p:sp>
        </mc:Fallback>
      </mc:AlternateContent>
      <p:cxnSp>
        <p:nvCxnSpPr>
          <p:cNvPr id="54" name="מחבר ישר 57">
            <a:extLst>
              <a:ext uri="{FF2B5EF4-FFF2-40B4-BE49-F238E27FC236}">
                <a16:creationId xmlns:a16="http://schemas.microsoft.com/office/drawing/2014/main" id="{E470F5E4-A2C2-468E-A00E-775237584C15}"/>
              </a:ext>
            </a:extLst>
          </p:cNvPr>
          <p:cNvCxnSpPr>
            <a:cxnSpLocks/>
          </p:cNvCxnSpPr>
          <p:nvPr/>
        </p:nvCxnSpPr>
        <p:spPr>
          <a:xfrm flipV="1">
            <a:off x="8716274" y="2767173"/>
            <a:ext cx="0" cy="991780"/>
          </a:xfrm>
          <a:prstGeom prst="line">
            <a:avLst/>
          </a:prstGeom>
          <a:ln w="1905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55" name="Text Box 18">
            <a:extLst>
              <a:ext uri="{FF2B5EF4-FFF2-40B4-BE49-F238E27FC236}">
                <a16:creationId xmlns:a16="http://schemas.microsoft.com/office/drawing/2014/main" id="{7A1716D8-DC6B-44A6-B4A7-8C3C6A2BAA31}"/>
              </a:ext>
            </a:extLst>
          </p:cNvPr>
          <p:cNvSpPr txBox="1">
            <a:spLocks noChangeArrowheads="1"/>
          </p:cNvSpPr>
          <p:nvPr/>
        </p:nvSpPr>
        <p:spPr bwMode="auto">
          <a:xfrm>
            <a:off x="2410655" y="3778851"/>
            <a:ext cx="506371"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solidFill>
                  <a:srgbClr val="C00000"/>
                </a:solidFill>
                <a:latin typeface="Calibri" pitchFamily="34" charset="0"/>
                <a:ea typeface="Arial" pitchFamily="34" charset="0"/>
                <a:cs typeface="Arial" pitchFamily="34" charset="0"/>
              </a:rPr>
              <a:t>X1</a:t>
            </a:r>
          </a:p>
        </p:txBody>
      </p:sp>
      <p:sp>
        <p:nvSpPr>
          <p:cNvPr id="56" name="Text Box 18">
            <a:extLst>
              <a:ext uri="{FF2B5EF4-FFF2-40B4-BE49-F238E27FC236}">
                <a16:creationId xmlns:a16="http://schemas.microsoft.com/office/drawing/2014/main" id="{BC94EE0F-4E50-4097-8946-378C2B5B4B3E}"/>
              </a:ext>
            </a:extLst>
          </p:cNvPr>
          <p:cNvSpPr txBox="1">
            <a:spLocks noChangeArrowheads="1"/>
          </p:cNvSpPr>
          <p:nvPr/>
        </p:nvSpPr>
        <p:spPr bwMode="auto">
          <a:xfrm>
            <a:off x="8566090" y="3773912"/>
            <a:ext cx="873322" cy="38739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l" fontAlgn="base">
              <a:spcBef>
                <a:spcPct val="0"/>
              </a:spcBef>
              <a:spcAft>
                <a:spcPts val="1000"/>
              </a:spcAft>
            </a:pPr>
            <a:r>
              <a:rPr lang="en-US" sz="2000" dirty="0">
                <a:solidFill>
                  <a:srgbClr val="C00000"/>
                </a:solidFill>
                <a:latin typeface="Calibri" pitchFamily="34" charset="0"/>
                <a:ea typeface="Arial" pitchFamily="34" charset="0"/>
                <a:cs typeface="Arial" pitchFamily="34" charset="0"/>
              </a:rPr>
              <a:t>X</a:t>
            </a:r>
            <a:r>
              <a:rPr lang="en-US" sz="1600" dirty="0">
                <a:solidFill>
                  <a:srgbClr val="C00000"/>
                </a:solidFill>
                <a:latin typeface="Calibri" pitchFamily="34" charset="0"/>
                <a:ea typeface="Arial" pitchFamily="34" charset="0"/>
                <a:cs typeface="Arial" pitchFamily="34" charset="0"/>
              </a:rPr>
              <a:t>1</a:t>
            </a:r>
            <a:endParaRPr lang="he-IL" sz="3600" dirty="0">
              <a:solidFill>
                <a:srgbClr val="C00000"/>
              </a:solidFill>
              <a:latin typeface="Arial" pitchFamily="34" charset="0"/>
              <a:cs typeface="Arial" pitchFamily="34" charset="0"/>
            </a:endParaRPr>
          </a:p>
        </p:txBody>
      </p:sp>
      <p:cxnSp>
        <p:nvCxnSpPr>
          <p:cNvPr id="57" name="מחבר ישר 72">
            <a:extLst>
              <a:ext uri="{FF2B5EF4-FFF2-40B4-BE49-F238E27FC236}">
                <a16:creationId xmlns:a16="http://schemas.microsoft.com/office/drawing/2014/main" id="{B849846E-BDA0-4269-866D-32D68741B057}"/>
              </a:ext>
            </a:extLst>
          </p:cNvPr>
          <p:cNvCxnSpPr>
            <a:cxnSpLocks/>
          </p:cNvCxnSpPr>
          <p:nvPr/>
        </p:nvCxnSpPr>
        <p:spPr>
          <a:xfrm flipH="1" flipV="1">
            <a:off x="2565688" y="2722515"/>
            <a:ext cx="4236" cy="1062298"/>
          </a:xfrm>
          <a:prstGeom prst="line">
            <a:avLst/>
          </a:prstGeom>
          <a:ln>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C0E15388-A501-41C1-B2D6-000584F2E4C3}"/>
              </a:ext>
            </a:extLst>
          </p:cNvPr>
          <p:cNvSpPr txBox="1"/>
          <p:nvPr/>
        </p:nvSpPr>
        <p:spPr>
          <a:xfrm>
            <a:off x="1631509" y="182125"/>
            <a:ext cx="6879209" cy="369332"/>
          </a:xfrm>
          <a:prstGeom prst="rect">
            <a:avLst/>
          </a:prstGeom>
          <a:noFill/>
        </p:spPr>
        <p:txBody>
          <a:bodyPr wrap="square">
            <a:spAutoFit/>
          </a:bodyPr>
          <a:lstStyle/>
          <a:p>
            <a:pPr algn="r" rtl="1"/>
            <a:r>
              <a:rPr lang="he-IL" dirty="0"/>
              <a:t>במשק מסוים ישנם צרכני עיר א' וצרכני עיר ב' הבמקשים לרכוש את מוצר </a:t>
            </a:r>
            <a:r>
              <a:rPr lang="en-US" dirty="0"/>
              <a:t>X</a:t>
            </a:r>
            <a:r>
              <a:rPr lang="he-IL" dirty="0"/>
              <a:t>. </a:t>
            </a:r>
            <a:endParaRPr lang="en-IL" dirty="0"/>
          </a:p>
        </p:txBody>
      </p:sp>
      <p:sp>
        <p:nvSpPr>
          <p:cNvPr id="60" name="Arc 59">
            <a:extLst>
              <a:ext uri="{FF2B5EF4-FFF2-40B4-BE49-F238E27FC236}">
                <a16:creationId xmlns:a16="http://schemas.microsoft.com/office/drawing/2014/main" id="{66F0494A-24BD-49A2-A801-13DB8C58EC7A}"/>
              </a:ext>
            </a:extLst>
          </p:cNvPr>
          <p:cNvSpPr/>
          <p:nvPr/>
        </p:nvSpPr>
        <p:spPr>
          <a:xfrm rot="15717349" flipH="1" flipV="1">
            <a:off x="6043215" y="-413656"/>
            <a:ext cx="2797296" cy="4257979"/>
          </a:xfrm>
          <a:prstGeom prst="arc">
            <a:avLst>
              <a:gd name="adj1" fmla="val 17093280"/>
              <a:gd name="adj2" fmla="val 0"/>
            </a:avLst>
          </a:prstGeom>
          <a:ln/>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sp>
        <p:nvSpPr>
          <p:cNvPr id="61" name="TextBox 60">
            <a:extLst>
              <a:ext uri="{FF2B5EF4-FFF2-40B4-BE49-F238E27FC236}">
                <a16:creationId xmlns:a16="http://schemas.microsoft.com/office/drawing/2014/main" id="{4E3F6882-4D41-4F27-8A2A-912692DEDFB0}"/>
              </a:ext>
            </a:extLst>
          </p:cNvPr>
          <p:cNvSpPr txBox="1"/>
          <p:nvPr/>
        </p:nvSpPr>
        <p:spPr>
          <a:xfrm>
            <a:off x="9439412" y="1699699"/>
            <a:ext cx="369012" cy="369332"/>
          </a:xfrm>
          <a:prstGeom prst="rect">
            <a:avLst/>
          </a:prstGeom>
          <a:noFill/>
        </p:spPr>
        <p:txBody>
          <a:bodyPr wrap="none" rtlCol="1">
            <a:spAutoFit/>
          </a:bodyPr>
          <a:lstStyle/>
          <a:p>
            <a:r>
              <a:rPr lang="en-US" dirty="0"/>
              <a:t>S</a:t>
            </a:r>
            <a:r>
              <a:rPr lang="en-US" baseline="-25000" dirty="0"/>
              <a:t>0</a:t>
            </a:r>
            <a:endParaRPr lang="he-IL" baseline="-25000" dirty="0"/>
          </a:p>
        </p:txBody>
      </p:sp>
      <p:cxnSp>
        <p:nvCxnSpPr>
          <p:cNvPr id="62" name="מחבר ישר 33">
            <a:extLst>
              <a:ext uri="{FF2B5EF4-FFF2-40B4-BE49-F238E27FC236}">
                <a16:creationId xmlns:a16="http://schemas.microsoft.com/office/drawing/2014/main" id="{520F4CF3-5B89-470F-86F4-87BC562A2A1C}"/>
              </a:ext>
            </a:extLst>
          </p:cNvPr>
          <p:cNvCxnSpPr>
            <a:cxnSpLocks/>
          </p:cNvCxnSpPr>
          <p:nvPr/>
        </p:nvCxnSpPr>
        <p:spPr>
          <a:xfrm flipH="1" flipV="1">
            <a:off x="1934332" y="2741422"/>
            <a:ext cx="6795296" cy="22667"/>
          </a:xfrm>
          <a:prstGeom prst="line">
            <a:avLst/>
          </a:prstGeom>
          <a:ln>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B69FE5DC-6024-4C88-B8EF-30918824D286}"/>
              </a:ext>
            </a:extLst>
          </p:cNvPr>
          <p:cNvSpPr txBox="1"/>
          <p:nvPr/>
        </p:nvSpPr>
        <p:spPr>
          <a:xfrm>
            <a:off x="4790859" y="5054443"/>
            <a:ext cx="4729162" cy="1668214"/>
          </a:xfrm>
          <a:prstGeom prst="rect">
            <a:avLst/>
          </a:prstGeom>
          <a:noFill/>
        </p:spPr>
        <p:txBody>
          <a:bodyPr wrap="square">
            <a:spAutoFit/>
          </a:bodyPr>
          <a:lstStyle/>
          <a:p>
            <a:pPr algn="r" rtl="1">
              <a:lnSpc>
                <a:spcPct val="150000"/>
              </a:lnSpc>
            </a:pPr>
            <a:r>
              <a:rPr lang="he-IL" sz="1400" dirty="0"/>
              <a:t>א. הכמות שירכשו תושבי עיר ב' לא תשתנה. </a:t>
            </a:r>
          </a:p>
          <a:p>
            <a:pPr algn="r" rtl="1">
              <a:lnSpc>
                <a:spcPct val="150000"/>
              </a:lnSpc>
            </a:pPr>
            <a:r>
              <a:rPr lang="he-IL" sz="1400" b="1" dirty="0">
                <a:highlight>
                  <a:srgbClr val="FFFF00"/>
                </a:highlight>
              </a:rPr>
              <a:t>ב. הכמות שירכשו תושבי עיר א' תעלה.</a:t>
            </a:r>
          </a:p>
          <a:p>
            <a:pPr algn="r" rtl="1">
              <a:lnSpc>
                <a:spcPct val="150000"/>
              </a:lnSpc>
            </a:pPr>
            <a:r>
              <a:rPr lang="he-IL" sz="1400" dirty="0"/>
              <a:t>ג. לא ניתן לדעת מה יקרה להכנסות היצרנים בענף. </a:t>
            </a:r>
          </a:p>
          <a:p>
            <a:pPr algn="r" rtl="1">
              <a:lnSpc>
                <a:spcPct val="150000"/>
              </a:lnSpc>
            </a:pPr>
            <a:r>
              <a:rPr lang="he-IL" sz="1400" dirty="0"/>
              <a:t>ד. ייתכן שעודף צרכני עיר ב' יעלה. </a:t>
            </a:r>
          </a:p>
          <a:p>
            <a:pPr algn="r" rtl="1">
              <a:lnSpc>
                <a:spcPct val="150000"/>
              </a:lnSpc>
            </a:pPr>
            <a:r>
              <a:rPr lang="he-IL" sz="1400" dirty="0"/>
              <a:t>ה. כל התשובות אינן נכונות. </a:t>
            </a:r>
          </a:p>
        </p:txBody>
      </p:sp>
      <p:sp>
        <p:nvSpPr>
          <p:cNvPr id="64" name="Text Box 18">
            <a:extLst>
              <a:ext uri="{FF2B5EF4-FFF2-40B4-BE49-F238E27FC236}">
                <a16:creationId xmlns:a16="http://schemas.microsoft.com/office/drawing/2014/main" id="{86D92EA5-19D7-4B34-8F3D-BBE46B7D82C2}"/>
              </a:ext>
            </a:extLst>
          </p:cNvPr>
          <p:cNvSpPr txBox="1">
            <a:spLocks noChangeArrowheads="1"/>
          </p:cNvSpPr>
          <p:nvPr/>
        </p:nvSpPr>
        <p:spPr bwMode="auto">
          <a:xfrm>
            <a:off x="4757495" y="3758386"/>
            <a:ext cx="495169" cy="4016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gn="l" fontAlgn="base">
              <a:spcBef>
                <a:spcPct val="0"/>
              </a:spcBef>
              <a:spcAft>
                <a:spcPts val="1000"/>
              </a:spcAft>
            </a:pPr>
            <a:r>
              <a:rPr lang="en-US" sz="2000" dirty="0">
                <a:solidFill>
                  <a:srgbClr val="C00000"/>
                </a:solidFill>
                <a:latin typeface="Calibri" pitchFamily="34" charset="0"/>
                <a:ea typeface="Arial" pitchFamily="34" charset="0"/>
                <a:cs typeface="Arial" pitchFamily="34" charset="0"/>
              </a:rPr>
              <a:t>X</a:t>
            </a:r>
            <a:r>
              <a:rPr lang="en-US" sz="1600" dirty="0">
                <a:solidFill>
                  <a:srgbClr val="C00000"/>
                </a:solidFill>
                <a:latin typeface="Calibri" pitchFamily="34" charset="0"/>
                <a:ea typeface="Arial" pitchFamily="34" charset="0"/>
                <a:cs typeface="Arial" pitchFamily="34" charset="0"/>
              </a:rPr>
              <a:t>1</a:t>
            </a:r>
            <a:endParaRPr lang="he-IL" sz="3600" dirty="0">
              <a:solidFill>
                <a:srgbClr val="C00000"/>
              </a:solidFill>
              <a:latin typeface="Arial" pitchFamily="34" charset="0"/>
              <a:cs typeface="Arial" pitchFamily="34" charset="0"/>
            </a:endParaRPr>
          </a:p>
        </p:txBody>
      </p:sp>
      <p:cxnSp>
        <p:nvCxnSpPr>
          <p:cNvPr id="65" name="מחבר ישר 57">
            <a:extLst>
              <a:ext uri="{FF2B5EF4-FFF2-40B4-BE49-F238E27FC236}">
                <a16:creationId xmlns:a16="http://schemas.microsoft.com/office/drawing/2014/main" id="{AF6DA327-4AC1-4926-8417-194F7C57ED8F}"/>
              </a:ext>
            </a:extLst>
          </p:cNvPr>
          <p:cNvCxnSpPr>
            <a:cxnSpLocks/>
          </p:cNvCxnSpPr>
          <p:nvPr/>
        </p:nvCxnSpPr>
        <p:spPr>
          <a:xfrm flipV="1">
            <a:off x="5138099" y="2684552"/>
            <a:ext cx="0" cy="1057906"/>
          </a:xfrm>
          <a:prstGeom prst="line">
            <a:avLst/>
          </a:prstGeom>
          <a:ln w="19050">
            <a:solidFill>
              <a:srgbClr val="C00000"/>
            </a:solidFill>
            <a:prstDash val="sysDash"/>
          </a:ln>
        </p:spPr>
        <p:style>
          <a:lnRef idx="1">
            <a:schemeClr val="accent1"/>
          </a:lnRef>
          <a:fillRef idx="0">
            <a:schemeClr val="accent1"/>
          </a:fillRef>
          <a:effectRef idx="0">
            <a:schemeClr val="accent1"/>
          </a:effectRef>
          <a:fontRef idx="minor">
            <a:schemeClr val="tx1"/>
          </a:fontRef>
        </p:style>
      </p:cxnSp>
      <p:sp>
        <p:nvSpPr>
          <p:cNvPr id="66" name="Text Box 13">
            <a:extLst>
              <a:ext uri="{FF2B5EF4-FFF2-40B4-BE49-F238E27FC236}">
                <a16:creationId xmlns:a16="http://schemas.microsoft.com/office/drawing/2014/main" id="{275D1FC8-E714-4520-B31D-2B00093DED1E}"/>
              </a:ext>
            </a:extLst>
          </p:cNvPr>
          <p:cNvSpPr txBox="1">
            <a:spLocks noChangeArrowheads="1"/>
          </p:cNvSpPr>
          <p:nvPr/>
        </p:nvSpPr>
        <p:spPr bwMode="auto">
          <a:xfrm>
            <a:off x="1450690" y="2433485"/>
            <a:ext cx="500034" cy="27029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b="1" dirty="0">
                <a:solidFill>
                  <a:srgbClr val="C00000"/>
                </a:solidFill>
                <a:latin typeface="Calibri" pitchFamily="34" charset="0"/>
                <a:ea typeface="Arial" pitchFamily="34" charset="0"/>
                <a:cs typeface="Arial" pitchFamily="34" charset="0"/>
              </a:rPr>
              <a:t>P</a:t>
            </a:r>
            <a:r>
              <a:rPr lang="en-US" sz="1400" b="1" dirty="0">
                <a:solidFill>
                  <a:srgbClr val="C00000"/>
                </a:solidFill>
                <a:latin typeface="Calibri" pitchFamily="34" charset="0"/>
                <a:ea typeface="Arial" pitchFamily="34" charset="0"/>
                <a:cs typeface="Arial" pitchFamily="34" charset="0"/>
              </a:rPr>
              <a:t>1</a:t>
            </a:r>
            <a:endParaRPr lang="he-IL" sz="3600" b="1" dirty="0">
              <a:solidFill>
                <a:srgbClr val="C00000"/>
              </a:solidFill>
              <a:latin typeface="Arial" pitchFamily="34" charset="0"/>
              <a:cs typeface="Arial" pitchFamily="34" charset="0"/>
            </a:endParaRPr>
          </a:p>
        </p:txBody>
      </p:sp>
      <p:sp>
        <p:nvSpPr>
          <p:cNvPr id="3" name="Date Placeholder 2">
            <a:extLst>
              <a:ext uri="{FF2B5EF4-FFF2-40B4-BE49-F238E27FC236}">
                <a16:creationId xmlns:a16="http://schemas.microsoft.com/office/drawing/2014/main" id="{BC785DD5-33F2-40FA-A3DD-2D16E8EFE7A5}"/>
              </a:ext>
            </a:extLst>
          </p:cNvPr>
          <p:cNvSpPr>
            <a:spLocks noGrp="1"/>
          </p:cNvSpPr>
          <p:nvPr>
            <p:ph type="dt" sz="half" idx="10"/>
          </p:nvPr>
        </p:nvSpPr>
        <p:spPr>
          <a:xfrm>
            <a:off x="8453221" y="6447434"/>
            <a:ext cx="2133600" cy="365125"/>
          </a:xfrm>
        </p:spPr>
        <p:txBody>
          <a:bodyPr/>
          <a:lstStyle/>
          <a:p>
            <a:fld id="{F71212E2-3AF9-4474-9128-C5D8B5FB5FE3}" type="datetime8">
              <a:rPr lang="he-IL" smtClean="0"/>
              <a:t>09 ינואר 26</a:t>
            </a:fld>
            <a:endParaRPr lang="he-IL"/>
          </a:p>
        </p:txBody>
      </p:sp>
      <p:sp>
        <p:nvSpPr>
          <p:cNvPr id="4" name="Slide Number Placeholder 3">
            <a:extLst>
              <a:ext uri="{FF2B5EF4-FFF2-40B4-BE49-F238E27FC236}">
                <a16:creationId xmlns:a16="http://schemas.microsoft.com/office/drawing/2014/main" id="{7CC55F32-7F07-452C-BE1A-6ACB862866CF}"/>
              </a:ext>
            </a:extLst>
          </p:cNvPr>
          <p:cNvSpPr>
            <a:spLocks noGrp="1"/>
          </p:cNvSpPr>
          <p:nvPr>
            <p:ph type="sldNum" sz="quarter" idx="12"/>
          </p:nvPr>
        </p:nvSpPr>
        <p:spPr/>
        <p:txBody>
          <a:bodyPr/>
          <a:lstStyle/>
          <a:p>
            <a:fld id="{492DB488-E800-4C9D-A68D-A9C6D048BCD3}" type="slidenum">
              <a:rPr lang="he-IL" smtClean="0"/>
              <a:pPr/>
              <a:t>39</a:t>
            </a:fld>
            <a:endParaRPr lang="he-IL"/>
          </a:p>
        </p:txBody>
      </p:sp>
    </p:spTree>
    <p:extLst>
      <p:ext uri="{BB962C8B-B14F-4D97-AF65-F5344CB8AC3E}">
        <p14:creationId xmlns:p14="http://schemas.microsoft.com/office/powerpoint/2010/main" val="2216541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mph" presetSubtype="0" fill="hold" nodeType="clickEffect">
                                  <p:stCondLst>
                                    <p:cond delay="0"/>
                                  </p:stCondLst>
                                  <p:childTnLst>
                                    <p:animClr clrSpc="hsl" dir="cw">
                                      <p:cBhvr override="childStyle">
                                        <p:cTn id="6" dur="500" fill="hold"/>
                                        <p:tgtEl>
                                          <p:spTgt spid="57"/>
                                        </p:tgtEl>
                                        <p:attrNameLst>
                                          <p:attrName>style.color</p:attrName>
                                        </p:attrNameLst>
                                      </p:cBhvr>
                                      <p:by>
                                        <p:hsl h="7200000" s="0" l="0"/>
                                      </p:by>
                                    </p:animClr>
                                    <p:animClr clrSpc="hsl" dir="cw">
                                      <p:cBhvr>
                                        <p:cTn id="7" dur="500" fill="hold"/>
                                        <p:tgtEl>
                                          <p:spTgt spid="57"/>
                                        </p:tgtEl>
                                        <p:attrNameLst>
                                          <p:attrName>fillcolor</p:attrName>
                                        </p:attrNameLst>
                                      </p:cBhvr>
                                      <p:by>
                                        <p:hsl h="7200000" s="0" l="0"/>
                                      </p:by>
                                    </p:animClr>
                                    <p:animClr clrSpc="hsl" dir="cw">
                                      <p:cBhvr>
                                        <p:cTn id="8" dur="500" fill="hold"/>
                                        <p:tgtEl>
                                          <p:spTgt spid="57"/>
                                        </p:tgtEl>
                                        <p:attrNameLst>
                                          <p:attrName>stroke.color</p:attrName>
                                        </p:attrNameLst>
                                      </p:cBhvr>
                                      <p:by>
                                        <p:hsl h="7200000" s="0" l="0"/>
                                      </p:by>
                                    </p:animClr>
                                    <p:set>
                                      <p:cBhvr>
                                        <p:cTn id="9" dur="500" fill="hold"/>
                                        <p:tgtEl>
                                          <p:spTgt spid="57"/>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1" presetClass="emph" presetSubtype="0" fill="hold" grpId="0" nodeType="clickEffect">
                                  <p:stCondLst>
                                    <p:cond delay="0"/>
                                  </p:stCondLst>
                                  <p:childTnLst>
                                    <p:animClr clrSpc="hsl" dir="cw">
                                      <p:cBhvr override="childStyle">
                                        <p:cTn id="13" dur="500" fill="hold"/>
                                        <p:tgtEl>
                                          <p:spTgt spid="55"/>
                                        </p:tgtEl>
                                        <p:attrNameLst>
                                          <p:attrName>style.color</p:attrName>
                                        </p:attrNameLst>
                                      </p:cBhvr>
                                      <p:by>
                                        <p:hsl h="7200000" s="0" l="0"/>
                                      </p:by>
                                    </p:animClr>
                                    <p:animClr clrSpc="hsl" dir="cw">
                                      <p:cBhvr>
                                        <p:cTn id="14" dur="500" fill="hold"/>
                                        <p:tgtEl>
                                          <p:spTgt spid="55"/>
                                        </p:tgtEl>
                                        <p:attrNameLst>
                                          <p:attrName>fillcolor</p:attrName>
                                        </p:attrNameLst>
                                      </p:cBhvr>
                                      <p:by>
                                        <p:hsl h="7200000" s="0" l="0"/>
                                      </p:by>
                                    </p:animClr>
                                    <p:animClr clrSpc="hsl" dir="cw">
                                      <p:cBhvr>
                                        <p:cTn id="15" dur="500" fill="hold"/>
                                        <p:tgtEl>
                                          <p:spTgt spid="55"/>
                                        </p:tgtEl>
                                        <p:attrNameLst>
                                          <p:attrName>stroke.color</p:attrName>
                                        </p:attrNameLst>
                                      </p:cBhvr>
                                      <p:by>
                                        <p:hsl h="7200000" s="0" l="0"/>
                                      </p:by>
                                    </p:animClr>
                                    <p:set>
                                      <p:cBhvr>
                                        <p:cTn id="16" dur="500" fill="hold"/>
                                        <p:tgtEl>
                                          <p:spTgt spid="55"/>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7AECD-2238-B033-72F7-6AC83CF38DC9}"/>
              </a:ext>
            </a:extLst>
          </p:cNvPr>
          <p:cNvSpPr>
            <a:spLocks noGrp="1"/>
          </p:cNvSpPr>
          <p:nvPr>
            <p:ph type="title"/>
          </p:nvPr>
        </p:nvSpPr>
        <p:spPr>
          <a:xfrm>
            <a:off x="2366493" y="147257"/>
            <a:ext cx="7848600" cy="792162"/>
          </a:xfrm>
        </p:spPr>
        <p:txBody>
          <a:bodyPr/>
          <a:lstStyle/>
          <a:p>
            <a:r>
              <a:rPr lang="he-IL" dirty="0"/>
              <a:t>שאלה מבחינה בנושא שווקים חלקיים</a:t>
            </a:r>
            <a:endParaRPr lang="en-IL" dirty="0"/>
          </a:p>
        </p:txBody>
      </p:sp>
      <p:sp>
        <p:nvSpPr>
          <p:cNvPr id="3" name="Content Placeholder 2">
            <a:extLst>
              <a:ext uri="{FF2B5EF4-FFF2-40B4-BE49-F238E27FC236}">
                <a16:creationId xmlns:a16="http://schemas.microsoft.com/office/drawing/2014/main" id="{5C77D54D-AE52-A7EA-E9EB-F12BB371374D}"/>
              </a:ext>
            </a:extLst>
          </p:cNvPr>
          <p:cNvSpPr>
            <a:spLocks noGrp="1"/>
          </p:cNvSpPr>
          <p:nvPr>
            <p:ph idx="1"/>
          </p:nvPr>
        </p:nvSpPr>
        <p:spPr>
          <a:xfrm>
            <a:off x="1996225" y="1212539"/>
            <a:ext cx="8229600" cy="1191503"/>
          </a:xfrm>
        </p:spPr>
        <p:txBody>
          <a:bodyPr>
            <a:normAutofit/>
          </a:bodyPr>
          <a:lstStyle/>
          <a:p>
            <a:pPr marL="0" indent="0">
              <a:lnSpc>
                <a:spcPct val="150000"/>
              </a:lnSpc>
              <a:buNone/>
            </a:pPr>
            <a:r>
              <a:rPr lang="he-IL" sz="1400" dirty="0"/>
              <a:t>בשוק המלונים הכתומים שוררת תחרות משוכללת וזהו שוק סגור. את המלונים הכתומים מגדלים החקלאים בנגב ובגליל באמצעות עובדים ושדות. ידוע כי השנה, בעקבות הבצורת, נפגעו השדות בהם מגדלים מלונים כתומים באזור הגליל, כך שהעלות בייצורם עלתה (לא חלו שינויים בעלויות הייצור בנגב). לפיכך:</a:t>
            </a:r>
            <a:endParaRPr lang="en-IL" sz="1400" dirty="0"/>
          </a:p>
        </p:txBody>
      </p:sp>
      <p:sp>
        <p:nvSpPr>
          <p:cNvPr id="4" name="Date Placeholder 3">
            <a:extLst>
              <a:ext uri="{FF2B5EF4-FFF2-40B4-BE49-F238E27FC236}">
                <a16:creationId xmlns:a16="http://schemas.microsoft.com/office/drawing/2014/main" id="{D1CAAB3F-F47B-C00B-4031-9E011DF386E3}"/>
              </a:ext>
            </a:extLst>
          </p:cNvPr>
          <p:cNvSpPr>
            <a:spLocks noGrp="1"/>
          </p:cNvSpPr>
          <p:nvPr>
            <p:ph type="dt" sz="half" idx="10"/>
          </p:nvPr>
        </p:nvSpPr>
        <p:spPr/>
        <p:txBody>
          <a:bodyPr/>
          <a:lstStyle/>
          <a:p>
            <a:fld id="{D3F46614-6365-481A-8D4D-9F684485BEB0}" type="datetime8">
              <a:rPr lang="he-IL" smtClean="0"/>
              <a:t>09 ינואר 26</a:t>
            </a:fld>
            <a:endParaRPr lang="he-IL"/>
          </a:p>
        </p:txBody>
      </p:sp>
      <p:sp>
        <p:nvSpPr>
          <p:cNvPr id="5" name="Slide Number Placeholder 4">
            <a:extLst>
              <a:ext uri="{FF2B5EF4-FFF2-40B4-BE49-F238E27FC236}">
                <a16:creationId xmlns:a16="http://schemas.microsoft.com/office/drawing/2014/main" id="{56175054-DBCD-9B79-A3FA-CC491094D31F}"/>
              </a:ext>
            </a:extLst>
          </p:cNvPr>
          <p:cNvSpPr>
            <a:spLocks noGrp="1"/>
          </p:cNvSpPr>
          <p:nvPr>
            <p:ph type="sldNum" sz="quarter" idx="12"/>
          </p:nvPr>
        </p:nvSpPr>
        <p:spPr/>
        <p:txBody>
          <a:bodyPr/>
          <a:lstStyle/>
          <a:p>
            <a:fld id="{492DB488-E800-4C9D-A68D-A9C6D048BCD3}" type="slidenum">
              <a:rPr lang="he-IL" smtClean="0"/>
              <a:pPr/>
              <a:t>40</a:t>
            </a:fld>
            <a:endParaRPr lang="he-IL"/>
          </a:p>
        </p:txBody>
      </p:sp>
      <p:sp>
        <p:nvSpPr>
          <p:cNvPr id="6" name="TextBox 5">
            <a:extLst>
              <a:ext uri="{FF2B5EF4-FFF2-40B4-BE49-F238E27FC236}">
                <a16:creationId xmlns:a16="http://schemas.microsoft.com/office/drawing/2014/main" id="{F1574F14-9DB7-E2F3-648D-490D70623102}"/>
              </a:ext>
            </a:extLst>
          </p:cNvPr>
          <p:cNvSpPr txBox="1"/>
          <p:nvPr/>
        </p:nvSpPr>
        <p:spPr>
          <a:xfrm>
            <a:off x="2341272" y="4816534"/>
            <a:ext cx="7539507" cy="369332"/>
          </a:xfrm>
          <a:prstGeom prst="rect">
            <a:avLst/>
          </a:prstGeom>
          <a:noFill/>
        </p:spPr>
        <p:txBody>
          <a:bodyPr wrap="square" rtlCol="0">
            <a:spAutoFit/>
          </a:bodyPr>
          <a:lstStyle/>
          <a:p>
            <a:pPr algn="r" rtl="1"/>
            <a:r>
              <a:rPr lang="he-IL" dirty="0"/>
              <a:t>1. אם הביקוש למלונים כתומים הוא יחידתי, אזי הפדיון של המגדלים בגליל יירד</a:t>
            </a:r>
            <a:endParaRPr lang="en-IL" dirty="0"/>
          </a:p>
        </p:txBody>
      </p:sp>
      <p:sp>
        <p:nvSpPr>
          <p:cNvPr id="7" name="TextBox 6">
            <a:extLst>
              <a:ext uri="{FF2B5EF4-FFF2-40B4-BE49-F238E27FC236}">
                <a16:creationId xmlns:a16="http://schemas.microsoft.com/office/drawing/2014/main" id="{F52C0F99-2FAB-3401-B625-E0A0A3791B1C}"/>
              </a:ext>
            </a:extLst>
          </p:cNvPr>
          <p:cNvSpPr txBox="1"/>
          <p:nvPr/>
        </p:nvSpPr>
        <p:spPr>
          <a:xfrm>
            <a:off x="2263999" y="5204780"/>
            <a:ext cx="8053589" cy="369332"/>
          </a:xfrm>
          <a:prstGeom prst="rect">
            <a:avLst/>
          </a:prstGeom>
          <a:noFill/>
        </p:spPr>
        <p:txBody>
          <a:bodyPr wrap="square" rtlCol="0">
            <a:spAutoFit/>
          </a:bodyPr>
          <a:lstStyle/>
          <a:p>
            <a:pPr algn="r" rtl="1"/>
            <a:r>
              <a:rPr lang="he-IL" dirty="0"/>
              <a:t>2. אם הביקוש למלונים כתומים הוא קשיח, אזי הפדיון של המגדלים בגליל בוודאות יעלה</a:t>
            </a:r>
            <a:endParaRPr lang="en-IL" dirty="0"/>
          </a:p>
        </p:txBody>
      </p:sp>
      <p:sp>
        <p:nvSpPr>
          <p:cNvPr id="8" name="TextBox 7">
            <a:extLst>
              <a:ext uri="{FF2B5EF4-FFF2-40B4-BE49-F238E27FC236}">
                <a16:creationId xmlns:a16="http://schemas.microsoft.com/office/drawing/2014/main" id="{4824A337-A95D-E584-D7EE-922EB67A5CEB}"/>
              </a:ext>
            </a:extLst>
          </p:cNvPr>
          <p:cNvSpPr txBox="1"/>
          <p:nvPr/>
        </p:nvSpPr>
        <p:spPr>
          <a:xfrm>
            <a:off x="2157212" y="5595899"/>
            <a:ext cx="8053589" cy="369332"/>
          </a:xfrm>
          <a:prstGeom prst="rect">
            <a:avLst/>
          </a:prstGeom>
          <a:noFill/>
        </p:spPr>
        <p:txBody>
          <a:bodyPr wrap="square" rtlCol="0">
            <a:spAutoFit/>
          </a:bodyPr>
          <a:lstStyle/>
          <a:p>
            <a:pPr algn="r" rtl="1"/>
            <a:r>
              <a:rPr lang="he-IL" dirty="0"/>
              <a:t>3. אם הביקוש למלונים כתומים הוא גמיש, אז ייתכן שהפדיון של המגדלים בנגב יירד</a:t>
            </a:r>
            <a:endParaRPr lang="en-IL" dirty="0"/>
          </a:p>
        </p:txBody>
      </p:sp>
      <p:sp>
        <p:nvSpPr>
          <p:cNvPr id="9" name="TextBox 8">
            <a:extLst>
              <a:ext uri="{FF2B5EF4-FFF2-40B4-BE49-F238E27FC236}">
                <a16:creationId xmlns:a16="http://schemas.microsoft.com/office/drawing/2014/main" id="{34DEB63C-655B-75E7-F35F-7B998A5F3582}"/>
              </a:ext>
            </a:extLst>
          </p:cNvPr>
          <p:cNvSpPr txBox="1"/>
          <p:nvPr/>
        </p:nvSpPr>
        <p:spPr>
          <a:xfrm>
            <a:off x="4724400" y="5975538"/>
            <a:ext cx="4933682" cy="369332"/>
          </a:xfrm>
          <a:prstGeom prst="rect">
            <a:avLst/>
          </a:prstGeom>
          <a:noFill/>
        </p:spPr>
        <p:txBody>
          <a:bodyPr wrap="square" rtlCol="0">
            <a:spAutoFit/>
          </a:bodyPr>
          <a:lstStyle/>
          <a:p>
            <a:pPr algn="r" rtl="1"/>
            <a:r>
              <a:rPr lang="he-IL" dirty="0"/>
              <a:t>4. הוצאות הצרכנים לרכישת המלונים הכתומים גדלו.</a:t>
            </a:r>
            <a:endParaRPr lang="en-IL" dirty="0"/>
          </a:p>
        </p:txBody>
      </p:sp>
      <p:sp>
        <p:nvSpPr>
          <p:cNvPr id="10" name="TextBox 9">
            <a:extLst>
              <a:ext uri="{FF2B5EF4-FFF2-40B4-BE49-F238E27FC236}">
                <a16:creationId xmlns:a16="http://schemas.microsoft.com/office/drawing/2014/main" id="{E05D406C-858B-44AE-1E25-13AB0B45E24D}"/>
              </a:ext>
            </a:extLst>
          </p:cNvPr>
          <p:cNvSpPr txBox="1"/>
          <p:nvPr/>
        </p:nvSpPr>
        <p:spPr>
          <a:xfrm>
            <a:off x="3593064" y="6333390"/>
            <a:ext cx="4933682" cy="369332"/>
          </a:xfrm>
          <a:prstGeom prst="rect">
            <a:avLst/>
          </a:prstGeom>
          <a:noFill/>
        </p:spPr>
        <p:txBody>
          <a:bodyPr wrap="square" rtlCol="0">
            <a:spAutoFit/>
          </a:bodyPr>
          <a:lstStyle/>
          <a:p>
            <a:pPr algn="r" rtl="1"/>
            <a:r>
              <a:rPr lang="he-IL" dirty="0"/>
              <a:t>5. כל התשובות האחרות אינן נכונות.</a:t>
            </a:r>
            <a:endParaRPr lang="en-IL" dirty="0"/>
          </a:p>
        </p:txBody>
      </p:sp>
    </p:spTree>
    <p:extLst>
      <p:ext uri="{BB962C8B-B14F-4D97-AF65-F5344CB8AC3E}">
        <p14:creationId xmlns:p14="http://schemas.microsoft.com/office/powerpoint/2010/main" val="25659105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F73EA-759F-F712-18E1-FD4BF3DB7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91E447-E223-D3BC-8398-9E7AE3DFD3C7}"/>
              </a:ext>
            </a:extLst>
          </p:cNvPr>
          <p:cNvSpPr>
            <a:spLocks noGrp="1"/>
          </p:cNvSpPr>
          <p:nvPr>
            <p:ph type="title"/>
          </p:nvPr>
        </p:nvSpPr>
        <p:spPr>
          <a:xfrm>
            <a:off x="2366493" y="147257"/>
            <a:ext cx="7848600" cy="792162"/>
          </a:xfrm>
        </p:spPr>
        <p:txBody>
          <a:bodyPr>
            <a:normAutofit/>
          </a:bodyPr>
          <a:lstStyle/>
          <a:p>
            <a:r>
              <a:rPr lang="he-IL" sz="4000" dirty="0"/>
              <a:t>שאלה מבחינה בנושא שווקים חלקיים</a:t>
            </a:r>
            <a:endParaRPr lang="en-IL" sz="4000" dirty="0"/>
          </a:p>
        </p:txBody>
      </p:sp>
      <p:sp>
        <p:nvSpPr>
          <p:cNvPr id="3" name="Content Placeholder 2">
            <a:extLst>
              <a:ext uri="{FF2B5EF4-FFF2-40B4-BE49-F238E27FC236}">
                <a16:creationId xmlns:a16="http://schemas.microsoft.com/office/drawing/2014/main" id="{2F066B42-C70B-D790-93A6-4ADF52AFDB9F}"/>
              </a:ext>
            </a:extLst>
          </p:cNvPr>
          <p:cNvSpPr>
            <a:spLocks noGrp="1"/>
          </p:cNvSpPr>
          <p:nvPr>
            <p:ph idx="1"/>
          </p:nvPr>
        </p:nvSpPr>
        <p:spPr>
          <a:xfrm>
            <a:off x="1960328" y="863967"/>
            <a:ext cx="8229600" cy="1191503"/>
          </a:xfrm>
        </p:spPr>
        <p:txBody>
          <a:bodyPr>
            <a:normAutofit/>
          </a:bodyPr>
          <a:lstStyle/>
          <a:p>
            <a:pPr marL="0" indent="0">
              <a:lnSpc>
                <a:spcPct val="150000"/>
              </a:lnSpc>
              <a:buNone/>
            </a:pPr>
            <a:r>
              <a:rPr lang="he-IL" sz="1400" dirty="0"/>
              <a:t>בשוק המלונים הכתומים שוררת תחרות משוכללת וזהו שוק סגור. את המלונים הכתומים מגדלים החקלאים בנגב ובגליל באמצעות עובדים ושדות. ידוע כי השנה, בעקבות הבצורת, נפגעו השדות בהם מגדלים מלונים כתומים באזור הגליל, כך שהעלות בייצורם עלתה (לא חלו שינויים בעלויות הייצור בנגב). לפיכך:</a:t>
            </a:r>
            <a:endParaRPr lang="en-IL" sz="1400" dirty="0"/>
          </a:p>
        </p:txBody>
      </p:sp>
      <p:sp>
        <p:nvSpPr>
          <p:cNvPr id="4" name="Date Placeholder 3">
            <a:extLst>
              <a:ext uri="{FF2B5EF4-FFF2-40B4-BE49-F238E27FC236}">
                <a16:creationId xmlns:a16="http://schemas.microsoft.com/office/drawing/2014/main" id="{0828EAC0-8C22-26AB-7B71-C355851661CB}"/>
              </a:ext>
            </a:extLst>
          </p:cNvPr>
          <p:cNvSpPr>
            <a:spLocks noGrp="1"/>
          </p:cNvSpPr>
          <p:nvPr>
            <p:ph type="dt" sz="half" idx="10"/>
          </p:nvPr>
        </p:nvSpPr>
        <p:spPr/>
        <p:txBody>
          <a:bodyPr/>
          <a:lstStyle/>
          <a:p>
            <a:fld id="{D3F46614-6365-481A-8D4D-9F684485BEB0}" type="datetime8">
              <a:rPr lang="he-IL" smtClean="0"/>
              <a:t>09 ינואר 26</a:t>
            </a:fld>
            <a:endParaRPr lang="he-IL"/>
          </a:p>
        </p:txBody>
      </p:sp>
      <p:sp>
        <p:nvSpPr>
          <p:cNvPr id="5" name="Slide Number Placeholder 4">
            <a:extLst>
              <a:ext uri="{FF2B5EF4-FFF2-40B4-BE49-F238E27FC236}">
                <a16:creationId xmlns:a16="http://schemas.microsoft.com/office/drawing/2014/main" id="{BE53E450-BEE0-25F8-41EF-9DF0E9F486D6}"/>
              </a:ext>
            </a:extLst>
          </p:cNvPr>
          <p:cNvSpPr>
            <a:spLocks noGrp="1"/>
          </p:cNvSpPr>
          <p:nvPr>
            <p:ph type="sldNum" sz="quarter" idx="12"/>
          </p:nvPr>
        </p:nvSpPr>
        <p:spPr/>
        <p:txBody>
          <a:bodyPr/>
          <a:lstStyle/>
          <a:p>
            <a:fld id="{492DB488-E800-4C9D-A68D-A9C6D048BCD3}" type="slidenum">
              <a:rPr lang="he-IL" smtClean="0"/>
              <a:pPr/>
              <a:t>41</a:t>
            </a:fld>
            <a:endParaRPr lang="he-IL"/>
          </a:p>
        </p:txBody>
      </p:sp>
      <p:sp>
        <p:nvSpPr>
          <p:cNvPr id="6" name="TextBox 5">
            <a:extLst>
              <a:ext uri="{FF2B5EF4-FFF2-40B4-BE49-F238E27FC236}">
                <a16:creationId xmlns:a16="http://schemas.microsoft.com/office/drawing/2014/main" id="{27786CF1-DFA2-90F0-DEBA-CCDAB8053196}"/>
              </a:ext>
            </a:extLst>
          </p:cNvPr>
          <p:cNvSpPr txBox="1"/>
          <p:nvPr/>
        </p:nvSpPr>
        <p:spPr>
          <a:xfrm>
            <a:off x="972313" y="5166921"/>
            <a:ext cx="7539507" cy="307777"/>
          </a:xfrm>
          <a:prstGeom prst="rect">
            <a:avLst/>
          </a:prstGeom>
          <a:noFill/>
        </p:spPr>
        <p:txBody>
          <a:bodyPr wrap="square" rtlCol="0">
            <a:spAutoFit/>
          </a:bodyPr>
          <a:lstStyle/>
          <a:p>
            <a:pPr algn="r" rtl="1"/>
            <a:r>
              <a:rPr lang="he-IL" sz="1400" dirty="0"/>
              <a:t>1. אם הביקוש למלונים כתומים הוא יחידתי, אזי הפדיון של המגדלים בגליל יירד</a:t>
            </a:r>
            <a:endParaRPr lang="en-IL" sz="1400" dirty="0"/>
          </a:p>
        </p:txBody>
      </p:sp>
      <p:sp>
        <p:nvSpPr>
          <p:cNvPr id="7" name="TextBox 6">
            <a:extLst>
              <a:ext uri="{FF2B5EF4-FFF2-40B4-BE49-F238E27FC236}">
                <a16:creationId xmlns:a16="http://schemas.microsoft.com/office/drawing/2014/main" id="{EF25956E-53FE-10CF-3330-CA7E8A432219}"/>
              </a:ext>
            </a:extLst>
          </p:cNvPr>
          <p:cNvSpPr txBox="1"/>
          <p:nvPr/>
        </p:nvSpPr>
        <p:spPr>
          <a:xfrm>
            <a:off x="473158" y="5418177"/>
            <a:ext cx="8053589" cy="307777"/>
          </a:xfrm>
          <a:prstGeom prst="rect">
            <a:avLst/>
          </a:prstGeom>
          <a:noFill/>
        </p:spPr>
        <p:txBody>
          <a:bodyPr wrap="square" rtlCol="0">
            <a:spAutoFit/>
          </a:bodyPr>
          <a:lstStyle/>
          <a:p>
            <a:pPr algn="r" rtl="1"/>
            <a:r>
              <a:rPr lang="he-IL" sz="1400" dirty="0"/>
              <a:t>2. אם הביקוש למלונים כתומים הוא קשיח, אזי הפדיון של המגדלים בגליל בוודאות יעלה</a:t>
            </a:r>
            <a:endParaRPr lang="en-IL" sz="1400" dirty="0"/>
          </a:p>
        </p:txBody>
      </p:sp>
      <p:sp>
        <p:nvSpPr>
          <p:cNvPr id="8" name="TextBox 7">
            <a:extLst>
              <a:ext uri="{FF2B5EF4-FFF2-40B4-BE49-F238E27FC236}">
                <a16:creationId xmlns:a16="http://schemas.microsoft.com/office/drawing/2014/main" id="{22EB9449-3843-74F7-F62A-674C2346C415}"/>
              </a:ext>
            </a:extLst>
          </p:cNvPr>
          <p:cNvSpPr txBox="1"/>
          <p:nvPr/>
        </p:nvSpPr>
        <p:spPr>
          <a:xfrm>
            <a:off x="2593090" y="5741616"/>
            <a:ext cx="5933657" cy="307777"/>
          </a:xfrm>
          <a:prstGeom prst="rect">
            <a:avLst/>
          </a:prstGeom>
          <a:noFill/>
        </p:spPr>
        <p:txBody>
          <a:bodyPr wrap="square" rtlCol="0">
            <a:spAutoFit/>
          </a:bodyPr>
          <a:lstStyle/>
          <a:p>
            <a:pPr algn="r" rtl="1"/>
            <a:r>
              <a:rPr lang="he-IL" sz="1400" dirty="0"/>
              <a:t>3. אם הביקוש למלונים כתומים הוא גמיש, אז ייתכן שהפדיון של המגדלים בנגב יירד</a:t>
            </a:r>
            <a:endParaRPr lang="en-IL" sz="1400" dirty="0"/>
          </a:p>
        </p:txBody>
      </p:sp>
      <p:sp>
        <p:nvSpPr>
          <p:cNvPr id="9" name="TextBox 8">
            <a:extLst>
              <a:ext uri="{FF2B5EF4-FFF2-40B4-BE49-F238E27FC236}">
                <a16:creationId xmlns:a16="http://schemas.microsoft.com/office/drawing/2014/main" id="{CB8CDBCC-C9F7-74F1-BA8D-F7AFC055C595}"/>
              </a:ext>
            </a:extLst>
          </p:cNvPr>
          <p:cNvSpPr txBox="1"/>
          <p:nvPr/>
        </p:nvSpPr>
        <p:spPr>
          <a:xfrm>
            <a:off x="3578137" y="6059809"/>
            <a:ext cx="4933682" cy="307777"/>
          </a:xfrm>
          <a:prstGeom prst="rect">
            <a:avLst/>
          </a:prstGeom>
          <a:noFill/>
        </p:spPr>
        <p:txBody>
          <a:bodyPr wrap="square" rtlCol="0">
            <a:spAutoFit/>
          </a:bodyPr>
          <a:lstStyle/>
          <a:p>
            <a:pPr algn="r" rtl="1"/>
            <a:r>
              <a:rPr lang="he-IL" sz="1400" dirty="0"/>
              <a:t>4. הוצאות הצרכנים לרכישת המלונים הכתומים גדלו.</a:t>
            </a:r>
            <a:endParaRPr lang="en-IL" sz="1400" dirty="0"/>
          </a:p>
        </p:txBody>
      </p:sp>
      <p:sp>
        <p:nvSpPr>
          <p:cNvPr id="10" name="TextBox 9">
            <a:extLst>
              <a:ext uri="{FF2B5EF4-FFF2-40B4-BE49-F238E27FC236}">
                <a16:creationId xmlns:a16="http://schemas.microsoft.com/office/drawing/2014/main" id="{01641BAA-886A-5EC9-EADA-984AFD37FA93}"/>
              </a:ext>
            </a:extLst>
          </p:cNvPr>
          <p:cNvSpPr txBox="1"/>
          <p:nvPr/>
        </p:nvSpPr>
        <p:spPr>
          <a:xfrm>
            <a:off x="3593064" y="6333391"/>
            <a:ext cx="4933682" cy="307777"/>
          </a:xfrm>
          <a:prstGeom prst="rect">
            <a:avLst/>
          </a:prstGeom>
          <a:noFill/>
        </p:spPr>
        <p:txBody>
          <a:bodyPr wrap="square" rtlCol="0">
            <a:spAutoFit/>
          </a:bodyPr>
          <a:lstStyle/>
          <a:p>
            <a:pPr algn="r" rtl="1"/>
            <a:r>
              <a:rPr lang="he-IL" sz="1400" dirty="0"/>
              <a:t>5. כל התשובות האחרות אינן נכונות.</a:t>
            </a:r>
            <a:endParaRPr lang="en-IL" sz="1400" dirty="0"/>
          </a:p>
        </p:txBody>
      </p:sp>
      <p:sp>
        <p:nvSpPr>
          <p:cNvPr id="11" name="Text Box 13">
            <a:extLst>
              <a:ext uri="{FF2B5EF4-FFF2-40B4-BE49-F238E27FC236}">
                <a16:creationId xmlns:a16="http://schemas.microsoft.com/office/drawing/2014/main" id="{B2F924F2-F563-D9EB-4E60-7D1075A911C9}"/>
              </a:ext>
            </a:extLst>
          </p:cNvPr>
          <p:cNvSpPr txBox="1">
            <a:spLocks noChangeArrowheads="1"/>
          </p:cNvSpPr>
          <p:nvPr/>
        </p:nvSpPr>
        <p:spPr bwMode="auto">
          <a:xfrm>
            <a:off x="1689043" y="2223262"/>
            <a:ext cx="4540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Px</a:t>
            </a:r>
            <a:endParaRPr lang="he-IL" sz="3600" dirty="0">
              <a:latin typeface="Arial" pitchFamily="34" charset="0"/>
              <a:cs typeface="Arial" pitchFamily="34" charset="0"/>
            </a:endParaRPr>
          </a:p>
        </p:txBody>
      </p:sp>
      <p:sp>
        <p:nvSpPr>
          <p:cNvPr id="12" name="Line 3">
            <a:extLst>
              <a:ext uri="{FF2B5EF4-FFF2-40B4-BE49-F238E27FC236}">
                <a16:creationId xmlns:a16="http://schemas.microsoft.com/office/drawing/2014/main" id="{D1FB9BA6-F1A0-3BF4-21E6-3B1D17AA0148}"/>
              </a:ext>
            </a:extLst>
          </p:cNvPr>
          <p:cNvSpPr>
            <a:spLocks noChangeShapeType="1"/>
          </p:cNvSpPr>
          <p:nvPr/>
        </p:nvSpPr>
        <p:spPr bwMode="auto">
          <a:xfrm>
            <a:off x="2157209" y="2348786"/>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3" name="Text Box 18">
            <a:extLst>
              <a:ext uri="{FF2B5EF4-FFF2-40B4-BE49-F238E27FC236}">
                <a16:creationId xmlns:a16="http://schemas.microsoft.com/office/drawing/2014/main" id="{E5713FDD-6567-E3D2-69B5-B89207AF1CDA}"/>
              </a:ext>
            </a:extLst>
          </p:cNvPr>
          <p:cNvSpPr txBox="1">
            <a:spLocks noChangeArrowheads="1"/>
          </p:cNvSpPr>
          <p:nvPr/>
        </p:nvSpPr>
        <p:spPr bwMode="auto">
          <a:xfrm>
            <a:off x="3889985" y="449504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X</a:t>
            </a:r>
            <a:endParaRPr lang="he-IL" sz="3600" dirty="0">
              <a:latin typeface="Arial" pitchFamily="34" charset="0"/>
              <a:cs typeface="Arial" pitchFamily="34" charset="0"/>
            </a:endParaRPr>
          </a:p>
        </p:txBody>
      </p:sp>
      <p:sp>
        <p:nvSpPr>
          <p:cNvPr id="14" name="Line 3">
            <a:extLst>
              <a:ext uri="{FF2B5EF4-FFF2-40B4-BE49-F238E27FC236}">
                <a16:creationId xmlns:a16="http://schemas.microsoft.com/office/drawing/2014/main" id="{895A6E91-55ED-4D55-01FD-78ECE50080D6}"/>
              </a:ext>
            </a:extLst>
          </p:cNvPr>
          <p:cNvSpPr>
            <a:spLocks noChangeShapeType="1"/>
          </p:cNvSpPr>
          <p:nvPr/>
        </p:nvSpPr>
        <p:spPr bwMode="auto">
          <a:xfrm rot="16200000">
            <a:off x="3180297" y="3509286"/>
            <a:ext cx="17430" cy="206360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5" name="Text Box 13">
            <a:extLst>
              <a:ext uri="{FF2B5EF4-FFF2-40B4-BE49-F238E27FC236}">
                <a16:creationId xmlns:a16="http://schemas.microsoft.com/office/drawing/2014/main" id="{860B2CB1-954D-AEF7-2CD6-E33E8768B096}"/>
              </a:ext>
            </a:extLst>
          </p:cNvPr>
          <p:cNvSpPr txBox="1">
            <a:spLocks noChangeArrowheads="1"/>
          </p:cNvSpPr>
          <p:nvPr/>
        </p:nvSpPr>
        <p:spPr bwMode="auto">
          <a:xfrm>
            <a:off x="4467901" y="213438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a:t>
            </a:r>
            <a:endParaRPr lang="he-IL" sz="3600" dirty="0">
              <a:latin typeface="Arial" pitchFamily="34" charset="0"/>
              <a:cs typeface="Arial" pitchFamily="34" charset="0"/>
            </a:endParaRPr>
          </a:p>
        </p:txBody>
      </p:sp>
      <p:sp>
        <p:nvSpPr>
          <p:cNvPr id="16" name="Line 3">
            <a:extLst>
              <a:ext uri="{FF2B5EF4-FFF2-40B4-BE49-F238E27FC236}">
                <a16:creationId xmlns:a16="http://schemas.microsoft.com/office/drawing/2014/main" id="{87CC3240-3877-FDF8-A307-7D4816409465}"/>
              </a:ext>
            </a:extLst>
          </p:cNvPr>
          <p:cNvSpPr>
            <a:spLocks noChangeShapeType="1"/>
          </p:cNvSpPr>
          <p:nvPr/>
        </p:nvSpPr>
        <p:spPr bwMode="auto">
          <a:xfrm>
            <a:off x="4835557" y="2359612"/>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7" name="Text Box 18">
            <a:extLst>
              <a:ext uri="{FF2B5EF4-FFF2-40B4-BE49-F238E27FC236}">
                <a16:creationId xmlns:a16="http://schemas.microsoft.com/office/drawing/2014/main" id="{E539CAA7-C25A-4ED0-E991-6E204C809448}"/>
              </a:ext>
            </a:extLst>
          </p:cNvPr>
          <p:cNvSpPr txBox="1">
            <a:spLocks noChangeArrowheads="1"/>
          </p:cNvSpPr>
          <p:nvPr/>
        </p:nvSpPr>
        <p:spPr bwMode="auto">
          <a:xfrm>
            <a:off x="6611009" y="4491842"/>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X</a:t>
            </a:r>
            <a:endParaRPr lang="he-IL" sz="3600" dirty="0">
              <a:latin typeface="Arial" pitchFamily="34" charset="0"/>
              <a:cs typeface="Arial" pitchFamily="34" charset="0"/>
            </a:endParaRPr>
          </a:p>
        </p:txBody>
      </p:sp>
      <p:sp>
        <p:nvSpPr>
          <p:cNvPr id="18" name="Text Box 18">
            <a:extLst>
              <a:ext uri="{FF2B5EF4-FFF2-40B4-BE49-F238E27FC236}">
                <a16:creationId xmlns:a16="http://schemas.microsoft.com/office/drawing/2014/main" id="{5000E198-C855-7D27-73E8-AF7E385DE3B6}"/>
              </a:ext>
            </a:extLst>
          </p:cNvPr>
          <p:cNvSpPr txBox="1">
            <a:spLocks noChangeArrowheads="1"/>
          </p:cNvSpPr>
          <p:nvPr/>
        </p:nvSpPr>
        <p:spPr bwMode="auto">
          <a:xfrm>
            <a:off x="5717873" y="4577312"/>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cs typeface="Arial" pitchFamily="34" charset="0"/>
            </a:endParaRPr>
          </a:p>
        </p:txBody>
      </p:sp>
      <p:sp>
        <p:nvSpPr>
          <p:cNvPr id="19" name="Line 3">
            <a:extLst>
              <a:ext uri="{FF2B5EF4-FFF2-40B4-BE49-F238E27FC236}">
                <a16:creationId xmlns:a16="http://schemas.microsoft.com/office/drawing/2014/main" id="{E3600809-2E27-CE57-585D-A8A97843B8F3}"/>
              </a:ext>
            </a:extLst>
          </p:cNvPr>
          <p:cNvSpPr>
            <a:spLocks noChangeShapeType="1"/>
          </p:cNvSpPr>
          <p:nvPr/>
        </p:nvSpPr>
        <p:spPr bwMode="auto">
          <a:xfrm rot="16200000">
            <a:off x="5717873" y="3602626"/>
            <a:ext cx="0" cy="1853079"/>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0" name="Text Box 13">
            <a:extLst>
              <a:ext uri="{FF2B5EF4-FFF2-40B4-BE49-F238E27FC236}">
                <a16:creationId xmlns:a16="http://schemas.microsoft.com/office/drawing/2014/main" id="{DEBD15C9-6A52-BFB6-30D0-DAC7FD2E54FA}"/>
              </a:ext>
            </a:extLst>
          </p:cNvPr>
          <p:cNvSpPr txBox="1">
            <a:spLocks noChangeArrowheads="1"/>
          </p:cNvSpPr>
          <p:nvPr/>
        </p:nvSpPr>
        <p:spPr bwMode="auto">
          <a:xfrm>
            <a:off x="7319009" y="214867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a:t>
            </a:r>
            <a:endParaRPr lang="he-IL" sz="3600" dirty="0">
              <a:latin typeface="Arial" pitchFamily="34" charset="0"/>
              <a:cs typeface="Arial" pitchFamily="34" charset="0"/>
            </a:endParaRPr>
          </a:p>
        </p:txBody>
      </p:sp>
      <p:sp>
        <p:nvSpPr>
          <p:cNvPr id="21" name="Line 3">
            <a:extLst>
              <a:ext uri="{FF2B5EF4-FFF2-40B4-BE49-F238E27FC236}">
                <a16:creationId xmlns:a16="http://schemas.microsoft.com/office/drawing/2014/main" id="{9A7251FD-DCD9-68D0-E18E-45078CD4498B}"/>
              </a:ext>
            </a:extLst>
          </p:cNvPr>
          <p:cNvSpPr>
            <a:spLocks noChangeShapeType="1"/>
          </p:cNvSpPr>
          <p:nvPr/>
        </p:nvSpPr>
        <p:spPr bwMode="auto">
          <a:xfrm>
            <a:off x="7637261" y="2362993"/>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2" name="כותרת 1">
            <a:extLst>
              <a:ext uri="{FF2B5EF4-FFF2-40B4-BE49-F238E27FC236}">
                <a16:creationId xmlns:a16="http://schemas.microsoft.com/office/drawing/2014/main" id="{FD87EB37-3CD7-4990-E580-630FFECD1FEE}"/>
              </a:ext>
            </a:extLst>
          </p:cNvPr>
          <p:cNvSpPr txBox="1">
            <a:spLocks/>
          </p:cNvSpPr>
          <p:nvPr/>
        </p:nvSpPr>
        <p:spPr>
          <a:xfrm>
            <a:off x="4677619" y="1950051"/>
            <a:ext cx="2643142" cy="500042"/>
          </a:xfrm>
          <a:prstGeom prst="rect">
            <a:avLst/>
          </a:prstGeom>
        </p:spPr>
        <p:txBody>
          <a:bodyPr vert="horz" lIns="91440" tIns="45720" rIns="91440" bIns="45720" rtlCol="1" anchor="ctr">
            <a:normAutofit fontScale="75000" lnSpcReduction="20000"/>
          </a:bodyPr>
          <a:lstStyle/>
          <a:p>
            <a:pPr algn="ctr">
              <a:spcBef>
                <a:spcPct val="0"/>
              </a:spcBef>
              <a:defRPr/>
            </a:pPr>
            <a:r>
              <a:rPr lang="he-IL" sz="4400" u="sng" dirty="0">
                <a:latin typeface="+mj-lt"/>
                <a:ea typeface="+mj-ea"/>
                <a:cs typeface="+mj-cs"/>
              </a:rPr>
              <a:t>יצרני הנגב</a:t>
            </a:r>
          </a:p>
        </p:txBody>
      </p:sp>
      <p:sp>
        <p:nvSpPr>
          <p:cNvPr id="23" name="כותרת 1">
            <a:extLst>
              <a:ext uri="{FF2B5EF4-FFF2-40B4-BE49-F238E27FC236}">
                <a16:creationId xmlns:a16="http://schemas.microsoft.com/office/drawing/2014/main" id="{BF3ACD28-F9B1-1AD4-98BA-3545486DF058}"/>
              </a:ext>
            </a:extLst>
          </p:cNvPr>
          <p:cNvSpPr txBox="1">
            <a:spLocks/>
          </p:cNvSpPr>
          <p:nvPr/>
        </p:nvSpPr>
        <p:spPr>
          <a:xfrm>
            <a:off x="1906802" y="1934389"/>
            <a:ext cx="2643142" cy="500042"/>
          </a:xfrm>
          <a:prstGeom prst="rect">
            <a:avLst/>
          </a:prstGeom>
        </p:spPr>
        <p:txBody>
          <a:bodyPr vert="horz" lIns="91440" tIns="45720" rIns="91440" bIns="45720" rtlCol="1" anchor="ctr">
            <a:normAutofit fontScale="75000" lnSpcReduction="20000"/>
          </a:bodyPr>
          <a:lstStyle/>
          <a:p>
            <a:pPr lvl="0" algn="ctr" rtl="1">
              <a:spcBef>
                <a:spcPct val="0"/>
              </a:spcBef>
              <a:defRPr/>
            </a:pPr>
            <a:r>
              <a:rPr lang="he-IL" sz="4400" u="sng" dirty="0">
                <a:latin typeface="+mj-lt"/>
                <a:ea typeface="+mj-ea"/>
                <a:cs typeface="+mj-cs"/>
              </a:rPr>
              <a:t>יצרני </a:t>
            </a:r>
            <a:r>
              <a:rPr lang="he-IL" sz="4400" b="1" u="sng" dirty="0">
                <a:solidFill>
                  <a:schemeClr val="accent2">
                    <a:lumMod val="75000"/>
                  </a:schemeClr>
                </a:solidFill>
              </a:rPr>
              <a:t>הגליל</a:t>
            </a:r>
            <a:endParaRPr lang="he-IL" sz="4400" u="sng" dirty="0">
              <a:latin typeface="+mj-lt"/>
              <a:ea typeface="+mj-ea"/>
              <a:cs typeface="+mj-cs"/>
            </a:endParaRPr>
          </a:p>
        </p:txBody>
      </p:sp>
      <p:sp>
        <p:nvSpPr>
          <p:cNvPr id="24" name="כותרת 1">
            <a:extLst>
              <a:ext uri="{FF2B5EF4-FFF2-40B4-BE49-F238E27FC236}">
                <a16:creationId xmlns:a16="http://schemas.microsoft.com/office/drawing/2014/main" id="{8E0EDD90-66A7-7B6E-B73A-E3B378EBFFCB}"/>
              </a:ext>
            </a:extLst>
          </p:cNvPr>
          <p:cNvSpPr txBox="1">
            <a:spLocks/>
          </p:cNvSpPr>
          <p:nvPr/>
        </p:nvSpPr>
        <p:spPr>
          <a:xfrm>
            <a:off x="7920659" y="2055469"/>
            <a:ext cx="1862423" cy="500042"/>
          </a:xfrm>
          <a:prstGeom prst="rect">
            <a:avLst/>
          </a:prstGeom>
        </p:spPr>
        <p:txBody>
          <a:bodyPr vert="horz" lIns="91440" tIns="45720" rIns="91440" bIns="45720" rtlCol="1" anchor="ctr">
            <a:normAutofit fontScale="75000" lnSpcReduction="20000"/>
          </a:bodyPr>
          <a:lstStyle/>
          <a:p>
            <a:pPr algn="ctr">
              <a:spcBef>
                <a:spcPct val="0"/>
              </a:spcBef>
              <a:defRPr/>
            </a:pPr>
            <a:r>
              <a:rPr lang="he-IL" sz="4400" u="sng" dirty="0">
                <a:latin typeface="+mj-lt"/>
                <a:ea typeface="+mj-ea"/>
                <a:cs typeface="+mj-cs"/>
              </a:rPr>
              <a:t>מצרפי</a:t>
            </a:r>
          </a:p>
        </p:txBody>
      </p:sp>
      <p:cxnSp>
        <p:nvCxnSpPr>
          <p:cNvPr id="25" name="מחבר ישר 33">
            <a:extLst>
              <a:ext uri="{FF2B5EF4-FFF2-40B4-BE49-F238E27FC236}">
                <a16:creationId xmlns:a16="http://schemas.microsoft.com/office/drawing/2014/main" id="{EE454A8C-0EC1-D4CA-3516-C4AC8A5DFAEC}"/>
              </a:ext>
            </a:extLst>
          </p:cNvPr>
          <p:cNvCxnSpPr>
            <a:cxnSpLocks/>
          </p:cNvCxnSpPr>
          <p:nvPr/>
        </p:nvCxnSpPr>
        <p:spPr>
          <a:xfrm flipH="1" flipV="1">
            <a:off x="2189077" y="3646882"/>
            <a:ext cx="6502446" cy="50292"/>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6" name="Text Box 18">
            <a:extLst>
              <a:ext uri="{FF2B5EF4-FFF2-40B4-BE49-F238E27FC236}">
                <a16:creationId xmlns:a16="http://schemas.microsoft.com/office/drawing/2014/main" id="{7371A899-0D13-8274-FCD5-CFFA52BFBEC2}"/>
              </a:ext>
            </a:extLst>
          </p:cNvPr>
          <p:cNvSpPr txBox="1">
            <a:spLocks noChangeArrowheads="1"/>
          </p:cNvSpPr>
          <p:nvPr/>
        </p:nvSpPr>
        <p:spPr bwMode="auto">
          <a:xfrm>
            <a:off x="2993922" y="4561652"/>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cs typeface="Arial" pitchFamily="34" charset="0"/>
            </a:endParaRPr>
          </a:p>
        </p:txBody>
      </p:sp>
      <p:sp>
        <p:nvSpPr>
          <p:cNvPr id="27" name="Text Box 18">
            <a:extLst>
              <a:ext uri="{FF2B5EF4-FFF2-40B4-BE49-F238E27FC236}">
                <a16:creationId xmlns:a16="http://schemas.microsoft.com/office/drawing/2014/main" id="{EC6A620F-E77F-5AB8-7F2B-B4CBF0725C03}"/>
              </a:ext>
            </a:extLst>
          </p:cNvPr>
          <p:cNvSpPr txBox="1">
            <a:spLocks noChangeArrowheads="1"/>
          </p:cNvSpPr>
          <p:nvPr/>
        </p:nvSpPr>
        <p:spPr bwMode="auto">
          <a:xfrm>
            <a:off x="8051885" y="4550579"/>
            <a:ext cx="785786" cy="357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cs typeface="Arial" pitchFamily="34" charset="0"/>
            </a:endParaRPr>
          </a:p>
        </p:txBody>
      </p:sp>
      <p:sp>
        <p:nvSpPr>
          <p:cNvPr id="28" name="Text Box 18">
            <a:extLst>
              <a:ext uri="{FF2B5EF4-FFF2-40B4-BE49-F238E27FC236}">
                <a16:creationId xmlns:a16="http://schemas.microsoft.com/office/drawing/2014/main" id="{C1895B94-D776-77F3-0A75-6AE21BAA613D}"/>
              </a:ext>
            </a:extLst>
          </p:cNvPr>
          <p:cNvSpPr txBox="1">
            <a:spLocks noChangeArrowheads="1"/>
          </p:cNvSpPr>
          <p:nvPr/>
        </p:nvSpPr>
        <p:spPr bwMode="auto">
          <a:xfrm>
            <a:off x="10000421" y="4564869"/>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X</a:t>
            </a:r>
            <a:endParaRPr lang="he-IL" sz="3600" dirty="0">
              <a:latin typeface="Arial" pitchFamily="34" charset="0"/>
              <a:cs typeface="Arial" pitchFamily="34" charset="0"/>
            </a:endParaRPr>
          </a:p>
        </p:txBody>
      </p:sp>
      <p:sp>
        <p:nvSpPr>
          <p:cNvPr id="29" name="Arc 28">
            <a:extLst>
              <a:ext uri="{FF2B5EF4-FFF2-40B4-BE49-F238E27FC236}">
                <a16:creationId xmlns:a16="http://schemas.microsoft.com/office/drawing/2014/main" id="{DD48FE0C-990B-C930-DBDB-E4DAC9616FA9}"/>
              </a:ext>
            </a:extLst>
          </p:cNvPr>
          <p:cNvSpPr/>
          <p:nvPr/>
        </p:nvSpPr>
        <p:spPr>
          <a:xfrm rot="10800000">
            <a:off x="8024386" y="1294543"/>
            <a:ext cx="4768031" cy="2819017"/>
          </a:xfrm>
          <a:prstGeom prst="arc">
            <a:avLst>
              <a:gd name="adj1" fmla="val 17389242"/>
              <a:gd name="adj2" fmla="val 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34B875D-DAD3-1338-D990-020A350F1BFE}"/>
                  </a:ext>
                </a:extLst>
              </p:cNvPr>
              <p:cNvSpPr txBox="1"/>
              <p:nvPr/>
            </p:nvSpPr>
            <p:spPr>
              <a:xfrm>
                <a:off x="9108084" y="4114888"/>
                <a:ext cx="1278065"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b="1" i="1">
                              <a:solidFill>
                                <a:schemeClr val="accent5">
                                  <a:lumMod val="50000"/>
                                </a:schemeClr>
                              </a:solidFill>
                              <a:latin typeface="Cambria Math" panose="02040503050406030204" pitchFamily="18" charset="0"/>
                            </a:rPr>
                          </m:ctrlPr>
                        </m:sSubPr>
                        <m:e>
                          <m:r>
                            <a:rPr lang="en-US" sz="1600" b="1" i="1">
                              <a:solidFill>
                                <a:schemeClr val="accent5">
                                  <a:lumMod val="50000"/>
                                </a:schemeClr>
                              </a:solidFill>
                              <a:latin typeface="Cambria Math" panose="02040503050406030204" pitchFamily="18" charset="0"/>
                            </a:rPr>
                            <m:t>𝑫</m:t>
                          </m:r>
                        </m:e>
                        <m:sub>
                          <m:r>
                            <a:rPr lang="en-US" sz="1600" b="1" i="1">
                              <a:solidFill>
                                <a:schemeClr val="accent5">
                                  <a:lumMod val="50000"/>
                                </a:schemeClr>
                              </a:solidFill>
                              <a:latin typeface="Cambria Math" panose="02040503050406030204" pitchFamily="18" charset="0"/>
                            </a:rPr>
                            <m:t>𝟎</m:t>
                          </m:r>
                        </m:sub>
                      </m:sSub>
                    </m:oMath>
                  </m:oMathPara>
                </a14:m>
                <a:endParaRPr lang="aa-ET" b="1" dirty="0"/>
              </a:p>
            </p:txBody>
          </p:sp>
        </mc:Choice>
        <mc:Fallback xmlns="">
          <p:sp>
            <p:nvSpPr>
              <p:cNvPr id="30" name="TextBox 29">
                <a:extLst>
                  <a:ext uri="{FF2B5EF4-FFF2-40B4-BE49-F238E27FC236}">
                    <a16:creationId xmlns:a16="http://schemas.microsoft.com/office/drawing/2014/main" id="{C34B875D-DAD3-1338-D990-020A350F1BFE}"/>
                  </a:ext>
                </a:extLst>
              </p:cNvPr>
              <p:cNvSpPr txBox="1">
                <a:spLocks noRot="1" noChangeAspect="1" noMove="1" noResize="1" noEditPoints="1" noAdjustHandles="1" noChangeArrowheads="1" noChangeShapeType="1" noTextEdit="1"/>
              </p:cNvSpPr>
              <p:nvPr/>
            </p:nvSpPr>
            <p:spPr>
              <a:xfrm>
                <a:off x="9108084" y="4114888"/>
                <a:ext cx="1278065" cy="246221"/>
              </a:xfrm>
              <a:prstGeom prst="rect">
                <a:avLst/>
              </a:prstGeom>
              <a:blipFill>
                <a:blip r:embed="rId2"/>
                <a:stretch>
                  <a:fillRect b="-17500"/>
                </a:stretch>
              </a:blipFill>
            </p:spPr>
            <p:txBody>
              <a:bodyPr/>
              <a:lstStyle/>
              <a:p>
                <a:r>
                  <a:rPr lang="en-IL">
                    <a:noFill/>
                  </a:rPr>
                  <a:t> </a:t>
                </a:r>
              </a:p>
            </p:txBody>
          </p:sp>
        </mc:Fallback>
      </mc:AlternateContent>
      <p:sp>
        <p:nvSpPr>
          <p:cNvPr id="31" name="Arc 30">
            <a:extLst>
              <a:ext uri="{FF2B5EF4-FFF2-40B4-BE49-F238E27FC236}">
                <a16:creationId xmlns:a16="http://schemas.microsoft.com/office/drawing/2014/main" id="{BDAF4F87-0C2D-BCF3-9FA5-D535355EAF49}"/>
              </a:ext>
            </a:extLst>
          </p:cNvPr>
          <p:cNvSpPr/>
          <p:nvPr/>
        </p:nvSpPr>
        <p:spPr>
          <a:xfrm rot="15774971" flipH="1" flipV="1">
            <a:off x="6025841" y="507041"/>
            <a:ext cx="2797296" cy="4257979"/>
          </a:xfrm>
          <a:prstGeom prst="arc">
            <a:avLst>
              <a:gd name="adj1" fmla="val 17093280"/>
              <a:gd name="adj2" fmla="val 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803B969-3BD4-377F-B321-BF3BB27BBF9D}"/>
                  </a:ext>
                </a:extLst>
              </p:cNvPr>
              <p:cNvSpPr txBox="1"/>
              <p:nvPr/>
            </p:nvSpPr>
            <p:spPr>
              <a:xfrm>
                <a:off x="9662289" y="2476789"/>
                <a:ext cx="1252266" cy="506742"/>
              </a:xfrm>
              <a:prstGeom prst="rect">
                <a:avLst/>
              </a:prstGeom>
              <a:noFill/>
            </p:spPr>
            <p:txBody>
              <a:bodyPr wrap="none" rtlCol="1">
                <a:spAutoFit/>
              </a:bodyPr>
              <a:lstStyle/>
              <a:p>
                <a:r>
                  <a:rPr lang="en-US" sz="2400" b="1" dirty="0"/>
                  <a:t>S</a:t>
                </a:r>
                <a:r>
                  <a:rPr lang="en-US" sz="2400" b="1" baseline="-25000" dirty="0"/>
                  <a:t>0</a:t>
                </a:r>
                <a:r>
                  <a:rPr lang="he-IL" sz="2400" b="1" dirty="0">
                    <a:solidFill>
                      <a:schemeClr val="accent5">
                        <a:lumMod val="50000"/>
                      </a:schemeClr>
                    </a:solidFill>
                  </a:rPr>
                  <a:t> </a:t>
                </a:r>
                <a14:m>
                  <m:oMath xmlns:m="http://schemas.openxmlformats.org/officeDocument/2006/math">
                    <m:r>
                      <a:rPr lang="he-IL" sz="2400" b="1">
                        <a:solidFill>
                          <a:schemeClr val="accent5">
                            <a:lumMod val="50000"/>
                          </a:schemeClr>
                        </a:solidFill>
                        <a:latin typeface="Cambria Math" panose="02040503050406030204" pitchFamily="18" charset="0"/>
                      </a:rPr>
                      <m:t>מצרפי</m:t>
                    </m:r>
                  </m:oMath>
                </a14:m>
                <a:endParaRPr lang="he-IL" sz="2400" b="1" baseline="-25000" dirty="0"/>
              </a:p>
            </p:txBody>
          </p:sp>
        </mc:Choice>
        <mc:Fallback xmlns="">
          <p:sp>
            <p:nvSpPr>
              <p:cNvPr id="32" name="TextBox 31">
                <a:extLst>
                  <a:ext uri="{FF2B5EF4-FFF2-40B4-BE49-F238E27FC236}">
                    <a16:creationId xmlns:a16="http://schemas.microsoft.com/office/drawing/2014/main" id="{7803B969-3BD4-377F-B321-BF3BB27BBF9D}"/>
                  </a:ext>
                </a:extLst>
              </p:cNvPr>
              <p:cNvSpPr txBox="1">
                <a:spLocks noRot="1" noChangeAspect="1" noMove="1" noResize="1" noEditPoints="1" noAdjustHandles="1" noChangeArrowheads="1" noChangeShapeType="1" noTextEdit="1"/>
              </p:cNvSpPr>
              <p:nvPr/>
            </p:nvSpPr>
            <p:spPr>
              <a:xfrm>
                <a:off x="9662289" y="2476789"/>
                <a:ext cx="1252266" cy="506742"/>
              </a:xfrm>
              <a:prstGeom prst="rect">
                <a:avLst/>
              </a:prstGeom>
              <a:blipFill>
                <a:blip r:embed="rId3"/>
                <a:stretch>
                  <a:fillRect t="-2410" r="-3415" b="-26506"/>
                </a:stretch>
              </a:blipFill>
            </p:spPr>
            <p:txBody>
              <a:bodyPr/>
              <a:lstStyle/>
              <a:p>
                <a:r>
                  <a:rPr lang="en-IL">
                    <a:noFill/>
                  </a:rPr>
                  <a:t> </a:t>
                </a:r>
              </a:p>
            </p:txBody>
          </p:sp>
        </mc:Fallback>
      </mc:AlternateContent>
      <p:sp>
        <p:nvSpPr>
          <p:cNvPr id="33" name="Arc 32">
            <a:extLst>
              <a:ext uri="{FF2B5EF4-FFF2-40B4-BE49-F238E27FC236}">
                <a16:creationId xmlns:a16="http://schemas.microsoft.com/office/drawing/2014/main" id="{8CE8B7C3-60D7-8DF1-3BB0-7748FFAE90CD}"/>
              </a:ext>
            </a:extLst>
          </p:cNvPr>
          <p:cNvSpPr/>
          <p:nvPr/>
        </p:nvSpPr>
        <p:spPr>
          <a:xfrm rot="14668846" flipH="1" flipV="1">
            <a:off x="291618" y="872084"/>
            <a:ext cx="2797296" cy="4257979"/>
          </a:xfrm>
          <a:prstGeom prst="arc">
            <a:avLst>
              <a:gd name="adj1" fmla="val 17093280"/>
              <a:gd name="adj2" fmla="val 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sp>
        <p:nvSpPr>
          <p:cNvPr id="34" name="Arc 33">
            <a:extLst>
              <a:ext uri="{FF2B5EF4-FFF2-40B4-BE49-F238E27FC236}">
                <a16:creationId xmlns:a16="http://schemas.microsoft.com/office/drawing/2014/main" id="{1B30527C-8F8D-EAC2-E01A-274A7B120F2A}"/>
              </a:ext>
            </a:extLst>
          </p:cNvPr>
          <p:cNvSpPr/>
          <p:nvPr/>
        </p:nvSpPr>
        <p:spPr>
          <a:xfrm rot="14682587" flipH="1" flipV="1">
            <a:off x="3097492" y="1188972"/>
            <a:ext cx="2762325" cy="3789504"/>
          </a:xfrm>
          <a:prstGeom prst="arc">
            <a:avLst>
              <a:gd name="adj1" fmla="val 17093280"/>
              <a:gd name="adj2" fmla="val 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cxnSp>
        <p:nvCxnSpPr>
          <p:cNvPr id="35" name="מחבר ישר 57">
            <a:extLst>
              <a:ext uri="{FF2B5EF4-FFF2-40B4-BE49-F238E27FC236}">
                <a16:creationId xmlns:a16="http://schemas.microsoft.com/office/drawing/2014/main" id="{3DA49680-5A72-460C-B32C-75A344DA2246}"/>
              </a:ext>
            </a:extLst>
          </p:cNvPr>
          <p:cNvCxnSpPr>
            <a:cxnSpLocks/>
          </p:cNvCxnSpPr>
          <p:nvPr/>
        </p:nvCxnSpPr>
        <p:spPr>
          <a:xfrm flipV="1">
            <a:off x="8688225" y="3699790"/>
            <a:ext cx="0" cy="901673"/>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מחבר ישר 71">
            <a:extLst>
              <a:ext uri="{FF2B5EF4-FFF2-40B4-BE49-F238E27FC236}">
                <a16:creationId xmlns:a16="http://schemas.microsoft.com/office/drawing/2014/main" id="{C6BE324E-CEC6-675D-C8E1-A59D76E3EB67}"/>
              </a:ext>
            </a:extLst>
          </p:cNvPr>
          <p:cNvCxnSpPr>
            <a:cxnSpLocks/>
          </p:cNvCxnSpPr>
          <p:nvPr/>
        </p:nvCxnSpPr>
        <p:spPr>
          <a:xfrm flipV="1">
            <a:off x="5914896" y="3697175"/>
            <a:ext cx="0" cy="839349"/>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7" name="מחבר ישר 72">
            <a:extLst>
              <a:ext uri="{FF2B5EF4-FFF2-40B4-BE49-F238E27FC236}">
                <a16:creationId xmlns:a16="http://schemas.microsoft.com/office/drawing/2014/main" id="{5074A3E1-4480-06BC-50CD-CA2D3BC4054D}"/>
              </a:ext>
            </a:extLst>
          </p:cNvPr>
          <p:cNvCxnSpPr>
            <a:cxnSpLocks/>
          </p:cNvCxnSpPr>
          <p:nvPr/>
        </p:nvCxnSpPr>
        <p:spPr>
          <a:xfrm flipH="1" flipV="1">
            <a:off x="3179683" y="3654593"/>
            <a:ext cx="18658" cy="894577"/>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3" name="Line 3">
            <a:extLst>
              <a:ext uri="{FF2B5EF4-FFF2-40B4-BE49-F238E27FC236}">
                <a16:creationId xmlns:a16="http://schemas.microsoft.com/office/drawing/2014/main" id="{5F0E70E8-D5A0-D4EF-C563-C8C73D649B4D}"/>
              </a:ext>
            </a:extLst>
          </p:cNvPr>
          <p:cNvSpPr>
            <a:spLocks noChangeShapeType="1"/>
          </p:cNvSpPr>
          <p:nvPr/>
        </p:nvSpPr>
        <p:spPr bwMode="auto">
          <a:xfrm rot="16200000">
            <a:off x="8556326" y="3577951"/>
            <a:ext cx="0" cy="1853079"/>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4" name="Oval 43">
            <a:extLst>
              <a:ext uri="{FF2B5EF4-FFF2-40B4-BE49-F238E27FC236}">
                <a16:creationId xmlns:a16="http://schemas.microsoft.com/office/drawing/2014/main" id="{205C46DC-84BF-1846-60F1-447E3A3FEAD1}"/>
              </a:ext>
            </a:extLst>
          </p:cNvPr>
          <p:cNvSpPr/>
          <p:nvPr/>
        </p:nvSpPr>
        <p:spPr>
          <a:xfrm>
            <a:off x="8548209" y="3557621"/>
            <a:ext cx="241101" cy="2225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endParaRPr lang="en-IL" dirty="0"/>
          </a:p>
        </p:txBody>
      </p:sp>
    </p:spTree>
    <p:extLst>
      <p:ext uri="{BB962C8B-B14F-4D97-AF65-F5344CB8AC3E}">
        <p14:creationId xmlns:p14="http://schemas.microsoft.com/office/powerpoint/2010/main" val="30257690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57F5F4F-8242-D244-07B7-70A488DF82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382417-2F5C-B90A-AC14-5C6B88B189F1}"/>
              </a:ext>
            </a:extLst>
          </p:cNvPr>
          <p:cNvSpPr>
            <a:spLocks noGrp="1"/>
          </p:cNvSpPr>
          <p:nvPr>
            <p:ph type="title"/>
          </p:nvPr>
        </p:nvSpPr>
        <p:spPr>
          <a:xfrm>
            <a:off x="2366493" y="147257"/>
            <a:ext cx="7848600" cy="792162"/>
          </a:xfrm>
        </p:spPr>
        <p:txBody>
          <a:bodyPr>
            <a:normAutofit/>
          </a:bodyPr>
          <a:lstStyle/>
          <a:p>
            <a:r>
              <a:rPr lang="he-IL" sz="4000" dirty="0"/>
              <a:t>שאלה מבחינה בנושא שווקים חלקיים</a:t>
            </a:r>
            <a:endParaRPr lang="en-IL" sz="4000" dirty="0"/>
          </a:p>
        </p:txBody>
      </p:sp>
      <p:sp>
        <p:nvSpPr>
          <p:cNvPr id="3" name="Content Placeholder 2">
            <a:extLst>
              <a:ext uri="{FF2B5EF4-FFF2-40B4-BE49-F238E27FC236}">
                <a16:creationId xmlns:a16="http://schemas.microsoft.com/office/drawing/2014/main" id="{22FC9AEA-023A-A6E3-5E73-464FEBF46BE7}"/>
              </a:ext>
            </a:extLst>
          </p:cNvPr>
          <p:cNvSpPr>
            <a:spLocks noGrp="1"/>
          </p:cNvSpPr>
          <p:nvPr>
            <p:ph idx="1"/>
          </p:nvPr>
        </p:nvSpPr>
        <p:spPr>
          <a:xfrm>
            <a:off x="1960328" y="863967"/>
            <a:ext cx="8229600" cy="1191503"/>
          </a:xfrm>
        </p:spPr>
        <p:txBody>
          <a:bodyPr>
            <a:normAutofit/>
          </a:bodyPr>
          <a:lstStyle/>
          <a:p>
            <a:pPr marL="0" indent="0">
              <a:lnSpc>
                <a:spcPct val="150000"/>
              </a:lnSpc>
              <a:buNone/>
            </a:pPr>
            <a:r>
              <a:rPr lang="he-IL" sz="1400" dirty="0"/>
              <a:t>בשוק המלונים הכתומים שוררת תחרות משוכללת וזהו שוק סגור. את המלונים הכתומים מגדלים החקלאים בנגב ובגליל באמצעות עובדים ושדות. ידוע כי השנה, בעקבות הבצורת, נפגעו השדות בהם מגדלים מלונים כתומים באזור ה</a:t>
            </a:r>
            <a:r>
              <a:rPr lang="he-IL" sz="1400" b="1" dirty="0">
                <a:solidFill>
                  <a:schemeClr val="accent2">
                    <a:lumMod val="75000"/>
                  </a:schemeClr>
                </a:solidFill>
              </a:rPr>
              <a:t>גליל</a:t>
            </a:r>
            <a:r>
              <a:rPr lang="he-IL" sz="1400" dirty="0"/>
              <a:t>, כך שהעלות בייצורם עלתה (לא חלו שינויים בעלויות הייצור בנגב). לפיכך:</a:t>
            </a:r>
            <a:endParaRPr lang="en-IL" sz="1400" dirty="0"/>
          </a:p>
        </p:txBody>
      </p:sp>
      <p:sp>
        <p:nvSpPr>
          <p:cNvPr id="4" name="Date Placeholder 3">
            <a:extLst>
              <a:ext uri="{FF2B5EF4-FFF2-40B4-BE49-F238E27FC236}">
                <a16:creationId xmlns:a16="http://schemas.microsoft.com/office/drawing/2014/main" id="{B0DE8C09-2E58-780A-4FB7-B00F71DB8D23}"/>
              </a:ext>
            </a:extLst>
          </p:cNvPr>
          <p:cNvSpPr>
            <a:spLocks noGrp="1"/>
          </p:cNvSpPr>
          <p:nvPr>
            <p:ph type="dt" sz="half" idx="10"/>
          </p:nvPr>
        </p:nvSpPr>
        <p:spPr/>
        <p:txBody>
          <a:bodyPr/>
          <a:lstStyle/>
          <a:p>
            <a:fld id="{D3F46614-6365-481A-8D4D-9F684485BEB0}" type="datetime8">
              <a:rPr lang="he-IL" smtClean="0"/>
              <a:t>09 ינואר 26</a:t>
            </a:fld>
            <a:endParaRPr lang="he-IL"/>
          </a:p>
        </p:txBody>
      </p:sp>
      <p:sp>
        <p:nvSpPr>
          <p:cNvPr id="5" name="Slide Number Placeholder 4">
            <a:extLst>
              <a:ext uri="{FF2B5EF4-FFF2-40B4-BE49-F238E27FC236}">
                <a16:creationId xmlns:a16="http://schemas.microsoft.com/office/drawing/2014/main" id="{120DBCC4-D705-E76D-608E-4A4180BECB60}"/>
              </a:ext>
            </a:extLst>
          </p:cNvPr>
          <p:cNvSpPr>
            <a:spLocks noGrp="1"/>
          </p:cNvSpPr>
          <p:nvPr>
            <p:ph type="sldNum" sz="quarter" idx="12"/>
          </p:nvPr>
        </p:nvSpPr>
        <p:spPr/>
        <p:txBody>
          <a:bodyPr/>
          <a:lstStyle/>
          <a:p>
            <a:fld id="{492DB488-E800-4C9D-A68D-A9C6D048BCD3}" type="slidenum">
              <a:rPr lang="he-IL" smtClean="0"/>
              <a:pPr/>
              <a:t>42</a:t>
            </a:fld>
            <a:endParaRPr lang="he-IL"/>
          </a:p>
        </p:txBody>
      </p:sp>
      <p:sp>
        <p:nvSpPr>
          <p:cNvPr id="6" name="TextBox 5">
            <a:extLst>
              <a:ext uri="{FF2B5EF4-FFF2-40B4-BE49-F238E27FC236}">
                <a16:creationId xmlns:a16="http://schemas.microsoft.com/office/drawing/2014/main" id="{5D98B276-C264-1473-EF8F-FF601697ED33}"/>
              </a:ext>
            </a:extLst>
          </p:cNvPr>
          <p:cNvSpPr txBox="1"/>
          <p:nvPr/>
        </p:nvSpPr>
        <p:spPr>
          <a:xfrm>
            <a:off x="972313" y="5166921"/>
            <a:ext cx="7539507" cy="307777"/>
          </a:xfrm>
          <a:prstGeom prst="rect">
            <a:avLst/>
          </a:prstGeom>
          <a:noFill/>
        </p:spPr>
        <p:txBody>
          <a:bodyPr wrap="square" rtlCol="0">
            <a:spAutoFit/>
          </a:bodyPr>
          <a:lstStyle/>
          <a:p>
            <a:pPr algn="r" rtl="1"/>
            <a:r>
              <a:rPr lang="he-IL" sz="1400" dirty="0"/>
              <a:t>1. אם הביקוש למלונים כתומים הוא יחידתי, אזי הפדיון של המגדלים ב</a:t>
            </a:r>
            <a:r>
              <a:rPr lang="he-IL" sz="1400" b="1" dirty="0">
                <a:solidFill>
                  <a:schemeClr val="accent2">
                    <a:lumMod val="75000"/>
                  </a:schemeClr>
                </a:solidFill>
              </a:rPr>
              <a:t>גליל יירד</a:t>
            </a:r>
            <a:endParaRPr lang="en-IL" sz="1400" b="1" dirty="0">
              <a:solidFill>
                <a:schemeClr val="accent2">
                  <a:lumMod val="75000"/>
                </a:schemeClr>
              </a:solidFill>
            </a:endParaRPr>
          </a:p>
        </p:txBody>
      </p:sp>
      <p:sp>
        <p:nvSpPr>
          <p:cNvPr id="7" name="TextBox 6">
            <a:extLst>
              <a:ext uri="{FF2B5EF4-FFF2-40B4-BE49-F238E27FC236}">
                <a16:creationId xmlns:a16="http://schemas.microsoft.com/office/drawing/2014/main" id="{A70EC4A1-E7C0-8606-FD47-C0B4337890DB}"/>
              </a:ext>
            </a:extLst>
          </p:cNvPr>
          <p:cNvSpPr txBox="1"/>
          <p:nvPr/>
        </p:nvSpPr>
        <p:spPr>
          <a:xfrm>
            <a:off x="473158" y="5418177"/>
            <a:ext cx="8053589" cy="307777"/>
          </a:xfrm>
          <a:prstGeom prst="rect">
            <a:avLst/>
          </a:prstGeom>
          <a:noFill/>
        </p:spPr>
        <p:txBody>
          <a:bodyPr wrap="square" rtlCol="0">
            <a:spAutoFit/>
          </a:bodyPr>
          <a:lstStyle/>
          <a:p>
            <a:pPr algn="r" rtl="1"/>
            <a:r>
              <a:rPr lang="he-IL" sz="1400" dirty="0"/>
              <a:t>2. אם הביקוש למלונים כתומים הוא קשיח, אזי הפדיון של המגדלים בגליל בוודאות יעלה</a:t>
            </a:r>
            <a:endParaRPr lang="en-IL" sz="1400" dirty="0"/>
          </a:p>
        </p:txBody>
      </p:sp>
      <p:sp>
        <p:nvSpPr>
          <p:cNvPr id="8" name="TextBox 7">
            <a:extLst>
              <a:ext uri="{FF2B5EF4-FFF2-40B4-BE49-F238E27FC236}">
                <a16:creationId xmlns:a16="http://schemas.microsoft.com/office/drawing/2014/main" id="{9722A900-C42F-A486-5DD3-9FD4581C7ADB}"/>
              </a:ext>
            </a:extLst>
          </p:cNvPr>
          <p:cNvSpPr txBox="1"/>
          <p:nvPr/>
        </p:nvSpPr>
        <p:spPr>
          <a:xfrm>
            <a:off x="2593090" y="5741616"/>
            <a:ext cx="5933657" cy="307777"/>
          </a:xfrm>
          <a:prstGeom prst="rect">
            <a:avLst/>
          </a:prstGeom>
          <a:noFill/>
        </p:spPr>
        <p:txBody>
          <a:bodyPr wrap="square" rtlCol="0">
            <a:spAutoFit/>
          </a:bodyPr>
          <a:lstStyle/>
          <a:p>
            <a:pPr algn="r" rtl="1"/>
            <a:r>
              <a:rPr lang="he-IL" sz="1400" dirty="0"/>
              <a:t>3. אם הביקוש למלונים כתומים הוא גמיש, אז ייתכן שהפדיון של המגדלים בנגב יירד</a:t>
            </a:r>
            <a:endParaRPr lang="en-IL" sz="1400" dirty="0"/>
          </a:p>
        </p:txBody>
      </p:sp>
      <p:sp>
        <p:nvSpPr>
          <p:cNvPr id="9" name="TextBox 8">
            <a:extLst>
              <a:ext uri="{FF2B5EF4-FFF2-40B4-BE49-F238E27FC236}">
                <a16:creationId xmlns:a16="http://schemas.microsoft.com/office/drawing/2014/main" id="{60785954-A044-6159-8C68-9A3F16B1F713}"/>
              </a:ext>
            </a:extLst>
          </p:cNvPr>
          <p:cNvSpPr txBox="1"/>
          <p:nvPr/>
        </p:nvSpPr>
        <p:spPr>
          <a:xfrm>
            <a:off x="3578137" y="6059809"/>
            <a:ext cx="4933682" cy="307777"/>
          </a:xfrm>
          <a:prstGeom prst="rect">
            <a:avLst/>
          </a:prstGeom>
          <a:noFill/>
        </p:spPr>
        <p:txBody>
          <a:bodyPr wrap="square" rtlCol="0">
            <a:spAutoFit/>
          </a:bodyPr>
          <a:lstStyle/>
          <a:p>
            <a:pPr algn="r" rtl="1"/>
            <a:r>
              <a:rPr lang="he-IL" sz="1400" dirty="0"/>
              <a:t>4. הוצאות הצרכנים לרכישת המלונים הכתומים גדלו.</a:t>
            </a:r>
            <a:endParaRPr lang="en-IL" sz="1400" dirty="0"/>
          </a:p>
        </p:txBody>
      </p:sp>
      <p:sp>
        <p:nvSpPr>
          <p:cNvPr id="10" name="TextBox 9">
            <a:extLst>
              <a:ext uri="{FF2B5EF4-FFF2-40B4-BE49-F238E27FC236}">
                <a16:creationId xmlns:a16="http://schemas.microsoft.com/office/drawing/2014/main" id="{94A24C60-2255-D877-DA7B-3A1F9AAD376D}"/>
              </a:ext>
            </a:extLst>
          </p:cNvPr>
          <p:cNvSpPr txBox="1"/>
          <p:nvPr/>
        </p:nvSpPr>
        <p:spPr>
          <a:xfrm>
            <a:off x="3593064" y="6333391"/>
            <a:ext cx="4933682" cy="307777"/>
          </a:xfrm>
          <a:prstGeom prst="rect">
            <a:avLst/>
          </a:prstGeom>
          <a:noFill/>
        </p:spPr>
        <p:txBody>
          <a:bodyPr wrap="square" rtlCol="0">
            <a:spAutoFit/>
          </a:bodyPr>
          <a:lstStyle/>
          <a:p>
            <a:pPr algn="r" rtl="1"/>
            <a:r>
              <a:rPr lang="he-IL" sz="1400" dirty="0"/>
              <a:t>5. כל התשובות האחרות אינן נכונות.</a:t>
            </a:r>
            <a:endParaRPr lang="en-IL" sz="1400" dirty="0"/>
          </a:p>
        </p:txBody>
      </p:sp>
      <p:sp>
        <p:nvSpPr>
          <p:cNvPr id="11" name="Text Box 13">
            <a:extLst>
              <a:ext uri="{FF2B5EF4-FFF2-40B4-BE49-F238E27FC236}">
                <a16:creationId xmlns:a16="http://schemas.microsoft.com/office/drawing/2014/main" id="{60F70006-5F76-21A8-7A6C-A1273E01FF01}"/>
              </a:ext>
            </a:extLst>
          </p:cNvPr>
          <p:cNvSpPr txBox="1">
            <a:spLocks noChangeArrowheads="1"/>
          </p:cNvSpPr>
          <p:nvPr/>
        </p:nvSpPr>
        <p:spPr bwMode="auto">
          <a:xfrm>
            <a:off x="1689043" y="2223262"/>
            <a:ext cx="4540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Px</a:t>
            </a:r>
            <a:endParaRPr lang="he-IL" sz="3600" dirty="0">
              <a:latin typeface="Arial" pitchFamily="34" charset="0"/>
              <a:cs typeface="Arial" pitchFamily="34" charset="0"/>
            </a:endParaRPr>
          </a:p>
        </p:txBody>
      </p:sp>
      <p:sp>
        <p:nvSpPr>
          <p:cNvPr id="12" name="Line 3">
            <a:extLst>
              <a:ext uri="{FF2B5EF4-FFF2-40B4-BE49-F238E27FC236}">
                <a16:creationId xmlns:a16="http://schemas.microsoft.com/office/drawing/2014/main" id="{9A96E153-936C-43CD-DA87-CE38772DAB5F}"/>
              </a:ext>
            </a:extLst>
          </p:cNvPr>
          <p:cNvSpPr>
            <a:spLocks noChangeShapeType="1"/>
          </p:cNvSpPr>
          <p:nvPr/>
        </p:nvSpPr>
        <p:spPr bwMode="auto">
          <a:xfrm>
            <a:off x="2157209" y="2348786"/>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3" name="Text Box 18">
            <a:extLst>
              <a:ext uri="{FF2B5EF4-FFF2-40B4-BE49-F238E27FC236}">
                <a16:creationId xmlns:a16="http://schemas.microsoft.com/office/drawing/2014/main" id="{7E5BC807-3496-2543-FB6D-4D87255E5613}"/>
              </a:ext>
            </a:extLst>
          </p:cNvPr>
          <p:cNvSpPr txBox="1">
            <a:spLocks noChangeArrowheads="1"/>
          </p:cNvSpPr>
          <p:nvPr/>
        </p:nvSpPr>
        <p:spPr bwMode="auto">
          <a:xfrm>
            <a:off x="3889985" y="449504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600" dirty="0">
                <a:latin typeface="Calibri" pitchFamily="34" charset="0"/>
                <a:ea typeface="Arial" pitchFamily="34" charset="0"/>
                <a:cs typeface="Arial" pitchFamily="34" charset="0"/>
              </a:rPr>
              <a:t>X</a:t>
            </a:r>
            <a:endParaRPr lang="he-IL" sz="2800" dirty="0">
              <a:latin typeface="Arial" pitchFamily="34" charset="0"/>
              <a:cs typeface="Arial" pitchFamily="34" charset="0"/>
            </a:endParaRPr>
          </a:p>
        </p:txBody>
      </p:sp>
      <p:sp>
        <p:nvSpPr>
          <p:cNvPr id="14" name="Line 3">
            <a:extLst>
              <a:ext uri="{FF2B5EF4-FFF2-40B4-BE49-F238E27FC236}">
                <a16:creationId xmlns:a16="http://schemas.microsoft.com/office/drawing/2014/main" id="{A87756CF-A57F-0C05-527A-255995C6A6E3}"/>
              </a:ext>
            </a:extLst>
          </p:cNvPr>
          <p:cNvSpPr>
            <a:spLocks noChangeShapeType="1"/>
          </p:cNvSpPr>
          <p:nvPr/>
        </p:nvSpPr>
        <p:spPr bwMode="auto">
          <a:xfrm rot="16200000">
            <a:off x="3180297" y="3509286"/>
            <a:ext cx="17430" cy="206360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5" name="Text Box 13">
            <a:extLst>
              <a:ext uri="{FF2B5EF4-FFF2-40B4-BE49-F238E27FC236}">
                <a16:creationId xmlns:a16="http://schemas.microsoft.com/office/drawing/2014/main" id="{46A7DB76-1D3A-16DA-7CFC-05D3B98EADFD}"/>
              </a:ext>
            </a:extLst>
          </p:cNvPr>
          <p:cNvSpPr txBox="1">
            <a:spLocks noChangeArrowheads="1"/>
          </p:cNvSpPr>
          <p:nvPr/>
        </p:nvSpPr>
        <p:spPr bwMode="auto">
          <a:xfrm>
            <a:off x="4637275" y="202687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a:t>
            </a:r>
            <a:endParaRPr lang="he-IL" sz="3600" dirty="0">
              <a:latin typeface="Arial" pitchFamily="34" charset="0"/>
              <a:cs typeface="Arial" pitchFamily="34" charset="0"/>
            </a:endParaRPr>
          </a:p>
        </p:txBody>
      </p:sp>
      <p:sp>
        <p:nvSpPr>
          <p:cNvPr id="16" name="Line 3">
            <a:extLst>
              <a:ext uri="{FF2B5EF4-FFF2-40B4-BE49-F238E27FC236}">
                <a16:creationId xmlns:a16="http://schemas.microsoft.com/office/drawing/2014/main" id="{3E211F5A-0ABE-E963-0EB0-B363BFF35648}"/>
              </a:ext>
            </a:extLst>
          </p:cNvPr>
          <p:cNvSpPr>
            <a:spLocks noChangeShapeType="1"/>
          </p:cNvSpPr>
          <p:nvPr/>
        </p:nvSpPr>
        <p:spPr bwMode="auto">
          <a:xfrm>
            <a:off x="4835557" y="2359612"/>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7" name="Text Box 18">
            <a:extLst>
              <a:ext uri="{FF2B5EF4-FFF2-40B4-BE49-F238E27FC236}">
                <a16:creationId xmlns:a16="http://schemas.microsoft.com/office/drawing/2014/main" id="{8E887F2D-F57C-10C8-C55A-5B4DA1609CDA}"/>
              </a:ext>
            </a:extLst>
          </p:cNvPr>
          <p:cNvSpPr txBox="1">
            <a:spLocks noChangeArrowheads="1"/>
          </p:cNvSpPr>
          <p:nvPr/>
        </p:nvSpPr>
        <p:spPr bwMode="auto">
          <a:xfrm>
            <a:off x="6706942" y="4430299"/>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600" dirty="0">
                <a:latin typeface="Calibri" pitchFamily="34" charset="0"/>
                <a:ea typeface="Arial" pitchFamily="34" charset="0"/>
                <a:cs typeface="Arial" pitchFamily="34" charset="0"/>
              </a:rPr>
              <a:t>X</a:t>
            </a:r>
            <a:endParaRPr lang="he-IL" sz="2800" dirty="0">
              <a:latin typeface="Arial" pitchFamily="34" charset="0"/>
              <a:cs typeface="Arial" pitchFamily="34" charset="0"/>
            </a:endParaRPr>
          </a:p>
        </p:txBody>
      </p:sp>
      <p:sp>
        <p:nvSpPr>
          <p:cNvPr id="18" name="Text Box 18">
            <a:extLst>
              <a:ext uri="{FF2B5EF4-FFF2-40B4-BE49-F238E27FC236}">
                <a16:creationId xmlns:a16="http://schemas.microsoft.com/office/drawing/2014/main" id="{25149755-BEE2-09A0-B102-95FE1B89BE93}"/>
              </a:ext>
            </a:extLst>
          </p:cNvPr>
          <p:cNvSpPr txBox="1">
            <a:spLocks noChangeArrowheads="1"/>
          </p:cNvSpPr>
          <p:nvPr/>
        </p:nvSpPr>
        <p:spPr bwMode="auto">
          <a:xfrm>
            <a:off x="5735603" y="4470269"/>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cs typeface="Arial" pitchFamily="34" charset="0"/>
            </a:endParaRPr>
          </a:p>
        </p:txBody>
      </p:sp>
      <p:sp>
        <p:nvSpPr>
          <p:cNvPr id="19" name="Line 3">
            <a:extLst>
              <a:ext uri="{FF2B5EF4-FFF2-40B4-BE49-F238E27FC236}">
                <a16:creationId xmlns:a16="http://schemas.microsoft.com/office/drawing/2014/main" id="{9C62255F-01A4-C257-5F51-691BB5A8A34E}"/>
              </a:ext>
            </a:extLst>
          </p:cNvPr>
          <p:cNvSpPr>
            <a:spLocks noChangeShapeType="1"/>
          </p:cNvSpPr>
          <p:nvPr/>
        </p:nvSpPr>
        <p:spPr bwMode="auto">
          <a:xfrm rot="16200000">
            <a:off x="5717873" y="3602626"/>
            <a:ext cx="0" cy="1853079"/>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0" name="Text Box 13">
            <a:extLst>
              <a:ext uri="{FF2B5EF4-FFF2-40B4-BE49-F238E27FC236}">
                <a16:creationId xmlns:a16="http://schemas.microsoft.com/office/drawing/2014/main" id="{234B693C-F7C0-6D6C-0F16-5C680320DCF5}"/>
              </a:ext>
            </a:extLst>
          </p:cNvPr>
          <p:cNvSpPr txBox="1">
            <a:spLocks noChangeArrowheads="1"/>
          </p:cNvSpPr>
          <p:nvPr/>
        </p:nvSpPr>
        <p:spPr bwMode="auto">
          <a:xfrm>
            <a:off x="7319009" y="214867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a:t>
            </a:r>
            <a:endParaRPr lang="he-IL" sz="3600" dirty="0">
              <a:latin typeface="Arial" pitchFamily="34" charset="0"/>
              <a:cs typeface="Arial" pitchFamily="34" charset="0"/>
            </a:endParaRPr>
          </a:p>
        </p:txBody>
      </p:sp>
      <p:sp>
        <p:nvSpPr>
          <p:cNvPr id="21" name="Line 3">
            <a:extLst>
              <a:ext uri="{FF2B5EF4-FFF2-40B4-BE49-F238E27FC236}">
                <a16:creationId xmlns:a16="http://schemas.microsoft.com/office/drawing/2014/main" id="{107D9D34-2566-31C1-A5EC-58753BC00893}"/>
              </a:ext>
            </a:extLst>
          </p:cNvPr>
          <p:cNvSpPr>
            <a:spLocks noChangeShapeType="1"/>
          </p:cNvSpPr>
          <p:nvPr/>
        </p:nvSpPr>
        <p:spPr bwMode="auto">
          <a:xfrm>
            <a:off x="7637261" y="2362993"/>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2" name="כותרת 1">
            <a:extLst>
              <a:ext uri="{FF2B5EF4-FFF2-40B4-BE49-F238E27FC236}">
                <a16:creationId xmlns:a16="http://schemas.microsoft.com/office/drawing/2014/main" id="{4A51B35A-ED00-D84C-311E-2EF75DBADDD3}"/>
              </a:ext>
            </a:extLst>
          </p:cNvPr>
          <p:cNvSpPr txBox="1">
            <a:spLocks/>
          </p:cNvSpPr>
          <p:nvPr/>
        </p:nvSpPr>
        <p:spPr>
          <a:xfrm>
            <a:off x="4677619" y="1950051"/>
            <a:ext cx="2643142" cy="500042"/>
          </a:xfrm>
          <a:prstGeom prst="rect">
            <a:avLst/>
          </a:prstGeom>
        </p:spPr>
        <p:txBody>
          <a:bodyPr vert="horz" lIns="91440" tIns="45720" rIns="91440" bIns="45720" rtlCol="1" anchor="ctr">
            <a:normAutofit fontScale="75000" lnSpcReduction="20000"/>
          </a:bodyPr>
          <a:lstStyle/>
          <a:p>
            <a:pPr lvl="0" algn="ctr" rtl="1">
              <a:spcBef>
                <a:spcPct val="0"/>
              </a:spcBef>
              <a:defRPr/>
            </a:pPr>
            <a:r>
              <a:rPr lang="he-IL" sz="4400" u="sng" dirty="0"/>
              <a:t>יצרני הנגב</a:t>
            </a:r>
          </a:p>
        </p:txBody>
      </p:sp>
      <p:sp>
        <p:nvSpPr>
          <p:cNvPr id="23" name="כותרת 1">
            <a:extLst>
              <a:ext uri="{FF2B5EF4-FFF2-40B4-BE49-F238E27FC236}">
                <a16:creationId xmlns:a16="http://schemas.microsoft.com/office/drawing/2014/main" id="{EADD6D7A-DF38-F7CC-6635-DBEDB9189552}"/>
              </a:ext>
            </a:extLst>
          </p:cNvPr>
          <p:cNvSpPr txBox="1">
            <a:spLocks/>
          </p:cNvSpPr>
          <p:nvPr/>
        </p:nvSpPr>
        <p:spPr>
          <a:xfrm>
            <a:off x="1906802" y="1934389"/>
            <a:ext cx="2643142" cy="500042"/>
          </a:xfrm>
          <a:prstGeom prst="rect">
            <a:avLst/>
          </a:prstGeom>
        </p:spPr>
        <p:txBody>
          <a:bodyPr vert="horz" lIns="91440" tIns="45720" rIns="91440" bIns="45720" rtlCol="1" anchor="ctr">
            <a:normAutofit fontScale="75000" lnSpcReduction="20000"/>
          </a:bodyPr>
          <a:lstStyle/>
          <a:p>
            <a:pPr lvl="0" algn="ctr" rtl="1">
              <a:spcBef>
                <a:spcPct val="0"/>
              </a:spcBef>
              <a:defRPr/>
            </a:pPr>
            <a:r>
              <a:rPr lang="he-IL" sz="4400" u="sng" dirty="0">
                <a:latin typeface="+mj-lt"/>
                <a:ea typeface="+mj-ea"/>
                <a:cs typeface="+mj-cs"/>
              </a:rPr>
              <a:t>יצרני </a:t>
            </a:r>
            <a:r>
              <a:rPr lang="he-IL" sz="4400" b="1" u="sng" dirty="0">
                <a:solidFill>
                  <a:schemeClr val="accent2">
                    <a:lumMod val="75000"/>
                  </a:schemeClr>
                </a:solidFill>
              </a:rPr>
              <a:t>הגליל</a:t>
            </a:r>
            <a:endParaRPr lang="he-IL" sz="4400" u="sng" dirty="0">
              <a:latin typeface="+mj-lt"/>
              <a:ea typeface="+mj-ea"/>
              <a:cs typeface="+mj-cs"/>
            </a:endParaRPr>
          </a:p>
        </p:txBody>
      </p:sp>
      <p:sp>
        <p:nvSpPr>
          <p:cNvPr id="24" name="כותרת 1">
            <a:extLst>
              <a:ext uri="{FF2B5EF4-FFF2-40B4-BE49-F238E27FC236}">
                <a16:creationId xmlns:a16="http://schemas.microsoft.com/office/drawing/2014/main" id="{F13BD338-562E-32B1-3109-B00C904AD766}"/>
              </a:ext>
            </a:extLst>
          </p:cNvPr>
          <p:cNvSpPr txBox="1">
            <a:spLocks/>
          </p:cNvSpPr>
          <p:nvPr/>
        </p:nvSpPr>
        <p:spPr>
          <a:xfrm>
            <a:off x="7874679" y="2055469"/>
            <a:ext cx="1862423" cy="500042"/>
          </a:xfrm>
          <a:prstGeom prst="rect">
            <a:avLst/>
          </a:prstGeom>
        </p:spPr>
        <p:txBody>
          <a:bodyPr vert="horz" lIns="91440" tIns="45720" rIns="91440" bIns="45720" rtlCol="1" anchor="ctr">
            <a:normAutofit fontScale="75000" lnSpcReduction="20000"/>
          </a:bodyPr>
          <a:lstStyle/>
          <a:p>
            <a:pPr algn="ctr">
              <a:spcBef>
                <a:spcPct val="0"/>
              </a:spcBef>
              <a:defRPr/>
            </a:pPr>
            <a:r>
              <a:rPr lang="he-IL" sz="4400" u="sng" dirty="0">
                <a:latin typeface="+mj-lt"/>
                <a:ea typeface="+mj-ea"/>
                <a:cs typeface="+mj-cs"/>
              </a:rPr>
              <a:t>מצרפי</a:t>
            </a:r>
          </a:p>
        </p:txBody>
      </p:sp>
      <p:cxnSp>
        <p:nvCxnSpPr>
          <p:cNvPr id="25" name="מחבר ישר 33">
            <a:extLst>
              <a:ext uri="{FF2B5EF4-FFF2-40B4-BE49-F238E27FC236}">
                <a16:creationId xmlns:a16="http://schemas.microsoft.com/office/drawing/2014/main" id="{C03399C5-99C4-52DB-EC67-687CBCAB4C43}"/>
              </a:ext>
            </a:extLst>
          </p:cNvPr>
          <p:cNvCxnSpPr>
            <a:cxnSpLocks/>
          </p:cNvCxnSpPr>
          <p:nvPr/>
        </p:nvCxnSpPr>
        <p:spPr>
          <a:xfrm flipH="1" flipV="1">
            <a:off x="2189077" y="3646882"/>
            <a:ext cx="6502446" cy="50292"/>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6" name="Text Box 18">
            <a:extLst>
              <a:ext uri="{FF2B5EF4-FFF2-40B4-BE49-F238E27FC236}">
                <a16:creationId xmlns:a16="http://schemas.microsoft.com/office/drawing/2014/main" id="{84F2A0C3-A1CE-29F6-CA7F-4B5014F88B0A}"/>
              </a:ext>
            </a:extLst>
          </p:cNvPr>
          <p:cNvSpPr txBox="1">
            <a:spLocks noChangeArrowheads="1"/>
          </p:cNvSpPr>
          <p:nvPr/>
        </p:nvSpPr>
        <p:spPr bwMode="auto">
          <a:xfrm>
            <a:off x="2993859" y="4480352"/>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cs typeface="Arial" pitchFamily="34" charset="0"/>
            </a:endParaRPr>
          </a:p>
        </p:txBody>
      </p:sp>
      <p:sp>
        <p:nvSpPr>
          <p:cNvPr id="27" name="Text Box 18">
            <a:extLst>
              <a:ext uri="{FF2B5EF4-FFF2-40B4-BE49-F238E27FC236}">
                <a16:creationId xmlns:a16="http://schemas.microsoft.com/office/drawing/2014/main" id="{67A19F30-16EE-6CFB-B27E-9FE203C1CEB0}"/>
              </a:ext>
            </a:extLst>
          </p:cNvPr>
          <p:cNvSpPr txBox="1">
            <a:spLocks noChangeArrowheads="1"/>
          </p:cNvSpPr>
          <p:nvPr/>
        </p:nvSpPr>
        <p:spPr bwMode="auto">
          <a:xfrm>
            <a:off x="8133853" y="4454258"/>
            <a:ext cx="785786" cy="357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cs typeface="Arial" pitchFamily="34" charset="0"/>
            </a:endParaRPr>
          </a:p>
        </p:txBody>
      </p:sp>
      <p:sp>
        <p:nvSpPr>
          <p:cNvPr id="28" name="Text Box 18">
            <a:extLst>
              <a:ext uri="{FF2B5EF4-FFF2-40B4-BE49-F238E27FC236}">
                <a16:creationId xmlns:a16="http://schemas.microsoft.com/office/drawing/2014/main" id="{266C1306-D4DD-1177-3AA2-78640B644280}"/>
              </a:ext>
            </a:extLst>
          </p:cNvPr>
          <p:cNvSpPr txBox="1">
            <a:spLocks noChangeArrowheads="1"/>
          </p:cNvSpPr>
          <p:nvPr/>
        </p:nvSpPr>
        <p:spPr bwMode="auto">
          <a:xfrm>
            <a:off x="9508890" y="4407371"/>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600" dirty="0">
                <a:latin typeface="Calibri" pitchFamily="34" charset="0"/>
                <a:ea typeface="Arial" pitchFamily="34" charset="0"/>
                <a:cs typeface="Arial" pitchFamily="34" charset="0"/>
              </a:rPr>
              <a:t>X</a:t>
            </a:r>
            <a:endParaRPr lang="he-IL" sz="2800" dirty="0">
              <a:latin typeface="Arial" pitchFamily="34" charset="0"/>
              <a:cs typeface="Arial" pitchFamily="34" charset="0"/>
            </a:endParaRPr>
          </a:p>
        </p:txBody>
      </p:sp>
      <p:sp>
        <p:nvSpPr>
          <p:cNvPr id="29" name="Arc 28">
            <a:extLst>
              <a:ext uri="{FF2B5EF4-FFF2-40B4-BE49-F238E27FC236}">
                <a16:creationId xmlns:a16="http://schemas.microsoft.com/office/drawing/2014/main" id="{F7780634-5334-666A-111F-3FA9A983BB4E}"/>
              </a:ext>
            </a:extLst>
          </p:cNvPr>
          <p:cNvSpPr/>
          <p:nvPr/>
        </p:nvSpPr>
        <p:spPr>
          <a:xfrm rot="10800000">
            <a:off x="8024386" y="1294543"/>
            <a:ext cx="4768031" cy="2819017"/>
          </a:xfrm>
          <a:prstGeom prst="arc">
            <a:avLst>
              <a:gd name="adj1" fmla="val 17389242"/>
              <a:gd name="adj2" fmla="val 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DBDDD27-C502-ED09-03E7-9594A2CF7027}"/>
                  </a:ext>
                </a:extLst>
              </p:cNvPr>
              <p:cNvSpPr txBox="1"/>
              <p:nvPr/>
            </p:nvSpPr>
            <p:spPr>
              <a:xfrm>
                <a:off x="9108084" y="4114888"/>
                <a:ext cx="1278065"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b="1" i="1">
                              <a:solidFill>
                                <a:schemeClr val="accent5">
                                  <a:lumMod val="50000"/>
                                </a:schemeClr>
                              </a:solidFill>
                              <a:latin typeface="Cambria Math" panose="02040503050406030204" pitchFamily="18" charset="0"/>
                            </a:rPr>
                          </m:ctrlPr>
                        </m:sSubPr>
                        <m:e>
                          <m:r>
                            <a:rPr lang="en-US" sz="1600" b="1" i="1">
                              <a:solidFill>
                                <a:schemeClr val="accent5">
                                  <a:lumMod val="50000"/>
                                </a:schemeClr>
                              </a:solidFill>
                              <a:latin typeface="Cambria Math" panose="02040503050406030204" pitchFamily="18" charset="0"/>
                            </a:rPr>
                            <m:t>𝑫</m:t>
                          </m:r>
                        </m:e>
                        <m:sub>
                          <m:r>
                            <a:rPr lang="en-US" sz="1600" b="1" i="1">
                              <a:solidFill>
                                <a:schemeClr val="accent5">
                                  <a:lumMod val="50000"/>
                                </a:schemeClr>
                              </a:solidFill>
                              <a:latin typeface="Cambria Math" panose="02040503050406030204" pitchFamily="18" charset="0"/>
                            </a:rPr>
                            <m:t>𝟎</m:t>
                          </m:r>
                        </m:sub>
                      </m:sSub>
                    </m:oMath>
                  </m:oMathPara>
                </a14:m>
                <a:endParaRPr lang="aa-ET" b="1" dirty="0"/>
              </a:p>
            </p:txBody>
          </p:sp>
        </mc:Choice>
        <mc:Fallback xmlns="">
          <p:sp>
            <p:nvSpPr>
              <p:cNvPr id="30" name="TextBox 29">
                <a:extLst>
                  <a:ext uri="{FF2B5EF4-FFF2-40B4-BE49-F238E27FC236}">
                    <a16:creationId xmlns:a16="http://schemas.microsoft.com/office/drawing/2014/main" id="{EDBDDD27-C502-ED09-03E7-9594A2CF7027}"/>
                  </a:ext>
                </a:extLst>
              </p:cNvPr>
              <p:cNvSpPr txBox="1">
                <a:spLocks noRot="1" noChangeAspect="1" noMove="1" noResize="1" noEditPoints="1" noAdjustHandles="1" noChangeArrowheads="1" noChangeShapeType="1" noTextEdit="1"/>
              </p:cNvSpPr>
              <p:nvPr/>
            </p:nvSpPr>
            <p:spPr>
              <a:xfrm>
                <a:off x="9108084" y="4114888"/>
                <a:ext cx="1278065" cy="246221"/>
              </a:xfrm>
              <a:prstGeom prst="rect">
                <a:avLst/>
              </a:prstGeom>
              <a:blipFill>
                <a:blip r:embed="rId2"/>
                <a:stretch>
                  <a:fillRect b="-17500"/>
                </a:stretch>
              </a:blipFill>
            </p:spPr>
            <p:txBody>
              <a:bodyPr/>
              <a:lstStyle/>
              <a:p>
                <a:r>
                  <a:rPr lang="en-IL">
                    <a:noFill/>
                  </a:rPr>
                  <a:t> </a:t>
                </a:r>
              </a:p>
            </p:txBody>
          </p:sp>
        </mc:Fallback>
      </mc:AlternateContent>
      <p:sp>
        <p:nvSpPr>
          <p:cNvPr id="31" name="Arc 30">
            <a:extLst>
              <a:ext uri="{FF2B5EF4-FFF2-40B4-BE49-F238E27FC236}">
                <a16:creationId xmlns:a16="http://schemas.microsoft.com/office/drawing/2014/main" id="{304A5774-FDCE-715B-1DC3-24EF36C0CADC}"/>
              </a:ext>
            </a:extLst>
          </p:cNvPr>
          <p:cNvSpPr/>
          <p:nvPr/>
        </p:nvSpPr>
        <p:spPr>
          <a:xfrm rot="15774971" flipH="1" flipV="1">
            <a:off x="6025841" y="507041"/>
            <a:ext cx="2797296" cy="4257979"/>
          </a:xfrm>
          <a:prstGeom prst="arc">
            <a:avLst>
              <a:gd name="adj1" fmla="val 17579446"/>
              <a:gd name="adj2" fmla="val 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284B4FB-A68E-7409-FF1B-368F92BB6B3C}"/>
                  </a:ext>
                </a:extLst>
              </p:cNvPr>
              <p:cNvSpPr txBox="1"/>
              <p:nvPr/>
            </p:nvSpPr>
            <p:spPr>
              <a:xfrm>
                <a:off x="9232642" y="2790850"/>
                <a:ext cx="1252266" cy="506742"/>
              </a:xfrm>
              <a:prstGeom prst="rect">
                <a:avLst/>
              </a:prstGeom>
              <a:noFill/>
            </p:spPr>
            <p:txBody>
              <a:bodyPr wrap="none" rtlCol="1">
                <a:spAutoFit/>
              </a:bodyPr>
              <a:lstStyle/>
              <a:p>
                <a:r>
                  <a:rPr lang="en-US" sz="2400" b="1" dirty="0"/>
                  <a:t>S</a:t>
                </a:r>
                <a:r>
                  <a:rPr lang="en-US" sz="2400" b="1" baseline="-25000" dirty="0"/>
                  <a:t>0</a:t>
                </a:r>
                <a:r>
                  <a:rPr lang="he-IL" sz="2400" b="1" dirty="0">
                    <a:solidFill>
                      <a:schemeClr val="accent5">
                        <a:lumMod val="50000"/>
                      </a:schemeClr>
                    </a:solidFill>
                  </a:rPr>
                  <a:t> </a:t>
                </a:r>
                <a14:m>
                  <m:oMath xmlns:m="http://schemas.openxmlformats.org/officeDocument/2006/math">
                    <m:r>
                      <a:rPr lang="he-IL" sz="2400" b="1">
                        <a:solidFill>
                          <a:schemeClr val="accent5">
                            <a:lumMod val="50000"/>
                          </a:schemeClr>
                        </a:solidFill>
                        <a:latin typeface="Cambria Math" panose="02040503050406030204" pitchFamily="18" charset="0"/>
                      </a:rPr>
                      <m:t>מצרפי</m:t>
                    </m:r>
                  </m:oMath>
                </a14:m>
                <a:endParaRPr lang="he-IL" sz="2400" b="1" baseline="-25000" dirty="0"/>
              </a:p>
            </p:txBody>
          </p:sp>
        </mc:Choice>
        <mc:Fallback xmlns="">
          <p:sp>
            <p:nvSpPr>
              <p:cNvPr id="32" name="TextBox 31">
                <a:extLst>
                  <a:ext uri="{FF2B5EF4-FFF2-40B4-BE49-F238E27FC236}">
                    <a16:creationId xmlns:a16="http://schemas.microsoft.com/office/drawing/2014/main" id="{8284B4FB-A68E-7409-FF1B-368F92BB6B3C}"/>
                  </a:ext>
                </a:extLst>
              </p:cNvPr>
              <p:cNvSpPr txBox="1">
                <a:spLocks noRot="1" noChangeAspect="1" noMove="1" noResize="1" noEditPoints="1" noAdjustHandles="1" noChangeArrowheads="1" noChangeShapeType="1" noTextEdit="1"/>
              </p:cNvSpPr>
              <p:nvPr/>
            </p:nvSpPr>
            <p:spPr>
              <a:xfrm>
                <a:off x="9232642" y="2790850"/>
                <a:ext cx="1252266" cy="506742"/>
              </a:xfrm>
              <a:prstGeom prst="rect">
                <a:avLst/>
              </a:prstGeom>
              <a:blipFill>
                <a:blip r:embed="rId3"/>
                <a:stretch>
                  <a:fillRect t="-2410" r="-2927" b="-26506"/>
                </a:stretch>
              </a:blipFill>
            </p:spPr>
            <p:txBody>
              <a:bodyPr/>
              <a:lstStyle/>
              <a:p>
                <a:r>
                  <a:rPr lang="en-IL">
                    <a:noFill/>
                  </a:rPr>
                  <a:t> </a:t>
                </a:r>
              </a:p>
            </p:txBody>
          </p:sp>
        </mc:Fallback>
      </mc:AlternateContent>
      <p:sp>
        <p:nvSpPr>
          <p:cNvPr id="33" name="Arc 32">
            <a:extLst>
              <a:ext uri="{FF2B5EF4-FFF2-40B4-BE49-F238E27FC236}">
                <a16:creationId xmlns:a16="http://schemas.microsoft.com/office/drawing/2014/main" id="{55813132-2A2C-0FEA-89DD-881FD8FF6946}"/>
              </a:ext>
            </a:extLst>
          </p:cNvPr>
          <p:cNvSpPr/>
          <p:nvPr/>
        </p:nvSpPr>
        <p:spPr>
          <a:xfrm rot="14668846" flipH="1" flipV="1">
            <a:off x="291618" y="872084"/>
            <a:ext cx="2797296" cy="4257979"/>
          </a:xfrm>
          <a:prstGeom prst="arc">
            <a:avLst>
              <a:gd name="adj1" fmla="val 17093280"/>
              <a:gd name="adj2" fmla="val 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sp>
        <p:nvSpPr>
          <p:cNvPr id="34" name="Arc 33">
            <a:extLst>
              <a:ext uri="{FF2B5EF4-FFF2-40B4-BE49-F238E27FC236}">
                <a16:creationId xmlns:a16="http://schemas.microsoft.com/office/drawing/2014/main" id="{26936FC9-A25A-553B-47C9-1AD5676E1017}"/>
              </a:ext>
            </a:extLst>
          </p:cNvPr>
          <p:cNvSpPr/>
          <p:nvPr/>
        </p:nvSpPr>
        <p:spPr>
          <a:xfrm rot="14682587" flipH="1" flipV="1">
            <a:off x="3097492" y="1188972"/>
            <a:ext cx="2762325" cy="3789504"/>
          </a:xfrm>
          <a:prstGeom prst="arc">
            <a:avLst>
              <a:gd name="adj1" fmla="val 17093280"/>
              <a:gd name="adj2" fmla="val 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cxnSp>
        <p:nvCxnSpPr>
          <p:cNvPr id="35" name="מחבר ישר 57">
            <a:extLst>
              <a:ext uri="{FF2B5EF4-FFF2-40B4-BE49-F238E27FC236}">
                <a16:creationId xmlns:a16="http://schemas.microsoft.com/office/drawing/2014/main" id="{BC8267C0-790A-7789-149D-DEE548A681C7}"/>
              </a:ext>
            </a:extLst>
          </p:cNvPr>
          <p:cNvCxnSpPr>
            <a:cxnSpLocks/>
          </p:cNvCxnSpPr>
          <p:nvPr/>
        </p:nvCxnSpPr>
        <p:spPr>
          <a:xfrm flipV="1">
            <a:off x="8624201" y="3717804"/>
            <a:ext cx="19467" cy="795259"/>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מחבר ישר 71">
            <a:extLst>
              <a:ext uri="{FF2B5EF4-FFF2-40B4-BE49-F238E27FC236}">
                <a16:creationId xmlns:a16="http://schemas.microsoft.com/office/drawing/2014/main" id="{2C73CC09-14AE-BEAC-35FB-B6DF3FCF5629}"/>
              </a:ext>
            </a:extLst>
          </p:cNvPr>
          <p:cNvCxnSpPr>
            <a:cxnSpLocks/>
          </p:cNvCxnSpPr>
          <p:nvPr/>
        </p:nvCxnSpPr>
        <p:spPr>
          <a:xfrm flipV="1">
            <a:off x="5914896" y="3697175"/>
            <a:ext cx="0" cy="839349"/>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7" name="מחבר ישר 72">
            <a:extLst>
              <a:ext uri="{FF2B5EF4-FFF2-40B4-BE49-F238E27FC236}">
                <a16:creationId xmlns:a16="http://schemas.microsoft.com/office/drawing/2014/main" id="{617E5E91-F53A-04F0-B689-EE8FDA0B8D1C}"/>
              </a:ext>
            </a:extLst>
          </p:cNvPr>
          <p:cNvCxnSpPr>
            <a:cxnSpLocks/>
          </p:cNvCxnSpPr>
          <p:nvPr/>
        </p:nvCxnSpPr>
        <p:spPr>
          <a:xfrm flipH="1" flipV="1">
            <a:off x="3179683" y="3654593"/>
            <a:ext cx="18658" cy="894577"/>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3" name="Line 3">
            <a:extLst>
              <a:ext uri="{FF2B5EF4-FFF2-40B4-BE49-F238E27FC236}">
                <a16:creationId xmlns:a16="http://schemas.microsoft.com/office/drawing/2014/main" id="{27D592D8-B209-FCFB-ED8E-F6FE5744FF5F}"/>
              </a:ext>
            </a:extLst>
          </p:cNvPr>
          <p:cNvSpPr>
            <a:spLocks noChangeShapeType="1"/>
          </p:cNvSpPr>
          <p:nvPr/>
        </p:nvSpPr>
        <p:spPr bwMode="auto">
          <a:xfrm rot="16200000">
            <a:off x="8556326" y="3577951"/>
            <a:ext cx="0" cy="1853079"/>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4" name="Oval 43">
            <a:extLst>
              <a:ext uri="{FF2B5EF4-FFF2-40B4-BE49-F238E27FC236}">
                <a16:creationId xmlns:a16="http://schemas.microsoft.com/office/drawing/2014/main" id="{5A7283F3-89ED-0A23-3A43-AAFB5A72B211}"/>
              </a:ext>
            </a:extLst>
          </p:cNvPr>
          <p:cNvSpPr/>
          <p:nvPr/>
        </p:nvSpPr>
        <p:spPr>
          <a:xfrm>
            <a:off x="8548209" y="3557621"/>
            <a:ext cx="241101" cy="2225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endParaRPr lang="en-IL" dirty="0"/>
          </a:p>
        </p:txBody>
      </p:sp>
      <p:sp>
        <p:nvSpPr>
          <p:cNvPr id="40" name="TextBox 39">
            <a:extLst>
              <a:ext uri="{FF2B5EF4-FFF2-40B4-BE49-F238E27FC236}">
                <a16:creationId xmlns:a16="http://schemas.microsoft.com/office/drawing/2014/main" id="{E45A554C-AFD1-48DC-8E66-5249ADDFCF00}"/>
              </a:ext>
            </a:extLst>
          </p:cNvPr>
          <p:cNvSpPr txBox="1"/>
          <p:nvPr/>
        </p:nvSpPr>
        <p:spPr>
          <a:xfrm>
            <a:off x="6194104" y="2412939"/>
            <a:ext cx="579968" cy="369332"/>
          </a:xfrm>
          <a:prstGeom prst="rect">
            <a:avLst/>
          </a:prstGeom>
          <a:noFill/>
        </p:spPr>
        <p:txBody>
          <a:bodyPr wrap="square">
            <a:spAutoFit/>
          </a:bodyPr>
          <a:lstStyle/>
          <a:p>
            <a:r>
              <a:rPr lang="en-US" b="1" dirty="0"/>
              <a:t>S</a:t>
            </a:r>
            <a:r>
              <a:rPr lang="en-US" b="1" baseline="-25000" dirty="0"/>
              <a:t>0</a:t>
            </a:r>
            <a:endParaRPr lang="en-IL" dirty="0"/>
          </a:p>
        </p:txBody>
      </p:sp>
      <p:sp>
        <p:nvSpPr>
          <p:cNvPr id="42" name="TextBox 41">
            <a:extLst>
              <a:ext uri="{FF2B5EF4-FFF2-40B4-BE49-F238E27FC236}">
                <a16:creationId xmlns:a16="http://schemas.microsoft.com/office/drawing/2014/main" id="{53AF4F08-6E12-CC3E-4A8B-7C6CBA721947}"/>
              </a:ext>
            </a:extLst>
          </p:cNvPr>
          <p:cNvSpPr txBox="1"/>
          <p:nvPr/>
        </p:nvSpPr>
        <p:spPr>
          <a:xfrm>
            <a:off x="3669076" y="2566506"/>
            <a:ext cx="459361" cy="369332"/>
          </a:xfrm>
          <a:prstGeom prst="rect">
            <a:avLst/>
          </a:prstGeom>
          <a:noFill/>
        </p:spPr>
        <p:txBody>
          <a:bodyPr wrap="square">
            <a:spAutoFit/>
          </a:bodyPr>
          <a:lstStyle/>
          <a:p>
            <a:r>
              <a:rPr lang="en-US" b="1" dirty="0"/>
              <a:t>S</a:t>
            </a:r>
            <a:r>
              <a:rPr lang="en-US" b="1" baseline="-25000" dirty="0"/>
              <a:t>0</a:t>
            </a:r>
            <a:endParaRPr lang="en-IL" dirty="0"/>
          </a:p>
        </p:txBody>
      </p:sp>
      <p:sp>
        <p:nvSpPr>
          <p:cNvPr id="62" name="Text Box 18">
            <a:extLst>
              <a:ext uri="{FF2B5EF4-FFF2-40B4-BE49-F238E27FC236}">
                <a16:creationId xmlns:a16="http://schemas.microsoft.com/office/drawing/2014/main" id="{024336C7-1C44-7687-5A46-9A2A58BAF5B3}"/>
              </a:ext>
            </a:extLst>
          </p:cNvPr>
          <p:cNvSpPr txBox="1">
            <a:spLocks noChangeArrowheads="1"/>
          </p:cNvSpPr>
          <p:nvPr/>
        </p:nvSpPr>
        <p:spPr bwMode="auto">
          <a:xfrm>
            <a:off x="1658191" y="3497460"/>
            <a:ext cx="59787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600" dirty="0">
                <a:latin typeface="Calibri" pitchFamily="34" charset="0"/>
                <a:ea typeface="Arial" pitchFamily="34" charset="0"/>
                <a:cs typeface="Arial" pitchFamily="34" charset="0"/>
              </a:rPr>
              <a:t>Px</a:t>
            </a:r>
            <a:r>
              <a:rPr lang="en-US" sz="1600" dirty="0">
                <a:latin typeface="Calibri" pitchFamily="34" charset="0"/>
                <a:cs typeface="Arial" pitchFamily="34" charset="0"/>
              </a:rPr>
              <a:t>0</a:t>
            </a:r>
            <a:endParaRPr lang="he-IL" sz="3600" dirty="0">
              <a:latin typeface="Arial" pitchFamily="34" charset="0"/>
              <a:cs typeface="Arial" pitchFamily="34" charset="0"/>
            </a:endParaRPr>
          </a:p>
        </p:txBody>
      </p:sp>
    </p:spTree>
    <p:extLst>
      <p:ext uri="{BB962C8B-B14F-4D97-AF65-F5344CB8AC3E}">
        <p14:creationId xmlns:p14="http://schemas.microsoft.com/office/powerpoint/2010/main" val="35130391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CE6D808-A8E4-65B6-43CB-8AEF3DD05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C377B-C728-B5E0-9E3C-7C7180E2E02C}"/>
              </a:ext>
            </a:extLst>
          </p:cNvPr>
          <p:cNvSpPr>
            <a:spLocks noGrp="1"/>
          </p:cNvSpPr>
          <p:nvPr>
            <p:ph type="title"/>
          </p:nvPr>
        </p:nvSpPr>
        <p:spPr>
          <a:xfrm>
            <a:off x="2366493" y="147257"/>
            <a:ext cx="7848600" cy="792162"/>
          </a:xfrm>
        </p:spPr>
        <p:txBody>
          <a:bodyPr>
            <a:normAutofit/>
          </a:bodyPr>
          <a:lstStyle/>
          <a:p>
            <a:r>
              <a:rPr lang="he-IL" sz="4000" dirty="0"/>
              <a:t>שאלה מבחינה בנושא שווקים חלקיים</a:t>
            </a:r>
            <a:endParaRPr lang="en-IL" sz="4000" dirty="0"/>
          </a:p>
        </p:txBody>
      </p:sp>
      <p:sp>
        <p:nvSpPr>
          <p:cNvPr id="3" name="Content Placeholder 2">
            <a:extLst>
              <a:ext uri="{FF2B5EF4-FFF2-40B4-BE49-F238E27FC236}">
                <a16:creationId xmlns:a16="http://schemas.microsoft.com/office/drawing/2014/main" id="{C7C6F02E-7F0A-7B91-D667-6B684D98C93C}"/>
              </a:ext>
            </a:extLst>
          </p:cNvPr>
          <p:cNvSpPr>
            <a:spLocks noGrp="1"/>
          </p:cNvSpPr>
          <p:nvPr>
            <p:ph idx="1"/>
          </p:nvPr>
        </p:nvSpPr>
        <p:spPr>
          <a:xfrm>
            <a:off x="1960328" y="863967"/>
            <a:ext cx="8229600" cy="1191503"/>
          </a:xfrm>
        </p:spPr>
        <p:txBody>
          <a:bodyPr>
            <a:normAutofit/>
          </a:bodyPr>
          <a:lstStyle/>
          <a:p>
            <a:pPr marL="0" indent="0">
              <a:lnSpc>
                <a:spcPct val="150000"/>
              </a:lnSpc>
              <a:buNone/>
            </a:pPr>
            <a:r>
              <a:rPr lang="he-IL" sz="1400" dirty="0"/>
              <a:t>בשוק המלונים הכתומים שוררת תחרות משוכללת וזהו שוק סגור. את המלונים הכתומים מגדלים החקלאים בנגב ובגליל באמצעות עובדים ושדות. ידוע כי השנה, בעקבות הבצורת, נפגעו השדות בהם מגדלים מלונים כתומים באזור ה</a:t>
            </a:r>
            <a:r>
              <a:rPr lang="he-IL" sz="1400" b="1" dirty="0">
                <a:solidFill>
                  <a:schemeClr val="accent2">
                    <a:lumMod val="75000"/>
                  </a:schemeClr>
                </a:solidFill>
              </a:rPr>
              <a:t>גליל</a:t>
            </a:r>
            <a:r>
              <a:rPr lang="he-IL" sz="1400" dirty="0"/>
              <a:t>, כך שהעלות בייצורם עלתה (לא חלו שינויים בעלויות הייצור בנגב). לפיכך:</a:t>
            </a:r>
            <a:endParaRPr lang="en-IL" sz="1400" dirty="0"/>
          </a:p>
        </p:txBody>
      </p:sp>
      <p:sp>
        <p:nvSpPr>
          <p:cNvPr id="4" name="Date Placeholder 3">
            <a:extLst>
              <a:ext uri="{FF2B5EF4-FFF2-40B4-BE49-F238E27FC236}">
                <a16:creationId xmlns:a16="http://schemas.microsoft.com/office/drawing/2014/main" id="{96A9E517-AD6A-EB64-E369-B96341149F7F}"/>
              </a:ext>
            </a:extLst>
          </p:cNvPr>
          <p:cNvSpPr>
            <a:spLocks noGrp="1"/>
          </p:cNvSpPr>
          <p:nvPr>
            <p:ph type="dt" sz="half" idx="10"/>
          </p:nvPr>
        </p:nvSpPr>
        <p:spPr/>
        <p:txBody>
          <a:bodyPr/>
          <a:lstStyle/>
          <a:p>
            <a:fld id="{D3F46614-6365-481A-8D4D-9F684485BEB0}" type="datetime8">
              <a:rPr lang="he-IL" smtClean="0"/>
              <a:t>09 ינואר 26</a:t>
            </a:fld>
            <a:endParaRPr lang="he-IL"/>
          </a:p>
        </p:txBody>
      </p:sp>
      <p:sp>
        <p:nvSpPr>
          <p:cNvPr id="5" name="Slide Number Placeholder 4">
            <a:extLst>
              <a:ext uri="{FF2B5EF4-FFF2-40B4-BE49-F238E27FC236}">
                <a16:creationId xmlns:a16="http://schemas.microsoft.com/office/drawing/2014/main" id="{C3523BDD-03AA-0769-0FE3-11B9FC0A83EF}"/>
              </a:ext>
            </a:extLst>
          </p:cNvPr>
          <p:cNvSpPr>
            <a:spLocks noGrp="1"/>
          </p:cNvSpPr>
          <p:nvPr>
            <p:ph type="sldNum" sz="quarter" idx="12"/>
          </p:nvPr>
        </p:nvSpPr>
        <p:spPr/>
        <p:txBody>
          <a:bodyPr/>
          <a:lstStyle/>
          <a:p>
            <a:fld id="{492DB488-E800-4C9D-A68D-A9C6D048BCD3}" type="slidenum">
              <a:rPr lang="he-IL" smtClean="0"/>
              <a:pPr/>
              <a:t>43</a:t>
            </a:fld>
            <a:endParaRPr lang="he-IL"/>
          </a:p>
        </p:txBody>
      </p:sp>
      <p:sp>
        <p:nvSpPr>
          <p:cNvPr id="6" name="TextBox 5">
            <a:extLst>
              <a:ext uri="{FF2B5EF4-FFF2-40B4-BE49-F238E27FC236}">
                <a16:creationId xmlns:a16="http://schemas.microsoft.com/office/drawing/2014/main" id="{3D1B5AC1-5665-D2FB-3543-0CC070DF4E23}"/>
              </a:ext>
            </a:extLst>
          </p:cNvPr>
          <p:cNvSpPr txBox="1"/>
          <p:nvPr/>
        </p:nvSpPr>
        <p:spPr>
          <a:xfrm>
            <a:off x="972313" y="5166921"/>
            <a:ext cx="7539507" cy="307777"/>
          </a:xfrm>
          <a:prstGeom prst="rect">
            <a:avLst/>
          </a:prstGeom>
          <a:noFill/>
        </p:spPr>
        <p:txBody>
          <a:bodyPr wrap="square" rtlCol="0">
            <a:spAutoFit/>
          </a:bodyPr>
          <a:lstStyle/>
          <a:p>
            <a:pPr algn="r" rtl="1"/>
            <a:r>
              <a:rPr lang="he-IL" sz="1400" dirty="0"/>
              <a:t>1. אם הביקוש למלונים כתומים הוא יחידתי, אזי הפדיון של המגדלים ב</a:t>
            </a:r>
            <a:r>
              <a:rPr lang="he-IL" sz="1400" b="1" dirty="0">
                <a:solidFill>
                  <a:schemeClr val="accent2">
                    <a:lumMod val="75000"/>
                  </a:schemeClr>
                </a:solidFill>
              </a:rPr>
              <a:t>גליל יירד</a:t>
            </a:r>
            <a:endParaRPr lang="en-IL" sz="1400" b="1" dirty="0">
              <a:solidFill>
                <a:schemeClr val="accent2">
                  <a:lumMod val="75000"/>
                </a:schemeClr>
              </a:solidFill>
            </a:endParaRPr>
          </a:p>
        </p:txBody>
      </p:sp>
      <p:sp>
        <p:nvSpPr>
          <p:cNvPr id="7" name="TextBox 6">
            <a:extLst>
              <a:ext uri="{FF2B5EF4-FFF2-40B4-BE49-F238E27FC236}">
                <a16:creationId xmlns:a16="http://schemas.microsoft.com/office/drawing/2014/main" id="{84BB4752-318C-8B9A-2707-C600D454B08D}"/>
              </a:ext>
            </a:extLst>
          </p:cNvPr>
          <p:cNvSpPr txBox="1"/>
          <p:nvPr/>
        </p:nvSpPr>
        <p:spPr>
          <a:xfrm>
            <a:off x="473158" y="5418177"/>
            <a:ext cx="8053589" cy="307777"/>
          </a:xfrm>
          <a:prstGeom prst="rect">
            <a:avLst/>
          </a:prstGeom>
          <a:noFill/>
        </p:spPr>
        <p:txBody>
          <a:bodyPr wrap="square" rtlCol="0">
            <a:spAutoFit/>
          </a:bodyPr>
          <a:lstStyle/>
          <a:p>
            <a:pPr algn="r" rtl="1"/>
            <a:r>
              <a:rPr lang="he-IL" sz="1400" dirty="0"/>
              <a:t>2. אם הביקוש למלונים כתומים הוא קשיח, אזי הפדיון של המגדלים בגליל בוודאות יעלה</a:t>
            </a:r>
            <a:endParaRPr lang="en-IL" sz="1400" dirty="0"/>
          </a:p>
        </p:txBody>
      </p:sp>
      <p:sp>
        <p:nvSpPr>
          <p:cNvPr id="8" name="TextBox 7">
            <a:extLst>
              <a:ext uri="{FF2B5EF4-FFF2-40B4-BE49-F238E27FC236}">
                <a16:creationId xmlns:a16="http://schemas.microsoft.com/office/drawing/2014/main" id="{782A338F-D04C-9D75-9D80-83BE0CE0873A}"/>
              </a:ext>
            </a:extLst>
          </p:cNvPr>
          <p:cNvSpPr txBox="1"/>
          <p:nvPr/>
        </p:nvSpPr>
        <p:spPr>
          <a:xfrm>
            <a:off x="2593090" y="5741616"/>
            <a:ext cx="5933657" cy="307777"/>
          </a:xfrm>
          <a:prstGeom prst="rect">
            <a:avLst/>
          </a:prstGeom>
          <a:noFill/>
        </p:spPr>
        <p:txBody>
          <a:bodyPr wrap="square" rtlCol="0">
            <a:spAutoFit/>
          </a:bodyPr>
          <a:lstStyle/>
          <a:p>
            <a:pPr algn="r" rtl="1"/>
            <a:r>
              <a:rPr lang="he-IL" sz="1400" dirty="0"/>
              <a:t>3. אם הביקוש למלונים כתומים הוא גמיש, אז ייתכן שהפדיון של המגדלים בנגב יירד</a:t>
            </a:r>
            <a:endParaRPr lang="en-IL" sz="1400" dirty="0"/>
          </a:p>
        </p:txBody>
      </p:sp>
      <p:sp>
        <p:nvSpPr>
          <p:cNvPr id="9" name="TextBox 8">
            <a:extLst>
              <a:ext uri="{FF2B5EF4-FFF2-40B4-BE49-F238E27FC236}">
                <a16:creationId xmlns:a16="http://schemas.microsoft.com/office/drawing/2014/main" id="{37C9FF52-E2C7-D1F8-774D-B0628F05BD1B}"/>
              </a:ext>
            </a:extLst>
          </p:cNvPr>
          <p:cNvSpPr txBox="1"/>
          <p:nvPr/>
        </p:nvSpPr>
        <p:spPr>
          <a:xfrm>
            <a:off x="3578137" y="6059809"/>
            <a:ext cx="4933682" cy="307777"/>
          </a:xfrm>
          <a:prstGeom prst="rect">
            <a:avLst/>
          </a:prstGeom>
          <a:noFill/>
        </p:spPr>
        <p:txBody>
          <a:bodyPr wrap="square" rtlCol="0">
            <a:spAutoFit/>
          </a:bodyPr>
          <a:lstStyle/>
          <a:p>
            <a:pPr algn="r" rtl="1"/>
            <a:r>
              <a:rPr lang="he-IL" sz="1400" dirty="0"/>
              <a:t>4. הוצאות הצרכנים לרכישת המלונים הכתומים גדלו.</a:t>
            </a:r>
            <a:endParaRPr lang="en-IL" sz="1400" dirty="0"/>
          </a:p>
        </p:txBody>
      </p:sp>
      <p:sp>
        <p:nvSpPr>
          <p:cNvPr id="10" name="TextBox 9">
            <a:extLst>
              <a:ext uri="{FF2B5EF4-FFF2-40B4-BE49-F238E27FC236}">
                <a16:creationId xmlns:a16="http://schemas.microsoft.com/office/drawing/2014/main" id="{B199C6FF-8E6C-E961-3515-CD13AD94193E}"/>
              </a:ext>
            </a:extLst>
          </p:cNvPr>
          <p:cNvSpPr txBox="1"/>
          <p:nvPr/>
        </p:nvSpPr>
        <p:spPr>
          <a:xfrm>
            <a:off x="3593064" y="6333391"/>
            <a:ext cx="4933682" cy="307777"/>
          </a:xfrm>
          <a:prstGeom prst="rect">
            <a:avLst/>
          </a:prstGeom>
          <a:noFill/>
        </p:spPr>
        <p:txBody>
          <a:bodyPr wrap="square" rtlCol="0">
            <a:spAutoFit/>
          </a:bodyPr>
          <a:lstStyle/>
          <a:p>
            <a:pPr algn="r" rtl="1"/>
            <a:r>
              <a:rPr lang="he-IL" sz="1400" dirty="0"/>
              <a:t>5. כל התשובות האחרות אינן נכונות.</a:t>
            </a:r>
            <a:endParaRPr lang="en-IL" sz="1400" dirty="0"/>
          </a:p>
        </p:txBody>
      </p:sp>
      <p:sp>
        <p:nvSpPr>
          <p:cNvPr id="11" name="Text Box 13">
            <a:extLst>
              <a:ext uri="{FF2B5EF4-FFF2-40B4-BE49-F238E27FC236}">
                <a16:creationId xmlns:a16="http://schemas.microsoft.com/office/drawing/2014/main" id="{99B1B709-95F9-0BD9-59F0-3E1667729DAF}"/>
              </a:ext>
            </a:extLst>
          </p:cNvPr>
          <p:cNvSpPr txBox="1">
            <a:spLocks noChangeArrowheads="1"/>
          </p:cNvSpPr>
          <p:nvPr/>
        </p:nvSpPr>
        <p:spPr bwMode="auto">
          <a:xfrm>
            <a:off x="1689043" y="2223262"/>
            <a:ext cx="4540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Px</a:t>
            </a:r>
            <a:endParaRPr lang="he-IL" sz="3600" dirty="0">
              <a:latin typeface="Arial" pitchFamily="34" charset="0"/>
              <a:cs typeface="Arial" pitchFamily="34" charset="0"/>
            </a:endParaRPr>
          </a:p>
        </p:txBody>
      </p:sp>
      <p:sp>
        <p:nvSpPr>
          <p:cNvPr id="12" name="Line 3">
            <a:extLst>
              <a:ext uri="{FF2B5EF4-FFF2-40B4-BE49-F238E27FC236}">
                <a16:creationId xmlns:a16="http://schemas.microsoft.com/office/drawing/2014/main" id="{FE259BF7-CFCF-DE45-1276-D3A5FB955483}"/>
              </a:ext>
            </a:extLst>
          </p:cNvPr>
          <p:cNvSpPr>
            <a:spLocks noChangeShapeType="1"/>
          </p:cNvSpPr>
          <p:nvPr/>
        </p:nvSpPr>
        <p:spPr bwMode="auto">
          <a:xfrm>
            <a:off x="2157209" y="2348786"/>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3" name="Text Box 18">
            <a:extLst>
              <a:ext uri="{FF2B5EF4-FFF2-40B4-BE49-F238E27FC236}">
                <a16:creationId xmlns:a16="http://schemas.microsoft.com/office/drawing/2014/main" id="{69735050-89B7-4D39-30A0-1A48BEA1C5E3}"/>
              </a:ext>
            </a:extLst>
          </p:cNvPr>
          <p:cNvSpPr txBox="1">
            <a:spLocks noChangeArrowheads="1"/>
          </p:cNvSpPr>
          <p:nvPr/>
        </p:nvSpPr>
        <p:spPr bwMode="auto">
          <a:xfrm>
            <a:off x="3889985" y="449504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600" dirty="0">
                <a:latin typeface="Calibri" pitchFamily="34" charset="0"/>
                <a:ea typeface="Arial" pitchFamily="34" charset="0"/>
                <a:cs typeface="Arial" pitchFamily="34" charset="0"/>
              </a:rPr>
              <a:t>X</a:t>
            </a:r>
            <a:endParaRPr lang="he-IL" sz="2800" dirty="0">
              <a:latin typeface="Arial" pitchFamily="34" charset="0"/>
              <a:cs typeface="Arial" pitchFamily="34" charset="0"/>
            </a:endParaRPr>
          </a:p>
        </p:txBody>
      </p:sp>
      <p:sp>
        <p:nvSpPr>
          <p:cNvPr id="14" name="Line 3">
            <a:extLst>
              <a:ext uri="{FF2B5EF4-FFF2-40B4-BE49-F238E27FC236}">
                <a16:creationId xmlns:a16="http://schemas.microsoft.com/office/drawing/2014/main" id="{016CAD10-ADB8-7996-7FBA-CA68DD42B1C2}"/>
              </a:ext>
            </a:extLst>
          </p:cNvPr>
          <p:cNvSpPr>
            <a:spLocks noChangeShapeType="1"/>
          </p:cNvSpPr>
          <p:nvPr/>
        </p:nvSpPr>
        <p:spPr bwMode="auto">
          <a:xfrm rot="16200000">
            <a:off x="3180297" y="3509286"/>
            <a:ext cx="17430" cy="2063601"/>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5" name="Text Box 13">
            <a:extLst>
              <a:ext uri="{FF2B5EF4-FFF2-40B4-BE49-F238E27FC236}">
                <a16:creationId xmlns:a16="http://schemas.microsoft.com/office/drawing/2014/main" id="{2F83F3CA-EF0E-D257-E300-6250C961376E}"/>
              </a:ext>
            </a:extLst>
          </p:cNvPr>
          <p:cNvSpPr txBox="1">
            <a:spLocks noChangeArrowheads="1"/>
          </p:cNvSpPr>
          <p:nvPr/>
        </p:nvSpPr>
        <p:spPr bwMode="auto">
          <a:xfrm>
            <a:off x="4637275" y="2026876"/>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a:t>
            </a:r>
            <a:endParaRPr lang="he-IL" sz="3600" dirty="0">
              <a:latin typeface="Arial" pitchFamily="34" charset="0"/>
              <a:cs typeface="Arial" pitchFamily="34" charset="0"/>
            </a:endParaRPr>
          </a:p>
        </p:txBody>
      </p:sp>
      <p:sp>
        <p:nvSpPr>
          <p:cNvPr id="16" name="Line 3">
            <a:extLst>
              <a:ext uri="{FF2B5EF4-FFF2-40B4-BE49-F238E27FC236}">
                <a16:creationId xmlns:a16="http://schemas.microsoft.com/office/drawing/2014/main" id="{C582642C-777B-295A-AE71-6B9FA945BFD9}"/>
              </a:ext>
            </a:extLst>
          </p:cNvPr>
          <p:cNvSpPr>
            <a:spLocks noChangeShapeType="1"/>
          </p:cNvSpPr>
          <p:nvPr/>
        </p:nvSpPr>
        <p:spPr bwMode="auto">
          <a:xfrm>
            <a:off x="4835557" y="2359612"/>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17" name="Text Box 18">
            <a:extLst>
              <a:ext uri="{FF2B5EF4-FFF2-40B4-BE49-F238E27FC236}">
                <a16:creationId xmlns:a16="http://schemas.microsoft.com/office/drawing/2014/main" id="{820C7503-AD8A-7BE8-0532-D4F95912F943}"/>
              </a:ext>
            </a:extLst>
          </p:cNvPr>
          <p:cNvSpPr txBox="1">
            <a:spLocks noChangeArrowheads="1"/>
          </p:cNvSpPr>
          <p:nvPr/>
        </p:nvSpPr>
        <p:spPr bwMode="auto">
          <a:xfrm>
            <a:off x="6706942" y="4430299"/>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600" dirty="0">
                <a:latin typeface="Calibri" pitchFamily="34" charset="0"/>
                <a:ea typeface="Arial" pitchFamily="34" charset="0"/>
                <a:cs typeface="Arial" pitchFamily="34" charset="0"/>
              </a:rPr>
              <a:t>X</a:t>
            </a:r>
            <a:endParaRPr lang="he-IL" sz="2800" dirty="0">
              <a:latin typeface="Arial" pitchFamily="34" charset="0"/>
              <a:cs typeface="Arial" pitchFamily="34" charset="0"/>
            </a:endParaRPr>
          </a:p>
        </p:txBody>
      </p:sp>
      <p:sp>
        <p:nvSpPr>
          <p:cNvPr id="18" name="Text Box 18">
            <a:extLst>
              <a:ext uri="{FF2B5EF4-FFF2-40B4-BE49-F238E27FC236}">
                <a16:creationId xmlns:a16="http://schemas.microsoft.com/office/drawing/2014/main" id="{56F14CE9-FFA2-AF29-D1B2-D03DBAC85D3B}"/>
              </a:ext>
            </a:extLst>
          </p:cNvPr>
          <p:cNvSpPr txBox="1">
            <a:spLocks noChangeArrowheads="1"/>
          </p:cNvSpPr>
          <p:nvPr/>
        </p:nvSpPr>
        <p:spPr bwMode="auto">
          <a:xfrm>
            <a:off x="5618436" y="4461403"/>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cs typeface="Arial" pitchFamily="34" charset="0"/>
            </a:endParaRPr>
          </a:p>
        </p:txBody>
      </p:sp>
      <p:sp>
        <p:nvSpPr>
          <p:cNvPr id="19" name="Line 3">
            <a:extLst>
              <a:ext uri="{FF2B5EF4-FFF2-40B4-BE49-F238E27FC236}">
                <a16:creationId xmlns:a16="http://schemas.microsoft.com/office/drawing/2014/main" id="{7913A350-B05B-55F5-CB63-170629449EF3}"/>
              </a:ext>
            </a:extLst>
          </p:cNvPr>
          <p:cNvSpPr>
            <a:spLocks noChangeShapeType="1"/>
          </p:cNvSpPr>
          <p:nvPr/>
        </p:nvSpPr>
        <p:spPr bwMode="auto">
          <a:xfrm rot="16200000">
            <a:off x="5717873" y="3602626"/>
            <a:ext cx="0" cy="1853079"/>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0" name="Text Box 13">
            <a:extLst>
              <a:ext uri="{FF2B5EF4-FFF2-40B4-BE49-F238E27FC236}">
                <a16:creationId xmlns:a16="http://schemas.microsoft.com/office/drawing/2014/main" id="{12FDAE77-44A1-323D-8D2F-269B79784B7C}"/>
              </a:ext>
            </a:extLst>
          </p:cNvPr>
          <p:cNvSpPr txBox="1">
            <a:spLocks noChangeArrowheads="1"/>
          </p:cNvSpPr>
          <p:nvPr/>
        </p:nvSpPr>
        <p:spPr bwMode="auto">
          <a:xfrm>
            <a:off x="7319009" y="2148678"/>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ea typeface="Arial" pitchFamily="34" charset="0"/>
                <a:cs typeface="Arial" pitchFamily="34" charset="0"/>
              </a:rPr>
              <a:t>P</a:t>
            </a:r>
            <a:endParaRPr lang="he-IL" sz="3600" dirty="0">
              <a:latin typeface="Arial" pitchFamily="34" charset="0"/>
              <a:cs typeface="Arial" pitchFamily="34" charset="0"/>
            </a:endParaRPr>
          </a:p>
        </p:txBody>
      </p:sp>
      <p:sp>
        <p:nvSpPr>
          <p:cNvPr id="21" name="Line 3">
            <a:extLst>
              <a:ext uri="{FF2B5EF4-FFF2-40B4-BE49-F238E27FC236}">
                <a16:creationId xmlns:a16="http://schemas.microsoft.com/office/drawing/2014/main" id="{8DF1EE8F-CE91-2DB3-71CD-909D70FDBC0B}"/>
              </a:ext>
            </a:extLst>
          </p:cNvPr>
          <p:cNvSpPr>
            <a:spLocks noChangeShapeType="1"/>
          </p:cNvSpPr>
          <p:nvPr/>
        </p:nvSpPr>
        <p:spPr bwMode="auto">
          <a:xfrm>
            <a:off x="7637261" y="2362993"/>
            <a:ext cx="0" cy="2169553"/>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22" name="כותרת 1">
            <a:extLst>
              <a:ext uri="{FF2B5EF4-FFF2-40B4-BE49-F238E27FC236}">
                <a16:creationId xmlns:a16="http://schemas.microsoft.com/office/drawing/2014/main" id="{6C9F5A82-9522-EFA4-C87E-3BC0935917D4}"/>
              </a:ext>
            </a:extLst>
          </p:cNvPr>
          <p:cNvSpPr txBox="1">
            <a:spLocks/>
          </p:cNvSpPr>
          <p:nvPr/>
        </p:nvSpPr>
        <p:spPr>
          <a:xfrm>
            <a:off x="4677619" y="1950051"/>
            <a:ext cx="2643142" cy="500042"/>
          </a:xfrm>
          <a:prstGeom prst="rect">
            <a:avLst/>
          </a:prstGeom>
        </p:spPr>
        <p:txBody>
          <a:bodyPr vert="horz" lIns="91440" tIns="45720" rIns="91440" bIns="45720" rtlCol="1" anchor="ctr">
            <a:normAutofit fontScale="75000" lnSpcReduction="20000"/>
          </a:bodyPr>
          <a:lstStyle/>
          <a:p>
            <a:pPr lvl="0" algn="ctr" rtl="1">
              <a:spcBef>
                <a:spcPct val="0"/>
              </a:spcBef>
              <a:defRPr/>
            </a:pPr>
            <a:r>
              <a:rPr lang="he-IL" sz="4400" u="sng" dirty="0"/>
              <a:t>יצרני הנגב</a:t>
            </a:r>
          </a:p>
        </p:txBody>
      </p:sp>
      <p:sp>
        <p:nvSpPr>
          <p:cNvPr id="23" name="כותרת 1">
            <a:extLst>
              <a:ext uri="{FF2B5EF4-FFF2-40B4-BE49-F238E27FC236}">
                <a16:creationId xmlns:a16="http://schemas.microsoft.com/office/drawing/2014/main" id="{E9A8D3BD-30D0-CBDF-2397-98B2DBDF6894}"/>
              </a:ext>
            </a:extLst>
          </p:cNvPr>
          <p:cNvSpPr txBox="1">
            <a:spLocks/>
          </p:cNvSpPr>
          <p:nvPr/>
        </p:nvSpPr>
        <p:spPr>
          <a:xfrm>
            <a:off x="1906802" y="1934389"/>
            <a:ext cx="2643142" cy="500042"/>
          </a:xfrm>
          <a:prstGeom prst="rect">
            <a:avLst/>
          </a:prstGeom>
        </p:spPr>
        <p:txBody>
          <a:bodyPr vert="horz" lIns="91440" tIns="45720" rIns="91440" bIns="45720" rtlCol="1" anchor="ctr">
            <a:normAutofit fontScale="75000" lnSpcReduction="20000"/>
          </a:bodyPr>
          <a:lstStyle/>
          <a:p>
            <a:pPr lvl="0" algn="ctr" rtl="1">
              <a:spcBef>
                <a:spcPct val="0"/>
              </a:spcBef>
              <a:defRPr/>
            </a:pPr>
            <a:r>
              <a:rPr lang="he-IL" sz="4400" u="sng" dirty="0">
                <a:latin typeface="+mj-lt"/>
                <a:ea typeface="+mj-ea"/>
                <a:cs typeface="+mj-cs"/>
              </a:rPr>
              <a:t>יצרני </a:t>
            </a:r>
            <a:r>
              <a:rPr lang="he-IL" sz="4400" b="1" u="sng" dirty="0">
                <a:solidFill>
                  <a:schemeClr val="accent2">
                    <a:lumMod val="75000"/>
                  </a:schemeClr>
                </a:solidFill>
              </a:rPr>
              <a:t>הגליל</a:t>
            </a:r>
            <a:endParaRPr lang="he-IL" sz="4400" u="sng" dirty="0">
              <a:latin typeface="+mj-lt"/>
              <a:ea typeface="+mj-ea"/>
              <a:cs typeface="+mj-cs"/>
            </a:endParaRPr>
          </a:p>
        </p:txBody>
      </p:sp>
      <p:sp>
        <p:nvSpPr>
          <p:cNvPr id="24" name="כותרת 1">
            <a:extLst>
              <a:ext uri="{FF2B5EF4-FFF2-40B4-BE49-F238E27FC236}">
                <a16:creationId xmlns:a16="http://schemas.microsoft.com/office/drawing/2014/main" id="{DF28E411-82B4-0F90-A955-12703FC732F2}"/>
              </a:ext>
            </a:extLst>
          </p:cNvPr>
          <p:cNvSpPr txBox="1">
            <a:spLocks/>
          </p:cNvSpPr>
          <p:nvPr/>
        </p:nvSpPr>
        <p:spPr>
          <a:xfrm>
            <a:off x="7874679" y="2055469"/>
            <a:ext cx="1862423" cy="500042"/>
          </a:xfrm>
          <a:prstGeom prst="rect">
            <a:avLst/>
          </a:prstGeom>
        </p:spPr>
        <p:txBody>
          <a:bodyPr vert="horz" lIns="91440" tIns="45720" rIns="91440" bIns="45720" rtlCol="1" anchor="ctr">
            <a:normAutofit fontScale="75000" lnSpcReduction="20000"/>
          </a:bodyPr>
          <a:lstStyle/>
          <a:p>
            <a:pPr algn="ctr">
              <a:spcBef>
                <a:spcPct val="0"/>
              </a:spcBef>
              <a:defRPr/>
            </a:pPr>
            <a:r>
              <a:rPr lang="he-IL" sz="4400" u="sng" dirty="0">
                <a:latin typeface="+mj-lt"/>
                <a:ea typeface="+mj-ea"/>
                <a:cs typeface="+mj-cs"/>
              </a:rPr>
              <a:t>מצרפי</a:t>
            </a:r>
          </a:p>
        </p:txBody>
      </p:sp>
      <p:cxnSp>
        <p:nvCxnSpPr>
          <p:cNvPr id="25" name="מחבר ישר 33">
            <a:extLst>
              <a:ext uri="{FF2B5EF4-FFF2-40B4-BE49-F238E27FC236}">
                <a16:creationId xmlns:a16="http://schemas.microsoft.com/office/drawing/2014/main" id="{06306854-C143-1CD7-F5D2-0ED3E971B96E}"/>
              </a:ext>
            </a:extLst>
          </p:cNvPr>
          <p:cNvCxnSpPr>
            <a:cxnSpLocks/>
          </p:cNvCxnSpPr>
          <p:nvPr/>
        </p:nvCxnSpPr>
        <p:spPr>
          <a:xfrm flipH="1" flipV="1">
            <a:off x="2189077" y="3646882"/>
            <a:ext cx="6502446" cy="50292"/>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6" name="Text Box 18">
            <a:extLst>
              <a:ext uri="{FF2B5EF4-FFF2-40B4-BE49-F238E27FC236}">
                <a16:creationId xmlns:a16="http://schemas.microsoft.com/office/drawing/2014/main" id="{2DD1B03D-D90B-B433-8C7D-DAC1C060137F}"/>
              </a:ext>
            </a:extLst>
          </p:cNvPr>
          <p:cNvSpPr txBox="1">
            <a:spLocks noChangeArrowheads="1"/>
          </p:cNvSpPr>
          <p:nvPr/>
        </p:nvSpPr>
        <p:spPr bwMode="auto">
          <a:xfrm>
            <a:off x="3026253" y="4533717"/>
            <a:ext cx="42862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cs typeface="Arial" pitchFamily="34" charset="0"/>
            </a:endParaRPr>
          </a:p>
        </p:txBody>
      </p:sp>
      <p:sp>
        <p:nvSpPr>
          <p:cNvPr id="27" name="Text Box 18">
            <a:extLst>
              <a:ext uri="{FF2B5EF4-FFF2-40B4-BE49-F238E27FC236}">
                <a16:creationId xmlns:a16="http://schemas.microsoft.com/office/drawing/2014/main" id="{34886232-BCD7-7AB7-45F2-B9DD14ADC09D}"/>
              </a:ext>
            </a:extLst>
          </p:cNvPr>
          <p:cNvSpPr txBox="1">
            <a:spLocks noChangeArrowheads="1"/>
          </p:cNvSpPr>
          <p:nvPr/>
        </p:nvSpPr>
        <p:spPr bwMode="auto">
          <a:xfrm>
            <a:off x="8133853" y="4454258"/>
            <a:ext cx="785786" cy="357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dirty="0">
                <a:latin typeface="Calibri" pitchFamily="34" charset="0"/>
                <a:cs typeface="Arial" pitchFamily="34" charset="0"/>
              </a:rPr>
              <a:t>X</a:t>
            </a:r>
            <a:r>
              <a:rPr lang="en-US" sz="1600" dirty="0">
                <a:latin typeface="Calibri" pitchFamily="34" charset="0"/>
                <a:cs typeface="Arial" pitchFamily="34" charset="0"/>
              </a:rPr>
              <a:t>0</a:t>
            </a:r>
            <a:endParaRPr lang="he-IL" sz="3600" dirty="0">
              <a:latin typeface="Arial" pitchFamily="34" charset="0"/>
              <a:cs typeface="Arial" pitchFamily="34" charset="0"/>
            </a:endParaRPr>
          </a:p>
        </p:txBody>
      </p:sp>
      <p:sp>
        <p:nvSpPr>
          <p:cNvPr id="28" name="Text Box 18">
            <a:extLst>
              <a:ext uri="{FF2B5EF4-FFF2-40B4-BE49-F238E27FC236}">
                <a16:creationId xmlns:a16="http://schemas.microsoft.com/office/drawing/2014/main" id="{B82F4247-158B-1044-E37F-EA0C6590BB90}"/>
              </a:ext>
            </a:extLst>
          </p:cNvPr>
          <p:cNvSpPr txBox="1">
            <a:spLocks noChangeArrowheads="1"/>
          </p:cNvSpPr>
          <p:nvPr/>
        </p:nvSpPr>
        <p:spPr bwMode="auto">
          <a:xfrm>
            <a:off x="9508890" y="4407371"/>
            <a:ext cx="292100"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600" dirty="0">
                <a:latin typeface="Calibri" pitchFamily="34" charset="0"/>
                <a:ea typeface="Arial" pitchFamily="34" charset="0"/>
                <a:cs typeface="Arial" pitchFamily="34" charset="0"/>
              </a:rPr>
              <a:t>X</a:t>
            </a:r>
            <a:endParaRPr lang="he-IL" sz="2800" dirty="0">
              <a:latin typeface="Arial" pitchFamily="34" charset="0"/>
              <a:cs typeface="Arial" pitchFamily="34" charset="0"/>
            </a:endParaRPr>
          </a:p>
        </p:txBody>
      </p:sp>
      <p:sp>
        <p:nvSpPr>
          <p:cNvPr id="29" name="Arc 28">
            <a:extLst>
              <a:ext uri="{FF2B5EF4-FFF2-40B4-BE49-F238E27FC236}">
                <a16:creationId xmlns:a16="http://schemas.microsoft.com/office/drawing/2014/main" id="{E9E6B53C-F2D8-ED65-112C-1272B94462DA}"/>
              </a:ext>
            </a:extLst>
          </p:cNvPr>
          <p:cNvSpPr/>
          <p:nvPr/>
        </p:nvSpPr>
        <p:spPr>
          <a:xfrm rot="10800000">
            <a:off x="8024386" y="1294543"/>
            <a:ext cx="4768031" cy="2819017"/>
          </a:xfrm>
          <a:prstGeom prst="arc">
            <a:avLst>
              <a:gd name="adj1" fmla="val 17389242"/>
              <a:gd name="adj2" fmla="val 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92FEF75-9EF3-8951-E2EE-E74C113C4792}"/>
                  </a:ext>
                </a:extLst>
              </p:cNvPr>
              <p:cNvSpPr txBox="1"/>
              <p:nvPr/>
            </p:nvSpPr>
            <p:spPr>
              <a:xfrm>
                <a:off x="9108084" y="4114888"/>
                <a:ext cx="1278065"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aa-ET" sz="1600" b="1" i="1">
                              <a:solidFill>
                                <a:schemeClr val="accent5">
                                  <a:lumMod val="50000"/>
                                </a:schemeClr>
                              </a:solidFill>
                              <a:latin typeface="Cambria Math" panose="02040503050406030204" pitchFamily="18" charset="0"/>
                            </a:rPr>
                          </m:ctrlPr>
                        </m:sSubPr>
                        <m:e>
                          <m:r>
                            <a:rPr lang="en-US" sz="1600" b="1" i="1">
                              <a:solidFill>
                                <a:schemeClr val="accent5">
                                  <a:lumMod val="50000"/>
                                </a:schemeClr>
                              </a:solidFill>
                              <a:latin typeface="Cambria Math" panose="02040503050406030204" pitchFamily="18" charset="0"/>
                            </a:rPr>
                            <m:t>𝑫</m:t>
                          </m:r>
                        </m:e>
                        <m:sub>
                          <m:r>
                            <a:rPr lang="en-US" sz="1600" b="1" i="1">
                              <a:solidFill>
                                <a:schemeClr val="accent5">
                                  <a:lumMod val="50000"/>
                                </a:schemeClr>
                              </a:solidFill>
                              <a:latin typeface="Cambria Math" panose="02040503050406030204" pitchFamily="18" charset="0"/>
                            </a:rPr>
                            <m:t>𝟎</m:t>
                          </m:r>
                        </m:sub>
                      </m:sSub>
                    </m:oMath>
                  </m:oMathPara>
                </a14:m>
                <a:endParaRPr lang="aa-ET" b="1" dirty="0"/>
              </a:p>
            </p:txBody>
          </p:sp>
        </mc:Choice>
        <mc:Fallback xmlns="">
          <p:sp>
            <p:nvSpPr>
              <p:cNvPr id="30" name="TextBox 29">
                <a:extLst>
                  <a:ext uri="{FF2B5EF4-FFF2-40B4-BE49-F238E27FC236}">
                    <a16:creationId xmlns:a16="http://schemas.microsoft.com/office/drawing/2014/main" id="{E92FEF75-9EF3-8951-E2EE-E74C113C4792}"/>
                  </a:ext>
                </a:extLst>
              </p:cNvPr>
              <p:cNvSpPr txBox="1">
                <a:spLocks noRot="1" noChangeAspect="1" noMove="1" noResize="1" noEditPoints="1" noAdjustHandles="1" noChangeArrowheads="1" noChangeShapeType="1" noTextEdit="1"/>
              </p:cNvSpPr>
              <p:nvPr/>
            </p:nvSpPr>
            <p:spPr>
              <a:xfrm>
                <a:off x="9108084" y="4114888"/>
                <a:ext cx="1278065" cy="246221"/>
              </a:xfrm>
              <a:prstGeom prst="rect">
                <a:avLst/>
              </a:prstGeom>
              <a:blipFill>
                <a:blip r:embed="rId2"/>
                <a:stretch>
                  <a:fillRect b="-17500"/>
                </a:stretch>
              </a:blipFill>
            </p:spPr>
            <p:txBody>
              <a:bodyPr/>
              <a:lstStyle/>
              <a:p>
                <a:r>
                  <a:rPr lang="en-IL">
                    <a:noFill/>
                  </a:rPr>
                  <a:t> </a:t>
                </a:r>
              </a:p>
            </p:txBody>
          </p:sp>
        </mc:Fallback>
      </mc:AlternateContent>
      <p:sp>
        <p:nvSpPr>
          <p:cNvPr id="31" name="Arc 30">
            <a:extLst>
              <a:ext uri="{FF2B5EF4-FFF2-40B4-BE49-F238E27FC236}">
                <a16:creationId xmlns:a16="http://schemas.microsoft.com/office/drawing/2014/main" id="{116F1543-9D9C-DF07-D928-254624CF17A4}"/>
              </a:ext>
            </a:extLst>
          </p:cNvPr>
          <p:cNvSpPr/>
          <p:nvPr/>
        </p:nvSpPr>
        <p:spPr>
          <a:xfrm rot="15774971" flipH="1" flipV="1">
            <a:off x="6025841" y="507041"/>
            <a:ext cx="2797296" cy="4257979"/>
          </a:xfrm>
          <a:prstGeom prst="arc">
            <a:avLst>
              <a:gd name="adj1" fmla="val 17579446"/>
              <a:gd name="adj2" fmla="val 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539FC97-972A-173B-46D1-574460583841}"/>
                  </a:ext>
                </a:extLst>
              </p:cNvPr>
              <p:cNvSpPr txBox="1"/>
              <p:nvPr/>
            </p:nvSpPr>
            <p:spPr>
              <a:xfrm>
                <a:off x="9232642" y="2790850"/>
                <a:ext cx="1252266" cy="506742"/>
              </a:xfrm>
              <a:prstGeom prst="rect">
                <a:avLst/>
              </a:prstGeom>
              <a:noFill/>
            </p:spPr>
            <p:txBody>
              <a:bodyPr wrap="none" rtlCol="1">
                <a:spAutoFit/>
              </a:bodyPr>
              <a:lstStyle/>
              <a:p>
                <a:r>
                  <a:rPr lang="en-US" sz="2400" b="1" dirty="0"/>
                  <a:t>S</a:t>
                </a:r>
                <a:r>
                  <a:rPr lang="en-US" sz="2400" b="1" baseline="-25000" dirty="0"/>
                  <a:t>0</a:t>
                </a:r>
                <a:r>
                  <a:rPr lang="he-IL" sz="2400" b="1" dirty="0">
                    <a:solidFill>
                      <a:schemeClr val="accent5">
                        <a:lumMod val="50000"/>
                      </a:schemeClr>
                    </a:solidFill>
                  </a:rPr>
                  <a:t> </a:t>
                </a:r>
                <a14:m>
                  <m:oMath xmlns:m="http://schemas.openxmlformats.org/officeDocument/2006/math">
                    <m:r>
                      <a:rPr lang="he-IL" sz="2400" b="1">
                        <a:solidFill>
                          <a:schemeClr val="accent5">
                            <a:lumMod val="50000"/>
                          </a:schemeClr>
                        </a:solidFill>
                        <a:latin typeface="Cambria Math" panose="02040503050406030204" pitchFamily="18" charset="0"/>
                      </a:rPr>
                      <m:t>מצרפי</m:t>
                    </m:r>
                  </m:oMath>
                </a14:m>
                <a:endParaRPr lang="he-IL" sz="2400" b="1" baseline="-25000" dirty="0"/>
              </a:p>
            </p:txBody>
          </p:sp>
        </mc:Choice>
        <mc:Fallback xmlns="">
          <p:sp>
            <p:nvSpPr>
              <p:cNvPr id="32" name="TextBox 31">
                <a:extLst>
                  <a:ext uri="{FF2B5EF4-FFF2-40B4-BE49-F238E27FC236}">
                    <a16:creationId xmlns:a16="http://schemas.microsoft.com/office/drawing/2014/main" id="{5539FC97-972A-173B-46D1-574460583841}"/>
                  </a:ext>
                </a:extLst>
              </p:cNvPr>
              <p:cNvSpPr txBox="1">
                <a:spLocks noRot="1" noChangeAspect="1" noMove="1" noResize="1" noEditPoints="1" noAdjustHandles="1" noChangeArrowheads="1" noChangeShapeType="1" noTextEdit="1"/>
              </p:cNvSpPr>
              <p:nvPr/>
            </p:nvSpPr>
            <p:spPr>
              <a:xfrm>
                <a:off x="9232642" y="2790850"/>
                <a:ext cx="1252266" cy="506742"/>
              </a:xfrm>
              <a:prstGeom prst="rect">
                <a:avLst/>
              </a:prstGeom>
              <a:blipFill>
                <a:blip r:embed="rId3"/>
                <a:stretch>
                  <a:fillRect t="-2410" r="-2927" b="-26506"/>
                </a:stretch>
              </a:blipFill>
            </p:spPr>
            <p:txBody>
              <a:bodyPr/>
              <a:lstStyle/>
              <a:p>
                <a:r>
                  <a:rPr lang="en-IL">
                    <a:noFill/>
                  </a:rPr>
                  <a:t> </a:t>
                </a:r>
              </a:p>
            </p:txBody>
          </p:sp>
        </mc:Fallback>
      </mc:AlternateContent>
      <p:sp>
        <p:nvSpPr>
          <p:cNvPr id="33" name="Arc 32">
            <a:extLst>
              <a:ext uri="{FF2B5EF4-FFF2-40B4-BE49-F238E27FC236}">
                <a16:creationId xmlns:a16="http://schemas.microsoft.com/office/drawing/2014/main" id="{58B0FEBB-26A8-59A8-3A60-CB5BDBEC7206}"/>
              </a:ext>
            </a:extLst>
          </p:cNvPr>
          <p:cNvSpPr/>
          <p:nvPr/>
        </p:nvSpPr>
        <p:spPr>
          <a:xfrm rot="14668846" flipH="1" flipV="1">
            <a:off x="291618" y="872084"/>
            <a:ext cx="2797296" cy="4257979"/>
          </a:xfrm>
          <a:prstGeom prst="arc">
            <a:avLst>
              <a:gd name="adj1" fmla="val 17093280"/>
              <a:gd name="adj2" fmla="val 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sp>
        <p:nvSpPr>
          <p:cNvPr id="34" name="Arc 33">
            <a:extLst>
              <a:ext uri="{FF2B5EF4-FFF2-40B4-BE49-F238E27FC236}">
                <a16:creationId xmlns:a16="http://schemas.microsoft.com/office/drawing/2014/main" id="{C077FAB7-85DC-9351-8903-DC787A11768C}"/>
              </a:ext>
            </a:extLst>
          </p:cNvPr>
          <p:cNvSpPr/>
          <p:nvPr/>
        </p:nvSpPr>
        <p:spPr>
          <a:xfrm rot="14682587" flipH="1" flipV="1">
            <a:off x="3097492" y="1188972"/>
            <a:ext cx="2762325" cy="3789504"/>
          </a:xfrm>
          <a:prstGeom prst="arc">
            <a:avLst>
              <a:gd name="adj1" fmla="val 17093280"/>
              <a:gd name="adj2" fmla="val 0"/>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IL"/>
          </a:p>
        </p:txBody>
      </p:sp>
      <p:cxnSp>
        <p:nvCxnSpPr>
          <p:cNvPr id="35" name="מחבר ישר 57">
            <a:extLst>
              <a:ext uri="{FF2B5EF4-FFF2-40B4-BE49-F238E27FC236}">
                <a16:creationId xmlns:a16="http://schemas.microsoft.com/office/drawing/2014/main" id="{86DE31F3-5087-8A56-715E-4CFF615BE44E}"/>
              </a:ext>
            </a:extLst>
          </p:cNvPr>
          <p:cNvCxnSpPr>
            <a:cxnSpLocks/>
          </p:cNvCxnSpPr>
          <p:nvPr/>
        </p:nvCxnSpPr>
        <p:spPr>
          <a:xfrm flipV="1">
            <a:off x="8624201" y="3717804"/>
            <a:ext cx="19467" cy="795259"/>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6" name="מחבר ישר 71">
            <a:extLst>
              <a:ext uri="{FF2B5EF4-FFF2-40B4-BE49-F238E27FC236}">
                <a16:creationId xmlns:a16="http://schemas.microsoft.com/office/drawing/2014/main" id="{3383E352-9FC8-9F7D-0E51-1CF6E728CD07}"/>
              </a:ext>
            </a:extLst>
          </p:cNvPr>
          <p:cNvCxnSpPr>
            <a:cxnSpLocks/>
          </p:cNvCxnSpPr>
          <p:nvPr/>
        </p:nvCxnSpPr>
        <p:spPr>
          <a:xfrm flipV="1">
            <a:off x="5914896" y="3697175"/>
            <a:ext cx="0" cy="839349"/>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7" name="מחבר ישר 72">
            <a:extLst>
              <a:ext uri="{FF2B5EF4-FFF2-40B4-BE49-F238E27FC236}">
                <a16:creationId xmlns:a16="http://schemas.microsoft.com/office/drawing/2014/main" id="{97F5730C-8255-7166-1E3C-23A2FEC73744}"/>
              </a:ext>
            </a:extLst>
          </p:cNvPr>
          <p:cNvCxnSpPr>
            <a:cxnSpLocks/>
          </p:cNvCxnSpPr>
          <p:nvPr/>
        </p:nvCxnSpPr>
        <p:spPr>
          <a:xfrm flipH="1" flipV="1">
            <a:off x="3179683" y="3654593"/>
            <a:ext cx="18658" cy="894577"/>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3" name="Line 3">
            <a:extLst>
              <a:ext uri="{FF2B5EF4-FFF2-40B4-BE49-F238E27FC236}">
                <a16:creationId xmlns:a16="http://schemas.microsoft.com/office/drawing/2014/main" id="{8D794DA4-3B28-F464-9B35-2BCF89EACBDC}"/>
              </a:ext>
            </a:extLst>
          </p:cNvPr>
          <p:cNvSpPr>
            <a:spLocks noChangeShapeType="1"/>
          </p:cNvSpPr>
          <p:nvPr/>
        </p:nvSpPr>
        <p:spPr bwMode="auto">
          <a:xfrm rot="16200000">
            <a:off x="8556326" y="3577951"/>
            <a:ext cx="0" cy="1853079"/>
          </a:xfrm>
          <a:prstGeom prst="line">
            <a:avLst/>
          </a:prstGeom>
          <a:no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he-IL" sz="3600"/>
          </a:p>
        </p:txBody>
      </p:sp>
      <p:sp>
        <p:nvSpPr>
          <p:cNvPr id="44" name="Oval 43">
            <a:extLst>
              <a:ext uri="{FF2B5EF4-FFF2-40B4-BE49-F238E27FC236}">
                <a16:creationId xmlns:a16="http://schemas.microsoft.com/office/drawing/2014/main" id="{CC04836C-E484-89B8-43A5-3D566702C0FD}"/>
              </a:ext>
            </a:extLst>
          </p:cNvPr>
          <p:cNvSpPr/>
          <p:nvPr/>
        </p:nvSpPr>
        <p:spPr>
          <a:xfrm>
            <a:off x="8548209" y="3557621"/>
            <a:ext cx="241101" cy="22257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a:t>
            </a:r>
            <a:endParaRPr lang="en-IL" dirty="0"/>
          </a:p>
        </p:txBody>
      </p:sp>
      <p:sp>
        <p:nvSpPr>
          <p:cNvPr id="38" name="Arc 37">
            <a:extLst>
              <a:ext uri="{FF2B5EF4-FFF2-40B4-BE49-F238E27FC236}">
                <a16:creationId xmlns:a16="http://schemas.microsoft.com/office/drawing/2014/main" id="{7D154286-2273-E8A3-717C-AB2113B5F61C}"/>
              </a:ext>
            </a:extLst>
          </p:cNvPr>
          <p:cNvSpPr/>
          <p:nvPr/>
        </p:nvSpPr>
        <p:spPr>
          <a:xfrm rot="14668846" flipH="1" flipV="1">
            <a:off x="-84371" y="755902"/>
            <a:ext cx="2797296" cy="4257979"/>
          </a:xfrm>
          <a:prstGeom prst="arc">
            <a:avLst>
              <a:gd name="adj1" fmla="val 17093280"/>
              <a:gd name="adj2" fmla="val 20782138"/>
            </a:avLst>
          </a:prstGeom>
          <a:ln w="28575">
            <a:solidFill>
              <a:schemeClr val="accent2">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IL">
              <a:solidFill>
                <a:schemeClr val="accent2">
                  <a:lumMod val="75000"/>
                </a:schemeClr>
              </a:solidFill>
            </a:endParaRPr>
          </a:p>
        </p:txBody>
      </p:sp>
      <p:sp>
        <p:nvSpPr>
          <p:cNvPr id="40" name="TextBox 39">
            <a:extLst>
              <a:ext uri="{FF2B5EF4-FFF2-40B4-BE49-F238E27FC236}">
                <a16:creationId xmlns:a16="http://schemas.microsoft.com/office/drawing/2014/main" id="{C2F619F4-EF50-1F29-32F6-6C8B4F0DBDE1}"/>
              </a:ext>
            </a:extLst>
          </p:cNvPr>
          <p:cNvSpPr txBox="1"/>
          <p:nvPr/>
        </p:nvSpPr>
        <p:spPr>
          <a:xfrm>
            <a:off x="6194104" y="2412939"/>
            <a:ext cx="579968" cy="369332"/>
          </a:xfrm>
          <a:prstGeom prst="rect">
            <a:avLst/>
          </a:prstGeom>
          <a:noFill/>
        </p:spPr>
        <p:txBody>
          <a:bodyPr wrap="square">
            <a:spAutoFit/>
          </a:bodyPr>
          <a:lstStyle/>
          <a:p>
            <a:r>
              <a:rPr lang="en-US" b="1" dirty="0"/>
              <a:t>S</a:t>
            </a:r>
            <a:r>
              <a:rPr lang="en-US" b="1" baseline="-25000" dirty="0"/>
              <a:t>0</a:t>
            </a:r>
            <a:endParaRPr lang="en-IL" dirty="0"/>
          </a:p>
        </p:txBody>
      </p:sp>
      <p:sp>
        <p:nvSpPr>
          <p:cNvPr id="42" name="TextBox 41">
            <a:extLst>
              <a:ext uri="{FF2B5EF4-FFF2-40B4-BE49-F238E27FC236}">
                <a16:creationId xmlns:a16="http://schemas.microsoft.com/office/drawing/2014/main" id="{DE206778-B4B4-ACCB-6A37-DF4095A762FE}"/>
              </a:ext>
            </a:extLst>
          </p:cNvPr>
          <p:cNvSpPr txBox="1"/>
          <p:nvPr/>
        </p:nvSpPr>
        <p:spPr>
          <a:xfrm>
            <a:off x="3669076" y="2566506"/>
            <a:ext cx="459361" cy="369332"/>
          </a:xfrm>
          <a:prstGeom prst="rect">
            <a:avLst/>
          </a:prstGeom>
          <a:noFill/>
        </p:spPr>
        <p:txBody>
          <a:bodyPr wrap="square">
            <a:spAutoFit/>
          </a:bodyPr>
          <a:lstStyle/>
          <a:p>
            <a:r>
              <a:rPr lang="en-US" b="1" dirty="0"/>
              <a:t>S</a:t>
            </a:r>
            <a:r>
              <a:rPr lang="en-US" b="1" baseline="-25000" dirty="0"/>
              <a:t>0</a:t>
            </a:r>
            <a:endParaRPr lang="en-IL" dirty="0"/>
          </a:p>
        </p:txBody>
      </p:sp>
      <p:sp>
        <p:nvSpPr>
          <p:cNvPr id="46" name="TextBox 45">
            <a:extLst>
              <a:ext uri="{FF2B5EF4-FFF2-40B4-BE49-F238E27FC236}">
                <a16:creationId xmlns:a16="http://schemas.microsoft.com/office/drawing/2014/main" id="{6AB9734A-3451-CB69-68D3-CC2BAA313BA1}"/>
              </a:ext>
            </a:extLst>
          </p:cNvPr>
          <p:cNvSpPr txBox="1"/>
          <p:nvPr/>
        </p:nvSpPr>
        <p:spPr>
          <a:xfrm>
            <a:off x="2977780" y="2473803"/>
            <a:ext cx="381747" cy="369332"/>
          </a:xfrm>
          <a:prstGeom prst="rect">
            <a:avLst/>
          </a:prstGeom>
          <a:noFill/>
        </p:spPr>
        <p:txBody>
          <a:bodyPr wrap="square">
            <a:spAutoFit/>
          </a:bodyPr>
          <a:lstStyle/>
          <a:p>
            <a:r>
              <a:rPr lang="en-US" b="1" dirty="0">
                <a:solidFill>
                  <a:schemeClr val="accent2">
                    <a:lumMod val="75000"/>
                  </a:schemeClr>
                </a:solidFill>
              </a:rPr>
              <a:t>S</a:t>
            </a:r>
            <a:r>
              <a:rPr lang="en-US" b="1" baseline="-25000" dirty="0">
                <a:solidFill>
                  <a:schemeClr val="accent2">
                    <a:lumMod val="75000"/>
                  </a:schemeClr>
                </a:solidFill>
              </a:rPr>
              <a:t>1</a:t>
            </a:r>
            <a:endParaRPr lang="en-IL" dirty="0">
              <a:solidFill>
                <a:schemeClr val="accent2">
                  <a:lumMod val="75000"/>
                </a:schemeClr>
              </a:solidFill>
            </a:endParaRPr>
          </a:p>
        </p:txBody>
      </p:sp>
      <p:sp>
        <p:nvSpPr>
          <p:cNvPr id="49" name="Arc 48">
            <a:extLst>
              <a:ext uri="{FF2B5EF4-FFF2-40B4-BE49-F238E27FC236}">
                <a16:creationId xmlns:a16="http://schemas.microsoft.com/office/drawing/2014/main" id="{F61FCE47-2290-85BD-8D7E-DED352AF8DE7}"/>
              </a:ext>
            </a:extLst>
          </p:cNvPr>
          <p:cNvSpPr/>
          <p:nvPr/>
        </p:nvSpPr>
        <p:spPr>
          <a:xfrm rot="16004756" flipH="1" flipV="1">
            <a:off x="5806251" y="343335"/>
            <a:ext cx="2797296" cy="4257979"/>
          </a:xfrm>
          <a:prstGeom prst="arc">
            <a:avLst>
              <a:gd name="adj1" fmla="val 17093280"/>
              <a:gd name="adj2" fmla="val 20782138"/>
            </a:avLst>
          </a:prstGeom>
          <a:ln w="28575">
            <a:solidFill>
              <a:schemeClr val="accent2">
                <a:lumMod val="75000"/>
              </a:schemeClr>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IL">
              <a:solidFill>
                <a:schemeClr val="accent2">
                  <a:lumMod val="75000"/>
                </a:schemeClr>
              </a:solidFill>
            </a:endParaRPr>
          </a:p>
        </p:txBody>
      </p:sp>
      <p:sp>
        <p:nvSpPr>
          <p:cNvPr id="50" name="TextBox 49">
            <a:extLst>
              <a:ext uri="{FF2B5EF4-FFF2-40B4-BE49-F238E27FC236}">
                <a16:creationId xmlns:a16="http://schemas.microsoft.com/office/drawing/2014/main" id="{9962CE2B-9C64-3AC9-13C5-49D286D7AE03}"/>
              </a:ext>
            </a:extLst>
          </p:cNvPr>
          <p:cNvSpPr txBox="1"/>
          <p:nvPr/>
        </p:nvSpPr>
        <p:spPr>
          <a:xfrm>
            <a:off x="9076318" y="2457342"/>
            <a:ext cx="497923" cy="461665"/>
          </a:xfrm>
          <a:prstGeom prst="rect">
            <a:avLst/>
          </a:prstGeom>
          <a:noFill/>
        </p:spPr>
        <p:txBody>
          <a:bodyPr wrap="square">
            <a:spAutoFit/>
          </a:bodyPr>
          <a:lstStyle/>
          <a:p>
            <a:r>
              <a:rPr lang="en-US" sz="2400" b="1" dirty="0">
                <a:solidFill>
                  <a:schemeClr val="accent2">
                    <a:lumMod val="75000"/>
                  </a:schemeClr>
                </a:solidFill>
              </a:rPr>
              <a:t>S</a:t>
            </a:r>
            <a:r>
              <a:rPr lang="en-US" sz="2400" b="1" baseline="-25000" dirty="0">
                <a:solidFill>
                  <a:schemeClr val="accent2">
                    <a:lumMod val="75000"/>
                  </a:schemeClr>
                </a:solidFill>
              </a:rPr>
              <a:t>1</a:t>
            </a:r>
            <a:endParaRPr lang="en-IL" sz="2400" dirty="0">
              <a:solidFill>
                <a:schemeClr val="accent2">
                  <a:lumMod val="75000"/>
                </a:schemeClr>
              </a:solidFill>
            </a:endParaRPr>
          </a:p>
        </p:txBody>
      </p:sp>
      <p:sp>
        <p:nvSpPr>
          <p:cNvPr id="51" name="Oval 50">
            <a:extLst>
              <a:ext uri="{FF2B5EF4-FFF2-40B4-BE49-F238E27FC236}">
                <a16:creationId xmlns:a16="http://schemas.microsoft.com/office/drawing/2014/main" id="{9D8FE059-2DC3-437A-1C4E-1376F9625854}"/>
              </a:ext>
            </a:extLst>
          </p:cNvPr>
          <p:cNvSpPr/>
          <p:nvPr/>
        </p:nvSpPr>
        <p:spPr>
          <a:xfrm>
            <a:off x="8339864" y="3381076"/>
            <a:ext cx="241101" cy="222578"/>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t>
            </a:r>
            <a:endParaRPr lang="en-IL" dirty="0"/>
          </a:p>
        </p:txBody>
      </p:sp>
      <p:cxnSp>
        <p:nvCxnSpPr>
          <p:cNvPr id="53" name="מחבר ישר 57">
            <a:extLst>
              <a:ext uri="{FF2B5EF4-FFF2-40B4-BE49-F238E27FC236}">
                <a16:creationId xmlns:a16="http://schemas.microsoft.com/office/drawing/2014/main" id="{AA114A96-E3DC-68F2-8E2E-2D4FB92484E0}"/>
              </a:ext>
            </a:extLst>
          </p:cNvPr>
          <p:cNvCxnSpPr>
            <a:cxnSpLocks/>
          </p:cNvCxnSpPr>
          <p:nvPr/>
        </p:nvCxnSpPr>
        <p:spPr>
          <a:xfrm flipV="1">
            <a:off x="8393390" y="3600372"/>
            <a:ext cx="18353" cy="904787"/>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9" name="Text Box 18">
            <a:extLst>
              <a:ext uri="{FF2B5EF4-FFF2-40B4-BE49-F238E27FC236}">
                <a16:creationId xmlns:a16="http://schemas.microsoft.com/office/drawing/2014/main" id="{6A73ABCB-3E58-618A-E479-45F134E39E65}"/>
              </a:ext>
            </a:extLst>
          </p:cNvPr>
          <p:cNvSpPr txBox="1">
            <a:spLocks noChangeArrowheads="1"/>
          </p:cNvSpPr>
          <p:nvPr/>
        </p:nvSpPr>
        <p:spPr bwMode="auto">
          <a:xfrm>
            <a:off x="7838414" y="4460095"/>
            <a:ext cx="785786" cy="357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b="1" dirty="0">
                <a:solidFill>
                  <a:schemeClr val="accent2">
                    <a:lumMod val="75000"/>
                  </a:schemeClr>
                </a:solidFill>
                <a:latin typeface="Calibri" pitchFamily="34" charset="0"/>
                <a:cs typeface="Arial" pitchFamily="34" charset="0"/>
              </a:rPr>
              <a:t>X</a:t>
            </a:r>
            <a:r>
              <a:rPr lang="en-US" sz="1600" b="1" dirty="0">
                <a:solidFill>
                  <a:schemeClr val="accent2">
                    <a:lumMod val="75000"/>
                  </a:schemeClr>
                </a:solidFill>
                <a:latin typeface="Calibri" pitchFamily="34" charset="0"/>
                <a:cs typeface="Arial" pitchFamily="34" charset="0"/>
              </a:rPr>
              <a:t>1</a:t>
            </a:r>
            <a:endParaRPr lang="he-IL" sz="3600" b="1" dirty="0">
              <a:solidFill>
                <a:schemeClr val="accent2">
                  <a:lumMod val="75000"/>
                </a:schemeClr>
              </a:solidFill>
              <a:latin typeface="Arial" pitchFamily="34" charset="0"/>
              <a:cs typeface="Arial" pitchFamily="34" charset="0"/>
            </a:endParaRPr>
          </a:p>
        </p:txBody>
      </p:sp>
      <p:cxnSp>
        <p:nvCxnSpPr>
          <p:cNvPr id="60" name="מחבר ישר 33">
            <a:extLst>
              <a:ext uri="{FF2B5EF4-FFF2-40B4-BE49-F238E27FC236}">
                <a16:creationId xmlns:a16="http://schemas.microsoft.com/office/drawing/2014/main" id="{9292A3FE-A3EC-F11C-C24E-D8ACB2182682}"/>
              </a:ext>
            </a:extLst>
          </p:cNvPr>
          <p:cNvCxnSpPr>
            <a:cxnSpLocks/>
          </p:cNvCxnSpPr>
          <p:nvPr/>
        </p:nvCxnSpPr>
        <p:spPr>
          <a:xfrm flipH="1" flipV="1">
            <a:off x="2157209" y="3458255"/>
            <a:ext cx="6159552" cy="71775"/>
          </a:xfrm>
          <a:prstGeom prst="line">
            <a:avLst/>
          </a:prstGeom>
          <a:ln w="28575">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2" name="Text Box 18">
            <a:extLst>
              <a:ext uri="{FF2B5EF4-FFF2-40B4-BE49-F238E27FC236}">
                <a16:creationId xmlns:a16="http://schemas.microsoft.com/office/drawing/2014/main" id="{365FF7B8-5211-B3C3-D47A-85759E26E884}"/>
              </a:ext>
            </a:extLst>
          </p:cNvPr>
          <p:cNvSpPr txBox="1">
            <a:spLocks noChangeArrowheads="1"/>
          </p:cNvSpPr>
          <p:nvPr/>
        </p:nvSpPr>
        <p:spPr bwMode="auto">
          <a:xfrm>
            <a:off x="1658191" y="3497460"/>
            <a:ext cx="59787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600" dirty="0">
                <a:latin typeface="Calibri" pitchFamily="34" charset="0"/>
                <a:ea typeface="Arial" pitchFamily="34" charset="0"/>
                <a:cs typeface="Arial" pitchFamily="34" charset="0"/>
              </a:rPr>
              <a:t>Px</a:t>
            </a:r>
            <a:r>
              <a:rPr lang="en-US" sz="1600" dirty="0">
                <a:latin typeface="Calibri" pitchFamily="34" charset="0"/>
                <a:cs typeface="Arial" pitchFamily="34" charset="0"/>
              </a:rPr>
              <a:t>0</a:t>
            </a:r>
            <a:endParaRPr lang="he-IL" sz="3600" dirty="0">
              <a:latin typeface="Arial" pitchFamily="34" charset="0"/>
              <a:cs typeface="Arial" pitchFamily="34" charset="0"/>
            </a:endParaRPr>
          </a:p>
        </p:txBody>
      </p:sp>
      <p:sp>
        <p:nvSpPr>
          <p:cNvPr id="63" name="Text Box 18">
            <a:extLst>
              <a:ext uri="{FF2B5EF4-FFF2-40B4-BE49-F238E27FC236}">
                <a16:creationId xmlns:a16="http://schemas.microsoft.com/office/drawing/2014/main" id="{E55E86D6-3B0A-9AFC-C3B0-657207B2E2CC}"/>
              </a:ext>
            </a:extLst>
          </p:cNvPr>
          <p:cNvSpPr txBox="1">
            <a:spLocks noChangeArrowheads="1"/>
          </p:cNvSpPr>
          <p:nvPr/>
        </p:nvSpPr>
        <p:spPr bwMode="auto">
          <a:xfrm>
            <a:off x="1630801" y="3258172"/>
            <a:ext cx="597878" cy="3429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1600" b="1" dirty="0">
                <a:solidFill>
                  <a:schemeClr val="accent2">
                    <a:lumMod val="75000"/>
                  </a:schemeClr>
                </a:solidFill>
                <a:latin typeface="Calibri" pitchFamily="34" charset="0"/>
                <a:ea typeface="Arial" pitchFamily="34" charset="0"/>
                <a:cs typeface="Arial" pitchFamily="34" charset="0"/>
              </a:rPr>
              <a:t>Px1</a:t>
            </a:r>
            <a:endParaRPr lang="he-IL" sz="3600" b="1" dirty="0">
              <a:solidFill>
                <a:schemeClr val="accent2">
                  <a:lumMod val="75000"/>
                </a:schemeClr>
              </a:solidFill>
              <a:latin typeface="Arial" pitchFamily="34" charset="0"/>
              <a:cs typeface="Arial" pitchFamily="34" charset="0"/>
            </a:endParaRPr>
          </a:p>
        </p:txBody>
      </p:sp>
      <p:sp>
        <p:nvSpPr>
          <p:cNvPr id="41" name="Oval 40">
            <a:extLst>
              <a:ext uri="{FF2B5EF4-FFF2-40B4-BE49-F238E27FC236}">
                <a16:creationId xmlns:a16="http://schemas.microsoft.com/office/drawing/2014/main" id="{3369BE24-E166-7258-9103-CD93AB8DF008}"/>
              </a:ext>
            </a:extLst>
          </p:cNvPr>
          <p:cNvSpPr/>
          <p:nvPr/>
        </p:nvSpPr>
        <p:spPr>
          <a:xfrm>
            <a:off x="3055211" y="3578453"/>
            <a:ext cx="220070" cy="18091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a</a:t>
            </a:r>
            <a:endParaRPr lang="en-IL" dirty="0"/>
          </a:p>
        </p:txBody>
      </p:sp>
      <p:sp>
        <p:nvSpPr>
          <p:cNvPr id="45" name="Oval 44">
            <a:extLst>
              <a:ext uri="{FF2B5EF4-FFF2-40B4-BE49-F238E27FC236}">
                <a16:creationId xmlns:a16="http://schemas.microsoft.com/office/drawing/2014/main" id="{EA122E8A-9D57-AAD1-FB23-787E99F73581}"/>
              </a:ext>
            </a:extLst>
          </p:cNvPr>
          <p:cNvSpPr/>
          <p:nvPr/>
        </p:nvSpPr>
        <p:spPr>
          <a:xfrm>
            <a:off x="5804861" y="3591081"/>
            <a:ext cx="220070" cy="180914"/>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a</a:t>
            </a:r>
            <a:endParaRPr lang="en-IL" dirty="0"/>
          </a:p>
        </p:txBody>
      </p:sp>
      <p:sp>
        <p:nvSpPr>
          <p:cNvPr id="47" name="Oval 46">
            <a:extLst>
              <a:ext uri="{FF2B5EF4-FFF2-40B4-BE49-F238E27FC236}">
                <a16:creationId xmlns:a16="http://schemas.microsoft.com/office/drawing/2014/main" id="{E4A17DE8-47FD-3B86-AAF2-F652A38966EE}"/>
              </a:ext>
            </a:extLst>
          </p:cNvPr>
          <p:cNvSpPr/>
          <p:nvPr/>
        </p:nvSpPr>
        <p:spPr>
          <a:xfrm>
            <a:off x="2733388" y="3348637"/>
            <a:ext cx="220070" cy="180914"/>
          </a:xfrm>
          <a:prstGeom prst="ellipse">
            <a:avLst/>
          </a:prstGeom>
          <a:solidFill>
            <a:srgbClr val="FF000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b</a:t>
            </a:r>
            <a:endParaRPr lang="en-IL" dirty="0"/>
          </a:p>
        </p:txBody>
      </p:sp>
      <p:sp>
        <p:nvSpPr>
          <p:cNvPr id="48" name="Oval 47">
            <a:extLst>
              <a:ext uri="{FF2B5EF4-FFF2-40B4-BE49-F238E27FC236}">
                <a16:creationId xmlns:a16="http://schemas.microsoft.com/office/drawing/2014/main" id="{71EA5975-5EB4-EA32-32BC-B842A26C118C}"/>
              </a:ext>
            </a:extLst>
          </p:cNvPr>
          <p:cNvSpPr/>
          <p:nvPr/>
        </p:nvSpPr>
        <p:spPr>
          <a:xfrm>
            <a:off x="5975993" y="3394794"/>
            <a:ext cx="220070" cy="180914"/>
          </a:xfrm>
          <a:prstGeom prst="ellipse">
            <a:avLst/>
          </a:prstGeom>
          <a:solidFill>
            <a:srgbClr val="FF0000"/>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b</a:t>
            </a:r>
            <a:endParaRPr lang="en-IL" dirty="0"/>
          </a:p>
        </p:txBody>
      </p:sp>
      <p:cxnSp>
        <p:nvCxnSpPr>
          <p:cNvPr id="52" name="מחבר ישר 57">
            <a:extLst>
              <a:ext uri="{FF2B5EF4-FFF2-40B4-BE49-F238E27FC236}">
                <a16:creationId xmlns:a16="http://schemas.microsoft.com/office/drawing/2014/main" id="{9C2D4942-1B2C-4987-27B8-3ADF02B6F53F}"/>
              </a:ext>
            </a:extLst>
          </p:cNvPr>
          <p:cNvCxnSpPr>
            <a:cxnSpLocks/>
          </p:cNvCxnSpPr>
          <p:nvPr/>
        </p:nvCxnSpPr>
        <p:spPr>
          <a:xfrm flipV="1">
            <a:off x="6077648" y="3607196"/>
            <a:ext cx="18353" cy="904787"/>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4" name="Text Box 18">
            <a:extLst>
              <a:ext uri="{FF2B5EF4-FFF2-40B4-BE49-F238E27FC236}">
                <a16:creationId xmlns:a16="http://schemas.microsoft.com/office/drawing/2014/main" id="{47D25335-82E3-3082-FEE0-6362C9003E40}"/>
              </a:ext>
            </a:extLst>
          </p:cNvPr>
          <p:cNvSpPr txBox="1">
            <a:spLocks noChangeArrowheads="1"/>
          </p:cNvSpPr>
          <p:nvPr/>
        </p:nvSpPr>
        <p:spPr bwMode="auto">
          <a:xfrm>
            <a:off x="5943884" y="4500334"/>
            <a:ext cx="428629" cy="357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b="1" dirty="0">
                <a:solidFill>
                  <a:schemeClr val="accent2">
                    <a:lumMod val="75000"/>
                  </a:schemeClr>
                </a:solidFill>
                <a:latin typeface="Calibri" pitchFamily="34" charset="0"/>
                <a:cs typeface="Arial" pitchFamily="34" charset="0"/>
              </a:rPr>
              <a:t>X</a:t>
            </a:r>
            <a:r>
              <a:rPr lang="en-US" sz="1600" b="1" dirty="0">
                <a:solidFill>
                  <a:schemeClr val="accent2">
                    <a:lumMod val="75000"/>
                  </a:schemeClr>
                </a:solidFill>
                <a:latin typeface="Calibri" pitchFamily="34" charset="0"/>
                <a:cs typeface="Arial" pitchFamily="34" charset="0"/>
              </a:rPr>
              <a:t>1</a:t>
            </a:r>
            <a:endParaRPr lang="he-IL" sz="3600" b="1" dirty="0">
              <a:solidFill>
                <a:schemeClr val="accent2">
                  <a:lumMod val="75000"/>
                </a:schemeClr>
              </a:solidFill>
              <a:latin typeface="Arial" pitchFamily="34" charset="0"/>
              <a:cs typeface="Arial" pitchFamily="34" charset="0"/>
            </a:endParaRPr>
          </a:p>
        </p:txBody>
      </p:sp>
      <p:cxnSp>
        <p:nvCxnSpPr>
          <p:cNvPr id="55" name="מחבר ישר 57">
            <a:extLst>
              <a:ext uri="{FF2B5EF4-FFF2-40B4-BE49-F238E27FC236}">
                <a16:creationId xmlns:a16="http://schemas.microsoft.com/office/drawing/2014/main" id="{C8FF6A54-452C-A26C-53D6-6959EBDEC4EB}"/>
              </a:ext>
            </a:extLst>
          </p:cNvPr>
          <p:cNvCxnSpPr>
            <a:cxnSpLocks/>
            <a:endCxn id="47" idx="1"/>
          </p:cNvCxnSpPr>
          <p:nvPr/>
        </p:nvCxnSpPr>
        <p:spPr>
          <a:xfrm flipH="1" flipV="1">
            <a:off x="2765617" y="3375132"/>
            <a:ext cx="20352" cy="1192379"/>
          </a:xfrm>
          <a:prstGeom prst="line">
            <a:avLst/>
          </a:prstGeom>
          <a:ln>
            <a:solidFill>
              <a:schemeClr val="accent2">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6" name="Text Box 18">
            <a:extLst>
              <a:ext uri="{FF2B5EF4-FFF2-40B4-BE49-F238E27FC236}">
                <a16:creationId xmlns:a16="http://schemas.microsoft.com/office/drawing/2014/main" id="{900686AD-83F2-3EC7-A315-476E26005035}"/>
              </a:ext>
            </a:extLst>
          </p:cNvPr>
          <p:cNvSpPr txBox="1">
            <a:spLocks noChangeArrowheads="1"/>
          </p:cNvSpPr>
          <p:nvPr/>
        </p:nvSpPr>
        <p:spPr bwMode="auto">
          <a:xfrm>
            <a:off x="2661660" y="4524635"/>
            <a:ext cx="428629" cy="3571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sz="2000" b="1" dirty="0">
                <a:solidFill>
                  <a:schemeClr val="accent2">
                    <a:lumMod val="75000"/>
                  </a:schemeClr>
                </a:solidFill>
                <a:latin typeface="Calibri" pitchFamily="34" charset="0"/>
                <a:cs typeface="Arial" pitchFamily="34" charset="0"/>
              </a:rPr>
              <a:t>X</a:t>
            </a:r>
            <a:r>
              <a:rPr lang="en-US" sz="1600" b="1" dirty="0">
                <a:solidFill>
                  <a:schemeClr val="accent2">
                    <a:lumMod val="75000"/>
                  </a:schemeClr>
                </a:solidFill>
                <a:latin typeface="Calibri" pitchFamily="34" charset="0"/>
                <a:cs typeface="Arial" pitchFamily="34" charset="0"/>
              </a:rPr>
              <a:t>1</a:t>
            </a:r>
            <a:endParaRPr lang="he-IL" sz="3600" b="1" dirty="0">
              <a:solidFill>
                <a:schemeClr val="accent2">
                  <a:lumMod val="75000"/>
                </a:schemeClr>
              </a:solidFill>
              <a:latin typeface="Arial" pitchFamily="34" charset="0"/>
              <a:cs typeface="Arial" pitchFamily="34" charset="0"/>
            </a:endParaRPr>
          </a:p>
        </p:txBody>
      </p:sp>
      <p:sp>
        <p:nvSpPr>
          <p:cNvPr id="72" name="TextBox 71">
            <a:extLst>
              <a:ext uri="{FF2B5EF4-FFF2-40B4-BE49-F238E27FC236}">
                <a16:creationId xmlns:a16="http://schemas.microsoft.com/office/drawing/2014/main" id="{E7DBF5BA-20D0-B6CE-F855-06A2D6F5D761}"/>
              </a:ext>
            </a:extLst>
          </p:cNvPr>
          <p:cNvSpPr txBox="1"/>
          <p:nvPr/>
        </p:nvSpPr>
        <p:spPr>
          <a:xfrm>
            <a:off x="4893208" y="2437160"/>
            <a:ext cx="1273506" cy="430887"/>
          </a:xfrm>
          <a:prstGeom prst="rect">
            <a:avLst/>
          </a:prstGeom>
          <a:solidFill>
            <a:schemeClr val="accent2">
              <a:lumMod val="40000"/>
              <a:lumOff val="60000"/>
            </a:schemeClr>
          </a:solidFill>
        </p:spPr>
        <p:txBody>
          <a:bodyPr wrap="square">
            <a:spAutoFit/>
          </a:bodyPr>
          <a:lstStyle/>
          <a:p>
            <a:pPr algn="ctr" rtl="1"/>
            <a:r>
              <a:rPr lang="he-IL" sz="1100" b="1" dirty="0"/>
              <a:t>הכנסות יצרני הנגב בוודאות עלו </a:t>
            </a:r>
            <a:endParaRPr lang="en-IL" sz="1100" dirty="0"/>
          </a:p>
        </p:txBody>
      </p:sp>
      <p:sp>
        <p:nvSpPr>
          <p:cNvPr id="73" name="Rectangle 72">
            <a:extLst>
              <a:ext uri="{FF2B5EF4-FFF2-40B4-BE49-F238E27FC236}">
                <a16:creationId xmlns:a16="http://schemas.microsoft.com/office/drawing/2014/main" id="{9D51F8D3-91E6-4A1B-396B-95FA69535C4C}"/>
              </a:ext>
            </a:extLst>
          </p:cNvPr>
          <p:cNvSpPr/>
          <p:nvPr/>
        </p:nvSpPr>
        <p:spPr>
          <a:xfrm>
            <a:off x="2157209" y="3668911"/>
            <a:ext cx="1022468" cy="859599"/>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L"/>
          </a:p>
        </p:txBody>
      </p:sp>
      <p:sp>
        <p:nvSpPr>
          <p:cNvPr id="74" name="Rectangle 73">
            <a:extLst>
              <a:ext uri="{FF2B5EF4-FFF2-40B4-BE49-F238E27FC236}">
                <a16:creationId xmlns:a16="http://schemas.microsoft.com/office/drawing/2014/main" id="{99397AB0-49FE-F8B8-AEE3-45E1703AEF6F}"/>
              </a:ext>
            </a:extLst>
          </p:cNvPr>
          <p:cNvSpPr/>
          <p:nvPr/>
        </p:nvSpPr>
        <p:spPr>
          <a:xfrm>
            <a:off x="2196221" y="3439094"/>
            <a:ext cx="571967" cy="10678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3322422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1000"/>
                                        <p:tgtEl>
                                          <p:spTgt spid="38"/>
                                        </p:tgtEl>
                                      </p:cBhvr>
                                    </p:animEffect>
                                    <p:anim calcmode="lin" valueType="num">
                                      <p:cBhvr>
                                        <p:cTn id="8" dur="1000" fill="hold"/>
                                        <p:tgtEl>
                                          <p:spTgt spid="38"/>
                                        </p:tgtEl>
                                        <p:attrNameLst>
                                          <p:attrName>ppt_x</p:attrName>
                                        </p:attrNameLst>
                                      </p:cBhvr>
                                      <p:tavLst>
                                        <p:tav tm="0">
                                          <p:val>
                                            <p:strVal val="#ppt_x"/>
                                          </p:val>
                                        </p:tav>
                                        <p:tav tm="100000">
                                          <p:val>
                                            <p:strVal val="#ppt_x"/>
                                          </p:val>
                                        </p:tav>
                                      </p:tavLst>
                                    </p:anim>
                                    <p:anim calcmode="lin" valueType="num">
                                      <p:cBhvr>
                                        <p:cTn id="9"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46"/>
                                        </p:tgtEl>
                                        <p:attrNameLst>
                                          <p:attrName>style.visibility</p:attrName>
                                        </p:attrNameLst>
                                      </p:cBhvr>
                                      <p:to>
                                        <p:strVal val="visible"/>
                                      </p:to>
                                    </p:set>
                                    <p:animEffect transition="in" filter="wipe(down)">
                                      <p:cBhvr>
                                        <p:cTn id="14" dur="500"/>
                                        <p:tgtEl>
                                          <p:spTgt spid="46"/>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1000"/>
                                        <p:tgtEl>
                                          <p:spTgt spid="49"/>
                                        </p:tgtEl>
                                      </p:cBhvr>
                                    </p:animEffect>
                                    <p:anim calcmode="lin" valueType="num">
                                      <p:cBhvr>
                                        <p:cTn id="20" dur="1000" fill="hold"/>
                                        <p:tgtEl>
                                          <p:spTgt spid="49"/>
                                        </p:tgtEl>
                                        <p:attrNameLst>
                                          <p:attrName>ppt_x</p:attrName>
                                        </p:attrNameLst>
                                      </p:cBhvr>
                                      <p:tavLst>
                                        <p:tav tm="0">
                                          <p:val>
                                            <p:strVal val="#ppt_x"/>
                                          </p:val>
                                        </p:tav>
                                        <p:tav tm="100000">
                                          <p:val>
                                            <p:strVal val="#ppt_x"/>
                                          </p:val>
                                        </p:tav>
                                      </p:tavLst>
                                    </p:anim>
                                    <p:anim calcmode="lin" valueType="num">
                                      <p:cBhvr>
                                        <p:cTn id="21"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wipe(down)">
                                      <p:cBhvr>
                                        <p:cTn id="26" dur="500"/>
                                        <p:tgtEl>
                                          <p:spTgt spid="50"/>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51"/>
                                        </p:tgtEl>
                                        <p:attrNameLst>
                                          <p:attrName>style.visibility</p:attrName>
                                        </p:attrNameLst>
                                      </p:cBhvr>
                                      <p:to>
                                        <p:strVal val="visible"/>
                                      </p:to>
                                    </p:set>
                                    <p:anim calcmode="lin" valueType="num">
                                      <p:cBhvr>
                                        <p:cTn id="31" dur="1000" fill="hold"/>
                                        <p:tgtEl>
                                          <p:spTgt spid="51"/>
                                        </p:tgtEl>
                                        <p:attrNameLst>
                                          <p:attrName>ppt_w</p:attrName>
                                        </p:attrNameLst>
                                      </p:cBhvr>
                                      <p:tavLst>
                                        <p:tav tm="0">
                                          <p:val>
                                            <p:fltVal val="0"/>
                                          </p:val>
                                        </p:tav>
                                        <p:tav tm="100000">
                                          <p:val>
                                            <p:strVal val="#ppt_w"/>
                                          </p:val>
                                        </p:tav>
                                      </p:tavLst>
                                    </p:anim>
                                    <p:anim calcmode="lin" valueType="num">
                                      <p:cBhvr>
                                        <p:cTn id="32" dur="1000" fill="hold"/>
                                        <p:tgtEl>
                                          <p:spTgt spid="51"/>
                                        </p:tgtEl>
                                        <p:attrNameLst>
                                          <p:attrName>ppt_h</p:attrName>
                                        </p:attrNameLst>
                                      </p:cBhvr>
                                      <p:tavLst>
                                        <p:tav tm="0">
                                          <p:val>
                                            <p:fltVal val="0"/>
                                          </p:val>
                                        </p:tav>
                                        <p:tav tm="100000">
                                          <p:val>
                                            <p:strVal val="#ppt_h"/>
                                          </p:val>
                                        </p:tav>
                                      </p:tavLst>
                                    </p:anim>
                                    <p:anim calcmode="lin" valueType="num">
                                      <p:cBhvr>
                                        <p:cTn id="33" dur="1000" fill="hold"/>
                                        <p:tgtEl>
                                          <p:spTgt spid="51"/>
                                        </p:tgtEl>
                                        <p:attrNameLst>
                                          <p:attrName>style.rotation</p:attrName>
                                        </p:attrNameLst>
                                      </p:cBhvr>
                                      <p:tavLst>
                                        <p:tav tm="0">
                                          <p:val>
                                            <p:fltVal val="90"/>
                                          </p:val>
                                        </p:tav>
                                        <p:tav tm="100000">
                                          <p:val>
                                            <p:fltVal val="0"/>
                                          </p:val>
                                        </p:tav>
                                      </p:tavLst>
                                    </p:anim>
                                    <p:animEffect transition="in" filter="fade">
                                      <p:cBhvr>
                                        <p:cTn id="34" dur="1000"/>
                                        <p:tgtEl>
                                          <p:spTgt spid="51"/>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59">
                                            <p:txEl>
                                              <p:pRg st="0" end="0"/>
                                            </p:txEl>
                                          </p:spTgt>
                                        </p:tgtEl>
                                        <p:attrNameLst>
                                          <p:attrName>style.visibility</p:attrName>
                                        </p:attrNameLst>
                                      </p:cBhvr>
                                      <p:to>
                                        <p:strVal val="visible"/>
                                      </p:to>
                                    </p:set>
                                    <p:animEffect transition="in" filter="barn(inVertical)">
                                      <p:cBhvr>
                                        <p:cTn id="43" dur="500"/>
                                        <p:tgtEl>
                                          <p:spTgt spid="59">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60"/>
                                        </p:tgtEl>
                                        <p:attrNameLst>
                                          <p:attrName>style.visibility</p:attrName>
                                        </p:attrNameLst>
                                      </p:cBhvr>
                                      <p:to>
                                        <p:strVal val="visible"/>
                                      </p:to>
                                    </p:set>
                                    <p:animEffect transition="in" filter="wipe(down)">
                                      <p:cBhvr>
                                        <p:cTn id="48" dur="500"/>
                                        <p:tgtEl>
                                          <p:spTgt spid="6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63">
                                            <p:txEl>
                                              <p:pRg st="0" end="0"/>
                                            </p:txEl>
                                          </p:spTgt>
                                        </p:tgtEl>
                                        <p:attrNameLst>
                                          <p:attrName>style.visibility</p:attrName>
                                        </p:attrNameLst>
                                      </p:cBhvr>
                                      <p:to>
                                        <p:strVal val="visible"/>
                                      </p:to>
                                    </p:set>
                                    <p:animEffect transition="in" filter="wipe(down)">
                                      <p:cBhvr>
                                        <p:cTn id="53" dur="500"/>
                                        <p:tgtEl>
                                          <p:spTgt spid="63">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48"/>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6" presetClass="entr" presetSubtype="21" fill="hold" nodeType="clickEffect">
                                  <p:stCondLst>
                                    <p:cond delay="0"/>
                                  </p:stCondLst>
                                  <p:childTnLst>
                                    <p:set>
                                      <p:cBhvr>
                                        <p:cTn id="61" dur="1" fill="hold">
                                          <p:stCondLst>
                                            <p:cond delay="0"/>
                                          </p:stCondLst>
                                        </p:cTn>
                                        <p:tgtEl>
                                          <p:spTgt spid="52"/>
                                        </p:tgtEl>
                                        <p:attrNameLst>
                                          <p:attrName>style.visibility</p:attrName>
                                        </p:attrNameLst>
                                      </p:cBhvr>
                                      <p:to>
                                        <p:strVal val="visible"/>
                                      </p:to>
                                    </p:set>
                                    <p:animEffect transition="in" filter="barn(inVertical)">
                                      <p:cBhvr>
                                        <p:cTn id="62" dur="500"/>
                                        <p:tgtEl>
                                          <p:spTgt spid="52"/>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grpId="0" nodeType="clickEffect">
                                  <p:stCondLst>
                                    <p:cond delay="0"/>
                                  </p:stCondLst>
                                  <p:childTnLst>
                                    <p:set>
                                      <p:cBhvr>
                                        <p:cTn id="66" dur="1" fill="hold">
                                          <p:stCondLst>
                                            <p:cond delay="0"/>
                                          </p:stCondLst>
                                        </p:cTn>
                                        <p:tgtEl>
                                          <p:spTgt spid="54"/>
                                        </p:tgtEl>
                                        <p:attrNameLst>
                                          <p:attrName>style.visibility</p:attrName>
                                        </p:attrNameLst>
                                      </p:cBhvr>
                                      <p:to>
                                        <p:strVal val="visible"/>
                                      </p:to>
                                    </p:set>
                                    <p:animEffect transition="in" filter="barn(inVertical)">
                                      <p:cBhvr>
                                        <p:cTn id="67" dur="500"/>
                                        <p:tgtEl>
                                          <p:spTgt spid="54"/>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grpId="0" nodeType="click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barn(inVertical)">
                                      <p:cBhvr>
                                        <p:cTn id="72" dur="500"/>
                                        <p:tgtEl>
                                          <p:spTgt spid="47"/>
                                        </p:tgtEl>
                                      </p:cBhvr>
                                    </p:animEffect>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55"/>
                                        </p:tgtEl>
                                        <p:attrNameLst>
                                          <p:attrName>style.visibility</p:attrName>
                                        </p:attrNameLst>
                                      </p:cBhvr>
                                      <p:to>
                                        <p:strVal val="visible"/>
                                      </p:to>
                                    </p:set>
                                    <p:animEffect transition="in" filter="fade">
                                      <p:cBhvr>
                                        <p:cTn id="77" dur="1000"/>
                                        <p:tgtEl>
                                          <p:spTgt spid="55"/>
                                        </p:tgtEl>
                                      </p:cBhvr>
                                    </p:animEffect>
                                    <p:anim calcmode="lin" valueType="num">
                                      <p:cBhvr>
                                        <p:cTn id="78" dur="1000" fill="hold"/>
                                        <p:tgtEl>
                                          <p:spTgt spid="55"/>
                                        </p:tgtEl>
                                        <p:attrNameLst>
                                          <p:attrName>ppt_x</p:attrName>
                                        </p:attrNameLst>
                                      </p:cBhvr>
                                      <p:tavLst>
                                        <p:tav tm="0">
                                          <p:val>
                                            <p:strVal val="#ppt_x"/>
                                          </p:val>
                                        </p:tav>
                                        <p:tav tm="100000">
                                          <p:val>
                                            <p:strVal val="#ppt_x"/>
                                          </p:val>
                                        </p:tav>
                                      </p:tavLst>
                                    </p:anim>
                                    <p:anim calcmode="lin" valueType="num">
                                      <p:cBhvr>
                                        <p:cTn id="79" dur="1000" fill="hold"/>
                                        <p:tgtEl>
                                          <p:spTgt spid="55"/>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fade">
                                      <p:cBhvr>
                                        <p:cTn id="82" dur="1000"/>
                                        <p:tgtEl>
                                          <p:spTgt spid="56"/>
                                        </p:tgtEl>
                                      </p:cBhvr>
                                    </p:animEffect>
                                    <p:anim calcmode="lin" valueType="num">
                                      <p:cBhvr>
                                        <p:cTn id="83" dur="1000" fill="hold"/>
                                        <p:tgtEl>
                                          <p:spTgt spid="56"/>
                                        </p:tgtEl>
                                        <p:attrNameLst>
                                          <p:attrName>ppt_x</p:attrName>
                                        </p:attrNameLst>
                                      </p:cBhvr>
                                      <p:tavLst>
                                        <p:tav tm="0">
                                          <p:val>
                                            <p:strVal val="#ppt_x"/>
                                          </p:val>
                                        </p:tav>
                                        <p:tav tm="100000">
                                          <p:val>
                                            <p:strVal val="#ppt_x"/>
                                          </p:val>
                                        </p:tav>
                                      </p:tavLst>
                                    </p:anim>
                                    <p:anim calcmode="lin" valueType="num">
                                      <p:cBhvr>
                                        <p:cTn id="84"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72"/>
                                        </p:tgtEl>
                                        <p:attrNameLst>
                                          <p:attrName>style.visibility</p:attrName>
                                        </p:attrNameLst>
                                      </p:cBhvr>
                                      <p:to>
                                        <p:strVal val="visible"/>
                                      </p:to>
                                    </p:set>
                                    <p:anim calcmode="lin" valueType="num">
                                      <p:cBhvr additive="base">
                                        <p:cTn id="89" dur="500" fill="hold"/>
                                        <p:tgtEl>
                                          <p:spTgt spid="72"/>
                                        </p:tgtEl>
                                        <p:attrNameLst>
                                          <p:attrName>ppt_x</p:attrName>
                                        </p:attrNameLst>
                                      </p:cBhvr>
                                      <p:tavLst>
                                        <p:tav tm="0">
                                          <p:val>
                                            <p:strVal val="#ppt_x"/>
                                          </p:val>
                                        </p:tav>
                                        <p:tav tm="100000">
                                          <p:val>
                                            <p:strVal val="#ppt_x"/>
                                          </p:val>
                                        </p:tav>
                                      </p:tavLst>
                                    </p:anim>
                                    <p:anim calcmode="lin" valueType="num">
                                      <p:cBhvr additive="base">
                                        <p:cTn id="90"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9" presetClass="emph" presetSubtype="0" grpId="0" nodeType="clickEffect">
                                  <p:stCondLst>
                                    <p:cond delay="0"/>
                                  </p:stCondLst>
                                  <p:childTnLst>
                                    <p:set>
                                      <p:cBhvr>
                                        <p:cTn id="94" dur="indefinite"/>
                                        <p:tgtEl>
                                          <p:spTgt spid="73"/>
                                        </p:tgtEl>
                                        <p:attrNameLst>
                                          <p:attrName>style.opacity</p:attrName>
                                        </p:attrNameLst>
                                      </p:cBhvr>
                                      <p:to>
                                        <p:strVal val="0.5"/>
                                      </p:to>
                                    </p:set>
                                    <p:animEffect filter="image" prLst="opacity: 0.5">
                                      <p:cBhvr rctx="IE">
                                        <p:cTn id="95" dur="indefinite"/>
                                        <p:tgtEl>
                                          <p:spTgt spid="73"/>
                                        </p:tgtEl>
                                      </p:cBhvr>
                                    </p:animEffect>
                                  </p:childTnLst>
                                </p:cTn>
                              </p:par>
                            </p:childTnLst>
                          </p:cTn>
                        </p:par>
                      </p:childTnLst>
                    </p:cTn>
                  </p:par>
                  <p:par>
                    <p:cTn id="96" fill="hold">
                      <p:stCondLst>
                        <p:cond delay="indefinite"/>
                      </p:stCondLst>
                      <p:childTnLst>
                        <p:par>
                          <p:cTn id="97" fill="hold">
                            <p:stCondLst>
                              <p:cond delay="0"/>
                            </p:stCondLst>
                            <p:childTnLst>
                              <p:par>
                                <p:cTn id="98" presetID="9" presetClass="emph" presetSubtype="0" grpId="0" nodeType="clickEffect">
                                  <p:stCondLst>
                                    <p:cond delay="0"/>
                                  </p:stCondLst>
                                  <p:childTnLst>
                                    <p:set>
                                      <p:cBhvr>
                                        <p:cTn id="99" dur="indefinite"/>
                                        <p:tgtEl>
                                          <p:spTgt spid="74"/>
                                        </p:tgtEl>
                                        <p:attrNameLst>
                                          <p:attrName>style.opacity</p:attrName>
                                        </p:attrNameLst>
                                      </p:cBhvr>
                                      <p:to>
                                        <p:strVal val="0.5"/>
                                      </p:to>
                                    </p:set>
                                    <p:animEffect filter="image" prLst="opacity: 0.5">
                                      <p:cBhvr rctx="IE">
                                        <p:cTn id="100" dur="indefinite"/>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6" grpId="0"/>
      <p:bldP spid="49" grpId="0" animBg="1"/>
      <p:bldP spid="50" grpId="0"/>
      <p:bldP spid="51" grpId="0" animBg="1"/>
      <p:bldP spid="47" grpId="0" animBg="1"/>
      <p:bldP spid="48" grpId="0" animBg="1"/>
      <p:bldP spid="54" grpId="0"/>
      <p:bldP spid="56" grpId="0"/>
      <p:bldP spid="72" grpId="0" animBg="1"/>
      <p:bldP spid="73" grpId="0" animBg="1"/>
      <p:bldP spid="74"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8DD4F-7435-F044-4D25-5C630B5A7346}"/>
              </a:ext>
            </a:extLst>
          </p:cNvPr>
          <p:cNvSpPr>
            <a:spLocks noGrp="1"/>
          </p:cNvSpPr>
          <p:nvPr>
            <p:ph type="title"/>
          </p:nvPr>
        </p:nvSpPr>
        <p:spPr/>
        <p:txBody>
          <a:bodyPr/>
          <a:lstStyle/>
          <a:p>
            <a:r>
              <a:rPr lang="he-IL" dirty="0"/>
              <a:t>תשובה לשאלת בחינה- שווקים חלקיים</a:t>
            </a:r>
            <a:endParaRPr lang="en-IL" dirty="0"/>
          </a:p>
        </p:txBody>
      </p:sp>
      <p:sp>
        <p:nvSpPr>
          <p:cNvPr id="3" name="Content Placeholder 2">
            <a:extLst>
              <a:ext uri="{FF2B5EF4-FFF2-40B4-BE49-F238E27FC236}">
                <a16:creationId xmlns:a16="http://schemas.microsoft.com/office/drawing/2014/main" id="{C1CC8CD2-5C90-D3E4-1CF6-6E3322A56D1A}"/>
              </a:ext>
            </a:extLst>
          </p:cNvPr>
          <p:cNvSpPr>
            <a:spLocks noGrp="1"/>
          </p:cNvSpPr>
          <p:nvPr>
            <p:ph idx="1"/>
          </p:nvPr>
        </p:nvSpPr>
        <p:spPr/>
        <p:txBody>
          <a:bodyPr>
            <a:normAutofit/>
          </a:bodyPr>
          <a:lstStyle/>
          <a:p>
            <a:pPr marL="0" indent="0">
              <a:buNone/>
            </a:pPr>
            <a:r>
              <a:rPr lang="he-IL" sz="2000" dirty="0"/>
              <a:t>התשובה הנכונה היא </a:t>
            </a:r>
            <a:r>
              <a:rPr lang="he-IL" sz="2000" b="1" dirty="0"/>
              <a:t>א'</a:t>
            </a:r>
          </a:p>
          <a:p>
            <a:pPr marL="0" indent="0">
              <a:buNone/>
            </a:pPr>
            <a:r>
              <a:rPr lang="he-IL" sz="2000" dirty="0"/>
              <a:t>הסבר: </a:t>
            </a:r>
          </a:p>
          <a:p>
            <a:pPr marL="0" indent="0">
              <a:buNone/>
            </a:pPr>
            <a:r>
              <a:rPr lang="he-IL" sz="2000" dirty="0"/>
              <a:t>בסעיף א' נתון שהביקוש למוצר הינו יחידתי, מכאן שהוצאות הצרכנים על המוצר לא השתנו ומצד היצרנים ניתן לומר </a:t>
            </a:r>
            <a:r>
              <a:rPr lang="he-IL" sz="2000" b="1" dirty="0"/>
              <a:t>שסך ההכנסות של כל היצרנים ללא שינוי</a:t>
            </a:r>
            <a:r>
              <a:rPr lang="he-IL" sz="2000" dirty="0"/>
              <a:t>.</a:t>
            </a:r>
            <a:br>
              <a:rPr lang="en-US" sz="2000" dirty="0"/>
            </a:br>
            <a:r>
              <a:rPr lang="he-IL" sz="2000" b="1" dirty="0"/>
              <a:t>הכנסות יצרני הנגב בוודאות עלו </a:t>
            </a:r>
            <a:r>
              <a:rPr lang="he-IL" sz="2000" dirty="0"/>
              <a:t>(כי המחיר עלה והכמות המיוצרת על ידם) ומכאן ש</a:t>
            </a:r>
            <a:r>
              <a:rPr lang="he-IL" sz="2000" b="1" dirty="0"/>
              <a:t>הכנסות יצרני הגליל בוודאות ירדו </a:t>
            </a:r>
            <a:r>
              <a:rPr lang="he-IL" sz="2000" dirty="0"/>
              <a:t>(כך שסך ההכנסות של שתי הקבוצות ישארו ללא שינוי). </a:t>
            </a:r>
          </a:p>
          <a:p>
            <a:pPr marL="0" indent="0">
              <a:buNone/>
            </a:pPr>
            <a:r>
              <a:rPr lang="he-IL" sz="2000" dirty="0"/>
              <a:t>סעיף ב' שגוי מכיוון שאם הביקוש קשיח, נוכל להסיק שהכנסות כל היצרנים במשק עלו (כי המחיר עלה ביותר מירידת הכמות המצרפית), ואם הכנסות יצרני הנגב עלו, אז לא נוכל להסיק מה קרה להכנסות יצרני הגליל, או שהן גם עלו, או שלא השתנו או שירדו במעט. </a:t>
            </a:r>
          </a:p>
          <a:p>
            <a:pPr marL="0" indent="0">
              <a:buNone/>
            </a:pPr>
            <a:endParaRPr lang="he-IL" sz="2000" dirty="0"/>
          </a:p>
        </p:txBody>
      </p:sp>
      <p:sp>
        <p:nvSpPr>
          <p:cNvPr id="4" name="Date Placeholder 3">
            <a:extLst>
              <a:ext uri="{FF2B5EF4-FFF2-40B4-BE49-F238E27FC236}">
                <a16:creationId xmlns:a16="http://schemas.microsoft.com/office/drawing/2014/main" id="{33EA4EE7-93D7-60D3-E9CC-0CFC50440D26}"/>
              </a:ext>
            </a:extLst>
          </p:cNvPr>
          <p:cNvSpPr>
            <a:spLocks noGrp="1"/>
          </p:cNvSpPr>
          <p:nvPr>
            <p:ph type="dt" sz="half" idx="10"/>
          </p:nvPr>
        </p:nvSpPr>
        <p:spPr/>
        <p:txBody>
          <a:bodyPr/>
          <a:lstStyle/>
          <a:p>
            <a:fld id="{8EBB0BF3-6265-44CE-A520-773E49705198}" type="datetime8">
              <a:rPr lang="he-IL" smtClean="0"/>
              <a:t>09 ינואר 26</a:t>
            </a:fld>
            <a:endParaRPr lang="he-IL"/>
          </a:p>
        </p:txBody>
      </p:sp>
      <p:sp>
        <p:nvSpPr>
          <p:cNvPr id="5" name="Slide Number Placeholder 4">
            <a:extLst>
              <a:ext uri="{FF2B5EF4-FFF2-40B4-BE49-F238E27FC236}">
                <a16:creationId xmlns:a16="http://schemas.microsoft.com/office/drawing/2014/main" id="{026559BE-4C74-BE1A-C47E-6F37A66DEE70}"/>
              </a:ext>
            </a:extLst>
          </p:cNvPr>
          <p:cNvSpPr>
            <a:spLocks noGrp="1"/>
          </p:cNvSpPr>
          <p:nvPr>
            <p:ph type="sldNum" sz="quarter" idx="12"/>
          </p:nvPr>
        </p:nvSpPr>
        <p:spPr/>
        <p:txBody>
          <a:bodyPr/>
          <a:lstStyle/>
          <a:p>
            <a:fld id="{492DB488-E800-4C9D-A68D-A9C6D048BCD3}" type="slidenum">
              <a:rPr lang="he-IL" smtClean="0"/>
              <a:pPr/>
              <a:t>44</a:t>
            </a:fld>
            <a:endParaRPr lang="he-IL"/>
          </a:p>
        </p:txBody>
      </p:sp>
    </p:spTree>
    <p:extLst>
      <p:ext uri="{BB962C8B-B14F-4D97-AF65-F5344CB8AC3E}">
        <p14:creationId xmlns:p14="http://schemas.microsoft.com/office/powerpoint/2010/main" val="42591184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5655D781-E1A9-4EA4-A6E0-B74BE5C5E234}"/>
              </a:ext>
            </a:extLst>
          </p:cNvPr>
          <p:cNvCxnSpPr>
            <a:cxnSpLocks/>
          </p:cNvCxnSpPr>
          <p:nvPr/>
        </p:nvCxnSpPr>
        <p:spPr>
          <a:xfrm>
            <a:off x="2209801" y="4204462"/>
            <a:ext cx="3302009" cy="465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41FAD8C-7A86-4789-84D4-3F45882EDF9B}"/>
              </a:ext>
            </a:extLst>
          </p:cNvPr>
          <p:cNvCxnSpPr>
            <a:cxnSpLocks/>
          </p:cNvCxnSpPr>
          <p:nvPr/>
        </p:nvCxnSpPr>
        <p:spPr>
          <a:xfrm flipV="1">
            <a:off x="2222090" y="914400"/>
            <a:ext cx="0" cy="3290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DEA45035-F9A1-4C23-83C2-1F18C061532A}"/>
              </a:ext>
            </a:extLst>
          </p:cNvPr>
          <p:cNvSpPr/>
          <p:nvPr/>
        </p:nvSpPr>
        <p:spPr>
          <a:xfrm>
            <a:off x="1816210" y="694463"/>
            <a:ext cx="405880" cy="369332"/>
          </a:xfrm>
          <a:prstGeom prst="rect">
            <a:avLst/>
          </a:prstGeom>
        </p:spPr>
        <p:txBody>
          <a:bodyPr wrap="none">
            <a:spAutoFit/>
          </a:bodyPr>
          <a:lstStyle/>
          <a:p>
            <a:r>
              <a:rPr lang="en-US" dirty="0">
                <a:solidFill>
                  <a:prstClr val="black"/>
                </a:solidFill>
              </a:rPr>
              <a:t>Px</a:t>
            </a:r>
            <a:endParaRPr lang="he-IL" dirty="0">
              <a:solidFill>
                <a:prstClr val="black"/>
              </a:solidFill>
            </a:endParaRPr>
          </a:p>
        </p:txBody>
      </p:sp>
      <p:sp>
        <p:nvSpPr>
          <p:cNvPr id="18" name="TextBox 17">
            <a:extLst>
              <a:ext uri="{FF2B5EF4-FFF2-40B4-BE49-F238E27FC236}">
                <a16:creationId xmlns:a16="http://schemas.microsoft.com/office/drawing/2014/main" id="{5D7F713F-E0FB-40DD-B29A-B016CECBCDFF}"/>
              </a:ext>
            </a:extLst>
          </p:cNvPr>
          <p:cNvSpPr txBox="1"/>
          <p:nvPr/>
        </p:nvSpPr>
        <p:spPr>
          <a:xfrm>
            <a:off x="5528725" y="4069011"/>
            <a:ext cx="304892" cy="369332"/>
          </a:xfrm>
          <a:prstGeom prst="rect">
            <a:avLst/>
          </a:prstGeom>
          <a:noFill/>
        </p:spPr>
        <p:txBody>
          <a:bodyPr wrap="none" rtlCol="1">
            <a:spAutoFit/>
          </a:bodyPr>
          <a:lstStyle/>
          <a:p>
            <a:r>
              <a:rPr lang="en-US" dirty="0">
                <a:solidFill>
                  <a:prstClr val="black"/>
                </a:solidFill>
              </a:rPr>
              <a:t>X</a:t>
            </a:r>
            <a:endParaRPr lang="he-IL" dirty="0">
              <a:solidFill>
                <a:prstClr val="black"/>
              </a:solidFill>
            </a:endParaRPr>
          </a:p>
        </p:txBody>
      </p:sp>
      <p:cxnSp>
        <p:nvCxnSpPr>
          <p:cNvPr id="20" name="מחבר ישר 13">
            <a:extLst>
              <a:ext uri="{FF2B5EF4-FFF2-40B4-BE49-F238E27FC236}">
                <a16:creationId xmlns:a16="http://schemas.microsoft.com/office/drawing/2014/main" id="{820B12E4-C110-446B-93C2-A733E41394FB}"/>
              </a:ext>
            </a:extLst>
          </p:cNvPr>
          <p:cNvCxnSpPr>
            <a:cxnSpLocks/>
          </p:cNvCxnSpPr>
          <p:nvPr/>
        </p:nvCxnSpPr>
        <p:spPr>
          <a:xfrm>
            <a:off x="2209801" y="1542350"/>
            <a:ext cx="2971801" cy="2708674"/>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65F1A90-2B7B-43D2-AC75-9B82D3884CE9}"/>
              </a:ext>
            </a:extLst>
          </p:cNvPr>
          <p:cNvSpPr txBox="1"/>
          <p:nvPr/>
        </p:nvSpPr>
        <p:spPr>
          <a:xfrm>
            <a:off x="5045962" y="3776437"/>
            <a:ext cx="405881" cy="369332"/>
          </a:xfrm>
          <a:prstGeom prst="rect">
            <a:avLst/>
          </a:prstGeom>
          <a:noFill/>
        </p:spPr>
        <p:txBody>
          <a:bodyPr wrap="none" rtlCol="1">
            <a:spAutoFit/>
          </a:bodyPr>
          <a:lstStyle/>
          <a:p>
            <a:r>
              <a:rPr lang="en-US" dirty="0">
                <a:solidFill>
                  <a:prstClr val="black"/>
                </a:solidFill>
              </a:rPr>
              <a:t>D</a:t>
            </a:r>
            <a:r>
              <a:rPr lang="en-US" baseline="-25000" dirty="0">
                <a:solidFill>
                  <a:prstClr val="black"/>
                </a:solidFill>
              </a:rPr>
              <a:t>0</a:t>
            </a:r>
            <a:endParaRPr lang="he-IL" baseline="-25000" dirty="0">
              <a:solidFill>
                <a:prstClr val="black"/>
              </a:solidFill>
            </a:endParaRPr>
          </a:p>
        </p:txBody>
      </p:sp>
      <p:sp>
        <p:nvSpPr>
          <p:cNvPr id="22" name="TextBox 21">
            <a:extLst>
              <a:ext uri="{FF2B5EF4-FFF2-40B4-BE49-F238E27FC236}">
                <a16:creationId xmlns:a16="http://schemas.microsoft.com/office/drawing/2014/main" id="{1C58733A-B2D6-4A60-B837-6C9A2473FC48}"/>
              </a:ext>
            </a:extLst>
          </p:cNvPr>
          <p:cNvSpPr txBox="1"/>
          <p:nvPr/>
        </p:nvSpPr>
        <p:spPr>
          <a:xfrm>
            <a:off x="1612653" y="1393009"/>
            <a:ext cx="612668" cy="400110"/>
          </a:xfrm>
          <a:prstGeom prst="rect">
            <a:avLst/>
          </a:prstGeom>
          <a:noFill/>
        </p:spPr>
        <p:txBody>
          <a:bodyPr wrap="none" rtlCol="1">
            <a:spAutoFit/>
          </a:bodyPr>
          <a:lstStyle/>
          <a:p>
            <a:r>
              <a:rPr lang="he-IL" sz="2000" dirty="0">
                <a:solidFill>
                  <a:prstClr val="black"/>
                </a:solidFill>
              </a:rPr>
              <a:t>700</a:t>
            </a:r>
          </a:p>
        </p:txBody>
      </p:sp>
      <p:sp>
        <p:nvSpPr>
          <p:cNvPr id="26" name="TextBox 25">
            <a:extLst>
              <a:ext uri="{FF2B5EF4-FFF2-40B4-BE49-F238E27FC236}">
                <a16:creationId xmlns:a16="http://schemas.microsoft.com/office/drawing/2014/main" id="{CAF4B609-C3AF-40F7-B498-23D2A6E267C8}"/>
              </a:ext>
            </a:extLst>
          </p:cNvPr>
          <p:cNvSpPr txBox="1"/>
          <p:nvPr/>
        </p:nvSpPr>
        <p:spPr>
          <a:xfrm>
            <a:off x="4813734" y="4238003"/>
            <a:ext cx="569387" cy="369332"/>
          </a:xfrm>
          <a:prstGeom prst="rect">
            <a:avLst/>
          </a:prstGeom>
          <a:noFill/>
        </p:spPr>
        <p:txBody>
          <a:bodyPr wrap="none" rtlCol="1">
            <a:spAutoFit/>
          </a:bodyPr>
          <a:lstStyle/>
          <a:p>
            <a:r>
              <a:rPr lang="he-IL" dirty="0">
                <a:solidFill>
                  <a:prstClr val="black"/>
                </a:solidFill>
              </a:rPr>
              <a:t>700</a:t>
            </a:r>
          </a:p>
        </p:txBody>
      </p:sp>
      <p:cxnSp>
        <p:nvCxnSpPr>
          <p:cNvPr id="27" name="מחבר ישר 15">
            <a:extLst>
              <a:ext uri="{FF2B5EF4-FFF2-40B4-BE49-F238E27FC236}">
                <a16:creationId xmlns:a16="http://schemas.microsoft.com/office/drawing/2014/main" id="{33B0FEB4-9EA7-4EE0-95C6-97B2D7C59C33}"/>
              </a:ext>
            </a:extLst>
          </p:cNvPr>
          <p:cNvCxnSpPr>
            <a:cxnSpLocks/>
          </p:cNvCxnSpPr>
          <p:nvPr/>
        </p:nvCxnSpPr>
        <p:spPr>
          <a:xfrm flipV="1">
            <a:off x="2199969" y="1768806"/>
            <a:ext cx="2845993" cy="2168130"/>
          </a:xfrm>
          <a:prstGeom prst="line">
            <a:avLst/>
          </a:prstGeom>
          <a:ln w="285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D07CF66-401A-4FC4-A759-5F26AD3AB943}"/>
              </a:ext>
            </a:extLst>
          </p:cNvPr>
          <p:cNvSpPr txBox="1"/>
          <p:nvPr/>
        </p:nvSpPr>
        <p:spPr>
          <a:xfrm>
            <a:off x="4984378" y="1598196"/>
            <a:ext cx="369012" cy="369332"/>
          </a:xfrm>
          <a:prstGeom prst="rect">
            <a:avLst/>
          </a:prstGeom>
          <a:noFill/>
        </p:spPr>
        <p:txBody>
          <a:bodyPr wrap="none" rtlCol="1">
            <a:spAutoFit/>
          </a:bodyPr>
          <a:lstStyle/>
          <a:p>
            <a:r>
              <a:rPr lang="en-US" dirty="0">
                <a:solidFill>
                  <a:prstClr val="black"/>
                </a:solidFill>
              </a:rPr>
              <a:t>S</a:t>
            </a:r>
            <a:r>
              <a:rPr lang="en-US" baseline="-25000" dirty="0">
                <a:solidFill>
                  <a:prstClr val="black"/>
                </a:solidFill>
              </a:rPr>
              <a:t>0</a:t>
            </a:r>
            <a:endParaRPr lang="he-IL" baseline="-25000" dirty="0">
              <a:solidFill>
                <a:prstClr val="black"/>
              </a:solidFill>
            </a:endParaRPr>
          </a:p>
        </p:txBody>
      </p:sp>
      <p:sp>
        <p:nvSpPr>
          <p:cNvPr id="29" name="TextBox 28">
            <a:extLst>
              <a:ext uri="{FF2B5EF4-FFF2-40B4-BE49-F238E27FC236}">
                <a16:creationId xmlns:a16="http://schemas.microsoft.com/office/drawing/2014/main" id="{D57B2ED9-DE99-4905-9D9A-2D04E5024C3F}"/>
              </a:ext>
            </a:extLst>
          </p:cNvPr>
          <p:cNvSpPr txBox="1"/>
          <p:nvPr/>
        </p:nvSpPr>
        <p:spPr>
          <a:xfrm>
            <a:off x="1517857" y="3722622"/>
            <a:ext cx="612668" cy="400110"/>
          </a:xfrm>
          <a:prstGeom prst="rect">
            <a:avLst/>
          </a:prstGeom>
          <a:noFill/>
        </p:spPr>
        <p:txBody>
          <a:bodyPr wrap="none" rtlCol="1">
            <a:spAutoFit/>
          </a:bodyPr>
          <a:lstStyle/>
          <a:p>
            <a:r>
              <a:rPr lang="he-IL" sz="2000" dirty="0">
                <a:solidFill>
                  <a:prstClr val="black"/>
                </a:solidFill>
              </a:rPr>
              <a:t>100</a:t>
            </a:r>
          </a:p>
        </p:txBody>
      </p:sp>
      <p:cxnSp>
        <p:nvCxnSpPr>
          <p:cNvPr id="32" name="Straight Connector 31">
            <a:extLst>
              <a:ext uri="{FF2B5EF4-FFF2-40B4-BE49-F238E27FC236}">
                <a16:creationId xmlns:a16="http://schemas.microsoft.com/office/drawing/2014/main" id="{526C23A6-52A6-4311-8A5A-C246C96954BB}"/>
              </a:ext>
            </a:extLst>
          </p:cNvPr>
          <p:cNvCxnSpPr/>
          <p:nvPr/>
        </p:nvCxnSpPr>
        <p:spPr>
          <a:xfrm flipH="1">
            <a:off x="2222090" y="2852871"/>
            <a:ext cx="1400874"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Straight Connector 32">
            <a:extLst>
              <a:ext uri="{FF2B5EF4-FFF2-40B4-BE49-F238E27FC236}">
                <a16:creationId xmlns:a16="http://schemas.microsoft.com/office/drawing/2014/main" id="{2DC2CB8E-11CC-4DB2-98CB-D5EB4265DADE}"/>
              </a:ext>
            </a:extLst>
          </p:cNvPr>
          <p:cNvCxnSpPr>
            <a:cxnSpLocks/>
            <a:stCxn id="58" idx="4"/>
          </p:cNvCxnSpPr>
          <p:nvPr/>
        </p:nvCxnSpPr>
        <p:spPr>
          <a:xfrm flipH="1">
            <a:off x="3649445" y="2987473"/>
            <a:ext cx="15446" cy="124348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3B8C2B49-25AE-41F8-90A0-4552E8AF8124}"/>
                  </a:ext>
                </a:extLst>
              </p:cNvPr>
              <p:cNvSpPr/>
              <p:nvPr/>
            </p:nvSpPr>
            <p:spPr>
              <a:xfrm>
                <a:off x="8568302" y="660250"/>
                <a:ext cx="1981396"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he-IL" b="1" i="1">
                              <a:solidFill>
                                <a:srgbClr val="7030A0"/>
                              </a:solidFill>
                              <a:latin typeface="Cambria Math" panose="02040503050406030204" pitchFamily="18" charset="0"/>
                              <a:cs typeface="David" pitchFamily="34" charset="-79"/>
                            </a:rPr>
                          </m:ctrlPr>
                        </m:sSubPr>
                        <m:e>
                          <m:r>
                            <a:rPr lang="en-US" b="1" i="1">
                              <a:solidFill>
                                <a:srgbClr val="7030A0"/>
                              </a:solidFill>
                              <a:latin typeface="Cambria Math"/>
                              <a:cs typeface="David" pitchFamily="34" charset="-79"/>
                            </a:rPr>
                            <m:t>𝑷</m:t>
                          </m:r>
                        </m:e>
                        <m:sub>
                          <m:r>
                            <a:rPr lang="en-US" b="1" i="1">
                              <a:solidFill>
                                <a:srgbClr val="7030A0"/>
                              </a:solidFill>
                              <a:latin typeface="Cambria Math"/>
                              <a:cs typeface="David" pitchFamily="34" charset="-79"/>
                            </a:rPr>
                            <m:t>𝑿</m:t>
                          </m:r>
                        </m:sub>
                      </m:sSub>
                      <m:r>
                        <a:rPr lang="en-US" b="1" i="1">
                          <a:solidFill>
                            <a:srgbClr val="7030A0"/>
                          </a:solidFill>
                          <a:latin typeface="Cambria Math"/>
                          <a:cs typeface="David" pitchFamily="34" charset="-79"/>
                        </a:rPr>
                        <m:t>=</m:t>
                      </m:r>
                      <m:r>
                        <a:rPr lang="en-US" b="1" i="1">
                          <a:solidFill>
                            <a:srgbClr val="7030A0"/>
                          </a:solidFill>
                          <a:latin typeface="Cambria Math"/>
                          <a:cs typeface="David" pitchFamily="34" charset="-79"/>
                        </a:rPr>
                        <m:t>𝟕𝟎𝟎</m:t>
                      </m:r>
                      <m:r>
                        <a:rPr lang="en-US" b="1" i="1">
                          <a:solidFill>
                            <a:srgbClr val="7030A0"/>
                          </a:solidFill>
                          <a:latin typeface="Cambria Math"/>
                          <a:cs typeface="David" pitchFamily="34" charset="-79"/>
                        </a:rPr>
                        <m:t>−</m:t>
                      </m:r>
                      <m:r>
                        <a:rPr lang="en-US" b="1" i="1">
                          <a:solidFill>
                            <a:srgbClr val="7030A0"/>
                          </a:solidFill>
                          <a:latin typeface="Cambria Math"/>
                          <a:cs typeface="David" pitchFamily="34" charset="-79"/>
                        </a:rPr>
                        <m:t>𝑿</m:t>
                      </m:r>
                    </m:oMath>
                  </m:oMathPara>
                </a14:m>
                <a:endParaRPr lang="en-IL" dirty="0"/>
              </a:p>
            </p:txBody>
          </p:sp>
        </mc:Choice>
        <mc:Fallback xmlns="">
          <p:sp>
            <p:nvSpPr>
              <p:cNvPr id="38" name="Rectangle 37">
                <a:extLst>
                  <a:ext uri="{FF2B5EF4-FFF2-40B4-BE49-F238E27FC236}">
                    <a16:creationId xmlns:a16="http://schemas.microsoft.com/office/drawing/2014/main" id="{3B8C2B49-25AE-41F8-90A0-4552E8AF8124}"/>
                  </a:ext>
                </a:extLst>
              </p:cNvPr>
              <p:cNvSpPr>
                <a:spLocks noRot="1" noChangeAspect="1" noMove="1" noResize="1" noEditPoints="1" noAdjustHandles="1" noChangeArrowheads="1" noChangeShapeType="1" noTextEdit="1"/>
              </p:cNvSpPr>
              <p:nvPr/>
            </p:nvSpPr>
            <p:spPr>
              <a:xfrm>
                <a:off x="8568302" y="660250"/>
                <a:ext cx="1981396" cy="369332"/>
              </a:xfrm>
              <a:prstGeom prst="rect">
                <a:avLst/>
              </a:prstGeom>
              <a:blipFill>
                <a:blip r:embed="rId3"/>
                <a:stretch>
                  <a:fillRect/>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E0BD50A7-6F3F-4334-B16D-40F6A794D0A2}"/>
                  </a:ext>
                </a:extLst>
              </p:cNvPr>
              <p:cNvSpPr/>
              <p:nvPr/>
            </p:nvSpPr>
            <p:spPr>
              <a:xfrm>
                <a:off x="8714969" y="153612"/>
                <a:ext cx="1688062" cy="471026"/>
              </a:xfrm>
              <a:prstGeom prst="rect">
                <a:avLst/>
              </a:prstGeom>
            </p:spPr>
            <p:txBody>
              <a:bodyPr wrap="square">
                <a:spAutoFit/>
              </a:bodyPr>
              <a:lstStyle/>
              <a:p>
                <a:pPr algn="r" rtl="1">
                  <a:lnSpc>
                    <a:spcPct val="150000"/>
                  </a:lnSpc>
                </a:pPr>
                <a14:m>
                  <m:oMath xmlns:m="http://schemas.openxmlformats.org/officeDocument/2006/math">
                    <m:sSub>
                      <m:sSubPr>
                        <m:ctrlPr>
                          <a:rPr lang="he-IL" b="1" i="1">
                            <a:solidFill>
                              <a:schemeClr val="bg2">
                                <a:lumMod val="50000"/>
                              </a:schemeClr>
                            </a:solidFill>
                            <a:latin typeface="Cambria Math" panose="02040503050406030204" pitchFamily="18" charset="0"/>
                            <a:cs typeface="David" pitchFamily="34" charset="-79"/>
                          </a:rPr>
                        </m:ctrlPr>
                      </m:sSubPr>
                      <m:e>
                        <m:r>
                          <a:rPr lang="en-US" b="1" i="1">
                            <a:solidFill>
                              <a:schemeClr val="bg2">
                                <a:lumMod val="50000"/>
                              </a:schemeClr>
                            </a:solidFill>
                            <a:latin typeface="Cambria Math"/>
                            <a:cs typeface="David" pitchFamily="34" charset="-79"/>
                          </a:rPr>
                          <m:t>𝑷</m:t>
                        </m:r>
                      </m:e>
                      <m:sub>
                        <m:r>
                          <a:rPr lang="en-US" b="1" i="1">
                            <a:solidFill>
                              <a:schemeClr val="bg2">
                                <a:lumMod val="50000"/>
                              </a:schemeClr>
                            </a:solidFill>
                            <a:latin typeface="Cambria Math"/>
                            <a:cs typeface="David" pitchFamily="34" charset="-79"/>
                          </a:rPr>
                          <m:t>𝑿</m:t>
                        </m:r>
                      </m:sub>
                    </m:sSub>
                    <m:r>
                      <a:rPr lang="en-US" b="1" i="1">
                        <a:solidFill>
                          <a:schemeClr val="bg2">
                            <a:lumMod val="50000"/>
                          </a:schemeClr>
                        </a:solidFill>
                        <a:latin typeface="Cambria Math"/>
                        <a:cs typeface="David" pitchFamily="34" charset="-79"/>
                      </a:rPr>
                      <m:t>=</m:t>
                    </m:r>
                    <m:r>
                      <a:rPr lang="en-US" b="1" i="1">
                        <a:solidFill>
                          <a:schemeClr val="bg2">
                            <a:lumMod val="50000"/>
                          </a:schemeClr>
                        </a:solidFill>
                        <a:latin typeface="Cambria Math"/>
                        <a:cs typeface="David" pitchFamily="34" charset="-79"/>
                      </a:rPr>
                      <m:t>𝟏𝟎𝟎</m:t>
                    </m:r>
                    <m:r>
                      <a:rPr lang="en-US" b="1" i="1">
                        <a:solidFill>
                          <a:schemeClr val="bg2">
                            <a:lumMod val="50000"/>
                          </a:schemeClr>
                        </a:solidFill>
                        <a:latin typeface="Cambria Math"/>
                        <a:cs typeface="David" pitchFamily="34" charset="-79"/>
                      </a:rPr>
                      <m:t>+</m:t>
                    </m:r>
                    <m:r>
                      <a:rPr lang="en-US" b="1" i="1">
                        <a:solidFill>
                          <a:schemeClr val="bg2">
                            <a:lumMod val="50000"/>
                          </a:schemeClr>
                        </a:solidFill>
                        <a:latin typeface="Cambria Math"/>
                        <a:cs typeface="David" pitchFamily="34" charset="-79"/>
                      </a:rPr>
                      <m:t>𝑿</m:t>
                    </m:r>
                  </m:oMath>
                </a14:m>
                <a:r>
                  <a:rPr lang="he-IL" b="1" dirty="0">
                    <a:solidFill>
                      <a:schemeClr val="bg2">
                        <a:lumMod val="50000"/>
                      </a:schemeClr>
                    </a:solidFill>
                    <a:latin typeface="David" pitchFamily="34" charset="-79"/>
                    <a:cs typeface="David" pitchFamily="34" charset="-79"/>
                  </a:rPr>
                  <a:t> </a:t>
                </a:r>
                <a:endParaRPr lang="he-IL" b="1" dirty="0">
                  <a:latin typeface="David" pitchFamily="34" charset="-79"/>
                  <a:cs typeface="David" pitchFamily="34" charset="-79"/>
                </a:endParaRPr>
              </a:p>
            </p:txBody>
          </p:sp>
        </mc:Choice>
        <mc:Fallback xmlns="">
          <p:sp>
            <p:nvSpPr>
              <p:cNvPr id="39" name="Rectangle 38">
                <a:extLst>
                  <a:ext uri="{FF2B5EF4-FFF2-40B4-BE49-F238E27FC236}">
                    <a16:creationId xmlns:a16="http://schemas.microsoft.com/office/drawing/2014/main" id="{E0BD50A7-6F3F-4334-B16D-40F6A794D0A2}"/>
                  </a:ext>
                </a:extLst>
              </p:cNvPr>
              <p:cNvSpPr>
                <a:spLocks noRot="1" noChangeAspect="1" noMove="1" noResize="1" noEditPoints="1" noAdjustHandles="1" noChangeArrowheads="1" noChangeShapeType="1" noTextEdit="1"/>
              </p:cNvSpPr>
              <p:nvPr/>
            </p:nvSpPr>
            <p:spPr>
              <a:xfrm>
                <a:off x="8714969" y="153612"/>
                <a:ext cx="1688062" cy="471026"/>
              </a:xfrm>
              <a:prstGeom prst="rect">
                <a:avLst/>
              </a:prstGeom>
              <a:blipFill>
                <a:blip r:embed="rId4"/>
                <a:stretch>
                  <a:fillRect l="-3971" b="-20779"/>
                </a:stretch>
              </a:blipFill>
            </p:spPr>
            <p:txBody>
              <a:bodyPr/>
              <a:lstStyle/>
              <a:p>
                <a:r>
                  <a:rPr lang="en-IL">
                    <a:noFill/>
                  </a:rPr>
                  <a:t> </a:t>
                </a:r>
              </a:p>
            </p:txBody>
          </p:sp>
        </mc:Fallback>
      </mc:AlternateContent>
      <p:cxnSp>
        <p:nvCxnSpPr>
          <p:cNvPr id="42" name="Straight Connector 41">
            <a:extLst>
              <a:ext uri="{FF2B5EF4-FFF2-40B4-BE49-F238E27FC236}">
                <a16:creationId xmlns:a16="http://schemas.microsoft.com/office/drawing/2014/main" id="{E1E951D8-A75C-4F99-8FA2-EAB430125456}"/>
              </a:ext>
            </a:extLst>
          </p:cNvPr>
          <p:cNvCxnSpPr>
            <a:cxnSpLocks/>
          </p:cNvCxnSpPr>
          <p:nvPr/>
        </p:nvCxnSpPr>
        <p:spPr>
          <a:xfrm flipH="1" flipV="1">
            <a:off x="8709655" y="1185340"/>
            <a:ext cx="1760340" cy="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946587AB-E0CC-40A8-9ED4-ECE90A66F0BB}"/>
                  </a:ext>
                </a:extLst>
              </p:cNvPr>
              <p:cNvSpPr/>
              <p:nvPr/>
            </p:nvSpPr>
            <p:spPr>
              <a:xfrm>
                <a:off x="8344113" y="1225016"/>
                <a:ext cx="1040670" cy="369332"/>
              </a:xfrm>
              <a:prstGeom prst="rect">
                <a:avLst/>
              </a:prstGeom>
            </p:spPr>
            <p:txBody>
              <a:bodyPr wrap="none">
                <a:spAutoFit/>
              </a:bodyPr>
              <a:lstStyle/>
              <a:p>
                <a:r>
                  <a:rPr lang="en-US" b="1" dirty="0">
                    <a:cs typeface="David" pitchFamily="34" charset="-79"/>
                  </a:rPr>
                  <a:t>X</a:t>
                </a:r>
                <a14:m>
                  <m:oMath xmlns:m="http://schemas.openxmlformats.org/officeDocument/2006/math">
                    <m:r>
                      <a:rPr lang="en-US" b="1" i="1">
                        <a:latin typeface="Cambria Math"/>
                        <a:cs typeface="David" pitchFamily="34" charset="-79"/>
                      </a:rPr>
                      <m:t>=</m:t>
                    </m:r>
                    <m:r>
                      <a:rPr lang="en-US" b="1" i="1">
                        <a:latin typeface="Cambria Math" panose="02040503050406030204" pitchFamily="18" charset="0"/>
                        <a:cs typeface="David" pitchFamily="34" charset="-79"/>
                      </a:rPr>
                      <m:t>𝟑𝟎𝟎</m:t>
                    </m:r>
                  </m:oMath>
                </a14:m>
                <a:r>
                  <a:rPr lang="he-IL" b="1" dirty="0">
                    <a:latin typeface="David" pitchFamily="34" charset="-79"/>
                    <a:cs typeface="David" pitchFamily="34" charset="-79"/>
                  </a:rPr>
                  <a:t> </a:t>
                </a:r>
                <a:endParaRPr lang="en-IL" dirty="0"/>
              </a:p>
            </p:txBody>
          </p:sp>
        </mc:Choice>
        <mc:Fallback xmlns="">
          <p:sp>
            <p:nvSpPr>
              <p:cNvPr id="46" name="Rectangle 45">
                <a:extLst>
                  <a:ext uri="{FF2B5EF4-FFF2-40B4-BE49-F238E27FC236}">
                    <a16:creationId xmlns:a16="http://schemas.microsoft.com/office/drawing/2014/main" id="{946587AB-E0CC-40A8-9ED4-ECE90A66F0BB}"/>
                  </a:ext>
                </a:extLst>
              </p:cNvPr>
              <p:cNvSpPr>
                <a:spLocks noRot="1" noChangeAspect="1" noMove="1" noResize="1" noEditPoints="1" noAdjustHandles="1" noChangeArrowheads="1" noChangeShapeType="1" noTextEdit="1"/>
              </p:cNvSpPr>
              <p:nvPr/>
            </p:nvSpPr>
            <p:spPr>
              <a:xfrm>
                <a:off x="8344113" y="1225016"/>
                <a:ext cx="1040670" cy="369332"/>
              </a:xfrm>
              <a:prstGeom prst="rect">
                <a:avLst/>
              </a:prstGeom>
              <a:blipFill>
                <a:blip r:embed="rId5"/>
                <a:stretch>
                  <a:fillRect l="-1765" t="-11475" b="-24590"/>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A5E9052F-475A-4046-9E18-6F147443E440}"/>
                  </a:ext>
                </a:extLst>
              </p:cNvPr>
              <p:cNvSpPr/>
              <p:nvPr/>
            </p:nvSpPr>
            <p:spPr>
              <a:xfrm>
                <a:off x="9364114" y="1185378"/>
                <a:ext cx="1236172" cy="369332"/>
              </a:xfrm>
              <a:prstGeom prst="rect">
                <a:avLst/>
              </a:prstGeom>
            </p:spPr>
            <p:txBody>
              <a:bodyPr wrap="none">
                <a:spAutoFit/>
              </a:bodyPr>
              <a:lstStyle/>
              <a:p>
                <a14:m>
                  <m:oMath xmlns:m="http://schemas.openxmlformats.org/officeDocument/2006/math">
                    <m:sSub>
                      <m:sSubPr>
                        <m:ctrlPr>
                          <a:rPr lang="he-IL" b="1" i="1">
                            <a:latin typeface="Cambria Math" panose="02040503050406030204" pitchFamily="18" charset="0"/>
                            <a:cs typeface="David" pitchFamily="34" charset="-79"/>
                          </a:rPr>
                        </m:ctrlPr>
                      </m:sSubPr>
                      <m:e>
                        <m:r>
                          <a:rPr lang="en-US" b="1" i="1">
                            <a:latin typeface="Cambria Math"/>
                            <a:cs typeface="David" pitchFamily="34" charset="-79"/>
                          </a:rPr>
                          <m:t>𝑷</m:t>
                        </m:r>
                      </m:e>
                      <m:sub>
                        <m:r>
                          <a:rPr lang="en-US" b="1" i="1">
                            <a:latin typeface="Cambria Math"/>
                            <a:cs typeface="David" pitchFamily="34" charset="-79"/>
                          </a:rPr>
                          <m:t>𝑿</m:t>
                        </m:r>
                      </m:sub>
                    </m:sSub>
                    <m:r>
                      <a:rPr lang="he-IL" i="1">
                        <a:latin typeface="Cambria Math" panose="02040503050406030204" pitchFamily="18" charset="0"/>
                        <a:cs typeface="David" pitchFamily="34" charset="-79"/>
                      </a:rPr>
                      <m:t>=</m:t>
                    </m:r>
                    <m:r>
                      <a:rPr lang="he-IL" b="1" i="1">
                        <a:latin typeface="Cambria Math" panose="02040503050406030204" pitchFamily="18" charset="0"/>
                        <a:cs typeface="David" pitchFamily="34" charset="-79"/>
                      </a:rPr>
                      <m:t>𝟒𝟎𝟎</m:t>
                    </m:r>
                  </m:oMath>
                </a14:m>
                <a:r>
                  <a:rPr lang="he-IL" b="1" dirty="0">
                    <a:latin typeface="David" pitchFamily="34" charset="-79"/>
                    <a:cs typeface="David" pitchFamily="34" charset="-79"/>
                  </a:rPr>
                  <a:t> </a:t>
                </a:r>
                <a:endParaRPr lang="en-IL" b="1" dirty="0"/>
              </a:p>
            </p:txBody>
          </p:sp>
        </mc:Choice>
        <mc:Fallback xmlns="">
          <p:sp>
            <p:nvSpPr>
              <p:cNvPr id="47" name="Rectangle 46">
                <a:extLst>
                  <a:ext uri="{FF2B5EF4-FFF2-40B4-BE49-F238E27FC236}">
                    <a16:creationId xmlns:a16="http://schemas.microsoft.com/office/drawing/2014/main" id="{A5E9052F-475A-4046-9E18-6F147443E440}"/>
                  </a:ext>
                </a:extLst>
              </p:cNvPr>
              <p:cNvSpPr>
                <a:spLocks noRot="1" noChangeAspect="1" noMove="1" noResize="1" noEditPoints="1" noAdjustHandles="1" noChangeArrowheads="1" noChangeShapeType="1" noTextEdit="1"/>
              </p:cNvSpPr>
              <p:nvPr/>
            </p:nvSpPr>
            <p:spPr>
              <a:xfrm>
                <a:off x="9364114" y="1185378"/>
                <a:ext cx="1236172" cy="369332"/>
              </a:xfrm>
              <a:prstGeom prst="rect">
                <a:avLst/>
              </a:prstGeom>
              <a:blipFill>
                <a:blip r:embed="rId6"/>
                <a:stretch>
                  <a:fillRect t="-8197" r="-4926" b="-24590"/>
                </a:stretch>
              </a:blipFill>
            </p:spPr>
            <p:txBody>
              <a:bodyPr/>
              <a:lstStyle/>
              <a:p>
                <a:r>
                  <a:rPr lang="en-IL">
                    <a:noFill/>
                  </a:rPr>
                  <a:t> </a:t>
                </a:r>
              </a:p>
            </p:txBody>
          </p:sp>
        </mc:Fallback>
      </mc:AlternateContent>
      <mc:AlternateContent xmlns:mc="http://schemas.openxmlformats.org/markup-compatibility/2006">
        <mc:Choice xmlns:a14="http://schemas.microsoft.com/office/drawing/2010/main" Requires="a14">
          <p:sp>
            <p:nvSpPr>
              <p:cNvPr id="48" name="Rectangle 47">
                <a:extLst>
                  <a:ext uri="{FF2B5EF4-FFF2-40B4-BE49-F238E27FC236}">
                    <a16:creationId xmlns:a16="http://schemas.microsoft.com/office/drawing/2014/main" id="{D9DD4DA5-A3AE-4432-99C2-B6B5229BDD6D}"/>
                  </a:ext>
                </a:extLst>
              </p:cNvPr>
              <p:cNvSpPr/>
              <p:nvPr/>
            </p:nvSpPr>
            <p:spPr>
              <a:xfrm>
                <a:off x="3521241" y="4200121"/>
                <a:ext cx="23756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he-IL" b="1" i="1">
                          <a:latin typeface="Cambria Math" panose="02040503050406030204" pitchFamily="18" charset="0"/>
                          <a:cs typeface="David" pitchFamily="34" charset="-79"/>
                        </a:rPr>
                        <m:t>𝟑𝟎𝟎</m:t>
                      </m:r>
                    </m:oMath>
                  </m:oMathPara>
                </a14:m>
                <a:endParaRPr lang="en-IL" dirty="0"/>
              </a:p>
            </p:txBody>
          </p:sp>
        </mc:Choice>
        <mc:Fallback>
          <p:sp>
            <p:nvSpPr>
              <p:cNvPr id="48" name="Rectangle 47">
                <a:extLst>
                  <a:ext uri="{FF2B5EF4-FFF2-40B4-BE49-F238E27FC236}">
                    <a16:creationId xmlns:a16="http://schemas.microsoft.com/office/drawing/2014/main" id="{D9DD4DA5-A3AE-4432-99C2-B6B5229BDD6D}"/>
                  </a:ext>
                </a:extLst>
              </p:cNvPr>
              <p:cNvSpPr>
                <a:spLocks noRot="1" noChangeAspect="1" noMove="1" noResize="1" noEditPoints="1" noAdjustHandles="1" noChangeArrowheads="1" noChangeShapeType="1" noTextEdit="1"/>
              </p:cNvSpPr>
              <p:nvPr/>
            </p:nvSpPr>
            <p:spPr>
              <a:xfrm>
                <a:off x="3521241" y="4200121"/>
                <a:ext cx="237565" cy="369332"/>
              </a:xfrm>
              <a:prstGeom prst="rect">
                <a:avLst/>
              </a:prstGeom>
              <a:blipFill>
                <a:blip r:embed="rId7"/>
                <a:stretch>
                  <a:fillRect r="-146154"/>
                </a:stretch>
              </a:blipFill>
            </p:spPr>
            <p:txBody>
              <a:bodyPr/>
              <a:lstStyle/>
              <a:p>
                <a:r>
                  <a:rPr lang="en-IL">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C2D7CFAA-7220-46BC-B910-511D38A14197}"/>
                  </a:ext>
                </a:extLst>
              </p:cNvPr>
              <p:cNvSpPr/>
              <p:nvPr/>
            </p:nvSpPr>
            <p:spPr>
              <a:xfrm>
                <a:off x="1982876" y="2668205"/>
                <a:ext cx="23115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he-IL" sz="1600" b="1" i="1">
                          <a:latin typeface="Cambria Math" panose="02040503050406030204" pitchFamily="18" charset="0"/>
                          <a:cs typeface="David" pitchFamily="34" charset="-79"/>
                        </a:rPr>
                        <m:t>𝟒𝟎𝟎</m:t>
                      </m:r>
                    </m:oMath>
                  </m:oMathPara>
                </a14:m>
                <a:endParaRPr lang="en-IL" sz="1600" dirty="0"/>
              </a:p>
            </p:txBody>
          </p:sp>
        </mc:Choice>
        <mc:Fallback xmlns="">
          <p:sp>
            <p:nvSpPr>
              <p:cNvPr id="49" name="Rectangle 48">
                <a:extLst>
                  <a:ext uri="{FF2B5EF4-FFF2-40B4-BE49-F238E27FC236}">
                    <a16:creationId xmlns:a16="http://schemas.microsoft.com/office/drawing/2014/main" id="{C2D7CFAA-7220-46BC-B910-511D38A14197}"/>
                  </a:ext>
                </a:extLst>
              </p:cNvPr>
              <p:cNvSpPr>
                <a:spLocks noRot="1" noChangeAspect="1" noMove="1" noResize="1" noEditPoints="1" noAdjustHandles="1" noChangeArrowheads="1" noChangeShapeType="1" noTextEdit="1"/>
              </p:cNvSpPr>
              <p:nvPr/>
            </p:nvSpPr>
            <p:spPr>
              <a:xfrm>
                <a:off x="1982876" y="2668205"/>
                <a:ext cx="231154" cy="338554"/>
              </a:xfrm>
              <a:prstGeom prst="rect">
                <a:avLst/>
              </a:prstGeom>
              <a:blipFill>
                <a:blip r:embed="rId8"/>
                <a:stretch>
                  <a:fillRect r="-128947"/>
                </a:stretch>
              </a:blipFill>
            </p:spPr>
            <p:txBody>
              <a:bodyPr/>
              <a:lstStyle/>
              <a:p>
                <a:r>
                  <a:rPr lang="en-IL">
                    <a:noFill/>
                  </a:rPr>
                  <a:t> </a:t>
                </a:r>
              </a:p>
            </p:txBody>
          </p:sp>
        </mc:Fallback>
      </mc:AlternateContent>
      <p:sp>
        <p:nvSpPr>
          <p:cNvPr id="34" name="Title 1">
            <a:extLst>
              <a:ext uri="{FF2B5EF4-FFF2-40B4-BE49-F238E27FC236}">
                <a16:creationId xmlns:a16="http://schemas.microsoft.com/office/drawing/2014/main" id="{1FC4C539-9ECB-47DC-AFB1-7452654F7D5F}"/>
              </a:ext>
            </a:extLst>
          </p:cNvPr>
          <p:cNvSpPr>
            <a:spLocks noGrp="1"/>
          </p:cNvSpPr>
          <p:nvPr>
            <p:ph type="title"/>
          </p:nvPr>
        </p:nvSpPr>
        <p:spPr>
          <a:xfrm>
            <a:off x="2286001" y="228601"/>
            <a:ext cx="6428969" cy="321051"/>
          </a:xfrm>
        </p:spPr>
        <p:txBody>
          <a:bodyPr>
            <a:normAutofit fontScale="90000"/>
          </a:bodyPr>
          <a:lstStyle/>
          <a:p>
            <a:pPr algn="ctr"/>
            <a:r>
              <a:rPr lang="he-IL" dirty="0"/>
              <a:t>שינויים בנקודת שיווי המשקל</a:t>
            </a:r>
            <a:endParaRPr lang="en-US" dirty="0"/>
          </a:p>
        </p:txBody>
      </p:sp>
      <p:sp>
        <p:nvSpPr>
          <p:cNvPr id="67" name="Slide Number Placeholder 66">
            <a:extLst>
              <a:ext uri="{FF2B5EF4-FFF2-40B4-BE49-F238E27FC236}">
                <a16:creationId xmlns:a16="http://schemas.microsoft.com/office/drawing/2014/main" id="{D35F540A-7C1A-4524-9B8F-8C4EFF5AA37B}"/>
              </a:ext>
            </a:extLst>
          </p:cNvPr>
          <p:cNvSpPr>
            <a:spLocks noGrp="1"/>
          </p:cNvSpPr>
          <p:nvPr>
            <p:ph type="sldNum" sz="quarter" idx="12"/>
          </p:nvPr>
        </p:nvSpPr>
        <p:spPr/>
        <p:txBody>
          <a:bodyPr/>
          <a:lstStyle/>
          <a:p>
            <a:fld id="{EE4A799E-BCDC-47C4-95D4-74FB8914F55A}" type="slidenum">
              <a:rPr lang="en-US" smtClean="0"/>
              <a:t>45</a:t>
            </a:fld>
            <a:endParaRPr lang="en-US"/>
          </a:p>
        </p:txBody>
      </p:sp>
      <p:sp>
        <p:nvSpPr>
          <p:cNvPr id="36" name="Rectangle 35">
            <a:extLst>
              <a:ext uri="{FF2B5EF4-FFF2-40B4-BE49-F238E27FC236}">
                <a16:creationId xmlns:a16="http://schemas.microsoft.com/office/drawing/2014/main" id="{11705E92-817A-47E8-B611-634B6F0B4F79}"/>
              </a:ext>
            </a:extLst>
          </p:cNvPr>
          <p:cNvSpPr/>
          <p:nvPr/>
        </p:nvSpPr>
        <p:spPr>
          <a:xfrm>
            <a:off x="6586962" y="1555769"/>
            <a:ext cx="5333593" cy="3062377"/>
          </a:xfrm>
          <a:prstGeom prst="rect">
            <a:avLst/>
          </a:prstGeom>
        </p:spPr>
        <p:txBody>
          <a:bodyPr wrap="square">
            <a:spAutoFit/>
          </a:bodyPr>
          <a:lstStyle/>
          <a:p>
            <a:pPr algn="r" rtl="1">
              <a:lnSpc>
                <a:spcPct val="150000"/>
              </a:lnSpc>
            </a:pPr>
            <a:r>
              <a:rPr lang="he-IL" sz="1400" dirty="0">
                <a:latin typeface="David" pitchFamily="34" charset="-79"/>
                <a:cs typeface="David" pitchFamily="34" charset="-79"/>
              </a:rPr>
              <a:t>במידה וההוצאה השולית לייצור כל כמות גדלה ב-50 ש''ח, בשיווי המשקל החדש (בחרו בתשובה הנכונה):</a:t>
            </a:r>
          </a:p>
          <a:p>
            <a:pPr marL="342900" indent="-342900">
              <a:lnSpc>
                <a:spcPct val="150000"/>
              </a:lnSpc>
              <a:buAutoNum type="arabicPeriod"/>
            </a:pPr>
            <a:r>
              <a:rPr lang="he-IL" sz="1400" dirty="0">
                <a:latin typeface="David" pitchFamily="34" charset="-79"/>
                <a:cs typeface="David" pitchFamily="34" charset="-79"/>
              </a:rPr>
              <a:t>המחיר בשוק יעלה ב-50 ש''ח ולא יהיה שינוי בכמות המיוצרת.</a:t>
            </a:r>
          </a:p>
          <a:p>
            <a:pPr marL="342900" indent="-342900">
              <a:lnSpc>
                <a:spcPct val="150000"/>
              </a:lnSpc>
              <a:buAutoNum type="arabicPeriod"/>
            </a:pPr>
            <a:r>
              <a:rPr lang="he-IL" sz="1400" dirty="0">
                <a:latin typeface="David" pitchFamily="34" charset="-79"/>
                <a:cs typeface="David" pitchFamily="34" charset="-79"/>
              </a:rPr>
              <a:t>עודף הצרכנים ישאר ללא שינוי מכיוון שאין תזוזה בעקומת הביקוש.</a:t>
            </a:r>
          </a:p>
          <a:p>
            <a:pPr marL="342900" indent="-342900">
              <a:lnSpc>
                <a:spcPct val="150000"/>
              </a:lnSpc>
              <a:buAutoNum type="arabicPeriod"/>
            </a:pPr>
            <a:r>
              <a:rPr lang="he-IL" sz="1400" dirty="0">
                <a:latin typeface="David" pitchFamily="34" charset="-79"/>
                <a:cs typeface="David" pitchFamily="34" charset="-79"/>
              </a:rPr>
              <a:t>הוצאות הצרכנים לא ישתנו מכיוון שהמחיר יעלה ב25 ש''ח והכמות תרד ב25 יחידות. </a:t>
            </a:r>
          </a:p>
          <a:p>
            <a:pPr marL="342900" indent="-342900">
              <a:lnSpc>
                <a:spcPct val="150000"/>
              </a:lnSpc>
              <a:buAutoNum type="arabicPeriod"/>
            </a:pPr>
            <a:r>
              <a:rPr lang="he-IL" sz="1400" dirty="0">
                <a:latin typeface="David" pitchFamily="34" charset="-79"/>
                <a:cs typeface="David" pitchFamily="34" charset="-79"/>
              </a:rPr>
              <a:t>לא ניתן לדעת מה קרה להוצאות הצרכנים ללא נתונים נוספים.</a:t>
            </a:r>
          </a:p>
          <a:p>
            <a:pPr marL="342900" indent="-342900">
              <a:lnSpc>
                <a:spcPct val="150000"/>
              </a:lnSpc>
              <a:buAutoNum type="arabicPeriod"/>
            </a:pPr>
            <a:r>
              <a:rPr lang="he-IL" sz="1400" dirty="0">
                <a:latin typeface="David" pitchFamily="34" charset="-79"/>
                <a:cs typeface="David" pitchFamily="34" charset="-79"/>
              </a:rPr>
              <a:t>הוצאות הצרכנים על המוצר ירדו בעקבות השינוי והביקוש גמיש.</a:t>
            </a:r>
          </a:p>
          <a:p>
            <a:pPr marL="342900" indent="-342900">
              <a:lnSpc>
                <a:spcPct val="150000"/>
              </a:lnSpc>
              <a:buAutoNum type="arabicPeriod"/>
            </a:pPr>
            <a:endParaRPr lang="he-IL" sz="1600" dirty="0">
              <a:latin typeface="David" pitchFamily="34" charset="-79"/>
              <a:cs typeface="David" pitchFamily="34" charset="-79"/>
            </a:endParaRPr>
          </a:p>
        </p:txBody>
      </p:sp>
      <p:sp>
        <p:nvSpPr>
          <p:cNvPr id="37" name="Rectangle 36">
            <a:extLst>
              <a:ext uri="{FF2B5EF4-FFF2-40B4-BE49-F238E27FC236}">
                <a16:creationId xmlns:a16="http://schemas.microsoft.com/office/drawing/2014/main" id="{41CBE7D0-D79D-48A5-9656-61AA3BD4DC77}"/>
              </a:ext>
            </a:extLst>
          </p:cNvPr>
          <p:cNvSpPr/>
          <p:nvPr/>
        </p:nvSpPr>
        <p:spPr>
          <a:xfrm>
            <a:off x="5563628" y="4694169"/>
            <a:ext cx="5036658" cy="430887"/>
          </a:xfrm>
          <a:prstGeom prst="rect">
            <a:avLst/>
          </a:prstGeom>
          <a:solidFill>
            <a:schemeClr val="bg2">
              <a:lumMod val="90000"/>
            </a:schemeClr>
          </a:solidFill>
        </p:spPr>
        <p:txBody>
          <a:bodyPr wrap="square">
            <a:spAutoFit/>
          </a:bodyPr>
          <a:lstStyle/>
          <a:p>
            <a:pPr algn="r" rtl="1">
              <a:lnSpc>
                <a:spcPct val="150000"/>
              </a:lnSpc>
              <a:buClrTx/>
            </a:pPr>
            <a:r>
              <a:rPr lang="he-IL" sz="1600" dirty="0">
                <a:latin typeface="David" pitchFamily="34" charset="-79"/>
                <a:cs typeface="David" pitchFamily="34" charset="-79"/>
              </a:rPr>
              <a:t>נחשב את השפעת השינוי בעקומת ההיצע על נקודת השיווי משקל:</a:t>
            </a:r>
          </a:p>
        </p:txBody>
      </p:sp>
      <p:sp>
        <p:nvSpPr>
          <p:cNvPr id="58" name="Oval 57">
            <a:extLst>
              <a:ext uri="{FF2B5EF4-FFF2-40B4-BE49-F238E27FC236}">
                <a16:creationId xmlns:a16="http://schemas.microsoft.com/office/drawing/2014/main" id="{9197B85C-4AA9-4E39-B64C-0C17261F0A3D}"/>
              </a:ext>
            </a:extLst>
          </p:cNvPr>
          <p:cNvSpPr/>
          <p:nvPr/>
        </p:nvSpPr>
        <p:spPr>
          <a:xfrm>
            <a:off x="3521241" y="2710509"/>
            <a:ext cx="287301" cy="27696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A</a:t>
            </a:r>
            <a:endParaRPr lang="en-IL" dirty="0"/>
          </a:p>
        </p:txBody>
      </p:sp>
    </p:spTree>
    <p:extLst>
      <p:ext uri="{BB962C8B-B14F-4D97-AF65-F5344CB8AC3E}">
        <p14:creationId xmlns:p14="http://schemas.microsoft.com/office/powerpoint/2010/main" val="818338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arn(inVertical)">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B3B43-1B90-B640-0475-7B88973655D7}"/>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D86A4FEE-0148-8BE5-CBD7-744AD361B8AB}"/>
              </a:ext>
            </a:extLst>
          </p:cNvPr>
          <p:cNvCxnSpPr>
            <a:cxnSpLocks/>
          </p:cNvCxnSpPr>
          <p:nvPr/>
        </p:nvCxnSpPr>
        <p:spPr>
          <a:xfrm>
            <a:off x="2209801" y="4204462"/>
            <a:ext cx="3302009" cy="465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B93D27E-445D-A4B1-5BB0-2A98B65DE56E}"/>
              </a:ext>
            </a:extLst>
          </p:cNvPr>
          <p:cNvCxnSpPr>
            <a:cxnSpLocks/>
          </p:cNvCxnSpPr>
          <p:nvPr/>
        </p:nvCxnSpPr>
        <p:spPr>
          <a:xfrm flipV="1">
            <a:off x="2222090" y="914400"/>
            <a:ext cx="0" cy="3290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4CE659D1-C6B9-83B7-86E0-7C8668FF028F}"/>
              </a:ext>
            </a:extLst>
          </p:cNvPr>
          <p:cNvSpPr/>
          <p:nvPr/>
        </p:nvSpPr>
        <p:spPr>
          <a:xfrm>
            <a:off x="1816210" y="694463"/>
            <a:ext cx="405880" cy="369332"/>
          </a:xfrm>
          <a:prstGeom prst="rect">
            <a:avLst/>
          </a:prstGeom>
        </p:spPr>
        <p:txBody>
          <a:bodyPr wrap="none">
            <a:spAutoFit/>
          </a:bodyPr>
          <a:lstStyle/>
          <a:p>
            <a:r>
              <a:rPr lang="en-US" dirty="0">
                <a:solidFill>
                  <a:prstClr val="black"/>
                </a:solidFill>
              </a:rPr>
              <a:t>Px</a:t>
            </a:r>
            <a:endParaRPr lang="he-IL" dirty="0">
              <a:solidFill>
                <a:prstClr val="black"/>
              </a:solidFill>
            </a:endParaRPr>
          </a:p>
        </p:txBody>
      </p:sp>
      <p:sp>
        <p:nvSpPr>
          <p:cNvPr id="18" name="TextBox 17">
            <a:extLst>
              <a:ext uri="{FF2B5EF4-FFF2-40B4-BE49-F238E27FC236}">
                <a16:creationId xmlns:a16="http://schemas.microsoft.com/office/drawing/2014/main" id="{1C6D1C00-EA2B-93A5-3AA5-BDB0945D709F}"/>
              </a:ext>
            </a:extLst>
          </p:cNvPr>
          <p:cNvSpPr txBox="1"/>
          <p:nvPr/>
        </p:nvSpPr>
        <p:spPr>
          <a:xfrm>
            <a:off x="5528725" y="4069011"/>
            <a:ext cx="304892" cy="369332"/>
          </a:xfrm>
          <a:prstGeom prst="rect">
            <a:avLst/>
          </a:prstGeom>
          <a:noFill/>
        </p:spPr>
        <p:txBody>
          <a:bodyPr wrap="none" rtlCol="1">
            <a:spAutoFit/>
          </a:bodyPr>
          <a:lstStyle/>
          <a:p>
            <a:r>
              <a:rPr lang="en-US" dirty="0">
                <a:solidFill>
                  <a:prstClr val="black"/>
                </a:solidFill>
              </a:rPr>
              <a:t>X</a:t>
            </a:r>
            <a:endParaRPr lang="he-IL" dirty="0">
              <a:solidFill>
                <a:prstClr val="black"/>
              </a:solidFill>
            </a:endParaRPr>
          </a:p>
        </p:txBody>
      </p:sp>
      <p:cxnSp>
        <p:nvCxnSpPr>
          <p:cNvPr id="20" name="מחבר ישר 13">
            <a:extLst>
              <a:ext uri="{FF2B5EF4-FFF2-40B4-BE49-F238E27FC236}">
                <a16:creationId xmlns:a16="http://schemas.microsoft.com/office/drawing/2014/main" id="{2003ABE4-5330-FAE2-108F-23051D1B05D5}"/>
              </a:ext>
            </a:extLst>
          </p:cNvPr>
          <p:cNvCxnSpPr>
            <a:cxnSpLocks/>
          </p:cNvCxnSpPr>
          <p:nvPr/>
        </p:nvCxnSpPr>
        <p:spPr>
          <a:xfrm>
            <a:off x="2209801" y="1542350"/>
            <a:ext cx="2971801" cy="2708674"/>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B921808-4895-D462-42D7-BDB2D1D9F1C7}"/>
              </a:ext>
            </a:extLst>
          </p:cNvPr>
          <p:cNvSpPr txBox="1"/>
          <p:nvPr/>
        </p:nvSpPr>
        <p:spPr>
          <a:xfrm>
            <a:off x="5045962" y="3776437"/>
            <a:ext cx="405881" cy="369332"/>
          </a:xfrm>
          <a:prstGeom prst="rect">
            <a:avLst/>
          </a:prstGeom>
          <a:noFill/>
        </p:spPr>
        <p:txBody>
          <a:bodyPr wrap="none" rtlCol="1">
            <a:spAutoFit/>
          </a:bodyPr>
          <a:lstStyle/>
          <a:p>
            <a:r>
              <a:rPr lang="en-US" dirty="0">
                <a:solidFill>
                  <a:prstClr val="black"/>
                </a:solidFill>
              </a:rPr>
              <a:t>D</a:t>
            </a:r>
            <a:r>
              <a:rPr lang="en-US" baseline="-25000" dirty="0">
                <a:solidFill>
                  <a:prstClr val="black"/>
                </a:solidFill>
              </a:rPr>
              <a:t>0</a:t>
            </a:r>
            <a:endParaRPr lang="he-IL" baseline="-25000" dirty="0">
              <a:solidFill>
                <a:prstClr val="black"/>
              </a:solidFill>
            </a:endParaRPr>
          </a:p>
        </p:txBody>
      </p:sp>
      <p:sp>
        <p:nvSpPr>
          <p:cNvPr id="22" name="TextBox 21">
            <a:extLst>
              <a:ext uri="{FF2B5EF4-FFF2-40B4-BE49-F238E27FC236}">
                <a16:creationId xmlns:a16="http://schemas.microsoft.com/office/drawing/2014/main" id="{235331AA-969C-FD4E-951A-4A313BD29703}"/>
              </a:ext>
            </a:extLst>
          </p:cNvPr>
          <p:cNvSpPr txBox="1"/>
          <p:nvPr/>
        </p:nvSpPr>
        <p:spPr>
          <a:xfrm>
            <a:off x="1612653" y="1393009"/>
            <a:ext cx="612668" cy="400110"/>
          </a:xfrm>
          <a:prstGeom prst="rect">
            <a:avLst/>
          </a:prstGeom>
          <a:noFill/>
        </p:spPr>
        <p:txBody>
          <a:bodyPr wrap="none" rtlCol="1">
            <a:spAutoFit/>
          </a:bodyPr>
          <a:lstStyle/>
          <a:p>
            <a:r>
              <a:rPr lang="he-IL" sz="2000" dirty="0">
                <a:solidFill>
                  <a:prstClr val="black"/>
                </a:solidFill>
              </a:rPr>
              <a:t>700</a:t>
            </a:r>
          </a:p>
        </p:txBody>
      </p:sp>
      <p:sp>
        <p:nvSpPr>
          <p:cNvPr id="26" name="TextBox 25">
            <a:extLst>
              <a:ext uri="{FF2B5EF4-FFF2-40B4-BE49-F238E27FC236}">
                <a16:creationId xmlns:a16="http://schemas.microsoft.com/office/drawing/2014/main" id="{86DFBD96-A548-FA78-2702-3B304AB06794}"/>
              </a:ext>
            </a:extLst>
          </p:cNvPr>
          <p:cNvSpPr txBox="1"/>
          <p:nvPr/>
        </p:nvSpPr>
        <p:spPr>
          <a:xfrm>
            <a:off x="4813734" y="4238003"/>
            <a:ext cx="569387" cy="369332"/>
          </a:xfrm>
          <a:prstGeom prst="rect">
            <a:avLst/>
          </a:prstGeom>
          <a:noFill/>
        </p:spPr>
        <p:txBody>
          <a:bodyPr wrap="none" rtlCol="1">
            <a:spAutoFit/>
          </a:bodyPr>
          <a:lstStyle/>
          <a:p>
            <a:r>
              <a:rPr lang="he-IL" dirty="0">
                <a:solidFill>
                  <a:prstClr val="black"/>
                </a:solidFill>
              </a:rPr>
              <a:t>700</a:t>
            </a:r>
          </a:p>
        </p:txBody>
      </p:sp>
      <p:cxnSp>
        <p:nvCxnSpPr>
          <p:cNvPr id="27" name="מחבר ישר 15">
            <a:extLst>
              <a:ext uri="{FF2B5EF4-FFF2-40B4-BE49-F238E27FC236}">
                <a16:creationId xmlns:a16="http://schemas.microsoft.com/office/drawing/2014/main" id="{D5D33F94-9975-3280-B871-DBC4F80D855D}"/>
              </a:ext>
            </a:extLst>
          </p:cNvPr>
          <p:cNvCxnSpPr>
            <a:cxnSpLocks/>
          </p:cNvCxnSpPr>
          <p:nvPr/>
        </p:nvCxnSpPr>
        <p:spPr>
          <a:xfrm flipV="1">
            <a:off x="2199969" y="1768806"/>
            <a:ext cx="2845993" cy="2168130"/>
          </a:xfrm>
          <a:prstGeom prst="line">
            <a:avLst/>
          </a:prstGeom>
          <a:ln w="2857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00ACCFF-C2A5-5F33-5B22-4148D7570109}"/>
              </a:ext>
            </a:extLst>
          </p:cNvPr>
          <p:cNvSpPr txBox="1"/>
          <p:nvPr/>
        </p:nvSpPr>
        <p:spPr>
          <a:xfrm>
            <a:off x="4984378" y="1598196"/>
            <a:ext cx="369012" cy="369332"/>
          </a:xfrm>
          <a:prstGeom prst="rect">
            <a:avLst/>
          </a:prstGeom>
          <a:noFill/>
        </p:spPr>
        <p:txBody>
          <a:bodyPr wrap="none" rtlCol="1">
            <a:spAutoFit/>
          </a:bodyPr>
          <a:lstStyle/>
          <a:p>
            <a:r>
              <a:rPr lang="en-US" dirty="0">
                <a:solidFill>
                  <a:prstClr val="black"/>
                </a:solidFill>
              </a:rPr>
              <a:t>S</a:t>
            </a:r>
            <a:r>
              <a:rPr lang="en-US" baseline="-25000" dirty="0">
                <a:solidFill>
                  <a:prstClr val="black"/>
                </a:solidFill>
              </a:rPr>
              <a:t>0</a:t>
            </a:r>
            <a:endParaRPr lang="he-IL" baseline="-25000" dirty="0">
              <a:solidFill>
                <a:prstClr val="black"/>
              </a:solidFill>
            </a:endParaRPr>
          </a:p>
        </p:txBody>
      </p:sp>
      <p:sp>
        <p:nvSpPr>
          <p:cNvPr id="29" name="TextBox 28">
            <a:extLst>
              <a:ext uri="{FF2B5EF4-FFF2-40B4-BE49-F238E27FC236}">
                <a16:creationId xmlns:a16="http://schemas.microsoft.com/office/drawing/2014/main" id="{8D3A40BB-143C-21C1-E819-1B5479B3AA82}"/>
              </a:ext>
            </a:extLst>
          </p:cNvPr>
          <p:cNvSpPr txBox="1"/>
          <p:nvPr/>
        </p:nvSpPr>
        <p:spPr>
          <a:xfrm>
            <a:off x="1517857" y="3722622"/>
            <a:ext cx="612668" cy="400110"/>
          </a:xfrm>
          <a:prstGeom prst="rect">
            <a:avLst/>
          </a:prstGeom>
          <a:noFill/>
        </p:spPr>
        <p:txBody>
          <a:bodyPr wrap="none" rtlCol="1">
            <a:spAutoFit/>
          </a:bodyPr>
          <a:lstStyle/>
          <a:p>
            <a:r>
              <a:rPr lang="he-IL" sz="2000" dirty="0">
                <a:solidFill>
                  <a:prstClr val="black"/>
                </a:solidFill>
              </a:rPr>
              <a:t>100</a:t>
            </a:r>
          </a:p>
        </p:txBody>
      </p:sp>
      <p:cxnSp>
        <p:nvCxnSpPr>
          <p:cNvPr id="32" name="Straight Connector 31">
            <a:extLst>
              <a:ext uri="{FF2B5EF4-FFF2-40B4-BE49-F238E27FC236}">
                <a16:creationId xmlns:a16="http://schemas.microsoft.com/office/drawing/2014/main" id="{7BB35C28-E2A3-3BE5-2BED-B8527057D0CF}"/>
              </a:ext>
            </a:extLst>
          </p:cNvPr>
          <p:cNvCxnSpPr/>
          <p:nvPr/>
        </p:nvCxnSpPr>
        <p:spPr>
          <a:xfrm flipH="1">
            <a:off x="2222090" y="2852871"/>
            <a:ext cx="1400874"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3" name="Straight Connector 32">
            <a:extLst>
              <a:ext uri="{FF2B5EF4-FFF2-40B4-BE49-F238E27FC236}">
                <a16:creationId xmlns:a16="http://schemas.microsoft.com/office/drawing/2014/main" id="{D016EEBC-0F42-C583-A56F-001503A23D93}"/>
              </a:ext>
            </a:extLst>
          </p:cNvPr>
          <p:cNvCxnSpPr>
            <a:cxnSpLocks/>
            <a:stCxn id="58" idx="4"/>
          </p:cNvCxnSpPr>
          <p:nvPr/>
        </p:nvCxnSpPr>
        <p:spPr>
          <a:xfrm flipH="1">
            <a:off x="3649445" y="2987473"/>
            <a:ext cx="15446" cy="1243486"/>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mc:Choice xmlns:a14="http://schemas.microsoft.com/office/drawing/2010/main" Requires="a14">
          <p:sp>
            <p:nvSpPr>
              <p:cNvPr id="38" name="Rectangle 37">
                <a:extLst>
                  <a:ext uri="{FF2B5EF4-FFF2-40B4-BE49-F238E27FC236}">
                    <a16:creationId xmlns:a16="http://schemas.microsoft.com/office/drawing/2014/main" id="{6C3E877D-2475-C85C-90BD-0F3A03EE3845}"/>
                  </a:ext>
                </a:extLst>
              </p:cNvPr>
              <p:cNvSpPr/>
              <p:nvPr/>
            </p:nvSpPr>
            <p:spPr>
              <a:xfrm>
                <a:off x="8568302" y="660250"/>
                <a:ext cx="1981396"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he-IL" b="1" i="1">
                              <a:solidFill>
                                <a:srgbClr val="7030A0"/>
                              </a:solidFill>
                              <a:latin typeface="Cambria Math" panose="02040503050406030204" pitchFamily="18" charset="0"/>
                              <a:cs typeface="David" pitchFamily="34" charset="-79"/>
                            </a:rPr>
                          </m:ctrlPr>
                        </m:sSubPr>
                        <m:e>
                          <m:r>
                            <a:rPr lang="en-US" b="1" i="1">
                              <a:solidFill>
                                <a:srgbClr val="7030A0"/>
                              </a:solidFill>
                              <a:latin typeface="Cambria Math"/>
                              <a:cs typeface="David" pitchFamily="34" charset="-79"/>
                            </a:rPr>
                            <m:t>𝑷</m:t>
                          </m:r>
                        </m:e>
                        <m:sub>
                          <m:r>
                            <a:rPr lang="en-US" b="1" i="1">
                              <a:solidFill>
                                <a:srgbClr val="7030A0"/>
                              </a:solidFill>
                              <a:latin typeface="Cambria Math"/>
                              <a:cs typeface="David" pitchFamily="34" charset="-79"/>
                            </a:rPr>
                            <m:t>𝑿</m:t>
                          </m:r>
                        </m:sub>
                      </m:sSub>
                      <m:r>
                        <a:rPr lang="en-US" b="1" i="1">
                          <a:solidFill>
                            <a:srgbClr val="7030A0"/>
                          </a:solidFill>
                          <a:latin typeface="Cambria Math"/>
                          <a:cs typeface="David" pitchFamily="34" charset="-79"/>
                        </a:rPr>
                        <m:t>=</m:t>
                      </m:r>
                      <m:r>
                        <a:rPr lang="en-US" b="1" i="1">
                          <a:solidFill>
                            <a:srgbClr val="7030A0"/>
                          </a:solidFill>
                          <a:latin typeface="Cambria Math"/>
                          <a:cs typeface="David" pitchFamily="34" charset="-79"/>
                        </a:rPr>
                        <m:t>𝟕𝟎𝟎</m:t>
                      </m:r>
                      <m:r>
                        <a:rPr lang="en-US" b="1" i="1">
                          <a:solidFill>
                            <a:srgbClr val="7030A0"/>
                          </a:solidFill>
                          <a:latin typeface="Cambria Math"/>
                          <a:cs typeface="David" pitchFamily="34" charset="-79"/>
                        </a:rPr>
                        <m:t>−</m:t>
                      </m:r>
                      <m:r>
                        <a:rPr lang="en-US" b="1" i="1">
                          <a:solidFill>
                            <a:srgbClr val="7030A0"/>
                          </a:solidFill>
                          <a:latin typeface="Cambria Math"/>
                          <a:cs typeface="David" pitchFamily="34" charset="-79"/>
                        </a:rPr>
                        <m:t>𝑿</m:t>
                      </m:r>
                    </m:oMath>
                  </m:oMathPara>
                </a14:m>
                <a:endParaRPr lang="en-IL" dirty="0"/>
              </a:p>
            </p:txBody>
          </p:sp>
        </mc:Choice>
        <mc:Fallback>
          <p:sp>
            <p:nvSpPr>
              <p:cNvPr id="38" name="Rectangle 37">
                <a:extLst>
                  <a:ext uri="{FF2B5EF4-FFF2-40B4-BE49-F238E27FC236}">
                    <a16:creationId xmlns:a16="http://schemas.microsoft.com/office/drawing/2014/main" id="{6C3E877D-2475-C85C-90BD-0F3A03EE3845}"/>
                  </a:ext>
                </a:extLst>
              </p:cNvPr>
              <p:cNvSpPr>
                <a:spLocks noRot="1" noChangeAspect="1" noMove="1" noResize="1" noEditPoints="1" noAdjustHandles="1" noChangeArrowheads="1" noChangeShapeType="1" noTextEdit="1"/>
              </p:cNvSpPr>
              <p:nvPr/>
            </p:nvSpPr>
            <p:spPr>
              <a:xfrm>
                <a:off x="8568302" y="660250"/>
                <a:ext cx="1981396" cy="369332"/>
              </a:xfrm>
              <a:prstGeom prst="rect">
                <a:avLst/>
              </a:prstGeom>
              <a:blipFill>
                <a:blip r:embed="rId3"/>
                <a:stretch>
                  <a:fillRect/>
                </a:stretch>
              </a:blipFill>
            </p:spPr>
            <p:txBody>
              <a:bodyPr/>
              <a:lstStyle/>
              <a:p>
                <a:r>
                  <a:rPr lang="en-IL">
                    <a:noFill/>
                  </a:rPr>
                  <a:t> </a:t>
                </a:r>
              </a:p>
            </p:txBody>
          </p:sp>
        </mc:Fallback>
      </mc:AlternateContent>
      <mc:AlternateContent xmlns:mc="http://schemas.openxmlformats.org/markup-compatibility/2006">
        <mc:Choice xmlns:a14="http://schemas.microsoft.com/office/drawing/2010/main" Requires="a14">
          <p:sp>
            <p:nvSpPr>
              <p:cNvPr id="39" name="Rectangle 38">
                <a:extLst>
                  <a:ext uri="{FF2B5EF4-FFF2-40B4-BE49-F238E27FC236}">
                    <a16:creationId xmlns:a16="http://schemas.microsoft.com/office/drawing/2014/main" id="{C50378CD-7ABC-6532-6B4F-2A45FAFEAD3B}"/>
                  </a:ext>
                </a:extLst>
              </p:cNvPr>
              <p:cNvSpPr/>
              <p:nvPr/>
            </p:nvSpPr>
            <p:spPr>
              <a:xfrm>
                <a:off x="8714969" y="153612"/>
                <a:ext cx="1688062" cy="471026"/>
              </a:xfrm>
              <a:prstGeom prst="rect">
                <a:avLst/>
              </a:prstGeom>
            </p:spPr>
            <p:txBody>
              <a:bodyPr wrap="square">
                <a:spAutoFit/>
              </a:bodyPr>
              <a:lstStyle/>
              <a:p>
                <a:pPr algn="r" rtl="1">
                  <a:lnSpc>
                    <a:spcPct val="150000"/>
                  </a:lnSpc>
                </a:pPr>
                <a14:m>
                  <m:oMath xmlns:m="http://schemas.openxmlformats.org/officeDocument/2006/math">
                    <m:sSub>
                      <m:sSubPr>
                        <m:ctrlPr>
                          <a:rPr lang="he-IL" b="1" i="1">
                            <a:solidFill>
                              <a:schemeClr val="bg2">
                                <a:lumMod val="50000"/>
                              </a:schemeClr>
                            </a:solidFill>
                            <a:latin typeface="Cambria Math" panose="02040503050406030204" pitchFamily="18" charset="0"/>
                            <a:cs typeface="David" pitchFamily="34" charset="-79"/>
                          </a:rPr>
                        </m:ctrlPr>
                      </m:sSubPr>
                      <m:e>
                        <m:r>
                          <a:rPr lang="en-US" b="1" i="1">
                            <a:solidFill>
                              <a:schemeClr val="bg2">
                                <a:lumMod val="50000"/>
                              </a:schemeClr>
                            </a:solidFill>
                            <a:latin typeface="Cambria Math"/>
                            <a:cs typeface="David" pitchFamily="34" charset="-79"/>
                          </a:rPr>
                          <m:t>𝑷</m:t>
                        </m:r>
                      </m:e>
                      <m:sub>
                        <m:r>
                          <a:rPr lang="en-US" b="1" i="1">
                            <a:solidFill>
                              <a:schemeClr val="bg2">
                                <a:lumMod val="50000"/>
                              </a:schemeClr>
                            </a:solidFill>
                            <a:latin typeface="Cambria Math"/>
                            <a:cs typeface="David" pitchFamily="34" charset="-79"/>
                          </a:rPr>
                          <m:t>𝑿</m:t>
                        </m:r>
                      </m:sub>
                    </m:sSub>
                    <m:r>
                      <a:rPr lang="en-US" b="1" i="1">
                        <a:solidFill>
                          <a:schemeClr val="bg2">
                            <a:lumMod val="50000"/>
                          </a:schemeClr>
                        </a:solidFill>
                        <a:latin typeface="Cambria Math"/>
                        <a:cs typeface="David" pitchFamily="34" charset="-79"/>
                      </a:rPr>
                      <m:t>=</m:t>
                    </m:r>
                    <m:r>
                      <a:rPr lang="en-US" b="1" i="1">
                        <a:solidFill>
                          <a:schemeClr val="bg2">
                            <a:lumMod val="50000"/>
                          </a:schemeClr>
                        </a:solidFill>
                        <a:latin typeface="Cambria Math"/>
                        <a:cs typeface="David" pitchFamily="34" charset="-79"/>
                      </a:rPr>
                      <m:t>𝟏𝟎𝟎</m:t>
                    </m:r>
                    <m:r>
                      <a:rPr lang="en-US" b="1" i="1">
                        <a:solidFill>
                          <a:schemeClr val="bg2">
                            <a:lumMod val="50000"/>
                          </a:schemeClr>
                        </a:solidFill>
                        <a:latin typeface="Cambria Math"/>
                        <a:cs typeface="David" pitchFamily="34" charset="-79"/>
                      </a:rPr>
                      <m:t>+</m:t>
                    </m:r>
                    <m:r>
                      <a:rPr lang="en-US" b="1" i="1">
                        <a:solidFill>
                          <a:schemeClr val="bg2">
                            <a:lumMod val="50000"/>
                          </a:schemeClr>
                        </a:solidFill>
                        <a:latin typeface="Cambria Math"/>
                        <a:cs typeface="David" pitchFamily="34" charset="-79"/>
                      </a:rPr>
                      <m:t>𝑿</m:t>
                    </m:r>
                  </m:oMath>
                </a14:m>
                <a:r>
                  <a:rPr lang="he-IL" b="1" dirty="0">
                    <a:solidFill>
                      <a:schemeClr val="bg2">
                        <a:lumMod val="50000"/>
                      </a:schemeClr>
                    </a:solidFill>
                    <a:latin typeface="David" pitchFamily="34" charset="-79"/>
                    <a:cs typeface="David" pitchFamily="34" charset="-79"/>
                  </a:rPr>
                  <a:t> </a:t>
                </a:r>
                <a:endParaRPr lang="he-IL" b="1" dirty="0">
                  <a:latin typeface="David" pitchFamily="34" charset="-79"/>
                  <a:cs typeface="David" pitchFamily="34" charset="-79"/>
                </a:endParaRPr>
              </a:p>
            </p:txBody>
          </p:sp>
        </mc:Choice>
        <mc:Fallback>
          <p:sp>
            <p:nvSpPr>
              <p:cNvPr id="39" name="Rectangle 38">
                <a:extLst>
                  <a:ext uri="{FF2B5EF4-FFF2-40B4-BE49-F238E27FC236}">
                    <a16:creationId xmlns:a16="http://schemas.microsoft.com/office/drawing/2014/main" id="{C50378CD-7ABC-6532-6B4F-2A45FAFEAD3B}"/>
                  </a:ext>
                </a:extLst>
              </p:cNvPr>
              <p:cNvSpPr>
                <a:spLocks noRot="1" noChangeAspect="1" noMove="1" noResize="1" noEditPoints="1" noAdjustHandles="1" noChangeArrowheads="1" noChangeShapeType="1" noTextEdit="1"/>
              </p:cNvSpPr>
              <p:nvPr/>
            </p:nvSpPr>
            <p:spPr>
              <a:xfrm>
                <a:off x="8714969" y="153612"/>
                <a:ext cx="1688062" cy="471026"/>
              </a:xfrm>
              <a:prstGeom prst="rect">
                <a:avLst/>
              </a:prstGeom>
              <a:blipFill>
                <a:blip r:embed="rId4"/>
                <a:stretch>
                  <a:fillRect l="-3971" b="-20779"/>
                </a:stretch>
              </a:blipFill>
            </p:spPr>
            <p:txBody>
              <a:bodyPr/>
              <a:lstStyle/>
              <a:p>
                <a:r>
                  <a:rPr lang="en-IL">
                    <a:noFill/>
                  </a:rPr>
                  <a:t> </a:t>
                </a:r>
              </a:p>
            </p:txBody>
          </p:sp>
        </mc:Fallback>
      </mc:AlternateContent>
      <p:cxnSp>
        <p:nvCxnSpPr>
          <p:cNvPr id="42" name="Straight Connector 41">
            <a:extLst>
              <a:ext uri="{FF2B5EF4-FFF2-40B4-BE49-F238E27FC236}">
                <a16:creationId xmlns:a16="http://schemas.microsoft.com/office/drawing/2014/main" id="{B631D5D6-4DE7-1DE1-BC11-3F923F04CBEC}"/>
              </a:ext>
            </a:extLst>
          </p:cNvPr>
          <p:cNvCxnSpPr>
            <a:cxnSpLocks/>
          </p:cNvCxnSpPr>
          <p:nvPr/>
        </p:nvCxnSpPr>
        <p:spPr>
          <a:xfrm flipH="1" flipV="1">
            <a:off x="8709655" y="1185340"/>
            <a:ext cx="1760340" cy="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6" name="Rectangle 45">
                <a:extLst>
                  <a:ext uri="{FF2B5EF4-FFF2-40B4-BE49-F238E27FC236}">
                    <a16:creationId xmlns:a16="http://schemas.microsoft.com/office/drawing/2014/main" id="{66DA893A-A48C-5B1A-0315-646118969A4C}"/>
                  </a:ext>
                </a:extLst>
              </p:cNvPr>
              <p:cNvSpPr/>
              <p:nvPr/>
            </p:nvSpPr>
            <p:spPr>
              <a:xfrm>
                <a:off x="8344113" y="1225016"/>
                <a:ext cx="1040670" cy="369332"/>
              </a:xfrm>
              <a:prstGeom prst="rect">
                <a:avLst/>
              </a:prstGeom>
            </p:spPr>
            <p:txBody>
              <a:bodyPr wrap="none">
                <a:spAutoFit/>
              </a:bodyPr>
              <a:lstStyle/>
              <a:p>
                <a:r>
                  <a:rPr lang="en-US" b="1" dirty="0">
                    <a:cs typeface="David" pitchFamily="34" charset="-79"/>
                  </a:rPr>
                  <a:t>X</a:t>
                </a:r>
                <a14:m>
                  <m:oMath xmlns:m="http://schemas.openxmlformats.org/officeDocument/2006/math">
                    <m:r>
                      <a:rPr lang="en-US" b="1" i="1">
                        <a:latin typeface="Cambria Math"/>
                        <a:cs typeface="David" pitchFamily="34" charset="-79"/>
                      </a:rPr>
                      <m:t>=</m:t>
                    </m:r>
                    <m:r>
                      <a:rPr lang="en-US" b="1" i="1">
                        <a:latin typeface="Cambria Math" panose="02040503050406030204" pitchFamily="18" charset="0"/>
                        <a:cs typeface="David" pitchFamily="34" charset="-79"/>
                      </a:rPr>
                      <m:t>𝟑𝟎𝟎</m:t>
                    </m:r>
                  </m:oMath>
                </a14:m>
                <a:r>
                  <a:rPr lang="he-IL" b="1" dirty="0">
                    <a:latin typeface="David" pitchFamily="34" charset="-79"/>
                    <a:cs typeface="David" pitchFamily="34" charset="-79"/>
                  </a:rPr>
                  <a:t> </a:t>
                </a:r>
                <a:endParaRPr lang="en-IL" dirty="0"/>
              </a:p>
            </p:txBody>
          </p:sp>
        </mc:Choice>
        <mc:Fallback>
          <p:sp>
            <p:nvSpPr>
              <p:cNvPr id="46" name="Rectangle 45">
                <a:extLst>
                  <a:ext uri="{FF2B5EF4-FFF2-40B4-BE49-F238E27FC236}">
                    <a16:creationId xmlns:a16="http://schemas.microsoft.com/office/drawing/2014/main" id="{66DA893A-A48C-5B1A-0315-646118969A4C}"/>
                  </a:ext>
                </a:extLst>
              </p:cNvPr>
              <p:cNvSpPr>
                <a:spLocks noRot="1" noChangeAspect="1" noMove="1" noResize="1" noEditPoints="1" noAdjustHandles="1" noChangeArrowheads="1" noChangeShapeType="1" noTextEdit="1"/>
              </p:cNvSpPr>
              <p:nvPr/>
            </p:nvSpPr>
            <p:spPr>
              <a:xfrm>
                <a:off x="8344113" y="1225016"/>
                <a:ext cx="1040670" cy="369332"/>
              </a:xfrm>
              <a:prstGeom prst="rect">
                <a:avLst/>
              </a:prstGeom>
              <a:blipFill>
                <a:blip r:embed="rId5"/>
                <a:stretch>
                  <a:fillRect l="-1765" t="-11475" b="-24590"/>
                </a:stretch>
              </a:blipFill>
            </p:spPr>
            <p:txBody>
              <a:bodyPr/>
              <a:lstStyle/>
              <a:p>
                <a:r>
                  <a:rPr lang="en-IL">
                    <a:noFill/>
                  </a:rPr>
                  <a:t> </a:t>
                </a:r>
              </a:p>
            </p:txBody>
          </p:sp>
        </mc:Fallback>
      </mc:AlternateContent>
      <mc:AlternateContent xmlns:mc="http://schemas.openxmlformats.org/markup-compatibility/2006">
        <mc:Choice xmlns:a14="http://schemas.microsoft.com/office/drawing/2010/main" Requires="a14">
          <p:sp>
            <p:nvSpPr>
              <p:cNvPr id="47" name="Rectangle 46">
                <a:extLst>
                  <a:ext uri="{FF2B5EF4-FFF2-40B4-BE49-F238E27FC236}">
                    <a16:creationId xmlns:a16="http://schemas.microsoft.com/office/drawing/2014/main" id="{0388F567-B87D-A3AD-2325-E3E610BC6355}"/>
                  </a:ext>
                </a:extLst>
              </p:cNvPr>
              <p:cNvSpPr/>
              <p:nvPr/>
            </p:nvSpPr>
            <p:spPr>
              <a:xfrm>
                <a:off x="9364114" y="1185378"/>
                <a:ext cx="1236172" cy="369332"/>
              </a:xfrm>
              <a:prstGeom prst="rect">
                <a:avLst/>
              </a:prstGeom>
            </p:spPr>
            <p:txBody>
              <a:bodyPr wrap="none">
                <a:spAutoFit/>
              </a:bodyPr>
              <a:lstStyle/>
              <a:p>
                <a14:m>
                  <m:oMath xmlns:m="http://schemas.openxmlformats.org/officeDocument/2006/math">
                    <m:sSub>
                      <m:sSubPr>
                        <m:ctrlPr>
                          <a:rPr lang="he-IL" b="1" i="1">
                            <a:latin typeface="Cambria Math" panose="02040503050406030204" pitchFamily="18" charset="0"/>
                            <a:cs typeface="David" pitchFamily="34" charset="-79"/>
                          </a:rPr>
                        </m:ctrlPr>
                      </m:sSubPr>
                      <m:e>
                        <m:r>
                          <a:rPr lang="en-US" b="1" i="1">
                            <a:latin typeface="Cambria Math"/>
                            <a:cs typeface="David" pitchFamily="34" charset="-79"/>
                          </a:rPr>
                          <m:t>𝑷</m:t>
                        </m:r>
                      </m:e>
                      <m:sub>
                        <m:r>
                          <a:rPr lang="en-US" b="1" i="1">
                            <a:latin typeface="Cambria Math"/>
                            <a:cs typeface="David" pitchFamily="34" charset="-79"/>
                          </a:rPr>
                          <m:t>𝑿</m:t>
                        </m:r>
                      </m:sub>
                    </m:sSub>
                    <m:r>
                      <a:rPr lang="he-IL" i="1">
                        <a:latin typeface="Cambria Math" panose="02040503050406030204" pitchFamily="18" charset="0"/>
                        <a:cs typeface="David" pitchFamily="34" charset="-79"/>
                      </a:rPr>
                      <m:t>=</m:t>
                    </m:r>
                    <m:r>
                      <a:rPr lang="he-IL" b="1" i="1">
                        <a:latin typeface="Cambria Math" panose="02040503050406030204" pitchFamily="18" charset="0"/>
                        <a:cs typeface="David" pitchFamily="34" charset="-79"/>
                      </a:rPr>
                      <m:t>𝟒𝟎𝟎</m:t>
                    </m:r>
                  </m:oMath>
                </a14:m>
                <a:r>
                  <a:rPr lang="he-IL" b="1" dirty="0">
                    <a:latin typeface="David" pitchFamily="34" charset="-79"/>
                    <a:cs typeface="David" pitchFamily="34" charset="-79"/>
                  </a:rPr>
                  <a:t> </a:t>
                </a:r>
                <a:endParaRPr lang="en-IL" b="1" dirty="0"/>
              </a:p>
            </p:txBody>
          </p:sp>
        </mc:Choice>
        <mc:Fallback>
          <p:sp>
            <p:nvSpPr>
              <p:cNvPr id="47" name="Rectangle 46">
                <a:extLst>
                  <a:ext uri="{FF2B5EF4-FFF2-40B4-BE49-F238E27FC236}">
                    <a16:creationId xmlns:a16="http://schemas.microsoft.com/office/drawing/2014/main" id="{0388F567-B87D-A3AD-2325-E3E610BC6355}"/>
                  </a:ext>
                </a:extLst>
              </p:cNvPr>
              <p:cNvSpPr>
                <a:spLocks noRot="1" noChangeAspect="1" noMove="1" noResize="1" noEditPoints="1" noAdjustHandles="1" noChangeArrowheads="1" noChangeShapeType="1" noTextEdit="1"/>
              </p:cNvSpPr>
              <p:nvPr/>
            </p:nvSpPr>
            <p:spPr>
              <a:xfrm>
                <a:off x="9364114" y="1185378"/>
                <a:ext cx="1236172" cy="369332"/>
              </a:xfrm>
              <a:prstGeom prst="rect">
                <a:avLst/>
              </a:prstGeom>
              <a:blipFill>
                <a:blip r:embed="rId6"/>
                <a:stretch>
                  <a:fillRect t="-8197" r="-4926" b="-24590"/>
                </a:stretch>
              </a:blipFill>
            </p:spPr>
            <p:txBody>
              <a:bodyPr/>
              <a:lstStyle/>
              <a:p>
                <a:r>
                  <a:rPr lang="en-IL">
                    <a:noFill/>
                  </a:rPr>
                  <a:t> </a:t>
                </a:r>
              </a:p>
            </p:txBody>
          </p:sp>
        </mc:Fallback>
      </mc:AlternateContent>
      <mc:AlternateContent xmlns:mc="http://schemas.openxmlformats.org/markup-compatibility/2006">
        <mc:Choice xmlns:a14="http://schemas.microsoft.com/office/drawing/2010/main" Requires="a14">
          <p:sp>
            <p:nvSpPr>
              <p:cNvPr id="48" name="Rectangle 47">
                <a:extLst>
                  <a:ext uri="{FF2B5EF4-FFF2-40B4-BE49-F238E27FC236}">
                    <a16:creationId xmlns:a16="http://schemas.microsoft.com/office/drawing/2014/main" id="{3C560C63-E241-D137-8013-AEB48C2B2AE4}"/>
                  </a:ext>
                </a:extLst>
              </p:cNvPr>
              <p:cNvSpPr/>
              <p:nvPr/>
            </p:nvSpPr>
            <p:spPr>
              <a:xfrm>
                <a:off x="3782904" y="4266272"/>
                <a:ext cx="23756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he-IL" b="1" i="1">
                          <a:latin typeface="Cambria Math" panose="02040503050406030204" pitchFamily="18" charset="0"/>
                          <a:cs typeface="David" pitchFamily="34" charset="-79"/>
                        </a:rPr>
                        <m:t>𝟑𝟎𝟎</m:t>
                      </m:r>
                    </m:oMath>
                  </m:oMathPara>
                </a14:m>
                <a:endParaRPr lang="en-IL" dirty="0"/>
              </a:p>
            </p:txBody>
          </p:sp>
        </mc:Choice>
        <mc:Fallback>
          <p:sp>
            <p:nvSpPr>
              <p:cNvPr id="48" name="Rectangle 47">
                <a:extLst>
                  <a:ext uri="{FF2B5EF4-FFF2-40B4-BE49-F238E27FC236}">
                    <a16:creationId xmlns:a16="http://schemas.microsoft.com/office/drawing/2014/main" id="{3C560C63-E241-D137-8013-AEB48C2B2AE4}"/>
                  </a:ext>
                </a:extLst>
              </p:cNvPr>
              <p:cNvSpPr>
                <a:spLocks noRot="1" noChangeAspect="1" noMove="1" noResize="1" noEditPoints="1" noAdjustHandles="1" noChangeArrowheads="1" noChangeShapeType="1" noTextEdit="1"/>
              </p:cNvSpPr>
              <p:nvPr/>
            </p:nvSpPr>
            <p:spPr>
              <a:xfrm>
                <a:off x="3782904" y="4266272"/>
                <a:ext cx="237565" cy="369332"/>
              </a:xfrm>
              <a:prstGeom prst="rect">
                <a:avLst/>
              </a:prstGeom>
              <a:blipFill>
                <a:blip r:embed="rId7"/>
                <a:stretch>
                  <a:fillRect r="-146154"/>
                </a:stretch>
              </a:blipFill>
            </p:spPr>
            <p:txBody>
              <a:bodyPr/>
              <a:lstStyle/>
              <a:p>
                <a:r>
                  <a:rPr lang="en-IL">
                    <a:noFill/>
                  </a:rPr>
                  <a:t> </a:t>
                </a:r>
              </a:p>
            </p:txBody>
          </p:sp>
        </mc:Fallback>
      </mc:AlternateContent>
      <mc:AlternateContent xmlns:mc="http://schemas.openxmlformats.org/markup-compatibility/2006">
        <mc:Choice xmlns:a14="http://schemas.microsoft.com/office/drawing/2010/main" Requires="a14">
          <p:sp>
            <p:nvSpPr>
              <p:cNvPr id="49" name="Rectangle 48">
                <a:extLst>
                  <a:ext uri="{FF2B5EF4-FFF2-40B4-BE49-F238E27FC236}">
                    <a16:creationId xmlns:a16="http://schemas.microsoft.com/office/drawing/2014/main" id="{F3D894C3-2FB2-9CEA-AABE-C144900D79DA}"/>
                  </a:ext>
                </a:extLst>
              </p:cNvPr>
              <p:cNvSpPr/>
              <p:nvPr/>
            </p:nvSpPr>
            <p:spPr>
              <a:xfrm>
                <a:off x="1982876" y="2668205"/>
                <a:ext cx="23115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he-IL" sz="1600" b="1" i="1">
                          <a:latin typeface="Cambria Math" panose="02040503050406030204" pitchFamily="18" charset="0"/>
                          <a:cs typeface="David" pitchFamily="34" charset="-79"/>
                        </a:rPr>
                        <m:t>𝟒𝟎𝟎</m:t>
                      </m:r>
                    </m:oMath>
                  </m:oMathPara>
                </a14:m>
                <a:endParaRPr lang="en-IL" sz="1600" dirty="0"/>
              </a:p>
            </p:txBody>
          </p:sp>
        </mc:Choice>
        <mc:Fallback>
          <p:sp>
            <p:nvSpPr>
              <p:cNvPr id="49" name="Rectangle 48">
                <a:extLst>
                  <a:ext uri="{FF2B5EF4-FFF2-40B4-BE49-F238E27FC236}">
                    <a16:creationId xmlns:a16="http://schemas.microsoft.com/office/drawing/2014/main" id="{F3D894C3-2FB2-9CEA-AABE-C144900D79DA}"/>
                  </a:ext>
                </a:extLst>
              </p:cNvPr>
              <p:cNvSpPr>
                <a:spLocks noRot="1" noChangeAspect="1" noMove="1" noResize="1" noEditPoints="1" noAdjustHandles="1" noChangeArrowheads="1" noChangeShapeType="1" noTextEdit="1"/>
              </p:cNvSpPr>
              <p:nvPr/>
            </p:nvSpPr>
            <p:spPr>
              <a:xfrm>
                <a:off x="1982876" y="2668205"/>
                <a:ext cx="231154" cy="338554"/>
              </a:xfrm>
              <a:prstGeom prst="rect">
                <a:avLst/>
              </a:prstGeom>
              <a:blipFill>
                <a:blip r:embed="rId8"/>
                <a:stretch>
                  <a:fillRect r="-128947"/>
                </a:stretch>
              </a:blipFill>
            </p:spPr>
            <p:txBody>
              <a:bodyPr/>
              <a:lstStyle/>
              <a:p>
                <a:r>
                  <a:rPr lang="en-IL">
                    <a:noFill/>
                  </a:rPr>
                  <a:t> </a:t>
                </a:r>
              </a:p>
            </p:txBody>
          </p:sp>
        </mc:Fallback>
      </mc:AlternateContent>
      <p:sp>
        <p:nvSpPr>
          <p:cNvPr id="34" name="Title 1">
            <a:extLst>
              <a:ext uri="{FF2B5EF4-FFF2-40B4-BE49-F238E27FC236}">
                <a16:creationId xmlns:a16="http://schemas.microsoft.com/office/drawing/2014/main" id="{701C0FD4-EBAC-9196-4D51-BA2888F60BA7}"/>
              </a:ext>
            </a:extLst>
          </p:cNvPr>
          <p:cNvSpPr>
            <a:spLocks noGrp="1"/>
          </p:cNvSpPr>
          <p:nvPr>
            <p:ph type="title"/>
          </p:nvPr>
        </p:nvSpPr>
        <p:spPr>
          <a:xfrm>
            <a:off x="2286001" y="228601"/>
            <a:ext cx="6428969" cy="321051"/>
          </a:xfrm>
        </p:spPr>
        <p:txBody>
          <a:bodyPr>
            <a:normAutofit fontScale="90000"/>
          </a:bodyPr>
          <a:lstStyle/>
          <a:p>
            <a:pPr algn="ctr"/>
            <a:r>
              <a:rPr lang="he-IL" dirty="0"/>
              <a:t>שינויים בנקודת שיווי המשקל</a:t>
            </a:r>
            <a:endParaRPr lang="en-US" dirty="0"/>
          </a:p>
        </p:txBody>
      </p:sp>
      <p:sp>
        <p:nvSpPr>
          <p:cNvPr id="67" name="Slide Number Placeholder 66">
            <a:extLst>
              <a:ext uri="{FF2B5EF4-FFF2-40B4-BE49-F238E27FC236}">
                <a16:creationId xmlns:a16="http://schemas.microsoft.com/office/drawing/2014/main" id="{440FF598-9002-374D-CA3F-EA016F3F907A}"/>
              </a:ext>
            </a:extLst>
          </p:cNvPr>
          <p:cNvSpPr>
            <a:spLocks noGrp="1"/>
          </p:cNvSpPr>
          <p:nvPr>
            <p:ph type="sldNum" sz="quarter" idx="12"/>
          </p:nvPr>
        </p:nvSpPr>
        <p:spPr/>
        <p:txBody>
          <a:bodyPr/>
          <a:lstStyle/>
          <a:p>
            <a:fld id="{EE4A799E-BCDC-47C4-95D4-74FB8914F55A}" type="slidenum">
              <a:rPr lang="en-US" smtClean="0"/>
              <a:t>46</a:t>
            </a:fld>
            <a:endParaRPr lang="en-US"/>
          </a:p>
        </p:txBody>
      </p:sp>
      <p:sp>
        <p:nvSpPr>
          <p:cNvPr id="36" name="Rectangle 35">
            <a:extLst>
              <a:ext uri="{FF2B5EF4-FFF2-40B4-BE49-F238E27FC236}">
                <a16:creationId xmlns:a16="http://schemas.microsoft.com/office/drawing/2014/main" id="{069F6F9A-71B9-DBCE-E879-A5C882498096}"/>
              </a:ext>
            </a:extLst>
          </p:cNvPr>
          <p:cNvSpPr/>
          <p:nvPr/>
        </p:nvSpPr>
        <p:spPr>
          <a:xfrm>
            <a:off x="6586962" y="1555769"/>
            <a:ext cx="5333593" cy="3062377"/>
          </a:xfrm>
          <a:prstGeom prst="rect">
            <a:avLst/>
          </a:prstGeom>
        </p:spPr>
        <p:txBody>
          <a:bodyPr wrap="square">
            <a:spAutoFit/>
          </a:bodyPr>
          <a:lstStyle/>
          <a:p>
            <a:pPr algn="r" rtl="1">
              <a:lnSpc>
                <a:spcPct val="150000"/>
              </a:lnSpc>
            </a:pPr>
            <a:r>
              <a:rPr lang="he-IL" sz="1400" dirty="0">
                <a:latin typeface="David" pitchFamily="34" charset="-79"/>
                <a:cs typeface="David" pitchFamily="34" charset="-79"/>
              </a:rPr>
              <a:t>במידה וההוצאה השולית לייצור כל כמות גדלה ב-50 ש''ח, בשיווי המשקל החדש (בחרו בתשובה הנכונה):</a:t>
            </a:r>
          </a:p>
          <a:p>
            <a:pPr marL="342900" indent="-342900">
              <a:lnSpc>
                <a:spcPct val="150000"/>
              </a:lnSpc>
              <a:buAutoNum type="arabicPeriod"/>
            </a:pPr>
            <a:r>
              <a:rPr lang="he-IL" sz="1400" dirty="0">
                <a:latin typeface="David" pitchFamily="34" charset="-79"/>
                <a:cs typeface="David" pitchFamily="34" charset="-79"/>
              </a:rPr>
              <a:t>המחיר בשוק יעלה ב-50 ש''ח ולא יהיה שינוי בכמות המיוצרת.</a:t>
            </a:r>
          </a:p>
          <a:p>
            <a:pPr marL="342900" indent="-342900">
              <a:lnSpc>
                <a:spcPct val="150000"/>
              </a:lnSpc>
              <a:buAutoNum type="arabicPeriod"/>
            </a:pPr>
            <a:r>
              <a:rPr lang="he-IL" sz="1400" dirty="0">
                <a:latin typeface="David" pitchFamily="34" charset="-79"/>
                <a:cs typeface="David" pitchFamily="34" charset="-79"/>
              </a:rPr>
              <a:t>עודף הצרכנים ישאר ללא שינוי מכיוון שאין תזוזה בעקומת הביקוש.</a:t>
            </a:r>
          </a:p>
          <a:p>
            <a:pPr marL="342900" indent="-342900">
              <a:lnSpc>
                <a:spcPct val="150000"/>
              </a:lnSpc>
              <a:buAutoNum type="arabicPeriod"/>
            </a:pPr>
            <a:r>
              <a:rPr lang="he-IL" sz="1400" dirty="0">
                <a:latin typeface="David" pitchFamily="34" charset="-79"/>
                <a:cs typeface="David" pitchFamily="34" charset="-79"/>
              </a:rPr>
              <a:t>הוצאות הצרכנים לא ישתנו מכיוון שהמחיר יעלה ב25 ש''ח והכמות תרד ב25 יחידות. </a:t>
            </a:r>
          </a:p>
          <a:p>
            <a:pPr marL="342900" indent="-342900">
              <a:lnSpc>
                <a:spcPct val="150000"/>
              </a:lnSpc>
              <a:buAutoNum type="arabicPeriod"/>
            </a:pPr>
            <a:r>
              <a:rPr lang="he-IL" sz="1400" dirty="0">
                <a:latin typeface="David" pitchFamily="34" charset="-79"/>
                <a:cs typeface="David" pitchFamily="34" charset="-79"/>
              </a:rPr>
              <a:t>לא ניתן לדעת מה קרה להוצאות הצרכנים ללא נתונים נוספים.</a:t>
            </a:r>
          </a:p>
          <a:p>
            <a:pPr marL="342900" indent="-342900">
              <a:lnSpc>
                <a:spcPct val="150000"/>
              </a:lnSpc>
              <a:buAutoNum type="arabicPeriod"/>
            </a:pPr>
            <a:r>
              <a:rPr lang="he-IL" sz="1400" dirty="0">
                <a:latin typeface="David" pitchFamily="34" charset="-79"/>
                <a:cs typeface="David" pitchFamily="34" charset="-79"/>
              </a:rPr>
              <a:t>הוצאות הצרכנים על המוצר ירדו בעקבות השינוי והביקוש גמיש.</a:t>
            </a:r>
          </a:p>
          <a:p>
            <a:pPr marL="342900" indent="-342900">
              <a:lnSpc>
                <a:spcPct val="150000"/>
              </a:lnSpc>
              <a:buAutoNum type="arabicPeriod"/>
            </a:pPr>
            <a:endParaRPr lang="he-IL" sz="1600" dirty="0">
              <a:latin typeface="David" pitchFamily="34" charset="-79"/>
              <a:cs typeface="David" pitchFamily="34" charset="-79"/>
            </a:endParaRPr>
          </a:p>
        </p:txBody>
      </p:sp>
      <p:sp>
        <p:nvSpPr>
          <p:cNvPr id="37" name="Rectangle 36">
            <a:extLst>
              <a:ext uri="{FF2B5EF4-FFF2-40B4-BE49-F238E27FC236}">
                <a16:creationId xmlns:a16="http://schemas.microsoft.com/office/drawing/2014/main" id="{D6AE7A53-69B2-C8CA-10F5-6ECC03772674}"/>
              </a:ext>
            </a:extLst>
          </p:cNvPr>
          <p:cNvSpPr/>
          <p:nvPr/>
        </p:nvSpPr>
        <p:spPr>
          <a:xfrm>
            <a:off x="5563628" y="4694169"/>
            <a:ext cx="5036658" cy="430887"/>
          </a:xfrm>
          <a:prstGeom prst="rect">
            <a:avLst/>
          </a:prstGeom>
          <a:solidFill>
            <a:schemeClr val="bg2">
              <a:lumMod val="90000"/>
            </a:schemeClr>
          </a:solidFill>
        </p:spPr>
        <p:txBody>
          <a:bodyPr wrap="square">
            <a:spAutoFit/>
          </a:bodyPr>
          <a:lstStyle/>
          <a:p>
            <a:pPr algn="r" rtl="1">
              <a:lnSpc>
                <a:spcPct val="150000"/>
              </a:lnSpc>
              <a:buClrTx/>
            </a:pPr>
            <a:r>
              <a:rPr lang="he-IL" sz="1600" dirty="0">
                <a:latin typeface="David" pitchFamily="34" charset="-79"/>
                <a:cs typeface="David" pitchFamily="34" charset="-79"/>
              </a:rPr>
              <a:t>נחשב את השפעת השינוי בעקומת ההיצע על נקודת השיווי משקל:</a:t>
            </a:r>
          </a:p>
        </p:txBody>
      </p:sp>
      <mc:AlternateContent xmlns:mc="http://schemas.openxmlformats.org/markup-compatibility/2006">
        <mc:Choice xmlns:a14="http://schemas.microsoft.com/office/drawing/2010/main" Requires="a14">
          <p:sp>
            <p:nvSpPr>
              <p:cNvPr id="44" name="Rectangle 43">
                <a:extLst>
                  <a:ext uri="{FF2B5EF4-FFF2-40B4-BE49-F238E27FC236}">
                    <a16:creationId xmlns:a16="http://schemas.microsoft.com/office/drawing/2014/main" id="{F4B7FC0E-B7E1-E641-78A4-BD9EDEEB74ED}"/>
                  </a:ext>
                </a:extLst>
              </p:cNvPr>
              <p:cNvSpPr/>
              <p:nvPr/>
            </p:nvSpPr>
            <p:spPr>
              <a:xfrm>
                <a:off x="5658424" y="4959975"/>
                <a:ext cx="3193757" cy="471026"/>
              </a:xfrm>
              <a:prstGeom prst="rect">
                <a:avLst/>
              </a:prstGeom>
            </p:spPr>
            <p:txBody>
              <a:bodyPr wrap="square">
                <a:spAutoFit/>
              </a:bodyPr>
              <a:lstStyle/>
              <a:p>
                <a:pPr algn="r" rtl="1">
                  <a:lnSpc>
                    <a:spcPct val="150000"/>
                  </a:lnSpc>
                </a:pPr>
                <a14:m>
                  <m:oMath xmlns:m="http://schemas.openxmlformats.org/officeDocument/2006/math">
                    <m:r>
                      <m:rPr>
                        <m:sty m:val="p"/>
                      </m:rPr>
                      <a:rPr lang="en-US" b="1" i="1">
                        <a:solidFill>
                          <a:schemeClr val="bg2">
                            <a:lumMod val="50000"/>
                          </a:schemeClr>
                        </a:solidFill>
                        <a:latin typeface="Cambria Math" panose="02040503050406030204" pitchFamily="18" charset="0"/>
                        <a:cs typeface="David" pitchFamily="34" charset="-79"/>
                      </a:rPr>
                      <m:t>M</m:t>
                    </m:r>
                    <m:r>
                      <a:rPr lang="en-US" b="1" i="1">
                        <a:solidFill>
                          <a:schemeClr val="bg2">
                            <a:lumMod val="50000"/>
                          </a:schemeClr>
                        </a:solidFill>
                        <a:latin typeface="Cambria Math" panose="02040503050406030204" pitchFamily="18" charset="0"/>
                        <a:cs typeface="David" pitchFamily="34" charset="-79"/>
                      </a:rPr>
                      <m:t>𝑪</m:t>
                    </m:r>
                    <m:r>
                      <a:rPr lang="en-US" b="1" i="1">
                        <a:solidFill>
                          <a:srgbClr val="FF0000"/>
                        </a:solidFill>
                        <a:latin typeface="Cambria Math" panose="02040503050406030204" pitchFamily="18" charset="0"/>
                        <a:cs typeface="David" pitchFamily="34" charset="-79"/>
                      </a:rPr>
                      <m:t>𝟏</m:t>
                    </m:r>
                    <m:r>
                      <a:rPr lang="en-US" b="1" i="1">
                        <a:solidFill>
                          <a:schemeClr val="bg2">
                            <a:lumMod val="50000"/>
                          </a:schemeClr>
                        </a:solidFill>
                        <a:latin typeface="Cambria Math"/>
                        <a:cs typeface="David" pitchFamily="34" charset="-79"/>
                      </a:rPr>
                      <m:t>=</m:t>
                    </m:r>
                    <m:d>
                      <m:dPr>
                        <m:ctrlPr>
                          <a:rPr lang="en-US" b="1" i="1">
                            <a:solidFill>
                              <a:schemeClr val="bg2">
                                <a:lumMod val="50000"/>
                              </a:schemeClr>
                            </a:solidFill>
                            <a:latin typeface="Cambria Math" panose="02040503050406030204" pitchFamily="18" charset="0"/>
                            <a:cs typeface="David" pitchFamily="34" charset="-79"/>
                          </a:rPr>
                        </m:ctrlPr>
                      </m:dPr>
                      <m:e>
                        <m:r>
                          <a:rPr lang="en-US" b="1" i="1">
                            <a:solidFill>
                              <a:schemeClr val="bg2">
                                <a:lumMod val="50000"/>
                              </a:schemeClr>
                            </a:solidFill>
                            <a:latin typeface="Cambria Math"/>
                            <a:cs typeface="David" pitchFamily="34" charset="-79"/>
                          </a:rPr>
                          <m:t>𝟏𝟎𝟎</m:t>
                        </m:r>
                        <m:r>
                          <a:rPr lang="en-US" b="1" i="1">
                            <a:solidFill>
                              <a:schemeClr val="bg2">
                                <a:lumMod val="50000"/>
                              </a:schemeClr>
                            </a:solidFill>
                            <a:latin typeface="Cambria Math"/>
                            <a:cs typeface="David" pitchFamily="34" charset="-79"/>
                          </a:rPr>
                          <m:t>+</m:t>
                        </m:r>
                        <m:r>
                          <a:rPr lang="en-US" b="1" i="1">
                            <a:solidFill>
                              <a:schemeClr val="bg2">
                                <a:lumMod val="50000"/>
                              </a:schemeClr>
                            </a:solidFill>
                            <a:latin typeface="Cambria Math"/>
                            <a:cs typeface="David" pitchFamily="34" charset="-79"/>
                          </a:rPr>
                          <m:t>𝑿</m:t>
                        </m:r>
                      </m:e>
                    </m:d>
                    <m:r>
                      <a:rPr lang="en-US" b="1" i="1">
                        <a:solidFill>
                          <a:srgbClr val="FF0000"/>
                        </a:solidFill>
                        <a:latin typeface="Cambria Math" panose="02040503050406030204" pitchFamily="18" charset="0"/>
                        <a:cs typeface="David" pitchFamily="34" charset="-79"/>
                      </a:rPr>
                      <m:t>+</m:t>
                    </m:r>
                    <m:r>
                      <a:rPr lang="en-US" b="1" i="1">
                        <a:solidFill>
                          <a:srgbClr val="FF0000"/>
                        </a:solidFill>
                        <a:latin typeface="Cambria Math" panose="02040503050406030204" pitchFamily="18" charset="0"/>
                        <a:cs typeface="David" pitchFamily="34" charset="-79"/>
                      </a:rPr>
                      <m:t>𝟓𝟎</m:t>
                    </m:r>
                  </m:oMath>
                </a14:m>
                <a:r>
                  <a:rPr lang="he-IL" b="1" dirty="0">
                    <a:solidFill>
                      <a:schemeClr val="bg2">
                        <a:lumMod val="50000"/>
                      </a:schemeClr>
                    </a:solidFill>
                    <a:cs typeface="David" pitchFamily="34" charset="-79"/>
                  </a:rPr>
                  <a:t> </a:t>
                </a:r>
                <a14:m>
                  <m:oMath xmlns:m="http://schemas.openxmlformats.org/officeDocument/2006/math">
                    <m:sSub>
                      <m:sSubPr>
                        <m:ctrlPr>
                          <a:rPr lang="he-IL" b="1" i="1">
                            <a:solidFill>
                              <a:srgbClr val="FF0000"/>
                            </a:solidFill>
                            <a:latin typeface="Cambria Math" panose="02040503050406030204" pitchFamily="18" charset="0"/>
                            <a:cs typeface="David" pitchFamily="34" charset="-79"/>
                          </a:rPr>
                        </m:ctrlPr>
                      </m:sSubPr>
                      <m:e>
                        <m:r>
                          <a:rPr lang="en-US" b="1" i="1">
                            <a:solidFill>
                              <a:schemeClr val="bg2">
                                <a:lumMod val="50000"/>
                              </a:schemeClr>
                            </a:solidFill>
                            <a:latin typeface="Cambria Math"/>
                            <a:cs typeface="David" pitchFamily="34" charset="-79"/>
                          </a:rPr>
                          <m:t>𝑷</m:t>
                        </m:r>
                      </m:e>
                      <m:sub>
                        <m:r>
                          <a:rPr lang="en-US" b="1" i="1">
                            <a:solidFill>
                              <a:schemeClr val="bg2">
                                <a:lumMod val="50000"/>
                              </a:schemeClr>
                            </a:solidFill>
                            <a:latin typeface="Cambria Math"/>
                            <a:cs typeface="David" pitchFamily="34" charset="-79"/>
                          </a:rPr>
                          <m:t>𝑿</m:t>
                        </m:r>
                        <m:r>
                          <a:rPr lang="en-US" b="1" i="1">
                            <a:solidFill>
                              <a:srgbClr val="FF0000"/>
                            </a:solidFill>
                            <a:latin typeface="Cambria Math" panose="02040503050406030204" pitchFamily="18" charset="0"/>
                            <a:cs typeface="David" pitchFamily="34" charset="-79"/>
                          </a:rPr>
                          <m:t>𝟏</m:t>
                        </m:r>
                      </m:sub>
                    </m:sSub>
                    <m:r>
                      <a:rPr lang="en-US" b="1" i="1">
                        <a:solidFill>
                          <a:schemeClr val="bg2">
                            <a:lumMod val="50000"/>
                          </a:schemeClr>
                        </a:solidFill>
                        <a:latin typeface="Cambria Math"/>
                        <a:cs typeface="David" pitchFamily="34" charset="-79"/>
                      </a:rPr>
                      <m:t>=</m:t>
                    </m:r>
                  </m:oMath>
                </a14:m>
                <a:r>
                  <a:rPr lang="he-IL" b="1" dirty="0">
                    <a:solidFill>
                      <a:srgbClr val="FF0000"/>
                    </a:solidFill>
                    <a:latin typeface="David" pitchFamily="34" charset="-79"/>
                    <a:cs typeface="David" pitchFamily="34" charset="-79"/>
                  </a:rPr>
                  <a:t> </a:t>
                </a:r>
                <a:endParaRPr lang="he-IL" b="1" dirty="0">
                  <a:latin typeface="David" pitchFamily="34" charset="-79"/>
                  <a:cs typeface="David" pitchFamily="34" charset="-79"/>
                </a:endParaRPr>
              </a:p>
            </p:txBody>
          </p:sp>
        </mc:Choice>
        <mc:Fallback>
          <p:sp>
            <p:nvSpPr>
              <p:cNvPr id="44" name="Rectangle 43">
                <a:extLst>
                  <a:ext uri="{FF2B5EF4-FFF2-40B4-BE49-F238E27FC236}">
                    <a16:creationId xmlns:a16="http://schemas.microsoft.com/office/drawing/2014/main" id="{F4B7FC0E-B7E1-E641-78A4-BD9EDEEB74ED}"/>
                  </a:ext>
                </a:extLst>
              </p:cNvPr>
              <p:cNvSpPr>
                <a:spLocks noRot="1" noChangeAspect="1" noMove="1" noResize="1" noEditPoints="1" noAdjustHandles="1" noChangeArrowheads="1" noChangeShapeType="1" noTextEdit="1"/>
              </p:cNvSpPr>
              <p:nvPr/>
            </p:nvSpPr>
            <p:spPr>
              <a:xfrm>
                <a:off x="5658424" y="4959975"/>
                <a:ext cx="3193757" cy="471026"/>
              </a:xfrm>
              <a:prstGeom prst="rect">
                <a:avLst/>
              </a:prstGeom>
              <a:blipFill>
                <a:blip r:embed="rId9"/>
                <a:stretch>
                  <a:fillRect l="-4580" r="-191" b="-20779"/>
                </a:stretch>
              </a:blipFill>
            </p:spPr>
            <p:txBody>
              <a:bodyPr/>
              <a:lstStyle/>
              <a:p>
                <a:r>
                  <a:rPr lang="en-IL">
                    <a:noFill/>
                  </a:rPr>
                  <a:t> </a:t>
                </a:r>
              </a:p>
            </p:txBody>
          </p:sp>
        </mc:Fallback>
      </mc:AlternateContent>
      <mc:AlternateContent xmlns:mc="http://schemas.openxmlformats.org/markup-compatibility/2006">
        <mc:Choice xmlns:a14="http://schemas.microsoft.com/office/drawing/2010/main" Requires="a14">
          <p:sp>
            <p:nvSpPr>
              <p:cNvPr id="45" name="Rectangle 44">
                <a:extLst>
                  <a:ext uri="{FF2B5EF4-FFF2-40B4-BE49-F238E27FC236}">
                    <a16:creationId xmlns:a16="http://schemas.microsoft.com/office/drawing/2014/main" id="{FF7D12F2-D2A0-7F3E-0093-5BDA21B19A5B}"/>
                  </a:ext>
                </a:extLst>
              </p:cNvPr>
              <p:cNvSpPr/>
              <p:nvPr/>
            </p:nvSpPr>
            <p:spPr>
              <a:xfrm>
                <a:off x="7299481" y="5729299"/>
                <a:ext cx="23756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he-IL" b="1" i="1">
                              <a:solidFill>
                                <a:srgbClr val="7030A0"/>
                              </a:solidFill>
                              <a:latin typeface="Cambria Math" panose="02040503050406030204" pitchFamily="18" charset="0"/>
                              <a:cs typeface="David" pitchFamily="34" charset="-79"/>
                            </a:rPr>
                          </m:ctrlPr>
                        </m:sSubPr>
                        <m:e>
                          <m:r>
                            <a:rPr lang="en-US" b="1" i="1">
                              <a:solidFill>
                                <a:srgbClr val="7030A0"/>
                              </a:solidFill>
                              <a:latin typeface="Cambria Math"/>
                              <a:cs typeface="David" pitchFamily="34" charset="-79"/>
                            </a:rPr>
                            <m:t>𝑷</m:t>
                          </m:r>
                        </m:e>
                        <m:sub>
                          <m:r>
                            <a:rPr lang="en-US" b="1" i="1">
                              <a:solidFill>
                                <a:srgbClr val="7030A0"/>
                              </a:solidFill>
                              <a:latin typeface="Cambria Math"/>
                              <a:cs typeface="David" pitchFamily="34" charset="-79"/>
                            </a:rPr>
                            <m:t>𝑿</m:t>
                          </m:r>
                        </m:sub>
                      </m:sSub>
                      <m:r>
                        <a:rPr lang="en-US" b="1" i="1">
                          <a:solidFill>
                            <a:srgbClr val="7030A0"/>
                          </a:solidFill>
                          <a:latin typeface="Cambria Math"/>
                          <a:cs typeface="David" pitchFamily="34" charset="-79"/>
                        </a:rPr>
                        <m:t>=</m:t>
                      </m:r>
                      <m:r>
                        <a:rPr lang="en-US" b="1" i="1">
                          <a:solidFill>
                            <a:srgbClr val="7030A0"/>
                          </a:solidFill>
                          <a:latin typeface="Cambria Math"/>
                          <a:cs typeface="David" pitchFamily="34" charset="-79"/>
                        </a:rPr>
                        <m:t>𝟕𝟎𝟎</m:t>
                      </m:r>
                      <m:r>
                        <a:rPr lang="en-US" b="1" i="1">
                          <a:solidFill>
                            <a:srgbClr val="7030A0"/>
                          </a:solidFill>
                          <a:latin typeface="Cambria Math"/>
                          <a:cs typeface="David" pitchFamily="34" charset="-79"/>
                        </a:rPr>
                        <m:t>−</m:t>
                      </m:r>
                      <m:r>
                        <a:rPr lang="en-US" b="1" i="1">
                          <a:solidFill>
                            <a:srgbClr val="7030A0"/>
                          </a:solidFill>
                          <a:latin typeface="Cambria Math"/>
                          <a:cs typeface="David" pitchFamily="34" charset="-79"/>
                        </a:rPr>
                        <m:t>𝑿</m:t>
                      </m:r>
                    </m:oMath>
                  </m:oMathPara>
                </a14:m>
                <a:endParaRPr lang="en-IL" dirty="0"/>
              </a:p>
            </p:txBody>
          </p:sp>
        </mc:Choice>
        <mc:Fallback>
          <p:sp>
            <p:nvSpPr>
              <p:cNvPr id="45" name="Rectangle 44">
                <a:extLst>
                  <a:ext uri="{FF2B5EF4-FFF2-40B4-BE49-F238E27FC236}">
                    <a16:creationId xmlns:a16="http://schemas.microsoft.com/office/drawing/2014/main" id="{FF7D12F2-D2A0-7F3E-0093-5BDA21B19A5B}"/>
                  </a:ext>
                </a:extLst>
              </p:cNvPr>
              <p:cNvSpPr>
                <a:spLocks noRot="1" noChangeAspect="1" noMove="1" noResize="1" noEditPoints="1" noAdjustHandles="1" noChangeArrowheads="1" noChangeShapeType="1" noTextEdit="1"/>
              </p:cNvSpPr>
              <p:nvPr/>
            </p:nvSpPr>
            <p:spPr>
              <a:xfrm>
                <a:off x="7299481" y="5729299"/>
                <a:ext cx="237565" cy="369332"/>
              </a:xfrm>
              <a:prstGeom prst="rect">
                <a:avLst/>
              </a:prstGeom>
              <a:blipFill>
                <a:blip r:embed="rId10"/>
                <a:stretch>
                  <a:fillRect r="-571795"/>
                </a:stretch>
              </a:blipFill>
            </p:spPr>
            <p:txBody>
              <a:bodyPr/>
              <a:lstStyle/>
              <a:p>
                <a:r>
                  <a:rPr lang="en-IL">
                    <a:noFill/>
                  </a:rPr>
                  <a:t> </a:t>
                </a:r>
              </a:p>
            </p:txBody>
          </p:sp>
        </mc:Fallback>
      </mc:AlternateContent>
      <p:cxnSp>
        <p:nvCxnSpPr>
          <p:cNvPr id="50" name="Straight Connector 49">
            <a:extLst>
              <a:ext uri="{FF2B5EF4-FFF2-40B4-BE49-F238E27FC236}">
                <a16:creationId xmlns:a16="http://schemas.microsoft.com/office/drawing/2014/main" id="{8354280B-8EBC-2428-7BCB-E65879EDF0DE}"/>
              </a:ext>
            </a:extLst>
          </p:cNvPr>
          <p:cNvCxnSpPr>
            <a:cxnSpLocks/>
          </p:cNvCxnSpPr>
          <p:nvPr/>
        </p:nvCxnSpPr>
        <p:spPr>
          <a:xfrm flipH="1" flipV="1">
            <a:off x="5820780" y="6112737"/>
            <a:ext cx="1760340" cy="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1" name="Rectangle 50">
                <a:extLst>
                  <a:ext uri="{FF2B5EF4-FFF2-40B4-BE49-F238E27FC236}">
                    <a16:creationId xmlns:a16="http://schemas.microsoft.com/office/drawing/2014/main" id="{B2B4FC16-722A-9A79-958E-79959599EE6B}"/>
                  </a:ext>
                </a:extLst>
              </p:cNvPr>
              <p:cNvSpPr/>
              <p:nvPr/>
            </p:nvSpPr>
            <p:spPr>
              <a:xfrm>
                <a:off x="5848775" y="6182515"/>
                <a:ext cx="1040670" cy="369332"/>
              </a:xfrm>
              <a:prstGeom prst="rect">
                <a:avLst/>
              </a:prstGeom>
            </p:spPr>
            <p:txBody>
              <a:bodyPr wrap="none">
                <a:spAutoFit/>
              </a:bodyPr>
              <a:lstStyle/>
              <a:p>
                <a:r>
                  <a:rPr lang="en-US" b="1" dirty="0">
                    <a:cs typeface="David" pitchFamily="34" charset="-79"/>
                  </a:rPr>
                  <a:t>X</a:t>
                </a:r>
                <a14:m>
                  <m:oMath xmlns:m="http://schemas.openxmlformats.org/officeDocument/2006/math">
                    <m:r>
                      <a:rPr lang="en-US" b="1" i="1">
                        <a:latin typeface="Cambria Math"/>
                        <a:cs typeface="David" pitchFamily="34" charset="-79"/>
                      </a:rPr>
                      <m:t>=</m:t>
                    </m:r>
                    <m:r>
                      <a:rPr lang="en-US" b="1" i="1">
                        <a:latin typeface="Cambria Math" panose="02040503050406030204" pitchFamily="18" charset="0"/>
                        <a:cs typeface="David" pitchFamily="34" charset="-79"/>
                      </a:rPr>
                      <m:t>𝟐𝟕𝟓</m:t>
                    </m:r>
                  </m:oMath>
                </a14:m>
                <a:r>
                  <a:rPr lang="he-IL" b="1" dirty="0">
                    <a:latin typeface="David" pitchFamily="34" charset="-79"/>
                    <a:cs typeface="David" pitchFamily="34" charset="-79"/>
                  </a:rPr>
                  <a:t> </a:t>
                </a:r>
                <a:endParaRPr lang="en-IL" dirty="0"/>
              </a:p>
            </p:txBody>
          </p:sp>
        </mc:Choice>
        <mc:Fallback>
          <p:sp>
            <p:nvSpPr>
              <p:cNvPr id="51" name="Rectangle 50">
                <a:extLst>
                  <a:ext uri="{FF2B5EF4-FFF2-40B4-BE49-F238E27FC236}">
                    <a16:creationId xmlns:a16="http://schemas.microsoft.com/office/drawing/2014/main" id="{B2B4FC16-722A-9A79-958E-79959599EE6B}"/>
                  </a:ext>
                </a:extLst>
              </p:cNvPr>
              <p:cNvSpPr>
                <a:spLocks noRot="1" noChangeAspect="1" noMove="1" noResize="1" noEditPoints="1" noAdjustHandles="1" noChangeArrowheads="1" noChangeShapeType="1" noTextEdit="1"/>
              </p:cNvSpPr>
              <p:nvPr/>
            </p:nvSpPr>
            <p:spPr>
              <a:xfrm>
                <a:off x="5848775" y="6182515"/>
                <a:ext cx="1040670" cy="369332"/>
              </a:xfrm>
              <a:prstGeom prst="rect">
                <a:avLst/>
              </a:prstGeom>
              <a:blipFill>
                <a:blip r:embed="rId11"/>
                <a:stretch>
                  <a:fillRect l="-1170" t="-9836" b="-24590"/>
                </a:stretch>
              </a:blipFill>
            </p:spPr>
            <p:txBody>
              <a:bodyPr/>
              <a:lstStyle/>
              <a:p>
                <a:r>
                  <a:rPr lang="en-IL">
                    <a:noFill/>
                  </a:rPr>
                  <a:t> </a:t>
                </a:r>
              </a:p>
            </p:txBody>
          </p:sp>
        </mc:Fallback>
      </mc:AlternateContent>
      <mc:AlternateContent xmlns:mc="http://schemas.openxmlformats.org/markup-compatibility/2006">
        <mc:Choice xmlns:a14="http://schemas.microsoft.com/office/drawing/2010/main" Requires="a14">
          <p:sp>
            <p:nvSpPr>
              <p:cNvPr id="52" name="Rectangle 51">
                <a:extLst>
                  <a:ext uri="{FF2B5EF4-FFF2-40B4-BE49-F238E27FC236}">
                    <a16:creationId xmlns:a16="http://schemas.microsoft.com/office/drawing/2014/main" id="{1F270726-DE7D-9DC4-103A-4B4F8330F55D}"/>
                  </a:ext>
                </a:extLst>
              </p:cNvPr>
              <p:cNvSpPr/>
              <p:nvPr/>
            </p:nvSpPr>
            <p:spPr>
              <a:xfrm>
                <a:off x="6779697" y="6144048"/>
                <a:ext cx="1236172" cy="369332"/>
              </a:xfrm>
              <a:prstGeom prst="rect">
                <a:avLst/>
              </a:prstGeom>
            </p:spPr>
            <p:txBody>
              <a:bodyPr wrap="none">
                <a:spAutoFit/>
              </a:bodyPr>
              <a:lstStyle/>
              <a:p>
                <a14:m>
                  <m:oMath xmlns:m="http://schemas.openxmlformats.org/officeDocument/2006/math">
                    <m:sSub>
                      <m:sSubPr>
                        <m:ctrlPr>
                          <a:rPr lang="he-IL" b="1" i="1">
                            <a:latin typeface="Cambria Math" panose="02040503050406030204" pitchFamily="18" charset="0"/>
                            <a:cs typeface="David" pitchFamily="34" charset="-79"/>
                          </a:rPr>
                        </m:ctrlPr>
                      </m:sSubPr>
                      <m:e>
                        <m:r>
                          <a:rPr lang="en-US" b="1" i="1">
                            <a:latin typeface="Cambria Math"/>
                            <a:cs typeface="David" pitchFamily="34" charset="-79"/>
                          </a:rPr>
                          <m:t>𝑷</m:t>
                        </m:r>
                      </m:e>
                      <m:sub>
                        <m:r>
                          <a:rPr lang="en-US" b="1" i="1">
                            <a:latin typeface="Cambria Math"/>
                            <a:cs typeface="David" pitchFamily="34" charset="-79"/>
                          </a:rPr>
                          <m:t>𝑿</m:t>
                        </m:r>
                      </m:sub>
                    </m:sSub>
                    <m:r>
                      <a:rPr lang="he-IL" i="1">
                        <a:latin typeface="Cambria Math" panose="02040503050406030204" pitchFamily="18" charset="0"/>
                        <a:cs typeface="David" pitchFamily="34" charset="-79"/>
                      </a:rPr>
                      <m:t>=</m:t>
                    </m:r>
                    <m:r>
                      <a:rPr lang="he-IL" b="1" i="1">
                        <a:latin typeface="Cambria Math" panose="02040503050406030204" pitchFamily="18" charset="0"/>
                        <a:cs typeface="David" pitchFamily="34" charset="-79"/>
                      </a:rPr>
                      <m:t>𝟒</m:t>
                    </m:r>
                    <m:r>
                      <a:rPr lang="en-US" b="1" i="1">
                        <a:latin typeface="Cambria Math" panose="02040503050406030204" pitchFamily="18" charset="0"/>
                        <a:cs typeface="David" pitchFamily="34" charset="-79"/>
                      </a:rPr>
                      <m:t>𝟐𝟓</m:t>
                    </m:r>
                  </m:oMath>
                </a14:m>
                <a:r>
                  <a:rPr lang="he-IL" b="1" dirty="0">
                    <a:latin typeface="David" pitchFamily="34" charset="-79"/>
                    <a:cs typeface="David" pitchFamily="34" charset="-79"/>
                  </a:rPr>
                  <a:t> </a:t>
                </a:r>
                <a:endParaRPr lang="en-IL" b="1" dirty="0"/>
              </a:p>
            </p:txBody>
          </p:sp>
        </mc:Choice>
        <mc:Fallback>
          <p:sp>
            <p:nvSpPr>
              <p:cNvPr id="52" name="Rectangle 51">
                <a:extLst>
                  <a:ext uri="{FF2B5EF4-FFF2-40B4-BE49-F238E27FC236}">
                    <a16:creationId xmlns:a16="http://schemas.microsoft.com/office/drawing/2014/main" id="{1F270726-DE7D-9DC4-103A-4B4F8330F55D}"/>
                  </a:ext>
                </a:extLst>
              </p:cNvPr>
              <p:cNvSpPr>
                <a:spLocks noRot="1" noChangeAspect="1" noMove="1" noResize="1" noEditPoints="1" noAdjustHandles="1" noChangeArrowheads="1" noChangeShapeType="1" noTextEdit="1"/>
              </p:cNvSpPr>
              <p:nvPr/>
            </p:nvSpPr>
            <p:spPr>
              <a:xfrm>
                <a:off x="6779697" y="6144048"/>
                <a:ext cx="1236172" cy="369332"/>
              </a:xfrm>
              <a:prstGeom prst="rect">
                <a:avLst/>
              </a:prstGeom>
              <a:blipFill>
                <a:blip r:embed="rId12"/>
                <a:stretch>
                  <a:fillRect l="-2463" t="-10000" r="-493" b="-26667"/>
                </a:stretch>
              </a:blipFill>
            </p:spPr>
            <p:txBody>
              <a:bodyPr/>
              <a:lstStyle/>
              <a:p>
                <a:r>
                  <a:rPr lang="en-IL">
                    <a:noFill/>
                  </a:rPr>
                  <a:t> </a:t>
                </a:r>
              </a:p>
            </p:txBody>
          </p:sp>
        </mc:Fallback>
      </mc:AlternateContent>
      <mc:AlternateContent xmlns:mc="http://schemas.openxmlformats.org/markup-compatibility/2006">
        <mc:Choice xmlns:a14="http://schemas.microsoft.com/office/drawing/2010/main" Requires="a14">
          <p:sp>
            <p:nvSpPr>
              <p:cNvPr id="54" name="Rectangle 53">
                <a:extLst>
                  <a:ext uri="{FF2B5EF4-FFF2-40B4-BE49-F238E27FC236}">
                    <a16:creationId xmlns:a16="http://schemas.microsoft.com/office/drawing/2014/main" id="{2298463C-2E67-3FEE-9BBF-CF77CA26FAA9}"/>
                  </a:ext>
                </a:extLst>
              </p:cNvPr>
              <p:cNvSpPr/>
              <p:nvPr/>
            </p:nvSpPr>
            <p:spPr>
              <a:xfrm>
                <a:off x="5710536" y="5298097"/>
                <a:ext cx="1890333" cy="507831"/>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he-IL" b="1" i="1">
                              <a:solidFill>
                                <a:srgbClr val="FF0000"/>
                              </a:solidFill>
                              <a:latin typeface="Cambria Math" panose="02040503050406030204" pitchFamily="18" charset="0"/>
                              <a:cs typeface="David" pitchFamily="34" charset="-79"/>
                            </a:rPr>
                          </m:ctrlPr>
                        </m:sSubPr>
                        <m:e>
                          <m:r>
                            <a:rPr lang="en-US" b="1" i="1">
                              <a:solidFill>
                                <a:schemeClr val="bg2">
                                  <a:lumMod val="50000"/>
                                </a:schemeClr>
                              </a:solidFill>
                              <a:latin typeface="Cambria Math"/>
                              <a:cs typeface="David" pitchFamily="34" charset="-79"/>
                            </a:rPr>
                            <m:t>𝑷</m:t>
                          </m:r>
                        </m:e>
                        <m:sub>
                          <m:r>
                            <a:rPr lang="en-US" b="1" i="1">
                              <a:solidFill>
                                <a:schemeClr val="bg2">
                                  <a:lumMod val="50000"/>
                                </a:schemeClr>
                              </a:solidFill>
                              <a:latin typeface="Cambria Math"/>
                              <a:cs typeface="David" pitchFamily="34" charset="-79"/>
                            </a:rPr>
                            <m:t>𝑿</m:t>
                          </m:r>
                          <m:r>
                            <a:rPr lang="en-US" b="1" i="1">
                              <a:solidFill>
                                <a:srgbClr val="FF0000"/>
                              </a:solidFill>
                              <a:latin typeface="Cambria Math" panose="02040503050406030204" pitchFamily="18" charset="0"/>
                              <a:cs typeface="David" pitchFamily="34" charset="-79"/>
                            </a:rPr>
                            <m:t>𝟏</m:t>
                          </m:r>
                        </m:sub>
                      </m:sSub>
                      <m:r>
                        <a:rPr lang="en-US" b="1" i="1">
                          <a:solidFill>
                            <a:schemeClr val="bg2">
                              <a:lumMod val="50000"/>
                            </a:schemeClr>
                          </a:solidFill>
                          <a:latin typeface="Cambria Math"/>
                          <a:cs typeface="David" pitchFamily="34" charset="-79"/>
                        </a:rPr>
                        <m:t>=</m:t>
                      </m:r>
                      <m:r>
                        <a:rPr lang="en-US" b="1" i="1">
                          <a:solidFill>
                            <a:srgbClr val="FF0000"/>
                          </a:solidFill>
                          <a:latin typeface="Cambria Math" panose="02040503050406030204" pitchFamily="18" charset="0"/>
                          <a:cs typeface="David" pitchFamily="34" charset="-79"/>
                        </a:rPr>
                        <m:t>𝟏𝟓𝟎</m:t>
                      </m:r>
                      <m:r>
                        <a:rPr lang="en-US" b="1" i="1">
                          <a:solidFill>
                            <a:schemeClr val="bg2">
                              <a:lumMod val="75000"/>
                            </a:schemeClr>
                          </a:solidFill>
                          <a:latin typeface="Cambria Math" panose="02040503050406030204" pitchFamily="18" charset="0"/>
                          <a:cs typeface="David" pitchFamily="34" charset="-79"/>
                        </a:rPr>
                        <m:t>+</m:t>
                      </m:r>
                      <m:r>
                        <a:rPr lang="en-US" b="1" i="1">
                          <a:solidFill>
                            <a:schemeClr val="bg2">
                              <a:lumMod val="50000"/>
                            </a:schemeClr>
                          </a:solidFill>
                          <a:latin typeface="Cambria Math" panose="02040503050406030204" pitchFamily="18" charset="0"/>
                          <a:cs typeface="David" pitchFamily="34" charset="-79"/>
                        </a:rPr>
                        <m:t>𝑿</m:t>
                      </m:r>
                    </m:oMath>
                  </m:oMathPara>
                </a14:m>
                <a:endParaRPr lang="he-IL" b="1" dirty="0">
                  <a:latin typeface="David" pitchFamily="34" charset="-79"/>
                  <a:cs typeface="David" pitchFamily="34" charset="-79"/>
                </a:endParaRPr>
              </a:p>
            </p:txBody>
          </p:sp>
        </mc:Choice>
        <mc:Fallback>
          <p:sp>
            <p:nvSpPr>
              <p:cNvPr id="54" name="Rectangle 53">
                <a:extLst>
                  <a:ext uri="{FF2B5EF4-FFF2-40B4-BE49-F238E27FC236}">
                    <a16:creationId xmlns:a16="http://schemas.microsoft.com/office/drawing/2014/main" id="{2298463C-2E67-3FEE-9BBF-CF77CA26FAA9}"/>
                  </a:ext>
                </a:extLst>
              </p:cNvPr>
              <p:cNvSpPr>
                <a:spLocks noRot="1" noChangeAspect="1" noMove="1" noResize="1" noEditPoints="1" noAdjustHandles="1" noChangeArrowheads="1" noChangeShapeType="1" noTextEdit="1"/>
              </p:cNvSpPr>
              <p:nvPr/>
            </p:nvSpPr>
            <p:spPr>
              <a:xfrm>
                <a:off x="5710536" y="5298097"/>
                <a:ext cx="1890333" cy="507831"/>
              </a:xfrm>
              <a:prstGeom prst="rect">
                <a:avLst/>
              </a:prstGeom>
              <a:blipFill>
                <a:blip r:embed="rId13"/>
                <a:stretch>
                  <a:fillRect r="-323" b="-12048"/>
                </a:stretch>
              </a:blipFill>
            </p:spPr>
            <p:txBody>
              <a:bodyPr/>
              <a:lstStyle/>
              <a:p>
                <a:r>
                  <a:rPr lang="en-IL">
                    <a:noFill/>
                  </a:rPr>
                  <a:t> </a:t>
                </a:r>
              </a:p>
            </p:txBody>
          </p:sp>
        </mc:Fallback>
      </mc:AlternateContent>
      <p:sp>
        <p:nvSpPr>
          <p:cNvPr id="9" name="Left Brace 8">
            <a:extLst>
              <a:ext uri="{FF2B5EF4-FFF2-40B4-BE49-F238E27FC236}">
                <a16:creationId xmlns:a16="http://schemas.microsoft.com/office/drawing/2014/main" id="{205341F8-84F6-17FF-9499-BDEDB517EC94}"/>
              </a:ext>
            </a:extLst>
          </p:cNvPr>
          <p:cNvSpPr/>
          <p:nvPr/>
        </p:nvSpPr>
        <p:spPr>
          <a:xfrm>
            <a:off x="5670926" y="5496656"/>
            <a:ext cx="208242" cy="57066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L"/>
          </a:p>
        </p:txBody>
      </p:sp>
      <p:cxnSp>
        <p:nvCxnSpPr>
          <p:cNvPr id="55" name="מחבר ישר 15">
            <a:extLst>
              <a:ext uri="{FF2B5EF4-FFF2-40B4-BE49-F238E27FC236}">
                <a16:creationId xmlns:a16="http://schemas.microsoft.com/office/drawing/2014/main" id="{1A3A06FD-F2D3-5DE6-9DFE-C10CD9DC1317}"/>
              </a:ext>
            </a:extLst>
          </p:cNvPr>
          <p:cNvCxnSpPr>
            <a:cxnSpLocks/>
          </p:cNvCxnSpPr>
          <p:nvPr/>
        </p:nvCxnSpPr>
        <p:spPr>
          <a:xfrm flipV="1">
            <a:off x="2205779" y="1290197"/>
            <a:ext cx="2845993" cy="216813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D23D2412-F410-3EC7-1823-BC36320C91C2}"/>
              </a:ext>
            </a:extLst>
          </p:cNvPr>
          <p:cNvSpPr txBox="1"/>
          <p:nvPr/>
        </p:nvSpPr>
        <p:spPr>
          <a:xfrm>
            <a:off x="4924934" y="953262"/>
            <a:ext cx="369012" cy="369332"/>
          </a:xfrm>
          <a:prstGeom prst="rect">
            <a:avLst/>
          </a:prstGeom>
          <a:noFill/>
          <a:ln>
            <a:noFill/>
          </a:ln>
        </p:spPr>
        <p:txBody>
          <a:bodyPr wrap="none" rtlCol="1">
            <a:spAutoFit/>
          </a:bodyPr>
          <a:lstStyle/>
          <a:p>
            <a:r>
              <a:rPr lang="en-US" dirty="0">
                <a:solidFill>
                  <a:srgbClr val="C00000"/>
                </a:solidFill>
              </a:rPr>
              <a:t>S</a:t>
            </a:r>
            <a:r>
              <a:rPr lang="en-US" baseline="-25000" dirty="0">
                <a:solidFill>
                  <a:srgbClr val="C00000"/>
                </a:solidFill>
              </a:rPr>
              <a:t>1</a:t>
            </a:r>
            <a:endParaRPr lang="he-IL" baseline="-25000" dirty="0">
              <a:solidFill>
                <a:srgbClr val="C00000"/>
              </a:solidFill>
            </a:endParaRPr>
          </a:p>
        </p:txBody>
      </p:sp>
      <p:cxnSp>
        <p:nvCxnSpPr>
          <p:cNvPr id="11" name="Straight Arrow Connector 10">
            <a:extLst>
              <a:ext uri="{FF2B5EF4-FFF2-40B4-BE49-F238E27FC236}">
                <a16:creationId xmlns:a16="http://schemas.microsoft.com/office/drawing/2014/main" id="{265F29DD-C23F-025A-8946-ECCAC6C0085E}"/>
              </a:ext>
            </a:extLst>
          </p:cNvPr>
          <p:cNvCxnSpPr>
            <a:cxnSpLocks/>
          </p:cNvCxnSpPr>
          <p:nvPr/>
        </p:nvCxnSpPr>
        <p:spPr>
          <a:xfrm flipH="1" flipV="1">
            <a:off x="2742869" y="3135086"/>
            <a:ext cx="94332" cy="309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6D96DD00-D845-A3CE-3C3F-ABA32F8D2915}"/>
              </a:ext>
            </a:extLst>
          </p:cNvPr>
          <p:cNvCxnSpPr>
            <a:cxnSpLocks/>
          </p:cNvCxnSpPr>
          <p:nvPr/>
        </p:nvCxnSpPr>
        <p:spPr>
          <a:xfrm flipH="1" flipV="1">
            <a:off x="4433004" y="1821038"/>
            <a:ext cx="80460" cy="2442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5DC4B7E-F2CC-28B2-6B21-3AA3D4503D36}"/>
              </a:ext>
            </a:extLst>
          </p:cNvPr>
          <p:cNvSpPr/>
          <p:nvPr/>
        </p:nvSpPr>
        <p:spPr>
          <a:xfrm>
            <a:off x="3224820" y="2417015"/>
            <a:ext cx="296420" cy="25119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endParaRPr lang="en-IL" dirty="0"/>
          </a:p>
        </p:txBody>
      </p:sp>
      <p:sp>
        <p:nvSpPr>
          <p:cNvPr id="58" name="Oval 57">
            <a:extLst>
              <a:ext uri="{FF2B5EF4-FFF2-40B4-BE49-F238E27FC236}">
                <a16:creationId xmlns:a16="http://schemas.microsoft.com/office/drawing/2014/main" id="{361A49B6-3C2C-FBB8-A488-8403958C2C12}"/>
              </a:ext>
            </a:extLst>
          </p:cNvPr>
          <p:cNvSpPr/>
          <p:nvPr/>
        </p:nvSpPr>
        <p:spPr>
          <a:xfrm>
            <a:off x="3521241" y="2710509"/>
            <a:ext cx="287301" cy="27696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A</a:t>
            </a:r>
            <a:endParaRPr lang="en-IL" dirty="0"/>
          </a:p>
        </p:txBody>
      </p:sp>
      <p:cxnSp>
        <p:nvCxnSpPr>
          <p:cNvPr id="59" name="Straight Connector 58">
            <a:extLst>
              <a:ext uri="{FF2B5EF4-FFF2-40B4-BE49-F238E27FC236}">
                <a16:creationId xmlns:a16="http://schemas.microsoft.com/office/drawing/2014/main" id="{BEFC4C27-503F-3D54-2DA7-9134D47AD800}"/>
              </a:ext>
            </a:extLst>
          </p:cNvPr>
          <p:cNvCxnSpPr>
            <a:cxnSpLocks/>
          </p:cNvCxnSpPr>
          <p:nvPr/>
        </p:nvCxnSpPr>
        <p:spPr>
          <a:xfrm flipH="1">
            <a:off x="2229257" y="2590800"/>
            <a:ext cx="1027224" cy="0"/>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0" name="Straight Connector 59">
            <a:extLst>
              <a:ext uri="{FF2B5EF4-FFF2-40B4-BE49-F238E27FC236}">
                <a16:creationId xmlns:a16="http://schemas.microsoft.com/office/drawing/2014/main" id="{9409C557-A198-BDC1-D854-D13F587147CC}"/>
              </a:ext>
            </a:extLst>
          </p:cNvPr>
          <p:cNvCxnSpPr>
            <a:cxnSpLocks/>
          </p:cNvCxnSpPr>
          <p:nvPr/>
        </p:nvCxnSpPr>
        <p:spPr>
          <a:xfrm flipH="1">
            <a:off x="3353654" y="2595967"/>
            <a:ext cx="2099" cy="1598067"/>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mc:Choice xmlns:a14="http://schemas.microsoft.com/office/drawing/2010/main" Requires="a14">
          <p:sp>
            <p:nvSpPr>
              <p:cNvPr id="61" name="Rectangle 60">
                <a:extLst>
                  <a:ext uri="{FF2B5EF4-FFF2-40B4-BE49-F238E27FC236}">
                    <a16:creationId xmlns:a16="http://schemas.microsoft.com/office/drawing/2014/main" id="{FB60A1E6-82AF-5542-17E5-FF98EDB01FAF}"/>
                  </a:ext>
                </a:extLst>
              </p:cNvPr>
              <p:cNvSpPr/>
              <p:nvPr/>
            </p:nvSpPr>
            <p:spPr>
              <a:xfrm>
                <a:off x="3255113" y="4253677"/>
                <a:ext cx="23756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he-IL" b="1" i="1">
                          <a:solidFill>
                            <a:srgbClr val="C00000"/>
                          </a:solidFill>
                          <a:latin typeface="Cambria Math" panose="02040503050406030204" pitchFamily="18" charset="0"/>
                          <a:cs typeface="David" pitchFamily="34" charset="-79"/>
                        </a:rPr>
                        <m:t>𝟐𝟕𝟓</m:t>
                      </m:r>
                    </m:oMath>
                  </m:oMathPara>
                </a14:m>
                <a:endParaRPr lang="en-IL" dirty="0">
                  <a:solidFill>
                    <a:srgbClr val="C00000"/>
                  </a:solidFill>
                </a:endParaRPr>
              </a:p>
            </p:txBody>
          </p:sp>
        </mc:Choice>
        <mc:Fallback>
          <p:sp>
            <p:nvSpPr>
              <p:cNvPr id="61" name="Rectangle 60">
                <a:extLst>
                  <a:ext uri="{FF2B5EF4-FFF2-40B4-BE49-F238E27FC236}">
                    <a16:creationId xmlns:a16="http://schemas.microsoft.com/office/drawing/2014/main" id="{FB60A1E6-82AF-5542-17E5-FF98EDB01FAF}"/>
                  </a:ext>
                </a:extLst>
              </p:cNvPr>
              <p:cNvSpPr>
                <a:spLocks noRot="1" noChangeAspect="1" noMove="1" noResize="1" noEditPoints="1" noAdjustHandles="1" noChangeArrowheads="1" noChangeShapeType="1" noTextEdit="1"/>
              </p:cNvSpPr>
              <p:nvPr/>
            </p:nvSpPr>
            <p:spPr>
              <a:xfrm>
                <a:off x="3255113" y="4253677"/>
                <a:ext cx="237565" cy="369332"/>
              </a:xfrm>
              <a:prstGeom prst="rect">
                <a:avLst/>
              </a:prstGeom>
              <a:blipFill>
                <a:blip r:embed="rId14"/>
                <a:stretch>
                  <a:fillRect r="-148718"/>
                </a:stretch>
              </a:blipFill>
            </p:spPr>
            <p:txBody>
              <a:bodyPr/>
              <a:lstStyle/>
              <a:p>
                <a:r>
                  <a:rPr lang="en-IL">
                    <a:noFill/>
                  </a:rPr>
                  <a:t> </a:t>
                </a:r>
              </a:p>
            </p:txBody>
          </p:sp>
        </mc:Fallback>
      </mc:AlternateContent>
      <mc:AlternateContent xmlns:mc="http://schemas.openxmlformats.org/markup-compatibility/2006">
        <mc:Choice xmlns:a14="http://schemas.microsoft.com/office/drawing/2010/main" Requires="a14">
          <p:sp>
            <p:nvSpPr>
              <p:cNvPr id="62" name="Rectangle 61">
                <a:extLst>
                  <a:ext uri="{FF2B5EF4-FFF2-40B4-BE49-F238E27FC236}">
                    <a16:creationId xmlns:a16="http://schemas.microsoft.com/office/drawing/2014/main" id="{7B454C3E-3C7B-F38F-C182-F2834663C080}"/>
                  </a:ext>
                </a:extLst>
              </p:cNvPr>
              <p:cNvSpPr/>
              <p:nvPr/>
            </p:nvSpPr>
            <p:spPr>
              <a:xfrm>
                <a:off x="2018887" y="2380554"/>
                <a:ext cx="231154"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he-IL" sz="1600" b="1" i="1">
                          <a:solidFill>
                            <a:srgbClr val="C00000"/>
                          </a:solidFill>
                          <a:latin typeface="Cambria Math" panose="02040503050406030204" pitchFamily="18" charset="0"/>
                          <a:cs typeface="David" pitchFamily="34" charset="-79"/>
                        </a:rPr>
                        <m:t>𝟒𝟐𝟓</m:t>
                      </m:r>
                    </m:oMath>
                  </m:oMathPara>
                </a14:m>
                <a:endParaRPr lang="en-IL" sz="1600" dirty="0">
                  <a:solidFill>
                    <a:srgbClr val="C00000"/>
                  </a:solidFill>
                </a:endParaRPr>
              </a:p>
            </p:txBody>
          </p:sp>
        </mc:Choice>
        <mc:Fallback>
          <p:sp>
            <p:nvSpPr>
              <p:cNvPr id="62" name="Rectangle 61">
                <a:extLst>
                  <a:ext uri="{FF2B5EF4-FFF2-40B4-BE49-F238E27FC236}">
                    <a16:creationId xmlns:a16="http://schemas.microsoft.com/office/drawing/2014/main" id="{7B454C3E-3C7B-F38F-C182-F2834663C080}"/>
                  </a:ext>
                </a:extLst>
              </p:cNvPr>
              <p:cNvSpPr>
                <a:spLocks noRot="1" noChangeAspect="1" noMove="1" noResize="1" noEditPoints="1" noAdjustHandles="1" noChangeArrowheads="1" noChangeShapeType="1" noTextEdit="1"/>
              </p:cNvSpPr>
              <p:nvPr/>
            </p:nvSpPr>
            <p:spPr>
              <a:xfrm>
                <a:off x="2018887" y="2380554"/>
                <a:ext cx="231154" cy="338554"/>
              </a:xfrm>
              <a:prstGeom prst="rect">
                <a:avLst/>
              </a:prstGeom>
              <a:blipFill>
                <a:blip r:embed="rId15"/>
                <a:stretch>
                  <a:fillRect r="-128947"/>
                </a:stretch>
              </a:blipFill>
            </p:spPr>
            <p:txBody>
              <a:bodyPr/>
              <a:lstStyle/>
              <a:p>
                <a:r>
                  <a:rPr lang="en-IL">
                    <a:noFill/>
                  </a:rPr>
                  <a:t> </a:t>
                </a:r>
              </a:p>
            </p:txBody>
          </p:sp>
        </mc:Fallback>
      </mc:AlternateContent>
      <mc:AlternateContent xmlns:mc="http://schemas.openxmlformats.org/markup-compatibility/2006">
        <mc:Choice xmlns:a14="http://schemas.microsoft.com/office/drawing/2010/main" Requires="a14">
          <p:sp>
            <p:nvSpPr>
              <p:cNvPr id="64" name="Rectangle 63">
                <a:extLst>
                  <a:ext uri="{FF2B5EF4-FFF2-40B4-BE49-F238E27FC236}">
                    <a16:creationId xmlns:a16="http://schemas.microsoft.com/office/drawing/2014/main" id="{92E8F768-15BB-FAA0-D94E-9722CA26E7F3}"/>
                  </a:ext>
                </a:extLst>
              </p:cNvPr>
              <p:cNvSpPr/>
              <p:nvPr/>
            </p:nvSpPr>
            <p:spPr>
              <a:xfrm>
                <a:off x="2004331" y="3311948"/>
                <a:ext cx="23756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1" i="1">
                          <a:solidFill>
                            <a:srgbClr val="FF0000"/>
                          </a:solidFill>
                          <a:latin typeface="Cambria Math" panose="02040503050406030204" pitchFamily="18" charset="0"/>
                          <a:cs typeface="David" pitchFamily="34" charset="-79"/>
                        </a:rPr>
                        <m:t>𝟏𝟓𝟎</m:t>
                      </m:r>
                    </m:oMath>
                  </m:oMathPara>
                </a14:m>
                <a:endParaRPr lang="en-IL" dirty="0"/>
              </a:p>
            </p:txBody>
          </p:sp>
        </mc:Choice>
        <mc:Fallback>
          <p:sp>
            <p:nvSpPr>
              <p:cNvPr id="64" name="Rectangle 63">
                <a:extLst>
                  <a:ext uri="{FF2B5EF4-FFF2-40B4-BE49-F238E27FC236}">
                    <a16:creationId xmlns:a16="http://schemas.microsoft.com/office/drawing/2014/main" id="{92E8F768-15BB-FAA0-D94E-9722CA26E7F3}"/>
                  </a:ext>
                </a:extLst>
              </p:cNvPr>
              <p:cNvSpPr>
                <a:spLocks noRot="1" noChangeAspect="1" noMove="1" noResize="1" noEditPoints="1" noAdjustHandles="1" noChangeArrowheads="1" noChangeShapeType="1" noTextEdit="1"/>
              </p:cNvSpPr>
              <p:nvPr/>
            </p:nvSpPr>
            <p:spPr>
              <a:xfrm>
                <a:off x="2004331" y="3311948"/>
                <a:ext cx="237565" cy="369332"/>
              </a:xfrm>
              <a:prstGeom prst="rect">
                <a:avLst/>
              </a:prstGeom>
              <a:blipFill>
                <a:blip r:embed="rId16"/>
                <a:stretch>
                  <a:fillRect r="-148718"/>
                </a:stretch>
              </a:blipFill>
            </p:spPr>
            <p:txBody>
              <a:bodyPr/>
              <a:lstStyle/>
              <a:p>
                <a:r>
                  <a:rPr lang="en-IL">
                    <a:noFill/>
                  </a:rPr>
                  <a:t> </a:t>
                </a:r>
              </a:p>
            </p:txBody>
          </p:sp>
        </mc:Fallback>
      </mc:AlternateContent>
      <p:sp>
        <p:nvSpPr>
          <p:cNvPr id="65" name="Rectangle 64">
            <a:extLst>
              <a:ext uri="{FF2B5EF4-FFF2-40B4-BE49-F238E27FC236}">
                <a16:creationId xmlns:a16="http://schemas.microsoft.com/office/drawing/2014/main" id="{0DDBF392-0C49-FFE2-25E5-304862EE624D}"/>
              </a:ext>
            </a:extLst>
          </p:cNvPr>
          <p:cNvSpPr/>
          <p:nvPr/>
        </p:nvSpPr>
        <p:spPr>
          <a:xfrm>
            <a:off x="1577722" y="4960993"/>
            <a:ext cx="3887037" cy="800219"/>
          </a:xfrm>
          <a:prstGeom prst="rect">
            <a:avLst/>
          </a:prstGeom>
          <a:solidFill>
            <a:schemeClr val="accent3">
              <a:lumMod val="20000"/>
              <a:lumOff val="80000"/>
            </a:schemeClr>
          </a:solidFill>
        </p:spPr>
        <p:txBody>
          <a:bodyPr wrap="square">
            <a:spAutoFit/>
          </a:bodyPr>
          <a:lstStyle/>
          <a:p>
            <a:pPr algn="r" rtl="1">
              <a:lnSpc>
                <a:spcPct val="150000"/>
              </a:lnSpc>
              <a:buClrTx/>
            </a:pPr>
            <a:r>
              <a:rPr lang="he-IL" sz="1600" dirty="0">
                <a:latin typeface="David" pitchFamily="34" charset="-79"/>
                <a:cs typeface="David" pitchFamily="34" charset="-79"/>
              </a:rPr>
              <a:t>המחיר עולה ב25 ש''ח, </a:t>
            </a:r>
            <a:br>
              <a:rPr lang="en-US" sz="1600" dirty="0">
                <a:latin typeface="David" pitchFamily="34" charset="-79"/>
                <a:cs typeface="David" pitchFamily="34" charset="-79"/>
              </a:rPr>
            </a:br>
            <a:r>
              <a:rPr lang="he-IL" sz="1600" dirty="0">
                <a:latin typeface="David" pitchFamily="34" charset="-79"/>
                <a:cs typeface="David" pitchFamily="34" charset="-79"/>
              </a:rPr>
              <a:t>הכמות המיוצרת והנמכרת יורדת ב25 יחידות. </a:t>
            </a:r>
          </a:p>
        </p:txBody>
      </p:sp>
      <p:sp>
        <p:nvSpPr>
          <p:cNvPr id="66" name="Rectangle 65">
            <a:extLst>
              <a:ext uri="{FF2B5EF4-FFF2-40B4-BE49-F238E27FC236}">
                <a16:creationId xmlns:a16="http://schemas.microsoft.com/office/drawing/2014/main" id="{42E255A3-B514-DDBA-CB66-3EBA3C00856B}"/>
              </a:ext>
            </a:extLst>
          </p:cNvPr>
          <p:cNvSpPr/>
          <p:nvPr/>
        </p:nvSpPr>
        <p:spPr>
          <a:xfrm>
            <a:off x="1723261" y="5822889"/>
            <a:ext cx="3788549" cy="800219"/>
          </a:xfrm>
          <a:prstGeom prst="rect">
            <a:avLst/>
          </a:prstGeom>
          <a:solidFill>
            <a:schemeClr val="accent3">
              <a:lumMod val="20000"/>
              <a:lumOff val="80000"/>
            </a:schemeClr>
          </a:solidFill>
        </p:spPr>
        <p:txBody>
          <a:bodyPr wrap="square">
            <a:spAutoFit/>
          </a:bodyPr>
          <a:lstStyle/>
          <a:p>
            <a:pPr algn="r" rtl="1">
              <a:lnSpc>
                <a:spcPct val="150000"/>
              </a:lnSpc>
              <a:buClrTx/>
            </a:pPr>
            <a:r>
              <a:rPr lang="he-IL" sz="1600" dirty="0">
                <a:latin typeface="David" pitchFamily="34" charset="-79"/>
                <a:cs typeface="David" pitchFamily="34" charset="-79"/>
              </a:rPr>
              <a:t>ההוצאה של הצרכנים יורדת מ300*400=120,000</a:t>
            </a:r>
            <a:r>
              <a:rPr lang="en-US" sz="1600" dirty="0">
                <a:latin typeface="David" pitchFamily="34" charset="-79"/>
                <a:cs typeface="David" pitchFamily="34" charset="-79"/>
              </a:rPr>
              <a:t> </a:t>
            </a:r>
            <a:br>
              <a:rPr lang="en-US" sz="1600" dirty="0">
                <a:latin typeface="David" pitchFamily="34" charset="-79"/>
                <a:cs typeface="David" pitchFamily="34" charset="-79"/>
              </a:rPr>
            </a:br>
            <a:r>
              <a:rPr lang="he-IL" sz="1600" dirty="0">
                <a:latin typeface="David" pitchFamily="34" charset="-79"/>
                <a:cs typeface="David" pitchFamily="34" charset="-79"/>
              </a:rPr>
              <a:t>ל- 275*425=116,875. </a:t>
            </a:r>
          </a:p>
        </p:txBody>
      </p:sp>
      <p:sp>
        <p:nvSpPr>
          <p:cNvPr id="10" name="Rectangle 9">
            <a:extLst>
              <a:ext uri="{FF2B5EF4-FFF2-40B4-BE49-F238E27FC236}">
                <a16:creationId xmlns:a16="http://schemas.microsoft.com/office/drawing/2014/main" id="{8FD938BF-171E-0726-1FCE-6FCC7E59F19E}"/>
              </a:ext>
            </a:extLst>
          </p:cNvPr>
          <p:cNvSpPr/>
          <p:nvPr/>
        </p:nvSpPr>
        <p:spPr>
          <a:xfrm>
            <a:off x="2381298" y="6272267"/>
            <a:ext cx="1236236" cy="369332"/>
          </a:xfrm>
          <a:prstGeom prst="rect">
            <a:avLst/>
          </a:prstGeom>
          <a:solidFill>
            <a:schemeClr val="bg1">
              <a:lumMod val="50000"/>
            </a:schemeClr>
          </a:solidFill>
        </p:spPr>
        <p:txBody>
          <a:bodyPr wrap="none">
            <a:spAutoFit/>
          </a:bodyPr>
          <a:lstStyle/>
          <a:p>
            <a:r>
              <a:rPr lang="he-IL" b="1" dirty="0">
                <a:solidFill>
                  <a:schemeClr val="bg1"/>
                </a:solidFill>
                <a:latin typeface="David" pitchFamily="34" charset="-79"/>
                <a:cs typeface="David" pitchFamily="34" charset="-79"/>
              </a:rPr>
              <a:t>ביקוש גמיש</a:t>
            </a:r>
            <a:endParaRPr lang="en-IL" b="1" dirty="0">
              <a:solidFill>
                <a:schemeClr val="bg1"/>
              </a:solidFill>
            </a:endParaRPr>
          </a:p>
        </p:txBody>
      </p:sp>
      <p:sp>
        <p:nvSpPr>
          <p:cNvPr id="2" name="Rectangle 1">
            <a:extLst>
              <a:ext uri="{FF2B5EF4-FFF2-40B4-BE49-F238E27FC236}">
                <a16:creationId xmlns:a16="http://schemas.microsoft.com/office/drawing/2014/main" id="{B9E8731E-CD6E-9D77-E2D6-8AABF02D4769}"/>
              </a:ext>
            </a:extLst>
          </p:cNvPr>
          <p:cNvSpPr/>
          <p:nvPr/>
        </p:nvSpPr>
        <p:spPr>
          <a:xfrm>
            <a:off x="7128424" y="3922677"/>
            <a:ext cx="4792131" cy="34752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30674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arn(inVertical)">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fade">
                                      <p:cBhvr>
                                        <p:cTn id="17" dur="500"/>
                                        <p:tgtEl>
                                          <p:spTgt spid="5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57"/>
                                        </p:tgtEl>
                                        <p:attrNameLst>
                                          <p:attrName>style.visibility</p:attrName>
                                        </p:attrNameLst>
                                      </p:cBhvr>
                                      <p:to>
                                        <p:strVal val="visible"/>
                                      </p:to>
                                    </p:set>
                                    <p:animEffect transition="in" filter="barn(inVertical)">
                                      <p:cBhvr>
                                        <p:cTn id="22" dur="500"/>
                                        <p:tgtEl>
                                          <p:spTgt spid="57"/>
                                        </p:tgtEl>
                                      </p:cBhvr>
                                    </p:animEffect>
                                  </p:childTnLst>
                                </p:cTn>
                              </p:par>
                              <p:par>
                                <p:cTn id="23" presetID="16" presetClass="entr" presetSubtype="21"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arn(inVertical)">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64"/>
                                        </p:tgtEl>
                                        <p:attrNameLst>
                                          <p:attrName>style.visibility</p:attrName>
                                        </p:attrNameLst>
                                      </p:cBhvr>
                                      <p:to>
                                        <p:strVal val="visible"/>
                                      </p:to>
                                    </p:set>
                                    <p:animEffect transition="in" filter="fade">
                                      <p:cBhvr>
                                        <p:cTn id="30" dur="1000"/>
                                        <p:tgtEl>
                                          <p:spTgt spid="64"/>
                                        </p:tgtEl>
                                      </p:cBhvr>
                                    </p:animEffect>
                                    <p:anim calcmode="lin" valueType="num">
                                      <p:cBhvr>
                                        <p:cTn id="31" dur="1000" fill="hold"/>
                                        <p:tgtEl>
                                          <p:spTgt spid="64"/>
                                        </p:tgtEl>
                                        <p:attrNameLst>
                                          <p:attrName>ppt_x</p:attrName>
                                        </p:attrNameLst>
                                      </p:cBhvr>
                                      <p:tavLst>
                                        <p:tav tm="0">
                                          <p:val>
                                            <p:strVal val="#ppt_x"/>
                                          </p:val>
                                        </p:tav>
                                        <p:tav tm="100000">
                                          <p:val>
                                            <p:strVal val="#ppt_x"/>
                                          </p:val>
                                        </p:tav>
                                      </p:tavLst>
                                    </p:anim>
                                    <p:anim calcmode="lin" valueType="num">
                                      <p:cBhvr>
                                        <p:cTn id="32" dur="1000" fill="hold"/>
                                        <p:tgtEl>
                                          <p:spTgt spid="64"/>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barn(inVertical)">
                                      <p:cBhvr>
                                        <p:cTn id="37" dur="500"/>
                                        <p:tgtEl>
                                          <p:spTgt spid="55"/>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56"/>
                                        </p:tgtEl>
                                        <p:attrNameLst>
                                          <p:attrName>style.visibility</p:attrName>
                                        </p:attrNameLst>
                                      </p:cBhvr>
                                      <p:to>
                                        <p:strVal val="visible"/>
                                      </p:to>
                                    </p:set>
                                    <p:animEffect transition="in" filter="barn(inVertical)">
                                      <p:cBhvr>
                                        <p:cTn id="40" dur="500"/>
                                        <p:tgtEl>
                                          <p:spTgt spid="5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fade">
                                      <p:cBhvr>
                                        <p:cTn id="45" dur="500"/>
                                        <p:tgtEl>
                                          <p:spTgt spid="45"/>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50"/>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51"/>
                                        </p:tgtEl>
                                        <p:attrNameLst>
                                          <p:attrName>style.visibility</p:attrName>
                                        </p:attrNameLst>
                                      </p:cBhvr>
                                      <p:to>
                                        <p:strVal val="visible"/>
                                      </p:to>
                                    </p:set>
                                    <p:animEffect transition="in" filter="fade">
                                      <p:cBhvr>
                                        <p:cTn id="56" dur="500"/>
                                        <p:tgtEl>
                                          <p:spTgt spid="5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fade">
                                      <p:cBhvr>
                                        <p:cTn id="59" dur="500"/>
                                        <p:tgtEl>
                                          <p:spTgt spid="52"/>
                                        </p:tgtEl>
                                      </p:cBhvr>
                                    </p:animEffect>
                                  </p:childTnLst>
                                </p:cTn>
                              </p:par>
                            </p:childTnLst>
                          </p:cTn>
                        </p:par>
                      </p:childTnLst>
                    </p:cTn>
                  </p:par>
                  <p:par>
                    <p:cTn id="60" fill="hold">
                      <p:stCondLst>
                        <p:cond delay="indefinite"/>
                      </p:stCondLst>
                      <p:childTnLst>
                        <p:par>
                          <p:cTn id="61" fill="hold">
                            <p:stCondLst>
                              <p:cond delay="0"/>
                            </p:stCondLst>
                            <p:childTnLst>
                              <p:par>
                                <p:cTn id="62" presetID="26" presetClass="entr" presetSubtype="0" fill="hold" grpId="0"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wipe(down)">
                                      <p:cBhvr>
                                        <p:cTn id="64" dur="580">
                                          <p:stCondLst>
                                            <p:cond delay="0"/>
                                          </p:stCondLst>
                                        </p:cTn>
                                        <p:tgtEl>
                                          <p:spTgt spid="16"/>
                                        </p:tgtEl>
                                      </p:cBhvr>
                                    </p:animEffect>
                                    <p:anim calcmode="lin" valueType="num">
                                      <p:cBhvr>
                                        <p:cTn id="65"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66"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67"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68"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69"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70" dur="26">
                                          <p:stCondLst>
                                            <p:cond delay="650"/>
                                          </p:stCondLst>
                                        </p:cTn>
                                        <p:tgtEl>
                                          <p:spTgt spid="16"/>
                                        </p:tgtEl>
                                      </p:cBhvr>
                                      <p:to x="100000" y="60000"/>
                                    </p:animScale>
                                    <p:animScale>
                                      <p:cBhvr>
                                        <p:cTn id="71" dur="166" decel="50000">
                                          <p:stCondLst>
                                            <p:cond delay="676"/>
                                          </p:stCondLst>
                                        </p:cTn>
                                        <p:tgtEl>
                                          <p:spTgt spid="16"/>
                                        </p:tgtEl>
                                      </p:cBhvr>
                                      <p:to x="100000" y="100000"/>
                                    </p:animScale>
                                    <p:animScale>
                                      <p:cBhvr>
                                        <p:cTn id="72" dur="26">
                                          <p:stCondLst>
                                            <p:cond delay="1312"/>
                                          </p:stCondLst>
                                        </p:cTn>
                                        <p:tgtEl>
                                          <p:spTgt spid="16"/>
                                        </p:tgtEl>
                                      </p:cBhvr>
                                      <p:to x="100000" y="80000"/>
                                    </p:animScale>
                                    <p:animScale>
                                      <p:cBhvr>
                                        <p:cTn id="73" dur="166" decel="50000">
                                          <p:stCondLst>
                                            <p:cond delay="1338"/>
                                          </p:stCondLst>
                                        </p:cTn>
                                        <p:tgtEl>
                                          <p:spTgt spid="16"/>
                                        </p:tgtEl>
                                      </p:cBhvr>
                                      <p:to x="100000" y="100000"/>
                                    </p:animScale>
                                    <p:animScale>
                                      <p:cBhvr>
                                        <p:cTn id="74" dur="26">
                                          <p:stCondLst>
                                            <p:cond delay="1642"/>
                                          </p:stCondLst>
                                        </p:cTn>
                                        <p:tgtEl>
                                          <p:spTgt spid="16"/>
                                        </p:tgtEl>
                                      </p:cBhvr>
                                      <p:to x="100000" y="90000"/>
                                    </p:animScale>
                                    <p:animScale>
                                      <p:cBhvr>
                                        <p:cTn id="75" dur="166" decel="50000">
                                          <p:stCondLst>
                                            <p:cond delay="1668"/>
                                          </p:stCondLst>
                                        </p:cTn>
                                        <p:tgtEl>
                                          <p:spTgt spid="16"/>
                                        </p:tgtEl>
                                      </p:cBhvr>
                                      <p:to x="100000" y="100000"/>
                                    </p:animScale>
                                    <p:animScale>
                                      <p:cBhvr>
                                        <p:cTn id="76" dur="26">
                                          <p:stCondLst>
                                            <p:cond delay="1808"/>
                                          </p:stCondLst>
                                        </p:cTn>
                                        <p:tgtEl>
                                          <p:spTgt spid="16"/>
                                        </p:tgtEl>
                                      </p:cBhvr>
                                      <p:to x="100000" y="95000"/>
                                    </p:animScale>
                                    <p:animScale>
                                      <p:cBhvr>
                                        <p:cTn id="77" dur="166" decel="50000">
                                          <p:stCondLst>
                                            <p:cond delay="1834"/>
                                          </p:stCondLst>
                                        </p:cTn>
                                        <p:tgtEl>
                                          <p:spTgt spid="16"/>
                                        </p:tgtEl>
                                      </p:cBhvr>
                                      <p:to x="100000" y="100000"/>
                                    </p:animScale>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60"/>
                                        </p:tgtEl>
                                        <p:attrNameLst>
                                          <p:attrName>style.visibility</p:attrName>
                                        </p:attrNameLst>
                                      </p:cBhvr>
                                      <p:to>
                                        <p:strVal val="visible"/>
                                      </p:to>
                                    </p:set>
                                    <p:animEffect transition="in" filter="fade">
                                      <p:cBhvr>
                                        <p:cTn id="82" dur="500"/>
                                        <p:tgtEl>
                                          <p:spTgt spid="60"/>
                                        </p:tgtEl>
                                      </p:cBhvr>
                                    </p:animEffect>
                                  </p:childTnLst>
                                </p:cTn>
                              </p:par>
                              <p:par>
                                <p:cTn id="83" presetID="10" presetClass="entr" presetSubtype="0" fill="hold" nodeType="withEffect">
                                  <p:stCondLst>
                                    <p:cond delay="0"/>
                                  </p:stCondLst>
                                  <p:childTnLst>
                                    <p:set>
                                      <p:cBhvr>
                                        <p:cTn id="84" dur="1" fill="hold">
                                          <p:stCondLst>
                                            <p:cond delay="0"/>
                                          </p:stCondLst>
                                        </p:cTn>
                                        <p:tgtEl>
                                          <p:spTgt spid="59"/>
                                        </p:tgtEl>
                                        <p:attrNameLst>
                                          <p:attrName>style.visibility</p:attrName>
                                        </p:attrNameLst>
                                      </p:cBhvr>
                                      <p:to>
                                        <p:strVal val="visible"/>
                                      </p:to>
                                    </p:set>
                                    <p:animEffect transition="in" filter="fade">
                                      <p:cBhvr>
                                        <p:cTn id="85" dur="500"/>
                                        <p:tgtEl>
                                          <p:spTgt spid="5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62"/>
                                        </p:tgtEl>
                                        <p:attrNameLst>
                                          <p:attrName>style.visibility</p:attrName>
                                        </p:attrNameLst>
                                      </p:cBhvr>
                                      <p:to>
                                        <p:strVal val="visible"/>
                                      </p:to>
                                    </p:set>
                                    <p:animEffect transition="in" filter="fade">
                                      <p:cBhvr>
                                        <p:cTn id="88" dur="500"/>
                                        <p:tgtEl>
                                          <p:spTgt spid="6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61"/>
                                        </p:tgtEl>
                                        <p:attrNameLst>
                                          <p:attrName>style.visibility</p:attrName>
                                        </p:attrNameLst>
                                      </p:cBhvr>
                                      <p:to>
                                        <p:strVal val="visible"/>
                                      </p:to>
                                    </p:set>
                                    <p:animEffect transition="in" filter="fade">
                                      <p:cBhvr>
                                        <p:cTn id="91" dur="500"/>
                                        <p:tgtEl>
                                          <p:spTgt spid="61"/>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65"/>
                                        </p:tgtEl>
                                        <p:attrNameLst>
                                          <p:attrName>style.visibility</p:attrName>
                                        </p:attrNameLst>
                                      </p:cBhvr>
                                      <p:to>
                                        <p:strVal val="visible"/>
                                      </p:to>
                                    </p:set>
                                    <p:animEffect transition="in" filter="fade">
                                      <p:cBhvr>
                                        <p:cTn id="96" dur="500"/>
                                        <p:tgtEl>
                                          <p:spTgt spid="65"/>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66"/>
                                        </p:tgtEl>
                                        <p:attrNameLst>
                                          <p:attrName>style.visibility</p:attrName>
                                        </p:attrNameLst>
                                      </p:cBhvr>
                                      <p:to>
                                        <p:strVal val="visible"/>
                                      </p:to>
                                    </p:set>
                                    <p:animEffect transition="in" filter="fade">
                                      <p:cBhvr>
                                        <p:cTn id="101" dur="500"/>
                                        <p:tgtEl>
                                          <p:spTgt spid="66"/>
                                        </p:tgtEl>
                                      </p:cBhvr>
                                    </p:animEffect>
                                  </p:childTnLst>
                                </p:cTn>
                              </p:par>
                            </p:childTnLst>
                          </p:cTn>
                        </p:par>
                      </p:childTnLst>
                    </p:cTn>
                  </p:par>
                  <p:par>
                    <p:cTn id="102" fill="hold">
                      <p:stCondLst>
                        <p:cond delay="indefinite"/>
                      </p:stCondLst>
                      <p:childTnLst>
                        <p:par>
                          <p:cTn id="103" fill="hold">
                            <p:stCondLst>
                              <p:cond delay="0"/>
                            </p:stCondLst>
                            <p:childTnLst>
                              <p:par>
                                <p:cTn id="104" presetID="16" presetClass="entr" presetSubtype="21" fill="hold" grpId="0" nodeType="clickEffect">
                                  <p:stCondLst>
                                    <p:cond delay="0"/>
                                  </p:stCondLst>
                                  <p:childTnLst>
                                    <p:set>
                                      <p:cBhvr>
                                        <p:cTn id="105" dur="1" fill="hold">
                                          <p:stCondLst>
                                            <p:cond delay="0"/>
                                          </p:stCondLst>
                                        </p:cTn>
                                        <p:tgtEl>
                                          <p:spTgt spid="2"/>
                                        </p:tgtEl>
                                        <p:attrNameLst>
                                          <p:attrName>style.visibility</p:attrName>
                                        </p:attrNameLst>
                                      </p:cBhvr>
                                      <p:to>
                                        <p:strVal val="visible"/>
                                      </p:to>
                                    </p:set>
                                    <p:animEffect transition="in" filter="barn(inVertical)">
                                      <p:cBhvr>
                                        <p:cTn id="106" dur="500"/>
                                        <p:tgtEl>
                                          <p:spTgt spid="2"/>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44" grpId="0"/>
      <p:bldP spid="45" grpId="0"/>
      <p:bldP spid="51" grpId="0"/>
      <p:bldP spid="52" grpId="0"/>
      <p:bldP spid="54" grpId="0"/>
      <p:bldP spid="9" grpId="0" animBg="1"/>
      <p:bldP spid="56" grpId="0"/>
      <p:bldP spid="16" grpId="0" animBg="1"/>
      <p:bldP spid="61" grpId="0"/>
      <p:bldP spid="62" grpId="0"/>
      <p:bldP spid="64" grpId="0"/>
      <p:bldP spid="65" grpId="0" animBg="1"/>
      <p:bldP spid="66" grpId="0" animBg="1"/>
      <p:bldP spid="10" grpId="0" animBg="1"/>
      <p:bldP spid="2" grpId="0" animBg="1"/>
    </p:bld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5.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18578</TotalTime>
  <Words>4365</Words>
  <Application>Microsoft Office PowerPoint</Application>
  <PresentationFormat>מסך רחב</PresentationFormat>
  <Paragraphs>848</Paragraphs>
  <Slides>46</Slides>
  <Notes>6</Notes>
  <HiddenSlides>3</HiddenSlides>
  <MMClips>0</MMClips>
  <ScaleCrop>false</ScaleCrop>
  <HeadingPairs>
    <vt:vector size="6" baseType="variant">
      <vt:variant>
        <vt:lpstr>גופנים בשימוש</vt:lpstr>
      </vt:variant>
      <vt:variant>
        <vt:i4>11</vt:i4>
      </vt:variant>
      <vt:variant>
        <vt:lpstr>ערכת נושא</vt:lpstr>
      </vt:variant>
      <vt:variant>
        <vt:i4>4</vt:i4>
      </vt:variant>
      <vt:variant>
        <vt:lpstr>כותרות שקופיות</vt:lpstr>
      </vt:variant>
      <vt:variant>
        <vt:i4>46</vt:i4>
      </vt:variant>
    </vt:vector>
  </HeadingPairs>
  <TitlesOfParts>
    <vt:vector size="61" baseType="lpstr">
      <vt:lpstr>Aharoni</vt:lpstr>
      <vt:lpstr>Arial</vt:lpstr>
      <vt:lpstr>Bell MT</vt:lpstr>
      <vt:lpstr>Calibri</vt:lpstr>
      <vt:lpstr>Calibri Light</vt:lpstr>
      <vt:lpstr>Cambria Math</vt:lpstr>
      <vt:lpstr>Courier New</vt:lpstr>
      <vt:lpstr>David</vt:lpstr>
      <vt:lpstr>Franklin Gothic Book</vt:lpstr>
      <vt:lpstr>Perpetua</vt:lpstr>
      <vt:lpstr>Times New Roman</vt:lpstr>
      <vt:lpstr>ערכת נושא Office</vt:lpstr>
      <vt:lpstr>2_ערכת נושא Office</vt:lpstr>
      <vt:lpstr>3_ערכת נושא Office</vt:lpstr>
      <vt:lpstr>Retrospect</vt:lpstr>
      <vt:lpstr>תרגול כיתה 11  היצע הפירמה והענף הקשר בין עלויות לתפוקות  שיווי משקל בשוק המוצר </vt:lpstr>
      <vt:lpstr>מצגת של PowerPoint‏</vt:lpstr>
      <vt:lpstr>מצגת של PowerPoint‏</vt:lpstr>
      <vt:lpstr>מצגת של PowerPoint‏</vt:lpstr>
      <vt:lpstr>מצגת של PowerPoint‏</vt:lpstr>
      <vt:lpstr>מצגת של PowerPoint‏</vt:lpstr>
      <vt:lpstr>תזכורת: היצע היצרן </vt:lpstr>
      <vt:lpstr>עקומת היצע הענף (=היצע מצרפי)</vt:lpstr>
      <vt:lpstr>היצע היצרנים</vt:lpstr>
      <vt:lpstr>מקרים מיוחדים</vt:lpstr>
      <vt:lpstr>מקרים מיוחדים</vt:lpstr>
      <vt:lpstr>שאלה 3</vt:lpstr>
      <vt:lpstr>שאלה 3</vt:lpstr>
      <vt:lpstr>שאלה 3</vt:lpstr>
      <vt:lpstr>שאלה 3</vt:lpstr>
      <vt:lpstr>שאלה 3</vt:lpstr>
      <vt:lpstr>שאלה 3</vt:lpstr>
      <vt:lpstr>שאלה 3</vt:lpstr>
      <vt:lpstr>שאלה 3- סעיף נוסף</vt:lpstr>
      <vt:lpstr>שינויים בנקודת שיווי המשקל</vt:lpstr>
      <vt:lpstr>היצע מצרפי- שאלה לדוגמא</vt:lpstr>
      <vt:lpstr>היצע מצרפי- שאלה לדוגמא</vt:lpstr>
      <vt:lpstr>היצע מצרפי- שאלה לדוגמא</vt:lpstr>
      <vt:lpstr>מצגת של PowerPoint‏</vt:lpstr>
      <vt:lpstr>שיווי משקל בשוק המוצר </vt:lpstr>
      <vt:lpstr>שיווי משקל בשוק- שאלה 1</vt:lpstr>
      <vt:lpstr>שיווי משקל בשוק</vt:lpstr>
      <vt:lpstr>שינויים בנקודת שיווי המשקל</vt:lpstr>
      <vt:lpstr>שינויים בנקודת שיווי המשקל</vt:lpstr>
      <vt:lpstr>שאלת כיתה 3</vt:lpstr>
      <vt:lpstr>שאלת כיתה 3</vt:lpstr>
      <vt:lpstr>מצגת של PowerPoint‏</vt:lpstr>
      <vt:lpstr>שינויים בנקודת שיווי המשקל</vt:lpstr>
      <vt:lpstr>שיווי משקל ושווקים חלקיים</vt:lpstr>
      <vt:lpstr>שיווי משקל ושווקים חלקיים</vt:lpstr>
      <vt:lpstr>מצגת של PowerPoint‏</vt:lpstr>
      <vt:lpstr>מצגת של PowerPoint‏</vt:lpstr>
      <vt:lpstr>מצגת של PowerPoint‏</vt:lpstr>
      <vt:lpstr>מצגת של PowerPoint‏</vt:lpstr>
      <vt:lpstr>שאלה מבחינה בנושא שווקים חלקיים</vt:lpstr>
      <vt:lpstr>שאלה מבחינה בנושא שווקים חלקיים</vt:lpstr>
      <vt:lpstr>שאלה מבחינה בנושא שווקים חלקיים</vt:lpstr>
      <vt:lpstr>שאלה מבחינה בנושא שווקים חלקיים</vt:lpstr>
      <vt:lpstr>תשובה לשאלת בחינה- שווקים חלקיים</vt:lpstr>
      <vt:lpstr>שינויים בנקודת שיווי המשקל</vt:lpstr>
      <vt:lpstr>שינויים בנקודת שיווי המשקל</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Stasi</dc:creator>
  <cp:lastModifiedBy>איתן משקוביץ'</cp:lastModifiedBy>
  <cp:revision>259</cp:revision>
  <cp:lastPrinted>2015-11-21T14:43:06Z</cp:lastPrinted>
  <dcterms:created xsi:type="dcterms:W3CDTF">2015-11-01T12:01:30Z</dcterms:created>
  <dcterms:modified xsi:type="dcterms:W3CDTF">2026-01-09T14:15:14Z</dcterms:modified>
</cp:coreProperties>
</file>