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6" r:id="rId3"/>
    <p:sldMasterId id="2147483708" r:id="rId4"/>
    <p:sldMasterId id="2147483720" r:id="rId5"/>
    <p:sldMasterId id="2147483732" r:id="rId6"/>
  </p:sldMasterIdLst>
  <p:notesMasterIdLst>
    <p:notesMasterId r:id="rId44"/>
  </p:notesMasterIdLst>
  <p:sldIdLst>
    <p:sldId id="256" r:id="rId7"/>
    <p:sldId id="487" r:id="rId8"/>
    <p:sldId id="471" r:id="rId9"/>
    <p:sldId id="361" r:id="rId10"/>
    <p:sldId id="518" r:id="rId11"/>
    <p:sldId id="649" r:id="rId12"/>
    <p:sldId id="508" r:id="rId13"/>
    <p:sldId id="655" r:id="rId14"/>
    <p:sldId id="656" r:id="rId15"/>
    <p:sldId id="657" r:id="rId16"/>
    <p:sldId id="521" r:id="rId17"/>
    <p:sldId id="648" r:id="rId18"/>
    <p:sldId id="647" r:id="rId19"/>
    <p:sldId id="651" r:id="rId20"/>
    <p:sldId id="652" r:id="rId21"/>
    <p:sldId id="653" r:id="rId22"/>
    <p:sldId id="654" r:id="rId23"/>
    <p:sldId id="456" r:id="rId24"/>
    <p:sldId id="646" r:id="rId25"/>
    <p:sldId id="663" r:id="rId26"/>
    <p:sldId id="283" r:id="rId27"/>
    <p:sldId id="284" r:id="rId28"/>
    <p:sldId id="664" r:id="rId29"/>
    <p:sldId id="285" r:id="rId30"/>
    <p:sldId id="658" r:id="rId31"/>
    <p:sldId id="489" r:id="rId32"/>
    <p:sldId id="659" r:id="rId33"/>
    <p:sldId id="512" r:id="rId34"/>
    <p:sldId id="660" r:id="rId35"/>
    <p:sldId id="472" r:id="rId36"/>
    <p:sldId id="490" r:id="rId37"/>
    <p:sldId id="661" r:id="rId38"/>
    <p:sldId id="662" r:id="rId39"/>
    <p:sldId id="668" r:id="rId40"/>
    <p:sldId id="669" r:id="rId41"/>
    <p:sldId id="321" r:id="rId42"/>
    <p:sldId id="322"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F2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7" autoAdjust="0"/>
    <p:restoredTop sz="96374" autoAdjust="0"/>
  </p:normalViewPr>
  <p:slideViewPr>
    <p:cSldViewPr>
      <p:cViewPr varScale="1">
        <p:scale>
          <a:sx n="76" d="100"/>
          <a:sy n="76" d="100"/>
        </p:scale>
        <p:origin x="108" y="19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09A66-AF83-4F24-B59D-0E80AD22A686}" type="datetimeFigureOut">
              <a:rPr lang="en-US" smtClean="0"/>
              <a:t>1/17/2026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CEA6EB-AF31-4390-BD43-2878CF91FA2D}" type="slidenum">
              <a:rPr lang="en-US" smtClean="0"/>
              <a:t>‹#›</a:t>
            </a:fld>
            <a:endParaRPr lang="en-US"/>
          </a:p>
        </p:txBody>
      </p:sp>
    </p:spTree>
    <p:extLst>
      <p:ext uri="{BB962C8B-B14F-4D97-AF65-F5344CB8AC3E}">
        <p14:creationId xmlns:p14="http://schemas.microsoft.com/office/powerpoint/2010/main" val="3150889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a:t>
            </a:r>
            <a:r>
              <a:rPr lang="he-IL" dirty="0"/>
              <a:t>להתחיל</a:t>
            </a:r>
            <a:r>
              <a:rPr lang="he-IL" baseline="0" dirty="0"/>
              <a:t> משקף 18</a:t>
            </a:r>
            <a:endParaRPr lang="en-US" dirty="0"/>
          </a:p>
        </p:txBody>
      </p:sp>
      <p:sp>
        <p:nvSpPr>
          <p:cNvPr id="4" name="Slide Number Placeholder 3"/>
          <p:cNvSpPr>
            <a:spLocks noGrp="1"/>
          </p:cNvSpPr>
          <p:nvPr>
            <p:ph type="sldNum" sz="quarter" idx="10"/>
          </p:nvPr>
        </p:nvSpPr>
        <p:spPr/>
        <p:txBody>
          <a:bodyPr/>
          <a:lstStyle/>
          <a:p>
            <a:fld id="{25CEA6EB-AF31-4390-BD43-2878CF91FA2D}" type="slidenum">
              <a:rPr lang="en-US" smtClean="0"/>
              <a:t>1</a:t>
            </a:fld>
            <a:endParaRPr lang="en-US"/>
          </a:p>
        </p:txBody>
      </p:sp>
    </p:spTree>
    <p:extLst>
      <p:ext uri="{BB962C8B-B14F-4D97-AF65-F5344CB8AC3E}">
        <p14:creationId xmlns:p14="http://schemas.microsoft.com/office/powerpoint/2010/main" val="42268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21921CA-5C01-434F-9D85-853C10D8CC7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82696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פתרון: תחילה הכמות המיוצרת היא 100, אחרי הטלת המס הכמות היא 97.5. מחיר לצרכנים: 60.75 ומחיר ליצרנים 58.7</a:t>
            </a:r>
            <a:endParaRPr lang="en-US" dirty="0"/>
          </a:p>
        </p:txBody>
      </p:sp>
      <p:sp>
        <p:nvSpPr>
          <p:cNvPr id="4" name="Slide Number Placeholder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21921CA-5C01-434F-9D85-853C10D8CC7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621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פתרון: תחילה הכמות המיוצרת היא 100, אחרי הטלת המס הכמות היא 97.5. מחיר לצרכנים: 60.75 ומחיר ליצרנים 58.7</a:t>
            </a:r>
            <a:endParaRPr lang="en-US" dirty="0"/>
          </a:p>
        </p:txBody>
      </p:sp>
      <p:sp>
        <p:nvSpPr>
          <p:cNvPr id="4" name="Slide Number Placeholder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21921CA-5C01-434F-9D85-853C10D8CC7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8652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4C2A6267-5956-4D63-9D5A-34E714C08F84}"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33555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8EBB0BF3-6265-44CE-A520-773E49705198}"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656636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14D383DE-4FE8-40AC-B10B-D7719987DB33}"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12943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FE3227C1-9291-44E8-9B3A-51BCA8276830}"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76016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337F7AFF-B482-4F72-9844-E7437A005897}" type="datetime8">
              <a:rPr lang="he-IL" smtClean="0"/>
              <a:t>17 ינואר 26</a:t>
            </a:fld>
            <a:endParaRPr lang="he-IL"/>
          </a:p>
        </p:txBody>
      </p:sp>
      <p:sp>
        <p:nvSpPr>
          <p:cNvPr id="8" name="מציין מיקום של כותרת תחתונה 7"/>
          <p:cNvSpPr>
            <a:spLocks noGrp="1"/>
          </p:cNvSpPr>
          <p:nvPr>
            <p:ph type="ftr" sz="quarter" idx="11"/>
          </p:nvPr>
        </p:nvSpPr>
        <p:spPr/>
        <p:txBody>
          <a:bodyPr/>
          <a:lstStyle/>
          <a:p>
            <a:r>
              <a:rPr lang="he-IL"/>
              <a:t>אשנב לכלכלה - תרגול מספר 7</a:t>
            </a:r>
          </a:p>
        </p:txBody>
      </p:sp>
      <p:sp>
        <p:nvSpPr>
          <p:cNvPr id="9" name="מציין מיקום של מספר שקופית 8"/>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905591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227E94AD-D97C-44EC-B895-148DDEA05296}" type="datetime8">
              <a:rPr lang="he-IL" smtClean="0"/>
              <a:t>17 ינואר 26</a:t>
            </a:fld>
            <a:endParaRPr lang="he-IL"/>
          </a:p>
        </p:txBody>
      </p:sp>
      <p:sp>
        <p:nvSpPr>
          <p:cNvPr id="4" name="מציין מיקום של כותרת תחתונה 3"/>
          <p:cNvSpPr>
            <a:spLocks noGrp="1"/>
          </p:cNvSpPr>
          <p:nvPr>
            <p:ph type="ftr" sz="quarter" idx="11"/>
          </p:nvPr>
        </p:nvSpPr>
        <p:spPr/>
        <p:txBody>
          <a:bodyPr/>
          <a:lstStyle/>
          <a:p>
            <a:r>
              <a:rPr lang="he-IL"/>
              <a:t>אשנב לכלכלה - תרגול מספר 7</a:t>
            </a:r>
          </a:p>
        </p:txBody>
      </p:sp>
      <p:sp>
        <p:nvSpPr>
          <p:cNvPr id="5" name="מציין מיקום של מספר שקופית 4"/>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420894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9BFCB02A-1734-42FD-A69C-98449D1DBB5F}" type="datetime8">
              <a:rPr lang="he-IL" smtClean="0"/>
              <a:t>17 ינואר 26</a:t>
            </a:fld>
            <a:endParaRPr lang="he-IL"/>
          </a:p>
        </p:txBody>
      </p:sp>
      <p:sp>
        <p:nvSpPr>
          <p:cNvPr id="3" name="מציין מיקום של כותרת תחתונה 2"/>
          <p:cNvSpPr>
            <a:spLocks noGrp="1"/>
          </p:cNvSpPr>
          <p:nvPr>
            <p:ph type="ftr" sz="quarter" idx="11"/>
          </p:nvPr>
        </p:nvSpPr>
        <p:spPr/>
        <p:txBody>
          <a:bodyPr/>
          <a:lstStyle/>
          <a:p>
            <a:r>
              <a:rPr lang="he-IL"/>
              <a:t>אשנב לכלכלה - תרגול מספר 7</a:t>
            </a:r>
          </a:p>
        </p:txBody>
      </p:sp>
      <p:sp>
        <p:nvSpPr>
          <p:cNvPr id="4" name="מציין מיקום של מספר שקופית 3"/>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94298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2C21154C-C77B-4895-BF6D-49043492954D}"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255345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FACDBEC0-56F3-43B5-8937-2ABC85C3E376}"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686609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1B97729E-C3EC-476A-A039-4A7E14837412}"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4095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5796859-DE63-40A2-ADD8-B027D288F655}"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2678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143000" y="1122363"/>
            <a:ext cx="6858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3F3B0443-A227-4AD3-8CD1-EAFC73654C6B}"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772385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4A63D6F8-5DB8-453C-9460-15F277CC0BC5}"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804933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623888" y="1709739"/>
            <a:ext cx="78867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2CD1BE5E-D2D8-4D6C-B97F-03B2B7083841}"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841373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286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291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A956BE0-D411-4AEE-8274-A5E7F218117F}"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73837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365126"/>
            <a:ext cx="78867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29842" y="2505075"/>
            <a:ext cx="3868340"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29150" y="2505075"/>
            <a:ext cx="3887391"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9C66534D-A036-4F69-AF29-98847B8411CA}" type="datetime8">
              <a:rPr lang="he-IL" smtClean="0"/>
              <a:t>17 ינואר 26</a:t>
            </a:fld>
            <a:endParaRPr lang="he-IL"/>
          </a:p>
        </p:txBody>
      </p:sp>
      <p:sp>
        <p:nvSpPr>
          <p:cNvPr id="8" name="מציין מיקום של כותרת תחתונה 7"/>
          <p:cNvSpPr>
            <a:spLocks noGrp="1"/>
          </p:cNvSpPr>
          <p:nvPr>
            <p:ph type="ftr" sz="quarter" idx="11"/>
          </p:nvPr>
        </p:nvSpPr>
        <p:spPr/>
        <p:txBody>
          <a:bodyPr/>
          <a:lstStyle/>
          <a:p>
            <a:r>
              <a:rPr lang="he-IL"/>
              <a:t>אשנב לכלכלה - תרגול מספר 7</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204876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86891B0B-E7D2-4727-B3AA-4242BBFC5CB1}" type="datetime8">
              <a:rPr lang="he-IL" smtClean="0"/>
              <a:t>17 ינואר 26</a:t>
            </a:fld>
            <a:endParaRPr lang="he-IL"/>
          </a:p>
        </p:txBody>
      </p:sp>
      <p:sp>
        <p:nvSpPr>
          <p:cNvPr id="4" name="מציין מיקום של כותרת תחתונה 3"/>
          <p:cNvSpPr>
            <a:spLocks noGrp="1"/>
          </p:cNvSpPr>
          <p:nvPr>
            <p:ph type="ftr" sz="quarter" idx="11"/>
          </p:nvPr>
        </p:nvSpPr>
        <p:spPr/>
        <p:txBody>
          <a:bodyPr/>
          <a:lstStyle/>
          <a:p>
            <a:r>
              <a:rPr lang="he-IL"/>
              <a:t>אשנב לכלכלה - תרגול מספר 7</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714921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14C260B0-55BE-4919-A003-C59AD808764C}" type="datetime8">
              <a:rPr lang="he-IL" smtClean="0"/>
              <a:t>17 ינואר 26</a:t>
            </a:fld>
            <a:endParaRPr lang="he-IL"/>
          </a:p>
        </p:txBody>
      </p:sp>
      <p:sp>
        <p:nvSpPr>
          <p:cNvPr id="3" name="מציין מיקום של כותרת תחתונה 2"/>
          <p:cNvSpPr>
            <a:spLocks noGrp="1"/>
          </p:cNvSpPr>
          <p:nvPr>
            <p:ph type="ftr" sz="quarter" idx="11"/>
          </p:nvPr>
        </p:nvSpPr>
        <p:spPr/>
        <p:txBody>
          <a:bodyPr/>
          <a:lstStyle/>
          <a:p>
            <a:r>
              <a:rPr lang="he-IL"/>
              <a:t>אשנב לכלכלה - תרגול מספר 7</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605485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C49BBCE2-C8CC-4630-9850-731E881AD69F}"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640399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D000206F-D907-4A69-AF72-2A999F6D1463}"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אשנב לכלכלה - תרגול מספר 7</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9541039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42FA118D-F96A-4BE1-B450-0490F0AEDD37}"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2818714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28650" y="365125"/>
            <a:ext cx="5800725"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992C89F5-648D-499A-83B6-188FFF23791C}"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אשנב לכלכלה - תרגול מספר 7</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3837105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143000" y="1122363"/>
            <a:ext cx="6858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ECEC5008-ADC8-4A20-B977-C71401C2E83F}"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9443344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DAE69586-69DE-47BA-B45E-75FFCBF850EE}"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330158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623888" y="1709739"/>
            <a:ext cx="78867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EDF87B67-C29E-44DA-BB3F-D18C78602F42}"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530252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286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291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4603751B-1ECA-40DB-8763-D80A16AF7ED0}" type="datetime8">
              <a:rPr lang="he-IL" smtClean="0">
                <a:solidFill>
                  <a:prstClr val="black">
                    <a:tint val="75000"/>
                  </a:prstClr>
                </a:solidFill>
              </a:rPr>
              <a:t>17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6643867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365126"/>
            <a:ext cx="78867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29842" y="2505075"/>
            <a:ext cx="3868340"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29150" y="2505075"/>
            <a:ext cx="3887391"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2BEB98A7-C362-4FCF-8BDE-4070E78BA84A}" type="datetime8">
              <a:rPr lang="he-IL" smtClean="0">
                <a:solidFill>
                  <a:prstClr val="black">
                    <a:tint val="75000"/>
                  </a:prstClr>
                </a:solidFill>
              </a:rPr>
              <a:t>17 ינואר 26</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1340891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3FF0CE5D-2AF2-44B9-A406-9BEDA87EBB76}" type="datetime8">
              <a:rPr lang="he-IL" smtClean="0">
                <a:solidFill>
                  <a:prstClr val="black">
                    <a:tint val="75000"/>
                  </a:prstClr>
                </a:solidFill>
              </a:rPr>
              <a:t>17 ינואר 26</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4717512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9865FE09-AE3B-4AD7-BC21-75A017D0D8F1}" type="datetime8">
              <a:rPr lang="he-IL" smtClean="0">
                <a:solidFill>
                  <a:prstClr val="black">
                    <a:tint val="75000"/>
                  </a:prstClr>
                </a:solidFill>
              </a:rPr>
              <a:t>17 ינואר 26</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481195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AEE6F177-7CB1-445A-9093-59D230FBA235}" type="datetime8">
              <a:rPr lang="he-IL" smtClean="0">
                <a:solidFill>
                  <a:prstClr val="black">
                    <a:tint val="75000"/>
                  </a:prstClr>
                </a:solidFill>
              </a:rPr>
              <a:t>17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451577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9C0F438-3752-46C6-99FC-311BC0E8F17C}" type="datetime8">
              <a:rPr lang="he-IL" smtClean="0">
                <a:solidFill>
                  <a:prstClr val="black">
                    <a:tint val="75000"/>
                  </a:prstClr>
                </a:solidFill>
              </a:rPr>
              <a:t>17 ינואר 26</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973328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29D45626-FCBE-449E-9725-CB188792BE2E}"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285549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28650" y="365125"/>
            <a:ext cx="5800725"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56F0F37-E199-4599-8394-C218746F34EA}"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005607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CA60DE1-AB4D-4545-A09E-7FC73E7DFC7E}"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solidFill>
                <a:srgbClr val="EBDDC3"/>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solidFill>
                  <a:srgbClr val="EBDDC3"/>
                </a:solidFill>
              </a:rPr>
              <a:pPr/>
              <a:t>‹#›</a:t>
            </a:fld>
            <a:endParaRPr lang="en-US">
              <a:solidFill>
                <a:srgbClr val="EBDDC3"/>
              </a:solidFill>
            </a:endParaRPr>
          </a:p>
        </p:txBody>
      </p:sp>
    </p:spTree>
    <p:extLst>
      <p:ext uri="{BB962C8B-B14F-4D97-AF65-F5344CB8AC3E}">
        <p14:creationId xmlns:p14="http://schemas.microsoft.com/office/powerpoint/2010/main" val="24461225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3252528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13683967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2023078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8" name="Footer Placeholder 7"/>
          <p:cNvSpPr>
            <a:spLocks noGrp="1"/>
          </p:cNvSpPr>
          <p:nvPr>
            <p:ph type="ftr" sz="quarter" idx="11"/>
          </p:nvPr>
        </p:nvSpPr>
        <p:spPr/>
        <p:txBody>
          <a:bodyPr/>
          <a:lstStyle/>
          <a:p>
            <a:endParaRPr lang="en-US">
              <a:solidFill>
                <a:srgbClr val="775F55"/>
              </a:solidFill>
            </a:endParaRPr>
          </a:p>
        </p:txBody>
      </p:sp>
      <p:sp>
        <p:nvSpPr>
          <p:cNvPr id="9" name="Slide Number Placeholder 8"/>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26919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4" name="Footer Placeholder 3"/>
          <p:cNvSpPr>
            <a:spLocks noGrp="1"/>
          </p:cNvSpPr>
          <p:nvPr>
            <p:ph type="ftr" sz="quarter" idx="11"/>
          </p:nvPr>
        </p:nvSpPr>
        <p:spPr/>
        <p:txBody>
          <a:bodyPr/>
          <a:lstStyle/>
          <a:p>
            <a:endParaRPr lang="en-US">
              <a:solidFill>
                <a:srgbClr val="775F55"/>
              </a:solidFill>
            </a:endParaRPr>
          </a:p>
        </p:txBody>
      </p:sp>
      <p:sp>
        <p:nvSpPr>
          <p:cNvPr id="5" name="Slide Number Placeholder 4"/>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0962423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3" name="Footer Placeholder 2"/>
          <p:cNvSpPr>
            <a:spLocks noGrp="1"/>
          </p:cNvSpPr>
          <p:nvPr>
            <p:ph type="ftr" sz="quarter" idx="11"/>
          </p:nvPr>
        </p:nvSpPr>
        <p:spPr/>
        <p:txBody>
          <a:bodyPr/>
          <a:lstStyle/>
          <a:p>
            <a:endParaRPr lang="en-US">
              <a:solidFill>
                <a:srgbClr val="775F55"/>
              </a:solidFill>
            </a:endParaRPr>
          </a:p>
        </p:txBody>
      </p:sp>
      <p:sp>
        <p:nvSpPr>
          <p:cNvPr id="4" name="Slide Number Placeholder 3"/>
          <p:cNvSpPr>
            <a:spLocks noGrp="1"/>
          </p:cNvSpPr>
          <p:nvPr>
            <p:ph type="sldNum" sz="quarter" idx="12"/>
          </p:nvPr>
        </p:nvSpPr>
        <p:spPr/>
        <p:txBody>
          <a:bodyPr/>
          <a:lstStyle/>
          <a:p>
            <a:fld id="{6078E1E5-739E-47A9-8EFC-15BF9D407EC4}" type="slidenum">
              <a:rPr lang="en-US" smtClean="0">
                <a:solidFill>
                  <a:srgbClr val="775F55"/>
                </a:solidFill>
              </a:rPr>
              <a:pPr/>
              <a:t>‹#›</a:t>
            </a:fld>
            <a:endParaRPr lang="en-US">
              <a:solidFill>
                <a:srgbClr val="775F55"/>
              </a:solidFill>
            </a:endParaRPr>
          </a:p>
        </p:txBody>
      </p:sp>
    </p:spTree>
    <p:extLst>
      <p:ext uri="{BB962C8B-B14F-4D97-AF65-F5344CB8AC3E}">
        <p14:creationId xmlns:p14="http://schemas.microsoft.com/office/powerpoint/2010/main" val="28505373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15793375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2605307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0226889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1/17/2026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2505712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184341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1545826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1778128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0391877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6902087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27232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21750893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3773975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237255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5194607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8915835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7"/>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0A6D5145-83F9-4C2D-A8C1-7B964B6FFE43}"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2653982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B3C32291-9B70-47FE-AF9D-43964C4FA791}"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8628158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2"/>
            <a:ext cx="7772400" cy="1362075"/>
          </a:xfrm>
        </p:spPr>
        <p:txBody>
          <a:bodyPr anchor="t"/>
          <a:lstStyle>
            <a:lvl1pPr algn="r">
              <a:defRPr sz="3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CFE148DA-34AB-47C9-BCD3-3889A4448EE4}"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1198731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0CBF67C2-0087-4BE3-B5EA-E789D37C997D}"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40853229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0219365E-8D32-4B52-9A2A-BBB8F263AD94}" type="datetime8">
              <a:rPr lang="he-IL" smtClean="0"/>
              <a:t>17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5870465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A22074D-7A57-453F-805B-3BB193C3852E}" type="datetime8">
              <a:rPr lang="he-IL" smtClean="0"/>
              <a:t>17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7422391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25D58B65-41CB-4622-8485-F8338E21DAF6}" type="datetime8">
              <a:rPr lang="he-IL" smtClean="0"/>
              <a:t>17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4605051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1" y="273050"/>
            <a:ext cx="3008313" cy="1162050"/>
          </a:xfrm>
        </p:spPr>
        <p:txBody>
          <a:bodyPr anchor="b"/>
          <a:lstStyle>
            <a:lvl1pPr algn="r">
              <a:defRPr sz="15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9E6FF10-D84D-40AB-82CA-6776BDDB7FD4}"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8521825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15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2DE4AC10-C72A-4F9B-A773-442DB09C5B61}" type="datetime8">
              <a:rPr lang="he-IL" smtClean="0"/>
              <a:t>17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7838684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99648114-B66A-41C1-BE9E-FCC2465717D3}"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4783734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40"/>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40"/>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AEE8686-B8A7-4995-AEE6-DB0DFB6AD97B}" type="datetime8">
              <a:rPr lang="he-IL" smtClean="0"/>
              <a:t>17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9507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6E1EA96-E412-4E54-BC03-3F8C3D21F602}" type="datetime8">
              <a:rPr lang="he-IL" smtClean="0"/>
              <a:t>17 ינואר 26</a:t>
            </a:fld>
            <a:endParaRPr lang="he-IL"/>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a:t>אשנב לכלכלה - תרגול מספר 7</a:t>
            </a:r>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492DB488-E800-4C9D-A68D-A9C6D048BCD3}" type="slidenum">
              <a:rPr lang="he-IL" smtClean="0"/>
              <a:pPr/>
              <a:t>‹#›</a:t>
            </a:fld>
            <a:endParaRPr lang="he-IL"/>
          </a:p>
        </p:txBody>
      </p:sp>
    </p:spTree>
    <p:extLst>
      <p:ext uri="{BB962C8B-B14F-4D97-AF65-F5344CB8AC3E}">
        <p14:creationId xmlns:p14="http://schemas.microsoft.com/office/powerpoint/2010/main" val="3353664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628650" y="365126"/>
            <a:ext cx="78867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8650" y="1825625"/>
            <a:ext cx="78867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457950" y="6356351"/>
            <a:ext cx="2057400" cy="365125"/>
          </a:xfrm>
          <a:prstGeom prst="rect">
            <a:avLst/>
          </a:prstGeom>
        </p:spPr>
        <p:txBody>
          <a:bodyPr vert="horz" lIns="91440" tIns="45720" rIns="91440" bIns="45720" rtlCol="1" anchor="ctr"/>
          <a:lstStyle>
            <a:lvl1pPr algn="r">
              <a:defRPr sz="900">
                <a:solidFill>
                  <a:schemeClr val="tx1">
                    <a:tint val="75000"/>
                  </a:schemeClr>
                </a:solidFill>
              </a:defRPr>
            </a:lvl1pPr>
          </a:lstStyle>
          <a:p>
            <a:fld id="{6A67EE93-54F7-4D43-8211-F58DF4E14F82}" type="datetime8">
              <a:rPr lang="he-IL" smtClean="0"/>
              <a:t>17 ינואר 26</a:t>
            </a:fld>
            <a:endParaRPr lang="he-IL"/>
          </a:p>
        </p:txBody>
      </p:sp>
      <p:sp>
        <p:nvSpPr>
          <p:cNvPr id="5" name="מציין מיקום של כותרת תחתונה 4"/>
          <p:cNvSpPr>
            <a:spLocks noGrp="1"/>
          </p:cNvSpPr>
          <p:nvPr>
            <p:ph type="ftr" sz="quarter" idx="3"/>
          </p:nvPr>
        </p:nvSpPr>
        <p:spPr>
          <a:xfrm>
            <a:off x="3028950" y="6356351"/>
            <a:ext cx="30861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r>
              <a:rPr lang="he-IL"/>
              <a:t>אשנב לכלכלה - תרגול מספר 7</a:t>
            </a:r>
          </a:p>
        </p:txBody>
      </p:sp>
      <p:sp>
        <p:nvSpPr>
          <p:cNvPr id="6" name="מציין מיקום של מספר שקופית 5"/>
          <p:cNvSpPr>
            <a:spLocks noGrp="1"/>
          </p:cNvSpPr>
          <p:nvPr>
            <p:ph type="sldNum" sz="quarter" idx="4"/>
          </p:nvPr>
        </p:nvSpPr>
        <p:spPr>
          <a:xfrm>
            <a:off x="628650" y="6356351"/>
            <a:ext cx="2057400" cy="365125"/>
          </a:xfrm>
          <a:prstGeom prst="rect">
            <a:avLst/>
          </a:prstGeom>
        </p:spPr>
        <p:txBody>
          <a:bodyPr vert="horz" lIns="91440" tIns="45720" rIns="91440" bIns="45720" rtlCol="1" anchor="ctr"/>
          <a:lstStyle>
            <a:lvl1pPr algn="l">
              <a:defRPr sz="900">
                <a:solidFill>
                  <a:schemeClr val="tx1">
                    <a:tint val="75000"/>
                  </a:schemeClr>
                </a:solidFill>
              </a:defRPr>
            </a:lvl1pPr>
          </a:lstStyle>
          <a:p>
            <a:fld id="{D69A981F-4466-4789-9E41-1885E502A96E}" type="slidenum">
              <a:rPr lang="he-IL" smtClean="0"/>
              <a:t>‹#›</a:t>
            </a:fld>
            <a:endParaRPr lang="he-IL"/>
          </a:p>
        </p:txBody>
      </p:sp>
    </p:spTree>
    <p:extLst>
      <p:ext uri="{BB962C8B-B14F-4D97-AF65-F5344CB8AC3E}">
        <p14:creationId xmlns:p14="http://schemas.microsoft.com/office/powerpoint/2010/main" val="94379784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r"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628650" y="365126"/>
            <a:ext cx="78867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8650" y="1825625"/>
            <a:ext cx="78867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457950" y="6356351"/>
            <a:ext cx="2057400" cy="365125"/>
          </a:xfrm>
          <a:prstGeom prst="rect">
            <a:avLst/>
          </a:prstGeom>
        </p:spPr>
        <p:txBody>
          <a:bodyPr vert="horz" lIns="91440" tIns="45720" rIns="91440" bIns="45720" rtlCol="1" anchor="ctr"/>
          <a:lstStyle>
            <a:lvl1pPr algn="r">
              <a:defRPr sz="900">
                <a:solidFill>
                  <a:schemeClr val="tx1">
                    <a:tint val="75000"/>
                  </a:schemeClr>
                </a:solidFill>
              </a:defRPr>
            </a:lvl1pPr>
          </a:lstStyle>
          <a:p>
            <a:fld id="{603F7627-8BE8-42B2-BF04-FF1AF6B8A607}" type="datetime8">
              <a:rPr lang="he-IL" smtClean="0">
                <a:solidFill>
                  <a:prstClr val="black">
                    <a:tint val="75000"/>
                  </a:prstClr>
                </a:solidFill>
              </a:rPr>
              <a:t>17 ינואר 26</a:t>
            </a:fld>
            <a:endParaRPr lang="he-IL">
              <a:solidFill>
                <a:prstClr val="black">
                  <a:tint val="75000"/>
                </a:prstClr>
              </a:solidFill>
            </a:endParaRPr>
          </a:p>
        </p:txBody>
      </p:sp>
      <p:sp>
        <p:nvSpPr>
          <p:cNvPr id="5" name="מציין מיקום של כותרת תחתונה 4"/>
          <p:cNvSpPr>
            <a:spLocks noGrp="1"/>
          </p:cNvSpPr>
          <p:nvPr>
            <p:ph type="ftr" sz="quarter" idx="3"/>
          </p:nvPr>
        </p:nvSpPr>
        <p:spPr>
          <a:xfrm>
            <a:off x="3028950" y="6356351"/>
            <a:ext cx="30861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r>
              <a:rPr lang="he-IL">
                <a:solidFill>
                  <a:prstClr val="black">
                    <a:tint val="75000"/>
                  </a:prstClr>
                </a:solidFill>
              </a:rPr>
              <a:t>אשנב לכלכלה - תרגול מספר 6</a:t>
            </a:r>
          </a:p>
        </p:txBody>
      </p:sp>
      <p:sp>
        <p:nvSpPr>
          <p:cNvPr id="6" name="מציין מיקום של מספר שקופית 5"/>
          <p:cNvSpPr>
            <a:spLocks noGrp="1"/>
          </p:cNvSpPr>
          <p:nvPr>
            <p:ph type="sldNum" sz="quarter" idx="4"/>
          </p:nvPr>
        </p:nvSpPr>
        <p:spPr>
          <a:xfrm>
            <a:off x="628650" y="6356351"/>
            <a:ext cx="2057400" cy="365125"/>
          </a:xfrm>
          <a:prstGeom prst="rect">
            <a:avLst/>
          </a:prstGeom>
        </p:spPr>
        <p:txBody>
          <a:bodyPr vert="horz" lIns="91440" tIns="45720" rIns="91440" bIns="45720" rtlCol="1" anchor="ctr"/>
          <a:lstStyle>
            <a:lvl1pPr algn="l">
              <a:defRPr sz="900">
                <a:solidFill>
                  <a:schemeClr val="tx1">
                    <a:tint val="75000"/>
                  </a:schemeClr>
                </a:solidFill>
              </a:defRPr>
            </a:lvl1p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17352194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r"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pPr/>
              <a:t>כ"ח/טבת/תשפ"ו</a:t>
            </a:fld>
            <a:endParaRPr lang="he-I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pPr/>
              <a:t>‹#›</a:t>
            </a:fld>
            <a:endParaRPr lang="he-IL"/>
          </a:p>
        </p:txBody>
      </p:sp>
    </p:spTree>
    <p:extLst>
      <p:ext uri="{BB962C8B-B14F-4D97-AF65-F5344CB8AC3E}">
        <p14:creationId xmlns:p14="http://schemas.microsoft.com/office/powerpoint/2010/main" val="20069046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כ"ח/טבת/תשפ"ו</a:t>
            </a:fld>
            <a:endParaRPr lang="he-IL">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84985526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600202"/>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553200" y="6356352"/>
            <a:ext cx="2133600" cy="365125"/>
          </a:xfrm>
          <a:prstGeom prst="rect">
            <a:avLst/>
          </a:prstGeom>
        </p:spPr>
        <p:txBody>
          <a:bodyPr vert="horz" lIns="91440" tIns="45720" rIns="91440" bIns="45720" rtlCol="1" anchor="ctr"/>
          <a:lstStyle>
            <a:lvl1pPr algn="r">
              <a:defRPr sz="900">
                <a:solidFill>
                  <a:schemeClr val="tx1">
                    <a:tint val="75000"/>
                  </a:schemeClr>
                </a:solidFill>
              </a:defRPr>
            </a:lvl1pPr>
          </a:lstStyle>
          <a:p>
            <a:fld id="{D596F47D-E3C0-4F61-B56F-8D34C2B92AF3}" type="datetime8">
              <a:rPr lang="he-IL" smtClean="0"/>
              <a:t>17 ינואר 26</a:t>
            </a:fld>
            <a:endParaRPr lang="he-IL"/>
          </a:p>
        </p:txBody>
      </p:sp>
      <p:sp>
        <p:nvSpPr>
          <p:cNvPr id="5" name="מציין מיקום של כותרת תחתונה 4"/>
          <p:cNvSpPr>
            <a:spLocks noGrp="1"/>
          </p:cNvSpPr>
          <p:nvPr>
            <p:ph type="ftr" sz="quarter" idx="3"/>
          </p:nvPr>
        </p:nvSpPr>
        <p:spPr>
          <a:xfrm>
            <a:off x="3124200" y="6356352"/>
            <a:ext cx="28956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457200" y="6356352"/>
            <a:ext cx="2133600" cy="365125"/>
          </a:xfrm>
          <a:prstGeom prst="rect">
            <a:avLst/>
          </a:prstGeom>
        </p:spPr>
        <p:txBody>
          <a:bodyPr vert="horz" lIns="91440" tIns="45720" rIns="91440" bIns="45720" rtlCol="1" anchor="ctr"/>
          <a:lstStyle>
            <a:lvl1pPr algn="l">
              <a:defRPr sz="900">
                <a:solidFill>
                  <a:schemeClr val="tx1">
                    <a:tint val="75000"/>
                  </a:schemeClr>
                </a:solidFill>
              </a:defRPr>
            </a:lvl1pPr>
          </a:lstStyle>
          <a:p>
            <a:fld id="{492DB488-E800-4C9D-A68D-A9C6D048BCD3}" type="slidenum">
              <a:rPr lang="he-IL" smtClean="0"/>
              <a:pPr/>
              <a:t>‹#›</a:t>
            </a:fld>
            <a:endParaRPr lang="he-IL"/>
          </a:p>
        </p:txBody>
      </p:sp>
    </p:spTree>
    <p:extLst>
      <p:ext uri="{BB962C8B-B14F-4D97-AF65-F5344CB8AC3E}">
        <p14:creationId xmlns:p14="http://schemas.microsoft.com/office/powerpoint/2010/main" val="36881745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p:txStyles>
    <p:titleStyle>
      <a:lvl1pPr algn="ctr" defTabSz="685800" rtl="1" eaLnBrk="1" latinLnBrk="0" hangingPunct="1">
        <a:spcBef>
          <a:spcPct val="0"/>
        </a:spcBef>
        <a:buNone/>
        <a:defRPr sz="3300" kern="1200">
          <a:solidFill>
            <a:schemeClr val="tx1"/>
          </a:solidFill>
          <a:latin typeface="+mj-lt"/>
          <a:ea typeface="+mj-ea"/>
          <a:cs typeface="+mj-cs"/>
        </a:defRPr>
      </a:lvl1pPr>
    </p:titleStyle>
    <p:bodyStyle>
      <a:lvl1pPr marL="257175" indent="-257175" algn="r" defTabSz="685800" rtl="1"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r" defTabSz="685800" rtl="1"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r" defTabSz="685800" rtl="1"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r" defTabSz="685800" rtl="1"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10.png"/><Relationship Id="rId2" Type="http://schemas.openxmlformats.org/officeDocument/2006/relationships/image" Target="../media/image160.png"/><Relationship Id="rId1" Type="http://schemas.openxmlformats.org/officeDocument/2006/relationships/slideLayout" Target="../slideLayouts/slideLayout1.xml"/><Relationship Id="rId5" Type="http://schemas.openxmlformats.org/officeDocument/2006/relationships/image" Target="../media/image44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501650"/>
            <a:ext cx="8686800" cy="4222749"/>
          </a:xfrm>
          <a:solidFill>
            <a:schemeClr val="accent1">
              <a:lumMod val="20000"/>
              <a:lumOff val="80000"/>
            </a:schemeClr>
          </a:solidFill>
        </p:spPr>
        <p:txBody>
          <a:bodyPr>
            <a:normAutofit fontScale="90000"/>
          </a:bodyPr>
          <a:lstStyle/>
          <a:p>
            <a:pPr rtl="1">
              <a:lnSpc>
                <a:spcPct val="150000"/>
              </a:lnSpc>
            </a:pPr>
            <a:br>
              <a:rPr lang="he-IL" sz="5400" b="1" dirty="0"/>
            </a:br>
            <a:r>
              <a:rPr lang="he-IL" sz="6700" b="1" dirty="0"/>
              <a:t>תרגול כיתה 12 </a:t>
            </a:r>
            <a:r>
              <a:rPr lang="he-IL" sz="5400" b="1" dirty="0"/>
              <a:t>– </a:t>
            </a:r>
            <a:br>
              <a:rPr lang="he-IL" sz="5400" dirty="0"/>
            </a:br>
            <a:r>
              <a:rPr lang="he-IL" sz="3600" dirty="0">
                <a:cs typeface="+mn-cs"/>
              </a:rPr>
              <a:t>1. שיווי משקל בשוק המוצר כאשר ישנן קבוצות צרכנים/יצרנים (שווקים חלקיים)</a:t>
            </a:r>
            <a:br>
              <a:rPr lang="he-IL" sz="3600" dirty="0">
                <a:cs typeface="+mn-cs"/>
              </a:rPr>
            </a:br>
            <a:r>
              <a:rPr lang="he-IL" sz="3600" dirty="0">
                <a:cs typeface="+mn-cs"/>
              </a:rPr>
              <a:t>2. משק פתוח: ייבוא וייצוא </a:t>
            </a:r>
            <a:br>
              <a:rPr lang="en-US" sz="3600" dirty="0">
                <a:cs typeface="+mn-cs"/>
              </a:rPr>
            </a:br>
            <a:r>
              <a:rPr lang="he-IL" sz="3600" dirty="0">
                <a:cs typeface="+mn-cs"/>
              </a:rPr>
              <a:t>3. הטלת מס בסכום </a:t>
            </a:r>
            <a:r>
              <a:rPr lang="he-IL" sz="3600">
                <a:cs typeface="+mn-cs"/>
              </a:rPr>
              <a:t>קבוע במשק סגור</a:t>
            </a:r>
            <a:br>
              <a:rPr lang="he-IL" sz="4000" dirty="0"/>
            </a:br>
            <a:endParaRPr lang="en-US" sz="5400" dirty="0"/>
          </a:p>
        </p:txBody>
      </p:sp>
      <p:sp>
        <p:nvSpPr>
          <p:cNvPr id="3" name="Subtitle 2"/>
          <p:cNvSpPr>
            <a:spLocks noGrp="1"/>
          </p:cNvSpPr>
          <p:nvPr>
            <p:ph type="subTitle" idx="1"/>
          </p:nvPr>
        </p:nvSpPr>
        <p:spPr>
          <a:xfrm>
            <a:off x="1371600" y="5638800"/>
            <a:ext cx="6400800" cy="717550"/>
          </a:xfrm>
        </p:spPr>
        <p:txBody>
          <a:bodyPr>
            <a:normAutofit/>
          </a:bodyPr>
          <a:lstStyle/>
          <a:p>
            <a:r>
              <a:rPr lang="he-IL" dirty="0"/>
              <a:t>מבוא למיקרו כלכלה</a:t>
            </a:r>
          </a:p>
        </p:txBody>
      </p:sp>
      <p:sp>
        <p:nvSpPr>
          <p:cNvPr id="4" name="Slide Number Placeholder 3"/>
          <p:cNvSpPr>
            <a:spLocks noGrp="1"/>
          </p:cNvSpPr>
          <p:nvPr>
            <p:ph type="sldNum" sz="quarter" idx="12"/>
          </p:nvPr>
        </p:nvSpPr>
        <p:spPr/>
        <p:txBody>
          <a:bodyPr/>
          <a:lstStyle/>
          <a:p>
            <a:fld id="{CBF92039-BB9D-4F46-95B7-49E6508B93B0}" type="slidenum">
              <a:rPr lang="en-US" smtClean="0"/>
              <a:t>1</a:t>
            </a:fld>
            <a:endParaRPr lang="en-US"/>
          </a:p>
        </p:txBody>
      </p:sp>
      <p:sp>
        <p:nvSpPr>
          <p:cNvPr id="5" name="Date Placeholder 4">
            <a:extLst>
              <a:ext uri="{FF2B5EF4-FFF2-40B4-BE49-F238E27FC236}">
                <a16:creationId xmlns:a16="http://schemas.microsoft.com/office/drawing/2014/main" id="{2F8C4584-A6E2-44A3-83EE-DFB3C3297F2E}"/>
              </a:ext>
            </a:extLst>
          </p:cNvPr>
          <p:cNvSpPr>
            <a:spLocks noGrp="1"/>
          </p:cNvSpPr>
          <p:nvPr>
            <p:ph type="dt" sz="half" idx="10"/>
          </p:nvPr>
        </p:nvSpPr>
        <p:spPr/>
        <p:txBody>
          <a:bodyPr/>
          <a:lstStyle/>
          <a:p>
            <a:fld id="{93258F74-ABB7-44FA-BBFE-303C536452ED}" type="datetime8">
              <a:rPr lang="he-IL" smtClean="0"/>
              <a:t>17 ינואר 26</a:t>
            </a:fld>
            <a:endParaRPr lang="he-IL"/>
          </a:p>
        </p:txBody>
      </p:sp>
    </p:spTree>
    <p:extLst>
      <p:ext uri="{BB962C8B-B14F-4D97-AF65-F5344CB8AC3E}">
        <p14:creationId xmlns:p14="http://schemas.microsoft.com/office/powerpoint/2010/main" val="58741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D2B-8F9C-4268-ADDD-84D9631C7940}"/>
              </a:ext>
            </a:extLst>
          </p:cNvPr>
          <p:cNvSpPr>
            <a:spLocks noGrp="1"/>
          </p:cNvSpPr>
          <p:nvPr>
            <p:ph type="title"/>
          </p:nvPr>
        </p:nvSpPr>
        <p:spPr>
          <a:xfrm>
            <a:off x="762000" y="1981200"/>
            <a:ext cx="7886700" cy="1325563"/>
          </a:xfrm>
        </p:spPr>
        <p:txBody>
          <a:bodyPr>
            <a:normAutofit/>
          </a:bodyPr>
          <a:lstStyle/>
          <a:p>
            <a:pPr algn="ctr"/>
            <a:r>
              <a:rPr lang="he-IL" sz="4800" dirty="0"/>
              <a:t>שווקים חלקיים- ביקוש</a:t>
            </a:r>
            <a:endParaRPr lang="en-IL" sz="4800" dirty="0"/>
          </a:p>
        </p:txBody>
      </p:sp>
      <p:sp>
        <p:nvSpPr>
          <p:cNvPr id="4" name="Date Placeholder 3">
            <a:extLst>
              <a:ext uri="{FF2B5EF4-FFF2-40B4-BE49-F238E27FC236}">
                <a16:creationId xmlns:a16="http://schemas.microsoft.com/office/drawing/2014/main" id="{388E612B-43E9-480D-9B48-5FB11E1BABE4}"/>
              </a:ext>
            </a:extLst>
          </p:cNvPr>
          <p:cNvSpPr>
            <a:spLocks noGrp="1"/>
          </p:cNvSpPr>
          <p:nvPr>
            <p:ph type="dt" sz="half" idx="10"/>
          </p:nvPr>
        </p:nvSpPr>
        <p:spPr/>
        <p:txBody>
          <a:bodyPr/>
          <a:lstStyle/>
          <a:p>
            <a:fld id="{7F9AC868-853D-43AE-896D-482E64F268BC}" type="datetime8">
              <a:rPr lang="he-IL" smtClean="0"/>
              <a:t>17 ינואר 26</a:t>
            </a:fld>
            <a:endParaRPr lang="he-IL"/>
          </a:p>
        </p:txBody>
      </p:sp>
      <p:sp>
        <p:nvSpPr>
          <p:cNvPr id="6" name="Slide Number Placeholder 5">
            <a:extLst>
              <a:ext uri="{FF2B5EF4-FFF2-40B4-BE49-F238E27FC236}">
                <a16:creationId xmlns:a16="http://schemas.microsoft.com/office/drawing/2014/main" id="{EAF9C19A-CAE6-4E8E-B0D2-30ACD23BBC90}"/>
              </a:ext>
            </a:extLst>
          </p:cNvPr>
          <p:cNvSpPr>
            <a:spLocks noGrp="1"/>
          </p:cNvSpPr>
          <p:nvPr>
            <p:ph type="sldNum" sz="quarter" idx="12"/>
          </p:nvPr>
        </p:nvSpPr>
        <p:spPr/>
        <p:txBody>
          <a:bodyPr/>
          <a:lstStyle/>
          <a:p>
            <a:fld id="{D69A981F-4466-4789-9E41-1885E502A96E}" type="slidenum">
              <a:rPr lang="he-IL" smtClean="0"/>
              <a:t>2</a:t>
            </a:fld>
            <a:endParaRPr lang="he-IL"/>
          </a:p>
        </p:txBody>
      </p:sp>
    </p:spTree>
    <p:extLst>
      <p:ext uri="{BB962C8B-B14F-4D97-AF65-F5344CB8AC3E}">
        <p14:creationId xmlns:p14="http://schemas.microsoft.com/office/powerpoint/2010/main" val="75027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241865" y="13866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8135" name="Line 3"/>
          <p:cNvSpPr>
            <a:spLocks noChangeShapeType="1"/>
          </p:cNvSpPr>
          <p:nvPr/>
        </p:nvSpPr>
        <p:spPr bwMode="auto">
          <a:xfrm>
            <a:off x="601837" y="1600218"/>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2143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Line 3"/>
          <p:cNvSpPr>
            <a:spLocks noChangeShapeType="1"/>
          </p:cNvSpPr>
          <p:nvPr/>
        </p:nvSpPr>
        <p:spPr bwMode="auto">
          <a:xfrm rot="16200000">
            <a:off x="1537076" y="2832912"/>
            <a:ext cx="14490" cy="185922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2721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6" name="Line 3"/>
          <p:cNvSpPr>
            <a:spLocks noChangeShapeType="1"/>
          </p:cNvSpPr>
          <p:nvPr/>
        </p:nvSpPr>
        <p:spPr bwMode="auto">
          <a:xfrm>
            <a:off x="3050307" y="157161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4864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Text Box 18"/>
          <p:cNvSpPr txBox="1">
            <a:spLocks noChangeArrowheads="1"/>
          </p:cNvSpPr>
          <p:nvPr/>
        </p:nvSpPr>
        <p:spPr bwMode="auto">
          <a:xfrm>
            <a:off x="3123257" y="37147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r" rtl="1"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sp>
        <p:nvSpPr>
          <p:cNvPr id="40" name="Line 3"/>
          <p:cNvSpPr>
            <a:spLocks noChangeShapeType="1"/>
          </p:cNvSpPr>
          <p:nvPr/>
        </p:nvSpPr>
        <p:spPr bwMode="auto">
          <a:xfrm rot="16200000">
            <a:off x="3970996" y="282553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5572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Line 3"/>
          <p:cNvSpPr>
            <a:spLocks noChangeShapeType="1"/>
          </p:cNvSpPr>
          <p:nvPr/>
        </p:nvSpPr>
        <p:spPr bwMode="auto">
          <a:xfrm>
            <a:off x="5890384" y="158590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7161329" y="2467261"/>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2759655" y="785794"/>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ב'</a:t>
            </a:r>
          </a:p>
        </p:txBody>
      </p:sp>
      <p:sp>
        <p:nvSpPr>
          <p:cNvPr id="48" name="כותרת 1"/>
          <p:cNvSpPr txBox="1">
            <a:spLocks/>
          </p:cNvSpPr>
          <p:nvPr/>
        </p:nvSpPr>
        <p:spPr>
          <a:xfrm>
            <a:off x="0" y="857232"/>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א'</a:t>
            </a:r>
          </a:p>
        </p:txBody>
      </p:sp>
      <p:sp>
        <p:nvSpPr>
          <p:cNvPr id="49" name="כותרת 1"/>
          <p:cNvSpPr txBox="1">
            <a:spLocks/>
          </p:cNvSpPr>
          <p:nvPr/>
        </p:nvSpPr>
        <p:spPr>
          <a:xfrm>
            <a:off x="6500858" y="857232"/>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34" name="מחבר ישר 33"/>
          <p:cNvCxnSpPr>
            <a:cxnSpLocks/>
          </p:cNvCxnSpPr>
          <p:nvPr/>
        </p:nvCxnSpPr>
        <p:spPr>
          <a:xfrm flipH="1">
            <a:off x="614707" y="2876542"/>
            <a:ext cx="6243572" cy="0"/>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142909" y="2658638"/>
            <a:ext cx="675399" cy="275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Px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cxnSp>
        <p:nvCxnSpPr>
          <p:cNvPr id="58" name="מחבר ישר 57"/>
          <p:cNvCxnSpPr>
            <a:cxnSpLocks/>
          </p:cNvCxnSpPr>
          <p:nvPr/>
        </p:nvCxnSpPr>
        <p:spPr>
          <a:xfrm flipV="1">
            <a:off x="6871146" y="2857497"/>
            <a:ext cx="0" cy="901673"/>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754600" y="3773515"/>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r" rtl="1"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sp>
        <p:nvSpPr>
          <p:cNvPr id="71" name="Text Box 18"/>
          <p:cNvSpPr txBox="1">
            <a:spLocks noChangeArrowheads="1"/>
          </p:cNvSpPr>
          <p:nvPr/>
        </p:nvSpPr>
        <p:spPr bwMode="auto">
          <a:xfrm>
            <a:off x="6406488" y="3783382"/>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r" rtl="1" fontAlgn="base">
              <a:spcBef>
                <a:spcPct val="0"/>
              </a:spcBef>
              <a:spcAft>
                <a:spcPts val="1000"/>
              </a:spcAft>
            </a:pPr>
            <a:r>
              <a:rPr lang="en-US" sz="2400" dirty="0">
                <a:solidFill>
                  <a:schemeClr val="tx2"/>
                </a:solidFill>
                <a:latin typeface="Bell MT" panose="02020503060305020303" pitchFamily="18"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cxnSp>
        <p:nvCxnSpPr>
          <p:cNvPr id="72" name="מחבר ישר 71"/>
          <p:cNvCxnSpPr/>
          <p:nvPr/>
        </p:nvCxnSpPr>
        <p:spPr>
          <a:xfrm rot="16200000" flipV="1">
            <a:off x="2933898" y="3287531"/>
            <a:ext cx="947355" cy="18658"/>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975018" y="2857497"/>
            <a:ext cx="18658" cy="894577"/>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7910157" y="3788662"/>
            <a:ext cx="1150973"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r>
              <a:rPr kumimoji="0" lang="he-IL" sz="2000" b="0" i="0" u="none" strike="noStrike" cap="none" normalizeH="0" baseline="0" dirty="0">
                <a:ln>
                  <a:noFill/>
                </a:ln>
                <a:solidFill>
                  <a:schemeClr val="tx1"/>
                </a:solidFill>
                <a:effectLst/>
                <a:latin typeface="Calibri" pitchFamily="34" charset="0"/>
                <a:ea typeface="Arial" pitchFamily="34" charset="0"/>
                <a:cs typeface="Arial" pitchFamily="34" charset="0"/>
              </a:rPr>
              <a:t>מצרפי</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3" name="כותרת 1"/>
          <p:cNvSpPr txBox="1">
            <a:spLocks/>
          </p:cNvSpPr>
          <p:nvPr/>
        </p:nvSpPr>
        <p:spPr>
          <a:xfrm>
            <a:off x="6572264" y="1"/>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1</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697308" y="250022"/>
            <a:ext cx="3197267" cy="3312367"/>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3177802" y="315283"/>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6076419" y="431388"/>
            <a:ext cx="4768031" cy="2819017"/>
          </a:xfrm>
          <a:prstGeom prst="arc">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94AA2BD9-023A-4D04-8829-D1A1D0DB44D2}"/>
              </a:ext>
            </a:extLst>
          </p:cNvPr>
          <p:cNvSpPr txBox="1"/>
          <p:nvPr/>
        </p:nvSpPr>
        <p:spPr>
          <a:xfrm>
            <a:off x="-142908" y="115603"/>
            <a:ext cx="7294018" cy="369332"/>
          </a:xfrm>
          <a:prstGeom prst="rect">
            <a:avLst/>
          </a:prstGeom>
          <a:noFill/>
        </p:spPr>
        <p:txBody>
          <a:bodyPr wrap="square">
            <a:spAutoFit/>
          </a:bodyPr>
          <a:lstStyle/>
          <a:p>
            <a:pPr algn="r" rtl="1"/>
            <a:r>
              <a:rPr lang="he-IL" sz="1800" dirty="0"/>
              <a:t>במשק מסוים ישנם צרכני עיר א' וצרכני עיר ב' </a:t>
            </a:r>
            <a:r>
              <a:rPr lang="he-IL" dirty="0"/>
              <a:t>המבקשים </a:t>
            </a:r>
            <a:r>
              <a:rPr lang="he-IL" sz="1800" dirty="0"/>
              <a:t>לרכוש את מוצר </a:t>
            </a:r>
            <a:r>
              <a:rPr lang="en-US" sz="1800" dirty="0"/>
              <a:t>X</a:t>
            </a:r>
            <a:r>
              <a:rPr lang="he-IL" sz="1800" dirty="0"/>
              <a:t>. </a:t>
            </a:r>
            <a:endParaRPr lang="en-IL" dirty="0"/>
          </a:p>
        </p:txBody>
      </p:sp>
      <p:sp>
        <p:nvSpPr>
          <p:cNvPr id="4" name="Arc 3">
            <a:extLst>
              <a:ext uri="{FF2B5EF4-FFF2-40B4-BE49-F238E27FC236}">
                <a16:creationId xmlns:a16="http://schemas.microsoft.com/office/drawing/2014/main" id="{81581997-EF4A-46C5-B617-17D35FA96D3C}"/>
              </a:ext>
            </a:extLst>
          </p:cNvPr>
          <p:cNvSpPr/>
          <p:nvPr/>
        </p:nvSpPr>
        <p:spPr>
          <a:xfrm rot="15717349" flipH="1" flipV="1">
            <a:off x="4519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3" name="TextBox 32">
            <a:extLst>
              <a:ext uri="{FF2B5EF4-FFF2-40B4-BE49-F238E27FC236}">
                <a16:creationId xmlns:a16="http://schemas.microsoft.com/office/drawing/2014/main" id="{0B1DC290-FD94-45EB-B7A8-813735C784CF}"/>
              </a:ext>
            </a:extLst>
          </p:cNvPr>
          <p:cNvSpPr txBox="1"/>
          <p:nvPr/>
        </p:nvSpPr>
        <p:spPr>
          <a:xfrm>
            <a:off x="7915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6CBAAF2-0502-4C6B-AAC0-6BF84383C34F}"/>
                  </a:ext>
                </a:extLst>
              </p:cNvPr>
              <p:cNvSpPr txBox="1"/>
              <p:nvPr/>
            </p:nvSpPr>
            <p:spPr>
              <a:xfrm>
                <a:off x="7589851" y="2876542"/>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r>
                        <a:rPr lang="he-IL" sz="1600" b="1" i="0" smtClean="0">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38" name="TextBox 37">
                <a:extLst>
                  <a:ext uri="{FF2B5EF4-FFF2-40B4-BE49-F238E27FC236}">
                    <a16:creationId xmlns:a16="http://schemas.microsoft.com/office/drawing/2014/main" id="{C6CBAAF2-0502-4C6B-AAC0-6BF84383C34F}"/>
                  </a:ext>
                </a:extLst>
              </p:cNvPr>
              <p:cNvSpPr txBox="1">
                <a:spLocks noRot="1" noChangeAspect="1" noMove="1" noResize="1" noEditPoints="1" noAdjustHandles="1" noChangeArrowheads="1" noChangeShapeType="1" noTextEdit="1"/>
              </p:cNvSpPr>
              <p:nvPr/>
            </p:nvSpPr>
            <p:spPr>
              <a:xfrm>
                <a:off x="7589851" y="2876542"/>
                <a:ext cx="1278065" cy="276294"/>
              </a:xfrm>
              <a:prstGeom prst="rect">
                <a:avLst/>
              </a:prstGeom>
              <a:blipFill>
                <a:blip r:embed="rId2"/>
                <a:stretch>
                  <a:fillRect t="-15556" b="-42222"/>
                </a:stretch>
              </a:blipFill>
            </p:spPr>
            <p:txBody>
              <a:bodyPr/>
              <a:lstStyle/>
              <a:p>
                <a:r>
                  <a:rPr lang="en-IL">
                    <a:noFill/>
                  </a:rPr>
                  <a:t> </a:t>
                </a:r>
              </a:p>
            </p:txBody>
          </p:sp>
        </mc:Fallback>
      </mc:AlternateContent>
      <p:sp>
        <p:nvSpPr>
          <p:cNvPr id="50" name="TextBox 49">
            <a:extLst>
              <a:ext uri="{FF2B5EF4-FFF2-40B4-BE49-F238E27FC236}">
                <a16:creationId xmlns:a16="http://schemas.microsoft.com/office/drawing/2014/main" id="{AC2BBE6C-974A-4235-8989-AC9CE171E456}"/>
              </a:ext>
            </a:extLst>
          </p:cNvPr>
          <p:cNvSpPr txBox="1"/>
          <p:nvPr/>
        </p:nvSpPr>
        <p:spPr>
          <a:xfrm>
            <a:off x="152400" y="4278887"/>
            <a:ext cx="8843867" cy="703847"/>
          </a:xfrm>
          <a:prstGeom prst="rect">
            <a:avLst/>
          </a:prstGeom>
          <a:noFill/>
        </p:spPr>
        <p:txBody>
          <a:bodyPr wrap="square">
            <a:spAutoFit/>
          </a:bodyPr>
          <a:lstStyle/>
          <a:p>
            <a:pPr algn="r" rtl="1">
              <a:lnSpc>
                <a:spcPct val="150000"/>
              </a:lnSpc>
            </a:pPr>
            <a:r>
              <a:rPr lang="he-IL" sz="1400" dirty="0"/>
              <a:t>לאחרונה חלה </a:t>
            </a:r>
            <a:r>
              <a:rPr lang="he-IL" sz="1400" b="1" u="sng" dirty="0"/>
              <a:t>ירידה במחיר מוצר </a:t>
            </a:r>
            <a:r>
              <a:rPr lang="en-US" sz="1400" b="1" u="sng" dirty="0"/>
              <a:t>Y</a:t>
            </a:r>
            <a:r>
              <a:rPr lang="he-IL" sz="1400" dirty="0"/>
              <a:t>. ידוע שמוצר </a:t>
            </a:r>
            <a:r>
              <a:rPr lang="en-US" sz="1400" dirty="0"/>
              <a:t>Y</a:t>
            </a:r>
            <a:r>
              <a:rPr lang="he-IL" sz="1400" dirty="0"/>
              <a:t> הינו מוצר </a:t>
            </a:r>
            <a:r>
              <a:rPr lang="he-IL" sz="1400" b="1" dirty="0"/>
              <a:t>משלים ל-</a:t>
            </a:r>
            <a:r>
              <a:rPr lang="en-US" sz="1400" b="1" dirty="0"/>
              <a:t>X</a:t>
            </a:r>
            <a:r>
              <a:rPr lang="he-IL" sz="1400" b="1" dirty="0"/>
              <a:t> </a:t>
            </a:r>
            <a:r>
              <a:rPr lang="he-IL" sz="1400" dirty="0"/>
              <a:t>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(עליית </a:t>
            </a:r>
            <a:r>
              <a:rPr lang="en-US" sz="1400" dirty="0"/>
              <a:t>PY</a:t>
            </a:r>
            <a:r>
              <a:rPr lang="he-IL" sz="1400" dirty="0"/>
              <a:t>):</a:t>
            </a:r>
          </a:p>
        </p:txBody>
      </p:sp>
      <p:sp>
        <p:nvSpPr>
          <p:cNvPr id="52" name="TextBox 51">
            <a:extLst>
              <a:ext uri="{FF2B5EF4-FFF2-40B4-BE49-F238E27FC236}">
                <a16:creationId xmlns:a16="http://schemas.microsoft.com/office/drawing/2014/main" id="{A829B92F-3971-4AD8-B7D7-B7819D5697ED}"/>
              </a:ext>
            </a:extLst>
          </p:cNvPr>
          <p:cNvSpPr txBox="1"/>
          <p:nvPr/>
        </p:nvSpPr>
        <p:spPr>
          <a:xfrm>
            <a:off x="3266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dirty="0"/>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3" name="Date Placeholder 2">
            <a:extLst>
              <a:ext uri="{FF2B5EF4-FFF2-40B4-BE49-F238E27FC236}">
                <a16:creationId xmlns:a16="http://schemas.microsoft.com/office/drawing/2014/main" id="{D49DC9F6-392E-4351-B944-D54EDECCF5D7}"/>
              </a:ext>
            </a:extLst>
          </p:cNvPr>
          <p:cNvSpPr>
            <a:spLocks noGrp="1"/>
          </p:cNvSpPr>
          <p:nvPr>
            <p:ph type="dt" sz="half" idx="10"/>
          </p:nvPr>
        </p:nvSpPr>
        <p:spPr>
          <a:xfrm>
            <a:off x="7002427" y="6445224"/>
            <a:ext cx="2133600" cy="365125"/>
          </a:xfrm>
        </p:spPr>
        <p:txBody>
          <a:bodyPr/>
          <a:lstStyle/>
          <a:p>
            <a:fld id="{B923787F-775F-4BB2-A743-E9108D724F94}" type="datetime8">
              <a:rPr lang="he-IL" smtClean="0"/>
              <a:t>17 ינואר 26</a:t>
            </a:fld>
            <a:endParaRPr lang="he-IL" dirty="0"/>
          </a:p>
        </p:txBody>
      </p:sp>
      <p:sp>
        <p:nvSpPr>
          <p:cNvPr id="5" name="Slide Number Placeholder 4">
            <a:extLst>
              <a:ext uri="{FF2B5EF4-FFF2-40B4-BE49-F238E27FC236}">
                <a16:creationId xmlns:a16="http://schemas.microsoft.com/office/drawing/2014/main" id="{6B80CAED-127C-4898-995A-1F22325B4F2D}"/>
              </a:ext>
            </a:extLst>
          </p:cNvPr>
          <p:cNvSpPr>
            <a:spLocks noGrp="1"/>
          </p:cNvSpPr>
          <p:nvPr>
            <p:ph type="sldNum" sz="quarter" idx="12"/>
          </p:nvPr>
        </p:nvSpPr>
        <p:spPr/>
        <p:txBody>
          <a:bodyPr/>
          <a:lstStyle/>
          <a:p>
            <a:fld id="{492DB488-E800-4C9D-A68D-A9C6D048BCD3}" type="slidenum">
              <a:rPr lang="he-IL" smtClean="0"/>
              <a:pPr/>
              <a:t>3</a:t>
            </a:fld>
            <a:endParaRPr lang="he-IL"/>
          </a:p>
        </p:txBody>
      </p:sp>
    </p:spTree>
    <p:extLst>
      <p:ext uri="{BB962C8B-B14F-4D97-AF65-F5344CB8AC3E}">
        <p14:creationId xmlns:p14="http://schemas.microsoft.com/office/powerpoint/2010/main" val="241238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arn(inVertical)">
                                      <p:cBhvr>
                                        <p:cTn id="7" dur="500"/>
                                        <p:tgtEl>
                                          <p:spTgt spid="3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par>
                                <p:cTn id="11" presetID="16" presetClass="entr" presetSubtype="21"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barn(inVertical)">
                                      <p:cBhvr>
                                        <p:cTn id="13" dur="500"/>
                                        <p:tgtEl>
                                          <p:spTgt spid="73"/>
                                        </p:tgtEl>
                                      </p:cBhvr>
                                    </p:animEffect>
                                  </p:childTnLst>
                                </p:cTn>
                              </p:par>
                              <p:par>
                                <p:cTn id="14" presetID="16" presetClass="entr" presetSubtype="21" fill="hold"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barn(inVertical)">
                                      <p:cBhvr>
                                        <p:cTn id="16" dur="500"/>
                                        <p:tgtEl>
                                          <p:spTgt spid="7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barn(inVertical)">
                                      <p:cBhvr>
                                        <p:cTn id="21" dur="500"/>
                                        <p:tgtEl>
                                          <p:spTgt spid="5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fade">
                                      <p:cBhvr>
                                        <p:cTn id="26" dur="500"/>
                                        <p:tgtEl>
                                          <p:spTgt spid="7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71"/>
                                        </p:tgtEl>
                                        <p:attrNameLst>
                                          <p:attrName>style.visibility</p:attrName>
                                        </p:attrNameLst>
                                      </p:cBhvr>
                                      <p:to>
                                        <p:strVal val="visible"/>
                                      </p:to>
                                    </p:set>
                                    <p:anim calcmode="lin" valueType="num">
                                      <p:cBhvr>
                                        <p:cTn id="34" dur="500" fill="hold"/>
                                        <p:tgtEl>
                                          <p:spTgt spid="71"/>
                                        </p:tgtEl>
                                        <p:attrNameLst>
                                          <p:attrName>ppt_w</p:attrName>
                                        </p:attrNameLst>
                                      </p:cBhvr>
                                      <p:tavLst>
                                        <p:tav tm="0">
                                          <p:val>
                                            <p:fltVal val="0"/>
                                          </p:val>
                                        </p:tav>
                                        <p:tav tm="100000">
                                          <p:val>
                                            <p:strVal val="#ppt_w"/>
                                          </p:val>
                                        </p:tav>
                                      </p:tavLst>
                                    </p:anim>
                                    <p:anim calcmode="lin" valueType="num">
                                      <p:cBhvr>
                                        <p:cTn id="35" dur="500" fill="hold"/>
                                        <p:tgtEl>
                                          <p:spTgt spid="71"/>
                                        </p:tgtEl>
                                        <p:attrNameLst>
                                          <p:attrName>ppt_h</p:attrName>
                                        </p:attrNameLst>
                                      </p:cBhvr>
                                      <p:tavLst>
                                        <p:tav tm="0">
                                          <p:val>
                                            <p:fltVal val="0"/>
                                          </p:val>
                                        </p:tav>
                                        <p:tav tm="100000">
                                          <p:val>
                                            <p:strVal val="#ppt_h"/>
                                          </p:val>
                                        </p:tav>
                                      </p:tavLst>
                                    </p:anim>
                                    <p:animEffect transition="in" filter="fade">
                                      <p:cBhvr>
                                        <p:cTn id="3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51" grpId="0"/>
      <p:bldP spid="70" grpId="0"/>
      <p:bldP spid="7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57834" y="144617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8135" name="Line 3"/>
          <p:cNvSpPr>
            <a:spLocks noChangeShapeType="1"/>
          </p:cNvSpPr>
          <p:nvPr/>
        </p:nvSpPr>
        <p:spPr bwMode="auto">
          <a:xfrm>
            <a:off x="410332" y="1571695"/>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2143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Line 3"/>
          <p:cNvSpPr>
            <a:spLocks noChangeShapeType="1"/>
          </p:cNvSpPr>
          <p:nvPr/>
        </p:nvSpPr>
        <p:spPr bwMode="auto">
          <a:xfrm rot="16200000">
            <a:off x="1433420" y="2732195"/>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2721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6" name="Line 3"/>
          <p:cNvSpPr>
            <a:spLocks noChangeShapeType="1"/>
          </p:cNvSpPr>
          <p:nvPr/>
        </p:nvSpPr>
        <p:spPr bwMode="auto">
          <a:xfrm>
            <a:off x="3088680" y="1582521"/>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4864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Text Box 18"/>
          <p:cNvSpPr txBox="1">
            <a:spLocks noChangeArrowheads="1"/>
          </p:cNvSpPr>
          <p:nvPr/>
        </p:nvSpPr>
        <p:spPr bwMode="auto">
          <a:xfrm>
            <a:off x="3542368" y="3741248"/>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0" name="Line 3"/>
          <p:cNvSpPr>
            <a:spLocks noChangeShapeType="1"/>
          </p:cNvSpPr>
          <p:nvPr/>
        </p:nvSpPr>
        <p:spPr bwMode="auto">
          <a:xfrm rot="16200000">
            <a:off x="3970996" y="282553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5572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Line 3"/>
          <p:cNvSpPr>
            <a:spLocks noChangeShapeType="1"/>
          </p:cNvSpPr>
          <p:nvPr/>
        </p:nvSpPr>
        <p:spPr bwMode="auto">
          <a:xfrm>
            <a:off x="5890384" y="158590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7161329" y="2467261"/>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2930742" y="1172961"/>
            <a:ext cx="2643142" cy="500042"/>
          </a:xfrm>
          <a:prstGeom prst="rect">
            <a:avLst/>
          </a:prstGeom>
        </p:spPr>
        <p:txBody>
          <a:bodyPr vert="horz" lIns="91440" tIns="45720" rIns="91440" bIns="45720" rtlCol="1" anchor="ctr">
            <a:normAutofit fontScale="525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ב' – בלתי תלוי ב</a:t>
            </a:r>
            <a:r>
              <a:rPr kumimoji="0" lang="en-US" sz="4400" i="0" u="sng" strike="noStrike" kern="1200" cap="none" spc="0" normalizeH="0" baseline="0" noProof="0" dirty="0">
                <a:ln>
                  <a:noFill/>
                </a:ln>
                <a:solidFill>
                  <a:schemeClr val="tx1"/>
                </a:solidFill>
                <a:effectLst/>
                <a:uLnTx/>
                <a:uFillTx/>
                <a:latin typeface="+mj-lt"/>
                <a:ea typeface="+mj-ea"/>
                <a:cs typeface="+mj-cs"/>
              </a:rPr>
              <a:t>Y</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48" name="כותרת 1"/>
          <p:cNvSpPr txBox="1">
            <a:spLocks/>
          </p:cNvSpPr>
          <p:nvPr/>
        </p:nvSpPr>
        <p:spPr>
          <a:xfrm>
            <a:off x="159925" y="1157299"/>
            <a:ext cx="2643142" cy="500042"/>
          </a:xfrm>
          <a:prstGeom prst="rect">
            <a:avLst/>
          </a:prstGeom>
        </p:spPr>
        <p:txBody>
          <a:bodyPr vert="horz" lIns="91440" tIns="45720" rIns="91440" bIns="45720" rtlCol="1" anchor="ctr">
            <a:normAutofit fontScale="675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א’-משלים ל</a:t>
            </a:r>
            <a:r>
              <a:rPr kumimoji="0" lang="en-US" sz="4400" i="0" u="sng" strike="noStrike" kern="1200" cap="none" spc="0" normalizeH="0" baseline="0" noProof="0" dirty="0">
                <a:ln>
                  <a:noFill/>
                </a:ln>
                <a:solidFill>
                  <a:schemeClr val="tx1"/>
                </a:solidFill>
                <a:effectLst/>
                <a:uLnTx/>
                <a:uFillTx/>
                <a:latin typeface="+mj-lt"/>
                <a:ea typeface="+mj-ea"/>
                <a:cs typeface="+mj-cs"/>
              </a:rPr>
              <a:t>Y</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49" name="כותרת 1"/>
          <p:cNvSpPr txBox="1">
            <a:spLocks/>
          </p:cNvSpPr>
          <p:nvPr/>
        </p:nvSpPr>
        <p:spPr>
          <a:xfrm>
            <a:off x="6820349" y="1196151"/>
            <a:ext cx="1862423"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34" name="מחבר ישר 33"/>
          <p:cNvCxnSpPr>
            <a:cxnSpLocks/>
            <a:endCxn id="51" idx="3"/>
          </p:cNvCxnSpPr>
          <p:nvPr/>
        </p:nvCxnSpPr>
        <p:spPr>
          <a:xfrm flipH="1" flipV="1">
            <a:off x="442200" y="286979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57834" y="2734643"/>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ea typeface="Arial" pitchFamily="34" charset="0"/>
                <a:cs typeface="Arial" pitchFamily="34" charset="0"/>
              </a:rPr>
              <a:t>P</a:t>
            </a:r>
            <a:r>
              <a:rPr kumimoji="0" lang="en-US" sz="1400" b="0" i="0" u="none" strike="noStrike" cap="none" normalizeH="0" baseline="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cxnSp>
        <p:nvCxnSpPr>
          <p:cNvPr id="58" name="מחבר ישר 57"/>
          <p:cNvCxnSpPr>
            <a:cxnSpLocks/>
          </p:cNvCxnSpPr>
          <p:nvPr/>
        </p:nvCxnSpPr>
        <p:spPr>
          <a:xfrm flipV="1">
            <a:off x="6842292" y="2857496"/>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410332" y="3763436"/>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71" name="Text Box 18"/>
          <p:cNvSpPr txBox="1">
            <a:spLocks noChangeArrowheads="1"/>
          </p:cNvSpPr>
          <p:nvPr/>
        </p:nvSpPr>
        <p:spPr bwMode="auto">
          <a:xfrm>
            <a:off x="6305008" y="377348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cxnSp>
        <p:nvCxnSpPr>
          <p:cNvPr id="72" name="מחבר ישר 71"/>
          <p:cNvCxnSpPr/>
          <p:nvPr/>
        </p:nvCxnSpPr>
        <p:spPr>
          <a:xfrm rot="16200000" flipV="1">
            <a:off x="3245544" y="3275946"/>
            <a:ext cx="947355" cy="18658"/>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668105" y="2849794"/>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8253544" y="378777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3" name="כותרת 1"/>
          <p:cNvSpPr txBox="1">
            <a:spLocks/>
          </p:cNvSpPr>
          <p:nvPr/>
        </p:nvSpPr>
        <p:spPr>
          <a:xfrm>
            <a:off x="7231894" y="1"/>
            <a:ext cx="191210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1</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464503" y="381188"/>
            <a:ext cx="3197267" cy="3312367"/>
          </a:xfrm>
          <a:prstGeom prst="arc">
            <a:avLst>
              <a:gd name="adj1" fmla="val 17010548"/>
              <a:gd name="adj2" fmla="val 2120282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3441752" y="276266"/>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6076419" y="431388"/>
            <a:ext cx="4768031" cy="2819017"/>
          </a:xfrm>
          <a:prstGeom prst="arc">
            <a:avLst>
              <a:gd name="adj1" fmla="val 17389242"/>
              <a:gd name="adj2" fmla="val 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3780DAF1-0A28-4965-BA36-F70463032355}"/>
              </a:ext>
            </a:extLst>
          </p:cNvPr>
          <p:cNvSpPr txBox="1"/>
          <p:nvPr/>
        </p:nvSpPr>
        <p:spPr>
          <a:xfrm>
            <a:off x="66133" y="4271154"/>
            <a:ext cx="8791290" cy="703847"/>
          </a:xfrm>
          <a:prstGeom prst="rect">
            <a:avLst/>
          </a:prstGeom>
          <a:noFill/>
        </p:spPr>
        <p:txBody>
          <a:bodyPr wrap="square">
            <a:spAutoFit/>
          </a:bodyPr>
          <a:lstStyle/>
          <a:p>
            <a:pPr algn="r" rtl="1">
              <a:lnSpc>
                <a:spcPct val="150000"/>
              </a:lnSpc>
            </a:pPr>
            <a:r>
              <a:rPr lang="he-IL" sz="1400" dirty="0"/>
              <a:t>לאחרונה חלה ירידה במחיר מוצר </a:t>
            </a:r>
            <a:r>
              <a:rPr lang="en-US" sz="1400" dirty="0"/>
              <a:t>Y</a:t>
            </a:r>
            <a:r>
              <a:rPr lang="he-IL" sz="1400" dirty="0"/>
              <a:t>. ידוע שמוצר </a:t>
            </a:r>
            <a:r>
              <a:rPr lang="en-US" sz="1400" dirty="0"/>
              <a:t>Y</a:t>
            </a:r>
            <a:r>
              <a:rPr lang="he-IL" sz="1400" dirty="0"/>
              <a:t> הינו מוצר משלים ל-</a:t>
            </a:r>
            <a:r>
              <a:rPr lang="en-US" sz="1400" dirty="0"/>
              <a:t>X</a:t>
            </a:r>
            <a:r>
              <a:rPr lang="he-IL" sz="1400" dirty="0"/>
              <a:t> 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(ירידת </a:t>
            </a:r>
            <a:r>
              <a:rPr lang="en-US" sz="1400" dirty="0"/>
              <a:t>PY</a:t>
            </a:r>
            <a:r>
              <a:rPr lang="he-IL" sz="1400" dirty="0"/>
              <a:t>):</a:t>
            </a:r>
          </a:p>
        </p:txBody>
      </p:sp>
      <p:sp>
        <p:nvSpPr>
          <p:cNvPr id="32" name="Arc 31">
            <a:extLst>
              <a:ext uri="{FF2B5EF4-FFF2-40B4-BE49-F238E27FC236}">
                <a16:creationId xmlns:a16="http://schemas.microsoft.com/office/drawing/2014/main" id="{538FCE8D-48CB-49AB-9DD4-B9650B70D9F0}"/>
              </a:ext>
            </a:extLst>
          </p:cNvPr>
          <p:cNvSpPr/>
          <p:nvPr/>
        </p:nvSpPr>
        <p:spPr>
          <a:xfrm rot="10800000">
            <a:off x="807100" y="235973"/>
            <a:ext cx="3197267" cy="3312367"/>
          </a:xfrm>
          <a:prstGeom prst="arc">
            <a:avLst>
              <a:gd name="adj1" fmla="val 16840586"/>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488D7C-3939-471A-AE64-6FED708BE0B3}"/>
                  </a:ext>
                </a:extLst>
              </p:cNvPr>
              <p:cNvSpPr txBox="1"/>
              <p:nvPr/>
            </p:nvSpPr>
            <p:spPr>
              <a:xfrm>
                <a:off x="1438454" y="3496237"/>
                <a:ext cx="1489167"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𝐷</m:t>
                          </m:r>
                        </m:e>
                        <m:sub>
                          <m:r>
                            <a:rPr lang="en-US" sz="1600" b="0" i="1" smtClean="0">
                              <a:solidFill>
                                <a:schemeClr val="accent1"/>
                              </a:solidFill>
                              <a:latin typeface="Cambria Math" panose="02040503050406030204" pitchFamily="18" charset="0"/>
                            </a:rPr>
                            <m:t>0</m:t>
                          </m:r>
                        </m:sub>
                      </m:sSub>
                      <m:r>
                        <a:rPr lang="en-US" sz="1600" b="0" i="0" smtClean="0">
                          <a:solidFill>
                            <a:schemeClr val="accent1"/>
                          </a:solidFill>
                          <a:latin typeface="Cambria Math" panose="02040503050406030204" pitchFamily="18" charset="0"/>
                        </a:rPr>
                        <m:t>(</m:t>
                      </m:r>
                      <m:r>
                        <m:rPr>
                          <m:sty m:val="p"/>
                        </m:rPr>
                        <a:rPr lang="en-US" sz="1600" b="0" i="0" smtClean="0">
                          <a:solidFill>
                            <a:schemeClr val="accent1"/>
                          </a:solidFill>
                          <a:latin typeface="Cambria Math" panose="02040503050406030204" pitchFamily="18" charset="0"/>
                        </a:rPr>
                        <m:t>Py</m:t>
                      </m:r>
                      <m:r>
                        <a:rPr lang="en-US" sz="1600" b="0" i="0" smtClean="0">
                          <a:solidFill>
                            <a:schemeClr val="accent1"/>
                          </a:solidFill>
                          <a:latin typeface="Cambria Math" panose="02040503050406030204" pitchFamily="18" charset="0"/>
                        </a:rPr>
                        <m:t>=</m:t>
                      </m:r>
                      <m:r>
                        <a:rPr lang="en-US" sz="1600" b="0" i="0" smtClean="0">
                          <a:solidFill>
                            <a:schemeClr val="accent1"/>
                          </a:solidFill>
                          <a:latin typeface="Cambria Math" panose="02040503050406030204" pitchFamily="18" charset="0"/>
                        </a:rPr>
                        <m:t>4</m:t>
                      </m:r>
                      <m:r>
                        <a:rPr lang="en-US" sz="1600" b="0" i="0" smtClean="0">
                          <a:solidFill>
                            <a:schemeClr val="accent1"/>
                          </a:solidFill>
                          <a:latin typeface="Cambria Math" panose="02040503050406030204" pitchFamily="18" charset="0"/>
                        </a:rPr>
                        <m:t>)</m:t>
                      </m:r>
                    </m:oMath>
                  </m:oMathPara>
                </a14:m>
                <a:endParaRPr lang="aa-ET" dirty="0"/>
              </a:p>
            </p:txBody>
          </p:sp>
        </mc:Choice>
        <mc:Fallback xmlns="">
          <p:sp>
            <p:nvSpPr>
              <p:cNvPr id="33" name="TextBox 32">
                <a:extLst>
                  <a:ext uri="{FF2B5EF4-FFF2-40B4-BE49-F238E27FC236}">
                    <a16:creationId xmlns:a16="http://schemas.microsoft.com/office/drawing/2014/main" id="{9A488D7C-3939-471A-AE64-6FED708BE0B3}"/>
                  </a:ext>
                </a:extLst>
              </p:cNvPr>
              <p:cNvSpPr txBox="1">
                <a:spLocks noRot="1" noChangeAspect="1" noMove="1" noResize="1" noEditPoints="1" noAdjustHandles="1" noChangeArrowheads="1" noChangeShapeType="1" noTextEdit="1"/>
              </p:cNvSpPr>
              <p:nvPr/>
            </p:nvSpPr>
            <p:spPr>
              <a:xfrm>
                <a:off x="1438454" y="3496237"/>
                <a:ext cx="1489167" cy="246221"/>
              </a:xfrm>
              <a:prstGeom prst="rect">
                <a:avLst/>
              </a:prstGeom>
              <a:blipFill>
                <a:blip r:embed="rId2"/>
                <a:stretch>
                  <a:fillRect b="-3250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67CDBF-5276-4571-A5E7-8DA6453588B3}"/>
                  </a:ext>
                </a:extLst>
              </p:cNvPr>
              <p:cNvSpPr txBox="1"/>
              <p:nvPr/>
            </p:nvSpPr>
            <p:spPr>
              <a:xfrm>
                <a:off x="1636732" y="3151195"/>
                <a:ext cx="1253910" cy="276999"/>
              </a:xfrm>
              <a:prstGeom prst="rect">
                <a:avLst/>
              </a:prstGeom>
              <a:noFill/>
            </p:spPr>
            <p:txBody>
              <a:bodyPr wrap="square" lIns="0" tIns="0" rIns="0" bIns="0" rtlCol="0">
                <a:spAutoFit/>
              </a:bodyPr>
              <a:lstStyle/>
              <a:p>
                <a14:m>
                  <m:oMath xmlns:m="http://schemas.openxmlformats.org/officeDocument/2006/math">
                    <m:sSub>
                      <m:sSubPr>
                        <m:ctrlPr>
                          <a:rPr lang="aa-ET" sz="1600" b="1" i="1" smtClean="0">
                            <a:solidFill>
                              <a:srgbClr val="C00000"/>
                            </a:solidFill>
                            <a:latin typeface="Cambria Math" panose="02040503050406030204" pitchFamily="18" charset="0"/>
                          </a:rPr>
                        </m:ctrlPr>
                      </m:sSubPr>
                      <m:e>
                        <m:r>
                          <a:rPr lang="en-US" sz="1600" b="1" i="1" smtClean="0">
                            <a:solidFill>
                              <a:srgbClr val="C00000"/>
                            </a:solidFill>
                            <a:latin typeface="Cambria Math" panose="02040503050406030204" pitchFamily="18" charset="0"/>
                          </a:rPr>
                          <m:t>𝑫</m:t>
                        </m:r>
                      </m:e>
                      <m:sub>
                        <m:r>
                          <a:rPr lang="en-US" sz="1600" b="1" i="1" smtClean="0">
                            <a:solidFill>
                              <a:srgbClr val="C00000"/>
                            </a:solidFill>
                            <a:latin typeface="Cambria Math" panose="02040503050406030204" pitchFamily="18" charset="0"/>
                          </a:rPr>
                          <m:t>𝟏</m:t>
                        </m:r>
                      </m:sub>
                    </m:sSub>
                  </m:oMath>
                </a14:m>
                <a:r>
                  <a:rPr lang="en-US" b="1" dirty="0"/>
                  <a:t>(</a:t>
                </a:r>
                <a14:m>
                  <m:oMath xmlns:m="http://schemas.openxmlformats.org/officeDocument/2006/math">
                    <m:r>
                      <a:rPr lang="en-US" sz="1400" b="1" i="1" smtClean="0">
                        <a:solidFill>
                          <a:srgbClr val="C00000"/>
                        </a:solidFill>
                        <a:latin typeface="Cambria Math" panose="02040503050406030204" pitchFamily="18" charset="0"/>
                      </a:rPr>
                      <m:t>𝐏𝐲</m:t>
                    </m:r>
                    <m:r>
                      <a:rPr lang="en-US" sz="1400" b="1">
                        <a:solidFill>
                          <a:srgbClr val="C00000"/>
                        </a:solidFill>
                        <a:latin typeface="Cambria Math" panose="02040503050406030204" pitchFamily="18" charset="0"/>
                      </a:rPr>
                      <m:t>=</m:t>
                    </m:r>
                    <m:r>
                      <a:rPr lang="en-US" sz="1400" b="1" i="0" smtClean="0">
                        <a:solidFill>
                          <a:srgbClr val="C00000"/>
                        </a:solidFill>
                        <a:latin typeface="Cambria Math" panose="02040503050406030204" pitchFamily="18" charset="0"/>
                      </a:rPr>
                      <m:t>𝟐</m:t>
                    </m:r>
                  </m:oMath>
                </a14:m>
                <a:r>
                  <a:rPr lang="en-US" b="1" dirty="0"/>
                  <a:t>)</a:t>
                </a:r>
                <a:endParaRPr lang="aa-ET" b="1" dirty="0"/>
              </a:p>
            </p:txBody>
          </p:sp>
        </mc:Choice>
        <mc:Fallback xmlns="">
          <p:sp>
            <p:nvSpPr>
              <p:cNvPr id="38" name="TextBox 37">
                <a:extLst>
                  <a:ext uri="{FF2B5EF4-FFF2-40B4-BE49-F238E27FC236}">
                    <a16:creationId xmlns:a16="http://schemas.microsoft.com/office/drawing/2014/main" id="{3C67CDBF-5276-4571-A5E7-8DA6453588B3}"/>
                  </a:ext>
                </a:extLst>
              </p:cNvPr>
              <p:cNvSpPr txBox="1">
                <a:spLocks noRot="1" noChangeAspect="1" noMove="1" noResize="1" noEditPoints="1" noAdjustHandles="1" noChangeArrowheads="1" noChangeShapeType="1" noTextEdit="1"/>
              </p:cNvSpPr>
              <p:nvPr/>
            </p:nvSpPr>
            <p:spPr>
              <a:xfrm>
                <a:off x="1636732" y="3151195"/>
                <a:ext cx="1253910" cy="276999"/>
              </a:xfrm>
              <a:prstGeom prst="rect">
                <a:avLst/>
              </a:prstGeom>
              <a:blipFill>
                <a:blip r:embed="rId3"/>
                <a:stretch>
                  <a:fillRect t="-28889" r="-11650" b="-51111"/>
                </a:stretch>
              </a:blipFill>
            </p:spPr>
            <p:txBody>
              <a:bodyPr/>
              <a:lstStyle/>
              <a:p>
                <a:r>
                  <a:rPr lang="en-IL">
                    <a:noFill/>
                  </a:rPr>
                  <a:t> </a:t>
                </a:r>
              </a:p>
            </p:txBody>
          </p:sp>
        </mc:Fallback>
      </mc:AlternateContent>
      <p:sp>
        <p:nvSpPr>
          <p:cNvPr id="50" name="Arc 49">
            <a:extLst>
              <a:ext uri="{FF2B5EF4-FFF2-40B4-BE49-F238E27FC236}">
                <a16:creationId xmlns:a16="http://schemas.microsoft.com/office/drawing/2014/main" id="{97823A7A-480F-4599-9E0D-9CE0BB87C8AD}"/>
              </a:ext>
            </a:extLst>
          </p:cNvPr>
          <p:cNvSpPr/>
          <p:nvPr/>
        </p:nvSpPr>
        <p:spPr>
          <a:xfrm rot="10800000">
            <a:off x="6332085" y="-245271"/>
            <a:ext cx="4151151" cy="3312367"/>
          </a:xfrm>
          <a:prstGeom prst="arc">
            <a:avLst>
              <a:gd name="adj1" fmla="val 16293465"/>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C1219DC-ECB0-49FD-80C8-7F053F05EF4B}"/>
                  </a:ext>
                </a:extLst>
              </p:cNvPr>
              <p:cNvSpPr txBox="1"/>
              <p:nvPr/>
            </p:nvSpPr>
            <p:spPr>
              <a:xfrm>
                <a:off x="7357505" y="2584368"/>
                <a:ext cx="1253910"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rgbClr val="C00000"/>
                              </a:solidFill>
                              <a:latin typeface="Cambria Math" panose="02040503050406030204" pitchFamily="18" charset="0"/>
                            </a:rPr>
                          </m:ctrlPr>
                        </m:sSubPr>
                        <m:e>
                          <m:r>
                            <a:rPr lang="en-US" sz="1600" b="1" i="1" smtClean="0">
                              <a:solidFill>
                                <a:srgbClr val="C00000"/>
                              </a:solidFill>
                              <a:latin typeface="Cambria Math" panose="02040503050406030204" pitchFamily="18" charset="0"/>
                            </a:rPr>
                            <m:t>𝑫</m:t>
                          </m:r>
                        </m:e>
                        <m:sub>
                          <m:r>
                            <a:rPr lang="en-US" sz="1600" b="1" i="1" smtClean="0">
                              <a:solidFill>
                                <a:srgbClr val="C00000"/>
                              </a:solidFill>
                              <a:latin typeface="Cambria Math" panose="02040503050406030204" pitchFamily="18" charset="0"/>
                            </a:rPr>
                            <m:t>𝟏</m:t>
                          </m:r>
                        </m:sub>
                      </m:sSub>
                      <m:r>
                        <a:rPr lang="he-IL" sz="1600" b="1" i="0" smtClean="0">
                          <a:solidFill>
                            <a:srgbClr val="C00000"/>
                          </a:solidFill>
                          <a:latin typeface="Cambria Math" panose="02040503050406030204" pitchFamily="18" charset="0"/>
                        </a:rPr>
                        <m:t> </m:t>
                      </m:r>
                      <m:r>
                        <a:rPr lang="he-IL" sz="1600" b="1" i="0" smtClean="0">
                          <a:solidFill>
                            <a:srgbClr val="C00000"/>
                          </a:solidFill>
                          <a:latin typeface="Cambria Math" panose="02040503050406030204" pitchFamily="18" charset="0"/>
                        </a:rPr>
                        <m:t>מצרפי</m:t>
                      </m:r>
                    </m:oMath>
                  </m:oMathPara>
                </a14:m>
                <a:endParaRPr lang="aa-ET" b="1" dirty="0"/>
              </a:p>
            </p:txBody>
          </p:sp>
        </mc:Choice>
        <mc:Fallback xmlns="">
          <p:sp>
            <p:nvSpPr>
              <p:cNvPr id="52" name="TextBox 51">
                <a:extLst>
                  <a:ext uri="{FF2B5EF4-FFF2-40B4-BE49-F238E27FC236}">
                    <a16:creationId xmlns:a16="http://schemas.microsoft.com/office/drawing/2014/main" id="{5C1219DC-ECB0-49FD-80C8-7F053F05EF4B}"/>
                  </a:ext>
                </a:extLst>
              </p:cNvPr>
              <p:cNvSpPr txBox="1">
                <a:spLocks noRot="1" noChangeAspect="1" noMove="1" noResize="1" noEditPoints="1" noAdjustHandles="1" noChangeArrowheads="1" noChangeShapeType="1" noTextEdit="1"/>
              </p:cNvSpPr>
              <p:nvPr/>
            </p:nvSpPr>
            <p:spPr>
              <a:xfrm>
                <a:off x="7357505" y="2584368"/>
                <a:ext cx="1253910" cy="276294"/>
              </a:xfrm>
              <a:prstGeom prst="rect">
                <a:avLst/>
              </a:prstGeom>
              <a:blipFill>
                <a:blip r:embed="rId4"/>
                <a:stretch>
                  <a:fillRect t="-15556" b="-4222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574BE7D-D022-490B-ABB6-1A86670495AB}"/>
                  </a:ext>
                </a:extLst>
              </p:cNvPr>
              <p:cNvSpPr txBox="1"/>
              <p:nvPr/>
            </p:nvSpPr>
            <p:spPr>
              <a:xfrm>
                <a:off x="7361206" y="3337797"/>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r>
                        <a:rPr lang="he-IL" sz="1600" b="1" i="0" smtClean="0">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53" name="TextBox 52">
                <a:extLst>
                  <a:ext uri="{FF2B5EF4-FFF2-40B4-BE49-F238E27FC236}">
                    <a16:creationId xmlns:a16="http://schemas.microsoft.com/office/drawing/2014/main" id="{1574BE7D-D022-490B-ABB6-1A86670495AB}"/>
                  </a:ext>
                </a:extLst>
              </p:cNvPr>
              <p:cNvSpPr txBox="1">
                <a:spLocks noRot="1" noChangeAspect="1" noMove="1" noResize="1" noEditPoints="1" noAdjustHandles="1" noChangeArrowheads="1" noChangeShapeType="1" noTextEdit="1"/>
              </p:cNvSpPr>
              <p:nvPr/>
            </p:nvSpPr>
            <p:spPr>
              <a:xfrm>
                <a:off x="7361206" y="3337797"/>
                <a:ext cx="1278065" cy="276294"/>
              </a:xfrm>
              <a:prstGeom prst="rect">
                <a:avLst/>
              </a:prstGeom>
              <a:blipFill>
                <a:blip r:embed="rId5"/>
                <a:stretch>
                  <a:fillRect t="-15556" b="-42222"/>
                </a:stretch>
              </a:blipFill>
            </p:spPr>
            <p:txBody>
              <a:bodyPr/>
              <a:lstStyle/>
              <a:p>
                <a:r>
                  <a:rPr lang="en-IL">
                    <a:noFill/>
                  </a:rPr>
                  <a:t> </a:t>
                </a:r>
              </a:p>
            </p:txBody>
          </p:sp>
        </mc:Fallback>
      </mc:AlternateContent>
      <p:cxnSp>
        <p:nvCxnSpPr>
          <p:cNvPr id="54" name="מחבר ישר 57">
            <a:extLst>
              <a:ext uri="{FF2B5EF4-FFF2-40B4-BE49-F238E27FC236}">
                <a16:creationId xmlns:a16="http://schemas.microsoft.com/office/drawing/2014/main" id="{E470F5E4-A2C2-468E-A00E-775237584C15}"/>
              </a:ext>
            </a:extLst>
          </p:cNvPr>
          <p:cNvCxnSpPr>
            <a:cxnSpLocks/>
          </p:cNvCxnSpPr>
          <p:nvPr/>
        </p:nvCxnSpPr>
        <p:spPr>
          <a:xfrm flipV="1">
            <a:off x="7192274" y="2767173"/>
            <a:ext cx="0" cy="99178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5" name="Text Box 18">
            <a:extLst>
              <a:ext uri="{FF2B5EF4-FFF2-40B4-BE49-F238E27FC236}">
                <a16:creationId xmlns:a16="http://schemas.microsoft.com/office/drawing/2014/main" id="{7A1716D8-DC6B-44A6-B4A7-8C3C6A2BAA31}"/>
              </a:ext>
            </a:extLst>
          </p:cNvPr>
          <p:cNvSpPr txBox="1">
            <a:spLocks noChangeArrowheads="1"/>
          </p:cNvSpPr>
          <p:nvPr/>
        </p:nvSpPr>
        <p:spPr bwMode="auto">
          <a:xfrm>
            <a:off x="886654" y="3778851"/>
            <a:ext cx="506371"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solidFill>
                  <a:srgbClr val="C00000"/>
                </a:solidFill>
                <a:latin typeface="Calibri" pitchFamily="34" charset="0"/>
                <a:ea typeface="Arial" pitchFamily="34" charset="0"/>
                <a:cs typeface="Arial" pitchFamily="34" charset="0"/>
              </a:rPr>
              <a:t>X</a:t>
            </a:r>
            <a:r>
              <a:rPr kumimoji="0" lang="en-US" sz="2000" b="0" i="0" u="none" strike="noStrike" cap="none" normalizeH="0" baseline="0" dirty="0">
                <a:ln>
                  <a:noFill/>
                </a:ln>
                <a:solidFill>
                  <a:srgbClr val="C00000"/>
                </a:solidFill>
                <a:effectLst/>
                <a:latin typeface="Calibri" pitchFamily="34" charset="0"/>
                <a:ea typeface="Arial" pitchFamily="34" charset="0"/>
                <a:cs typeface="Arial" pitchFamily="34" charset="0"/>
              </a:rPr>
              <a:t>1</a:t>
            </a:r>
          </a:p>
        </p:txBody>
      </p:sp>
      <p:sp>
        <p:nvSpPr>
          <p:cNvPr id="56" name="Text Box 18">
            <a:extLst>
              <a:ext uri="{FF2B5EF4-FFF2-40B4-BE49-F238E27FC236}">
                <a16:creationId xmlns:a16="http://schemas.microsoft.com/office/drawing/2014/main" id="{BC94EE0F-4E50-4097-8946-378C2B5B4B3E}"/>
              </a:ext>
            </a:extLst>
          </p:cNvPr>
          <p:cNvSpPr txBox="1">
            <a:spLocks noChangeArrowheads="1"/>
          </p:cNvSpPr>
          <p:nvPr/>
        </p:nvSpPr>
        <p:spPr bwMode="auto">
          <a:xfrm>
            <a:off x="7042090" y="3773912"/>
            <a:ext cx="873322" cy="3873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C00000"/>
              </a:solidFill>
              <a:effectLst/>
              <a:latin typeface="Arial" pitchFamily="34" charset="0"/>
              <a:cs typeface="Arial" pitchFamily="34" charset="0"/>
            </a:endParaRPr>
          </a:p>
        </p:txBody>
      </p:sp>
      <p:cxnSp>
        <p:nvCxnSpPr>
          <p:cNvPr id="57" name="מחבר ישר 72">
            <a:extLst>
              <a:ext uri="{FF2B5EF4-FFF2-40B4-BE49-F238E27FC236}">
                <a16:creationId xmlns:a16="http://schemas.microsoft.com/office/drawing/2014/main" id="{B849846E-BDA0-4269-866D-32D68741B057}"/>
              </a:ext>
            </a:extLst>
          </p:cNvPr>
          <p:cNvCxnSpPr>
            <a:cxnSpLocks/>
          </p:cNvCxnSpPr>
          <p:nvPr/>
        </p:nvCxnSpPr>
        <p:spPr>
          <a:xfrm flipH="1" flipV="1">
            <a:off x="1041688" y="2722515"/>
            <a:ext cx="4236" cy="1062298"/>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0E15388-A501-41C1-B2D6-000584F2E4C3}"/>
              </a:ext>
            </a:extLst>
          </p:cNvPr>
          <p:cNvSpPr txBox="1"/>
          <p:nvPr/>
        </p:nvSpPr>
        <p:spPr>
          <a:xfrm>
            <a:off x="107508" y="182125"/>
            <a:ext cx="6879209" cy="369332"/>
          </a:xfrm>
          <a:prstGeom prst="rect">
            <a:avLst/>
          </a:prstGeom>
          <a:noFill/>
        </p:spPr>
        <p:txBody>
          <a:bodyPr wrap="square">
            <a:spAutoFit/>
          </a:bodyPr>
          <a:lstStyle/>
          <a:p>
            <a:pPr algn="r" rtl="1"/>
            <a:r>
              <a:rPr lang="he-IL" sz="1800" dirty="0"/>
              <a:t>במשק מסוים ישנם צרכני עיר א' וצרכני עיר ב' הבמקשים לרכוש את מוצר </a:t>
            </a:r>
            <a:r>
              <a:rPr lang="en-US" sz="1800" dirty="0"/>
              <a:t>X</a:t>
            </a:r>
            <a:r>
              <a:rPr lang="he-IL" sz="1800" dirty="0"/>
              <a:t>. </a:t>
            </a:r>
            <a:endParaRPr lang="en-IL" dirty="0"/>
          </a:p>
        </p:txBody>
      </p:sp>
      <p:sp>
        <p:nvSpPr>
          <p:cNvPr id="60" name="Arc 59">
            <a:extLst>
              <a:ext uri="{FF2B5EF4-FFF2-40B4-BE49-F238E27FC236}">
                <a16:creationId xmlns:a16="http://schemas.microsoft.com/office/drawing/2014/main" id="{66F0494A-24BD-49A2-A801-13DB8C58EC7A}"/>
              </a:ext>
            </a:extLst>
          </p:cNvPr>
          <p:cNvSpPr/>
          <p:nvPr/>
        </p:nvSpPr>
        <p:spPr>
          <a:xfrm rot="15717349" flipH="1" flipV="1">
            <a:off x="4519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61" name="TextBox 60">
            <a:extLst>
              <a:ext uri="{FF2B5EF4-FFF2-40B4-BE49-F238E27FC236}">
                <a16:creationId xmlns:a16="http://schemas.microsoft.com/office/drawing/2014/main" id="{4E3F6882-4D41-4F27-8A2A-912692DEDFB0}"/>
              </a:ext>
            </a:extLst>
          </p:cNvPr>
          <p:cNvSpPr txBox="1"/>
          <p:nvPr/>
        </p:nvSpPr>
        <p:spPr>
          <a:xfrm>
            <a:off x="7915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p:cxnSp>
        <p:nvCxnSpPr>
          <p:cNvPr id="62" name="מחבר ישר 33">
            <a:extLst>
              <a:ext uri="{FF2B5EF4-FFF2-40B4-BE49-F238E27FC236}">
                <a16:creationId xmlns:a16="http://schemas.microsoft.com/office/drawing/2014/main" id="{520F4CF3-5B89-470F-86F4-87BC562A2A1C}"/>
              </a:ext>
            </a:extLst>
          </p:cNvPr>
          <p:cNvCxnSpPr>
            <a:cxnSpLocks/>
          </p:cNvCxnSpPr>
          <p:nvPr/>
        </p:nvCxnSpPr>
        <p:spPr>
          <a:xfrm flipH="1" flipV="1">
            <a:off x="410332" y="2741421"/>
            <a:ext cx="6795296" cy="22667"/>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69FE5DC-6024-4C88-B8EF-30918824D286}"/>
              </a:ext>
            </a:extLst>
          </p:cNvPr>
          <p:cNvSpPr txBox="1"/>
          <p:nvPr/>
        </p:nvSpPr>
        <p:spPr>
          <a:xfrm>
            <a:off x="3266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dirty="0"/>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64" name="Text Box 18">
            <a:extLst>
              <a:ext uri="{FF2B5EF4-FFF2-40B4-BE49-F238E27FC236}">
                <a16:creationId xmlns:a16="http://schemas.microsoft.com/office/drawing/2014/main" id="{86D92EA5-19D7-4B34-8F3D-BBE46B7D82C2}"/>
              </a:ext>
            </a:extLst>
          </p:cNvPr>
          <p:cNvSpPr txBox="1">
            <a:spLocks noChangeArrowheads="1"/>
          </p:cNvSpPr>
          <p:nvPr/>
        </p:nvSpPr>
        <p:spPr bwMode="auto">
          <a:xfrm>
            <a:off x="3233494" y="3758385"/>
            <a:ext cx="495169" cy="4016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C00000"/>
              </a:solidFill>
              <a:effectLst/>
              <a:latin typeface="Arial" pitchFamily="34" charset="0"/>
              <a:cs typeface="Arial" pitchFamily="34" charset="0"/>
            </a:endParaRPr>
          </a:p>
        </p:txBody>
      </p:sp>
      <p:cxnSp>
        <p:nvCxnSpPr>
          <p:cNvPr id="65" name="מחבר ישר 57">
            <a:extLst>
              <a:ext uri="{FF2B5EF4-FFF2-40B4-BE49-F238E27FC236}">
                <a16:creationId xmlns:a16="http://schemas.microsoft.com/office/drawing/2014/main" id="{AF6DA327-4AC1-4926-8417-194F7C57ED8F}"/>
              </a:ext>
            </a:extLst>
          </p:cNvPr>
          <p:cNvCxnSpPr>
            <a:cxnSpLocks/>
          </p:cNvCxnSpPr>
          <p:nvPr/>
        </p:nvCxnSpPr>
        <p:spPr>
          <a:xfrm flipV="1">
            <a:off x="3614099" y="2684552"/>
            <a:ext cx="0" cy="1057906"/>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6" name="Text Box 13">
            <a:extLst>
              <a:ext uri="{FF2B5EF4-FFF2-40B4-BE49-F238E27FC236}">
                <a16:creationId xmlns:a16="http://schemas.microsoft.com/office/drawing/2014/main" id="{275D1FC8-E714-4520-B31D-2B00093DED1E}"/>
              </a:ext>
            </a:extLst>
          </p:cNvPr>
          <p:cNvSpPr txBox="1">
            <a:spLocks noChangeArrowheads="1"/>
          </p:cNvSpPr>
          <p:nvPr/>
        </p:nvSpPr>
        <p:spPr bwMode="auto">
          <a:xfrm>
            <a:off x="-73310" y="2433484"/>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b="1" dirty="0">
                <a:solidFill>
                  <a:srgbClr val="C00000"/>
                </a:solidFill>
                <a:latin typeface="Calibri" pitchFamily="34" charset="0"/>
                <a:ea typeface="Arial" pitchFamily="34" charset="0"/>
                <a:cs typeface="Arial" pitchFamily="34" charset="0"/>
              </a:rPr>
              <a:t>P</a:t>
            </a:r>
            <a:r>
              <a:rPr lang="en-US" sz="1400" b="1" dirty="0">
                <a:solidFill>
                  <a:srgbClr val="C00000"/>
                </a:solidFill>
                <a:latin typeface="Calibri" pitchFamily="34" charset="0"/>
                <a:ea typeface="Arial" pitchFamily="34" charset="0"/>
                <a:cs typeface="Arial" pitchFamily="34" charset="0"/>
              </a:rPr>
              <a:t>1</a:t>
            </a:r>
            <a:endParaRPr kumimoji="0" lang="he-IL" sz="3600" b="1" i="0" u="none" strike="noStrike" cap="none" normalizeH="0" baseline="0" dirty="0">
              <a:ln>
                <a:noFill/>
              </a:ln>
              <a:solidFill>
                <a:srgbClr val="C00000"/>
              </a:solidFill>
              <a:effectLst/>
              <a:latin typeface="Arial" pitchFamily="34" charset="0"/>
              <a:cs typeface="Arial" pitchFamily="34" charset="0"/>
            </a:endParaRPr>
          </a:p>
        </p:txBody>
      </p:sp>
      <p:sp>
        <p:nvSpPr>
          <p:cNvPr id="3" name="Date Placeholder 2">
            <a:extLst>
              <a:ext uri="{FF2B5EF4-FFF2-40B4-BE49-F238E27FC236}">
                <a16:creationId xmlns:a16="http://schemas.microsoft.com/office/drawing/2014/main" id="{BC785DD5-33F2-40FA-A3DD-2D16E8EFE7A5}"/>
              </a:ext>
            </a:extLst>
          </p:cNvPr>
          <p:cNvSpPr>
            <a:spLocks noGrp="1"/>
          </p:cNvSpPr>
          <p:nvPr>
            <p:ph type="dt" sz="half" idx="10"/>
          </p:nvPr>
        </p:nvSpPr>
        <p:spPr>
          <a:xfrm>
            <a:off x="6929221" y="6447433"/>
            <a:ext cx="2133600" cy="365125"/>
          </a:xfrm>
        </p:spPr>
        <p:txBody>
          <a:bodyPr/>
          <a:lstStyle/>
          <a:p>
            <a:fld id="{F71212E2-3AF9-4474-9128-C5D8B5FB5FE3}" type="datetime8">
              <a:rPr lang="he-IL" smtClean="0"/>
              <a:t>17 ינואר 26</a:t>
            </a:fld>
            <a:endParaRPr lang="he-IL"/>
          </a:p>
        </p:txBody>
      </p:sp>
      <p:sp>
        <p:nvSpPr>
          <p:cNvPr id="4" name="Slide Number Placeholder 3">
            <a:extLst>
              <a:ext uri="{FF2B5EF4-FFF2-40B4-BE49-F238E27FC236}">
                <a16:creationId xmlns:a16="http://schemas.microsoft.com/office/drawing/2014/main" id="{7CC55F32-7F07-452C-BE1A-6ACB862866CF}"/>
              </a:ext>
            </a:extLst>
          </p:cNvPr>
          <p:cNvSpPr>
            <a:spLocks noGrp="1"/>
          </p:cNvSpPr>
          <p:nvPr>
            <p:ph type="sldNum" sz="quarter" idx="12"/>
          </p:nvPr>
        </p:nvSpPr>
        <p:spPr/>
        <p:txBody>
          <a:bodyPr/>
          <a:lstStyle/>
          <a:p>
            <a:fld id="{492DB488-E800-4C9D-A68D-A9C6D048BCD3}" type="slidenum">
              <a:rPr lang="he-IL" smtClean="0"/>
              <a:pPr/>
              <a:t>4</a:t>
            </a:fld>
            <a:endParaRPr lang="he-IL"/>
          </a:p>
        </p:txBody>
      </p:sp>
    </p:spTree>
    <p:extLst>
      <p:ext uri="{BB962C8B-B14F-4D97-AF65-F5344CB8AC3E}">
        <p14:creationId xmlns:p14="http://schemas.microsoft.com/office/powerpoint/2010/main" val="155842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par>
                                <p:cTn id="8" presetID="16" presetClass="entr" presetSubtype="21"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barn(inVertical)">
                                      <p:cBhvr>
                                        <p:cTn id="10" dur="500"/>
                                        <p:tgtEl>
                                          <p:spTgt spid="7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barn(inVertical)">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circle(in)">
                                      <p:cBhvr>
                                        <p:cTn id="28" dur="2000"/>
                                        <p:tgtEl>
                                          <p:spTgt spid="6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1000"/>
                                        <p:tgtEl>
                                          <p:spTgt spid="57"/>
                                        </p:tgtEl>
                                      </p:cBhvr>
                                    </p:animEffect>
                                    <p:anim calcmode="lin" valueType="num">
                                      <p:cBhvr>
                                        <p:cTn id="38" dur="1000" fill="hold"/>
                                        <p:tgtEl>
                                          <p:spTgt spid="57"/>
                                        </p:tgtEl>
                                        <p:attrNameLst>
                                          <p:attrName>ppt_x</p:attrName>
                                        </p:attrNameLst>
                                      </p:cBhvr>
                                      <p:tavLst>
                                        <p:tav tm="0">
                                          <p:val>
                                            <p:strVal val="#ppt_x"/>
                                          </p:val>
                                        </p:tav>
                                        <p:tav tm="100000">
                                          <p:val>
                                            <p:strVal val="#ppt_x"/>
                                          </p:val>
                                        </p:tav>
                                      </p:tavLst>
                                    </p:anim>
                                    <p:anim calcmode="lin" valueType="num">
                                      <p:cBhvr>
                                        <p:cTn id="39" dur="1000" fill="hold"/>
                                        <p:tgtEl>
                                          <p:spTgt spid="5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1000"/>
                                        <p:tgtEl>
                                          <p:spTgt spid="55"/>
                                        </p:tgtEl>
                                      </p:cBhvr>
                                    </p:animEffect>
                                    <p:anim calcmode="lin" valueType="num">
                                      <p:cBhvr>
                                        <p:cTn id="43" dur="1000" fill="hold"/>
                                        <p:tgtEl>
                                          <p:spTgt spid="55"/>
                                        </p:tgtEl>
                                        <p:attrNameLst>
                                          <p:attrName>ppt_x</p:attrName>
                                        </p:attrNameLst>
                                      </p:cBhvr>
                                      <p:tavLst>
                                        <p:tav tm="0">
                                          <p:val>
                                            <p:strVal val="#ppt_x"/>
                                          </p:val>
                                        </p:tav>
                                        <p:tav tm="100000">
                                          <p:val>
                                            <p:strVal val="#ppt_x"/>
                                          </p:val>
                                        </p:tav>
                                      </p:tavLst>
                                    </p:anim>
                                    <p:anim calcmode="lin" valueType="num">
                                      <p:cBhvr>
                                        <p:cTn id="4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5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p:bldP spid="50" grpId="0" animBg="1"/>
      <p:bldP spid="52" grpId="0"/>
      <p:bldP spid="55" grpId="0"/>
      <p:bldP spid="56" grpId="0"/>
      <p:bldP spid="64" grpId="0"/>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57834" y="144617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8135" name="Line 3"/>
          <p:cNvSpPr>
            <a:spLocks noChangeShapeType="1"/>
          </p:cNvSpPr>
          <p:nvPr/>
        </p:nvSpPr>
        <p:spPr bwMode="auto">
          <a:xfrm>
            <a:off x="410332" y="1571695"/>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2143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Line 3"/>
          <p:cNvSpPr>
            <a:spLocks noChangeShapeType="1"/>
          </p:cNvSpPr>
          <p:nvPr/>
        </p:nvSpPr>
        <p:spPr bwMode="auto">
          <a:xfrm rot="16200000">
            <a:off x="1433420" y="2732195"/>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2721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6" name="Line 3"/>
          <p:cNvSpPr>
            <a:spLocks noChangeShapeType="1"/>
          </p:cNvSpPr>
          <p:nvPr/>
        </p:nvSpPr>
        <p:spPr bwMode="auto">
          <a:xfrm>
            <a:off x="3088680" y="1582521"/>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4864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39" name="Text Box 18"/>
          <p:cNvSpPr txBox="1">
            <a:spLocks noChangeArrowheads="1"/>
          </p:cNvSpPr>
          <p:nvPr/>
        </p:nvSpPr>
        <p:spPr bwMode="auto">
          <a:xfrm>
            <a:off x="3542368" y="3741248"/>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0" name="Line 3"/>
          <p:cNvSpPr>
            <a:spLocks noChangeShapeType="1"/>
          </p:cNvSpPr>
          <p:nvPr/>
        </p:nvSpPr>
        <p:spPr bwMode="auto">
          <a:xfrm rot="16200000">
            <a:off x="3970996" y="282553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5572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2" name="Line 3"/>
          <p:cNvSpPr>
            <a:spLocks noChangeShapeType="1"/>
          </p:cNvSpPr>
          <p:nvPr/>
        </p:nvSpPr>
        <p:spPr bwMode="auto">
          <a:xfrm>
            <a:off x="5890384" y="158590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7161329" y="2467261"/>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2930742" y="1172961"/>
            <a:ext cx="2643142" cy="500042"/>
          </a:xfrm>
          <a:prstGeom prst="rect">
            <a:avLst/>
          </a:prstGeom>
        </p:spPr>
        <p:txBody>
          <a:bodyPr vert="horz" lIns="91440" tIns="45720" rIns="91440" bIns="45720" rtlCol="1" anchor="ctr">
            <a:normAutofit fontScale="525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ב' – בלתי תלוי ב</a:t>
            </a:r>
            <a:r>
              <a:rPr kumimoji="0" lang="en-US" sz="4400" i="0" u="sng" strike="noStrike" kern="1200" cap="none" spc="0" normalizeH="0" baseline="0" noProof="0" dirty="0">
                <a:ln>
                  <a:noFill/>
                </a:ln>
                <a:solidFill>
                  <a:schemeClr val="tx1"/>
                </a:solidFill>
                <a:effectLst/>
                <a:uLnTx/>
                <a:uFillTx/>
                <a:latin typeface="+mj-lt"/>
                <a:ea typeface="+mj-ea"/>
                <a:cs typeface="+mj-cs"/>
              </a:rPr>
              <a:t>Y</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48" name="כותרת 1"/>
          <p:cNvSpPr txBox="1">
            <a:spLocks/>
          </p:cNvSpPr>
          <p:nvPr/>
        </p:nvSpPr>
        <p:spPr>
          <a:xfrm>
            <a:off x="159925" y="1157299"/>
            <a:ext cx="2643142" cy="500042"/>
          </a:xfrm>
          <a:prstGeom prst="rect">
            <a:avLst/>
          </a:prstGeom>
        </p:spPr>
        <p:txBody>
          <a:bodyPr vert="horz" lIns="91440" tIns="45720" rIns="91440" bIns="45720" rtlCol="1" anchor="ctr">
            <a:normAutofit fontScale="675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עיר א’-משלים ל</a:t>
            </a:r>
            <a:r>
              <a:rPr kumimoji="0" lang="en-US" sz="4400" i="0" u="sng" strike="noStrike" kern="1200" cap="none" spc="0" normalizeH="0" baseline="0" noProof="0" dirty="0">
                <a:ln>
                  <a:noFill/>
                </a:ln>
                <a:solidFill>
                  <a:schemeClr val="tx1"/>
                </a:solidFill>
                <a:effectLst/>
                <a:uLnTx/>
                <a:uFillTx/>
                <a:latin typeface="+mj-lt"/>
                <a:ea typeface="+mj-ea"/>
                <a:cs typeface="+mj-cs"/>
              </a:rPr>
              <a:t>Y</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49" name="כותרת 1"/>
          <p:cNvSpPr txBox="1">
            <a:spLocks/>
          </p:cNvSpPr>
          <p:nvPr/>
        </p:nvSpPr>
        <p:spPr>
          <a:xfrm>
            <a:off x="6820349" y="1196151"/>
            <a:ext cx="1862423"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34" name="מחבר ישר 33"/>
          <p:cNvCxnSpPr>
            <a:cxnSpLocks/>
            <a:endCxn id="51" idx="3"/>
          </p:cNvCxnSpPr>
          <p:nvPr/>
        </p:nvCxnSpPr>
        <p:spPr>
          <a:xfrm flipH="1" flipV="1">
            <a:off x="442200" y="286979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57834" y="2734643"/>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ea typeface="Arial" pitchFamily="34" charset="0"/>
                <a:cs typeface="Arial" pitchFamily="34" charset="0"/>
              </a:rPr>
              <a:t>P</a:t>
            </a:r>
            <a:r>
              <a:rPr kumimoji="0" lang="en-US" sz="1400" b="0" i="0" u="none" strike="noStrike" cap="none" normalizeH="0" baseline="0" dirty="0">
                <a:ln>
                  <a:noFill/>
                </a:ln>
                <a:solidFill>
                  <a:schemeClr val="tx1"/>
                </a:solidFill>
                <a:effectLst/>
                <a:latin typeface="Calibri" pitchFamily="34" charset="0"/>
                <a:ea typeface="Arial"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cxnSp>
        <p:nvCxnSpPr>
          <p:cNvPr id="58" name="מחבר ישר 57"/>
          <p:cNvCxnSpPr>
            <a:cxnSpLocks/>
          </p:cNvCxnSpPr>
          <p:nvPr/>
        </p:nvCxnSpPr>
        <p:spPr>
          <a:xfrm flipV="1">
            <a:off x="6842292" y="2857496"/>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410332" y="3763436"/>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71" name="Text Box 18"/>
          <p:cNvSpPr txBox="1">
            <a:spLocks noChangeArrowheads="1"/>
          </p:cNvSpPr>
          <p:nvPr/>
        </p:nvSpPr>
        <p:spPr bwMode="auto">
          <a:xfrm>
            <a:off x="6305008" y="377348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cxnSp>
        <p:nvCxnSpPr>
          <p:cNvPr id="72" name="מחבר ישר 71"/>
          <p:cNvCxnSpPr/>
          <p:nvPr/>
        </p:nvCxnSpPr>
        <p:spPr>
          <a:xfrm rot="16200000" flipV="1">
            <a:off x="3245544" y="3275946"/>
            <a:ext cx="947355" cy="18658"/>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668105" y="2849794"/>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8253544" y="378777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43" name="כותרת 1"/>
          <p:cNvSpPr txBox="1">
            <a:spLocks/>
          </p:cNvSpPr>
          <p:nvPr/>
        </p:nvSpPr>
        <p:spPr>
          <a:xfrm>
            <a:off x="7223942" y="237566"/>
            <a:ext cx="191210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1</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464503" y="381188"/>
            <a:ext cx="3197267" cy="3312367"/>
          </a:xfrm>
          <a:prstGeom prst="arc">
            <a:avLst>
              <a:gd name="adj1" fmla="val 17010548"/>
              <a:gd name="adj2" fmla="val 2120282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3441752" y="276266"/>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6076419" y="431388"/>
            <a:ext cx="4768031" cy="2819017"/>
          </a:xfrm>
          <a:prstGeom prst="arc">
            <a:avLst>
              <a:gd name="adj1" fmla="val 17389242"/>
              <a:gd name="adj2" fmla="val 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3780DAF1-0A28-4965-BA36-F70463032355}"/>
              </a:ext>
            </a:extLst>
          </p:cNvPr>
          <p:cNvSpPr txBox="1"/>
          <p:nvPr/>
        </p:nvSpPr>
        <p:spPr>
          <a:xfrm>
            <a:off x="66133" y="4271154"/>
            <a:ext cx="8791290" cy="703847"/>
          </a:xfrm>
          <a:prstGeom prst="rect">
            <a:avLst/>
          </a:prstGeom>
          <a:noFill/>
        </p:spPr>
        <p:txBody>
          <a:bodyPr wrap="square">
            <a:spAutoFit/>
          </a:bodyPr>
          <a:lstStyle/>
          <a:p>
            <a:pPr algn="r" rtl="1">
              <a:lnSpc>
                <a:spcPct val="150000"/>
              </a:lnSpc>
            </a:pPr>
            <a:r>
              <a:rPr lang="he-IL" sz="1400" dirty="0"/>
              <a:t>לאחרונה חלה ירידה במחיר מוצר </a:t>
            </a:r>
            <a:r>
              <a:rPr lang="en-US" sz="1400" dirty="0"/>
              <a:t>Y</a:t>
            </a:r>
            <a:r>
              <a:rPr lang="he-IL" sz="1400" dirty="0"/>
              <a:t>. ידוע שמוצר </a:t>
            </a:r>
            <a:r>
              <a:rPr lang="en-US" sz="1400" dirty="0"/>
              <a:t>Y</a:t>
            </a:r>
            <a:r>
              <a:rPr lang="he-IL" sz="1400" dirty="0"/>
              <a:t> הינו מוצר משלים ל-</a:t>
            </a:r>
            <a:r>
              <a:rPr lang="en-US" sz="1400" dirty="0"/>
              <a:t>X</a:t>
            </a:r>
            <a:r>
              <a:rPr lang="he-IL" sz="1400" dirty="0"/>
              <a:t> 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(ירידת </a:t>
            </a:r>
            <a:r>
              <a:rPr lang="en-US" sz="1400" dirty="0"/>
              <a:t>PY</a:t>
            </a:r>
            <a:r>
              <a:rPr lang="he-IL" sz="1400" dirty="0"/>
              <a:t>):</a:t>
            </a:r>
          </a:p>
        </p:txBody>
      </p:sp>
      <p:sp>
        <p:nvSpPr>
          <p:cNvPr id="32" name="Arc 31">
            <a:extLst>
              <a:ext uri="{FF2B5EF4-FFF2-40B4-BE49-F238E27FC236}">
                <a16:creationId xmlns:a16="http://schemas.microsoft.com/office/drawing/2014/main" id="{538FCE8D-48CB-49AB-9DD4-B9650B70D9F0}"/>
              </a:ext>
            </a:extLst>
          </p:cNvPr>
          <p:cNvSpPr/>
          <p:nvPr/>
        </p:nvSpPr>
        <p:spPr>
          <a:xfrm rot="10800000">
            <a:off x="807100" y="235973"/>
            <a:ext cx="3197267" cy="3312367"/>
          </a:xfrm>
          <a:prstGeom prst="arc">
            <a:avLst>
              <a:gd name="adj1" fmla="val 16840586"/>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488D7C-3939-471A-AE64-6FED708BE0B3}"/>
                  </a:ext>
                </a:extLst>
              </p:cNvPr>
              <p:cNvSpPr txBox="1"/>
              <p:nvPr/>
            </p:nvSpPr>
            <p:spPr>
              <a:xfrm>
                <a:off x="1438454" y="3496237"/>
                <a:ext cx="1489167"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𝐷</m:t>
                          </m:r>
                        </m:e>
                        <m:sub>
                          <m:r>
                            <a:rPr lang="en-US" sz="1600" b="0" i="1" smtClean="0">
                              <a:solidFill>
                                <a:schemeClr val="accent1"/>
                              </a:solidFill>
                              <a:latin typeface="Cambria Math" panose="02040503050406030204" pitchFamily="18" charset="0"/>
                            </a:rPr>
                            <m:t>0</m:t>
                          </m:r>
                        </m:sub>
                      </m:sSub>
                      <m:r>
                        <a:rPr lang="en-US" sz="1600" b="0" i="0" smtClean="0">
                          <a:solidFill>
                            <a:schemeClr val="accent1"/>
                          </a:solidFill>
                          <a:latin typeface="Cambria Math" panose="02040503050406030204" pitchFamily="18" charset="0"/>
                        </a:rPr>
                        <m:t>(</m:t>
                      </m:r>
                      <m:r>
                        <m:rPr>
                          <m:sty m:val="p"/>
                        </m:rPr>
                        <a:rPr lang="en-US" sz="1600" b="0" i="0" smtClean="0">
                          <a:solidFill>
                            <a:schemeClr val="accent1"/>
                          </a:solidFill>
                          <a:latin typeface="Cambria Math" panose="02040503050406030204" pitchFamily="18" charset="0"/>
                        </a:rPr>
                        <m:t>Py</m:t>
                      </m:r>
                      <m:r>
                        <a:rPr lang="en-US" sz="1600" b="0" i="0" smtClean="0">
                          <a:solidFill>
                            <a:schemeClr val="accent1"/>
                          </a:solidFill>
                          <a:latin typeface="Cambria Math" panose="02040503050406030204" pitchFamily="18" charset="0"/>
                        </a:rPr>
                        <m:t>=</m:t>
                      </m:r>
                      <m:r>
                        <a:rPr lang="en-US" sz="1600" b="0" i="0" smtClean="0">
                          <a:solidFill>
                            <a:schemeClr val="accent1"/>
                          </a:solidFill>
                          <a:latin typeface="Cambria Math" panose="02040503050406030204" pitchFamily="18" charset="0"/>
                        </a:rPr>
                        <m:t>4</m:t>
                      </m:r>
                      <m:r>
                        <a:rPr lang="en-US" sz="1600" b="0" i="0" smtClean="0">
                          <a:solidFill>
                            <a:schemeClr val="accent1"/>
                          </a:solidFill>
                          <a:latin typeface="Cambria Math" panose="02040503050406030204" pitchFamily="18" charset="0"/>
                        </a:rPr>
                        <m:t>)</m:t>
                      </m:r>
                    </m:oMath>
                  </m:oMathPara>
                </a14:m>
                <a:endParaRPr lang="aa-ET" dirty="0"/>
              </a:p>
            </p:txBody>
          </p:sp>
        </mc:Choice>
        <mc:Fallback xmlns="">
          <p:sp>
            <p:nvSpPr>
              <p:cNvPr id="33" name="TextBox 32">
                <a:extLst>
                  <a:ext uri="{FF2B5EF4-FFF2-40B4-BE49-F238E27FC236}">
                    <a16:creationId xmlns:a16="http://schemas.microsoft.com/office/drawing/2014/main" id="{9A488D7C-3939-471A-AE64-6FED708BE0B3}"/>
                  </a:ext>
                </a:extLst>
              </p:cNvPr>
              <p:cNvSpPr txBox="1">
                <a:spLocks noRot="1" noChangeAspect="1" noMove="1" noResize="1" noEditPoints="1" noAdjustHandles="1" noChangeArrowheads="1" noChangeShapeType="1" noTextEdit="1"/>
              </p:cNvSpPr>
              <p:nvPr/>
            </p:nvSpPr>
            <p:spPr>
              <a:xfrm>
                <a:off x="1438454" y="3496237"/>
                <a:ext cx="1489167" cy="246221"/>
              </a:xfrm>
              <a:prstGeom prst="rect">
                <a:avLst/>
              </a:prstGeom>
              <a:blipFill>
                <a:blip r:embed="rId2"/>
                <a:stretch>
                  <a:fillRect b="-3250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67CDBF-5276-4571-A5E7-8DA6453588B3}"/>
                  </a:ext>
                </a:extLst>
              </p:cNvPr>
              <p:cNvSpPr txBox="1"/>
              <p:nvPr/>
            </p:nvSpPr>
            <p:spPr>
              <a:xfrm>
                <a:off x="1636732" y="3151195"/>
                <a:ext cx="1253910" cy="276999"/>
              </a:xfrm>
              <a:prstGeom prst="rect">
                <a:avLst/>
              </a:prstGeom>
              <a:noFill/>
            </p:spPr>
            <p:txBody>
              <a:bodyPr wrap="square" lIns="0" tIns="0" rIns="0" bIns="0" rtlCol="0">
                <a:spAutoFit/>
              </a:bodyPr>
              <a:lstStyle/>
              <a:p>
                <a14:m>
                  <m:oMath xmlns:m="http://schemas.openxmlformats.org/officeDocument/2006/math">
                    <m:sSub>
                      <m:sSubPr>
                        <m:ctrlPr>
                          <a:rPr lang="aa-ET" sz="1600" b="1" i="1" smtClean="0">
                            <a:solidFill>
                              <a:srgbClr val="C00000"/>
                            </a:solidFill>
                            <a:latin typeface="Cambria Math" panose="02040503050406030204" pitchFamily="18" charset="0"/>
                          </a:rPr>
                        </m:ctrlPr>
                      </m:sSubPr>
                      <m:e>
                        <m:r>
                          <a:rPr lang="en-US" sz="1600" b="1" i="1" smtClean="0">
                            <a:solidFill>
                              <a:srgbClr val="C00000"/>
                            </a:solidFill>
                            <a:latin typeface="Cambria Math" panose="02040503050406030204" pitchFamily="18" charset="0"/>
                          </a:rPr>
                          <m:t>𝑫</m:t>
                        </m:r>
                      </m:e>
                      <m:sub>
                        <m:r>
                          <a:rPr lang="en-US" sz="1600" b="1" i="1" smtClean="0">
                            <a:solidFill>
                              <a:srgbClr val="C00000"/>
                            </a:solidFill>
                            <a:latin typeface="Cambria Math" panose="02040503050406030204" pitchFamily="18" charset="0"/>
                          </a:rPr>
                          <m:t>𝟏</m:t>
                        </m:r>
                      </m:sub>
                    </m:sSub>
                  </m:oMath>
                </a14:m>
                <a:r>
                  <a:rPr lang="en-US" b="1" dirty="0"/>
                  <a:t>(</a:t>
                </a:r>
                <a14:m>
                  <m:oMath xmlns:m="http://schemas.openxmlformats.org/officeDocument/2006/math">
                    <m:r>
                      <a:rPr lang="en-US" sz="1400" b="1" i="1" smtClean="0">
                        <a:solidFill>
                          <a:srgbClr val="C00000"/>
                        </a:solidFill>
                        <a:latin typeface="Cambria Math" panose="02040503050406030204" pitchFamily="18" charset="0"/>
                      </a:rPr>
                      <m:t>𝐏𝐲</m:t>
                    </m:r>
                    <m:r>
                      <a:rPr lang="en-US" sz="1400" b="1">
                        <a:solidFill>
                          <a:srgbClr val="C00000"/>
                        </a:solidFill>
                        <a:latin typeface="Cambria Math" panose="02040503050406030204" pitchFamily="18" charset="0"/>
                      </a:rPr>
                      <m:t>=</m:t>
                    </m:r>
                    <m:r>
                      <a:rPr lang="en-US" sz="1400" b="1" i="0" smtClean="0">
                        <a:solidFill>
                          <a:srgbClr val="C00000"/>
                        </a:solidFill>
                        <a:latin typeface="Cambria Math" panose="02040503050406030204" pitchFamily="18" charset="0"/>
                      </a:rPr>
                      <m:t>𝟐</m:t>
                    </m:r>
                  </m:oMath>
                </a14:m>
                <a:r>
                  <a:rPr lang="en-US" b="1" dirty="0"/>
                  <a:t>)</a:t>
                </a:r>
                <a:endParaRPr lang="aa-ET" b="1" dirty="0"/>
              </a:p>
            </p:txBody>
          </p:sp>
        </mc:Choice>
        <mc:Fallback xmlns="">
          <p:sp>
            <p:nvSpPr>
              <p:cNvPr id="38" name="TextBox 37">
                <a:extLst>
                  <a:ext uri="{FF2B5EF4-FFF2-40B4-BE49-F238E27FC236}">
                    <a16:creationId xmlns:a16="http://schemas.microsoft.com/office/drawing/2014/main" id="{3C67CDBF-5276-4571-A5E7-8DA6453588B3}"/>
                  </a:ext>
                </a:extLst>
              </p:cNvPr>
              <p:cNvSpPr txBox="1">
                <a:spLocks noRot="1" noChangeAspect="1" noMove="1" noResize="1" noEditPoints="1" noAdjustHandles="1" noChangeArrowheads="1" noChangeShapeType="1" noTextEdit="1"/>
              </p:cNvSpPr>
              <p:nvPr/>
            </p:nvSpPr>
            <p:spPr>
              <a:xfrm>
                <a:off x="1636732" y="3151195"/>
                <a:ext cx="1253910" cy="276999"/>
              </a:xfrm>
              <a:prstGeom prst="rect">
                <a:avLst/>
              </a:prstGeom>
              <a:blipFill>
                <a:blip r:embed="rId3"/>
                <a:stretch>
                  <a:fillRect l="-5340" t="-28889" b="-51111"/>
                </a:stretch>
              </a:blipFill>
            </p:spPr>
            <p:txBody>
              <a:bodyPr/>
              <a:lstStyle/>
              <a:p>
                <a:r>
                  <a:rPr lang="en-IL">
                    <a:noFill/>
                  </a:rPr>
                  <a:t> </a:t>
                </a:r>
              </a:p>
            </p:txBody>
          </p:sp>
        </mc:Fallback>
      </mc:AlternateContent>
      <p:sp>
        <p:nvSpPr>
          <p:cNvPr id="50" name="Arc 49">
            <a:extLst>
              <a:ext uri="{FF2B5EF4-FFF2-40B4-BE49-F238E27FC236}">
                <a16:creationId xmlns:a16="http://schemas.microsoft.com/office/drawing/2014/main" id="{97823A7A-480F-4599-9E0D-9CE0BB87C8AD}"/>
              </a:ext>
            </a:extLst>
          </p:cNvPr>
          <p:cNvSpPr/>
          <p:nvPr/>
        </p:nvSpPr>
        <p:spPr>
          <a:xfrm rot="10800000">
            <a:off x="6332085" y="-245271"/>
            <a:ext cx="4151151" cy="3312367"/>
          </a:xfrm>
          <a:prstGeom prst="arc">
            <a:avLst>
              <a:gd name="adj1" fmla="val 16293465"/>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C1219DC-ECB0-49FD-80C8-7F053F05EF4B}"/>
                  </a:ext>
                </a:extLst>
              </p:cNvPr>
              <p:cNvSpPr txBox="1"/>
              <p:nvPr/>
            </p:nvSpPr>
            <p:spPr>
              <a:xfrm>
                <a:off x="7357505" y="2584368"/>
                <a:ext cx="1253910"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rgbClr val="C00000"/>
                              </a:solidFill>
                              <a:latin typeface="Cambria Math" panose="02040503050406030204" pitchFamily="18" charset="0"/>
                            </a:rPr>
                          </m:ctrlPr>
                        </m:sSubPr>
                        <m:e>
                          <m:r>
                            <a:rPr lang="en-US" sz="1600" b="1" i="1" smtClean="0">
                              <a:solidFill>
                                <a:srgbClr val="C00000"/>
                              </a:solidFill>
                              <a:latin typeface="Cambria Math" panose="02040503050406030204" pitchFamily="18" charset="0"/>
                            </a:rPr>
                            <m:t>𝑫</m:t>
                          </m:r>
                        </m:e>
                        <m:sub>
                          <m:r>
                            <a:rPr lang="en-US" sz="1600" b="1" i="1" smtClean="0">
                              <a:solidFill>
                                <a:srgbClr val="C00000"/>
                              </a:solidFill>
                              <a:latin typeface="Cambria Math" panose="02040503050406030204" pitchFamily="18" charset="0"/>
                            </a:rPr>
                            <m:t>𝟏</m:t>
                          </m:r>
                        </m:sub>
                      </m:sSub>
                      <m:r>
                        <a:rPr lang="he-IL" sz="1600" b="1" i="0" smtClean="0">
                          <a:solidFill>
                            <a:srgbClr val="C00000"/>
                          </a:solidFill>
                          <a:latin typeface="Cambria Math" panose="02040503050406030204" pitchFamily="18" charset="0"/>
                        </a:rPr>
                        <m:t> </m:t>
                      </m:r>
                      <m:r>
                        <a:rPr lang="he-IL" sz="1600" b="1" i="0" smtClean="0">
                          <a:solidFill>
                            <a:srgbClr val="C00000"/>
                          </a:solidFill>
                          <a:latin typeface="Cambria Math" panose="02040503050406030204" pitchFamily="18" charset="0"/>
                        </a:rPr>
                        <m:t>מצרפי</m:t>
                      </m:r>
                    </m:oMath>
                  </m:oMathPara>
                </a14:m>
                <a:endParaRPr lang="aa-ET" b="1" dirty="0"/>
              </a:p>
            </p:txBody>
          </p:sp>
        </mc:Choice>
        <mc:Fallback xmlns="">
          <p:sp>
            <p:nvSpPr>
              <p:cNvPr id="52" name="TextBox 51">
                <a:extLst>
                  <a:ext uri="{FF2B5EF4-FFF2-40B4-BE49-F238E27FC236}">
                    <a16:creationId xmlns:a16="http://schemas.microsoft.com/office/drawing/2014/main" id="{5C1219DC-ECB0-49FD-80C8-7F053F05EF4B}"/>
                  </a:ext>
                </a:extLst>
              </p:cNvPr>
              <p:cNvSpPr txBox="1">
                <a:spLocks noRot="1" noChangeAspect="1" noMove="1" noResize="1" noEditPoints="1" noAdjustHandles="1" noChangeArrowheads="1" noChangeShapeType="1" noTextEdit="1"/>
              </p:cNvSpPr>
              <p:nvPr/>
            </p:nvSpPr>
            <p:spPr>
              <a:xfrm>
                <a:off x="7357505" y="2584368"/>
                <a:ext cx="1253910" cy="276294"/>
              </a:xfrm>
              <a:prstGeom prst="rect">
                <a:avLst/>
              </a:prstGeom>
              <a:blipFill>
                <a:blip r:embed="rId4"/>
                <a:stretch>
                  <a:fillRect t="-15556" b="-4222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574BE7D-D022-490B-ABB6-1A86670495AB}"/>
                  </a:ext>
                </a:extLst>
              </p:cNvPr>
              <p:cNvSpPr txBox="1"/>
              <p:nvPr/>
            </p:nvSpPr>
            <p:spPr>
              <a:xfrm>
                <a:off x="7361206" y="3337797"/>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r>
                        <a:rPr lang="he-IL" sz="1600" b="1" i="0" smtClean="0">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53" name="TextBox 52">
                <a:extLst>
                  <a:ext uri="{FF2B5EF4-FFF2-40B4-BE49-F238E27FC236}">
                    <a16:creationId xmlns:a16="http://schemas.microsoft.com/office/drawing/2014/main" id="{1574BE7D-D022-490B-ABB6-1A86670495AB}"/>
                  </a:ext>
                </a:extLst>
              </p:cNvPr>
              <p:cNvSpPr txBox="1">
                <a:spLocks noRot="1" noChangeAspect="1" noMove="1" noResize="1" noEditPoints="1" noAdjustHandles="1" noChangeArrowheads="1" noChangeShapeType="1" noTextEdit="1"/>
              </p:cNvSpPr>
              <p:nvPr/>
            </p:nvSpPr>
            <p:spPr>
              <a:xfrm>
                <a:off x="7361206" y="3337797"/>
                <a:ext cx="1278065" cy="276294"/>
              </a:xfrm>
              <a:prstGeom prst="rect">
                <a:avLst/>
              </a:prstGeom>
              <a:blipFill>
                <a:blip r:embed="rId5"/>
                <a:stretch>
                  <a:fillRect t="-15556" b="-42222"/>
                </a:stretch>
              </a:blipFill>
            </p:spPr>
            <p:txBody>
              <a:bodyPr/>
              <a:lstStyle/>
              <a:p>
                <a:r>
                  <a:rPr lang="en-IL">
                    <a:noFill/>
                  </a:rPr>
                  <a:t> </a:t>
                </a:r>
              </a:p>
            </p:txBody>
          </p:sp>
        </mc:Fallback>
      </mc:AlternateContent>
      <p:cxnSp>
        <p:nvCxnSpPr>
          <p:cNvPr id="54" name="מחבר ישר 57">
            <a:extLst>
              <a:ext uri="{FF2B5EF4-FFF2-40B4-BE49-F238E27FC236}">
                <a16:creationId xmlns:a16="http://schemas.microsoft.com/office/drawing/2014/main" id="{E470F5E4-A2C2-468E-A00E-775237584C15}"/>
              </a:ext>
            </a:extLst>
          </p:cNvPr>
          <p:cNvCxnSpPr>
            <a:cxnSpLocks/>
          </p:cNvCxnSpPr>
          <p:nvPr/>
        </p:nvCxnSpPr>
        <p:spPr>
          <a:xfrm flipV="1">
            <a:off x="7192274" y="2767173"/>
            <a:ext cx="0" cy="99178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5" name="Text Box 18">
            <a:extLst>
              <a:ext uri="{FF2B5EF4-FFF2-40B4-BE49-F238E27FC236}">
                <a16:creationId xmlns:a16="http://schemas.microsoft.com/office/drawing/2014/main" id="{7A1716D8-DC6B-44A6-B4A7-8C3C6A2BAA31}"/>
              </a:ext>
            </a:extLst>
          </p:cNvPr>
          <p:cNvSpPr txBox="1">
            <a:spLocks noChangeArrowheads="1"/>
          </p:cNvSpPr>
          <p:nvPr/>
        </p:nvSpPr>
        <p:spPr bwMode="auto">
          <a:xfrm>
            <a:off x="886654" y="3778851"/>
            <a:ext cx="506371"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solidFill>
                  <a:srgbClr val="C00000"/>
                </a:solidFill>
                <a:latin typeface="Calibri" pitchFamily="34" charset="0"/>
                <a:ea typeface="Arial" pitchFamily="34" charset="0"/>
                <a:cs typeface="Arial" pitchFamily="34" charset="0"/>
              </a:rPr>
              <a:t>X</a:t>
            </a:r>
            <a:r>
              <a:rPr kumimoji="0" lang="en-US" sz="2000" b="0" i="0" u="none" strike="noStrike" cap="none" normalizeH="0" baseline="0" dirty="0">
                <a:ln>
                  <a:noFill/>
                </a:ln>
                <a:solidFill>
                  <a:srgbClr val="C00000"/>
                </a:solidFill>
                <a:effectLst/>
                <a:latin typeface="Calibri" pitchFamily="34" charset="0"/>
                <a:ea typeface="Arial" pitchFamily="34" charset="0"/>
                <a:cs typeface="Arial" pitchFamily="34" charset="0"/>
              </a:rPr>
              <a:t>1</a:t>
            </a:r>
          </a:p>
        </p:txBody>
      </p:sp>
      <p:sp>
        <p:nvSpPr>
          <p:cNvPr id="56" name="Text Box 18">
            <a:extLst>
              <a:ext uri="{FF2B5EF4-FFF2-40B4-BE49-F238E27FC236}">
                <a16:creationId xmlns:a16="http://schemas.microsoft.com/office/drawing/2014/main" id="{BC94EE0F-4E50-4097-8946-378C2B5B4B3E}"/>
              </a:ext>
            </a:extLst>
          </p:cNvPr>
          <p:cNvSpPr txBox="1">
            <a:spLocks noChangeArrowheads="1"/>
          </p:cNvSpPr>
          <p:nvPr/>
        </p:nvSpPr>
        <p:spPr bwMode="auto">
          <a:xfrm>
            <a:off x="7042090" y="3773912"/>
            <a:ext cx="873322" cy="3873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C00000"/>
              </a:solidFill>
              <a:effectLst/>
              <a:latin typeface="Arial" pitchFamily="34" charset="0"/>
              <a:cs typeface="Arial" pitchFamily="34" charset="0"/>
            </a:endParaRPr>
          </a:p>
        </p:txBody>
      </p:sp>
      <p:cxnSp>
        <p:nvCxnSpPr>
          <p:cNvPr id="57" name="מחבר ישר 72">
            <a:extLst>
              <a:ext uri="{FF2B5EF4-FFF2-40B4-BE49-F238E27FC236}">
                <a16:creationId xmlns:a16="http://schemas.microsoft.com/office/drawing/2014/main" id="{B849846E-BDA0-4269-866D-32D68741B057}"/>
              </a:ext>
            </a:extLst>
          </p:cNvPr>
          <p:cNvCxnSpPr>
            <a:cxnSpLocks/>
          </p:cNvCxnSpPr>
          <p:nvPr/>
        </p:nvCxnSpPr>
        <p:spPr>
          <a:xfrm flipH="1" flipV="1">
            <a:off x="1041688" y="2722515"/>
            <a:ext cx="4236" cy="1062298"/>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0E15388-A501-41C1-B2D6-000584F2E4C3}"/>
              </a:ext>
            </a:extLst>
          </p:cNvPr>
          <p:cNvSpPr txBox="1"/>
          <p:nvPr/>
        </p:nvSpPr>
        <p:spPr>
          <a:xfrm>
            <a:off x="107508" y="182125"/>
            <a:ext cx="6879209" cy="369332"/>
          </a:xfrm>
          <a:prstGeom prst="rect">
            <a:avLst/>
          </a:prstGeom>
          <a:noFill/>
        </p:spPr>
        <p:txBody>
          <a:bodyPr wrap="square">
            <a:spAutoFit/>
          </a:bodyPr>
          <a:lstStyle/>
          <a:p>
            <a:pPr algn="r" rtl="1"/>
            <a:r>
              <a:rPr lang="he-IL" sz="1800" dirty="0"/>
              <a:t>במשק מסוים ישנם צרכני עיר א' וצרכני עיר ב' הבמקשים לרכוש את מוצר </a:t>
            </a:r>
            <a:r>
              <a:rPr lang="en-US" sz="1800" dirty="0"/>
              <a:t>X</a:t>
            </a:r>
            <a:r>
              <a:rPr lang="he-IL" sz="1800" dirty="0"/>
              <a:t>. </a:t>
            </a:r>
            <a:endParaRPr lang="en-IL" dirty="0"/>
          </a:p>
        </p:txBody>
      </p:sp>
      <p:sp>
        <p:nvSpPr>
          <p:cNvPr id="60" name="Arc 59">
            <a:extLst>
              <a:ext uri="{FF2B5EF4-FFF2-40B4-BE49-F238E27FC236}">
                <a16:creationId xmlns:a16="http://schemas.microsoft.com/office/drawing/2014/main" id="{66F0494A-24BD-49A2-A801-13DB8C58EC7A}"/>
              </a:ext>
            </a:extLst>
          </p:cNvPr>
          <p:cNvSpPr/>
          <p:nvPr/>
        </p:nvSpPr>
        <p:spPr>
          <a:xfrm rot="15717349" flipH="1" flipV="1">
            <a:off x="4519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61" name="TextBox 60">
            <a:extLst>
              <a:ext uri="{FF2B5EF4-FFF2-40B4-BE49-F238E27FC236}">
                <a16:creationId xmlns:a16="http://schemas.microsoft.com/office/drawing/2014/main" id="{4E3F6882-4D41-4F27-8A2A-912692DEDFB0}"/>
              </a:ext>
            </a:extLst>
          </p:cNvPr>
          <p:cNvSpPr txBox="1"/>
          <p:nvPr/>
        </p:nvSpPr>
        <p:spPr>
          <a:xfrm>
            <a:off x="7915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p:cxnSp>
        <p:nvCxnSpPr>
          <p:cNvPr id="62" name="מחבר ישר 33">
            <a:extLst>
              <a:ext uri="{FF2B5EF4-FFF2-40B4-BE49-F238E27FC236}">
                <a16:creationId xmlns:a16="http://schemas.microsoft.com/office/drawing/2014/main" id="{520F4CF3-5B89-470F-86F4-87BC562A2A1C}"/>
              </a:ext>
            </a:extLst>
          </p:cNvPr>
          <p:cNvCxnSpPr>
            <a:cxnSpLocks/>
          </p:cNvCxnSpPr>
          <p:nvPr/>
        </p:nvCxnSpPr>
        <p:spPr>
          <a:xfrm flipH="1" flipV="1">
            <a:off x="410332" y="2741421"/>
            <a:ext cx="6795296" cy="22667"/>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69FE5DC-6024-4C88-B8EF-30918824D286}"/>
              </a:ext>
            </a:extLst>
          </p:cNvPr>
          <p:cNvSpPr txBox="1"/>
          <p:nvPr/>
        </p:nvSpPr>
        <p:spPr>
          <a:xfrm>
            <a:off x="3266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b="1" dirty="0">
                <a:highlight>
                  <a:srgbClr val="FFFF00"/>
                </a:highlight>
              </a:rPr>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64" name="Text Box 18">
            <a:extLst>
              <a:ext uri="{FF2B5EF4-FFF2-40B4-BE49-F238E27FC236}">
                <a16:creationId xmlns:a16="http://schemas.microsoft.com/office/drawing/2014/main" id="{86D92EA5-19D7-4B34-8F3D-BBE46B7D82C2}"/>
              </a:ext>
            </a:extLst>
          </p:cNvPr>
          <p:cNvSpPr txBox="1">
            <a:spLocks noChangeArrowheads="1"/>
          </p:cNvSpPr>
          <p:nvPr/>
        </p:nvSpPr>
        <p:spPr bwMode="auto">
          <a:xfrm>
            <a:off x="3233494" y="3758385"/>
            <a:ext cx="495169" cy="4016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kumimoji="0" lang="he-IL" sz="3600" b="0" i="0" u="none" strike="noStrike" cap="none" normalizeH="0" baseline="0" dirty="0">
              <a:ln>
                <a:noFill/>
              </a:ln>
              <a:solidFill>
                <a:srgbClr val="C00000"/>
              </a:solidFill>
              <a:effectLst/>
              <a:latin typeface="Arial" pitchFamily="34" charset="0"/>
              <a:cs typeface="Arial" pitchFamily="34" charset="0"/>
            </a:endParaRPr>
          </a:p>
        </p:txBody>
      </p:sp>
      <p:cxnSp>
        <p:nvCxnSpPr>
          <p:cNvPr id="65" name="מחבר ישר 57">
            <a:extLst>
              <a:ext uri="{FF2B5EF4-FFF2-40B4-BE49-F238E27FC236}">
                <a16:creationId xmlns:a16="http://schemas.microsoft.com/office/drawing/2014/main" id="{AF6DA327-4AC1-4926-8417-194F7C57ED8F}"/>
              </a:ext>
            </a:extLst>
          </p:cNvPr>
          <p:cNvCxnSpPr>
            <a:cxnSpLocks/>
          </p:cNvCxnSpPr>
          <p:nvPr/>
        </p:nvCxnSpPr>
        <p:spPr>
          <a:xfrm flipV="1">
            <a:off x="3614099" y="2684552"/>
            <a:ext cx="0" cy="1057906"/>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6" name="Text Box 13">
            <a:extLst>
              <a:ext uri="{FF2B5EF4-FFF2-40B4-BE49-F238E27FC236}">
                <a16:creationId xmlns:a16="http://schemas.microsoft.com/office/drawing/2014/main" id="{275D1FC8-E714-4520-B31D-2B00093DED1E}"/>
              </a:ext>
            </a:extLst>
          </p:cNvPr>
          <p:cNvSpPr txBox="1">
            <a:spLocks noChangeArrowheads="1"/>
          </p:cNvSpPr>
          <p:nvPr/>
        </p:nvSpPr>
        <p:spPr bwMode="auto">
          <a:xfrm>
            <a:off x="-73310" y="2433484"/>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b="1" dirty="0">
                <a:solidFill>
                  <a:srgbClr val="C00000"/>
                </a:solidFill>
                <a:latin typeface="Calibri" pitchFamily="34" charset="0"/>
                <a:ea typeface="Arial" pitchFamily="34" charset="0"/>
                <a:cs typeface="Arial" pitchFamily="34" charset="0"/>
              </a:rPr>
              <a:t>P</a:t>
            </a:r>
            <a:r>
              <a:rPr lang="en-US" sz="1400" b="1" dirty="0">
                <a:solidFill>
                  <a:srgbClr val="C00000"/>
                </a:solidFill>
                <a:latin typeface="Calibri" pitchFamily="34" charset="0"/>
                <a:ea typeface="Arial" pitchFamily="34" charset="0"/>
                <a:cs typeface="Arial" pitchFamily="34" charset="0"/>
              </a:rPr>
              <a:t>1</a:t>
            </a:r>
            <a:endParaRPr kumimoji="0" lang="he-IL" sz="3600" b="1" i="0" u="none" strike="noStrike" cap="none" normalizeH="0" baseline="0" dirty="0">
              <a:ln>
                <a:noFill/>
              </a:ln>
              <a:solidFill>
                <a:srgbClr val="C00000"/>
              </a:solidFill>
              <a:effectLst/>
              <a:latin typeface="Arial" pitchFamily="34" charset="0"/>
              <a:cs typeface="Arial" pitchFamily="34" charset="0"/>
            </a:endParaRPr>
          </a:p>
        </p:txBody>
      </p:sp>
      <p:sp>
        <p:nvSpPr>
          <p:cNvPr id="3" name="Date Placeholder 2">
            <a:extLst>
              <a:ext uri="{FF2B5EF4-FFF2-40B4-BE49-F238E27FC236}">
                <a16:creationId xmlns:a16="http://schemas.microsoft.com/office/drawing/2014/main" id="{BC785DD5-33F2-40FA-A3DD-2D16E8EFE7A5}"/>
              </a:ext>
            </a:extLst>
          </p:cNvPr>
          <p:cNvSpPr>
            <a:spLocks noGrp="1"/>
          </p:cNvSpPr>
          <p:nvPr>
            <p:ph type="dt" sz="half" idx="10"/>
          </p:nvPr>
        </p:nvSpPr>
        <p:spPr>
          <a:xfrm>
            <a:off x="6929221" y="6447433"/>
            <a:ext cx="2133600" cy="365125"/>
          </a:xfrm>
        </p:spPr>
        <p:txBody>
          <a:bodyPr/>
          <a:lstStyle/>
          <a:p>
            <a:fld id="{F71212E2-3AF9-4474-9128-C5D8B5FB5FE3}" type="datetime8">
              <a:rPr lang="he-IL" smtClean="0"/>
              <a:t>17 ינואר 26</a:t>
            </a:fld>
            <a:endParaRPr lang="he-IL"/>
          </a:p>
        </p:txBody>
      </p:sp>
      <p:sp>
        <p:nvSpPr>
          <p:cNvPr id="4" name="Slide Number Placeholder 3">
            <a:extLst>
              <a:ext uri="{FF2B5EF4-FFF2-40B4-BE49-F238E27FC236}">
                <a16:creationId xmlns:a16="http://schemas.microsoft.com/office/drawing/2014/main" id="{7CC55F32-7F07-452C-BE1A-6ACB862866CF}"/>
              </a:ext>
            </a:extLst>
          </p:cNvPr>
          <p:cNvSpPr>
            <a:spLocks noGrp="1"/>
          </p:cNvSpPr>
          <p:nvPr>
            <p:ph type="sldNum" sz="quarter" idx="12"/>
          </p:nvPr>
        </p:nvSpPr>
        <p:spPr/>
        <p:txBody>
          <a:bodyPr/>
          <a:lstStyle/>
          <a:p>
            <a:fld id="{492DB488-E800-4C9D-A68D-A9C6D048BCD3}" type="slidenum">
              <a:rPr lang="he-IL" smtClean="0"/>
              <a:pPr/>
              <a:t>5</a:t>
            </a:fld>
            <a:endParaRPr lang="he-IL"/>
          </a:p>
        </p:txBody>
      </p:sp>
    </p:spTree>
    <p:extLst>
      <p:ext uri="{BB962C8B-B14F-4D97-AF65-F5344CB8AC3E}">
        <p14:creationId xmlns:p14="http://schemas.microsoft.com/office/powerpoint/2010/main" val="221654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57"/>
                                        </p:tgtEl>
                                        <p:attrNameLst>
                                          <p:attrName>style.color</p:attrName>
                                        </p:attrNameLst>
                                      </p:cBhvr>
                                      <p:by>
                                        <p:hsl h="7200000" s="0" l="0"/>
                                      </p:by>
                                    </p:animClr>
                                    <p:animClr clrSpc="hsl" dir="cw">
                                      <p:cBhvr>
                                        <p:cTn id="7" dur="500" fill="hold"/>
                                        <p:tgtEl>
                                          <p:spTgt spid="57"/>
                                        </p:tgtEl>
                                        <p:attrNameLst>
                                          <p:attrName>fillcolor</p:attrName>
                                        </p:attrNameLst>
                                      </p:cBhvr>
                                      <p:by>
                                        <p:hsl h="7200000" s="0" l="0"/>
                                      </p:by>
                                    </p:animClr>
                                    <p:animClr clrSpc="hsl" dir="cw">
                                      <p:cBhvr>
                                        <p:cTn id="8" dur="500" fill="hold"/>
                                        <p:tgtEl>
                                          <p:spTgt spid="57"/>
                                        </p:tgtEl>
                                        <p:attrNameLst>
                                          <p:attrName>stroke.color</p:attrName>
                                        </p:attrNameLst>
                                      </p:cBhvr>
                                      <p:by>
                                        <p:hsl h="7200000" s="0" l="0"/>
                                      </p:by>
                                    </p:animClr>
                                    <p:set>
                                      <p:cBhvr>
                                        <p:cTn id="9" dur="500" fill="hold"/>
                                        <p:tgtEl>
                                          <p:spTgt spid="5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mph" presetSubtype="0" fill="hold" grpId="0" nodeType="clickEffect">
                                  <p:stCondLst>
                                    <p:cond delay="0"/>
                                  </p:stCondLst>
                                  <p:childTnLst>
                                    <p:animClr clrSpc="hsl" dir="cw">
                                      <p:cBhvr override="childStyle">
                                        <p:cTn id="13" dur="500" fill="hold"/>
                                        <p:tgtEl>
                                          <p:spTgt spid="55"/>
                                        </p:tgtEl>
                                        <p:attrNameLst>
                                          <p:attrName>style.color</p:attrName>
                                        </p:attrNameLst>
                                      </p:cBhvr>
                                      <p:by>
                                        <p:hsl h="7200000" s="0" l="0"/>
                                      </p:by>
                                    </p:animClr>
                                    <p:animClr clrSpc="hsl" dir="cw">
                                      <p:cBhvr>
                                        <p:cTn id="14" dur="500" fill="hold"/>
                                        <p:tgtEl>
                                          <p:spTgt spid="55"/>
                                        </p:tgtEl>
                                        <p:attrNameLst>
                                          <p:attrName>fillcolor</p:attrName>
                                        </p:attrNameLst>
                                      </p:cBhvr>
                                      <p:by>
                                        <p:hsl h="7200000" s="0" l="0"/>
                                      </p:by>
                                    </p:animClr>
                                    <p:animClr clrSpc="hsl" dir="cw">
                                      <p:cBhvr>
                                        <p:cTn id="15" dur="500" fill="hold"/>
                                        <p:tgtEl>
                                          <p:spTgt spid="55"/>
                                        </p:tgtEl>
                                        <p:attrNameLst>
                                          <p:attrName>stroke.color</p:attrName>
                                        </p:attrNameLst>
                                      </p:cBhvr>
                                      <p:by>
                                        <p:hsl h="7200000" s="0" l="0"/>
                                      </p:by>
                                    </p:animClr>
                                    <p:set>
                                      <p:cBhvr>
                                        <p:cTn id="16" dur="500" fill="hold"/>
                                        <p:tgtEl>
                                          <p:spTgt spid="5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E9F9-A273-CCE9-56DB-08546EB49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734CE-E941-1F41-C733-50159210C74F}"/>
              </a:ext>
            </a:extLst>
          </p:cNvPr>
          <p:cNvSpPr>
            <a:spLocks noGrp="1"/>
          </p:cNvSpPr>
          <p:nvPr>
            <p:ph type="title"/>
          </p:nvPr>
        </p:nvSpPr>
        <p:spPr>
          <a:xfrm>
            <a:off x="762000" y="1981200"/>
            <a:ext cx="7886700" cy="1325563"/>
          </a:xfrm>
        </p:spPr>
        <p:txBody>
          <a:bodyPr>
            <a:normAutofit/>
          </a:bodyPr>
          <a:lstStyle/>
          <a:p>
            <a:pPr algn="ctr"/>
            <a:r>
              <a:rPr lang="he-IL" sz="4800" dirty="0"/>
              <a:t>שווקים חלקיים- היצע </a:t>
            </a:r>
            <a:endParaRPr lang="en-IL" sz="4800" dirty="0"/>
          </a:p>
        </p:txBody>
      </p:sp>
      <p:sp>
        <p:nvSpPr>
          <p:cNvPr id="4" name="Date Placeholder 3">
            <a:extLst>
              <a:ext uri="{FF2B5EF4-FFF2-40B4-BE49-F238E27FC236}">
                <a16:creationId xmlns:a16="http://schemas.microsoft.com/office/drawing/2014/main" id="{B6A2DCE9-A61A-8C4F-9B30-5ABD1FAE574C}"/>
              </a:ext>
            </a:extLst>
          </p:cNvPr>
          <p:cNvSpPr>
            <a:spLocks noGrp="1"/>
          </p:cNvSpPr>
          <p:nvPr>
            <p:ph type="dt" sz="half" idx="10"/>
          </p:nvPr>
        </p:nvSpPr>
        <p:spPr/>
        <p:txBody>
          <a:bodyPr/>
          <a:lstStyle/>
          <a:p>
            <a:fld id="{7F9AC868-853D-43AE-896D-482E64F268BC}" type="datetime8">
              <a:rPr lang="he-IL" smtClean="0"/>
              <a:t>17 ינואר 26</a:t>
            </a:fld>
            <a:endParaRPr lang="he-IL"/>
          </a:p>
        </p:txBody>
      </p:sp>
      <p:sp>
        <p:nvSpPr>
          <p:cNvPr id="6" name="Slide Number Placeholder 5">
            <a:extLst>
              <a:ext uri="{FF2B5EF4-FFF2-40B4-BE49-F238E27FC236}">
                <a16:creationId xmlns:a16="http://schemas.microsoft.com/office/drawing/2014/main" id="{96179A94-6A8B-66E3-BE49-C5CEA17FEDE2}"/>
              </a:ext>
            </a:extLst>
          </p:cNvPr>
          <p:cNvSpPr>
            <a:spLocks noGrp="1"/>
          </p:cNvSpPr>
          <p:nvPr>
            <p:ph type="sldNum" sz="quarter" idx="12"/>
          </p:nvPr>
        </p:nvSpPr>
        <p:spPr/>
        <p:txBody>
          <a:bodyPr/>
          <a:lstStyle/>
          <a:p>
            <a:fld id="{D69A981F-4466-4789-9E41-1885E502A96E}" type="slidenum">
              <a:rPr lang="he-IL" smtClean="0"/>
              <a:t>6</a:t>
            </a:fld>
            <a:endParaRPr lang="he-IL"/>
          </a:p>
        </p:txBody>
      </p:sp>
    </p:spTree>
    <p:extLst>
      <p:ext uri="{BB962C8B-B14F-4D97-AF65-F5344CB8AC3E}">
        <p14:creationId xmlns:p14="http://schemas.microsoft.com/office/powerpoint/2010/main" val="130650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7AECD-2238-B033-72F7-6AC83CF38DC9}"/>
              </a:ext>
            </a:extLst>
          </p:cNvPr>
          <p:cNvSpPr>
            <a:spLocks noGrp="1"/>
          </p:cNvSpPr>
          <p:nvPr>
            <p:ph type="title"/>
          </p:nvPr>
        </p:nvSpPr>
        <p:spPr>
          <a:xfrm>
            <a:off x="842493" y="147257"/>
            <a:ext cx="7848600" cy="792162"/>
          </a:xfrm>
        </p:spPr>
        <p:txBody>
          <a:bodyPr>
            <a:normAutofit fontScale="90000"/>
          </a:bodyPr>
          <a:lstStyle/>
          <a:p>
            <a:r>
              <a:rPr lang="he-IL" dirty="0"/>
              <a:t>שאלה 2 (מבחינה) בנושא שווקים חלקיים</a:t>
            </a:r>
            <a:endParaRPr lang="en-IL" dirty="0"/>
          </a:p>
        </p:txBody>
      </p:sp>
      <p:sp>
        <p:nvSpPr>
          <p:cNvPr id="3" name="Content Placeholder 2">
            <a:extLst>
              <a:ext uri="{FF2B5EF4-FFF2-40B4-BE49-F238E27FC236}">
                <a16:creationId xmlns:a16="http://schemas.microsoft.com/office/drawing/2014/main" id="{5C77D54D-AE52-A7EA-E9EB-F12BB371374D}"/>
              </a:ext>
            </a:extLst>
          </p:cNvPr>
          <p:cNvSpPr>
            <a:spLocks noGrp="1"/>
          </p:cNvSpPr>
          <p:nvPr>
            <p:ph idx="1"/>
          </p:nvPr>
        </p:nvSpPr>
        <p:spPr>
          <a:xfrm>
            <a:off x="472225" y="1212538"/>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הגליל,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D1CAAB3F-F47B-C00B-4031-9E011DF386E3}"/>
              </a:ext>
            </a:extLst>
          </p:cNvPr>
          <p:cNvSpPr>
            <a:spLocks noGrp="1"/>
          </p:cNvSpPr>
          <p:nvPr>
            <p:ph type="dt" sz="half" idx="10"/>
          </p:nvPr>
        </p:nvSpPr>
        <p:spPr/>
        <p:txBody>
          <a:bodyPr/>
          <a:lstStyle/>
          <a:p>
            <a:fld id="{D3F46614-6365-481A-8D4D-9F684485BEB0}" type="datetime8">
              <a:rPr lang="he-IL" smtClean="0"/>
              <a:t>17 ינואר 26</a:t>
            </a:fld>
            <a:endParaRPr lang="he-IL"/>
          </a:p>
        </p:txBody>
      </p:sp>
      <p:sp>
        <p:nvSpPr>
          <p:cNvPr id="5" name="Slide Number Placeholder 4">
            <a:extLst>
              <a:ext uri="{FF2B5EF4-FFF2-40B4-BE49-F238E27FC236}">
                <a16:creationId xmlns:a16="http://schemas.microsoft.com/office/drawing/2014/main" id="{56175054-DBCD-9B79-A3FA-CC491094D31F}"/>
              </a:ext>
            </a:extLst>
          </p:cNvPr>
          <p:cNvSpPr>
            <a:spLocks noGrp="1"/>
          </p:cNvSpPr>
          <p:nvPr>
            <p:ph type="sldNum" sz="quarter" idx="12"/>
          </p:nvPr>
        </p:nvSpPr>
        <p:spPr/>
        <p:txBody>
          <a:bodyPr/>
          <a:lstStyle/>
          <a:p>
            <a:fld id="{492DB488-E800-4C9D-A68D-A9C6D048BCD3}" type="slidenum">
              <a:rPr lang="he-IL" smtClean="0"/>
              <a:pPr/>
              <a:t>7</a:t>
            </a:fld>
            <a:endParaRPr lang="he-IL"/>
          </a:p>
        </p:txBody>
      </p:sp>
      <p:sp>
        <p:nvSpPr>
          <p:cNvPr id="6" name="TextBox 5">
            <a:extLst>
              <a:ext uri="{FF2B5EF4-FFF2-40B4-BE49-F238E27FC236}">
                <a16:creationId xmlns:a16="http://schemas.microsoft.com/office/drawing/2014/main" id="{F1574F14-9DB7-E2F3-648D-490D70623102}"/>
              </a:ext>
            </a:extLst>
          </p:cNvPr>
          <p:cNvSpPr txBox="1"/>
          <p:nvPr/>
        </p:nvSpPr>
        <p:spPr>
          <a:xfrm>
            <a:off x="817271" y="4816534"/>
            <a:ext cx="7539507" cy="369332"/>
          </a:xfrm>
          <a:prstGeom prst="rect">
            <a:avLst/>
          </a:prstGeom>
          <a:noFill/>
        </p:spPr>
        <p:txBody>
          <a:bodyPr wrap="square" rtlCol="0">
            <a:spAutoFit/>
          </a:bodyPr>
          <a:lstStyle/>
          <a:p>
            <a:pPr algn="r" rtl="1"/>
            <a:r>
              <a:rPr lang="he-IL" dirty="0"/>
              <a:t>1. אם הביקוש למלונים כתומים הוא יחידתי, אזי הפדיון של המגדלים בגליל יירד</a:t>
            </a:r>
            <a:endParaRPr lang="en-IL" dirty="0"/>
          </a:p>
        </p:txBody>
      </p:sp>
      <p:sp>
        <p:nvSpPr>
          <p:cNvPr id="7" name="TextBox 6">
            <a:extLst>
              <a:ext uri="{FF2B5EF4-FFF2-40B4-BE49-F238E27FC236}">
                <a16:creationId xmlns:a16="http://schemas.microsoft.com/office/drawing/2014/main" id="{F52C0F99-2FAB-3401-B625-E0A0A3791B1C}"/>
              </a:ext>
            </a:extLst>
          </p:cNvPr>
          <p:cNvSpPr txBox="1"/>
          <p:nvPr/>
        </p:nvSpPr>
        <p:spPr>
          <a:xfrm>
            <a:off x="739998" y="5204780"/>
            <a:ext cx="8053589" cy="369332"/>
          </a:xfrm>
          <a:prstGeom prst="rect">
            <a:avLst/>
          </a:prstGeom>
          <a:noFill/>
        </p:spPr>
        <p:txBody>
          <a:bodyPr wrap="square" rtlCol="0">
            <a:spAutoFit/>
          </a:bodyPr>
          <a:lstStyle/>
          <a:p>
            <a:pPr algn="r" rtl="1"/>
            <a:r>
              <a:rPr lang="he-IL" dirty="0"/>
              <a:t>2. אם הביקוש למלונים כתומים הוא קשיח, אזי הפדיון של המגדלים בגליל בוודאות יעלה</a:t>
            </a:r>
            <a:endParaRPr lang="en-IL" dirty="0"/>
          </a:p>
        </p:txBody>
      </p:sp>
      <p:sp>
        <p:nvSpPr>
          <p:cNvPr id="8" name="TextBox 7">
            <a:extLst>
              <a:ext uri="{FF2B5EF4-FFF2-40B4-BE49-F238E27FC236}">
                <a16:creationId xmlns:a16="http://schemas.microsoft.com/office/drawing/2014/main" id="{4824A337-A95D-E584-D7EE-922EB67A5CEB}"/>
              </a:ext>
            </a:extLst>
          </p:cNvPr>
          <p:cNvSpPr txBox="1"/>
          <p:nvPr/>
        </p:nvSpPr>
        <p:spPr>
          <a:xfrm>
            <a:off x="633211" y="5595899"/>
            <a:ext cx="8053589" cy="369332"/>
          </a:xfrm>
          <a:prstGeom prst="rect">
            <a:avLst/>
          </a:prstGeom>
          <a:noFill/>
        </p:spPr>
        <p:txBody>
          <a:bodyPr wrap="square" rtlCol="0">
            <a:spAutoFit/>
          </a:bodyPr>
          <a:lstStyle/>
          <a:p>
            <a:pPr algn="r" rtl="1"/>
            <a:r>
              <a:rPr lang="he-IL" dirty="0"/>
              <a:t>3. אם הביקוש למלונים כתומים הוא גמיש, אז ייתכן שהפדיון של המגדלים בנגב יירד</a:t>
            </a:r>
            <a:endParaRPr lang="en-IL" dirty="0"/>
          </a:p>
        </p:txBody>
      </p:sp>
      <p:sp>
        <p:nvSpPr>
          <p:cNvPr id="9" name="TextBox 8">
            <a:extLst>
              <a:ext uri="{FF2B5EF4-FFF2-40B4-BE49-F238E27FC236}">
                <a16:creationId xmlns:a16="http://schemas.microsoft.com/office/drawing/2014/main" id="{34DEB63C-655B-75E7-F35F-7B998A5F3582}"/>
              </a:ext>
            </a:extLst>
          </p:cNvPr>
          <p:cNvSpPr txBox="1"/>
          <p:nvPr/>
        </p:nvSpPr>
        <p:spPr>
          <a:xfrm>
            <a:off x="3200400" y="5975538"/>
            <a:ext cx="4933682" cy="369332"/>
          </a:xfrm>
          <a:prstGeom prst="rect">
            <a:avLst/>
          </a:prstGeom>
          <a:noFill/>
        </p:spPr>
        <p:txBody>
          <a:bodyPr wrap="square" rtlCol="0">
            <a:spAutoFit/>
          </a:bodyPr>
          <a:lstStyle/>
          <a:p>
            <a:pPr algn="r" rtl="1"/>
            <a:r>
              <a:rPr lang="he-IL" dirty="0"/>
              <a:t>4. הוצאות הצרכנים לרכישת המלונים הכתומים גדלו.</a:t>
            </a:r>
            <a:endParaRPr lang="en-IL" dirty="0"/>
          </a:p>
        </p:txBody>
      </p:sp>
      <p:sp>
        <p:nvSpPr>
          <p:cNvPr id="10" name="TextBox 9">
            <a:extLst>
              <a:ext uri="{FF2B5EF4-FFF2-40B4-BE49-F238E27FC236}">
                <a16:creationId xmlns:a16="http://schemas.microsoft.com/office/drawing/2014/main" id="{E05D406C-858B-44AE-1E25-13AB0B45E24D}"/>
              </a:ext>
            </a:extLst>
          </p:cNvPr>
          <p:cNvSpPr txBox="1"/>
          <p:nvPr/>
        </p:nvSpPr>
        <p:spPr>
          <a:xfrm>
            <a:off x="2069064" y="6333390"/>
            <a:ext cx="4933682" cy="369332"/>
          </a:xfrm>
          <a:prstGeom prst="rect">
            <a:avLst/>
          </a:prstGeom>
          <a:noFill/>
        </p:spPr>
        <p:txBody>
          <a:bodyPr wrap="square" rtlCol="0">
            <a:spAutoFit/>
          </a:bodyPr>
          <a:lstStyle/>
          <a:p>
            <a:pPr algn="r" rtl="1"/>
            <a:r>
              <a:rPr lang="he-IL" dirty="0"/>
              <a:t>5. כל התשובות האחרות אינן נכונות.</a:t>
            </a:r>
            <a:endParaRPr lang="en-IL" dirty="0"/>
          </a:p>
        </p:txBody>
      </p:sp>
    </p:spTree>
    <p:extLst>
      <p:ext uri="{BB962C8B-B14F-4D97-AF65-F5344CB8AC3E}">
        <p14:creationId xmlns:p14="http://schemas.microsoft.com/office/powerpoint/2010/main" val="2565910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F73EA-759F-F712-18E1-FD4BF3DB7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1E447-E223-D3BC-8398-9E7AE3DFD3C7}"/>
              </a:ext>
            </a:extLst>
          </p:cNvPr>
          <p:cNvSpPr>
            <a:spLocks noGrp="1"/>
          </p:cNvSpPr>
          <p:nvPr>
            <p:ph type="title"/>
          </p:nvPr>
        </p:nvSpPr>
        <p:spPr>
          <a:xfrm>
            <a:off x="842493" y="147257"/>
            <a:ext cx="7848600" cy="792162"/>
          </a:xfrm>
        </p:spPr>
        <p:txBody>
          <a:bodyPr>
            <a:normAutofit/>
          </a:bodyPr>
          <a:lstStyle/>
          <a:p>
            <a:r>
              <a:rPr lang="he-IL" sz="4000" dirty="0"/>
              <a:t>שאלה 2 (מבחינה) בנושא שווקים חלקיים</a:t>
            </a:r>
            <a:endParaRPr lang="en-IL" sz="4000" dirty="0"/>
          </a:p>
        </p:txBody>
      </p:sp>
      <p:sp>
        <p:nvSpPr>
          <p:cNvPr id="3" name="Content Placeholder 2">
            <a:extLst>
              <a:ext uri="{FF2B5EF4-FFF2-40B4-BE49-F238E27FC236}">
                <a16:creationId xmlns:a16="http://schemas.microsoft.com/office/drawing/2014/main" id="{2F066B42-C70B-D790-93A6-4ADF52AFDB9F}"/>
              </a:ext>
            </a:extLst>
          </p:cNvPr>
          <p:cNvSpPr>
            <a:spLocks noGrp="1"/>
          </p:cNvSpPr>
          <p:nvPr>
            <p:ph idx="1"/>
          </p:nvPr>
        </p:nvSpPr>
        <p:spPr>
          <a:xfrm>
            <a:off x="436328" y="863966"/>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הגליל,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0828EAC0-8C22-26AB-7B71-C355851661CB}"/>
              </a:ext>
            </a:extLst>
          </p:cNvPr>
          <p:cNvSpPr>
            <a:spLocks noGrp="1"/>
          </p:cNvSpPr>
          <p:nvPr>
            <p:ph type="dt" sz="half" idx="10"/>
          </p:nvPr>
        </p:nvSpPr>
        <p:spPr/>
        <p:txBody>
          <a:bodyPr/>
          <a:lstStyle/>
          <a:p>
            <a:fld id="{D3F46614-6365-481A-8D4D-9F684485BEB0}" type="datetime8">
              <a:rPr lang="he-IL" smtClean="0"/>
              <a:t>17 ינואר 26</a:t>
            </a:fld>
            <a:endParaRPr lang="he-IL"/>
          </a:p>
        </p:txBody>
      </p:sp>
      <p:sp>
        <p:nvSpPr>
          <p:cNvPr id="5" name="Slide Number Placeholder 4">
            <a:extLst>
              <a:ext uri="{FF2B5EF4-FFF2-40B4-BE49-F238E27FC236}">
                <a16:creationId xmlns:a16="http://schemas.microsoft.com/office/drawing/2014/main" id="{BE53E450-BEE0-25F8-41EF-9DF0E9F486D6}"/>
              </a:ext>
            </a:extLst>
          </p:cNvPr>
          <p:cNvSpPr>
            <a:spLocks noGrp="1"/>
          </p:cNvSpPr>
          <p:nvPr>
            <p:ph type="sldNum" sz="quarter" idx="12"/>
          </p:nvPr>
        </p:nvSpPr>
        <p:spPr/>
        <p:txBody>
          <a:bodyPr/>
          <a:lstStyle/>
          <a:p>
            <a:fld id="{492DB488-E800-4C9D-A68D-A9C6D048BCD3}" type="slidenum">
              <a:rPr lang="he-IL" smtClean="0"/>
              <a:pPr/>
              <a:t>8</a:t>
            </a:fld>
            <a:endParaRPr lang="he-IL"/>
          </a:p>
        </p:txBody>
      </p:sp>
      <p:sp>
        <p:nvSpPr>
          <p:cNvPr id="6" name="TextBox 5">
            <a:extLst>
              <a:ext uri="{FF2B5EF4-FFF2-40B4-BE49-F238E27FC236}">
                <a16:creationId xmlns:a16="http://schemas.microsoft.com/office/drawing/2014/main" id="{27786CF1-DFA2-90F0-DEBA-CCDAB8053196}"/>
              </a:ext>
            </a:extLst>
          </p:cNvPr>
          <p:cNvSpPr txBox="1"/>
          <p:nvPr/>
        </p:nvSpPr>
        <p:spPr>
          <a:xfrm>
            <a:off x="-551688" y="5166920"/>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בגליל יירד</a:t>
            </a:r>
            <a:endParaRPr lang="en-IL" sz="1400" dirty="0"/>
          </a:p>
        </p:txBody>
      </p:sp>
      <p:sp>
        <p:nvSpPr>
          <p:cNvPr id="7" name="TextBox 6">
            <a:extLst>
              <a:ext uri="{FF2B5EF4-FFF2-40B4-BE49-F238E27FC236}">
                <a16:creationId xmlns:a16="http://schemas.microsoft.com/office/drawing/2014/main" id="{EF25956E-53FE-10CF-3330-CA7E8A432219}"/>
              </a:ext>
            </a:extLst>
          </p:cNvPr>
          <p:cNvSpPr txBox="1"/>
          <p:nvPr/>
        </p:nvSpPr>
        <p:spPr>
          <a:xfrm>
            <a:off x="-1050843" y="5418176"/>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22EB9449-3843-74F7-F62A-674C2346C415}"/>
              </a:ext>
            </a:extLst>
          </p:cNvPr>
          <p:cNvSpPr txBox="1"/>
          <p:nvPr/>
        </p:nvSpPr>
        <p:spPr>
          <a:xfrm>
            <a:off x="1069089" y="5741615"/>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CB8CDBCC-C9F7-74F1-BA8D-F7AFC055C595}"/>
              </a:ext>
            </a:extLst>
          </p:cNvPr>
          <p:cNvSpPr txBox="1"/>
          <p:nvPr/>
        </p:nvSpPr>
        <p:spPr>
          <a:xfrm>
            <a:off x="2054137" y="6059808"/>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01641BAA-886A-5EC9-EADA-984AFD37FA93}"/>
              </a:ext>
            </a:extLst>
          </p:cNvPr>
          <p:cNvSpPr txBox="1"/>
          <p:nvPr/>
        </p:nvSpPr>
        <p:spPr>
          <a:xfrm>
            <a:off x="2069064" y="6333390"/>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B2F924F2-F563-D9EB-4E60-7D1075A911C9}"/>
              </a:ext>
            </a:extLst>
          </p:cNvPr>
          <p:cNvSpPr txBox="1">
            <a:spLocks noChangeArrowheads="1"/>
          </p:cNvSpPr>
          <p:nvPr/>
        </p:nvSpPr>
        <p:spPr bwMode="auto">
          <a:xfrm>
            <a:off x="165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2" name="Line 3">
            <a:extLst>
              <a:ext uri="{FF2B5EF4-FFF2-40B4-BE49-F238E27FC236}">
                <a16:creationId xmlns:a16="http://schemas.microsoft.com/office/drawing/2014/main" id="{D1FB9BA6-F1A0-3BF4-21E6-3B1D17AA0148}"/>
              </a:ext>
            </a:extLst>
          </p:cNvPr>
          <p:cNvSpPr>
            <a:spLocks noChangeShapeType="1"/>
          </p:cNvSpPr>
          <p:nvPr/>
        </p:nvSpPr>
        <p:spPr bwMode="auto">
          <a:xfrm>
            <a:off x="633209" y="2348785"/>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E5713FDD-6567-E3D2-69B5-B89207AF1CDA}"/>
              </a:ext>
            </a:extLst>
          </p:cNvPr>
          <p:cNvSpPr txBox="1">
            <a:spLocks noChangeArrowheads="1"/>
          </p:cNvSpPr>
          <p:nvPr/>
        </p:nvSpPr>
        <p:spPr bwMode="auto">
          <a:xfrm>
            <a:off x="2365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a:extLst>
              <a:ext uri="{FF2B5EF4-FFF2-40B4-BE49-F238E27FC236}">
                <a16:creationId xmlns:a16="http://schemas.microsoft.com/office/drawing/2014/main" id="{895A6E91-55ED-4D55-01FD-78ECE50080D6}"/>
              </a:ext>
            </a:extLst>
          </p:cNvPr>
          <p:cNvSpPr>
            <a:spLocks noChangeShapeType="1"/>
          </p:cNvSpPr>
          <p:nvPr/>
        </p:nvSpPr>
        <p:spPr bwMode="auto">
          <a:xfrm rot="16200000">
            <a:off x="1656297" y="3509285"/>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860B2CB1-954D-AEF7-2CD6-E33E8768B096}"/>
              </a:ext>
            </a:extLst>
          </p:cNvPr>
          <p:cNvSpPr txBox="1">
            <a:spLocks noChangeArrowheads="1"/>
          </p:cNvSpPr>
          <p:nvPr/>
        </p:nvSpPr>
        <p:spPr bwMode="auto">
          <a:xfrm>
            <a:off x="2943901" y="21343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a:extLst>
              <a:ext uri="{FF2B5EF4-FFF2-40B4-BE49-F238E27FC236}">
                <a16:creationId xmlns:a16="http://schemas.microsoft.com/office/drawing/2014/main" id="{87CC3240-3877-FDF8-A307-7D4816409465}"/>
              </a:ext>
            </a:extLst>
          </p:cNvPr>
          <p:cNvSpPr>
            <a:spLocks noChangeShapeType="1"/>
          </p:cNvSpPr>
          <p:nvPr/>
        </p:nvSpPr>
        <p:spPr bwMode="auto">
          <a:xfrm>
            <a:off x="3311557" y="2359611"/>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E539CAA7-C25A-4ED0-E991-6E204C809448}"/>
              </a:ext>
            </a:extLst>
          </p:cNvPr>
          <p:cNvSpPr txBox="1">
            <a:spLocks noChangeArrowheads="1"/>
          </p:cNvSpPr>
          <p:nvPr/>
        </p:nvSpPr>
        <p:spPr bwMode="auto">
          <a:xfrm>
            <a:off x="5087009" y="449184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8" name="Text Box 18">
            <a:extLst>
              <a:ext uri="{FF2B5EF4-FFF2-40B4-BE49-F238E27FC236}">
                <a16:creationId xmlns:a16="http://schemas.microsoft.com/office/drawing/2014/main" id="{5000E198-C855-7D27-73E8-AF7E385DE3B6}"/>
              </a:ext>
            </a:extLst>
          </p:cNvPr>
          <p:cNvSpPr txBox="1">
            <a:spLocks noChangeArrowheads="1"/>
          </p:cNvSpPr>
          <p:nvPr/>
        </p:nvSpPr>
        <p:spPr bwMode="auto">
          <a:xfrm>
            <a:off x="4193873" y="457731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9" name="Line 3">
            <a:extLst>
              <a:ext uri="{FF2B5EF4-FFF2-40B4-BE49-F238E27FC236}">
                <a16:creationId xmlns:a16="http://schemas.microsoft.com/office/drawing/2014/main" id="{E3600809-2E27-CE57-585D-A8A97843B8F3}"/>
              </a:ext>
            </a:extLst>
          </p:cNvPr>
          <p:cNvSpPr>
            <a:spLocks noChangeShapeType="1"/>
          </p:cNvSpPr>
          <p:nvPr/>
        </p:nvSpPr>
        <p:spPr bwMode="auto">
          <a:xfrm rot="16200000">
            <a:off x="4193873" y="360262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DEBD15C9-6A52-BFB6-30D0-DAC7FD2E54FA}"/>
              </a:ext>
            </a:extLst>
          </p:cNvPr>
          <p:cNvSpPr txBox="1">
            <a:spLocks noChangeArrowheads="1"/>
          </p:cNvSpPr>
          <p:nvPr/>
        </p:nvSpPr>
        <p:spPr bwMode="auto">
          <a:xfrm>
            <a:off x="5795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1" name="Line 3">
            <a:extLst>
              <a:ext uri="{FF2B5EF4-FFF2-40B4-BE49-F238E27FC236}">
                <a16:creationId xmlns:a16="http://schemas.microsoft.com/office/drawing/2014/main" id="{9A7251FD-DCD9-68D0-E18E-45078CD4498B}"/>
              </a:ext>
            </a:extLst>
          </p:cNvPr>
          <p:cNvSpPr>
            <a:spLocks noChangeShapeType="1"/>
          </p:cNvSpPr>
          <p:nvPr/>
        </p:nvSpPr>
        <p:spPr bwMode="auto">
          <a:xfrm>
            <a:off x="6113261" y="236299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FD87EB37-3CD7-4990-E580-630FFECD1FEE}"/>
              </a:ext>
            </a:extLst>
          </p:cNvPr>
          <p:cNvSpPr txBox="1">
            <a:spLocks/>
          </p:cNvSpPr>
          <p:nvPr/>
        </p:nvSpPr>
        <p:spPr>
          <a:xfrm>
            <a:off x="3153619" y="1950051"/>
            <a:ext cx="2643142"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יצרני הנגב</a:t>
            </a:r>
          </a:p>
        </p:txBody>
      </p:sp>
      <p:sp>
        <p:nvSpPr>
          <p:cNvPr id="23" name="כותרת 1">
            <a:extLst>
              <a:ext uri="{FF2B5EF4-FFF2-40B4-BE49-F238E27FC236}">
                <a16:creationId xmlns:a16="http://schemas.microsoft.com/office/drawing/2014/main" id="{BF3ACD28-F9B1-1AD4-98BA-3545486DF058}"/>
              </a:ext>
            </a:extLst>
          </p:cNvPr>
          <p:cNvSpPr txBox="1">
            <a:spLocks/>
          </p:cNvSpPr>
          <p:nvPr/>
        </p:nvSpPr>
        <p:spPr>
          <a:xfrm>
            <a:off x="382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kumimoji="0" lang="he-IL" sz="4400" i="0" u="sng" strike="noStrike" kern="1200" cap="none" spc="0" normalizeH="0" baseline="0" noProof="0" dirty="0">
                <a:ln>
                  <a:noFill/>
                </a:ln>
                <a:solidFill>
                  <a:schemeClr val="tx1"/>
                </a:solidFill>
                <a:effectLst/>
                <a:uLnTx/>
                <a:uFillTx/>
                <a:latin typeface="+mj-lt"/>
                <a:ea typeface="+mj-ea"/>
                <a:cs typeface="+mj-cs"/>
              </a:rPr>
              <a:t>יצרני </a:t>
            </a:r>
            <a:r>
              <a:rPr lang="he-IL" sz="4400" b="1" u="sng" dirty="0">
                <a:solidFill>
                  <a:schemeClr val="accent2">
                    <a:lumMod val="75000"/>
                  </a:schemeClr>
                </a:solidFill>
              </a:rPr>
              <a:t>הגליל</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24" name="כותרת 1">
            <a:extLst>
              <a:ext uri="{FF2B5EF4-FFF2-40B4-BE49-F238E27FC236}">
                <a16:creationId xmlns:a16="http://schemas.microsoft.com/office/drawing/2014/main" id="{8E0EDD90-66A7-7B6E-B73A-E3B378EBFFCB}"/>
              </a:ext>
            </a:extLst>
          </p:cNvPr>
          <p:cNvSpPr txBox="1">
            <a:spLocks/>
          </p:cNvSpPr>
          <p:nvPr/>
        </p:nvSpPr>
        <p:spPr>
          <a:xfrm>
            <a:off x="6396658" y="2055469"/>
            <a:ext cx="1862423"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25" name="מחבר ישר 33">
            <a:extLst>
              <a:ext uri="{FF2B5EF4-FFF2-40B4-BE49-F238E27FC236}">
                <a16:creationId xmlns:a16="http://schemas.microsoft.com/office/drawing/2014/main" id="{EE454A8C-0EC1-D4CA-3516-C4AC8A5DFAEC}"/>
              </a:ext>
            </a:extLst>
          </p:cNvPr>
          <p:cNvCxnSpPr>
            <a:cxnSpLocks/>
          </p:cNvCxnSpPr>
          <p:nvPr/>
        </p:nvCxnSpPr>
        <p:spPr>
          <a:xfrm flipH="1" flipV="1">
            <a:off x="665077" y="364688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7371A899-0D13-8274-FCD5-CFFA52BFBEC2}"/>
              </a:ext>
            </a:extLst>
          </p:cNvPr>
          <p:cNvSpPr txBox="1">
            <a:spLocks noChangeArrowheads="1"/>
          </p:cNvSpPr>
          <p:nvPr/>
        </p:nvSpPr>
        <p:spPr bwMode="auto">
          <a:xfrm>
            <a:off x="1469922" y="45616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7" name="Text Box 18">
            <a:extLst>
              <a:ext uri="{FF2B5EF4-FFF2-40B4-BE49-F238E27FC236}">
                <a16:creationId xmlns:a16="http://schemas.microsoft.com/office/drawing/2014/main" id="{EC6A620F-E77F-5AB8-7F2B-B4CBF0725C03}"/>
              </a:ext>
            </a:extLst>
          </p:cNvPr>
          <p:cNvSpPr txBox="1">
            <a:spLocks noChangeArrowheads="1"/>
          </p:cNvSpPr>
          <p:nvPr/>
        </p:nvSpPr>
        <p:spPr bwMode="auto">
          <a:xfrm>
            <a:off x="6527885" y="455057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Text Box 18">
            <a:extLst>
              <a:ext uri="{FF2B5EF4-FFF2-40B4-BE49-F238E27FC236}">
                <a16:creationId xmlns:a16="http://schemas.microsoft.com/office/drawing/2014/main" id="{C1895B94-D776-77F3-0A75-6AE21BAA613D}"/>
              </a:ext>
            </a:extLst>
          </p:cNvPr>
          <p:cNvSpPr txBox="1">
            <a:spLocks noChangeArrowheads="1"/>
          </p:cNvSpPr>
          <p:nvPr/>
        </p:nvSpPr>
        <p:spPr bwMode="auto">
          <a:xfrm>
            <a:off x="8476421" y="456486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9" name="Arc 28">
            <a:extLst>
              <a:ext uri="{FF2B5EF4-FFF2-40B4-BE49-F238E27FC236}">
                <a16:creationId xmlns:a16="http://schemas.microsoft.com/office/drawing/2014/main" id="{DD48FE0C-990B-C930-DBDB-E4DAC9616FA9}"/>
              </a:ext>
            </a:extLst>
          </p:cNvPr>
          <p:cNvSpPr/>
          <p:nvPr/>
        </p:nvSpPr>
        <p:spPr>
          <a:xfrm rot="10800000">
            <a:off x="6500385" y="1294542"/>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4B875D-DAD3-1338-D990-020A350F1BFE}"/>
                  </a:ext>
                </a:extLst>
              </p:cNvPr>
              <p:cNvSpPr txBox="1"/>
              <p:nvPr/>
            </p:nvSpPr>
            <p:spPr>
              <a:xfrm>
                <a:off x="7584083" y="4114887"/>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C34B875D-DAD3-1338-D990-020A350F1BFE}"/>
                  </a:ext>
                </a:extLst>
              </p:cNvPr>
              <p:cNvSpPr txBox="1">
                <a:spLocks noRot="1" noChangeAspect="1" noMove="1" noResize="1" noEditPoints="1" noAdjustHandles="1" noChangeArrowheads="1" noChangeShapeType="1" noTextEdit="1"/>
              </p:cNvSpPr>
              <p:nvPr/>
            </p:nvSpPr>
            <p:spPr>
              <a:xfrm>
                <a:off x="7584083" y="4114887"/>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BDAF4F87-0C2D-BCF3-9FA5-D535355EAF49}"/>
              </a:ext>
            </a:extLst>
          </p:cNvPr>
          <p:cNvSpPr/>
          <p:nvPr/>
        </p:nvSpPr>
        <p:spPr>
          <a:xfrm rot="15774971" flipH="1" flipV="1">
            <a:off x="4501841" y="507040"/>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03B969-3BD4-377F-B321-BF3BB27BBF9D}"/>
                  </a:ext>
                </a:extLst>
              </p:cNvPr>
              <p:cNvSpPr txBox="1"/>
              <p:nvPr/>
            </p:nvSpPr>
            <p:spPr>
              <a:xfrm>
                <a:off x="8138289" y="2476789"/>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i="0" smtClean="0">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7803B969-3BD4-377F-B321-BF3BB27BBF9D}"/>
                  </a:ext>
                </a:extLst>
              </p:cNvPr>
              <p:cNvSpPr txBox="1">
                <a:spLocks noRot="1" noChangeAspect="1" noMove="1" noResize="1" noEditPoints="1" noAdjustHandles="1" noChangeArrowheads="1" noChangeShapeType="1" noTextEdit="1"/>
              </p:cNvSpPr>
              <p:nvPr/>
            </p:nvSpPr>
            <p:spPr>
              <a:xfrm>
                <a:off x="8138289" y="2476789"/>
                <a:ext cx="1252266" cy="506742"/>
              </a:xfrm>
              <a:prstGeom prst="rect">
                <a:avLst/>
              </a:prstGeom>
              <a:blipFill>
                <a:blip r:embed="rId3"/>
                <a:stretch>
                  <a:fillRect l="-7317" t="-2410"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8CE8B7C3-60D7-8DF1-3BB0-7748FFAE90CD}"/>
              </a:ext>
            </a:extLst>
          </p:cNvPr>
          <p:cNvSpPr/>
          <p:nvPr/>
        </p:nvSpPr>
        <p:spPr>
          <a:xfrm rot="14668846" flipH="1" flipV="1">
            <a:off x="-1232382" y="872083"/>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1B30527C-8F8D-EAC2-E01A-274A7B120F2A}"/>
              </a:ext>
            </a:extLst>
          </p:cNvPr>
          <p:cNvSpPr/>
          <p:nvPr/>
        </p:nvSpPr>
        <p:spPr>
          <a:xfrm rot="14682587" flipH="1" flipV="1">
            <a:off x="1573491"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3DA49680-5A72-460C-B32C-75A344DA2246}"/>
              </a:ext>
            </a:extLst>
          </p:cNvPr>
          <p:cNvCxnSpPr>
            <a:cxnSpLocks/>
          </p:cNvCxnSpPr>
          <p:nvPr/>
        </p:nvCxnSpPr>
        <p:spPr>
          <a:xfrm flipV="1">
            <a:off x="7164225" y="3699789"/>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C6BE324E-CEC6-675D-C8E1-A59D76E3EB67}"/>
              </a:ext>
            </a:extLst>
          </p:cNvPr>
          <p:cNvCxnSpPr>
            <a:cxnSpLocks/>
          </p:cNvCxnSpPr>
          <p:nvPr/>
        </p:nvCxnSpPr>
        <p:spPr>
          <a:xfrm flipV="1">
            <a:off x="4390896" y="3697174"/>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5074A3E1-4480-06BC-50CD-CA2D3BC4054D}"/>
              </a:ext>
            </a:extLst>
          </p:cNvPr>
          <p:cNvCxnSpPr>
            <a:cxnSpLocks/>
          </p:cNvCxnSpPr>
          <p:nvPr/>
        </p:nvCxnSpPr>
        <p:spPr>
          <a:xfrm flipH="1" flipV="1">
            <a:off x="1655683" y="3654592"/>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5F0E70E8-D5A0-D4EF-C563-C8C73D649B4D}"/>
              </a:ext>
            </a:extLst>
          </p:cNvPr>
          <p:cNvSpPr>
            <a:spLocks noChangeShapeType="1"/>
          </p:cNvSpPr>
          <p:nvPr/>
        </p:nvSpPr>
        <p:spPr bwMode="auto">
          <a:xfrm rot="16200000">
            <a:off x="7032326" y="3577950"/>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205C46DC-84BF-1846-60F1-447E3A3FEAD1}"/>
              </a:ext>
            </a:extLst>
          </p:cNvPr>
          <p:cNvSpPr/>
          <p:nvPr/>
        </p:nvSpPr>
        <p:spPr>
          <a:xfrm>
            <a:off x="7024208"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Tree>
    <p:extLst>
      <p:ext uri="{BB962C8B-B14F-4D97-AF65-F5344CB8AC3E}">
        <p14:creationId xmlns:p14="http://schemas.microsoft.com/office/powerpoint/2010/main" val="3025769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F5F4F-8242-D244-07B7-70A488DF8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82417-2F5C-B90A-AC14-5C6B88B189F1}"/>
              </a:ext>
            </a:extLst>
          </p:cNvPr>
          <p:cNvSpPr>
            <a:spLocks noGrp="1"/>
          </p:cNvSpPr>
          <p:nvPr>
            <p:ph type="title"/>
          </p:nvPr>
        </p:nvSpPr>
        <p:spPr>
          <a:xfrm>
            <a:off x="842493" y="147257"/>
            <a:ext cx="7848600" cy="792162"/>
          </a:xfrm>
        </p:spPr>
        <p:txBody>
          <a:bodyPr>
            <a:normAutofit/>
          </a:bodyPr>
          <a:lstStyle/>
          <a:p>
            <a:r>
              <a:rPr lang="he-IL" sz="4000" dirty="0"/>
              <a:t>שאלה (2) מבחינה בנושא שווקים חלקיים</a:t>
            </a:r>
            <a:endParaRPr lang="en-IL" sz="4000" dirty="0"/>
          </a:p>
        </p:txBody>
      </p:sp>
      <p:sp>
        <p:nvSpPr>
          <p:cNvPr id="3" name="Content Placeholder 2">
            <a:extLst>
              <a:ext uri="{FF2B5EF4-FFF2-40B4-BE49-F238E27FC236}">
                <a16:creationId xmlns:a16="http://schemas.microsoft.com/office/drawing/2014/main" id="{22FC9AEA-023A-A6E3-5E73-464FEBF46BE7}"/>
              </a:ext>
            </a:extLst>
          </p:cNvPr>
          <p:cNvSpPr>
            <a:spLocks noGrp="1"/>
          </p:cNvSpPr>
          <p:nvPr>
            <p:ph idx="1"/>
          </p:nvPr>
        </p:nvSpPr>
        <p:spPr>
          <a:xfrm>
            <a:off x="436328" y="863966"/>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a:t>
            </a:r>
            <a:r>
              <a:rPr lang="he-IL" sz="1400" b="1" dirty="0">
                <a:solidFill>
                  <a:schemeClr val="accent2">
                    <a:lumMod val="75000"/>
                  </a:schemeClr>
                </a:solidFill>
              </a:rPr>
              <a:t>גליל</a:t>
            </a:r>
            <a:r>
              <a:rPr lang="he-IL" sz="1400" dirty="0"/>
              <a:t>,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B0DE8C09-2E58-780A-4FB7-B00F71DB8D23}"/>
              </a:ext>
            </a:extLst>
          </p:cNvPr>
          <p:cNvSpPr>
            <a:spLocks noGrp="1"/>
          </p:cNvSpPr>
          <p:nvPr>
            <p:ph type="dt" sz="half" idx="10"/>
          </p:nvPr>
        </p:nvSpPr>
        <p:spPr/>
        <p:txBody>
          <a:bodyPr/>
          <a:lstStyle/>
          <a:p>
            <a:fld id="{D3F46614-6365-481A-8D4D-9F684485BEB0}" type="datetime8">
              <a:rPr lang="he-IL" smtClean="0"/>
              <a:t>17 ינואר 26</a:t>
            </a:fld>
            <a:endParaRPr lang="he-IL"/>
          </a:p>
        </p:txBody>
      </p:sp>
      <p:sp>
        <p:nvSpPr>
          <p:cNvPr id="5" name="Slide Number Placeholder 4">
            <a:extLst>
              <a:ext uri="{FF2B5EF4-FFF2-40B4-BE49-F238E27FC236}">
                <a16:creationId xmlns:a16="http://schemas.microsoft.com/office/drawing/2014/main" id="{120DBCC4-D705-E76D-608E-4A4180BECB60}"/>
              </a:ext>
            </a:extLst>
          </p:cNvPr>
          <p:cNvSpPr>
            <a:spLocks noGrp="1"/>
          </p:cNvSpPr>
          <p:nvPr>
            <p:ph type="sldNum" sz="quarter" idx="12"/>
          </p:nvPr>
        </p:nvSpPr>
        <p:spPr/>
        <p:txBody>
          <a:bodyPr/>
          <a:lstStyle/>
          <a:p>
            <a:fld id="{492DB488-E800-4C9D-A68D-A9C6D048BCD3}" type="slidenum">
              <a:rPr lang="he-IL" smtClean="0"/>
              <a:pPr/>
              <a:t>9</a:t>
            </a:fld>
            <a:endParaRPr lang="he-IL"/>
          </a:p>
        </p:txBody>
      </p:sp>
      <p:sp>
        <p:nvSpPr>
          <p:cNvPr id="6" name="TextBox 5">
            <a:extLst>
              <a:ext uri="{FF2B5EF4-FFF2-40B4-BE49-F238E27FC236}">
                <a16:creationId xmlns:a16="http://schemas.microsoft.com/office/drawing/2014/main" id="{5D98B276-C264-1473-EF8F-FF601697ED33}"/>
              </a:ext>
            </a:extLst>
          </p:cNvPr>
          <p:cNvSpPr txBox="1"/>
          <p:nvPr/>
        </p:nvSpPr>
        <p:spPr>
          <a:xfrm>
            <a:off x="-551688" y="5166920"/>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a:t>
            </a:r>
            <a:r>
              <a:rPr lang="he-IL" sz="1400" b="1" dirty="0">
                <a:solidFill>
                  <a:schemeClr val="accent2">
                    <a:lumMod val="75000"/>
                  </a:schemeClr>
                </a:solidFill>
              </a:rPr>
              <a:t>גליל יירד</a:t>
            </a:r>
            <a:endParaRPr lang="en-IL" sz="1400" b="1" dirty="0">
              <a:solidFill>
                <a:schemeClr val="accent2">
                  <a:lumMod val="75000"/>
                </a:schemeClr>
              </a:solidFill>
            </a:endParaRPr>
          </a:p>
        </p:txBody>
      </p:sp>
      <p:sp>
        <p:nvSpPr>
          <p:cNvPr id="7" name="TextBox 6">
            <a:extLst>
              <a:ext uri="{FF2B5EF4-FFF2-40B4-BE49-F238E27FC236}">
                <a16:creationId xmlns:a16="http://schemas.microsoft.com/office/drawing/2014/main" id="{A70EC4A1-E7C0-8606-FD47-C0B4337890DB}"/>
              </a:ext>
            </a:extLst>
          </p:cNvPr>
          <p:cNvSpPr txBox="1"/>
          <p:nvPr/>
        </p:nvSpPr>
        <p:spPr>
          <a:xfrm>
            <a:off x="-1050843" y="5418176"/>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9722A900-C42F-A486-5DD3-9FD4581C7ADB}"/>
              </a:ext>
            </a:extLst>
          </p:cNvPr>
          <p:cNvSpPr txBox="1"/>
          <p:nvPr/>
        </p:nvSpPr>
        <p:spPr>
          <a:xfrm>
            <a:off x="1069089" y="5741615"/>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60785954-A044-6159-8C68-9A3F16B1F713}"/>
              </a:ext>
            </a:extLst>
          </p:cNvPr>
          <p:cNvSpPr txBox="1"/>
          <p:nvPr/>
        </p:nvSpPr>
        <p:spPr>
          <a:xfrm>
            <a:off x="2054137" y="6059808"/>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94A24C60-2255-D877-DA7B-3A1F9AAD376D}"/>
              </a:ext>
            </a:extLst>
          </p:cNvPr>
          <p:cNvSpPr txBox="1"/>
          <p:nvPr/>
        </p:nvSpPr>
        <p:spPr>
          <a:xfrm>
            <a:off x="2069064" y="6333390"/>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60F70006-5F76-21A8-7A6C-A1273E01FF01}"/>
              </a:ext>
            </a:extLst>
          </p:cNvPr>
          <p:cNvSpPr txBox="1">
            <a:spLocks noChangeArrowheads="1"/>
          </p:cNvSpPr>
          <p:nvPr/>
        </p:nvSpPr>
        <p:spPr bwMode="auto">
          <a:xfrm>
            <a:off x="165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2" name="Line 3">
            <a:extLst>
              <a:ext uri="{FF2B5EF4-FFF2-40B4-BE49-F238E27FC236}">
                <a16:creationId xmlns:a16="http://schemas.microsoft.com/office/drawing/2014/main" id="{9A96E153-936C-43CD-DA87-CE38772DAB5F}"/>
              </a:ext>
            </a:extLst>
          </p:cNvPr>
          <p:cNvSpPr>
            <a:spLocks noChangeShapeType="1"/>
          </p:cNvSpPr>
          <p:nvPr/>
        </p:nvSpPr>
        <p:spPr bwMode="auto">
          <a:xfrm>
            <a:off x="633209" y="2348785"/>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7E5BC807-3496-2543-FB6D-4D87255E5613}"/>
              </a:ext>
            </a:extLst>
          </p:cNvPr>
          <p:cNvSpPr txBox="1">
            <a:spLocks noChangeArrowheads="1"/>
          </p:cNvSpPr>
          <p:nvPr/>
        </p:nvSpPr>
        <p:spPr bwMode="auto">
          <a:xfrm>
            <a:off x="2365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a:extLst>
              <a:ext uri="{FF2B5EF4-FFF2-40B4-BE49-F238E27FC236}">
                <a16:creationId xmlns:a16="http://schemas.microsoft.com/office/drawing/2014/main" id="{A87756CF-A57F-0C05-527A-255995C6A6E3}"/>
              </a:ext>
            </a:extLst>
          </p:cNvPr>
          <p:cNvSpPr>
            <a:spLocks noChangeShapeType="1"/>
          </p:cNvSpPr>
          <p:nvPr/>
        </p:nvSpPr>
        <p:spPr bwMode="auto">
          <a:xfrm rot="16200000">
            <a:off x="1656297" y="3509285"/>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46A7DB76-1D3A-16DA-7CFC-05D3B98EADFD}"/>
              </a:ext>
            </a:extLst>
          </p:cNvPr>
          <p:cNvSpPr txBox="1">
            <a:spLocks noChangeArrowheads="1"/>
          </p:cNvSpPr>
          <p:nvPr/>
        </p:nvSpPr>
        <p:spPr bwMode="auto">
          <a:xfrm>
            <a:off x="3113275" y="202687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a:extLst>
              <a:ext uri="{FF2B5EF4-FFF2-40B4-BE49-F238E27FC236}">
                <a16:creationId xmlns:a16="http://schemas.microsoft.com/office/drawing/2014/main" id="{3E211F5A-0ABE-E963-0EB0-B363BFF35648}"/>
              </a:ext>
            </a:extLst>
          </p:cNvPr>
          <p:cNvSpPr>
            <a:spLocks noChangeShapeType="1"/>
          </p:cNvSpPr>
          <p:nvPr/>
        </p:nvSpPr>
        <p:spPr bwMode="auto">
          <a:xfrm>
            <a:off x="3311557" y="2359611"/>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8E887F2D-F57C-10C8-C55A-5B4DA1609CDA}"/>
              </a:ext>
            </a:extLst>
          </p:cNvPr>
          <p:cNvSpPr txBox="1">
            <a:spLocks noChangeArrowheads="1"/>
          </p:cNvSpPr>
          <p:nvPr/>
        </p:nvSpPr>
        <p:spPr bwMode="auto">
          <a:xfrm>
            <a:off x="5182942" y="443029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18" name="Text Box 18">
            <a:extLst>
              <a:ext uri="{FF2B5EF4-FFF2-40B4-BE49-F238E27FC236}">
                <a16:creationId xmlns:a16="http://schemas.microsoft.com/office/drawing/2014/main" id="{25149755-BEE2-09A0-B102-95FE1B89BE93}"/>
              </a:ext>
            </a:extLst>
          </p:cNvPr>
          <p:cNvSpPr txBox="1">
            <a:spLocks noChangeArrowheads="1"/>
          </p:cNvSpPr>
          <p:nvPr/>
        </p:nvSpPr>
        <p:spPr bwMode="auto">
          <a:xfrm>
            <a:off x="4211603" y="4470269"/>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9" name="Line 3">
            <a:extLst>
              <a:ext uri="{FF2B5EF4-FFF2-40B4-BE49-F238E27FC236}">
                <a16:creationId xmlns:a16="http://schemas.microsoft.com/office/drawing/2014/main" id="{9C62255F-01A4-C257-5F51-691BB5A8A34E}"/>
              </a:ext>
            </a:extLst>
          </p:cNvPr>
          <p:cNvSpPr>
            <a:spLocks noChangeShapeType="1"/>
          </p:cNvSpPr>
          <p:nvPr/>
        </p:nvSpPr>
        <p:spPr bwMode="auto">
          <a:xfrm rot="16200000">
            <a:off x="4193873" y="360262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234B693C-F7C0-6D6C-0F16-5C680320DCF5}"/>
              </a:ext>
            </a:extLst>
          </p:cNvPr>
          <p:cNvSpPr txBox="1">
            <a:spLocks noChangeArrowheads="1"/>
          </p:cNvSpPr>
          <p:nvPr/>
        </p:nvSpPr>
        <p:spPr bwMode="auto">
          <a:xfrm>
            <a:off x="5795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1" name="Line 3">
            <a:extLst>
              <a:ext uri="{FF2B5EF4-FFF2-40B4-BE49-F238E27FC236}">
                <a16:creationId xmlns:a16="http://schemas.microsoft.com/office/drawing/2014/main" id="{107D9D34-2566-31C1-A5EC-58753BC00893}"/>
              </a:ext>
            </a:extLst>
          </p:cNvPr>
          <p:cNvSpPr>
            <a:spLocks noChangeShapeType="1"/>
          </p:cNvSpPr>
          <p:nvPr/>
        </p:nvSpPr>
        <p:spPr bwMode="auto">
          <a:xfrm>
            <a:off x="6113261" y="236299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4A51B35A-ED00-D84C-311E-2EF75DBADDD3}"/>
              </a:ext>
            </a:extLst>
          </p:cNvPr>
          <p:cNvSpPr txBox="1">
            <a:spLocks/>
          </p:cNvSpPr>
          <p:nvPr/>
        </p:nvSpPr>
        <p:spPr>
          <a:xfrm>
            <a:off x="3153619" y="1950051"/>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t>יצרני הנגב</a:t>
            </a:r>
          </a:p>
        </p:txBody>
      </p:sp>
      <p:sp>
        <p:nvSpPr>
          <p:cNvPr id="23" name="כותרת 1">
            <a:extLst>
              <a:ext uri="{FF2B5EF4-FFF2-40B4-BE49-F238E27FC236}">
                <a16:creationId xmlns:a16="http://schemas.microsoft.com/office/drawing/2014/main" id="{EADD6D7A-DF38-F7CC-6635-DBEDB9189552}"/>
              </a:ext>
            </a:extLst>
          </p:cNvPr>
          <p:cNvSpPr txBox="1">
            <a:spLocks/>
          </p:cNvSpPr>
          <p:nvPr/>
        </p:nvSpPr>
        <p:spPr>
          <a:xfrm>
            <a:off x="382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kumimoji="0" lang="he-IL" sz="4400" i="0" u="sng" strike="noStrike" kern="1200" cap="none" spc="0" normalizeH="0" baseline="0" noProof="0" dirty="0">
                <a:ln>
                  <a:noFill/>
                </a:ln>
                <a:solidFill>
                  <a:schemeClr val="tx1"/>
                </a:solidFill>
                <a:effectLst/>
                <a:uLnTx/>
                <a:uFillTx/>
                <a:latin typeface="+mj-lt"/>
                <a:ea typeface="+mj-ea"/>
                <a:cs typeface="+mj-cs"/>
              </a:rPr>
              <a:t>יצרני </a:t>
            </a:r>
            <a:r>
              <a:rPr lang="he-IL" sz="4400" b="1" u="sng" dirty="0">
                <a:solidFill>
                  <a:schemeClr val="accent2">
                    <a:lumMod val="75000"/>
                  </a:schemeClr>
                </a:solidFill>
              </a:rPr>
              <a:t>הגליל</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24" name="כותרת 1">
            <a:extLst>
              <a:ext uri="{FF2B5EF4-FFF2-40B4-BE49-F238E27FC236}">
                <a16:creationId xmlns:a16="http://schemas.microsoft.com/office/drawing/2014/main" id="{F13BD338-562E-32B1-3109-B00C904AD766}"/>
              </a:ext>
            </a:extLst>
          </p:cNvPr>
          <p:cNvSpPr txBox="1">
            <a:spLocks/>
          </p:cNvSpPr>
          <p:nvPr/>
        </p:nvSpPr>
        <p:spPr>
          <a:xfrm>
            <a:off x="6350678" y="2055469"/>
            <a:ext cx="1862423"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25" name="מחבר ישר 33">
            <a:extLst>
              <a:ext uri="{FF2B5EF4-FFF2-40B4-BE49-F238E27FC236}">
                <a16:creationId xmlns:a16="http://schemas.microsoft.com/office/drawing/2014/main" id="{C03399C5-99C4-52DB-EC67-687CBCAB4C43}"/>
              </a:ext>
            </a:extLst>
          </p:cNvPr>
          <p:cNvCxnSpPr>
            <a:cxnSpLocks/>
          </p:cNvCxnSpPr>
          <p:nvPr/>
        </p:nvCxnSpPr>
        <p:spPr>
          <a:xfrm flipH="1" flipV="1">
            <a:off x="665077" y="3646882"/>
            <a:ext cx="6502446" cy="50292"/>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84F2A0C3-A1CE-29F6-CA7F-4B5014F88B0A}"/>
              </a:ext>
            </a:extLst>
          </p:cNvPr>
          <p:cNvSpPr txBox="1">
            <a:spLocks noChangeArrowheads="1"/>
          </p:cNvSpPr>
          <p:nvPr/>
        </p:nvSpPr>
        <p:spPr bwMode="auto">
          <a:xfrm>
            <a:off x="1469859" y="44803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7" name="Text Box 18">
            <a:extLst>
              <a:ext uri="{FF2B5EF4-FFF2-40B4-BE49-F238E27FC236}">
                <a16:creationId xmlns:a16="http://schemas.microsoft.com/office/drawing/2014/main" id="{67A19F30-16EE-6CFB-B27E-9FE203C1CEB0}"/>
              </a:ext>
            </a:extLst>
          </p:cNvPr>
          <p:cNvSpPr txBox="1">
            <a:spLocks noChangeArrowheads="1"/>
          </p:cNvSpPr>
          <p:nvPr/>
        </p:nvSpPr>
        <p:spPr bwMode="auto">
          <a:xfrm>
            <a:off x="6609853" y="4454258"/>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Text Box 18">
            <a:extLst>
              <a:ext uri="{FF2B5EF4-FFF2-40B4-BE49-F238E27FC236}">
                <a16:creationId xmlns:a16="http://schemas.microsoft.com/office/drawing/2014/main" id="{266C1306-D4DD-1177-3AA2-78640B644280}"/>
              </a:ext>
            </a:extLst>
          </p:cNvPr>
          <p:cNvSpPr txBox="1">
            <a:spLocks noChangeArrowheads="1"/>
          </p:cNvSpPr>
          <p:nvPr/>
        </p:nvSpPr>
        <p:spPr bwMode="auto">
          <a:xfrm>
            <a:off x="7984890" y="44073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29" name="Arc 28">
            <a:extLst>
              <a:ext uri="{FF2B5EF4-FFF2-40B4-BE49-F238E27FC236}">
                <a16:creationId xmlns:a16="http://schemas.microsoft.com/office/drawing/2014/main" id="{F7780634-5334-666A-111F-3FA9A983BB4E}"/>
              </a:ext>
            </a:extLst>
          </p:cNvPr>
          <p:cNvSpPr/>
          <p:nvPr/>
        </p:nvSpPr>
        <p:spPr>
          <a:xfrm rot="10800000">
            <a:off x="6500385" y="1294542"/>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DBDDD27-C502-ED09-03E7-9594A2CF7027}"/>
                  </a:ext>
                </a:extLst>
              </p:cNvPr>
              <p:cNvSpPr txBox="1"/>
              <p:nvPr/>
            </p:nvSpPr>
            <p:spPr>
              <a:xfrm>
                <a:off x="7584083" y="4114887"/>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EDBDDD27-C502-ED09-03E7-9594A2CF7027}"/>
                  </a:ext>
                </a:extLst>
              </p:cNvPr>
              <p:cNvSpPr txBox="1">
                <a:spLocks noRot="1" noChangeAspect="1" noMove="1" noResize="1" noEditPoints="1" noAdjustHandles="1" noChangeArrowheads="1" noChangeShapeType="1" noTextEdit="1"/>
              </p:cNvSpPr>
              <p:nvPr/>
            </p:nvSpPr>
            <p:spPr>
              <a:xfrm>
                <a:off x="7584083" y="4114887"/>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304A5774-FDCE-715B-1DC3-24EF36C0CADC}"/>
              </a:ext>
            </a:extLst>
          </p:cNvPr>
          <p:cNvSpPr/>
          <p:nvPr/>
        </p:nvSpPr>
        <p:spPr>
          <a:xfrm rot="15774971" flipH="1" flipV="1">
            <a:off x="4501841" y="507040"/>
            <a:ext cx="2797296" cy="4257979"/>
          </a:xfrm>
          <a:prstGeom prst="arc">
            <a:avLst>
              <a:gd name="adj1" fmla="val 17579446"/>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284B4FB-A68E-7409-FF1B-368F92BB6B3C}"/>
                  </a:ext>
                </a:extLst>
              </p:cNvPr>
              <p:cNvSpPr txBox="1"/>
              <p:nvPr/>
            </p:nvSpPr>
            <p:spPr>
              <a:xfrm>
                <a:off x="7708642" y="2790850"/>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i="0" smtClean="0">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8284B4FB-A68E-7409-FF1B-368F92BB6B3C}"/>
                  </a:ext>
                </a:extLst>
              </p:cNvPr>
              <p:cNvSpPr txBox="1">
                <a:spLocks noRot="1" noChangeAspect="1" noMove="1" noResize="1" noEditPoints="1" noAdjustHandles="1" noChangeArrowheads="1" noChangeShapeType="1" noTextEdit="1"/>
              </p:cNvSpPr>
              <p:nvPr/>
            </p:nvSpPr>
            <p:spPr>
              <a:xfrm>
                <a:off x="7708642" y="2790850"/>
                <a:ext cx="1252266" cy="506742"/>
              </a:xfrm>
              <a:prstGeom prst="rect">
                <a:avLst/>
              </a:prstGeom>
              <a:blipFill>
                <a:blip r:embed="rId3"/>
                <a:stretch>
                  <a:fillRect l="-7805" t="-2410"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55813132-2A2C-0FEA-89DD-881FD8FF6946}"/>
              </a:ext>
            </a:extLst>
          </p:cNvPr>
          <p:cNvSpPr/>
          <p:nvPr/>
        </p:nvSpPr>
        <p:spPr>
          <a:xfrm rot="14668846" flipH="1" flipV="1">
            <a:off x="-1232382" y="872083"/>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26936FC9-A25A-553B-47C9-1AD5676E1017}"/>
              </a:ext>
            </a:extLst>
          </p:cNvPr>
          <p:cNvSpPr/>
          <p:nvPr/>
        </p:nvSpPr>
        <p:spPr>
          <a:xfrm rot="14682587" flipH="1" flipV="1">
            <a:off x="1573491"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BC8267C0-790A-7789-149D-DEE548A681C7}"/>
              </a:ext>
            </a:extLst>
          </p:cNvPr>
          <p:cNvCxnSpPr>
            <a:cxnSpLocks/>
          </p:cNvCxnSpPr>
          <p:nvPr/>
        </p:nvCxnSpPr>
        <p:spPr>
          <a:xfrm flipV="1">
            <a:off x="7100200" y="3717803"/>
            <a:ext cx="19467" cy="79525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2C73CC09-14AE-BEAC-35FB-B6DF3FCF5629}"/>
              </a:ext>
            </a:extLst>
          </p:cNvPr>
          <p:cNvCxnSpPr>
            <a:cxnSpLocks/>
          </p:cNvCxnSpPr>
          <p:nvPr/>
        </p:nvCxnSpPr>
        <p:spPr>
          <a:xfrm flipV="1">
            <a:off x="4390896" y="3697174"/>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617E5E91-F53A-04F0-B689-EE8FDA0B8D1C}"/>
              </a:ext>
            </a:extLst>
          </p:cNvPr>
          <p:cNvCxnSpPr>
            <a:cxnSpLocks/>
          </p:cNvCxnSpPr>
          <p:nvPr/>
        </p:nvCxnSpPr>
        <p:spPr>
          <a:xfrm flipH="1" flipV="1">
            <a:off x="1655683" y="3654592"/>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27D592D8-B209-FCFB-ED8E-F6FE5744FF5F}"/>
              </a:ext>
            </a:extLst>
          </p:cNvPr>
          <p:cNvSpPr>
            <a:spLocks noChangeShapeType="1"/>
          </p:cNvSpPr>
          <p:nvPr/>
        </p:nvSpPr>
        <p:spPr bwMode="auto">
          <a:xfrm rot="16200000">
            <a:off x="7032326" y="3577950"/>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5A7283F3-89ED-0A23-3A43-AAFB5A72B211}"/>
              </a:ext>
            </a:extLst>
          </p:cNvPr>
          <p:cNvSpPr/>
          <p:nvPr/>
        </p:nvSpPr>
        <p:spPr>
          <a:xfrm>
            <a:off x="7024208"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40" name="TextBox 39">
            <a:extLst>
              <a:ext uri="{FF2B5EF4-FFF2-40B4-BE49-F238E27FC236}">
                <a16:creationId xmlns:a16="http://schemas.microsoft.com/office/drawing/2014/main" id="{E45A554C-AFD1-48DC-8E66-5249ADDFCF00}"/>
              </a:ext>
            </a:extLst>
          </p:cNvPr>
          <p:cNvSpPr txBox="1"/>
          <p:nvPr/>
        </p:nvSpPr>
        <p:spPr>
          <a:xfrm>
            <a:off x="4670104" y="2412939"/>
            <a:ext cx="579968" cy="369332"/>
          </a:xfrm>
          <a:prstGeom prst="rect">
            <a:avLst/>
          </a:prstGeom>
          <a:noFill/>
        </p:spPr>
        <p:txBody>
          <a:bodyPr wrap="square">
            <a:spAutoFit/>
          </a:bodyPr>
          <a:lstStyle/>
          <a:p>
            <a:r>
              <a:rPr lang="en-US" sz="1800" b="1" dirty="0"/>
              <a:t>S</a:t>
            </a:r>
            <a:r>
              <a:rPr lang="en-US" sz="1800" b="1" baseline="-25000" dirty="0"/>
              <a:t>0</a:t>
            </a:r>
            <a:endParaRPr lang="en-IL" dirty="0"/>
          </a:p>
        </p:txBody>
      </p:sp>
      <p:sp>
        <p:nvSpPr>
          <p:cNvPr id="42" name="TextBox 41">
            <a:extLst>
              <a:ext uri="{FF2B5EF4-FFF2-40B4-BE49-F238E27FC236}">
                <a16:creationId xmlns:a16="http://schemas.microsoft.com/office/drawing/2014/main" id="{53AF4F08-6E12-CC3E-4A8B-7C6CBA721947}"/>
              </a:ext>
            </a:extLst>
          </p:cNvPr>
          <p:cNvSpPr txBox="1"/>
          <p:nvPr/>
        </p:nvSpPr>
        <p:spPr>
          <a:xfrm>
            <a:off x="2145075" y="2566506"/>
            <a:ext cx="459361" cy="369332"/>
          </a:xfrm>
          <a:prstGeom prst="rect">
            <a:avLst/>
          </a:prstGeom>
          <a:noFill/>
        </p:spPr>
        <p:txBody>
          <a:bodyPr wrap="square">
            <a:spAutoFit/>
          </a:bodyPr>
          <a:lstStyle/>
          <a:p>
            <a:r>
              <a:rPr lang="en-US" sz="1800" b="1" dirty="0"/>
              <a:t>S</a:t>
            </a:r>
            <a:r>
              <a:rPr lang="en-US" sz="1800" b="1" baseline="-25000" dirty="0"/>
              <a:t>0</a:t>
            </a:r>
            <a:endParaRPr lang="en-IL" dirty="0"/>
          </a:p>
        </p:txBody>
      </p:sp>
      <p:sp>
        <p:nvSpPr>
          <p:cNvPr id="62" name="Text Box 18">
            <a:extLst>
              <a:ext uri="{FF2B5EF4-FFF2-40B4-BE49-F238E27FC236}">
                <a16:creationId xmlns:a16="http://schemas.microsoft.com/office/drawing/2014/main" id="{024336C7-1C44-7687-5A46-9A2A58BAF5B3}"/>
              </a:ext>
            </a:extLst>
          </p:cNvPr>
          <p:cNvSpPr txBox="1">
            <a:spLocks noChangeArrowheads="1"/>
          </p:cNvSpPr>
          <p:nvPr/>
        </p:nvSpPr>
        <p:spPr bwMode="auto">
          <a:xfrm>
            <a:off x="134191" y="3497460"/>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r" rtl="1" fontAlgn="base">
              <a:spcBef>
                <a:spcPct val="0"/>
              </a:spcBef>
              <a:spcAft>
                <a:spcPts val="1000"/>
              </a:spcAf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Px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513039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D808-A8E4-65B6-43CB-8AEF3DD05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C377B-C728-B5E0-9E3C-7C7180E2E02C}"/>
              </a:ext>
            </a:extLst>
          </p:cNvPr>
          <p:cNvSpPr>
            <a:spLocks noGrp="1"/>
          </p:cNvSpPr>
          <p:nvPr>
            <p:ph type="title"/>
          </p:nvPr>
        </p:nvSpPr>
        <p:spPr>
          <a:xfrm>
            <a:off x="842493" y="147257"/>
            <a:ext cx="7848600" cy="792162"/>
          </a:xfrm>
        </p:spPr>
        <p:txBody>
          <a:bodyPr>
            <a:normAutofit/>
          </a:bodyPr>
          <a:lstStyle/>
          <a:p>
            <a:r>
              <a:rPr lang="he-IL" sz="4000" dirty="0"/>
              <a:t>שאלה מבחינה בנושא שווקים חלקיים</a:t>
            </a:r>
            <a:endParaRPr lang="en-IL" sz="4000" dirty="0"/>
          </a:p>
        </p:txBody>
      </p:sp>
      <p:sp>
        <p:nvSpPr>
          <p:cNvPr id="3" name="Content Placeholder 2">
            <a:extLst>
              <a:ext uri="{FF2B5EF4-FFF2-40B4-BE49-F238E27FC236}">
                <a16:creationId xmlns:a16="http://schemas.microsoft.com/office/drawing/2014/main" id="{C7C6F02E-7F0A-7B91-D667-6B684D98C93C}"/>
              </a:ext>
            </a:extLst>
          </p:cNvPr>
          <p:cNvSpPr>
            <a:spLocks noGrp="1"/>
          </p:cNvSpPr>
          <p:nvPr>
            <p:ph idx="1"/>
          </p:nvPr>
        </p:nvSpPr>
        <p:spPr>
          <a:xfrm>
            <a:off x="436328" y="863966"/>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a:t>
            </a:r>
            <a:r>
              <a:rPr lang="he-IL" sz="1400" b="1" dirty="0">
                <a:solidFill>
                  <a:schemeClr val="accent2">
                    <a:lumMod val="75000"/>
                  </a:schemeClr>
                </a:solidFill>
              </a:rPr>
              <a:t>גליל</a:t>
            </a:r>
            <a:r>
              <a:rPr lang="he-IL" sz="1400" dirty="0"/>
              <a:t>,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96A9E517-AD6A-EB64-E369-B96341149F7F}"/>
              </a:ext>
            </a:extLst>
          </p:cNvPr>
          <p:cNvSpPr>
            <a:spLocks noGrp="1"/>
          </p:cNvSpPr>
          <p:nvPr>
            <p:ph type="dt" sz="half" idx="10"/>
          </p:nvPr>
        </p:nvSpPr>
        <p:spPr/>
        <p:txBody>
          <a:bodyPr/>
          <a:lstStyle/>
          <a:p>
            <a:fld id="{D3F46614-6365-481A-8D4D-9F684485BEB0}" type="datetime8">
              <a:rPr lang="he-IL" smtClean="0"/>
              <a:t>17 ינואר 26</a:t>
            </a:fld>
            <a:endParaRPr lang="he-IL"/>
          </a:p>
        </p:txBody>
      </p:sp>
      <p:sp>
        <p:nvSpPr>
          <p:cNvPr id="5" name="Slide Number Placeholder 4">
            <a:extLst>
              <a:ext uri="{FF2B5EF4-FFF2-40B4-BE49-F238E27FC236}">
                <a16:creationId xmlns:a16="http://schemas.microsoft.com/office/drawing/2014/main" id="{C3523BDD-03AA-0769-0FE3-11B9FC0A83EF}"/>
              </a:ext>
            </a:extLst>
          </p:cNvPr>
          <p:cNvSpPr>
            <a:spLocks noGrp="1"/>
          </p:cNvSpPr>
          <p:nvPr>
            <p:ph type="sldNum" sz="quarter" idx="12"/>
          </p:nvPr>
        </p:nvSpPr>
        <p:spPr/>
        <p:txBody>
          <a:bodyPr/>
          <a:lstStyle/>
          <a:p>
            <a:fld id="{492DB488-E800-4C9D-A68D-A9C6D048BCD3}" type="slidenum">
              <a:rPr lang="he-IL" smtClean="0"/>
              <a:pPr/>
              <a:t>10</a:t>
            </a:fld>
            <a:endParaRPr lang="he-IL"/>
          </a:p>
        </p:txBody>
      </p:sp>
      <p:sp>
        <p:nvSpPr>
          <p:cNvPr id="6" name="TextBox 5">
            <a:extLst>
              <a:ext uri="{FF2B5EF4-FFF2-40B4-BE49-F238E27FC236}">
                <a16:creationId xmlns:a16="http://schemas.microsoft.com/office/drawing/2014/main" id="{3D1B5AC1-5665-D2FB-3543-0CC070DF4E23}"/>
              </a:ext>
            </a:extLst>
          </p:cNvPr>
          <p:cNvSpPr txBox="1"/>
          <p:nvPr/>
        </p:nvSpPr>
        <p:spPr>
          <a:xfrm>
            <a:off x="-551688" y="5166920"/>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a:t>
            </a:r>
            <a:r>
              <a:rPr lang="he-IL" sz="1400" b="1" dirty="0">
                <a:solidFill>
                  <a:schemeClr val="accent2">
                    <a:lumMod val="75000"/>
                  </a:schemeClr>
                </a:solidFill>
              </a:rPr>
              <a:t>גליל יירד</a:t>
            </a:r>
            <a:endParaRPr lang="en-IL" sz="1400" b="1" dirty="0">
              <a:solidFill>
                <a:schemeClr val="accent2">
                  <a:lumMod val="75000"/>
                </a:schemeClr>
              </a:solidFill>
            </a:endParaRPr>
          </a:p>
        </p:txBody>
      </p:sp>
      <p:sp>
        <p:nvSpPr>
          <p:cNvPr id="7" name="TextBox 6">
            <a:extLst>
              <a:ext uri="{FF2B5EF4-FFF2-40B4-BE49-F238E27FC236}">
                <a16:creationId xmlns:a16="http://schemas.microsoft.com/office/drawing/2014/main" id="{84BB4752-318C-8B9A-2707-C600D454B08D}"/>
              </a:ext>
            </a:extLst>
          </p:cNvPr>
          <p:cNvSpPr txBox="1"/>
          <p:nvPr/>
        </p:nvSpPr>
        <p:spPr>
          <a:xfrm>
            <a:off x="-1050843" y="5418176"/>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782A338F-D04C-9D75-9D80-83BE0CE0873A}"/>
              </a:ext>
            </a:extLst>
          </p:cNvPr>
          <p:cNvSpPr txBox="1"/>
          <p:nvPr/>
        </p:nvSpPr>
        <p:spPr>
          <a:xfrm>
            <a:off x="1069089" y="5741615"/>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37C9FF52-E2C7-D1F8-774D-B0628F05BD1B}"/>
              </a:ext>
            </a:extLst>
          </p:cNvPr>
          <p:cNvSpPr txBox="1"/>
          <p:nvPr/>
        </p:nvSpPr>
        <p:spPr>
          <a:xfrm>
            <a:off x="2054137" y="6059808"/>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B199C6FF-8E6C-E961-3515-CD13AD94193E}"/>
              </a:ext>
            </a:extLst>
          </p:cNvPr>
          <p:cNvSpPr txBox="1"/>
          <p:nvPr/>
        </p:nvSpPr>
        <p:spPr>
          <a:xfrm>
            <a:off x="2069064" y="6333390"/>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99B1B709-95F9-0BD9-59F0-3E1667729DAF}"/>
              </a:ext>
            </a:extLst>
          </p:cNvPr>
          <p:cNvSpPr txBox="1">
            <a:spLocks noChangeArrowheads="1"/>
          </p:cNvSpPr>
          <p:nvPr/>
        </p:nvSpPr>
        <p:spPr bwMode="auto">
          <a:xfrm>
            <a:off x="165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Px</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2" name="Line 3">
            <a:extLst>
              <a:ext uri="{FF2B5EF4-FFF2-40B4-BE49-F238E27FC236}">
                <a16:creationId xmlns:a16="http://schemas.microsoft.com/office/drawing/2014/main" id="{FE259BF7-CFCF-DE45-1276-D3A5FB955483}"/>
              </a:ext>
            </a:extLst>
          </p:cNvPr>
          <p:cNvSpPr>
            <a:spLocks noChangeShapeType="1"/>
          </p:cNvSpPr>
          <p:nvPr/>
        </p:nvSpPr>
        <p:spPr bwMode="auto">
          <a:xfrm>
            <a:off x="633209" y="2348785"/>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69735050-89B7-4D39-30A0-1A48BEA1C5E3}"/>
              </a:ext>
            </a:extLst>
          </p:cNvPr>
          <p:cNvSpPr txBox="1">
            <a:spLocks noChangeArrowheads="1"/>
          </p:cNvSpPr>
          <p:nvPr/>
        </p:nvSpPr>
        <p:spPr bwMode="auto">
          <a:xfrm>
            <a:off x="2365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14" name="Line 3">
            <a:extLst>
              <a:ext uri="{FF2B5EF4-FFF2-40B4-BE49-F238E27FC236}">
                <a16:creationId xmlns:a16="http://schemas.microsoft.com/office/drawing/2014/main" id="{016CAD10-ADB8-7996-7FBA-CA68DD42B1C2}"/>
              </a:ext>
            </a:extLst>
          </p:cNvPr>
          <p:cNvSpPr>
            <a:spLocks noChangeShapeType="1"/>
          </p:cNvSpPr>
          <p:nvPr/>
        </p:nvSpPr>
        <p:spPr bwMode="auto">
          <a:xfrm rot="16200000">
            <a:off x="1656297" y="3509285"/>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2F83F3CA-EF0E-D257-E300-6250C961376E}"/>
              </a:ext>
            </a:extLst>
          </p:cNvPr>
          <p:cNvSpPr txBox="1">
            <a:spLocks noChangeArrowheads="1"/>
          </p:cNvSpPr>
          <p:nvPr/>
        </p:nvSpPr>
        <p:spPr bwMode="auto">
          <a:xfrm>
            <a:off x="3113275" y="202687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6" name="Line 3">
            <a:extLst>
              <a:ext uri="{FF2B5EF4-FFF2-40B4-BE49-F238E27FC236}">
                <a16:creationId xmlns:a16="http://schemas.microsoft.com/office/drawing/2014/main" id="{C582642C-777B-295A-AE71-6B9FA945BFD9}"/>
              </a:ext>
            </a:extLst>
          </p:cNvPr>
          <p:cNvSpPr>
            <a:spLocks noChangeShapeType="1"/>
          </p:cNvSpPr>
          <p:nvPr/>
        </p:nvSpPr>
        <p:spPr bwMode="auto">
          <a:xfrm>
            <a:off x="3311557" y="2359611"/>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820C7503-AD8A-7BE8-0532-D4F95912F943}"/>
              </a:ext>
            </a:extLst>
          </p:cNvPr>
          <p:cNvSpPr txBox="1">
            <a:spLocks noChangeArrowheads="1"/>
          </p:cNvSpPr>
          <p:nvPr/>
        </p:nvSpPr>
        <p:spPr bwMode="auto">
          <a:xfrm>
            <a:off x="5182942" y="443029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18" name="Text Box 18">
            <a:extLst>
              <a:ext uri="{FF2B5EF4-FFF2-40B4-BE49-F238E27FC236}">
                <a16:creationId xmlns:a16="http://schemas.microsoft.com/office/drawing/2014/main" id="{56F14CE9-FFA2-AF29-D1B2-D03DBAC85D3B}"/>
              </a:ext>
            </a:extLst>
          </p:cNvPr>
          <p:cNvSpPr txBox="1">
            <a:spLocks noChangeArrowheads="1"/>
          </p:cNvSpPr>
          <p:nvPr/>
        </p:nvSpPr>
        <p:spPr bwMode="auto">
          <a:xfrm>
            <a:off x="4094436" y="4461403"/>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19" name="Line 3">
            <a:extLst>
              <a:ext uri="{FF2B5EF4-FFF2-40B4-BE49-F238E27FC236}">
                <a16:creationId xmlns:a16="http://schemas.microsoft.com/office/drawing/2014/main" id="{7913A350-B05B-55F5-CB63-170629449EF3}"/>
              </a:ext>
            </a:extLst>
          </p:cNvPr>
          <p:cNvSpPr>
            <a:spLocks noChangeShapeType="1"/>
          </p:cNvSpPr>
          <p:nvPr/>
        </p:nvSpPr>
        <p:spPr bwMode="auto">
          <a:xfrm rot="16200000">
            <a:off x="4193873" y="3602625"/>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12FDAE77-44A1-323D-8D2F-269B79784B7C}"/>
              </a:ext>
            </a:extLst>
          </p:cNvPr>
          <p:cNvSpPr txBox="1">
            <a:spLocks noChangeArrowheads="1"/>
          </p:cNvSpPr>
          <p:nvPr/>
        </p:nvSpPr>
        <p:spPr bwMode="auto">
          <a:xfrm>
            <a:off x="5795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rPr>
              <a:t>P</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1" name="Line 3">
            <a:extLst>
              <a:ext uri="{FF2B5EF4-FFF2-40B4-BE49-F238E27FC236}">
                <a16:creationId xmlns:a16="http://schemas.microsoft.com/office/drawing/2014/main" id="{8DF1EE8F-CE91-2DB3-71CD-909D70FDBC0B}"/>
              </a:ext>
            </a:extLst>
          </p:cNvPr>
          <p:cNvSpPr>
            <a:spLocks noChangeShapeType="1"/>
          </p:cNvSpPr>
          <p:nvPr/>
        </p:nvSpPr>
        <p:spPr bwMode="auto">
          <a:xfrm>
            <a:off x="6113261" y="236299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6C9F5A82-9522-EFA4-C87E-3BC0935917D4}"/>
              </a:ext>
            </a:extLst>
          </p:cNvPr>
          <p:cNvSpPr txBox="1">
            <a:spLocks/>
          </p:cNvSpPr>
          <p:nvPr/>
        </p:nvSpPr>
        <p:spPr>
          <a:xfrm>
            <a:off x="3153619" y="1950051"/>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t>יצרני הנגב</a:t>
            </a:r>
          </a:p>
        </p:txBody>
      </p:sp>
      <p:sp>
        <p:nvSpPr>
          <p:cNvPr id="23" name="כותרת 1">
            <a:extLst>
              <a:ext uri="{FF2B5EF4-FFF2-40B4-BE49-F238E27FC236}">
                <a16:creationId xmlns:a16="http://schemas.microsoft.com/office/drawing/2014/main" id="{E9A8D3BD-30D0-CBDF-2397-98B2DBDF6894}"/>
              </a:ext>
            </a:extLst>
          </p:cNvPr>
          <p:cNvSpPr txBox="1">
            <a:spLocks/>
          </p:cNvSpPr>
          <p:nvPr/>
        </p:nvSpPr>
        <p:spPr>
          <a:xfrm>
            <a:off x="382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kumimoji="0" lang="he-IL" sz="4400" i="0" u="sng" strike="noStrike" kern="1200" cap="none" spc="0" normalizeH="0" baseline="0" noProof="0" dirty="0">
                <a:ln>
                  <a:noFill/>
                </a:ln>
                <a:solidFill>
                  <a:schemeClr val="tx1"/>
                </a:solidFill>
                <a:effectLst/>
                <a:uLnTx/>
                <a:uFillTx/>
                <a:latin typeface="+mj-lt"/>
                <a:ea typeface="+mj-ea"/>
                <a:cs typeface="+mj-cs"/>
              </a:rPr>
              <a:t>יצרני </a:t>
            </a:r>
            <a:r>
              <a:rPr lang="he-IL" sz="4400" b="1" u="sng" dirty="0">
                <a:solidFill>
                  <a:schemeClr val="accent2">
                    <a:lumMod val="75000"/>
                  </a:schemeClr>
                </a:solidFill>
              </a:rPr>
              <a:t>הגליל</a:t>
            </a:r>
            <a:endParaRPr kumimoji="0" lang="he-IL" sz="4400" i="0" u="sng" strike="noStrike" kern="1200" cap="none" spc="0" normalizeH="0" baseline="0" noProof="0" dirty="0">
              <a:ln>
                <a:noFill/>
              </a:ln>
              <a:solidFill>
                <a:schemeClr val="tx1"/>
              </a:solidFill>
              <a:effectLst/>
              <a:uLnTx/>
              <a:uFillTx/>
              <a:latin typeface="+mj-lt"/>
              <a:ea typeface="+mj-ea"/>
              <a:cs typeface="+mj-cs"/>
            </a:endParaRPr>
          </a:p>
        </p:txBody>
      </p:sp>
      <p:sp>
        <p:nvSpPr>
          <p:cNvPr id="24" name="כותרת 1">
            <a:extLst>
              <a:ext uri="{FF2B5EF4-FFF2-40B4-BE49-F238E27FC236}">
                <a16:creationId xmlns:a16="http://schemas.microsoft.com/office/drawing/2014/main" id="{DF28E411-82B4-0F90-A955-12703FC732F2}"/>
              </a:ext>
            </a:extLst>
          </p:cNvPr>
          <p:cNvSpPr txBox="1">
            <a:spLocks/>
          </p:cNvSpPr>
          <p:nvPr/>
        </p:nvSpPr>
        <p:spPr>
          <a:xfrm>
            <a:off x="6350678" y="2055469"/>
            <a:ext cx="1862423" cy="500042"/>
          </a:xfrm>
          <a:prstGeom prst="rect">
            <a:avLst/>
          </a:prstGeom>
        </p:spPr>
        <p:txBody>
          <a:bodyPr vert="horz" lIns="91440" tIns="45720" rIns="91440" bIns="45720" rtlCol="1" anchor="ctr">
            <a:normAutofit fontScale="75000" lnSpcReduction="20000"/>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he-IL" sz="4400" i="0" u="sng" strike="noStrike" kern="1200" cap="none" spc="0" normalizeH="0" baseline="0" noProof="0" dirty="0">
                <a:ln>
                  <a:noFill/>
                </a:ln>
                <a:solidFill>
                  <a:schemeClr val="tx1"/>
                </a:solidFill>
                <a:effectLst/>
                <a:uLnTx/>
                <a:uFillTx/>
                <a:latin typeface="+mj-lt"/>
                <a:ea typeface="+mj-ea"/>
                <a:cs typeface="+mj-cs"/>
              </a:rPr>
              <a:t>מצרפי</a:t>
            </a:r>
          </a:p>
        </p:txBody>
      </p:sp>
      <p:cxnSp>
        <p:nvCxnSpPr>
          <p:cNvPr id="25" name="מחבר ישר 33">
            <a:extLst>
              <a:ext uri="{FF2B5EF4-FFF2-40B4-BE49-F238E27FC236}">
                <a16:creationId xmlns:a16="http://schemas.microsoft.com/office/drawing/2014/main" id="{06306854-C143-1CD7-F5D2-0ED3E971B96E}"/>
              </a:ext>
            </a:extLst>
          </p:cNvPr>
          <p:cNvCxnSpPr>
            <a:cxnSpLocks/>
          </p:cNvCxnSpPr>
          <p:nvPr/>
        </p:nvCxnSpPr>
        <p:spPr>
          <a:xfrm flipH="1" flipV="1">
            <a:off x="665077" y="3646882"/>
            <a:ext cx="6502446" cy="50292"/>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2DD1B03D-D90B-B433-8C7D-DAC1C060137F}"/>
              </a:ext>
            </a:extLst>
          </p:cNvPr>
          <p:cNvSpPr txBox="1">
            <a:spLocks noChangeArrowheads="1"/>
          </p:cNvSpPr>
          <p:nvPr/>
        </p:nvSpPr>
        <p:spPr bwMode="auto">
          <a:xfrm>
            <a:off x="1502253" y="4533717"/>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7" name="Text Box 18">
            <a:extLst>
              <a:ext uri="{FF2B5EF4-FFF2-40B4-BE49-F238E27FC236}">
                <a16:creationId xmlns:a16="http://schemas.microsoft.com/office/drawing/2014/main" id="{34886232-BCD7-7AB7-45F2-B9DD14ADC09D}"/>
              </a:ext>
            </a:extLst>
          </p:cNvPr>
          <p:cNvSpPr txBox="1">
            <a:spLocks noChangeArrowheads="1"/>
          </p:cNvSpPr>
          <p:nvPr/>
        </p:nvSpPr>
        <p:spPr bwMode="auto">
          <a:xfrm>
            <a:off x="6609853" y="4454258"/>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28" name="Text Box 18">
            <a:extLst>
              <a:ext uri="{FF2B5EF4-FFF2-40B4-BE49-F238E27FC236}">
                <a16:creationId xmlns:a16="http://schemas.microsoft.com/office/drawing/2014/main" id="{B82F4247-158B-1044-E37F-EA0C6590BB90}"/>
              </a:ext>
            </a:extLst>
          </p:cNvPr>
          <p:cNvSpPr txBox="1">
            <a:spLocks noChangeArrowheads="1"/>
          </p:cNvSpPr>
          <p:nvPr/>
        </p:nvSpPr>
        <p:spPr bwMode="auto">
          <a:xfrm>
            <a:off x="7984890" y="44073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X</a:t>
            </a:r>
            <a:endParaRPr kumimoji="0" lang="he-IL" sz="2800" b="0" i="0" u="none" strike="noStrike" cap="none" normalizeH="0" baseline="0" dirty="0">
              <a:ln>
                <a:noFill/>
              </a:ln>
              <a:solidFill>
                <a:schemeClr val="tx1"/>
              </a:solidFill>
              <a:effectLst/>
              <a:latin typeface="Arial" pitchFamily="34" charset="0"/>
              <a:cs typeface="Arial" pitchFamily="34" charset="0"/>
            </a:endParaRPr>
          </a:p>
        </p:txBody>
      </p:sp>
      <p:sp>
        <p:nvSpPr>
          <p:cNvPr id="29" name="Arc 28">
            <a:extLst>
              <a:ext uri="{FF2B5EF4-FFF2-40B4-BE49-F238E27FC236}">
                <a16:creationId xmlns:a16="http://schemas.microsoft.com/office/drawing/2014/main" id="{E9E6B53C-F2D8-ED65-112C-1272B94462DA}"/>
              </a:ext>
            </a:extLst>
          </p:cNvPr>
          <p:cNvSpPr/>
          <p:nvPr/>
        </p:nvSpPr>
        <p:spPr>
          <a:xfrm rot="10800000">
            <a:off x="6500385" y="1294542"/>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92FEF75-9EF3-8951-E2EE-E74C113C4792}"/>
                  </a:ext>
                </a:extLst>
              </p:cNvPr>
              <p:cNvSpPr txBox="1"/>
              <p:nvPr/>
            </p:nvSpPr>
            <p:spPr>
              <a:xfrm>
                <a:off x="7584083" y="4114887"/>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smtClean="0">
                              <a:solidFill>
                                <a:schemeClr val="accent5">
                                  <a:lumMod val="50000"/>
                                </a:schemeClr>
                              </a:solidFill>
                              <a:latin typeface="Cambria Math" panose="02040503050406030204" pitchFamily="18" charset="0"/>
                            </a:rPr>
                          </m:ctrlPr>
                        </m:sSubPr>
                        <m:e>
                          <m:r>
                            <a:rPr lang="en-US" sz="1600" b="1" i="1" smtClean="0">
                              <a:solidFill>
                                <a:schemeClr val="accent5">
                                  <a:lumMod val="50000"/>
                                </a:schemeClr>
                              </a:solidFill>
                              <a:latin typeface="Cambria Math" panose="02040503050406030204" pitchFamily="18" charset="0"/>
                            </a:rPr>
                            <m:t>𝑫</m:t>
                          </m:r>
                        </m:e>
                        <m:sub>
                          <m:r>
                            <a:rPr lang="en-US" sz="1600" b="1" i="1" smtClean="0">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E92FEF75-9EF3-8951-E2EE-E74C113C4792}"/>
                  </a:ext>
                </a:extLst>
              </p:cNvPr>
              <p:cNvSpPr txBox="1">
                <a:spLocks noRot="1" noChangeAspect="1" noMove="1" noResize="1" noEditPoints="1" noAdjustHandles="1" noChangeArrowheads="1" noChangeShapeType="1" noTextEdit="1"/>
              </p:cNvSpPr>
              <p:nvPr/>
            </p:nvSpPr>
            <p:spPr>
              <a:xfrm>
                <a:off x="7584083" y="4114887"/>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116F1543-9D9C-DF07-D928-254624CF17A4}"/>
              </a:ext>
            </a:extLst>
          </p:cNvPr>
          <p:cNvSpPr/>
          <p:nvPr/>
        </p:nvSpPr>
        <p:spPr>
          <a:xfrm rot="15774971" flipH="1" flipV="1">
            <a:off x="4501841" y="507040"/>
            <a:ext cx="2797296" cy="4257979"/>
          </a:xfrm>
          <a:prstGeom prst="arc">
            <a:avLst>
              <a:gd name="adj1" fmla="val 17579446"/>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539FC97-972A-173B-46D1-574460583841}"/>
                  </a:ext>
                </a:extLst>
              </p:cNvPr>
              <p:cNvSpPr txBox="1"/>
              <p:nvPr/>
            </p:nvSpPr>
            <p:spPr>
              <a:xfrm>
                <a:off x="7708642" y="2790850"/>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i="0" smtClean="0">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5539FC97-972A-173B-46D1-574460583841}"/>
                  </a:ext>
                </a:extLst>
              </p:cNvPr>
              <p:cNvSpPr txBox="1">
                <a:spLocks noRot="1" noChangeAspect="1" noMove="1" noResize="1" noEditPoints="1" noAdjustHandles="1" noChangeArrowheads="1" noChangeShapeType="1" noTextEdit="1"/>
              </p:cNvSpPr>
              <p:nvPr/>
            </p:nvSpPr>
            <p:spPr>
              <a:xfrm>
                <a:off x="7708642" y="2790850"/>
                <a:ext cx="1252266" cy="506742"/>
              </a:xfrm>
              <a:prstGeom prst="rect">
                <a:avLst/>
              </a:prstGeom>
              <a:blipFill>
                <a:blip r:embed="rId3"/>
                <a:stretch>
                  <a:fillRect l="-7805" t="-2410"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58B0FEBB-26A8-59A8-3A60-CB5BDBEC7206}"/>
              </a:ext>
            </a:extLst>
          </p:cNvPr>
          <p:cNvSpPr/>
          <p:nvPr/>
        </p:nvSpPr>
        <p:spPr>
          <a:xfrm rot="14668846" flipH="1" flipV="1">
            <a:off x="-1232382" y="872083"/>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C077FAB7-85DC-9351-8903-DC787A11768C}"/>
              </a:ext>
            </a:extLst>
          </p:cNvPr>
          <p:cNvSpPr/>
          <p:nvPr/>
        </p:nvSpPr>
        <p:spPr>
          <a:xfrm rot="14682587" flipH="1" flipV="1">
            <a:off x="1573491"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86DE31F3-5087-8A56-715E-4CFF615BE44E}"/>
              </a:ext>
            </a:extLst>
          </p:cNvPr>
          <p:cNvCxnSpPr>
            <a:cxnSpLocks/>
          </p:cNvCxnSpPr>
          <p:nvPr/>
        </p:nvCxnSpPr>
        <p:spPr>
          <a:xfrm flipV="1">
            <a:off x="7100200" y="3717803"/>
            <a:ext cx="19467" cy="79525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3383E352-9FC8-9F7D-0E51-1CF6E728CD07}"/>
              </a:ext>
            </a:extLst>
          </p:cNvPr>
          <p:cNvCxnSpPr>
            <a:cxnSpLocks/>
          </p:cNvCxnSpPr>
          <p:nvPr/>
        </p:nvCxnSpPr>
        <p:spPr>
          <a:xfrm flipV="1">
            <a:off x="4390896" y="3697174"/>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97F5730C-8255-7166-1E3C-23A2FEC73744}"/>
              </a:ext>
            </a:extLst>
          </p:cNvPr>
          <p:cNvCxnSpPr>
            <a:cxnSpLocks/>
          </p:cNvCxnSpPr>
          <p:nvPr/>
        </p:nvCxnSpPr>
        <p:spPr>
          <a:xfrm flipH="1" flipV="1">
            <a:off x="1655683" y="3654592"/>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8D794DA4-3B28-F464-9B35-2BCF89EACBDC}"/>
              </a:ext>
            </a:extLst>
          </p:cNvPr>
          <p:cNvSpPr>
            <a:spLocks noChangeShapeType="1"/>
          </p:cNvSpPr>
          <p:nvPr/>
        </p:nvSpPr>
        <p:spPr bwMode="auto">
          <a:xfrm rot="16200000">
            <a:off x="7032326" y="3577950"/>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CC04836C-E484-89B8-43A5-3D566702C0FD}"/>
              </a:ext>
            </a:extLst>
          </p:cNvPr>
          <p:cNvSpPr/>
          <p:nvPr/>
        </p:nvSpPr>
        <p:spPr>
          <a:xfrm>
            <a:off x="7024208"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38" name="Arc 37">
            <a:extLst>
              <a:ext uri="{FF2B5EF4-FFF2-40B4-BE49-F238E27FC236}">
                <a16:creationId xmlns:a16="http://schemas.microsoft.com/office/drawing/2014/main" id="{7D154286-2273-E8A3-717C-AB2113B5F61C}"/>
              </a:ext>
            </a:extLst>
          </p:cNvPr>
          <p:cNvSpPr/>
          <p:nvPr/>
        </p:nvSpPr>
        <p:spPr>
          <a:xfrm rot="14668846" flipH="1" flipV="1">
            <a:off x="-1608371" y="755901"/>
            <a:ext cx="2797296" cy="4257979"/>
          </a:xfrm>
          <a:prstGeom prst="arc">
            <a:avLst>
              <a:gd name="adj1" fmla="val 17093280"/>
              <a:gd name="adj2" fmla="val 20782138"/>
            </a:avLst>
          </a:prstGeom>
          <a:ln w="28575">
            <a:solidFill>
              <a:schemeClr val="accent2">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IL">
              <a:solidFill>
                <a:schemeClr val="accent2">
                  <a:lumMod val="75000"/>
                </a:schemeClr>
              </a:solidFill>
            </a:endParaRPr>
          </a:p>
        </p:txBody>
      </p:sp>
      <p:sp>
        <p:nvSpPr>
          <p:cNvPr id="40" name="TextBox 39">
            <a:extLst>
              <a:ext uri="{FF2B5EF4-FFF2-40B4-BE49-F238E27FC236}">
                <a16:creationId xmlns:a16="http://schemas.microsoft.com/office/drawing/2014/main" id="{C2F619F4-EF50-1F29-32F6-6C8B4F0DBDE1}"/>
              </a:ext>
            </a:extLst>
          </p:cNvPr>
          <p:cNvSpPr txBox="1"/>
          <p:nvPr/>
        </p:nvSpPr>
        <p:spPr>
          <a:xfrm>
            <a:off x="4670104" y="2412939"/>
            <a:ext cx="579968" cy="369332"/>
          </a:xfrm>
          <a:prstGeom prst="rect">
            <a:avLst/>
          </a:prstGeom>
          <a:noFill/>
        </p:spPr>
        <p:txBody>
          <a:bodyPr wrap="square">
            <a:spAutoFit/>
          </a:bodyPr>
          <a:lstStyle/>
          <a:p>
            <a:r>
              <a:rPr lang="en-US" sz="1800" b="1" dirty="0"/>
              <a:t>S</a:t>
            </a:r>
            <a:r>
              <a:rPr lang="en-US" sz="1800" b="1" baseline="-25000" dirty="0"/>
              <a:t>0</a:t>
            </a:r>
            <a:endParaRPr lang="en-IL" dirty="0"/>
          </a:p>
        </p:txBody>
      </p:sp>
      <p:sp>
        <p:nvSpPr>
          <p:cNvPr id="42" name="TextBox 41">
            <a:extLst>
              <a:ext uri="{FF2B5EF4-FFF2-40B4-BE49-F238E27FC236}">
                <a16:creationId xmlns:a16="http://schemas.microsoft.com/office/drawing/2014/main" id="{DE206778-B4B4-ACCB-6A37-DF4095A762FE}"/>
              </a:ext>
            </a:extLst>
          </p:cNvPr>
          <p:cNvSpPr txBox="1"/>
          <p:nvPr/>
        </p:nvSpPr>
        <p:spPr>
          <a:xfrm>
            <a:off x="2145075" y="2566506"/>
            <a:ext cx="459361" cy="369332"/>
          </a:xfrm>
          <a:prstGeom prst="rect">
            <a:avLst/>
          </a:prstGeom>
          <a:noFill/>
        </p:spPr>
        <p:txBody>
          <a:bodyPr wrap="square">
            <a:spAutoFit/>
          </a:bodyPr>
          <a:lstStyle/>
          <a:p>
            <a:r>
              <a:rPr lang="en-US" sz="1800" b="1" dirty="0"/>
              <a:t>S</a:t>
            </a:r>
            <a:r>
              <a:rPr lang="en-US" sz="1800" b="1" baseline="-25000" dirty="0"/>
              <a:t>0</a:t>
            </a:r>
            <a:endParaRPr lang="en-IL" dirty="0"/>
          </a:p>
        </p:txBody>
      </p:sp>
      <p:sp>
        <p:nvSpPr>
          <p:cNvPr id="46" name="TextBox 45">
            <a:extLst>
              <a:ext uri="{FF2B5EF4-FFF2-40B4-BE49-F238E27FC236}">
                <a16:creationId xmlns:a16="http://schemas.microsoft.com/office/drawing/2014/main" id="{6AB9734A-3451-CB69-68D3-CC2BAA313BA1}"/>
              </a:ext>
            </a:extLst>
          </p:cNvPr>
          <p:cNvSpPr txBox="1"/>
          <p:nvPr/>
        </p:nvSpPr>
        <p:spPr>
          <a:xfrm>
            <a:off x="1453779" y="2473803"/>
            <a:ext cx="381747" cy="369332"/>
          </a:xfrm>
          <a:prstGeom prst="rect">
            <a:avLst/>
          </a:prstGeom>
          <a:noFill/>
        </p:spPr>
        <p:txBody>
          <a:bodyPr wrap="square">
            <a:spAutoFit/>
          </a:bodyPr>
          <a:lstStyle/>
          <a:p>
            <a:r>
              <a:rPr lang="en-US" sz="1800" b="1" dirty="0">
                <a:solidFill>
                  <a:schemeClr val="accent2">
                    <a:lumMod val="75000"/>
                  </a:schemeClr>
                </a:solidFill>
              </a:rPr>
              <a:t>S</a:t>
            </a:r>
            <a:r>
              <a:rPr lang="en-US" sz="1800" b="1" baseline="-25000" dirty="0">
                <a:solidFill>
                  <a:schemeClr val="accent2">
                    <a:lumMod val="75000"/>
                  </a:schemeClr>
                </a:solidFill>
              </a:rPr>
              <a:t>1</a:t>
            </a:r>
            <a:endParaRPr lang="en-IL" dirty="0">
              <a:solidFill>
                <a:schemeClr val="accent2">
                  <a:lumMod val="75000"/>
                </a:schemeClr>
              </a:solidFill>
            </a:endParaRPr>
          </a:p>
        </p:txBody>
      </p:sp>
      <p:sp>
        <p:nvSpPr>
          <p:cNvPr id="49" name="Arc 48">
            <a:extLst>
              <a:ext uri="{FF2B5EF4-FFF2-40B4-BE49-F238E27FC236}">
                <a16:creationId xmlns:a16="http://schemas.microsoft.com/office/drawing/2014/main" id="{F61FCE47-2290-85BD-8D7E-DED352AF8DE7}"/>
              </a:ext>
            </a:extLst>
          </p:cNvPr>
          <p:cNvSpPr/>
          <p:nvPr/>
        </p:nvSpPr>
        <p:spPr>
          <a:xfrm rot="16004756" flipH="1" flipV="1">
            <a:off x="4282251" y="343334"/>
            <a:ext cx="2797296" cy="4257979"/>
          </a:xfrm>
          <a:prstGeom prst="arc">
            <a:avLst>
              <a:gd name="adj1" fmla="val 17093280"/>
              <a:gd name="adj2" fmla="val 20782138"/>
            </a:avLst>
          </a:prstGeom>
          <a:ln w="28575">
            <a:solidFill>
              <a:schemeClr val="accent2">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IL">
              <a:solidFill>
                <a:schemeClr val="accent2">
                  <a:lumMod val="75000"/>
                </a:schemeClr>
              </a:solidFill>
            </a:endParaRPr>
          </a:p>
        </p:txBody>
      </p:sp>
      <p:sp>
        <p:nvSpPr>
          <p:cNvPr id="50" name="TextBox 49">
            <a:extLst>
              <a:ext uri="{FF2B5EF4-FFF2-40B4-BE49-F238E27FC236}">
                <a16:creationId xmlns:a16="http://schemas.microsoft.com/office/drawing/2014/main" id="{9962CE2B-9C64-3AC9-13C5-49D286D7AE03}"/>
              </a:ext>
            </a:extLst>
          </p:cNvPr>
          <p:cNvSpPr txBox="1"/>
          <p:nvPr/>
        </p:nvSpPr>
        <p:spPr>
          <a:xfrm>
            <a:off x="7552317" y="2457341"/>
            <a:ext cx="497923" cy="461665"/>
          </a:xfrm>
          <a:prstGeom prst="rect">
            <a:avLst/>
          </a:prstGeom>
          <a:noFill/>
        </p:spPr>
        <p:txBody>
          <a:bodyPr wrap="square">
            <a:spAutoFit/>
          </a:bodyPr>
          <a:lstStyle/>
          <a:p>
            <a:r>
              <a:rPr lang="en-US" sz="2400" b="1" dirty="0">
                <a:solidFill>
                  <a:schemeClr val="accent2">
                    <a:lumMod val="75000"/>
                  </a:schemeClr>
                </a:solidFill>
              </a:rPr>
              <a:t>S</a:t>
            </a:r>
            <a:r>
              <a:rPr lang="en-US" sz="2400" b="1" baseline="-25000" dirty="0">
                <a:solidFill>
                  <a:schemeClr val="accent2">
                    <a:lumMod val="75000"/>
                  </a:schemeClr>
                </a:solidFill>
              </a:rPr>
              <a:t>1</a:t>
            </a:r>
            <a:endParaRPr lang="en-IL" sz="2400" dirty="0">
              <a:solidFill>
                <a:schemeClr val="accent2">
                  <a:lumMod val="75000"/>
                </a:schemeClr>
              </a:solidFill>
            </a:endParaRPr>
          </a:p>
        </p:txBody>
      </p:sp>
      <p:sp>
        <p:nvSpPr>
          <p:cNvPr id="51" name="Oval 50">
            <a:extLst>
              <a:ext uri="{FF2B5EF4-FFF2-40B4-BE49-F238E27FC236}">
                <a16:creationId xmlns:a16="http://schemas.microsoft.com/office/drawing/2014/main" id="{9D8FE059-2DC3-437A-1C4E-1376F9625854}"/>
              </a:ext>
            </a:extLst>
          </p:cNvPr>
          <p:cNvSpPr/>
          <p:nvPr/>
        </p:nvSpPr>
        <p:spPr>
          <a:xfrm>
            <a:off x="6815863" y="3381076"/>
            <a:ext cx="241101" cy="22257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IL" dirty="0"/>
          </a:p>
        </p:txBody>
      </p:sp>
      <p:cxnSp>
        <p:nvCxnSpPr>
          <p:cNvPr id="53" name="מחבר ישר 57">
            <a:extLst>
              <a:ext uri="{FF2B5EF4-FFF2-40B4-BE49-F238E27FC236}">
                <a16:creationId xmlns:a16="http://schemas.microsoft.com/office/drawing/2014/main" id="{AA114A96-E3DC-68F2-8E2E-2D4FB92484E0}"/>
              </a:ext>
            </a:extLst>
          </p:cNvPr>
          <p:cNvCxnSpPr>
            <a:cxnSpLocks/>
          </p:cNvCxnSpPr>
          <p:nvPr/>
        </p:nvCxnSpPr>
        <p:spPr>
          <a:xfrm flipV="1">
            <a:off x="6869389" y="3600371"/>
            <a:ext cx="18353" cy="904787"/>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9" name="Text Box 18">
            <a:extLst>
              <a:ext uri="{FF2B5EF4-FFF2-40B4-BE49-F238E27FC236}">
                <a16:creationId xmlns:a16="http://schemas.microsoft.com/office/drawing/2014/main" id="{6A73ABCB-3E58-618A-E479-45F134E39E65}"/>
              </a:ext>
            </a:extLst>
          </p:cNvPr>
          <p:cNvSpPr txBox="1">
            <a:spLocks noChangeArrowheads="1"/>
          </p:cNvSpPr>
          <p:nvPr/>
        </p:nvSpPr>
        <p:spPr bwMode="auto">
          <a:xfrm>
            <a:off x="6314414" y="4460095"/>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kumimoji="0" lang="he-IL" sz="3600" b="1" i="0" u="none" strike="noStrike" cap="none" normalizeH="0" baseline="0" dirty="0">
              <a:ln>
                <a:noFill/>
              </a:ln>
              <a:solidFill>
                <a:schemeClr val="accent2">
                  <a:lumMod val="75000"/>
                </a:schemeClr>
              </a:solidFill>
              <a:effectLst/>
              <a:latin typeface="Arial" pitchFamily="34" charset="0"/>
              <a:cs typeface="Arial" pitchFamily="34" charset="0"/>
            </a:endParaRPr>
          </a:p>
        </p:txBody>
      </p:sp>
      <p:cxnSp>
        <p:nvCxnSpPr>
          <p:cNvPr id="60" name="מחבר ישר 33">
            <a:extLst>
              <a:ext uri="{FF2B5EF4-FFF2-40B4-BE49-F238E27FC236}">
                <a16:creationId xmlns:a16="http://schemas.microsoft.com/office/drawing/2014/main" id="{9292A3FE-A3EC-F11C-C24E-D8ACB2182682}"/>
              </a:ext>
            </a:extLst>
          </p:cNvPr>
          <p:cNvCxnSpPr>
            <a:cxnSpLocks/>
          </p:cNvCxnSpPr>
          <p:nvPr/>
        </p:nvCxnSpPr>
        <p:spPr>
          <a:xfrm flipH="1" flipV="1">
            <a:off x="633209" y="3458254"/>
            <a:ext cx="6159552" cy="71775"/>
          </a:xfrm>
          <a:prstGeom prst="line">
            <a:avLst/>
          </a:prstGeom>
          <a:ln w="28575">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2" name="Text Box 18">
            <a:extLst>
              <a:ext uri="{FF2B5EF4-FFF2-40B4-BE49-F238E27FC236}">
                <a16:creationId xmlns:a16="http://schemas.microsoft.com/office/drawing/2014/main" id="{365FF7B8-5211-B3C3-D47A-85759E26E884}"/>
              </a:ext>
            </a:extLst>
          </p:cNvPr>
          <p:cNvSpPr txBox="1">
            <a:spLocks noChangeArrowheads="1"/>
          </p:cNvSpPr>
          <p:nvPr/>
        </p:nvSpPr>
        <p:spPr bwMode="auto">
          <a:xfrm>
            <a:off x="134191" y="3497460"/>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r" rtl="1" fontAlgn="base">
              <a:spcBef>
                <a:spcPct val="0"/>
              </a:spcBef>
              <a:spcAft>
                <a:spcPts val="1000"/>
              </a:spcAft>
            </a:pPr>
            <a:r>
              <a:rPr kumimoji="0" lang="en-US" sz="1600" b="0" i="0" u="none" strike="noStrike" cap="none" normalizeH="0" baseline="0" dirty="0">
                <a:ln>
                  <a:noFill/>
                </a:ln>
                <a:solidFill>
                  <a:schemeClr val="tx1"/>
                </a:solidFill>
                <a:effectLst/>
                <a:latin typeface="Calibri" pitchFamily="34" charset="0"/>
                <a:ea typeface="Arial" pitchFamily="34" charset="0"/>
                <a:cs typeface="Arial" pitchFamily="34" charset="0"/>
              </a:rPr>
              <a:t>Px</a:t>
            </a:r>
            <a:r>
              <a:rPr lang="en-US" sz="1600" dirty="0">
                <a:latin typeface="Calibri" pitchFamily="34" charset="0"/>
                <a:cs typeface="Arial" pitchFamily="34" charset="0"/>
              </a:rPr>
              <a:t>0</a:t>
            </a:r>
            <a:endParaRPr kumimoji="0" lang="he-IL" sz="3600" b="0" i="0" u="none" strike="noStrike" cap="none" normalizeH="0" baseline="0" dirty="0">
              <a:ln>
                <a:noFill/>
              </a:ln>
              <a:solidFill>
                <a:schemeClr val="tx1"/>
              </a:solidFill>
              <a:effectLst/>
              <a:latin typeface="Arial" pitchFamily="34" charset="0"/>
              <a:cs typeface="Arial" pitchFamily="34" charset="0"/>
            </a:endParaRPr>
          </a:p>
        </p:txBody>
      </p:sp>
      <p:sp>
        <p:nvSpPr>
          <p:cNvPr id="63" name="Text Box 18">
            <a:extLst>
              <a:ext uri="{FF2B5EF4-FFF2-40B4-BE49-F238E27FC236}">
                <a16:creationId xmlns:a16="http://schemas.microsoft.com/office/drawing/2014/main" id="{E55E86D6-3B0A-9AFC-C3B0-657207B2E2CC}"/>
              </a:ext>
            </a:extLst>
          </p:cNvPr>
          <p:cNvSpPr txBox="1">
            <a:spLocks noChangeArrowheads="1"/>
          </p:cNvSpPr>
          <p:nvPr/>
        </p:nvSpPr>
        <p:spPr bwMode="auto">
          <a:xfrm>
            <a:off x="106801" y="3258172"/>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r" rtl="1" fontAlgn="base">
              <a:spcBef>
                <a:spcPct val="0"/>
              </a:spcBef>
              <a:spcAft>
                <a:spcPts val="1000"/>
              </a:spcAft>
            </a:pPr>
            <a:r>
              <a:rPr kumimoji="0" lang="en-US" sz="1600" b="1" i="0" u="none" strike="noStrike" cap="none" normalizeH="0" baseline="0" dirty="0">
                <a:ln>
                  <a:noFill/>
                </a:ln>
                <a:solidFill>
                  <a:schemeClr val="accent2">
                    <a:lumMod val="75000"/>
                  </a:schemeClr>
                </a:solidFill>
                <a:effectLst/>
                <a:latin typeface="Calibri" pitchFamily="34" charset="0"/>
                <a:ea typeface="Arial" pitchFamily="34" charset="0"/>
                <a:cs typeface="Arial" pitchFamily="34" charset="0"/>
              </a:rPr>
              <a:t>Px1</a:t>
            </a:r>
            <a:endParaRPr kumimoji="0" lang="he-IL" sz="3600" b="1" i="0" u="none" strike="noStrike" cap="none" normalizeH="0" baseline="0" dirty="0">
              <a:ln>
                <a:noFill/>
              </a:ln>
              <a:solidFill>
                <a:schemeClr val="accent2">
                  <a:lumMod val="75000"/>
                </a:schemeClr>
              </a:solidFill>
              <a:effectLst/>
              <a:latin typeface="Arial" pitchFamily="34" charset="0"/>
              <a:cs typeface="Arial" pitchFamily="34" charset="0"/>
            </a:endParaRPr>
          </a:p>
        </p:txBody>
      </p:sp>
      <p:sp>
        <p:nvSpPr>
          <p:cNvPr id="41" name="Oval 40">
            <a:extLst>
              <a:ext uri="{FF2B5EF4-FFF2-40B4-BE49-F238E27FC236}">
                <a16:creationId xmlns:a16="http://schemas.microsoft.com/office/drawing/2014/main" id="{3369BE24-E166-7258-9103-CD93AB8DF008}"/>
              </a:ext>
            </a:extLst>
          </p:cNvPr>
          <p:cNvSpPr/>
          <p:nvPr/>
        </p:nvSpPr>
        <p:spPr>
          <a:xfrm>
            <a:off x="1531211" y="3578453"/>
            <a:ext cx="220070" cy="18091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sp>
        <p:nvSpPr>
          <p:cNvPr id="45" name="Oval 44">
            <a:extLst>
              <a:ext uri="{FF2B5EF4-FFF2-40B4-BE49-F238E27FC236}">
                <a16:creationId xmlns:a16="http://schemas.microsoft.com/office/drawing/2014/main" id="{EA122E8A-9D57-AAD1-FB23-787E99F73581}"/>
              </a:ext>
            </a:extLst>
          </p:cNvPr>
          <p:cNvSpPr/>
          <p:nvPr/>
        </p:nvSpPr>
        <p:spPr>
          <a:xfrm>
            <a:off x="4280861" y="3591081"/>
            <a:ext cx="220070" cy="18091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sp>
        <p:nvSpPr>
          <p:cNvPr id="47" name="Oval 46">
            <a:extLst>
              <a:ext uri="{FF2B5EF4-FFF2-40B4-BE49-F238E27FC236}">
                <a16:creationId xmlns:a16="http://schemas.microsoft.com/office/drawing/2014/main" id="{E4A17DE8-47FD-3B86-AAF2-F652A38966EE}"/>
              </a:ext>
            </a:extLst>
          </p:cNvPr>
          <p:cNvSpPr/>
          <p:nvPr/>
        </p:nvSpPr>
        <p:spPr>
          <a:xfrm>
            <a:off x="1209388" y="3348637"/>
            <a:ext cx="220070" cy="18091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a:t>
            </a:r>
            <a:endParaRPr lang="en-IL" dirty="0"/>
          </a:p>
        </p:txBody>
      </p:sp>
      <p:sp>
        <p:nvSpPr>
          <p:cNvPr id="48" name="Oval 47">
            <a:extLst>
              <a:ext uri="{FF2B5EF4-FFF2-40B4-BE49-F238E27FC236}">
                <a16:creationId xmlns:a16="http://schemas.microsoft.com/office/drawing/2014/main" id="{71EA5975-5EB4-EA32-32BC-B842A26C118C}"/>
              </a:ext>
            </a:extLst>
          </p:cNvPr>
          <p:cNvSpPr/>
          <p:nvPr/>
        </p:nvSpPr>
        <p:spPr>
          <a:xfrm>
            <a:off x="4451993" y="3394794"/>
            <a:ext cx="220070" cy="18091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a:t>
            </a:r>
            <a:endParaRPr lang="en-IL" dirty="0"/>
          </a:p>
        </p:txBody>
      </p:sp>
      <p:cxnSp>
        <p:nvCxnSpPr>
          <p:cNvPr id="52" name="מחבר ישר 57">
            <a:extLst>
              <a:ext uri="{FF2B5EF4-FFF2-40B4-BE49-F238E27FC236}">
                <a16:creationId xmlns:a16="http://schemas.microsoft.com/office/drawing/2014/main" id="{9C2D4942-1B2C-4987-27B8-3ADF02B6F53F}"/>
              </a:ext>
            </a:extLst>
          </p:cNvPr>
          <p:cNvCxnSpPr>
            <a:cxnSpLocks/>
          </p:cNvCxnSpPr>
          <p:nvPr/>
        </p:nvCxnSpPr>
        <p:spPr>
          <a:xfrm flipV="1">
            <a:off x="4553647" y="3607195"/>
            <a:ext cx="18353" cy="904787"/>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Text Box 18">
            <a:extLst>
              <a:ext uri="{FF2B5EF4-FFF2-40B4-BE49-F238E27FC236}">
                <a16:creationId xmlns:a16="http://schemas.microsoft.com/office/drawing/2014/main" id="{47D25335-82E3-3082-FEE0-6362C9003E40}"/>
              </a:ext>
            </a:extLst>
          </p:cNvPr>
          <p:cNvSpPr txBox="1">
            <a:spLocks noChangeArrowheads="1"/>
          </p:cNvSpPr>
          <p:nvPr/>
        </p:nvSpPr>
        <p:spPr bwMode="auto">
          <a:xfrm>
            <a:off x="4419883" y="4500334"/>
            <a:ext cx="428629"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kumimoji="0" lang="he-IL" sz="3600" b="1" i="0" u="none" strike="noStrike" cap="none" normalizeH="0" baseline="0" dirty="0">
              <a:ln>
                <a:noFill/>
              </a:ln>
              <a:solidFill>
                <a:schemeClr val="accent2">
                  <a:lumMod val="75000"/>
                </a:schemeClr>
              </a:solidFill>
              <a:effectLst/>
              <a:latin typeface="Arial" pitchFamily="34" charset="0"/>
              <a:cs typeface="Arial" pitchFamily="34" charset="0"/>
            </a:endParaRPr>
          </a:p>
        </p:txBody>
      </p:sp>
      <p:cxnSp>
        <p:nvCxnSpPr>
          <p:cNvPr id="55" name="מחבר ישר 57">
            <a:extLst>
              <a:ext uri="{FF2B5EF4-FFF2-40B4-BE49-F238E27FC236}">
                <a16:creationId xmlns:a16="http://schemas.microsoft.com/office/drawing/2014/main" id="{C8FF6A54-452C-A26C-53D6-6959EBDEC4EB}"/>
              </a:ext>
            </a:extLst>
          </p:cNvPr>
          <p:cNvCxnSpPr>
            <a:cxnSpLocks/>
            <a:endCxn id="47" idx="1"/>
          </p:cNvCxnSpPr>
          <p:nvPr/>
        </p:nvCxnSpPr>
        <p:spPr>
          <a:xfrm flipH="1" flipV="1">
            <a:off x="1241617" y="3375131"/>
            <a:ext cx="20352" cy="1192379"/>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Text Box 18">
            <a:extLst>
              <a:ext uri="{FF2B5EF4-FFF2-40B4-BE49-F238E27FC236}">
                <a16:creationId xmlns:a16="http://schemas.microsoft.com/office/drawing/2014/main" id="{900686AD-83F2-3EC7-A315-476E26005035}"/>
              </a:ext>
            </a:extLst>
          </p:cNvPr>
          <p:cNvSpPr txBox="1">
            <a:spLocks noChangeArrowheads="1"/>
          </p:cNvSpPr>
          <p:nvPr/>
        </p:nvSpPr>
        <p:spPr bwMode="auto">
          <a:xfrm>
            <a:off x="1137659" y="4524635"/>
            <a:ext cx="428629"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base" latinLnBrk="0" hangingPunct="1">
              <a:lnSpc>
                <a:spcPct val="100000"/>
              </a:lnSpc>
              <a:spcBef>
                <a:spcPct val="0"/>
              </a:spcBef>
              <a:spcAft>
                <a:spcPts val="1000"/>
              </a:spcAft>
              <a:buClrTx/>
              <a:buSzTx/>
              <a:buFontTx/>
              <a:buNone/>
              <a:tabLs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kumimoji="0" lang="he-IL" sz="3600" b="1" i="0" u="none" strike="noStrike" cap="none" normalizeH="0" baseline="0" dirty="0">
              <a:ln>
                <a:noFill/>
              </a:ln>
              <a:solidFill>
                <a:schemeClr val="accent2">
                  <a:lumMod val="75000"/>
                </a:schemeClr>
              </a:solidFill>
              <a:effectLst/>
              <a:latin typeface="Arial" pitchFamily="34" charset="0"/>
              <a:cs typeface="Arial" pitchFamily="34" charset="0"/>
            </a:endParaRPr>
          </a:p>
        </p:txBody>
      </p:sp>
      <p:sp>
        <p:nvSpPr>
          <p:cNvPr id="72" name="TextBox 71">
            <a:extLst>
              <a:ext uri="{FF2B5EF4-FFF2-40B4-BE49-F238E27FC236}">
                <a16:creationId xmlns:a16="http://schemas.microsoft.com/office/drawing/2014/main" id="{E7DBF5BA-20D0-B6CE-F855-06A2D6F5D761}"/>
              </a:ext>
            </a:extLst>
          </p:cNvPr>
          <p:cNvSpPr txBox="1"/>
          <p:nvPr/>
        </p:nvSpPr>
        <p:spPr>
          <a:xfrm>
            <a:off x="3369208" y="2437159"/>
            <a:ext cx="1273506" cy="430887"/>
          </a:xfrm>
          <a:prstGeom prst="rect">
            <a:avLst/>
          </a:prstGeom>
          <a:solidFill>
            <a:schemeClr val="accent2">
              <a:lumMod val="40000"/>
              <a:lumOff val="60000"/>
            </a:schemeClr>
          </a:solidFill>
        </p:spPr>
        <p:txBody>
          <a:bodyPr wrap="square">
            <a:spAutoFit/>
          </a:bodyPr>
          <a:lstStyle/>
          <a:p>
            <a:pPr algn="ctr" rtl="1"/>
            <a:r>
              <a:rPr lang="he-IL" sz="1100" b="1" dirty="0"/>
              <a:t>הכנסות יצרני הנגב בוודאות עלו </a:t>
            </a:r>
            <a:endParaRPr lang="en-IL" sz="1100" dirty="0"/>
          </a:p>
        </p:txBody>
      </p:sp>
      <p:sp>
        <p:nvSpPr>
          <p:cNvPr id="73" name="Rectangle 72">
            <a:extLst>
              <a:ext uri="{FF2B5EF4-FFF2-40B4-BE49-F238E27FC236}">
                <a16:creationId xmlns:a16="http://schemas.microsoft.com/office/drawing/2014/main" id="{9D51F8D3-91E6-4A1B-396B-95FA69535C4C}"/>
              </a:ext>
            </a:extLst>
          </p:cNvPr>
          <p:cNvSpPr/>
          <p:nvPr/>
        </p:nvSpPr>
        <p:spPr>
          <a:xfrm>
            <a:off x="633209" y="3668910"/>
            <a:ext cx="1022468" cy="85959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L"/>
          </a:p>
        </p:txBody>
      </p:sp>
      <p:sp>
        <p:nvSpPr>
          <p:cNvPr id="74" name="Rectangle 73">
            <a:extLst>
              <a:ext uri="{FF2B5EF4-FFF2-40B4-BE49-F238E27FC236}">
                <a16:creationId xmlns:a16="http://schemas.microsoft.com/office/drawing/2014/main" id="{99397AB0-49FE-F8B8-AEE3-45E1703AEF6F}"/>
              </a:ext>
            </a:extLst>
          </p:cNvPr>
          <p:cNvSpPr/>
          <p:nvPr/>
        </p:nvSpPr>
        <p:spPr>
          <a:xfrm>
            <a:off x="672220" y="3439094"/>
            <a:ext cx="571967" cy="1067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32242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down)">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1000"/>
                                        <p:tgtEl>
                                          <p:spTgt spid="49"/>
                                        </p:tgtEl>
                                      </p:cBhvr>
                                    </p:animEffect>
                                    <p:anim calcmode="lin" valueType="num">
                                      <p:cBhvr>
                                        <p:cTn id="20" dur="1000" fill="hold"/>
                                        <p:tgtEl>
                                          <p:spTgt spid="49"/>
                                        </p:tgtEl>
                                        <p:attrNameLst>
                                          <p:attrName>ppt_x</p:attrName>
                                        </p:attrNameLst>
                                      </p:cBhvr>
                                      <p:tavLst>
                                        <p:tav tm="0">
                                          <p:val>
                                            <p:strVal val="#ppt_x"/>
                                          </p:val>
                                        </p:tav>
                                        <p:tav tm="100000">
                                          <p:val>
                                            <p:strVal val="#ppt_x"/>
                                          </p:val>
                                        </p:tav>
                                      </p:tavLst>
                                    </p:anim>
                                    <p:anim calcmode="lin" valueType="num">
                                      <p:cBhvr>
                                        <p:cTn id="2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down)">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p:cTn id="31" dur="1000" fill="hold"/>
                                        <p:tgtEl>
                                          <p:spTgt spid="51"/>
                                        </p:tgtEl>
                                        <p:attrNameLst>
                                          <p:attrName>ppt_w</p:attrName>
                                        </p:attrNameLst>
                                      </p:cBhvr>
                                      <p:tavLst>
                                        <p:tav tm="0">
                                          <p:val>
                                            <p:fltVal val="0"/>
                                          </p:val>
                                        </p:tav>
                                        <p:tav tm="100000">
                                          <p:val>
                                            <p:strVal val="#ppt_w"/>
                                          </p:val>
                                        </p:tav>
                                      </p:tavLst>
                                    </p:anim>
                                    <p:anim calcmode="lin" valueType="num">
                                      <p:cBhvr>
                                        <p:cTn id="32" dur="1000" fill="hold"/>
                                        <p:tgtEl>
                                          <p:spTgt spid="51"/>
                                        </p:tgtEl>
                                        <p:attrNameLst>
                                          <p:attrName>ppt_h</p:attrName>
                                        </p:attrNameLst>
                                      </p:cBhvr>
                                      <p:tavLst>
                                        <p:tav tm="0">
                                          <p:val>
                                            <p:fltVal val="0"/>
                                          </p:val>
                                        </p:tav>
                                        <p:tav tm="100000">
                                          <p:val>
                                            <p:strVal val="#ppt_h"/>
                                          </p:val>
                                        </p:tav>
                                      </p:tavLst>
                                    </p:anim>
                                    <p:anim calcmode="lin" valueType="num">
                                      <p:cBhvr>
                                        <p:cTn id="33" dur="1000" fill="hold"/>
                                        <p:tgtEl>
                                          <p:spTgt spid="51"/>
                                        </p:tgtEl>
                                        <p:attrNameLst>
                                          <p:attrName>style.rotation</p:attrName>
                                        </p:attrNameLst>
                                      </p:cBhvr>
                                      <p:tavLst>
                                        <p:tav tm="0">
                                          <p:val>
                                            <p:fltVal val="90"/>
                                          </p:val>
                                        </p:tav>
                                        <p:tav tm="100000">
                                          <p:val>
                                            <p:fltVal val="0"/>
                                          </p:val>
                                        </p:tav>
                                      </p:tavLst>
                                    </p:anim>
                                    <p:animEffect transition="in" filter="fade">
                                      <p:cBhvr>
                                        <p:cTn id="34" dur="10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59">
                                            <p:txEl>
                                              <p:pRg st="0" end="0"/>
                                            </p:txEl>
                                          </p:spTgt>
                                        </p:tgtEl>
                                        <p:attrNameLst>
                                          <p:attrName>style.visibility</p:attrName>
                                        </p:attrNameLst>
                                      </p:cBhvr>
                                      <p:to>
                                        <p:strVal val="visible"/>
                                      </p:to>
                                    </p:set>
                                    <p:animEffect transition="in" filter="barn(inVertical)">
                                      <p:cBhvr>
                                        <p:cTn id="43" dur="500"/>
                                        <p:tgtEl>
                                          <p:spTgt spid="5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0"/>
                                        </p:tgtEl>
                                        <p:attrNameLst>
                                          <p:attrName>style.visibility</p:attrName>
                                        </p:attrNameLst>
                                      </p:cBhvr>
                                      <p:to>
                                        <p:strVal val="visible"/>
                                      </p:to>
                                    </p:set>
                                    <p:animEffect transition="in" filter="wipe(down)">
                                      <p:cBhvr>
                                        <p:cTn id="48" dur="500"/>
                                        <p:tgtEl>
                                          <p:spTgt spid="6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animEffect transition="in" filter="wipe(down)">
                                      <p:cBhvr>
                                        <p:cTn id="53" dur="500"/>
                                        <p:tgtEl>
                                          <p:spTgt spid="63">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barn(inVertical)">
                                      <p:cBhvr>
                                        <p:cTn id="62" dur="5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barn(inVertical)">
                                      <p:cBhvr>
                                        <p:cTn id="67" dur="500"/>
                                        <p:tgtEl>
                                          <p:spTgt spid="5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barn(inVertical)">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fade">
                                      <p:cBhvr>
                                        <p:cTn id="77" dur="1000"/>
                                        <p:tgtEl>
                                          <p:spTgt spid="55"/>
                                        </p:tgtEl>
                                      </p:cBhvr>
                                    </p:animEffect>
                                    <p:anim calcmode="lin" valueType="num">
                                      <p:cBhvr>
                                        <p:cTn id="78" dur="1000" fill="hold"/>
                                        <p:tgtEl>
                                          <p:spTgt spid="55"/>
                                        </p:tgtEl>
                                        <p:attrNameLst>
                                          <p:attrName>ppt_x</p:attrName>
                                        </p:attrNameLst>
                                      </p:cBhvr>
                                      <p:tavLst>
                                        <p:tav tm="0">
                                          <p:val>
                                            <p:strVal val="#ppt_x"/>
                                          </p:val>
                                        </p:tav>
                                        <p:tav tm="100000">
                                          <p:val>
                                            <p:strVal val="#ppt_x"/>
                                          </p:val>
                                        </p:tav>
                                      </p:tavLst>
                                    </p:anim>
                                    <p:anim calcmode="lin" valueType="num">
                                      <p:cBhvr>
                                        <p:cTn id="79" dur="1000" fill="hold"/>
                                        <p:tgtEl>
                                          <p:spTgt spid="5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1000"/>
                                        <p:tgtEl>
                                          <p:spTgt spid="56"/>
                                        </p:tgtEl>
                                      </p:cBhvr>
                                    </p:animEffect>
                                    <p:anim calcmode="lin" valueType="num">
                                      <p:cBhvr>
                                        <p:cTn id="83" dur="1000" fill="hold"/>
                                        <p:tgtEl>
                                          <p:spTgt spid="56"/>
                                        </p:tgtEl>
                                        <p:attrNameLst>
                                          <p:attrName>ppt_x</p:attrName>
                                        </p:attrNameLst>
                                      </p:cBhvr>
                                      <p:tavLst>
                                        <p:tav tm="0">
                                          <p:val>
                                            <p:strVal val="#ppt_x"/>
                                          </p:val>
                                        </p:tav>
                                        <p:tav tm="100000">
                                          <p:val>
                                            <p:strVal val="#ppt_x"/>
                                          </p:val>
                                        </p:tav>
                                      </p:tavLst>
                                    </p:anim>
                                    <p:anim calcmode="lin" valueType="num">
                                      <p:cBhvr>
                                        <p:cTn id="8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72"/>
                                        </p:tgtEl>
                                        <p:attrNameLst>
                                          <p:attrName>style.visibility</p:attrName>
                                        </p:attrNameLst>
                                      </p:cBhvr>
                                      <p:to>
                                        <p:strVal val="visible"/>
                                      </p:to>
                                    </p:set>
                                    <p:anim calcmode="lin" valueType="num">
                                      <p:cBhvr additive="base">
                                        <p:cTn id="89" dur="500" fill="hold"/>
                                        <p:tgtEl>
                                          <p:spTgt spid="72"/>
                                        </p:tgtEl>
                                        <p:attrNameLst>
                                          <p:attrName>ppt_x</p:attrName>
                                        </p:attrNameLst>
                                      </p:cBhvr>
                                      <p:tavLst>
                                        <p:tav tm="0">
                                          <p:val>
                                            <p:strVal val="#ppt_x"/>
                                          </p:val>
                                        </p:tav>
                                        <p:tav tm="100000">
                                          <p:val>
                                            <p:strVal val="#ppt_x"/>
                                          </p:val>
                                        </p:tav>
                                      </p:tavLst>
                                    </p:anim>
                                    <p:anim calcmode="lin" valueType="num">
                                      <p:cBhvr additive="base">
                                        <p:cTn id="90"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73"/>
                                        </p:tgtEl>
                                        <p:attrNameLst>
                                          <p:attrName>style.visibility</p:attrName>
                                        </p:attrNameLst>
                                      </p:cBhvr>
                                      <p:to>
                                        <p:strVal val="visible"/>
                                      </p:to>
                                    </p:set>
                                    <p:animEffect transition="in" filter="fade">
                                      <p:cBhvr>
                                        <p:cTn id="95" dur="500"/>
                                        <p:tgtEl>
                                          <p:spTgt spid="73"/>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21" fill="hold" grpId="0" nodeType="click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barn(inVertical)">
                                      <p:cBhvr>
                                        <p:cTn id="10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6" grpId="0"/>
      <p:bldP spid="49" grpId="0" animBg="1"/>
      <p:bldP spid="50" grpId="0"/>
      <p:bldP spid="51" grpId="0" animBg="1"/>
      <p:bldP spid="47" grpId="0" animBg="1"/>
      <p:bldP spid="48" grpId="0" animBg="1"/>
      <p:bldP spid="54" grpId="0"/>
      <p:bldP spid="56" grpId="0"/>
      <p:bldP spid="72" grpId="0" animBg="1"/>
      <p:bldP spid="73" grpId="0" animBg="1"/>
      <p:bldP spid="7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8DD4F-7435-F044-4D25-5C630B5A7346}"/>
              </a:ext>
            </a:extLst>
          </p:cNvPr>
          <p:cNvSpPr>
            <a:spLocks noGrp="1"/>
          </p:cNvSpPr>
          <p:nvPr>
            <p:ph type="title"/>
          </p:nvPr>
        </p:nvSpPr>
        <p:spPr/>
        <p:txBody>
          <a:bodyPr/>
          <a:lstStyle/>
          <a:p>
            <a:r>
              <a:rPr lang="he-IL" dirty="0"/>
              <a:t>תשובה לשאלת בחינה- שווקים חלקיים</a:t>
            </a:r>
            <a:endParaRPr lang="en-IL" dirty="0"/>
          </a:p>
        </p:txBody>
      </p:sp>
      <p:sp>
        <p:nvSpPr>
          <p:cNvPr id="3" name="Content Placeholder 2">
            <a:extLst>
              <a:ext uri="{FF2B5EF4-FFF2-40B4-BE49-F238E27FC236}">
                <a16:creationId xmlns:a16="http://schemas.microsoft.com/office/drawing/2014/main" id="{C1CC8CD2-5C90-D3E4-1CF6-6E3322A56D1A}"/>
              </a:ext>
            </a:extLst>
          </p:cNvPr>
          <p:cNvSpPr>
            <a:spLocks noGrp="1"/>
          </p:cNvSpPr>
          <p:nvPr>
            <p:ph idx="1"/>
          </p:nvPr>
        </p:nvSpPr>
        <p:spPr>
          <a:xfrm>
            <a:off x="368300" y="1219200"/>
            <a:ext cx="8229600" cy="2362200"/>
          </a:xfrm>
        </p:spPr>
        <p:txBody>
          <a:bodyPr>
            <a:normAutofit fontScale="62500" lnSpcReduction="20000"/>
          </a:bodyPr>
          <a:lstStyle/>
          <a:p>
            <a:pPr marL="0" indent="0">
              <a:buNone/>
            </a:pPr>
            <a:r>
              <a:rPr lang="he-IL" sz="2000" dirty="0"/>
              <a:t>התשובה הנכונה היא </a:t>
            </a:r>
            <a:r>
              <a:rPr lang="he-IL" sz="2000" b="1" dirty="0"/>
              <a:t>א'</a:t>
            </a:r>
          </a:p>
          <a:p>
            <a:pPr marL="0" indent="0">
              <a:buNone/>
            </a:pPr>
            <a:r>
              <a:rPr lang="he-IL" sz="2000" dirty="0"/>
              <a:t>הסבר: </a:t>
            </a:r>
          </a:p>
          <a:p>
            <a:pPr marL="0" indent="0">
              <a:lnSpc>
                <a:spcPct val="170000"/>
              </a:lnSpc>
              <a:buNone/>
            </a:pPr>
            <a:r>
              <a:rPr lang="he-IL" sz="2600" dirty="0"/>
              <a:t>ב</a:t>
            </a:r>
            <a:r>
              <a:rPr lang="he-IL" sz="2600" dirty="0">
                <a:highlight>
                  <a:srgbClr val="00FF00"/>
                </a:highlight>
              </a:rPr>
              <a:t>סעיף א' </a:t>
            </a:r>
            <a:r>
              <a:rPr lang="he-IL" sz="2600" dirty="0"/>
              <a:t>נתון שהביקוש למוצר הינו </a:t>
            </a:r>
            <a:r>
              <a:rPr lang="he-IL" sz="2600" b="1" dirty="0"/>
              <a:t>יחידתי</a:t>
            </a:r>
            <a:r>
              <a:rPr lang="he-IL" sz="2600" dirty="0"/>
              <a:t>, מכאן שהוצאות הצרכנים על המוצר לא השתנו ומצד היצרנים ניתן לומר </a:t>
            </a:r>
            <a:r>
              <a:rPr lang="he-IL" sz="2600" b="1" dirty="0"/>
              <a:t>שסך ההכנסות של כל היצרנים (פדיון יצרני הגליל + פדיון יצרני הנגב) ללא שינוי</a:t>
            </a:r>
            <a:r>
              <a:rPr lang="he-IL" sz="2600" dirty="0"/>
              <a:t>.</a:t>
            </a:r>
            <a:br>
              <a:rPr lang="en-US" sz="2600" dirty="0"/>
            </a:br>
            <a:r>
              <a:rPr lang="he-IL" sz="2600" b="1" dirty="0"/>
              <a:t>הכנסות יצרני הנגב בוודאות עלו </a:t>
            </a:r>
            <a:r>
              <a:rPr lang="he-IL" sz="2600" dirty="0"/>
              <a:t>(כי המחיר עלה והכמות המיוצרת על ידם) ומכאן ש</a:t>
            </a:r>
            <a:r>
              <a:rPr lang="he-IL" sz="2600" b="1" dirty="0"/>
              <a:t>הכנסות יצרני הגליל בוודאות ירדו </a:t>
            </a:r>
            <a:r>
              <a:rPr lang="he-IL" sz="2600" dirty="0"/>
              <a:t>(כך שסך ההכנסות של שתי הקבוצות </a:t>
            </a:r>
            <a:r>
              <a:rPr lang="he-IL" sz="2600" dirty="0" err="1"/>
              <a:t>ישארו</a:t>
            </a:r>
            <a:r>
              <a:rPr lang="he-IL" sz="2600" dirty="0"/>
              <a:t> ללא שינוי). </a:t>
            </a:r>
          </a:p>
        </p:txBody>
      </p:sp>
      <p:sp>
        <p:nvSpPr>
          <p:cNvPr id="4" name="Date Placeholder 3">
            <a:extLst>
              <a:ext uri="{FF2B5EF4-FFF2-40B4-BE49-F238E27FC236}">
                <a16:creationId xmlns:a16="http://schemas.microsoft.com/office/drawing/2014/main" id="{33EA4EE7-93D7-60D3-E9CC-0CFC50440D26}"/>
              </a:ext>
            </a:extLst>
          </p:cNvPr>
          <p:cNvSpPr>
            <a:spLocks noGrp="1"/>
          </p:cNvSpPr>
          <p:nvPr>
            <p:ph type="dt" sz="half" idx="10"/>
          </p:nvPr>
        </p:nvSpPr>
        <p:spPr/>
        <p:txBody>
          <a:bodyPr/>
          <a:lstStyle/>
          <a:p>
            <a:fld id="{8EBB0BF3-6265-44CE-A520-773E49705198}" type="datetime8">
              <a:rPr lang="he-IL" smtClean="0"/>
              <a:t>17 ינואר 26</a:t>
            </a:fld>
            <a:endParaRPr lang="he-IL" dirty="0"/>
          </a:p>
        </p:txBody>
      </p:sp>
      <p:sp>
        <p:nvSpPr>
          <p:cNvPr id="5" name="Slide Number Placeholder 4">
            <a:extLst>
              <a:ext uri="{FF2B5EF4-FFF2-40B4-BE49-F238E27FC236}">
                <a16:creationId xmlns:a16="http://schemas.microsoft.com/office/drawing/2014/main" id="{026559BE-4C74-BE1A-C47E-6F37A66DEE70}"/>
              </a:ext>
            </a:extLst>
          </p:cNvPr>
          <p:cNvSpPr>
            <a:spLocks noGrp="1"/>
          </p:cNvSpPr>
          <p:nvPr>
            <p:ph type="sldNum" sz="quarter" idx="12"/>
          </p:nvPr>
        </p:nvSpPr>
        <p:spPr/>
        <p:txBody>
          <a:bodyPr/>
          <a:lstStyle/>
          <a:p>
            <a:fld id="{492DB488-E800-4C9D-A68D-A9C6D048BCD3}" type="slidenum">
              <a:rPr lang="he-IL" smtClean="0"/>
              <a:pPr/>
              <a:t>11</a:t>
            </a:fld>
            <a:endParaRPr lang="he-IL"/>
          </a:p>
        </p:txBody>
      </p:sp>
      <p:sp>
        <p:nvSpPr>
          <p:cNvPr id="7" name="תיבת טקסט 6">
            <a:extLst>
              <a:ext uri="{FF2B5EF4-FFF2-40B4-BE49-F238E27FC236}">
                <a16:creationId xmlns:a16="http://schemas.microsoft.com/office/drawing/2014/main" id="{FF6B7EDD-EFF5-80D8-090C-9DFD245C42EE}"/>
              </a:ext>
            </a:extLst>
          </p:cNvPr>
          <p:cNvSpPr txBox="1"/>
          <p:nvPr/>
        </p:nvSpPr>
        <p:spPr>
          <a:xfrm>
            <a:off x="215900" y="3511743"/>
            <a:ext cx="8382000" cy="2127057"/>
          </a:xfrm>
          <a:prstGeom prst="rect">
            <a:avLst/>
          </a:prstGeom>
          <a:noFill/>
        </p:spPr>
        <p:txBody>
          <a:bodyPr wrap="square">
            <a:spAutoFit/>
          </a:bodyPr>
          <a:lstStyle/>
          <a:p>
            <a:pPr marL="0" indent="0" algn="r" rtl="1">
              <a:lnSpc>
                <a:spcPct val="150000"/>
              </a:lnSpc>
              <a:buNone/>
            </a:pPr>
            <a:r>
              <a:rPr lang="he-IL" sz="1500" dirty="0">
                <a:highlight>
                  <a:srgbClr val="FF0000"/>
                </a:highlight>
              </a:rPr>
              <a:t>סעיף ב' שגוי </a:t>
            </a:r>
            <a:r>
              <a:rPr lang="he-IL" sz="1500" dirty="0"/>
              <a:t>מכיוון שאם הביקוש קשיח, נוכל להסיק שהכנסות כל היצרנים במשק עלו (כי המחיר עלה ביותר מירידת הכמות המצרפית), ואם הכנסות יצרני הנגב עלו, אז לא נוכל להסיק מה קרה להכנסות יצרני הגליל, או שהן גם עלו, או שלא השתנו או שירדו במעט. </a:t>
            </a:r>
          </a:p>
          <a:p>
            <a:pPr marL="0" indent="0" algn="r" rtl="1">
              <a:lnSpc>
                <a:spcPct val="150000"/>
              </a:lnSpc>
              <a:buNone/>
            </a:pPr>
            <a:r>
              <a:rPr lang="he-IL" sz="1500" dirty="0">
                <a:highlight>
                  <a:srgbClr val="FF0000"/>
                </a:highlight>
              </a:rPr>
              <a:t>סעיף ג' שגוי </a:t>
            </a:r>
            <a:r>
              <a:rPr lang="he-IL" sz="1500" dirty="0"/>
              <a:t>כיוון שללא קשר לגמישות הביקוש של הצרכנים, פדיון יצרני הנגב עלו (כיוון שהמחיר עלה, תזוזה על עקומת ההיצע).</a:t>
            </a:r>
          </a:p>
          <a:p>
            <a:pPr marL="0" indent="0" algn="r" rtl="1">
              <a:lnSpc>
                <a:spcPct val="150000"/>
              </a:lnSpc>
              <a:buNone/>
            </a:pPr>
            <a:r>
              <a:rPr lang="he-IL" sz="1500" dirty="0">
                <a:highlight>
                  <a:srgbClr val="FF0000"/>
                </a:highlight>
              </a:rPr>
              <a:t>סעיף ד' שגוי </a:t>
            </a:r>
            <a:r>
              <a:rPr lang="he-IL" sz="1500" dirty="0"/>
              <a:t>כיוון שלא ניתן לומר מה קרה להוצאות הצרכנים בהכרח ללא נתונים אודות גמישות הביקוש שלהם. </a:t>
            </a:r>
          </a:p>
        </p:txBody>
      </p:sp>
    </p:spTree>
    <p:extLst>
      <p:ext uri="{BB962C8B-B14F-4D97-AF65-F5344CB8AC3E}">
        <p14:creationId xmlns:p14="http://schemas.microsoft.com/office/powerpoint/2010/main" val="425911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8B946-CDB8-DA80-1627-75B82788776E}"/>
              </a:ext>
            </a:extLst>
          </p:cNvPr>
          <p:cNvSpPr>
            <a:spLocks noGrp="1"/>
          </p:cNvSpPr>
          <p:nvPr>
            <p:ph type="title"/>
          </p:nvPr>
        </p:nvSpPr>
        <p:spPr>
          <a:xfrm>
            <a:off x="-76200" y="762000"/>
            <a:ext cx="8991600" cy="2468562"/>
          </a:xfrm>
        </p:spPr>
        <p:txBody>
          <a:bodyPr/>
          <a:lstStyle/>
          <a:p>
            <a:r>
              <a:rPr lang="he-IL" dirty="0"/>
              <a:t>משק פתוח- ייבוא וייצוא</a:t>
            </a:r>
            <a:endParaRPr lang="en-IL" dirty="0"/>
          </a:p>
        </p:txBody>
      </p:sp>
      <p:sp>
        <p:nvSpPr>
          <p:cNvPr id="4" name="Date Placeholder 3">
            <a:extLst>
              <a:ext uri="{FF2B5EF4-FFF2-40B4-BE49-F238E27FC236}">
                <a16:creationId xmlns:a16="http://schemas.microsoft.com/office/drawing/2014/main" id="{CE9E56A6-FA99-D214-CEFE-7FF40EA79D1C}"/>
              </a:ext>
            </a:extLst>
          </p:cNvPr>
          <p:cNvSpPr>
            <a:spLocks noGrp="1"/>
          </p:cNvSpPr>
          <p:nvPr>
            <p:ph type="dt" sz="half" idx="10"/>
          </p:nvPr>
        </p:nvSpPr>
        <p:spPr/>
        <p:txBody>
          <a:bodyPr/>
          <a:lstStyle/>
          <a:p>
            <a:fld id="{8EBB0BF3-6265-44CE-A520-773E49705198}" type="datetime8">
              <a:rPr lang="he-IL" smtClean="0"/>
              <a:t>17 ינואר 26</a:t>
            </a:fld>
            <a:endParaRPr lang="he-IL"/>
          </a:p>
        </p:txBody>
      </p:sp>
      <p:sp>
        <p:nvSpPr>
          <p:cNvPr id="5" name="Slide Number Placeholder 4">
            <a:extLst>
              <a:ext uri="{FF2B5EF4-FFF2-40B4-BE49-F238E27FC236}">
                <a16:creationId xmlns:a16="http://schemas.microsoft.com/office/drawing/2014/main" id="{627DD1CA-5874-A0F4-9D3F-D04A46826994}"/>
              </a:ext>
            </a:extLst>
          </p:cNvPr>
          <p:cNvSpPr>
            <a:spLocks noGrp="1"/>
          </p:cNvSpPr>
          <p:nvPr>
            <p:ph type="sldNum" sz="quarter" idx="12"/>
          </p:nvPr>
        </p:nvSpPr>
        <p:spPr/>
        <p:txBody>
          <a:bodyPr/>
          <a:lstStyle/>
          <a:p>
            <a:fld id="{492DB488-E800-4C9D-A68D-A9C6D048BCD3}" type="slidenum">
              <a:rPr lang="he-IL" smtClean="0"/>
              <a:pPr/>
              <a:t>12</a:t>
            </a:fld>
            <a:endParaRPr lang="he-IL"/>
          </a:p>
        </p:txBody>
      </p:sp>
    </p:spTree>
    <p:extLst>
      <p:ext uri="{BB962C8B-B14F-4D97-AF65-F5344CB8AC3E}">
        <p14:creationId xmlns:p14="http://schemas.microsoft.com/office/powerpoint/2010/main" val="3375145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DEF4C-B384-113B-5295-8E4EB78133C0}"/>
              </a:ext>
            </a:extLst>
          </p:cNvPr>
          <p:cNvSpPr>
            <a:spLocks noGrp="1"/>
          </p:cNvSpPr>
          <p:nvPr>
            <p:ph type="title"/>
          </p:nvPr>
        </p:nvSpPr>
        <p:spPr>
          <a:xfrm>
            <a:off x="457200" y="14772"/>
            <a:ext cx="8229600" cy="1143000"/>
          </a:xfrm>
        </p:spPr>
        <p:txBody>
          <a:bodyPr/>
          <a:lstStyle/>
          <a:p>
            <a:r>
              <a:rPr lang="he-IL" dirty="0"/>
              <a:t>מחיר עולמי </a:t>
            </a:r>
            <a:endParaRPr lang="en-IL" dirty="0"/>
          </a:p>
        </p:txBody>
      </p:sp>
      <p:sp>
        <p:nvSpPr>
          <p:cNvPr id="4" name="מציין מיקום תוכן 6">
            <a:extLst>
              <a:ext uri="{FF2B5EF4-FFF2-40B4-BE49-F238E27FC236}">
                <a16:creationId xmlns:a16="http://schemas.microsoft.com/office/drawing/2014/main" id="{002B1800-391B-8FE7-A7C6-1FF402DAFBAD}"/>
              </a:ext>
            </a:extLst>
          </p:cNvPr>
          <p:cNvSpPr txBox="1">
            <a:spLocks/>
          </p:cNvSpPr>
          <p:nvPr/>
        </p:nvSpPr>
        <p:spPr>
          <a:xfrm>
            <a:off x="5288524" y="1035007"/>
            <a:ext cx="3437361" cy="1310885"/>
          </a:xfrm>
          <a:prstGeom prst="rect">
            <a:avLst/>
          </a:prstGeom>
          <a:ln>
            <a:solidFill>
              <a:srgbClr val="FA72FD"/>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1">
            <a:normAutofit/>
          </a:bodyPr>
          <a:lstStyle/>
          <a:p>
            <a:pPr marL="342900" lvl="0" indent="-342900" algn="ctr">
              <a:spcBef>
                <a:spcPct val="20000"/>
              </a:spcBef>
            </a:pPr>
            <a:r>
              <a:rPr kumimoji="0" lang="he-IL" b="0" i="0" u="none" strike="noStrike" kern="1200" cap="none" spc="0" normalizeH="0" noProof="0" dirty="0">
                <a:ln>
                  <a:noFill/>
                </a:ln>
                <a:solidFill>
                  <a:schemeClr val="tx1"/>
                </a:solidFill>
                <a:effectLst/>
                <a:uLnTx/>
                <a:uFillTx/>
                <a:latin typeface="+mn-lt"/>
                <a:ea typeface="+mn-ea"/>
                <a:cs typeface="+mn-cs"/>
              </a:rPr>
              <a:t>    </a:t>
            </a:r>
            <a:r>
              <a:rPr kumimoji="0" lang="he-IL" b="0" i="0" u="none" strike="noStrike" kern="1200" cap="none" spc="0" normalizeH="0" baseline="0" noProof="0" dirty="0">
                <a:ln>
                  <a:noFill/>
                </a:ln>
                <a:solidFill>
                  <a:schemeClr val="tx1"/>
                </a:solidFill>
                <a:effectLst/>
                <a:uLnTx/>
                <a:uFillTx/>
                <a:latin typeface="+mn-lt"/>
                <a:ea typeface="+mn-ea"/>
                <a:cs typeface="+mn-cs"/>
              </a:rPr>
              <a:t>במקרה</a:t>
            </a:r>
            <a:r>
              <a:rPr kumimoji="0" lang="he-IL" b="0" i="0" u="none" strike="noStrike" kern="1200" cap="none" spc="0" normalizeH="0" noProof="0" dirty="0">
                <a:ln>
                  <a:noFill/>
                </a:ln>
                <a:solidFill>
                  <a:schemeClr val="tx1"/>
                </a:solidFill>
                <a:effectLst/>
                <a:uLnTx/>
                <a:uFillTx/>
                <a:latin typeface="+mn-lt"/>
                <a:ea typeface="+mn-ea"/>
                <a:cs typeface="+mn-cs"/>
              </a:rPr>
              <a:t> של </a:t>
            </a:r>
            <a:r>
              <a:rPr kumimoji="0" lang="he-IL" b="1" i="0" u="sng" strike="noStrike" kern="1200" cap="none" spc="0" normalizeH="0" noProof="0" dirty="0">
                <a:ln>
                  <a:noFill/>
                </a:ln>
                <a:solidFill>
                  <a:schemeClr val="tx1"/>
                </a:solidFill>
                <a:effectLst/>
                <a:uLnTx/>
                <a:uFillTx/>
                <a:latin typeface="+mn-lt"/>
                <a:ea typeface="+mn-ea"/>
                <a:cs typeface="+mn-cs"/>
              </a:rPr>
              <a:t>ייצוא</a:t>
            </a:r>
            <a:r>
              <a:rPr kumimoji="0" lang="he-IL" b="0" i="0" u="none" strike="noStrike" kern="1200" cap="none" spc="0" normalizeH="0" noProof="0" dirty="0">
                <a:ln>
                  <a:noFill/>
                </a:ln>
                <a:solidFill>
                  <a:schemeClr val="tx1"/>
                </a:solidFill>
                <a:effectLst/>
                <a:uLnTx/>
                <a:uFillTx/>
                <a:latin typeface="+mn-lt"/>
                <a:ea typeface="+mn-ea"/>
                <a:cs typeface="+mn-cs"/>
              </a:rPr>
              <a:t> לחו"ל, </a:t>
            </a:r>
            <a:endParaRPr kumimoji="0" lang="en-US" b="0" i="0" u="none" strike="noStrike" kern="1200" cap="none" spc="0" normalizeH="0" noProof="0" dirty="0">
              <a:ln>
                <a:noFill/>
              </a:ln>
              <a:solidFill>
                <a:schemeClr val="tx1"/>
              </a:solidFill>
              <a:effectLst/>
              <a:uLnTx/>
              <a:uFillTx/>
              <a:latin typeface="+mn-lt"/>
              <a:ea typeface="+mn-ea"/>
              <a:cs typeface="+mn-cs"/>
            </a:endParaRPr>
          </a:p>
          <a:p>
            <a:pPr marL="342900" lvl="0" indent="-342900">
              <a:spcBef>
                <a:spcPct val="20000"/>
              </a:spcBef>
            </a:pPr>
            <a:endParaRPr lang="en-US" sz="1600" dirty="0">
              <a:solidFill>
                <a:schemeClr val="tx1"/>
              </a:solidFill>
            </a:endParaRPr>
          </a:p>
          <a:p>
            <a:pPr marL="342900" lvl="0" indent="-342900" algn="ctr" rtl="1">
              <a:spcBef>
                <a:spcPct val="20000"/>
              </a:spcBef>
            </a:pPr>
            <a:r>
              <a:rPr kumimoji="0" lang="he-IL" sz="1600" b="0" i="0" u="none" strike="noStrike" kern="1200" cap="none" spc="0" normalizeH="0" noProof="0" dirty="0">
                <a:ln>
                  <a:noFill/>
                </a:ln>
                <a:solidFill>
                  <a:schemeClr val="tx1"/>
                </a:solidFill>
                <a:effectLst/>
                <a:uLnTx/>
                <a:uFillTx/>
                <a:latin typeface="+mn-lt"/>
                <a:ea typeface="+mn-ea"/>
                <a:cs typeface="+mn-cs"/>
              </a:rPr>
              <a:t>איזה מחיר רואים היצרנים המייצאים</a:t>
            </a:r>
            <a:r>
              <a:rPr kumimoji="0" lang="en-US" sz="1600" b="0" i="0" u="none" strike="noStrike" kern="1200" cap="none" spc="0" normalizeH="0" noProof="0" dirty="0">
                <a:ln>
                  <a:noFill/>
                </a:ln>
                <a:solidFill>
                  <a:schemeClr val="tx1"/>
                </a:solidFill>
                <a:effectLst/>
                <a:uLnTx/>
                <a:uFillTx/>
                <a:latin typeface="+mn-lt"/>
                <a:ea typeface="+mn-ea"/>
                <a:cs typeface="+mn-cs"/>
              </a:rPr>
              <a:t>?</a:t>
            </a:r>
            <a:endParaRPr kumimoji="0" lang="he-IL"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מציין מיקום תוכן 6">
            <a:extLst>
              <a:ext uri="{FF2B5EF4-FFF2-40B4-BE49-F238E27FC236}">
                <a16:creationId xmlns:a16="http://schemas.microsoft.com/office/drawing/2014/main" id="{73B7048C-F741-FBCE-4E5B-778F5DF9449E}"/>
              </a:ext>
            </a:extLst>
          </p:cNvPr>
          <p:cNvSpPr txBox="1">
            <a:spLocks/>
          </p:cNvSpPr>
          <p:nvPr/>
        </p:nvSpPr>
        <p:spPr>
          <a:xfrm>
            <a:off x="5260815" y="4231567"/>
            <a:ext cx="3612642" cy="1310886"/>
          </a:xfrm>
          <a:prstGeom prst="rect">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1">
            <a:noAutofit/>
          </a:bodyPr>
          <a:lstStyle/>
          <a:p>
            <a:pPr marL="342900" lvl="0" indent="-342900" algn="r" rtl="1">
              <a:lnSpc>
                <a:spcPct val="170000"/>
              </a:lnSpc>
              <a:spcBef>
                <a:spcPct val="20000"/>
              </a:spcBef>
            </a:pPr>
            <a:r>
              <a:rPr kumimoji="0" lang="he-IL" sz="1600" b="0" i="0" u="none" strike="noStrike" kern="1200" cap="none" spc="0" normalizeH="0" noProof="0" dirty="0">
                <a:ln>
                  <a:noFill/>
                </a:ln>
                <a:solidFill>
                  <a:schemeClr val="tx1"/>
                </a:solidFill>
                <a:effectLst/>
                <a:uLnTx/>
                <a:uFillTx/>
              </a:rPr>
              <a:t>במקרה של </a:t>
            </a:r>
            <a:r>
              <a:rPr kumimoji="0" lang="he-IL" sz="1600" b="1" i="0" u="sng" strike="noStrike" kern="1200" cap="none" spc="0" normalizeH="0" noProof="0" dirty="0">
                <a:ln>
                  <a:noFill/>
                </a:ln>
                <a:solidFill>
                  <a:schemeClr val="tx1"/>
                </a:solidFill>
                <a:effectLst/>
                <a:uLnTx/>
                <a:uFillTx/>
              </a:rPr>
              <a:t>ייבוא</a:t>
            </a:r>
            <a:r>
              <a:rPr kumimoji="0" lang="he-IL" sz="1600" b="0" i="0" u="none" strike="noStrike" kern="1200" cap="none" spc="0" normalizeH="0" noProof="0" dirty="0">
                <a:ln>
                  <a:noFill/>
                </a:ln>
                <a:solidFill>
                  <a:schemeClr val="tx1"/>
                </a:solidFill>
                <a:effectLst/>
                <a:uLnTx/>
                <a:uFillTx/>
              </a:rPr>
              <a:t> </a:t>
            </a:r>
            <a:r>
              <a:rPr kumimoji="0" lang="he-IL" sz="1600" b="0" i="0" u="none" strike="noStrike" kern="1200" cap="none" spc="0" normalizeH="0" noProof="0" dirty="0" err="1">
                <a:ln>
                  <a:noFill/>
                </a:ln>
                <a:solidFill>
                  <a:schemeClr val="tx1"/>
                </a:solidFill>
                <a:effectLst/>
                <a:uLnTx/>
                <a:uFillTx/>
              </a:rPr>
              <a:t>לחו''ל</a:t>
            </a:r>
            <a:r>
              <a:rPr lang="he-IL" sz="1600" dirty="0">
                <a:solidFill>
                  <a:schemeClr val="tx1"/>
                </a:solidFill>
              </a:rPr>
              <a:t>, </a:t>
            </a:r>
            <a:r>
              <a:rPr kumimoji="0" lang="he-IL" sz="1600" b="0" i="0" u="none" strike="noStrike" kern="1200" cap="none" spc="0" normalizeH="0" noProof="0" dirty="0">
                <a:ln>
                  <a:noFill/>
                </a:ln>
                <a:solidFill>
                  <a:schemeClr val="tx1"/>
                </a:solidFill>
                <a:effectLst/>
                <a:uLnTx/>
                <a:uFillTx/>
              </a:rPr>
              <a:t>איזה מחיר היו רואים הצרכנים המייבאים?</a:t>
            </a:r>
            <a:endParaRPr kumimoji="0" lang="he-IL" sz="1600" b="0" i="0" u="none" strike="noStrike" kern="1200" cap="none" spc="0" normalizeH="0" baseline="0" noProof="0" dirty="0">
              <a:ln>
                <a:noFill/>
              </a:ln>
              <a:solidFill>
                <a:schemeClr val="tx1"/>
              </a:solidFill>
              <a:effectLst/>
              <a:uLnTx/>
              <a:uFillTx/>
            </a:endParaRPr>
          </a:p>
        </p:txBody>
      </p:sp>
      <p:sp>
        <p:nvSpPr>
          <p:cNvPr id="6" name="מלבן 1">
            <a:extLst>
              <a:ext uri="{FF2B5EF4-FFF2-40B4-BE49-F238E27FC236}">
                <a16:creationId xmlns:a16="http://schemas.microsoft.com/office/drawing/2014/main" id="{DDB61959-11BF-D23D-767A-91047AF919AE}"/>
              </a:ext>
            </a:extLst>
          </p:cNvPr>
          <p:cNvSpPr/>
          <p:nvPr/>
        </p:nvSpPr>
        <p:spPr>
          <a:xfrm>
            <a:off x="532082" y="1035007"/>
            <a:ext cx="4559741" cy="2954655"/>
          </a:xfrm>
          <a:prstGeom prst="rect">
            <a:avLst/>
          </a:prstGeom>
          <a:ln>
            <a:solidFill>
              <a:srgbClr val="FA72FD"/>
            </a:solidFill>
          </a:ln>
        </p:spPr>
        <p:style>
          <a:lnRef idx="2">
            <a:schemeClr val="dk1"/>
          </a:lnRef>
          <a:fillRef idx="1">
            <a:schemeClr val="lt1"/>
          </a:fillRef>
          <a:effectRef idx="0">
            <a:schemeClr val="dk1"/>
          </a:effectRef>
          <a:fontRef idx="minor">
            <a:schemeClr val="dk1"/>
          </a:fontRef>
        </p:style>
        <p:txBody>
          <a:bodyPr wrap="square">
            <a:spAutoFit/>
          </a:bodyPr>
          <a:lstStyle/>
          <a:p>
            <a:pPr marL="342900" lvl="0" indent="-342900" algn="ctr" rtl="1">
              <a:spcBef>
                <a:spcPct val="20000"/>
              </a:spcBef>
            </a:pPr>
            <a:r>
              <a:rPr lang="he-IL" dirty="0">
                <a:solidFill>
                  <a:prstClr val="black"/>
                </a:solidFill>
              </a:rPr>
              <a:t>המחיר העולמי </a:t>
            </a:r>
            <a:r>
              <a:rPr lang="he-IL" i="1" u="sng" dirty="0">
                <a:solidFill>
                  <a:prstClr val="black"/>
                </a:solidFill>
              </a:rPr>
              <a:t>פחות</a:t>
            </a:r>
            <a:r>
              <a:rPr lang="he-IL" dirty="0">
                <a:solidFill>
                  <a:prstClr val="black"/>
                </a:solidFill>
              </a:rPr>
              <a:t> עלויות ההובלה</a:t>
            </a:r>
          </a:p>
          <a:p>
            <a:pPr marL="342900" lvl="0" indent="-342900">
              <a:spcBef>
                <a:spcPct val="20000"/>
              </a:spcBef>
            </a:pPr>
            <a:endParaRPr lang="he-IL" sz="2200" dirty="0">
              <a:solidFill>
                <a:prstClr val="black"/>
              </a:solidFill>
            </a:endParaRPr>
          </a:p>
          <a:p>
            <a:pPr marL="342900" indent="-342900" algn="ctr" rtl="0">
              <a:spcBef>
                <a:spcPct val="20000"/>
              </a:spcBef>
            </a:pPr>
            <a:r>
              <a:rPr lang="en-US" sz="2400" dirty="0"/>
              <a:t>Pw= (P$</a:t>
            </a:r>
            <a:r>
              <a:rPr lang="en-US" sz="2400" dirty="0">
                <a:highlight>
                  <a:srgbClr val="FFFF00"/>
                </a:highlight>
              </a:rPr>
              <a:t>-</a:t>
            </a:r>
            <a:r>
              <a:rPr lang="he-IL" sz="2400" dirty="0"/>
              <a:t>עלות הובלה</a:t>
            </a:r>
            <a:r>
              <a:rPr lang="en-US" sz="2400" dirty="0"/>
              <a:t>)*e</a:t>
            </a:r>
            <a:endParaRPr lang="he-IL" sz="2400" dirty="0"/>
          </a:p>
          <a:p>
            <a:pPr marL="342900" indent="-342900" algn="ctr" rtl="0">
              <a:spcBef>
                <a:spcPct val="20000"/>
              </a:spcBef>
            </a:pPr>
            <a:endParaRPr lang="he-IL" sz="2400" dirty="0"/>
          </a:p>
          <a:p>
            <a:pPr marL="342900" indent="-342900" algn="ctr" rtl="0">
              <a:spcBef>
                <a:spcPct val="20000"/>
              </a:spcBef>
            </a:pPr>
            <a:endParaRPr lang="he-IL" sz="2400" dirty="0"/>
          </a:p>
          <a:p>
            <a:pPr marL="342900" indent="-342900" algn="ctr" rtl="0">
              <a:spcBef>
                <a:spcPct val="20000"/>
              </a:spcBef>
            </a:pPr>
            <a:endParaRPr lang="en-IL" sz="2400" dirty="0"/>
          </a:p>
          <a:p>
            <a:pPr marL="342900" lvl="0" indent="-342900">
              <a:spcBef>
                <a:spcPct val="20000"/>
              </a:spcBef>
            </a:pPr>
            <a:endParaRPr lang="he-IL" sz="2200" dirty="0">
              <a:solidFill>
                <a:prstClr val="black"/>
              </a:solidFill>
            </a:endParaRPr>
          </a:p>
        </p:txBody>
      </p:sp>
      <p:sp>
        <p:nvSpPr>
          <p:cNvPr id="7" name="מציין מיקום תוכן 6">
            <a:extLst>
              <a:ext uri="{FF2B5EF4-FFF2-40B4-BE49-F238E27FC236}">
                <a16:creationId xmlns:a16="http://schemas.microsoft.com/office/drawing/2014/main" id="{E135567E-3261-AF5A-0B0C-8C24195D9500}"/>
              </a:ext>
            </a:extLst>
          </p:cNvPr>
          <p:cNvSpPr txBox="1">
            <a:spLocks/>
          </p:cNvSpPr>
          <p:nvPr/>
        </p:nvSpPr>
        <p:spPr>
          <a:xfrm>
            <a:off x="755467" y="4237397"/>
            <a:ext cx="4336357" cy="2468203"/>
          </a:xfrm>
          <a:prstGeom prst="rect">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1">
            <a:noAutofit/>
          </a:bodyPr>
          <a:lstStyle/>
          <a:p>
            <a:pPr marL="342900" lvl="0" indent="-342900" algn="r" rtl="1">
              <a:spcBef>
                <a:spcPct val="20000"/>
              </a:spcBef>
            </a:pPr>
            <a:r>
              <a:rPr lang="he-IL" sz="1600" dirty="0">
                <a:solidFill>
                  <a:prstClr val="black"/>
                </a:solidFill>
              </a:rPr>
              <a:t>המחיר העולמי</a:t>
            </a:r>
            <a:r>
              <a:rPr lang="he-IL" sz="1600" b="1" dirty="0">
                <a:solidFill>
                  <a:prstClr val="black"/>
                </a:solidFill>
              </a:rPr>
              <a:t> </a:t>
            </a:r>
            <a:r>
              <a:rPr lang="he-IL" sz="1600" b="1" i="1" dirty="0">
                <a:solidFill>
                  <a:prstClr val="black"/>
                </a:solidFill>
              </a:rPr>
              <a:t>+ </a:t>
            </a:r>
            <a:r>
              <a:rPr lang="he-IL" sz="1600" dirty="0">
                <a:solidFill>
                  <a:prstClr val="black"/>
                </a:solidFill>
              </a:rPr>
              <a:t>עלויות ההובלה</a:t>
            </a:r>
            <a:endParaRPr lang="he-IL" sz="2000" dirty="0">
              <a:solidFill>
                <a:prstClr val="black"/>
              </a:solidFill>
            </a:endParaRPr>
          </a:p>
        </p:txBody>
      </p:sp>
      <p:sp>
        <p:nvSpPr>
          <p:cNvPr id="8" name="TextBox 7">
            <a:extLst>
              <a:ext uri="{FF2B5EF4-FFF2-40B4-BE49-F238E27FC236}">
                <a16:creationId xmlns:a16="http://schemas.microsoft.com/office/drawing/2014/main" id="{59051BC3-DDF3-6A2B-A66D-F20ABF860BFF}"/>
              </a:ext>
            </a:extLst>
          </p:cNvPr>
          <p:cNvSpPr txBox="1"/>
          <p:nvPr/>
        </p:nvSpPr>
        <p:spPr>
          <a:xfrm>
            <a:off x="1450024" y="4797152"/>
            <a:ext cx="3121976" cy="369332"/>
          </a:xfrm>
          <a:prstGeom prst="rect">
            <a:avLst/>
          </a:prstGeom>
          <a:solidFill>
            <a:schemeClr val="accent3">
              <a:lumMod val="20000"/>
              <a:lumOff val="80000"/>
            </a:schemeClr>
          </a:solidFill>
        </p:spPr>
        <p:txBody>
          <a:bodyPr wrap="square" rtlCol="0">
            <a:spAutoFit/>
          </a:bodyPr>
          <a:lstStyle/>
          <a:p>
            <a:pPr algn="ctr"/>
            <a:r>
              <a:rPr lang="en-US" dirty="0"/>
              <a:t>Pw= (P$</a:t>
            </a:r>
            <a:r>
              <a:rPr lang="en-US" dirty="0">
                <a:highlight>
                  <a:srgbClr val="FFFF00"/>
                </a:highlight>
              </a:rPr>
              <a:t>+</a:t>
            </a:r>
            <a:r>
              <a:rPr lang="he-IL" dirty="0"/>
              <a:t>עלות הובלה</a:t>
            </a:r>
            <a:r>
              <a:rPr lang="en-US" dirty="0"/>
              <a:t>)*e</a:t>
            </a:r>
            <a:endParaRPr lang="en-IL" dirty="0"/>
          </a:p>
        </p:txBody>
      </p:sp>
      <p:sp>
        <p:nvSpPr>
          <p:cNvPr id="10" name="TextBox 9">
            <a:extLst>
              <a:ext uri="{FF2B5EF4-FFF2-40B4-BE49-F238E27FC236}">
                <a16:creationId xmlns:a16="http://schemas.microsoft.com/office/drawing/2014/main" id="{AE95DD99-6385-71EA-FBBC-B2E9B2212AD5}"/>
              </a:ext>
            </a:extLst>
          </p:cNvPr>
          <p:cNvSpPr txBox="1"/>
          <p:nvPr/>
        </p:nvSpPr>
        <p:spPr>
          <a:xfrm>
            <a:off x="914400" y="5259166"/>
            <a:ext cx="3929963" cy="1077218"/>
          </a:xfrm>
          <a:prstGeom prst="rect">
            <a:avLst/>
          </a:prstGeom>
          <a:noFill/>
        </p:spPr>
        <p:txBody>
          <a:bodyPr wrap="square">
            <a:spAutoFit/>
          </a:bodyPr>
          <a:lstStyle/>
          <a:p>
            <a:pPr algn="r" rtl="1"/>
            <a:r>
              <a:rPr lang="he-IL" sz="1600" dirty="0"/>
              <a:t>במקרה</a:t>
            </a:r>
            <a:r>
              <a:rPr lang="he-IL" sz="1600" baseline="0" dirty="0"/>
              <a:t> של ייבוא, המחיר העולמי שהצרכנים/המייבאים רואים הוא מחיר עולמי מקורי </a:t>
            </a:r>
            <a:r>
              <a:rPr lang="he-IL" sz="1600" b="1" baseline="0" dirty="0"/>
              <a:t>בתוספת עלויות הובלה</a:t>
            </a:r>
            <a:r>
              <a:rPr lang="he-IL" sz="1600" baseline="0" dirty="0"/>
              <a:t>, שכן בחו''ל המוכרים לא יספגו עלויות נלוות למוצר. </a:t>
            </a:r>
            <a:endParaRPr lang="he-IL" sz="1600" dirty="0"/>
          </a:p>
        </p:txBody>
      </p:sp>
      <p:sp>
        <p:nvSpPr>
          <p:cNvPr id="11" name="TextBox 10">
            <a:extLst>
              <a:ext uri="{FF2B5EF4-FFF2-40B4-BE49-F238E27FC236}">
                <a16:creationId xmlns:a16="http://schemas.microsoft.com/office/drawing/2014/main" id="{67CA642F-1481-9DD3-2756-DDE52331024B}"/>
              </a:ext>
            </a:extLst>
          </p:cNvPr>
          <p:cNvSpPr txBox="1"/>
          <p:nvPr/>
        </p:nvSpPr>
        <p:spPr>
          <a:xfrm>
            <a:off x="532082" y="2394843"/>
            <a:ext cx="4470869" cy="1323439"/>
          </a:xfrm>
          <a:prstGeom prst="rect">
            <a:avLst/>
          </a:prstGeom>
          <a:noFill/>
        </p:spPr>
        <p:txBody>
          <a:bodyPr wrap="square">
            <a:spAutoFit/>
          </a:bodyPr>
          <a:lstStyle/>
          <a:p>
            <a:pPr algn="r" rtl="1"/>
            <a:r>
              <a:rPr lang="he-IL" sz="1600" dirty="0"/>
              <a:t>במקרה</a:t>
            </a:r>
            <a:r>
              <a:rPr lang="he-IL" sz="1600" baseline="0" dirty="0"/>
              <a:t> של יי</a:t>
            </a:r>
            <a:r>
              <a:rPr lang="he-IL" sz="1600" dirty="0"/>
              <a:t>צ</a:t>
            </a:r>
            <a:r>
              <a:rPr lang="he-IL" sz="1600" baseline="0" dirty="0"/>
              <a:t>וא, המחיר העולמי </a:t>
            </a:r>
            <a:r>
              <a:rPr lang="he-IL" sz="1600" dirty="0"/>
              <a:t>שהיצרנים המייצאים </a:t>
            </a:r>
            <a:r>
              <a:rPr lang="he-IL" sz="1600" baseline="0" dirty="0"/>
              <a:t>רואים הוא מחיר עולמי מקורי </a:t>
            </a:r>
            <a:r>
              <a:rPr lang="he-IL" sz="1600" b="1" dirty="0"/>
              <a:t>אחרי ניכוי</a:t>
            </a:r>
            <a:r>
              <a:rPr lang="he-IL" sz="1600" b="1" baseline="0" dirty="0"/>
              <a:t> עלויות הובלה</a:t>
            </a:r>
            <a:r>
              <a:rPr lang="he-IL" sz="1600" baseline="0" dirty="0"/>
              <a:t>, שכן בחו''ל הקונים (צרכני חו''ל) לא יספגו עלויות נלוות למוצר בעת רכישת המוצר מהמשק הקטן שלנו.</a:t>
            </a:r>
            <a:endParaRPr lang="he-IL" sz="1600" dirty="0"/>
          </a:p>
        </p:txBody>
      </p:sp>
    </p:spTree>
    <p:extLst>
      <p:ext uri="{BB962C8B-B14F-4D97-AF65-F5344CB8AC3E}">
        <p14:creationId xmlns:p14="http://schemas.microsoft.com/office/powerpoint/2010/main" val="297972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מחבר ישר 21"/>
          <p:cNvCxnSpPr>
            <a:cxnSpLocks/>
          </p:cNvCxnSpPr>
          <p:nvPr/>
        </p:nvCxnSpPr>
        <p:spPr>
          <a:xfrm>
            <a:off x="1227147" y="5069228"/>
            <a:ext cx="3344853"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6948264" y="3473"/>
            <a:ext cx="2195736" cy="1143000"/>
          </a:xfrm>
        </p:spPr>
        <p:txBody>
          <a:bodyPr/>
          <a:lstStyle/>
          <a:p>
            <a:pPr algn="r"/>
            <a:r>
              <a:rPr lang="he-IL" b="1" dirty="0">
                <a:solidFill>
                  <a:schemeClr val="tx2">
                    <a:lumMod val="75000"/>
                  </a:schemeClr>
                </a:solidFill>
              </a:rPr>
              <a:t>שאלה 1</a:t>
            </a:r>
            <a:endParaRPr lang="he-IL" dirty="0"/>
          </a:p>
        </p:txBody>
      </p:sp>
      <p:grpSp>
        <p:nvGrpSpPr>
          <p:cNvPr id="6" name="קבוצה 5"/>
          <p:cNvGrpSpPr/>
          <p:nvPr/>
        </p:nvGrpSpPr>
        <p:grpSpPr>
          <a:xfrm>
            <a:off x="1212008" y="2682313"/>
            <a:ext cx="3823468" cy="3143272"/>
            <a:chOff x="713554" y="2786852"/>
            <a:chExt cx="3823468" cy="3143272"/>
          </a:xfrm>
        </p:grpSpPr>
        <p:cxnSp>
          <p:nvCxnSpPr>
            <p:cNvPr id="7" name="מחבר חץ ישר 6"/>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מחבר חץ ישר 7"/>
            <p:cNvCxnSpPr>
              <a:cxnSpLocks/>
            </p:cNvCxnSpPr>
            <p:nvPr/>
          </p:nvCxnSpPr>
          <p:spPr>
            <a:xfrm>
              <a:off x="714348" y="5929330"/>
              <a:ext cx="382267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9" name="מחבר ישר 8"/>
          <p:cNvCxnSpPr>
            <a:cxnSpLocks/>
          </p:cNvCxnSpPr>
          <p:nvPr/>
        </p:nvCxnSpPr>
        <p:spPr>
          <a:xfrm flipV="1">
            <a:off x="939159" y="6827305"/>
            <a:ext cx="3311799" cy="629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מחבר ישר 9"/>
          <p:cNvCxnSpPr/>
          <p:nvPr/>
        </p:nvCxnSpPr>
        <p:spPr>
          <a:xfrm flipV="1">
            <a:off x="1714480" y="3357562"/>
            <a:ext cx="2644362" cy="20717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947816" y="300945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a:off x="4132322" y="4758899"/>
            <a:ext cx="83869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עולמי </a:t>
            </a: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sp>
        <p:nvSpPr>
          <p:cNvPr id="16" name="TextBox 15"/>
          <p:cNvSpPr txBox="1"/>
          <p:nvPr/>
        </p:nvSpPr>
        <p:spPr>
          <a:xfrm>
            <a:off x="929818" y="2357430"/>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15" name="מחבר ישר 14"/>
          <p:cNvCxnSpPr>
            <a:cxnSpLocks/>
          </p:cNvCxnSpPr>
          <p:nvPr/>
        </p:nvCxnSpPr>
        <p:spPr>
          <a:xfrm flipH="1">
            <a:off x="2194733" y="5059784"/>
            <a:ext cx="21402" cy="7981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022531" y="5848102"/>
            <a:ext cx="36580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X</a:t>
            </a:r>
            <a:r>
              <a:rPr kumimoji="0" lang="en-US" sz="1800" b="0" i="0" u="none" strike="noStrike" kern="1200" cap="none" spc="0" normalizeH="0" baseline="30000" noProof="0" dirty="0" err="1">
                <a:ln>
                  <a:noFill/>
                </a:ln>
                <a:solidFill>
                  <a:srgbClr val="FF0000"/>
                </a:solidFill>
                <a:effectLst/>
                <a:uLnTx/>
                <a:uFillTx/>
                <a:latin typeface="Calibri" panose="020F0502020204030204"/>
                <a:ea typeface="+mn-ea"/>
                <a:cs typeface="+mn-cs"/>
              </a:rPr>
              <a:t>s</a:t>
            </a:r>
            <a:endParaRPr kumimoji="0" lang="he-IL" sz="1800" b="0" i="0" u="none" strike="noStrike" kern="1200" cap="none" spc="0" normalizeH="0" baseline="30000" noProof="0" dirty="0">
              <a:ln>
                <a:noFill/>
              </a:ln>
              <a:solidFill>
                <a:srgbClr val="FF0000"/>
              </a:solidFill>
              <a:effectLst/>
              <a:uLnTx/>
              <a:uFillTx/>
              <a:latin typeface="Calibri" panose="020F0502020204030204"/>
              <a:ea typeface="+mn-ea"/>
              <a:cs typeface="Arial" panose="020B0604020202020204" pitchFamily="34" charset="0"/>
            </a:endParaRPr>
          </a:p>
        </p:txBody>
      </p:sp>
      <p:sp>
        <p:nvSpPr>
          <p:cNvPr id="23" name="TextBox 22"/>
          <p:cNvSpPr txBox="1"/>
          <p:nvPr/>
        </p:nvSpPr>
        <p:spPr>
          <a:xfrm>
            <a:off x="682931" y="4855261"/>
            <a:ext cx="468398"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Pw</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0"/>
          <p:cNvCxnSpPr>
            <a:cxnSpLocks/>
            <a:endCxn id="30" idx="1"/>
          </p:cNvCxnSpPr>
          <p:nvPr/>
        </p:nvCxnSpPr>
        <p:spPr>
          <a:xfrm>
            <a:off x="1212008" y="5059784"/>
            <a:ext cx="2475927" cy="2108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מחבר ישר 23"/>
          <p:cNvCxnSpPr>
            <a:cxnSpLocks/>
          </p:cNvCxnSpPr>
          <p:nvPr/>
        </p:nvCxnSpPr>
        <p:spPr>
          <a:xfrm>
            <a:off x="1495786" y="3153197"/>
            <a:ext cx="2750369" cy="2399244"/>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מחבר ישר 25"/>
          <p:cNvCxnSpPr>
            <a:cxnSpLocks/>
          </p:cNvCxnSpPr>
          <p:nvPr/>
        </p:nvCxnSpPr>
        <p:spPr>
          <a:xfrm flipH="1">
            <a:off x="3738847" y="5080260"/>
            <a:ext cx="25382" cy="7445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569496" y="5786454"/>
            <a:ext cx="389466"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7030A0"/>
                </a:solidFill>
                <a:effectLst/>
                <a:uLnTx/>
                <a:uFillTx/>
                <a:latin typeface="Calibri" panose="020F0502020204030204"/>
                <a:ea typeface="+mn-ea"/>
                <a:cs typeface="+mn-cs"/>
              </a:rPr>
              <a:t>X</a:t>
            </a:r>
            <a:r>
              <a:rPr kumimoji="0" lang="en-US" sz="1800" b="1" i="0" u="none" strike="noStrike" kern="1200" cap="none" spc="0" normalizeH="0" baseline="30000" noProof="0" dirty="0" err="1">
                <a:ln>
                  <a:noFill/>
                </a:ln>
                <a:solidFill>
                  <a:srgbClr val="7030A0"/>
                </a:solidFill>
                <a:effectLst/>
                <a:uLnTx/>
                <a:uFillTx/>
                <a:latin typeface="Calibri" panose="020F0502020204030204"/>
                <a:ea typeface="+mn-ea"/>
                <a:cs typeface="+mn-cs"/>
              </a:rPr>
              <a:t>d</a:t>
            </a:r>
            <a:endParaRPr kumimoji="0" lang="he-IL" sz="1800" b="1" i="0" u="none" strike="noStrike" kern="1200" cap="none" spc="0" normalizeH="0" baseline="30000" noProof="0" dirty="0">
              <a:ln>
                <a:noFill/>
              </a:ln>
              <a:solidFill>
                <a:srgbClr val="7030A0"/>
              </a:solidFill>
              <a:effectLst/>
              <a:uLnTx/>
              <a:uFillTx/>
              <a:latin typeface="Calibri" panose="020F0502020204030204"/>
              <a:ea typeface="+mn-ea"/>
              <a:cs typeface="Arial" panose="020B0604020202020204" pitchFamily="34" charset="0"/>
            </a:endParaRPr>
          </a:p>
        </p:txBody>
      </p:sp>
      <p:sp>
        <p:nvSpPr>
          <p:cNvPr id="28" name="TextBox 27"/>
          <p:cNvSpPr txBox="1"/>
          <p:nvPr/>
        </p:nvSpPr>
        <p:spPr>
          <a:xfrm>
            <a:off x="4321973" y="5429264"/>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9" name="אליפסה 28"/>
          <p:cNvSpPr/>
          <p:nvPr/>
        </p:nvSpPr>
        <p:spPr>
          <a:xfrm>
            <a:off x="2122733" y="5039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אליפסה 29"/>
          <p:cNvSpPr/>
          <p:nvPr/>
        </p:nvSpPr>
        <p:spPr>
          <a:xfrm>
            <a:off x="3666847" y="50597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מציין מיקום תוכן 2">
            <a:extLst>
              <a:ext uri="{FF2B5EF4-FFF2-40B4-BE49-F238E27FC236}">
                <a16:creationId xmlns:a16="http://schemas.microsoft.com/office/drawing/2014/main" id="{2AF888C4-B1A0-47E4-A233-C49DB53123E8}"/>
              </a:ext>
            </a:extLst>
          </p:cNvPr>
          <p:cNvSpPr txBox="1">
            <a:spLocks/>
          </p:cNvSpPr>
          <p:nvPr/>
        </p:nvSpPr>
        <p:spPr>
          <a:xfrm>
            <a:off x="4754689" y="3681216"/>
            <a:ext cx="4300854" cy="1466184"/>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r>
              <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3" name="TextBox 32">
            <a:extLst>
              <a:ext uri="{FF2B5EF4-FFF2-40B4-BE49-F238E27FC236}">
                <a16:creationId xmlns:a16="http://schemas.microsoft.com/office/drawing/2014/main" id="{963751C2-04CE-43B1-803B-8FCB6F906FBD}"/>
              </a:ext>
            </a:extLst>
          </p:cNvPr>
          <p:cNvSpPr txBox="1"/>
          <p:nvPr/>
        </p:nvSpPr>
        <p:spPr>
          <a:xfrm>
            <a:off x="2175253" y="293584"/>
            <a:ext cx="4699320"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פתוח ידוע כי הצרכנים המקומיים קונים את המוצר הן מייצור מקומי והן מ</a:t>
            </a:r>
            <a:r>
              <a:rPr kumimoji="0" lang="he-IL"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Arial" panose="020B0604020202020204" pitchFamily="34" charset="0"/>
              </a:rPr>
              <a:t>ייבוא</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מחו''ל. </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C9900FC5-3C4F-43F3-8FA9-1EF4519A548A}"/>
              </a:ext>
            </a:extLst>
          </p:cNvPr>
          <p:cNvSpPr txBox="1"/>
          <p:nvPr/>
        </p:nvSpPr>
        <p:spPr>
          <a:xfrm>
            <a:off x="1212008" y="1049931"/>
            <a:ext cx="7493552"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חל שינוי כלשהו שגרם לכמות המבוקשת של הצרכנים המקומיים לקטון.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מהשינויים הבאים </a:t>
            </a:r>
            <a:r>
              <a:rPr kumimoji="0" lang="he-IL" sz="1800" b="1" i="0" u="sng"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יכול להסביר זאת?</a:t>
            </a:r>
          </a:p>
        </p:txBody>
      </p:sp>
      <p:sp>
        <p:nvSpPr>
          <p:cNvPr id="37" name="TextBox 36">
            <a:extLst>
              <a:ext uri="{FF2B5EF4-FFF2-40B4-BE49-F238E27FC236}">
                <a16:creationId xmlns:a16="http://schemas.microsoft.com/office/drawing/2014/main" id="{11F261ED-1DAE-4B86-8A53-DB11E9463E90}"/>
              </a:ext>
            </a:extLst>
          </p:cNvPr>
          <p:cNvSpPr txBox="1"/>
          <p:nvPr/>
        </p:nvSpPr>
        <p:spPr>
          <a:xfrm>
            <a:off x="4321642" y="2089764"/>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הוטל מכס על כל יחידה מיובאת.</a:t>
            </a:r>
          </a:p>
        </p:txBody>
      </p:sp>
      <p:sp>
        <p:nvSpPr>
          <p:cNvPr id="39" name="TextBox 38">
            <a:extLst>
              <a:ext uri="{FF2B5EF4-FFF2-40B4-BE49-F238E27FC236}">
                <a16:creationId xmlns:a16="http://schemas.microsoft.com/office/drawing/2014/main" id="{5EAC3E52-F771-411C-B6E0-776254917FEA}"/>
              </a:ext>
            </a:extLst>
          </p:cNvPr>
          <p:cNvSpPr txBox="1"/>
          <p:nvPr/>
        </p:nvSpPr>
        <p:spPr>
          <a:xfrm>
            <a:off x="4321642" y="2600134"/>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מחיר חו''ל עלה. </a:t>
            </a:r>
          </a:p>
        </p:txBody>
      </p:sp>
      <p:sp>
        <p:nvSpPr>
          <p:cNvPr id="41" name="TextBox 40">
            <a:extLst>
              <a:ext uri="{FF2B5EF4-FFF2-40B4-BE49-F238E27FC236}">
                <a16:creationId xmlns:a16="http://schemas.microsoft.com/office/drawing/2014/main" id="{6BA590DE-7732-4D70-9917-10CCEFE570CA}"/>
              </a:ext>
            </a:extLst>
          </p:cNvPr>
          <p:cNvSpPr txBox="1"/>
          <p:nvPr/>
        </p:nvSpPr>
        <p:spPr>
          <a:xfrm>
            <a:off x="4572000" y="3202041"/>
            <a:ext cx="4439797"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חלה הוזלה בעלות ההובלה לכל יחידה מיובאת</a:t>
            </a:r>
          </a:p>
        </p:txBody>
      </p:sp>
      <p:sp>
        <p:nvSpPr>
          <p:cNvPr id="42" name="TextBox 41">
            <a:extLst>
              <a:ext uri="{FF2B5EF4-FFF2-40B4-BE49-F238E27FC236}">
                <a16:creationId xmlns:a16="http://schemas.microsoft.com/office/drawing/2014/main" id="{0F3831A7-D1C6-4CF9-8C8A-C9D568D6CBC8}"/>
              </a:ext>
            </a:extLst>
          </p:cNvPr>
          <p:cNvSpPr txBox="1"/>
          <p:nvPr/>
        </p:nvSpPr>
        <p:spPr>
          <a:xfrm>
            <a:off x="5608621" y="3822254"/>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הכנסות הצרכנים עלו. </a:t>
            </a:r>
          </a:p>
        </p:txBody>
      </p:sp>
      <p:sp>
        <p:nvSpPr>
          <p:cNvPr id="46" name="TextBox 45">
            <a:extLst>
              <a:ext uri="{FF2B5EF4-FFF2-40B4-BE49-F238E27FC236}">
                <a16:creationId xmlns:a16="http://schemas.microsoft.com/office/drawing/2014/main" id="{77B59341-8ECA-4336-99FF-0ACA21C0AFEE}"/>
              </a:ext>
            </a:extLst>
          </p:cNvPr>
          <p:cNvSpPr txBox="1"/>
          <p:nvPr/>
        </p:nvSpPr>
        <p:spPr>
          <a:xfrm>
            <a:off x="5608621" y="4400634"/>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מחירו של מוצר תחליפי ירד.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מחבר ישר 21"/>
          <p:cNvCxnSpPr>
            <a:cxnSpLocks/>
          </p:cNvCxnSpPr>
          <p:nvPr/>
        </p:nvCxnSpPr>
        <p:spPr>
          <a:xfrm>
            <a:off x="1227147" y="5069228"/>
            <a:ext cx="3344853"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6948264" y="3473"/>
            <a:ext cx="2195736" cy="1143000"/>
          </a:xfrm>
        </p:spPr>
        <p:txBody>
          <a:bodyPr/>
          <a:lstStyle/>
          <a:p>
            <a:pPr algn="r"/>
            <a:r>
              <a:rPr lang="he-IL" b="1" dirty="0">
                <a:solidFill>
                  <a:schemeClr val="tx2">
                    <a:lumMod val="75000"/>
                  </a:schemeClr>
                </a:solidFill>
              </a:rPr>
              <a:t>שאלה 1</a:t>
            </a:r>
            <a:endParaRPr lang="he-IL" dirty="0"/>
          </a:p>
        </p:txBody>
      </p:sp>
      <p:grpSp>
        <p:nvGrpSpPr>
          <p:cNvPr id="6" name="קבוצה 5"/>
          <p:cNvGrpSpPr/>
          <p:nvPr/>
        </p:nvGrpSpPr>
        <p:grpSpPr>
          <a:xfrm>
            <a:off x="1212008" y="2682313"/>
            <a:ext cx="3823468" cy="3143272"/>
            <a:chOff x="713554" y="2786852"/>
            <a:chExt cx="3823468" cy="3143272"/>
          </a:xfrm>
        </p:grpSpPr>
        <p:cxnSp>
          <p:nvCxnSpPr>
            <p:cNvPr id="7" name="מחבר חץ ישר 6"/>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מחבר חץ ישר 7"/>
            <p:cNvCxnSpPr>
              <a:cxnSpLocks/>
            </p:cNvCxnSpPr>
            <p:nvPr/>
          </p:nvCxnSpPr>
          <p:spPr>
            <a:xfrm>
              <a:off x="714348" y="5929330"/>
              <a:ext cx="382267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9" name="מחבר ישר 8"/>
          <p:cNvCxnSpPr/>
          <p:nvPr/>
        </p:nvCxnSpPr>
        <p:spPr>
          <a:xfrm>
            <a:off x="1571604" y="3214686"/>
            <a:ext cx="2787238" cy="242889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מחבר ישר 9"/>
          <p:cNvCxnSpPr>
            <a:cxnSpLocks/>
          </p:cNvCxnSpPr>
          <p:nvPr/>
        </p:nvCxnSpPr>
        <p:spPr>
          <a:xfrm flipV="1">
            <a:off x="1350970" y="3545433"/>
            <a:ext cx="2781352" cy="22043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054395" y="356007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a:off x="3989655" y="4762452"/>
            <a:ext cx="83869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עולמי </a:t>
            </a: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sp>
        <p:nvSpPr>
          <p:cNvPr id="16" name="TextBox 15"/>
          <p:cNvSpPr txBox="1"/>
          <p:nvPr/>
        </p:nvSpPr>
        <p:spPr>
          <a:xfrm>
            <a:off x="929818" y="2357430"/>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15" name="מחבר ישר 14"/>
          <p:cNvCxnSpPr>
            <a:cxnSpLocks/>
          </p:cNvCxnSpPr>
          <p:nvPr/>
        </p:nvCxnSpPr>
        <p:spPr>
          <a:xfrm flipH="1">
            <a:off x="2194733" y="5059784"/>
            <a:ext cx="21402" cy="7981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033232" y="5871935"/>
            <a:ext cx="36580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X</a:t>
            </a:r>
            <a:r>
              <a:rPr kumimoji="0" lang="en-US" sz="1800" b="0" i="0" u="none" strike="noStrike" kern="1200" cap="none" spc="0" normalizeH="0" baseline="30000" noProof="0" dirty="0" err="1">
                <a:ln>
                  <a:noFill/>
                </a:ln>
                <a:solidFill>
                  <a:srgbClr val="FF0000"/>
                </a:solidFill>
                <a:effectLst/>
                <a:uLnTx/>
                <a:uFillTx/>
                <a:latin typeface="Calibri" panose="020F0502020204030204"/>
                <a:ea typeface="+mn-ea"/>
                <a:cs typeface="+mn-cs"/>
              </a:rPr>
              <a:t>s</a:t>
            </a:r>
            <a:endParaRPr kumimoji="0" lang="he-IL" sz="1800" b="0" i="0" u="none" strike="noStrike" kern="1200" cap="none" spc="0" normalizeH="0" baseline="30000" noProof="0" dirty="0">
              <a:ln>
                <a:noFill/>
              </a:ln>
              <a:solidFill>
                <a:srgbClr val="FF0000"/>
              </a:solidFill>
              <a:effectLst/>
              <a:uLnTx/>
              <a:uFillTx/>
              <a:latin typeface="Calibri" panose="020F0502020204030204"/>
              <a:ea typeface="+mn-ea"/>
              <a:cs typeface="Arial" panose="020B0604020202020204" pitchFamily="34" charset="0"/>
            </a:endParaRPr>
          </a:p>
        </p:txBody>
      </p:sp>
      <p:sp>
        <p:nvSpPr>
          <p:cNvPr id="23" name="TextBox 22"/>
          <p:cNvSpPr txBox="1"/>
          <p:nvPr/>
        </p:nvSpPr>
        <p:spPr>
          <a:xfrm>
            <a:off x="674207" y="4846303"/>
            <a:ext cx="559769"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Pw</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0"/>
          <p:cNvCxnSpPr>
            <a:cxnSpLocks/>
            <a:endCxn id="30" idx="2"/>
          </p:cNvCxnSpPr>
          <p:nvPr/>
        </p:nvCxnSpPr>
        <p:spPr>
          <a:xfrm>
            <a:off x="1270845" y="5067138"/>
            <a:ext cx="2396002" cy="185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מחבר ישר 23"/>
          <p:cNvCxnSpPr>
            <a:cxnSpLocks/>
            <a:endCxn id="28" idx="1"/>
          </p:cNvCxnSpPr>
          <p:nvPr/>
        </p:nvCxnSpPr>
        <p:spPr>
          <a:xfrm>
            <a:off x="1571604" y="3214686"/>
            <a:ext cx="2750369" cy="2399244"/>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מחבר ישר 25"/>
          <p:cNvCxnSpPr>
            <a:cxnSpLocks/>
          </p:cNvCxnSpPr>
          <p:nvPr/>
        </p:nvCxnSpPr>
        <p:spPr>
          <a:xfrm flipH="1">
            <a:off x="3738847" y="5080260"/>
            <a:ext cx="25382" cy="71833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439589" y="5825585"/>
            <a:ext cx="423750" cy="55399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7030A0"/>
                </a:solidFill>
                <a:effectLst/>
                <a:uLnTx/>
                <a:uFillTx/>
                <a:latin typeface="Calibri" panose="020F0502020204030204"/>
                <a:ea typeface="+mn-ea"/>
                <a:cs typeface="+mn-cs"/>
              </a:rPr>
              <a:t>X</a:t>
            </a:r>
            <a:r>
              <a:rPr kumimoji="0" lang="en-US" sz="1800" b="1" i="0" u="none" strike="noStrike" kern="1200" cap="none" spc="0" normalizeH="0" baseline="30000" noProof="0" dirty="0" err="1">
                <a:ln>
                  <a:noFill/>
                </a:ln>
                <a:solidFill>
                  <a:srgbClr val="7030A0"/>
                </a:solidFill>
                <a:effectLst/>
                <a:uLnTx/>
                <a:uFillTx/>
                <a:latin typeface="Calibri" panose="020F0502020204030204"/>
                <a:ea typeface="+mn-ea"/>
                <a:cs typeface="+mn-cs"/>
              </a:rPr>
              <a:t>d</a:t>
            </a:r>
            <a:r>
              <a:rPr kumimoji="0" lang="he-IL" sz="1800" b="1" i="0" u="none" strike="noStrike" kern="1200" cap="none" spc="0" normalizeH="0" baseline="30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28" name="TextBox 27"/>
          <p:cNvSpPr txBox="1"/>
          <p:nvPr/>
        </p:nvSpPr>
        <p:spPr>
          <a:xfrm>
            <a:off x="4321973" y="5429264"/>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9" name="אליפסה 28"/>
          <p:cNvSpPr/>
          <p:nvPr/>
        </p:nvSpPr>
        <p:spPr>
          <a:xfrm>
            <a:off x="2122733" y="50399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אליפסה 29"/>
          <p:cNvSpPr/>
          <p:nvPr/>
        </p:nvSpPr>
        <p:spPr>
          <a:xfrm>
            <a:off x="3666847" y="50137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מציין מיקום תוכן 2">
            <a:extLst>
              <a:ext uri="{FF2B5EF4-FFF2-40B4-BE49-F238E27FC236}">
                <a16:creationId xmlns:a16="http://schemas.microsoft.com/office/drawing/2014/main" id="{2AF888C4-B1A0-47E4-A233-C49DB53123E8}"/>
              </a:ext>
            </a:extLst>
          </p:cNvPr>
          <p:cNvSpPr txBox="1">
            <a:spLocks/>
          </p:cNvSpPr>
          <p:nvPr/>
        </p:nvSpPr>
        <p:spPr>
          <a:xfrm>
            <a:off x="4754689" y="3681216"/>
            <a:ext cx="4300854" cy="1466184"/>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r>
              <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3" name="TextBox 32">
            <a:extLst>
              <a:ext uri="{FF2B5EF4-FFF2-40B4-BE49-F238E27FC236}">
                <a16:creationId xmlns:a16="http://schemas.microsoft.com/office/drawing/2014/main" id="{963751C2-04CE-43B1-803B-8FCB6F906FBD}"/>
              </a:ext>
            </a:extLst>
          </p:cNvPr>
          <p:cNvSpPr txBox="1"/>
          <p:nvPr/>
        </p:nvSpPr>
        <p:spPr>
          <a:xfrm>
            <a:off x="2175253" y="293584"/>
            <a:ext cx="4699320"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פתוח ידוע כי הצרכנים המקומיים קונים את המוצר הן מייצור מקומי והן מ</a:t>
            </a:r>
            <a:r>
              <a:rPr kumimoji="0" lang="he-IL"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Arial" panose="020B0604020202020204" pitchFamily="34" charset="0"/>
              </a:rPr>
              <a:t>ייבוא</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מחו''ל. </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C9900FC5-3C4F-43F3-8FA9-1EF4519A548A}"/>
              </a:ext>
            </a:extLst>
          </p:cNvPr>
          <p:cNvSpPr txBox="1"/>
          <p:nvPr/>
        </p:nvSpPr>
        <p:spPr>
          <a:xfrm>
            <a:off x="1212008" y="1049931"/>
            <a:ext cx="7493552"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חל שינוי כלשהו שגרם לכמות המבוקשת של הצרכנים המקומיים לקטון.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מהשינויים הבאים </a:t>
            </a:r>
            <a:r>
              <a:rPr kumimoji="0" lang="he-IL" sz="1800" b="1" i="0" u="sng"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יכול להסביר זאת?</a:t>
            </a:r>
          </a:p>
        </p:txBody>
      </p:sp>
      <p:sp>
        <p:nvSpPr>
          <p:cNvPr id="37" name="TextBox 36">
            <a:extLst>
              <a:ext uri="{FF2B5EF4-FFF2-40B4-BE49-F238E27FC236}">
                <a16:creationId xmlns:a16="http://schemas.microsoft.com/office/drawing/2014/main" id="{11F261ED-1DAE-4B86-8A53-DB11E9463E90}"/>
              </a:ext>
            </a:extLst>
          </p:cNvPr>
          <p:cNvSpPr txBox="1"/>
          <p:nvPr/>
        </p:nvSpPr>
        <p:spPr>
          <a:xfrm>
            <a:off x="4321642" y="2089764"/>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הוטל מכס על כל יחידה מיובאת.</a:t>
            </a:r>
          </a:p>
        </p:txBody>
      </p:sp>
      <p:sp>
        <p:nvSpPr>
          <p:cNvPr id="39" name="TextBox 38">
            <a:extLst>
              <a:ext uri="{FF2B5EF4-FFF2-40B4-BE49-F238E27FC236}">
                <a16:creationId xmlns:a16="http://schemas.microsoft.com/office/drawing/2014/main" id="{5EAC3E52-F771-411C-B6E0-776254917FEA}"/>
              </a:ext>
            </a:extLst>
          </p:cNvPr>
          <p:cNvSpPr txBox="1"/>
          <p:nvPr/>
        </p:nvSpPr>
        <p:spPr>
          <a:xfrm>
            <a:off x="4321642" y="2600134"/>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מחיר חו''ל עלה. </a:t>
            </a:r>
          </a:p>
        </p:txBody>
      </p:sp>
      <p:sp>
        <p:nvSpPr>
          <p:cNvPr id="41" name="TextBox 40">
            <a:extLst>
              <a:ext uri="{FF2B5EF4-FFF2-40B4-BE49-F238E27FC236}">
                <a16:creationId xmlns:a16="http://schemas.microsoft.com/office/drawing/2014/main" id="{6BA590DE-7732-4D70-9917-10CCEFE570CA}"/>
              </a:ext>
            </a:extLst>
          </p:cNvPr>
          <p:cNvSpPr txBox="1"/>
          <p:nvPr/>
        </p:nvSpPr>
        <p:spPr>
          <a:xfrm>
            <a:off x="4420947" y="3206164"/>
            <a:ext cx="458839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חלה הוזלה בעלות ההובלה לכל יחידה מיובאת</a:t>
            </a:r>
          </a:p>
        </p:txBody>
      </p:sp>
      <p:sp>
        <p:nvSpPr>
          <p:cNvPr id="42" name="TextBox 41">
            <a:extLst>
              <a:ext uri="{FF2B5EF4-FFF2-40B4-BE49-F238E27FC236}">
                <a16:creationId xmlns:a16="http://schemas.microsoft.com/office/drawing/2014/main" id="{0F3831A7-D1C6-4CF9-8C8A-C9D568D6CBC8}"/>
              </a:ext>
            </a:extLst>
          </p:cNvPr>
          <p:cNvSpPr txBox="1"/>
          <p:nvPr/>
        </p:nvSpPr>
        <p:spPr>
          <a:xfrm>
            <a:off x="5608621" y="3822254"/>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הכנסות הצרכנים עלו. </a:t>
            </a:r>
          </a:p>
        </p:txBody>
      </p:sp>
      <p:sp>
        <p:nvSpPr>
          <p:cNvPr id="46" name="TextBox 45">
            <a:extLst>
              <a:ext uri="{FF2B5EF4-FFF2-40B4-BE49-F238E27FC236}">
                <a16:creationId xmlns:a16="http://schemas.microsoft.com/office/drawing/2014/main" id="{77B59341-8ECA-4336-99FF-0ACA21C0AFEE}"/>
              </a:ext>
            </a:extLst>
          </p:cNvPr>
          <p:cNvSpPr txBox="1"/>
          <p:nvPr/>
        </p:nvSpPr>
        <p:spPr>
          <a:xfrm>
            <a:off x="5608621" y="4400634"/>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מחירו של מוצר תחליפי ירד. </a:t>
            </a:r>
          </a:p>
        </p:txBody>
      </p:sp>
      <p:sp>
        <p:nvSpPr>
          <p:cNvPr id="3" name="Rectangle 2">
            <a:extLst>
              <a:ext uri="{FF2B5EF4-FFF2-40B4-BE49-F238E27FC236}">
                <a16:creationId xmlns:a16="http://schemas.microsoft.com/office/drawing/2014/main" id="{2EBD42B2-3F55-4D1D-9831-B9607314667B}"/>
              </a:ext>
            </a:extLst>
          </p:cNvPr>
          <p:cNvSpPr/>
          <p:nvPr/>
        </p:nvSpPr>
        <p:spPr>
          <a:xfrm>
            <a:off x="3863339" y="3262591"/>
            <a:ext cx="5192203" cy="3280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2" name="מחבר ישר 20">
            <a:extLst>
              <a:ext uri="{FF2B5EF4-FFF2-40B4-BE49-F238E27FC236}">
                <a16:creationId xmlns:a16="http://schemas.microsoft.com/office/drawing/2014/main" id="{631BF6FE-7F5F-47ED-8F9B-AE9962BE3736}"/>
              </a:ext>
            </a:extLst>
          </p:cNvPr>
          <p:cNvCxnSpPr>
            <a:cxnSpLocks/>
          </p:cNvCxnSpPr>
          <p:nvPr/>
        </p:nvCxnSpPr>
        <p:spPr>
          <a:xfrm>
            <a:off x="1227147" y="5321937"/>
            <a:ext cx="2775419" cy="933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2EE8E7D-DBFC-48D7-B32D-BA1454C89D3C}"/>
              </a:ext>
            </a:extLst>
          </p:cNvPr>
          <p:cNvSpPr txBox="1"/>
          <p:nvPr/>
        </p:nvSpPr>
        <p:spPr>
          <a:xfrm>
            <a:off x="659364" y="5151278"/>
            <a:ext cx="567783"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1</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Pw</a:t>
            </a:r>
            <a:endParaRPr kumimoji="0" lang="he-IL" sz="1800" b="0"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endParaRPr>
          </a:p>
        </p:txBody>
      </p:sp>
      <p:sp>
        <p:nvSpPr>
          <p:cNvPr id="38" name="אליפסה 28">
            <a:extLst>
              <a:ext uri="{FF2B5EF4-FFF2-40B4-BE49-F238E27FC236}">
                <a16:creationId xmlns:a16="http://schemas.microsoft.com/office/drawing/2014/main" id="{C4639DE6-A73D-442E-9140-DAB586A895A5}"/>
              </a:ext>
            </a:extLst>
          </p:cNvPr>
          <p:cNvSpPr/>
          <p:nvPr/>
        </p:nvSpPr>
        <p:spPr>
          <a:xfrm>
            <a:off x="1845753" y="5249937"/>
            <a:ext cx="144000" cy="1440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0" name="אליפסה 29">
            <a:extLst>
              <a:ext uri="{FF2B5EF4-FFF2-40B4-BE49-F238E27FC236}">
                <a16:creationId xmlns:a16="http://schemas.microsoft.com/office/drawing/2014/main" id="{354B39F0-9BD3-4057-9278-B34CCC464B30}"/>
              </a:ext>
            </a:extLst>
          </p:cNvPr>
          <p:cNvSpPr/>
          <p:nvPr/>
        </p:nvSpPr>
        <p:spPr>
          <a:xfrm>
            <a:off x="3946269" y="5249560"/>
            <a:ext cx="144000" cy="1440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cxnSp>
        <p:nvCxnSpPr>
          <p:cNvPr id="43" name="מחבר ישר 25">
            <a:extLst>
              <a:ext uri="{FF2B5EF4-FFF2-40B4-BE49-F238E27FC236}">
                <a16:creationId xmlns:a16="http://schemas.microsoft.com/office/drawing/2014/main" id="{6C1A1135-234A-4EFD-81DF-99487247145B}"/>
              </a:ext>
            </a:extLst>
          </p:cNvPr>
          <p:cNvCxnSpPr>
            <a:cxnSpLocks/>
          </p:cNvCxnSpPr>
          <p:nvPr/>
        </p:nvCxnSpPr>
        <p:spPr>
          <a:xfrm flipH="1">
            <a:off x="4002566" y="5303840"/>
            <a:ext cx="23309" cy="52174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5577AB9-6FA3-4F02-8A4A-A7128DE1C666}"/>
              </a:ext>
            </a:extLst>
          </p:cNvPr>
          <p:cNvSpPr txBox="1"/>
          <p:nvPr/>
        </p:nvSpPr>
        <p:spPr>
          <a:xfrm>
            <a:off x="3872264" y="5825585"/>
            <a:ext cx="444563" cy="55399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7030A0"/>
                </a:solidFill>
                <a:effectLst/>
                <a:uLnTx/>
                <a:uFillTx/>
                <a:latin typeface="Calibri" panose="020F0502020204030204"/>
                <a:ea typeface="+mn-ea"/>
                <a:cs typeface="+mn-cs"/>
              </a:rPr>
              <a:t>X</a:t>
            </a:r>
            <a:r>
              <a:rPr kumimoji="0" lang="en-US" sz="1800" b="1" i="0" u="none" strike="noStrike" kern="1200" cap="none" spc="0" normalizeH="0" baseline="30000" noProof="0" dirty="0" err="1">
                <a:ln>
                  <a:noFill/>
                </a:ln>
                <a:solidFill>
                  <a:srgbClr val="7030A0"/>
                </a:solidFill>
                <a:effectLst/>
                <a:uLnTx/>
                <a:uFillTx/>
                <a:latin typeface="Calibri" panose="020F0502020204030204"/>
                <a:ea typeface="+mn-ea"/>
                <a:cs typeface="+mn-cs"/>
              </a:rPr>
              <a:t>d</a:t>
            </a:r>
            <a:r>
              <a:rPr kumimoji="0" lang="he-IL" sz="1800" b="1" i="0" u="none" strike="noStrike" kern="1200" cap="none" spc="0" normalizeH="0" baseline="30000" noProof="0" dirty="0">
                <a:ln>
                  <a:noFill/>
                </a:ln>
                <a:solidFill>
                  <a:srgbClr val="7030A0"/>
                </a:solidFill>
                <a:effectLst/>
                <a:uLnTx/>
                <a:uFillTx/>
                <a:latin typeface="Calibri" panose="020F0502020204030204"/>
                <a:ea typeface="+mn-ea"/>
                <a:cs typeface="Arial" panose="020B0604020202020204" pitchFamily="34" charset="0"/>
              </a:rPr>
              <a:t>1</a:t>
            </a:r>
          </a:p>
        </p:txBody>
      </p:sp>
      <p:sp>
        <p:nvSpPr>
          <p:cNvPr id="47" name="TextBox 46">
            <a:extLst>
              <a:ext uri="{FF2B5EF4-FFF2-40B4-BE49-F238E27FC236}">
                <a16:creationId xmlns:a16="http://schemas.microsoft.com/office/drawing/2014/main" id="{D661D36A-23A3-4BE9-8949-2F1C66613978}"/>
              </a:ext>
            </a:extLst>
          </p:cNvPr>
          <p:cNvSpPr txBox="1"/>
          <p:nvPr/>
        </p:nvSpPr>
        <p:spPr>
          <a:xfrm>
            <a:off x="5720710" y="5232639"/>
            <a:ext cx="3155073" cy="461665"/>
          </a:xfrm>
          <a:prstGeom prst="rect">
            <a:avLst/>
          </a:prstGeom>
          <a:solidFill>
            <a:schemeClr val="bg2">
              <a:lumMod val="9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Pw= (P$+</a:t>
            </a:r>
            <a:r>
              <a:rPr kumimoji="0" lang="he-IL" sz="2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עלות הובלה</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a:t>
            </a:r>
            <a:endParaRPr kumimoji="0" lang="en-IL"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87819C14-31E2-FD1F-D1E4-0676C5703CC7}"/>
              </a:ext>
            </a:extLst>
          </p:cNvPr>
          <p:cNvCxnSpPr/>
          <p:nvPr/>
        </p:nvCxnSpPr>
        <p:spPr>
          <a:xfrm>
            <a:off x="1571604" y="5080260"/>
            <a:ext cx="0" cy="2235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5B56BA6-AF81-E6D0-14F4-EAC6770A0338}"/>
              </a:ext>
            </a:extLst>
          </p:cNvPr>
          <p:cNvCxnSpPr>
            <a:cxnSpLocks/>
          </p:cNvCxnSpPr>
          <p:nvPr/>
        </p:nvCxnSpPr>
        <p:spPr>
          <a:xfrm>
            <a:off x="7543800" y="5013732"/>
            <a:ext cx="0" cy="3175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5F783A-C4C8-1C10-3FEA-9E384351F46F}"/>
              </a:ext>
            </a:extLst>
          </p:cNvPr>
          <p:cNvCxnSpPr>
            <a:cxnSpLocks/>
          </p:cNvCxnSpPr>
          <p:nvPr/>
        </p:nvCxnSpPr>
        <p:spPr>
          <a:xfrm>
            <a:off x="6019800" y="4986298"/>
            <a:ext cx="0" cy="3175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59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circle(in)">
                                      <p:cBhvr>
                                        <p:cTn id="30" dur="2000"/>
                                        <p:tgtEl>
                                          <p:spTgt spid="32"/>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circle(in)">
                                      <p:cBhvr>
                                        <p:cTn id="33" dur="20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circle(in)">
                                      <p:cBhvr>
                                        <p:cTn id="38"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48264" y="3473"/>
            <a:ext cx="2195736" cy="1143000"/>
          </a:xfrm>
        </p:spPr>
        <p:txBody>
          <a:bodyPr/>
          <a:lstStyle/>
          <a:p>
            <a:pPr algn="r"/>
            <a:r>
              <a:rPr lang="he-IL" b="1" dirty="0">
                <a:solidFill>
                  <a:schemeClr val="tx2">
                    <a:lumMod val="75000"/>
                  </a:schemeClr>
                </a:solidFill>
              </a:rPr>
              <a:t>שאלה 2</a:t>
            </a:r>
            <a:endParaRPr lang="he-IL" dirty="0"/>
          </a:p>
        </p:txBody>
      </p:sp>
      <p:sp>
        <p:nvSpPr>
          <p:cNvPr id="31" name="מציין מיקום תוכן 2">
            <a:extLst>
              <a:ext uri="{FF2B5EF4-FFF2-40B4-BE49-F238E27FC236}">
                <a16:creationId xmlns:a16="http://schemas.microsoft.com/office/drawing/2014/main" id="{2AF888C4-B1A0-47E4-A233-C49DB53123E8}"/>
              </a:ext>
            </a:extLst>
          </p:cNvPr>
          <p:cNvSpPr txBox="1">
            <a:spLocks/>
          </p:cNvSpPr>
          <p:nvPr/>
        </p:nvSpPr>
        <p:spPr>
          <a:xfrm>
            <a:off x="4754689" y="3681216"/>
            <a:ext cx="4300854" cy="1466184"/>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r>
              <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3" name="TextBox 32">
            <a:extLst>
              <a:ext uri="{FF2B5EF4-FFF2-40B4-BE49-F238E27FC236}">
                <a16:creationId xmlns:a16="http://schemas.microsoft.com/office/drawing/2014/main" id="{963751C2-04CE-43B1-803B-8FCB6F906FBD}"/>
              </a:ext>
            </a:extLst>
          </p:cNvPr>
          <p:cNvSpPr txBox="1"/>
          <p:nvPr/>
        </p:nvSpPr>
        <p:spPr>
          <a:xfrm>
            <a:off x="2175253" y="293584"/>
            <a:ext cx="4699320"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פתוח ידוע כי הצרכנים המקומיים קונים את המוצר הן מייצור מקומי והן מ</a:t>
            </a:r>
            <a:r>
              <a:rPr kumimoji="0" lang="he-IL"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Arial" panose="020B0604020202020204" pitchFamily="34" charset="0"/>
              </a:rPr>
              <a:t>ייבוא</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מחו''ל. </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C9900FC5-3C4F-43F3-8FA9-1EF4519A548A}"/>
              </a:ext>
            </a:extLst>
          </p:cNvPr>
          <p:cNvSpPr txBox="1"/>
          <p:nvPr/>
        </p:nvSpPr>
        <p:spPr>
          <a:xfrm>
            <a:off x="464830" y="1026732"/>
            <a:ext cx="8526048" cy="1287532"/>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מוטל מכס בסכום של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ליחידה וידוע כי במצב המוצא גודל הייבוא הינו 100 יחידות. הממשלה הורידה את גובה המכס ליחידה וידוע כי בעקבות כך הצרכנים הגדילו את הכמות המיובאת פי 2 אך הכנסות הממשלה ממכס על הייבוא לא השתנו. נוכל להסיק מכך כי:</a:t>
            </a:r>
          </a:p>
        </p:txBody>
      </p:sp>
      <p:sp>
        <p:nvSpPr>
          <p:cNvPr id="3" name="TextBox 2">
            <a:extLst>
              <a:ext uri="{FF2B5EF4-FFF2-40B4-BE49-F238E27FC236}">
                <a16:creationId xmlns:a16="http://schemas.microsoft.com/office/drawing/2014/main" id="{5F330877-D4D1-688D-D467-9F2B703FFA3C}"/>
              </a:ext>
            </a:extLst>
          </p:cNvPr>
          <p:cNvSpPr txBox="1"/>
          <p:nvPr/>
        </p:nvSpPr>
        <p:spPr>
          <a:xfrm>
            <a:off x="3276046" y="2347666"/>
            <a:ext cx="579506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הורדת המכס לא השפיעה על הכמות המקומית המיוצרת. </a:t>
            </a:r>
          </a:p>
        </p:txBody>
      </p:sp>
      <p:sp>
        <p:nvSpPr>
          <p:cNvPr id="4" name="TextBox 3">
            <a:extLst>
              <a:ext uri="{FF2B5EF4-FFF2-40B4-BE49-F238E27FC236}">
                <a16:creationId xmlns:a16="http://schemas.microsoft.com/office/drawing/2014/main" id="{0BAB2590-DCBB-6A10-F092-2AB178BF4A8E}"/>
              </a:ext>
            </a:extLst>
          </p:cNvPr>
          <p:cNvSpPr txBox="1"/>
          <p:nvPr/>
        </p:nvSpPr>
        <p:spPr>
          <a:xfrm>
            <a:off x="4415834" y="2798135"/>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עודף הצרכנים המקומיים ירדו</a:t>
            </a:r>
          </a:p>
        </p:txBody>
      </p:sp>
      <p:sp>
        <p:nvSpPr>
          <p:cNvPr id="5" name="TextBox 4">
            <a:extLst>
              <a:ext uri="{FF2B5EF4-FFF2-40B4-BE49-F238E27FC236}">
                <a16:creationId xmlns:a16="http://schemas.microsoft.com/office/drawing/2014/main" id="{C3A917B4-A1AB-71D6-5108-C848A1A41C2B}"/>
              </a:ext>
            </a:extLst>
          </p:cNvPr>
          <p:cNvSpPr txBox="1"/>
          <p:nvPr/>
        </p:nvSpPr>
        <p:spPr>
          <a:xfrm>
            <a:off x="4666319" y="3283560"/>
            <a:ext cx="4439797"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רווחי היצרנים המקומיים עלו </a:t>
            </a:r>
          </a:p>
        </p:txBody>
      </p:sp>
      <p:sp>
        <p:nvSpPr>
          <p:cNvPr id="13" name="TextBox 12">
            <a:extLst>
              <a:ext uri="{FF2B5EF4-FFF2-40B4-BE49-F238E27FC236}">
                <a16:creationId xmlns:a16="http://schemas.microsoft.com/office/drawing/2014/main" id="{65D397A4-8CD2-A987-7090-03B408687ED6}"/>
              </a:ext>
            </a:extLst>
          </p:cNvPr>
          <p:cNvSpPr txBox="1"/>
          <p:nvPr/>
        </p:nvSpPr>
        <p:spPr>
          <a:xfrm>
            <a:off x="3939550" y="3867188"/>
            <a:ext cx="510203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הממשלה הקטינה את גובה המכס ל-(</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p:txBody>
      </p:sp>
      <p:sp>
        <p:nvSpPr>
          <p:cNvPr id="14" name="TextBox 13">
            <a:extLst>
              <a:ext uri="{FF2B5EF4-FFF2-40B4-BE49-F238E27FC236}">
                <a16:creationId xmlns:a16="http://schemas.microsoft.com/office/drawing/2014/main" id="{E7AD42E3-50BB-BDE1-7890-0CFCD734B0B0}"/>
              </a:ext>
            </a:extLst>
          </p:cNvPr>
          <p:cNvSpPr txBox="1"/>
          <p:nvPr/>
        </p:nvSpPr>
        <p:spPr>
          <a:xfrm>
            <a:off x="5467020" y="5859150"/>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כל התשובות האחרות אינן נכונות. </a:t>
            </a:r>
          </a:p>
        </p:txBody>
      </p:sp>
    </p:spTree>
    <p:extLst>
      <p:ext uri="{BB962C8B-B14F-4D97-AF65-F5344CB8AC3E}">
        <p14:creationId xmlns:p14="http://schemas.microsoft.com/office/powerpoint/2010/main" val="4035679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מחבר ישר 21"/>
          <p:cNvCxnSpPr>
            <a:cxnSpLocks/>
          </p:cNvCxnSpPr>
          <p:nvPr/>
        </p:nvCxnSpPr>
        <p:spPr>
          <a:xfrm>
            <a:off x="1209161" y="5292320"/>
            <a:ext cx="3344853"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a:xfrm>
            <a:off x="6948264" y="3473"/>
            <a:ext cx="2195736" cy="1143000"/>
          </a:xfrm>
        </p:spPr>
        <p:txBody>
          <a:bodyPr/>
          <a:lstStyle/>
          <a:p>
            <a:pPr algn="r"/>
            <a:r>
              <a:rPr lang="he-IL" b="1" dirty="0">
                <a:solidFill>
                  <a:schemeClr val="tx2">
                    <a:lumMod val="75000"/>
                  </a:schemeClr>
                </a:solidFill>
              </a:rPr>
              <a:t>שאלה 2</a:t>
            </a:r>
            <a:endParaRPr lang="he-IL" dirty="0"/>
          </a:p>
        </p:txBody>
      </p:sp>
      <p:grpSp>
        <p:nvGrpSpPr>
          <p:cNvPr id="6" name="קבוצה 5"/>
          <p:cNvGrpSpPr/>
          <p:nvPr/>
        </p:nvGrpSpPr>
        <p:grpSpPr>
          <a:xfrm>
            <a:off x="1212008" y="2682313"/>
            <a:ext cx="3823468" cy="3143272"/>
            <a:chOff x="713554" y="2786852"/>
            <a:chExt cx="3823468" cy="3143272"/>
          </a:xfrm>
        </p:grpSpPr>
        <p:cxnSp>
          <p:nvCxnSpPr>
            <p:cNvPr id="7" name="מחבר חץ ישר 6"/>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מחבר חץ ישר 7"/>
            <p:cNvCxnSpPr>
              <a:cxnSpLocks/>
            </p:cNvCxnSpPr>
            <p:nvPr/>
          </p:nvCxnSpPr>
          <p:spPr>
            <a:xfrm>
              <a:off x="714348" y="5929330"/>
              <a:ext cx="382267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9" name="מחבר ישר 8"/>
          <p:cNvCxnSpPr>
            <a:cxnSpLocks/>
          </p:cNvCxnSpPr>
          <p:nvPr/>
        </p:nvCxnSpPr>
        <p:spPr>
          <a:xfrm flipV="1">
            <a:off x="3605170" y="6853079"/>
            <a:ext cx="3563438" cy="1697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מחבר ישר 9"/>
          <p:cNvCxnSpPr>
            <a:cxnSpLocks/>
          </p:cNvCxnSpPr>
          <p:nvPr/>
        </p:nvCxnSpPr>
        <p:spPr>
          <a:xfrm flipV="1">
            <a:off x="1571604" y="3357562"/>
            <a:ext cx="2787238" cy="22450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947816" y="300945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a:off x="4651475" y="5107654"/>
            <a:ext cx="83869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עולמי</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sp>
        <p:nvSpPr>
          <p:cNvPr id="16" name="TextBox 15"/>
          <p:cNvSpPr txBox="1"/>
          <p:nvPr/>
        </p:nvSpPr>
        <p:spPr>
          <a:xfrm>
            <a:off x="929818" y="2357430"/>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15" name="מחבר ישר 14"/>
          <p:cNvCxnSpPr>
            <a:cxnSpLocks/>
          </p:cNvCxnSpPr>
          <p:nvPr/>
        </p:nvCxnSpPr>
        <p:spPr>
          <a:xfrm flipH="1">
            <a:off x="2298779" y="5049676"/>
            <a:ext cx="21402" cy="7981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973907" y="5751977"/>
            <a:ext cx="457176"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X</a:t>
            </a:r>
            <a:r>
              <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rPr>
              <a:t>2</a:t>
            </a:r>
            <a:r>
              <a:rPr kumimoji="0" lang="en-US" sz="1800" b="0" i="0" u="none" strike="noStrike" kern="1200" cap="none" spc="0" normalizeH="0" baseline="30000" noProof="0" dirty="0">
                <a:ln>
                  <a:noFill/>
                </a:ln>
                <a:solidFill>
                  <a:srgbClr val="FF0000"/>
                </a:solidFill>
                <a:effectLst/>
                <a:uLnTx/>
                <a:uFillTx/>
                <a:latin typeface="Calibri" panose="020F0502020204030204"/>
                <a:ea typeface="+mn-ea"/>
                <a:cs typeface="+mn-cs"/>
              </a:rPr>
              <a:t>s</a:t>
            </a:r>
            <a:endParaRPr kumimoji="0" lang="he-IL" sz="1800" b="0" i="0" u="none" strike="noStrike" kern="1200" cap="none" spc="0" normalizeH="0" baseline="30000" noProof="0" dirty="0">
              <a:ln>
                <a:noFill/>
              </a:ln>
              <a:solidFill>
                <a:srgbClr val="FF0000"/>
              </a:solidFill>
              <a:effectLst/>
              <a:uLnTx/>
              <a:uFillTx/>
              <a:latin typeface="Calibri" panose="020F0502020204030204"/>
              <a:ea typeface="+mn-ea"/>
              <a:cs typeface="Arial" panose="020B0604020202020204" pitchFamily="34" charset="0"/>
            </a:endParaRPr>
          </a:p>
        </p:txBody>
      </p:sp>
      <p:sp>
        <p:nvSpPr>
          <p:cNvPr id="23" name="TextBox 22"/>
          <p:cNvSpPr txBox="1"/>
          <p:nvPr/>
        </p:nvSpPr>
        <p:spPr>
          <a:xfrm>
            <a:off x="397362" y="4485217"/>
            <a:ext cx="77777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Pw</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0"/>
          <p:cNvCxnSpPr>
            <a:cxnSpLocks/>
          </p:cNvCxnSpPr>
          <p:nvPr/>
        </p:nvCxnSpPr>
        <p:spPr>
          <a:xfrm>
            <a:off x="1234710" y="4679084"/>
            <a:ext cx="2064794" cy="1118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מחבר ישר 23"/>
          <p:cNvCxnSpPr>
            <a:cxnSpLocks/>
          </p:cNvCxnSpPr>
          <p:nvPr/>
        </p:nvCxnSpPr>
        <p:spPr>
          <a:xfrm>
            <a:off x="1519166" y="3192613"/>
            <a:ext cx="2750369" cy="2399244"/>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מחבר ישר 25"/>
          <p:cNvCxnSpPr>
            <a:cxnSpLocks/>
          </p:cNvCxnSpPr>
          <p:nvPr/>
        </p:nvCxnSpPr>
        <p:spPr>
          <a:xfrm flipH="1">
            <a:off x="3276046" y="4776842"/>
            <a:ext cx="25382" cy="103095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011520" y="5763100"/>
            <a:ext cx="486030"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en-US" sz="1200" b="1" i="0" u="none" strike="noStrike" kern="1200" cap="none" spc="0" normalizeH="0" baseline="0" noProof="0" dirty="0">
                <a:ln>
                  <a:noFill/>
                </a:ln>
                <a:solidFill>
                  <a:srgbClr val="7030A0"/>
                </a:solidFill>
                <a:effectLst/>
                <a:uLnTx/>
                <a:uFillTx/>
                <a:latin typeface="Calibri" panose="020F0502020204030204"/>
                <a:ea typeface="+mn-ea"/>
                <a:cs typeface="+mn-cs"/>
              </a:rPr>
              <a:t>1</a:t>
            </a:r>
            <a:r>
              <a:rPr kumimoji="0" lang="en-US" sz="1800" b="1" i="0" u="none" strike="noStrike" kern="1200" cap="none" spc="0" normalizeH="0" baseline="30000" noProof="0" dirty="0">
                <a:ln>
                  <a:noFill/>
                </a:ln>
                <a:solidFill>
                  <a:srgbClr val="7030A0"/>
                </a:solidFill>
                <a:effectLst/>
                <a:uLnTx/>
                <a:uFillTx/>
                <a:latin typeface="Calibri" panose="020F0502020204030204"/>
                <a:ea typeface="+mn-ea"/>
                <a:cs typeface="+mn-cs"/>
              </a:rPr>
              <a:t>d</a:t>
            </a:r>
            <a:endParaRPr kumimoji="0" lang="he-IL" sz="1800" b="1" i="0" u="none" strike="noStrike" kern="1200" cap="none" spc="0" normalizeH="0" baseline="30000" noProof="0" dirty="0">
              <a:ln>
                <a:noFill/>
              </a:ln>
              <a:solidFill>
                <a:srgbClr val="7030A0"/>
              </a:solidFill>
              <a:effectLst/>
              <a:uLnTx/>
              <a:uFillTx/>
              <a:latin typeface="Calibri" panose="020F0502020204030204"/>
              <a:ea typeface="+mn-ea"/>
              <a:cs typeface="Arial" panose="020B0604020202020204" pitchFamily="34" charset="0"/>
            </a:endParaRPr>
          </a:p>
        </p:txBody>
      </p:sp>
      <p:sp>
        <p:nvSpPr>
          <p:cNvPr id="28" name="TextBox 27"/>
          <p:cNvSpPr txBox="1"/>
          <p:nvPr/>
        </p:nvSpPr>
        <p:spPr>
          <a:xfrm>
            <a:off x="4420817" y="5385896"/>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9" name="אליפסה 28"/>
          <p:cNvSpPr/>
          <p:nvPr/>
        </p:nvSpPr>
        <p:spPr>
          <a:xfrm>
            <a:off x="2585162" y="462129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אליפסה 29"/>
          <p:cNvSpPr/>
          <p:nvPr/>
        </p:nvSpPr>
        <p:spPr>
          <a:xfrm>
            <a:off x="3216737" y="46407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מציין מיקום תוכן 2">
            <a:extLst>
              <a:ext uri="{FF2B5EF4-FFF2-40B4-BE49-F238E27FC236}">
                <a16:creationId xmlns:a16="http://schemas.microsoft.com/office/drawing/2014/main" id="{2AF888C4-B1A0-47E4-A233-C49DB53123E8}"/>
              </a:ext>
            </a:extLst>
          </p:cNvPr>
          <p:cNvSpPr txBox="1">
            <a:spLocks/>
          </p:cNvSpPr>
          <p:nvPr/>
        </p:nvSpPr>
        <p:spPr>
          <a:xfrm>
            <a:off x="4754689" y="3681216"/>
            <a:ext cx="4300854" cy="1466184"/>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r>
              <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342900" marR="0" lvl="0" indent="-34290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3" name="TextBox 32">
            <a:extLst>
              <a:ext uri="{FF2B5EF4-FFF2-40B4-BE49-F238E27FC236}">
                <a16:creationId xmlns:a16="http://schemas.microsoft.com/office/drawing/2014/main" id="{963751C2-04CE-43B1-803B-8FCB6F906FBD}"/>
              </a:ext>
            </a:extLst>
          </p:cNvPr>
          <p:cNvSpPr txBox="1"/>
          <p:nvPr/>
        </p:nvSpPr>
        <p:spPr>
          <a:xfrm>
            <a:off x="2092578" y="150926"/>
            <a:ext cx="4699320" cy="64633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פתוח ידוע כי הצרכנים המקומיים קונים את המוצר הן מייצור מקומי והן מייבוא מחו''ל. </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C9900FC5-3C4F-43F3-8FA9-1EF4519A548A}"/>
              </a:ext>
            </a:extLst>
          </p:cNvPr>
          <p:cNvSpPr txBox="1"/>
          <p:nvPr/>
        </p:nvSpPr>
        <p:spPr>
          <a:xfrm>
            <a:off x="398923" y="886391"/>
            <a:ext cx="8526048" cy="1287532"/>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במשק מוטל מכס בסכום של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ליחידה וידוע כי במצב המוצא גודל הייבוא הינו 100 יחידות. הממשלה הורידה את גובה המכס ליחידה וידוע כי בעקבות כך הצרכנים הגדילו את הכמות המיובאת פי 2 אך הכנסות הממשלה ממכס על הייבוא לא השתנו. נוכל להסיק מכך כי:</a:t>
            </a:r>
          </a:p>
        </p:txBody>
      </p:sp>
      <p:sp>
        <p:nvSpPr>
          <p:cNvPr id="37" name="TextBox 36">
            <a:extLst>
              <a:ext uri="{FF2B5EF4-FFF2-40B4-BE49-F238E27FC236}">
                <a16:creationId xmlns:a16="http://schemas.microsoft.com/office/drawing/2014/main" id="{11F261ED-1DAE-4B86-8A53-DB11E9463E90}"/>
              </a:ext>
            </a:extLst>
          </p:cNvPr>
          <p:cNvSpPr txBox="1"/>
          <p:nvPr/>
        </p:nvSpPr>
        <p:spPr>
          <a:xfrm>
            <a:off x="3302795" y="2394413"/>
            <a:ext cx="579506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הורדת המכס לא השפיעה על הכמות המקומית המיוצרת. </a:t>
            </a:r>
          </a:p>
        </p:txBody>
      </p:sp>
      <p:sp>
        <p:nvSpPr>
          <p:cNvPr id="39" name="TextBox 38">
            <a:extLst>
              <a:ext uri="{FF2B5EF4-FFF2-40B4-BE49-F238E27FC236}">
                <a16:creationId xmlns:a16="http://schemas.microsoft.com/office/drawing/2014/main" id="{5EAC3E52-F771-411C-B6E0-776254917FEA}"/>
              </a:ext>
            </a:extLst>
          </p:cNvPr>
          <p:cNvSpPr txBox="1"/>
          <p:nvPr/>
        </p:nvSpPr>
        <p:spPr>
          <a:xfrm>
            <a:off x="4415834" y="2798135"/>
            <a:ext cx="4699320"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עודף הצרכנים המקומיים ירדו</a:t>
            </a:r>
          </a:p>
        </p:txBody>
      </p:sp>
      <p:sp>
        <p:nvSpPr>
          <p:cNvPr id="41" name="TextBox 40">
            <a:extLst>
              <a:ext uri="{FF2B5EF4-FFF2-40B4-BE49-F238E27FC236}">
                <a16:creationId xmlns:a16="http://schemas.microsoft.com/office/drawing/2014/main" id="{6BA590DE-7732-4D70-9917-10CCEFE570CA}"/>
              </a:ext>
            </a:extLst>
          </p:cNvPr>
          <p:cNvSpPr txBox="1"/>
          <p:nvPr/>
        </p:nvSpPr>
        <p:spPr>
          <a:xfrm>
            <a:off x="4666319" y="3283560"/>
            <a:ext cx="4439797"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רווחי היצרנים המקומיים עלו </a:t>
            </a:r>
          </a:p>
        </p:txBody>
      </p:sp>
      <p:sp>
        <p:nvSpPr>
          <p:cNvPr id="42" name="TextBox 41">
            <a:extLst>
              <a:ext uri="{FF2B5EF4-FFF2-40B4-BE49-F238E27FC236}">
                <a16:creationId xmlns:a16="http://schemas.microsoft.com/office/drawing/2014/main" id="{0F3831A7-D1C6-4CF9-8C8A-C9D568D6CBC8}"/>
              </a:ext>
            </a:extLst>
          </p:cNvPr>
          <p:cNvSpPr txBox="1"/>
          <p:nvPr/>
        </p:nvSpPr>
        <p:spPr>
          <a:xfrm>
            <a:off x="3939550" y="3867188"/>
            <a:ext cx="510203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הממשלה הקטינה את גובה המכס ל-(</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p:txBody>
      </p:sp>
      <p:sp>
        <p:nvSpPr>
          <p:cNvPr id="46" name="TextBox 45">
            <a:extLst>
              <a:ext uri="{FF2B5EF4-FFF2-40B4-BE49-F238E27FC236}">
                <a16:creationId xmlns:a16="http://schemas.microsoft.com/office/drawing/2014/main" id="{77B59341-8ECA-4336-99FF-0ACA21C0AFEE}"/>
              </a:ext>
            </a:extLst>
          </p:cNvPr>
          <p:cNvSpPr txBox="1"/>
          <p:nvPr/>
        </p:nvSpPr>
        <p:spPr>
          <a:xfrm>
            <a:off x="5467020" y="5859150"/>
            <a:ext cx="3403176"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 typeface="Arial"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כל התשובות האחרות אינן נכונות. </a:t>
            </a:r>
          </a:p>
        </p:txBody>
      </p:sp>
      <p:sp>
        <p:nvSpPr>
          <p:cNvPr id="32" name="Rectangle 31">
            <a:extLst>
              <a:ext uri="{FF2B5EF4-FFF2-40B4-BE49-F238E27FC236}">
                <a16:creationId xmlns:a16="http://schemas.microsoft.com/office/drawing/2014/main" id="{161CDDA8-B47F-4450-A46A-C4CB43BEC40A}"/>
              </a:ext>
            </a:extLst>
          </p:cNvPr>
          <p:cNvSpPr/>
          <p:nvPr/>
        </p:nvSpPr>
        <p:spPr>
          <a:xfrm>
            <a:off x="4148255" y="3814443"/>
            <a:ext cx="4966899" cy="3886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מחבר ישר 20">
            <a:extLst>
              <a:ext uri="{FF2B5EF4-FFF2-40B4-BE49-F238E27FC236}">
                <a16:creationId xmlns:a16="http://schemas.microsoft.com/office/drawing/2014/main" id="{7DE78969-8613-41EA-B2C4-867E865F80C5}"/>
              </a:ext>
            </a:extLst>
          </p:cNvPr>
          <p:cNvCxnSpPr>
            <a:cxnSpLocks/>
            <a:endCxn id="48" idx="6"/>
          </p:cNvCxnSpPr>
          <p:nvPr/>
        </p:nvCxnSpPr>
        <p:spPr>
          <a:xfrm>
            <a:off x="1150230" y="5021281"/>
            <a:ext cx="259894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0A17C3F-22B2-4391-B097-0B886855938D}"/>
              </a:ext>
            </a:extLst>
          </p:cNvPr>
          <p:cNvSpPr txBox="1"/>
          <p:nvPr/>
        </p:nvSpPr>
        <p:spPr>
          <a:xfrm>
            <a:off x="139637" y="4787469"/>
            <a:ext cx="1069524"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Pw</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8" name="אליפסה 28">
            <a:extLst>
              <a:ext uri="{FF2B5EF4-FFF2-40B4-BE49-F238E27FC236}">
                <a16:creationId xmlns:a16="http://schemas.microsoft.com/office/drawing/2014/main" id="{70742B1E-8C7A-4DDB-8884-D3181DEB4100}"/>
              </a:ext>
            </a:extLst>
          </p:cNvPr>
          <p:cNvSpPr/>
          <p:nvPr/>
        </p:nvSpPr>
        <p:spPr>
          <a:xfrm>
            <a:off x="2248181" y="4935493"/>
            <a:ext cx="144000" cy="1440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cxnSp>
        <p:nvCxnSpPr>
          <p:cNvPr id="40" name="מחבר ישר 25">
            <a:extLst>
              <a:ext uri="{FF2B5EF4-FFF2-40B4-BE49-F238E27FC236}">
                <a16:creationId xmlns:a16="http://schemas.microsoft.com/office/drawing/2014/main" id="{64B0EC82-0AF3-4B22-A4DD-00EB440428DE}"/>
              </a:ext>
            </a:extLst>
          </p:cNvPr>
          <p:cNvCxnSpPr>
            <a:cxnSpLocks/>
          </p:cNvCxnSpPr>
          <p:nvPr/>
        </p:nvCxnSpPr>
        <p:spPr>
          <a:xfrm flipH="1">
            <a:off x="2630090" y="4804352"/>
            <a:ext cx="26986" cy="10374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B70ECDD-AF0B-459C-A3B6-09116283EF68}"/>
              </a:ext>
            </a:extLst>
          </p:cNvPr>
          <p:cNvSpPr txBox="1"/>
          <p:nvPr/>
        </p:nvSpPr>
        <p:spPr>
          <a:xfrm>
            <a:off x="3445150" y="5771997"/>
            <a:ext cx="511679" cy="36933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en-US" sz="1200" b="1" i="0" u="none" strike="noStrike" kern="1200" cap="none" spc="0" normalizeH="0" baseline="0" noProof="0" dirty="0">
                <a:ln>
                  <a:noFill/>
                </a:ln>
                <a:solidFill>
                  <a:srgbClr val="7030A0"/>
                </a:solidFill>
                <a:effectLst/>
                <a:uLnTx/>
                <a:uFillTx/>
                <a:latin typeface="Calibri" panose="020F0502020204030204"/>
                <a:ea typeface="+mn-ea"/>
                <a:cs typeface="+mn-cs"/>
              </a:rPr>
              <a:t>2</a:t>
            </a:r>
            <a:r>
              <a:rPr kumimoji="0" lang="en-US" sz="1800" b="1" i="0" u="none" strike="noStrike" kern="1200" cap="none" spc="0" normalizeH="0" baseline="30000" noProof="0" dirty="0">
                <a:ln>
                  <a:noFill/>
                </a:ln>
                <a:solidFill>
                  <a:srgbClr val="7030A0"/>
                </a:solidFill>
                <a:effectLst/>
                <a:uLnTx/>
                <a:uFillTx/>
                <a:latin typeface="Calibri" panose="020F0502020204030204"/>
                <a:ea typeface="+mn-ea"/>
                <a:cs typeface="+mn-cs"/>
              </a:rPr>
              <a:t>d</a:t>
            </a:r>
            <a:endParaRPr kumimoji="0" lang="he-IL" sz="1800" b="1" i="0" u="none" strike="noStrike" kern="1200" cap="none" spc="0" normalizeH="0" baseline="30000" noProof="0" dirty="0">
              <a:ln>
                <a:noFill/>
              </a:ln>
              <a:solidFill>
                <a:srgbClr val="7030A0"/>
              </a:solidFill>
              <a:effectLst/>
              <a:uLnTx/>
              <a:uFillTx/>
              <a:latin typeface="Calibri" panose="020F0502020204030204"/>
              <a:ea typeface="+mn-ea"/>
              <a:cs typeface="Arial" panose="020B0604020202020204" pitchFamily="34" charset="0"/>
            </a:endParaRPr>
          </a:p>
        </p:txBody>
      </p:sp>
      <p:cxnSp>
        <p:nvCxnSpPr>
          <p:cNvPr id="47" name="מחבר ישר 25">
            <a:extLst>
              <a:ext uri="{FF2B5EF4-FFF2-40B4-BE49-F238E27FC236}">
                <a16:creationId xmlns:a16="http://schemas.microsoft.com/office/drawing/2014/main" id="{17828BD6-8A27-473A-BD82-72A88A7F964E}"/>
              </a:ext>
            </a:extLst>
          </p:cNvPr>
          <p:cNvCxnSpPr>
            <a:cxnSpLocks/>
          </p:cNvCxnSpPr>
          <p:nvPr/>
        </p:nvCxnSpPr>
        <p:spPr>
          <a:xfrm flipH="1">
            <a:off x="3686296" y="4981371"/>
            <a:ext cx="14694" cy="84262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אליפסה 28">
            <a:extLst>
              <a:ext uri="{FF2B5EF4-FFF2-40B4-BE49-F238E27FC236}">
                <a16:creationId xmlns:a16="http://schemas.microsoft.com/office/drawing/2014/main" id="{52305249-D660-4099-BD8F-05E168AA9FC4}"/>
              </a:ext>
            </a:extLst>
          </p:cNvPr>
          <p:cNvSpPr/>
          <p:nvPr/>
        </p:nvSpPr>
        <p:spPr>
          <a:xfrm>
            <a:off x="3605170" y="4949281"/>
            <a:ext cx="144000" cy="1440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9" name="Rectangle 48">
            <a:extLst>
              <a:ext uri="{FF2B5EF4-FFF2-40B4-BE49-F238E27FC236}">
                <a16:creationId xmlns:a16="http://schemas.microsoft.com/office/drawing/2014/main" id="{5642B259-5BC1-4FE2-857F-E1AB938DE4CE}"/>
              </a:ext>
            </a:extLst>
          </p:cNvPr>
          <p:cNvSpPr/>
          <p:nvPr/>
        </p:nvSpPr>
        <p:spPr>
          <a:xfrm>
            <a:off x="2653840" y="4691067"/>
            <a:ext cx="633375" cy="591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DDDB1957-11CC-408F-BCA8-F14C4970CCD4}"/>
              </a:ext>
            </a:extLst>
          </p:cNvPr>
          <p:cNvSpPr/>
          <p:nvPr/>
        </p:nvSpPr>
        <p:spPr>
          <a:xfrm>
            <a:off x="2310918" y="5016832"/>
            <a:ext cx="1375378" cy="2728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Box 50">
            <a:extLst>
              <a:ext uri="{FF2B5EF4-FFF2-40B4-BE49-F238E27FC236}">
                <a16:creationId xmlns:a16="http://schemas.microsoft.com/office/drawing/2014/main" id="{ECBC6F6B-036D-4767-B9BE-41FB4491D6BF}"/>
              </a:ext>
            </a:extLst>
          </p:cNvPr>
          <p:cNvSpPr txBox="1"/>
          <p:nvPr/>
        </p:nvSpPr>
        <p:spPr>
          <a:xfrm>
            <a:off x="2400122" y="5743490"/>
            <a:ext cx="457176"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X</a:t>
            </a:r>
            <a:r>
              <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rPr>
              <a:t>1</a:t>
            </a:r>
            <a:r>
              <a:rPr kumimoji="0" lang="en-US" sz="1800" b="0" i="0" u="none" strike="noStrike" kern="1200" cap="none" spc="0" normalizeH="0" baseline="30000" noProof="0" dirty="0">
                <a:ln>
                  <a:noFill/>
                </a:ln>
                <a:solidFill>
                  <a:srgbClr val="FF0000"/>
                </a:solidFill>
                <a:effectLst/>
                <a:uLnTx/>
                <a:uFillTx/>
                <a:latin typeface="Calibri" panose="020F0502020204030204"/>
                <a:ea typeface="+mn-ea"/>
                <a:cs typeface="+mn-cs"/>
              </a:rPr>
              <a:t>s</a:t>
            </a:r>
            <a:endParaRPr kumimoji="0" lang="he-IL" sz="1800" b="0" i="0" u="none" strike="noStrike" kern="1200" cap="none" spc="0" normalizeH="0" baseline="30000" noProof="0" dirty="0">
              <a:ln>
                <a:noFill/>
              </a:ln>
              <a:solidFill>
                <a:srgbClr val="FF0000"/>
              </a:solidFill>
              <a:effectLst/>
              <a:uLnTx/>
              <a:uFillTx/>
              <a:latin typeface="Calibri" panose="020F0502020204030204"/>
              <a:ea typeface="+mn-ea"/>
              <a:cs typeface="Arial" panose="020B0604020202020204" pitchFamily="34" charset="0"/>
            </a:endParaRPr>
          </a:p>
        </p:txBody>
      </p:sp>
      <p:sp>
        <p:nvSpPr>
          <p:cNvPr id="44" name="TextBox 43">
            <a:extLst>
              <a:ext uri="{FF2B5EF4-FFF2-40B4-BE49-F238E27FC236}">
                <a16:creationId xmlns:a16="http://schemas.microsoft.com/office/drawing/2014/main" id="{2DB75D40-A63B-45E3-8AAA-B809E4DE8947}"/>
              </a:ext>
            </a:extLst>
          </p:cNvPr>
          <p:cNvSpPr txBox="1"/>
          <p:nvPr/>
        </p:nvSpPr>
        <p:spPr>
          <a:xfrm>
            <a:off x="624361" y="5089721"/>
            <a:ext cx="559769"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Pw</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45" name="TextBox 44">
            <a:extLst>
              <a:ext uri="{FF2B5EF4-FFF2-40B4-BE49-F238E27FC236}">
                <a16:creationId xmlns:a16="http://schemas.microsoft.com/office/drawing/2014/main" id="{5AB44E81-3CE0-4952-871A-F3A25953ADB1}"/>
              </a:ext>
            </a:extLst>
          </p:cNvPr>
          <p:cNvSpPr txBox="1"/>
          <p:nvPr/>
        </p:nvSpPr>
        <p:spPr>
          <a:xfrm>
            <a:off x="1868258" y="2706393"/>
            <a:ext cx="1925820" cy="646331"/>
          </a:xfrm>
          <a:prstGeom prst="rect">
            <a:avLst/>
          </a:prstGeom>
          <a:noFill/>
          <a:ln>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הכנסות ממשלה ממכס </a:t>
            </a:r>
            <a:r>
              <a:rPr kumimoji="0" lang="he-IL" sz="14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במצב המוצא</a:t>
            </a:r>
            <a:endParaRPr kumimoji="0" lang="he-IL" sz="18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endParaRPr>
          </a:p>
        </p:txBody>
      </p:sp>
      <p:grpSp>
        <p:nvGrpSpPr>
          <p:cNvPr id="52" name="קבוצה 43">
            <a:extLst>
              <a:ext uri="{FF2B5EF4-FFF2-40B4-BE49-F238E27FC236}">
                <a16:creationId xmlns:a16="http://schemas.microsoft.com/office/drawing/2014/main" id="{3EDF47B7-0071-4E26-A69F-27A51499267F}"/>
              </a:ext>
            </a:extLst>
          </p:cNvPr>
          <p:cNvGrpSpPr/>
          <p:nvPr/>
        </p:nvGrpSpPr>
        <p:grpSpPr>
          <a:xfrm>
            <a:off x="2688539" y="3334317"/>
            <a:ext cx="374460" cy="1420905"/>
            <a:chOff x="3428992" y="1928802"/>
            <a:chExt cx="414867" cy="1857388"/>
          </a:xfrm>
        </p:grpSpPr>
        <p:sp>
          <p:nvSpPr>
            <p:cNvPr id="53" name="צורה חופשית 44">
              <a:extLst>
                <a:ext uri="{FF2B5EF4-FFF2-40B4-BE49-F238E27FC236}">
                  <a16:creationId xmlns:a16="http://schemas.microsoft.com/office/drawing/2014/main" id="{1C42F462-16E9-4182-B891-41558867EE78}"/>
                </a:ext>
              </a:extLst>
            </p:cNvPr>
            <p:cNvSpPr/>
            <p:nvPr/>
          </p:nvSpPr>
          <p:spPr>
            <a:xfrm>
              <a:off x="3428992" y="1928802"/>
              <a:ext cx="414867" cy="1617133"/>
            </a:xfrm>
            <a:custGeom>
              <a:avLst/>
              <a:gdLst>
                <a:gd name="connsiteX0" fmla="*/ 414867 w 414867"/>
                <a:gd name="connsiteY0" fmla="*/ 0 h 1617133"/>
                <a:gd name="connsiteX1" fmla="*/ 46567 w 414867"/>
                <a:gd name="connsiteY1" fmla="*/ 698500 h 1617133"/>
                <a:gd name="connsiteX2" fmla="*/ 135467 w 414867"/>
                <a:gd name="connsiteY2" fmla="*/ 1485900 h 1617133"/>
                <a:gd name="connsiteX3" fmla="*/ 148167 w 414867"/>
                <a:gd name="connsiteY3" fmla="*/ 1485900 h 1617133"/>
              </a:gdLst>
              <a:ahLst/>
              <a:cxnLst>
                <a:cxn ang="0">
                  <a:pos x="connsiteX0" y="connsiteY0"/>
                </a:cxn>
                <a:cxn ang="0">
                  <a:pos x="connsiteX1" y="connsiteY1"/>
                </a:cxn>
                <a:cxn ang="0">
                  <a:pos x="connsiteX2" y="connsiteY2"/>
                </a:cxn>
                <a:cxn ang="0">
                  <a:pos x="connsiteX3" y="connsiteY3"/>
                </a:cxn>
              </a:cxnLst>
              <a:rect l="l" t="t" r="r" b="b"/>
              <a:pathLst>
                <a:path w="414867" h="1617133">
                  <a:moveTo>
                    <a:pt x="414867" y="0"/>
                  </a:moveTo>
                  <a:cubicBezTo>
                    <a:pt x="254000" y="225425"/>
                    <a:pt x="93134" y="450850"/>
                    <a:pt x="46567" y="698500"/>
                  </a:cubicBezTo>
                  <a:cubicBezTo>
                    <a:pt x="0" y="946150"/>
                    <a:pt x="118534" y="1354667"/>
                    <a:pt x="135467" y="1485900"/>
                  </a:cubicBezTo>
                  <a:cubicBezTo>
                    <a:pt x="152400" y="1617133"/>
                    <a:pt x="150283" y="1551516"/>
                    <a:pt x="148167" y="1485900"/>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4" name="משולש שווה שוקיים 45">
              <a:extLst>
                <a:ext uri="{FF2B5EF4-FFF2-40B4-BE49-F238E27FC236}">
                  <a16:creationId xmlns:a16="http://schemas.microsoft.com/office/drawing/2014/main" id="{A8F8A5C3-ACC8-4CA9-B29B-5106648AA708}"/>
                </a:ext>
              </a:extLst>
            </p:cNvPr>
            <p:cNvSpPr/>
            <p:nvPr/>
          </p:nvSpPr>
          <p:spPr>
            <a:xfrm flipV="1">
              <a:off x="3428992" y="3500438"/>
              <a:ext cx="357190" cy="285752"/>
            </a:xfrm>
            <a:prstGeom prst="triangle">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pSp>
      <p:sp>
        <p:nvSpPr>
          <p:cNvPr id="55" name="TextBox 54">
            <a:extLst>
              <a:ext uri="{FF2B5EF4-FFF2-40B4-BE49-F238E27FC236}">
                <a16:creationId xmlns:a16="http://schemas.microsoft.com/office/drawing/2014/main" id="{AA6F39A9-2FDA-4B34-95D1-45274F70FAA7}"/>
              </a:ext>
            </a:extLst>
          </p:cNvPr>
          <p:cNvSpPr txBox="1"/>
          <p:nvPr/>
        </p:nvSpPr>
        <p:spPr>
          <a:xfrm>
            <a:off x="4625573" y="4429682"/>
            <a:ext cx="1925820" cy="646331"/>
          </a:xfrm>
          <a:prstGeom prst="rect">
            <a:avLst/>
          </a:prstGeom>
          <a:noFill/>
          <a:ln>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הכנסות ממשלה ממכס </a:t>
            </a:r>
            <a:r>
              <a:rPr kumimoji="0" lang="he-IL" sz="1400" b="0"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במצב החדש</a:t>
            </a:r>
            <a:endParaRPr kumimoji="0" lang="he-IL" sz="1800" b="0"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endParaRPr>
          </a:p>
        </p:txBody>
      </p:sp>
      <p:grpSp>
        <p:nvGrpSpPr>
          <p:cNvPr id="56" name="קבוצה 43">
            <a:extLst>
              <a:ext uri="{FF2B5EF4-FFF2-40B4-BE49-F238E27FC236}">
                <a16:creationId xmlns:a16="http://schemas.microsoft.com/office/drawing/2014/main" id="{55A96D5A-D2C0-4F27-BC94-043FB37AEE52}"/>
              </a:ext>
            </a:extLst>
          </p:cNvPr>
          <p:cNvGrpSpPr/>
          <p:nvPr/>
        </p:nvGrpSpPr>
        <p:grpSpPr>
          <a:xfrm rot="3806023">
            <a:off x="3963869" y="4103280"/>
            <a:ext cx="214314" cy="1571636"/>
            <a:chOff x="3428992" y="1928802"/>
            <a:chExt cx="414867" cy="1857388"/>
          </a:xfrm>
          <a:noFill/>
        </p:grpSpPr>
        <p:sp>
          <p:nvSpPr>
            <p:cNvPr id="57" name="צורה חופשית 44">
              <a:extLst>
                <a:ext uri="{FF2B5EF4-FFF2-40B4-BE49-F238E27FC236}">
                  <a16:creationId xmlns:a16="http://schemas.microsoft.com/office/drawing/2014/main" id="{9E7701D7-3635-4907-AACF-697C36216A63}"/>
                </a:ext>
              </a:extLst>
            </p:cNvPr>
            <p:cNvSpPr/>
            <p:nvPr/>
          </p:nvSpPr>
          <p:spPr>
            <a:xfrm>
              <a:off x="3428992" y="1928802"/>
              <a:ext cx="414867" cy="1617133"/>
            </a:xfrm>
            <a:custGeom>
              <a:avLst/>
              <a:gdLst>
                <a:gd name="connsiteX0" fmla="*/ 414867 w 414867"/>
                <a:gd name="connsiteY0" fmla="*/ 0 h 1617133"/>
                <a:gd name="connsiteX1" fmla="*/ 46567 w 414867"/>
                <a:gd name="connsiteY1" fmla="*/ 698500 h 1617133"/>
                <a:gd name="connsiteX2" fmla="*/ 135467 w 414867"/>
                <a:gd name="connsiteY2" fmla="*/ 1485900 h 1617133"/>
                <a:gd name="connsiteX3" fmla="*/ 148167 w 414867"/>
                <a:gd name="connsiteY3" fmla="*/ 1485900 h 1617133"/>
              </a:gdLst>
              <a:ahLst/>
              <a:cxnLst>
                <a:cxn ang="0">
                  <a:pos x="connsiteX0" y="connsiteY0"/>
                </a:cxn>
                <a:cxn ang="0">
                  <a:pos x="connsiteX1" y="connsiteY1"/>
                </a:cxn>
                <a:cxn ang="0">
                  <a:pos x="connsiteX2" y="connsiteY2"/>
                </a:cxn>
                <a:cxn ang="0">
                  <a:pos x="connsiteX3" y="connsiteY3"/>
                </a:cxn>
              </a:cxnLst>
              <a:rect l="l" t="t" r="r" b="b"/>
              <a:pathLst>
                <a:path w="414867" h="1617133">
                  <a:moveTo>
                    <a:pt x="414867" y="0"/>
                  </a:moveTo>
                  <a:cubicBezTo>
                    <a:pt x="254000" y="225425"/>
                    <a:pt x="93134" y="450850"/>
                    <a:pt x="46567" y="698500"/>
                  </a:cubicBezTo>
                  <a:cubicBezTo>
                    <a:pt x="0" y="946150"/>
                    <a:pt x="118534" y="1354667"/>
                    <a:pt x="135467" y="1485900"/>
                  </a:cubicBezTo>
                  <a:cubicBezTo>
                    <a:pt x="152400" y="1617133"/>
                    <a:pt x="150283" y="1551516"/>
                    <a:pt x="148167" y="1485900"/>
                  </a:cubicBezTo>
                </a:path>
              </a:pathLst>
            </a:custGeom>
            <a:grpFill/>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C00000"/>
                </a:solidFill>
                <a:effectLst/>
                <a:uLnTx/>
                <a:uFillTx/>
                <a:latin typeface="Calibri" panose="020F0502020204030204"/>
                <a:ea typeface="+mn-ea"/>
                <a:cs typeface="Arial" panose="020B0604020202020204" pitchFamily="34" charset="0"/>
              </a:endParaRPr>
            </a:p>
          </p:txBody>
        </p:sp>
        <p:sp>
          <p:nvSpPr>
            <p:cNvPr id="58" name="משולש שווה שוקיים 45">
              <a:extLst>
                <a:ext uri="{FF2B5EF4-FFF2-40B4-BE49-F238E27FC236}">
                  <a16:creationId xmlns:a16="http://schemas.microsoft.com/office/drawing/2014/main" id="{1D959726-E134-4AAF-8776-23DEDB36F3F3}"/>
                </a:ext>
              </a:extLst>
            </p:cNvPr>
            <p:cNvSpPr/>
            <p:nvPr/>
          </p:nvSpPr>
          <p:spPr>
            <a:xfrm flipV="1">
              <a:off x="3428992" y="3500438"/>
              <a:ext cx="357190" cy="285752"/>
            </a:xfrm>
            <a:prstGeom prs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C00000"/>
                </a:solidFill>
                <a:effectLst/>
                <a:uLnTx/>
                <a:uFillTx/>
                <a:latin typeface="Calibri" panose="020F0502020204030204"/>
                <a:ea typeface="+mn-ea"/>
                <a:cs typeface="Arial" panose="020B0604020202020204" pitchFamily="34" charset="0"/>
              </a:endParaRPr>
            </a:p>
          </p:txBody>
        </p:sp>
      </p:grpSp>
    </p:spTree>
    <p:extLst>
      <p:ext uri="{BB962C8B-B14F-4D97-AF65-F5344CB8AC3E}">
        <p14:creationId xmlns:p14="http://schemas.microsoft.com/office/powerpoint/2010/main" val="330070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randombar(horizontal)">
                                      <p:cBhvr>
                                        <p:cTn id="10" dur="500"/>
                                        <p:tgtEl>
                                          <p:spTgt spid="2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randombar(horizontal)">
                                      <p:cBhvr>
                                        <p:cTn id="13" dur="500"/>
                                        <p:tgtEl>
                                          <p:spTgt spid="2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randombar(horizontal)">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circle(in)">
                                      <p:cBhvr>
                                        <p:cTn id="35" dur="2000"/>
                                        <p:tgtEl>
                                          <p:spTgt spid="4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fade">
                                      <p:cBhvr>
                                        <p:cTn id="40" dur="500"/>
                                        <p:tgtEl>
                                          <p:spTgt spid="5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randombar(horizontal)">
                                      <p:cBhvr>
                                        <p:cTn id="58" dur="500"/>
                                        <p:tgtEl>
                                          <p:spTgt spid="15"/>
                                        </p:tgtEl>
                                      </p:cBhvr>
                                    </p:animEffect>
                                  </p:childTnLst>
                                </p:cTn>
                              </p:par>
                              <p:par>
                                <p:cTn id="59" presetID="14" presetClass="entr" presetSubtype="10" fill="hold"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randombar(horizontal)">
                                      <p:cBhvr>
                                        <p:cTn id="61" dur="500"/>
                                        <p:tgtEl>
                                          <p:spTgt spid="47"/>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randombar(horizontal)">
                                      <p:cBhvr>
                                        <p:cTn id="64" dur="500"/>
                                        <p:tgtEl>
                                          <p:spTgt spid="43"/>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randombar(horizontal)">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circle(in)">
                                      <p:cBhvr>
                                        <p:cTn id="72" dur="2000"/>
                                        <p:tgtEl>
                                          <p:spTgt spid="5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fade">
                                      <p:cBhvr>
                                        <p:cTn id="77" dur="500"/>
                                        <p:tgtEl>
                                          <p:spTgt spid="5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fade">
                                      <p:cBhvr>
                                        <p:cTn id="8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7" grpId="0"/>
      <p:bldP spid="29" grpId="0" animBg="1"/>
      <p:bldP spid="30" grpId="0" animBg="1"/>
      <p:bldP spid="36" grpId="0"/>
      <p:bldP spid="38" grpId="0" animBg="1"/>
      <p:bldP spid="43" grpId="0"/>
      <p:bldP spid="48" grpId="0" animBg="1"/>
      <p:bldP spid="49" grpId="0" animBg="1"/>
      <p:bldP spid="50" grpId="0" animBg="1"/>
      <p:bldP spid="51" grpId="0"/>
      <p:bldP spid="45" grpId="0" animBg="1"/>
      <p:bldP spid="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4400" y="0"/>
            <a:ext cx="8229600" cy="1143000"/>
          </a:xfrm>
        </p:spPr>
        <p:txBody>
          <a:bodyPr/>
          <a:lstStyle/>
          <a:p>
            <a:pPr algn="r"/>
            <a:r>
              <a:rPr lang="he-IL" b="1" dirty="0">
                <a:solidFill>
                  <a:schemeClr val="tx2">
                    <a:lumMod val="75000"/>
                  </a:schemeClr>
                </a:solidFill>
              </a:rPr>
              <a:t>שאלה </a:t>
            </a:r>
            <a:r>
              <a:rPr lang="en-US" b="1" dirty="0">
                <a:solidFill>
                  <a:schemeClr val="tx2">
                    <a:lumMod val="75000"/>
                  </a:schemeClr>
                </a:solidFill>
              </a:rPr>
              <a:t>3</a:t>
            </a:r>
            <a:endParaRPr lang="he-IL" dirty="0"/>
          </a:p>
        </p:txBody>
      </p:sp>
      <p:sp>
        <p:nvSpPr>
          <p:cNvPr id="4" name="מלבן 3"/>
          <p:cNvSpPr/>
          <p:nvPr/>
        </p:nvSpPr>
        <p:spPr>
          <a:xfrm>
            <a:off x="788640" y="980728"/>
            <a:ext cx="8229600" cy="2352952"/>
          </a:xfrm>
          <a:prstGeom prst="rect">
            <a:avLst/>
          </a:prstGeom>
        </p:spPr>
        <p:txBody>
          <a:bodyPr wrap="square">
            <a:spAutoFit/>
          </a:bodyPr>
          <a:lstStyle/>
          <a:p>
            <a:pPr algn="r" rtl="1">
              <a:lnSpc>
                <a:spcPct val="150000"/>
              </a:lnSpc>
            </a:pPr>
            <a:r>
              <a:rPr lang="he-IL" sz="2000" dirty="0"/>
              <a:t>במשק ''קדימה'' היצרנים המקומיים מוכרים את המוצר </a:t>
            </a:r>
            <a:r>
              <a:rPr lang="en-US" sz="2000" dirty="0"/>
              <a:t>X</a:t>
            </a:r>
            <a:r>
              <a:rPr lang="he-IL" sz="2000" dirty="0"/>
              <a:t> גם לצרכנים המקומיים וגם לצרכנים ממשקים אחרים. </a:t>
            </a:r>
          </a:p>
          <a:p>
            <a:pPr>
              <a:lnSpc>
                <a:spcPct val="150000"/>
              </a:lnSpc>
            </a:pPr>
            <a:r>
              <a:rPr lang="he-IL" sz="2000" dirty="0"/>
              <a:t>א. סמנו בתרשים את הכמות המיוצאת בגרף. מה ניתן ללמוד על המחיר העולמי?</a:t>
            </a:r>
          </a:p>
          <a:p>
            <a:pPr algn="r" rtl="1">
              <a:lnSpc>
                <a:spcPct val="150000"/>
              </a:lnSpc>
            </a:pPr>
            <a:r>
              <a:rPr lang="he-IL" sz="2000" dirty="0"/>
              <a:t>ב. באילו מהמקרים הבאים גודל ה</a:t>
            </a:r>
            <a:r>
              <a:rPr lang="he-IL" sz="2000" dirty="0">
                <a:highlight>
                  <a:srgbClr val="FFFF00"/>
                </a:highlight>
              </a:rPr>
              <a:t>ייצוא</a:t>
            </a:r>
            <a:r>
              <a:rPr lang="he-IL" sz="2000" dirty="0"/>
              <a:t> במשק בוודאות ירד?</a:t>
            </a:r>
            <a:r>
              <a:rPr lang="en-US" sz="2000" dirty="0"/>
              <a:t> </a:t>
            </a:r>
            <a:br>
              <a:rPr lang="en-US" sz="2000" dirty="0"/>
            </a:br>
            <a:endParaRPr lang="en-US" sz="2000" dirty="0"/>
          </a:p>
        </p:txBody>
      </p:sp>
      <p:sp>
        <p:nvSpPr>
          <p:cNvPr id="3" name="TextBox 2">
            <a:extLst>
              <a:ext uri="{FF2B5EF4-FFF2-40B4-BE49-F238E27FC236}">
                <a16:creationId xmlns:a16="http://schemas.microsoft.com/office/drawing/2014/main" id="{396A03C7-0E95-19D3-AAC1-1D1208462196}"/>
              </a:ext>
            </a:extLst>
          </p:cNvPr>
          <p:cNvSpPr txBox="1"/>
          <p:nvPr/>
        </p:nvSpPr>
        <p:spPr>
          <a:xfrm>
            <a:off x="1442592" y="3230963"/>
            <a:ext cx="6912768" cy="3139321"/>
          </a:xfrm>
          <a:prstGeom prst="rect">
            <a:avLst/>
          </a:prstGeom>
          <a:noFill/>
        </p:spPr>
        <p:txBody>
          <a:bodyPr wrap="square" rtlCol="0">
            <a:spAutoFit/>
          </a:bodyPr>
          <a:lstStyle/>
          <a:p>
            <a:pPr marL="342900" indent="-342900" algn="r" rtl="1">
              <a:buFontTx/>
              <a:buAutoNum type="arabicPeriod"/>
            </a:pPr>
            <a:r>
              <a:rPr lang="he-IL" dirty="0"/>
              <a:t>חלה ירידה בעלות הייצור המשתנה של מוצר </a:t>
            </a:r>
            <a:r>
              <a:rPr lang="en-US" dirty="0"/>
              <a:t>X</a:t>
            </a:r>
            <a:r>
              <a:rPr lang="he-IL" dirty="0"/>
              <a:t> </a:t>
            </a:r>
            <a:endParaRPr lang="en-US" dirty="0"/>
          </a:p>
          <a:p>
            <a:pPr marL="342900" indent="-342900">
              <a:buFontTx/>
              <a:buAutoNum type="arabicPeriod"/>
            </a:pPr>
            <a:endParaRPr lang="en-US" dirty="0"/>
          </a:p>
          <a:p>
            <a:pPr marL="342900" indent="-342900" algn="r" rtl="1">
              <a:buFontTx/>
              <a:buAutoNum type="arabicPeriod"/>
            </a:pPr>
            <a:r>
              <a:rPr lang="he-IL" dirty="0"/>
              <a:t>חל פיחות של השקל</a:t>
            </a:r>
          </a:p>
          <a:p>
            <a:pPr marL="342900" indent="-342900">
              <a:buFontTx/>
              <a:buAutoNum type="arabicPeriod"/>
            </a:pPr>
            <a:endParaRPr lang="he-IL" dirty="0"/>
          </a:p>
          <a:p>
            <a:pPr marL="342900" indent="-342900" algn="r" rtl="1">
              <a:buFontTx/>
              <a:buAutoNum type="arabicPeriod"/>
            </a:pPr>
            <a:r>
              <a:rPr lang="he-IL" dirty="0"/>
              <a:t>הכנסות הצרכנים ירדו </a:t>
            </a:r>
          </a:p>
          <a:p>
            <a:pPr marL="342900" indent="-342900">
              <a:buFontTx/>
              <a:buAutoNum type="arabicPeriod"/>
            </a:pPr>
            <a:endParaRPr lang="he-IL" dirty="0"/>
          </a:p>
          <a:p>
            <a:pPr marL="342900" indent="-342900" algn="r" rtl="1">
              <a:buFontTx/>
              <a:buAutoNum type="arabicPeriod"/>
            </a:pPr>
            <a:r>
              <a:rPr lang="he-IL" dirty="0"/>
              <a:t>עלתה עלות ההובלה לכל יחידה מיוצאת. </a:t>
            </a:r>
          </a:p>
          <a:p>
            <a:endParaRPr lang="he-IL" dirty="0"/>
          </a:p>
          <a:p>
            <a:pPr algn="r" rtl="1"/>
            <a:r>
              <a:rPr lang="he-IL" dirty="0"/>
              <a:t>5.   כל התשובות האחרות אינן נכונות. </a:t>
            </a:r>
          </a:p>
          <a:p>
            <a:pPr marL="342900" indent="-342900">
              <a:buAutoNum type="arabicPeriod"/>
            </a:pPr>
            <a:endParaRPr lang="he-IL" dirty="0"/>
          </a:p>
          <a:p>
            <a:pPr marL="342900" indent="-342900">
              <a:buAutoNum type="arabicPeriod"/>
            </a:pPr>
            <a:endParaRPr lang="en-IL"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4400" y="0"/>
            <a:ext cx="8229600" cy="1143000"/>
          </a:xfrm>
        </p:spPr>
        <p:txBody>
          <a:bodyPr/>
          <a:lstStyle/>
          <a:p>
            <a:pPr algn="r"/>
            <a:r>
              <a:rPr lang="he-IL" b="1" dirty="0">
                <a:solidFill>
                  <a:schemeClr val="tx2">
                    <a:lumMod val="75000"/>
                  </a:schemeClr>
                </a:solidFill>
              </a:rPr>
              <a:t>שאלה </a:t>
            </a:r>
            <a:r>
              <a:rPr lang="en-US" b="1" dirty="0">
                <a:solidFill>
                  <a:schemeClr val="tx2">
                    <a:lumMod val="75000"/>
                  </a:schemeClr>
                </a:solidFill>
              </a:rPr>
              <a:t>3</a:t>
            </a:r>
            <a:endParaRPr lang="he-IL" dirty="0"/>
          </a:p>
        </p:txBody>
      </p:sp>
      <p:sp>
        <p:nvSpPr>
          <p:cNvPr id="4" name="מלבן 3"/>
          <p:cNvSpPr/>
          <p:nvPr/>
        </p:nvSpPr>
        <p:spPr>
          <a:xfrm>
            <a:off x="539552" y="404664"/>
            <a:ext cx="6534472" cy="1983620"/>
          </a:xfrm>
          <a:prstGeom prst="rect">
            <a:avLst/>
          </a:prstGeom>
        </p:spPr>
        <p:txBody>
          <a:bodyPr wrap="square">
            <a:spAutoFit/>
          </a:bodyPr>
          <a:lstStyle/>
          <a:p>
            <a:pPr algn="r" rtl="1">
              <a:lnSpc>
                <a:spcPct val="150000"/>
              </a:lnSpc>
            </a:pPr>
            <a:r>
              <a:rPr lang="he-IL" sz="1600" dirty="0"/>
              <a:t>במשק ''קדימה'' היצרנים המקומיים מוכרים את המוצר </a:t>
            </a:r>
            <a:r>
              <a:rPr lang="en-US" sz="1600" dirty="0"/>
              <a:t>X</a:t>
            </a:r>
            <a:r>
              <a:rPr lang="he-IL" sz="1600" dirty="0"/>
              <a:t> גם לצרכנים המקומיים וגם לצרכנים ממשקים אחרים. </a:t>
            </a:r>
          </a:p>
          <a:p>
            <a:pPr algn="r" rtl="1">
              <a:lnSpc>
                <a:spcPct val="150000"/>
              </a:lnSpc>
            </a:pPr>
            <a:r>
              <a:rPr lang="he-IL" sz="1600" dirty="0"/>
              <a:t>א. סמנו בתרשים את הכמות המיוצאת בגרף. מה ניתן ללמוד על המחיר העולמי?</a:t>
            </a:r>
          </a:p>
          <a:p>
            <a:pPr algn="r" rtl="1">
              <a:lnSpc>
                <a:spcPct val="150000"/>
              </a:lnSpc>
            </a:pPr>
            <a:r>
              <a:rPr lang="he-IL" sz="1600" dirty="0"/>
              <a:t>ב. באילו מהמקרים הבאים גודל הייצוא במשק בוודאות ירד?</a:t>
            </a:r>
            <a:r>
              <a:rPr lang="en-US" sz="1600" dirty="0"/>
              <a:t> </a:t>
            </a:r>
            <a:br>
              <a:rPr lang="en-US" sz="2000" dirty="0"/>
            </a:br>
            <a:endParaRPr lang="en-US" sz="2000" dirty="0"/>
          </a:p>
        </p:txBody>
      </p:sp>
      <p:sp>
        <p:nvSpPr>
          <p:cNvPr id="3" name="TextBox 2">
            <a:extLst>
              <a:ext uri="{FF2B5EF4-FFF2-40B4-BE49-F238E27FC236}">
                <a16:creationId xmlns:a16="http://schemas.microsoft.com/office/drawing/2014/main" id="{396A03C7-0E95-19D3-AAC1-1D1208462196}"/>
              </a:ext>
            </a:extLst>
          </p:cNvPr>
          <p:cNvSpPr txBox="1"/>
          <p:nvPr/>
        </p:nvSpPr>
        <p:spPr>
          <a:xfrm>
            <a:off x="4593704" y="2375744"/>
            <a:ext cx="4071392" cy="2031325"/>
          </a:xfrm>
          <a:prstGeom prst="rect">
            <a:avLst/>
          </a:prstGeom>
          <a:noFill/>
        </p:spPr>
        <p:txBody>
          <a:bodyPr wrap="square" rtlCol="0">
            <a:spAutoFit/>
          </a:bodyPr>
          <a:lstStyle/>
          <a:p>
            <a:pPr marL="342900" indent="-342900" algn="r" rtl="1">
              <a:buFontTx/>
              <a:buAutoNum type="arabicPeriod"/>
            </a:pPr>
            <a:r>
              <a:rPr lang="he-IL" sz="1400" dirty="0"/>
              <a:t>חלה ירידה בעלות הייצור</a:t>
            </a:r>
            <a:r>
              <a:rPr lang="en-US" sz="1400" dirty="0"/>
              <a:t> </a:t>
            </a:r>
            <a:r>
              <a:rPr lang="he-IL" sz="1400" dirty="0"/>
              <a:t> המשתנה של מוצר </a:t>
            </a:r>
            <a:r>
              <a:rPr lang="en-US" sz="1400" dirty="0"/>
              <a:t>X</a:t>
            </a:r>
            <a:r>
              <a:rPr lang="he-IL" sz="1400" dirty="0"/>
              <a:t> </a:t>
            </a:r>
            <a:endParaRPr lang="en-US" sz="1400" dirty="0"/>
          </a:p>
          <a:p>
            <a:pPr marL="342900" indent="-342900" algn="r" rtl="1">
              <a:buFontTx/>
              <a:buAutoNum type="arabicPeriod"/>
            </a:pPr>
            <a:endParaRPr lang="en-US" sz="1400" dirty="0"/>
          </a:p>
          <a:p>
            <a:pPr marL="342900" indent="-342900" algn="r" rtl="1">
              <a:buFontTx/>
              <a:buAutoNum type="arabicPeriod"/>
            </a:pPr>
            <a:r>
              <a:rPr lang="he-IL" sz="1400" dirty="0"/>
              <a:t>חל פיחות של השקל</a:t>
            </a:r>
          </a:p>
          <a:p>
            <a:pPr marL="342900" indent="-342900" algn="r" rtl="1">
              <a:buFontTx/>
              <a:buAutoNum type="arabicPeriod"/>
            </a:pPr>
            <a:endParaRPr lang="he-IL" sz="1400" dirty="0"/>
          </a:p>
          <a:p>
            <a:pPr marL="342900" indent="-342900" algn="r" rtl="1">
              <a:buFontTx/>
              <a:buAutoNum type="arabicPeriod"/>
            </a:pPr>
            <a:r>
              <a:rPr lang="he-IL" sz="1400" dirty="0"/>
              <a:t>הכנסות הצרכנים ירדו </a:t>
            </a:r>
          </a:p>
          <a:p>
            <a:pPr marL="342900" indent="-342900" algn="r" rtl="1">
              <a:buFontTx/>
              <a:buAutoNum type="arabicPeriod"/>
            </a:pPr>
            <a:endParaRPr lang="he-IL" sz="1400" dirty="0"/>
          </a:p>
          <a:p>
            <a:pPr marL="342900" indent="-342900" algn="r" rtl="1">
              <a:buFontTx/>
              <a:buAutoNum type="arabicPeriod"/>
            </a:pPr>
            <a:r>
              <a:rPr lang="he-IL" sz="1400" dirty="0"/>
              <a:t>עלתה עלות ההובלה לכל יחידה מיוצאת. </a:t>
            </a:r>
          </a:p>
          <a:p>
            <a:pPr algn="r" rtl="1"/>
            <a:endParaRPr lang="he-IL" sz="1400" dirty="0"/>
          </a:p>
          <a:p>
            <a:pPr algn="r" rtl="1"/>
            <a:r>
              <a:rPr lang="he-IL" sz="1400" dirty="0"/>
              <a:t>5.    כל התשובות האחרות אינן נכונות. </a:t>
            </a:r>
          </a:p>
        </p:txBody>
      </p:sp>
      <p:cxnSp>
        <p:nvCxnSpPr>
          <p:cNvPr id="5" name="Straight Arrow Connector 4">
            <a:extLst>
              <a:ext uri="{FF2B5EF4-FFF2-40B4-BE49-F238E27FC236}">
                <a16:creationId xmlns:a16="http://schemas.microsoft.com/office/drawing/2014/main" id="{D0162C26-4218-C979-4D37-5830814CE0B4}"/>
              </a:ext>
            </a:extLst>
          </p:cNvPr>
          <p:cNvCxnSpPr>
            <a:cxnSpLocks/>
          </p:cNvCxnSpPr>
          <p:nvPr/>
        </p:nvCxnSpPr>
        <p:spPr>
          <a:xfrm>
            <a:off x="1091099" y="5340065"/>
            <a:ext cx="3512284"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F49BD40-3297-FF1C-0739-C712BF41C7DF}"/>
              </a:ext>
            </a:extLst>
          </p:cNvPr>
          <p:cNvCxnSpPr>
            <a:cxnSpLocks/>
          </p:cNvCxnSpPr>
          <p:nvPr/>
        </p:nvCxnSpPr>
        <p:spPr>
          <a:xfrm flipV="1">
            <a:off x="1103389" y="2431003"/>
            <a:ext cx="0" cy="2909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903495B-8464-38D3-277B-76A2383EC22B}"/>
              </a:ext>
            </a:extLst>
          </p:cNvPr>
          <p:cNvSpPr/>
          <p:nvPr/>
        </p:nvSpPr>
        <p:spPr>
          <a:xfrm>
            <a:off x="697509" y="2169684"/>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8" name="TextBox 7">
            <a:extLst>
              <a:ext uri="{FF2B5EF4-FFF2-40B4-BE49-F238E27FC236}">
                <a16:creationId xmlns:a16="http://schemas.microsoft.com/office/drawing/2014/main" id="{DFBD1CA5-2AA1-E622-EC25-3E570E357AA1}"/>
              </a:ext>
            </a:extLst>
          </p:cNvPr>
          <p:cNvSpPr txBox="1"/>
          <p:nvPr/>
        </p:nvSpPr>
        <p:spPr>
          <a:xfrm>
            <a:off x="4672407" y="5136276"/>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cxnSp>
        <p:nvCxnSpPr>
          <p:cNvPr id="9" name="מחבר ישר 13">
            <a:extLst>
              <a:ext uri="{FF2B5EF4-FFF2-40B4-BE49-F238E27FC236}">
                <a16:creationId xmlns:a16="http://schemas.microsoft.com/office/drawing/2014/main" id="{CF749118-CA63-B8A0-80BA-708281977BBF}"/>
              </a:ext>
            </a:extLst>
          </p:cNvPr>
          <p:cNvCxnSpPr>
            <a:cxnSpLocks/>
          </p:cNvCxnSpPr>
          <p:nvPr/>
        </p:nvCxnSpPr>
        <p:spPr>
          <a:xfrm>
            <a:off x="1103389" y="2924944"/>
            <a:ext cx="2959511" cy="2461683"/>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59494C-1550-E81D-F9BA-DE145ED7703F}"/>
              </a:ext>
            </a:extLst>
          </p:cNvPr>
          <p:cNvSpPr txBox="1"/>
          <p:nvPr/>
        </p:nvSpPr>
        <p:spPr>
          <a:xfrm>
            <a:off x="3927260" y="4912040"/>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cxnSp>
        <p:nvCxnSpPr>
          <p:cNvPr id="11" name="מחבר ישר 15">
            <a:extLst>
              <a:ext uri="{FF2B5EF4-FFF2-40B4-BE49-F238E27FC236}">
                <a16:creationId xmlns:a16="http://schemas.microsoft.com/office/drawing/2014/main" id="{47ADA382-80D7-CCB3-2110-9BFE3965A430}"/>
              </a:ext>
            </a:extLst>
          </p:cNvPr>
          <p:cNvCxnSpPr>
            <a:cxnSpLocks/>
          </p:cNvCxnSpPr>
          <p:nvPr/>
        </p:nvCxnSpPr>
        <p:spPr>
          <a:xfrm flipV="1">
            <a:off x="1103388" y="2924944"/>
            <a:ext cx="3499995" cy="221133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1FDEF77-4E24-2EE3-E25F-392B0A53C909}"/>
              </a:ext>
            </a:extLst>
          </p:cNvPr>
          <p:cNvSpPr txBox="1"/>
          <p:nvPr/>
        </p:nvSpPr>
        <p:spPr>
          <a:xfrm>
            <a:off x="4333141" y="2493308"/>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cxnSp>
        <p:nvCxnSpPr>
          <p:cNvPr id="13" name="Straight Connector 12">
            <a:extLst>
              <a:ext uri="{FF2B5EF4-FFF2-40B4-BE49-F238E27FC236}">
                <a16:creationId xmlns:a16="http://schemas.microsoft.com/office/drawing/2014/main" id="{9C6BC67A-DE85-A890-FCDD-5AE099EC33F7}"/>
              </a:ext>
            </a:extLst>
          </p:cNvPr>
          <p:cNvCxnSpPr/>
          <p:nvPr/>
        </p:nvCxnSpPr>
        <p:spPr>
          <a:xfrm flipV="1">
            <a:off x="1125674" y="3634574"/>
            <a:ext cx="3229752" cy="9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26125E-8AF7-A4F2-70D1-16609CEE90AE}"/>
              </a:ext>
            </a:extLst>
          </p:cNvPr>
          <p:cNvCxnSpPr/>
          <p:nvPr/>
        </p:nvCxnSpPr>
        <p:spPr>
          <a:xfrm>
            <a:off x="3453300" y="3634574"/>
            <a:ext cx="0" cy="175205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E80942D-9739-1FF9-F7D0-C0DE91CC91BF}"/>
              </a:ext>
            </a:extLst>
          </p:cNvPr>
          <p:cNvCxnSpPr/>
          <p:nvPr/>
        </p:nvCxnSpPr>
        <p:spPr>
          <a:xfrm>
            <a:off x="2013522" y="3617574"/>
            <a:ext cx="0" cy="175205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441830D-6C94-CA60-5C71-7F2A8CFE86E0}"/>
              </a:ext>
            </a:extLst>
          </p:cNvPr>
          <p:cNvSpPr/>
          <p:nvPr/>
        </p:nvSpPr>
        <p:spPr>
          <a:xfrm>
            <a:off x="3287225" y="5465826"/>
            <a:ext cx="402674" cy="369332"/>
          </a:xfrm>
          <a:prstGeom prst="rect">
            <a:avLst/>
          </a:prstGeom>
        </p:spPr>
        <p:txBody>
          <a:bodyPr wrap="none">
            <a:spAutoFit/>
          </a:bodyPr>
          <a:lstStyle/>
          <a:p>
            <a:pPr lvl="0" algn="ctr">
              <a:defRPr/>
            </a:pPr>
            <a:r>
              <a:rPr lang="en-US" b="1" dirty="0" err="1">
                <a:solidFill>
                  <a:schemeClr val="tx2"/>
                </a:solidFill>
              </a:rPr>
              <a:t>Xs</a:t>
            </a:r>
            <a:endParaRPr lang="en-US" b="1" dirty="0">
              <a:solidFill>
                <a:schemeClr val="tx2"/>
              </a:solidFill>
            </a:endParaRPr>
          </a:p>
        </p:txBody>
      </p:sp>
      <p:sp>
        <p:nvSpPr>
          <p:cNvPr id="17" name="Rectangle 16">
            <a:extLst>
              <a:ext uri="{FF2B5EF4-FFF2-40B4-BE49-F238E27FC236}">
                <a16:creationId xmlns:a16="http://schemas.microsoft.com/office/drawing/2014/main" id="{3D0A4D19-316D-D26E-128D-DC0EAB9E27C2}"/>
              </a:ext>
            </a:extLst>
          </p:cNvPr>
          <p:cNvSpPr/>
          <p:nvPr/>
        </p:nvSpPr>
        <p:spPr>
          <a:xfrm>
            <a:off x="1821736" y="5430562"/>
            <a:ext cx="429541" cy="369332"/>
          </a:xfrm>
          <a:prstGeom prst="rect">
            <a:avLst/>
          </a:prstGeom>
        </p:spPr>
        <p:txBody>
          <a:bodyPr wrap="none">
            <a:spAutoFit/>
          </a:bodyPr>
          <a:lstStyle/>
          <a:p>
            <a:pPr lvl="0" algn="ctr">
              <a:defRPr/>
            </a:pPr>
            <a:r>
              <a:rPr lang="en-US" b="1" dirty="0" err="1">
                <a:solidFill>
                  <a:schemeClr val="tx2"/>
                </a:solidFill>
              </a:rPr>
              <a:t>Xd</a:t>
            </a:r>
            <a:endParaRPr lang="en-US" b="1" dirty="0">
              <a:solidFill>
                <a:schemeClr val="tx2"/>
              </a:solidFill>
            </a:endParaRPr>
          </a:p>
        </p:txBody>
      </p:sp>
      <p:cxnSp>
        <p:nvCxnSpPr>
          <p:cNvPr id="18" name="Straight Arrow Connector 17">
            <a:extLst>
              <a:ext uri="{FF2B5EF4-FFF2-40B4-BE49-F238E27FC236}">
                <a16:creationId xmlns:a16="http://schemas.microsoft.com/office/drawing/2014/main" id="{44EA0693-831A-29A9-6668-AF9FDC755E96}"/>
              </a:ext>
            </a:extLst>
          </p:cNvPr>
          <p:cNvCxnSpPr>
            <a:cxnSpLocks/>
          </p:cNvCxnSpPr>
          <p:nvPr/>
        </p:nvCxnSpPr>
        <p:spPr>
          <a:xfrm>
            <a:off x="1921279" y="4912040"/>
            <a:ext cx="1532021" cy="0"/>
          </a:xfrm>
          <a:prstGeom prst="straightConnector1">
            <a:avLst/>
          </a:prstGeom>
          <a:ln w="571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E8DA332-5511-C176-9FA6-ED741DD95A45}"/>
              </a:ext>
            </a:extLst>
          </p:cNvPr>
          <p:cNvSpPr/>
          <p:nvPr/>
        </p:nvSpPr>
        <p:spPr>
          <a:xfrm>
            <a:off x="2338581" y="4493601"/>
            <a:ext cx="749851" cy="369332"/>
          </a:xfrm>
          <a:prstGeom prst="rect">
            <a:avLst/>
          </a:prstGeom>
        </p:spPr>
        <p:txBody>
          <a:bodyPr wrap="square">
            <a:spAutoFit/>
          </a:bodyPr>
          <a:lstStyle/>
          <a:p>
            <a:r>
              <a:rPr lang="he-IL" dirty="0">
                <a:solidFill>
                  <a:srgbClr val="C00000"/>
                </a:solidFill>
              </a:rPr>
              <a:t>הייצוא</a:t>
            </a:r>
            <a:endParaRPr lang="en-IL" dirty="0">
              <a:solidFill>
                <a:srgbClr val="C00000"/>
              </a:solidFill>
            </a:endParaRPr>
          </a:p>
        </p:txBody>
      </p:sp>
      <p:sp>
        <p:nvSpPr>
          <p:cNvPr id="20" name="Rectangle 19">
            <a:extLst>
              <a:ext uri="{FF2B5EF4-FFF2-40B4-BE49-F238E27FC236}">
                <a16:creationId xmlns:a16="http://schemas.microsoft.com/office/drawing/2014/main" id="{963A763C-0B7E-13BB-0457-36BD1ED4BBD6}"/>
              </a:ext>
            </a:extLst>
          </p:cNvPr>
          <p:cNvSpPr/>
          <p:nvPr/>
        </p:nvSpPr>
        <p:spPr>
          <a:xfrm>
            <a:off x="524450" y="3484368"/>
            <a:ext cx="468397" cy="369332"/>
          </a:xfrm>
          <a:prstGeom prst="rect">
            <a:avLst/>
          </a:prstGeom>
        </p:spPr>
        <p:txBody>
          <a:bodyPr wrap="none">
            <a:spAutoFit/>
          </a:bodyPr>
          <a:lstStyle/>
          <a:p>
            <a:r>
              <a:rPr lang="en-US" dirty="0">
                <a:solidFill>
                  <a:prstClr val="black"/>
                </a:solidFill>
              </a:rPr>
              <a:t>Pw</a:t>
            </a:r>
            <a:endParaRPr lang="he-IL" dirty="0">
              <a:solidFill>
                <a:prstClr val="black"/>
              </a:solidFill>
            </a:endParaRPr>
          </a:p>
        </p:txBody>
      </p:sp>
      <p:sp>
        <p:nvSpPr>
          <p:cNvPr id="21" name="Rectangle 20">
            <a:extLst>
              <a:ext uri="{FF2B5EF4-FFF2-40B4-BE49-F238E27FC236}">
                <a16:creationId xmlns:a16="http://schemas.microsoft.com/office/drawing/2014/main" id="{DF0B0B9B-31C7-7DC5-D4E9-044C3D3B69A3}"/>
              </a:ext>
            </a:extLst>
          </p:cNvPr>
          <p:cNvSpPr/>
          <p:nvPr/>
        </p:nvSpPr>
        <p:spPr>
          <a:xfrm>
            <a:off x="5134187" y="3617574"/>
            <a:ext cx="3721214" cy="387490"/>
          </a:xfrm>
          <a:prstGeom prst="rect">
            <a:avLst/>
          </a:prstGeom>
          <a:noFill/>
          <a:ln>
            <a:solidFill>
              <a:srgbClr val="FA72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6898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1000" fill="hold"/>
                                        <p:tgtEl>
                                          <p:spTgt spid="21"/>
                                        </p:tgtEl>
                                        <p:attrNameLst>
                                          <p:attrName>ppt_w</p:attrName>
                                        </p:attrNameLst>
                                      </p:cBhvr>
                                      <p:tavLst>
                                        <p:tav tm="0">
                                          <p:val>
                                            <p:fltVal val="0"/>
                                          </p:val>
                                        </p:tav>
                                        <p:tav tm="100000">
                                          <p:val>
                                            <p:strVal val="#ppt_w"/>
                                          </p:val>
                                        </p:tav>
                                      </p:tavLst>
                                    </p:anim>
                                    <p:anim calcmode="lin" valueType="num">
                                      <p:cBhvr>
                                        <p:cTn id="38" dur="1000" fill="hold"/>
                                        <p:tgtEl>
                                          <p:spTgt spid="21"/>
                                        </p:tgtEl>
                                        <p:attrNameLst>
                                          <p:attrName>ppt_h</p:attrName>
                                        </p:attrNameLst>
                                      </p:cBhvr>
                                      <p:tavLst>
                                        <p:tav tm="0">
                                          <p:val>
                                            <p:fltVal val="0"/>
                                          </p:val>
                                        </p:tav>
                                        <p:tav tm="100000">
                                          <p:val>
                                            <p:strVal val="#ppt_h"/>
                                          </p:val>
                                        </p:tav>
                                      </p:tavLst>
                                    </p:anim>
                                    <p:anim calcmode="lin" valueType="num">
                                      <p:cBhvr>
                                        <p:cTn id="39" dur="1000" fill="hold"/>
                                        <p:tgtEl>
                                          <p:spTgt spid="21"/>
                                        </p:tgtEl>
                                        <p:attrNameLst>
                                          <p:attrName>style.rotation</p:attrName>
                                        </p:attrNameLst>
                                      </p:cBhvr>
                                      <p:tavLst>
                                        <p:tav tm="0">
                                          <p:val>
                                            <p:fltVal val="90"/>
                                          </p:val>
                                        </p:tav>
                                        <p:tav tm="100000">
                                          <p:val>
                                            <p:fltVal val="0"/>
                                          </p:val>
                                        </p:tav>
                                      </p:tavLst>
                                    </p:anim>
                                    <p:animEffect transition="in" filter="fade">
                                      <p:cBhvr>
                                        <p:cTn id="40"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0" grpId="0"/>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AA541E-A94E-384F-616F-CB375EDC6D11}"/>
              </a:ext>
            </a:extLst>
          </p:cNvPr>
          <p:cNvSpPr>
            <a:spLocks noGrp="1"/>
          </p:cNvSpPr>
          <p:nvPr>
            <p:ph type="title"/>
          </p:nvPr>
        </p:nvSpPr>
        <p:spPr/>
        <p:txBody>
          <a:bodyPr/>
          <a:lstStyle/>
          <a:p>
            <a:r>
              <a:rPr lang="he-IL" dirty="0"/>
              <a:t>משק סגור </a:t>
            </a:r>
            <a:endParaRPr lang="en-IL" dirty="0"/>
          </a:p>
        </p:txBody>
      </p:sp>
      <p:sp>
        <p:nvSpPr>
          <p:cNvPr id="3" name="מציין מיקום תוכן 2">
            <a:extLst>
              <a:ext uri="{FF2B5EF4-FFF2-40B4-BE49-F238E27FC236}">
                <a16:creationId xmlns:a16="http://schemas.microsoft.com/office/drawing/2014/main" id="{64276ABF-FE09-A373-B756-24BD5382A119}"/>
              </a:ext>
            </a:extLst>
          </p:cNvPr>
          <p:cNvSpPr>
            <a:spLocks noGrp="1"/>
          </p:cNvSpPr>
          <p:nvPr>
            <p:ph idx="1"/>
          </p:nvPr>
        </p:nvSpPr>
        <p:spPr>
          <a:xfrm>
            <a:off x="457200" y="1600201"/>
            <a:ext cx="8229600" cy="1752600"/>
          </a:xfrm>
        </p:spPr>
        <p:txBody>
          <a:bodyPr>
            <a:normAutofit/>
          </a:bodyPr>
          <a:lstStyle/>
          <a:p>
            <a:pPr marL="0" indent="0" algn="ctr">
              <a:buNone/>
            </a:pPr>
            <a:r>
              <a:rPr lang="he-IL" sz="5400" b="1" dirty="0"/>
              <a:t>הטלת מס בסכום קבוע בגובה </a:t>
            </a:r>
            <a:r>
              <a:rPr lang="en-US" sz="5400" b="1" dirty="0">
                <a:highlight>
                  <a:srgbClr val="FFFF00"/>
                </a:highlight>
              </a:rPr>
              <a:t>t</a:t>
            </a:r>
            <a:r>
              <a:rPr lang="he-IL" sz="5400" b="1" dirty="0"/>
              <a:t> </a:t>
            </a:r>
            <a:r>
              <a:rPr lang="he-IL" sz="5400" b="1" dirty="0" err="1"/>
              <a:t>ש''ח</a:t>
            </a:r>
            <a:r>
              <a:rPr lang="he-IL" sz="5400" b="1" dirty="0"/>
              <a:t> </a:t>
            </a:r>
            <a:endParaRPr lang="en-IL" sz="5400" b="1" dirty="0"/>
          </a:p>
        </p:txBody>
      </p:sp>
      <p:sp>
        <p:nvSpPr>
          <p:cNvPr id="4" name="מציין מיקום של תאריך 3">
            <a:extLst>
              <a:ext uri="{FF2B5EF4-FFF2-40B4-BE49-F238E27FC236}">
                <a16:creationId xmlns:a16="http://schemas.microsoft.com/office/drawing/2014/main" id="{2D0685B5-5342-E459-670A-0AA910DC5197}"/>
              </a:ext>
            </a:extLst>
          </p:cNvPr>
          <p:cNvSpPr>
            <a:spLocks noGrp="1"/>
          </p:cNvSpPr>
          <p:nvPr>
            <p:ph type="dt" sz="half" idx="10"/>
          </p:nvPr>
        </p:nvSpPr>
        <p:spPr/>
        <p:txBody>
          <a:bodyPr/>
          <a:lstStyle/>
          <a:p>
            <a:fld id="{8EBB0BF3-6265-44CE-A520-773E49705198}" type="datetime8">
              <a:rPr lang="he-IL" smtClean="0"/>
              <a:t>17 ינואר 26</a:t>
            </a:fld>
            <a:endParaRPr lang="he-IL"/>
          </a:p>
        </p:txBody>
      </p:sp>
      <p:sp>
        <p:nvSpPr>
          <p:cNvPr id="5" name="מציין מיקום של מספר שקופית 4">
            <a:extLst>
              <a:ext uri="{FF2B5EF4-FFF2-40B4-BE49-F238E27FC236}">
                <a16:creationId xmlns:a16="http://schemas.microsoft.com/office/drawing/2014/main" id="{99DAAD2B-2747-6157-4B4C-D85DDD824860}"/>
              </a:ext>
            </a:extLst>
          </p:cNvPr>
          <p:cNvSpPr>
            <a:spLocks noGrp="1"/>
          </p:cNvSpPr>
          <p:nvPr>
            <p:ph type="sldNum" sz="quarter" idx="12"/>
          </p:nvPr>
        </p:nvSpPr>
        <p:spPr/>
        <p:txBody>
          <a:bodyPr/>
          <a:lstStyle/>
          <a:p>
            <a:fld id="{492DB488-E800-4C9D-A68D-A9C6D048BCD3}" type="slidenum">
              <a:rPr lang="he-IL" smtClean="0"/>
              <a:pPr/>
              <a:t>20</a:t>
            </a:fld>
            <a:endParaRPr lang="he-IL"/>
          </a:p>
        </p:txBody>
      </p:sp>
    </p:spTree>
    <p:extLst>
      <p:ext uri="{BB962C8B-B14F-4D97-AF65-F5344CB8AC3E}">
        <p14:creationId xmlns:p14="http://schemas.microsoft.com/office/powerpoint/2010/main" val="3906919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913" y="131613"/>
            <a:ext cx="7772400" cy="1143000"/>
          </a:xfrm>
          <a:solidFill>
            <a:schemeClr val="accent1">
              <a:lumMod val="20000"/>
              <a:lumOff val="80000"/>
            </a:schemeClr>
          </a:solidFill>
        </p:spPr>
        <p:txBody>
          <a:bodyPr/>
          <a:lstStyle/>
          <a:p>
            <a:pPr algn="ctr"/>
            <a:r>
              <a:rPr lang="he-IL" dirty="0"/>
              <a:t>רווחת המשק </a:t>
            </a:r>
            <a:endParaRPr lang="en-US" dirty="0"/>
          </a:p>
        </p:txBody>
      </p:sp>
      <p:sp>
        <p:nvSpPr>
          <p:cNvPr id="15" name="Rectangle 14"/>
          <p:cNvSpPr/>
          <p:nvPr/>
        </p:nvSpPr>
        <p:spPr>
          <a:xfrm>
            <a:off x="6444761" y="1605707"/>
            <a:ext cx="1137382" cy="1384995"/>
          </a:xfrm>
          <a:prstGeom prst="rect">
            <a:avLst/>
          </a:prstGeom>
          <a:solidFill>
            <a:schemeClr val="accent2">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עודף הצרכן</a:t>
            </a:r>
          </a:p>
        </p:txBody>
      </p:sp>
      <p:sp>
        <p:nvSpPr>
          <p:cNvPr id="10" name="Rectangle 9"/>
          <p:cNvSpPr/>
          <p:nvPr/>
        </p:nvSpPr>
        <p:spPr>
          <a:xfrm>
            <a:off x="2371235" y="3494838"/>
            <a:ext cx="5210908" cy="1338828"/>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הערות:</a:t>
            </a:r>
          </a:p>
          <a:p>
            <a:pPr marL="342900" marR="0" lvl="0" indent="-342900" algn="r" defTabSz="914400" rtl="1" eaLnBrk="1" fontAlgn="auto" latinLnBrk="0" hangingPunct="1">
              <a:lnSpc>
                <a:spcPct val="150000"/>
              </a:lnSpc>
              <a:spcBef>
                <a:spcPts val="0"/>
              </a:spcBef>
              <a:spcAft>
                <a:spcPts val="0"/>
              </a:spcAft>
              <a:buClrTx/>
              <a:buSzTx/>
              <a:buFontTx/>
              <a:buAutoNum type="arabicPeriod"/>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הכנסות הממשלה חוזרות אל הציבור (כרווחה חברתית). </a:t>
            </a:r>
          </a:p>
          <a:p>
            <a:pPr marL="342900" marR="0" lvl="0" indent="-342900" algn="r" defTabSz="914400" rtl="1" eaLnBrk="1" fontAlgn="auto" latinLnBrk="0" hangingPunct="1">
              <a:lnSpc>
                <a:spcPct val="150000"/>
              </a:lnSpc>
              <a:spcBef>
                <a:spcPts val="0"/>
              </a:spcBef>
              <a:spcAft>
                <a:spcPts val="0"/>
              </a:spcAft>
              <a:buClrTx/>
              <a:buSzTx/>
              <a:buFontTx/>
              <a:buAutoNum type="arabicPeriod"/>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הכנסות הממשלה: (כמות מיוצרת) * (גובה המס ליחידה)</a:t>
            </a:r>
          </a:p>
        </p:txBody>
      </p:sp>
      <p:sp>
        <p:nvSpPr>
          <p:cNvPr id="8" name="Rectangle 7"/>
          <p:cNvSpPr/>
          <p:nvPr/>
        </p:nvSpPr>
        <p:spPr>
          <a:xfrm>
            <a:off x="4098681" y="1659568"/>
            <a:ext cx="2269880" cy="1331134"/>
          </a:xfrm>
          <a:prstGeom prst="rect">
            <a:avLst/>
          </a:prstGeom>
          <a:solidFill>
            <a:schemeClr val="accent6">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               </a:t>
            </a:r>
            <a:r>
              <a:rPr kumimoji="0" lang="he-IL" sz="2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עודף    	היצרן</a:t>
            </a:r>
          </a:p>
        </p:txBody>
      </p:sp>
      <p:sp>
        <p:nvSpPr>
          <p:cNvPr id="9" name="Rectangle 8"/>
          <p:cNvSpPr/>
          <p:nvPr/>
        </p:nvSpPr>
        <p:spPr>
          <a:xfrm>
            <a:off x="1391188" y="1631107"/>
            <a:ext cx="2616103" cy="1154162"/>
          </a:xfrm>
          <a:prstGeom prst="rect">
            <a:avLst/>
          </a:prstGeom>
          <a:solidFill>
            <a:schemeClr val="accent4">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a:t>
            </a:r>
            <a:r>
              <a:rPr kumimoji="0" lang="he-IL" sz="24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הכנסות/תקבולי    הממשלה </a:t>
            </a:r>
            <a:r>
              <a:rPr lang="he-IL" sz="2400" b="1" dirty="0">
                <a:solidFill>
                  <a:prstClr val="black"/>
                </a:solidFill>
                <a:latin typeface="David" pitchFamily="34" charset="-79"/>
                <a:cs typeface="David" pitchFamily="34" charset="-79"/>
              </a:rPr>
              <a:t>ממיסים</a:t>
            </a:r>
            <a:endParaRPr kumimoji="0" lang="he-IL" sz="2400" b="1" i="0" u="none" strike="noStrike" kern="1200" cap="none" spc="0" normalizeH="0" baseline="0" noProof="0" dirty="0">
              <a:ln>
                <a:noFill/>
              </a:ln>
              <a:solidFill>
                <a:prstClr val="black"/>
              </a:solidFill>
              <a:effectLst/>
              <a:uLnTx/>
              <a:uFillTx/>
              <a:latin typeface="David" pitchFamily="34" charset="-79"/>
              <a:ea typeface="+mn-ea"/>
              <a:cs typeface="David" pitchFamily="34" charset="-79"/>
            </a:endParaRPr>
          </a:p>
        </p:txBody>
      </p:sp>
    </p:spTree>
    <p:extLst>
      <p:ext uri="{BB962C8B-B14F-4D97-AF65-F5344CB8AC3E}">
        <p14:creationId xmlns:p14="http://schemas.microsoft.com/office/powerpoint/2010/main" val="426523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913" y="131613"/>
            <a:ext cx="7772400" cy="1143000"/>
          </a:xfrm>
        </p:spPr>
        <p:txBody>
          <a:bodyPr/>
          <a:lstStyle/>
          <a:p>
            <a:pPr algn="ctr"/>
            <a:r>
              <a:rPr lang="he-IL" dirty="0"/>
              <a:t>הטלת מס בסכום קבוע ליחידה- מס קנייה </a:t>
            </a:r>
            <a:endParaRPr lang="en-US" dirty="0"/>
          </a:p>
        </p:txBody>
      </p:sp>
      <p:sp>
        <p:nvSpPr>
          <p:cNvPr id="10" name="Rectangle 9"/>
          <p:cNvSpPr/>
          <p:nvPr/>
        </p:nvSpPr>
        <p:spPr>
          <a:xfrm>
            <a:off x="1048944" y="987429"/>
            <a:ext cx="7772400" cy="1338828"/>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כאשר המס מוטל על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הם אלו החייבים להעביר את סכום המס לממשלה:</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אין שינוי בעקומת הביקוש.</a:t>
            </a:r>
          </a:p>
        </p:txBody>
      </p:sp>
      <p:grpSp>
        <p:nvGrpSpPr>
          <p:cNvPr id="14" name="קבוצה 11"/>
          <p:cNvGrpSpPr/>
          <p:nvPr/>
        </p:nvGrpSpPr>
        <p:grpSpPr>
          <a:xfrm>
            <a:off x="609600" y="3276600"/>
            <a:ext cx="3810000" cy="3142478"/>
            <a:chOff x="713554" y="2786852"/>
            <a:chExt cx="4428794" cy="3143272"/>
          </a:xfrm>
        </p:grpSpPr>
        <p:cxnSp>
          <p:nvCxnSpPr>
            <p:cNvPr id="16"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8" name="מחבר ישר 13"/>
          <p:cNvCxnSpPr/>
          <p:nvPr/>
        </p:nvCxnSpPr>
        <p:spPr>
          <a:xfrm>
            <a:off x="610394" y="3561558"/>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מחבר ישר 15"/>
          <p:cNvCxnSpPr/>
          <p:nvPr/>
        </p:nvCxnSpPr>
        <p:spPr>
          <a:xfrm flipV="1">
            <a:off x="610394" y="3847310"/>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41844" y="3620854"/>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1" name="TextBox 20"/>
          <p:cNvSpPr txBox="1"/>
          <p:nvPr/>
        </p:nvSpPr>
        <p:spPr>
          <a:xfrm>
            <a:off x="3716797" y="5919012"/>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2" name="TextBox 21"/>
          <p:cNvSpPr txBox="1"/>
          <p:nvPr/>
        </p:nvSpPr>
        <p:spPr>
          <a:xfrm>
            <a:off x="324642" y="2847178"/>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3" name="מחבר ישר 23"/>
          <p:cNvCxnSpPr/>
          <p:nvPr/>
        </p:nvCxnSpPr>
        <p:spPr>
          <a:xfrm rot="5400000">
            <a:off x="1396493" y="5668979"/>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מחבר ישר 24"/>
          <p:cNvCxnSpPr/>
          <p:nvPr/>
        </p:nvCxnSpPr>
        <p:spPr>
          <a:xfrm rot="5400000">
            <a:off x="1390030" y="4126880"/>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8"/>
          <p:cNvCxnSpPr/>
          <p:nvPr/>
        </p:nvCxnSpPr>
        <p:spPr>
          <a:xfrm flipV="1">
            <a:off x="610394" y="3502262"/>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741844" y="3275806"/>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7" name="מחבר ישר 31"/>
          <p:cNvCxnSpPr/>
          <p:nvPr/>
        </p:nvCxnSpPr>
        <p:spPr>
          <a:xfrm flipH="1">
            <a:off x="1931484" y="4776004"/>
            <a:ext cx="794" cy="164228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8" name="מחבר ישר 32"/>
          <p:cNvCxnSpPr/>
          <p:nvPr/>
        </p:nvCxnSpPr>
        <p:spPr>
          <a:xfrm rot="5400000">
            <a:off x="1301716" y="4038566"/>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6"/>
          <p:cNvCxnSpPr/>
          <p:nvPr/>
        </p:nvCxnSpPr>
        <p:spPr>
          <a:xfrm rot="5400000">
            <a:off x="1301715" y="440789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222862" y="2316045"/>
            <a:ext cx="4572000" cy="2585323"/>
          </a:xfrm>
          <a:prstGeom prst="rect">
            <a:avLst/>
          </a:prstGeom>
        </p:spPr>
        <p:txBody>
          <a:bodyPr>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עקומת ההיצע</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כל יחידה עולה לייצרה יותר מאשר קודם בדיוק בגובה המס, לכן הטלת המס גרמה לכך שעקומת ה</a:t>
            </a:r>
            <a:r>
              <a:rPr kumimoji="0" lang="en-US"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MC</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של היצרנים </a:t>
            </a: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גבוהה</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יותר במרחק אנכי השווה לגודל המס הקבוע. כלומר הכמות המוצעת קטנה יותר בכל מחיר ומחיר (עקומת ההיצע מצטמצמת). </a:t>
            </a:r>
          </a:p>
        </p:txBody>
      </p:sp>
      <p:sp>
        <p:nvSpPr>
          <p:cNvPr id="30" name="משולש ישר-זווית 34"/>
          <p:cNvSpPr/>
          <p:nvPr/>
        </p:nvSpPr>
        <p:spPr>
          <a:xfrm>
            <a:off x="593427" y="3561558"/>
            <a:ext cx="1285884" cy="1143008"/>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עודף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הצרכן</a:t>
            </a:r>
          </a:p>
        </p:txBody>
      </p:sp>
      <p:sp>
        <p:nvSpPr>
          <p:cNvPr id="31" name="משולש ישר-זווית 35"/>
          <p:cNvSpPr/>
          <p:nvPr/>
        </p:nvSpPr>
        <p:spPr>
          <a:xfrm flipV="1">
            <a:off x="593427" y="5069781"/>
            <a:ext cx="1357322" cy="928694"/>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2" name="TextBox 31"/>
          <p:cNvSpPr txBox="1"/>
          <p:nvPr/>
        </p:nvSpPr>
        <p:spPr>
          <a:xfrm>
            <a:off x="664865" y="5007824"/>
            <a:ext cx="768159" cy="55399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רווחי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היצרנים</a:t>
            </a:r>
          </a:p>
        </p:txBody>
      </p:sp>
      <p:sp>
        <p:nvSpPr>
          <p:cNvPr id="33" name="מלבן 37"/>
          <p:cNvSpPr/>
          <p:nvPr/>
        </p:nvSpPr>
        <p:spPr>
          <a:xfrm>
            <a:off x="609600" y="4705901"/>
            <a:ext cx="1321884" cy="3455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הכנסות ממשלה</a:t>
            </a:r>
          </a:p>
        </p:txBody>
      </p:sp>
      <p:sp>
        <p:nvSpPr>
          <p:cNvPr id="34" name="TextBox 33"/>
          <p:cNvSpPr txBox="1"/>
          <p:nvPr/>
        </p:nvSpPr>
        <p:spPr>
          <a:xfrm>
            <a:off x="3753666" y="640537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5" name="TextBox 34"/>
          <p:cNvSpPr txBox="1"/>
          <p:nvPr/>
        </p:nvSpPr>
        <p:spPr>
          <a:xfrm>
            <a:off x="2054860" y="6405024"/>
            <a:ext cx="590552"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36" name="TextBox 35"/>
          <p:cNvSpPr txBox="1"/>
          <p:nvPr/>
        </p:nvSpPr>
        <p:spPr>
          <a:xfrm>
            <a:off x="1672965" y="6384518"/>
            <a:ext cx="455607"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4472C4"/>
                </a:solidFill>
                <a:effectLst/>
                <a:uLnTx/>
                <a:uFillTx/>
                <a:latin typeface="Calibri" panose="020F0502020204030204"/>
                <a:ea typeface="+mn-ea"/>
                <a:cs typeface="Arial" panose="020B0604020202020204" pitchFamily="34" charset="0"/>
              </a:rPr>
              <a:t>1</a:t>
            </a:r>
          </a:p>
        </p:txBody>
      </p:sp>
      <p:sp>
        <p:nvSpPr>
          <p:cNvPr id="37" name="TextBox 36"/>
          <p:cNvSpPr txBox="1"/>
          <p:nvPr/>
        </p:nvSpPr>
        <p:spPr>
          <a:xfrm>
            <a:off x="-14955" y="4497813"/>
            <a:ext cx="66556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8" name="TextBox 37"/>
          <p:cNvSpPr txBox="1"/>
          <p:nvPr/>
        </p:nvSpPr>
        <p:spPr>
          <a:xfrm>
            <a:off x="29683" y="4953221"/>
            <a:ext cx="62709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9" name="מלבן 37">
            <a:extLst>
              <a:ext uri="{FF2B5EF4-FFF2-40B4-BE49-F238E27FC236}">
                <a16:creationId xmlns:a16="http://schemas.microsoft.com/office/drawing/2014/main" id="{8A495704-ABB9-4888-B79F-5E02DBFB1964}"/>
              </a:ext>
            </a:extLst>
          </p:cNvPr>
          <p:cNvSpPr/>
          <p:nvPr/>
        </p:nvSpPr>
        <p:spPr>
          <a:xfrm>
            <a:off x="4444326" y="5534128"/>
            <a:ext cx="1349528" cy="7254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הכנסות ממשלה</a:t>
            </a:r>
          </a:p>
        </p:txBody>
      </p:sp>
      <p:sp>
        <p:nvSpPr>
          <p:cNvPr id="40" name="Equals 39">
            <a:extLst>
              <a:ext uri="{FF2B5EF4-FFF2-40B4-BE49-F238E27FC236}">
                <a16:creationId xmlns:a16="http://schemas.microsoft.com/office/drawing/2014/main" id="{47F788ED-A8C2-4F81-B869-8DACA54CFA9A}"/>
              </a:ext>
            </a:extLst>
          </p:cNvPr>
          <p:cNvSpPr/>
          <p:nvPr/>
        </p:nvSpPr>
        <p:spPr>
          <a:xfrm>
            <a:off x="5860464" y="5646002"/>
            <a:ext cx="304800" cy="27301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057C1BA3-67CF-4BCA-99D6-253E2A644B32}"/>
              </a:ext>
            </a:extLst>
          </p:cNvPr>
          <p:cNvSpPr txBox="1"/>
          <p:nvPr/>
        </p:nvSpPr>
        <p:spPr>
          <a:xfrm>
            <a:off x="5652120" y="5549680"/>
            <a:ext cx="324399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(גובה המס)*(כמות מיוצרת</a:t>
            </a:r>
            <a:r>
              <a:rPr kumimoji="0" lang="he-IL" sz="1800" b="0" i="0" u="none" strike="noStrike" kern="1200" cap="none" spc="0" normalizeH="0" baseline="-25000" noProof="0" dirty="0">
                <a:ln>
                  <a:noFill/>
                </a:ln>
                <a:solidFill>
                  <a:srgbClr val="4472C4"/>
                </a:solidFill>
                <a:effectLst/>
                <a:uLnTx/>
                <a:uFillTx/>
                <a:latin typeface="Calibri" panose="020F0502020204030204"/>
                <a:ea typeface="+mn-ea"/>
                <a:cs typeface="Arial" panose="020B0604020202020204" pitchFamily="34" charset="0"/>
              </a:rPr>
              <a:t>1</a:t>
            </a: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X</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5" name="Straight Arrow Connector 4">
            <a:extLst>
              <a:ext uri="{FF2B5EF4-FFF2-40B4-BE49-F238E27FC236}">
                <a16:creationId xmlns:a16="http://schemas.microsoft.com/office/drawing/2014/main" id="{C35463B3-8BCF-E101-BCD4-C37568245227}"/>
              </a:ext>
            </a:extLst>
          </p:cNvPr>
          <p:cNvCxnSpPr>
            <a:cxnSpLocks/>
          </p:cNvCxnSpPr>
          <p:nvPr/>
        </p:nvCxnSpPr>
        <p:spPr>
          <a:xfrm>
            <a:off x="1989441" y="4931597"/>
            <a:ext cx="1841682" cy="54603"/>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53BB5E08-BBF0-34E5-DAD2-B38C025209C3}"/>
              </a:ext>
            </a:extLst>
          </p:cNvPr>
          <p:cNvSpPr txBox="1"/>
          <p:nvPr/>
        </p:nvSpPr>
        <p:spPr>
          <a:xfrm>
            <a:off x="3999031" y="4465625"/>
            <a:ext cx="2084439" cy="923330"/>
          </a:xfrm>
          <a:prstGeom prst="rect">
            <a:avLst/>
          </a:prstGeom>
          <a:solidFill>
            <a:schemeClr val="accent2">
              <a:lumMod val="20000"/>
              <a:lumOff val="80000"/>
            </a:schemeClr>
          </a:solid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הירידה בסך הרווחה הכלכלית  נקראת ''נטל עודף''</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Isosceles Triangle 7">
            <a:extLst>
              <a:ext uri="{FF2B5EF4-FFF2-40B4-BE49-F238E27FC236}">
                <a16:creationId xmlns:a16="http://schemas.microsoft.com/office/drawing/2014/main" id="{E6CE6CF2-2798-9712-D6FC-1C0073AD6EFF}"/>
              </a:ext>
            </a:extLst>
          </p:cNvPr>
          <p:cNvSpPr/>
          <p:nvPr/>
        </p:nvSpPr>
        <p:spPr>
          <a:xfrm rot="5400000">
            <a:off x="1839529" y="4796051"/>
            <a:ext cx="394068" cy="232787"/>
          </a:xfrm>
          <a:prstGeom prst="triangl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537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down)">
                                      <p:cBhvr>
                                        <p:cTn id="10" dur="500"/>
                                        <p:tgtEl>
                                          <p:spTgt spid="2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par>
                                <p:cTn id="14" presetID="22" presetClass="entr" presetSubtype="4"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down)">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2" presetClass="entr" presetSubtype="4"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arn(inVertical)">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down)">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circle(in)">
                                      <p:cBhvr>
                                        <p:cTn id="50" dur="20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circle(in)">
                                      <p:cBhvr>
                                        <p:cTn id="55" dur="20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down)">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down)">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wipe(down)">
                                      <p:cBhvr>
                                        <p:cTn id="70" dur="500"/>
                                        <p:tgtEl>
                                          <p:spTgt spid="5"/>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wipe(down)">
                                      <p:cBhvr>
                                        <p:cTn id="7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animBg="1"/>
      <p:bldP spid="31" grpId="0" animBg="1"/>
      <p:bldP spid="32" grpId="0"/>
      <p:bldP spid="33" grpId="0" animBg="1"/>
      <p:bldP spid="36" grpId="0"/>
      <p:bldP spid="37" grpId="0"/>
      <p:bldP spid="38" grpId="0"/>
      <p:bldP spid="39" grpId="0" animBg="1"/>
      <p:bldP spid="40" grpId="0" animBg="1"/>
      <p:bldP spid="41"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DD4A0-5FA8-CB81-843C-6F20DD0A09A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6487F71-8738-7044-D8C0-95845EDFC86B}"/>
              </a:ext>
            </a:extLst>
          </p:cNvPr>
          <p:cNvSpPr>
            <a:spLocks noGrp="1"/>
          </p:cNvSpPr>
          <p:nvPr>
            <p:ph type="title"/>
          </p:nvPr>
        </p:nvSpPr>
        <p:spPr>
          <a:xfrm>
            <a:off x="482600" y="1140582"/>
            <a:ext cx="8229600" cy="1143000"/>
          </a:xfrm>
        </p:spPr>
        <p:txBody>
          <a:bodyPr>
            <a:normAutofit fontScale="90000"/>
          </a:bodyPr>
          <a:lstStyle/>
          <a:p>
            <a:pPr algn="r"/>
            <a:r>
              <a:rPr lang="he-IL" sz="4000" u="sng" dirty="0">
                <a:cs typeface="+mn-cs"/>
              </a:rPr>
              <a:t>מסקנות:</a:t>
            </a:r>
            <a:br>
              <a:rPr lang="en-US" dirty="0"/>
            </a:br>
            <a:r>
              <a:rPr lang="he-IL" sz="3100" dirty="0">
                <a:cs typeface="+mn-cs"/>
              </a:rPr>
              <a:t>כאשר העקומות רגילות, הטלת המס תגרום במשק:</a:t>
            </a:r>
            <a:endParaRPr lang="en-IL" dirty="0">
              <a:cs typeface="+mn-cs"/>
            </a:endParaRPr>
          </a:p>
        </p:txBody>
      </p:sp>
      <p:sp>
        <p:nvSpPr>
          <p:cNvPr id="3" name="מציין מיקום תוכן 2">
            <a:extLst>
              <a:ext uri="{FF2B5EF4-FFF2-40B4-BE49-F238E27FC236}">
                <a16:creationId xmlns:a16="http://schemas.microsoft.com/office/drawing/2014/main" id="{84FBCA87-C876-0E1E-D470-40ADBFFAF68C}"/>
              </a:ext>
            </a:extLst>
          </p:cNvPr>
          <p:cNvSpPr>
            <a:spLocks noGrp="1"/>
          </p:cNvSpPr>
          <p:nvPr>
            <p:ph idx="1"/>
          </p:nvPr>
        </p:nvSpPr>
        <p:spPr>
          <a:xfrm>
            <a:off x="482600" y="369889"/>
            <a:ext cx="8229600" cy="1143001"/>
          </a:xfrm>
        </p:spPr>
        <p:txBody>
          <a:bodyPr>
            <a:normAutofit/>
          </a:bodyPr>
          <a:lstStyle/>
          <a:p>
            <a:pPr marL="0" indent="0" algn="ctr">
              <a:buNone/>
            </a:pPr>
            <a:r>
              <a:rPr lang="he-IL" sz="4000" b="1" dirty="0"/>
              <a:t>הטלת מס בסכום קבוע בגובה </a:t>
            </a:r>
            <a:r>
              <a:rPr lang="en-US" sz="4000" b="1" dirty="0">
                <a:highlight>
                  <a:srgbClr val="FFFF00"/>
                </a:highlight>
              </a:rPr>
              <a:t>t</a:t>
            </a:r>
            <a:r>
              <a:rPr lang="he-IL" sz="4000" b="1" dirty="0"/>
              <a:t> </a:t>
            </a:r>
            <a:r>
              <a:rPr lang="he-IL" sz="4000" b="1" dirty="0" err="1"/>
              <a:t>ש''ח</a:t>
            </a:r>
            <a:r>
              <a:rPr lang="he-IL" sz="4000" b="1" dirty="0"/>
              <a:t> </a:t>
            </a:r>
            <a:endParaRPr lang="en-IL" sz="4000" b="1" dirty="0"/>
          </a:p>
        </p:txBody>
      </p:sp>
      <p:sp>
        <p:nvSpPr>
          <p:cNvPr id="4" name="מציין מיקום של תאריך 3">
            <a:extLst>
              <a:ext uri="{FF2B5EF4-FFF2-40B4-BE49-F238E27FC236}">
                <a16:creationId xmlns:a16="http://schemas.microsoft.com/office/drawing/2014/main" id="{B21433B2-B512-E844-2FAC-8AFD1B5A6B99}"/>
              </a:ext>
            </a:extLst>
          </p:cNvPr>
          <p:cNvSpPr>
            <a:spLocks noGrp="1"/>
          </p:cNvSpPr>
          <p:nvPr>
            <p:ph type="dt" sz="half" idx="10"/>
          </p:nvPr>
        </p:nvSpPr>
        <p:spPr/>
        <p:txBody>
          <a:bodyPr/>
          <a:lstStyle/>
          <a:p>
            <a:fld id="{8EBB0BF3-6265-44CE-A520-773E49705198}" type="datetime8">
              <a:rPr lang="he-IL" smtClean="0"/>
              <a:t>17 ינואר 26</a:t>
            </a:fld>
            <a:endParaRPr lang="he-IL"/>
          </a:p>
        </p:txBody>
      </p:sp>
      <p:sp>
        <p:nvSpPr>
          <p:cNvPr id="5" name="מציין מיקום של מספר שקופית 4">
            <a:extLst>
              <a:ext uri="{FF2B5EF4-FFF2-40B4-BE49-F238E27FC236}">
                <a16:creationId xmlns:a16="http://schemas.microsoft.com/office/drawing/2014/main" id="{4EA9CFC7-C828-A6BD-BBE7-C64C459B21C2}"/>
              </a:ext>
            </a:extLst>
          </p:cNvPr>
          <p:cNvSpPr>
            <a:spLocks noGrp="1"/>
          </p:cNvSpPr>
          <p:nvPr>
            <p:ph type="sldNum" sz="quarter" idx="12"/>
          </p:nvPr>
        </p:nvSpPr>
        <p:spPr/>
        <p:txBody>
          <a:bodyPr/>
          <a:lstStyle/>
          <a:p>
            <a:fld id="{492DB488-E800-4C9D-A68D-A9C6D048BCD3}" type="slidenum">
              <a:rPr lang="he-IL" smtClean="0"/>
              <a:pPr/>
              <a:t>23</a:t>
            </a:fld>
            <a:endParaRPr lang="he-IL"/>
          </a:p>
        </p:txBody>
      </p:sp>
      <p:sp>
        <p:nvSpPr>
          <p:cNvPr id="6" name="תיבת טקסט 5">
            <a:extLst>
              <a:ext uri="{FF2B5EF4-FFF2-40B4-BE49-F238E27FC236}">
                <a16:creationId xmlns:a16="http://schemas.microsoft.com/office/drawing/2014/main" id="{7A85AD5F-1350-1E3D-1987-7E11D838A03E}"/>
              </a:ext>
            </a:extLst>
          </p:cNvPr>
          <p:cNvSpPr txBox="1"/>
          <p:nvPr/>
        </p:nvSpPr>
        <p:spPr>
          <a:xfrm>
            <a:off x="1600200" y="2291595"/>
            <a:ext cx="6934200" cy="4247317"/>
          </a:xfrm>
          <a:prstGeom prst="rect">
            <a:avLst/>
          </a:prstGeom>
          <a:noFill/>
        </p:spPr>
        <p:txBody>
          <a:bodyPr wrap="square" rtlCol="0">
            <a:spAutoFit/>
          </a:bodyPr>
          <a:lstStyle/>
          <a:p>
            <a:pPr marL="285750" indent="-285750" algn="r" rtl="1">
              <a:lnSpc>
                <a:spcPct val="200000"/>
              </a:lnSpc>
              <a:buFont typeface="Arial" panose="020B0604020202020204" pitchFamily="34" charset="0"/>
              <a:buChar char="•"/>
            </a:pPr>
            <a:r>
              <a:rPr lang="he-IL" dirty="0"/>
              <a:t>הכמות תרד</a:t>
            </a:r>
          </a:p>
          <a:p>
            <a:pPr marL="285750" indent="-285750" algn="r" rtl="1">
              <a:lnSpc>
                <a:spcPct val="200000"/>
              </a:lnSpc>
              <a:buFont typeface="Arial" panose="020B0604020202020204" pitchFamily="34" charset="0"/>
              <a:buChar char="•"/>
            </a:pPr>
            <a:r>
              <a:rPr lang="he-IL" dirty="0"/>
              <a:t>מחיר לצרכן יעלה (יותר ככל שהביקוש קשיח יותר), עודף צרכנים ירד</a:t>
            </a:r>
          </a:p>
          <a:p>
            <a:pPr marL="285750" indent="-285750" algn="r" rtl="1">
              <a:lnSpc>
                <a:spcPct val="200000"/>
              </a:lnSpc>
              <a:buFont typeface="Arial" panose="020B0604020202020204" pitchFamily="34" charset="0"/>
              <a:buChar char="•"/>
            </a:pPr>
            <a:r>
              <a:rPr lang="he-IL" dirty="0"/>
              <a:t>מחיר ליצרן ירד (יותר ככל שהביקוש גמיש יותר), עודף יצרנים ירד</a:t>
            </a:r>
          </a:p>
          <a:p>
            <a:pPr marL="285750" indent="-285750" algn="r" rtl="1">
              <a:lnSpc>
                <a:spcPct val="200000"/>
              </a:lnSpc>
              <a:buFont typeface="Arial" panose="020B0604020202020204" pitchFamily="34" charset="0"/>
              <a:buChar char="•"/>
            </a:pPr>
            <a:r>
              <a:rPr lang="he-IL" dirty="0"/>
              <a:t>המחיר לצרכן תמיד יהיה גבוה מהמחיר ליצרן בגובה המס </a:t>
            </a:r>
            <a:r>
              <a:rPr lang="en-US" b="1" dirty="0">
                <a:highlight>
                  <a:srgbClr val="FFFF00"/>
                </a:highlight>
              </a:rPr>
              <a:t>t</a:t>
            </a:r>
            <a:r>
              <a:rPr lang="he-IL" b="1" dirty="0"/>
              <a:t> </a:t>
            </a:r>
            <a:r>
              <a:rPr lang="he-IL" b="1" dirty="0" err="1"/>
              <a:t>ש''ח</a:t>
            </a:r>
            <a:r>
              <a:rPr lang="he-IL" b="1" dirty="0"/>
              <a:t> </a:t>
            </a:r>
            <a:r>
              <a:rPr lang="he-IL" dirty="0"/>
              <a:t>ליחידה </a:t>
            </a:r>
          </a:p>
          <a:p>
            <a:pPr marL="285750" indent="-285750" algn="r" rtl="1">
              <a:lnSpc>
                <a:spcPct val="200000"/>
              </a:lnSpc>
              <a:buFont typeface="Arial" panose="020B0604020202020204" pitchFamily="34" charset="0"/>
              <a:buChar char="•"/>
            </a:pPr>
            <a:r>
              <a:rPr lang="he-IL" dirty="0"/>
              <a:t>רווחה כלכלית תרד (ייווצר נטל עודף)</a:t>
            </a:r>
          </a:p>
          <a:p>
            <a:pPr marL="285750" indent="-285750" algn="r" rtl="1">
              <a:lnSpc>
                <a:spcPct val="200000"/>
              </a:lnSpc>
              <a:buFont typeface="Arial" panose="020B0604020202020204" pitchFamily="34" charset="0"/>
              <a:buChar char="•"/>
            </a:pPr>
            <a:r>
              <a:rPr lang="he-IL" dirty="0"/>
              <a:t>לא ניתן לדעת מה קרה להוצאות הצרכנים (תלוי בגמישות הביקוש)</a:t>
            </a:r>
          </a:p>
          <a:p>
            <a:pPr marL="285750" indent="-285750" algn="r" rtl="1">
              <a:lnSpc>
                <a:spcPct val="200000"/>
              </a:lnSpc>
              <a:buFont typeface="Arial" panose="020B0604020202020204" pitchFamily="34" charset="0"/>
              <a:buChar char="•"/>
            </a:pPr>
            <a:r>
              <a:rPr lang="he-IL" dirty="0"/>
              <a:t>פדיון/הכנסות היצרנים ירדו</a:t>
            </a:r>
          </a:p>
          <a:p>
            <a:pPr algn="r"/>
            <a:endParaRPr lang="en-IL" dirty="0"/>
          </a:p>
        </p:txBody>
      </p:sp>
    </p:spTree>
    <p:extLst>
      <p:ext uri="{BB962C8B-B14F-4D97-AF65-F5344CB8AC3E}">
        <p14:creationId xmlns:p14="http://schemas.microsoft.com/office/powerpoint/2010/main" val="2800279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58451"/>
            <a:ext cx="7772400" cy="880280"/>
          </a:xfrm>
        </p:spPr>
        <p:txBody>
          <a:bodyPr>
            <a:normAutofit/>
          </a:bodyPr>
          <a:lstStyle/>
          <a:p>
            <a:pPr algn="ctr"/>
            <a:r>
              <a:rPr lang="he-IL" sz="3200" dirty="0"/>
              <a:t>הטלת מס בסכום קבוע ליחידה</a:t>
            </a:r>
            <a:endParaRPr lang="en-US" sz="3200" dirty="0"/>
          </a:p>
        </p:txBody>
      </p:sp>
      <p:sp>
        <p:nvSpPr>
          <p:cNvPr id="7" name="Rectangle 6"/>
          <p:cNvSpPr/>
          <p:nvPr/>
        </p:nvSpPr>
        <p:spPr>
          <a:xfrm>
            <a:off x="6813966" y="-58940"/>
            <a:ext cx="2113327" cy="2204450"/>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36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שאלה 1</a:t>
            </a:r>
            <a:r>
              <a:rPr kumimoji="0" lang="he-IL" sz="24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a:t>
            </a:r>
          </a:p>
          <a:p>
            <a:pPr marL="0" marR="0" lvl="0" indent="0" algn="r" defTabSz="914400" rtl="1" eaLnBrk="1" fontAlgn="auto" latinLnBrk="0" hangingPunct="1">
              <a:lnSpc>
                <a:spcPct val="2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עקומת הביקוש הינה:</a:t>
            </a:r>
          </a:p>
          <a:p>
            <a:pPr marL="0" marR="0" lvl="0" indent="0" algn="r" defTabSz="914400" rtl="1" eaLnBrk="1" fontAlgn="auto" latinLnBrk="0" hangingPunct="1">
              <a:lnSpc>
                <a:spcPct val="2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עקומת ההיצע הינה:</a:t>
            </a:r>
          </a:p>
        </p:txBody>
      </p:sp>
      <p:sp>
        <p:nvSpPr>
          <p:cNvPr id="11" name="Rectangle 10"/>
          <p:cNvSpPr/>
          <p:nvPr/>
        </p:nvSpPr>
        <p:spPr>
          <a:xfrm>
            <a:off x="901968" y="2336063"/>
            <a:ext cx="7998313" cy="4124206"/>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א. הוטל מס של 2 ש''ח ליחידה על כל יחידה מיוצרת. מצאו:</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1. מה תהיה הכמות המיוצרת והמחיר בשוק לפני הטלת המס?</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2. מה תהיה הכמות המיוצרת לאחר הטלת המס?</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3. מה יהיה המחיר לצרכן בעקבות הטלת המס?</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4. מה יהיה המחיר ליצרן בעקבות הטלת המס?</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5. מה יקרה לרווחה החברתית בעקבות הטלת המס?</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ב. בחרו בתשובה </a:t>
            </a:r>
            <a:r>
              <a:rPr kumimoji="0" lang="he-IL" sz="16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שאינה</a:t>
            </a:r>
            <a:r>
              <a:rPr kumimoji="0" lang="he-IL" sz="16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 נכונה: בעקבות הטלת המס -</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1. המחיר לצרכן יעלה בפחות מגובה המס.</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2. המחיר שהיצרן מקבל יהיה נמוך מהמחיר שהצרכן משלם בגובה המס.</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3. הרווחה החברתית במשק תקטן.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4. הכמות המיוצרת לא משתנה. </a:t>
            </a:r>
          </a:p>
        </p:txBody>
      </p:sp>
      <p:sp>
        <p:nvSpPr>
          <p:cNvPr id="3" name="Rectangle 2"/>
          <p:cNvSpPr/>
          <p:nvPr/>
        </p:nvSpPr>
        <p:spPr>
          <a:xfrm>
            <a:off x="4937430" y="931093"/>
            <a:ext cx="1701107" cy="52322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8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8" name="Rectangle 7"/>
          <p:cNvSpPr/>
          <p:nvPr/>
        </p:nvSpPr>
        <p:spPr>
          <a:xfrm>
            <a:off x="4855629" y="1705358"/>
            <a:ext cx="1827744" cy="52322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800" b="0" i="0" u="none" strike="noStrike" kern="1200" cap="none" spc="0" normalizeH="0" baseline="0" noProof="0" dirty="0">
                <a:ln>
                  <a:noFill/>
                </a:ln>
                <a:solidFill>
                  <a:srgbClr val="7030A0"/>
                </a:solidFill>
                <a:effectLst/>
                <a:uLnTx/>
                <a:uFillTx/>
                <a:latin typeface="Calibri" panose="020F0502020204030204"/>
                <a:ea typeface="+mn-ea"/>
                <a:cs typeface="+mn-cs"/>
              </a:rPr>
              <a:t>P=10+0.5X</a:t>
            </a:r>
          </a:p>
        </p:txBody>
      </p:sp>
    </p:spTree>
    <p:extLst>
      <p:ext uri="{BB962C8B-B14F-4D97-AF65-F5344CB8AC3E}">
        <p14:creationId xmlns:p14="http://schemas.microsoft.com/office/powerpoint/2010/main" val="316345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6952" y="44624"/>
            <a:ext cx="1719192" cy="744484"/>
          </a:xfrm>
        </p:spPr>
        <p:txBody>
          <a:bodyPr>
            <a:normAutofit fontScale="90000"/>
          </a:bodyPr>
          <a:lstStyle/>
          <a:p>
            <a:pPr algn="r" rtl="1">
              <a:lnSpc>
                <a:spcPct val="150000"/>
              </a:lnSpc>
            </a:pPr>
            <a:r>
              <a:rPr lang="he-IL" sz="3200" b="1" dirty="0">
                <a:latin typeface="David" pitchFamily="34" charset="-79"/>
                <a:cs typeface="David" pitchFamily="34" charset="-79"/>
              </a:rPr>
              <a:t>שאלה 1</a:t>
            </a:r>
            <a:r>
              <a:rPr lang="he-IL" sz="2000" b="1" dirty="0">
                <a:latin typeface="David" pitchFamily="34" charset="-79"/>
                <a:cs typeface="David" pitchFamily="34" charset="-79"/>
              </a:rPr>
              <a:t> </a:t>
            </a:r>
          </a:p>
        </p:txBody>
      </p:sp>
      <p:sp>
        <p:nvSpPr>
          <p:cNvPr id="11" name="Rectangle 10"/>
          <p:cNvSpPr/>
          <p:nvPr/>
        </p:nvSpPr>
        <p:spPr>
          <a:xfrm>
            <a:off x="4450515" y="976088"/>
            <a:ext cx="4453669" cy="1908215"/>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הוטל מס של 2 ש''ח ליחידה על כל יחידה מיוצרת. </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1. מה תהיה הכמות המיוצרת והמחיר בשוק ?</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2. מה תהיה הכמות המיוצרת לאחר הטלת המס?</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3. מה יהיה המחיר לצרכן בעקבות הטלת המס?</a:t>
            </a:r>
            <a:br>
              <a:rPr kumimoji="0" lang="en-US"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4. מה יהיה המחיר ליצרן בעקבות הטלת המס?</a:t>
            </a:r>
          </a:p>
        </p:txBody>
      </p:sp>
      <p:sp>
        <p:nvSpPr>
          <p:cNvPr id="3" name="Rectangle 2"/>
          <p:cNvSpPr/>
          <p:nvPr/>
        </p:nvSpPr>
        <p:spPr>
          <a:xfrm>
            <a:off x="830585" y="1249185"/>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8" name="Rectangle 7"/>
          <p:cNvSpPr/>
          <p:nvPr/>
        </p:nvSpPr>
        <p:spPr>
          <a:xfrm>
            <a:off x="830585" y="1677605"/>
            <a:ext cx="135646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P=10+0.5X</a:t>
            </a:r>
          </a:p>
        </p:txBody>
      </p:sp>
      <p:sp>
        <p:nvSpPr>
          <p:cNvPr id="4" name="Rectangle 3">
            <a:extLst>
              <a:ext uri="{FF2B5EF4-FFF2-40B4-BE49-F238E27FC236}">
                <a16:creationId xmlns:a16="http://schemas.microsoft.com/office/drawing/2014/main" id="{DAE1FF7A-338A-4A33-ADA3-4B99397102CF}"/>
              </a:ext>
            </a:extLst>
          </p:cNvPr>
          <p:cNvSpPr/>
          <p:nvPr/>
        </p:nvSpPr>
        <p:spPr>
          <a:xfrm>
            <a:off x="2840140" y="1223183"/>
            <a:ext cx="153118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לפני 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44FC17D3-7C26-4ADE-9F99-C7934B168965}"/>
              </a:ext>
            </a:extLst>
          </p:cNvPr>
          <p:cNvCxnSpPr/>
          <p:nvPr/>
        </p:nvCxnSpPr>
        <p:spPr>
          <a:xfrm>
            <a:off x="860208" y="2251371"/>
            <a:ext cx="1356462"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E498DC2-C506-4934-9926-FA37A75BD0D7}"/>
              </a:ext>
            </a:extLst>
          </p:cNvPr>
          <p:cNvSpPr/>
          <p:nvPr/>
        </p:nvSpPr>
        <p:spPr>
          <a:xfrm>
            <a:off x="505143" y="2394683"/>
            <a:ext cx="2124299"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10+0.5X</a:t>
            </a:r>
          </a:p>
        </p:txBody>
      </p:sp>
      <p:sp>
        <p:nvSpPr>
          <p:cNvPr id="13" name="Rectangle 12">
            <a:extLst>
              <a:ext uri="{FF2B5EF4-FFF2-40B4-BE49-F238E27FC236}">
                <a16:creationId xmlns:a16="http://schemas.microsoft.com/office/drawing/2014/main" id="{020F7E42-E710-4B1B-B17B-08162F074E2E}"/>
              </a:ext>
            </a:extLst>
          </p:cNvPr>
          <p:cNvSpPr/>
          <p:nvPr/>
        </p:nvSpPr>
        <p:spPr>
          <a:xfrm>
            <a:off x="1044554" y="2738049"/>
            <a:ext cx="117211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80 = 0.8X</a:t>
            </a:r>
          </a:p>
        </p:txBody>
      </p:sp>
      <p:sp>
        <p:nvSpPr>
          <p:cNvPr id="15" name="Rectangle 14">
            <a:extLst>
              <a:ext uri="{FF2B5EF4-FFF2-40B4-BE49-F238E27FC236}">
                <a16:creationId xmlns:a16="http://schemas.microsoft.com/office/drawing/2014/main" id="{61862621-8AAD-408A-9360-BB53C944E450}"/>
              </a:ext>
            </a:extLst>
          </p:cNvPr>
          <p:cNvSpPr/>
          <p:nvPr/>
        </p:nvSpPr>
        <p:spPr>
          <a:xfrm>
            <a:off x="1189518" y="3166470"/>
            <a:ext cx="979755"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X = 100</a:t>
            </a:r>
          </a:p>
        </p:txBody>
      </p:sp>
      <p:sp>
        <p:nvSpPr>
          <p:cNvPr id="16" name="Rectangle 15">
            <a:extLst>
              <a:ext uri="{FF2B5EF4-FFF2-40B4-BE49-F238E27FC236}">
                <a16:creationId xmlns:a16="http://schemas.microsoft.com/office/drawing/2014/main" id="{A51AEF0F-8A4D-4AB8-B626-26C46FC05EA7}"/>
              </a:ext>
            </a:extLst>
          </p:cNvPr>
          <p:cNvSpPr/>
          <p:nvPr/>
        </p:nvSpPr>
        <p:spPr>
          <a:xfrm>
            <a:off x="2187047" y="3166470"/>
            <a:ext cx="71846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P=60</a:t>
            </a:r>
          </a:p>
        </p:txBody>
      </p:sp>
      <p:sp>
        <p:nvSpPr>
          <p:cNvPr id="9" name="Rectangle 8">
            <a:extLst>
              <a:ext uri="{FF2B5EF4-FFF2-40B4-BE49-F238E27FC236}">
                <a16:creationId xmlns:a16="http://schemas.microsoft.com/office/drawing/2014/main" id="{8C148416-803B-4612-829C-60401C0FF4AB}"/>
              </a:ext>
            </a:extLst>
          </p:cNvPr>
          <p:cNvSpPr/>
          <p:nvPr/>
        </p:nvSpPr>
        <p:spPr>
          <a:xfrm>
            <a:off x="2741522" y="3976804"/>
            <a:ext cx="1659429"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לאחר </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BF10971-546E-44E2-8604-BFD9561130DD}"/>
              </a:ext>
            </a:extLst>
          </p:cNvPr>
          <p:cNvSpPr/>
          <p:nvPr/>
        </p:nvSpPr>
        <p:spPr>
          <a:xfrm>
            <a:off x="977103" y="3917716"/>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18" name="Rectangle 17">
            <a:extLst>
              <a:ext uri="{FF2B5EF4-FFF2-40B4-BE49-F238E27FC236}">
                <a16:creationId xmlns:a16="http://schemas.microsoft.com/office/drawing/2014/main" id="{9BCAB0D0-4F50-4D6C-B822-6110B984BA0D}"/>
              </a:ext>
            </a:extLst>
          </p:cNvPr>
          <p:cNvSpPr/>
          <p:nvPr/>
        </p:nvSpPr>
        <p:spPr>
          <a:xfrm>
            <a:off x="977103" y="4346136"/>
            <a:ext cx="164500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10</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19" name="Rectangle 18">
            <a:extLst>
              <a:ext uri="{FF2B5EF4-FFF2-40B4-BE49-F238E27FC236}">
                <a16:creationId xmlns:a16="http://schemas.microsoft.com/office/drawing/2014/main" id="{13FD48D7-1BB4-4EFE-A632-37BED446E1F9}"/>
              </a:ext>
            </a:extLst>
          </p:cNvPr>
          <p:cNvSpPr/>
          <p:nvPr/>
        </p:nvSpPr>
        <p:spPr>
          <a:xfrm>
            <a:off x="622038" y="4889558"/>
            <a:ext cx="2124299"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12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20" name="Rectangle 19">
            <a:extLst>
              <a:ext uri="{FF2B5EF4-FFF2-40B4-BE49-F238E27FC236}">
                <a16:creationId xmlns:a16="http://schemas.microsoft.com/office/drawing/2014/main" id="{CAB0F253-38F7-4A07-91CC-750441768C22}"/>
              </a:ext>
            </a:extLst>
          </p:cNvPr>
          <p:cNvSpPr/>
          <p:nvPr/>
        </p:nvSpPr>
        <p:spPr>
          <a:xfrm>
            <a:off x="1161449" y="5232924"/>
            <a:ext cx="117211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78</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 </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0.8X</a:t>
            </a:r>
          </a:p>
        </p:txBody>
      </p:sp>
      <p:sp>
        <p:nvSpPr>
          <p:cNvPr id="21" name="Rectangle 20">
            <a:extLst>
              <a:ext uri="{FF2B5EF4-FFF2-40B4-BE49-F238E27FC236}">
                <a16:creationId xmlns:a16="http://schemas.microsoft.com/office/drawing/2014/main" id="{495B9AA0-2C0F-4844-83DD-BBEA648D2818}"/>
              </a:ext>
            </a:extLst>
          </p:cNvPr>
          <p:cNvSpPr/>
          <p:nvPr/>
        </p:nvSpPr>
        <p:spPr>
          <a:xfrm>
            <a:off x="1306413" y="5661345"/>
            <a:ext cx="1055097"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X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97.5</a:t>
            </a:r>
          </a:p>
        </p:txBody>
      </p:sp>
      <p:sp>
        <p:nvSpPr>
          <p:cNvPr id="22" name="Rectangle 21">
            <a:extLst>
              <a:ext uri="{FF2B5EF4-FFF2-40B4-BE49-F238E27FC236}">
                <a16:creationId xmlns:a16="http://schemas.microsoft.com/office/drawing/2014/main" id="{4D64BF13-AF42-452F-B0A7-1B8A0CC36A77}"/>
              </a:ext>
            </a:extLst>
          </p:cNvPr>
          <p:cNvSpPr/>
          <p:nvPr/>
        </p:nvSpPr>
        <p:spPr>
          <a:xfrm>
            <a:off x="2546280" y="5619122"/>
            <a:ext cx="4185960" cy="40011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0.3*</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en-US" sz="2000" b="1"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he-IL" sz="2000" b="1"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60.75 </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cxnSp>
        <p:nvCxnSpPr>
          <p:cNvPr id="23" name="Straight Connector 22">
            <a:extLst>
              <a:ext uri="{FF2B5EF4-FFF2-40B4-BE49-F238E27FC236}">
                <a16:creationId xmlns:a16="http://schemas.microsoft.com/office/drawing/2014/main" id="{A96A54A4-D92B-4007-8D00-5A275C5CB51F}"/>
              </a:ext>
            </a:extLst>
          </p:cNvPr>
          <p:cNvCxnSpPr/>
          <p:nvPr/>
        </p:nvCxnSpPr>
        <p:spPr>
          <a:xfrm>
            <a:off x="947480" y="4746246"/>
            <a:ext cx="1356462"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1552A69-0E23-46C1-B2BC-E57C5EC0C105}"/>
              </a:ext>
            </a:extLst>
          </p:cNvPr>
          <p:cNvSpPr/>
          <p:nvPr/>
        </p:nvSpPr>
        <p:spPr>
          <a:xfrm>
            <a:off x="2587453" y="6069224"/>
            <a:ext cx="4453668" cy="40011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יצרן</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10</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0.5</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he-IL" sz="2000" b="1" i="0" u="none" strike="noStrike" kern="1200" cap="none" spc="0" normalizeH="0" baseline="0" noProof="0" dirty="0">
                <a:ln>
                  <a:noFill/>
                </a:ln>
                <a:solidFill>
                  <a:srgbClr val="FF0000"/>
                </a:solidFill>
                <a:effectLst/>
                <a:uLnTx/>
                <a:uFillTx/>
                <a:latin typeface="Calibri" panose="020F0502020204030204"/>
                <a:ea typeface="+mn-ea"/>
                <a:cs typeface="Arial" panose="020B0604020202020204" pitchFamily="34" charset="0"/>
              </a:rPr>
              <a:t> </a:t>
            </a:r>
            <a:r>
              <a:rPr kumimoji="0" lang="he-IL" sz="2000" b="1"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58.75 </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9169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randombar(horizontal)">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randombar(horizontal)">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randombar(horizontal)">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randombar(horizontal)">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randombar(horizontal)">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randombar(horizontal)">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randombar(horizontal)">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5" grpId="0"/>
      <p:bldP spid="16" grpId="0"/>
      <p:bldP spid="9" grpId="0"/>
      <p:bldP spid="17" grpId="0"/>
      <p:bldP spid="18" grpId="0"/>
      <p:bldP spid="19" grpId="0"/>
      <p:bldP spid="20" grpId="0"/>
      <p:bldP spid="21" grpId="0"/>
      <p:bldP spid="22" grpId="0"/>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9943" y="9952"/>
            <a:ext cx="1884057" cy="727912"/>
          </a:xfrm>
        </p:spPr>
        <p:txBody>
          <a:bodyPr>
            <a:normAutofit/>
          </a:bodyPr>
          <a:lstStyle/>
          <a:p>
            <a:pPr algn="r" rtl="1"/>
            <a:r>
              <a:rPr lang="he-IL" sz="3600" b="1" dirty="0">
                <a:latin typeface="David" pitchFamily="34" charset="-79"/>
                <a:cs typeface="David" pitchFamily="34" charset="-79"/>
              </a:rPr>
              <a:t>שאלה 1</a:t>
            </a:r>
            <a:r>
              <a:rPr lang="he-IL" sz="2400" b="1" dirty="0">
                <a:latin typeface="David" pitchFamily="34" charset="-79"/>
                <a:cs typeface="David" pitchFamily="34" charset="-79"/>
              </a:rPr>
              <a:t> </a:t>
            </a:r>
            <a:endParaRPr lang="en-US" dirty="0"/>
          </a:p>
        </p:txBody>
      </p:sp>
      <p:sp>
        <p:nvSpPr>
          <p:cNvPr id="10" name="Rectangle 9"/>
          <p:cNvSpPr/>
          <p:nvPr/>
        </p:nvSpPr>
        <p:spPr>
          <a:xfrm>
            <a:off x="4972188" y="623684"/>
            <a:ext cx="4003811" cy="861774"/>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מס על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a:t>
            </a:r>
            <a:br>
              <a:rPr kumimoji="0" lang="en-US"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הם אלו החייבים להעביר את סכום המס לממשלה. אין שינוי בעקומת הביקוש.</a:t>
            </a:r>
          </a:p>
        </p:txBody>
      </p:sp>
      <p:grpSp>
        <p:nvGrpSpPr>
          <p:cNvPr id="14" name="קבוצה 11"/>
          <p:cNvGrpSpPr/>
          <p:nvPr/>
        </p:nvGrpSpPr>
        <p:grpSpPr>
          <a:xfrm>
            <a:off x="609600" y="3276600"/>
            <a:ext cx="3810000" cy="3142478"/>
            <a:chOff x="713554" y="2786852"/>
            <a:chExt cx="4428794" cy="3143272"/>
          </a:xfrm>
        </p:grpSpPr>
        <p:cxnSp>
          <p:nvCxnSpPr>
            <p:cNvPr id="16"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8" name="מחבר ישר 13"/>
          <p:cNvCxnSpPr/>
          <p:nvPr/>
        </p:nvCxnSpPr>
        <p:spPr>
          <a:xfrm>
            <a:off x="610394" y="3561558"/>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מחבר ישר 15"/>
          <p:cNvCxnSpPr/>
          <p:nvPr/>
        </p:nvCxnSpPr>
        <p:spPr>
          <a:xfrm flipV="1">
            <a:off x="610394" y="3847310"/>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41844" y="3620854"/>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1" name="TextBox 20"/>
          <p:cNvSpPr txBox="1"/>
          <p:nvPr/>
        </p:nvSpPr>
        <p:spPr>
          <a:xfrm>
            <a:off x="3716797" y="5919012"/>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2" name="TextBox 21"/>
          <p:cNvSpPr txBox="1"/>
          <p:nvPr/>
        </p:nvSpPr>
        <p:spPr>
          <a:xfrm>
            <a:off x="324642" y="2847178"/>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3" name="מחבר ישר 23"/>
          <p:cNvCxnSpPr/>
          <p:nvPr/>
        </p:nvCxnSpPr>
        <p:spPr>
          <a:xfrm rot="5400000">
            <a:off x="1396493" y="5668979"/>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מחבר ישר 24"/>
          <p:cNvCxnSpPr/>
          <p:nvPr/>
        </p:nvCxnSpPr>
        <p:spPr>
          <a:xfrm rot="5400000">
            <a:off x="1390030" y="4126880"/>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8"/>
          <p:cNvCxnSpPr/>
          <p:nvPr/>
        </p:nvCxnSpPr>
        <p:spPr>
          <a:xfrm flipV="1">
            <a:off x="610394" y="3502262"/>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741844" y="3275806"/>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7" name="מחבר ישר 31"/>
          <p:cNvCxnSpPr/>
          <p:nvPr/>
        </p:nvCxnSpPr>
        <p:spPr>
          <a:xfrm flipH="1">
            <a:off x="1931484" y="4776004"/>
            <a:ext cx="794" cy="164228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8" name="מחבר ישר 32"/>
          <p:cNvCxnSpPr/>
          <p:nvPr/>
        </p:nvCxnSpPr>
        <p:spPr>
          <a:xfrm rot="5400000">
            <a:off x="1301716" y="4038566"/>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6"/>
          <p:cNvCxnSpPr/>
          <p:nvPr/>
        </p:nvCxnSpPr>
        <p:spPr>
          <a:xfrm rot="5400000">
            <a:off x="1301715" y="440789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משולש ישר-זווית 34"/>
          <p:cNvSpPr/>
          <p:nvPr/>
        </p:nvSpPr>
        <p:spPr>
          <a:xfrm>
            <a:off x="593427" y="3561558"/>
            <a:ext cx="1285884" cy="1143008"/>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עודף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הצרכן</a:t>
            </a:r>
          </a:p>
        </p:txBody>
      </p:sp>
      <p:sp>
        <p:nvSpPr>
          <p:cNvPr id="31" name="משולש ישר-זווית 35"/>
          <p:cNvSpPr/>
          <p:nvPr/>
        </p:nvSpPr>
        <p:spPr>
          <a:xfrm flipV="1">
            <a:off x="593427" y="5069781"/>
            <a:ext cx="1357322" cy="928694"/>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2" name="TextBox 31"/>
          <p:cNvSpPr txBox="1"/>
          <p:nvPr/>
        </p:nvSpPr>
        <p:spPr>
          <a:xfrm>
            <a:off x="664865" y="5007824"/>
            <a:ext cx="768159" cy="55399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רווחי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היצרנים</a:t>
            </a:r>
          </a:p>
        </p:txBody>
      </p:sp>
      <p:sp>
        <p:nvSpPr>
          <p:cNvPr id="33" name="מלבן 37"/>
          <p:cNvSpPr/>
          <p:nvPr/>
        </p:nvSpPr>
        <p:spPr>
          <a:xfrm>
            <a:off x="609600" y="4705901"/>
            <a:ext cx="1321884" cy="3455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הכנסות ממשלה</a:t>
            </a:r>
          </a:p>
        </p:txBody>
      </p:sp>
      <p:sp>
        <p:nvSpPr>
          <p:cNvPr id="34" name="TextBox 33"/>
          <p:cNvSpPr txBox="1"/>
          <p:nvPr/>
        </p:nvSpPr>
        <p:spPr>
          <a:xfrm>
            <a:off x="3753666" y="640537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5" name="TextBox 34"/>
          <p:cNvSpPr txBox="1"/>
          <p:nvPr/>
        </p:nvSpPr>
        <p:spPr>
          <a:xfrm>
            <a:off x="2054860" y="6405024"/>
            <a:ext cx="590552"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36" name="TextBox 35"/>
          <p:cNvSpPr txBox="1"/>
          <p:nvPr/>
        </p:nvSpPr>
        <p:spPr>
          <a:xfrm>
            <a:off x="1763089" y="6384518"/>
            <a:ext cx="455607"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1</a:t>
            </a:r>
          </a:p>
        </p:txBody>
      </p:sp>
      <p:sp>
        <p:nvSpPr>
          <p:cNvPr id="37" name="TextBox 36"/>
          <p:cNvSpPr txBox="1"/>
          <p:nvPr/>
        </p:nvSpPr>
        <p:spPr>
          <a:xfrm>
            <a:off x="-14955" y="4497813"/>
            <a:ext cx="66556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8" name="TextBox 37"/>
          <p:cNvSpPr txBox="1"/>
          <p:nvPr/>
        </p:nvSpPr>
        <p:spPr>
          <a:xfrm>
            <a:off x="-26803" y="4871830"/>
            <a:ext cx="62709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9" name="Rectangle 38">
            <a:extLst>
              <a:ext uri="{FF2B5EF4-FFF2-40B4-BE49-F238E27FC236}">
                <a16:creationId xmlns:a16="http://schemas.microsoft.com/office/drawing/2014/main" id="{D48C7FD8-233D-4046-8C5B-80CC2526CEF9}"/>
              </a:ext>
            </a:extLst>
          </p:cNvPr>
          <p:cNvSpPr/>
          <p:nvPr/>
        </p:nvSpPr>
        <p:spPr>
          <a:xfrm>
            <a:off x="725802" y="932447"/>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0" name="Rectangle 39">
            <a:extLst>
              <a:ext uri="{FF2B5EF4-FFF2-40B4-BE49-F238E27FC236}">
                <a16:creationId xmlns:a16="http://schemas.microsoft.com/office/drawing/2014/main" id="{8DFC17C8-E3E1-43CD-9374-5A2CAFE7DEAC}"/>
              </a:ext>
            </a:extLst>
          </p:cNvPr>
          <p:cNvSpPr/>
          <p:nvPr/>
        </p:nvSpPr>
        <p:spPr>
          <a:xfrm>
            <a:off x="754793" y="1322142"/>
            <a:ext cx="135646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P=10+0.5X</a:t>
            </a:r>
          </a:p>
        </p:txBody>
      </p:sp>
      <p:sp>
        <p:nvSpPr>
          <p:cNvPr id="41" name="Rectangle 40">
            <a:extLst>
              <a:ext uri="{FF2B5EF4-FFF2-40B4-BE49-F238E27FC236}">
                <a16:creationId xmlns:a16="http://schemas.microsoft.com/office/drawing/2014/main" id="{07CC69D4-74DF-490E-AB47-92830C7F48AE}"/>
              </a:ext>
            </a:extLst>
          </p:cNvPr>
          <p:cNvSpPr/>
          <p:nvPr/>
        </p:nvSpPr>
        <p:spPr>
          <a:xfrm>
            <a:off x="2695046" y="976248"/>
            <a:ext cx="153118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לפני 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2" name="Straight Connector 41">
            <a:extLst>
              <a:ext uri="{FF2B5EF4-FFF2-40B4-BE49-F238E27FC236}">
                <a16:creationId xmlns:a16="http://schemas.microsoft.com/office/drawing/2014/main" id="{12B8887E-011A-47E4-9A71-FFA32F6E8811}"/>
              </a:ext>
            </a:extLst>
          </p:cNvPr>
          <p:cNvCxnSpPr/>
          <p:nvPr/>
        </p:nvCxnSpPr>
        <p:spPr>
          <a:xfrm>
            <a:off x="779054" y="1829464"/>
            <a:ext cx="1356462"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FB76C23D-C18A-46DB-99DD-B42DBC4C2904}"/>
              </a:ext>
            </a:extLst>
          </p:cNvPr>
          <p:cNvSpPr/>
          <p:nvPr/>
        </p:nvSpPr>
        <p:spPr>
          <a:xfrm>
            <a:off x="497806" y="1942354"/>
            <a:ext cx="2124299"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10+0.5X</a:t>
            </a:r>
          </a:p>
        </p:txBody>
      </p:sp>
      <p:sp>
        <p:nvSpPr>
          <p:cNvPr id="44" name="Rectangle 43">
            <a:extLst>
              <a:ext uri="{FF2B5EF4-FFF2-40B4-BE49-F238E27FC236}">
                <a16:creationId xmlns:a16="http://schemas.microsoft.com/office/drawing/2014/main" id="{2ADF77E7-1B04-47EE-AFEF-4D1A9D610D07}"/>
              </a:ext>
            </a:extLst>
          </p:cNvPr>
          <p:cNvSpPr/>
          <p:nvPr/>
        </p:nvSpPr>
        <p:spPr>
          <a:xfrm>
            <a:off x="1037217" y="2285720"/>
            <a:ext cx="117211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80 = 0.8X</a:t>
            </a:r>
          </a:p>
        </p:txBody>
      </p:sp>
      <p:sp>
        <p:nvSpPr>
          <p:cNvPr id="45" name="Rectangle 44">
            <a:extLst>
              <a:ext uri="{FF2B5EF4-FFF2-40B4-BE49-F238E27FC236}">
                <a16:creationId xmlns:a16="http://schemas.microsoft.com/office/drawing/2014/main" id="{D01FD9CA-A616-4E38-99D5-49DCA4C316BB}"/>
              </a:ext>
            </a:extLst>
          </p:cNvPr>
          <p:cNvSpPr/>
          <p:nvPr/>
        </p:nvSpPr>
        <p:spPr>
          <a:xfrm>
            <a:off x="1182181" y="2714141"/>
            <a:ext cx="979755"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X = 100</a:t>
            </a:r>
          </a:p>
        </p:txBody>
      </p:sp>
      <p:sp>
        <p:nvSpPr>
          <p:cNvPr id="46" name="Rectangle 45">
            <a:extLst>
              <a:ext uri="{FF2B5EF4-FFF2-40B4-BE49-F238E27FC236}">
                <a16:creationId xmlns:a16="http://schemas.microsoft.com/office/drawing/2014/main" id="{3AE215EE-E3FE-4216-8DEB-4DEB98BFA5BB}"/>
              </a:ext>
            </a:extLst>
          </p:cNvPr>
          <p:cNvSpPr/>
          <p:nvPr/>
        </p:nvSpPr>
        <p:spPr>
          <a:xfrm>
            <a:off x="2179710" y="2714141"/>
            <a:ext cx="71846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P=60</a:t>
            </a:r>
          </a:p>
        </p:txBody>
      </p:sp>
      <p:sp>
        <p:nvSpPr>
          <p:cNvPr id="47" name="Rectangle 46">
            <a:extLst>
              <a:ext uri="{FF2B5EF4-FFF2-40B4-BE49-F238E27FC236}">
                <a16:creationId xmlns:a16="http://schemas.microsoft.com/office/drawing/2014/main" id="{58DFF2E1-2A22-4B79-B0C0-8A8AF97DE470}"/>
              </a:ext>
            </a:extLst>
          </p:cNvPr>
          <p:cNvSpPr/>
          <p:nvPr/>
        </p:nvSpPr>
        <p:spPr>
          <a:xfrm>
            <a:off x="6492290" y="1557114"/>
            <a:ext cx="1659429"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לאחר </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EFFDDE12-5DC6-4C5C-BB1E-848084DB0638}"/>
              </a:ext>
            </a:extLst>
          </p:cNvPr>
          <p:cNvSpPr/>
          <p:nvPr/>
        </p:nvSpPr>
        <p:spPr>
          <a:xfrm>
            <a:off x="4559066" y="1436814"/>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9" name="Rectangle 48">
            <a:extLst>
              <a:ext uri="{FF2B5EF4-FFF2-40B4-BE49-F238E27FC236}">
                <a16:creationId xmlns:a16="http://schemas.microsoft.com/office/drawing/2014/main" id="{5EEE9350-7E40-4F37-8537-418F30E32862}"/>
              </a:ext>
            </a:extLst>
          </p:cNvPr>
          <p:cNvSpPr/>
          <p:nvPr/>
        </p:nvSpPr>
        <p:spPr>
          <a:xfrm>
            <a:off x="4559066" y="1865234"/>
            <a:ext cx="164500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10</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0" name="Rectangle 49">
            <a:extLst>
              <a:ext uri="{FF2B5EF4-FFF2-40B4-BE49-F238E27FC236}">
                <a16:creationId xmlns:a16="http://schemas.microsoft.com/office/drawing/2014/main" id="{137928F5-1A2F-4B3A-B398-9AFB8B46D856}"/>
              </a:ext>
            </a:extLst>
          </p:cNvPr>
          <p:cNvSpPr/>
          <p:nvPr/>
        </p:nvSpPr>
        <p:spPr>
          <a:xfrm>
            <a:off x="4204001" y="2408656"/>
            <a:ext cx="2124299"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12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1" name="Rectangle 50">
            <a:extLst>
              <a:ext uri="{FF2B5EF4-FFF2-40B4-BE49-F238E27FC236}">
                <a16:creationId xmlns:a16="http://schemas.microsoft.com/office/drawing/2014/main" id="{839B96E9-8B04-4497-9BA4-78D6850EA67D}"/>
              </a:ext>
            </a:extLst>
          </p:cNvPr>
          <p:cNvSpPr/>
          <p:nvPr/>
        </p:nvSpPr>
        <p:spPr>
          <a:xfrm>
            <a:off x="4743412" y="2752022"/>
            <a:ext cx="117211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78</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 </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0.8X</a:t>
            </a:r>
          </a:p>
        </p:txBody>
      </p:sp>
      <p:sp>
        <p:nvSpPr>
          <p:cNvPr id="52" name="Rectangle 51">
            <a:extLst>
              <a:ext uri="{FF2B5EF4-FFF2-40B4-BE49-F238E27FC236}">
                <a16:creationId xmlns:a16="http://schemas.microsoft.com/office/drawing/2014/main" id="{D649BC07-6E54-4A93-B612-A8BE2CB91115}"/>
              </a:ext>
            </a:extLst>
          </p:cNvPr>
          <p:cNvSpPr/>
          <p:nvPr/>
        </p:nvSpPr>
        <p:spPr>
          <a:xfrm>
            <a:off x="4888376" y="3180443"/>
            <a:ext cx="1055097"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X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97.5</a:t>
            </a:r>
          </a:p>
        </p:txBody>
      </p:sp>
      <p:sp>
        <p:nvSpPr>
          <p:cNvPr id="53" name="Rectangle 52">
            <a:extLst>
              <a:ext uri="{FF2B5EF4-FFF2-40B4-BE49-F238E27FC236}">
                <a16:creationId xmlns:a16="http://schemas.microsoft.com/office/drawing/2014/main" id="{0AC510A1-CE7F-4B4F-8127-DD94C91088AA}"/>
              </a:ext>
            </a:extLst>
          </p:cNvPr>
          <p:cNvSpPr/>
          <p:nvPr/>
        </p:nvSpPr>
        <p:spPr>
          <a:xfrm>
            <a:off x="5973389" y="3114251"/>
            <a:ext cx="2884123"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90-0.3*</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he-IL" sz="2000" b="1"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60.75</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9C3BFC96-875E-4EA6-9882-9CD081424F75}"/>
              </a:ext>
            </a:extLst>
          </p:cNvPr>
          <p:cNvSpPr/>
          <p:nvPr/>
        </p:nvSpPr>
        <p:spPr>
          <a:xfrm>
            <a:off x="5973389" y="3514361"/>
            <a:ext cx="3691925" cy="40011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יצרן</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10</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+0.5</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he-IL" sz="2000" b="1"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58.75</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20EDD4AB-70B5-4829-8E58-32D383D67EB1}"/>
              </a:ext>
            </a:extLst>
          </p:cNvPr>
          <p:cNvSpPr/>
          <p:nvPr/>
        </p:nvSpPr>
        <p:spPr>
          <a:xfrm>
            <a:off x="4903294" y="3975214"/>
            <a:ext cx="3986989" cy="473206"/>
          </a:xfrm>
          <a:prstGeom prst="rect">
            <a:avLst/>
          </a:prstGeom>
        </p:spPr>
        <p:txBody>
          <a:bodyPr wrap="non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5</a:t>
            </a: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מה יקרה לרווחה החברתית בעקבות הטלת המס?</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8C8466-B8CC-4994-9230-832A62A8DC30}"/>
                  </a:ext>
                </a:extLst>
              </p:cNvPr>
              <p:cNvSpPr txBox="1"/>
              <p:nvPr/>
            </p:nvSpPr>
            <p:spPr>
              <a:xfrm>
                <a:off x="5034538" y="4458189"/>
                <a:ext cx="3286148" cy="487954"/>
              </a:xfrm>
              <a:prstGeom prst="rect">
                <a:avLst/>
              </a:prstGeom>
              <a:solidFill>
                <a:schemeClr val="accent4"/>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הנטל העודף</a:t>
                </a:r>
                <a14:m>
                  <m:oMath xmlns:m="http://schemas.openxmlformats.org/officeDocument/2006/math">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100</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97.5</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2</m:t>
                        </m:r>
                      </m:num>
                      <m:den>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oMath>
                </a14:m>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2.5</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3E8C8466-B8CC-4994-9230-832A62A8DC30}"/>
                  </a:ext>
                </a:extLst>
              </p:cNvPr>
              <p:cNvSpPr txBox="1">
                <a:spLocks noRot="1" noChangeAspect="1" noMove="1" noResize="1" noEditPoints="1" noAdjustHandles="1" noChangeArrowheads="1" noChangeShapeType="1" noTextEdit="1"/>
              </p:cNvSpPr>
              <p:nvPr/>
            </p:nvSpPr>
            <p:spPr>
              <a:xfrm>
                <a:off x="5034538" y="4458189"/>
                <a:ext cx="3286148" cy="487954"/>
              </a:xfrm>
              <a:prstGeom prst="rect">
                <a:avLst/>
              </a:prstGeom>
              <a:blipFill>
                <a:blip r:embed="rId2"/>
                <a:stretch>
                  <a:fillRect l="-1855" b="-10000"/>
                </a:stretch>
              </a:blipFill>
            </p:spPr>
            <p:txBody>
              <a:bodyPr/>
              <a:lstStyle/>
              <a:p>
                <a:r>
                  <a:rPr lang="en-IL">
                    <a:noFill/>
                  </a:rPr>
                  <a:t> </a:t>
                </a:r>
              </a:p>
            </p:txBody>
          </p:sp>
        </mc:Fallback>
      </mc:AlternateContent>
      <p:sp>
        <p:nvSpPr>
          <p:cNvPr id="55" name="TextBox 54">
            <a:extLst>
              <a:ext uri="{FF2B5EF4-FFF2-40B4-BE49-F238E27FC236}">
                <a16:creationId xmlns:a16="http://schemas.microsoft.com/office/drawing/2014/main" id="{7BA131AD-B11F-40B5-AAF7-CF1F2D0D6768}"/>
              </a:ext>
            </a:extLst>
          </p:cNvPr>
          <p:cNvSpPr txBox="1"/>
          <p:nvPr/>
        </p:nvSpPr>
        <p:spPr>
          <a:xfrm>
            <a:off x="3991007" y="5300886"/>
            <a:ext cx="4891086" cy="1358064"/>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1. המחיר לצרכן יעלה בפחות מגובה המס.</a:t>
            </a:r>
            <a:br>
              <a:rPr kumimoji="0" lang="en-US"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2. המחיר שהיצרן מקבל יהיה נמוך מהמחיר שהצרכן משלם בגובה המס.</a:t>
            </a:r>
            <a:br>
              <a:rPr kumimoji="0" lang="en-US"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3. הרווחה החברתית במשק תקטן.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4. הכמות המיוצרת לא משתנה. </a:t>
            </a:r>
          </a:p>
        </p:txBody>
      </p:sp>
      <p:sp>
        <p:nvSpPr>
          <p:cNvPr id="6" name="TextBox 5">
            <a:extLst>
              <a:ext uri="{FF2B5EF4-FFF2-40B4-BE49-F238E27FC236}">
                <a16:creationId xmlns:a16="http://schemas.microsoft.com/office/drawing/2014/main" id="{C05AFC46-AC1E-10B1-895A-7BD21852DA0D}"/>
              </a:ext>
            </a:extLst>
          </p:cNvPr>
          <p:cNvSpPr txBox="1"/>
          <p:nvPr/>
        </p:nvSpPr>
        <p:spPr>
          <a:xfrm>
            <a:off x="4226234" y="4866502"/>
            <a:ext cx="4876800" cy="47320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ב. בחרו בתשובה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ש</a:t>
            </a:r>
            <a:r>
              <a:rPr kumimoji="0" lang="he-IL" sz="1800" b="1" i="0" u="sng" strike="noStrike" kern="1200" cap="none" spc="0" normalizeH="0" baseline="0" noProof="0" dirty="0">
                <a:ln>
                  <a:noFill/>
                </a:ln>
                <a:solidFill>
                  <a:prstClr val="black"/>
                </a:solidFill>
                <a:effectLst/>
                <a:highlight>
                  <a:srgbClr val="FFFF00"/>
                </a:highlight>
                <a:uLnTx/>
                <a:uFillTx/>
                <a:latin typeface="David" pitchFamily="34" charset="-79"/>
                <a:ea typeface="+mn-ea"/>
                <a:cs typeface="David" pitchFamily="34" charset="-79"/>
              </a:rPr>
              <a:t>אינה</a:t>
            </a: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 נכונה: בעקבות הטלת המס -</a:t>
            </a:r>
          </a:p>
        </p:txBody>
      </p:sp>
      <p:sp>
        <p:nvSpPr>
          <p:cNvPr id="3" name="TextBox 2">
            <a:extLst>
              <a:ext uri="{FF2B5EF4-FFF2-40B4-BE49-F238E27FC236}">
                <a16:creationId xmlns:a16="http://schemas.microsoft.com/office/drawing/2014/main" id="{57F813F1-344B-BBCE-6685-AA5745B95524}"/>
              </a:ext>
            </a:extLst>
          </p:cNvPr>
          <p:cNvSpPr txBox="1"/>
          <p:nvPr/>
        </p:nvSpPr>
        <p:spPr>
          <a:xfrm>
            <a:off x="194470" y="337591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90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FB1F1C0-E076-6440-C713-6EB65FF50EEC}"/>
              </a:ext>
            </a:extLst>
          </p:cNvPr>
          <p:cNvSpPr txBox="1"/>
          <p:nvPr/>
        </p:nvSpPr>
        <p:spPr>
          <a:xfrm>
            <a:off x="181166" y="578359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משולש שווה שוקיים 3">
            <a:extLst>
              <a:ext uri="{FF2B5EF4-FFF2-40B4-BE49-F238E27FC236}">
                <a16:creationId xmlns:a16="http://schemas.microsoft.com/office/drawing/2014/main" id="{ABEE9913-11EB-3C13-56CE-FA9E30AE5FE9}"/>
              </a:ext>
            </a:extLst>
          </p:cNvPr>
          <p:cNvSpPr/>
          <p:nvPr/>
        </p:nvSpPr>
        <p:spPr>
          <a:xfrm rot="5400000">
            <a:off x="1875416" y="4790400"/>
            <a:ext cx="369333" cy="247137"/>
          </a:xfrm>
          <a:prstGeom prst="triangle">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3610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down)">
                                      <p:cBhvr>
                                        <p:cTn id="10" dur="500"/>
                                        <p:tgtEl>
                                          <p:spTgt spid="2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par>
                                <p:cTn id="14" presetID="22" presetClass="entr" presetSubtype="4"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down)">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2" presetClass="entr" presetSubtype="4"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arn(inVertical)">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down)">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circle(in)">
                                      <p:cBhvr>
                                        <p:cTn id="50" dur="20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barn(inVertical)">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barn(inVertical)">
                                      <p:cBhvr>
                                        <p:cTn id="60" dur="500"/>
                                        <p:tgtEl>
                                          <p:spTgt spid="5"/>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1000"/>
                                        <p:tgtEl>
                                          <p:spTgt spid="9"/>
                                        </p:tgtEl>
                                      </p:cBhvr>
                                    </p:animEffect>
                                    <p:anim calcmode="lin" valueType="num">
                                      <p:cBhvr>
                                        <p:cTn id="66" dur="1000" fill="hold"/>
                                        <p:tgtEl>
                                          <p:spTgt spid="9"/>
                                        </p:tgtEl>
                                        <p:attrNameLst>
                                          <p:attrName>ppt_x</p:attrName>
                                        </p:attrNameLst>
                                      </p:cBhvr>
                                      <p:tavLst>
                                        <p:tav tm="0">
                                          <p:val>
                                            <p:strVal val="#ppt_x"/>
                                          </p:val>
                                        </p:tav>
                                        <p:tav tm="100000">
                                          <p:val>
                                            <p:strVal val="#ppt_x"/>
                                          </p:val>
                                        </p:tav>
                                      </p:tavLst>
                                    </p:anim>
                                    <p:anim calcmode="lin" valueType="num">
                                      <p:cBhvr>
                                        <p:cTn id="6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animBg="1"/>
      <p:bldP spid="31" grpId="0" animBg="1"/>
      <p:bldP spid="32" grpId="0"/>
      <p:bldP spid="33" grpId="0" animBg="1"/>
      <p:bldP spid="36" grpId="0"/>
      <p:bldP spid="37" grpId="0"/>
      <p:bldP spid="38" grpId="0"/>
      <p:bldP spid="4" grpId="0"/>
      <p:bldP spid="5"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16D34-BE31-D2B4-7078-B8B2179BD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298EC-D60E-4C7D-56E7-5DAB539C7EE8}"/>
              </a:ext>
            </a:extLst>
          </p:cNvPr>
          <p:cNvSpPr>
            <a:spLocks noGrp="1"/>
          </p:cNvSpPr>
          <p:nvPr>
            <p:ph type="title"/>
          </p:nvPr>
        </p:nvSpPr>
        <p:spPr>
          <a:xfrm>
            <a:off x="7259943" y="9952"/>
            <a:ext cx="1884057" cy="727912"/>
          </a:xfrm>
        </p:spPr>
        <p:txBody>
          <a:bodyPr>
            <a:normAutofit/>
          </a:bodyPr>
          <a:lstStyle/>
          <a:p>
            <a:pPr algn="r" rtl="1"/>
            <a:r>
              <a:rPr lang="he-IL" sz="3600" b="1" dirty="0">
                <a:latin typeface="David" pitchFamily="34" charset="-79"/>
                <a:cs typeface="David" pitchFamily="34" charset="-79"/>
              </a:rPr>
              <a:t>שאלה 1</a:t>
            </a:r>
            <a:r>
              <a:rPr lang="he-IL" sz="2400" b="1" dirty="0">
                <a:latin typeface="David" pitchFamily="34" charset="-79"/>
                <a:cs typeface="David" pitchFamily="34" charset="-79"/>
              </a:rPr>
              <a:t> </a:t>
            </a:r>
            <a:endParaRPr lang="en-US" dirty="0"/>
          </a:p>
        </p:txBody>
      </p:sp>
      <p:sp>
        <p:nvSpPr>
          <p:cNvPr id="10" name="Rectangle 9">
            <a:extLst>
              <a:ext uri="{FF2B5EF4-FFF2-40B4-BE49-F238E27FC236}">
                <a16:creationId xmlns:a16="http://schemas.microsoft.com/office/drawing/2014/main" id="{41015C1A-DE5C-6C9B-EFFC-8818CE172C76}"/>
              </a:ext>
            </a:extLst>
          </p:cNvPr>
          <p:cNvSpPr/>
          <p:nvPr/>
        </p:nvSpPr>
        <p:spPr>
          <a:xfrm>
            <a:off x="4972188" y="623684"/>
            <a:ext cx="4003811" cy="861774"/>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מס על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a:t>
            </a:r>
            <a:br>
              <a:rPr kumimoji="0" lang="en-US"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הם אלו החייבים להעביר את סכום המס לממשלה. אין שינוי בעקומת הביקוש.</a:t>
            </a:r>
          </a:p>
        </p:txBody>
      </p:sp>
      <p:grpSp>
        <p:nvGrpSpPr>
          <p:cNvPr id="14" name="קבוצה 11">
            <a:extLst>
              <a:ext uri="{FF2B5EF4-FFF2-40B4-BE49-F238E27FC236}">
                <a16:creationId xmlns:a16="http://schemas.microsoft.com/office/drawing/2014/main" id="{9766B403-F409-E062-5702-0FBD01CB270C}"/>
              </a:ext>
            </a:extLst>
          </p:cNvPr>
          <p:cNvGrpSpPr/>
          <p:nvPr/>
        </p:nvGrpSpPr>
        <p:grpSpPr>
          <a:xfrm>
            <a:off x="609600" y="3276600"/>
            <a:ext cx="3810000" cy="3142478"/>
            <a:chOff x="713554" y="2786852"/>
            <a:chExt cx="4428794" cy="3143272"/>
          </a:xfrm>
        </p:grpSpPr>
        <p:cxnSp>
          <p:nvCxnSpPr>
            <p:cNvPr id="16" name="מחבר חץ ישר 9">
              <a:extLst>
                <a:ext uri="{FF2B5EF4-FFF2-40B4-BE49-F238E27FC236}">
                  <a16:creationId xmlns:a16="http://schemas.microsoft.com/office/drawing/2014/main" id="{A71B06C8-BCBC-12BF-1F7E-C5169627799C}"/>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מחבר חץ ישר 10">
              <a:extLst>
                <a:ext uri="{FF2B5EF4-FFF2-40B4-BE49-F238E27FC236}">
                  <a16:creationId xmlns:a16="http://schemas.microsoft.com/office/drawing/2014/main" id="{AB18380A-2099-59F6-F33A-868061F96E0E}"/>
                </a:ext>
              </a:extLst>
            </p:cNvPr>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8" name="מחבר ישר 13">
            <a:extLst>
              <a:ext uri="{FF2B5EF4-FFF2-40B4-BE49-F238E27FC236}">
                <a16:creationId xmlns:a16="http://schemas.microsoft.com/office/drawing/2014/main" id="{55E4EA45-605C-5588-A6A8-74F7520AE373}"/>
              </a:ext>
            </a:extLst>
          </p:cNvPr>
          <p:cNvCxnSpPr/>
          <p:nvPr/>
        </p:nvCxnSpPr>
        <p:spPr>
          <a:xfrm>
            <a:off x="610394" y="3561558"/>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מחבר ישר 15">
            <a:extLst>
              <a:ext uri="{FF2B5EF4-FFF2-40B4-BE49-F238E27FC236}">
                <a16:creationId xmlns:a16="http://schemas.microsoft.com/office/drawing/2014/main" id="{1DB86EE3-6A8A-7E51-9AC7-6E34F95EB539}"/>
              </a:ext>
            </a:extLst>
          </p:cNvPr>
          <p:cNvCxnSpPr/>
          <p:nvPr/>
        </p:nvCxnSpPr>
        <p:spPr>
          <a:xfrm flipV="1">
            <a:off x="610394" y="3847310"/>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FDFCECB-C9C0-1290-9B2D-5AA426C5053C}"/>
              </a:ext>
            </a:extLst>
          </p:cNvPr>
          <p:cNvSpPr txBox="1"/>
          <p:nvPr/>
        </p:nvSpPr>
        <p:spPr>
          <a:xfrm>
            <a:off x="3741844" y="3620854"/>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1" name="TextBox 20">
            <a:extLst>
              <a:ext uri="{FF2B5EF4-FFF2-40B4-BE49-F238E27FC236}">
                <a16:creationId xmlns:a16="http://schemas.microsoft.com/office/drawing/2014/main" id="{B2A4058F-4CAD-DC76-0CF4-BB25750E6A7D}"/>
              </a:ext>
            </a:extLst>
          </p:cNvPr>
          <p:cNvSpPr txBox="1"/>
          <p:nvPr/>
        </p:nvSpPr>
        <p:spPr>
          <a:xfrm>
            <a:off x="3716797" y="5919012"/>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2" name="TextBox 21">
            <a:extLst>
              <a:ext uri="{FF2B5EF4-FFF2-40B4-BE49-F238E27FC236}">
                <a16:creationId xmlns:a16="http://schemas.microsoft.com/office/drawing/2014/main" id="{54BF2E1A-1C1E-F06D-DA48-68DC2FAD2BBC}"/>
              </a:ext>
            </a:extLst>
          </p:cNvPr>
          <p:cNvSpPr txBox="1"/>
          <p:nvPr/>
        </p:nvSpPr>
        <p:spPr>
          <a:xfrm>
            <a:off x="324642" y="2847178"/>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3" name="מחבר ישר 23">
            <a:extLst>
              <a:ext uri="{FF2B5EF4-FFF2-40B4-BE49-F238E27FC236}">
                <a16:creationId xmlns:a16="http://schemas.microsoft.com/office/drawing/2014/main" id="{6A70B703-B5B8-F28D-392B-946262066AD0}"/>
              </a:ext>
            </a:extLst>
          </p:cNvPr>
          <p:cNvCxnSpPr/>
          <p:nvPr/>
        </p:nvCxnSpPr>
        <p:spPr>
          <a:xfrm rot="5400000">
            <a:off x="1396493" y="5668979"/>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מחבר ישר 24">
            <a:extLst>
              <a:ext uri="{FF2B5EF4-FFF2-40B4-BE49-F238E27FC236}">
                <a16:creationId xmlns:a16="http://schemas.microsoft.com/office/drawing/2014/main" id="{B55E93A5-0840-06F2-FA8F-642B1F78E4AC}"/>
              </a:ext>
            </a:extLst>
          </p:cNvPr>
          <p:cNvCxnSpPr/>
          <p:nvPr/>
        </p:nvCxnSpPr>
        <p:spPr>
          <a:xfrm rot="5400000">
            <a:off x="1390030" y="4126880"/>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8">
            <a:extLst>
              <a:ext uri="{FF2B5EF4-FFF2-40B4-BE49-F238E27FC236}">
                <a16:creationId xmlns:a16="http://schemas.microsoft.com/office/drawing/2014/main" id="{1DC0E44C-F5AC-38C0-30B6-49D8FC9273B9}"/>
              </a:ext>
            </a:extLst>
          </p:cNvPr>
          <p:cNvCxnSpPr/>
          <p:nvPr/>
        </p:nvCxnSpPr>
        <p:spPr>
          <a:xfrm flipV="1">
            <a:off x="610394" y="3502262"/>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5C323FD-321C-52DF-FD2E-341230F0F9CC}"/>
              </a:ext>
            </a:extLst>
          </p:cNvPr>
          <p:cNvSpPr txBox="1"/>
          <p:nvPr/>
        </p:nvSpPr>
        <p:spPr>
          <a:xfrm>
            <a:off x="3741844" y="3275806"/>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7" name="מחבר ישר 31">
            <a:extLst>
              <a:ext uri="{FF2B5EF4-FFF2-40B4-BE49-F238E27FC236}">
                <a16:creationId xmlns:a16="http://schemas.microsoft.com/office/drawing/2014/main" id="{2DE506E7-668E-9AF1-2F73-FC9CE04DFA19}"/>
              </a:ext>
            </a:extLst>
          </p:cNvPr>
          <p:cNvCxnSpPr/>
          <p:nvPr/>
        </p:nvCxnSpPr>
        <p:spPr>
          <a:xfrm flipH="1">
            <a:off x="1931484" y="4776004"/>
            <a:ext cx="794" cy="164228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8" name="מחבר ישר 32">
            <a:extLst>
              <a:ext uri="{FF2B5EF4-FFF2-40B4-BE49-F238E27FC236}">
                <a16:creationId xmlns:a16="http://schemas.microsoft.com/office/drawing/2014/main" id="{C99CB54F-D6F5-0C3A-90B5-307109E4E2C5}"/>
              </a:ext>
            </a:extLst>
          </p:cNvPr>
          <p:cNvCxnSpPr/>
          <p:nvPr/>
        </p:nvCxnSpPr>
        <p:spPr>
          <a:xfrm rot="5400000">
            <a:off x="1301716" y="4038566"/>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6">
            <a:extLst>
              <a:ext uri="{FF2B5EF4-FFF2-40B4-BE49-F238E27FC236}">
                <a16:creationId xmlns:a16="http://schemas.microsoft.com/office/drawing/2014/main" id="{4A52BF53-ABEF-6DE3-BD04-CCC9CF77A48C}"/>
              </a:ext>
            </a:extLst>
          </p:cNvPr>
          <p:cNvCxnSpPr/>
          <p:nvPr/>
        </p:nvCxnSpPr>
        <p:spPr>
          <a:xfrm rot="5400000">
            <a:off x="1301715" y="440789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משולש ישר-זווית 34">
            <a:extLst>
              <a:ext uri="{FF2B5EF4-FFF2-40B4-BE49-F238E27FC236}">
                <a16:creationId xmlns:a16="http://schemas.microsoft.com/office/drawing/2014/main" id="{608D328B-AE5E-C7D5-5CF1-131A47555998}"/>
              </a:ext>
            </a:extLst>
          </p:cNvPr>
          <p:cNvSpPr/>
          <p:nvPr/>
        </p:nvSpPr>
        <p:spPr>
          <a:xfrm>
            <a:off x="593427" y="3561558"/>
            <a:ext cx="1285884" cy="1143008"/>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עודף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הצרכן</a:t>
            </a:r>
          </a:p>
        </p:txBody>
      </p:sp>
      <p:sp>
        <p:nvSpPr>
          <p:cNvPr id="31" name="משולש ישר-זווית 35">
            <a:extLst>
              <a:ext uri="{FF2B5EF4-FFF2-40B4-BE49-F238E27FC236}">
                <a16:creationId xmlns:a16="http://schemas.microsoft.com/office/drawing/2014/main" id="{BBC8C653-D0FA-386C-370B-935EB3EB94C1}"/>
              </a:ext>
            </a:extLst>
          </p:cNvPr>
          <p:cNvSpPr/>
          <p:nvPr/>
        </p:nvSpPr>
        <p:spPr>
          <a:xfrm flipV="1">
            <a:off x="593427" y="5069781"/>
            <a:ext cx="1357322" cy="928694"/>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2" name="TextBox 31">
            <a:extLst>
              <a:ext uri="{FF2B5EF4-FFF2-40B4-BE49-F238E27FC236}">
                <a16:creationId xmlns:a16="http://schemas.microsoft.com/office/drawing/2014/main" id="{1167C798-F8D9-FF2F-6DDA-27EF71C462A3}"/>
              </a:ext>
            </a:extLst>
          </p:cNvPr>
          <p:cNvSpPr txBox="1"/>
          <p:nvPr/>
        </p:nvSpPr>
        <p:spPr>
          <a:xfrm>
            <a:off x="664865" y="5007824"/>
            <a:ext cx="768159" cy="55399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רווחי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היצרנים</a:t>
            </a:r>
          </a:p>
        </p:txBody>
      </p:sp>
      <p:sp>
        <p:nvSpPr>
          <p:cNvPr id="33" name="מלבן 37">
            <a:extLst>
              <a:ext uri="{FF2B5EF4-FFF2-40B4-BE49-F238E27FC236}">
                <a16:creationId xmlns:a16="http://schemas.microsoft.com/office/drawing/2014/main" id="{2469FAAA-28BD-F35C-D6FB-D844044DCABD}"/>
              </a:ext>
            </a:extLst>
          </p:cNvPr>
          <p:cNvSpPr/>
          <p:nvPr/>
        </p:nvSpPr>
        <p:spPr>
          <a:xfrm>
            <a:off x="609600" y="4705901"/>
            <a:ext cx="1321884" cy="3455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הכנסות ממשלה</a:t>
            </a:r>
          </a:p>
        </p:txBody>
      </p:sp>
      <p:sp>
        <p:nvSpPr>
          <p:cNvPr id="34" name="TextBox 33">
            <a:extLst>
              <a:ext uri="{FF2B5EF4-FFF2-40B4-BE49-F238E27FC236}">
                <a16:creationId xmlns:a16="http://schemas.microsoft.com/office/drawing/2014/main" id="{02BB91DB-EB41-6861-8F27-148EA65F9302}"/>
              </a:ext>
            </a:extLst>
          </p:cNvPr>
          <p:cNvSpPr txBox="1"/>
          <p:nvPr/>
        </p:nvSpPr>
        <p:spPr>
          <a:xfrm>
            <a:off x="3753666" y="640537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5" name="TextBox 34">
            <a:extLst>
              <a:ext uri="{FF2B5EF4-FFF2-40B4-BE49-F238E27FC236}">
                <a16:creationId xmlns:a16="http://schemas.microsoft.com/office/drawing/2014/main" id="{DD7E12FF-9C61-9ED6-9B15-B63CD955B24D}"/>
              </a:ext>
            </a:extLst>
          </p:cNvPr>
          <p:cNvSpPr txBox="1"/>
          <p:nvPr/>
        </p:nvSpPr>
        <p:spPr>
          <a:xfrm>
            <a:off x="2054860" y="6405024"/>
            <a:ext cx="590552"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36" name="TextBox 35">
            <a:extLst>
              <a:ext uri="{FF2B5EF4-FFF2-40B4-BE49-F238E27FC236}">
                <a16:creationId xmlns:a16="http://schemas.microsoft.com/office/drawing/2014/main" id="{12271F7C-8BCF-4641-5DC2-BD3BFDA43DE4}"/>
              </a:ext>
            </a:extLst>
          </p:cNvPr>
          <p:cNvSpPr txBox="1"/>
          <p:nvPr/>
        </p:nvSpPr>
        <p:spPr>
          <a:xfrm>
            <a:off x="1763089" y="6384518"/>
            <a:ext cx="455607"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1</a:t>
            </a:r>
          </a:p>
        </p:txBody>
      </p:sp>
      <p:sp>
        <p:nvSpPr>
          <p:cNvPr id="37" name="TextBox 36">
            <a:extLst>
              <a:ext uri="{FF2B5EF4-FFF2-40B4-BE49-F238E27FC236}">
                <a16:creationId xmlns:a16="http://schemas.microsoft.com/office/drawing/2014/main" id="{85106953-0D1B-E3BE-D864-0BE9A1A6DE74}"/>
              </a:ext>
            </a:extLst>
          </p:cNvPr>
          <p:cNvSpPr txBox="1"/>
          <p:nvPr/>
        </p:nvSpPr>
        <p:spPr>
          <a:xfrm>
            <a:off x="-14955" y="4497813"/>
            <a:ext cx="66556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8" name="TextBox 37">
            <a:extLst>
              <a:ext uri="{FF2B5EF4-FFF2-40B4-BE49-F238E27FC236}">
                <a16:creationId xmlns:a16="http://schemas.microsoft.com/office/drawing/2014/main" id="{B9795813-2A04-25F7-FBD7-2C3529EA8910}"/>
              </a:ext>
            </a:extLst>
          </p:cNvPr>
          <p:cNvSpPr txBox="1"/>
          <p:nvPr/>
        </p:nvSpPr>
        <p:spPr>
          <a:xfrm>
            <a:off x="-26803" y="4871830"/>
            <a:ext cx="62709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9" name="Rectangle 38">
            <a:extLst>
              <a:ext uri="{FF2B5EF4-FFF2-40B4-BE49-F238E27FC236}">
                <a16:creationId xmlns:a16="http://schemas.microsoft.com/office/drawing/2014/main" id="{C2B0E141-D0AF-6B2C-0B04-0631155337F6}"/>
              </a:ext>
            </a:extLst>
          </p:cNvPr>
          <p:cNvSpPr/>
          <p:nvPr/>
        </p:nvSpPr>
        <p:spPr>
          <a:xfrm>
            <a:off x="725802" y="932447"/>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0" name="Rectangle 39">
            <a:extLst>
              <a:ext uri="{FF2B5EF4-FFF2-40B4-BE49-F238E27FC236}">
                <a16:creationId xmlns:a16="http://schemas.microsoft.com/office/drawing/2014/main" id="{9F9FD76D-9CF4-4B3E-446C-0B05C7958DF1}"/>
              </a:ext>
            </a:extLst>
          </p:cNvPr>
          <p:cNvSpPr/>
          <p:nvPr/>
        </p:nvSpPr>
        <p:spPr>
          <a:xfrm>
            <a:off x="754793" y="1322142"/>
            <a:ext cx="135646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P=10+0.5X</a:t>
            </a:r>
          </a:p>
        </p:txBody>
      </p:sp>
      <p:sp>
        <p:nvSpPr>
          <p:cNvPr id="41" name="Rectangle 40">
            <a:extLst>
              <a:ext uri="{FF2B5EF4-FFF2-40B4-BE49-F238E27FC236}">
                <a16:creationId xmlns:a16="http://schemas.microsoft.com/office/drawing/2014/main" id="{22277B04-7D3B-E730-C6DE-D56E1924723B}"/>
              </a:ext>
            </a:extLst>
          </p:cNvPr>
          <p:cNvSpPr/>
          <p:nvPr/>
        </p:nvSpPr>
        <p:spPr>
          <a:xfrm>
            <a:off x="2695046" y="976248"/>
            <a:ext cx="153118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לפני 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2" name="Straight Connector 41">
            <a:extLst>
              <a:ext uri="{FF2B5EF4-FFF2-40B4-BE49-F238E27FC236}">
                <a16:creationId xmlns:a16="http://schemas.microsoft.com/office/drawing/2014/main" id="{02E683AE-FB00-0819-2A1A-BBDD68EDA3D0}"/>
              </a:ext>
            </a:extLst>
          </p:cNvPr>
          <p:cNvCxnSpPr/>
          <p:nvPr/>
        </p:nvCxnSpPr>
        <p:spPr>
          <a:xfrm>
            <a:off x="779054" y="1829464"/>
            <a:ext cx="1356462"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4C295E76-4277-D0EC-95C6-7BB3C7E740AA}"/>
              </a:ext>
            </a:extLst>
          </p:cNvPr>
          <p:cNvSpPr/>
          <p:nvPr/>
        </p:nvSpPr>
        <p:spPr>
          <a:xfrm>
            <a:off x="497806" y="1942354"/>
            <a:ext cx="2124299"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10+0.5X</a:t>
            </a:r>
          </a:p>
        </p:txBody>
      </p:sp>
      <p:sp>
        <p:nvSpPr>
          <p:cNvPr id="44" name="Rectangle 43">
            <a:extLst>
              <a:ext uri="{FF2B5EF4-FFF2-40B4-BE49-F238E27FC236}">
                <a16:creationId xmlns:a16="http://schemas.microsoft.com/office/drawing/2014/main" id="{20AC750F-0F4D-07D2-9135-493FE27D2ECB}"/>
              </a:ext>
            </a:extLst>
          </p:cNvPr>
          <p:cNvSpPr/>
          <p:nvPr/>
        </p:nvSpPr>
        <p:spPr>
          <a:xfrm>
            <a:off x="1037217" y="2285720"/>
            <a:ext cx="117211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80 = 0.8X</a:t>
            </a:r>
          </a:p>
        </p:txBody>
      </p:sp>
      <p:sp>
        <p:nvSpPr>
          <p:cNvPr id="45" name="Rectangle 44">
            <a:extLst>
              <a:ext uri="{FF2B5EF4-FFF2-40B4-BE49-F238E27FC236}">
                <a16:creationId xmlns:a16="http://schemas.microsoft.com/office/drawing/2014/main" id="{54E7C13B-5CDF-A9DC-2DED-3B6AD4F8DBFE}"/>
              </a:ext>
            </a:extLst>
          </p:cNvPr>
          <p:cNvSpPr/>
          <p:nvPr/>
        </p:nvSpPr>
        <p:spPr>
          <a:xfrm>
            <a:off x="1182181" y="2714141"/>
            <a:ext cx="979755"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X = 100</a:t>
            </a:r>
          </a:p>
        </p:txBody>
      </p:sp>
      <p:sp>
        <p:nvSpPr>
          <p:cNvPr id="46" name="Rectangle 45">
            <a:extLst>
              <a:ext uri="{FF2B5EF4-FFF2-40B4-BE49-F238E27FC236}">
                <a16:creationId xmlns:a16="http://schemas.microsoft.com/office/drawing/2014/main" id="{318F9FD2-A140-FC6A-85F0-02E1E884CD67}"/>
              </a:ext>
            </a:extLst>
          </p:cNvPr>
          <p:cNvSpPr/>
          <p:nvPr/>
        </p:nvSpPr>
        <p:spPr>
          <a:xfrm>
            <a:off x="2179710" y="2714141"/>
            <a:ext cx="71846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P=60</a:t>
            </a:r>
          </a:p>
        </p:txBody>
      </p:sp>
      <p:sp>
        <p:nvSpPr>
          <p:cNvPr id="47" name="Rectangle 46">
            <a:extLst>
              <a:ext uri="{FF2B5EF4-FFF2-40B4-BE49-F238E27FC236}">
                <a16:creationId xmlns:a16="http://schemas.microsoft.com/office/drawing/2014/main" id="{16952F37-E78E-08BC-CBB1-6AFD35C4FCD0}"/>
              </a:ext>
            </a:extLst>
          </p:cNvPr>
          <p:cNvSpPr/>
          <p:nvPr/>
        </p:nvSpPr>
        <p:spPr>
          <a:xfrm>
            <a:off x="6492290" y="1557114"/>
            <a:ext cx="1659429"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לאחר </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E1905FE5-B314-9DAE-DB3C-76F17333221B}"/>
              </a:ext>
            </a:extLst>
          </p:cNvPr>
          <p:cNvSpPr/>
          <p:nvPr/>
        </p:nvSpPr>
        <p:spPr>
          <a:xfrm>
            <a:off x="4559066" y="1436814"/>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9" name="Rectangle 48">
            <a:extLst>
              <a:ext uri="{FF2B5EF4-FFF2-40B4-BE49-F238E27FC236}">
                <a16:creationId xmlns:a16="http://schemas.microsoft.com/office/drawing/2014/main" id="{2DDC54C8-9AF8-2756-E17A-1BE09AE58D9B}"/>
              </a:ext>
            </a:extLst>
          </p:cNvPr>
          <p:cNvSpPr/>
          <p:nvPr/>
        </p:nvSpPr>
        <p:spPr>
          <a:xfrm>
            <a:off x="4559066" y="1865234"/>
            <a:ext cx="164500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10</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0" name="Rectangle 49">
            <a:extLst>
              <a:ext uri="{FF2B5EF4-FFF2-40B4-BE49-F238E27FC236}">
                <a16:creationId xmlns:a16="http://schemas.microsoft.com/office/drawing/2014/main" id="{61C8F7A4-F460-B51B-E0FE-E8DC53E6E862}"/>
              </a:ext>
            </a:extLst>
          </p:cNvPr>
          <p:cNvSpPr/>
          <p:nvPr/>
        </p:nvSpPr>
        <p:spPr>
          <a:xfrm>
            <a:off x="4204001" y="2408656"/>
            <a:ext cx="2124299"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12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1" name="Rectangle 50">
            <a:extLst>
              <a:ext uri="{FF2B5EF4-FFF2-40B4-BE49-F238E27FC236}">
                <a16:creationId xmlns:a16="http://schemas.microsoft.com/office/drawing/2014/main" id="{49860E0F-88D2-1FE1-9063-E1CFCE5B48FB}"/>
              </a:ext>
            </a:extLst>
          </p:cNvPr>
          <p:cNvSpPr/>
          <p:nvPr/>
        </p:nvSpPr>
        <p:spPr>
          <a:xfrm>
            <a:off x="4743412" y="2752022"/>
            <a:ext cx="117211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78</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 </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0.8X</a:t>
            </a:r>
          </a:p>
        </p:txBody>
      </p:sp>
      <p:sp>
        <p:nvSpPr>
          <p:cNvPr id="52" name="Rectangle 51">
            <a:extLst>
              <a:ext uri="{FF2B5EF4-FFF2-40B4-BE49-F238E27FC236}">
                <a16:creationId xmlns:a16="http://schemas.microsoft.com/office/drawing/2014/main" id="{618EC73F-0331-EBCB-3064-244883CD0542}"/>
              </a:ext>
            </a:extLst>
          </p:cNvPr>
          <p:cNvSpPr/>
          <p:nvPr/>
        </p:nvSpPr>
        <p:spPr>
          <a:xfrm>
            <a:off x="4888376" y="3180443"/>
            <a:ext cx="1055097"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X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97.5</a:t>
            </a:r>
          </a:p>
        </p:txBody>
      </p:sp>
      <p:sp>
        <p:nvSpPr>
          <p:cNvPr id="53" name="Rectangle 52">
            <a:extLst>
              <a:ext uri="{FF2B5EF4-FFF2-40B4-BE49-F238E27FC236}">
                <a16:creationId xmlns:a16="http://schemas.microsoft.com/office/drawing/2014/main" id="{2927371A-B3CC-9500-689A-38B6ADA9C1E2}"/>
              </a:ext>
            </a:extLst>
          </p:cNvPr>
          <p:cNvSpPr/>
          <p:nvPr/>
        </p:nvSpPr>
        <p:spPr>
          <a:xfrm>
            <a:off x="5973389" y="3114251"/>
            <a:ext cx="2884123"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90-0.3*</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he-IL" sz="2000" b="1"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60.75</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DF0B7350-1597-9962-690C-B2E4E450080E}"/>
              </a:ext>
            </a:extLst>
          </p:cNvPr>
          <p:cNvSpPr/>
          <p:nvPr/>
        </p:nvSpPr>
        <p:spPr>
          <a:xfrm>
            <a:off x="5973389" y="3514361"/>
            <a:ext cx="3691925" cy="40011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יצרן</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10</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+0.5</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he-IL" sz="2000" b="1"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58.75</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CE2796CE-CBCC-7F3D-A023-1532CE68ADCE}"/>
              </a:ext>
            </a:extLst>
          </p:cNvPr>
          <p:cNvSpPr/>
          <p:nvPr/>
        </p:nvSpPr>
        <p:spPr>
          <a:xfrm>
            <a:off x="4895104" y="4037157"/>
            <a:ext cx="3986989" cy="473206"/>
          </a:xfrm>
          <a:prstGeom prst="rect">
            <a:avLst/>
          </a:prstGeom>
        </p:spPr>
        <p:txBody>
          <a:bodyPr wrap="non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5</a:t>
            </a: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מה יקרה לרווחה החברתית בעקבות הטלת המס?</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BB1B7AD-AB94-5F16-01CD-77D2BACEA96E}"/>
                  </a:ext>
                </a:extLst>
              </p:cNvPr>
              <p:cNvSpPr txBox="1"/>
              <p:nvPr/>
            </p:nvSpPr>
            <p:spPr>
              <a:xfrm>
                <a:off x="5034538" y="4503543"/>
                <a:ext cx="3286148" cy="487954"/>
              </a:xfrm>
              <a:prstGeom prst="rect">
                <a:avLst/>
              </a:prstGeom>
              <a:solidFill>
                <a:schemeClr val="accent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הנטל העודף</a:t>
                </a:r>
                <a14:m>
                  <m:oMath xmlns:m="http://schemas.openxmlformats.org/officeDocument/2006/math">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100</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97.5</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m:t>
                        </m:r>
                        <m:r>
                          <m:rPr>
                            <m:nor/>
                          </m:rP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m:t>2</m:t>
                        </m:r>
                      </m:num>
                      <m:den>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oMath>
                </a14:m>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2.5</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5BB1B7AD-AB94-5F16-01CD-77D2BACEA96E}"/>
                  </a:ext>
                </a:extLst>
              </p:cNvPr>
              <p:cNvSpPr txBox="1">
                <a:spLocks noRot="1" noChangeAspect="1" noMove="1" noResize="1" noEditPoints="1" noAdjustHandles="1" noChangeArrowheads="1" noChangeShapeType="1" noTextEdit="1"/>
              </p:cNvSpPr>
              <p:nvPr/>
            </p:nvSpPr>
            <p:spPr>
              <a:xfrm>
                <a:off x="5034538" y="4503543"/>
                <a:ext cx="3286148" cy="487954"/>
              </a:xfrm>
              <a:prstGeom prst="rect">
                <a:avLst/>
              </a:prstGeom>
              <a:blipFill>
                <a:blip r:embed="rId2"/>
                <a:stretch>
                  <a:fillRect l="-1855" b="-10000"/>
                </a:stretch>
              </a:blipFill>
            </p:spPr>
            <p:txBody>
              <a:bodyPr/>
              <a:lstStyle/>
              <a:p>
                <a:r>
                  <a:rPr lang="en-IL">
                    <a:noFill/>
                  </a:rPr>
                  <a:t> </a:t>
                </a:r>
              </a:p>
            </p:txBody>
          </p:sp>
        </mc:Fallback>
      </mc:AlternateContent>
      <p:sp>
        <p:nvSpPr>
          <p:cNvPr id="55" name="TextBox 54">
            <a:extLst>
              <a:ext uri="{FF2B5EF4-FFF2-40B4-BE49-F238E27FC236}">
                <a16:creationId xmlns:a16="http://schemas.microsoft.com/office/drawing/2014/main" id="{0A2504CE-976F-F422-5BD8-BDF01A03F479}"/>
              </a:ext>
            </a:extLst>
          </p:cNvPr>
          <p:cNvSpPr txBox="1"/>
          <p:nvPr/>
        </p:nvSpPr>
        <p:spPr>
          <a:xfrm>
            <a:off x="3991007" y="5300886"/>
            <a:ext cx="4891086" cy="1358064"/>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1. המחיר לצרכן יעלה בפחות מגובה המס.</a:t>
            </a:r>
            <a:br>
              <a:rPr kumimoji="0" lang="en-US"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2. המחיר שהיצרן מקבל יהיה נמוך מהמחיר שהצרכן משלם בגובה המס.</a:t>
            </a:r>
            <a:br>
              <a:rPr kumimoji="0" lang="en-US"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3. הרווחה החברתית במשק תקטן.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4. הכמות המיוצרת לא משתנה. </a:t>
            </a:r>
          </a:p>
        </p:txBody>
      </p:sp>
      <p:sp>
        <p:nvSpPr>
          <p:cNvPr id="6" name="TextBox 5">
            <a:extLst>
              <a:ext uri="{FF2B5EF4-FFF2-40B4-BE49-F238E27FC236}">
                <a16:creationId xmlns:a16="http://schemas.microsoft.com/office/drawing/2014/main" id="{285C2369-DBB8-48C5-4B4C-98DA0598B1CC}"/>
              </a:ext>
            </a:extLst>
          </p:cNvPr>
          <p:cNvSpPr txBox="1"/>
          <p:nvPr/>
        </p:nvSpPr>
        <p:spPr>
          <a:xfrm>
            <a:off x="4226234" y="4866502"/>
            <a:ext cx="4876800" cy="47320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ב. בחרו בתשובה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ש</a:t>
            </a:r>
            <a:r>
              <a:rPr kumimoji="0" lang="he-IL" sz="1800" b="1" i="0" u="sng" strike="noStrike" kern="1200" cap="none" spc="0" normalizeH="0" baseline="0" noProof="0" dirty="0">
                <a:ln>
                  <a:noFill/>
                </a:ln>
                <a:solidFill>
                  <a:prstClr val="black"/>
                </a:solidFill>
                <a:effectLst/>
                <a:highlight>
                  <a:srgbClr val="FFFF00"/>
                </a:highlight>
                <a:uLnTx/>
                <a:uFillTx/>
                <a:latin typeface="David" pitchFamily="34" charset="-79"/>
                <a:ea typeface="+mn-ea"/>
                <a:cs typeface="David" pitchFamily="34" charset="-79"/>
              </a:rPr>
              <a:t>אינה</a:t>
            </a: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 נכונה: בעקבות הטלת המס -</a:t>
            </a:r>
          </a:p>
        </p:txBody>
      </p:sp>
      <p:cxnSp>
        <p:nvCxnSpPr>
          <p:cNvPr id="8" name="Straight Connector 7">
            <a:extLst>
              <a:ext uri="{FF2B5EF4-FFF2-40B4-BE49-F238E27FC236}">
                <a16:creationId xmlns:a16="http://schemas.microsoft.com/office/drawing/2014/main" id="{62DC033D-8A64-F87A-FDD5-A91EB1B3A451}"/>
              </a:ext>
            </a:extLst>
          </p:cNvPr>
          <p:cNvCxnSpPr>
            <a:cxnSpLocks/>
          </p:cNvCxnSpPr>
          <p:nvPr/>
        </p:nvCxnSpPr>
        <p:spPr>
          <a:xfrm flipV="1">
            <a:off x="6677612" y="6418284"/>
            <a:ext cx="2204481" cy="1509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171FC15-289F-96CA-18B2-DE9EAB51CD7B}"/>
              </a:ext>
            </a:extLst>
          </p:cNvPr>
          <p:cNvSpPr txBox="1"/>
          <p:nvPr/>
        </p:nvSpPr>
        <p:spPr>
          <a:xfrm>
            <a:off x="194470" y="337591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90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E34D46FA-C11B-0735-DF56-38EF89EFC1F9}"/>
              </a:ext>
            </a:extLst>
          </p:cNvPr>
          <p:cNvSpPr txBox="1"/>
          <p:nvPr/>
        </p:nvSpPr>
        <p:spPr>
          <a:xfrm>
            <a:off x="181166" y="578359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807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9943" y="9952"/>
            <a:ext cx="1884057" cy="727912"/>
          </a:xfrm>
        </p:spPr>
        <p:txBody>
          <a:bodyPr>
            <a:normAutofit/>
          </a:bodyPr>
          <a:lstStyle/>
          <a:p>
            <a:pPr algn="r" rtl="1"/>
            <a:r>
              <a:rPr lang="he-IL" sz="3600" b="1" dirty="0">
                <a:latin typeface="David" pitchFamily="34" charset="-79"/>
                <a:cs typeface="David" pitchFamily="34" charset="-79"/>
              </a:rPr>
              <a:t>שאלה 1</a:t>
            </a:r>
            <a:r>
              <a:rPr lang="he-IL" sz="2400" b="1" dirty="0">
                <a:latin typeface="David" pitchFamily="34" charset="-79"/>
                <a:cs typeface="David" pitchFamily="34" charset="-79"/>
              </a:rPr>
              <a:t> </a:t>
            </a:r>
            <a:endParaRPr lang="en-US" dirty="0"/>
          </a:p>
        </p:txBody>
      </p:sp>
      <p:grpSp>
        <p:nvGrpSpPr>
          <p:cNvPr id="14" name="קבוצה 11"/>
          <p:cNvGrpSpPr/>
          <p:nvPr/>
        </p:nvGrpSpPr>
        <p:grpSpPr>
          <a:xfrm>
            <a:off x="609600" y="3276600"/>
            <a:ext cx="3810000" cy="3142478"/>
            <a:chOff x="713554" y="2786852"/>
            <a:chExt cx="4428794" cy="3143272"/>
          </a:xfrm>
        </p:grpSpPr>
        <p:cxnSp>
          <p:nvCxnSpPr>
            <p:cNvPr id="16"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8" name="מחבר ישר 13"/>
          <p:cNvCxnSpPr/>
          <p:nvPr/>
        </p:nvCxnSpPr>
        <p:spPr>
          <a:xfrm>
            <a:off x="610394" y="3561558"/>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מחבר ישר 15"/>
          <p:cNvCxnSpPr/>
          <p:nvPr/>
        </p:nvCxnSpPr>
        <p:spPr>
          <a:xfrm flipV="1">
            <a:off x="610394" y="3847310"/>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41844" y="3620854"/>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1" name="TextBox 20"/>
          <p:cNvSpPr txBox="1"/>
          <p:nvPr/>
        </p:nvSpPr>
        <p:spPr>
          <a:xfrm>
            <a:off x="3716797" y="5919012"/>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2" name="TextBox 21"/>
          <p:cNvSpPr txBox="1"/>
          <p:nvPr/>
        </p:nvSpPr>
        <p:spPr>
          <a:xfrm>
            <a:off x="324642" y="2847178"/>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3" name="מחבר ישר 23"/>
          <p:cNvCxnSpPr/>
          <p:nvPr/>
        </p:nvCxnSpPr>
        <p:spPr>
          <a:xfrm rot="5400000">
            <a:off x="1396493" y="5668979"/>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מחבר ישר 24"/>
          <p:cNvCxnSpPr/>
          <p:nvPr/>
        </p:nvCxnSpPr>
        <p:spPr>
          <a:xfrm rot="5400000">
            <a:off x="1390030" y="4126880"/>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מחבר ישר 31"/>
          <p:cNvCxnSpPr/>
          <p:nvPr/>
        </p:nvCxnSpPr>
        <p:spPr>
          <a:xfrm flipH="1">
            <a:off x="1931484" y="4776004"/>
            <a:ext cx="794" cy="164228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8" name="מחבר ישר 32"/>
          <p:cNvCxnSpPr/>
          <p:nvPr/>
        </p:nvCxnSpPr>
        <p:spPr>
          <a:xfrm rot="5400000">
            <a:off x="1301716" y="4038566"/>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6"/>
          <p:cNvCxnSpPr/>
          <p:nvPr/>
        </p:nvCxnSpPr>
        <p:spPr>
          <a:xfrm rot="5400000">
            <a:off x="1301715" y="440789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משולש ישר-זווית 34"/>
          <p:cNvSpPr/>
          <p:nvPr/>
        </p:nvSpPr>
        <p:spPr>
          <a:xfrm>
            <a:off x="593427" y="3561557"/>
            <a:ext cx="1551798" cy="1356517"/>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עודף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הצרכן</a:t>
            </a:r>
          </a:p>
        </p:txBody>
      </p:sp>
      <p:sp>
        <p:nvSpPr>
          <p:cNvPr id="31" name="משולש ישר-זווית 35"/>
          <p:cNvSpPr/>
          <p:nvPr/>
        </p:nvSpPr>
        <p:spPr>
          <a:xfrm flipV="1">
            <a:off x="593427" y="4918074"/>
            <a:ext cx="1593206" cy="1080401"/>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2" name="TextBox 31"/>
          <p:cNvSpPr txBox="1"/>
          <p:nvPr/>
        </p:nvSpPr>
        <p:spPr>
          <a:xfrm>
            <a:off x="664865" y="5007824"/>
            <a:ext cx="768159" cy="55399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רווחי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היצרנים</a:t>
            </a:r>
          </a:p>
        </p:txBody>
      </p:sp>
      <p:sp>
        <p:nvSpPr>
          <p:cNvPr id="34" name="TextBox 33"/>
          <p:cNvSpPr txBox="1"/>
          <p:nvPr/>
        </p:nvSpPr>
        <p:spPr>
          <a:xfrm>
            <a:off x="3753666" y="640537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5" name="TextBox 34"/>
          <p:cNvSpPr txBox="1"/>
          <p:nvPr/>
        </p:nvSpPr>
        <p:spPr>
          <a:xfrm>
            <a:off x="2054860" y="6405024"/>
            <a:ext cx="590552"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36" name="TextBox 35"/>
          <p:cNvSpPr txBox="1"/>
          <p:nvPr/>
        </p:nvSpPr>
        <p:spPr>
          <a:xfrm>
            <a:off x="1763089" y="6384518"/>
            <a:ext cx="455607"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1</a:t>
            </a:r>
          </a:p>
        </p:txBody>
      </p:sp>
      <p:sp>
        <p:nvSpPr>
          <p:cNvPr id="4" name="Rectangle 3">
            <a:extLst>
              <a:ext uri="{FF2B5EF4-FFF2-40B4-BE49-F238E27FC236}">
                <a16:creationId xmlns:a16="http://schemas.microsoft.com/office/drawing/2014/main" id="{20EDD4AB-70B5-4829-8E58-32D383D67EB1}"/>
              </a:ext>
            </a:extLst>
          </p:cNvPr>
          <p:cNvSpPr/>
          <p:nvPr/>
        </p:nvSpPr>
        <p:spPr>
          <a:xfrm>
            <a:off x="629534" y="2461135"/>
            <a:ext cx="3788217" cy="473206"/>
          </a:xfrm>
          <a:prstGeom prst="rect">
            <a:avLst/>
          </a:prstGeom>
        </p:spPr>
        <p:txBody>
          <a:bodyPr wrap="non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הרווחה הכלכלית/חברתית לפני הטלת המס</a:t>
            </a:r>
          </a:p>
        </p:txBody>
      </p:sp>
      <p:pic>
        <p:nvPicPr>
          <p:cNvPr id="6" name="Picture 5">
            <a:extLst>
              <a:ext uri="{FF2B5EF4-FFF2-40B4-BE49-F238E27FC236}">
                <a16:creationId xmlns:a16="http://schemas.microsoft.com/office/drawing/2014/main" id="{CADF3530-D6C5-42CF-8F0B-3A3C4C01FA3F}"/>
              </a:ext>
            </a:extLst>
          </p:cNvPr>
          <p:cNvPicPr>
            <a:picLocks noChangeAspect="1"/>
          </p:cNvPicPr>
          <p:nvPr/>
        </p:nvPicPr>
        <p:blipFill>
          <a:blip r:embed="rId2"/>
          <a:stretch>
            <a:fillRect/>
          </a:stretch>
        </p:blipFill>
        <p:spPr>
          <a:xfrm>
            <a:off x="4560537" y="3216510"/>
            <a:ext cx="4448175" cy="3695700"/>
          </a:xfrm>
          <a:prstGeom prst="rect">
            <a:avLst/>
          </a:prstGeom>
        </p:spPr>
      </p:pic>
      <p:sp>
        <p:nvSpPr>
          <p:cNvPr id="55" name="Rectangle 54">
            <a:extLst>
              <a:ext uri="{FF2B5EF4-FFF2-40B4-BE49-F238E27FC236}">
                <a16:creationId xmlns:a16="http://schemas.microsoft.com/office/drawing/2014/main" id="{AF97C267-56BF-4499-8584-68A858417BB9}"/>
              </a:ext>
            </a:extLst>
          </p:cNvPr>
          <p:cNvSpPr/>
          <p:nvPr/>
        </p:nvSpPr>
        <p:spPr>
          <a:xfrm>
            <a:off x="5004048" y="2349614"/>
            <a:ext cx="3884397" cy="473206"/>
          </a:xfrm>
          <a:prstGeom prst="rect">
            <a:avLst/>
          </a:prstGeom>
        </p:spPr>
        <p:txBody>
          <a:bodyPr wrap="non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הרווחה הכלכלית/חברתית אחרי הטלת המס</a:t>
            </a:r>
          </a:p>
        </p:txBody>
      </p:sp>
      <p:sp>
        <p:nvSpPr>
          <p:cNvPr id="7" name="Rectangle 6">
            <a:extLst>
              <a:ext uri="{FF2B5EF4-FFF2-40B4-BE49-F238E27FC236}">
                <a16:creationId xmlns:a16="http://schemas.microsoft.com/office/drawing/2014/main" id="{8FDC6422-47C9-4170-98A1-9B9ED3892CD2}"/>
              </a:ext>
            </a:extLst>
          </p:cNvPr>
          <p:cNvSpPr/>
          <p:nvPr/>
        </p:nvSpPr>
        <p:spPr>
          <a:xfrm>
            <a:off x="8514466" y="5668979"/>
            <a:ext cx="494246" cy="32949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387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arn(inVertical)">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down)">
                                      <p:cBhvr>
                                        <p:cTn id="28" dur="500"/>
                                        <p:tgtEl>
                                          <p:spTgt spid="32"/>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down)">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arn(inVertic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barn(inVertical)">
                                      <p:cBhvr>
                                        <p:cTn id="41"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p:bldP spid="36" grpId="0"/>
      <p:bldP spid="4" grpId="0"/>
      <p:bldP spid="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AF983-10C3-BE0F-B1D1-AC6759DE3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E41B5-D758-337F-5B2A-74491B1FB92B}"/>
              </a:ext>
            </a:extLst>
          </p:cNvPr>
          <p:cNvSpPr>
            <a:spLocks noGrp="1"/>
          </p:cNvSpPr>
          <p:nvPr>
            <p:ph type="title"/>
          </p:nvPr>
        </p:nvSpPr>
        <p:spPr>
          <a:xfrm>
            <a:off x="7259943" y="9952"/>
            <a:ext cx="1884057" cy="727912"/>
          </a:xfrm>
        </p:spPr>
        <p:txBody>
          <a:bodyPr>
            <a:normAutofit/>
          </a:bodyPr>
          <a:lstStyle/>
          <a:p>
            <a:pPr algn="r" rtl="1"/>
            <a:r>
              <a:rPr lang="he-IL" sz="3600" b="1" dirty="0">
                <a:latin typeface="David" pitchFamily="34" charset="-79"/>
                <a:cs typeface="David" pitchFamily="34" charset="-79"/>
              </a:rPr>
              <a:t>שאלה 1</a:t>
            </a:r>
            <a:r>
              <a:rPr lang="he-IL" sz="2400" b="1" dirty="0">
                <a:latin typeface="David" pitchFamily="34" charset="-79"/>
                <a:cs typeface="David" pitchFamily="34" charset="-79"/>
              </a:rPr>
              <a:t> </a:t>
            </a:r>
            <a:endParaRPr lang="en-US" dirty="0"/>
          </a:p>
        </p:txBody>
      </p:sp>
      <p:sp>
        <p:nvSpPr>
          <p:cNvPr id="10" name="Rectangle 9">
            <a:extLst>
              <a:ext uri="{FF2B5EF4-FFF2-40B4-BE49-F238E27FC236}">
                <a16:creationId xmlns:a16="http://schemas.microsoft.com/office/drawing/2014/main" id="{79D475EB-1063-F60C-41F3-B03020D6783D}"/>
              </a:ext>
            </a:extLst>
          </p:cNvPr>
          <p:cNvSpPr/>
          <p:nvPr/>
        </p:nvSpPr>
        <p:spPr>
          <a:xfrm>
            <a:off x="3460640" y="135736"/>
            <a:ext cx="4003811" cy="861774"/>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מס על </a:t>
            </a: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 </a:t>
            </a:r>
            <a:br>
              <a:rPr kumimoji="0" lang="en-US" sz="18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br>
            <a:r>
              <a:rPr kumimoji="0" lang="he-IL" sz="1600" b="1"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היצרנים </a:t>
            </a:r>
            <a:r>
              <a:rPr kumimoji="0" lang="he-IL" sz="16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הם אלו החייבים להעביר את סכום המס לממשלה. אין שינוי בעקומת הביקוש.</a:t>
            </a:r>
          </a:p>
        </p:txBody>
      </p:sp>
      <p:grpSp>
        <p:nvGrpSpPr>
          <p:cNvPr id="14" name="קבוצה 11">
            <a:extLst>
              <a:ext uri="{FF2B5EF4-FFF2-40B4-BE49-F238E27FC236}">
                <a16:creationId xmlns:a16="http://schemas.microsoft.com/office/drawing/2014/main" id="{5AA70995-8919-2EFD-E2F1-968BC1D6DA2C}"/>
              </a:ext>
            </a:extLst>
          </p:cNvPr>
          <p:cNvGrpSpPr/>
          <p:nvPr/>
        </p:nvGrpSpPr>
        <p:grpSpPr>
          <a:xfrm>
            <a:off x="609600" y="3276600"/>
            <a:ext cx="3810000" cy="3142478"/>
            <a:chOff x="713554" y="2786852"/>
            <a:chExt cx="4428794" cy="3143272"/>
          </a:xfrm>
        </p:grpSpPr>
        <p:cxnSp>
          <p:nvCxnSpPr>
            <p:cNvPr id="16" name="מחבר חץ ישר 9">
              <a:extLst>
                <a:ext uri="{FF2B5EF4-FFF2-40B4-BE49-F238E27FC236}">
                  <a16:creationId xmlns:a16="http://schemas.microsoft.com/office/drawing/2014/main" id="{57D96AB6-A43F-400B-46ED-A59B36815669}"/>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מחבר חץ ישר 10">
              <a:extLst>
                <a:ext uri="{FF2B5EF4-FFF2-40B4-BE49-F238E27FC236}">
                  <a16:creationId xmlns:a16="http://schemas.microsoft.com/office/drawing/2014/main" id="{E953B1AA-F358-847E-886C-B99A14976CD4}"/>
                </a:ext>
              </a:extLst>
            </p:cNvPr>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8" name="מחבר ישר 13">
            <a:extLst>
              <a:ext uri="{FF2B5EF4-FFF2-40B4-BE49-F238E27FC236}">
                <a16:creationId xmlns:a16="http://schemas.microsoft.com/office/drawing/2014/main" id="{D10362AD-ADEA-19B0-B7BE-4B9DBCFEC1F3}"/>
              </a:ext>
            </a:extLst>
          </p:cNvPr>
          <p:cNvCxnSpPr/>
          <p:nvPr/>
        </p:nvCxnSpPr>
        <p:spPr>
          <a:xfrm>
            <a:off x="610394" y="3561558"/>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מחבר ישר 15">
            <a:extLst>
              <a:ext uri="{FF2B5EF4-FFF2-40B4-BE49-F238E27FC236}">
                <a16:creationId xmlns:a16="http://schemas.microsoft.com/office/drawing/2014/main" id="{524008CF-7376-DAA4-90BD-EB1930A9FEE1}"/>
              </a:ext>
            </a:extLst>
          </p:cNvPr>
          <p:cNvCxnSpPr/>
          <p:nvPr/>
        </p:nvCxnSpPr>
        <p:spPr>
          <a:xfrm flipV="1">
            <a:off x="610394" y="3847310"/>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54A8482-80C7-E9A3-9B09-D24F84488E8A}"/>
              </a:ext>
            </a:extLst>
          </p:cNvPr>
          <p:cNvSpPr txBox="1"/>
          <p:nvPr/>
        </p:nvSpPr>
        <p:spPr>
          <a:xfrm>
            <a:off x="3741844" y="3620854"/>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1" name="TextBox 20">
            <a:extLst>
              <a:ext uri="{FF2B5EF4-FFF2-40B4-BE49-F238E27FC236}">
                <a16:creationId xmlns:a16="http://schemas.microsoft.com/office/drawing/2014/main" id="{676E1164-6E1D-71C9-9649-88EA44B06109}"/>
              </a:ext>
            </a:extLst>
          </p:cNvPr>
          <p:cNvSpPr txBox="1"/>
          <p:nvPr/>
        </p:nvSpPr>
        <p:spPr>
          <a:xfrm>
            <a:off x="3716797" y="5919012"/>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2" name="TextBox 21">
            <a:extLst>
              <a:ext uri="{FF2B5EF4-FFF2-40B4-BE49-F238E27FC236}">
                <a16:creationId xmlns:a16="http://schemas.microsoft.com/office/drawing/2014/main" id="{8A5B494F-923D-BD9E-9AC1-F524EE764F04}"/>
              </a:ext>
            </a:extLst>
          </p:cNvPr>
          <p:cNvSpPr txBox="1"/>
          <p:nvPr/>
        </p:nvSpPr>
        <p:spPr>
          <a:xfrm>
            <a:off x="324642" y="2847178"/>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3" name="מחבר ישר 23">
            <a:extLst>
              <a:ext uri="{FF2B5EF4-FFF2-40B4-BE49-F238E27FC236}">
                <a16:creationId xmlns:a16="http://schemas.microsoft.com/office/drawing/2014/main" id="{B58671F5-AB8A-EC11-491B-681B4B4B81C9}"/>
              </a:ext>
            </a:extLst>
          </p:cNvPr>
          <p:cNvCxnSpPr/>
          <p:nvPr/>
        </p:nvCxnSpPr>
        <p:spPr>
          <a:xfrm rot="5400000">
            <a:off x="1396493" y="5668979"/>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מחבר ישר 24">
            <a:extLst>
              <a:ext uri="{FF2B5EF4-FFF2-40B4-BE49-F238E27FC236}">
                <a16:creationId xmlns:a16="http://schemas.microsoft.com/office/drawing/2014/main" id="{EB4C3B2A-1873-2DEB-9C3A-0D4952A45DA1}"/>
              </a:ext>
            </a:extLst>
          </p:cNvPr>
          <p:cNvCxnSpPr/>
          <p:nvPr/>
        </p:nvCxnSpPr>
        <p:spPr>
          <a:xfrm rot="5400000">
            <a:off x="1390030" y="4126880"/>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8">
            <a:extLst>
              <a:ext uri="{FF2B5EF4-FFF2-40B4-BE49-F238E27FC236}">
                <a16:creationId xmlns:a16="http://schemas.microsoft.com/office/drawing/2014/main" id="{67026CE5-454B-1E67-F252-3513B3A9FD78}"/>
              </a:ext>
            </a:extLst>
          </p:cNvPr>
          <p:cNvCxnSpPr/>
          <p:nvPr/>
        </p:nvCxnSpPr>
        <p:spPr>
          <a:xfrm flipV="1">
            <a:off x="610394" y="3502262"/>
            <a:ext cx="3143272" cy="214314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7BE7217-DFE5-2108-05E7-FBB1B5695FB3}"/>
              </a:ext>
            </a:extLst>
          </p:cNvPr>
          <p:cNvSpPr txBox="1"/>
          <p:nvPr/>
        </p:nvSpPr>
        <p:spPr>
          <a:xfrm>
            <a:off x="2925742" y="6063098"/>
            <a:ext cx="405880"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D</a:t>
            </a:r>
            <a:r>
              <a:rPr kumimoji="0" lang="en-US" sz="1800" b="1" i="0" u="none" strike="noStrike" kern="1200" cap="none" spc="0" normalizeH="0" baseline="-25000" noProof="0" dirty="0">
                <a:ln>
                  <a:noFill/>
                </a:ln>
                <a:solidFill>
                  <a:srgbClr val="7030A0"/>
                </a:solidFill>
                <a:effectLst/>
                <a:uLnTx/>
                <a:uFillTx/>
                <a:latin typeface="Calibri" panose="020F0502020204030204"/>
                <a:ea typeface="+mn-ea"/>
                <a:cs typeface="+mn-cs"/>
              </a:rPr>
              <a:t>1</a:t>
            </a:r>
            <a:endParaRPr kumimoji="0" lang="he-IL" sz="1800" b="1"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endParaRPr>
          </a:p>
        </p:txBody>
      </p:sp>
      <p:cxnSp>
        <p:nvCxnSpPr>
          <p:cNvPr id="27" name="מחבר ישר 31">
            <a:extLst>
              <a:ext uri="{FF2B5EF4-FFF2-40B4-BE49-F238E27FC236}">
                <a16:creationId xmlns:a16="http://schemas.microsoft.com/office/drawing/2014/main" id="{50111306-1D8E-E70C-CD64-194D1280D93E}"/>
              </a:ext>
            </a:extLst>
          </p:cNvPr>
          <p:cNvCxnSpPr/>
          <p:nvPr/>
        </p:nvCxnSpPr>
        <p:spPr>
          <a:xfrm flipH="1">
            <a:off x="1931484" y="4776004"/>
            <a:ext cx="794" cy="164228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8" name="מחבר ישר 32">
            <a:extLst>
              <a:ext uri="{FF2B5EF4-FFF2-40B4-BE49-F238E27FC236}">
                <a16:creationId xmlns:a16="http://schemas.microsoft.com/office/drawing/2014/main" id="{A9120D9F-542C-1D86-64A7-34CB55AE3813}"/>
              </a:ext>
            </a:extLst>
          </p:cNvPr>
          <p:cNvCxnSpPr/>
          <p:nvPr/>
        </p:nvCxnSpPr>
        <p:spPr>
          <a:xfrm rot="5400000">
            <a:off x="1301716" y="4038566"/>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6">
            <a:extLst>
              <a:ext uri="{FF2B5EF4-FFF2-40B4-BE49-F238E27FC236}">
                <a16:creationId xmlns:a16="http://schemas.microsoft.com/office/drawing/2014/main" id="{10858DF8-C395-6151-095A-54661BEAA3EF}"/>
              </a:ext>
            </a:extLst>
          </p:cNvPr>
          <p:cNvCxnSpPr/>
          <p:nvPr/>
        </p:nvCxnSpPr>
        <p:spPr>
          <a:xfrm rot="5400000">
            <a:off x="1301715" y="4407898"/>
            <a:ext cx="0" cy="133200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משולש ישר-זווית 34">
            <a:extLst>
              <a:ext uri="{FF2B5EF4-FFF2-40B4-BE49-F238E27FC236}">
                <a16:creationId xmlns:a16="http://schemas.microsoft.com/office/drawing/2014/main" id="{D6A34D38-9D98-FE25-48ED-893B151E9175}"/>
              </a:ext>
            </a:extLst>
          </p:cNvPr>
          <p:cNvSpPr/>
          <p:nvPr/>
        </p:nvSpPr>
        <p:spPr>
          <a:xfrm>
            <a:off x="593427" y="3561558"/>
            <a:ext cx="1285884" cy="1143008"/>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עודף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הצרכן</a:t>
            </a:r>
          </a:p>
        </p:txBody>
      </p:sp>
      <p:sp>
        <p:nvSpPr>
          <p:cNvPr id="31" name="משולש ישר-זווית 35">
            <a:extLst>
              <a:ext uri="{FF2B5EF4-FFF2-40B4-BE49-F238E27FC236}">
                <a16:creationId xmlns:a16="http://schemas.microsoft.com/office/drawing/2014/main" id="{D60A0D84-2639-8FB8-8873-4886106CEA8B}"/>
              </a:ext>
            </a:extLst>
          </p:cNvPr>
          <p:cNvSpPr/>
          <p:nvPr/>
        </p:nvSpPr>
        <p:spPr>
          <a:xfrm flipV="1">
            <a:off x="593427" y="5069781"/>
            <a:ext cx="1357322" cy="928694"/>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2" name="TextBox 31">
            <a:extLst>
              <a:ext uri="{FF2B5EF4-FFF2-40B4-BE49-F238E27FC236}">
                <a16:creationId xmlns:a16="http://schemas.microsoft.com/office/drawing/2014/main" id="{D8C508E0-E4F5-A198-BD74-B5FC25687D75}"/>
              </a:ext>
            </a:extLst>
          </p:cNvPr>
          <p:cNvSpPr txBox="1"/>
          <p:nvPr/>
        </p:nvSpPr>
        <p:spPr>
          <a:xfrm>
            <a:off x="664865" y="5007824"/>
            <a:ext cx="768159" cy="55399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רווחי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היצרנים</a:t>
            </a:r>
          </a:p>
        </p:txBody>
      </p:sp>
      <p:sp>
        <p:nvSpPr>
          <p:cNvPr id="33" name="מלבן 37">
            <a:extLst>
              <a:ext uri="{FF2B5EF4-FFF2-40B4-BE49-F238E27FC236}">
                <a16:creationId xmlns:a16="http://schemas.microsoft.com/office/drawing/2014/main" id="{E0CFD805-258B-2FB8-A812-E47C63B8267D}"/>
              </a:ext>
            </a:extLst>
          </p:cNvPr>
          <p:cNvSpPr/>
          <p:nvPr/>
        </p:nvSpPr>
        <p:spPr>
          <a:xfrm>
            <a:off x="609600" y="4705901"/>
            <a:ext cx="1321884" cy="3455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5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הכנסות ממשלה</a:t>
            </a:r>
          </a:p>
        </p:txBody>
      </p:sp>
      <p:sp>
        <p:nvSpPr>
          <p:cNvPr id="34" name="TextBox 33">
            <a:extLst>
              <a:ext uri="{FF2B5EF4-FFF2-40B4-BE49-F238E27FC236}">
                <a16:creationId xmlns:a16="http://schemas.microsoft.com/office/drawing/2014/main" id="{DCCD5480-F479-F1C8-2C5B-58B3C4C0F96D}"/>
              </a:ext>
            </a:extLst>
          </p:cNvPr>
          <p:cNvSpPr txBox="1"/>
          <p:nvPr/>
        </p:nvSpPr>
        <p:spPr>
          <a:xfrm>
            <a:off x="3753666" y="640537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5" name="TextBox 34">
            <a:extLst>
              <a:ext uri="{FF2B5EF4-FFF2-40B4-BE49-F238E27FC236}">
                <a16:creationId xmlns:a16="http://schemas.microsoft.com/office/drawing/2014/main" id="{2695E610-978E-AA74-9A0B-098831A9AF66}"/>
              </a:ext>
            </a:extLst>
          </p:cNvPr>
          <p:cNvSpPr txBox="1"/>
          <p:nvPr/>
        </p:nvSpPr>
        <p:spPr>
          <a:xfrm>
            <a:off x="2054860" y="6405024"/>
            <a:ext cx="590552"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0</a:t>
            </a:r>
          </a:p>
        </p:txBody>
      </p:sp>
      <p:sp>
        <p:nvSpPr>
          <p:cNvPr id="36" name="TextBox 35">
            <a:extLst>
              <a:ext uri="{FF2B5EF4-FFF2-40B4-BE49-F238E27FC236}">
                <a16:creationId xmlns:a16="http://schemas.microsoft.com/office/drawing/2014/main" id="{EAD87B90-C3B4-838D-4AEF-72E3F6C2F268}"/>
              </a:ext>
            </a:extLst>
          </p:cNvPr>
          <p:cNvSpPr txBox="1"/>
          <p:nvPr/>
        </p:nvSpPr>
        <p:spPr>
          <a:xfrm>
            <a:off x="1763089" y="6384518"/>
            <a:ext cx="455607"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r>
              <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rPr>
              <a:t>1</a:t>
            </a:r>
          </a:p>
        </p:txBody>
      </p:sp>
      <p:sp>
        <p:nvSpPr>
          <p:cNvPr id="37" name="TextBox 36">
            <a:extLst>
              <a:ext uri="{FF2B5EF4-FFF2-40B4-BE49-F238E27FC236}">
                <a16:creationId xmlns:a16="http://schemas.microsoft.com/office/drawing/2014/main" id="{EF8AB46F-CAB6-1FE0-3512-25D070056738}"/>
              </a:ext>
            </a:extLst>
          </p:cNvPr>
          <p:cNvSpPr txBox="1"/>
          <p:nvPr/>
        </p:nvSpPr>
        <p:spPr>
          <a:xfrm>
            <a:off x="-14955" y="4497813"/>
            <a:ext cx="66556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8" name="TextBox 37">
            <a:extLst>
              <a:ext uri="{FF2B5EF4-FFF2-40B4-BE49-F238E27FC236}">
                <a16:creationId xmlns:a16="http://schemas.microsoft.com/office/drawing/2014/main" id="{08645E3E-FE03-7DBA-A7E5-9DC99649739B}"/>
              </a:ext>
            </a:extLst>
          </p:cNvPr>
          <p:cNvSpPr txBox="1"/>
          <p:nvPr/>
        </p:nvSpPr>
        <p:spPr>
          <a:xfrm>
            <a:off x="-26803" y="4871830"/>
            <a:ext cx="627095"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9" name="Rectangle 38">
            <a:extLst>
              <a:ext uri="{FF2B5EF4-FFF2-40B4-BE49-F238E27FC236}">
                <a16:creationId xmlns:a16="http://schemas.microsoft.com/office/drawing/2014/main" id="{5CB29E64-A419-DFD8-864A-33AE205C6B9A}"/>
              </a:ext>
            </a:extLst>
          </p:cNvPr>
          <p:cNvSpPr/>
          <p:nvPr/>
        </p:nvSpPr>
        <p:spPr>
          <a:xfrm>
            <a:off x="725802" y="932447"/>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0" name="Rectangle 39">
            <a:extLst>
              <a:ext uri="{FF2B5EF4-FFF2-40B4-BE49-F238E27FC236}">
                <a16:creationId xmlns:a16="http://schemas.microsoft.com/office/drawing/2014/main" id="{D9CC963D-5442-05E9-1C1D-8C375070F446}"/>
              </a:ext>
            </a:extLst>
          </p:cNvPr>
          <p:cNvSpPr/>
          <p:nvPr/>
        </p:nvSpPr>
        <p:spPr>
          <a:xfrm>
            <a:off x="754793" y="1322142"/>
            <a:ext cx="135646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P=10+0.5X</a:t>
            </a:r>
          </a:p>
        </p:txBody>
      </p:sp>
      <p:sp>
        <p:nvSpPr>
          <p:cNvPr id="41" name="Rectangle 40">
            <a:extLst>
              <a:ext uri="{FF2B5EF4-FFF2-40B4-BE49-F238E27FC236}">
                <a16:creationId xmlns:a16="http://schemas.microsoft.com/office/drawing/2014/main" id="{7A06E285-BBA7-18C9-FE3E-AFF5E0320570}"/>
              </a:ext>
            </a:extLst>
          </p:cNvPr>
          <p:cNvSpPr/>
          <p:nvPr/>
        </p:nvSpPr>
        <p:spPr>
          <a:xfrm>
            <a:off x="2695046" y="976248"/>
            <a:ext cx="153118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לפני 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2" name="Straight Connector 41">
            <a:extLst>
              <a:ext uri="{FF2B5EF4-FFF2-40B4-BE49-F238E27FC236}">
                <a16:creationId xmlns:a16="http://schemas.microsoft.com/office/drawing/2014/main" id="{01097F2A-EE6A-F696-F2A4-61670DED6DBF}"/>
              </a:ext>
            </a:extLst>
          </p:cNvPr>
          <p:cNvCxnSpPr/>
          <p:nvPr/>
        </p:nvCxnSpPr>
        <p:spPr>
          <a:xfrm>
            <a:off x="779054" y="1829464"/>
            <a:ext cx="1356462"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6CB7876-A14D-E565-FB16-8739637A3467}"/>
              </a:ext>
            </a:extLst>
          </p:cNvPr>
          <p:cNvSpPr/>
          <p:nvPr/>
        </p:nvSpPr>
        <p:spPr>
          <a:xfrm>
            <a:off x="497806" y="1942354"/>
            <a:ext cx="2124299"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10+0.5X</a:t>
            </a:r>
          </a:p>
        </p:txBody>
      </p:sp>
      <p:sp>
        <p:nvSpPr>
          <p:cNvPr id="44" name="Rectangle 43">
            <a:extLst>
              <a:ext uri="{FF2B5EF4-FFF2-40B4-BE49-F238E27FC236}">
                <a16:creationId xmlns:a16="http://schemas.microsoft.com/office/drawing/2014/main" id="{87837012-B3C8-DC1F-77B9-C54B2518ECC5}"/>
              </a:ext>
            </a:extLst>
          </p:cNvPr>
          <p:cNvSpPr/>
          <p:nvPr/>
        </p:nvSpPr>
        <p:spPr>
          <a:xfrm>
            <a:off x="1037217" y="2285720"/>
            <a:ext cx="117211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80 = 0.8X</a:t>
            </a:r>
          </a:p>
        </p:txBody>
      </p:sp>
      <p:sp>
        <p:nvSpPr>
          <p:cNvPr id="45" name="Rectangle 44">
            <a:extLst>
              <a:ext uri="{FF2B5EF4-FFF2-40B4-BE49-F238E27FC236}">
                <a16:creationId xmlns:a16="http://schemas.microsoft.com/office/drawing/2014/main" id="{6D0F487C-97B9-B629-ADA2-A1FCE80E5429}"/>
              </a:ext>
            </a:extLst>
          </p:cNvPr>
          <p:cNvSpPr/>
          <p:nvPr/>
        </p:nvSpPr>
        <p:spPr>
          <a:xfrm>
            <a:off x="1182181" y="2714141"/>
            <a:ext cx="979755"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X = 100</a:t>
            </a:r>
          </a:p>
        </p:txBody>
      </p:sp>
      <p:sp>
        <p:nvSpPr>
          <p:cNvPr id="46" name="Rectangle 45">
            <a:extLst>
              <a:ext uri="{FF2B5EF4-FFF2-40B4-BE49-F238E27FC236}">
                <a16:creationId xmlns:a16="http://schemas.microsoft.com/office/drawing/2014/main" id="{F7C4F412-A6D0-9C50-60E2-C012FA6A84C6}"/>
              </a:ext>
            </a:extLst>
          </p:cNvPr>
          <p:cNvSpPr/>
          <p:nvPr/>
        </p:nvSpPr>
        <p:spPr>
          <a:xfrm>
            <a:off x="2179710" y="2714141"/>
            <a:ext cx="718466"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P=60</a:t>
            </a:r>
          </a:p>
        </p:txBody>
      </p:sp>
      <p:sp>
        <p:nvSpPr>
          <p:cNvPr id="47" name="Rectangle 46">
            <a:extLst>
              <a:ext uri="{FF2B5EF4-FFF2-40B4-BE49-F238E27FC236}">
                <a16:creationId xmlns:a16="http://schemas.microsoft.com/office/drawing/2014/main" id="{C9A1348C-69AE-D719-EBDB-CB14AC63B645}"/>
              </a:ext>
            </a:extLst>
          </p:cNvPr>
          <p:cNvSpPr/>
          <p:nvPr/>
        </p:nvSpPr>
        <p:spPr>
          <a:xfrm>
            <a:off x="6492290" y="1557114"/>
            <a:ext cx="1659429"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David" pitchFamily="34" charset="-79"/>
                <a:ea typeface="+mn-ea"/>
                <a:cs typeface="David" pitchFamily="34" charset="-79"/>
              </a:rPr>
              <a:t>לאחר </a:t>
            </a:r>
            <a:r>
              <a:rPr kumimoji="0" lang="he-IL" sz="18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הטלת המס</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70C01439-EFFD-AA57-8943-4111D2BBC3D1}"/>
              </a:ext>
            </a:extLst>
          </p:cNvPr>
          <p:cNvSpPr/>
          <p:nvPr/>
        </p:nvSpPr>
        <p:spPr>
          <a:xfrm>
            <a:off x="4559066" y="1436814"/>
            <a:ext cx="1265090"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P=90-0.3X</a:t>
            </a:r>
          </a:p>
        </p:txBody>
      </p:sp>
      <p:sp>
        <p:nvSpPr>
          <p:cNvPr id="49" name="Rectangle 48">
            <a:extLst>
              <a:ext uri="{FF2B5EF4-FFF2-40B4-BE49-F238E27FC236}">
                <a16:creationId xmlns:a16="http://schemas.microsoft.com/office/drawing/2014/main" id="{D5F03429-000A-F849-C5FB-F864A3B45523}"/>
              </a:ext>
            </a:extLst>
          </p:cNvPr>
          <p:cNvSpPr/>
          <p:nvPr/>
        </p:nvSpPr>
        <p:spPr>
          <a:xfrm>
            <a:off x="4559066" y="1865234"/>
            <a:ext cx="1645002"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10</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0" name="Rectangle 49">
            <a:extLst>
              <a:ext uri="{FF2B5EF4-FFF2-40B4-BE49-F238E27FC236}">
                <a16:creationId xmlns:a16="http://schemas.microsoft.com/office/drawing/2014/main" id="{F594FE23-7269-BA6C-64F6-F779B94F919E}"/>
              </a:ext>
            </a:extLst>
          </p:cNvPr>
          <p:cNvSpPr/>
          <p:nvPr/>
        </p:nvSpPr>
        <p:spPr>
          <a:xfrm>
            <a:off x="4204001" y="2408656"/>
            <a:ext cx="2124299"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90-0.3X =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12</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+0.5X</a:t>
            </a:r>
          </a:p>
        </p:txBody>
      </p:sp>
      <p:sp>
        <p:nvSpPr>
          <p:cNvPr id="51" name="Rectangle 50">
            <a:extLst>
              <a:ext uri="{FF2B5EF4-FFF2-40B4-BE49-F238E27FC236}">
                <a16:creationId xmlns:a16="http://schemas.microsoft.com/office/drawing/2014/main" id="{8BB12EDC-55F5-BA8D-DFD6-2780D8224B5E}"/>
              </a:ext>
            </a:extLst>
          </p:cNvPr>
          <p:cNvSpPr/>
          <p:nvPr/>
        </p:nvSpPr>
        <p:spPr>
          <a:xfrm>
            <a:off x="4743412" y="2752022"/>
            <a:ext cx="1172116"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78</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 </a:t>
            </a: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0.8X</a:t>
            </a:r>
          </a:p>
        </p:txBody>
      </p:sp>
      <p:sp>
        <p:nvSpPr>
          <p:cNvPr id="52" name="Rectangle 51">
            <a:extLst>
              <a:ext uri="{FF2B5EF4-FFF2-40B4-BE49-F238E27FC236}">
                <a16:creationId xmlns:a16="http://schemas.microsoft.com/office/drawing/2014/main" id="{522EEE0D-8B64-54A1-9906-2399EFCC5CC9}"/>
              </a:ext>
            </a:extLst>
          </p:cNvPr>
          <p:cNvSpPr/>
          <p:nvPr/>
        </p:nvSpPr>
        <p:spPr>
          <a:xfrm>
            <a:off x="4888376" y="3180443"/>
            <a:ext cx="1055097" cy="400110"/>
          </a:xfrm>
          <a:prstGeom prst="rect">
            <a:avLst/>
          </a:prstGeom>
        </p:spPr>
        <p:txBody>
          <a:bodyPr wrap="none">
            <a:spAutoFit/>
          </a:bodyPr>
          <a:lstStyle/>
          <a:p>
            <a:pPr marL="0" marR="0" lvl="0" indent="0" algn="r" defTabSz="914400" rtl="1" eaLnBrk="1" fontAlgn="auto" latinLnBrk="0" hangingPunct="1">
              <a:lnSpc>
                <a:spcPct val="100000"/>
              </a:lnSpc>
              <a:spcBef>
                <a:spcPct val="20000"/>
              </a:spcBef>
              <a:spcAft>
                <a:spcPts val="0"/>
              </a:spcAft>
              <a:buClrTx/>
              <a:buSzTx/>
              <a:buFontTx/>
              <a:buNone/>
              <a:tabLst/>
              <a:defRPr/>
            </a:pPr>
            <a:r>
              <a:rPr kumimoji="0" lang="en-US" sz="2000" b="0" i="0" u="none" strike="noStrike" kern="1200" cap="none" spc="0" normalizeH="0" baseline="0" noProof="0" dirty="0">
                <a:ln>
                  <a:noFill/>
                </a:ln>
                <a:solidFill>
                  <a:srgbClr val="ED7D31"/>
                </a:solidFill>
                <a:effectLst/>
                <a:uLnTx/>
                <a:uFillTx/>
                <a:latin typeface="Calibri" panose="020F0502020204030204"/>
                <a:ea typeface="+mn-ea"/>
                <a:cs typeface="+mn-cs"/>
              </a:rPr>
              <a:t>X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97.5</a:t>
            </a:r>
          </a:p>
        </p:txBody>
      </p:sp>
      <p:sp>
        <p:nvSpPr>
          <p:cNvPr id="53" name="Rectangle 52">
            <a:extLst>
              <a:ext uri="{FF2B5EF4-FFF2-40B4-BE49-F238E27FC236}">
                <a16:creationId xmlns:a16="http://schemas.microsoft.com/office/drawing/2014/main" id="{C558B017-C06D-F12F-0293-608D35DFC39C}"/>
              </a:ext>
            </a:extLst>
          </p:cNvPr>
          <p:cNvSpPr/>
          <p:nvPr/>
        </p:nvSpPr>
        <p:spPr>
          <a:xfrm>
            <a:off x="5973389" y="3114251"/>
            <a:ext cx="2884123" cy="40011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90-0.3*</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he-IL" sz="2000" b="1"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60.75</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C08126DF-9788-43AA-0CC4-B4C93FFDBE9E}"/>
              </a:ext>
            </a:extLst>
          </p:cNvPr>
          <p:cNvSpPr/>
          <p:nvPr/>
        </p:nvSpPr>
        <p:spPr>
          <a:xfrm>
            <a:off x="5973389" y="3514361"/>
            <a:ext cx="3691925" cy="40011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יצרן</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P</a:t>
            </a:r>
            <a:r>
              <a:rPr kumimoji="0" lang="he-IL" sz="2000" b="0"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 </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10</a:t>
            </a:r>
            <a:r>
              <a:rPr kumimoji="0" lang="en-US" sz="2000" b="0" i="0" u="none" strike="noStrike" kern="1200" cap="none" spc="0" normalizeH="0" baseline="0" noProof="0" dirty="0">
                <a:ln>
                  <a:noFill/>
                </a:ln>
                <a:solidFill>
                  <a:srgbClr val="0070C0"/>
                </a:solidFill>
                <a:effectLst/>
                <a:uLnTx/>
                <a:uFillTx/>
                <a:latin typeface="Calibri" panose="020F0502020204030204"/>
                <a:ea typeface="+mn-ea"/>
                <a:cs typeface="+mn-cs"/>
              </a:rPr>
              <a:t>+0.5</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 97.5</a:t>
            </a:r>
            <a:r>
              <a:rPr kumimoji="0" lang="he-IL" sz="2000" b="1" i="0" u="none" strike="noStrike" kern="1200" cap="none" spc="0" normalizeH="0" baseline="0" noProof="0" dirty="0">
                <a:ln>
                  <a:noFill/>
                </a:ln>
                <a:solidFill>
                  <a:srgbClr val="0070C0"/>
                </a:solidFill>
                <a:effectLst/>
                <a:uLnTx/>
                <a:uFillTx/>
                <a:latin typeface="Calibri" panose="020F0502020204030204"/>
                <a:ea typeface="+mn-ea"/>
                <a:cs typeface="Arial" panose="020B0604020202020204" pitchFamily="34" charset="0"/>
              </a:rPr>
              <a:t>58.75</a:t>
            </a:r>
            <a:r>
              <a:rPr kumimoji="0" lang="he-IL" sz="20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a:t>
            </a:r>
            <a:endParaRPr kumimoji="0" lang="en-US" sz="2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F04029C6-59B5-91D9-1D5A-AE5C72F0EA09}"/>
              </a:ext>
            </a:extLst>
          </p:cNvPr>
          <p:cNvSpPr txBox="1"/>
          <p:nvPr/>
        </p:nvSpPr>
        <p:spPr>
          <a:xfrm>
            <a:off x="4419601" y="5421186"/>
            <a:ext cx="4090064" cy="51552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לא היה שינוי בתוצאות השונות שקיבלנו</a:t>
            </a:r>
            <a:r>
              <a:rPr kumimoji="0" lang="he-IL" sz="1400" b="0" i="0" u="none" strike="noStrike" kern="1200" cap="none" spc="0" normalizeH="0" baseline="0" noProof="0" dirty="0">
                <a:ln>
                  <a:noFill/>
                </a:ln>
                <a:solidFill>
                  <a:prstClr val="black"/>
                </a:solidFill>
                <a:effectLst/>
                <a:uLnTx/>
                <a:uFillTx/>
                <a:latin typeface="David" pitchFamily="34" charset="-79"/>
                <a:ea typeface="+mn-ea"/>
                <a:cs typeface="David" pitchFamily="34" charset="-79"/>
              </a:rPr>
              <a:t>!</a:t>
            </a:r>
          </a:p>
        </p:txBody>
      </p:sp>
      <p:sp>
        <p:nvSpPr>
          <p:cNvPr id="6" name="TextBox 5">
            <a:extLst>
              <a:ext uri="{FF2B5EF4-FFF2-40B4-BE49-F238E27FC236}">
                <a16:creationId xmlns:a16="http://schemas.microsoft.com/office/drawing/2014/main" id="{FBFF1D5C-5AC5-92BE-2654-D68A6D39622B}"/>
              </a:ext>
            </a:extLst>
          </p:cNvPr>
          <p:cNvSpPr txBox="1"/>
          <p:nvPr/>
        </p:nvSpPr>
        <p:spPr>
          <a:xfrm>
            <a:off x="4204000" y="4333149"/>
            <a:ext cx="4790989" cy="888705"/>
          </a:xfrm>
          <a:prstGeom prst="rect">
            <a:avLst/>
          </a:prstGeom>
          <a:solidFill>
            <a:schemeClr val="accent2">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David" pitchFamily="34" charset="-79"/>
                <a:ea typeface="+mn-ea"/>
                <a:cs typeface="David" pitchFamily="34" charset="-79"/>
              </a:rPr>
              <a:t>ג. מה היה קורה אם היה מוטל על הצרכנים מס של 2 ש''ח ליחידה נצרכת?</a:t>
            </a:r>
          </a:p>
        </p:txBody>
      </p:sp>
      <p:sp>
        <p:nvSpPr>
          <p:cNvPr id="3" name="TextBox 2">
            <a:extLst>
              <a:ext uri="{FF2B5EF4-FFF2-40B4-BE49-F238E27FC236}">
                <a16:creationId xmlns:a16="http://schemas.microsoft.com/office/drawing/2014/main" id="{124814FE-C24A-52B6-3E99-F3B64D0F7146}"/>
              </a:ext>
            </a:extLst>
          </p:cNvPr>
          <p:cNvSpPr txBox="1"/>
          <p:nvPr/>
        </p:nvSpPr>
        <p:spPr>
          <a:xfrm>
            <a:off x="194470" y="337591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90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C05FAB8-CB8F-3674-1E41-B623D3C005A2}"/>
              </a:ext>
            </a:extLst>
          </p:cNvPr>
          <p:cNvSpPr txBox="1"/>
          <p:nvPr/>
        </p:nvSpPr>
        <p:spPr>
          <a:xfrm>
            <a:off x="181166" y="5783598"/>
            <a:ext cx="44762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 name="מחבר ישר 13">
            <a:extLst>
              <a:ext uri="{FF2B5EF4-FFF2-40B4-BE49-F238E27FC236}">
                <a16:creationId xmlns:a16="http://schemas.microsoft.com/office/drawing/2014/main" id="{DA32B577-5B5B-19D5-59A1-190BBBD28B31}"/>
              </a:ext>
            </a:extLst>
          </p:cNvPr>
          <p:cNvCxnSpPr>
            <a:cxnSpLocks/>
          </p:cNvCxnSpPr>
          <p:nvPr/>
        </p:nvCxnSpPr>
        <p:spPr>
          <a:xfrm>
            <a:off x="496888" y="3808953"/>
            <a:ext cx="2912451" cy="257918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27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nodeType="clickEffect">
                                  <p:stCondLst>
                                    <p:cond delay="0"/>
                                  </p:stCondLst>
                                  <p:childTnLst>
                                    <p:animEffect transition="out" filter="randombar(horizontal)">
                                      <p:cBhvr>
                                        <p:cTn id="15" dur="500"/>
                                        <p:tgtEl>
                                          <p:spTgt spid="25"/>
                                        </p:tgtEl>
                                      </p:cBhvr>
                                    </p:animEffect>
                                    <p:set>
                                      <p:cBhvr>
                                        <p:cTn id="16" dur="1" fill="hold">
                                          <p:stCondLst>
                                            <p:cond delay="499"/>
                                          </p:stCondLst>
                                        </p:cTn>
                                        <p:tgtEl>
                                          <p:spTgt spid="2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barn(inVertical)">
                                      <p:cBhvr>
                                        <p:cTn id="2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5" grpId="0"/>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635D05-E9F6-49DA-A1E9-874F89C1FA84}"/>
              </a:ext>
            </a:extLst>
          </p:cNvPr>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B393A50-05DF-4427-9896-0386F9D9B168}" type="datetime8">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17 ינואר 26</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8986A9F0-A2EE-4584-B6BE-B6F047C7DD6A}"/>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AF22AC9-109E-4E4D-92F9-530E51D9A3A2}" type="slidenum">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30</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TextBox 8">
            <a:extLst>
              <a:ext uri="{FF2B5EF4-FFF2-40B4-BE49-F238E27FC236}">
                <a16:creationId xmlns:a16="http://schemas.microsoft.com/office/drawing/2014/main" id="{348D35E9-39A7-421A-B2DA-AC47D9D2E054}"/>
              </a:ext>
            </a:extLst>
          </p:cNvPr>
          <p:cNvSpPr txBox="1"/>
          <p:nvPr/>
        </p:nvSpPr>
        <p:spPr>
          <a:xfrm>
            <a:off x="457200" y="846793"/>
            <a:ext cx="8445624" cy="2125069"/>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בשוק תחרותי הביקוש בענף למוצרי שתייה הינו קשיח לחלוטין והצרכנים מעוניינים לקנות 100 בקבוקי שתייה בשבוע.</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עקומת ההיצע של היצרנים עולה משמאל לימין וידוע כי המחיר בשיווי משקל הינו 7 ש''ח לבקבוק שתייה. במידה ויוטל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מס בסכום קבוע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על היצרנים, </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נוכל להסיק כי בשיווי משקל החדש:</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AC732559-EDC0-4B33-8BE5-180A7500AF3C}"/>
              </a:ext>
            </a:extLst>
          </p:cNvPr>
          <p:cNvSpPr txBox="1">
            <a:spLocks/>
          </p:cNvSpPr>
          <p:nvPr/>
        </p:nvSpPr>
        <p:spPr>
          <a:xfrm>
            <a:off x="7259943" y="9952"/>
            <a:ext cx="1884057" cy="72791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r" defTabSz="685800" rtl="1"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prstClr val="black"/>
                </a:solidFill>
                <a:effectLst/>
                <a:uLnTx/>
                <a:uFillTx/>
                <a:latin typeface="David" pitchFamily="34" charset="-79"/>
                <a:ea typeface="+mj-ea"/>
                <a:cs typeface="David" pitchFamily="34" charset="-79"/>
              </a:rPr>
              <a:t>שאלה 2</a:t>
            </a:r>
            <a:endPar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10" name="Content Placeholder 10">
            <a:extLst>
              <a:ext uri="{FF2B5EF4-FFF2-40B4-BE49-F238E27FC236}">
                <a16:creationId xmlns:a16="http://schemas.microsoft.com/office/drawing/2014/main" id="{76848A9B-7F6C-4836-86C2-3104D08E39C7}"/>
              </a:ext>
            </a:extLst>
          </p:cNvPr>
          <p:cNvSpPr txBox="1">
            <a:spLocks/>
          </p:cNvSpPr>
          <p:nvPr/>
        </p:nvSpPr>
        <p:spPr>
          <a:xfrm>
            <a:off x="1691680" y="3429000"/>
            <a:ext cx="6795463" cy="2927351"/>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הכמות המיוצרת תקטן.</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המחיר שהיצרן יקבל יהיה נמוך מ-7 ש''ח. </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המחיר שהצרכן ישלם יעלה בגובה המס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הכנסות הממשלה מהטלת המיסים יהיו נמוכות מ-</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כל התשובות האחרות אינן נכונות. </a:t>
            </a:r>
          </a:p>
        </p:txBody>
      </p:sp>
    </p:spTree>
    <p:extLst>
      <p:ext uri="{BB962C8B-B14F-4D97-AF65-F5344CB8AC3E}">
        <p14:creationId xmlns:p14="http://schemas.microsoft.com/office/powerpoint/2010/main" val="2345741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635D05-E9F6-49DA-A1E9-874F89C1FA84}"/>
              </a:ext>
            </a:extLst>
          </p:cNvPr>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B393A50-05DF-4427-9896-0386F9D9B168}" type="datetime8">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17 ינואר 26</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8986A9F0-A2EE-4584-B6BE-B6F047C7DD6A}"/>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AF22AC9-109E-4E4D-92F9-530E51D9A3A2}" type="slidenum">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31</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TextBox 8">
            <a:extLst>
              <a:ext uri="{FF2B5EF4-FFF2-40B4-BE49-F238E27FC236}">
                <a16:creationId xmlns:a16="http://schemas.microsoft.com/office/drawing/2014/main" id="{348D35E9-39A7-421A-B2DA-AC47D9D2E054}"/>
              </a:ext>
            </a:extLst>
          </p:cNvPr>
          <p:cNvSpPr txBox="1"/>
          <p:nvPr/>
        </p:nvSpPr>
        <p:spPr>
          <a:xfrm>
            <a:off x="457200" y="846793"/>
            <a:ext cx="8445624" cy="1529842"/>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בשוק תחרותי הביקוש בענף למוצרי שתייה הינו קשיח לחלוטין והצרכנים מעוניינים לקנות 100 בקבוקי שתייה בשבוע.</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עקומת ההיצע של היצרנים עולה משמאל לימין וידוע כי המחיר בשיווי משקל הינו 7 ש''ח לבקבוק שתייה. במידה ויוטל </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מס בסכום קבוע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על היצרנים,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נוכל להסיק כי בשיווי משקל החדש:</a:t>
            </a:r>
            <a:endParaRPr kumimoji="0" lang="en-IL"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AC732559-EDC0-4B33-8BE5-180A7500AF3C}"/>
              </a:ext>
            </a:extLst>
          </p:cNvPr>
          <p:cNvSpPr txBox="1">
            <a:spLocks/>
          </p:cNvSpPr>
          <p:nvPr/>
        </p:nvSpPr>
        <p:spPr>
          <a:xfrm>
            <a:off x="5004049" y="9952"/>
            <a:ext cx="4139952" cy="72791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r" defTabSz="685800" rtl="1"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prstClr val="black"/>
                </a:solidFill>
                <a:effectLst/>
                <a:uLnTx/>
                <a:uFillTx/>
                <a:latin typeface="David" pitchFamily="34" charset="-79"/>
                <a:ea typeface="+mj-ea"/>
                <a:cs typeface="David" pitchFamily="34" charset="-79"/>
              </a:rPr>
              <a:t>שאלה 2</a:t>
            </a:r>
            <a:endPar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10" name="Content Placeholder 10">
            <a:extLst>
              <a:ext uri="{FF2B5EF4-FFF2-40B4-BE49-F238E27FC236}">
                <a16:creationId xmlns:a16="http://schemas.microsoft.com/office/drawing/2014/main" id="{76848A9B-7F6C-4836-86C2-3104D08E39C7}"/>
              </a:ext>
            </a:extLst>
          </p:cNvPr>
          <p:cNvSpPr txBox="1">
            <a:spLocks/>
          </p:cNvSpPr>
          <p:nvPr/>
        </p:nvSpPr>
        <p:spPr>
          <a:xfrm>
            <a:off x="2307628" y="2603091"/>
            <a:ext cx="6374603" cy="161277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הכמות המיוצרת תקטן.</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המחיר שהיצרן יקבל יהיה נמוך מ-7 ש''ח. </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המחיר שהצרכן ישלם יעלה בגובה המס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הכנסות הממשלה מהטלת המיסים יהיו נמוכות מ-</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כל התשובות האחרות אינן נכונות. </a:t>
            </a:r>
          </a:p>
        </p:txBody>
      </p:sp>
      <p:grpSp>
        <p:nvGrpSpPr>
          <p:cNvPr id="12" name="קבוצה 11">
            <a:extLst>
              <a:ext uri="{FF2B5EF4-FFF2-40B4-BE49-F238E27FC236}">
                <a16:creationId xmlns:a16="http://schemas.microsoft.com/office/drawing/2014/main" id="{1BF17B7D-AA16-4661-9413-B154D11CA1C6}"/>
              </a:ext>
            </a:extLst>
          </p:cNvPr>
          <p:cNvGrpSpPr/>
          <p:nvPr/>
        </p:nvGrpSpPr>
        <p:grpSpPr>
          <a:xfrm>
            <a:off x="854153" y="2814945"/>
            <a:ext cx="2617878" cy="3142478"/>
            <a:chOff x="713554" y="2786852"/>
            <a:chExt cx="3043056" cy="3143272"/>
          </a:xfrm>
        </p:grpSpPr>
        <p:cxnSp>
          <p:nvCxnSpPr>
            <p:cNvPr id="13" name="מחבר חץ ישר 9">
              <a:extLst>
                <a:ext uri="{FF2B5EF4-FFF2-40B4-BE49-F238E27FC236}">
                  <a16:creationId xmlns:a16="http://schemas.microsoft.com/office/drawing/2014/main" id="{5B3CC908-FC40-4AB6-8C2D-4C7DB7395F72}"/>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0">
              <a:extLst>
                <a:ext uri="{FF2B5EF4-FFF2-40B4-BE49-F238E27FC236}">
                  <a16:creationId xmlns:a16="http://schemas.microsoft.com/office/drawing/2014/main" id="{F961020F-30D8-49AE-B6C3-79E089E645A9}"/>
                </a:ext>
              </a:extLst>
            </p:cNvPr>
            <p:cNvCxnSpPr>
              <a:cxnSpLocks/>
            </p:cNvCxnSpPr>
            <p:nvPr/>
          </p:nvCxnSpPr>
          <p:spPr>
            <a:xfrm flipV="1">
              <a:off x="714348" y="5913009"/>
              <a:ext cx="3042262" cy="163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מחבר ישר 13">
            <a:extLst>
              <a:ext uri="{FF2B5EF4-FFF2-40B4-BE49-F238E27FC236}">
                <a16:creationId xmlns:a16="http://schemas.microsoft.com/office/drawing/2014/main" id="{F8AA8DC0-6058-4CB1-92C8-77ACA71A7EF5}"/>
              </a:ext>
            </a:extLst>
          </p:cNvPr>
          <p:cNvCxnSpPr>
            <a:cxnSpLocks/>
            <a:stCxn id="18" idx="2"/>
          </p:cNvCxnSpPr>
          <p:nvPr/>
        </p:nvCxnSpPr>
        <p:spPr>
          <a:xfrm>
            <a:off x="2149798" y="2904878"/>
            <a:ext cx="39613" cy="307888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BE370124-8103-4209-840D-8184387E73F3}"/>
              </a:ext>
            </a:extLst>
          </p:cNvPr>
          <p:cNvCxnSpPr>
            <a:cxnSpLocks/>
          </p:cNvCxnSpPr>
          <p:nvPr/>
        </p:nvCxnSpPr>
        <p:spPr>
          <a:xfrm flipV="1">
            <a:off x="893204" y="3427677"/>
            <a:ext cx="2902917" cy="19725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C58FB9-DB96-42ED-AEB2-DA8365DDC6BA}"/>
              </a:ext>
            </a:extLst>
          </p:cNvPr>
          <p:cNvSpPr txBox="1"/>
          <p:nvPr/>
        </p:nvSpPr>
        <p:spPr>
          <a:xfrm>
            <a:off x="3784299" y="320122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TextBox 17">
            <a:extLst>
              <a:ext uri="{FF2B5EF4-FFF2-40B4-BE49-F238E27FC236}">
                <a16:creationId xmlns:a16="http://schemas.microsoft.com/office/drawing/2014/main" id="{6B332CE6-B789-41C8-A719-61B45BFA5305}"/>
              </a:ext>
            </a:extLst>
          </p:cNvPr>
          <p:cNvSpPr txBox="1"/>
          <p:nvPr/>
        </p:nvSpPr>
        <p:spPr>
          <a:xfrm>
            <a:off x="1946857" y="2535546"/>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9" name="TextBox 18">
            <a:extLst>
              <a:ext uri="{FF2B5EF4-FFF2-40B4-BE49-F238E27FC236}">
                <a16:creationId xmlns:a16="http://schemas.microsoft.com/office/drawing/2014/main" id="{B18507DF-41FE-4A45-A782-BAC7AB2CB672}"/>
              </a:ext>
            </a:extLst>
          </p:cNvPr>
          <p:cNvSpPr txBox="1"/>
          <p:nvPr/>
        </p:nvSpPr>
        <p:spPr>
          <a:xfrm>
            <a:off x="367097" y="242754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4">
            <a:extLst>
              <a:ext uri="{FF2B5EF4-FFF2-40B4-BE49-F238E27FC236}">
                <a16:creationId xmlns:a16="http://schemas.microsoft.com/office/drawing/2014/main" id="{AE6C4723-62AB-46C1-AB93-352A31F16862}"/>
              </a:ext>
            </a:extLst>
          </p:cNvPr>
          <p:cNvCxnSpPr>
            <a:cxnSpLocks/>
            <a:endCxn id="28" idx="3"/>
          </p:cNvCxnSpPr>
          <p:nvPr/>
        </p:nvCxnSpPr>
        <p:spPr>
          <a:xfrm flipH="1" flipV="1">
            <a:off x="816468" y="4487860"/>
            <a:ext cx="1383980" cy="1612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מחבר ישר 28">
            <a:extLst>
              <a:ext uri="{FF2B5EF4-FFF2-40B4-BE49-F238E27FC236}">
                <a16:creationId xmlns:a16="http://schemas.microsoft.com/office/drawing/2014/main" id="{9628F7BF-F152-42E6-9F23-B5E7B331DA37}"/>
              </a:ext>
            </a:extLst>
          </p:cNvPr>
          <p:cNvCxnSpPr>
            <a:cxnSpLocks/>
          </p:cNvCxnSpPr>
          <p:nvPr/>
        </p:nvCxnSpPr>
        <p:spPr>
          <a:xfrm flipV="1">
            <a:off x="854153" y="3034118"/>
            <a:ext cx="2917931" cy="20212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CD37B57-7F9A-4762-B633-57CA87EF855D}"/>
              </a:ext>
            </a:extLst>
          </p:cNvPr>
          <p:cNvSpPr txBox="1"/>
          <p:nvPr/>
        </p:nvSpPr>
        <p:spPr>
          <a:xfrm>
            <a:off x="3784299" y="2856173"/>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4" name="מחבר ישר 31">
            <a:extLst>
              <a:ext uri="{FF2B5EF4-FFF2-40B4-BE49-F238E27FC236}">
                <a16:creationId xmlns:a16="http://schemas.microsoft.com/office/drawing/2014/main" id="{A78CADC7-8098-4F4B-8A8F-529422C895DE}"/>
              </a:ext>
            </a:extLst>
          </p:cNvPr>
          <p:cNvCxnSpPr>
            <a:cxnSpLocks/>
          </p:cNvCxnSpPr>
          <p:nvPr/>
        </p:nvCxnSpPr>
        <p:spPr>
          <a:xfrm flipH="1">
            <a:off x="854153" y="4154199"/>
            <a:ext cx="1295644" cy="24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43EE7F1-1B7D-400D-B7DF-D69261AFC582}"/>
              </a:ext>
            </a:extLst>
          </p:cNvPr>
          <p:cNvSpPr txBox="1"/>
          <p:nvPr/>
        </p:nvSpPr>
        <p:spPr>
          <a:xfrm>
            <a:off x="3332865" y="5661559"/>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6" name="TextBox 25">
            <a:extLst>
              <a:ext uri="{FF2B5EF4-FFF2-40B4-BE49-F238E27FC236}">
                <a16:creationId xmlns:a16="http://schemas.microsoft.com/office/drawing/2014/main" id="{65B02829-B282-41D6-A23F-50E16DF869E6}"/>
              </a:ext>
            </a:extLst>
          </p:cNvPr>
          <p:cNvSpPr txBox="1"/>
          <p:nvPr/>
        </p:nvSpPr>
        <p:spPr>
          <a:xfrm>
            <a:off x="1727883" y="6011508"/>
            <a:ext cx="1033074"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=100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endPar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endParaRPr>
          </a:p>
        </p:txBody>
      </p:sp>
      <p:sp>
        <p:nvSpPr>
          <p:cNvPr id="27" name="TextBox 26">
            <a:extLst>
              <a:ext uri="{FF2B5EF4-FFF2-40B4-BE49-F238E27FC236}">
                <a16:creationId xmlns:a16="http://schemas.microsoft.com/office/drawing/2014/main" id="{8BD6B2AF-EA70-4040-82C2-FAE1D600793D}"/>
              </a:ext>
            </a:extLst>
          </p:cNvPr>
          <p:cNvSpPr txBox="1"/>
          <p:nvPr/>
        </p:nvSpPr>
        <p:spPr>
          <a:xfrm>
            <a:off x="-1023" y="3916784"/>
            <a:ext cx="69442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8" name="TextBox 27">
            <a:extLst>
              <a:ext uri="{FF2B5EF4-FFF2-40B4-BE49-F238E27FC236}">
                <a16:creationId xmlns:a16="http://schemas.microsoft.com/office/drawing/2014/main" id="{91A5A73A-06A7-4DDE-B1EB-CA8C5A6971E8}"/>
              </a:ext>
            </a:extLst>
          </p:cNvPr>
          <p:cNvSpPr txBox="1"/>
          <p:nvPr/>
        </p:nvSpPr>
        <p:spPr>
          <a:xfrm>
            <a:off x="-92755" y="4303194"/>
            <a:ext cx="909223"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=7</a:t>
            </a:r>
          </a:p>
        </p:txBody>
      </p:sp>
      <p:sp>
        <p:nvSpPr>
          <p:cNvPr id="33" name="Oval 32">
            <a:extLst>
              <a:ext uri="{FF2B5EF4-FFF2-40B4-BE49-F238E27FC236}">
                <a16:creationId xmlns:a16="http://schemas.microsoft.com/office/drawing/2014/main" id="{E01962B4-783C-44AE-AFC1-15CF4FC2F281}"/>
              </a:ext>
            </a:extLst>
          </p:cNvPr>
          <p:cNvSpPr/>
          <p:nvPr/>
        </p:nvSpPr>
        <p:spPr>
          <a:xfrm>
            <a:off x="1988477" y="4407641"/>
            <a:ext cx="319151" cy="25344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DC6BFC27-A89C-42FE-8DED-8B79015FDE8D}"/>
              </a:ext>
            </a:extLst>
          </p:cNvPr>
          <p:cNvSpPr/>
          <p:nvPr/>
        </p:nvSpPr>
        <p:spPr>
          <a:xfrm>
            <a:off x="1988477" y="4005205"/>
            <a:ext cx="319151" cy="25344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06D159F3-A263-4F3C-92A8-CD1EFD8220C9}"/>
              </a:ext>
            </a:extLst>
          </p:cNvPr>
          <p:cNvSpPr txBox="1"/>
          <p:nvPr/>
        </p:nvSpPr>
        <p:spPr>
          <a:xfrm>
            <a:off x="4572000" y="2712836"/>
            <a:ext cx="1413172" cy="45653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תשתנה</a:t>
            </a:r>
          </a:p>
        </p:txBody>
      </p:sp>
      <p:sp>
        <p:nvSpPr>
          <p:cNvPr id="36" name="TextBox 35">
            <a:extLst>
              <a:ext uri="{FF2B5EF4-FFF2-40B4-BE49-F238E27FC236}">
                <a16:creationId xmlns:a16="http://schemas.microsoft.com/office/drawing/2014/main" id="{83F709BA-1C6B-4293-B3E0-122F8DB2CBC9}"/>
              </a:ext>
            </a:extLst>
          </p:cNvPr>
          <p:cNvSpPr txBox="1"/>
          <p:nvPr/>
        </p:nvSpPr>
        <p:spPr>
          <a:xfrm>
            <a:off x="4271528" y="3169371"/>
            <a:ext cx="1786706" cy="45653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שווה ל-7 ש''ח. </a:t>
            </a:r>
          </a:p>
        </p:txBody>
      </p:sp>
      <p:sp>
        <p:nvSpPr>
          <p:cNvPr id="37" name="TextBox 36">
            <a:extLst>
              <a:ext uri="{FF2B5EF4-FFF2-40B4-BE49-F238E27FC236}">
                <a16:creationId xmlns:a16="http://schemas.microsoft.com/office/drawing/2014/main" id="{803407ED-6A9F-4465-A5AE-FA31A974F0C8}"/>
              </a:ext>
            </a:extLst>
          </p:cNvPr>
          <p:cNvSpPr txBox="1"/>
          <p:nvPr/>
        </p:nvSpPr>
        <p:spPr>
          <a:xfrm>
            <a:off x="2921878" y="4154446"/>
            <a:ext cx="2321396" cy="46307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יהיו שוות ל-</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100). </a:t>
            </a:r>
          </a:p>
        </p:txBody>
      </p:sp>
    </p:spTree>
    <p:extLst>
      <p:ext uri="{BB962C8B-B14F-4D97-AF65-F5344CB8AC3E}">
        <p14:creationId xmlns:p14="http://schemas.microsoft.com/office/powerpoint/2010/main" val="293890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down)">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28" grpId="0"/>
      <p:bldP spid="34" grpId="0" animBg="1"/>
      <p:bldP spid="32" grpId="0" animBg="1"/>
      <p:bldP spid="36" grpId="0" animBg="1"/>
      <p:bldP spid="37"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F9C1F3-F07A-7A50-E413-5BC727DCFCA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CDD28A2-23B2-701F-E444-9DB8E75A55DD}"/>
              </a:ext>
            </a:extLst>
          </p:cNvPr>
          <p:cNvSpPr>
            <a:spLocks noGrp="1"/>
          </p:cNvSpPr>
          <p:nvPr>
            <p:ph type="dt" sz="half" idx="10"/>
          </p:nvPr>
        </p:nvSpPr>
        <p:spPr>
          <a:xfrm>
            <a:off x="5527156" y="6142138"/>
            <a:ext cx="2057400" cy="365125"/>
          </a:xfrm>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B393A50-05DF-4427-9896-0386F9D9B168}" type="datetime8">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17 ינואר 26</a:t>
            </a:fld>
            <a:endParaRPr kumimoji="0" lang="he-IL"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D94E38EC-B540-90A0-6A2D-A392876C71C3}"/>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AF22AC9-109E-4E4D-92F9-530E51D9A3A2}" type="slidenum">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32</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TextBox 8">
            <a:extLst>
              <a:ext uri="{FF2B5EF4-FFF2-40B4-BE49-F238E27FC236}">
                <a16:creationId xmlns:a16="http://schemas.microsoft.com/office/drawing/2014/main" id="{E929D601-9F5E-1FAC-BE71-66E03A79737F}"/>
              </a:ext>
            </a:extLst>
          </p:cNvPr>
          <p:cNvSpPr txBox="1"/>
          <p:nvPr/>
        </p:nvSpPr>
        <p:spPr>
          <a:xfrm>
            <a:off x="457200" y="846793"/>
            <a:ext cx="8445624" cy="1529842"/>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בשוק תחרותי הביקוש בענף למוצרי שתייה הינו קשיח לחלוטין והצרכנים מעוניינים לקנות 100 בקבוקי שתייה בשבוע.</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עקומת ההיצע של היצרנים עולה משמאל לימין וידוע כי המחיר בשיווי משקל הינו 7 ש''ח לבקבוק שתייה. במידה ויוטל </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מס בסכום קבוע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על היצרנים,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נוכל להסיק כי בשיווי משקל החדש:</a:t>
            </a:r>
            <a:endParaRPr kumimoji="0" lang="en-IL"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7AC5D054-94D0-F146-E6F6-9EB9936D29F4}"/>
              </a:ext>
            </a:extLst>
          </p:cNvPr>
          <p:cNvSpPr txBox="1">
            <a:spLocks/>
          </p:cNvSpPr>
          <p:nvPr/>
        </p:nvSpPr>
        <p:spPr>
          <a:xfrm>
            <a:off x="5004049" y="9952"/>
            <a:ext cx="4139952" cy="72791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r" defTabSz="685800" rtl="1"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prstClr val="black"/>
                </a:solidFill>
                <a:effectLst/>
                <a:uLnTx/>
                <a:uFillTx/>
                <a:latin typeface="David" pitchFamily="34" charset="-79"/>
                <a:ea typeface="+mj-ea"/>
                <a:cs typeface="David" pitchFamily="34" charset="-79"/>
              </a:rPr>
              <a:t>שאלה 2</a:t>
            </a:r>
            <a:endPar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grpSp>
        <p:nvGrpSpPr>
          <p:cNvPr id="12" name="קבוצה 11">
            <a:extLst>
              <a:ext uri="{FF2B5EF4-FFF2-40B4-BE49-F238E27FC236}">
                <a16:creationId xmlns:a16="http://schemas.microsoft.com/office/drawing/2014/main" id="{7D3FC3A5-9F9D-D586-16D9-530995F0BE99}"/>
              </a:ext>
            </a:extLst>
          </p:cNvPr>
          <p:cNvGrpSpPr/>
          <p:nvPr/>
        </p:nvGrpSpPr>
        <p:grpSpPr>
          <a:xfrm>
            <a:off x="854153" y="2814945"/>
            <a:ext cx="2617878" cy="3142478"/>
            <a:chOff x="713554" y="2786852"/>
            <a:chExt cx="3043056" cy="3143272"/>
          </a:xfrm>
        </p:grpSpPr>
        <p:cxnSp>
          <p:nvCxnSpPr>
            <p:cNvPr id="13" name="מחבר חץ ישר 9">
              <a:extLst>
                <a:ext uri="{FF2B5EF4-FFF2-40B4-BE49-F238E27FC236}">
                  <a16:creationId xmlns:a16="http://schemas.microsoft.com/office/drawing/2014/main" id="{4AFAE9D0-E439-BF39-EE83-066C30FA63EA}"/>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0">
              <a:extLst>
                <a:ext uri="{FF2B5EF4-FFF2-40B4-BE49-F238E27FC236}">
                  <a16:creationId xmlns:a16="http://schemas.microsoft.com/office/drawing/2014/main" id="{5175D58C-D554-1AB3-419F-4C7496C8B43E}"/>
                </a:ext>
              </a:extLst>
            </p:cNvPr>
            <p:cNvCxnSpPr>
              <a:cxnSpLocks/>
            </p:cNvCxnSpPr>
            <p:nvPr/>
          </p:nvCxnSpPr>
          <p:spPr>
            <a:xfrm flipV="1">
              <a:off x="714348" y="5913009"/>
              <a:ext cx="3042262" cy="163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מחבר ישר 13">
            <a:extLst>
              <a:ext uri="{FF2B5EF4-FFF2-40B4-BE49-F238E27FC236}">
                <a16:creationId xmlns:a16="http://schemas.microsoft.com/office/drawing/2014/main" id="{3308F264-C220-93C8-67CD-0276E79CB0C7}"/>
              </a:ext>
            </a:extLst>
          </p:cNvPr>
          <p:cNvCxnSpPr>
            <a:cxnSpLocks/>
            <a:stCxn id="18" idx="2"/>
          </p:cNvCxnSpPr>
          <p:nvPr/>
        </p:nvCxnSpPr>
        <p:spPr>
          <a:xfrm>
            <a:off x="2149798" y="2904878"/>
            <a:ext cx="39613" cy="307888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8552E295-CC77-778B-3995-C6DE0EAA546B}"/>
              </a:ext>
            </a:extLst>
          </p:cNvPr>
          <p:cNvCxnSpPr>
            <a:cxnSpLocks/>
          </p:cNvCxnSpPr>
          <p:nvPr/>
        </p:nvCxnSpPr>
        <p:spPr>
          <a:xfrm flipV="1">
            <a:off x="893204" y="3427677"/>
            <a:ext cx="2902917" cy="19725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41513DD-3A16-394C-5FED-5D8A55B67103}"/>
              </a:ext>
            </a:extLst>
          </p:cNvPr>
          <p:cNvSpPr txBox="1"/>
          <p:nvPr/>
        </p:nvSpPr>
        <p:spPr>
          <a:xfrm>
            <a:off x="3784299" y="320122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TextBox 17">
            <a:extLst>
              <a:ext uri="{FF2B5EF4-FFF2-40B4-BE49-F238E27FC236}">
                <a16:creationId xmlns:a16="http://schemas.microsoft.com/office/drawing/2014/main" id="{8C469EF1-8D3B-C7D8-EF33-971232E1C384}"/>
              </a:ext>
            </a:extLst>
          </p:cNvPr>
          <p:cNvSpPr txBox="1"/>
          <p:nvPr/>
        </p:nvSpPr>
        <p:spPr>
          <a:xfrm>
            <a:off x="1946857" y="2535546"/>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9" name="TextBox 18">
            <a:extLst>
              <a:ext uri="{FF2B5EF4-FFF2-40B4-BE49-F238E27FC236}">
                <a16:creationId xmlns:a16="http://schemas.microsoft.com/office/drawing/2014/main" id="{A01D9A3C-D93D-46A6-2F0E-48B68D11AED0}"/>
              </a:ext>
            </a:extLst>
          </p:cNvPr>
          <p:cNvSpPr txBox="1"/>
          <p:nvPr/>
        </p:nvSpPr>
        <p:spPr>
          <a:xfrm>
            <a:off x="367097" y="242754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4">
            <a:extLst>
              <a:ext uri="{FF2B5EF4-FFF2-40B4-BE49-F238E27FC236}">
                <a16:creationId xmlns:a16="http://schemas.microsoft.com/office/drawing/2014/main" id="{0756927C-4E85-58CA-0499-19D38B4DF6DD}"/>
              </a:ext>
            </a:extLst>
          </p:cNvPr>
          <p:cNvCxnSpPr>
            <a:cxnSpLocks/>
            <a:endCxn id="28" idx="3"/>
          </p:cNvCxnSpPr>
          <p:nvPr/>
        </p:nvCxnSpPr>
        <p:spPr>
          <a:xfrm flipH="1" flipV="1">
            <a:off x="893204" y="4524511"/>
            <a:ext cx="1383980" cy="1612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מחבר ישר 28">
            <a:extLst>
              <a:ext uri="{FF2B5EF4-FFF2-40B4-BE49-F238E27FC236}">
                <a16:creationId xmlns:a16="http://schemas.microsoft.com/office/drawing/2014/main" id="{37B8ECAF-59AA-6F6E-53A7-F3CE83C3C11F}"/>
              </a:ext>
            </a:extLst>
          </p:cNvPr>
          <p:cNvCxnSpPr>
            <a:cxnSpLocks/>
          </p:cNvCxnSpPr>
          <p:nvPr/>
        </p:nvCxnSpPr>
        <p:spPr>
          <a:xfrm flipV="1">
            <a:off x="854153" y="3034118"/>
            <a:ext cx="2917931" cy="20212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63512AF-3923-9F4F-D0D9-789CF11A7DE0}"/>
              </a:ext>
            </a:extLst>
          </p:cNvPr>
          <p:cNvSpPr txBox="1"/>
          <p:nvPr/>
        </p:nvSpPr>
        <p:spPr>
          <a:xfrm>
            <a:off x="3784299" y="2856173"/>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4" name="מחבר ישר 31">
            <a:extLst>
              <a:ext uri="{FF2B5EF4-FFF2-40B4-BE49-F238E27FC236}">
                <a16:creationId xmlns:a16="http://schemas.microsoft.com/office/drawing/2014/main" id="{119267DC-7165-A254-6FC2-2DAEA097CDD5}"/>
              </a:ext>
            </a:extLst>
          </p:cNvPr>
          <p:cNvCxnSpPr>
            <a:cxnSpLocks/>
          </p:cNvCxnSpPr>
          <p:nvPr/>
        </p:nvCxnSpPr>
        <p:spPr>
          <a:xfrm flipH="1">
            <a:off x="854153" y="4154199"/>
            <a:ext cx="1295644" cy="24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8F4D7D5-6961-E488-2C0B-A070AF0817F5}"/>
              </a:ext>
            </a:extLst>
          </p:cNvPr>
          <p:cNvSpPr txBox="1"/>
          <p:nvPr/>
        </p:nvSpPr>
        <p:spPr>
          <a:xfrm>
            <a:off x="3582671" y="5799097"/>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290748A-7946-1F2B-D582-53FE7AE94E32}"/>
                  </a:ext>
                </a:extLst>
              </p:cNvPr>
              <p:cNvSpPr txBox="1"/>
              <p:nvPr/>
            </p:nvSpPr>
            <p:spPr>
              <a:xfrm>
                <a:off x="1727883" y="6011508"/>
                <a:ext cx="1033074" cy="51328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he-IL" sz="2800" b="0" i="1" u="none" strike="noStrike" kern="1200" cap="none" spc="0" normalizeH="0" baseline="0" noProof="0" smtClean="0">
                              <a:ln>
                                <a:noFill/>
                              </a:ln>
                              <a:solidFill>
                                <a:srgbClr val="7030A0"/>
                              </a:solidFill>
                              <a:effectLst/>
                              <a:uLnTx/>
                              <a:uFillTx/>
                              <a:latin typeface="Cambria Math" panose="02040503050406030204" pitchFamily="18" charset="0"/>
                              <a:ea typeface="+mn-ea"/>
                            </a:rPr>
                          </m:ctrlPr>
                        </m:sSubPr>
                        <m:e>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𝑋</m:t>
                          </m:r>
                        </m:e>
                        <m:sub>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0</m:t>
                          </m:r>
                        </m:sub>
                      </m:sSub>
                    </m:oMath>
                  </m:oMathPara>
                </a14:m>
                <a:endPar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endParaRPr>
              </a:p>
            </p:txBody>
          </p:sp>
        </mc:Choice>
        <mc:Fallback xmlns="">
          <p:sp>
            <p:nvSpPr>
              <p:cNvPr id="26" name="TextBox 25">
                <a:extLst>
                  <a:ext uri="{FF2B5EF4-FFF2-40B4-BE49-F238E27FC236}">
                    <a16:creationId xmlns:a16="http://schemas.microsoft.com/office/drawing/2014/main" id="{6290748A-7946-1F2B-D582-53FE7AE94E32}"/>
                  </a:ext>
                </a:extLst>
              </p:cNvPr>
              <p:cNvSpPr txBox="1">
                <a:spLocks noRot="1" noChangeAspect="1" noMove="1" noResize="1" noEditPoints="1" noAdjustHandles="1" noChangeArrowheads="1" noChangeShapeType="1" noTextEdit="1"/>
              </p:cNvSpPr>
              <p:nvPr/>
            </p:nvSpPr>
            <p:spPr>
              <a:xfrm>
                <a:off x="1727883" y="6011508"/>
                <a:ext cx="1033074" cy="513282"/>
              </a:xfrm>
              <a:prstGeom prst="rect">
                <a:avLst/>
              </a:prstGeom>
              <a:blipFill>
                <a:blip r:embed="rId2"/>
                <a:stretch>
                  <a:fillRect/>
                </a:stretch>
              </a:blipFill>
            </p:spPr>
            <p:txBody>
              <a:bodyPr/>
              <a:lstStyle/>
              <a:p>
                <a:r>
                  <a:rPr lang="en-IL">
                    <a:noFill/>
                  </a:rPr>
                  <a:t> </a:t>
                </a:r>
              </a:p>
            </p:txBody>
          </p:sp>
        </mc:Fallback>
      </mc:AlternateContent>
      <p:sp>
        <p:nvSpPr>
          <p:cNvPr id="27" name="TextBox 26">
            <a:extLst>
              <a:ext uri="{FF2B5EF4-FFF2-40B4-BE49-F238E27FC236}">
                <a16:creationId xmlns:a16="http://schemas.microsoft.com/office/drawing/2014/main" id="{E2EB9356-4B6D-9D88-9388-E1322789AECE}"/>
              </a:ext>
            </a:extLst>
          </p:cNvPr>
          <p:cNvSpPr txBox="1"/>
          <p:nvPr/>
        </p:nvSpPr>
        <p:spPr>
          <a:xfrm>
            <a:off x="-1023" y="3916784"/>
            <a:ext cx="69442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E32E1B3-3A80-56D2-6849-BE145DE30558}"/>
                  </a:ext>
                </a:extLst>
              </p:cNvPr>
              <p:cNvSpPr txBox="1"/>
              <p:nvPr/>
            </p:nvSpPr>
            <p:spPr>
              <a:xfrm>
                <a:off x="-112969" y="4339845"/>
                <a:ext cx="1006173"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B9BD5">
                        <a:lumMod val="75000"/>
                      </a:srgbClr>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srgbClr val="5B9BD5">
                        <a:lumMod val="75000"/>
                      </a:srgbClr>
                    </a:solidFill>
                    <a:effectLst/>
                    <a:uLnTx/>
                    <a:uFillTx/>
                    <a:latin typeface="Calibri" panose="020F0502020204030204"/>
                    <a:ea typeface="+mn-ea"/>
                    <a:cs typeface="+mn-cs"/>
                  </a:rPr>
                  <a:t>P</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a:t>
                </a:r>
                <a14:m>
                  <m:oMath xmlns:m="http://schemas.openxmlformats.org/officeDocument/2006/math">
                    <m:sSub>
                      <m:sSubPr>
                        <m:ctrlPr>
                          <a:rPr kumimoji="0" lang="he-IL" sz="18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sub>
                    </m:sSub>
                  </m:oMath>
                </a14:m>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mc:Choice>
        <mc:Fallback xmlns="">
          <p:sp>
            <p:nvSpPr>
              <p:cNvPr id="28" name="TextBox 27">
                <a:extLst>
                  <a:ext uri="{FF2B5EF4-FFF2-40B4-BE49-F238E27FC236}">
                    <a16:creationId xmlns:a16="http://schemas.microsoft.com/office/drawing/2014/main" id="{5E32E1B3-3A80-56D2-6849-BE145DE30558}"/>
                  </a:ext>
                </a:extLst>
              </p:cNvPr>
              <p:cNvSpPr txBox="1">
                <a:spLocks noRot="1" noChangeAspect="1" noMove="1" noResize="1" noEditPoints="1" noAdjustHandles="1" noChangeArrowheads="1" noChangeShapeType="1" noTextEdit="1"/>
              </p:cNvSpPr>
              <p:nvPr/>
            </p:nvSpPr>
            <p:spPr>
              <a:xfrm>
                <a:off x="-112969" y="4339845"/>
                <a:ext cx="1006173" cy="369332"/>
              </a:xfrm>
              <a:prstGeom prst="rect">
                <a:avLst/>
              </a:prstGeom>
              <a:blipFill>
                <a:blip r:embed="rId3"/>
                <a:stretch>
                  <a:fillRect t="-11475" r="-4819" b="-24590"/>
                </a:stretch>
              </a:blipFill>
            </p:spPr>
            <p:txBody>
              <a:bodyPr/>
              <a:lstStyle/>
              <a:p>
                <a:r>
                  <a:rPr lang="en-IL">
                    <a:noFill/>
                  </a:rPr>
                  <a:t> </a:t>
                </a:r>
              </a:p>
            </p:txBody>
          </p:sp>
        </mc:Fallback>
      </mc:AlternateContent>
      <p:sp>
        <p:nvSpPr>
          <p:cNvPr id="33" name="Oval 32">
            <a:extLst>
              <a:ext uri="{FF2B5EF4-FFF2-40B4-BE49-F238E27FC236}">
                <a16:creationId xmlns:a16="http://schemas.microsoft.com/office/drawing/2014/main" id="{E081621D-51A5-44B4-A3AB-75ECE8E305CA}"/>
              </a:ext>
            </a:extLst>
          </p:cNvPr>
          <p:cNvSpPr/>
          <p:nvPr/>
        </p:nvSpPr>
        <p:spPr>
          <a:xfrm>
            <a:off x="1988477" y="4407641"/>
            <a:ext cx="319151" cy="25344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4C7C0DEE-1F55-4BA7-3040-CEC2706858FB}"/>
              </a:ext>
            </a:extLst>
          </p:cNvPr>
          <p:cNvSpPr/>
          <p:nvPr/>
        </p:nvSpPr>
        <p:spPr>
          <a:xfrm>
            <a:off x="1988477" y="4005205"/>
            <a:ext cx="319151" cy="25344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66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down)">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28" grpId="0"/>
      <p:bldP spid="3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3B5B-3448-BAD7-C539-9C7FAFF3971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6EB8914-B193-09A5-12D3-6D01693B00D5}"/>
              </a:ext>
            </a:extLst>
          </p:cNvPr>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B393A50-05DF-4427-9896-0386F9D9B168}" type="datetime8">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17 ינואר 26</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4FFF20AF-1D63-4EA1-CBDB-C6EE17F2F996}"/>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AF22AC9-109E-4E4D-92F9-530E51D9A3A2}" type="slidenum">
              <a:rPr kumimoji="0" lang="he-IL"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33</a:t>
            </a:fld>
            <a:endParaRPr kumimoji="0" lang="he-IL" sz="9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TextBox 8">
            <a:extLst>
              <a:ext uri="{FF2B5EF4-FFF2-40B4-BE49-F238E27FC236}">
                <a16:creationId xmlns:a16="http://schemas.microsoft.com/office/drawing/2014/main" id="{F00FEAB9-5E3E-AB04-D5E8-4CFC5900D378}"/>
              </a:ext>
            </a:extLst>
          </p:cNvPr>
          <p:cNvSpPr txBox="1"/>
          <p:nvPr/>
        </p:nvSpPr>
        <p:spPr>
          <a:xfrm>
            <a:off x="457200" y="846793"/>
            <a:ext cx="8445624" cy="1529842"/>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בשוק תחרותי הביקוש בענף למוצרי שתייה הינו קשיח לחלוטין והצרכנים מעוניינים לקנות 100 בקבוקי שתייה בשבוע.</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עקומת ההיצע של היצרנים עולה משמאל לימין וידוע כי המחיר בשיווי משקל הינו 7 ש''ח לבקבוק שתייה. במידה ויוטל </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מס בסכום קבוע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 על היצרנים,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נוכל להסיק כי בשיווי משקל החדש:</a:t>
            </a:r>
            <a:endParaRPr kumimoji="0" lang="en-IL"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67318C95-9FFD-1B22-130C-ED7E3911228D}"/>
              </a:ext>
            </a:extLst>
          </p:cNvPr>
          <p:cNvSpPr txBox="1">
            <a:spLocks/>
          </p:cNvSpPr>
          <p:nvPr/>
        </p:nvSpPr>
        <p:spPr>
          <a:xfrm>
            <a:off x="5004049" y="9952"/>
            <a:ext cx="4139952" cy="72791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r" defTabSz="685800" rtl="1"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prstClr val="black"/>
                </a:solidFill>
                <a:effectLst/>
                <a:uLnTx/>
                <a:uFillTx/>
                <a:latin typeface="David" pitchFamily="34" charset="-79"/>
                <a:ea typeface="+mj-ea"/>
                <a:cs typeface="David" pitchFamily="34" charset="-79"/>
              </a:rPr>
              <a:t>שאלה 2</a:t>
            </a:r>
            <a:endPar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10" name="Content Placeholder 10">
            <a:extLst>
              <a:ext uri="{FF2B5EF4-FFF2-40B4-BE49-F238E27FC236}">
                <a16:creationId xmlns:a16="http://schemas.microsoft.com/office/drawing/2014/main" id="{4F5716CF-F646-4460-E06D-0CCD59E50F54}"/>
              </a:ext>
            </a:extLst>
          </p:cNvPr>
          <p:cNvSpPr txBox="1">
            <a:spLocks/>
          </p:cNvSpPr>
          <p:nvPr/>
        </p:nvSpPr>
        <p:spPr>
          <a:xfrm>
            <a:off x="2307628" y="2603091"/>
            <a:ext cx="6374603" cy="161277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א. הכמות המיוצרת תקטן.</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 המחיר שהיצרן יקבל יהיה נמוך מ-7 ש''ח. </a:t>
            </a: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ג. המחיר שהצרכן ישלם יעלה בגובה המס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ש''ח</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1"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ד. הכנסות הממשלה מהטלת המיסים יהיו נמוכות מ-</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100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 כל התשובות האחרות אינן נכונות. </a:t>
            </a:r>
          </a:p>
        </p:txBody>
      </p:sp>
      <p:grpSp>
        <p:nvGrpSpPr>
          <p:cNvPr id="12" name="קבוצה 11">
            <a:extLst>
              <a:ext uri="{FF2B5EF4-FFF2-40B4-BE49-F238E27FC236}">
                <a16:creationId xmlns:a16="http://schemas.microsoft.com/office/drawing/2014/main" id="{3FC42E75-B20F-D747-F46B-07E805A41556}"/>
              </a:ext>
            </a:extLst>
          </p:cNvPr>
          <p:cNvGrpSpPr/>
          <p:nvPr/>
        </p:nvGrpSpPr>
        <p:grpSpPr>
          <a:xfrm>
            <a:off x="854153" y="2814945"/>
            <a:ext cx="2617878" cy="3142478"/>
            <a:chOff x="713554" y="2786852"/>
            <a:chExt cx="3043056" cy="3143272"/>
          </a:xfrm>
        </p:grpSpPr>
        <p:cxnSp>
          <p:nvCxnSpPr>
            <p:cNvPr id="13" name="מחבר חץ ישר 9">
              <a:extLst>
                <a:ext uri="{FF2B5EF4-FFF2-40B4-BE49-F238E27FC236}">
                  <a16:creationId xmlns:a16="http://schemas.microsoft.com/office/drawing/2014/main" id="{7BFB9FD1-656D-8242-1EB2-D594638FE2AF}"/>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0">
              <a:extLst>
                <a:ext uri="{FF2B5EF4-FFF2-40B4-BE49-F238E27FC236}">
                  <a16:creationId xmlns:a16="http://schemas.microsoft.com/office/drawing/2014/main" id="{1EA62131-A02D-DB0D-3881-055E465FC331}"/>
                </a:ext>
              </a:extLst>
            </p:cNvPr>
            <p:cNvCxnSpPr>
              <a:cxnSpLocks/>
            </p:cNvCxnSpPr>
            <p:nvPr/>
          </p:nvCxnSpPr>
          <p:spPr>
            <a:xfrm flipV="1">
              <a:off x="714348" y="5913009"/>
              <a:ext cx="3042262" cy="163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מחבר ישר 13">
            <a:extLst>
              <a:ext uri="{FF2B5EF4-FFF2-40B4-BE49-F238E27FC236}">
                <a16:creationId xmlns:a16="http://schemas.microsoft.com/office/drawing/2014/main" id="{B8CFEF00-2268-F773-0992-BE0F70A0DDB0}"/>
              </a:ext>
            </a:extLst>
          </p:cNvPr>
          <p:cNvCxnSpPr>
            <a:cxnSpLocks/>
            <a:stCxn id="18" idx="2"/>
          </p:cNvCxnSpPr>
          <p:nvPr/>
        </p:nvCxnSpPr>
        <p:spPr>
          <a:xfrm>
            <a:off x="2149798" y="2904878"/>
            <a:ext cx="39613" cy="307888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DD7B5BAB-F1A7-9840-8044-AB78E406B621}"/>
              </a:ext>
            </a:extLst>
          </p:cNvPr>
          <p:cNvCxnSpPr>
            <a:cxnSpLocks/>
          </p:cNvCxnSpPr>
          <p:nvPr/>
        </p:nvCxnSpPr>
        <p:spPr>
          <a:xfrm flipV="1">
            <a:off x="893204" y="3427677"/>
            <a:ext cx="2902917" cy="19725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FFB7F0A-878F-1456-9EAE-D2E5CE22AFC3}"/>
              </a:ext>
            </a:extLst>
          </p:cNvPr>
          <p:cNvSpPr txBox="1"/>
          <p:nvPr/>
        </p:nvSpPr>
        <p:spPr>
          <a:xfrm>
            <a:off x="3784299" y="3201221"/>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TextBox 17">
            <a:extLst>
              <a:ext uri="{FF2B5EF4-FFF2-40B4-BE49-F238E27FC236}">
                <a16:creationId xmlns:a16="http://schemas.microsoft.com/office/drawing/2014/main" id="{792BC8B5-E9F6-2E06-1478-3D29365714AA}"/>
              </a:ext>
            </a:extLst>
          </p:cNvPr>
          <p:cNvSpPr txBox="1"/>
          <p:nvPr/>
        </p:nvSpPr>
        <p:spPr>
          <a:xfrm>
            <a:off x="1946857" y="2535546"/>
            <a:ext cx="4058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he-IL" sz="1800" b="0" i="0" u="none" strike="noStrike" kern="1200" cap="none" spc="0" normalizeH="0" baseline="-2500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9" name="TextBox 18">
            <a:extLst>
              <a:ext uri="{FF2B5EF4-FFF2-40B4-BE49-F238E27FC236}">
                <a16:creationId xmlns:a16="http://schemas.microsoft.com/office/drawing/2014/main" id="{48443626-BDB7-0D93-21FF-1919062E5028}"/>
              </a:ext>
            </a:extLst>
          </p:cNvPr>
          <p:cNvSpPr txBox="1"/>
          <p:nvPr/>
        </p:nvSpPr>
        <p:spPr>
          <a:xfrm>
            <a:off x="367097" y="2427545"/>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cxnSp>
        <p:nvCxnSpPr>
          <p:cNvPr id="21" name="מחבר ישר 24">
            <a:extLst>
              <a:ext uri="{FF2B5EF4-FFF2-40B4-BE49-F238E27FC236}">
                <a16:creationId xmlns:a16="http://schemas.microsoft.com/office/drawing/2014/main" id="{2B3E212A-30F2-747D-5482-A5550FDBC05F}"/>
              </a:ext>
            </a:extLst>
          </p:cNvPr>
          <p:cNvCxnSpPr>
            <a:cxnSpLocks/>
            <a:endCxn id="28" idx="3"/>
          </p:cNvCxnSpPr>
          <p:nvPr/>
        </p:nvCxnSpPr>
        <p:spPr>
          <a:xfrm flipH="1" flipV="1">
            <a:off x="816468" y="4487860"/>
            <a:ext cx="1383980" cy="1612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מחבר ישר 28">
            <a:extLst>
              <a:ext uri="{FF2B5EF4-FFF2-40B4-BE49-F238E27FC236}">
                <a16:creationId xmlns:a16="http://schemas.microsoft.com/office/drawing/2014/main" id="{D1FA15E4-68BA-36DA-7D91-B967001CA9A9}"/>
              </a:ext>
            </a:extLst>
          </p:cNvPr>
          <p:cNvCxnSpPr>
            <a:cxnSpLocks/>
          </p:cNvCxnSpPr>
          <p:nvPr/>
        </p:nvCxnSpPr>
        <p:spPr>
          <a:xfrm flipV="1">
            <a:off x="854153" y="3034118"/>
            <a:ext cx="2917931" cy="20212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F6931C1-ECA5-BFA8-0842-5DCB56030B71}"/>
              </a:ext>
            </a:extLst>
          </p:cNvPr>
          <p:cNvSpPr txBox="1"/>
          <p:nvPr/>
        </p:nvSpPr>
        <p:spPr>
          <a:xfrm>
            <a:off x="3784299" y="2856173"/>
            <a:ext cx="36901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S</a:t>
            </a:r>
            <a:r>
              <a:rPr kumimoji="0" lang="en-US" sz="1800" b="0" i="0" u="none" strike="noStrike" kern="1200" cap="none" spc="0" normalizeH="0" baseline="-25000" noProof="0" dirty="0">
                <a:ln>
                  <a:noFill/>
                </a:ln>
                <a:solidFill>
                  <a:srgbClr val="0070C0"/>
                </a:solidFill>
                <a:effectLst/>
                <a:uLnTx/>
                <a:uFillTx/>
                <a:latin typeface="Calibri" panose="020F0502020204030204"/>
                <a:ea typeface="+mn-ea"/>
                <a:cs typeface="+mn-cs"/>
              </a:rPr>
              <a:t>1</a:t>
            </a:r>
            <a:endParaRPr kumimoji="0" lang="he-IL" sz="1800" b="0" i="0" u="none" strike="noStrike" kern="1200" cap="none" spc="0" normalizeH="0" baseline="-25000" noProof="0" dirty="0">
              <a:ln>
                <a:noFill/>
              </a:ln>
              <a:solidFill>
                <a:srgbClr val="0070C0"/>
              </a:solidFill>
              <a:effectLst/>
              <a:uLnTx/>
              <a:uFillTx/>
              <a:latin typeface="Calibri" panose="020F0502020204030204"/>
              <a:ea typeface="+mn-ea"/>
              <a:cs typeface="Arial" panose="020B0604020202020204" pitchFamily="34" charset="0"/>
            </a:endParaRPr>
          </a:p>
        </p:txBody>
      </p:sp>
      <p:cxnSp>
        <p:nvCxnSpPr>
          <p:cNvPr id="24" name="מחבר ישר 31">
            <a:extLst>
              <a:ext uri="{FF2B5EF4-FFF2-40B4-BE49-F238E27FC236}">
                <a16:creationId xmlns:a16="http://schemas.microsoft.com/office/drawing/2014/main" id="{04F00C20-8A69-20B0-7015-21063EEF11DA}"/>
              </a:ext>
            </a:extLst>
          </p:cNvPr>
          <p:cNvCxnSpPr>
            <a:cxnSpLocks/>
          </p:cNvCxnSpPr>
          <p:nvPr/>
        </p:nvCxnSpPr>
        <p:spPr>
          <a:xfrm flipH="1">
            <a:off x="854153" y="4154199"/>
            <a:ext cx="1295644" cy="24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C4E2DBF-4795-EEEB-6093-DF5B613CB244}"/>
              </a:ext>
            </a:extLst>
          </p:cNvPr>
          <p:cNvSpPr txBox="1"/>
          <p:nvPr/>
        </p:nvSpPr>
        <p:spPr>
          <a:xfrm>
            <a:off x="3332865" y="5661559"/>
            <a:ext cx="304892"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6" name="TextBox 25">
            <a:extLst>
              <a:ext uri="{FF2B5EF4-FFF2-40B4-BE49-F238E27FC236}">
                <a16:creationId xmlns:a16="http://schemas.microsoft.com/office/drawing/2014/main" id="{DA00D7EA-3B1E-1CAD-5188-3675B776474A}"/>
              </a:ext>
            </a:extLst>
          </p:cNvPr>
          <p:cNvSpPr txBox="1"/>
          <p:nvPr/>
        </p:nvSpPr>
        <p:spPr>
          <a:xfrm>
            <a:off x="1727883" y="6011508"/>
            <a:ext cx="1033074"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=100 </a:t>
            </a: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X</a:t>
            </a:r>
            <a:endParaRPr kumimoji="0" lang="he-IL" sz="1800" b="0" i="0" u="none" strike="noStrike" kern="1200" cap="none" spc="0" normalizeH="0" baseline="-25000" noProof="0" dirty="0">
              <a:ln>
                <a:noFill/>
              </a:ln>
              <a:solidFill>
                <a:srgbClr val="7030A0"/>
              </a:solidFill>
              <a:effectLst/>
              <a:uLnTx/>
              <a:uFillTx/>
              <a:latin typeface="Calibri" panose="020F0502020204030204"/>
              <a:ea typeface="+mn-ea"/>
              <a:cs typeface="Arial" panose="020B0604020202020204" pitchFamily="34" charset="0"/>
            </a:endParaRPr>
          </a:p>
        </p:txBody>
      </p:sp>
      <p:sp>
        <p:nvSpPr>
          <p:cNvPr id="27" name="TextBox 26">
            <a:extLst>
              <a:ext uri="{FF2B5EF4-FFF2-40B4-BE49-F238E27FC236}">
                <a16:creationId xmlns:a16="http://schemas.microsoft.com/office/drawing/2014/main" id="{7DA1FA3C-7ABF-D71D-B661-58A1FDE98A97}"/>
              </a:ext>
            </a:extLst>
          </p:cNvPr>
          <p:cNvSpPr txBox="1"/>
          <p:nvPr/>
        </p:nvSpPr>
        <p:spPr>
          <a:xfrm>
            <a:off x="-1023" y="3916784"/>
            <a:ext cx="69442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7030A0"/>
                </a:solidFill>
                <a:effectLst/>
                <a:uLnTx/>
                <a:uFillTx/>
                <a:latin typeface="Calibri" panose="020F0502020204030204"/>
                <a:ea typeface="+mn-ea"/>
                <a:cs typeface="Arial" panose="020B0604020202020204" pitchFamily="34" charset="0"/>
              </a:rPr>
              <a:t>צרכן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28" name="TextBox 27">
            <a:extLst>
              <a:ext uri="{FF2B5EF4-FFF2-40B4-BE49-F238E27FC236}">
                <a16:creationId xmlns:a16="http://schemas.microsoft.com/office/drawing/2014/main" id="{1EE4021D-F830-4A4F-4114-A62A120FD4D0}"/>
              </a:ext>
            </a:extLst>
          </p:cNvPr>
          <p:cNvSpPr txBox="1"/>
          <p:nvPr/>
        </p:nvSpPr>
        <p:spPr>
          <a:xfrm>
            <a:off x="-92755" y="4303194"/>
            <a:ext cx="909223"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יצרן</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=7</a:t>
            </a:r>
          </a:p>
        </p:txBody>
      </p:sp>
      <p:sp>
        <p:nvSpPr>
          <p:cNvPr id="33" name="Oval 32">
            <a:extLst>
              <a:ext uri="{FF2B5EF4-FFF2-40B4-BE49-F238E27FC236}">
                <a16:creationId xmlns:a16="http://schemas.microsoft.com/office/drawing/2014/main" id="{F08573D8-AB43-62C4-6B80-87808EA68CD0}"/>
              </a:ext>
            </a:extLst>
          </p:cNvPr>
          <p:cNvSpPr/>
          <p:nvPr/>
        </p:nvSpPr>
        <p:spPr>
          <a:xfrm>
            <a:off x="1988477" y="4407641"/>
            <a:ext cx="319151" cy="25344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E8100E93-6370-9F91-A5E9-F53EC1FFBFF0}"/>
              </a:ext>
            </a:extLst>
          </p:cNvPr>
          <p:cNvSpPr/>
          <p:nvPr/>
        </p:nvSpPr>
        <p:spPr>
          <a:xfrm>
            <a:off x="1988477" y="4005205"/>
            <a:ext cx="319151" cy="25344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t>
            </a:r>
            <a:endParaRPr kumimoji="0" lang="en-I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F64B3B54-E699-6F9D-8221-3BA8F6D29F66}"/>
              </a:ext>
            </a:extLst>
          </p:cNvPr>
          <p:cNvSpPr/>
          <p:nvPr/>
        </p:nvSpPr>
        <p:spPr>
          <a:xfrm>
            <a:off x="3822711" y="3740063"/>
            <a:ext cx="4933653" cy="49862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432B27C7-B9BC-50CF-EE6D-D1A4ED35A324}"/>
              </a:ext>
            </a:extLst>
          </p:cNvPr>
          <p:cNvSpPr txBox="1"/>
          <p:nvPr/>
        </p:nvSpPr>
        <p:spPr>
          <a:xfrm>
            <a:off x="4572000" y="2712836"/>
            <a:ext cx="1413172" cy="45653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תשתנה</a:t>
            </a:r>
          </a:p>
        </p:txBody>
      </p:sp>
      <p:sp>
        <p:nvSpPr>
          <p:cNvPr id="36" name="TextBox 35">
            <a:extLst>
              <a:ext uri="{FF2B5EF4-FFF2-40B4-BE49-F238E27FC236}">
                <a16:creationId xmlns:a16="http://schemas.microsoft.com/office/drawing/2014/main" id="{3ACC27CD-6608-F047-EB54-AC65ED415521}"/>
              </a:ext>
            </a:extLst>
          </p:cNvPr>
          <p:cNvSpPr txBox="1"/>
          <p:nvPr/>
        </p:nvSpPr>
        <p:spPr>
          <a:xfrm>
            <a:off x="4271528" y="3169371"/>
            <a:ext cx="1786706" cy="45653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שווה ל-7 ש''ח. </a:t>
            </a:r>
          </a:p>
        </p:txBody>
      </p:sp>
      <p:sp>
        <p:nvSpPr>
          <p:cNvPr id="37" name="TextBox 36">
            <a:extLst>
              <a:ext uri="{FF2B5EF4-FFF2-40B4-BE49-F238E27FC236}">
                <a16:creationId xmlns:a16="http://schemas.microsoft.com/office/drawing/2014/main" id="{074CD021-2B35-C34C-29F1-11BC0E4D9928}"/>
              </a:ext>
            </a:extLst>
          </p:cNvPr>
          <p:cNvSpPr txBox="1"/>
          <p:nvPr/>
        </p:nvSpPr>
        <p:spPr>
          <a:xfrm>
            <a:off x="2921878" y="4154446"/>
            <a:ext cx="2321396" cy="463075"/>
          </a:xfrm>
          <a:prstGeom prst="rect">
            <a:avLst/>
          </a:prstGeom>
          <a:solidFill>
            <a:schemeClr val="accent1">
              <a:lumMod val="20000"/>
              <a:lumOff val="80000"/>
            </a:schemeClr>
          </a:solid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יהיו שוות ל-</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100). </a:t>
            </a:r>
          </a:p>
        </p:txBody>
      </p:sp>
      <p:sp>
        <p:nvSpPr>
          <p:cNvPr id="2" name="TextBox 1">
            <a:extLst>
              <a:ext uri="{FF2B5EF4-FFF2-40B4-BE49-F238E27FC236}">
                <a16:creationId xmlns:a16="http://schemas.microsoft.com/office/drawing/2014/main" id="{32885105-84CC-8E49-1FB8-851E0A6C27D5}"/>
              </a:ext>
            </a:extLst>
          </p:cNvPr>
          <p:cNvSpPr txBox="1"/>
          <p:nvPr/>
        </p:nvSpPr>
        <p:spPr>
          <a:xfrm>
            <a:off x="3711914" y="5144535"/>
            <a:ext cx="4692639" cy="1294072"/>
          </a:xfrm>
          <a:prstGeom prst="rect">
            <a:avLst/>
          </a:prstGeom>
          <a:solidFill>
            <a:schemeClr val="accent4">
              <a:lumMod val="40000"/>
              <a:lumOff val="60000"/>
            </a:schemeClr>
          </a:solid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נשים לב שאין שינוי ברווחה הכלכלית, זאת מכיוון שהירידה בעודף הצרכנים שווה בדיוק לתקבולי הממשלה ממיסים!</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362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66715-1615-BA7F-6286-788BB716265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903714-3E39-64B2-D4DD-2F582EB0B9D4}"/>
              </a:ext>
            </a:extLst>
          </p:cNvPr>
          <p:cNvSpPr>
            <a:spLocks noGrp="1"/>
          </p:cNvSpPr>
          <p:nvPr>
            <p:ph type="dt" sz="half" idx="10"/>
          </p:nvPr>
        </p:nvSpPr>
        <p:spPr/>
        <p:txBody>
          <a:bodyPr/>
          <a:lstStyle/>
          <a:p>
            <a:pPr defTabSz="685800" rtl="1"/>
            <a:fld id="{9B393A50-05DF-4427-9896-0386F9D9B168}" type="datetime8">
              <a:rPr lang="he-IL">
                <a:solidFill>
                  <a:prstClr val="black">
                    <a:tint val="75000"/>
                  </a:prstClr>
                </a:solidFill>
                <a:latin typeface="Calibri"/>
                <a:cs typeface="Arial" panose="020B0604020202020204" pitchFamily="34" charset="0"/>
              </a:rPr>
              <a:pPr defTabSz="685800" rtl="1"/>
              <a:t>17 ינואר 26</a:t>
            </a:fld>
            <a:endParaRPr lang="he-IL">
              <a:solidFill>
                <a:prstClr val="black">
                  <a:tint val="75000"/>
                </a:prstClr>
              </a:solidFill>
              <a:latin typeface="Calibri"/>
              <a:cs typeface="Arial" panose="020B0604020202020204" pitchFamily="34" charset="0"/>
            </a:endParaRPr>
          </a:p>
        </p:txBody>
      </p:sp>
      <p:sp>
        <p:nvSpPr>
          <p:cNvPr id="5" name="Slide Number Placeholder 4">
            <a:extLst>
              <a:ext uri="{FF2B5EF4-FFF2-40B4-BE49-F238E27FC236}">
                <a16:creationId xmlns:a16="http://schemas.microsoft.com/office/drawing/2014/main" id="{597BE48F-59A7-A7BE-41C5-1B459AC25139}"/>
              </a:ext>
            </a:extLst>
          </p:cNvPr>
          <p:cNvSpPr>
            <a:spLocks noGrp="1"/>
          </p:cNvSpPr>
          <p:nvPr>
            <p:ph type="sldNum" sz="quarter" idx="12"/>
          </p:nvPr>
        </p:nvSpPr>
        <p:spPr/>
        <p:txBody>
          <a:bodyPr/>
          <a:lstStyle/>
          <a:p>
            <a:pPr defTabSz="685800" rtl="1"/>
            <a:fld id="{DAF22AC9-109E-4E4D-92F9-530E51D9A3A2}" type="slidenum">
              <a:rPr lang="he-IL">
                <a:solidFill>
                  <a:prstClr val="black">
                    <a:tint val="75000"/>
                  </a:prstClr>
                </a:solidFill>
                <a:latin typeface="Calibri"/>
                <a:cs typeface="Arial" panose="020B0604020202020204" pitchFamily="34" charset="0"/>
              </a:rPr>
              <a:pPr defTabSz="685800" rtl="1"/>
              <a:t>34</a:t>
            </a:fld>
            <a:endParaRPr lang="he-IL">
              <a:solidFill>
                <a:prstClr val="black">
                  <a:tint val="75000"/>
                </a:prstClr>
              </a:solidFill>
              <a:latin typeface="Calibri"/>
              <a:cs typeface="Arial" panose="020B0604020202020204" pitchFamily="34" charset="0"/>
            </a:endParaRPr>
          </a:p>
        </p:txBody>
      </p:sp>
      <p:sp>
        <p:nvSpPr>
          <p:cNvPr id="9" name="TextBox 8">
            <a:extLst>
              <a:ext uri="{FF2B5EF4-FFF2-40B4-BE49-F238E27FC236}">
                <a16:creationId xmlns:a16="http://schemas.microsoft.com/office/drawing/2014/main" id="{528F09EE-8FF1-3ADD-7403-F046656E5A35}"/>
              </a:ext>
            </a:extLst>
          </p:cNvPr>
          <p:cNvSpPr txBox="1"/>
          <p:nvPr/>
        </p:nvSpPr>
        <p:spPr>
          <a:xfrm>
            <a:off x="280079" y="689438"/>
            <a:ext cx="7012803" cy="791179"/>
          </a:xfrm>
          <a:prstGeom prst="rect">
            <a:avLst/>
          </a:prstGeom>
          <a:noFill/>
        </p:spPr>
        <p:txBody>
          <a:bodyPr wrap="square" rtlCol="0">
            <a:spAutoFit/>
          </a:bodyPr>
          <a:lstStyle/>
          <a:p>
            <a:pPr algn="r" defTabSz="685800" rtl="1">
              <a:lnSpc>
                <a:spcPct val="150000"/>
              </a:lnSpc>
            </a:pPr>
            <a:r>
              <a:rPr lang="he-IL" sz="1600" dirty="0">
                <a:solidFill>
                  <a:prstClr val="black"/>
                </a:solidFill>
                <a:latin typeface="Calibri"/>
                <a:cs typeface="Arial" panose="020B0604020202020204" pitchFamily="34" charset="0"/>
              </a:rPr>
              <a:t>תארו מה יקרה למחיר לצרכן, מחיר ליצרן ולכמות המיוצרת בשוק בעקבות הטלת מס בסכום קבוע על היצרנים אם ידוע שהביקוש של הצרכנים הינו גמיש לחלוטין. </a:t>
            </a:r>
            <a:endParaRPr lang="en-IL" sz="1600" dirty="0">
              <a:solidFill>
                <a:prstClr val="black"/>
              </a:solidFill>
              <a:latin typeface="Calibri"/>
            </a:endParaRPr>
          </a:p>
        </p:txBody>
      </p:sp>
      <p:sp>
        <p:nvSpPr>
          <p:cNvPr id="7" name="Title 1">
            <a:extLst>
              <a:ext uri="{FF2B5EF4-FFF2-40B4-BE49-F238E27FC236}">
                <a16:creationId xmlns:a16="http://schemas.microsoft.com/office/drawing/2014/main" id="{BD36EF42-9B2E-2C73-A074-D432C9687A27}"/>
              </a:ext>
            </a:extLst>
          </p:cNvPr>
          <p:cNvSpPr txBox="1">
            <a:spLocks/>
          </p:cNvSpPr>
          <p:nvPr/>
        </p:nvSpPr>
        <p:spPr>
          <a:xfrm>
            <a:off x="5791200" y="298668"/>
            <a:ext cx="3104964" cy="545934"/>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r" defTabSz="514350" rtl="1"/>
            <a:r>
              <a:rPr lang="he-IL" sz="3200" b="1" dirty="0">
                <a:solidFill>
                  <a:prstClr val="black"/>
                </a:solidFill>
                <a:latin typeface="David" pitchFamily="34" charset="-79"/>
                <a:cs typeface="David" pitchFamily="34" charset="-79"/>
              </a:rPr>
              <a:t>שאלה 3</a:t>
            </a:r>
            <a:endParaRPr lang="en-US" sz="3200" dirty="0">
              <a:solidFill>
                <a:prstClr val="black"/>
              </a:solidFill>
              <a:latin typeface="Calibri"/>
            </a:endParaRPr>
          </a:p>
        </p:txBody>
      </p:sp>
      <p:grpSp>
        <p:nvGrpSpPr>
          <p:cNvPr id="12" name="קבוצה 11">
            <a:extLst>
              <a:ext uri="{FF2B5EF4-FFF2-40B4-BE49-F238E27FC236}">
                <a16:creationId xmlns:a16="http://schemas.microsoft.com/office/drawing/2014/main" id="{006DD9DA-302E-D63E-5166-E62B2C0C58B9}"/>
              </a:ext>
            </a:extLst>
          </p:cNvPr>
          <p:cNvGrpSpPr/>
          <p:nvPr/>
        </p:nvGrpSpPr>
        <p:grpSpPr>
          <a:xfrm>
            <a:off x="1783615" y="2968459"/>
            <a:ext cx="2720451" cy="2488644"/>
            <a:chOff x="713554" y="2786852"/>
            <a:chExt cx="3043056" cy="3143272"/>
          </a:xfrm>
        </p:grpSpPr>
        <p:cxnSp>
          <p:nvCxnSpPr>
            <p:cNvPr id="13" name="מחבר חץ ישר 9">
              <a:extLst>
                <a:ext uri="{FF2B5EF4-FFF2-40B4-BE49-F238E27FC236}">
                  <a16:creationId xmlns:a16="http://schemas.microsoft.com/office/drawing/2014/main" id="{DCC6EE04-5B40-EEBF-CE70-F07D2E9D460E}"/>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0">
              <a:extLst>
                <a:ext uri="{FF2B5EF4-FFF2-40B4-BE49-F238E27FC236}">
                  <a16:creationId xmlns:a16="http://schemas.microsoft.com/office/drawing/2014/main" id="{230FA7F0-889C-150C-AB41-A43247E8E2A1}"/>
                </a:ext>
              </a:extLst>
            </p:cNvPr>
            <p:cNvCxnSpPr>
              <a:cxnSpLocks/>
            </p:cNvCxnSpPr>
            <p:nvPr/>
          </p:nvCxnSpPr>
          <p:spPr>
            <a:xfrm flipV="1">
              <a:off x="714348" y="5913009"/>
              <a:ext cx="3042262" cy="163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מחבר ישר 13">
            <a:extLst>
              <a:ext uri="{FF2B5EF4-FFF2-40B4-BE49-F238E27FC236}">
                <a16:creationId xmlns:a16="http://schemas.microsoft.com/office/drawing/2014/main" id="{717A57D0-53D7-59B3-ADBE-DAC03D509C85}"/>
              </a:ext>
            </a:extLst>
          </p:cNvPr>
          <p:cNvCxnSpPr>
            <a:cxnSpLocks/>
          </p:cNvCxnSpPr>
          <p:nvPr/>
        </p:nvCxnSpPr>
        <p:spPr>
          <a:xfrm>
            <a:off x="1789126" y="4235241"/>
            <a:ext cx="3079478"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459150A8-2B3C-32DF-5597-43278B5DC85A}"/>
              </a:ext>
            </a:extLst>
          </p:cNvPr>
          <p:cNvCxnSpPr>
            <a:cxnSpLocks/>
          </p:cNvCxnSpPr>
          <p:nvPr/>
        </p:nvCxnSpPr>
        <p:spPr>
          <a:xfrm flipV="1">
            <a:off x="2433937" y="3603432"/>
            <a:ext cx="2177188" cy="14794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4623B49-7777-04AD-2C66-0BF7277FBA96}"/>
              </a:ext>
            </a:extLst>
          </p:cNvPr>
          <p:cNvSpPr txBox="1"/>
          <p:nvPr/>
        </p:nvSpPr>
        <p:spPr>
          <a:xfrm>
            <a:off x="4673679" y="3228945"/>
            <a:ext cx="389850" cy="400110"/>
          </a:xfrm>
          <a:prstGeom prst="rect">
            <a:avLst/>
          </a:prstGeom>
          <a:noFill/>
        </p:spPr>
        <p:txBody>
          <a:bodyPr wrap="none" rtlCol="1">
            <a:spAutoFit/>
          </a:bodyPr>
          <a:lstStyle/>
          <a:p>
            <a:pPr algn="r" defTabSz="685800" rtl="1"/>
            <a:r>
              <a:rPr lang="en-US" sz="2000" dirty="0">
                <a:solidFill>
                  <a:prstClr val="black"/>
                </a:solidFill>
                <a:latin typeface="Calibri"/>
              </a:rPr>
              <a:t>S</a:t>
            </a:r>
            <a:r>
              <a:rPr lang="en-US" sz="2000" baseline="-25000" dirty="0">
                <a:solidFill>
                  <a:prstClr val="black"/>
                </a:solidFill>
                <a:latin typeface="Calibri"/>
              </a:rPr>
              <a:t>0</a:t>
            </a:r>
            <a:endParaRPr lang="he-IL" sz="2000" baseline="-25000"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C6A6738F-0778-43FE-DE6A-84EA8AFC5D40}"/>
              </a:ext>
            </a:extLst>
          </p:cNvPr>
          <p:cNvSpPr txBox="1"/>
          <p:nvPr/>
        </p:nvSpPr>
        <p:spPr>
          <a:xfrm>
            <a:off x="4868604" y="4035869"/>
            <a:ext cx="478016" cy="461665"/>
          </a:xfrm>
          <a:prstGeom prst="rect">
            <a:avLst/>
          </a:prstGeom>
          <a:noFill/>
        </p:spPr>
        <p:txBody>
          <a:bodyPr wrap="none" rtlCol="1">
            <a:spAutoFit/>
          </a:bodyPr>
          <a:lstStyle/>
          <a:p>
            <a:pPr algn="r" defTabSz="685800" rtl="1"/>
            <a:r>
              <a:rPr lang="en-US" sz="2400" dirty="0">
                <a:solidFill>
                  <a:prstClr val="black"/>
                </a:solidFill>
                <a:latin typeface="Calibri"/>
              </a:rPr>
              <a:t>D</a:t>
            </a:r>
            <a:r>
              <a:rPr lang="en-US" sz="2400" baseline="-25000" dirty="0">
                <a:solidFill>
                  <a:prstClr val="black"/>
                </a:solidFill>
                <a:latin typeface="Calibri"/>
              </a:rPr>
              <a:t>0</a:t>
            </a:r>
            <a:endParaRPr lang="he-IL" sz="2400" baseline="-25000" dirty="0">
              <a:solidFill>
                <a:prstClr val="black"/>
              </a:solidFill>
              <a:latin typeface="Calibri"/>
              <a:cs typeface="Arial" panose="020B0604020202020204" pitchFamily="34" charset="0"/>
            </a:endParaRPr>
          </a:p>
        </p:txBody>
      </p:sp>
      <p:sp>
        <p:nvSpPr>
          <p:cNvPr id="19" name="TextBox 18">
            <a:extLst>
              <a:ext uri="{FF2B5EF4-FFF2-40B4-BE49-F238E27FC236}">
                <a16:creationId xmlns:a16="http://schemas.microsoft.com/office/drawing/2014/main" id="{5513BE2D-C54E-86B3-F3B3-067B73CF606C}"/>
              </a:ext>
            </a:extLst>
          </p:cNvPr>
          <p:cNvSpPr txBox="1"/>
          <p:nvPr/>
        </p:nvSpPr>
        <p:spPr>
          <a:xfrm>
            <a:off x="1524000" y="2610210"/>
            <a:ext cx="317715" cy="400110"/>
          </a:xfrm>
          <a:prstGeom prst="rect">
            <a:avLst/>
          </a:prstGeom>
          <a:noFill/>
        </p:spPr>
        <p:txBody>
          <a:bodyPr wrap="none" rtlCol="1">
            <a:spAutoFit/>
          </a:bodyPr>
          <a:lstStyle/>
          <a:p>
            <a:pPr algn="r" defTabSz="685800" rtl="1"/>
            <a:r>
              <a:rPr lang="en-US" sz="2000" dirty="0">
                <a:solidFill>
                  <a:prstClr val="black"/>
                </a:solidFill>
                <a:latin typeface="Calibri"/>
              </a:rPr>
              <a:t>P</a:t>
            </a:r>
            <a:endParaRPr lang="he-IL" sz="2000" dirty="0">
              <a:solidFill>
                <a:prstClr val="black"/>
              </a:solidFill>
              <a:latin typeface="Calibri"/>
              <a:cs typeface="Arial" panose="020B0604020202020204" pitchFamily="34" charset="0"/>
            </a:endParaRPr>
          </a:p>
        </p:txBody>
      </p:sp>
      <p:sp>
        <p:nvSpPr>
          <p:cNvPr id="25" name="TextBox 24">
            <a:extLst>
              <a:ext uri="{FF2B5EF4-FFF2-40B4-BE49-F238E27FC236}">
                <a16:creationId xmlns:a16="http://schemas.microsoft.com/office/drawing/2014/main" id="{9C7A7735-C25E-2D63-6965-AF2C2EA2ED11}"/>
              </a:ext>
            </a:extLst>
          </p:cNvPr>
          <p:cNvSpPr txBox="1"/>
          <p:nvPr/>
        </p:nvSpPr>
        <p:spPr>
          <a:xfrm>
            <a:off x="4594169" y="5180104"/>
            <a:ext cx="274435" cy="300082"/>
          </a:xfrm>
          <a:prstGeom prst="rect">
            <a:avLst/>
          </a:prstGeom>
          <a:noFill/>
        </p:spPr>
        <p:txBody>
          <a:bodyPr wrap="none" rtlCol="1">
            <a:spAutoFit/>
          </a:bodyPr>
          <a:lstStyle/>
          <a:p>
            <a:pPr algn="r" defTabSz="685800" rtl="1"/>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26" name="TextBox 25">
            <a:extLst>
              <a:ext uri="{FF2B5EF4-FFF2-40B4-BE49-F238E27FC236}">
                <a16:creationId xmlns:a16="http://schemas.microsoft.com/office/drawing/2014/main" id="{1D4418BE-DBC7-F4DE-6A7B-62AFB9BB55D5}"/>
              </a:ext>
            </a:extLst>
          </p:cNvPr>
          <p:cNvSpPr txBox="1"/>
          <p:nvPr/>
        </p:nvSpPr>
        <p:spPr>
          <a:xfrm>
            <a:off x="3533230" y="5429438"/>
            <a:ext cx="774806" cy="461665"/>
          </a:xfrm>
          <a:prstGeom prst="rect">
            <a:avLst/>
          </a:prstGeom>
          <a:noFill/>
        </p:spPr>
        <p:txBody>
          <a:bodyPr wrap="square" rtlCol="1">
            <a:spAutoFit/>
          </a:bodyPr>
          <a:lstStyle/>
          <a:p>
            <a:pPr defTabSz="685800"/>
            <a:r>
              <a:rPr lang="en-US" sz="3600" baseline="-25000" dirty="0">
                <a:solidFill>
                  <a:srgbClr val="7030A0"/>
                </a:solidFill>
                <a:latin typeface="Calibri"/>
              </a:rPr>
              <a:t>X</a:t>
            </a:r>
            <a:r>
              <a:rPr lang="en-US" sz="2700" baseline="-25000" dirty="0">
                <a:solidFill>
                  <a:srgbClr val="7030A0"/>
                </a:solidFill>
                <a:latin typeface="Calibri"/>
              </a:rPr>
              <a:t>0</a:t>
            </a:r>
            <a:endParaRPr lang="he-IL" sz="2700" baseline="-25000" dirty="0">
              <a:solidFill>
                <a:srgbClr val="7030A0"/>
              </a:solidFill>
              <a:latin typeface="Calibri"/>
              <a:cs typeface="Arial" panose="020B0604020202020204" pitchFamily="34" charset="0"/>
            </a:endParaRPr>
          </a:p>
        </p:txBody>
      </p:sp>
      <p:sp>
        <p:nvSpPr>
          <p:cNvPr id="28" name="TextBox 27">
            <a:extLst>
              <a:ext uri="{FF2B5EF4-FFF2-40B4-BE49-F238E27FC236}">
                <a16:creationId xmlns:a16="http://schemas.microsoft.com/office/drawing/2014/main" id="{22B5AFDD-7FBA-FA4A-FB50-0FC75D88F68F}"/>
              </a:ext>
            </a:extLst>
          </p:cNvPr>
          <p:cNvSpPr txBox="1"/>
          <p:nvPr/>
        </p:nvSpPr>
        <p:spPr>
          <a:xfrm>
            <a:off x="1349472" y="4084645"/>
            <a:ext cx="405880" cy="400110"/>
          </a:xfrm>
          <a:prstGeom prst="rect">
            <a:avLst/>
          </a:prstGeom>
          <a:noFill/>
        </p:spPr>
        <p:txBody>
          <a:bodyPr wrap="none" rtlCol="1">
            <a:spAutoFit/>
          </a:bodyPr>
          <a:lstStyle/>
          <a:p>
            <a:pPr algn="r" defTabSz="685800" rtl="1"/>
            <a:r>
              <a:rPr lang="en-US" sz="2000" dirty="0">
                <a:solidFill>
                  <a:prstClr val="black"/>
                </a:solidFill>
                <a:latin typeface="Calibri"/>
              </a:rPr>
              <a:t>P</a:t>
            </a:r>
            <a:r>
              <a:rPr lang="en-US" sz="1350" dirty="0">
                <a:solidFill>
                  <a:prstClr val="black"/>
                </a:solidFill>
                <a:latin typeface="Calibri"/>
              </a:rPr>
              <a:t>0</a:t>
            </a:r>
            <a:endParaRPr lang="he-IL" sz="1350" dirty="0">
              <a:solidFill>
                <a:prstClr val="black"/>
              </a:solidFill>
              <a:latin typeface="Calibri"/>
              <a:cs typeface="Arial" panose="020B0604020202020204" pitchFamily="34" charset="0"/>
            </a:endParaRPr>
          </a:p>
        </p:txBody>
      </p:sp>
      <p:sp>
        <p:nvSpPr>
          <p:cNvPr id="33" name="Oval 32">
            <a:extLst>
              <a:ext uri="{FF2B5EF4-FFF2-40B4-BE49-F238E27FC236}">
                <a16:creationId xmlns:a16="http://schemas.microsoft.com/office/drawing/2014/main" id="{DF1A2A2E-04F9-2B8E-CEAD-40EDB0B3D2BD}"/>
              </a:ext>
            </a:extLst>
          </p:cNvPr>
          <p:cNvSpPr/>
          <p:nvPr/>
        </p:nvSpPr>
        <p:spPr>
          <a:xfrm>
            <a:off x="3533230" y="4116186"/>
            <a:ext cx="389273" cy="27709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rtl="1"/>
            <a:r>
              <a:rPr lang="en-US" sz="2000" dirty="0">
                <a:solidFill>
                  <a:prstClr val="white"/>
                </a:solidFill>
                <a:latin typeface="Calibri"/>
              </a:rPr>
              <a:t>A</a:t>
            </a:r>
            <a:endParaRPr lang="en-IL" sz="2000" dirty="0">
              <a:solidFill>
                <a:prstClr val="white"/>
              </a:solidFill>
              <a:latin typeface="Calibri"/>
            </a:endParaRPr>
          </a:p>
        </p:txBody>
      </p:sp>
      <p:cxnSp>
        <p:nvCxnSpPr>
          <p:cNvPr id="20" name="מחבר ישר 31">
            <a:extLst>
              <a:ext uri="{FF2B5EF4-FFF2-40B4-BE49-F238E27FC236}">
                <a16:creationId xmlns:a16="http://schemas.microsoft.com/office/drawing/2014/main" id="{445A5DBC-A724-EE6E-5515-CCC28B963DC9}"/>
              </a:ext>
            </a:extLst>
          </p:cNvPr>
          <p:cNvCxnSpPr>
            <a:cxnSpLocks/>
          </p:cNvCxnSpPr>
          <p:nvPr/>
        </p:nvCxnSpPr>
        <p:spPr>
          <a:xfrm flipH="1">
            <a:off x="3694142" y="4342379"/>
            <a:ext cx="4138" cy="11533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21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109F-E6EB-4B78-DB7C-5228CCB4086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F549CCC-3D09-BE0F-4A79-37FB60BA475E}"/>
              </a:ext>
            </a:extLst>
          </p:cNvPr>
          <p:cNvSpPr>
            <a:spLocks noGrp="1"/>
          </p:cNvSpPr>
          <p:nvPr>
            <p:ph type="dt" sz="half" idx="10"/>
          </p:nvPr>
        </p:nvSpPr>
        <p:spPr/>
        <p:txBody>
          <a:bodyPr/>
          <a:lstStyle/>
          <a:p>
            <a:pPr defTabSz="685800" rtl="1"/>
            <a:fld id="{9B393A50-05DF-4427-9896-0386F9D9B168}" type="datetime8">
              <a:rPr lang="he-IL">
                <a:solidFill>
                  <a:prstClr val="black">
                    <a:tint val="75000"/>
                  </a:prstClr>
                </a:solidFill>
                <a:latin typeface="Calibri"/>
                <a:cs typeface="Arial" panose="020B0604020202020204" pitchFamily="34" charset="0"/>
              </a:rPr>
              <a:pPr defTabSz="685800" rtl="1"/>
              <a:t>17 ינואר 26</a:t>
            </a:fld>
            <a:endParaRPr lang="he-IL">
              <a:solidFill>
                <a:prstClr val="black">
                  <a:tint val="75000"/>
                </a:prstClr>
              </a:solidFill>
              <a:latin typeface="Calibri"/>
              <a:cs typeface="Arial" panose="020B0604020202020204" pitchFamily="34" charset="0"/>
            </a:endParaRPr>
          </a:p>
        </p:txBody>
      </p:sp>
      <p:sp>
        <p:nvSpPr>
          <p:cNvPr id="5" name="Slide Number Placeholder 4">
            <a:extLst>
              <a:ext uri="{FF2B5EF4-FFF2-40B4-BE49-F238E27FC236}">
                <a16:creationId xmlns:a16="http://schemas.microsoft.com/office/drawing/2014/main" id="{F48BC0FB-67FC-A310-3358-CEAEF4683546}"/>
              </a:ext>
            </a:extLst>
          </p:cNvPr>
          <p:cNvSpPr>
            <a:spLocks noGrp="1"/>
          </p:cNvSpPr>
          <p:nvPr>
            <p:ph type="sldNum" sz="quarter" idx="12"/>
          </p:nvPr>
        </p:nvSpPr>
        <p:spPr/>
        <p:txBody>
          <a:bodyPr/>
          <a:lstStyle/>
          <a:p>
            <a:pPr defTabSz="685800" rtl="1"/>
            <a:fld id="{DAF22AC9-109E-4E4D-92F9-530E51D9A3A2}" type="slidenum">
              <a:rPr lang="he-IL">
                <a:solidFill>
                  <a:prstClr val="black">
                    <a:tint val="75000"/>
                  </a:prstClr>
                </a:solidFill>
                <a:latin typeface="Calibri"/>
                <a:cs typeface="Arial" panose="020B0604020202020204" pitchFamily="34" charset="0"/>
              </a:rPr>
              <a:pPr defTabSz="685800" rtl="1"/>
              <a:t>35</a:t>
            </a:fld>
            <a:endParaRPr lang="he-IL">
              <a:solidFill>
                <a:prstClr val="black">
                  <a:tint val="75000"/>
                </a:prstClr>
              </a:solidFill>
              <a:latin typeface="Calibri"/>
              <a:cs typeface="Arial" panose="020B0604020202020204" pitchFamily="34" charset="0"/>
            </a:endParaRPr>
          </a:p>
        </p:txBody>
      </p:sp>
      <p:sp>
        <p:nvSpPr>
          <p:cNvPr id="9" name="TextBox 8">
            <a:extLst>
              <a:ext uri="{FF2B5EF4-FFF2-40B4-BE49-F238E27FC236}">
                <a16:creationId xmlns:a16="http://schemas.microsoft.com/office/drawing/2014/main" id="{48EE591B-6312-9FF6-3319-3AB55EE1F118}"/>
              </a:ext>
            </a:extLst>
          </p:cNvPr>
          <p:cNvSpPr txBox="1"/>
          <p:nvPr/>
        </p:nvSpPr>
        <p:spPr>
          <a:xfrm>
            <a:off x="2421237" y="1362260"/>
            <a:ext cx="6334218" cy="1160511"/>
          </a:xfrm>
          <a:prstGeom prst="rect">
            <a:avLst/>
          </a:prstGeom>
          <a:noFill/>
        </p:spPr>
        <p:txBody>
          <a:bodyPr wrap="square" rtlCol="0">
            <a:spAutoFit/>
          </a:bodyPr>
          <a:lstStyle/>
          <a:p>
            <a:pPr algn="r" defTabSz="685800" rtl="1">
              <a:lnSpc>
                <a:spcPct val="150000"/>
              </a:lnSpc>
            </a:pPr>
            <a:r>
              <a:rPr lang="he-IL" sz="1600" dirty="0">
                <a:solidFill>
                  <a:prstClr val="black"/>
                </a:solidFill>
                <a:latin typeface="Calibri"/>
                <a:cs typeface="Arial" panose="020B0604020202020204" pitchFamily="34" charset="0"/>
              </a:rPr>
              <a:t>כאשר </a:t>
            </a:r>
            <a:r>
              <a:rPr lang="he-IL" sz="1600" b="1" dirty="0">
                <a:solidFill>
                  <a:prstClr val="black"/>
                </a:solidFill>
                <a:latin typeface="Calibri"/>
                <a:cs typeface="Arial" panose="020B0604020202020204" pitchFamily="34" charset="0"/>
              </a:rPr>
              <a:t>הביקוש של הצרכנים הינו גמיש לחלוטין</a:t>
            </a:r>
            <a:r>
              <a:rPr lang="he-IL" sz="1600" dirty="0">
                <a:solidFill>
                  <a:prstClr val="black"/>
                </a:solidFill>
                <a:latin typeface="Calibri"/>
                <a:cs typeface="Arial" panose="020B0604020202020204" pitchFamily="34" charset="0"/>
              </a:rPr>
              <a:t>, הטלת מס בסכום </a:t>
            </a:r>
            <a:r>
              <a:rPr lang="en-US" sz="1600" dirty="0">
                <a:solidFill>
                  <a:prstClr val="black"/>
                </a:solidFill>
                <a:latin typeface="Calibri"/>
              </a:rPr>
              <a:t>T</a:t>
            </a:r>
            <a:r>
              <a:rPr lang="he-IL" sz="1600" dirty="0">
                <a:solidFill>
                  <a:prstClr val="black"/>
                </a:solidFill>
                <a:latin typeface="Calibri"/>
                <a:cs typeface="Arial" panose="020B0604020202020204" pitchFamily="34" charset="0"/>
              </a:rPr>
              <a:t> </a:t>
            </a:r>
            <a:r>
              <a:rPr lang="he-IL" sz="1600" dirty="0" err="1">
                <a:solidFill>
                  <a:prstClr val="black"/>
                </a:solidFill>
                <a:latin typeface="Calibri"/>
                <a:cs typeface="Arial" panose="020B0604020202020204" pitchFamily="34" charset="0"/>
              </a:rPr>
              <a:t>ש''ח</a:t>
            </a:r>
            <a:r>
              <a:rPr lang="he-IL" sz="1600" dirty="0">
                <a:solidFill>
                  <a:prstClr val="black"/>
                </a:solidFill>
                <a:latin typeface="Calibri"/>
                <a:cs typeface="Arial" panose="020B0604020202020204" pitchFamily="34" charset="0"/>
              </a:rPr>
              <a:t> על כל יחידה מיוצרת תוביל לקיטון בכמות ומי שיספוג את כל נטל המס הם היצרנים (מחיר צרכן=מחיר מקורי כלומר טרם הטלת המס). </a:t>
            </a:r>
            <a:endParaRPr lang="en-IL" sz="1600" dirty="0">
              <a:solidFill>
                <a:prstClr val="black"/>
              </a:solidFill>
              <a:latin typeface="Calibri"/>
            </a:endParaRPr>
          </a:p>
        </p:txBody>
      </p:sp>
      <p:sp>
        <p:nvSpPr>
          <p:cNvPr id="7" name="Title 1">
            <a:extLst>
              <a:ext uri="{FF2B5EF4-FFF2-40B4-BE49-F238E27FC236}">
                <a16:creationId xmlns:a16="http://schemas.microsoft.com/office/drawing/2014/main" id="{7A09B862-D883-BA5D-5187-EB8539FBF118}"/>
              </a:ext>
            </a:extLst>
          </p:cNvPr>
          <p:cNvSpPr txBox="1">
            <a:spLocks/>
          </p:cNvSpPr>
          <p:nvPr/>
        </p:nvSpPr>
        <p:spPr>
          <a:xfrm>
            <a:off x="5791200" y="298668"/>
            <a:ext cx="3104964" cy="545934"/>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r" defTabSz="514350" rtl="1"/>
            <a:r>
              <a:rPr lang="he-IL" sz="3200" b="1" dirty="0">
                <a:solidFill>
                  <a:prstClr val="black"/>
                </a:solidFill>
                <a:latin typeface="David" pitchFamily="34" charset="-79"/>
                <a:cs typeface="David" pitchFamily="34" charset="-79"/>
              </a:rPr>
              <a:t>שאלה 3</a:t>
            </a:r>
            <a:endParaRPr lang="en-US" sz="3200" dirty="0">
              <a:solidFill>
                <a:prstClr val="black"/>
              </a:solidFill>
              <a:latin typeface="Calibri"/>
            </a:endParaRPr>
          </a:p>
        </p:txBody>
      </p:sp>
      <p:grpSp>
        <p:nvGrpSpPr>
          <p:cNvPr id="12" name="קבוצה 11">
            <a:extLst>
              <a:ext uri="{FF2B5EF4-FFF2-40B4-BE49-F238E27FC236}">
                <a16:creationId xmlns:a16="http://schemas.microsoft.com/office/drawing/2014/main" id="{DD665CB6-0BAE-6371-5F83-0208B08396C4}"/>
              </a:ext>
            </a:extLst>
          </p:cNvPr>
          <p:cNvGrpSpPr/>
          <p:nvPr/>
        </p:nvGrpSpPr>
        <p:grpSpPr>
          <a:xfrm>
            <a:off x="1783615" y="2968459"/>
            <a:ext cx="2720451" cy="2488644"/>
            <a:chOff x="713554" y="2786852"/>
            <a:chExt cx="3043056" cy="3143272"/>
          </a:xfrm>
        </p:grpSpPr>
        <p:cxnSp>
          <p:nvCxnSpPr>
            <p:cNvPr id="13" name="מחבר חץ ישר 9">
              <a:extLst>
                <a:ext uri="{FF2B5EF4-FFF2-40B4-BE49-F238E27FC236}">
                  <a16:creationId xmlns:a16="http://schemas.microsoft.com/office/drawing/2014/main" id="{D6018B79-36C2-25B6-9EEE-4EAF6B1C4206}"/>
                </a:ext>
              </a:extLst>
            </p:cNvPr>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0">
              <a:extLst>
                <a:ext uri="{FF2B5EF4-FFF2-40B4-BE49-F238E27FC236}">
                  <a16:creationId xmlns:a16="http://schemas.microsoft.com/office/drawing/2014/main" id="{C93AB16F-6B40-59FB-4A62-1CCA85A4E942}"/>
                </a:ext>
              </a:extLst>
            </p:cNvPr>
            <p:cNvCxnSpPr>
              <a:cxnSpLocks/>
            </p:cNvCxnSpPr>
            <p:nvPr/>
          </p:nvCxnSpPr>
          <p:spPr>
            <a:xfrm flipV="1">
              <a:off x="714348" y="5913009"/>
              <a:ext cx="3042262" cy="163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מחבר ישר 13">
            <a:extLst>
              <a:ext uri="{FF2B5EF4-FFF2-40B4-BE49-F238E27FC236}">
                <a16:creationId xmlns:a16="http://schemas.microsoft.com/office/drawing/2014/main" id="{004840D6-11B5-900B-4BE3-ABE54D5378DE}"/>
              </a:ext>
            </a:extLst>
          </p:cNvPr>
          <p:cNvCxnSpPr>
            <a:cxnSpLocks/>
          </p:cNvCxnSpPr>
          <p:nvPr/>
        </p:nvCxnSpPr>
        <p:spPr>
          <a:xfrm>
            <a:off x="1789126" y="4235241"/>
            <a:ext cx="3079478"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AB9FA2C8-DE32-76B1-5350-F9A052112C86}"/>
              </a:ext>
            </a:extLst>
          </p:cNvPr>
          <p:cNvCxnSpPr>
            <a:cxnSpLocks/>
          </p:cNvCxnSpPr>
          <p:nvPr/>
        </p:nvCxnSpPr>
        <p:spPr>
          <a:xfrm flipV="1">
            <a:off x="2433937" y="3603432"/>
            <a:ext cx="2177188" cy="14794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F55CA44-2AC7-E8FC-AAB3-C39B3BCAF3D4}"/>
              </a:ext>
            </a:extLst>
          </p:cNvPr>
          <p:cNvSpPr txBox="1"/>
          <p:nvPr/>
        </p:nvSpPr>
        <p:spPr>
          <a:xfrm>
            <a:off x="4523637" y="3362533"/>
            <a:ext cx="369012" cy="369332"/>
          </a:xfrm>
          <a:prstGeom prst="rect">
            <a:avLst/>
          </a:prstGeom>
          <a:noFill/>
        </p:spPr>
        <p:txBody>
          <a:bodyPr wrap="none" rtlCol="1">
            <a:spAutoFit/>
          </a:bodyPr>
          <a:lstStyle/>
          <a:p>
            <a:pPr algn="r" defTabSz="685800" rtl="1"/>
            <a:r>
              <a:rPr lang="en-US" dirty="0">
                <a:solidFill>
                  <a:prstClr val="black"/>
                </a:solidFill>
                <a:latin typeface="Calibri"/>
              </a:rPr>
              <a:t>S</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8041C358-AC0B-B9F9-3F1C-74D577CBB5E6}"/>
              </a:ext>
            </a:extLst>
          </p:cNvPr>
          <p:cNvSpPr txBox="1"/>
          <p:nvPr/>
        </p:nvSpPr>
        <p:spPr>
          <a:xfrm>
            <a:off x="4932490" y="4084645"/>
            <a:ext cx="380232" cy="338554"/>
          </a:xfrm>
          <a:prstGeom prst="rect">
            <a:avLst/>
          </a:prstGeom>
          <a:noFill/>
        </p:spPr>
        <p:txBody>
          <a:bodyPr wrap="none" rtlCol="1">
            <a:spAutoFit/>
          </a:bodyPr>
          <a:lstStyle/>
          <a:p>
            <a:pPr algn="r" defTabSz="685800" rtl="1"/>
            <a:r>
              <a:rPr lang="en-US" sz="1600" dirty="0">
                <a:solidFill>
                  <a:prstClr val="black"/>
                </a:solidFill>
                <a:latin typeface="Calibri"/>
              </a:rPr>
              <a:t>D</a:t>
            </a:r>
            <a:r>
              <a:rPr lang="en-US" sz="1600" baseline="-25000" dirty="0">
                <a:solidFill>
                  <a:prstClr val="black"/>
                </a:solidFill>
                <a:latin typeface="Calibri"/>
              </a:rPr>
              <a:t>0</a:t>
            </a:r>
            <a:endParaRPr lang="he-IL" sz="1600" baseline="-25000" dirty="0">
              <a:solidFill>
                <a:prstClr val="black"/>
              </a:solidFill>
              <a:latin typeface="Calibri"/>
              <a:cs typeface="Arial" panose="020B0604020202020204" pitchFamily="34" charset="0"/>
            </a:endParaRPr>
          </a:p>
        </p:txBody>
      </p:sp>
      <p:sp>
        <p:nvSpPr>
          <p:cNvPr id="19" name="TextBox 18">
            <a:extLst>
              <a:ext uri="{FF2B5EF4-FFF2-40B4-BE49-F238E27FC236}">
                <a16:creationId xmlns:a16="http://schemas.microsoft.com/office/drawing/2014/main" id="{3F889A96-D142-9487-14E1-193004847B2D}"/>
              </a:ext>
            </a:extLst>
          </p:cNvPr>
          <p:cNvSpPr txBox="1"/>
          <p:nvPr/>
        </p:nvSpPr>
        <p:spPr>
          <a:xfrm>
            <a:off x="1372557" y="2677909"/>
            <a:ext cx="274435" cy="300082"/>
          </a:xfrm>
          <a:prstGeom prst="rect">
            <a:avLst/>
          </a:prstGeom>
          <a:noFill/>
        </p:spPr>
        <p:txBody>
          <a:bodyPr wrap="none" rtlCol="1">
            <a:spAutoFit/>
          </a:bodyPr>
          <a:lstStyle/>
          <a:p>
            <a:pPr algn="r" defTabSz="685800" rtl="1"/>
            <a:r>
              <a:rPr lang="en-US" sz="1350" dirty="0">
                <a:solidFill>
                  <a:prstClr val="black"/>
                </a:solidFill>
                <a:latin typeface="Calibri"/>
              </a:rPr>
              <a:t>P</a:t>
            </a:r>
            <a:endParaRPr lang="he-IL" sz="1350" dirty="0">
              <a:solidFill>
                <a:prstClr val="black"/>
              </a:solidFill>
              <a:latin typeface="Calibri"/>
              <a:cs typeface="Arial" panose="020B0604020202020204" pitchFamily="34" charset="0"/>
            </a:endParaRPr>
          </a:p>
        </p:txBody>
      </p:sp>
      <p:cxnSp>
        <p:nvCxnSpPr>
          <p:cNvPr id="22" name="מחבר ישר 28">
            <a:extLst>
              <a:ext uri="{FF2B5EF4-FFF2-40B4-BE49-F238E27FC236}">
                <a16:creationId xmlns:a16="http://schemas.microsoft.com/office/drawing/2014/main" id="{53740F5F-5747-C1EE-0393-C6BFE6D9DAB8}"/>
              </a:ext>
            </a:extLst>
          </p:cNvPr>
          <p:cNvCxnSpPr>
            <a:cxnSpLocks/>
          </p:cNvCxnSpPr>
          <p:nvPr/>
        </p:nvCxnSpPr>
        <p:spPr>
          <a:xfrm flipV="1">
            <a:off x="2056695" y="3454808"/>
            <a:ext cx="2188448" cy="1515945"/>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F75C051-380F-ACC3-C0A0-F105157C3816}"/>
              </a:ext>
            </a:extLst>
          </p:cNvPr>
          <p:cNvSpPr txBox="1"/>
          <p:nvPr/>
        </p:nvSpPr>
        <p:spPr>
          <a:xfrm>
            <a:off x="4155893" y="3152880"/>
            <a:ext cx="348173" cy="338554"/>
          </a:xfrm>
          <a:prstGeom prst="rect">
            <a:avLst/>
          </a:prstGeom>
          <a:noFill/>
        </p:spPr>
        <p:txBody>
          <a:bodyPr wrap="none" rtlCol="1">
            <a:spAutoFit/>
          </a:bodyPr>
          <a:lstStyle/>
          <a:p>
            <a:pPr algn="r" defTabSz="685800" rtl="1"/>
            <a:r>
              <a:rPr lang="en-US" sz="1600" dirty="0">
                <a:solidFill>
                  <a:srgbClr val="0070C0"/>
                </a:solidFill>
                <a:latin typeface="Calibri"/>
              </a:rPr>
              <a:t>S</a:t>
            </a:r>
            <a:r>
              <a:rPr lang="en-US" sz="1600" baseline="-25000" dirty="0">
                <a:solidFill>
                  <a:srgbClr val="0070C0"/>
                </a:solidFill>
                <a:latin typeface="Calibri"/>
              </a:rPr>
              <a:t>1</a:t>
            </a:r>
            <a:endParaRPr lang="he-IL" sz="1600" baseline="-25000" dirty="0">
              <a:solidFill>
                <a:srgbClr val="0070C0"/>
              </a:solidFill>
              <a:latin typeface="Calibri"/>
              <a:cs typeface="Arial" panose="020B0604020202020204" pitchFamily="34" charset="0"/>
            </a:endParaRPr>
          </a:p>
        </p:txBody>
      </p:sp>
      <p:cxnSp>
        <p:nvCxnSpPr>
          <p:cNvPr id="24" name="מחבר ישר 31">
            <a:extLst>
              <a:ext uri="{FF2B5EF4-FFF2-40B4-BE49-F238E27FC236}">
                <a16:creationId xmlns:a16="http://schemas.microsoft.com/office/drawing/2014/main" id="{73DB73F5-26BE-3B7F-B47D-E087FE15EC40}"/>
              </a:ext>
            </a:extLst>
          </p:cNvPr>
          <p:cNvCxnSpPr>
            <a:cxnSpLocks/>
          </p:cNvCxnSpPr>
          <p:nvPr/>
        </p:nvCxnSpPr>
        <p:spPr>
          <a:xfrm flipH="1">
            <a:off x="3135534" y="4289563"/>
            <a:ext cx="4138" cy="1153361"/>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BC0E5DE-DE85-7DA4-EAFC-5E0048BEC8CC}"/>
              </a:ext>
            </a:extLst>
          </p:cNvPr>
          <p:cNvSpPr txBox="1"/>
          <p:nvPr/>
        </p:nvSpPr>
        <p:spPr>
          <a:xfrm>
            <a:off x="4594169" y="5180104"/>
            <a:ext cx="274435" cy="300082"/>
          </a:xfrm>
          <a:prstGeom prst="rect">
            <a:avLst/>
          </a:prstGeom>
          <a:noFill/>
        </p:spPr>
        <p:txBody>
          <a:bodyPr wrap="none" rtlCol="1">
            <a:spAutoFit/>
          </a:bodyPr>
          <a:lstStyle/>
          <a:p>
            <a:pPr algn="r" defTabSz="685800" rtl="1"/>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26" name="TextBox 25">
            <a:extLst>
              <a:ext uri="{FF2B5EF4-FFF2-40B4-BE49-F238E27FC236}">
                <a16:creationId xmlns:a16="http://schemas.microsoft.com/office/drawing/2014/main" id="{7408749B-1DDE-83AC-9307-F30919575CA0}"/>
              </a:ext>
            </a:extLst>
          </p:cNvPr>
          <p:cNvSpPr txBox="1"/>
          <p:nvPr/>
        </p:nvSpPr>
        <p:spPr>
          <a:xfrm>
            <a:off x="3533230" y="5429438"/>
            <a:ext cx="774806" cy="420628"/>
          </a:xfrm>
          <a:prstGeom prst="rect">
            <a:avLst/>
          </a:prstGeom>
          <a:noFill/>
        </p:spPr>
        <p:txBody>
          <a:bodyPr wrap="square" rtlCol="1">
            <a:spAutoFit/>
          </a:bodyPr>
          <a:lstStyle/>
          <a:p>
            <a:pPr defTabSz="685800"/>
            <a:r>
              <a:rPr lang="en-US" sz="3200" baseline="-25000" dirty="0">
                <a:solidFill>
                  <a:srgbClr val="7030A0"/>
                </a:solidFill>
                <a:latin typeface="Calibri"/>
              </a:rPr>
              <a:t>X</a:t>
            </a:r>
            <a:r>
              <a:rPr lang="en-US" sz="2700" baseline="-25000" dirty="0">
                <a:solidFill>
                  <a:srgbClr val="7030A0"/>
                </a:solidFill>
                <a:latin typeface="Calibri"/>
              </a:rPr>
              <a:t>0</a:t>
            </a:r>
            <a:endParaRPr lang="he-IL" sz="2700" baseline="-25000" dirty="0">
              <a:solidFill>
                <a:srgbClr val="7030A0"/>
              </a:solidFill>
              <a:latin typeface="Calibri"/>
              <a:cs typeface="Arial" panose="020B0604020202020204" pitchFamily="34" charset="0"/>
            </a:endParaRPr>
          </a:p>
        </p:txBody>
      </p:sp>
      <p:sp>
        <p:nvSpPr>
          <p:cNvPr id="27" name="TextBox 26">
            <a:extLst>
              <a:ext uri="{FF2B5EF4-FFF2-40B4-BE49-F238E27FC236}">
                <a16:creationId xmlns:a16="http://schemas.microsoft.com/office/drawing/2014/main" id="{B9BF21F0-7107-8886-C86B-AB769B4C74D6}"/>
              </a:ext>
            </a:extLst>
          </p:cNvPr>
          <p:cNvSpPr txBox="1"/>
          <p:nvPr/>
        </p:nvSpPr>
        <p:spPr>
          <a:xfrm>
            <a:off x="1197003" y="4392085"/>
            <a:ext cx="595036" cy="338554"/>
          </a:xfrm>
          <a:prstGeom prst="rect">
            <a:avLst/>
          </a:prstGeom>
          <a:noFill/>
        </p:spPr>
        <p:txBody>
          <a:bodyPr wrap="none" rtlCol="1">
            <a:spAutoFit/>
          </a:bodyPr>
          <a:lstStyle/>
          <a:p>
            <a:pPr algn="r" defTabSz="685800" rtl="1"/>
            <a:r>
              <a:rPr lang="he-IL" sz="1600" dirty="0">
                <a:solidFill>
                  <a:srgbClr val="9BBB59">
                    <a:lumMod val="50000"/>
                  </a:srgbClr>
                </a:solidFill>
                <a:latin typeface="Calibri"/>
                <a:cs typeface="Arial" panose="020B0604020202020204" pitchFamily="34" charset="0"/>
              </a:rPr>
              <a:t>יצר</a:t>
            </a:r>
            <a:r>
              <a:rPr lang="he-IL" sz="1600" dirty="0">
                <a:solidFill>
                  <a:srgbClr val="7030A0"/>
                </a:solidFill>
                <a:latin typeface="Calibri"/>
                <a:cs typeface="Arial" panose="020B0604020202020204" pitchFamily="34" charset="0"/>
              </a:rPr>
              <a:t>ן</a:t>
            </a:r>
            <a:r>
              <a:rPr lang="en-US" sz="1600" dirty="0">
                <a:solidFill>
                  <a:prstClr val="black"/>
                </a:solidFill>
                <a:latin typeface="Calibri"/>
              </a:rPr>
              <a:t>P</a:t>
            </a:r>
            <a:endParaRPr lang="he-IL" sz="1600" dirty="0">
              <a:solidFill>
                <a:prstClr val="black"/>
              </a:solidFill>
              <a:latin typeface="Calibri"/>
              <a:cs typeface="Arial" panose="020B0604020202020204" pitchFamily="34" charset="0"/>
            </a:endParaRPr>
          </a:p>
        </p:txBody>
      </p:sp>
      <p:sp>
        <p:nvSpPr>
          <p:cNvPr id="28" name="TextBox 27">
            <a:extLst>
              <a:ext uri="{FF2B5EF4-FFF2-40B4-BE49-F238E27FC236}">
                <a16:creationId xmlns:a16="http://schemas.microsoft.com/office/drawing/2014/main" id="{2AFCCFAE-1D63-69FE-A680-6B3B4E451806}"/>
              </a:ext>
            </a:extLst>
          </p:cNvPr>
          <p:cNvSpPr txBox="1"/>
          <p:nvPr/>
        </p:nvSpPr>
        <p:spPr>
          <a:xfrm>
            <a:off x="758421" y="4023189"/>
            <a:ext cx="968535" cy="338554"/>
          </a:xfrm>
          <a:prstGeom prst="rect">
            <a:avLst/>
          </a:prstGeom>
          <a:noFill/>
        </p:spPr>
        <p:txBody>
          <a:bodyPr wrap="none" rtlCol="1">
            <a:spAutoFit/>
          </a:bodyPr>
          <a:lstStyle/>
          <a:p>
            <a:pPr algn="r" defTabSz="685800" rtl="1"/>
            <a:r>
              <a:rPr lang="he-IL" sz="1600" dirty="0">
                <a:solidFill>
                  <a:prstClr val="black"/>
                </a:solidFill>
                <a:latin typeface="Calibri"/>
                <a:cs typeface="Arial" panose="020B0604020202020204" pitchFamily="34" charset="0"/>
              </a:rPr>
              <a:t>צרכן</a:t>
            </a:r>
            <a:r>
              <a:rPr lang="en-US" sz="1600" dirty="0">
                <a:solidFill>
                  <a:prstClr val="black"/>
                </a:solidFill>
                <a:latin typeface="Calibri"/>
              </a:rPr>
              <a:t>P</a:t>
            </a:r>
            <a:r>
              <a:rPr lang="he-IL" sz="1600" dirty="0">
                <a:solidFill>
                  <a:prstClr val="black"/>
                </a:solidFill>
                <a:latin typeface="Calibri"/>
                <a:cs typeface="Arial" panose="020B0604020202020204" pitchFamily="34" charset="0"/>
              </a:rPr>
              <a:t>=</a:t>
            </a:r>
            <a:r>
              <a:rPr lang="en-US" sz="1600" dirty="0">
                <a:solidFill>
                  <a:prstClr val="black"/>
                </a:solidFill>
                <a:latin typeface="Calibri"/>
              </a:rPr>
              <a:t>P0</a:t>
            </a:r>
            <a:endParaRPr lang="he-IL" sz="1600" dirty="0">
              <a:solidFill>
                <a:prstClr val="black"/>
              </a:solidFill>
              <a:latin typeface="Calibri"/>
              <a:cs typeface="Arial" panose="020B0604020202020204" pitchFamily="34" charset="0"/>
            </a:endParaRPr>
          </a:p>
        </p:txBody>
      </p:sp>
      <p:sp>
        <p:nvSpPr>
          <p:cNvPr id="33" name="Oval 32">
            <a:extLst>
              <a:ext uri="{FF2B5EF4-FFF2-40B4-BE49-F238E27FC236}">
                <a16:creationId xmlns:a16="http://schemas.microsoft.com/office/drawing/2014/main" id="{C2281DB7-45D1-3AD4-A606-31CA37D2F230}"/>
              </a:ext>
            </a:extLst>
          </p:cNvPr>
          <p:cNvSpPr/>
          <p:nvPr/>
        </p:nvSpPr>
        <p:spPr>
          <a:xfrm>
            <a:off x="3573127" y="4171661"/>
            <a:ext cx="239363" cy="19008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rtl="1"/>
            <a:r>
              <a:rPr lang="en-US" sz="1350" dirty="0">
                <a:solidFill>
                  <a:prstClr val="white"/>
                </a:solidFill>
                <a:latin typeface="Calibri"/>
              </a:rPr>
              <a:t>A</a:t>
            </a:r>
            <a:endParaRPr lang="en-IL" sz="1350" dirty="0">
              <a:solidFill>
                <a:prstClr val="white"/>
              </a:solidFill>
              <a:latin typeface="Calibri"/>
            </a:endParaRPr>
          </a:p>
        </p:txBody>
      </p:sp>
      <p:sp>
        <p:nvSpPr>
          <p:cNvPr id="34" name="Oval 33">
            <a:extLst>
              <a:ext uri="{FF2B5EF4-FFF2-40B4-BE49-F238E27FC236}">
                <a16:creationId xmlns:a16="http://schemas.microsoft.com/office/drawing/2014/main" id="{74D6BAB8-A93A-EB8F-274F-806B119D6DF5}"/>
              </a:ext>
            </a:extLst>
          </p:cNvPr>
          <p:cNvSpPr/>
          <p:nvPr/>
        </p:nvSpPr>
        <p:spPr>
          <a:xfrm>
            <a:off x="3025462" y="4128104"/>
            <a:ext cx="239363" cy="19008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685800" rtl="1"/>
            <a:r>
              <a:rPr lang="en-US" sz="1350" dirty="0">
                <a:solidFill>
                  <a:prstClr val="white"/>
                </a:solidFill>
                <a:latin typeface="Calibri"/>
              </a:rPr>
              <a:t>B</a:t>
            </a:r>
            <a:endParaRPr lang="en-IL" sz="1350" dirty="0">
              <a:solidFill>
                <a:prstClr val="white"/>
              </a:solidFill>
              <a:latin typeface="Calibri"/>
            </a:endParaRPr>
          </a:p>
        </p:txBody>
      </p:sp>
      <p:sp>
        <p:nvSpPr>
          <p:cNvPr id="8" name="TextBox 25">
            <a:extLst>
              <a:ext uri="{FF2B5EF4-FFF2-40B4-BE49-F238E27FC236}">
                <a16:creationId xmlns:a16="http://schemas.microsoft.com/office/drawing/2014/main" id="{454FA7FC-6771-B235-034A-549A41645AD0}"/>
              </a:ext>
            </a:extLst>
          </p:cNvPr>
          <p:cNvSpPr txBox="1"/>
          <p:nvPr/>
        </p:nvSpPr>
        <p:spPr>
          <a:xfrm>
            <a:off x="2984358" y="5442924"/>
            <a:ext cx="433242" cy="379591"/>
          </a:xfrm>
          <a:prstGeom prst="rect">
            <a:avLst/>
          </a:prstGeom>
          <a:noFill/>
        </p:spPr>
        <p:txBody>
          <a:bodyPr wrap="square" rtlCol="1">
            <a:spAutoFit/>
          </a:bodyPr>
          <a:lstStyle/>
          <a:p>
            <a:pPr defTabSz="685800"/>
            <a:r>
              <a:rPr lang="en-US" sz="2800" baseline="-25000" dirty="0">
                <a:solidFill>
                  <a:srgbClr val="7030A0"/>
                </a:solidFill>
                <a:latin typeface="Calibri"/>
              </a:rPr>
              <a:t>X</a:t>
            </a:r>
            <a:r>
              <a:rPr lang="en-US" sz="2700" baseline="-25000" dirty="0">
                <a:solidFill>
                  <a:srgbClr val="7030A0"/>
                </a:solidFill>
                <a:latin typeface="Calibri"/>
              </a:rPr>
              <a:t>1</a:t>
            </a:r>
            <a:endParaRPr lang="he-IL" sz="2700" baseline="-25000" dirty="0">
              <a:solidFill>
                <a:srgbClr val="7030A0"/>
              </a:solidFill>
              <a:latin typeface="Calibri"/>
              <a:cs typeface="Arial" panose="020B0604020202020204" pitchFamily="34" charset="0"/>
            </a:endParaRPr>
          </a:p>
        </p:txBody>
      </p:sp>
      <p:cxnSp>
        <p:nvCxnSpPr>
          <p:cNvPr id="20" name="מחבר ישר 31">
            <a:extLst>
              <a:ext uri="{FF2B5EF4-FFF2-40B4-BE49-F238E27FC236}">
                <a16:creationId xmlns:a16="http://schemas.microsoft.com/office/drawing/2014/main" id="{95B6C62A-F13E-286F-57A5-73D0744EA277}"/>
              </a:ext>
            </a:extLst>
          </p:cNvPr>
          <p:cNvCxnSpPr>
            <a:cxnSpLocks/>
          </p:cNvCxnSpPr>
          <p:nvPr/>
        </p:nvCxnSpPr>
        <p:spPr>
          <a:xfrm flipH="1">
            <a:off x="3694142" y="4342379"/>
            <a:ext cx="4138" cy="11533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מחבר ישר 31">
            <a:extLst>
              <a:ext uri="{FF2B5EF4-FFF2-40B4-BE49-F238E27FC236}">
                <a16:creationId xmlns:a16="http://schemas.microsoft.com/office/drawing/2014/main" id="{AFED68A6-752E-AD75-17F9-F4075053C612}"/>
              </a:ext>
            </a:extLst>
          </p:cNvPr>
          <p:cNvCxnSpPr>
            <a:cxnSpLocks/>
            <a:endCxn id="27" idx="3"/>
          </p:cNvCxnSpPr>
          <p:nvPr/>
        </p:nvCxnSpPr>
        <p:spPr>
          <a:xfrm flipH="1" flipV="1">
            <a:off x="1792039" y="4561362"/>
            <a:ext cx="1358778" cy="33963"/>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 name="TextBox 8">
            <a:extLst>
              <a:ext uri="{FF2B5EF4-FFF2-40B4-BE49-F238E27FC236}">
                <a16:creationId xmlns:a16="http://schemas.microsoft.com/office/drawing/2014/main" id="{E8E401C5-706C-7679-B039-6D1CA22406AA}"/>
              </a:ext>
            </a:extLst>
          </p:cNvPr>
          <p:cNvSpPr txBox="1"/>
          <p:nvPr/>
        </p:nvSpPr>
        <p:spPr>
          <a:xfrm>
            <a:off x="292779" y="559070"/>
            <a:ext cx="7012803" cy="791179"/>
          </a:xfrm>
          <a:prstGeom prst="rect">
            <a:avLst/>
          </a:prstGeom>
          <a:noFill/>
        </p:spPr>
        <p:txBody>
          <a:bodyPr wrap="square" rtlCol="0">
            <a:spAutoFit/>
          </a:bodyPr>
          <a:lstStyle/>
          <a:p>
            <a:pPr algn="r" defTabSz="685800" rtl="1">
              <a:lnSpc>
                <a:spcPct val="150000"/>
              </a:lnSpc>
            </a:pPr>
            <a:r>
              <a:rPr lang="he-IL" sz="1600" dirty="0">
                <a:solidFill>
                  <a:prstClr val="black"/>
                </a:solidFill>
                <a:latin typeface="Calibri"/>
                <a:cs typeface="Arial" panose="020B0604020202020204" pitchFamily="34" charset="0"/>
              </a:rPr>
              <a:t>תארו מה יקרה למחיר לצרכן, מחיר ליצרן ולכמות המיוצרת בשוק בעקבות הטלת מס בסכום קבוע על היצרנים אם ידוע שהביקוש של הצרכנים הינו גמיש לחלוטין. </a:t>
            </a:r>
            <a:endParaRPr lang="en-IL" sz="1600" dirty="0">
              <a:solidFill>
                <a:prstClr val="black"/>
              </a:solidFill>
              <a:latin typeface="Calibri"/>
            </a:endParaRPr>
          </a:p>
        </p:txBody>
      </p:sp>
    </p:spTree>
    <p:extLst>
      <p:ext uri="{BB962C8B-B14F-4D97-AF65-F5344CB8AC3E}">
        <p14:creationId xmlns:p14="http://schemas.microsoft.com/office/powerpoint/2010/main" val="69101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par>
                                <p:cTn id="13" presetID="2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down)">
                                      <p:cBhvr>
                                        <p:cTn id="15" dur="500"/>
                                        <p:tgtEl>
                                          <p:spTgt spid="2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down)">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down)">
                                      <p:cBhvr>
                                        <p:cTn id="3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28" grpId="0"/>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6212271" y="381000"/>
            <a:ext cx="2745171" cy="400132"/>
          </a:xfrm>
        </p:spPr>
        <p:txBody>
          <a:bodyPr>
            <a:normAutofit fontScale="90000"/>
          </a:bodyPr>
          <a:lstStyle/>
          <a:p>
            <a:pPr algn="r" rtl="1"/>
            <a:r>
              <a:rPr lang="he-IL" dirty="0"/>
              <a:t>שאלת בחינה 1</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762000" y="990600"/>
            <a:ext cx="8018737" cy="1064173"/>
          </a:xfrm>
        </p:spPr>
        <p:txBody>
          <a:bodyPr>
            <a:normAutofit/>
          </a:bodyPr>
          <a:lstStyle/>
          <a:p>
            <a:pPr marL="0" indent="0">
              <a:lnSpc>
                <a:spcPct val="150000"/>
              </a:lnSpc>
              <a:buNone/>
            </a:pPr>
            <a:r>
              <a:rPr lang="he-IL" sz="1350" b="1" dirty="0">
                <a:latin typeface="Times New Roman" panose="02020603050405020304" pitchFamily="18" charset="0"/>
                <a:ea typeface="Times New Roman" panose="02020603050405020304" pitchFamily="18" charset="0"/>
              </a:rPr>
              <a:t>שוק התפוזים נמצא בשיווי משקל בו הכמות הנמכרת של תפוזים הינה 100 ק"ג והמחיר הינו 10 ש"ח לק"ג. ידוע שאם מחיר התפוזים היה 12 ש"ח לק"ג בשוק היה עודף היצע של 20 ק"ג. לשוק הגיעו צרכנים נוספים המוכנים לרכוש 20 ק"ג תפוזים בכל מחיר. לאור זאת בנקודת שיווי המשקל החדשה:</a:t>
            </a:r>
            <a:endParaRPr lang="en-IL" sz="1350" dirty="0">
              <a:latin typeface="Times New Roman" panose="02020603050405020304" pitchFamily="18" charset="0"/>
              <a:ea typeface="Times New Roman" panose="02020603050405020304" pitchFamily="18" charset="0"/>
            </a:endParaRPr>
          </a:p>
          <a:p>
            <a:pPr marL="257175" indent="-257175">
              <a:lnSpc>
                <a:spcPct val="150000"/>
              </a:lnSpc>
              <a:buFont typeface="+mj-lt"/>
              <a:buAutoNum type="arabicPeriod"/>
            </a:pPr>
            <a:endParaRPr lang="en-IL" sz="1350" dirty="0">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569DE6C1-2450-418E-ADED-871DC08FB35B}"/>
              </a:ext>
            </a:extLst>
          </p:cNvPr>
          <p:cNvSpPr txBox="1"/>
          <p:nvPr/>
        </p:nvSpPr>
        <p:spPr>
          <a:xfrm>
            <a:off x="2794275" y="1981200"/>
            <a:ext cx="5986462" cy="1924501"/>
          </a:xfrm>
          <a:prstGeom prst="rect">
            <a:avLst/>
          </a:prstGeom>
          <a:noFill/>
        </p:spPr>
        <p:txBody>
          <a:bodyPr wrap="square">
            <a:spAutoFit/>
          </a:bodyPr>
          <a:lstStyle/>
          <a:p>
            <a:pPr algn="r" defTabSz="685800" rtl="1">
              <a:lnSpc>
                <a:spcPct val="150000"/>
              </a:lnSpc>
            </a:pPr>
            <a:r>
              <a:rPr lang="he-IL" sz="1350" b="1"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 </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בדיוק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350" dirty="0">
              <a:solidFill>
                <a:prstClr val="black"/>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4471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494EE-F673-5036-0509-D799863495BC}"/>
              </a:ext>
            </a:extLst>
          </p:cNvPr>
          <p:cNvSpPr>
            <a:spLocks noGrp="1"/>
          </p:cNvSpPr>
          <p:nvPr>
            <p:ph type="title"/>
          </p:nvPr>
        </p:nvSpPr>
        <p:spPr>
          <a:xfrm>
            <a:off x="6809305" y="429832"/>
            <a:ext cx="2152394" cy="400132"/>
          </a:xfrm>
        </p:spPr>
        <p:txBody>
          <a:bodyPr>
            <a:normAutofit fontScale="90000"/>
          </a:bodyPr>
          <a:lstStyle/>
          <a:p>
            <a:pPr algn="r" rtl="1"/>
            <a:r>
              <a:rPr lang="he-IL" dirty="0"/>
              <a:t>שאלת בחינה 1</a:t>
            </a:r>
            <a:endParaRPr lang="en-IL" dirty="0"/>
          </a:p>
        </p:txBody>
      </p:sp>
      <p:sp>
        <p:nvSpPr>
          <p:cNvPr id="3" name="Content Placeholder 2">
            <a:extLst>
              <a:ext uri="{FF2B5EF4-FFF2-40B4-BE49-F238E27FC236}">
                <a16:creationId xmlns:a16="http://schemas.microsoft.com/office/drawing/2014/main" id="{411A47A3-6F71-89A9-0418-E7097145D628}"/>
              </a:ext>
            </a:extLst>
          </p:cNvPr>
          <p:cNvSpPr>
            <a:spLocks noGrp="1"/>
          </p:cNvSpPr>
          <p:nvPr>
            <p:ph idx="1"/>
          </p:nvPr>
        </p:nvSpPr>
        <p:spPr>
          <a:xfrm>
            <a:off x="186048" y="418873"/>
            <a:ext cx="6594420" cy="1064173"/>
          </a:xfrm>
        </p:spPr>
        <p:txBody>
          <a:bodyPr>
            <a:normAutofit fontScale="92500"/>
          </a:bodyPr>
          <a:lstStyle/>
          <a:p>
            <a:pPr marL="0" indent="0">
              <a:lnSpc>
                <a:spcPct val="150000"/>
              </a:lnSpc>
              <a:buNone/>
            </a:pPr>
            <a:r>
              <a:rPr lang="he-IL" sz="1350" b="1" dirty="0">
                <a:latin typeface="Times New Roman" panose="02020603050405020304" pitchFamily="18" charset="0"/>
                <a:ea typeface="Times New Roman" panose="02020603050405020304" pitchFamily="18" charset="0"/>
              </a:rPr>
              <a:t>שוק התפוזים נמצא בשיווי משקל בו הכמות הנמכרת של תפוזים הינה 100 ק"ג והמחיר הינו 10 ש"ח לק"ג. ידוע שאם מחיר התפוזים היה 12 ש"ח לק"ג בשוק היה עודף היצע של 20 ק"ג. לשוק הגיעו צרכנים נוספים המוכנים לרכוש 20 ק"ג תפוזים בכל מחיר. לאור זאת בנקודת שיווי המשקל החדשה:</a:t>
            </a:r>
            <a:endParaRPr lang="en-IL" sz="1350" dirty="0">
              <a:latin typeface="Times New Roman" panose="02020603050405020304" pitchFamily="18" charset="0"/>
              <a:ea typeface="Times New Roman" panose="02020603050405020304" pitchFamily="18" charset="0"/>
            </a:endParaRPr>
          </a:p>
          <a:p>
            <a:pPr marL="257175" indent="-257175">
              <a:lnSpc>
                <a:spcPct val="150000"/>
              </a:lnSpc>
              <a:buFont typeface="+mj-lt"/>
              <a:buAutoNum type="arabicPeriod"/>
            </a:pPr>
            <a:endParaRPr lang="en-IL" sz="1350" dirty="0">
              <a:latin typeface="Times New Roman" panose="02020603050405020304" pitchFamily="18" charset="0"/>
              <a:ea typeface="Times New Roman" panose="02020603050405020304" pitchFamily="18" charset="0"/>
            </a:endParaRPr>
          </a:p>
        </p:txBody>
      </p:sp>
      <p:cxnSp>
        <p:nvCxnSpPr>
          <p:cNvPr id="4" name="מחבר ישר 42">
            <a:extLst>
              <a:ext uri="{FF2B5EF4-FFF2-40B4-BE49-F238E27FC236}">
                <a16:creationId xmlns:a16="http://schemas.microsoft.com/office/drawing/2014/main" id="{23362E83-2C69-E762-12CC-280A0120EBE7}"/>
              </a:ext>
            </a:extLst>
          </p:cNvPr>
          <p:cNvCxnSpPr>
            <a:cxnSpLocks/>
          </p:cNvCxnSpPr>
          <p:nvPr/>
        </p:nvCxnSpPr>
        <p:spPr>
          <a:xfrm flipH="1">
            <a:off x="1384550" y="3038606"/>
            <a:ext cx="1079" cy="2104196"/>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מחבר ישר 54">
            <a:extLst>
              <a:ext uri="{FF2B5EF4-FFF2-40B4-BE49-F238E27FC236}">
                <a16:creationId xmlns:a16="http://schemas.microsoft.com/office/drawing/2014/main" id="{F66A1C91-CEAE-E08D-0B84-8B19CBCBC708}"/>
              </a:ext>
            </a:extLst>
          </p:cNvPr>
          <p:cNvCxnSpPr>
            <a:cxnSpLocks/>
          </p:cNvCxnSpPr>
          <p:nvPr/>
        </p:nvCxnSpPr>
        <p:spPr>
          <a:xfrm>
            <a:off x="1385145" y="5142207"/>
            <a:ext cx="2308705" cy="2321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259E6FD-E4ED-4537-782A-91048B8C7601}"/>
              </a:ext>
            </a:extLst>
          </p:cNvPr>
          <p:cNvCxnSpPr>
            <a:cxnSpLocks/>
          </p:cNvCxnSpPr>
          <p:nvPr/>
        </p:nvCxnSpPr>
        <p:spPr>
          <a:xfrm flipV="1">
            <a:off x="1567201" y="3331714"/>
            <a:ext cx="1792634" cy="142496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D706DFA-EBEC-CA85-A84B-0DC86F264DF5}"/>
              </a:ext>
            </a:extLst>
          </p:cNvPr>
          <p:cNvSpPr/>
          <p:nvPr/>
        </p:nvSpPr>
        <p:spPr>
          <a:xfrm>
            <a:off x="2214692" y="3984291"/>
            <a:ext cx="367385" cy="2839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1"/>
            <a:r>
              <a:rPr lang="en-US" sz="1350" dirty="0">
                <a:solidFill>
                  <a:prstClr val="white"/>
                </a:solidFill>
                <a:latin typeface="Calibri" panose="020F0502020204030204"/>
              </a:rPr>
              <a:t>A</a:t>
            </a:r>
          </a:p>
        </p:txBody>
      </p:sp>
      <p:cxnSp>
        <p:nvCxnSpPr>
          <p:cNvPr id="9" name="Straight Connector 8">
            <a:extLst>
              <a:ext uri="{FF2B5EF4-FFF2-40B4-BE49-F238E27FC236}">
                <a16:creationId xmlns:a16="http://schemas.microsoft.com/office/drawing/2014/main" id="{0DA4E2E6-FA0C-451C-0AA3-D8BB2B1D581B}"/>
              </a:ext>
            </a:extLst>
          </p:cNvPr>
          <p:cNvCxnSpPr>
            <a:cxnSpLocks/>
          </p:cNvCxnSpPr>
          <p:nvPr/>
        </p:nvCxnSpPr>
        <p:spPr>
          <a:xfrm flipH="1" flipV="1">
            <a:off x="1498284" y="3179869"/>
            <a:ext cx="1642691" cy="180744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8B8CF36-3153-BBEB-DBED-5D50BB3A5162}"/>
              </a:ext>
            </a:extLst>
          </p:cNvPr>
          <p:cNvSpPr txBox="1"/>
          <p:nvPr/>
        </p:nvSpPr>
        <p:spPr>
          <a:xfrm>
            <a:off x="3324400" y="3108425"/>
            <a:ext cx="317716" cy="300082"/>
          </a:xfrm>
          <a:prstGeom prst="rect">
            <a:avLst/>
          </a:prstGeom>
          <a:noFill/>
        </p:spPr>
        <p:txBody>
          <a:bodyPr wrap="none" rtlCol="0">
            <a:spAutoFit/>
          </a:bodyPr>
          <a:lstStyle/>
          <a:p>
            <a:pPr algn="r" defTabSz="685800" rtl="1"/>
            <a:r>
              <a:rPr lang="en-US" sz="1350" dirty="0">
                <a:solidFill>
                  <a:prstClr val="black"/>
                </a:solidFill>
                <a:latin typeface="Calibri" panose="020F0502020204030204"/>
              </a:rPr>
              <a:t>S</a:t>
            </a:r>
            <a:r>
              <a:rPr lang="en-US" sz="825" dirty="0">
                <a:solidFill>
                  <a:prstClr val="black"/>
                </a:solidFill>
                <a:latin typeface="Calibri" panose="020F0502020204030204"/>
              </a:rPr>
              <a:t>0</a:t>
            </a:r>
          </a:p>
        </p:txBody>
      </p:sp>
      <p:sp>
        <p:nvSpPr>
          <p:cNvPr id="11" name="TextBox 10">
            <a:extLst>
              <a:ext uri="{FF2B5EF4-FFF2-40B4-BE49-F238E27FC236}">
                <a16:creationId xmlns:a16="http://schemas.microsoft.com/office/drawing/2014/main" id="{39F375EB-A102-AB7C-3DDE-5E70149203EF}"/>
              </a:ext>
            </a:extLst>
          </p:cNvPr>
          <p:cNvSpPr txBox="1"/>
          <p:nvPr/>
        </p:nvSpPr>
        <p:spPr>
          <a:xfrm>
            <a:off x="3000441" y="4926259"/>
            <a:ext cx="359393" cy="307777"/>
          </a:xfrm>
          <a:prstGeom prst="rect">
            <a:avLst/>
          </a:prstGeom>
          <a:noFill/>
        </p:spPr>
        <p:txBody>
          <a:bodyPr wrap="none" rtlCol="0">
            <a:spAutoFit/>
          </a:bodyPr>
          <a:lstStyle/>
          <a:p>
            <a:pPr algn="r" defTabSz="685800" rtl="1"/>
            <a:r>
              <a:rPr lang="he-IL" sz="900" dirty="0">
                <a:solidFill>
                  <a:prstClr val="black"/>
                </a:solidFill>
                <a:latin typeface="Calibri" panose="020F0502020204030204"/>
                <a:cs typeface="Arial" panose="020B0604020202020204" pitchFamily="34" charset="0"/>
              </a:rPr>
              <a:t>0</a:t>
            </a:r>
            <a:r>
              <a:rPr lang="en-US" sz="1400" dirty="0">
                <a:solidFill>
                  <a:prstClr val="black"/>
                </a:solidFill>
              </a:rPr>
              <a:t>D</a:t>
            </a:r>
            <a:endParaRPr lang="en-US" sz="1350" dirty="0">
              <a:solidFill>
                <a:prstClr val="black"/>
              </a:solidFill>
              <a:latin typeface="Calibri" panose="020F0502020204030204"/>
            </a:endParaRPr>
          </a:p>
        </p:txBody>
      </p:sp>
      <p:sp>
        <p:nvSpPr>
          <p:cNvPr id="12" name="TextBox 11">
            <a:extLst>
              <a:ext uri="{FF2B5EF4-FFF2-40B4-BE49-F238E27FC236}">
                <a16:creationId xmlns:a16="http://schemas.microsoft.com/office/drawing/2014/main" id="{D5C6EAF3-0D22-3037-7A6A-3F8376194FC4}"/>
              </a:ext>
            </a:extLst>
          </p:cNvPr>
          <p:cNvSpPr txBox="1"/>
          <p:nvPr/>
        </p:nvSpPr>
        <p:spPr>
          <a:xfrm flipH="1">
            <a:off x="3798786" y="5113202"/>
            <a:ext cx="187091" cy="300082"/>
          </a:xfrm>
          <a:prstGeom prst="rect">
            <a:avLst/>
          </a:prstGeom>
          <a:noFill/>
        </p:spPr>
        <p:txBody>
          <a:bodyPr wrap="square" rtlCol="0">
            <a:spAutoFit/>
          </a:bodyPr>
          <a:lstStyle/>
          <a:p>
            <a:pPr algn="r" defTabSz="685800" rtl="1"/>
            <a:r>
              <a:rPr lang="en-US" sz="1350" dirty="0">
                <a:solidFill>
                  <a:prstClr val="black"/>
                </a:solidFill>
                <a:latin typeface="Calibri" panose="020F0502020204030204"/>
              </a:rPr>
              <a:t>X</a:t>
            </a:r>
          </a:p>
        </p:txBody>
      </p:sp>
      <p:sp>
        <p:nvSpPr>
          <p:cNvPr id="13" name="TextBox 12">
            <a:extLst>
              <a:ext uri="{FF2B5EF4-FFF2-40B4-BE49-F238E27FC236}">
                <a16:creationId xmlns:a16="http://schemas.microsoft.com/office/drawing/2014/main" id="{C08E06E2-8798-9943-ACE3-27288D9BB86D}"/>
              </a:ext>
            </a:extLst>
          </p:cNvPr>
          <p:cNvSpPr txBox="1"/>
          <p:nvPr/>
        </p:nvSpPr>
        <p:spPr>
          <a:xfrm flipH="1">
            <a:off x="1127118" y="2833485"/>
            <a:ext cx="198939" cy="300082"/>
          </a:xfrm>
          <a:prstGeom prst="rect">
            <a:avLst/>
          </a:prstGeom>
          <a:noFill/>
        </p:spPr>
        <p:txBody>
          <a:bodyPr wrap="square" rtlCol="0">
            <a:spAutoFit/>
          </a:bodyPr>
          <a:lstStyle/>
          <a:p>
            <a:pPr algn="r" defTabSz="685800" rtl="1"/>
            <a:r>
              <a:rPr lang="en-US" sz="1350" dirty="0">
                <a:solidFill>
                  <a:prstClr val="black"/>
                </a:solidFill>
                <a:latin typeface="Calibri" panose="020F0502020204030204"/>
              </a:rPr>
              <a:t>P</a:t>
            </a:r>
          </a:p>
        </p:txBody>
      </p:sp>
      <p:cxnSp>
        <p:nvCxnSpPr>
          <p:cNvPr id="14" name="Straight Connector 13">
            <a:extLst>
              <a:ext uri="{FF2B5EF4-FFF2-40B4-BE49-F238E27FC236}">
                <a16:creationId xmlns:a16="http://schemas.microsoft.com/office/drawing/2014/main" id="{F6C25A79-6385-ADC5-CD91-F92145F05CCA}"/>
              </a:ext>
            </a:extLst>
          </p:cNvPr>
          <p:cNvCxnSpPr>
            <a:cxnSpLocks/>
            <a:endCxn id="15" idx="3"/>
          </p:cNvCxnSpPr>
          <p:nvPr/>
        </p:nvCxnSpPr>
        <p:spPr>
          <a:xfrm flipH="1">
            <a:off x="1436827" y="4090221"/>
            <a:ext cx="787988" cy="2802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F65FC36-A2EA-4E32-A7F5-CB75224185CE}"/>
              </a:ext>
            </a:extLst>
          </p:cNvPr>
          <p:cNvSpPr txBox="1"/>
          <p:nvPr/>
        </p:nvSpPr>
        <p:spPr>
          <a:xfrm>
            <a:off x="931559" y="3968202"/>
            <a:ext cx="505268" cy="300082"/>
          </a:xfrm>
          <a:prstGeom prst="rect">
            <a:avLst/>
          </a:prstGeom>
          <a:noFill/>
        </p:spPr>
        <p:txBody>
          <a:bodyPr wrap="none" rtlCol="0">
            <a:spAutoFit/>
          </a:bodyPr>
          <a:lstStyle/>
          <a:p>
            <a:pPr algn="r" defTabSz="685800" rtl="1"/>
            <a:r>
              <a:rPr lang="en-US" sz="1350" dirty="0">
                <a:solidFill>
                  <a:prstClr val="black"/>
                </a:solidFill>
                <a:latin typeface="Calibri" panose="020F0502020204030204"/>
              </a:rPr>
              <a:t>P</a:t>
            </a:r>
            <a:r>
              <a:rPr lang="en-US" sz="900" dirty="0">
                <a:solidFill>
                  <a:prstClr val="black"/>
                </a:solidFill>
                <a:latin typeface="Calibri" panose="020F0502020204030204"/>
              </a:rPr>
              <a:t>0=10</a:t>
            </a:r>
            <a:endParaRPr lang="en-US" sz="1350" dirty="0">
              <a:solidFill>
                <a:prstClr val="black"/>
              </a:solidFill>
              <a:latin typeface="Calibri" panose="020F0502020204030204"/>
            </a:endParaRPr>
          </a:p>
        </p:txBody>
      </p:sp>
      <p:sp>
        <p:nvSpPr>
          <p:cNvPr id="16" name="TextBox 15">
            <a:extLst>
              <a:ext uri="{FF2B5EF4-FFF2-40B4-BE49-F238E27FC236}">
                <a16:creationId xmlns:a16="http://schemas.microsoft.com/office/drawing/2014/main" id="{7E41B7A7-783D-B11F-FA05-CDD966ACC9C5}"/>
              </a:ext>
            </a:extLst>
          </p:cNvPr>
          <p:cNvSpPr txBox="1"/>
          <p:nvPr/>
        </p:nvSpPr>
        <p:spPr>
          <a:xfrm>
            <a:off x="2046725" y="5177274"/>
            <a:ext cx="449162" cy="300082"/>
          </a:xfrm>
          <a:prstGeom prst="rect">
            <a:avLst/>
          </a:prstGeom>
          <a:noFill/>
        </p:spPr>
        <p:txBody>
          <a:bodyPr wrap="none" rtlCol="0">
            <a:spAutoFit/>
          </a:bodyPr>
          <a:lstStyle/>
          <a:p>
            <a:pPr algn="r" defTabSz="685800" rtl="1"/>
            <a:r>
              <a:rPr lang="en-US" sz="1350" dirty="0">
                <a:solidFill>
                  <a:prstClr val="black"/>
                </a:solidFill>
                <a:latin typeface="Calibri" panose="020F0502020204030204"/>
              </a:rPr>
              <a:t>100</a:t>
            </a:r>
          </a:p>
        </p:txBody>
      </p:sp>
      <p:cxnSp>
        <p:nvCxnSpPr>
          <p:cNvPr id="17" name="Straight Connector 16">
            <a:extLst>
              <a:ext uri="{FF2B5EF4-FFF2-40B4-BE49-F238E27FC236}">
                <a16:creationId xmlns:a16="http://schemas.microsoft.com/office/drawing/2014/main" id="{5FCC14B4-7316-442E-B428-4696BCBDD28A}"/>
              </a:ext>
            </a:extLst>
          </p:cNvPr>
          <p:cNvCxnSpPr>
            <a:cxnSpLocks/>
          </p:cNvCxnSpPr>
          <p:nvPr/>
        </p:nvCxnSpPr>
        <p:spPr>
          <a:xfrm>
            <a:off x="2331260" y="4147433"/>
            <a:ext cx="10652" cy="94889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15D48B-2A7D-5FDC-1E7C-12118955D48A}"/>
              </a:ext>
            </a:extLst>
          </p:cNvPr>
          <p:cNvCxnSpPr>
            <a:cxnSpLocks/>
          </p:cNvCxnSpPr>
          <p:nvPr/>
        </p:nvCxnSpPr>
        <p:spPr>
          <a:xfrm flipH="1">
            <a:off x="1384551" y="3865195"/>
            <a:ext cx="1283281" cy="27104"/>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287AFEB-E55D-5272-D8AE-A8BDFD825DFA}"/>
              </a:ext>
            </a:extLst>
          </p:cNvPr>
          <p:cNvSpPr txBox="1"/>
          <p:nvPr/>
        </p:nvSpPr>
        <p:spPr>
          <a:xfrm>
            <a:off x="921228" y="3712363"/>
            <a:ext cx="505268" cy="300082"/>
          </a:xfrm>
          <a:prstGeom prst="rect">
            <a:avLst/>
          </a:prstGeom>
          <a:noFill/>
        </p:spPr>
        <p:txBody>
          <a:bodyPr wrap="none" rtlCol="0">
            <a:spAutoFit/>
          </a:bodyPr>
          <a:lstStyle/>
          <a:p>
            <a:pPr algn="r" defTabSz="685800" rtl="1"/>
            <a:r>
              <a:rPr lang="en-US" sz="1350" dirty="0">
                <a:solidFill>
                  <a:srgbClr val="FF00FF"/>
                </a:solidFill>
                <a:latin typeface="Calibri" panose="020F0502020204030204"/>
              </a:rPr>
              <a:t>P</a:t>
            </a:r>
            <a:r>
              <a:rPr lang="en-US" sz="900" dirty="0">
                <a:solidFill>
                  <a:srgbClr val="FF00FF"/>
                </a:solidFill>
                <a:latin typeface="Calibri" panose="020F0502020204030204"/>
              </a:rPr>
              <a:t>1</a:t>
            </a:r>
            <a:r>
              <a:rPr lang="en-US" sz="900" dirty="0">
                <a:solidFill>
                  <a:prstClr val="black"/>
                </a:solidFill>
                <a:latin typeface="Calibri" panose="020F0502020204030204"/>
              </a:rPr>
              <a:t>=12</a:t>
            </a:r>
            <a:endParaRPr lang="en-US" sz="1350" dirty="0">
              <a:solidFill>
                <a:prstClr val="black"/>
              </a:solidFill>
              <a:latin typeface="Calibri" panose="020F0502020204030204"/>
            </a:endParaRPr>
          </a:p>
        </p:txBody>
      </p:sp>
      <p:sp>
        <p:nvSpPr>
          <p:cNvPr id="24" name="Left Brace 23">
            <a:extLst>
              <a:ext uri="{FF2B5EF4-FFF2-40B4-BE49-F238E27FC236}">
                <a16:creationId xmlns:a16="http://schemas.microsoft.com/office/drawing/2014/main" id="{AF111FC2-750A-BE78-8D61-46B9A2B61E17}"/>
              </a:ext>
            </a:extLst>
          </p:cNvPr>
          <p:cNvSpPr/>
          <p:nvPr/>
        </p:nvSpPr>
        <p:spPr>
          <a:xfrm rot="5400000">
            <a:off x="2238970" y="3449648"/>
            <a:ext cx="224430" cy="523838"/>
          </a:xfrm>
          <a:prstGeom prst="leftBrace">
            <a:avLst/>
          </a:prstGeom>
          <a:ln>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rtl="1"/>
            <a:endParaRPr lang="en-IL" sz="1350">
              <a:solidFill>
                <a:prstClr val="black"/>
              </a:solidFill>
              <a:latin typeface="Calibri" panose="020F0502020204030204"/>
            </a:endParaRPr>
          </a:p>
        </p:txBody>
      </p:sp>
      <p:sp>
        <p:nvSpPr>
          <p:cNvPr id="25" name="TextBox 24">
            <a:extLst>
              <a:ext uri="{FF2B5EF4-FFF2-40B4-BE49-F238E27FC236}">
                <a16:creationId xmlns:a16="http://schemas.microsoft.com/office/drawing/2014/main" id="{67FF6D1F-4262-35B5-977A-BD70677B6401}"/>
              </a:ext>
            </a:extLst>
          </p:cNvPr>
          <p:cNvSpPr txBox="1"/>
          <p:nvPr/>
        </p:nvSpPr>
        <p:spPr>
          <a:xfrm>
            <a:off x="1807437" y="3422778"/>
            <a:ext cx="623890" cy="276999"/>
          </a:xfrm>
          <a:prstGeom prst="rect">
            <a:avLst/>
          </a:prstGeom>
          <a:noFill/>
        </p:spPr>
        <p:txBody>
          <a:bodyPr wrap="none" rtlCol="0">
            <a:spAutoFit/>
          </a:bodyPr>
          <a:lstStyle/>
          <a:p>
            <a:pPr algn="r" defTabSz="685800" rtl="1"/>
            <a:r>
              <a:rPr lang="en-US" sz="1200" dirty="0">
                <a:solidFill>
                  <a:srgbClr val="FF00FF"/>
                </a:solidFill>
                <a:latin typeface="Calibri" panose="020F0502020204030204"/>
              </a:rPr>
              <a:t>20 </a:t>
            </a:r>
            <a:r>
              <a:rPr lang="he-IL" sz="1200" dirty="0">
                <a:solidFill>
                  <a:srgbClr val="FF00FF"/>
                </a:solidFill>
                <a:latin typeface="Calibri" panose="020F0502020204030204"/>
                <a:cs typeface="Arial" panose="020B0604020202020204" pitchFamily="34" charset="0"/>
              </a:rPr>
              <a:t>ק''ג </a:t>
            </a:r>
            <a:endParaRPr lang="en-US" sz="1200" dirty="0">
              <a:solidFill>
                <a:srgbClr val="FF00FF"/>
              </a:solidFill>
              <a:latin typeface="Calibri" panose="020F0502020204030204"/>
            </a:endParaRPr>
          </a:p>
        </p:txBody>
      </p:sp>
      <p:cxnSp>
        <p:nvCxnSpPr>
          <p:cNvPr id="27" name="Straight Arrow Connector 26">
            <a:extLst>
              <a:ext uri="{FF2B5EF4-FFF2-40B4-BE49-F238E27FC236}">
                <a16:creationId xmlns:a16="http://schemas.microsoft.com/office/drawing/2014/main" id="{B8A0A3F1-6F30-57B5-3300-B413D5FB57E4}"/>
              </a:ext>
            </a:extLst>
          </p:cNvPr>
          <p:cNvCxnSpPr>
            <a:cxnSpLocks/>
            <a:stCxn id="8" idx="6"/>
          </p:cNvCxnSpPr>
          <p:nvPr/>
        </p:nvCxnSpPr>
        <p:spPr>
          <a:xfrm flipV="1">
            <a:off x="2582077" y="4123847"/>
            <a:ext cx="347630" cy="244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A41273B-E304-B8B1-ECCD-2EC9ED4FF5E4}"/>
              </a:ext>
            </a:extLst>
          </p:cNvPr>
          <p:cNvCxnSpPr>
            <a:cxnSpLocks/>
          </p:cNvCxnSpPr>
          <p:nvPr/>
        </p:nvCxnSpPr>
        <p:spPr>
          <a:xfrm flipH="1" flipV="1">
            <a:off x="1901549" y="3038607"/>
            <a:ext cx="1670605" cy="18484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5D18514-159D-4B7E-32F0-47B45C41F9F9}"/>
              </a:ext>
            </a:extLst>
          </p:cNvPr>
          <p:cNvSpPr txBox="1"/>
          <p:nvPr/>
        </p:nvSpPr>
        <p:spPr>
          <a:xfrm>
            <a:off x="3507125" y="4770821"/>
            <a:ext cx="343364" cy="300082"/>
          </a:xfrm>
          <a:prstGeom prst="rect">
            <a:avLst/>
          </a:prstGeom>
          <a:noFill/>
        </p:spPr>
        <p:txBody>
          <a:bodyPr wrap="none" rtlCol="0">
            <a:spAutoFit/>
          </a:bodyPr>
          <a:lstStyle/>
          <a:p>
            <a:pPr algn="r" defTabSz="685800" rtl="1"/>
            <a:r>
              <a:rPr lang="en-US" sz="1350" dirty="0">
                <a:solidFill>
                  <a:srgbClr val="C00000"/>
                </a:solidFill>
                <a:latin typeface="Calibri" panose="020F0502020204030204"/>
              </a:rPr>
              <a:t>D</a:t>
            </a:r>
            <a:r>
              <a:rPr lang="en-US" sz="825" dirty="0">
                <a:solidFill>
                  <a:srgbClr val="C00000"/>
                </a:solidFill>
                <a:latin typeface="Calibri" panose="020F0502020204030204"/>
              </a:rPr>
              <a:t>1</a:t>
            </a:r>
          </a:p>
        </p:txBody>
      </p:sp>
      <p:sp>
        <p:nvSpPr>
          <p:cNvPr id="35" name="TextBox 34">
            <a:extLst>
              <a:ext uri="{FF2B5EF4-FFF2-40B4-BE49-F238E27FC236}">
                <a16:creationId xmlns:a16="http://schemas.microsoft.com/office/drawing/2014/main" id="{192DB453-70D8-7C74-97A9-373814F092E8}"/>
              </a:ext>
            </a:extLst>
          </p:cNvPr>
          <p:cNvSpPr txBox="1"/>
          <p:nvPr/>
        </p:nvSpPr>
        <p:spPr>
          <a:xfrm>
            <a:off x="2440616" y="4172053"/>
            <a:ext cx="538930" cy="253916"/>
          </a:xfrm>
          <a:prstGeom prst="rect">
            <a:avLst/>
          </a:prstGeom>
          <a:noFill/>
        </p:spPr>
        <p:txBody>
          <a:bodyPr wrap="none" rtlCol="0">
            <a:spAutoFit/>
          </a:bodyPr>
          <a:lstStyle/>
          <a:p>
            <a:pPr algn="r" defTabSz="685800" rtl="1"/>
            <a:r>
              <a:rPr lang="en-US" sz="1050" dirty="0">
                <a:solidFill>
                  <a:srgbClr val="C00000"/>
                </a:solidFill>
                <a:latin typeface="Calibri" panose="020F0502020204030204"/>
              </a:rPr>
              <a:t>20</a:t>
            </a:r>
            <a:r>
              <a:rPr lang="he-IL" sz="1050" dirty="0">
                <a:solidFill>
                  <a:srgbClr val="C00000"/>
                </a:solidFill>
                <a:latin typeface="Calibri" panose="020F0502020204030204"/>
                <a:cs typeface="Arial" panose="020B0604020202020204" pitchFamily="34" charset="0"/>
              </a:rPr>
              <a:t>ק''ג </a:t>
            </a:r>
            <a:endParaRPr lang="en-US" sz="1050" dirty="0">
              <a:solidFill>
                <a:srgbClr val="C00000"/>
              </a:solidFill>
              <a:latin typeface="Calibri" panose="020F0502020204030204"/>
            </a:endParaRPr>
          </a:p>
        </p:txBody>
      </p:sp>
      <p:sp>
        <p:nvSpPr>
          <p:cNvPr id="37" name="Oval 36">
            <a:extLst>
              <a:ext uri="{FF2B5EF4-FFF2-40B4-BE49-F238E27FC236}">
                <a16:creationId xmlns:a16="http://schemas.microsoft.com/office/drawing/2014/main" id="{6754A18A-6256-CA0F-772C-14BAED50C449}"/>
              </a:ext>
            </a:extLst>
          </p:cNvPr>
          <p:cNvSpPr/>
          <p:nvPr/>
        </p:nvSpPr>
        <p:spPr>
          <a:xfrm>
            <a:off x="2525439" y="3737789"/>
            <a:ext cx="270054" cy="22443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1"/>
            <a:r>
              <a:rPr lang="en-US" sz="1350" dirty="0">
                <a:solidFill>
                  <a:prstClr val="white"/>
                </a:solidFill>
                <a:latin typeface="Calibri" panose="020F0502020204030204"/>
              </a:rPr>
              <a:t>B</a:t>
            </a:r>
          </a:p>
        </p:txBody>
      </p:sp>
      <p:sp>
        <p:nvSpPr>
          <p:cNvPr id="38" name="Rectangle: Rounded Corners 37">
            <a:extLst>
              <a:ext uri="{FF2B5EF4-FFF2-40B4-BE49-F238E27FC236}">
                <a16:creationId xmlns:a16="http://schemas.microsoft.com/office/drawing/2014/main" id="{EF19E102-B296-2FE8-0EB9-3828094BB858}"/>
              </a:ext>
            </a:extLst>
          </p:cNvPr>
          <p:cNvSpPr/>
          <p:nvPr/>
        </p:nvSpPr>
        <p:spPr>
          <a:xfrm>
            <a:off x="2853150" y="1879861"/>
            <a:ext cx="5980825" cy="359102"/>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1"/>
            <a:endParaRPr lang="en-IL" sz="1350">
              <a:solidFill>
                <a:prstClr val="white"/>
              </a:solidFill>
              <a:latin typeface="Calibri" panose="020F0502020204030204"/>
            </a:endParaRPr>
          </a:p>
        </p:txBody>
      </p:sp>
      <p:sp>
        <p:nvSpPr>
          <p:cNvPr id="39" name="TextBox 38">
            <a:extLst>
              <a:ext uri="{FF2B5EF4-FFF2-40B4-BE49-F238E27FC236}">
                <a16:creationId xmlns:a16="http://schemas.microsoft.com/office/drawing/2014/main" id="{09D2911D-7BBD-C8DF-F65F-EF89A931662A}"/>
              </a:ext>
            </a:extLst>
          </p:cNvPr>
          <p:cNvSpPr txBox="1"/>
          <p:nvPr/>
        </p:nvSpPr>
        <p:spPr>
          <a:xfrm>
            <a:off x="3176130" y="1190877"/>
            <a:ext cx="5571846" cy="1924501"/>
          </a:xfrm>
          <a:prstGeom prst="rect">
            <a:avLst/>
          </a:prstGeom>
          <a:noFill/>
        </p:spPr>
        <p:txBody>
          <a:bodyPr wrap="square">
            <a:spAutoFit/>
          </a:bodyPr>
          <a:lstStyle/>
          <a:p>
            <a:pPr algn="r" defTabSz="685800" rtl="1">
              <a:lnSpc>
                <a:spcPct val="150000"/>
              </a:lnSpc>
            </a:pPr>
            <a:r>
              <a:rPr lang="he-IL" sz="1350" b="1"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 </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בדיוק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12 ש"ח וכמות התפוזים תהיה קטנה מ- 120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קטנה מ- 120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מחיר התפוזים יהיה נמוך מ- 12 ש"ח וכמות התפוזים תהיה בדיוק 120 ק"ג.</a:t>
            </a:r>
            <a:endParaRPr lang="en-IL" sz="1350" dirty="0">
              <a:solidFill>
                <a:prstClr val="black"/>
              </a:solidFill>
              <a:latin typeface="Times New Roman" panose="02020603050405020304" pitchFamily="18" charset="0"/>
              <a:ea typeface="Times New Roman" panose="02020603050405020304" pitchFamily="18" charset="0"/>
            </a:endParaRPr>
          </a:p>
          <a:p>
            <a:pPr marL="257175" indent="-257175" algn="r" defTabSz="685800" rtl="1">
              <a:lnSpc>
                <a:spcPct val="150000"/>
              </a:lnSpc>
              <a:buFont typeface="+mj-lt"/>
              <a:buAutoNum type="arabicPeriod"/>
            </a:pPr>
            <a:r>
              <a:rPr lang="he-IL" sz="1350" dirty="0">
                <a:solidFill>
                  <a:prstClr val="black"/>
                </a:solidFill>
                <a:latin typeface="Times New Roman" panose="02020603050405020304" pitchFamily="18" charset="0"/>
                <a:ea typeface="Times New Roman" panose="02020603050405020304" pitchFamily="18" charset="0"/>
                <a:cs typeface="Arial" panose="020B0604020202020204" pitchFamily="34" charset="0"/>
              </a:rPr>
              <a:t>כל התשובות האחרות לא נכונות.</a:t>
            </a:r>
            <a:endParaRPr lang="en-IL" sz="1350" dirty="0">
              <a:solidFill>
                <a:prstClr val="black"/>
              </a:solidFill>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AA800D07-43BD-E575-0861-BCCD2FADC5BF}"/>
              </a:ext>
            </a:extLst>
          </p:cNvPr>
          <p:cNvSpPr txBox="1"/>
          <p:nvPr/>
        </p:nvSpPr>
        <p:spPr>
          <a:xfrm>
            <a:off x="2679906" y="5177129"/>
            <a:ext cx="449162" cy="300082"/>
          </a:xfrm>
          <a:prstGeom prst="rect">
            <a:avLst/>
          </a:prstGeom>
          <a:noFill/>
          <a:ln>
            <a:noFill/>
          </a:ln>
        </p:spPr>
        <p:txBody>
          <a:bodyPr wrap="none" rtlCol="0">
            <a:spAutoFit/>
          </a:bodyPr>
          <a:lstStyle/>
          <a:p>
            <a:pPr algn="r" defTabSz="685800" rtl="1"/>
            <a:r>
              <a:rPr lang="en-US" sz="1350" dirty="0">
                <a:solidFill>
                  <a:srgbClr val="0070C0"/>
                </a:solidFill>
                <a:latin typeface="Calibri" panose="020F0502020204030204"/>
              </a:rPr>
              <a:t>120</a:t>
            </a:r>
          </a:p>
        </p:txBody>
      </p:sp>
      <p:cxnSp>
        <p:nvCxnSpPr>
          <p:cNvPr id="20" name="Straight Connector 19">
            <a:extLst>
              <a:ext uri="{FF2B5EF4-FFF2-40B4-BE49-F238E27FC236}">
                <a16:creationId xmlns:a16="http://schemas.microsoft.com/office/drawing/2014/main" id="{D44A13D3-D67C-668D-0D07-EFAE69C0DBBF}"/>
              </a:ext>
            </a:extLst>
          </p:cNvPr>
          <p:cNvCxnSpPr>
            <a:cxnSpLocks/>
            <a:endCxn id="6" idx="0"/>
          </p:cNvCxnSpPr>
          <p:nvPr/>
        </p:nvCxnSpPr>
        <p:spPr>
          <a:xfrm>
            <a:off x="2853150" y="4148366"/>
            <a:ext cx="51337" cy="102876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AFF42E5-80B1-27F0-C875-0AA7FC56D0FE}"/>
              </a:ext>
            </a:extLst>
          </p:cNvPr>
          <p:cNvSpPr/>
          <p:nvPr/>
        </p:nvSpPr>
        <p:spPr>
          <a:xfrm>
            <a:off x="2823863" y="3984873"/>
            <a:ext cx="557569" cy="2371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41" name="TextBox 40">
            <a:extLst>
              <a:ext uri="{FF2B5EF4-FFF2-40B4-BE49-F238E27FC236}">
                <a16:creationId xmlns:a16="http://schemas.microsoft.com/office/drawing/2014/main" id="{240E21A5-72D5-BA69-2B4E-183F65D1B5D0}"/>
              </a:ext>
            </a:extLst>
          </p:cNvPr>
          <p:cNvSpPr txBox="1"/>
          <p:nvPr/>
        </p:nvSpPr>
        <p:spPr>
          <a:xfrm>
            <a:off x="2467489" y="5152727"/>
            <a:ext cx="351378" cy="300082"/>
          </a:xfrm>
          <a:prstGeom prst="rect">
            <a:avLst/>
          </a:prstGeom>
          <a:noFill/>
          <a:ln>
            <a:noFill/>
          </a:ln>
        </p:spPr>
        <p:txBody>
          <a:bodyPr wrap="none" rtlCol="0">
            <a:spAutoFit/>
          </a:bodyPr>
          <a:lstStyle/>
          <a:p>
            <a:pPr algn="r" defTabSz="685800" rtl="1"/>
            <a:r>
              <a:rPr lang="en-US" sz="1350" dirty="0">
                <a:solidFill>
                  <a:schemeClr val="accent2">
                    <a:lumMod val="75000"/>
                  </a:schemeClr>
                </a:solidFill>
                <a:latin typeface="Calibri" panose="020F0502020204030204"/>
              </a:rPr>
              <a:t>X</a:t>
            </a:r>
            <a:r>
              <a:rPr lang="en-US" sz="1100" b="1" dirty="0">
                <a:solidFill>
                  <a:schemeClr val="accent2">
                    <a:lumMod val="75000"/>
                  </a:schemeClr>
                </a:solidFill>
                <a:latin typeface="Calibri" panose="020F0502020204030204"/>
              </a:rPr>
              <a:t>B</a:t>
            </a:r>
            <a:endParaRPr lang="en-US" sz="1350" b="1" dirty="0">
              <a:solidFill>
                <a:schemeClr val="accent2">
                  <a:lumMod val="75000"/>
                </a:schemeClr>
              </a:solidFill>
              <a:latin typeface="Calibri" panose="020F0502020204030204"/>
            </a:endParaRPr>
          </a:p>
        </p:txBody>
      </p:sp>
      <p:cxnSp>
        <p:nvCxnSpPr>
          <p:cNvPr id="42" name="Straight Connector 41">
            <a:extLst>
              <a:ext uri="{FF2B5EF4-FFF2-40B4-BE49-F238E27FC236}">
                <a16:creationId xmlns:a16="http://schemas.microsoft.com/office/drawing/2014/main" id="{7DC51449-8DCD-AF17-40CA-93A3EEBC0B2A}"/>
              </a:ext>
            </a:extLst>
          </p:cNvPr>
          <p:cNvCxnSpPr>
            <a:cxnSpLocks/>
          </p:cNvCxnSpPr>
          <p:nvPr/>
        </p:nvCxnSpPr>
        <p:spPr>
          <a:xfrm>
            <a:off x="2679957" y="3950881"/>
            <a:ext cx="25902" cy="1202935"/>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31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par>
                                <p:cTn id="23" presetID="16" presetClass="entr" presetSubtype="21"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arn(inVertical)">
                                      <p:cBhvr>
                                        <p:cTn id="25" dur="500"/>
                                        <p:tgtEl>
                                          <p:spTgt spid="1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p:cTn id="36" dur="1000" fill="hold"/>
                                        <p:tgtEl>
                                          <p:spTgt spid="19"/>
                                        </p:tgtEl>
                                        <p:attrNameLst>
                                          <p:attrName>ppt_w</p:attrName>
                                        </p:attrNameLst>
                                      </p:cBhvr>
                                      <p:tavLst>
                                        <p:tav tm="0">
                                          <p:val>
                                            <p:fltVal val="0"/>
                                          </p:val>
                                        </p:tav>
                                        <p:tav tm="100000">
                                          <p:val>
                                            <p:strVal val="#ppt_w"/>
                                          </p:val>
                                        </p:tav>
                                      </p:tavLst>
                                    </p:anim>
                                    <p:anim calcmode="lin" valueType="num">
                                      <p:cBhvr>
                                        <p:cTn id="37" dur="1000" fill="hold"/>
                                        <p:tgtEl>
                                          <p:spTgt spid="19"/>
                                        </p:tgtEl>
                                        <p:attrNameLst>
                                          <p:attrName>ppt_h</p:attrName>
                                        </p:attrNameLst>
                                      </p:cBhvr>
                                      <p:tavLst>
                                        <p:tav tm="0">
                                          <p:val>
                                            <p:fltVal val="0"/>
                                          </p:val>
                                        </p:tav>
                                        <p:tav tm="100000">
                                          <p:val>
                                            <p:strVal val="#ppt_h"/>
                                          </p:val>
                                        </p:tav>
                                      </p:tavLst>
                                    </p:anim>
                                    <p:anim calcmode="lin" valueType="num">
                                      <p:cBhvr>
                                        <p:cTn id="38" dur="1000" fill="hold"/>
                                        <p:tgtEl>
                                          <p:spTgt spid="19"/>
                                        </p:tgtEl>
                                        <p:attrNameLst>
                                          <p:attrName>style.rotation</p:attrName>
                                        </p:attrNameLst>
                                      </p:cBhvr>
                                      <p:tavLst>
                                        <p:tav tm="0">
                                          <p:val>
                                            <p:fltVal val="90"/>
                                          </p:val>
                                        </p:tav>
                                        <p:tav tm="100000">
                                          <p:val>
                                            <p:fltVal val="0"/>
                                          </p:val>
                                        </p:tav>
                                      </p:tavLst>
                                    </p:anim>
                                    <p:animEffect transition="in" filter="fade">
                                      <p:cBhvr>
                                        <p:cTn id="39" dur="1000"/>
                                        <p:tgtEl>
                                          <p:spTgt spid="19"/>
                                        </p:tgtEl>
                                      </p:cBhvr>
                                    </p:animEffect>
                                  </p:childTnLst>
                                </p:cTn>
                              </p:par>
                              <p:par>
                                <p:cTn id="40" presetID="31"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1000" fill="hold"/>
                                        <p:tgtEl>
                                          <p:spTgt spid="18"/>
                                        </p:tgtEl>
                                        <p:attrNameLst>
                                          <p:attrName>ppt_w</p:attrName>
                                        </p:attrNameLst>
                                      </p:cBhvr>
                                      <p:tavLst>
                                        <p:tav tm="0">
                                          <p:val>
                                            <p:fltVal val="0"/>
                                          </p:val>
                                        </p:tav>
                                        <p:tav tm="100000">
                                          <p:val>
                                            <p:strVal val="#ppt_w"/>
                                          </p:val>
                                        </p:tav>
                                      </p:tavLst>
                                    </p:anim>
                                    <p:anim calcmode="lin" valueType="num">
                                      <p:cBhvr>
                                        <p:cTn id="43" dur="1000" fill="hold"/>
                                        <p:tgtEl>
                                          <p:spTgt spid="18"/>
                                        </p:tgtEl>
                                        <p:attrNameLst>
                                          <p:attrName>ppt_h</p:attrName>
                                        </p:attrNameLst>
                                      </p:cBhvr>
                                      <p:tavLst>
                                        <p:tav tm="0">
                                          <p:val>
                                            <p:fltVal val="0"/>
                                          </p:val>
                                        </p:tav>
                                        <p:tav tm="100000">
                                          <p:val>
                                            <p:strVal val="#ppt_h"/>
                                          </p:val>
                                        </p:tav>
                                      </p:tavLst>
                                    </p:anim>
                                    <p:anim calcmode="lin" valueType="num">
                                      <p:cBhvr>
                                        <p:cTn id="44" dur="1000" fill="hold"/>
                                        <p:tgtEl>
                                          <p:spTgt spid="18"/>
                                        </p:tgtEl>
                                        <p:attrNameLst>
                                          <p:attrName>style.rotation</p:attrName>
                                        </p:attrNameLst>
                                      </p:cBhvr>
                                      <p:tavLst>
                                        <p:tav tm="0">
                                          <p:val>
                                            <p:fltVal val="90"/>
                                          </p:val>
                                        </p:tav>
                                        <p:tav tm="100000">
                                          <p:val>
                                            <p:fltVal val="0"/>
                                          </p:val>
                                        </p:tav>
                                      </p:tavLst>
                                    </p:anim>
                                    <p:animEffect transition="in" filter="fade">
                                      <p:cBhvr>
                                        <p:cTn id="45" dur="10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barn(inVertical)">
                                      <p:cBhvr>
                                        <p:cTn id="53" dur="50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randombar(horizontal)">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barn(inVertical)">
                                      <p:cBhvr>
                                        <p:cTn id="63" dur="500"/>
                                        <p:tgtEl>
                                          <p:spTgt spid="32"/>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barn(inVertical)">
                                      <p:cBhvr>
                                        <p:cTn id="66" dur="500"/>
                                        <p:tgtEl>
                                          <p:spTgt spid="33"/>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barn(inVertical)">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35">
                                            <p:txEl>
                                              <p:pRg st="0" end="0"/>
                                            </p:txEl>
                                          </p:spTgt>
                                        </p:tgtEl>
                                        <p:attrNameLst>
                                          <p:attrName>style.visibility</p:attrName>
                                        </p:attrNameLst>
                                      </p:cBhvr>
                                      <p:to>
                                        <p:strVal val="visible"/>
                                      </p:to>
                                    </p:set>
                                    <p:animEffect transition="in" filter="barn(inVertical)">
                                      <p:cBhvr>
                                        <p:cTn id="74" dur="500"/>
                                        <p:tgtEl>
                                          <p:spTgt spid="35">
                                            <p:txEl>
                                              <p:pRg st="0" end="0"/>
                                            </p:txEl>
                                          </p:spTgt>
                                        </p:tgtEl>
                                      </p:cBhvr>
                                    </p:animEffect>
                                  </p:childTnLst>
                                </p:cTn>
                              </p:par>
                              <p:par>
                                <p:cTn id="75" presetID="16" presetClass="entr" presetSubtype="21"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barn(inVertical)">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barn(inVertical)">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80">
                                          <p:stCondLst>
                                            <p:cond delay="0"/>
                                          </p:stCondLst>
                                        </p:cTn>
                                        <p:tgtEl>
                                          <p:spTgt spid="37"/>
                                        </p:tgtEl>
                                      </p:cBhvr>
                                    </p:animEffect>
                                    <p:anim calcmode="lin" valueType="num">
                                      <p:cBhvr>
                                        <p:cTn id="88"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93" dur="26">
                                          <p:stCondLst>
                                            <p:cond delay="650"/>
                                          </p:stCondLst>
                                        </p:cTn>
                                        <p:tgtEl>
                                          <p:spTgt spid="37"/>
                                        </p:tgtEl>
                                      </p:cBhvr>
                                      <p:to x="100000" y="60000"/>
                                    </p:animScale>
                                    <p:animScale>
                                      <p:cBhvr>
                                        <p:cTn id="94" dur="166" decel="50000">
                                          <p:stCondLst>
                                            <p:cond delay="676"/>
                                          </p:stCondLst>
                                        </p:cTn>
                                        <p:tgtEl>
                                          <p:spTgt spid="37"/>
                                        </p:tgtEl>
                                      </p:cBhvr>
                                      <p:to x="100000" y="100000"/>
                                    </p:animScale>
                                    <p:animScale>
                                      <p:cBhvr>
                                        <p:cTn id="95" dur="26">
                                          <p:stCondLst>
                                            <p:cond delay="1312"/>
                                          </p:stCondLst>
                                        </p:cTn>
                                        <p:tgtEl>
                                          <p:spTgt spid="37"/>
                                        </p:tgtEl>
                                      </p:cBhvr>
                                      <p:to x="100000" y="80000"/>
                                    </p:animScale>
                                    <p:animScale>
                                      <p:cBhvr>
                                        <p:cTn id="96" dur="166" decel="50000">
                                          <p:stCondLst>
                                            <p:cond delay="1338"/>
                                          </p:stCondLst>
                                        </p:cTn>
                                        <p:tgtEl>
                                          <p:spTgt spid="37"/>
                                        </p:tgtEl>
                                      </p:cBhvr>
                                      <p:to x="100000" y="100000"/>
                                    </p:animScale>
                                    <p:animScale>
                                      <p:cBhvr>
                                        <p:cTn id="97" dur="26">
                                          <p:stCondLst>
                                            <p:cond delay="1642"/>
                                          </p:stCondLst>
                                        </p:cTn>
                                        <p:tgtEl>
                                          <p:spTgt spid="37"/>
                                        </p:tgtEl>
                                      </p:cBhvr>
                                      <p:to x="100000" y="90000"/>
                                    </p:animScale>
                                    <p:animScale>
                                      <p:cBhvr>
                                        <p:cTn id="98" dur="166" decel="50000">
                                          <p:stCondLst>
                                            <p:cond delay="1668"/>
                                          </p:stCondLst>
                                        </p:cTn>
                                        <p:tgtEl>
                                          <p:spTgt spid="37"/>
                                        </p:tgtEl>
                                      </p:cBhvr>
                                      <p:to x="100000" y="100000"/>
                                    </p:animScale>
                                    <p:animScale>
                                      <p:cBhvr>
                                        <p:cTn id="99" dur="26">
                                          <p:stCondLst>
                                            <p:cond delay="1808"/>
                                          </p:stCondLst>
                                        </p:cTn>
                                        <p:tgtEl>
                                          <p:spTgt spid="37"/>
                                        </p:tgtEl>
                                      </p:cBhvr>
                                      <p:to x="100000" y="95000"/>
                                    </p:animScale>
                                    <p:animScale>
                                      <p:cBhvr>
                                        <p:cTn id="100" dur="166" decel="50000">
                                          <p:stCondLst>
                                            <p:cond delay="1834"/>
                                          </p:stCondLst>
                                        </p:cTn>
                                        <p:tgtEl>
                                          <p:spTgt spid="37"/>
                                        </p:tgtEl>
                                      </p:cBhvr>
                                      <p:to x="100000" y="100000"/>
                                    </p:animScale>
                                  </p:childTnLst>
                                </p:cTn>
                              </p:par>
                              <p:par>
                                <p:cTn id="101" presetID="16" presetClass="entr" presetSubtype="21"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barn(inVertical)">
                                      <p:cBhvr>
                                        <p:cTn id="103" dur="500"/>
                                        <p:tgtEl>
                                          <p:spTgt spid="6"/>
                                        </p:tgtEl>
                                      </p:cBhvr>
                                    </p:animEffect>
                                  </p:childTnLst>
                                </p:cTn>
                              </p:par>
                              <p:par>
                                <p:cTn id="104" presetID="16" presetClass="entr" presetSubtype="21" fill="hold" nodeType="with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barn(inVertical)">
                                      <p:cBhvr>
                                        <p:cTn id="106" dur="500"/>
                                        <p:tgtEl>
                                          <p:spTgt spid="42"/>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barn(inVertical)">
                                      <p:cBhvr>
                                        <p:cTn id="109" dur="5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6" presetClass="entr" presetSubtype="16" fill="hold" grpId="0" nodeType="click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circle(in)">
                                      <p:cBhvr>
                                        <p:cTn id="114"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P spid="15" grpId="0"/>
      <p:bldP spid="16" grpId="0"/>
      <p:bldP spid="19" grpId="0"/>
      <p:bldP spid="24" grpId="0" animBg="1"/>
      <p:bldP spid="25" grpId="0"/>
      <p:bldP spid="33" grpId="0"/>
      <p:bldP spid="35" grpId="0"/>
      <p:bldP spid="37" grpId="0" animBg="1"/>
      <p:bldP spid="38" grpId="0" animBg="1"/>
      <p:bldP spid="6" grpId="0" animBg="1"/>
      <p:bldP spid="31" grpId="0" animBg="1"/>
      <p:bldP spid="41" grpId="0"/>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7327</TotalTime>
  <Words>3917</Words>
  <Application>Microsoft Office PowerPoint</Application>
  <PresentationFormat>‫הצגה על המסך (4:3)</PresentationFormat>
  <Paragraphs>661</Paragraphs>
  <Slides>37</Slides>
  <Notes>4</Notes>
  <HiddenSlides>3</HiddenSlides>
  <MMClips>0</MMClips>
  <ScaleCrop>false</ScaleCrop>
  <HeadingPairs>
    <vt:vector size="6" baseType="variant">
      <vt:variant>
        <vt:lpstr>גופנים בשימוש</vt:lpstr>
      </vt:variant>
      <vt:variant>
        <vt:i4>7</vt:i4>
      </vt:variant>
      <vt:variant>
        <vt:lpstr>ערכת נושא</vt:lpstr>
      </vt:variant>
      <vt:variant>
        <vt:i4>6</vt:i4>
      </vt:variant>
      <vt:variant>
        <vt:lpstr>כותרות שקופיות</vt:lpstr>
      </vt:variant>
      <vt:variant>
        <vt:i4>37</vt:i4>
      </vt:variant>
    </vt:vector>
  </HeadingPairs>
  <TitlesOfParts>
    <vt:vector size="50" baseType="lpstr">
      <vt:lpstr>Arial</vt:lpstr>
      <vt:lpstr>Bell MT</vt:lpstr>
      <vt:lpstr>Calibri</vt:lpstr>
      <vt:lpstr>Calibri Light</vt:lpstr>
      <vt:lpstr>Cambria Math</vt:lpstr>
      <vt:lpstr>David</vt:lpstr>
      <vt:lpstr>Times New Roman</vt:lpstr>
      <vt:lpstr>ערכת נושא Office</vt:lpstr>
      <vt:lpstr>1_ערכת נושא Office</vt:lpstr>
      <vt:lpstr>2_ערכת נושא Office</vt:lpstr>
      <vt:lpstr>Office Theme</vt:lpstr>
      <vt:lpstr>1_Office Theme</vt:lpstr>
      <vt:lpstr>3_ערכת נושא Office</vt:lpstr>
      <vt:lpstr> תרגול כיתה 12 –  1. שיווי משקל בשוק המוצר כאשר ישנן קבוצות צרכנים/יצרנים (שווקים חלקיים) 2. משק פתוח: ייבוא וייצוא  3. הטלת מס בסכום קבוע במשק סגור </vt:lpstr>
      <vt:lpstr>שווקים חלקיים- ביקוש</vt:lpstr>
      <vt:lpstr>מצגת של PowerPoint‏</vt:lpstr>
      <vt:lpstr>מצגת של PowerPoint‏</vt:lpstr>
      <vt:lpstr>מצגת של PowerPoint‏</vt:lpstr>
      <vt:lpstr>שווקים חלקיים- היצע </vt:lpstr>
      <vt:lpstr>שאלה 2 (מבחינה) בנושא שווקים חלקיים</vt:lpstr>
      <vt:lpstr>שאלה 2 (מבחינה) בנושא שווקים חלקיים</vt:lpstr>
      <vt:lpstr>שאלה (2) מבחינה בנושא שווקים חלקיים</vt:lpstr>
      <vt:lpstr>שאלה מבחינה בנושא שווקים חלקיים</vt:lpstr>
      <vt:lpstr>תשובה לשאלת בחינה- שווקים חלקיים</vt:lpstr>
      <vt:lpstr>משק פתוח- ייבוא וייצוא</vt:lpstr>
      <vt:lpstr>מחיר עולמי </vt:lpstr>
      <vt:lpstr>שאלה 1</vt:lpstr>
      <vt:lpstr>שאלה 1</vt:lpstr>
      <vt:lpstr>שאלה 2</vt:lpstr>
      <vt:lpstr>שאלה 2</vt:lpstr>
      <vt:lpstr>שאלה 3</vt:lpstr>
      <vt:lpstr>שאלה 3</vt:lpstr>
      <vt:lpstr>משק סגור </vt:lpstr>
      <vt:lpstr>רווחת המשק </vt:lpstr>
      <vt:lpstr>הטלת מס בסכום קבוע ליחידה- מס קנייה </vt:lpstr>
      <vt:lpstr>מסקנות: כאשר העקומות רגילות, הטלת המס תגרום במשק:</vt:lpstr>
      <vt:lpstr>הטלת מס בסכום קבוע ליחידה</vt:lpstr>
      <vt:lpstr>שאלה 1 </vt:lpstr>
      <vt:lpstr>שאלה 1 </vt:lpstr>
      <vt:lpstr>שאלה 1 </vt:lpstr>
      <vt:lpstr>שאלה 1 </vt:lpstr>
      <vt:lpstr>שאלה 1 </vt:lpstr>
      <vt:lpstr>מצגת של PowerPoint‏</vt:lpstr>
      <vt:lpstr>מצגת של PowerPoint‏</vt:lpstr>
      <vt:lpstr>מצגת של PowerPoint‏</vt:lpstr>
      <vt:lpstr>מצגת של PowerPoint‏</vt:lpstr>
      <vt:lpstr>מצגת של PowerPoint‏</vt:lpstr>
      <vt:lpstr>מצגת של PowerPoint‏</vt:lpstr>
      <vt:lpstr>שאלת בחינה 1</vt:lpstr>
      <vt:lpstr>שאלת בחינה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dc:creator>
  <cp:lastModifiedBy>איתן משקוביץ'</cp:lastModifiedBy>
  <cp:revision>265</cp:revision>
  <dcterms:created xsi:type="dcterms:W3CDTF">2013-07-10T21:17:46Z</dcterms:created>
  <dcterms:modified xsi:type="dcterms:W3CDTF">2026-01-17T05:32:45Z</dcterms:modified>
</cp:coreProperties>
</file>