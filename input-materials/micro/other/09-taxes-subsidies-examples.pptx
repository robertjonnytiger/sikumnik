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01" r:id="rId1"/>
    <p:sldMasterId id="2147483713" r:id="rId2"/>
  </p:sldMasterIdLst>
  <p:notesMasterIdLst>
    <p:notesMasterId r:id="rId29"/>
  </p:notesMasterIdLst>
  <p:handoutMasterIdLst>
    <p:handoutMasterId r:id="rId30"/>
  </p:handoutMasterIdLst>
  <p:sldIdLst>
    <p:sldId id="410" r:id="rId3"/>
    <p:sldId id="456" r:id="rId4"/>
    <p:sldId id="441" r:id="rId5"/>
    <p:sldId id="442" r:id="rId6"/>
    <p:sldId id="443" r:id="rId7"/>
    <p:sldId id="444" r:id="rId8"/>
    <p:sldId id="445" r:id="rId9"/>
    <p:sldId id="446" r:id="rId10"/>
    <p:sldId id="447" r:id="rId11"/>
    <p:sldId id="448" r:id="rId12"/>
    <p:sldId id="459" r:id="rId13"/>
    <p:sldId id="461" r:id="rId14"/>
    <p:sldId id="460" r:id="rId15"/>
    <p:sldId id="462" r:id="rId16"/>
    <p:sldId id="457" r:id="rId17"/>
    <p:sldId id="458" r:id="rId18"/>
    <p:sldId id="463" r:id="rId19"/>
    <p:sldId id="338" r:id="rId20"/>
    <p:sldId id="339" r:id="rId21"/>
    <p:sldId id="336" r:id="rId22"/>
    <p:sldId id="337" r:id="rId23"/>
    <p:sldId id="548" r:id="rId24"/>
    <p:sldId id="549" r:id="rId25"/>
    <p:sldId id="579" r:id="rId26"/>
    <p:sldId id="553" r:id="rId27"/>
    <p:sldId id="590" r:id="rId28"/>
  </p:sldIdLst>
  <p:sldSz cx="9144000" cy="6858000" type="screen4x3"/>
  <p:notesSz cx="6997700" cy="92837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331" autoAdjust="0"/>
    <p:restoredTop sz="87431" autoAdjust="0"/>
  </p:normalViewPr>
  <p:slideViewPr>
    <p:cSldViewPr>
      <p:cViewPr varScale="1">
        <p:scale>
          <a:sx n="79" d="100"/>
          <a:sy n="79" d="100"/>
        </p:scale>
        <p:origin x="54" y="33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2125"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63988" y="0"/>
            <a:ext cx="3032125" cy="463550"/>
          </a:xfrm>
          <a:prstGeom prst="rect">
            <a:avLst/>
          </a:prstGeom>
        </p:spPr>
        <p:txBody>
          <a:bodyPr vert="horz" lIns="91440" tIns="45720" rIns="91440" bIns="45720" rtlCol="0"/>
          <a:lstStyle>
            <a:lvl1pPr algn="r">
              <a:defRPr sz="1200"/>
            </a:lvl1pPr>
          </a:lstStyle>
          <a:p>
            <a:fld id="{8046A23F-44EA-4998-B353-629424D5D89F}" type="datetimeFigureOut">
              <a:rPr lang="en-US" smtClean="0"/>
              <a:pPr/>
              <a:t>1/22/2026</a:t>
            </a:fld>
            <a:endParaRPr lang="en-US"/>
          </a:p>
        </p:txBody>
      </p:sp>
      <p:sp>
        <p:nvSpPr>
          <p:cNvPr id="4" name="Footer Placeholder 3"/>
          <p:cNvSpPr>
            <a:spLocks noGrp="1"/>
          </p:cNvSpPr>
          <p:nvPr>
            <p:ph type="ftr" sz="quarter" idx="2"/>
          </p:nvPr>
        </p:nvSpPr>
        <p:spPr>
          <a:xfrm>
            <a:off x="0" y="8818563"/>
            <a:ext cx="3032125"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63988" y="8818563"/>
            <a:ext cx="3032125" cy="463550"/>
          </a:xfrm>
          <a:prstGeom prst="rect">
            <a:avLst/>
          </a:prstGeom>
        </p:spPr>
        <p:txBody>
          <a:bodyPr vert="horz" lIns="91440" tIns="45720" rIns="91440" bIns="45720" rtlCol="0" anchor="b"/>
          <a:lstStyle>
            <a:lvl1pPr algn="r">
              <a:defRPr sz="1200"/>
            </a:lvl1pPr>
          </a:lstStyle>
          <a:p>
            <a:fld id="{86BAE303-0884-410C-9092-ECA29FC93440}" type="slidenum">
              <a:rPr lang="en-US" smtClean="0"/>
              <a:pPr/>
              <a:t>‹#›</a:t>
            </a:fld>
            <a:endParaRPr lang="en-US"/>
          </a:p>
        </p:txBody>
      </p:sp>
    </p:spTree>
    <p:extLst>
      <p:ext uri="{BB962C8B-B14F-4D97-AF65-F5344CB8AC3E}">
        <p14:creationId xmlns:p14="http://schemas.microsoft.com/office/powerpoint/2010/main" val="2044992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965575" y="0"/>
            <a:ext cx="3032125" cy="463550"/>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3032125" cy="463550"/>
          </a:xfrm>
          <a:prstGeom prst="rect">
            <a:avLst/>
          </a:prstGeom>
        </p:spPr>
        <p:txBody>
          <a:bodyPr vert="horz" lIns="91440" tIns="45720" rIns="91440" bIns="45720" rtlCol="1"/>
          <a:lstStyle>
            <a:lvl1pPr algn="l">
              <a:defRPr sz="1200"/>
            </a:lvl1pPr>
          </a:lstStyle>
          <a:p>
            <a:fld id="{505E6B3D-C821-4564-B313-E92657ECA99A}" type="datetimeFigureOut">
              <a:rPr lang="he-IL" smtClean="0"/>
              <a:t>ד'/שבט/תשפ"ו</a:t>
            </a:fld>
            <a:endParaRPr lang="he-IL"/>
          </a:p>
        </p:txBody>
      </p:sp>
      <p:sp>
        <p:nvSpPr>
          <p:cNvPr id="4" name="מציין מיקום של תמונת שקופית 3"/>
          <p:cNvSpPr>
            <a:spLocks noGrp="1" noRot="1" noChangeAspect="1"/>
          </p:cNvSpPr>
          <p:nvPr>
            <p:ph type="sldImg" idx="2"/>
          </p:nvPr>
        </p:nvSpPr>
        <p:spPr>
          <a:xfrm>
            <a:off x="1177925" y="696913"/>
            <a:ext cx="4641850" cy="3481387"/>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700088" y="4410075"/>
            <a:ext cx="5597525" cy="4176713"/>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965575" y="8818563"/>
            <a:ext cx="3032125" cy="463550"/>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818563"/>
            <a:ext cx="3032125" cy="463550"/>
          </a:xfrm>
          <a:prstGeom prst="rect">
            <a:avLst/>
          </a:prstGeom>
        </p:spPr>
        <p:txBody>
          <a:bodyPr vert="horz" lIns="91440" tIns="45720" rIns="91440" bIns="45720" rtlCol="1" anchor="b"/>
          <a:lstStyle>
            <a:lvl1pPr algn="l">
              <a:defRPr sz="1200"/>
            </a:lvl1pPr>
          </a:lstStyle>
          <a:p>
            <a:fld id="{050D2172-BA09-43AD-821A-4F8719DBAD90}" type="slidenum">
              <a:rPr lang="he-IL" smtClean="0"/>
              <a:t>‹#›</a:t>
            </a:fld>
            <a:endParaRPr lang="he-IL"/>
          </a:p>
        </p:txBody>
      </p:sp>
    </p:spTree>
    <p:extLst>
      <p:ext uri="{BB962C8B-B14F-4D97-AF65-F5344CB8AC3E}">
        <p14:creationId xmlns:p14="http://schemas.microsoft.com/office/powerpoint/2010/main" val="8788720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17BB39F0-368F-4D24-B4FA-2BF3501F2C64}" type="slidenum">
              <a:rPr lang="he-IL" smtClean="0">
                <a:solidFill>
                  <a:prstClr val="black"/>
                </a:solidFill>
              </a:rPr>
              <a:pPr/>
              <a:t>9</a:t>
            </a:fld>
            <a:endParaRPr lang="he-IL">
              <a:solidFill>
                <a:prstClr val="black"/>
              </a:solidFill>
            </a:endParaRPr>
          </a:p>
        </p:txBody>
      </p:sp>
    </p:spTree>
    <p:extLst>
      <p:ext uri="{BB962C8B-B14F-4D97-AF65-F5344CB8AC3E}">
        <p14:creationId xmlns:p14="http://schemas.microsoft.com/office/powerpoint/2010/main" val="347281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normAutofit/>
          </a:bodyPr>
          <a:lstStyle/>
          <a:p>
            <a:endParaRPr lang="he-IL" dirty="0"/>
          </a:p>
        </p:txBody>
      </p:sp>
      <p:sp>
        <p:nvSpPr>
          <p:cNvPr id="4" name="מציין מיקום של מספר שקופית 3"/>
          <p:cNvSpPr>
            <a:spLocks noGrp="1"/>
          </p:cNvSpPr>
          <p:nvPr>
            <p:ph type="sldNum" sz="quarter" idx="10"/>
          </p:nvPr>
        </p:nvSpPr>
        <p:spPr/>
        <p:txBody>
          <a:bodyPr/>
          <a:lstStyle/>
          <a:p>
            <a:fld id="{17BB39F0-368F-4D24-B4FA-2BF3501F2C64}" type="slidenum">
              <a:rPr lang="he-IL" smtClean="0"/>
              <a:pPr/>
              <a:t>25</a:t>
            </a:fld>
            <a:endParaRPr lang="he-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normAutofit/>
          </a:bodyPr>
          <a:lstStyle/>
          <a:p>
            <a:endParaRPr lang="he-IL" dirty="0"/>
          </a:p>
        </p:txBody>
      </p:sp>
      <p:sp>
        <p:nvSpPr>
          <p:cNvPr id="4" name="מציין מיקום של מספר שקופית 3"/>
          <p:cNvSpPr>
            <a:spLocks noGrp="1"/>
          </p:cNvSpPr>
          <p:nvPr>
            <p:ph type="sldNum" sz="quarter" idx="10"/>
          </p:nvPr>
        </p:nvSpPr>
        <p:spPr/>
        <p:txBody>
          <a:bodyPr/>
          <a:lstStyle/>
          <a:p>
            <a:fld id="{17BB39F0-368F-4D24-B4FA-2BF3501F2C64}" type="slidenum">
              <a:rPr lang="he-IL" smtClean="0"/>
              <a:pPr/>
              <a:t>26</a:t>
            </a:fld>
            <a:endParaRPr lang="he-I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365651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464026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54156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585819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8" name="Footer Placeholder 7"/>
          <p:cNvSpPr>
            <a:spLocks noGrp="1"/>
          </p:cNvSpPr>
          <p:nvPr>
            <p:ph type="ftr" sz="quarter" idx="11"/>
          </p:nvPr>
        </p:nvSpPr>
        <p:spPr/>
        <p:txBody>
          <a:bodyPr/>
          <a:lstStyle/>
          <a:p>
            <a:endParaRPr lang="he-IL">
              <a:solidFill>
                <a:prstClr val="black">
                  <a:tint val="75000"/>
                </a:prstClr>
              </a:solidFill>
            </a:endParaRPr>
          </a:p>
        </p:txBody>
      </p:sp>
      <p:sp>
        <p:nvSpPr>
          <p:cNvPr id="9" name="Slide Number Placeholder 8"/>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75768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4" name="Footer Placeholder 3"/>
          <p:cNvSpPr>
            <a:spLocks noGrp="1"/>
          </p:cNvSpPr>
          <p:nvPr>
            <p:ph type="ftr" sz="quarter" idx="11"/>
          </p:nvPr>
        </p:nvSpPr>
        <p:spPr/>
        <p:txBody>
          <a:bodyPr/>
          <a:lstStyle/>
          <a:p>
            <a:endParaRPr lang="he-IL">
              <a:solidFill>
                <a:prstClr val="black">
                  <a:tint val="75000"/>
                </a:prstClr>
              </a:solidFill>
            </a:endParaRPr>
          </a:p>
        </p:txBody>
      </p:sp>
      <p:sp>
        <p:nvSpPr>
          <p:cNvPr id="5" name="Slide Number Placeholder 4"/>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788157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3" name="Footer Placeholder 2"/>
          <p:cNvSpPr>
            <a:spLocks noGrp="1"/>
          </p:cNvSpPr>
          <p:nvPr>
            <p:ph type="ftr" sz="quarter" idx="11"/>
          </p:nvPr>
        </p:nvSpPr>
        <p:spPr/>
        <p:txBody>
          <a:bodyPr/>
          <a:lstStyle/>
          <a:p>
            <a:endParaRPr lang="he-IL">
              <a:solidFill>
                <a:prstClr val="black">
                  <a:tint val="75000"/>
                </a:prstClr>
              </a:solidFill>
            </a:endParaRPr>
          </a:p>
        </p:txBody>
      </p:sp>
      <p:sp>
        <p:nvSpPr>
          <p:cNvPr id="4" name="Slide Number Placeholder 3"/>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209364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53115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490530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364386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014878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663196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624879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8715829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929263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8" name="Footer Placeholder 7"/>
          <p:cNvSpPr>
            <a:spLocks noGrp="1"/>
          </p:cNvSpPr>
          <p:nvPr>
            <p:ph type="ftr" sz="quarter" idx="11"/>
          </p:nvPr>
        </p:nvSpPr>
        <p:spPr/>
        <p:txBody>
          <a:bodyPr/>
          <a:lstStyle/>
          <a:p>
            <a:endParaRPr lang="he-IL">
              <a:solidFill>
                <a:prstClr val="black">
                  <a:tint val="75000"/>
                </a:prstClr>
              </a:solidFill>
            </a:endParaRPr>
          </a:p>
        </p:txBody>
      </p:sp>
      <p:sp>
        <p:nvSpPr>
          <p:cNvPr id="9" name="Slide Number Placeholder 8"/>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8281829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4" name="Footer Placeholder 3"/>
          <p:cNvSpPr>
            <a:spLocks noGrp="1"/>
          </p:cNvSpPr>
          <p:nvPr>
            <p:ph type="ftr" sz="quarter" idx="11"/>
          </p:nvPr>
        </p:nvSpPr>
        <p:spPr/>
        <p:txBody>
          <a:bodyPr/>
          <a:lstStyle/>
          <a:p>
            <a:endParaRPr lang="he-IL">
              <a:solidFill>
                <a:prstClr val="black">
                  <a:tint val="75000"/>
                </a:prstClr>
              </a:solidFill>
            </a:endParaRPr>
          </a:p>
        </p:txBody>
      </p:sp>
      <p:sp>
        <p:nvSpPr>
          <p:cNvPr id="5" name="Slide Number Placeholder 4"/>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911532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3" name="Footer Placeholder 2"/>
          <p:cNvSpPr>
            <a:spLocks noGrp="1"/>
          </p:cNvSpPr>
          <p:nvPr>
            <p:ph type="ftr" sz="quarter" idx="11"/>
          </p:nvPr>
        </p:nvSpPr>
        <p:spPr/>
        <p:txBody>
          <a:bodyPr/>
          <a:lstStyle/>
          <a:p>
            <a:endParaRPr lang="he-IL">
              <a:solidFill>
                <a:prstClr val="black">
                  <a:tint val="75000"/>
                </a:prstClr>
              </a:solidFill>
            </a:endParaRPr>
          </a:p>
        </p:txBody>
      </p:sp>
      <p:sp>
        <p:nvSpPr>
          <p:cNvPr id="4" name="Slide Number Placeholder 3"/>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01134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8871513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2646680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802234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777586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265627720"/>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solidFill>
                  <a:prstClr val="black">
                    <a:tint val="75000"/>
                  </a:prstClr>
                </a:solidFill>
              </a:rPr>
              <a:pPr/>
              <a:t>ד'/שבט/תשפ"ו</a:t>
            </a:fld>
            <a:endParaRPr lang="he-IL">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95134297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0.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1124744"/>
            <a:ext cx="8229600" cy="1143000"/>
          </a:xfrm>
        </p:spPr>
        <p:txBody>
          <a:bodyPr>
            <a:noAutofit/>
          </a:bodyPr>
          <a:lstStyle/>
          <a:p>
            <a:pPr algn="ctr"/>
            <a:br>
              <a:rPr lang="en-US" sz="8800" dirty="0">
                <a:cs typeface="+mn-cs"/>
              </a:rPr>
            </a:br>
            <a:endParaRPr lang="he-IL" sz="8800" dirty="0">
              <a:cs typeface="+mn-cs"/>
            </a:endParaRPr>
          </a:p>
        </p:txBody>
      </p:sp>
      <p:sp>
        <p:nvSpPr>
          <p:cNvPr id="3" name="מציין מיקום תוכן 2"/>
          <p:cNvSpPr>
            <a:spLocks noGrp="1"/>
          </p:cNvSpPr>
          <p:nvPr>
            <p:ph idx="1"/>
          </p:nvPr>
        </p:nvSpPr>
        <p:spPr>
          <a:xfrm>
            <a:off x="628650" y="908720"/>
            <a:ext cx="7886700" cy="3115543"/>
          </a:xfrm>
          <a:solidFill>
            <a:schemeClr val="accent6">
              <a:lumMod val="20000"/>
              <a:lumOff val="80000"/>
            </a:schemeClr>
          </a:solidFill>
        </p:spPr>
        <p:txBody>
          <a:bodyPr>
            <a:normAutofit fontScale="77500" lnSpcReduction="20000"/>
          </a:bodyPr>
          <a:lstStyle/>
          <a:p>
            <a:pPr marL="0" indent="0" algn="ctr" rtl="1">
              <a:lnSpc>
                <a:spcPct val="150000"/>
              </a:lnSpc>
              <a:buNone/>
            </a:pPr>
            <a:r>
              <a:rPr lang="he-IL" sz="4800" dirty="0"/>
              <a:t>התערבות ממשלה במשק סגור:</a:t>
            </a:r>
            <a:br>
              <a:rPr lang="en-US" sz="4800" dirty="0"/>
            </a:br>
            <a:r>
              <a:rPr lang="he-IL" sz="4800" dirty="0"/>
              <a:t>1. הטלת מיסים</a:t>
            </a:r>
            <a:br>
              <a:rPr lang="en-US" sz="4800" dirty="0"/>
            </a:br>
            <a:r>
              <a:rPr lang="he-IL" sz="4800" dirty="0"/>
              <a:t>2. מתן סובסידיה</a:t>
            </a:r>
            <a:br>
              <a:rPr lang="en-US" sz="4800" dirty="0"/>
            </a:br>
            <a:endParaRPr lang="he-IL" sz="4800" dirty="0"/>
          </a:p>
        </p:txBody>
      </p:sp>
      <p:sp>
        <p:nvSpPr>
          <p:cNvPr id="5" name="TextBox 4">
            <a:extLst>
              <a:ext uri="{FF2B5EF4-FFF2-40B4-BE49-F238E27FC236}">
                <a16:creationId xmlns:a16="http://schemas.microsoft.com/office/drawing/2014/main" id="{5D3C48EF-95DA-4A89-BAAD-8C080FA9F4DC}"/>
              </a:ext>
            </a:extLst>
          </p:cNvPr>
          <p:cNvSpPr txBox="1"/>
          <p:nvPr/>
        </p:nvSpPr>
        <p:spPr>
          <a:xfrm>
            <a:off x="2286000" y="5229200"/>
            <a:ext cx="4572000" cy="1143326"/>
          </a:xfrm>
          <a:prstGeom prst="rect">
            <a:avLst/>
          </a:prstGeom>
          <a:noFill/>
        </p:spPr>
        <p:txBody>
          <a:bodyPr wrap="square">
            <a:spAutoFit/>
          </a:bodyPr>
          <a:lstStyle/>
          <a:p>
            <a:pPr marL="0" indent="0" algn="ctr">
              <a:lnSpc>
                <a:spcPct val="150000"/>
              </a:lnSpc>
              <a:buNone/>
            </a:pPr>
            <a:r>
              <a:rPr lang="he-IL" sz="2800" dirty="0"/>
              <a:t>מבוא למיקרו כלכלה</a:t>
            </a:r>
          </a:p>
          <a:p>
            <a:pPr marL="0" indent="0" algn="ctr">
              <a:lnSpc>
                <a:spcPct val="150000"/>
              </a:lnSpc>
              <a:buNone/>
            </a:pPr>
            <a:r>
              <a:rPr lang="he-IL" sz="2000" dirty="0"/>
              <a:t>מיכאלה משקוביץ'</a:t>
            </a:r>
          </a:p>
        </p:txBody>
      </p:sp>
    </p:spTree>
    <p:extLst>
      <p:ext uri="{BB962C8B-B14F-4D97-AF65-F5344CB8AC3E}">
        <p14:creationId xmlns:p14="http://schemas.microsoft.com/office/powerpoint/2010/main" val="3199979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a:extLst>
              <a:ext uri="{FF2B5EF4-FFF2-40B4-BE49-F238E27FC236}">
                <a16:creationId xmlns:a16="http://schemas.microsoft.com/office/drawing/2014/main" id="{33188926-0E6C-413D-9C27-477FCA980FE3}"/>
              </a:ext>
            </a:extLst>
          </p:cNvPr>
          <p:cNvSpPr>
            <a:spLocks noGrp="1"/>
          </p:cNvSpPr>
          <p:nvPr>
            <p:ph type="title"/>
          </p:nvPr>
        </p:nvSpPr>
        <p:spPr>
          <a:xfrm>
            <a:off x="795250" y="0"/>
            <a:ext cx="8229600" cy="1143000"/>
          </a:xfrm>
        </p:spPr>
        <p:txBody>
          <a:bodyPr/>
          <a:lstStyle/>
          <a:p>
            <a:pPr algn="r"/>
            <a:r>
              <a:rPr lang="he-IL" b="1" dirty="0">
                <a:solidFill>
                  <a:schemeClr val="tx2">
                    <a:lumMod val="75000"/>
                  </a:schemeClr>
                </a:solidFill>
              </a:rPr>
              <a:t>שאלה 1</a:t>
            </a:r>
            <a:endParaRPr lang="he-IL" dirty="0"/>
          </a:p>
        </p:txBody>
      </p:sp>
      <p:sp>
        <p:nvSpPr>
          <p:cNvPr id="8" name="TextBox 7">
            <a:extLst>
              <a:ext uri="{FF2B5EF4-FFF2-40B4-BE49-F238E27FC236}">
                <a16:creationId xmlns:a16="http://schemas.microsoft.com/office/drawing/2014/main" id="{CB1F2D33-527B-448B-9474-9298B1337E3D}"/>
              </a:ext>
            </a:extLst>
          </p:cNvPr>
          <p:cNvSpPr txBox="1"/>
          <p:nvPr/>
        </p:nvSpPr>
        <p:spPr>
          <a:xfrm>
            <a:off x="467544" y="1143000"/>
            <a:ext cx="8466813" cy="5040675"/>
          </a:xfrm>
          <a:prstGeom prst="rect">
            <a:avLst/>
          </a:prstGeom>
          <a:noFill/>
        </p:spPr>
        <p:txBody>
          <a:bodyPr wrap="square">
            <a:spAutoFit/>
          </a:bodyPr>
          <a:lstStyle/>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הביקוש המצרפי לאפרסקים במשק נתון ע"י        </a:t>
            </a:r>
            <a:r>
              <a:rPr lang="en-US" sz="1800" dirty="0">
                <a:effectLst/>
                <a:latin typeface="David" panose="020E0502060401010101" pitchFamily="34" charset="-79"/>
                <a:ea typeface="SimSun" panose="02010600030101010101" pitchFamily="2" charset="-122"/>
              </a:rPr>
              <a:t>P=700-0.3X</a:t>
            </a:r>
            <a:endParaRPr lang="en-IL" sz="1800" dirty="0">
              <a:effectLst/>
              <a:latin typeface="Times New Roman" panose="02020603050405020304" pitchFamily="18" charset="0"/>
              <a:ea typeface="SimSun" panose="02010600030101010101" pitchFamily="2" charset="-122"/>
            </a:endParaRPr>
          </a:p>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ההיצע המצרפי של האפרסקים נתון ע"י            </a:t>
            </a:r>
            <a:r>
              <a:rPr lang="en-US" sz="1800" dirty="0">
                <a:effectLst/>
                <a:latin typeface="David" panose="020E0502060401010101" pitchFamily="34" charset="-79"/>
                <a:ea typeface="SimSun" panose="02010600030101010101" pitchFamily="2" charset="-122"/>
              </a:rPr>
              <a:t>P=100+0.25X</a:t>
            </a:r>
            <a:endParaRPr lang="en-IL" sz="1800" dirty="0">
              <a:effectLst/>
              <a:latin typeface="Times New Roman" panose="02020603050405020304" pitchFamily="18" charset="0"/>
              <a:ea typeface="SimSun" panose="02010600030101010101" pitchFamily="2" charset="-122"/>
            </a:endParaRPr>
          </a:p>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כאשר </a:t>
            </a:r>
            <a:r>
              <a:rPr lang="en-US" sz="1800" dirty="0">
                <a:effectLst/>
                <a:latin typeface="David" panose="020E0502060401010101" pitchFamily="34" charset="-79"/>
                <a:ea typeface="SimSun" panose="02010600030101010101" pitchFamily="2" charset="-122"/>
              </a:rPr>
              <a:t>X</a:t>
            </a:r>
            <a:r>
              <a:rPr lang="he-IL" sz="1800" dirty="0">
                <a:effectLst/>
                <a:latin typeface="Times New Roman" panose="02020603050405020304" pitchFamily="18" charset="0"/>
                <a:ea typeface="SimSun" panose="02010600030101010101" pitchFamily="2" charset="-122"/>
                <a:cs typeface="David" panose="020E0502060401010101" pitchFamily="34" charset="-79"/>
              </a:rPr>
              <a:t>- כמות בטון אפרסקים.  </a:t>
            </a:r>
            <a:r>
              <a:rPr lang="en-US" sz="1800" dirty="0">
                <a:effectLst/>
                <a:latin typeface="David" panose="020E0502060401010101" pitchFamily="34" charset="-79"/>
                <a:ea typeface="SimSun" panose="02010600030101010101" pitchFamily="2" charset="-122"/>
              </a:rPr>
              <a:t>P</a:t>
            </a:r>
            <a:r>
              <a:rPr lang="he-IL" sz="1800" dirty="0">
                <a:effectLst/>
                <a:latin typeface="Times New Roman" panose="02020603050405020304" pitchFamily="18" charset="0"/>
                <a:ea typeface="SimSun" panose="02010600030101010101" pitchFamily="2" charset="-122"/>
                <a:cs typeface="David" panose="020E0502060401010101" pitchFamily="34" charset="-79"/>
              </a:rPr>
              <a:t>- מחיר לטון.</a:t>
            </a:r>
          </a:p>
          <a:p>
            <a:pPr algn="r" rtl="1">
              <a:lnSpc>
                <a:spcPct val="150000"/>
              </a:lnSpc>
            </a:pPr>
            <a:endParaRPr lang="en-IL" sz="1800" dirty="0">
              <a:effectLst/>
              <a:latin typeface="Times New Roman" panose="02020603050405020304" pitchFamily="18" charset="0"/>
              <a:ea typeface="SimSun" panose="02010600030101010101" pitchFamily="2" charset="-122"/>
            </a:endParaRPr>
          </a:p>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א) 1) ציירו את עקומות הביקוש וההיצע. </a:t>
            </a:r>
            <a:endParaRPr lang="en-IL" sz="1800" dirty="0">
              <a:effectLst/>
              <a:latin typeface="Times New Roman" panose="02020603050405020304" pitchFamily="18" charset="0"/>
              <a:ea typeface="SimSun" panose="02010600030101010101" pitchFamily="2" charset="-122"/>
            </a:endParaRPr>
          </a:p>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     2) חשבו את מחיר וכמות שיווי המשקל.</a:t>
            </a:r>
            <a:endParaRPr lang="en-IL" sz="1800" dirty="0">
              <a:effectLst/>
              <a:latin typeface="Times New Roman" panose="02020603050405020304" pitchFamily="18" charset="0"/>
              <a:ea typeface="SimSun" panose="02010600030101010101" pitchFamily="2" charset="-122"/>
            </a:endParaRPr>
          </a:p>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     3) היעזרו בגרף וחשבו את עודף הצרכן, עודף היצרן ורווחת המשק.</a:t>
            </a:r>
          </a:p>
          <a:p>
            <a:pPr algn="r" rtl="1">
              <a:lnSpc>
                <a:spcPct val="150000"/>
              </a:lnSpc>
            </a:pPr>
            <a:endParaRPr lang="en-IL" sz="1800" dirty="0">
              <a:effectLst/>
              <a:latin typeface="Times New Roman" panose="02020603050405020304" pitchFamily="18" charset="0"/>
              <a:ea typeface="SimSun" panose="02010600030101010101" pitchFamily="2" charset="-122"/>
            </a:endParaRPr>
          </a:p>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ב)   הניחו שמוטל מס בסך 50 ₪ על כל טון אפרסקים שנמכר. המס משמש למימון פעילות שתוסיף </a:t>
            </a:r>
            <a:endParaRPr lang="en-IL" sz="1800" dirty="0">
              <a:effectLst/>
              <a:latin typeface="Times New Roman" panose="02020603050405020304" pitchFamily="18" charset="0"/>
              <a:ea typeface="SimSun" panose="02010600030101010101" pitchFamily="2" charset="-122"/>
            </a:endParaRPr>
          </a:p>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       לרווחת המשק. חשבו במצב החדש את עודף הצרכן, עודף היצרן ואת הכנסות הממשלה ממיסים</a:t>
            </a:r>
          </a:p>
          <a:p>
            <a:pPr algn="r" rtl="1">
              <a:lnSpc>
                <a:spcPct val="150000"/>
              </a:lnSpc>
            </a:pPr>
            <a:endParaRPr lang="en-IL" sz="1800" dirty="0">
              <a:effectLst/>
              <a:latin typeface="Times New Roman" panose="02020603050405020304" pitchFamily="18" charset="0"/>
              <a:ea typeface="SimSun" panose="02010600030101010101" pitchFamily="2" charset="-122"/>
            </a:endParaRPr>
          </a:p>
          <a:p>
            <a:pPr algn="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ג) מה קרה לסך הרווחה במשק?  </a:t>
            </a:r>
            <a:endParaRPr lang="en-IL"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4095783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95250" y="0"/>
            <a:ext cx="8229600" cy="1143000"/>
          </a:xfrm>
        </p:spPr>
        <p:txBody>
          <a:bodyPr/>
          <a:lstStyle/>
          <a:p>
            <a:pPr algn="r"/>
            <a:r>
              <a:rPr lang="he-IL" b="1" dirty="0">
                <a:solidFill>
                  <a:schemeClr val="tx2">
                    <a:lumMod val="75000"/>
                  </a:schemeClr>
                </a:solidFill>
              </a:rPr>
              <a:t>שאלה 1</a:t>
            </a:r>
            <a:endParaRPr lang="he-IL" dirty="0"/>
          </a:p>
        </p:txBody>
      </p:sp>
      <p:sp>
        <p:nvSpPr>
          <p:cNvPr id="7" name="מציין מיקום תוכן 6"/>
          <p:cNvSpPr>
            <a:spLocks noGrp="1"/>
          </p:cNvSpPr>
          <p:nvPr>
            <p:ph idx="1"/>
          </p:nvPr>
        </p:nvSpPr>
        <p:spPr>
          <a:xfrm>
            <a:off x="1259632" y="1214423"/>
            <a:ext cx="7427168" cy="1327674"/>
          </a:xfrm>
        </p:spPr>
        <p:txBody>
          <a:bodyPr>
            <a:normAutofit/>
          </a:bodyPr>
          <a:lstStyle/>
          <a:p>
            <a:pPr marL="0" indent="0" algn="r" rtl="1">
              <a:buNone/>
            </a:pPr>
            <a:r>
              <a:rPr lang="he-IL" sz="2000" dirty="0"/>
              <a:t>הביקוש המצרפי לאפרסקים במשק נתון ע"י        </a:t>
            </a:r>
            <a:r>
              <a:rPr lang="en-US" sz="2000" dirty="0">
                <a:solidFill>
                  <a:srgbClr val="7030A0"/>
                </a:solidFill>
              </a:rPr>
              <a:t>P=700-0.3X</a:t>
            </a:r>
          </a:p>
          <a:p>
            <a:pPr marL="0" indent="0" algn="r" rtl="1">
              <a:buNone/>
            </a:pPr>
            <a:r>
              <a:rPr lang="he-IL" sz="2000" dirty="0"/>
              <a:t>ההיצע המצרפי של האפרסקים נתון ע"י           </a:t>
            </a:r>
            <a:r>
              <a:rPr lang="en-US" sz="2000" dirty="0"/>
              <a:t>P=100+0.25X</a:t>
            </a:r>
          </a:p>
          <a:p>
            <a:pPr algn="r" rtl="1">
              <a:buNone/>
            </a:pPr>
            <a:r>
              <a:rPr lang="he-IL" sz="2000" dirty="0"/>
              <a:t>כאשר </a:t>
            </a:r>
            <a:r>
              <a:rPr lang="en-US" sz="2000" dirty="0"/>
              <a:t>X</a:t>
            </a:r>
            <a:r>
              <a:rPr lang="he-IL" sz="2000" dirty="0"/>
              <a:t>- כמות בטון אפרסקים, </a:t>
            </a:r>
            <a:r>
              <a:rPr lang="en-US" sz="2000" dirty="0"/>
              <a:t>P</a:t>
            </a:r>
            <a:r>
              <a:rPr lang="he-IL" sz="2000" dirty="0"/>
              <a:t>-מחיר לטון.</a:t>
            </a:r>
            <a:endParaRPr lang="en-US" sz="2000" dirty="0"/>
          </a:p>
          <a:p>
            <a:pPr algn="r" rtl="1"/>
            <a:endParaRPr lang="he-IL" sz="2200" b="1" dirty="0"/>
          </a:p>
        </p:txBody>
      </p:sp>
      <p:grpSp>
        <p:nvGrpSpPr>
          <p:cNvPr id="12"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prstClr val="black"/>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689330" y="5929330"/>
            <a:ext cx="954108" cy="369332"/>
          </a:xfrm>
          <a:prstGeom prst="rect">
            <a:avLst/>
          </a:prstGeom>
          <a:noFill/>
        </p:spPr>
        <p:txBody>
          <a:bodyPr wrap="none" rtlCol="1">
            <a:spAutoFit/>
          </a:bodyPr>
          <a:lstStyle/>
          <a:p>
            <a:r>
              <a:rPr lang="he-IL" dirty="0">
                <a:solidFill>
                  <a:prstClr val="black"/>
                </a:solidFill>
              </a:rPr>
              <a:t>2,333.3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sp>
        <p:nvSpPr>
          <p:cNvPr id="3" name="מלבן 2"/>
          <p:cNvSpPr/>
          <p:nvPr/>
        </p:nvSpPr>
        <p:spPr>
          <a:xfrm>
            <a:off x="3491880" y="2596534"/>
            <a:ext cx="5088612" cy="430887"/>
          </a:xfrm>
          <a:prstGeom prst="rect">
            <a:avLst/>
          </a:prstGeom>
        </p:spPr>
        <p:txBody>
          <a:bodyPr wrap="square">
            <a:spAutoFit/>
          </a:bodyPr>
          <a:lstStyle/>
          <a:p>
            <a:pPr>
              <a:spcBef>
                <a:spcPct val="20000"/>
              </a:spcBef>
            </a:pPr>
            <a:r>
              <a:rPr lang="he-IL" sz="2200" b="1" dirty="0">
                <a:solidFill>
                  <a:prstClr val="black"/>
                </a:solidFill>
              </a:rPr>
              <a:t>סעיף א1</a:t>
            </a:r>
            <a:r>
              <a:rPr lang="he-IL" sz="2200" dirty="0">
                <a:solidFill>
                  <a:prstClr val="black"/>
                </a:solidFill>
              </a:rPr>
              <a:t> – נתווה את עקומות הביקוש וההיצע:</a:t>
            </a:r>
            <a:endParaRPr lang="he-IL" sz="2200" b="1" dirty="0">
              <a:solidFill>
                <a:prstClr val="black"/>
              </a:solidFill>
            </a:endParaRPr>
          </a:p>
        </p:txBody>
      </p:sp>
    </p:spTree>
    <p:extLst>
      <p:ext uri="{BB962C8B-B14F-4D97-AF65-F5344CB8AC3E}">
        <p14:creationId xmlns:p14="http://schemas.microsoft.com/office/powerpoint/2010/main" val="68871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par>
                                <p:cTn id="8" presetID="2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500"/>
                                        <p:tgtEl>
                                          <p:spTgt spid="18"/>
                                        </p:tgtEl>
                                      </p:cBhvr>
                                    </p:animEffect>
                                  </p:childTnLst>
                                </p:cTn>
                              </p:par>
                              <p:par>
                                <p:cTn id="17" presetID="2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down)">
                                      <p:cBhvr>
                                        <p:cTn id="22" dur="500"/>
                                        <p:tgtEl>
                                          <p:spTgt spid="2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down)">
                                      <p:cBhvr>
                                        <p:cTn id="25" dur="500"/>
                                        <p:tgtEl>
                                          <p:spTgt spid="2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down)">
                                      <p:cBhvr>
                                        <p:cTn id="28" dur="500"/>
                                        <p:tgtEl>
                                          <p:spTgt spid="20"/>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down)">
                                      <p:cBhvr>
                                        <p:cTn id="31" dur="500"/>
                                        <p:tgtEl>
                                          <p:spTgt spid="23"/>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down)">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92280" y="0"/>
            <a:ext cx="2051720" cy="1143000"/>
          </a:xfrm>
        </p:spPr>
        <p:txBody>
          <a:bodyPr/>
          <a:lstStyle/>
          <a:p>
            <a:pPr algn="r"/>
            <a:r>
              <a:rPr lang="he-IL" b="1" dirty="0">
                <a:solidFill>
                  <a:schemeClr val="tx2">
                    <a:lumMod val="75000"/>
                  </a:schemeClr>
                </a:solidFill>
              </a:rPr>
              <a:t>שאלה 1</a:t>
            </a:r>
            <a:endParaRPr lang="he-IL" dirty="0"/>
          </a:p>
        </p:txBody>
      </p:sp>
      <p:sp>
        <p:nvSpPr>
          <p:cNvPr id="7" name="מציין מיקום תוכן 6"/>
          <p:cNvSpPr>
            <a:spLocks noGrp="1"/>
          </p:cNvSpPr>
          <p:nvPr>
            <p:ph idx="1"/>
          </p:nvPr>
        </p:nvSpPr>
        <p:spPr>
          <a:xfrm>
            <a:off x="1100142" y="4907000"/>
            <a:ext cx="8229600" cy="1224136"/>
          </a:xfrm>
        </p:spPr>
        <p:txBody>
          <a:bodyPr>
            <a:normAutofit/>
          </a:bodyPr>
          <a:lstStyle/>
          <a:p>
            <a:pPr algn="ctr">
              <a:buNone/>
            </a:pPr>
            <a:r>
              <a:rPr lang="he-IL" sz="2200" dirty="0"/>
              <a:t>			</a:t>
            </a:r>
            <a:endParaRPr lang="en-US" sz="2200" dirty="0"/>
          </a:p>
          <a:p>
            <a:pPr algn="ctr">
              <a:buNone/>
            </a:pPr>
            <a:r>
              <a:rPr lang="he-IL" sz="2200" dirty="0"/>
              <a:t>				</a:t>
            </a:r>
          </a:p>
          <a:p>
            <a:pPr algn="ctr">
              <a:buNone/>
            </a:pPr>
            <a:r>
              <a:rPr lang="en-US" sz="2200" dirty="0">
                <a:latin typeface="Calibri"/>
                <a:cs typeface="Calibri"/>
              </a:rPr>
              <a:t>	</a:t>
            </a:r>
            <a:r>
              <a:rPr lang="en-US" sz="2200" dirty="0"/>
              <a:t>			</a:t>
            </a:r>
            <a:endParaRPr lang="he-IL" sz="2200" dirty="0"/>
          </a:p>
        </p:txBody>
      </p:sp>
      <p:grpSp>
        <p:nvGrpSpPr>
          <p:cNvPr id="3"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prstClr val="black"/>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561090"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sp>
        <p:nvSpPr>
          <p:cNvPr id="4" name="מלבן 3"/>
          <p:cNvSpPr/>
          <p:nvPr/>
        </p:nvSpPr>
        <p:spPr>
          <a:xfrm>
            <a:off x="142844"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a:t>
            </a:r>
            <a:r>
              <a:rPr lang="en-US" sz="2000" dirty="0">
                <a:solidFill>
                  <a:srgbClr val="7030A0"/>
                </a:solidFill>
              </a:rPr>
              <a:t>P=700-0.3X</a:t>
            </a:r>
          </a:p>
          <a:p>
            <a:pPr>
              <a:spcBef>
                <a:spcPct val="20000"/>
              </a:spcBef>
            </a:pPr>
            <a:r>
              <a:rPr lang="he-IL" sz="2000" dirty="0">
                <a:solidFill>
                  <a:prstClr val="black"/>
                </a:solidFill>
              </a:rPr>
              <a:t>ההיצע המצרפי של האפרסקים נתון ע"י           </a:t>
            </a:r>
            <a:r>
              <a:rPr lang="en-US" sz="2000" dirty="0">
                <a:solidFill>
                  <a:prstClr val="black"/>
                </a:solidFill>
              </a:rPr>
              <a:t>P=100+0.25X</a:t>
            </a:r>
          </a:p>
        </p:txBody>
      </p:sp>
      <p:sp>
        <p:nvSpPr>
          <p:cNvPr id="5" name="מלבן 4"/>
          <p:cNvSpPr/>
          <p:nvPr/>
        </p:nvSpPr>
        <p:spPr>
          <a:xfrm>
            <a:off x="3556560" y="1268760"/>
            <a:ext cx="5326061" cy="430887"/>
          </a:xfrm>
          <a:prstGeom prst="rect">
            <a:avLst/>
          </a:prstGeom>
        </p:spPr>
        <p:txBody>
          <a:bodyPr wrap="square">
            <a:spAutoFit/>
          </a:bodyPr>
          <a:lstStyle/>
          <a:p>
            <a:pPr>
              <a:spcBef>
                <a:spcPct val="20000"/>
              </a:spcBef>
            </a:pPr>
            <a:r>
              <a:rPr lang="he-IL" sz="2200" b="1" dirty="0">
                <a:solidFill>
                  <a:prstClr val="black"/>
                </a:solidFill>
              </a:rPr>
              <a:t>סעיף א2</a:t>
            </a:r>
            <a:r>
              <a:rPr lang="he-IL" sz="2200" dirty="0">
                <a:solidFill>
                  <a:prstClr val="black"/>
                </a:solidFill>
              </a:rPr>
              <a:t> – נחשב את מחיר וכמות ש"מ</a:t>
            </a:r>
          </a:p>
        </p:txBody>
      </p:sp>
      <p:sp>
        <p:nvSpPr>
          <p:cNvPr id="6" name="מלבן 5"/>
          <p:cNvSpPr/>
          <p:nvPr/>
        </p:nvSpPr>
        <p:spPr>
          <a:xfrm>
            <a:off x="3820751" y="1889610"/>
            <a:ext cx="5323249" cy="837152"/>
          </a:xfrm>
          <a:prstGeom prst="rect">
            <a:avLst/>
          </a:prstGeom>
        </p:spPr>
        <p:txBody>
          <a:bodyPr wrap="square">
            <a:spAutoFit/>
          </a:bodyPr>
          <a:lstStyle/>
          <a:p>
            <a:pPr>
              <a:spcBef>
                <a:spcPct val="20000"/>
              </a:spcBef>
            </a:pPr>
            <a:r>
              <a:rPr lang="he-IL" sz="2200" b="1" dirty="0">
                <a:solidFill>
                  <a:prstClr val="black"/>
                </a:solidFill>
              </a:rPr>
              <a:t>             היצע שווה ל</a:t>
            </a:r>
            <a:r>
              <a:rPr lang="he-IL" sz="2200" b="1" dirty="0">
                <a:solidFill>
                  <a:srgbClr val="7030A0"/>
                </a:solidFill>
              </a:rPr>
              <a:t>ביקוש</a:t>
            </a:r>
            <a:r>
              <a:rPr lang="he-IL" sz="2200" b="1" dirty="0">
                <a:solidFill>
                  <a:prstClr val="black"/>
                </a:solidFill>
              </a:rPr>
              <a:t> (כמויות ומחירים)</a:t>
            </a:r>
          </a:p>
          <a:p>
            <a:pPr marL="342900" indent="-342900" algn="ctr">
              <a:spcBef>
                <a:spcPct val="20000"/>
              </a:spcBef>
            </a:pPr>
            <a:r>
              <a:rPr lang="en-US" sz="2200" dirty="0">
                <a:solidFill>
                  <a:srgbClr val="7030A0"/>
                </a:solidFill>
              </a:rPr>
              <a:t>700-0.3X</a:t>
            </a:r>
            <a:r>
              <a:rPr lang="en-US" sz="2200" dirty="0">
                <a:solidFill>
                  <a:prstClr val="black"/>
                </a:solidFill>
              </a:rPr>
              <a:t> = 100+0.25X</a:t>
            </a:r>
            <a:r>
              <a:rPr lang="he-IL" sz="2200" dirty="0">
                <a:solidFill>
                  <a:prstClr val="black"/>
                </a:solidFill>
              </a:rPr>
              <a:t> 	</a:t>
            </a:r>
            <a:endParaRPr lang="he-IL" dirty="0">
              <a:solidFill>
                <a:prstClr val="black"/>
              </a:solidFill>
            </a:endParaRPr>
          </a:p>
        </p:txBody>
      </p:sp>
      <p:sp>
        <p:nvSpPr>
          <p:cNvPr id="8" name="מלבן 7"/>
          <p:cNvSpPr/>
          <p:nvPr/>
        </p:nvSpPr>
        <p:spPr>
          <a:xfrm>
            <a:off x="5292080" y="2746385"/>
            <a:ext cx="2877468" cy="769441"/>
          </a:xfrm>
          <a:prstGeom prst="rect">
            <a:avLst/>
          </a:prstGeom>
        </p:spPr>
        <p:txBody>
          <a:bodyPr wrap="square">
            <a:spAutoFit/>
          </a:bodyPr>
          <a:lstStyle/>
          <a:p>
            <a:r>
              <a:rPr lang="he-IL" sz="2200" dirty="0">
                <a:solidFill>
                  <a:prstClr val="black"/>
                </a:solidFill>
              </a:rPr>
              <a:t>	</a:t>
            </a:r>
            <a:r>
              <a:rPr lang="en-US" sz="2200" dirty="0">
                <a:solidFill>
                  <a:prstClr val="black"/>
                </a:solidFill>
              </a:rPr>
              <a:t>600 = 0.55X</a:t>
            </a:r>
            <a:r>
              <a:rPr lang="he-IL" sz="2200" dirty="0">
                <a:solidFill>
                  <a:prstClr val="black"/>
                </a:solidFill>
              </a:rPr>
              <a:t>	</a:t>
            </a:r>
            <a:endParaRPr lang="he-IL" dirty="0">
              <a:solidFill>
                <a:prstClr val="black"/>
              </a:solidFill>
            </a:endParaRPr>
          </a:p>
        </p:txBody>
      </p:sp>
      <p:sp>
        <p:nvSpPr>
          <p:cNvPr id="9" name="מלבן 8"/>
          <p:cNvSpPr/>
          <p:nvPr/>
        </p:nvSpPr>
        <p:spPr>
          <a:xfrm>
            <a:off x="5062496" y="3312567"/>
            <a:ext cx="3268704" cy="430887"/>
          </a:xfrm>
          <a:prstGeom prst="rect">
            <a:avLst/>
          </a:prstGeom>
        </p:spPr>
        <p:txBody>
          <a:bodyPr wrap="square">
            <a:spAutoFit/>
          </a:bodyPr>
          <a:lstStyle/>
          <a:p>
            <a:r>
              <a:rPr lang="en-US" sz="2200" dirty="0">
                <a:solidFill>
                  <a:prstClr val="black"/>
                </a:solidFill>
              </a:rPr>
              <a:t>	</a:t>
            </a:r>
            <a:r>
              <a:rPr lang="en-US" sz="2200" b="1" dirty="0">
                <a:solidFill>
                  <a:prstClr val="black"/>
                </a:solidFill>
              </a:rPr>
              <a:t>X = 1,090.91</a:t>
            </a:r>
            <a:r>
              <a:rPr lang="he-IL" sz="2200" dirty="0">
                <a:solidFill>
                  <a:prstClr val="black"/>
                </a:solidFill>
              </a:rPr>
              <a:t>	</a:t>
            </a:r>
            <a:endParaRPr lang="he-IL" dirty="0">
              <a:solidFill>
                <a:prstClr val="black"/>
              </a:solidFill>
            </a:endParaRPr>
          </a:p>
        </p:txBody>
      </p:sp>
      <p:sp>
        <p:nvSpPr>
          <p:cNvPr id="12" name="מלבן 11"/>
          <p:cNvSpPr/>
          <p:nvPr/>
        </p:nvSpPr>
        <p:spPr>
          <a:xfrm>
            <a:off x="4030304" y="3910942"/>
            <a:ext cx="4512816" cy="430887"/>
          </a:xfrm>
          <a:prstGeom prst="rect">
            <a:avLst/>
          </a:prstGeom>
        </p:spPr>
        <p:txBody>
          <a:bodyPr wrap="square">
            <a:spAutoFit/>
          </a:bodyPr>
          <a:lstStyle/>
          <a:p>
            <a:r>
              <a:rPr lang="en-US" sz="2200" b="1" dirty="0">
                <a:solidFill>
                  <a:prstClr val="black"/>
                </a:solidFill>
              </a:rPr>
              <a:t>P </a:t>
            </a:r>
            <a:r>
              <a:rPr lang="en-US" sz="2200" dirty="0">
                <a:solidFill>
                  <a:prstClr val="black"/>
                </a:solidFill>
              </a:rPr>
              <a:t>= 700-0.3</a:t>
            </a:r>
            <a:r>
              <a:rPr lang="en-US" sz="2200" dirty="0">
                <a:solidFill>
                  <a:prstClr val="black"/>
                </a:solidFill>
                <a:cs typeface="Calibri"/>
              </a:rPr>
              <a:t>∙1,090.91 </a:t>
            </a:r>
            <a:r>
              <a:rPr lang="en-US" sz="2200" b="1" dirty="0">
                <a:solidFill>
                  <a:prstClr val="black"/>
                </a:solidFill>
                <a:cs typeface="Calibri"/>
              </a:rPr>
              <a:t>= 372.73</a:t>
            </a:r>
            <a:r>
              <a:rPr lang="en-US" sz="2200" dirty="0">
                <a:solidFill>
                  <a:prstClr val="black"/>
                </a:solidFill>
                <a:cs typeface="Calibri"/>
              </a:rPr>
              <a:t>	</a:t>
            </a:r>
            <a:endParaRPr lang="he-IL" dirty="0">
              <a:solidFill>
                <a:prstClr val="black"/>
              </a:solidFill>
            </a:endParaRPr>
          </a:p>
        </p:txBody>
      </p:sp>
    </p:spTree>
    <p:extLst>
      <p:ext uri="{BB962C8B-B14F-4D97-AF65-F5344CB8AC3E}">
        <p14:creationId xmlns:p14="http://schemas.microsoft.com/office/powerpoint/2010/main" val="193271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724128" y="0"/>
            <a:ext cx="3419872" cy="1143000"/>
          </a:xfrm>
        </p:spPr>
        <p:txBody>
          <a:bodyPr/>
          <a:lstStyle/>
          <a:p>
            <a:pPr algn="r"/>
            <a:r>
              <a:rPr lang="he-IL" b="1" dirty="0">
                <a:solidFill>
                  <a:schemeClr val="tx2">
                    <a:lumMod val="75000"/>
                  </a:schemeClr>
                </a:solidFill>
              </a:rPr>
              <a:t>שאלה 1</a:t>
            </a:r>
            <a:endParaRPr lang="he-IL" dirty="0"/>
          </a:p>
        </p:txBody>
      </p:sp>
      <p:grpSp>
        <p:nvGrpSpPr>
          <p:cNvPr id="3"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prstClr val="black"/>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561090"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cxnSp>
        <p:nvCxnSpPr>
          <p:cNvPr id="24" name="מחבר ישר 23"/>
          <p:cNvCxnSpPr/>
          <p:nvPr/>
        </p:nvCxnSpPr>
        <p:spPr>
          <a:xfrm rot="5400000">
            <a:off x="1500447" y="5179231"/>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4"/>
          <p:cNvCxnSpPr/>
          <p:nvPr/>
        </p:nvCxnSpPr>
        <p:spPr>
          <a:xfrm rot="5400000">
            <a:off x="1493984" y="3637132"/>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771286" y="5929330"/>
            <a:ext cx="954108" cy="369332"/>
          </a:xfrm>
          <a:prstGeom prst="rect">
            <a:avLst/>
          </a:prstGeom>
          <a:noFill/>
        </p:spPr>
        <p:txBody>
          <a:bodyPr wrap="none" rtlCol="1">
            <a:spAutoFit/>
          </a:bodyPr>
          <a:lstStyle/>
          <a:p>
            <a:r>
              <a:rPr lang="he-IL" dirty="0">
                <a:solidFill>
                  <a:prstClr val="black"/>
                </a:solidFill>
              </a:rPr>
              <a:t>1,090.9</a:t>
            </a:r>
          </a:p>
        </p:txBody>
      </p:sp>
      <p:sp>
        <p:nvSpPr>
          <p:cNvPr id="27" name="TextBox 26"/>
          <p:cNvSpPr txBox="1"/>
          <p:nvPr/>
        </p:nvSpPr>
        <p:spPr>
          <a:xfrm>
            <a:off x="24038" y="4274114"/>
            <a:ext cx="761748" cy="369332"/>
          </a:xfrm>
          <a:prstGeom prst="rect">
            <a:avLst/>
          </a:prstGeom>
          <a:noFill/>
        </p:spPr>
        <p:txBody>
          <a:bodyPr wrap="none" rtlCol="1">
            <a:spAutoFit/>
          </a:bodyPr>
          <a:lstStyle/>
          <a:p>
            <a:r>
              <a:rPr lang="he-IL" dirty="0">
                <a:solidFill>
                  <a:prstClr val="black"/>
                </a:solidFill>
              </a:rPr>
              <a:t>372.7</a:t>
            </a:r>
          </a:p>
        </p:txBody>
      </p:sp>
      <p:sp>
        <p:nvSpPr>
          <p:cNvPr id="28" name="מלבן 27"/>
          <p:cNvSpPr/>
          <p:nvPr/>
        </p:nvSpPr>
        <p:spPr>
          <a:xfrm>
            <a:off x="142844"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a:t>
            </a:r>
            <a:r>
              <a:rPr lang="en-US" sz="2000" dirty="0">
                <a:solidFill>
                  <a:srgbClr val="7030A0"/>
                </a:solidFill>
              </a:rPr>
              <a:t>P=700-0.3X</a:t>
            </a:r>
          </a:p>
          <a:p>
            <a:pPr>
              <a:spcBef>
                <a:spcPct val="20000"/>
              </a:spcBef>
            </a:pPr>
            <a:r>
              <a:rPr lang="he-IL" sz="2000" dirty="0">
                <a:solidFill>
                  <a:prstClr val="black"/>
                </a:solidFill>
              </a:rPr>
              <a:t>ההיצע המצרפי של האפרסקים נתון ע"י           </a:t>
            </a:r>
            <a:r>
              <a:rPr lang="en-US" sz="2000" dirty="0">
                <a:solidFill>
                  <a:prstClr val="black"/>
                </a:solidFill>
              </a:rPr>
              <a:t>P=100+0.25X</a:t>
            </a:r>
          </a:p>
        </p:txBody>
      </p:sp>
      <p:sp>
        <p:nvSpPr>
          <p:cNvPr id="29" name="מלבן 28"/>
          <p:cNvSpPr/>
          <p:nvPr/>
        </p:nvSpPr>
        <p:spPr>
          <a:xfrm>
            <a:off x="3820751" y="1889610"/>
            <a:ext cx="5323249" cy="837152"/>
          </a:xfrm>
          <a:prstGeom prst="rect">
            <a:avLst/>
          </a:prstGeom>
        </p:spPr>
        <p:txBody>
          <a:bodyPr wrap="square">
            <a:spAutoFit/>
          </a:bodyPr>
          <a:lstStyle/>
          <a:p>
            <a:pPr>
              <a:spcBef>
                <a:spcPct val="20000"/>
              </a:spcBef>
            </a:pPr>
            <a:r>
              <a:rPr lang="he-IL" sz="2200" b="1" dirty="0">
                <a:solidFill>
                  <a:prstClr val="black"/>
                </a:solidFill>
              </a:rPr>
              <a:t>             היצע שווה ל</a:t>
            </a:r>
            <a:r>
              <a:rPr lang="he-IL" sz="2200" b="1" dirty="0">
                <a:solidFill>
                  <a:srgbClr val="7030A0"/>
                </a:solidFill>
              </a:rPr>
              <a:t>ביקוש</a:t>
            </a:r>
            <a:r>
              <a:rPr lang="he-IL" sz="2200" b="1" dirty="0">
                <a:solidFill>
                  <a:prstClr val="black"/>
                </a:solidFill>
              </a:rPr>
              <a:t> (כמויות ומחירים)</a:t>
            </a:r>
          </a:p>
          <a:p>
            <a:pPr marL="342900" indent="-342900" algn="ctr">
              <a:spcBef>
                <a:spcPct val="20000"/>
              </a:spcBef>
            </a:pPr>
            <a:r>
              <a:rPr lang="en-US" sz="2200" dirty="0">
                <a:solidFill>
                  <a:srgbClr val="7030A0"/>
                </a:solidFill>
              </a:rPr>
              <a:t>700-0.3X</a:t>
            </a:r>
            <a:r>
              <a:rPr lang="en-US" sz="2200" dirty="0">
                <a:solidFill>
                  <a:prstClr val="black"/>
                </a:solidFill>
              </a:rPr>
              <a:t> = 100+0.25X</a:t>
            </a:r>
            <a:r>
              <a:rPr lang="he-IL" sz="2200" dirty="0">
                <a:solidFill>
                  <a:prstClr val="black"/>
                </a:solidFill>
              </a:rPr>
              <a:t> 	</a:t>
            </a:r>
            <a:endParaRPr lang="he-IL" dirty="0">
              <a:solidFill>
                <a:prstClr val="black"/>
              </a:solidFill>
            </a:endParaRPr>
          </a:p>
        </p:txBody>
      </p:sp>
      <p:sp>
        <p:nvSpPr>
          <p:cNvPr id="30" name="מלבן 29"/>
          <p:cNvSpPr/>
          <p:nvPr/>
        </p:nvSpPr>
        <p:spPr>
          <a:xfrm>
            <a:off x="5292080" y="2746385"/>
            <a:ext cx="2877468" cy="769441"/>
          </a:xfrm>
          <a:prstGeom prst="rect">
            <a:avLst/>
          </a:prstGeom>
        </p:spPr>
        <p:txBody>
          <a:bodyPr wrap="square">
            <a:spAutoFit/>
          </a:bodyPr>
          <a:lstStyle/>
          <a:p>
            <a:r>
              <a:rPr lang="he-IL" sz="2200" dirty="0">
                <a:solidFill>
                  <a:prstClr val="black"/>
                </a:solidFill>
              </a:rPr>
              <a:t>	</a:t>
            </a:r>
            <a:r>
              <a:rPr lang="en-US" sz="2200" dirty="0">
                <a:solidFill>
                  <a:prstClr val="black"/>
                </a:solidFill>
              </a:rPr>
              <a:t>600 = 0.55X</a:t>
            </a:r>
            <a:r>
              <a:rPr lang="he-IL" sz="2200" dirty="0">
                <a:solidFill>
                  <a:prstClr val="black"/>
                </a:solidFill>
              </a:rPr>
              <a:t>	</a:t>
            </a:r>
            <a:endParaRPr lang="he-IL" dirty="0">
              <a:solidFill>
                <a:prstClr val="black"/>
              </a:solidFill>
            </a:endParaRPr>
          </a:p>
        </p:txBody>
      </p:sp>
      <p:sp>
        <p:nvSpPr>
          <p:cNvPr id="31" name="מלבן 30"/>
          <p:cNvSpPr/>
          <p:nvPr/>
        </p:nvSpPr>
        <p:spPr>
          <a:xfrm>
            <a:off x="5062496" y="3312567"/>
            <a:ext cx="3268704" cy="430887"/>
          </a:xfrm>
          <a:prstGeom prst="rect">
            <a:avLst/>
          </a:prstGeom>
        </p:spPr>
        <p:txBody>
          <a:bodyPr wrap="square">
            <a:spAutoFit/>
          </a:bodyPr>
          <a:lstStyle/>
          <a:p>
            <a:r>
              <a:rPr lang="en-US" sz="2200" dirty="0">
                <a:solidFill>
                  <a:prstClr val="black"/>
                </a:solidFill>
              </a:rPr>
              <a:t>	</a:t>
            </a:r>
            <a:r>
              <a:rPr lang="en-US" sz="2200" b="1" dirty="0">
                <a:solidFill>
                  <a:prstClr val="black"/>
                </a:solidFill>
              </a:rPr>
              <a:t>X = 1,090.91</a:t>
            </a:r>
            <a:r>
              <a:rPr lang="he-IL" sz="2200" dirty="0">
                <a:solidFill>
                  <a:prstClr val="black"/>
                </a:solidFill>
              </a:rPr>
              <a:t>	</a:t>
            </a:r>
            <a:endParaRPr lang="he-IL" dirty="0">
              <a:solidFill>
                <a:prstClr val="black"/>
              </a:solidFill>
            </a:endParaRPr>
          </a:p>
        </p:txBody>
      </p:sp>
      <p:sp>
        <p:nvSpPr>
          <p:cNvPr id="32" name="מלבן 31"/>
          <p:cNvSpPr/>
          <p:nvPr/>
        </p:nvSpPr>
        <p:spPr>
          <a:xfrm>
            <a:off x="4030304" y="3910942"/>
            <a:ext cx="4512816" cy="430887"/>
          </a:xfrm>
          <a:prstGeom prst="rect">
            <a:avLst/>
          </a:prstGeom>
        </p:spPr>
        <p:txBody>
          <a:bodyPr wrap="square">
            <a:spAutoFit/>
          </a:bodyPr>
          <a:lstStyle/>
          <a:p>
            <a:r>
              <a:rPr lang="en-US" sz="2200" b="1" dirty="0">
                <a:solidFill>
                  <a:prstClr val="black"/>
                </a:solidFill>
              </a:rPr>
              <a:t>P = </a:t>
            </a:r>
            <a:r>
              <a:rPr lang="en-US" sz="2200" dirty="0">
                <a:solidFill>
                  <a:prstClr val="black"/>
                </a:solidFill>
              </a:rPr>
              <a:t>700-0.3</a:t>
            </a:r>
            <a:r>
              <a:rPr lang="en-US" sz="2200" dirty="0">
                <a:solidFill>
                  <a:prstClr val="black"/>
                </a:solidFill>
                <a:cs typeface="Calibri"/>
              </a:rPr>
              <a:t>∙1,090.91 </a:t>
            </a:r>
            <a:r>
              <a:rPr lang="en-US" sz="2200" b="1" dirty="0">
                <a:solidFill>
                  <a:prstClr val="black"/>
                </a:solidFill>
                <a:cs typeface="Calibri"/>
              </a:rPr>
              <a:t>= 372.73</a:t>
            </a:r>
            <a:r>
              <a:rPr lang="en-US" sz="2200" dirty="0">
                <a:solidFill>
                  <a:prstClr val="black"/>
                </a:solidFill>
                <a:cs typeface="Calibri"/>
              </a:rPr>
              <a:t>	</a:t>
            </a:r>
            <a:endParaRPr lang="he-IL" dirty="0">
              <a:solidFill>
                <a:prstClr val="black"/>
              </a:solidFill>
            </a:endParaRPr>
          </a:p>
        </p:txBody>
      </p:sp>
      <p:sp>
        <p:nvSpPr>
          <p:cNvPr id="33" name="מלבן 32"/>
          <p:cNvSpPr/>
          <p:nvPr/>
        </p:nvSpPr>
        <p:spPr>
          <a:xfrm>
            <a:off x="3556560" y="1268760"/>
            <a:ext cx="5326061" cy="430887"/>
          </a:xfrm>
          <a:prstGeom prst="rect">
            <a:avLst/>
          </a:prstGeom>
        </p:spPr>
        <p:txBody>
          <a:bodyPr wrap="square">
            <a:spAutoFit/>
          </a:bodyPr>
          <a:lstStyle/>
          <a:p>
            <a:pPr>
              <a:spcBef>
                <a:spcPct val="20000"/>
              </a:spcBef>
            </a:pPr>
            <a:r>
              <a:rPr lang="he-IL" sz="2200" b="1" dirty="0">
                <a:solidFill>
                  <a:prstClr val="black"/>
                </a:solidFill>
              </a:rPr>
              <a:t>סעיף א2</a:t>
            </a:r>
            <a:r>
              <a:rPr lang="he-IL" sz="2200" dirty="0">
                <a:solidFill>
                  <a:prstClr val="black"/>
                </a:solidFill>
              </a:rPr>
              <a:t> – נחשב את מחיר וכמות ש"מ</a:t>
            </a:r>
          </a:p>
        </p:txBody>
      </p:sp>
    </p:spTree>
    <p:extLst>
      <p:ext uri="{BB962C8B-B14F-4D97-AF65-F5344CB8AC3E}">
        <p14:creationId xmlns:p14="http://schemas.microsoft.com/office/powerpoint/2010/main" val="74694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ircle(in)">
                                      <p:cBhvr>
                                        <p:cTn id="7" dur="2000"/>
                                        <p:tgtEl>
                                          <p:spTgt spid="25"/>
                                        </p:tgtEl>
                                      </p:cBhvr>
                                    </p:animEffect>
                                  </p:childTnLst>
                                </p:cTn>
                              </p:par>
                              <p:par>
                                <p:cTn id="8" presetID="6" presetClass="entr" presetSubtype="16"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circle(in)">
                                      <p:cBhvr>
                                        <p:cTn id="10" dur="2000"/>
                                        <p:tgtEl>
                                          <p:spTgt spid="24"/>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circle(in)">
                                      <p:cBhvr>
                                        <p:cTn id="13" dur="2000"/>
                                        <p:tgtEl>
                                          <p:spTgt spid="26"/>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circle(in)">
                                      <p:cBhvr>
                                        <p:cTn id="16"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829400" y="0"/>
            <a:ext cx="2314600" cy="1143000"/>
          </a:xfrm>
        </p:spPr>
        <p:txBody>
          <a:bodyPr/>
          <a:lstStyle/>
          <a:p>
            <a:pPr algn="r"/>
            <a:r>
              <a:rPr lang="he-IL" b="1" dirty="0">
                <a:solidFill>
                  <a:schemeClr val="tx2">
                    <a:lumMod val="75000"/>
                  </a:schemeClr>
                </a:solidFill>
              </a:rPr>
              <a:t>שאלה 1</a:t>
            </a:r>
            <a:endParaRPr lang="he-IL" dirty="0"/>
          </a:p>
        </p:txBody>
      </p:sp>
      <p:grpSp>
        <p:nvGrpSpPr>
          <p:cNvPr id="3"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srgbClr val="7030A0"/>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561090"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cxnSp>
        <p:nvCxnSpPr>
          <p:cNvPr id="24" name="מחבר ישר 23"/>
          <p:cNvCxnSpPr/>
          <p:nvPr/>
        </p:nvCxnSpPr>
        <p:spPr>
          <a:xfrm rot="5400000">
            <a:off x="1500447" y="5179231"/>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4"/>
          <p:cNvCxnSpPr/>
          <p:nvPr/>
        </p:nvCxnSpPr>
        <p:spPr>
          <a:xfrm rot="5400000">
            <a:off x="1493984" y="3637132"/>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771286" y="5929330"/>
            <a:ext cx="954108" cy="369332"/>
          </a:xfrm>
          <a:prstGeom prst="rect">
            <a:avLst/>
          </a:prstGeom>
          <a:noFill/>
        </p:spPr>
        <p:txBody>
          <a:bodyPr wrap="none" rtlCol="1">
            <a:spAutoFit/>
          </a:bodyPr>
          <a:lstStyle/>
          <a:p>
            <a:r>
              <a:rPr lang="he-IL" dirty="0">
                <a:solidFill>
                  <a:prstClr val="black"/>
                </a:solidFill>
              </a:rPr>
              <a:t>1,090.9</a:t>
            </a:r>
          </a:p>
        </p:txBody>
      </p:sp>
      <p:sp>
        <p:nvSpPr>
          <p:cNvPr id="27" name="TextBox 26"/>
          <p:cNvSpPr txBox="1"/>
          <p:nvPr/>
        </p:nvSpPr>
        <p:spPr>
          <a:xfrm>
            <a:off x="24038" y="4274114"/>
            <a:ext cx="761748" cy="369332"/>
          </a:xfrm>
          <a:prstGeom prst="rect">
            <a:avLst/>
          </a:prstGeom>
          <a:noFill/>
        </p:spPr>
        <p:txBody>
          <a:bodyPr wrap="none" rtlCol="1">
            <a:spAutoFit/>
          </a:bodyPr>
          <a:lstStyle/>
          <a:p>
            <a:r>
              <a:rPr lang="he-IL" dirty="0">
                <a:solidFill>
                  <a:srgbClr val="7030A0"/>
                </a:solidFill>
              </a:rPr>
              <a:t>372.7</a:t>
            </a:r>
          </a:p>
        </p:txBody>
      </p:sp>
      <p:sp>
        <p:nvSpPr>
          <p:cNvPr id="4" name="מלבן 3"/>
          <p:cNvSpPr/>
          <p:nvPr/>
        </p:nvSpPr>
        <p:spPr>
          <a:xfrm>
            <a:off x="2248340" y="1284456"/>
            <a:ext cx="6871500" cy="430887"/>
          </a:xfrm>
          <a:prstGeom prst="rect">
            <a:avLst/>
          </a:prstGeom>
        </p:spPr>
        <p:txBody>
          <a:bodyPr wrap="square">
            <a:spAutoFit/>
          </a:bodyPr>
          <a:lstStyle/>
          <a:p>
            <a:pPr>
              <a:spcBef>
                <a:spcPct val="20000"/>
              </a:spcBef>
            </a:pPr>
            <a:r>
              <a:rPr lang="he-IL" sz="2200" b="1" dirty="0">
                <a:solidFill>
                  <a:prstClr val="black"/>
                </a:solidFill>
              </a:rPr>
              <a:t>סעיף א3</a:t>
            </a:r>
            <a:r>
              <a:rPr lang="he-IL" sz="2200" dirty="0">
                <a:solidFill>
                  <a:prstClr val="black"/>
                </a:solidFill>
              </a:rPr>
              <a:t> – נחשב את עודף הצרכנים ורווחי היצרנים</a:t>
            </a:r>
          </a:p>
        </p:txBody>
      </p:sp>
      <p:sp>
        <p:nvSpPr>
          <p:cNvPr id="28" name="מלבן 27"/>
          <p:cNvSpPr/>
          <p:nvPr/>
        </p:nvSpPr>
        <p:spPr>
          <a:xfrm>
            <a:off x="142844"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a:t>
            </a:r>
            <a:r>
              <a:rPr lang="en-US" sz="2000" dirty="0">
                <a:solidFill>
                  <a:srgbClr val="7030A0"/>
                </a:solidFill>
              </a:rPr>
              <a:t>P=700-0.3X</a:t>
            </a:r>
          </a:p>
          <a:p>
            <a:pPr>
              <a:spcBef>
                <a:spcPct val="20000"/>
              </a:spcBef>
            </a:pPr>
            <a:r>
              <a:rPr lang="he-IL" sz="2000" dirty="0">
                <a:solidFill>
                  <a:prstClr val="black"/>
                </a:solidFill>
              </a:rPr>
              <a:t>ההיצע המצרפי של האפרסקים נתון ע"י           </a:t>
            </a:r>
            <a:r>
              <a:rPr lang="en-US" sz="2000" dirty="0">
                <a:solidFill>
                  <a:prstClr val="black"/>
                </a:solidFill>
              </a:rPr>
              <a:t>P=100+0.25X</a:t>
            </a:r>
          </a:p>
        </p:txBody>
      </p:sp>
      <p:sp>
        <p:nvSpPr>
          <p:cNvPr id="5" name="מלבן 4"/>
          <p:cNvSpPr/>
          <p:nvPr/>
        </p:nvSpPr>
        <p:spPr>
          <a:xfrm>
            <a:off x="7308304" y="2160163"/>
            <a:ext cx="1594823" cy="369332"/>
          </a:xfrm>
          <a:prstGeom prst="rect">
            <a:avLst/>
          </a:prstGeom>
        </p:spPr>
        <p:txBody>
          <a:bodyPr wrap="square">
            <a:spAutoFit/>
          </a:bodyPr>
          <a:lstStyle/>
          <a:p>
            <a:r>
              <a:rPr lang="he-IL" b="1" dirty="0">
                <a:solidFill>
                  <a:srgbClr val="00B050"/>
                </a:solidFill>
              </a:rPr>
              <a:t>עודף הצרכן </a:t>
            </a:r>
            <a:r>
              <a:rPr lang="he-IL" b="1" dirty="0">
                <a:solidFill>
                  <a:prstClr val="black"/>
                </a:solidFill>
              </a:rPr>
              <a:t>–</a:t>
            </a:r>
            <a:endParaRPr lang="en-US" b="1" dirty="0">
              <a:solidFill>
                <a:prstClr val="black"/>
              </a:solidFill>
            </a:endParaRPr>
          </a:p>
        </p:txBody>
      </p:sp>
      <p:sp>
        <p:nvSpPr>
          <p:cNvPr id="8" name="מלבן 7"/>
          <p:cNvSpPr/>
          <p:nvPr/>
        </p:nvSpPr>
        <p:spPr>
          <a:xfrm>
            <a:off x="5654295" y="2228067"/>
            <a:ext cx="1390124" cy="369332"/>
          </a:xfrm>
          <a:prstGeom prst="rect">
            <a:avLst/>
          </a:prstGeom>
        </p:spPr>
        <p:txBody>
          <a:bodyPr wrap="none">
            <a:spAutoFit/>
          </a:bodyPr>
          <a:lstStyle/>
          <a:p>
            <a:r>
              <a:rPr lang="he-IL" dirty="0">
                <a:solidFill>
                  <a:srgbClr val="00B050"/>
                </a:solidFill>
              </a:rPr>
              <a:t>178,525.8</a:t>
            </a:r>
            <a:r>
              <a:rPr lang="en-US" dirty="0">
                <a:solidFill>
                  <a:prstClr val="black"/>
                </a:solidFill>
              </a:rPr>
              <a:t>=</a:t>
            </a:r>
            <a:r>
              <a:rPr lang="he-IL" dirty="0">
                <a:solidFill>
                  <a:prstClr val="black"/>
                </a:solidFill>
              </a:rPr>
              <a:t> </a:t>
            </a:r>
          </a:p>
        </p:txBody>
      </p:sp>
      <mc:AlternateContent xmlns:mc="http://schemas.openxmlformats.org/markup-compatibility/2006" xmlns:a14="http://schemas.microsoft.com/office/drawing/2010/main">
        <mc:Choice Requires="a14">
          <p:sp>
            <p:nvSpPr>
              <p:cNvPr id="9" name="מלבן 8"/>
              <p:cNvSpPr/>
              <p:nvPr/>
            </p:nvSpPr>
            <p:spPr>
              <a:xfrm>
                <a:off x="3059832" y="2098705"/>
                <a:ext cx="2567947" cy="628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he-IL" i="1">
                              <a:solidFill>
                                <a:prstClr val="black"/>
                              </a:solidFill>
                              <a:latin typeface="Cambria Math" panose="02040503050406030204" pitchFamily="18" charset="0"/>
                            </a:rPr>
                          </m:ctrlPr>
                        </m:fPr>
                        <m:num>
                          <m:d>
                            <m:dPr>
                              <m:endChr m:val=""/>
                              <m:ctrlPr>
                                <a:rPr lang="he-IL" i="1">
                                  <a:solidFill>
                                    <a:prstClr val="black"/>
                                  </a:solidFill>
                                  <a:latin typeface="Cambria Math" panose="02040503050406030204" pitchFamily="18" charset="0"/>
                                </a:rPr>
                              </m:ctrlPr>
                            </m:dPr>
                            <m:e>
                              <m:r>
                                <m:rPr>
                                  <m:nor/>
                                </m:rPr>
                                <a:rPr lang="he-IL">
                                  <a:solidFill>
                                    <a:srgbClr val="7030A0"/>
                                  </a:solidFill>
                                </a:rPr>
                                <m:t>7</m:t>
                              </m:r>
                              <m:r>
                                <a:rPr lang="he-IL">
                                  <a:solidFill>
                                    <a:srgbClr val="7030A0"/>
                                  </a:solidFill>
                                  <a:latin typeface="Cambria Math"/>
                                </a:rPr>
                                <m:t>00</m:t>
                              </m:r>
                              <m:r>
                                <a:rPr lang="he-IL">
                                  <a:solidFill>
                                    <a:prstClr val="black"/>
                                  </a:solidFill>
                                  <a:latin typeface="Cambria Math"/>
                                </a:rPr>
                                <m:t>−</m:t>
                              </m:r>
                              <m:r>
                                <m:rPr>
                                  <m:nor/>
                                </m:rPr>
                                <a:rPr lang="he-IL">
                                  <a:solidFill>
                                    <a:srgbClr val="7030A0"/>
                                  </a:solidFill>
                                </a:rPr>
                                <m:t>372</m:t>
                              </m:r>
                              <m:r>
                                <a:rPr lang="he-IL">
                                  <a:solidFill>
                                    <a:srgbClr val="7030A0"/>
                                  </a:solidFill>
                                  <a:latin typeface="Cambria Math"/>
                                </a:rPr>
                                <m:t>.</m:t>
                              </m:r>
                              <m:r>
                                <m:rPr>
                                  <m:nor/>
                                </m:rPr>
                                <a:rPr lang="he-IL">
                                  <a:solidFill>
                                    <a:srgbClr val="7030A0"/>
                                  </a:solidFill>
                                </a:rPr>
                                <m:t>7</m:t>
                              </m:r>
                              <m:r>
                                <a:rPr lang="he-IL">
                                  <a:solidFill>
                                    <a:prstClr val="black"/>
                                  </a:solidFill>
                                  <a:latin typeface="Cambria Math"/>
                                </a:rPr>
                                <m:t>)·</m:t>
                              </m:r>
                              <m:r>
                                <m:rPr>
                                  <m:nor/>
                                </m:rPr>
                                <a:rPr lang="he-IL">
                                  <a:solidFill>
                                    <a:prstClr val="black"/>
                                  </a:solidFill>
                                </a:rPr>
                                <m:t>1</m:t>
                              </m:r>
                              <m:r>
                                <a:rPr lang="he-IL">
                                  <a:solidFill>
                                    <a:prstClr val="black"/>
                                  </a:solidFill>
                                  <a:latin typeface="Cambria Math"/>
                                </a:rPr>
                                <m:t>,</m:t>
                              </m:r>
                              <m:r>
                                <a:rPr lang="he-IL">
                                  <a:solidFill>
                                    <a:prstClr val="black"/>
                                  </a:solidFill>
                                  <a:latin typeface="Cambria Math"/>
                                </a:rPr>
                                <m:t>0</m:t>
                              </m:r>
                              <m:r>
                                <m:rPr>
                                  <m:nor/>
                                </m:rPr>
                                <a:rPr lang="he-IL">
                                  <a:solidFill>
                                    <a:prstClr val="black"/>
                                  </a:solidFill>
                                </a:rPr>
                                <m:t>9</m:t>
                              </m:r>
                              <m:r>
                                <a:rPr lang="he-IL">
                                  <a:solidFill>
                                    <a:prstClr val="black"/>
                                  </a:solidFill>
                                  <a:latin typeface="Cambria Math"/>
                                </a:rPr>
                                <m:t>0</m:t>
                              </m:r>
                              <m:r>
                                <a:rPr lang="he-IL">
                                  <a:solidFill>
                                    <a:prstClr val="black"/>
                                  </a:solidFill>
                                  <a:latin typeface="Cambria Math"/>
                                </a:rPr>
                                <m:t>.</m:t>
                              </m:r>
                              <m:r>
                                <m:rPr>
                                  <m:nor/>
                                </m:rPr>
                                <a:rPr lang="he-IL">
                                  <a:solidFill>
                                    <a:prstClr val="black"/>
                                  </a:solidFill>
                                </a:rPr>
                                <m:t>9</m:t>
                              </m:r>
                            </m:e>
                          </m:d>
                        </m:num>
                        <m:den>
                          <m:r>
                            <a:rPr lang="he-IL">
                              <a:solidFill>
                                <a:prstClr val="black"/>
                              </a:solidFill>
                              <a:latin typeface="Cambria Math"/>
                            </a:rPr>
                            <m:t>2</m:t>
                          </m:r>
                        </m:den>
                      </m:f>
                    </m:oMath>
                  </m:oMathPara>
                </a14:m>
                <a:endParaRPr lang="he-IL" dirty="0">
                  <a:solidFill>
                    <a:prstClr val="black"/>
                  </a:solidFill>
                </a:endParaRPr>
              </a:p>
            </p:txBody>
          </p:sp>
        </mc:Choice>
        <mc:Fallback xmlns="">
          <p:sp>
            <p:nvSpPr>
              <p:cNvPr id="9" name="מלבן 8"/>
              <p:cNvSpPr>
                <a:spLocks noRot="1" noChangeAspect="1" noMove="1" noResize="1" noEditPoints="1" noAdjustHandles="1" noChangeArrowheads="1" noChangeShapeType="1" noTextEdit="1"/>
              </p:cNvSpPr>
              <p:nvPr/>
            </p:nvSpPr>
            <p:spPr>
              <a:xfrm>
                <a:off x="3059832" y="2098705"/>
                <a:ext cx="2567947" cy="628057"/>
              </a:xfrm>
              <a:prstGeom prst="rect">
                <a:avLst/>
              </a:prstGeom>
              <a:blipFill rotWithShape="1">
                <a:blip r:embed="rId2"/>
                <a:stretch>
                  <a:fillRect/>
                </a:stretch>
              </a:blipFill>
            </p:spPr>
            <p:txBody>
              <a:bodyPr/>
              <a:lstStyle/>
              <a:p>
                <a:r>
                  <a:rPr lang="he-IL">
                    <a:noFill/>
                  </a:rPr>
                  <a:t> </a:t>
                </a:r>
              </a:p>
            </p:txBody>
          </p:sp>
        </mc:Fallback>
      </mc:AlternateContent>
      <p:sp>
        <p:nvSpPr>
          <p:cNvPr id="29" name="משולש ישר-זווית 28"/>
          <p:cNvSpPr/>
          <p:nvPr/>
        </p:nvSpPr>
        <p:spPr>
          <a:xfrm>
            <a:off x="714348" y="3071810"/>
            <a:ext cx="1571636" cy="1357322"/>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solidFill>
                  <a:prstClr val="white"/>
                </a:solidFill>
              </a:rPr>
              <a:t>עודף</a:t>
            </a:r>
          </a:p>
          <a:p>
            <a:pPr algn="ctr"/>
            <a:r>
              <a:rPr lang="he-IL" dirty="0">
                <a:solidFill>
                  <a:prstClr val="white"/>
                </a:solidFill>
              </a:rPr>
              <a:t>הצרכן</a:t>
            </a:r>
          </a:p>
        </p:txBody>
      </p:sp>
      <p:sp>
        <p:nvSpPr>
          <p:cNvPr id="12" name="מלבן 11"/>
          <p:cNvSpPr/>
          <p:nvPr/>
        </p:nvSpPr>
        <p:spPr>
          <a:xfrm>
            <a:off x="7288582" y="3131106"/>
            <a:ext cx="1614545" cy="369332"/>
          </a:xfrm>
          <a:prstGeom prst="rect">
            <a:avLst/>
          </a:prstGeom>
        </p:spPr>
        <p:txBody>
          <a:bodyPr wrap="none">
            <a:spAutoFit/>
          </a:bodyPr>
          <a:lstStyle/>
          <a:p>
            <a:r>
              <a:rPr lang="he-IL" b="1" dirty="0">
                <a:solidFill>
                  <a:srgbClr val="C00000"/>
                </a:solidFill>
              </a:rPr>
              <a:t>רווחי היצרנים </a:t>
            </a:r>
            <a:r>
              <a:rPr lang="he-IL" b="1" dirty="0">
                <a:solidFill>
                  <a:prstClr val="black"/>
                </a:solidFill>
              </a:rPr>
              <a:t>–</a:t>
            </a:r>
          </a:p>
        </p:txBody>
      </p:sp>
      <p:sp>
        <p:nvSpPr>
          <p:cNvPr id="30" name="משולש ישר-זווית 29"/>
          <p:cNvSpPr/>
          <p:nvPr/>
        </p:nvSpPr>
        <p:spPr>
          <a:xfrm flipV="1">
            <a:off x="714348" y="4429132"/>
            <a:ext cx="1571636" cy="1071570"/>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prstClr val="white"/>
              </a:solidFill>
            </a:endParaRPr>
          </a:p>
        </p:txBody>
      </p:sp>
      <mc:AlternateContent xmlns:mc="http://schemas.openxmlformats.org/markup-compatibility/2006" xmlns:a14="http://schemas.microsoft.com/office/drawing/2010/main">
        <mc:Choice Requires="a14">
          <p:sp>
            <p:nvSpPr>
              <p:cNvPr id="13" name="מלבן 12"/>
              <p:cNvSpPr/>
              <p:nvPr/>
            </p:nvSpPr>
            <p:spPr>
              <a:xfrm>
                <a:off x="4323093" y="3436442"/>
                <a:ext cx="2567562" cy="628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he-IL" i="1">
                              <a:solidFill>
                                <a:prstClr val="black"/>
                              </a:solidFill>
                              <a:latin typeface="Cambria Math" panose="02040503050406030204" pitchFamily="18" charset="0"/>
                            </a:rPr>
                          </m:ctrlPr>
                        </m:fPr>
                        <m:num>
                          <m:d>
                            <m:dPr>
                              <m:ctrlPr>
                                <a:rPr lang="he-IL" i="1">
                                  <a:solidFill>
                                    <a:prstClr val="black"/>
                                  </a:solidFill>
                                  <a:latin typeface="Cambria Math" panose="02040503050406030204" pitchFamily="18" charset="0"/>
                                </a:rPr>
                              </m:ctrlPr>
                            </m:dPr>
                            <m:e>
                              <m:r>
                                <m:rPr>
                                  <m:nor/>
                                </m:rPr>
                                <a:rPr lang="he-IL">
                                  <a:solidFill>
                                    <a:prstClr val="black"/>
                                  </a:solidFill>
                                </a:rPr>
                                <m:t>372</m:t>
                              </m:r>
                              <m:r>
                                <a:rPr lang="he-IL">
                                  <a:solidFill>
                                    <a:prstClr val="black"/>
                                  </a:solidFill>
                                  <a:latin typeface="Cambria Math"/>
                                </a:rPr>
                                <m:t>.</m:t>
                              </m:r>
                              <m:r>
                                <m:rPr>
                                  <m:nor/>
                                </m:rPr>
                                <a:rPr lang="he-IL" i="1">
                                  <a:solidFill>
                                    <a:prstClr val="black"/>
                                  </a:solidFill>
                                </a:rPr>
                                <m:t>7</m:t>
                              </m:r>
                              <m:r>
                                <a:rPr lang="he-IL">
                                  <a:solidFill>
                                    <a:prstClr val="black"/>
                                  </a:solidFill>
                                  <a:latin typeface="Cambria Math"/>
                                </a:rPr>
                                <m:t>−</m:t>
                              </m:r>
                              <m:r>
                                <m:rPr>
                                  <m:nor/>
                                </m:rPr>
                                <a:rPr lang="he-IL" i="1">
                                  <a:solidFill>
                                    <a:prstClr val="black"/>
                                  </a:solidFill>
                                </a:rPr>
                                <m:t>1</m:t>
                              </m:r>
                              <m:r>
                                <a:rPr lang="he-IL">
                                  <a:solidFill>
                                    <a:prstClr val="black"/>
                                  </a:solidFill>
                                  <a:latin typeface="Cambria Math"/>
                                </a:rPr>
                                <m:t>00</m:t>
                              </m:r>
                            </m:e>
                          </m:d>
                          <m:r>
                            <a:rPr lang="he-IL">
                              <a:solidFill>
                                <a:prstClr val="black"/>
                              </a:solidFill>
                              <a:latin typeface="Cambria Math"/>
                            </a:rPr>
                            <m:t>·</m:t>
                          </m:r>
                          <m:r>
                            <m:rPr>
                              <m:nor/>
                            </m:rPr>
                            <a:rPr lang="he-IL" i="1">
                              <a:solidFill>
                                <a:prstClr val="black"/>
                              </a:solidFill>
                            </a:rPr>
                            <m:t>1</m:t>
                          </m:r>
                          <m:r>
                            <a:rPr lang="he-IL">
                              <a:solidFill>
                                <a:prstClr val="black"/>
                              </a:solidFill>
                              <a:latin typeface="Cambria Math"/>
                            </a:rPr>
                            <m:t>,</m:t>
                          </m:r>
                          <m:r>
                            <a:rPr lang="he-IL">
                              <a:solidFill>
                                <a:prstClr val="black"/>
                              </a:solidFill>
                              <a:latin typeface="Cambria Math"/>
                            </a:rPr>
                            <m:t>0</m:t>
                          </m:r>
                          <m:r>
                            <m:rPr>
                              <m:nor/>
                            </m:rPr>
                            <a:rPr lang="he-IL" i="1">
                              <a:solidFill>
                                <a:prstClr val="black"/>
                              </a:solidFill>
                            </a:rPr>
                            <m:t>9</m:t>
                          </m:r>
                          <m:r>
                            <a:rPr lang="he-IL">
                              <a:solidFill>
                                <a:prstClr val="black"/>
                              </a:solidFill>
                              <a:latin typeface="Cambria Math"/>
                            </a:rPr>
                            <m:t>0</m:t>
                          </m:r>
                          <m:r>
                            <a:rPr lang="he-IL">
                              <a:solidFill>
                                <a:prstClr val="black"/>
                              </a:solidFill>
                              <a:latin typeface="Cambria Math"/>
                            </a:rPr>
                            <m:t>.</m:t>
                          </m:r>
                          <m:r>
                            <m:rPr>
                              <m:nor/>
                            </m:rPr>
                            <a:rPr lang="he-IL" i="1">
                              <a:solidFill>
                                <a:prstClr val="black"/>
                              </a:solidFill>
                            </a:rPr>
                            <m:t>9</m:t>
                          </m:r>
                        </m:num>
                        <m:den>
                          <m:r>
                            <a:rPr lang="he-IL">
                              <a:solidFill>
                                <a:prstClr val="black"/>
                              </a:solidFill>
                              <a:latin typeface="Cambria Math"/>
                            </a:rPr>
                            <m:t>2</m:t>
                          </m:r>
                        </m:den>
                      </m:f>
                    </m:oMath>
                  </m:oMathPara>
                </a14:m>
                <a:endParaRPr lang="he-IL" dirty="0">
                  <a:solidFill>
                    <a:prstClr val="black"/>
                  </a:solidFill>
                </a:endParaRPr>
              </a:p>
            </p:txBody>
          </p:sp>
        </mc:Choice>
        <mc:Fallback xmlns="">
          <p:sp>
            <p:nvSpPr>
              <p:cNvPr id="13" name="מלבן 12"/>
              <p:cNvSpPr>
                <a:spLocks noRot="1" noChangeAspect="1" noMove="1" noResize="1" noEditPoints="1" noAdjustHandles="1" noChangeArrowheads="1" noChangeShapeType="1" noTextEdit="1"/>
              </p:cNvSpPr>
              <p:nvPr/>
            </p:nvSpPr>
            <p:spPr>
              <a:xfrm>
                <a:off x="4323093" y="3436442"/>
                <a:ext cx="2567562" cy="628057"/>
              </a:xfrm>
              <a:prstGeom prst="rect">
                <a:avLst/>
              </a:prstGeom>
              <a:blipFill rotWithShape="1">
                <a:blip r:embed="rId3"/>
                <a:stretch>
                  <a:fillRect/>
                </a:stretch>
              </a:blipFill>
            </p:spPr>
            <p:txBody>
              <a:bodyPr/>
              <a:lstStyle/>
              <a:p>
                <a:r>
                  <a:rPr lang="he-IL">
                    <a:noFill/>
                  </a:rPr>
                  <a:t> </a:t>
                </a:r>
              </a:p>
            </p:txBody>
          </p:sp>
        </mc:Fallback>
      </mc:AlternateContent>
      <p:sp>
        <p:nvSpPr>
          <p:cNvPr id="15" name="מלבן 14"/>
          <p:cNvSpPr/>
          <p:nvPr/>
        </p:nvSpPr>
        <p:spPr>
          <a:xfrm>
            <a:off x="6890655" y="3565805"/>
            <a:ext cx="1390124" cy="369332"/>
          </a:xfrm>
          <a:prstGeom prst="rect">
            <a:avLst/>
          </a:prstGeom>
        </p:spPr>
        <p:txBody>
          <a:bodyPr wrap="none">
            <a:spAutoFit/>
          </a:bodyPr>
          <a:lstStyle/>
          <a:p>
            <a:r>
              <a:rPr lang="he-IL" b="1" dirty="0">
                <a:solidFill>
                  <a:prstClr val="black"/>
                </a:solidFill>
              </a:rPr>
              <a:t> </a:t>
            </a:r>
            <a:r>
              <a:rPr lang="he-IL" dirty="0">
                <a:solidFill>
                  <a:srgbClr val="C00000"/>
                </a:solidFill>
              </a:rPr>
              <a:t>148,744.2</a:t>
            </a:r>
            <a:r>
              <a:rPr lang="en-US" dirty="0">
                <a:solidFill>
                  <a:prstClr val="black"/>
                </a:solidFill>
              </a:rPr>
              <a:t>=</a:t>
            </a:r>
            <a:endParaRPr lang="he-IL" dirty="0">
              <a:solidFill>
                <a:prstClr val="black"/>
              </a:solidFill>
            </a:endParaRPr>
          </a:p>
        </p:txBody>
      </p:sp>
      <p:sp>
        <p:nvSpPr>
          <p:cNvPr id="31" name="TextBox 30"/>
          <p:cNvSpPr txBox="1"/>
          <p:nvPr/>
        </p:nvSpPr>
        <p:spPr>
          <a:xfrm>
            <a:off x="785786" y="4429132"/>
            <a:ext cx="886781" cy="646331"/>
          </a:xfrm>
          <a:prstGeom prst="rect">
            <a:avLst/>
          </a:prstGeom>
          <a:noFill/>
        </p:spPr>
        <p:txBody>
          <a:bodyPr wrap="none" rtlCol="1">
            <a:spAutoFit/>
          </a:bodyPr>
          <a:lstStyle/>
          <a:p>
            <a:pPr algn="ctr"/>
            <a:r>
              <a:rPr lang="he-IL" dirty="0">
                <a:solidFill>
                  <a:prstClr val="black"/>
                </a:solidFill>
              </a:rPr>
              <a:t>רווחי</a:t>
            </a:r>
          </a:p>
          <a:p>
            <a:pPr algn="ctr"/>
            <a:r>
              <a:rPr lang="he-IL" dirty="0">
                <a:solidFill>
                  <a:prstClr val="black"/>
                </a:solidFill>
              </a:rPr>
              <a:t>היצרנים</a:t>
            </a:r>
          </a:p>
        </p:txBody>
      </p:sp>
      <p:sp>
        <p:nvSpPr>
          <p:cNvPr id="32" name="מלבן 31"/>
          <p:cNvSpPr/>
          <p:nvPr/>
        </p:nvSpPr>
        <p:spPr>
          <a:xfrm>
            <a:off x="4128705" y="4643446"/>
            <a:ext cx="4572000" cy="646331"/>
          </a:xfrm>
          <a:prstGeom prst="rect">
            <a:avLst/>
          </a:prstGeom>
        </p:spPr>
        <p:txBody>
          <a:bodyPr>
            <a:spAutoFit/>
          </a:bodyPr>
          <a:lstStyle/>
          <a:p>
            <a:r>
              <a:rPr lang="he-IL" b="1" dirty="0">
                <a:solidFill>
                  <a:prstClr val="black"/>
                </a:solidFill>
              </a:rPr>
              <a:t>סה"כ רווחה חברתית –</a:t>
            </a:r>
          </a:p>
          <a:p>
            <a:r>
              <a:rPr lang="he-IL" b="1" dirty="0">
                <a:solidFill>
                  <a:prstClr val="black"/>
                </a:solidFill>
              </a:rPr>
              <a:t>	 </a:t>
            </a:r>
            <a:r>
              <a:rPr lang="he-IL" dirty="0">
                <a:solidFill>
                  <a:prstClr val="black"/>
                </a:solidFill>
              </a:rPr>
              <a:t>327,270</a:t>
            </a:r>
            <a:r>
              <a:rPr lang="en-US" dirty="0">
                <a:solidFill>
                  <a:srgbClr val="00B050"/>
                </a:solidFill>
              </a:rPr>
              <a:t>178,525.8</a:t>
            </a:r>
            <a:r>
              <a:rPr lang="en-US" dirty="0">
                <a:solidFill>
                  <a:prstClr val="black"/>
                </a:solidFill>
              </a:rPr>
              <a:t> + </a:t>
            </a:r>
            <a:r>
              <a:rPr lang="en-US" dirty="0">
                <a:solidFill>
                  <a:srgbClr val="C00000"/>
                </a:solidFill>
              </a:rPr>
              <a:t>148,744.2</a:t>
            </a:r>
            <a:r>
              <a:rPr lang="en-US" dirty="0">
                <a:solidFill>
                  <a:prstClr val="black"/>
                </a:solidFill>
              </a:rPr>
              <a:t> = </a:t>
            </a:r>
            <a:endParaRPr lang="he-IL" dirty="0">
              <a:solidFill>
                <a:prstClr val="black"/>
              </a:solidFill>
            </a:endParaRPr>
          </a:p>
        </p:txBody>
      </p:sp>
    </p:spTree>
    <p:extLst>
      <p:ext uri="{BB962C8B-B14F-4D97-AF65-F5344CB8AC3E}">
        <p14:creationId xmlns:p14="http://schemas.microsoft.com/office/powerpoint/2010/main" val="35091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barn(inVertical)">
                                      <p:cBhvr>
                                        <p:cTn id="11" dur="5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Vertic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inVertical)">
                                      <p:cBhvr>
                                        <p:cTn id="31" dur="500"/>
                                        <p:tgtEl>
                                          <p:spTgt spid="3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arn(inVertical)">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arn(inVertical)">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barn(inVertical)">
                                      <p:cBhvr>
                                        <p:cTn id="4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29" grpId="0" animBg="1"/>
      <p:bldP spid="12" grpId="0"/>
      <p:bldP spid="30" grpId="0" animBg="1"/>
      <p:bldP spid="13" grpId="0"/>
      <p:bldP spid="15" grpId="0"/>
      <p:bldP spid="31" grpId="0"/>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436096" y="0"/>
            <a:ext cx="3707904" cy="1143000"/>
          </a:xfrm>
        </p:spPr>
        <p:txBody>
          <a:bodyPr/>
          <a:lstStyle/>
          <a:p>
            <a:pPr algn="r"/>
            <a:r>
              <a:rPr lang="he-IL" b="1" dirty="0">
                <a:solidFill>
                  <a:schemeClr val="tx2">
                    <a:lumMod val="75000"/>
                  </a:schemeClr>
                </a:solidFill>
              </a:rPr>
              <a:t>שאלה 1</a:t>
            </a:r>
            <a:endParaRPr lang="he-IL" dirty="0"/>
          </a:p>
        </p:txBody>
      </p:sp>
      <p:sp>
        <p:nvSpPr>
          <p:cNvPr id="7" name="מציין מיקום תוכן 6"/>
          <p:cNvSpPr>
            <a:spLocks noGrp="1"/>
          </p:cNvSpPr>
          <p:nvPr>
            <p:ph idx="1"/>
          </p:nvPr>
        </p:nvSpPr>
        <p:spPr>
          <a:xfrm>
            <a:off x="3426904" y="2528025"/>
            <a:ext cx="5890592" cy="805319"/>
          </a:xfrm>
        </p:spPr>
        <p:txBody>
          <a:bodyPr>
            <a:normAutofit/>
          </a:bodyPr>
          <a:lstStyle/>
          <a:p>
            <a:pPr algn="r" rtl="1">
              <a:lnSpc>
                <a:spcPct val="150000"/>
              </a:lnSpc>
              <a:buNone/>
            </a:pPr>
            <a:r>
              <a:rPr lang="he-IL" sz="2400" dirty="0"/>
              <a:t>	ההיצע המצרפי כעת: </a:t>
            </a:r>
            <a:r>
              <a:rPr lang="en-US" sz="2400" dirty="0"/>
              <a:t>P=</a:t>
            </a:r>
            <a:r>
              <a:rPr lang="en-US" sz="2400" b="1" dirty="0">
                <a:solidFill>
                  <a:srgbClr val="0070C0"/>
                </a:solidFill>
              </a:rPr>
              <a:t>150</a:t>
            </a:r>
            <a:r>
              <a:rPr lang="en-US" sz="2400" dirty="0"/>
              <a:t>+0.25X </a:t>
            </a:r>
          </a:p>
        </p:txBody>
      </p:sp>
      <p:grpSp>
        <p:nvGrpSpPr>
          <p:cNvPr id="3"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prstClr val="black"/>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b="1" dirty="0">
                <a:solidFill>
                  <a:prstClr val="black"/>
                </a:solidFill>
              </a:rPr>
              <a:t>100</a:t>
            </a:r>
          </a:p>
        </p:txBody>
      </p:sp>
      <p:sp>
        <p:nvSpPr>
          <p:cNvPr id="21" name="TextBox 20"/>
          <p:cNvSpPr txBox="1"/>
          <p:nvPr/>
        </p:nvSpPr>
        <p:spPr>
          <a:xfrm>
            <a:off x="3561090"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cxnSp>
        <p:nvCxnSpPr>
          <p:cNvPr id="24" name="מחבר ישר 23"/>
          <p:cNvCxnSpPr/>
          <p:nvPr/>
        </p:nvCxnSpPr>
        <p:spPr>
          <a:xfrm rot="5400000">
            <a:off x="1500447" y="5179231"/>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4"/>
          <p:cNvCxnSpPr/>
          <p:nvPr/>
        </p:nvCxnSpPr>
        <p:spPr>
          <a:xfrm rot="5400000">
            <a:off x="1493984" y="3637132"/>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006054" y="5930124"/>
            <a:ext cx="869149" cy="338554"/>
          </a:xfrm>
          <a:prstGeom prst="rect">
            <a:avLst/>
          </a:prstGeom>
          <a:noFill/>
        </p:spPr>
        <p:txBody>
          <a:bodyPr wrap="none" rtlCol="1">
            <a:spAutoFit/>
          </a:bodyPr>
          <a:lstStyle/>
          <a:p>
            <a:r>
              <a:rPr lang="he-IL" sz="1600" dirty="0">
                <a:solidFill>
                  <a:prstClr val="black"/>
                </a:solidFill>
              </a:rPr>
              <a:t>1,090.9</a:t>
            </a:r>
          </a:p>
        </p:txBody>
      </p:sp>
      <p:sp>
        <p:nvSpPr>
          <p:cNvPr id="27" name="TextBox 26"/>
          <p:cNvSpPr txBox="1"/>
          <p:nvPr/>
        </p:nvSpPr>
        <p:spPr>
          <a:xfrm>
            <a:off x="88159" y="4274114"/>
            <a:ext cx="697627" cy="338554"/>
          </a:xfrm>
          <a:prstGeom prst="rect">
            <a:avLst/>
          </a:prstGeom>
          <a:noFill/>
        </p:spPr>
        <p:txBody>
          <a:bodyPr wrap="none" rtlCol="1">
            <a:spAutoFit/>
          </a:bodyPr>
          <a:lstStyle/>
          <a:p>
            <a:r>
              <a:rPr lang="he-IL" sz="1600" dirty="0">
                <a:solidFill>
                  <a:prstClr val="black"/>
                </a:solidFill>
              </a:rPr>
              <a:t>372.7</a:t>
            </a:r>
          </a:p>
        </p:txBody>
      </p:sp>
      <p:sp>
        <p:nvSpPr>
          <p:cNvPr id="4" name="מלבן 3"/>
          <p:cNvSpPr/>
          <p:nvPr/>
        </p:nvSpPr>
        <p:spPr>
          <a:xfrm>
            <a:off x="2527464" y="1224677"/>
            <a:ext cx="6616536" cy="430887"/>
          </a:xfrm>
          <a:prstGeom prst="rect">
            <a:avLst/>
          </a:prstGeom>
        </p:spPr>
        <p:txBody>
          <a:bodyPr wrap="square">
            <a:spAutoFit/>
          </a:bodyPr>
          <a:lstStyle/>
          <a:p>
            <a:pPr>
              <a:spcBef>
                <a:spcPct val="20000"/>
              </a:spcBef>
            </a:pPr>
            <a:r>
              <a:rPr lang="he-IL" sz="2200" b="1" dirty="0">
                <a:solidFill>
                  <a:prstClr val="black"/>
                </a:solidFill>
              </a:rPr>
              <a:t>סעיף ב'</a:t>
            </a:r>
            <a:r>
              <a:rPr lang="he-IL" sz="2200" dirty="0">
                <a:solidFill>
                  <a:prstClr val="black"/>
                </a:solidFill>
              </a:rPr>
              <a:t> – מוטל מס של 50 ₪ על כל טון אפרסק שנמכר</a:t>
            </a:r>
          </a:p>
        </p:txBody>
      </p:sp>
      <p:sp>
        <p:nvSpPr>
          <p:cNvPr id="28" name="מלבן 27"/>
          <p:cNvSpPr/>
          <p:nvPr/>
        </p:nvSpPr>
        <p:spPr>
          <a:xfrm>
            <a:off x="142844"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a:t>
            </a:r>
            <a:r>
              <a:rPr lang="en-US" sz="2000" dirty="0">
                <a:solidFill>
                  <a:srgbClr val="7030A0"/>
                </a:solidFill>
              </a:rPr>
              <a:t>P=700-0.3X</a:t>
            </a:r>
          </a:p>
          <a:p>
            <a:pPr>
              <a:spcBef>
                <a:spcPct val="20000"/>
              </a:spcBef>
            </a:pPr>
            <a:r>
              <a:rPr lang="he-IL" sz="2000" dirty="0">
                <a:solidFill>
                  <a:prstClr val="black"/>
                </a:solidFill>
              </a:rPr>
              <a:t>ההיצע המצרפי של האפרסקים נתון ע"י           </a:t>
            </a:r>
            <a:r>
              <a:rPr lang="en-US" sz="2000" dirty="0">
                <a:solidFill>
                  <a:prstClr val="black"/>
                </a:solidFill>
              </a:rPr>
              <a:t>P=</a:t>
            </a:r>
            <a:r>
              <a:rPr lang="en-US" sz="2000" b="1" dirty="0">
                <a:solidFill>
                  <a:prstClr val="black"/>
                </a:solidFill>
              </a:rPr>
              <a:t>100</a:t>
            </a:r>
            <a:r>
              <a:rPr lang="en-US" sz="2000" dirty="0">
                <a:solidFill>
                  <a:prstClr val="black"/>
                </a:solidFill>
              </a:rPr>
              <a:t>+0.25X</a:t>
            </a:r>
          </a:p>
        </p:txBody>
      </p:sp>
      <p:sp>
        <p:nvSpPr>
          <p:cNvPr id="5" name="מלבן 4"/>
          <p:cNvSpPr/>
          <p:nvPr/>
        </p:nvSpPr>
        <p:spPr>
          <a:xfrm>
            <a:off x="3540412" y="2097138"/>
            <a:ext cx="5350396" cy="430887"/>
          </a:xfrm>
          <a:prstGeom prst="rect">
            <a:avLst/>
          </a:prstGeom>
        </p:spPr>
        <p:txBody>
          <a:bodyPr wrap="square">
            <a:spAutoFit/>
          </a:bodyPr>
          <a:lstStyle/>
          <a:p>
            <a:pPr>
              <a:spcBef>
                <a:spcPct val="20000"/>
              </a:spcBef>
            </a:pPr>
            <a:r>
              <a:rPr lang="he-IL" sz="2100" b="1" dirty="0">
                <a:solidFill>
                  <a:prstClr val="black"/>
                </a:solidFill>
              </a:rPr>
              <a:t>הסטה אנכית של עקומת ההיצע ב-50 ₪.</a:t>
            </a:r>
          </a:p>
        </p:txBody>
      </p:sp>
      <p:sp>
        <p:nvSpPr>
          <p:cNvPr id="6" name="חץ למטה 5"/>
          <p:cNvSpPr/>
          <p:nvPr/>
        </p:nvSpPr>
        <p:spPr>
          <a:xfrm>
            <a:off x="6372200" y="1763450"/>
            <a:ext cx="379878" cy="3472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cxnSp>
        <p:nvCxnSpPr>
          <p:cNvPr id="29" name="מחבר ישר 28"/>
          <p:cNvCxnSpPr/>
          <p:nvPr/>
        </p:nvCxnSpPr>
        <p:spPr>
          <a:xfrm flipV="1">
            <a:off x="714348" y="3012514"/>
            <a:ext cx="3143272" cy="214314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845798" y="2786058"/>
            <a:ext cx="369012" cy="369332"/>
          </a:xfrm>
          <a:prstGeom prst="rect">
            <a:avLst/>
          </a:prstGeom>
          <a:noFill/>
        </p:spPr>
        <p:txBody>
          <a:bodyPr wrap="none" rtlCol="1">
            <a:spAutoFit/>
          </a:bodyPr>
          <a:lstStyle/>
          <a:p>
            <a:r>
              <a:rPr lang="en-US" dirty="0">
                <a:solidFill>
                  <a:srgbClr val="0070C0"/>
                </a:solidFill>
              </a:rPr>
              <a:t>S</a:t>
            </a:r>
            <a:r>
              <a:rPr lang="en-US" baseline="-25000" dirty="0">
                <a:solidFill>
                  <a:srgbClr val="0070C0"/>
                </a:solidFill>
              </a:rPr>
              <a:t>1</a:t>
            </a:r>
            <a:endParaRPr lang="he-IL" baseline="-25000" dirty="0">
              <a:solidFill>
                <a:srgbClr val="0070C0"/>
              </a:solidFill>
            </a:endParaRPr>
          </a:p>
        </p:txBody>
      </p:sp>
      <p:sp>
        <p:nvSpPr>
          <p:cNvPr id="31" name="TextBox 30"/>
          <p:cNvSpPr txBox="1"/>
          <p:nvPr/>
        </p:nvSpPr>
        <p:spPr>
          <a:xfrm>
            <a:off x="142844" y="5000636"/>
            <a:ext cx="569387" cy="369332"/>
          </a:xfrm>
          <a:prstGeom prst="rect">
            <a:avLst/>
          </a:prstGeom>
          <a:noFill/>
        </p:spPr>
        <p:txBody>
          <a:bodyPr wrap="none" rtlCol="1">
            <a:spAutoFit/>
          </a:bodyPr>
          <a:lstStyle/>
          <a:p>
            <a:r>
              <a:rPr lang="he-IL" dirty="0">
                <a:solidFill>
                  <a:srgbClr val="0070C0"/>
                </a:solidFill>
              </a:rPr>
              <a:t>150</a:t>
            </a:r>
          </a:p>
        </p:txBody>
      </p:sp>
      <p:sp>
        <p:nvSpPr>
          <p:cNvPr id="8" name="מלבן 7"/>
          <p:cNvSpPr/>
          <p:nvPr/>
        </p:nvSpPr>
        <p:spPr>
          <a:xfrm>
            <a:off x="5907610" y="5443522"/>
            <a:ext cx="2909061" cy="369332"/>
          </a:xfrm>
          <a:prstGeom prst="rect">
            <a:avLst/>
          </a:prstGeom>
        </p:spPr>
        <p:txBody>
          <a:bodyPr wrap="square">
            <a:spAutoFit/>
          </a:bodyPr>
          <a:lstStyle/>
          <a:p>
            <a:r>
              <a:rPr lang="he-IL" dirty="0">
                <a:solidFill>
                  <a:prstClr val="black"/>
                </a:solidFill>
              </a:rPr>
              <a:t>מהו המחיר שרואים היצרנים? </a:t>
            </a:r>
          </a:p>
        </p:txBody>
      </p:sp>
      <p:sp>
        <p:nvSpPr>
          <p:cNvPr id="9" name="מלבן 8"/>
          <p:cNvSpPr/>
          <p:nvPr/>
        </p:nvSpPr>
        <p:spPr>
          <a:xfrm>
            <a:off x="4476399" y="3351856"/>
            <a:ext cx="4551358" cy="923330"/>
          </a:xfrm>
          <a:prstGeom prst="rect">
            <a:avLst/>
          </a:prstGeom>
        </p:spPr>
        <p:txBody>
          <a:bodyPr wrap="square">
            <a:spAutoFit/>
          </a:bodyPr>
          <a:lstStyle/>
          <a:p>
            <a:r>
              <a:rPr lang="he-IL" b="1" dirty="0">
                <a:solidFill>
                  <a:prstClr val="black"/>
                </a:solidFill>
              </a:rPr>
              <a:t>נחשב </a:t>
            </a:r>
            <a:r>
              <a:rPr lang="he-IL" b="1" dirty="0" err="1">
                <a:solidFill>
                  <a:prstClr val="black"/>
                </a:solidFill>
              </a:rPr>
              <a:t>ש''מ</a:t>
            </a:r>
            <a:r>
              <a:rPr lang="he-IL" b="1" dirty="0">
                <a:solidFill>
                  <a:prstClr val="black"/>
                </a:solidFill>
              </a:rPr>
              <a:t> חדש:</a:t>
            </a:r>
            <a:r>
              <a:rPr lang="en-US" b="1" dirty="0">
                <a:solidFill>
                  <a:prstClr val="black"/>
                </a:solidFill>
              </a:rPr>
              <a:t> </a:t>
            </a:r>
            <a:br>
              <a:rPr lang="en-US" b="1" dirty="0">
                <a:solidFill>
                  <a:prstClr val="black"/>
                </a:solidFill>
              </a:rPr>
            </a:br>
            <a:r>
              <a:rPr lang="he-IL" b="1" dirty="0">
                <a:solidFill>
                  <a:prstClr val="black"/>
                </a:solidFill>
              </a:rPr>
              <a:t>              </a:t>
            </a:r>
            <a:r>
              <a:rPr lang="he-IL" b="1" dirty="0">
                <a:solidFill>
                  <a:srgbClr val="0070C0"/>
                </a:solidFill>
              </a:rPr>
              <a:t>היצע</a:t>
            </a:r>
            <a:r>
              <a:rPr lang="he-IL" b="1" dirty="0">
                <a:solidFill>
                  <a:prstClr val="black"/>
                </a:solidFill>
              </a:rPr>
              <a:t> שווה ל</a:t>
            </a:r>
            <a:r>
              <a:rPr lang="he-IL" b="1" dirty="0">
                <a:solidFill>
                  <a:srgbClr val="7030A0"/>
                </a:solidFill>
              </a:rPr>
              <a:t>ביקוש</a:t>
            </a:r>
            <a:r>
              <a:rPr lang="he-IL" b="1" dirty="0">
                <a:solidFill>
                  <a:prstClr val="black"/>
                </a:solidFill>
              </a:rPr>
              <a:t> (כמויות ומחירים)</a:t>
            </a:r>
          </a:p>
          <a:p>
            <a:pPr algn="ctr"/>
            <a:r>
              <a:rPr lang="he-IL" b="1" dirty="0">
                <a:solidFill>
                  <a:prstClr val="black"/>
                </a:solidFill>
              </a:rPr>
              <a:t>	</a:t>
            </a:r>
            <a:r>
              <a:rPr lang="en-US" dirty="0">
                <a:solidFill>
                  <a:srgbClr val="7030A0"/>
                </a:solidFill>
              </a:rPr>
              <a:t>700-0.3X</a:t>
            </a:r>
            <a:r>
              <a:rPr lang="en-US" dirty="0">
                <a:solidFill>
                  <a:prstClr val="black"/>
                </a:solidFill>
              </a:rPr>
              <a:t> = </a:t>
            </a:r>
            <a:r>
              <a:rPr lang="en-US" b="1" dirty="0">
                <a:solidFill>
                  <a:srgbClr val="0070C0"/>
                </a:solidFill>
              </a:rPr>
              <a:t>150</a:t>
            </a:r>
            <a:r>
              <a:rPr lang="en-US" dirty="0">
                <a:solidFill>
                  <a:prstClr val="black"/>
                </a:solidFill>
              </a:rPr>
              <a:t>+0.25X</a:t>
            </a:r>
            <a:r>
              <a:rPr lang="he-IL" dirty="0">
                <a:solidFill>
                  <a:prstClr val="black"/>
                </a:solidFill>
              </a:rPr>
              <a:t>	</a:t>
            </a:r>
          </a:p>
        </p:txBody>
      </p:sp>
      <p:sp>
        <p:nvSpPr>
          <p:cNvPr id="12" name="מלבן 11"/>
          <p:cNvSpPr/>
          <p:nvPr/>
        </p:nvSpPr>
        <p:spPr>
          <a:xfrm>
            <a:off x="5532466" y="4363544"/>
            <a:ext cx="1679468" cy="646331"/>
          </a:xfrm>
          <a:prstGeom prst="rect">
            <a:avLst/>
          </a:prstGeom>
        </p:spPr>
        <p:txBody>
          <a:bodyPr wrap="square">
            <a:spAutoFit/>
          </a:bodyPr>
          <a:lstStyle/>
          <a:p>
            <a:pPr algn="l"/>
            <a:r>
              <a:rPr lang="en-US" dirty="0">
                <a:solidFill>
                  <a:prstClr val="black"/>
                </a:solidFill>
              </a:rPr>
              <a:t>550 = 0.55X </a:t>
            </a:r>
            <a:br>
              <a:rPr lang="en-US" dirty="0">
                <a:solidFill>
                  <a:prstClr val="black"/>
                </a:solidFill>
              </a:rPr>
            </a:br>
            <a:r>
              <a:rPr lang="en-US" b="1" dirty="0">
                <a:solidFill>
                  <a:prstClr val="black"/>
                </a:solidFill>
              </a:rPr>
              <a:t>X = 1,000</a:t>
            </a:r>
            <a:r>
              <a:rPr lang="he-IL" dirty="0">
                <a:solidFill>
                  <a:prstClr val="black"/>
                </a:solidFill>
              </a:rPr>
              <a:t>	</a:t>
            </a:r>
          </a:p>
        </p:txBody>
      </p:sp>
      <p:sp>
        <p:nvSpPr>
          <p:cNvPr id="13" name="מלבן 12"/>
          <p:cNvSpPr/>
          <p:nvPr/>
        </p:nvSpPr>
        <p:spPr>
          <a:xfrm>
            <a:off x="5411906" y="5062022"/>
            <a:ext cx="1107996" cy="369332"/>
          </a:xfrm>
          <a:prstGeom prst="rect">
            <a:avLst/>
          </a:prstGeom>
        </p:spPr>
        <p:txBody>
          <a:bodyPr wrap="none">
            <a:spAutoFit/>
          </a:bodyPr>
          <a:lstStyle/>
          <a:p>
            <a:r>
              <a:rPr lang="en-US" b="1" dirty="0">
                <a:solidFill>
                  <a:prstClr val="black"/>
                </a:solidFill>
              </a:rPr>
              <a:t>P = </a:t>
            </a:r>
            <a:r>
              <a:rPr lang="en-US" b="1" dirty="0">
                <a:solidFill>
                  <a:srgbClr val="7030A0"/>
                </a:solidFill>
              </a:rPr>
              <a:t>400</a:t>
            </a:r>
            <a:r>
              <a:rPr lang="en-US" dirty="0">
                <a:solidFill>
                  <a:prstClr val="black"/>
                </a:solidFill>
                <a:cs typeface="Calibri"/>
              </a:rPr>
              <a:t>	</a:t>
            </a:r>
            <a:endParaRPr lang="he-IL" dirty="0">
              <a:solidFill>
                <a:prstClr val="black"/>
              </a:solidFill>
            </a:endParaRPr>
          </a:p>
        </p:txBody>
      </p:sp>
      <p:sp>
        <p:nvSpPr>
          <p:cNvPr id="15" name="מלבן 14"/>
          <p:cNvSpPr/>
          <p:nvPr/>
        </p:nvSpPr>
        <p:spPr>
          <a:xfrm>
            <a:off x="5487582" y="5785358"/>
            <a:ext cx="1391728" cy="461665"/>
          </a:xfrm>
          <a:prstGeom prst="rect">
            <a:avLst/>
          </a:prstGeom>
        </p:spPr>
        <p:txBody>
          <a:bodyPr wrap="none">
            <a:spAutoFit/>
          </a:bodyPr>
          <a:lstStyle/>
          <a:p>
            <a:r>
              <a:rPr lang="he-IL" dirty="0">
                <a:solidFill>
                  <a:prstClr val="black"/>
                </a:solidFill>
              </a:rPr>
              <a:t> </a:t>
            </a:r>
            <a:r>
              <a:rPr lang="en-US" dirty="0">
                <a:solidFill>
                  <a:prstClr val="black"/>
                </a:solidFill>
              </a:rPr>
              <a:t> </a:t>
            </a:r>
            <a:r>
              <a:rPr lang="en-US" sz="2400" b="1" dirty="0">
                <a:solidFill>
                  <a:srgbClr val="0070C0"/>
                </a:solidFill>
              </a:rPr>
              <a:t>P</a:t>
            </a:r>
            <a:r>
              <a:rPr lang="he-IL" dirty="0">
                <a:solidFill>
                  <a:prstClr val="black"/>
                </a:solidFill>
              </a:rPr>
              <a:t>יצרן= 350</a:t>
            </a:r>
          </a:p>
        </p:txBody>
      </p:sp>
      <p:cxnSp>
        <p:nvCxnSpPr>
          <p:cNvPr id="32" name="מחבר ישר 31"/>
          <p:cNvCxnSpPr/>
          <p:nvPr/>
        </p:nvCxnSpPr>
        <p:spPr>
          <a:xfrm rot="5400000">
            <a:off x="1244232" y="5078256"/>
            <a:ext cx="1584000" cy="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33" name="מחבר ישר 32"/>
          <p:cNvCxnSpPr/>
          <p:nvPr/>
        </p:nvCxnSpPr>
        <p:spPr>
          <a:xfrm rot="5400000">
            <a:off x="1405670" y="354881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42845" y="3988362"/>
            <a:ext cx="569387" cy="369332"/>
          </a:xfrm>
          <a:prstGeom prst="rect">
            <a:avLst/>
          </a:prstGeom>
          <a:noFill/>
        </p:spPr>
        <p:txBody>
          <a:bodyPr wrap="none" rtlCol="1">
            <a:spAutoFit/>
          </a:bodyPr>
          <a:lstStyle/>
          <a:p>
            <a:r>
              <a:rPr lang="he-IL" b="1" dirty="0">
                <a:solidFill>
                  <a:srgbClr val="FFC000">
                    <a:lumMod val="75000"/>
                  </a:srgbClr>
                </a:solidFill>
              </a:rPr>
              <a:t>400</a:t>
            </a:r>
          </a:p>
        </p:txBody>
      </p:sp>
      <p:sp>
        <p:nvSpPr>
          <p:cNvPr id="35" name="TextBox 34"/>
          <p:cNvSpPr txBox="1"/>
          <p:nvPr/>
        </p:nvSpPr>
        <p:spPr>
          <a:xfrm>
            <a:off x="1406776" y="5929330"/>
            <a:ext cx="761747" cy="369332"/>
          </a:xfrm>
          <a:prstGeom prst="rect">
            <a:avLst/>
          </a:prstGeom>
          <a:noFill/>
        </p:spPr>
        <p:txBody>
          <a:bodyPr wrap="none" rtlCol="1">
            <a:spAutoFit/>
          </a:bodyPr>
          <a:lstStyle/>
          <a:p>
            <a:r>
              <a:rPr lang="he-IL" dirty="0">
                <a:solidFill>
                  <a:srgbClr val="0070C0"/>
                </a:solidFill>
              </a:rPr>
              <a:t>1,000</a:t>
            </a:r>
          </a:p>
        </p:txBody>
      </p:sp>
      <p:sp>
        <p:nvSpPr>
          <p:cNvPr id="36" name="אליפסה 35"/>
          <p:cNvSpPr/>
          <p:nvPr/>
        </p:nvSpPr>
        <p:spPr>
          <a:xfrm>
            <a:off x="2000232" y="4500570"/>
            <a:ext cx="142876" cy="1428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cxnSp>
        <p:nvCxnSpPr>
          <p:cNvPr id="37" name="מחבר ישר 36"/>
          <p:cNvCxnSpPr/>
          <p:nvPr/>
        </p:nvCxnSpPr>
        <p:spPr>
          <a:xfrm rot="5400000">
            <a:off x="1405669" y="3918150"/>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32597" y="4443391"/>
            <a:ext cx="569387" cy="369332"/>
          </a:xfrm>
          <a:prstGeom prst="rect">
            <a:avLst/>
          </a:prstGeom>
          <a:noFill/>
        </p:spPr>
        <p:txBody>
          <a:bodyPr wrap="none" rtlCol="1">
            <a:spAutoFit/>
          </a:bodyPr>
          <a:lstStyle/>
          <a:p>
            <a:r>
              <a:rPr lang="he-IL" dirty="0">
                <a:solidFill>
                  <a:srgbClr val="0070C0"/>
                </a:solidFill>
              </a:rPr>
              <a:t>350</a:t>
            </a:r>
          </a:p>
        </p:txBody>
      </p:sp>
    </p:spTree>
    <p:extLst>
      <p:ext uri="{BB962C8B-B14F-4D97-AF65-F5344CB8AC3E}">
        <p14:creationId xmlns:p14="http://schemas.microsoft.com/office/powerpoint/2010/main" val="406340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500"/>
                                        <p:tgtEl>
                                          <p:spTgt spid="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down)">
                                      <p:cBhvr>
                                        <p:cTn id="26" dur="500"/>
                                        <p:tgtEl>
                                          <p:spTgt spid="31"/>
                                        </p:tgtEl>
                                      </p:cBhvr>
                                    </p:animEffect>
                                  </p:childTnLst>
                                </p:cTn>
                              </p:par>
                              <p:par>
                                <p:cTn id="27" presetID="22" presetClass="entr" presetSubtype="4"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down)">
                                      <p:cBhvr>
                                        <p:cTn id="29" dur="500"/>
                                        <p:tgtEl>
                                          <p:spTgt spid="2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down)">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down)">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down)">
                                      <p:cBhvr>
                                        <p:cTn id="52" dur="500"/>
                                        <p:tgtEl>
                                          <p:spTgt spid="32"/>
                                        </p:tgtEl>
                                      </p:cBhvr>
                                    </p:animEffect>
                                  </p:childTnLst>
                                </p:cTn>
                              </p:par>
                              <p:par>
                                <p:cTn id="53" presetID="22" presetClass="entr" presetSubtype="4"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down)">
                                      <p:cBhvr>
                                        <p:cTn id="55" dur="500"/>
                                        <p:tgtEl>
                                          <p:spTgt spid="33"/>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wipe(down)">
                                      <p:cBhvr>
                                        <p:cTn id="58" dur="500"/>
                                        <p:tgtEl>
                                          <p:spTgt spid="34"/>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wipe(down)">
                                      <p:cBhvr>
                                        <p:cTn id="61" dur="5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barn(inVertical)">
                                      <p:cBhvr>
                                        <p:cTn id="66" dur="500"/>
                                        <p:tgtEl>
                                          <p:spTgt spid="8"/>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ppt_x</p:attrName>
                                        </p:attrNameLst>
                                      </p:cBhvr>
                                      <p:tavLst>
                                        <p:tav tm="0">
                                          <p:val>
                                            <p:strVal val="#ppt_x"/>
                                          </p:val>
                                        </p:tav>
                                        <p:tav tm="100000">
                                          <p:val>
                                            <p:strVal val="#ppt_x"/>
                                          </p:val>
                                        </p:tav>
                                      </p:tavLst>
                                    </p:anim>
                                    <p:anim calcmode="lin" valueType="num">
                                      <p:cBhvr additive="base">
                                        <p:cTn id="7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anim calcmode="lin" valueType="num">
                                      <p:cBhvr additive="base">
                                        <p:cTn id="77" dur="500" fill="hold"/>
                                        <p:tgtEl>
                                          <p:spTgt spid="36"/>
                                        </p:tgtEl>
                                        <p:attrNameLst>
                                          <p:attrName>ppt_x</p:attrName>
                                        </p:attrNameLst>
                                      </p:cBhvr>
                                      <p:tavLst>
                                        <p:tav tm="0">
                                          <p:val>
                                            <p:strVal val="#ppt_x"/>
                                          </p:val>
                                        </p:tav>
                                        <p:tav tm="100000">
                                          <p:val>
                                            <p:strVal val="#ppt_x"/>
                                          </p:val>
                                        </p:tav>
                                      </p:tavLst>
                                    </p:anim>
                                    <p:anim calcmode="lin" valueType="num">
                                      <p:cBhvr additive="base">
                                        <p:cTn id="78" dur="500" fill="hold"/>
                                        <p:tgtEl>
                                          <p:spTgt spid="36"/>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37"/>
                                        </p:tgtEl>
                                        <p:attrNameLst>
                                          <p:attrName>style.visibility</p:attrName>
                                        </p:attrNameLst>
                                      </p:cBhvr>
                                      <p:to>
                                        <p:strVal val="visible"/>
                                      </p:to>
                                    </p:set>
                                    <p:anim calcmode="lin" valueType="num">
                                      <p:cBhvr additive="base">
                                        <p:cTn id="81" dur="500" fill="hold"/>
                                        <p:tgtEl>
                                          <p:spTgt spid="37"/>
                                        </p:tgtEl>
                                        <p:attrNameLst>
                                          <p:attrName>ppt_x</p:attrName>
                                        </p:attrNameLst>
                                      </p:cBhvr>
                                      <p:tavLst>
                                        <p:tav tm="0">
                                          <p:val>
                                            <p:strVal val="#ppt_x"/>
                                          </p:val>
                                        </p:tav>
                                        <p:tav tm="100000">
                                          <p:val>
                                            <p:strVal val="#ppt_x"/>
                                          </p:val>
                                        </p:tav>
                                      </p:tavLst>
                                    </p:anim>
                                    <p:anim calcmode="lin" valueType="num">
                                      <p:cBhvr additive="base">
                                        <p:cTn id="82" dur="500" fill="hold"/>
                                        <p:tgtEl>
                                          <p:spTgt spid="37"/>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 calcmode="lin" valueType="num">
                                      <p:cBhvr additive="base">
                                        <p:cTn id="85" dur="500" fill="hold"/>
                                        <p:tgtEl>
                                          <p:spTgt spid="38"/>
                                        </p:tgtEl>
                                        <p:attrNameLst>
                                          <p:attrName>ppt_x</p:attrName>
                                        </p:attrNameLst>
                                      </p:cBhvr>
                                      <p:tavLst>
                                        <p:tav tm="0">
                                          <p:val>
                                            <p:strVal val="#ppt_x"/>
                                          </p:val>
                                        </p:tav>
                                        <p:tav tm="100000">
                                          <p:val>
                                            <p:strVal val="#ppt_x"/>
                                          </p:val>
                                        </p:tav>
                                      </p:tavLst>
                                    </p:anim>
                                    <p:anim calcmode="lin" valueType="num">
                                      <p:cBhvr additive="base">
                                        <p:cTn id="8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4" grpId="0"/>
      <p:bldP spid="5" grpId="0"/>
      <p:bldP spid="6" grpId="0" animBg="1"/>
      <p:bldP spid="30" grpId="0"/>
      <p:bldP spid="31" grpId="0"/>
      <p:bldP spid="8" grpId="0"/>
      <p:bldP spid="9" grpId="0"/>
      <p:bldP spid="12" grpId="0"/>
      <p:bldP spid="13" grpId="0"/>
      <p:bldP spid="15" grpId="0"/>
      <p:bldP spid="34" grpId="0"/>
      <p:bldP spid="35" grpId="0"/>
      <p:bldP spid="36" grpId="0" animBg="1"/>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364088" y="0"/>
            <a:ext cx="3779912" cy="1143000"/>
          </a:xfrm>
        </p:spPr>
        <p:txBody>
          <a:bodyPr/>
          <a:lstStyle/>
          <a:p>
            <a:pPr algn="r"/>
            <a:r>
              <a:rPr lang="he-IL" b="1" dirty="0">
                <a:solidFill>
                  <a:schemeClr val="tx2">
                    <a:lumMod val="75000"/>
                  </a:schemeClr>
                </a:solidFill>
              </a:rPr>
              <a:t>שאלה 1</a:t>
            </a:r>
            <a:endParaRPr lang="he-IL" dirty="0"/>
          </a:p>
        </p:txBody>
      </p:sp>
      <p:sp>
        <p:nvSpPr>
          <p:cNvPr id="7" name="מציין מיקום תוכן 6"/>
          <p:cNvSpPr>
            <a:spLocks noGrp="1"/>
          </p:cNvSpPr>
          <p:nvPr>
            <p:ph idx="1"/>
          </p:nvPr>
        </p:nvSpPr>
        <p:spPr>
          <a:xfrm>
            <a:off x="581042" y="1214423"/>
            <a:ext cx="8105758" cy="1512340"/>
          </a:xfrm>
        </p:spPr>
        <p:txBody>
          <a:bodyPr/>
          <a:lstStyle/>
          <a:p>
            <a:pPr marL="0" indent="0">
              <a:buNone/>
            </a:pPr>
            <a:r>
              <a:rPr lang="he-IL" sz="2200" b="1" dirty="0"/>
              <a:t>סעיף ב'</a:t>
            </a:r>
            <a:r>
              <a:rPr lang="he-IL" sz="2200" dirty="0"/>
              <a:t> –</a:t>
            </a:r>
            <a:r>
              <a:rPr lang="he-IL" sz="2200" dirty="0" err="1"/>
              <a:t> מו</a:t>
            </a:r>
            <a:r>
              <a:rPr lang="he-IL" sz="2200" dirty="0"/>
              <a:t>טל מס של 50 ₪</a:t>
            </a:r>
            <a:r>
              <a:rPr lang="he-IL" sz="2200" dirty="0" err="1"/>
              <a:t> על</a:t>
            </a:r>
            <a:r>
              <a:rPr lang="he-IL" sz="2200" dirty="0"/>
              <a:t> כל טון אפרסק שנמכר</a:t>
            </a:r>
          </a:p>
          <a:p>
            <a:endParaRPr lang="he-IL" sz="2200" b="1" dirty="0"/>
          </a:p>
        </p:txBody>
      </p:sp>
      <p:grpSp>
        <p:nvGrpSpPr>
          <p:cNvPr id="3"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prstClr val="black"/>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561090"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cxnSp>
        <p:nvCxnSpPr>
          <p:cNvPr id="24" name="מחבר ישר 23"/>
          <p:cNvCxnSpPr/>
          <p:nvPr/>
        </p:nvCxnSpPr>
        <p:spPr>
          <a:xfrm rot="5400000">
            <a:off x="1500447" y="5179231"/>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4"/>
          <p:cNvCxnSpPr/>
          <p:nvPr/>
        </p:nvCxnSpPr>
        <p:spPr>
          <a:xfrm rot="5400000">
            <a:off x="1493984" y="3637132"/>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974818" y="5929330"/>
            <a:ext cx="954108" cy="369332"/>
          </a:xfrm>
          <a:prstGeom prst="rect">
            <a:avLst/>
          </a:prstGeom>
          <a:noFill/>
        </p:spPr>
        <p:txBody>
          <a:bodyPr wrap="none" rtlCol="1">
            <a:spAutoFit/>
          </a:bodyPr>
          <a:lstStyle/>
          <a:p>
            <a:r>
              <a:rPr lang="he-IL" dirty="0">
                <a:solidFill>
                  <a:prstClr val="black"/>
                </a:solidFill>
              </a:rPr>
              <a:t>1,090.9</a:t>
            </a:r>
          </a:p>
        </p:txBody>
      </p:sp>
      <p:cxnSp>
        <p:nvCxnSpPr>
          <p:cNvPr id="28" name="מחבר ישר 27"/>
          <p:cNvCxnSpPr/>
          <p:nvPr/>
        </p:nvCxnSpPr>
        <p:spPr>
          <a:xfrm flipV="1">
            <a:off x="714348" y="3012514"/>
            <a:ext cx="3143272" cy="214314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845798" y="2786058"/>
            <a:ext cx="369012" cy="369332"/>
          </a:xfrm>
          <a:prstGeom prst="rect">
            <a:avLst/>
          </a:prstGeom>
          <a:noFill/>
        </p:spPr>
        <p:txBody>
          <a:bodyPr wrap="none" rtlCol="1">
            <a:spAutoFit/>
          </a:bodyPr>
          <a:lstStyle/>
          <a:p>
            <a:r>
              <a:rPr lang="en-US" dirty="0">
                <a:solidFill>
                  <a:srgbClr val="0070C0"/>
                </a:solidFill>
              </a:rPr>
              <a:t>S</a:t>
            </a:r>
            <a:r>
              <a:rPr lang="en-US" baseline="-25000" dirty="0">
                <a:solidFill>
                  <a:srgbClr val="0070C0"/>
                </a:solidFill>
              </a:rPr>
              <a:t>1</a:t>
            </a:r>
            <a:endParaRPr lang="he-IL" baseline="-25000" dirty="0">
              <a:solidFill>
                <a:srgbClr val="0070C0"/>
              </a:solidFill>
            </a:endParaRPr>
          </a:p>
        </p:txBody>
      </p:sp>
      <p:sp>
        <p:nvSpPr>
          <p:cNvPr id="30" name="TextBox 29"/>
          <p:cNvSpPr txBox="1"/>
          <p:nvPr/>
        </p:nvSpPr>
        <p:spPr>
          <a:xfrm>
            <a:off x="142844" y="5000636"/>
            <a:ext cx="569387" cy="369332"/>
          </a:xfrm>
          <a:prstGeom prst="rect">
            <a:avLst/>
          </a:prstGeom>
          <a:noFill/>
        </p:spPr>
        <p:txBody>
          <a:bodyPr wrap="none" rtlCol="1">
            <a:spAutoFit/>
          </a:bodyPr>
          <a:lstStyle/>
          <a:p>
            <a:r>
              <a:rPr lang="he-IL" dirty="0">
                <a:solidFill>
                  <a:srgbClr val="0070C0"/>
                </a:solidFill>
              </a:rPr>
              <a:t>150</a:t>
            </a:r>
          </a:p>
        </p:txBody>
      </p:sp>
      <p:cxnSp>
        <p:nvCxnSpPr>
          <p:cNvPr id="31" name="מחבר ישר 30"/>
          <p:cNvCxnSpPr/>
          <p:nvPr/>
        </p:nvCxnSpPr>
        <p:spPr>
          <a:xfrm rot="5400000">
            <a:off x="1244232" y="5078256"/>
            <a:ext cx="1584000" cy="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32" name="מחבר ישר 31"/>
          <p:cNvCxnSpPr/>
          <p:nvPr/>
        </p:nvCxnSpPr>
        <p:spPr>
          <a:xfrm rot="5400000">
            <a:off x="1405670" y="354881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2845" y="3988362"/>
            <a:ext cx="569387" cy="369332"/>
          </a:xfrm>
          <a:prstGeom prst="rect">
            <a:avLst/>
          </a:prstGeom>
          <a:noFill/>
        </p:spPr>
        <p:txBody>
          <a:bodyPr wrap="none" rtlCol="1">
            <a:spAutoFit/>
          </a:bodyPr>
          <a:lstStyle/>
          <a:p>
            <a:r>
              <a:rPr lang="he-IL" dirty="0">
                <a:solidFill>
                  <a:srgbClr val="FFC000">
                    <a:lumMod val="75000"/>
                  </a:srgbClr>
                </a:solidFill>
              </a:rPr>
              <a:t>400</a:t>
            </a:r>
          </a:p>
        </p:txBody>
      </p:sp>
      <p:sp>
        <p:nvSpPr>
          <p:cNvPr id="34" name="TextBox 33"/>
          <p:cNvSpPr txBox="1"/>
          <p:nvPr/>
        </p:nvSpPr>
        <p:spPr>
          <a:xfrm>
            <a:off x="1406776" y="5929330"/>
            <a:ext cx="761747" cy="369332"/>
          </a:xfrm>
          <a:prstGeom prst="rect">
            <a:avLst/>
          </a:prstGeom>
          <a:noFill/>
        </p:spPr>
        <p:txBody>
          <a:bodyPr wrap="none" rtlCol="1">
            <a:spAutoFit/>
          </a:bodyPr>
          <a:lstStyle/>
          <a:p>
            <a:r>
              <a:rPr lang="he-IL" dirty="0">
                <a:solidFill>
                  <a:srgbClr val="0070C0"/>
                </a:solidFill>
              </a:rPr>
              <a:t>1,000</a:t>
            </a:r>
          </a:p>
        </p:txBody>
      </p:sp>
      <p:sp>
        <p:nvSpPr>
          <p:cNvPr id="36" name="אליפסה 35"/>
          <p:cNvSpPr/>
          <p:nvPr/>
        </p:nvSpPr>
        <p:spPr>
          <a:xfrm>
            <a:off x="2000232" y="4500570"/>
            <a:ext cx="142876" cy="1428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cxnSp>
        <p:nvCxnSpPr>
          <p:cNvPr id="37" name="מחבר ישר 36"/>
          <p:cNvCxnSpPr>
            <a:stCxn id="36" idx="2"/>
          </p:cNvCxnSpPr>
          <p:nvPr/>
        </p:nvCxnSpPr>
        <p:spPr>
          <a:xfrm flipH="1">
            <a:off x="739670" y="4572008"/>
            <a:ext cx="1260562" cy="12142"/>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42845" y="4416990"/>
            <a:ext cx="569387" cy="369332"/>
          </a:xfrm>
          <a:prstGeom prst="rect">
            <a:avLst/>
          </a:prstGeom>
          <a:noFill/>
        </p:spPr>
        <p:txBody>
          <a:bodyPr wrap="none" rtlCol="1">
            <a:spAutoFit/>
          </a:bodyPr>
          <a:lstStyle/>
          <a:p>
            <a:r>
              <a:rPr lang="he-IL" dirty="0">
                <a:solidFill>
                  <a:srgbClr val="0070C0"/>
                </a:solidFill>
              </a:rPr>
              <a:t>350</a:t>
            </a:r>
          </a:p>
        </p:txBody>
      </p:sp>
      <p:sp>
        <p:nvSpPr>
          <p:cNvPr id="39" name="מלבן 38"/>
          <p:cNvSpPr/>
          <p:nvPr/>
        </p:nvSpPr>
        <p:spPr>
          <a:xfrm>
            <a:off x="142844"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a:t>
            </a:r>
            <a:r>
              <a:rPr lang="en-US" sz="2000" dirty="0">
                <a:solidFill>
                  <a:srgbClr val="7030A0"/>
                </a:solidFill>
              </a:rPr>
              <a:t>P=700-0.3X</a:t>
            </a:r>
          </a:p>
          <a:p>
            <a:pPr>
              <a:spcBef>
                <a:spcPct val="20000"/>
              </a:spcBef>
            </a:pPr>
            <a:r>
              <a:rPr lang="he-IL" sz="2000" dirty="0">
                <a:solidFill>
                  <a:prstClr val="black"/>
                </a:solidFill>
              </a:rPr>
              <a:t>ההיצע המצרפי של האפרסקים נתון ע"י           </a:t>
            </a:r>
            <a:r>
              <a:rPr lang="en-US" sz="2000" dirty="0">
                <a:solidFill>
                  <a:prstClr val="black"/>
                </a:solidFill>
              </a:rPr>
              <a:t>P=</a:t>
            </a:r>
            <a:r>
              <a:rPr lang="en-US" sz="2000" b="1" dirty="0">
                <a:solidFill>
                  <a:prstClr val="black"/>
                </a:solidFill>
              </a:rPr>
              <a:t>100</a:t>
            </a:r>
            <a:r>
              <a:rPr lang="en-US" sz="2000" dirty="0">
                <a:solidFill>
                  <a:prstClr val="black"/>
                </a:solidFill>
              </a:rPr>
              <a:t>+0.25X</a:t>
            </a:r>
          </a:p>
        </p:txBody>
      </p:sp>
      <p:sp>
        <p:nvSpPr>
          <p:cNvPr id="4" name="מלבן 3"/>
          <p:cNvSpPr/>
          <p:nvPr/>
        </p:nvSpPr>
        <p:spPr>
          <a:xfrm>
            <a:off x="3131840" y="2092199"/>
            <a:ext cx="5516561" cy="430887"/>
          </a:xfrm>
          <a:prstGeom prst="rect">
            <a:avLst/>
          </a:prstGeom>
        </p:spPr>
        <p:txBody>
          <a:bodyPr wrap="square">
            <a:spAutoFit/>
          </a:bodyPr>
          <a:lstStyle/>
          <a:p>
            <a:pPr>
              <a:spcBef>
                <a:spcPct val="20000"/>
              </a:spcBef>
            </a:pPr>
            <a:r>
              <a:rPr lang="he-IL" sz="2200" b="1" u="sng" dirty="0">
                <a:solidFill>
                  <a:prstClr val="black"/>
                </a:solidFill>
              </a:rPr>
              <a:t>נניח</a:t>
            </a:r>
            <a:r>
              <a:rPr lang="he-IL" sz="2200" b="1" dirty="0">
                <a:solidFill>
                  <a:prstClr val="black"/>
                </a:solidFill>
              </a:rPr>
              <a:t> שהמס מוטל </a:t>
            </a:r>
            <a:r>
              <a:rPr lang="he-IL" sz="2200" b="1" u="sng" dirty="0">
                <a:solidFill>
                  <a:prstClr val="black"/>
                </a:solidFill>
              </a:rPr>
              <a:t>על הצרכנים </a:t>
            </a:r>
            <a:r>
              <a:rPr lang="he-IL" sz="2200" b="1" dirty="0">
                <a:solidFill>
                  <a:prstClr val="black"/>
                </a:solidFill>
              </a:rPr>
              <a:t>ולא על היצרנים...</a:t>
            </a:r>
          </a:p>
        </p:txBody>
      </p:sp>
    </p:spTree>
    <p:extLst>
      <p:ext uri="{BB962C8B-B14F-4D97-AF65-F5344CB8AC3E}">
        <p14:creationId xmlns:p14="http://schemas.microsoft.com/office/powerpoint/2010/main" val="2959984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מחבר ישר 39"/>
          <p:cNvCxnSpPr/>
          <p:nvPr/>
        </p:nvCxnSpPr>
        <p:spPr>
          <a:xfrm rot="5400000">
            <a:off x="1405669" y="3918150"/>
            <a:ext cx="0" cy="1332000"/>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2" name="כותרת 1"/>
          <p:cNvSpPr>
            <a:spLocks noGrp="1"/>
          </p:cNvSpPr>
          <p:nvPr>
            <p:ph type="title"/>
          </p:nvPr>
        </p:nvSpPr>
        <p:spPr>
          <a:xfrm>
            <a:off x="914400" y="0"/>
            <a:ext cx="8229600" cy="1143000"/>
          </a:xfrm>
        </p:spPr>
        <p:txBody>
          <a:bodyPr/>
          <a:lstStyle/>
          <a:p>
            <a:pPr algn="r"/>
            <a:r>
              <a:rPr lang="he-IL" b="1" dirty="0">
                <a:solidFill>
                  <a:schemeClr val="tx2">
                    <a:lumMod val="75000"/>
                  </a:schemeClr>
                </a:solidFill>
              </a:rPr>
              <a:t>שאלה 1</a:t>
            </a:r>
            <a:endParaRPr lang="he-IL" dirty="0"/>
          </a:p>
        </p:txBody>
      </p:sp>
      <p:sp>
        <p:nvSpPr>
          <p:cNvPr id="7" name="מציין מיקום תוכן 6"/>
          <p:cNvSpPr>
            <a:spLocks noGrp="1"/>
          </p:cNvSpPr>
          <p:nvPr>
            <p:ph idx="1"/>
          </p:nvPr>
        </p:nvSpPr>
        <p:spPr>
          <a:xfrm>
            <a:off x="5413374" y="3908171"/>
            <a:ext cx="3933565" cy="1756302"/>
          </a:xfrm>
        </p:spPr>
        <p:txBody>
          <a:bodyPr/>
          <a:lstStyle/>
          <a:p>
            <a:endParaRPr lang="he-IL" sz="2200" b="1" dirty="0"/>
          </a:p>
          <a:p>
            <a:pPr>
              <a:buNone/>
            </a:pPr>
            <a:r>
              <a:rPr lang="he-IL" sz="2600" b="1" dirty="0"/>
              <a:t>	</a:t>
            </a:r>
            <a:r>
              <a:rPr lang="he-IL" b="1" dirty="0"/>
              <a:t>מתקבלת בדיוק </a:t>
            </a:r>
          </a:p>
          <a:p>
            <a:pPr>
              <a:buNone/>
            </a:pPr>
            <a:r>
              <a:rPr lang="he-IL" b="1" dirty="0"/>
              <a:t>	אותה תוצאה!</a:t>
            </a:r>
            <a:r>
              <a:rPr lang="en-US" sz="2200" dirty="0"/>
              <a:t>		</a:t>
            </a:r>
            <a:endParaRPr lang="he-IL" sz="2200" dirty="0"/>
          </a:p>
        </p:txBody>
      </p:sp>
      <p:grpSp>
        <p:nvGrpSpPr>
          <p:cNvPr id="3"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prstClr val="black"/>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561090"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cxnSp>
        <p:nvCxnSpPr>
          <p:cNvPr id="24" name="מחבר ישר 23"/>
          <p:cNvCxnSpPr/>
          <p:nvPr/>
        </p:nvCxnSpPr>
        <p:spPr>
          <a:xfrm rot="5400000">
            <a:off x="1500447" y="5179231"/>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4"/>
          <p:cNvCxnSpPr/>
          <p:nvPr/>
        </p:nvCxnSpPr>
        <p:spPr>
          <a:xfrm rot="5400000">
            <a:off x="1493984" y="3637132"/>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974818" y="5929330"/>
            <a:ext cx="954108" cy="369332"/>
          </a:xfrm>
          <a:prstGeom prst="rect">
            <a:avLst/>
          </a:prstGeom>
          <a:noFill/>
        </p:spPr>
        <p:txBody>
          <a:bodyPr wrap="none" rtlCol="1">
            <a:spAutoFit/>
          </a:bodyPr>
          <a:lstStyle/>
          <a:p>
            <a:r>
              <a:rPr lang="he-IL" dirty="0">
                <a:solidFill>
                  <a:prstClr val="black"/>
                </a:solidFill>
              </a:rPr>
              <a:t>1,090.9</a:t>
            </a:r>
          </a:p>
        </p:txBody>
      </p:sp>
      <p:cxnSp>
        <p:nvCxnSpPr>
          <p:cNvPr id="28" name="מחבר ישר 27"/>
          <p:cNvCxnSpPr/>
          <p:nvPr/>
        </p:nvCxnSpPr>
        <p:spPr>
          <a:xfrm flipV="1">
            <a:off x="714348" y="3012514"/>
            <a:ext cx="3143272" cy="214314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845798" y="2786058"/>
            <a:ext cx="369012" cy="369332"/>
          </a:xfrm>
          <a:prstGeom prst="rect">
            <a:avLst/>
          </a:prstGeom>
          <a:noFill/>
        </p:spPr>
        <p:txBody>
          <a:bodyPr wrap="none" rtlCol="1">
            <a:spAutoFit/>
          </a:bodyPr>
          <a:lstStyle/>
          <a:p>
            <a:r>
              <a:rPr lang="en-US" dirty="0">
                <a:solidFill>
                  <a:srgbClr val="0070C0"/>
                </a:solidFill>
              </a:rPr>
              <a:t>S</a:t>
            </a:r>
            <a:r>
              <a:rPr lang="en-US" baseline="-25000" dirty="0">
                <a:solidFill>
                  <a:srgbClr val="0070C0"/>
                </a:solidFill>
              </a:rPr>
              <a:t>1</a:t>
            </a:r>
            <a:endParaRPr lang="he-IL" baseline="-25000" dirty="0">
              <a:solidFill>
                <a:srgbClr val="0070C0"/>
              </a:solidFill>
            </a:endParaRPr>
          </a:p>
        </p:txBody>
      </p:sp>
      <p:sp>
        <p:nvSpPr>
          <p:cNvPr id="30" name="TextBox 29"/>
          <p:cNvSpPr txBox="1"/>
          <p:nvPr/>
        </p:nvSpPr>
        <p:spPr>
          <a:xfrm>
            <a:off x="142844" y="5000636"/>
            <a:ext cx="569387" cy="369332"/>
          </a:xfrm>
          <a:prstGeom prst="rect">
            <a:avLst/>
          </a:prstGeom>
          <a:noFill/>
        </p:spPr>
        <p:txBody>
          <a:bodyPr wrap="none" rtlCol="1">
            <a:spAutoFit/>
          </a:bodyPr>
          <a:lstStyle/>
          <a:p>
            <a:r>
              <a:rPr lang="he-IL" dirty="0">
                <a:solidFill>
                  <a:srgbClr val="0070C0"/>
                </a:solidFill>
              </a:rPr>
              <a:t>150</a:t>
            </a:r>
          </a:p>
        </p:txBody>
      </p:sp>
      <p:cxnSp>
        <p:nvCxnSpPr>
          <p:cNvPr id="31" name="מחבר ישר 30"/>
          <p:cNvCxnSpPr/>
          <p:nvPr/>
        </p:nvCxnSpPr>
        <p:spPr>
          <a:xfrm rot="5400000">
            <a:off x="1244232" y="5078256"/>
            <a:ext cx="1584000" cy="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32" name="מחבר ישר 31"/>
          <p:cNvCxnSpPr/>
          <p:nvPr/>
        </p:nvCxnSpPr>
        <p:spPr>
          <a:xfrm rot="5400000">
            <a:off x="1405670" y="354881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2845" y="3988362"/>
            <a:ext cx="569387" cy="369332"/>
          </a:xfrm>
          <a:prstGeom prst="rect">
            <a:avLst/>
          </a:prstGeom>
          <a:noFill/>
        </p:spPr>
        <p:txBody>
          <a:bodyPr wrap="none" rtlCol="1">
            <a:spAutoFit/>
          </a:bodyPr>
          <a:lstStyle/>
          <a:p>
            <a:r>
              <a:rPr lang="he-IL" b="1" dirty="0">
                <a:solidFill>
                  <a:schemeClr val="accent2">
                    <a:lumMod val="75000"/>
                  </a:schemeClr>
                </a:solidFill>
              </a:rPr>
              <a:t>400</a:t>
            </a:r>
          </a:p>
        </p:txBody>
      </p:sp>
      <p:sp>
        <p:nvSpPr>
          <p:cNvPr id="34" name="TextBox 33"/>
          <p:cNvSpPr txBox="1"/>
          <p:nvPr/>
        </p:nvSpPr>
        <p:spPr>
          <a:xfrm>
            <a:off x="1406776" y="5929330"/>
            <a:ext cx="761747" cy="369332"/>
          </a:xfrm>
          <a:prstGeom prst="rect">
            <a:avLst/>
          </a:prstGeom>
          <a:noFill/>
        </p:spPr>
        <p:txBody>
          <a:bodyPr wrap="none" rtlCol="1">
            <a:spAutoFit/>
          </a:bodyPr>
          <a:lstStyle/>
          <a:p>
            <a:r>
              <a:rPr lang="he-IL" b="1" dirty="0">
                <a:solidFill>
                  <a:schemeClr val="accent2">
                    <a:lumMod val="75000"/>
                  </a:schemeClr>
                </a:solidFill>
              </a:rPr>
              <a:t>1,000</a:t>
            </a:r>
          </a:p>
        </p:txBody>
      </p:sp>
      <p:cxnSp>
        <p:nvCxnSpPr>
          <p:cNvPr id="35" name="מחבר ישר 34"/>
          <p:cNvCxnSpPr/>
          <p:nvPr/>
        </p:nvCxnSpPr>
        <p:spPr>
          <a:xfrm>
            <a:off x="714348" y="3429000"/>
            <a:ext cx="2857520" cy="250033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428992" y="5581664"/>
            <a:ext cx="405881" cy="369332"/>
          </a:xfrm>
          <a:prstGeom prst="rect">
            <a:avLst/>
          </a:prstGeom>
          <a:noFill/>
        </p:spPr>
        <p:txBody>
          <a:bodyPr wrap="none" rtlCol="1">
            <a:spAutoFit/>
          </a:bodyPr>
          <a:lstStyle/>
          <a:p>
            <a:r>
              <a:rPr lang="en-US" dirty="0">
                <a:solidFill>
                  <a:srgbClr val="00B050"/>
                </a:solidFill>
              </a:rPr>
              <a:t>D</a:t>
            </a:r>
            <a:r>
              <a:rPr lang="en-US" baseline="-25000" dirty="0">
                <a:solidFill>
                  <a:srgbClr val="00B050"/>
                </a:solidFill>
              </a:rPr>
              <a:t>1</a:t>
            </a:r>
            <a:endParaRPr lang="he-IL" baseline="-25000" dirty="0">
              <a:solidFill>
                <a:srgbClr val="00B050"/>
              </a:solidFill>
            </a:endParaRPr>
          </a:p>
        </p:txBody>
      </p:sp>
      <p:sp>
        <p:nvSpPr>
          <p:cNvPr id="39" name="אליפסה 38"/>
          <p:cNvSpPr/>
          <p:nvPr/>
        </p:nvSpPr>
        <p:spPr>
          <a:xfrm>
            <a:off x="2000232" y="4500570"/>
            <a:ext cx="142876" cy="1428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sp>
        <p:nvSpPr>
          <p:cNvPr id="41" name="TextBox 40"/>
          <p:cNvSpPr txBox="1"/>
          <p:nvPr/>
        </p:nvSpPr>
        <p:spPr>
          <a:xfrm>
            <a:off x="142845" y="4416990"/>
            <a:ext cx="569387" cy="369332"/>
          </a:xfrm>
          <a:prstGeom prst="rect">
            <a:avLst/>
          </a:prstGeom>
          <a:noFill/>
        </p:spPr>
        <p:txBody>
          <a:bodyPr wrap="none" rtlCol="1">
            <a:spAutoFit/>
          </a:bodyPr>
          <a:lstStyle/>
          <a:p>
            <a:r>
              <a:rPr lang="he-IL" b="1" dirty="0">
                <a:solidFill>
                  <a:schemeClr val="accent1"/>
                </a:solidFill>
              </a:rPr>
              <a:t>350</a:t>
            </a:r>
          </a:p>
        </p:txBody>
      </p:sp>
      <p:sp>
        <p:nvSpPr>
          <p:cNvPr id="36" name="מציין מיקום תוכן 6"/>
          <p:cNvSpPr txBox="1">
            <a:spLocks/>
          </p:cNvSpPr>
          <p:nvPr/>
        </p:nvSpPr>
        <p:spPr>
          <a:xfrm>
            <a:off x="581042" y="1214423"/>
            <a:ext cx="8105758" cy="1512340"/>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he-IL" sz="2200" b="1" dirty="0">
                <a:solidFill>
                  <a:prstClr val="black"/>
                </a:solidFill>
              </a:rPr>
              <a:t>סעיף ב'</a:t>
            </a:r>
            <a:r>
              <a:rPr lang="he-IL" sz="2200" dirty="0">
                <a:solidFill>
                  <a:prstClr val="black"/>
                </a:solidFill>
              </a:rPr>
              <a:t> – מוטל מס של 50 ₪ על כל טון אפרסק שנמכר</a:t>
            </a:r>
          </a:p>
          <a:p>
            <a:endParaRPr lang="he-IL" sz="2200" b="1" dirty="0">
              <a:solidFill>
                <a:prstClr val="black"/>
              </a:solidFill>
            </a:endParaRPr>
          </a:p>
        </p:txBody>
      </p:sp>
      <p:sp>
        <p:nvSpPr>
          <p:cNvPr id="42" name="מלבן 41"/>
          <p:cNvSpPr/>
          <p:nvPr/>
        </p:nvSpPr>
        <p:spPr>
          <a:xfrm>
            <a:off x="142844"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a:t>
            </a:r>
            <a:r>
              <a:rPr lang="en-US" sz="2000" dirty="0">
                <a:solidFill>
                  <a:srgbClr val="7030A0"/>
                </a:solidFill>
              </a:rPr>
              <a:t>P=700-0.3X</a:t>
            </a:r>
          </a:p>
          <a:p>
            <a:pPr>
              <a:spcBef>
                <a:spcPct val="20000"/>
              </a:spcBef>
            </a:pPr>
            <a:r>
              <a:rPr lang="he-IL" sz="2000" dirty="0">
                <a:solidFill>
                  <a:prstClr val="black"/>
                </a:solidFill>
              </a:rPr>
              <a:t>ההיצע המצרפי של האפרסקים נתון ע"י           </a:t>
            </a:r>
            <a:r>
              <a:rPr lang="en-US" sz="2000" dirty="0">
                <a:solidFill>
                  <a:prstClr val="black"/>
                </a:solidFill>
              </a:rPr>
              <a:t>P=</a:t>
            </a:r>
            <a:r>
              <a:rPr lang="en-US" sz="2000" b="1" dirty="0">
                <a:solidFill>
                  <a:prstClr val="black"/>
                </a:solidFill>
              </a:rPr>
              <a:t>100</a:t>
            </a:r>
            <a:r>
              <a:rPr lang="en-US" sz="2000" dirty="0">
                <a:solidFill>
                  <a:prstClr val="black"/>
                </a:solidFill>
              </a:rPr>
              <a:t>+0.25X</a:t>
            </a:r>
          </a:p>
        </p:txBody>
      </p:sp>
      <p:sp>
        <p:nvSpPr>
          <p:cNvPr id="43" name="TextBox 42"/>
          <p:cNvSpPr txBox="1"/>
          <p:nvPr/>
        </p:nvSpPr>
        <p:spPr>
          <a:xfrm>
            <a:off x="142844" y="3244334"/>
            <a:ext cx="569387" cy="369332"/>
          </a:xfrm>
          <a:prstGeom prst="rect">
            <a:avLst/>
          </a:prstGeom>
          <a:noFill/>
        </p:spPr>
        <p:txBody>
          <a:bodyPr wrap="none" rtlCol="1">
            <a:spAutoFit/>
          </a:bodyPr>
          <a:lstStyle/>
          <a:p>
            <a:r>
              <a:rPr lang="he-IL" b="1" dirty="0">
                <a:solidFill>
                  <a:srgbClr val="00B050"/>
                </a:solidFill>
              </a:rPr>
              <a:t>650</a:t>
            </a:r>
          </a:p>
        </p:txBody>
      </p:sp>
      <p:sp>
        <p:nvSpPr>
          <p:cNvPr id="44" name="מלבן 43"/>
          <p:cNvSpPr/>
          <p:nvPr/>
        </p:nvSpPr>
        <p:spPr>
          <a:xfrm>
            <a:off x="3131840" y="2092199"/>
            <a:ext cx="5516561" cy="430887"/>
          </a:xfrm>
          <a:prstGeom prst="rect">
            <a:avLst/>
          </a:prstGeom>
        </p:spPr>
        <p:txBody>
          <a:bodyPr wrap="square">
            <a:spAutoFit/>
          </a:bodyPr>
          <a:lstStyle/>
          <a:p>
            <a:pPr>
              <a:spcBef>
                <a:spcPct val="20000"/>
              </a:spcBef>
            </a:pPr>
            <a:r>
              <a:rPr lang="he-IL" sz="2200" b="1" u="sng" dirty="0">
                <a:solidFill>
                  <a:prstClr val="black"/>
                </a:solidFill>
              </a:rPr>
              <a:t>נניח</a:t>
            </a:r>
            <a:r>
              <a:rPr lang="he-IL" sz="2200" b="1" dirty="0">
                <a:solidFill>
                  <a:prstClr val="black"/>
                </a:solidFill>
              </a:rPr>
              <a:t> שהמס מוטל </a:t>
            </a:r>
            <a:r>
              <a:rPr lang="he-IL" sz="2200" b="1" u="sng" dirty="0">
                <a:solidFill>
                  <a:prstClr val="black"/>
                </a:solidFill>
              </a:rPr>
              <a:t>על הצרכנים </a:t>
            </a:r>
            <a:r>
              <a:rPr lang="he-IL" sz="2200" b="1" dirty="0">
                <a:solidFill>
                  <a:prstClr val="black"/>
                </a:solidFill>
              </a:rPr>
              <a:t>ולא על היצרנים...</a:t>
            </a:r>
          </a:p>
        </p:txBody>
      </p:sp>
      <p:cxnSp>
        <p:nvCxnSpPr>
          <p:cNvPr id="45" name="מחבר ישר 44"/>
          <p:cNvCxnSpPr/>
          <p:nvPr/>
        </p:nvCxnSpPr>
        <p:spPr>
          <a:xfrm>
            <a:off x="2036232" y="4584150"/>
            <a:ext cx="0" cy="1352045"/>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4" name="מלבן 3">
            <a:extLst>
              <a:ext uri="{FF2B5EF4-FFF2-40B4-BE49-F238E27FC236}">
                <a16:creationId xmlns:a16="http://schemas.microsoft.com/office/drawing/2014/main" id="{0477EB11-9478-6FAB-AB84-3CD0E7CC900F}"/>
              </a:ext>
            </a:extLst>
          </p:cNvPr>
          <p:cNvSpPr/>
          <p:nvPr/>
        </p:nvSpPr>
        <p:spPr>
          <a:xfrm>
            <a:off x="5386897" y="2730997"/>
            <a:ext cx="2467643" cy="1138773"/>
          </a:xfrm>
          <a:prstGeom prst="rect">
            <a:avLst/>
          </a:prstGeom>
          <a:ln>
            <a:solidFill>
              <a:schemeClr val="accent2"/>
            </a:solidFill>
          </a:ln>
        </p:spPr>
        <p:txBody>
          <a:bodyPr wrap="square">
            <a:spAutoFit/>
          </a:bodyPr>
          <a:lstStyle/>
          <a:p>
            <a:pPr>
              <a:spcBef>
                <a:spcPct val="20000"/>
              </a:spcBef>
            </a:pPr>
            <a:r>
              <a:rPr lang="en-US" sz="2000" dirty="0">
                <a:solidFill>
                  <a:srgbClr val="7030A0"/>
                </a:solidFill>
              </a:rPr>
              <a:t>P=650-0.3X</a:t>
            </a:r>
          </a:p>
          <a:p>
            <a:pPr>
              <a:spcBef>
                <a:spcPct val="20000"/>
              </a:spcBef>
            </a:pPr>
            <a:r>
              <a:rPr lang="en-US" sz="2000" dirty="0">
                <a:solidFill>
                  <a:prstClr val="black"/>
                </a:solidFill>
              </a:rPr>
              <a:t>P=</a:t>
            </a:r>
            <a:r>
              <a:rPr lang="en-US" sz="2000" b="1" dirty="0">
                <a:solidFill>
                  <a:prstClr val="black"/>
                </a:solidFill>
              </a:rPr>
              <a:t>100</a:t>
            </a:r>
            <a:r>
              <a:rPr lang="en-US" sz="2000" dirty="0">
                <a:solidFill>
                  <a:prstClr val="black"/>
                </a:solidFill>
              </a:rPr>
              <a:t>+0.25X</a:t>
            </a:r>
          </a:p>
          <a:p>
            <a:pPr>
              <a:spcBef>
                <a:spcPct val="20000"/>
              </a:spcBef>
            </a:pPr>
            <a:r>
              <a:rPr lang="en-US" sz="2000" dirty="0">
                <a:solidFill>
                  <a:prstClr val="black"/>
                </a:solidFill>
              </a:rPr>
              <a:t>(</a:t>
            </a:r>
            <a:r>
              <a:rPr lang="en-US" sz="2000" b="1" dirty="0">
                <a:solidFill>
                  <a:schemeClr val="accent2">
                    <a:lumMod val="75000"/>
                  </a:schemeClr>
                </a:solidFill>
              </a:rPr>
              <a:t>1000,400</a:t>
            </a:r>
            <a:r>
              <a:rPr lang="en-US" sz="2000" dirty="0">
                <a:solidFill>
                  <a:prstClr val="black"/>
                </a:solidFill>
              </a:rPr>
              <a:t>)</a:t>
            </a:r>
          </a:p>
        </p:txBody>
      </p:sp>
      <p:sp>
        <p:nvSpPr>
          <p:cNvPr id="5" name="אליפסה 4">
            <a:extLst>
              <a:ext uri="{FF2B5EF4-FFF2-40B4-BE49-F238E27FC236}">
                <a16:creationId xmlns:a16="http://schemas.microsoft.com/office/drawing/2014/main" id="{78A62C41-A37C-9F6D-1FD9-3A024B5A3CA7}"/>
              </a:ext>
            </a:extLst>
          </p:cNvPr>
          <p:cNvSpPr/>
          <p:nvPr/>
        </p:nvSpPr>
        <p:spPr>
          <a:xfrm>
            <a:off x="1993152" y="4128366"/>
            <a:ext cx="142876" cy="142876"/>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spTree>
    <p:extLst>
      <p:ext uri="{BB962C8B-B14F-4D97-AF65-F5344CB8AC3E}">
        <p14:creationId xmlns:p14="http://schemas.microsoft.com/office/powerpoint/2010/main" val="212853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35"/>
                                        </p:tgtEl>
                                        <p:attrNameLst>
                                          <p:attrName>r</p:attrName>
                                        </p:attrNameLst>
                                      </p:cBhvr>
                                    </p:animRot>
                                    <p:animRot by="-240000">
                                      <p:cBhvr>
                                        <p:cTn id="7" dur="200" fill="hold">
                                          <p:stCondLst>
                                            <p:cond delay="200"/>
                                          </p:stCondLst>
                                        </p:cTn>
                                        <p:tgtEl>
                                          <p:spTgt spid="35"/>
                                        </p:tgtEl>
                                        <p:attrNameLst>
                                          <p:attrName>r</p:attrName>
                                        </p:attrNameLst>
                                      </p:cBhvr>
                                    </p:animRot>
                                    <p:animRot by="240000">
                                      <p:cBhvr>
                                        <p:cTn id="8" dur="200" fill="hold">
                                          <p:stCondLst>
                                            <p:cond delay="400"/>
                                          </p:stCondLst>
                                        </p:cTn>
                                        <p:tgtEl>
                                          <p:spTgt spid="35"/>
                                        </p:tgtEl>
                                        <p:attrNameLst>
                                          <p:attrName>r</p:attrName>
                                        </p:attrNameLst>
                                      </p:cBhvr>
                                    </p:animRot>
                                    <p:animRot by="-240000">
                                      <p:cBhvr>
                                        <p:cTn id="9" dur="200" fill="hold">
                                          <p:stCondLst>
                                            <p:cond delay="600"/>
                                          </p:stCondLst>
                                        </p:cTn>
                                        <p:tgtEl>
                                          <p:spTgt spid="35"/>
                                        </p:tgtEl>
                                        <p:attrNameLst>
                                          <p:attrName>r</p:attrName>
                                        </p:attrNameLst>
                                      </p:cBhvr>
                                    </p:animRot>
                                    <p:animRot by="120000">
                                      <p:cBhvr>
                                        <p:cTn id="10" dur="200" fill="hold">
                                          <p:stCondLst>
                                            <p:cond delay="800"/>
                                          </p:stCondLst>
                                        </p:cTn>
                                        <p:tgtEl>
                                          <p:spTgt spid="35"/>
                                        </p:tgtEl>
                                        <p:attrNameLst>
                                          <p:attrName>r</p:attrName>
                                        </p:attrNameLst>
                                      </p:cBhvr>
                                    </p:animRot>
                                  </p:childTnLst>
                                </p:cTn>
                              </p:par>
                              <p:par>
                                <p:cTn id="11" presetID="32" presetClass="emph" presetSubtype="0" fill="hold" grpId="0" nodeType="withEffect">
                                  <p:stCondLst>
                                    <p:cond delay="0"/>
                                  </p:stCondLst>
                                  <p:childTnLst>
                                    <p:animRot by="120000">
                                      <p:cBhvr>
                                        <p:cTn id="12" dur="100" fill="hold">
                                          <p:stCondLst>
                                            <p:cond delay="0"/>
                                          </p:stCondLst>
                                        </p:cTn>
                                        <p:tgtEl>
                                          <p:spTgt spid="43"/>
                                        </p:tgtEl>
                                        <p:attrNameLst>
                                          <p:attrName>r</p:attrName>
                                        </p:attrNameLst>
                                      </p:cBhvr>
                                    </p:animRot>
                                    <p:animRot by="-240000">
                                      <p:cBhvr>
                                        <p:cTn id="13" dur="200" fill="hold">
                                          <p:stCondLst>
                                            <p:cond delay="200"/>
                                          </p:stCondLst>
                                        </p:cTn>
                                        <p:tgtEl>
                                          <p:spTgt spid="43"/>
                                        </p:tgtEl>
                                        <p:attrNameLst>
                                          <p:attrName>r</p:attrName>
                                        </p:attrNameLst>
                                      </p:cBhvr>
                                    </p:animRot>
                                    <p:animRot by="240000">
                                      <p:cBhvr>
                                        <p:cTn id="14" dur="200" fill="hold">
                                          <p:stCondLst>
                                            <p:cond delay="400"/>
                                          </p:stCondLst>
                                        </p:cTn>
                                        <p:tgtEl>
                                          <p:spTgt spid="43"/>
                                        </p:tgtEl>
                                        <p:attrNameLst>
                                          <p:attrName>r</p:attrName>
                                        </p:attrNameLst>
                                      </p:cBhvr>
                                    </p:animRot>
                                    <p:animRot by="-240000">
                                      <p:cBhvr>
                                        <p:cTn id="15" dur="200" fill="hold">
                                          <p:stCondLst>
                                            <p:cond delay="600"/>
                                          </p:stCondLst>
                                        </p:cTn>
                                        <p:tgtEl>
                                          <p:spTgt spid="43"/>
                                        </p:tgtEl>
                                        <p:attrNameLst>
                                          <p:attrName>r</p:attrName>
                                        </p:attrNameLst>
                                      </p:cBhvr>
                                    </p:animRot>
                                    <p:animRot by="120000">
                                      <p:cBhvr>
                                        <p:cTn id="16" dur="200" fill="hold">
                                          <p:stCondLst>
                                            <p:cond delay="800"/>
                                          </p:stCondLst>
                                        </p:cTn>
                                        <p:tgtEl>
                                          <p:spTgt spid="43"/>
                                        </p:tgtEl>
                                        <p:attrNameLst>
                                          <p:attrName>r</p:attrName>
                                        </p:attrNameLst>
                                      </p:cBhvr>
                                    </p:animRot>
                                  </p:childTnLst>
                                </p:cTn>
                              </p:par>
                              <p:par>
                                <p:cTn id="17" presetID="32" presetClass="emph" presetSubtype="0" fill="hold" grpId="0" nodeType="withEffect">
                                  <p:stCondLst>
                                    <p:cond delay="0"/>
                                  </p:stCondLst>
                                  <p:childTnLst>
                                    <p:animRot by="120000">
                                      <p:cBhvr>
                                        <p:cTn id="18" dur="100" fill="hold">
                                          <p:stCondLst>
                                            <p:cond delay="0"/>
                                          </p:stCondLst>
                                        </p:cTn>
                                        <p:tgtEl>
                                          <p:spTgt spid="37"/>
                                        </p:tgtEl>
                                        <p:attrNameLst>
                                          <p:attrName>r</p:attrName>
                                        </p:attrNameLst>
                                      </p:cBhvr>
                                    </p:animRot>
                                    <p:animRot by="-240000">
                                      <p:cBhvr>
                                        <p:cTn id="19" dur="200" fill="hold">
                                          <p:stCondLst>
                                            <p:cond delay="200"/>
                                          </p:stCondLst>
                                        </p:cTn>
                                        <p:tgtEl>
                                          <p:spTgt spid="37"/>
                                        </p:tgtEl>
                                        <p:attrNameLst>
                                          <p:attrName>r</p:attrName>
                                        </p:attrNameLst>
                                      </p:cBhvr>
                                    </p:animRot>
                                    <p:animRot by="240000">
                                      <p:cBhvr>
                                        <p:cTn id="20" dur="200" fill="hold">
                                          <p:stCondLst>
                                            <p:cond delay="400"/>
                                          </p:stCondLst>
                                        </p:cTn>
                                        <p:tgtEl>
                                          <p:spTgt spid="37"/>
                                        </p:tgtEl>
                                        <p:attrNameLst>
                                          <p:attrName>r</p:attrName>
                                        </p:attrNameLst>
                                      </p:cBhvr>
                                    </p:animRot>
                                    <p:animRot by="-240000">
                                      <p:cBhvr>
                                        <p:cTn id="21" dur="200" fill="hold">
                                          <p:stCondLst>
                                            <p:cond delay="600"/>
                                          </p:stCondLst>
                                        </p:cTn>
                                        <p:tgtEl>
                                          <p:spTgt spid="37"/>
                                        </p:tgtEl>
                                        <p:attrNameLst>
                                          <p:attrName>r</p:attrName>
                                        </p:attrNameLst>
                                      </p:cBhvr>
                                    </p:animRot>
                                    <p:animRot by="120000">
                                      <p:cBhvr>
                                        <p:cTn id="22" dur="200" fill="hold">
                                          <p:stCondLst>
                                            <p:cond delay="800"/>
                                          </p:stCondLst>
                                        </p:cTn>
                                        <p:tgtEl>
                                          <p:spTgt spid="37"/>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32" presetClass="emph" presetSubtype="0" fill="hold" grpId="0" nodeType="withEffect">
                                  <p:stCondLst>
                                    <p:cond delay="0"/>
                                  </p:stCondLst>
                                  <p:childTnLst>
                                    <p:animRot by="120000">
                                      <p:cBhvr>
                                        <p:cTn id="29" dur="100" fill="hold">
                                          <p:stCondLst>
                                            <p:cond delay="0"/>
                                          </p:stCondLst>
                                        </p:cTn>
                                        <p:tgtEl>
                                          <p:spTgt spid="34"/>
                                        </p:tgtEl>
                                        <p:attrNameLst>
                                          <p:attrName>r</p:attrName>
                                        </p:attrNameLst>
                                      </p:cBhvr>
                                    </p:animRot>
                                    <p:animRot by="-240000">
                                      <p:cBhvr>
                                        <p:cTn id="30" dur="200" fill="hold">
                                          <p:stCondLst>
                                            <p:cond delay="200"/>
                                          </p:stCondLst>
                                        </p:cTn>
                                        <p:tgtEl>
                                          <p:spTgt spid="34"/>
                                        </p:tgtEl>
                                        <p:attrNameLst>
                                          <p:attrName>r</p:attrName>
                                        </p:attrNameLst>
                                      </p:cBhvr>
                                    </p:animRot>
                                    <p:animRot by="240000">
                                      <p:cBhvr>
                                        <p:cTn id="31" dur="200" fill="hold">
                                          <p:stCondLst>
                                            <p:cond delay="400"/>
                                          </p:stCondLst>
                                        </p:cTn>
                                        <p:tgtEl>
                                          <p:spTgt spid="34"/>
                                        </p:tgtEl>
                                        <p:attrNameLst>
                                          <p:attrName>r</p:attrName>
                                        </p:attrNameLst>
                                      </p:cBhvr>
                                    </p:animRot>
                                    <p:animRot by="-240000">
                                      <p:cBhvr>
                                        <p:cTn id="32" dur="200" fill="hold">
                                          <p:stCondLst>
                                            <p:cond delay="600"/>
                                          </p:stCondLst>
                                        </p:cTn>
                                        <p:tgtEl>
                                          <p:spTgt spid="34"/>
                                        </p:tgtEl>
                                        <p:attrNameLst>
                                          <p:attrName>r</p:attrName>
                                        </p:attrNameLst>
                                      </p:cBhvr>
                                    </p:animRot>
                                    <p:animRot by="120000">
                                      <p:cBhvr>
                                        <p:cTn id="33" dur="200" fill="hold">
                                          <p:stCondLst>
                                            <p:cond delay="800"/>
                                          </p:stCondLst>
                                        </p:cTn>
                                        <p:tgtEl>
                                          <p:spTgt spid="34"/>
                                        </p:tgtEl>
                                        <p:attrNameLst>
                                          <p:attrName>r</p:attrName>
                                        </p:attrNameLst>
                                      </p:cBhvr>
                                    </p:animRot>
                                  </p:childTnLst>
                                </p:cTn>
                              </p:par>
                              <p:par>
                                <p:cTn id="34" presetID="32" presetClass="emph" presetSubtype="0" fill="hold" grpId="0" nodeType="withEffect">
                                  <p:stCondLst>
                                    <p:cond delay="0"/>
                                  </p:stCondLst>
                                  <p:childTnLst>
                                    <p:animRot by="120000">
                                      <p:cBhvr>
                                        <p:cTn id="35" dur="100" fill="hold">
                                          <p:stCondLst>
                                            <p:cond delay="0"/>
                                          </p:stCondLst>
                                        </p:cTn>
                                        <p:tgtEl>
                                          <p:spTgt spid="41"/>
                                        </p:tgtEl>
                                        <p:attrNameLst>
                                          <p:attrName>r</p:attrName>
                                        </p:attrNameLst>
                                      </p:cBhvr>
                                    </p:animRot>
                                    <p:animRot by="-240000">
                                      <p:cBhvr>
                                        <p:cTn id="36" dur="200" fill="hold">
                                          <p:stCondLst>
                                            <p:cond delay="200"/>
                                          </p:stCondLst>
                                        </p:cTn>
                                        <p:tgtEl>
                                          <p:spTgt spid="41"/>
                                        </p:tgtEl>
                                        <p:attrNameLst>
                                          <p:attrName>r</p:attrName>
                                        </p:attrNameLst>
                                      </p:cBhvr>
                                    </p:animRot>
                                    <p:animRot by="240000">
                                      <p:cBhvr>
                                        <p:cTn id="37" dur="200" fill="hold">
                                          <p:stCondLst>
                                            <p:cond delay="400"/>
                                          </p:stCondLst>
                                        </p:cTn>
                                        <p:tgtEl>
                                          <p:spTgt spid="41"/>
                                        </p:tgtEl>
                                        <p:attrNameLst>
                                          <p:attrName>r</p:attrName>
                                        </p:attrNameLst>
                                      </p:cBhvr>
                                    </p:animRot>
                                    <p:animRot by="-240000">
                                      <p:cBhvr>
                                        <p:cTn id="38" dur="200" fill="hold">
                                          <p:stCondLst>
                                            <p:cond delay="600"/>
                                          </p:stCondLst>
                                        </p:cTn>
                                        <p:tgtEl>
                                          <p:spTgt spid="41"/>
                                        </p:tgtEl>
                                        <p:attrNameLst>
                                          <p:attrName>r</p:attrName>
                                        </p:attrNameLst>
                                      </p:cBhvr>
                                    </p:animRot>
                                    <p:animRot by="120000">
                                      <p:cBhvr>
                                        <p:cTn id="39" dur="200" fill="hold">
                                          <p:stCondLst>
                                            <p:cond delay="800"/>
                                          </p:stCondLst>
                                        </p:cTn>
                                        <p:tgtEl>
                                          <p:spTgt spid="41"/>
                                        </p:tgtEl>
                                        <p:attrNameLst>
                                          <p:attrName>r</p:attrName>
                                        </p:attrNameLst>
                                      </p:cBhvr>
                                    </p:animRot>
                                  </p:childTnLst>
                                </p:cTn>
                              </p:par>
                            </p:childTnLst>
                          </p:cTn>
                        </p:par>
                      </p:childTnLst>
                    </p:cTn>
                  </p:par>
                  <p:par>
                    <p:cTn id="40" fill="hold">
                      <p:stCondLst>
                        <p:cond delay="indefinite"/>
                      </p:stCondLst>
                      <p:childTnLst>
                        <p:par>
                          <p:cTn id="41" fill="hold">
                            <p:stCondLst>
                              <p:cond delay="0"/>
                            </p:stCondLst>
                            <p:childTnLst>
                              <p:par>
                                <p:cTn id="42" presetID="22" presetClass="exit" presetSubtype="4" fill="hold" nodeType="clickEffect">
                                  <p:stCondLst>
                                    <p:cond delay="0"/>
                                  </p:stCondLst>
                                  <p:childTnLst>
                                    <p:animEffect transition="out" filter="wipe(down)">
                                      <p:cBhvr>
                                        <p:cTn id="43" dur="500"/>
                                        <p:tgtEl>
                                          <p:spTgt spid="28"/>
                                        </p:tgtEl>
                                      </p:cBhvr>
                                    </p:animEffect>
                                    <p:set>
                                      <p:cBhvr>
                                        <p:cTn id="44" dur="1" fill="hold">
                                          <p:stCondLst>
                                            <p:cond delay="499"/>
                                          </p:stCondLst>
                                        </p:cTn>
                                        <p:tgtEl>
                                          <p:spTgt spid="28"/>
                                        </p:tgtEl>
                                        <p:attrNameLst>
                                          <p:attrName>style.visibility</p:attrName>
                                        </p:attrNameLst>
                                      </p:cBhvr>
                                      <p:to>
                                        <p:strVal val="hidden"/>
                                      </p:to>
                                    </p:set>
                                  </p:childTnLst>
                                </p:cTn>
                              </p:par>
                              <p:par>
                                <p:cTn id="45" presetID="22" presetClass="exit" presetSubtype="4" fill="hold" grpId="0" nodeType="withEffect">
                                  <p:stCondLst>
                                    <p:cond delay="0"/>
                                  </p:stCondLst>
                                  <p:childTnLst>
                                    <p:animEffect transition="out" filter="wipe(down)">
                                      <p:cBhvr>
                                        <p:cTn id="46" dur="500"/>
                                        <p:tgtEl>
                                          <p:spTgt spid="29"/>
                                        </p:tgtEl>
                                      </p:cBhvr>
                                    </p:animEffect>
                                    <p:set>
                                      <p:cBhvr>
                                        <p:cTn id="47" dur="1" fill="hold">
                                          <p:stCondLst>
                                            <p:cond delay="499"/>
                                          </p:stCondLst>
                                        </p:cTn>
                                        <p:tgtEl>
                                          <p:spTgt spid="29"/>
                                        </p:tgtEl>
                                        <p:attrNameLst>
                                          <p:attrName>style.visibility</p:attrName>
                                        </p:attrNameLst>
                                      </p:cBhvr>
                                      <p:to>
                                        <p:strVal val="hidden"/>
                                      </p:to>
                                    </p:set>
                                  </p:childTnLst>
                                </p:cTn>
                              </p:par>
                              <p:par>
                                <p:cTn id="48" presetID="22" presetClass="exit" presetSubtype="4" fill="hold" grpId="0" nodeType="withEffect">
                                  <p:stCondLst>
                                    <p:cond delay="0"/>
                                  </p:stCondLst>
                                  <p:childTnLst>
                                    <p:animEffect transition="out" filter="wipe(down)">
                                      <p:cBhvr>
                                        <p:cTn id="49" dur="500"/>
                                        <p:tgtEl>
                                          <p:spTgt spid="30"/>
                                        </p:tgtEl>
                                      </p:cBhvr>
                                    </p:animEffect>
                                    <p:set>
                                      <p:cBhvr>
                                        <p:cTn id="50" dur="1" fill="hold">
                                          <p:stCondLst>
                                            <p:cond delay="499"/>
                                          </p:stCondLst>
                                        </p:cTn>
                                        <p:tgtEl>
                                          <p:spTgt spid="30"/>
                                        </p:tgtEl>
                                        <p:attrNameLst>
                                          <p:attrName>style.visibility</p:attrName>
                                        </p:attrNameLst>
                                      </p:cBhvr>
                                      <p:to>
                                        <p:strVal val="hidden"/>
                                      </p:to>
                                    </p:set>
                                  </p:childTnLst>
                                </p:cTn>
                              </p:par>
                              <p:par>
                                <p:cTn id="51" presetID="22" presetClass="exit" presetSubtype="4" fill="hold" grpId="0" nodeType="withEffect">
                                  <p:stCondLst>
                                    <p:cond delay="0"/>
                                  </p:stCondLst>
                                  <p:childTnLst>
                                    <p:animEffect transition="out" filter="wipe(down)">
                                      <p:cBhvr>
                                        <p:cTn id="52" dur="500"/>
                                        <p:tgtEl>
                                          <p:spTgt spid="33"/>
                                        </p:tgtEl>
                                      </p:cBhvr>
                                    </p:animEffect>
                                    <p:set>
                                      <p:cBhvr>
                                        <p:cTn id="53" dur="1" fill="hold">
                                          <p:stCondLst>
                                            <p:cond delay="499"/>
                                          </p:stCondLst>
                                        </p:cTn>
                                        <p:tgtEl>
                                          <p:spTgt spid="33"/>
                                        </p:tgtEl>
                                        <p:attrNameLst>
                                          <p:attrName>style.visibility</p:attrName>
                                        </p:attrNameLst>
                                      </p:cBhvr>
                                      <p:to>
                                        <p:strVal val="hidden"/>
                                      </p:to>
                                    </p:set>
                                  </p:childTnLst>
                                </p:cTn>
                              </p:par>
                              <p:par>
                                <p:cTn id="54" presetID="22" presetClass="exit" presetSubtype="4" fill="hold" nodeType="withEffect">
                                  <p:stCondLst>
                                    <p:cond delay="0"/>
                                  </p:stCondLst>
                                  <p:childTnLst>
                                    <p:animEffect transition="out" filter="wipe(down)">
                                      <p:cBhvr>
                                        <p:cTn id="55" dur="500"/>
                                        <p:tgtEl>
                                          <p:spTgt spid="32"/>
                                        </p:tgtEl>
                                      </p:cBhvr>
                                    </p:animEffect>
                                    <p:set>
                                      <p:cBhvr>
                                        <p:cTn id="56" dur="1" fill="hold">
                                          <p:stCondLst>
                                            <p:cond delay="499"/>
                                          </p:stCondLst>
                                        </p:cTn>
                                        <p:tgtEl>
                                          <p:spTgt spid="32"/>
                                        </p:tgtEl>
                                        <p:attrNameLst>
                                          <p:attrName>style.visibility</p:attrName>
                                        </p:attrNameLst>
                                      </p:cBhvr>
                                      <p:to>
                                        <p:strVal val="hidden"/>
                                      </p:to>
                                    </p:set>
                                  </p:childTnLst>
                                </p:cTn>
                              </p:par>
                              <p:par>
                                <p:cTn id="57" presetID="22" presetClass="exit" presetSubtype="4" fill="hold" nodeType="withEffect">
                                  <p:stCondLst>
                                    <p:cond delay="0"/>
                                  </p:stCondLst>
                                  <p:childTnLst>
                                    <p:animEffect transition="out" filter="wipe(down)">
                                      <p:cBhvr>
                                        <p:cTn id="58" dur="500"/>
                                        <p:tgtEl>
                                          <p:spTgt spid="31"/>
                                        </p:tgtEl>
                                      </p:cBhvr>
                                    </p:animEffect>
                                    <p:set>
                                      <p:cBhvr>
                                        <p:cTn id="59"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3" grpId="0"/>
      <p:bldP spid="34" grpId="0"/>
      <p:bldP spid="37" grpId="0"/>
      <p:bldP spid="41" grpId="0"/>
      <p:bldP spid="43" grpId="0"/>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385134" y="15156"/>
            <a:ext cx="3776750" cy="1143000"/>
          </a:xfrm>
        </p:spPr>
        <p:txBody>
          <a:bodyPr/>
          <a:lstStyle/>
          <a:p>
            <a:pPr algn="r"/>
            <a:r>
              <a:rPr lang="he-IL" b="1" dirty="0">
                <a:solidFill>
                  <a:schemeClr val="tx2">
                    <a:lumMod val="75000"/>
                  </a:schemeClr>
                </a:solidFill>
              </a:rPr>
              <a:t>שאלה 1</a:t>
            </a:r>
            <a:endParaRPr lang="he-IL" dirty="0"/>
          </a:p>
        </p:txBody>
      </p:sp>
      <p:grpSp>
        <p:nvGrpSpPr>
          <p:cNvPr id="3" name="קבוצה 11"/>
          <p:cNvGrpSpPr/>
          <p:nvPr/>
        </p:nvGrpSpPr>
        <p:grpSpPr>
          <a:xfrm>
            <a:off x="713554" y="2786852"/>
            <a:ext cx="4051055"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725340" y="5437737"/>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srgbClr val="7030A0"/>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482516"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503941" y="5944191"/>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cxnSp>
        <p:nvCxnSpPr>
          <p:cNvPr id="24" name="מחבר ישר 23"/>
          <p:cNvCxnSpPr/>
          <p:nvPr/>
        </p:nvCxnSpPr>
        <p:spPr>
          <a:xfrm rot="5400000">
            <a:off x="1500447" y="5179231"/>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4"/>
          <p:cNvCxnSpPr/>
          <p:nvPr/>
        </p:nvCxnSpPr>
        <p:spPr>
          <a:xfrm rot="5400000">
            <a:off x="1493984" y="3637132"/>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057365" y="5929727"/>
            <a:ext cx="954108" cy="369332"/>
          </a:xfrm>
          <a:prstGeom prst="rect">
            <a:avLst/>
          </a:prstGeom>
          <a:noFill/>
        </p:spPr>
        <p:txBody>
          <a:bodyPr wrap="none" rtlCol="1">
            <a:spAutoFit/>
          </a:bodyPr>
          <a:lstStyle/>
          <a:p>
            <a:r>
              <a:rPr lang="he-IL" dirty="0">
                <a:solidFill>
                  <a:prstClr val="black"/>
                </a:solidFill>
              </a:rPr>
              <a:t>1,090.9</a:t>
            </a:r>
          </a:p>
        </p:txBody>
      </p:sp>
      <p:cxnSp>
        <p:nvCxnSpPr>
          <p:cNvPr id="28" name="מחבר ישר 27"/>
          <p:cNvCxnSpPr/>
          <p:nvPr/>
        </p:nvCxnSpPr>
        <p:spPr>
          <a:xfrm flipV="1">
            <a:off x="714348" y="3113600"/>
            <a:ext cx="3010992" cy="204205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631484" y="2821441"/>
            <a:ext cx="369012" cy="369332"/>
          </a:xfrm>
          <a:prstGeom prst="rect">
            <a:avLst/>
          </a:prstGeom>
          <a:noFill/>
        </p:spPr>
        <p:txBody>
          <a:bodyPr wrap="none" rtlCol="1">
            <a:spAutoFit/>
          </a:bodyPr>
          <a:lstStyle/>
          <a:p>
            <a:r>
              <a:rPr lang="en-US" dirty="0">
                <a:solidFill>
                  <a:srgbClr val="0070C0"/>
                </a:solidFill>
              </a:rPr>
              <a:t>S</a:t>
            </a:r>
            <a:r>
              <a:rPr lang="en-US" baseline="-25000" dirty="0">
                <a:solidFill>
                  <a:srgbClr val="0070C0"/>
                </a:solidFill>
              </a:rPr>
              <a:t>1</a:t>
            </a:r>
            <a:endParaRPr lang="he-IL" baseline="-25000" dirty="0">
              <a:solidFill>
                <a:srgbClr val="0070C0"/>
              </a:solidFill>
            </a:endParaRPr>
          </a:p>
        </p:txBody>
      </p:sp>
      <p:sp>
        <p:nvSpPr>
          <p:cNvPr id="30" name="TextBox 29"/>
          <p:cNvSpPr txBox="1"/>
          <p:nvPr/>
        </p:nvSpPr>
        <p:spPr>
          <a:xfrm>
            <a:off x="142844" y="5000636"/>
            <a:ext cx="569387" cy="369332"/>
          </a:xfrm>
          <a:prstGeom prst="rect">
            <a:avLst/>
          </a:prstGeom>
          <a:noFill/>
        </p:spPr>
        <p:txBody>
          <a:bodyPr wrap="none" rtlCol="1">
            <a:spAutoFit/>
          </a:bodyPr>
          <a:lstStyle/>
          <a:p>
            <a:r>
              <a:rPr lang="he-IL" dirty="0">
                <a:solidFill>
                  <a:srgbClr val="0070C0"/>
                </a:solidFill>
              </a:rPr>
              <a:t>150</a:t>
            </a:r>
          </a:p>
        </p:txBody>
      </p:sp>
      <p:cxnSp>
        <p:nvCxnSpPr>
          <p:cNvPr id="31" name="מחבר ישר 30"/>
          <p:cNvCxnSpPr/>
          <p:nvPr/>
        </p:nvCxnSpPr>
        <p:spPr>
          <a:xfrm rot="5400000">
            <a:off x="1244232" y="5078256"/>
            <a:ext cx="1584000" cy="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32" name="מחבר ישר 31"/>
          <p:cNvCxnSpPr/>
          <p:nvPr/>
        </p:nvCxnSpPr>
        <p:spPr>
          <a:xfrm rot="5400000">
            <a:off x="1405670" y="354881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2845" y="3988362"/>
            <a:ext cx="569387" cy="369332"/>
          </a:xfrm>
          <a:prstGeom prst="rect">
            <a:avLst/>
          </a:prstGeom>
          <a:noFill/>
        </p:spPr>
        <p:txBody>
          <a:bodyPr wrap="none" rtlCol="1">
            <a:spAutoFit/>
          </a:bodyPr>
          <a:lstStyle/>
          <a:p>
            <a:r>
              <a:rPr lang="he-IL" dirty="0">
                <a:solidFill>
                  <a:srgbClr val="FFC000">
                    <a:lumMod val="75000"/>
                  </a:srgbClr>
                </a:solidFill>
              </a:rPr>
              <a:t>400</a:t>
            </a:r>
          </a:p>
        </p:txBody>
      </p:sp>
      <p:sp>
        <p:nvSpPr>
          <p:cNvPr id="34" name="TextBox 33"/>
          <p:cNvSpPr txBox="1"/>
          <p:nvPr/>
        </p:nvSpPr>
        <p:spPr>
          <a:xfrm>
            <a:off x="1406776" y="5929330"/>
            <a:ext cx="761747" cy="369332"/>
          </a:xfrm>
          <a:prstGeom prst="rect">
            <a:avLst/>
          </a:prstGeom>
          <a:noFill/>
        </p:spPr>
        <p:txBody>
          <a:bodyPr wrap="none" rtlCol="1">
            <a:spAutoFit/>
          </a:bodyPr>
          <a:lstStyle/>
          <a:p>
            <a:r>
              <a:rPr lang="he-IL" dirty="0">
                <a:solidFill>
                  <a:srgbClr val="0070C0"/>
                </a:solidFill>
              </a:rPr>
              <a:t>1,000</a:t>
            </a:r>
          </a:p>
        </p:txBody>
      </p:sp>
      <p:sp>
        <p:nvSpPr>
          <p:cNvPr id="35" name="משולש ישר-זווית 34"/>
          <p:cNvSpPr/>
          <p:nvPr/>
        </p:nvSpPr>
        <p:spPr>
          <a:xfrm>
            <a:off x="714348" y="3071810"/>
            <a:ext cx="1285884" cy="1143008"/>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500" dirty="0">
                <a:solidFill>
                  <a:prstClr val="white"/>
                </a:solidFill>
              </a:rPr>
              <a:t>עודף</a:t>
            </a:r>
          </a:p>
          <a:p>
            <a:pPr algn="ctr"/>
            <a:r>
              <a:rPr lang="he-IL" sz="1500" dirty="0">
                <a:solidFill>
                  <a:prstClr val="white"/>
                </a:solidFill>
              </a:rPr>
              <a:t>הצרכן</a:t>
            </a:r>
          </a:p>
        </p:txBody>
      </p:sp>
      <p:sp>
        <p:nvSpPr>
          <p:cNvPr id="36" name="משולש ישר-זווית 35"/>
          <p:cNvSpPr/>
          <p:nvPr/>
        </p:nvSpPr>
        <p:spPr>
          <a:xfrm flipV="1">
            <a:off x="714348" y="4572008"/>
            <a:ext cx="1357322" cy="928694"/>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prstClr val="white"/>
              </a:solidFill>
            </a:endParaRPr>
          </a:p>
        </p:txBody>
      </p:sp>
      <p:sp>
        <p:nvSpPr>
          <p:cNvPr id="37" name="TextBox 36"/>
          <p:cNvSpPr txBox="1"/>
          <p:nvPr/>
        </p:nvSpPr>
        <p:spPr>
          <a:xfrm>
            <a:off x="785786" y="4518076"/>
            <a:ext cx="768159" cy="553998"/>
          </a:xfrm>
          <a:prstGeom prst="rect">
            <a:avLst/>
          </a:prstGeom>
          <a:noFill/>
        </p:spPr>
        <p:txBody>
          <a:bodyPr wrap="none" rtlCol="1">
            <a:spAutoFit/>
          </a:bodyPr>
          <a:lstStyle/>
          <a:p>
            <a:pPr algn="ctr"/>
            <a:r>
              <a:rPr lang="he-IL" sz="1500" dirty="0">
                <a:solidFill>
                  <a:prstClr val="black"/>
                </a:solidFill>
              </a:rPr>
              <a:t>רווחי</a:t>
            </a:r>
          </a:p>
          <a:p>
            <a:pPr algn="ctr"/>
            <a:r>
              <a:rPr lang="he-IL" sz="1500" dirty="0">
                <a:solidFill>
                  <a:prstClr val="black"/>
                </a:solidFill>
              </a:rPr>
              <a:t>היצרנים</a:t>
            </a:r>
          </a:p>
        </p:txBody>
      </p:sp>
      <p:sp>
        <p:nvSpPr>
          <p:cNvPr id="38" name="מלבן 37"/>
          <p:cNvSpPr/>
          <p:nvPr/>
        </p:nvSpPr>
        <p:spPr>
          <a:xfrm>
            <a:off x="702778" y="4202307"/>
            <a:ext cx="1351811" cy="39965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500" dirty="0">
                <a:solidFill>
                  <a:prstClr val="white"/>
                </a:solidFill>
              </a:rPr>
              <a:t>הכנסות ממשלה</a:t>
            </a:r>
          </a:p>
        </p:txBody>
      </p:sp>
      <p:sp>
        <p:nvSpPr>
          <p:cNvPr id="39" name="מלבן 38"/>
          <p:cNvSpPr/>
          <p:nvPr/>
        </p:nvSpPr>
        <p:spPr>
          <a:xfrm>
            <a:off x="404912"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          </a:t>
            </a:r>
            <a:r>
              <a:rPr lang="en-US" sz="2000" dirty="0">
                <a:solidFill>
                  <a:srgbClr val="7030A0"/>
                </a:solidFill>
              </a:rPr>
              <a:t>P=700-0.3X</a:t>
            </a:r>
          </a:p>
          <a:p>
            <a:pPr>
              <a:spcBef>
                <a:spcPct val="20000"/>
              </a:spcBef>
            </a:pPr>
            <a:r>
              <a:rPr lang="he-IL" sz="2000" dirty="0">
                <a:solidFill>
                  <a:prstClr val="black"/>
                </a:solidFill>
              </a:rPr>
              <a:t>ההיצע המצרפי של האפרסקים </a:t>
            </a:r>
            <a:r>
              <a:rPr lang="he-IL" sz="2000" dirty="0">
                <a:solidFill>
                  <a:srgbClr val="0070C0"/>
                </a:solidFill>
              </a:rPr>
              <a:t>לאחר הטלת המס</a:t>
            </a:r>
            <a:r>
              <a:rPr lang="he-IL" sz="2000" dirty="0">
                <a:solidFill>
                  <a:prstClr val="black"/>
                </a:solidFill>
              </a:rPr>
              <a:t>:  </a:t>
            </a:r>
            <a:r>
              <a:rPr lang="en-US" sz="2000" dirty="0">
                <a:solidFill>
                  <a:prstClr val="black"/>
                </a:solidFill>
              </a:rPr>
              <a:t>P=</a:t>
            </a:r>
            <a:r>
              <a:rPr lang="en-US" sz="2000" b="1" dirty="0">
                <a:solidFill>
                  <a:srgbClr val="0070C0"/>
                </a:solidFill>
              </a:rPr>
              <a:t>150</a:t>
            </a:r>
            <a:r>
              <a:rPr lang="en-US" sz="2000" dirty="0">
                <a:solidFill>
                  <a:prstClr val="black"/>
                </a:solidFill>
              </a:rPr>
              <a:t>+0.25X</a:t>
            </a:r>
          </a:p>
        </p:txBody>
      </p:sp>
      <p:sp>
        <p:nvSpPr>
          <p:cNvPr id="6" name="מלבן 5"/>
          <p:cNvSpPr/>
          <p:nvPr/>
        </p:nvSpPr>
        <p:spPr>
          <a:xfrm>
            <a:off x="3146300" y="1100872"/>
            <a:ext cx="5757904" cy="430887"/>
          </a:xfrm>
          <a:prstGeom prst="rect">
            <a:avLst/>
          </a:prstGeom>
        </p:spPr>
        <p:txBody>
          <a:bodyPr wrap="square">
            <a:spAutoFit/>
          </a:bodyPr>
          <a:lstStyle/>
          <a:p>
            <a:pPr>
              <a:spcBef>
                <a:spcPct val="20000"/>
              </a:spcBef>
            </a:pPr>
            <a:r>
              <a:rPr lang="he-IL" sz="2200" b="1" dirty="0">
                <a:solidFill>
                  <a:prstClr val="black"/>
                </a:solidFill>
              </a:rPr>
              <a:t>ב+ג . נחשב את עודף הצרכנים ורווחי היצרנים:</a:t>
            </a:r>
          </a:p>
        </p:txBody>
      </p:sp>
      <p:sp>
        <p:nvSpPr>
          <p:cNvPr id="8" name="מלבן 7"/>
          <p:cNvSpPr/>
          <p:nvPr/>
        </p:nvSpPr>
        <p:spPr>
          <a:xfrm>
            <a:off x="7406679" y="1643291"/>
            <a:ext cx="1497525" cy="430887"/>
          </a:xfrm>
          <a:prstGeom prst="rect">
            <a:avLst/>
          </a:prstGeom>
        </p:spPr>
        <p:txBody>
          <a:bodyPr wrap="none">
            <a:spAutoFit/>
          </a:bodyPr>
          <a:lstStyle/>
          <a:p>
            <a:pPr>
              <a:spcBef>
                <a:spcPct val="20000"/>
              </a:spcBef>
            </a:pPr>
            <a:r>
              <a:rPr lang="he-IL" sz="2200" b="1" dirty="0">
                <a:solidFill>
                  <a:srgbClr val="00B050"/>
                </a:solidFill>
              </a:rPr>
              <a:t>עודף הצרכן</a:t>
            </a:r>
          </a:p>
        </p:txBody>
      </p:sp>
      <p:sp>
        <p:nvSpPr>
          <p:cNvPr id="9" name="מלבן 8"/>
          <p:cNvSpPr/>
          <p:nvPr/>
        </p:nvSpPr>
        <p:spPr>
          <a:xfrm>
            <a:off x="7110123" y="2379444"/>
            <a:ext cx="1794081" cy="430887"/>
          </a:xfrm>
          <a:prstGeom prst="rect">
            <a:avLst/>
          </a:prstGeom>
        </p:spPr>
        <p:txBody>
          <a:bodyPr wrap="none">
            <a:spAutoFit/>
          </a:bodyPr>
          <a:lstStyle/>
          <a:p>
            <a:r>
              <a:rPr lang="he-IL" sz="2200" b="1" dirty="0">
                <a:solidFill>
                  <a:srgbClr val="C00000"/>
                </a:solidFill>
              </a:rPr>
              <a:t>רווחי היצרנים </a:t>
            </a:r>
            <a:endParaRPr lang="he-IL" dirty="0">
              <a:solidFill>
                <a:srgbClr val="C00000"/>
              </a:solidFill>
            </a:endParaRPr>
          </a:p>
        </p:txBody>
      </p:sp>
      <p:sp>
        <p:nvSpPr>
          <p:cNvPr id="12" name="מלבן 11"/>
          <p:cNvSpPr/>
          <p:nvPr/>
        </p:nvSpPr>
        <p:spPr>
          <a:xfrm>
            <a:off x="6728635" y="2975329"/>
            <a:ext cx="2144542" cy="430887"/>
          </a:xfrm>
          <a:prstGeom prst="rect">
            <a:avLst/>
          </a:prstGeom>
        </p:spPr>
        <p:txBody>
          <a:bodyPr wrap="square">
            <a:spAutoFit/>
          </a:bodyPr>
          <a:lstStyle/>
          <a:p>
            <a:pPr>
              <a:spcBef>
                <a:spcPct val="20000"/>
              </a:spcBef>
            </a:pPr>
            <a:r>
              <a:rPr lang="he-IL" sz="2200" dirty="0">
                <a:solidFill>
                  <a:srgbClr val="00B0F0"/>
                </a:solidFill>
              </a:rPr>
              <a:t>הכנסות ממשלה</a:t>
            </a:r>
          </a:p>
        </p:txBody>
      </p:sp>
      <p:sp>
        <p:nvSpPr>
          <p:cNvPr id="13" name="מלבן 12"/>
          <p:cNvSpPr/>
          <p:nvPr/>
        </p:nvSpPr>
        <p:spPr>
          <a:xfrm>
            <a:off x="7989136" y="3581614"/>
            <a:ext cx="910826" cy="769441"/>
          </a:xfrm>
          <a:prstGeom prst="rect">
            <a:avLst/>
          </a:prstGeom>
          <a:ln w="12700"/>
        </p:spPr>
        <p:style>
          <a:lnRef idx="2">
            <a:schemeClr val="dk1"/>
          </a:lnRef>
          <a:fillRef idx="1">
            <a:schemeClr val="lt1"/>
          </a:fillRef>
          <a:effectRef idx="0">
            <a:schemeClr val="dk1"/>
          </a:effectRef>
          <a:fontRef idx="minor">
            <a:schemeClr val="dk1"/>
          </a:fontRef>
        </p:style>
        <p:txBody>
          <a:bodyPr wrap="none">
            <a:spAutoFit/>
          </a:bodyPr>
          <a:lstStyle/>
          <a:p>
            <a:r>
              <a:rPr lang="he-IL" sz="2200" b="1" dirty="0">
                <a:solidFill>
                  <a:prstClr val="black"/>
                </a:solidFill>
              </a:rPr>
              <a:t>סה"כ </a:t>
            </a:r>
            <a:br>
              <a:rPr lang="en-US" sz="2200" b="1" dirty="0">
                <a:solidFill>
                  <a:prstClr val="black"/>
                </a:solidFill>
              </a:rPr>
            </a:br>
            <a:r>
              <a:rPr lang="he-IL" sz="2200" b="1" dirty="0">
                <a:solidFill>
                  <a:prstClr val="black"/>
                </a:solidFill>
              </a:rPr>
              <a:t>רווחה </a:t>
            </a:r>
            <a:endParaRPr lang="he-IL" dirty="0">
              <a:solidFill>
                <a:prstClr val="black"/>
              </a:solidFill>
            </a:endParaRPr>
          </a:p>
        </p:txBody>
      </p:sp>
      <p:sp>
        <p:nvSpPr>
          <p:cNvPr id="40" name="מלבן 39"/>
          <p:cNvSpPr/>
          <p:nvPr/>
        </p:nvSpPr>
        <p:spPr>
          <a:xfrm>
            <a:off x="3498937" y="3838826"/>
            <a:ext cx="4375595" cy="430887"/>
          </a:xfrm>
          <a:prstGeom prst="rect">
            <a:avLst/>
          </a:prstGeom>
          <a:ln w="12700"/>
        </p:spPr>
        <p:style>
          <a:lnRef idx="2">
            <a:schemeClr val="dk1"/>
          </a:lnRef>
          <a:fillRef idx="1">
            <a:schemeClr val="lt1"/>
          </a:fillRef>
          <a:effectRef idx="0">
            <a:schemeClr val="dk1"/>
          </a:effectRef>
          <a:fontRef idx="minor">
            <a:schemeClr val="dk1"/>
          </a:fontRef>
        </p:style>
        <p:txBody>
          <a:bodyPr wrap="square">
            <a:spAutoFit/>
          </a:bodyPr>
          <a:lstStyle/>
          <a:p>
            <a:pPr marL="342900" indent="-342900">
              <a:spcBef>
                <a:spcPct val="20000"/>
              </a:spcBef>
            </a:pPr>
            <a:r>
              <a:rPr lang="he-IL" sz="2200" b="1" dirty="0">
                <a:solidFill>
                  <a:prstClr val="black"/>
                </a:solidFill>
              </a:rPr>
              <a:t> </a:t>
            </a:r>
            <a:r>
              <a:rPr lang="he-IL" sz="2200" dirty="0">
                <a:solidFill>
                  <a:prstClr val="black"/>
                </a:solidFill>
              </a:rPr>
              <a:t>325,000</a:t>
            </a:r>
            <a:r>
              <a:rPr lang="en-US" sz="2200" dirty="0">
                <a:solidFill>
                  <a:srgbClr val="00B050"/>
                </a:solidFill>
              </a:rPr>
              <a:t>150,000</a:t>
            </a:r>
            <a:r>
              <a:rPr lang="en-US" sz="2200" dirty="0">
                <a:solidFill>
                  <a:prstClr val="black"/>
                </a:solidFill>
              </a:rPr>
              <a:t>+</a:t>
            </a:r>
            <a:r>
              <a:rPr lang="en-US" sz="2200" dirty="0">
                <a:solidFill>
                  <a:srgbClr val="C00000"/>
                </a:solidFill>
              </a:rPr>
              <a:t>125,000</a:t>
            </a:r>
            <a:r>
              <a:rPr lang="en-US" sz="2200" dirty="0">
                <a:solidFill>
                  <a:prstClr val="black"/>
                </a:solidFill>
              </a:rPr>
              <a:t>+</a:t>
            </a:r>
            <a:r>
              <a:rPr lang="en-US" sz="2200" dirty="0">
                <a:solidFill>
                  <a:srgbClr val="00B0F0"/>
                </a:solidFill>
              </a:rPr>
              <a:t>50,000</a:t>
            </a:r>
            <a:r>
              <a:rPr lang="en-US" sz="2200" dirty="0">
                <a:solidFill>
                  <a:prstClr val="black"/>
                </a:solidFill>
              </a:rPr>
              <a:t>=</a:t>
            </a:r>
            <a:endParaRPr lang="he-IL" sz="2200" dirty="0">
              <a:solidFill>
                <a:prstClr val="black"/>
              </a:solidFill>
            </a:endParaRPr>
          </a:p>
        </p:txBody>
      </p:sp>
      <mc:AlternateContent xmlns:mc="http://schemas.openxmlformats.org/markup-compatibility/2006" xmlns:a14="http://schemas.microsoft.com/office/drawing/2010/main">
        <mc:Choice Requires="a14">
          <p:sp>
            <p:nvSpPr>
              <p:cNvPr id="41" name="מלבן 40"/>
              <p:cNvSpPr/>
              <p:nvPr/>
            </p:nvSpPr>
            <p:spPr>
              <a:xfrm>
                <a:off x="4608473" y="2989614"/>
                <a:ext cx="2345514" cy="453137"/>
              </a:xfrm>
              <a:prstGeom prst="rect">
                <a:avLst/>
              </a:prstGeom>
            </p:spPr>
            <p:txBody>
              <a:bodyPr wrap="none">
                <a:spAutoFit/>
              </a:bodyPr>
              <a:lstStyle/>
              <a:p>
                <a:r>
                  <a:rPr lang="he-IL" sz="2200" dirty="0">
                    <a:solidFill>
                      <a:prstClr val="black"/>
                    </a:solidFill>
                  </a:rPr>
                  <a:t> </a:t>
                </a:r>
                <a:r>
                  <a:rPr lang="he-IL" sz="2200" dirty="0">
                    <a:solidFill>
                      <a:srgbClr val="00B0F0"/>
                    </a:solidFill>
                  </a:rPr>
                  <a:t>50,000</a:t>
                </a:r>
                <a:r>
                  <a:rPr lang="en-US" sz="2200" dirty="0">
                    <a:solidFill>
                      <a:prstClr val="black"/>
                    </a:solidFill>
                  </a:rPr>
                  <a:t>50</a:t>
                </a:r>
                <a14:m>
                  <m:oMath xmlns:m="http://schemas.openxmlformats.org/officeDocument/2006/math">
                    <m:r>
                      <a:rPr lang="he-IL" sz="2400">
                        <a:solidFill>
                          <a:prstClr val="black"/>
                        </a:solidFill>
                        <a:latin typeface="Cambria Math"/>
                      </a:rPr>
                      <m:t>·</m:t>
                    </m:r>
                  </m:oMath>
                </a14:m>
                <a:r>
                  <a:rPr lang="en-US" sz="2200" dirty="0">
                    <a:solidFill>
                      <a:prstClr val="black"/>
                    </a:solidFill>
                  </a:rPr>
                  <a:t>1,000 =</a:t>
                </a:r>
                <a:endParaRPr lang="he-IL" dirty="0">
                  <a:solidFill>
                    <a:prstClr val="black"/>
                  </a:solidFill>
                </a:endParaRPr>
              </a:p>
            </p:txBody>
          </p:sp>
        </mc:Choice>
        <mc:Fallback xmlns="">
          <p:sp>
            <p:nvSpPr>
              <p:cNvPr id="41" name="מלבן 40"/>
              <p:cNvSpPr>
                <a:spLocks noRot="1" noChangeAspect="1" noMove="1" noResize="1" noEditPoints="1" noAdjustHandles="1" noChangeArrowheads="1" noChangeShapeType="1" noTextEdit="1"/>
              </p:cNvSpPr>
              <p:nvPr/>
            </p:nvSpPr>
            <p:spPr>
              <a:xfrm>
                <a:off x="4608473" y="2989614"/>
                <a:ext cx="2345514" cy="453137"/>
              </a:xfrm>
              <a:prstGeom prst="rect">
                <a:avLst/>
              </a:prstGeom>
              <a:blipFill rotWithShape="1">
                <a:blip r:embed="rId2"/>
                <a:stretch>
                  <a:fillRect l="-2078" t="-4000" r="-3377" b="-25333"/>
                </a:stretch>
              </a:blipFill>
            </p:spPr>
            <p:txBody>
              <a:bodyPr/>
              <a:lstStyle/>
              <a:p>
                <a:r>
                  <a:rPr lang="he-IL">
                    <a:noFill/>
                  </a:rPr>
                  <a:t> </a:t>
                </a:r>
              </a:p>
            </p:txBody>
          </p:sp>
        </mc:Fallback>
      </mc:AlternateContent>
      <p:sp>
        <p:nvSpPr>
          <p:cNvPr id="42" name="מלבן 41"/>
          <p:cNvSpPr/>
          <p:nvPr/>
        </p:nvSpPr>
        <p:spPr>
          <a:xfrm>
            <a:off x="5596583" y="1733001"/>
            <a:ext cx="1343638" cy="400110"/>
          </a:xfrm>
          <a:prstGeom prst="rect">
            <a:avLst/>
          </a:prstGeom>
        </p:spPr>
        <p:txBody>
          <a:bodyPr wrap="none">
            <a:spAutoFit/>
          </a:bodyPr>
          <a:lstStyle/>
          <a:p>
            <a:r>
              <a:rPr lang="he-IL" sz="2000" dirty="0">
                <a:solidFill>
                  <a:srgbClr val="00B050"/>
                </a:solidFill>
              </a:rPr>
              <a:t>150,000</a:t>
            </a:r>
            <a:r>
              <a:rPr lang="en-US" dirty="0">
                <a:solidFill>
                  <a:srgbClr val="00B050"/>
                </a:solidFill>
              </a:rPr>
              <a:t> </a:t>
            </a:r>
            <a:r>
              <a:rPr lang="en-US" dirty="0">
                <a:solidFill>
                  <a:prstClr val="black"/>
                </a:solidFill>
              </a:rPr>
              <a:t>=</a:t>
            </a:r>
            <a:r>
              <a:rPr lang="he-IL" dirty="0">
                <a:solidFill>
                  <a:prstClr val="black"/>
                </a:solidFill>
              </a:rPr>
              <a:t> </a:t>
            </a:r>
          </a:p>
        </p:txBody>
      </p:sp>
      <mc:AlternateContent xmlns:mc="http://schemas.openxmlformats.org/markup-compatibility/2006" xmlns:a14="http://schemas.microsoft.com/office/drawing/2010/main">
        <mc:Choice Requires="a14">
          <p:sp>
            <p:nvSpPr>
              <p:cNvPr id="43" name="מלבן 42"/>
              <p:cNvSpPr/>
              <p:nvPr/>
            </p:nvSpPr>
            <p:spPr>
              <a:xfrm>
                <a:off x="3291883" y="1711693"/>
                <a:ext cx="2215286" cy="628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he-IL" i="1" smtClean="0">
                              <a:solidFill>
                                <a:prstClr val="black"/>
                              </a:solidFill>
                              <a:latin typeface="Cambria Math" panose="02040503050406030204" pitchFamily="18" charset="0"/>
                            </a:rPr>
                          </m:ctrlPr>
                        </m:fPr>
                        <m:num>
                          <m:d>
                            <m:dPr>
                              <m:endChr m:val=""/>
                              <m:ctrlPr>
                                <a:rPr lang="he-IL" i="1">
                                  <a:solidFill>
                                    <a:prstClr val="black"/>
                                  </a:solidFill>
                                  <a:latin typeface="Cambria Math" panose="02040503050406030204" pitchFamily="18" charset="0"/>
                                </a:rPr>
                              </m:ctrlPr>
                            </m:dPr>
                            <m:e>
                              <m:r>
                                <m:rPr>
                                  <m:nor/>
                                </m:rPr>
                                <a:rPr lang="he-IL">
                                  <a:solidFill>
                                    <a:srgbClr val="7030A0"/>
                                  </a:solidFill>
                                </a:rPr>
                                <m:t>7</m:t>
                              </m:r>
                              <m:r>
                                <a:rPr lang="he-IL">
                                  <a:solidFill>
                                    <a:srgbClr val="7030A0"/>
                                  </a:solidFill>
                                  <a:latin typeface="Cambria Math"/>
                                </a:rPr>
                                <m:t>00</m:t>
                              </m:r>
                              <m:r>
                                <a:rPr lang="he-IL">
                                  <a:solidFill>
                                    <a:prstClr val="black"/>
                                  </a:solidFill>
                                  <a:latin typeface="Cambria Math"/>
                                </a:rPr>
                                <m:t>−</m:t>
                              </m:r>
                              <m:r>
                                <a:rPr lang="he-IL" smtClean="0">
                                  <a:solidFill>
                                    <a:srgbClr val="FFC000">
                                      <a:lumMod val="75000"/>
                                    </a:srgbClr>
                                  </a:solidFill>
                                  <a:latin typeface="Cambria Math"/>
                                </a:rPr>
                                <m:t>400</m:t>
                              </m:r>
                              <m:r>
                                <a:rPr lang="he-IL">
                                  <a:solidFill>
                                    <a:prstClr val="black"/>
                                  </a:solidFill>
                                  <a:latin typeface="Cambria Math"/>
                                </a:rPr>
                                <m:t>)·</m:t>
                              </m:r>
                              <m:r>
                                <m:rPr>
                                  <m:nor/>
                                </m:rPr>
                                <a:rPr lang="he-IL">
                                  <a:solidFill>
                                    <a:prstClr val="black"/>
                                  </a:solidFill>
                                </a:rPr>
                                <m:t>1</m:t>
                              </m:r>
                              <m:r>
                                <a:rPr lang="he-IL">
                                  <a:solidFill>
                                    <a:prstClr val="black"/>
                                  </a:solidFill>
                                  <a:latin typeface="Cambria Math"/>
                                </a:rPr>
                                <m:t>,</m:t>
                              </m:r>
                              <m:r>
                                <a:rPr lang="he-IL">
                                  <a:solidFill>
                                    <a:prstClr val="black"/>
                                  </a:solidFill>
                                  <a:latin typeface="Cambria Math"/>
                                </a:rPr>
                                <m:t>000</m:t>
                              </m:r>
                            </m:e>
                          </m:d>
                        </m:num>
                        <m:den>
                          <m:r>
                            <a:rPr lang="he-IL">
                              <a:solidFill>
                                <a:prstClr val="black"/>
                              </a:solidFill>
                              <a:latin typeface="Cambria Math"/>
                            </a:rPr>
                            <m:t>2</m:t>
                          </m:r>
                        </m:den>
                      </m:f>
                    </m:oMath>
                  </m:oMathPara>
                </a14:m>
                <a:endParaRPr lang="he-IL" dirty="0">
                  <a:solidFill>
                    <a:prstClr val="black"/>
                  </a:solidFill>
                </a:endParaRPr>
              </a:p>
            </p:txBody>
          </p:sp>
        </mc:Choice>
        <mc:Fallback xmlns="">
          <p:sp>
            <p:nvSpPr>
              <p:cNvPr id="43" name="מלבן 42"/>
              <p:cNvSpPr>
                <a:spLocks noRot="1" noChangeAspect="1" noMove="1" noResize="1" noEditPoints="1" noAdjustHandles="1" noChangeArrowheads="1" noChangeShapeType="1" noTextEdit="1"/>
              </p:cNvSpPr>
              <p:nvPr/>
            </p:nvSpPr>
            <p:spPr>
              <a:xfrm>
                <a:off x="3291883" y="1711693"/>
                <a:ext cx="2215286" cy="628057"/>
              </a:xfrm>
              <a:prstGeom prst="rect">
                <a:avLst/>
              </a:prstGeom>
              <a:blipFill rotWithShape="1">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4" name="מלבן 43"/>
              <p:cNvSpPr/>
              <p:nvPr/>
            </p:nvSpPr>
            <p:spPr>
              <a:xfrm>
                <a:off x="3725340" y="2357890"/>
                <a:ext cx="2166812" cy="628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he-IL" i="1" smtClean="0">
                              <a:solidFill>
                                <a:prstClr val="black"/>
                              </a:solidFill>
                              <a:latin typeface="Cambria Math" panose="02040503050406030204" pitchFamily="18" charset="0"/>
                            </a:rPr>
                          </m:ctrlPr>
                        </m:fPr>
                        <m:num>
                          <m:d>
                            <m:dPr>
                              <m:ctrlPr>
                                <a:rPr lang="he-IL" i="1">
                                  <a:solidFill>
                                    <a:prstClr val="black"/>
                                  </a:solidFill>
                                  <a:latin typeface="Cambria Math" panose="02040503050406030204" pitchFamily="18" charset="0"/>
                                </a:rPr>
                              </m:ctrlPr>
                            </m:dPr>
                            <m:e>
                              <m:r>
                                <a:rPr lang="he-IL" smtClean="0">
                                  <a:solidFill>
                                    <a:srgbClr val="00B0F0"/>
                                  </a:solidFill>
                                  <a:latin typeface="Cambria Math"/>
                                </a:rPr>
                                <m:t>350</m:t>
                              </m:r>
                              <m:r>
                                <a:rPr lang="he-IL">
                                  <a:solidFill>
                                    <a:prstClr val="black"/>
                                  </a:solidFill>
                                  <a:latin typeface="Cambria Math"/>
                                </a:rPr>
                                <m:t>−</m:t>
                              </m:r>
                              <m:r>
                                <m:rPr>
                                  <m:nor/>
                                </m:rPr>
                                <a:rPr lang="he-IL">
                                  <a:solidFill>
                                    <a:prstClr val="black"/>
                                  </a:solidFill>
                                </a:rPr>
                                <m:t>1</m:t>
                              </m:r>
                              <m:r>
                                <a:rPr lang="he-IL">
                                  <a:solidFill>
                                    <a:prstClr val="black"/>
                                  </a:solidFill>
                                  <a:latin typeface="Cambria Math"/>
                                </a:rPr>
                                <m:t>00</m:t>
                              </m:r>
                            </m:e>
                          </m:d>
                          <m:r>
                            <a:rPr lang="he-IL">
                              <a:solidFill>
                                <a:prstClr val="black"/>
                              </a:solidFill>
                              <a:latin typeface="Cambria Math"/>
                            </a:rPr>
                            <m:t>·</m:t>
                          </m:r>
                          <m:r>
                            <a:rPr lang="he-IL" smtClean="0">
                              <a:solidFill>
                                <a:prstClr val="black"/>
                              </a:solidFill>
                              <a:latin typeface="Cambria Math"/>
                            </a:rPr>
                            <m:t>1000</m:t>
                          </m:r>
                        </m:num>
                        <m:den>
                          <m:r>
                            <a:rPr lang="he-IL">
                              <a:solidFill>
                                <a:prstClr val="black"/>
                              </a:solidFill>
                              <a:latin typeface="Cambria Math"/>
                            </a:rPr>
                            <m:t>2</m:t>
                          </m:r>
                        </m:den>
                      </m:f>
                    </m:oMath>
                  </m:oMathPara>
                </a14:m>
                <a:endParaRPr lang="he-IL" dirty="0">
                  <a:solidFill>
                    <a:prstClr val="black"/>
                  </a:solidFill>
                </a:endParaRPr>
              </a:p>
            </p:txBody>
          </p:sp>
        </mc:Choice>
        <mc:Fallback xmlns="">
          <p:sp>
            <p:nvSpPr>
              <p:cNvPr id="44" name="מלבן 43"/>
              <p:cNvSpPr>
                <a:spLocks noRot="1" noChangeAspect="1" noMove="1" noResize="1" noEditPoints="1" noAdjustHandles="1" noChangeArrowheads="1" noChangeShapeType="1" noTextEdit="1"/>
              </p:cNvSpPr>
              <p:nvPr/>
            </p:nvSpPr>
            <p:spPr>
              <a:xfrm>
                <a:off x="3725340" y="2357890"/>
                <a:ext cx="2166812" cy="628057"/>
              </a:xfrm>
              <a:prstGeom prst="rect">
                <a:avLst/>
              </a:prstGeom>
              <a:blipFill rotWithShape="1">
                <a:blip r:embed="rId4"/>
                <a:stretch>
                  <a:fillRect/>
                </a:stretch>
              </a:blipFill>
            </p:spPr>
            <p:txBody>
              <a:bodyPr/>
              <a:lstStyle/>
              <a:p>
                <a:r>
                  <a:rPr lang="he-IL">
                    <a:noFill/>
                  </a:rPr>
                  <a:t> </a:t>
                </a:r>
              </a:p>
            </p:txBody>
          </p:sp>
        </mc:Fallback>
      </mc:AlternateContent>
      <p:sp>
        <p:nvSpPr>
          <p:cNvPr id="45" name="מלבן 44"/>
          <p:cNvSpPr/>
          <p:nvPr/>
        </p:nvSpPr>
        <p:spPr>
          <a:xfrm>
            <a:off x="5748582" y="2394832"/>
            <a:ext cx="1290738" cy="400110"/>
          </a:xfrm>
          <a:prstGeom prst="rect">
            <a:avLst/>
          </a:prstGeom>
        </p:spPr>
        <p:txBody>
          <a:bodyPr wrap="none">
            <a:spAutoFit/>
          </a:bodyPr>
          <a:lstStyle/>
          <a:p>
            <a:r>
              <a:rPr lang="he-IL" b="1" dirty="0">
                <a:solidFill>
                  <a:prstClr val="black"/>
                </a:solidFill>
              </a:rPr>
              <a:t> </a:t>
            </a:r>
            <a:r>
              <a:rPr lang="he-IL" sz="2000" dirty="0">
                <a:solidFill>
                  <a:srgbClr val="C00000"/>
                </a:solidFill>
              </a:rPr>
              <a:t>125,000</a:t>
            </a:r>
            <a:r>
              <a:rPr lang="en-US" dirty="0">
                <a:solidFill>
                  <a:prstClr val="black"/>
                </a:solidFill>
              </a:rPr>
              <a:t>=</a:t>
            </a:r>
            <a:endParaRPr lang="he-IL" dirty="0">
              <a:solidFill>
                <a:prstClr val="black"/>
              </a:solidFill>
            </a:endParaRPr>
          </a:p>
        </p:txBody>
      </p:sp>
      <p:sp>
        <p:nvSpPr>
          <p:cNvPr id="48" name="TextBox 47"/>
          <p:cNvSpPr txBox="1"/>
          <p:nvPr/>
        </p:nvSpPr>
        <p:spPr>
          <a:xfrm>
            <a:off x="132597" y="4443391"/>
            <a:ext cx="569387" cy="369332"/>
          </a:xfrm>
          <a:prstGeom prst="rect">
            <a:avLst/>
          </a:prstGeom>
          <a:noFill/>
        </p:spPr>
        <p:txBody>
          <a:bodyPr wrap="none" rtlCol="1">
            <a:spAutoFit/>
          </a:bodyPr>
          <a:lstStyle/>
          <a:p>
            <a:r>
              <a:rPr lang="he-IL" dirty="0">
                <a:solidFill>
                  <a:srgbClr val="0070C0"/>
                </a:solidFill>
              </a:rPr>
              <a:t>350</a:t>
            </a:r>
          </a:p>
        </p:txBody>
      </p:sp>
      <p:sp>
        <p:nvSpPr>
          <p:cNvPr id="49" name="מלבן 48"/>
          <p:cNvSpPr/>
          <p:nvPr/>
        </p:nvSpPr>
        <p:spPr>
          <a:xfrm>
            <a:off x="3561090" y="4689621"/>
            <a:ext cx="5293141" cy="646331"/>
          </a:xfrm>
          <a:prstGeom prst="rect">
            <a:avLst/>
          </a:prstGeom>
        </p:spPr>
        <p:txBody>
          <a:bodyPr wrap="square">
            <a:spAutoFit/>
          </a:bodyPr>
          <a:lstStyle/>
          <a:p>
            <a:r>
              <a:rPr lang="he-IL" b="1" dirty="0">
                <a:solidFill>
                  <a:prstClr val="black"/>
                </a:solidFill>
              </a:rPr>
              <a:t>לפי הטלת המס:</a:t>
            </a:r>
            <a:br>
              <a:rPr lang="en-US" b="1" dirty="0">
                <a:solidFill>
                  <a:prstClr val="black"/>
                </a:solidFill>
              </a:rPr>
            </a:br>
            <a:r>
              <a:rPr lang="he-IL" b="1" dirty="0">
                <a:solidFill>
                  <a:prstClr val="black"/>
                </a:solidFill>
              </a:rPr>
              <a:t>סה"כ רווחה הייתה:   </a:t>
            </a:r>
            <a:r>
              <a:rPr lang="he-IL" dirty="0">
                <a:solidFill>
                  <a:prstClr val="black"/>
                </a:solidFill>
              </a:rPr>
              <a:t>327,270</a:t>
            </a:r>
            <a:r>
              <a:rPr lang="en-US" dirty="0">
                <a:solidFill>
                  <a:srgbClr val="00B050"/>
                </a:solidFill>
              </a:rPr>
              <a:t>178,525.8</a:t>
            </a:r>
            <a:r>
              <a:rPr lang="en-US" dirty="0">
                <a:solidFill>
                  <a:prstClr val="black"/>
                </a:solidFill>
              </a:rPr>
              <a:t> + </a:t>
            </a:r>
            <a:r>
              <a:rPr lang="en-US" dirty="0">
                <a:solidFill>
                  <a:srgbClr val="C00000"/>
                </a:solidFill>
              </a:rPr>
              <a:t>148,744.2</a:t>
            </a:r>
            <a:r>
              <a:rPr lang="en-US" dirty="0">
                <a:solidFill>
                  <a:prstClr val="black"/>
                </a:solidFill>
              </a:rPr>
              <a:t> = </a:t>
            </a:r>
            <a:endParaRPr lang="he-IL" dirty="0">
              <a:solidFill>
                <a:prstClr val="black"/>
              </a:solidFill>
            </a:endParaRPr>
          </a:p>
        </p:txBody>
      </p:sp>
      <p:sp>
        <p:nvSpPr>
          <p:cNvPr id="46" name="מלבן 45"/>
          <p:cNvSpPr/>
          <p:nvPr/>
        </p:nvSpPr>
        <p:spPr>
          <a:xfrm>
            <a:off x="7962351" y="5532925"/>
            <a:ext cx="948016" cy="738664"/>
          </a:xfrm>
          <a:prstGeom prst="rect">
            <a:avLst/>
          </a:prstGeom>
          <a:ln w="28575">
            <a:solidFill>
              <a:srgbClr val="FFC000"/>
            </a:solidFill>
          </a:ln>
        </p:spPr>
        <p:style>
          <a:lnRef idx="2">
            <a:schemeClr val="dk1"/>
          </a:lnRef>
          <a:fillRef idx="1">
            <a:schemeClr val="lt1"/>
          </a:fillRef>
          <a:effectRef idx="0">
            <a:schemeClr val="dk1"/>
          </a:effectRef>
          <a:fontRef idx="minor">
            <a:schemeClr val="dk1"/>
          </a:fontRef>
        </p:style>
        <p:txBody>
          <a:bodyPr wrap="square">
            <a:spAutoFit/>
          </a:bodyPr>
          <a:lstStyle/>
          <a:p>
            <a:r>
              <a:rPr lang="he-IL" sz="2100" b="1" dirty="0">
                <a:solidFill>
                  <a:prstClr val="black"/>
                </a:solidFill>
              </a:rPr>
              <a:t>הנטל העודף</a:t>
            </a:r>
            <a:endParaRPr lang="he-IL" sz="2100" dirty="0">
              <a:solidFill>
                <a:prstClr val="black"/>
              </a:solidFill>
            </a:endParaRPr>
          </a:p>
        </p:txBody>
      </p:sp>
      <p:sp>
        <p:nvSpPr>
          <p:cNvPr id="47" name="מלבן 46"/>
          <p:cNvSpPr/>
          <p:nvPr/>
        </p:nvSpPr>
        <p:spPr>
          <a:xfrm>
            <a:off x="4932040" y="5572562"/>
            <a:ext cx="2952257" cy="430887"/>
          </a:xfrm>
          <a:prstGeom prst="rect">
            <a:avLst/>
          </a:prstGeom>
          <a:ln w="28575">
            <a:solidFill>
              <a:srgbClr val="FFC000"/>
            </a:solidFill>
          </a:ln>
        </p:spPr>
        <p:style>
          <a:lnRef idx="2">
            <a:schemeClr val="dk1"/>
          </a:lnRef>
          <a:fillRef idx="1">
            <a:schemeClr val="lt1"/>
          </a:fillRef>
          <a:effectRef idx="0">
            <a:schemeClr val="dk1"/>
          </a:effectRef>
          <a:fontRef idx="minor">
            <a:schemeClr val="dk1"/>
          </a:fontRef>
        </p:style>
        <p:txBody>
          <a:bodyPr wrap="square">
            <a:spAutoFit/>
          </a:bodyPr>
          <a:lstStyle/>
          <a:p>
            <a:pPr marL="342900" indent="-342900">
              <a:spcBef>
                <a:spcPct val="20000"/>
              </a:spcBef>
            </a:pPr>
            <a:r>
              <a:rPr lang="he-IL" sz="2200" b="1" dirty="0">
                <a:solidFill>
                  <a:prstClr val="black"/>
                </a:solidFill>
              </a:rPr>
              <a:t> </a:t>
            </a:r>
            <a:r>
              <a:rPr lang="en-US" sz="2100" dirty="0">
                <a:solidFill>
                  <a:prstClr val="black"/>
                </a:solidFill>
              </a:rPr>
              <a:t>327,270-325,000= 2270</a:t>
            </a:r>
            <a:endParaRPr lang="he-IL" sz="2100" dirty="0">
              <a:solidFill>
                <a:prstClr val="black"/>
              </a:solidFill>
            </a:endParaRPr>
          </a:p>
        </p:txBody>
      </p:sp>
      <p:sp>
        <p:nvSpPr>
          <p:cNvPr id="4" name="משולש שווה שוקיים 3"/>
          <p:cNvSpPr/>
          <p:nvPr/>
        </p:nvSpPr>
        <p:spPr>
          <a:xfrm rot="5400000">
            <a:off x="1996267" y="4287593"/>
            <a:ext cx="369333" cy="247137"/>
          </a:xfrm>
          <a:prstGeom prst="triangle">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sp>
        <p:nvSpPr>
          <p:cNvPr id="50" name="מלבן 45"/>
          <p:cNvSpPr/>
          <p:nvPr/>
        </p:nvSpPr>
        <p:spPr>
          <a:xfrm>
            <a:off x="1115617" y="6414775"/>
            <a:ext cx="7807398" cy="369332"/>
          </a:xfrm>
          <a:prstGeom prst="rect">
            <a:avLst/>
          </a:prstGeom>
          <a:ln w="28575">
            <a:solidFill>
              <a:srgbClr val="FFC000"/>
            </a:solidFill>
          </a:ln>
        </p:spPr>
        <p:style>
          <a:lnRef idx="2">
            <a:schemeClr val="dk1"/>
          </a:lnRef>
          <a:fillRef idx="1">
            <a:schemeClr val="lt1"/>
          </a:fillRef>
          <a:effectRef idx="0">
            <a:schemeClr val="dk1"/>
          </a:effectRef>
          <a:fontRef idx="minor">
            <a:schemeClr val="dk1"/>
          </a:fontRef>
        </p:style>
        <p:txBody>
          <a:bodyPr wrap="square">
            <a:spAutoFit/>
          </a:bodyPr>
          <a:lstStyle/>
          <a:p>
            <a:r>
              <a:rPr lang="he-IL" dirty="0">
                <a:solidFill>
                  <a:prstClr val="black"/>
                </a:solidFill>
              </a:rPr>
              <a:t>הנטל העודף</a:t>
            </a:r>
            <a:r>
              <a:rPr lang="en-US" dirty="0">
                <a:solidFill>
                  <a:prstClr val="black"/>
                </a:solidFill>
              </a:rPr>
              <a:t> </a:t>
            </a:r>
            <a:r>
              <a:rPr lang="he-IL" dirty="0">
                <a:solidFill>
                  <a:prstClr val="black"/>
                </a:solidFill>
              </a:rPr>
              <a:t>=</a:t>
            </a:r>
            <a:r>
              <a:rPr lang="en-US" dirty="0">
                <a:solidFill>
                  <a:prstClr val="black"/>
                </a:solidFill>
              </a:rPr>
              <a:t> </a:t>
            </a:r>
            <a:r>
              <a:rPr lang="he-IL" dirty="0">
                <a:solidFill>
                  <a:prstClr val="black"/>
                </a:solidFill>
              </a:rPr>
              <a:t> הירידה ברווחה החברתית כתוצאה מהשינוי </a:t>
            </a:r>
            <a:r>
              <a:rPr lang="he-IL" sz="1400" dirty="0">
                <a:solidFill>
                  <a:prstClr val="black"/>
                </a:solidFill>
              </a:rPr>
              <a:t>(המשולש הכתום בשרטוט). </a:t>
            </a:r>
            <a:endParaRPr lang="he-IL" sz="1400" dirty="0"/>
          </a:p>
        </p:txBody>
      </p:sp>
    </p:spTree>
    <p:extLst>
      <p:ext uri="{BB962C8B-B14F-4D97-AF65-F5344CB8AC3E}">
        <p14:creationId xmlns:p14="http://schemas.microsoft.com/office/powerpoint/2010/main" val="2104251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barn(inVertical)">
                                      <p:cBhvr>
                                        <p:cTn id="11" dur="500"/>
                                        <p:tgtEl>
                                          <p:spTgt spid="3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ipe(down)">
                                      <p:cBhvr>
                                        <p:cTn id="16" dur="5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wipe(down)">
                                      <p:cBhvr>
                                        <p:cTn id="30" dur="500"/>
                                        <p:tgtEl>
                                          <p:spTgt spid="37"/>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wipe(down)">
                                      <p:cBhvr>
                                        <p:cTn id="33" dur="500"/>
                                        <p:tgtEl>
                                          <p:spTgt spid="3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wipe(down)">
                                      <p:cBhvr>
                                        <p:cTn id="38" dur="500"/>
                                        <p:tgtEl>
                                          <p:spTgt spid="4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down)">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circle(in)">
                                      <p:cBhvr>
                                        <p:cTn id="52" dur="20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barn(inVertical)">
                                      <p:cBhvr>
                                        <p:cTn id="57" dur="500"/>
                                        <p:tgtEl>
                                          <p:spTgt spid="4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wipe(down)">
                                      <p:cBhvr>
                                        <p:cTn id="67" dur="500"/>
                                        <p:tgtEl>
                                          <p:spTgt spid="40"/>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barn(inVertical)">
                                      <p:cBhvr>
                                        <p:cTn id="72" dur="500"/>
                                        <p:tgtEl>
                                          <p:spTgt spid="4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500"/>
                                        <p:tgtEl>
                                          <p:spTgt spid="4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47"/>
                                        </p:tgtEl>
                                        <p:attrNameLst>
                                          <p:attrName>style.visibility</p:attrName>
                                        </p:attrNameLst>
                                      </p:cBhvr>
                                      <p:to>
                                        <p:strVal val="visible"/>
                                      </p:to>
                                    </p:set>
                                    <p:animEffect transition="in" filter="wipe(down)">
                                      <p:cBhvr>
                                        <p:cTn id="82" dur="500"/>
                                        <p:tgtEl>
                                          <p:spTgt spid="47"/>
                                        </p:tgtEl>
                                      </p:cBhvr>
                                    </p:animEffect>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fade">
                                      <p:cBhvr>
                                        <p:cTn id="87" dur="1000"/>
                                        <p:tgtEl>
                                          <p:spTgt spid="4"/>
                                        </p:tgtEl>
                                      </p:cBhvr>
                                    </p:animEffect>
                                    <p:anim calcmode="lin" valueType="num">
                                      <p:cBhvr>
                                        <p:cTn id="88" dur="1000" fill="hold"/>
                                        <p:tgtEl>
                                          <p:spTgt spid="4"/>
                                        </p:tgtEl>
                                        <p:attrNameLst>
                                          <p:attrName>ppt_x</p:attrName>
                                        </p:attrNameLst>
                                      </p:cBhvr>
                                      <p:tavLst>
                                        <p:tav tm="0">
                                          <p:val>
                                            <p:strVal val="#ppt_x"/>
                                          </p:val>
                                        </p:tav>
                                        <p:tav tm="100000">
                                          <p:val>
                                            <p:strVal val="#ppt_x"/>
                                          </p:val>
                                        </p:tav>
                                      </p:tavLst>
                                    </p:anim>
                                    <p:anim calcmode="lin" valueType="num">
                                      <p:cBhvr>
                                        <p:cTn id="8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p:bldP spid="38" grpId="0" animBg="1"/>
      <p:bldP spid="8" grpId="0"/>
      <p:bldP spid="9" grpId="0"/>
      <p:bldP spid="12" grpId="0"/>
      <p:bldP spid="13" grpId="0" animBg="1"/>
      <p:bldP spid="40" grpId="0" animBg="1"/>
      <p:bldP spid="41" grpId="0"/>
      <p:bldP spid="42" grpId="0"/>
      <p:bldP spid="43" grpId="0"/>
      <p:bldP spid="44" grpId="0"/>
      <p:bldP spid="45" grpId="0"/>
      <p:bldP spid="49" grpId="0"/>
      <p:bldP spid="46" grpId="0" animBg="1"/>
      <p:bldP spid="47" grpId="0" animBg="1"/>
      <p:bldP spid="4" grpId="0" animBg="1"/>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a:extLst>
              <a:ext uri="{FF2B5EF4-FFF2-40B4-BE49-F238E27FC236}">
                <a16:creationId xmlns:a16="http://schemas.microsoft.com/office/drawing/2014/main" id="{D0259014-3BC3-4AA5-AC71-382C9A1AD82F}"/>
              </a:ext>
            </a:extLst>
          </p:cNvPr>
          <p:cNvSpPr>
            <a:spLocks noGrp="1"/>
          </p:cNvSpPr>
          <p:nvPr>
            <p:ph type="title"/>
          </p:nvPr>
        </p:nvSpPr>
        <p:spPr>
          <a:xfrm>
            <a:off x="2627785" y="0"/>
            <a:ext cx="6507568" cy="1143000"/>
          </a:xfrm>
        </p:spPr>
        <p:txBody>
          <a:bodyPr/>
          <a:lstStyle/>
          <a:p>
            <a:pPr algn="r"/>
            <a:r>
              <a:rPr lang="he-IL" b="1" dirty="0">
                <a:solidFill>
                  <a:schemeClr val="tx2">
                    <a:lumMod val="75000"/>
                  </a:schemeClr>
                </a:solidFill>
              </a:rPr>
              <a:t>שאלה 2</a:t>
            </a:r>
            <a:endParaRPr lang="he-IL" dirty="0"/>
          </a:p>
        </p:txBody>
      </p:sp>
      <p:sp>
        <p:nvSpPr>
          <p:cNvPr id="6" name="TextBox 5">
            <a:extLst>
              <a:ext uri="{FF2B5EF4-FFF2-40B4-BE49-F238E27FC236}">
                <a16:creationId xmlns:a16="http://schemas.microsoft.com/office/drawing/2014/main" id="{700EEA05-B831-433E-8B4B-380E715E1BCA}"/>
              </a:ext>
            </a:extLst>
          </p:cNvPr>
          <p:cNvSpPr txBox="1"/>
          <p:nvPr/>
        </p:nvSpPr>
        <p:spPr>
          <a:xfrm>
            <a:off x="395536" y="1268760"/>
            <a:ext cx="8508633" cy="3378682"/>
          </a:xfrm>
          <a:prstGeom prst="rect">
            <a:avLst/>
          </a:prstGeom>
          <a:noFill/>
        </p:spPr>
        <p:txBody>
          <a:bodyPr wrap="square">
            <a:spAutoFit/>
          </a:bodyPr>
          <a:lstStyle/>
          <a:p>
            <a:pPr algn="just" rtl="1">
              <a:lnSpc>
                <a:spcPct val="150000"/>
              </a:lnSpc>
            </a:pPr>
            <a:r>
              <a:rPr lang="he-IL" sz="1800" dirty="0">
                <a:solidFill>
                  <a:srgbClr val="222222"/>
                </a:solidFill>
                <a:effectLst/>
                <a:latin typeface="Times New Roman" panose="02020603050405020304" pitchFamily="18" charset="0"/>
                <a:ea typeface="Times New Roman" panose="02020603050405020304" pitchFamily="18" charset="0"/>
              </a:rPr>
              <a:t>עקומת הביקוש למוצר </a:t>
            </a:r>
            <a:r>
              <a:rPr lang="en-US" sz="1800" dirty="0">
                <a:solidFill>
                  <a:srgbClr val="222222"/>
                </a:solidFill>
                <a:effectLst/>
                <a:latin typeface="Times New Roman" panose="02020603050405020304" pitchFamily="18" charset="0"/>
                <a:ea typeface="Times New Roman" panose="02020603050405020304" pitchFamily="18" charset="0"/>
              </a:rPr>
              <a:t>X</a:t>
            </a:r>
            <a:r>
              <a:rPr lang="he-IL" sz="1800" dirty="0">
                <a:solidFill>
                  <a:srgbClr val="222222"/>
                </a:solidFill>
                <a:effectLst/>
                <a:latin typeface="Times New Roman" panose="02020603050405020304" pitchFamily="18" charset="0"/>
                <a:ea typeface="Times New Roman" panose="02020603050405020304" pitchFamily="18" charset="0"/>
              </a:rPr>
              <a:t> היא:</a:t>
            </a:r>
            <a:r>
              <a:rPr lang="en-US" sz="1800" dirty="0">
                <a:solidFill>
                  <a:srgbClr val="222222"/>
                </a:solidFill>
                <a:effectLst/>
                <a:latin typeface="Times New Roman" panose="02020603050405020304" pitchFamily="18" charset="0"/>
                <a:ea typeface="Times New Roman" panose="02020603050405020304" pitchFamily="18" charset="0"/>
              </a:rPr>
              <a:t>20-X </a:t>
            </a:r>
            <a:r>
              <a:rPr lang="he-IL" sz="1800" dirty="0">
                <a:solidFill>
                  <a:srgbClr val="222222"/>
                </a:solidFill>
                <a:effectLst/>
                <a:latin typeface="Times New Roman" panose="02020603050405020304" pitchFamily="18" charset="0"/>
                <a:ea typeface="Times New Roman" panose="02020603050405020304" pitchFamily="18" charset="0"/>
              </a:rPr>
              <a:t> = </a:t>
            </a:r>
            <a:r>
              <a:rPr lang="en-US" sz="1800" dirty="0">
                <a:solidFill>
                  <a:srgbClr val="222222"/>
                </a:solidFill>
                <a:effectLst/>
                <a:latin typeface="Times New Roman" panose="02020603050405020304" pitchFamily="18" charset="0"/>
                <a:ea typeface="Times New Roman" panose="02020603050405020304" pitchFamily="18" charset="0"/>
              </a:rPr>
              <a:t>P</a:t>
            </a:r>
            <a:r>
              <a:rPr lang="he-IL" sz="1800" dirty="0">
                <a:solidFill>
                  <a:srgbClr val="222222"/>
                </a:solidFill>
                <a:effectLst/>
                <a:latin typeface="Times New Roman" panose="02020603050405020304" pitchFamily="18" charset="0"/>
                <a:ea typeface="Times New Roman" panose="02020603050405020304" pitchFamily="18" charset="0"/>
              </a:rPr>
              <a:t>  ועקומת ההיצע של המוצר היא: </a:t>
            </a:r>
            <a:r>
              <a:rPr lang="en-US" sz="1800" dirty="0">
                <a:solidFill>
                  <a:srgbClr val="222222"/>
                </a:solidFill>
                <a:effectLst/>
                <a:latin typeface="Times New Roman" panose="02020603050405020304" pitchFamily="18" charset="0"/>
                <a:ea typeface="Times New Roman" panose="02020603050405020304" pitchFamily="18" charset="0"/>
              </a:rPr>
              <a:t> X</a:t>
            </a:r>
            <a:r>
              <a:rPr lang="he-IL" sz="1800" dirty="0">
                <a:solidFill>
                  <a:srgbClr val="222222"/>
                </a:solidFill>
                <a:effectLst/>
                <a:latin typeface="Times New Roman" panose="02020603050405020304" pitchFamily="18" charset="0"/>
                <a:ea typeface="Times New Roman" panose="02020603050405020304" pitchFamily="18" charset="0"/>
              </a:rPr>
              <a:t>= </a:t>
            </a:r>
            <a:r>
              <a:rPr lang="en-US" sz="1800" dirty="0">
                <a:solidFill>
                  <a:srgbClr val="222222"/>
                </a:solidFill>
                <a:effectLst/>
                <a:latin typeface="Times New Roman" panose="02020603050405020304" pitchFamily="18" charset="0"/>
                <a:ea typeface="Times New Roman" panose="02020603050405020304" pitchFamily="18" charset="0"/>
              </a:rPr>
              <a:t>P</a:t>
            </a:r>
            <a:r>
              <a:rPr lang="he-IL" sz="1800" dirty="0">
                <a:solidFill>
                  <a:srgbClr val="222222"/>
                </a:solidFill>
                <a:effectLst/>
                <a:latin typeface="Times New Roman" panose="02020603050405020304" pitchFamily="18" charset="0"/>
                <a:ea typeface="Times New Roman" panose="02020603050405020304" pitchFamily="18" charset="0"/>
              </a:rPr>
              <a:t>. בעקבות החלטת הממשלה להתערב בשוק ולגבות מס של 4 ש"ח לכל יחידה.</a:t>
            </a:r>
          </a:p>
          <a:p>
            <a:pPr algn="just" rtl="1">
              <a:lnSpc>
                <a:spcPct val="150000"/>
              </a:lnSpc>
            </a:pP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תקבולי הממשלה יהיו 44 ש"ח והמחיר לצרכן ירד ב 3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תקבולי הממשלה יהיו 32 ש"ח והמחיר לצרכן עלה ב 2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תקבולי הממשלה</a:t>
            </a:r>
            <a:r>
              <a:rPr lang="en-US" sz="1800" dirty="0">
                <a:solidFill>
                  <a:srgbClr val="222222"/>
                </a:solidFill>
                <a:effectLst/>
                <a:latin typeface="Arial" panose="020B0604020202020204" pitchFamily="34" charset="0"/>
                <a:ea typeface="Times New Roman" panose="02020603050405020304" pitchFamily="18" charset="0"/>
              </a:rPr>
              <a:t> </a:t>
            </a:r>
            <a:r>
              <a:rPr lang="he-IL" sz="1800" dirty="0">
                <a:solidFill>
                  <a:srgbClr val="222222"/>
                </a:solidFill>
                <a:effectLst/>
                <a:latin typeface="Times New Roman" panose="02020603050405020304" pitchFamily="18" charset="0"/>
                <a:ea typeface="Times New Roman" panose="02020603050405020304" pitchFamily="18" charset="0"/>
              </a:rPr>
              <a:t>יהיו  40 ש"ח והמחיר ליצרן ירד ב 4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תקבולי הממשלה יהיו 96 ש"ח והמחיר לצרכן יעלה ב 2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כל התשובות האחרות אינן נכונות</a:t>
            </a:r>
            <a:endParaRPr lang="en-IL"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527728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a:extLst>
              <a:ext uri="{FF2B5EF4-FFF2-40B4-BE49-F238E27FC236}">
                <a16:creationId xmlns:a16="http://schemas.microsoft.com/office/drawing/2014/main" id="{D0259014-3BC3-4AA5-AC71-382C9A1AD82F}"/>
              </a:ext>
            </a:extLst>
          </p:cNvPr>
          <p:cNvSpPr>
            <a:spLocks noGrp="1"/>
          </p:cNvSpPr>
          <p:nvPr>
            <p:ph type="title"/>
          </p:nvPr>
        </p:nvSpPr>
        <p:spPr>
          <a:xfrm>
            <a:off x="7380311" y="0"/>
            <a:ext cx="1755041" cy="1143000"/>
          </a:xfrm>
        </p:spPr>
        <p:txBody>
          <a:bodyPr>
            <a:normAutofit/>
          </a:bodyPr>
          <a:lstStyle/>
          <a:p>
            <a:pPr algn="r"/>
            <a:r>
              <a:rPr lang="he-IL" b="1" dirty="0">
                <a:solidFill>
                  <a:schemeClr val="tx2">
                    <a:lumMod val="75000"/>
                  </a:schemeClr>
                </a:solidFill>
              </a:rPr>
              <a:t>שאלה 2</a:t>
            </a:r>
            <a:endParaRPr lang="he-IL" dirty="0"/>
          </a:p>
        </p:txBody>
      </p:sp>
      <p:sp>
        <p:nvSpPr>
          <p:cNvPr id="6" name="TextBox 5">
            <a:extLst>
              <a:ext uri="{FF2B5EF4-FFF2-40B4-BE49-F238E27FC236}">
                <a16:creationId xmlns:a16="http://schemas.microsoft.com/office/drawing/2014/main" id="{700EEA05-B831-433E-8B4B-380E715E1BCA}"/>
              </a:ext>
            </a:extLst>
          </p:cNvPr>
          <p:cNvSpPr txBox="1"/>
          <p:nvPr/>
        </p:nvSpPr>
        <p:spPr>
          <a:xfrm>
            <a:off x="2975627" y="1527069"/>
            <a:ext cx="5899620" cy="2132187"/>
          </a:xfrm>
          <a:prstGeom prst="rect">
            <a:avLst/>
          </a:prstGeom>
          <a:noFill/>
        </p:spPr>
        <p:txBody>
          <a:bodyPr wrap="square">
            <a:spAutoFit/>
          </a:bodyPr>
          <a:lstStyle/>
          <a:p>
            <a:pPr marL="342900" lvl="0" indent="-342900" algn="just" rtl="1">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תקבולי הממשלה יהיו 44 ש"ח והמחיר לצרכן ירד ב 3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Calibri" panose="020F0502020204030204" pitchFamily="34" charset="0"/>
              <a:buAutoNum type="arabicPeriod"/>
              <a:tabLst>
                <a:tab pos="251460" algn="l"/>
              </a:tabLst>
            </a:pPr>
            <a:r>
              <a:rPr lang="he-IL" sz="1800" b="1" dirty="0">
                <a:solidFill>
                  <a:srgbClr val="222222"/>
                </a:solidFill>
                <a:effectLst/>
                <a:latin typeface="Times New Roman" panose="02020603050405020304" pitchFamily="18" charset="0"/>
                <a:ea typeface="Times New Roman" panose="02020603050405020304" pitchFamily="18" charset="0"/>
              </a:rPr>
              <a:t>תקבולי הממשלה יהיו 32 ש"ח והמחיר לצרכן עלה ב 2 ש"ח</a:t>
            </a:r>
            <a:endParaRPr lang="en-IL" sz="1800" b="1"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תקבולי הממשלה</a:t>
            </a:r>
            <a:r>
              <a:rPr lang="en-US" sz="1800" dirty="0">
                <a:solidFill>
                  <a:srgbClr val="222222"/>
                </a:solidFill>
                <a:effectLst/>
                <a:latin typeface="Arial" panose="020B0604020202020204" pitchFamily="34" charset="0"/>
                <a:ea typeface="Times New Roman" panose="02020603050405020304" pitchFamily="18" charset="0"/>
              </a:rPr>
              <a:t> </a:t>
            </a:r>
            <a:r>
              <a:rPr lang="he-IL" sz="1800" dirty="0">
                <a:solidFill>
                  <a:srgbClr val="222222"/>
                </a:solidFill>
                <a:effectLst/>
                <a:latin typeface="Times New Roman" panose="02020603050405020304" pitchFamily="18" charset="0"/>
                <a:ea typeface="Times New Roman" panose="02020603050405020304" pitchFamily="18" charset="0"/>
              </a:rPr>
              <a:t>יהיו  40 ש"ח והמחיר ליצרן ירד ב 4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תקבולי הממשלה יהיו 96 ש"ח והמחיר לצרכן יעלה ב 2 ש"ח</a:t>
            </a:r>
            <a:endParaRPr lang="en-IL" sz="1800" dirty="0">
              <a:effectLst/>
              <a:latin typeface="Times New Roman" panose="02020603050405020304" pitchFamily="18" charset="0"/>
              <a:ea typeface="SimSun" panose="02010600030101010101" pitchFamily="2" charset="-122"/>
            </a:endParaRPr>
          </a:p>
          <a:p>
            <a:pPr marL="342900" lvl="0" indent="-342900" algn="just">
              <a:lnSpc>
                <a:spcPct val="150000"/>
              </a:lnSpc>
              <a:buFont typeface="Calibri" panose="020F0502020204030204" pitchFamily="34" charset="0"/>
              <a:buAutoNum type="arabicPeriod"/>
              <a:tabLst>
                <a:tab pos="251460" algn="l"/>
              </a:tabLst>
            </a:pPr>
            <a:r>
              <a:rPr lang="he-IL" sz="1800" dirty="0">
                <a:solidFill>
                  <a:srgbClr val="222222"/>
                </a:solidFill>
                <a:effectLst/>
                <a:latin typeface="Times New Roman" panose="02020603050405020304" pitchFamily="18" charset="0"/>
                <a:ea typeface="Times New Roman" panose="02020603050405020304" pitchFamily="18" charset="0"/>
              </a:rPr>
              <a:t>כל התשובות האחרות אינן נכונות</a:t>
            </a:r>
            <a:endParaRPr lang="en-IL" sz="1800" dirty="0">
              <a:effectLst/>
              <a:latin typeface="Times New Roman" panose="02020603050405020304" pitchFamily="18" charset="0"/>
              <a:ea typeface="SimSun" panose="02010600030101010101" pitchFamily="2" charset="-122"/>
            </a:endParaRPr>
          </a:p>
        </p:txBody>
      </p:sp>
      <p:sp>
        <p:nvSpPr>
          <p:cNvPr id="5" name="TextBox 4">
            <a:extLst>
              <a:ext uri="{FF2B5EF4-FFF2-40B4-BE49-F238E27FC236}">
                <a16:creationId xmlns:a16="http://schemas.microsoft.com/office/drawing/2014/main" id="{490DBC26-7973-4EBA-9763-E139C228A20E}"/>
              </a:ext>
            </a:extLst>
          </p:cNvPr>
          <p:cNvSpPr txBox="1"/>
          <p:nvPr/>
        </p:nvSpPr>
        <p:spPr>
          <a:xfrm>
            <a:off x="827584" y="308530"/>
            <a:ext cx="6771055" cy="1711366"/>
          </a:xfrm>
          <a:prstGeom prst="rect">
            <a:avLst/>
          </a:prstGeom>
          <a:noFill/>
        </p:spPr>
        <p:txBody>
          <a:bodyPr wrap="square">
            <a:spAutoFit/>
          </a:bodyPr>
          <a:lstStyle/>
          <a:p>
            <a:pPr>
              <a:lnSpc>
                <a:spcPct val="150000"/>
              </a:lnSpc>
            </a:pPr>
            <a:r>
              <a:rPr lang="he-IL" dirty="0">
                <a:solidFill>
                  <a:srgbClr val="222222"/>
                </a:solidFill>
                <a:latin typeface="Times New Roman" panose="02020603050405020304" pitchFamily="18" charset="0"/>
                <a:ea typeface="Times New Roman" panose="02020603050405020304" pitchFamily="18" charset="0"/>
              </a:rPr>
              <a:t>עקומת הביקוש למוצר </a:t>
            </a:r>
            <a:r>
              <a:rPr lang="en-US" dirty="0">
                <a:solidFill>
                  <a:srgbClr val="222222"/>
                </a:solidFill>
                <a:latin typeface="Times New Roman" panose="02020603050405020304" pitchFamily="18" charset="0"/>
                <a:ea typeface="Times New Roman" panose="02020603050405020304" pitchFamily="18" charset="0"/>
              </a:rPr>
              <a:t>X</a:t>
            </a:r>
            <a:r>
              <a:rPr lang="he-IL" dirty="0">
                <a:solidFill>
                  <a:srgbClr val="222222"/>
                </a:solidFill>
                <a:latin typeface="Times New Roman" panose="02020603050405020304" pitchFamily="18" charset="0"/>
                <a:ea typeface="Times New Roman" panose="02020603050405020304" pitchFamily="18" charset="0"/>
              </a:rPr>
              <a:t> היא:</a:t>
            </a:r>
            <a:r>
              <a:rPr lang="en-US" dirty="0">
                <a:solidFill>
                  <a:srgbClr val="002060"/>
                </a:solidFill>
                <a:latin typeface="Times New Roman" panose="02020603050405020304" pitchFamily="18" charset="0"/>
                <a:ea typeface="Times New Roman" panose="02020603050405020304" pitchFamily="18" charset="0"/>
              </a:rPr>
              <a:t>20-X</a:t>
            </a:r>
            <a:r>
              <a:rPr lang="en-US" dirty="0">
                <a:solidFill>
                  <a:srgbClr val="222222"/>
                </a:solidFill>
                <a:latin typeface="Times New Roman" panose="02020603050405020304" pitchFamily="18" charset="0"/>
                <a:ea typeface="Times New Roman" panose="02020603050405020304" pitchFamily="18" charset="0"/>
              </a:rPr>
              <a:t> </a:t>
            </a:r>
            <a:r>
              <a:rPr lang="he-IL" dirty="0">
                <a:solidFill>
                  <a:srgbClr val="222222"/>
                </a:solidFill>
                <a:latin typeface="Times New Roman" panose="02020603050405020304" pitchFamily="18" charset="0"/>
                <a:ea typeface="Times New Roman" panose="02020603050405020304" pitchFamily="18" charset="0"/>
              </a:rPr>
              <a:t> = </a:t>
            </a:r>
            <a:r>
              <a:rPr lang="en-US" dirty="0">
                <a:solidFill>
                  <a:srgbClr val="222222"/>
                </a:solidFill>
                <a:latin typeface="Times New Roman" panose="02020603050405020304" pitchFamily="18" charset="0"/>
                <a:ea typeface="Times New Roman" panose="02020603050405020304" pitchFamily="18" charset="0"/>
              </a:rPr>
              <a:t>P</a:t>
            </a:r>
            <a:r>
              <a:rPr lang="he-IL" dirty="0">
                <a:solidFill>
                  <a:srgbClr val="222222"/>
                </a:solidFill>
                <a:latin typeface="Times New Roman" panose="02020603050405020304" pitchFamily="18" charset="0"/>
                <a:ea typeface="Times New Roman" panose="02020603050405020304" pitchFamily="18" charset="0"/>
              </a:rPr>
              <a:t>  ועקומת ההיצע של המוצר היא: </a:t>
            </a:r>
            <a:r>
              <a:rPr lang="en-US" dirty="0">
                <a:solidFill>
                  <a:srgbClr val="222222"/>
                </a:solidFill>
                <a:latin typeface="Times New Roman" panose="02020603050405020304" pitchFamily="18" charset="0"/>
                <a:ea typeface="Times New Roman" panose="02020603050405020304" pitchFamily="18" charset="0"/>
              </a:rPr>
              <a:t> </a:t>
            </a:r>
            <a:r>
              <a:rPr lang="en-US" dirty="0">
                <a:solidFill>
                  <a:schemeClr val="accent6">
                    <a:lumMod val="75000"/>
                  </a:schemeClr>
                </a:solidFill>
                <a:latin typeface="Times New Roman" panose="02020603050405020304" pitchFamily="18" charset="0"/>
                <a:ea typeface="Times New Roman" panose="02020603050405020304" pitchFamily="18" charset="0"/>
              </a:rPr>
              <a:t>X</a:t>
            </a:r>
            <a:r>
              <a:rPr lang="he-IL" dirty="0">
                <a:solidFill>
                  <a:schemeClr val="accent6">
                    <a:lumMod val="75000"/>
                  </a:schemeClr>
                </a:solidFill>
                <a:latin typeface="Times New Roman" panose="02020603050405020304" pitchFamily="18" charset="0"/>
                <a:ea typeface="Times New Roman" panose="02020603050405020304" pitchFamily="18" charset="0"/>
              </a:rPr>
              <a:t>= </a:t>
            </a:r>
            <a:r>
              <a:rPr lang="en-US" dirty="0">
                <a:solidFill>
                  <a:schemeClr val="accent6">
                    <a:lumMod val="75000"/>
                  </a:schemeClr>
                </a:solidFill>
                <a:latin typeface="Times New Roman" panose="02020603050405020304" pitchFamily="18" charset="0"/>
                <a:ea typeface="Times New Roman" panose="02020603050405020304" pitchFamily="18" charset="0"/>
              </a:rPr>
              <a:t>P</a:t>
            </a:r>
            <a:r>
              <a:rPr lang="he-IL" dirty="0">
                <a:solidFill>
                  <a:srgbClr val="222222"/>
                </a:solidFill>
                <a:latin typeface="Times New Roman" panose="02020603050405020304" pitchFamily="18" charset="0"/>
                <a:ea typeface="Times New Roman" panose="02020603050405020304" pitchFamily="18" charset="0"/>
              </a:rPr>
              <a:t>. בעקבות החלטת הממשלה להתערב בשוק ולגבות מס של 4 ש"ח לכל יחידה.</a:t>
            </a:r>
            <a:br>
              <a:rPr lang="he-IL" dirty="0">
                <a:solidFill>
                  <a:srgbClr val="222222"/>
                </a:solidFill>
                <a:latin typeface="Times New Roman" panose="02020603050405020304" pitchFamily="18" charset="0"/>
                <a:ea typeface="Times New Roman" panose="02020603050405020304" pitchFamily="18" charset="0"/>
              </a:rPr>
            </a:br>
            <a:endParaRPr lang="en-IL" dirty="0"/>
          </a:p>
        </p:txBody>
      </p:sp>
      <p:sp>
        <p:nvSpPr>
          <p:cNvPr id="7" name="TextBox 6">
            <a:extLst>
              <a:ext uri="{FF2B5EF4-FFF2-40B4-BE49-F238E27FC236}">
                <a16:creationId xmlns:a16="http://schemas.microsoft.com/office/drawing/2014/main" id="{D29C2797-6925-4367-9AD2-60CA9A2B7E79}"/>
              </a:ext>
            </a:extLst>
          </p:cNvPr>
          <p:cNvSpPr txBox="1"/>
          <p:nvPr/>
        </p:nvSpPr>
        <p:spPr>
          <a:xfrm>
            <a:off x="827584" y="3616971"/>
            <a:ext cx="4649188" cy="873316"/>
          </a:xfrm>
          <a:prstGeom prst="rect">
            <a:avLst/>
          </a:prstGeom>
          <a:noFill/>
        </p:spPr>
        <p:txBody>
          <a:bodyPr wrap="square">
            <a:spAutoFit/>
          </a:bodyPr>
          <a:lstStyle/>
          <a:p>
            <a:pPr algn="r" rtl="1">
              <a:lnSpc>
                <a:spcPct val="150000"/>
              </a:lnSpc>
            </a:pPr>
            <a:r>
              <a:rPr lang="he-IL"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לפני הטלת המס: </a:t>
            </a:r>
            <a:endParaRPr lang="en-IL" sz="1800" dirty="0">
              <a:effectLst/>
              <a:latin typeface="Times New Roman" panose="02020603050405020304" pitchFamily="18" charset="0"/>
              <a:ea typeface="SimSun" panose="02010600030101010101" pitchFamily="2" charset="-122"/>
            </a:endParaRPr>
          </a:p>
          <a:p>
            <a:pPr algn="l" rtl="1">
              <a:lnSpc>
                <a:spcPct val="150000"/>
              </a:lnSpc>
            </a:pP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P=20-X= X  </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sym typeface="Wingdings" panose="05000000000000000000" pitchFamily="2" charset="2"/>
              </a:rPr>
              <a:t></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 20=2X  </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sym typeface="Wingdings" panose="05000000000000000000" pitchFamily="2" charset="2"/>
              </a:rPr>
              <a:t></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 </a:t>
            </a:r>
            <a:r>
              <a:rPr lang="en-US" sz="1800" b="1"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X=10, Px=10</a:t>
            </a:r>
            <a:endParaRPr lang="en-IL" sz="1800" b="1" dirty="0">
              <a:effectLst/>
              <a:latin typeface="Times New Roman" panose="02020603050405020304" pitchFamily="18" charset="0"/>
              <a:ea typeface="SimSun" panose="02010600030101010101" pitchFamily="2" charset="-122"/>
            </a:endParaRPr>
          </a:p>
        </p:txBody>
      </p:sp>
      <p:sp>
        <p:nvSpPr>
          <p:cNvPr id="9" name="TextBox 8">
            <a:extLst>
              <a:ext uri="{FF2B5EF4-FFF2-40B4-BE49-F238E27FC236}">
                <a16:creationId xmlns:a16="http://schemas.microsoft.com/office/drawing/2014/main" id="{D2EC4CD6-E06F-4F72-ADC6-23795A4384F7}"/>
              </a:ext>
            </a:extLst>
          </p:cNvPr>
          <p:cNvSpPr txBox="1"/>
          <p:nvPr/>
        </p:nvSpPr>
        <p:spPr>
          <a:xfrm>
            <a:off x="827584" y="4654257"/>
            <a:ext cx="4649188" cy="784830"/>
          </a:xfrm>
          <a:prstGeom prst="rect">
            <a:avLst/>
          </a:prstGeom>
          <a:noFill/>
        </p:spPr>
        <p:txBody>
          <a:bodyPr wrap="square">
            <a:spAutoFit/>
          </a:bodyPr>
          <a:lstStyle/>
          <a:p>
            <a:pPr algn="r" rtl="1">
              <a:lnSpc>
                <a:spcPct val="150000"/>
              </a:lnSpc>
            </a:pPr>
            <a:r>
              <a:rPr lang="he-IL"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לאחר הטלת המס:</a:t>
            </a:r>
            <a:endParaRPr lang="en-IL" sz="1800" dirty="0">
              <a:effectLst/>
              <a:latin typeface="Times New Roman" panose="02020603050405020304" pitchFamily="18" charset="0"/>
              <a:ea typeface="SimSun" panose="02010600030101010101" pitchFamily="2" charset="-122"/>
            </a:endParaRPr>
          </a:p>
          <a:p>
            <a:pPr algn="l"/>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20-X=X</a:t>
            </a:r>
            <a:r>
              <a:rPr lang="en-US" sz="1800" b="1" dirty="0">
                <a:solidFill>
                  <a:srgbClr val="C00000"/>
                </a:solidFill>
                <a:effectLst/>
                <a:latin typeface="Times New Roman" panose="02020603050405020304" pitchFamily="18" charset="0"/>
                <a:ea typeface="Times New Roman" panose="02020603050405020304" pitchFamily="18" charset="0"/>
                <a:cs typeface="David" panose="020E0502060401010101" pitchFamily="34" charset="-79"/>
              </a:rPr>
              <a:t>+4</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 </a:t>
            </a:r>
            <a:endParaRPr lang="en-IL" dirty="0"/>
          </a:p>
        </p:txBody>
      </p:sp>
      <p:sp>
        <p:nvSpPr>
          <p:cNvPr id="13" name="TextBox 12">
            <a:extLst>
              <a:ext uri="{FF2B5EF4-FFF2-40B4-BE49-F238E27FC236}">
                <a16:creationId xmlns:a16="http://schemas.microsoft.com/office/drawing/2014/main" id="{FD6D9BE1-AA6D-4436-BB57-99615BC0D748}"/>
              </a:ext>
            </a:extLst>
          </p:cNvPr>
          <p:cNvSpPr txBox="1"/>
          <p:nvPr/>
        </p:nvSpPr>
        <p:spPr>
          <a:xfrm>
            <a:off x="320897" y="5625860"/>
            <a:ext cx="2016224" cy="369332"/>
          </a:xfrm>
          <a:prstGeom prst="rect">
            <a:avLst/>
          </a:prstGeom>
          <a:noFill/>
        </p:spPr>
        <p:txBody>
          <a:bodyPr wrap="square">
            <a:spAutoFit/>
          </a:bodyPr>
          <a:lstStyle/>
          <a:p>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16=2X  </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sym typeface="Wingdings" panose="05000000000000000000" pitchFamily="2" charset="2"/>
              </a:rPr>
              <a:t></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 X=8</a:t>
            </a:r>
            <a:endParaRPr lang="en-IL" dirty="0"/>
          </a:p>
        </p:txBody>
      </p:sp>
      <p:sp>
        <p:nvSpPr>
          <p:cNvPr id="15" name="TextBox 14">
            <a:extLst>
              <a:ext uri="{FF2B5EF4-FFF2-40B4-BE49-F238E27FC236}">
                <a16:creationId xmlns:a16="http://schemas.microsoft.com/office/drawing/2014/main" id="{2E3661A6-EB8E-4AF0-91B7-4AAF0F6461D4}"/>
              </a:ext>
            </a:extLst>
          </p:cNvPr>
          <p:cNvSpPr txBox="1"/>
          <p:nvPr/>
        </p:nvSpPr>
        <p:spPr>
          <a:xfrm>
            <a:off x="2337121" y="5752723"/>
            <a:ext cx="2016225" cy="369332"/>
          </a:xfrm>
          <a:prstGeom prst="rect">
            <a:avLst/>
          </a:prstGeom>
          <a:noFill/>
        </p:spPr>
        <p:txBody>
          <a:bodyPr wrap="square">
            <a:spAutoFit/>
          </a:bodyPr>
          <a:lstStyle/>
          <a:p>
            <a:pPr algn="r" rtl="0"/>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P</a:t>
            </a:r>
            <a:r>
              <a:rPr lang="he-IL"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צרכן</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a:t>
            </a:r>
            <a:r>
              <a:rPr lang="en-US" sz="1800" dirty="0">
                <a:solidFill>
                  <a:srgbClr val="002060"/>
                </a:solidFill>
                <a:effectLst/>
                <a:latin typeface="Times New Roman" panose="02020603050405020304" pitchFamily="18" charset="0"/>
                <a:ea typeface="Times New Roman" panose="02020603050405020304" pitchFamily="18" charset="0"/>
                <a:cs typeface="David" panose="020E0502060401010101" pitchFamily="34" charset="-79"/>
              </a:rPr>
              <a:t>20-8</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a:t>
            </a:r>
            <a:r>
              <a:rPr lang="en-US" sz="1800" b="1"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12</a:t>
            </a:r>
            <a:endParaRPr lang="en-IL" b="1" dirty="0"/>
          </a:p>
        </p:txBody>
      </p:sp>
      <p:sp>
        <p:nvSpPr>
          <p:cNvPr id="17" name="TextBox 16">
            <a:extLst>
              <a:ext uri="{FF2B5EF4-FFF2-40B4-BE49-F238E27FC236}">
                <a16:creationId xmlns:a16="http://schemas.microsoft.com/office/drawing/2014/main" id="{0AD42803-70C2-49B0-8610-871C81DD8E36}"/>
              </a:ext>
            </a:extLst>
          </p:cNvPr>
          <p:cNvSpPr txBox="1"/>
          <p:nvPr/>
        </p:nvSpPr>
        <p:spPr>
          <a:xfrm>
            <a:off x="2754809" y="6180138"/>
            <a:ext cx="1329779" cy="369332"/>
          </a:xfrm>
          <a:prstGeom prst="rect">
            <a:avLst/>
          </a:prstGeom>
          <a:noFill/>
        </p:spPr>
        <p:txBody>
          <a:bodyPr wrap="square">
            <a:spAutoFit/>
          </a:bodyPr>
          <a:lstStyle/>
          <a:p>
            <a:pPr algn="l" rtl="0"/>
            <a:r>
              <a:rPr lang="en-US" sz="1800" dirty="0">
                <a:solidFill>
                  <a:schemeClr val="accent6">
                    <a:lumMod val="75000"/>
                  </a:schemeClr>
                </a:solidFill>
                <a:effectLst/>
                <a:latin typeface="Times New Roman" panose="02020603050405020304" pitchFamily="18" charset="0"/>
                <a:ea typeface="Times New Roman" panose="02020603050405020304" pitchFamily="18" charset="0"/>
                <a:cs typeface="David" panose="020E0502060401010101" pitchFamily="34" charset="-79"/>
              </a:rPr>
              <a:t>P</a:t>
            </a:r>
            <a:r>
              <a:rPr lang="he-IL" sz="1800" dirty="0">
                <a:solidFill>
                  <a:schemeClr val="accent6">
                    <a:lumMod val="75000"/>
                  </a:schemeClr>
                </a:solidFill>
                <a:effectLst/>
                <a:latin typeface="Times New Roman" panose="02020603050405020304" pitchFamily="18" charset="0"/>
                <a:ea typeface="Times New Roman" panose="02020603050405020304" pitchFamily="18" charset="0"/>
                <a:cs typeface="David" panose="020E0502060401010101" pitchFamily="34" charset="-79"/>
              </a:rPr>
              <a:t>יצרן</a:t>
            </a:r>
            <a:r>
              <a:rPr lang="en-US" sz="1800" dirty="0">
                <a:solidFill>
                  <a:schemeClr val="accent6">
                    <a:lumMod val="75000"/>
                  </a:schemeClr>
                </a:solidFill>
                <a:effectLst/>
                <a:latin typeface="Times New Roman" panose="02020603050405020304" pitchFamily="18" charset="0"/>
                <a:ea typeface="Times New Roman" panose="02020603050405020304" pitchFamily="18" charset="0"/>
                <a:cs typeface="David" panose="020E0502060401010101" pitchFamily="34" charset="-79"/>
              </a:rPr>
              <a:t>=X</a:t>
            </a:r>
            <a:r>
              <a:rPr lang="en-US"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=8</a:t>
            </a:r>
            <a:endParaRPr lang="en-IL" dirty="0"/>
          </a:p>
        </p:txBody>
      </p:sp>
      <p:sp>
        <p:nvSpPr>
          <p:cNvPr id="19" name="TextBox 18">
            <a:extLst>
              <a:ext uri="{FF2B5EF4-FFF2-40B4-BE49-F238E27FC236}">
                <a16:creationId xmlns:a16="http://schemas.microsoft.com/office/drawing/2014/main" id="{C287EDE3-675D-4800-A193-DFD6E0C8ACC5}"/>
              </a:ext>
            </a:extLst>
          </p:cNvPr>
          <p:cNvSpPr txBox="1"/>
          <p:nvPr/>
        </p:nvSpPr>
        <p:spPr>
          <a:xfrm>
            <a:off x="4775969" y="5265190"/>
            <a:ext cx="4099278" cy="1301190"/>
          </a:xfrm>
          <a:prstGeom prst="rect">
            <a:avLst/>
          </a:prstGeom>
          <a:solidFill>
            <a:schemeClr val="accent4">
              <a:lumMod val="20000"/>
              <a:lumOff val="80000"/>
            </a:schemeClr>
          </a:solidFill>
        </p:spPr>
        <p:txBody>
          <a:bodyPr wrap="square">
            <a:spAutoFit/>
          </a:bodyPr>
          <a:lstStyle/>
          <a:p>
            <a:pPr algn="ctr" rtl="0">
              <a:lnSpc>
                <a:spcPct val="150000"/>
              </a:lnSpc>
            </a:pPr>
            <a:r>
              <a:rPr lang="he-IL"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הכנסות הממשלה ממס: </a:t>
            </a:r>
          </a:p>
          <a:p>
            <a:pPr algn="ctr" rtl="0">
              <a:lnSpc>
                <a:spcPct val="150000"/>
              </a:lnSpc>
            </a:pPr>
            <a:r>
              <a:rPr lang="he-IL"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גובה המס*כמות מיוצרת לאחר הטלת המס=</a:t>
            </a:r>
          </a:p>
          <a:p>
            <a:pPr algn="ctr" rtl="0">
              <a:lnSpc>
                <a:spcPct val="150000"/>
              </a:lnSpc>
            </a:pPr>
            <a:r>
              <a:rPr lang="he-IL" sz="1800" dirty="0">
                <a:solidFill>
                  <a:srgbClr val="222222"/>
                </a:solidFill>
                <a:effectLst/>
                <a:latin typeface="Times New Roman" panose="02020603050405020304" pitchFamily="18" charset="0"/>
                <a:ea typeface="Times New Roman" panose="02020603050405020304" pitchFamily="18" charset="0"/>
                <a:cs typeface="David" panose="020E0502060401010101" pitchFamily="34" charset="-79"/>
              </a:rPr>
              <a:t> 4*8=32 ש''ח. </a:t>
            </a:r>
            <a:endParaRPr lang="en-IL"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258146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animEffect transition="in" filter="fade">
                                      <p:cBhvr>
                                        <p:cTn id="20" dur="500"/>
                                        <p:tgtEl>
                                          <p:spTgt spid="15">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randombar(horizontal)">
                                      <p:cBhvr>
                                        <p:cTn id="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3" grpId="0"/>
      <p:bldP spid="17" grpId="0"/>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a:extLst>
              <a:ext uri="{FF2B5EF4-FFF2-40B4-BE49-F238E27FC236}">
                <a16:creationId xmlns:a16="http://schemas.microsoft.com/office/drawing/2014/main" id="{D0259014-3BC3-4AA5-AC71-382C9A1AD82F}"/>
              </a:ext>
            </a:extLst>
          </p:cNvPr>
          <p:cNvSpPr>
            <a:spLocks noGrp="1"/>
          </p:cNvSpPr>
          <p:nvPr>
            <p:ph type="title"/>
          </p:nvPr>
        </p:nvSpPr>
        <p:spPr>
          <a:xfrm>
            <a:off x="2627785" y="0"/>
            <a:ext cx="6507568" cy="1143000"/>
          </a:xfrm>
        </p:spPr>
        <p:txBody>
          <a:bodyPr/>
          <a:lstStyle/>
          <a:p>
            <a:pPr algn="r"/>
            <a:r>
              <a:rPr lang="he-IL" b="1" dirty="0">
                <a:solidFill>
                  <a:schemeClr val="tx2">
                    <a:lumMod val="75000"/>
                  </a:schemeClr>
                </a:solidFill>
              </a:rPr>
              <a:t>שאלה 3</a:t>
            </a:r>
            <a:endParaRPr lang="he-IL" dirty="0"/>
          </a:p>
        </p:txBody>
      </p:sp>
      <p:sp>
        <p:nvSpPr>
          <p:cNvPr id="6" name="TextBox 5">
            <a:extLst>
              <a:ext uri="{FF2B5EF4-FFF2-40B4-BE49-F238E27FC236}">
                <a16:creationId xmlns:a16="http://schemas.microsoft.com/office/drawing/2014/main" id="{700EEA05-B831-433E-8B4B-380E715E1BCA}"/>
              </a:ext>
            </a:extLst>
          </p:cNvPr>
          <p:cNvSpPr txBox="1"/>
          <p:nvPr/>
        </p:nvSpPr>
        <p:spPr>
          <a:xfrm>
            <a:off x="395536" y="1268760"/>
            <a:ext cx="8508633" cy="3378682"/>
          </a:xfrm>
          <a:prstGeom prst="rect">
            <a:avLst/>
          </a:prstGeom>
          <a:noFill/>
        </p:spPr>
        <p:txBody>
          <a:bodyPr wrap="square">
            <a:spAutoFit/>
          </a:bodyPr>
          <a:lstStyle/>
          <a:p>
            <a:pPr algn="just"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הממשלה החליטה להטיל מס בגובה של 10 ש"ח על כל יחידת </a:t>
            </a:r>
            <a:r>
              <a:rPr lang="en-US" sz="1800" dirty="0">
                <a:effectLst/>
                <a:latin typeface="Times New Roman" panose="02020603050405020304" pitchFamily="18" charset="0"/>
                <a:ea typeface="SimSun" panose="02010600030101010101" pitchFamily="2" charset="-122"/>
                <a:cs typeface="David" panose="020E0502060401010101" pitchFamily="34" charset="-79"/>
              </a:rPr>
              <a:t>X</a:t>
            </a:r>
            <a:r>
              <a:rPr lang="he-IL" sz="1800" dirty="0">
                <a:effectLst/>
                <a:latin typeface="Times New Roman" panose="02020603050405020304" pitchFamily="18" charset="0"/>
                <a:ea typeface="SimSun" panose="02010600030101010101" pitchFamily="2" charset="-122"/>
                <a:cs typeface="David" panose="020E0502060401010101" pitchFamily="34" charset="-79"/>
              </a:rPr>
              <a:t> נמכרת. לא ידוע כיצד נראות עקומות הביקוש וההיצע בשוק. מנתונים אלו בלבד (ללא כל הנחות נוספות) נוכל להסיק כי בהכרח: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המחיר ליצרן בהכרח ירד, גם אם עקומת הביקוש הינה קשיחה לחלוטין או גמישה לחלוטין (מקבילה לציר האופקי). </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יווצר פער של 10 ש"ח בין המחיר ליצרן לבין המחיר לצרכן רק אם הביקוש למוצר קשיח לחלוטין</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לא יווצר כל פער בין המחיר ליצרן לבין המחיר לצרכן אם הביקוש למוצר גמיש לחלוטין. </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תמיד יווצר פער של 10 ש"ח בין המחיר ליצרן לבין המחיר לצרכן</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כל התשובות האחרות אינן נכונות</a:t>
            </a:r>
            <a:endParaRPr lang="en-IL"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898209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a:extLst>
              <a:ext uri="{FF2B5EF4-FFF2-40B4-BE49-F238E27FC236}">
                <a16:creationId xmlns:a16="http://schemas.microsoft.com/office/drawing/2014/main" id="{D0259014-3BC3-4AA5-AC71-382C9A1AD82F}"/>
              </a:ext>
            </a:extLst>
          </p:cNvPr>
          <p:cNvSpPr>
            <a:spLocks noGrp="1"/>
          </p:cNvSpPr>
          <p:nvPr>
            <p:ph type="title"/>
          </p:nvPr>
        </p:nvSpPr>
        <p:spPr>
          <a:xfrm>
            <a:off x="2627785" y="0"/>
            <a:ext cx="6507568" cy="1143000"/>
          </a:xfrm>
        </p:spPr>
        <p:txBody>
          <a:bodyPr/>
          <a:lstStyle/>
          <a:p>
            <a:pPr algn="r"/>
            <a:r>
              <a:rPr lang="he-IL" b="1" dirty="0">
                <a:solidFill>
                  <a:schemeClr val="tx2">
                    <a:lumMod val="75000"/>
                  </a:schemeClr>
                </a:solidFill>
              </a:rPr>
              <a:t>שאלה 3</a:t>
            </a:r>
            <a:endParaRPr lang="he-IL" dirty="0"/>
          </a:p>
        </p:txBody>
      </p:sp>
      <p:sp>
        <p:nvSpPr>
          <p:cNvPr id="6" name="TextBox 5">
            <a:extLst>
              <a:ext uri="{FF2B5EF4-FFF2-40B4-BE49-F238E27FC236}">
                <a16:creationId xmlns:a16="http://schemas.microsoft.com/office/drawing/2014/main" id="{700EEA05-B831-433E-8B4B-380E715E1BCA}"/>
              </a:ext>
            </a:extLst>
          </p:cNvPr>
          <p:cNvSpPr txBox="1"/>
          <p:nvPr/>
        </p:nvSpPr>
        <p:spPr>
          <a:xfrm>
            <a:off x="467544" y="2487144"/>
            <a:ext cx="8508633" cy="2274918"/>
          </a:xfrm>
          <a:prstGeom prst="rect">
            <a:avLst/>
          </a:prstGeom>
          <a:noFill/>
        </p:spPr>
        <p:txBody>
          <a:bodyPr wrap="square">
            <a:spAutoFit/>
          </a:bodyPr>
          <a:lstStyle/>
          <a:p>
            <a:pPr marL="342900" lvl="0" indent="-342900" algn="just" rtl="1">
              <a:lnSpc>
                <a:spcPct val="150000"/>
              </a:lnSpc>
              <a:buFont typeface="+mj-lt"/>
              <a:buAutoNum type="arabicPeriod"/>
            </a:pPr>
            <a:r>
              <a:rPr lang="he-IL" sz="1600" dirty="0">
                <a:effectLst/>
                <a:latin typeface="Times New Roman" panose="02020603050405020304" pitchFamily="18" charset="0"/>
                <a:ea typeface="SimSun" panose="02010600030101010101" pitchFamily="2" charset="-122"/>
                <a:cs typeface="David" panose="020E0502060401010101" pitchFamily="34" charset="-79"/>
              </a:rPr>
              <a:t>המחיר ליצרן בהכרח ירד, גם אם עקומת הביקוש הינה קשיחה לחלוטין או גמישה לחלוטין (מקבילה לציר האופקי). </a:t>
            </a:r>
            <a:endParaRPr lang="en-IL" sz="16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600" dirty="0">
                <a:effectLst/>
                <a:latin typeface="Times New Roman" panose="02020603050405020304" pitchFamily="18" charset="0"/>
                <a:ea typeface="SimSun" panose="02010600030101010101" pitchFamily="2" charset="-122"/>
                <a:cs typeface="David" panose="020E0502060401010101" pitchFamily="34" charset="-79"/>
              </a:rPr>
              <a:t>יווצר פער של 10 ש"ח בין המחיר ליצרן לבין המחיר לצרכן רק אם הביקוש למוצר קשיח לחלוטין</a:t>
            </a:r>
            <a:endParaRPr lang="en-IL" sz="16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600" dirty="0">
                <a:effectLst/>
                <a:latin typeface="Times New Roman" panose="02020603050405020304" pitchFamily="18" charset="0"/>
                <a:ea typeface="SimSun" panose="02010600030101010101" pitchFamily="2" charset="-122"/>
                <a:cs typeface="David" panose="020E0502060401010101" pitchFamily="34" charset="-79"/>
              </a:rPr>
              <a:t>לא יווצר כל פער בין המחיר ליצרן לבין המחיר לצרכן אם הביקוש למוצר גמיש לחלוטין. </a:t>
            </a:r>
            <a:endParaRPr lang="en-IL" sz="16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600" b="1" dirty="0">
                <a:effectLst/>
                <a:highlight>
                  <a:srgbClr val="FFFF00"/>
                </a:highlight>
                <a:latin typeface="Times New Roman" panose="02020603050405020304" pitchFamily="18" charset="0"/>
                <a:ea typeface="SimSun" panose="02010600030101010101" pitchFamily="2" charset="-122"/>
                <a:cs typeface="David" panose="020E0502060401010101" pitchFamily="34" charset="-79"/>
              </a:rPr>
              <a:t>תמיד יווצר פער של 10 ש"ח בין המחיר ליצרן לבין המחיר לצרכן</a:t>
            </a:r>
            <a:endParaRPr lang="en-IL" sz="1600" b="1" dirty="0">
              <a:effectLst/>
              <a:highlight>
                <a:srgbClr val="FFFF00"/>
              </a:highligh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600" dirty="0">
                <a:effectLst/>
                <a:latin typeface="Times New Roman" panose="02020603050405020304" pitchFamily="18" charset="0"/>
                <a:ea typeface="SimSun" panose="02010600030101010101" pitchFamily="2" charset="-122"/>
                <a:cs typeface="David" panose="020E0502060401010101" pitchFamily="34" charset="-79"/>
              </a:rPr>
              <a:t>כל התשובות האחרות אינן נכונות</a:t>
            </a:r>
            <a:endParaRPr lang="en-IL" sz="1600" dirty="0">
              <a:effectLst/>
              <a:latin typeface="Times New Roman" panose="02020603050405020304" pitchFamily="18" charset="0"/>
              <a:ea typeface="SimSun" panose="02010600030101010101" pitchFamily="2" charset="-122"/>
            </a:endParaRPr>
          </a:p>
        </p:txBody>
      </p:sp>
      <p:sp>
        <p:nvSpPr>
          <p:cNvPr id="5" name="TextBox 4">
            <a:extLst>
              <a:ext uri="{FF2B5EF4-FFF2-40B4-BE49-F238E27FC236}">
                <a16:creationId xmlns:a16="http://schemas.microsoft.com/office/drawing/2014/main" id="{7C96B3EE-5D4F-4581-8054-BE387BAF4D2B}"/>
              </a:ext>
            </a:extLst>
          </p:cNvPr>
          <p:cNvSpPr txBox="1"/>
          <p:nvPr/>
        </p:nvSpPr>
        <p:spPr>
          <a:xfrm>
            <a:off x="611560" y="476672"/>
            <a:ext cx="4649188" cy="1716688"/>
          </a:xfrm>
          <a:prstGeom prst="rect">
            <a:avLst/>
          </a:prstGeom>
          <a:noFill/>
        </p:spPr>
        <p:txBody>
          <a:bodyPr wrap="square">
            <a:spAutoFit/>
          </a:bodyPr>
          <a:lstStyle/>
          <a:p>
            <a:pPr rtl="1">
              <a:lnSpc>
                <a:spcPct val="150000"/>
              </a:lnSpc>
            </a:pPr>
            <a:r>
              <a:rPr lang="he-IL" sz="1800" dirty="0">
                <a:effectLst/>
                <a:latin typeface="Times New Roman" panose="02020603050405020304" pitchFamily="18" charset="0"/>
                <a:ea typeface="SimSun" panose="02010600030101010101" pitchFamily="2" charset="-122"/>
                <a:cs typeface="David" panose="020E0502060401010101" pitchFamily="34" charset="-79"/>
              </a:rPr>
              <a:t>הממשלה החליטה להטיל מס בגובה של 10 ש"ח על כל יחידת </a:t>
            </a:r>
            <a:r>
              <a:rPr lang="en-US" sz="1800" dirty="0">
                <a:effectLst/>
                <a:latin typeface="Times New Roman" panose="02020603050405020304" pitchFamily="18" charset="0"/>
                <a:ea typeface="SimSun" panose="02010600030101010101" pitchFamily="2" charset="-122"/>
                <a:cs typeface="David" panose="020E0502060401010101" pitchFamily="34" charset="-79"/>
              </a:rPr>
              <a:t>X</a:t>
            </a:r>
            <a:r>
              <a:rPr lang="he-IL" sz="1800" dirty="0">
                <a:effectLst/>
                <a:latin typeface="Times New Roman" panose="02020603050405020304" pitchFamily="18" charset="0"/>
                <a:ea typeface="SimSun" panose="02010600030101010101" pitchFamily="2" charset="-122"/>
                <a:cs typeface="David" panose="020E0502060401010101" pitchFamily="34" charset="-79"/>
              </a:rPr>
              <a:t> נמכרת. לא ידוע כיצד נראות עקומות הביקוש וההיצע בשוק. מנתונים אלו בלבד (ללא כל הנחות נוספות) נוכל להסיק כי בהכרח:</a:t>
            </a:r>
            <a:endParaRPr lang="en-IL" sz="1800" dirty="0">
              <a:effectLst/>
              <a:latin typeface="Times New Roman" panose="02020603050405020304" pitchFamily="18" charset="0"/>
              <a:ea typeface="SimSun" panose="02010600030101010101" pitchFamily="2" charset="-122"/>
            </a:endParaRPr>
          </a:p>
        </p:txBody>
      </p:sp>
      <p:sp>
        <p:nvSpPr>
          <p:cNvPr id="7" name="TextBox 6">
            <a:extLst>
              <a:ext uri="{FF2B5EF4-FFF2-40B4-BE49-F238E27FC236}">
                <a16:creationId xmlns:a16="http://schemas.microsoft.com/office/drawing/2014/main" id="{4E56F113-2FAE-4706-B20B-F893EB2E41EA}"/>
              </a:ext>
            </a:extLst>
          </p:cNvPr>
          <p:cNvSpPr txBox="1"/>
          <p:nvPr/>
        </p:nvSpPr>
        <p:spPr>
          <a:xfrm>
            <a:off x="239831" y="5328613"/>
            <a:ext cx="8508633" cy="1201996"/>
          </a:xfrm>
          <a:prstGeom prst="rect">
            <a:avLst/>
          </a:prstGeom>
          <a:solidFill>
            <a:schemeClr val="accent1">
              <a:lumMod val="20000"/>
              <a:lumOff val="80000"/>
            </a:schemeClr>
          </a:solidFill>
        </p:spPr>
        <p:txBody>
          <a:bodyPr wrap="square">
            <a:spAutoFit/>
          </a:bodyPr>
          <a:lstStyle/>
          <a:p>
            <a:pPr algn="r" rtl="1">
              <a:lnSpc>
                <a:spcPct val="150000"/>
              </a:lnSpc>
            </a:pPr>
            <a:r>
              <a:rPr lang="he-IL" sz="1800" b="1" dirty="0">
                <a:effectLst/>
                <a:highlight>
                  <a:srgbClr val="FFFF00"/>
                </a:highlight>
                <a:latin typeface="Times New Roman" panose="02020603050405020304" pitchFamily="18" charset="0"/>
                <a:ea typeface="SimSun" panose="02010600030101010101" pitchFamily="2" charset="-122"/>
              </a:rPr>
              <a:t>הסבר:</a:t>
            </a:r>
            <a:r>
              <a:rPr lang="he-IL" sz="1800" dirty="0">
                <a:effectLst/>
                <a:latin typeface="Times New Roman" panose="02020603050405020304" pitchFamily="18" charset="0"/>
                <a:ea typeface="SimSun" panose="02010600030101010101" pitchFamily="2" charset="-122"/>
              </a:rPr>
              <a:t> </a:t>
            </a:r>
            <a:br>
              <a:rPr lang="he-IL" sz="1800" dirty="0">
                <a:effectLst/>
                <a:latin typeface="Times New Roman" panose="02020603050405020304" pitchFamily="18" charset="0"/>
                <a:ea typeface="SimSun" panose="02010600030101010101" pitchFamily="2" charset="-122"/>
              </a:rPr>
            </a:br>
            <a:r>
              <a:rPr lang="he-IL" sz="1600" dirty="0">
                <a:effectLst/>
                <a:latin typeface="Times New Roman" panose="02020603050405020304" pitchFamily="18" charset="0"/>
                <a:ea typeface="SimSun" panose="02010600030101010101" pitchFamily="2" charset="-122"/>
              </a:rPr>
              <a:t>אם עקומת הביקוש קשיחה לחלוטין, אזי המחיר לצרכן יעלה ב10 ש''ח והמחיר ליצרן ישאר ללא שינוי.</a:t>
            </a:r>
            <a:br>
              <a:rPr lang="he-IL" sz="1600" dirty="0">
                <a:effectLst/>
                <a:latin typeface="Times New Roman" panose="02020603050405020304" pitchFamily="18" charset="0"/>
                <a:ea typeface="SimSun" panose="02010600030101010101" pitchFamily="2" charset="-122"/>
              </a:rPr>
            </a:br>
            <a:r>
              <a:rPr lang="he-IL" sz="1600" dirty="0">
                <a:effectLst/>
                <a:latin typeface="Times New Roman" panose="02020603050405020304" pitchFamily="18" charset="0"/>
                <a:ea typeface="SimSun" panose="02010600030101010101" pitchFamily="2" charset="-122"/>
              </a:rPr>
              <a:t>אם עקומת הביקוש גמישה לחלוטין, אזי המחיר לצרכן ישאר ללא שינוי והמחיר ליצרן ירד ב10 ש''ח. </a:t>
            </a:r>
            <a:endParaRPr lang="en-IL"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573724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9E7C7B-8515-444D-88B8-E3DAEEC6A5F4}"/>
              </a:ext>
            </a:extLst>
          </p:cNvPr>
          <p:cNvSpPr>
            <a:spLocks noGrp="1"/>
          </p:cNvSpPr>
          <p:nvPr>
            <p:ph idx="1"/>
          </p:nvPr>
        </p:nvSpPr>
        <p:spPr>
          <a:xfrm>
            <a:off x="611560" y="1153603"/>
            <a:ext cx="8390756" cy="4351338"/>
          </a:xfrm>
        </p:spPr>
        <p:txBody>
          <a:bodyPr/>
          <a:lstStyle/>
          <a:p>
            <a:pPr marL="0" indent="0" algn="just" rtl="1">
              <a:lnSpc>
                <a:spcPct val="150000"/>
              </a:lnSpc>
              <a:buNone/>
            </a:pPr>
            <a:r>
              <a:rPr lang="he-IL" sz="1800" dirty="0">
                <a:effectLst/>
                <a:latin typeface="Times New Roman" panose="02020603050405020304" pitchFamily="18" charset="0"/>
                <a:ea typeface="SimSun" panose="02010600030101010101" pitchFamily="2" charset="-122"/>
                <a:cs typeface="David" panose="020E0502060401010101" pitchFamily="34" charset="-79"/>
              </a:rPr>
              <a:t>עקומת ההיצע בשוק מוצר</a:t>
            </a:r>
            <a:r>
              <a:rPr lang="en-US" sz="1800" dirty="0">
                <a:effectLst/>
                <a:latin typeface="Times New Roman" panose="02020603050405020304" pitchFamily="18" charset="0"/>
                <a:ea typeface="SimSun" panose="02010600030101010101" pitchFamily="2" charset="-122"/>
                <a:cs typeface="David" panose="020E0502060401010101" pitchFamily="34" charset="-79"/>
              </a:rPr>
              <a:t> X </a:t>
            </a:r>
            <a:r>
              <a:rPr lang="he-IL" sz="1800" dirty="0">
                <a:effectLst/>
                <a:latin typeface="Times New Roman" panose="02020603050405020304" pitchFamily="18" charset="0"/>
                <a:ea typeface="SimSun" panose="02010600030101010101" pitchFamily="2" charset="-122"/>
                <a:cs typeface="David" panose="020E0502060401010101" pitchFamily="34" charset="-79"/>
              </a:rPr>
              <a:t>היא</a:t>
            </a:r>
            <a:r>
              <a:rPr lang="en-US" sz="1800" dirty="0">
                <a:effectLst/>
                <a:latin typeface="Times New Roman" panose="02020603050405020304" pitchFamily="18" charset="0"/>
                <a:ea typeface="SimSun" panose="02010600030101010101" pitchFamily="2" charset="-122"/>
                <a:cs typeface="David" panose="020E0502060401010101" pitchFamily="34" charset="-79"/>
              </a:rPr>
              <a:t> Q = 20P </a:t>
            </a:r>
            <a:r>
              <a:rPr lang="he-IL" sz="1800" dirty="0">
                <a:effectLst/>
                <a:latin typeface="Times New Roman" panose="02020603050405020304" pitchFamily="18" charset="0"/>
                <a:ea typeface="SimSun" panose="02010600030101010101" pitchFamily="2" charset="-122"/>
                <a:cs typeface="David" panose="020E0502060401010101" pitchFamily="34" charset="-79"/>
              </a:rPr>
              <a:t>והצרכנים מעוניינים להוציא סכום קבוע של 4,000 ש"ח לרכישת המוצר ללא תלות במחירו. הממשלה הטילה מס בסכום קבוע ליחידה וידוע שלאחר הטלת המס המחיר שמשלם הצרכן עבור כל יחידה הוא כפול מהמחיר שמקבל היצרן עבור כל יחידה. תקבולי הממשלה מהמס הם:</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tabLst>
                <a:tab pos="245110" algn="l"/>
              </a:tabLst>
            </a:pPr>
            <a:r>
              <a:rPr lang="he-IL" sz="1800" dirty="0">
                <a:effectLst/>
                <a:latin typeface="Times New Roman" panose="02020603050405020304" pitchFamily="18" charset="0"/>
                <a:ea typeface="SimSun" panose="02010600030101010101" pitchFamily="2" charset="-122"/>
                <a:cs typeface="David" panose="020E0502060401010101" pitchFamily="34" charset="-79"/>
              </a:rPr>
              <a:t>2,000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1,500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500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1,000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כל התשובות האחרות אינן נכונות</a:t>
            </a:r>
            <a:endParaRPr lang="en-IL" sz="1800" dirty="0">
              <a:effectLst/>
              <a:latin typeface="Times New Roman" panose="02020603050405020304" pitchFamily="18" charset="0"/>
              <a:ea typeface="SimSun" panose="02010600030101010101" pitchFamily="2" charset="-122"/>
            </a:endParaRPr>
          </a:p>
          <a:p>
            <a:pPr marL="0" indent="0" algn="r" rtl="1">
              <a:buNone/>
            </a:pPr>
            <a:endParaRPr lang="en-IL" dirty="0"/>
          </a:p>
        </p:txBody>
      </p:sp>
      <p:sp>
        <p:nvSpPr>
          <p:cNvPr id="4" name="כותרת 1">
            <a:extLst>
              <a:ext uri="{FF2B5EF4-FFF2-40B4-BE49-F238E27FC236}">
                <a16:creationId xmlns:a16="http://schemas.microsoft.com/office/drawing/2014/main" id="{9EDEB52A-EF84-4575-AF5C-5E8144DCD858}"/>
              </a:ext>
            </a:extLst>
          </p:cNvPr>
          <p:cNvSpPr>
            <a:spLocks noGrp="1"/>
          </p:cNvSpPr>
          <p:nvPr>
            <p:ph type="title"/>
          </p:nvPr>
        </p:nvSpPr>
        <p:spPr>
          <a:xfrm>
            <a:off x="6901418" y="18330"/>
            <a:ext cx="2214960" cy="1143000"/>
          </a:xfrm>
        </p:spPr>
        <p:txBody>
          <a:bodyPr/>
          <a:lstStyle/>
          <a:p>
            <a:pPr algn="r"/>
            <a:r>
              <a:rPr lang="he-IL" b="1" dirty="0">
                <a:solidFill>
                  <a:schemeClr val="tx2">
                    <a:lumMod val="75000"/>
                  </a:schemeClr>
                </a:solidFill>
              </a:rPr>
              <a:t>שאלה 4</a:t>
            </a:r>
            <a:endParaRPr lang="he-IL" dirty="0"/>
          </a:p>
        </p:txBody>
      </p:sp>
    </p:spTree>
    <p:extLst>
      <p:ext uri="{BB962C8B-B14F-4D97-AF65-F5344CB8AC3E}">
        <p14:creationId xmlns:p14="http://schemas.microsoft.com/office/powerpoint/2010/main" val="819815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9E7C7B-8515-444D-88B8-E3DAEEC6A5F4}"/>
              </a:ext>
            </a:extLst>
          </p:cNvPr>
          <p:cNvSpPr>
            <a:spLocks noGrp="1"/>
          </p:cNvSpPr>
          <p:nvPr>
            <p:ph idx="1"/>
          </p:nvPr>
        </p:nvSpPr>
        <p:spPr>
          <a:xfrm>
            <a:off x="107504" y="188640"/>
            <a:ext cx="6552728" cy="1512168"/>
          </a:xfrm>
        </p:spPr>
        <p:txBody>
          <a:bodyPr>
            <a:normAutofit fontScale="92500" lnSpcReduction="20000"/>
          </a:bodyPr>
          <a:lstStyle/>
          <a:p>
            <a:pPr marL="0" indent="0" algn="just" rtl="1">
              <a:lnSpc>
                <a:spcPct val="150000"/>
              </a:lnSpc>
              <a:buNone/>
            </a:pPr>
            <a:r>
              <a:rPr lang="he-IL" sz="1800" dirty="0">
                <a:effectLst/>
                <a:latin typeface="Times New Roman" panose="02020603050405020304" pitchFamily="18" charset="0"/>
                <a:ea typeface="SimSun" panose="02010600030101010101" pitchFamily="2" charset="-122"/>
                <a:cs typeface="David" panose="020E0502060401010101" pitchFamily="34" charset="-79"/>
              </a:rPr>
              <a:t>עקומת ההיצע בשוק מוצר</a:t>
            </a:r>
            <a:r>
              <a:rPr lang="en-US" sz="1800" dirty="0">
                <a:effectLst/>
                <a:latin typeface="Times New Roman" panose="02020603050405020304" pitchFamily="18" charset="0"/>
                <a:ea typeface="SimSun" panose="02010600030101010101" pitchFamily="2" charset="-122"/>
                <a:cs typeface="David" panose="020E0502060401010101" pitchFamily="34" charset="-79"/>
              </a:rPr>
              <a:t> X </a:t>
            </a:r>
            <a:r>
              <a:rPr lang="he-IL" sz="1800" dirty="0">
                <a:effectLst/>
                <a:latin typeface="Times New Roman" panose="02020603050405020304" pitchFamily="18" charset="0"/>
                <a:ea typeface="SimSun" panose="02010600030101010101" pitchFamily="2" charset="-122"/>
                <a:cs typeface="David" panose="020E0502060401010101" pitchFamily="34" charset="-79"/>
              </a:rPr>
              <a:t>היא</a:t>
            </a:r>
            <a:r>
              <a:rPr lang="en-US" sz="1800" dirty="0">
                <a:effectLst/>
                <a:latin typeface="Times New Roman" panose="02020603050405020304" pitchFamily="18" charset="0"/>
                <a:ea typeface="SimSun" panose="02010600030101010101" pitchFamily="2" charset="-122"/>
                <a:cs typeface="David" panose="020E0502060401010101" pitchFamily="34" charset="-79"/>
              </a:rPr>
              <a:t> Q = 20P </a:t>
            </a:r>
            <a:r>
              <a:rPr lang="he-IL" sz="1800" dirty="0">
                <a:effectLst/>
                <a:latin typeface="Times New Roman" panose="02020603050405020304" pitchFamily="18" charset="0"/>
                <a:ea typeface="SimSun" panose="02010600030101010101" pitchFamily="2" charset="-122"/>
                <a:cs typeface="David" panose="020E0502060401010101" pitchFamily="34" charset="-79"/>
              </a:rPr>
              <a:t>והצרכנים מעוניינים להוציא סכום קבוע של 4,000 ש"ח לרכישת המוצר ללא תלות במחירו. הממשלה הטילה מס בסכום קבוע ליחידה וידוע </a:t>
            </a:r>
            <a:r>
              <a:rPr lang="he-IL" sz="1800" b="1" dirty="0">
                <a:effectLst/>
                <a:latin typeface="Times New Roman" panose="02020603050405020304" pitchFamily="18" charset="0"/>
                <a:ea typeface="SimSun" panose="02010600030101010101" pitchFamily="2" charset="-122"/>
                <a:cs typeface="David" panose="020E0502060401010101" pitchFamily="34" charset="-79"/>
              </a:rPr>
              <a:t>שלאחר הטלת המס המחיר שמשלם הצרכן עבור כל יחידה הוא כפול מהמחיר שמקבל היצרן עבור כל יחידה</a:t>
            </a:r>
            <a:r>
              <a:rPr lang="he-IL" sz="1800" dirty="0">
                <a:effectLst/>
                <a:latin typeface="Times New Roman" panose="02020603050405020304" pitchFamily="18" charset="0"/>
                <a:ea typeface="SimSun" panose="02010600030101010101" pitchFamily="2" charset="-122"/>
                <a:cs typeface="David" panose="020E0502060401010101" pitchFamily="34" charset="-79"/>
              </a:rPr>
              <a:t>. </a:t>
            </a:r>
            <a:endParaRPr lang="en-IL" dirty="0"/>
          </a:p>
        </p:txBody>
      </p:sp>
      <p:sp>
        <p:nvSpPr>
          <p:cNvPr id="4" name="כותרת 1">
            <a:extLst>
              <a:ext uri="{FF2B5EF4-FFF2-40B4-BE49-F238E27FC236}">
                <a16:creationId xmlns:a16="http://schemas.microsoft.com/office/drawing/2014/main" id="{9EDEB52A-EF84-4575-AF5C-5E8144DCD858}"/>
              </a:ext>
            </a:extLst>
          </p:cNvPr>
          <p:cNvSpPr>
            <a:spLocks noGrp="1"/>
          </p:cNvSpPr>
          <p:nvPr>
            <p:ph type="title"/>
          </p:nvPr>
        </p:nvSpPr>
        <p:spPr>
          <a:xfrm>
            <a:off x="6084168" y="18330"/>
            <a:ext cx="3032210" cy="1143000"/>
          </a:xfrm>
        </p:spPr>
        <p:txBody>
          <a:bodyPr/>
          <a:lstStyle/>
          <a:p>
            <a:pPr algn="r"/>
            <a:r>
              <a:rPr lang="he-IL" b="1" dirty="0">
                <a:solidFill>
                  <a:schemeClr val="tx2">
                    <a:lumMod val="75000"/>
                  </a:schemeClr>
                </a:solidFill>
              </a:rPr>
              <a:t>פתרון שאלה 4</a:t>
            </a:r>
            <a:endParaRPr lang="he-IL" dirty="0"/>
          </a:p>
        </p:txBody>
      </p:sp>
      <p:sp>
        <p:nvSpPr>
          <p:cNvPr id="5" name="TextBox 4">
            <a:extLst>
              <a:ext uri="{FF2B5EF4-FFF2-40B4-BE49-F238E27FC236}">
                <a16:creationId xmlns:a16="http://schemas.microsoft.com/office/drawing/2014/main" id="{5FC01392-E9E6-4896-B44D-5D2604C4AC62}"/>
              </a:ext>
            </a:extLst>
          </p:cNvPr>
          <p:cNvSpPr txBox="1"/>
          <p:nvPr/>
        </p:nvSpPr>
        <p:spPr>
          <a:xfrm>
            <a:off x="4139952" y="1700808"/>
            <a:ext cx="4637314" cy="2547685"/>
          </a:xfrm>
          <a:prstGeom prst="rect">
            <a:avLst/>
          </a:prstGeom>
          <a:noFill/>
        </p:spPr>
        <p:txBody>
          <a:bodyPr wrap="square">
            <a:spAutoFit/>
          </a:bodyPr>
          <a:lstStyle/>
          <a:p>
            <a:pPr marL="0" indent="0" algn="just" rtl="1">
              <a:lnSpc>
                <a:spcPct val="150000"/>
              </a:lnSpc>
              <a:buNone/>
            </a:pPr>
            <a:r>
              <a:rPr lang="he-IL" sz="1800" dirty="0">
                <a:effectLst/>
                <a:latin typeface="Times New Roman" panose="02020603050405020304" pitchFamily="18" charset="0"/>
                <a:ea typeface="SimSun" panose="02010600030101010101" pitchFamily="2" charset="-122"/>
                <a:cs typeface="David" panose="020E0502060401010101" pitchFamily="34" charset="-79"/>
              </a:rPr>
              <a:t>תקבולי הממשלה מהמס הם:</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tabLst>
                <a:tab pos="245110" algn="l"/>
              </a:tabLst>
            </a:pPr>
            <a:r>
              <a:rPr lang="he-IL" sz="1800" b="1" dirty="0">
                <a:effectLst/>
                <a:highlight>
                  <a:srgbClr val="FFFF00"/>
                </a:highlight>
                <a:latin typeface="Times New Roman" panose="02020603050405020304" pitchFamily="18" charset="0"/>
                <a:ea typeface="SimSun" panose="02010600030101010101" pitchFamily="2" charset="-122"/>
                <a:cs typeface="David" panose="020E0502060401010101" pitchFamily="34" charset="-79"/>
              </a:rPr>
              <a:t>2,000 ש"ח</a:t>
            </a:r>
            <a:endParaRPr lang="en-IL" sz="1800" b="1" dirty="0">
              <a:effectLst/>
              <a:highlight>
                <a:srgbClr val="FFFF00"/>
              </a:highligh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1,500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500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1,000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כל התשובות האחרות אינן נכונות</a:t>
            </a:r>
            <a:endParaRPr lang="en-IL" sz="1800" dirty="0">
              <a:effectLst/>
              <a:latin typeface="Times New Roman" panose="02020603050405020304" pitchFamily="18" charset="0"/>
              <a:ea typeface="SimSun" panose="02010600030101010101" pitchFamily="2" charset="-122"/>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1DB9DD9-9F0F-4D0A-9A6D-6B197CA949D9}"/>
                  </a:ext>
                </a:extLst>
              </p:cNvPr>
              <p:cNvSpPr txBox="1"/>
              <p:nvPr/>
            </p:nvSpPr>
            <p:spPr>
              <a:xfrm>
                <a:off x="393460" y="1669331"/>
                <a:ext cx="4896544" cy="4960332"/>
              </a:xfrm>
              <a:prstGeom prst="rect">
                <a:avLst/>
              </a:prstGeom>
              <a:solidFill>
                <a:schemeClr val="accent6">
                  <a:lumMod val="20000"/>
                  <a:lumOff val="80000"/>
                </a:schemeClr>
              </a:solidFill>
            </p:spPr>
            <p:txBody>
              <a:bodyPr wrap="square">
                <a:spAutoFit/>
              </a:bodyPr>
              <a:lstStyle/>
              <a:p>
                <a:r>
                  <a:rPr lang="he-IL" sz="1800" dirty="0">
                    <a:effectLst/>
                    <a:latin typeface="Times New Roman" panose="02020603050405020304" pitchFamily="18" charset="0"/>
                    <a:ea typeface="SimSun" panose="02010600030101010101" pitchFamily="2" charset="-122"/>
                  </a:rPr>
                  <a:t>פונקציית הביקוש הינה </a:t>
                </a:r>
                <a:r>
                  <a:rPr lang="en-US" sz="1800" dirty="0">
                    <a:effectLst/>
                    <a:latin typeface="Times New Roman" panose="02020603050405020304" pitchFamily="18" charset="0"/>
                    <a:ea typeface="SimSun" panose="02010600030101010101" pitchFamily="2" charset="-122"/>
                  </a:rPr>
                  <a:t>P</a:t>
                </a:r>
                <a:r>
                  <a:rPr lang="he-IL" sz="1800" dirty="0">
                    <a:effectLst/>
                    <a:latin typeface="Times New Roman" panose="02020603050405020304" pitchFamily="18" charset="0"/>
                    <a:ea typeface="SimSun" panose="02010600030101010101" pitchFamily="2" charset="-122"/>
                  </a:rPr>
                  <a:t>*</a:t>
                </a:r>
                <a:r>
                  <a:rPr lang="en-US" sz="1800" dirty="0">
                    <a:effectLst/>
                    <a:latin typeface="Times New Roman" panose="02020603050405020304" pitchFamily="18" charset="0"/>
                    <a:ea typeface="SimSun" panose="02010600030101010101" pitchFamily="2" charset="-122"/>
                  </a:rPr>
                  <a:t>Q</a:t>
                </a:r>
                <a:r>
                  <a:rPr lang="he-IL" sz="1800" dirty="0">
                    <a:effectLst/>
                    <a:latin typeface="Times New Roman" panose="02020603050405020304" pitchFamily="18" charset="0"/>
                    <a:ea typeface="SimSun" panose="02010600030101010101" pitchFamily="2" charset="-122"/>
                  </a:rPr>
                  <a:t>=4000 , נבודד את הכמות, כלומר </a:t>
                </a:r>
                <a14:m>
                  <m:oMath xmlns:m="http://schemas.openxmlformats.org/officeDocument/2006/math">
                    <m:r>
                      <a:rPr lang="en-US" i="1">
                        <a:latin typeface="Cambria Math" panose="02040503050406030204" pitchFamily="18" charset="0"/>
                        <a:ea typeface="SimSun" panose="02010600030101010101" pitchFamily="2" charset="-122"/>
                      </a:rPr>
                      <m:t>𝑄</m:t>
                    </m:r>
                    <m:r>
                      <a:rPr lang="en-US" i="1">
                        <a:latin typeface="Cambria Math" panose="02040503050406030204" pitchFamily="18" charset="0"/>
                        <a:ea typeface="SimSun" panose="02010600030101010101" pitchFamily="2" charset="-122"/>
                      </a:rPr>
                      <m:t>=</m:t>
                    </m:r>
                    <m:f>
                      <m:fPr>
                        <m:ctrlPr>
                          <a:rPr lang="en-US" i="1">
                            <a:latin typeface="Cambria Math" panose="02040503050406030204" pitchFamily="18" charset="0"/>
                            <a:ea typeface="SimSun" panose="02010600030101010101" pitchFamily="2" charset="-122"/>
                          </a:rPr>
                        </m:ctrlPr>
                      </m:fPr>
                      <m:num>
                        <m:r>
                          <m:rPr>
                            <m:nor/>
                          </m:rPr>
                          <a:rPr lang="he-IL" dirty="0">
                            <a:latin typeface="Times New Roman" panose="02020603050405020304" pitchFamily="18" charset="0"/>
                            <a:ea typeface="SimSun" panose="02010600030101010101" pitchFamily="2" charset="-122"/>
                          </a:rPr>
                          <m:t>4000</m:t>
                        </m:r>
                      </m:num>
                      <m:den>
                        <m:r>
                          <m:rPr>
                            <m:nor/>
                          </m:rPr>
                          <a:rPr lang="en-US" dirty="0">
                            <a:latin typeface="Times New Roman" panose="02020603050405020304" pitchFamily="18" charset="0"/>
                            <a:ea typeface="SimSun" panose="02010600030101010101" pitchFamily="2" charset="-122"/>
                          </a:rPr>
                          <m:t>P</m:t>
                        </m:r>
                      </m:den>
                    </m:f>
                  </m:oMath>
                </a14:m>
                <a:endParaRPr lang="en-IL" dirty="0">
                  <a:latin typeface="Times New Roman" panose="02020603050405020304" pitchFamily="18" charset="0"/>
                  <a:ea typeface="SimSun" panose="02010600030101010101" pitchFamily="2" charset="-122"/>
                </a:endParaRPr>
              </a:p>
              <a:p>
                <a:pPr algn="r" rtl="1"/>
                <a:endParaRPr lang="en-US" dirty="0">
                  <a:latin typeface="Times New Roman" panose="02020603050405020304" pitchFamily="18" charset="0"/>
                  <a:ea typeface="SimSun" panose="02010600030101010101" pitchFamily="2" charset="-122"/>
                </a:endParaRPr>
              </a:p>
              <a:p>
                <a:pPr algn="r" rtl="1"/>
                <a:r>
                  <a:rPr lang="he-IL" sz="1800" dirty="0">
                    <a:effectLst/>
                    <a:latin typeface="Times New Roman" panose="02020603050405020304" pitchFamily="18" charset="0"/>
                    <a:ea typeface="SimSun" panose="02010600030101010101" pitchFamily="2" charset="-122"/>
                  </a:rPr>
                  <a:t>לאחר הטלת המס גובה המס הוא ההפרש בין מחיר צרכן למחיר יצרן וכמו כן ידוע שמחיר הצרכן לאחר הטלת המס הוא כפול מהמחיר שמקבל היצרן, כלומר:</a:t>
                </a:r>
                <a:endParaRPr lang="en-IL" sz="1800" dirty="0">
                  <a:effectLst/>
                  <a:latin typeface="Times New Roman" panose="02020603050405020304" pitchFamily="18" charset="0"/>
                  <a:ea typeface="SimSun" panose="02010600030101010101" pitchFamily="2" charset="-122"/>
                </a:endParaRPr>
              </a:p>
              <a:p>
                <a:pPr algn="l" rtl="0"/>
                <a:r>
                  <a:rPr lang="en-US" sz="1800" dirty="0">
                    <a:effectLst/>
                    <a:highlight>
                      <a:srgbClr val="FFFF00"/>
                    </a:highlight>
                    <a:latin typeface="Times New Roman" panose="02020603050405020304" pitchFamily="18" charset="0"/>
                    <a:ea typeface="SimSun" panose="02010600030101010101" pitchFamily="2" charset="-122"/>
                  </a:rPr>
                  <a:t>P</a:t>
                </a:r>
                <a:r>
                  <a:rPr lang="he-IL" sz="1800" dirty="0">
                    <a:effectLst/>
                    <a:highlight>
                      <a:srgbClr val="FFFF00"/>
                    </a:highlight>
                    <a:latin typeface="Times New Roman" panose="02020603050405020304" pitchFamily="18" charset="0"/>
                    <a:ea typeface="SimSun" panose="02010600030101010101" pitchFamily="2" charset="-122"/>
                  </a:rPr>
                  <a:t>צרכן</a:t>
                </a:r>
                <a:r>
                  <a:rPr lang="en-US" sz="1800" dirty="0">
                    <a:effectLst/>
                    <a:highlight>
                      <a:srgbClr val="FFFF00"/>
                    </a:highlight>
                    <a:latin typeface="Times New Roman" panose="02020603050405020304" pitchFamily="18" charset="0"/>
                    <a:ea typeface="SimSun" panose="02010600030101010101" pitchFamily="2" charset="-122"/>
                  </a:rPr>
                  <a:t>=2</a:t>
                </a:r>
                <a:r>
                  <a:rPr lang="he-IL" sz="1800" dirty="0">
                    <a:effectLst/>
                    <a:highlight>
                      <a:srgbClr val="FFFF00"/>
                    </a:highlight>
                    <a:latin typeface="Times New Roman" panose="02020603050405020304" pitchFamily="18" charset="0"/>
                    <a:ea typeface="SimSun" panose="02010600030101010101" pitchFamily="2" charset="-122"/>
                  </a:rPr>
                  <a:t>)</a:t>
                </a:r>
                <a:r>
                  <a:rPr lang="en-US" sz="1800" dirty="0">
                    <a:effectLst/>
                    <a:highlight>
                      <a:srgbClr val="FFFF00"/>
                    </a:highlight>
                    <a:latin typeface="Times New Roman" panose="02020603050405020304" pitchFamily="18" charset="0"/>
                    <a:ea typeface="SimSun" panose="02010600030101010101" pitchFamily="2" charset="-122"/>
                  </a:rPr>
                  <a:t>P</a:t>
                </a:r>
                <a:r>
                  <a:rPr lang="he-IL" sz="1800" dirty="0">
                    <a:effectLst/>
                    <a:highlight>
                      <a:srgbClr val="FFFF00"/>
                    </a:highlight>
                    <a:latin typeface="Times New Roman" panose="02020603050405020304" pitchFamily="18" charset="0"/>
                    <a:ea typeface="SimSun" panose="02010600030101010101" pitchFamily="2" charset="-122"/>
                  </a:rPr>
                  <a:t> (יצרן</a:t>
                </a:r>
                <a:endParaRPr lang="en-IL" sz="1800" dirty="0">
                  <a:effectLst/>
                  <a:highlight>
                    <a:srgbClr val="FFFF00"/>
                  </a:highlight>
                  <a:latin typeface="Times New Roman" panose="02020603050405020304" pitchFamily="18" charset="0"/>
                  <a:ea typeface="SimSun" panose="02010600030101010101" pitchFamily="2" charset="-122"/>
                </a:endParaRPr>
              </a:p>
              <a:p>
                <a:pPr algn="r" rtl="1"/>
                <a:r>
                  <a:rPr lang="he-IL" sz="1800" dirty="0">
                    <a:effectLst/>
                    <a:latin typeface="Times New Roman" panose="02020603050405020304" pitchFamily="18" charset="0"/>
                    <a:ea typeface="SimSun" panose="02010600030101010101" pitchFamily="2" charset="-122"/>
                  </a:rPr>
                  <a:t>נציב במחיר צרכן </a:t>
                </a:r>
                <a:endParaRPr lang="en-IL" sz="1800" dirty="0">
                  <a:effectLst/>
                  <a:latin typeface="Times New Roman" panose="02020603050405020304" pitchFamily="18" charset="0"/>
                  <a:ea typeface="SimSun" panose="02010600030101010101" pitchFamily="2" charset="-122"/>
                </a:endParaRPr>
              </a:p>
              <a:p>
                <a:pPr algn="l"/>
                <a14:m>
                  <m:oMathPara xmlns:m="http://schemas.openxmlformats.org/officeDocument/2006/math">
                    <m:oMathParaPr>
                      <m:jc m:val="centerGroup"/>
                    </m:oMathParaPr>
                    <m:oMath xmlns:m="http://schemas.openxmlformats.org/officeDocument/2006/math">
                      <m:r>
                        <m:rPr>
                          <m:nor/>
                        </m:rPr>
                        <a:rPr lang="en-US" dirty="0">
                          <a:latin typeface="Times New Roman" panose="02020603050405020304" pitchFamily="18" charset="0"/>
                          <a:ea typeface="SimSun" panose="02010600030101010101" pitchFamily="2" charset="-122"/>
                        </a:rPr>
                        <m:t>P</m:t>
                      </m:r>
                      <m:r>
                        <a:rPr lang="en-US" i="1" smtClean="0">
                          <a:latin typeface="Cambria Math" panose="02040503050406030204" pitchFamily="18" charset="0"/>
                          <a:ea typeface="SimSun" panose="02010600030101010101" pitchFamily="2" charset="-122"/>
                        </a:rPr>
                        <m:t>=</m:t>
                      </m:r>
                      <m:f>
                        <m:fPr>
                          <m:ctrlPr>
                            <a:rPr lang="en-US" i="1">
                              <a:latin typeface="Cambria Math" panose="02040503050406030204" pitchFamily="18" charset="0"/>
                              <a:ea typeface="SimSun" panose="02010600030101010101" pitchFamily="2" charset="-122"/>
                            </a:rPr>
                          </m:ctrlPr>
                        </m:fPr>
                        <m:num>
                          <m:r>
                            <m:rPr>
                              <m:nor/>
                            </m:rPr>
                            <a:rPr lang="he-IL" dirty="0">
                              <a:latin typeface="Times New Roman" panose="02020603050405020304" pitchFamily="18" charset="0"/>
                              <a:ea typeface="SimSun" panose="02010600030101010101" pitchFamily="2" charset="-122"/>
                            </a:rPr>
                            <m:t>4000</m:t>
                          </m:r>
                        </m:num>
                        <m:den>
                          <m:r>
                            <a:rPr lang="en-US" i="1">
                              <a:latin typeface="Cambria Math" panose="02040503050406030204" pitchFamily="18" charset="0"/>
                              <a:ea typeface="SimSun" panose="02010600030101010101" pitchFamily="2" charset="-122"/>
                            </a:rPr>
                            <m:t>𝑄</m:t>
                          </m:r>
                        </m:den>
                      </m:f>
                      <m:r>
                        <a:rPr lang="en-US" i="1" dirty="0">
                          <a:latin typeface="Cambria Math" panose="02040503050406030204" pitchFamily="18" charset="0"/>
                          <a:ea typeface="SimSun" panose="02010600030101010101" pitchFamily="2" charset="-122"/>
                        </a:rPr>
                        <m:t> </m:t>
                      </m:r>
                    </m:oMath>
                  </m:oMathPara>
                </a14:m>
                <a:endParaRPr lang="en-US" sz="1800" dirty="0">
                  <a:effectLst/>
                  <a:latin typeface="Times New Roman" panose="02020603050405020304" pitchFamily="18" charset="0"/>
                  <a:ea typeface="SimSun" panose="02010600030101010101" pitchFamily="2" charset="-122"/>
                </a:endParaRPr>
              </a:p>
              <a:p>
                <a:r>
                  <a:rPr lang="he-IL" sz="1800" dirty="0">
                    <a:effectLst/>
                    <a:latin typeface="Times New Roman" panose="02020603050405020304" pitchFamily="18" charset="0"/>
                    <a:ea typeface="SimSun" panose="02010600030101010101" pitchFamily="2" charset="-122"/>
                  </a:rPr>
                  <a:t>נציב במחיר יצרן:</a:t>
                </a:r>
                <a:endParaRPr lang="en-IL" sz="1800" dirty="0">
                  <a:effectLst/>
                  <a:latin typeface="Times New Roman" panose="02020603050405020304" pitchFamily="18" charset="0"/>
                  <a:ea typeface="SimSun" panose="02010600030101010101" pitchFamily="2" charset="-122"/>
                </a:endParaRPr>
              </a:p>
              <a:p>
                <a:pPr algn="l" rtl="1"/>
                <a14:m>
                  <m:oMathPara xmlns:m="http://schemas.openxmlformats.org/officeDocument/2006/math">
                    <m:oMathParaPr>
                      <m:jc m:val="centerGroup"/>
                    </m:oMathParaPr>
                    <m:oMath xmlns:m="http://schemas.openxmlformats.org/officeDocument/2006/math">
                      <m:r>
                        <m:rPr>
                          <m:nor/>
                        </m:rPr>
                        <a:rPr lang="en-US" dirty="0" smtClean="0">
                          <a:latin typeface="Times New Roman" panose="02020603050405020304" pitchFamily="18" charset="0"/>
                          <a:ea typeface="SimSun" panose="02010600030101010101" pitchFamily="2" charset="-122"/>
                        </a:rPr>
                        <m:t>P</m:t>
                      </m:r>
                      <m:r>
                        <a:rPr lang="en-US" i="1" smtClean="0">
                          <a:latin typeface="Cambria Math" panose="02040503050406030204" pitchFamily="18" charset="0"/>
                          <a:ea typeface="SimSun" panose="02010600030101010101" pitchFamily="2" charset="-122"/>
                        </a:rPr>
                        <m:t>=</m:t>
                      </m:r>
                      <m:f>
                        <m:fPr>
                          <m:ctrlPr>
                            <a:rPr lang="en-US" i="1">
                              <a:latin typeface="Cambria Math" panose="02040503050406030204" pitchFamily="18" charset="0"/>
                              <a:ea typeface="SimSun" panose="02010600030101010101" pitchFamily="2" charset="-122"/>
                            </a:rPr>
                          </m:ctrlPr>
                        </m:fPr>
                        <m:num>
                          <m:r>
                            <m:rPr>
                              <m:nor/>
                            </m:rPr>
                            <a:rPr lang="en-US" b="0" i="0" dirty="0" smtClean="0">
                              <a:latin typeface="Times New Roman" panose="02020603050405020304" pitchFamily="18" charset="0"/>
                              <a:ea typeface="SimSun" panose="02010600030101010101" pitchFamily="2" charset="-122"/>
                            </a:rPr>
                            <m:t>Q</m:t>
                          </m:r>
                        </m:num>
                        <m:den>
                          <m:r>
                            <a:rPr lang="en-US" b="0" i="1" dirty="0" smtClean="0">
                              <a:latin typeface="Cambria Math" panose="02040503050406030204" pitchFamily="18" charset="0"/>
                              <a:ea typeface="SimSun" panose="02010600030101010101" pitchFamily="2" charset="-122"/>
                            </a:rPr>
                            <m:t>20</m:t>
                          </m:r>
                        </m:den>
                      </m:f>
                      <m:r>
                        <a:rPr lang="en-US" i="1">
                          <a:latin typeface="Cambria Math" panose="02040503050406030204" pitchFamily="18" charset="0"/>
                          <a:ea typeface="SimSun" panose="02010600030101010101" pitchFamily="2" charset="-122"/>
                        </a:rPr>
                        <m:t> </m:t>
                      </m:r>
                    </m:oMath>
                  </m:oMathPara>
                </a14:m>
                <a:endParaRPr lang="en-US" sz="1800" dirty="0">
                  <a:effectLst/>
                  <a:latin typeface="Times New Roman" panose="02020603050405020304" pitchFamily="18" charset="0"/>
                  <a:ea typeface="SimSun" panose="02010600030101010101" pitchFamily="2" charset="-122"/>
                </a:endParaRPr>
              </a:p>
              <a:p>
                <a:pPr rtl="1"/>
                <a:r>
                  <a:rPr lang="he-IL" sz="1800" dirty="0">
                    <a:effectLst/>
                    <a:latin typeface="Times New Roman" panose="02020603050405020304" pitchFamily="18" charset="0"/>
                    <a:ea typeface="SimSun" panose="02010600030101010101" pitchFamily="2" charset="-122"/>
                  </a:rPr>
                  <a:t>ונקבל שהכמות לאחר המס </a:t>
                </a:r>
                <a:r>
                  <a:rPr lang="he-IL" sz="1800" b="1" dirty="0">
                    <a:solidFill>
                      <a:srgbClr val="7030A0"/>
                    </a:solidFill>
                    <a:effectLst/>
                    <a:latin typeface="Times New Roman" panose="02020603050405020304" pitchFamily="18" charset="0"/>
                    <a:ea typeface="SimSun" panose="02010600030101010101" pitchFamily="2" charset="-122"/>
                  </a:rPr>
                  <a:t>הינה 200 יח</a:t>
                </a:r>
                <a:r>
                  <a:rPr lang="he-IL" sz="1800" dirty="0">
                    <a:effectLst/>
                    <a:latin typeface="Times New Roman" panose="02020603050405020304" pitchFamily="18" charset="0"/>
                    <a:ea typeface="SimSun" panose="02010600030101010101" pitchFamily="2" charset="-122"/>
                  </a:rPr>
                  <a:t>', מחיר צרכן הינו 20 ש''ח ומחיר יצרן 10 ש''ח, מכאן </a:t>
                </a:r>
                <a:r>
                  <a:rPr lang="he-IL" sz="1800" b="1" dirty="0">
                    <a:solidFill>
                      <a:srgbClr val="C00000"/>
                    </a:solidFill>
                    <a:effectLst/>
                    <a:latin typeface="Times New Roman" panose="02020603050405020304" pitchFamily="18" charset="0"/>
                    <a:ea typeface="SimSun" panose="02010600030101010101" pitchFamily="2" charset="-122"/>
                  </a:rPr>
                  <a:t>שגובה המס הינו 10 ש''ח. </a:t>
                </a:r>
                <a:br>
                  <a:rPr lang="he-IL" sz="1800" dirty="0">
                    <a:effectLst/>
                    <a:latin typeface="Times New Roman" panose="02020603050405020304" pitchFamily="18" charset="0"/>
                    <a:ea typeface="SimSun" panose="02010600030101010101" pitchFamily="2" charset="-122"/>
                  </a:rPr>
                </a:br>
                <a:endParaRPr lang="en-IL" sz="1800" dirty="0">
                  <a:effectLst/>
                  <a:latin typeface="Times New Roman" panose="02020603050405020304" pitchFamily="18" charset="0"/>
                  <a:ea typeface="SimSun" panose="02010600030101010101" pitchFamily="2" charset="-122"/>
                </a:endParaRPr>
              </a:p>
            </p:txBody>
          </p:sp>
        </mc:Choice>
        <mc:Fallback xmlns="">
          <p:sp>
            <p:nvSpPr>
              <p:cNvPr id="7" name="TextBox 6">
                <a:extLst>
                  <a:ext uri="{FF2B5EF4-FFF2-40B4-BE49-F238E27FC236}">
                    <a16:creationId xmlns:a16="http://schemas.microsoft.com/office/drawing/2014/main" id="{71DB9DD9-9F0F-4D0A-9A6D-6B197CA949D9}"/>
                  </a:ext>
                </a:extLst>
              </p:cNvPr>
              <p:cNvSpPr txBox="1">
                <a:spLocks noRot="1" noChangeAspect="1" noMove="1" noResize="1" noEditPoints="1" noAdjustHandles="1" noChangeArrowheads="1" noChangeShapeType="1" noTextEdit="1"/>
              </p:cNvSpPr>
              <p:nvPr/>
            </p:nvSpPr>
            <p:spPr>
              <a:xfrm>
                <a:off x="393460" y="1669331"/>
                <a:ext cx="4896544" cy="4960332"/>
              </a:xfrm>
              <a:prstGeom prst="rect">
                <a:avLst/>
              </a:prstGeom>
              <a:blipFill>
                <a:blip r:embed="rId2"/>
                <a:stretch>
                  <a:fillRect l="-1121" t="-737" r="-996"/>
                </a:stretch>
              </a:blipFill>
            </p:spPr>
            <p:txBody>
              <a:bodyPr/>
              <a:lstStyle/>
              <a:p>
                <a:r>
                  <a:rPr lang="en-IL">
                    <a:noFill/>
                  </a:rPr>
                  <a:t> </a:t>
                </a:r>
              </a:p>
            </p:txBody>
          </p:sp>
        </mc:Fallback>
      </mc:AlternateContent>
      <p:sp>
        <p:nvSpPr>
          <p:cNvPr id="9" name="TextBox 8">
            <a:extLst>
              <a:ext uri="{FF2B5EF4-FFF2-40B4-BE49-F238E27FC236}">
                <a16:creationId xmlns:a16="http://schemas.microsoft.com/office/drawing/2014/main" id="{1C1D6871-749B-48FB-94D6-B2568A1C9C4A}"/>
              </a:ext>
            </a:extLst>
          </p:cNvPr>
          <p:cNvSpPr txBox="1"/>
          <p:nvPr/>
        </p:nvSpPr>
        <p:spPr>
          <a:xfrm>
            <a:off x="5575959" y="4560553"/>
            <a:ext cx="3171777" cy="1200329"/>
          </a:xfrm>
          <a:prstGeom prst="rect">
            <a:avLst/>
          </a:prstGeom>
          <a:noFill/>
        </p:spPr>
        <p:txBody>
          <a:bodyPr wrap="square">
            <a:spAutoFit/>
          </a:bodyPr>
          <a:lstStyle/>
          <a:p>
            <a:r>
              <a:rPr lang="he-IL" sz="1800" dirty="0">
                <a:effectLst/>
                <a:latin typeface="Times New Roman" panose="02020603050405020304" pitchFamily="18" charset="0"/>
                <a:ea typeface="SimSun" panose="02010600030101010101" pitchFamily="2" charset="-122"/>
              </a:rPr>
              <a:t>הכנסות הממשלה= 2000 ש''ח</a:t>
            </a:r>
            <a:endParaRPr lang="en-US" sz="1800" dirty="0">
              <a:effectLst/>
              <a:latin typeface="Times New Roman" panose="02020603050405020304" pitchFamily="18" charset="0"/>
              <a:ea typeface="SimSun" panose="02010600030101010101" pitchFamily="2" charset="-122"/>
            </a:endParaRPr>
          </a:p>
          <a:p>
            <a:r>
              <a:rPr lang="he-IL" sz="1800" b="1" dirty="0">
                <a:solidFill>
                  <a:srgbClr val="C00000"/>
                </a:solidFill>
                <a:effectLst/>
                <a:latin typeface="Times New Roman" panose="02020603050405020304" pitchFamily="18" charset="0"/>
                <a:ea typeface="SimSun" panose="02010600030101010101" pitchFamily="2" charset="-122"/>
              </a:rPr>
              <a:t>גובה המס ליחידה</a:t>
            </a:r>
            <a:r>
              <a:rPr lang="he-IL" sz="1800" dirty="0">
                <a:effectLst/>
                <a:latin typeface="Times New Roman" panose="02020603050405020304" pitchFamily="18" charset="0"/>
                <a:ea typeface="SimSun" panose="02010600030101010101" pitchFamily="2" charset="-122"/>
              </a:rPr>
              <a:t>*</a:t>
            </a:r>
            <a:r>
              <a:rPr lang="he-IL" sz="1800" dirty="0">
                <a:solidFill>
                  <a:srgbClr val="7030A0"/>
                </a:solidFill>
                <a:effectLst/>
                <a:latin typeface="Times New Roman" panose="02020603050405020304" pitchFamily="18" charset="0"/>
                <a:ea typeface="SimSun" panose="02010600030101010101" pitchFamily="2" charset="-122"/>
              </a:rPr>
              <a:t>כמות מיוצרת </a:t>
            </a:r>
            <a:endParaRPr lang="en-US" sz="1800" dirty="0">
              <a:solidFill>
                <a:srgbClr val="7030A0"/>
              </a:solidFill>
              <a:effectLst/>
              <a:latin typeface="Times New Roman" panose="02020603050405020304" pitchFamily="18" charset="0"/>
              <a:ea typeface="SimSun" panose="02010600030101010101" pitchFamily="2" charset="-122"/>
            </a:endParaRPr>
          </a:p>
          <a:p>
            <a:r>
              <a:rPr lang="he-IL" sz="1800" dirty="0">
                <a:effectLst/>
                <a:latin typeface="Times New Roman" panose="02020603050405020304" pitchFamily="18" charset="0"/>
                <a:ea typeface="SimSun" panose="02010600030101010101" pitchFamily="2" charset="-122"/>
              </a:rPr>
              <a:t>כלומר </a:t>
            </a:r>
            <a:r>
              <a:rPr lang="en-US" sz="1800" b="1" dirty="0">
                <a:solidFill>
                  <a:srgbClr val="C00000"/>
                </a:solidFill>
                <a:effectLst/>
                <a:latin typeface="Times New Roman" panose="02020603050405020304" pitchFamily="18" charset="0"/>
                <a:ea typeface="SimSun" panose="02010600030101010101" pitchFamily="2" charset="-122"/>
              </a:rPr>
              <a:t>10</a:t>
            </a:r>
            <a:r>
              <a:rPr lang="he-IL" sz="1800" dirty="0">
                <a:effectLst/>
                <a:latin typeface="Times New Roman" panose="02020603050405020304" pitchFamily="18" charset="0"/>
                <a:ea typeface="SimSun" panose="02010600030101010101" pitchFamily="2" charset="-122"/>
              </a:rPr>
              <a:t>*</a:t>
            </a:r>
            <a:r>
              <a:rPr lang="en-US" sz="1800" dirty="0">
                <a:solidFill>
                  <a:srgbClr val="7030A0"/>
                </a:solidFill>
                <a:effectLst/>
                <a:latin typeface="Times New Roman" panose="02020603050405020304" pitchFamily="18" charset="0"/>
                <a:ea typeface="SimSun" panose="02010600030101010101" pitchFamily="2" charset="-122"/>
              </a:rPr>
              <a:t>200</a:t>
            </a:r>
            <a:r>
              <a:rPr lang="en-US" sz="1800" dirty="0">
                <a:effectLst/>
                <a:latin typeface="Times New Roman" panose="02020603050405020304" pitchFamily="18" charset="0"/>
                <a:ea typeface="SimSun" panose="02010600030101010101" pitchFamily="2" charset="-122"/>
              </a:rPr>
              <a:t> </a:t>
            </a:r>
          </a:p>
          <a:p>
            <a:endParaRPr lang="en-US"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2730577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9E7C7B-8515-444D-88B8-E3DAEEC6A5F4}"/>
              </a:ext>
            </a:extLst>
          </p:cNvPr>
          <p:cNvSpPr>
            <a:spLocks noGrp="1"/>
          </p:cNvSpPr>
          <p:nvPr>
            <p:ph idx="1"/>
          </p:nvPr>
        </p:nvSpPr>
        <p:spPr>
          <a:xfrm>
            <a:off x="107504" y="188640"/>
            <a:ext cx="7560840" cy="1512168"/>
          </a:xfrm>
        </p:spPr>
        <p:txBody>
          <a:bodyPr>
            <a:normAutofit fontScale="92500" lnSpcReduction="20000"/>
          </a:bodyPr>
          <a:lstStyle/>
          <a:p>
            <a:pPr marL="0" indent="0" algn="just" rtl="1">
              <a:lnSpc>
                <a:spcPct val="150000"/>
              </a:lnSpc>
              <a:buNone/>
            </a:pPr>
            <a:r>
              <a:rPr lang="he-IL" sz="1800" dirty="0">
                <a:effectLst/>
                <a:latin typeface="Times New Roman" panose="02020603050405020304" pitchFamily="18" charset="0"/>
                <a:ea typeface="SimSun" panose="02010600030101010101" pitchFamily="2" charset="-122"/>
                <a:cs typeface="David" panose="020E0502060401010101" pitchFamily="34" charset="-79"/>
              </a:rPr>
              <a:t>עקומת ההיצע בשוק מוצר</a:t>
            </a:r>
            <a:r>
              <a:rPr lang="en-US" sz="1800" dirty="0">
                <a:effectLst/>
                <a:latin typeface="Times New Roman" panose="02020603050405020304" pitchFamily="18" charset="0"/>
                <a:ea typeface="SimSun" panose="02010600030101010101" pitchFamily="2" charset="-122"/>
                <a:cs typeface="David" panose="020E0502060401010101" pitchFamily="34" charset="-79"/>
              </a:rPr>
              <a:t> X </a:t>
            </a:r>
            <a:r>
              <a:rPr lang="he-IL" sz="1800" dirty="0">
                <a:effectLst/>
                <a:latin typeface="Times New Roman" panose="02020603050405020304" pitchFamily="18" charset="0"/>
                <a:ea typeface="SimSun" panose="02010600030101010101" pitchFamily="2" charset="-122"/>
                <a:cs typeface="David" panose="020E0502060401010101" pitchFamily="34" charset="-79"/>
              </a:rPr>
              <a:t>היא</a:t>
            </a:r>
            <a:r>
              <a:rPr lang="en-US" sz="1800" dirty="0">
                <a:effectLst/>
                <a:latin typeface="Times New Roman" panose="02020603050405020304" pitchFamily="18" charset="0"/>
                <a:ea typeface="SimSun" panose="02010600030101010101" pitchFamily="2" charset="-122"/>
                <a:cs typeface="David" panose="020E0502060401010101" pitchFamily="34" charset="-79"/>
              </a:rPr>
              <a:t> Q = 20P </a:t>
            </a:r>
            <a:r>
              <a:rPr lang="he-IL" sz="1800" dirty="0">
                <a:effectLst/>
                <a:latin typeface="Times New Roman" panose="02020603050405020304" pitchFamily="18" charset="0"/>
                <a:ea typeface="SimSun" panose="02010600030101010101" pitchFamily="2" charset="-122"/>
                <a:cs typeface="David" panose="020E0502060401010101" pitchFamily="34" charset="-79"/>
              </a:rPr>
              <a:t>והצרכנים מעוניינים להוציא סכום קבוע של 4,000 ש"ח לרכישת המוצר ללא תלות במחירו. הממשלה הטילה מס בסכום קבוע ליחידה וידוע </a:t>
            </a:r>
            <a:r>
              <a:rPr lang="he-IL" sz="1800" b="1" dirty="0">
                <a:effectLst/>
                <a:latin typeface="Times New Roman" panose="02020603050405020304" pitchFamily="18" charset="0"/>
                <a:ea typeface="SimSun" panose="02010600030101010101" pitchFamily="2" charset="-122"/>
                <a:cs typeface="David" panose="020E0502060401010101" pitchFamily="34" charset="-79"/>
              </a:rPr>
              <a:t>שלאחר הטלת המס המחיר שמשלם הצרכן עבור כל יחידה הוא כפול מהמחיר שמקבל היצרן עבור כל יחידה</a:t>
            </a:r>
            <a:r>
              <a:rPr lang="he-IL" sz="1800" dirty="0">
                <a:effectLst/>
                <a:latin typeface="Times New Roman" panose="02020603050405020304" pitchFamily="18" charset="0"/>
                <a:ea typeface="SimSun" panose="02010600030101010101" pitchFamily="2" charset="-122"/>
                <a:cs typeface="David" panose="020E0502060401010101" pitchFamily="34" charset="-79"/>
              </a:rPr>
              <a:t>. </a:t>
            </a:r>
            <a:endParaRPr lang="en-IL" dirty="0"/>
          </a:p>
        </p:txBody>
      </p:sp>
      <p:sp>
        <p:nvSpPr>
          <p:cNvPr id="4" name="כותרת 1">
            <a:extLst>
              <a:ext uri="{FF2B5EF4-FFF2-40B4-BE49-F238E27FC236}">
                <a16:creationId xmlns:a16="http://schemas.microsoft.com/office/drawing/2014/main" id="{9EDEB52A-EF84-4575-AF5C-5E8144DCD858}"/>
              </a:ext>
            </a:extLst>
          </p:cNvPr>
          <p:cNvSpPr>
            <a:spLocks noGrp="1"/>
          </p:cNvSpPr>
          <p:nvPr>
            <p:ph type="title"/>
          </p:nvPr>
        </p:nvSpPr>
        <p:spPr>
          <a:xfrm>
            <a:off x="7380312" y="18330"/>
            <a:ext cx="1736066" cy="1143000"/>
          </a:xfrm>
        </p:spPr>
        <p:txBody>
          <a:bodyPr/>
          <a:lstStyle/>
          <a:p>
            <a:pPr algn="r"/>
            <a:r>
              <a:rPr lang="he-IL" b="1" dirty="0">
                <a:solidFill>
                  <a:schemeClr val="tx2">
                    <a:lumMod val="75000"/>
                  </a:schemeClr>
                </a:solidFill>
              </a:rPr>
              <a:t>פתרון שאלה 4</a:t>
            </a:r>
            <a:endParaRPr lang="he-IL" dirty="0"/>
          </a:p>
        </p:txBody>
      </p:sp>
      <p:sp>
        <p:nvSpPr>
          <p:cNvPr id="5" name="TextBox 4">
            <a:extLst>
              <a:ext uri="{FF2B5EF4-FFF2-40B4-BE49-F238E27FC236}">
                <a16:creationId xmlns:a16="http://schemas.microsoft.com/office/drawing/2014/main" id="{5FC01392-E9E6-4896-B44D-5D2604C4AC62}"/>
              </a:ext>
            </a:extLst>
          </p:cNvPr>
          <p:cNvSpPr txBox="1"/>
          <p:nvPr/>
        </p:nvSpPr>
        <p:spPr>
          <a:xfrm>
            <a:off x="4372241" y="1703445"/>
            <a:ext cx="4637314" cy="2547685"/>
          </a:xfrm>
          <a:prstGeom prst="rect">
            <a:avLst/>
          </a:prstGeom>
          <a:noFill/>
        </p:spPr>
        <p:txBody>
          <a:bodyPr wrap="square">
            <a:spAutoFit/>
          </a:bodyPr>
          <a:lstStyle/>
          <a:p>
            <a:pPr marL="0" indent="0" algn="just" rtl="1">
              <a:lnSpc>
                <a:spcPct val="150000"/>
              </a:lnSpc>
              <a:buNone/>
            </a:pPr>
            <a:r>
              <a:rPr lang="he-IL" sz="1800" dirty="0">
                <a:effectLst/>
                <a:latin typeface="Times New Roman" panose="02020603050405020304" pitchFamily="18" charset="0"/>
                <a:ea typeface="SimSun" panose="02010600030101010101" pitchFamily="2" charset="-122"/>
                <a:cs typeface="David" panose="020E0502060401010101" pitchFamily="34" charset="-79"/>
              </a:rPr>
              <a:t>תקבולי הממשלה מהמס הם:</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tabLst>
                <a:tab pos="245110" algn="l"/>
              </a:tabLst>
            </a:pPr>
            <a:r>
              <a:rPr lang="he-IL" sz="1800" b="1" dirty="0">
                <a:effectLst/>
                <a:highlight>
                  <a:srgbClr val="FFFF00"/>
                </a:highlight>
                <a:latin typeface="Times New Roman" panose="02020603050405020304" pitchFamily="18" charset="0"/>
                <a:ea typeface="SimSun" panose="02010600030101010101" pitchFamily="2" charset="-122"/>
                <a:cs typeface="David" panose="020E0502060401010101" pitchFamily="34" charset="-79"/>
              </a:rPr>
              <a:t>2,000 ש"ח</a:t>
            </a:r>
            <a:endParaRPr lang="en-IL" sz="1800" b="1" dirty="0">
              <a:effectLst/>
              <a:highlight>
                <a:srgbClr val="FFFF00"/>
              </a:highligh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1,500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500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1,000 ש"ח</a:t>
            </a:r>
            <a:endParaRPr lang="en-IL" sz="1800" dirty="0">
              <a:effectLst/>
              <a:latin typeface="Times New Roman" panose="02020603050405020304" pitchFamily="18" charset="0"/>
              <a:ea typeface="SimSun" panose="02010600030101010101" pitchFamily="2" charset="-122"/>
            </a:endParaRPr>
          </a:p>
          <a:p>
            <a:pPr marL="342900" lvl="0" indent="-342900" algn="just" rtl="1">
              <a:lnSpc>
                <a:spcPct val="150000"/>
              </a:lnSpc>
              <a:buFont typeface="+mj-lt"/>
              <a:buAutoNum type="arabicPeriod"/>
            </a:pPr>
            <a:r>
              <a:rPr lang="he-IL" sz="1800" dirty="0">
                <a:effectLst/>
                <a:latin typeface="Times New Roman" panose="02020603050405020304" pitchFamily="18" charset="0"/>
                <a:ea typeface="SimSun" panose="02010600030101010101" pitchFamily="2" charset="-122"/>
                <a:cs typeface="David" panose="020E0502060401010101" pitchFamily="34" charset="-79"/>
              </a:rPr>
              <a:t>כל התשובות האחרות אינן נכונות</a:t>
            </a:r>
            <a:endParaRPr lang="en-IL" sz="1800" dirty="0">
              <a:effectLst/>
              <a:latin typeface="Times New Roman" panose="02020603050405020304" pitchFamily="18" charset="0"/>
              <a:ea typeface="SimSun" panose="02010600030101010101" pitchFamily="2" charset="-122"/>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1DB9DD9-9F0F-4D0A-9A6D-6B197CA949D9}"/>
                  </a:ext>
                </a:extLst>
              </p:cNvPr>
              <p:cNvSpPr txBox="1"/>
              <p:nvPr/>
            </p:nvSpPr>
            <p:spPr>
              <a:xfrm>
                <a:off x="24820" y="1340768"/>
                <a:ext cx="5688632" cy="5086649"/>
              </a:xfrm>
              <a:prstGeom prst="rect">
                <a:avLst/>
              </a:prstGeom>
              <a:solidFill>
                <a:schemeClr val="accent6">
                  <a:lumMod val="20000"/>
                  <a:lumOff val="80000"/>
                </a:schemeClr>
              </a:solidFill>
            </p:spPr>
            <p:txBody>
              <a:bodyPr wrap="square">
                <a:spAutoFit/>
              </a:bodyPr>
              <a:lstStyle/>
              <a:p>
                <a:r>
                  <a:rPr lang="he-IL" sz="1800" dirty="0">
                    <a:effectLst/>
                    <a:latin typeface="Times New Roman" panose="02020603050405020304" pitchFamily="18" charset="0"/>
                    <a:ea typeface="SimSun" panose="02010600030101010101" pitchFamily="2" charset="-122"/>
                  </a:rPr>
                  <a:t>פונקציית הביקוש הינה </a:t>
                </a:r>
                <a:r>
                  <a:rPr lang="en-US" sz="1800" dirty="0">
                    <a:effectLst/>
                    <a:latin typeface="Times New Roman" panose="02020603050405020304" pitchFamily="18" charset="0"/>
                    <a:ea typeface="SimSun" panose="02010600030101010101" pitchFamily="2" charset="-122"/>
                  </a:rPr>
                  <a:t>P</a:t>
                </a:r>
                <a:r>
                  <a:rPr lang="he-IL" sz="1800" dirty="0">
                    <a:effectLst/>
                    <a:latin typeface="Times New Roman" panose="02020603050405020304" pitchFamily="18" charset="0"/>
                    <a:ea typeface="SimSun" panose="02010600030101010101" pitchFamily="2" charset="-122"/>
                  </a:rPr>
                  <a:t>*</a:t>
                </a:r>
                <a:r>
                  <a:rPr lang="en-US" sz="1800" dirty="0">
                    <a:effectLst/>
                    <a:latin typeface="Times New Roman" panose="02020603050405020304" pitchFamily="18" charset="0"/>
                    <a:ea typeface="SimSun" panose="02010600030101010101" pitchFamily="2" charset="-122"/>
                  </a:rPr>
                  <a:t>Q</a:t>
                </a:r>
                <a:r>
                  <a:rPr lang="he-IL" sz="1800" dirty="0">
                    <a:effectLst/>
                    <a:latin typeface="Times New Roman" panose="02020603050405020304" pitchFamily="18" charset="0"/>
                    <a:ea typeface="SimSun" panose="02010600030101010101" pitchFamily="2" charset="-122"/>
                  </a:rPr>
                  <a:t>=4000 , נבודד את הכמות, כלומר </a:t>
                </a:r>
                <a14:m>
                  <m:oMath xmlns:m="http://schemas.openxmlformats.org/officeDocument/2006/math">
                    <m:r>
                      <a:rPr lang="en-US" i="1">
                        <a:latin typeface="Cambria Math" panose="02040503050406030204" pitchFamily="18" charset="0"/>
                        <a:ea typeface="SimSun" panose="02010600030101010101" pitchFamily="2" charset="-122"/>
                      </a:rPr>
                      <m:t>𝑄</m:t>
                    </m:r>
                    <m:r>
                      <a:rPr lang="en-US" b="0" i="1" smtClean="0">
                        <a:latin typeface="Cambria Math" panose="02040503050406030204" pitchFamily="18" charset="0"/>
                        <a:ea typeface="SimSun" panose="02010600030101010101" pitchFamily="2" charset="-122"/>
                      </a:rPr>
                      <m:t>𝑑</m:t>
                    </m:r>
                    <m:r>
                      <a:rPr lang="en-US" i="1">
                        <a:latin typeface="Cambria Math" panose="02040503050406030204" pitchFamily="18" charset="0"/>
                        <a:ea typeface="SimSun" panose="02010600030101010101" pitchFamily="2" charset="-122"/>
                      </a:rPr>
                      <m:t>=</m:t>
                    </m:r>
                    <m:f>
                      <m:fPr>
                        <m:ctrlPr>
                          <a:rPr lang="en-US" i="1">
                            <a:latin typeface="Cambria Math" panose="02040503050406030204" pitchFamily="18" charset="0"/>
                            <a:ea typeface="SimSun" panose="02010600030101010101" pitchFamily="2" charset="-122"/>
                          </a:rPr>
                        </m:ctrlPr>
                      </m:fPr>
                      <m:num>
                        <m:r>
                          <m:rPr>
                            <m:nor/>
                          </m:rPr>
                          <a:rPr lang="he-IL" dirty="0">
                            <a:latin typeface="Times New Roman" panose="02020603050405020304" pitchFamily="18" charset="0"/>
                            <a:ea typeface="SimSun" panose="02010600030101010101" pitchFamily="2" charset="-122"/>
                          </a:rPr>
                          <m:t>4000</m:t>
                        </m:r>
                      </m:num>
                      <m:den>
                        <m:r>
                          <m:rPr>
                            <m:nor/>
                          </m:rPr>
                          <a:rPr lang="en-US" dirty="0">
                            <a:latin typeface="Times New Roman" panose="02020603050405020304" pitchFamily="18" charset="0"/>
                            <a:ea typeface="SimSun" panose="02010600030101010101" pitchFamily="2" charset="-122"/>
                          </a:rPr>
                          <m:t>P</m:t>
                        </m:r>
                      </m:den>
                    </m:f>
                  </m:oMath>
                </a14:m>
                <a:endParaRPr lang="en-IL" dirty="0">
                  <a:latin typeface="Times New Roman" panose="02020603050405020304" pitchFamily="18" charset="0"/>
                  <a:ea typeface="SimSun" panose="02010600030101010101" pitchFamily="2" charset="-122"/>
                </a:endParaRPr>
              </a:p>
              <a:p>
                <a:pPr algn="r" rtl="1"/>
                <a:endParaRPr lang="en-US" dirty="0">
                  <a:latin typeface="Times New Roman" panose="02020603050405020304" pitchFamily="18" charset="0"/>
                  <a:ea typeface="SimSun" panose="02010600030101010101" pitchFamily="2" charset="-122"/>
                </a:endParaRPr>
              </a:p>
              <a:p>
                <a:pPr algn="r" rtl="1"/>
                <a:r>
                  <a:rPr lang="he-IL" sz="1800" dirty="0">
                    <a:effectLst/>
                    <a:latin typeface="Times New Roman" panose="02020603050405020304" pitchFamily="18" charset="0"/>
                    <a:ea typeface="SimSun" panose="02010600030101010101" pitchFamily="2" charset="-122"/>
                  </a:rPr>
                  <a:t>לאחר הטלת המס גובה המס הוא ההפרש בין מחיר צרכן למחיר יצרן וכמו כן ידוע שמחיר הצרכן לאחר הטלת המס הוא כפול מהמחיר שמקבל היצרן, כלומר:</a:t>
                </a:r>
                <a:endParaRPr lang="en-IL" sz="1800" dirty="0">
                  <a:effectLst/>
                  <a:latin typeface="Times New Roman" panose="02020603050405020304" pitchFamily="18" charset="0"/>
                  <a:ea typeface="SimSun" panose="02010600030101010101" pitchFamily="2" charset="-122"/>
                </a:endParaRPr>
              </a:p>
              <a:p>
                <a:pPr algn="l" rtl="0"/>
                <a:r>
                  <a:rPr lang="en-US" sz="1800" dirty="0">
                    <a:solidFill>
                      <a:srgbClr val="002060"/>
                    </a:solidFill>
                    <a:effectLst/>
                    <a:highlight>
                      <a:srgbClr val="FFFF00"/>
                    </a:highlight>
                    <a:latin typeface="Times New Roman" panose="02020603050405020304" pitchFamily="18" charset="0"/>
                    <a:ea typeface="SimSun" panose="02010600030101010101" pitchFamily="2" charset="-122"/>
                  </a:rPr>
                  <a:t>P</a:t>
                </a:r>
                <a:r>
                  <a:rPr lang="he-IL" sz="1800" dirty="0">
                    <a:solidFill>
                      <a:srgbClr val="002060"/>
                    </a:solidFill>
                    <a:effectLst/>
                    <a:highlight>
                      <a:srgbClr val="FFFF00"/>
                    </a:highlight>
                    <a:latin typeface="Times New Roman" panose="02020603050405020304" pitchFamily="18" charset="0"/>
                    <a:ea typeface="SimSun" panose="02010600030101010101" pitchFamily="2" charset="-122"/>
                  </a:rPr>
                  <a:t>צרכן</a:t>
                </a:r>
                <a:r>
                  <a:rPr lang="en-US" sz="1800" dirty="0">
                    <a:effectLst/>
                    <a:highlight>
                      <a:srgbClr val="FFFF00"/>
                    </a:highlight>
                    <a:latin typeface="Times New Roman" panose="02020603050405020304" pitchFamily="18" charset="0"/>
                    <a:ea typeface="SimSun" panose="02010600030101010101" pitchFamily="2" charset="-122"/>
                  </a:rPr>
                  <a:t>=2</a:t>
                </a:r>
                <a:r>
                  <a:rPr lang="he-IL" sz="1800" dirty="0">
                    <a:effectLst/>
                    <a:highlight>
                      <a:srgbClr val="FFFF00"/>
                    </a:highlight>
                    <a:latin typeface="Times New Roman" panose="02020603050405020304" pitchFamily="18" charset="0"/>
                    <a:ea typeface="SimSun" panose="02010600030101010101" pitchFamily="2" charset="-122"/>
                  </a:rPr>
                  <a:t>)</a:t>
                </a:r>
                <a:r>
                  <a:rPr lang="en-US" sz="1800" dirty="0">
                    <a:solidFill>
                      <a:srgbClr val="C00000"/>
                    </a:solidFill>
                    <a:effectLst/>
                    <a:highlight>
                      <a:srgbClr val="FFFF00"/>
                    </a:highlight>
                    <a:latin typeface="Times New Roman" panose="02020603050405020304" pitchFamily="18" charset="0"/>
                    <a:ea typeface="SimSun" panose="02010600030101010101" pitchFamily="2" charset="-122"/>
                  </a:rPr>
                  <a:t>P</a:t>
                </a:r>
                <a:r>
                  <a:rPr lang="he-IL" sz="1800" dirty="0">
                    <a:solidFill>
                      <a:srgbClr val="C00000"/>
                    </a:solidFill>
                    <a:effectLst/>
                    <a:highlight>
                      <a:srgbClr val="FFFF00"/>
                    </a:highlight>
                    <a:latin typeface="Times New Roman" panose="02020603050405020304" pitchFamily="18" charset="0"/>
                    <a:ea typeface="SimSun" panose="02010600030101010101" pitchFamily="2" charset="-122"/>
                  </a:rPr>
                  <a:t> (יצרן</a:t>
                </a:r>
                <a:endParaRPr lang="en-IL" sz="1800" dirty="0">
                  <a:solidFill>
                    <a:srgbClr val="C00000"/>
                  </a:solidFill>
                  <a:effectLst/>
                  <a:highlight>
                    <a:srgbClr val="FFFF00"/>
                  </a:highlight>
                  <a:latin typeface="Times New Roman" panose="02020603050405020304" pitchFamily="18" charset="0"/>
                  <a:ea typeface="SimSun" panose="02010600030101010101" pitchFamily="2" charset="-122"/>
                </a:endParaRPr>
              </a:p>
              <a:p>
                <a:r>
                  <a:rPr lang="he-IL" sz="1800" dirty="0">
                    <a:effectLst/>
                    <a:latin typeface="Times New Roman" panose="02020603050405020304" pitchFamily="18" charset="0"/>
                    <a:ea typeface="SimSun" panose="02010600030101010101" pitchFamily="2" charset="-122"/>
                  </a:rPr>
                  <a:t>נציב במחיר צרכן </a:t>
                </a:r>
                <a14:m>
                  <m:oMath xmlns:m="http://schemas.openxmlformats.org/officeDocument/2006/math">
                    <m:r>
                      <m:rPr>
                        <m:nor/>
                      </m:rPr>
                      <a:rPr lang="en-US" dirty="0">
                        <a:latin typeface="Times New Roman" panose="02020603050405020304" pitchFamily="18" charset="0"/>
                        <a:ea typeface="SimSun" panose="02010600030101010101" pitchFamily="2" charset="-122"/>
                      </a:rPr>
                      <m:t>P</m:t>
                    </m:r>
                    <m:r>
                      <a:rPr lang="en-US" i="1">
                        <a:latin typeface="Cambria Math" panose="02040503050406030204" pitchFamily="18" charset="0"/>
                        <a:ea typeface="SimSun" panose="02010600030101010101" pitchFamily="2" charset="-122"/>
                      </a:rPr>
                      <m:t>=</m:t>
                    </m:r>
                    <m:f>
                      <m:fPr>
                        <m:ctrlPr>
                          <a:rPr lang="en-US" i="1" smtClean="0">
                            <a:solidFill>
                              <a:srgbClr val="002060"/>
                            </a:solidFill>
                            <a:latin typeface="Cambria Math" panose="02040503050406030204" pitchFamily="18" charset="0"/>
                            <a:ea typeface="SimSun" panose="02010600030101010101" pitchFamily="2" charset="-122"/>
                          </a:rPr>
                        </m:ctrlPr>
                      </m:fPr>
                      <m:num>
                        <m:r>
                          <m:rPr>
                            <m:nor/>
                          </m:rPr>
                          <a:rPr lang="he-IL" dirty="0">
                            <a:solidFill>
                              <a:srgbClr val="002060"/>
                            </a:solidFill>
                            <a:latin typeface="Times New Roman" panose="02020603050405020304" pitchFamily="18" charset="0"/>
                            <a:ea typeface="SimSun" panose="02010600030101010101" pitchFamily="2" charset="-122"/>
                          </a:rPr>
                          <m:t>4000</m:t>
                        </m:r>
                      </m:num>
                      <m:den>
                        <m:r>
                          <a:rPr lang="en-US" i="1">
                            <a:solidFill>
                              <a:srgbClr val="002060"/>
                            </a:solidFill>
                            <a:latin typeface="Cambria Math" panose="02040503050406030204" pitchFamily="18" charset="0"/>
                            <a:ea typeface="SimSun" panose="02010600030101010101" pitchFamily="2" charset="-122"/>
                          </a:rPr>
                          <m:t>𝑄</m:t>
                        </m:r>
                      </m:den>
                    </m:f>
                    <m:r>
                      <a:rPr lang="en-US" i="1" dirty="0">
                        <a:solidFill>
                          <a:srgbClr val="002060"/>
                        </a:solidFill>
                        <a:latin typeface="Cambria Math" panose="02040503050406030204" pitchFamily="18" charset="0"/>
                        <a:ea typeface="SimSun" panose="02010600030101010101" pitchFamily="2" charset="-122"/>
                      </a:rPr>
                      <m:t> </m:t>
                    </m:r>
                  </m:oMath>
                </a14:m>
                <a:endParaRPr lang="en-US" dirty="0">
                  <a:latin typeface="Times New Roman" panose="02020603050405020304" pitchFamily="18" charset="0"/>
                  <a:ea typeface="SimSun" panose="02010600030101010101" pitchFamily="2" charset="-122"/>
                </a:endParaRPr>
              </a:p>
              <a:p>
                <a:pPr algn="r" rtl="1"/>
                <a:endParaRPr lang="en-IL" sz="1800" dirty="0">
                  <a:effectLst/>
                  <a:latin typeface="Times New Roman" panose="02020603050405020304" pitchFamily="18" charset="0"/>
                  <a:ea typeface="SimSun" panose="02010600030101010101" pitchFamily="2" charset="-122"/>
                </a:endParaRPr>
              </a:p>
              <a:p>
                <a:r>
                  <a:rPr lang="he-IL" sz="1800" dirty="0">
                    <a:effectLst/>
                    <a:latin typeface="Times New Roman" panose="02020603050405020304" pitchFamily="18" charset="0"/>
                    <a:ea typeface="SimSun" panose="02010600030101010101" pitchFamily="2" charset="-122"/>
                  </a:rPr>
                  <a:t>נציב במחיר יצרן:  </a:t>
                </a:r>
                <a14:m>
                  <m:oMath xmlns:m="http://schemas.openxmlformats.org/officeDocument/2006/math">
                    <m:r>
                      <m:rPr>
                        <m:nor/>
                      </m:rPr>
                      <a:rPr lang="en-US" dirty="0">
                        <a:latin typeface="Times New Roman" panose="02020603050405020304" pitchFamily="18" charset="0"/>
                        <a:ea typeface="SimSun" panose="02010600030101010101" pitchFamily="2" charset="-122"/>
                      </a:rPr>
                      <m:t>P</m:t>
                    </m:r>
                    <m:r>
                      <a:rPr lang="en-US" i="1">
                        <a:latin typeface="Cambria Math" panose="02040503050406030204" pitchFamily="18" charset="0"/>
                        <a:ea typeface="SimSun" panose="02010600030101010101" pitchFamily="2" charset="-122"/>
                      </a:rPr>
                      <m:t>=</m:t>
                    </m:r>
                    <m:f>
                      <m:fPr>
                        <m:ctrlPr>
                          <a:rPr lang="en-US" i="1">
                            <a:latin typeface="Cambria Math" panose="02040503050406030204" pitchFamily="18" charset="0"/>
                            <a:ea typeface="SimSun" panose="02010600030101010101" pitchFamily="2" charset="-122"/>
                          </a:rPr>
                        </m:ctrlPr>
                      </m:fPr>
                      <m:num>
                        <m:r>
                          <m:rPr>
                            <m:nor/>
                          </m:rPr>
                          <a:rPr lang="en-US" dirty="0">
                            <a:latin typeface="Times New Roman" panose="02020603050405020304" pitchFamily="18" charset="0"/>
                            <a:ea typeface="SimSun" panose="02010600030101010101" pitchFamily="2" charset="-122"/>
                          </a:rPr>
                          <m:t>Q</m:t>
                        </m:r>
                      </m:num>
                      <m:den>
                        <m:r>
                          <a:rPr lang="en-US" i="1" dirty="0">
                            <a:latin typeface="Cambria Math" panose="02040503050406030204" pitchFamily="18" charset="0"/>
                            <a:ea typeface="SimSun" panose="02010600030101010101" pitchFamily="2" charset="-122"/>
                          </a:rPr>
                          <m:t>20</m:t>
                        </m:r>
                      </m:den>
                    </m:f>
                    <m:r>
                      <a:rPr lang="en-US" i="1">
                        <a:latin typeface="Cambria Math" panose="02040503050406030204" pitchFamily="18" charset="0"/>
                        <a:ea typeface="SimSun" panose="02010600030101010101" pitchFamily="2" charset="-122"/>
                      </a:rPr>
                      <m:t> </m:t>
                    </m:r>
                  </m:oMath>
                </a14:m>
                <a:endParaRPr lang="en-US" dirty="0">
                  <a:latin typeface="Times New Roman" panose="02020603050405020304" pitchFamily="18" charset="0"/>
                  <a:ea typeface="SimSun" panose="02010600030101010101" pitchFamily="2" charset="-122"/>
                </a:endParaRPr>
              </a:p>
              <a:p>
                <a:r>
                  <a:rPr lang="he-IL" sz="1800" dirty="0">
                    <a:effectLst/>
                    <a:latin typeface="Times New Roman" panose="02020603050405020304" pitchFamily="18" charset="0"/>
                    <a:ea typeface="SimSun" panose="02010600030101010101" pitchFamily="2" charset="-122"/>
                  </a:rPr>
                  <a:t>כלומר:</a:t>
                </a:r>
              </a:p>
              <a:p>
                <a:pPr algn="l"/>
                <a14:m>
                  <m:oMathPara xmlns:m="http://schemas.openxmlformats.org/officeDocument/2006/math">
                    <m:oMathParaPr>
                      <m:jc m:val="left"/>
                    </m:oMathParaPr>
                    <m:oMath xmlns:m="http://schemas.openxmlformats.org/officeDocument/2006/math">
                      <m:f>
                        <m:fPr>
                          <m:ctrlPr>
                            <a:rPr lang="en-US" i="1" smtClean="0">
                              <a:solidFill>
                                <a:srgbClr val="002060"/>
                              </a:solidFill>
                              <a:highlight>
                                <a:srgbClr val="FFFF00"/>
                              </a:highlight>
                              <a:latin typeface="Cambria Math" panose="02040503050406030204" pitchFamily="18" charset="0"/>
                              <a:ea typeface="SimSun" panose="02010600030101010101" pitchFamily="2" charset="-122"/>
                            </a:rPr>
                          </m:ctrlPr>
                        </m:fPr>
                        <m:num>
                          <m:r>
                            <m:rPr>
                              <m:nor/>
                            </m:rPr>
                            <a:rPr lang="he-IL" dirty="0">
                              <a:solidFill>
                                <a:srgbClr val="002060"/>
                              </a:solidFill>
                              <a:highlight>
                                <a:srgbClr val="FFFF00"/>
                              </a:highlight>
                              <a:latin typeface="Times New Roman" panose="02020603050405020304" pitchFamily="18" charset="0"/>
                              <a:ea typeface="SimSun" panose="02010600030101010101" pitchFamily="2" charset="-122"/>
                            </a:rPr>
                            <m:t>4000</m:t>
                          </m:r>
                        </m:num>
                        <m:den>
                          <m:r>
                            <a:rPr lang="en-US" i="1">
                              <a:solidFill>
                                <a:srgbClr val="002060"/>
                              </a:solidFill>
                              <a:highlight>
                                <a:srgbClr val="FFFF00"/>
                              </a:highlight>
                              <a:latin typeface="Cambria Math" panose="02040503050406030204" pitchFamily="18" charset="0"/>
                              <a:ea typeface="SimSun" panose="02010600030101010101" pitchFamily="2" charset="-122"/>
                            </a:rPr>
                            <m:t>𝑄</m:t>
                          </m:r>
                        </m:den>
                      </m:f>
                      <m:r>
                        <a:rPr lang="en-US" b="0" i="1" dirty="0" smtClean="0">
                          <a:highlight>
                            <a:srgbClr val="FFFF00"/>
                          </a:highlight>
                          <a:latin typeface="Cambria Math" panose="02040503050406030204" pitchFamily="18" charset="0"/>
                          <a:ea typeface="SimSun" panose="02010600030101010101" pitchFamily="2" charset="-122"/>
                        </a:rPr>
                        <m:t>=</m:t>
                      </m:r>
                      <m:r>
                        <a:rPr lang="en-US" b="0" i="1" dirty="0" smtClean="0">
                          <a:highlight>
                            <a:srgbClr val="FFFF00"/>
                          </a:highlight>
                          <a:latin typeface="Cambria Math" panose="02040503050406030204" pitchFamily="18" charset="0"/>
                          <a:ea typeface="SimSun" panose="02010600030101010101" pitchFamily="2" charset="-122"/>
                        </a:rPr>
                        <m:t>2</m:t>
                      </m:r>
                      <m:r>
                        <a:rPr lang="en-US" b="0" i="1" dirty="0" smtClean="0">
                          <a:highlight>
                            <a:srgbClr val="FFFF00"/>
                          </a:highlight>
                          <a:latin typeface="Cambria Math" panose="02040503050406030204" pitchFamily="18" charset="0"/>
                          <a:ea typeface="SimSun" panose="02010600030101010101" pitchFamily="2" charset="-122"/>
                        </a:rPr>
                        <m:t>∗</m:t>
                      </m:r>
                      <m:r>
                        <a:rPr lang="en-US" b="0" i="0" dirty="0" smtClean="0">
                          <a:highlight>
                            <a:srgbClr val="FFFF00"/>
                          </a:highlight>
                          <a:latin typeface="Cambria Math" panose="02040503050406030204" pitchFamily="18" charset="0"/>
                          <a:ea typeface="SimSun" panose="02010600030101010101" pitchFamily="2" charset="-122"/>
                        </a:rPr>
                        <m:t>(</m:t>
                      </m:r>
                      <m:f>
                        <m:fPr>
                          <m:ctrlPr>
                            <a:rPr lang="en-US" i="1" smtClean="0">
                              <a:solidFill>
                                <a:srgbClr val="C00000"/>
                              </a:solidFill>
                              <a:highlight>
                                <a:srgbClr val="FFFF00"/>
                              </a:highlight>
                              <a:latin typeface="Cambria Math" panose="02040503050406030204" pitchFamily="18" charset="0"/>
                              <a:ea typeface="SimSun" panose="02010600030101010101" pitchFamily="2" charset="-122"/>
                            </a:rPr>
                          </m:ctrlPr>
                        </m:fPr>
                        <m:num>
                          <m:r>
                            <m:rPr>
                              <m:nor/>
                            </m:rPr>
                            <a:rPr lang="en-US" dirty="0">
                              <a:solidFill>
                                <a:srgbClr val="C00000"/>
                              </a:solidFill>
                              <a:highlight>
                                <a:srgbClr val="FFFF00"/>
                              </a:highlight>
                              <a:latin typeface="Times New Roman" panose="02020603050405020304" pitchFamily="18" charset="0"/>
                              <a:ea typeface="SimSun" panose="02010600030101010101" pitchFamily="2" charset="-122"/>
                            </a:rPr>
                            <m:t>Q</m:t>
                          </m:r>
                        </m:num>
                        <m:den>
                          <m:r>
                            <a:rPr lang="en-US" i="1" dirty="0">
                              <a:solidFill>
                                <a:srgbClr val="C00000"/>
                              </a:solidFill>
                              <a:highlight>
                                <a:srgbClr val="FFFF00"/>
                              </a:highlight>
                              <a:latin typeface="Cambria Math" panose="02040503050406030204" pitchFamily="18" charset="0"/>
                              <a:ea typeface="SimSun" panose="02010600030101010101" pitchFamily="2" charset="-122"/>
                            </a:rPr>
                            <m:t>20</m:t>
                          </m:r>
                        </m:den>
                      </m:f>
                      <m:r>
                        <a:rPr lang="en-US" i="1">
                          <a:solidFill>
                            <a:srgbClr val="C00000"/>
                          </a:solidFill>
                          <a:highlight>
                            <a:srgbClr val="FFFF00"/>
                          </a:highlight>
                          <a:latin typeface="Cambria Math" panose="02040503050406030204" pitchFamily="18" charset="0"/>
                          <a:ea typeface="SimSun" panose="02010600030101010101" pitchFamily="2" charset="-122"/>
                        </a:rPr>
                        <m:t> </m:t>
                      </m:r>
                      <m:r>
                        <a:rPr lang="en-US" b="0" i="0" dirty="0" smtClean="0">
                          <a:highlight>
                            <a:srgbClr val="FFFF00"/>
                          </a:highlight>
                          <a:latin typeface="Cambria Math" panose="02040503050406030204" pitchFamily="18" charset="0"/>
                          <a:ea typeface="SimSun" panose="02010600030101010101" pitchFamily="2" charset="-122"/>
                        </a:rPr>
                        <m:t>)</m:t>
                      </m:r>
                    </m:oMath>
                  </m:oMathPara>
                </a14:m>
                <a:endParaRPr lang="en-US" sz="1800" dirty="0">
                  <a:effectLst/>
                  <a:highlight>
                    <a:srgbClr val="FFFF00"/>
                  </a:highlight>
                  <a:latin typeface="Times New Roman" panose="02020603050405020304" pitchFamily="18" charset="0"/>
                  <a:ea typeface="SimSun" panose="02010600030101010101" pitchFamily="2" charset="-122"/>
                </a:endParaRPr>
              </a:p>
              <a:p>
                <a:r>
                  <a:rPr lang="he-IL" sz="1800" dirty="0">
                    <a:effectLst/>
                    <a:latin typeface="Times New Roman" panose="02020603050405020304" pitchFamily="18" charset="0"/>
                    <a:ea typeface="SimSun" panose="02010600030101010101" pitchFamily="2" charset="-122"/>
                  </a:rPr>
                  <a:t>ונקבל שהכמות לאחר המס </a:t>
                </a:r>
                <a:r>
                  <a:rPr lang="he-IL" sz="1800" b="1" dirty="0">
                    <a:solidFill>
                      <a:srgbClr val="7030A0"/>
                    </a:solidFill>
                    <a:effectLst/>
                    <a:latin typeface="Times New Roman" panose="02020603050405020304" pitchFamily="18" charset="0"/>
                    <a:ea typeface="SimSun" panose="02010600030101010101" pitchFamily="2" charset="-122"/>
                  </a:rPr>
                  <a:t>הינה 200 יח</a:t>
                </a:r>
                <a:r>
                  <a:rPr lang="he-IL" sz="1800" dirty="0">
                    <a:effectLst/>
                    <a:latin typeface="Times New Roman" panose="02020603050405020304" pitchFamily="18" charset="0"/>
                    <a:ea typeface="SimSun" panose="02010600030101010101" pitchFamily="2" charset="-122"/>
                  </a:rPr>
                  <a:t>', מחיר צרכן הינו 20 ש''ח ומחיר יצרן 10 ש''ח, מכאן </a:t>
                </a:r>
                <a:r>
                  <a:rPr lang="he-IL" sz="1800" b="1" dirty="0">
                    <a:solidFill>
                      <a:srgbClr val="C00000"/>
                    </a:solidFill>
                    <a:effectLst/>
                    <a:latin typeface="Times New Roman" panose="02020603050405020304" pitchFamily="18" charset="0"/>
                    <a:ea typeface="SimSun" panose="02010600030101010101" pitchFamily="2" charset="-122"/>
                  </a:rPr>
                  <a:t>שגובה המס הינו 10 ש''ח. </a:t>
                </a:r>
                <a:br>
                  <a:rPr lang="he-IL" sz="1800" dirty="0">
                    <a:effectLst/>
                    <a:latin typeface="Times New Roman" panose="02020603050405020304" pitchFamily="18" charset="0"/>
                    <a:ea typeface="SimSun" panose="02010600030101010101" pitchFamily="2" charset="-122"/>
                  </a:rPr>
                </a:br>
                <a:endParaRPr lang="en-IL" sz="1800" dirty="0">
                  <a:effectLst/>
                  <a:latin typeface="Times New Roman" panose="02020603050405020304" pitchFamily="18" charset="0"/>
                  <a:ea typeface="SimSun" panose="02010600030101010101" pitchFamily="2" charset="-122"/>
                </a:endParaRPr>
              </a:p>
            </p:txBody>
          </p:sp>
        </mc:Choice>
        <mc:Fallback xmlns="">
          <p:sp>
            <p:nvSpPr>
              <p:cNvPr id="7" name="TextBox 6">
                <a:extLst>
                  <a:ext uri="{FF2B5EF4-FFF2-40B4-BE49-F238E27FC236}">
                    <a16:creationId xmlns:a16="http://schemas.microsoft.com/office/drawing/2014/main" id="{71DB9DD9-9F0F-4D0A-9A6D-6B197CA949D9}"/>
                  </a:ext>
                </a:extLst>
              </p:cNvPr>
              <p:cNvSpPr txBox="1">
                <a:spLocks noRot="1" noChangeAspect="1" noMove="1" noResize="1" noEditPoints="1" noAdjustHandles="1" noChangeArrowheads="1" noChangeShapeType="1" noTextEdit="1"/>
              </p:cNvSpPr>
              <p:nvPr/>
            </p:nvSpPr>
            <p:spPr>
              <a:xfrm>
                <a:off x="24820" y="1340768"/>
                <a:ext cx="5688632" cy="5086649"/>
              </a:xfrm>
              <a:prstGeom prst="rect">
                <a:avLst/>
              </a:prstGeom>
              <a:blipFill>
                <a:blip r:embed="rId2"/>
                <a:stretch>
                  <a:fillRect l="-1822" t="-719" r="-965"/>
                </a:stretch>
              </a:blipFill>
            </p:spPr>
            <p:txBody>
              <a:bodyPr/>
              <a:lstStyle/>
              <a:p>
                <a:r>
                  <a:rPr lang="en-IL">
                    <a:noFill/>
                  </a:rPr>
                  <a:t> </a:t>
                </a:r>
              </a:p>
            </p:txBody>
          </p:sp>
        </mc:Fallback>
      </mc:AlternateContent>
      <p:sp>
        <p:nvSpPr>
          <p:cNvPr id="9" name="TextBox 8">
            <a:extLst>
              <a:ext uri="{FF2B5EF4-FFF2-40B4-BE49-F238E27FC236}">
                <a16:creationId xmlns:a16="http://schemas.microsoft.com/office/drawing/2014/main" id="{1C1D6871-749B-48FB-94D6-B2568A1C9C4A}"/>
              </a:ext>
            </a:extLst>
          </p:cNvPr>
          <p:cNvSpPr txBox="1"/>
          <p:nvPr/>
        </p:nvSpPr>
        <p:spPr>
          <a:xfrm>
            <a:off x="5575959" y="4560553"/>
            <a:ext cx="3171777" cy="1200329"/>
          </a:xfrm>
          <a:prstGeom prst="rect">
            <a:avLst/>
          </a:prstGeom>
          <a:noFill/>
        </p:spPr>
        <p:txBody>
          <a:bodyPr wrap="square">
            <a:spAutoFit/>
          </a:bodyPr>
          <a:lstStyle/>
          <a:p>
            <a:r>
              <a:rPr lang="he-IL" sz="1800" dirty="0">
                <a:effectLst/>
                <a:latin typeface="Times New Roman" panose="02020603050405020304" pitchFamily="18" charset="0"/>
                <a:ea typeface="SimSun" panose="02010600030101010101" pitchFamily="2" charset="-122"/>
              </a:rPr>
              <a:t>הכנסות הממשלה= 2000 ש''ח</a:t>
            </a:r>
            <a:endParaRPr lang="en-US" sz="1800" dirty="0">
              <a:effectLst/>
              <a:latin typeface="Times New Roman" panose="02020603050405020304" pitchFamily="18" charset="0"/>
              <a:ea typeface="SimSun" panose="02010600030101010101" pitchFamily="2" charset="-122"/>
            </a:endParaRPr>
          </a:p>
          <a:p>
            <a:r>
              <a:rPr lang="he-IL" sz="1800" b="1" dirty="0">
                <a:solidFill>
                  <a:srgbClr val="C00000"/>
                </a:solidFill>
                <a:effectLst/>
                <a:latin typeface="Times New Roman" panose="02020603050405020304" pitchFamily="18" charset="0"/>
                <a:ea typeface="SimSun" panose="02010600030101010101" pitchFamily="2" charset="-122"/>
              </a:rPr>
              <a:t>גובה המס ליחידה</a:t>
            </a:r>
            <a:r>
              <a:rPr lang="he-IL" sz="1800" dirty="0">
                <a:effectLst/>
                <a:latin typeface="Times New Roman" panose="02020603050405020304" pitchFamily="18" charset="0"/>
                <a:ea typeface="SimSun" panose="02010600030101010101" pitchFamily="2" charset="-122"/>
              </a:rPr>
              <a:t>*</a:t>
            </a:r>
            <a:r>
              <a:rPr lang="he-IL" sz="1800" dirty="0">
                <a:solidFill>
                  <a:srgbClr val="7030A0"/>
                </a:solidFill>
                <a:effectLst/>
                <a:latin typeface="Times New Roman" panose="02020603050405020304" pitchFamily="18" charset="0"/>
                <a:ea typeface="SimSun" panose="02010600030101010101" pitchFamily="2" charset="-122"/>
              </a:rPr>
              <a:t>כמות מיוצרת </a:t>
            </a:r>
            <a:endParaRPr lang="en-US" sz="1800" dirty="0">
              <a:solidFill>
                <a:srgbClr val="7030A0"/>
              </a:solidFill>
              <a:effectLst/>
              <a:latin typeface="Times New Roman" panose="02020603050405020304" pitchFamily="18" charset="0"/>
              <a:ea typeface="SimSun" panose="02010600030101010101" pitchFamily="2" charset="-122"/>
            </a:endParaRPr>
          </a:p>
          <a:p>
            <a:r>
              <a:rPr lang="he-IL" sz="1800" dirty="0">
                <a:effectLst/>
                <a:latin typeface="Times New Roman" panose="02020603050405020304" pitchFamily="18" charset="0"/>
                <a:ea typeface="SimSun" panose="02010600030101010101" pitchFamily="2" charset="-122"/>
              </a:rPr>
              <a:t>כלומר </a:t>
            </a:r>
            <a:r>
              <a:rPr lang="en-US" sz="1800" b="1" dirty="0">
                <a:solidFill>
                  <a:srgbClr val="C00000"/>
                </a:solidFill>
                <a:effectLst/>
                <a:latin typeface="Times New Roman" panose="02020603050405020304" pitchFamily="18" charset="0"/>
                <a:ea typeface="SimSun" panose="02010600030101010101" pitchFamily="2" charset="-122"/>
              </a:rPr>
              <a:t>10</a:t>
            </a:r>
            <a:r>
              <a:rPr lang="he-IL" sz="1800" dirty="0">
                <a:effectLst/>
                <a:latin typeface="Times New Roman" panose="02020603050405020304" pitchFamily="18" charset="0"/>
                <a:ea typeface="SimSun" panose="02010600030101010101" pitchFamily="2" charset="-122"/>
              </a:rPr>
              <a:t>*</a:t>
            </a:r>
            <a:r>
              <a:rPr lang="en-US" sz="1800" dirty="0">
                <a:solidFill>
                  <a:srgbClr val="7030A0"/>
                </a:solidFill>
                <a:effectLst/>
                <a:latin typeface="Times New Roman" panose="02020603050405020304" pitchFamily="18" charset="0"/>
                <a:ea typeface="SimSun" panose="02010600030101010101" pitchFamily="2" charset="-122"/>
              </a:rPr>
              <a:t>200</a:t>
            </a:r>
            <a:r>
              <a:rPr lang="en-US" sz="1800" dirty="0">
                <a:effectLst/>
                <a:latin typeface="Times New Roman" panose="02020603050405020304" pitchFamily="18" charset="0"/>
                <a:ea typeface="SimSun" panose="02010600030101010101" pitchFamily="2" charset="-122"/>
              </a:rPr>
              <a:t> </a:t>
            </a:r>
          </a:p>
          <a:p>
            <a:endParaRPr lang="en-US"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079046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3F5E7-97D9-D054-9468-0A5DE3BF80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4D0349-0CA6-7EF2-4604-4D125DB247FB}"/>
              </a:ext>
            </a:extLst>
          </p:cNvPr>
          <p:cNvSpPr>
            <a:spLocks noGrp="1"/>
          </p:cNvSpPr>
          <p:nvPr>
            <p:ph idx="1"/>
          </p:nvPr>
        </p:nvSpPr>
        <p:spPr>
          <a:xfrm>
            <a:off x="611073" y="980728"/>
            <a:ext cx="8229600" cy="3528392"/>
          </a:xfrm>
        </p:spPr>
        <p:txBody>
          <a:bodyPr>
            <a:normAutofit/>
          </a:bodyPr>
          <a:lstStyle/>
          <a:p>
            <a:pPr marL="109728" indent="0" algn="r" rtl="1">
              <a:lnSpc>
                <a:spcPct val="150000"/>
              </a:lnSpc>
              <a:spcBef>
                <a:spcPts val="400"/>
              </a:spcBef>
              <a:buNone/>
            </a:pPr>
            <a:r>
              <a:rPr lang="he-IL" sz="18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עקומת הביקוש וההיצע לביצים הינן רגילות. בעקבות תלונת יצרני הביצים, החליטה הממשלה להעניק ליצרנים סובסידיה בגודל 1.5 ש''ח לכל ביצה. בעקבות זאת: </a:t>
            </a:r>
            <a:br>
              <a:rPr lang="he-IL" sz="18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br>
            <a:r>
              <a:rPr lang="he-IL" sz="18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א. מחיר הביצים לצרכן ירד וכמות שווי המשקל לא תשתנה. </a:t>
            </a:r>
            <a:endParaRPr lang="en-IL" sz="1800" dirty="0">
              <a:effectLst/>
              <a:latin typeface="Times New Roman" panose="02020603050405020304" pitchFamily="18" charset="0"/>
              <a:ea typeface="Times New Roman" panose="02020603050405020304" pitchFamily="18" charset="0"/>
            </a:endParaRPr>
          </a:p>
          <a:p>
            <a:pPr marL="109728" indent="0" algn="r" rtl="1">
              <a:lnSpc>
                <a:spcPct val="150000"/>
              </a:lnSpc>
              <a:spcBef>
                <a:spcPts val="400"/>
              </a:spcBef>
              <a:buNone/>
            </a:pPr>
            <a:r>
              <a:rPr lang="he-IL" sz="18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ב. מחיר הביצים ליצרן יעלה וכך גם הכנסותיו. </a:t>
            </a:r>
            <a:endParaRPr lang="en-IL" sz="1800" dirty="0">
              <a:effectLst/>
              <a:latin typeface="Times New Roman" panose="02020603050405020304" pitchFamily="18" charset="0"/>
              <a:ea typeface="Times New Roman" panose="02020603050405020304" pitchFamily="18" charset="0"/>
            </a:endParaRPr>
          </a:p>
          <a:p>
            <a:pPr marL="109728" indent="0" algn="r" rtl="1">
              <a:lnSpc>
                <a:spcPct val="150000"/>
              </a:lnSpc>
              <a:spcBef>
                <a:spcPts val="400"/>
              </a:spcBef>
              <a:buNone/>
            </a:pPr>
            <a:r>
              <a:rPr lang="he-IL" sz="18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ג. מחיר הביצים לצרכן ירד ב-1.5 ש''ח.   </a:t>
            </a:r>
            <a:endParaRPr lang="en-IL" sz="1800" dirty="0">
              <a:effectLst/>
              <a:latin typeface="Times New Roman" panose="02020603050405020304" pitchFamily="18" charset="0"/>
              <a:ea typeface="Times New Roman" panose="02020603050405020304" pitchFamily="18" charset="0"/>
            </a:endParaRPr>
          </a:p>
          <a:p>
            <a:pPr marL="109728" indent="0" algn="r" rtl="1">
              <a:lnSpc>
                <a:spcPct val="150000"/>
              </a:lnSpc>
              <a:spcBef>
                <a:spcPts val="400"/>
              </a:spcBef>
              <a:buNone/>
            </a:pPr>
            <a:r>
              <a:rPr lang="he-IL" sz="18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ד. הוצאות הצרכנים ירדו בוודואת כי מחיר הביצים ירד.   </a:t>
            </a:r>
            <a:endParaRPr lang="en-IL" sz="1800" dirty="0">
              <a:effectLst/>
              <a:latin typeface="Times New Roman" panose="02020603050405020304" pitchFamily="18" charset="0"/>
              <a:ea typeface="Times New Roman" panose="02020603050405020304" pitchFamily="18" charset="0"/>
            </a:endParaRPr>
          </a:p>
          <a:p>
            <a:pPr marL="109728" indent="0" algn="r" rtl="1">
              <a:lnSpc>
                <a:spcPct val="150000"/>
              </a:lnSpc>
              <a:spcBef>
                <a:spcPts val="400"/>
              </a:spcBef>
              <a:buNone/>
            </a:pPr>
            <a:r>
              <a:rPr lang="he-IL" sz="18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ה. כל התשובות האחרות לא נכונות.  </a:t>
            </a:r>
            <a:endParaRPr lang="en-IL"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C504F1D4-A261-A9A6-9110-3FFB6AE95742}"/>
              </a:ext>
            </a:extLst>
          </p:cNvPr>
          <p:cNvSpPr>
            <a:spLocks noGrp="1"/>
          </p:cNvSpPr>
          <p:nvPr>
            <p:ph type="sldNum" sz="quarter" idx="12"/>
          </p:nvPr>
        </p:nvSpPr>
        <p:spPr/>
        <p:txBody>
          <a:bodyPr/>
          <a:lstStyle/>
          <a:p>
            <a:fld id="{FC6B3163-752A-4F30-8133-06B1B9326B1F}" type="slidenum">
              <a:rPr lang="he-IL" smtClean="0"/>
              <a:t>18</a:t>
            </a:fld>
            <a:endParaRPr lang="he-IL"/>
          </a:p>
        </p:txBody>
      </p:sp>
      <p:sp>
        <p:nvSpPr>
          <p:cNvPr id="5" name="Title 4">
            <a:extLst>
              <a:ext uri="{FF2B5EF4-FFF2-40B4-BE49-F238E27FC236}">
                <a16:creationId xmlns:a16="http://schemas.microsoft.com/office/drawing/2014/main" id="{C864B0DB-5B35-6493-D7C5-33FFA0AA7A9E}"/>
              </a:ext>
            </a:extLst>
          </p:cNvPr>
          <p:cNvSpPr>
            <a:spLocks noGrp="1"/>
          </p:cNvSpPr>
          <p:nvPr>
            <p:ph type="title"/>
          </p:nvPr>
        </p:nvSpPr>
        <p:spPr>
          <a:xfrm>
            <a:off x="908072" y="0"/>
            <a:ext cx="8229600" cy="1143000"/>
          </a:xfrm>
        </p:spPr>
        <p:txBody>
          <a:bodyPr/>
          <a:lstStyle/>
          <a:p>
            <a:pPr algn="r"/>
            <a:r>
              <a:rPr lang="he-IL" sz="4400" dirty="0">
                <a:latin typeface="Times New Roman" panose="02020603050405020304" pitchFamily="18" charset="0"/>
                <a:ea typeface="Times New Roman" panose="02020603050405020304" pitchFamily="18" charset="0"/>
              </a:rPr>
              <a:t>שאלה 5</a:t>
            </a:r>
            <a:endParaRPr lang="en-US" dirty="0"/>
          </a:p>
        </p:txBody>
      </p:sp>
    </p:spTree>
    <p:extLst>
      <p:ext uri="{BB962C8B-B14F-4D97-AF65-F5344CB8AC3E}">
        <p14:creationId xmlns:p14="http://schemas.microsoft.com/office/powerpoint/2010/main" val="3615995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83097-771B-A395-C7E6-264E479218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C77EF5-ADE9-F60A-B81D-E9B4BE0120F5}"/>
              </a:ext>
            </a:extLst>
          </p:cNvPr>
          <p:cNvSpPr>
            <a:spLocks noGrp="1"/>
          </p:cNvSpPr>
          <p:nvPr>
            <p:ph idx="1"/>
          </p:nvPr>
        </p:nvSpPr>
        <p:spPr>
          <a:xfrm>
            <a:off x="107504" y="116632"/>
            <a:ext cx="7148993" cy="2736304"/>
          </a:xfrm>
        </p:spPr>
        <p:txBody>
          <a:bodyPr>
            <a:normAutofit lnSpcReduction="10000"/>
          </a:bodyPr>
          <a:lstStyle/>
          <a:p>
            <a:pPr marL="109728" indent="0" algn="r" rtl="1">
              <a:lnSpc>
                <a:spcPct val="150000"/>
              </a:lnSpc>
              <a:spcBef>
                <a:spcPts val="400"/>
              </a:spcBef>
              <a:buNone/>
            </a:pPr>
            <a:r>
              <a:rPr lang="he-IL" sz="18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עקו</a:t>
            </a:r>
            <a:r>
              <a:rPr lang="he-IL" sz="16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מת הביקוש וההיצע לביצים הינן רגילות. בעקבות תלונת יצרני הביצים, החליטה הממשלה להעניק ליצרנים סובסידיה בגודל 1.5 ש''ח לכל ביצה. בעקבות זאת: </a:t>
            </a:r>
            <a:br>
              <a:rPr lang="he-IL" sz="16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br>
            <a:r>
              <a:rPr lang="he-IL" sz="16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א. מחיר הביצים לצרכן ירד וכמות שווי המשקל לא תשתנה. </a:t>
            </a:r>
            <a:endParaRPr lang="en-IL" sz="1600" dirty="0">
              <a:effectLst/>
              <a:latin typeface="Times New Roman" panose="02020603050405020304" pitchFamily="18" charset="0"/>
              <a:ea typeface="Times New Roman" panose="02020603050405020304" pitchFamily="18" charset="0"/>
            </a:endParaRPr>
          </a:p>
          <a:p>
            <a:pPr marL="109728" indent="0" algn="r" rtl="1">
              <a:lnSpc>
                <a:spcPct val="150000"/>
              </a:lnSpc>
              <a:spcBef>
                <a:spcPts val="400"/>
              </a:spcBef>
              <a:buNone/>
            </a:pPr>
            <a:r>
              <a:rPr lang="he-IL" sz="1600" kern="1200" dirty="0">
                <a:solidFill>
                  <a:srgbClr val="22222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ב. מחיר הביצים ליצרן יעלה וכך גם הכנסותיו. </a:t>
            </a:r>
            <a:endParaRPr lang="en-IL" sz="1600" dirty="0">
              <a:effectLst/>
              <a:highlight>
                <a:srgbClr val="FFFF00"/>
              </a:highlight>
              <a:latin typeface="Times New Roman" panose="02020603050405020304" pitchFamily="18" charset="0"/>
              <a:ea typeface="Times New Roman" panose="02020603050405020304" pitchFamily="18" charset="0"/>
            </a:endParaRPr>
          </a:p>
          <a:p>
            <a:pPr marL="109728" indent="0" algn="r" rtl="1">
              <a:lnSpc>
                <a:spcPct val="150000"/>
              </a:lnSpc>
              <a:spcBef>
                <a:spcPts val="400"/>
              </a:spcBef>
              <a:buNone/>
            </a:pPr>
            <a:r>
              <a:rPr lang="he-IL" sz="16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ג. מחיר הביצים לצרכן ירד ב-1.5 ש''ח.   </a:t>
            </a:r>
            <a:endParaRPr lang="en-IL" sz="1600" dirty="0">
              <a:effectLst/>
              <a:latin typeface="Times New Roman" panose="02020603050405020304" pitchFamily="18" charset="0"/>
              <a:ea typeface="Times New Roman" panose="02020603050405020304" pitchFamily="18" charset="0"/>
            </a:endParaRPr>
          </a:p>
          <a:p>
            <a:pPr marL="109728" indent="0" algn="r" rtl="1">
              <a:lnSpc>
                <a:spcPct val="150000"/>
              </a:lnSpc>
              <a:spcBef>
                <a:spcPts val="400"/>
              </a:spcBef>
              <a:buNone/>
            </a:pPr>
            <a:r>
              <a:rPr lang="he-IL" sz="16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ד. הוצאות הצרכנים ירדו בוודואת כי מחיר הביצים ירד.   </a:t>
            </a:r>
            <a:endParaRPr lang="en-IL" sz="1600" dirty="0">
              <a:effectLst/>
              <a:latin typeface="Times New Roman" panose="02020603050405020304" pitchFamily="18" charset="0"/>
              <a:ea typeface="Times New Roman" panose="02020603050405020304" pitchFamily="18" charset="0"/>
            </a:endParaRPr>
          </a:p>
          <a:p>
            <a:pPr marL="109728" indent="0" algn="r" rtl="1">
              <a:lnSpc>
                <a:spcPct val="150000"/>
              </a:lnSpc>
              <a:spcBef>
                <a:spcPts val="400"/>
              </a:spcBef>
              <a:buNone/>
            </a:pPr>
            <a:r>
              <a:rPr lang="he-IL" sz="16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ה. כל התשובות האחרות לא נכונות.  </a:t>
            </a:r>
            <a:endParaRPr lang="en-IL" sz="1600" dirty="0">
              <a:effectLst/>
              <a:latin typeface="Times New Roman" panose="02020603050405020304" pitchFamily="18" charset="0"/>
              <a:ea typeface="Times New Roman" panose="02020603050405020304" pitchFamily="18" charset="0"/>
            </a:endParaRPr>
          </a:p>
          <a:p>
            <a:pPr marL="109728" indent="0">
              <a:buNone/>
            </a:pPr>
            <a:endParaRPr lang="en-US" dirty="0"/>
          </a:p>
        </p:txBody>
      </p:sp>
      <p:sp>
        <p:nvSpPr>
          <p:cNvPr id="4" name="Slide Number Placeholder 3">
            <a:extLst>
              <a:ext uri="{FF2B5EF4-FFF2-40B4-BE49-F238E27FC236}">
                <a16:creationId xmlns:a16="http://schemas.microsoft.com/office/drawing/2014/main" id="{86CC49E2-176B-B159-DE86-70A313E7C8F9}"/>
              </a:ext>
            </a:extLst>
          </p:cNvPr>
          <p:cNvSpPr>
            <a:spLocks noGrp="1"/>
          </p:cNvSpPr>
          <p:nvPr>
            <p:ph type="sldNum" sz="quarter" idx="12"/>
          </p:nvPr>
        </p:nvSpPr>
        <p:spPr/>
        <p:txBody>
          <a:bodyPr/>
          <a:lstStyle/>
          <a:p>
            <a:fld id="{FC6B3163-752A-4F30-8133-06B1B9326B1F}" type="slidenum">
              <a:rPr lang="he-IL" smtClean="0"/>
              <a:t>19</a:t>
            </a:fld>
            <a:endParaRPr lang="he-IL"/>
          </a:p>
        </p:txBody>
      </p:sp>
      <p:sp>
        <p:nvSpPr>
          <p:cNvPr id="5" name="Title 4">
            <a:extLst>
              <a:ext uri="{FF2B5EF4-FFF2-40B4-BE49-F238E27FC236}">
                <a16:creationId xmlns:a16="http://schemas.microsoft.com/office/drawing/2014/main" id="{A1EBB0FD-73EB-071F-62A7-CAB3727F8A5F}"/>
              </a:ext>
            </a:extLst>
          </p:cNvPr>
          <p:cNvSpPr>
            <a:spLocks noGrp="1"/>
          </p:cNvSpPr>
          <p:nvPr>
            <p:ph type="title"/>
          </p:nvPr>
        </p:nvSpPr>
        <p:spPr>
          <a:xfrm>
            <a:off x="908072" y="0"/>
            <a:ext cx="8229600" cy="1143000"/>
          </a:xfrm>
        </p:spPr>
        <p:txBody>
          <a:bodyPr/>
          <a:lstStyle/>
          <a:p>
            <a:pPr algn="r"/>
            <a:r>
              <a:rPr lang="he-IL" sz="4400" dirty="0">
                <a:latin typeface="Times New Roman" panose="02020603050405020304" pitchFamily="18" charset="0"/>
                <a:ea typeface="Times New Roman" panose="02020603050405020304" pitchFamily="18" charset="0"/>
              </a:rPr>
              <a:t>שאלה 5</a:t>
            </a:r>
            <a:endParaRPr lang="en-US" dirty="0"/>
          </a:p>
        </p:txBody>
      </p:sp>
      <p:pic>
        <p:nvPicPr>
          <p:cNvPr id="6" name="Picture 5">
            <a:extLst>
              <a:ext uri="{FF2B5EF4-FFF2-40B4-BE49-F238E27FC236}">
                <a16:creationId xmlns:a16="http://schemas.microsoft.com/office/drawing/2014/main" id="{7671B1E6-7B02-839F-0B5E-B73290BB3AB4}"/>
              </a:ext>
            </a:extLst>
          </p:cNvPr>
          <p:cNvPicPr>
            <a:picLocks noChangeAspect="1"/>
          </p:cNvPicPr>
          <p:nvPr/>
        </p:nvPicPr>
        <p:blipFill>
          <a:blip r:embed="rId2"/>
          <a:stretch>
            <a:fillRect/>
          </a:stretch>
        </p:blipFill>
        <p:spPr>
          <a:xfrm>
            <a:off x="251520" y="2416680"/>
            <a:ext cx="3844920" cy="4388108"/>
          </a:xfrm>
          <a:prstGeom prst="rect">
            <a:avLst/>
          </a:prstGeom>
        </p:spPr>
      </p:pic>
      <p:pic>
        <p:nvPicPr>
          <p:cNvPr id="8" name="Picture 7">
            <a:extLst>
              <a:ext uri="{FF2B5EF4-FFF2-40B4-BE49-F238E27FC236}">
                <a16:creationId xmlns:a16="http://schemas.microsoft.com/office/drawing/2014/main" id="{4F8BE93E-FB75-CA1D-B95A-534963451E65}"/>
              </a:ext>
            </a:extLst>
          </p:cNvPr>
          <p:cNvPicPr>
            <a:picLocks noChangeAspect="1"/>
          </p:cNvPicPr>
          <p:nvPr/>
        </p:nvPicPr>
        <p:blipFill>
          <a:blip r:embed="rId3"/>
          <a:stretch>
            <a:fillRect/>
          </a:stretch>
        </p:blipFill>
        <p:spPr>
          <a:xfrm>
            <a:off x="4449396" y="3238495"/>
            <a:ext cx="3844920" cy="2744478"/>
          </a:xfrm>
          <a:prstGeom prst="rect">
            <a:avLst/>
          </a:prstGeom>
        </p:spPr>
      </p:pic>
    </p:spTree>
    <p:extLst>
      <p:ext uri="{BB962C8B-B14F-4D97-AF65-F5344CB8AC3E}">
        <p14:creationId xmlns:p14="http://schemas.microsoft.com/office/powerpoint/2010/main" val="392272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7147C-002A-70B3-1534-28FD25CAEB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012AA9-FFDD-A3CB-E163-D1CA744874EA}"/>
              </a:ext>
            </a:extLst>
          </p:cNvPr>
          <p:cNvSpPr>
            <a:spLocks noGrp="1"/>
          </p:cNvSpPr>
          <p:nvPr>
            <p:ph idx="1"/>
          </p:nvPr>
        </p:nvSpPr>
        <p:spPr>
          <a:xfrm>
            <a:off x="611073" y="980728"/>
            <a:ext cx="8229600" cy="3528392"/>
          </a:xfrm>
        </p:spPr>
        <p:txBody>
          <a:bodyPr>
            <a:normAutofit/>
          </a:bodyPr>
          <a:lstStyle/>
          <a:p>
            <a:pPr marL="0" indent="0" algn="r" rtl="1">
              <a:lnSpc>
                <a:spcPct val="150000"/>
              </a:lnSpc>
              <a:spcBef>
                <a:spcPts val="400"/>
              </a:spcBef>
              <a:buNone/>
            </a:pPr>
            <a:r>
              <a:rPr lang="he-IL" sz="1400" dirty="0">
                <a:solidFill>
                  <a:srgbClr val="222222"/>
                </a:solidFill>
                <a:latin typeface="Times New Roman" panose="02020603050405020304" pitchFamily="18" charset="0"/>
                <a:ea typeface="Times New Roman" panose="02020603050405020304" pitchFamily="18" charset="0"/>
                <a:cs typeface="Arial" panose="020B0604020202020204" pitchFamily="34" charset="0"/>
              </a:rPr>
              <a:t>הניחו שבענף התחבורה הציבורית שוררת תחרות משוכללת. עקומת ההיצע של נסיעות בתחבורה ציבורית עולה משמאל לימין ועקומת הביקוש יורדת משמאל לימין. הממשלה החליטה לסבסד את הנסיעות של הקשישים בגודל 2 ש''ח לנסיעה. כתוצאה מסובסידיה זו</a:t>
            </a:r>
            <a:r>
              <a:rPr lang="he-IL" sz="14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a:t>
            </a:r>
            <a:r>
              <a:rPr lang="en-US" sz="14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 </a:t>
            </a:r>
            <a:br>
              <a:rPr lang="he-IL" sz="14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br>
            <a:r>
              <a:rPr lang="he-IL" sz="14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א. עקומת הביקוש של המשק לנסיעות בתחבורה הציבורית תעלה בגובה 2 ש''ח, אך אין לדעת את העלייה המדויקת של המחיר, שכן העלייה תלויה בגמישות הביקוש. </a:t>
            </a:r>
          </a:p>
          <a:p>
            <a:pPr marL="0" indent="0" algn="r" rtl="1">
              <a:lnSpc>
                <a:spcPct val="150000"/>
              </a:lnSpc>
              <a:spcBef>
                <a:spcPts val="400"/>
              </a:spcBef>
              <a:buNone/>
            </a:pPr>
            <a:r>
              <a:rPr lang="he-IL" sz="14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ב. מחיר הנסיעה (ליצרן) יעלה וכתוצאה מכך, תקטן כמות הנסיעה בתחבורה ציבורית של כל הצרכנים במשק.</a:t>
            </a:r>
          </a:p>
          <a:p>
            <a:pPr marL="0" indent="0" algn="r" rtl="1">
              <a:lnSpc>
                <a:spcPct val="150000"/>
              </a:lnSpc>
              <a:spcBef>
                <a:spcPts val="400"/>
              </a:spcBef>
              <a:buNone/>
            </a:pPr>
            <a:r>
              <a:rPr lang="he-IL" sz="14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ג. מחיר הנסיעה (ליצרן) יעלה וכמות הנסיעות הנצרכות במשק תעלה גם היא. </a:t>
            </a:r>
          </a:p>
          <a:p>
            <a:pPr marL="0" indent="0" algn="r" rtl="1">
              <a:lnSpc>
                <a:spcPct val="150000"/>
              </a:lnSpc>
              <a:spcBef>
                <a:spcPts val="400"/>
              </a:spcBef>
              <a:buNone/>
            </a:pPr>
            <a:r>
              <a:rPr lang="he-IL" sz="14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ד. המחיר שמשלמים קשישים עבור נסיעות (בניכוי סובסידיה), לא ישתנה ורק צרכנים אחרים ישלמו מחיר גבוה יותר. </a:t>
            </a:r>
            <a:endParaRPr lang="en-IL" sz="1400" dirty="0">
              <a:effectLst/>
              <a:latin typeface="Times New Roman" panose="02020603050405020304" pitchFamily="18" charset="0"/>
              <a:ea typeface="Times New Roman" panose="02020603050405020304" pitchFamily="18" charset="0"/>
            </a:endParaRPr>
          </a:p>
          <a:p>
            <a:pPr marL="0" indent="0" algn="r" rtl="1">
              <a:lnSpc>
                <a:spcPct val="150000"/>
              </a:lnSpc>
              <a:spcBef>
                <a:spcPts val="400"/>
              </a:spcBef>
              <a:buNone/>
            </a:pPr>
            <a:r>
              <a:rPr lang="he-IL" sz="14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ה. כל התשובות האחרות לא נכונות.  </a:t>
            </a:r>
            <a:endParaRPr lang="en-IL" sz="14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16384C0-6EC7-5593-691D-698FA2A7F6AA}"/>
              </a:ext>
            </a:extLst>
          </p:cNvPr>
          <p:cNvSpPr>
            <a:spLocks noGrp="1"/>
          </p:cNvSpPr>
          <p:nvPr>
            <p:ph type="sldNum" sz="quarter" idx="12"/>
          </p:nvPr>
        </p:nvSpPr>
        <p:spPr/>
        <p:txBody>
          <a:bodyPr/>
          <a:lstStyle/>
          <a:p>
            <a:fld id="{FC6B3163-752A-4F30-8133-06B1B9326B1F}" type="slidenum">
              <a:rPr lang="he-IL" smtClean="0"/>
              <a:t>20</a:t>
            </a:fld>
            <a:endParaRPr lang="he-IL"/>
          </a:p>
        </p:txBody>
      </p:sp>
      <p:sp>
        <p:nvSpPr>
          <p:cNvPr id="5" name="Title 4">
            <a:extLst>
              <a:ext uri="{FF2B5EF4-FFF2-40B4-BE49-F238E27FC236}">
                <a16:creationId xmlns:a16="http://schemas.microsoft.com/office/drawing/2014/main" id="{090F9123-4CAE-47DB-B8AC-915DBA8F99B2}"/>
              </a:ext>
            </a:extLst>
          </p:cNvPr>
          <p:cNvSpPr>
            <a:spLocks noGrp="1"/>
          </p:cNvSpPr>
          <p:nvPr>
            <p:ph type="title"/>
          </p:nvPr>
        </p:nvSpPr>
        <p:spPr>
          <a:xfrm>
            <a:off x="908072" y="0"/>
            <a:ext cx="8229600" cy="1143000"/>
          </a:xfrm>
        </p:spPr>
        <p:txBody>
          <a:bodyPr/>
          <a:lstStyle/>
          <a:p>
            <a:pPr algn="r"/>
            <a:r>
              <a:rPr lang="he-IL" sz="4400" dirty="0">
                <a:latin typeface="Times New Roman" panose="02020603050405020304" pitchFamily="18" charset="0"/>
                <a:ea typeface="Times New Roman" panose="02020603050405020304" pitchFamily="18" charset="0"/>
              </a:rPr>
              <a:t>שאלה 6</a:t>
            </a:r>
            <a:endParaRPr lang="en-US" dirty="0"/>
          </a:p>
        </p:txBody>
      </p:sp>
    </p:spTree>
    <p:extLst>
      <p:ext uri="{BB962C8B-B14F-4D97-AF65-F5344CB8AC3E}">
        <p14:creationId xmlns:p14="http://schemas.microsoft.com/office/powerpoint/2010/main" val="4284955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23A42-4EA2-85DB-81EC-B63D0A73D5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EF9F2C-18CD-4823-5EF8-70ACDB557363}"/>
              </a:ext>
            </a:extLst>
          </p:cNvPr>
          <p:cNvSpPr>
            <a:spLocks noGrp="1"/>
          </p:cNvSpPr>
          <p:nvPr>
            <p:ph idx="1"/>
          </p:nvPr>
        </p:nvSpPr>
        <p:spPr>
          <a:xfrm>
            <a:off x="191164" y="184492"/>
            <a:ext cx="6913255" cy="2520280"/>
          </a:xfrm>
        </p:spPr>
        <p:txBody>
          <a:bodyPr>
            <a:normAutofit fontScale="92500" lnSpcReduction="20000"/>
          </a:bodyPr>
          <a:lstStyle/>
          <a:p>
            <a:pPr marL="0" indent="0" algn="r" rtl="1">
              <a:lnSpc>
                <a:spcPct val="150000"/>
              </a:lnSpc>
              <a:spcBef>
                <a:spcPts val="400"/>
              </a:spcBef>
              <a:buNone/>
            </a:pPr>
            <a:r>
              <a:rPr lang="he-IL" sz="1300" dirty="0">
                <a:solidFill>
                  <a:srgbClr val="222222"/>
                </a:solidFill>
                <a:latin typeface="Times New Roman" panose="02020603050405020304" pitchFamily="18" charset="0"/>
                <a:ea typeface="Times New Roman" panose="02020603050405020304" pitchFamily="18" charset="0"/>
                <a:cs typeface="Arial" panose="020B0604020202020204" pitchFamily="34" charset="0"/>
              </a:rPr>
              <a:t>הניחו שבענף התחבורה הציבורית שוררת תחרות משוכללת. עקומת ההיצע של נסיעות בתחבורה ציבורית עולה משמאל לימין ועקומת הביקוש יורדת משמאל לימין. הממשלה החליטה לסבסד את הנסיעות של הקשישים בגודל 2 ש''ח לנסיעה. כתוצאה מסובסידיה זו</a:t>
            </a:r>
            <a:r>
              <a:rPr lang="he-IL" sz="13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a:t>
            </a:r>
            <a:r>
              <a:rPr lang="en-US" sz="13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 </a:t>
            </a:r>
            <a:br>
              <a:rPr lang="he-IL" sz="13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br>
            <a:r>
              <a:rPr lang="he-IL" sz="13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א. עקומת הביקוש של המשק לנסיעות בתחבורה הציבורית תעלה בגובה 2 ש''ח, אך אין לדעת את העלייה המדויקת של המחיר, שכן העלייה תלויה בגמישות הביקוש. </a:t>
            </a:r>
          </a:p>
          <a:p>
            <a:pPr marL="0" indent="0" algn="r" rtl="1">
              <a:lnSpc>
                <a:spcPct val="150000"/>
              </a:lnSpc>
              <a:spcBef>
                <a:spcPts val="400"/>
              </a:spcBef>
              <a:buNone/>
            </a:pPr>
            <a:r>
              <a:rPr lang="he-IL" sz="13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ב. מחיר הנסיעה (ליצרן) יעלה וכתוצאה מכך, תקטן כמות הנסיעה בתחבורה ציבורית של כל הצרכנים במשק.</a:t>
            </a:r>
          </a:p>
          <a:p>
            <a:pPr marL="0" indent="0" algn="r" rtl="1">
              <a:lnSpc>
                <a:spcPct val="150000"/>
              </a:lnSpc>
              <a:spcBef>
                <a:spcPts val="400"/>
              </a:spcBef>
              <a:buNone/>
            </a:pPr>
            <a:r>
              <a:rPr lang="he-IL" sz="1300" kern="1200" dirty="0">
                <a:solidFill>
                  <a:srgbClr val="22222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ג. מחיר הנסיעה (ליצרן) יעלה וכמות הנסיעות הנצרכות במשק תעלה גם היא. </a:t>
            </a:r>
          </a:p>
          <a:p>
            <a:pPr marL="0" indent="0" algn="r" rtl="1">
              <a:lnSpc>
                <a:spcPct val="150000"/>
              </a:lnSpc>
              <a:spcBef>
                <a:spcPts val="400"/>
              </a:spcBef>
              <a:buNone/>
            </a:pPr>
            <a:r>
              <a:rPr lang="he-IL" sz="13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ד. המחיר שמשלמים קשישים עבור נסיעות (בניכוי סובסידיה) לא ישתנה ורק צרכנים אחרים ישלמו מחיר גבוה יותר. </a:t>
            </a:r>
            <a:endParaRPr lang="en-IL" sz="1300" dirty="0">
              <a:effectLst/>
              <a:latin typeface="Times New Roman" panose="02020603050405020304" pitchFamily="18" charset="0"/>
              <a:ea typeface="Times New Roman" panose="02020603050405020304" pitchFamily="18" charset="0"/>
            </a:endParaRPr>
          </a:p>
          <a:p>
            <a:pPr marL="0" indent="0" algn="r" rtl="1">
              <a:lnSpc>
                <a:spcPct val="150000"/>
              </a:lnSpc>
              <a:spcBef>
                <a:spcPts val="400"/>
              </a:spcBef>
              <a:buNone/>
            </a:pPr>
            <a:r>
              <a:rPr lang="he-IL" sz="1200" kern="1200" dirty="0">
                <a:solidFill>
                  <a:srgbClr val="222222"/>
                </a:solidFill>
                <a:effectLst/>
                <a:latin typeface="Times New Roman" panose="02020603050405020304" pitchFamily="18" charset="0"/>
                <a:ea typeface="Times New Roman" panose="02020603050405020304" pitchFamily="18" charset="0"/>
                <a:cs typeface="Arial" panose="020B0604020202020204" pitchFamily="34" charset="0"/>
              </a:rPr>
              <a:t>ה. כל התשובות האחרות לא נכונות.  </a:t>
            </a:r>
            <a:endParaRPr lang="en-IL" sz="12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9CB84EC6-A30B-C6B9-B5AE-C9FB9D037D14}"/>
              </a:ext>
            </a:extLst>
          </p:cNvPr>
          <p:cNvSpPr>
            <a:spLocks noGrp="1"/>
          </p:cNvSpPr>
          <p:nvPr>
            <p:ph type="sldNum" sz="quarter" idx="12"/>
          </p:nvPr>
        </p:nvSpPr>
        <p:spPr/>
        <p:txBody>
          <a:bodyPr/>
          <a:lstStyle/>
          <a:p>
            <a:fld id="{FC6B3163-752A-4F30-8133-06B1B9326B1F}" type="slidenum">
              <a:rPr lang="he-IL" smtClean="0"/>
              <a:t>21</a:t>
            </a:fld>
            <a:endParaRPr lang="he-IL"/>
          </a:p>
        </p:txBody>
      </p:sp>
      <p:sp>
        <p:nvSpPr>
          <p:cNvPr id="5" name="Title 4">
            <a:extLst>
              <a:ext uri="{FF2B5EF4-FFF2-40B4-BE49-F238E27FC236}">
                <a16:creationId xmlns:a16="http://schemas.microsoft.com/office/drawing/2014/main" id="{9FDF372F-06A8-14B1-FC73-30455139CF20}"/>
              </a:ext>
            </a:extLst>
          </p:cNvPr>
          <p:cNvSpPr>
            <a:spLocks noGrp="1"/>
          </p:cNvSpPr>
          <p:nvPr>
            <p:ph type="title"/>
          </p:nvPr>
        </p:nvSpPr>
        <p:spPr>
          <a:xfrm>
            <a:off x="908072" y="0"/>
            <a:ext cx="8229600" cy="1143000"/>
          </a:xfrm>
        </p:spPr>
        <p:txBody>
          <a:bodyPr/>
          <a:lstStyle/>
          <a:p>
            <a:pPr algn="r"/>
            <a:r>
              <a:rPr lang="he-IL" sz="4400">
                <a:latin typeface="Times New Roman" panose="02020603050405020304" pitchFamily="18" charset="0"/>
                <a:ea typeface="Times New Roman" panose="02020603050405020304" pitchFamily="18" charset="0"/>
              </a:rPr>
              <a:t>שאלה 6</a:t>
            </a:r>
            <a:endParaRPr lang="en-US" dirty="0"/>
          </a:p>
        </p:txBody>
      </p:sp>
      <p:sp>
        <p:nvSpPr>
          <p:cNvPr id="3" name="TextBox 2">
            <a:extLst>
              <a:ext uri="{FF2B5EF4-FFF2-40B4-BE49-F238E27FC236}">
                <a16:creationId xmlns:a16="http://schemas.microsoft.com/office/drawing/2014/main" id="{581DA3A4-5B35-57E5-AB9B-AFC843368832}"/>
              </a:ext>
            </a:extLst>
          </p:cNvPr>
          <p:cNvSpPr txBox="1"/>
          <p:nvPr/>
        </p:nvSpPr>
        <p:spPr>
          <a:xfrm>
            <a:off x="184666" y="2628976"/>
            <a:ext cx="8774667" cy="1169551"/>
          </a:xfrm>
          <a:prstGeom prst="rect">
            <a:avLst/>
          </a:prstGeom>
          <a:noFill/>
        </p:spPr>
        <p:txBody>
          <a:bodyPr wrap="square" rtlCol="0">
            <a:spAutoFit/>
          </a:bodyPr>
          <a:lstStyle/>
          <a:p>
            <a:r>
              <a:rPr lang="he-IL" sz="1400" b="1" u="sng" dirty="0"/>
              <a:t>הסבר: </a:t>
            </a:r>
            <a:r>
              <a:rPr lang="he-IL" sz="1400" dirty="0"/>
              <a:t>החלטת הממשלה לסבסד את הנסיעות בתחבורה ציבורית לקשישים גרמה לעלית עקומת הביקוש של הקשישים לתחבורה ציבורית מנקודת מבטו של היצרן. לכן, בשוק המצרפי מחיר הנסיעה יעלה ומספר הנסיעות בתחבורה הציבורית יגדל, שאר האוכלוסיה תיסע פחות בתחבורה ציבורית כי מחיר הנסיעה עלה והקשישים יגדילו את מספר הנסיעות בתחבורה ציבורית כי משלמים מחיר שוק פחות גובה הסובסידיה (המחיר לקשישים ירד ביחס למצב מוצא).  מחיר הנסיעה ליצרן יעלה אך בפחות מגובה 2 ש''ח. </a:t>
            </a:r>
            <a:endParaRPr lang="en-IL" sz="1400" dirty="0"/>
          </a:p>
        </p:txBody>
      </p:sp>
      <p:pic>
        <p:nvPicPr>
          <p:cNvPr id="7" name="Picture 6">
            <a:extLst>
              <a:ext uri="{FF2B5EF4-FFF2-40B4-BE49-F238E27FC236}">
                <a16:creationId xmlns:a16="http://schemas.microsoft.com/office/drawing/2014/main" id="{91890A38-DFC2-5AD5-40AA-7CE8C7D2F8FB}"/>
              </a:ext>
            </a:extLst>
          </p:cNvPr>
          <p:cNvPicPr>
            <a:picLocks noChangeAspect="1"/>
          </p:cNvPicPr>
          <p:nvPr/>
        </p:nvPicPr>
        <p:blipFill>
          <a:blip r:embed="rId2"/>
          <a:stretch>
            <a:fillRect/>
          </a:stretch>
        </p:blipFill>
        <p:spPr>
          <a:xfrm>
            <a:off x="191164" y="3700824"/>
            <a:ext cx="6913255" cy="3157176"/>
          </a:xfrm>
          <a:prstGeom prst="rect">
            <a:avLst/>
          </a:prstGeom>
        </p:spPr>
      </p:pic>
    </p:spTree>
    <p:extLst>
      <p:ext uri="{BB962C8B-B14F-4D97-AF65-F5344CB8AC3E}">
        <p14:creationId xmlns:p14="http://schemas.microsoft.com/office/powerpoint/2010/main" val="1802407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286643" y="0"/>
            <a:ext cx="1843667" cy="1143000"/>
          </a:xfrm>
        </p:spPr>
        <p:txBody>
          <a:bodyPr/>
          <a:lstStyle/>
          <a:p>
            <a:pPr algn="r"/>
            <a:r>
              <a:rPr lang="he-IL" b="1" dirty="0">
                <a:solidFill>
                  <a:schemeClr val="tx2">
                    <a:lumMod val="75000"/>
                  </a:schemeClr>
                </a:solidFill>
              </a:rPr>
              <a:t>שאלה 7</a:t>
            </a:r>
            <a:endParaRPr lang="he-IL" dirty="0"/>
          </a:p>
        </p:txBody>
      </p:sp>
      <p:sp>
        <p:nvSpPr>
          <p:cNvPr id="7" name="Rectangle 2"/>
          <p:cNvSpPr>
            <a:spLocks noChangeArrowheads="1"/>
          </p:cNvSpPr>
          <p:nvPr/>
        </p:nvSpPr>
        <p:spPr bwMode="auto">
          <a:xfrm>
            <a:off x="0" y="135729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8" name="Text Box 13"/>
          <p:cNvSpPr txBox="1">
            <a:spLocks noChangeArrowheads="1"/>
          </p:cNvSpPr>
          <p:nvPr/>
        </p:nvSpPr>
        <p:spPr bwMode="auto">
          <a:xfrm>
            <a:off x="565124" y="347503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9" name="Line 3"/>
          <p:cNvSpPr>
            <a:spLocks noChangeShapeType="1"/>
          </p:cNvSpPr>
          <p:nvPr/>
        </p:nvSpPr>
        <p:spPr bwMode="auto">
          <a:xfrm>
            <a:off x="874176" y="368934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0" name="Text Box 18"/>
          <p:cNvSpPr txBox="1">
            <a:spLocks noChangeArrowheads="1"/>
          </p:cNvSpPr>
          <p:nvPr/>
        </p:nvSpPr>
        <p:spPr bwMode="auto">
          <a:xfrm>
            <a:off x="2715577" y="583248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1" name="Line 3"/>
          <p:cNvSpPr>
            <a:spLocks noChangeShapeType="1"/>
          </p:cNvSpPr>
          <p:nvPr/>
        </p:nvSpPr>
        <p:spPr bwMode="auto">
          <a:xfrm>
            <a:off x="1071538" y="4714884"/>
            <a:ext cx="1214446" cy="1000132"/>
          </a:xfrm>
          <a:prstGeom prst="line">
            <a:avLst/>
          </a:prstGeom>
          <a:noFill/>
          <a:ln w="38100">
            <a:solidFill>
              <a:srgbClr val="00B05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2" name="Line 3"/>
          <p:cNvSpPr>
            <a:spLocks noChangeShapeType="1"/>
          </p:cNvSpPr>
          <p:nvPr/>
        </p:nvSpPr>
        <p:spPr bwMode="auto">
          <a:xfrm rot="16200000">
            <a:off x="1961627" y="478503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3"/>
          <p:cNvSpPr txBox="1">
            <a:spLocks noChangeArrowheads="1"/>
          </p:cNvSpPr>
          <p:nvPr/>
        </p:nvSpPr>
        <p:spPr bwMode="auto">
          <a:xfrm>
            <a:off x="3079147" y="347182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4" name="Line 3"/>
          <p:cNvSpPr>
            <a:spLocks noChangeShapeType="1"/>
          </p:cNvSpPr>
          <p:nvPr/>
        </p:nvSpPr>
        <p:spPr bwMode="auto">
          <a:xfrm>
            <a:off x="3408430" y="368614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8"/>
          <p:cNvSpPr txBox="1">
            <a:spLocks noChangeArrowheads="1"/>
          </p:cNvSpPr>
          <p:nvPr/>
        </p:nvSpPr>
        <p:spPr bwMode="auto">
          <a:xfrm>
            <a:off x="5222255" y="5829280"/>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6" name="Line 3"/>
          <p:cNvSpPr>
            <a:spLocks noChangeShapeType="1"/>
          </p:cNvSpPr>
          <p:nvPr/>
        </p:nvSpPr>
        <p:spPr bwMode="auto">
          <a:xfrm>
            <a:off x="6143636" y="4357694"/>
            <a:ext cx="2000264" cy="1285884"/>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8" name="Line 3"/>
          <p:cNvSpPr>
            <a:spLocks noChangeShapeType="1"/>
          </p:cNvSpPr>
          <p:nvPr/>
        </p:nvSpPr>
        <p:spPr bwMode="auto">
          <a:xfrm rot="16200000">
            <a:off x="4487355" y="478182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9" name="Text Box 13"/>
          <p:cNvSpPr txBox="1">
            <a:spLocks noChangeArrowheads="1"/>
          </p:cNvSpPr>
          <p:nvPr/>
        </p:nvSpPr>
        <p:spPr bwMode="auto">
          <a:xfrm>
            <a:off x="5572132" y="348611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0" name="Line 3"/>
          <p:cNvSpPr>
            <a:spLocks noChangeShapeType="1"/>
          </p:cNvSpPr>
          <p:nvPr/>
        </p:nvSpPr>
        <p:spPr bwMode="auto">
          <a:xfrm>
            <a:off x="5890384" y="370043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1" name="Line 3"/>
          <p:cNvSpPr>
            <a:spLocks noChangeShapeType="1"/>
          </p:cNvSpPr>
          <p:nvPr/>
        </p:nvSpPr>
        <p:spPr bwMode="auto">
          <a:xfrm rot="16200000">
            <a:off x="7442513" y="4314892"/>
            <a:ext cx="0" cy="313200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p:cNvSpPr txBox="1">
            <a:spLocks/>
          </p:cNvSpPr>
          <p:nvPr/>
        </p:nvSpPr>
        <p:spPr>
          <a:xfrm>
            <a:off x="2759655"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אזרחים</a:t>
            </a:r>
          </a:p>
        </p:txBody>
      </p:sp>
      <p:sp>
        <p:nvSpPr>
          <p:cNvPr id="23" name="כותרת 1"/>
          <p:cNvSpPr txBox="1">
            <a:spLocks/>
          </p:cNvSpPr>
          <p:nvPr/>
        </p:nvSpPr>
        <p:spPr>
          <a:xfrm>
            <a:off x="786783"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חיילים</a:t>
            </a:r>
          </a:p>
        </p:txBody>
      </p:sp>
      <p:sp>
        <p:nvSpPr>
          <p:cNvPr id="24" name="כותרת 1"/>
          <p:cNvSpPr txBox="1">
            <a:spLocks/>
          </p:cNvSpPr>
          <p:nvPr/>
        </p:nvSpPr>
        <p:spPr>
          <a:xfrm>
            <a:off x="6500858" y="2971760"/>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מצרפי</a:t>
            </a:r>
          </a:p>
        </p:txBody>
      </p:sp>
      <p:sp>
        <p:nvSpPr>
          <p:cNvPr id="36" name="Text Box 18"/>
          <p:cNvSpPr txBox="1">
            <a:spLocks noChangeArrowheads="1"/>
          </p:cNvSpPr>
          <p:nvPr/>
        </p:nvSpPr>
        <p:spPr bwMode="auto">
          <a:xfrm>
            <a:off x="8833239" y="5844735"/>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2" name="TextBox 41"/>
          <p:cNvSpPr txBox="1"/>
          <p:nvPr/>
        </p:nvSpPr>
        <p:spPr>
          <a:xfrm>
            <a:off x="2285984" y="5500702"/>
            <a:ext cx="397866" cy="369332"/>
          </a:xfrm>
          <a:prstGeom prst="rect">
            <a:avLst/>
          </a:prstGeom>
          <a:noFill/>
        </p:spPr>
        <p:txBody>
          <a:bodyPr wrap="none" rtlCol="1">
            <a:spAutoFit/>
          </a:bodyPr>
          <a:lstStyle/>
          <a:p>
            <a:r>
              <a:rPr lang="en-US" dirty="0">
                <a:solidFill>
                  <a:srgbClr val="00B050"/>
                </a:solidFill>
              </a:rPr>
              <a:t>D</a:t>
            </a:r>
            <a:r>
              <a:rPr lang="en-US" baseline="-25000" dirty="0">
                <a:solidFill>
                  <a:srgbClr val="00B050"/>
                </a:solidFill>
              </a:rPr>
              <a:t>S</a:t>
            </a:r>
            <a:endParaRPr lang="he-IL" baseline="-25000" dirty="0">
              <a:solidFill>
                <a:srgbClr val="00B050"/>
              </a:solidFill>
            </a:endParaRPr>
          </a:p>
        </p:txBody>
      </p:sp>
      <p:sp>
        <p:nvSpPr>
          <p:cNvPr id="44" name="כותרת 1"/>
          <p:cNvSpPr txBox="1">
            <a:spLocks/>
          </p:cNvSpPr>
          <p:nvPr/>
        </p:nvSpPr>
        <p:spPr>
          <a:xfrm>
            <a:off x="578893" y="1828752"/>
            <a:ext cx="8429620" cy="1143008"/>
          </a:xfrm>
          <a:prstGeom prst="rect">
            <a:avLst/>
          </a:prstGeom>
        </p:spPr>
        <p:txBody>
          <a:bodyPr vert="horz" lIns="91440" tIns="45720" rIns="91440" bIns="45720" rtlCol="1" anchor="ctr">
            <a:noAutofit/>
          </a:bodyPr>
          <a:lstStyle/>
          <a:p>
            <a:pPr marL="0" marR="0" lvl="0" indent="0" defTabSz="914400" rtl="1" eaLnBrk="1" fontAlgn="auto" latinLnBrk="0" hangingPunct="1">
              <a:lnSpc>
                <a:spcPct val="100000"/>
              </a:lnSpc>
              <a:spcBef>
                <a:spcPct val="0"/>
              </a:spcBef>
              <a:spcAft>
                <a:spcPts val="0"/>
              </a:spcAft>
              <a:buClrTx/>
              <a:buSzTx/>
              <a:buFontTx/>
              <a:buNone/>
              <a:tabLst/>
              <a:defRPr/>
            </a:pPr>
            <a:r>
              <a:rPr kumimoji="0" lang="he-IL" sz="2600" i="0" strike="noStrike" kern="1200" cap="none" spc="0" normalizeH="0" baseline="0" noProof="0" dirty="0">
                <a:ln>
                  <a:noFill/>
                </a:ln>
                <a:solidFill>
                  <a:schemeClr val="tx1"/>
                </a:solidFill>
                <a:effectLst/>
                <a:uLnTx/>
                <a:uFillTx/>
                <a:latin typeface="+mj-lt"/>
                <a:ea typeface="+mj-ea"/>
              </a:rPr>
              <a:t>הממשלה מסבסדת 50% ממחיר הנסיעה לחיילים</a:t>
            </a:r>
          </a:p>
        </p:txBody>
      </p:sp>
      <p:sp>
        <p:nvSpPr>
          <p:cNvPr id="29" name="Line 3"/>
          <p:cNvSpPr>
            <a:spLocks noChangeShapeType="1"/>
          </p:cNvSpPr>
          <p:nvPr/>
        </p:nvSpPr>
        <p:spPr bwMode="auto">
          <a:xfrm flipV="1">
            <a:off x="6286512" y="4572008"/>
            <a:ext cx="2000264" cy="1143008"/>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0" name="TextBox 29"/>
          <p:cNvSpPr txBox="1"/>
          <p:nvPr/>
        </p:nvSpPr>
        <p:spPr>
          <a:xfrm>
            <a:off x="8215338" y="4357694"/>
            <a:ext cx="364202" cy="369332"/>
          </a:xfrm>
          <a:prstGeom prst="rect">
            <a:avLst/>
          </a:prstGeom>
          <a:noFill/>
        </p:spPr>
        <p:txBody>
          <a:bodyPr wrap="square" rtlCol="1">
            <a:spAutoFit/>
          </a:bodyPr>
          <a:lstStyle/>
          <a:p>
            <a:r>
              <a:rPr lang="en-US" dirty="0"/>
              <a:t>S</a:t>
            </a:r>
            <a:r>
              <a:rPr lang="en-US" baseline="-25000" dirty="0"/>
              <a:t>T</a:t>
            </a:r>
            <a:endParaRPr lang="he-IL" baseline="-25000" dirty="0"/>
          </a:p>
        </p:txBody>
      </p:sp>
      <p:cxnSp>
        <p:nvCxnSpPr>
          <p:cNvPr id="35" name="מחבר ישר 34"/>
          <p:cNvCxnSpPr/>
          <p:nvPr/>
        </p:nvCxnSpPr>
        <p:spPr>
          <a:xfrm rot="5400000">
            <a:off x="6998876" y="5502718"/>
            <a:ext cx="720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Text Box 18"/>
          <p:cNvSpPr txBox="1">
            <a:spLocks noChangeArrowheads="1"/>
          </p:cNvSpPr>
          <p:nvPr/>
        </p:nvSpPr>
        <p:spPr bwMode="auto">
          <a:xfrm>
            <a:off x="6715140" y="585789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38" name="Text Box 18"/>
          <p:cNvSpPr txBox="1">
            <a:spLocks noChangeArrowheads="1"/>
          </p:cNvSpPr>
          <p:nvPr/>
        </p:nvSpPr>
        <p:spPr bwMode="auto">
          <a:xfrm>
            <a:off x="285752" y="4943488"/>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latin typeface="Calibri" pitchFamily="34" charset="0"/>
                <a:ea typeface="Arial" pitchFamily="34" charset="0"/>
                <a:cs typeface="Arial" pitchFamily="34" charset="0"/>
              </a:rPr>
              <a:t>P</a:t>
            </a:r>
            <a:r>
              <a:rPr lang="en-US" sz="2000" baseline="-25000" dirty="0">
                <a:latin typeface="Calibri" pitchFamily="34" charset="0"/>
                <a:ea typeface="Arial"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9" name="Line 3"/>
          <p:cNvSpPr>
            <a:spLocks noChangeShapeType="1"/>
          </p:cNvSpPr>
          <p:nvPr/>
        </p:nvSpPr>
        <p:spPr bwMode="auto">
          <a:xfrm>
            <a:off x="3643306" y="4572008"/>
            <a:ext cx="1214447" cy="1143008"/>
          </a:xfrm>
          <a:prstGeom prst="line">
            <a:avLst/>
          </a:prstGeom>
          <a:noFill/>
          <a:ln w="38100">
            <a:solidFill>
              <a:srgbClr val="7030A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0" name="TextBox 39"/>
          <p:cNvSpPr txBox="1"/>
          <p:nvPr/>
        </p:nvSpPr>
        <p:spPr>
          <a:xfrm>
            <a:off x="4929190" y="5429264"/>
            <a:ext cx="409087" cy="369332"/>
          </a:xfrm>
          <a:prstGeom prst="rect">
            <a:avLst/>
          </a:prstGeom>
          <a:noFill/>
        </p:spPr>
        <p:txBody>
          <a:bodyPr wrap="none" rtlCol="1">
            <a:spAutoFit/>
          </a:bodyPr>
          <a:lstStyle/>
          <a:p>
            <a:r>
              <a:rPr lang="en-US" dirty="0">
                <a:solidFill>
                  <a:srgbClr val="7030A0"/>
                </a:solidFill>
              </a:rPr>
              <a:t>D</a:t>
            </a:r>
            <a:r>
              <a:rPr lang="en-US" baseline="-25000" dirty="0">
                <a:solidFill>
                  <a:srgbClr val="7030A0"/>
                </a:solidFill>
              </a:rPr>
              <a:t>C</a:t>
            </a:r>
            <a:endParaRPr lang="he-IL" baseline="-25000" dirty="0">
              <a:solidFill>
                <a:srgbClr val="7030A0"/>
              </a:solidFill>
            </a:endParaRPr>
          </a:p>
        </p:txBody>
      </p:sp>
      <p:cxnSp>
        <p:nvCxnSpPr>
          <p:cNvPr id="45" name="מחבר ישר 44"/>
          <p:cNvCxnSpPr/>
          <p:nvPr/>
        </p:nvCxnSpPr>
        <p:spPr>
          <a:xfrm rot="10800000">
            <a:off x="877520" y="5143512"/>
            <a:ext cx="655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מחבר ישר 48"/>
          <p:cNvCxnSpPr/>
          <p:nvPr/>
        </p:nvCxnSpPr>
        <p:spPr>
          <a:xfrm rot="5400000">
            <a:off x="1300248" y="5484718"/>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Text Box 18"/>
          <p:cNvSpPr txBox="1">
            <a:spLocks noChangeArrowheads="1"/>
          </p:cNvSpPr>
          <p:nvPr/>
        </p:nvSpPr>
        <p:spPr bwMode="auto">
          <a:xfrm>
            <a:off x="1000100"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S</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cxnSp>
        <p:nvCxnSpPr>
          <p:cNvPr id="51" name="מחבר ישר 50"/>
          <p:cNvCxnSpPr/>
          <p:nvPr/>
        </p:nvCxnSpPr>
        <p:spPr>
          <a:xfrm rot="5400000">
            <a:off x="3872016" y="5484718"/>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Text Box 18"/>
          <p:cNvSpPr txBox="1">
            <a:spLocks noChangeArrowheads="1"/>
          </p:cNvSpPr>
          <p:nvPr/>
        </p:nvSpPr>
        <p:spPr bwMode="auto">
          <a:xfrm>
            <a:off x="3643306"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C</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41" name="TextBox 40"/>
          <p:cNvSpPr txBox="1"/>
          <p:nvPr/>
        </p:nvSpPr>
        <p:spPr>
          <a:xfrm>
            <a:off x="7929586" y="5488560"/>
            <a:ext cx="571504" cy="369332"/>
          </a:xfrm>
          <a:prstGeom prst="rect">
            <a:avLst/>
          </a:prstGeom>
          <a:noFill/>
        </p:spPr>
        <p:txBody>
          <a:bodyPr wrap="square" rtlCol="1">
            <a:spAutoFit/>
          </a:bodyPr>
          <a:lstStyle/>
          <a:p>
            <a:r>
              <a:rPr lang="en-US" dirty="0"/>
              <a:t>D</a:t>
            </a:r>
            <a:r>
              <a:rPr lang="en-US" baseline="-25000" dirty="0"/>
              <a:t>T</a:t>
            </a:r>
            <a:endParaRPr lang="he-IL" baseline="-25000" dirty="0"/>
          </a:p>
        </p:txBody>
      </p:sp>
      <p:sp>
        <p:nvSpPr>
          <p:cNvPr id="4" name="מלבן 3"/>
          <p:cNvSpPr/>
          <p:nvPr/>
        </p:nvSpPr>
        <p:spPr>
          <a:xfrm>
            <a:off x="0" y="54779"/>
            <a:ext cx="7147881" cy="1754326"/>
          </a:xfrm>
          <a:prstGeom prst="rect">
            <a:avLst/>
          </a:prstGeom>
        </p:spPr>
        <p:txBody>
          <a:bodyPr wrap="square">
            <a:spAutoFit/>
          </a:bodyPr>
          <a:lstStyle/>
          <a:p>
            <a:r>
              <a:rPr lang="he-IL" dirty="0"/>
              <a:t>הממשלה מעוניינת לסבסד את הנסיעות של חיילים באוטובוסים.</a:t>
            </a:r>
            <a:endParaRPr lang="en-US" dirty="0"/>
          </a:p>
          <a:p>
            <a:r>
              <a:rPr lang="he-IL" dirty="0"/>
              <a:t>בדיון בנושא הוחלט על ההסדר הבא:</a:t>
            </a:r>
            <a:endParaRPr lang="en-US" dirty="0"/>
          </a:p>
          <a:p>
            <a:r>
              <a:rPr lang="he-IL" dirty="0"/>
              <a:t>חייל, בעלותו לאוטובוס, יקנה כרטיס (שעליו יסומן כרטיס חייל) במחיר נסיעה שישרור בשוק, ויקבל ביחידתו תמורת הכרטיס מחצית מהמחיר ששולם באוטובוס. ע"י הסדר זה ייסעו חיילים באוטובוסים וישלמו בפועל רק מחצית מהמחיר ולא יהיה צורך לפצות את חברות האוטובוסים על כך.</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barn(inVertical)">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948264" y="0"/>
            <a:ext cx="2229070" cy="1143000"/>
          </a:xfrm>
        </p:spPr>
        <p:txBody>
          <a:bodyPr/>
          <a:lstStyle/>
          <a:p>
            <a:pPr algn="r"/>
            <a:r>
              <a:rPr lang="he-IL" b="1" dirty="0">
                <a:solidFill>
                  <a:schemeClr val="tx2">
                    <a:lumMod val="75000"/>
                  </a:schemeClr>
                </a:solidFill>
              </a:rPr>
              <a:t>שאלה 7</a:t>
            </a:r>
            <a:endParaRPr lang="he-IL" dirty="0"/>
          </a:p>
        </p:txBody>
      </p:sp>
      <p:sp>
        <p:nvSpPr>
          <p:cNvPr id="7" name="Rectangle 2"/>
          <p:cNvSpPr>
            <a:spLocks noChangeArrowheads="1"/>
          </p:cNvSpPr>
          <p:nvPr/>
        </p:nvSpPr>
        <p:spPr bwMode="auto">
          <a:xfrm>
            <a:off x="0" y="135729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8" name="Text Box 13"/>
          <p:cNvSpPr txBox="1">
            <a:spLocks noChangeArrowheads="1"/>
          </p:cNvSpPr>
          <p:nvPr/>
        </p:nvSpPr>
        <p:spPr bwMode="auto">
          <a:xfrm>
            <a:off x="565124" y="347503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9" name="Line 3"/>
          <p:cNvSpPr>
            <a:spLocks noChangeShapeType="1"/>
          </p:cNvSpPr>
          <p:nvPr/>
        </p:nvSpPr>
        <p:spPr bwMode="auto">
          <a:xfrm>
            <a:off x="874176" y="368934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0" name="Text Box 18"/>
          <p:cNvSpPr txBox="1">
            <a:spLocks noChangeArrowheads="1"/>
          </p:cNvSpPr>
          <p:nvPr/>
        </p:nvSpPr>
        <p:spPr bwMode="auto">
          <a:xfrm>
            <a:off x="2715577" y="583248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1" name="Line 3"/>
          <p:cNvSpPr>
            <a:spLocks noChangeShapeType="1"/>
          </p:cNvSpPr>
          <p:nvPr/>
        </p:nvSpPr>
        <p:spPr bwMode="auto">
          <a:xfrm>
            <a:off x="1071538" y="4714884"/>
            <a:ext cx="1214446" cy="1000132"/>
          </a:xfrm>
          <a:prstGeom prst="line">
            <a:avLst/>
          </a:prstGeom>
          <a:noFill/>
          <a:ln w="38100">
            <a:solidFill>
              <a:srgbClr val="00B05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2" name="Line 3"/>
          <p:cNvSpPr>
            <a:spLocks noChangeShapeType="1"/>
          </p:cNvSpPr>
          <p:nvPr/>
        </p:nvSpPr>
        <p:spPr bwMode="auto">
          <a:xfrm rot="16200000">
            <a:off x="1961627" y="478503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3"/>
          <p:cNvSpPr txBox="1">
            <a:spLocks noChangeArrowheads="1"/>
          </p:cNvSpPr>
          <p:nvPr/>
        </p:nvSpPr>
        <p:spPr bwMode="auto">
          <a:xfrm>
            <a:off x="3079147" y="347182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4" name="Line 3"/>
          <p:cNvSpPr>
            <a:spLocks noChangeShapeType="1"/>
          </p:cNvSpPr>
          <p:nvPr/>
        </p:nvSpPr>
        <p:spPr bwMode="auto">
          <a:xfrm>
            <a:off x="3408430" y="368614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8"/>
          <p:cNvSpPr txBox="1">
            <a:spLocks noChangeArrowheads="1"/>
          </p:cNvSpPr>
          <p:nvPr/>
        </p:nvSpPr>
        <p:spPr bwMode="auto">
          <a:xfrm>
            <a:off x="5222255" y="5829280"/>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6" name="Line 3"/>
          <p:cNvSpPr>
            <a:spLocks noChangeShapeType="1"/>
          </p:cNvSpPr>
          <p:nvPr/>
        </p:nvSpPr>
        <p:spPr bwMode="auto">
          <a:xfrm>
            <a:off x="6143636" y="4357694"/>
            <a:ext cx="2000264" cy="1285884"/>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8" name="Line 3"/>
          <p:cNvSpPr>
            <a:spLocks noChangeShapeType="1"/>
          </p:cNvSpPr>
          <p:nvPr/>
        </p:nvSpPr>
        <p:spPr bwMode="auto">
          <a:xfrm rot="16200000">
            <a:off x="4487355" y="478182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9" name="Text Box 13"/>
          <p:cNvSpPr txBox="1">
            <a:spLocks noChangeArrowheads="1"/>
          </p:cNvSpPr>
          <p:nvPr/>
        </p:nvSpPr>
        <p:spPr bwMode="auto">
          <a:xfrm>
            <a:off x="5572132" y="348611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0" name="Line 3"/>
          <p:cNvSpPr>
            <a:spLocks noChangeShapeType="1"/>
          </p:cNvSpPr>
          <p:nvPr/>
        </p:nvSpPr>
        <p:spPr bwMode="auto">
          <a:xfrm>
            <a:off x="5890384" y="370043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1" name="Line 3"/>
          <p:cNvSpPr>
            <a:spLocks noChangeShapeType="1"/>
          </p:cNvSpPr>
          <p:nvPr/>
        </p:nvSpPr>
        <p:spPr bwMode="auto">
          <a:xfrm rot="16200000">
            <a:off x="7442513" y="4314892"/>
            <a:ext cx="0" cy="313200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p:cNvSpPr txBox="1">
            <a:spLocks/>
          </p:cNvSpPr>
          <p:nvPr/>
        </p:nvSpPr>
        <p:spPr>
          <a:xfrm>
            <a:off x="2759655"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אזרחים</a:t>
            </a:r>
          </a:p>
        </p:txBody>
      </p:sp>
      <p:sp>
        <p:nvSpPr>
          <p:cNvPr id="23" name="כותרת 1"/>
          <p:cNvSpPr txBox="1">
            <a:spLocks/>
          </p:cNvSpPr>
          <p:nvPr/>
        </p:nvSpPr>
        <p:spPr>
          <a:xfrm>
            <a:off x="786783"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חיילים</a:t>
            </a:r>
          </a:p>
        </p:txBody>
      </p:sp>
      <p:sp>
        <p:nvSpPr>
          <p:cNvPr id="24" name="כותרת 1"/>
          <p:cNvSpPr txBox="1">
            <a:spLocks/>
          </p:cNvSpPr>
          <p:nvPr/>
        </p:nvSpPr>
        <p:spPr>
          <a:xfrm>
            <a:off x="6500858" y="2971760"/>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מצרפי</a:t>
            </a:r>
          </a:p>
        </p:txBody>
      </p:sp>
      <p:sp>
        <p:nvSpPr>
          <p:cNvPr id="36" name="Text Box 18"/>
          <p:cNvSpPr txBox="1">
            <a:spLocks noChangeArrowheads="1"/>
          </p:cNvSpPr>
          <p:nvPr/>
        </p:nvSpPr>
        <p:spPr bwMode="auto">
          <a:xfrm>
            <a:off x="8833239" y="5844735"/>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2" name="TextBox 41"/>
          <p:cNvSpPr txBox="1"/>
          <p:nvPr/>
        </p:nvSpPr>
        <p:spPr>
          <a:xfrm>
            <a:off x="2285984" y="5500702"/>
            <a:ext cx="397866" cy="369332"/>
          </a:xfrm>
          <a:prstGeom prst="rect">
            <a:avLst/>
          </a:prstGeom>
          <a:noFill/>
        </p:spPr>
        <p:txBody>
          <a:bodyPr wrap="none" rtlCol="1">
            <a:spAutoFit/>
          </a:bodyPr>
          <a:lstStyle/>
          <a:p>
            <a:r>
              <a:rPr lang="en-US" dirty="0">
                <a:solidFill>
                  <a:srgbClr val="00B050"/>
                </a:solidFill>
              </a:rPr>
              <a:t>D</a:t>
            </a:r>
            <a:r>
              <a:rPr lang="en-US" baseline="-25000" dirty="0">
                <a:solidFill>
                  <a:srgbClr val="00B050"/>
                </a:solidFill>
              </a:rPr>
              <a:t>S</a:t>
            </a:r>
            <a:endParaRPr lang="he-IL" baseline="-25000" dirty="0">
              <a:solidFill>
                <a:srgbClr val="00B050"/>
              </a:solidFill>
            </a:endParaRPr>
          </a:p>
        </p:txBody>
      </p:sp>
      <p:sp>
        <p:nvSpPr>
          <p:cNvPr id="44" name="כותרת 1"/>
          <p:cNvSpPr txBox="1">
            <a:spLocks/>
          </p:cNvSpPr>
          <p:nvPr/>
        </p:nvSpPr>
        <p:spPr>
          <a:xfrm>
            <a:off x="642943" y="1124744"/>
            <a:ext cx="8429620" cy="1500198"/>
          </a:xfrm>
          <a:prstGeom prst="rect">
            <a:avLst/>
          </a:prstGeom>
        </p:spPr>
        <p:txBody>
          <a:bodyPr vert="horz" lIns="91440" tIns="45720" rIns="91440" bIns="45720" rtlCol="1" anchor="ctr">
            <a:noAutofit/>
          </a:bodyPr>
          <a:lstStyle/>
          <a:p>
            <a:pPr marL="0" marR="0" lvl="0" indent="0" defTabSz="914400" rtl="1" eaLnBrk="1" fontAlgn="auto" latinLnBrk="0" hangingPunct="1">
              <a:lnSpc>
                <a:spcPct val="100000"/>
              </a:lnSpc>
              <a:spcBef>
                <a:spcPct val="0"/>
              </a:spcBef>
              <a:spcAft>
                <a:spcPts val="0"/>
              </a:spcAft>
              <a:buClrTx/>
              <a:buSzTx/>
              <a:buFontTx/>
              <a:buNone/>
              <a:tabLst/>
              <a:defRPr/>
            </a:pPr>
            <a:r>
              <a:rPr kumimoji="0" lang="he-IL" sz="2600" i="0" strike="noStrike" kern="1200" cap="none" spc="0" normalizeH="0" baseline="0" noProof="0" dirty="0">
                <a:ln>
                  <a:noFill/>
                </a:ln>
                <a:solidFill>
                  <a:schemeClr val="tx1"/>
                </a:solidFill>
                <a:effectLst/>
                <a:uLnTx/>
                <a:uFillTx/>
                <a:latin typeface="+mj-lt"/>
                <a:ea typeface="+mj-ea"/>
              </a:rPr>
              <a:t>הממשלה מסבסדת 50% ממחיר הנסיעה לחיילים</a:t>
            </a:r>
          </a:p>
          <a:p>
            <a:pPr marL="0" marR="0" lvl="0" indent="0" defTabSz="914400" rtl="1" eaLnBrk="1" fontAlgn="auto" latinLnBrk="0" hangingPunct="1">
              <a:lnSpc>
                <a:spcPct val="100000"/>
              </a:lnSpc>
              <a:spcBef>
                <a:spcPct val="0"/>
              </a:spcBef>
              <a:spcAft>
                <a:spcPts val="0"/>
              </a:spcAft>
              <a:buClrTx/>
              <a:buSzTx/>
              <a:buFontTx/>
              <a:buNone/>
              <a:tabLst/>
              <a:defRPr/>
            </a:pPr>
            <a:endParaRPr lang="he-IL" sz="1000" dirty="0">
              <a:latin typeface="+mj-lt"/>
              <a:ea typeface="+mj-ea"/>
            </a:endParaRPr>
          </a:p>
          <a:p>
            <a:pPr marL="0" marR="0" lvl="0" indent="0" defTabSz="914400" rtl="1" eaLnBrk="1" fontAlgn="auto" latinLnBrk="0" hangingPunct="1">
              <a:lnSpc>
                <a:spcPct val="100000"/>
              </a:lnSpc>
              <a:spcBef>
                <a:spcPct val="0"/>
              </a:spcBef>
              <a:spcAft>
                <a:spcPts val="0"/>
              </a:spcAft>
              <a:buClrTx/>
              <a:buSzTx/>
              <a:buFontTx/>
              <a:buNone/>
              <a:tabLst/>
              <a:defRPr/>
            </a:pPr>
            <a:r>
              <a:rPr kumimoji="0" lang="he-IL" sz="2600" b="1" i="0" strike="noStrike" kern="1200" cap="none" spc="0" normalizeH="0" baseline="0" noProof="0" dirty="0">
                <a:ln>
                  <a:noFill/>
                </a:ln>
                <a:solidFill>
                  <a:schemeClr val="tx1"/>
                </a:solidFill>
                <a:effectLst/>
                <a:uLnTx/>
                <a:uFillTx/>
                <a:latin typeface="+mj-lt"/>
                <a:ea typeface="+mj-ea"/>
              </a:rPr>
              <a:t>מבחינת החיילים </a:t>
            </a:r>
            <a:r>
              <a:rPr kumimoji="0" lang="he-IL" sz="2600" i="0" strike="noStrike" kern="1200" cap="none" spc="0" normalizeH="0" baseline="0" noProof="0" dirty="0">
                <a:ln>
                  <a:noFill/>
                </a:ln>
                <a:solidFill>
                  <a:schemeClr val="tx1"/>
                </a:solidFill>
                <a:effectLst/>
                <a:uLnTx/>
                <a:uFillTx/>
                <a:latin typeface="+mj-lt"/>
                <a:ea typeface="+mj-ea"/>
              </a:rPr>
              <a:t>– </a:t>
            </a:r>
            <a:r>
              <a:rPr kumimoji="0" lang="he-IL" sz="2400" i="0" strike="noStrike" kern="1200" cap="none" spc="0" normalizeH="0" baseline="0" noProof="0" dirty="0">
                <a:ln>
                  <a:noFill/>
                </a:ln>
                <a:solidFill>
                  <a:schemeClr val="tx1"/>
                </a:solidFill>
                <a:effectLst/>
                <a:uLnTx/>
                <a:uFillTx/>
                <a:latin typeface="+mj-lt"/>
                <a:ea typeface="+mj-ea"/>
              </a:rPr>
              <a:t>עבור אותה כמות הם מוכנים לשלם פי 2 מאשר מקודם, כיוון שעל מחצית מהמחיר</a:t>
            </a:r>
            <a:r>
              <a:rPr kumimoji="0" lang="he-IL" sz="2400" i="0" strike="noStrike" kern="1200" cap="none" spc="0" normalizeH="0" noProof="0" dirty="0">
                <a:ln>
                  <a:noFill/>
                </a:ln>
                <a:solidFill>
                  <a:schemeClr val="tx1"/>
                </a:solidFill>
                <a:effectLst/>
                <a:uLnTx/>
                <a:uFillTx/>
                <a:latin typeface="+mj-lt"/>
                <a:ea typeface="+mj-ea"/>
              </a:rPr>
              <a:t> הם מקבלים החזר. </a:t>
            </a:r>
          </a:p>
          <a:p>
            <a:pPr marL="0" marR="0" lvl="0" indent="0" defTabSz="914400" rtl="1" eaLnBrk="1" fontAlgn="auto" latinLnBrk="0" hangingPunct="1">
              <a:lnSpc>
                <a:spcPct val="100000"/>
              </a:lnSpc>
              <a:spcBef>
                <a:spcPct val="0"/>
              </a:spcBef>
              <a:spcAft>
                <a:spcPts val="0"/>
              </a:spcAft>
              <a:buClrTx/>
              <a:buSzTx/>
              <a:buFontTx/>
              <a:buNone/>
              <a:tabLst/>
              <a:defRPr/>
            </a:pPr>
            <a:r>
              <a:rPr lang="he-IL" dirty="0">
                <a:latin typeface="+mj-lt"/>
                <a:ea typeface="+mj-ea"/>
              </a:rPr>
              <a:t>(אם המחיר בשוק </a:t>
            </a:r>
            <a:r>
              <a:rPr lang="he-IL" b="1" dirty="0">
                <a:latin typeface="+mj-lt"/>
                <a:ea typeface="+mj-ea"/>
              </a:rPr>
              <a:t>יוכפל</a:t>
            </a:r>
            <a:r>
              <a:rPr lang="he-IL" dirty="0">
                <a:latin typeface="+mj-lt"/>
                <a:ea typeface="+mj-ea"/>
              </a:rPr>
              <a:t> הכמות המבוקשת לא תשתנה.)</a:t>
            </a:r>
          </a:p>
          <a:p>
            <a:pPr marL="0" marR="0" lvl="0" indent="0" defTabSz="914400" rtl="1" eaLnBrk="1" fontAlgn="auto" latinLnBrk="0" hangingPunct="1">
              <a:lnSpc>
                <a:spcPct val="100000"/>
              </a:lnSpc>
              <a:spcBef>
                <a:spcPct val="0"/>
              </a:spcBef>
              <a:spcAft>
                <a:spcPts val="0"/>
              </a:spcAft>
              <a:buClrTx/>
              <a:buSzTx/>
              <a:buFontTx/>
              <a:buNone/>
              <a:tabLst/>
              <a:defRPr/>
            </a:pPr>
            <a:r>
              <a:rPr lang="he-IL" sz="2600" dirty="0">
                <a:latin typeface="+mj-lt"/>
                <a:ea typeface="+mj-ea"/>
              </a:rPr>
              <a:t>		</a:t>
            </a:r>
            <a:endParaRPr kumimoji="0" lang="he-IL" sz="2600" i="0" strike="noStrike" kern="1200" cap="none" spc="0" normalizeH="0" baseline="0" noProof="0" dirty="0">
              <a:ln>
                <a:noFill/>
              </a:ln>
              <a:solidFill>
                <a:schemeClr val="tx1"/>
              </a:solidFill>
              <a:effectLst/>
              <a:uLnTx/>
              <a:uFillTx/>
              <a:latin typeface="+mj-lt"/>
              <a:ea typeface="+mj-ea"/>
            </a:endParaRPr>
          </a:p>
        </p:txBody>
      </p:sp>
      <p:sp>
        <p:nvSpPr>
          <p:cNvPr id="29" name="Line 3"/>
          <p:cNvSpPr>
            <a:spLocks noChangeShapeType="1"/>
          </p:cNvSpPr>
          <p:nvPr/>
        </p:nvSpPr>
        <p:spPr bwMode="auto">
          <a:xfrm flipV="1">
            <a:off x="6286512" y="4572008"/>
            <a:ext cx="2000264" cy="1143008"/>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0" name="TextBox 29"/>
          <p:cNvSpPr txBox="1"/>
          <p:nvPr/>
        </p:nvSpPr>
        <p:spPr>
          <a:xfrm>
            <a:off x="8215338" y="4357694"/>
            <a:ext cx="364202" cy="369332"/>
          </a:xfrm>
          <a:prstGeom prst="rect">
            <a:avLst/>
          </a:prstGeom>
          <a:noFill/>
        </p:spPr>
        <p:txBody>
          <a:bodyPr wrap="square" rtlCol="1">
            <a:spAutoFit/>
          </a:bodyPr>
          <a:lstStyle/>
          <a:p>
            <a:r>
              <a:rPr lang="en-US" dirty="0"/>
              <a:t>S</a:t>
            </a:r>
            <a:r>
              <a:rPr lang="en-US" baseline="-25000" dirty="0"/>
              <a:t>T</a:t>
            </a:r>
            <a:endParaRPr lang="he-IL" baseline="-25000" dirty="0"/>
          </a:p>
        </p:txBody>
      </p:sp>
      <p:cxnSp>
        <p:nvCxnSpPr>
          <p:cNvPr id="35" name="מחבר ישר 34"/>
          <p:cNvCxnSpPr/>
          <p:nvPr/>
        </p:nvCxnSpPr>
        <p:spPr>
          <a:xfrm rot="5400000">
            <a:off x="6975084" y="5509240"/>
            <a:ext cx="720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Text Box 18"/>
          <p:cNvSpPr txBox="1">
            <a:spLocks noChangeArrowheads="1"/>
          </p:cNvSpPr>
          <p:nvPr/>
        </p:nvSpPr>
        <p:spPr bwMode="auto">
          <a:xfrm>
            <a:off x="6715140" y="585789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38" name="Text Box 18"/>
          <p:cNvSpPr txBox="1">
            <a:spLocks noChangeArrowheads="1"/>
          </p:cNvSpPr>
          <p:nvPr/>
        </p:nvSpPr>
        <p:spPr bwMode="auto">
          <a:xfrm>
            <a:off x="285752" y="4943488"/>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latin typeface="Calibri" pitchFamily="34" charset="0"/>
                <a:ea typeface="Arial" pitchFamily="34" charset="0"/>
                <a:cs typeface="Arial" pitchFamily="34" charset="0"/>
              </a:rPr>
              <a:t>P</a:t>
            </a:r>
            <a:r>
              <a:rPr lang="en-US" sz="2000" baseline="-25000" dirty="0">
                <a:latin typeface="Calibri" pitchFamily="34" charset="0"/>
                <a:ea typeface="Arial"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9" name="Line 3"/>
          <p:cNvSpPr>
            <a:spLocks noChangeShapeType="1"/>
          </p:cNvSpPr>
          <p:nvPr/>
        </p:nvSpPr>
        <p:spPr bwMode="auto">
          <a:xfrm>
            <a:off x="3643306" y="4572008"/>
            <a:ext cx="1214447" cy="1143008"/>
          </a:xfrm>
          <a:prstGeom prst="line">
            <a:avLst/>
          </a:prstGeom>
          <a:noFill/>
          <a:ln w="38100">
            <a:solidFill>
              <a:srgbClr val="7030A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0" name="TextBox 39"/>
          <p:cNvSpPr txBox="1"/>
          <p:nvPr/>
        </p:nvSpPr>
        <p:spPr>
          <a:xfrm>
            <a:off x="4929190" y="5429264"/>
            <a:ext cx="409087" cy="369332"/>
          </a:xfrm>
          <a:prstGeom prst="rect">
            <a:avLst/>
          </a:prstGeom>
          <a:noFill/>
        </p:spPr>
        <p:txBody>
          <a:bodyPr wrap="none" rtlCol="1">
            <a:spAutoFit/>
          </a:bodyPr>
          <a:lstStyle/>
          <a:p>
            <a:r>
              <a:rPr lang="en-US" dirty="0">
                <a:solidFill>
                  <a:srgbClr val="7030A0"/>
                </a:solidFill>
              </a:rPr>
              <a:t>D</a:t>
            </a:r>
            <a:r>
              <a:rPr lang="en-US" baseline="-25000" dirty="0">
                <a:solidFill>
                  <a:srgbClr val="7030A0"/>
                </a:solidFill>
              </a:rPr>
              <a:t>C</a:t>
            </a:r>
            <a:endParaRPr lang="he-IL" baseline="-25000" dirty="0">
              <a:solidFill>
                <a:srgbClr val="7030A0"/>
              </a:solidFill>
            </a:endParaRPr>
          </a:p>
        </p:txBody>
      </p:sp>
      <p:cxnSp>
        <p:nvCxnSpPr>
          <p:cNvPr id="45" name="מחבר ישר 44"/>
          <p:cNvCxnSpPr/>
          <p:nvPr/>
        </p:nvCxnSpPr>
        <p:spPr>
          <a:xfrm flipH="1">
            <a:off x="877520" y="5114938"/>
            <a:ext cx="6482151" cy="2857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מחבר ישר 48"/>
          <p:cNvCxnSpPr/>
          <p:nvPr/>
        </p:nvCxnSpPr>
        <p:spPr>
          <a:xfrm rot="5400000">
            <a:off x="1276350" y="5512899"/>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Text Box 18"/>
          <p:cNvSpPr txBox="1">
            <a:spLocks noChangeArrowheads="1"/>
          </p:cNvSpPr>
          <p:nvPr/>
        </p:nvSpPr>
        <p:spPr bwMode="auto">
          <a:xfrm>
            <a:off x="1000100"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S</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cxnSp>
        <p:nvCxnSpPr>
          <p:cNvPr id="51" name="מחבר ישר 50"/>
          <p:cNvCxnSpPr/>
          <p:nvPr/>
        </p:nvCxnSpPr>
        <p:spPr>
          <a:xfrm rot="5400000">
            <a:off x="3902175" y="5532865"/>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Text Box 18"/>
          <p:cNvSpPr txBox="1">
            <a:spLocks noChangeArrowheads="1"/>
          </p:cNvSpPr>
          <p:nvPr/>
        </p:nvSpPr>
        <p:spPr bwMode="auto">
          <a:xfrm>
            <a:off x="3643306"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C</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41" name="TextBox 40"/>
          <p:cNvSpPr txBox="1"/>
          <p:nvPr/>
        </p:nvSpPr>
        <p:spPr>
          <a:xfrm>
            <a:off x="7929586" y="5488560"/>
            <a:ext cx="571504" cy="369332"/>
          </a:xfrm>
          <a:prstGeom prst="rect">
            <a:avLst/>
          </a:prstGeom>
          <a:noFill/>
        </p:spPr>
        <p:txBody>
          <a:bodyPr wrap="square" rtlCol="1">
            <a:spAutoFit/>
          </a:bodyPr>
          <a:lstStyle/>
          <a:p>
            <a:r>
              <a:rPr lang="en-US" dirty="0"/>
              <a:t>D</a:t>
            </a:r>
            <a:r>
              <a:rPr lang="en-US" baseline="-25000" dirty="0"/>
              <a:t>T</a:t>
            </a:r>
            <a:endParaRPr lang="he-IL" baseline="-25000" dirty="0"/>
          </a:p>
        </p:txBody>
      </p:sp>
      <p:sp>
        <p:nvSpPr>
          <p:cNvPr id="43" name="Line 3"/>
          <p:cNvSpPr>
            <a:spLocks noChangeShapeType="1"/>
          </p:cNvSpPr>
          <p:nvPr/>
        </p:nvSpPr>
        <p:spPr bwMode="auto">
          <a:xfrm>
            <a:off x="1146129" y="3879041"/>
            <a:ext cx="1250165" cy="1671686"/>
          </a:xfrm>
          <a:prstGeom prst="line">
            <a:avLst/>
          </a:prstGeom>
          <a:noFill/>
          <a:ln w="38100">
            <a:solidFill>
              <a:srgbClr val="FF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TextBox 45"/>
          <p:cNvSpPr txBox="1"/>
          <p:nvPr/>
        </p:nvSpPr>
        <p:spPr>
          <a:xfrm>
            <a:off x="2214546" y="5286388"/>
            <a:ext cx="642942" cy="369332"/>
          </a:xfrm>
          <a:prstGeom prst="rect">
            <a:avLst/>
          </a:prstGeom>
          <a:noFill/>
        </p:spPr>
        <p:txBody>
          <a:bodyPr wrap="square" rtlCol="1">
            <a:spAutoFit/>
          </a:bodyPr>
          <a:lstStyle/>
          <a:p>
            <a:r>
              <a:rPr lang="en-US" dirty="0">
                <a:solidFill>
                  <a:srgbClr val="FF0000"/>
                </a:solidFill>
              </a:rPr>
              <a:t>D’</a:t>
            </a:r>
            <a:r>
              <a:rPr lang="en-US" baseline="-25000" dirty="0">
                <a:solidFill>
                  <a:srgbClr val="FF0000"/>
                </a:solidFill>
              </a:rPr>
              <a:t>S</a:t>
            </a:r>
            <a:endParaRPr lang="he-IL" baseline="-25000" dirty="0">
              <a:solidFill>
                <a:srgbClr val="FF0000"/>
              </a:solidFill>
            </a:endParaRPr>
          </a:p>
        </p:txBody>
      </p:sp>
      <p:sp>
        <p:nvSpPr>
          <p:cNvPr id="47" name="סוגר מסולסל שמאלי 46"/>
          <p:cNvSpPr/>
          <p:nvPr/>
        </p:nvSpPr>
        <p:spPr>
          <a:xfrm>
            <a:off x="1000100" y="3829016"/>
            <a:ext cx="142875" cy="956190"/>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48" name="סוגר מסולסל שמאלי 47"/>
          <p:cNvSpPr/>
          <p:nvPr/>
        </p:nvSpPr>
        <p:spPr>
          <a:xfrm>
            <a:off x="1547664" y="4524238"/>
            <a:ext cx="95377" cy="680355"/>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52" name="TextBox 51"/>
          <p:cNvSpPr txBox="1"/>
          <p:nvPr/>
        </p:nvSpPr>
        <p:spPr>
          <a:xfrm>
            <a:off x="442922" y="4034529"/>
            <a:ext cx="617477" cy="323165"/>
          </a:xfrm>
          <a:prstGeom prst="rect">
            <a:avLst/>
          </a:prstGeom>
          <a:noFill/>
        </p:spPr>
        <p:txBody>
          <a:bodyPr wrap="none" rtlCol="1">
            <a:spAutoFit/>
          </a:bodyPr>
          <a:lstStyle/>
          <a:p>
            <a:r>
              <a:rPr lang="en-US" sz="1500" b="1" dirty="0">
                <a:solidFill>
                  <a:srgbClr val="0070C0"/>
                </a:solidFill>
              </a:rPr>
              <a:t>100%</a:t>
            </a:r>
            <a:endParaRPr lang="he-IL" sz="1500" b="1" dirty="0">
              <a:solidFill>
                <a:srgbClr val="0070C0"/>
              </a:solidFill>
            </a:endParaRPr>
          </a:p>
        </p:txBody>
      </p:sp>
      <p:sp>
        <p:nvSpPr>
          <p:cNvPr id="54" name="TextBox 53"/>
          <p:cNvSpPr txBox="1"/>
          <p:nvPr/>
        </p:nvSpPr>
        <p:spPr>
          <a:xfrm>
            <a:off x="1025565" y="4549711"/>
            <a:ext cx="617477" cy="323165"/>
          </a:xfrm>
          <a:prstGeom prst="rect">
            <a:avLst/>
          </a:prstGeom>
          <a:noFill/>
        </p:spPr>
        <p:txBody>
          <a:bodyPr wrap="none" rtlCol="1">
            <a:spAutoFit/>
          </a:bodyPr>
          <a:lstStyle/>
          <a:p>
            <a:r>
              <a:rPr lang="en-US" sz="1500" b="1" dirty="0">
                <a:solidFill>
                  <a:srgbClr val="0070C0"/>
                </a:solidFill>
              </a:rPr>
              <a:t>100%</a:t>
            </a:r>
            <a:endParaRPr lang="he-IL" sz="1500" b="1" dirty="0">
              <a:solidFill>
                <a:srgbClr val="0070C0"/>
              </a:solidFill>
            </a:endParaRPr>
          </a:p>
        </p:txBody>
      </p:sp>
      <p:sp>
        <p:nvSpPr>
          <p:cNvPr id="55" name="Line 3"/>
          <p:cNvSpPr>
            <a:spLocks noChangeShapeType="1"/>
          </p:cNvSpPr>
          <p:nvPr/>
        </p:nvSpPr>
        <p:spPr bwMode="auto">
          <a:xfrm>
            <a:off x="6357950" y="3929066"/>
            <a:ext cx="1866912" cy="1571636"/>
          </a:xfrm>
          <a:prstGeom prst="line">
            <a:avLst/>
          </a:prstGeom>
          <a:noFill/>
          <a:ln w="38100">
            <a:solidFill>
              <a:srgbClr val="FF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56" name="TextBox 55"/>
          <p:cNvSpPr txBox="1"/>
          <p:nvPr/>
        </p:nvSpPr>
        <p:spPr>
          <a:xfrm>
            <a:off x="8072462" y="5274246"/>
            <a:ext cx="571504" cy="369332"/>
          </a:xfrm>
          <a:prstGeom prst="rect">
            <a:avLst/>
          </a:prstGeom>
          <a:noFill/>
        </p:spPr>
        <p:txBody>
          <a:bodyPr wrap="square" rtlCol="1">
            <a:spAutoFit/>
          </a:bodyPr>
          <a:lstStyle/>
          <a:p>
            <a:r>
              <a:rPr lang="en-US" dirty="0">
                <a:solidFill>
                  <a:srgbClr val="FF0000"/>
                </a:solidFill>
              </a:rPr>
              <a:t>D’</a:t>
            </a:r>
            <a:r>
              <a:rPr lang="en-US" baseline="-25000" dirty="0">
                <a:solidFill>
                  <a:srgbClr val="FF0000"/>
                </a:solidFill>
              </a:rPr>
              <a:t>T</a:t>
            </a:r>
            <a:endParaRPr lang="he-IL" baseline="-25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down)">
                                      <p:cBhvr>
                                        <p:cTn id="7" dur="500"/>
                                        <p:tgtEl>
                                          <p:spTgt spid="4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wipe(down)">
                                      <p:cBhvr>
                                        <p:cTn id="10" dur="500"/>
                                        <p:tgtEl>
                                          <p:spTgt spid="5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wipe(down)">
                                      <p:cBhvr>
                                        <p:cTn id="13" dur="500"/>
                                        <p:tgtEl>
                                          <p:spTgt spid="4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wipe(down)">
                                      <p:cBhvr>
                                        <p:cTn id="16" dur="50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1000"/>
                                        <p:tgtEl>
                                          <p:spTgt spid="55"/>
                                        </p:tgtEl>
                                      </p:cBhvr>
                                    </p:animEffect>
                                    <p:anim calcmode="lin" valueType="num">
                                      <p:cBhvr>
                                        <p:cTn id="22" dur="1000" fill="hold"/>
                                        <p:tgtEl>
                                          <p:spTgt spid="55"/>
                                        </p:tgtEl>
                                        <p:attrNameLst>
                                          <p:attrName>ppt_x</p:attrName>
                                        </p:attrNameLst>
                                      </p:cBhvr>
                                      <p:tavLst>
                                        <p:tav tm="0">
                                          <p:val>
                                            <p:strVal val="#ppt_x"/>
                                          </p:val>
                                        </p:tav>
                                        <p:tav tm="100000">
                                          <p:val>
                                            <p:strVal val="#ppt_x"/>
                                          </p:val>
                                        </p:tav>
                                      </p:tavLst>
                                    </p:anim>
                                    <p:anim calcmode="lin" valueType="num">
                                      <p:cBhvr>
                                        <p:cTn id="23" dur="1000" fill="hold"/>
                                        <p:tgtEl>
                                          <p:spTgt spid="55"/>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fade">
                                      <p:cBhvr>
                                        <p:cTn id="26" dur="1000"/>
                                        <p:tgtEl>
                                          <p:spTgt spid="56"/>
                                        </p:tgtEl>
                                      </p:cBhvr>
                                    </p:animEffect>
                                    <p:anim calcmode="lin" valueType="num">
                                      <p:cBhvr>
                                        <p:cTn id="27" dur="1000" fill="hold"/>
                                        <p:tgtEl>
                                          <p:spTgt spid="56"/>
                                        </p:tgtEl>
                                        <p:attrNameLst>
                                          <p:attrName>ppt_x</p:attrName>
                                        </p:attrNameLst>
                                      </p:cBhvr>
                                      <p:tavLst>
                                        <p:tav tm="0">
                                          <p:val>
                                            <p:strVal val="#ppt_x"/>
                                          </p:val>
                                        </p:tav>
                                        <p:tav tm="100000">
                                          <p:val>
                                            <p:strVal val="#ppt_x"/>
                                          </p:val>
                                        </p:tav>
                                      </p:tavLst>
                                    </p:anim>
                                    <p:anim calcmode="lin" valueType="num">
                                      <p:cBhvr>
                                        <p:cTn id="28"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52" grpId="0"/>
      <p:bldP spid="54" grpId="0"/>
      <p:bldP spid="55" grpId="0" animBg="1"/>
      <p:bldP spid="5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948264" y="0"/>
            <a:ext cx="2229070" cy="1143000"/>
          </a:xfrm>
        </p:spPr>
        <p:txBody>
          <a:bodyPr/>
          <a:lstStyle/>
          <a:p>
            <a:pPr algn="r"/>
            <a:r>
              <a:rPr lang="he-IL" b="1" dirty="0">
                <a:solidFill>
                  <a:schemeClr val="tx2">
                    <a:lumMod val="75000"/>
                  </a:schemeClr>
                </a:solidFill>
              </a:rPr>
              <a:t>שאלה 7</a:t>
            </a:r>
            <a:endParaRPr lang="he-IL" dirty="0"/>
          </a:p>
        </p:txBody>
      </p:sp>
      <p:sp>
        <p:nvSpPr>
          <p:cNvPr id="7" name="Rectangle 2"/>
          <p:cNvSpPr>
            <a:spLocks noChangeArrowheads="1"/>
          </p:cNvSpPr>
          <p:nvPr/>
        </p:nvSpPr>
        <p:spPr bwMode="auto">
          <a:xfrm>
            <a:off x="0" y="135729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8" name="Text Box 13"/>
          <p:cNvSpPr txBox="1">
            <a:spLocks noChangeArrowheads="1"/>
          </p:cNvSpPr>
          <p:nvPr/>
        </p:nvSpPr>
        <p:spPr bwMode="auto">
          <a:xfrm>
            <a:off x="565124" y="347503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9" name="Line 3"/>
          <p:cNvSpPr>
            <a:spLocks noChangeShapeType="1"/>
          </p:cNvSpPr>
          <p:nvPr/>
        </p:nvSpPr>
        <p:spPr bwMode="auto">
          <a:xfrm>
            <a:off x="874176" y="368934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0" name="Text Box 18"/>
          <p:cNvSpPr txBox="1">
            <a:spLocks noChangeArrowheads="1"/>
          </p:cNvSpPr>
          <p:nvPr/>
        </p:nvSpPr>
        <p:spPr bwMode="auto">
          <a:xfrm>
            <a:off x="2715577" y="583248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1" name="Line 3"/>
          <p:cNvSpPr>
            <a:spLocks noChangeShapeType="1"/>
          </p:cNvSpPr>
          <p:nvPr/>
        </p:nvSpPr>
        <p:spPr bwMode="auto">
          <a:xfrm>
            <a:off x="1071538" y="4714884"/>
            <a:ext cx="1214446" cy="1000132"/>
          </a:xfrm>
          <a:prstGeom prst="line">
            <a:avLst/>
          </a:prstGeom>
          <a:noFill/>
          <a:ln w="38100">
            <a:solidFill>
              <a:srgbClr val="00B05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2" name="Line 3"/>
          <p:cNvSpPr>
            <a:spLocks noChangeShapeType="1"/>
          </p:cNvSpPr>
          <p:nvPr/>
        </p:nvSpPr>
        <p:spPr bwMode="auto">
          <a:xfrm rot="16200000">
            <a:off x="1961627" y="478503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3"/>
          <p:cNvSpPr txBox="1">
            <a:spLocks noChangeArrowheads="1"/>
          </p:cNvSpPr>
          <p:nvPr/>
        </p:nvSpPr>
        <p:spPr bwMode="auto">
          <a:xfrm>
            <a:off x="3079147" y="347182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4" name="Line 3"/>
          <p:cNvSpPr>
            <a:spLocks noChangeShapeType="1"/>
          </p:cNvSpPr>
          <p:nvPr/>
        </p:nvSpPr>
        <p:spPr bwMode="auto">
          <a:xfrm>
            <a:off x="3408430" y="368614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8"/>
          <p:cNvSpPr txBox="1">
            <a:spLocks noChangeArrowheads="1"/>
          </p:cNvSpPr>
          <p:nvPr/>
        </p:nvSpPr>
        <p:spPr bwMode="auto">
          <a:xfrm>
            <a:off x="5222255" y="5829280"/>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6" name="Line 3"/>
          <p:cNvSpPr>
            <a:spLocks noChangeShapeType="1"/>
          </p:cNvSpPr>
          <p:nvPr/>
        </p:nvSpPr>
        <p:spPr bwMode="auto">
          <a:xfrm>
            <a:off x="6143636" y="4357694"/>
            <a:ext cx="2000264" cy="1285884"/>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8" name="Line 3"/>
          <p:cNvSpPr>
            <a:spLocks noChangeShapeType="1"/>
          </p:cNvSpPr>
          <p:nvPr/>
        </p:nvSpPr>
        <p:spPr bwMode="auto">
          <a:xfrm rot="16200000">
            <a:off x="4487355" y="478182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9" name="Text Box 13"/>
          <p:cNvSpPr txBox="1">
            <a:spLocks noChangeArrowheads="1"/>
          </p:cNvSpPr>
          <p:nvPr/>
        </p:nvSpPr>
        <p:spPr bwMode="auto">
          <a:xfrm>
            <a:off x="5572132" y="348611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0" name="Line 3"/>
          <p:cNvSpPr>
            <a:spLocks noChangeShapeType="1"/>
          </p:cNvSpPr>
          <p:nvPr/>
        </p:nvSpPr>
        <p:spPr bwMode="auto">
          <a:xfrm>
            <a:off x="5890384" y="370043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1" name="Line 3"/>
          <p:cNvSpPr>
            <a:spLocks noChangeShapeType="1"/>
          </p:cNvSpPr>
          <p:nvPr/>
        </p:nvSpPr>
        <p:spPr bwMode="auto">
          <a:xfrm rot="16200000">
            <a:off x="7442513" y="4314892"/>
            <a:ext cx="0" cy="313200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p:cNvSpPr txBox="1">
            <a:spLocks/>
          </p:cNvSpPr>
          <p:nvPr/>
        </p:nvSpPr>
        <p:spPr>
          <a:xfrm>
            <a:off x="2759655"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אזרחים</a:t>
            </a:r>
          </a:p>
        </p:txBody>
      </p:sp>
      <p:sp>
        <p:nvSpPr>
          <p:cNvPr id="23" name="כותרת 1"/>
          <p:cNvSpPr txBox="1">
            <a:spLocks/>
          </p:cNvSpPr>
          <p:nvPr/>
        </p:nvSpPr>
        <p:spPr>
          <a:xfrm>
            <a:off x="786783"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חיילים</a:t>
            </a:r>
          </a:p>
        </p:txBody>
      </p:sp>
      <p:sp>
        <p:nvSpPr>
          <p:cNvPr id="24" name="כותרת 1"/>
          <p:cNvSpPr txBox="1">
            <a:spLocks/>
          </p:cNvSpPr>
          <p:nvPr/>
        </p:nvSpPr>
        <p:spPr>
          <a:xfrm>
            <a:off x="6500858" y="2971760"/>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מצרפי</a:t>
            </a:r>
          </a:p>
        </p:txBody>
      </p:sp>
      <p:sp>
        <p:nvSpPr>
          <p:cNvPr id="36" name="Text Box 18"/>
          <p:cNvSpPr txBox="1">
            <a:spLocks noChangeArrowheads="1"/>
          </p:cNvSpPr>
          <p:nvPr/>
        </p:nvSpPr>
        <p:spPr bwMode="auto">
          <a:xfrm>
            <a:off x="8833239" y="5844735"/>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2" name="TextBox 41"/>
          <p:cNvSpPr txBox="1"/>
          <p:nvPr/>
        </p:nvSpPr>
        <p:spPr>
          <a:xfrm>
            <a:off x="2285984" y="5500702"/>
            <a:ext cx="397866" cy="369332"/>
          </a:xfrm>
          <a:prstGeom prst="rect">
            <a:avLst/>
          </a:prstGeom>
          <a:noFill/>
        </p:spPr>
        <p:txBody>
          <a:bodyPr wrap="none" rtlCol="1">
            <a:spAutoFit/>
          </a:bodyPr>
          <a:lstStyle/>
          <a:p>
            <a:r>
              <a:rPr lang="en-US" dirty="0">
                <a:solidFill>
                  <a:srgbClr val="00B050"/>
                </a:solidFill>
              </a:rPr>
              <a:t>D</a:t>
            </a:r>
            <a:r>
              <a:rPr lang="en-US" baseline="-25000" dirty="0">
                <a:solidFill>
                  <a:srgbClr val="00B050"/>
                </a:solidFill>
              </a:rPr>
              <a:t>S</a:t>
            </a:r>
            <a:endParaRPr lang="he-IL" baseline="-25000" dirty="0">
              <a:solidFill>
                <a:srgbClr val="00B050"/>
              </a:solidFill>
            </a:endParaRPr>
          </a:p>
        </p:txBody>
      </p:sp>
      <p:sp>
        <p:nvSpPr>
          <p:cNvPr id="29" name="Line 3"/>
          <p:cNvSpPr>
            <a:spLocks noChangeShapeType="1"/>
          </p:cNvSpPr>
          <p:nvPr/>
        </p:nvSpPr>
        <p:spPr bwMode="auto">
          <a:xfrm flipV="1">
            <a:off x="6286512" y="4572008"/>
            <a:ext cx="2000264" cy="1143008"/>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0" name="TextBox 29"/>
          <p:cNvSpPr txBox="1"/>
          <p:nvPr/>
        </p:nvSpPr>
        <p:spPr>
          <a:xfrm>
            <a:off x="8215338" y="4357694"/>
            <a:ext cx="364202" cy="369332"/>
          </a:xfrm>
          <a:prstGeom prst="rect">
            <a:avLst/>
          </a:prstGeom>
          <a:noFill/>
        </p:spPr>
        <p:txBody>
          <a:bodyPr wrap="square" rtlCol="1">
            <a:spAutoFit/>
          </a:bodyPr>
          <a:lstStyle/>
          <a:p>
            <a:r>
              <a:rPr lang="en-US" dirty="0"/>
              <a:t>S</a:t>
            </a:r>
            <a:r>
              <a:rPr lang="en-US" baseline="-25000" dirty="0"/>
              <a:t>T</a:t>
            </a:r>
            <a:endParaRPr lang="he-IL" baseline="-25000" dirty="0"/>
          </a:p>
        </p:txBody>
      </p:sp>
      <p:cxnSp>
        <p:nvCxnSpPr>
          <p:cNvPr id="35" name="מחבר ישר 34"/>
          <p:cNvCxnSpPr/>
          <p:nvPr/>
        </p:nvCxnSpPr>
        <p:spPr>
          <a:xfrm rot="5400000">
            <a:off x="6975084" y="5509240"/>
            <a:ext cx="720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Text Box 18"/>
          <p:cNvSpPr txBox="1">
            <a:spLocks noChangeArrowheads="1"/>
          </p:cNvSpPr>
          <p:nvPr/>
        </p:nvSpPr>
        <p:spPr bwMode="auto">
          <a:xfrm>
            <a:off x="6715140" y="585789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38" name="Text Box 18"/>
          <p:cNvSpPr txBox="1">
            <a:spLocks noChangeArrowheads="1"/>
          </p:cNvSpPr>
          <p:nvPr/>
        </p:nvSpPr>
        <p:spPr bwMode="auto">
          <a:xfrm>
            <a:off x="285752" y="4943488"/>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latin typeface="Calibri" pitchFamily="34" charset="0"/>
                <a:ea typeface="Arial" pitchFamily="34" charset="0"/>
                <a:cs typeface="Arial" pitchFamily="34" charset="0"/>
              </a:rPr>
              <a:t>P</a:t>
            </a:r>
            <a:r>
              <a:rPr lang="en-US" sz="2000" baseline="-25000" dirty="0">
                <a:latin typeface="Calibri" pitchFamily="34" charset="0"/>
                <a:ea typeface="Arial"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9" name="Line 3"/>
          <p:cNvSpPr>
            <a:spLocks noChangeShapeType="1"/>
          </p:cNvSpPr>
          <p:nvPr/>
        </p:nvSpPr>
        <p:spPr bwMode="auto">
          <a:xfrm>
            <a:off x="3643306" y="4572008"/>
            <a:ext cx="1214447" cy="1143008"/>
          </a:xfrm>
          <a:prstGeom prst="line">
            <a:avLst/>
          </a:prstGeom>
          <a:noFill/>
          <a:ln w="38100">
            <a:solidFill>
              <a:srgbClr val="7030A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0" name="TextBox 39"/>
          <p:cNvSpPr txBox="1"/>
          <p:nvPr/>
        </p:nvSpPr>
        <p:spPr>
          <a:xfrm>
            <a:off x="4929190" y="5429264"/>
            <a:ext cx="409087" cy="369332"/>
          </a:xfrm>
          <a:prstGeom prst="rect">
            <a:avLst/>
          </a:prstGeom>
          <a:noFill/>
        </p:spPr>
        <p:txBody>
          <a:bodyPr wrap="none" rtlCol="1">
            <a:spAutoFit/>
          </a:bodyPr>
          <a:lstStyle/>
          <a:p>
            <a:r>
              <a:rPr lang="en-US" dirty="0">
                <a:solidFill>
                  <a:srgbClr val="7030A0"/>
                </a:solidFill>
              </a:rPr>
              <a:t>D</a:t>
            </a:r>
            <a:r>
              <a:rPr lang="en-US" baseline="-25000" dirty="0">
                <a:solidFill>
                  <a:srgbClr val="7030A0"/>
                </a:solidFill>
              </a:rPr>
              <a:t>C</a:t>
            </a:r>
            <a:endParaRPr lang="he-IL" baseline="-25000" dirty="0">
              <a:solidFill>
                <a:srgbClr val="7030A0"/>
              </a:solidFill>
            </a:endParaRPr>
          </a:p>
        </p:txBody>
      </p:sp>
      <p:cxnSp>
        <p:nvCxnSpPr>
          <p:cNvPr id="45" name="מחבר ישר 44"/>
          <p:cNvCxnSpPr/>
          <p:nvPr/>
        </p:nvCxnSpPr>
        <p:spPr>
          <a:xfrm flipH="1">
            <a:off x="877520" y="5114938"/>
            <a:ext cx="6482151" cy="2857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מחבר ישר 48"/>
          <p:cNvCxnSpPr/>
          <p:nvPr/>
        </p:nvCxnSpPr>
        <p:spPr>
          <a:xfrm rot="5400000">
            <a:off x="1276350" y="5512899"/>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Text Box 18"/>
          <p:cNvSpPr txBox="1">
            <a:spLocks noChangeArrowheads="1"/>
          </p:cNvSpPr>
          <p:nvPr/>
        </p:nvSpPr>
        <p:spPr bwMode="auto">
          <a:xfrm>
            <a:off x="1000100"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S</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cxnSp>
        <p:nvCxnSpPr>
          <p:cNvPr id="51" name="מחבר ישר 50"/>
          <p:cNvCxnSpPr/>
          <p:nvPr/>
        </p:nvCxnSpPr>
        <p:spPr>
          <a:xfrm rot="5400000">
            <a:off x="3902175" y="5532865"/>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Text Box 18"/>
          <p:cNvSpPr txBox="1">
            <a:spLocks noChangeArrowheads="1"/>
          </p:cNvSpPr>
          <p:nvPr/>
        </p:nvSpPr>
        <p:spPr bwMode="auto">
          <a:xfrm>
            <a:off x="3643306"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C</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41" name="TextBox 40"/>
          <p:cNvSpPr txBox="1"/>
          <p:nvPr/>
        </p:nvSpPr>
        <p:spPr>
          <a:xfrm>
            <a:off x="7929586" y="5488560"/>
            <a:ext cx="571504" cy="369332"/>
          </a:xfrm>
          <a:prstGeom prst="rect">
            <a:avLst/>
          </a:prstGeom>
          <a:noFill/>
        </p:spPr>
        <p:txBody>
          <a:bodyPr wrap="square" rtlCol="1">
            <a:spAutoFit/>
          </a:bodyPr>
          <a:lstStyle/>
          <a:p>
            <a:r>
              <a:rPr lang="en-US" dirty="0"/>
              <a:t>D</a:t>
            </a:r>
            <a:r>
              <a:rPr lang="en-US" baseline="-25000" dirty="0"/>
              <a:t>T</a:t>
            </a:r>
            <a:endParaRPr lang="he-IL" baseline="-25000" dirty="0"/>
          </a:p>
        </p:txBody>
      </p:sp>
      <p:sp>
        <p:nvSpPr>
          <p:cNvPr id="43" name="Line 3"/>
          <p:cNvSpPr>
            <a:spLocks noChangeShapeType="1"/>
          </p:cNvSpPr>
          <p:nvPr/>
        </p:nvSpPr>
        <p:spPr bwMode="auto">
          <a:xfrm>
            <a:off x="1146129" y="3879041"/>
            <a:ext cx="1250165" cy="1671686"/>
          </a:xfrm>
          <a:prstGeom prst="line">
            <a:avLst/>
          </a:prstGeom>
          <a:noFill/>
          <a:ln w="38100">
            <a:solidFill>
              <a:srgbClr val="FF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TextBox 45"/>
          <p:cNvSpPr txBox="1"/>
          <p:nvPr/>
        </p:nvSpPr>
        <p:spPr>
          <a:xfrm>
            <a:off x="2214546" y="5286388"/>
            <a:ext cx="642942" cy="369332"/>
          </a:xfrm>
          <a:prstGeom prst="rect">
            <a:avLst/>
          </a:prstGeom>
          <a:noFill/>
        </p:spPr>
        <p:txBody>
          <a:bodyPr wrap="square" rtlCol="1">
            <a:spAutoFit/>
          </a:bodyPr>
          <a:lstStyle/>
          <a:p>
            <a:r>
              <a:rPr lang="en-US" dirty="0">
                <a:solidFill>
                  <a:srgbClr val="FF0000"/>
                </a:solidFill>
              </a:rPr>
              <a:t>D’</a:t>
            </a:r>
            <a:r>
              <a:rPr lang="en-US" baseline="-25000" dirty="0">
                <a:solidFill>
                  <a:srgbClr val="FF0000"/>
                </a:solidFill>
              </a:rPr>
              <a:t>S</a:t>
            </a:r>
            <a:endParaRPr lang="he-IL" baseline="-25000" dirty="0">
              <a:solidFill>
                <a:srgbClr val="FF0000"/>
              </a:solidFill>
            </a:endParaRPr>
          </a:p>
        </p:txBody>
      </p:sp>
      <p:sp>
        <p:nvSpPr>
          <p:cNvPr id="55" name="Line 3"/>
          <p:cNvSpPr>
            <a:spLocks noChangeShapeType="1"/>
          </p:cNvSpPr>
          <p:nvPr/>
        </p:nvSpPr>
        <p:spPr bwMode="auto">
          <a:xfrm>
            <a:off x="6357950" y="3929066"/>
            <a:ext cx="1866912" cy="1571636"/>
          </a:xfrm>
          <a:prstGeom prst="line">
            <a:avLst/>
          </a:prstGeom>
          <a:noFill/>
          <a:ln w="38100">
            <a:solidFill>
              <a:srgbClr val="FF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56" name="TextBox 55"/>
          <p:cNvSpPr txBox="1"/>
          <p:nvPr/>
        </p:nvSpPr>
        <p:spPr>
          <a:xfrm>
            <a:off x="8072462" y="5274246"/>
            <a:ext cx="571504" cy="369332"/>
          </a:xfrm>
          <a:prstGeom prst="rect">
            <a:avLst/>
          </a:prstGeom>
          <a:noFill/>
        </p:spPr>
        <p:txBody>
          <a:bodyPr wrap="square" rtlCol="1">
            <a:spAutoFit/>
          </a:bodyPr>
          <a:lstStyle/>
          <a:p>
            <a:r>
              <a:rPr lang="en-US" dirty="0">
                <a:solidFill>
                  <a:srgbClr val="FF0000"/>
                </a:solidFill>
              </a:rPr>
              <a:t>D’</a:t>
            </a:r>
            <a:r>
              <a:rPr lang="en-US" baseline="-25000" dirty="0">
                <a:solidFill>
                  <a:srgbClr val="FF0000"/>
                </a:solidFill>
              </a:rPr>
              <a:t>T</a:t>
            </a:r>
            <a:endParaRPr lang="he-IL" baseline="-25000" dirty="0">
              <a:solidFill>
                <a:srgbClr val="FF0000"/>
              </a:solidFill>
            </a:endParaRPr>
          </a:p>
        </p:txBody>
      </p:sp>
      <p:cxnSp>
        <p:nvCxnSpPr>
          <p:cNvPr id="57" name="מחבר ישר 56"/>
          <p:cNvCxnSpPr/>
          <p:nvPr/>
        </p:nvCxnSpPr>
        <p:spPr>
          <a:xfrm flipH="1">
            <a:off x="915602" y="4968897"/>
            <a:ext cx="6669853" cy="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8" name="מחבר ישר 57"/>
          <p:cNvCxnSpPr/>
          <p:nvPr/>
        </p:nvCxnSpPr>
        <p:spPr>
          <a:xfrm rot="5400000">
            <a:off x="7163779" y="5470260"/>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9" name="Text Box 18"/>
          <p:cNvSpPr txBox="1">
            <a:spLocks noChangeArrowheads="1"/>
          </p:cNvSpPr>
          <p:nvPr/>
        </p:nvSpPr>
        <p:spPr bwMode="auto">
          <a:xfrm>
            <a:off x="7072330" y="585789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sp>
        <p:nvSpPr>
          <p:cNvPr id="60" name="Text Box 18"/>
          <p:cNvSpPr txBox="1">
            <a:spLocks noChangeArrowheads="1"/>
          </p:cNvSpPr>
          <p:nvPr/>
        </p:nvSpPr>
        <p:spPr bwMode="auto">
          <a:xfrm>
            <a:off x="0" y="4643446"/>
            <a:ext cx="85719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solidFill>
                  <a:srgbClr val="FF0000"/>
                </a:solidFill>
                <a:latin typeface="Calibri" pitchFamily="34" charset="0"/>
                <a:ea typeface="Arial" pitchFamily="34" charset="0"/>
                <a:cs typeface="Arial" pitchFamily="34" charset="0"/>
              </a:rPr>
              <a:t>P</a:t>
            </a:r>
            <a:r>
              <a:rPr lang="en-US" sz="2000" baseline="-25000" dirty="0">
                <a:solidFill>
                  <a:srgbClr val="FF0000"/>
                </a:solidFill>
                <a:latin typeface="Calibri" pitchFamily="34" charset="0"/>
                <a:ea typeface="Arial" pitchFamily="34" charset="0"/>
                <a:cs typeface="Arial" pitchFamily="34" charset="0"/>
              </a:rPr>
              <a:t>1</a:t>
            </a:r>
            <a:r>
              <a:rPr lang="he-IL" sz="2000" baseline="-25000" dirty="0">
                <a:solidFill>
                  <a:srgbClr val="FF0000"/>
                </a:solidFill>
                <a:latin typeface="Calibri" pitchFamily="34" charset="0"/>
                <a:ea typeface="Arial" pitchFamily="34" charset="0"/>
                <a:cs typeface="Arial" pitchFamily="34" charset="0"/>
              </a:rPr>
              <a:t>יצרנים</a:t>
            </a:r>
            <a:endParaRPr kumimoji="0" lang="he-IL" sz="3600" b="0" i="0" u="none" strike="noStrike" cap="none" normalizeH="0" baseline="0" dirty="0">
              <a:ln>
                <a:noFill/>
              </a:ln>
              <a:solidFill>
                <a:srgbClr val="FF0000"/>
              </a:solidFill>
              <a:effectLst/>
              <a:latin typeface="Arial" pitchFamily="34" charset="0"/>
              <a:cs typeface="Arial" pitchFamily="34" charset="0"/>
            </a:endParaRPr>
          </a:p>
        </p:txBody>
      </p:sp>
      <p:cxnSp>
        <p:nvCxnSpPr>
          <p:cNvPr id="61" name="מחבר ישר 60"/>
          <p:cNvCxnSpPr/>
          <p:nvPr/>
        </p:nvCxnSpPr>
        <p:spPr>
          <a:xfrm rot="5400000">
            <a:off x="3620433" y="5431842"/>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62" name="Text Box 18"/>
          <p:cNvSpPr txBox="1">
            <a:spLocks noChangeArrowheads="1"/>
          </p:cNvSpPr>
          <p:nvPr/>
        </p:nvSpPr>
        <p:spPr bwMode="auto">
          <a:xfrm>
            <a:off x="3286116" y="586351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rgbClr val="FF0000"/>
                </a:solidFill>
                <a:effectLst/>
                <a:latin typeface="Calibri" pitchFamily="34" charset="0"/>
                <a:ea typeface="Arial" pitchFamily="34" charset="0"/>
                <a:cs typeface="Arial" pitchFamily="34" charset="0"/>
              </a:rPr>
              <a:t>C</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cxnSp>
        <p:nvCxnSpPr>
          <p:cNvPr id="63" name="מחבר ישר 62"/>
          <p:cNvCxnSpPr/>
          <p:nvPr/>
        </p:nvCxnSpPr>
        <p:spPr>
          <a:xfrm rot="10800000">
            <a:off x="920794" y="5427676"/>
            <a:ext cx="1008000" cy="1588"/>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4" name="מחבר ישר 63"/>
          <p:cNvCxnSpPr/>
          <p:nvPr/>
        </p:nvCxnSpPr>
        <p:spPr>
          <a:xfrm rot="5400000">
            <a:off x="1511352" y="5431842"/>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65" name="Text Box 18"/>
          <p:cNvSpPr txBox="1">
            <a:spLocks noChangeArrowheads="1"/>
          </p:cNvSpPr>
          <p:nvPr/>
        </p:nvSpPr>
        <p:spPr bwMode="auto">
          <a:xfrm>
            <a:off x="1357290" y="586351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rgbClr val="FF0000"/>
                </a:solidFill>
                <a:effectLst/>
                <a:latin typeface="Calibri" pitchFamily="34" charset="0"/>
                <a:ea typeface="Arial" pitchFamily="34" charset="0"/>
                <a:cs typeface="Arial" pitchFamily="34" charset="0"/>
              </a:rPr>
              <a:t>S</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sp>
        <p:nvSpPr>
          <p:cNvPr id="66" name="Text Box 18"/>
          <p:cNvSpPr txBox="1">
            <a:spLocks noChangeArrowheads="1"/>
          </p:cNvSpPr>
          <p:nvPr/>
        </p:nvSpPr>
        <p:spPr bwMode="auto">
          <a:xfrm>
            <a:off x="-108520" y="5229240"/>
            <a:ext cx="96571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solidFill>
                  <a:srgbClr val="FF0000"/>
                </a:solidFill>
                <a:latin typeface="Calibri" pitchFamily="34" charset="0"/>
                <a:ea typeface="Arial" pitchFamily="34" charset="0"/>
                <a:cs typeface="Arial" pitchFamily="34" charset="0"/>
              </a:rPr>
              <a:t>P</a:t>
            </a:r>
            <a:r>
              <a:rPr lang="en-US" sz="2000" baseline="-25000" dirty="0">
                <a:solidFill>
                  <a:srgbClr val="FF0000"/>
                </a:solidFill>
                <a:latin typeface="Calibri" pitchFamily="34" charset="0"/>
                <a:ea typeface="Arial" pitchFamily="34" charset="0"/>
                <a:cs typeface="Arial" pitchFamily="34" charset="0"/>
              </a:rPr>
              <a:t>1</a:t>
            </a:r>
            <a:r>
              <a:rPr lang="he-IL" sz="2000" baseline="-25000" dirty="0">
                <a:solidFill>
                  <a:srgbClr val="FF0000"/>
                </a:solidFill>
                <a:latin typeface="Calibri" pitchFamily="34" charset="0"/>
                <a:ea typeface="Arial" pitchFamily="34" charset="0"/>
                <a:cs typeface="Arial" pitchFamily="34" charset="0"/>
              </a:rPr>
              <a:t>חיילים</a:t>
            </a:r>
            <a:endParaRPr kumimoji="0" lang="he-IL" sz="3600" b="0" i="0" u="none" strike="noStrike" cap="none" normalizeH="0" baseline="0" dirty="0">
              <a:ln>
                <a:noFill/>
              </a:ln>
              <a:solidFill>
                <a:srgbClr val="FF0000"/>
              </a:solidFill>
              <a:effectLst/>
              <a:latin typeface="Arial" pitchFamily="34" charset="0"/>
              <a:cs typeface="Arial" pitchFamily="34" charset="0"/>
            </a:endParaRPr>
          </a:p>
        </p:txBody>
      </p:sp>
      <p:sp>
        <p:nvSpPr>
          <p:cNvPr id="67" name="מלבן 66"/>
          <p:cNvSpPr/>
          <p:nvPr/>
        </p:nvSpPr>
        <p:spPr>
          <a:xfrm>
            <a:off x="904093" y="4991127"/>
            <a:ext cx="1044000" cy="428628"/>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500" b="1" dirty="0"/>
              <a:t>הוצאות הממשלה</a:t>
            </a:r>
          </a:p>
        </p:txBody>
      </p:sp>
      <p:sp>
        <p:nvSpPr>
          <p:cNvPr id="3" name="מלבן 2"/>
          <p:cNvSpPr/>
          <p:nvPr/>
        </p:nvSpPr>
        <p:spPr>
          <a:xfrm>
            <a:off x="285752" y="188640"/>
            <a:ext cx="7018891" cy="1200329"/>
          </a:xfrm>
          <a:prstGeom prst="rect">
            <a:avLst/>
          </a:prstGeom>
        </p:spPr>
        <p:txBody>
          <a:bodyPr wrap="square">
            <a:spAutoFit/>
          </a:bodyPr>
          <a:lstStyle/>
          <a:p>
            <a:r>
              <a:rPr lang="he-IL" dirty="0"/>
              <a:t>א. תארו בתרשים את שוק הנסיעות באוטובוסים לפני ההסדר ואחריו. הראו מה יקרה למחיר הנסיעה לחיילים, לאזרחים ולחברות האוטובוסים, לכמויות המיוצרות והנצרכות ע"י כל אחד מהגורמים. הראו את הוצאות הממשלה למימון ההסדר.</a:t>
            </a:r>
            <a:endParaRPr lang="en-US" dirty="0"/>
          </a:p>
        </p:txBody>
      </p:sp>
    </p:spTree>
    <p:extLst>
      <p:ext uri="{BB962C8B-B14F-4D97-AF65-F5344CB8AC3E}">
        <p14:creationId xmlns:p14="http://schemas.microsoft.com/office/powerpoint/2010/main" val="355623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arn(inVertical)">
                                      <p:cBhvr>
                                        <p:cTn id="7" dur="500"/>
                                        <p:tgtEl>
                                          <p:spTgt spid="57"/>
                                        </p:tgtEl>
                                      </p:cBhvr>
                                    </p:animEffect>
                                  </p:childTnLst>
                                </p:cTn>
                              </p:par>
                              <p:par>
                                <p:cTn id="8" presetID="16" presetClass="entr" presetSubtype="21"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barn(inVertical)">
                                      <p:cBhvr>
                                        <p:cTn id="10" dur="500"/>
                                        <p:tgtEl>
                                          <p:spTgt spid="5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barn(inVertical)">
                                      <p:cBhvr>
                                        <p:cTn id="13" dur="500"/>
                                        <p:tgtEl>
                                          <p:spTgt spid="5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barn(inVertical)">
                                      <p:cBhvr>
                                        <p:cTn id="16" dur="500"/>
                                        <p:tgtEl>
                                          <p:spTgt spid="6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wipe(down)">
                                      <p:cBhvr>
                                        <p:cTn id="21" dur="500"/>
                                        <p:tgtEl>
                                          <p:spTgt spid="6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wipe(down)">
                                      <p:cBhvr>
                                        <p:cTn id="24" dur="500"/>
                                        <p:tgtEl>
                                          <p:spTgt spid="62"/>
                                        </p:tgtEl>
                                      </p:cBhvr>
                                    </p:animEffect>
                                  </p:childTnLst>
                                </p:cTn>
                              </p:par>
                              <p:par>
                                <p:cTn id="25" presetID="22" presetClass="entr" presetSubtype="4" fill="hold" nodeType="with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down)">
                                      <p:cBhvr>
                                        <p:cTn id="27" dur="500"/>
                                        <p:tgtEl>
                                          <p:spTgt spid="64"/>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wipe(down)">
                                      <p:cBhvr>
                                        <p:cTn id="30" dur="500"/>
                                        <p:tgtEl>
                                          <p:spTgt spid="65"/>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circle(in)">
                                      <p:cBhvr>
                                        <p:cTn id="35" dur="2000"/>
                                        <p:tgtEl>
                                          <p:spTgt spid="63"/>
                                        </p:tgtEl>
                                      </p:cBhvr>
                                    </p:animEffect>
                                  </p:childTnLst>
                                </p:cTn>
                              </p:par>
                              <p:par>
                                <p:cTn id="36" presetID="6" presetClass="entr" presetSubtype="16" fill="hold" grpId="0" nodeType="withEffect">
                                  <p:stCondLst>
                                    <p:cond delay="0"/>
                                  </p:stCondLst>
                                  <p:childTnLst>
                                    <p:set>
                                      <p:cBhvr>
                                        <p:cTn id="37" dur="1" fill="hold">
                                          <p:stCondLst>
                                            <p:cond delay="0"/>
                                          </p:stCondLst>
                                        </p:cTn>
                                        <p:tgtEl>
                                          <p:spTgt spid="66"/>
                                        </p:tgtEl>
                                        <p:attrNameLst>
                                          <p:attrName>style.visibility</p:attrName>
                                        </p:attrNameLst>
                                      </p:cBhvr>
                                      <p:to>
                                        <p:strVal val="visible"/>
                                      </p:to>
                                    </p:set>
                                    <p:animEffect transition="in" filter="circle(in)">
                                      <p:cBhvr>
                                        <p:cTn id="38" dur="2000"/>
                                        <p:tgtEl>
                                          <p:spTgt spid="66"/>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barn(inVertical)">
                                      <p:cBhvr>
                                        <p:cTn id="43"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2" grpId="0"/>
      <p:bldP spid="65" grpId="0"/>
      <p:bldP spid="66" grpId="0"/>
      <p:bldP spid="6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2" name="מחבר ישר 61"/>
          <p:cNvCxnSpPr/>
          <p:nvPr/>
        </p:nvCxnSpPr>
        <p:spPr>
          <a:xfrm rot="10800000">
            <a:off x="920794" y="5427676"/>
            <a:ext cx="1008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מחבר ישר 47"/>
          <p:cNvCxnSpPr/>
          <p:nvPr/>
        </p:nvCxnSpPr>
        <p:spPr>
          <a:xfrm rot="10800000">
            <a:off x="891539" y="4995016"/>
            <a:ext cx="6732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 name="כותרת 1"/>
          <p:cNvSpPr>
            <a:spLocks noGrp="1"/>
          </p:cNvSpPr>
          <p:nvPr>
            <p:ph type="title"/>
          </p:nvPr>
        </p:nvSpPr>
        <p:spPr>
          <a:xfrm>
            <a:off x="7286644" y="0"/>
            <a:ext cx="1868110" cy="1143000"/>
          </a:xfrm>
        </p:spPr>
        <p:txBody>
          <a:bodyPr/>
          <a:lstStyle/>
          <a:p>
            <a:pPr algn="r"/>
            <a:r>
              <a:rPr lang="he-IL" b="1" dirty="0">
                <a:solidFill>
                  <a:schemeClr val="tx2">
                    <a:lumMod val="75000"/>
                  </a:schemeClr>
                </a:solidFill>
              </a:rPr>
              <a:t>שאלה 7</a:t>
            </a:r>
            <a:endParaRPr lang="he-IL" dirty="0"/>
          </a:p>
        </p:txBody>
      </p:sp>
      <p:sp>
        <p:nvSpPr>
          <p:cNvPr id="3" name="מציין מיקום תוכן 2"/>
          <p:cNvSpPr>
            <a:spLocks noGrp="1"/>
          </p:cNvSpPr>
          <p:nvPr>
            <p:ph idx="1"/>
          </p:nvPr>
        </p:nvSpPr>
        <p:spPr>
          <a:xfrm>
            <a:off x="457200" y="2357430"/>
            <a:ext cx="8229600" cy="4525963"/>
          </a:xfrm>
        </p:spPr>
        <p:txBody>
          <a:bodyPr>
            <a:normAutofit/>
          </a:bodyPr>
          <a:lstStyle/>
          <a:p>
            <a:pPr>
              <a:buNone/>
            </a:pPr>
            <a:r>
              <a:rPr lang="he-IL" dirty="0"/>
              <a:t>	</a:t>
            </a:r>
          </a:p>
        </p:txBody>
      </p:sp>
      <p:sp>
        <p:nvSpPr>
          <p:cNvPr id="8" name="Text Box 13"/>
          <p:cNvSpPr txBox="1">
            <a:spLocks noChangeArrowheads="1"/>
          </p:cNvSpPr>
          <p:nvPr/>
        </p:nvSpPr>
        <p:spPr bwMode="auto">
          <a:xfrm>
            <a:off x="565124" y="347503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9" name="Line 3"/>
          <p:cNvSpPr>
            <a:spLocks noChangeShapeType="1"/>
          </p:cNvSpPr>
          <p:nvPr/>
        </p:nvSpPr>
        <p:spPr bwMode="auto">
          <a:xfrm>
            <a:off x="874176" y="368934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0" name="Text Box 18"/>
          <p:cNvSpPr txBox="1">
            <a:spLocks noChangeArrowheads="1"/>
          </p:cNvSpPr>
          <p:nvPr/>
        </p:nvSpPr>
        <p:spPr bwMode="auto">
          <a:xfrm>
            <a:off x="2715577" y="583248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1" name="Line 3"/>
          <p:cNvSpPr>
            <a:spLocks noChangeShapeType="1"/>
          </p:cNvSpPr>
          <p:nvPr/>
        </p:nvSpPr>
        <p:spPr bwMode="auto">
          <a:xfrm>
            <a:off x="1071538" y="4714884"/>
            <a:ext cx="1214446" cy="1000132"/>
          </a:xfrm>
          <a:prstGeom prst="line">
            <a:avLst/>
          </a:prstGeom>
          <a:noFill/>
          <a:ln w="38100">
            <a:solidFill>
              <a:srgbClr val="00B05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2" name="Line 3"/>
          <p:cNvSpPr>
            <a:spLocks noChangeShapeType="1"/>
          </p:cNvSpPr>
          <p:nvPr/>
        </p:nvSpPr>
        <p:spPr bwMode="auto">
          <a:xfrm rot="16200000">
            <a:off x="1961627" y="478503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3"/>
          <p:cNvSpPr txBox="1">
            <a:spLocks noChangeArrowheads="1"/>
          </p:cNvSpPr>
          <p:nvPr/>
        </p:nvSpPr>
        <p:spPr bwMode="auto">
          <a:xfrm>
            <a:off x="3079147" y="347182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4" name="Line 3"/>
          <p:cNvSpPr>
            <a:spLocks noChangeShapeType="1"/>
          </p:cNvSpPr>
          <p:nvPr/>
        </p:nvSpPr>
        <p:spPr bwMode="auto">
          <a:xfrm>
            <a:off x="3408430" y="368614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8"/>
          <p:cNvSpPr txBox="1">
            <a:spLocks noChangeArrowheads="1"/>
          </p:cNvSpPr>
          <p:nvPr/>
        </p:nvSpPr>
        <p:spPr bwMode="auto">
          <a:xfrm>
            <a:off x="5222255" y="5829280"/>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6" name="Line 3"/>
          <p:cNvSpPr>
            <a:spLocks noChangeShapeType="1"/>
          </p:cNvSpPr>
          <p:nvPr/>
        </p:nvSpPr>
        <p:spPr bwMode="auto">
          <a:xfrm>
            <a:off x="6143636" y="4357694"/>
            <a:ext cx="2000264" cy="1285884"/>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8" name="Line 3"/>
          <p:cNvSpPr>
            <a:spLocks noChangeShapeType="1"/>
          </p:cNvSpPr>
          <p:nvPr/>
        </p:nvSpPr>
        <p:spPr bwMode="auto">
          <a:xfrm rot="16200000">
            <a:off x="4487355" y="478182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9" name="Text Box 13"/>
          <p:cNvSpPr txBox="1">
            <a:spLocks noChangeArrowheads="1"/>
          </p:cNvSpPr>
          <p:nvPr/>
        </p:nvSpPr>
        <p:spPr bwMode="auto">
          <a:xfrm>
            <a:off x="5572132" y="348611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0" name="Line 3"/>
          <p:cNvSpPr>
            <a:spLocks noChangeShapeType="1"/>
          </p:cNvSpPr>
          <p:nvPr/>
        </p:nvSpPr>
        <p:spPr bwMode="auto">
          <a:xfrm>
            <a:off x="5890384" y="370043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1" name="Line 3"/>
          <p:cNvSpPr>
            <a:spLocks noChangeShapeType="1"/>
          </p:cNvSpPr>
          <p:nvPr/>
        </p:nvSpPr>
        <p:spPr bwMode="auto">
          <a:xfrm rot="16200000">
            <a:off x="7442513" y="4314892"/>
            <a:ext cx="0" cy="313200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p:cNvSpPr txBox="1">
            <a:spLocks/>
          </p:cNvSpPr>
          <p:nvPr/>
        </p:nvSpPr>
        <p:spPr>
          <a:xfrm>
            <a:off x="2759655"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אזרחים</a:t>
            </a:r>
          </a:p>
        </p:txBody>
      </p:sp>
      <p:sp>
        <p:nvSpPr>
          <p:cNvPr id="23" name="כותרת 1"/>
          <p:cNvSpPr txBox="1">
            <a:spLocks/>
          </p:cNvSpPr>
          <p:nvPr/>
        </p:nvSpPr>
        <p:spPr>
          <a:xfrm>
            <a:off x="786783"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חיילים</a:t>
            </a:r>
          </a:p>
        </p:txBody>
      </p:sp>
      <p:sp>
        <p:nvSpPr>
          <p:cNvPr id="24" name="כותרת 1"/>
          <p:cNvSpPr txBox="1">
            <a:spLocks/>
          </p:cNvSpPr>
          <p:nvPr/>
        </p:nvSpPr>
        <p:spPr>
          <a:xfrm>
            <a:off x="6500858" y="2971760"/>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מצרפי</a:t>
            </a:r>
          </a:p>
        </p:txBody>
      </p:sp>
      <p:sp>
        <p:nvSpPr>
          <p:cNvPr id="36" name="Text Box 18"/>
          <p:cNvSpPr txBox="1">
            <a:spLocks noChangeArrowheads="1"/>
          </p:cNvSpPr>
          <p:nvPr/>
        </p:nvSpPr>
        <p:spPr bwMode="auto">
          <a:xfrm>
            <a:off x="8833239" y="5844735"/>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2" name="TextBox 41"/>
          <p:cNvSpPr txBox="1"/>
          <p:nvPr/>
        </p:nvSpPr>
        <p:spPr>
          <a:xfrm>
            <a:off x="2285984" y="5500702"/>
            <a:ext cx="397866" cy="369332"/>
          </a:xfrm>
          <a:prstGeom prst="rect">
            <a:avLst/>
          </a:prstGeom>
          <a:noFill/>
        </p:spPr>
        <p:txBody>
          <a:bodyPr wrap="none" rtlCol="1">
            <a:spAutoFit/>
          </a:bodyPr>
          <a:lstStyle/>
          <a:p>
            <a:r>
              <a:rPr lang="en-US" dirty="0">
                <a:solidFill>
                  <a:srgbClr val="00B050"/>
                </a:solidFill>
              </a:rPr>
              <a:t>D</a:t>
            </a:r>
            <a:r>
              <a:rPr lang="en-US" baseline="-25000" dirty="0">
                <a:solidFill>
                  <a:srgbClr val="00B050"/>
                </a:solidFill>
              </a:rPr>
              <a:t>S</a:t>
            </a:r>
            <a:endParaRPr lang="he-IL" baseline="-25000" dirty="0">
              <a:solidFill>
                <a:srgbClr val="00B050"/>
              </a:solidFill>
            </a:endParaRPr>
          </a:p>
        </p:txBody>
      </p:sp>
      <p:sp>
        <p:nvSpPr>
          <p:cNvPr id="29" name="Line 3"/>
          <p:cNvSpPr>
            <a:spLocks noChangeShapeType="1"/>
          </p:cNvSpPr>
          <p:nvPr/>
        </p:nvSpPr>
        <p:spPr bwMode="auto">
          <a:xfrm flipV="1">
            <a:off x="6286512" y="4572008"/>
            <a:ext cx="2000264" cy="1143008"/>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0" name="TextBox 29"/>
          <p:cNvSpPr txBox="1"/>
          <p:nvPr/>
        </p:nvSpPr>
        <p:spPr>
          <a:xfrm>
            <a:off x="8215338" y="4357694"/>
            <a:ext cx="364202" cy="369332"/>
          </a:xfrm>
          <a:prstGeom prst="rect">
            <a:avLst/>
          </a:prstGeom>
          <a:noFill/>
        </p:spPr>
        <p:txBody>
          <a:bodyPr wrap="square" rtlCol="1">
            <a:spAutoFit/>
          </a:bodyPr>
          <a:lstStyle/>
          <a:p>
            <a:r>
              <a:rPr lang="en-US" dirty="0"/>
              <a:t>S</a:t>
            </a:r>
            <a:r>
              <a:rPr lang="en-US" baseline="-25000" dirty="0"/>
              <a:t>T</a:t>
            </a:r>
            <a:endParaRPr lang="he-IL" baseline="-25000" dirty="0"/>
          </a:p>
        </p:txBody>
      </p:sp>
      <p:cxnSp>
        <p:nvCxnSpPr>
          <p:cNvPr id="35" name="מחבר ישר 34"/>
          <p:cNvCxnSpPr/>
          <p:nvPr/>
        </p:nvCxnSpPr>
        <p:spPr>
          <a:xfrm rot="5400000">
            <a:off x="6998876" y="5502718"/>
            <a:ext cx="720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Text Box 18"/>
          <p:cNvSpPr txBox="1">
            <a:spLocks noChangeArrowheads="1"/>
          </p:cNvSpPr>
          <p:nvPr/>
        </p:nvSpPr>
        <p:spPr bwMode="auto">
          <a:xfrm>
            <a:off x="6715140" y="585789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38" name="Text Box 18"/>
          <p:cNvSpPr txBox="1">
            <a:spLocks noChangeArrowheads="1"/>
          </p:cNvSpPr>
          <p:nvPr/>
        </p:nvSpPr>
        <p:spPr bwMode="auto">
          <a:xfrm>
            <a:off x="285752" y="4943488"/>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latin typeface="Calibri" pitchFamily="34" charset="0"/>
                <a:ea typeface="Arial" pitchFamily="34" charset="0"/>
                <a:cs typeface="Arial" pitchFamily="34" charset="0"/>
              </a:rPr>
              <a:t>P</a:t>
            </a:r>
            <a:r>
              <a:rPr lang="en-US" sz="2000" baseline="-25000" dirty="0">
                <a:latin typeface="Calibri" pitchFamily="34" charset="0"/>
                <a:ea typeface="Arial"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9" name="Line 3"/>
          <p:cNvSpPr>
            <a:spLocks noChangeShapeType="1"/>
          </p:cNvSpPr>
          <p:nvPr/>
        </p:nvSpPr>
        <p:spPr bwMode="auto">
          <a:xfrm>
            <a:off x="3643306" y="4572008"/>
            <a:ext cx="1214447" cy="1143008"/>
          </a:xfrm>
          <a:prstGeom prst="line">
            <a:avLst/>
          </a:prstGeom>
          <a:noFill/>
          <a:ln w="38100">
            <a:solidFill>
              <a:srgbClr val="7030A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0" name="TextBox 39"/>
          <p:cNvSpPr txBox="1"/>
          <p:nvPr/>
        </p:nvSpPr>
        <p:spPr>
          <a:xfrm>
            <a:off x="4929190" y="5429264"/>
            <a:ext cx="409087" cy="369332"/>
          </a:xfrm>
          <a:prstGeom prst="rect">
            <a:avLst/>
          </a:prstGeom>
          <a:noFill/>
        </p:spPr>
        <p:txBody>
          <a:bodyPr wrap="none" rtlCol="1">
            <a:spAutoFit/>
          </a:bodyPr>
          <a:lstStyle/>
          <a:p>
            <a:r>
              <a:rPr lang="en-US" dirty="0">
                <a:solidFill>
                  <a:srgbClr val="7030A0"/>
                </a:solidFill>
              </a:rPr>
              <a:t>D</a:t>
            </a:r>
            <a:r>
              <a:rPr lang="en-US" baseline="-25000" dirty="0">
                <a:solidFill>
                  <a:srgbClr val="7030A0"/>
                </a:solidFill>
              </a:rPr>
              <a:t>C</a:t>
            </a:r>
            <a:endParaRPr lang="he-IL" baseline="-25000" dirty="0">
              <a:solidFill>
                <a:srgbClr val="7030A0"/>
              </a:solidFill>
            </a:endParaRPr>
          </a:p>
        </p:txBody>
      </p:sp>
      <p:cxnSp>
        <p:nvCxnSpPr>
          <p:cNvPr id="45" name="מחבר ישר 44"/>
          <p:cNvCxnSpPr/>
          <p:nvPr/>
        </p:nvCxnSpPr>
        <p:spPr>
          <a:xfrm rot="10800000">
            <a:off x="877520" y="5143512"/>
            <a:ext cx="655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מחבר ישר 48"/>
          <p:cNvCxnSpPr/>
          <p:nvPr/>
        </p:nvCxnSpPr>
        <p:spPr>
          <a:xfrm rot="5400000">
            <a:off x="1300248" y="5484718"/>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Text Box 18"/>
          <p:cNvSpPr txBox="1">
            <a:spLocks noChangeArrowheads="1"/>
          </p:cNvSpPr>
          <p:nvPr/>
        </p:nvSpPr>
        <p:spPr bwMode="auto">
          <a:xfrm>
            <a:off x="1000100"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S</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cxnSp>
        <p:nvCxnSpPr>
          <p:cNvPr id="51" name="מחבר ישר 50"/>
          <p:cNvCxnSpPr/>
          <p:nvPr/>
        </p:nvCxnSpPr>
        <p:spPr>
          <a:xfrm rot="5400000">
            <a:off x="3872016" y="5484718"/>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Text Box 18"/>
          <p:cNvSpPr txBox="1">
            <a:spLocks noChangeArrowheads="1"/>
          </p:cNvSpPr>
          <p:nvPr/>
        </p:nvSpPr>
        <p:spPr bwMode="auto">
          <a:xfrm>
            <a:off x="3643306"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C</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41" name="TextBox 40"/>
          <p:cNvSpPr txBox="1"/>
          <p:nvPr/>
        </p:nvSpPr>
        <p:spPr>
          <a:xfrm>
            <a:off x="7929586" y="5488560"/>
            <a:ext cx="571504" cy="369332"/>
          </a:xfrm>
          <a:prstGeom prst="rect">
            <a:avLst/>
          </a:prstGeom>
          <a:noFill/>
        </p:spPr>
        <p:txBody>
          <a:bodyPr wrap="square" rtlCol="1">
            <a:spAutoFit/>
          </a:bodyPr>
          <a:lstStyle/>
          <a:p>
            <a:r>
              <a:rPr lang="en-US" dirty="0"/>
              <a:t>D</a:t>
            </a:r>
            <a:r>
              <a:rPr lang="en-US" baseline="-25000" dirty="0"/>
              <a:t>T</a:t>
            </a:r>
            <a:endParaRPr lang="he-IL" baseline="-25000" dirty="0"/>
          </a:p>
        </p:txBody>
      </p:sp>
      <p:sp>
        <p:nvSpPr>
          <p:cNvPr id="43" name="Line 3"/>
          <p:cNvSpPr>
            <a:spLocks noChangeShapeType="1"/>
          </p:cNvSpPr>
          <p:nvPr/>
        </p:nvSpPr>
        <p:spPr bwMode="auto">
          <a:xfrm>
            <a:off x="1142976" y="4143380"/>
            <a:ext cx="1214446" cy="1357322"/>
          </a:xfrm>
          <a:prstGeom prst="line">
            <a:avLst/>
          </a:prstGeom>
          <a:noFill/>
          <a:ln w="38100">
            <a:solidFill>
              <a:srgbClr val="FF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TextBox 45"/>
          <p:cNvSpPr txBox="1"/>
          <p:nvPr/>
        </p:nvSpPr>
        <p:spPr>
          <a:xfrm>
            <a:off x="2214546" y="5286388"/>
            <a:ext cx="642942" cy="369332"/>
          </a:xfrm>
          <a:prstGeom prst="rect">
            <a:avLst/>
          </a:prstGeom>
          <a:noFill/>
        </p:spPr>
        <p:txBody>
          <a:bodyPr wrap="square" rtlCol="1">
            <a:spAutoFit/>
          </a:bodyPr>
          <a:lstStyle/>
          <a:p>
            <a:r>
              <a:rPr lang="en-US" dirty="0">
                <a:solidFill>
                  <a:srgbClr val="FF0000"/>
                </a:solidFill>
              </a:rPr>
              <a:t>D’</a:t>
            </a:r>
            <a:r>
              <a:rPr lang="en-US" baseline="-25000" dirty="0">
                <a:solidFill>
                  <a:srgbClr val="FF0000"/>
                </a:solidFill>
              </a:rPr>
              <a:t>S</a:t>
            </a:r>
            <a:endParaRPr lang="he-IL" baseline="-25000" dirty="0">
              <a:solidFill>
                <a:srgbClr val="FF0000"/>
              </a:solidFill>
            </a:endParaRPr>
          </a:p>
        </p:txBody>
      </p:sp>
      <p:sp>
        <p:nvSpPr>
          <p:cNvPr id="55" name="Line 3"/>
          <p:cNvSpPr>
            <a:spLocks noChangeShapeType="1"/>
          </p:cNvSpPr>
          <p:nvPr/>
        </p:nvSpPr>
        <p:spPr bwMode="auto">
          <a:xfrm>
            <a:off x="6357950" y="3929066"/>
            <a:ext cx="1866912" cy="1571636"/>
          </a:xfrm>
          <a:prstGeom prst="line">
            <a:avLst/>
          </a:prstGeom>
          <a:noFill/>
          <a:ln w="38100">
            <a:solidFill>
              <a:srgbClr val="FF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56" name="TextBox 55"/>
          <p:cNvSpPr txBox="1"/>
          <p:nvPr/>
        </p:nvSpPr>
        <p:spPr>
          <a:xfrm>
            <a:off x="8072462" y="5274246"/>
            <a:ext cx="571504" cy="369332"/>
          </a:xfrm>
          <a:prstGeom prst="rect">
            <a:avLst/>
          </a:prstGeom>
          <a:noFill/>
        </p:spPr>
        <p:txBody>
          <a:bodyPr wrap="square" rtlCol="1">
            <a:spAutoFit/>
          </a:bodyPr>
          <a:lstStyle/>
          <a:p>
            <a:r>
              <a:rPr lang="en-US" dirty="0">
                <a:solidFill>
                  <a:srgbClr val="FF0000"/>
                </a:solidFill>
              </a:rPr>
              <a:t>D’</a:t>
            </a:r>
            <a:r>
              <a:rPr lang="en-US" baseline="-25000" dirty="0">
                <a:solidFill>
                  <a:srgbClr val="FF0000"/>
                </a:solidFill>
              </a:rPr>
              <a:t>T</a:t>
            </a:r>
            <a:endParaRPr lang="he-IL" baseline="-25000" dirty="0">
              <a:solidFill>
                <a:srgbClr val="FF0000"/>
              </a:solidFill>
            </a:endParaRPr>
          </a:p>
        </p:txBody>
      </p:sp>
      <p:cxnSp>
        <p:nvCxnSpPr>
          <p:cNvPr id="47" name="מחבר ישר 46"/>
          <p:cNvCxnSpPr/>
          <p:nvPr/>
        </p:nvCxnSpPr>
        <p:spPr>
          <a:xfrm rot="5400000">
            <a:off x="7192333" y="5426222"/>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2" name="Text Box 18"/>
          <p:cNvSpPr txBox="1">
            <a:spLocks noChangeArrowheads="1"/>
          </p:cNvSpPr>
          <p:nvPr/>
        </p:nvSpPr>
        <p:spPr bwMode="auto">
          <a:xfrm>
            <a:off x="7072330" y="585789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cxnSp>
        <p:nvCxnSpPr>
          <p:cNvPr id="54" name="מחבר ישר 53"/>
          <p:cNvCxnSpPr/>
          <p:nvPr/>
        </p:nvCxnSpPr>
        <p:spPr>
          <a:xfrm rot="5400000">
            <a:off x="3620433" y="5431842"/>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7" name="Text Box 18"/>
          <p:cNvSpPr txBox="1">
            <a:spLocks noChangeArrowheads="1"/>
          </p:cNvSpPr>
          <p:nvPr/>
        </p:nvSpPr>
        <p:spPr bwMode="auto">
          <a:xfrm>
            <a:off x="3286116" y="586351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rgbClr val="FF0000"/>
                </a:solidFill>
                <a:effectLst/>
                <a:latin typeface="Calibri" pitchFamily="34" charset="0"/>
                <a:ea typeface="Arial" pitchFamily="34" charset="0"/>
                <a:cs typeface="Arial" pitchFamily="34" charset="0"/>
              </a:rPr>
              <a:t>C</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cxnSp>
        <p:nvCxnSpPr>
          <p:cNvPr id="58" name="מחבר ישר 57"/>
          <p:cNvCxnSpPr/>
          <p:nvPr/>
        </p:nvCxnSpPr>
        <p:spPr>
          <a:xfrm rot="5400000">
            <a:off x="1477293" y="5431842"/>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9" name="Text Box 18"/>
          <p:cNvSpPr txBox="1">
            <a:spLocks noChangeArrowheads="1"/>
          </p:cNvSpPr>
          <p:nvPr/>
        </p:nvSpPr>
        <p:spPr bwMode="auto">
          <a:xfrm>
            <a:off x="1357290" y="586351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rgbClr val="FF0000"/>
                </a:solidFill>
                <a:effectLst/>
                <a:latin typeface="Calibri" pitchFamily="34" charset="0"/>
                <a:ea typeface="Arial" pitchFamily="34" charset="0"/>
                <a:cs typeface="Arial" pitchFamily="34" charset="0"/>
              </a:rPr>
              <a:t>S</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sp>
        <p:nvSpPr>
          <p:cNvPr id="60" name="Text Box 18"/>
          <p:cNvSpPr txBox="1">
            <a:spLocks noChangeArrowheads="1"/>
          </p:cNvSpPr>
          <p:nvPr/>
        </p:nvSpPr>
        <p:spPr bwMode="auto">
          <a:xfrm>
            <a:off x="285720" y="4643446"/>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solidFill>
                  <a:srgbClr val="FF0000"/>
                </a:solidFill>
                <a:latin typeface="Calibri" pitchFamily="34" charset="0"/>
                <a:ea typeface="Arial" pitchFamily="34" charset="0"/>
                <a:cs typeface="Arial" pitchFamily="34" charset="0"/>
              </a:rPr>
              <a:t>P</a:t>
            </a:r>
            <a:r>
              <a:rPr lang="en-US" sz="2000" baseline="-25000" dirty="0">
                <a:solidFill>
                  <a:srgbClr val="FF0000"/>
                </a:solidFill>
                <a:latin typeface="Calibri" pitchFamily="34" charset="0"/>
                <a:ea typeface="Arial" pitchFamily="34" charset="0"/>
                <a:cs typeface="Arial" pitchFamily="34" charset="0"/>
              </a:rPr>
              <a:t>1</a:t>
            </a:r>
            <a:endParaRPr kumimoji="0" lang="he-IL" sz="3600" b="0" i="0" u="none" strike="noStrike" cap="none" normalizeH="0" baseline="0" dirty="0">
              <a:ln>
                <a:noFill/>
              </a:ln>
              <a:solidFill>
                <a:srgbClr val="FF0000"/>
              </a:solidFill>
              <a:effectLst/>
              <a:latin typeface="Arial" pitchFamily="34" charset="0"/>
              <a:cs typeface="Arial" pitchFamily="34" charset="0"/>
            </a:endParaRPr>
          </a:p>
        </p:txBody>
      </p:sp>
      <p:sp>
        <p:nvSpPr>
          <p:cNvPr id="61" name="Text Box 18"/>
          <p:cNvSpPr txBox="1">
            <a:spLocks noChangeArrowheads="1"/>
          </p:cNvSpPr>
          <p:nvPr/>
        </p:nvSpPr>
        <p:spPr bwMode="auto">
          <a:xfrm>
            <a:off x="285720" y="5229240"/>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solidFill>
                  <a:srgbClr val="FF0000"/>
                </a:solidFill>
                <a:latin typeface="Calibri" pitchFamily="34" charset="0"/>
                <a:ea typeface="Arial" pitchFamily="34" charset="0"/>
                <a:cs typeface="Arial" pitchFamily="34" charset="0"/>
              </a:rPr>
              <a:t>P</a:t>
            </a:r>
            <a:r>
              <a:rPr lang="en-US" sz="2000" baseline="30000" dirty="0">
                <a:solidFill>
                  <a:srgbClr val="FF0000"/>
                </a:solidFill>
                <a:latin typeface="Calibri" pitchFamily="34" charset="0"/>
                <a:ea typeface="Arial" pitchFamily="34" charset="0"/>
                <a:cs typeface="Arial" pitchFamily="34" charset="0"/>
              </a:rPr>
              <a:t>S</a:t>
            </a:r>
            <a:r>
              <a:rPr lang="en-US" sz="2000" baseline="-25000" dirty="0">
                <a:solidFill>
                  <a:srgbClr val="FF0000"/>
                </a:solidFill>
                <a:latin typeface="Calibri" pitchFamily="34" charset="0"/>
                <a:ea typeface="Arial" pitchFamily="34" charset="0"/>
                <a:cs typeface="Arial" pitchFamily="34" charset="0"/>
              </a:rPr>
              <a:t>1</a:t>
            </a:r>
            <a:endParaRPr kumimoji="0" lang="he-IL" sz="3600" b="0" i="0" u="none" strike="noStrike" cap="none" normalizeH="0" baseline="0" dirty="0">
              <a:ln>
                <a:noFill/>
              </a:ln>
              <a:solidFill>
                <a:srgbClr val="FF0000"/>
              </a:solidFill>
              <a:effectLst/>
              <a:latin typeface="Arial" pitchFamily="34" charset="0"/>
              <a:cs typeface="Arial" pitchFamily="34" charset="0"/>
            </a:endParaRPr>
          </a:p>
        </p:txBody>
      </p:sp>
      <p:grpSp>
        <p:nvGrpSpPr>
          <p:cNvPr id="67" name="קבוצה 66"/>
          <p:cNvGrpSpPr/>
          <p:nvPr/>
        </p:nvGrpSpPr>
        <p:grpSpPr>
          <a:xfrm>
            <a:off x="887042" y="5143512"/>
            <a:ext cx="1041752" cy="285752"/>
            <a:chOff x="887042" y="5143512"/>
            <a:chExt cx="1041752" cy="285752"/>
          </a:xfrm>
        </p:grpSpPr>
        <p:sp>
          <p:nvSpPr>
            <p:cNvPr id="65" name="מלבן 64"/>
            <p:cNvSpPr/>
            <p:nvPr/>
          </p:nvSpPr>
          <p:spPr>
            <a:xfrm>
              <a:off x="887042" y="5143512"/>
              <a:ext cx="756000" cy="285752"/>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b="1" dirty="0"/>
                <a:t>גידול</a:t>
              </a:r>
              <a:endParaRPr lang="he-IL" sz="1200" b="1" dirty="0"/>
            </a:p>
          </p:txBody>
        </p:sp>
        <p:sp>
          <p:nvSpPr>
            <p:cNvPr id="66" name="משולש ישר-זווית 65"/>
            <p:cNvSpPr/>
            <p:nvPr/>
          </p:nvSpPr>
          <p:spPr>
            <a:xfrm>
              <a:off x="1643042" y="5143512"/>
              <a:ext cx="285752" cy="285752"/>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69" name="מלבן 68"/>
          <p:cNvSpPr/>
          <p:nvPr/>
        </p:nvSpPr>
        <p:spPr>
          <a:xfrm>
            <a:off x="3419648" y="4995016"/>
            <a:ext cx="642942" cy="14287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t>ירידה</a:t>
            </a:r>
          </a:p>
        </p:txBody>
      </p:sp>
      <p:sp>
        <p:nvSpPr>
          <p:cNvPr id="70" name="משולש ישר-זווית 69"/>
          <p:cNvSpPr/>
          <p:nvPr/>
        </p:nvSpPr>
        <p:spPr>
          <a:xfrm>
            <a:off x="4071934" y="5000636"/>
            <a:ext cx="172694" cy="142876"/>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75" name="קבוצה 74"/>
          <p:cNvGrpSpPr/>
          <p:nvPr/>
        </p:nvGrpSpPr>
        <p:grpSpPr>
          <a:xfrm>
            <a:off x="5925950" y="5000636"/>
            <a:ext cx="1646446" cy="144000"/>
            <a:chOff x="5857884" y="5000636"/>
            <a:chExt cx="1646446" cy="144000"/>
          </a:xfrm>
        </p:grpSpPr>
        <p:sp>
          <p:nvSpPr>
            <p:cNvPr id="73" name="מלבן 72"/>
            <p:cNvSpPr/>
            <p:nvPr/>
          </p:nvSpPr>
          <p:spPr>
            <a:xfrm>
              <a:off x="5857884" y="5000636"/>
              <a:ext cx="1440000" cy="142876"/>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100" b="1" dirty="0"/>
                <a:t>גידול ברווחי היצרנים</a:t>
              </a:r>
            </a:p>
          </p:txBody>
        </p:sp>
        <p:sp>
          <p:nvSpPr>
            <p:cNvPr id="74" name="משולש ישר-זווית 73"/>
            <p:cNvSpPr/>
            <p:nvPr/>
          </p:nvSpPr>
          <p:spPr>
            <a:xfrm flipV="1">
              <a:off x="7288330" y="5000636"/>
              <a:ext cx="216000" cy="144000"/>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4" name="מלבן 3"/>
          <p:cNvSpPr/>
          <p:nvPr/>
        </p:nvSpPr>
        <p:spPr>
          <a:xfrm>
            <a:off x="285720" y="260648"/>
            <a:ext cx="6765606" cy="369332"/>
          </a:xfrm>
          <a:prstGeom prst="rect">
            <a:avLst/>
          </a:prstGeom>
        </p:spPr>
        <p:txBody>
          <a:bodyPr wrap="square">
            <a:spAutoFit/>
          </a:bodyPr>
          <a:lstStyle/>
          <a:p>
            <a:r>
              <a:rPr lang="he-IL" dirty="0"/>
              <a:t>ב. מי הרוויח ומי הפסיד מההסדר? מה הפסיד המשק? הסבירו בקצרה.</a:t>
            </a:r>
            <a:endParaRPr lang="en-US" b="1" dirty="0"/>
          </a:p>
        </p:txBody>
      </p:sp>
      <p:sp>
        <p:nvSpPr>
          <p:cNvPr id="63" name="מלבן 62"/>
          <p:cNvSpPr/>
          <p:nvPr/>
        </p:nvSpPr>
        <p:spPr>
          <a:xfrm>
            <a:off x="1566103" y="1020745"/>
            <a:ext cx="1874231" cy="430887"/>
          </a:xfrm>
          <a:prstGeom prst="rect">
            <a:avLst/>
          </a:prstGeom>
        </p:spPr>
        <p:txBody>
          <a:bodyPr wrap="none">
            <a:spAutoFit/>
          </a:bodyPr>
          <a:lstStyle/>
          <a:p>
            <a:pPr lvl="0">
              <a:spcBef>
                <a:spcPct val="20000"/>
              </a:spcBef>
            </a:pPr>
            <a:r>
              <a:rPr lang="he-IL" sz="2200" b="1" dirty="0">
                <a:solidFill>
                  <a:prstClr val="black"/>
                </a:solidFill>
              </a:rPr>
              <a:t>עודף הצרכנים:</a:t>
            </a:r>
          </a:p>
        </p:txBody>
      </p:sp>
      <p:sp>
        <p:nvSpPr>
          <p:cNvPr id="68" name="מלבן 67"/>
          <p:cNvSpPr/>
          <p:nvPr/>
        </p:nvSpPr>
        <p:spPr>
          <a:xfrm>
            <a:off x="7057647" y="1052736"/>
            <a:ext cx="1794081" cy="430887"/>
          </a:xfrm>
          <a:prstGeom prst="rect">
            <a:avLst/>
          </a:prstGeom>
        </p:spPr>
        <p:txBody>
          <a:bodyPr wrap="none">
            <a:spAutoFit/>
          </a:bodyPr>
          <a:lstStyle/>
          <a:p>
            <a:r>
              <a:rPr lang="he-IL" sz="2200" b="1" dirty="0">
                <a:solidFill>
                  <a:srgbClr val="00B050"/>
                </a:solidFill>
              </a:rPr>
              <a:t>רווחי היצרנים </a:t>
            </a:r>
            <a:endParaRPr lang="he-IL" dirty="0">
              <a:solidFill>
                <a:srgbClr val="00B050"/>
              </a:solidFill>
            </a:endParaRPr>
          </a:p>
        </p:txBody>
      </p:sp>
      <p:sp>
        <p:nvSpPr>
          <p:cNvPr id="71" name="מלבן 70"/>
          <p:cNvSpPr/>
          <p:nvPr/>
        </p:nvSpPr>
        <p:spPr>
          <a:xfrm>
            <a:off x="4460931" y="1034102"/>
            <a:ext cx="2083349" cy="430887"/>
          </a:xfrm>
          <a:prstGeom prst="rect">
            <a:avLst/>
          </a:prstGeom>
        </p:spPr>
        <p:txBody>
          <a:bodyPr wrap="square">
            <a:spAutoFit/>
          </a:bodyPr>
          <a:lstStyle/>
          <a:p>
            <a:pPr lvl="0">
              <a:spcBef>
                <a:spcPct val="20000"/>
              </a:spcBef>
            </a:pPr>
            <a:r>
              <a:rPr lang="he-IL" sz="2200" dirty="0">
                <a:solidFill>
                  <a:prstClr val="black"/>
                </a:solidFill>
              </a:rPr>
              <a:t>הכנס' </a:t>
            </a:r>
            <a:r>
              <a:rPr lang="he-IL" sz="2200" b="1" dirty="0">
                <a:solidFill>
                  <a:prstClr val="black"/>
                </a:solidFill>
              </a:rPr>
              <a:t>הממשלה</a:t>
            </a:r>
            <a:endParaRPr lang="he-IL" sz="2200" dirty="0">
              <a:solidFill>
                <a:prstClr val="black"/>
              </a:solidFill>
            </a:endParaRPr>
          </a:p>
        </p:txBody>
      </p:sp>
      <p:sp>
        <p:nvSpPr>
          <p:cNvPr id="5" name="חץ למעלה 4"/>
          <p:cNvSpPr/>
          <p:nvPr/>
        </p:nvSpPr>
        <p:spPr>
          <a:xfrm>
            <a:off x="6917285" y="1063615"/>
            <a:ext cx="268082" cy="345148"/>
          </a:xfrm>
          <a:prstGeom prst="up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חץ למטה 5"/>
          <p:cNvSpPr/>
          <p:nvPr/>
        </p:nvSpPr>
        <p:spPr>
          <a:xfrm>
            <a:off x="4348867" y="1020745"/>
            <a:ext cx="303390" cy="430887"/>
          </a:xfrm>
          <a:prstGeom prst="downArrow">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2" name="מלבן 71"/>
          <p:cNvSpPr/>
          <p:nvPr/>
        </p:nvSpPr>
        <p:spPr>
          <a:xfrm>
            <a:off x="1142976" y="1715690"/>
            <a:ext cx="995785" cy="430887"/>
          </a:xfrm>
          <a:prstGeom prst="rect">
            <a:avLst/>
          </a:prstGeom>
        </p:spPr>
        <p:txBody>
          <a:bodyPr wrap="none">
            <a:spAutoFit/>
          </a:bodyPr>
          <a:lstStyle/>
          <a:p>
            <a:pPr lvl="0">
              <a:spcBef>
                <a:spcPct val="20000"/>
              </a:spcBef>
            </a:pPr>
            <a:r>
              <a:rPr lang="he-IL" sz="2200" b="1" dirty="0">
                <a:solidFill>
                  <a:prstClr val="black"/>
                </a:solidFill>
              </a:rPr>
              <a:t>חיילים:</a:t>
            </a:r>
          </a:p>
        </p:txBody>
      </p:sp>
      <p:sp>
        <p:nvSpPr>
          <p:cNvPr id="76" name="מלבן 75"/>
          <p:cNvSpPr/>
          <p:nvPr/>
        </p:nvSpPr>
        <p:spPr>
          <a:xfrm>
            <a:off x="2609078" y="1700807"/>
            <a:ext cx="1132041" cy="430887"/>
          </a:xfrm>
          <a:prstGeom prst="rect">
            <a:avLst/>
          </a:prstGeom>
        </p:spPr>
        <p:txBody>
          <a:bodyPr wrap="none">
            <a:spAutoFit/>
          </a:bodyPr>
          <a:lstStyle/>
          <a:p>
            <a:pPr lvl="0">
              <a:spcBef>
                <a:spcPct val="20000"/>
              </a:spcBef>
            </a:pPr>
            <a:r>
              <a:rPr lang="he-IL" sz="2200" b="1" dirty="0">
                <a:solidFill>
                  <a:prstClr val="black"/>
                </a:solidFill>
              </a:rPr>
              <a:t>אזרחים:</a:t>
            </a:r>
          </a:p>
        </p:txBody>
      </p:sp>
      <p:sp>
        <p:nvSpPr>
          <p:cNvPr id="77" name="חץ למטה 76"/>
          <p:cNvSpPr/>
          <p:nvPr/>
        </p:nvSpPr>
        <p:spPr>
          <a:xfrm>
            <a:off x="2413867" y="1715690"/>
            <a:ext cx="303390" cy="43088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8" name="חץ למעלה 77"/>
          <p:cNvSpPr/>
          <p:nvPr/>
        </p:nvSpPr>
        <p:spPr>
          <a:xfrm>
            <a:off x="920793" y="1700807"/>
            <a:ext cx="243873" cy="388017"/>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barn(inVertical)">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barn(inVertical)">
                                      <p:cBhvr>
                                        <p:cTn id="12" dur="500"/>
                                        <p:tgtEl>
                                          <p:spTgt spid="7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fade">
                                      <p:cBhvr>
                                        <p:cTn id="31" dur="500"/>
                                        <p:tgtEl>
                                          <p:spTgt spid="63"/>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76"/>
                                        </p:tgtEl>
                                        <p:attrNameLst>
                                          <p:attrName>style.visibility</p:attrName>
                                        </p:attrNameLst>
                                      </p:cBhvr>
                                      <p:to>
                                        <p:strVal val="visible"/>
                                      </p:to>
                                    </p:set>
                                    <p:animEffect transition="in" filter="fade">
                                      <p:cBhvr>
                                        <p:cTn id="36" dur="1000"/>
                                        <p:tgtEl>
                                          <p:spTgt spid="76"/>
                                        </p:tgtEl>
                                      </p:cBhvr>
                                    </p:animEffect>
                                    <p:anim calcmode="lin" valueType="num">
                                      <p:cBhvr>
                                        <p:cTn id="37" dur="1000" fill="hold"/>
                                        <p:tgtEl>
                                          <p:spTgt spid="76"/>
                                        </p:tgtEl>
                                        <p:attrNameLst>
                                          <p:attrName>ppt_x</p:attrName>
                                        </p:attrNameLst>
                                      </p:cBhvr>
                                      <p:tavLst>
                                        <p:tav tm="0">
                                          <p:val>
                                            <p:strVal val="#ppt_x"/>
                                          </p:val>
                                        </p:tav>
                                        <p:tav tm="100000">
                                          <p:val>
                                            <p:strVal val="#ppt_x"/>
                                          </p:val>
                                        </p:tav>
                                      </p:tavLst>
                                    </p:anim>
                                    <p:anim calcmode="lin" valueType="num">
                                      <p:cBhvr>
                                        <p:cTn id="38"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barn(inVertical)">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fade">
                                      <p:cBhvr>
                                        <p:cTn id="48" dur="5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77"/>
                                        </p:tgtEl>
                                        <p:attrNameLst>
                                          <p:attrName>style.visibility</p:attrName>
                                        </p:attrNameLst>
                                      </p:cBhvr>
                                      <p:to>
                                        <p:strVal val="visible"/>
                                      </p:to>
                                    </p:set>
                                    <p:animEffect transition="in" filter="wipe(down)">
                                      <p:cBhvr>
                                        <p:cTn id="53" dur="500"/>
                                        <p:tgtEl>
                                          <p:spTgt spid="7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72"/>
                                        </p:tgtEl>
                                        <p:attrNameLst>
                                          <p:attrName>style.visibility</p:attrName>
                                        </p:attrNameLst>
                                      </p:cBhvr>
                                      <p:to>
                                        <p:strVal val="visible"/>
                                      </p:to>
                                    </p:set>
                                    <p:animEffect transition="in" filter="fade">
                                      <p:cBhvr>
                                        <p:cTn id="58" dur="500"/>
                                        <p:tgtEl>
                                          <p:spTgt spid="7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67"/>
                                        </p:tgtEl>
                                        <p:attrNameLst>
                                          <p:attrName>style.visibility</p:attrName>
                                        </p:attrNameLst>
                                      </p:cBhvr>
                                      <p:to>
                                        <p:strVal val="visible"/>
                                      </p:to>
                                    </p:set>
                                    <p:animEffect transition="in" filter="wipe(down)">
                                      <p:cBhvr>
                                        <p:cTn id="63" dur="500"/>
                                        <p:tgtEl>
                                          <p:spTgt spid="6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78"/>
                                        </p:tgtEl>
                                        <p:attrNameLst>
                                          <p:attrName>style.visibility</p:attrName>
                                        </p:attrNameLst>
                                      </p:cBhvr>
                                      <p:to>
                                        <p:strVal val="visible"/>
                                      </p:to>
                                    </p:set>
                                    <p:animEffect transition="in" filter="wipe(down)">
                                      <p:cBhvr>
                                        <p:cTn id="6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animBg="1"/>
      <p:bldP spid="63" grpId="0"/>
      <p:bldP spid="68" grpId="0"/>
      <p:bldP spid="71" grpId="0"/>
      <p:bldP spid="5" grpId="0" animBg="1"/>
      <p:bldP spid="6" grpId="0" animBg="1"/>
      <p:bldP spid="72" grpId="0"/>
      <p:bldP spid="76" grpId="0"/>
      <p:bldP spid="77" grpId="0" animBg="1"/>
      <p:bldP spid="78"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62" name="מחבר ישר 61"/>
          <p:cNvCxnSpPr/>
          <p:nvPr/>
        </p:nvCxnSpPr>
        <p:spPr>
          <a:xfrm rot="10800000">
            <a:off x="920794" y="5427676"/>
            <a:ext cx="1008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מחבר ישר 47"/>
          <p:cNvCxnSpPr/>
          <p:nvPr/>
        </p:nvCxnSpPr>
        <p:spPr>
          <a:xfrm rot="10800000">
            <a:off x="920793" y="4985552"/>
            <a:ext cx="6732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 name="כותרת 1"/>
          <p:cNvSpPr>
            <a:spLocks noGrp="1"/>
          </p:cNvSpPr>
          <p:nvPr>
            <p:ph type="title"/>
          </p:nvPr>
        </p:nvSpPr>
        <p:spPr>
          <a:xfrm>
            <a:off x="7286644" y="0"/>
            <a:ext cx="1868110" cy="1143000"/>
          </a:xfrm>
        </p:spPr>
        <p:txBody>
          <a:bodyPr/>
          <a:lstStyle/>
          <a:p>
            <a:pPr algn="r"/>
            <a:r>
              <a:rPr lang="he-IL" b="1">
                <a:solidFill>
                  <a:schemeClr val="tx2">
                    <a:lumMod val="75000"/>
                  </a:schemeClr>
                </a:solidFill>
              </a:rPr>
              <a:t>שאלה 7</a:t>
            </a:r>
            <a:endParaRPr lang="he-IL" dirty="0"/>
          </a:p>
        </p:txBody>
      </p:sp>
      <p:sp>
        <p:nvSpPr>
          <p:cNvPr id="3" name="מציין מיקום תוכן 2"/>
          <p:cNvSpPr>
            <a:spLocks noGrp="1"/>
          </p:cNvSpPr>
          <p:nvPr>
            <p:ph idx="1"/>
          </p:nvPr>
        </p:nvSpPr>
        <p:spPr>
          <a:xfrm>
            <a:off x="457200" y="2357430"/>
            <a:ext cx="8229600" cy="4525963"/>
          </a:xfrm>
        </p:spPr>
        <p:txBody>
          <a:bodyPr>
            <a:normAutofit/>
          </a:bodyPr>
          <a:lstStyle/>
          <a:p>
            <a:pPr>
              <a:buNone/>
            </a:pPr>
            <a:r>
              <a:rPr lang="he-IL" dirty="0"/>
              <a:t>	</a:t>
            </a:r>
          </a:p>
        </p:txBody>
      </p:sp>
      <p:sp>
        <p:nvSpPr>
          <p:cNvPr id="8" name="Text Box 13"/>
          <p:cNvSpPr txBox="1">
            <a:spLocks noChangeArrowheads="1"/>
          </p:cNvSpPr>
          <p:nvPr/>
        </p:nvSpPr>
        <p:spPr bwMode="auto">
          <a:xfrm>
            <a:off x="565124" y="347503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9" name="Line 3"/>
          <p:cNvSpPr>
            <a:spLocks noChangeShapeType="1"/>
          </p:cNvSpPr>
          <p:nvPr/>
        </p:nvSpPr>
        <p:spPr bwMode="auto">
          <a:xfrm>
            <a:off x="874176" y="368934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0" name="Text Box 18"/>
          <p:cNvSpPr txBox="1">
            <a:spLocks noChangeArrowheads="1"/>
          </p:cNvSpPr>
          <p:nvPr/>
        </p:nvSpPr>
        <p:spPr bwMode="auto">
          <a:xfrm>
            <a:off x="2715577" y="583248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1" name="Line 3"/>
          <p:cNvSpPr>
            <a:spLocks noChangeShapeType="1"/>
          </p:cNvSpPr>
          <p:nvPr/>
        </p:nvSpPr>
        <p:spPr bwMode="auto">
          <a:xfrm>
            <a:off x="1071538" y="4714884"/>
            <a:ext cx="1214446" cy="1000132"/>
          </a:xfrm>
          <a:prstGeom prst="line">
            <a:avLst/>
          </a:prstGeom>
          <a:noFill/>
          <a:ln w="38100">
            <a:solidFill>
              <a:srgbClr val="00B05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2" name="Line 3"/>
          <p:cNvSpPr>
            <a:spLocks noChangeShapeType="1"/>
          </p:cNvSpPr>
          <p:nvPr/>
        </p:nvSpPr>
        <p:spPr bwMode="auto">
          <a:xfrm rot="16200000">
            <a:off x="1961627" y="478503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3"/>
          <p:cNvSpPr txBox="1">
            <a:spLocks noChangeArrowheads="1"/>
          </p:cNvSpPr>
          <p:nvPr/>
        </p:nvSpPr>
        <p:spPr bwMode="auto">
          <a:xfrm>
            <a:off x="3079147" y="347182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4" name="Line 3"/>
          <p:cNvSpPr>
            <a:spLocks noChangeShapeType="1"/>
          </p:cNvSpPr>
          <p:nvPr/>
        </p:nvSpPr>
        <p:spPr bwMode="auto">
          <a:xfrm>
            <a:off x="3408430" y="368614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8"/>
          <p:cNvSpPr txBox="1">
            <a:spLocks noChangeArrowheads="1"/>
          </p:cNvSpPr>
          <p:nvPr/>
        </p:nvSpPr>
        <p:spPr bwMode="auto">
          <a:xfrm>
            <a:off x="5222255" y="5829280"/>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6" name="Line 3"/>
          <p:cNvSpPr>
            <a:spLocks noChangeShapeType="1"/>
          </p:cNvSpPr>
          <p:nvPr/>
        </p:nvSpPr>
        <p:spPr bwMode="auto">
          <a:xfrm>
            <a:off x="6143636" y="4357694"/>
            <a:ext cx="2000264" cy="1285884"/>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8" name="Line 3"/>
          <p:cNvSpPr>
            <a:spLocks noChangeShapeType="1"/>
          </p:cNvSpPr>
          <p:nvPr/>
        </p:nvSpPr>
        <p:spPr bwMode="auto">
          <a:xfrm rot="16200000">
            <a:off x="4487355" y="478182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9" name="Text Box 13"/>
          <p:cNvSpPr txBox="1">
            <a:spLocks noChangeArrowheads="1"/>
          </p:cNvSpPr>
          <p:nvPr/>
        </p:nvSpPr>
        <p:spPr bwMode="auto">
          <a:xfrm>
            <a:off x="5572132" y="348611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0" name="Line 3"/>
          <p:cNvSpPr>
            <a:spLocks noChangeShapeType="1"/>
          </p:cNvSpPr>
          <p:nvPr/>
        </p:nvSpPr>
        <p:spPr bwMode="auto">
          <a:xfrm>
            <a:off x="5890384" y="3700430"/>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1" name="Line 3"/>
          <p:cNvSpPr>
            <a:spLocks noChangeShapeType="1"/>
          </p:cNvSpPr>
          <p:nvPr/>
        </p:nvSpPr>
        <p:spPr bwMode="auto">
          <a:xfrm rot="16200000">
            <a:off x="7442513" y="4314892"/>
            <a:ext cx="0" cy="313200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p:cNvSpPr txBox="1">
            <a:spLocks/>
          </p:cNvSpPr>
          <p:nvPr/>
        </p:nvSpPr>
        <p:spPr>
          <a:xfrm>
            <a:off x="2759655"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אזרחים</a:t>
            </a:r>
          </a:p>
        </p:txBody>
      </p:sp>
      <p:sp>
        <p:nvSpPr>
          <p:cNvPr id="23" name="כותרת 1"/>
          <p:cNvSpPr txBox="1">
            <a:spLocks/>
          </p:cNvSpPr>
          <p:nvPr/>
        </p:nvSpPr>
        <p:spPr>
          <a:xfrm>
            <a:off x="786783" y="2928958"/>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חיילים</a:t>
            </a:r>
          </a:p>
        </p:txBody>
      </p:sp>
      <p:sp>
        <p:nvSpPr>
          <p:cNvPr id="24" name="כותרת 1"/>
          <p:cNvSpPr txBox="1">
            <a:spLocks/>
          </p:cNvSpPr>
          <p:nvPr/>
        </p:nvSpPr>
        <p:spPr>
          <a:xfrm>
            <a:off x="6500858" y="2971760"/>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rPr>
              <a:t>מצרפי</a:t>
            </a:r>
          </a:p>
        </p:txBody>
      </p:sp>
      <p:sp>
        <p:nvSpPr>
          <p:cNvPr id="36" name="Text Box 18"/>
          <p:cNvSpPr txBox="1">
            <a:spLocks noChangeArrowheads="1"/>
          </p:cNvSpPr>
          <p:nvPr/>
        </p:nvSpPr>
        <p:spPr bwMode="auto">
          <a:xfrm>
            <a:off x="8833239" y="5844735"/>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2" name="TextBox 41"/>
          <p:cNvSpPr txBox="1"/>
          <p:nvPr/>
        </p:nvSpPr>
        <p:spPr>
          <a:xfrm>
            <a:off x="2285984" y="5500702"/>
            <a:ext cx="397866" cy="369332"/>
          </a:xfrm>
          <a:prstGeom prst="rect">
            <a:avLst/>
          </a:prstGeom>
          <a:noFill/>
        </p:spPr>
        <p:txBody>
          <a:bodyPr wrap="none" rtlCol="1">
            <a:spAutoFit/>
          </a:bodyPr>
          <a:lstStyle/>
          <a:p>
            <a:r>
              <a:rPr lang="en-US" dirty="0">
                <a:solidFill>
                  <a:srgbClr val="00B050"/>
                </a:solidFill>
              </a:rPr>
              <a:t>D</a:t>
            </a:r>
            <a:r>
              <a:rPr lang="en-US" baseline="-25000" dirty="0">
                <a:solidFill>
                  <a:srgbClr val="00B050"/>
                </a:solidFill>
              </a:rPr>
              <a:t>S</a:t>
            </a:r>
            <a:endParaRPr lang="he-IL" baseline="-25000" dirty="0">
              <a:solidFill>
                <a:srgbClr val="00B050"/>
              </a:solidFill>
            </a:endParaRPr>
          </a:p>
        </p:txBody>
      </p:sp>
      <p:sp>
        <p:nvSpPr>
          <p:cNvPr id="29" name="Line 3"/>
          <p:cNvSpPr>
            <a:spLocks noChangeShapeType="1"/>
          </p:cNvSpPr>
          <p:nvPr/>
        </p:nvSpPr>
        <p:spPr bwMode="auto">
          <a:xfrm flipV="1">
            <a:off x="6286512" y="4572008"/>
            <a:ext cx="2000264" cy="1143008"/>
          </a:xfrm>
          <a:prstGeom prst="line">
            <a:avLst/>
          </a:prstGeom>
          <a:noFill/>
          <a:ln w="38100">
            <a:solidFill>
              <a:schemeClr val="tx1"/>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0" name="TextBox 29"/>
          <p:cNvSpPr txBox="1"/>
          <p:nvPr/>
        </p:nvSpPr>
        <p:spPr>
          <a:xfrm>
            <a:off x="8215338" y="4357694"/>
            <a:ext cx="364202" cy="369332"/>
          </a:xfrm>
          <a:prstGeom prst="rect">
            <a:avLst/>
          </a:prstGeom>
          <a:noFill/>
        </p:spPr>
        <p:txBody>
          <a:bodyPr wrap="square" rtlCol="1">
            <a:spAutoFit/>
          </a:bodyPr>
          <a:lstStyle/>
          <a:p>
            <a:r>
              <a:rPr lang="en-US" dirty="0"/>
              <a:t>S</a:t>
            </a:r>
            <a:r>
              <a:rPr lang="en-US" baseline="-25000" dirty="0"/>
              <a:t>T</a:t>
            </a:r>
            <a:endParaRPr lang="he-IL" baseline="-25000" dirty="0"/>
          </a:p>
        </p:txBody>
      </p:sp>
      <p:cxnSp>
        <p:nvCxnSpPr>
          <p:cNvPr id="35" name="מחבר ישר 34"/>
          <p:cNvCxnSpPr/>
          <p:nvPr/>
        </p:nvCxnSpPr>
        <p:spPr>
          <a:xfrm rot="5400000">
            <a:off x="6998876" y="5502718"/>
            <a:ext cx="720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Text Box 18"/>
          <p:cNvSpPr txBox="1">
            <a:spLocks noChangeArrowheads="1"/>
          </p:cNvSpPr>
          <p:nvPr/>
        </p:nvSpPr>
        <p:spPr bwMode="auto">
          <a:xfrm>
            <a:off x="6715140" y="585789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38" name="Text Box 18"/>
          <p:cNvSpPr txBox="1">
            <a:spLocks noChangeArrowheads="1"/>
          </p:cNvSpPr>
          <p:nvPr/>
        </p:nvSpPr>
        <p:spPr bwMode="auto">
          <a:xfrm>
            <a:off x="285752" y="4943488"/>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latin typeface="Calibri" pitchFamily="34" charset="0"/>
                <a:ea typeface="Arial" pitchFamily="34" charset="0"/>
                <a:cs typeface="Arial" pitchFamily="34" charset="0"/>
              </a:rPr>
              <a:t>P</a:t>
            </a:r>
            <a:r>
              <a:rPr lang="en-US" sz="2000" baseline="-25000" dirty="0">
                <a:latin typeface="Calibri" pitchFamily="34" charset="0"/>
                <a:ea typeface="Arial"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9" name="Line 3"/>
          <p:cNvSpPr>
            <a:spLocks noChangeShapeType="1"/>
          </p:cNvSpPr>
          <p:nvPr/>
        </p:nvSpPr>
        <p:spPr bwMode="auto">
          <a:xfrm>
            <a:off x="3643306" y="4572008"/>
            <a:ext cx="1214447" cy="1143008"/>
          </a:xfrm>
          <a:prstGeom prst="line">
            <a:avLst/>
          </a:prstGeom>
          <a:noFill/>
          <a:ln w="38100">
            <a:solidFill>
              <a:srgbClr val="7030A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0" name="TextBox 39"/>
          <p:cNvSpPr txBox="1"/>
          <p:nvPr/>
        </p:nvSpPr>
        <p:spPr>
          <a:xfrm>
            <a:off x="4929190" y="5429264"/>
            <a:ext cx="409087" cy="369332"/>
          </a:xfrm>
          <a:prstGeom prst="rect">
            <a:avLst/>
          </a:prstGeom>
          <a:noFill/>
        </p:spPr>
        <p:txBody>
          <a:bodyPr wrap="none" rtlCol="1">
            <a:spAutoFit/>
          </a:bodyPr>
          <a:lstStyle/>
          <a:p>
            <a:r>
              <a:rPr lang="en-US" dirty="0">
                <a:solidFill>
                  <a:srgbClr val="7030A0"/>
                </a:solidFill>
              </a:rPr>
              <a:t>D</a:t>
            </a:r>
            <a:r>
              <a:rPr lang="en-US" baseline="-25000" dirty="0">
                <a:solidFill>
                  <a:srgbClr val="7030A0"/>
                </a:solidFill>
              </a:rPr>
              <a:t>C</a:t>
            </a:r>
            <a:endParaRPr lang="he-IL" baseline="-25000" dirty="0">
              <a:solidFill>
                <a:srgbClr val="7030A0"/>
              </a:solidFill>
            </a:endParaRPr>
          </a:p>
        </p:txBody>
      </p:sp>
      <p:cxnSp>
        <p:nvCxnSpPr>
          <p:cNvPr id="45" name="מחבר ישר 44"/>
          <p:cNvCxnSpPr/>
          <p:nvPr/>
        </p:nvCxnSpPr>
        <p:spPr>
          <a:xfrm rot="10800000">
            <a:off x="877520" y="5143512"/>
            <a:ext cx="655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מחבר ישר 48"/>
          <p:cNvCxnSpPr/>
          <p:nvPr/>
        </p:nvCxnSpPr>
        <p:spPr>
          <a:xfrm rot="5400000">
            <a:off x="1300248" y="5484718"/>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Text Box 18"/>
          <p:cNvSpPr txBox="1">
            <a:spLocks noChangeArrowheads="1"/>
          </p:cNvSpPr>
          <p:nvPr/>
        </p:nvSpPr>
        <p:spPr bwMode="auto">
          <a:xfrm>
            <a:off x="1000100"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S</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cxnSp>
        <p:nvCxnSpPr>
          <p:cNvPr id="51" name="מחבר ישר 50"/>
          <p:cNvCxnSpPr/>
          <p:nvPr/>
        </p:nvCxnSpPr>
        <p:spPr>
          <a:xfrm rot="5400000">
            <a:off x="3872016" y="5484718"/>
            <a:ext cx="684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Text Box 18"/>
          <p:cNvSpPr txBox="1">
            <a:spLocks noChangeArrowheads="1"/>
          </p:cNvSpPr>
          <p:nvPr/>
        </p:nvSpPr>
        <p:spPr bwMode="auto">
          <a:xfrm>
            <a:off x="3643306" y="5877240"/>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chemeClr val="tx1"/>
                </a:solidFill>
                <a:effectLst/>
                <a:latin typeface="Calibri" pitchFamily="34" charset="0"/>
                <a:ea typeface="Arial" pitchFamily="34" charset="0"/>
                <a:cs typeface="Arial" pitchFamily="34" charset="0"/>
              </a:rPr>
              <a:t>C</a:t>
            </a:r>
            <a:r>
              <a:rPr kumimoji="0" lang="en-US" sz="2000" b="0" i="0" u="none" strike="noStrike" cap="none" normalizeH="0" baseline="-2500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25000" dirty="0">
              <a:ln>
                <a:noFill/>
              </a:ln>
              <a:solidFill>
                <a:schemeClr val="tx1"/>
              </a:solidFill>
              <a:effectLst/>
              <a:latin typeface="Arial" pitchFamily="34" charset="0"/>
              <a:cs typeface="Arial" pitchFamily="34" charset="0"/>
            </a:endParaRPr>
          </a:p>
        </p:txBody>
      </p:sp>
      <p:sp>
        <p:nvSpPr>
          <p:cNvPr id="41" name="TextBox 40"/>
          <p:cNvSpPr txBox="1"/>
          <p:nvPr/>
        </p:nvSpPr>
        <p:spPr>
          <a:xfrm>
            <a:off x="7929586" y="5488560"/>
            <a:ext cx="571504" cy="369332"/>
          </a:xfrm>
          <a:prstGeom prst="rect">
            <a:avLst/>
          </a:prstGeom>
          <a:noFill/>
        </p:spPr>
        <p:txBody>
          <a:bodyPr wrap="square" rtlCol="1">
            <a:spAutoFit/>
          </a:bodyPr>
          <a:lstStyle/>
          <a:p>
            <a:r>
              <a:rPr lang="en-US" dirty="0"/>
              <a:t>D</a:t>
            </a:r>
            <a:r>
              <a:rPr lang="en-US" baseline="-25000" dirty="0"/>
              <a:t>T</a:t>
            </a:r>
            <a:endParaRPr lang="he-IL" baseline="-25000" dirty="0"/>
          </a:p>
        </p:txBody>
      </p:sp>
      <p:sp>
        <p:nvSpPr>
          <p:cNvPr id="43" name="Line 3"/>
          <p:cNvSpPr>
            <a:spLocks noChangeShapeType="1"/>
          </p:cNvSpPr>
          <p:nvPr/>
        </p:nvSpPr>
        <p:spPr bwMode="auto">
          <a:xfrm>
            <a:off x="1142976" y="4143380"/>
            <a:ext cx="1214446" cy="1357322"/>
          </a:xfrm>
          <a:prstGeom prst="line">
            <a:avLst/>
          </a:prstGeom>
          <a:noFill/>
          <a:ln w="38100">
            <a:solidFill>
              <a:srgbClr val="FF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TextBox 45"/>
          <p:cNvSpPr txBox="1"/>
          <p:nvPr/>
        </p:nvSpPr>
        <p:spPr>
          <a:xfrm>
            <a:off x="2214546" y="5286388"/>
            <a:ext cx="642942" cy="369332"/>
          </a:xfrm>
          <a:prstGeom prst="rect">
            <a:avLst/>
          </a:prstGeom>
          <a:noFill/>
        </p:spPr>
        <p:txBody>
          <a:bodyPr wrap="square" rtlCol="1">
            <a:spAutoFit/>
          </a:bodyPr>
          <a:lstStyle/>
          <a:p>
            <a:r>
              <a:rPr lang="en-US" dirty="0">
                <a:solidFill>
                  <a:srgbClr val="FF0000"/>
                </a:solidFill>
              </a:rPr>
              <a:t>D’</a:t>
            </a:r>
            <a:r>
              <a:rPr lang="en-US" baseline="-25000" dirty="0">
                <a:solidFill>
                  <a:srgbClr val="FF0000"/>
                </a:solidFill>
              </a:rPr>
              <a:t>S</a:t>
            </a:r>
            <a:endParaRPr lang="he-IL" baseline="-25000" dirty="0">
              <a:solidFill>
                <a:srgbClr val="FF0000"/>
              </a:solidFill>
            </a:endParaRPr>
          </a:p>
        </p:txBody>
      </p:sp>
      <p:sp>
        <p:nvSpPr>
          <p:cNvPr id="55" name="Line 3"/>
          <p:cNvSpPr>
            <a:spLocks noChangeShapeType="1"/>
          </p:cNvSpPr>
          <p:nvPr/>
        </p:nvSpPr>
        <p:spPr bwMode="auto">
          <a:xfrm>
            <a:off x="6357950" y="3929066"/>
            <a:ext cx="1866912" cy="1571636"/>
          </a:xfrm>
          <a:prstGeom prst="line">
            <a:avLst/>
          </a:prstGeom>
          <a:noFill/>
          <a:ln w="38100">
            <a:solidFill>
              <a:srgbClr val="FF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56" name="TextBox 55"/>
          <p:cNvSpPr txBox="1"/>
          <p:nvPr/>
        </p:nvSpPr>
        <p:spPr>
          <a:xfrm>
            <a:off x="8072462" y="5274246"/>
            <a:ext cx="571504" cy="369332"/>
          </a:xfrm>
          <a:prstGeom prst="rect">
            <a:avLst/>
          </a:prstGeom>
          <a:noFill/>
        </p:spPr>
        <p:txBody>
          <a:bodyPr wrap="square" rtlCol="1">
            <a:spAutoFit/>
          </a:bodyPr>
          <a:lstStyle/>
          <a:p>
            <a:r>
              <a:rPr lang="en-US" dirty="0">
                <a:solidFill>
                  <a:srgbClr val="FF0000"/>
                </a:solidFill>
              </a:rPr>
              <a:t>D’</a:t>
            </a:r>
            <a:r>
              <a:rPr lang="en-US" baseline="-25000" dirty="0">
                <a:solidFill>
                  <a:srgbClr val="FF0000"/>
                </a:solidFill>
              </a:rPr>
              <a:t>T</a:t>
            </a:r>
            <a:endParaRPr lang="he-IL" baseline="-25000" dirty="0">
              <a:solidFill>
                <a:srgbClr val="FF0000"/>
              </a:solidFill>
            </a:endParaRPr>
          </a:p>
        </p:txBody>
      </p:sp>
      <p:cxnSp>
        <p:nvCxnSpPr>
          <p:cNvPr id="47" name="מחבר ישר 46"/>
          <p:cNvCxnSpPr/>
          <p:nvPr/>
        </p:nvCxnSpPr>
        <p:spPr>
          <a:xfrm rot="5400000">
            <a:off x="7192333" y="5426222"/>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2" name="Text Box 18"/>
          <p:cNvSpPr txBox="1">
            <a:spLocks noChangeArrowheads="1"/>
          </p:cNvSpPr>
          <p:nvPr/>
        </p:nvSpPr>
        <p:spPr bwMode="auto">
          <a:xfrm>
            <a:off x="7072330" y="585789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cxnSp>
        <p:nvCxnSpPr>
          <p:cNvPr id="54" name="מחבר ישר 53"/>
          <p:cNvCxnSpPr/>
          <p:nvPr/>
        </p:nvCxnSpPr>
        <p:spPr>
          <a:xfrm rot="5400000">
            <a:off x="3620433" y="5431842"/>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7" name="Text Box 18"/>
          <p:cNvSpPr txBox="1">
            <a:spLocks noChangeArrowheads="1"/>
          </p:cNvSpPr>
          <p:nvPr/>
        </p:nvSpPr>
        <p:spPr bwMode="auto">
          <a:xfrm>
            <a:off x="3286116" y="586351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rgbClr val="FF0000"/>
                </a:solidFill>
                <a:effectLst/>
                <a:latin typeface="Calibri" pitchFamily="34" charset="0"/>
                <a:ea typeface="Arial" pitchFamily="34" charset="0"/>
                <a:cs typeface="Arial" pitchFamily="34" charset="0"/>
              </a:rPr>
              <a:t>C</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cxnSp>
        <p:nvCxnSpPr>
          <p:cNvPr id="58" name="מחבר ישר 57"/>
          <p:cNvCxnSpPr/>
          <p:nvPr/>
        </p:nvCxnSpPr>
        <p:spPr>
          <a:xfrm rot="5400000">
            <a:off x="1477293" y="5431842"/>
            <a:ext cx="864000"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9" name="Text Box 18"/>
          <p:cNvSpPr txBox="1">
            <a:spLocks noChangeArrowheads="1"/>
          </p:cNvSpPr>
          <p:nvPr/>
        </p:nvSpPr>
        <p:spPr bwMode="auto">
          <a:xfrm>
            <a:off x="1357290" y="5863512"/>
            <a:ext cx="857256"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rgbClr val="FF0000"/>
                </a:solidFill>
                <a:effectLst/>
                <a:latin typeface="Calibri" pitchFamily="34" charset="0"/>
                <a:ea typeface="Arial" pitchFamily="34" charset="0"/>
                <a:cs typeface="Arial" pitchFamily="34" charset="0"/>
              </a:rPr>
              <a:t>X</a:t>
            </a:r>
            <a:r>
              <a:rPr kumimoji="0" lang="en-US" sz="2000" b="0" i="0" u="none" strike="noStrike" cap="none" normalizeH="0" baseline="30000" dirty="0">
                <a:ln>
                  <a:noFill/>
                </a:ln>
                <a:solidFill>
                  <a:srgbClr val="FF0000"/>
                </a:solidFill>
                <a:effectLst/>
                <a:latin typeface="Calibri" pitchFamily="34" charset="0"/>
                <a:ea typeface="Arial" pitchFamily="34" charset="0"/>
                <a:cs typeface="Arial" pitchFamily="34" charset="0"/>
              </a:rPr>
              <a:t>S</a:t>
            </a:r>
            <a:r>
              <a:rPr kumimoji="0" lang="en-US" sz="2000" b="0" i="0" u="none" strike="noStrike" cap="none" normalizeH="0" baseline="-25000" dirty="0">
                <a:ln>
                  <a:noFill/>
                </a:ln>
                <a:solidFill>
                  <a:srgbClr val="FF0000"/>
                </a:solidFill>
                <a:effectLst/>
                <a:latin typeface="Calibri" pitchFamily="34" charset="0"/>
                <a:ea typeface="Arial" pitchFamily="34" charset="0"/>
                <a:cs typeface="Arial" pitchFamily="34" charset="0"/>
              </a:rPr>
              <a:t>1</a:t>
            </a:r>
            <a:endParaRPr kumimoji="0" lang="he-IL" sz="3600" b="0" i="0" u="none" strike="noStrike" cap="none" normalizeH="0" baseline="-25000" dirty="0">
              <a:ln>
                <a:noFill/>
              </a:ln>
              <a:solidFill>
                <a:srgbClr val="FF0000"/>
              </a:solidFill>
              <a:effectLst/>
              <a:latin typeface="Arial" pitchFamily="34" charset="0"/>
              <a:cs typeface="Arial" pitchFamily="34" charset="0"/>
            </a:endParaRPr>
          </a:p>
        </p:txBody>
      </p:sp>
      <p:sp>
        <p:nvSpPr>
          <p:cNvPr id="60" name="Text Box 18"/>
          <p:cNvSpPr txBox="1">
            <a:spLocks noChangeArrowheads="1"/>
          </p:cNvSpPr>
          <p:nvPr/>
        </p:nvSpPr>
        <p:spPr bwMode="auto">
          <a:xfrm>
            <a:off x="285720" y="4643446"/>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solidFill>
                  <a:srgbClr val="FF0000"/>
                </a:solidFill>
                <a:latin typeface="Calibri" pitchFamily="34" charset="0"/>
                <a:ea typeface="Arial" pitchFamily="34" charset="0"/>
                <a:cs typeface="Arial" pitchFamily="34" charset="0"/>
              </a:rPr>
              <a:t>P</a:t>
            </a:r>
            <a:r>
              <a:rPr lang="en-US" sz="2000" baseline="-25000" dirty="0">
                <a:solidFill>
                  <a:srgbClr val="FF0000"/>
                </a:solidFill>
                <a:latin typeface="Calibri" pitchFamily="34" charset="0"/>
                <a:ea typeface="Arial" pitchFamily="34" charset="0"/>
                <a:cs typeface="Arial" pitchFamily="34" charset="0"/>
              </a:rPr>
              <a:t>1</a:t>
            </a:r>
            <a:endParaRPr kumimoji="0" lang="he-IL" sz="3600" b="0" i="0" u="none" strike="noStrike" cap="none" normalizeH="0" baseline="0" dirty="0">
              <a:ln>
                <a:noFill/>
              </a:ln>
              <a:solidFill>
                <a:srgbClr val="FF0000"/>
              </a:solidFill>
              <a:effectLst/>
              <a:latin typeface="Arial" pitchFamily="34" charset="0"/>
              <a:cs typeface="Arial" pitchFamily="34" charset="0"/>
            </a:endParaRPr>
          </a:p>
        </p:txBody>
      </p:sp>
      <p:sp>
        <p:nvSpPr>
          <p:cNvPr id="61" name="Text Box 18"/>
          <p:cNvSpPr txBox="1">
            <a:spLocks noChangeArrowheads="1"/>
          </p:cNvSpPr>
          <p:nvPr/>
        </p:nvSpPr>
        <p:spPr bwMode="auto">
          <a:xfrm>
            <a:off x="285720" y="5229240"/>
            <a:ext cx="571472"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US" sz="2000" dirty="0">
                <a:solidFill>
                  <a:srgbClr val="FF0000"/>
                </a:solidFill>
                <a:latin typeface="Calibri" pitchFamily="34" charset="0"/>
                <a:ea typeface="Arial" pitchFamily="34" charset="0"/>
                <a:cs typeface="Arial" pitchFamily="34" charset="0"/>
              </a:rPr>
              <a:t>P</a:t>
            </a:r>
            <a:r>
              <a:rPr lang="en-US" sz="2000" baseline="30000" dirty="0">
                <a:solidFill>
                  <a:srgbClr val="FF0000"/>
                </a:solidFill>
                <a:latin typeface="Calibri" pitchFamily="34" charset="0"/>
                <a:ea typeface="Arial" pitchFamily="34" charset="0"/>
                <a:cs typeface="Arial" pitchFamily="34" charset="0"/>
              </a:rPr>
              <a:t>S</a:t>
            </a:r>
            <a:r>
              <a:rPr lang="en-US" sz="2000" baseline="-25000" dirty="0">
                <a:solidFill>
                  <a:srgbClr val="FF0000"/>
                </a:solidFill>
                <a:latin typeface="Calibri" pitchFamily="34" charset="0"/>
                <a:ea typeface="Arial" pitchFamily="34" charset="0"/>
                <a:cs typeface="Arial" pitchFamily="34" charset="0"/>
              </a:rPr>
              <a:t>1</a:t>
            </a:r>
            <a:endParaRPr kumimoji="0" lang="he-IL" sz="3600" b="0" i="0" u="none" strike="noStrike" cap="none" normalizeH="0" baseline="0" dirty="0">
              <a:ln>
                <a:noFill/>
              </a:ln>
              <a:solidFill>
                <a:srgbClr val="FF0000"/>
              </a:solidFill>
              <a:effectLst/>
              <a:latin typeface="Arial" pitchFamily="34" charset="0"/>
              <a:cs typeface="Arial" pitchFamily="34" charset="0"/>
            </a:endParaRPr>
          </a:p>
        </p:txBody>
      </p:sp>
      <p:grpSp>
        <p:nvGrpSpPr>
          <p:cNvPr id="67" name="קבוצה 66"/>
          <p:cNvGrpSpPr/>
          <p:nvPr/>
        </p:nvGrpSpPr>
        <p:grpSpPr>
          <a:xfrm>
            <a:off x="887042" y="5143512"/>
            <a:ext cx="1041752" cy="285752"/>
            <a:chOff x="887042" y="5143512"/>
            <a:chExt cx="1041752" cy="285752"/>
          </a:xfrm>
        </p:grpSpPr>
        <p:sp>
          <p:nvSpPr>
            <p:cNvPr id="65" name="מלבן 64"/>
            <p:cNvSpPr/>
            <p:nvPr/>
          </p:nvSpPr>
          <p:spPr>
            <a:xfrm>
              <a:off x="887042" y="5143512"/>
              <a:ext cx="756000" cy="285752"/>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b="1" dirty="0"/>
                <a:t>גידול</a:t>
              </a:r>
              <a:endParaRPr lang="he-IL" sz="1200" b="1" dirty="0"/>
            </a:p>
          </p:txBody>
        </p:sp>
        <p:sp>
          <p:nvSpPr>
            <p:cNvPr id="66" name="משולש ישר-זווית 65"/>
            <p:cNvSpPr/>
            <p:nvPr/>
          </p:nvSpPr>
          <p:spPr>
            <a:xfrm>
              <a:off x="1643042" y="5143512"/>
              <a:ext cx="285752" cy="285752"/>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69" name="מלבן 68"/>
          <p:cNvSpPr/>
          <p:nvPr/>
        </p:nvSpPr>
        <p:spPr>
          <a:xfrm>
            <a:off x="3419648" y="4995016"/>
            <a:ext cx="642942" cy="14287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t>ירידה</a:t>
            </a:r>
          </a:p>
        </p:txBody>
      </p:sp>
      <p:sp>
        <p:nvSpPr>
          <p:cNvPr id="70" name="משולש ישר-זווית 69"/>
          <p:cNvSpPr/>
          <p:nvPr/>
        </p:nvSpPr>
        <p:spPr>
          <a:xfrm>
            <a:off x="4071934" y="5000636"/>
            <a:ext cx="172694" cy="142876"/>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75" name="קבוצה 74"/>
          <p:cNvGrpSpPr/>
          <p:nvPr/>
        </p:nvGrpSpPr>
        <p:grpSpPr>
          <a:xfrm>
            <a:off x="5890384" y="5000636"/>
            <a:ext cx="1682012" cy="144000"/>
            <a:chOff x="5822318" y="5000636"/>
            <a:chExt cx="1682012" cy="144000"/>
          </a:xfrm>
        </p:grpSpPr>
        <p:sp>
          <p:nvSpPr>
            <p:cNvPr id="73" name="מלבן 72"/>
            <p:cNvSpPr/>
            <p:nvPr/>
          </p:nvSpPr>
          <p:spPr>
            <a:xfrm>
              <a:off x="5822318" y="5000636"/>
              <a:ext cx="1440000" cy="142876"/>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100" b="1" dirty="0"/>
                <a:t>גידול ברווחי היצרנים</a:t>
              </a:r>
            </a:p>
          </p:txBody>
        </p:sp>
        <p:sp>
          <p:nvSpPr>
            <p:cNvPr id="74" name="משולש ישר-זווית 73"/>
            <p:cNvSpPr/>
            <p:nvPr/>
          </p:nvSpPr>
          <p:spPr>
            <a:xfrm flipV="1">
              <a:off x="7288330" y="5000636"/>
              <a:ext cx="216000" cy="144000"/>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4" name="מלבן 3"/>
          <p:cNvSpPr/>
          <p:nvPr/>
        </p:nvSpPr>
        <p:spPr>
          <a:xfrm>
            <a:off x="285720" y="260648"/>
            <a:ext cx="6765606" cy="369332"/>
          </a:xfrm>
          <a:prstGeom prst="rect">
            <a:avLst/>
          </a:prstGeom>
        </p:spPr>
        <p:txBody>
          <a:bodyPr wrap="square">
            <a:spAutoFit/>
          </a:bodyPr>
          <a:lstStyle/>
          <a:p>
            <a:r>
              <a:rPr lang="he-IL" dirty="0"/>
              <a:t>ב. מי הרוויח ומי הפסיד מההסדר? מה הפסיד המשק? הסבירו בקצרה.</a:t>
            </a:r>
            <a:endParaRPr lang="en-US" b="1" dirty="0"/>
          </a:p>
        </p:txBody>
      </p:sp>
      <p:sp>
        <p:nvSpPr>
          <p:cNvPr id="63" name="מלבן 62"/>
          <p:cNvSpPr/>
          <p:nvPr/>
        </p:nvSpPr>
        <p:spPr>
          <a:xfrm>
            <a:off x="1566103" y="1020745"/>
            <a:ext cx="1874231" cy="430887"/>
          </a:xfrm>
          <a:prstGeom prst="rect">
            <a:avLst/>
          </a:prstGeom>
        </p:spPr>
        <p:txBody>
          <a:bodyPr wrap="none">
            <a:spAutoFit/>
          </a:bodyPr>
          <a:lstStyle/>
          <a:p>
            <a:pPr lvl="0">
              <a:spcBef>
                <a:spcPct val="20000"/>
              </a:spcBef>
            </a:pPr>
            <a:r>
              <a:rPr lang="he-IL" sz="2200" b="1" dirty="0">
                <a:solidFill>
                  <a:prstClr val="black"/>
                </a:solidFill>
              </a:rPr>
              <a:t>עודף הצרכנים:</a:t>
            </a:r>
          </a:p>
        </p:txBody>
      </p:sp>
      <p:sp>
        <p:nvSpPr>
          <p:cNvPr id="68" name="מלבן 67"/>
          <p:cNvSpPr/>
          <p:nvPr/>
        </p:nvSpPr>
        <p:spPr>
          <a:xfrm>
            <a:off x="7057647" y="1052736"/>
            <a:ext cx="1794081" cy="430887"/>
          </a:xfrm>
          <a:prstGeom prst="rect">
            <a:avLst/>
          </a:prstGeom>
        </p:spPr>
        <p:txBody>
          <a:bodyPr wrap="none">
            <a:spAutoFit/>
          </a:bodyPr>
          <a:lstStyle/>
          <a:p>
            <a:r>
              <a:rPr lang="he-IL" sz="2200" b="1" dirty="0">
                <a:solidFill>
                  <a:srgbClr val="00B050"/>
                </a:solidFill>
              </a:rPr>
              <a:t>רווחי היצרנים </a:t>
            </a:r>
            <a:endParaRPr lang="he-IL" dirty="0">
              <a:solidFill>
                <a:srgbClr val="00B050"/>
              </a:solidFill>
            </a:endParaRPr>
          </a:p>
        </p:txBody>
      </p:sp>
      <p:sp>
        <p:nvSpPr>
          <p:cNvPr id="71" name="מלבן 70"/>
          <p:cNvSpPr/>
          <p:nvPr/>
        </p:nvSpPr>
        <p:spPr>
          <a:xfrm>
            <a:off x="4460931" y="1034102"/>
            <a:ext cx="2083349" cy="430887"/>
          </a:xfrm>
          <a:prstGeom prst="rect">
            <a:avLst/>
          </a:prstGeom>
        </p:spPr>
        <p:txBody>
          <a:bodyPr wrap="square">
            <a:spAutoFit/>
          </a:bodyPr>
          <a:lstStyle/>
          <a:p>
            <a:pPr lvl="0">
              <a:spcBef>
                <a:spcPct val="20000"/>
              </a:spcBef>
            </a:pPr>
            <a:r>
              <a:rPr lang="he-IL" sz="2200" dirty="0">
                <a:solidFill>
                  <a:prstClr val="black"/>
                </a:solidFill>
              </a:rPr>
              <a:t>הכנס' </a:t>
            </a:r>
            <a:r>
              <a:rPr lang="he-IL" sz="2200" b="1" dirty="0">
                <a:solidFill>
                  <a:prstClr val="black"/>
                </a:solidFill>
              </a:rPr>
              <a:t>הממשלה</a:t>
            </a:r>
            <a:endParaRPr lang="he-IL" sz="2200" dirty="0">
              <a:solidFill>
                <a:prstClr val="black"/>
              </a:solidFill>
            </a:endParaRPr>
          </a:p>
        </p:txBody>
      </p:sp>
      <p:sp>
        <p:nvSpPr>
          <p:cNvPr id="5" name="חץ למעלה 4"/>
          <p:cNvSpPr/>
          <p:nvPr/>
        </p:nvSpPr>
        <p:spPr>
          <a:xfrm>
            <a:off x="6917285" y="1063615"/>
            <a:ext cx="268082" cy="345148"/>
          </a:xfrm>
          <a:prstGeom prst="up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חץ למטה 5"/>
          <p:cNvSpPr/>
          <p:nvPr/>
        </p:nvSpPr>
        <p:spPr>
          <a:xfrm>
            <a:off x="4348867" y="1020745"/>
            <a:ext cx="303390" cy="430887"/>
          </a:xfrm>
          <a:prstGeom prst="downArrow">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2" name="מלבן 71"/>
          <p:cNvSpPr/>
          <p:nvPr/>
        </p:nvSpPr>
        <p:spPr>
          <a:xfrm>
            <a:off x="1142976" y="1715690"/>
            <a:ext cx="995785" cy="430887"/>
          </a:xfrm>
          <a:prstGeom prst="rect">
            <a:avLst/>
          </a:prstGeom>
        </p:spPr>
        <p:txBody>
          <a:bodyPr wrap="none">
            <a:spAutoFit/>
          </a:bodyPr>
          <a:lstStyle/>
          <a:p>
            <a:pPr lvl="0">
              <a:spcBef>
                <a:spcPct val="20000"/>
              </a:spcBef>
            </a:pPr>
            <a:r>
              <a:rPr lang="he-IL" sz="2200" b="1" dirty="0">
                <a:solidFill>
                  <a:prstClr val="black"/>
                </a:solidFill>
              </a:rPr>
              <a:t>חיילים:</a:t>
            </a:r>
          </a:p>
        </p:txBody>
      </p:sp>
      <p:sp>
        <p:nvSpPr>
          <p:cNvPr id="76" name="מלבן 75"/>
          <p:cNvSpPr/>
          <p:nvPr/>
        </p:nvSpPr>
        <p:spPr>
          <a:xfrm>
            <a:off x="2609078" y="1700807"/>
            <a:ext cx="1132041" cy="430887"/>
          </a:xfrm>
          <a:prstGeom prst="rect">
            <a:avLst/>
          </a:prstGeom>
        </p:spPr>
        <p:txBody>
          <a:bodyPr wrap="none">
            <a:spAutoFit/>
          </a:bodyPr>
          <a:lstStyle/>
          <a:p>
            <a:pPr lvl="0">
              <a:spcBef>
                <a:spcPct val="20000"/>
              </a:spcBef>
            </a:pPr>
            <a:r>
              <a:rPr lang="he-IL" sz="2200" b="1" dirty="0">
                <a:solidFill>
                  <a:prstClr val="black"/>
                </a:solidFill>
              </a:rPr>
              <a:t>אזרחים:</a:t>
            </a:r>
          </a:p>
        </p:txBody>
      </p:sp>
      <p:sp>
        <p:nvSpPr>
          <p:cNvPr id="77" name="חץ למטה 76"/>
          <p:cNvSpPr/>
          <p:nvPr/>
        </p:nvSpPr>
        <p:spPr>
          <a:xfrm>
            <a:off x="2413867" y="1715690"/>
            <a:ext cx="303390" cy="43088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8" name="חץ למעלה 77"/>
          <p:cNvSpPr/>
          <p:nvPr/>
        </p:nvSpPr>
        <p:spPr>
          <a:xfrm>
            <a:off x="920793" y="1700807"/>
            <a:ext cx="243873" cy="388017"/>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79" name="קבוצה 78"/>
          <p:cNvGrpSpPr/>
          <p:nvPr/>
        </p:nvGrpSpPr>
        <p:grpSpPr>
          <a:xfrm>
            <a:off x="5890384" y="5119716"/>
            <a:ext cx="1072958" cy="295237"/>
            <a:chOff x="1318320" y="7620022"/>
            <a:chExt cx="1072958" cy="295237"/>
          </a:xfrm>
        </p:grpSpPr>
        <p:sp>
          <p:nvSpPr>
            <p:cNvPr id="80" name="מלבן 79"/>
            <p:cNvSpPr/>
            <p:nvPr/>
          </p:nvSpPr>
          <p:spPr>
            <a:xfrm>
              <a:off x="1318320" y="7629507"/>
              <a:ext cx="756000" cy="285752"/>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b="1" dirty="0"/>
                <a:t>גידול</a:t>
              </a:r>
              <a:endParaRPr lang="he-IL" sz="1200" b="1" dirty="0"/>
            </a:p>
          </p:txBody>
        </p:sp>
        <p:sp>
          <p:nvSpPr>
            <p:cNvPr id="81" name="משולש ישר-זווית 80"/>
            <p:cNvSpPr/>
            <p:nvPr/>
          </p:nvSpPr>
          <p:spPr>
            <a:xfrm>
              <a:off x="2105526" y="7620022"/>
              <a:ext cx="285752" cy="285752"/>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82" name="מלבן 81"/>
          <p:cNvSpPr/>
          <p:nvPr/>
        </p:nvSpPr>
        <p:spPr>
          <a:xfrm>
            <a:off x="5876513" y="4985552"/>
            <a:ext cx="642942" cy="14287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t>ירידה</a:t>
            </a:r>
          </a:p>
        </p:txBody>
      </p:sp>
      <p:sp>
        <p:nvSpPr>
          <p:cNvPr id="83" name="משולש ישר-זווית 82"/>
          <p:cNvSpPr/>
          <p:nvPr/>
        </p:nvSpPr>
        <p:spPr>
          <a:xfrm>
            <a:off x="6524037" y="4972062"/>
            <a:ext cx="172694" cy="142876"/>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4" name="מלבן 83"/>
          <p:cNvSpPr/>
          <p:nvPr/>
        </p:nvSpPr>
        <p:spPr>
          <a:xfrm>
            <a:off x="5905042" y="4976840"/>
            <a:ext cx="1044000" cy="428628"/>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500" b="1" dirty="0"/>
              <a:t>הוצאות הממשלה</a:t>
            </a:r>
          </a:p>
        </p:txBody>
      </p:sp>
    </p:spTree>
    <p:extLst>
      <p:ext uri="{BB962C8B-B14F-4D97-AF65-F5344CB8AC3E}">
        <p14:creationId xmlns:p14="http://schemas.microsoft.com/office/powerpoint/2010/main" val="10376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arn(inVertical)">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wipe(down)">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mph" presetSubtype="0" grpId="0" nodeType="clickEffect">
                                  <p:stCondLst>
                                    <p:cond delay="0"/>
                                  </p:stCondLst>
                                  <p:childTnLst>
                                    <p:set>
                                      <p:cBhvr rctx="PPT">
                                        <p:cTn id="16" dur="indefinite"/>
                                        <p:tgtEl>
                                          <p:spTgt spid="82"/>
                                        </p:tgtEl>
                                        <p:attrNameLst>
                                          <p:attrName>style.opacity</p:attrName>
                                        </p:attrNameLst>
                                      </p:cBhvr>
                                      <p:to>
                                        <p:strVal val="0.5"/>
                                      </p:to>
                                    </p:set>
                                    <p:animEffect filter="image" prLst="opacity: 0.5">
                                      <p:cBhvr rctx="IE">
                                        <p:cTn id="17" dur="indefinite"/>
                                        <p:tgtEl>
                                          <p:spTgt spid="82"/>
                                        </p:tgtEl>
                                      </p:cBhvr>
                                    </p:animEffect>
                                  </p:childTnLst>
                                </p:cTn>
                              </p:par>
                              <p:par>
                                <p:cTn id="18" presetID="9" presetClass="emph" presetSubtype="0" grpId="0" nodeType="withEffect">
                                  <p:stCondLst>
                                    <p:cond delay="0"/>
                                  </p:stCondLst>
                                  <p:childTnLst>
                                    <p:set>
                                      <p:cBhvr rctx="PPT">
                                        <p:cTn id="19" dur="indefinite"/>
                                        <p:tgtEl>
                                          <p:spTgt spid="83"/>
                                        </p:tgtEl>
                                        <p:attrNameLst>
                                          <p:attrName>style.opacity</p:attrName>
                                        </p:attrNameLst>
                                      </p:cBhvr>
                                      <p:to>
                                        <p:strVal val="0.5"/>
                                      </p:to>
                                    </p:set>
                                    <p:animEffect filter="image" prLst="opacity: 0.5">
                                      <p:cBhvr rctx="IE">
                                        <p:cTn id="20" dur="indefinite"/>
                                        <p:tgtEl>
                                          <p:spTgt spid="8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mph" presetSubtype="0" grpId="0" nodeType="clickEffect">
                                  <p:stCondLst>
                                    <p:cond delay="0"/>
                                  </p:stCondLst>
                                  <p:childTnLst>
                                    <p:set>
                                      <p:cBhvr rctx="PPT">
                                        <p:cTn id="24" dur="indefinite"/>
                                        <p:tgtEl>
                                          <p:spTgt spid="84"/>
                                        </p:tgtEl>
                                        <p:attrNameLst>
                                          <p:attrName>style.opacity</p:attrName>
                                        </p:attrNameLst>
                                      </p:cBhvr>
                                      <p:to>
                                        <p:strVal val="0.5"/>
                                      </p:to>
                                    </p:set>
                                    <p:animEffect filter="image" prLst="opacity: 0.5">
                                      <p:cBhvr rctx="IE">
                                        <p:cTn id="25" dur="indefinite"/>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84" grpId="0" animBg="1"/>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7656</TotalTime>
  <Words>2557</Words>
  <Application>Microsoft Office PowerPoint</Application>
  <PresentationFormat>‫הצגה על המסך (4:3)</PresentationFormat>
  <Paragraphs>466</Paragraphs>
  <Slides>26</Slides>
  <Notes>3</Notes>
  <HiddenSlides>1</HiddenSlides>
  <MMClips>0</MMClips>
  <ScaleCrop>false</ScaleCrop>
  <HeadingPairs>
    <vt:vector size="6" baseType="variant">
      <vt:variant>
        <vt:lpstr>גופנים בשימוש</vt:lpstr>
      </vt:variant>
      <vt:variant>
        <vt:i4>6</vt:i4>
      </vt:variant>
      <vt:variant>
        <vt:lpstr>ערכת נושא</vt:lpstr>
      </vt:variant>
      <vt:variant>
        <vt:i4>2</vt:i4>
      </vt:variant>
      <vt:variant>
        <vt:lpstr>כותרות שקופיות</vt:lpstr>
      </vt:variant>
      <vt:variant>
        <vt:i4>26</vt:i4>
      </vt:variant>
    </vt:vector>
  </HeadingPairs>
  <TitlesOfParts>
    <vt:vector size="34" baseType="lpstr">
      <vt:lpstr>Arial</vt:lpstr>
      <vt:lpstr>Calibri</vt:lpstr>
      <vt:lpstr>Calibri Light</vt:lpstr>
      <vt:lpstr>Cambria Math</vt:lpstr>
      <vt:lpstr>David</vt:lpstr>
      <vt:lpstr>Times New Roman</vt:lpstr>
      <vt:lpstr>1_Office Theme</vt:lpstr>
      <vt:lpstr>2_Office Theme</vt:lpstr>
      <vt:lpstr> </vt:lpstr>
      <vt:lpstr>שאלה 1</vt:lpstr>
      <vt:lpstr>שאלה 1</vt:lpstr>
      <vt:lpstr>שאלה 1</vt:lpstr>
      <vt:lpstr>שאלה 1</vt:lpstr>
      <vt:lpstr>שאלה 1</vt:lpstr>
      <vt:lpstr>שאלה 1</vt:lpstr>
      <vt:lpstr>שאלה 1</vt:lpstr>
      <vt:lpstr>שאלה 1</vt:lpstr>
      <vt:lpstr>שאלה 1</vt:lpstr>
      <vt:lpstr>שאלה 2</vt:lpstr>
      <vt:lpstr>שאלה 2</vt:lpstr>
      <vt:lpstr>שאלה 3</vt:lpstr>
      <vt:lpstr>שאלה 3</vt:lpstr>
      <vt:lpstr>שאלה 4</vt:lpstr>
      <vt:lpstr>פתרון שאלה 4</vt:lpstr>
      <vt:lpstr>פתרון שאלה 4</vt:lpstr>
      <vt:lpstr>שאלה 5</vt:lpstr>
      <vt:lpstr>שאלה 5</vt:lpstr>
      <vt:lpstr>שאלה 6</vt:lpstr>
      <vt:lpstr>שאלה 6</vt:lpstr>
      <vt:lpstr>שאלה 7</vt:lpstr>
      <vt:lpstr>שאלה 7</vt:lpstr>
      <vt:lpstr>שאלה 7</vt:lpstr>
      <vt:lpstr>שאלה 7</vt:lpstr>
      <vt:lpstr>שאלה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תרגיל 3 – שאלה 1</dc:title>
  <dc:creator>Eyal</dc:creator>
  <cp:lastModifiedBy>איתן משקוביץ'</cp:lastModifiedBy>
  <cp:revision>254</cp:revision>
  <dcterms:created xsi:type="dcterms:W3CDTF">2011-12-07T20:01:11Z</dcterms:created>
  <dcterms:modified xsi:type="dcterms:W3CDTF">2026-01-22T06:51:00Z</dcterms:modified>
</cp:coreProperties>
</file>